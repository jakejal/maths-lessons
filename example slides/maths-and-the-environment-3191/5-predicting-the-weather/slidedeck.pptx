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0E664F-E486-404D-98F6-DB549EBCC218}">
  <a:tblStyle styleId="{230E664F-E486-404D-98F6-DB549EBCC2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f2d2e2c7bb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f2d2e2c7bb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f2d2e2c7bb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f2d2e2c7bb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f2d2e2c7bb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f2d2e2c7bb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2d2e2c7bb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f2d2e2c7b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f2d2e2c7bb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f2d2e2c7bb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f2d2e2c7bb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f2d2e2c7bb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f2d2e2c7b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f2d2e2c7b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f2d2e2c7bb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f2d2e2c7bb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f2d2e2c7bb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f2d2e2c7bb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f2d2e2c7bb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f2d2e2c7bb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f2d2e2c7bb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f2d2e2c7bb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f2d2e2c7bb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f2d2e2c7bb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f2d2e2c7bb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f2d2e2c7bb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f2d2e2c7bb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f2d2e2c7bb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f2d2e2c7bb_1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f2d2e2c7bb_1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f2d2e2c7bb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f2d2e2c7bb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f2d2e2c7bb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f2d2e2c7bb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f2d2e2c7bb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f2d2e2c7bb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f2d2e2c7bb_1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f2d2e2c7bb_1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f2d2e2c7bb_1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f2d2e2c7bb_1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f2d2e2c7bb_1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f2d2e2c7bb_1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f2d2e2c7bb_1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f2d2e2c7bb_1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f2d2e2c7bb_1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f2d2e2c7bb_1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f2d2e2c7bb_1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f2d2e2c7bb_1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f2d2e2c7bb_1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f2d2e2c7bb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f2d2e2c7bb_1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f2d2e2c7bb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f2d2e2c7bb_1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f2d2e2c7bb_1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f2d2e2c7bb_1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2f2d2e2c7bb_1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f2d2e2c7bb_1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f2d2e2c7bb_1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f2d2e2c7bb_1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f2d2e2c7bb_1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f2d2e2c7bb_1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f2d2e2c7bb_1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f2d2e2c7bb_1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f2d2e2c7bb_1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f2d2e2c7bb_1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f2d2e2c7bb_1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2f2d2e2c7bb_1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2f2d2e2c7bb_1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f2d2e2c7bb_1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f2d2e2c7bb_1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2f2d2e2c7bb_1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2f2d2e2c7bb_1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f2d2e2c7bb_1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f2d2e2c7bb_1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f2d2e2c7bb_1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f2d2e2c7bb_1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f2d2e2c7bb_1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f2d2e2c7bb_1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2f2d2e2c7bb_1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f2d2e2c7bb_1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f2d2e2c7bb_1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f2d2e2c7bb_1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f2d2e2c7bb_1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f2d2e2c7bb_1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2f2d2e2c7bb_1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2f2d2e2c7bb_1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2f2d2e2c7bb_1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2f2d2e2c7bb_1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2f2d2e2c7bb_1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2f2d2e2c7bb_1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2f2d2e2c7bb_1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2f2d2e2c7bb_1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f2d2e2c7bb_1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f2d2e2c7bb_1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2f2d2e2c7bb_1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2f2d2e2c7bb_1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2f2d2e2c7bb_1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f2d2e2c7bb_1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2f2d2e2c7bb_1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2f2d2e2c7bb_1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2f2d2e2c7bb_1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2f2d2e2c7bb_1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2f2d2e2c7bb_1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2f2d2e2c7bb_1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2f2d2e2c7bb_1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2f2d2e2c7bb_1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2f2d2e2c7bb_1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4" name="Google Shape;1864;g2f2d2e2c7bb_1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f2d2e2c7bb_1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f2d2e2c7bb_1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f2d2e2c7bb_1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f2d2e2c7bb_1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f2d2e2c7bb_1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f2d2e2c7bb_1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3.png"/><Relationship Id="rId4" Type="http://schemas.openxmlformats.org/officeDocument/2006/relationships/image" Target="../media/image95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3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95.png"/><Relationship Id="rId4" Type="http://schemas.openxmlformats.org/officeDocument/2006/relationships/image" Target="../media/image37.png"/><Relationship Id="rId9" Type="http://schemas.openxmlformats.org/officeDocument/2006/relationships/image" Target="../media/image30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Relationship Id="rId7" Type="http://schemas.openxmlformats.org/officeDocument/2006/relationships/image" Target="../media/image38.png"/><Relationship Id="rId8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95.png"/><Relationship Id="rId4" Type="http://schemas.openxmlformats.org/officeDocument/2006/relationships/image" Target="../media/image47.png"/><Relationship Id="rId11" Type="http://schemas.openxmlformats.org/officeDocument/2006/relationships/image" Target="../media/image30.png"/><Relationship Id="rId10" Type="http://schemas.openxmlformats.org/officeDocument/2006/relationships/image" Target="../media/image50.png"/><Relationship Id="rId9" Type="http://schemas.openxmlformats.org/officeDocument/2006/relationships/image" Target="../media/image41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Relationship Id="rId7" Type="http://schemas.openxmlformats.org/officeDocument/2006/relationships/image" Target="../media/image46.png"/><Relationship Id="rId8" Type="http://schemas.openxmlformats.org/officeDocument/2006/relationships/image" Target="../media/image3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8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6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6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Relationship Id="rId5" Type="http://schemas.openxmlformats.org/officeDocument/2006/relationships/image" Target="../media/image72.png"/><Relationship Id="rId6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Relationship Id="rId4" Type="http://schemas.openxmlformats.org/officeDocument/2006/relationships/image" Target="../media/image7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3.png"/><Relationship Id="rId4" Type="http://schemas.openxmlformats.org/officeDocument/2006/relationships/hyperlink" Target="https://www.geogebra.org/classic/bqjr5tbm" TargetMode="External"/><Relationship Id="rId5" Type="http://schemas.openxmlformats.org/officeDocument/2006/relationships/image" Target="../media/image7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3.png"/><Relationship Id="rId4" Type="http://schemas.openxmlformats.org/officeDocument/2006/relationships/hyperlink" Target="https://www.geogebra.org/classic/bqjr5tbm" TargetMode="External"/><Relationship Id="rId5" Type="http://schemas.openxmlformats.org/officeDocument/2006/relationships/image" Target="../media/image7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3.png"/><Relationship Id="rId4" Type="http://schemas.openxmlformats.org/officeDocument/2006/relationships/hyperlink" Target="https://www.geogebra.org/classic/bqjr5tbm" TargetMode="External"/><Relationship Id="rId5" Type="http://schemas.openxmlformats.org/officeDocument/2006/relationships/image" Target="../media/image7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3.png"/><Relationship Id="rId4" Type="http://schemas.openxmlformats.org/officeDocument/2006/relationships/hyperlink" Target="https://www.geogebra.org/classic/bqjr5tbm" TargetMode="External"/><Relationship Id="rId5" Type="http://schemas.openxmlformats.org/officeDocument/2006/relationships/image" Target="../media/image8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Relationship Id="rId4" Type="http://schemas.openxmlformats.org/officeDocument/2006/relationships/hyperlink" Target="https://www.geogebra.org/classic/bqjr5tb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0.png"/><Relationship Id="rId4" Type="http://schemas.openxmlformats.org/officeDocument/2006/relationships/image" Target="../media/image8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Relationship Id="rId5" Type="http://schemas.openxmlformats.org/officeDocument/2006/relationships/image" Target="../media/image85.png"/><Relationship Id="rId6" Type="http://schemas.openxmlformats.org/officeDocument/2006/relationships/image" Target="../media/image80.png"/><Relationship Id="rId7" Type="http://schemas.openxmlformats.org/officeDocument/2006/relationships/image" Target="../media/image84.png"/><Relationship Id="rId8" Type="http://schemas.openxmlformats.org/officeDocument/2006/relationships/image" Target="../media/image8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8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8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9.png"/><Relationship Id="rId4" Type="http://schemas.openxmlformats.org/officeDocument/2006/relationships/image" Target="../media/image8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9.png"/><Relationship Id="rId4" Type="http://schemas.openxmlformats.org/officeDocument/2006/relationships/image" Target="../media/image8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2.png"/><Relationship Id="rId4" Type="http://schemas.openxmlformats.org/officeDocument/2006/relationships/image" Target="../media/image62.png"/><Relationship Id="rId5" Type="http://schemas.openxmlformats.org/officeDocument/2006/relationships/image" Target="../media/image8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2.png"/><Relationship Id="rId4" Type="http://schemas.openxmlformats.org/officeDocument/2006/relationships/image" Target="../media/image62.png"/><Relationship Id="rId5" Type="http://schemas.openxmlformats.org/officeDocument/2006/relationships/image" Target="../media/image8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3.png"/><Relationship Id="rId4" Type="http://schemas.openxmlformats.org/officeDocument/2006/relationships/image" Target="../media/image7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3.png"/><Relationship Id="rId4" Type="http://schemas.openxmlformats.org/officeDocument/2006/relationships/image" Target="../media/image7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3.png"/><Relationship Id="rId4" Type="http://schemas.openxmlformats.org/officeDocument/2006/relationships/image" Target="../media/image7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3.png"/><Relationship Id="rId4" Type="http://schemas.openxmlformats.org/officeDocument/2006/relationships/image" Target="../media/image7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weather</a:t>
            </a:r>
            <a:endParaRPr/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and the environment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a simple model to predict the weather.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/>
        </p:nvSpPr>
        <p:spPr>
          <a:xfrm>
            <a:off x="324000" y="778110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forecast is a prediction of a future event occurring (based on data).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Extrapolation is the process of estimating unknown values that are outside the range of existing data.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858" name="Google Shape;858;p7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859" name="Google Shape;859;p7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weather</a:t>
            </a:r>
            <a:endParaRPr/>
          </a:p>
        </p:txBody>
      </p:sp>
      <p:pic>
        <p:nvPicPr>
          <p:cNvPr id="860" name="Google Shape;86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05944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5" name="Google Shape;865;p78"/>
          <p:cNvGraphicFramePr/>
          <p:nvPr/>
        </p:nvGraphicFramePr>
        <p:xfrm>
          <a:off x="4473938" y="240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866" name="Google Shape;86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867" name="Google Shape;867;p78"/>
          <p:cNvSpPr txBox="1"/>
          <p:nvPr/>
        </p:nvSpPr>
        <p:spPr>
          <a:xfrm>
            <a:off x="324000" y="626835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Weather reports can include a lot of information about rain.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68" name="Google Shape;868;p78"/>
          <p:cNvGraphicFramePr/>
          <p:nvPr/>
        </p:nvGraphicFramePr>
        <p:xfrm>
          <a:off x="4473938" y="110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869" name="Google Shape;869;p7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49049" l="5088" r="74284" t="27396"/>
          <a:stretch/>
        </p:blipFill>
        <p:spPr>
          <a:xfrm>
            <a:off x="6961114" y="1378256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4549300" y="1378256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6157175" y="1378256"/>
            <a:ext cx="646436" cy="738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2" name="Google Shape;872;p78"/>
          <p:cNvGrpSpPr/>
          <p:nvPr/>
        </p:nvGrpSpPr>
        <p:grpSpPr>
          <a:xfrm>
            <a:off x="5353250" y="1378250"/>
            <a:ext cx="646426" cy="584967"/>
            <a:chOff x="5353250" y="1378250"/>
            <a:chExt cx="646426" cy="584967"/>
          </a:xfrm>
        </p:grpSpPr>
        <p:pic>
          <p:nvPicPr>
            <p:cNvPr id="873" name="Google Shape;873;p78" title="https://oaknationalacademy-res.cloudinary.com/image/upload/v1713776096/rrwsn7j1bwnvwyj4ecoh.jpg"/>
            <p:cNvPicPr preferRelativeResize="0"/>
            <p:nvPr/>
          </p:nvPicPr>
          <p:blipFill rotWithShape="1">
            <a:blip r:embed="rId3">
              <a:alphaModFix/>
            </a:blip>
            <a:srcRect b="56017" l="51691" r="27682" t="26349"/>
            <a:stretch/>
          </p:blipFill>
          <p:spPr>
            <a:xfrm>
              <a:off x="5353250" y="1378250"/>
              <a:ext cx="646426" cy="55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" name="Google Shape;874;p78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5" name="Google Shape;875;p78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76" name="Google Shape;876;p78"/>
          <p:cNvGraphicFramePr/>
          <p:nvPr/>
        </p:nvGraphicFramePr>
        <p:xfrm>
          <a:off x="4473938" y="21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877" name="Google Shape;877;p78"/>
          <p:cNvGraphicFramePr/>
          <p:nvPr/>
        </p:nvGraphicFramePr>
        <p:xfrm>
          <a:off x="1452738" y="137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878" name="Google Shape;878;p78"/>
          <p:cNvGraphicFramePr/>
          <p:nvPr/>
        </p:nvGraphicFramePr>
        <p:xfrm>
          <a:off x="1452738" y="21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879" name="Google Shape;879;p78"/>
          <p:cNvGraphicFramePr/>
          <p:nvPr/>
        </p:nvGraphicFramePr>
        <p:xfrm>
          <a:off x="1452738" y="240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880" name="Google Shape;880;p78"/>
          <p:cNvGrpSpPr/>
          <p:nvPr/>
        </p:nvGrpSpPr>
        <p:grpSpPr>
          <a:xfrm>
            <a:off x="4218747" y="2779175"/>
            <a:ext cx="3333815" cy="1715501"/>
            <a:chOff x="4218747" y="2855375"/>
            <a:chExt cx="3333815" cy="1715501"/>
          </a:xfrm>
        </p:grpSpPr>
        <p:pic>
          <p:nvPicPr>
            <p:cNvPr id="881" name="Google Shape;881;p78"/>
            <p:cNvPicPr preferRelativeResize="0"/>
            <p:nvPr/>
          </p:nvPicPr>
          <p:blipFill rotWithShape="1">
            <a:blip r:embed="rId4">
              <a:alphaModFix/>
            </a:blip>
            <a:srcRect b="52676" l="41741" r="0" t="13016"/>
            <a:stretch/>
          </p:blipFill>
          <p:spPr>
            <a:xfrm flipH="1">
              <a:off x="4223037" y="2855375"/>
              <a:ext cx="3329526" cy="933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2" name="Google Shape;882;p78"/>
            <p:cNvPicPr preferRelativeResize="0"/>
            <p:nvPr/>
          </p:nvPicPr>
          <p:blipFill rotWithShape="1">
            <a:blip r:embed="rId4">
              <a:alphaModFix/>
            </a:blip>
            <a:srcRect b="4762" l="41741" r="0" t="65230"/>
            <a:stretch/>
          </p:blipFill>
          <p:spPr>
            <a:xfrm flipH="1">
              <a:off x="4218747" y="3753575"/>
              <a:ext cx="3333228" cy="8173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3" name="Google Shape;883;p78"/>
          <p:cNvGrpSpPr/>
          <p:nvPr/>
        </p:nvGrpSpPr>
        <p:grpSpPr>
          <a:xfrm>
            <a:off x="7244773" y="3845813"/>
            <a:ext cx="882300" cy="953440"/>
            <a:chOff x="3745825" y="4553421"/>
            <a:chExt cx="882300" cy="953440"/>
          </a:xfrm>
        </p:grpSpPr>
        <p:pic>
          <p:nvPicPr>
            <p:cNvPr id="884" name="Google Shape;884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40144" y="4553421"/>
              <a:ext cx="493661" cy="636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" name="Google Shape;885;p78"/>
            <p:cNvSpPr txBox="1"/>
            <p:nvPr/>
          </p:nvSpPr>
          <p:spPr>
            <a:xfrm>
              <a:off x="3745825" y="5229660"/>
              <a:ext cx="8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6" name="Google Shape;886;p78"/>
          <p:cNvSpPr txBox="1"/>
          <p:nvPr/>
        </p:nvSpPr>
        <p:spPr>
          <a:xfrm>
            <a:off x="4311175" y="2884584"/>
            <a:ext cx="3112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But what does all that information mean? 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Surely the prediction is either it will rain or it won’t rain?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8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893" name="Google Shape;893;p79"/>
          <p:cNvSpPr txBox="1"/>
          <p:nvPr/>
        </p:nvSpPr>
        <p:spPr>
          <a:xfrm>
            <a:off x="324000" y="626835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different types of rainfall.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9"/>
          <p:cNvSpPr txBox="1"/>
          <p:nvPr/>
        </p:nvSpPr>
        <p:spPr>
          <a:xfrm>
            <a:off x="1962575" y="1156200"/>
            <a:ext cx="6857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 showers are caused by individual clouds.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 showers can affect small areas, whilst leaving nearby areas dry.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5" name="Google Shape;895;p79"/>
          <p:cNvGrpSpPr/>
          <p:nvPr/>
        </p:nvGrpSpPr>
        <p:grpSpPr>
          <a:xfrm>
            <a:off x="324000" y="1080006"/>
            <a:ext cx="1360800" cy="933544"/>
            <a:chOff x="324000" y="1080006"/>
            <a:chExt cx="1360800" cy="933544"/>
          </a:xfrm>
        </p:grpSpPr>
        <p:pic>
          <p:nvPicPr>
            <p:cNvPr id="896" name="Google Shape;896;p79" title="https://oaknationalacademy-res.cloudinary.com/image/upload/v1713776096/rrwsn7j1bwnvwyj4ecoh.jpg"/>
            <p:cNvPicPr preferRelativeResize="0"/>
            <p:nvPr/>
          </p:nvPicPr>
          <p:blipFill rotWithShape="1">
            <a:blip r:embed="rId3">
              <a:alphaModFix/>
            </a:blip>
            <a:srcRect b="51381" l="28615" r="50758" t="25064"/>
            <a:stretch/>
          </p:blipFill>
          <p:spPr>
            <a:xfrm>
              <a:off x="681188" y="1080006"/>
              <a:ext cx="646436" cy="7382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7" name="Google Shape;897;p79"/>
            <p:cNvSpPr txBox="1"/>
            <p:nvPr/>
          </p:nvSpPr>
          <p:spPr>
            <a:xfrm>
              <a:off x="324000" y="1736350"/>
              <a:ext cx="1360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rain shower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8" name="Google Shape;898;p79"/>
          <p:cNvSpPr txBox="1"/>
          <p:nvPr/>
        </p:nvSpPr>
        <p:spPr>
          <a:xfrm>
            <a:off x="324000" y="300635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9"/>
          <p:cNvSpPr txBox="1"/>
          <p:nvPr/>
        </p:nvSpPr>
        <p:spPr>
          <a:xfrm>
            <a:off x="1962575" y="3696200"/>
            <a:ext cx="6857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Heavy rain is also caused by large grey skies.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the amount of rain that falls each second is a lot greater.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Heavy rain can last as long as, or longer than, normal rain.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9"/>
          <p:cNvSpPr txBox="1"/>
          <p:nvPr/>
        </p:nvSpPr>
        <p:spPr>
          <a:xfrm>
            <a:off x="1962575" y="2426200"/>
            <a:ext cx="6857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 is caused by large grey skies (rather than small clouds).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 lasts longer than rain showers, and can result in more rainfall.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9"/>
          <p:cNvSpPr txBox="1"/>
          <p:nvPr/>
        </p:nvSpPr>
        <p:spPr>
          <a:xfrm>
            <a:off x="324000" y="427635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heavy rain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79"/>
          <p:cNvGrpSpPr/>
          <p:nvPr/>
        </p:nvGrpSpPr>
        <p:grpSpPr>
          <a:xfrm>
            <a:off x="699910" y="2391130"/>
            <a:ext cx="646426" cy="584967"/>
            <a:chOff x="5353250" y="1378250"/>
            <a:chExt cx="646426" cy="584967"/>
          </a:xfrm>
        </p:grpSpPr>
        <p:pic>
          <p:nvPicPr>
            <p:cNvPr id="903" name="Google Shape;903;p79" title="https://oaknationalacademy-res.cloudinary.com/image/upload/v1713776096/rrwsn7j1bwnvwyj4ecoh.jpg"/>
            <p:cNvPicPr preferRelativeResize="0"/>
            <p:nvPr/>
          </p:nvPicPr>
          <p:blipFill rotWithShape="1">
            <a:blip r:embed="rId3">
              <a:alphaModFix/>
            </a:blip>
            <a:srcRect b="56017" l="51691" r="27682" t="26349"/>
            <a:stretch/>
          </p:blipFill>
          <p:spPr>
            <a:xfrm>
              <a:off x="5353250" y="1378250"/>
              <a:ext cx="646426" cy="55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79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5" name="Google Shape;905;p79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6" name="Google Shape;906;p79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701985" y="3659937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9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0"/>
          <p:cNvSpPr txBox="1"/>
          <p:nvPr/>
        </p:nvSpPr>
        <p:spPr>
          <a:xfrm>
            <a:off x="324000" y="626835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amount of rain we predict will fall will differ depending on the type of rainfall predicted. For example…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914" name="Google Shape;914;p80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81188" y="1080006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0"/>
          <p:cNvSpPr txBox="1"/>
          <p:nvPr/>
        </p:nvSpPr>
        <p:spPr>
          <a:xfrm>
            <a:off x="324000" y="173635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 shower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80"/>
          <p:cNvSpPr txBox="1"/>
          <p:nvPr/>
        </p:nvSpPr>
        <p:spPr>
          <a:xfrm>
            <a:off x="324000" y="300635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80"/>
          <p:cNvSpPr txBox="1"/>
          <p:nvPr/>
        </p:nvSpPr>
        <p:spPr>
          <a:xfrm>
            <a:off x="324000" y="427635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heavy rain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8" name="Google Shape;918;p80"/>
          <p:cNvGrpSpPr/>
          <p:nvPr/>
        </p:nvGrpSpPr>
        <p:grpSpPr>
          <a:xfrm>
            <a:off x="699910" y="2391130"/>
            <a:ext cx="646426" cy="584967"/>
            <a:chOff x="5353250" y="1378250"/>
            <a:chExt cx="646426" cy="584967"/>
          </a:xfrm>
        </p:grpSpPr>
        <p:pic>
          <p:nvPicPr>
            <p:cNvPr id="919" name="Google Shape;919;p80" title="https://oaknationalacademy-res.cloudinary.com/image/upload/v1713776096/rrwsn7j1bwnvwyj4ecoh.jpg"/>
            <p:cNvPicPr preferRelativeResize="0"/>
            <p:nvPr/>
          </p:nvPicPr>
          <p:blipFill rotWithShape="1">
            <a:blip r:embed="rId3">
              <a:alphaModFix/>
            </a:blip>
            <a:srcRect b="56017" l="51691" r="27682" t="26349"/>
            <a:stretch/>
          </p:blipFill>
          <p:spPr>
            <a:xfrm>
              <a:off x="5353250" y="1378250"/>
              <a:ext cx="646426" cy="55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" name="Google Shape;920;p80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80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2" name="Google Shape;922;p80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701985" y="3659937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0"/>
          <p:cNvSpPr/>
          <p:nvPr/>
        </p:nvSpPr>
        <p:spPr>
          <a:xfrm>
            <a:off x="1827522" y="1736350"/>
            <a:ext cx="956100" cy="277200"/>
          </a:xfrm>
          <a:prstGeom prst="roundRect">
            <a:avLst>
              <a:gd fmla="val 35722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 mm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80"/>
          <p:cNvSpPr/>
          <p:nvPr/>
        </p:nvSpPr>
        <p:spPr>
          <a:xfrm>
            <a:off x="1827522" y="3006350"/>
            <a:ext cx="956100" cy="277200"/>
          </a:xfrm>
          <a:prstGeom prst="roundRect">
            <a:avLst>
              <a:gd fmla="val 35722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2.8 mm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80"/>
          <p:cNvSpPr/>
          <p:nvPr/>
        </p:nvSpPr>
        <p:spPr>
          <a:xfrm>
            <a:off x="1827522" y="4276350"/>
            <a:ext cx="956100" cy="277200"/>
          </a:xfrm>
          <a:prstGeom prst="roundRect">
            <a:avLst>
              <a:gd fmla="val 35722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6" name="Google Shape;926;p80"/>
          <p:cNvGrpSpPr/>
          <p:nvPr/>
        </p:nvGrpSpPr>
        <p:grpSpPr>
          <a:xfrm>
            <a:off x="4911672" y="1818225"/>
            <a:ext cx="3908326" cy="2020078"/>
            <a:chOff x="4911672" y="1818225"/>
            <a:chExt cx="3908326" cy="2020078"/>
          </a:xfrm>
        </p:grpSpPr>
        <p:grpSp>
          <p:nvGrpSpPr>
            <p:cNvPr id="927" name="Google Shape;927;p80"/>
            <p:cNvGrpSpPr/>
            <p:nvPr/>
          </p:nvGrpSpPr>
          <p:grpSpPr>
            <a:xfrm>
              <a:off x="4911672" y="1818225"/>
              <a:ext cx="3333815" cy="1715501"/>
              <a:chOff x="4218747" y="2855375"/>
              <a:chExt cx="3333815" cy="1715501"/>
            </a:xfrm>
          </p:grpSpPr>
          <p:pic>
            <p:nvPicPr>
              <p:cNvPr id="928" name="Google Shape;928;p80"/>
              <p:cNvPicPr preferRelativeResize="0"/>
              <p:nvPr/>
            </p:nvPicPr>
            <p:blipFill rotWithShape="1">
              <a:blip r:embed="rId4">
                <a:alphaModFix/>
              </a:blip>
              <a:srcRect b="52676" l="41741" r="0" t="13016"/>
              <a:stretch/>
            </p:blipFill>
            <p:spPr>
              <a:xfrm flipH="1">
                <a:off x="4223037" y="2855375"/>
                <a:ext cx="3329526" cy="9333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9" name="Google Shape;929;p80"/>
              <p:cNvPicPr preferRelativeResize="0"/>
              <p:nvPr/>
            </p:nvPicPr>
            <p:blipFill rotWithShape="1">
              <a:blip r:embed="rId4">
                <a:alphaModFix/>
              </a:blip>
              <a:srcRect b="4762" l="41741" r="0" t="65230"/>
              <a:stretch/>
            </p:blipFill>
            <p:spPr>
              <a:xfrm flipH="1">
                <a:off x="4218747" y="3753575"/>
                <a:ext cx="3333228" cy="8173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30" name="Google Shape;930;p80"/>
            <p:cNvGrpSpPr/>
            <p:nvPr/>
          </p:nvGrpSpPr>
          <p:grpSpPr>
            <a:xfrm>
              <a:off x="7937698" y="2884863"/>
              <a:ext cx="882300" cy="953440"/>
              <a:chOff x="3745825" y="4553421"/>
              <a:chExt cx="882300" cy="953440"/>
            </a:xfrm>
          </p:grpSpPr>
          <p:pic>
            <p:nvPicPr>
              <p:cNvPr id="931" name="Google Shape;931;p8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940144" y="4553421"/>
                <a:ext cx="493661" cy="636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2" name="Google Shape;932;p80"/>
              <p:cNvSpPr txBox="1"/>
              <p:nvPr/>
            </p:nvSpPr>
            <p:spPr>
              <a:xfrm>
                <a:off x="3745825" y="5229660"/>
                <a:ext cx="882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Andeep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33" name="Google Shape;933;p80"/>
            <p:cNvSpPr txBox="1"/>
            <p:nvPr/>
          </p:nvSpPr>
          <p:spPr>
            <a:xfrm>
              <a:off x="5004100" y="1923634"/>
              <a:ext cx="31128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Is 1 mm of rainfall a lot?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How much rain actually falls if the weather report says       “1 mm of rain”?</a:t>
              </a:r>
              <a:endParaRPr sz="17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4" name="Google Shape;934;p80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940" name="Google Shape;940;p81"/>
          <p:cNvSpPr txBox="1"/>
          <p:nvPr/>
        </p:nvSpPr>
        <p:spPr>
          <a:xfrm>
            <a:off x="3369600" y="626825"/>
            <a:ext cx="5450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a rainfall event is predicted to produce            “1 mm of rain”, then on any flat land affected by the rainfall, the rainwater would be 1 mm high.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1" name="Google Shape;941;p81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81188" y="1080006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1"/>
          <p:cNvSpPr txBox="1"/>
          <p:nvPr/>
        </p:nvSpPr>
        <p:spPr>
          <a:xfrm>
            <a:off x="3369600" y="1719250"/>
            <a:ext cx="54504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“1 mm of rain” also means that every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one square metre of area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will have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 litre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water fall on top of it.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1"/>
          <p:cNvSpPr txBox="1"/>
          <p:nvPr/>
        </p:nvSpPr>
        <p:spPr>
          <a:xfrm>
            <a:off x="324000" y="173635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rain shower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1"/>
          <p:cNvSpPr/>
          <p:nvPr/>
        </p:nvSpPr>
        <p:spPr>
          <a:xfrm>
            <a:off x="1827522" y="1736350"/>
            <a:ext cx="956100" cy="277200"/>
          </a:xfrm>
          <a:prstGeom prst="roundRect">
            <a:avLst>
              <a:gd fmla="val 35722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 mm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5" name="Google Shape;945;p81"/>
          <p:cNvGrpSpPr/>
          <p:nvPr/>
        </p:nvGrpSpPr>
        <p:grpSpPr>
          <a:xfrm>
            <a:off x="323988" y="3228658"/>
            <a:ext cx="2383038" cy="1191519"/>
            <a:chOff x="534000" y="3002466"/>
            <a:chExt cx="2835600" cy="1417800"/>
          </a:xfrm>
        </p:grpSpPr>
        <p:sp>
          <p:nvSpPr>
            <p:cNvPr id="946" name="Google Shape;946;p81"/>
            <p:cNvSpPr/>
            <p:nvPr/>
          </p:nvSpPr>
          <p:spPr>
            <a:xfrm>
              <a:off x="534000" y="30024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81"/>
            <p:cNvSpPr/>
            <p:nvPr/>
          </p:nvSpPr>
          <p:spPr>
            <a:xfrm>
              <a:off x="1242900" y="30024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81"/>
            <p:cNvSpPr/>
            <p:nvPr/>
          </p:nvSpPr>
          <p:spPr>
            <a:xfrm>
              <a:off x="1951800" y="30024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81"/>
            <p:cNvSpPr/>
            <p:nvPr/>
          </p:nvSpPr>
          <p:spPr>
            <a:xfrm>
              <a:off x="2660700" y="30024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81"/>
            <p:cNvSpPr/>
            <p:nvPr/>
          </p:nvSpPr>
          <p:spPr>
            <a:xfrm>
              <a:off x="534000" y="37113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81"/>
            <p:cNvSpPr/>
            <p:nvPr/>
          </p:nvSpPr>
          <p:spPr>
            <a:xfrm>
              <a:off x="1242900" y="37113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2" name="Google Shape;952;p81"/>
            <p:cNvSpPr/>
            <p:nvPr/>
          </p:nvSpPr>
          <p:spPr>
            <a:xfrm>
              <a:off x="1951800" y="37113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81"/>
            <p:cNvSpPr/>
            <p:nvPr/>
          </p:nvSpPr>
          <p:spPr>
            <a:xfrm>
              <a:off x="2660700" y="3711366"/>
              <a:ext cx="708900" cy="7089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4" name="Google Shape;954;p81"/>
          <p:cNvGrpSpPr/>
          <p:nvPr/>
        </p:nvGrpSpPr>
        <p:grpSpPr>
          <a:xfrm>
            <a:off x="324077" y="4572814"/>
            <a:ext cx="2383038" cy="247808"/>
            <a:chOff x="534000" y="4572666"/>
            <a:chExt cx="2835600" cy="247808"/>
          </a:xfrm>
        </p:grpSpPr>
        <p:cxnSp>
          <p:nvCxnSpPr>
            <p:cNvPr id="955" name="Google Shape;955;p81"/>
            <p:cNvCxnSpPr/>
            <p:nvPr/>
          </p:nvCxnSpPr>
          <p:spPr>
            <a:xfrm>
              <a:off x="534000" y="4572666"/>
              <a:ext cx="2835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56" name="Google Shape;956;p81"/>
            <p:cNvSpPr txBox="1"/>
            <p:nvPr/>
          </p:nvSpPr>
          <p:spPr>
            <a:xfrm>
              <a:off x="986500" y="4572674"/>
              <a:ext cx="1930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7" name="Google Shape;957;p81"/>
          <p:cNvGrpSpPr/>
          <p:nvPr/>
        </p:nvGrpSpPr>
        <p:grpSpPr>
          <a:xfrm>
            <a:off x="2859500" y="3228736"/>
            <a:ext cx="722700" cy="1191519"/>
            <a:chOff x="3522000" y="3002466"/>
            <a:chExt cx="722700" cy="1417800"/>
          </a:xfrm>
        </p:grpSpPr>
        <p:cxnSp>
          <p:nvCxnSpPr>
            <p:cNvPr id="958" name="Google Shape;958;p81"/>
            <p:cNvCxnSpPr/>
            <p:nvPr/>
          </p:nvCxnSpPr>
          <p:spPr>
            <a:xfrm rot="10800000">
              <a:off x="3522000" y="3002466"/>
              <a:ext cx="0" cy="141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59" name="Google Shape;959;p81"/>
            <p:cNvSpPr txBox="1"/>
            <p:nvPr/>
          </p:nvSpPr>
          <p:spPr>
            <a:xfrm>
              <a:off x="3598200" y="3572766"/>
              <a:ext cx="64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0" name="Google Shape;960;p81"/>
          <p:cNvSpPr txBox="1"/>
          <p:nvPr/>
        </p:nvSpPr>
        <p:spPr>
          <a:xfrm>
            <a:off x="3839300" y="3228650"/>
            <a:ext cx="4980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1 mm of rain was predicted to fall, how much water would fall onto this patio area?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1"/>
          <p:cNvSpPr/>
          <p:nvPr/>
        </p:nvSpPr>
        <p:spPr>
          <a:xfrm>
            <a:off x="323988" y="3228658"/>
            <a:ext cx="595800" cy="5958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litre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81"/>
          <p:cNvSpPr/>
          <p:nvPr/>
        </p:nvSpPr>
        <p:spPr>
          <a:xfrm>
            <a:off x="919788" y="3228658"/>
            <a:ext cx="595800" cy="5958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litre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81"/>
          <p:cNvSpPr/>
          <p:nvPr/>
        </p:nvSpPr>
        <p:spPr>
          <a:xfrm>
            <a:off x="1515588" y="3228658"/>
            <a:ext cx="595800" cy="5958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litre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81"/>
          <p:cNvSpPr/>
          <p:nvPr/>
        </p:nvSpPr>
        <p:spPr>
          <a:xfrm>
            <a:off x="2111388" y="3228658"/>
            <a:ext cx="595800" cy="5958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litre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65" name="Google Shape;965;p81"/>
          <p:cNvGrpSpPr/>
          <p:nvPr/>
        </p:nvGrpSpPr>
        <p:grpSpPr>
          <a:xfrm>
            <a:off x="323988" y="3824458"/>
            <a:ext cx="2383200" cy="595800"/>
            <a:chOff x="323988" y="3824458"/>
            <a:chExt cx="2383200" cy="595800"/>
          </a:xfrm>
        </p:grpSpPr>
        <p:sp>
          <p:nvSpPr>
            <p:cNvPr id="966" name="Google Shape;966;p81"/>
            <p:cNvSpPr/>
            <p:nvPr/>
          </p:nvSpPr>
          <p:spPr>
            <a:xfrm>
              <a:off x="323988" y="3824458"/>
              <a:ext cx="595800" cy="5958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 litre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67" name="Google Shape;967;p81"/>
            <p:cNvSpPr/>
            <p:nvPr/>
          </p:nvSpPr>
          <p:spPr>
            <a:xfrm>
              <a:off x="919788" y="3824458"/>
              <a:ext cx="595800" cy="5958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 litre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68" name="Google Shape;968;p81"/>
            <p:cNvSpPr/>
            <p:nvPr/>
          </p:nvSpPr>
          <p:spPr>
            <a:xfrm>
              <a:off x="1515588" y="3824458"/>
              <a:ext cx="595800" cy="5958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 litre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69" name="Google Shape;969;p81"/>
            <p:cNvSpPr/>
            <p:nvPr/>
          </p:nvSpPr>
          <p:spPr>
            <a:xfrm>
              <a:off x="2111388" y="3824458"/>
              <a:ext cx="595800" cy="5958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 litre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970" name="Google Shape;970;p81"/>
          <p:cNvSpPr txBox="1"/>
          <p:nvPr/>
        </p:nvSpPr>
        <p:spPr>
          <a:xfrm>
            <a:off x="4320000" y="3956375"/>
            <a:ext cx="1113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 litres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81"/>
          <p:cNvSpPr txBox="1"/>
          <p:nvPr/>
        </p:nvSpPr>
        <p:spPr>
          <a:xfrm>
            <a:off x="324000" y="2980850"/>
            <a:ext cx="238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patio area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1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978" name="Google Shape;978;p82"/>
          <p:cNvGraphicFramePr/>
          <p:nvPr/>
        </p:nvGraphicFramePr>
        <p:xfrm>
          <a:off x="33451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79" name="Google Shape;979;p82"/>
          <p:cNvSpPr txBox="1"/>
          <p:nvPr/>
        </p:nvSpPr>
        <p:spPr>
          <a:xfrm>
            <a:off x="5212275" y="686313"/>
            <a:ext cx="3607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At 10 am, this weather report is released, showing the weather for the rest of the day.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According to the weather report, how much rain is predicted to fall later on in the day per 1 square metre of area?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0" name="Google Shape;980;p82"/>
          <p:cNvGraphicFramePr/>
          <p:nvPr/>
        </p:nvGraphicFramePr>
        <p:xfrm>
          <a:off x="334518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981" name="Google Shape;981;p8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75822" l="4960" r="74413" t="6545"/>
          <a:stretch/>
        </p:blipFill>
        <p:spPr>
          <a:xfrm>
            <a:off x="4224500" y="1053425"/>
            <a:ext cx="646426" cy="5526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2" name="Google Shape;982;p82"/>
          <p:cNvGraphicFramePr/>
          <p:nvPr/>
        </p:nvGraphicFramePr>
        <p:xfrm>
          <a:off x="323988" y="96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983" name="Google Shape;983;p82"/>
          <p:cNvGraphicFramePr/>
          <p:nvPr/>
        </p:nvGraphicFramePr>
        <p:xfrm>
          <a:off x="3239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984" name="Google Shape;984;p8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3420547" y="960625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82"/>
          <p:cNvSpPr/>
          <p:nvPr/>
        </p:nvSpPr>
        <p:spPr>
          <a:xfrm>
            <a:off x="3345200" y="1698850"/>
            <a:ext cx="804300" cy="286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2"/>
          <p:cNvSpPr txBox="1"/>
          <p:nvPr/>
        </p:nvSpPr>
        <p:spPr>
          <a:xfrm>
            <a:off x="5212275" y="3458125"/>
            <a:ext cx="3259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.5 litres or 6500 ml of rain per 1 square metre.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2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3"/>
          <p:cNvSpPr txBox="1"/>
          <p:nvPr/>
        </p:nvSpPr>
        <p:spPr>
          <a:xfrm>
            <a:off x="5212275" y="686313"/>
            <a:ext cx="3607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water butt has an open top to collect rainfall.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area of its open top                     is 0.8 m².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994" name="Google Shape;994;p83"/>
          <p:cNvGraphicFramePr/>
          <p:nvPr/>
        </p:nvGraphicFramePr>
        <p:xfrm>
          <a:off x="33451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995" name="Google Shape;995;p83"/>
          <p:cNvGraphicFramePr/>
          <p:nvPr/>
        </p:nvGraphicFramePr>
        <p:xfrm>
          <a:off x="334518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996" name="Google Shape;996;p83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75822" l="4960" r="74413" t="6545"/>
          <a:stretch/>
        </p:blipFill>
        <p:spPr>
          <a:xfrm>
            <a:off x="4224500" y="1053425"/>
            <a:ext cx="646426" cy="5526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7" name="Google Shape;997;p83"/>
          <p:cNvGraphicFramePr/>
          <p:nvPr/>
        </p:nvGraphicFramePr>
        <p:xfrm>
          <a:off x="323988" y="96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998" name="Google Shape;998;p83"/>
          <p:cNvGraphicFramePr/>
          <p:nvPr/>
        </p:nvGraphicFramePr>
        <p:xfrm>
          <a:off x="3239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999" name="Google Shape;999;p83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3420547" y="960625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3"/>
          <p:cNvSpPr/>
          <p:nvPr/>
        </p:nvSpPr>
        <p:spPr>
          <a:xfrm>
            <a:off x="3345200" y="1698850"/>
            <a:ext cx="804300" cy="286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3"/>
          <p:cNvSpPr txBox="1"/>
          <p:nvPr/>
        </p:nvSpPr>
        <p:spPr>
          <a:xfrm>
            <a:off x="359225" y="2288525"/>
            <a:ext cx="5336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litres of water will be collected by today’s predicted rainfall?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use this ratio table to help.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2" name="Google Shape;1002;p83"/>
          <p:cNvGraphicFramePr/>
          <p:nvPr/>
        </p:nvGraphicFramePr>
        <p:xfrm>
          <a:off x="455050" y="339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1773175"/>
                <a:gridCol w="1149100"/>
                <a:gridCol w="1707675"/>
              </a:tblGrid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(m²)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rainfall (litres)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5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weather report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5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water butt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03" name="Google Shape;1003;p83"/>
          <p:cNvSpPr txBox="1"/>
          <p:nvPr/>
        </p:nvSpPr>
        <p:spPr>
          <a:xfrm>
            <a:off x="3377325" y="3843425"/>
            <a:ext cx="17076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3"/>
          <p:cNvSpPr txBox="1"/>
          <p:nvPr/>
        </p:nvSpPr>
        <p:spPr>
          <a:xfrm>
            <a:off x="3377325" y="4293775"/>
            <a:ext cx="17076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05" name="Google Shape;1005;p83"/>
          <p:cNvGrpSpPr/>
          <p:nvPr/>
        </p:nvGrpSpPr>
        <p:grpSpPr>
          <a:xfrm>
            <a:off x="4957007" y="4020075"/>
            <a:ext cx="747718" cy="552624"/>
            <a:chOff x="8081207" y="4020075"/>
            <a:chExt cx="747718" cy="552624"/>
          </a:xfrm>
        </p:grpSpPr>
        <p:sp>
          <p:nvSpPr>
            <p:cNvPr id="1006" name="Google Shape;1006;p83"/>
            <p:cNvSpPr/>
            <p:nvPr/>
          </p:nvSpPr>
          <p:spPr>
            <a:xfrm flipH="1">
              <a:off x="8081207" y="4020075"/>
              <a:ext cx="66031" cy="552624"/>
            </a:xfrm>
            <a:custGeom>
              <a:rect b="b" l="l" r="r" t="t"/>
              <a:pathLst>
                <a:path extrusionOk="0" h="36131" w="7527">
                  <a:moveTo>
                    <a:pt x="7527" y="0"/>
                  </a:moveTo>
                  <a:cubicBezTo>
                    <a:pt x="6273" y="3030"/>
                    <a:pt x="0" y="12159"/>
                    <a:pt x="0" y="18181"/>
                  </a:cubicBezTo>
                  <a:cubicBezTo>
                    <a:pt x="0" y="24203"/>
                    <a:pt x="6273" y="33139"/>
                    <a:pt x="7527" y="36131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007" name="Google Shape;1007;p83"/>
            <p:cNvSpPr txBox="1"/>
            <p:nvPr/>
          </p:nvSpPr>
          <p:spPr>
            <a:xfrm>
              <a:off x="8209125" y="4094850"/>
              <a:ext cx="6198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× 0.8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008" name="Google Shape;1008;p83"/>
          <p:cNvSpPr txBox="1"/>
          <p:nvPr/>
        </p:nvSpPr>
        <p:spPr>
          <a:xfrm>
            <a:off x="3819550" y="2571750"/>
            <a:ext cx="17076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5.2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9" name="Google Shape;1009;p83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4"/>
          <p:cNvSpPr txBox="1"/>
          <p:nvPr/>
        </p:nvSpPr>
        <p:spPr>
          <a:xfrm>
            <a:off x="324000" y="2884946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weather forecast is a prediction of something that                                         might happen in the future.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lot of factors (including the size of a cloud, wind direction and wind speed, pressure fronts, etc.) go into a weather prediction.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of these factors, some predictions about rainfall will be more or  less accurate than others.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5" name="Google Shape;1015;p84"/>
          <p:cNvGraphicFramePr/>
          <p:nvPr/>
        </p:nvGraphicFramePr>
        <p:xfrm>
          <a:off x="35068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16" name="Google Shape;101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017" name="Google Shape;1017;p84"/>
          <p:cNvGraphicFramePr/>
          <p:nvPr/>
        </p:nvGraphicFramePr>
        <p:xfrm>
          <a:off x="35068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18" name="Google Shape;1018;p8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35822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9" name="Google Shape;1019;p84"/>
          <p:cNvGraphicFramePr/>
          <p:nvPr/>
        </p:nvGraphicFramePr>
        <p:xfrm>
          <a:off x="35068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20" name="Google Shape;1020;p84"/>
          <p:cNvGraphicFramePr/>
          <p:nvPr/>
        </p:nvGraphicFramePr>
        <p:xfrm>
          <a:off x="485638" y="99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21" name="Google Shape;1021;p84"/>
          <p:cNvGraphicFramePr/>
          <p:nvPr/>
        </p:nvGraphicFramePr>
        <p:xfrm>
          <a:off x="4856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22" name="Google Shape;1022;p84"/>
          <p:cNvGraphicFramePr/>
          <p:nvPr/>
        </p:nvGraphicFramePr>
        <p:xfrm>
          <a:off x="4856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1023" name="Google Shape;1023;p84"/>
          <p:cNvGrpSpPr/>
          <p:nvPr/>
        </p:nvGrpSpPr>
        <p:grpSpPr>
          <a:xfrm>
            <a:off x="4878872" y="584925"/>
            <a:ext cx="3333815" cy="1812325"/>
            <a:chOff x="4218747" y="2855375"/>
            <a:chExt cx="3333815" cy="1812325"/>
          </a:xfrm>
        </p:grpSpPr>
        <p:pic>
          <p:nvPicPr>
            <p:cNvPr id="1024" name="Google Shape;1024;p84"/>
            <p:cNvPicPr preferRelativeResize="0"/>
            <p:nvPr/>
          </p:nvPicPr>
          <p:blipFill rotWithShape="1">
            <a:blip r:embed="rId4">
              <a:alphaModFix/>
            </a:blip>
            <a:srcRect b="52676" l="41741" r="0" t="13016"/>
            <a:stretch/>
          </p:blipFill>
          <p:spPr>
            <a:xfrm flipH="1">
              <a:off x="4223037" y="2855375"/>
              <a:ext cx="3329526" cy="933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5" name="Google Shape;1025;p84"/>
            <p:cNvPicPr preferRelativeResize="0"/>
            <p:nvPr/>
          </p:nvPicPr>
          <p:blipFill rotWithShape="1">
            <a:blip r:embed="rId4">
              <a:alphaModFix/>
            </a:blip>
            <a:srcRect b="4762" l="41741" r="0" t="62189"/>
            <a:stretch/>
          </p:blipFill>
          <p:spPr>
            <a:xfrm flipH="1">
              <a:off x="4218747" y="3767599"/>
              <a:ext cx="3333228" cy="900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6" name="Google Shape;1026;p84"/>
          <p:cNvSpPr txBox="1"/>
          <p:nvPr/>
        </p:nvSpPr>
        <p:spPr>
          <a:xfrm>
            <a:off x="4971300" y="690334"/>
            <a:ext cx="3112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So, if I see this weather report, then it’s guaranteed that there will be a rain shower and 2 mm of rain will fall?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7" name="Google Shape;1027;p84"/>
          <p:cNvGrpSpPr/>
          <p:nvPr/>
        </p:nvGrpSpPr>
        <p:grpSpPr>
          <a:xfrm>
            <a:off x="7904898" y="1880163"/>
            <a:ext cx="882300" cy="953440"/>
            <a:chOff x="3745825" y="4553421"/>
            <a:chExt cx="882300" cy="953440"/>
          </a:xfrm>
        </p:grpSpPr>
        <p:pic>
          <p:nvPicPr>
            <p:cNvPr id="1028" name="Google Shape;1028;p8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40144" y="4553421"/>
              <a:ext cx="493661" cy="636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84"/>
            <p:cNvSpPr txBox="1"/>
            <p:nvPr/>
          </p:nvSpPr>
          <p:spPr>
            <a:xfrm>
              <a:off x="3745825" y="5229660"/>
              <a:ext cx="8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0" name="Google Shape;1030;p84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5" name="Google Shape;1035;p85"/>
          <p:cNvGrpSpPr/>
          <p:nvPr/>
        </p:nvGrpSpPr>
        <p:grpSpPr>
          <a:xfrm>
            <a:off x="4878872" y="661125"/>
            <a:ext cx="3333828" cy="1355125"/>
            <a:chOff x="4218747" y="2931575"/>
            <a:chExt cx="3333828" cy="1355125"/>
          </a:xfrm>
        </p:grpSpPr>
        <p:pic>
          <p:nvPicPr>
            <p:cNvPr id="1036" name="Google Shape;1036;p85"/>
            <p:cNvPicPr preferRelativeResize="0"/>
            <p:nvPr/>
          </p:nvPicPr>
          <p:blipFill rotWithShape="1">
            <a:blip r:embed="rId3">
              <a:alphaModFix/>
            </a:blip>
            <a:srcRect b="61978" l="41741" r="0" t="13015"/>
            <a:stretch/>
          </p:blipFill>
          <p:spPr>
            <a:xfrm flipH="1">
              <a:off x="4223024" y="2931575"/>
              <a:ext cx="3329551" cy="680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Google Shape;1037;p85"/>
            <p:cNvPicPr preferRelativeResize="0"/>
            <p:nvPr/>
          </p:nvPicPr>
          <p:blipFill rotWithShape="1">
            <a:blip r:embed="rId3">
              <a:alphaModFix/>
            </a:blip>
            <a:srcRect b="4762" l="41741" r="0" t="62189"/>
            <a:stretch/>
          </p:blipFill>
          <p:spPr>
            <a:xfrm flipH="1">
              <a:off x="4218747" y="3386599"/>
              <a:ext cx="3333228" cy="900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8" name="Google Shape;1038;p85"/>
          <p:cNvSpPr txBox="1"/>
          <p:nvPr/>
        </p:nvSpPr>
        <p:spPr>
          <a:xfrm>
            <a:off x="324000" y="2656350"/>
            <a:ext cx="4248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greater the “chance of rainfall” percentage, the more likely it is that rain will fall in that area at around that period of time.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39" name="Google Shape;1039;p85"/>
          <p:cNvGraphicFramePr/>
          <p:nvPr/>
        </p:nvGraphicFramePr>
        <p:xfrm>
          <a:off x="35068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40" name="Google Shape;1040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041" name="Google Shape;1041;p85"/>
          <p:cNvGraphicFramePr/>
          <p:nvPr/>
        </p:nvGraphicFramePr>
        <p:xfrm>
          <a:off x="35068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42" name="Google Shape;1042;p8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51381" l="28615" r="50758" t="25064"/>
          <a:stretch/>
        </p:blipFill>
        <p:spPr>
          <a:xfrm>
            <a:off x="35822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3" name="Google Shape;1043;p85"/>
          <p:cNvGraphicFramePr/>
          <p:nvPr/>
        </p:nvGraphicFramePr>
        <p:xfrm>
          <a:off x="35068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44" name="Google Shape;1044;p85"/>
          <p:cNvGraphicFramePr/>
          <p:nvPr/>
        </p:nvGraphicFramePr>
        <p:xfrm>
          <a:off x="485638" y="99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45" name="Google Shape;1045;p85"/>
          <p:cNvGraphicFramePr/>
          <p:nvPr/>
        </p:nvGraphicFramePr>
        <p:xfrm>
          <a:off x="4856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46" name="Google Shape;1046;p85"/>
          <p:cNvSpPr txBox="1"/>
          <p:nvPr/>
        </p:nvSpPr>
        <p:spPr>
          <a:xfrm>
            <a:off x="4971300" y="774238"/>
            <a:ext cx="3021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80% is pretty big, that means it’s definitely going to rain!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7" name="Google Shape;1047;p85"/>
          <p:cNvGraphicFramePr/>
          <p:nvPr/>
        </p:nvGraphicFramePr>
        <p:xfrm>
          <a:off x="4856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1048" name="Google Shape;1048;p85"/>
          <p:cNvGrpSpPr/>
          <p:nvPr/>
        </p:nvGrpSpPr>
        <p:grpSpPr>
          <a:xfrm>
            <a:off x="7904898" y="1499163"/>
            <a:ext cx="882300" cy="953440"/>
            <a:chOff x="3745825" y="4553421"/>
            <a:chExt cx="882300" cy="953440"/>
          </a:xfrm>
        </p:grpSpPr>
        <p:pic>
          <p:nvPicPr>
            <p:cNvPr id="1049" name="Google Shape;1049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40144" y="4553421"/>
              <a:ext cx="493661" cy="636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85"/>
            <p:cNvSpPr txBox="1"/>
            <p:nvPr/>
          </p:nvSpPr>
          <p:spPr>
            <a:xfrm>
              <a:off x="3745825" y="5229660"/>
              <a:ext cx="8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1" name="Google Shape;1051;p85"/>
          <p:cNvGrpSpPr/>
          <p:nvPr/>
        </p:nvGrpSpPr>
        <p:grpSpPr>
          <a:xfrm flipH="1">
            <a:off x="5300971" y="2556690"/>
            <a:ext cx="3333832" cy="1649786"/>
            <a:chOff x="4218743" y="2759440"/>
            <a:chExt cx="3333832" cy="1649786"/>
          </a:xfrm>
        </p:grpSpPr>
        <p:pic>
          <p:nvPicPr>
            <p:cNvPr id="1052" name="Google Shape;1052;p85"/>
            <p:cNvPicPr preferRelativeResize="0"/>
            <p:nvPr/>
          </p:nvPicPr>
          <p:blipFill rotWithShape="1">
            <a:blip r:embed="rId3">
              <a:alphaModFix/>
            </a:blip>
            <a:srcRect b="61978" l="41741" r="0" t="13015"/>
            <a:stretch/>
          </p:blipFill>
          <p:spPr>
            <a:xfrm flipH="1">
              <a:off x="4223024" y="2759440"/>
              <a:ext cx="3329551" cy="680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3" name="Google Shape;1053;p85"/>
            <p:cNvPicPr preferRelativeResize="0"/>
            <p:nvPr/>
          </p:nvPicPr>
          <p:blipFill rotWithShape="1">
            <a:blip r:embed="rId3">
              <a:alphaModFix/>
            </a:blip>
            <a:srcRect b="4763" l="41741" r="0" t="59207"/>
            <a:stretch/>
          </p:blipFill>
          <p:spPr>
            <a:xfrm flipH="1">
              <a:off x="4218743" y="3427925"/>
              <a:ext cx="3333228" cy="98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4" name="Google Shape;1054;p85"/>
          <p:cNvSpPr txBox="1"/>
          <p:nvPr/>
        </p:nvSpPr>
        <p:spPr>
          <a:xfrm flipH="1">
            <a:off x="5521071" y="2658118"/>
            <a:ext cx="3021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I don’t think so!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Any percentage less than 100% means it isn’t guaranteed to rain!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5" name="Google Shape;1055;p85"/>
          <p:cNvGrpSpPr/>
          <p:nvPr/>
        </p:nvGrpSpPr>
        <p:grpSpPr>
          <a:xfrm>
            <a:off x="4878875" y="3961113"/>
            <a:ext cx="882300" cy="898238"/>
            <a:chOff x="6717975" y="2886425"/>
            <a:chExt cx="882300" cy="898238"/>
          </a:xfrm>
        </p:grpSpPr>
        <p:sp>
          <p:nvSpPr>
            <p:cNvPr id="1056" name="Google Shape;1056;p85"/>
            <p:cNvSpPr txBox="1"/>
            <p:nvPr/>
          </p:nvSpPr>
          <p:spPr>
            <a:xfrm>
              <a:off x="6717975" y="3507463"/>
              <a:ext cx="8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57" name="Google Shape;1057;p8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89175" y="2886425"/>
              <a:ext cx="539925" cy="7071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8" name="Google Shape;1058;p85"/>
          <p:cNvSpPr txBox="1"/>
          <p:nvPr/>
        </p:nvSpPr>
        <p:spPr>
          <a:xfrm>
            <a:off x="4907725" y="1888875"/>
            <a:ext cx="228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Andeep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5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4" name="Google Shape;1064;p86"/>
          <p:cNvGraphicFramePr/>
          <p:nvPr/>
        </p:nvGraphicFramePr>
        <p:xfrm>
          <a:off x="35068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65" name="Google Shape;106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1066" name="Google Shape;1066;p86"/>
          <p:cNvSpPr txBox="1"/>
          <p:nvPr/>
        </p:nvSpPr>
        <p:spPr>
          <a:xfrm>
            <a:off x="324000" y="3366025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there are 5 periods of time, each with an 80% chance of rainfall, then it 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expected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in 4 of those periods rain will actually fall.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7" name="Google Shape;1067;p86"/>
          <p:cNvGraphicFramePr/>
          <p:nvPr/>
        </p:nvGraphicFramePr>
        <p:xfrm>
          <a:off x="35068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68" name="Google Shape;1068;p8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35822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9" name="Google Shape;1069;p86"/>
          <p:cNvGraphicFramePr/>
          <p:nvPr/>
        </p:nvGraphicFramePr>
        <p:xfrm>
          <a:off x="35068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70" name="Google Shape;1070;p86"/>
          <p:cNvGraphicFramePr/>
          <p:nvPr/>
        </p:nvGraphicFramePr>
        <p:xfrm>
          <a:off x="485638" y="99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71" name="Google Shape;1071;p86"/>
          <p:cNvGraphicFramePr/>
          <p:nvPr/>
        </p:nvGraphicFramePr>
        <p:xfrm>
          <a:off x="4856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72" name="Google Shape;1072;p86"/>
          <p:cNvGraphicFramePr/>
          <p:nvPr/>
        </p:nvGraphicFramePr>
        <p:xfrm>
          <a:off x="4856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73" name="Google Shape;1073;p86"/>
          <p:cNvGraphicFramePr/>
          <p:nvPr/>
        </p:nvGraphicFramePr>
        <p:xfrm>
          <a:off x="4311163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74" name="Google Shape;1074;p8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4386525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5" name="Google Shape;1075;p86"/>
          <p:cNvGraphicFramePr/>
          <p:nvPr/>
        </p:nvGraphicFramePr>
        <p:xfrm>
          <a:off x="4311163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76" name="Google Shape;1076;p86"/>
          <p:cNvGraphicFramePr/>
          <p:nvPr/>
        </p:nvGraphicFramePr>
        <p:xfrm>
          <a:off x="4311163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77" name="Google Shape;1077;p86"/>
          <p:cNvGraphicFramePr/>
          <p:nvPr/>
        </p:nvGraphicFramePr>
        <p:xfrm>
          <a:off x="511548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78" name="Google Shape;1078;p86"/>
          <p:cNvGraphicFramePr/>
          <p:nvPr/>
        </p:nvGraphicFramePr>
        <p:xfrm>
          <a:off x="511548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79" name="Google Shape;1079;p8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19085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0" name="Google Shape;1080;p86"/>
          <p:cNvGraphicFramePr/>
          <p:nvPr/>
        </p:nvGraphicFramePr>
        <p:xfrm>
          <a:off x="511548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81" name="Google Shape;1081;p86"/>
          <p:cNvGraphicFramePr/>
          <p:nvPr/>
        </p:nvGraphicFramePr>
        <p:xfrm>
          <a:off x="5919813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82" name="Google Shape;1082;p8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995175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3" name="Google Shape;1083;p86"/>
          <p:cNvGraphicFramePr/>
          <p:nvPr/>
        </p:nvGraphicFramePr>
        <p:xfrm>
          <a:off x="5919813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84" name="Google Shape;1084;p86"/>
          <p:cNvGraphicFramePr/>
          <p:nvPr/>
        </p:nvGraphicFramePr>
        <p:xfrm>
          <a:off x="5919813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85" name="Google Shape;1085;p86"/>
          <p:cNvGraphicFramePr/>
          <p:nvPr/>
        </p:nvGraphicFramePr>
        <p:xfrm>
          <a:off x="67241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86" name="Google Shape;1086;p8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7995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7" name="Google Shape;1087;p86"/>
          <p:cNvGraphicFramePr/>
          <p:nvPr/>
        </p:nvGraphicFramePr>
        <p:xfrm>
          <a:off x="67241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88" name="Google Shape;1088;p86"/>
          <p:cNvGraphicFramePr/>
          <p:nvPr/>
        </p:nvGraphicFramePr>
        <p:xfrm>
          <a:off x="67241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80\%=\frac{4}{5}&quot;&gt;&lt;mn&gt;80&lt;/mn&gt;&lt;mi mathvariant=&quot;normal&quot;&gt;%&lt;/mi&gt;&lt;mo&gt;=&lt;/mo&gt;&lt;mfrac&gt;&lt;mn&gt;4&lt;/mn&gt;&lt;mn&gt;5&lt;/mn&gt;&lt;/mfrac&gt;&lt;/math&gt;" id="1089" name="Google Shape;1089;p86" title="80 percent sign equals 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6861" y="2700000"/>
            <a:ext cx="994033" cy="56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0" name="Google Shape;1090;p86"/>
          <p:cNvGraphicFramePr/>
          <p:nvPr/>
        </p:nvGraphicFramePr>
        <p:xfrm>
          <a:off x="3506838" y="23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✓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✓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✓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✓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091" name="Google Shape;1091;p86"/>
          <p:cNvGraphicFramePr/>
          <p:nvPr/>
        </p:nvGraphicFramePr>
        <p:xfrm>
          <a:off x="485638" y="23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did rain actually fall?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92" name="Google Shape;1092;p86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7" name="Google Shape;1097;p87"/>
          <p:cNvGraphicFramePr/>
          <p:nvPr/>
        </p:nvGraphicFramePr>
        <p:xfrm>
          <a:off x="35068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98" name="Google Shape;1098;p87"/>
          <p:cNvSpPr txBox="1"/>
          <p:nvPr/>
        </p:nvSpPr>
        <p:spPr>
          <a:xfrm>
            <a:off x="324000" y="281745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just because we “expect” 4 out of 5 periods of time to result in rain, this doesn’t mean there will be exactly 4 periods of rainfall.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100" name="Google Shape;1100;p87"/>
          <p:cNvGraphicFramePr/>
          <p:nvPr/>
        </p:nvGraphicFramePr>
        <p:xfrm>
          <a:off x="35068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01" name="Google Shape;1101;p8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35822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2" name="Google Shape;1102;p87"/>
          <p:cNvGraphicFramePr/>
          <p:nvPr/>
        </p:nvGraphicFramePr>
        <p:xfrm>
          <a:off x="35068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03" name="Google Shape;1103;p87"/>
          <p:cNvGraphicFramePr/>
          <p:nvPr/>
        </p:nvGraphicFramePr>
        <p:xfrm>
          <a:off x="485638" y="99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04" name="Google Shape;1104;p87"/>
          <p:cNvGraphicFramePr/>
          <p:nvPr/>
        </p:nvGraphicFramePr>
        <p:xfrm>
          <a:off x="4856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05" name="Google Shape;1105;p87"/>
          <p:cNvGraphicFramePr/>
          <p:nvPr/>
        </p:nvGraphicFramePr>
        <p:xfrm>
          <a:off x="4856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06" name="Google Shape;1106;p87"/>
          <p:cNvGraphicFramePr/>
          <p:nvPr/>
        </p:nvGraphicFramePr>
        <p:xfrm>
          <a:off x="4311163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07" name="Google Shape;1107;p8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4386525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8" name="Google Shape;1108;p87"/>
          <p:cNvGraphicFramePr/>
          <p:nvPr/>
        </p:nvGraphicFramePr>
        <p:xfrm>
          <a:off x="4311163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09" name="Google Shape;1109;p87"/>
          <p:cNvGraphicFramePr/>
          <p:nvPr/>
        </p:nvGraphicFramePr>
        <p:xfrm>
          <a:off x="4311163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10" name="Google Shape;1110;p87"/>
          <p:cNvGraphicFramePr/>
          <p:nvPr/>
        </p:nvGraphicFramePr>
        <p:xfrm>
          <a:off x="511548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11" name="Google Shape;1111;p87"/>
          <p:cNvGraphicFramePr/>
          <p:nvPr/>
        </p:nvGraphicFramePr>
        <p:xfrm>
          <a:off x="511548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12" name="Google Shape;1112;p8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19085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3" name="Google Shape;1113;p87"/>
          <p:cNvGraphicFramePr/>
          <p:nvPr/>
        </p:nvGraphicFramePr>
        <p:xfrm>
          <a:off x="511548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14" name="Google Shape;1114;p87"/>
          <p:cNvGraphicFramePr/>
          <p:nvPr/>
        </p:nvGraphicFramePr>
        <p:xfrm>
          <a:off x="5919813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15" name="Google Shape;1115;p8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995175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6" name="Google Shape;1116;p87"/>
          <p:cNvGraphicFramePr/>
          <p:nvPr/>
        </p:nvGraphicFramePr>
        <p:xfrm>
          <a:off x="5919813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17" name="Google Shape;1117;p87"/>
          <p:cNvGraphicFramePr/>
          <p:nvPr/>
        </p:nvGraphicFramePr>
        <p:xfrm>
          <a:off x="5919813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18" name="Google Shape;1118;p87"/>
          <p:cNvGraphicFramePr/>
          <p:nvPr/>
        </p:nvGraphicFramePr>
        <p:xfrm>
          <a:off x="67241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19" name="Google Shape;1119;p8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7995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0" name="Google Shape;1120;p87"/>
          <p:cNvGraphicFramePr/>
          <p:nvPr/>
        </p:nvGraphicFramePr>
        <p:xfrm>
          <a:off x="67241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21" name="Google Shape;1121;p87"/>
          <p:cNvGraphicFramePr/>
          <p:nvPr/>
        </p:nvGraphicFramePr>
        <p:xfrm>
          <a:off x="67241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22" name="Google Shape;1122;p87"/>
          <p:cNvGraphicFramePr/>
          <p:nvPr/>
        </p:nvGraphicFramePr>
        <p:xfrm>
          <a:off x="3506838" y="23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23" name="Google Shape;1123;p87"/>
          <p:cNvGraphicFramePr/>
          <p:nvPr/>
        </p:nvGraphicFramePr>
        <p:xfrm>
          <a:off x="485638" y="23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did rain actually fall?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124" name="Google Shape;1124;p87"/>
          <p:cNvSpPr txBox="1"/>
          <p:nvPr/>
        </p:nvSpPr>
        <p:spPr>
          <a:xfrm>
            <a:off x="324000" y="360375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more likely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see around 4 of those 5 periods of time result in rainfall…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But, it is possible for any amount of rain to fall, including no rainfall at all. This is just a very unlikely, extreme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7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0" name="Google Shape;1130;p88"/>
          <p:cNvGraphicFramePr/>
          <p:nvPr/>
        </p:nvGraphicFramePr>
        <p:xfrm>
          <a:off x="35068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131" name="Google Shape;1131;p88"/>
          <p:cNvSpPr txBox="1"/>
          <p:nvPr/>
        </p:nvSpPr>
        <p:spPr>
          <a:xfrm>
            <a:off x="324000" y="2776200"/>
            <a:ext cx="5932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Imagine rolling a dice 5 times.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possible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the dice to land on the number “6” each and every time.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this outcome is very unlikely.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133" name="Google Shape;1133;p88"/>
          <p:cNvGraphicFramePr/>
          <p:nvPr/>
        </p:nvGraphicFramePr>
        <p:xfrm>
          <a:off x="35068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34" name="Google Shape;1134;p8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35822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5" name="Google Shape;1135;p88"/>
          <p:cNvGraphicFramePr/>
          <p:nvPr/>
        </p:nvGraphicFramePr>
        <p:xfrm>
          <a:off x="35068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36" name="Google Shape;1136;p88"/>
          <p:cNvGraphicFramePr/>
          <p:nvPr/>
        </p:nvGraphicFramePr>
        <p:xfrm>
          <a:off x="485638" y="99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37" name="Google Shape;1137;p88"/>
          <p:cNvGraphicFramePr/>
          <p:nvPr/>
        </p:nvGraphicFramePr>
        <p:xfrm>
          <a:off x="4856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38" name="Google Shape;1138;p88"/>
          <p:cNvGraphicFramePr/>
          <p:nvPr/>
        </p:nvGraphicFramePr>
        <p:xfrm>
          <a:off x="4856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39" name="Google Shape;1139;p88"/>
          <p:cNvGraphicFramePr/>
          <p:nvPr/>
        </p:nvGraphicFramePr>
        <p:xfrm>
          <a:off x="4311163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40" name="Google Shape;1140;p8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4386525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1" name="Google Shape;1141;p88"/>
          <p:cNvGraphicFramePr/>
          <p:nvPr/>
        </p:nvGraphicFramePr>
        <p:xfrm>
          <a:off x="4311163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42" name="Google Shape;1142;p88"/>
          <p:cNvGraphicFramePr/>
          <p:nvPr/>
        </p:nvGraphicFramePr>
        <p:xfrm>
          <a:off x="4311163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43" name="Google Shape;1143;p88"/>
          <p:cNvGraphicFramePr/>
          <p:nvPr/>
        </p:nvGraphicFramePr>
        <p:xfrm>
          <a:off x="511548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44" name="Google Shape;1144;p88"/>
          <p:cNvGraphicFramePr/>
          <p:nvPr/>
        </p:nvGraphicFramePr>
        <p:xfrm>
          <a:off x="511548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45" name="Google Shape;1145;p8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19085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6" name="Google Shape;1146;p88"/>
          <p:cNvGraphicFramePr/>
          <p:nvPr/>
        </p:nvGraphicFramePr>
        <p:xfrm>
          <a:off x="511548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47" name="Google Shape;1147;p88"/>
          <p:cNvGraphicFramePr/>
          <p:nvPr/>
        </p:nvGraphicFramePr>
        <p:xfrm>
          <a:off x="5919813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48" name="Google Shape;1148;p8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995175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9" name="Google Shape;1149;p88"/>
          <p:cNvGraphicFramePr/>
          <p:nvPr/>
        </p:nvGraphicFramePr>
        <p:xfrm>
          <a:off x="5919813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50" name="Google Shape;1150;p88"/>
          <p:cNvGraphicFramePr/>
          <p:nvPr/>
        </p:nvGraphicFramePr>
        <p:xfrm>
          <a:off x="5919813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51" name="Google Shape;1151;p88"/>
          <p:cNvGraphicFramePr/>
          <p:nvPr/>
        </p:nvGraphicFramePr>
        <p:xfrm>
          <a:off x="6724138" y="202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152" name="Google Shape;1152;p8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799500" y="9972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3" name="Google Shape;1153;p88"/>
          <p:cNvGraphicFramePr/>
          <p:nvPr/>
        </p:nvGraphicFramePr>
        <p:xfrm>
          <a:off x="6724138" y="72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20:00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54" name="Google Shape;1154;p88"/>
          <p:cNvGraphicFramePr/>
          <p:nvPr/>
        </p:nvGraphicFramePr>
        <p:xfrm>
          <a:off x="6724138" y="173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55" name="Google Shape;1155;p88"/>
          <p:cNvGraphicFramePr/>
          <p:nvPr/>
        </p:nvGraphicFramePr>
        <p:xfrm>
          <a:off x="3506838" y="23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156" name="Google Shape;1156;p88"/>
          <p:cNvGraphicFramePr/>
          <p:nvPr/>
        </p:nvGraphicFramePr>
        <p:xfrm>
          <a:off x="485638" y="23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did rain actually fall?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157" name="Google Shape;1157;p88"/>
          <p:cNvSpPr/>
          <p:nvPr/>
        </p:nvSpPr>
        <p:spPr>
          <a:xfrm>
            <a:off x="7009925" y="2928250"/>
            <a:ext cx="1086600" cy="10866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88"/>
          <p:cNvSpPr/>
          <p:nvPr/>
        </p:nvSpPr>
        <p:spPr>
          <a:xfrm rot="-5400000">
            <a:off x="7840996" y="3722644"/>
            <a:ext cx="148500" cy="498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8"/>
          <p:cNvSpPr/>
          <p:nvPr/>
        </p:nvSpPr>
        <p:spPr>
          <a:xfrm rot="-5400000">
            <a:off x="7892036" y="3469573"/>
            <a:ext cx="148500" cy="498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8"/>
          <p:cNvSpPr/>
          <p:nvPr/>
        </p:nvSpPr>
        <p:spPr>
          <a:xfrm rot="-5400000">
            <a:off x="7949429" y="3221619"/>
            <a:ext cx="148500" cy="498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8"/>
          <p:cNvSpPr/>
          <p:nvPr/>
        </p:nvSpPr>
        <p:spPr>
          <a:xfrm rot="-5400000">
            <a:off x="7158752" y="3806352"/>
            <a:ext cx="116400" cy="11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8"/>
          <p:cNvSpPr/>
          <p:nvPr/>
        </p:nvSpPr>
        <p:spPr>
          <a:xfrm rot="-5400000">
            <a:off x="7570250" y="3277648"/>
            <a:ext cx="116100" cy="1161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8"/>
          <p:cNvSpPr/>
          <p:nvPr/>
        </p:nvSpPr>
        <p:spPr>
          <a:xfrm rot="-5400000">
            <a:off x="7158752" y="3277448"/>
            <a:ext cx="115800" cy="1158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8"/>
          <p:cNvSpPr/>
          <p:nvPr/>
        </p:nvSpPr>
        <p:spPr>
          <a:xfrm rot="-5400000">
            <a:off x="7570050" y="3806352"/>
            <a:ext cx="116400" cy="11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8"/>
          <p:cNvSpPr/>
          <p:nvPr/>
        </p:nvSpPr>
        <p:spPr>
          <a:xfrm rot="-5400000">
            <a:off x="7158752" y="3539550"/>
            <a:ext cx="116400" cy="11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8"/>
          <p:cNvSpPr/>
          <p:nvPr/>
        </p:nvSpPr>
        <p:spPr>
          <a:xfrm rot="-5400000">
            <a:off x="7570050" y="3539550"/>
            <a:ext cx="116400" cy="11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8"/>
          <p:cNvSpPr/>
          <p:nvPr/>
        </p:nvSpPr>
        <p:spPr>
          <a:xfrm rot="-5400000">
            <a:off x="7625837" y="3035138"/>
            <a:ext cx="81000" cy="119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8"/>
          <p:cNvSpPr/>
          <p:nvPr/>
        </p:nvSpPr>
        <p:spPr>
          <a:xfrm rot="-5400000">
            <a:off x="7330930" y="2948214"/>
            <a:ext cx="78000" cy="119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8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9"/>
          <p:cNvSpPr txBox="1"/>
          <p:nvPr/>
        </p:nvSpPr>
        <p:spPr>
          <a:xfrm>
            <a:off x="324000" y="70640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Here’s an example of how the reality may differ from a predicted forecast.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days in a row each have a predicted 80% chance of rainfall.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timeline shows whether or not rain actually fell that day.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176" name="Google Shape;1176;p89"/>
          <p:cNvPicPr preferRelativeResize="0"/>
          <p:nvPr/>
        </p:nvPicPr>
        <p:blipFill rotWithShape="1">
          <a:blip r:embed="rId3">
            <a:alphaModFix/>
          </a:blip>
          <a:srcRect b="0" l="0" r="5758" t="0"/>
          <a:stretch/>
        </p:blipFill>
        <p:spPr>
          <a:xfrm>
            <a:off x="323988" y="2310325"/>
            <a:ext cx="5590474" cy="2059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7" name="Google Shape;1177;p89"/>
          <p:cNvSpPr txBox="1"/>
          <p:nvPr/>
        </p:nvSpPr>
        <p:spPr>
          <a:xfrm>
            <a:off x="323992" y="4550275"/>
            <a:ext cx="2039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Rainfall model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🖇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9"/>
          <p:cNvSpPr/>
          <p:nvPr/>
        </p:nvSpPr>
        <p:spPr>
          <a:xfrm>
            <a:off x="2282950" y="2413600"/>
            <a:ext cx="3555000" cy="10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9" name="Google Shape;1179;p89"/>
          <p:cNvPicPr preferRelativeResize="0"/>
          <p:nvPr/>
        </p:nvPicPr>
        <p:blipFill rotWithShape="1">
          <a:blip r:embed="rId3">
            <a:alphaModFix/>
          </a:blip>
          <a:srcRect b="43225" l="32905" r="63501" t="3344"/>
          <a:stretch/>
        </p:blipFill>
        <p:spPr>
          <a:xfrm>
            <a:off x="2276075" y="2379225"/>
            <a:ext cx="213150" cy="11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9"/>
          <p:cNvSpPr txBox="1"/>
          <p:nvPr/>
        </p:nvSpPr>
        <p:spPr>
          <a:xfrm>
            <a:off x="6202450" y="2310325"/>
            <a:ext cx="2617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1 day, there is 1 day that rained.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}=100\%&quot;&gt;&lt;mfrac&gt;&lt;mn&gt;1&lt;/mn&gt;&lt;mn&gt;1&lt;/mn&gt;&lt;/mfrac&gt;&lt;mo&gt;=&lt;/mo&gt;&lt;mn&gt;100&lt;/mn&gt;&lt;mi mathvariant=&quot;normal&quot;&gt;%&lt;/mi&gt;&lt;/math&gt;" id="1181" name="Google Shape;1181;p89" title="one oneth equals 100 percent sig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3645" y="3011825"/>
            <a:ext cx="1138176" cy="5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89"/>
          <p:cNvSpPr txBox="1"/>
          <p:nvPr/>
        </p:nvSpPr>
        <p:spPr>
          <a:xfrm>
            <a:off x="6202450" y="3856200"/>
            <a:ext cx="2617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 of days had rainfall (not 80%).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90"/>
          <p:cNvSpPr txBox="1"/>
          <p:nvPr/>
        </p:nvSpPr>
        <p:spPr>
          <a:xfrm>
            <a:off x="324000" y="70640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Here’s an example of how the reality may differ from a predicted forecast.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days in a row each have a predicted 80% chance of rainfall.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timeline shows whether or not rain actually fell that day.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189" name="Google Shape;1189;p90"/>
          <p:cNvPicPr preferRelativeResize="0"/>
          <p:nvPr/>
        </p:nvPicPr>
        <p:blipFill rotWithShape="1">
          <a:blip r:embed="rId3">
            <a:alphaModFix/>
          </a:blip>
          <a:srcRect b="0" l="0" r="5758" t="0"/>
          <a:stretch/>
        </p:blipFill>
        <p:spPr>
          <a:xfrm>
            <a:off x="323988" y="2310325"/>
            <a:ext cx="5590474" cy="2059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0" name="Google Shape;1190;p90"/>
          <p:cNvSpPr txBox="1"/>
          <p:nvPr/>
        </p:nvSpPr>
        <p:spPr>
          <a:xfrm>
            <a:off x="323992" y="4550275"/>
            <a:ext cx="2039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Rainfall model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🖇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90"/>
          <p:cNvSpPr/>
          <p:nvPr/>
        </p:nvSpPr>
        <p:spPr>
          <a:xfrm>
            <a:off x="2282950" y="2413600"/>
            <a:ext cx="3555000" cy="10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0"/>
          <p:cNvSpPr txBox="1"/>
          <p:nvPr/>
        </p:nvSpPr>
        <p:spPr>
          <a:xfrm>
            <a:off x="6202450" y="2310325"/>
            <a:ext cx="2617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2 days, there is 1 day that rained.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3" name="Google Shape;1193;p90"/>
          <p:cNvPicPr preferRelativeResize="0"/>
          <p:nvPr/>
        </p:nvPicPr>
        <p:blipFill rotWithShape="1">
          <a:blip r:embed="rId3">
            <a:alphaModFix/>
          </a:blip>
          <a:srcRect b="43225" l="32905" r="60603" t="3344"/>
          <a:stretch/>
        </p:blipFill>
        <p:spPr>
          <a:xfrm>
            <a:off x="2276075" y="2379225"/>
            <a:ext cx="385076" cy="11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=50\%&quot;&gt;&lt;mfrac&gt;&lt;mn&gt;1&lt;/mn&gt;&lt;mn&gt;2&lt;/mn&gt;&lt;/mfrac&gt;&lt;mo&gt;=&lt;/mo&gt;&lt;mn&gt;50&lt;/mn&gt;&lt;mi mathvariant=&quot;normal&quot;&gt;%&lt;/mi&gt;&lt;/math&gt;" id="1194" name="Google Shape;1194;p90" title="one half equals 50 percent sig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3652" y="3011825"/>
            <a:ext cx="1005264" cy="5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0"/>
          <p:cNvSpPr txBox="1"/>
          <p:nvPr/>
        </p:nvSpPr>
        <p:spPr>
          <a:xfrm>
            <a:off x="6202450" y="3856200"/>
            <a:ext cx="2617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50% of days had rainfall (not 80%).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1"/>
          <p:cNvSpPr txBox="1"/>
          <p:nvPr/>
        </p:nvSpPr>
        <p:spPr>
          <a:xfrm>
            <a:off x="324000" y="70640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Here’s an example of how the reality may differ from a predicted forecast.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days in a row each have a predicted 80% chance of rainfall.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timeline shows whether or not rain actually fell that day.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202" name="Google Shape;1202;p91"/>
          <p:cNvPicPr preferRelativeResize="0"/>
          <p:nvPr/>
        </p:nvPicPr>
        <p:blipFill rotWithShape="1">
          <a:blip r:embed="rId3">
            <a:alphaModFix/>
          </a:blip>
          <a:srcRect b="0" l="0" r="5758" t="0"/>
          <a:stretch/>
        </p:blipFill>
        <p:spPr>
          <a:xfrm>
            <a:off x="323988" y="2310325"/>
            <a:ext cx="5590474" cy="2059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3" name="Google Shape;1203;p91"/>
          <p:cNvSpPr txBox="1"/>
          <p:nvPr/>
        </p:nvSpPr>
        <p:spPr>
          <a:xfrm>
            <a:off x="323992" y="4550275"/>
            <a:ext cx="2039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Rainfall model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🖇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1"/>
          <p:cNvSpPr/>
          <p:nvPr/>
        </p:nvSpPr>
        <p:spPr>
          <a:xfrm>
            <a:off x="2282950" y="2413600"/>
            <a:ext cx="3555000" cy="10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1"/>
          <p:cNvSpPr txBox="1"/>
          <p:nvPr/>
        </p:nvSpPr>
        <p:spPr>
          <a:xfrm>
            <a:off x="6202450" y="2310325"/>
            <a:ext cx="2617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10 days, there are 9 days that rained.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6" name="Google Shape;1206;p91"/>
          <p:cNvPicPr preferRelativeResize="0"/>
          <p:nvPr/>
        </p:nvPicPr>
        <p:blipFill rotWithShape="1">
          <a:blip r:embed="rId3">
            <a:alphaModFix/>
          </a:blip>
          <a:srcRect b="43225" l="32905" r="37072" t="3344"/>
          <a:stretch/>
        </p:blipFill>
        <p:spPr>
          <a:xfrm>
            <a:off x="2276075" y="2379225"/>
            <a:ext cx="1780974" cy="11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91"/>
          <p:cNvSpPr txBox="1"/>
          <p:nvPr/>
        </p:nvSpPr>
        <p:spPr>
          <a:xfrm>
            <a:off x="6202450" y="3856200"/>
            <a:ext cx="2617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90% of days had rainfall (not 80%).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}{10}=90\%&quot;&gt;&lt;mfrac&gt;&lt;mn&gt;9&lt;/mn&gt;&lt;mn&gt;10&lt;/mn&gt;&lt;/mfrac&gt;&lt;mo&gt;=&lt;/mo&gt;&lt;mn&gt;90&lt;/mn&gt;&lt;mi mathvariant=&quot;normal&quot;&gt;%&lt;/mi&gt;&lt;/math&gt;" id="1208" name="Google Shape;1208;p91" title="nine tenths equals 90 percent sig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3662" y="3011812"/>
            <a:ext cx="1134432" cy="56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2"/>
          <p:cNvSpPr txBox="1"/>
          <p:nvPr/>
        </p:nvSpPr>
        <p:spPr>
          <a:xfrm>
            <a:off x="324000" y="70640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Here’s an example of how the reality may differ from a predicted forecast.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days in a row each have a predicted 80% chance of rainfall.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timeline shows whether or not rain actually fell that day.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215" name="Google Shape;1215;p92"/>
          <p:cNvPicPr preferRelativeResize="0"/>
          <p:nvPr/>
        </p:nvPicPr>
        <p:blipFill rotWithShape="1">
          <a:blip r:embed="rId3">
            <a:alphaModFix/>
          </a:blip>
          <a:srcRect b="0" l="0" r="5758" t="0"/>
          <a:stretch/>
        </p:blipFill>
        <p:spPr>
          <a:xfrm>
            <a:off x="323988" y="2310325"/>
            <a:ext cx="5590474" cy="2059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6" name="Google Shape;1216;p92"/>
          <p:cNvSpPr txBox="1"/>
          <p:nvPr/>
        </p:nvSpPr>
        <p:spPr>
          <a:xfrm>
            <a:off x="323992" y="4550275"/>
            <a:ext cx="2039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Rainfall model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🖇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2"/>
          <p:cNvSpPr/>
          <p:nvPr/>
        </p:nvSpPr>
        <p:spPr>
          <a:xfrm>
            <a:off x="2282950" y="2413600"/>
            <a:ext cx="3555000" cy="10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2"/>
          <p:cNvSpPr txBox="1"/>
          <p:nvPr/>
        </p:nvSpPr>
        <p:spPr>
          <a:xfrm>
            <a:off x="6050050" y="2310325"/>
            <a:ext cx="27699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20 days, there are 15 days that rained.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9" name="Google Shape;1219;p92"/>
          <p:cNvPicPr preferRelativeResize="0"/>
          <p:nvPr/>
        </p:nvPicPr>
        <p:blipFill rotWithShape="1">
          <a:blip r:embed="rId3">
            <a:alphaModFix/>
          </a:blip>
          <a:srcRect b="43225" l="32907" r="7161" t="3344"/>
          <a:stretch/>
        </p:blipFill>
        <p:spPr>
          <a:xfrm>
            <a:off x="2276075" y="2379225"/>
            <a:ext cx="3555050" cy="11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92"/>
          <p:cNvSpPr txBox="1"/>
          <p:nvPr/>
        </p:nvSpPr>
        <p:spPr>
          <a:xfrm>
            <a:off x="6202450" y="4161000"/>
            <a:ext cx="2617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75% of days had rainfall (not 80%).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5}{20}=75\%&quot;&gt;&lt;mfrac&gt;&lt;mn&gt;15&lt;/mn&gt;&lt;mn&gt;20&lt;/mn&gt;&lt;/mfrac&gt;&lt;mo&gt;=&lt;/mo&gt;&lt;mn&gt;75&lt;/mn&gt;&lt;mi mathvariant=&quot;normal&quot;&gt;%&lt;/mi&gt;&lt;/math&gt;" id="1221" name="Google Shape;1221;p92" title="15 over 20 equals 75 percent sig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7408" y="3164225"/>
            <a:ext cx="1126944" cy="5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3"/>
          <p:cNvSpPr txBox="1"/>
          <p:nvPr/>
        </p:nvSpPr>
        <p:spPr>
          <a:xfrm>
            <a:off x="324000" y="70640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Whilst at no point did exactly 80% of days have rainfall (as predicted), the percentage was usually in a range of numbers close to 80%.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became more and more true the greater the number of days that were analysed.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228" name="Google Shape;1228;p93"/>
          <p:cNvPicPr preferRelativeResize="0"/>
          <p:nvPr/>
        </p:nvPicPr>
        <p:blipFill rotWithShape="1">
          <a:blip r:embed="rId3">
            <a:alphaModFix/>
          </a:blip>
          <a:srcRect b="0" l="0" r="5758" t="0"/>
          <a:stretch/>
        </p:blipFill>
        <p:spPr>
          <a:xfrm>
            <a:off x="323988" y="2310325"/>
            <a:ext cx="5590474" cy="2059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9" name="Google Shape;1229;p93"/>
          <p:cNvSpPr txBox="1"/>
          <p:nvPr/>
        </p:nvSpPr>
        <p:spPr>
          <a:xfrm>
            <a:off x="323992" y="4550275"/>
            <a:ext cx="2039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Rainfall model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🖇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0" name="Google Shape;1230;p93"/>
          <p:cNvPicPr preferRelativeResize="0"/>
          <p:nvPr/>
        </p:nvPicPr>
        <p:blipFill rotWithShape="1">
          <a:blip r:embed="rId3">
            <a:alphaModFix/>
          </a:blip>
          <a:srcRect b="43225" l="32905" r="6817" t="3344"/>
          <a:stretch/>
        </p:blipFill>
        <p:spPr>
          <a:xfrm>
            <a:off x="2276075" y="2379225"/>
            <a:ext cx="3575700" cy="11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1236" name="Google Shape;1236;p94"/>
          <p:cNvSpPr txBox="1"/>
          <p:nvPr/>
        </p:nvSpPr>
        <p:spPr>
          <a:xfrm>
            <a:off x="324000" y="2700000"/>
            <a:ext cx="59679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weather forecast for next week predicts five days, each with the same chance of rainfall.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this weather forecast, on how many days should we expect rain to fall?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37" name="Google Shape;1237;p94"/>
          <p:cNvGraphicFramePr/>
          <p:nvPr/>
        </p:nvGraphicFramePr>
        <p:xfrm>
          <a:off x="33956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38" name="Google Shape;1238;p94"/>
          <p:cNvGraphicFramePr/>
          <p:nvPr/>
        </p:nvGraphicFramePr>
        <p:xfrm>
          <a:off x="339569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39" name="Google Shape;1239;p9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347105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0" name="Google Shape;1240;p94"/>
          <p:cNvGraphicFramePr/>
          <p:nvPr/>
        </p:nvGraphicFramePr>
        <p:xfrm>
          <a:off x="33956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41" name="Google Shape;1241;p94"/>
          <p:cNvGraphicFramePr/>
          <p:nvPr/>
        </p:nvGraphicFramePr>
        <p:xfrm>
          <a:off x="374496" y="92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42" name="Google Shape;1242;p94"/>
          <p:cNvGraphicFramePr/>
          <p:nvPr/>
        </p:nvGraphicFramePr>
        <p:xfrm>
          <a:off x="3744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43" name="Google Shape;1243;p94"/>
          <p:cNvGraphicFramePr/>
          <p:nvPr/>
        </p:nvGraphicFramePr>
        <p:xfrm>
          <a:off x="3744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44" name="Google Shape;1244;p94"/>
          <p:cNvGraphicFramePr/>
          <p:nvPr/>
        </p:nvGraphicFramePr>
        <p:xfrm>
          <a:off x="4200021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45" name="Google Shape;1245;p9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4275383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6" name="Google Shape;1246;p94"/>
          <p:cNvGraphicFramePr/>
          <p:nvPr/>
        </p:nvGraphicFramePr>
        <p:xfrm>
          <a:off x="4200021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47" name="Google Shape;1247;p94"/>
          <p:cNvGraphicFramePr/>
          <p:nvPr/>
        </p:nvGraphicFramePr>
        <p:xfrm>
          <a:off x="4200021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48" name="Google Shape;1248;p94"/>
          <p:cNvGraphicFramePr/>
          <p:nvPr/>
        </p:nvGraphicFramePr>
        <p:xfrm>
          <a:off x="500434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49" name="Google Shape;1249;p94"/>
          <p:cNvGraphicFramePr/>
          <p:nvPr/>
        </p:nvGraphicFramePr>
        <p:xfrm>
          <a:off x="500434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50" name="Google Shape;1250;p9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07970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1" name="Google Shape;1251;p94"/>
          <p:cNvGraphicFramePr/>
          <p:nvPr/>
        </p:nvGraphicFramePr>
        <p:xfrm>
          <a:off x="5808671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52" name="Google Shape;1252;p9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884033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3" name="Google Shape;1253;p94"/>
          <p:cNvGraphicFramePr/>
          <p:nvPr/>
        </p:nvGraphicFramePr>
        <p:xfrm>
          <a:off x="5808671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54" name="Google Shape;1254;p94"/>
          <p:cNvGraphicFramePr/>
          <p:nvPr/>
        </p:nvGraphicFramePr>
        <p:xfrm>
          <a:off x="5808671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55" name="Google Shape;1255;p94"/>
          <p:cNvGraphicFramePr/>
          <p:nvPr/>
        </p:nvGraphicFramePr>
        <p:xfrm>
          <a:off x="66129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56" name="Google Shape;1256;p9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68835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7" name="Google Shape;1257;p94"/>
          <p:cNvGraphicFramePr/>
          <p:nvPr/>
        </p:nvGraphicFramePr>
        <p:xfrm>
          <a:off x="661299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58" name="Google Shape;1258;p94"/>
          <p:cNvGraphicFramePr/>
          <p:nvPr/>
        </p:nvGraphicFramePr>
        <p:xfrm>
          <a:off x="66129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59" name="Google Shape;1259;p94"/>
          <p:cNvGraphicFramePr/>
          <p:nvPr/>
        </p:nvGraphicFramePr>
        <p:xfrm>
          <a:off x="500434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260" name="Google Shape;1260;p94"/>
          <p:cNvSpPr txBox="1"/>
          <p:nvPr/>
        </p:nvSpPr>
        <p:spPr>
          <a:xfrm>
            <a:off x="2599250" y="4130275"/>
            <a:ext cx="838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days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40\%=\frac{2}{5}&quot;&gt;&lt;mn&gt;40&lt;/mn&gt;&lt;mi mathvariant=&quot;normal&quot;&gt;%&lt;/mi&gt;&lt;mo&gt;=&lt;/mo&gt;&lt;mfrac&gt;&lt;mn&gt;2&lt;/mn&gt;&lt;mn&gt;5&lt;/mn&gt;&lt;/mfrac&gt;&lt;/math&gt;" id="1261" name="Google Shape;1261;p94" title="40 percent sign equals 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693" y="4081375"/>
            <a:ext cx="1007136" cy="5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94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95"/>
          <p:cNvPicPr preferRelativeResize="0"/>
          <p:nvPr/>
        </p:nvPicPr>
        <p:blipFill rotWithShape="1">
          <a:blip r:embed="rId3">
            <a:alphaModFix/>
          </a:blip>
          <a:srcRect b="43690" l="-2720" r="57903" t="0"/>
          <a:stretch/>
        </p:blipFill>
        <p:spPr>
          <a:xfrm flipH="1">
            <a:off x="6599606" y="2756500"/>
            <a:ext cx="2262723" cy="135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8" name="Google Shape;1268;p95"/>
          <p:cNvGrpSpPr/>
          <p:nvPr/>
        </p:nvGrpSpPr>
        <p:grpSpPr>
          <a:xfrm>
            <a:off x="3621468" y="2756509"/>
            <a:ext cx="1810430" cy="1353482"/>
            <a:chOff x="913752" y="2797550"/>
            <a:chExt cx="1616167" cy="1208250"/>
          </a:xfrm>
        </p:grpSpPr>
        <p:pic>
          <p:nvPicPr>
            <p:cNvPr id="1269" name="Google Shape;1269;p95"/>
            <p:cNvPicPr preferRelativeResize="0"/>
            <p:nvPr/>
          </p:nvPicPr>
          <p:blipFill rotWithShape="1">
            <a:blip r:embed="rId3">
              <a:alphaModFix/>
            </a:blip>
            <a:srcRect b="43690" l="0" r="93318" t="0"/>
            <a:stretch/>
          </p:blipFill>
          <p:spPr>
            <a:xfrm flipH="1">
              <a:off x="2230194" y="2803250"/>
              <a:ext cx="299725" cy="1202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0" name="Google Shape;1270;p95"/>
            <p:cNvPicPr preferRelativeResize="0"/>
            <p:nvPr/>
          </p:nvPicPr>
          <p:blipFill rotWithShape="1">
            <a:blip r:embed="rId3">
              <a:alphaModFix/>
            </a:blip>
            <a:srcRect b="43690" l="12801" r="57904" t="0"/>
            <a:stretch/>
          </p:blipFill>
          <p:spPr>
            <a:xfrm flipH="1">
              <a:off x="913752" y="2797550"/>
              <a:ext cx="1320300" cy="1208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1" name="Google Shape;127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1272" name="Google Shape;1272;p95"/>
          <p:cNvSpPr txBox="1"/>
          <p:nvPr/>
        </p:nvSpPr>
        <p:spPr>
          <a:xfrm>
            <a:off x="7499850" y="1152425"/>
            <a:ext cx="1320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Rain actually fell on all five days.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3" name="Google Shape;1273;p95"/>
          <p:cNvGraphicFramePr/>
          <p:nvPr/>
        </p:nvGraphicFramePr>
        <p:xfrm>
          <a:off x="33956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74" name="Google Shape;1274;p95"/>
          <p:cNvGraphicFramePr/>
          <p:nvPr/>
        </p:nvGraphicFramePr>
        <p:xfrm>
          <a:off x="339569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75" name="Google Shape;1275;p9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51381" l="28615" r="50758" t="25064"/>
          <a:stretch/>
        </p:blipFill>
        <p:spPr>
          <a:xfrm>
            <a:off x="347105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6" name="Google Shape;1276;p95"/>
          <p:cNvGraphicFramePr/>
          <p:nvPr/>
        </p:nvGraphicFramePr>
        <p:xfrm>
          <a:off x="33956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77" name="Google Shape;1277;p95"/>
          <p:cNvGraphicFramePr/>
          <p:nvPr/>
        </p:nvGraphicFramePr>
        <p:xfrm>
          <a:off x="374496" y="92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78" name="Google Shape;1278;p95"/>
          <p:cNvGraphicFramePr/>
          <p:nvPr/>
        </p:nvGraphicFramePr>
        <p:xfrm>
          <a:off x="3744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79" name="Google Shape;1279;p95"/>
          <p:cNvGraphicFramePr/>
          <p:nvPr/>
        </p:nvGraphicFramePr>
        <p:xfrm>
          <a:off x="3744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80" name="Google Shape;1280;p95"/>
          <p:cNvGraphicFramePr/>
          <p:nvPr/>
        </p:nvGraphicFramePr>
        <p:xfrm>
          <a:off x="4200021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81" name="Google Shape;1281;p9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51381" l="28615" r="50758" t="25064"/>
          <a:stretch/>
        </p:blipFill>
        <p:spPr>
          <a:xfrm>
            <a:off x="4275383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2" name="Google Shape;1282;p95"/>
          <p:cNvGraphicFramePr/>
          <p:nvPr/>
        </p:nvGraphicFramePr>
        <p:xfrm>
          <a:off x="4200021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83" name="Google Shape;1283;p95"/>
          <p:cNvGraphicFramePr/>
          <p:nvPr/>
        </p:nvGraphicFramePr>
        <p:xfrm>
          <a:off x="4200021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84" name="Google Shape;1284;p95"/>
          <p:cNvGraphicFramePr/>
          <p:nvPr/>
        </p:nvGraphicFramePr>
        <p:xfrm>
          <a:off x="500434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85" name="Google Shape;1285;p95"/>
          <p:cNvGraphicFramePr/>
          <p:nvPr/>
        </p:nvGraphicFramePr>
        <p:xfrm>
          <a:off x="500434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86" name="Google Shape;1286;p9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51381" l="28615" r="50758" t="25064"/>
          <a:stretch/>
        </p:blipFill>
        <p:spPr>
          <a:xfrm>
            <a:off x="507970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7" name="Google Shape;1287;p95"/>
          <p:cNvGraphicFramePr/>
          <p:nvPr/>
        </p:nvGraphicFramePr>
        <p:xfrm>
          <a:off x="5808671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88" name="Google Shape;1288;p9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51381" l="28615" r="50758" t="25064"/>
          <a:stretch/>
        </p:blipFill>
        <p:spPr>
          <a:xfrm>
            <a:off x="5884033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9" name="Google Shape;1289;p95"/>
          <p:cNvGraphicFramePr/>
          <p:nvPr/>
        </p:nvGraphicFramePr>
        <p:xfrm>
          <a:off x="5808671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90" name="Google Shape;1290;p95"/>
          <p:cNvGraphicFramePr/>
          <p:nvPr/>
        </p:nvGraphicFramePr>
        <p:xfrm>
          <a:off x="5808671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91" name="Google Shape;1291;p95"/>
          <p:cNvGraphicFramePr/>
          <p:nvPr/>
        </p:nvGraphicFramePr>
        <p:xfrm>
          <a:off x="66129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292" name="Google Shape;1292;p9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51381" l="28615" r="50758" t="25064"/>
          <a:stretch/>
        </p:blipFill>
        <p:spPr>
          <a:xfrm>
            <a:off x="668835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3" name="Google Shape;1293;p95"/>
          <p:cNvGraphicFramePr/>
          <p:nvPr/>
        </p:nvGraphicFramePr>
        <p:xfrm>
          <a:off x="661299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94" name="Google Shape;1294;p95"/>
          <p:cNvGraphicFramePr/>
          <p:nvPr/>
        </p:nvGraphicFramePr>
        <p:xfrm>
          <a:off x="66129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295" name="Google Shape;1295;p95"/>
          <p:cNvGraphicFramePr/>
          <p:nvPr/>
        </p:nvGraphicFramePr>
        <p:xfrm>
          <a:off x="500434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296" name="Google Shape;1296;p95"/>
          <p:cNvSpPr txBox="1"/>
          <p:nvPr/>
        </p:nvSpPr>
        <p:spPr>
          <a:xfrm>
            <a:off x="324000" y="240206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Whose statements are guaranteed to be correct?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5"/>
          <p:cNvSpPr txBox="1"/>
          <p:nvPr/>
        </p:nvSpPr>
        <p:spPr>
          <a:xfrm>
            <a:off x="206685" y="4534448"/>
            <a:ext cx="8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5"/>
          <p:cNvSpPr txBox="1"/>
          <p:nvPr/>
        </p:nvSpPr>
        <p:spPr>
          <a:xfrm>
            <a:off x="812657" y="2882220"/>
            <a:ext cx="1592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weather prediction was incorrect.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9" name="Google Shape;1299;p95"/>
          <p:cNvGrpSpPr/>
          <p:nvPr/>
        </p:nvGrpSpPr>
        <p:grpSpPr>
          <a:xfrm>
            <a:off x="643343" y="2756509"/>
            <a:ext cx="1810430" cy="1353482"/>
            <a:chOff x="913752" y="2797550"/>
            <a:chExt cx="1616167" cy="1208250"/>
          </a:xfrm>
        </p:grpSpPr>
        <p:pic>
          <p:nvPicPr>
            <p:cNvPr id="1300" name="Google Shape;1300;p95"/>
            <p:cNvPicPr preferRelativeResize="0"/>
            <p:nvPr/>
          </p:nvPicPr>
          <p:blipFill rotWithShape="1">
            <a:blip r:embed="rId3">
              <a:alphaModFix/>
            </a:blip>
            <a:srcRect b="43690" l="0" r="93318" t="0"/>
            <a:stretch/>
          </p:blipFill>
          <p:spPr>
            <a:xfrm flipH="1">
              <a:off x="2230194" y="2803250"/>
              <a:ext cx="299725" cy="1202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1" name="Google Shape;1301;p95"/>
            <p:cNvPicPr preferRelativeResize="0"/>
            <p:nvPr/>
          </p:nvPicPr>
          <p:blipFill rotWithShape="1">
            <a:blip r:embed="rId3">
              <a:alphaModFix/>
            </a:blip>
            <a:srcRect b="43690" l="12801" r="57904" t="0"/>
            <a:stretch/>
          </p:blipFill>
          <p:spPr>
            <a:xfrm flipH="1">
              <a:off x="913752" y="2797550"/>
              <a:ext cx="1320300" cy="1208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2" name="Google Shape;1302;p95"/>
          <p:cNvSpPr txBox="1"/>
          <p:nvPr/>
        </p:nvSpPr>
        <p:spPr>
          <a:xfrm>
            <a:off x="3184810" y="4534448"/>
            <a:ext cx="8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5"/>
          <p:cNvSpPr txBox="1"/>
          <p:nvPr/>
        </p:nvSpPr>
        <p:spPr>
          <a:xfrm>
            <a:off x="3790782" y="2771638"/>
            <a:ext cx="1592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Reality can differ from even accurate predictions.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4" name="Google Shape;130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924" y="3933174"/>
            <a:ext cx="327809" cy="61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332960" y="3959136"/>
            <a:ext cx="585969" cy="567057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95"/>
          <p:cNvSpPr txBox="1"/>
          <p:nvPr/>
        </p:nvSpPr>
        <p:spPr>
          <a:xfrm>
            <a:off x="6162935" y="4534448"/>
            <a:ext cx="8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7" name="Google Shape;1307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2861" y="4080901"/>
            <a:ext cx="382412" cy="478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95"/>
          <p:cNvSpPr txBox="1"/>
          <p:nvPr/>
        </p:nvSpPr>
        <p:spPr>
          <a:xfrm>
            <a:off x="6768899" y="2751014"/>
            <a:ext cx="1914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model used to predict the weather was definitely wrong!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9" name="Google Shape;1309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3708" y="4348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9708" y="43489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95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1317" name="Google Shape;1317;p96"/>
          <p:cNvSpPr txBox="1"/>
          <p:nvPr/>
        </p:nvSpPr>
        <p:spPr>
          <a:xfrm>
            <a:off x="7499850" y="1152425"/>
            <a:ext cx="1320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Rain actually fell on all five days.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8" name="Google Shape;1318;p96"/>
          <p:cNvGraphicFramePr/>
          <p:nvPr/>
        </p:nvGraphicFramePr>
        <p:xfrm>
          <a:off x="33956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19" name="Google Shape;1319;p96"/>
          <p:cNvGraphicFramePr/>
          <p:nvPr/>
        </p:nvGraphicFramePr>
        <p:xfrm>
          <a:off x="339569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320" name="Google Shape;1320;p9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347105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1" name="Google Shape;1321;p96"/>
          <p:cNvGraphicFramePr/>
          <p:nvPr/>
        </p:nvGraphicFramePr>
        <p:xfrm>
          <a:off x="33956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22" name="Google Shape;1322;p96"/>
          <p:cNvGraphicFramePr/>
          <p:nvPr/>
        </p:nvGraphicFramePr>
        <p:xfrm>
          <a:off x="374496" y="92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23" name="Google Shape;1323;p96"/>
          <p:cNvGraphicFramePr/>
          <p:nvPr/>
        </p:nvGraphicFramePr>
        <p:xfrm>
          <a:off x="3744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24" name="Google Shape;1324;p96"/>
          <p:cNvGraphicFramePr/>
          <p:nvPr/>
        </p:nvGraphicFramePr>
        <p:xfrm>
          <a:off x="3744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25" name="Google Shape;1325;p96"/>
          <p:cNvGraphicFramePr/>
          <p:nvPr/>
        </p:nvGraphicFramePr>
        <p:xfrm>
          <a:off x="4200021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326" name="Google Shape;1326;p9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4275383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7" name="Google Shape;1327;p96"/>
          <p:cNvGraphicFramePr/>
          <p:nvPr/>
        </p:nvGraphicFramePr>
        <p:xfrm>
          <a:off x="4200021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28" name="Google Shape;1328;p96"/>
          <p:cNvGraphicFramePr/>
          <p:nvPr/>
        </p:nvGraphicFramePr>
        <p:xfrm>
          <a:off x="4200021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29" name="Google Shape;1329;p96"/>
          <p:cNvGraphicFramePr/>
          <p:nvPr/>
        </p:nvGraphicFramePr>
        <p:xfrm>
          <a:off x="500434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30" name="Google Shape;1330;p96"/>
          <p:cNvGraphicFramePr/>
          <p:nvPr/>
        </p:nvGraphicFramePr>
        <p:xfrm>
          <a:off x="500434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331" name="Google Shape;1331;p9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07970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2" name="Google Shape;1332;p96"/>
          <p:cNvGraphicFramePr/>
          <p:nvPr/>
        </p:nvGraphicFramePr>
        <p:xfrm>
          <a:off x="5808671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333" name="Google Shape;1333;p9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5884033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4" name="Google Shape;1334;p96"/>
          <p:cNvGraphicFramePr/>
          <p:nvPr/>
        </p:nvGraphicFramePr>
        <p:xfrm>
          <a:off x="5808671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35" name="Google Shape;1335;p96"/>
          <p:cNvGraphicFramePr/>
          <p:nvPr/>
        </p:nvGraphicFramePr>
        <p:xfrm>
          <a:off x="5808671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36" name="Google Shape;1336;p96"/>
          <p:cNvGraphicFramePr/>
          <p:nvPr/>
        </p:nvGraphicFramePr>
        <p:xfrm>
          <a:off x="6612996" y="19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337" name="Google Shape;1337;p96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688358" y="921056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8" name="Google Shape;1338;p96"/>
          <p:cNvGraphicFramePr/>
          <p:nvPr/>
        </p:nvGraphicFramePr>
        <p:xfrm>
          <a:off x="6612996" y="6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39" name="Google Shape;1339;p96"/>
          <p:cNvGraphicFramePr/>
          <p:nvPr/>
        </p:nvGraphicFramePr>
        <p:xfrm>
          <a:off x="661299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40" name="Google Shape;1340;p96"/>
          <p:cNvGraphicFramePr/>
          <p:nvPr/>
        </p:nvGraphicFramePr>
        <p:xfrm>
          <a:off x="5004346" y="16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341" name="Google Shape;1341;p96"/>
          <p:cNvSpPr txBox="1"/>
          <p:nvPr/>
        </p:nvSpPr>
        <p:spPr>
          <a:xfrm>
            <a:off x="568980" y="2696700"/>
            <a:ext cx="5687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Jun’s assumption may not be correct.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Just because a weather forecast prediction over 5 days does not come true does not mean the model used to predict the weather is inaccurate.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42" name="Google Shape;1342;p96"/>
          <p:cNvPicPr preferRelativeResize="0"/>
          <p:nvPr/>
        </p:nvPicPr>
        <p:blipFill rotWithShape="1">
          <a:blip r:embed="rId4">
            <a:alphaModFix/>
          </a:blip>
          <a:srcRect b="43690" l="-2720" r="57903" t="0"/>
          <a:stretch/>
        </p:blipFill>
        <p:spPr>
          <a:xfrm flipH="1">
            <a:off x="6599606" y="2756500"/>
            <a:ext cx="2262723" cy="13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96"/>
          <p:cNvSpPr txBox="1"/>
          <p:nvPr/>
        </p:nvSpPr>
        <p:spPr>
          <a:xfrm>
            <a:off x="6162935" y="4534448"/>
            <a:ext cx="8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4" name="Google Shape;1344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2861" y="4080901"/>
            <a:ext cx="382412" cy="478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96"/>
          <p:cNvSpPr txBox="1"/>
          <p:nvPr/>
        </p:nvSpPr>
        <p:spPr>
          <a:xfrm>
            <a:off x="6768899" y="2751014"/>
            <a:ext cx="1914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model used to predict the weather was definitely wrong!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6"/>
          <p:cNvSpPr txBox="1"/>
          <p:nvPr/>
        </p:nvSpPr>
        <p:spPr>
          <a:xfrm>
            <a:off x="497100" y="2696700"/>
            <a:ext cx="5759700" cy="14790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days is not a large enough sample size to make this judgement fairly.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model may be more accurate across several months or years.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96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97"/>
          <p:cNvSpPr txBox="1"/>
          <p:nvPr/>
        </p:nvSpPr>
        <p:spPr>
          <a:xfrm>
            <a:off x="324000" y="686325"/>
            <a:ext cx="2144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report was published on Saturday, and shows the forecast for the next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97"/>
          <p:cNvSpPr txBox="1"/>
          <p:nvPr/>
        </p:nvSpPr>
        <p:spPr>
          <a:xfrm>
            <a:off x="324000" y="3603214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Sofia says: “it is guaranteed to rain on Thursday because 90% is a larger number than the other percentages”. Explain why Sofia is incorrect.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Suggest one possible reason why Wednesday still has a chance of              rain, even though it is only predicted to be cloudy.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355" name="Google Shape;1355;p97"/>
          <p:cNvGraphicFramePr/>
          <p:nvPr/>
        </p:nvGraphicFramePr>
        <p:xfrm>
          <a:off x="56026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56" name="Google Shape;1356;p97"/>
          <p:cNvGraphicFramePr/>
          <p:nvPr/>
        </p:nvGraphicFramePr>
        <p:xfrm>
          <a:off x="560268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57" name="Google Shape;1357;p97"/>
          <p:cNvGraphicFramePr/>
          <p:nvPr/>
        </p:nvGraphicFramePr>
        <p:xfrm>
          <a:off x="2581488" y="96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58" name="Google Shape;1358;p97"/>
          <p:cNvGraphicFramePr/>
          <p:nvPr/>
        </p:nvGraphicFramePr>
        <p:xfrm>
          <a:off x="25814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59" name="Google Shape;1359;p97"/>
          <p:cNvGraphicFramePr/>
          <p:nvPr/>
        </p:nvGraphicFramePr>
        <p:xfrm>
          <a:off x="2581488" y="198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60" name="Google Shape;1360;p97"/>
          <p:cNvGraphicFramePr/>
          <p:nvPr/>
        </p:nvGraphicFramePr>
        <p:xfrm>
          <a:off x="721133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361" name="Google Shape;1361;p9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8089897" y="960625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2" name="Google Shape;1362;p97"/>
          <p:cNvGraphicFramePr/>
          <p:nvPr/>
        </p:nvGraphicFramePr>
        <p:xfrm>
          <a:off x="5602688" y="198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1363" name="Google Shape;1363;p97"/>
          <p:cNvGrpSpPr/>
          <p:nvPr/>
        </p:nvGrpSpPr>
        <p:grpSpPr>
          <a:xfrm>
            <a:off x="5678050" y="961050"/>
            <a:ext cx="646426" cy="584967"/>
            <a:chOff x="5353250" y="1378250"/>
            <a:chExt cx="646426" cy="584967"/>
          </a:xfrm>
        </p:grpSpPr>
        <p:pic>
          <p:nvPicPr>
            <p:cNvPr id="1364" name="Google Shape;1364;p97" title="https://oaknationalacademy-res.cloudinary.com/image/upload/v1713776096/rrwsn7j1bwnvwyj4ecoh.jpg"/>
            <p:cNvPicPr preferRelativeResize="0"/>
            <p:nvPr/>
          </p:nvPicPr>
          <p:blipFill rotWithShape="1">
            <a:blip r:embed="rId3">
              <a:alphaModFix/>
            </a:blip>
            <a:srcRect b="56017" l="51691" r="27682" t="26349"/>
            <a:stretch/>
          </p:blipFill>
          <p:spPr>
            <a:xfrm>
              <a:off x="5353250" y="1378250"/>
              <a:ext cx="646426" cy="55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97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97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67" name="Google Shape;1367;p9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462462" y="923182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97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49049" l="5088" r="74284" t="27396"/>
          <a:stretch/>
        </p:blipFill>
        <p:spPr>
          <a:xfrm>
            <a:off x="7290505" y="960631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97"/>
          <p:cNvSpPr txBox="1"/>
          <p:nvPr/>
        </p:nvSpPr>
        <p:spPr>
          <a:xfrm>
            <a:off x="324000" y="2571750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Match the following amounts of rainfall to the days they are most likely to occur.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0" name="Google Shape;1370;p97"/>
          <p:cNvGrpSpPr/>
          <p:nvPr/>
        </p:nvGrpSpPr>
        <p:grpSpPr>
          <a:xfrm>
            <a:off x="1776775" y="2945604"/>
            <a:ext cx="4824525" cy="382800"/>
            <a:chOff x="1776775" y="3945900"/>
            <a:chExt cx="4824525" cy="382800"/>
          </a:xfrm>
        </p:grpSpPr>
        <p:sp>
          <p:nvSpPr>
            <p:cNvPr id="1371" name="Google Shape;1371;p97"/>
            <p:cNvSpPr/>
            <p:nvPr/>
          </p:nvSpPr>
          <p:spPr>
            <a:xfrm flipH="1">
              <a:off x="1776775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0.7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2" name="Google Shape;1372;p97"/>
            <p:cNvSpPr/>
            <p:nvPr/>
          </p:nvSpPr>
          <p:spPr>
            <a:xfrm flipH="1">
              <a:off x="3035150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1.6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3" name="Google Shape;1373;p97"/>
            <p:cNvSpPr/>
            <p:nvPr/>
          </p:nvSpPr>
          <p:spPr>
            <a:xfrm flipH="1">
              <a:off x="4293525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97"/>
            <p:cNvSpPr/>
            <p:nvPr/>
          </p:nvSpPr>
          <p:spPr>
            <a:xfrm flipH="1">
              <a:off x="5551900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8.5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5" name="Google Shape;1375;p97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0" name="Google Shape;1380;p98"/>
          <p:cNvGraphicFramePr/>
          <p:nvPr/>
        </p:nvGraphicFramePr>
        <p:xfrm>
          <a:off x="6456475" y="25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1149100"/>
                <a:gridCol w="1178175"/>
              </a:tblGrid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(m²)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rainfall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5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381" name="Google Shape;1381;p98"/>
          <p:cNvSpPr txBox="1"/>
          <p:nvPr/>
        </p:nvSpPr>
        <p:spPr>
          <a:xfrm>
            <a:off x="324000" y="686325"/>
            <a:ext cx="3790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This report shows the amount of rainfall predicted on Saturday and Sunday.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383" name="Google Shape;1383;p98"/>
          <p:cNvGraphicFramePr/>
          <p:nvPr/>
        </p:nvGraphicFramePr>
        <p:xfrm>
          <a:off x="72113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84" name="Google Shape;1384;p98"/>
          <p:cNvGraphicFramePr/>
          <p:nvPr/>
        </p:nvGraphicFramePr>
        <p:xfrm>
          <a:off x="7211338" y="72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85" name="Google Shape;1385;p98"/>
          <p:cNvGraphicFramePr/>
          <p:nvPr/>
        </p:nvGraphicFramePr>
        <p:xfrm>
          <a:off x="4190138" y="100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86" name="Google Shape;1386;p98"/>
          <p:cNvGraphicFramePr/>
          <p:nvPr/>
        </p:nvGraphicFramePr>
        <p:xfrm>
          <a:off x="41901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87" name="Google Shape;1387;p98"/>
          <p:cNvGraphicFramePr/>
          <p:nvPr/>
        </p:nvGraphicFramePr>
        <p:xfrm>
          <a:off x="41901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388" name="Google Shape;1388;p98"/>
          <p:cNvGraphicFramePr/>
          <p:nvPr/>
        </p:nvGraphicFramePr>
        <p:xfrm>
          <a:off x="72113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389" name="Google Shape;1389;p9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8071112" y="964432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98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7286697" y="1001875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98"/>
          <p:cNvSpPr txBox="1"/>
          <p:nvPr/>
        </p:nvSpPr>
        <p:spPr>
          <a:xfrm>
            <a:off x="324000" y="1740100"/>
            <a:ext cx="379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On Saturday, how many litres of water is predicted to fall for every square metre of land?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98"/>
          <p:cNvSpPr txBox="1"/>
          <p:nvPr/>
        </p:nvSpPr>
        <p:spPr>
          <a:xfrm>
            <a:off x="324000" y="2793875"/>
            <a:ext cx="57477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farmer has a field that is 1800 m² in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litres of rain will fall on this field on Saturday? You can use the ratio table given to help.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98"/>
          <p:cNvSpPr txBox="1"/>
          <p:nvPr/>
        </p:nvSpPr>
        <p:spPr>
          <a:xfrm>
            <a:off x="324000" y="3975750"/>
            <a:ext cx="574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 farmer says: “3600 litres of rain will fall on my field on Sunday”.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why this may not be true.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98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99"/>
          <p:cNvSpPr txBox="1"/>
          <p:nvPr/>
        </p:nvSpPr>
        <p:spPr>
          <a:xfrm>
            <a:off x="324000" y="669301"/>
            <a:ext cx="3918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This graph shows 20 days where the chance of rainfall was 35%.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dot represents a day that either rained or didn’t rain.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401" name="Google Shape;140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682" y="669301"/>
            <a:ext cx="4294618" cy="149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402" name="Google Shape;1402;p99"/>
          <p:cNvGraphicFramePr/>
          <p:nvPr/>
        </p:nvGraphicFramePr>
        <p:xfrm>
          <a:off x="5093900" y="2573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2970150"/>
                <a:gridCol w="75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days with rain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% of days with rain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403" name="Google Shape;1403;p99"/>
          <p:cNvSpPr txBox="1"/>
          <p:nvPr/>
        </p:nvSpPr>
        <p:spPr>
          <a:xfrm>
            <a:off x="324000" y="4273308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Does this graph show: “fewer than”, “equal to”, or “greater than”               35% of days with rain?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9"/>
          <p:cNvSpPr txBox="1"/>
          <p:nvPr/>
        </p:nvSpPr>
        <p:spPr>
          <a:xfrm>
            <a:off x="324000" y="2245325"/>
            <a:ext cx="4294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How many of these 20 days would we expect to have rain?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this table of information for the first 5 days on the graph.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percentage of days for the first 10 days on the graph had rain?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410" name="Google Shape;1410;p100"/>
          <p:cNvGraphicFramePr/>
          <p:nvPr/>
        </p:nvGraphicFramePr>
        <p:xfrm>
          <a:off x="560268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11" name="Google Shape;1411;p100"/>
          <p:cNvGraphicFramePr/>
          <p:nvPr/>
        </p:nvGraphicFramePr>
        <p:xfrm>
          <a:off x="2581488" y="96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12" name="Google Shape;1412;p100"/>
          <p:cNvGraphicFramePr/>
          <p:nvPr/>
        </p:nvGraphicFramePr>
        <p:xfrm>
          <a:off x="25814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13" name="Google Shape;1413;p100"/>
          <p:cNvGraphicFramePr/>
          <p:nvPr/>
        </p:nvGraphicFramePr>
        <p:xfrm>
          <a:off x="2581488" y="20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14" name="Google Shape;1414;p100"/>
          <p:cNvGraphicFramePr/>
          <p:nvPr/>
        </p:nvGraphicFramePr>
        <p:xfrm>
          <a:off x="721133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415" name="Google Shape;1415;p100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8089897" y="960625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6" name="Google Shape;1416;p100"/>
          <p:cNvGraphicFramePr/>
          <p:nvPr/>
        </p:nvGraphicFramePr>
        <p:xfrm>
          <a:off x="5602688" y="20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417" name="Google Shape;1417;p100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6017" l="51691" r="27682" t="26349"/>
          <a:stretch/>
        </p:blipFill>
        <p:spPr>
          <a:xfrm>
            <a:off x="5678050" y="961050"/>
            <a:ext cx="646426" cy="552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100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462462" y="923182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100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49049" l="5088" r="74284" t="27396"/>
          <a:stretch/>
        </p:blipFill>
        <p:spPr>
          <a:xfrm>
            <a:off x="7290505" y="960631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00"/>
          <p:cNvSpPr txBox="1"/>
          <p:nvPr/>
        </p:nvSpPr>
        <p:spPr>
          <a:xfrm>
            <a:off x="324000" y="2571750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Match the following amounts of rainfall to the days they are most likely to occur.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1" name="Google Shape;1421;p100"/>
          <p:cNvGrpSpPr/>
          <p:nvPr/>
        </p:nvGrpSpPr>
        <p:grpSpPr>
          <a:xfrm>
            <a:off x="1776775" y="2945604"/>
            <a:ext cx="4824525" cy="382800"/>
            <a:chOff x="1776775" y="3945900"/>
            <a:chExt cx="4824525" cy="382800"/>
          </a:xfrm>
        </p:grpSpPr>
        <p:sp>
          <p:nvSpPr>
            <p:cNvPr id="1422" name="Google Shape;1422;p100"/>
            <p:cNvSpPr/>
            <p:nvPr/>
          </p:nvSpPr>
          <p:spPr>
            <a:xfrm flipH="1">
              <a:off x="1776775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0.7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3" name="Google Shape;1423;p100"/>
            <p:cNvSpPr/>
            <p:nvPr/>
          </p:nvSpPr>
          <p:spPr>
            <a:xfrm flipH="1">
              <a:off x="3035150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1.6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4" name="Google Shape;1424;p100"/>
            <p:cNvSpPr/>
            <p:nvPr/>
          </p:nvSpPr>
          <p:spPr>
            <a:xfrm flipH="1">
              <a:off x="4293525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5" name="Google Shape;1425;p100"/>
            <p:cNvSpPr/>
            <p:nvPr/>
          </p:nvSpPr>
          <p:spPr>
            <a:xfrm flipH="1">
              <a:off x="5551900" y="3945900"/>
              <a:ext cx="1049400" cy="382800"/>
            </a:xfrm>
            <a:prstGeom prst="re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8.5 mm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426" name="Google Shape;1426;p100"/>
          <p:cNvGraphicFramePr/>
          <p:nvPr/>
        </p:nvGraphicFramePr>
        <p:xfrm>
          <a:off x="56026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13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1.6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0.7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1427" name="Google Shape;1427;p100"/>
          <p:cNvGrpSpPr/>
          <p:nvPr/>
        </p:nvGrpSpPr>
        <p:grpSpPr>
          <a:xfrm>
            <a:off x="5907374" y="1501137"/>
            <a:ext cx="146006" cy="44880"/>
            <a:chOff x="5582574" y="1918337"/>
            <a:chExt cx="146006" cy="44880"/>
          </a:xfrm>
        </p:grpSpPr>
        <p:sp>
          <p:nvSpPr>
            <p:cNvPr id="1428" name="Google Shape;1428;p100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9" name="Google Shape;1429;p100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0" name="Google Shape;1430;p100"/>
          <p:cNvSpPr txBox="1"/>
          <p:nvPr/>
        </p:nvSpPr>
        <p:spPr>
          <a:xfrm>
            <a:off x="324000" y="686325"/>
            <a:ext cx="2144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report was published on Saturday, and shows the forecast for the next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0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01"/>
          <p:cNvSpPr txBox="1"/>
          <p:nvPr/>
        </p:nvSpPr>
        <p:spPr>
          <a:xfrm>
            <a:off x="324000" y="2468089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Sofia says: “it is guaranteed to rain on Thursday because 90% is a larger number than the other percentages”. Explain why Sofia is incorrect.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438" name="Google Shape;1438;p101"/>
          <p:cNvGraphicFramePr/>
          <p:nvPr/>
        </p:nvGraphicFramePr>
        <p:xfrm>
          <a:off x="560268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39" name="Google Shape;1439;p101"/>
          <p:cNvGraphicFramePr/>
          <p:nvPr/>
        </p:nvGraphicFramePr>
        <p:xfrm>
          <a:off x="2581488" y="96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40" name="Google Shape;1440;p101"/>
          <p:cNvGraphicFramePr/>
          <p:nvPr/>
        </p:nvGraphicFramePr>
        <p:xfrm>
          <a:off x="25814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41" name="Google Shape;1441;p101"/>
          <p:cNvGraphicFramePr/>
          <p:nvPr/>
        </p:nvGraphicFramePr>
        <p:xfrm>
          <a:off x="2581488" y="20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42" name="Google Shape;1442;p101"/>
          <p:cNvGraphicFramePr/>
          <p:nvPr/>
        </p:nvGraphicFramePr>
        <p:xfrm>
          <a:off x="721133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443" name="Google Shape;1443;p101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8089897" y="960625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4" name="Google Shape;1444;p101"/>
          <p:cNvGraphicFramePr/>
          <p:nvPr/>
        </p:nvGraphicFramePr>
        <p:xfrm>
          <a:off x="5602688" y="20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1445" name="Google Shape;1445;p101"/>
          <p:cNvGrpSpPr/>
          <p:nvPr/>
        </p:nvGrpSpPr>
        <p:grpSpPr>
          <a:xfrm>
            <a:off x="5678050" y="961050"/>
            <a:ext cx="646426" cy="584967"/>
            <a:chOff x="5353250" y="1378250"/>
            <a:chExt cx="646426" cy="584967"/>
          </a:xfrm>
        </p:grpSpPr>
        <p:pic>
          <p:nvPicPr>
            <p:cNvPr id="1446" name="Google Shape;1446;p101" title="https://oaknationalacademy-res.cloudinary.com/image/upload/v1713776096/rrwsn7j1bwnvwyj4ecoh.jpg"/>
            <p:cNvPicPr preferRelativeResize="0"/>
            <p:nvPr/>
          </p:nvPicPr>
          <p:blipFill rotWithShape="1">
            <a:blip r:embed="rId3">
              <a:alphaModFix/>
            </a:blip>
            <a:srcRect b="56017" l="51691" r="27682" t="26349"/>
            <a:stretch/>
          </p:blipFill>
          <p:spPr>
            <a:xfrm>
              <a:off x="5353250" y="1378250"/>
              <a:ext cx="646426" cy="552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7" name="Google Shape;1447;p101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101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49" name="Google Shape;1449;p101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462462" y="923182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01"/>
          <p:cNvSpPr txBox="1"/>
          <p:nvPr/>
        </p:nvSpPr>
        <p:spPr>
          <a:xfrm>
            <a:off x="954300" y="3091450"/>
            <a:ext cx="7865700" cy="1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weather prediction for any one day may not always be correct (even if the model used to predict the weather is accurate).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Also, a 90% chance does not mean rain is guaranteed, only very likely. On 1 in every 10 days with a 90% chance of rain, it is expected that it will not rain.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51" name="Google Shape;1451;p101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49049" l="5088" r="74284" t="27396"/>
          <a:stretch/>
        </p:blipFill>
        <p:spPr>
          <a:xfrm>
            <a:off x="7290505" y="960631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2" name="Google Shape;1452;p101"/>
          <p:cNvGraphicFramePr/>
          <p:nvPr/>
        </p:nvGraphicFramePr>
        <p:xfrm>
          <a:off x="56026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13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1.6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0.7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453" name="Google Shape;1453;p101"/>
          <p:cNvSpPr txBox="1"/>
          <p:nvPr/>
        </p:nvSpPr>
        <p:spPr>
          <a:xfrm>
            <a:off x="324000" y="686325"/>
            <a:ext cx="2144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report was published on Saturday, and shows the forecast for the next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01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460" name="Google Shape;1460;p102"/>
          <p:cNvGraphicFramePr/>
          <p:nvPr/>
        </p:nvGraphicFramePr>
        <p:xfrm>
          <a:off x="560268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61" name="Google Shape;1461;p102"/>
          <p:cNvGraphicFramePr/>
          <p:nvPr/>
        </p:nvGraphicFramePr>
        <p:xfrm>
          <a:off x="2581488" y="96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62" name="Google Shape;1462;p102"/>
          <p:cNvGraphicFramePr/>
          <p:nvPr/>
        </p:nvGraphicFramePr>
        <p:xfrm>
          <a:off x="25814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63" name="Google Shape;1463;p102"/>
          <p:cNvGraphicFramePr/>
          <p:nvPr/>
        </p:nvGraphicFramePr>
        <p:xfrm>
          <a:off x="2581488" y="20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64" name="Google Shape;1464;p102"/>
          <p:cNvGraphicFramePr/>
          <p:nvPr/>
        </p:nvGraphicFramePr>
        <p:xfrm>
          <a:off x="7211338" y="6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465" name="Google Shape;1465;p102"/>
          <p:cNvSpPr txBox="1"/>
          <p:nvPr/>
        </p:nvSpPr>
        <p:spPr>
          <a:xfrm>
            <a:off x="954300" y="3091450"/>
            <a:ext cx="7865700" cy="1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may be hard to predict whether the group of clouds that are modelled to form will be rain clouds (resulting in showers) or clouds that won’t produce rain.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especially true since a lot of contributing factors could change between Saturday (the time the forecast was made) and Wednesday.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66" name="Google Shape;1466;p10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8089897" y="960625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7" name="Google Shape;1467;p102"/>
          <p:cNvGraphicFramePr/>
          <p:nvPr/>
        </p:nvGraphicFramePr>
        <p:xfrm>
          <a:off x="5602688" y="20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468" name="Google Shape;1468;p10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6017" l="51691" r="27682" t="26349"/>
          <a:stretch/>
        </p:blipFill>
        <p:spPr>
          <a:xfrm>
            <a:off x="5678050" y="961050"/>
            <a:ext cx="646426" cy="552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9" name="Google Shape;1469;p10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6462462" y="923182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02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49049" l="5088" r="74284" t="27396"/>
          <a:stretch/>
        </p:blipFill>
        <p:spPr>
          <a:xfrm>
            <a:off x="7290505" y="960631"/>
            <a:ext cx="646436" cy="7382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1" name="Google Shape;1471;p102"/>
          <p:cNvGraphicFramePr/>
          <p:nvPr/>
        </p:nvGraphicFramePr>
        <p:xfrm>
          <a:off x="5602688" y="16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  <a:gridCol w="804325"/>
                <a:gridCol w="804325"/>
              </a:tblGrid>
              <a:tr h="13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1.6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0.7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1472" name="Google Shape;1472;p102"/>
          <p:cNvGrpSpPr/>
          <p:nvPr/>
        </p:nvGrpSpPr>
        <p:grpSpPr>
          <a:xfrm>
            <a:off x="5907374" y="1501137"/>
            <a:ext cx="146006" cy="44880"/>
            <a:chOff x="5582574" y="1918337"/>
            <a:chExt cx="146006" cy="44880"/>
          </a:xfrm>
        </p:grpSpPr>
        <p:sp>
          <p:nvSpPr>
            <p:cNvPr id="1473" name="Google Shape;1473;p102"/>
            <p:cNvSpPr/>
            <p:nvPr/>
          </p:nvSpPr>
          <p:spPr>
            <a:xfrm rot="-2700000">
              <a:off x="5589413" y="1925407"/>
              <a:ext cx="30123" cy="3182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4" name="Google Shape;1474;p102"/>
            <p:cNvSpPr/>
            <p:nvPr/>
          </p:nvSpPr>
          <p:spPr>
            <a:xfrm rot="-2432349">
              <a:off x="5691829" y="1924240"/>
              <a:ext cx="30001" cy="31694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5" name="Google Shape;1475;p102"/>
          <p:cNvSpPr txBox="1"/>
          <p:nvPr/>
        </p:nvSpPr>
        <p:spPr>
          <a:xfrm>
            <a:off x="324000" y="2468089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Suggest one possible reason why Wednesday still has a chance of              rain, even though it is only predicted to be cloudy.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02"/>
          <p:cNvSpPr txBox="1"/>
          <p:nvPr/>
        </p:nvSpPr>
        <p:spPr>
          <a:xfrm>
            <a:off x="324000" y="686325"/>
            <a:ext cx="21447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report was published on Saturday, and shows the forecast for the next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02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2" name="Google Shape;1482;p103"/>
          <p:cNvGraphicFramePr/>
          <p:nvPr/>
        </p:nvGraphicFramePr>
        <p:xfrm>
          <a:off x="6456475" y="294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1149100"/>
                <a:gridCol w="1178175"/>
              </a:tblGrid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(m²)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rainfall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5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483" name="Google Shape;1483;p103"/>
          <p:cNvSpPr txBox="1"/>
          <p:nvPr/>
        </p:nvSpPr>
        <p:spPr>
          <a:xfrm>
            <a:off x="324000" y="686325"/>
            <a:ext cx="3790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This report shows the amount of rainfall predicted on Saturday and Sunday.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485" name="Google Shape;1485;p103"/>
          <p:cNvGraphicFramePr/>
          <p:nvPr/>
        </p:nvGraphicFramePr>
        <p:xfrm>
          <a:off x="72113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86" name="Google Shape;1486;p103"/>
          <p:cNvGraphicFramePr/>
          <p:nvPr/>
        </p:nvGraphicFramePr>
        <p:xfrm>
          <a:off x="7211338" y="72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87" name="Google Shape;1487;p103"/>
          <p:cNvGraphicFramePr/>
          <p:nvPr/>
        </p:nvGraphicFramePr>
        <p:xfrm>
          <a:off x="4190138" y="100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88" name="Google Shape;1488;p103"/>
          <p:cNvGraphicFramePr/>
          <p:nvPr/>
        </p:nvGraphicFramePr>
        <p:xfrm>
          <a:off x="41901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89" name="Google Shape;1489;p103"/>
          <p:cNvGraphicFramePr/>
          <p:nvPr/>
        </p:nvGraphicFramePr>
        <p:xfrm>
          <a:off x="41901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490" name="Google Shape;1490;p103"/>
          <p:cNvGraphicFramePr/>
          <p:nvPr/>
        </p:nvGraphicFramePr>
        <p:xfrm>
          <a:off x="72113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491" name="Google Shape;1491;p103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8071112" y="964432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103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7286697" y="1001875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03"/>
          <p:cNvSpPr txBox="1"/>
          <p:nvPr/>
        </p:nvSpPr>
        <p:spPr>
          <a:xfrm>
            <a:off x="324000" y="1740100"/>
            <a:ext cx="379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On Saturday, how many litres of water is predicted to fall for every square metre of land?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03"/>
          <p:cNvSpPr txBox="1"/>
          <p:nvPr/>
        </p:nvSpPr>
        <p:spPr>
          <a:xfrm>
            <a:off x="7605575" y="3393000"/>
            <a:ext cx="1178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7.5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5" name="Google Shape;1495;p103"/>
          <p:cNvSpPr txBox="1"/>
          <p:nvPr/>
        </p:nvSpPr>
        <p:spPr>
          <a:xfrm>
            <a:off x="324000" y="3344450"/>
            <a:ext cx="57477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farmer has a field that is 1800 m² in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litres of rain will fall on this field on Saturday? You can use the ratio table given to help.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03"/>
          <p:cNvSpPr txBox="1"/>
          <p:nvPr/>
        </p:nvSpPr>
        <p:spPr>
          <a:xfrm>
            <a:off x="7605575" y="3873475"/>
            <a:ext cx="11781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13 500  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7" name="Google Shape;1497;p103"/>
          <p:cNvSpPr txBox="1"/>
          <p:nvPr/>
        </p:nvSpPr>
        <p:spPr>
          <a:xfrm>
            <a:off x="6456475" y="3843350"/>
            <a:ext cx="11781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8" name="Google Shape;1498;p103"/>
          <p:cNvSpPr txBox="1"/>
          <p:nvPr/>
        </p:nvSpPr>
        <p:spPr>
          <a:xfrm>
            <a:off x="954300" y="2658182"/>
            <a:ext cx="1239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7.5 litres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9" name="Google Shape;1499;p103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4" name="Google Shape;1504;p104"/>
          <p:cNvGraphicFramePr/>
          <p:nvPr/>
        </p:nvGraphicFramePr>
        <p:xfrm>
          <a:off x="6456475" y="25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1149100"/>
                <a:gridCol w="1178175"/>
              </a:tblGrid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(m²)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rainfall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5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505" name="Google Shape;1505;p104"/>
          <p:cNvSpPr txBox="1"/>
          <p:nvPr/>
        </p:nvSpPr>
        <p:spPr>
          <a:xfrm>
            <a:off x="324000" y="686325"/>
            <a:ext cx="3790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This report shows the amount of rainfall predicted on Saturday and Sunday.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507" name="Google Shape;1507;p104"/>
          <p:cNvGraphicFramePr/>
          <p:nvPr/>
        </p:nvGraphicFramePr>
        <p:xfrm>
          <a:off x="72113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08" name="Google Shape;1508;p104"/>
          <p:cNvGraphicFramePr/>
          <p:nvPr/>
        </p:nvGraphicFramePr>
        <p:xfrm>
          <a:off x="7211338" y="72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09" name="Google Shape;1509;p104"/>
          <p:cNvGraphicFramePr/>
          <p:nvPr/>
        </p:nvGraphicFramePr>
        <p:xfrm>
          <a:off x="4190138" y="100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10" name="Google Shape;1510;p104"/>
          <p:cNvGraphicFramePr/>
          <p:nvPr/>
        </p:nvGraphicFramePr>
        <p:xfrm>
          <a:off x="41901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11" name="Google Shape;1511;p104"/>
          <p:cNvGraphicFramePr/>
          <p:nvPr/>
        </p:nvGraphicFramePr>
        <p:xfrm>
          <a:off x="41901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12" name="Google Shape;1512;p104"/>
          <p:cNvGraphicFramePr/>
          <p:nvPr/>
        </p:nvGraphicFramePr>
        <p:xfrm>
          <a:off x="72113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513" name="Google Shape;1513;p10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8071112" y="964432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4" name="Google Shape;1514;p104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7286697" y="1001875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04"/>
          <p:cNvSpPr txBox="1"/>
          <p:nvPr/>
        </p:nvSpPr>
        <p:spPr>
          <a:xfrm>
            <a:off x="7605575" y="3014800"/>
            <a:ext cx="1178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7.5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6" name="Google Shape;1516;p104"/>
          <p:cNvSpPr txBox="1"/>
          <p:nvPr/>
        </p:nvSpPr>
        <p:spPr>
          <a:xfrm>
            <a:off x="6456475" y="3465150"/>
            <a:ext cx="11781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7" name="Google Shape;1517;p104"/>
          <p:cNvSpPr txBox="1"/>
          <p:nvPr/>
        </p:nvSpPr>
        <p:spPr>
          <a:xfrm>
            <a:off x="324000" y="2385370"/>
            <a:ext cx="574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 farmer says: “3600 litres of rain will fall on my field on Sunday”.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why this may not be true.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04"/>
          <p:cNvSpPr txBox="1"/>
          <p:nvPr/>
        </p:nvSpPr>
        <p:spPr>
          <a:xfrm>
            <a:off x="573300" y="3356825"/>
            <a:ext cx="58287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only a 73% chance that it will rain on Sunday.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means that there is a 27% chance that no rain will fall onto the field.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9" name="Google Shape;1519;p104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04"/>
          <p:cNvSpPr txBox="1"/>
          <p:nvPr/>
        </p:nvSpPr>
        <p:spPr>
          <a:xfrm>
            <a:off x="7605575" y="3492475"/>
            <a:ext cx="11781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13 500  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5" name="Google Shape;1525;p105"/>
          <p:cNvGraphicFramePr/>
          <p:nvPr/>
        </p:nvGraphicFramePr>
        <p:xfrm>
          <a:off x="6456475" y="25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1149100"/>
                <a:gridCol w="1178175"/>
              </a:tblGrid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(m²)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rainfall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accent4"/>
                    </a:solidFill>
                  </a:tcPr>
                </a:tc>
              </a:tr>
              <a:tr h="45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5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526" name="Google Shape;1526;p105"/>
          <p:cNvSpPr txBox="1"/>
          <p:nvPr/>
        </p:nvSpPr>
        <p:spPr>
          <a:xfrm>
            <a:off x="324000" y="686325"/>
            <a:ext cx="3790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This report shows the amount of rainfall predicted on Saturday and Sunday.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graphicFrame>
        <p:nvGraphicFramePr>
          <p:cNvPr id="1528" name="Google Shape;1528;p105"/>
          <p:cNvGraphicFramePr/>
          <p:nvPr/>
        </p:nvGraphicFramePr>
        <p:xfrm>
          <a:off x="72113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29" name="Google Shape;1529;p105"/>
          <p:cNvGraphicFramePr/>
          <p:nvPr/>
        </p:nvGraphicFramePr>
        <p:xfrm>
          <a:off x="7211338" y="72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30" name="Google Shape;1530;p105"/>
          <p:cNvGraphicFramePr/>
          <p:nvPr/>
        </p:nvGraphicFramePr>
        <p:xfrm>
          <a:off x="4190138" y="100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type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31" name="Google Shape;1531;p105"/>
          <p:cNvGraphicFramePr/>
          <p:nvPr/>
        </p:nvGraphicFramePr>
        <p:xfrm>
          <a:off x="4190138" y="17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amount of rainfall (in 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32" name="Google Shape;1532;p105"/>
          <p:cNvGraphicFramePr/>
          <p:nvPr/>
        </p:nvGraphicFramePr>
        <p:xfrm>
          <a:off x="41901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3021200"/>
              </a:tblGrid>
              <a:tr h="2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chance of rainfall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533" name="Google Shape;1533;p105"/>
          <p:cNvGraphicFramePr/>
          <p:nvPr/>
        </p:nvGraphicFramePr>
        <p:xfrm>
          <a:off x="7211338" y="20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804325"/>
                <a:gridCol w="804325"/>
              </a:tblGrid>
              <a:tr h="28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534" name="Google Shape;1534;p105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1381" l="28615" r="50758" t="25064"/>
          <a:stretch/>
        </p:blipFill>
        <p:spPr>
          <a:xfrm>
            <a:off x="8071112" y="964432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105" title="https://oaknationalacademy-res.cloudinary.com/image/upload/v1713776096/rrwsn7j1bwnvwyj4ecoh.jpg"/>
          <p:cNvPicPr preferRelativeResize="0"/>
          <p:nvPr/>
        </p:nvPicPr>
        <p:blipFill rotWithShape="1">
          <a:blip r:embed="rId3">
            <a:alphaModFix/>
          </a:blip>
          <a:srcRect b="50095" l="51690" r="27683" t="26350"/>
          <a:stretch/>
        </p:blipFill>
        <p:spPr>
          <a:xfrm>
            <a:off x="7286697" y="1001875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05"/>
          <p:cNvSpPr txBox="1"/>
          <p:nvPr/>
        </p:nvSpPr>
        <p:spPr>
          <a:xfrm>
            <a:off x="7605575" y="3014800"/>
            <a:ext cx="1178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7.5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7" name="Google Shape;1537;p105"/>
          <p:cNvSpPr txBox="1"/>
          <p:nvPr/>
        </p:nvSpPr>
        <p:spPr>
          <a:xfrm>
            <a:off x="7605575" y="3465150"/>
            <a:ext cx="11781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13 500 litres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105"/>
          <p:cNvSpPr txBox="1"/>
          <p:nvPr/>
        </p:nvSpPr>
        <p:spPr>
          <a:xfrm>
            <a:off x="6456475" y="3465150"/>
            <a:ext cx="11781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105"/>
          <p:cNvSpPr txBox="1"/>
          <p:nvPr/>
        </p:nvSpPr>
        <p:spPr>
          <a:xfrm>
            <a:off x="324000" y="2385370"/>
            <a:ext cx="574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 farmer says: “3600 litres of rain will fall on my field on Sunday”.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why this may not be true.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05"/>
          <p:cNvSpPr txBox="1"/>
          <p:nvPr/>
        </p:nvSpPr>
        <p:spPr>
          <a:xfrm>
            <a:off x="573300" y="3356825"/>
            <a:ext cx="58287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 if it does rain, the amount of rainfall is also only a prediction.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could rain more or less than 2 mm on Sunday.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105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06"/>
          <p:cNvSpPr txBox="1"/>
          <p:nvPr/>
        </p:nvSpPr>
        <p:spPr>
          <a:xfrm>
            <a:off x="324000" y="669301"/>
            <a:ext cx="3918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This graph shows 20 days where the chance of rainfall was 35%.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dot represents a day that either rained or didn’t rain.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548" name="Google Shape;154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682" y="669301"/>
            <a:ext cx="4294618" cy="149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549" name="Google Shape;1549;p106"/>
          <p:cNvGraphicFramePr/>
          <p:nvPr/>
        </p:nvGraphicFramePr>
        <p:xfrm>
          <a:off x="5093900" y="32085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2970150"/>
                <a:gridCol w="75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days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days with rain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% of days with rain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60%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550" name="Google Shape;1550;p106"/>
          <p:cNvSpPr txBox="1"/>
          <p:nvPr/>
        </p:nvSpPr>
        <p:spPr>
          <a:xfrm>
            <a:off x="324000" y="2245325"/>
            <a:ext cx="4294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How many of these 20 days would we expect to have rain?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this table of information for the first 5 days on the graph.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106"/>
          <p:cNvSpPr txBox="1"/>
          <p:nvPr/>
        </p:nvSpPr>
        <p:spPr>
          <a:xfrm>
            <a:off x="866375" y="2889725"/>
            <a:ext cx="37056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35% of 20 = 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We would expect around 7 days of rain.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07"/>
          <p:cNvSpPr txBox="1"/>
          <p:nvPr/>
        </p:nvSpPr>
        <p:spPr>
          <a:xfrm>
            <a:off x="324000" y="669301"/>
            <a:ext cx="39186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This graph shows 20 days where the chance of rainfall was 35%.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dot represents a day that either rained or didn’t rain.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pic>
        <p:nvPicPr>
          <p:cNvPr id="1558" name="Google Shape;155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682" y="669301"/>
            <a:ext cx="4294618" cy="149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9" name="Google Shape;1559;p107"/>
          <p:cNvSpPr txBox="1"/>
          <p:nvPr/>
        </p:nvSpPr>
        <p:spPr>
          <a:xfrm>
            <a:off x="324000" y="3604733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Does this graph show: “fewer than”, “equal to”, or “greater than”               35% of days with rain?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07"/>
          <p:cNvSpPr txBox="1"/>
          <p:nvPr/>
        </p:nvSpPr>
        <p:spPr>
          <a:xfrm>
            <a:off x="324000" y="2245325"/>
            <a:ext cx="42945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percentage of days for the first 10 days on the graph had rain?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0}=40\%&quot;&gt;&lt;mfrac&gt;&lt;mn&gt;4&lt;/mn&gt;&lt;mn&gt;10&lt;/mn&gt;&lt;/mfrac&gt;&lt;mo&gt;=&lt;/mo&gt;&lt;mn&gt;40&lt;/mn&gt;&lt;mi mathvariant=&quot;normal&quot;&gt;%&lt;/mi&gt;&lt;/math&gt;" id="1561" name="Google Shape;1561;p107" title="four tenths equals 40 percent sig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584" y="2876125"/>
            <a:ext cx="1134431" cy="5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107"/>
          <p:cNvSpPr txBox="1"/>
          <p:nvPr/>
        </p:nvSpPr>
        <p:spPr>
          <a:xfrm>
            <a:off x="2719200" y="3003025"/>
            <a:ext cx="410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40% of the first 10 days had rain.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107"/>
          <p:cNvSpPr txBox="1"/>
          <p:nvPr/>
        </p:nvSpPr>
        <p:spPr>
          <a:xfrm>
            <a:off x="997375" y="4189375"/>
            <a:ext cx="719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Greater than. This is because 9 of the 20 days (45%) had rain, not the 7 (35%) that was predicted.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0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Rainfall forecasting</a:t>
            </a:r>
            <a:endParaRPr/>
          </a:p>
        </p:txBody>
      </p:sp>
      <p:sp>
        <p:nvSpPr>
          <p:cNvPr id="1569" name="Google Shape;1569;p10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570" name="Google Shape;1570;p10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weather</a:t>
            </a:r>
            <a:endParaRPr/>
          </a:p>
        </p:txBody>
      </p:sp>
      <p:pic>
        <p:nvPicPr>
          <p:cNvPr id="1571" name="Google Shape;1571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98837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577" name="Google Shape;1577;p109"/>
          <p:cNvSpPr txBox="1"/>
          <p:nvPr/>
        </p:nvSpPr>
        <p:spPr>
          <a:xfrm>
            <a:off x="324000" y="626835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patterns or trends from historical data in order to predict future weather forecasts.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09"/>
          <p:cNvSpPr txBox="1"/>
          <p:nvPr/>
        </p:nvSpPr>
        <p:spPr>
          <a:xfrm>
            <a:off x="324000" y="1620010"/>
            <a:ext cx="8496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Historical data can be plotted on a time-series graph. Trends from the graph can then be extrapolated to predict what the graph will look like in future years.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10"/>
          <p:cNvSpPr txBox="1"/>
          <p:nvPr/>
        </p:nvSpPr>
        <p:spPr>
          <a:xfrm>
            <a:off x="324000" y="4017425"/>
            <a:ext cx="8559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trendline of the data can be used to identify that the temperatures are increasing over a longer period of time, even if temperatures may             fluctuate from one year to the next.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585" name="Google Shape;1585;p110"/>
          <p:cNvSpPr txBox="1"/>
          <p:nvPr/>
        </p:nvSpPr>
        <p:spPr>
          <a:xfrm>
            <a:off x="324000" y="2924925"/>
            <a:ext cx="8559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see that there is a bit of variety in temperatures when comparing one year to the next. This makes spotting longer-term trends tricky.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important to not focus on patterns between only two or three data points.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10"/>
          <p:cNvSpPr txBox="1"/>
          <p:nvPr/>
        </p:nvSpPr>
        <p:spPr>
          <a:xfrm>
            <a:off x="6740775" y="680700"/>
            <a:ext cx="2079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the mean night-time temperature in November each year from 2009 to 2022 in Oakfield.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7" name="Google Shape;1587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0"/>
            <a:ext cx="6257949" cy="217029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8" name="Google Shape;1588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680700"/>
            <a:ext cx="6257958" cy="217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9" name="Google Shape;1589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680700"/>
            <a:ext cx="6257949" cy="21702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90" name="Google Shape;1590;p110"/>
          <p:cNvGrpSpPr/>
          <p:nvPr/>
        </p:nvGrpSpPr>
        <p:grpSpPr>
          <a:xfrm>
            <a:off x="776825" y="2447425"/>
            <a:ext cx="58500" cy="78225"/>
            <a:chOff x="776825" y="2447425"/>
            <a:chExt cx="58500" cy="78225"/>
          </a:xfrm>
        </p:grpSpPr>
        <p:cxnSp>
          <p:nvCxnSpPr>
            <p:cNvPr id="1591" name="Google Shape;1591;p110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2" name="Google Shape;1592;p110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11"/>
          <p:cNvSpPr txBox="1"/>
          <p:nvPr/>
        </p:nvSpPr>
        <p:spPr>
          <a:xfrm>
            <a:off x="324000" y="30773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predicting future weather forecasts, we can extrapolate predictions using the trends seen in the historical time-series graph.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8" name="Google Shape;1598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0"/>
            <a:ext cx="6257949" cy="21702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9" name="Google Shape;1599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600" name="Google Shape;1600;p111"/>
          <p:cNvSpPr txBox="1"/>
          <p:nvPr/>
        </p:nvSpPr>
        <p:spPr>
          <a:xfrm>
            <a:off x="6740775" y="680700"/>
            <a:ext cx="2079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the mean night-time temperature in November each year from 2009 to 2022 in Oakfield.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11"/>
          <p:cNvSpPr txBox="1"/>
          <p:nvPr/>
        </p:nvSpPr>
        <p:spPr>
          <a:xfrm>
            <a:off x="324000" y="37800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basic way of predicting future temperatures is by extending the trendline.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2" name="Google Shape;1602;p111"/>
          <p:cNvGrpSpPr/>
          <p:nvPr/>
        </p:nvGrpSpPr>
        <p:grpSpPr>
          <a:xfrm>
            <a:off x="5616517" y="1062056"/>
            <a:ext cx="965505" cy="182494"/>
            <a:chOff x="1143000" y="962774"/>
            <a:chExt cx="4494900" cy="849600"/>
          </a:xfrm>
        </p:grpSpPr>
        <p:cxnSp>
          <p:nvCxnSpPr>
            <p:cNvPr id="1603" name="Google Shape;1603;p111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1604" name="Google Shape;1604;p111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05" name="Google Shape;1605;p111"/>
          <p:cNvCxnSpPr/>
          <p:nvPr/>
        </p:nvCxnSpPr>
        <p:spPr>
          <a:xfrm>
            <a:off x="5956825" y="1184650"/>
            <a:ext cx="0" cy="14061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111"/>
          <p:cNvCxnSpPr/>
          <p:nvPr/>
        </p:nvCxnSpPr>
        <p:spPr>
          <a:xfrm rot="10800000">
            <a:off x="808525" y="1184650"/>
            <a:ext cx="51483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7" name="Google Shape;1607;p111"/>
          <p:cNvSpPr txBox="1"/>
          <p:nvPr/>
        </p:nvSpPr>
        <p:spPr>
          <a:xfrm>
            <a:off x="1233825" y="4205775"/>
            <a:ext cx="666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Using this method, we have extrapolated that the mean night-time temperature in November 2023 will be 9°C.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08" name="Google Shape;1608;p111"/>
          <p:cNvGrpSpPr/>
          <p:nvPr/>
        </p:nvGrpSpPr>
        <p:grpSpPr>
          <a:xfrm>
            <a:off x="776825" y="2447425"/>
            <a:ext cx="58500" cy="78225"/>
            <a:chOff x="776825" y="2447425"/>
            <a:chExt cx="58500" cy="78225"/>
          </a:xfrm>
        </p:grpSpPr>
        <p:cxnSp>
          <p:nvCxnSpPr>
            <p:cNvPr id="1609" name="Google Shape;1609;p111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0" name="Google Shape;1610;p111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112"/>
          <p:cNvSpPr txBox="1"/>
          <p:nvPr/>
        </p:nvSpPr>
        <p:spPr>
          <a:xfrm>
            <a:off x="324000" y="3810775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see from the historical data that the temperatures fluctuate each year, and so it is uncertain whether the trend in the future will continue on the same trendline…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12"/>
          <p:cNvSpPr txBox="1"/>
          <p:nvPr/>
        </p:nvSpPr>
        <p:spPr>
          <a:xfrm>
            <a:off x="2592031" y="4361575"/>
            <a:ext cx="228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 begin to change.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12"/>
          <p:cNvSpPr txBox="1"/>
          <p:nvPr/>
        </p:nvSpPr>
        <p:spPr>
          <a:xfrm>
            <a:off x="324000" y="30773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extrapolation is unreliable when trying to make accurate predictions.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8" name="Google Shape;161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0"/>
            <a:ext cx="6257949" cy="21702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9" name="Google Shape;1619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620" name="Google Shape;1620;p112"/>
          <p:cNvSpPr txBox="1"/>
          <p:nvPr/>
        </p:nvSpPr>
        <p:spPr>
          <a:xfrm>
            <a:off x="6740775" y="680700"/>
            <a:ext cx="2079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the mean night-time temperature in November each year from 2009 to 2022 in Oakfield.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1" name="Google Shape;1621;p112"/>
          <p:cNvGrpSpPr/>
          <p:nvPr/>
        </p:nvGrpSpPr>
        <p:grpSpPr>
          <a:xfrm>
            <a:off x="5616517" y="1062056"/>
            <a:ext cx="965505" cy="182494"/>
            <a:chOff x="1143000" y="962774"/>
            <a:chExt cx="4494900" cy="849600"/>
          </a:xfrm>
        </p:grpSpPr>
        <p:cxnSp>
          <p:nvCxnSpPr>
            <p:cNvPr id="1622" name="Google Shape;1622;p112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1623" name="Google Shape;1623;p112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24" name="Google Shape;1624;p112"/>
          <p:cNvGrpSpPr/>
          <p:nvPr/>
        </p:nvGrpSpPr>
        <p:grpSpPr>
          <a:xfrm rot="943096">
            <a:off x="5610737" y="1200044"/>
            <a:ext cx="965656" cy="182523"/>
            <a:chOff x="1143000" y="962774"/>
            <a:chExt cx="4494900" cy="849600"/>
          </a:xfrm>
        </p:grpSpPr>
        <p:cxnSp>
          <p:nvCxnSpPr>
            <p:cNvPr id="1625" name="Google Shape;1625;p112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1626" name="Google Shape;1626;p112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27" name="Google Shape;1627;p112"/>
          <p:cNvGrpSpPr/>
          <p:nvPr/>
        </p:nvGrpSpPr>
        <p:grpSpPr>
          <a:xfrm rot="-981115">
            <a:off x="5564488" y="931871"/>
            <a:ext cx="965919" cy="182572"/>
            <a:chOff x="1143000" y="962774"/>
            <a:chExt cx="4494900" cy="849600"/>
          </a:xfrm>
        </p:grpSpPr>
        <p:cxnSp>
          <p:nvCxnSpPr>
            <p:cNvPr id="1628" name="Google Shape;1628;p112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1629" name="Google Shape;1629;p112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ash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30" name="Google Shape;1630;p112"/>
          <p:cNvGrpSpPr/>
          <p:nvPr/>
        </p:nvGrpSpPr>
        <p:grpSpPr>
          <a:xfrm>
            <a:off x="776825" y="2447425"/>
            <a:ext cx="58500" cy="78225"/>
            <a:chOff x="776825" y="2447425"/>
            <a:chExt cx="58500" cy="78225"/>
          </a:xfrm>
        </p:grpSpPr>
        <p:cxnSp>
          <p:nvCxnSpPr>
            <p:cNvPr id="1631" name="Google Shape;1631;p112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2" name="Google Shape;1632;p112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13"/>
          <p:cNvSpPr txBox="1"/>
          <p:nvPr/>
        </p:nvSpPr>
        <p:spPr>
          <a:xfrm>
            <a:off x="324000" y="384102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range can then be used as a prediction of likely temperatures.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8" name="Google Shape;1638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0"/>
            <a:ext cx="6257949" cy="217029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9" name="Google Shape;1639;p113"/>
          <p:cNvSpPr txBox="1"/>
          <p:nvPr/>
        </p:nvSpPr>
        <p:spPr>
          <a:xfrm>
            <a:off x="324000" y="307732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So, rather than using a trendline, a broader range of the trend can be used…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0" name="Google Shape;1640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680700"/>
            <a:ext cx="6257949" cy="21702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1" name="Google Shape;1641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642" name="Google Shape;1642;p113"/>
          <p:cNvSpPr txBox="1"/>
          <p:nvPr/>
        </p:nvSpPr>
        <p:spPr>
          <a:xfrm>
            <a:off x="6740775" y="680700"/>
            <a:ext cx="2079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the mean night-time temperature in November each year from 2009 to 2022 in Oakfield.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3" name="Google Shape;1643;p113"/>
          <p:cNvGrpSpPr/>
          <p:nvPr/>
        </p:nvGrpSpPr>
        <p:grpSpPr>
          <a:xfrm>
            <a:off x="1143000" y="962774"/>
            <a:ext cx="4494900" cy="849600"/>
            <a:chOff x="1143000" y="962774"/>
            <a:chExt cx="4494900" cy="849600"/>
          </a:xfrm>
        </p:grpSpPr>
        <p:cxnSp>
          <p:nvCxnSpPr>
            <p:cNvPr id="1644" name="Google Shape;1644;p113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113"/>
            <p:cNvCxnSpPr/>
            <p:nvPr/>
          </p:nvCxnSpPr>
          <p:spPr>
            <a:xfrm flipH="1" rot="10800000">
              <a:off x="1143000" y="9627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6" name="Google Shape;1646;p113"/>
          <p:cNvGrpSpPr/>
          <p:nvPr/>
        </p:nvGrpSpPr>
        <p:grpSpPr>
          <a:xfrm>
            <a:off x="1143000" y="1521000"/>
            <a:ext cx="4494900" cy="849600"/>
            <a:chOff x="1143000" y="1521000"/>
            <a:chExt cx="4494900" cy="849600"/>
          </a:xfrm>
        </p:grpSpPr>
        <p:cxnSp>
          <p:nvCxnSpPr>
            <p:cNvPr id="1647" name="Google Shape;1647;p113"/>
            <p:cNvCxnSpPr/>
            <p:nvPr/>
          </p:nvCxnSpPr>
          <p:spPr>
            <a:xfrm flipH="1" rot="10800000">
              <a:off x="1143000" y="1521000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8" name="Google Shape;1648;p113"/>
            <p:cNvCxnSpPr/>
            <p:nvPr/>
          </p:nvCxnSpPr>
          <p:spPr>
            <a:xfrm flipH="1" rot="10800000">
              <a:off x="1143000" y="1521000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49" name="Google Shape;1649;p113"/>
          <p:cNvSpPr txBox="1"/>
          <p:nvPr/>
        </p:nvSpPr>
        <p:spPr>
          <a:xfrm>
            <a:off x="324000" y="338497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then extrapolated.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0" name="Google Shape;1650;p113"/>
          <p:cNvGrpSpPr/>
          <p:nvPr/>
        </p:nvGrpSpPr>
        <p:grpSpPr>
          <a:xfrm>
            <a:off x="1142999" y="837032"/>
            <a:ext cx="5160183" cy="1533612"/>
            <a:chOff x="1142999" y="837032"/>
            <a:chExt cx="5160183" cy="1533612"/>
          </a:xfrm>
        </p:grpSpPr>
        <p:grpSp>
          <p:nvGrpSpPr>
            <p:cNvPr id="1651" name="Google Shape;1651;p113"/>
            <p:cNvGrpSpPr/>
            <p:nvPr/>
          </p:nvGrpSpPr>
          <p:grpSpPr>
            <a:xfrm>
              <a:off x="1143037" y="1395303"/>
              <a:ext cx="5160145" cy="975341"/>
              <a:chOff x="1143000" y="1521000"/>
              <a:chExt cx="4494900" cy="849600"/>
            </a:xfrm>
          </p:grpSpPr>
          <p:cxnSp>
            <p:nvCxnSpPr>
              <p:cNvPr id="1652" name="Google Shape;1652;p113"/>
              <p:cNvCxnSpPr/>
              <p:nvPr/>
            </p:nvCxnSpPr>
            <p:spPr>
              <a:xfrm flipH="1" rot="10800000">
                <a:off x="1143000" y="1521000"/>
                <a:ext cx="4494900" cy="849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3" name="Google Shape;1653;p113"/>
              <p:cNvCxnSpPr/>
              <p:nvPr/>
            </p:nvCxnSpPr>
            <p:spPr>
              <a:xfrm flipH="1" rot="10800000">
                <a:off x="1143000" y="1521000"/>
                <a:ext cx="4494900" cy="849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54" name="Google Shape;1654;p113"/>
            <p:cNvGrpSpPr/>
            <p:nvPr/>
          </p:nvGrpSpPr>
          <p:grpSpPr>
            <a:xfrm>
              <a:off x="1142999" y="837032"/>
              <a:ext cx="5160145" cy="975341"/>
              <a:chOff x="1143000" y="962774"/>
              <a:chExt cx="4494900" cy="849600"/>
            </a:xfrm>
          </p:grpSpPr>
          <p:cxnSp>
            <p:nvCxnSpPr>
              <p:cNvPr id="1655" name="Google Shape;1655;p113"/>
              <p:cNvCxnSpPr/>
              <p:nvPr/>
            </p:nvCxnSpPr>
            <p:spPr>
              <a:xfrm flipH="1" rot="10800000">
                <a:off x="1143000" y="962774"/>
                <a:ext cx="4494900" cy="849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6" name="Google Shape;1656;p113"/>
              <p:cNvCxnSpPr/>
              <p:nvPr/>
            </p:nvCxnSpPr>
            <p:spPr>
              <a:xfrm flipH="1" rot="10800000">
                <a:off x="1143000" y="962774"/>
                <a:ext cx="4494900" cy="849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57" name="Google Shape;1657;p113"/>
          <p:cNvGrpSpPr/>
          <p:nvPr/>
        </p:nvGrpSpPr>
        <p:grpSpPr>
          <a:xfrm>
            <a:off x="808525" y="1462234"/>
            <a:ext cx="5148300" cy="1128536"/>
            <a:chOff x="808525" y="1184650"/>
            <a:chExt cx="5148300" cy="1406100"/>
          </a:xfrm>
        </p:grpSpPr>
        <p:cxnSp>
          <p:nvCxnSpPr>
            <p:cNvPr id="1658" name="Google Shape;1658;p113"/>
            <p:cNvCxnSpPr/>
            <p:nvPr/>
          </p:nvCxnSpPr>
          <p:spPr>
            <a:xfrm>
              <a:off x="5956825" y="1184650"/>
              <a:ext cx="0" cy="14061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9" name="Google Shape;1659;p113"/>
            <p:cNvCxnSpPr/>
            <p:nvPr/>
          </p:nvCxnSpPr>
          <p:spPr>
            <a:xfrm rot="10800000">
              <a:off x="808525" y="1184650"/>
              <a:ext cx="5148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60" name="Google Shape;1660;p113"/>
          <p:cNvGrpSpPr/>
          <p:nvPr/>
        </p:nvGrpSpPr>
        <p:grpSpPr>
          <a:xfrm>
            <a:off x="808525" y="906172"/>
            <a:ext cx="5148300" cy="1684648"/>
            <a:chOff x="808525" y="1184650"/>
            <a:chExt cx="5148300" cy="1406100"/>
          </a:xfrm>
        </p:grpSpPr>
        <p:cxnSp>
          <p:nvCxnSpPr>
            <p:cNvPr id="1661" name="Google Shape;1661;p113"/>
            <p:cNvCxnSpPr/>
            <p:nvPr/>
          </p:nvCxnSpPr>
          <p:spPr>
            <a:xfrm>
              <a:off x="5956825" y="1184650"/>
              <a:ext cx="0" cy="14061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2" name="Google Shape;1662;p113"/>
            <p:cNvCxnSpPr/>
            <p:nvPr/>
          </p:nvCxnSpPr>
          <p:spPr>
            <a:xfrm rot="10800000">
              <a:off x="808525" y="1184650"/>
              <a:ext cx="5148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63" name="Google Shape;1663;p113"/>
          <p:cNvSpPr txBox="1"/>
          <p:nvPr/>
        </p:nvSpPr>
        <p:spPr>
          <a:xfrm>
            <a:off x="678600" y="4205775"/>
            <a:ext cx="80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Using this method, we have extrapolated that the mean night-time temperature in November 2023 will likely be between 8.3°C and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9.6°C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64" name="Google Shape;1664;p113"/>
          <p:cNvGrpSpPr/>
          <p:nvPr/>
        </p:nvGrpSpPr>
        <p:grpSpPr>
          <a:xfrm>
            <a:off x="776825" y="2447425"/>
            <a:ext cx="58500" cy="78225"/>
            <a:chOff x="776825" y="2447425"/>
            <a:chExt cx="58500" cy="78225"/>
          </a:xfrm>
        </p:grpSpPr>
        <p:cxnSp>
          <p:nvCxnSpPr>
            <p:cNvPr id="1665" name="Google Shape;1665;p113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6" name="Google Shape;1666;p113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14"/>
          <p:cNvSpPr txBox="1"/>
          <p:nvPr/>
        </p:nvSpPr>
        <p:spPr>
          <a:xfrm>
            <a:off x="324000" y="3077325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predicted range of temperatures may then be modified and improved using other data, such as measurements of current weather conditions in Oakfield and elsewhere.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2" name="Google Shape;1672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0"/>
            <a:ext cx="6257949" cy="217029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3" name="Google Shape;1673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680700"/>
            <a:ext cx="6257949" cy="21702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4" name="Google Shape;1674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675" name="Google Shape;1675;p114"/>
          <p:cNvSpPr txBox="1"/>
          <p:nvPr/>
        </p:nvSpPr>
        <p:spPr>
          <a:xfrm>
            <a:off x="6740775" y="680700"/>
            <a:ext cx="2079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the mean night-time temperature in November each year from 2009 to 2022 in Oakfield.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6" name="Google Shape;1676;p114"/>
          <p:cNvGrpSpPr/>
          <p:nvPr/>
        </p:nvGrpSpPr>
        <p:grpSpPr>
          <a:xfrm>
            <a:off x="776825" y="2447425"/>
            <a:ext cx="58500" cy="78225"/>
            <a:chOff x="776825" y="2447425"/>
            <a:chExt cx="58500" cy="78225"/>
          </a:xfrm>
        </p:grpSpPr>
        <p:cxnSp>
          <p:nvCxnSpPr>
            <p:cNvPr id="1677" name="Google Shape;1677;p114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8" name="Google Shape;1678;p114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79" name="Google Shape;1679;p114"/>
          <p:cNvGrpSpPr/>
          <p:nvPr/>
        </p:nvGrpSpPr>
        <p:grpSpPr>
          <a:xfrm>
            <a:off x="1142999" y="837032"/>
            <a:ext cx="5160183" cy="1533612"/>
            <a:chOff x="1142999" y="760832"/>
            <a:chExt cx="5160183" cy="1533612"/>
          </a:xfrm>
        </p:grpSpPr>
        <p:cxnSp>
          <p:nvCxnSpPr>
            <p:cNvPr id="1680" name="Google Shape;1680;p114"/>
            <p:cNvCxnSpPr/>
            <p:nvPr/>
          </p:nvCxnSpPr>
          <p:spPr>
            <a:xfrm flipH="1" rot="10800000">
              <a:off x="1143000" y="8865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1" name="Google Shape;1681;p114"/>
            <p:cNvCxnSpPr/>
            <p:nvPr/>
          </p:nvCxnSpPr>
          <p:spPr>
            <a:xfrm flipH="1" rot="10800000">
              <a:off x="1143000" y="1444800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82" name="Google Shape;1682;p114"/>
            <p:cNvGrpSpPr/>
            <p:nvPr/>
          </p:nvGrpSpPr>
          <p:grpSpPr>
            <a:xfrm>
              <a:off x="1142999" y="760832"/>
              <a:ext cx="5160183" cy="1533612"/>
              <a:chOff x="1142999" y="837032"/>
              <a:chExt cx="5160183" cy="1533612"/>
            </a:xfrm>
          </p:grpSpPr>
          <p:grpSp>
            <p:nvGrpSpPr>
              <p:cNvPr id="1683" name="Google Shape;1683;p114"/>
              <p:cNvGrpSpPr/>
              <p:nvPr/>
            </p:nvGrpSpPr>
            <p:grpSpPr>
              <a:xfrm>
                <a:off x="1143037" y="1395303"/>
                <a:ext cx="5160145" cy="975341"/>
                <a:chOff x="1143000" y="1521000"/>
                <a:chExt cx="4494900" cy="849600"/>
              </a:xfrm>
            </p:grpSpPr>
            <p:cxnSp>
              <p:nvCxnSpPr>
                <p:cNvPr id="1684" name="Google Shape;1684;p114"/>
                <p:cNvCxnSpPr/>
                <p:nvPr/>
              </p:nvCxnSpPr>
              <p:spPr>
                <a:xfrm flipH="1" rot="10800000">
                  <a:off x="1143000" y="1521000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5" name="Google Shape;1685;p114"/>
                <p:cNvCxnSpPr/>
                <p:nvPr/>
              </p:nvCxnSpPr>
              <p:spPr>
                <a:xfrm flipH="1" rot="10800000">
                  <a:off x="1143000" y="1521000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86" name="Google Shape;1686;p114"/>
              <p:cNvGrpSpPr/>
              <p:nvPr/>
            </p:nvGrpSpPr>
            <p:grpSpPr>
              <a:xfrm>
                <a:off x="1142999" y="837032"/>
                <a:ext cx="5160145" cy="975341"/>
                <a:chOff x="1143000" y="962774"/>
                <a:chExt cx="4494900" cy="849600"/>
              </a:xfrm>
            </p:grpSpPr>
            <p:cxnSp>
              <p:nvCxnSpPr>
                <p:cNvPr id="1687" name="Google Shape;1687;p114"/>
                <p:cNvCxnSpPr/>
                <p:nvPr/>
              </p:nvCxnSpPr>
              <p:spPr>
                <a:xfrm flipH="1" rot="10800000">
                  <a:off x="1143000" y="962774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8" name="Google Shape;1688;p114"/>
                <p:cNvCxnSpPr/>
                <p:nvPr/>
              </p:nvCxnSpPr>
              <p:spPr>
                <a:xfrm flipH="1" rot="10800000">
                  <a:off x="1143000" y="962774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689" name="Google Shape;1689;p114"/>
          <p:cNvSpPr txBox="1"/>
          <p:nvPr/>
        </p:nvSpPr>
        <p:spPr>
          <a:xfrm>
            <a:off x="324000" y="40644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current data is then analysed to see what influence it might have on the results extrapolated from historical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0" name="Google Shape;1690;p114"/>
          <p:cNvGrpSpPr/>
          <p:nvPr/>
        </p:nvGrpSpPr>
        <p:grpSpPr>
          <a:xfrm>
            <a:off x="1142999" y="989432"/>
            <a:ext cx="5160183" cy="1533612"/>
            <a:chOff x="1142999" y="760832"/>
            <a:chExt cx="5160183" cy="1533612"/>
          </a:xfrm>
        </p:grpSpPr>
        <p:cxnSp>
          <p:nvCxnSpPr>
            <p:cNvPr id="1691" name="Google Shape;1691;p114"/>
            <p:cNvCxnSpPr/>
            <p:nvPr/>
          </p:nvCxnSpPr>
          <p:spPr>
            <a:xfrm flipH="1" rot="10800000">
              <a:off x="1143000" y="8865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2" name="Google Shape;1692;p114"/>
            <p:cNvCxnSpPr/>
            <p:nvPr/>
          </p:nvCxnSpPr>
          <p:spPr>
            <a:xfrm flipH="1" rot="10800000">
              <a:off x="1143000" y="1444800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93" name="Google Shape;1693;p114"/>
            <p:cNvGrpSpPr/>
            <p:nvPr/>
          </p:nvGrpSpPr>
          <p:grpSpPr>
            <a:xfrm>
              <a:off x="1142999" y="760832"/>
              <a:ext cx="5160183" cy="1533612"/>
              <a:chOff x="1142999" y="837032"/>
              <a:chExt cx="5160183" cy="1533612"/>
            </a:xfrm>
          </p:grpSpPr>
          <p:grpSp>
            <p:nvGrpSpPr>
              <p:cNvPr id="1694" name="Google Shape;1694;p114"/>
              <p:cNvGrpSpPr/>
              <p:nvPr/>
            </p:nvGrpSpPr>
            <p:grpSpPr>
              <a:xfrm>
                <a:off x="1143037" y="1395303"/>
                <a:ext cx="5160145" cy="975341"/>
                <a:chOff x="1143000" y="1521000"/>
                <a:chExt cx="4494900" cy="849600"/>
              </a:xfrm>
            </p:grpSpPr>
            <p:cxnSp>
              <p:nvCxnSpPr>
                <p:cNvPr id="1695" name="Google Shape;1695;p114"/>
                <p:cNvCxnSpPr/>
                <p:nvPr/>
              </p:nvCxnSpPr>
              <p:spPr>
                <a:xfrm flipH="1" rot="10800000">
                  <a:off x="1143000" y="1521000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96" name="Google Shape;1696;p114"/>
                <p:cNvCxnSpPr/>
                <p:nvPr/>
              </p:nvCxnSpPr>
              <p:spPr>
                <a:xfrm flipH="1" rot="10800000">
                  <a:off x="1143000" y="1521000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97" name="Google Shape;1697;p114"/>
              <p:cNvGrpSpPr/>
              <p:nvPr/>
            </p:nvGrpSpPr>
            <p:grpSpPr>
              <a:xfrm>
                <a:off x="1142999" y="837032"/>
                <a:ext cx="5160145" cy="975341"/>
                <a:chOff x="1143000" y="962774"/>
                <a:chExt cx="4494900" cy="849600"/>
              </a:xfrm>
            </p:grpSpPr>
            <p:cxnSp>
              <p:nvCxnSpPr>
                <p:cNvPr id="1698" name="Google Shape;1698;p114"/>
                <p:cNvCxnSpPr/>
                <p:nvPr/>
              </p:nvCxnSpPr>
              <p:spPr>
                <a:xfrm flipH="1" rot="10800000">
                  <a:off x="1143000" y="962774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99" name="Google Shape;1699;p114"/>
                <p:cNvCxnSpPr/>
                <p:nvPr/>
              </p:nvCxnSpPr>
              <p:spPr>
                <a:xfrm flipH="1" rot="10800000">
                  <a:off x="1143000" y="962774"/>
                  <a:ext cx="4494900" cy="84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5"/>
                  </a:solidFill>
                  <a:prstDash val="lgDash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1700" name="Google Shape;1700;p114"/>
          <p:cNvGrpSpPr/>
          <p:nvPr/>
        </p:nvGrpSpPr>
        <p:grpSpPr>
          <a:xfrm>
            <a:off x="1142999" y="942106"/>
            <a:ext cx="5160038" cy="1304971"/>
            <a:chOff x="1142999" y="3199273"/>
            <a:chExt cx="5160038" cy="1304971"/>
          </a:xfrm>
        </p:grpSpPr>
        <p:cxnSp>
          <p:nvCxnSpPr>
            <p:cNvPr id="1701" name="Google Shape;1701;p114"/>
            <p:cNvCxnSpPr/>
            <p:nvPr/>
          </p:nvCxnSpPr>
          <p:spPr>
            <a:xfrm flipH="1" rot="10800000">
              <a:off x="1143000" y="3654600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2" name="Google Shape;1702;p114"/>
            <p:cNvCxnSpPr/>
            <p:nvPr/>
          </p:nvCxnSpPr>
          <p:spPr>
            <a:xfrm flipH="1" rot="10800000">
              <a:off x="1143000" y="3324974"/>
              <a:ext cx="4494900" cy="849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3" name="Google Shape;1703;p114"/>
            <p:cNvCxnSpPr/>
            <p:nvPr/>
          </p:nvCxnSpPr>
          <p:spPr>
            <a:xfrm flipH="1" rot="10800000">
              <a:off x="1143037" y="3528944"/>
              <a:ext cx="5160000" cy="975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1704" name="Google Shape;1704;p114"/>
            <p:cNvCxnSpPr/>
            <p:nvPr/>
          </p:nvCxnSpPr>
          <p:spPr>
            <a:xfrm flipH="1" rot="10800000">
              <a:off x="1142999" y="3199273"/>
              <a:ext cx="5160000" cy="975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lg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9" name="Google Shape;1709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1"/>
            <a:ext cx="5471376" cy="214015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0" name="Google Shape;1710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711" name="Google Shape;1711;p115"/>
          <p:cNvSpPr txBox="1"/>
          <p:nvPr/>
        </p:nvSpPr>
        <p:spPr>
          <a:xfrm>
            <a:off x="5936050" y="680700"/>
            <a:ext cx="28839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mean daily maximum temperature in April each year from 1957 to 2022 in Heathrow.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2" name="Google Shape;1712;p115"/>
          <p:cNvGrpSpPr/>
          <p:nvPr/>
        </p:nvGrpSpPr>
        <p:grpSpPr>
          <a:xfrm>
            <a:off x="734614" y="2490963"/>
            <a:ext cx="76799" cy="60476"/>
            <a:chOff x="776825" y="2447425"/>
            <a:chExt cx="58500" cy="78225"/>
          </a:xfrm>
        </p:grpSpPr>
        <p:cxnSp>
          <p:nvCxnSpPr>
            <p:cNvPr id="1713" name="Google Shape;1713;p115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4" name="Google Shape;1714;p115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15" name="Google Shape;1715;p115"/>
          <p:cNvGrpSpPr/>
          <p:nvPr/>
        </p:nvGrpSpPr>
        <p:grpSpPr>
          <a:xfrm>
            <a:off x="324000" y="2924925"/>
            <a:ext cx="8496000" cy="1866040"/>
            <a:chOff x="324000" y="2924925"/>
            <a:chExt cx="8496000" cy="1866040"/>
          </a:xfrm>
        </p:grpSpPr>
        <p:sp>
          <p:nvSpPr>
            <p:cNvPr id="1716" name="Google Shape;1716;p115"/>
            <p:cNvSpPr txBox="1"/>
            <p:nvPr/>
          </p:nvSpPr>
          <p:spPr>
            <a:xfrm>
              <a:off x="324000" y="2924925"/>
              <a:ext cx="8496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Which of these statements is correct about this data?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17" name="Google Shape;1717;p115"/>
            <p:cNvGrpSpPr/>
            <p:nvPr/>
          </p:nvGrpSpPr>
          <p:grpSpPr>
            <a:xfrm>
              <a:off x="734901" y="3258001"/>
              <a:ext cx="305364" cy="305364"/>
              <a:chOff x="1020916" y="1442088"/>
              <a:chExt cx="457200" cy="457200"/>
            </a:xfrm>
          </p:grpSpPr>
          <p:pic>
            <p:nvPicPr>
              <p:cNvPr id="1718" name="Google Shape;1718;p1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9" name="Google Shape;1719;p11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20" name="Google Shape;1720;p115"/>
            <p:cNvSpPr txBox="1"/>
            <p:nvPr/>
          </p:nvSpPr>
          <p:spPr>
            <a:xfrm>
              <a:off x="1103825" y="3272082"/>
              <a:ext cx="756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year, the temperature increases.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21" name="Google Shape;1721;p115"/>
            <p:cNvGrpSpPr/>
            <p:nvPr/>
          </p:nvGrpSpPr>
          <p:grpSpPr>
            <a:xfrm>
              <a:off x="734901" y="3667201"/>
              <a:ext cx="305364" cy="305364"/>
              <a:chOff x="1020916" y="1442088"/>
              <a:chExt cx="457200" cy="457200"/>
            </a:xfrm>
          </p:grpSpPr>
          <p:pic>
            <p:nvPicPr>
              <p:cNvPr id="1722" name="Google Shape;1722;p1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3" name="Google Shape;1723;p11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24" name="Google Shape;1724;p115"/>
            <p:cNvSpPr txBox="1"/>
            <p:nvPr/>
          </p:nvSpPr>
          <p:spPr>
            <a:xfrm>
              <a:off x="1103825" y="3681282"/>
              <a:ext cx="756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trend of the temperatures over time shows an increase.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25" name="Google Shape;1725;p115"/>
            <p:cNvGrpSpPr/>
            <p:nvPr/>
          </p:nvGrpSpPr>
          <p:grpSpPr>
            <a:xfrm>
              <a:off x="734901" y="4076401"/>
              <a:ext cx="305364" cy="305364"/>
              <a:chOff x="1020916" y="1442088"/>
              <a:chExt cx="457200" cy="457200"/>
            </a:xfrm>
          </p:grpSpPr>
          <p:pic>
            <p:nvPicPr>
              <p:cNvPr id="1726" name="Google Shape;1726;p1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7" name="Google Shape;1727;p11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28" name="Google Shape;1728;p115"/>
            <p:cNvSpPr txBox="1"/>
            <p:nvPr/>
          </p:nvSpPr>
          <p:spPr>
            <a:xfrm>
              <a:off x="1103825" y="4090482"/>
              <a:ext cx="756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There is no trend because the temperatures fluctuate each year.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29" name="Google Shape;1729;p115"/>
            <p:cNvGrpSpPr/>
            <p:nvPr/>
          </p:nvGrpSpPr>
          <p:grpSpPr>
            <a:xfrm>
              <a:off x="734901" y="4485601"/>
              <a:ext cx="305364" cy="305364"/>
              <a:chOff x="1020916" y="1442088"/>
              <a:chExt cx="457200" cy="457200"/>
            </a:xfrm>
          </p:grpSpPr>
          <p:pic>
            <p:nvPicPr>
              <p:cNvPr id="1730" name="Google Shape;1730;p1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" name="Google Shape;1731;p11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32" name="Google Shape;1732;p115"/>
            <p:cNvSpPr txBox="1"/>
            <p:nvPr/>
          </p:nvSpPr>
          <p:spPr>
            <a:xfrm>
              <a:off x="1103825" y="4499682"/>
              <a:ext cx="756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gradient of the trendline is positive.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3" name="Google Shape;1733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662" y="3640669"/>
            <a:ext cx="338700" cy="358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651" y="4459050"/>
            <a:ext cx="338700" cy="3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9" name="Google Shape;1739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1"/>
            <a:ext cx="5471376" cy="214015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0" name="Google Shape;1740;p1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741" name="Google Shape;1741;p116"/>
          <p:cNvSpPr txBox="1"/>
          <p:nvPr/>
        </p:nvSpPr>
        <p:spPr>
          <a:xfrm>
            <a:off x="5936050" y="680700"/>
            <a:ext cx="28839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mean daily maximum temperature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April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1957 to 2022 in Heathrow.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2" name="Google Shape;1742;p116"/>
          <p:cNvGrpSpPr/>
          <p:nvPr/>
        </p:nvGrpSpPr>
        <p:grpSpPr>
          <a:xfrm>
            <a:off x="734614" y="2490963"/>
            <a:ext cx="76799" cy="60476"/>
            <a:chOff x="776825" y="2447425"/>
            <a:chExt cx="58500" cy="78225"/>
          </a:xfrm>
        </p:grpSpPr>
        <p:cxnSp>
          <p:nvCxnSpPr>
            <p:cNvPr id="1743" name="Google Shape;1743;p116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4" name="Google Shape;1744;p116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745" name="Google Shape;1745;p116"/>
          <p:cNvCxnSpPr/>
          <p:nvPr/>
        </p:nvCxnSpPr>
        <p:spPr>
          <a:xfrm flipH="1" rot="10800000">
            <a:off x="833800" y="1473750"/>
            <a:ext cx="4897800" cy="576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dashDot"/>
            <a:round/>
            <a:headEnd len="med" w="med" type="none"/>
            <a:tailEnd len="med" w="med" type="none"/>
          </a:ln>
        </p:spPr>
      </p:cxnSp>
      <p:grpSp>
        <p:nvGrpSpPr>
          <p:cNvPr id="1746" name="Google Shape;1746;p116"/>
          <p:cNvGrpSpPr/>
          <p:nvPr/>
        </p:nvGrpSpPr>
        <p:grpSpPr>
          <a:xfrm>
            <a:off x="776513" y="1499732"/>
            <a:ext cx="4734377" cy="1063433"/>
            <a:chOff x="808525" y="1184650"/>
            <a:chExt cx="5148300" cy="1406100"/>
          </a:xfrm>
        </p:grpSpPr>
        <p:cxnSp>
          <p:nvCxnSpPr>
            <p:cNvPr id="1747" name="Google Shape;1747;p116"/>
            <p:cNvCxnSpPr/>
            <p:nvPr/>
          </p:nvCxnSpPr>
          <p:spPr>
            <a:xfrm>
              <a:off x="5956825" y="1184650"/>
              <a:ext cx="0" cy="14061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8" name="Google Shape;1748;p116"/>
            <p:cNvCxnSpPr/>
            <p:nvPr/>
          </p:nvCxnSpPr>
          <p:spPr>
            <a:xfrm rot="10800000">
              <a:off x="808525" y="1184650"/>
              <a:ext cx="5148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49" name="Google Shape;1749;p116"/>
          <p:cNvSpPr txBox="1"/>
          <p:nvPr/>
        </p:nvSpPr>
        <p:spPr>
          <a:xfrm>
            <a:off x="324000" y="29249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trendline is extended to extrapolate and predict temperatures in the future.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16"/>
          <p:cNvSpPr txBox="1"/>
          <p:nvPr/>
        </p:nvSpPr>
        <p:spPr>
          <a:xfrm>
            <a:off x="324000" y="35831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down an estimate for the predicted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daily maximum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temperature in April 2023.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16"/>
          <p:cNvSpPr txBox="1"/>
          <p:nvPr/>
        </p:nvSpPr>
        <p:spPr>
          <a:xfrm>
            <a:off x="1089550" y="4204625"/>
            <a:ext cx="10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15.8°C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6" name="Google Shape;1756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80701"/>
            <a:ext cx="5471376" cy="214015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7" name="Google Shape;1757;p1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758" name="Google Shape;1758;p117"/>
          <p:cNvSpPr txBox="1"/>
          <p:nvPr/>
        </p:nvSpPr>
        <p:spPr>
          <a:xfrm>
            <a:off x="5936050" y="680700"/>
            <a:ext cx="28839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mean daily maximum temperature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April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1957 to 2022 in Heathrow.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9" name="Google Shape;1759;p117"/>
          <p:cNvGrpSpPr/>
          <p:nvPr/>
        </p:nvGrpSpPr>
        <p:grpSpPr>
          <a:xfrm>
            <a:off x="734614" y="2490963"/>
            <a:ext cx="76799" cy="60476"/>
            <a:chOff x="776825" y="2447425"/>
            <a:chExt cx="58500" cy="78225"/>
          </a:xfrm>
        </p:grpSpPr>
        <p:cxnSp>
          <p:nvCxnSpPr>
            <p:cNvPr id="1760" name="Google Shape;1760;p117"/>
            <p:cNvCxnSpPr/>
            <p:nvPr/>
          </p:nvCxnSpPr>
          <p:spPr>
            <a:xfrm flipH="1">
              <a:off x="776825" y="2447425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1" name="Google Shape;1761;p117"/>
            <p:cNvCxnSpPr/>
            <p:nvPr/>
          </p:nvCxnSpPr>
          <p:spPr>
            <a:xfrm flipH="1">
              <a:off x="776825" y="2482150"/>
              <a:ext cx="58500" cy="4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762" name="Google Shape;1762;p117"/>
          <p:cNvCxnSpPr/>
          <p:nvPr/>
        </p:nvCxnSpPr>
        <p:spPr>
          <a:xfrm flipH="1" rot="10800000">
            <a:off x="833800" y="1473750"/>
            <a:ext cx="4897800" cy="576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763" name="Google Shape;1763;p117"/>
          <p:cNvSpPr txBox="1"/>
          <p:nvPr/>
        </p:nvSpPr>
        <p:spPr>
          <a:xfrm>
            <a:off x="324000" y="292492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correct about the extrapolated trendline?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17"/>
          <p:cNvSpPr txBox="1"/>
          <p:nvPr/>
        </p:nvSpPr>
        <p:spPr>
          <a:xfrm>
            <a:off x="1103825" y="3348275"/>
            <a:ext cx="698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trend in the data is always guaranteed to continue in exactly the same way as previously observed.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5" name="Google Shape;1765;p117"/>
          <p:cNvGrpSpPr/>
          <p:nvPr/>
        </p:nvGrpSpPr>
        <p:grpSpPr>
          <a:xfrm>
            <a:off x="734901" y="3334201"/>
            <a:ext cx="305364" cy="305364"/>
            <a:chOff x="1020916" y="1442088"/>
            <a:chExt cx="457200" cy="457200"/>
          </a:xfrm>
        </p:grpSpPr>
        <p:pic>
          <p:nvPicPr>
            <p:cNvPr id="1766" name="Google Shape;1766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7" name="Google Shape;1767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8" name="Google Shape;1768;p117"/>
          <p:cNvSpPr txBox="1"/>
          <p:nvPr/>
        </p:nvSpPr>
        <p:spPr>
          <a:xfrm>
            <a:off x="1103825" y="4090475"/>
            <a:ext cx="698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difficult to predict whether the trend of the data will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continue in the same way as previously observed.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9" name="Google Shape;1769;p117"/>
          <p:cNvGrpSpPr/>
          <p:nvPr/>
        </p:nvGrpSpPr>
        <p:grpSpPr>
          <a:xfrm>
            <a:off x="734901" y="4076401"/>
            <a:ext cx="305364" cy="305364"/>
            <a:chOff x="1020916" y="1442088"/>
            <a:chExt cx="457200" cy="457200"/>
          </a:xfrm>
        </p:grpSpPr>
        <p:pic>
          <p:nvPicPr>
            <p:cNvPr id="1770" name="Google Shape;1770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1" name="Google Shape;1771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72" name="Google Shape;1772;p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362" y="4049857"/>
            <a:ext cx="338700" cy="358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18"/>
          <p:cNvSpPr txBox="1"/>
          <p:nvPr/>
        </p:nvSpPr>
        <p:spPr>
          <a:xfrm>
            <a:off x="324000" y="2772525"/>
            <a:ext cx="8496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1a) Write a sentence explaining what the trendline is suggesting about the total amount of monthly rainfall each March.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Izzy says: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“The amount of rainfall in March 2022 is lower than in March 2021.                     This means the amount of rainfall in March 2023 will be even lower”.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Explain why Izzy’s assumption may not be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779" name="Google Shape;1779;p118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0" name="Google Shape;1780;p118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119"/>
          <p:cNvSpPr txBox="1"/>
          <p:nvPr/>
        </p:nvSpPr>
        <p:spPr>
          <a:xfrm>
            <a:off x="324000" y="2772525"/>
            <a:ext cx="84960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Extend the trendline beyond 2022.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Using your extended trendline, make a prediction for the total amount of rainfall in March 2024.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 Explain why your prediction in part d) may not be accurate.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Suggest a suitable range of likely predictions by considering a broader trend in the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1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787" name="Google Shape;1787;p119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8" name="Google Shape;1788;p119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2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794" name="Google Shape;1794;p120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5" name="Google Shape;1795;p120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796" name="Google Shape;1796;p120"/>
          <p:cNvGraphicFramePr/>
          <p:nvPr/>
        </p:nvGraphicFramePr>
        <p:xfrm>
          <a:off x="323988" y="2781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930450"/>
                <a:gridCol w="930450"/>
                <a:gridCol w="930450"/>
                <a:gridCol w="930450"/>
                <a:gridCol w="930450"/>
              </a:tblGrid>
              <a:tr h="11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</a:tr>
              <a:tr h="60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8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797" name="Google Shape;1797;p120"/>
          <p:cNvSpPr txBox="1"/>
          <p:nvPr/>
        </p:nvSpPr>
        <p:spPr>
          <a:xfrm>
            <a:off x="5118200" y="2781700"/>
            <a:ext cx="3701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If this was the weather forecast for March 2024 in Stornoway (based on weather conditions at the end of February 2024), explain how this might impact your prediction from part c).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8" name="Google Shape;1798;p120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325728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20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2326837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20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418773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20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1396375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120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465912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20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21"/>
          <p:cNvSpPr txBox="1"/>
          <p:nvPr/>
        </p:nvSpPr>
        <p:spPr>
          <a:xfrm>
            <a:off x="324000" y="27725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1a) Write a sentence explaining what the trendline is suggesting about the total amount of monthly rainfall each March.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12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810" name="Google Shape;1810;p121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1" name="Google Shape;1811;p121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2" name="Google Shape;1812;p121"/>
          <p:cNvSpPr txBox="1"/>
          <p:nvPr/>
        </p:nvSpPr>
        <p:spPr>
          <a:xfrm>
            <a:off x="822300" y="3418900"/>
            <a:ext cx="72501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trendline is suggesting that the amount of rainfall each March is increasing over long periods of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does not mean that the amount of rainfall each March will always be greater than the previous year.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22"/>
          <p:cNvSpPr txBox="1"/>
          <p:nvPr/>
        </p:nvSpPr>
        <p:spPr>
          <a:xfrm>
            <a:off x="324000" y="2772525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Izzy says: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“The amount of rainfall in March 2022 is lower than in March 2021.                     This means the amount of rainfall in March 2023 will be even lower”.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Explain why Izzy’s assumption may not be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2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819" name="Google Shape;1819;p122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22"/>
          <p:cNvSpPr txBox="1"/>
          <p:nvPr/>
        </p:nvSpPr>
        <p:spPr>
          <a:xfrm>
            <a:off x="822300" y="3896658"/>
            <a:ext cx="725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trendline is suggesting the opposite thing.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important to look at longer-term trends, rather than the fluctuations between only two consecutive years.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21" name="Google Shape;1821;p122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23"/>
          <p:cNvSpPr txBox="1"/>
          <p:nvPr/>
        </p:nvSpPr>
        <p:spPr>
          <a:xfrm>
            <a:off x="324000" y="2772525"/>
            <a:ext cx="84960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Extend the trendline beyond 2022.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Using your extended trendline, make a prediction for the total amount of rainfall in March 2024.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2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828" name="Google Shape;1828;p123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9" name="Google Shape;1829;p123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30" name="Google Shape;1830;p123"/>
          <p:cNvCxnSpPr/>
          <p:nvPr/>
        </p:nvCxnSpPr>
        <p:spPr>
          <a:xfrm flipH="1" rot="10800000">
            <a:off x="1056650" y="1389650"/>
            <a:ext cx="4902600" cy="498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31" name="Google Shape;1831;p123"/>
          <p:cNvGrpSpPr/>
          <p:nvPr/>
        </p:nvGrpSpPr>
        <p:grpSpPr>
          <a:xfrm>
            <a:off x="1013726" y="1457499"/>
            <a:ext cx="4373481" cy="953055"/>
            <a:chOff x="808525" y="1184650"/>
            <a:chExt cx="5148300" cy="1406100"/>
          </a:xfrm>
        </p:grpSpPr>
        <p:cxnSp>
          <p:nvCxnSpPr>
            <p:cNvPr id="1832" name="Google Shape;1832;p123"/>
            <p:cNvCxnSpPr/>
            <p:nvPr/>
          </p:nvCxnSpPr>
          <p:spPr>
            <a:xfrm>
              <a:off x="5956825" y="1184650"/>
              <a:ext cx="0" cy="14061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3" name="Google Shape;1833;p123"/>
            <p:cNvCxnSpPr/>
            <p:nvPr/>
          </p:nvCxnSpPr>
          <p:spPr>
            <a:xfrm rot="10800000">
              <a:off x="808525" y="1184650"/>
              <a:ext cx="5148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34" name="Google Shape;1834;p123"/>
          <p:cNvSpPr txBox="1"/>
          <p:nvPr/>
        </p:nvSpPr>
        <p:spPr>
          <a:xfrm>
            <a:off x="822300" y="3751112"/>
            <a:ext cx="725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prediction of approximately 120 mm.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24"/>
          <p:cNvSpPr txBox="1"/>
          <p:nvPr/>
        </p:nvSpPr>
        <p:spPr>
          <a:xfrm>
            <a:off x="324000" y="2772525"/>
            <a:ext cx="8496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 Explain why your prediction in part d) may not be accurate.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Suggest a suitable range of likely predictions by considering a broader trend in the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12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841" name="Google Shape;1841;p124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24"/>
          <p:cNvSpPr txBox="1"/>
          <p:nvPr/>
        </p:nvSpPr>
        <p:spPr>
          <a:xfrm>
            <a:off x="822300" y="3087477"/>
            <a:ext cx="7997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a lot of variation in March rainfall from year to year.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Future rainfall may not follow the same long-term trend as previous years.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43" name="Google Shape;1843;p124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44" name="Google Shape;1844;p124"/>
          <p:cNvCxnSpPr/>
          <p:nvPr/>
        </p:nvCxnSpPr>
        <p:spPr>
          <a:xfrm flipH="1" rot="10800000">
            <a:off x="1056650" y="1770650"/>
            <a:ext cx="4902600" cy="498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5" name="Google Shape;1845;p124"/>
          <p:cNvSpPr txBox="1"/>
          <p:nvPr/>
        </p:nvSpPr>
        <p:spPr>
          <a:xfrm>
            <a:off x="2597875" y="4456784"/>
            <a:ext cx="622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Approximately between 75 mm and 165 mm.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46" name="Google Shape;1846;p124"/>
          <p:cNvCxnSpPr/>
          <p:nvPr/>
        </p:nvCxnSpPr>
        <p:spPr>
          <a:xfrm flipH="1" rot="10800000">
            <a:off x="1056650" y="1008650"/>
            <a:ext cx="4902600" cy="498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1" name="Google Shape;1851;p125"/>
          <p:cNvGraphicFramePr/>
          <p:nvPr/>
        </p:nvGraphicFramePr>
        <p:xfrm>
          <a:off x="323988" y="2781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930450"/>
                <a:gridCol w="930450"/>
                <a:gridCol w="930450"/>
                <a:gridCol w="930450"/>
                <a:gridCol w="930450"/>
              </a:tblGrid>
              <a:tr h="11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</a:tr>
              <a:tr h="60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8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852" name="Google Shape;1852;p125"/>
          <p:cNvSpPr txBox="1"/>
          <p:nvPr/>
        </p:nvSpPr>
        <p:spPr>
          <a:xfrm>
            <a:off x="5118200" y="2781700"/>
            <a:ext cx="3701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If this was the weather forecast for March 2024 in Stornoway (based on weather conditions at the end of February 2024), explain how this might impact your prediction from part c).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2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854" name="Google Shape;1854;p125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5" name="Google Shape;1855;p125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6" name="Google Shape;1856;p12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325728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7" name="Google Shape;1857;p12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2326837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" name="Google Shape;1858;p12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418773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9" name="Google Shape;1859;p12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1396375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0" name="Google Shape;1860;p125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465912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861" name="Google Shape;1861;p125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6" name="Google Shape;1866;p126"/>
          <p:cNvGraphicFramePr/>
          <p:nvPr/>
        </p:nvGraphicFramePr>
        <p:xfrm>
          <a:off x="323988" y="2781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930450"/>
                <a:gridCol w="930450"/>
                <a:gridCol w="930450"/>
                <a:gridCol w="930450"/>
                <a:gridCol w="930450"/>
              </a:tblGrid>
              <a:tr h="11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</a:tr>
              <a:tr h="60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8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867" name="Google Shape;1867;p12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868" name="Google Shape;1868;p126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9" name="Google Shape;1869;p126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70" name="Google Shape;1870;p126"/>
          <p:cNvSpPr txBox="1"/>
          <p:nvPr/>
        </p:nvSpPr>
        <p:spPr>
          <a:xfrm>
            <a:off x="5118200" y="2781700"/>
            <a:ext cx="3701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weather report suggests that March 2024 will be a sunny month, with little significant rainfall. This may mean that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71" name="Google Shape;1871;p126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325728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2" name="Google Shape;1872;p126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2326837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3" name="Google Shape;1873;p126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418773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" name="Google Shape;1874;p126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1396375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875" name="Google Shape;1875;p126"/>
          <p:cNvSpPr txBox="1"/>
          <p:nvPr/>
        </p:nvSpPr>
        <p:spPr>
          <a:xfrm>
            <a:off x="324000" y="4013200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less rainfall than the trend suggests from previous Marches.              This means the prediction of 120 mm might be too high.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76" name="Google Shape;1876;p126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465912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877" name="Google Shape;1877;p126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27"/>
          <p:cNvSpPr txBox="1"/>
          <p:nvPr/>
        </p:nvSpPr>
        <p:spPr>
          <a:xfrm>
            <a:off x="5118200" y="2781700"/>
            <a:ext cx="3701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helpful to consider current weather data (such as weather conditions from the previous month) to modify and improve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predictions based on historical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83" name="Google Shape;1883;p127"/>
          <p:cNvGraphicFramePr/>
          <p:nvPr/>
        </p:nvGraphicFramePr>
        <p:xfrm>
          <a:off x="323988" y="2781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{230E664F-E486-404D-98F6-DB549EBCC218}</a:tableStyleId>
              </a:tblPr>
              <a:tblGrid>
                <a:gridCol w="930450"/>
                <a:gridCol w="930450"/>
                <a:gridCol w="930450"/>
                <a:gridCol w="930450"/>
                <a:gridCol w="930450"/>
              </a:tblGrid>
              <a:tr h="11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666666"/>
                    </a:solidFill>
                  </a:tcPr>
                </a:tc>
              </a:tr>
              <a:tr h="60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84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884" name="Google Shape;1884;p12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historical data to predict the weather</a:t>
            </a:r>
            <a:endParaRPr/>
          </a:p>
        </p:txBody>
      </p:sp>
      <p:sp>
        <p:nvSpPr>
          <p:cNvPr id="1885" name="Google Shape;1885;p127"/>
          <p:cNvSpPr txBox="1"/>
          <p:nvPr/>
        </p:nvSpPr>
        <p:spPr>
          <a:xfrm>
            <a:off x="6163775" y="680700"/>
            <a:ext cx="2656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graph shows data from the Met Office on the total monthly rainfall in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year from 1941 to 2022 in Stornoway.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6" name="Google Shape;1886;p127"/>
          <p:cNvPicPr preferRelativeResize="0"/>
          <p:nvPr/>
        </p:nvPicPr>
        <p:blipFill rotWithShape="1">
          <a:blip r:embed="rId3">
            <a:alphaModFix/>
          </a:blip>
          <a:srcRect b="0" l="2564" r="648" t="5935"/>
          <a:stretch/>
        </p:blipFill>
        <p:spPr>
          <a:xfrm>
            <a:off x="324000" y="667138"/>
            <a:ext cx="5693674" cy="20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7" name="Google Shape;1887;p127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325728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8" name="Google Shape;1888;p127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2326837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9" name="Google Shape;1889;p127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4187738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127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973" l="5045" r="74328" t="3471"/>
          <a:stretch/>
        </p:blipFill>
        <p:spPr>
          <a:xfrm>
            <a:off x="1396375" y="2977519"/>
            <a:ext cx="646436" cy="73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1" name="Google Shape;1891;p127" title="https://oaknationalacademy-res.cloudinary.com/image/upload/v1713776096/rrwsn7j1bwnvwyj4ecoh.jpg"/>
          <p:cNvPicPr preferRelativeResize="0"/>
          <p:nvPr/>
        </p:nvPicPr>
        <p:blipFill rotWithShape="1">
          <a:blip r:embed="rId4">
            <a:alphaModFix/>
          </a:blip>
          <a:srcRect b="72307" l="52026" r="27346" t="4138"/>
          <a:stretch/>
        </p:blipFill>
        <p:spPr>
          <a:xfrm>
            <a:off x="465912" y="2982091"/>
            <a:ext cx="646436" cy="73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892" name="Google Shape;1892;p127"/>
          <p:cNvSpPr txBox="1"/>
          <p:nvPr/>
        </p:nvSpPr>
        <p:spPr>
          <a:xfrm>
            <a:off x="281825" y="4733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Weather images: Raura7/ Shutterstock.com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28"/>
          <p:cNvSpPr txBox="1"/>
          <p:nvPr/>
        </p:nvSpPr>
        <p:spPr>
          <a:xfrm>
            <a:off x="324000" y="779155"/>
            <a:ext cx="8496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different types of rainfall, based on the different types of rain cloud. Each type of rainfall may produce different quantities of rain.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"chance of rainfall" is less than 100%, then there is a chance that rain will not fall at a certain location, even if rainfall is predicted.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does not mean that the model used to predict the rainfall is wrong.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Predictions about weather can be based on longer-term trends in historical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Predictions using historical data may not be accurate, as there is no guarantee future data will follow the trends of the past.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especially true if the historical data fluctuates significantly from year to year.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2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the weather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2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04" name="Google Shape;1904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