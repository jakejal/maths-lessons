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348A0A-2145-4278-8440-8A97FB3BBBDB}">
  <a:tblStyle styleId="{46348A0A-2145-4278-8440-8A97FB3BBB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e4cb27e37_0_2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0e4cb27e3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Predicting the weather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1" y="13350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Rainfall forecasting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76400" y="1829325"/>
            <a:ext cx="65613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report was published on Saturday, and shows the forecast for the next week.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87750" y="4528950"/>
            <a:ext cx="66240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Sofia says: “it is guaranteed to rain on Thursday because 90% is a larger number than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other percentages”. Explain why Sofia is incorrect.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Suggest one possible reason why Wednesday still has a chance of rain, even though it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is only predicted to be cloudy.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487748" y="3802300"/>
            <a:ext cx="6561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Match the following amounts of rainfall to the days they are most likely to occur.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" name="Google Shape;108;p12"/>
          <p:cNvGrpSpPr/>
          <p:nvPr/>
        </p:nvGrpSpPr>
        <p:grpSpPr>
          <a:xfrm>
            <a:off x="1330939" y="4099750"/>
            <a:ext cx="4193960" cy="277185"/>
            <a:chOff x="1776775" y="3945900"/>
            <a:chExt cx="4824525" cy="382800"/>
          </a:xfrm>
        </p:grpSpPr>
        <p:sp>
          <p:nvSpPr>
            <p:cNvPr id="109" name="Google Shape;109;p12"/>
            <p:cNvSpPr/>
            <p:nvPr/>
          </p:nvSpPr>
          <p:spPr>
            <a:xfrm flipH="1">
              <a:off x="1776775" y="3945900"/>
              <a:ext cx="1049400" cy="382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0.7 mm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flipH="1">
              <a:off x="3035150" y="3945900"/>
              <a:ext cx="1049400" cy="382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1.6 mm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" name="Google Shape;111;p12"/>
            <p:cNvSpPr/>
            <p:nvPr/>
          </p:nvSpPr>
          <p:spPr>
            <a:xfrm flipH="1">
              <a:off x="4293525" y="3945900"/>
              <a:ext cx="1049400" cy="382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 mm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" name="Google Shape;112;p12"/>
            <p:cNvSpPr/>
            <p:nvPr/>
          </p:nvSpPr>
          <p:spPr>
            <a:xfrm flipH="1">
              <a:off x="5551900" y="3945900"/>
              <a:ext cx="1049400" cy="382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8.5 mm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13" name="Google Shape;113;p12"/>
          <p:cNvGraphicFramePr/>
          <p:nvPr/>
        </p:nvGraphicFramePr>
        <p:xfrm>
          <a:off x="1238388" y="2177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{46348A0A-2145-4278-8440-8A97FB3BBBDB}</a:tableStyleId>
              </a:tblPr>
              <a:tblGrid>
                <a:gridCol w="1892150"/>
                <a:gridCol w="662100"/>
                <a:gridCol w="662100"/>
                <a:gridCol w="662100"/>
                <a:gridCol w="662100"/>
              </a:tblGrid>
              <a:tr h="24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Mon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Tue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Wed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Thu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2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Type of rainfall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36000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 of rainfall (mm)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chance of rainfall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90%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4" name="Google Shape;114;p12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0095" l="51690" r="27683" t="26350"/>
          <a:stretch/>
        </p:blipFill>
        <p:spPr>
          <a:xfrm>
            <a:off x="5185283" y="2510695"/>
            <a:ext cx="509322" cy="581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" name="Google Shape;115;p12"/>
          <p:cNvGrpSpPr/>
          <p:nvPr/>
        </p:nvGrpSpPr>
        <p:grpSpPr>
          <a:xfrm>
            <a:off x="3239691" y="2533717"/>
            <a:ext cx="509319" cy="460896"/>
            <a:chOff x="5353250" y="1378250"/>
            <a:chExt cx="646426" cy="584967"/>
          </a:xfrm>
        </p:grpSpPr>
        <p:pic>
          <p:nvPicPr>
            <p:cNvPr id="116" name="Google Shape;116;p12" title="https://oaknationalacademy-res.cloudinary.com/image/upload/v1713776096/rrwsn7j1bwnvwyj4ecoh.jpg"/>
            <p:cNvPicPr preferRelativeResize="0"/>
            <p:nvPr/>
          </p:nvPicPr>
          <p:blipFill rotWithShape="1">
            <a:blip r:embed="rId3">
              <a:alphaModFix/>
            </a:blip>
            <a:srcRect b="56017" l="51691" r="27682" t="26349"/>
            <a:stretch/>
          </p:blipFill>
          <p:spPr>
            <a:xfrm>
              <a:off x="5353250" y="1378250"/>
              <a:ext cx="646426" cy="5526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12"/>
            <p:cNvSpPr/>
            <p:nvPr/>
          </p:nvSpPr>
          <p:spPr>
            <a:xfrm rot="-2700000">
              <a:off x="5589413" y="1925407"/>
              <a:ext cx="30123" cy="3182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" name="Google Shape;118;p12"/>
            <p:cNvSpPr/>
            <p:nvPr/>
          </p:nvSpPr>
          <p:spPr>
            <a:xfrm rot="-2432349">
              <a:off x="5691829" y="1924240"/>
              <a:ext cx="30001" cy="3169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9" name="Google Shape;119;p12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3888220" y="2500698"/>
            <a:ext cx="509322" cy="581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2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49049" l="5088" r="74284" t="27396"/>
          <a:stretch/>
        </p:blipFill>
        <p:spPr>
          <a:xfrm>
            <a:off x="4536751" y="2530203"/>
            <a:ext cx="509322" cy="58164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2"/>
          <p:cNvSpPr txBox="1"/>
          <p:nvPr/>
        </p:nvSpPr>
        <p:spPr>
          <a:xfrm>
            <a:off x="487750" y="9972150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Predicting the weather</a:t>
            </a:r>
            <a:endParaRPr/>
          </a:p>
        </p:txBody>
      </p:sp>
      <p:graphicFrame>
        <p:nvGraphicFramePr>
          <p:cNvPr id="127" name="Google Shape;127;p13"/>
          <p:cNvGraphicFramePr/>
          <p:nvPr/>
        </p:nvGraphicFramePr>
        <p:xfrm>
          <a:off x="3981588" y="1186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{46348A0A-2145-4278-8440-8A97FB3BBBDB}</a:tableStyleId>
              </a:tblPr>
              <a:tblGrid>
                <a:gridCol w="1583300"/>
                <a:gridCol w="614575"/>
                <a:gridCol w="614575"/>
              </a:tblGrid>
              <a:tr h="24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Sat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2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Type of rainfall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36000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 of rainfall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chance of rainfall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73%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" name="Google Shape;128;p13"/>
          <p:cNvSpPr txBox="1"/>
          <p:nvPr/>
        </p:nvSpPr>
        <p:spPr>
          <a:xfrm>
            <a:off x="476400" y="838725"/>
            <a:ext cx="66156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This report shows the amount of rainfall predicted on Saturday and Sunday.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" name="Google Shape;129;p13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6204674" y="1448201"/>
            <a:ext cx="605030" cy="690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3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0095" l="51690" r="27683" t="26350"/>
          <a:stretch/>
        </p:blipFill>
        <p:spPr>
          <a:xfrm>
            <a:off x="5594575" y="1434629"/>
            <a:ext cx="605030" cy="69094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3"/>
          <p:cNvSpPr txBox="1"/>
          <p:nvPr/>
        </p:nvSpPr>
        <p:spPr>
          <a:xfrm>
            <a:off x="476400" y="1511500"/>
            <a:ext cx="330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On Saturday, how many litres of wate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predicted to fall for every square metre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land?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476400" y="2827893"/>
            <a:ext cx="46716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farmer has a field that is 1800 m² in area.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litres of rain will fall on this field on Saturday?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You can use the ratio table given to help.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476400" y="4009768"/>
            <a:ext cx="574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 farmer says: “3600 litres of rain will fall on my field on Sunday”.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this may not be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4" name="Google Shape;134;p13"/>
          <p:cNvGraphicFramePr/>
          <p:nvPr/>
        </p:nvGraphicFramePr>
        <p:xfrm>
          <a:off x="5147992" y="31683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{46348A0A-2145-4278-8440-8A97FB3BBBDB}</a:tableStyleId>
              </a:tblPr>
              <a:tblGrid>
                <a:gridCol w="918375"/>
                <a:gridCol w="941575"/>
              </a:tblGrid>
              <a:tr h="21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 (m²)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rainfall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21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" name="Google Shape;135;p13"/>
          <p:cNvSpPr txBox="1"/>
          <p:nvPr/>
        </p:nvSpPr>
        <p:spPr>
          <a:xfrm>
            <a:off x="476400" y="5512082"/>
            <a:ext cx="517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This graph shows 20 days where the chance of rainfall was 35%.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dot represents a day that either rained or didn’t rain.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" name="Google Shape;13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6618" y="6055393"/>
            <a:ext cx="3027324" cy="1055950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37" name="Google Shape;137;p13"/>
          <p:cNvGraphicFramePr/>
          <p:nvPr/>
        </p:nvGraphicFramePr>
        <p:xfrm>
          <a:off x="2099600" y="76108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{46348A0A-2145-4278-8440-8A97FB3BBBDB}</a:tableStyleId>
              </a:tblPr>
              <a:tblGrid>
                <a:gridCol w="2115300"/>
                <a:gridCol w="538400"/>
              </a:tblGrid>
              <a:tr h="32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 of days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 of days with rain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% of days with rain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13"/>
          <p:cNvSpPr txBox="1"/>
          <p:nvPr/>
        </p:nvSpPr>
        <p:spPr>
          <a:xfrm>
            <a:off x="459492" y="8831453"/>
            <a:ext cx="67242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What percentage of days for the first 10 days on the graph had rain?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Does this graph show: “fewer than”, “equal to”, or “greater than”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35% of days with rain?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476400" y="7352886"/>
            <a:ext cx="64602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Complete this table of information for the first 5 days on the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476400" y="6021307"/>
            <a:ext cx="29436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many of these 20 days would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we expect to have rain?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" name="Google Shape;141;p13"/>
          <p:cNvCxnSpPr/>
          <p:nvPr/>
        </p:nvCxnSpPr>
        <p:spPr>
          <a:xfrm>
            <a:off x="482701" y="995431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13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222222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2222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487750" y="9972150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49" name="Google Shape;149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Predicting the weather</a:t>
            </a:r>
            <a:endParaRPr/>
          </a:p>
        </p:txBody>
      </p:sp>
      <p:sp>
        <p:nvSpPr>
          <p:cNvPr id="150" name="Google Shape;150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</a:t>
            </a:r>
            <a:r>
              <a:rPr lang="en-GB"/>
              <a:t>Education</a:t>
            </a:r>
            <a:r>
              <a:rPr lang="en-GB"/>
              <a:t> and Industry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491525" y="496850"/>
            <a:ext cx="6600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historical data to predict the weather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491525" y="985500"/>
            <a:ext cx="6600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This graph shows data from the Met Office on the total monthly rainfall in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March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  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year from 1941 to 2022 in Stornoway.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4" name="Google Shape;154;p14"/>
          <p:cNvPicPr preferRelativeResize="0"/>
          <p:nvPr/>
        </p:nvPicPr>
        <p:blipFill rotWithShape="1">
          <a:blip r:embed="rId3">
            <a:alphaModFix/>
          </a:blip>
          <a:srcRect b="0" l="2564" r="648" t="5935"/>
          <a:stretch/>
        </p:blipFill>
        <p:spPr>
          <a:xfrm>
            <a:off x="662825" y="1469817"/>
            <a:ext cx="5148250" cy="16870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5" name="Google Shape;155;p14"/>
          <p:cNvSpPr txBox="1"/>
          <p:nvPr/>
        </p:nvSpPr>
        <p:spPr>
          <a:xfrm>
            <a:off x="476400" y="3305925"/>
            <a:ext cx="66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Write a sentence explaining what the trendline is suggesting about the total amount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of monthly rainfall each March.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476400" y="5896725"/>
            <a:ext cx="66006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Extend the trendline beyond 2022.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Using your extended trendline, make a prediction for the total amount of rainfall in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March 2024.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Explain why your prediction in part d) may not be accurate.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Suggest a suitable range of likely predictions by considering a broader trend in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data.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470000" y="8231921"/>
            <a:ext cx="66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If this was the weather forecast for March 2024 in Stornoway (based on weather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conditions at the end of February 2024), explain how this might impact your prediction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from part c).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8" name="Google Shape;158;p14"/>
          <p:cNvGraphicFramePr/>
          <p:nvPr/>
        </p:nvGraphicFramePr>
        <p:xfrm>
          <a:off x="659630" y="8898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{46348A0A-2145-4278-8440-8A97FB3BBBDB}</a:tableStyleId>
              </a:tblPr>
              <a:tblGrid>
                <a:gridCol w="648750"/>
                <a:gridCol w="648750"/>
                <a:gridCol w="648750"/>
                <a:gridCol w="648750"/>
                <a:gridCol w="648750"/>
              </a:tblGrid>
              <a:tr h="151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1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2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3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4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5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505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9" name="Google Shape;159;p14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973" l="5045" r="74328" t="3471"/>
          <a:stretch/>
        </p:blipFill>
        <p:spPr>
          <a:xfrm>
            <a:off x="2658783" y="9017842"/>
            <a:ext cx="550779" cy="628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4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307" l="52026" r="27346" t="4138"/>
          <a:stretch/>
        </p:blipFill>
        <p:spPr>
          <a:xfrm>
            <a:off x="2032589" y="9021737"/>
            <a:ext cx="550779" cy="628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4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973" l="5045" r="74328" t="3471"/>
          <a:stretch/>
        </p:blipFill>
        <p:spPr>
          <a:xfrm>
            <a:off x="3321156" y="9017842"/>
            <a:ext cx="550779" cy="628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4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973" l="5045" r="74328" t="3471"/>
          <a:stretch/>
        </p:blipFill>
        <p:spPr>
          <a:xfrm>
            <a:off x="1366373" y="9017842"/>
            <a:ext cx="550779" cy="628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4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307" l="52026" r="27346" t="4138"/>
          <a:stretch/>
        </p:blipFill>
        <p:spPr>
          <a:xfrm>
            <a:off x="756188" y="9021737"/>
            <a:ext cx="550779" cy="62898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4"/>
          <p:cNvSpPr txBox="1"/>
          <p:nvPr/>
        </p:nvSpPr>
        <p:spPr>
          <a:xfrm>
            <a:off x="476400" y="4372725"/>
            <a:ext cx="66006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Izzy says: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“The amount of rainfall in March 2022 is lower than in March 2021.                    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This means the amount of rainfall in March 2023 will be even lower”.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Explain why Izzy’s assumption may not be correct.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420000" y="9769500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