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7F42C7-1546-44EE-95DC-813C29A54575}">
  <a:tblStyle styleId="{DF7F42C7-1546-44EE-95DC-813C29A5457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0e427b7b05_0_48: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0e427b7b0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 name="Google Shape;11;p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 name="Google Shape;12;p2"/>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 name="Google Shape;13;p2"/>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14" name="Google Shape;14;p2"/>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5" name="Google Shape;15;p2"/>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6" name="Google Shape;16;p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17" name="Google Shape;17;p2"/>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18" name="Shape 18"/>
        <p:cNvGrpSpPr/>
        <p:nvPr/>
      </p:nvGrpSpPr>
      <p:grpSpPr>
        <a:xfrm>
          <a:off x="0" y="0"/>
          <a:ext cx="0" cy="0"/>
          <a:chOff x="0" y="0"/>
          <a:chExt cx="0" cy="0"/>
        </a:xfrm>
      </p:grpSpPr>
      <p:pic>
        <p:nvPicPr>
          <p:cNvPr id="19" name="Google Shape;19;p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0" name="Google Shape;20;p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21" name="Google Shape;21;p3"/>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2" name="Google Shape;22;p3"/>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23" name="Google Shape;23;p3"/>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24" name="Google Shape;24;p3"/>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25" name="Google Shape;25;p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26" name="Google Shape;26;p3"/>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27" name="Shape 27"/>
        <p:cNvGrpSpPr/>
        <p:nvPr/>
      </p:nvGrpSpPr>
      <p:grpSpPr>
        <a:xfrm>
          <a:off x="0" y="0"/>
          <a:ext cx="0" cy="0"/>
          <a:chOff x="0" y="0"/>
          <a:chExt cx="0" cy="0"/>
        </a:xfrm>
      </p:grpSpPr>
      <p:pic>
        <p:nvPicPr>
          <p:cNvPr id="28" name="Google Shape;28;p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9" name="Google Shape;29;p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0" name="Google Shape;30;p4"/>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1" name="Google Shape;31;p4"/>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2" name="Google Shape;32;p4"/>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33" name="Google Shape;33;p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34" name="Shape 34"/>
        <p:cNvGrpSpPr/>
        <p:nvPr/>
      </p:nvGrpSpPr>
      <p:grpSpPr>
        <a:xfrm>
          <a:off x="0" y="0"/>
          <a:ext cx="0" cy="0"/>
          <a:chOff x="0" y="0"/>
          <a:chExt cx="0" cy="0"/>
        </a:xfrm>
      </p:grpSpPr>
      <p:pic>
        <p:nvPicPr>
          <p:cNvPr id="35" name="Google Shape;35;p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36" name="Google Shape;36;p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7" name="Google Shape;37;p5"/>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8" name="Google Shape;38;p5"/>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9" name="Google Shape;39;p5"/>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40" name="Google Shape;40;p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41" name="Google Shape;41;p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42" name="Google Shape;42;p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43" name="Google Shape;43;p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44" name="Google Shape;44;p5"/>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45" name="Shape 45"/>
        <p:cNvGrpSpPr/>
        <p:nvPr/>
      </p:nvGrpSpPr>
      <p:grpSpPr>
        <a:xfrm>
          <a:off x="0" y="0"/>
          <a:ext cx="0" cy="0"/>
          <a:chOff x="0" y="0"/>
          <a:chExt cx="0" cy="0"/>
        </a:xfrm>
      </p:grpSpPr>
      <p:pic>
        <p:nvPicPr>
          <p:cNvPr id="46" name="Google Shape;46;p6"/>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47" name="Google Shape;47;p6"/>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48" name="Google Shape;48;p6"/>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49" name="Google Shape;49;p6"/>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50" name="Google Shape;50;p6"/>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51" name="Google Shape;51;p6"/>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52" name="Google Shape;52;p6"/>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53" name="Google Shape;53;p6"/>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54" name="Google Shape;54;p6"/>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55" name="Google Shape;55;p6"/>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56" name="Google Shape;56;p6"/>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7" name="Google Shape;57;p6"/>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0" name="Google Shape;60;p7"/>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1" name="Google Shape;61;p7"/>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2" name="Google Shape;62;p7"/>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63" name="Google Shape;63;p7"/>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64" name="Google Shape;64;p7"/>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65" name="Google Shape;65;p7"/>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66" name="Google Shape;66;p7"/>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67" name="Google Shape;67;p7"/>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68" name="Google Shape;68;p7"/>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69" name="Google Shape;69;p7"/>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70" name="Google Shape;70;p7"/>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71" name="Shape 71"/>
        <p:cNvGrpSpPr/>
        <p:nvPr/>
      </p:nvGrpSpPr>
      <p:grpSpPr>
        <a:xfrm>
          <a:off x="0" y="0"/>
          <a:ext cx="0" cy="0"/>
          <a:chOff x="0" y="0"/>
          <a:chExt cx="0" cy="0"/>
        </a:xfrm>
      </p:grpSpPr>
      <p:pic>
        <p:nvPicPr>
          <p:cNvPr id="72" name="Google Shape;72;p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73" name="Google Shape;73;p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8"/>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5" name="Google Shape;75;p8"/>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76" name="Google Shape;76;p8"/>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77" name="Google Shape;77;p8"/>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78" name="Google Shape;78;p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79" name="Google Shape;79;p8"/>
          <p:cNvPicPr preferRelativeResize="0"/>
          <p:nvPr/>
        </p:nvPicPr>
        <p:blipFill>
          <a:blip r:embed="rId5">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2" name="Google Shape;82;p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3" name="Google Shape;83;p9"/>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84" name="Google Shape;84;p9"/>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85" name="Google Shape;85;p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86" name="Google Shape;86;p9"/>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87" name="Shape 87"/>
        <p:cNvGrpSpPr/>
        <p:nvPr/>
      </p:nvGrpSpPr>
      <p:grpSpPr>
        <a:xfrm>
          <a:off x="0" y="0"/>
          <a:ext cx="0" cy="0"/>
          <a:chOff x="0" y="0"/>
          <a:chExt cx="0" cy="0"/>
        </a:xfrm>
      </p:grpSpPr>
      <p:pic>
        <p:nvPicPr>
          <p:cNvPr id="88" name="Google Shape;88;p10"/>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9" name="Google Shape;89;p10"/>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0" name="Google Shape;90;p10"/>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91" name="Google Shape;91;p10"/>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92" name="Google Shape;92;p10"/>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3" name="Google Shape;93;p10"/>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94" name="Google Shape;94;p10"/>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95" name="Google Shape;95;p10"/>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96" name="Google Shape;96;p10"/>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7" name="Google Shape;97;p10"/>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98" name="Shape 98"/>
        <p:cNvGrpSpPr/>
        <p:nvPr/>
      </p:nvGrpSpPr>
      <p:grpSpPr>
        <a:xfrm>
          <a:off x="0" y="0"/>
          <a:ext cx="0" cy="0"/>
          <a:chOff x="0" y="0"/>
          <a:chExt cx="0" cy="0"/>
        </a:xfrm>
      </p:grpSpPr>
      <p:pic>
        <p:nvPicPr>
          <p:cNvPr id="99" name="Google Shape;99;p11"/>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00" name="Google Shape;100;p11"/>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1" name="Google Shape;101;p11"/>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2" name="Google Shape;102;p11"/>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03" name="Google Shape;103;p11"/>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04" name="Google Shape;104;p11"/>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05" name="Google Shape;105;p11"/>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06" name="Google Shape;106;p11"/>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107" name="Google Shape;107;p11"/>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2023</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108" name="Google Shape;108;p11"/>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109" name="Google Shape;109;p11"/>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10" name="Google Shape;110;p11"/>
          <p:cNvPicPr preferRelativeResize="0"/>
          <p:nvPr/>
        </p:nvPicPr>
        <p:blipFill>
          <a:blip r:embed="rId7">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1"/>
              </a:buClr>
              <a:buSzPts val="1800"/>
              <a:buFont typeface="Lexend"/>
              <a:buChar char="●"/>
              <a:defRPr i="0" sz="1800" u="none" cap="none" strike="noStrike">
                <a:solidFill>
                  <a:schemeClr val="dk1"/>
                </a:solidFill>
                <a:latin typeface="Lexend"/>
                <a:ea typeface="Lexend"/>
                <a:cs typeface="Lexend"/>
                <a:sym typeface="Lexend"/>
              </a:defRPr>
            </a:lvl1pPr>
            <a:lvl2pPr indent="-317500" lvl="1" marL="914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2pPr>
            <a:lvl3pPr indent="-317500" lvl="2" marL="1371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3pPr>
            <a:lvl4pPr indent="-317500" lvl="3" marL="1828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4pPr>
            <a:lvl5pPr indent="-317500" lvl="4" marL="22860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5pPr>
            <a:lvl6pPr indent="-317500" lvl="5" marL="2743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6pPr>
            <a:lvl7pPr indent="-317500" lvl="6" marL="3200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7pPr>
            <a:lvl8pPr indent="-317500" lvl="7" marL="3657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8pPr>
            <a:lvl9pPr indent="-317500" lvl="8" marL="4114800" marR="0" rtl="0" algn="l">
              <a:lnSpc>
                <a:spcPct val="115000"/>
              </a:lnSpc>
              <a:spcBef>
                <a:spcPts val="0"/>
              </a:spcBef>
              <a:spcAft>
                <a:spcPts val="0"/>
              </a:spcAft>
              <a:buClr>
                <a:schemeClr val="dk1"/>
              </a:buClr>
              <a:buSzPts val="1400"/>
              <a:buFont typeface="Kalam"/>
              <a:buChar char="■"/>
              <a:defRPr i="0" sz="1400" u="none" cap="none" strike="noStrike">
                <a:solidFill>
                  <a:schemeClr val="dk1"/>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16" name="Google Shape;116;p12"/>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Predicting the weather</a:t>
            </a:r>
            <a:endParaRPr/>
          </a:p>
        </p:txBody>
      </p:sp>
      <p:sp>
        <p:nvSpPr>
          <p:cNvPr id="117" name="Google Shape;117;p12"/>
          <p:cNvSpPr txBox="1"/>
          <p:nvPr/>
        </p:nvSpPr>
        <p:spPr>
          <a:xfrm>
            <a:off x="468001" y="1335050"/>
            <a:ext cx="6194100" cy="2931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rgbClr val="000000"/>
                </a:solidFill>
                <a:latin typeface="Lexend"/>
                <a:ea typeface="Lexend"/>
                <a:cs typeface="Lexend"/>
                <a:sym typeface="Lexend"/>
              </a:rPr>
              <a:t>Task A: </a:t>
            </a:r>
            <a:r>
              <a:rPr b="1" lang="en-GB">
                <a:latin typeface="Lexend"/>
                <a:ea typeface="Lexend"/>
                <a:cs typeface="Lexend"/>
                <a:sym typeface="Lexend"/>
              </a:rPr>
              <a:t>Rainfall forecasting</a:t>
            </a:r>
            <a:endParaRPr b="1">
              <a:solidFill>
                <a:srgbClr val="000000"/>
              </a:solidFill>
              <a:latin typeface="Lexend"/>
              <a:ea typeface="Lexend"/>
              <a:cs typeface="Lexend"/>
              <a:sym typeface="Lexend"/>
            </a:endParaRPr>
          </a:p>
        </p:txBody>
      </p:sp>
      <p:sp>
        <p:nvSpPr>
          <p:cNvPr id="118" name="Google Shape;118;p12"/>
          <p:cNvSpPr txBox="1"/>
          <p:nvPr/>
        </p:nvSpPr>
        <p:spPr>
          <a:xfrm>
            <a:off x="476400" y="1829325"/>
            <a:ext cx="6561300" cy="18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1) This report was published on Saturday, and shows the forecast for the next week.</a:t>
            </a:r>
            <a:endParaRPr sz="1200">
              <a:latin typeface="Lexend"/>
              <a:ea typeface="Lexend"/>
              <a:cs typeface="Lexend"/>
              <a:sym typeface="Lexend"/>
            </a:endParaRPr>
          </a:p>
        </p:txBody>
      </p:sp>
      <p:graphicFrame>
        <p:nvGraphicFramePr>
          <p:cNvPr id="119" name="Google Shape;119;p12"/>
          <p:cNvGraphicFramePr/>
          <p:nvPr/>
        </p:nvGraphicFramePr>
        <p:xfrm>
          <a:off x="1238388" y="2177463"/>
          <a:ext cx="3000000" cy="3000000"/>
        </p:xfrm>
        <a:graphic>
          <a:graphicData uri="http://schemas.openxmlformats.org/drawingml/2006/table">
            <a:tbl>
              <a:tblPr>
                <a:noFill/>
                <a:tableStyleId>{DF7F42C7-1546-44EE-95DC-813C29A54575}</a:tableStyleId>
              </a:tblPr>
              <a:tblGrid>
                <a:gridCol w="1892150"/>
                <a:gridCol w="662100"/>
                <a:gridCol w="662100"/>
                <a:gridCol w="662100"/>
                <a:gridCol w="662100"/>
              </a:tblGrid>
              <a:tr h="249675">
                <a:tc>
                  <a:txBody>
                    <a:bodyPr/>
                    <a:lstStyle/>
                    <a:p>
                      <a:pPr indent="0" lvl="0" marL="0" rtl="0" algn="l">
                        <a:spcBef>
                          <a:spcPts val="0"/>
                        </a:spcBef>
                        <a:spcAft>
                          <a:spcPts val="0"/>
                        </a:spcAft>
                        <a:buNone/>
                      </a:pPr>
                      <a:r>
                        <a:t/>
                      </a:r>
                      <a:endParaRPr/>
                    </a:p>
                  </a:txBody>
                  <a:tcPr marT="91425" marB="91425" marR="91425" marL="91425">
                    <a:lnL cap="flat" cmpd="sng" w="9525">
                      <a:solidFill>
                        <a:srgbClr val="222222">
                          <a:alpha val="0"/>
                        </a:srgbClr>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Mon</a:t>
                      </a:r>
                      <a:endParaRPr sz="1200">
                        <a:solidFill>
                          <a:srgbClr val="FFFFFF"/>
                        </a:solidFill>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solidFill>
                      <a:srgbClr val="808080"/>
                    </a:solidFill>
                  </a:tcPr>
                </a:tc>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Tue</a:t>
                      </a:r>
                      <a:endParaRPr sz="1200">
                        <a:solidFill>
                          <a:srgbClr val="FFFFFF"/>
                        </a:solidFill>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solidFill>
                      <a:srgbClr val="808080"/>
                    </a:solidFill>
                  </a:tcPr>
                </a:tc>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Wed</a:t>
                      </a:r>
                      <a:endParaRPr sz="1200">
                        <a:solidFill>
                          <a:srgbClr val="FFFFFF"/>
                        </a:solidFill>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solidFill>
                      <a:srgbClr val="808080"/>
                    </a:solidFill>
                  </a:tcPr>
                </a:tc>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Thu</a:t>
                      </a:r>
                      <a:endParaRPr sz="1200">
                        <a:solidFill>
                          <a:srgbClr val="FFFFFF"/>
                        </a:solidFill>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solidFill>
                      <a:srgbClr val="808080"/>
                    </a:solidFill>
                  </a:tcPr>
                </a:tc>
              </a:tr>
              <a:tr h="520200">
                <a:tc>
                  <a:txBody>
                    <a:bodyPr/>
                    <a:lstStyle/>
                    <a:p>
                      <a:pPr indent="0" lvl="0" marL="0" rtl="0" algn="l">
                        <a:spcBef>
                          <a:spcPts val="0"/>
                        </a:spcBef>
                        <a:spcAft>
                          <a:spcPts val="0"/>
                        </a:spcAft>
                        <a:buNone/>
                      </a:pPr>
                      <a:r>
                        <a:rPr lang="en-GB" sz="1200">
                          <a:latin typeface="Lexend"/>
                          <a:ea typeface="Lexend"/>
                          <a:cs typeface="Lexend"/>
                          <a:sym typeface="Lexend"/>
                        </a:rPr>
                        <a:t>Type of rainfall</a:t>
                      </a:r>
                      <a:endParaRPr sz="1200">
                        <a:latin typeface="Lexend"/>
                        <a:ea typeface="Lexend"/>
                        <a:cs typeface="Lexend"/>
                        <a:sym typeface="Lexend"/>
                      </a:endParaRPr>
                    </a:p>
                  </a:txBody>
                  <a:tcPr marT="91425" marB="91425" marR="91425" marL="360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r>
              <a:tr h="252825">
                <a:tc>
                  <a:txBody>
                    <a:bodyPr/>
                    <a:lstStyle/>
                    <a:p>
                      <a:pPr indent="0" lvl="0" marL="0" rtl="0" algn="l">
                        <a:spcBef>
                          <a:spcPts val="0"/>
                        </a:spcBef>
                        <a:spcAft>
                          <a:spcPts val="0"/>
                        </a:spcAft>
                        <a:buNone/>
                      </a:pPr>
                      <a:r>
                        <a:rPr lang="en-GB" sz="1200">
                          <a:latin typeface="Lexend"/>
                          <a:ea typeface="Lexend"/>
                          <a:cs typeface="Lexend"/>
                          <a:sym typeface="Lexend"/>
                        </a:rPr>
                        <a:t>a</a:t>
                      </a:r>
                      <a:r>
                        <a:rPr lang="en-GB" sz="1200">
                          <a:latin typeface="Lexend"/>
                          <a:ea typeface="Lexend"/>
                          <a:cs typeface="Lexend"/>
                          <a:sym typeface="Lexend"/>
                        </a:rPr>
                        <a:t>mount of rainfall (mm)</a:t>
                      </a:r>
                      <a:endParaRPr sz="1200">
                        <a:latin typeface="Lexend"/>
                        <a:ea typeface="Lexend"/>
                        <a:cs typeface="Lexend"/>
                        <a:sym typeface="Lexend"/>
                      </a:endParaRPr>
                    </a:p>
                  </a:txBody>
                  <a:tcPr marT="0" marB="0" marR="0" marL="3600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5</a:t>
                      </a:r>
                      <a:endParaRPr sz="1200">
                        <a:latin typeface="Kalam"/>
                        <a:ea typeface="Kalam"/>
                        <a:cs typeface="Kalam"/>
                        <a:sym typeface="Kalam"/>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1.6</a:t>
                      </a:r>
                      <a:endParaRPr sz="1200">
                        <a:latin typeface="Kalam"/>
                        <a:ea typeface="Kalam"/>
                        <a:cs typeface="Kalam"/>
                        <a:sym typeface="Kalam"/>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0.7</a:t>
                      </a:r>
                      <a:endParaRPr sz="1200">
                        <a:latin typeface="Kalam"/>
                        <a:ea typeface="Kalam"/>
                        <a:cs typeface="Kalam"/>
                        <a:sym typeface="Kalam"/>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8.5</a:t>
                      </a:r>
                      <a:endParaRPr sz="1200">
                        <a:latin typeface="Kalam"/>
                        <a:ea typeface="Kalam"/>
                        <a:cs typeface="Kalam"/>
                        <a:sym typeface="Kalam"/>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r>
              <a:tr h="252825">
                <a:tc>
                  <a:txBody>
                    <a:bodyPr/>
                    <a:lstStyle/>
                    <a:p>
                      <a:pPr indent="0" lvl="0" marL="0" rtl="0" algn="l">
                        <a:spcBef>
                          <a:spcPts val="0"/>
                        </a:spcBef>
                        <a:spcAft>
                          <a:spcPts val="0"/>
                        </a:spcAft>
                        <a:buNone/>
                      </a:pPr>
                      <a:r>
                        <a:rPr lang="en-GB" sz="1200">
                          <a:latin typeface="Lexend"/>
                          <a:ea typeface="Lexend"/>
                          <a:cs typeface="Lexend"/>
                          <a:sym typeface="Lexend"/>
                        </a:rPr>
                        <a:t>chance of rainfall</a:t>
                      </a:r>
                      <a:endParaRPr sz="1200">
                        <a:latin typeface="Lexend"/>
                        <a:ea typeface="Lexend"/>
                        <a:cs typeface="Lexend"/>
                        <a:sym typeface="Lexend"/>
                      </a:endParaRPr>
                    </a:p>
                  </a:txBody>
                  <a:tcPr marT="0" marB="0" marR="0" marL="3600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40%</a:t>
                      </a:r>
                      <a:endParaRPr sz="1200">
                        <a:solidFill>
                          <a:srgbClr val="000000"/>
                        </a:solidFill>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15%</a:t>
                      </a:r>
                      <a:endParaRPr sz="1200">
                        <a:solidFill>
                          <a:srgbClr val="000000"/>
                        </a:solidFill>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90%</a:t>
                      </a:r>
                      <a:endParaRPr sz="1200">
                        <a:solidFill>
                          <a:srgbClr val="000000"/>
                        </a:solidFill>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r>
            </a:tbl>
          </a:graphicData>
        </a:graphic>
      </p:graphicFrame>
      <p:pic>
        <p:nvPicPr>
          <p:cNvPr id="120" name="Google Shape;120;p12" title="https://oaknationalacademy-res.cloudinary.com/image/upload/v1713776096/rrwsn7j1bwnvwyj4ecoh.jpg"/>
          <p:cNvPicPr preferRelativeResize="0"/>
          <p:nvPr/>
        </p:nvPicPr>
        <p:blipFill rotWithShape="1">
          <a:blip r:embed="rId3">
            <a:alphaModFix/>
          </a:blip>
          <a:srcRect b="50095" l="51690" r="27683" t="26350"/>
          <a:stretch/>
        </p:blipFill>
        <p:spPr>
          <a:xfrm>
            <a:off x="5185283" y="2510695"/>
            <a:ext cx="509322" cy="581642"/>
          </a:xfrm>
          <a:prstGeom prst="rect">
            <a:avLst/>
          </a:prstGeom>
          <a:noFill/>
          <a:ln>
            <a:noFill/>
          </a:ln>
        </p:spPr>
      </p:pic>
      <p:grpSp>
        <p:nvGrpSpPr>
          <p:cNvPr id="121" name="Google Shape;121;p12"/>
          <p:cNvGrpSpPr/>
          <p:nvPr/>
        </p:nvGrpSpPr>
        <p:grpSpPr>
          <a:xfrm>
            <a:off x="3239691" y="2533717"/>
            <a:ext cx="509319" cy="460896"/>
            <a:chOff x="5353250" y="1378250"/>
            <a:chExt cx="646426" cy="584967"/>
          </a:xfrm>
        </p:grpSpPr>
        <p:pic>
          <p:nvPicPr>
            <p:cNvPr id="122" name="Google Shape;122;p12" title="https://oaknationalacademy-res.cloudinary.com/image/upload/v1713776096/rrwsn7j1bwnvwyj4ecoh.jpg"/>
            <p:cNvPicPr preferRelativeResize="0"/>
            <p:nvPr/>
          </p:nvPicPr>
          <p:blipFill rotWithShape="1">
            <a:blip r:embed="rId3">
              <a:alphaModFix/>
            </a:blip>
            <a:srcRect b="56017" l="51691" r="27682" t="26349"/>
            <a:stretch/>
          </p:blipFill>
          <p:spPr>
            <a:xfrm>
              <a:off x="5353250" y="1378250"/>
              <a:ext cx="646426" cy="552627"/>
            </a:xfrm>
            <a:prstGeom prst="rect">
              <a:avLst/>
            </a:prstGeom>
            <a:noFill/>
            <a:ln>
              <a:noFill/>
            </a:ln>
          </p:spPr>
        </p:pic>
        <p:sp>
          <p:nvSpPr>
            <p:cNvPr id="123" name="Google Shape;123;p12"/>
            <p:cNvSpPr/>
            <p:nvPr/>
          </p:nvSpPr>
          <p:spPr>
            <a:xfrm rot="-2700000">
              <a:off x="5589413" y="1925407"/>
              <a:ext cx="30123" cy="3182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 name="Google Shape;124;p12"/>
            <p:cNvSpPr/>
            <p:nvPr/>
          </p:nvSpPr>
          <p:spPr>
            <a:xfrm rot="-2432349">
              <a:off x="5691829" y="1924240"/>
              <a:ext cx="30001" cy="31694"/>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25" name="Google Shape;125;p12" title="https://oaknationalacademy-res.cloudinary.com/image/upload/v1713776096/rrwsn7j1bwnvwyj4ecoh.jpg"/>
          <p:cNvPicPr preferRelativeResize="0"/>
          <p:nvPr/>
        </p:nvPicPr>
        <p:blipFill rotWithShape="1">
          <a:blip r:embed="rId3">
            <a:alphaModFix/>
          </a:blip>
          <a:srcRect b="51381" l="28615" r="50758" t="25064"/>
          <a:stretch/>
        </p:blipFill>
        <p:spPr>
          <a:xfrm>
            <a:off x="3888220" y="2500698"/>
            <a:ext cx="509322" cy="581642"/>
          </a:xfrm>
          <a:prstGeom prst="rect">
            <a:avLst/>
          </a:prstGeom>
          <a:noFill/>
          <a:ln>
            <a:noFill/>
          </a:ln>
        </p:spPr>
      </p:pic>
      <p:pic>
        <p:nvPicPr>
          <p:cNvPr id="126" name="Google Shape;126;p12" title="https://oaknationalacademy-res.cloudinary.com/image/upload/v1713776096/rrwsn7j1bwnvwyj4ecoh.jpg"/>
          <p:cNvPicPr preferRelativeResize="0"/>
          <p:nvPr/>
        </p:nvPicPr>
        <p:blipFill rotWithShape="1">
          <a:blip r:embed="rId3">
            <a:alphaModFix/>
          </a:blip>
          <a:srcRect b="49049" l="5088" r="74284" t="27396"/>
          <a:stretch/>
        </p:blipFill>
        <p:spPr>
          <a:xfrm>
            <a:off x="4536751" y="2530203"/>
            <a:ext cx="509322" cy="581642"/>
          </a:xfrm>
          <a:prstGeom prst="rect">
            <a:avLst/>
          </a:prstGeom>
          <a:noFill/>
          <a:ln>
            <a:noFill/>
          </a:ln>
        </p:spPr>
      </p:pic>
      <p:sp>
        <p:nvSpPr>
          <p:cNvPr id="127" name="Google Shape;127;p12"/>
          <p:cNvSpPr txBox="1"/>
          <p:nvPr/>
        </p:nvSpPr>
        <p:spPr>
          <a:xfrm>
            <a:off x="487750" y="4528950"/>
            <a:ext cx="6624000" cy="100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b) Sofia says: “it is guaranteed to rain on Thursday because 90% is a larger number than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the other percentages”. Explain why Sofia is incorrect.</a:t>
            </a:r>
            <a:endParaRPr sz="1200">
              <a:solidFill>
                <a:srgbClr val="000000"/>
              </a:solidFill>
              <a:latin typeface="Lexend"/>
              <a:ea typeface="Lexend"/>
              <a:cs typeface="Lexend"/>
              <a:sym typeface="Lexend"/>
            </a:endParaRPr>
          </a:p>
          <a:p>
            <a:pPr indent="0" lvl="0" marL="0" rtl="0" algn="l">
              <a:spcBef>
                <a:spcPts val="1000"/>
              </a:spcBef>
              <a:spcAft>
                <a:spcPts val="0"/>
              </a:spcAft>
              <a:buNone/>
            </a:pPr>
            <a:r>
              <a:t/>
            </a:r>
            <a:endParaRPr sz="1200">
              <a:latin typeface="Lexend"/>
              <a:ea typeface="Lexend"/>
              <a:cs typeface="Lexend"/>
              <a:sym typeface="Lexend"/>
            </a:endParaRPr>
          </a:p>
          <a:p>
            <a:pPr indent="0" lvl="0" marL="0" rtl="0" algn="l">
              <a:spcBef>
                <a:spcPts val="1000"/>
              </a:spcBef>
              <a:spcAft>
                <a:spcPts val="0"/>
              </a:spcAft>
              <a:buNone/>
            </a:pPr>
            <a:r>
              <a:t/>
            </a:r>
            <a:endParaRPr sz="1200">
              <a:latin typeface="Lexend"/>
              <a:ea typeface="Lexend"/>
              <a:cs typeface="Lexend"/>
              <a:sym typeface="Lexend"/>
            </a:endParaRPr>
          </a:p>
          <a:p>
            <a:pPr indent="0" lvl="0" marL="0" rtl="0" algn="l">
              <a:spcBef>
                <a:spcPts val="1000"/>
              </a:spcBef>
              <a:spcAft>
                <a:spcPts val="0"/>
              </a:spcAft>
              <a:buNone/>
            </a:pPr>
            <a:r>
              <a:t/>
            </a:r>
            <a:endParaRPr sz="1200">
              <a:latin typeface="Lexend"/>
              <a:ea typeface="Lexend"/>
              <a:cs typeface="Lexend"/>
              <a:sym typeface="Lexend"/>
            </a:endParaRPr>
          </a:p>
          <a:p>
            <a:pPr indent="0" lvl="0" marL="0" rtl="0" algn="l">
              <a:spcBef>
                <a:spcPts val="1000"/>
              </a:spcBef>
              <a:spcAft>
                <a:spcPts val="1000"/>
              </a:spcAft>
              <a:buNone/>
            </a:pPr>
            <a:r>
              <a:rPr lang="en-GB" sz="1200">
                <a:solidFill>
                  <a:srgbClr val="000000"/>
                </a:solidFill>
                <a:latin typeface="Lexend"/>
                <a:ea typeface="Lexend"/>
                <a:cs typeface="Lexend"/>
                <a:sym typeface="Lexend"/>
              </a:rPr>
              <a:t>c) Suggest one possible reason why Wednesday still has a chance of rain, even though it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is only predicted to be cloudy.</a:t>
            </a:r>
            <a:endParaRPr sz="1200">
              <a:solidFill>
                <a:srgbClr val="000000"/>
              </a:solidFill>
              <a:latin typeface="Lexend"/>
              <a:ea typeface="Lexend"/>
              <a:cs typeface="Lexend"/>
              <a:sym typeface="Lexend"/>
            </a:endParaRPr>
          </a:p>
        </p:txBody>
      </p:sp>
      <p:sp>
        <p:nvSpPr>
          <p:cNvPr id="128" name="Google Shape;128;p12"/>
          <p:cNvSpPr txBox="1"/>
          <p:nvPr/>
        </p:nvSpPr>
        <p:spPr>
          <a:xfrm>
            <a:off x="487748" y="3802300"/>
            <a:ext cx="65613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a) Match the following amounts of rainfall to the days they are most likely to occur.</a:t>
            </a:r>
            <a:endParaRPr sz="1200">
              <a:latin typeface="Lexend"/>
              <a:ea typeface="Lexend"/>
              <a:cs typeface="Lexend"/>
              <a:sym typeface="Lexend"/>
            </a:endParaRPr>
          </a:p>
        </p:txBody>
      </p:sp>
      <p:grpSp>
        <p:nvGrpSpPr>
          <p:cNvPr id="129" name="Google Shape;129;p12"/>
          <p:cNvGrpSpPr/>
          <p:nvPr/>
        </p:nvGrpSpPr>
        <p:grpSpPr>
          <a:xfrm>
            <a:off x="1330939" y="4099750"/>
            <a:ext cx="4193960" cy="277185"/>
            <a:chOff x="1776775" y="3945900"/>
            <a:chExt cx="4824525" cy="382800"/>
          </a:xfrm>
        </p:grpSpPr>
        <p:sp>
          <p:nvSpPr>
            <p:cNvPr id="130" name="Google Shape;130;p12"/>
            <p:cNvSpPr/>
            <p:nvPr/>
          </p:nvSpPr>
          <p:spPr>
            <a:xfrm flipH="1">
              <a:off x="1776775" y="3945900"/>
              <a:ext cx="1049400" cy="382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0.7 mm</a:t>
              </a:r>
              <a:endParaRPr sz="1200">
                <a:latin typeface="Lexend"/>
                <a:ea typeface="Lexend"/>
                <a:cs typeface="Lexend"/>
                <a:sym typeface="Lexend"/>
              </a:endParaRPr>
            </a:p>
          </p:txBody>
        </p:sp>
        <p:sp>
          <p:nvSpPr>
            <p:cNvPr id="131" name="Google Shape;131;p12"/>
            <p:cNvSpPr/>
            <p:nvPr/>
          </p:nvSpPr>
          <p:spPr>
            <a:xfrm flipH="1">
              <a:off x="3035150" y="3945900"/>
              <a:ext cx="1049400" cy="382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1.6 mm</a:t>
              </a:r>
              <a:endParaRPr sz="1200">
                <a:latin typeface="Lexend"/>
                <a:ea typeface="Lexend"/>
                <a:cs typeface="Lexend"/>
                <a:sym typeface="Lexend"/>
              </a:endParaRPr>
            </a:p>
          </p:txBody>
        </p:sp>
        <p:sp>
          <p:nvSpPr>
            <p:cNvPr id="132" name="Google Shape;132;p12"/>
            <p:cNvSpPr/>
            <p:nvPr/>
          </p:nvSpPr>
          <p:spPr>
            <a:xfrm flipH="1">
              <a:off x="4293525" y="3945900"/>
              <a:ext cx="1049400" cy="382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5 mm</a:t>
              </a:r>
              <a:endParaRPr sz="1200">
                <a:latin typeface="Lexend"/>
                <a:ea typeface="Lexend"/>
                <a:cs typeface="Lexend"/>
                <a:sym typeface="Lexend"/>
              </a:endParaRPr>
            </a:p>
          </p:txBody>
        </p:sp>
        <p:sp>
          <p:nvSpPr>
            <p:cNvPr id="133" name="Google Shape;133;p12"/>
            <p:cNvSpPr/>
            <p:nvPr/>
          </p:nvSpPr>
          <p:spPr>
            <a:xfrm flipH="1">
              <a:off x="5551900" y="3945900"/>
              <a:ext cx="1049400" cy="382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8.5 mm</a:t>
              </a:r>
              <a:endParaRPr sz="1200">
                <a:latin typeface="Lexend"/>
                <a:ea typeface="Lexend"/>
                <a:cs typeface="Lexend"/>
                <a:sym typeface="Lexend"/>
              </a:endParaRPr>
            </a:p>
          </p:txBody>
        </p:sp>
      </p:grpSp>
      <p:sp>
        <p:nvSpPr>
          <p:cNvPr id="134" name="Google Shape;134;p12"/>
          <p:cNvSpPr txBox="1"/>
          <p:nvPr/>
        </p:nvSpPr>
        <p:spPr>
          <a:xfrm>
            <a:off x="683525" y="4976950"/>
            <a:ext cx="6428100" cy="95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The weather prediction for any one day may not always be correct (even if the model used to predict the weather is accurate).</a:t>
            </a:r>
            <a:endParaRPr sz="1200">
              <a:solidFill>
                <a:srgbClr val="000000"/>
              </a:solidFill>
              <a:latin typeface="Kalam"/>
              <a:ea typeface="Kalam"/>
              <a:cs typeface="Kalam"/>
              <a:sym typeface="Kalam"/>
            </a:endParaRPr>
          </a:p>
          <a:p>
            <a:pPr indent="0" lvl="0" marL="0" rtl="0" algn="l">
              <a:spcBef>
                <a:spcPts val="1000"/>
              </a:spcBef>
              <a:spcAft>
                <a:spcPts val="1000"/>
              </a:spcAft>
              <a:buNone/>
            </a:pPr>
            <a:r>
              <a:rPr lang="en-GB" sz="1200">
                <a:solidFill>
                  <a:srgbClr val="000000"/>
                </a:solidFill>
                <a:latin typeface="Kalam"/>
                <a:ea typeface="Kalam"/>
                <a:cs typeface="Kalam"/>
                <a:sym typeface="Kalam"/>
              </a:rPr>
              <a:t>Also, a 90% chance does not mean rain is guaranteed, only very likely. On 1 in every 10 days with a 90% chance of rain, it is expected that it will not rain.</a:t>
            </a:r>
            <a:endParaRPr sz="1200">
              <a:solidFill>
                <a:srgbClr val="000000"/>
              </a:solidFill>
              <a:latin typeface="Kalam"/>
              <a:ea typeface="Kalam"/>
              <a:cs typeface="Kalam"/>
              <a:sym typeface="Kalam"/>
            </a:endParaRPr>
          </a:p>
        </p:txBody>
      </p:sp>
      <p:sp>
        <p:nvSpPr>
          <p:cNvPr id="135" name="Google Shape;135;p12"/>
          <p:cNvSpPr txBox="1"/>
          <p:nvPr/>
        </p:nvSpPr>
        <p:spPr>
          <a:xfrm>
            <a:off x="649500" y="6444250"/>
            <a:ext cx="6388200" cy="95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It may be hard to predict whether the group of clouds that are modelled to form will be rain clouds (resulting in showers) or clouds that won’t produce rain.</a:t>
            </a:r>
            <a:endParaRPr sz="1200">
              <a:solidFill>
                <a:srgbClr val="000000"/>
              </a:solidFill>
              <a:latin typeface="Kalam"/>
              <a:ea typeface="Kalam"/>
              <a:cs typeface="Kalam"/>
              <a:sym typeface="Kalam"/>
            </a:endParaRPr>
          </a:p>
          <a:p>
            <a:pPr indent="0" lvl="0" marL="0" rtl="0" algn="l">
              <a:spcBef>
                <a:spcPts val="1000"/>
              </a:spcBef>
              <a:spcAft>
                <a:spcPts val="1000"/>
              </a:spcAft>
              <a:buNone/>
            </a:pPr>
            <a:r>
              <a:rPr lang="en-GB" sz="1200">
                <a:solidFill>
                  <a:srgbClr val="000000"/>
                </a:solidFill>
                <a:latin typeface="Kalam"/>
                <a:ea typeface="Kalam"/>
                <a:cs typeface="Kalam"/>
                <a:sym typeface="Kalam"/>
              </a:rPr>
              <a:t>This is especially true since a lot of contributing factors could change between Saturday (the time the forecast was made) and Wednesday.</a:t>
            </a:r>
            <a:endParaRPr sz="1200">
              <a:solidFill>
                <a:srgbClr val="000000"/>
              </a:solidFill>
              <a:latin typeface="Kalam"/>
              <a:ea typeface="Kalam"/>
              <a:cs typeface="Kalam"/>
              <a:sym typeface="Kalam"/>
            </a:endParaRPr>
          </a:p>
        </p:txBody>
      </p:sp>
      <p:sp>
        <p:nvSpPr>
          <p:cNvPr id="136" name="Google Shape;136;p12"/>
          <p:cNvSpPr txBox="1"/>
          <p:nvPr/>
        </p:nvSpPr>
        <p:spPr>
          <a:xfrm>
            <a:off x="487750" y="9972150"/>
            <a:ext cx="3000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600">
                <a:solidFill>
                  <a:srgbClr val="808080"/>
                </a:solidFill>
                <a:latin typeface="Lexend"/>
                <a:ea typeface="Lexend"/>
                <a:cs typeface="Lexend"/>
                <a:sym typeface="Lexend"/>
              </a:rPr>
              <a:t>Weather images: Raura7/ Shutterstock.com</a:t>
            </a:r>
            <a:endParaRPr sz="600">
              <a:solidFill>
                <a:srgbClr val="808080"/>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3"/>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Predicting the weather</a:t>
            </a:r>
            <a:endParaRPr/>
          </a:p>
        </p:txBody>
      </p:sp>
      <p:graphicFrame>
        <p:nvGraphicFramePr>
          <p:cNvPr id="142" name="Google Shape;142;p13"/>
          <p:cNvGraphicFramePr/>
          <p:nvPr/>
        </p:nvGraphicFramePr>
        <p:xfrm>
          <a:off x="3981588" y="1186863"/>
          <a:ext cx="3000000" cy="3000000"/>
        </p:xfrm>
        <a:graphic>
          <a:graphicData uri="http://schemas.openxmlformats.org/drawingml/2006/table">
            <a:tbl>
              <a:tblPr>
                <a:noFill/>
                <a:tableStyleId>{DF7F42C7-1546-44EE-95DC-813C29A54575}</a:tableStyleId>
              </a:tblPr>
              <a:tblGrid>
                <a:gridCol w="1583300"/>
                <a:gridCol w="614575"/>
                <a:gridCol w="614575"/>
              </a:tblGrid>
              <a:tr h="249675">
                <a:tc>
                  <a:txBody>
                    <a:bodyPr/>
                    <a:lstStyle/>
                    <a:p>
                      <a:pPr indent="0" lvl="0" marL="0" rtl="0" algn="l">
                        <a:spcBef>
                          <a:spcPts val="0"/>
                        </a:spcBef>
                        <a:spcAft>
                          <a:spcPts val="0"/>
                        </a:spcAft>
                        <a:buNone/>
                      </a:pPr>
                      <a:r>
                        <a:t/>
                      </a:r>
                      <a:endParaRPr/>
                    </a:p>
                  </a:txBody>
                  <a:tcPr marT="91425" marB="91425" marR="91425" marL="91425">
                    <a:lnL cap="flat" cmpd="sng" w="9525">
                      <a:solidFill>
                        <a:srgbClr val="222222">
                          <a:alpha val="0"/>
                        </a:srgbClr>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Sat</a:t>
                      </a:r>
                      <a:endParaRPr sz="1200">
                        <a:solidFill>
                          <a:srgbClr val="FFFFFF"/>
                        </a:solidFill>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solidFill>
                      <a:srgbClr val="808080"/>
                    </a:solidFill>
                  </a:tcPr>
                </a:tc>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Sun</a:t>
                      </a:r>
                      <a:endParaRPr sz="1200">
                        <a:solidFill>
                          <a:srgbClr val="FFFFFF"/>
                        </a:solidFill>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solidFill>
                      <a:srgbClr val="808080"/>
                    </a:solidFill>
                  </a:tcPr>
                </a:tc>
              </a:tr>
              <a:tr h="520200">
                <a:tc>
                  <a:txBody>
                    <a:bodyPr/>
                    <a:lstStyle/>
                    <a:p>
                      <a:pPr indent="0" lvl="0" marL="0" rtl="0" algn="l">
                        <a:spcBef>
                          <a:spcPts val="0"/>
                        </a:spcBef>
                        <a:spcAft>
                          <a:spcPts val="0"/>
                        </a:spcAft>
                        <a:buNone/>
                      </a:pPr>
                      <a:r>
                        <a:rPr lang="en-GB" sz="1200">
                          <a:latin typeface="Lexend"/>
                          <a:ea typeface="Lexend"/>
                          <a:cs typeface="Lexend"/>
                          <a:sym typeface="Lexend"/>
                        </a:rPr>
                        <a:t>Type of rainfall</a:t>
                      </a:r>
                      <a:endParaRPr sz="1200">
                        <a:latin typeface="Lexend"/>
                        <a:ea typeface="Lexend"/>
                        <a:cs typeface="Lexend"/>
                        <a:sym typeface="Lexend"/>
                      </a:endParaRPr>
                    </a:p>
                  </a:txBody>
                  <a:tcPr marT="91425" marB="91425" marR="91425" marL="360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r>
              <a:tr h="252825">
                <a:tc>
                  <a:txBody>
                    <a:bodyPr/>
                    <a:lstStyle/>
                    <a:p>
                      <a:pPr indent="0" lvl="0" marL="0" rtl="0" algn="l">
                        <a:spcBef>
                          <a:spcPts val="0"/>
                        </a:spcBef>
                        <a:spcAft>
                          <a:spcPts val="0"/>
                        </a:spcAft>
                        <a:buNone/>
                      </a:pPr>
                      <a:r>
                        <a:rPr lang="en-GB" sz="1200">
                          <a:latin typeface="Lexend"/>
                          <a:ea typeface="Lexend"/>
                          <a:cs typeface="Lexend"/>
                          <a:sym typeface="Lexend"/>
                        </a:rPr>
                        <a:t>amount of rainfall</a:t>
                      </a:r>
                      <a:endParaRPr sz="1200">
                        <a:latin typeface="Lexend"/>
                        <a:ea typeface="Lexend"/>
                        <a:cs typeface="Lexend"/>
                        <a:sym typeface="Lexend"/>
                      </a:endParaRPr>
                    </a:p>
                  </a:txBody>
                  <a:tcPr marT="0" marB="0" marR="0" marL="3600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15°C</a:t>
                      </a:r>
                      <a:endParaRPr sz="1200">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r>
              <a:tr h="252825">
                <a:tc>
                  <a:txBody>
                    <a:bodyPr/>
                    <a:lstStyle/>
                    <a:p>
                      <a:pPr indent="0" lvl="0" marL="0" rtl="0" algn="l">
                        <a:spcBef>
                          <a:spcPts val="0"/>
                        </a:spcBef>
                        <a:spcAft>
                          <a:spcPts val="0"/>
                        </a:spcAft>
                        <a:buNone/>
                      </a:pPr>
                      <a:r>
                        <a:rPr lang="en-GB" sz="1200">
                          <a:latin typeface="Lexend"/>
                          <a:ea typeface="Lexend"/>
                          <a:cs typeface="Lexend"/>
                          <a:sym typeface="Lexend"/>
                        </a:rPr>
                        <a:t>chance of rainfall</a:t>
                      </a:r>
                      <a:endParaRPr sz="1200">
                        <a:latin typeface="Lexend"/>
                        <a:ea typeface="Lexend"/>
                        <a:cs typeface="Lexend"/>
                        <a:sym typeface="Lexend"/>
                      </a:endParaRPr>
                    </a:p>
                  </a:txBody>
                  <a:tcPr marT="0" marB="0" marR="0" marL="3600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100%</a:t>
                      </a:r>
                      <a:endParaRPr sz="1200">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73%</a:t>
                      </a:r>
                      <a:endParaRPr sz="1200">
                        <a:solidFill>
                          <a:srgbClr val="000000"/>
                        </a:solidFill>
                        <a:latin typeface="Lexend"/>
                        <a:ea typeface="Lexend"/>
                        <a:cs typeface="Lexend"/>
                        <a:sym typeface="Lexend"/>
                      </a:endParaRPr>
                    </a:p>
                  </a:txBody>
                  <a:tcPr marT="0" marB="0" marR="0" marL="0" anchor="ctr">
                    <a:lnL cap="flat" cmpd="sng" w="9525">
                      <a:solidFill>
                        <a:srgbClr val="222222"/>
                      </a:solidFill>
                      <a:prstDash val="solid"/>
                      <a:round/>
                      <a:headEnd len="sm" w="sm" type="none"/>
                      <a:tailEnd len="sm" w="sm" type="none"/>
                    </a:lnL>
                    <a:lnR cap="flat" cmpd="sng" w="9525">
                      <a:solidFill>
                        <a:srgbClr val="222222"/>
                      </a:solidFill>
                      <a:prstDash val="solid"/>
                      <a:round/>
                      <a:headEnd len="sm" w="sm" type="none"/>
                      <a:tailEnd len="sm" w="sm" type="none"/>
                    </a:lnR>
                    <a:lnT cap="flat" cmpd="sng" w="9525">
                      <a:solidFill>
                        <a:srgbClr val="222222"/>
                      </a:solidFill>
                      <a:prstDash val="solid"/>
                      <a:round/>
                      <a:headEnd len="sm" w="sm" type="none"/>
                      <a:tailEnd len="sm" w="sm" type="none"/>
                    </a:lnT>
                    <a:lnB cap="flat" cmpd="sng" w="9525">
                      <a:solidFill>
                        <a:srgbClr val="222222"/>
                      </a:solidFill>
                      <a:prstDash val="solid"/>
                      <a:round/>
                      <a:headEnd len="sm" w="sm" type="none"/>
                      <a:tailEnd len="sm" w="sm" type="none"/>
                    </a:lnB>
                  </a:tcPr>
                </a:tc>
              </a:tr>
            </a:tbl>
          </a:graphicData>
        </a:graphic>
      </p:graphicFrame>
      <p:sp>
        <p:nvSpPr>
          <p:cNvPr id="143" name="Google Shape;143;p13"/>
          <p:cNvSpPr txBox="1"/>
          <p:nvPr/>
        </p:nvSpPr>
        <p:spPr>
          <a:xfrm>
            <a:off x="476400" y="838725"/>
            <a:ext cx="6615600" cy="2304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2) This report shows the amount of rainfall predicted on Saturday and Sunday.</a:t>
            </a:r>
            <a:endParaRPr sz="1200">
              <a:solidFill>
                <a:srgbClr val="000000"/>
              </a:solidFill>
              <a:latin typeface="Lexend"/>
              <a:ea typeface="Lexend"/>
              <a:cs typeface="Lexend"/>
              <a:sym typeface="Lexend"/>
            </a:endParaRPr>
          </a:p>
        </p:txBody>
      </p:sp>
      <p:pic>
        <p:nvPicPr>
          <p:cNvPr id="144" name="Google Shape;144;p13" title="https://oaknationalacademy-res.cloudinary.com/image/upload/v1713776096/rrwsn7j1bwnvwyj4ecoh.jpg"/>
          <p:cNvPicPr preferRelativeResize="0"/>
          <p:nvPr/>
        </p:nvPicPr>
        <p:blipFill rotWithShape="1">
          <a:blip r:embed="rId3">
            <a:alphaModFix/>
          </a:blip>
          <a:srcRect b="51381" l="28615" r="50758" t="25064"/>
          <a:stretch/>
        </p:blipFill>
        <p:spPr>
          <a:xfrm>
            <a:off x="6204674" y="1448201"/>
            <a:ext cx="605030" cy="690944"/>
          </a:xfrm>
          <a:prstGeom prst="rect">
            <a:avLst/>
          </a:prstGeom>
          <a:noFill/>
          <a:ln>
            <a:noFill/>
          </a:ln>
        </p:spPr>
      </p:pic>
      <p:pic>
        <p:nvPicPr>
          <p:cNvPr id="145" name="Google Shape;145;p13" title="https://oaknationalacademy-res.cloudinary.com/image/upload/v1713776096/rrwsn7j1bwnvwyj4ecoh.jpg"/>
          <p:cNvPicPr preferRelativeResize="0"/>
          <p:nvPr/>
        </p:nvPicPr>
        <p:blipFill rotWithShape="1">
          <a:blip r:embed="rId3">
            <a:alphaModFix/>
          </a:blip>
          <a:srcRect b="50095" l="51690" r="27683" t="26350"/>
          <a:stretch/>
        </p:blipFill>
        <p:spPr>
          <a:xfrm>
            <a:off x="5594575" y="1434629"/>
            <a:ext cx="605030" cy="690944"/>
          </a:xfrm>
          <a:prstGeom prst="rect">
            <a:avLst/>
          </a:prstGeom>
          <a:noFill/>
          <a:ln>
            <a:noFill/>
          </a:ln>
        </p:spPr>
      </p:pic>
      <p:sp>
        <p:nvSpPr>
          <p:cNvPr id="146" name="Google Shape;146;p13"/>
          <p:cNvSpPr txBox="1"/>
          <p:nvPr/>
        </p:nvSpPr>
        <p:spPr>
          <a:xfrm>
            <a:off x="476400" y="1511500"/>
            <a:ext cx="33036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a) On Saturday, how many litres of water</a:t>
            </a:r>
            <a:r>
              <a:rPr lang="en-GB" sz="1200">
                <a:latin typeface="Lexend"/>
                <a:ea typeface="Lexend"/>
                <a:cs typeface="Lexend"/>
                <a:sym typeface="Lexend"/>
              </a:rPr>
              <a:t> </a:t>
            </a:r>
            <a:r>
              <a:rPr lang="en-GB" sz="1200">
                <a:solidFill>
                  <a:srgbClr val="000000"/>
                </a:solidFill>
                <a:latin typeface="Lexend"/>
                <a:ea typeface="Lexend"/>
                <a:cs typeface="Lexend"/>
                <a:sym typeface="Lexend"/>
              </a:rPr>
              <a:t>is predicted to fall for every square metre</a:t>
            </a:r>
            <a:r>
              <a:rPr lang="en-GB" sz="1200">
                <a:latin typeface="Lexend"/>
                <a:ea typeface="Lexend"/>
                <a:cs typeface="Lexend"/>
                <a:sym typeface="Lexend"/>
              </a:rPr>
              <a:t> </a:t>
            </a:r>
            <a:r>
              <a:rPr lang="en-GB" sz="1200">
                <a:solidFill>
                  <a:srgbClr val="000000"/>
                </a:solidFill>
                <a:latin typeface="Lexend"/>
                <a:ea typeface="Lexend"/>
                <a:cs typeface="Lexend"/>
                <a:sym typeface="Lexend"/>
              </a:rPr>
              <a:t>of land?</a:t>
            </a:r>
            <a:endParaRPr sz="1200">
              <a:solidFill>
                <a:srgbClr val="000000"/>
              </a:solidFill>
              <a:latin typeface="Lexend"/>
              <a:ea typeface="Lexend"/>
              <a:cs typeface="Lexend"/>
              <a:sym typeface="Lexend"/>
            </a:endParaRPr>
          </a:p>
        </p:txBody>
      </p:sp>
      <p:sp>
        <p:nvSpPr>
          <p:cNvPr id="147" name="Google Shape;147;p13"/>
          <p:cNvSpPr txBox="1"/>
          <p:nvPr/>
        </p:nvSpPr>
        <p:spPr>
          <a:xfrm>
            <a:off x="476400" y="2827893"/>
            <a:ext cx="4671600" cy="68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A farmer has a field that is 1800 m² in area.</a:t>
            </a:r>
            <a:endParaRPr sz="1200">
              <a:solidFill>
                <a:srgbClr val="000000"/>
              </a:solidFill>
              <a:latin typeface="Lexend"/>
              <a:ea typeface="Lexend"/>
              <a:cs typeface="Lexend"/>
              <a:sym typeface="Lexend"/>
            </a:endParaRPr>
          </a:p>
          <a:p>
            <a:pPr indent="0" lvl="0" marL="0" rtl="0" algn="l">
              <a:spcBef>
                <a:spcPts val="1000"/>
              </a:spcBef>
              <a:spcAft>
                <a:spcPts val="1000"/>
              </a:spcAft>
              <a:buNone/>
            </a:pPr>
            <a:r>
              <a:rPr lang="en-GB" sz="1200">
                <a:solidFill>
                  <a:srgbClr val="000000"/>
                </a:solidFill>
                <a:latin typeface="Lexend"/>
                <a:ea typeface="Lexend"/>
                <a:cs typeface="Lexend"/>
                <a:sym typeface="Lexend"/>
              </a:rPr>
              <a:t>b) How many litres of rain will fall on this field on Saturday?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You can use the ratio table given to help.</a:t>
            </a:r>
            <a:endParaRPr sz="1200">
              <a:solidFill>
                <a:srgbClr val="000000"/>
              </a:solidFill>
              <a:latin typeface="Lexend"/>
              <a:ea typeface="Lexend"/>
              <a:cs typeface="Lexend"/>
              <a:sym typeface="Lexend"/>
            </a:endParaRPr>
          </a:p>
        </p:txBody>
      </p:sp>
      <p:sp>
        <p:nvSpPr>
          <p:cNvPr id="148" name="Google Shape;148;p13"/>
          <p:cNvSpPr txBox="1"/>
          <p:nvPr/>
        </p:nvSpPr>
        <p:spPr>
          <a:xfrm>
            <a:off x="476400" y="4009768"/>
            <a:ext cx="57477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c) The farmer says: “3600 litres of rain will fall on my field on Sunday”. </a:t>
            </a:r>
            <a:endParaRPr sz="1200">
              <a:solidFill>
                <a:srgbClr val="000000"/>
              </a:solidFill>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a:t>
            </a:r>
            <a:r>
              <a:rPr lang="en-GB" sz="1200">
                <a:solidFill>
                  <a:srgbClr val="000000"/>
                </a:solidFill>
                <a:latin typeface="Lexend"/>
                <a:ea typeface="Lexend"/>
                <a:cs typeface="Lexend"/>
                <a:sym typeface="Lexend"/>
              </a:rPr>
              <a:t>Explain why this may not be true.</a:t>
            </a:r>
            <a:endParaRPr sz="1200">
              <a:solidFill>
                <a:srgbClr val="000000"/>
              </a:solidFill>
              <a:latin typeface="Lexend"/>
              <a:ea typeface="Lexend"/>
              <a:cs typeface="Lexend"/>
              <a:sym typeface="Lexend"/>
            </a:endParaRPr>
          </a:p>
        </p:txBody>
      </p:sp>
      <p:graphicFrame>
        <p:nvGraphicFramePr>
          <p:cNvPr id="149" name="Google Shape;149;p13"/>
          <p:cNvGraphicFramePr/>
          <p:nvPr/>
        </p:nvGraphicFramePr>
        <p:xfrm>
          <a:off x="5147992" y="3168334"/>
          <a:ext cx="3000000" cy="3000000"/>
        </p:xfrm>
        <a:graphic>
          <a:graphicData uri="http://schemas.openxmlformats.org/drawingml/2006/table">
            <a:tbl>
              <a:tblPr>
                <a:noFill/>
                <a:tableStyleId>{DF7F42C7-1546-44EE-95DC-813C29A54575}</a:tableStyleId>
              </a:tblPr>
              <a:tblGrid>
                <a:gridCol w="918375"/>
                <a:gridCol w="941575"/>
              </a:tblGrid>
              <a:tr h="216300">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area (m²)</a:t>
                      </a:r>
                      <a:endParaRPr sz="1200">
                        <a:solidFill>
                          <a:srgbClr val="FFFFFF"/>
                        </a:solidFill>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rainfall</a:t>
                      </a:r>
                      <a:endParaRPr sz="1200">
                        <a:solidFill>
                          <a:srgbClr val="FFFFFF"/>
                        </a:solidFill>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r>
              <a:tr h="21630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7.5 litres</a:t>
                      </a:r>
                      <a:endParaRPr sz="12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8325">
                <a:tc>
                  <a:txBody>
                    <a:bodyPr/>
                    <a:lstStyle/>
                    <a:p>
                      <a:pPr indent="0" lvl="0" marL="0" rtl="0" algn="ctr">
                        <a:spcBef>
                          <a:spcPts val="0"/>
                        </a:spcBef>
                        <a:spcAft>
                          <a:spcPts val="0"/>
                        </a:spcAft>
                        <a:buNone/>
                      </a:pPr>
                      <a:r>
                        <a:rPr lang="en-GB" sz="1200">
                          <a:latin typeface="Kalam"/>
                          <a:ea typeface="Kalam"/>
                          <a:cs typeface="Kalam"/>
                          <a:sym typeface="Kalam"/>
                        </a:rPr>
                        <a:t>1800</a:t>
                      </a:r>
                      <a:endParaRPr sz="12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13 500 litres</a:t>
                      </a:r>
                      <a:endParaRPr sz="12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50" name="Google Shape;150;p13"/>
          <p:cNvSpPr txBox="1"/>
          <p:nvPr/>
        </p:nvSpPr>
        <p:spPr>
          <a:xfrm>
            <a:off x="1090697" y="2164800"/>
            <a:ext cx="762300" cy="2304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7.5 litres</a:t>
            </a:r>
            <a:endParaRPr sz="1200">
              <a:solidFill>
                <a:srgbClr val="000000"/>
              </a:solidFill>
              <a:latin typeface="Kalam"/>
              <a:ea typeface="Kalam"/>
              <a:cs typeface="Kalam"/>
              <a:sym typeface="Kalam"/>
            </a:endParaRPr>
          </a:p>
        </p:txBody>
      </p:sp>
      <p:sp>
        <p:nvSpPr>
          <p:cNvPr id="151" name="Google Shape;151;p13"/>
          <p:cNvSpPr txBox="1"/>
          <p:nvPr/>
        </p:nvSpPr>
        <p:spPr>
          <a:xfrm>
            <a:off x="649500" y="4457643"/>
            <a:ext cx="5828700" cy="58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There is only a 73% chance that it will rain on Sunday.</a:t>
            </a:r>
            <a:r>
              <a:rPr lang="en-GB" sz="1200">
                <a:latin typeface="Kalam"/>
                <a:ea typeface="Kalam"/>
                <a:cs typeface="Kalam"/>
                <a:sym typeface="Kalam"/>
              </a:rPr>
              <a:t> </a:t>
            </a:r>
            <a:r>
              <a:rPr lang="en-GB" sz="1200">
                <a:solidFill>
                  <a:srgbClr val="000000"/>
                </a:solidFill>
                <a:latin typeface="Kalam"/>
                <a:ea typeface="Kalam"/>
                <a:cs typeface="Kalam"/>
                <a:sym typeface="Kalam"/>
              </a:rPr>
              <a:t>This means that there is a 27% chance that no rain will fall onto the field.</a:t>
            </a:r>
            <a:r>
              <a:rPr lang="en-GB" sz="1200">
                <a:latin typeface="Kalam"/>
                <a:ea typeface="Kalam"/>
                <a:cs typeface="Kalam"/>
                <a:sym typeface="Kalam"/>
              </a:rPr>
              <a:t> Even if it does rain, the amount of rainfall is also only a prediction. It could rain more or less than 2 mm on Sunday.</a:t>
            </a:r>
            <a:endParaRPr sz="1200">
              <a:latin typeface="Kalam"/>
              <a:ea typeface="Kalam"/>
              <a:cs typeface="Kalam"/>
              <a:sym typeface="Kalam"/>
            </a:endParaRPr>
          </a:p>
        </p:txBody>
      </p:sp>
      <p:sp>
        <p:nvSpPr>
          <p:cNvPr id="152" name="Google Shape;152;p13"/>
          <p:cNvSpPr txBox="1"/>
          <p:nvPr/>
        </p:nvSpPr>
        <p:spPr>
          <a:xfrm>
            <a:off x="476400" y="5512082"/>
            <a:ext cx="5176200" cy="36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3) This graph shows 20 days where the chance of rainfall was 35%.</a:t>
            </a:r>
            <a:br>
              <a:rPr lang="en-GB" sz="1200">
                <a:latin typeface="Lexend"/>
                <a:ea typeface="Lexend"/>
                <a:cs typeface="Lexend"/>
                <a:sym typeface="Lexend"/>
              </a:rPr>
            </a:br>
            <a:r>
              <a:rPr lang="en-GB" sz="1200">
                <a:latin typeface="Lexend"/>
                <a:ea typeface="Lexend"/>
                <a:cs typeface="Lexend"/>
                <a:sym typeface="Lexend"/>
              </a:rPr>
              <a:t>    </a:t>
            </a:r>
            <a:r>
              <a:rPr lang="en-GB" sz="1200">
                <a:solidFill>
                  <a:srgbClr val="000000"/>
                </a:solidFill>
                <a:latin typeface="Lexend"/>
                <a:ea typeface="Lexend"/>
                <a:cs typeface="Lexend"/>
                <a:sym typeface="Lexend"/>
              </a:rPr>
              <a:t>Each dot represents a day that either rained or didn’t rain.</a:t>
            </a:r>
            <a:endParaRPr sz="1200">
              <a:solidFill>
                <a:srgbClr val="000000"/>
              </a:solidFill>
              <a:latin typeface="Lexend"/>
              <a:ea typeface="Lexend"/>
              <a:cs typeface="Lexend"/>
              <a:sym typeface="Lexend"/>
            </a:endParaRPr>
          </a:p>
        </p:txBody>
      </p:sp>
      <p:pic>
        <p:nvPicPr>
          <p:cNvPr id="153" name="Google Shape;153;p13"/>
          <p:cNvPicPr preferRelativeResize="0"/>
          <p:nvPr/>
        </p:nvPicPr>
        <p:blipFill rotWithShape="1">
          <a:blip r:embed="rId4">
            <a:alphaModFix/>
          </a:blip>
          <a:srcRect b="0" l="0" r="0" t="0"/>
          <a:stretch/>
        </p:blipFill>
        <p:spPr>
          <a:xfrm>
            <a:off x="3816618" y="6055393"/>
            <a:ext cx="3027324" cy="1055950"/>
          </a:xfrm>
          <a:prstGeom prst="rect">
            <a:avLst/>
          </a:prstGeom>
          <a:noFill/>
          <a:ln cap="flat" cmpd="sng" w="19050">
            <a:solidFill>
              <a:srgbClr val="808080"/>
            </a:solidFill>
            <a:prstDash val="solid"/>
            <a:round/>
            <a:headEnd len="sm" w="sm" type="none"/>
            <a:tailEnd len="sm" w="sm" type="none"/>
          </a:ln>
        </p:spPr>
      </p:pic>
      <p:graphicFrame>
        <p:nvGraphicFramePr>
          <p:cNvPr id="154" name="Google Shape;154;p13"/>
          <p:cNvGraphicFramePr/>
          <p:nvPr/>
        </p:nvGraphicFramePr>
        <p:xfrm>
          <a:off x="2099600" y="7610831"/>
          <a:ext cx="3000000" cy="3000000"/>
        </p:xfrm>
        <a:graphic>
          <a:graphicData uri="http://schemas.openxmlformats.org/drawingml/2006/table">
            <a:tbl>
              <a:tblPr>
                <a:noFill/>
                <a:tableStyleId>{DF7F42C7-1546-44EE-95DC-813C29A54575}</a:tableStyleId>
              </a:tblPr>
              <a:tblGrid>
                <a:gridCol w="2115300"/>
                <a:gridCol w="538400"/>
              </a:tblGrid>
              <a:tr h="328075">
                <a:tc>
                  <a:txBody>
                    <a:bodyPr/>
                    <a:lstStyle/>
                    <a:p>
                      <a:pPr indent="0" lvl="0" marL="0" rtl="0" algn="l">
                        <a:spcBef>
                          <a:spcPts val="0"/>
                        </a:spcBef>
                        <a:spcAft>
                          <a:spcPts val="0"/>
                        </a:spcAft>
                        <a:buNone/>
                      </a:pPr>
                      <a:r>
                        <a:rPr lang="en-GB" sz="1200">
                          <a:latin typeface="Lexend"/>
                          <a:ea typeface="Lexend"/>
                          <a:cs typeface="Lexend"/>
                          <a:sym typeface="Lexend"/>
                        </a:rPr>
                        <a:t> Number of days</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28075">
                <a:tc>
                  <a:txBody>
                    <a:bodyPr/>
                    <a:lstStyle/>
                    <a:p>
                      <a:pPr indent="0" lvl="0" marL="0" rtl="0" algn="l">
                        <a:spcBef>
                          <a:spcPts val="0"/>
                        </a:spcBef>
                        <a:spcAft>
                          <a:spcPts val="0"/>
                        </a:spcAft>
                        <a:buNone/>
                      </a:pPr>
                      <a:r>
                        <a:rPr lang="en-GB" sz="1200">
                          <a:latin typeface="Lexend"/>
                          <a:ea typeface="Lexend"/>
                          <a:cs typeface="Lexend"/>
                          <a:sym typeface="Lexend"/>
                        </a:rPr>
                        <a:t> Number of days with rain</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3</a:t>
                      </a:r>
                      <a:endParaRPr sz="12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28075">
                <a:tc>
                  <a:txBody>
                    <a:bodyPr/>
                    <a:lstStyle/>
                    <a:p>
                      <a:pPr indent="0" lvl="0" marL="0" rtl="0" algn="l">
                        <a:spcBef>
                          <a:spcPts val="0"/>
                        </a:spcBef>
                        <a:spcAft>
                          <a:spcPts val="0"/>
                        </a:spcAft>
                        <a:buNone/>
                      </a:pPr>
                      <a:r>
                        <a:rPr lang="en-GB" sz="1200">
                          <a:latin typeface="Lexend"/>
                          <a:ea typeface="Lexend"/>
                          <a:cs typeface="Lexend"/>
                          <a:sym typeface="Lexend"/>
                        </a:rPr>
                        <a:t> % of days with rain</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60%</a:t>
                      </a:r>
                      <a:endParaRPr sz="12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55" name="Google Shape;155;p13"/>
          <p:cNvSpPr txBox="1"/>
          <p:nvPr/>
        </p:nvSpPr>
        <p:spPr>
          <a:xfrm>
            <a:off x="459492" y="8831453"/>
            <a:ext cx="6724200" cy="230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c) What percentage of days for the first 10 days on the graph had rain?</a:t>
            </a:r>
            <a:endParaRPr sz="1200">
              <a:latin typeface="Lexend"/>
              <a:ea typeface="Lexend"/>
              <a:cs typeface="Lexend"/>
              <a:sym typeface="Lexend"/>
            </a:endParaRPr>
          </a:p>
          <a:p>
            <a:pPr indent="0" lvl="0" marL="0" rtl="0" algn="l">
              <a:spcBef>
                <a:spcPts val="1000"/>
              </a:spcBef>
              <a:spcAft>
                <a:spcPts val="1000"/>
              </a:spcAft>
              <a:buNone/>
            </a:pPr>
            <a:br>
              <a:rPr lang="en-GB" sz="1200">
                <a:latin typeface="Lexend"/>
                <a:ea typeface="Lexend"/>
                <a:cs typeface="Lexend"/>
                <a:sym typeface="Lexend"/>
              </a:rPr>
            </a:br>
            <a:r>
              <a:rPr lang="en-GB" sz="1200">
                <a:solidFill>
                  <a:srgbClr val="000000"/>
                </a:solidFill>
                <a:latin typeface="Lexend"/>
                <a:ea typeface="Lexend"/>
                <a:cs typeface="Lexend"/>
                <a:sym typeface="Lexend"/>
              </a:rPr>
              <a:t>d) Does this graph show: “fewer than”, “equal to”, or “greater than”</a:t>
            </a:r>
            <a:r>
              <a:rPr lang="en-GB" sz="1200">
                <a:latin typeface="Lexend"/>
                <a:ea typeface="Lexend"/>
                <a:cs typeface="Lexend"/>
                <a:sym typeface="Lexend"/>
              </a:rPr>
              <a:t> </a:t>
            </a:r>
            <a:r>
              <a:rPr lang="en-GB" sz="1200">
                <a:solidFill>
                  <a:srgbClr val="000000"/>
                </a:solidFill>
                <a:latin typeface="Lexend"/>
                <a:ea typeface="Lexend"/>
                <a:cs typeface="Lexend"/>
                <a:sym typeface="Lexend"/>
              </a:rPr>
              <a:t>35% of days with rain?</a:t>
            </a:r>
            <a:endParaRPr sz="1200">
              <a:solidFill>
                <a:srgbClr val="000000"/>
              </a:solidFill>
              <a:latin typeface="Lexend"/>
              <a:ea typeface="Lexend"/>
              <a:cs typeface="Lexend"/>
              <a:sym typeface="Lexend"/>
            </a:endParaRPr>
          </a:p>
        </p:txBody>
      </p:sp>
      <p:sp>
        <p:nvSpPr>
          <p:cNvPr id="156" name="Google Shape;156;p13"/>
          <p:cNvSpPr txBox="1"/>
          <p:nvPr/>
        </p:nvSpPr>
        <p:spPr>
          <a:xfrm>
            <a:off x="476400" y="7352886"/>
            <a:ext cx="6460200" cy="2304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b) Complete this table of information for the first 5 days on the graph.</a:t>
            </a:r>
            <a:endParaRPr sz="1200">
              <a:solidFill>
                <a:srgbClr val="000000"/>
              </a:solidFill>
              <a:latin typeface="Lexend"/>
              <a:ea typeface="Lexend"/>
              <a:cs typeface="Lexend"/>
              <a:sym typeface="Lexend"/>
            </a:endParaRPr>
          </a:p>
        </p:txBody>
      </p:sp>
      <p:sp>
        <p:nvSpPr>
          <p:cNvPr id="157" name="Google Shape;157;p13"/>
          <p:cNvSpPr txBox="1"/>
          <p:nvPr/>
        </p:nvSpPr>
        <p:spPr>
          <a:xfrm>
            <a:off x="713975" y="6490629"/>
            <a:ext cx="1151100" cy="13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35% of 20 = 7</a:t>
            </a:r>
            <a:endParaRPr sz="1200">
              <a:solidFill>
                <a:srgbClr val="000000"/>
              </a:solidFill>
              <a:latin typeface="Kalam"/>
              <a:ea typeface="Kalam"/>
              <a:cs typeface="Kalam"/>
              <a:sym typeface="Kalam"/>
            </a:endParaRPr>
          </a:p>
        </p:txBody>
      </p:sp>
      <p:pic>
        <p:nvPicPr>
          <p:cNvPr descr="&lt;math xmlns=&quot;http://www.w3.org/1998/Math/MathML&quot; display=&quot;block&quot; data-is-equatio=&quot;1&quot; data-latex=&quot;\frac{4}{10}=40\%&quot;&gt;&lt;mfrac&gt;&lt;mn&gt;4&lt;/mn&gt;&lt;mn&gt;10&lt;/mn&gt;&lt;/mfrac&gt;&lt;mo&gt;=&lt;/mo&gt;&lt;mn&gt;40&lt;/mn&gt;&lt;mi mathvariant=&quot;normal&quot;&gt;%&lt;/mi&gt;&lt;/math&gt;" id="158" name="Google Shape;158;p13" title="four tenths equals 40 percent sign"/>
          <p:cNvPicPr preferRelativeResize="0"/>
          <p:nvPr/>
        </p:nvPicPr>
        <p:blipFill>
          <a:blip r:embed="rId5">
            <a:alphaModFix/>
          </a:blip>
          <a:stretch>
            <a:fillRect/>
          </a:stretch>
        </p:blipFill>
        <p:spPr>
          <a:xfrm>
            <a:off x="5873750" y="8799828"/>
            <a:ext cx="605026" cy="299518"/>
          </a:xfrm>
          <a:prstGeom prst="rect">
            <a:avLst/>
          </a:prstGeom>
          <a:noFill/>
          <a:ln>
            <a:noFill/>
          </a:ln>
        </p:spPr>
      </p:pic>
      <p:sp>
        <p:nvSpPr>
          <p:cNvPr id="159" name="Google Shape;159;p13"/>
          <p:cNvSpPr txBox="1"/>
          <p:nvPr/>
        </p:nvSpPr>
        <p:spPr>
          <a:xfrm>
            <a:off x="670031" y="9537641"/>
            <a:ext cx="59766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Greater than. This is because 9 of the 20 days (45%) had rain, not the 7 (35%) that was predicted.</a:t>
            </a:r>
            <a:endParaRPr sz="1200">
              <a:solidFill>
                <a:srgbClr val="000000"/>
              </a:solidFill>
              <a:latin typeface="Kalam"/>
              <a:ea typeface="Kalam"/>
              <a:cs typeface="Kalam"/>
              <a:sym typeface="Kalam"/>
            </a:endParaRPr>
          </a:p>
        </p:txBody>
      </p:sp>
      <p:sp>
        <p:nvSpPr>
          <p:cNvPr id="160" name="Google Shape;160;p13"/>
          <p:cNvSpPr txBox="1"/>
          <p:nvPr/>
        </p:nvSpPr>
        <p:spPr>
          <a:xfrm>
            <a:off x="476400" y="6021307"/>
            <a:ext cx="2943600" cy="44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a) How many of these 20 days would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we expect to have rain?</a:t>
            </a:r>
            <a:endParaRPr sz="1200">
              <a:solidFill>
                <a:srgbClr val="000000"/>
              </a:solidFill>
              <a:latin typeface="Lexend"/>
              <a:ea typeface="Lexend"/>
              <a:cs typeface="Lexend"/>
              <a:sym typeface="Lexend"/>
            </a:endParaRPr>
          </a:p>
        </p:txBody>
      </p:sp>
      <p:cxnSp>
        <p:nvCxnSpPr>
          <p:cNvPr id="161" name="Google Shape;161;p13"/>
          <p:cNvCxnSpPr/>
          <p:nvPr/>
        </p:nvCxnSpPr>
        <p:spPr>
          <a:xfrm>
            <a:off x="482701" y="9954310"/>
            <a:ext cx="6610500" cy="0"/>
          </a:xfrm>
          <a:prstGeom prst="straightConnector1">
            <a:avLst/>
          </a:prstGeom>
          <a:noFill/>
          <a:ln cap="flat" cmpd="sng" w="38100">
            <a:solidFill>
              <a:srgbClr val="000000"/>
            </a:solidFill>
            <a:prstDash val="solid"/>
            <a:round/>
            <a:headEnd len="med" w="med" type="none"/>
            <a:tailEnd len="med" w="med" type="none"/>
          </a:ln>
        </p:spPr>
      </p:cxnSp>
      <p:sp>
        <p:nvSpPr>
          <p:cNvPr id="162" name="Google Shape;162;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63" name="Google Shape;163;p13"/>
          <p:cNvSpPr txBox="1"/>
          <p:nvPr/>
        </p:nvSpPr>
        <p:spPr>
          <a:xfrm>
            <a:off x="487750" y="9972150"/>
            <a:ext cx="3000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600">
                <a:solidFill>
                  <a:srgbClr val="808080"/>
                </a:solidFill>
                <a:latin typeface="Lexend"/>
                <a:ea typeface="Lexend"/>
                <a:cs typeface="Lexend"/>
                <a:sym typeface="Lexend"/>
              </a:rPr>
              <a:t>Weather images: Raura7/ Shutterstock.com</a:t>
            </a:r>
            <a:endParaRPr sz="600">
              <a:solidFill>
                <a:srgbClr val="808080"/>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69" name="Google Shape;169;p14"/>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Predicting the weather</a:t>
            </a:r>
            <a:endParaRPr/>
          </a:p>
        </p:txBody>
      </p:sp>
      <p:sp>
        <p:nvSpPr>
          <p:cNvPr id="170" name="Google Shape;170;p14"/>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
        <p:nvSpPr>
          <p:cNvPr id="171" name="Google Shape;171;p14"/>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FFFFFF"/>
                </a:solidFill>
                <a:latin typeface="Lexend"/>
                <a:ea typeface="Lexend"/>
                <a:cs typeface="Lexend"/>
                <a:sym typeface="Lexend"/>
              </a:rPr>
              <a:t>v2.4</a:t>
            </a:r>
            <a:endParaRPr sz="1000">
              <a:solidFill>
                <a:srgbClr val="FFFFFF"/>
              </a:solidFill>
              <a:latin typeface="Lexend"/>
              <a:ea typeface="Lexend"/>
              <a:cs typeface="Lexend"/>
              <a:sym typeface="Lexend"/>
            </a:endParaRPr>
          </a:p>
        </p:txBody>
      </p:sp>
      <p:sp>
        <p:nvSpPr>
          <p:cNvPr id="172" name="Google Shape;172;p14"/>
          <p:cNvSpPr txBox="1"/>
          <p:nvPr/>
        </p:nvSpPr>
        <p:spPr>
          <a:xfrm>
            <a:off x="491525" y="496850"/>
            <a:ext cx="66006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rgbClr val="000000"/>
                </a:solidFill>
                <a:latin typeface="Lexend"/>
                <a:ea typeface="Lexend"/>
                <a:cs typeface="Lexend"/>
                <a:sym typeface="Lexend"/>
              </a:rPr>
              <a:t>Task </a:t>
            </a:r>
            <a:r>
              <a:rPr b="1" lang="en-GB">
                <a:latin typeface="Lexend"/>
                <a:ea typeface="Lexend"/>
                <a:cs typeface="Lexend"/>
                <a:sym typeface="Lexend"/>
              </a:rPr>
              <a:t>B</a:t>
            </a:r>
            <a:r>
              <a:rPr b="1" lang="en-GB">
                <a:solidFill>
                  <a:srgbClr val="000000"/>
                </a:solidFill>
                <a:latin typeface="Lexend"/>
                <a:ea typeface="Lexend"/>
                <a:cs typeface="Lexend"/>
                <a:sym typeface="Lexend"/>
              </a:rPr>
              <a:t>: </a:t>
            </a:r>
            <a:r>
              <a:rPr b="1" lang="en-GB">
                <a:latin typeface="Lexend"/>
                <a:ea typeface="Lexend"/>
                <a:cs typeface="Lexend"/>
                <a:sym typeface="Lexend"/>
              </a:rPr>
              <a:t>Using historical data to predict the weather</a:t>
            </a:r>
            <a:endParaRPr b="1">
              <a:solidFill>
                <a:srgbClr val="000000"/>
              </a:solidFill>
              <a:latin typeface="Lexend"/>
              <a:ea typeface="Lexend"/>
              <a:cs typeface="Lexend"/>
              <a:sym typeface="Lexend"/>
            </a:endParaRPr>
          </a:p>
        </p:txBody>
      </p:sp>
      <p:sp>
        <p:nvSpPr>
          <p:cNvPr id="173" name="Google Shape;173;p14"/>
          <p:cNvSpPr txBox="1"/>
          <p:nvPr/>
        </p:nvSpPr>
        <p:spPr>
          <a:xfrm>
            <a:off x="491525" y="985500"/>
            <a:ext cx="66006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1) </a:t>
            </a:r>
            <a:r>
              <a:rPr lang="en-GB" sz="1200">
                <a:latin typeface="Lexend"/>
                <a:ea typeface="Lexend"/>
                <a:cs typeface="Lexend"/>
                <a:sym typeface="Lexend"/>
              </a:rPr>
              <a:t>This graph shows data from the Met Office on the total monthly rainfall in </a:t>
            </a:r>
            <a:r>
              <a:rPr lang="en-GB" sz="1200">
                <a:solidFill>
                  <a:srgbClr val="000000"/>
                </a:solidFill>
                <a:latin typeface="Lexend"/>
                <a:ea typeface="Lexend"/>
                <a:cs typeface="Lexend"/>
                <a:sym typeface="Lexend"/>
              </a:rPr>
              <a:t>March </a:t>
            </a:r>
            <a:r>
              <a:rPr lang="en-GB" sz="1200">
                <a:latin typeface="Lexend"/>
                <a:ea typeface="Lexend"/>
                <a:cs typeface="Lexend"/>
                <a:sym typeface="Lexend"/>
              </a:rPr>
              <a:t>each   </a:t>
            </a:r>
            <a:br>
              <a:rPr lang="en-GB" sz="1200">
                <a:latin typeface="Lexend"/>
                <a:ea typeface="Lexend"/>
                <a:cs typeface="Lexend"/>
                <a:sym typeface="Lexend"/>
              </a:rPr>
            </a:br>
            <a:r>
              <a:rPr lang="en-GB" sz="1200">
                <a:latin typeface="Lexend"/>
                <a:ea typeface="Lexend"/>
                <a:cs typeface="Lexend"/>
                <a:sym typeface="Lexend"/>
              </a:rPr>
              <a:t>    year from 1941 to 2022 in Stornoway.</a:t>
            </a:r>
            <a:endParaRPr sz="1200">
              <a:solidFill>
                <a:srgbClr val="000000"/>
              </a:solidFill>
              <a:latin typeface="Lexend"/>
              <a:ea typeface="Lexend"/>
              <a:cs typeface="Lexend"/>
              <a:sym typeface="Lexend"/>
            </a:endParaRPr>
          </a:p>
        </p:txBody>
      </p:sp>
      <p:pic>
        <p:nvPicPr>
          <p:cNvPr id="174" name="Google Shape;174;p14"/>
          <p:cNvPicPr preferRelativeResize="0"/>
          <p:nvPr/>
        </p:nvPicPr>
        <p:blipFill rotWithShape="1">
          <a:blip r:embed="rId3">
            <a:alphaModFix/>
          </a:blip>
          <a:srcRect b="0" l="2564" r="648" t="5935"/>
          <a:stretch/>
        </p:blipFill>
        <p:spPr>
          <a:xfrm>
            <a:off x="662825" y="1469817"/>
            <a:ext cx="5148250" cy="1687075"/>
          </a:xfrm>
          <a:prstGeom prst="rect">
            <a:avLst/>
          </a:prstGeom>
          <a:noFill/>
          <a:ln cap="flat" cmpd="sng" w="19050">
            <a:solidFill>
              <a:srgbClr val="000000"/>
            </a:solidFill>
            <a:prstDash val="solid"/>
            <a:round/>
            <a:headEnd len="sm" w="sm" type="none"/>
            <a:tailEnd len="sm" w="sm" type="none"/>
          </a:ln>
        </p:spPr>
      </p:pic>
      <p:sp>
        <p:nvSpPr>
          <p:cNvPr id="175" name="Google Shape;175;p14"/>
          <p:cNvSpPr txBox="1"/>
          <p:nvPr/>
        </p:nvSpPr>
        <p:spPr>
          <a:xfrm>
            <a:off x="476400" y="3305925"/>
            <a:ext cx="66006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1000"/>
              </a:spcAft>
              <a:buNone/>
            </a:pPr>
            <a:r>
              <a:rPr lang="en-GB" sz="1200">
                <a:latin typeface="Lexend"/>
                <a:ea typeface="Lexend"/>
                <a:cs typeface="Lexend"/>
                <a:sym typeface="Lexend"/>
              </a:rPr>
              <a:t>a) Write a sentence explaining what the trendline is suggesting about the total amount </a:t>
            </a:r>
            <a:br>
              <a:rPr lang="en-GB" sz="1200">
                <a:latin typeface="Lexend"/>
                <a:ea typeface="Lexend"/>
                <a:cs typeface="Lexend"/>
                <a:sym typeface="Lexend"/>
              </a:rPr>
            </a:br>
            <a:r>
              <a:rPr lang="en-GB" sz="1200">
                <a:latin typeface="Lexend"/>
                <a:ea typeface="Lexend"/>
                <a:cs typeface="Lexend"/>
                <a:sym typeface="Lexend"/>
              </a:rPr>
              <a:t>    of monthly rainfall each March.</a:t>
            </a:r>
            <a:endParaRPr sz="1200">
              <a:latin typeface="Lexend"/>
              <a:ea typeface="Lexend"/>
              <a:cs typeface="Lexend"/>
              <a:sym typeface="Lexend"/>
            </a:endParaRPr>
          </a:p>
        </p:txBody>
      </p:sp>
      <p:sp>
        <p:nvSpPr>
          <p:cNvPr id="176" name="Google Shape;176;p14"/>
          <p:cNvSpPr txBox="1"/>
          <p:nvPr/>
        </p:nvSpPr>
        <p:spPr>
          <a:xfrm>
            <a:off x="476400" y="5896725"/>
            <a:ext cx="6600600" cy="204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c) Extend the trendline beyond 2022.</a:t>
            </a:r>
            <a:endParaRPr sz="1200">
              <a:solidFill>
                <a:srgbClr val="000000"/>
              </a:solidFill>
              <a:latin typeface="Lexend"/>
              <a:ea typeface="Lexend"/>
              <a:cs typeface="Lexend"/>
              <a:sym typeface="Lexend"/>
            </a:endParaRPr>
          </a:p>
          <a:p>
            <a:pPr indent="0" lvl="0" marL="0" rtl="0" algn="l">
              <a:spcBef>
                <a:spcPts val="1000"/>
              </a:spcBef>
              <a:spcAft>
                <a:spcPts val="0"/>
              </a:spcAft>
              <a:buNone/>
            </a:pPr>
            <a:r>
              <a:rPr lang="en-GB" sz="1200">
                <a:solidFill>
                  <a:srgbClr val="000000"/>
                </a:solidFill>
                <a:latin typeface="Lexend"/>
                <a:ea typeface="Lexend"/>
                <a:cs typeface="Lexend"/>
                <a:sym typeface="Lexend"/>
              </a:rPr>
              <a:t>d) Using your extended trendline, make a prediction for the total amount of rainfall in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March 2024.</a:t>
            </a:r>
            <a:br>
              <a:rPr lang="en-GB" sz="1200">
                <a:latin typeface="Lexend"/>
                <a:ea typeface="Lexend"/>
                <a:cs typeface="Lexend"/>
                <a:sym typeface="Lexend"/>
              </a:rPr>
            </a:br>
            <a:endParaRPr sz="1200">
              <a:latin typeface="Lexend"/>
              <a:ea typeface="Lexend"/>
              <a:cs typeface="Lexend"/>
              <a:sym typeface="Lexend"/>
            </a:endParaRPr>
          </a:p>
          <a:p>
            <a:pPr indent="0" lvl="0" marL="0" rtl="0" algn="l">
              <a:spcBef>
                <a:spcPts val="1000"/>
              </a:spcBef>
              <a:spcAft>
                <a:spcPts val="0"/>
              </a:spcAft>
              <a:buNone/>
            </a:pPr>
            <a:r>
              <a:rPr lang="en-GB" sz="1200">
                <a:latin typeface="Lexend"/>
                <a:ea typeface="Lexend"/>
                <a:cs typeface="Lexend"/>
                <a:sym typeface="Lexend"/>
              </a:rPr>
              <a:t>e) Explain why your prediction in part d) may not be accurate.</a:t>
            </a:r>
            <a:br>
              <a:rPr lang="en-GB" sz="1200">
                <a:latin typeface="Lexend"/>
                <a:ea typeface="Lexend"/>
                <a:cs typeface="Lexend"/>
                <a:sym typeface="Lexend"/>
              </a:rPr>
            </a:br>
            <a:br>
              <a:rPr lang="en-GB" sz="1200">
                <a:latin typeface="Lexend"/>
                <a:ea typeface="Lexend"/>
                <a:cs typeface="Lexend"/>
                <a:sym typeface="Lexend"/>
              </a:rPr>
            </a:br>
            <a:endParaRPr sz="1200">
              <a:latin typeface="Lexend"/>
              <a:ea typeface="Lexend"/>
              <a:cs typeface="Lexend"/>
              <a:sym typeface="Lexend"/>
            </a:endParaRPr>
          </a:p>
          <a:p>
            <a:pPr indent="0" lvl="0" marL="0" rtl="0" algn="l">
              <a:spcBef>
                <a:spcPts val="1000"/>
              </a:spcBef>
              <a:spcAft>
                <a:spcPts val="1000"/>
              </a:spcAft>
              <a:buNone/>
            </a:pPr>
            <a:r>
              <a:rPr lang="en-GB" sz="1200">
                <a:latin typeface="Lexend"/>
                <a:ea typeface="Lexend"/>
                <a:cs typeface="Lexend"/>
                <a:sym typeface="Lexend"/>
              </a:rPr>
              <a:t>f) </a:t>
            </a:r>
            <a:r>
              <a:rPr lang="en-GB" sz="1200">
                <a:solidFill>
                  <a:srgbClr val="000000"/>
                </a:solidFill>
                <a:latin typeface="Lexend"/>
                <a:ea typeface="Lexend"/>
                <a:cs typeface="Lexend"/>
                <a:sym typeface="Lexend"/>
              </a:rPr>
              <a:t>Suggest a suitable range of likely predictions by considering a broader trend in the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data.</a:t>
            </a:r>
            <a:endParaRPr sz="1200">
              <a:latin typeface="Lexend"/>
              <a:ea typeface="Lexend"/>
              <a:cs typeface="Lexend"/>
              <a:sym typeface="Lexend"/>
            </a:endParaRPr>
          </a:p>
        </p:txBody>
      </p:sp>
      <p:sp>
        <p:nvSpPr>
          <p:cNvPr id="177" name="Google Shape;177;p14"/>
          <p:cNvSpPr txBox="1"/>
          <p:nvPr/>
        </p:nvSpPr>
        <p:spPr>
          <a:xfrm>
            <a:off x="470000" y="8231921"/>
            <a:ext cx="6622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g) If this was the weather forecast for March 2024 in Stornoway (based on weather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conditions at the end of February 2024), explain how this might impact your prediction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from part c).</a:t>
            </a:r>
            <a:endParaRPr sz="1200">
              <a:latin typeface="Lexend"/>
              <a:ea typeface="Lexend"/>
              <a:cs typeface="Lexend"/>
              <a:sym typeface="Lexend"/>
            </a:endParaRPr>
          </a:p>
        </p:txBody>
      </p:sp>
      <p:graphicFrame>
        <p:nvGraphicFramePr>
          <p:cNvPr id="178" name="Google Shape;178;p14"/>
          <p:cNvGraphicFramePr/>
          <p:nvPr/>
        </p:nvGraphicFramePr>
        <p:xfrm>
          <a:off x="659630" y="8898213"/>
          <a:ext cx="3000000" cy="3000000"/>
        </p:xfrm>
        <a:graphic>
          <a:graphicData uri="http://schemas.openxmlformats.org/drawingml/2006/table">
            <a:tbl>
              <a:tblPr>
                <a:noFill/>
                <a:tableStyleId>{DF7F42C7-1546-44EE-95DC-813C29A54575}</a:tableStyleId>
              </a:tblPr>
              <a:tblGrid>
                <a:gridCol w="648750"/>
                <a:gridCol w="648750"/>
                <a:gridCol w="648750"/>
                <a:gridCol w="648750"/>
                <a:gridCol w="648750"/>
              </a:tblGrid>
              <a:tr h="151875">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week 1</a:t>
                      </a:r>
                      <a:endParaRPr sz="1200">
                        <a:solidFill>
                          <a:srgbClr val="FFFFFF"/>
                        </a:solidFill>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week 2</a:t>
                      </a:r>
                      <a:endParaRPr sz="1200">
                        <a:solidFill>
                          <a:srgbClr val="FFFFFF"/>
                        </a:solidFill>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week 3</a:t>
                      </a:r>
                      <a:endParaRPr sz="1200">
                        <a:solidFill>
                          <a:srgbClr val="FFFFFF"/>
                        </a:solidFill>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week 4</a:t>
                      </a:r>
                      <a:endParaRPr sz="1200">
                        <a:solidFill>
                          <a:srgbClr val="FFFFFF"/>
                        </a:solidFill>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200">
                          <a:solidFill>
                            <a:srgbClr val="FFFFFF"/>
                          </a:solidFill>
                          <a:latin typeface="Lexend"/>
                          <a:ea typeface="Lexend"/>
                          <a:cs typeface="Lexend"/>
                          <a:sym typeface="Lexend"/>
                        </a:rPr>
                        <a:t>week 5</a:t>
                      </a:r>
                      <a:endParaRPr sz="1200">
                        <a:solidFill>
                          <a:srgbClr val="FFFFFF"/>
                        </a:solidFill>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666666"/>
                    </a:solidFill>
                  </a:tcPr>
                </a:tc>
              </a:tr>
              <a:tr h="505525">
                <a:tc>
                  <a:txBody>
                    <a:bodyPr/>
                    <a:lstStyle/>
                    <a:p>
                      <a:pPr indent="0" lvl="0" marL="0" rtl="0" algn="ctr">
                        <a:spcBef>
                          <a:spcPts val="0"/>
                        </a:spcBef>
                        <a:spcAft>
                          <a:spcPts val="0"/>
                        </a:spcAft>
                        <a:buNone/>
                      </a:pPr>
                      <a:r>
                        <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53000">
                <a:tc>
                  <a:txBody>
                    <a:bodyPr/>
                    <a:lstStyle/>
                    <a:p>
                      <a:pPr indent="0" lvl="0" marL="0" rtl="0" algn="ctr">
                        <a:spcBef>
                          <a:spcPts val="0"/>
                        </a:spcBef>
                        <a:spcAft>
                          <a:spcPts val="0"/>
                        </a:spcAft>
                        <a:buNone/>
                      </a:pPr>
                      <a:r>
                        <a:rPr lang="en-GB" sz="1200">
                          <a:latin typeface="Lexend"/>
                          <a:ea typeface="Lexend"/>
                          <a:cs typeface="Lexend"/>
                          <a:sym typeface="Lexend"/>
                        </a:rPr>
                        <a:t>12°C</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a:t>
                      </a:r>
                      <a:r>
                        <a:rPr lang="en-GB" sz="1200">
                          <a:latin typeface="Lexend"/>
                          <a:ea typeface="Lexend"/>
                          <a:cs typeface="Lexend"/>
                          <a:sym typeface="Lexend"/>
                        </a:rPr>
                        <a:t>3</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9</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a:t>
                      </a:r>
                      <a:r>
                        <a:rPr lang="en-GB" sz="1200">
                          <a:latin typeface="Lexend"/>
                          <a:ea typeface="Lexend"/>
                          <a:cs typeface="Lexend"/>
                          <a:sym typeface="Lexend"/>
                        </a:rPr>
                        <a:t>1</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a:t>
                      </a:r>
                      <a:r>
                        <a:rPr lang="en-GB" sz="1200">
                          <a:latin typeface="Lexend"/>
                          <a:ea typeface="Lexend"/>
                          <a:cs typeface="Lexend"/>
                          <a:sym typeface="Lexend"/>
                        </a:rPr>
                        <a:t>3</a:t>
                      </a:r>
                      <a:r>
                        <a:rPr lang="en-GB" sz="1200">
                          <a:solidFill>
                            <a:srgbClr val="000000"/>
                          </a:solidFill>
                          <a:latin typeface="Lexend"/>
                          <a:ea typeface="Lexend"/>
                          <a:cs typeface="Lexend"/>
                          <a:sym typeface="Lexend"/>
                        </a:rPr>
                        <a:t>°C</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179" name="Google Shape;179;p14" title="https://oaknationalacademy-res.cloudinary.com/image/upload/v1713776096/rrwsn7j1bwnvwyj4ecoh.jpg"/>
          <p:cNvPicPr preferRelativeResize="0"/>
          <p:nvPr/>
        </p:nvPicPr>
        <p:blipFill rotWithShape="1">
          <a:blip r:embed="rId4">
            <a:alphaModFix/>
          </a:blip>
          <a:srcRect b="72973" l="5045" r="74328" t="3471"/>
          <a:stretch/>
        </p:blipFill>
        <p:spPr>
          <a:xfrm>
            <a:off x="2658783" y="9017842"/>
            <a:ext cx="550779" cy="628982"/>
          </a:xfrm>
          <a:prstGeom prst="rect">
            <a:avLst/>
          </a:prstGeom>
          <a:noFill/>
          <a:ln>
            <a:noFill/>
          </a:ln>
        </p:spPr>
      </p:pic>
      <p:pic>
        <p:nvPicPr>
          <p:cNvPr id="180" name="Google Shape;180;p14" title="https://oaknationalacademy-res.cloudinary.com/image/upload/v1713776096/rrwsn7j1bwnvwyj4ecoh.jpg"/>
          <p:cNvPicPr preferRelativeResize="0"/>
          <p:nvPr/>
        </p:nvPicPr>
        <p:blipFill rotWithShape="1">
          <a:blip r:embed="rId4">
            <a:alphaModFix/>
          </a:blip>
          <a:srcRect b="72307" l="52026" r="27346" t="4138"/>
          <a:stretch/>
        </p:blipFill>
        <p:spPr>
          <a:xfrm>
            <a:off x="2032589" y="9021737"/>
            <a:ext cx="550779" cy="628982"/>
          </a:xfrm>
          <a:prstGeom prst="rect">
            <a:avLst/>
          </a:prstGeom>
          <a:noFill/>
          <a:ln>
            <a:noFill/>
          </a:ln>
        </p:spPr>
      </p:pic>
      <p:pic>
        <p:nvPicPr>
          <p:cNvPr id="181" name="Google Shape;181;p14" title="https://oaknationalacademy-res.cloudinary.com/image/upload/v1713776096/rrwsn7j1bwnvwyj4ecoh.jpg"/>
          <p:cNvPicPr preferRelativeResize="0"/>
          <p:nvPr/>
        </p:nvPicPr>
        <p:blipFill rotWithShape="1">
          <a:blip r:embed="rId4">
            <a:alphaModFix/>
          </a:blip>
          <a:srcRect b="72973" l="5045" r="74328" t="3471"/>
          <a:stretch/>
        </p:blipFill>
        <p:spPr>
          <a:xfrm>
            <a:off x="3321156" y="9017842"/>
            <a:ext cx="550779" cy="628982"/>
          </a:xfrm>
          <a:prstGeom prst="rect">
            <a:avLst/>
          </a:prstGeom>
          <a:noFill/>
          <a:ln>
            <a:noFill/>
          </a:ln>
        </p:spPr>
      </p:pic>
      <p:pic>
        <p:nvPicPr>
          <p:cNvPr id="182" name="Google Shape;182;p14" title="https://oaknationalacademy-res.cloudinary.com/image/upload/v1713776096/rrwsn7j1bwnvwyj4ecoh.jpg"/>
          <p:cNvPicPr preferRelativeResize="0"/>
          <p:nvPr/>
        </p:nvPicPr>
        <p:blipFill rotWithShape="1">
          <a:blip r:embed="rId4">
            <a:alphaModFix/>
          </a:blip>
          <a:srcRect b="72973" l="5045" r="74328" t="3471"/>
          <a:stretch/>
        </p:blipFill>
        <p:spPr>
          <a:xfrm>
            <a:off x="1366373" y="9017842"/>
            <a:ext cx="550779" cy="628982"/>
          </a:xfrm>
          <a:prstGeom prst="rect">
            <a:avLst/>
          </a:prstGeom>
          <a:noFill/>
          <a:ln>
            <a:noFill/>
          </a:ln>
        </p:spPr>
      </p:pic>
      <p:pic>
        <p:nvPicPr>
          <p:cNvPr id="183" name="Google Shape;183;p14" title="https://oaknationalacademy-res.cloudinary.com/image/upload/v1713776096/rrwsn7j1bwnvwyj4ecoh.jpg"/>
          <p:cNvPicPr preferRelativeResize="0"/>
          <p:nvPr/>
        </p:nvPicPr>
        <p:blipFill rotWithShape="1">
          <a:blip r:embed="rId4">
            <a:alphaModFix/>
          </a:blip>
          <a:srcRect b="72307" l="52026" r="27346" t="4138"/>
          <a:stretch/>
        </p:blipFill>
        <p:spPr>
          <a:xfrm>
            <a:off x="756188" y="9021737"/>
            <a:ext cx="550779" cy="628982"/>
          </a:xfrm>
          <a:prstGeom prst="rect">
            <a:avLst/>
          </a:prstGeom>
          <a:noFill/>
          <a:ln>
            <a:noFill/>
          </a:ln>
        </p:spPr>
      </p:pic>
      <p:sp>
        <p:nvSpPr>
          <p:cNvPr id="184" name="Google Shape;184;p14"/>
          <p:cNvSpPr txBox="1"/>
          <p:nvPr/>
        </p:nvSpPr>
        <p:spPr>
          <a:xfrm>
            <a:off x="658575" y="3714358"/>
            <a:ext cx="63264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1000"/>
              </a:spcAft>
              <a:buNone/>
            </a:pPr>
            <a:r>
              <a:rPr lang="en-GB" sz="1200">
                <a:latin typeface="Kalam"/>
                <a:ea typeface="Kalam"/>
                <a:cs typeface="Kalam"/>
                <a:sym typeface="Kalam"/>
              </a:rPr>
              <a:t>The trendline is suggesting that the amount of rainfall each March is increasing over long periods of time. This does not mean that the amount of rainfall each March will always be greater than the previous year.</a:t>
            </a:r>
            <a:endParaRPr sz="1200">
              <a:latin typeface="Kalam"/>
              <a:ea typeface="Kalam"/>
              <a:cs typeface="Kalam"/>
              <a:sym typeface="Kalam"/>
            </a:endParaRPr>
          </a:p>
        </p:txBody>
      </p:sp>
      <p:sp>
        <p:nvSpPr>
          <p:cNvPr id="185" name="Google Shape;185;p14"/>
          <p:cNvSpPr txBox="1"/>
          <p:nvPr/>
        </p:nvSpPr>
        <p:spPr>
          <a:xfrm>
            <a:off x="665611" y="5404629"/>
            <a:ext cx="6308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The trendline is suggesting the opposite thing. It is important to look at longer-term trends, rather than the fluctuations between only two consecutive years.</a:t>
            </a:r>
            <a:endParaRPr sz="1200">
              <a:latin typeface="Kalam"/>
              <a:ea typeface="Kalam"/>
              <a:cs typeface="Kalam"/>
              <a:sym typeface="Kalam"/>
            </a:endParaRPr>
          </a:p>
        </p:txBody>
      </p:sp>
      <p:cxnSp>
        <p:nvCxnSpPr>
          <p:cNvPr id="186" name="Google Shape;186;p14"/>
          <p:cNvCxnSpPr/>
          <p:nvPr/>
        </p:nvCxnSpPr>
        <p:spPr>
          <a:xfrm flipH="1" rot="10800000">
            <a:off x="5147842" y="2073240"/>
            <a:ext cx="637800" cy="60900"/>
          </a:xfrm>
          <a:prstGeom prst="straightConnector1">
            <a:avLst/>
          </a:prstGeom>
          <a:noFill/>
          <a:ln cap="flat" cmpd="sng" w="28575">
            <a:solidFill>
              <a:schemeClr val="dk2"/>
            </a:solidFill>
            <a:prstDash val="solid"/>
            <a:round/>
            <a:headEnd len="med" w="med" type="none"/>
            <a:tailEnd len="med" w="med" type="none"/>
          </a:ln>
        </p:spPr>
      </p:cxnSp>
      <p:sp>
        <p:nvSpPr>
          <p:cNvPr id="187" name="Google Shape;187;p14"/>
          <p:cNvSpPr txBox="1"/>
          <p:nvPr/>
        </p:nvSpPr>
        <p:spPr>
          <a:xfrm>
            <a:off x="669900" y="6622700"/>
            <a:ext cx="28521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A prediction of approximately 120 mm.</a:t>
            </a:r>
            <a:endParaRPr sz="1200">
              <a:latin typeface="Kalam"/>
              <a:ea typeface="Kalam"/>
              <a:cs typeface="Kalam"/>
              <a:sym typeface="Kalam"/>
            </a:endParaRPr>
          </a:p>
        </p:txBody>
      </p:sp>
      <p:sp>
        <p:nvSpPr>
          <p:cNvPr id="188" name="Google Shape;188;p14"/>
          <p:cNvSpPr txBox="1"/>
          <p:nvPr/>
        </p:nvSpPr>
        <p:spPr>
          <a:xfrm>
            <a:off x="669900" y="7110067"/>
            <a:ext cx="53889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There is a lot of variation in March rainfall from year to year.</a:t>
            </a:r>
            <a:endParaRPr sz="1200">
              <a:latin typeface="Kalam"/>
              <a:ea typeface="Kalam"/>
              <a:cs typeface="Kalam"/>
              <a:sym typeface="Kalam"/>
            </a:endParaRPr>
          </a:p>
          <a:p>
            <a:pPr indent="0" lvl="0" marL="0" rtl="0" algn="l">
              <a:spcBef>
                <a:spcPts val="0"/>
              </a:spcBef>
              <a:spcAft>
                <a:spcPts val="0"/>
              </a:spcAft>
              <a:buNone/>
            </a:pPr>
            <a:r>
              <a:rPr lang="en-GB" sz="1200">
                <a:latin typeface="Kalam"/>
                <a:ea typeface="Kalam"/>
                <a:cs typeface="Kalam"/>
                <a:sym typeface="Kalam"/>
              </a:rPr>
              <a:t>Future rainfall may not follow the same long-term trend as previous years.</a:t>
            </a:r>
            <a:endParaRPr sz="1200">
              <a:latin typeface="Kalam"/>
              <a:ea typeface="Kalam"/>
              <a:cs typeface="Kalam"/>
              <a:sym typeface="Kalam"/>
            </a:endParaRPr>
          </a:p>
        </p:txBody>
      </p:sp>
      <p:sp>
        <p:nvSpPr>
          <p:cNvPr id="189" name="Google Shape;189;p14"/>
          <p:cNvSpPr txBox="1"/>
          <p:nvPr/>
        </p:nvSpPr>
        <p:spPr>
          <a:xfrm>
            <a:off x="656696" y="7937962"/>
            <a:ext cx="31332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Approximately between 75 mm and 165 mm.</a:t>
            </a:r>
            <a:endParaRPr sz="1200">
              <a:latin typeface="Kalam"/>
              <a:ea typeface="Kalam"/>
              <a:cs typeface="Kalam"/>
              <a:sym typeface="Kalam"/>
            </a:endParaRPr>
          </a:p>
        </p:txBody>
      </p:sp>
      <p:sp>
        <p:nvSpPr>
          <p:cNvPr id="190" name="Google Shape;190;p14"/>
          <p:cNvSpPr txBox="1"/>
          <p:nvPr/>
        </p:nvSpPr>
        <p:spPr>
          <a:xfrm>
            <a:off x="4140000" y="8825517"/>
            <a:ext cx="2952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The weather report suggests that March 2024 will be a sunny month, with little significant rainfall. This may mean that </a:t>
            </a:r>
            <a:r>
              <a:rPr lang="en-GB" sz="1200">
                <a:latin typeface="Kalam"/>
                <a:ea typeface="Kalam"/>
                <a:cs typeface="Kalam"/>
                <a:sym typeface="Kalam"/>
              </a:rPr>
              <a:t>there is less rainfall than the trend suggests from previous Marches. This means the prediction of 120 mm might be too high.</a:t>
            </a:r>
            <a:endParaRPr sz="1200">
              <a:latin typeface="Kalam"/>
              <a:ea typeface="Kalam"/>
              <a:cs typeface="Kalam"/>
              <a:sym typeface="Kalam"/>
            </a:endParaRPr>
          </a:p>
        </p:txBody>
      </p:sp>
      <p:sp>
        <p:nvSpPr>
          <p:cNvPr id="191" name="Google Shape;191;p14"/>
          <p:cNvSpPr txBox="1"/>
          <p:nvPr/>
        </p:nvSpPr>
        <p:spPr>
          <a:xfrm>
            <a:off x="476400" y="4372725"/>
            <a:ext cx="6600600" cy="99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b) Izzy says:</a:t>
            </a:r>
            <a:endParaRPr sz="1200">
              <a:latin typeface="Lexend"/>
              <a:ea typeface="Lexend"/>
              <a:cs typeface="Lexend"/>
              <a:sym typeface="Lexend"/>
            </a:endParaRPr>
          </a:p>
          <a:p>
            <a:pPr indent="0" lvl="0" marL="0" rtl="0" algn="l">
              <a:spcBef>
                <a:spcPts val="1000"/>
              </a:spcBef>
              <a:spcAft>
                <a:spcPts val="0"/>
              </a:spcAft>
              <a:buNone/>
            </a:pPr>
            <a:r>
              <a:rPr lang="en-GB" sz="1200">
                <a:latin typeface="Lexend"/>
                <a:ea typeface="Lexend"/>
                <a:cs typeface="Lexend"/>
                <a:sym typeface="Lexend"/>
              </a:rPr>
              <a:t>        “The amount of rainfall in March 2022 is lower than in March 2021.                     </a:t>
            </a:r>
            <a:br>
              <a:rPr lang="en-GB" sz="1200">
                <a:latin typeface="Lexend"/>
                <a:ea typeface="Lexend"/>
                <a:cs typeface="Lexend"/>
                <a:sym typeface="Lexend"/>
              </a:rPr>
            </a:br>
            <a:r>
              <a:rPr lang="en-GB" sz="1200">
                <a:latin typeface="Lexend"/>
                <a:ea typeface="Lexend"/>
                <a:cs typeface="Lexend"/>
                <a:sym typeface="Lexend"/>
              </a:rPr>
              <a:t>         This means the amount of rainfall in March 2023 will be even lower”.</a:t>
            </a:r>
            <a:endParaRPr sz="1200">
              <a:latin typeface="Lexend"/>
              <a:ea typeface="Lexend"/>
              <a:cs typeface="Lexend"/>
              <a:sym typeface="Lexend"/>
            </a:endParaRPr>
          </a:p>
          <a:p>
            <a:pPr indent="0" lvl="0" marL="0" rtl="0" algn="l">
              <a:spcBef>
                <a:spcPts val="1000"/>
              </a:spcBef>
              <a:spcAft>
                <a:spcPts val="0"/>
              </a:spcAft>
              <a:buNone/>
            </a:pPr>
            <a:r>
              <a:rPr lang="en-GB" sz="1200">
                <a:latin typeface="Lexend"/>
                <a:ea typeface="Lexend"/>
                <a:cs typeface="Lexend"/>
                <a:sym typeface="Lexend"/>
              </a:rPr>
              <a:t>    Explain why Izzy’s assumption may not be correct.</a:t>
            </a:r>
            <a:endParaRPr sz="1200">
              <a:latin typeface="Lexend"/>
              <a:ea typeface="Lexend"/>
              <a:cs typeface="Lexend"/>
              <a:sym typeface="Lexend"/>
            </a:endParaRPr>
          </a:p>
        </p:txBody>
      </p:sp>
      <p:sp>
        <p:nvSpPr>
          <p:cNvPr id="192" name="Google Shape;192;p14"/>
          <p:cNvSpPr txBox="1"/>
          <p:nvPr/>
        </p:nvSpPr>
        <p:spPr>
          <a:xfrm>
            <a:off x="487750" y="9743550"/>
            <a:ext cx="3000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600">
                <a:solidFill>
                  <a:srgbClr val="808080"/>
                </a:solidFill>
                <a:latin typeface="Lexend"/>
                <a:ea typeface="Lexend"/>
                <a:cs typeface="Lexend"/>
                <a:sym typeface="Lexend"/>
              </a:rPr>
              <a:t>Weather images: Raura7/ Shutterstock.com</a:t>
            </a:r>
            <a:endParaRPr sz="600">
              <a:solidFill>
                <a:srgbClr val="808080"/>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Worksheet Answers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