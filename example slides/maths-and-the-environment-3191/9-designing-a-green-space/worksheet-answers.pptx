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0e5977771b_0_8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0e5977771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Designing a green space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468001" y="1335050"/>
            <a:ext cx="6194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Planning rooftop agriculture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476400" y="1826100"/>
            <a:ext cx="66240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diagram shows the plan view of a rooftop for an office building.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roof has two congruent skylight windows.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662575" y="6106800"/>
            <a:ext cx="6357300" cy="11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designer wants to use as much roof-space as possible to plant greenery.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They need to include a border around the edge, for drainage. The border is 50 cm wide all around.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Calculate the maximum area that can be used for planting greenery.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5044800" y="5574527"/>
            <a:ext cx="21147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diagram not drawn to scale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12"/>
          <p:cNvSpPr/>
          <p:nvPr/>
        </p:nvSpPr>
        <p:spPr>
          <a:xfrm>
            <a:off x="1544358" y="2656115"/>
            <a:ext cx="4470000" cy="2514900"/>
          </a:xfrm>
          <a:prstGeom prst="rect">
            <a:avLst/>
          </a:prstGeom>
          <a:solidFill>
            <a:srgbClr val="B7B7B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" name="Google Shape;122;p12"/>
          <p:cNvCxnSpPr/>
          <p:nvPr/>
        </p:nvCxnSpPr>
        <p:spPr>
          <a:xfrm>
            <a:off x="1544624" y="5259901"/>
            <a:ext cx="4469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3" name="Google Shape;123;p12"/>
          <p:cNvCxnSpPr/>
          <p:nvPr/>
        </p:nvCxnSpPr>
        <p:spPr>
          <a:xfrm>
            <a:off x="1445082" y="2656115"/>
            <a:ext cx="0" cy="2526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4" name="Google Shape;124;p12"/>
          <p:cNvSpPr txBox="1"/>
          <p:nvPr/>
        </p:nvSpPr>
        <p:spPr>
          <a:xfrm>
            <a:off x="3405265" y="5261742"/>
            <a:ext cx="7035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30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2"/>
          <p:cNvSpPr txBox="1"/>
          <p:nvPr/>
        </p:nvSpPr>
        <p:spPr>
          <a:xfrm>
            <a:off x="5366181" y="2320749"/>
            <a:ext cx="6696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3.5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5341322" y="2656115"/>
            <a:ext cx="669600" cy="669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stair-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well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2"/>
          <p:cNvCxnSpPr/>
          <p:nvPr/>
        </p:nvCxnSpPr>
        <p:spPr>
          <a:xfrm>
            <a:off x="5347272" y="2914034"/>
            <a:ext cx="0" cy="164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2"/>
          <p:cNvCxnSpPr/>
          <p:nvPr/>
        </p:nvCxnSpPr>
        <p:spPr>
          <a:xfrm>
            <a:off x="5676022" y="3242496"/>
            <a:ext cx="0" cy="164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12"/>
          <p:cNvSpPr/>
          <p:nvPr/>
        </p:nvSpPr>
        <p:spPr>
          <a:xfrm>
            <a:off x="1761193" y="2867599"/>
            <a:ext cx="4022596" cy="2110798"/>
          </a:xfrm>
          <a:custGeom>
            <a:rect b="b" l="l" r="r" t="t"/>
            <a:pathLst>
              <a:path extrusionOk="0" h="88857" w="169319">
                <a:moveTo>
                  <a:pt x="129" y="0"/>
                </a:moveTo>
                <a:lnTo>
                  <a:pt x="142455" y="0"/>
                </a:lnTo>
                <a:lnTo>
                  <a:pt x="142455" y="27381"/>
                </a:lnTo>
                <a:lnTo>
                  <a:pt x="169319" y="27381"/>
                </a:lnTo>
                <a:lnTo>
                  <a:pt x="169319" y="88857"/>
                </a:lnTo>
                <a:lnTo>
                  <a:pt x="0" y="88857"/>
                </a:lnTo>
                <a:close/>
              </a:path>
            </a:pathLst>
          </a:cu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0" name="Google Shape;130;p12"/>
          <p:cNvSpPr/>
          <p:nvPr/>
        </p:nvSpPr>
        <p:spPr>
          <a:xfrm>
            <a:off x="2305832" y="3654930"/>
            <a:ext cx="953100" cy="613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skylight window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4152576" y="3654930"/>
            <a:ext cx="953100" cy="613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skylight window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2" name="Google Shape;132;p12"/>
          <p:cNvCxnSpPr/>
          <p:nvPr/>
        </p:nvCxnSpPr>
        <p:spPr>
          <a:xfrm rot="10800000">
            <a:off x="5375639" y="2551577"/>
            <a:ext cx="618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3" name="Google Shape;133;p12"/>
          <p:cNvSpPr txBox="1"/>
          <p:nvPr/>
        </p:nvSpPr>
        <p:spPr>
          <a:xfrm>
            <a:off x="2382712" y="2625057"/>
            <a:ext cx="24456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drainage border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884475" y="3864006"/>
            <a:ext cx="7035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5" name="Google Shape;135;p12"/>
          <p:cNvCxnSpPr/>
          <p:nvPr/>
        </p:nvCxnSpPr>
        <p:spPr>
          <a:xfrm>
            <a:off x="2307922" y="4363979"/>
            <a:ext cx="942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6" name="Google Shape;136;p12"/>
          <p:cNvSpPr txBox="1"/>
          <p:nvPr/>
        </p:nvSpPr>
        <p:spPr>
          <a:xfrm>
            <a:off x="2586097" y="4357828"/>
            <a:ext cx="4203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7" name="Google Shape;137;p12"/>
          <p:cNvCxnSpPr/>
          <p:nvPr/>
        </p:nvCxnSpPr>
        <p:spPr>
          <a:xfrm rot="10800000">
            <a:off x="3358345" y="3677013"/>
            <a:ext cx="0" cy="60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8" name="Google Shape;138;p12"/>
          <p:cNvSpPr txBox="1"/>
          <p:nvPr/>
        </p:nvSpPr>
        <p:spPr>
          <a:xfrm>
            <a:off x="3395303" y="3883123"/>
            <a:ext cx="4203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" name="Google Shape;139;p12"/>
          <p:cNvCxnSpPr/>
          <p:nvPr/>
        </p:nvCxnSpPr>
        <p:spPr>
          <a:xfrm>
            <a:off x="5652325" y="2582958"/>
            <a:ext cx="0" cy="153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12"/>
          <p:cNvSpPr/>
          <p:nvPr/>
        </p:nvSpPr>
        <p:spPr>
          <a:xfrm>
            <a:off x="5335855" y="2661316"/>
            <a:ext cx="75000" cy="7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2"/>
          <p:cNvSpPr/>
          <p:nvPr/>
        </p:nvSpPr>
        <p:spPr>
          <a:xfrm>
            <a:off x="5939386" y="2661316"/>
            <a:ext cx="75000" cy="7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2"/>
          <p:cNvSpPr/>
          <p:nvPr/>
        </p:nvSpPr>
        <p:spPr>
          <a:xfrm>
            <a:off x="5342850" y="3253172"/>
            <a:ext cx="75000" cy="7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2"/>
          <p:cNvSpPr/>
          <p:nvPr/>
        </p:nvSpPr>
        <p:spPr>
          <a:xfrm>
            <a:off x="5942884" y="3252613"/>
            <a:ext cx="75000" cy="7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4" name="Google Shape;144;p12"/>
          <p:cNvCxnSpPr/>
          <p:nvPr/>
        </p:nvCxnSpPr>
        <p:spPr>
          <a:xfrm>
            <a:off x="6001989" y="2914034"/>
            <a:ext cx="0" cy="164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" name="Google Shape;145;p12"/>
          <p:cNvSpPr/>
          <p:nvPr/>
        </p:nvSpPr>
        <p:spPr>
          <a:xfrm>
            <a:off x="2306860" y="3654771"/>
            <a:ext cx="75000" cy="7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3184367" y="3654771"/>
            <a:ext cx="75000" cy="7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2"/>
          <p:cNvSpPr/>
          <p:nvPr/>
        </p:nvSpPr>
        <p:spPr>
          <a:xfrm>
            <a:off x="2306860" y="4192693"/>
            <a:ext cx="75000" cy="7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12"/>
          <p:cNvSpPr/>
          <p:nvPr/>
        </p:nvSpPr>
        <p:spPr>
          <a:xfrm>
            <a:off x="3184367" y="4192693"/>
            <a:ext cx="75000" cy="7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2"/>
          <p:cNvSpPr txBox="1"/>
          <p:nvPr/>
        </p:nvSpPr>
        <p:spPr>
          <a:xfrm>
            <a:off x="1646164" y="3810901"/>
            <a:ext cx="7035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19 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0" name="Google Shape;150;p12"/>
          <p:cNvSpPr txBox="1"/>
          <p:nvPr/>
        </p:nvSpPr>
        <p:spPr>
          <a:xfrm>
            <a:off x="3175382" y="2913291"/>
            <a:ext cx="7035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25.5 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" name="Google Shape;151;p12"/>
          <p:cNvSpPr txBox="1"/>
          <p:nvPr/>
        </p:nvSpPr>
        <p:spPr>
          <a:xfrm>
            <a:off x="4491459" y="3112413"/>
            <a:ext cx="6441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3.5 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" name="Google Shape;152;p12"/>
          <p:cNvSpPr txBox="1"/>
          <p:nvPr/>
        </p:nvSpPr>
        <p:spPr>
          <a:xfrm>
            <a:off x="5130570" y="3568186"/>
            <a:ext cx="6441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3.5 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" name="Google Shape;153;p12"/>
          <p:cNvSpPr txBox="1"/>
          <p:nvPr/>
        </p:nvSpPr>
        <p:spPr>
          <a:xfrm>
            <a:off x="5116526" y="4192901"/>
            <a:ext cx="6441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15.5 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54" name="Google Shape;154;p12"/>
          <p:cNvGrpSpPr/>
          <p:nvPr/>
        </p:nvGrpSpPr>
        <p:grpSpPr>
          <a:xfrm>
            <a:off x="1821920" y="2940880"/>
            <a:ext cx="3912874" cy="2034194"/>
            <a:chOff x="4229222" y="1713870"/>
            <a:chExt cx="4297028" cy="2233905"/>
          </a:xfrm>
        </p:grpSpPr>
        <p:cxnSp>
          <p:nvCxnSpPr>
            <p:cNvPr id="155" name="Google Shape;155;p12"/>
            <p:cNvCxnSpPr/>
            <p:nvPr/>
          </p:nvCxnSpPr>
          <p:spPr>
            <a:xfrm>
              <a:off x="4229225" y="1723575"/>
              <a:ext cx="0" cy="2224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6" name="Google Shape;156;p12"/>
            <p:cNvCxnSpPr/>
            <p:nvPr/>
          </p:nvCxnSpPr>
          <p:spPr>
            <a:xfrm>
              <a:off x="4229222" y="1713870"/>
              <a:ext cx="35400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7" name="Google Shape;157;p12"/>
            <p:cNvCxnSpPr/>
            <p:nvPr/>
          </p:nvCxnSpPr>
          <p:spPr>
            <a:xfrm>
              <a:off x="7765275" y="1716425"/>
              <a:ext cx="0" cy="637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8" name="Google Shape;158;p12"/>
            <p:cNvCxnSpPr/>
            <p:nvPr/>
          </p:nvCxnSpPr>
          <p:spPr>
            <a:xfrm>
              <a:off x="8207650" y="2117700"/>
              <a:ext cx="0" cy="637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9" name="Google Shape;159;p12"/>
            <p:cNvCxnSpPr/>
            <p:nvPr/>
          </p:nvCxnSpPr>
          <p:spPr>
            <a:xfrm>
              <a:off x="8471225" y="2474475"/>
              <a:ext cx="0" cy="1473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0" name="Google Shape;160;p12"/>
            <p:cNvCxnSpPr/>
            <p:nvPr/>
          </p:nvCxnSpPr>
          <p:spPr>
            <a:xfrm rot="10800000">
              <a:off x="4229275" y="3866535"/>
              <a:ext cx="42525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61" name="Google Shape;161;p12"/>
          <p:cNvSpPr txBox="1"/>
          <p:nvPr/>
        </p:nvSpPr>
        <p:spPr>
          <a:xfrm>
            <a:off x="3446433" y="4696715"/>
            <a:ext cx="6441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29 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" name="Google Shape;162;p12"/>
          <p:cNvSpPr txBox="1"/>
          <p:nvPr/>
        </p:nvSpPr>
        <p:spPr>
          <a:xfrm>
            <a:off x="682079" y="7201268"/>
            <a:ext cx="56292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inside the border: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25.5 × 3.5 + 29 × 15.5 = 538.75 m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682079" y="7553693"/>
            <a:ext cx="56292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of each window: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4 × 6 = 24 m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2"/>
          <p:cNvSpPr txBox="1"/>
          <p:nvPr/>
        </p:nvSpPr>
        <p:spPr>
          <a:xfrm>
            <a:off x="682079" y="7906118"/>
            <a:ext cx="56292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for planting greenery: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538.75 – 2 × 24 = 490.75 m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" name="Google Shape;165;p12"/>
          <p:cNvCxnSpPr/>
          <p:nvPr/>
        </p:nvCxnSpPr>
        <p:spPr>
          <a:xfrm>
            <a:off x="482701" y="994297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Designing a green space</a:t>
            </a:r>
            <a:endParaRPr/>
          </a:p>
        </p:txBody>
      </p:sp>
      <p:sp>
        <p:nvSpPr>
          <p:cNvPr id="171" name="Google Shape;17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491525" y="496850"/>
            <a:ext cx="66006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Planning a garden or allotment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13"/>
          <p:cNvSpPr txBox="1"/>
          <p:nvPr/>
        </p:nvSpPr>
        <p:spPr>
          <a:xfrm>
            <a:off x="476400" y="987900"/>
            <a:ext cx="51027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diagram shows the plan for part of a community garden.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It has a path that is 80 cm wide and four planting boxes.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Each box is labelled with what it is intended to grow.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13"/>
          <p:cNvSpPr txBox="1"/>
          <p:nvPr/>
        </p:nvSpPr>
        <p:spPr>
          <a:xfrm>
            <a:off x="635550" y="6189750"/>
            <a:ext cx="6024000" cy="1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information below shows how far apart each type of plant should be: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broccoli 80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cabbages: 45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cauliflower: 60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strawberry plants: 30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What is the maximum number of plants that can be planted in each box?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3"/>
          <p:cNvSpPr txBox="1"/>
          <p:nvPr/>
        </p:nvSpPr>
        <p:spPr>
          <a:xfrm>
            <a:off x="4920950" y="5688475"/>
            <a:ext cx="2247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diagram not drawn to scale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13"/>
          <p:cNvSpPr/>
          <p:nvPr/>
        </p:nvSpPr>
        <p:spPr>
          <a:xfrm rot="5400000">
            <a:off x="1879701" y="2302009"/>
            <a:ext cx="3240000" cy="2804700"/>
          </a:xfrm>
          <a:prstGeom prst="rect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13"/>
          <p:cNvSpPr/>
          <p:nvPr/>
        </p:nvSpPr>
        <p:spPr>
          <a:xfrm flipH="1">
            <a:off x="2096813" y="2084413"/>
            <a:ext cx="1471800" cy="1214400"/>
          </a:xfrm>
          <a:prstGeom prst="rect">
            <a:avLst/>
          </a:prstGeom>
          <a:solidFill>
            <a:srgbClr val="BF9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cauliflower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13"/>
          <p:cNvSpPr/>
          <p:nvPr/>
        </p:nvSpPr>
        <p:spPr>
          <a:xfrm flipH="1">
            <a:off x="3859851" y="2084413"/>
            <a:ext cx="1042200" cy="1214400"/>
          </a:xfrm>
          <a:prstGeom prst="rect">
            <a:avLst/>
          </a:prstGeom>
          <a:solidFill>
            <a:srgbClr val="BF9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straw-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berry plants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13"/>
          <p:cNvSpPr/>
          <p:nvPr/>
        </p:nvSpPr>
        <p:spPr>
          <a:xfrm flipH="1">
            <a:off x="2096813" y="3594968"/>
            <a:ext cx="1471800" cy="1729200"/>
          </a:xfrm>
          <a:prstGeom prst="rect">
            <a:avLst/>
          </a:prstGeom>
          <a:solidFill>
            <a:srgbClr val="BF9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broccoli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13"/>
          <p:cNvSpPr/>
          <p:nvPr/>
        </p:nvSpPr>
        <p:spPr>
          <a:xfrm flipH="1">
            <a:off x="3859851" y="3594970"/>
            <a:ext cx="1042200" cy="1729200"/>
          </a:xfrm>
          <a:prstGeom prst="rect">
            <a:avLst/>
          </a:prstGeom>
          <a:solidFill>
            <a:srgbClr val="BF9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cabbage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" name="Google Shape;181;p13"/>
          <p:cNvCxnSpPr/>
          <p:nvPr/>
        </p:nvCxnSpPr>
        <p:spPr>
          <a:xfrm>
            <a:off x="1998763" y="2115188"/>
            <a:ext cx="0" cy="1164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2" name="Google Shape;182;p13"/>
          <p:cNvCxnSpPr/>
          <p:nvPr/>
        </p:nvCxnSpPr>
        <p:spPr>
          <a:xfrm>
            <a:off x="2104276" y="1989566"/>
            <a:ext cx="1485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3" name="Google Shape;183;p13"/>
          <p:cNvCxnSpPr/>
          <p:nvPr/>
        </p:nvCxnSpPr>
        <p:spPr>
          <a:xfrm>
            <a:off x="2095398" y="5411127"/>
            <a:ext cx="2808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4" name="Google Shape;184;p13"/>
          <p:cNvSpPr txBox="1"/>
          <p:nvPr/>
        </p:nvSpPr>
        <p:spPr>
          <a:xfrm>
            <a:off x="1576675" y="2560241"/>
            <a:ext cx="5196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13"/>
          <p:cNvSpPr txBox="1"/>
          <p:nvPr/>
        </p:nvSpPr>
        <p:spPr>
          <a:xfrm>
            <a:off x="2580398" y="1773080"/>
            <a:ext cx="6219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13"/>
          <p:cNvSpPr txBox="1"/>
          <p:nvPr/>
        </p:nvSpPr>
        <p:spPr>
          <a:xfrm>
            <a:off x="5093971" y="3744737"/>
            <a:ext cx="6219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8.6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7" name="Google Shape;187;p13"/>
          <p:cNvCxnSpPr/>
          <p:nvPr/>
        </p:nvCxnSpPr>
        <p:spPr>
          <a:xfrm>
            <a:off x="5025614" y="2103322"/>
            <a:ext cx="0" cy="322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8" name="Google Shape;188;p13"/>
          <p:cNvSpPr txBox="1"/>
          <p:nvPr/>
        </p:nvSpPr>
        <p:spPr>
          <a:xfrm>
            <a:off x="3311092" y="5411127"/>
            <a:ext cx="6219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6.2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13"/>
          <p:cNvSpPr txBox="1"/>
          <p:nvPr/>
        </p:nvSpPr>
        <p:spPr>
          <a:xfrm>
            <a:off x="2680033" y="3014514"/>
            <a:ext cx="316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13"/>
          <p:cNvSpPr txBox="1"/>
          <p:nvPr/>
        </p:nvSpPr>
        <p:spPr>
          <a:xfrm>
            <a:off x="4251715" y="3014514"/>
            <a:ext cx="316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1" name="Google Shape;191;p13"/>
          <p:cNvCxnSpPr/>
          <p:nvPr/>
        </p:nvCxnSpPr>
        <p:spPr>
          <a:xfrm>
            <a:off x="3832950" y="1989576"/>
            <a:ext cx="1080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2" name="Google Shape;192;p13"/>
          <p:cNvSpPr txBox="1"/>
          <p:nvPr/>
        </p:nvSpPr>
        <p:spPr>
          <a:xfrm>
            <a:off x="4168159" y="1796700"/>
            <a:ext cx="6219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1.8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3" name="Google Shape;193;p13"/>
          <p:cNvCxnSpPr/>
          <p:nvPr/>
        </p:nvCxnSpPr>
        <p:spPr>
          <a:xfrm>
            <a:off x="1998763" y="3614321"/>
            <a:ext cx="0" cy="171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4" name="Google Shape;194;p13"/>
          <p:cNvSpPr txBox="1"/>
          <p:nvPr/>
        </p:nvSpPr>
        <p:spPr>
          <a:xfrm>
            <a:off x="1501159" y="4333978"/>
            <a:ext cx="6219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4.8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13"/>
          <p:cNvSpPr txBox="1"/>
          <p:nvPr/>
        </p:nvSpPr>
        <p:spPr>
          <a:xfrm>
            <a:off x="2680033" y="4690914"/>
            <a:ext cx="316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13"/>
          <p:cNvSpPr txBox="1"/>
          <p:nvPr/>
        </p:nvSpPr>
        <p:spPr>
          <a:xfrm>
            <a:off x="4251715" y="4690914"/>
            <a:ext cx="316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7" name="Google Shape;197;p13"/>
          <p:cNvCxnSpPr/>
          <p:nvPr/>
        </p:nvCxnSpPr>
        <p:spPr>
          <a:xfrm>
            <a:off x="482701" y="994297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p13"/>
          <p:cNvSpPr txBox="1"/>
          <p:nvPr/>
        </p:nvSpPr>
        <p:spPr>
          <a:xfrm>
            <a:off x="863100" y="7845900"/>
            <a:ext cx="186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Cauliflower: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1825020" y="7853900"/>
            <a:ext cx="1080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360 ÷ 60 = 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1830227" y="8082500"/>
            <a:ext cx="104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300 ÷ 60 = 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2083854" y="8311104"/>
            <a:ext cx="905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 × 5 = 30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3987300" y="7845900"/>
            <a:ext cx="186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Strawberry plants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5406420" y="7853900"/>
            <a:ext cx="1080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360 ÷ 60 = 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5411627" y="8082500"/>
            <a:ext cx="104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300 ÷ 60 = 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5665254" y="8311104"/>
            <a:ext cx="905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 × 5 = 30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1043675" y="8836500"/>
            <a:ext cx="7899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Broccoli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1825020" y="8844500"/>
            <a:ext cx="1080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360 ÷ 60 = 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1830227" y="9073100"/>
            <a:ext cx="104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300 ÷ 60 = 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2083854" y="9301704"/>
            <a:ext cx="905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 × 5 = 30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13"/>
          <p:cNvSpPr txBox="1"/>
          <p:nvPr/>
        </p:nvSpPr>
        <p:spPr>
          <a:xfrm>
            <a:off x="4580892" y="8836500"/>
            <a:ext cx="699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Cabbage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13"/>
          <p:cNvSpPr txBox="1"/>
          <p:nvPr/>
        </p:nvSpPr>
        <p:spPr>
          <a:xfrm>
            <a:off x="5406420" y="8844500"/>
            <a:ext cx="1080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360 ÷ 60 = 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13"/>
          <p:cNvSpPr txBox="1"/>
          <p:nvPr/>
        </p:nvSpPr>
        <p:spPr>
          <a:xfrm>
            <a:off x="5411627" y="9073100"/>
            <a:ext cx="104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300 ÷ 60 = 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13"/>
          <p:cNvSpPr txBox="1"/>
          <p:nvPr/>
        </p:nvSpPr>
        <p:spPr>
          <a:xfrm>
            <a:off x="5665254" y="9301704"/>
            <a:ext cx="905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 × 5 = 30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19" name="Google Shape;219;p14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Designing a green space</a:t>
            </a:r>
            <a:endParaRPr/>
          </a:p>
        </p:txBody>
      </p:sp>
      <p:sp>
        <p:nvSpPr>
          <p:cNvPr id="220" name="Google Shape;220;p14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1" name="Google Shape;221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491525" y="496850"/>
            <a:ext cx="66006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Designing a park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476400" y="1064100"/>
            <a:ext cx="6492900" cy="1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city is planning to build a park in a residential area.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Use the information below to design its layout and construct a scale drawing.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You can either use paper (e.g. A4 or A3) or dynamic software (e.g. GeoGebra or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Desmos) for your drawing. Include a scale and a key.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Information about the park: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14"/>
          <p:cNvSpPr txBox="1"/>
          <p:nvPr/>
        </p:nvSpPr>
        <p:spPr>
          <a:xfrm>
            <a:off x="584200" y="2536650"/>
            <a:ext cx="5768100" cy="13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space is 500 m by 600 m rectangle.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Large trees should be planted at least 15 m apart.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Small trees should be at least 5 m apart.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Footpaths should be at least 2 m wide.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path that provides vehicle access should be at least 4 m wide.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476400" y="4714426"/>
            <a:ext cx="64929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Plan a running route along the paths of your park. It should start and finish in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same place. Calculate the length of the route.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628800" y="3887625"/>
            <a:ext cx="63405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Answers will vary. If using A4 paper, then an example scale could be 1 : 2500 (1 cm represents 25 m). Answers should include a scale and a key.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14"/>
          <p:cNvSpPr txBox="1"/>
          <p:nvPr/>
        </p:nvSpPr>
        <p:spPr>
          <a:xfrm>
            <a:off x="628800" y="5335425"/>
            <a:ext cx="6463200" cy="20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Answers will vary.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Example: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perimeter of the park is 2.2 km.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Therefore, if there is a path inside the park that is close to its edges, then it could be used as a route that is slightly less than 2.2 km.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If the route also includes addition paths inside the park, then the route could be longer.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