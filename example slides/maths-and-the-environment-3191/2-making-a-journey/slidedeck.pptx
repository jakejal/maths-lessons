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C7B92C-C421-445D-9CDF-5C5C11991688}">
  <a:tblStyle styleId="{46C7B92C-C421-445D-9CDF-5C5C1199168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6320B603-CC66-42BC-AD94-E8151EE1B24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4" name="Google Shape;834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2fb2f06c154_0_4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0" name="Google Shape;840;g2fb2f06c154_0_4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5" name="Google Shape;845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2f518dc7e7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0" name="Google Shape;850;g2f518dc7e7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2fb2f06c154_0_5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5" name="Google Shape;855;g2fb2f06c154_0_5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g2f518dc7e79_0_19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1" name="Google Shape;861;g2f518dc7e79_0_19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2f518dc7e79_0_19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0" name="Google Shape;870;g2f518dc7e79_0_19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2f518dc7e79_0_20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8" name="Google Shape;878;g2f518dc7e79_0_20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5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Google Shape;896;g2fb2f06c15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7" name="Google Shape;897;g2fb2f06c15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g2fb2f06c154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8" name="Google Shape;918;g2fb2f06c154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f518dc7e79_0_20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f518dc7e79_0_20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3" name="Shape 9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4" name="Google Shape;964;g2f518dc7e79_0_20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f518dc7e79_0_20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g2f518dc7e79_0_20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6" name="Google Shape;976;g2f518dc7e79_0_2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g2f518dc7e79_0_2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2" name="Google Shape;992;g2f518dc7e79_0_2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6" name="Shape 1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Google Shape;1007;g2f518dc7e79_0_2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8" name="Google Shape;1008;g2f518dc7e79_0_2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2f518dc7e79_0_2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4" name="Google Shape;1024;g2f518dc7e79_0_2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2f518dc7e79_0_2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7" name="Google Shape;1037;g2f518dc7e79_0_2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2f518dc7e79_0_2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2f518dc7e79_0_2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8" name="Shape 10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Google Shape;1059;g2f518dc7e79_0_19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0" name="Google Shape;1060;g2f518dc7e79_0_19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fb2f06c15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fb2f06c15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2fb2f06c154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4" name="Google Shape;1084;g2fb2f06c154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2fb2f06c15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2fb2f06c15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g2fb2f06c154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3" name="Google Shape;1133;g2fb2f06c154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5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g2f518dc7e79_0_19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7" name="Google Shape;1157;g2f518dc7e79_0_19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2f518dc7e79_0_8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2f518dc7e79_0_8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2f518dc7e79_0_8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2f518dc7e79_0_8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2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g2d465c6de0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4" name="Google Shape;1184;g2d465c6de0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2fb2f06c154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5" name="Google Shape;1195;g2fb2f06c154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2f518dc7e79_0_17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2f518dc7e79_0_17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2f518dc7e79_0_17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5" name="Google Shape;1235;g2f518dc7e79_0_17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2f518dc7e79_0_18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3" name="Google Shape;1243;g2f518dc7e79_0_18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2f518dc7e79_0_1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5" name="Google Shape;1255;g2f518dc7e79_0_1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2f518dc7e79_0_1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3" name="Google Shape;1263;g2f518dc7e79_0_1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g2f518dc7e79_0_17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1" name="Google Shape;1271;g2f518dc7e79_0_17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g2f518dc7e79_0_17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2" name="Google Shape;1282;g2f518dc7e79_0_17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g2fb2f06c154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3" name="Google Shape;1293;g2fb2f06c154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g2fb2f06c154_0_3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4" name="Google Shape;1304;g2fb2f06c154_0_3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g2fb2f06c154_0_3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6" name="Google Shape;1316;g2fb2f06c154_0_3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2fb2f06c154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2fb2f06c154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7" name="Shape 1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8" name="Google Shape;1338;g2fb2f06c154_0_3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9" name="Google Shape;1339;g2fb2f06c154_0_3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0" name="Shape 1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" name="Google Shape;1351;g2f518dc7e79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2" name="Google Shape;1352;g2f518dc7e79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9" name="Shape 1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0" name="Google Shape;1360;g2f518dc7e79_0_18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1" name="Google Shape;1361;g2f518dc7e79_0_18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g2f518dc7e79_0_1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6" name="Google Shape;1376;g2f518dc7e79_0_1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307339fe4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307339fe4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7" name="Shape 1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8" name="Google Shape;1398;g2f518dc7e79_0_19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9" name="Google Shape;1399;g2f518dc7e79_0_19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2f518dc7e79_0_18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2f518dc7e79_0_18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g2f518dc7e79_0_19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0" name="Google Shape;1420;g2f518dc7e79_0_19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6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2f518dc7e79_0_19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2f518dc7e79_0_19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5" name="Google Shape;1435;g2fb2f06c154_0_4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6" name="Google Shape;1436;g2fb2f06c154_0_4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g2fb2f06c154_0_4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2" name="Google Shape;1472;g2fb2f06c154_0_4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6" name="Shape 1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7" name="Google Shape;1507;g2f518dc7e79_0_1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8" name="Google Shape;1508;g2f518dc7e79_0_1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2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g306cd727c2f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4" name="Google Shape;1514;g306cd727c2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g2fb2f06c154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0" name="Google Shape;1530;g2fb2f06c154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8" name="Shape 1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9" name="Google Shape;1539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0" name="Google Shape;1540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8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1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8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29.png"/><Relationship Id="rId5" Type="http://schemas.openxmlformats.org/officeDocument/2006/relationships/image" Target="../media/image7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19.png"/><Relationship Id="rId5" Type="http://schemas.openxmlformats.org/officeDocument/2006/relationships/image" Target="../media/image2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26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1.png"/><Relationship Id="rId5" Type="http://schemas.openxmlformats.org/officeDocument/2006/relationships/image" Target="../media/image43.png"/><Relationship Id="rId6" Type="http://schemas.openxmlformats.org/officeDocument/2006/relationships/image" Target="../media/image37.png"/><Relationship Id="rId7" Type="http://schemas.openxmlformats.org/officeDocument/2006/relationships/image" Target="../media/image42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81.png"/><Relationship Id="rId5" Type="http://schemas.openxmlformats.org/officeDocument/2006/relationships/image" Target="../media/image41.png"/><Relationship Id="rId6" Type="http://schemas.openxmlformats.org/officeDocument/2006/relationships/image" Target="../media/image40.png"/><Relationship Id="rId7" Type="http://schemas.openxmlformats.org/officeDocument/2006/relationships/image" Target="../media/image3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81.png"/><Relationship Id="rId4" Type="http://schemas.openxmlformats.org/officeDocument/2006/relationships/image" Target="../media/image35.png"/><Relationship Id="rId9" Type="http://schemas.openxmlformats.org/officeDocument/2006/relationships/image" Target="../media/image34.png"/><Relationship Id="rId5" Type="http://schemas.openxmlformats.org/officeDocument/2006/relationships/image" Target="../media/image36.png"/><Relationship Id="rId6" Type="http://schemas.openxmlformats.org/officeDocument/2006/relationships/image" Target="../media/image44.png"/><Relationship Id="rId7" Type="http://schemas.openxmlformats.org/officeDocument/2006/relationships/image" Target="../media/image41.png"/><Relationship Id="rId8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81.png"/><Relationship Id="rId4" Type="http://schemas.openxmlformats.org/officeDocument/2006/relationships/image" Target="../media/image46.png"/><Relationship Id="rId11" Type="http://schemas.openxmlformats.org/officeDocument/2006/relationships/image" Target="../media/image34.png"/><Relationship Id="rId10" Type="http://schemas.openxmlformats.org/officeDocument/2006/relationships/image" Target="../media/image51.png"/><Relationship Id="rId9" Type="http://schemas.openxmlformats.org/officeDocument/2006/relationships/image" Target="../media/image40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44.png"/><Relationship Id="rId8" Type="http://schemas.openxmlformats.org/officeDocument/2006/relationships/image" Target="../media/image41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9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9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9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9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50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3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6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6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6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6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0.png"/><Relationship Id="rId3" Type="http://schemas.openxmlformats.org/officeDocument/2006/relationships/image" Target="../media/image6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4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theme" Target="../theme/theme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1.png"/><Relationship Id="rId4" Type="http://schemas.openxmlformats.org/officeDocument/2006/relationships/image" Target="../media/image7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1.png"/><Relationship Id="rId4" Type="http://schemas.openxmlformats.org/officeDocument/2006/relationships/image" Target="../media/image7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1.png"/><Relationship Id="rId4" Type="http://schemas.openxmlformats.org/officeDocument/2006/relationships/image" Target="../media/image7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6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3.png"/><Relationship Id="rId4" Type="http://schemas.openxmlformats.org/officeDocument/2006/relationships/image" Target="../media/image76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69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7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sp>
        <p:nvSpPr>
          <p:cNvPr id="837" name="Google Shape;837;p7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and the environment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p74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p7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assess the implications of making a journey in different ways.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76"/>
          <p:cNvSpPr txBox="1"/>
          <p:nvPr>
            <p:ph idx="6" type="subTitle"/>
          </p:nvPr>
        </p:nvSpPr>
        <p:spPr>
          <a:xfrm>
            <a:off x="324000" y="1025475"/>
            <a:ext cx="8496000" cy="6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400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A </a:t>
            </a:r>
            <a:r>
              <a:rPr b="1" lang="en-GB" sz="1900">
                <a:solidFill>
                  <a:schemeClr val="dk1"/>
                </a:solidFill>
              </a:rPr>
              <a:t>commute</a:t>
            </a:r>
            <a:r>
              <a:rPr lang="en-GB" sz="1900">
                <a:solidFill>
                  <a:schemeClr val="dk1"/>
                </a:solidFill>
              </a:rPr>
              <a:t> is a regular journey made between a person’s home and their place of work.</a:t>
            </a:r>
            <a:endParaRPr sz="1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7"/>
          <p:cNvSpPr txBox="1"/>
          <p:nvPr>
            <p:ph idx="6" type="subTitle"/>
          </p:nvPr>
        </p:nvSpPr>
        <p:spPr>
          <a:xfrm>
            <a:off x="324000" y="1025475"/>
            <a:ext cx="8453400" cy="26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A bar chart (bar graph) is a graph consisting of bars </a:t>
            </a:r>
            <a:br>
              <a:rPr lang="en-GB" sz="1900">
                <a:solidFill>
                  <a:schemeClr val="dk1"/>
                </a:solidFill>
              </a:rPr>
            </a:br>
            <a:r>
              <a:rPr lang="en-GB" sz="1900">
                <a:solidFill>
                  <a:schemeClr val="dk1"/>
                </a:solidFill>
              </a:rPr>
              <a:t>visually representing the frequency of objects or groups.</a:t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4000"/>
              </a:spcBef>
              <a:spcAft>
                <a:spcPts val="4000"/>
              </a:spcAft>
              <a:buNone/>
            </a:pPr>
            <a:r>
              <a:rPr lang="en-GB" sz="1900">
                <a:solidFill>
                  <a:schemeClr val="dk1"/>
                </a:solidFill>
              </a:rPr>
              <a:t>Speed is the rate at which something is moving. </a:t>
            </a:r>
            <a:br>
              <a:rPr lang="en-GB" sz="1900">
                <a:solidFill>
                  <a:schemeClr val="dk1"/>
                </a:solidFill>
              </a:rPr>
            </a:br>
            <a:r>
              <a:rPr lang="en-GB" sz="1900">
                <a:solidFill>
                  <a:schemeClr val="dk1"/>
                </a:solidFill>
              </a:rPr>
              <a:t>It is measured as the distance travelled per unit of time.</a:t>
            </a:r>
            <a:endParaRPr sz="1900">
              <a:solidFill>
                <a:schemeClr val="dk1"/>
              </a:solidFill>
            </a:endParaRPr>
          </a:p>
        </p:txBody>
      </p:sp>
      <p:pic>
        <p:nvPicPr>
          <p:cNvPr descr="frequenc " id="858" name="Google Shape;85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59859" y="1025463"/>
            <a:ext cx="1521525" cy="143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7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sp>
        <p:nvSpPr>
          <p:cNvPr id="864" name="Google Shape;864;p7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865" name="Google Shape;865;p7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866" name="Google Shape;866;p7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pic>
        <p:nvPicPr>
          <p:cNvPr id="867" name="Google Shape;867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05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79"/>
          <p:cNvSpPr txBox="1"/>
          <p:nvPr>
            <p:ph idx="1" type="body"/>
          </p:nvPr>
        </p:nvSpPr>
        <p:spPr>
          <a:xfrm>
            <a:off x="324000" y="759300"/>
            <a:ext cx="8496000" cy="7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table shows census data from the Office of National Statistics (ONS) about the distances that people </a:t>
            </a:r>
            <a:r>
              <a:rPr b="1" lang="en-GB" sz="2000"/>
              <a:t>commute</a:t>
            </a:r>
            <a:r>
              <a:rPr lang="en-GB" sz="2000"/>
              <a:t> in 2021.</a:t>
            </a:r>
            <a:endParaRPr sz="2000"/>
          </a:p>
        </p:txBody>
      </p:sp>
      <p:graphicFrame>
        <p:nvGraphicFramePr>
          <p:cNvPr id="873" name="Google Shape;873;p79"/>
          <p:cNvGraphicFramePr/>
          <p:nvPr/>
        </p:nvGraphicFramePr>
        <p:xfrm>
          <a:off x="654954" y="15998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{46C7B92C-C421-445D-9CDF-5C5C11991688}</a:tableStyleId>
              </a:tblPr>
              <a:tblGrid>
                <a:gridCol w="1697875"/>
                <a:gridCol w="1297800"/>
              </a:tblGrid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distance (</a:t>
                      </a:r>
                      <a:r>
                        <a:rPr i="1" lang="en-GB" sz="1800">
                          <a:solidFill>
                            <a:schemeClr val="lt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i="1"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km)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Frequency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3,057,913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 ≤ 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3,499,333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 ≤ 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10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3,273,927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 ≤ 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2,924,547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 ≤ 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30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1,127,371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30 ≤ 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40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470,353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40 ≤ 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&lt; 60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358,932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190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60 ≤ </a:t>
                      </a:r>
                      <a:r>
                        <a:rPr i="1" lang="en-GB" sz="18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</a:t>
                      </a:r>
                      <a:endParaRPr i="1"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382,608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9050" marB="19050" marR="28575" marL="28575" anchor="b">
                    <a:lnL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63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4" name="Google Shape;874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sp>
        <p:nvSpPr>
          <p:cNvPr id="875" name="Google Shape;875;p79"/>
          <p:cNvSpPr txBox="1"/>
          <p:nvPr>
            <p:ph idx="1" type="body"/>
          </p:nvPr>
        </p:nvSpPr>
        <p:spPr>
          <a:xfrm>
            <a:off x="4671600" y="2571750"/>
            <a:ext cx="3427500" cy="11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 could be easier to interpret this data if it  were represented </a:t>
            </a:r>
            <a:r>
              <a:rPr lang="en-GB" sz="2000">
                <a:solidFill>
                  <a:schemeClr val="accent4"/>
                </a:solidFill>
              </a:rPr>
              <a:t>visually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0" name="Google Shape;880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400" y="1496158"/>
            <a:ext cx="4240099" cy="2788980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>
            <p:ph idx="1" type="body"/>
          </p:nvPr>
        </p:nvSpPr>
        <p:spPr>
          <a:xfrm>
            <a:off x="324000" y="759300"/>
            <a:ext cx="8496000" cy="72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bar chart shows the </a:t>
            </a:r>
            <a:r>
              <a:rPr lang="en-GB" sz="2000"/>
              <a:t>same </a:t>
            </a:r>
            <a:r>
              <a:rPr lang="en-GB" sz="2000"/>
              <a:t>data about the distances that people </a:t>
            </a:r>
            <a:r>
              <a:rPr b="1" lang="en-GB" sz="2000"/>
              <a:t>commute</a:t>
            </a:r>
            <a:r>
              <a:rPr lang="en-GB" sz="2000"/>
              <a:t> in 2021.</a:t>
            </a:r>
            <a:endParaRPr sz="2000"/>
          </a:p>
        </p:txBody>
      </p:sp>
      <p:sp>
        <p:nvSpPr>
          <p:cNvPr id="882" name="Google Shape;882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sp>
        <p:nvSpPr>
          <p:cNvPr id="883" name="Google Shape;883;p80"/>
          <p:cNvSpPr txBox="1"/>
          <p:nvPr>
            <p:ph idx="1" type="body"/>
          </p:nvPr>
        </p:nvSpPr>
        <p:spPr>
          <a:xfrm>
            <a:off x="1425152" y="1655046"/>
            <a:ext cx="1512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</a:t>
            </a:r>
            <a:r>
              <a:rPr lang="en-GB" sz="1600"/>
              <a:t>ess than 2 km</a:t>
            </a:r>
            <a:endParaRPr sz="1600"/>
          </a:p>
        </p:txBody>
      </p:sp>
      <p:sp>
        <p:nvSpPr>
          <p:cNvPr id="884" name="Google Shape;884;p80"/>
          <p:cNvSpPr txBox="1"/>
          <p:nvPr>
            <p:ph idx="1" type="body"/>
          </p:nvPr>
        </p:nvSpPr>
        <p:spPr>
          <a:xfrm>
            <a:off x="634052" y="1996787"/>
            <a:ext cx="2265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km to </a:t>
            </a:r>
            <a:r>
              <a:rPr lang="en-GB" sz="1600"/>
              <a:t>less than 5 km</a:t>
            </a:r>
            <a:endParaRPr sz="1600"/>
          </a:p>
        </p:txBody>
      </p:sp>
      <p:sp>
        <p:nvSpPr>
          <p:cNvPr id="885" name="Google Shape;885;p80"/>
          <p:cNvSpPr txBox="1"/>
          <p:nvPr>
            <p:ph idx="1" type="body"/>
          </p:nvPr>
        </p:nvSpPr>
        <p:spPr>
          <a:xfrm>
            <a:off x="519875" y="2323586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</a:t>
            </a:r>
            <a:r>
              <a:rPr lang="en-GB" sz="1600"/>
              <a:t> km to less than 10 km</a:t>
            </a:r>
            <a:endParaRPr sz="1600"/>
          </a:p>
        </p:txBody>
      </p:sp>
      <p:sp>
        <p:nvSpPr>
          <p:cNvPr id="886" name="Google Shape;886;p80"/>
          <p:cNvSpPr txBox="1"/>
          <p:nvPr>
            <p:ph idx="1" type="body"/>
          </p:nvPr>
        </p:nvSpPr>
        <p:spPr>
          <a:xfrm>
            <a:off x="392900" y="2656923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</a:t>
            </a:r>
            <a:r>
              <a:rPr lang="en-GB" sz="1600"/>
              <a:t> km to less than 20 km</a:t>
            </a:r>
            <a:endParaRPr sz="1600"/>
          </a:p>
        </p:txBody>
      </p:sp>
      <p:sp>
        <p:nvSpPr>
          <p:cNvPr id="887" name="Google Shape;887;p80"/>
          <p:cNvSpPr txBox="1"/>
          <p:nvPr>
            <p:ph idx="1" type="body"/>
          </p:nvPr>
        </p:nvSpPr>
        <p:spPr>
          <a:xfrm>
            <a:off x="392900" y="2999276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km to less than 30 km</a:t>
            </a:r>
            <a:endParaRPr sz="1600"/>
          </a:p>
        </p:txBody>
      </p:sp>
      <p:sp>
        <p:nvSpPr>
          <p:cNvPr id="888" name="Google Shape;888;p80"/>
          <p:cNvSpPr txBox="1"/>
          <p:nvPr>
            <p:ph idx="1" type="body"/>
          </p:nvPr>
        </p:nvSpPr>
        <p:spPr>
          <a:xfrm>
            <a:off x="381150" y="3328982"/>
            <a:ext cx="25632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</a:t>
            </a:r>
            <a:r>
              <a:rPr lang="en-GB" sz="1600"/>
              <a:t> km to less than 40 km</a:t>
            </a:r>
            <a:endParaRPr sz="1600"/>
          </a:p>
        </p:txBody>
      </p:sp>
      <p:sp>
        <p:nvSpPr>
          <p:cNvPr id="889" name="Google Shape;889;p80"/>
          <p:cNvSpPr txBox="1"/>
          <p:nvPr>
            <p:ph idx="1" type="body"/>
          </p:nvPr>
        </p:nvSpPr>
        <p:spPr>
          <a:xfrm>
            <a:off x="367500" y="3671305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</a:t>
            </a:r>
            <a:r>
              <a:rPr lang="en-GB" sz="1600"/>
              <a:t> km to less than 60 km</a:t>
            </a:r>
            <a:endParaRPr sz="1600"/>
          </a:p>
        </p:txBody>
      </p:sp>
      <p:sp>
        <p:nvSpPr>
          <p:cNvPr id="890" name="Google Shape;890;p80"/>
          <p:cNvSpPr txBox="1"/>
          <p:nvPr>
            <p:ph idx="1" type="body"/>
          </p:nvPr>
        </p:nvSpPr>
        <p:spPr>
          <a:xfrm>
            <a:off x="1283037" y="4004643"/>
            <a:ext cx="1633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 km and over</a:t>
            </a:r>
            <a:endParaRPr sz="1600"/>
          </a:p>
        </p:txBody>
      </p:sp>
      <p:sp>
        <p:nvSpPr>
          <p:cNvPr id="891" name="Google Shape;891;p80"/>
          <p:cNvSpPr txBox="1"/>
          <p:nvPr>
            <p:ph idx="1" type="body"/>
          </p:nvPr>
        </p:nvSpPr>
        <p:spPr>
          <a:xfrm>
            <a:off x="3962707" y="4285133"/>
            <a:ext cx="242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892" name="Google Shape;892;p80"/>
          <p:cNvSpPr txBox="1"/>
          <p:nvPr>
            <p:ph idx="1" type="body"/>
          </p:nvPr>
        </p:nvSpPr>
        <p:spPr>
          <a:xfrm>
            <a:off x="5080422" y="4285133"/>
            <a:ext cx="169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893" name="Google Shape;893;p80"/>
          <p:cNvSpPr txBox="1"/>
          <p:nvPr>
            <p:ph idx="1" type="body"/>
          </p:nvPr>
        </p:nvSpPr>
        <p:spPr>
          <a:xfrm>
            <a:off x="6231852" y="4285133"/>
            <a:ext cx="169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894" name="Google Shape;894;p80"/>
          <p:cNvSpPr txBox="1"/>
          <p:nvPr>
            <p:ph idx="1" type="body"/>
          </p:nvPr>
        </p:nvSpPr>
        <p:spPr>
          <a:xfrm>
            <a:off x="3742575" y="4573079"/>
            <a:ext cx="2788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</a:t>
            </a:r>
            <a:r>
              <a:rPr lang="en-GB" sz="1600"/>
              <a:t>umber of people (millions)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81"/>
          <p:cNvSpPr txBox="1"/>
          <p:nvPr>
            <p:ph idx="1" type="body"/>
          </p:nvPr>
        </p:nvSpPr>
        <p:spPr>
          <a:xfrm>
            <a:off x="324000" y="759300"/>
            <a:ext cx="8237700" cy="4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Which is the modal group?</a:t>
            </a:r>
            <a:endParaRPr sz="2000"/>
          </a:p>
        </p:txBody>
      </p:sp>
      <p:sp>
        <p:nvSpPr>
          <p:cNvPr id="900" name="Google Shape;900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sp>
        <p:nvSpPr>
          <p:cNvPr id="901" name="Google Shape;901;p81"/>
          <p:cNvSpPr txBox="1"/>
          <p:nvPr>
            <p:ph idx="1" type="body"/>
          </p:nvPr>
        </p:nvSpPr>
        <p:spPr>
          <a:xfrm>
            <a:off x="1425152" y="1655046"/>
            <a:ext cx="1512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less than 2 km</a:t>
            </a:r>
            <a:endParaRPr sz="1600"/>
          </a:p>
        </p:txBody>
      </p:sp>
      <p:pic>
        <p:nvPicPr>
          <p:cNvPr id="902" name="Google Shape;90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550" y="1487729"/>
            <a:ext cx="4292124" cy="28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03" name="Google Shape;903;p81"/>
          <p:cNvSpPr txBox="1"/>
          <p:nvPr>
            <p:ph idx="1" type="body"/>
          </p:nvPr>
        </p:nvSpPr>
        <p:spPr>
          <a:xfrm>
            <a:off x="634052" y="1996787"/>
            <a:ext cx="2265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km to less than 5 km</a:t>
            </a:r>
            <a:endParaRPr sz="1600"/>
          </a:p>
        </p:txBody>
      </p:sp>
      <p:sp>
        <p:nvSpPr>
          <p:cNvPr id="904" name="Google Shape;904;p81"/>
          <p:cNvSpPr txBox="1"/>
          <p:nvPr>
            <p:ph idx="1" type="body"/>
          </p:nvPr>
        </p:nvSpPr>
        <p:spPr>
          <a:xfrm>
            <a:off x="519875" y="2323586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km to less than 10 km</a:t>
            </a:r>
            <a:endParaRPr sz="1600"/>
          </a:p>
        </p:txBody>
      </p:sp>
      <p:sp>
        <p:nvSpPr>
          <p:cNvPr id="905" name="Google Shape;905;p81"/>
          <p:cNvSpPr txBox="1"/>
          <p:nvPr>
            <p:ph idx="1" type="body"/>
          </p:nvPr>
        </p:nvSpPr>
        <p:spPr>
          <a:xfrm>
            <a:off x="392900" y="2656923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km to less than 20 km</a:t>
            </a:r>
            <a:endParaRPr sz="1600"/>
          </a:p>
        </p:txBody>
      </p:sp>
      <p:sp>
        <p:nvSpPr>
          <p:cNvPr id="906" name="Google Shape;906;p81"/>
          <p:cNvSpPr txBox="1"/>
          <p:nvPr>
            <p:ph idx="1" type="body"/>
          </p:nvPr>
        </p:nvSpPr>
        <p:spPr>
          <a:xfrm>
            <a:off x="392900" y="2999276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km to less than 30 km</a:t>
            </a:r>
            <a:endParaRPr sz="1600"/>
          </a:p>
        </p:txBody>
      </p:sp>
      <p:sp>
        <p:nvSpPr>
          <p:cNvPr id="907" name="Google Shape;907;p81"/>
          <p:cNvSpPr txBox="1"/>
          <p:nvPr>
            <p:ph idx="1" type="body"/>
          </p:nvPr>
        </p:nvSpPr>
        <p:spPr>
          <a:xfrm>
            <a:off x="381150" y="3328982"/>
            <a:ext cx="25632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 km to less than 40 km</a:t>
            </a:r>
            <a:endParaRPr sz="1600"/>
          </a:p>
        </p:txBody>
      </p:sp>
      <p:sp>
        <p:nvSpPr>
          <p:cNvPr id="908" name="Google Shape;908;p81"/>
          <p:cNvSpPr txBox="1"/>
          <p:nvPr>
            <p:ph idx="1" type="body"/>
          </p:nvPr>
        </p:nvSpPr>
        <p:spPr>
          <a:xfrm>
            <a:off x="367500" y="3671305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 km to less than 60 km</a:t>
            </a:r>
            <a:endParaRPr sz="1600"/>
          </a:p>
        </p:txBody>
      </p:sp>
      <p:sp>
        <p:nvSpPr>
          <p:cNvPr id="909" name="Google Shape;909;p81"/>
          <p:cNvSpPr txBox="1"/>
          <p:nvPr>
            <p:ph idx="1" type="body"/>
          </p:nvPr>
        </p:nvSpPr>
        <p:spPr>
          <a:xfrm>
            <a:off x="1283037" y="4004643"/>
            <a:ext cx="1633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 km and over</a:t>
            </a:r>
            <a:endParaRPr sz="1600"/>
          </a:p>
        </p:txBody>
      </p:sp>
      <p:sp>
        <p:nvSpPr>
          <p:cNvPr id="910" name="Google Shape;910;p81"/>
          <p:cNvSpPr txBox="1"/>
          <p:nvPr>
            <p:ph idx="1" type="body"/>
          </p:nvPr>
        </p:nvSpPr>
        <p:spPr>
          <a:xfrm>
            <a:off x="3962707" y="4285133"/>
            <a:ext cx="242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911" name="Google Shape;911;p81"/>
          <p:cNvSpPr txBox="1"/>
          <p:nvPr>
            <p:ph idx="1" type="body"/>
          </p:nvPr>
        </p:nvSpPr>
        <p:spPr>
          <a:xfrm>
            <a:off x="5080422" y="4285133"/>
            <a:ext cx="169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912" name="Google Shape;912;p81"/>
          <p:cNvSpPr txBox="1"/>
          <p:nvPr>
            <p:ph idx="1" type="body"/>
          </p:nvPr>
        </p:nvSpPr>
        <p:spPr>
          <a:xfrm>
            <a:off x="6231852" y="4285133"/>
            <a:ext cx="169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913" name="Google Shape;913;p81"/>
          <p:cNvSpPr txBox="1"/>
          <p:nvPr>
            <p:ph idx="1" type="body"/>
          </p:nvPr>
        </p:nvSpPr>
        <p:spPr>
          <a:xfrm>
            <a:off x="3742575" y="4573079"/>
            <a:ext cx="2788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number of people (millions)</a:t>
            </a:r>
            <a:endParaRPr sz="1600"/>
          </a:p>
        </p:txBody>
      </p:sp>
      <p:sp>
        <p:nvSpPr>
          <p:cNvPr id="914" name="Google Shape;914;p81"/>
          <p:cNvSpPr txBox="1"/>
          <p:nvPr>
            <p:ph idx="1" type="body"/>
          </p:nvPr>
        </p:nvSpPr>
        <p:spPr>
          <a:xfrm>
            <a:off x="4030575" y="753854"/>
            <a:ext cx="2990700" cy="4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 km to less than 5 km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5" name="Google Shape;915;p81"/>
          <p:cNvSpPr/>
          <p:nvPr/>
        </p:nvSpPr>
        <p:spPr>
          <a:xfrm>
            <a:off x="340329" y="1915171"/>
            <a:ext cx="6719100" cy="356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82"/>
          <p:cNvSpPr txBox="1"/>
          <p:nvPr>
            <p:ph idx="1" type="body"/>
          </p:nvPr>
        </p:nvSpPr>
        <p:spPr>
          <a:xfrm>
            <a:off x="324000" y="759300"/>
            <a:ext cx="8237700" cy="66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Approximately how many people travel between 10 km and 20 km (to 1 significant figure)?</a:t>
            </a:r>
            <a:endParaRPr sz="2000"/>
          </a:p>
        </p:txBody>
      </p:sp>
      <p:sp>
        <p:nvSpPr>
          <p:cNvPr id="921" name="Google Shape;921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sp>
        <p:nvSpPr>
          <p:cNvPr id="922" name="Google Shape;922;p82"/>
          <p:cNvSpPr txBox="1"/>
          <p:nvPr>
            <p:ph idx="1" type="body"/>
          </p:nvPr>
        </p:nvSpPr>
        <p:spPr>
          <a:xfrm>
            <a:off x="1425152" y="1655046"/>
            <a:ext cx="1512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less than 2 km</a:t>
            </a:r>
            <a:endParaRPr sz="1600"/>
          </a:p>
        </p:txBody>
      </p:sp>
      <p:pic>
        <p:nvPicPr>
          <p:cNvPr id="923" name="Google Shape;923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550" y="1487729"/>
            <a:ext cx="4292124" cy="28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24" name="Google Shape;924;p82"/>
          <p:cNvSpPr txBox="1"/>
          <p:nvPr>
            <p:ph idx="1" type="body"/>
          </p:nvPr>
        </p:nvSpPr>
        <p:spPr>
          <a:xfrm>
            <a:off x="634052" y="1996787"/>
            <a:ext cx="2265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km to less than 5 km</a:t>
            </a:r>
            <a:endParaRPr sz="1600"/>
          </a:p>
        </p:txBody>
      </p:sp>
      <p:sp>
        <p:nvSpPr>
          <p:cNvPr id="925" name="Google Shape;925;p82"/>
          <p:cNvSpPr txBox="1"/>
          <p:nvPr>
            <p:ph idx="1" type="body"/>
          </p:nvPr>
        </p:nvSpPr>
        <p:spPr>
          <a:xfrm>
            <a:off x="519875" y="2323586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km to less than 10 km</a:t>
            </a:r>
            <a:endParaRPr sz="1600"/>
          </a:p>
        </p:txBody>
      </p:sp>
      <p:sp>
        <p:nvSpPr>
          <p:cNvPr id="926" name="Google Shape;926;p82"/>
          <p:cNvSpPr txBox="1"/>
          <p:nvPr>
            <p:ph idx="1" type="body"/>
          </p:nvPr>
        </p:nvSpPr>
        <p:spPr>
          <a:xfrm>
            <a:off x="392900" y="2656923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km to less than 20 km</a:t>
            </a:r>
            <a:endParaRPr sz="1600"/>
          </a:p>
        </p:txBody>
      </p:sp>
      <p:sp>
        <p:nvSpPr>
          <p:cNvPr id="927" name="Google Shape;927;p82"/>
          <p:cNvSpPr txBox="1"/>
          <p:nvPr>
            <p:ph idx="1" type="body"/>
          </p:nvPr>
        </p:nvSpPr>
        <p:spPr>
          <a:xfrm>
            <a:off x="392900" y="2999276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km to less than 30 km</a:t>
            </a:r>
            <a:endParaRPr sz="1600"/>
          </a:p>
        </p:txBody>
      </p:sp>
      <p:sp>
        <p:nvSpPr>
          <p:cNvPr id="928" name="Google Shape;928;p82"/>
          <p:cNvSpPr txBox="1"/>
          <p:nvPr>
            <p:ph idx="1" type="body"/>
          </p:nvPr>
        </p:nvSpPr>
        <p:spPr>
          <a:xfrm>
            <a:off x="381150" y="3328982"/>
            <a:ext cx="25632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 km to less than 40 km</a:t>
            </a:r>
            <a:endParaRPr sz="1600"/>
          </a:p>
        </p:txBody>
      </p:sp>
      <p:sp>
        <p:nvSpPr>
          <p:cNvPr id="929" name="Google Shape;929;p82"/>
          <p:cNvSpPr txBox="1"/>
          <p:nvPr>
            <p:ph idx="1" type="body"/>
          </p:nvPr>
        </p:nvSpPr>
        <p:spPr>
          <a:xfrm>
            <a:off x="367500" y="3671305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 km to less than 60 km</a:t>
            </a:r>
            <a:endParaRPr sz="1600"/>
          </a:p>
        </p:txBody>
      </p:sp>
      <p:sp>
        <p:nvSpPr>
          <p:cNvPr id="930" name="Google Shape;930;p82"/>
          <p:cNvSpPr txBox="1"/>
          <p:nvPr>
            <p:ph idx="1" type="body"/>
          </p:nvPr>
        </p:nvSpPr>
        <p:spPr>
          <a:xfrm>
            <a:off x="1283037" y="4004643"/>
            <a:ext cx="1633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 km and over</a:t>
            </a:r>
            <a:endParaRPr sz="1600"/>
          </a:p>
        </p:txBody>
      </p:sp>
      <p:sp>
        <p:nvSpPr>
          <p:cNvPr id="931" name="Google Shape;931;p82"/>
          <p:cNvSpPr txBox="1"/>
          <p:nvPr>
            <p:ph idx="1" type="body"/>
          </p:nvPr>
        </p:nvSpPr>
        <p:spPr>
          <a:xfrm>
            <a:off x="3962707" y="4285133"/>
            <a:ext cx="242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932" name="Google Shape;932;p82"/>
          <p:cNvSpPr txBox="1"/>
          <p:nvPr>
            <p:ph idx="1" type="body"/>
          </p:nvPr>
        </p:nvSpPr>
        <p:spPr>
          <a:xfrm>
            <a:off x="5080422" y="4285133"/>
            <a:ext cx="169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933" name="Google Shape;933;p82"/>
          <p:cNvSpPr txBox="1"/>
          <p:nvPr>
            <p:ph idx="1" type="body"/>
          </p:nvPr>
        </p:nvSpPr>
        <p:spPr>
          <a:xfrm>
            <a:off x="6231852" y="4285133"/>
            <a:ext cx="169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934" name="Google Shape;934;p82"/>
          <p:cNvSpPr txBox="1"/>
          <p:nvPr>
            <p:ph idx="1" type="body"/>
          </p:nvPr>
        </p:nvSpPr>
        <p:spPr>
          <a:xfrm>
            <a:off x="3742575" y="4573079"/>
            <a:ext cx="2788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number of people (millions)</a:t>
            </a:r>
            <a:endParaRPr sz="1600"/>
          </a:p>
        </p:txBody>
      </p:sp>
      <p:sp>
        <p:nvSpPr>
          <p:cNvPr id="935" name="Google Shape;935;p82"/>
          <p:cNvSpPr txBox="1"/>
          <p:nvPr>
            <p:ph idx="1" type="body"/>
          </p:nvPr>
        </p:nvSpPr>
        <p:spPr>
          <a:xfrm>
            <a:off x="7141125" y="2606975"/>
            <a:ext cx="2236800" cy="7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Approximately 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3 million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6" name="Google Shape;936;p82"/>
          <p:cNvSpPr/>
          <p:nvPr/>
        </p:nvSpPr>
        <p:spPr>
          <a:xfrm>
            <a:off x="334886" y="2584650"/>
            <a:ext cx="6729900" cy="3561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550" y="1487729"/>
            <a:ext cx="4292124" cy="2837525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83"/>
          <p:cNvSpPr txBox="1"/>
          <p:nvPr>
            <p:ph idx="1" type="body"/>
          </p:nvPr>
        </p:nvSpPr>
        <p:spPr>
          <a:xfrm>
            <a:off x="582300" y="770075"/>
            <a:ext cx="8237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/>
              <a:t>True or false?</a:t>
            </a:r>
            <a:br>
              <a:rPr b="1" lang="en-GB" sz="2000"/>
            </a:br>
            <a:r>
              <a:rPr lang="en-GB" sz="1800"/>
              <a:t>Over 9 million people travel less than 10</a:t>
            </a:r>
            <a:r>
              <a:rPr lang="en-GB" sz="1800"/>
              <a:t> km to work. Justify your answer.</a:t>
            </a:r>
            <a:endParaRPr sz="1800"/>
          </a:p>
        </p:txBody>
      </p:sp>
      <p:sp>
        <p:nvSpPr>
          <p:cNvPr id="943" name="Google Shape;94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sp>
        <p:nvSpPr>
          <p:cNvPr id="944" name="Google Shape;944;p83"/>
          <p:cNvSpPr txBox="1"/>
          <p:nvPr>
            <p:ph idx="1" type="body"/>
          </p:nvPr>
        </p:nvSpPr>
        <p:spPr>
          <a:xfrm>
            <a:off x="1425152" y="1655046"/>
            <a:ext cx="1512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less than 2 km</a:t>
            </a:r>
            <a:endParaRPr sz="1600"/>
          </a:p>
        </p:txBody>
      </p:sp>
      <p:sp>
        <p:nvSpPr>
          <p:cNvPr id="945" name="Google Shape;945;p83"/>
          <p:cNvSpPr txBox="1"/>
          <p:nvPr>
            <p:ph idx="1" type="body"/>
          </p:nvPr>
        </p:nvSpPr>
        <p:spPr>
          <a:xfrm>
            <a:off x="634052" y="1996787"/>
            <a:ext cx="2265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 km to less than 5 km</a:t>
            </a:r>
            <a:endParaRPr sz="1600"/>
          </a:p>
        </p:txBody>
      </p:sp>
      <p:sp>
        <p:nvSpPr>
          <p:cNvPr id="946" name="Google Shape;946;p83"/>
          <p:cNvSpPr txBox="1"/>
          <p:nvPr>
            <p:ph idx="1" type="body"/>
          </p:nvPr>
        </p:nvSpPr>
        <p:spPr>
          <a:xfrm>
            <a:off x="519875" y="2323586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5 km to less than 10 km</a:t>
            </a:r>
            <a:endParaRPr sz="1600"/>
          </a:p>
        </p:txBody>
      </p:sp>
      <p:sp>
        <p:nvSpPr>
          <p:cNvPr id="947" name="Google Shape;947;p83"/>
          <p:cNvSpPr txBox="1"/>
          <p:nvPr>
            <p:ph idx="1" type="body"/>
          </p:nvPr>
        </p:nvSpPr>
        <p:spPr>
          <a:xfrm>
            <a:off x="392900" y="2656923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10 km to less than 20 km</a:t>
            </a:r>
            <a:endParaRPr sz="1600"/>
          </a:p>
        </p:txBody>
      </p:sp>
      <p:sp>
        <p:nvSpPr>
          <p:cNvPr id="948" name="Google Shape;948;p83"/>
          <p:cNvSpPr txBox="1"/>
          <p:nvPr>
            <p:ph idx="1" type="body"/>
          </p:nvPr>
        </p:nvSpPr>
        <p:spPr>
          <a:xfrm>
            <a:off x="392900" y="2999276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20 km to less than 30 km</a:t>
            </a:r>
            <a:endParaRPr sz="1600"/>
          </a:p>
        </p:txBody>
      </p:sp>
      <p:sp>
        <p:nvSpPr>
          <p:cNvPr id="949" name="Google Shape;949;p83"/>
          <p:cNvSpPr txBox="1"/>
          <p:nvPr>
            <p:ph idx="1" type="body"/>
          </p:nvPr>
        </p:nvSpPr>
        <p:spPr>
          <a:xfrm>
            <a:off x="381150" y="3328982"/>
            <a:ext cx="25632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30 km to less than 40 km</a:t>
            </a:r>
            <a:endParaRPr sz="1600"/>
          </a:p>
        </p:txBody>
      </p:sp>
      <p:sp>
        <p:nvSpPr>
          <p:cNvPr id="950" name="Google Shape;950;p83"/>
          <p:cNvSpPr txBox="1"/>
          <p:nvPr>
            <p:ph idx="1" type="body"/>
          </p:nvPr>
        </p:nvSpPr>
        <p:spPr>
          <a:xfrm>
            <a:off x="367500" y="3671305"/>
            <a:ext cx="2513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40 km to less than 60 km</a:t>
            </a:r>
            <a:endParaRPr sz="1600"/>
          </a:p>
        </p:txBody>
      </p:sp>
      <p:sp>
        <p:nvSpPr>
          <p:cNvPr id="951" name="Google Shape;951;p83"/>
          <p:cNvSpPr txBox="1"/>
          <p:nvPr>
            <p:ph idx="1" type="body"/>
          </p:nvPr>
        </p:nvSpPr>
        <p:spPr>
          <a:xfrm>
            <a:off x="1283037" y="4004643"/>
            <a:ext cx="1633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60 km and over</a:t>
            </a:r>
            <a:endParaRPr sz="1600"/>
          </a:p>
        </p:txBody>
      </p:sp>
      <p:sp>
        <p:nvSpPr>
          <p:cNvPr id="952" name="Google Shape;952;p83"/>
          <p:cNvSpPr txBox="1"/>
          <p:nvPr>
            <p:ph idx="1" type="body"/>
          </p:nvPr>
        </p:nvSpPr>
        <p:spPr>
          <a:xfrm>
            <a:off x="3962707" y="4285133"/>
            <a:ext cx="2424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1</a:t>
            </a:r>
            <a:endParaRPr sz="1600"/>
          </a:p>
        </p:txBody>
      </p:sp>
      <p:sp>
        <p:nvSpPr>
          <p:cNvPr id="953" name="Google Shape;953;p83"/>
          <p:cNvSpPr txBox="1"/>
          <p:nvPr>
            <p:ph idx="1" type="body"/>
          </p:nvPr>
        </p:nvSpPr>
        <p:spPr>
          <a:xfrm>
            <a:off x="5080422" y="4285133"/>
            <a:ext cx="169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2</a:t>
            </a:r>
            <a:endParaRPr sz="1600"/>
          </a:p>
        </p:txBody>
      </p:sp>
      <p:sp>
        <p:nvSpPr>
          <p:cNvPr id="954" name="Google Shape;954;p83"/>
          <p:cNvSpPr txBox="1"/>
          <p:nvPr>
            <p:ph idx="1" type="body"/>
          </p:nvPr>
        </p:nvSpPr>
        <p:spPr>
          <a:xfrm>
            <a:off x="6231852" y="4285133"/>
            <a:ext cx="169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3</a:t>
            </a:r>
            <a:endParaRPr sz="1600"/>
          </a:p>
        </p:txBody>
      </p:sp>
      <p:sp>
        <p:nvSpPr>
          <p:cNvPr id="955" name="Google Shape;955;p83"/>
          <p:cNvSpPr txBox="1"/>
          <p:nvPr>
            <p:ph idx="1" type="body"/>
          </p:nvPr>
        </p:nvSpPr>
        <p:spPr>
          <a:xfrm>
            <a:off x="3742575" y="4573079"/>
            <a:ext cx="27885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number of people (millions)</a:t>
            </a:r>
            <a:endParaRPr sz="1600"/>
          </a:p>
        </p:txBody>
      </p:sp>
      <p:sp>
        <p:nvSpPr>
          <p:cNvPr id="956" name="Google Shape;956;p83"/>
          <p:cNvSpPr txBox="1"/>
          <p:nvPr>
            <p:ph idx="1" type="body"/>
          </p:nvPr>
        </p:nvSpPr>
        <p:spPr>
          <a:xfrm>
            <a:off x="7148096" y="1600758"/>
            <a:ext cx="1512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over 3 million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7" name="Google Shape;957;p83"/>
          <p:cNvSpPr txBox="1"/>
          <p:nvPr>
            <p:ph idx="1" type="body"/>
          </p:nvPr>
        </p:nvSpPr>
        <p:spPr>
          <a:xfrm>
            <a:off x="7148096" y="1947704"/>
            <a:ext cx="1512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over 3 million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58" name="Google Shape;958;p83"/>
          <p:cNvSpPr txBox="1"/>
          <p:nvPr>
            <p:ph idx="1" type="body"/>
          </p:nvPr>
        </p:nvSpPr>
        <p:spPr>
          <a:xfrm>
            <a:off x="7148096" y="2320275"/>
            <a:ext cx="1512900" cy="35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over 3 million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59" name="Google Shape;959;p83"/>
          <p:cNvCxnSpPr/>
          <p:nvPr/>
        </p:nvCxnSpPr>
        <p:spPr>
          <a:xfrm rot="10800000">
            <a:off x="6428879" y="1753521"/>
            <a:ext cx="685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0" name="Google Shape;960;p83"/>
          <p:cNvCxnSpPr/>
          <p:nvPr/>
        </p:nvCxnSpPr>
        <p:spPr>
          <a:xfrm rot="10800000">
            <a:off x="6883979" y="2092375"/>
            <a:ext cx="2304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61" name="Google Shape;961;p83"/>
          <p:cNvCxnSpPr/>
          <p:nvPr/>
        </p:nvCxnSpPr>
        <p:spPr>
          <a:xfrm rot="10800000">
            <a:off x="6647879" y="2473375"/>
            <a:ext cx="4665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2" name="Google Shape;962;p83"/>
          <p:cNvSpPr txBox="1"/>
          <p:nvPr>
            <p:ph idx="1" type="body"/>
          </p:nvPr>
        </p:nvSpPr>
        <p:spPr>
          <a:xfrm>
            <a:off x="6462300" y="3006075"/>
            <a:ext cx="2357700" cy="147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True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Each group under 10 km has a frequency over </a:t>
            </a:r>
            <a:br>
              <a:rPr lang="en-GB" sz="1800">
                <a:latin typeface="Kalam"/>
                <a:ea typeface="Kalam"/>
                <a:cs typeface="Kalam"/>
                <a:sym typeface="Kalam"/>
              </a:rPr>
            </a:br>
            <a:r>
              <a:rPr lang="en-GB" sz="1800">
                <a:latin typeface="Kalam"/>
                <a:ea typeface="Kalam"/>
                <a:cs typeface="Kalam"/>
                <a:sym typeface="Kalam"/>
              </a:rPr>
              <a:t>3 million.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84"/>
          <p:cNvSpPr txBox="1"/>
          <p:nvPr>
            <p:ph idx="1" type="body"/>
          </p:nvPr>
        </p:nvSpPr>
        <p:spPr>
          <a:xfrm>
            <a:off x="324000" y="759300"/>
            <a:ext cx="8496000" cy="17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table shows average speeds for three methods of transport, when travelling through urban areas.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 person lives </a:t>
            </a:r>
            <a:r>
              <a:rPr lang="en-GB" sz="2000">
                <a:solidFill>
                  <a:schemeClr val="accent4"/>
                </a:solidFill>
              </a:rPr>
              <a:t>1.5 km</a:t>
            </a:r>
            <a:r>
              <a:rPr lang="en-GB" sz="2000"/>
              <a:t> from their place of work.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Calculate their expected journey time for each method of transport.</a:t>
            </a:r>
            <a:endParaRPr sz="2000"/>
          </a:p>
        </p:txBody>
      </p:sp>
      <p:sp>
        <p:nvSpPr>
          <p:cNvPr id="968" name="Google Shape;968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969" name="Google Shape;969;p84"/>
          <p:cNvGraphicFramePr/>
          <p:nvPr/>
        </p:nvGraphicFramePr>
        <p:xfrm>
          <a:off x="344575" y="26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661050"/>
                <a:gridCol w="177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ethod of transport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</a:t>
                      </a: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verage speed (km/h)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70" name="Google Shape;970;p84"/>
          <p:cNvSpPr txBox="1"/>
          <p:nvPr>
            <p:ph idx="1" type="body"/>
          </p:nvPr>
        </p:nvSpPr>
        <p:spPr>
          <a:xfrm>
            <a:off x="4843466" y="2767900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peed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71" name="Google Shape;971;p84"/>
          <p:cNvSpPr txBox="1"/>
          <p:nvPr>
            <p:ph idx="1" type="body"/>
          </p:nvPr>
        </p:nvSpPr>
        <p:spPr>
          <a:xfrm>
            <a:off x="5952000" y="2616675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distance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72" name="Google Shape;972;p84"/>
          <p:cNvCxnSpPr/>
          <p:nvPr/>
        </p:nvCxnSpPr>
        <p:spPr>
          <a:xfrm>
            <a:off x="5945975" y="2924728"/>
            <a:ext cx="98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3" name="Google Shape;973;p84"/>
          <p:cNvSpPr txBox="1"/>
          <p:nvPr>
            <p:ph idx="1" type="body"/>
          </p:nvPr>
        </p:nvSpPr>
        <p:spPr>
          <a:xfrm>
            <a:off x="6134166" y="2921475"/>
            <a:ext cx="6192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85"/>
          <p:cNvSpPr txBox="1"/>
          <p:nvPr>
            <p:ph idx="1" type="body"/>
          </p:nvPr>
        </p:nvSpPr>
        <p:spPr>
          <a:xfrm>
            <a:off x="324000" y="759300"/>
            <a:ext cx="8496000" cy="17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table shows average speeds for three methods of transport, </a:t>
            </a:r>
            <a:r>
              <a:rPr lang="en-GB" sz="2000"/>
              <a:t>when travelling through urban areas.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 person lives </a:t>
            </a:r>
            <a:r>
              <a:rPr lang="en-GB" sz="2000">
                <a:solidFill>
                  <a:schemeClr val="accent4"/>
                </a:solidFill>
              </a:rPr>
              <a:t>1.5 km</a:t>
            </a:r>
            <a:r>
              <a:rPr lang="en-GB" sz="2000"/>
              <a:t> from their place of work.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Calculate their expected journey time for each method of transport.</a:t>
            </a:r>
            <a:endParaRPr sz="2000"/>
          </a:p>
        </p:txBody>
      </p:sp>
      <p:sp>
        <p:nvSpPr>
          <p:cNvPr id="979" name="Google Shape;979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980" name="Google Shape;980;p85"/>
          <p:cNvGraphicFramePr/>
          <p:nvPr/>
        </p:nvGraphicFramePr>
        <p:xfrm>
          <a:off x="344575" y="26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661050"/>
                <a:gridCol w="177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81" name="Google Shape;981;p85"/>
          <p:cNvSpPr txBox="1"/>
          <p:nvPr>
            <p:ph idx="1" type="body"/>
          </p:nvPr>
        </p:nvSpPr>
        <p:spPr>
          <a:xfrm>
            <a:off x="4973244" y="2761947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2" name="Google Shape;982;p85"/>
          <p:cNvSpPr txBox="1"/>
          <p:nvPr>
            <p:ph idx="1" type="body"/>
          </p:nvPr>
        </p:nvSpPr>
        <p:spPr>
          <a:xfrm>
            <a:off x="5952000" y="2616675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distance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83" name="Google Shape;983;p85"/>
          <p:cNvCxnSpPr/>
          <p:nvPr/>
        </p:nvCxnSpPr>
        <p:spPr>
          <a:xfrm>
            <a:off x="5945975" y="2924728"/>
            <a:ext cx="98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85"/>
          <p:cNvSpPr txBox="1"/>
          <p:nvPr>
            <p:ph idx="1" type="body"/>
          </p:nvPr>
        </p:nvSpPr>
        <p:spPr>
          <a:xfrm>
            <a:off x="6134176" y="2921475"/>
            <a:ext cx="7167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speed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5" name="Google Shape;985;p85"/>
          <p:cNvSpPr txBox="1"/>
          <p:nvPr>
            <p:ph idx="1" type="body"/>
          </p:nvPr>
        </p:nvSpPr>
        <p:spPr>
          <a:xfrm>
            <a:off x="4657730" y="3904950"/>
            <a:ext cx="2829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1.5 ÷ 5 = 0.3 hours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6" name="Google Shape;986;p85"/>
          <p:cNvSpPr txBox="1"/>
          <p:nvPr>
            <p:ph idx="1" type="body"/>
          </p:nvPr>
        </p:nvSpPr>
        <p:spPr>
          <a:xfrm>
            <a:off x="4275544" y="3488231"/>
            <a:ext cx="8532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walk: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87" name="Google Shape;987;p85"/>
          <p:cNvSpPr txBox="1"/>
          <p:nvPr>
            <p:ph idx="1" type="body"/>
          </p:nvPr>
        </p:nvSpPr>
        <p:spPr>
          <a:xfrm>
            <a:off x="4481518" y="4426444"/>
            <a:ext cx="2829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0.3 × 60 = 18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88" name="Google Shape;988;p85"/>
          <p:cNvCxnSpPr/>
          <p:nvPr/>
        </p:nvCxnSpPr>
        <p:spPr>
          <a:xfrm>
            <a:off x="422672" y="3704600"/>
            <a:ext cx="541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9" name="Google Shape;989;p85"/>
          <p:cNvCxnSpPr/>
          <p:nvPr/>
        </p:nvCxnSpPr>
        <p:spPr>
          <a:xfrm>
            <a:off x="2087166" y="3704600"/>
            <a:ext cx="2466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3" name="Shape 9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4" name="Google Shape;994;p86"/>
          <p:cNvSpPr txBox="1"/>
          <p:nvPr>
            <p:ph idx="1" type="body"/>
          </p:nvPr>
        </p:nvSpPr>
        <p:spPr>
          <a:xfrm>
            <a:off x="324000" y="759300"/>
            <a:ext cx="8496000" cy="17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table shows average speeds for three methods of transport, </a:t>
            </a:r>
            <a:r>
              <a:rPr lang="en-GB" sz="2000"/>
              <a:t>when travelling through urban areas.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 person lives </a:t>
            </a:r>
            <a:r>
              <a:rPr lang="en-GB" sz="2000">
                <a:solidFill>
                  <a:schemeClr val="accent4"/>
                </a:solidFill>
              </a:rPr>
              <a:t>1.5 km</a:t>
            </a:r>
            <a:r>
              <a:rPr lang="en-GB" sz="2000"/>
              <a:t> from their place of work.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Calculate their expected journey time for each method of transport.</a:t>
            </a:r>
            <a:endParaRPr sz="2000"/>
          </a:p>
        </p:txBody>
      </p:sp>
      <p:sp>
        <p:nvSpPr>
          <p:cNvPr id="995" name="Google Shape;995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996" name="Google Shape;996;p86"/>
          <p:cNvGraphicFramePr/>
          <p:nvPr/>
        </p:nvGraphicFramePr>
        <p:xfrm>
          <a:off x="344575" y="26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661050"/>
                <a:gridCol w="177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7" name="Google Shape;997;p86"/>
          <p:cNvSpPr txBox="1"/>
          <p:nvPr>
            <p:ph idx="1" type="body"/>
          </p:nvPr>
        </p:nvSpPr>
        <p:spPr>
          <a:xfrm>
            <a:off x="4973244" y="2761947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98" name="Google Shape;998;p86"/>
          <p:cNvSpPr txBox="1"/>
          <p:nvPr>
            <p:ph idx="1" type="body"/>
          </p:nvPr>
        </p:nvSpPr>
        <p:spPr>
          <a:xfrm>
            <a:off x="5952000" y="2616675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distance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999" name="Google Shape;999;p86"/>
          <p:cNvCxnSpPr/>
          <p:nvPr/>
        </p:nvCxnSpPr>
        <p:spPr>
          <a:xfrm>
            <a:off x="5945975" y="2924728"/>
            <a:ext cx="98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0" name="Google Shape;1000;p86"/>
          <p:cNvSpPr txBox="1"/>
          <p:nvPr>
            <p:ph idx="1" type="body"/>
          </p:nvPr>
        </p:nvSpPr>
        <p:spPr>
          <a:xfrm>
            <a:off x="6134176" y="2921475"/>
            <a:ext cx="7167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speed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1" name="Google Shape;1001;p86"/>
          <p:cNvSpPr txBox="1"/>
          <p:nvPr>
            <p:ph idx="1" type="body"/>
          </p:nvPr>
        </p:nvSpPr>
        <p:spPr>
          <a:xfrm>
            <a:off x="4499377" y="3904950"/>
            <a:ext cx="2829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1.5 ÷ 20 = 0.075 hours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2" name="Google Shape;1002;p86"/>
          <p:cNvSpPr txBox="1"/>
          <p:nvPr>
            <p:ph idx="1" type="body"/>
          </p:nvPr>
        </p:nvSpPr>
        <p:spPr>
          <a:xfrm>
            <a:off x="4275544" y="3488231"/>
            <a:ext cx="8532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cycle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3" name="Google Shape;1003;p86"/>
          <p:cNvSpPr txBox="1"/>
          <p:nvPr>
            <p:ph idx="1" type="body"/>
          </p:nvPr>
        </p:nvSpPr>
        <p:spPr>
          <a:xfrm>
            <a:off x="4212445" y="4426450"/>
            <a:ext cx="32277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0.075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× 60 = 4.5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04" name="Google Shape;1004;p86"/>
          <p:cNvCxnSpPr/>
          <p:nvPr/>
        </p:nvCxnSpPr>
        <p:spPr>
          <a:xfrm>
            <a:off x="422672" y="4167753"/>
            <a:ext cx="541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5" name="Google Shape;1005;p86"/>
          <p:cNvCxnSpPr/>
          <p:nvPr/>
        </p:nvCxnSpPr>
        <p:spPr>
          <a:xfrm>
            <a:off x="2087166" y="4167753"/>
            <a:ext cx="2466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p87"/>
          <p:cNvSpPr txBox="1"/>
          <p:nvPr>
            <p:ph idx="1" type="body"/>
          </p:nvPr>
        </p:nvSpPr>
        <p:spPr>
          <a:xfrm>
            <a:off x="324000" y="759300"/>
            <a:ext cx="8496000" cy="17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table shows average speeds for three methods of transport, </a:t>
            </a:r>
            <a:r>
              <a:rPr lang="en-GB" sz="2000"/>
              <a:t>when travelling through urban areas.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A person lives </a:t>
            </a:r>
            <a:r>
              <a:rPr lang="en-GB" sz="2000">
                <a:solidFill>
                  <a:schemeClr val="accent4"/>
                </a:solidFill>
              </a:rPr>
              <a:t>1.5 km</a:t>
            </a:r>
            <a:r>
              <a:rPr lang="en-GB" sz="2000"/>
              <a:t> from their place of work.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Calculate their expected journey time for each method of transport.</a:t>
            </a:r>
            <a:endParaRPr sz="2000"/>
          </a:p>
        </p:txBody>
      </p:sp>
      <p:sp>
        <p:nvSpPr>
          <p:cNvPr id="1011" name="Google Shape;101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1012" name="Google Shape;1012;p87"/>
          <p:cNvGraphicFramePr/>
          <p:nvPr/>
        </p:nvGraphicFramePr>
        <p:xfrm>
          <a:off x="344575" y="26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661050"/>
                <a:gridCol w="177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13" name="Google Shape;1013;p87"/>
          <p:cNvSpPr txBox="1"/>
          <p:nvPr>
            <p:ph idx="1" type="body"/>
          </p:nvPr>
        </p:nvSpPr>
        <p:spPr>
          <a:xfrm>
            <a:off x="4973244" y="2761947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4" name="Google Shape;1014;p87"/>
          <p:cNvSpPr txBox="1"/>
          <p:nvPr>
            <p:ph idx="1" type="body"/>
          </p:nvPr>
        </p:nvSpPr>
        <p:spPr>
          <a:xfrm>
            <a:off x="5952000" y="2616675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distance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15" name="Google Shape;1015;p87"/>
          <p:cNvCxnSpPr/>
          <p:nvPr/>
        </p:nvCxnSpPr>
        <p:spPr>
          <a:xfrm>
            <a:off x="5945975" y="2924728"/>
            <a:ext cx="98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87"/>
          <p:cNvSpPr txBox="1"/>
          <p:nvPr>
            <p:ph idx="1" type="body"/>
          </p:nvPr>
        </p:nvSpPr>
        <p:spPr>
          <a:xfrm>
            <a:off x="6134176" y="2921475"/>
            <a:ext cx="7167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speed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7" name="Google Shape;1017;p87"/>
          <p:cNvSpPr txBox="1"/>
          <p:nvPr>
            <p:ph idx="1" type="body"/>
          </p:nvPr>
        </p:nvSpPr>
        <p:spPr>
          <a:xfrm>
            <a:off x="4499375" y="3676350"/>
            <a:ext cx="42696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1.5 ÷ 35 = 0.042… hours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87"/>
          <p:cNvSpPr txBox="1"/>
          <p:nvPr>
            <p:ph idx="1" type="body"/>
          </p:nvPr>
        </p:nvSpPr>
        <p:spPr>
          <a:xfrm>
            <a:off x="4275544" y="3259631"/>
            <a:ext cx="8532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drive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87"/>
          <p:cNvSpPr txBox="1"/>
          <p:nvPr>
            <p:ph idx="1" type="body"/>
          </p:nvPr>
        </p:nvSpPr>
        <p:spPr>
          <a:xfrm>
            <a:off x="4007675" y="4138331"/>
            <a:ext cx="5136300" cy="71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0.042…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× 60 = 3 minutes </a:t>
            </a:r>
            <a:br>
              <a:rPr lang="en-GB">
                <a:latin typeface="Kalam"/>
                <a:ea typeface="Kalam"/>
                <a:cs typeface="Kalam"/>
                <a:sym typeface="Kalam"/>
              </a:rPr>
            </a:br>
            <a:r>
              <a:rPr lang="en-GB">
                <a:latin typeface="Kalam"/>
                <a:ea typeface="Kalam"/>
                <a:cs typeface="Kalam"/>
                <a:sym typeface="Kalam"/>
              </a:rPr>
              <a:t>                (to the nearest min)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20" name="Google Shape;1020;p87"/>
          <p:cNvCxnSpPr/>
          <p:nvPr/>
        </p:nvCxnSpPr>
        <p:spPr>
          <a:xfrm>
            <a:off x="422672" y="4624953"/>
            <a:ext cx="541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87"/>
          <p:cNvCxnSpPr/>
          <p:nvPr/>
        </p:nvCxnSpPr>
        <p:spPr>
          <a:xfrm>
            <a:off x="2087166" y="4624953"/>
            <a:ext cx="2466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p88"/>
          <p:cNvSpPr txBox="1"/>
          <p:nvPr>
            <p:ph idx="1" type="body"/>
          </p:nvPr>
        </p:nvSpPr>
        <p:spPr>
          <a:xfrm>
            <a:off x="324000" y="759300"/>
            <a:ext cx="8237700" cy="11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lives </a:t>
            </a:r>
            <a:r>
              <a:rPr lang="en-GB" sz="2000">
                <a:solidFill>
                  <a:schemeClr val="accent4"/>
                </a:solidFill>
              </a:rPr>
              <a:t>4</a:t>
            </a:r>
            <a:r>
              <a:rPr lang="en-GB" sz="2000">
                <a:solidFill>
                  <a:schemeClr val="accent4"/>
                </a:solidFill>
              </a:rPr>
              <a:t> km</a:t>
            </a:r>
            <a:r>
              <a:rPr lang="en-GB" sz="2000"/>
              <a:t> from their place of work.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time could they expect to spend </a:t>
            </a:r>
            <a:r>
              <a:rPr lang="en-GB" sz="2000"/>
              <a:t>travelling</a:t>
            </a:r>
            <a:r>
              <a:rPr lang="en-GB" sz="2000"/>
              <a:t> if they </a:t>
            </a:r>
            <a:r>
              <a:rPr lang="en-GB" sz="2000">
                <a:solidFill>
                  <a:schemeClr val="accent4"/>
                </a:solidFill>
              </a:rPr>
              <a:t>cycle</a:t>
            </a:r>
            <a:r>
              <a:rPr lang="en-GB" sz="2000"/>
              <a:t> to work? Give your answer in </a:t>
            </a:r>
            <a:r>
              <a:rPr lang="en-GB" sz="2000">
                <a:solidFill>
                  <a:schemeClr val="accent4"/>
                </a:solidFill>
              </a:rPr>
              <a:t>hours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027" name="Google Shape;102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1028" name="Google Shape;1028;p88"/>
          <p:cNvGraphicFramePr/>
          <p:nvPr/>
        </p:nvGraphicFramePr>
        <p:xfrm>
          <a:off x="344575" y="23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661050"/>
                <a:gridCol w="177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9" name="Google Shape;1029;p88"/>
          <p:cNvSpPr txBox="1"/>
          <p:nvPr>
            <p:ph idx="1" type="body"/>
          </p:nvPr>
        </p:nvSpPr>
        <p:spPr>
          <a:xfrm>
            <a:off x="4973244" y="2457147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0" name="Google Shape;1030;p88"/>
          <p:cNvSpPr txBox="1"/>
          <p:nvPr>
            <p:ph idx="1" type="body"/>
          </p:nvPr>
        </p:nvSpPr>
        <p:spPr>
          <a:xfrm>
            <a:off x="5952000" y="2311875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distance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31" name="Google Shape;1031;p88"/>
          <p:cNvCxnSpPr/>
          <p:nvPr/>
        </p:nvCxnSpPr>
        <p:spPr>
          <a:xfrm>
            <a:off x="5945975" y="2619928"/>
            <a:ext cx="98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2" name="Google Shape;1032;p88"/>
          <p:cNvSpPr txBox="1"/>
          <p:nvPr>
            <p:ph idx="1" type="body"/>
          </p:nvPr>
        </p:nvSpPr>
        <p:spPr>
          <a:xfrm>
            <a:off x="6134176" y="2616675"/>
            <a:ext cx="7167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speed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3" name="Google Shape;1033;p88"/>
          <p:cNvSpPr txBox="1"/>
          <p:nvPr>
            <p:ph idx="1" type="body"/>
          </p:nvPr>
        </p:nvSpPr>
        <p:spPr>
          <a:xfrm>
            <a:off x="4804175" y="3600150"/>
            <a:ext cx="42696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÷ 20 = 0.2 hours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34" name="Google Shape;1034;p88"/>
          <p:cNvSpPr txBox="1"/>
          <p:nvPr>
            <p:ph idx="1" type="body"/>
          </p:nvPr>
        </p:nvSpPr>
        <p:spPr>
          <a:xfrm>
            <a:off x="4275544" y="3183431"/>
            <a:ext cx="8532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walk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89"/>
          <p:cNvSpPr txBox="1"/>
          <p:nvPr>
            <p:ph idx="1" type="body"/>
          </p:nvPr>
        </p:nvSpPr>
        <p:spPr>
          <a:xfrm>
            <a:off x="324000" y="759300"/>
            <a:ext cx="8237700" cy="11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lives </a:t>
            </a:r>
            <a:r>
              <a:rPr lang="en-GB" sz="2000">
                <a:solidFill>
                  <a:schemeClr val="accent4"/>
                </a:solidFill>
              </a:rPr>
              <a:t>4 km</a:t>
            </a:r>
            <a:r>
              <a:rPr lang="en-GB" sz="2000"/>
              <a:t> from their place of work.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It takes </a:t>
            </a:r>
            <a:r>
              <a:rPr lang="en-GB" sz="2000">
                <a:solidFill>
                  <a:schemeClr val="accent4"/>
                </a:solidFill>
              </a:rPr>
              <a:t>0.2 hours</a:t>
            </a:r>
            <a:r>
              <a:rPr lang="en-GB" sz="2000"/>
              <a:t> to cycle to work.</a:t>
            </a:r>
            <a:br>
              <a:rPr lang="en-GB" sz="2000"/>
            </a:br>
            <a:r>
              <a:rPr lang="en-GB" sz="2000"/>
              <a:t>How long is this in minutes?</a:t>
            </a:r>
            <a:endParaRPr sz="2000"/>
          </a:p>
        </p:txBody>
      </p:sp>
      <p:sp>
        <p:nvSpPr>
          <p:cNvPr id="1040" name="Google Shape;1040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1041" name="Google Shape;1041;p89"/>
          <p:cNvGraphicFramePr/>
          <p:nvPr/>
        </p:nvGraphicFramePr>
        <p:xfrm>
          <a:off x="344575" y="23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661050"/>
                <a:gridCol w="177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42" name="Google Shape;1042;p89"/>
          <p:cNvSpPr txBox="1"/>
          <p:nvPr>
            <p:ph idx="1" type="body"/>
          </p:nvPr>
        </p:nvSpPr>
        <p:spPr>
          <a:xfrm>
            <a:off x="4922064" y="3207250"/>
            <a:ext cx="4122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0.2 × 60 = 12 minutes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90"/>
          <p:cNvSpPr txBox="1"/>
          <p:nvPr>
            <p:ph idx="1" type="body"/>
          </p:nvPr>
        </p:nvSpPr>
        <p:spPr>
          <a:xfrm>
            <a:off x="324000" y="759300"/>
            <a:ext cx="8237700" cy="117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lives </a:t>
            </a:r>
            <a:r>
              <a:rPr lang="en-GB" sz="2000">
                <a:solidFill>
                  <a:schemeClr val="accent4"/>
                </a:solidFill>
              </a:rPr>
              <a:t>4 km</a:t>
            </a:r>
            <a:r>
              <a:rPr lang="en-GB" sz="2000"/>
              <a:t> from their place of work.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How much time could they expect to spend travelling if they </a:t>
            </a:r>
            <a:r>
              <a:rPr lang="en-GB" sz="2000">
                <a:solidFill>
                  <a:schemeClr val="accent4"/>
                </a:solidFill>
              </a:rPr>
              <a:t>drive</a:t>
            </a:r>
            <a:r>
              <a:rPr lang="en-GB" sz="2000"/>
              <a:t> to work? Give your answer to the nearest </a:t>
            </a:r>
            <a:r>
              <a:rPr lang="en-GB" sz="2000">
                <a:solidFill>
                  <a:schemeClr val="accent4"/>
                </a:solidFill>
              </a:rPr>
              <a:t>minute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048" name="Google Shape;1048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1049" name="Google Shape;1049;p90"/>
          <p:cNvGraphicFramePr/>
          <p:nvPr/>
        </p:nvGraphicFramePr>
        <p:xfrm>
          <a:off x="344575" y="2300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661050"/>
                <a:gridCol w="177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8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0" name="Google Shape;1050;p90"/>
          <p:cNvSpPr txBox="1"/>
          <p:nvPr>
            <p:ph idx="1" type="body"/>
          </p:nvPr>
        </p:nvSpPr>
        <p:spPr>
          <a:xfrm>
            <a:off x="5101831" y="2304747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time =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1" name="Google Shape;1051;p90"/>
          <p:cNvSpPr txBox="1"/>
          <p:nvPr>
            <p:ph idx="1" type="body"/>
          </p:nvPr>
        </p:nvSpPr>
        <p:spPr>
          <a:xfrm>
            <a:off x="6080588" y="2159475"/>
            <a:ext cx="11370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distance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052" name="Google Shape;1052;p90"/>
          <p:cNvCxnSpPr/>
          <p:nvPr/>
        </p:nvCxnSpPr>
        <p:spPr>
          <a:xfrm>
            <a:off x="6074563" y="2467528"/>
            <a:ext cx="9882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3" name="Google Shape;1053;p90"/>
          <p:cNvSpPr txBox="1"/>
          <p:nvPr>
            <p:ph idx="1" type="body"/>
          </p:nvPr>
        </p:nvSpPr>
        <p:spPr>
          <a:xfrm>
            <a:off x="6262764" y="2464275"/>
            <a:ext cx="7167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speed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4" name="Google Shape;1054;p90"/>
          <p:cNvSpPr txBox="1"/>
          <p:nvPr>
            <p:ph idx="1" type="body"/>
          </p:nvPr>
        </p:nvSpPr>
        <p:spPr>
          <a:xfrm>
            <a:off x="4780363" y="3447750"/>
            <a:ext cx="42696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4 ÷ 35 = 0.1142… hours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5" name="Google Shape;1055;p90"/>
          <p:cNvSpPr txBox="1"/>
          <p:nvPr>
            <p:ph idx="1" type="body"/>
          </p:nvPr>
        </p:nvSpPr>
        <p:spPr>
          <a:xfrm>
            <a:off x="4046944" y="3031031"/>
            <a:ext cx="8532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drive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: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6" name="Google Shape;1056;p90"/>
          <p:cNvSpPr txBox="1"/>
          <p:nvPr>
            <p:ph idx="1" type="body"/>
          </p:nvPr>
        </p:nvSpPr>
        <p:spPr>
          <a:xfrm>
            <a:off x="4094563" y="3981150"/>
            <a:ext cx="33315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0.1142… ×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60 = 7 minutes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57" name="Google Shape;1057;p90"/>
          <p:cNvSpPr txBox="1"/>
          <p:nvPr>
            <p:ph idx="1" type="body"/>
          </p:nvPr>
        </p:nvSpPr>
        <p:spPr>
          <a:xfrm>
            <a:off x="5920198" y="4363650"/>
            <a:ext cx="2742900" cy="35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(to the nearest min)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1" name="Shape 10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2" name="Google Shape;1062;p91"/>
          <p:cNvSpPr txBox="1"/>
          <p:nvPr>
            <p:ph idx="1" type="body"/>
          </p:nvPr>
        </p:nvSpPr>
        <p:spPr>
          <a:xfrm>
            <a:off x="324000" y="759300"/>
            <a:ext cx="8468700" cy="9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The table shows the distances of three </a:t>
            </a:r>
            <a:r>
              <a:rPr b="1" lang="en-GB" sz="1800"/>
              <a:t>commutes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Fill in the blanks in the table by calculating the estimated journey times using each method of transport.</a:t>
            </a:r>
            <a:endParaRPr sz="1800"/>
          </a:p>
        </p:txBody>
      </p:sp>
      <p:sp>
        <p:nvSpPr>
          <p:cNvPr id="1063" name="Google Shape;1063;p9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1064" name="Google Shape;1064;p91"/>
          <p:cNvGraphicFramePr/>
          <p:nvPr/>
        </p:nvGraphicFramePr>
        <p:xfrm>
          <a:off x="573175" y="191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436950"/>
                <a:gridCol w="1535675"/>
                <a:gridCol w="1644975"/>
                <a:gridCol w="1644975"/>
                <a:gridCol w="1644975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estimated journey times (to the nearest minute)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</a:tr>
              <a:tr h="467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5" name="Google Shape;1065;p91"/>
          <p:cNvSpPr txBox="1"/>
          <p:nvPr>
            <p:ph idx="1" type="body"/>
          </p:nvPr>
        </p:nvSpPr>
        <p:spPr>
          <a:xfrm>
            <a:off x="324000" y="4188300"/>
            <a:ext cx="7110300" cy="34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method of transport would you choose to use for each length of journey?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9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1071" name="Google Shape;1071;p92"/>
          <p:cNvGraphicFramePr/>
          <p:nvPr/>
        </p:nvGraphicFramePr>
        <p:xfrm>
          <a:off x="573175" y="1919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436950"/>
                <a:gridCol w="1535675"/>
                <a:gridCol w="1644975"/>
                <a:gridCol w="1644975"/>
                <a:gridCol w="1644975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estimated journey times (to the nearest minute)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</a:tr>
              <a:tr h="467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2" name="Google Shape;1072;p92"/>
          <p:cNvSpPr txBox="1"/>
          <p:nvPr>
            <p:ph idx="1" type="body"/>
          </p:nvPr>
        </p:nvSpPr>
        <p:spPr>
          <a:xfrm>
            <a:off x="3636200" y="2869856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3" name="Google Shape;1073;p92"/>
          <p:cNvSpPr txBox="1"/>
          <p:nvPr>
            <p:ph idx="1" type="body"/>
          </p:nvPr>
        </p:nvSpPr>
        <p:spPr>
          <a:xfrm>
            <a:off x="5290829" y="2869856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4" name="Google Shape;1074;p92"/>
          <p:cNvSpPr txBox="1"/>
          <p:nvPr>
            <p:ph idx="1" type="body"/>
          </p:nvPr>
        </p:nvSpPr>
        <p:spPr>
          <a:xfrm>
            <a:off x="6923674" y="2869856"/>
            <a:ext cx="4569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192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5" name="Google Shape;1075;p92"/>
          <p:cNvSpPr txBox="1"/>
          <p:nvPr>
            <p:ph idx="1" type="body"/>
          </p:nvPr>
        </p:nvSpPr>
        <p:spPr>
          <a:xfrm>
            <a:off x="3636200" y="3283506"/>
            <a:ext cx="5169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6" name="Google Shape;1076;p92"/>
          <p:cNvSpPr txBox="1"/>
          <p:nvPr>
            <p:ph idx="1" type="body"/>
          </p:nvPr>
        </p:nvSpPr>
        <p:spPr>
          <a:xfrm>
            <a:off x="5290829" y="3283513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7" name="Google Shape;1077;p92"/>
          <p:cNvSpPr txBox="1"/>
          <p:nvPr>
            <p:ph idx="1" type="body"/>
          </p:nvPr>
        </p:nvSpPr>
        <p:spPr>
          <a:xfrm>
            <a:off x="6923673" y="3283506"/>
            <a:ext cx="3645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8" name="Google Shape;1078;p92"/>
          <p:cNvSpPr txBox="1"/>
          <p:nvPr>
            <p:ph idx="1" type="body"/>
          </p:nvPr>
        </p:nvSpPr>
        <p:spPr>
          <a:xfrm>
            <a:off x="3636200" y="3729827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9" name="Google Shape;1079;p92"/>
          <p:cNvSpPr txBox="1"/>
          <p:nvPr>
            <p:ph idx="1" type="body"/>
          </p:nvPr>
        </p:nvSpPr>
        <p:spPr>
          <a:xfrm>
            <a:off x="5290829" y="3729827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0" name="Google Shape;1080;p92"/>
          <p:cNvSpPr txBox="1"/>
          <p:nvPr>
            <p:ph idx="1" type="body"/>
          </p:nvPr>
        </p:nvSpPr>
        <p:spPr>
          <a:xfrm>
            <a:off x="6923686" y="3729827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81" name="Google Shape;1081;p92"/>
          <p:cNvSpPr txBox="1"/>
          <p:nvPr>
            <p:ph idx="1" type="body"/>
          </p:nvPr>
        </p:nvSpPr>
        <p:spPr>
          <a:xfrm>
            <a:off x="324000" y="759300"/>
            <a:ext cx="8468700" cy="99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The table shows the distances of three </a:t>
            </a:r>
            <a:r>
              <a:rPr b="1" lang="en-GB" sz="1800"/>
              <a:t>commutes</a:t>
            </a:r>
            <a:r>
              <a:rPr lang="en-GB" sz="1800"/>
              <a:t>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Fill in the blanks in the table by calculating the estimated journey times using each method of transport.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6" name="Google Shape;1086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950" y="3818950"/>
            <a:ext cx="6227225" cy="65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87" name="Google Shape;1087;p93"/>
          <p:cNvSpPr txBox="1"/>
          <p:nvPr>
            <p:ph idx="1" type="body"/>
          </p:nvPr>
        </p:nvSpPr>
        <p:spPr>
          <a:xfrm>
            <a:off x="324000" y="683100"/>
            <a:ext cx="77088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method of transport would you choose to use for each length of journey?</a:t>
            </a:r>
            <a:endParaRPr sz="1800"/>
          </a:p>
        </p:txBody>
      </p:sp>
      <p:sp>
        <p:nvSpPr>
          <p:cNvPr id="1088" name="Google Shape;1088;p9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1089" name="Google Shape;1089;p93"/>
          <p:cNvGraphicFramePr/>
          <p:nvPr/>
        </p:nvGraphicFramePr>
        <p:xfrm>
          <a:off x="573175" y="15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436950"/>
                <a:gridCol w="1535675"/>
                <a:gridCol w="1644975"/>
                <a:gridCol w="1644975"/>
                <a:gridCol w="1644975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estimated journey times (to the nearest minute)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</a:tr>
              <a:tr h="467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0" name="Google Shape;1090;p93"/>
          <p:cNvSpPr txBox="1"/>
          <p:nvPr>
            <p:ph idx="1" type="body"/>
          </p:nvPr>
        </p:nvSpPr>
        <p:spPr>
          <a:xfrm>
            <a:off x="3636200" y="2511900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1" name="Google Shape;1091;p93"/>
          <p:cNvSpPr txBox="1"/>
          <p:nvPr>
            <p:ph idx="1" type="body"/>
          </p:nvPr>
        </p:nvSpPr>
        <p:spPr>
          <a:xfrm>
            <a:off x="5290829" y="2511900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2" name="Google Shape;1092;p93"/>
          <p:cNvSpPr txBox="1"/>
          <p:nvPr>
            <p:ph idx="1" type="body"/>
          </p:nvPr>
        </p:nvSpPr>
        <p:spPr>
          <a:xfrm>
            <a:off x="6923674" y="2359500"/>
            <a:ext cx="4569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192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3" name="Google Shape;1093;p93"/>
          <p:cNvSpPr txBox="1"/>
          <p:nvPr>
            <p:ph idx="1" type="body"/>
          </p:nvPr>
        </p:nvSpPr>
        <p:spPr>
          <a:xfrm>
            <a:off x="3636200" y="2925550"/>
            <a:ext cx="5169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4" name="Google Shape;1094;p93"/>
          <p:cNvSpPr txBox="1"/>
          <p:nvPr>
            <p:ph idx="1" type="body"/>
          </p:nvPr>
        </p:nvSpPr>
        <p:spPr>
          <a:xfrm>
            <a:off x="5290829" y="2925557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5" name="Google Shape;1095;p93"/>
          <p:cNvSpPr txBox="1"/>
          <p:nvPr>
            <p:ph idx="1" type="body"/>
          </p:nvPr>
        </p:nvSpPr>
        <p:spPr>
          <a:xfrm>
            <a:off x="6923673" y="2773150"/>
            <a:ext cx="3645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6" name="Google Shape;1096;p93"/>
          <p:cNvSpPr txBox="1"/>
          <p:nvPr>
            <p:ph idx="1" type="body"/>
          </p:nvPr>
        </p:nvSpPr>
        <p:spPr>
          <a:xfrm>
            <a:off x="3636200" y="3371871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7" name="Google Shape;1097;p93"/>
          <p:cNvSpPr txBox="1"/>
          <p:nvPr>
            <p:ph idx="1" type="body"/>
          </p:nvPr>
        </p:nvSpPr>
        <p:spPr>
          <a:xfrm>
            <a:off x="5290829" y="3371871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8" name="Google Shape;1098;p93"/>
          <p:cNvSpPr txBox="1"/>
          <p:nvPr>
            <p:ph idx="1" type="body"/>
          </p:nvPr>
        </p:nvSpPr>
        <p:spPr>
          <a:xfrm>
            <a:off x="6923686" y="3219471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9" name="Google Shape;1099;p93"/>
          <p:cNvSpPr txBox="1"/>
          <p:nvPr>
            <p:ph idx="1" type="body"/>
          </p:nvPr>
        </p:nvSpPr>
        <p:spPr>
          <a:xfrm>
            <a:off x="1716175" y="1119600"/>
            <a:ext cx="71502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differ depending on personal preferences.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0" name="Google Shape;1100;p93"/>
          <p:cNvSpPr txBox="1"/>
          <p:nvPr/>
        </p:nvSpPr>
        <p:spPr>
          <a:xfrm>
            <a:off x="275500" y="458287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93"/>
          <p:cNvSpPr txBox="1"/>
          <p:nvPr>
            <p:ph idx="1" type="body"/>
          </p:nvPr>
        </p:nvSpPr>
        <p:spPr>
          <a:xfrm>
            <a:off x="1243850" y="3872631"/>
            <a:ext cx="6044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 would prefer to always use the fastest mode of transport.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02" name="Google Shape;1102;p93"/>
          <p:cNvGrpSpPr/>
          <p:nvPr/>
        </p:nvGrpSpPr>
        <p:grpSpPr>
          <a:xfrm>
            <a:off x="3586925" y="3351125"/>
            <a:ext cx="3701271" cy="313500"/>
            <a:chOff x="3586925" y="3198725"/>
            <a:chExt cx="3701271" cy="313500"/>
          </a:xfrm>
        </p:grpSpPr>
        <p:sp>
          <p:nvSpPr>
            <p:cNvPr id="1103" name="Google Shape;1103;p93"/>
            <p:cNvSpPr/>
            <p:nvPr/>
          </p:nvSpPr>
          <p:spPr>
            <a:xfrm>
              <a:off x="3586925" y="3198725"/>
              <a:ext cx="402900" cy="313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4" name="Google Shape;1104;p93"/>
            <p:cNvSpPr/>
            <p:nvPr/>
          </p:nvSpPr>
          <p:spPr>
            <a:xfrm>
              <a:off x="5263325" y="3198725"/>
              <a:ext cx="402900" cy="313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05" name="Google Shape;1105;p93"/>
            <p:cNvSpPr/>
            <p:nvPr/>
          </p:nvSpPr>
          <p:spPr>
            <a:xfrm>
              <a:off x="6885296" y="3198725"/>
              <a:ext cx="402900" cy="313500"/>
            </a:xfrm>
            <a:prstGeom prst="rect">
              <a:avLst/>
            </a:prstGeom>
            <a:noFill/>
            <a:ln cap="flat" cmpd="sng" w="381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06" name="Google Shape;1106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5263" y="3904198"/>
            <a:ext cx="585775" cy="76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1" name="Google Shape;1111;p9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950" y="3818950"/>
            <a:ext cx="7242725" cy="8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2" name="Google Shape;1112;p9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1113" name="Google Shape;1113;p94"/>
          <p:cNvGraphicFramePr/>
          <p:nvPr/>
        </p:nvGraphicFramePr>
        <p:xfrm>
          <a:off x="573175" y="15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436950"/>
                <a:gridCol w="1535675"/>
                <a:gridCol w="1644975"/>
                <a:gridCol w="1644975"/>
                <a:gridCol w="1644975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estimated journey times (to the nearest minute)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</a:tr>
              <a:tr h="467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4" name="Google Shape;1114;p94"/>
          <p:cNvSpPr txBox="1"/>
          <p:nvPr>
            <p:ph idx="1" type="body"/>
          </p:nvPr>
        </p:nvSpPr>
        <p:spPr>
          <a:xfrm>
            <a:off x="3636200" y="2511900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5" name="Google Shape;1115;p94"/>
          <p:cNvSpPr txBox="1"/>
          <p:nvPr>
            <p:ph idx="1" type="body"/>
          </p:nvPr>
        </p:nvSpPr>
        <p:spPr>
          <a:xfrm>
            <a:off x="5290829" y="2511900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6" name="Google Shape;1116;p94"/>
          <p:cNvSpPr txBox="1"/>
          <p:nvPr>
            <p:ph idx="1" type="body"/>
          </p:nvPr>
        </p:nvSpPr>
        <p:spPr>
          <a:xfrm>
            <a:off x="6923674" y="2511900"/>
            <a:ext cx="4569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192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7" name="Google Shape;1117;p94"/>
          <p:cNvSpPr txBox="1"/>
          <p:nvPr>
            <p:ph idx="1" type="body"/>
          </p:nvPr>
        </p:nvSpPr>
        <p:spPr>
          <a:xfrm>
            <a:off x="3636200" y="2925550"/>
            <a:ext cx="5169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8" name="Google Shape;1118;p94"/>
          <p:cNvSpPr txBox="1"/>
          <p:nvPr>
            <p:ph idx="1" type="body"/>
          </p:nvPr>
        </p:nvSpPr>
        <p:spPr>
          <a:xfrm>
            <a:off x="5290829" y="2925557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19" name="Google Shape;1119;p94"/>
          <p:cNvSpPr txBox="1"/>
          <p:nvPr>
            <p:ph idx="1" type="body"/>
          </p:nvPr>
        </p:nvSpPr>
        <p:spPr>
          <a:xfrm>
            <a:off x="6923673" y="2925550"/>
            <a:ext cx="3645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0" name="Google Shape;1120;p94"/>
          <p:cNvSpPr txBox="1"/>
          <p:nvPr>
            <p:ph idx="1" type="body"/>
          </p:nvPr>
        </p:nvSpPr>
        <p:spPr>
          <a:xfrm>
            <a:off x="3636200" y="3371871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1" name="Google Shape;1121;p94"/>
          <p:cNvSpPr txBox="1"/>
          <p:nvPr>
            <p:ph idx="1" type="body"/>
          </p:nvPr>
        </p:nvSpPr>
        <p:spPr>
          <a:xfrm>
            <a:off x="5290829" y="3371871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2" name="Google Shape;1122;p94"/>
          <p:cNvSpPr txBox="1"/>
          <p:nvPr>
            <p:ph idx="1" type="body"/>
          </p:nvPr>
        </p:nvSpPr>
        <p:spPr>
          <a:xfrm>
            <a:off x="6923686" y="3371871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23" name="Google Shape;1123;p9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21599" y="3971350"/>
            <a:ext cx="548826" cy="676024"/>
          </a:xfrm>
          <a:prstGeom prst="rect">
            <a:avLst/>
          </a:prstGeom>
          <a:noFill/>
          <a:ln>
            <a:noFill/>
          </a:ln>
        </p:spPr>
      </p:pic>
      <p:sp>
        <p:nvSpPr>
          <p:cNvPr id="1124" name="Google Shape;1124;p94"/>
          <p:cNvSpPr txBox="1"/>
          <p:nvPr/>
        </p:nvSpPr>
        <p:spPr>
          <a:xfrm>
            <a:off x="275500" y="458287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5" name="Google Shape;1125;p94"/>
          <p:cNvSpPr txBox="1"/>
          <p:nvPr>
            <p:ph idx="1" type="body"/>
          </p:nvPr>
        </p:nvSpPr>
        <p:spPr>
          <a:xfrm>
            <a:off x="1183013" y="3845305"/>
            <a:ext cx="7150200" cy="55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 like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walking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But walking for over an hour could be impractical for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commut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ing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.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So, I would cycle for longer journeys.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26" name="Google Shape;1126;p94"/>
          <p:cNvSpPr/>
          <p:nvPr/>
        </p:nvSpPr>
        <p:spPr>
          <a:xfrm>
            <a:off x="3586925" y="2489881"/>
            <a:ext cx="402900" cy="313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7" name="Google Shape;1127;p94"/>
          <p:cNvSpPr/>
          <p:nvPr/>
        </p:nvSpPr>
        <p:spPr>
          <a:xfrm>
            <a:off x="5263325" y="2909288"/>
            <a:ext cx="402900" cy="313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8" name="Google Shape;1128;p94"/>
          <p:cNvSpPr/>
          <p:nvPr/>
        </p:nvSpPr>
        <p:spPr>
          <a:xfrm>
            <a:off x="6885296" y="2909288"/>
            <a:ext cx="402900" cy="313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94"/>
          <p:cNvSpPr txBox="1"/>
          <p:nvPr>
            <p:ph idx="1" type="body"/>
          </p:nvPr>
        </p:nvSpPr>
        <p:spPr>
          <a:xfrm>
            <a:off x="324000" y="683100"/>
            <a:ext cx="77088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method of transport would you choose to use for each length of journey?</a:t>
            </a:r>
            <a:endParaRPr sz="1800"/>
          </a:p>
        </p:txBody>
      </p:sp>
      <p:sp>
        <p:nvSpPr>
          <p:cNvPr id="1130" name="Google Shape;1130;p94"/>
          <p:cNvSpPr txBox="1"/>
          <p:nvPr>
            <p:ph idx="1" type="body"/>
          </p:nvPr>
        </p:nvSpPr>
        <p:spPr>
          <a:xfrm>
            <a:off x="1716175" y="1119600"/>
            <a:ext cx="71502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differ depending on personal preferences.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4" name="Shape 1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5" name="Google Shape;1135;p9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0950" y="3818950"/>
            <a:ext cx="7242725" cy="8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6" name="Google Shape;1136;p9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graphicFrame>
        <p:nvGraphicFramePr>
          <p:cNvPr id="1137" name="Google Shape;1137;p95"/>
          <p:cNvGraphicFramePr/>
          <p:nvPr/>
        </p:nvGraphicFramePr>
        <p:xfrm>
          <a:off x="573175" y="1538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436950"/>
                <a:gridCol w="1535675"/>
                <a:gridCol w="1644975"/>
                <a:gridCol w="1644975"/>
                <a:gridCol w="1644975"/>
              </a:tblGrid>
              <a:tr h="381000"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method of transport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average speed (km/h)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gridSpan="3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estimated journey times (to the nearest minute)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hMerge="1"/>
                <a:tc hMerge="1"/>
              </a:tr>
              <a:tr h="467600">
                <a:tc vMerge="1"/>
                <a:tc vMerge="1"/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lt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 km journey</a:t>
                      </a:r>
                      <a:endParaRPr sz="1600">
                        <a:solidFill>
                          <a:schemeClr val="lt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walk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cycle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drive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35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8" name="Google Shape;1138;p95"/>
          <p:cNvSpPr txBox="1"/>
          <p:nvPr>
            <p:ph idx="1" type="body"/>
          </p:nvPr>
        </p:nvSpPr>
        <p:spPr>
          <a:xfrm>
            <a:off x="3636200" y="2511900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9" name="Google Shape;1139;p95"/>
          <p:cNvSpPr txBox="1"/>
          <p:nvPr>
            <p:ph idx="1" type="body"/>
          </p:nvPr>
        </p:nvSpPr>
        <p:spPr>
          <a:xfrm>
            <a:off x="5290829" y="2511900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0" name="Google Shape;1140;p95"/>
          <p:cNvSpPr txBox="1"/>
          <p:nvPr>
            <p:ph idx="1" type="body"/>
          </p:nvPr>
        </p:nvSpPr>
        <p:spPr>
          <a:xfrm>
            <a:off x="6923674" y="2511900"/>
            <a:ext cx="4569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192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1" name="Google Shape;1141;p95"/>
          <p:cNvSpPr txBox="1"/>
          <p:nvPr>
            <p:ph idx="1" type="body"/>
          </p:nvPr>
        </p:nvSpPr>
        <p:spPr>
          <a:xfrm>
            <a:off x="3636200" y="2925550"/>
            <a:ext cx="5169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2" name="Google Shape;1142;p95"/>
          <p:cNvSpPr txBox="1"/>
          <p:nvPr>
            <p:ph idx="1" type="body"/>
          </p:nvPr>
        </p:nvSpPr>
        <p:spPr>
          <a:xfrm>
            <a:off x="5290829" y="2925557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3" name="Google Shape;1143;p95"/>
          <p:cNvSpPr txBox="1"/>
          <p:nvPr>
            <p:ph idx="1" type="body"/>
          </p:nvPr>
        </p:nvSpPr>
        <p:spPr>
          <a:xfrm>
            <a:off x="6923673" y="2925550"/>
            <a:ext cx="3645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4" name="Google Shape;1144;p95"/>
          <p:cNvSpPr txBox="1"/>
          <p:nvPr>
            <p:ph idx="1" type="body"/>
          </p:nvPr>
        </p:nvSpPr>
        <p:spPr>
          <a:xfrm>
            <a:off x="3636200" y="3371871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5" name="Google Shape;1145;p95"/>
          <p:cNvSpPr txBox="1"/>
          <p:nvPr>
            <p:ph idx="1" type="body"/>
          </p:nvPr>
        </p:nvSpPr>
        <p:spPr>
          <a:xfrm>
            <a:off x="5290829" y="3371871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14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6" name="Google Shape;1146;p95"/>
          <p:cNvSpPr txBox="1"/>
          <p:nvPr>
            <p:ph idx="1" type="body"/>
          </p:nvPr>
        </p:nvSpPr>
        <p:spPr>
          <a:xfrm>
            <a:off x="6923686" y="3371871"/>
            <a:ext cx="2991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27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95"/>
          <p:cNvSpPr txBox="1"/>
          <p:nvPr/>
        </p:nvSpPr>
        <p:spPr>
          <a:xfrm>
            <a:off x="275500" y="4582871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Aisha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8" name="Google Shape;1148;p95"/>
          <p:cNvSpPr txBox="1"/>
          <p:nvPr>
            <p:ph idx="1" type="body"/>
          </p:nvPr>
        </p:nvSpPr>
        <p:spPr>
          <a:xfrm>
            <a:off x="1243850" y="3895682"/>
            <a:ext cx="7150200" cy="55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 would like to spend a little bit of time </a:t>
            </a:r>
            <a:r>
              <a:rPr b="1" lang="en-GB" sz="1800">
                <a:latin typeface="Kalam"/>
                <a:ea typeface="Kalam"/>
                <a:cs typeface="Kalam"/>
                <a:sym typeface="Kalam"/>
              </a:rPr>
              <a:t>commuting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, but not too long. An ideal amount of time for me would be between 15 and 30 minutes.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9" name="Google Shape;1149;p95"/>
          <p:cNvSpPr/>
          <p:nvPr/>
        </p:nvSpPr>
        <p:spPr>
          <a:xfrm>
            <a:off x="3586925" y="2489881"/>
            <a:ext cx="402900" cy="313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0" name="Google Shape;1150;p95"/>
          <p:cNvSpPr/>
          <p:nvPr/>
        </p:nvSpPr>
        <p:spPr>
          <a:xfrm>
            <a:off x="5263325" y="2909288"/>
            <a:ext cx="402900" cy="313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1" name="Google Shape;1151;p95"/>
          <p:cNvSpPr/>
          <p:nvPr/>
        </p:nvSpPr>
        <p:spPr>
          <a:xfrm>
            <a:off x="6885296" y="3351125"/>
            <a:ext cx="402900" cy="313500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52" name="Google Shape;1152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2337" y="3885337"/>
            <a:ext cx="402900" cy="760767"/>
          </a:xfrm>
          <a:prstGeom prst="rect">
            <a:avLst/>
          </a:prstGeom>
          <a:noFill/>
          <a:ln>
            <a:noFill/>
          </a:ln>
        </p:spPr>
      </p:pic>
      <p:sp>
        <p:nvSpPr>
          <p:cNvPr id="1153" name="Google Shape;1153;p95"/>
          <p:cNvSpPr txBox="1"/>
          <p:nvPr>
            <p:ph idx="1" type="body"/>
          </p:nvPr>
        </p:nvSpPr>
        <p:spPr>
          <a:xfrm>
            <a:off x="324000" y="683100"/>
            <a:ext cx="77088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method of transport would you choose to use for each length of journey?</a:t>
            </a:r>
            <a:endParaRPr sz="1800"/>
          </a:p>
        </p:txBody>
      </p:sp>
      <p:sp>
        <p:nvSpPr>
          <p:cNvPr id="1154" name="Google Shape;1154;p95"/>
          <p:cNvSpPr txBox="1"/>
          <p:nvPr>
            <p:ph idx="1" type="body"/>
          </p:nvPr>
        </p:nvSpPr>
        <p:spPr>
          <a:xfrm>
            <a:off x="1716175" y="1119600"/>
            <a:ext cx="7150200" cy="28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Answers may differ depending on personal preferences.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96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sp>
        <p:nvSpPr>
          <p:cNvPr id="1160" name="Google Shape;1160;p96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161" name="Google Shape;1161;p96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162" name="Google Shape;1162;p96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pic>
        <p:nvPicPr>
          <p:cNvPr id="1163" name="Google Shape;1163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05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97"/>
          <p:cNvSpPr txBox="1"/>
          <p:nvPr>
            <p:ph idx="1" type="body"/>
          </p:nvPr>
        </p:nvSpPr>
        <p:spPr>
          <a:xfrm>
            <a:off x="324000" y="759300"/>
            <a:ext cx="8237700" cy="120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When petrol or diesel vehicles make a journey, they consume fuel.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factors may affect the </a:t>
            </a:r>
            <a:r>
              <a:rPr lang="en-GB" sz="2000">
                <a:solidFill>
                  <a:schemeClr val="accent5"/>
                </a:solidFill>
              </a:rPr>
              <a:t>amount of </a:t>
            </a:r>
            <a:r>
              <a:rPr lang="en-GB" sz="2000">
                <a:solidFill>
                  <a:schemeClr val="accent5"/>
                </a:solidFill>
              </a:rPr>
              <a:t>fuel</a:t>
            </a:r>
            <a:r>
              <a:rPr lang="en-GB" sz="2000"/>
              <a:t> that is consumed during a journey?</a:t>
            </a:r>
            <a:endParaRPr sz="2000"/>
          </a:p>
        </p:txBody>
      </p:sp>
      <p:sp>
        <p:nvSpPr>
          <p:cNvPr id="1169" name="Google Shape;1169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170" name="Google Shape;1170;p97"/>
          <p:cNvSpPr txBox="1"/>
          <p:nvPr>
            <p:ph idx="1" type="body"/>
          </p:nvPr>
        </p:nvSpPr>
        <p:spPr>
          <a:xfrm>
            <a:off x="324000" y="2080046"/>
            <a:ext cx="8237700" cy="275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Examples may include: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l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ength of the journey;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hether driving in a town/city or on a motorway;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size of the vehicle;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ize of the engine;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Font typeface="Kalam"/>
              <a:buChar char="●"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ype of fuel.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5" name="Google Shape;1175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4000" y="2775214"/>
            <a:ext cx="3024349" cy="1512174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98"/>
          <p:cNvSpPr txBox="1"/>
          <p:nvPr>
            <p:ph idx="1" type="body"/>
          </p:nvPr>
        </p:nvSpPr>
        <p:spPr>
          <a:xfrm>
            <a:off x="324000" y="759300"/>
            <a:ext cx="8496000" cy="188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 vehicles use fuel more efficiently than others.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The fuel efficiency of a vehicle is often expressed in terms of </a:t>
            </a:r>
            <a:br>
              <a:rPr lang="en-GB" sz="2000"/>
            </a:br>
            <a:r>
              <a:rPr lang="en-GB" sz="2000">
                <a:solidFill>
                  <a:schemeClr val="accent5"/>
                </a:solidFill>
              </a:rPr>
              <a:t>miles per gallon (mpg)</a:t>
            </a:r>
            <a:r>
              <a:rPr lang="en-GB" sz="2000"/>
              <a:t>. This is the average number of miles that the vehicle travels using 1 gallon of fuel. </a:t>
            </a:r>
            <a:r>
              <a:rPr lang="en-GB" sz="2000"/>
              <a:t>In the UK, a gallon refers to an </a:t>
            </a:r>
            <a:r>
              <a:rPr lang="en-GB" sz="2000">
                <a:solidFill>
                  <a:schemeClr val="accent5"/>
                </a:solidFill>
              </a:rPr>
              <a:t>imperial gallon</a:t>
            </a:r>
            <a:r>
              <a:rPr lang="en-GB" sz="2000"/>
              <a:t> (rather than a US gallon).</a:t>
            </a:r>
            <a:endParaRPr sz="2000"/>
          </a:p>
        </p:txBody>
      </p:sp>
      <p:sp>
        <p:nvSpPr>
          <p:cNvPr id="1177" name="Google Shape;1177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178" name="Google Shape;1178;p98"/>
          <p:cNvSpPr txBox="1"/>
          <p:nvPr>
            <p:ph idx="1" type="body"/>
          </p:nvPr>
        </p:nvSpPr>
        <p:spPr>
          <a:xfrm>
            <a:off x="324000" y="2816700"/>
            <a:ext cx="496800" cy="32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E.g. </a:t>
            </a:r>
            <a:endParaRPr sz="2000"/>
          </a:p>
        </p:txBody>
      </p:sp>
      <p:sp>
        <p:nvSpPr>
          <p:cNvPr id="1179" name="Google Shape;1179;p98"/>
          <p:cNvSpPr txBox="1"/>
          <p:nvPr>
            <p:ph idx="1" type="body"/>
          </p:nvPr>
        </p:nvSpPr>
        <p:spPr>
          <a:xfrm>
            <a:off x="1009800" y="4035900"/>
            <a:ext cx="2862300" cy="7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small car may travel </a:t>
            </a:r>
            <a:r>
              <a:rPr lang="en-GB" sz="2000">
                <a:solidFill>
                  <a:schemeClr val="accent5"/>
                </a:solidFill>
              </a:rPr>
              <a:t>50 mpg</a:t>
            </a:r>
            <a:r>
              <a:rPr lang="en-GB" sz="2000"/>
              <a:t> on average.</a:t>
            </a:r>
            <a:endParaRPr sz="2000"/>
          </a:p>
        </p:txBody>
      </p:sp>
      <p:sp>
        <p:nvSpPr>
          <p:cNvPr id="1180" name="Google Shape;1180;p98"/>
          <p:cNvSpPr txBox="1"/>
          <p:nvPr>
            <p:ph idx="1" type="body"/>
          </p:nvPr>
        </p:nvSpPr>
        <p:spPr>
          <a:xfrm>
            <a:off x="4972200" y="4035900"/>
            <a:ext cx="2990700" cy="74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A</a:t>
            </a:r>
            <a:r>
              <a:rPr lang="en-GB" sz="2000"/>
              <a:t> larger car may travel </a:t>
            </a:r>
            <a:r>
              <a:rPr lang="en-GB" sz="2000">
                <a:solidFill>
                  <a:schemeClr val="accent5"/>
                </a:solidFill>
              </a:rPr>
              <a:t>35 mpg</a:t>
            </a:r>
            <a:r>
              <a:rPr lang="en-GB" sz="2000"/>
              <a:t> on average.</a:t>
            </a:r>
            <a:endParaRPr sz="2000"/>
          </a:p>
        </p:txBody>
      </p:sp>
      <p:pic>
        <p:nvPicPr>
          <p:cNvPr id="1181" name="Google Shape;1181;p9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89673" y="3106361"/>
            <a:ext cx="1668823" cy="915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5" name="Shape 1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6" name="Google Shape;1186;p99"/>
          <p:cNvSpPr txBox="1"/>
          <p:nvPr>
            <p:ph idx="1" type="body"/>
          </p:nvPr>
        </p:nvSpPr>
        <p:spPr>
          <a:xfrm>
            <a:off x="324000" y="759300"/>
            <a:ext cx="8496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fuel used during a journey produces CO</a:t>
            </a:r>
            <a:r>
              <a:rPr baseline="-25000" lang="en-GB" sz="2000"/>
              <a:t>2</a:t>
            </a:r>
            <a:r>
              <a:rPr lang="en-GB" sz="2000"/>
              <a:t> emissions.</a:t>
            </a:r>
            <a:endParaRPr sz="2000"/>
          </a:p>
        </p:txBody>
      </p:sp>
      <p:sp>
        <p:nvSpPr>
          <p:cNvPr id="1187" name="Google Shape;118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188" name="Google Shape;1188;p99"/>
          <p:cNvSpPr txBox="1"/>
          <p:nvPr>
            <p:ph idx="1" type="body"/>
          </p:nvPr>
        </p:nvSpPr>
        <p:spPr>
          <a:xfrm>
            <a:off x="332032" y="2740500"/>
            <a:ext cx="35904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emissions per mile (grams) = </a:t>
            </a:r>
            <a:endParaRPr sz="2000"/>
          </a:p>
        </p:txBody>
      </p:sp>
      <p:sp>
        <p:nvSpPr>
          <p:cNvPr id="1189" name="Google Shape;1189;p99"/>
          <p:cNvSpPr txBox="1"/>
          <p:nvPr>
            <p:ph idx="1" type="body"/>
          </p:nvPr>
        </p:nvSpPr>
        <p:spPr>
          <a:xfrm>
            <a:off x="4485499" y="2504150"/>
            <a:ext cx="39963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</a:t>
            </a:r>
            <a:r>
              <a:rPr baseline="-25000" lang="en-GB" sz="2000"/>
              <a:t>2</a:t>
            </a:r>
            <a:r>
              <a:rPr lang="en-GB" sz="2000"/>
              <a:t> per gallon of fuel (grams)</a:t>
            </a:r>
            <a:endParaRPr sz="2000"/>
          </a:p>
        </p:txBody>
      </p:sp>
      <p:sp>
        <p:nvSpPr>
          <p:cNvPr id="1190" name="Google Shape;1190;p99"/>
          <p:cNvSpPr txBox="1"/>
          <p:nvPr>
            <p:ph idx="1" type="body"/>
          </p:nvPr>
        </p:nvSpPr>
        <p:spPr>
          <a:xfrm>
            <a:off x="4028307" y="3001725"/>
            <a:ext cx="4453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fuel efficiency of the vehicle (mpg)</a:t>
            </a:r>
            <a:endParaRPr sz="2000"/>
          </a:p>
        </p:txBody>
      </p:sp>
      <p:cxnSp>
        <p:nvCxnSpPr>
          <p:cNvPr id="1191" name="Google Shape;1191;p99"/>
          <p:cNvCxnSpPr/>
          <p:nvPr/>
        </p:nvCxnSpPr>
        <p:spPr>
          <a:xfrm>
            <a:off x="3987782" y="2912400"/>
            <a:ext cx="4290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92" name="Google Shape;1192;p99"/>
          <p:cNvSpPr txBox="1"/>
          <p:nvPr>
            <p:ph idx="1" type="body"/>
          </p:nvPr>
        </p:nvSpPr>
        <p:spPr>
          <a:xfrm>
            <a:off x="324000" y="1391944"/>
            <a:ext cx="8496000" cy="72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can estimate the amount of </a:t>
            </a:r>
            <a:r>
              <a:rPr lang="en-GB" sz="2000">
                <a:solidFill>
                  <a:schemeClr val="accent5"/>
                </a:solidFill>
              </a:rPr>
              <a:t>CO</a:t>
            </a:r>
            <a:r>
              <a:rPr baseline="-25000" lang="en-GB" sz="2000">
                <a:solidFill>
                  <a:schemeClr val="accent5"/>
                </a:solidFill>
              </a:rPr>
              <a:t>2</a:t>
            </a:r>
            <a:r>
              <a:rPr lang="en-GB" sz="2000">
                <a:solidFill>
                  <a:schemeClr val="accent5"/>
                </a:solidFill>
              </a:rPr>
              <a:t> emissions per mile</a:t>
            </a:r>
            <a:r>
              <a:rPr lang="en-GB" sz="2000"/>
              <a:t> using the following formula: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100"/>
          <p:cNvSpPr txBox="1"/>
          <p:nvPr>
            <p:ph idx="1" type="body"/>
          </p:nvPr>
        </p:nvSpPr>
        <p:spPr>
          <a:xfrm>
            <a:off x="324000" y="759300"/>
            <a:ext cx="8496000" cy="15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average CO</a:t>
            </a:r>
            <a:r>
              <a:rPr baseline="-25000" lang="en-GB" sz="2000"/>
              <a:t>2 </a:t>
            </a:r>
            <a:r>
              <a:rPr lang="en-GB" sz="2000"/>
              <a:t>emissions for a petrol car is </a:t>
            </a:r>
            <a:r>
              <a:rPr lang="en-GB" sz="2000">
                <a:solidFill>
                  <a:schemeClr val="accent5"/>
                </a:solidFill>
              </a:rPr>
              <a:t>9 kg per gallon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The average fuel efficiency of a small car is </a:t>
            </a:r>
            <a:r>
              <a:rPr lang="en-GB" sz="2000">
                <a:solidFill>
                  <a:schemeClr val="accent5"/>
                </a:solidFill>
              </a:rPr>
              <a:t>50 mpg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How much CO</a:t>
            </a:r>
            <a:r>
              <a:rPr baseline="-25000" lang="en-GB" sz="2000"/>
              <a:t>2</a:t>
            </a:r>
            <a:r>
              <a:rPr lang="en-GB" sz="2000"/>
              <a:t> emissions does it produce per mile?</a:t>
            </a:r>
            <a:endParaRPr sz="2000"/>
          </a:p>
        </p:txBody>
      </p:sp>
      <p:sp>
        <p:nvSpPr>
          <p:cNvPr id="1198" name="Google Shape;1198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199" name="Google Shape;1199;p100"/>
          <p:cNvSpPr txBox="1"/>
          <p:nvPr>
            <p:ph idx="1" type="body"/>
          </p:nvPr>
        </p:nvSpPr>
        <p:spPr>
          <a:xfrm>
            <a:off x="428100" y="2461850"/>
            <a:ext cx="34386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emissions per mile (grams) 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0" name="Google Shape;1200;p100"/>
          <p:cNvSpPr txBox="1"/>
          <p:nvPr>
            <p:ph idx="1" type="body"/>
          </p:nvPr>
        </p:nvSpPr>
        <p:spPr>
          <a:xfrm>
            <a:off x="4269725" y="2244825"/>
            <a:ext cx="34902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</a:t>
            </a:r>
            <a:r>
              <a:rPr baseline="-25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per gallon of fuel (grams)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1" name="Google Shape;1201;p100"/>
          <p:cNvSpPr txBox="1"/>
          <p:nvPr>
            <p:ph idx="1" type="body"/>
          </p:nvPr>
        </p:nvSpPr>
        <p:spPr>
          <a:xfrm>
            <a:off x="3812524" y="2666199"/>
            <a:ext cx="4453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fuel efficiency of the vehicle (mpg)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02" name="Google Shape;1202;p100"/>
          <p:cNvCxnSpPr/>
          <p:nvPr/>
        </p:nvCxnSpPr>
        <p:spPr>
          <a:xfrm>
            <a:off x="3802725" y="2622348"/>
            <a:ext cx="4038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3" name="Google Shape;1203;p100"/>
          <p:cNvSpPr txBox="1"/>
          <p:nvPr>
            <p:ph idx="1" type="body"/>
          </p:nvPr>
        </p:nvSpPr>
        <p:spPr>
          <a:xfrm>
            <a:off x="636474" y="4470675"/>
            <a:ext cx="62379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car produces 180 grams of CO</a:t>
            </a:r>
            <a:r>
              <a:rPr baseline="-25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emissions per mile.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4" name="Google Shape;1204;p100"/>
          <p:cNvSpPr txBox="1"/>
          <p:nvPr>
            <p:ph idx="1" type="body"/>
          </p:nvPr>
        </p:nvSpPr>
        <p:spPr>
          <a:xfrm>
            <a:off x="3601774" y="3151543"/>
            <a:ext cx="655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9000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5" name="Google Shape;1205;p100"/>
          <p:cNvSpPr txBox="1"/>
          <p:nvPr>
            <p:ph idx="1" type="body"/>
          </p:nvPr>
        </p:nvSpPr>
        <p:spPr>
          <a:xfrm>
            <a:off x="3714293" y="3512081"/>
            <a:ext cx="3486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50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06" name="Google Shape;1206;p100"/>
          <p:cNvCxnSpPr/>
          <p:nvPr/>
        </p:nvCxnSpPr>
        <p:spPr>
          <a:xfrm>
            <a:off x="3574125" y="3467629"/>
            <a:ext cx="6429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07" name="Google Shape;1207;p100"/>
          <p:cNvSpPr txBox="1"/>
          <p:nvPr>
            <p:ph idx="1" type="body"/>
          </p:nvPr>
        </p:nvSpPr>
        <p:spPr>
          <a:xfrm>
            <a:off x="3228693" y="3291174"/>
            <a:ext cx="175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08" name="Google Shape;1208;p100"/>
          <p:cNvSpPr txBox="1"/>
          <p:nvPr>
            <p:ph idx="1" type="body"/>
          </p:nvPr>
        </p:nvSpPr>
        <p:spPr>
          <a:xfrm>
            <a:off x="3228778" y="3938560"/>
            <a:ext cx="13032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=  180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09" name="Google Shape;1209;p100"/>
          <p:cNvCxnSpPr/>
          <p:nvPr/>
        </p:nvCxnSpPr>
        <p:spPr>
          <a:xfrm>
            <a:off x="5846701" y="1094138"/>
            <a:ext cx="545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10" name="Google Shape;1210;p100"/>
          <p:cNvCxnSpPr/>
          <p:nvPr/>
        </p:nvCxnSpPr>
        <p:spPr>
          <a:xfrm>
            <a:off x="6766019" y="2576557"/>
            <a:ext cx="835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11" name="Google Shape;1211;p100"/>
          <p:cNvSpPr txBox="1"/>
          <p:nvPr>
            <p:ph idx="1" type="body"/>
          </p:nvPr>
        </p:nvSpPr>
        <p:spPr>
          <a:xfrm>
            <a:off x="7251418" y="1426392"/>
            <a:ext cx="1789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rPr>
              <a:t>9 kg = 9000 g</a:t>
            </a:r>
            <a:endParaRPr sz="2000">
              <a:solidFill>
                <a:schemeClr val="dk2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12" name="Google Shape;1212;p100"/>
          <p:cNvCxnSpPr/>
          <p:nvPr/>
        </p:nvCxnSpPr>
        <p:spPr>
          <a:xfrm>
            <a:off x="6367950" y="1139100"/>
            <a:ext cx="860400" cy="384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101"/>
          <p:cNvSpPr txBox="1"/>
          <p:nvPr>
            <p:ph idx="1" type="body"/>
          </p:nvPr>
        </p:nvSpPr>
        <p:spPr>
          <a:xfrm>
            <a:off x="324000" y="759300"/>
            <a:ext cx="8496000" cy="136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person’s car produces </a:t>
            </a:r>
            <a:r>
              <a:rPr lang="en-GB" sz="2000">
                <a:solidFill>
                  <a:schemeClr val="accent5"/>
                </a:solidFill>
              </a:rPr>
              <a:t>180 grams</a:t>
            </a:r>
            <a:r>
              <a:rPr lang="en-GB" sz="2000"/>
              <a:t> of CO</a:t>
            </a:r>
            <a:r>
              <a:rPr baseline="-25000" lang="en-GB" sz="2000"/>
              <a:t>2</a:t>
            </a:r>
            <a:r>
              <a:rPr lang="en-GB" sz="2000"/>
              <a:t> emissions </a:t>
            </a:r>
            <a:r>
              <a:rPr lang="en-GB" sz="2000">
                <a:solidFill>
                  <a:schemeClr val="accent5"/>
                </a:solidFill>
              </a:rPr>
              <a:t>per mile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They live </a:t>
            </a:r>
            <a:r>
              <a:rPr lang="en-GB" sz="2000">
                <a:solidFill>
                  <a:schemeClr val="accent5"/>
                </a:solidFill>
              </a:rPr>
              <a:t>9 miles</a:t>
            </a:r>
            <a:r>
              <a:rPr lang="en-GB" sz="2000"/>
              <a:t> from their place of work.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emissions does the car produce during a journey to work?</a:t>
            </a:r>
            <a:endParaRPr sz="2000"/>
          </a:p>
        </p:txBody>
      </p:sp>
      <p:sp>
        <p:nvSpPr>
          <p:cNvPr id="1218" name="Google Shape;1218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219" name="Google Shape;1219;p101"/>
          <p:cNvSpPr txBox="1"/>
          <p:nvPr>
            <p:ph idx="1" type="body"/>
          </p:nvPr>
        </p:nvSpPr>
        <p:spPr>
          <a:xfrm>
            <a:off x="3524400" y="3883500"/>
            <a:ext cx="2509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 × 180 = 1620 grams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0" name="Google Shape;1220;p101"/>
          <p:cNvSpPr txBox="1"/>
          <p:nvPr>
            <p:ph idx="1" type="body"/>
          </p:nvPr>
        </p:nvSpPr>
        <p:spPr>
          <a:xfrm>
            <a:off x="1924200" y="4466494"/>
            <a:ext cx="53559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journey produces 1.62 kg of CO</a:t>
            </a:r>
            <a:r>
              <a:rPr baseline="-25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emissions.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21" name="Google Shape;1221;p101"/>
          <p:cNvGraphicFramePr/>
          <p:nvPr/>
        </p:nvGraphicFramePr>
        <p:xfrm>
          <a:off x="1684825" y="2471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2887175"/>
                <a:gridCol w="995750"/>
                <a:gridCol w="1346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distance (miles)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C0</a:t>
                      </a:r>
                      <a:r>
                        <a:rPr baseline="-25000"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emissions (grams)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180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22" name="Google Shape;1222;p101"/>
          <p:cNvSpPr txBox="1"/>
          <p:nvPr>
            <p:ph idx="1" type="body"/>
          </p:nvPr>
        </p:nvSpPr>
        <p:spPr>
          <a:xfrm>
            <a:off x="5287433" y="2154132"/>
            <a:ext cx="4713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9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3" name="Google Shape;1223;p101"/>
          <p:cNvSpPr txBox="1"/>
          <p:nvPr>
            <p:ph idx="1" type="body"/>
          </p:nvPr>
        </p:nvSpPr>
        <p:spPr>
          <a:xfrm>
            <a:off x="5310150" y="3509961"/>
            <a:ext cx="4713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9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24" name="Google Shape;1224;p101"/>
          <p:cNvGrpSpPr/>
          <p:nvPr/>
        </p:nvGrpSpPr>
        <p:grpSpPr>
          <a:xfrm>
            <a:off x="5021425" y="2393250"/>
            <a:ext cx="865500" cy="1153500"/>
            <a:chOff x="5021425" y="2393250"/>
            <a:chExt cx="865500" cy="1153500"/>
          </a:xfrm>
        </p:grpSpPr>
        <p:sp>
          <p:nvSpPr>
            <p:cNvPr id="1225" name="Google Shape;1225;p101"/>
            <p:cNvSpPr/>
            <p:nvPr/>
          </p:nvSpPr>
          <p:spPr>
            <a:xfrm>
              <a:off x="5021425" y="2393250"/>
              <a:ext cx="837900" cy="613500"/>
            </a:xfrm>
            <a:prstGeom prst="arc">
              <a:avLst>
                <a:gd fmla="val 12452770" name="adj1"/>
                <a:gd fmla="val 20521618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6" name="Google Shape;1226;p101"/>
            <p:cNvSpPr/>
            <p:nvPr/>
          </p:nvSpPr>
          <p:spPr>
            <a:xfrm flipH="1" rot="10800000">
              <a:off x="5049025" y="2933250"/>
              <a:ext cx="837900" cy="613500"/>
            </a:xfrm>
            <a:prstGeom prst="arc">
              <a:avLst>
                <a:gd fmla="val 12452770" name="adj1"/>
                <a:gd fmla="val 20521618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27" name="Google Shape;1227;p101"/>
          <p:cNvSpPr txBox="1"/>
          <p:nvPr>
            <p:ph idx="1" type="body"/>
          </p:nvPr>
        </p:nvSpPr>
        <p:spPr>
          <a:xfrm>
            <a:off x="5173041" y="2745708"/>
            <a:ext cx="668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180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28" name="Google Shape;1228;p101"/>
          <p:cNvGrpSpPr/>
          <p:nvPr/>
        </p:nvGrpSpPr>
        <p:grpSpPr>
          <a:xfrm>
            <a:off x="4914250" y="2700000"/>
            <a:ext cx="1745115" cy="540000"/>
            <a:chOff x="4914250" y="2700000"/>
            <a:chExt cx="1745115" cy="540000"/>
          </a:xfrm>
        </p:grpSpPr>
        <p:sp>
          <p:nvSpPr>
            <p:cNvPr id="1229" name="Google Shape;1229;p101"/>
            <p:cNvSpPr/>
            <p:nvPr/>
          </p:nvSpPr>
          <p:spPr>
            <a:xfrm>
              <a:off x="4914250" y="2700000"/>
              <a:ext cx="242400" cy="540000"/>
            </a:xfrm>
            <a:prstGeom prst="arc">
              <a:avLst>
                <a:gd fmla="val 16101605" name="adj1"/>
                <a:gd fmla="val 5526007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101"/>
            <p:cNvSpPr/>
            <p:nvPr/>
          </p:nvSpPr>
          <p:spPr>
            <a:xfrm>
              <a:off x="6416965" y="2700000"/>
              <a:ext cx="242400" cy="540000"/>
            </a:xfrm>
            <a:prstGeom prst="arc">
              <a:avLst>
                <a:gd fmla="val 16101605" name="adj1"/>
                <a:gd fmla="val 5526007" name="adj2"/>
              </a:avLst>
            </a:prstGeom>
            <a:noFill/>
            <a:ln cap="flat" cmpd="sng" w="38100">
              <a:solidFill>
                <a:schemeClr val="accent5"/>
              </a:solidFill>
              <a:prstDash val="solid"/>
              <a:round/>
              <a:headEnd len="sm" w="sm" type="none"/>
              <a:tailEnd len="sm" w="sm" type="triangl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31" name="Google Shape;1231;p101"/>
          <p:cNvSpPr txBox="1"/>
          <p:nvPr>
            <p:ph idx="1" type="body"/>
          </p:nvPr>
        </p:nvSpPr>
        <p:spPr>
          <a:xfrm>
            <a:off x="6723647" y="2745708"/>
            <a:ext cx="6687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Kalam"/>
                <a:ea typeface="Kalam"/>
                <a:cs typeface="Kalam"/>
                <a:sym typeface="Kalam"/>
              </a:rPr>
              <a:t>× 180</a:t>
            </a:r>
            <a:endParaRPr sz="1800">
              <a:solidFill>
                <a:schemeClr val="accent5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2" name="Google Shape;1232;p101"/>
          <p:cNvSpPr txBox="1"/>
          <p:nvPr>
            <p:ph idx="1" type="body"/>
          </p:nvPr>
        </p:nvSpPr>
        <p:spPr>
          <a:xfrm>
            <a:off x="5821042" y="3045300"/>
            <a:ext cx="5961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1620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p102"/>
          <p:cNvSpPr txBox="1"/>
          <p:nvPr>
            <p:ph idx="1" type="body"/>
          </p:nvPr>
        </p:nvSpPr>
        <p:spPr>
          <a:xfrm>
            <a:off x="324000" y="759300"/>
            <a:ext cx="8496000" cy="26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makes </a:t>
            </a:r>
            <a:r>
              <a:rPr lang="en-GB" sz="2000">
                <a:solidFill>
                  <a:schemeClr val="accent5"/>
                </a:solidFill>
              </a:rPr>
              <a:t>2 car journeys per day</a:t>
            </a:r>
            <a:r>
              <a:rPr lang="en-GB" sz="2000"/>
              <a:t>: travelling to work; travelling home from work.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Each journey produces </a:t>
            </a:r>
            <a:r>
              <a:rPr lang="en-GB" sz="2000">
                <a:solidFill>
                  <a:schemeClr val="accent5"/>
                </a:solidFill>
              </a:rPr>
              <a:t>1.62 kg</a:t>
            </a:r>
            <a:r>
              <a:rPr lang="en-GB" sz="2000"/>
              <a:t> of CO</a:t>
            </a:r>
            <a:r>
              <a:rPr baseline="-25000" lang="en-GB" sz="2000"/>
              <a:t>2</a:t>
            </a:r>
            <a:r>
              <a:rPr lang="en-GB" sz="2000"/>
              <a:t> emissions.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They work </a:t>
            </a:r>
            <a:r>
              <a:rPr lang="en-GB" sz="2000">
                <a:solidFill>
                  <a:schemeClr val="accent5"/>
                </a:solidFill>
              </a:rPr>
              <a:t>225 days</a:t>
            </a:r>
            <a:r>
              <a:rPr lang="en-GB" sz="2000"/>
              <a:t> per year.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</a:t>
            </a:r>
            <a:r>
              <a:rPr lang="en-GB" sz="2000"/>
              <a:t>CO</a:t>
            </a:r>
            <a:r>
              <a:rPr baseline="-25000" lang="en-GB" sz="2000"/>
              <a:t>2 </a:t>
            </a:r>
            <a:r>
              <a:rPr lang="en-GB" sz="2000"/>
              <a:t>emissions does the car produce in a year, travelling to and from work?</a:t>
            </a:r>
            <a:endParaRPr sz="2000"/>
          </a:p>
        </p:txBody>
      </p:sp>
      <p:sp>
        <p:nvSpPr>
          <p:cNvPr id="1238" name="Google Shape;1238;p10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239" name="Google Shape;1239;p102"/>
          <p:cNvSpPr txBox="1"/>
          <p:nvPr>
            <p:ph idx="1" type="body"/>
          </p:nvPr>
        </p:nvSpPr>
        <p:spPr>
          <a:xfrm>
            <a:off x="3067200" y="3578700"/>
            <a:ext cx="29829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1.62 × 2 × 225 = 729 kg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40" name="Google Shape;1240;p102"/>
          <p:cNvSpPr txBox="1"/>
          <p:nvPr>
            <p:ph idx="1" type="body"/>
          </p:nvPr>
        </p:nvSpPr>
        <p:spPr>
          <a:xfrm>
            <a:off x="327570" y="4086911"/>
            <a:ext cx="8728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car produces around 729 kg of CO</a:t>
            </a:r>
            <a:r>
              <a:rPr baseline="-25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emissions per year while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commuting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10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average CO</a:t>
            </a:r>
            <a:r>
              <a:rPr baseline="-25000" lang="en-GB" sz="2000"/>
              <a:t>2 </a:t>
            </a:r>
            <a:r>
              <a:rPr lang="en-GB" sz="2000"/>
              <a:t>emissions for a petrol car is </a:t>
            </a:r>
            <a:r>
              <a:rPr lang="en-GB" sz="2000">
                <a:solidFill>
                  <a:schemeClr val="accent5"/>
                </a:solidFill>
              </a:rPr>
              <a:t>9 kg per gallon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average fuel efficiency of a large car is </a:t>
            </a:r>
            <a:r>
              <a:rPr lang="en-GB" sz="2000">
                <a:solidFill>
                  <a:schemeClr val="accent5"/>
                </a:solidFill>
              </a:rPr>
              <a:t>35</a:t>
            </a:r>
            <a:r>
              <a:rPr lang="en-GB" sz="2000">
                <a:solidFill>
                  <a:schemeClr val="accent5"/>
                </a:solidFill>
              </a:rPr>
              <a:t> mpg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CO</a:t>
            </a:r>
            <a:r>
              <a:rPr baseline="-25000" lang="en-GB" sz="2000"/>
              <a:t>2</a:t>
            </a:r>
            <a:r>
              <a:rPr lang="en-GB" sz="2000"/>
              <a:t> emissions does it produce per mile? </a:t>
            </a:r>
            <a:br>
              <a:rPr lang="en-GB" sz="2000"/>
            </a:br>
            <a:r>
              <a:rPr lang="en-GB" sz="2000"/>
              <a:t>Give your answer accurate to 3 significant figures.</a:t>
            </a:r>
            <a:endParaRPr sz="2000"/>
          </a:p>
        </p:txBody>
      </p:sp>
      <p:sp>
        <p:nvSpPr>
          <p:cNvPr id="1246" name="Google Shape;1246;p10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247" name="Google Shape;1247;p103"/>
          <p:cNvSpPr txBox="1"/>
          <p:nvPr>
            <p:ph idx="1" type="body"/>
          </p:nvPr>
        </p:nvSpPr>
        <p:spPr>
          <a:xfrm>
            <a:off x="324000" y="2081625"/>
            <a:ext cx="3565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emissions per mile (grams) = </a:t>
            </a:r>
            <a:endParaRPr sz="2000"/>
          </a:p>
        </p:txBody>
      </p:sp>
      <p:sp>
        <p:nvSpPr>
          <p:cNvPr id="1248" name="Google Shape;1248;p103"/>
          <p:cNvSpPr txBox="1"/>
          <p:nvPr>
            <p:ph idx="1" type="body"/>
          </p:nvPr>
        </p:nvSpPr>
        <p:spPr>
          <a:xfrm>
            <a:off x="4605250" y="1845275"/>
            <a:ext cx="36951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</a:t>
            </a:r>
            <a:r>
              <a:rPr baseline="-25000" lang="en-GB" sz="2000"/>
              <a:t>2</a:t>
            </a:r>
            <a:r>
              <a:rPr lang="en-GB" sz="2000"/>
              <a:t> per gallon of fuel (grams)</a:t>
            </a:r>
            <a:endParaRPr sz="2000"/>
          </a:p>
        </p:txBody>
      </p:sp>
      <p:sp>
        <p:nvSpPr>
          <p:cNvPr id="1249" name="Google Shape;1249;p103"/>
          <p:cNvSpPr txBox="1"/>
          <p:nvPr>
            <p:ph idx="1" type="body"/>
          </p:nvPr>
        </p:nvSpPr>
        <p:spPr>
          <a:xfrm>
            <a:off x="4148050" y="2342858"/>
            <a:ext cx="4453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fuel efficiency of the vehicle (mpg)</a:t>
            </a:r>
            <a:endParaRPr sz="2000"/>
          </a:p>
        </p:txBody>
      </p:sp>
      <p:cxnSp>
        <p:nvCxnSpPr>
          <p:cNvPr id="1250" name="Google Shape;1250;p103"/>
          <p:cNvCxnSpPr/>
          <p:nvPr/>
        </p:nvCxnSpPr>
        <p:spPr>
          <a:xfrm>
            <a:off x="4107525" y="2253533"/>
            <a:ext cx="42906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103"/>
          <p:cNvSpPr txBox="1"/>
          <p:nvPr>
            <p:ph idx="1" type="body"/>
          </p:nvPr>
        </p:nvSpPr>
        <p:spPr>
          <a:xfrm>
            <a:off x="3067200" y="3943275"/>
            <a:ext cx="30372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9000 ÷ 35 = 257.142…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2" name="Google Shape;1252;p103"/>
          <p:cNvSpPr txBox="1"/>
          <p:nvPr>
            <p:ph idx="1" type="body"/>
          </p:nvPr>
        </p:nvSpPr>
        <p:spPr>
          <a:xfrm>
            <a:off x="1695600" y="4467900"/>
            <a:ext cx="61476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car produces 257 grams of CO</a:t>
            </a:r>
            <a:r>
              <a:rPr baseline="-25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emissions per mile.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person’s car produces 257 grams of CO</a:t>
            </a:r>
            <a:r>
              <a:rPr baseline="-25000" lang="en-GB" sz="2000"/>
              <a:t>2</a:t>
            </a:r>
            <a:r>
              <a:rPr lang="en-GB" sz="2000"/>
              <a:t> emissions per mile.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They live 13 miles from their place of work.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emissions does the car produce in a single journey to work (one way)? Give your answer in kilograms.</a:t>
            </a:r>
            <a:endParaRPr sz="2000"/>
          </a:p>
        </p:txBody>
      </p:sp>
      <p:sp>
        <p:nvSpPr>
          <p:cNvPr id="1258" name="Google Shape;1258;p10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259" name="Google Shape;1259;p104"/>
          <p:cNvSpPr txBox="1"/>
          <p:nvPr>
            <p:ph idx="1" type="body"/>
          </p:nvPr>
        </p:nvSpPr>
        <p:spPr>
          <a:xfrm>
            <a:off x="3524400" y="2740500"/>
            <a:ext cx="29580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257 = 3341 grams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0" name="Google Shape;1260;p104"/>
          <p:cNvSpPr txBox="1"/>
          <p:nvPr>
            <p:ph idx="1" type="body"/>
          </p:nvPr>
        </p:nvSpPr>
        <p:spPr>
          <a:xfrm>
            <a:off x="1695600" y="3350100"/>
            <a:ext cx="57249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journey produces 3.341 kg of CO</a:t>
            </a:r>
            <a:r>
              <a:rPr baseline="-25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emissions.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05"/>
          <p:cNvSpPr txBox="1"/>
          <p:nvPr>
            <p:ph idx="1" type="body"/>
          </p:nvPr>
        </p:nvSpPr>
        <p:spPr>
          <a:xfrm>
            <a:off x="324000" y="759300"/>
            <a:ext cx="8535900" cy="2607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makes 2 car journeys per day: travelling to work; travelling home from work.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Each journey produces 3.341 kg of CO</a:t>
            </a:r>
            <a:r>
              <a:rPr baseline="-25000" lang="en-GB" sz="2000"/>
              <a:t>2</a:t>
            </a:r>
            <a:r>
              <a:rPr lang="en-GB" sz="2000"/>
              <a:t> emissions.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They work 192 days per year.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How much CO</a:t>
            </a:r>
            <a:r>
              <a:rPr baseline="-25000" lang="en-GB" sz="2000"/>
              <a:t>2 </a:t>
            </a:r>
            <a:r>
              <a:rPr lang="en-GB" sz="2000"/>
              <a:t>emissions does the car produce in a whole year by travelling to and from work?</a:t>
            </a:r>
            <a:endParaRPr sz="2000"/>
          </a:p>
        </p:txBody>
      </p:sp>
      <p:sp>
        <p:nvSpPr>
          <p:cNvPr id="1266" name="Google Shape;1266;p10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267" name="Google Shape;1267;p105"/>
          <p:cNvSpPr txBox="1"/>
          <p:nvPr>
            <p:ph idx="1" type="body"/>
          </p:nvPr>
        </p:nvSpPr>
        <p:spPr>
          <a:xfrm>
            <a:off x="2838600" y="3502500"/>
            <a:ext cx="35592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3.341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× 2 × 192 = 1282.944 kg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68" name="Google Shape;1268;p105"/>
          <p:cNvSpPr txBox="1"/>
          <p:nvPr>
            <p:ph idx="1" type="body"/>
          </p:nvPr>
        </p:nvSpPr>
        <p:spPr>
          <a:xfrm>
            <a:off x="375408" y="4035900"/>
            <a:ext cx="8728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car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produces around 1280 kg of CO</a:t>
            </a:r>
            <a:r>
              <a:rPr baseline="-25000" lang="en-GB" sz="20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emissions per year when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commuting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6"/>
          <p:cNvSpPr txBox="1"/>
          <p:nvPr>
            <p:ph idx="1" type="body"/>
          </p:nvPr>
        </p:nvSpPr>
        <p:spPr>
          <a:xfrm>
            <a:off x="324000" y="759300"/>
            <a:ext cx="7758000" cy="4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amount of </a:t>
            </a:r>
            <a:r>
              <a:rPr lang="en-GB" sz="1800">
                <a:solidFill>
                  <a:schemeClr val="accent5"/>
                </a:solidFill>
              </a:rPr>
              <a:t>CO</a:t>
            </a:r>
            <a:r>
              <a:rPr baseline="-25000" lang="en-GB" sz="1800">
                <a:solidFill>
                  <a:schemeClr val="accent5"/>
                </a:solidFill>
              </a:rPr>
              <a:t>2</a:t>
            </a:r>
            <a:r>
              <a:rPr lang="en-GB" sz="1800">
                <a:solidFill>
                  <a:schemeClr val="accent5"/>
                </a:solidFill>
              </a:rPr>
              <a:t> emissions per mile</a:t>
            </a:r>
            <a:r>
              <a:rPr lang="en-GB" sz="1800"/>
              <a:t> can be estimated by using the formula:</a:t>
            </a:r>
            <a:endParaRPr sz="2400"/>
          </a:p>
        </p:txBody>
      </p:sp>
      <p:sp>
        <p:nvSpPr>
          <p:cNvPr id="1274" name="Google Shape;1274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275" name="Google Shape;1275;p106"/>
          <p:cNvSpPr txBox="1"/>
          <p:nvPr>
            <p:ph idx="4294967295" type="body"/>
          </p:nvPr>
        </p:nvSpPr>
        <p:spPr>
          <a:xfrm>
            <a:off x="857400" y="1521300"/>
            <a:ext cx="3184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emissions per mile (grams) = </a:t>
            </a:r>
            <a:endParaRPr sz="1600"/>
          </a:p>
        </p:txBody>
      </p:sp>
      <p:sp>
        <p:nvSpPr>
          <p:cNvPr id="1276" name="Google Shape;1276;p106"/>
          <p:cNvSpPr txBox="1"/>
          <p:nvPr>
            <p:ph idx="4294967295" type="body"/>
          </p:nvPr>
        </p:nvSpPr>
        <p:spPr>
          <a:xfrm>
            <a:off x="4088272" y="1361150"/>
            <a:ext cx="3184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CO</a:t>
            </a:r>
            <a:r>
              <a:rPr baseline="-25000" lang="en-GB" sz="1600"/>
              <a:t>2</a:t>
            </a:r>
            <a:r>
              <a:rPr lang="en-GB" sz="1600"/>
              <a:t> per gallon of fuel (grams)</a:t>
            </a:r>
            <a:endParaRPr sz="1600"/>
          </a:p>
        </p:txBody>
      </p:sp>
      <p:sp>
        <p:nvSpPr>
          <p:cNvPr id="1277" name="Google Shape;1277;p106"/>
          <p:cNvSpPr txBox="1"/>
          <p:nvPr>
            <p:ph idx="4294967295" type="body"/>
          </p:nvPr>
        </p:nvSpPr>
        <p:spPr>
          <a:xfrm>
            <a:off x="3867884" y="1706325"/>
            <a:ext cx="4453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fuel efficiency of the vehicle (mpg)</a:t>
            </a:r>
            <a:endParaRPr sz="1600"/>
          </a:p>
        </p:txBody>
      </p:sp>
      <p:cxnSp>
        <p:nvCxnSpPr>
          <p:cNvPr id="1278" name="Google Shape;1278;p106"/>
          <p:cNvCxnSpPr/>
          <p:nvPr/>
        </p:nvCxnSpPr>
        <p:spPr>
          <a:xfrm>
            <a:off x="3860203" y="1693200"/>
            <a:ext cx="346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79" name="Google Shape;1279;p106"/>
          <p:cNvSpPr txBox="1"/>
          <p:nvPr>
            <p:ph idx="1" type="body"/>
          </p:nvPr>
        </p:nvSpPr>
        <p:spPr>
          <a:xfrm>
            <a:off x="324000" y="2207100"/>
            <a:ext cx="8496000" cy="19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person lives 6 miles from their place of work and travels by car.</a:t>
            </a:r>
            <a:br>
              <a:rPr lang="en-GB" sz="1800"/>
            </a:br>
            <a:r>
              <a:rPr lang="en-GB" sz="1800"/>
              <a:t>The average CO</a:t>
            </a:r>
            <a:r>
              <a:rPr baseline="-25000" lang="en-GB" sz="1800"/>
              <a:t>2 </a:t>
            </a:r>
            <a:r>
              <a:rPr lang="en-GB" sz="1800"/>
              <a:t>emissions for a petrol car is 9 kg per gallon.</a:t>
            </a:r>
            <a:br>
              <a:rPr lang="en-GB" sz="1800"/>
            </a:br>
            <a:r>
              <a:rPr lang="en-GB" sz="1800"/>
              <a:t>On average, their car travels</a:t>
            </a:r>
            <a:r>
              <a:rPr lang="en-GB" sz="1800"/>
              <a:t> 45 miles per gallon.</a:t>
            </a:r>
            <a:br>
              <a:rPr lang="en-GB" sz="1800"/>
            </a:br>
            <a:r>
              <a:rPr lang="en-GB" sz="1800"/>
              <a:t>They work 223 days per year.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Calculate the amount of CO</a:t>
            </a:r>
            <a:r>
              <a:rPr baseline="-25000" lang="en-GB" sz="1800"/>
              <a:t>2 </a:t>
            </a:r>
            <a:r>
              <a:rPr lang="en-GB" sz="1800"/>
              <a:t>emissions produced per year from </a:t>
            </a:r>
            <a:r>
              <a:rPr b="1" lang="en-GB" sz="1800"/>
              <a:t>commuting</a:t>
            </a:r>
            <a:r>
              <a:rPr lang="en-GB" sz="1800"/>
              <a:t> by car. Give your answer in kilograms and accurate to 3 significant figures.</a:t>
            </a:r>
            <a:br>
              <a:rPr lang="en-GB" sz="1800"/>
            </a:br>
            <a:endParaRPr sz="18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07"/>
          <p:cNvSpPr txBox="1"/>
          <p:nvPr>
            <p:ph idx="1" type="body"/>
          </p:nvPr>
        </p:nvSpPr>
        <p:spPr>
          <a:xfrm>
            <a:off x="324000" y="759300"/>
            <a:ext cx="7788900" cy="45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The amount of </a:t>
            </a:r>
            <a:r>
              <a:rPr lang="en-GB" sz="1800">
                <a:solidFill>
                  <a:schemeClr val="accent5"/>
                </a:solidFill>
              </a:rPr>
              <a:t>CO</a:t>
            </a:r>
            <a:r>
              <a:rPr baseline="-25000" lang="en-GB" sz="1800">
                <a:solidFill>
                  <a:schemeClr val="accent5"/>
                </a:solidFill>
              </a:rPr>
              <a:t>2</a:t>
            </a:r>
            <a:r>
              <a:rPr lang="en-GB" sz="1800">
                <a:solidFill>
                  <a:schemeClr val="accent5"/>
                </a:solidFill>
              </a:rPr>
              <a:t> emissions per mile</a:t>
            </a:r>
            <a:r>
              <a:rPr lang="en-GB" sz="1800"/>
              <a:t> can be estimated by using the formula: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285" name="Google Shape;1285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286" name="Google Shape;1286;p107"/>
          <p:cNvSpPr txBox="1"/>
          <p:nvPr>
            <p:ph idx="1" type="body"/>
          </p:nvPr>
        </p:nvSpPr>
        <p:spPr>
          <a:xfrm>
            <a:off x="324000" y="2359500"/>
            <a:ext cx="8330700" cy="23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40 people live</a:t>
            </a:r>
            <a:r>
              <a:rPr lang="en-GB" sz="1800"/>
              <a:t> 6 miles from their place of work and travel on the same bus.</a:t>
            </a:r>
            <a:br>
              <a:rPr lang="en-GB" sz="1800"/>
            </a:br>
            <a:r>
              <a:rPr lang="en-GB" sz="1800"/>
              <a:t>The average CO</a:t>
            </a:r>
            <a:r>
              <a:rPr baseline="-25000" lang="en-GB" sz="1800"/>
              <a:t>2 </a:t>
            </a:r>
            <a:r>
              <a:rPr lang="en-GB" sz="1800"/>
              <a:t>emissions for a diesel bus is 10 kg per gallon.</a:t>
            </a:r>
            <a:br>
              <a:rPr lang="en-GB" sz="1800"/>
            </a:br>
            <a:r>
              <a:rPr lang="en-GB" sz="1800"/>
              <a:t>On average, the bus travels 8 miles per gallon.</a:t>
            </a:r>
            <a:br>
              <a:rPr lang="en-GB" sz="1800"/>
            </a:br>
            <a:r>
              <a:rPr lang="en-GB" sz="1800"/>
              <a:t>They work 223 days per year.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Calculate the amount of CO</a:t>
            </a:r>
            <a:r>
              <a:rPr baseline="-25000" lang="en-GB" sz="1800"/>
              <a:t>2 </a:t>
            </a:r>
            <a:r>
              <a:rPr lang="en-GB" sz="1800"/>
              <a:t>emissions produced per passenger per year from </a:t>
            </a:r>
            <a:r>
              <a:rPr b="1" lang="en-GB" sz="1800"/>
              <a:t>commuting</a:t>
            </a:r>
            <a:r>
              <a:rPr lang="en-GB" sz="1800"/>
              <a:t> by bus. Give your answer in kilograms and accurate to 3 significant figures.</a:t>
            </a:r>
            <a:br>
              <a:rPr lang="en-GB" sz="1800"/>
            </a:br>
            <a:endParaRPr sz="1800"/>
          </a:p>
        </p:txBody>
      </p:sp>
      <p:sp>
        <p:nvSpPr>
          <p:cNvPr id="1287" name="Google Shape;1287;p107"/>
          <p:cNvSpPr txBox="1"/>
          <p:nvPr>
            <p:ph idx="4294967295" type="body"/>
          </p:nvPr>
        </p:nvSpPr>
        <p:spPr>
          <a:xfrm>
            <a:off x="857400" y="1597500"/>
            <a:ext cx="3184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emissions per mile (grams) = </a:t>
            </a:r>
            <a:endParaRPr sz="1600"/>
          </a:p>
        </p:txBody>
      </p:sp>
      <p:sp>
        <p:nvSpPr>
          <p:cNvPr id="1288" name="Google Shape;1288;p107"/>
          <p:cNvSpPr txBox="1"/>
          <p:nvPr>
            <p:ph idx="4294967295" type="body"/>
          </p:nvPr>
        </p:nvSpPr>
        <p:spPr>
          <a:xfrm>
            <a:off x="4088272" y="1437350"/>
            <a:ext cx="3184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CO</a:t>
            </a:r>
            <a:r>
              <a:rPr baseline="-25000" lang="en-GB" sz="1600"/>
              <a:t>2</a:t>
            </a:r>
            <a:r>
              <a:rPr lang="en-GB" sz="1600"/>
              <a:t> per gallon of fuel (grams)</a:t>
            </a:r>
            <a:endParaRPr sz="1600"/>
          </a:p>
        </p:txBody>
      </p:sp>
      <p:sp>
        <p:nvSpPr>
          <p:cNvPr id="1289" name="Google Shape;1289;p107"/>
          <p:cNvSpPr txBox="1"/>
          <p:nvPr>
            <p:ph idx="4294967295" type="body"/>
          </p:nvPr>
        </p:nvSpPr>
        <p:spPr>
          <a:xfrm>
            <a:off x="3867884" y="1782525"/>
            <a:ext cx="4453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fuel efficiency of the vehicle (mpg)</a:t>
            </a:r>
            <a:endParaRPr sz="1600"/>
          </a:p>
        </p:txBody>
      </p:sp>
      <p:cxnSp>
        <p:nvCxnSpPr>
          <p:cNvPr id="1290" name="Google Shape;1290;p107"/>
          <p:cNvCxnSpPr/>
          <p:nvPr/>
        </p:nvCxnSpPr>
        <p:spPr>
          <a:xfrm>
            <a:off x="3860203" y="1769400"/>
            <a:ext cx="346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08"/>
          <p:cNvSpPr txBox="1"/>
          <p:nvPr>
            <p:ph idx="1" type="body"/>
          </p:nvPr>
        </p:nvSpPr>
        <p:spPr>
          <a:xfrm>
            <a:off x="324000" y="759300"/>
            <a:ext cx="7542000" cy="68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1) The amount of </a:t>
            </a:r>
            <a:r>
              <a:rPr lang="en-GB" sz="1800">
                <a:solidFill>
                  <a:schemeClr val="accent5"/>
                </a:solidFill>
              </a:rPr>
              <a:t>CO</a:t>
            </a:r>
            <a:r>
              <a:rPr baseline="-25000" lang="en-GB" sz="1800">
                <a:solidFill>
                  <a:schemeClr val="accent5"/>
                </a:solidFill>
              </a:rPr>
              <a:t>2</a:t>
            </a:r>
            <a:r>
              <a:rPr lang="en-GB" sz="1800">
                <a:solidFill>
                  <a:schemeClr val="accent5"/>
                </a:solidFill>
              </a:rPr>
              <a:t> emissions per mile</a:t>
            </a:r>
            <a:r>
              <a:rPr lang="en-GB" sz="1800"/>
              <a:t> can be estimated by using the formula:</a:t>
            </a:r>
            <a:endParaRPr sz="2400"/>
          </a:p>
        </p:txBody>
      </p:sp>
      <p:sp>
        <p:nvSpPr>
          <p:cNvPr id="1296" name="Google Shape;1296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297" name="Google Shape;1297;p108"/>
          <p:cNvSpPr txBox="1"/>
          <p:nvPr>
            <p:ph idx="1" type="body"/>
          </p:nvPr>
        </p:nvSpPr>
        <p:spPr>
          <a:xfrm>
            <a:off x="324000" y="2359500"/>
            <a:ext cx="8496000" cy="19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person lives 6 miles from their place of work and travels by car.</a:t>
            </a:r>
            <a:br>
              <a:rPr lang="en-GB" sz="1800"/>
            </a:br>
            <a:r>
              <a:rPr lang="en-GB" sz="1800"/>
              <a:t>The average CO</a:t>
            </a:r>
            <a:r>
              <a:rPr baseline="-25000" lang="en-GB" sz="1800"/>
              <a:t>2 </a:t>
            </a:r>
            <a:r>
              <a:rPr lang="en-GB" sz="1800"/>
              <a:t>emissions for a petrol car is 9 kg per gallon.</a:t>
            </a:r>
            <a:br>
              <a:rPr lang="en-GB" sz="1800"/>
            </a:br>
            <a:r>
              <a:rPr lang="en-GB" sz="1800"/>
              <a:t>On average, their car travels 45 miles per gallon.</a:t>
            </a:r>
            <a:br>
              <a:rPr lang="en-GB" sz="1800"/>
            </a:br>
            <a:r>
              <a:rPr lang="en-GB" sz="1800"/>
              <a:t>They work 223 days per year.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Calculate the amount of CO</a:t>
            </a:r>
            <a:r>
              <a:rPr baseline="-25000" lang="en-GB" sz="1800"/>
              <a:t>2 </a:t>
            </a:r>
            <a:r>
              <a:rPr lang="en-GB" sz="1800"/>
              <a:t>emissions produced per year from </a:t>
            </a:r>
            <a:r>
              <a:rPr b="1" lang="en-GB" sz="1800"/>
              <a:t>commuting</a:t>
            </a:r>
            <a:r>
              <a:rPr lang="en-GB" sz="1800"/>
              <a:t> by car. Give your answer in kilograms and accurate to 3 significant figures.</a:t>
            </a:r>
            <a:endParaRPr sz="1800"/>
          </a:p>
        </p:txBody>
      </p:sp>
      <p:sp>
        <p:nvSpPr>
          <p:cNvPr id="1298" name="Google Shape;1298;p108"/>
          <p:cNvSpPr txBox="1"/>
          <p:nvPr>
            <p:ph idx="4294967295" type="body"/>
          </p:nvPr>
        </p:nvSpPr>
        <p:spPr>
          <a:xfrm>
            <a:off x="857400" y="1597500"/>
            <a:ext cx="3184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emissions per mile (grams) = </a:t>
            </a:r>
            <a:endParaRPr sz="1600"/>
          </a:p>
        </p:txBody>
      </p:sp>
      <p:sp>
        <p:nvSpPr>
          <p:cNvPr id="1299" name="Google Shape;1299;p108"/>
          <p:cNvSpPr txBox="1"/>
          <p:nvPr>
            <p:ph idx="4294967295" type="body"/>
          </p:nvPr>
        </p:nvSpPr>
        <p:spPr>
          <a:xfrm>
            <a:off x="4088272" y="1437350"/>
            <a:ext cx="3184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CO</a:t>
            </a:r>
            <a:r>
              <a:rPr baseline="-25000" lang="en-GB" sz="1600"/>
              <a:t>2</a:t>
            </a:r>
            <a:r>
              <a:rPr lang="en-GB" sz="1600"/>
              <a:t> per gallon of fuel (grams)</a:t>
            </a:r>
            <a:endParaRPr sz="1600"/>
          </a:p>
        </p:txBody>
      </p:sp>
      <p:sp>
        <p:nvSpPr>
          <p:cNvPr id="1300" name="Google Shape;1300;p108"/>
          <p:cNvSpPr txBox="1"/>
          <p:nvPr>
            <p:ph idx="4294967295" type="body"/>
          </p:nvPr>
        </p:nvSpPr>
        <p:spPr>
          <a:xfrm>
            <a:off x="3867884" y="1782525"/>
            <a:ext cx="4453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fuel efficiency of the vehicle (mpg)</a:t>
            </a:r>
            <a:endParaRPr sz="1600"/>
          </a:p>
        </p:txBody>
      </p:sp>
      <p:cxnSp>
        <p:nvCxnSpPr>
          <p:cNvPr id="1301" name="Google Shape;1301;p108"/>
          <p:cNvCxnSpPr/>
          <p:nvPr/>
        </p:nvCxnSpPr>
        <p:spPr>
          <a:xfrm>
            <a:off x="3860203" y="1769400"/>
            <a:ext cx="346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5" name="Shape 1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6" name="Google Shape;1306;p109"/>
          <p:cNvSpPr txBox="1"/>
          <p:nvPr>
            <p:ph idx="1" type="body"/>
          </p:nvPr>
        </p:nvSpPr>
        <p:spPr>
          <a:xfrm>
            <a:off x="324000" y="759300"/>
            <a:ext cx="8237700" cy="12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 person lives 6 miles from their place of work and travels by car.</a:t>
            </a:r>
            <a:br>
              <a:rPr lang="en-GB" sz="1800"/>
            </a:br>
            <a:r>
              <a:rPr lang="en-GB" sz="1800"/>
              <a:t>The average CO</a:t>
            </a:r>
            <a:r>
              <a:rPr baseline="-25000" lang="en-GB" sz="1800"/>
              <a:t>2 </a:t>
            </a:r>
            <a:r>
              <a:rPr lang="en-GB" sz="1800"/>
              <a:t>emissions for a petrol car is 9 kg per gallon.</a:t>
            </a:r>
            <a:br>
              <a:rPr lang="en-GB" sz="1800"/>
            </a:br>
            <a:r>
              <a:rPr lang="en-GB" sz="1800"/>
              <a:t>On average, their car travels 45 miles per gallon.</a:t>
            </a:r>
            <a:br>
              <a:rPr lang="en-GB" sz="1800"/>
            </a:br>
            <a:r>
              <a:rPr lang="en-GB" sz="1800"/>
              <a:t>They work 223 days per year.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307" name="Google Shape;1307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308" name="Google Shape;1308;p109"/>
          <p:cNvSpPr txBox="1"/>
          <p:nvPr>
            <p:ph idx="1" type="body"/>
          </p:nvPr>
        </p:nvSpPr>
        <p:spPr>
          <a:xfrm>
            <a:off x="324000" y="2207100"/>
            <a:ext cx="2563200" cy="22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Method 1: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mile: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journey: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day: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year:</a:t>
            </a:r>
            <a:endParaRPr sz="1600"/>
          </a:p>
        </p:txBody>
      </p:sp>
      <p:sp>
        <p:nvSpPr>
          <p:cNvPr id="1309" name="Google Shape;1309;p109"/>
          <p:cNvSpPr txBox="1"/>
          <p:nvPr>
            <p:ph idx="1" type="body"/>
          </p:nvPr>
        </p:nvSpPr>
        <p:spPr>
          <a:xfrm>
            <a:off x="2567176" y="3962625"/>
            <a:ext cx="55974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2.4 × 223 = 535.2 kg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year</a:t>
            </a:r>
            <a:br>
              <a:rPr lang="en-GB" sz="1600"/>
            </a:br>
            <a:endParaRPr sz="1600"/>
          </a:p>
        </p:txBody>
      </p:sp>
      <p:sp>
        <p:nvSpPr>
          <p:cNvPr id="1310" name="Google Shape;1310;p109"/>
          <p:cNvSpPr txBox="1"/>
          <p:nvPr>
            <p:ph idx="1" type="body"/>
          </p:nvPr>
        </p:nvSpPr>
        <p:spPr>
          <a:xfrm>
            <a:off x="2873749" y="3515900"/>
            <a:ext cx="44490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1.2 × 2 = 2.4 kg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day</a:t>
            </a:r>
            <a:endParaRPr sz="1600"/>
          </a:p>
        </p:txBody>
      </p:sp>
      <p:sp>
        <p:nvSpPr>
          <p:cNvPr id="1311" name="Google Shape;1311;p109"/>
          <p:cNvSpPr txBox="1"/>
          <p:nvPr>
            <p:ph idx="1" type="body"/>
          </p:nvPr>
        </p:nvSpPr>
        <p:spPr>
          <a:xfrm>
            <a:off x="2777750" y="3090050"/>
            <a:ext cx="55008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200 × 6 = 1200 grams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journey (1.2 kg)</a:t>
            </a:r>
            <a:endParaRPr sz="1600"/>
          </a:p>
        </p:txBody>
      </p:sp>
      <p:sp>
        <p:nvSpPr>
          <p:cNvPr id="1312" name="Google Shape;1312;p109"/>
          <p:cNvSpPr txBox="1"/>
          <p:nvPr>
            <p:ph idx="1" type="body"/>
          </p:nvPr>
        </p:nvSpPr>
        <p:spPr>
          <a:xfrm>
            <a:off x="2545026" y="2647050"/>
            <a:ext cx="48192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9000 ÷ 45 = 200 grams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mile</a:t>
            </a:r>
            <a:endParaRPr sz="1600"/>
          </a:p>
        </p:txBody>
      </p:sp>
      <p:sp>
        <p:nvSpPr>
          <p:cNvPr id="1313" name="Google Shape;1313;p109"/>
          <p:cNvSpPr txBox="1"/>
          <p:nvPr>
            <p:ph idx="1" type="body"/>
          </p:nvPr>
        </p:nvSpPr>
        <p:spPr>
          <a:xfrm>
            <a:off x="3663508" y="4419833"/>
            <a:ext cx="40563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 535 kg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year (to 3 s.f.)</a:t>
            </a:r>
            <a:br>
              <a:rPr lang="en-GB" sz="1600"/>
            </a:b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110"/>
          <p:cNvSpPr txBox="1"/>
          <p:nvPr>
            <p:ph idx="1" type="body"/>
          </p:nvPr>
        </p:nvSpPr>
        <p:spPr>
          <a:xfrm>
            <a:off x="324000" y="759300"/>
            <a:ext cx="8237700" cy="123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person lives 6 miles from their place of work and travels by car.</a:t>
            </a:r>
            <a:br>
              <a:rPr lang="en-GB" sz="1800"/>
            </a:br>
            <a:r>
              <a:rPr lang="en-GB" sz="1800"/>
              <a:t>The average CO</a:t>
            </a:r>
            <a:r>
              <a:rPr baseline="-25000" lang="en-GB" sz="1800"/>
              <a:t>2 </a:t>
            </a:r>
            <a:r>
              <a:rPr lang="en-GB" sz="1800"/>
              <a:t>emissions for a petrol car is 9 kg per gallon.</a:t>
            </a:r>
            <a:br>
              <a:rPr lang="en-GB" sz="1800"/>
            </a:br>
            <a:r>
              <a:rPr lang="en-GB" sz="1800"/>
              <a:t>On average, their car travels 45 miles per gallon.</a:t>
            </a:r>
            <a:br>
              <a:rPr lang="en-GB" sz="1800"/>
            </a:br>
            <a:r>
              <a:rPr lang="en-GB" sz="1800"/>
              <a:t>They work 223 days per year.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319" name="Google Shape;1319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320" name="Google Shape;1320;p110"/>
          <p:cNvSpPr txBox="1"/>
          <p:nvPr>
            <p:ph idx="1" type="body"/>
          </p:nvPr>
        </p:nvSpPr>
        <p:spPr>
          <a:xfrm>
            <a:off x="324000" y="2207100"/>
            <a:ext cx="2563200" cy="2212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Method 2: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Miles per day: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Miles per year: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mile: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year:</a:t>
            </a:r>
            <a:endParaRPr sz="1600"/>
          </a:p>
        </p:txBody>
      </p:sp>
      <p:sp>
        <p:nvSpPr>
          <p:cNvPr id="1321" name="Google Shape;1321;p110"/>
          <p:cNvSpPr txBox="1"/>
          <p:nvPr>
            <p:ph idx="1" type="body"/>
          </p:nvPr>
        </p:nvSpPr>
        <p:spPr>
          <a:xfrm>
            <a:off x="2490975" y="3962625"/>
            <a:ext cx="47100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2676 × 200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535 200 grams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year</a:t>
            </a:r>
            <a:br>
              <a:rPr lang="en-GB" sz="1600"/>
            </a:br>
            <a:endParaRPr sz="1600"/>
          </a:p>
        </p:txBody>
      </p:sp>
      <p:sp>
        <p:nvSpPr>
          <p:cNvPr id="1322" name="Google Shape;1322;p110"/>
          <p:cNvSpPr txBox="1"/>
          <p:nvPr>
            <p:ph idx="1" type="body"/>
          </p:nvPr>
        </p:nvSpPr>
        <p:spPr>
          <a:xfrm>
            <a:off x="2613252" y="3515900"/>
            <a:ext cx="44490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9000 ÷ 45 = 200 grams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mile</a:t>
            </a:r>
            <a:endParaRPr sz="1600"/>
          </a:p>
        </p:txBody>
      </p:sp>
      <p:sp>
        <p:nvSpPr>
          <p:cNvPr id="1323" name="Google Shape;1323;p110"/>
          <p:cNvSpPr txBox="1"/>
          <p:nvPr>
            <p:ph idx="1" type="body"/>
          </p:nvPr>
        </p:nvSpPr>
        <p:spPr>
          <a:xfrm>
            <a:off x="2723701" y="3090050"/>
            <a:ext cx="4681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 × 223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2676 miles per year</a:t>
            </a:r>
            <a:endParaRPr sz="1600"/>
          </a:p>
        </p:txBody>
      </p:sp>
      <p:sp>
        <p:nvSpPr>
          <p:cNvPr id="1324" name="Google Shape;1324;p110"/>
          <p:cNvSpPr txBox="1"/>
          <p:nvPr>
            <p:ph idx="1" type="body"/>
          </p:nvPr>
        </p:nvSpPr>
        <p:spPr>
          <a:xfrm>
            <a:off x="3078423" y="2647050"/>
            <a:ext cx="39066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 × 2 = 12 miles per day</a:t>
            </a:r>
            <a:endParaRPr sz="1600"/>
          </a:p>
        </p:txBody>
      </p:sp>
      <p:sp>
        <p:nvSpPr>
          <p:cNvPr id="1325" name="Google Shape;1325;p110"/>
          <p:cNvSpPr txBox="1"/>
          <p:nvPr>
            <p:ph idx="1" type="body"/>
          </p:nvPr>
        </p:nvSpPr>
        <p:spPr>
          <a:xfrm>
            <a:off x="3739708" y="4419833"/>
            <a:ext cx="40563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= 535 kg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year (to 3 s.f.)</a:t>
            </a:r>
            <a:br>
              <a:rPr lang="en-GB" sz="1600"/>
            </a:b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111"/>
          <p:cNvSpPr txBox="1"/>
          <p:nvPr>
            <p:ph idx="1" type="body"/>
          </p:nvPr>
        </p:nvSpPr>
        <p:spPr>
          <a:xfrm>
            <a:off x="324000" y="759300"/>
            <a:ext cx="7764300" cy="6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2) The amount of </a:t>
            </a:r>
            <a:r>
              <a:rPr lang="en-GB" sz="1800">
                <a:solidFill>
                  <a:schemeClr val="accent5"/>
                </a:solidFill>
              </a:rPr>
              <a:t>CO</a:t>
            </a:r>
            <a:r>
              <a:rPr baseline="-25000" lang="en-GB" sz="1800">
                <a:solidFill>
                  <a:schemeClr val="accent5"/>
                </a:solidFill>
              </a:rPr>
              <a:t>2</a:t>
            </a:r>
            <a:r>
              <a:rPr lang="en-GB" sz="1800">
                <a:solidFill>
                  <a:schemeClr val="accent5"/>
                </a:solidFill>
              </a:rPr>
              <a:t> emissions per mile</a:t>
            </a:r>
            <a:r>
              <a:rPr lang="en-GB" sz="1800"/>
              <a:t> can be estimated by using the formula:</a:t>
            </a:r>
            <a:endParaRPr sz="2400"/>
          </a:p>
        </p:txBody>
      </p:sp>
      <p:sp>
        <p:nvSpPr>
          <p:cNvPr id="1331" name="Google Shape;1331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332" name="Google Shape;1332;p111"/>
          <p:cNvSpPr txBox="1"/>
          <p:nvPr>
            <p:ph idx="1" type="body"/>
          </p:nvPr>
        </p:nvSpPr>
        <p:spPr>
          <a:xfrm>
            <a:off x="324000" y="2359500"/>
            <a:ext cx="8496000" cy="235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40 people live 6 miles from their place of work and travel on the same bus.</a:t>
            </a:r>
            <a:br>
              <a:rPr lang="en-GB" sz="1800"/>
            </a:br>
            <a:r>
              <a:rPr lang="en-GB" sz="1800"/>
              <a:t>The average CO</a:t>
            </a:r>
            <a:r>
              <a:rPr baseline="-25000" lang="en-GB" sz="1800"/>
              <a:t>2 </a:t>
            </a:r>
            <a:r>
              <a:rPr lang="en-GB" sz="1800"/>
              <a:t>emissions for a diesel bus is 10 kg per gallon.</a:t>
            </a:r>
            <a:br>
              <a:rPr lang="en-GB" sz="1800"/>
            </a:br>
            <a:r>
              <a:rPr lang="en-GB" sz="1800"/>
              <a:t>On average, the bus travels 8 miles per gallon.</a:t>
            </a:r>
            <a:br>
              <a:rPr lang="en-GB" sz="1800"/>
            </a:br>
            <a:r>
              <a:rPr lang="en-GB" sz="1800"/>
              <a:t>They work 223 days per year.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Calculate the amount of CO</a:t>
            </a:r>
            <a:r>
              <a:rPr baseline="-25000" lang="en-GB" sz="1800"/>
              <a:t>2 </a:t>
            </a:r>
            <a:r>
              <a:rPr lang="en-GB" sz="1800"/>
              <a:t>emissions produced per passenger per year from </a:t>
            </a:r>
            <a:r>
              <a:rPr b="1" lang="en-GB" sz="1800"/>
              <a:t>commuting</a:t>
            </a:r>
            <a:r>
              <a:rPr lang="en-GB" sz="1800"/>
              <a:t> by bus. Give your answer in kilograms and accurate to 3 significant figures.</a:t>
            </a:r>
            <a:br>
              <a:rPr lang="en-GB" sz="1800"/>
            </a:br>
            <a:endParaRPr sz="1800"/>
          </a:p>
        </p:txBody>
      </p:sp>
      <p:sp>
        <p:nvSpPr>
          <p:cNvPr id="1333" name="Google Shape;1333;p111"/>
          <p:cNvSpPr txBox="1"/>
          <p:nvPr>
            <p:ph idx="4294967295" type="body"/>
          </p:nvPr>
        </p:nvSpPr>
        <p:spPr>
          <a:xfrm>
            <a:off x="857400" y="1673700"/>
            <a:ext cx="3184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emissions per mile (grams) = </a:t>
            </a:r>
            <a:endParaRPr sz="1600"/>
          </a:p>
        </p:txBody>
      </p:sp>
      <p:sp>
        <p:nvSpPr>
          <p:cNvPr id="1334" name="Google Shape;1334;p111"/>
          <p:cNvSpPr txBox="1"/>
          <p:nvPr>
            <p:ph idx="4294967295" type="body"/>
          </p:nvPr>
        </p:nvSpPr>
        <p:spPr>
          <a:xfrm>
            <a:off x="4088272" y="1513550"/>
            <a:ext cx="31848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CO</a:t>
            </a:r>
            <a:r>
              <a:rPr baseline="-25000" lang="en-GB" sz="1600"/>
              <a:t>2</a:t>
            </a:r>
            <a:r>
              <a:rPr lang="en-GB" sz="1600"/>
              <a:t> per gallon of fuel (grams)</a:t>
            </a:r>
            <a:endParaRPr sz="1600"/>
          </a:p>
        </p:txBody>
      </p:sp>
      <p:sp>
        <p:nvSpPr>
          <p:cNvPr id="1335" name="Google Shape;1335;p111"/>
          <p:cNvSpPr txBox="1"/>
          <p:nvPr>
            <p:ph idx="4294967295" type="body"/>
          </p:nvPr>
        </p:nvSpPr>
        <p:spPr>
          <a:xfrm>
            <a:off x="3867884" y="1858725"/>
            <a:ext cx="4453500" cy="39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fuel efficiency of the vehicle (mpg)</a:t>
            </a:r>
            <a:endParaRPr sz="1600"/>
          </a:p>
        </p:txBody>
      </p:sp>
      <p:cxnSp>
        <p:nvCxnSpPr>
          <p:cNvPr id="1336" name="Google Shape;1336;p111"/>
          <p:cNvCxnSpPr/>
          <p:nvPr/>
        </p:nvCxnSpPr>
        <p:spPr>
          <a:xfrm>
            <a:off x="3860203" y="1845600"/>
            <a:ext cx="34641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112"/>
          <p:cNvSpPr txBox="1"/>
          <p:nvPr>
            <p:ph idx="1" type="body"/>
          </p:nvPr>
        </p:nvSpPr>
        <p:spPr>
          <a:xfrm>
            <a:off x="324000" y="683100"/>
            <a:ext cx="8237700" cy="133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40 people live 6 miles from their place of work and travel on the same bus.</a:t>
            </a:r>
            <a:br>
              <a:rPr lang="en-GB" sz="1800"/>
            </a:br>
            <a:r>
              <a:rPr lang="en-GB" sz="1800"/>
              <a:t>The average CO</a:t>
            </a:r>
            <a:r>
              <a:rPr baseline="-25000" lang="en-GB" sz="1800"/>
              <a:t>2 </a:t>
            </a:r>
            <a:r>
              <a:rPr lang="en-GB" sz="1800"/>
              <a:t>emissions for a diesel bus is 10 kg per gallon.</a:t>
            </a:r>
            <a:br>
              <a:rPr lang="en-GB" sz="1800"/>
            </a:br>
            <a:r>
              <a:rPr lang="en-GB" sz="1800"/>
              <a:t>On average, the bus travels 8 miles per gallon.</a:t>
            </a:r>
            <a:br>
              <a:rPr lang="en-GB" sz="1800"/>
            </a:br>
            <a:r>
              <a:rPr lang="en-GB" sz="1800"/>
              <a:t>They work 223 days per year.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342" name="Google Shape;1342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343" name="Google Shape;1343;p112"/>
          <p:cNvSpPr txBox="1"/>
          <p:nvPr>
            <p:ph idx="1" type="body"/>
          </p:nvPr>
        </p:nvSpPr>
        <p:spPr>
          <a:xfrm>
            <a:off x="324000" y="2054700"/>
            <a:ext cx="3484200" cy="22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mile: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journey: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day: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Emissions per year: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Annual emissions per person: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4" name="Google Shape;1344;p112"/>
          <p:cNvSpPr txBox="1"/>
          <p:nvPr>
            <p:ph idx="1" type="body"/>
          </p:nvPr>
        </p:nvSpPr>
        <p:spPr>
          <a:xfrm>
            <a:off x="3574906" y="3375176"/>
            <a:ext cx="55974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× 223 = 3345 kg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year </a:t>
            </a:r>
            <a:endParaRPr sz="1600"/>
          </a:p>
        </p:txBody>
      </p:sp>
      <p:sp>
        <p:nvSpPr>
          <p:cNvPr id="1345" name="Google Shape;1345;p112"/>
          <p:cNvSpPr txBox="1"/>
          <p:nvPr>
            <p:ph idx="1" type="body"/>
          </p:nvPr>
        </p:nvSpPr>
        <p:spPr>
          <a:xfrm>
            <a:off x="3711949" y="2928451"/>
            <a:ext cx="44490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7.5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× 2 = 15 kg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day</a:t>
            </a:r>
            <a:endParaRPr sz="1600"/>
          </a:p>
        </p:txBody>
      </p:sp>
      <p:sp>
        <p:nvSpPr>
          <p:cNvPr id="1346" name="Google Shape;1346;p112"/>
          <p:cNvSpPr txBox="1"/>
          <p:nvPr>
            <p:ph idx="1" type="body"/>
          </p:nvPr>
        </p:nvSpPr>
        <p:spPr>
          <a:xfrm>
            <a:off x="3615950" y="2502601"/>
            <a:ext cx="46815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1.25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× 6 = 7.5 kg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journey</a:t>
            </a:r>
            <a:endParaRPr sz="1600"/>
          </a:p>
        </p:txBody>
      </p:sp>
      <p:sp>
        <p:nvSpPr>
          <p:cNvPr id="1347" name="Google Shape;1347;p112"/>
          <p:cNvSpPr txBox="1"/>
          <p:nvPr>
            <p:ph idx="1" type="body"/>
          </p:nvPr>
        </p:nvSpPr>
        <p:spPr>
          <a:xfrm>
            <a:off x="3383226" y="2059600"/>
            <a:ext cx="51786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10 000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÷ 8 = 1250 grams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mile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(1.25 kg)</a:t>
            </a:r>
            <a:endParaRPr sz="1600"/>
          </a:p>
        </p:txBody>
      </p:sp>
      <p:sp>
        <p:nvSpPr>
          <p:cNvPr id="1348" name="Google Shape;1348;p112"/>
          <p:cNvSpPr txBox="1"/>
          <p:nvPr>
            <p:ph idx="1" type="body"/>
          </p:nvPr>
        </p:nvSpPr>
        <p:spPr>
          <a:xfrm>
            <a:off x="3390608" y="3817609"/>
            <a:ext cx="55974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3345 ÷ 40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= 83.6 kg of CO</a:t>
            </a:r>
            <a:r>
              <a:rPr baseline="-25000" lang="en-GB" sz="1700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per person (to 3 s.f.)</a:t>
            </a:r>
            <a:endParaRPr sz="1600"/>
          </a:p>
        </p:txBody>
      </p:sp>
      <p:sp>
        <p:nvSpPr>
          <p:cNvPr id="1349" name="Google Shape;1349;p112"/>
          <p:cNvSpPr txBox="1"/>
          <p:nvPr>
            <p:ph idx="1" type="body"/>
          </p:nvPr>
        </p:nvSpPr>
        <p:spPr>
          <a:xfrm>
            <a:off x="323997" y="4542674"/>
            <a:ext cx="72720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Alternative methods may be also used to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derive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the same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answer.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3" name="Shape 1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4" name="Google Shape;1354;p113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journey times for different transport</a:t>
            </a:r>
            <a:endParaRPr/>
          </a:p>
        </p:txBody>
      </p:sp>
      <p:sp>
        <p:nvSpPr>
          <p:cNvPr id="1355" name="Google Shape;1355;p113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carbon emissions for journeys</a:t>
            </a:r>
            <a:endParaRPr/>
          </a:p>
        </p:txBody>
      </p:sp>
      <p:sp>
        <p:nvSpPr>
          <p:cNvPr id="1356" name="Google Shape;1356;p113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</a:t>
            </a:r>
            <a:r>
              <a:rPr lang="en-GB"/>
              <a:t> cost of a journey</a:t>
            </a:r>
            <a:endParaRPr/>
          </a:p>
        </p:txBody>
      </p:sp>
      <p:sp>
        <p:nvSpPr>
          <p:cNvPr id="1357" name="Google Shape;1357;p113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  <p:pic>
        <p:nvPicPr>
          <p:cNvPr id="1358" name="Google Shape;1358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005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2" name="Shape 1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3" name="Google Shape;1363;p114"/>
          <p:cNvSpPr txBox="1"/>
          <p:nvPr>
            <p:ph idx="1" type="body"/>
          </p:nvPr>
        </p:nvSpPr>
        <p:spPr>
          <a:xfrm>
            <a:off x="324000" y="759300"/>
            <a:ext cx="8496000" cy="1110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The fuel economy of a vehicle is often expressed in terms of </a:t>
            </a:r>
            <a:br>
              <a:rPr lang="en-GB" sz="2000"/>
            </a:br>
            <a:r>
              <a:rPr lang="en-GB" sz="2000">
                <a:solidFill>
                  <a:schemeClr val="accent2"/>
                </a:solidFill>
              </a:rPr>
              <a:t>miles per gallon (mpg)</a:t>
            </a:r>
            <a:r>
              <a:rPr lang="en-GB" sz="2000"/>
              <a:t>. This is the average number of miles that the vehicle can travel using 1 gallon of fuel.</a:t>
            </a:r>
            <a:endParaRPr sz="2000"/>
          </a:p>
        </p:txBody>
      </p:sp>
      <p:sp>
        <p:nvSpPr>
          <p:cNvPr id="1364" name="Google Shape;1364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365" name="Google Shape;1365;p114"/>
          <p:cNvSpPr txBox="1"/>
          <p:nvPr>
            <p:ph idx="1" type="body"/>
          </p:nvPr>
        </p:nvSpPr>
        <p:spPr>
          <a:xfrm>
            <a:off x="3201534" y="3238001"/>
            <a:ext cx="27552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1 gallon ≈ 4.546 litres</a:t>
            </a:r>
            <a:endParaRPr sz="2000"/>
          </a:p>
        </p:txBody>
      </p:sp>
      <p:sp>
        <p:nvSpPr>
          <p:cNvPr id="1366" name="Google Shape;1366;p114"/>
          <p:cNvSpPr txBox="1"/>
          <p:nvPr>
            <p:ph idx="1" type="body"/>
          </p:nvPr>
        </p:nvSpPr>
        <p:spPr>
          <a:xfrm>
            <a:off x="3057345" y="3855812"/>
            <a:ext cx="30459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gallons                     litres </a:t>
            </a:r>
            <a:endParaRPr sz="2000"/>
          </a:p>
        </p:txBody>
      </p:sp>
      <p:sp>
        <p:nvSpPr>
          <p:cNvPr id="1367" name="Google Shape;1367;p114"/>
          <p:cNvSpPr txBox="1"/>
          <p:nvPr>
            <p:ph idx="1" type="body"/>
          </p:nvPr>
        </p:nvSpPr>
        <p:spPr>
          <a:xfrm>
            <a:off x="4159289" y="3730345"/>
            <a:ext cx="10668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2"/>
                </a:solidFill>
              </a:rPr>
              <a:t>× 4.546</a:t>
            </a:r>
            <a:r>
              <a:rPr lang="en-GB" sz="2000">
                <a:solidFill>
                  <a:schemeClr val="accent2"/>
                </a:solidFill>
              </a:rPr>
              <a:t> </a:t>
            </a:r>
            <a:endParaRPr sz="2000">
              <a:solidFill>
                <a:schemeClr val="accent2"/>
              </a:solidFill>
            </a:endParaRPr>
          </a:p>
        </p:txBody>
      </p:sp>
      <p:cxnSp>
        <p:nvCxnSpPr>
          <p:cNvPr id="1368" name="Google Shape;1368;p114"/>
          <p:cNvCxnSpPr/>
          <p:nvPr/>
        </p:nvCxnSpPr>
        <p:spPr>
          <a:xfrm>
            <a:off x="3994247" y="4038612"/>
            <a:ext cx="13713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9" name="Google Shape;1369;p114"/>
          <p:cNvSpPr txBox="1"/>
          <p:nvPr>
            <p:ph idx="1" type="body"/>
          </p:nvPr>
        </p:nvSpPr>
        <p:spPr>
          <a:xfrm>
            <a:off x="3057345" y="4500556"/>
            <a:ext cx="30459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gallons                     litres </a:t>
            </a:r>
            <a:endParaRPr sz="2000"/>
          </a:p>
        </p:txBody>
      </p:sp>
      <p:sp>
        <p:nvSpPr>
          <p:cNvPr id="1370" name="Google Shape;1370;p114"/>
          <p:cNvSpPr txBox="1"/>
          <p:nvPr>
            <p:ph idx="1" type="body"/>
          </p:nvPr>
        </p:nvSpPr>
        <p:spPr>
          <a:xfrm>
            <a:off x="4235489" y="4375089"/>
            <a:ext cx="1066800" cy="38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2"/>
                </a:solidFill>
              </a:rPr>
              <a:t>÷</a:t>
            </a:r>
            <a:r>
              <a:rPr lang="en-GB" sz="2000">
                <a:solidFill>
                  <a:schemeClr val="accent2"/>
                </a:solidFill>
              </a:rPr>
              <a:t> 4.546 </a:t>
            </a:r>
            <a:endParaRPr sz="2000">
              <a:solidFill>
                <a:schemeClr val="accent2"/>
              </a:solidFill>
            </a:endParaRPr>
          </a:p>
        </p:txBody>
      </p:sp>
      <p:cxnSp>
        <p:nvCxnSpPr>
          <p:cNvPr id="1371" name="Google Shape;1371;p114"/>
          <p:cNvCxnSpPr/>
          <p:nvPr/>
        </p:nvCxnSpPr>
        <p:spPr>
          <a:xfrm>
            <a:off x="3994247" y="4683356"/>
            <a:ext cx="13713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1372" name="Google Shape;1372;p114"/>
          <p:cNvSpPr txBox="1"/>
          <p:nvPr>
            <p:ph idx="1" type="body"/>
          </p:nvPr>
        </p:nvSpPr>
        <p:spPr>
          <a:xfrm>
            <a:off x="324000" y="1939221"/>
            <a:ext cx="8496000" cy="411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 the UK, petrol and diesel is sold in </a:t>
            </a:r>
            <a:r>
              <a:rPr lang="en-GB" sz="2000">
                <a:solidFill>
                  <a:schemeClr val="accent2"/>
                </a:solidFill>
              </a:rPr>
              <a:t>litres</a:t>
            </a:r>
            <a:r>
              <a:rPr lang="en-GB" sz="2000"/>
              <a:t>.</a:t>
            </a:r>
            <a:endParaRPr sz="2000"/>
          </a:p>
        </p:txBody>
      </p:sp>
      <p:sp>
        <p:nvSpPr>
          <p:cNvPr id="1373" name="Google Shape;1373;p114"/>
          <p:cNvSpPr txBox="1"/>
          <p:nvPr>
            <p:ph idx="1" type="body"/>
          </p:nvPr>
        </p:nvSpPr>
        <p:spPr>
          <a:xfrm>
            <a:off x="324000" y="2421348"/>
            <a:ext cx="8496000" cy="7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We can use the fact that </a:t>
            </a:r>
            <a:r>
              <a:rPr lang="en-GB" sz="2000">
                <a:solidFill>
                  <a:schemeClr val="accent2"/>
                </a:solidFill>
              </a:rPr>
              <a:t>1 gallon is approximately 4.546 litres</a:t>
            </a:r>
            <a:r>
              <a:rPr lang="en-GB" sz="2000"/>
              <a:t> to convert between units.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15"/>
          <p:cNvSpPr txBox="1"/>
          <p:nvPr>
            <p:ph idx="1" type="body"/>
          </p:nvPr>
        </p:nvSpPr>
        <p:spPr>
          <a:xfrm>
            <a:off x="324000" y="759300"/>
            <a:ext cx="8496000" cy="20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drives </a:t>
            </a:r>
            <a:r>
              <a:rPr lang="en-GB" sz="2000">
                <a:solidFill>
                  <a:schemeClr val="accent2"/>
                </a:solidFill>
              </a:rPr>
              <a:t>9 miles</a:t>
            </a:r>
            <a:r>
              <a:rPr lang="en-GB" sz="2000"/>
              <a:t> to work.</a:t>
            </a:r>
            <a:br>
              <a:rPr lang="en-GB" sz="2000"/>
            </a:br>
            <a:r>
              <a:rPr lang="en-GB" sz="2000"/>
              <a:t>The average fuel efficiency of their car is </a:t>
            </a:r>
            <a:r>
              <a:rPr lang="en-GB" sz="2000">
                <a:solidFill>
                  <a:schemeClr val="accent2"/>
                </a:solidFill>
              </a:rPr>
              <a:t>50 mpg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Petrol costs </a:t>
            </a:r>
            <a:r>
              <a:rPr lang="en-GB" sz="2000">
                <a:solidFill>
                  <a:schemeClr val="accent2"/>
                </a:solidFill>
              </a:rPr>
              <a:t>142.9 p</a:t>
            </a:r>
            <a:r>
              <a:rPr lang="en-GB" sz="2000"/>
              <a:t> </a:t>
            </a:r>
            <a:r>
              <a:rPr lang="en-GB" sz="2000">
                <a:solidFill>
                  <a:schemeClr val="accent2"/>
                </a:solidFill>
              </a:rPr>
              <a:t>per litre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1 gallon ≈ 4.546 litres.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cost of the petrol for journey?</a:t>
            </a:r>
            <a:endParaRPr sz="2000"/>
          </a:p>
        </p:txBody>
      </p:sp>
      <p:sp>
        <p:nvSpPr>
          <p:cNvPr id="1379" name="Google Shape;1379;p1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380" name="Google Shape;1380;p115"/>
          <p:cNvSpPr txBox="1"/>
          <p:nvPr>
            <p:ph idx="1" type="body"/>
          </p:nvPr>
        </p:nvSpPr>
        <p:spPr>
          <a:xfrm>
            <a:off x="1684075" y="2861434"/>
            <a:ext cx="5535900" cy="1812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Plan: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 Calculate the amount of petrol used in gallons.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 Convert the amount of petrol into litres.</a:t>
            </a:r>
            <a:endParaRPr sz="20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3. Calculate the cost of the petrol.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16"/>
          <p:cNvSpPr txBox="1"/>
          <p:nvPr>
            <p:ph idx="1" type="body"/>
          </p:nvPr>
        </p:nvSpPr>
        <p:spPr>
          <a:xfrm>
            <a:off x="324000" y="759300"/>
            <a:ext cx="8496000" cy="20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drives </a:t>
            </a:r>
            <a:r>
              <a:rPr lang="en-GB" sz="2000">
                <a:solidFill>
                  <a:schemeClr val="accent2"/>
                </a:solidFill>
              </a:rPr>
              <a:t>9 miles</a:t>
            </a:r>
            <a:r>
              <a:rPr lang="en-GB" sz="2000"/>
              <a:t> to work.</a:t>
            </a:r>
            <a:br>
              <a:rPr lang="en-GB" sz="2000"/>
            </a:br>
            <a:r>
              <a:rPr lang="en-GB" sz="2000"/>
              <a:t>The average fuel efficiency of their car is </a:t>
            </a:r>
            <a:r>
              <a:rPr lang="en-GB" sz="2000">
                <a:solidFill>
                  <a:schemeClr val="accent2"/>
                </a:solidFill>
              </a:rPr>
              <a:t>50 mpg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Petrol costs </a:t>
            </a:r>
            <a:r>
              <a:rPr lang="en-GB" sz="2000">
                <a:solidFill>
                  <a:schemeClr val="accent2"/>
                </a:solidFill>
              </a:rPr>
              <a:t>142.9 p</a:t>
            </a:r>
            <a:r>
              <a:rPr lang="en-GB" sz="2000"/>
              <a:t> </a:t>
            </a:r>
            <a:r>
              <a:rPr lang="en-GB" sz="2000">
                <a:solidFill>
                  <a:schemeClr val="accent2"/>
                </a:solidFill>
              </a:rPr>
              <a:t>per litre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1 gallon ≈ 4.546 litres.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cost of the petrol for journey?</a:t>
            </a:r>
            <a:endParaRPr sz="2000"/>
          </a:p>
        </p:txBody>
      </p:sp>
      <p:sp>
        <p:nvSpPr>
          <p:cNvPr id="1386" name="Google Shape;1386;p11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387" name="Google Shape;1387;p116"/>
          <p:cNvSpPr txBox="1"/>
          <p:nvPr>
            <p:ph idx="1" type="body"/>
          </p:nvPr>
        </p:nvSpPr>
        <p:spPr>
          <a:xfrm>
            <a:off x="1684075" y="2785232"/>
            <a:ext cx="55359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 Calculate the amount of petrol used in gallons.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388" name="Google Shape;1388;p116"/>
          <p:cNvCxnSpPr/>
          <p:nvPr/>
        </p:nvCxnSpPr>
        <p:spPr>
          <a:xfrm>
            <a:off x="5468672" y="1428747"/>
            <a:ext cx="862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89" name="Google Shape;1389;p116"/>
          <p:cNvCxnSpPr/>
          <p:nvPr/>
        </p:nvCxnSpPr>
        <p:spPr>
          <a:xfrm>
            <a:off x="2303747" y="1055631"/>
            <a:ext cx="8622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graphicFrame>
        <p:nvGraphicFramePr>
          <p:cNvPr id="1390" name="Google Shape;1390;p116"/>
          <p:cNvGraphicFramePr/>
          <p:nvPr/>
        </p:nvGraphicFramePr>
        <p:xfrm>
          <a:off x="1941000" y="32766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{6320B603-CC66-42BC-AD94-E8151EE1B24A}</a:tableStyleId>
              </a:tblPr>
              <a:tblGrid>
                <a:gridCol w="1192750"/>
                <a:gridCol w="1192750"/>
                <a:gridCol w="1192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miles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lt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gallons</a:t>
                      </a:r>
                      <a:endParaRPr sz="2000">
                        <a:solidFill>
                          <a:schemeClr val="lt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1" name="Google Shape;1391;p116"/>
          <p:cNvSpPr/>
          <p:nvPr/>
        </p:nvSpPr>
        <p:spPr>
          <a:xfrm rot="5400000">
            <a:off x="3298529" y="3659032"/>
            <a:ext cx="517200" cy="212700"/>
          </a:xfrm>
          <a:prstGeom prst="arc">
            <a:avLst>
              <a:gd fmla="val 10818984" name="adj1"/>
              <a:gd fmla="val 257633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6"/>
          <p:cNvSpPr txBox="1"/>
          <p:nvPr>
            <p:ph idx="1" type="body"/>
          </p:nvPr>
        </p:nvSpPr>
        <p:spPr>
          <a:xfrm>
            <a:off x="5028829" y="3537588"/>
            <a:ext cx="6102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rPr>
              <a:t>÷ 50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3" name="Google Shape;1393;p116"/>
          <p:cNvSpPr txBox="1"/>
          <p:nvPr>
            <p:ph idx="1" type="body"/>
          </p:nvPr>
        </p:nvSpPr>
        <p:spPr>
          <a:xfrm>
            <a:off x="4418206" y="3853055"/>
            <a:ext cx="6102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4" name="Google Shape;1394;p116"/>
          <p:cNvSpPr/>
          <p:nvPr/>
        </p:nvSpPr>
        <p:spPr>
          <a:xfrm rot="5400000">
            <a:off x="4632029" y="3659032"/>
            <a:ext cx="517200" cy="212700"/>
          </a:xfrm>
          <a:prstGeom prst="arc">
            <a:avLst>
              <a:gd fmla="val 10818984" name="adj1"/>
              <a:gd fmla="val 257633" name="adj2"/>
            </a:avLst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6"/>
          <p:cNvSpPr txBox="1"/>
          <p:nvPr>
            <p:ph idx="1" type="body"/>
          </p:nvPr>
        </p:nvSpPr>
        <p:spPr>
          <a:xfrm>
            <a:off x="3706215" y="3532145"/>
            <a:ext cx="6102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2"/>
                </a:solidFill>
                <a:latin typeface="Kalam"/>
                <a:ea typeface="Kalam"/>
                <a:cs typeface="Kalam"/>
                <a:sym typeface="Kalam"/>
              </a:rPr>
              <a:t>÷ 50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96" name="Google Shape;1396;p116"/>
          <p:cNvSpPr txBox="1"/>
          <p:nvPr>
            <p:ph idx="1" type="body"/>
          </p:nvPr>
        </p:nvSpPr>
        <p:spPr>
          <a:xfrm>
            <a:off x="1915808" y="4466605"/>
            <a:ext cx="48369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journey uses 0.18 gallons of petrol.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p117"/>
          <p:cNvSpPr txBox="1"/>
          <p:nvPr>
            <p:ph idx="1" type="body"/>
          </p:nvPr>
        </p:nvSpPr>
        <p:spPr>
          <a:xfrm>
            <a:off x="324000" y="759300"/>
            <a:ext cx="8496000" cy="20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drives </a:t>
            </a:r>
            <a:r>
              <a:rPr lang="en-GB" sz="2000">
                <a:solidFill>
                  <a:schemeClr val="accent2"/>
                </a:solidFill>
              </a:rPr>
              <a:t>9 miles</a:t>
            </a:r>
            <a:r>
              <a:rPr lang="en-GB" sz="2000"/>
              <a:t> to work.</a:t>
            </a:r>
            <a:br>
              <a:rPr lang="en-GB" sz="2000"/>
            </a:br>
            <a:r>
              <a:rPr lang="en-GB" sz="2000"/>
              <a:t>The average fuel efficiency of their car is </a:t>
            </a:r>
            <a:r>
              <a:rPr lang="en-GB" sz="2000">
                <a:solidFill>
                  <a:schemeClr val="accent2"/>
                </a:solidFill>
              </a:rPr>
              <a:t>50 mpg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Petrol costs </a:t>
            </a:r>
            <a:r>
              <a:rPr lang="en-GB" sz="2000">
                <a:solidFill>
                  <a:schemeClr val="accent2"/>
                </a:solidFill>
              </a:rPr>
              <a:t>142.9 p</a:t>
            </a:r>
            <a:r>
              <a:rPr lang="en-GB" sz="2000"/>
              <a:t> </a:t>
            </a:r>
            <a:r>
              <a:rPr lang="en-GB" sz="2000">
                <a:solidFill>
                  <a:schemeClr val="accent2"/>
                </a:solidFill>
              </a:rPr>
              <a:t>per litre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1 gallon ≈ 4.546 litres.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cost of the petrol for journey?</a:t>
            </a:r>
            <a:endParaRPr sz="2000"/>
          </a:p>
        </p:txBody>
      </p:sp>
      <p:sp>
        <p:nvSpPr>
          <p:cNvPr id="1402" name="Google Shape;1402;p11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403" name="Google Shape;1403;p117"/>
          <p:cNvSpPr txBox="1"/>
          <p:nvPr>
            <p:ph idx="1" type="body"/>
          </p:nvPr>
        </p:nvSpPr>
        <p:spPr>
          <a:xfrm>
            <a:off x="1684075" y="2785222"/>
            <a:ext cx="5535900" cy="37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2.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Convert the amount of petrol into litres.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4" name="Google Shape;1404;p117"/>
          <p:cNvSpPr txBox="1"/>
          <p:nvPr>
            <p:ph idx="1" type="body"/>
          </p:nvPr>
        </p:nvSpPr>
        <p:spPr>
          <a:xfrm>
            <a:off x="1986566" y="3312719"/>
            <a:ext cx="48369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journey uses 0.18 gallons of petrol.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5" name="Google Shape;1405;p117"/>
          <p:cNvSpPr txBox="1"/>
          <p:nvPr>
            <p:ph idx="1" type="body"/>
          </p:nvPr>
        </p:nvSpPr>
        <p:spPr>
          <a:xfrm>
            <a:off x="1978365" y="3880113"/>
            <a:ext cx="28350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0.18 × 4.546 = 0.81828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06" name="Google Shape;1406;p117"/>
          <p:cNvSpPr txBox="1"/>
          <p:nvPr>
            <p:ph idx="1" type="body"/>
          </p:nvPr>
        </p:nvSpPr>
        <p:spPr>
          <a:xfrm>
            <a:off x="1986566" y="4447508"/>
            <a:ext cx="48369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journey uses 0.81828 L of petrol.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118"/>
          <p:cNvSpPr txBox="1"/>
          <p:nvPr>
            <p:ph idx="1" type="body"/>
          </p:nvPr>
        </p:nvSpPr>
        <p:spPr>
          <a:xfrm>
            <a:off x="324000" y="759300"/>
            <a:ext cx="8496000" cy="20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drives </a:t>
            </a:r>
            <a:r>
              <a:rPr lang="en-GB" sz="2000">
                <a:solidFill>
                  <a:schemeClr val="accent2"/>
                </a:solidFill>
              </a:rPr>
              <a:t>9 miles</a:t>
            </a:r>
            <a:r>
              <a:rPr lang="en-GB" sz="2000"/>
              <a:t> to work.</a:t>
            </a:r>
            <a:br>
              <a:rPr lang="en-GB" sz="2000"/>
            </a:br>
            <a:r>
              <a:rPr lang="en-GB" sz="2000"/>
              <a:t>The average fuel efficiency of their car is </a:t>
            </a:r>
            <a:r>
              <a:rPr lang="en-GB" sz="2000">
                <a:solidFill>
                  <a:schemeClr val="accent2"/>
                </a:solidFill>
              </a:rPr>
              <a:t>50 mpg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Petrol costs </a:t>
            </a:r>
            <a:r>
              <a:rPr lang="en-GB" sz="2000">
                <a:solidFill>
                  <a:schemeClr val="accent2"/>
                </a:solidFill>
              </a:rPr>
              <a:t>142.9 p</a:t>
            </a:r>
            <a:r>
              <a:rPr lang="en-GB" sz="2000"/>
              <a:t> </a:t>
            </a:r>
            <a:r>
              <a:rPr lang="en-GB" sz="2000">
                <a:solidFill>
                  <a:schemeClr val="accent2"/>
                </a:solidFill>
              </a:rPr>
              <a:t>per litre</a:t>
            </a:r>
            <a:r>
              <a:rPr lang="en-GB" sz="2000"/>
              <a:t>.</a:t>
            </a:r>
            <a:br>
              <a:rPr lang="en-GB" sz="2000"/>
            </a:br>
            <a:r>
              <a:rPr lang="en-GB" sz="2000"/>
              <a:t>1 gallon ≈ 4.546 litres.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cost of the petrol for journey?</a:t>
            </a:r>
            <a:endParaRPr sz="2000"/>
          </a:p>
        </p:txBody>
      </p:sp>
      <p:sp>
        <p:nvSpPr>
          <p:cNvPr id="1412" name="Google Shape;1412;p11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413" name="Google Shape;1413;p118"/>
          <p:cNvSpPr txBox="1"/>
          <p:nvPr>
            <p:ph idx="1" type="body"/>
          </p:nvPr>
        </p:nvSpPr>
        <p:spPr>
          <a:xfrm>
            <a:off x="1684075" y="2785232"/>
            <a:ext cx="55359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Calculate the cost of the petrol.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14" name="Google Shape;1414;p118"/>
          <p:cNvCxnSpPr/>
          <p:nvPr/>
        </p:nvCxnSpPr>
        <p:spPr>
          <a:xfrm>
            <a:off x="1855722" y="1763247"/>
            <a:ext cx="1757100" cy="0"/>
          </a:xfrm>
          <a:prstGeom prst="straightConnector1">
            <a:avLst/>
          </a:prstGeom>
          <a:noFill/>
          <a:ln cap="flat" cmpd="sng" w="3810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5" name="Google Shape;1415;p118"/>
          <p:cNvSpPr txBox="1"/>
          <p:nvPr>
            <p:ph idx="1" type="body"/>
          </p:nvPr>
        </p:nvSpPr>
        <p:spPr>
          <a:xfrm>
            <a:off x="1986566" y="3304508"/>
            <a:ext cx="48369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Each journey uses 0.81828 L of petrol.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6" name="Google Shape;1416;p118"/>
          <p:cNvSpPr txBox="1"/>
          <p:nvPr>
            <p:ph idx="1" type="body"/>
          </p:nvPr>
        </p:nvSpPr>
        <p:spPr>
          <a:xfrm>
            <a:off x="1986566" y="3837908"/>
            <a:ext cx="48369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0.81828 × 142.9 = 116.932212 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17" name="Google Shape;1417;p118"/>
          <p:cNvSpPr txBox="1"/>
          <p:nvPr>
            <p:ph idx="1" type="body"/>
          </p:nvPr>
        </p:nvSpPr>
        <p:spPr>
          <a:xfrm>
            <a:off x="1986575" y="4371300"/>
            <a:ext cx="60114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cost of petrol for each journey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approximately £1.17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p119"/>
          <p:cNvSpPr txBox="1"/>
          <p:nvPr>
            <p:ph idx="1" type="body"/>
          </p:nvPr>
        </p:nvSpPr>
        <p:spPr>
          <a:xfrm>
            <a:off x="324000" y="759300"/>
            <a:ext cx="8496000" cy="20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person’s car </a:t>
            </a:r>
            <a:r>
              <a:rPr lang="en-GB" sz="2000"/>
              <a:t>journey</a:t>
            </a:r>
            <a:r>
              <a:rPr lang="en-GB" sz="2000"/>
              <a:t> to work costs £1.17 </a:t>
            </a:r>
            <a:r>
              <a:rPr lang="en-GB" sz="2000"/>
              <a:t>in terms of</a:t>
            </a:r>
            <a:r>
              <a:rPr lang="en-GB" sz="2000"/>
              <a:t> petrol.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They make the journey twice a day for 225 days a year.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What is the annual cost of petrol for </a:t>
            </a:r>
            <a:r>
              <a:rPr b="1" lang="en-GB" sz="2000"/>
              <a:t>commuting</a:t>
            </a:r>
            <a:r>
              <a:rPr lang="en-GB" sz="2000"/>
              <a:t> to work?</a:t>
            </a:r>
            <a:endParaRPr sz="2000"/>
          </a:p>
        </p:txBody>
      </p:sp>
      <p:sp>
        <p:nvSpPr>
          <p:cNvPr id="1423" name="Google Shape;1423;p11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424" name="Google Shape;1424;p119"/>
          <p:cNvSpPr txBox="1"/>
          <p:nvPr>
            <p:ph idx="1" type="body"/>
          </p:nvPr>
        </p:nvSpPr>
        <p:spPr>
          <a:xfrm>
            <a:off x="3065849" y="2458100"/>
            <a:ext cx="28803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1.17 × 2 × 225 = 526.5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25" name="Google Shape;1425;p119"/>
          <p:cNvSpPr txBox="1"/>
          <p:nvPr>
            <p:ph idx="1" type="body"/>
          </p:nvPr>
        </p:nvSpPr>
        <p:spPr>
          <a:xfrm>
            <a:off x="719976" y="3067700"/>
            <a:ext cx="76977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Commuting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by car costs approximately £526.50 per year for petrol.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9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120"/>
          <p:cNvSpPr txBox="1"/>
          <p:nvPr>
            <p:ph idx="1" type="body"/>
          </p:nvPr>
        </p:nvSpPr>
        <p:spPr>
          <a:xfrm>
            <a:off x="324000" y="759300"/>
            <a:ext cx="8496000" cy="230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person spends </a:t>
            </a:r>
            <a:r>
              <a:rPr lang="en-GB" sz="2000">
                <a:solidFill>
                  <a:schemeClr val="accent2"/>
                </a:solidFill>
              </a:rPr>
              <a:t>£526.50 per year</a:t>
            </a:r>
            <a:r>
              <a:rPr lang="en-GB" sz="2000"/>
              <a:t> on petrol to </a:t>
            </a:r>
            <a:r>
              <a:rPr b="1" lang="en-GB" sz="2000"/>
              <a:t>commute</a:t>
            </a:r>
            <a:r>
              <a:rPr lang="en-GB" sz="2000"/>
              <a:t> to work.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They also pay </a:t>
            </a:r>
            <a:r>
              <a:rPr lang="en-GB" sz="2000">
                <a:solidFill>
                  <a:schemeClr val="accent2"/>
                </a:solidFill>
              </a:rPr>
              <a:t>£80 per month</a:t>
            </a:r>
            <a:r>
              <a:rPr lang="en-GB" sz="2000"/>
              <a:t> for car insurance.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2"/>
                </a:solidFill>
              </a:rPr>
              <a:t>annual cost</a:t>
            </a:r>
            <a:r>
              <a:rPr lang="en-GB" sz="2000"/>
              <a:t> of maintenance for the car is </a:t>
            </a:r>
            <a:r>
              <a:rPr lang="en-GB" sz="2000">
                <a:solidFill>
                  <a:schemeClr val="accent2"/>
                </a:solidFill>
              </a:rPr>
              <a:t>£650</a:t>
            </a:r>
            <a:r>
              <a:rPr lang="en-GB" sz="2000"/>
              <a:t>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Assume that they only own their car so that they can drive to work. How much do they spend in total </a:t>
            </a:r>
            <a:r>
              <a:rPr lang="en-GB" sz="2000"/>
              <a:t>on their car </a:t>
            </a:r>
            <a:r>
              <a:rPr lang="en-GB" sz="2000"/>
              <a:t>each year?</a:t>
            </a:r>
            <a:endParaRPr sz="2000"/>
          </a:p>
        </p:txBody>
      </p:sp>
      <p:sp>
        <p:nvSpPr>
          <p:cNvPr id="1431" name="Google Shape;1431;p1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432" name="Google Shape;1432;p120"/>
          <p:cNvSpPr txBox="1"/>
          <p:nvPr>
            <p:ph idx="1" type="body"/>
          </p:nvPr>
        </p:nvSpPr>
        <p:spPr>
          <a:xfrm>
            <a:off x="2270050" y="3905900"/>
            <a:ext cx="4955700" cy="83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person spends approximately £2136.50 on their car per year to </a:t>
            </a:r>
            <a:r>
              <a:rPr b="1" lang="en-GB" sz="2000">
                <a:latin typeface="Kalam"/>
                <a:ea typeface="Kalam"/>
                <a:cs typeface="Kalam"/>
                <a:sym typeface="Kalam"/>
              </a:rPr>
              <a:t>commute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to work.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33" name="Google Shape;1433;p120"/>
          <p:cNvSpPr txBox="1"/>
          <p:nvPr>
            <p:ph idx="1" type="body"/>
          </p:nvPr>
        </p:nvSpPr>
        <p:spPr>
          <a:xfrm>
            <a:off x="2834850" y="3296300"/>
            <a:ext cx="4111800" cy="41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526.5 + 12 × 80 + 650 = 2136.5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7" name="Shape 1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8" name="Google Shape;1438;p121"/>
          <p:cNvSpPr txBox="1"/>
          <p:nvPr>
            <p:ph idx="1" type="body"/>
          </p:nvPr>
        </p:nvSpPr>
        <p:spPr>
          <a:xfrm>
            <a:off x="324000" y="759300"/>
            <a:ext cx="8237700" cy="16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person drives </a:t>
            </a:r>
            <a:r>
              <a:rPr lang="en-GB" sz="1800">
                <a:solidFill>
                  <a:schemeClr val="accent2"/>
                </a:solidFill>
              </a:rPr>
              <a:t>12 miles</a:t>
            </a:r>
            <a:r>
              <a:rPr lang="en-GB" sz="1800"/>
              <a:t> to work.</a:t>
            </a:r>
            <a:br>
              <a:rPr lang="en-GB" sz="1800"/>
            </a:br>
            <a:r>
              <a:rPr lang="en-GB" sz="1800"/>
              <a:t>They travel to and from work </a:t>
            </a:r>
            <a:r>
              <a:rPr lang="en-GB" sz="1800"/>
              <a:t>on </a:t>
            </a:r>
            <a:r>
              <a:rPr lang="en-GB" sz="1800">
                <a:solidFill>
                  <a:schemeClr val="accent2"/>
                </a:solidFill>
              </a:rPr>
              <a:t>225 days</a:t>
            </a:r>
            <a:r>
              <a:rPr lang="en-GB" sz="1800"/>
              <a:t> of the year.</a:t>
            </a:r>
            <a:br>
              <a:rPr lang="en-GB" sz="1800"/>
            </a:br>
            <a:r>
              <a:rPr lang="en-GB" sz="1800"/>
              <a:t>The average fuel efficiency of their car is </a:t>
            </a:r>
            <a:r>
              <a:rPr lang="en-GB" sz="1800">
                <a:solidFill>
                  <a:schemeClr val="accent2"/>
                </a:solidFill>
              </a:rPr>
              <a:t>40 mpg</a:t>
            </a:r>
            <a:r>
              <a:rPr lang="en-GB" sz="1800"/>
              <a:t>.</a:t>
            </a:r>
            <a:br>
              <a:rPr lang="en-GB" sz="1800"/>
            </a:br>
            <a:r>
              <a:rPr lang="en-GB" sz="1800"/>
              <a:t>Petrol costs </a:t>
            </a:r>
            <a:r>
              <a:rPr lang="en-GB" sz="1800">
                <a:solidFill>
                  <a:schemeClr val="accent2"/>
                </a:solidFill>
              </a:rPr>
              <a:t>138.9 p</a:t>
            </a:r>
            <a:r>
              <a:rPr lang="en-GB" sz="1800"/>
              <a:t> </a:t>
            </a:r>
            <a:r>
              <a:rPr lang="en-GB" sz="1800">
                <a:solidFill>
                  <a:schemeClr val="accent2"/>
                </a:solidFill>
              </a:rPr>
              <a:t>per litre</a:t>
            </a:r>
            <a:r>
              <a:rPr lang="en-GB" sz="1800"/>
              <a:t>. 1 gallon ≈ 4.546 litres.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Match each calculation with what it represents in context.</a:t>
            </a:r>
            <a:endParaRPr sz="1800"/>
          </a:p>
        </p:txBody>
      </p:sp>
      <p:sp>
        <p:nvSpPr>
          <p:cNvPr id="1439" name="Google Shape;1439;p1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440" name="Google Shape;1440;p121"/>
          <p:cNvSpPr txBox="1"/>
          <p:nvPr>
            <p:ph idx="1" type="body"/>
          </p:nvPr>
        </p:nvSpPr>
        <p:spPr>
          <a:xfrm>
            <a:off x="310985" y="4530799"/>
            <a:ext cx="32808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1.894…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× 2 × 225 = £852.44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1" name="Google Shape;1441;p121"/>
          <p:cNvSpPr txBox="1"/>
          <p:nvPr>
            <p:ph idx="1" type="body"/>
          </p:nvPr>
        </p:nvSpPr>
        <p:spPr>
          <a:xfrm>
            <a:off x="4863199" y="3087299"/>
            <a:ext cx="27000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ost per year (£)</a:t>
            </a:r>
            <a:endParaRPr sz="1600"/>
          </a:p>
        </p:txBody>
      </p:sp>
      <p:sp>
        <p:nvSpPr>
          <p:cNvPr id="1442" name="Google Shape;1442;p121"/>
          <p:cNvSpPr txBox="1"/>
          <p:nvPr>
            <p:ph idx="1" type="body"/>
          </p:nvPr>
        </p:nvSpPr>
        <p:spPr>
          <a:xfrm>
            <a:off x="4863199" y="3559063"/>
            <a:ext cx="43908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gallons of petrol consumed per journey</a:t>
            </a:r>
            <a:endParaRPr sz="1600"/>
          </a:p>
        </p:txBody>
      </p:sp>
      <p:sp>
        <p:nvSpPr>
          <p:cNvPr id="1443" name="Google Shape;1443;p121"/>
          <p:cNvSpPr txBox="1"/>
          <p:nvPr>
            <p:ph idx="1" type="body"/>
          </p:nvPr>
        </p:nvSpPr>
        <p:spPr>
          <a:xfrm>
            <a:off x="4870583" y="4502591"/>
            <a:ext cx="43908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litres</a:t>
            </a:r>
            <a:r>
              <a:rPr lang="en-GB" sz="1600"/>
              <a:t> of petrol consumed per journey</a:t>
            </a:r>
            <a:endParaRPr sz="1600"/>
          </a:p>
        </p:txBody>
      </p:sp>
      <p:sp>
        <p:nvSpPr>
          <p:cNvPr id="1444" name="Google Shape;1444;p121"/>
          <p:cNvSpPr txBox="1"/>
          <p:nvPr>
            <p:ph idx="1" type="body"/>
          </p:nvPr>
        </p:nvSpPr>
        <p:spPr>
          <a:xfrm>
            <a:off x="4863199" y="2615535"/>
            <a:ext cx="43908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600"/>
              <a:t>c</a:t>
            </a:r>
            <a:r>
              <a:rPr lang="en-GB" sz="1600"/>
              <a:t>ost per journey (£)</a:t>
            </a:r>
            <a:endParaRPr sz="1600"/>
          </a:p>
        </p:txBody>
      </p:sp>
      <p:sp>
        <p:nvSpPr>
          <p:cNvPr id="1445" name="Google Shape;1445;p121"/>
          <p:cNvSpPr txBox="1"/>
          <p:nvPr>
            <p:ph idx="1" type="body"/>
          </p:nvPr>
        </p:nvSpPr>
        <p:spPr>
          <a:xfrm>
            <a:off x="4863199" y="4030827"/>
            <a:ext cx="43908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600"/>
              <a:t>gallons of petrol consumed per mile</a:t>
            </a:r>
            <a:endParaRPr sz="1600"/>
          </a:p>
        </p:txBody>
      </p:sp>
      <p:grpSp>
        <p:nvGrpSpPr>
          <p:cNvPr id="1446" name="Google Shape;1446;p121"/>
          <p:cNvGrpSpPr/>
          <p:nvPr/>
        </p:nvGrpSpPr>
        <p:grpSpPr>
          <a:xfrm>
            <a:off x="4383850" y="2553557"/>
            <a:ext cx="382996" cy="382996"/>
            <a:chOff x="1020916" y="1442088"/>
            <a:chExt cx="457200" cy="457200"/>
          </a:xfrm>
        </p:grpSpPr>
        <p:pic>
          <p:nvPicPr>
            <p:cNvPr id="1447" name="Google Shape;1447;p1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48" name="Google Shape;1448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49" name="Google Shape;1449;p121"/>
          <p:cNvGrpSpPr/>
          <p:nvPr/>
        </p:nvGrpSpPr>
        <p:grpSpPr>
          <a:xfrm>
            <a:off x="4383850" y="3022012"/>
            <a:ext cx="382996" cy="382996"/>
            <a:chOff x="1020916" y="1442088"/>
            <a:chExt cx="457200" cy="457200"/>
          </a:xfrm>
        </p:grpSpPr>
        <p:pic>
          <p:nvPicPr>
            <p:cNvPr id="1450" name="Google Shape;1450;p1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1" name="Google Shape;1451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2" name="Google Shape;1452;p121"/>
          <p:cNvGrpSpPr/>
          <p:nvPr/>
        </p:nvGrpSpPr>
        <p:grpSpPr>
          <a:xfrm>
            <a:off x="4383850" y="3490466"/>
            <a:ext cx="382996" cy="382996"/>
            <a:chOff x="1020916" y="1442088"/>
            <a:chExt cx="457200" cy="457200"/>
          </a:xfrm>
        </p:grpSpPr>
        <p:pic>
          <p:nvPicPr>
            <p:cNvPr id="1453" name="Google Shape;1453;p1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4" name="Google Shape;1454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5" name="Google Shape;1455;p121"/>
          <p:cNvGrpSpPr/>
          <p:nvPr/>
        </p:nvGrpSpPr>
        <p:grpSpPr>
          <a:xfrm>
            <a:off x="4383850" y="3958921"/>
            <a:ext cx="382996" cy="382996"/>
            <a:chOff x="1020916" y="1442088"/>
            <a:chExt cx="457200" cy="457200"/>
          </a:xfrm>
        </p:grpSpPr>
        <p:pic>
          <p:nvPicPr>
            <p:cNvPr id="1456" name="Google Shape;1456;p1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7" name="Google Shape;1457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58" name="Google Shape;1458;p121"/>
          <p:cNvGrpSpPr/>
          <p:nvPr/>
        </p:nvGrpSpPr>
        <p:grpSpPr>
          <a:xfrm>
            <a:off x="4383850" y="4427375"/>
            <a:ext cx="382996" cy="382996"/>
            <a:chOff x="1020916" y="1442088"/>
            <a:chExt cx="457200" cy="457200"/>
          </a:xfrm>
        </p:grpSpPr>
        <p:pic>
          <p:nvPicPr>
            <p:cNvPr id="1459" name="Google Shape;1459;p1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0" name="Google Shape;1460;p12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61" name="Google Shape;1461;p121"/>
          <p:cNvSpPr txBox="1"/>
          <p:nvPr>
            <p:ph idx="1" type="body"/>
          </p:nvPr>
        </p:nvSpPr>
        <p:spPr>
          <a:xfrm>
            <a:off x="628190" y="4059187"/>
            <a:ext cx="32808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1.3638 × 1.389 = 1.894…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2" name="Google Shape;1462;p121"/>
          <p:cNvSpPr txBox="1"/>
          <p:nvPr>
            <p:ph idx="1" type="body"/>
          </p:nvPr>
        </p:nvSpPr>
        <p:spPr>
          <a:xfrm>
            <a:off x="940374" y="3551274"/>
            <a:ext cx="3280800" cy="3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0.3 × 4.546 = 1.3638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3" name="Google Shape;1463;p121"/>
          <p:cNvSpPr txBox="1"/>
          <p:nvPr>
            <p:ph idx="1" type="body"/>
          </p:nvPr>
        </p:nvSpPr>
        <p:spPr>
          <a:xfrm>
            <a:off x="1041088" y="3079662"/>
            <a:ext cx="18999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0.025 × 12 = 0.3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64" name="Google Shape;1464;p121"/>
          <p:cNvSpPr txBox="1"/>
          <p:nvPr>
            <p:ph idx="1" type="body"/>
          </p:nvPr>
        </p:nvSpPr>
        <p:spPr>
          <a:xfrm>
            <a:off x="1451623" y="2571750"/>
            <a:ext cx="3280800" cy="3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 ÷ 40 = 0.025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465" name="Google Shape;1465;p121"/>
          <p:cNvCxnSpPr>
            <a:stCxn id="1457" idx="1"/>
          </p:cNvCxnSpPr>
          <p:nvPr/>
        </p:nvCxnSpPr>
        <p:spPr>
          <a:xfrm rot="10800000">
            <a:off x="3008268" y="2726955"/>
            <a:ext cx="1396200" cy="1418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6" name="Google Shape;1466;p121"/>
          <p:cNvCxnSpPr>
            <a:stCxn id="1454" idx="1"/>
          </p:cNvCxnSpPr>
          <p:nvPr/>
        </p:nvCxnSpPr>
        <p:spPr>
          <a:xfrm rot="10800000">
            <a:off x="2781768" y="3199300"/>
            <a:ext cx="1622700" cy="4779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7" name="Google Shape;1467;p121"/>
          <p:cNvCxnSpPr>
            <a:stCxn id="1460" idx="1"/>
          </p:cNvCxnSpPr>
          <p:nvPr/>
        </p:nvCxnSpPr>
        <p:spPr>
          <a:xfrm rot="10800000">
            <a:off x="3099468" y="3664309"/>
            <a:ext cx="1305000" cy="949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8" name="Google Shape;1468;p121"/>
          <p:cNvCxnSpPr/>
          <p:nvPr/>
        </p:nvCxnSpPr>
        <p:spPr>
          <a:xfrm flipH="1">
            <a:off x="2966475" y="2719350"/>
            <a:ext cx="1425000" cy="13956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69" name="Google Shape;1469;p121"/>
          <p:cNvCxnSpPr>
            <a:stCxn id="1451" idx="1"/>
          </p:cNvCxnSpPr>
          <p:nvPr/>
        </p:nvCxnSpPr>
        <p:spPr>
          <a:xfrm flipH="1">
            <a:off x="3310668" y="3208746"/>
            <a:ext cx="1093800" cy="1405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p122"/>
          <p:cNvSpPr txBox="1"/>
          <p:nvPr>
            <p:ph idx="1" type="body"/>
          </p:nvPr>
        </p:nvSpPr>
        <p:spPr>
          <a:xfrm>
            <a:off x="324000" y="759300"/>
            <a:ext cx="8237700" cy="16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 person drives </a:t>
            </a:r>
            <a:r>
              <a:rPr lang="en-GB" sz="1800">
                <a:solidFill>
                  <a:schemeClr val="accent2"/>
                </a:solidFill>
              </a:rPr>
              <a:t>12 miles</a:t>
            </a:r>
            <a:r>
              <a:rPr lang="en-GB" sz="1800"/>
              <a:t> to work.</a:t>
            </a:r>
            <a:br>
              <a:rPr lang="en-GB" sz="1800"/>
            </a:br>
            <a:r>
              <a:rPr lang="en-GB" sz="1800"/>
              <a:t>They travel to and from work on </a:t>
            </a:r>
            <a:r>
              <a:rPr lang="en-GB" sz="1800">
                <a:solidFill>
                  <a:schemeClr val="accent2"/>
                </a:solidFill>
              </a:rPr>
              <a:t>225 days</a:t>
            </a:r>
            <a:r>
              <a:rPr lang="en-GB" sz="1800"/>
              <a:t> of the year.</a:t>
            </a:r>
            <a:br>
              <a:rPr lang="en-GB" sz="1800"/>
            </a:br>
            <a:r>
              <a:rPr lang="en-GB" sz="1800"/>
              <a:t>The average fuel efficiency of their car is </a:t>
            </a:r>
            <a:r>
              <a:rPr lang="en-GB" sz="1800">
                <a:solidFill>
                  <a:schemeClr val="accent2"/>
                </a:solidFill>
              </a:rPr>
              <a:t>40 mpg</a:t>
            </a:r>
            <a:r>
              <a:rPr lang="en-GB" sz="1800"/>
              <a:t>.</a:t>
            </a:r>
            <a:br>
              <a:rPr lang="en-GB" sz="1800"/>
            </a:br>
            <a:r>
              <a:rPr lang="en-GB" sz="1800"/>
              <a:t>Petrol costs </a:t>
            </a:r>
            <a:r>
              <a:rPr lang="en-GB" sz="1800">
                <a:solidFill>
                  <a:schemeClr val="accent2"/>
                </a:solidFill>
              </a:rPr>
              <a:t>138.9 p</a:t>
            </a:r>
            <a:r>
              <a:rPr lang="en-GB" sz="1800"/>
              <a:t> </a:t>
            </a:r>
            <a:r>
              <a:rPr lang="en-GB" sz="1800">
                <a:solidFill>
                  <a:schemeClr val="accent2"/>
                </a:solidFill>
              </a:rPr>
              <a:t>per litre</a:t>
            </a:r>
            <a:r>
              <a:rPr lang="en-GB" sz="1800"/>
              <a:t>. 1 gallon ≈ 4.546 litres.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Match each calculation with what it represents in context.</a:t>
            </a:r>
            <a:endParaRPr sz="1800"/>
          </a:p>
        </p:txBody>
      </p:sp>
      <p:sp>
        <p:nvSpPr>
          <p:cNvPr id="1475" name="Google Shape;1475;p1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476" name="Google Shape;1476;p122"/>
          <p:cNvSpPr txBox="1"/>
          <p:nvPr>
            <p:ph idx="1" type="body"/>
          </p:nvPr>
        </p:nvSpPr>
        <p:spPr>
          <a:xfrm>
            <a:off x="842023" y="4530799"/>
            <a:ext cx="32808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613.71 × 138.9 = 85 244.319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77" name="Google Shape;1477;p122"/>
          <p:cNvSpPr txBox="1"/>
          <p:nvPr>
            <p:ph idx="1" type="body"/>
          </p:nvPr>
        </p:nvSpPr>
        <p:spPr>
          <a:xfrm>
            <a:off x="4961550" y="4496538"/>
            <a:ext cx="27000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m</a:t>
            </a:r>
            <a:r>
              <a:rPr lang="en-GB" sz="1700"/>
              <a:t>iles travelled per year</a:t>
            </a:r>
            <a:endParaRPr sz="1700"/>
          </a:p>
        </p:txBody>
      </p:sp>
      <p:sp>
        <p:nvSpPr>
          <p:cNvPr id="1478" name="Google Shape;1478;p122"/>
          <p:cNvSpPr txBox="1"/>
          <p:nvPr>
            <p:ph idx="1" type="body"/>
          </p:nvPr>
        </p:nvSpPr>
        <p:spPr>
          <a:xfrm>
            <a:off x="4961550" y="3086171"/>
            <a:ext cx="43908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gallons of petrol consumed per mile</a:t>
            </a:r>
            <a:endParaRPr sz="1700"/>
          </a:p>
        </p:txBody>
      </p:sp>
      <p:sp>
        <p:nvSpPr>
          <p:cNvPr id="1479" name="Google Shape;1479;p122"/>
          <p:cNvSpPr txBox="1"/>
          <p:nvPr>
            <p:ph idx="1" type="body"/>
          </p:nvPr>
        </p:nvSpPr>
        <p:spPr>
          <a:xfrm>
            <a:off x="4961550" y="3556294"/>
            <a:ext cx="43908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gallons of petrol consumed per year</a:t>
            </a:r>
            <a:endParaRPr sz="1700"/>
          </a:p>
        </p:txBody>
      </p:sp>
      <p:sp>
        <p:nvSpPr>
          <p:cNvPr id="1480" name="Google Shape;1480;p122"/>
          <p:cNvSpPr txBox="1"/>
          <p:nvPr>
            <p:ph idx="1" type="body"/>
          </p:nvPr>
        </p:nvSpPr>
        <p:spPr>
          <a:xfrm>
            <a:off x="4961550" y="4026416"/>
            <a:ext cx="43908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litres</a:t>
            </a:r>
            <a:r>
              <a:rPr lang="en-GB" sz="1700"/>
              <a:t> of petrol consumed per year</a:t>
            </a:r>
            <a:endParaRPr sz="1700"/>
          </a:p>
        </p:txBody>
      </p:sp>
      <p:sp>
        <p:nvSpPr>
          <p:cNvPr id="1481" name="Google Shape;1481;p122"/>
          <p:cNvSpPr txBox="1"/>
          <p:nvPr>
            <p:ph idx="1" type="body"/>
          </p:nvPr>
        </p:nvSpPr>
        <p:spPr>
          <a:xfrm>
            <a:off x="4961550" y="2616049"/>
            <a:ext cx="43908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700"/>
              <a:t>a</a:t>
            </a:r>
            <a:r>
              <a:rPr lang="en-GB" sz="1700"/>
              <a:t>nnual cost of petrol (in pence)</a:t>
            </a:r>
            <a:endParaRPr sz="1700"/>
          </a:p>
        </p:txBody>
      </p:sp>
      <p:grpSp>
        <p:nvGrpSpPr>
          <p:cNvPr id="1482" name="Google Shape;1482;p122"/>
          <p:cNvGrpSpPr/>
          <p:nvPr/>
        </p:nvGrpSpPr>
        <p:grpSpPr>
          <a:xfrm>
            <a:off x="4482202" y="2553557"/>
            <a:ext cx="382996" cy="382996"/>
            <a:chOff x="1020916" y="1442088"/>
            <a:chExt cx="457200" cy="457200"/>
          </a:xfrm>
        </p:grpSpPr>
        <p:pic>
          <p:nvPicPr>
            <p:cNvPr id="1483" name="Google Shape;1483;p1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4" name="Google Shape;1484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5" name="Google Shape;1485;p122"/>
          <p:cNvGrpSpPr/>
          <p:nvPr/>
        </p:nvGrpSpPr>
        <p:grpSpPr>
          <a:xfrm>
            <a:off x="4482202" y="3022012"/>
            <a:ext cx="382996" cy="382996"/>
            <a:chOff x="1020916" y="1442088"/>
            <a:chExt cx="457200" cy="457200"/>
          </a:xfrm>
        </p:grpSpPr>
        <p:pic>
          <p:nvPicPr>
            <p:cNvPr id="1486" name="Google Shape;1486;p1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87" name="Google Shape;1487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8" name="Google Shape;1488;p122"/>
          <p:cNvGrpSpPr/>
          <p:nvPr/>
        </p:nvGrpSpPr>
        <p:grpSpPr>
          <a:xfrm>
            <a:off x="4482202" y="3490466"/>
            <a:ext cx="382996" cy="382996"/>
            <a:chOff x="1020916" y="1442088"/>
            <a:chExt cx="457200" cy="457200"/>
          </a:xfrm>
        </p:grpSpPr>
        <p:pic>
          <p:nvPicPr>
            <p:cNvPr id="1489" name="Google Shape;1489;p1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0" name="Google Shape;1490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1" name="Google Shape;1491;p122"/>
          <p:cNvGrpSpPr/>
          <p:nvPr/>
        </p:nvGrpSpPr>
        <p:grpSpPr>
          <a:xfrm>
            <a:off x="4482202" y="3958921"/>
            <a:ext cx="382996" cy="382996"/>
            <a:chOff x="1020916" y="1442088"/>
            <a:chExt cx="457200" cy="457200"/>
          </a:xfrm>
        </p:grpSpPr>
        <p:pic>
          <p:nvPicPr>
            <p:cNvPr id="1492" name="Google Shape;1492;p1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3" name="Google Shape;1493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4" name="Google Shape;1494;p122"/>
          <p:cNvGrpSpPr/>
          <p:nvPr/>
        </p:nvGrpSpPr>
        <p:grpSpPr>
          <a:xfrm>
            <a:off x="4482202" y="4427375"/>
            <a:ext cx="382996" cy="382996"/>
            <a:chOff x="1020916" y="1442088"/>
            <a:chExt cx="457200" cy="457200"/>
          </a:xfrm>
        </p:grpSpPr>
        <p:pic>
          <p:nvPicPr>
            <p:cNvPr id="1495" name="Google Shape;1495;p12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96" name="Google Shape;1496;p12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e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97" name="Google Shape;1497;p122"/>
          <p:cNvSpPr txBox="1"/>
          <p:nvPr>
            <p:ph idx="1" type="body"/>
          </p:nvPr>
        </p:nvSpPr>
        <p:spPr>
          <a:xfrm>
            <a:off x="1031341" y="4059187"/>
            <a:ext cx="32808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35 × 4.546 = 613.71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8" name="Google Shape;1498;p122"/>
          <p:cNvSpPr txBox="1"/>
          <p:nvPr>
            <p:ph idx="1" type="body"/>
          </p:nvPr>
        </p:nvSpPr>
        <p:spPr>
          <a:xfrm>
            <a:off x="893709" y="3551274"/>
            <a:ext cx="3280800" cy="3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0.025 × 5400 = 135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9" name="Google Shape;1499;p122"/>
          <p:cNvSpPr txBox="1"/>
          <p:nvPr>
            <p:ph idx="1" type="body"/>
          </p:nvPr>
        </p:nvSpPr>
        <p:spPr>
          <a:xfrm>
            <a:off x="1564741" y="3079662"/>
            <a:ext cx="1899900" cy="31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 ÷ 40 = 0.025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00" name="Google Shape;1500;p122"/>
          <p:cNvSpPr txBox="1"/>
          <p:nvPr>
            <p:ph idx="1" type="body"/>
          </p:nvPr>
        </p:nvSpPr>
        <p:spPr>
          <a:xfrm>
            <a:off x="886325" y="2571750"/>
            <a:ext cx="3280800" cy="3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12 × 2 × 225 = 5400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501" name="Google Shape;1501;p122"/>
          <p:cNvCxnSpPr>
            <a:stCxn id="1496" idx="1"/>
          </p:cNvCxnSpPr>
          <p:nvPr/>
        </p:nvCxnSpPr>
        <p:spPr>
          <a:xfrm rot="10800000">
            <a:off x="3055020" y="2704609"/>
            <a:ext cx="1447800" cy="19095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122"/>
          <p:cNvCxnSpPr>
            <a:stCxn id="1487" idx="1"/>
          </p:cNvCxnSpPr>
          <p:nvPr/>
        </p:nvCxnSpPr>
        <p:spPr>
          <a:xfrm flipH="1">
            <a:off x="3151020" y="3208746"/>
            <a:ext cx="1351800" cy="2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3" name="Google Shape;1503;p122"/>
          <p:cNvCxnSpPr/>
          <p:nvPr/>
        </p:nvCxnSpPr>
        <p:spPr>
          <a:xfrm flipH="1">
            <a:off x="3121473" y="3671921"/>
            <a:ext cx="1351800" cy="2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4" name="Google Shape;1504;p122"/>
          <p:cNvCxnSpPr/>
          <p:nvPr/>
        </p:nvCxnSpPr>
        <p:spPr>
          <a:xfrm flipH="1">
            <a:off x="3121473" y="4168402"/>
            <a:ext cx="1351800" cy="201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5" name="Google Shape;1505;p122"/>
          <p:cNvCxnSpPr>
            <a:stCxn id="1483" idx="1"/>
          </p:cNvCxnSpPr>
          <p:nvPr/>
        </p:nvCxnSpPr>
        <p:spPr>
          <a:xfrm flipH="1">
            <a:off x="3666502" y="2745056"/>
            <a:ext cx="815700" cy="1827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9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p123"/>
          <p:cNvSpPr txBox="1"/>
          <p:nvPr>
            <p:ph idx="1" type="body"/>
          </p:nvPr>
        </p:nvSpPr>
        <p:spPr>
          <a:xfrm>
            <a:off x="324000" y="759300"/>
            <a:ext cx="8496000" cy="431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/>
              <a:t>1) A person lives 6 miles from their place of work and travels by car 225 days per year.</a:t>
            </a:r>
            <a:br>
              <a:rPr lang="en-GB" sz="1600"/>
            </a:br>
            <a:r>
              <a:rPr lang="en-GB" sz="1600"/>
              <a:t>    On average, their car travels 45 miles per gallon.</a:t>
            </a:r>
            <a:br>
              <a:rPr lang="en-GB" sz="1600"/>
            </a:br>
            <a:r>
              <a:rPr lang="en-GB" sz="1600"/>
              <a:t>    At their nearest petrol station, petrol is sold for 148.9 p per litre.</a:t>
            </a:r>
            <a:br>
              <a:rPr lang="en-GB" sz="1600"/>
            </a:br>
            <a:r>
              <a:rPr lang="en-GB" sz="1600"/>
              <a:t>    1 gallon ≈ 4.546 litres.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a) How much do they spend on petrol per year for </a:t>
            </a:r>
            <a:r>
              <a:rPr b="1" lang="en-GB" sz="1600"/>
              <a:t>commuting</a:t>
            </a:r>
            <a:r>
              <a:rPr lang="en-GB" sz="1600"/>
              <a:t> by car?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600"/>
              <a:t>b) Their car insurance costs £65 per month. </a:t>
            </a:r>
            <a:br>
              <a:rPr lang="en-GB" sz="1600"/>
            </a:br>
            <a:r>
              <a:rPr lang="en-GB" sz="1600"/>
              <a:t>    Their annual maintenance costs sum to £820.</a:t>
            </a:r>
            <a:br>
              <a:rPr lang="en-GB" sz="1600"/>
            </a:br>
            <a:r>
              <a:rPr lang="en-GB" sz="1600"/>
              <a:t>    Assume that they only use the car for </a:t>
            </a:r>
            <a:r>
              <a:rPr b="1" lang="en-GB" sz="1600"/>
              <a:t>commuting</a:t>
            </a:r>
            <a:r>
              <a:rPr lang="en-GB" sz="1600"/>
              <a:t>. </a:t>
            </a:r>
            <a:br>
              <a:rPr lang="en-GB" sz="1600"/>
            </a:br>
            <a:r>
              <a:rPr lang="en-GB" sz="1600"/>
              <a:t>    How much do they spend in total on their car each year?</a:t>
            </a:r>
            <a:endParaRPr sz="16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c) They are considering selling their car and </a:t>
            </a:r>
            <a:r>
              <a:rPr b="1" lang="en-GB" sz="1600"/>
              <a:t>commuting</a:t>
            </a:r>
            <a:r>
              <a:rPr lang="en-GB" sz="1600"/>
              <a:t> by bus.</a:t>
            </a:r>
            <a:br>
              <a:rPr lang="en-GB" sz="1600"/>
            </a:br>
            <a:r>
              <a:rPr lang="en-GB" sz="1600"/>
              <a:t>    A weekly bus pass in their town costs £22 per week.</a:t>
            </a:r>
            <a:br>
              <a:rPr lang="en-GB" sz="1600"/>
            </a:br>
            <a:r>
              <a:rPr lang="en-GB" sz="1600"/>
              <a:t>    Assume that they would buy a weekly bus pass every week of the year.</a:t>
            </a:r>
            <a:br>
              <a:rPr lang="en-GB" sz="1600"/>
            </a:br>
            <a:r>
              <a:rPr lang="en-GB" sz="1600"/>
              <a:t>    Would </a:t>
            </a:r>
            <a:r>
              <a:rPr b="1" lang="en-GB" sz="1600"/>
              <a:t>commuting</a:t>
            </a:r>
            <a:r>
              <a:rPr lang="en-GB" sz="1600"/>
              <a:t> by bus cost more or less money per year? Justify you answer. </a:t>
            </a:r>
            <a:endParaRPr sz="1600"/>
          </a:p>
        </p:txBody>
      </p:sp>
      <p:sp>
        <p:nvSpPr>
          <p:cNvPr id="1511" name="Google Shape;1511;p12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p124"/>
          <p:cNvSpPr txBox="1"/>
          <p:nvPr>
            <p:ph idx="1" type="body"/>
          </p:nvPr>
        </p:nvSpPr>
        <p:spPr>
          <a:xfrm>
            <a:off x="324000" y="606900"/>
            <a:ext cx="8496000" cy="161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1) A person lives 6 miles from their place of work and travels by car 225 days per year.</a:t>
            </a:r>
            <a:br>
              <a:rPr lang="en-GB" sz="1800"/>
            </a:br>
            <a:r>
              <a:rPr lang="en-GB" sz="1800"/>
              <a:t>    </a:t>
            </a:r>
            <a:r>
              <a:rPr lang="en-GB" sz="1600"/>
              <a:t>On average, their car travels 45 miles per gallon.</a:t>
            </a:r>
            <a:br>
              <a:rPr lang="en-GB" sz="1600"/>
            </a:br>
            <a:r>
              <a:rPr lang="en-GB" sz="1600"/>
              <a:t>    At their nearest petrol station, petrol is sold for 148.9 p per litre.</a:t>
            </a:r>
            <a:br>
              <a:rPr lang="en-GB" sz="1600"/>
            </a:br>
            <a:r>
              <a:rPr lang="en-GB" sz="1600"/>
              <a:t>    1 gallon ≈ 4.546 litres.</a:t>
            </a:r>
            <a:endParaRPr sz="1800"/>
          </a:p>
        </p:txBody>
      </p:sp>
      <p:sp>
        <p:nvSpPr>
          <p:cNvPr id="1517" name="Google Shape;1517;p12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518" name="Google Shape;1518;p124"/>
          <p:cNvSpPr txBox="1"/>
          <p:nvPr/>
        </p:nvSpPr>
        <p:spPr>
          <a:xfrm>
            <a:off x="317500" y="2352317"/>
            <a:ext cx="2640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Example solution strategy: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9" name="Google Shape;1519;p124"/>
          <p:cNvSpPr txBox="1"/>
          <p:nvPr/>
        </p:nvSpPr>
        <p:spPr>
          <a:xfrm>
            <a:off x="927100" y="2677875"/>
            <a:ext cx="1759200" cy="22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Miles per year: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Gallons per mile: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Gallons per year: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Litres per year: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Cost per year:</a:t>
            </a:r>
            <a:endParaRPr sz="18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20" name="Google Shape;1520;p124"/>
          <p:cNvSpPr txBox="1"/>
          <p:nvPr/>
        </p:nvSpPr>
        <p:spPr>
          <a:xfrm>
            <a:off x="2857884" y="2672225"/>
            <a:ext cx="48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 × 2 × 225 = 2700 miles per year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1" name="Google Shape;1521;p124"/>
          <p:cNvSpPr txBox="1"/>
          <p:nvPr/>
        </p:nvSpPr>
        <p:spPr>
          <a:xfrm>
            <a:off x="3457405" y="3124385"/>
            <a:ext cx="48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 ÷ 45 = 0.02 gallons per mile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2" name="Google Shape;1522;p124"/>
          <p:cNvSpPr txBox="1"/>
          <p:nvPr/>
        </p:nvSpPr>
        <p:spPr>
          <a:xfrm>
            <a:off x="2913925" y="3561427"/>
            <a:ext cx="48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0.02 × 2700 = 60 gallons per year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3" name="Google Shape;1523;p124"/>
          <p:cNvSpPr txBox="1"/>
          <p:nvPr/>
        </p:nvSpPr>
        <p:spPr>
          <a:xfrm>
            <a:off x="3000205" y="4008547"/>
            <a:ext cx="48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60 × 4.546 = 272.76 litres per year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4" name="Google Shape;1524;p124"/>
          <p:cNvSpPr txBox="1"/>
          <p:nvPr/>
        </p:nvSpPr>
        <p:spPr>
          <a:xfrm>
            <a:off x="2639364" y="4450628"/>
            <a:ext cx="4866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272.76 × 1.489 = £406.14 per year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5" name="Google Shape;1525;p124"/>
          <p:cNvSpPr txBox="1"/>
          <p:nvPr/>
        </p:nvSpPr>
        <p:spPr>
          <a:xfrm>
            <a:off x="4762884" y="2922190"/>
            <a:ext cx="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6" name="Google Shape;1526;p124"/>
          <p:cNvSpPr txBox="1"/>
          <p:nvPr/>
        </p:nvSpPr>
        <p:spPr>
          <a:xfrm>
            <a:off x="3248964" y="3359231"/>
            <a:ext cx="95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7" name="Google Shape;1527;p124"/>
          <p:cNvSpPr txBox="1"/>
          <p:nvPr/>
        </p:nvSpPr>
        <p:spPr>
          <a:xfrm>
            <a:off x="247800" y="2020375"/>
            <a:ext cx="8496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a) How much do they spend on petrol per year for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car?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1" name="Shape 1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2" name="Google Shape;1532;p125"/>
          <p:cNvSpPr txBox="1"/>
          <p:nvPr/>
        </p:nvSpPr>
        <p:spPr>
          <a:xfrm>
            <a:off x="247800" y="2971800"/>
            <a:ext cx="84678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c) They are considering selling their car and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bus.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weekly bus pass in their town costs £22 per week.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Assume that they would buy a weekly bus pass every week of the year.</a:t>
            </a:r>
            <a:b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Would </a:t>
            </a:r>
            <a:r>
              <a:rPr b="1"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commuting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by bus cost more or less money per year? Justify you answer.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3" name="Google Shape;1533;p125"/>
          <p:cNvSpPr txBox="1"/>
          <p:nvPr>
            <p:ph idx="1" type="body"/>
          </p:nvPr>
        </p:nvSpPr>
        <p:spPr>
          <a:xfrm>
            <a:off x="324000" y="606900"/>
            <a:ext cx="8496000" cy="21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How much do they spend on petrol per year for </a:t>
            </a:r>
            <a:r>
              <a:rPr b="1" lang="en-GB" sz="1800"/>
              <a:t>commuting</a:t>
            </a:r>
            <a:r>
              <a:rPr lang="en-GB" sz="1800"/>
              <a:t> by car?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£406.14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/>
              <a:t>b) Their car insurance costs £65 per month. </a:t>
            </a:r>
            <a:br>
              <a:rPr lang="en-GB" sz="1800"/>
            </a:br>
            <a:r>
              <a:rPr lang="en-GB" sz="1800"/>
              <a:t>    Their annual maintenance costs sum to £820.</a:t>
            </a:r>
            <a:br>
              <a:rPr lang="en-GB" sz="1800"/>
            </a:br>
            <a:r>
              <a:rPr lang="en-GB" sz="1800"/>
              <a:t>    Assume that they only use the car for </a:t>
            </a:r>
            <a:r>
              <a:rPr b="1" lang="en-GB" sz="1800"/>
              <a:t>commuting</a:t>
            </a:r>
            <a:r>
              <a:rPr lang="en-GB" sz="1800"/>
              <a:t>. </a:t>
            </a:r>
            <a:br>
              <a:rPr lang="en-GB" sz="1800"/>
            </a:br>
            <a:r>
              <a:rPr lang="en-GB" sz="1800"/>
              <a:t>    How much do they spend in total on their car each year?</a:t>
            </a:r>
            <a:endParaRPr sz="18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34" name="Google Shape;1534;p12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Calculating the cost of a journey</a:t>
            </a:r>
            <a:endParaRPr/>
          </a:p>
        </p:txBody>
      </p:sp>
      <p:sp>
        <p:nvSpPr>
          <p:cNvPr id="1535" name="Google Shape;1535;p125"/>
          <p:cNvSpPr txBox="1"/>
          <p:nvPr>
            <p:ph idx="1" type="body"/>
          </p:nvPr>
        </p:nvSpPr>
        <p:spPr>
          <a:xfrm>
            <a:off x="519835" y="2700009"/>
            <a:ext cx="55974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406.14 + 12 × 65 + 820 = £2006.14</a:t>
            </a:r>
            <a:endParaRPr sz="1600"/>
          </a:p>
        </p:txBody>
      </p:sp>
      <p:sp>
        <p:nvSpPr>
          <p:cNvPr id="1536" name="Google Shape;1536;p125"/>
          <p:cNvSpPr txBox="1"/>
          <p:nvPr>
            <p:ph idx="1" type="body"/>
          </p:nvPr>
        </p:nvSpPr>
        <p:spPr>
          <a:xfrm>
            <a:off x="1800825" y="4300200"/>
            <a:ext cx="68553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Annual cost of buying weekly bus passes: 22 × 52 = £1144</a:t>
            </a:r>
            <a:endParaRPr sz="1600"/>
          </a:p>
        </p:txBody>
      </p:sp>
      <p:sp>
        <p:nvSpPr>
          <p:cNvPr id="1537" name="Google Shape;1537;p125"/>
          <p:cNvSpPr txBox="1"/>
          <p:nvPr>
            <p:ph idx="1" type="body"/>
          </p:nvPr>
        </p:nvSpPr>
        <p:spPr>
          <a:xfrm>
            <a:off x="1762749" y="4528800"/>
            <a:ext cx="5674200" cy="342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It would cost less per year.</a:t>
            </a:r>
            <a:endParaRPr sz="16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1" name="Shape 1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Google Shape;1542;p126"/>
          <p:cNvSpPr txBox="1"/>
          <p:nvPr>
            <p:ph idx="1" type="body"/>
          </p:nvPr>
        </p:nvSpPr>
        <p:spPr>
          <a:xfrm>
            <a:off x="324000" y="1080000"/>
            <a:ext cx="84960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There may be many options for how to </a:t>
            </a:r>
            <a:r>
              <a:rPr lang="en-GB"/>
              <a:t>travel to a place.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Various factors affect which mode of transport is preferable. Examples include time, cost and environmental impact.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Calculations can be used to make comparisons between different methods of transport to support decision making.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Making the same journey multiple times means the impact of that journey is multiplied.</a:t>
            </a:r>
            <a:endParaRPr/>
          </a:p>
        </p:txBody>
      </p:sp>
      <p:sp>
        <p:nvSpPr>
          <p:cNvPr id="1543" name="Google Shape;1543;p12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Making a journey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27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549" name="Google Shape;1549;p1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