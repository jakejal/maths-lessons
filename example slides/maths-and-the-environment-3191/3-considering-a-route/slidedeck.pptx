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68E9E1-C39F-40F7-8E9B-7A8B8694A38C}">
  <a:tblStyle styleId="{3068E9E1-C39F-40F7-8E9B-7A8B8694A3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f577d31db3_0_4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f577d31db3_0_4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f577d31db3_0_4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f577d31db3_0_4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f577d31db3_0_4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f577d31db3_0_4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06e3b9de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06e3b9de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b8c3f0c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b8c3f0c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fb8c3f0c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fb8c3f0c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fb8c3f0c1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fb8c3f0c1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b8c3f0c1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fb8c3f0c1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fb8c3f0c1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fb8c3f0c1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fb8c3f0c1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fb8c3f0c1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06e3b9ded6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06e3b9ded6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fb8c3f0c1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fb8c3f0c1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fb8c3f0c1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fb8c3f0c1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fb8c3f0c1a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fb8c3f0c1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fb8c3f0c1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fb8c3f0c1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fb8c3f0c1a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fb8c3f0c1a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fb8c3f0c1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fb8c3f0c1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fb8c3f0c1a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fb8c3f0c1a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fb8c3f0c1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fb8c3f0c1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fb8c3f0c1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fb8c3f0c1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fb8c3f0c1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fb8c3f0c1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fb8c3f0c1a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fb8c3f0c1a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fb8c3f0c1a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fb8c3f0c1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06e3b9ded6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06e3b9ded6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fb8c3f0c1a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fb8c3f0c1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fb8c3f0c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fb8c3f0c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fb8c3f0c1a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fb8c3f0c1a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fb8c3f0c1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fb8c3f0c1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fb8c3f0c1a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fb8c3f0c1a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fb8c3f0c1a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fb8c3f0c1a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fb8c3f0c1a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fb8c3f0c1a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fb8c3f0c1a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fb8c3f0c1a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fb8c3f0c1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fb8c3f0c1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fe9e2d05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fe9e2d05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fb8c3f0c1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fb8c3f0c1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fb8c3f0c1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fb8c3f0c1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fb8c3f0c1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fb8c3f0c1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fe9e2d050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fe9e2d050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f577d31db3_0_4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f577d31db3_0_4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f577d31db3_0_4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f577d31db3_0_4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74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74.png"/><Relationship Id="rId4" Type="http://schemas.openxmlformats.org/officeDocument/2006/relationships/image" Target="../media/image35.png"/><Relationship Id="rId9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74.png"/><Relationship Id="rId4" Type="http://schemas.openxmlformats.org/officeDocument/2006/relationships/image" Target="../media/image44.png"/><Relationship Id="rId11" Type="http://schemas.openxmlformats.org/officeDocument/2006/relationships/image" Target="../media/image33.png"/><Relationship Id="rId10" Type="http://schemas.openxmlformats.org/officeDocument/2006/relationships/image" Target="../media/image49.png"/><Relationship Id="rId9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5.png"/><Relationship Id="rId8" Type="http://schemas.openxmlformats.org/officeDocument/2006/relationships/image" Target="../media/image3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6.png"/><Relationship Id="rId4" Type="http://schemas.openxmlformats.org/officeDocument/2006/relationships/image" Target="../media/image5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5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3"/>
          <p:cNvGrpSpPr/>
          <p:nvPr/>
        </p:nvGrpSpPr>
        <p:grpSpPr>
          <a:xfrm>
            <a:off x="2475040" y="1859748"/>
            <a:ext cx="1688103" cy="1373213"/>
            <a:chOff x="2642961" y="1644312"/>
            <a:chExt cx="1454634" cy="1195657"/>
          </a:xfrm>
        </p:grpSpPr>
        <p:pic>
          <p:nvPicPr>
            <p:cNvPr id="223" name="Google Shape;223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5" name="Google Shape;22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6" name="Google Shape;226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7" name="Google Shape;227;p23"/>
          <p:cNvPicPr preferRelativeResize="0"/>
          <p:nvPr/>
        </p:nvPicPr>
        <p:blipFill rotWithShape="1">
          <a:blip r:embed="rId6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475" y="2016159"/>
            <a:ext cx="1976824" cy="11178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9" name="Google Shape;229;p23"/>
          <p:cNvPicPr preferRelativeResize="0"/>
          <p:nvPr/>
        </p:nvPicPr>
        <p:blipFill rotWithShape="1">
          <a:blip r:embed="rId6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 rotWithShape="1">
          <a:blip r:embed="rId6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 rotWithShape="1">
          <a:blip r:embed="rId6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28"/>
          <p:cNvCxnSpPr>
            <a:endCxn id="284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5" name="Google Shape;2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84" name="Google Shape;28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8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90" name="Google Shape;290;p28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29"/>
          <p:cNvCxnSpPr>
            <a:endCxn id="299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06" name="Google Shape;306;p29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29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29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9" name="Google Shape;31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7" name="Google Shape;327;p30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8" name="Google Shape;328;p30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30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0" name="Google Shape;330;p30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5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5" name="Google Shape;365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6" name="Google Shape;366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8" name="Google Shape;368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9" name="Google Shape;36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1" name="Google Shape;371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7" name="Google Shape;377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8" name="Google Shape;378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0" name="Google Shape;380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81" name="Google Shape;381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3" name="Google Shape;383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91" name="Google Shape;3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4" name="Google Shape;394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6" name="Google Shape;396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7" name="Google Shape;397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3" name="Google Shape;403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4" name="Google Shape;404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7" name="Google Shape;40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9" name="Google Shape;409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9" name="Google Shape;419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21" name="Google Shape;421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1" name="Google Shape;43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6" name="Google Shape;436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7" name="Google Shape;437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8" name="Google Shape;438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6" name="Google Shape;44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1" name="Google Shape;451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2" name="Google Shape;452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53" name="Google Shape;453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1" name="Google Shape;46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7" name="Google Shape;467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8" name="Google Shape;468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3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5" name="Google Shape;47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8" name="Google Shape;478;p4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0" name="Google Shape;480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81" name="Google Shape;4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3" name="Google Shape;483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84" name="Google Shape;4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6" name="Google Shape;486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7" name="Google Shape;4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89" name="Google Shape;489;p43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6" name="Google Shape;496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7" name="Google Shape;497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8" name="Google Shape;498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9" name="Google Shape;49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1" name="Google Shape;501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02" name="Google Shape;50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4" name="Google Shape;504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5" name="Google Shape;50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07" name="Google Shape;507;p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4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6" name="Google Shape;516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7" name="Google Shape;517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8" name="Google Shape;51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0" name="Google Shape;520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21" name="Google Shape;52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3" name="Google Shape;523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4" name="Google Shape;52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6" name="Google Shape;526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7" name="Google Shape;537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40" name="Google Shape;540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43" name="Google Shape;54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5" name="Google Shape;545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3" name="Google Shape;553;p4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4" name="Google Shape;554;p4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5" name="Google Shape;555;p4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6" name="Google Shape;556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7" name="Google Shape;557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9" name="Google Shape;559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60" name="Google Shape;560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2" name="Google Shape;562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63" name="Google Shape;56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5" name="Google Shape;565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6" name="Google Shape;56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8" name="Google Shape;568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9" name="Google Shape;569;p4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5" name="Google Shape;575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6" name="Google Shape;576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7" name="Google Shape;577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8" name="Google Shape;578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9" name="Google Shape;579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80" name="Google Shape;580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2" name="Google Shape;582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83" name="Google Shape;58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5" name="Google Shape;585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6" name="Google Shape;58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7" name="Google Shape;58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8" name="Google Shape;588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9" name="Google Shape;58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91" name="Google Shape;591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2" name="Google Shape;592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7" name="Google Shape;59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0" name="Google Shape;600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1" name="Google Shape;601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2" name="Google Shape;602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03" name="Google Shape;603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04" name="Google Shape;60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6" name="Google Shape;606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7" name="Google Shape;60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8" name="Google Shape;60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9" name="Google Shape;609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10" name="Google Shape;61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2" name="Google Shape;612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13" name="Google Shape;613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15" name="Google Shape;615;p4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20" name="Google Shape;62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3" name="Google Shape;623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4" name="Google Shape;624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5" name="Google Shape;625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6" name="Google Shape;626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7" name="Google Shape;627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30" name="Google Shape;630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2" name="Google Shape;632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33" name="Google Shape;633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5" name="Google Shape;635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6" name="Google Shape;63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38" name="Google Shape;638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2" name="Google Shape;64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5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5" name="Google Shape;645;p5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5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7" name="Google Shape;647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8" name="Google Shape;648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9" name="Google Shape;649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0" name="Google Shape;650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51" name="Google Shape;651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3" name="Google Shape;653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4" name="Google Shape;65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6" name="Google Shape;656;p5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7" name="Google Shape;657;p5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4" name="Google Shape;664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6" name="Google Shape;666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7" name="Google Shape;667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9" name="Google Shape;669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70" name="Google Shape;670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2" name="Google Shape;672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73" name="Google Shape;67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75" name="Google Shape;675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0" name="Google Shape;6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3" name="Google Shape;683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4" name="Google Shape;684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5" name="Google Shape;685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6" name="Google Shape;686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8" name="Google Shape;688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9" name="Google Shape;689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0" name="Google Shape;690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1" name="Google Shape;691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92" name="Google Shape;69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94" name="Google Shape;694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5" name="Google Shape;695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3" name="Google Shape;703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4" name="Google Shape;704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5" name="Google Shape;70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6" name="Google Shape;70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7" name="Google Shape;707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8" name="Google Shape;70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0" name="Google Shape;710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11" name="Google Shape;71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13" name="Google Shape;713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4" name="Google Shape;714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8" name="Google Shape;728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2" name="Google Shape;73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5" name="Google Shape;735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0" name="Google Shape;74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5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5" name="Google Shape;75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8" name="Google Shape;758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3" name="Google Shape;76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5" name="Google Shape;765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6" name="Google Shape;766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1" name="Google Shape;77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8" name="Google Shape;77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2" name="Google Shape;782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7" name="Google Shape;78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8" name="Google Shape;798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6" name="Google Shape;806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9" name="Google Shape;809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5" name="Google Shape;815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7" name="Google Shape;817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0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1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2" Type="http://schemas.openxmlformats.org/officeDocument/2006/relationships/theme" Target="../theme/theme2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9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Relationship Id="rId6" Type="http://schemas.openxmlformats.org/officeDocument/2006/relationships/image" Target="../media/image7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839" name="Google Shape;839;p7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and the 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 txBox="1"/>
          <p:nvPr/>
        </p:nvSpPr>
        <p:spPr>
          <a:xfrm>
            <a:off x="4824000" y="1184625"/>
            <a:ext cx="39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plan a journey and consider which available form of transport is best.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5"/>
          <p:cNvSpPr txBox="1"/>
          <p:nvPr>
            <p:ph idx="6" type="subTitle"/>
          </p:nvPr>
        </p:nvSpPr>
        <p:spPr>
          <a:xfrm>
            <a:off x="324000" y="1025475"/>
            <a:ext cx="8496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quick estimate for a calculation is obtained from using approximate values, often rounded to 1 significant figure.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860" name="Google Shape;860;p76"/>
          <p:cNvSpPr txBox="1"/>
          <p:nvPr>
            <p:ph idx="2" type="title"/>
          </p:nvPr>
        </p:nvSpPr>
        <p:spPr>
          <a:xfrm>
            <a:off x="324000" y="7338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Considering a route</a:t>
            </a:r>
            <a:endParaRPr sz="1800"/>
          </a:p>
        </p:txBody>
      </p:sp>
      <p:sp>
        <p:nvSpPr>
          <p:cNvPr id="861" name="Google Shape;861;p76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</a:t>
            </a:r>
            <a:r>
              <a:rPr lang="en-GB"/>
              <a:t>journey</a:t>
            </a:r>
            <a:r>
              <a:rPr lang="en-GB"/>
              <a:t> that includes changeovers</a:t>
            </a:r>
            <a:endParaRPr/>
          </a:p>
        </p:txBody>
      </p:sp>
      <p:pic>
        <p:nvPicPr>
          <p:cNvPr id="862" name="Google Shape;86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98" y="205421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we plan a journey, there are sometimes multiple options available for the method of transport.</a:t>
            </a:r>
            <a:endParaRPr sz="2000"/>
          </a:p>
        </p:txBody>
      </p:sp>
      <p:sp>
        <p:nvSpPr>
          <p:cNvPr id="868" name="Google Shape;868;p7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869" name="Google Shape;869;p77"/>
          <p:cNvSpPr txBox="1"/>
          <p:nvPr>
            <p:ph idx="1" type="body"/>
          </p:nvPr>
        </p:nvSpPr>
        <p:spPr>
          <a:xfrm>
            <a:off x="324000" y="3379500"/>
            <a:ext cx="491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car</a:t>
            </a:r>
            <a:endParaRPr sz="2000"/>
          </a:p>
        </p:txBody>
      </p:sp>
      <p:sp>
        <p:nvSpPr>
          <p:cNvPr id="870" name="Google Shape;870;p77"/>
          <p:cNvSpPr txBox="1"/>
          <p:nvPr>
            <p:ph idx="1" type="body"/>
          </p:nvPr>
        </p:nvSpPr>
        <p:spPr>
          <a:xfrm>
            <a:off x="2516541" y="3379500"/>
            <a:ext cx="491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bus</a:t>
            </a:r>
            <a:endParaRPr sz="2000"/>
          </a:p>
        </p:txBody>
      </p:sp>
      <p:sp>
        <p:nvSpPr>
          <p:cNvPr id="871" name="Google Shape;871;p77"/>
          <p:cNvSpPr txBox="1"/>
          <p:nvPr>
            <p:ph idx="1" type="body"/>
          </p:nvPr>
        </p:nvSpPr>
        <p:spPr>
          <a:xfrm>
            <a:off x="4709082" y="3379500"/>
            <a:ext cx="651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train</a:t>
            </a:r>
            <a:endParaRPr sz="2000"/>
          </a:p>
        </p:txBody>
      </p:sp>
      <p:sp>
        <p:nvSpPr>
          <p:cNvPr id="872" name="Google Shape;872;p77"/>
          <p:cNvSpPr txBox="1"/>
          <p:nvPr>
            <p:ph idx="1" type="body"/>
          </p:nvPr>
        </p:nvSpPr>
        <p:spPr>
          <a:xfrm>
            <a:off x="6930778" y="3379500"/>
            <a:ext cx="17043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</a:t>
            </a:r>
            <a:r>
              <a:rPr lang="en-GB" sz="2000"/>
              <a:t>nderground train</a:t>
            </a:r>
            <a:endParaRPr sz="2000"/>
          </a:p>
        </p:txBody>
      </p:sp>
      <p:sp>
        <p:nvSpPr>
          <p:cNvPr id="873" name="Google Shape;873;p77"/>
          <p:cNvSpPr txBox="1"/>
          <p:nvPr>
            <p:ph idx="1" type="body"/>
          </p:nvPr>
        </p:nvSpPr>
        <p:spPr>
          <a:xfrm>
            <a:off x="324000" y="1703100"/>
            <a:ext cx="1467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Examples:</a:t>
            </a:r>
            <a:endParaRPr sz="2000"/>
          </a:p>
        </p:txBody>
      </p:sp>
      <p:sp>
        <p:nvSpPr>
          <p:cNvPr id="874" name="Google Shape;874;p77"/>
          <p:cNvSpPr txBox="1"/>
          <p:nvPr>
            <p:ph idx="1" type="body"/>
          </p:nvPr>
        </p:nvSpPr>
        <p:spPr>
          <a:xfrm>
            <a:off x="324000" y="4172226"/>
            <a:ext cx="78876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factors may affect which mode of transport somebody chooses for their journey?</a:t>
            </a:r>
            <a:endParaRPr sz="2000"/>
          </a:p>
        </p:txBody>
      </p:sp>
      <p:pic>
        <p:nvPicPr>
          <p:cNvPr id="875" name="Google Shape;87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130" y="1823050"/>
            <a:ext cx="1908135" cy="176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02" y="2426100"/>
            <a:ext cx="1759994" cy="79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7"/>
          <p:cNvPicPr preferRelativeResize="0"/>
          <p:nvPr/>
        </p:nvPicPr>
        <p:blipFill rotWithShape="1">
          <a:blip r:embed="rId5">
            <a:alphaModFix/>
          </a:blip>
          <a:srcRect b="0" l="0" r="23809" t="0"/>
          <a:stretch/>
        </p:blipFill>
        <p:spPr>
          <a:xfrm>
            <a:off x="4372653" y="2379975"/>
            <a:ext cx="2019799" cy="83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7"/>
          <p:cNvPicPr preferRelativeResize="0"/>
          <p:nvPr/>
        </p:nvPicPr>
        <p:blipFill rotWithShape="1">
          <a:blip r:embed="rId6">
            <a:alphaModFix/>
          </a:blip>
          <a:srcRect b="0" l="0" r="19672" t="0"/>
          <a:stretch/>
        </p:blipFill>
        <p:spPr>
          <a:xfrm>
            <a:off x="6726925" y="2238800"/>
            <a:ext cx="1908150" cy="9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8"/>
          <p:cNvSpPr txBox="1"/>
          <p:nvPr>
            <p:ph idx="1" type="body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many factors that may affect a person’s choice of transport. Examples include:</a:t>
            </a:r>
            <a:endParaRPr sz="2000"/>
          </a:p>
        </p:txBody>
      </p:sp>
      <p:sp>
        <p:nvSpPr>
          <p:cNvPr id="884" name="Google Shape;884;p7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885" name="Google Shape;885;p78"/>
          <p:cNvSpPr txBox="1"/>
          <p:nvPr>
            <p:ph idx="1" type="body"/>
          </p:nvPr>
        </p:nvSpPr>
        <p:spPr>
          <a:xfrm>
            <a:off x="324000" y="1657625"/>
            <a:ext cx="8202600" cy="30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time a journey would take using each mode of transport;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</a:t>
            </a:r>
            <a:r>
              <a:rPr lang="en-GB" sz="2000"/>
              <a:t>he cost of a journey using each mode of transport;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availability of different forms of public transport in their area;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</a:t>
            </a:r>
            <a:r>
              <a:rPr lang="en-GB" sz="2000"/>
              <a:t>he availability of car parking spaces;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h</a:t>
            </a:r>
            <a:r>
              <a:rPr lang="en-GB" sz="2000"/>
              <a:t>ow much road traffic there may be at the time of travel;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h</a:t>
            </a:r>
            <a:r>
              <a:rPr lang="en-GB" sz="2000"/>
              <a:t>ow busy public transport will be at the time of travel;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</a:t>
            </a:r>
            <a:r>
              <a:rPr lang="en-GB" sz="2000"/>
              <a:t>he environmental impact of each mode of transport.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9"/>
          <p:cNvSpPr txBox="1"/>
          <p:nvPr>
            <p:ph idx="1" type="body"/>
          </p:nvPr>
        </p:nvSpPr>
        <p:spPr>
          <a:xfrm>
            <a:off x="324000" y="810000"/>
            <a:ext cx="84795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Journey planners, such as apps or websites, can be helpful for planning a journey.</a:t>
            </a:r>
            <a:endParaRPr sz="2000"/>
          </a:p>
        </p:txBody>
      </p:sp>
      <p:sp>
        <p:nvSpPr>
          <p:cNvPr id="891" name="Google Shape;891;p7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892" name="Google Shape;892;p79"/>
          <p:cNvSpPr txBox="1"/>
          <p:nvPr>
            <p:ph idx="1" type="body"/>
          </p:nvPr>
        </p:nvSpPr>
        <p:spPr>
          <a:xfrm>
            <a:off x="324000" y="1751700"/>
            <a:ext cx="84795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can estimate how long a journey could take using different modes of transport, suggest possible routes and which trains/buses you could catch.</a:t>
            </a:r>
            <a:endParaRPr sz="2000"/>
          </a:p>
        </p:txBody>
      </p:sp>
      <p:sp>
        <p:nvSpPr>
          <p:cNvPr id="893" name="Google Shape;893;p79"/>
          <p:cNvSpPr txBox="1"/>
          <p:nvPr>
            <p:ph idx="1" type="body"/>
          </p:nvPr>
        </p:nvSpPr>
        <p:spPr>
          <a:xfrm>
            <a:off x="324000" y="3047400"/>
            <a:ext cx="84795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While these provide suggested routes, the final decisions about a journey are made by the person who is travelling.</a:t>
            </a:r>
            <a:endParaRPr sz="2000"/>
          </a:p>
        </p:txBody>
      </p:sp>
      <p:sp>
        <p:nvSpPr>
          <p:cNvPr id="894" name="Google Shape;894;p79"/>
          <p:cNvSpPr txBox="1"/>
          <p:nvPr>
            <p:ph idx="1" type="body"/>
          </p:nvPr>
        </p:nvSpPr>
        <p:spPr>
          <a:xfrm>
            <a:off x="324000" y="3989100"/>
            <a:ext cx="82869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ecisions about modes of transport may depend on factors that are not considered by a journey planner.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0"/>
          <p:cNvSpPr txBox="1"/>
          <p:nvPr>
            <p:ph idx="1" type="body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and her father are planning to visit a museum. They are trying to decide whether it would be quicker to travel by car or by bus.</a:t>
            </a:r>
            <a:endParaRPr sz="2000"/>
          </a:p>
        </p:txBody>
      </p:sp>
      <p:sp>
        <p:nvSpPr>
          <p:cNvPr id="900" name="Google Shape;900;p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01" name="Google Shape;901;p80"/>
          <p:cNvSpPr txBox="1"/>
          <p:nvPr>
            <p:ph idx="1" type="body"/>
          </p:nvPr>
        </p:nvSpPr>
        <p:spPr>
          <a:xfrm>
            <a:off x="324000" y="16269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might travelling by bus take </a:t>
            </a:r>
            <a:r>
              <a:rPr lang="en-GB" sz="2000">
                <a:solidFill>
                  <a:schemeClr val="accent4"/>
                </a:solidFill>
              </a:rPr>
              <a:t>more time</a:t>
            </a:r>
            <a:r>
              <a:rPr lang="en-GB" sz="2000"/>
              <a:t> than travelling by car?</a:t>
            </a:r>
            <a:endParaRPr sz="2000"/>
          </a:p>
        </p:txBody>
      </p:sp>
      <p:sp>
        <p:nvSpPr>
          <p:cNvPr id="902" name="Google Shape;902;p80"/>
          <p:cNvSpPr txBox="1"/>
          <p:nvPr>
            <p:ph idx="1" type="body"/>
          </p:nvPr>
        </p:nvSpPr>
        <p:spPr>
          <a:xfrm>
            <a:off x="324000" y="33033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might travelling by bus take </a:t>
            </a:r>
            <a:r>
              <a:rPr lang="en-GB" sz="2000">
                <a:solidFill>
                  <a:schemeClr val="accent4"/>
                </a:solidFill>
              </a:rPr>
              <a:t>less</a:t>
            </a:r>
            <a:r>
              <a:rPr lang="en-GB" sz="2000">
                <a:solidFill>
                  <a:schemeClr val="accent4"/>
                </a:solidFill>
              </a:rPr>
              <a:t> time</a:t>
            </a:r>
            <a:r>
              <a:rPr lang="en-GB" sz="2000"/>
              <a:t> than travelling by car?</a:t>
            </a:r>
            <a:endParaRPr sz="2000"/>
          </a:p>
        </p:txBody>
      </p:sp>
      <p:sp>
        <p:nvSpPr>
          <p:cNvPr id="903" name="Google Shape;903;p80"/>
          <p:cNvSpPr txBox="1"/>
          <p:nvPr>
            <p:ph idx="1" type="body"/>
          </p:nvPr>
        </p:nvSpPr>
        <p:spPr>
          <a:xfrm>
            <a:off x="324000" y="20841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will need to walk to a bus stop.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bus may take an indirect route.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Buses stop regularly to pick up and drop off passengers.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4" name="Google Shape;904;p80"/>
          <p:cNvSpPr txBox="1"/>
          <p:nvPr>
            <p:ph idx="1" type="body"/>
          </p:nvPr>
        </p:nvSpPr>
        <p:spPr>
          <a:xfrm>
            <a:off x="324000" y="37605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bus may be able to overtake busy traffic by using a bus lane.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might not be a car park near the museum.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81"/>
          <p:cNvSpPr txBox="1"/>
          <p:nvPr>
            <p:ph idx="1" type="body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 option could be to travel by train.</a:t>
            </a:r>
            <a:endParaRPr sz="2000"/>
          </a:p>
        </p:txBody>
      </p:sp>
      <p:sp>
        <p:nvSpPr>
          <p:cNvPr id="910" name="Google Shape;910;p8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11" name="Google Shape;911;p81"/>
          <p:cNvSpPr txBox="1"/>
          <p:nvPr>
            <p:ph idx="1" type="body"/>
          </p:nvPr>
        </p:nvSpPr>
        <p:spPr>
          <a:xfrm>
            <a:off x="324000" y="13221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might travelling by train take </a:t>
            </a:r>
            <a:r>
              <a:rPr lang="en-GB" sz="2000">
                <a:solidFill>
                  <a:schemeClr val="accent4"/>
                </a:solidFill>
              </a:rPr>
              <a:t>less</a:t>
            </a:r>
            <a:r>
              <a:rPr lang="en-GB" sz="2000">
                <a:solidFill>
                  <a:schemeClr val="accent4"/>
                </a:solidFill>
              </a:rPr>
              <a:t> time</a:t>
            </a:r>
            <a:r>
              <a:rPr lang="en-GB" sz="2000"/>
              <a:t> than travelling by bus?</a:t>
            </a:r>
            <a:endParaRPr sz="2000"/>
          </a:p>
        </p:txBody>
      </p:sp>
      <p:sp>
        <p:nvSpPr>
          <p:cNvPr id="912" name="Google Shape;912;p81"/>
          <p:cNvSpPr txBox="1"/>
          <p:nvPr>
            <p:ph idx="1" type="body"/>
          </p:nvPr>
        </p:nvSpPr>
        <p:spPr>
          <a:xfrm>
            <a:off x="324000" y="30747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Why might travelling by train take </a:t>
            </a:r>
            <a:r>
              <a:rPr lang="en-GB" sz="2000">
                <a:solidFill>
                  <a:schemeClr val="accent4"/>
                </a:solidFill>
              </a:rPr>
              <a:t>more time</a:t>
            </a:r>
            <a:r>
              <a:rPr lang="en-GB" sz="2000"/>
              <a:t> than travelling by bus?</a:t>
            </a:r>
            <a:endParaRPr sz="2000"/>
          </a:p>
        </p:txBody>
      </p:sp>
      <p:sp>
        <p:nvSpPr>
          <p:cNvPr id="913" name="Google Shape;913;p81"/>
          <p:cNvSpPr txBox="1"/>
          <p:nvPr>
            <p:ph idx="1" type="body"/>
          </p:nvPr>
        </p:nvSpPr>
        <p:spPr>
          <a:xfrm>
            <a:off x="324000" y="17793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Trains tend to travel faster than buses.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Trains are not affected by road traffic.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Trains have fewer stops compared to a bus journey of the same length.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81"/>
          <p:cNvSpPr txBox="1"/>
          <p:nvPr>
            <p:ph idx="1" type="body"/>
          </p:nvPr>
        </p:nvSpPr>
        <p:spPr>
          <a:xfrm>
            <a:off x="324000" y="3531900"/>
            <a:ext cx="84960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fewer railway stations than bus stops, so you may have to walk further to get to/from 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railway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station.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trains on a route might be less frequent than buses.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2"/>
          <p:cNvSpPr txBox="1"/>
          <p:nvPr>
            <p:ph idx="1" type="body"/>
          </p:nvPr>
        </p:nvSpPr>
        <p:spPr>
          <a:xfrm>
            <a:off x="324000" y="810000"/>
            <a:ext cx="8496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her </a:t>
            </a:r>
            <a:r>
              <a:rPr lang="en-GB" sz="2000"/>
              <a:t>father</a:t>
            </a:r>
            <a:r>
              <a:rPr lang="en-GB" sz="2000"/>
              <a:t> are planning to visit a museum. </a:t>
            </a:r>
            <a:br>
              <a:rPr lang="en-GB" sz="2000"/>
            </a:br>
            <a:r>
              <a:rPr lang="en-GB" sz="2000"/>
              <a:t>They consider how much time it would take to travel by bus.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nearest bus stop to their home is a 10-minute walk away.</a:t>
            </a:r>
            <a:br>
              <a:rPr lang="en-GB" sz="2000"/>
            </a:br>
            <a:r>
              <a:rPr lang="en-GB" sz="2000"/>
              <a:t>They would board the bus at 13:42 and alight at 14:13. </a:t>
            </a:r>
            <a:br>
              <a:rPr lang="en-GB" sz="2000"/>
            </a:br>
            <a:r>
              <a:rPr lang="en-GB" sz="2000"/>
              <a:t>The nearest bus stop to the museum is a 5-minute walk away.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would be the total journey time?</a:t>
            </a:r>
            <a:endParaRPr sz="2000"/>
          </a:p>
        </p:txBody>
      </p:sp>
      <p:sp>
        <p:nvSpPr>
          <p:cNvPr id="920" name="Google Shape;920;p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21" name="Google Shape;921;p82"/>
          <p:cNvSpPr txBox="1"/>
          <p:nvPr>
            <p:ph idx="1" type="body"/>
          </p:nvPr>
        </p:nvSpPr>
        <p:spPr>
          <a:xfrm>
            <a:off x="521867" y="3339250"/>
            <a:ext cx="5703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spent on the bus: 18 + 13 = 31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2" name="Google Shape;922;p82"/>
          <p:cNvSpPr txBox="1"/>
          <p:nvPr>
            <p:ph idx="1" type="body"/>
          </p:nvPr>
        </p:nvSpPr>
        <p:spPr>
          <a:xfrm>
            <a:off x="1063563" y="3872650"/>
            <a:ext cx="648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spent walking: 10 + 5 = 15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3" name="Google Shape;923;p82"/>
          <p:cNvSpPr txBox="1"/>
          <p:nvPr>
            <p:ph idx="1" type="body"/>
          </p:nvPr>
        </p:nvSpPr>
        <p:spPr>
          <a:xfrm>
            <a:off x="1094289" y="4406050"/>
            <a:ext cx="648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journey time: 31 + 15 = 46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4" name="Google Shape;924;p82"/>
          <p:cNvSpPr txBox="1"/>
          <p:nvPr>
            <p:ph idx="1" type="body"/>
          </p:nvPr>
        </p:nvSpPr>
        <p:spPr>
          <a:xfrm>
            <a:off x="8126885" y="2034414"/>
            <a:ext cx="7011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13:4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14:00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14:13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82"/>
          <p:cNvSpPr txBox="1"/>
          <p:nvPr>
            <p:ph idx="1" type="body"/>
          </p:nvPr>
        </p:nvSpPr>
        <p:spPr>
          <a:xfrm>
            <a:off x="8430603" y="2392359"/>
            <a:ext cx="701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+18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6" name="Google Shape;926;p82"/>
          <p:cNvSpPr txBox="1"/>
          <p:nvPr>
            <p:ph idx="1" type="body"/>
          </p:nvPr>
        </p:nvSpPr>
        <p:spPr>
          <a:xfrm>
            <a:off x="8430603" y="3186480"/>
            <a:ext cx="701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+13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27" name="Google Shape;927;p82"/>
          <p:cNvCxnSpPr/>
          <p:nvPr/>
        </p:nvCxnSpPr>
        <p:spPr>
          <a:xfrm>
            <a:off x="3924011" y="2292956"/>
            <a:ext cx="576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82"/>
          <p:cNvCxnSpPr/>
          <p:nvPr/>
        </p:nvCxnSpPr>
        <p:spPr>
          <a:xfrm>
            <a:off x="6286211" y="2292956"/>
            <a:ext cx="576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82"/>
          <p:cNvCxnSpPr/>
          <p:nvPr/>
        </p:nvCxnSpPr>
        <p:spPr>
          <a:xfrm>
            <a:off x="8381477" y="2367725"/>
            <a:ext cx="0" cy="56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82"/>
          <p:cNvCxnSpPr/>
          <p:nvPr/>
        </p:nvCxnSpPr>
        <p:spPr>
          <a:xfrm>
            <a:off x="8381477" y="3154914"/>
            <a:ext cx="0" cy="56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3"/>
          <p:cNvSpPr txBox="1"/>
          <p:nvPr>
            <p:ph idx="1" type="body"/>
          </p:nvPr>
        </p:nvSpPr>
        <p:spPr>
          <a:xfrm>
            <a:off x="324000" y="810000"/>
            <a:ext cx="82377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her </a:t>
            </a:r>
            <a:r>
              <a:rPr lang="en-GB" sz="2000"/>
              <a:t>father</a:t>
            </a:r>
            <a:r>
              <a:rPr lang="en-GB" sz="2000"/>
              <a:t> are planning to visit a museum. </a:t>
            </a:r>
            <a:br>
              <a:rPr lang="en-GB" sz="2000"/>
            </a:br>
            <a:r>
              <a:rPr lang="en-GB" sz="2000"/>
              <a:t>They consider how much time it would take to travel by car.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nearest car park to the museum is a 20-minute walk away. </a:t>
            </a:r>
            <a:br>
              <a:rPr lang="en-GB" sz="2000"/>
            </a:br>
            <a:r>
              <a:rPr lang="en-GB" sz="2000"/>
              <a:t>It would take </a:t>
            </a:r>
            <a:r>
              <a:rPr lang="en-GB" sz="2000"/>
              <a:t>25</a:t>
            </a:r>
            <a:r>
              <a:rPr lang="en-GB" sz="2000"/>
              <a:t> minutes to drive to the car park.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would be the total journey time?</a:t>
            </a:r>
            <a:endParaRPr sz="2000"/>
          </a:p>
        </p:txBody>
      </p:sp>
      <p:sp>
        <p:nvSpPr>
          <p:cNvPr id="936" name="Google Shape;936;p8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37" name="Google Shape;937;p83"/>
          <p:cNvSpPr txBox="1"/>
          <p:nvPr>
            <p:ph idx="1" type="body"/>
          </p:nvPr>
        </p:nvSpPr>
        <p:spPr>
          <a:xfrm>
            <a:off x="3112671" y="3263050"/>
            <a:ext cx="288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20 +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45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4"/>
          <p:cNvSpPr txBox="1"/>
          <p:nvPr>
            <p:ph idx="1" type="body"/>
          </p:nvPr>
        </p:nvSpPr>
        <p:spPr>
          <a:xfrm>
            <a:off x="324000" y="810000"/>
            <a:ext cx="87036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her </a:t>
            </a:r>
            <a:r>
              <a:rPr lang="en-GB" sz="2000"/>
              <a:t>father</a:t>
            </a:r>
            <a:r>
              <a:rPr lang="en-GB" sz="2000"/>
              <a:t> are planning to visit a museum. </a:t>
            </a:r>
            <a:br>
              <a:rPr lang="en-GB" sz="2000"/>
            </a:br>
            <a:r>
              <a:rPr lang="en-GB" sz="2000"/>
              <a:t>They consider how much time it would take to travel by train.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nearest railway station to their home is a 20-minute walk away.</a:t>
            </a:r>
            <a:br>
              <a:rPr lang="en-GB" sz="2000"/>
            </a:br>
            <a:r>
              <a:rPr lang="en-GB" sz="2000"/>
              <a:t>They would board the train at 13:56 and alight at 14:05. </a:t>
            </a:r>
            <a:br>
              <a:rPr lang="en-GB" sz="2000"/>
            </a:br>
            <a:r>
              <a:rPr lang="en-GB" sz="2000"/>
              <a:t>The nearest railway station to the museum is a 10-minute walk away.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would be the total journey time?</a:t>
            </a:r>
            <a:endParaRPr sz="2000"/>
          </a:p>
        </p:txBody>
      </p:sp>
      <p:sp>
        <p:nvSpPr>
          <p:cNvPr id="943" name="Google Shape;943;p84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44" name="Google Shape;944;p84"/>
          <p:cNvSpPr txBox="1"/>
          <p:nvPr>
            <p:ph idx="1" type="body"/>
          </p:nvPr>
        </p:nvSpPr>
        <p:spPr>
          <a:xfrm>
            <a:off x="555906" y="3414900"/>
            <a:ext cx="5703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spent on the train: 4 +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84"/>
          <p:cNvSpPr txBox="1"/>
          <p:nvPr>
            <p:ph idx="1" type="body"/>
          </p:nvPr>
        </p:nvSpPr>
        <p:spPr>
          <a:xfrm>
            <a:off x="899113" y="3948300"/>
            <a:ext cx="648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spent walking: 20 + 10 = 30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6" name="Google Shape;946;p84"/>
          <p:cNvSpPr txBox="1"/>
          <p:nvPr>
            <p:ph idx="1" type="body"/>
          </p:nvPr>
        </p:nvSpPr>
        <p:spPr>
          <a:xfrm>
            <a:off x="1112965" y="4481700"/>
            <a:ext cx="648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journey time: 30 + 9 = 39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5"/>
          <p:cNvSpPr txBox="1"/>
          <p:nvPr>
            <p:ph idx="1" type="body"/>
          </p:nvPr>
        </p:nvSpPr>
        <p:spPr>
          <a:xfrm>
            <a:off x="324000" y="810000"/>
            <a:ext cx="9306000" cy="21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 and her father</a:t>
            </a:r>
            <a:r>
              <a:rPr lang="en-GB" sz="1800"/>
              <a:t> consider how much a journey would cost to travel by car.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journey planner says that the car park is 6.8 miles away from their home.</a:t>
            </a:r>
            <a:br>
              <a:rPr lang="en-GB" sz="1800"/>
            </a:br>
            <a:r>
              <a:rPr lang="en-GB" sz="1800"/>
              <a:t>On average, their car travels 40 miles per gallon of petrol.</a:t>
            </a:r>
            <a:br>
              <a:rPr lang="en-GB" sz="1800"/>
            </a:br>
            <a:r>
              <a:rPr lang="en-GB" sz="1800"/>
              <a:t>At their nearest petrol station, petrol is sold for 142.9 p per litre.</a:t>
            </a:r>
            <a:br>
              <a:rPr lang="en-GB" sz="1800"/>
            </a:br>
            <a:r>
              <a:rPr lang="en-GB" sz="1800"/>
              <a:t>1 gallon ≈ 4.546 litres.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would be the cost of petrol required for the journey?</a:t>
            </a:r>
            <a:endParaRPr sz="1800"/>
          </a:p>
        </p:txBody>
      </p:sp>
      <p:sp>
        <p:nvSpPr>
          <p:cNvPr id="952" name="Google Shape;952;p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53" name="Google Shape;953;p85"/>
          <p:cNvSpPr txBox="1"/>
          <p:nvPr>
            <p:ph idx="1" type="body"/>
          </p:nvPr>
        </p:nvSpPr>
        <p:spPr>
          <a:xfrm>
            <a:off x="705000" y="30951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Petrol used in 1 mile: 1 ÷ 40 = 0.025 gallons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4" name="Google Shape;954;p85"/>
          <p:cNvSpPr txBox="1"/>
          <p:nvPr>
            <p:ph idx="1" type="body"/>
          </p:nvPr>
        </p:nvSpPr>
        <p:spPr>
          <a:xfrm>
            <a:off x="705000" y="3570019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Petrol used in 6.8 miles: 0.025 × 6.8 = 0.17 gallons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85"/>
          <p:cNvSpPr txBox="1"/>
          <p:nvPr>
            <p:ph idx="1" type="body"/>
          </p:nvPr>
        </p:nvSpPr>
        <p:spPr>
          <a:xfrm>
            <a:off x="705000" y="4044937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Convert to litres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 0.17 × 4.546 = 0.77282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85"/>
          <p:cNvSpPr txBox="1"/>
          <p:nvPr>
            <p:ph idx="1" type="body"/>
          </p:nvPr>
        </p:nvSpPr>
        <p:spPr>
          <a:xfrm>
            <a:off x="705000" y="4519856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Cost of petrol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 0.77282 × 142.9 = 110.435… p ≈ £1.10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57" name="Google Shape;957;p85"/>
          <p:cNvCxnSpPr/>
          <p:nvPr/>
        </p:nvCxnSpPr>
        <p:spPr>
          <a:xfrm>
            <a:off x="3556544" y="1838175"/>
            <a:ext cx="207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85"/>
          <p:cNvCxnSpPr/>
          <p:nvPr/>
        </p:nvCxnSpPr>
        <p:spPr>
          <a:xfrm>
            <a:off x="5105732" y="1525694"/>
            <a:ext cx="892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85"/>
          <p:cNvCxnSpPr/>
          <p:nvPr/>
        </p:nvCxnSpPr>
        <p:spPr>
          <a:xfrm>
            <a:off x="323994" y="2492319"/>
            <a:ext cx="2303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85"/>
          <p:cNvCxnSpPr/>
          <p:nvPr/>
        </p:nvCxnSpPr>
        <p:spPr>
          <a:xfrm>
            <a:off x="5613944" y="2159994"/>
            <a:ext cx="1606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6"/>
          <p:cNvSpPr txBox="1"/>
          <p:nvPr>
            <p:ph idx="1" type="body"/>
          </p:nvPr>
        </p:nvSpPr>
        <p:spPr>
          <a:xfrm>
            <a:off x="324000" y="810000"/>
            <a:ext cx="8496000" cy="14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petrol for a one-way journey would cost £1.10.</a:t>
            </a:r>
            <a:br>
              <a:rPr lang="en-GB" sz="2000"/>
            </a:br>
            <a:r>
              <a:rPr lang="en-GB" sz="2000"/>
              <a:t>Parking in the car park would cost £7.40.</a:t>
            </a:r>
            <a:br>
              <a:rPr lang="en-GB" sz="2000"/>
            </a:br>
            <a:r>
              <a:rPr lang="en-GB" sz="2000"/>
              <a:t>They would also need to drive home.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What would be the total cost of travelling by car?</a:t>
            </a:r>
            <a:endParaRPr/>
          </a:p>
        </p:txBody>
      </p:sp>
      <p:sp>
        <p:nvSpPr>
          <p:cNvPr id="966" name="Google Shape;966;p8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67" name="Google Shape;967;p86"/>
          <p:cNvSpPr txBox="1"/>
          <p:nvPr>
            <p:ph idx="1" type="body"/>
          </p:nvPr>
        </p:nvSpPr>
        <p:spPr>
          <a:xfrm>
            <a:off x="3067200" y="2714100"/>
            <a:ext cx="2997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1.10 × 2 + 7.40 = £9.60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7"/>
          <p:cNvSpPr txBox="1"/>
          <p:nvPr>
            <p:ph idx="1" type="body"/>
          </p:nvPr>
        </p:nvSpPr>
        <p:spPr>
          <a:xfrm>
            <a:off x="324000" y="810000"/>
            <a:ext cx="84960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They consider how much it would cost to travel by bus.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Adult bus tickets cost £3 each way.</a:t>
            </a:r>
            <a:br>
              <a:rPr lang="en-GB" sz="2000"/>
            </a:br>
            <a:r>
              <a:rPr lang="en-GB" sz="2000"/>
              <a:t>Children bus tickets cost £1.50 each way.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would be the total cost of one adult and one child traveling there and back by bus?</a:t>
            </a:r>
            <a:endParaRPr sz="2000"/>
          </a:p>
        </p:txBody>
      </p:sp>
      <p:sp>
        <p:nvSpPr>
          <p:cNvPr id="973" name="Google Shape;973;p8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74" name="Google Shape;974;p87"/>
          <p:cNvSpPr txBox="1"/>
          <p:nvPr>
            <p:ph idx="1" type="body"/>
          </p:nvPr>
        </p:nvSpPr>
        <p:spPr>
          <a:xfrm>
            <a:off x="3219600" y="3171300"/>
            <a:ext cx="2655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(3 + 1.50) × 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£9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8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car travels an average of 50 miles per gallon.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many gallons of petrol would it use per mile?</a:t>
            </a:r>
            <a:endParaRPr sz="2000"/>
          </a:p>
        </p:txBody>
      </p:sp>
      <p:sp>
        <p:nvSpPr>
          <p:cNvPr id="980" name="Google Shape;980;p8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81" name="Google Shape;981;p88"/>
          <p:cNvSpPr txBox="1"/>
          <p:nvPr>
            <p:ph idx="1" type="body"/>
          </p:nvPr>
        </p:nvSpPr>
        <p:spPr>
          <a:xfrm>
            <a:off x="3409790" y="1745760"/>
            <a:ext cx="288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 ÷ 50 = 0.02 gallons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8"/>
          <p:cNvSpPr txBox="1"/>
          <p:nvPr>
            <p:ph idx="1" type="body"/>
          </p:nvPr>
        </p:nvSpPr>
        <p:spPr>
          <a:xfrm>
            <a:off x="324000" y="253482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gallons of petrol would it use in 15 miles?</a:t>
            </a:r>
            <a:endParaRPr sz="2000"/>
          </a:p>
        </p:txBody>
      </p:sp>
      <p:sp>
        <p:nvSpPr>
          <p:cNvPr id="983" name="Google Shape;983;p88"/>
          <p:cNvSpPr txBox="1"/>
          <p:nvPr>
            <p:ph idx="1" type="body"/>
          </p:nvPr>
        </p:nvSpPr>
        <p:spPr>
          <a:xfrm>
            <a:off x="3066582" y="2988180"/>
            <a:ext cx="288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0.02 × 15 = 0.3 gallons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8"/>
          <p:cNvSpPr txBox="1"/>
          <p:nvPr>
            <p:ph idx="1" type="body"/>
          </p:nvPr>
        </p:nvSpPr>
        <p:spPr>
          <a:xfrm>
            <a:off x="324000" y="377724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 gallon ≈ 4.546 litres. How many litres is equal to 0.3 gallons?</a:t>
            </a:r>
            <a:endParaRPr sz="2000"/>
          </a:p>
        </p:txBody>
      </p:sp>
      <p:sp>
        <p:nvSpPr>
          <p:cNvPr id="985" name="Google Shape;985;p88"/>
          <p:cNvSpPr txBox="1"/>
          <p:nvPr>
            <p:ph idx="1" type="body"/>
          </p:nvPr>
        </p:nvSpPr>
        <p:spPr>
          <a:xfrm>
            <a:off x="2761773" y="4230600"/>
            <a:ext cx="3531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4.546 = 1.3638 litres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9"/>
          <p:cNvSpPr txBox="1"/>
          <p:nvPr>
            <p:ph idx="1" type="body"/>
          </p:nvPr>
        </p:nvSpPr>
        <p:spPr>
          <a:xfrm>
            <a:off x="324000" y="810000"/>
            <a:ext cx="82377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petrol stations charges 151.9 p per litre for petrol.</a:t>
            </a:r>
            <a:br>
              <a:rPr lang="en-GB" sz="2000"/>
            </a:br>
            <a:r>
              <a:rPr lang="en-GB" sz="2000"/>
              <a:t>A one-way journey requires 1.3638 litres of petrol.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cost of petrol for the journey?</a:t>
            </a:r>
            <a:endParaRPr sz="2000"/>
          </a:p>
        </p:txBody>
      </p:sp>
      <p:sp>
        <p:nvSpPr>
          <p:cNvPr id="991" name="Google Shape;991;p89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992" name="Google Shape;992;p89"/>
          <p:cNvSpPr txBox="1"/>
          <p:nvPr>
            <p:ph idx="1" type="body"/>
          </p:nvPr>
        </p:nvSpPr>
        <p:spPr>
          <a:xfrm>
            <a:off x="2495401" y="2202950"/>
            <a:ext cx="3580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1.3638 × 151.9 = 207.16122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89"/>
          <p:cNvSpPr txBox="1"/>
          <p:nvPr>
            <p:ph idx="1" type="body"/>
          </p:nvPr>
        </p:nvSpPr>
        <p:spPr>
          <a:xfrm>
            <a:off x="324000" y="324384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car park charges £6.20. </a:t>
            </a:r>
            <a:br>
              <a:rPr lang="en-GB" sz="2000"/>
            </a:br>
            <a:r>
              <a:rPr lang="en-GB" sz="2000"/>
              <a:t>What would be the total cost of a two-way journey with parking?</a:t>
            </a:r>
            <a:endParaRPr sz="2000"/>
          </a:p>
        </p:txBody>
      </p:sp>
      <p:sp>
        <p:nvSpPr>
          <p:cNvPr id="994" name="Google Shape;994;p89"/>
          <p:cNvSpPr txBox="1"/>
          <p:nvPr>
            <p:ph idx="1" type="body"/>
          </p:nvPr>
        </p:nvSpPr>
        <p:spPr>
          <a:xfrm>
            <a:off x="2228373" y="4154400"/>
            <a:ext cx="3531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2.07 × 2 + 6.20 = £10.34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89"/>
          <p:cNvSpPr txBox="1"/>
          <p:nvPr>
            <p:ph idx="1" type="body"/>
          </p:nvPr>
        </p:nvSpPr>
        <p:spPr>
          <a:xfrm>
            <a:off x="4324201" y="2660150"/>
            <a:ext cx="1084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£2.07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9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01" name="Google Shape;1001;p90"/>
          <p:cNvSpPr txBox="1"/>
          <p:nvPr>
            <p:ph idx="1" type="body"/>
          </p:nvPr>
        </p:nvSpPr>
        <p:spPr>
          <a:xfrm>
            <a:off x="324000" y="733800"/>
            <a:ext cx="8496000" cy="3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Jacob (aged 14) and his mother are planning to travel to a theatre</a:t>
            </a:r>
            <a:r>
              <a:rPr lang="en-GB" sz="1800"/>
              <a:t> in a city centre</a:t>
            </a:r>
            <a:r>
              <a:rPr lang="en-GB" sz="1800"/>
              <a:t>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They want to arrive at the theatre by 2:45pm.</a:t>
            </a:r>
            <a:endParaRPr sz="17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They consider travelling by bus.</a:t>
            </a:r>
            <a:endParaRPr sz="17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nearest bus stop is on Oak Road, which is a 5-minute walk from their home.</a:t>
            </a:r>
            <a:endParaRPr sz="17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bus stops directly outside the theatre.</a:t>
            </a:r>
            <a:endParaRPr sz="17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 journey planner app says that a bus will depart from Oak Road at 1:48</a:t>
            </a:r>
            <a:r>
              <a:rPr lang="en-GB" sz="1700"/>
              <a:t>pm</a:t>
            </a:r>
            <a:r>
              <a:rPr lang="en-GB" sz="1700"/>
              <a:t> and arrive at the theatre at 2:36pm.</a:t>
            </a:r>
            <a:endParaRPr sz="17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 single-way ticket on the bus costs £2 per adult and £1.20 per child (under 19).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What is the latest time they can leave their home if they travel by bus?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is the total cost of the journey to travel there and back by bus?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9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07" name="Google Shape;1007;p91"/>
          <p:cNvSpPr txBox="1"/>
          <p:nvPr>
            <p:ph idx="1" type="body"/>
          </p:nvPr>
        </p:nvSpPr>
        <p:spPr>
          <a:xfrm>
            <a:off x="324000" y="810000"/>
            <a:ext cx="8496000" cy="3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Jacob and his mother are planning to travel to a theatre in a city centre.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They want to arrive at the theatre by 2:45pm.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They consider travelling by car.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nearest car park to the theatre is a 15-minute walk away.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 journey planner app says that the car park is 9 miles from their home and will take 35 minutes to drive to.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It will cost £5.50 to park in the car park.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On average, their car travels 45 miles per gallon.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At their nearest petrol station, petrol is sold for 148.9 p per litre. </a:t>
            </a:r>
            <a:endParaRPr sz="17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 gallon ≈ 4.546 litres.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What is the latest time they can leave their home if they travel by car?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is the total cost of the journey to travel there and back by car? 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9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13" name="Google Shape;1013;p92"/>
          <p:cNvSpPr txBox="1"/>
          <p:nvPr>
            <p:ph idx="1" type="body"/>
          </p:nvPr>
        </p:nvSpPr>
        <p:spPr>
          <a:xfrm>
            <a:off x="324000" y="810000"/>
            <a:ext cx="8496000" cy="19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</a:t>
            </a:r>
            <a:r>
              <a:rPr lang="en-GB" sz="1600"/>
              <a:t>) Use a journey planning website to plan a journey. </a:t>
            </a:r>
            <a:br>
              <a:rPr lang="en-GB" sz="1600"/>
            </a:br>
            <a:r>
              <a:rPr lang="en-GB" sz="1600"/>
              <a:t>    The journey should be from your </a:t>
            </a:r>
            <a:r>
              <a:rPr lang="en-GB" sz="1600"/>
              <a:t>home </a:t>
            </a:r>
            <a:r>
              <a:rPr lang="en-GB" sz="1600"/>
              <a:t>to a destination that you could travel to 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directly</a:t>
            </a:r>
            <a:r>
              <a:rPr lang="en-GB" sz="1600"/>
              <a:t> by public transport (e.g. bus, train, underground).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    </a:t>
            </a:r>
            <a:r>
              <a:rPr lang="en-GB" sz="1600"/>
              <a:t>Plan how you could make the journey by car and by public transport. </a:t>
            </a:r>
            <a:br>
              <a:rPr lang="en-GB" sz="1600"/>
            </a:br>
            <a:r>
              <a:rPr lang="en-GB" sz="1600"/>
              <a:t>    Compare the time and cost implications of each.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You may wish to consider the following points:</a:t>
            </a:r>
            <a:endParaRPr sz="1600"/>
          </a:p>
        </p:txBody>
      </p:sp>
      <p:sp>
        <p:nvSpPr>
          <p:cNvPr id="1014" name="Google Shape;1014;p92"/>
          <p:cNvSpPr txBox="1"/>
          <p:nvPr>
            <p:ph idx="1" type="body"/>
          </p:nvPr>
        </p:nvSpPr>
        <p:spPr>
          <a:xfrm>
            <a:off x="492714" y="2816679"/>
            <a:ext cx="84960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distance between your home and where you would board the transport;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distance between where you would exit the transport and your destination;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time you would spend travelling in the transport;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cost of a ticket on public transport;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</a:t>
            </a:r>
            <a:r>
              <a:rPr lang="en-GB" sz="1600"/>
              <a:t>he cost of parking the car (if unsure, you could use £5.50 as an estimate);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cost of petrol by the car </a:t>
            </a:r>
            <a:r>
              <a:rPr lang="en-GB" sz="1600"/>
              <a:t>(if unsure, you could use the same as in Q2).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3"/>
          <p:cNvSpPr txBox="1"/>
          <p:nvPr/>
        </p:nvSpPr>
        <p:spPr>
          <a:xfrm>
            <a:off x="228225" y="533400"/>
            <a:ext cx="87150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Jacob (aged 14) and his mother are planning to travel to a theatre in a city centre.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want to arrive at the theatre by 2:45pm.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consider travelling by bus.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nearest bus stop is on Oak Road, which is a 5-minute walk from their home.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bus stops directly outside the theatre.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journey planner app says that a bus will depart from Oak Road at 1:48pm and arrive at the theatre at 2:36pm.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single-way ticket on the bus costs £2 per adult and £1.20 per child (under 19).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is the latest time they can leave their home if they travel by 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21" name="Google Shape;1021;p93"/>
          <p:cNvSpPr txBox="1"/>
          <p:nvPr>
            <p:ph idx="1" type="body"/>
          </p:nvPr>
        </p:nvSpPr>
        <p:spPr>
          <a:xfrm>
            <a:off x="666011" y="3778196"/>
            <a:ext cx="89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1:43pm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93"/>
          <p:cNvSpPr txBox="1"/>
          <p:nvPr>
            <p:ph idx="1" type="body"/>
          </p:nvPr>
        </p:nvSpPr>
        <p:spPr>
          <a:xfrm>
            <a:off x="610650" y="4445950"/>
            <a:ext cx="4047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(2 + 1.20) × 2 = £6.40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3" name="Google Shape;1023;p93"/>
          <p:cNvSpPr txBox="1"/>
          <p:nvPr/>
        </p:nvSpPr>
        <p:spPr>
          <a:xfrm>
            <a:off x="247800" y="4052725"/>
            <a:ext cx="88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is the total cost of the journey to travel there and back by 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9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29" name="Google Shape;1029;p94"/>
          <p:cNvSpPr txBox="1"/>
          <p:nvPr>
            <p:ph idx="1" type="body"/>
          </p:nvPr>
        </p:nvSpPr>
        <p:spPr>
          <a:xfrm>
            <a:off x="324000" y="810000"/>
            <a:ext cx="8496000" cy="23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Jacob and his </a:t>
            </a:r>
            <a:r>
              <a:rPr lang="en-GB" sz="1800"/>
              <a:t>mother</a:t>
            </a:r>
            <a:r>
              <a:rPr lang="en-GB" sz="1800"/>
              <a:t> are planning to travel to a theatre in a city centre.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want to arrive at the theatre by 2:45pm.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consider travelling by car.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nearest car park to the theatre is a 15-minute walk away.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journey planner app says that the car park is 9 miles from their home an</a:t>
            </a:r>
            <a:r>
              <a:rPr lang="en-GB" sz="1800"/>
              <a:t>d will </a:t>
            </a:r>
            <a:r>
              <a:rPr lang="en-GB" sz="1800"/>
              <a:t>take 35 minutes to drive to.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What is the latest time they can leave their home if they travel by car?</a:t>
            </a:r>
            <a:endParaRPr sz="1800"/>
          </a:p>
        </p:txBody>
      </p:sp>
      <p:sp>
        <p:nvSpPr>
          <p:cNvPr id="1030" name="Google Shape;1030;p94"/>
          <p:cNvSpPr txBox="1"/>
          <p:nvPr>
            <p:ph idx="1" type="body"/>
          </p:nvPr>
        </p:nvSpPr>
        <p:spPr>
          <a:xfrm>
            <a:off x="621875" y="3240000"/>
            <a:ext cx="400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Total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journey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time: 15 + 35 = 50 min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94"/>
          <p:cNvSpPr txBox="1"/>
          <p:nvPr>
            <p:ph idx="1" type="body"/>
          </p:nvPr>
        </p:nvSpPr>
        <p:spPr>
          <a:xfrm>
            <a:off x="621875" y="3697200"/>
            <a:ext cx="1839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Depart by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: 1:55pm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9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37" name="Google Shape;1037;p95"/>
          <p:cNvSpPr txBox="1"/>
          <p:nvPr>
            <p:ph idx="1" type="body"/>
          </p:nvPr>
        </p:nvSpPr>
        <p:spPr>
          <a:xfrm>
            <a:off x="324000" y="733800"/>
            <a:ext cx="8237700" cy="19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journey planner app says that the car park is 9 miles from their home.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will cost £5.50 to park in the car park.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On average, their car travels 45 miles per gallon.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At their nearest petrol station, petrol is sold for 148.9 p per litre.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gallon ≈ 4.546 litres.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is the total cost of the journey to travel there and back by car? </a:t>
            </a:r>
            <a:endParaRPr sz="1800"/>
          </a:p>
        </p:txBody>
      </p:sp>
      <p:sp>
        <p:nvSpPr>
          <p:cNvPr id="1038" name="Google Shape;1038;p95"/>
          <p:cNvSpPr txBox="1"/>
          <p:nvPr/>
        </p:nvSpPr>
        <p:spPr>
          <a:xfrm>
            <a:off x="582501" y="2679425"/>
            <a:ext cx="37293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Gallons of petrol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used in 1 mile: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Gallons of petrol used in 18 miles: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Litres of petrol used in 18 miles: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Cost of petrol: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cost: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95"/>
          <p:cNvSpPr txBox="1"/>
          <p:nvPr/>
        </p:nvSpPr>
        <p:spPr>
          <a:xfrm>
            <a:off x="5374071" y="2679425"/>
            <a:ext cx="38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÷ 45 = 0.02 gallons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95"/>
          <p:cNvSpPr txBox="1"/>
          <p:nvPr/>
        </p:nvSpPr>
        <p:spPr>
          <a:xfrm>
            <a:off x="5090056" y="3116474"/>
            <a:ext cx="387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0.02 × 18 = 0.4 gallons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4870897" y="3537776"/>
            <a:ext cx="38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 × 4.546 = 1.8184 litres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4622146" y="4005051"/>
            <a:ext cx="38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1.8184 × 148.9 = 270.75976 p ≈ £2.71</a:t>
            </a:r>
            <a:endParaRPr sz="2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3" name="Google Shape;1043;p95"/>
          <p:cNvSpPr txBox="1"/>
          <p:nvPr/>
        </p:nvSpPr>
        <p:spPr>
          <a:xfrm>
            <a:off x="4916871" y="4447138"/>
            <a:ext cx="38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2.71 + 5.50 = £8.21</a:t>
            </a:r>
            <a:endParaRPr sz="2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4" name="Google Shape;1044;p95"/>
          <p:cNvSpPr txBox="1"/>
          <p:nvPr/>
        </p:nvSpPr>
        <p:spPr>
          <a:xfrm>
            <a:off x="6665007" y="2464064"/>
            <a:ext cx="1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95"/>
          <p:cNvSpPr txBox="1"/>
          <p:nvPr/>
        </p:nvSpPr>
        <p:spPr>
          <a:xfrm>
            <a:off x="5420619" y="2921264"/>
            <a:ext cx="1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51" name="Google Shape;1051;p96"/>
          <p:cNvSpPr txBox="1"/>
          <p:nvPr>
            <p:ph idx="1" type="body"/>
          </p:nvPr>
        </p:nvSpPr>
        <p:spPr>
          <a:xfrm>
            <a:off x="324000" y="657600"/>
            <a:ext cx="8237700" cy="19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Use a journey planning website to plan a journey.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journey should be from your home to a destination that you could travel to directly by public transport (e.g. bus, train, underground).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Plan how you could make the journey by car and by public transport.</a:t>
            </a:r>
            <a:endParaRPr sz="18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Compare the time and cost implications of each.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You may wish to consider the following points:</a:t>
            </a:r>
            <a:endParaRPr sz="1800"/>
          </a:p>
        </p:txBody>
      </p:sp>
      <p:sp>
        <p:nvSpPr>
          <p:cNvPr id="1052" name="Google Shape;1052;p96"/>
          <p:cNvSpPr txBox="1"/>
          <p:nvPr>
            <p:ph idx="1" type="body"/>
          </p:nvPr>
        </p:nvSpPr>
        <p:spPr>
          <a:xfrm>
            <a:off x="324000" y="2740475"/>
            <a:ext cx="8820000" cy="17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your home and where you would board the transport;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where you exit the transport and your destination;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time you would spend travelling in the transport;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cost of a ticket on public transport;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cost of parking the car (if unsure, you could use £5.50 as an estimate);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cost of petrol by the car (if unsure, you could use the same as in Q2).</a:t>
            </a:r>
            <a:endParaRPr sz="1700"/>
          </a:p>
        </p:txBody>
      </p:sp>
      <p:sp>
        <p:nvSpPr>
          <p:cNvPr id="1053" name="Google Shape;1053;p96"/>
          <p:cNvSpPr txBox="1"/>
          <p:nvPr>
            <p:ph idx="1" type="body"/>
          </p:nvPr>
        </p:nvSpPr>
        <p:spPr>
          <a:xfrm>
            <a:off x="621875" y="4545642"/>
            <a:ext cx="7764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will vary depending on pupils’ choices.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97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direct journey</a:t>
            </a:r>
            <a:endParaRPr/>
          </a:p>
        </p:txBody>
      </p:sp>
      <p:sp>
        <p:nvSpPr>
          <p:cNvPr id="1059" name="Google Shape;1059;p97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pic>
        <p:nvPicPr>
          <p:cNvPr id="1060" name="Google Shape;106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39" y="2985068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7"/>
          <p:cNvSpPr txBox="1"/>
          <p:nvPr>
            <p:ph idx="2" type="title"/>
          </p:nvPr>
        </p:nvSpPr>
        <p:spPr>
          <a:xfrm>
            <a:off x="324000" y="7338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Considering a route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9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067" name="Google Shape;1067;p98"/>
          <p:cNvSpPr txBox="1"/>
          <p:nvPr>
            <p:ph idx="1" type="body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Not all journeys on public transport can be made directly.</a:t>
            </a:r>
            <a:endParaRPr sz="2000"/>
          </a:p>
        </p:txBody>
      </p:sp>
      <p:sp>
        <p:nvSpPr>
          <p:cNvPr id="1068" name="Google Shape;1068;p98"/>
          <p:cNvSpPr txBox="1"/>
          <p:nvPr>
            <p:ph idx="1" type="body"/>
          </p:nvPr>
        </p:nvSpPr>
        <p:spPr>
          <a:xfrm>
            <a:off x="965612" y="2222100"/>
            <a:ext cx="654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</a:t>
            </a:r>
            <a:endParaRPr sz="2000"/>
          </a:p>
        </p:txBody>
      </p:sp>
      <p:sp>
        <p:nvSpPr>
          <p:cNvPr id="1069" name="Google Shape;1069;p98"/>
          <p:cNvSpPr txBox="1"/>
          <p:nvPr>
            <p:ph idx="1" type="body"/>
          </p:nvPr>
        </p:nvSpPr>
        <p:spPr>
          <a:xfrm>
            <a:off x="3753000" y="2831700"/>
            <a:ext cx="10308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 location</a:t>
            </a:r>
            <a:endParaRPr sz="2000"/>
          </a:p>
        </p:txBody>
      </p:sp>
      <p:sp>
        <p:nvSpPr>
          <p:cNvPr id="1070" name="Google Shape;1070;p98"/>
          <p:cNvSpPr txBox="1"/>
          <p:nvPr>
            <p:ph idx="1" type="body"/>
          </p:nvPr>
        </p:nvSpPr>
        <p:spPr>
          <a:xfrm>
            <a:off x="6572400" y="2222100"/>
            <a:ext cx="1483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destination</a:t>
            </a:r>
            <a:endParaRPr sz="2000"/>
          </a:p>
        </p:txBody>
      </p:sp>
      <p:cxnSp>
        <p:nvCxnSpPr>
          <p:cNvPr id="1071" name="Google Shape;1071;p98"/>
          <p:cNvCxnSpPr>
            <a:stCxn id="1068" idx="3"/>
            <a:endCxn id="1069" idx="1"/>
          </p:cNvCxnSpPr>
          <p:nvPr/>
        </p:nvCxnSpPr>
        <p:spPr>
          <a:xfrm>
            <a:off x="1620212" y="2376000"/>
            <a:ext cx="2132700" cy="786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2" name="Google Shape;1072;p98"/>
          <p:cNvCxnSpPr>
            <a:stCxn id="1068" idx="3"/>
            <a:endCxn id="1070" idx="1"/>
          </p:cNvCxnSpPr>
          <p:nvPr/>
        </p:nvCxnSpPr>
        <p:spPr>
          <a:xfrm>
            <a:off x="1620212" y="2376000"/>
            <a:ext cx="4952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98"/>
          <p:cNvCxnSpPr>
            <a:stCxn id="1069" idx="3"/>
            <a:endCxn id="1070" idx="1"/>
          </p:cNvCxnSpPr>
          <p:nvPr/>
        </p:nvCxnSpPr>
        <p:spPr>
          <a:xfrm flipH="1" rot="10800000">
            <a:off x="4783800" y="2376000"/>
            <a:ext cx="1788600" cy="786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98"/>
          <p:cNvSpPr txBox="1"/>
          <p:nvPr>
            <p:ph idx="1" type="body"/>
          </p:nvPr>
        </p:nvSpPr>
        <p:spPr>
          <a:xfrm>
            <a:off x="1890925" y="2753650"/>
            <a:ext cx="993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</a:t>
            </a:r>
            <a:r>
              <a:rPr baseline="30000" lang="en-GB" sz="2000">
                <a:solidFill>
                  <a:schemeClr val="accent5"/>
                </a:solidFill>
              </a:rPr>
              <a:t>st</a:t>
            </a:r>
            <a:r>
              <a:rPr lang="en-GB" sz="2000">
                <a:solidFill>
                  <a:schemeClr val="accent5"/>
                </a:solidFill>
              </a:rPr>
              <a:t> bus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75" name="Google Shape;1075;p98"/>
          <p:cNvSpPr txBox="1"/>
          <p:nvPr>
            <p:ph idx="1" type="body"/>
          </p:nvPr>
        </p:nvSpPr>
        <p:spPr>
          <a:xfrm>
            <a:off x="5624725" y="2753650"/>
            <a:ext cx="993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baseline="30000" lang="en-GB" sz="2000">
                <a:solidFill>
                  <a:schemeClr val="accent5"/>
                </a:solidFill>
              </a:rPr>
              <a:t>nd</a:t>
            </a:r>
            <a:r>
              <a:rPr lang="en-GB" sz="2000">
                <a:solidFill>
                  <a:schemeClr val="accent5"/>
                </a:solidFill>
              </a:rPr>
              <a:t> bus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76" name="Google Shape;1076;p98"/>
          <p:cNvSpPr txBox="1"/>
          <p:nvPr>
            <p:ph idx="1" type="body"/>
          </p:nvPr>
        </p:nvSpPr>
        <p:spPr>
          <a:xfrm>
            <a:off x="1890925" y="2753650"/>
            <a:ext cx="993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</a:t>
            </a:r>
            <a:r>
              <a:rPr baseline="30000" lang="en-GB" sz="2000">
                <a:solidFill>
                  <a:schemeClr val="accent5"/>
                </a:solidFill>
              </a:rPr>
              <a:t>st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77" name="Google Shape;1077;p98"/>
          <p:cNvSpPr txBox="1"/>
          <p:nvPr>
            <p:ph idx="1" type="body"/>
          </p:nvPr>
        </p:nvSpPr>
        <p:spPr>
          <a:xfrm>
            <a:off x="5624725" y="2753650"/>
            <a:ext cx="993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baseline="30000" lang="en-GB" sz="2000">
                <a:solidFill>
                  <a:schemeClr val="accent5"/>
                </a:solidFill>
              </a:rPr>
              <a:t>nd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78" name="Google Shape;1078;p98"/>
          <p:cNvSpPr txBox="1"/>
          <p:nvPr>
            <p:ph idx="1" type="body"/>
          </p:nvPr>
        </p:nvSpPr>
        <p:spPr>
          <a:xfrm>
            <a:off x="2210454" y="2753650"/>
            <a:ext cx="48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bus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79" name="Google Shape;1079;p98"/>
          <p:cNvSpPr txBox="1"/>
          <p:nvPr>
            <p:ph idx="1" type="body"/>
          </p:nvPr>
        </p:nvSpPr>
        <p:spPr>
          <a:xfrm>
            <a:off x="5644364" y="2753650"/>
            <a:ext cx="654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80" name="Google Shape;1080;p98"/>
          <p:cNvSpPr txBox="1"/>
          <p:nvPr>
            <p:ph idx="1" type="body"/>
          </p:nvPr>
        </p:nvSpPr>
        <p:spPr>
          <a:xfrm>
            <a:off x="4070201" y="2043651"/>
            <a:ext cx="48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bus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81" name="Google Shape;1081;p98"/>
          <p:cNvSpPr txBox="1"/>
          <p:nvPr>
            <p:ph idx="1" type="body"/>
          </p:nvPr>
        </p:nvSpPr>
        <p:spPr>
          <a:xfrm>
            <a:off x="324000" y="39342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stage of a journey where we change between trains/buses is sometimes referred to as a </a:t>
            </a:r>
            <a:r>
              <a:rPr lang="en-GB" sz="2000">
                <a:solidFill>
                  <a:schemeClr val="accent5"/>
                </a:solidFill>
              </a:rPr>
              <a:t>connection</a:t>
            </a:r>
            <a:r>
              <a:rPr lang="en-GB" sz="2000"/>
              <a:t> or a </a:t>
            </a:r>
            <a:r>
              <a:rPr lang="en-GB" sz="2000">
                <a:solidFill>
                  <a:schemeClr val="accent5"/>
                </a:solidFill>
              </a:rPr>
              <a:t>changeover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82" name="Google Shape;1082;p98"/>
          <p:cNvSpPr txBox="1"/>
          <p:nvPr>
            <p:ph idx="1" type="body"/>
          </p:nvPr>
        </p:nvSpPr>
        <p:spPr>
          <a:xfrm>
            <a:off x="324000" y="1286839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you may need to use multiple vehicles in a single journey.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9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088" name="Google Shape;1088;p99"/>
          <p:cNvSpPr txBox="1"/>
          <p:nvPr>
            <p:ph idx="1" type="body"/>
          </p:nvPr>
        </p:nvSpPr>
        <p:spPr>
          <a:xfrm>
            <a:off x="324000" y="810000"/>
            <a:ext cx="8496000" cy="14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journey that requires a changeover means that additional considerations may be needed to plan the journey.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 need to consider the amount of time between alighting from one vehicle and boarding the next vehicle (changeover time). </a:t>
            </a:r>
            <a:endParaRPr sz="2000"/>
          </a:p>
        </p:txBody>
      </p:sp>
      <p:sp>
        <p:nvSpPr>
          <p:cNvPr id="1089" name="Google Shape;1089;p99"/>
          <p:cNvSpPr txBox="1"/>
          <p:nvPr>
            <p:ph idx="1" type="body"/>
          </p:nvPr>
        </p:nvSpPr>
        <p:spPr>
          <a:xfrm>
            <a:off x="889412" y="2526900"/>
            <a:ext cx="654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</a:t>
            </a:r>
            <a:endParaRPr sz="2000"/>
          </a:p>
        </p:txBody>
      </p:sp>
      <p:sp>
        <p:nvSpPr>
          <p:cNvPr id="1090" name="Google Shape;1090;p99"/>
          <p:cNvSpPr txBox="1"/>
          <p:nvPr>
            <p:ph idx="1" type="body"/>
          </p:nvPr>
        </p:nvSpPr>
        <p:spPr>
          <a:xfrm>
            <a:off x="3448200" y="3136500"/>
            <a:ext cx="1529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changeover</a:t>
            </a:r>
            <a:endParaRPr sz="2000"/>
          </a:p>
        </p:txBody>
      </p:sp>
      <p:sp>
        <p:nvSpPr>
          <p:cNvPr id="1091" name="Google Shape;1091;p99"/>
          <p:cNvSpPr txBox="1"/>
          <p:nvPr>
            <p:ph idx="1" type="body"/>
          </p:nvPr>
        </p:nvSpPr>
        <p:spPr>
          <a:xfrm>
            <a:off x="6877200" y="2526900"/>
            <a:ext cx="1483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destination</a:t>
            </a:r>
            <a:endParaRPr sz="2000"/>
          </a:p>
        </p:txBody>
      </p:sp>
      <p:cxnSp>
        <p:nvCxnSpPr>
          <p:cNvPr id="1092" name="Google Shape;1092;p99"/>
          <p:cNvCxnSpPr>
            <a:stCxn id="1089" idx="3"/>
            <a:endCxn id="1090" idx="1"/>
          </p:cNvCxnSpPr>
          <p:nvPr/>
        </p:nvCxnSpPr>
        <p:spPr>
          <a:xfrm>
            <a:off x="1544012" y="2680800"/>
            <a:ext cx="19041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99"/>
          <p:cNvCxnSpPr>
            <a:stCxn id="1090" idx="3"/>
            <a:endCxn id="1091" idx="1"/>
          </p:cNvCxnSpPr>
          <p:nvPr/>
        </p:nvCxnSpPr>
        <p:spPr>
          <a:xfrm flipH="1" rot="10800000">
            <a:off x="4977900" y="2680800"/>
            <a:ext cx="18993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99"/>
          <p:cNvSpPr txBox="1"/>
          <p:nvPr>
            <p:ph idx="1" type="body"/>
          </p:nvPr>
        </p:nvSpPr>
        <p:spPr>
          <a:xfrm rot="-1092753">
            <a:off x="5301465" y="2673930"/>
            <a:ext cx="1270866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baseline="30000" lang="en-GB" sz="2000">
                <a:solidFill>
                  <a:schemeClr val="accent5"/>
                </a:solidFill>
              </a:rPr>
              <a:t>nd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95" name="Google Shape;1095;p99"/>
          <p:cNvSpPr txBox="1"/>
          <p:nvPr>
            <p:ph idx="1" type="body"/>
          </p:nvPr>
        </p:nvSpPr>
        <p:spPr>
          <a:xfrm rot="1038145">
            <a:off x="1989009" y="2659085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</a:t>
            </a:r>
            <a:r>
              <a:rPr baseline="30000" lang="en-GB" sz="2000">
                <a:solidFill>
                  <a:schemeClr val="accent5"/>
                </a:solidFill>
              </a:rPr>
              <a:t>st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96" name="Google Shape;1096;p99"/>
          <p:cNvSpPr txBox="1"/>
          <p:nvPr>
            <p:ph idx="1" type="body"/>
          </p:nvPr>
        </p:nvSpPr>
        <p:spPr>
          <a:xfrm rot="1038145">
            <a:off x="1894984" y="2968540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30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97" name="Google Shape;1097;p99"/>
          <p:cNvSpPr txBox="1"/>
          <p:nvPr>
            <p:ph idx="1" type="body"/>
          </p:nvPr>
        </p:nvSpPr>
        <p:spPr>
          <a:xfrm rot="-1092315">
            <a:off x="5405495" y="3022084"/>
            <a:ext cx="993849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45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98" name="Google Shape;1098;p99"/>
          <p:cNvSpPr txBox="1"/>
          <p:nvPr>
            <p:ph idx="1" type="body"/>
          </p:nvPr>
        </p:nvSpPr>
        <p:spPr>
          <a:xfrm rot="1126">
            <a:off x="3757209" y="3438937"/>
            <a:ext cx="915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15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99" name="Google Shape;1099;p99"/>
          <p:cNvSpPr txBox="1"/>
          <p:nvPr>
            <p:ph idx="1" type="body"/>
          </p:nvPr>
        </p:nvSpPr>
        <p:spPr>
          <a:xfrm>
            <a:off x="1638600" y="4152508"/>
            <a:ext cx="525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Total journey time = 30 + 15 + 45 </a:t>
            </a:r>
            <a:endParaRPr sz="2000"/>
          </a:p>
        </p:txBody>
      </p:sp>
      <p:sp>
        <p:nvSpPr>
          <p:cNvPr id="1100" name="Google Shape;1100;p99"/>
          <p:cNvSpPr txBox="1"/>
          <p:nvPr>
            <p:ph idx="1" type="body"/>
          </p:nvPr>
        </p:nvSpPr>
        <p:spPr>
          <a:xfrm>
            <a:off x="3931553" y="4533508"/>
            <a:ext cx="3110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90 min (1 hour 30 min)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0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06" name="Google Shape;1106;p100"/>
          <p:cNvSpPr txBox="1"/>
          <p:nvPr>
            <p:ph idx="1" type="body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may be preferable to have a short changeover time.</a:t>
            </a:r>
            <a:endParaRPr sz="2000"/>
          </a:p>
        </p:txBody>
      </p:sp>
      <p:sp>
        <p:nvSpPr>
          <p:cNvPr id="1107" name="Google Shape;1107;p100"/>
          <p:cNvSpPr txBox="1"/>
          <p:nvPr>
            <p:ph idx="1" type="body"/>
          </p:nvPr>
        </p:nvSpPr>
        <p:spPr>
          <a:xfrm>
            <a:off x="889412" y="2526900"/>
            <a:ext cx="654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</a:t>
            </a:r>
            <a:endParaRPr sz="2000"/>
          </a:p>
        </p:txBody>
      </p:sp>
      <p:sp>
        <p:nvSpPr>
          <p:cNvPr id="1108" name="Google Shape;1108;p100"/>
          <p:cNvSpPr txBox="1"/>
          <p:nvPr>
            <p:ph idx="1" type="body"/>
          </p:nvPr>
        </p:nvSpPr>
        <p:spPr>
          <a:xfrm>
            <a:off x="3448200" y="3136500"/>
            <a:ext cx="1529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changeover</a:t>
            </a:r>
            <a:endParaRPr sz="2000"/>
          </a:p>
        </p:txBody>
      </p:sp>
      <p:sp>
        <p:nvSpPr>
          <p:cNvPr id="1109" name="Google Shape;1109;p100"/>
          <p:cNvSpPr txBox="1"/>
          <p:nvPr>
            <p:ph idx="1" type="body"/>
          </p:nvPr>
        </p:nvSpPr>
        <p:spPr>
          <a:xfrm>
            <a:off x="6877200" y="2526900"/>
            <a:ext cx="1483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destination</a:t>
            </a:r>
            <a:endParaRPr sz="2000"/>
          </a:p>
        </p:txBody>
      </p:sp>
      <p:cxnSp>
        <p:nvCxnSpPr>
          <p:cNvPr id="1110" name="Google Shape;1110;p100"/>
          <p:cNvCxnSpPr>
            <a:stCxn id="1107" idx="3"/>
            <a:endCxn id="1108" idx="1"/>
          </p:cNvCxnSpPr>
          <p:nvPr/>
        </p:nvCxnSpPr>
        <p:spPr>
          <a:xfrm>
            <a:off x="1544012" y="2680800"/>
            <a:ext cx="19041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100"/>
          <p:cNvCxnSpPr>
            <a:stCxn id="1108" idx="3"/>
            <a:endCxn id="1109" idx="1"/>
          </p:cNvCxnSpPr>
          <p:nvPr/>
        </p:nvCxnSpPr>
        <p:spPr>
          <a:xfrm flipH="1" rot="10800000">
            <a:off x="4977900" y="2680800"/>
            <a:ext cx="18993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100"/>
          <p:cNvSpPr txBox="1"/>
          <p:nvPr>
            <p:ph idx="1" type="body"/>
          </p:nvPr>
        </p:nvSpPr>
        <p:spPr>
          <a:xfrm rot="-1092576">
            <a:off x="5299474" y="2661483"/>
            <a:ext cx="1350746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baseline="30000" lang="en-GB" sz="2000">
                <a:solidFill>
                  <a:schemeClr val="accent5"/>
                </a:solidFill>
              </a:rPr>
              <a:t>nd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3" name="Google Shape;1113;p100"/>
          <p:cNvSpPr txBox="1"/>
          <p:nvPr>
            <p:ph idx="1" type="body"/>
          </p:nvPr>
        </p:nvSpPr>
        <p:spPr>
          <a:xfrm rot="1038145">
            <a:off x="1989009" y="2659085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</a:t>
            </a:r>
            <a:r>
              <a:rPr baseline="30000" lang="en-GB" sz="2000">
                <a:solidFill>
                  <a:schemeClr val="accent5"/>
                </a:solidFill>
              </a:rPr>
              <a:t>st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4" name="Google Shape;1114;p100"/>
          <p:cNvSpPr txBox="1"/>
          <p:nvPr>
            <p:ph idx="1" type="body"/>
          </p:nvPr>
        </p:nvSpPr>
        <p:spPr>
          <a:xfrm rot="1038145">
            <a:off x="1894984" y="2968540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30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5" name="Google Shape;1115;p100"/>
          <p:cNvSpPr txBox="1"/>
          <p:nvPr>
            <p:ph idx="1" type="body"/>
          </p:nvPr>
        </p:nvSpPr>
        <p:spPr>
          <a:xfrm rot="-1092315">
            <a:off x="5405495" y="3022084"/>
            <a:ext cx="993849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45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6" name="Google Shape;1116;p100"/>
          <p:cNvSpPr txBox="1"/>
          <p:nvPr>
            <p:ph idx="1" type="body"/>
          </p:nvPr>
        </p:nvSpPr>
        <p:spPr>
          <a:xfrm rot="1126">
            <a:off x="3781319" y="3438937"/>
            <a:ext cx="915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7" name="Google Shape;1117;p100"/>
          <p:cNvSpPr txBox="1"/>
          <p:nvPr>
            <p:ph idx="1" type="body"/>
          </p:nvPr>
        </p:nvSpPr>
        <p:spPr>
          <a:xfrm>
            <a:off x="1638600" y="4152508"/>
            <a:ext cx="525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Total journey time = 30 + 4 + 45 </a:t>
            </a:r>
            <a:endParaRPr sz="2000"/>
          </a:p>
        </p:txBody>
      </p:sp>
      <p:sp>
        <p:nvSpPr>
          <p:cNvPr id="1118" name="Google Shape;1118;p100"/>
          <p:cNvSpPr txBox="1"/>
          <p:nvPr>
            <p:ph idx="1" type="body"/>
          </p:nvPr>
        </p:nvSpPr>
        <p:spPr>
          <a:xfrm>
            <a:off x="3931553" y="4533508"/>
            <a:ext cx="3110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79 min (1 hour 19 min)</a:t>
            </a:r>
            <a:endParaRPr sz="2000"/>
          </a:p>
        </p:txBody>
      </p:sp>
      <p:sp>
        <p:nvSpPr>
          <p:cNvPr id="1119" name="Google Shape;1119;p100"/>
          <p:cNvSpPr txBox="1"/>
          <p:nvPr>
            <p:ph idx="1" type="body"/>
          </p:nvPr>
        </p:nvSpPr>
        <p:spPr>
          <a:xfrm>
            <a:off x="324000" y="1267200"/>
            <a:ext cx="8419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However, this increases the risk of missing the connection.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25" name="Google Shape;1125;p101"/>
          <p:cNvSpPr txBox="1"/>
          <p:nvPr>
            <p:ph idx="1" type="body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may be preferable to have a short changeover time.</a:t>
            </a:r>
            <a:endParaRPr sz="2000"/>
          </a:p>
        </p:txBody>
      </p:sp>
      <p:sp>
        <p:nvSpPr>
          <p:cNvPr id="1126" name="Google Shape;1126;p101"/>
          <p:cNvSpPr txBox="1"/>
          <p:nvPr>
            <p:ph idx="1" type="body"/>
          </p:nvPr>
        </p:nvSpPr>
        <p:spPr>
          <a:xfrm>
            <a:off x="889412" y="2526900"/>
            <a:ext cx="654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start</a:t>
            </a:r>
            <a:endParaRPr sz="2000"/>
          </a:p>
        </p:txBody>
      </p:sp>
      <p:sp>
        <p:nvSpPr>
          <p:cNvPr id="1127" name="Google Shape;1127;p101"/>
          <p:cNvSpPr txBox="1"/>
          <p:nvPr>
            <p:ph idx="1" type="body"/>
          </p:nvPr>
        </p:nvSpPr>
        <p:spPr>
          <a:xfrm>
            <a:off x="3448200" y="3136500"/>
            <a:ext cx="1529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changeover</a:t>
            </a:r>
            <a:endParaRPr sz="2000"/>
          </a:p>
        </p:txBody>
      </p:sp>
      <p:sp>
        <p:nvSpPr>
          <p:cNvPr id="1128" name="Google Shape;1128;p101"/>
          <p:cNvSpPr txBox="1"/>
          <p:nvPr>
            <p:ph idx="1" type="body"/>
          </p:nvPr>
        </p:nvSpPr>
        <p:spPr>
          <a:xfrm>
            <a:off x="6877200" y="2526900"/>
            <a:ext cx="1483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destination</a:t>
            </a:r>
            <a:endParaRPr sz="2000"/>
          </a:p>
        </p:txBody>
      </p:sp>
      <p:cxnSp>
        <p:nvCxnSpPr>
          <p:cNvPr id="1129" name="Google Shape;1129;p101"/>
          <p:cNvCxnSpPr>
            <a:stCxn id="1126" idx="3"/>
            <a:endCxn id="1127" idx="1"/>
          </p:cNvCxnSpPr>
          <p:nvPr/>
        </p:nvCxnSpPr>
        <p:spPr>
          <a:xfrm>
            <a:off x="1544012" y="2680800"/>
            <a:ext cx="19041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101"/>
          <p:cNvCxnSpPr>
            <a:stCxn id="1127" idx="3"/>
            <a:endCxn id="1128" idx="1"/>
          </p:cNvCxnSpPr>
          <p:nvPr/>
        </p:nvCxnSpPr>
        <p:spPr>
          <a:xfrm flipH="1" rot="10800000">
            <a:off x="4977900" y="2680800"/>
            <a:ext cx="1899300" cy="60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1" name="Google Shape;1131;p101"/>
          <p:cNvSpPr txBox="1"/>
          <p:nvPr>
            <p:ph idx="1" type="body"/>
          </p:nvPr>
        </p:nvSpPr>
        <p:spPr>
          <a:xfrm rot="-1092331">
            <a:off x="5302463" y="2680083"/>
            <a:ext cx="1231970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</a:t>
            </a:r>
            <a:r>
              <a:rPr baseline="30000" lang="en-GB" sz="2000">
                <a:solidFill>
                  <a:schemeClr val="accent5"/>
                </a:solidFill>
              </a:rPr>
              <a:t>nd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2" name="Google Shape;1132;p101"/>
          <p:cNvSpPr txBox="1"/>
          <p:nvPr>
            <p:ph idx="1" type="body"/>
          </p:nvPr>
        </p:nvSpPr>
        <p:spPr>
          <a:xfrm rot="1038145">
            <a:off x="1989009" y="2659085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1</a:t>
            </a:r>
            <a:r>
              <a:rPr baseline="30000" lang="en-GB" sz="2000">
                <a:solidFill>
                  <a:schemeClr val="accent5"/>
                </a:solidFill>
              </a:rPr>
              <a:t>st</a:t>
            </a:r>
            <a:r>
              <a:rPr lang="en-GB" sz="2000">
                <a:solidFill>
                  <a:schemeClr val="accent5"/>
                </a:solidFill>
              </a:rPr>
              <a:t> train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3" name="Google Shape;1133;p101"/>
          <p:cNvSpPr txBox="1"/>
          <p:nvPr>
            <p:ph idx="1" type="body"/>
          </p:nvPr>
        </p:nvSpPr>
        <p:spPr>
          <a:xfrm rot="1038145">
            <a:off x="1894984" y="2968540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30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4" name="Google Shape;1134;p101"/>
          <p:cNvSpPr txBox="1"/>
          <p:nvPr>
            <p:ph idx="1" type="body"/>
          </p:nvPr>
        </p:nvSpPr>
        <p:spPr>
          <a:xfrm rot="-1092315">
            <a:off x="5405495" y="3022084"/>
            <a:ext cx="993849" cy="307945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45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5" name="Google Shape;1135;p101"/>
          <p:cNvSpPr txBox="1"/>
          <p:nvPr>
            <p:ph idx="1" type="body"/>
          </p:nvPr>
        </p:nvSpPr>
        <p:spPr>
          <a:xfrm rot="1126">
            <a:off x="3781319" y="3438937"/>
            <a:ext cx="915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4 min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6" name="Google Shape;1136;p101"/>
          <p:cNvSpPr txBox="1"/>
          <p:nvPr>
            <p:ph idx="1" type="body"/>
          </p:nvPr>
        </p:nvSpPr>
        <p:spPr>
          <a:xfrm>
            <a:off x="1638600" y="4152508"/>
            <a:ext cx="5254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Total journey time = 35 + 29 + 45</a:t>
            </a:r>
            <a:endParaRPr sz="2000"/>
          </a:p>
        </p:txBody>
      </p:sp>
      <p:sp>
        <p:nvSpPr>
          <p:cNvPr id="1137" name="Google Shape;1137;p101"/>
          <p:cNvSpPr txBox="1"/>
          <p:nvPr>
            <p:ph idx="1" type="body"/>
          </p:nvPr>
        </p:nvSpPr>
        <p:spPr>
          <a:xfrm>
            <a:off x="3931553" y="4533508"/>
            <a:ext cx="3110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109 min (1 hour 49 min)</a:t>
            </a:r>
            <a:endParaRPr sz="2000"/>
          </a:p>
        </p:txBody>
      </p:sp>
      <p:sp>
        <p:nvSpPr>
          <p:cNvPr id="1138" name="Google Shape;1138;p101"/>
          <p:cNvSpPr txBox="1"/>
          <p:nvPr>
            <p:ph idx="1" type="body"/>
          </p:nvPr>
        </p:nvSpPr>
        <p:spPr>
          <a:xfrm>
            <a:off x="324000" y="1267200"/>
            <a:ext cx="84198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However, this increases the risk of missing the connection.</a:t>
            </a:r>
            <a:br>
              <a:rPr lang="en-GB" sz="2000"/>
            </a:br>
            <a:r>
              <a:rPr lang="en-GB" sz="2000"/>
              <a:t>E.g. Alex’s 1</a:t>
            </a:r>
            <a:r>
              <a:rPr baseline="30000" lang="en-GB" sz="2000"/>
              <a:t>st</a:t>
            </a:r>
            <a:r>
              <a:rPr lang="en-GB" sz="2000"/>
              <a:t> train arrives 5 minutes late causing him to miss the </a:t>
            </a:r>
            <a:br>
              <a:rPr lang="en-GB" sz="2000"/>
            </a:br>
            <a:r>
              <a:rPr lang="en-GB" sz="2000"/>
              <a:t>2</a:t>
            </a:r>
            <a:r>
              <a:rPr baseline="30000" lang="en-GB" sz="2000"/>
              <a:t>nd</a:t>
            </a:r>
            <a:r>
              <a:rPr lang="en-GB" sz="2000"/>
              <a:t> train. He then has to wait another 29 minutes for the next train.</a:t>
            </a:r>
            <a:endParaRPr sz="2000"/>
          </a:p>
        </p:txBody>
      </p:sp>
      <p:cxnSp>
        <p:nvCxnSpPr>
          <p:cNvPr id="1139" name="Google Shape;1139;p101"/>
          <p:cNvCxnSpPr/>
          <p:nvPr/>
        </p:nvCxnSpPr>
        <p:spPr>
          <a:xfrm>
            <a:off x="3684581" y="3600129"/>
            <a:ext cx="915600" cy="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101"/>
          <p:cNvSpPr txBox="1"/>
          <p:nvPr>
            <p:ph idx="1" type="body"/>
          </p:nvPr>
        </p:nvSpPr>
        <p:spPr>
          <a:xfrm rot="1126">
            <a:off x="3781319" y="3743737"/>
            <a:ext cx="9156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29 min</a:t>
            </a:r>
            <a:endParaRPr sz="2000">
              <a:solidFill>
                <a:schemeClr val="accent5"/>
              </a:solidFill>
            </a:endParaRPr>
          </a:p>
        </p:txBody>
      </p:sp>
      <p:cxnSp>
        <p:nvCxnSpPr>
          <p:cNvPr id="1141" name="Google Shape;1141;p101"/>
          <p:cNvCxnSpPr/>
          <p:nvPr/>
        </p:nvCxnSpPr>
        <p:spPr>
          <a:xfrm>
            <a:off x="1871731" y="2960354"/>
            <a:ext cx="840000" cy="300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101"/>
          <p:cNvSpPr txBox="1"/>
          <p:nvPr>
            <p:ph idx="1" type="body"/>
          </p:nvPr>
        </p:nvSpPr>
        <p:spPr>
          <a:xfrm rot="1038145">
            <a:off x="1772350" y="3241789"/>
            <a:ext cx="993560" cy="307909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35 min</a:t>
            </a:r>
            <a:endParaRPr sz="2000">
              <a:solidFill>
                <a:schemeClr val="accent5"/>
              </a:solidFill>
            </a:endParaRPr>
          </a:p>
        </p:txBody>
      </p:sp>
      <p:pic>
        <p:nvPicPr>
          <p:cNvPr id="1143" name="Google Shape;114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8702" y="3690509"/>
            <a:ext cx="654600" cy="75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0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49" name="Google Shape;1149;p102"/>
          <p:cNvSpPr txBox="1"/>
          <p:nvPr>
            <p:ph idx="1" type="body"/>
          </p:nvPr>
        </p:nvSpPr>
        <p:spPr>
          <a:xfrm>
            <a:off x="324000" y="810000"/>
            <a:ext cx="8496000" cy="13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wants to travel from Town A to Town C.</a:t>
            </a:r>
            <a:br>
              <a:rPr lang="en-GB" sz="2000"/>
            </a:br>
            <a:r>
              <a:rPr lang="en-GB" sz="2000"/>
              <a:t>She plans to catch the 16:55 bus from Town A to Town B.</a:t>
            </a:r>
            <a:br>
              <a:rPr lang="en-GB" sz="2000"/>
            </a:br>
            <a:r>
              <a:rPr lang="en-GB" sz="2000"/>
              <a:t>The bus stop in Town B is a 4 minute walk from the train station.</a:t>
            </a:r>
            <a:br>
              <a:rPr lang="en-GB" sz="2000"/>
            </a:br>
            <a:r>
              <a:rPr lang="en-GB" sz="2000"/>
              <a:t>She then plans to catch the next train from Town B to Town C.</a:t>
            </a:r>
            <a:endParaRPr sz="2000"/>
          </a:p>
        </p:txBody>
      </p:sp>
      <p:graphicFrame>
        <p:nvGraphicFramePr>
          <p:cNvPr id="1150" name="Google Shape;1150;p102"/>
          <p:cNvGraphicFramePr/>
          <p:nvPr/>
        </p:nvGraphicFramePr>
        <p:xfrm>
          <a:off x="1932221" y="238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1665975"/>
                <a:gridCol w="956150"/>
                <a:gridCol w="95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A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16:55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:15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17:34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17:49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1" name="Google Shape;1151;p102"/>
          <p:cNvGraphicFramePr/>
          <p:nvPr/>
        </p:nvGraphicFramePr>
        <p:xfrm>
          <a:off x="1932221" y="368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1665975"/>
                <a:gridCol w="956150"/>
                <a:gridCol w="95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17:41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C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18:33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2" name="Google Shape;1152;p102"/>
          <p:cNvSpPr txBox="1"/>
          <p:nvPr>
            <p:ph idx="1" type="body"/>
          </p:nvPr>
        </p:nvSpPr>
        <p:spPr>
          <a:xfrm>
            <a:off x="508507" y="2310475"/>
            <a:ext cx="1460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Bus times:</a:t>
            </a:r>
            <a:endParaRPr sz="2000"/>
          </a:p>
        </p:txBody>
      </p:sp>
      <p:sp>
        <p:nvSpPr>
          <p:cNvPr id="1153" name="Google Shape;1153;p102"/>
          <p:cNvSpPr txBox="1"/>
          <p:nvPr>
            <p:ph idx="1" type="body"/>
          </p:nvPr>
        </p:nvSpPr>
        <p:spPr>
          <a:xfrm>
            <a:off x="324000" y="3605875"/>
            <a:ext cx="164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Train</a:t>
            </a:r>
            <a:r>
              <a:rPr lang="en-GB" sz="2000"/>
              <a:t> times:</a:t>
            </a:r>
            <a:endParaRPr sz="2000"/>
          </a:p>
        </p:txBody>
      </p:sp>
      <p:sp>
        <p:nvSpPr>
          <p:cNvPr id="1154" name="Google Shape;1154;p102"/>
          <p:cNvSpPr txBox="1"/>
          <p:nvPr>
            <p:ph idx="1" type="body"/>
          </p:nvPr>
        </p:nvSpPr>
        <p:spPr>
          <a:xfrm>
            <a:off x="5731774" y="2315598"/>
            <a:ext cx="2981700" cy="14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Will she arrive in Town B with enough time to catch</a:t>
            </a:r>
            <a:r>
              <a:rPr lang="en-GB" sz="2000"/>
              <a:t> the 17:41 train?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Explain your answer.</a:t>
            </a:r>
            <a:endParaRPr sz="2000"/>
          </a:p>
        </p:txBody>
      </p:sp>
      <p:sp>
        <p:nvSpPr>
          <p:cNvPr id="1155" name="Google Shape;1155;p102"/>
          <p:cNvSpPr txBox="1"/>
          <p:nvPr>
            <p:ph idx="1" type="body"/>
          </p:nvPr>
        </p:nvSpPr>
        <p:spPr>
          <a:xfrm>
            <a:off x="5731774" y="3862811"/>
            <a:ext cx="3129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Yes. She has 7 minutes to make her connection, meaning she has 3 minutes to spare.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6" name="Google Shape;115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85177" y="809998"/>
            <a:ext cx="434725" cy="8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0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62" name="Google Shape;1162;p103"/>
          <p:cNvSpPr txBox="1"/>
          <p:nvPr>
            <p:ph idx="1" type="body"/>
          </p:nvPr>
        </p:nvSpPr>
        <p:spPr>
          <a:xfrm>
            <a:off x="324000" y="810000"/>
            <a:ext cx="84960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16:55 bus arrives in Town B five</a:t>
            </a:r>
            <a:r>
              <a:rPr lang="en-GB" sz="2000"/>
              <a:t> minutes late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time does she arrive in Town C?</a:t>
            </a:r>
            <a:endParaRPr sz="2000"/>
          </a:p>
        </p:txBody>
      </p:sp>
      <p:sp>
        <p:nvSpPr>
          <p:cNvPr id="1163" name="Google Shape;1163;p103"/>
          <p:cNvSpPr txBox="1"/>
          <p:nvPr>
            <p:ph idx="1" type="body"/>
          </p:nvPr>
        </p:nvSpPr>
        <p:spPr>
          <a:xfrm>
            <a:off x="5697651" y="2388600"/>
            <a:ext cx="3152700" cy="23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She will miss the 17:41 train (unless that is also running late).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So she catches the 18:00 train and arrives in Town C at 18:50.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4" name="Google Shape;116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85177" y="809998"/>
            <a:ext cx="434725" cy="820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5" name="Google Shape;1165;p103"/>
          <p:cNvGraphicFramePr/>
          <p:nvPr/>
        </p:nvGraphicFramePr>
        <p:xfrm>
          <a:off x="1932221" y="238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1665975"/>
                <a:gridCol w="956150"/>
                <a:gridCol w="95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A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16:55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17:34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17:49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6" name="Google Shape;1166;p103"/>
          <p:cNvGraphicFramePr/>
          <p:nvPr/>
        </p:nvGraphicFramePr>
        <p:xfrm>
          <a:off x="1932221" y="368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1665975"/>
                <a:gridCol w="956150"/>
                <a:gridCol w="95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B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17:41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Town C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18:33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18:50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7" name="Google Shape;1167;p103"/>
          <p:cNvSpPr txBox="1"/>
          <p:nvPr>
            <p:ph idx="1" type="body"/>
          </p:nvPr>
        </p:nvSpPr>
        <p:spPr>
          <a:xfrm>
            <a:off x="508507" y="2310475"/>
            <a:ext cx="1460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Bus times:</a:t>
            </a:r>
            <a:endParaRPr sz="2000"/>
          </a:p>
        </p:txBody>
      </p:sp>
      <p:sp>
        <p:nvSpPr>
          <p:cNvPr id="1168" name="Google Shape;1168;p103"/>
          <p:cNvSpPr txBox="1"/>
          <p:nvPr>
            <p:ph idx="1" type="body"/>
          </p:nvPr>
        </p:nvSpPr>
        <p:spPr>
          <a:xfrm>
            <a:off x="324000" y="3605875"/>
            <a:ext cx="164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Train times: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0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74" name="Google Shape;1174;p104"/>
          <p:cNvSpPr txBox="1"/>
          <p:nvPr>
            <p:ph idx="1" type="body"/>
          </p:nvPr>
        </p:nvSpPr>
        <p:spPr>
          <a:xfrm>
            <a:off x="324000" y="657600"/>
            <a:ext cx="8373900" cy="1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1) Sofia has a university interview in an office in London.</a:t>
            </a:r>
            <a:br>
              <a:rPr lang="en-GB" sz="1700"/>
            </a:br>
            <a:r>
              <a:rPr lang="en-GB" sz="1700"/>
              <a:t>    She needs to arrive at the office before 11am.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/>
              <a:t>    The office is a 15-minute walk from London Kings Cross Station.</a:t>
            </a:r>
            <a:br>
              <a:rPr lang="en-GB" sz="1700"/>
            </a:br>
            <a:r>
              <a:rPr lang="en-GB" sz="1700"/>
              <a:t>    Her nearest train station, Oakington, is a 10-minute walk from her home. </a:t>
            </a:r>
            <a:br>
              <a:rPr lang="en-GB" sz="1700"/>
            </a:br>
            <a:r>
              <a:rPr lang="en-GB" sz="1700"/>
              <a:t>    The train is not direct. She would need to change trains at Elmsville.</a:t>
            </a:r>
            <a:br>
              <a:rPr lang="en-GB" sz="1700"/>
            </a:br>
            <a:r>
              <a:rPr lang="en-GB" sz="1700"/>
              <a:t>    Some possible train times are below.</a:t>
            </a:r>
            <a:endParaRPr sz="1700"/>
          </a:p>
        </p:txBody>
      </p:sp>
      <p:graphicFrame>
        <p:nvGraphicFramePr>
          <p:cNvPr id="1175" name="Google Shape;1175;p104"/>
          <p:cNvGraphicFramePr/>
          <p:nvPr/>
        </p:nvGraphicFramePr>
        <p:xfrm>
          <a:off x="560621" y="276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50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6" name="Google Shape;1176;p104"/>
          <p:cNvGraphicFramePr/>
          <p:nvPr/>
        </p:nvGraphicFramePr>
        <p:xfrm>
          <a:off x="560621" y="391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25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7" name="Google Shape;1177;p104"/>
          <p:cNvSpPr txBox="1"/>
          <p:nvPr>
            <p:ph idx="1" type="body"/>
          </p:nvPr>
        </p:nvSpPr>
        <p:spPr>
          <a:xfrm>
            <a:off x="5008875" y="2539075"/>
            <a:ext cx="3609900" cy="8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a) What is the latest possible time that Sofia can leave her home to arrive for her interview?</a:t>
            </a:r>
            <a:endParaRPr sz="1700"/>
          </a:p>
        </p:txBody>
      </p:sp>
      <p:sp>
        <p:nvSpPr>
          <p:cNvPr id="1178" name="Google Shape;1178;p104"/>
          <p:cNvSpPr txBox="1"/>
          <p:nvPr>
            <p:ph idx="1" type="body"/>
          </p:nvPr>
        </p:nvSpPr>
        <p:spPr>
          <a:xfrm>
            <a:off x="5008875" y="3499979"/>
            <a:ext cx="3609900" cy="5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b</a:t>
            </a:r>
            <a:r>
              <a:rPr lang="en-GB" sz="1700"/>
              <a:t>) What could go wrong if she leaves at the time in part (a)?</a:t>
            </a:r>
            <a:endParaRPr sz="1700"/>
          </a:p>
        </p:txBody>
      </p:sp>
      <p:sp>
        <p:nvSpPr>
          <p:cNvPr id="1179" name="Google Shape;1179;p104"/>
          <p:cNvSpPr txBox="1"/>
          <p:nvPr>
            <p:ph idx="1" type="body"/>
          </p:nvPr>
        </p:nvSpPr>
        <p:spPr>
          <a:xfrm>
            <a:off x="5008875" y="4177682"/>
            <a:ext cx="3609900" cy="5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c</a:t>
            </a:r>
            <a:r>
              <a:rPr lang="en-GB" sz="1700"/>
              <a:t>) Suggest a more cautious time that Sofia could leave her home.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0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85" name="Google Shape;1185;p105"/>
          <p:cNvSpPr txBox="1"/>
          <p:nvPr>
            <p:ph idx="1" type="body"/>
          </p:nvPr>
        </p:nvSpPr>
        <p:spPr>
          <a:xfrm>
            <a:off x="324000" y="657600"/>
            <a:ext cx="8496000" cy="21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Use a journey planning website to plan a journey.</a:t>
            </a:r>
            <a:endParaRPr sz="1800"/>
          </a:p>
          <a:p>
            <a:pPr indent="0" lvl="0" marL="224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journey should be from your home to a destination that you could travel to by public transport. However, the journey should include at least 1 changeover when using public transport (e.g. a bus and then a train).</a:t>
            </a:r>
            <a:endParaRPr sz="1800"/>
          </a:p>
          <a:p>
            <a:pPr indent="0" lvl="0" marL="224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Plan how you could make the journey by public transport.</a:t>
            </a:r>
            <a:endParaRPr sz="1800"/>
          </a:p>
          <a:p>
            <a:pPr indent="0" lvl="0" marL="224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may wish to consider the following points:</a:t>
            </a:r>
            <a:endParaRPr sz="1800"/>
          </a:p>
        </p:txBody>
      </p:sp>
      <p:sp>
        <p:nvSpPr>
          <p:cNvPr id="1186" name="Google Shape;1186;p105"/>
          <p:cNvSpPr txBox="1"/>
          <p:nvPr>
            <p:ph idx="1" type="body"/>
          </p:nvPr>
        </p:nvSpPr>
        <p:spPr>
          <a:xfrm>
            <a:off x="324000" y="2946925"/>
            <a:ext cx="8847600" cy="17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your home and where you would first board transport;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where you exit the transport and your destination;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time you would spend travelling during each </a:t>
            </a:r>
            <a:r>
              <a:rPr lang="en-GB" sz="1700"/>
              <a:t>stage of the journey</a:t>
            </a:r>
            <a:r>
              <a:rPr lang="en-GB" sz="1700"/>
              <a:t>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amount of time during your changeover;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total amount of time for the entire journey;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cost of a ticket on the public transport for each stage of the journey.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0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192" name="Google Shape;1192;p106"/>
          <p:cNvSpPr txBox="1"/>
          <p:nvPr>
            <p:ph idx="1" type="body"/>
          </p:nvPr>
        </p:nvSpPr>
        <p:spPr>
          <a:xfrm>
            <a:off x="324000" y="657600"/>
            <a:ext cx="8572200" cy="19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Sofia has a university interview in an office in London.</a:t>
            </a:r>
            <a:br>
              <a:rPr lang="en-GB" sz="1800"/>
            </a:br>
            <a:r>
              <a:rPr lang="en-GB" sz="1800"/>
              <a:t>    She needs to arrive at the office before 11</a:t>
            </a:r>
            <a:r>
              <a:rPr lang="en-GB" sz="1800"/>
              <a:t>am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The office is a 15-minute walk from London Kings Cross Station.</a:t>
            </a:r>
            <a:br>
              <a:rPr lang="en-GB" sz="1800"/>
            </a:br>
            <a:r>
              <a:rPr lang="en-GB" sz="1800"/>
              <a:t>    Her nearest train station, Oakington, is a 10-minute walk from her home. </a:t>
            </a:r>
            <a:br>
              <a:rPr lang="en-GB" sz="1800"/>
            </a:br>
            <a:r>
              <a:rPr lang="en-GB" sz="1800"/>
              <a:t>    The train is not direct. She would need to change trains at Elmsville.</a:t>
            </a:r>
            <a:br>
              <a:rPr lang="en-GB" sz="1800"/>
            </a:br>
            <a:r>
              <a:rPr lang="en-GB" sz="1800"/>
              <a:t>    Some possible train times are below.</a:t>
            </a:r>
            <a:endParaRPr sz="1800"/>
          </a:p>
        </p:txBody>
      </p:sp>
      <p:graphicFrame>
        <p:nvGraphicFramePr>
          <p:cNvPr id="1193" name="Google Shape;1193;p106"/>
          <p:cNvGraphicFramePr/>
          <p:nvPr/>
        </p:nvGraphicFramePr>
        <p:xfrm>
          <a:off x="560621" y="276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50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4" name="Google Shape;1194;p106"/>
          <p:cNvGraphicFramePr/>
          <p:nvPr/>
        </p:nvGraphicFramePr>
        <p:xfrm>
          <a:off x="560621" y="391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25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5" name="Google Shape;1195;p106"/>
          <p:cNvSpPr txBox="1"/>
          <p:nvPr>
            <p:ph idx="1" type="body"/>
          </p:nvPr>
        </p:nvSpPr>
        <p:spPr>
          <a:xfrm>
            <a:off x="5020300" y="2615275"/>
            <a:ext cx="387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is the latest possible time that Sofia can leave her home to arrive for her interview?</a:t>
            </a:r>
            <a:endParaRPr sz="1800"/>
          </a:p>
        </p:txBody>
      </p:sp>
      <p:sp>
        <p:nvSpPr>
          <p:cNvPr id="1196" name="Google Shape;1196;p106"/>
          <p:cNvSpPr txBox="1"/>
          <p:nvPr>
            <p:ph idx="1" type="body"/>
          </p:nvPr>
        </p:nvSpPr>
        <p:spPr>
          <a:xfrm>
            <a:off x="5438700" y="3579587"/>
            <a:ext cx="36099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Leave home at 07:53.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08:03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train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from Oakington.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08:40 train from Elmsville.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Arrive at office at 10:59.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106"/>
          <p:cNvSpPr txBox="1"/>
          <p:nvPr>
            <p:ph idx="1" type="body"/>
          </p:nvPr>
        </p:nvSpPr>
        <p:spPr>
          <a:xfrm>
            <a:off x="7785787" y="3315711"/>
            <a:ext cx="605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07:53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graphicFrame>
        <p:nvGraphicFramePr>
          <p:cNvPr id="1203" name="Google Shape;1203;p107"/>
          <p:cNvGraphicFramePr/>
          <p:nvPr/>
        </p:nvGraphicFramePr>
        <p:xfrm>
          <a:off x="560621" y="817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50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4" name="Google Shape;1204;p107"/>
          <p:cNvGraphicFramePr/>
          <p:nvPr/>
        </p:nvGraphicFramePr>
        <p:xfrm>
          <a:off x="560621" y="192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25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5" name="Google Shape;1205;p107"/>
          <p:cNvSpPr txBox="1"/>
          <p:nvPr>
            <p:ph idx="1" type="body"/>
          </p:nvPr>
        </p:nvSpPr>
        <p:spPr>
          <a:xfrm>
            <a:off x="5161275" y="779208"/>
            <a:ext cx="360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could go wrong if she leaves at the time in part (a)?</a:t>
            </a:r>
            <a:endParaRPr sz="1800"/>
          </a:p>
        </p:txBody>
      </p:sp>
      <p:sp>
        <p:nvSpPr>
          <p:cNvPr id="1206" name="Google Shape;1206;p107"/>
          <p:cNvSpPr txBox="1"/>
          <p:nvPr>
            <p:ph idx="1" type="body"/>
          </p:nvPr>
        </p:nvSpPr>
        <p:spPr>
          <a:xfrm>
            <a:off x="5438700" y="1544617"/>
            <a:ext cx="360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The train from Elmsville to London could be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delayed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107"/>
          <p:cNvSpPr txBox="1"/>
          <p:nvPr>
            <p:ph idx="1" type="body"/>
          </p:nvPr>
        </p:nvSpPr>
        <p:spPr>
          <a:xfrm>
            <a:off x="560625" y="2882275"/>
            <a:ext cx="8210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Suggest a </a:t>
            </a:r>
            <a:r>
              <a:rPr lang="en-GB" sz="1800"/>
              <a:t>more cautious</a:t>
            </a:r>
            <a:r>
              <a:rPr lang="en-GB" sz="1800"/>
              <a:t> time that Sofia could leave her home.</a:t>
            </a:r>
            <a:endParaRPr sz="1800"/>
          </a:p>
        </p:txBody>
      </p:sp>
      <p:sp>
        <p:nvSpPr>
          <p:cNvPr id="1208" name="Google Shape;1208;p107"/>
          <p:cNvSpPr txBox="1"/>
          <p:nvPr>
            <p:ph idx="1" type="body"/>
          </p:nvPr>
        </p:nvSpPr>
        <p:spPr>
          <a:xfrm>
            <a:off x="710100" y="3227431"/>
            <a:ext cx="112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1: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9" name="Google Shape;1209;p107"/>
          <p:cNvSpPr txBox="1"/>
          <p:nvPr>
            <p:ph idx="1" type="body"/>
          </p:nvPr>
        </p:nvSpPr>
        <p:spPr>
          <a:xfrm>
            <a:off x="1933500" y="3236380"/>
            <a:ext cx="36099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Leave home at 07:23.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07:33 train from Oakington.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08:00 train from Elmsville.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Arrive at office at 10:35.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0" name="Google Shape;1210;p107"/>
          <p:cNvSpPr txBox="1"/>
          <p:nvPr>
            <p:ph idx="1" type="body"/>
          </p:nvPr>
        </p:nvSpPr>
        <p:spPr>
          <a:xfrm>
            <a:off x="666000" y="4531493"/>
            <a:ext cx="8105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However, this only gives Sofia 3 minutes to change trains in Elmsville.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graphicFrame>
        <p:nvGraphicFramePr>
          <p:cNvPr id="1216" name="Google Shape;1216;p108"/>
          <p:cNvGraphicFramePr/>
          <p:nvPr/>
        </p:nvGraphicFramePr>
        <p:xfrm>
          <a:off x="560621" y="817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50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7" name="Google Shape;1217;p108"/>
          <p:cNvGraphicFramePr/>
          <p:nvPr/>
        </p:nvGraphicFramePr>
        <p:xfrm>
          <a:off x="560621" y="192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{3068E9E1-C39F-40F7-8E9B-7A8B8694A38C}</a:tableStyleId>
              </a:tblPr>
              <a:tblGrid>
                <a:gridCol w="2137025"/>
                <a:gridCol w="720625"/>
                <a:gridCol w="720625"/>
                <a:gridCol w="720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Elmsville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8" name="Google Shape;1218;p108"/>
          <p:cNvSpPr txBox="1"/>
          <p:nvPr>
            <p:ph idx="1" type="body"/>
          </p:nvPr>
        </p:nvSpPr>
        <p:spPr>
          <a:xfrm>
            <a:off x="5161275" y="779208"/>
            <a:ext cx="360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could go wrong if she leaves at the time in part (a)?</a:t>
            </a:r>
            <a:endParaRPr sz="1800"/>
          </a:p>
        </p:txBody>
      </p:sp>
      <p:sp>
        <p:nvSpPr>
          <p:cNvPr id="1219" name="Google Shape;1219;p108"/>
          <p:cNvSpPr txBox="1"/>
          <p:nvPr>
            <p:ph idx="1" type="body"/>
          </p:nvPr>
        </p:nvSpPr>
        <p:spPr>
          <a:xfrm>
            <a:off x="5438700" y="1544617"/>
            <a:ext cx="36099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The train from Elmsville to London could be delayed.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108"/>
          <p:cNvSpPr txBox="1"/>
          <p:nvPr>
            <p:ph idx="1" type="body"/>
          </p:nvPr>
        </p:nvSpPr>
        <p:spPr>
          <a:xfrm>
            <a:off x="560625" y="2882275"/>
            <a:ext cx="8210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Suggest a more cautious time that Sofia could leave her home.</a:t>
            </a:r>
            <a:endParaRPr sz="1800"/>
          </a:p>
        </p:txBody>
      </p:sp>
      <p:sp>
        <p:nvSpPr>
          <p:cNvPr id="1221" name="Google Shape;1221;p108"/>
          <p:cNvSpPr txBox="1"/>
          <p:nvPr>
            <p:ph idx="1" type="body"/>
          </p:nvPr>
        </p:nvSpPr>
        <p:spPr>
          <a:xfrm>
            <a:off x="710100" y="3227431"/>
            <a:ext cx="1125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2: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108"/>
          <p:cNvSpPr txBox="1"/>
          <p:nvPr>
            <p:ph idx="1" type="body"/>
          </p:nvPr>
        </p:nvSpPr>
        <p:spPr>
          <a:xfrm>
            <a:off x="1933500" y="3236375"/>
            <a:ext cx="68376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Leave home at 06:53.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07: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train from Oakington.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Catch 07: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 train from Elmsville (or 08: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 if connection is missed).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Arrive at office at 09:59.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0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 journey that includes changeovers</a:t>
            </a:r>
            <a:endParaRPr/>
          </a:p>
        </p:txBody>
      </p:sp>
      <p:sp>
        <p:nvSpPr>
          <p:cNvPr id="1228" name="Google Shape;1228;p109"/>
          <p:cNvSpPr txBox="1"/>
          <p:nvPr>
            <p:ph idx="1" type="body"/>
          </p:nvPr>
        </p:nvSpPr>
        <p:spPr>
          <a:xfrm>
            <a:off x="621875" y="4535567"/>
            <a:ext cx="7764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will vary depending on pupils’ choices.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109"/>
          <p:cNvSpPr txBox="1"/>
          <p:nvPr>
            <p:ph idx="1" type="body"/>
          </p:nvPr>
        </p:nvSpPr>
        <p:spPr>
          <a:xfrm>
            <a:off x="324000" y="657600"/>
            <a:ext cx="8496000" cy="21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Use a journey planning website to plan a journey.</a:t>
            </a:r>
            <a:endParaRPr sz="1800"/>
          </a:p>
          <a:p>
            <a:pPr indent="0" lvl="0" marL="224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journey should be from your home to a destination that you could travel to by public transport. However, the journey should include at least 1 changeover when using public transport (e.g. a bus and then a train).</a:t>
            </a:r>
            <a:endParaRPr sz="1800"/>
          </a:p>
          <a:p>
            <a:pPr indent="0" lvl="0" marL="224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Plan how you could make the journey by public transport.</a:t>
            </a:r>
            <a:endParaRPr sz="1800"/>
          </a:p>
          <a:p>
            <a:pPr indent="0" lvl="0" marL="224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may wish to consider the following points:</a:t>
            </a:r>
            <a:endParaRPr sz="1800"/>
          </a:p>
        </p:txBody>
      </p:sp>
      <p:sp>
        <p:nvSpPr>
          <p:cNvPr id="1230" name="Google Shape;1230;p109"/>
          <p:cNvSpPr txBox="1"/>
          <p:nvPr>
            <p:ph idx="1" type="body"/>
          </p:nvPr>
        </p:nvSpPr>
        <p:spPr>
          <a:xfrm>
            <a:off x="324000" y="2794525"/>
            <a:ext cx="8847600" cy="17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your home and where you would first board transport;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distance between where you exit the transport and your destination;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time you would spend travelling during each stage of the journey;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amount of time during your changeover;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the total amount of time for the entire journey;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cost of a ticket on the public transport for each stage of the journey.</a:t>
            </a:r>
            <a:endParaRPr sz="1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0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1236" name="Google Shape;1236;p110"/>
          <p:cNvSpPr txBox="1"/>
          <p:nvPr>
            <p:ph idx="1" type="body"/>
          </p:nvPr>
        </p:nvSpPr>
        <p:spPr>
          <a:xfrm>
            <a:off x="324000" y="810000"/>
            <a:ext cx="8451900" cy="28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There may be many options for how to </a:t>
            </a:r>
            <a:r>
              <a:rPr lang="en-GB" sz="2000"/>
              <a:t>travel</a:t>
            </a:r>
            <a:r>
              <a:rPr lang="en-GB" sz="2000"/>
              <a:t> to a place.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Journey planners can aid when deciding how to travel to a location. However, they have their limitations.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Various factors can affect which mode of transport is most favourable, such as journey time, cost, environmental impact, etc.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It is important to consider the implications of each form of transport.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11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42" name="Google Shape;1242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4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