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8" r:id="rId4"/>
  </p:sldMasterIdLst>
  <p:notesMasterIdLst>
    <p:notesMasterId r:id="rId5"/>
  </p:notesMasterIdLst>
  <p:sldIdLst>
    <p:sldId id="256" r:id="rId6"/>
    <p:sldId id="257" r:id="rId7"/>
  </p:sldIdLst>
  <p:sldSz cy="10692000" cx="7560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2CBCF057-F0F1-4720-B309-2CEC89400F32}">
  <a:tblStyle styleId="{2CBCF057-F0F1-4720-B309-2CEC89400F32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2217050" y="685800"/>
            <a:ext cx="2424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g279934fec8d_0_131:notes"/>
          <p:cNvSpPr/>
          <p:nvPr>
            <p:ph idx="2" type="sldImg"/>
          </p:nvPr>
        </p:nvSpPr>
        <p:spPr>
          <a:xfrm>
            <a:off x="2217050" y="685800"/>
            <a:ext cx="2424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3" name="Google Shape;113;g279934fec8d_0_1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g279934fec8d_0_136:notes"/>
          <p:cNvSpPr/>
          <p:nvPr>
            <p:ph idx="2" type="sldImg"/>
          </p:nvPr>
        </p:nvSpPr>
        <p:spPr>
          <a:xfrm>
            <a:off x="2217050" y="685800"/>
            <a:ext cx="2424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0" name="Google Shape;130;g279934fec8d_0_1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image" Target="../media/image1.png"/><Relationship Id="rId5" Type="http://schemas.openxmlformats.org/officeDocument/2006/relationships/image" Target="../media/image2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image" Target="../media/image1.png"/><Relationship Id="rId5" Type="http://schemas.openxmlformats.org/officeDocument/2006/relationships/image" Target="../media/image2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1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1.png"/><Relationship Id="rId4" Type="http://schemas.openxmlformats.org/officeDocument/2006/relationships/hyperlink" Target="https://www.nationalarchives.gov.uk/doc/open-government-licence/version/3/" TargetMode="External"/><Relationship Id="rId5" Type="http://schemas.openxmlformats.org/officeDocument/2006/relationships/hyperlink" Target="https://www.thenational.academy/legal/terms-and-conditions" TargetMode="Externa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image" Target="../media/image1.png"/><Relationship Id="rId5" Type="http://schemas.openxmlformats.org/officeDocument/2006/relationships/hyperlink" Target="https://www.nationalarchives.gov.uk/doc/open-government-licence/version/3/" TargetMode="External"/><Relationship Id="rId6" Type="http://schemas.openxmlformats.org/officeDocument/2006/relationships/hyperlink" Target="https://www.thenational.academy/legal/terms-and-conditions" TargetMode="External"/><Relationship Id="rId7" Type="http://schemas.openxmlformats.org/officeDocument/2006/relationships/image" Target="../media/image2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image" Target="../media/image1.png"/><Relationship Id="rId5" Type="http://schemas.openxmlformats.org/officeDocument/2006/relationships/hyperlink" Target="https://www.nationalarchives.gov.uk/doc/open-government-licence/version/3/" TargetMode="External"/><Relationship Id="rId6" Type="http://schemas.openxmlformats.org/officeDocument/2006/relationships/hyperlink" Target="https://www.thenational.academy/legal/terms-and-conditions" TargetMode="External"/><Relationship Id="rId7" Type="http://schemas.openxmlformats.org/officeDocument/2006/relationships/image" Target="../media/image2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image" Target="../media/image1.png"/><Relationship Id="rId5" Type="http://schemas.openxmlformats.org/officeDocument/2006/relationships/image" Target="../media/image2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1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1.png"/><Relationship Id="rId4" Type="http://schemas.openxmlformats.org/officeDocument/2006/relationships/hyperlink" Target="https://www.nationalarchives.gov.uk/doc/open-government-licence/version/3/" TargetMode="External"/><Relationship Id="rId5" Type="http://schemas.openxmlformats.org/officeDocument/2006/relationships/hyperlink" Target="https://www.thenational.academy/legal/terms-and-conditions" TargetMode="Externa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image" Target="../media/image1.png"/><Relationship Id="rId5" Type="http://schemas.openxmlformats.org/officeDocument/2006/relationships/hyperlink" Target="https://www.nationalarchives.gov.uk/doc/open-government-licence/version/3/" TargetMode="External"/><Relationship Id="rId6" Type="http://schemas.openxmlformats.org/officeDocument/2006/relationships/hyperlink" Target="https://www.thenational.academy/legal/terms-and-conditions" TargetMode="External"/><Relationship Id="rId7" Type="http://schemas.openxmlformats.org/officeDocument/2006/relationships/image" Target="../media/image2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 Title page">
  <p:cSld name="SECTION_HEADER_1_1_1_1_1_1_1_1_1_1_1_2_1_1_1_1_1_2"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oogle Shape;10;p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Google Shape;11;p2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2" name="Google Shape;12;p2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3" name="Google Shape;13;p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00" y="124200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14" name="Google Shape;14;p2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5" name="Google Shape;15;p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6" name="Google Shape;16;p2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7" name="Google Shape;17;p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722275" y="215694"/>
            <a:ext cx="504000" cy="504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1 Title page with long title">
  <p:cSld name="SECTION_HEADER_1_1_1_1_1_1_1_1_1_1_1_2_1_1_1_1_1_1_2">
    <p:bg>
      <p:bgPr>
        <a:solidFill>
          <a:schemeClr val="lt1"/>
        </a:solidFill>
      </p:bgPr>
    </p:bg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Google Shape;19;p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21" name="Google Shape;21;p3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22" name="Google Shape;22;p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00" y="154315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23" name="Google Shape;23;p3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24" name="Google Shape;24;p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25" name="Google Shape;25;p3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26" name="Google Shape;26;p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722275" y="215694"/>
            <a:ext cx="504000" cy="504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 Middle page">
  <p:cSld name="SECTION_HEADER_1_1_1_1_1_1_1_1_1_1_1_2_1_1_1_1_1_1_1_1_2">
    <p:bg>
      <p:bgPr>
        <a:solidFill>
          <a:schemeClr val="lt1"/>
        </a:solidFill>
      </p:bgPr>
    </p:bg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" name="Google Shape;28;p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29" name="Google Shape;29;p4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30" name="Google Shape;30;p4"/>
          <p:cNvSpPr txBox="1"/>
          <p:nvPr/>
        </p:nvSpPr>
        <p:spPr>
          <a:xfrm>
            <a:off x="6366900" y="360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 sz="9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" name="Google Shape;31;p4"/>
          <p:cNvSpPr txBox="1"/>
          <p:nvPr>
            <p:ph idx="1" type="subTitle"/>
          </p:nvPr>
        </p:nvSpPr>
        <p:spPr>
          <a:xfrm>
            <a:off x="1463400" y="360000"/>
            <a:ext cx="4782600" cy="246300"/>
          </a:xfrm>
          <a:prstGeom prst="rect">
            <a:avLst/>
          </a:prstGeom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32" name="Google Shape;32;p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33" name="Google Shape;33;p4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1 Last page">
  <p:cSld name="SECTION_HEADER_1_1_1_1_1_1_1_1_1_1_1_2_1_1_1_1_1_1_1_1_1_3">
    <p:bg>
      <p:bgPr>
        <a:solidFill>
          <a:schemeClr val="lt1"/>
        </a:solidFill>
      </p:bgPr>
    </p:bg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" name="Google Shape;35;p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36" name="Google Shape;36;p5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37" name="Google Shape;37;p5"/>
          <p:cNvSpPr txBox="1"/>
          <p:nvPr/>
        </p:nvSpPr>
        <p:spPr>
          <a:xfrm>
            <a:off x="6366900" y="360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 sz="9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8" name="Google Shape;38;p5"/>
          <p:cNvSpPr txBox="1"/>
          <p:nvPr>
            <p:ph idx="1" type="subTitle"/>
          </p:nvPr>
        </p:nvSpPr>
        <p:spPr>
          <a:xfrm>
            <a:off x="1463400" y="360000"/>
            <a:ext cx="4782600" cy="246300"/>
          </a:xfrm>
          <a:prstGeom prst="rect">
            <a:avLst/>
          </a:prstGeom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39" name="Google Shape;39;p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40" name="Google Shape;40;p5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1" name="Google Shape;41;p5"/>
          <p:cNvSpPr txBox="1"/>
          <p:nvPr/>
        </p:nvSpPr>
        <p:spPr>
          <a:xfrm>
            <a:off x="468000" y="10152000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42" name="Google Shape;42;p5"/>
          <p:cNvSpPr txBox="1"/>
          <p:nvPr/>
        </p:nvSpPr>
        <p:spPr>
          <a:xfrm>
            <a:off x="470550" y="9972000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-GB" sz="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43" name="Google Shape;43;p5"/>
          <p:cNvSpPr txBox="1"/>
          <p:nvPr/>
        </p:nvSpPr>
        <p:spPr>
          <a:xfrm>
            <a:off x="3903375" y="9972000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44" name="Google Shape;44;p5"/>
          <p:cNvSpPr txBox="1"/>
          <p:nvPr>
            <p:ph idx="2" type="subTitle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 Single page worksheet">
  <p:cSld name="SECTION_HEADER_1_1_1_1_1_1_1_1_1_1_1_2_1_1_1_1_1_2_1">
    <p:bg>
      <p:bgPr>
        <a:solidFill>
          <a:schemeClr val="lt1"/>
        </a:solidFill>
      </p:bgPr>
    </p:bg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6" name="Google Shape;46;p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47" name="Google Shape;47;p6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48" name="Google Shape;48;p6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49" name="Google Shape;49;p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00" y="124200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50" name="Google Shape;50;p6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51" name="Google Shape;51;p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52" name="Google Shape;52;p6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3" name="Google Shape;53;p6"/>
          <p:cNvSpPr txBox="1"/>
          <p:nvPr/>
        </p:nvSpPr>
        <p:spPr>
          <a:xfrm>
            <a:off x="468000" y="10152000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54" name="Google Shape;54;p6"/>
          <p:cNvSpPr txBox="1"/>
          <p:nvPr/>
        </p:nvSpPr>
        <p:spPr>
          <a:xfrm>
            <a:off x="470550" y="9972000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-GB" sz="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55" name="Google Shape;55;p6"/>
          <p:cNvSpPr txBox="1"/>
          <p:nvPr/>
        </p:nvSpPr>
        <p:spPr>
          <a:xfrm>
            <a:off x="3903375" y="9972000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56" name="Google Shape;56;p6"/>
          <p:cNvSpPr txBox="1"/>
          <p:nvPr>
            <p:ph idx="1" type="subTitle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57" name="Google Shape;57;p6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5722275" y="215694"/>
            <a:ext cx="504000" cy="504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1 Single page worksheet with long title">
  <p:cSld name="SECTION_HEADER_1_1_1_1_1_1_1_1_1_1_1_2_1_1_1_1_1_1_1">
    <p:bg>
      <p:bgPr>
        <a:solidFill>
          <a:schemeClr val="lt1"/>
        </a:solidFill>
      </p:bgPr>
    </p:bg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9" name="Google Shape;59;p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60" name="Google Shape;60;p7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61" name="Google Shape;61;p7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62" name="Google Shape;62;p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00" y="154315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63" name="Google Shape;63;p7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64" name="Google Shape;64;p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65" name="Google Shape;65;p7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6" name="Google Shape;66;p7"/>
          <p:cNvSpPr txBox="1"/>
          <p:nvPr/>
        </p:nvSpPr>
        <p:spPr>
          <a:xfrm>
            <a:off x="468000" y="10152000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67" name="Google Shape;67;p7"/>
          <p:cNvSpPr txBox="1"/>
          <p:nvPr/>
        </p:nvSpPr>
        <p:spPr>
          <a:xfrm>
            <a:off x="470550" y="9972000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-GB" sz="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68" name="Google Shape;68;p7"/>
          <p:cNvSpPr txBox="1"/>
          <p:nvPr/>
        </p:nvSpPr>
        <p:spPr>
          <a:xfrm>
            <a:off x="3903375" y="9972000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69" name="Google Shape;69;p7"/>
          <p:cNvSpPr txBox="1"/>
          <p:nvPr>
            <p:ph idx="1" type="subTitle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70" name="Google Shape;70;p7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5722275" y="215694"/>
            <a:ext cx="504000" cy="504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 Landscape title page">
  <p:cSld name="SECTION_HEADER_1_1_1_1_1_1_1_1_1_1_1_2_1_1_1_1_1_1_1_1_1_1">
    <p:bg>
      <p:bgPr>
        <a:solidFill>
          <a:schemeClr val="lt1"/>
        </a:solidFill>
      </p:bgPr>
    </p:bg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2" name="Google Shape;72;p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73" name="Google Shape;73;p8"/>
          <p:cNvSpPr txBox="1"/>
          <p:nvPr>
            <p:ph idx="12" type="sldNum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74" name="Google Shape;74;p8"/>
          <p:cNvSpPr txBox="1"/>
          <p:nvPr>
            <p:ph type="title"/>
          </p:nvPr>
        </p:nvSpPr>
        <p:spPr>
          <a:xfrm rot="-5400000">
            <a:off x="-3842125" y="5162095"/>
            <a:ext cx="99837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75" name="Google Shape;75;p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-3612750" y="5310727"/>
            <a:ext cx="9987174" cy="66225"/>
          </a:xfrm>
          <a:prstGeom prst="rect">
            <a:avLst/>
          </a:prstGeom>
          <a:noFill/>
          <a:ln>
            <a:noFill/>
          </a:ln>
        </p:spPr>
      </p:pic>
      <p:sp>
        <p:nvSpPr>
          <p:cNvPr id="76" name="Google Shape;76;p8"/>
          <p:cNvSpPr txBox="1"/>
          <p:nvPr/>
        </p:nvSpPr>
        <p:spPr>
          <a:xfrm rot="-5400000">
            <a:off x="104964" y="719111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77" name="Google Shape;77;p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-5400000">
            <a:off x="103775" y="97696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78" name="Google Shape;78;p8"/>
          <p:cNvSpPr txBox="1"/>
          <p:nvPr/>
        </p:nvSpPr>
        <p:spPr>
          <a:xfrm rot="-5400000">
            <a:off x="183269" y="9772906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79" name="Google Shape;79;p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rot="-5400000">
            <a:off x="319775" y="1225719"/>
            <a:ext cx="504000" cy="504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1 Landscape middle page">
  <p:cSld name="SECTION_HEADER_1_1_1_1_1_1_1_1_1_1_1_2_1_1_1_1_1_1_1_1_1_1_1_2">
    <p:bg>
      <p:bgPr>
        <a:solidFill>
          <a:schemeClr val="lt1"/>
        </a:solidFill>
      </p:bgPr>
    </p:bg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" name="Google Shape;81;p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82" name="Google Shape;82;p9"/>
          <p:cNvSpPr txBox="1"/>
          <p:nvPr>
            <p:ph idx="12" type="sldNum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83" name="Google Shape;83;p9"/>
          <p:cNvSpPr txBox="1"/>
          <p:nvPr/>
        </p:nvSpPr>
        <p:spPr>
          <a:xfrm rot="-5400000">
            <a:off x="174000" y="654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 sz="9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84" name="Google Shape;84;p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103775" y="97696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9"/>
          <p:cNvSpPr txBox="1"/>
          <p:nvPr/>
        </p:nvSpPr>
        <p:spPr>
          <a:xfrm rot="-5400000">
            <a:off x="183269" y="9772906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6" name="Google Shape;86;p9"/>
          <p:cNvSpPr txBox="1"/>
          <p:nvPr>
            <p:ph idx="1" type="subTitle"/>
          </p:nvPr>
        </p:nvSpPr>
        <p:spPr>
          <a:xfrm rot="-5400000">
            <a:off x="-3498000" y="5128425"/>
            <a:ext cx="8070600" cy="246300"/>
          </a:xfrm>
          <a:prstGeom prst="rect">
            <a:avLst/>
          </a:prstGeom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2 Landscape last page">
  <p:cSld name="SECTION_HEADER_1_1_1_1_1_1_1_1_1_1_1_2_1_1_1_1_1_1_1_1_1_1_1_1_1">
    <p:bg>
      <p:bgPr>
        <a:solidFill>
          <a:schemeClr val="lt1"/>
        </a:solidFill>
      </p:bgPr>
    </p:bg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" name="Google Shape;88;p1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89" name="Google Shape;89;p10"/>
          <p:cNvSpPr txBox="1"/>
          <p:nvPr>
            <p:ph idx="12" type="sldNum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90" name="Google Shape;90;p10"/>
          <p:cNvSpPr txBox="1"/>
          <p:nvPr/>
        </p:nvSpPr>
        <p:spPr>
          <a:xfrm rot="-5400000">
            <a:off x="174000" y="654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 sz="9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91" name="Google Shape;91;p1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103775" y="97696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10"/>
          <p:cNvSpPr txBox="1"/>
          <p:nvPr/>
        </p:nvSpPr>
        <p:spPr>
          <a:xfrm rot="-5400000">
            <a:off x="183269" y="9772906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3" name="Google Shape;93;p10"/>
          <p:cNvSpPr txBox="1"/>
          <p:nvPr/>
        </p:nvSpPr>
        <p:spPr>
          <a:xfrm rot="-5400000">
            <a:off x="3997613" y="7219188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94" name="Google Shape;94;p10"/>
          <p:cNvSpPr txBox="1"/>
          <p:nvPr/>
        </p:nvSpPr>
        <p:spPr>
          <a:xfrm rot="-5400000">
            <a:off x="5092013" y="8491038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-GB" sz="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95" name="Google Shape;95;p10"/>
          <p:cNvSpPr txBox="1"/>
          <p:nvPr/>
        </p:nvSpPr>
        <p:spPr>
          <a:xfrm rot="-5400000">
            <a:off x="5488463" y="5454663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96" name="Google Shape;96;p10"/>
          <p:cNvSpPr txBox="1"/>
          <p:nvPr>
            <p:ph idx="1" type="subTitle"/>
          </p:nvPr>
        </p:nvSpPr>
        <p:spPr>
          <a:xfrm rot="-5400000">
            <a:off x="5488463" y="5454663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7" name="Google Shape;97;p10"/>
          <p:cNvSpPr txBox="1"/>
          <p:nvPr>
            <p:ph idx="2" type="subTitle"/>
          </p:nvPr>
        </p:nvSpPr>
        <p:spPr>
          <a:xfrm rot="-5400000">
            <a:off x="-3498000" y="5128425"/>
            <a:ext cx="8070600" cy="246300"/>
          </a:xfrm>
          <a:prstGeom prst="rect">
            <a:avLst/>
          </a:prstGeom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5.0 Landscape single page worksheet">
  <p:cSld name="SECTION_HEADER_1_1_1_1_1_1_1_1_1_1_1_2_1_1_1_1_1_1_1_1_1_1_2">
    <p:bg>
      <p:bgPr>
        <a:solidFill>
          <a:schemeClr val="lt1"/>
        </a:solidFill>
      </p:bgPr>
    </p:bg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9" name="Google Shape;99;p1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00" name="Google Shape;100;p11"/>
          <p:cNvSpPr txBox="1"/>
          <p:nvPr>
            <p:ph idx="12" type="sldNum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01" name="Google Shape;101;p11"/>
          <p:cNvSpPr txBox="1"/>
          <p:nvPr>
            <p:ph type="title"/>
          </p:nvPr>
        </p:nvSpPr>
        <p:spPr>
          <a:xfrm rot="-5400000">
            <a:off x="-3842125" y="5162095"/>
            <a:ext cx="99837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02" name="Google Shape;102;p1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-3612750" y="5310727"/>
            <a:ext cx="9987174" cy="66225"/>
          </a:xfrm>
          <a:prstGeom prst="rect">
            <a:avLst/>
          </a:prstGeom>
          <a:noFill/>
          <a:ln>
            <a:noFill/>
          </a:ln>
        </p:spPr>
      </p:pic>
      <p:sp>
        <p:nvSpPr>
          <p:cNvPr id="103" name="Google Shape;103;p11"/>
          <p:cNvSpPr txBox="1"/>
          <p:nvPr/>
        </p:nvSpPr>
        <p:spPr>
          <a:xfrm rot="-5400000">
            <a:off x="104964" y="719111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04" name="Google Shape;104;p1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-5400000">
            <a:off x="103775" y="97696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p11"/>
          <p:cNvSpPr txBox="1"/>
          <p:nvPr/>
        </p:nvSpPr>
        <p:spPr>
          <a:xfrm rot="-5400000">
            <a:off x="183269" y="9772906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6" name="Google Shape;106;p11"/>
          <p:cNvSpPr txBox="1"/>
          <p:nvPr/>
        </p:nvSpPr>
        <p:spPr>
          <a:xfrm rot="-5400000">
            <a:off x="3997613" y="7219188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07" name="Google Shape;107;p11"/>
          <p:cNvSpPr txBox="1"/>
          <p:nvPr/>
        </p:nvSpPr>
        <p:spPr>
          <a:xfrm rot="-5400000">
            <a:off x="5092013" y="8491038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-GB" sz="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08" name="Google Shape;108;p11"/>
          <p:cNvSpPr txBox="1"/>
          <p:nvPr/>
        </p:nvSpPr>
        <p:spPr>
          <a:xfrm rot="-5400000">
            <a:off x="5488463" y="5454663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09" name="Google Shape;109;p11"/>
          <p:cNvSpPr txBox="1"/>
          <p:nvPr>
            <p:ph idx="1" type="subTitle"/>
          </p:nvPr>
        </p:nvSpPr>
        <p:spPr>
          <a:xfrm rot="-5400000">
            <a:off x="5488463" y="5454663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110" name="Google Shape;110;p11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 rot="-5400000">
            <a:off x="319775" y="1225719"/>
            <a:ext cx="504000" cy="504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257705" y="925091"/>
            <a:ext cx="7044600" cy="119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exend"/>
              <a:buNone/>
              <a:defRPr b="1" i="0" sz="22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257705" y="2395696"/>
            <a:ext cx="7044600" cy="710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Char char="●"/>
              <a:defRPr i="0" sz="1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"/>
              <a:buChar char="■"/>
              <a:defRPr i="0" sz="14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"/>
              <a:buChar char="●"/>
              <a:defRPr i="0" sz="14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"/>
              <a:buChar char="■"/>
              <a:defRPr i="0" sz="14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"/>
              <a:buChar char="●"/>
              <a:defRPr i="0" sz="14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Kalam"/>
              <a:buChar char="■"/>
              <a:defRPr i="0" sz="1400" u="none" cap="none" strike="noStrike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12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>
                <a:solidFill>
                  <a:schemeClr val="dk1"/>
                </a:solidFill>
              </a:rPr>
              <a:t>‹#›</a:t>
            </a:fld>
            <a:endParaRPr>
              <a:solidFill>
                <a:schemeClr val="dk1"/>
              </a:solidFill>
            </a:endParaRPr>
          </a:p>
        </p:txBody>
      </p:sp>
      <p:sp>
        <p:nvSpPr>
          <p:cNvPr id="116" name="Google Shape;116;p12"/>
          <p:cNvSpPr txBox="1"/>
          <p:nvPr>
            <p:ph type="title"/>
          </p:nvPr>
        </p:nvSpPr>
        <p:spPr>
          <a:xfrm>
            <a:off x="468000" y="864000"/>
            <a:ext cx="6624000" cy="277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Considering a route</a:t>
            </a:r>
            <a:endParaRPr/>
          </a:p>
        </p:txBody>
      </p:sp>
      <p:sp>
        <p:nvSpPr>
          <p:cNvPr id="117" name="Google Shape;117;p12"/>
          <p:cNvSpPr txBox="1"/>
          <p:nvPr/>
        </p:nvSpPr>
        <p:spPr>
          <a:xfrm>
            <a:off x="468001" y="1335050"/>
            <a:ext cx="6194100" cy="293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Task A: </a:t>
            </a:r>
            <a:r>
              <a:rPr b="1" lang="en-GB">
                <a:latin typeface="Lexend"/>
                <a:ea typeface="Lexend"/>
                <a:cs typeface="Lexend"/>
                <a:sym typeface="Lexend"/>
              </a:rPr>
              <a:t>Planning a direct journey</a:t>
            </a:r>
            <a:endParaRPr b="1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8" name="Google Shape;118;p12"/>
          <p:cNvSpPr txBox="1"/>
          <p:nvPr/>
        </p:nvSpPr>
        <p:spPr>
          <a:xfrm>
            <a:off x="476400" y="1800600"/>
            <a:ext cx="6516000" cy="2609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1) Jacob (aged 14) and his mother are planning to travel to a theatre in a city centre. </a:t>
            </a:r>
            <a:b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</a:b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   They want to arrive at the theatre by 2:45pm.</a:t>
            </a:r>
            <a:b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</a:b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   They consider travelling by bus.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   The nearest bus stop is on Oak Road, which is a 5-minute walk from their home.</a:t>
            </a:r>
            <a:b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</a:b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   The bus stops directly outside the theatre.</a:t>
            </a:r>
            <a:b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</a:b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   A journey planner app says that a bus will depart from Oak Road at 1:48pm and  </a:t>
            </a:r>
            <a:b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</a:b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   arrive at the theatre at 2:36pm.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   A single-way ticket on the bus costs £2 per adult and £1.20 per child (under 19).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a) What is the latest time they can leave their home if they travel by bus?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b) What is the total cost of the journey to travel there and back by bus?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9" name="Google Shape;119;p12"/>
          <p:cNvSpPr txBox="1"/>
          <p:nvPr/>
        </p:nvSpPr>
        <p:spPr>
          <a:xfrm>
            <a:off x="6033561" y="3859889"/>
            <a:ext cx="895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1:43pm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20" name="Google Shape;120;p12"/>
          <p:cNvSpPr txBox="1"/>
          <p:nvPr/>
        </p:nvSpPr>
        <p:spPr>
          <a:xfrm>
            <a:off x="5941401" y="4206975"/>
            <a:ext cx="4833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£6.40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21" name="Google Shape;121;p12"/>
          <p:cNvSpPr txBox="1"/>
          <p:nvPr/>
        </p:nvSpPr>
        <p:spPr>
          <a:xfrm>
            <a:off x="476400" y="4622333"/>
            <a:ext cx="6359100" cy="2056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2) Jacob and his mother are planning to travel to a theatre in a city centre. </a:t>
            </a:r>
            <a:b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</a:b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   They want to arrive at the theatre by 2:45pm.</a:t>
            </a:r>
            <a:b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</a:b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   They consider travelling by car.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   The nearest car park to the theatre is a 15-minute walk away.</a:t>
            </a:r>
            <a:b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</a:b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   A journey planner app says that the car park is 9 miles from their home and will </a:t>
            </a:r>
            <a:b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</a:b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   take 35 minutes to drive to.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a) What is the latest time they can leave their home if they travel by car?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b) What is the total cost of the journey to travel there and back by car? 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2" name="Google Shape;122;p12"/>
          <p:cNvSpPr txBox="1"/>
          <p:nvPr/>
        </p:nvSpPr>
        <p:spPr>
          <a:xfrm>
            <a:off x="6040279" y="6150232"/>
            <a:ext cx="5607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1:55pm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23" name="Google Shape;123;p12"/>
          <p:cNvSpPr txBox="1"/>
          <p:nvPr/>
        </p:nvSpPr>
        <p:spPr>
          <a:xfrm>
            <a:off x="476400" y="6891166"/>
            <a:ext cx="6516000" cy="1503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3) Use a journey planning website to plan a journey. </a:t>
            </a:r>
            <a:b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</a:b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   The journey should be from your home to a destination that you could travel to </a:t>
            </a:r>
            <a:b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</a:b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   directly by public transport (e.g. bus, train, underground).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   Plan how you could make the journey by car and by public transport. </a:t>
            </a:r>
            <a:b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</a:b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   Compare the time and cost implications of each.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   You may wish to consider the following points: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4" name="Google Shape;124;p12"/>
          <p:cNvSpPr txBox="1"/>
          <p:nvPr/>
        </p:nvSpPr>
        <p:spPr>
          <a:xfrm>
            <a:off x="645122" y="8440641"/>
            <a:ext cx="6414600" cy="1246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Lexend"/>
              <a:buChar char="●"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the distance between your home and where you would board the transport;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Lexend"/>
              <a:buChar char="●"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the distance between where you would exit the transport and your destination;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Lexend"/>
              <a:buChar char="●"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the time you would spend travelling in the transport;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Lexend"/>
              <a:buChar char="●"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cost of a ticket on public transport;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Lexend"/>
              <a:buChar char="●"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the cost of parking the car (if unsure, you could use £5.50 as an estimate);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Lexend"/>
              <a:buChar char="●"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the cost of petrol by the car (if unsure, you could use the same as in Q2).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5" name="Google Shape;125;p12"/>
          <p:cNvSpPr txBox="1"/>
          <p:nvPr/>
        </p:nvSpPr>
        <p:spPr>
          <a:xfrm>
            <a:off x="698075" y="9710415"/>
            <a:ext cx="33657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Answers will vary depending on pupils’ choices.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cxnSp>
        <p:nvCxnSpPr>
          <p:cNvPr id="126" name="Google Shape;126;p12"/>
          <p:cNvCxnSpPr/>
          <p:nvPr/>
        </p:nvCxnSpPr>
        <p:spPr>
          <a:xfrm>
            <a:off x="482701" y="9954377"/>
            <a:ext cx="6610500" cy="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27" name="Google Shape;127;p12"/>
          <p:cNvSpPr txBox="1"/>
          <p:nvPr/>
        </p:nvSpPr>
        <p:spPr>
          <a:xfrm>
            <a:off x="5907472" y="6382993"/>
            <a:ext cx="4833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18000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£8.21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13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>
                <a:solidFill>
                  <a:schemeClr val="dk1"/>
                </a:solidFill>
              </a:rPr>
              <a:t>‹#›</a:t>
            </a:fld>
            <a:endParaRPr>
              <a:solidFill>
                <a:schemeClr val="dk1"/>
              </a:solidFill>
            </a:endParaRPr>
          </a:p>
        </p:txBody>
      </p:sp>
      <p:sp>
        <p:nvSpPr>
          <p:cNvPr id="133" name="Google Shape;133;p13"/>
          <p:cNvSpPr txBox="1"/>
          <p:nvPr>
            <p:ph idx="1" type="subTitle"/>
          </p:nvPr>
        </p:nvSpPr>
        <p:spPr>
          <a:xfrm>
            <a:off x="1463400" y="360000"/>
            <a:ext cx="4782600" cy="138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Considering a route</a:t>
            </a:r>
            <a:endParaRPr/>
          </a:p>
        </p:txBody>
      </p:sp>
      <p:sp>
        <p:nvSpPr>
          <p:cNvPr id="134" name="Google Shape;134;p13"/>
          <p:cNvSpPr txBox="1"/>
          <p:nvPr>
            <p:ph idx="2" type="subTitle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Mathematics in Education and Industry</a:t>
            </a:r>
            <a:endParaRPr/>
          </a:p>
        </p:txBody>
      </p:sp>
      <p:sp>
        <p:nvSpPr>
          <p:cNvPr id="135" name="Google Shape;135;p13"/>
          <p:cNvSpPr txBox="1"/>
          <p:nvPr/>
        </p:nvSpPr>
        <p:spPr>
          <a:xfrm>
            <a:off x="6744600" y="10447800"/>
            <a:ext cx="815400" cy="24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v2.4</a:t>
            </a:r>
            <a:endParaRPr sz="10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6" name="Google Shape;136;p13"/>
          <p:cNvSpPr txBox="1"/>
          <p:nvPr/>
        </p:nvSpPr>
        <p:spPr>
          <a:xfrm>
            <a:off x="476400" y="1267200"/>
            <a:ext cx="8373900" cy="1375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1) Sofia has a university interview in an office in London.</a:t>
            </a:r>
            <a:b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</a:b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   She needs to arrive at the office before 11am.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   The office is a 15-minute walk from London Kings Cross Station.</a:t>
            </a:r>
            <a:b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</a:b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   Her nearest train station, Oakington, is a 10-minute walk from her home. </a:t>
            </a:r>
            <a:b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</a:b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   The train is not direct. She would need to change trains at Elmsville.</a:t>
            </a:r>
            <a:b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</a:b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   Some possible train times are below.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aphicFrame>
        <p:nvGraphicFramePr>
          <p:cNvPr id="137" name="Google Shape;137;p13"/>
          <p:cNvGraphicFramePr/>
          <p:nvPr/>
        </p:nvGraphicFramePr>
        <p:xfrm>
          <a:off x="3645369" y="28438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{2CBCF057-F0F1-4720-B309-2CEC89400F32}</a:tableStyleId>
              </a:tblPr>
              <a:tblGrid>
                <a:gridCol w="1624675"/>
                <a:gridCol w="600750"/>
                <a:gridCol w="600750"/>
                <a:gridCol w="600750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FFFF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departs Oakington</a:t>
                      </a:r>
                      <a:endParaRPr sz="1200">
                        <a:solidFill>
                          <a:srgbClr val="FFFF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07:03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07:33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08:03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FFFF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arrives at Elmsville</a:t>
                      </a:r>
                      <a:endParaRPr sz="1200">
                        <a:solidFill>
                          <a:srgbClr val="FFFF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07:27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07:57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08:27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138" name="Google Shape;138;p13"/>
          <p:cNvGraphicFramePr/>
          <p:nvPr/>
        </p:nvGraphicFramePr>
        <p:xfrm>
          <a:off x="3645369" y="38344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{2CBCF057-F0F1-4720-B309-2CEC89400F32}</a:tableStyleId>
              </a:tblPr>
              <a:tblGrid>
                <a:gridCol w="1624675"/>
                <a:gridCol w="600750"/>
                <a:gridCol w="600750"/>
                <a:gridCol w="600750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FFFF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departs Elmsville</a:t>
                      </a:r>
                      <a:endParaRPr sz="1200">
                        <a:solidFill>
                          <a:srgbClr val="FFFF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07:40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08:00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08:40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FFFF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arrives at London</a:t>
                      </a:r>
                      <a:endParaRPr sz="1200">
                        <a:solidFill>
                          <a:srgbClr val="FFFF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09:44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10:20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10:44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39" name="Google Shape;139;p13"/>
          <p:cNvSpPr txBox="1"/>
          <p:nvPr/>
        </p:nvSpPr>
        <p:spPr>
          <a:xfrm>
            <a:off x="473622" y="2826975"/>
            <a:ext cx="27228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a) What is the latest possible time  </a:t>
            </a:r>
            <a:b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</a:b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    that Sofia can leave her home to </a:t>
            </a:r>
            <a:b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</a:b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    arrive for her interview?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0" name="Google Shape;140;p13"/>
          <p:cNvSpPr txBox="1"/>
          <p:nvPr/>
        </p:nvSpPr>
        <p:spPr>
          <a:xfrm>
            <a:off x="473625" y="4854675"/>
            <a:ext cx="55929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b) What could go wrong if she  leaves at the time in part (a)?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1" name="Google Shape;141;p13"/>
          <p:cNvSpPr txBox="1"/>
          <p:nvPr/>
        </p:nvSpPr>
        <p:spPr>
          <a:xfrm>
            <a:off x="473625" y="5456175"/>
            <a:ext cx="50307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c) Suggest a more cautious time that Sofia could leave her home.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2" name="Google Shape;142;p13"/>
          <p:cNvSpPr txBox="1"/>
          <p:nvPr/>
        </p:nvSpPr>
        <p:spPr>
          <a:xfrm>
            <a:off x="468001" y="801650"/>
            <a:ext cx="6194100" cy="293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Task </a:t>
            </a:r>
            <a:r>
              <a:rPr b="1" lang="en-GB">
                <a:latin typeface="Lexend"/>
                <a:ea typeface="Lexend"/>
                <a:cs typeface="Lexend"/>
                <a:sym typeface="Lexend"/>
              </a:rPr>
              <a:t>B</a:t>
            </a:r>
            <a:r>
              <a:rPr b="1" lang="en-GB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: </a:t>
            </a:r>
            <a:r>
              <a:rPr b="1" lang="en-GB">
                <a:latin typeface="Lexend"/>
                <a:ea typeface="Lexend"/>
                <a:cs typeface="Lexend"/>
                <a:sym typeface="Lexend"/>
              </a:rPr>
              <a:t>Planning a journey that includes changeovers</a:t>
            </a:r>
            <a:endParaRPr b="1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3" name="Google Shape;143;p13"/>
          <p:cNvSpPr txBox="1"/>
          <p:nvPr/>
        </p:nvSpPr>
        <p:spPr>
          <a:xfrm>
            <a:off x="477928" y="6753600"/>
            <a:ext cx="6548700" cy="1375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2) Use a journey planning website to plan a journey. </a:t>
            </a:r>
            <a:b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</a:b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   The journey should be from your home to a destination that you could travel to </a:t>
            </a:r>
            <a:b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</a:b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   by public transport. However, the journey should include at least 1 changeover </a:t>
            </a:r>
            <a:b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</a:b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   when using public transport (e.g. a bus and then a train).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   Plan how you could make the journey by public transport. </a:t>
            </a:r>
            <a:b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</a:b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   You may wish to consider the following points: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4" name="Google Shape;144;p13"/>
          <p:cNvSpPr txBox="1"/>
          <p:nvPr/>
        </p:nvSpPr>
        <p:spPr>
          <a:xfrm>
            <a:off x="607972" y="8226876"/>
            <a:ext cx="6548700" cy="1246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Lexend"/>
              <a:buChar char="●"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the distance between your home and where you would first board transport;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Lexend"/>
              <a:buChar char="●"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the distance between where you would exit the transport and your destination;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Lexend"/>
              <a:buChar char="●"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the time you would spend travelling during each stage of the journey;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Lexend"/>
              <a:buChar char="●"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the amount of time during your changeover;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Lexend"/>
              <a:buChar char="●"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the total amount of time for the entire journey;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Lexend"/>
              <a:buChar char="●"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cost of a ticket on the public transport for each stage of the journey.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5" name="Google Shape;145;p13"/>
          <p:cNvSpPr txBox="1"/>
          <p:nvPr/>
        </p:nvSpPr>
        <p:spPr>
          <a:xfrm>
            <a:off x="714300" y="3579587"/>
            <a:ext cx="3609900" cy="82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Leave home at 07:53.</a:t>
            </a:r>
            <a:b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</a:b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Catch 08:03 train from Oakington.</a:t>
            </a:r>
            <a:b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</a:b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Catch 08:40 train from Elmsville.</a:t>
            </a:r>
            <a:b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</a:b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Arrive at office at 10:59.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46" name="Google Shape;146;p13"/>
          <p:cNvSpPr txBox="1"/>
          <p:nvPr/>
        </p:nvSpPr>
        <p:spPr>
          <a:xfrm>
            <a:off x="687247" y="5102026"/>
            <a:ext cx="50307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E.g. The train from Elmsville to London could be delayed.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47" name="Google Shape;147;p13"/>
          <p:cNvSpPr txBox="1"/>
          <p:nvPr/>
        </p:nvSpPr>
        <p:spPr>
          <a:xfrm>
            <a:off x="656448" y="5671475"/>
            <a:ext cx="7275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E</a:t>
            </a:r>
            <a:r>
              <a:rPr lang="en-GB" sz="1200">
                <a:latin typeface="Kalam"/>
                <a:ea typeface="Kalam"/>
                <a:cs typeface="Kalam"/>
                <a:sym typeface="Kalam"/>
              </a:rPr>
              <a:t>.g.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 1: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48" name="Google Shape;148;p13"/>
          <p:cNvSpPr txBox="1"/>
          <p:nvPr/>
        </p:nvSpPr>
        <p:spPr>
          <a:xfrm>
            <a:off x="1142278" y="5680424"/>
            <a:ext cx="2332800" cy="82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Leave home at 07:23.</a:t>
            </a:r>
            <a:b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</a:b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Catch 07:33 train from Oakington.</a:t>
            </a:r>
            <a:b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</a:b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Catch 08:00 train from Elmsville.</a:t>
            </a:r>
            <a:b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</a:b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Arrive at office at 10:35.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49" name="Google Shape;149;p13"/>
          <p:cNvSpPr txBox="1"/>
          <p:nvPr/>
        </p:nvSpPr>
        <p:spPr>
          <a:xfrm>
            <a:off x="4139100" y="5665825"/>
            <a:ext cx="73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E.</a:t>
            </a:r>
            <a:r>
              <a:rPr lang="en-GB" sz="1200">
                <a:latin typeface="Kalam"/>
                <a:ea typeface="Kalam"/>
                <a:cs typeface="Kalam"/>
                <a:sym typeface="Kalam"/>
              </a:rPr>
              <a:t>g.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2: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50" name="Google Shape;150;p13"/>
          <p:cNvSpPr txBox="1"/>
          <p:nvPr/>
        </p:nvSpPr>
        <p:spPr>
          <a:xfrm>
            <a:off x="4631153" y="5674775"/>
            <a:ext cx="2424900" cy="82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Leave home at 06:53.</a:t>
            </a:r>
            <a:b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</a:b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Catch 07:03 train from Oakington.</a:t>
            </a:r>
            <a:b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</a:b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Catch 07:40 train from Elmsville</a:t>
            </a:r>
            <a:r>
              <a:rPr lang="en-GB" sz="1200">
                <a:latin typeface="Kalam"/>
                <a:ea typeface="Kalam"/>
                <a:cs typeface="Kalam"/>
                <a:sym typeface="Kalam"/>
              </a:rPr>
              <a:t>.</a:t>
            </a:r>
            <a:br>
              <a:rPr lang="en-GB" sz="1200">
                <a:latin typeface="Kalam"/>
                <a:ea typeface="Kalam"/>
                <a:cs typeface="Kalam"/>
                <a:sym typeface="Kalam"/>
              </a:rPr>
            </a:b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Arrive at office at 09:59.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51" name="Google Shape;151;p13"/>
          <p:cNvSpPr txBox="1"/>
          <p:nvPr/>
        </p:nvSpPr>
        <p:spPr>
          <a:xfrm>
            <a:off x="621875" y="9598592"/>
            <a:ext cx="33177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Answers will vary depending on pupils’ choices.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Worksheet Answers Sep 2024 v2">
  <a:themeElements>
    <a:clrScheme name="Simple Light">
      <a:dk1>
        <a:srgbClr val="222222"/>
      </a:dk1>
      <a:lt1>
        <a:srgbClr val="FFFFFF"/>
      </a:lt1>
      <a:dk2>
        <a:srgbClr val="808080"/>
      </a:dk2>
      <a:lt2>
        <a:srgbClr val="F2F2F2"/>
      </a:lt2>
      <a:accent1>
        <a:srgbClr val="BEF2BD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287C34"/>
      </a:accent6>
      <a:hlink>
        <a:srgbClr val="374CF1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