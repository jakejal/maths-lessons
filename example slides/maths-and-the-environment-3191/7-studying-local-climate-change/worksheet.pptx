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AD6694-4B2C-4BA7-AD26-106094244A8F}">
  <a:tblStyle styleId="{9CAD6694-4B2C-4BA7-AD26-106094244A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e59626e9d_0_3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0e59626e9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Studying local climate change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1" y="13350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Analysing local climate data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8000" y="181422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This graph from the Met Office shows the average monthly rainfall (in mm) each year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from 1941 to 2000 in Stornoway and Southampton.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" name="Google Shape;10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275" y="2247629"/>
            <a:ext cx="4659891" cy="212373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07" name="Google Shape;107;p12"/>
          <p:cNvGrpSpPr/>
          <p:nvPr/>
        </p:nvGrpSpPr>
        <p:grpSpPr>
          <a:xfrm>
            <a:off x="5387615" y="3908167"/>
            <a:ext cx="1274441" cy="507862"/>
            <a:chOff x="5413489" y="2887206"/>
            <a:chExt cx="1358100" cy="541200"/>
          </a:xfrm>
        </p:grpSpPr>
        <p:sp>
          <p:nvSpPr>
            <p:cNvPr id="108" name="Google Shape;108;p12"/>
            <p:cNvSpPr txBox="1"/>
            <p:nvPr/>
          </p:nvSpPr>
          <p:spPr>
            <a:xfrm>
              <a:off x="5413489" y="2887206"/>
              <a:ext cx="1358100" cy="5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Key: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        Stornoway 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     Southampton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" name="Google Shape;109;p12"/>
            <p:cNvSpPr/>
            <p:nvPr/>
          </p:nvSpPr>
          <p:spPr>
            <a:xfrm>
              <a:off x="5535563" y="3239526"/>
              <a:ext cx="152100" cy="152100"/>
            </a:xfrm>
            <a:prstGeom prst="mathMultiply">
              <a:avLst>
                <a:gd fmla="val 15141" name="adj1"/>
              </a:avLst>
            </a:prstGeom>
            <a:solidFill>
              <a:srgbClr val="8080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>
              <a:off x="5555618" y="3097204"/>
              <a:ext cx="87900" cy="87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1" name="Google Shape;111;p12"/>
          <p:cNvSpPr txBox="1"/>
          <p:nvPr/>
        </p:nvSpPr>
        <p:spPr>
          <a:xfrm>
            <a:off x="468000" y="4581150"/>
            <a:ext cx="6624000" cy="16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 says: “We usually expect to see more rain falling each month in Stornoway than in Southampton.”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Explain how Andeep might have come to this conclusion.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In 1968, more rain fell in Southampton than in Stornoway.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Explain whether this makes Andeep’s claim incorrect or not.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476400" y="6717562"/>
            <a:ext cx="66240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 says: “Over time, the general trend in Stornoway is that the average amount of rainfall is increasing.”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Sofia is correct. Explain how Sofia might have come to this conclusion.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Write a sentence describing the long-term trend of Southampton’s rainfall.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476400" y="8671937"/>
            <a:ext cx="66240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says: “Stornoway is in Scotland. That means the amount of rainfall in other parts of Scotland is also increasing over time.”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Explain whether Izzy’s statement is correct or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" name="Google Shape;114;p12"/>
          <p:cNvCxnSpPr/>
          <p:nvPr/>
        </p:nvCxnSpPr>
        <p:spPr>
          <a:xfrm>
            <a:off x="482701" y="995431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Studying local climate change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491525" y="496850"/>
            <a:ext cx="6600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Forming conclusions about local climate change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476450" y="1040050"/>
            <a:ext cx="66006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This table from the ONS shows the distance people in the North-East and South-East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of England travelled to work each day in 2011.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476450" y="2792650"/>
            <a:ext cx="6600600" cy="18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How many people’s information from the North-East were collected for this survey?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fraction of people in the South-East travel under 10 km each day to work?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One possible influence on the climate of an area is the amount of carbon emissions 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(linked with travelling longer distances).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In which location (North-East or South-East) does a higher percentage of people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travel 20 km or further each day to work?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3" name="Google Shape;123;p13"/>
          <p:cNvGraphicFramePr/>
          <p:nvPr/>
        </p:nvGraphicFramePr>
        <p:xfrm>
          <a:off x="693711" y="158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{9CAD6694-4B2C-4BA7-AD26-106094244A8F}</a:tableStyleId>
              </a:tblPr>
              <a:tblGrid>
                <a:gridCol w="470900"/>
                <a:gridCol w="624850"/>
                <a:gridCol w="790400"/>
                <a:gridCol w="790400"/>
                <a:gridCol w="790400"/>
                <a:gridCol w="790400"/>
                <a:gridCol w="790400"/>
                <a:gridCol w="790400"/>
                <a:gridCol w="5602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distance (</a:t>
                      </a:r>
                      <a:r>
                        <a:rPr i="1" lang="en-GB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), in km</a:t>
                      </a:r>
                      <a:endParaRPr sz="11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&lt; 2</a:t>
                      </a:r>
                      <a:endParaRPr sz="11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≤ </a:t>
                      </a:r>
                      <a:r>
                        <a:rPr i="1" lang="en-GB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&lt; 5</a:t>
                      </a:r>
                      <a:endParaRPr sz="11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≤ </a:t>
                      </a:r>
                      <a:r>
                        <a:rPr i="1" lang="en-GB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&lt; 10</a:t>
                      </a:r>
                      <a:endParaRPr sz="11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 ≤ </a:t>
                      </a:r>
                      <a:r>
                        <a:rPr i="1" lang="en-GB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&lt; 20</a:t>
                      </a:r>
                      <a:endParaRPr sz="11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 ≤ </a:t>
                      </a:r>
                      <a:r>
                        <a:rPr i="1" lang="en-GB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&lt; 30</a:t>
                      </a:r>
                      <a:endParaRPr sz="11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 ≤ </a:t>
                      </a:r>
                      <a:r>
                        <a:rPr i="1" lang="en-GB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&lt; 40</a:t>
                      </a:r>
                      <a:endParaRPr sz="11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 ≤ </a:t>
                      </a:r>
                      <a:r>
                        <a:rPr i="1" lang="en-GB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&lt; 60</a:t>
                      </a:r>
                      <a:endParaRPr sz="11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≥ 60</a:t>
                      </a:r>
                      <a:endParaRPr sz="11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North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East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202 172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235 849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220 617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192 451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55 976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20 205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15 795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33 880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South East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706 167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688 146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604 950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582 465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301 705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156 951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168 384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169 351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p13"/>
          <p:cNvSpPr txBox="1"/>
          <p:nvPr/>
        </p:nvSpPr>
        <p:spPr>
          <a:xfrm>
            <a:off x="491525" y="5814325"/>
            <a:ext cx="66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graph shows data from the Met Office on the mean yearly temperature for two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UK locations: Manston (1961 – 2022) and Durham (1941 – 2022).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" name="Google Shape;125;p13"/>
          <p:cNvPicPr preferRelativeResize="0"/>
          <p:nvPr/>
        </p:nvPicPr>
        <p:blipFill rotWithShape="1">
          <a:blip r:embed="rId3">
            <a:alphaModFix/>
          </a:blip>
          <a:srcRect b="0" l="0" r="1835" t="0"/>
          <a:stretch/>
        </p:blipFill>
        <p:spPr>
          <a:xfrm>
            <a:off x="705000" y="6347100"/>
            <a:ext cx="3673425" cy="15057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26" name="Google Shape;126;p13"/>
          <p:cNvGrpSpPr/>
          <p:nvPr/>
        </p:nvGrpSpPr>
        <p:grpSpPr>
          <a:xfrm>
            <a:off x="1026951" y="7510346"/>
            <a:ext cx="81923" cy="64497"/>
            <a:chOff x="776825" y="2447425"/>
            <a:chExt cx="58500" cy="78225"/>
          </a:xfrm>
        </p:grpSpPr>
        <p:cxnSp>
          <p:nvCxnSpPr>
            <p:cNvPr id="127" name="Google Shape;127;p13"/>
            <p:cNvCxnSpPr/>
            <p:nvPr/>
          </p:nvCxnSpPr>
          <p:spPr>
            <a:xfrm flipH="1">
              <a:off x="776825" y="2447425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13"/>
            <p:cNvCxnSpPr/>
            <p:nvPr/>
          </p:nvCxnSpPr>
          <p:spPr>
            <a:xfrm flipH="1">
              <a:off x="776825" y="2482150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9" name="Google Shape;129;p13"/>
          <p:cNvGrpSpPr/>
          <p:nvPr/>
        </p:nvGrpSpPr>
        <p:grpSpPr>
          <a:xfrm>
            <a:off x="4465221" y="7329171"/>
            <a:ext cx="2973977" cy="554031"/>
            <a:chOff x="5413499" y="2887215"/>
            <a:chExt cx="3169200" cy="590400"/>
          </a:xfrm>
        </p:grpSpPr>
        <p:sp>
          <p:nvSpPr>
            <p:cNvPr id="130" name="Google Shape;130;p13"/>
            <p:cNvSpPr txBox="1"/>
            <p:nvPr/>
          </p:nvSpPr>
          <p:spPr>
            <a:xfrm>
              <a:off x="5413499" y="2887215"/>
              <a:ext cx="3169200" cy="59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Key: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Manston (South-East England)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Durham (North-East England)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535563" y="3312234"/>
              <a:ext cx="152100" cy="152100"/>
            </a:xfrm>
            <a:prstGeom prst="mathMultiply">
              <a:avLst>
                <a:gd fmla="val 15141" name="adj1"/>
              </a:avLst>
            </a:prstGeom>
            <a:solidFill>
              <a:srgbClr val="8080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555618" y="3152924"/>
              <a:ext cx="87900" cy="87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3" name="Google Shape;133;p13"/>
          <p:cNvSpPr txBox="1"/>
          <p:nvPr/>
        </p:nvSpPr>
        <p:spPr>
          <a:xfrm>
            <a:off x="476450" y="8078675"/>
            <a:ext cx="66006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long-term trends of both Manston and Durham are similar. Both locations show an increase in mean yearly temperature over time.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 which location is the mean yearly temperature increasing at the faster rate? Explain how you know.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40" name="Google Shape;140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Studying local climate change</a:t>
            </a:r>
            <a:endParaRPr/>
          </a:p>
        </p:txBody>
      </p:sp>
      <p:sp>
        <p:nvSpPr>
          <p:cNvPr id="141" name="Google Shape;141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491525" y="861325"/>
            <a:ext cx="66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graph shows data from the Met Office on the mean yearly temperature for two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UK locations: Manston (1961 – 2022) and Durham (1941 – 2022).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" name="Google Shape;144;p14"/>
          <p:cNvPicPr preferRelativeResize="0"/>
          <p:nvPr/>
        </p:nvPicPr>
        <p:blipFill rotWithShape="1">
          <a:blip r:embed="rId3">
            <a:alphaModFix/>
          </a:blip>
          <a:srcRect b="0" l="0" r="1835" t="0"/>
          <a:stretch/>
        </p:blipFill>
        <p:spPr>
          <a:xfrm>
            <a:off x="705000" y="1394100"/>
            <a:ext cx="3673425" cy="15057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45" name="Google Shape;145;p14"/>
          <p:cNvGrpSpPr/>
          <p:nvPr/>
        </p:nvGrpSpPr>
        <p:grpSpPr>
          <a:xfrm>
            <a:off x="1026951" y="2557346"/>
            <a:ext cx="81923" cy="64497"/>
            <a:chOff x="776825" y="2447425"/>
            <a:chExt cx="58500" cy="78225"/>
          </a:xfrm>
        </p:grpSpPr>
        <p:cxnSp>
          <p:nvCxnSpPr>
            <p:cNvPr id="146" name="Google Shape;146;p14"/>
            <p:cNvCxnSpPr/>
            <p:nvPr/>
          </p:nvCxnSpPr>
          <p:spPr>
            <a:xfrm flipH="1">
              <a:off x="776825" y="2447425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14"/>
            <p:cNvCxnSpPr/>
            <p:nvPr/>
          </p:nvCxnSpPr>
          <p:spPr>
            <a:xfrm flipH="1">
              <a:off x="776825" y="2482150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8" name="Google Shape;148;p14"/>
          <p:cNvGrpSpPr/>
          <p:nvPr/>
        </p:nvGrpSpPr>
        <p:grpSpPr>
          <a:xfrm>
            <a:off x="4465221" y="2376171"/>
            <a:ext cx="2973977" cy="554031"/>
            <a:chOff x="5413499" y="2887215"/>
            <a:chExt cx="3169200" cy="590400"/>
          </a:xfrm>
        </p:grpSpPr>
        <p:sp>
          <p:nvSpPr>
            <p:cNvPr id="149" name="Google Shape;149;p14"/>
            <p:cNvSpPr txBox="1"/>
            <p:nvPr/>
          </p:nvSpPr>
          <p:spPr>
            <a:xfrm>
              <a:off x="5413499" y="2887215"/>
              <a:ext cx="3169200" cy="59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Key: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Manston (South-East England)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Durham (North-East England)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5535563" y="3312234"/>
              <a:ext cx="152100" cy="152100"/>
            </a:xfrm>
            <a:prstGeom prst="mathMultiply">
              <a:avLst>
                <a:gd fmla="val 15141" name="adj1"/>
              </a:avLst>
            </a:prstGeom>
            <a:solidFill>
              <a:srgbClr val="8080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5555618" y="3152924"/>
              <a:ext cx="87900" cy="879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2" name="Google Shape;152;p14"/>
          <p:cNvSpPr txBox="1"/>
          <p:nvPr/>
        </p:nvSpPr>
        <p:spPr>
          <a:xfrm>
            <a:off x="476450" y="3218325"/>
            <a:ext cx="6600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Using both your answers to question 1c and 2, write down a possible link between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distance travelled to work and mean yearly temperature.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476450" y="4589925"/>
            <a:ext cx="6600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Explain the extent to which this link is accurate or not by assessing the validity of the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17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comparisons across both sets of data.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