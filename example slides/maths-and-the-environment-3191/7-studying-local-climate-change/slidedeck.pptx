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8287E2-7AF8-476E-8597-507AD9815A78}">
  <a:tblStyle styleId="{3C8287E2-7AF8-476E-8597-507AD9815A7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f6df0f33e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f6df0f33e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f6df0f33e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2f6df0f33e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f6df0f33e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f6df0f33e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f6df0f33e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f6df0f33e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f6df0f33e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f6df0f33e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f6df0f33e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f6df0f33e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f6df0f33e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2f6df0f33e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f6df0f33e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f6df0f33e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f6df0f33e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2f6df0f33e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f6df0f33e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2f6df0f33e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f6df0f33e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f6df0f33e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2f6df0f33e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2f6df0f33e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f6df0f33e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2f6df0f33e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f6df0f33e7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2f6df0f33e7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2f6df0f33e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2f6df0f33e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2f6df0f33e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2f6df0f33e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f6df0f33e7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f6df0f33e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f6df0f33e7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2f6df0f33e7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f6df0f33e7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2f6df0f33e7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f6df0f33e7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2f6df0f33e7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2f6df0f33e7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2f6df0f33e7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2f6df0f33e7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2f6df0f33e7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f6df0f33e7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f6df0f33e7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2f6df0f33e7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2f6df0f33e7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f6df0f33e7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2f6df0f33e7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f6df0f33e7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f6df0f33e7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2f6df0f33e7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2f6df0f33e7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2f6df0f33e7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2f6df0f33e7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f6df0f33e7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2f6df0f33e7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2f6df0f33e7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2f6df0f33e7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2f6df0f33e7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2f6df0f33e7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2f6df0f33e7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2f6df0f33e7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2f6df0f33e7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2f6df0f33e7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f6df0f33e7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f6df0f33e7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2f6df0f33e7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2f6df0f33e7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2f6df0f33e7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2f6df0f33e7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2f6df0f33e7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2f6df0f33e7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f6df0f33e7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2f6df0f33e7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2f6df0f33e7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2f6df0f33e7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2f6df0f33e7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2f6df0f33e7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2f6df0f33e7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2f6df0f33e7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2f6df0f33e7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2f6df0f33e7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2f6df0f33e7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2f6df0f33e7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2f6df0f33e7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2f6df0f33e7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2f6df0f33e7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2f6df0f33e7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2f6df0f33e7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2f6df0f33e7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2f6df0f33e7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2f6df0f33e7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2f6df0f33e7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2f6df0f33e7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g2f6df0f33e7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4" name="Google Shape;1484;g2f6df0f33e7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2f6df0f33e7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2f6df0f33e7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2f6df0f33e7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2f6df0f33e7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2f6df0f33e7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2f6df0f33e7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1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image" Target="../media/image2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2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3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2.png"/><Relationship Id="rId4" Type="http://schemas.openxmlformats.org/officeDocument/2006/relationships/image" Target="../media/image31.png"/><Relationship Id="rId5" Type="http://schemas.openxmlformats.org/officeDocument/2006/relationships/image" Target="../media/image35.png"/><Relationship Id="rId6" Type="http://schemas.openxmlformats.org/officeDocument/2006/relationships/image" Target="../media/image33.png"/><Relationship Id="rId7" Type="http://schemas.openxmlformats.org/officeDocument/2006/relationships/image" Target="../media/image3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87.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3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87.png"/><Relationship Id="rId4" Type="http://schemas.openxmlformats.org/officeDocument/2006/relationships/image" Target="../media/image39.png"/><Relationship Id="rId9" Type="http://schemas.openxmlformats.org/officeDocument/2006/relationships/image" Target="../media/image36.png"/><Relationship Id="rId5" Type="http://schemas.openxmlformats.org/officeDocument/2006/relationships/image" Target="../media/image38.png"/><Relationship Id="rId6" Type="http://schemas.openxmlformats.org/officeDocument/2006/relationships/image" Target="../media/image44.png"/><Relationship Id="rId7" Type="http://schemas.openxmlformats.org/officeDocument/2006/relationships/image" Target="../media/image40.png"/><Relationship Id="rId8"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87.png"/><Relationship Id="rId4" Type="http://schemas.openxmlformats.org/officeDocument/2006/relationships/image" Target="../media/image46.png"/><Relationship Id="rId11" Type="http://schemas.openxmlformats.org/officeDocument/2006/relationships/image" Target="../media/image36.png"/><Relationship Id="rId10" Type="http://schemas.openxmlformats.org/officeDocument/2006/relationships/image" Target="../media/image51.png"/><Relationship Id="rId9" Type="http://schemas.openxmlformats.org/officeDocument/2006/relationships/image" Target="../media/image41.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image" Target="../media/image44.png"/><Relationship Id="rId8" Type="http://schemas.openxmlformats.org/officeDocument/2006/relationships/image" Target="../media/image4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4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4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4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49.png"/><Relationship Id="rId4" Type="http://schemas.openxmlformats.org/officeDocument/2006/relationships/image" Target="../media/image5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9.png"/><Relationship Id="rId4" Type="http://schemas.openxmlformats.org/officeDocument/2006/relationships/image" Target="../media/image5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49.png"/><Relationship Id="rId4" Type="http://schemas.openxmlformats.org/officeDocument/2006/relationships/image" Target="../media/image5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 Id="rId3" Type="http://schemas.openxmlformats.org/officeDocument/2006/relationships/image" Target="../media/image48.png"/><Relationship Id="rId4" Type="http://schemas.openxmlformats.org/officeDocument/2006/relationships/image" Target="../media/image5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54.png"/><Relationship Id="rId4" Type="http://schemas.openxmlformats.org/officeDocument/2006/relationships/image" Target="../media/image5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5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5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5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6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6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7.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68.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6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theme" Target="../theme/theme1.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image" Target="../media/image7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7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7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7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 Id="rId3" Type="http://schemas.openxmlformats.org/officeDocument/2006/relationships/image" Target="../media/image7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7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3.xml"/><Relationship Id="rId3" Type="http://schemas.openxmlformats.org/officeDocument/2006/relationships/image" Target="../media/image72.png"/><Relationship Id="rId4" Type="http://schemas.openxmlformats.org/officeDocument/2006/relationships/image" Target="../media/image63.png"/><Relationship Id="rId5" Type="http://schemas.openxmlformats.org/officeDocument/2006/relationships/image" Target="../media/image7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4.xml"/><Relationship Id="rId3" Type="http://schemas.openxmlformats.org/officeDocument/2006/relationships/image" Target="../media/image72.png"/><Relationship Id="rId4" Type="http://schemas.openxmlformats.org/officeDocument/2006/relationships/image" Target="../media/image63.png"/><Relationship Id="rId5" Type="http://schemas.openxmlformats.org/officeDocument/2006/relationships/image" Target="../media/image7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5.xml"/><Relationship Id="rId3" Type="http://schemas.openxmlformats.org/officeDocument/2006/relationships/image" Target="../media/image77.png"/><Relationship Id="rId4" Type="http://schemas.openxmlformats.org/officeDocument/2006/relationships/image" Target="../media/image63.png"/><Relationship Id="rId5" Type="http://schemas.openxmlformats.org/officeDocument/2006/relationships/image" Target="../media/image7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6.xml"/><Relationship Id="rId3" Type="http://schemas.openxmlformats.org/officeDocument/2006/relationships/image" Target="../media/image77.png"/><Relationship Id="rId4" Type="http://schemas.openxmlformats.org/officeDocument/2006/relationships/image" Target="../media/image71.png"/><Relationship Id="rId5" Type="http://schemas.openxmlformats.org/officeDocument/2006/relationships/image" Target="../media/image8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7.xml"/><Relationship Id="rId3" Type="http://schemas.openxmlformats.org/officeDocument/2006/relationships/image" Target="../media/image77.png"/><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8.xml"/><Relationship Id="rId3" Type="http://schemas.openxmlformats.org/officeDocument/2006/relationships/image" Target="../media/image7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9.xml"/><Relationship Id="rId3" Type="http://schemas.openxmlformats.org/officeDocument/2006/relationships/image" Target="../media/image7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0.xml"/><Relationship Id="rId3" Type="http://schemas.openxmlformats.org/officeDocument/2006/relationships/image" Target="../media/image7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1.xml"/><Relationship Id="rId3" Type="http://schemas.openxmlformats.org/officeDocument/2006/relationships/image" Target="../media/image7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2.xml"/><Relationship Id="rId3" Type="http://schemas.openxmlformats.org/officeDocument/2006/relationships/image" Target="../media/image7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3.xml"/><Relationship Id="rId3" Type="http://schemas.openxmlformats.org/officeDocument/2006/relationships/image" Target="../media/image7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4.xml"/><Relationship Id="rId3" Type="http://schemas.openxmlformats.org/officeDocument/2006/relationships/image" Target="../media/image7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5.xml"/><Relationship Id="rId3" Type="http://schemas.openxmlformats.org/officeDocument/2006/relationships/image" Target="../media/image7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 Id="rId3" Type="http://schemas.openxmlformats.org/officeDocument/2006/relationships/image" Target="../media/image6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8.xml"/><Relationship Id="rId3" Type="http://schemas.openxmlformats.org/officeDocument/2006/relationships/image" Target="../media/image8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9.xml"/><Relationship Id="rId3" Type="http://schemas.openxmlformats.org/officeDocument/2006/relationships/image" Target="../media/image81.png"/><Relationship Id="rId4" Type="http://schemas.openxmlformats.org/officeDocument/2006/relationships/image" Target="../media/image8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 Id="rId3" Type="http://schemas.openxmlformats.org/officeDocument/2006/relationships/image" Target="../media/image8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 Id="rId3" Type="http://schemas.openxmlformats.org/officeDocument/2006/relationships/image" Target="../media/image81.png"/><Relationship Id="rId4" Type="http://schemas.openxmlformats.org/officeDocument/2006/relationships/image" Target="../media/image8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 Id="rId3" Type="http://schemas.openxmlformats.org/officeDocument/2006/relationships/image" Target="../media/image81.png"/><Relationship Id="rId4" Type="http://schemas.openxmlformats.org/officeDocument/2006/relationships/image" Target="../media/image8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 Id="rId3" Type="http://schemas.openxmlformats.org/officeDocument/2006/relationships/image" Target="../media/image81.png"/><Relationship Id="rId4" Type="http://schemas.openxmlformats.org/officeDocument/2006/relationships/image" Target="../media/image8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4.xml"/><Relationship Id="rId3" Type="http://schemas.openxmlformats.org/officeDocument/2006/relationships/image" Target="../media/image77.png"/><Relationship Id="rId4" Type="http://schemas.openxmlformats.org/officeDocument/2006/relationships/image" Target="../media/image8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5.xml"/><Relationship Id="rId3" Type="http://schemas.openxmlformats.org/officeDocument/2006/relationships/image" Target="../media/image77.png"/><Relationship Id="rId4" Type="http://schemas.openxmlformats.org/officeDocument/2006/relationships/image" Target="../media/image8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6.xml"/><Relationship Id="rId3" Type="http://schemas.openxmlformats.org/officeDocument/2006/relationships/image" Target="../media/image77.png"/><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 Id="rId3" Type="http://schemas.openxmlformats.org/officeDocument/2006/relationships/image" Target="../media/image81.png"/><Relationship Id="rId4" Type="http://schemas.openxmlformats.org/officeDocument/2006/relationships/image" Target="../media/image8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8.xml"/><Relationship Id="rId3" Type="http://schemas.openxmlformats.org/officeDocument/2006/relationships/image" Target="../media/image81.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9.xml"/><Relationship Id="rId3" Type="http://schemas.openxmlformats.org/officeDocument/2006/relationships/image" Target="../media/image81.png"/><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0.xml"/><Relationship Id="rId3" Type="http://schemas.openxmlformats.org/officeDocument/2006/relationships/image" Target="../media/image77.png"/><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2.xml"/><Relationship Id="rId3" Type="http://schemas.openxmlformats.org/officeDocument/2006/relationships/image" Target="../media/image8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3.xml"/><Relationship Id="rId3" Type="http://schemas.openxmlformats.org/officeDocument/2006/relationships/image" Target="../media/image8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4.xml"/><Relationship Id="rId3" Type="http://schemas.openxmlformats.org/officeDocument/2006/relationships/image" Target="../media/image8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6.xml"/><Relationship Id="rId3" Type="http://schemas.openxmlformats.org/officeDocument/2006/relationships/image" Target="../media/image8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7.xml"/><Relationship Id="rId3" Type="http://schemas.openxmlformats.org/officeDocument/2006/relationships/image" Target="../media/image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8.xml"/><Relationship Id="rId3" Type="http://schemas.openxmlformats.org/officeDocument/2006/relationships/image" Target="../media/image8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9.xml"/><Relationship Id="rId3" Type="http://schemas.openxmlformats.org/officeDocument/2006/relationships/image" Target="../media/image8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0.xml"/><Relationship Id="rId3" Type="http://schemas.openxmlformats.org/officeDocument/2006/relationships/image" Target="../media/image8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2.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Studying local climate change</a:t>
            </a:r>
            <a:endParaRPr/>
          </a:p>
        </p:txBody>
      </p:sp>
      <p:sp>
        <p:nvSpPr>
          <p:cNvPr id="837" name="Google Shape;837;p73"/>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and the environment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1" name="Shape 841"/>
        <p:cNvGrpSpPr/>
        <p:nvPr/>
      </p:nvGrpSpPr>
      <p:grpSpPr>
        <a:xfrm>
          <a:off x="0" y="0"/>
          <a:ext cx="0" cy="0"/>
          <a:chOff x="0" y="0"/>
          <a:chExt cx="0" cy="0"/>
        </a:xfrm>
      </p:grpSpPr>
      <p:sp>
        <p:nvSpPr>
          <p:cNvPr id="842" name="Google Shape;842;p7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the UK's weather has changed over a long time.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76"/>
          <p:cNvSpPr txBox="1"/>
          <p:nvPr/>
        </p:nvSpPr>
        <p:spPr>
          <a:xfrm>
            <a:off x="324000" y="778110"/>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 forecast is a prediction of a future event occurring (based on data).</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Extrapolation is the process of estimating unknown values that are outside the range of existing data.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Climate is the average weather pattern in an area across a long period of time.</a:t>
            </a:r>
            <a:endParaRPr sz="18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7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858" name="Google Shape;858;p7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sp>
        <p:nvSpPr>
          <p:cNvPr id="859" name="Google Shape;859;p7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Studying local climate change</a:t>
            </a:r>
            <a:endParaRPr/>
          </a:p>
        </p:txBody>
      </p:sp>
      <p:pic>
        <p:nvPicPr>
          <p:cNvPr id="860" name="Google Shape;860;p77"/>
          <p:cNvPicPr preferRelativeResize="0"/>
          <p:nvPr/>
        </p:nvPicPr>
        <p:blipFill>
          <a:blip r:embed="rId3">
            <a:alphaModFix/>
          </a:blip>
          <a:stretch>
            <a:fillRect/>
          </a:stretch>
        </p:blipFill>
        <p:spPr>
          <a:xfrm>
            <a:off x="408127" y="2059448"/>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pic>
        <p:nvPicPr>
          <p:cNvPr id="865" name="Google Shape;865;p78"/>
          <p:cNvPicPr preferRelativeResize="0"/>
          <p:nvPr/>
        </p:nvPicPr>
        <p:blipFill>
          <a:blip r:embed="rId3">
            <a:alphaModFix/>
          </a:blip>
          <a:stretch>
            <a:fillRect/>
          </a:stretch>
        </p:blipFill>
        <p:spPr>
          <a:xfrm>
            <a:off x="4518741" y="524007"/>
            <a:ext cx="4119200" cy="2480550"/>
          </a:xfrm>
          <a:prstGeom prst="rect">
            <a:avLst/>
          </a:prstGeom>
          <a:noFill/>
          <a:ln>
            <a:noFill/>
          </a:ln>
        </p:spPr>
      </p:pic>
      <p:sp>
        <p:nvSpPr>
          <p:cNvPr id="866" name="Google Shape;866;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sp>
        <p:nvSpPr>
          <p:cNvPr id="867" name="Google Shape;867;p78"/>
          <p:cNvSpPr txBox="1"/>
          <p:nvPr/>
        </p:nvSpPr>
        <p:spPr>
          <a:xfrm>
            <a:off x="324000" y="593025"/>
            <a:ext cx="36702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How the climate of a country changes over time may differ depending on its location, due to factors such as:</a:t>
            </a:r>
            <a:endParaRPr sz="1800">
              <a:solidFill>
                <a:srgbClr val="000000"/>
              </a:solidFill>
              <a:latin typeface="Lexend"/>
              <a:ea typeface="Lexend"/>
              <a:cs typeface="Lexend"/>
              <a:sym typeface="Lexend"/>
            </a:endParaRPr>
          </a:p>
        </p:txBody>
      </p:sp>
      <p:sp>
        <p:nvSpPr>
          <p:cNvPr id="868" name="Google Shape;868;p78"/>
          <p:cNvSpPr txBox="1"/>
          <p:nvPr/>
        </p:nvSpPr>
        <p:spPr>
          <a:xfrm>
            <a:off x="847900" y="1812337"/>
            <a:ext cx="1562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its latitude</a:t>
            </a:r>
            <a:endParaRPr sz="1800">
              <a:solidFill>
                <a:srgbClr val="000000"/>
              </a:solidFill>
              <a:latin typeface="Lexend"/>
              <a:ea typeface="Lexend"/>
              <a:cs typeface="Lexend"/>
              <a:sym typeface="Lexend"/>
            </a:endParaRPr>
          </a:p>
        </p:txBody>
      </p:sp>
      <p:cxnSp>
        <p:nvCxnSpPr>
          <p:cNvPr id="869" name="Google Shape;869;p78"/>
          <p:cNvCxnSpPr/>
          <p:nvPr/>
        </p:nvCxnSpPr>
        <p:spPr>
          <a:xfrm>
            <a:off x="4231400" y="1303052"/>
            <a:ext cx="4485900" cy="0"/>
          </a:xfrm>
          <a:prstGeom prst="straightConnector1">
            <a:avLst/>
          </a:prstGeom>
          <a:noFill/>
          <a:ln cap="flat" cmpd="sng" w="38100">
            <a:solidFill>
              <a:schemeClr val="accent4"/>
            </a:solidFill>
            <a:prstDash val="solid"/>
            <a:round/>
            <a:headEnd len="med" w="med" type="none"/>
            <a:tailEnd len="med" w="med" type="none"/>
          </a:ln>
        </p:spPr>
      </p:cxnSp>
      <p:sp>
        <p:nvSpPr>
          <p:cNvPr id="870" name="Google Shape;870;p78"/>
          <p:cNvSpPr txBox="1"/>
          <p:nvPr/>
        </p:nvSpPr>
        <p:spPr>
          <a:xfrm>
            <a:off x="324000" y="5344175"/>
            <a:ext cx="8820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FF0000"/>
                </a:solidFill>
                <a:latin typeface="Lexend"/>
                <a:ea typeface="Lexend"/>
                <a:cs typeface="Lexend"/>
                <a:sym typeface="Lexend"/>
              </a:rPr>
              <a:t>Notes for video: simple definition of latitude: distance north or south of the equator.</a:t>
            </a:r>
            <a:endParaRPr sz="1800">
              <a:solidFill>
                <a:srgbClr val="FF0000"/>
              </a:solidFill>
              <a:latin typeface="Lexend"/>
              <a:ea typeface="Lexend"/>
              <a:cs typeface="Lexend"/>
              <a:sym typeface="Lexend"/>
            </a:endParaRPr>
          </a:p>
          <a:p>
            <a:pPr indent="0" lvl="0" marL="0" rtl="0" algn="l">
              <a:spcBef>
                <a:spcPts val="0"/>
              </a:spcBef>
              <a:spcAft>
                <a:spcPts val="0"/>
              </a:spcAft>
              <a:buNone/>
            </a:pPr>
            <a:r>
              <a:rPr lang="en-GB" sz="1800">
                <a:solidFill>
                  <a:srgbClr val="FF0000"/>
                </a:solidFill>
                <a:latin typeface="Lexend"/>
                <a:ea typeface="Lexend"/>
                <a:cs typeface="Lexend"/>
                <a:sym typeface="Lexend"/>
              </a:rPr>
              <a:t>First latitude shows how far north Cairo, Egypt is of the equator.</a:t>
            </a:r>
            <a:endParaRPr sz="1800">
              <a:solidFill>
                <a:srgbClr val="FF0000"/>
              </a:solidFill>
              <a:latin typeface="Lexend"/>
              <a:ea typeface="Lexend"/>
              <a:cs typeface="Lexend"/>
              <a:sym typeface="Lexend"/>
            </a:endParaRPr>
          </a:p>
          <a:p>
            <a:pPr indent="0" lvl="0" marL="0" rtl="0" algn="l">
              <a:spcBef>
                <a:spcPts val="0"/>
              </a:spcBef>
              <a:spcAft>
                <a:spcPts val="0"/>
              </a:spcAft>
              <a:buNone/>
            </a:pPr>
            <a:r>
              <a:rPr lang="en-GB" sz="1800">
                <a:solidFill>
                  <a:srgbClr val="FF0000"/>
                </a:solidFill>
                <a:latin typeface="Lexend"/>
                <a:ea typeface="Lexend"/>
                <a:cs typeface="Lexend"/>
                <a:sym typeface="Lexend"/>
              </a:rPr>
              <a:t>Second latitude shows how far north the UK is of the equator.</a:t>
            </a:r>
            <a:endParaRPr sz="1800">
              <a:solidFill>
                <a:srgbClr val="FF0000"/>
              </a:solidFill>
              <a:latin typeface="Lexend"/>
              <a:ea typeface="Lexend"/>
              <a:cs typeface="Lexend"/>
              <a:sym typeface="Lexend"/>
            </a:endParaRPr>
          </a:p>
        </p:txBody>
      </p:sp>
      <p:cxnSp>
        <p:nvCxnSpPr>
          <p:cNvPr id="871" name="Google Shape;871;p78"/>
          <p:cNvCxnSpPr/>
          <p:nvPr/>
        </p:nvCxnSpPr>
        <p:spPr>
          <a:xfrm>
            <a:off x="4584650" y="954075"/>
            <a:ext cx="3783000" cy="0"/>
          </a:xfrm>
          <a:prstGeom prst="straightConnector1">
            <a:avLst/>
          </a:prstGeom>
          <a:noFill/>
          <a:ln cap="flat" cmpd="sng" w="38100">
            <a:solidFill>
              <a:schemeClr val="accent4"/>
            </a:solidFill>
            <a:prstDash val="solid"/>
            <a:round/>
            <a:headEnd len="med" w="med" type="none"/>
            <a:tailEnd len="med" w="med" type="none"/>
          </a:ln>
        </p:spPr>
      </p:cxnSp>
      <p:sp>
        <p:nvSpPr>
          <p:cNvPr id="872" name="Google Shape;872;p78"/>
          <p:cNvSpPr txBox="1"/>
          <p:nvPr/>
        </p:nvSpPr>
        <p:spPr>
          <a:xfrm>
            <a:off x="847900" y="2865837"/>
            <a:ext cx="328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carbon emissions</a:t>
            </a:r>
            <a:endParaRPr sz="1800">
              <a:solidFill>
                <a:srgbClr val="000000"/>
              </a:solidFill>
              <a:latin typeface="Lexend"/>
              <a:ea typeface="Lexend"/>
              <a:cs typeface="Lexend"/>
              <a:sym typeface="Lexend"/>
            </a:endParaRPr>
          </a:p>
        </p:txBody>
      </p:sp>
      <p:sp>
        <p:nvSpPr>
          <p:cNvPr id="873" name="Google Shape;873;p78"/>
          <p:cNvSpPr txBox="1"/>
          <p:nvPr/>
        </p:nvSpPr>
        <p:spPr>
          <a:xfrm>
            <a:off x="324000" y="3435000"/>
            <a:ext cx="39960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It is highly unlikely that any two counties will have the exact same influence from these factors, therefore their climates will not evolve over time in the same way.</a:t>
            </a:r>
            <a:endParaRPr sz="1800">
              <a:solidFill>
                <a:srgbClr val="000000"/>
              </a:solidFill>
              <a:latin typeface="Lexend"/>
              <a:ea typeface="Lexend"/>
              <a:cs typeface="Lexend"/>
              <a:sym typeface="Lexend"/>
            </a:endParaRPr>
          </a:p>
        </p:txBody>
      </p:sp>
      <p:sp>
        <p:nvSpPr>
          <p:cNvPr id="874" name="Google Shape;874;p78"/>
          <p:cNvSpPr txBox="1"/>
          <p:nvPr/>
        </p:nvSpPr>
        <p:spPr>
          <a:xfrm>
            <a:off x="847900" y="2200637"/>
            <a:ext cx="3280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its proximity to a sea or ocean</a:t>
            </a:r>
            <a:endParaRPr sz="1800">
              <a:solidFill>
                <a:srgbClr val="000000"/>
              </a:solidFill>
              <a:latin typeface="Lexend"/>
              <a:ea typeface="Lexend"/>
              <a:cs typeface="Lexend"/>
              <a:sym typeface="Lexend"/>
            </a:endParaRPr>
          </a:p>
        </p:txBody>
      </p:sp>
      <p:grpSp>
        <p:nvGrpSpPr>
          <p:cNvPr id="875" name="Google Shape;875;p78"/>
          <p:cNvGrpSpPr/>
          <p:nvPr/>
        </p:nvGrpSpPr>
        <p:grpSpPr>
          <a:xfrm>
            <a:off x="4601220" y="3033991"/>
            <a:ext cx="3908326" cy="1791480"/>
            <a:chOff x="4601220" y="3033991"/>
            <a:chExt cx="3908326" cy="1791480"/>
          </a:xfrm>
        </p:grpSpPr>
        <p:grpSp>
          <p:nvGrpSpPr>
            <p:cNvPr id="876" name="Google Shape;876;p78"/>
            <p:cNvGrpSpPr/>
            <p:nvPr/>
          </p:nvGrpSpPr>
          <p:grpSpPr>
            <a:xfrm>
              <a:off x="4601220" y="3033991"/>
              <a:ext cx="3333228" cy="1355128"/>
              <a:chOff x="4218747" y="3312572"/>
              <a:chExt cx="3333228" cy="1355128"/>
            </a:xfrm>
          </p:grpSpPr>
          <p:pic>
            <p:nvPicPr>
              <p:cNvPr id="877" name="Google Shape;877;p78"/>
              <p:cNvPicPr preferRelativeResize="0"/>
              <p:nvPr/>
            </p:nvPicPr>
            <p:blipFill rotWithShape="1">
              <a:blip r:embed="rId4">
                <a:alphaModFix/>
              </a:blip>
              <a:srcRect b="66617" l="41741" r="0" t="13016"/>
              <a:stretch/>
            </p:blipFill>
            <p:spPr>
              <a:xfrm flipH="1">
                <a:off x="4223028" y="3312572"/>
                <a:ext cx="3324774" cy="553300"/>
              </a:xfrm>
              <a:prstGeom prst="rect">
                <a:avLst/>
              </a:prstGeom>
              <a:noFill/>
              <a:ln>
                <a:noFill/>
              </a:ln>
            </p:spPr>
          </p:pic>
          <p:pic>
            <p:nvPicPr>
              <p:cNvPr id="878" name="Google Shape;878;p78"/>
              <p:cNvPicPr preferRelativeResize="0"/>
              <p:nvPr/>
            </p:nvPicPr>
            <p:blipFill rotWithShape="1">
              <a:blip r:embed="rId4">
                <a:alphaModFix/>
              </a:blip>
              <a:srcRect b="4762" l="41741" r="0" t="62189"/>
              <a:stretch/>
            </p:blipFill>
            <p:spPr>
              <a:xfrm flipH="1">
                <a:off x="4218747" y="3767599"/>
                <a:ext cx="3333228" cy="900100"/>
              </a:xfrm>
              <a:prstGeom prst="rect">
                <a:avLst/>
              </a:prstGeom>
              <a:noFill/>
              <a:ln>
                <a:noFill/>
              </a:ln>
            </p:spPr>
          </p:pic>
        </p:grpSp>
        <p:grpSp>
          <p:nvGrpSpPr>
            <p:cNvPr id="879" name="Google Shape;879;p78"/>
            <p:cNvGrpSpPr/>
            <p:nvPr/>
          </p:nvGrpSpPr>
          <p:grpSpPr>
            <a:xfrm>
              <a:off x="7627246" y="3872031"/>
              <a:ext cx="882300" cy="953440"/>
              <a:chOff x="3745825" y="4553421"/>
              <a:chExt cx="882300" cy="953440"/>
            </a:xfrm>
          </p:grpSpPr>
          <p:pic>
            <p:nvPicPr>
              <p:cNvPr id="880" name="Google Shape;880;p78"/>
              <p:cNvPicPr preferRelativeResize="0"/>
              <p:nvPr/>
            </p:nvPicPr>
            <p:blipFill>
              <a:blip r:embed="rId5">
                <a:alphaModFix/>
              </a:blip>
              <a:stretch>
                <a:fillRect/>
              </a:stretch>
            </p:blipFill>
            <p:spPr>
              <a:xfrm>
                <a:off x="3940144" y="4553421"/>
                <a:ext cx="493661" cy="636575"/>
              </a:xfrm>
              <a:prstGeom prst="rect">
                <a:avLst/>
              </a:prstGeom>
              <a:noFill/>
              <a:ln>
                <a:noFill/>
              </a:ln>
            </p:spPr>
          </p:pic>
          <p:sp>
            <p:nvSpPr>
              <p:cNvPr id="881" name="Google Shape;881;p78"/>
              <p:cNvSpPr txBox="1"/>
              <p:nvPr/>
            </p:nvSpPr>
            <p:spPr>
              <a:xfrm>
                <a:off x="3745825" y="5229660"/>
                <a:ext cx="88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1000"/>
                  </a:spcAft>
                  <a:buNone/>
                </a:pPr>
                <a:r>
                  <a:rPr lang="en-GB" sz="1800">
                    <a:solidFill>
                      <a:srgbClr val="000000"/>
                    </a:solidFill>
                    <a:latin typeface="Lexend"/>
                    <a:ea typeface="Lexend"/>
                    <a:cs typeface="Lexend"/>
                    <a:sym typeface="Lexend"/>
                  </a:rPr>
                  <a:t>Andeep</a:t>
                </a:r>
                <a:endParaRPr sz="1800">
                  <a:latin typeface="Lexend"/>
                  <a:ea typeface="Lexend"/>
                  <a:cs typeface="Lexend"/>
                  <a:sym typeface="Lexend"/>
                </a:endParaRPr>
              </a:p>
            </p:txBody>
          </p:sp>
        </p:grpSp>
        <p:sp>
          <p:nvSpPr>
            <p:cNvPr id="882" name="Google Shape;882;p78"/>
            <p:cNvSpPr txBox="1"/>
            <p:nvPr/>
          </p:nvSpPr>
          <p:spPr>
            <a:xfrm>
              <a:off x="4659492" y="3170779"/>
              <a:ext cx="31128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700">
                  <a:latin typeface="Lexend"/>
                  <a:ea typeface="Lexend"/>
                  <a:cs typeface="Lexend"/>
                  <a:sym typeface="Lexend"/>
                </a:rPr>
                <a:t>I wonder how the climate of the UK has changed over time!</a:t>
              </a:r>
              <a:endParaRPr sz="17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pic>
        <p:nvPicPr>
          <p:cNvPr id="887" name="Google Shape;887;p79"/>
          <p:cNvPicPr preferRelativeResize="0"/>
          <p:nvPr/>
        </p:nvPicPr>
        <p:blipFill rotWithShape="1">
          <a:blip r:embed="rId3">
            <a:alphaModFix/>
          </a:blip>
          <a:srcRect b="-11433" l="0" r="0" t="0"/>
          <a:stretch/>
        </p:blipFill>
        <p:spPr>
          <a:xfrm>
            <a:off x="324000" y="1364217"/>
            <a:ext cx="4572001" cy="2673124"/>
          </a:xfrm>
          <a:prstGeom prst="rect">
            <a:avLst/>
          </a:prstGeom>
          <a:noFill/>
          <a:ln cap="flat" cmpd="sng" w="19050">
            <a:solidFill>
              <a:schemeClr val="dk1"/>
            </a:solidFill>
            <a:prstDash val="solid"/>
            <a:round/>
            <a:headEnd len="sm" w="sm" type="none"/>
            <a:tailEnd len="sm" w="sm" type="none"/>
          </a:ln>
        </p:spPr>
      </p:pic>
      <p:sp>
        <p:nvSpPr>
          <p:cNvPr id="888" name="Google Shape;888;p79"/>
          <p:cNvSpPr txBox="1"/>
          <p:nvPr/>
        </p:nvSpPr>
        <p:spPr>
          <a:xfrm>
            <a:off x="324000" y="613589"/>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compare how one part of the climate is changing over time in two different locations in the same country.</a:t>
            </a:r>
            <a:endParaRPr sz="1800">
              <a:solidFill>
                <a:srgbClr val="000000"/>
              </a:solidFill>
              <a:latin typeface="Lexend"/>
              <a:ea typeface="Lexend"/>
              <a:cs typeface="Lexend"/>
              <a:sym typeface="Lexend"/>
            </a:endParaRPr>
          </a:p>
        </p:txBody>
      </p:sp>
      <p:sp>
        <p:nvSpPr>
          <p:cNvPr id="889" name="Google Shape;889;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sp>
        <p:nvSpPr>
          <p:cNvPr id="890" name="Google Shape;890;p79"/>
          <p:cNvSpPr txBox="1"/>
          <p:nvPr/>
        </p:nvSpPr>
        <p:spPr>
          <a:xfrm>
            <a:off x="5099800" y="1364225"/>
            <a:ext cx="37203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graph shows data from the Met Office about the average number of days with air frost per month between the years 1941 and 2022 in Nairn and Oxford.</a:t>
            </a:r>
            <a:endParaRPr sz="1800">
              <a:solidFill>
                <a:srgbClr val="000000"/>
              </a:solidFill>
              <a:latin typeface="Lexend"/>
              <a:ea typeface="Lexend"/>
              <a:cs typeface="Lexend"/>
              <a:sym typeface="Lexend"/>
            </a:endParaRPr>
          </a:p>
        </p:txBody>
      </p:sp>
      <p:grpSp>
        <p:nvGrpSpPr>
          <p:cNvPr id="891" name="Google Shape;891;p79"/>
          <p:cNvGrpSpPr/>
          <p:nvPr/>
        </p:nvGrpSpPr>
        <p:grpSpPr>
          <a:xfrm>
            <a:off x="324000" y="4049543"/>
            <a:ext cx="3491100" cy="738900"/>
            <a:chOff x="5413488" y="2887206"/>
            <a:chExt cx="3491100" cy="738900"/>
          </a:xfrm>
        </p:grpSpPr>
        <p:sp>
          <p:nvSpPr>
            <p:cNvPr id="892" name="Google Shape;892;p79"/>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Nairn (Scotland)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 (South England)</a:t>
              </a:r>
              <a:endParaRPr sz="1600">
                <a:latin typeface="Lexend"/>
                <a:ea typeface="Lexend"/>
                <a:cs typeface="Lexend"/>
                <a:sym typeface="Lexend"/>
              </a:endParaRPr>
            </a:p>
          </p:txBody>
        </p:sp>
        <p:sp>
          <p:nvSpPr>
            <p:cNvPr id="893" name="Google Shape;893;p79"/>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894" name="Google Shape;894;p79"/>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895" name="Google Shape;895;p79"/>
          <p:cNvSpPr txBox="1"/>
          <p:nvPr/>
        </p:nvSpPr>
        <p:spPr>
          <a:xfrm>
            <a:off x="324000" y="3790754"/>
            <a:ext cx="4572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600">
                <a:latin typeface="Lexend"/>
                <a:ea typeface="Lexend"/>
                <a:cs typeface="Lexend"/>
                <a:sym typeface="Lexend"/>
              </a:rPr>
              <a:t>graph showing air frost over time</a:t>
            </a:r>
            <a:endParaRPr sz="16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80"/>
          <p:cNvSpPr txBox="1"/>
          <p:nvPr/>
        </p:nvSpPr>
        <p:spPr>
          <a:xfrm>
            <a:off x="324000" y="613589"/>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compare how one part of the climate is changing over time in two different locations in the same country.</a:t>
            </a:r>
            <a:endParaRPr sz="1800">
              <a:solidFill>
                <a:srgbClr val="000000"/>
              </a:solidFill>
              <a:latin typeface="Lexend"/>
              <a:ea typeface="Lexend"/>
              <a:cs typeface="Lexend"/>
              <a:sym typeface="Lexend"/>
            </a:endParaRPr>
          </a:p>
        </p:txBody>
      </p:sp>
      <p:sp>
        <p:nvSpPr>
          <p:cNvPr id="901" name="Google Shape;901;p80"/>
          <p:cNvSpPr txBox="1"/>
          <p:nvPr/>
        </p:nvSpPr>
        <p:spPr>
          <a:xfrm>
            <a:off x="5099800" y="1364225"/>
            <a:ext cx="3720300" cy="22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These two data points show the average number of days of air frost per month in 1947 in both Nairn and Oxford.</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For Nairn, the average was just over 6 days, whilst in Oxford it was just under 6 days.</a:t>
            </a:r>
            <a:endParaRPr sz="1800">
              <a:solidFill>
                <a:srgbClr val="000000"/>
              </a:solidFill>
              <a:latin typeface="Lexend"/>
              <a:ea typeface="Lexend"/>
              <a:cs typeface="Lexend"/>
              <a:sym typeface="Lexend"/>
            </a:endParaRPr>
          </a:p>
        </p:txBody>
      </p:sp>
      <p:sp>
        <p:nvSpPr>
          <p:cNvPr id="902" name="Google Shape;902;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903" name="Google Shape;903;p80"/>
          <p:cNvPicPr preferRelativeResize="0"/>
          <p:nvPr/>
        </p:nvPicPr>
        <p:blipFill rotWithShape="1">
          <a:blip r:embed="rId3">
            <a:alphaModFix/>
          </a:blip>
          <a:srcRect b="-11433" l="0" r="0" t="0"/>
          <a:stretch/>
        </p:blipFill>
        <p:spPr>
          <a:xfrm>
            <a:off x="324000" y="1364217"/>
            <a:ext cx="4572001" cy="2673124"/>
          </a:xfrm>
          <a:prstGeom prst="rect">
            <a:avLst/>
          </a:prstGeom>
          <a:noFill/>
          <a:ln cap="flat" cmpd="sng" w="19050">
            <a:solidFill>
              <a:schemeClr val="dk1"/>
            </a:solidFill>
            <a:prstDash val="solid"/>
            <a:round/>
            <a:headEnd len="sm" w="sm" type="none"/>
            <a:tailEnd len="sm" w="sm" type="none"/>
          </a:ln>
        </p:spPr>
      </p:pic>
      <p:grpSp>
        <p:nvGrpSpPr>
          <p:cNvPr id="904" name="Google Shape;904;p80"/>
          <p:cNvGrpSpPr/>
          <p:nvPr/>
        </p:nvGrpSpPr>
        <p:grpSpPr>
          <a:xfrm>
            <a:off x="324000" y="4049543"/>
            <a:ext cx="3491100" cy="738900"/>
            <a:chOff x="5413488" y="2887206"/>
            <a:chExt cx="3491100" cy="738900"/>
          </a:xfrm>
        </p:grpSpPr>
        <p:sp>
          <p:nvSpPr>
            <p:cNvPr id="905" name="Google Shape;905;p80"/>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Nairn (Scotland)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 (South England)</a:t>
              </a:r>
              <a:endParaRPr sz="1600">
                <a:latin typeface="Lexend"/>
                <a:ea typeface="Lexend"/>
                <a:cs typeface="Lexend"/>
                <a:sym typeface="Lexend"/>
              </a:endParaRPr>
            </a:p>
          </p:txBody>
        </p:sp>
        <p:sp>
          <p:nvSpPr>
            <p:cNvPr id="906" name="Google Shape;906;p80"/>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907" name="Google Shape;907;p80"/>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908" name="Google Shape;908;p80"/>
          <p:cNvSpPr txBox="1"/>
          <p:nvPr/>
        </p:nvSpPr>
        <p:spPr>
          <a:xfrm>
            <a:off x="324000" y="3790754"/>
            <a:ext cx="4572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600">
                <a:latin typeface="Lexend"/>
                <a:ea typeface="Lexend"/>
                <a:cs typeface="Lexend"/>
                <a:sym typeface="Lexend"/>
              </a:rPr>
              <a:t>graph showing air frost over time</a:t>
            </a:r>
            <a:endParaRPr sz="1600">
              <a:solidFill>
                <a:srgbClr val="000000"/>
              </a:solidFill>
              <a:latin typeface="Lexend"/>
              <a:ea typeface="Lexend"/>
              <a:cs typeface="Lexend"/>
              <a:sym typeface="Lexend"/>
            </a:endParaRPr>
          </a:p>
        </p:txBody>
      </p:sp>
      <p:sp>
        <p:nvSpPr>
          <p:cNvPr id="909" name="Google Shape;909;p80"/>
          <p:cNvSpPr/>
          <p:nvPr/>
        </p:nvSpPr>
        <p:spPr>
          <a:xfrm>
            <a:off x="1079769" y="1731475"/>
            <a:ext cx="177300" cy="3702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1"/>
          <p:cNvSpPr txBox="1"/>
          <p:nvPr/>
        </p:nvSpPr>
        <p:spPr>
          <a:xfrm>
            <a:off x="5099800" y="1364225"/>
            <a:ext cx="37203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look at the trendlines in both locations to help us understand the long-term patterns and changes to this part of the climate.</a:t>
            </a:r>
            <a:endParaRPr sz="1800">
              <a:solidFill>
                <a:srgbClr val="000000"/>
              </a:solidFill>
              <a:latin typeface="Lexend"/>
              <a:ea typeface="Lexend"/>
              <a:cs typeface="Lexend"/>
              <a:sym typeface="Lexend"/>
            </a:endParaRPr>
          </a:p>
        </p:txBody>
      </p:sp>
      <p:sp>
        <p:nvSpPr>
          <p:cNvPr id="915" name="Google Shape;915;p81"/>
          <p:cNvSpPr txBox="1"/>
          <p:nvPr/>
        </p:nvSpPr>
        <p:spPr>
          <a:xfrm>
            <a:off x="324000" y="613589"/>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compare how one part of the climate is changing over time in two different locations in the same country.</a:t>
            </a:r>
            <a:endParaRPr sz="1800">
              <a:solidFill>
                <a:srgbClr val="000000"/>
              </a:solidFill>
              <a:latin typeface="Lexend"/>
              <a:ea typeface="Lexend"/>
              <a:cs typeface="Lexend"/>
              <a:sym typeface="Lexend"/>
            </a:endParaRPr>
          </a:p>
        </p:txBody>
      </p:sp>
      <p:sp>
        <p:nvSpPr>
          <p:cNvPr id="916" name="Google Shape;916;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917" name="Google Shape;917;p81"/>
          <p:cNvPicPr preferRelativeResize="0"/>
          <p:nvPr/>
        </p:nvPicPr>
        <p:blipFill rotWithShape="1">
          <a:blip r:embed="rId3">
            <a:alphaModFix/>
          </a:blip>
          <a:srcRect b="-11433" l="0" r="0" t="0"/>
          <a:stretch/>
        </p:blipFill>
        <p:spPr>
          <a:xfrm>
            <a:off x="324000" y="1364217"/>
            <a:ext cx="4572001" cy="2673124"/>
          </a:xfrm>
          <a:prstGeom prst="rect">
            <a:avLst/>
          </a:prstGeom>
          <a:noFill/>
          <a:ln cap="flat" cmpd="sng" w="19050">
            <a:solidFill>
              <a:schemeClr val="dk1"/>
            </a:solidFill>
            <a:prstDash val="solid"/>
            <a:round/>
            <a:headEnd len="sm" w="sm" type="none"/>
            <a:tailEnd len="sm" w="sm" type="none"/>
          </a:ln>
        </p:spPr>
      </p:pic>
      <p:grpSp>
        <p:nvGrpSpPr>
          <p:cNvPr id="918" name="Google Shape;918;p81"/>
          <p:cNvGrpSpPr/>
          <p:nvPr/>
        </p:nvGrpSpPr>
        <p:grpSpPr>
          <a:xfrm>
            <a:off x="324000" y="4049543"/>
            <a:ext cx="3491100" cy="738900"/>
            <a:chOff x="5413488" y="2887206"/>
            <a:chExt cx="3491100" cy="738900"/>
          </a:xfrm>
        </p:grpSpPr>
        <p:sp>
          <p:nvSpPr>
            <p:cNvPr id="919" name="Google Shape;919;p81"/>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Nairn (Scotland)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 (South England)</a:t>
              </a:r>
              <a:endParaRPr sz="1600">
                <a:latin typeface="Lexend"/>
                <a:ea typeface="Lexend"/>
                <a:cs typeface="Lexend"/>
                <a:sym typeface="Lexend"/>
              </a:endParaRPr>
            </a:p>
          </p:txBody>
        </p:sp>
        <p:sp>
          <p:nvSpPr>
            <p:cNvPr id="920" name="Google Shape;920;p81"/>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921" name="Google Shape;921;p81"/>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922" name="Google Shape;922;p81"/>
          <p:cNvSpPr txBox="1"/>
          <p:nvPr/>
        </p:nvSpPr>
        <p:spPr>
          <a:xfrm>
            <a:off x="324000" y="3790754"/>
            <a:ext cx="4572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600">
                <a:latin typeface="Lexend"/>
                <a:ea typeface="Lexend"/>
                <a:cs typeface="Lexend"/>
                <a:sym typeface="Lexend"/>
              </a:rPr>
              <a:t>graph showing air frost over time</a:t>
            </a:r>
            <a:endParaRPr sz="1600">
              <a:solidFill>
                <a:srgbClr val="000000"/>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82"/>
          <p:cNvSpPr txBox="1"/>
          <p:nvPr/>
        </p:nvSpPr>
        <p:spPr>
          <a:xfrm>
            <a:off x="5099800" y="3158100"/>
            <a:ext cx="37203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Whilst this trend is usually true, there may be some years that break the trend.</a:t>
            </a:r>
            <a:endParaRPr sz="1800">
              <a:solidFill>
                <a:srgbClr val="000000"/>
              </a:solidFill>
              <a:latin typeface="Lexend"/>
              <a:ea typeface="Lexend"/>
              <a:cs typeface="Lexend"/>
              <a:sym typeface="Lexend"/>
            </a:endParaRPr>
          </a:p>
        </p:txBody>
      </p:sp>
      <p:sp>
        <p:nvSpPr>
          <p:cNvPr id="928" name="Google Shape;928;p82"/>
          <p:cNvSpPr txBox="1"/>
          <p:nvPr/>
        </p:nvSpPr>
        <p:spPr>
          <a:xfrm>
            <a:off x="324000" y="613589"/>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compare how one part of the climate is changing over time in two different locations in the same country.</a:t>
            </a:r>
            <a:endParaRPr sz="1800">
              <a:solidFill>
                <a:srgbClr val="000000"/>
              </a:solidFill>
              <a:latin typeface="Lexend"/>
              <a:ea typeface="Lexend"/>
              <a:cs typeface="Lexend"/>
              <a:sym typeface="Lexend"/>
            </a:endParaRPr>
          </a:p>
        </p:txBody>
      </p:sp>
      <p:sp>
        <p:nvSpPr>
          <p:cNvPr id="929" name="Google Shape;929;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930" name="Google Shape;930;p82"/>
          <p:cNvPicPr preferRelativeResize="0"/>
          <p:nvPr/>
        </p:nvPicPr>
        <p:blipFill rotWithShape="1">
          <a:blip r:embed="rId3">
            <a:alphaModFix/>
          </a:blip>
          <a:srcRect b="-11433" l="0" r="0" t="0"/>
          <a:stretch/>
        </p:blipFill>
        <p:spPr>
          <a:xfrm>
            <a:off x="324000" y="1364217"/>
            <a:ext cx="4572001" cy="2673124"/>
          </a:xfrm>
          <a:prstGeom prst="rect">
            <a:avLst/>
          </a:prstGeom>
          <a:noFill/>
          <a:ln cap="flat" cmpd="sng" w="19050">
            <a:solidFill>
              <a:schemeClr val="dk1"/>
            </a:solidFill>
            <a:prstDash val="solid"/>
            <a:round/>
            <a:headEnd len="sm" w="sm" type="none"/>
            <a:tailEnd len="sm" w="sm" type="none"/>
          </a:ln>
        </p:spPr>
      </p:pic>
      <p:sp>
        <p:nvSpPr>
          <p:cNvPr id="931" name="Google Shape;931;p82"/>
          <p:cNvSpPr txBox="1"/>
          <p:nvPr/>
        </p:nvSpPr>
        <p:spPr>
          <a:xfrm>
            <a:off x="5099800" y="1254550"/>
            <a:ext cx="37203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trendline for Nairn is higher than Oxford.</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Therefore, the general pattern is that we </a:t>
            </a:r>
            <a:r>
              <a:rPr lang="en-GB" sz="1800">
                <a:solidFill>
                  <a:schemeClr val="accent4"/>
                </a:solidFill>
                <a:latin typeface="Lexend"/>
                <a:ea typeface="Lexend"/>
                <a:cs typeface="Lexend"/>
                <a:sym typeface="Lexend"/>
              </a:rPr>
              <a:t>expect</a:t>
            </a:r>
            <a:r>
              <a:rPr lang="en-GB" sz="1800">
                <a:latin typeface="Lexend"/>
                <a:ea typeface="Lexend"/>
                <a:cs typeface="Lexend"/>
                <a:sym typeface="Lexend"/>
              </a:rPr>
              <a:t> to see more days per month of air frost in Nairn than Oxford.</a:t>
            </a:r>
            <a:endParaRPr sz="1800">
              <a:solidFill>
                <a:srgbClr val="000000"/>
              </a:solidFill>
              <a:latin typeface="Lexend"/>
              <a:ea typeface="Lexend"/>
              <a:cs typeface="Lexend"/>
              <a:sym typeface="Lexend"/>
            </a:endParaRPr>
          </a:p>
        </p:txBody>
      </p:sp>
      <p:grpSp>
        <p:nvGrpSpPr>
          <p:cNvPr id="932" name="Google Shape;932;p82"/>
          <p:cNvGrpSpPr/>
          <p:nvPr/>
        </p:nvGrpSpPr>
        <p:grpSpPr>
          <a:xfrm>
            <a:off x="324000" y="4049543"/>
            <a:ext cx="3491100" cy="738900"/>
            <a:chOff x="5413488" y="2887206"/>
            <a:chExt cx="3491100" cy="738900"/>
          </a:xfrm>
        </p:grpSpPr>
        <p:sp>
          <p:nvSpPr>
            <p:cNvPr id="933" name="Google Shape;933;p82"/>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Nairn (Scotland)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 (South England)</a:t>
              </a:r>
              <a:endParaRPr sz="1600">
                <a:latin typeface="Lexend"/>
                <a:ea typeface="Lexend"/>
                <a:cs typeface="Lexend"/>
                <a:sym typeface="Lexend"/>
              </a:endParaRPr>
            </a:p>
          </p:txBody>
        </p:sp>
        <p:sp>
          <p:nvSpPr>
            <p:cNvPr id="934" name="Google Shape;934;p82"/>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935" name="Google Shape;935;p82"/>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936" name="Google Shape;936;p82"/>
          <p:cNvSpPr txBox="1"/>
          <p:nvPr/>
        </p:nvSpPr>
        <p:spPr>
          <a:xfrm>
            <a:off x="324000" y="3790754"/>
            <a:ext cx="4572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600">
                <a:latin typeface="Lexend"/>
                <a:ea typeface="Lexend"/>
                <a:cs typeface="Lexend"/>
                <a:sym typeface="Lexend"/>
              </a:rPr>
              <a:t>graph showing air frost over time</a:t>
            </a:r>
            <a:endParaRPr sz="1600">
              <a:solidFill>
                <a:srgbClr val="000000"/>
              </a:solidFill>
              <a:latin typeface="Lexend"/>
              <a:ea typeface="Lexend"/>
              <a:cs typeface="Lexend"/>
              <a:sym typeface="Lexend"/>
            </a:endParaRPr>
          </a:p>
        </p:txBody>
      </p:sp>
      <p:sp>
        <p:nvSpPr>
          <p:cNvPr id="937" name="Google Shape;937;p82"/>
          <p:cNvSpPr/>
          <p:nvPr/>
        </p:nvSpPr>
        <p:spPr>
          <a:xfrm>
            <a:off x="1488414" y="2050364"/>
            <a:ext cx="117300" cy="1887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8" name="Google Shape;938;p82"/>
          <p:cNvSpPr txBox="1"/>
          <p:nvPr/>
        </p:nvSpPr>
        <p:spPr>
          <a:xfrm>
            <a:off x="5099800" y="3986962"/>
            <a:ext cx="37203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example, in 1955 when Oxford had a slightly higher average than Nairn.</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83"/>
          <p:cNvSpPr txBox="1"/>
          <p:nvPr/>
        </p:nvSpPr>
        <p:spPr>
          <a:xfrm>
            <a:off x="5099800" y="2364975"/>
            <a:ext cx="3720300"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trendline for Nairn has a very shallow, negative gradient.</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This means the long-term trend for the average number of days of air frost per month is:</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decreasing… but not by much.</a:t>
            </a:r>
            <a:endParaRPr sz="1800">
              <a:latin typeface="Lexend"/>
              <a:ea typeface="Lexend"/>
              <a:cs typeface="Lexend"/>
              <a:sym typeface="Lexend"/>
            </a:endParaRPr>
          </a:p>
        </p:txBody>
      </p:sp>
      <p:sp>
        <p:nvSpPr>
          <p:cNvPr id="944" name="Google Shape;944;p83"/>
          <p:cNvSpPr txBox="1"/>
          <p:nvPr/>
        </p:nvSpPr>
        <p:spPr>
          <a:xfrm>
            <a:off x="324000" y="613589"/>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compare how one part of the climate is changing over time in two different locations in the same country.</a:t>
            </a:r>
            <a:endParaRPr sz="1800">
              <a:solidFill>
                <a:srgbClr val="000000"/>
              </a:solidFill>
              <a:latin typeface="Lexend"/>
              <a:ea typeface="Lexend"/>
              <a:cs typeface="Lexend"/>
              <a:sym typeface="Lexend"/>
            </a:endParaRPr>
          </a:p>
        </p:txBody>
      </p:sp>
      <p:sp>
        <p:nvSpPr>
          <p:cNvPr id="945" name="Google Shape;945;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946" name="Google Shape;946;p83"/>
          <p:cNvPicPr preferRelativeResize="0"/>
          <p:nvPr/>
        </p:nvPicPr>
        <p:blipFill rotWithShape="1">
          <a:blip r:embed="rId3">
            <a:alphaModFix/>
          </a:blip>
          <a:srcRect b="-11433" l="0" r="0" t="0"/>
          <a:stretch/>
        </p:blipFill>
        <p:spPr>
          <a:xfrm>
            <a:off x="324000" y="1364217"/>
            <a:ext cx="4572001" cy="2673124"/>
          </a:xfrm>
          <a:prstGeom prst="rect">
            <a:avLst/>
          </a:prstGeom>
          <a:noFill/>
          <a:ln cap="flat" cmpd="sng" w="19050">
            <a:solidFill>
              <a:schemeClr val="dk1"/>
            </a:solidFill>
            <a:prstDash val="solid"/>
            <a:round/>
            <a:headEnd len="sm" w="sm" type="none"/>
            <a:tailEnd len="sm" w="sm" type="none"/>
          </a:ln>
        </p:spPr>
      </p:pic>
      <p:sp>
        <p:nvSpPr>
          <p:cNvPr id="947" name="Google Shape;947;p83"/>
          <p:cNvSpPr txBox="1"/>
          <p:nvPr/>
        </p:nvSpPr>
        <p:spPr>
          <a:xfrm>
            <a:off x="5099800" y="1254550"/>
            <a:ext cx="37203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gradient of the trendline shows how quickly a change is happening. </a:t>
            </a:r>
            <a:endParaRPr sz="1800">
              <a:solidFill>
                <a:srgbClr val="000000"/>
              </a:solidFill>
              <a:latin typeface="Lexend"/>
              <a:ea typeface="Lexend"/>
              <a:cs typeface="Lexend"/>
              <a:sym typeface="Lexend"/>
            </a:endParaRPr>
          </a:p>
        </p:txBody>
      </p:sp>
      <p:grpSp>
        <p:nvGrpSpPr>
          <p:cNvPr id="948" name="Google Shape;948;p83"/>
          <p:cNvGrpSpPr/>
          <p:nvPr/>
        </p:nvGrpSpPr>
        <p:grpSpPr>
          <a:xfrm>
            <a:off x="324000" y="4049543"/>
            <a:ext cx="3491100" cy="738900"/>
            <a:chOff x="5413488" y="2887206"/>
            <a:chExt cx="3491100" cy="738900"/>
          </a:xfrm>
        </p:grpSpPr>
        <p:sp>
          <p:nvSpPr>
            <p:cNvPr id="949" name="Google Shape;949;p83"/>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Nairn (Scotland)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 (South England)</a:t>
              </a:r>
              <a:endParaRPr sz="1600">
                <a:latin typeface="Lexend"/>
                <a:ea typeface="Lexend"/>
                <a:cs typeface="Lexend"/>
                <a:sym typeface="Lexend"/>
              </a:endParaRPr>
            </a:p>
          </p:txBody>
        </p:sp>
        <p:sp>
          <p:nvSpPr>
            <p:cNvPr id="950" name="Google Shape;950;p83"/>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951" name="Google Shape;951;p83"/>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952" name="Google Shape;952;p83"/>
          <p:cNvSpPr txBox="1"/>
          <p:nvPr/>
        </p:nvSpPr>
        <p:spPr>
          <a:xfrm>
            <a:off x="324000" y="3790754"/>
            <a:ext cx="4572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600">
                <a:latin typeface="Lexend"/>
                <a:ea typeface="Lexend"/>
                <a:cs typeface="Lexend"/>
                <a:sym typeface="Lexend"/>
              </a:rPr>
              <a:t>graph showing air frost over time</a:t>
            </a:r>
            <a:endParaRPr sz="1600">
              <a:solidFill>
                <a:srgbClr val="000000"/>
              </a:solidFill>
              <a:latin typeface="Lexend"/>
              <a:ea typeface="Lexend"/>
              <a:cs typeface="Lexend"/>
              <a:sym typeface="Lexend"/>
            </a:endParaRPr>
          </a:p>
        </p:txBody>
      </p:sp>
      <p:cxnSp>
        <p:nvCxnSpPr>
          <p:cNvPr id="953" name="Google Shape;953;p83"/>
          <p:cNvCxnSpPr/>
          <p:nvPr/>
        </p:nvCxnSpPr>
        <p:spPr>
          <a:xfrm>
            <a:off x="871100" y="2321825"/>
            <a:ext cx="3892800" cy="111600"/>
          </a:xfrm>
          <a:prstGeom prst="straightConnector1">
            <a:avLst/>
          </a:prstGeom>
          <a:noFill/>
          <a:ln cap="flat" cmpd="sng" w="38100">
            <a:solidFill>
              <a:schemeClr val="accent4"/>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84"/>
          <p:cNvSpPr txBox="1"/>
          <p:nvPr/>
        </p:nvSpPr>
        <p:spPr>
          <a:xfrm>
            <a:off x="5099800" y="1364225"/>
            <a:ext cx="3720300" cy="22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trendline for Oxford also has negative gradient.</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However, this gradient is steeper, meaning that the average number of days of air frost per month in Oxford is </a:t>
            </a:r>
            <a:r>
              <a:rPr lang="en-GB" sz="1800">
                <a:solidFill>
                  <a:srgbClr val="845AD9"/>
                </a:solidFill>
                <a:latin typeface="Lexend"/>
                <a:ea typeface="Lexend"/>
                <a:cs typeface="Lexend"/>
                <a:sym typeface="Lexend"/>
              </a:rPr>
              <a:t>decreasing at a faster rat</a:t>
            </a:r>
            <a:r>
              <a:rPr lang="en-GB" sz="1800">
                <a:solidFill>
                  <a:schemeClr val="accent4"/>
                </a:solidFill>
                <a:latin typeface="Lexend"/>
                <a:ea typeface="Lexend"/>
                <a:cs typeface="Lexend"/>
                <a:sym typeface="Lexend"/>
              </a:rPr>
              <a:t>e</a:t>
            </a:r>
            <a:r>
              <a:rPr lang="en-GB" sz="1800">
                <a:latin typeface="Lexend"/>
                <a:ea typeface="Lexend"/>
                <a:cs typeface="Lexend"/>
                <a:sym typeface="Lexend"/>
              </a:rPr>
              <a:t> than in Nairn.</a:t>
            </a:r>
            <a:endParaRPr sz="1800">
              <a:latin typeface="Lexend"/>
              <a:ea typeface="Lexend"/>
              <a:cs typeface="Lexend"/>
              <a:sym typeface="Lexend"/>
            </a:endParaRPr>
          </a:p>
        </p:txBody>
      </p:sp>
      <p:sp>
        <p:nvSpPr>
          <p:cNvPr id="959" name="Google Shape;959;p84"/>
          <p:cNvSpPr txBox="1"/>
          <p:nvPr/>
        </p:nvSpPr>
        <p:spPr>
          <a:xfrm>
            <a:off x="324000" y="613589"/>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compare how one part of the climate is changing over time in two different locations in the same country.</a:t>
            </a:r>
            <a:endParaRPr sz="1800">
              <a:solidFill>
                <a:srgbClr val="000000"/>
              </a:solidFill>
              <a:latin typeface="Lexend"/>
              <a:ea typeface="Lexend"/>
              <a:cs typeface="Lexend"/>
              <a:sym typeface="Lexend"/>
            </a:endParaRPr>
          </a:p>
        </p:txBody>
      </p:sp>
      <p:sp>
        <p:nvSpPr>
          <p:cNvPr id="960" name="Google Shape;960;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961" name="Google Shape;961;p84"/>
          <p:cNvPicPr preferRelativeResize="0"/>
          <p:nvPr/>
        </p:nvPicPr>
        <p:blipFill rotWithShape="1">
          <a:blip r:embed="rId3">
            <a:alphaModFix/>
          </a:blip>
          <a:srcRect b="-11433" l="0" r="0" t="0"/>
          <a:stretch/>
        </p:blipFill>
        <p:spPr>
          <a:xfrm>
            <a:off x="324000" y="1364217"/>
            <a:ext cx="4572001" cy="2673124"/>
          </a:xfrm>
          <a:prstGeom prst="rect">
            <a:avLst/>
          </a:prstGeom>
          <a:noFill/>
          <a:ln cap="flat" cmpd="sng" w="19050">
            <a:solidFill>
              <a:schemeClr val="dk1"/>
            </a:solidFill>
            <a:prstDash val="solid"/>
            <a:round/>
            <a:headEnd len="sm" w="sm" type="none"/>
            <a:tailEnd len="sm" w="sm" type="none"/>
          </a:ln>
        </p:spPr>
      </p:pic>
      <p:grpSp>
        <p:nvGrpSpPr>
          <p:cNvPr id="962" name="Google Shape;962;p84"/>
          <p:cNvGrpSpPr/>
          <p:nvPr/>
        </p:nvGrpSpPr>
        <p:grpSpPr>
          <a:xfrm>
            <a:off x="324000" y="4049543"/>
            <a:ext cx="3491100" cy="738900"/>
            <a:chOff x="5413488" y="2887206"/>
            <a:chExt cx="3491100" cy="738900"/>
          </a:xfrm>
        </p:grpSpPr>
        <p:sp>
          <p:nvSpPr>
            <p:cNvPr id="963" name="Google Shape;963;p84"/>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Nairn (Scotland)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 (South England)</a:t>
              </a:r>
              <a:endParaRPr sz="1600">
                <a:latin typeface="Lexend"/>
                <a:ea typeface="Lexend"/>
                <a:cs typeface="Lexend"/>
                <a:sym typeface="Lexend"/>
              </a:endParaRPr>
            </a:p>
          </p:txBody>
        </p:sp>
        <p:sp>
          <p:nvSpPr>
            <p:cNvPr id="964" name="Google Shape;964;p84"/>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965" name="Google Shape;965;p84"/>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966" name="Google Shape;966;p84"/>
          <p:cNvSpPr txBox="1"/>
          <p:nvPr/>
        </p:nvSpPr>
        <p:spPr>
          <a:xfrm>
            <a:off x="324000" y="3790754"/>
            <a:ext cx="4572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600">
                <a:latin typeface="Lexend"/>
                <a:ea typeface="Lexend"/>
                <a:cs typeface="Lexend"/>
                <a:sym typeface="Lexend"/>
              </a:rPr>
              <a:t>graph showing air frost over time</a:t>
            </a:r>
            <a:endParaRPr sz="1600">
              <a:solidFill>
                <a:srgbClr val="000000"/>
              </a:solidFill>
              <a:latin typeface="Lexend"/>
              <a:ea typeface="Lexend"/>
              <a:cs typeface="Lexend"/>
              <a:sym typeface="Lexend"/>
            </a:endParaRPr>
          </a:p>
        </p:txBody>
      </p:sp>
      <p:cxnSp>
        <p:nvCxnSpPr>
          <p:cNvPr id="967" name="Google Shape;967;p84"/>
          <p:cNvCxnSpPr/>
          <p:nvPr/>
        </p:nvCxnSpPr>
        <p:spPr>
          <a:xfrm>
            <a:off x="869933" y="2513685"/>
            <a:ext cx="3861900" cy="375600"/>
          </a:xfrm>
          <a:prstGeom prst="straightConnector1">
            <a:avLst/>
          </a:prstGeom>
          <a:noFill/>
          <a:ln cap="flat" cmpd="sng" w="38100">
            <a:solidFill>
              <a:schemeClr val="accent4"/>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85"/>
          <p:cNvSpPr txBox="1"/>
          <p:nvPr/>
        </p:nvSpPr>
        <p:spPr>
          <a:xfrm>
            <a:off x="5920575" y="612150"/>
            <a:ext cx="28995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graph shows data from the Met Office about the average annual temperature from 1941 to 2022 in </a:t>
            </a:r>
            <a:r>
              <a:rPr lang="en-GB" sz="1800">
                <a:solidFill>
                  <a:schemeClr val="dk1"/>
                </a:solidFill>
                <a:latin typeface="Lexend"/>
                <a:ea typeface="Lexend"/>
                <a:cs typeface="Lexend"/>
                <a:sym typeface="Lexend"/>
              </a:rPr>
              <a:t>Wick </a:t>
            </a:r>
            <a:r>
              <a:rPr lang="en-GB" sz="1800">
                <a:latin typeface="Lexend"/>
                <a:ea typeface="Lexend"/>
                <a:cs typeface="Lexend"/>
                <a:sym typeface="Lexend"/>
              </a:rPr>
              <a:t>and </a:t>
            </a:r>
            <a:r>
              <a:rPr lang="en-GB" sz="1800">
                <a:solidFill>
                  <a:schemeClr val="dk1"/>
                </a:solidFill>
                <a:latin typeface="Lexend"/>
                <a:ea typeface="Lexend"/>
                <a:cs typeface="Lexend"/>
                <a:sym typeface="Lexend"/>
              </a:rPr>
              <a:t>Oxford</a:t>
            </a:r>
            <a:r>
              <a:rPr lang="en-GB" sz="1800">
                <a:latin typeface="Lexend"/>
                <a:ea typeface="Lexend"/>
                <a:cs typeface="Lexend"/>
                <a:sym typeface="Lexend"/>
              </a:rPr>
              <a:t>.</a:t>
            </a:r>
            <a:endParaRPr sz="1800">
              <a:latin typeface="Lexend"/>
              <a:ea typeface="Lexend"/>
              <a:cs typeface="Lexend"/>
              <a:sym typeface="Lexend"/>
            </a:endParaRPr>
          </a:p>
        </p:txBody>
      </p:sp>
      <p:pic>
        <p:nvPicPr>
          <p:cNvPr id="973" name="Google Shape;973;p85"/>
          <p:cNvPicPr preferRelativeResize="0"/>
          <p:nvPr/>
        </p:nvPicPr>
        <p:blipFill rotWithShape="1">
          <a:blip r:embed="rId3">
            <a:alphaModFix/>
          </a:blip>
          <a:srcRect b="0" l="0" r="0" t="5455"/>
          <a:stretch/>
        </p:blipFill>
        <p:spPr>
          <a:xfrm>
            <a:off x="371100" y="650865"/>
            <a:ext cx="5403300" cy="2253812"/>
          </a:xfrm>
          <a:prstGeom prst="rect">
            <a:avLst/>
          </a:prstGeom>
          <a:noFill/>
          <a:ln cap="flat" cmpd="sng" w="19050">
            <a:solidFill>
              <a:schemeClr val="dk1"/>
            </a:solidFill>
            <a:prstDash val="solid"/>
            <a:round/>
            <a:headEnd len="sm" w="sm" type="none"/>
            <a:tailEnd len="sm" w="sm" type="none"/>
          </a:ln>
        </p:spPr>
      </p:pic>
      <p:sp>
        <p:nvSpPr>
          <p:cNvPr id="974" name="Google Shape;974;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grpSp>
        <p:nvGrpSpPr>
          <p:cNvPr id="975" name="Google Shape;975;p85"/>
          <p:cNvGrpSpPr/>
          <p:nvPr/>
        </p:nvGrpSpPr>
        <p:grpSpPr>
          <a:xfrm>
            <a:off x="822883" y="2491442"/>
            <a:ext cx="124002" cy="97648"/>
            <a:chOff x="776825" y="2447425"/>
            <a:chExt cx="58500" cy="78225"/>
          </a:xfrm>
        </p:grpSpPr>
        <p:cxnSp>
          <p:nvCxnSpPr>
            <p:cNvPr id="976" name="Google Shape;976;p85"/>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977" name="Google Shape;977;p85"/>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nvGrpSpPr>
          <p:cNvPr id="978" name="Google Shape;978;p85"/>
          <p:cNvGrpSpPr/>
          <p:nvPr/>
        </p:nvGrpSpPr>
        <p:grpSpPr>
          <a:xfrm>
            <a:off x="5920575" y="2176125"/>
            <a:ext cx="2899500" cy="738900"/>
            <a:chOff x="5413489" y="2887208"/>
            <a:chExt cx="2899500" cy="738900"/>
          </a:xfrm>
        </p:grpSpPr>
        <p:sp>
          <p:nvSpPr>
            <p:cNvPr id="979" name="Google Shape;979;p85"/>
            <p:cNvSpPr txBox="1"/>
            <p:nvPr/>
          </p:nvSpPr>
          <p:spPr>
            <a:xfrm>
              <a:off x="5413489" y="2887208"/>
              <a:ext cx="2899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Wick</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a:t>
              </a:r>
              <a:endParaRPr sz="1600">
                <a:latin typeface="Lexend"/>
                <a:ea typeface="Lexend"/>
                <a:cs typeface="Lexend"/>
                <a:sym typeface="Lexend"/>
              </a:endParaRPr>
            </a:p>
          </p:txBody>
        </p:sp>
        <p:sp>
          <p:nvSpPr>
            <p:cNvPr id="980" name="Google Shape;980;p85"/>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981" name="Google Shape;981;p85"/>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982" name="Google Shape;982;p85"/>
          <p:cNvSpPr txBox="1"/>
          <p:nvPr/>
        </p:nvSpPr>
        <p:spPr>
          <a:xfrm>
            <a:off x="324000" y="3087589"/>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statements is correct?</a:t>
            </a:r>
            <a:endParaRPr sz="1800">
              <a:solidFill>
                <a:srgbClr val="000000"/>
              </a:solidFill>
              <a:latin typeface="Lexend"/>
              <a:ea typeface="Lexend"/>
              <a:cs typeface="Lexend"/>
              <a:sym typeface="Lexend"/>
            </a:endParaRPr>
          </a:p>
        </p:txBody>
      </p:sp>
      <p:sp>
        <p:nvSpPr>
          <p:cNvPr id="983" name="Google Shape;983;p85"/>
          <p:cNvSpPr txBox="1"/>
          <p:nvPr/>
        </p:nvSpPr>
        <p:spPr>
          <a:xfrm>
            <a:off x="1103825" y="3489850"/>
            <a:ext cx="75636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average temperature in Wick in 2022 was higher than the average temperature in any other year.</a:t>
            </a:r>
            <a:endParaRPr sz="1800">
              <a:latin typeface="Lexend"/>
              <a:ea typeface="Lexend"/>
              <a:cs typeface="Lexend"/>
              <a:sym typeface="Lexend"/>
            </a:endParaRPr>
          </a:p>
        </p:txBody>
      </p:sp>
      <p:grpSp>
        <p:nvGrpSpPr>
          <p:cNvPr id="984" name="Google Shape;984;p85"/>
          <p:cNvGrpSpPr/>
          <p:nvPr/>
        </p:nvGrpSpPr>
        <p:grpSpPr>
          <a:xfrm>
            <a:off x="734901" y="3475769"/>
            <a:ext cx="305364" cy="305364"/>
            <a:chOff x="1020916" y="1442088"/>
            <a:chExt cx="457200" cy="457200"/>
          </a:xfrm>
        </p:grpSpPr>
        <p:pic>
          <p:nvPicPr>
            <p:cNvPr id="985" name="Google Shape;985;p8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986" name="Google Shape;986;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987" name="Google Shape;987;p85"/>
          <p:cNvSpPr txBox="1"/>
          <p:nvPr/>
        </p:nvSpPr>
        <p:spPr>
          <a:xfrm>
            <a:off x="1103825" y="4169000"/>
            <a:ext cx="75636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average temperature in Oxford in 2022 was higher than the average temperature in any other year.</a:t>
            </a:r>
            <a:endParaRPr sz="1800">
              <a:latin typeface="Lexend"/>
              <a:ea typeface="Lexend"/>
              <a:cs typeface="Lexend"/>
              <a:sym typeface="Lexend"/>
            </a:endParaRPr>
          </a:p>
        </p:txBody>
      </p:sp>
      <p:grpSp>
        <p:nvGrpSpPr>
          <p:cNvPr id="988" name="Google Shape;988;p85"/>
          <p:cNvGrpSpPr/>
          <p:nvPr/>
        </p:nvGrpSpPr>
        <p:grpSpPr>
          <a:xfrm>
            <a:off x="734901" y="4154919"/>
            <a:ext cx="305364" cy="305364"/>
            <a:chOff x="1020916" y="1442088"/>
            <a:chExt cx="457200" cy="457200"/>
          </a:xfrm>
        </p:grpSpPr>
        <p:pic>
          <p:nvPicPr>
            <p:cNvPr id="989" name="Google Shape;989;p8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990" name="Google Shape;990;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991" name="Google Shape;991;p85"/>
          <p:cNvPicPr preferRelativeResize="0"/>
          <p:nvPr/>
        </p:nvPicPr>
        <p:blipFill>
          <a:blip r:embed="rId5">
            <a:alphaModFix/>
          </a:blip>
          <a:stretch>
            <a:fillRect/>
          </a:stretch>
        </p:blipFill>
        <p:spPr>
          <a:xfrm>
            <a:off x="371112" y="4128382"/>
            <a:ext cx="338700" cy="3584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pic>
        <p:nvPicPr>
          <p:cNvPr id="996" name="Google Shape;996;p86"/>
          <p:cNvPicPr preferRelativeResize="0"/>
          <p:nvPr/>
        </p:nvPicPr>
        <p:blipFill rotWithShape="1">
          <a:blip r:embed="rId3">
            <a:alphaModFix/>
          </a:blip>
          <a:srcRect b="0" l="0" r="0" t="5455"/>
          <a:stretch/>
        </p:blipFill>
        <p:spPr>
          <a:xfrm>
            <a:off x="371100" y="650865"/>
            <a:ext cx="5403300" cy="2253812"/>
          </a:xfrm>
          <a:prstGeom prst="rect">
            <a:avLst/>
          </a:prstGeom>
          <a:noFill/>
          <a:ln cap="flat" cmpd="sng" w="19050">
            <a:solidFill>
              <a:schemeClr val="dk1"/>
            </a:solidFill>
            <a:prstDash val="solid"/>
            <a:round/>
            <a:headEnd len="sm" w="sm" type="none"/>
            <a:tailEnd len="sm" w="sm" type="none"/>
          </a:ln>
        </p:spPr>
      </p:pic>
      <p:sp>
        <p:nvSpPr>
          <p:cNvPr id="997" name="Google Shape;997;p86"/>
          <p:cNvSpPr txBox="1"/>
          <p:nvPr/>
        </p:nvSpPr>
        <p:spPr>
          <a:xfrm>
            <a:off x="1103825" y="4016600"/>
            <a:ext cx="70530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In Oxford, the general (or long-term) trend is that temperatures are increasing.</a:t>
            </a:r>
            <a:endParaRPr sz="1800">
              <a:latin typeface="Lexend"/>
              <a:ea typeface="Lexend"/>
              <a:cs typeface="Lexend"/>
              <a:sym typeface="Lexend"/>
            </a:endParaRPr>
          </a:p>
        </p:txBody>
      </p:sp>
      <p:sp>
        <p:nvSpPr>
          <p:cNvPr id="998" name="Google Shape;998;p86"/>
          <p:cNvSpPr txBox="1"/>
          <p:nvPr/>
        </p:nvSpPr>
        <p:spPr>
          <a:xfrm>
            <a:off x="1103825" y="3489850"/>
            <a:ext cx="7563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In Oxford, every day in 2022 was hotter than every day in 1990.</a:t>
            </a:r>
            <a:endParaRPr sz="1800">
              <a:latin typeface="Lexend"/>
              <a:ea typeface="Lexend"/>
              <a:cs typeface="Lexend"/>
              <a:sym typeface="Lexend"/>
            </a:endParaRPr>
          </a:p>
        </p:txBody>
      </p:sp>
      <p:sp>
        <p:nvSpPr>
          <p:cNvPr id="999" name="Google Shape;999;p86"/>
          <p:cNvSpPr txBox="1"/>
          <p:nvPr/>
        </p:nvSpPr>
        <p:spPr>
          <a:xfrm>
            <a:off x="5920575" y="612150"/>
            <a:ext cx="28995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The graph shows data from the Met Office about the average annual temperature from 1941 to 2022 in Wick and Oxford.</a:t>
            </a:r>
            <a:endParaRPr sz="1800">
              <a:latin typeface="Lexend"/>
              <a:ea typeface="Lexend"/>
              <a:cs typeface="Lexend"/>
              <a:sym typeface="Lexend"/>
            </a:endParaRPr>
          </a:p>
        </p:txBody>
      </p:sp>
      <p:sp>
        <p:nvSpPr>
          <p:cNvPr id="1000" name="Google Shape;1000;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grpSp>
        <p:nvGrpSpPr>
          <p:cNvPr id="1001" name="Google Shape;1001;p86"/>
          <p:cNvGrpSpPr/>
          <p:nvPr/>
        </p:nvGrpSpPr>
        <p:grpSpPr>
          <a:xfrm>
            <a:off x="822883" y="2491442"/>
            <a:ext cx="124002" cy="97648"/>
            <a:chOff x="776825" y="2447425"/>
            <a:chExt cx="58500" cy="78225"/>
          </a:xfrm>
        </p:grpSpPr>
        <p:cxnSp>
          <p:nvCxnSpPr>
            <p:cNvPr id="1002" name="Google Shape;1002;p86"/>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003" name="Google Shape;1003;p86"/>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nvGrpSpPr>
          <p:cNvPr id="1004" name="Google Shape;1004;p86"/>
          <p:cNvGrpSpPr/>
          <p:nvPr/>
        </p:nvGrpSpPr>
        <p:grpSpPr>
          <a:xfrm>
            <a:off x="5920575" y="2176125"/>
            <a:ext cx="2899500" cy="738900"/>
            <a:chOff x="5413489" y="2887208"/>
            <a:chExt cx="2899500" cy="738900"/>
          </a:xfrm>
        </p:grpSpPr>
        <p:sp>
          <p:nvSpPr>
            <p:cNvPr id="1005" name="Google Shape;1005;p86"/>
            <p:cNvSpPr txBox="1"/>
            <p:nvPr/>
          </p:nvSpPr>
          <p:spPr>
            <a:xfrm>
              <a:off x="5413489" y="2887208"/>
              <a:ext cx="2899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Wick</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Oxford</a:t>
              </a:r>
              <a:endParaRPr sz="1600">
                <a:latin typeface="Lexend"/>
                <a:ea typeface="Lexend"/>
                <a:cs typeface="Lexend"/>
                <a:sym typeface="Lexend"/>
              </a:endParaRPr>
            </a:p>
          </p:txBody>
        </p:sp>
        <p:sp>
          <p:nvSpPr>
            <p:cNvPr id="1006" name="Google Shape;1006;p86"/>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007" name="Google Shape;1007;p86"/>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008" name="Google Shape;1008;p86"/>
          <p:cNvSpPr txBox="1"/>
          <p:nvPr/>
        </p:nvSpPr>
        <p:spPr>
          <a:xfrm>
            <a:off x="324000" y="3087589"/>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statements is correct?</a:t>
            </a:r>
            <a:endParaRPr sz="1800">
              <a:solidFill>
                <a:srgbClr val="000000"/>
              </a:solidFill>
              <a:latin typeface="Lexend"/>
              <a:ea typeface="Lexend"/>
              <a:cs typeface="Lexend"/>
              <a:sym typeface="Lexend"/>
            </a:endParaRPr>
          </a:p>
        </p:txBody>
      </p:sp>
      <p:grpSp>
        <p:nvGrpSpPr>
          <p:cNvPr id="1009" name="Google Shape;1009;p86"/>
          <p:cNvGrpSpPr/>
          <p:nvPr/>
        </p:nvGrpSpPr>
        <p:grpSpPr>
          <a:xfrm>
            <a:off x="734901" y="3475769"/>
            <a:ext cx="305364" cy="305364"/>
            <a:chOff x="1020916" y="1442088"/>
            <a:chExt cx="457200" cy="457200"/>
          </a:xfrm>
        </p:grpSpPr>
        <p:pic>
          <p:nvPicPr>
            <p:cNvPr id="1010" name="Google Shape;1010;p8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11" name="Google Shape;1011;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12" name="Google Shape;1012;p86"/>
          <p:cNvGrpSpPr/>
          <p:nvPr/>
        </p:nvGrpSpPr>
        <p:grpSpPr>
          <a:xfrm>
            <a:off x="734901" y="4002519"/>
            <a:ext cx="305364" cy="305364"/>
            <a:chOff x="1020916" y="1442088"/>
            <a:chExt cx="457200" cy="457200"/>
          </a:xfrm>
        </p:grpSpPr>
        <p:pic>
          <p:nvPicPr>
            <p:cNvPr id="1013" name="Google Shape;1013;p8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14" name="Google Shape;1014;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15" name="Google Shape;1015;p86"/>
          <p:cNvPicPr preferRelativeResize="0"/>
          <p:nvPr/>
        </p:nvPicPr>
        <p:blipFill>
          <a:blip r:embed="rId5">
            <a:alphaModFix/>
          </a:blip>
          <a:stretch>
            <a:fillRect/>
          </a:stretch>
        </p:blipFill>
        <p:spPr>
          <a:xfrm>
            <a:off x="371112" y="3975982"/>
            <a:ext cx="338700" cy="358436"/>
          </a:xfrm>
          <a:prstGeom prst="rect">
            <a:avLst/>
          </a:prstGeom>
          <a:noFill/>
          <a:ln>
            <a:noFill/>
          </a:ln>
        </p:spPr>
      </p:pic>
      <p:sp>
        <p:nvSpPr>
          <p:cNvPr id="1016" name="Google Shape;1016;p86"/>
          <p:cNvSpPr txBox="1"/>
          <p:nvPr/>
        </p:nvSpPr>
        <p:spPr>
          <a:xfrm>
            <a:off x="324000" y="3892100"/>
            <a:ext cx="8127600" cy="923400"/>
          </a:xfrm>
          <a:prstGeom prst="rect">
            <a:avLst/>
          </a:prstGeom>
          <a:solidFill>
            <a:srgbClr val="F3EEFB"/>
          </a:solid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Just because the average temperature in 2022 (in Oxford) was higher than the average temperature in 1990 does not mean that every single day in 2022 had a temperature higher than the hottest day in 1990.</a:t>
            </a:r>
            <a:endParaRPr sz="2000">
              <a:latin typeface="Kalam"/>
              <a:ea typeface="Kalam"/>
              <a:cs typeface="Kalam"/>
              <a:sym typeface="Kalam"/>
            </a:endParaRPr>
          </a:p>
        </p:txBody>
      </p:sp>
      <p:sp>
        <p:nvSpPr>
          <p:cNvPr id="1017" name="Google Shape;1017;p86"/>
          <p:cNvSpPr txBox="1"/>
          <p:nvPr/>
        </p:nvSpPr>
        <p:spPr>
          <a:xfrm>
            <a:off x="324000" y="3892100"/>
            <a:ext cx="8127600" cy="923400"/>
          </a:xfrm>
          <a:prstGeom prst="rect">
            <a:avLst/>
          </a:prstGeom>
          <a:solidFill>
            <a:srgbClr val="F3EEFB"/>
          </a:solid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For example, a winter’s day in 2022 was still likely much colder than a summer’s day in 1990.</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87"/>
          <p:cNvSpPr txBox="1"/>
          <p:nvPr/>
        </p:nvSpPr>
        <p:spPr>
          <a:xfrm>
            <a:off x="1103825" y="3528882"/>
            <a:ext cx="7563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 long-term trend is that the number of days of air frost each month is decreasing.</a:t>
            </a:r>
            <a:endParaRPr sz="1800">
              <a:latin typeface="Lexend"/>
              <a:ea typeface="Lexend"/>
              <a:cs typeface="Lexend"/>
              <a:sym typeface="Lexend"/>
            </a:endParaRPr>
          </a:p>
        </p:txBody>
      </p:sp>
      <p:pic>
        <p:nvPicPr>
          <p:cNvPr id="1023" name="Google Shape;1023;p87"/>
          <p:cNvPicPr preferRelativeResize="0"/>
          <p:nvPr/>
        </p:nvPicPr>
        <p:blipFill>
          <a:blip r:embed="rId3">
            <a:alphaModFix/>
          </a:blip>
          <a:stretch>
            <a:fillRect/>
          </a:stretch>
        </p:blipFill>
        <p:spPr>
          <a:xfrm>
            <a:off x="324000" y="690501"/>
            <a:ext cx="5579324" cy="1710563"/>
          </a:xfrm>
          <a:prstGeom prst="rect">
            <a:avLst/>
          </a:prstGeom>
          <a:noFill/>
          <a:ln cap="flat" cmpd="sng" w="19050">
            <a:solidFill>
              <a:schemeClr val="dk1"/>
            </a:solidFill>
            <a:prstDash val="solid"/>
            <a:round/>
            <a:headEnd len="sm" w="sm" type="none"/>
            <a:tailEnd len="sm" w="sm" type="none"/>
          </a:ln>
        </p:spPr>
      </p:pic>
      <p:sp>
        <p:nvSpPr>
          <p:cNvPr id="1024" name="Google Shape;1024;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sp>
        <p:nvSpPr>
          <p:cNvPr id="1025" name="Google Shape;1025;p87"/>
          <p:cNvSpPr txBox="1"/>
          <p:nvPr/>
        </p:nvSpPr>
        <p:spPr>
          <a:xfrm>
            <a:off x="6059450" y="612154"/>
            <a:ext cx="2760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shows the number of days of air frost in Oakfield each month of January and February from 1970 to 2024.</a:t>
            </a:r>
            <a:endParaRPr sz="1800">
              <a:solidFill>
                <a:srgbClr val="000000"/>
              </a:solidFill>
              <a:latin typeface="Lexend"/>
              <a:ea typeface="Lexend"/>
              <a:cs typeface="Lexend"/>
              <a:sym typeface="Lexend"/>
            </a:endParaRPr>
          </a:p>
        </p:txBody>
      </p:sp>
      <p:grpSp>
        <p:nvGrpSpPr>
          <p:cNvPr id="1026" name="Google Shape;1026;p87"/>
          <p:cNvGrpSpPr/>
          <p:nvPr/>
        </p:nvGrpSpPr>
        <p:grpSpPr>
          <a:xfrm>
            <a:off x="1076157" y="2030498"/>
            <a:ext cx="76799" cy="60476"/>
            <a:chOff x="776825" y="2447425"/>
            <a:chExt cx="58500" cy="78225"/>
          </a:xfrm>
        </p:grpSpPr>
        <p:cxnSp>
          <p:nvCxnSpPr>
            <p:cNvPr id="1027" name="Google Shape;1027;p87"/>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028" name="Google Shape;1028;p87"/>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
        <p:nvSpPr>
          <p:cNvPr id="1029" name="Google Shape;1029;p87"/>
          <p:cNvSpPr txBox="1"/>
          <p:nvPr/>
        </p:nvSpPr>
        <p:spPr>
          <a:xfrm>
            <a:off x="324000" y="2734875"/>
            <a:ext cx="8495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statements are correct about the air frost in Oakfield?</a:t>
            </a:r>
            <a:endParaRPr sz="1800">
              <a:solidFill>
                <a:srgbClr val="000000"/>
              </a:solidFill>
              <a:latin typeface="Lexend"/>
              <a:ea typeface="Lexend"/>
              <a:cs typeface="Lexend"/>
              <a:sym typeface="Lexend"/>
            </a:endParaRPr>
          </a:p>
        </p:txBody>
      </p:sp>
      <p:cxnSp>
        <p:nvCxnSpPr>
          <p:cNvPr id="1030" name="Google Shape;1030;p87"/>
          <p:cNvCxnSpPr/>
          <p:nvPr/>
        </p:nvCxnSpPr>
        <p:spPr>
          <a:xfrm>
            <a:off x="1248375" y="878680"/>
            <a:ext cx="4393500" cy="727200"/>
          </a:xfrm>
          <a:prstGeom prst="straightConnector1">
            <a:avLst/>
          </a:prstGeom>
          <a:noFill/>
          <a:ln cap="flat" cmpd="sng" w="38100">
            <a:solidFill>
              <a:schemeClr val="accent4"/>
            </a:solidFill>
            <a:prstDash val="solid"/>
            <a:round/>
            <a:headEnd len="med" w="med" type="none"/>
            <a:tailEnd len="med" w="med" type="none"/>
          </a:ln>
        </p:spPr>
      </p:cxnSp>
      <p:grpSp>
        <p:nvGrpSpPr>
          <p:cNvPr id="1031" name="Google Shape;1031;p87"/>
          <p:cNvGrpSpPr/>
          <p:nvPr/>
        </p:nvGrpSpPr>
        <p:grpSpPr>
          <a:xfrm>
            <a:off x="734901" y="3105601"/>
            <a:ext cx="305364" cy="305364"/>
            <a:chOff x="1020916" y="1442088"/>
            <a:chExt cx="457200" cy="457200"/>
          </a:xfrm>
        </p:grpSpPr>
        <p:pic>
          <p:nvPicPr>
            <p:cNvPr id="1032" name="Google Shape;1032;p8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33" name="Google Shape;1033;p8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034" name="Google Shape;1034;p87"/>
          <p:cNvSpPr txBox="1"/>
          <p:nvPr/>
        </p:nvSpPr>
        <p:spPr>
          <a:xfrm>
            <a:off x="1103825" y="3119682"/>
            <a:ext cx="7563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Each year, the number of days of air frost each month decreases.</a:t>
            </a:r>
            <a:endParaRPr sz="1800">
              <a:latin typeface="Lexend"/>
              <a:ea typeface="Lexend"/>
              <a:cs typeface="Lexend"/>
              <a:sym typeface="Lexend"/>
            </a:endParaRPr>
          </a:p>
        </p:txBody>
      </p:sp>
      <p:grpSp>
        <p:nvGrpSpPr>
          <p:cNvPr id="1035" name="Google Shape;1035;p87"/>
          <p:cNvGrpSpPr/>
          <p:nvPr/>
        </p:nvGrpSpPr>
        <p:grpSpPr>
          <a:xfrm>
            <a:off x="734901" y="3514801"/>
            <a:ext cx="305364" cy="305364"/>
            <a:chOff x="1020916" y="1442088"/>
            <a:chExt cx="457200" cy="457200"/>
          </a:xfrm>
        </p:grpSpPr>
        <p:pic>
          <p:nvPicPr>
            <p:cNvPr id="1036" name="Google Shape;1036;p8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37" name="Google Shape;1037;p8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038" name="Google Shape;1038;p87"/>
          <p:cNvSpPr txBox="1"/>
          <p:nvPr/>
        </p:nvSpPr>
        <p:spPr>
          <a:xfrm>
            <a:off x="1103825" y="4229057"/>
            <a:ext cx="7563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 long-term trend is that there is now a greater variety in the number of days of air frost each month compared to in the past.</a:t>
            </a:r>
            <a:endParaRPr sz="1800">
              <a:latin typeface="Lexend"/>
              <a:ea typeface="Lexend"/>
              <a:cs typeface="Lexend"/>
              <a:sym typeface="Lexend"/>
            </a:endParaRPr>
          </a:p>
        </p:txBody>
      </p:sp>
      <p:grpSp>
        <p:nvGrpSpPr>
          <p:cNvPr id="1039" name="Google Shape;1039;p87"/>
          <p:cNvGrpSpPr/>
          <p:nvPr/>
        </p:nvGrpSpPr>
        <p:grpSpPr>
          <a:xfrm>
            <a:off x="734901" y="4214976"/>
            <a:ext cx="305364" cy="305364"/>
            <a:chOff x="1020916" y="1442088"/>
            <a:chExt cx="457200" cy="457200"/>
          </a:xfrm>
        </p:grpSpPr>
        <p:pic>
          <p:nvPicPr>
            <p:cNvPr id="1040" name="Google Shape;1040;p8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41" name="Google Shape;1041;p8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1042" name="Google Shape;1042;p87"/>
          <p:cNvPicPr preferRelativeResize="0"/>
          <p:nvPr/>
        </p:nvPicPr>
        <p:blipFill>
          <a:blip r:embed="rId5">
            <a:alphaModFix/>
          </a:blip>
          <a:stretch>
            <a:fillRect/>
          </a:stretch>
        </p:blipFill>
        <p:spPr>
          <a:xfrm>
            <a:off x="352662" y="3488269"/>
            <a:ext cx="338700" cy="358436"/>
          </a:xfrm>
          <a:prstGeom prst="rect">
            <a:avLst/>
          </a:prstGeom>
          <a:noFill/>
          <a:ln>
            <a:noFill/>
          </a:ln>
        </p:spPr>
      </p:pic>
      <p:pic>
        <p:nvPicPr>
          <p:cNvPr id="1043" name="Google Shape;1043;p87"/>
          <p:cNvPicPr preferRelativeResize="0"/>
          <p:nvPr/>
        </p:nvPicPr>
        <p:blipFill>
          <a:blip r:embed="rId5">
            <a:alphaModFix/>
          </a:blip>
          <a:stretch>
            <a:fillRect/>
          </a:stretch>
        </p:blipFill>
        <p:spPr>
          <a:xfrm>
            <a:off x="352651" y="4188425"/>
            <a:ext cx="338700" cy="358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88"/>
          <p:cNvSpPr txBox="1"/>
          <p:nvPr/>
        </p:nvSpPr>
        <p:spPr>
          <a:xfrm>
            <a:off x="3424896" y="3102209"/>
            <a:ext cx="51255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The y-axis of this graph starts at 10 days, not 0 days. </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Whilst the trend is that the number of days of air frost each month is decreasing, months in 2024 still have 13 and 14 days of air frost.</a:t>
            </a:r>
            <a:endParaRPr sz="2000">
              <a:solidFill>
                <a:srgbClr val="000000"/>
              </a:solidFill>
              <a:latin typeface="Kalam"/>
              <a:ea typeface="Kalam"/>
              <a:cs typeface="Kalam"/>
              <a:sym typeface="Kalam"/>
            </a:endParaRPr>
          </a:p>
        </p:txBody>
      </p:sp>
      <p:pic>
        <p:nvPicPr>
          <p:cNvPr id="1049" name="Google Shape;1049;p88"/>
          <p:cNvPicPr preferRelativeResize="0"/>
          <p:nvPr/>
        </p:nvPicPr>
        <p:blipFill>
          <a:blip r:embed="rId3">
            <a:alphaModFix/>
          </a:blip>
          <a:stretch>
            <a:fillRect/>
          </a:stretch>
        </p:blipFill>
        <p:spPr>
          <a:xfrm>
            <a:off x="324000" y="690501"/>
            <a:ext cx="5579324" cy="1710563"/>
          </a:xfrm>
          <a:prstGeom prst="rect">
            <a:avLst/>
          </a:prstGeom>
          <a:noFill/>
          <a:ln cap="flat" cmpd="sng" w="19050">
            <a:solidFill>
              <a:schemeClr val="dk1"/>
            </a:solidFill>
            <a:prstDash val="solid"/>
            <a:round/>
            <a:headEnd len="sm" w="sm" type="none"/>
            <a:tailEnd len="sm" w="sm" type="none"/>
          </a:ln>
        </p:spPr>
      </p:pic>
      <p:sp>
        <p:nvSpPr>
          <p:cNvPr id="1050" name="Google Shape;1050;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sp>
        <p:nvSpPr>
          <p:cNvPr id="1051" name="Google Shape;1051;p88"/>
          <p:cNvSpPr txBox="1"/>
          <p:nvPr/>
        </p:nvSpPr>
        <p:spPr>
          <a:xfrm>
            <a:off x="6059450" y="612154"/>
            <a:ext cx="2760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shows the number of days of air frost in Oakfield each month of January and February from 1970 to 2024.</a:t>
            </a:r>
            <a:endParaRPr sz="1800">
              <a:solidFill>
                <a:srgbClr val="000000"/>
              </a:solidFill>
              <a:latin typeface="Lexend"/>
              <a:ea typeface="Lexend"/>
              <a:cs typeface="Lexend"/>
              <a:sym typeface="Lexend"/>
            </a:endParaRPr>
          </a:p>
        </p:txBody>
      </p:sp>
      <p:grpSp>
        <p:nvGrpSpPr>
          <p:cNvPr id="1052" name="Google Shape;1052;p88"/>
          <p:cNvGrpSpPr/>
          <p:nvPr/>
        </p:nvGrpSpPr>
        <p:grpSpPr>
          <a:xfrm>
            <a:off x="1076157" y="2030498"/>
            <a:ext cx="76799" cy="60476"/>
            <a:chOff x="776825" y="2447425"/>
            <a:chExt cx="58500" cy="78225"/>
          </a:xfrm>
        </p:grpSpPr>
        <p:cxnSp>
          <p:nvCxnSpPr>
            <p:cNvPr id="1053" name="Google Shape;1053;p88"/>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054" name="Google Shape;1054;p88"/>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pic>
        <p:nvPicPr>
          <p:cNvPr id="1055" name="Google Shape;1055;p88"/>
          <p:cNvPicPr preferRelativeResize="0"/>
          <p:nvPr/>
        </p:nvPicPr>
        <p:blipFill rotWithShape="1">
          <a:blip r:embed="rId4">
            <a:alphaModFix/>
          </a:blip>
          <a:srcRect b="43690" l="-2720" r="57903" t="0"/>
          <a:stretch/>
        </p:blipFill>
        <p:spPr>
          <a:xfrm flipH="1">
            <a:off x="340017" y="2582475"/>
            <a:ext cx="2932475" cy="1527525"/>
          </a:xfrm>
          <a:prstGeom prst="rect">
            <a:avLst/>
          </a:prstGeom>
          <a:noFill/>
          <a:ln>
            <a:noFill/>
          </a:ln>
        </p:spPr>
      </p:pic>
      <p:sp>
        <p:nvSpPr>
          <p:cNvPr id="1056" name="Google Shape;1056;p88"/>
          <p:cNvSpPr txBox="1"/>
          <p:nvPr/>
        </p:nvSpPr>
        <p:spPr>
          <a:xfrm>
            <a:off x="192176" y="4534448"/>
            <a:ext cx="88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1000"/>
              </a:spcAft>
              <a:buNone/>
            </a:pPr>
            <a:r>
              <a:rPr lang="en-GB" sz="1800">
                <a:solidFill>
                  <a:srgbClr val="000000"/>
                </a:solidFill>
                <a:latin typeface="Lexend"/>
                <a:ea typeface="Lexend"/>
                <a:cs typeface="Lexend"/>
                <a:sym typeface="Lexend"/>
              </a:rPr>
              <a:t>Aisha</a:t>
            </a:r>
            <a:endParaRPr sz="1800">
              <a:latin typeface="Lexend"/>
              <a:ea typeface="Lexend"/>
              <a:cs typeface="Lexend"/>
              <a:sym typeface="Lexend"/>
            </a:endParaRPr>
          </a:p>
        </p:txBody>
      </p:sp>
      <p:pic>
        <p:nvPicPr>
          <p:cNvPr id="1057" name="Google Shape;1057;p88"/>
          <p:cNvPicPr preferRelativeResize="0"/>
          <p:nvPr/>
        </p:nvPicPr>
        <p:blipFill>
          <a:blip r:embed="rId5">
            <a:alphaModFix/>
          </a:blip>
          <a:stretch>
            <a:fillRect/>
          </a:stretch>
        </p:blipFill>
        <p:spPr>
          <a:xfrm>
            <a:off x="469415" y="3933174"/>
            <a:ext cx="327809" cy="618975"/>
          </a:xfrm>
          <a:prstGeom prst="rect">
            <a:avLst/>
          </a:prstGeom>
          <a:noFill/>
          <a:ln>
            <a:noFill/>
          </a:ln>
        </p:spPr>
      </p:pic>
      <p:sp>
        <p:nvSpPr>
          <p:cNvPr id="1058" name="Google Shape;1058;p88"/>
          <p:cNvSpPr txBox="1"/>
          <p:nvPr/>
        </p:nvSpPr>
        <p:spPr>
          <a:xfrm>
            <a:off x="543654" y="2677796"/>
            <a:ext cx="2489100" cy="64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800">
                <a:latin typeface="Lexend"/>
                <a:ea typeface="Lexend"/>
                <a:cs typeface="Lexend"/>
                <a:sym typeface="Lexend"/>
              </a:rPr>
              <a:t>Gosh, the number of days of air frost each month in 2024 is close to zero!</a:t>
            </a:r>
            <a:endParaRPr sz="1800">
              <a:latin typeface="Lexend"/>
              <a:ea typeface="Lexend"/>
              <a:cs typeface="Lexend"/>
              <a:sym typeface="Lexend"/>
            </a:endParaRPr>
          </a:p>
        </p:txBody>
      </p:sp>
      <p:sp>
        <p:nvSpPr>
          <p:cNvPr id="1059" name="Google Shape;1059;p88"/>
          <p:cNvSpPr txBox="1"/>
          <p:nvPr/>
        </p:nvSpPr>
        <p:spPr>
          <a:xfrm>
            <a:off x="3424896" y="2734875"/>
            <a:ext cx="479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Explain why Aisha’s conclusion is incorrect.</a:t>
            </a:r>
            <a:endParaRPr sz="1800">
              <a:solidFill>
                <a:srgbClr val="000000"/>
              </a:solidFill>
              <a:latin typeface="Lexend"/>
              <a:ea typeface="Lexend"/>
              <a:cs typeface="Lexend"/>
              <a:sym typeface="Lexend"/>
            </a:endParaRPr>
          </a:p>
        </p:txBody>
      </p:sp>
      <p:cxnSp>
        <p:nvCxnSpPr>
          <p:cNvPr id="1060" name="Google Shape;1060;p88"/>
          <p:cNvCxnSpPr/>
          <p:nvPr/>
        </p:nvCxnSpPr>
        <p:spPr>
          <a:xfrm>
            <a:off x="1248375" y="878680"/>
            <a:ext cx="4393500" cy="727200"/>
          </a:xfrm>
          <a:prstGeom prst="straightConnector1">
            <a:avLst/>
          </a:prstGeom>
          <a:noFill/>
          <a:ln cap="flat" cmpd="sng" w="38100">
            <a:solidFill>
              <a:schemeClr val="accent4"/>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89"/>
          <p:cNvSpPr txBox="1"/>
          <p:nvPr/>
        </p:nvSpPr>
        <p:spPr>
          <a:xfrm>
            <a:off x="1103825" y="3563155"/>
            <a:ext cx="7563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number of days of air frost each January and February may be decreasing across the whole of the UK.</a:t>
            </a:r>
            <a:endParaRPr sz="1800">
              <a:latin typeface="Lexend"/>
              <a:ea typeface="Lexend"/>
              <a:cs typeface="Lexend"/>
              <a:sym typeface="Lexend"/>
            </a:endParaRPr>
          </a:p>
        </p:txBody>
      </p:sp>
      <p:pic>
        <p:nvPicPr>
          <p:cNvPr id="1066" name="Google Shape;1066;p89"/>
          <p:cNvPicPr preferRelativeResize="0"/>
          <p:nvPr/>
        </p:nvPicPr>
        <p:blipFill>
          <a:blip r:embed="rId3">
            <a:alphaModFix/>
          </a:blip>
          <a:stretch>
            <a:fillRect/>
          </a:stretch>
        </p:blipFill>
        <p:spPr>
          <a:xfrm>
            <a:off x="324000" y="690501"/>
            <a:ext cx="5579324" cy="1710563"/>
          </a:xfrm>
          <a:prstGeom prst="rect">
            <a:avLst/>
          </a:prstGeom>
          <a:noFill/>
          <a:ln cap="flat" cmpd="sng" w="19050">
            <a:solidFill>
              <a:schemeClr val="dk1"/>
            </a:solidFill>
            <a:prstDash val="solid"/>
            <a:round/>
            <a:headEnd len="sm" w="sm" type="none"/>
            <a:tailEnd len="sm" w="sm" type="none"/>
          </a:ln>
        </p:spPr>
      </p:pic>
      <p:sp>
        <p:nvSpPr>
          <p:cNvPr id="1067" name="Google Shape;1067;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sp>
        <p:nvSpPr>
          <p:cNvPr id="1068" name="Google Shape;1068;p89"/>
          <p:cNvSpPr txBox="1"/>
          <p:nvPr/>
        </p:nvSpPr>
        <p:spPr>
          <a:xfrm>
            <a:off x="6059450" y="612154"/>
            <a:ext cx="2760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shows the number of days of air frost in Oakfield each month of January and February from 1970 to 2024.</a:t>
            </a:r>
            <a:endParaRPr sz="1800">
              <a:solidFill>
                <a:srgbClr val="000000"/>
              </a:solidFill>
              <a:latin typeface="Lexend"/>
              <a:ea typeface="Lexend"/>
              <a:cs typeface="Lexend"/>
              <a:sym typeface="Lexend"/>
            </a:endParaRPr>
          </a:p>
        </p:txBody>
      </p:sp>
      <p:grpSp>
        <p:nvGrpSpPr>
          <p:cNvPr id="1069" name="Google Shape;1069;p89"/>
          <p:cNvGrpSpPr/>
          <p:nvPr/>
        </p:nvGrpSpPr>
        <p:grpSpPr>
          <a:xfrm>
            <a:off x="1076157" y="2030498"/>
            <a:ext cx="76799" cy="60476"/>
            <a:chOff x="776825" y="2447425"/>
            <a:chExt cx="58500" cy="78225"/>
          </a:xfrm>
        </p:grpSpPr>
        <p:cxnSp>
          <p:nvCxnSpPr>
            <p:cNvPr id="1070" name="Google Shape;1070;p89"/>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071" name="Google Shape;1071;p89"/>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
        <p:nvSpPr>
          <p:cNvPr id="1072" name="Google Shape;1072;p89"/>
          <p:cNvSpPr txBox="1"/>
          <p:nvPr/>
        </p:nvSpPr>
        <p:spPr>
          <a:xfrm>
            <a:off x="324000" y="2506275"/>
            <a:ext cx="8495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conclusions may be sensible from this data alone?</a:t>
            </a:r>
            <a:endParaRPr sz="1800">
              <a:solidFill>
                <a:srgbClr val="000000"/>
              </a:solidFill>
              <a:latin typeface="Lexend"/>
              <a:ea typeface="Lexend"/>
              <a:cs typeface="Lexend"/>
              <a:sym typeface="Lexend"/>
            </a:endParaRPr>
          </a:p>
        </p:txBody>
      </p:sp>
      <p:cxnSp>
        <p:nvCxnSpPr>
          <p:cNvPr id="1073" name="Google Shape;1073;p89"/>
          <p:cNvCxnSpPr/>
          <p:nvPr/>
        </p:nvCxnSpPr>
        <p:spPr>
          <a:xfrm>
            <a:off x="1248375" y="878680"/>
            <a:ext cx="4393500" cy="727200"/>
          </a:xfrm>
          <a:prstGeom prst="straightConnector1">
            <a:avLst/>
          </a:prstGeom>
          <a:noFill/>
          <a:ln cap="flat" cmpd="sng" w="38100">
            <a:solidFill>
              <a:schemeClr val="accent4"/>
            </a:solidFill>
            <a:prstDash val="solid"/>
            <a:round/>
            <a:headEnd len="med" w="med" type="none"/>
            <a:tailEnd len="med" w="med" type="none"/>
          </a:ln>
        </p:spPr>
      </p:cxnSp>
      <p:grpSp>
        <p:nvGrpSpPr>
          <p:cNvPr id="1074" name="Google Shape;1074;p89"/>
          <p:cNvGrpSpPr/>
          <p:nvPr/>
        </p:nvGrpSpPr>
        <p:grpSpPr>
          <a:xfrm>
            <a:off x="734901" y="2877001"/>
            <a:ext cx="305364" cy="305364"/>
            <a:chOff x="1020916" y="1442088"/>
            <a:chExt cx="457200" cy="457200"/>
          </a:xfrm>
        </p:grpSpPr>
        <p:pic>
          <p:nvPicPr>
            <p:cNvPr id="1075" name="Google Shape;1075;p8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76" name="Google Shape;1076;p8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077" name="Google Shape;1077;p89"/>
          <p:cNvSpPr txBox="1"/>
          <p:nvPr/>
        </p:nvSpPr>
        <p:spPr>
          <a:xfrm>
            <a:off x="1103825" y="2891082"/>
            <a:ext cx="75636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average temperature in Oakfield in January and February may be increasing over time.</a:t>
            </a:r>
            <a:endParaRPr sz="1800">
              <a:latin typeface="Lexend"/>
              <a:ea typeface="Lexend"/>
              <a:cs typeface="Lexend"/>
              <a:sym typeface="Lexend"/>
            </a:endParaRPr>
          </a:p>
        </p:txBody>
      </p:sp>
      <p:grpSp>
        <p:nvGrpSpPr>
          <p:cNvPr id="1078" name="Google Shape;1078;p89"/>
          <p:cNvGrpSpPr/>
          <p:nvPr/>
        </p:nvGrpSpPr>
        <p:grpSpPr>
          <a:xfrm>
            <a:off x="734901" y="3549074"/>
            <a:ext cx="305364" cy="305364"/>
            <a:chOff x="1020916" y="1442088"/>
            <a:chExt cx="457200" cy="457200"/>
          </a:xfrm>
        </p:grpSpPr>
        <p:pic>
          <p:nvPicPr>
            <p:cNvPr id="1079" name="Google Shape;1079;p8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80" name="Google Shape;1080;p8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081" name="Google Shape;1081;p89"/>
          <p:cNvSpPr txBox="1"/>
          <p:nvPr/>
        </p:nvSpPr>
        <p:spPr>
          <a:xfrm>
            <a:off x="514100" y="4193525"/>
            <a:ext cx="83055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Neither conclusion can be made with confidence.</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It is tricky to make broad conclusions from a limited data set.</a:t>
            </a:r>
            <a:endParaRPr sz="2000">
              <a:latin typeface="Kalam"/>
              <a:ea typeface="Kalam"/>
              <a:cs typeface="Kalam"/>
              <a:sym typeface="Kalam"/>
            </a:endParaRPr>
          </a:p>
        </p:txBody>
      </p:sp>
      <p:sp>
        <p:nvSpPr>
          <p:cNvPr id="1082" name="Google Shape;1082;p89"/>
          <p:cNvSpPr txBox="1"/>
          <p:nvPr/>
        </p:nvSpPr>
        <p:spPr>
          <a:xfrm>
            <a:off x="514100" y="4193525"/>
            <a:ext cx="7885200" cy="615600"/>
          </a:xfrm>
          <a:prstGeom prst="rect">
            <a:avLst/>
          </a:prstGeom>
          <a:solidFill>
            <a:srgbClr val="F3EEFB"/>
          </a:solid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We do not know anything about other factors, so we cannot assume that an increase in temperature is the cause of the decline in air frost.</a:t>
            </a:r>
            <a:endParaRPr sz="2000">
              <a:latin typeface="Kalam"/>
              <a:ea typeface="Kalam"/>
              <a:cs typeface="Kalam"/>
              <a:sym typeface="Kalam"/>
            </a:endParaRPr>
          </a:p>
        </p:txBody>
      </p:sp>
      <p:sp>
        <p:nvSpPr>
          <p:cNvPr id="1083" name="Google Shape;1083;p89"/>
          <p:cNvSpPr txBox="1"/>
          <p:nvPr/>
        </p:nvSpPr>
        <p:spPr>
          <a:xfrm>
            <a:off x="514100" y="4193525"/>
            <a:ext cx="7885200" cy="615600"/>
          </a:xfrm>
          <a:prstGeom prst="rect">
            <a:avLst/>
          </a:prstGeom>
          <a:solidFill>
            <a:srgbClr val="F3EEFB"/>
          </a:solid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And just because a trend is occurring in one part of the UK doesn’t mean that the same trend is occurring across the whole of the UK.</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089" name="Google Shape;1089;p90"/>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090" name="Google Shape;1090;p90"/>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grpSp>
        <p:nvGrpSpPr>
          <p:cNvPr id="1091" name="Google Shape;1091;p90"/>
          <p:cNvGrpSpPr/>
          <p:nvPr/>
        </p:nvGrpSpPr>
        <p:grpSpPr>
          <a:xfrm>
            <a:off x="5774400" y="2321282"/>
            <a:ext cx="2969400" cy="738900"/>
            <a:chOff x="5413488" y="2887213"/>
            <a:chExt cx="2969400" cy="738900"/>
          </a:xfrm>
        </p:grpSpPr>
        <p:sp>
          <p:nvSpPr>
            <p:cNvPr id="1092" name="Google Shape;1092;p90"/>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093" name="Google Shape;1093;p90"/>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094" name="Google Shape;1094;p90"/>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095" name="Google Shape;1095;p90"/>
          <p:cNvSpPr txBox="1"/>
          <p:nvPr/>
        </p:nvSpPr>
        <p:spPr>
          <a:xfrm>
            <a:off x="324000" y="3209558"/>
            <a:ext cx="8495700" cy="163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Andeep says: “We usually expect to see more rain falling each month in Stornoway than in Southampton.”</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1a) Explain how Andeep might have come to this conclusion.</a:t>
            </a:r>
            <a:endParaRPr sz="1800">
              <a:latin typeface="Lexend"/>
              <a:ea typeface="Lexend"/>
              <a:cs typeface="Lexend"/>
              <a:sym typeface="Lexend"/>
            </a:endParaRPr>
          </a:p>
          <a:p>
            <a:pPr indent="0" lvl="0" marL="0" rtl="0" algn="l">
              <a:spcBef>
                <a:spcPts val="0"/>
              </a:spcBef>
              <a:spcAft>
                <a:spcPts val="0"/>
              </a:spcAft>
              <a:buNone/>
            </a:pPr>
            <a:r>
              <a:t/>
            </a:r>
            <a:endParaRPr sz="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b) In 1968, more rain fell in Southampton than in Stornoway. Explain  whether this makes Andeep’s claim incorrect or not.</a:t>
            </a:r>
            <a:endParaRPr sz="1800">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91"/>
          <p:cNvSpPr txBox="1"/>
          <p:nvPr/>
        </p:nvSpPr>
        <p:spPr>
          <a:xfrm>
            <a:off x="324000" y="3236373"/>
            <a:ext cx="8495700" cy="163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Sofia says: “Over time, the general trend in Stornoway is that the average amount of rainfall is increasing.”</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 Sofia is correct. Explain how Sofia might have come to this conclusion.</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d) Write a sentence describing the long-term trend of Southampton’s rainfall.</a:t>
            </a:r>
            <a:endParaRPr sz="1800">
              <a:solidFill>
                <a:schemeClr val="dk1"/>
              </a:solidFill>
              <a:latin typeface="Lexend"/>
              <a:ea typeface="Lexend"/>
              <a:cs typeface="Lexend"/>
              <a:sym typeface="Lexend"/>
            </a:endParaRPr>
          </a:p>
        </p:txBody>
      </p:sp>
      <p:sp>
        <p:nvSpPr>
          <p:cNvPr id="1101" name="Google Shape;1101;p9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102" name="Google Shape;1102;p91"/>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103" name="Google Shape;1103;p91"/>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grpSp>
        <p:nvGrpSpPr>
          <p:cNvPr id="1104" name="Google Shape;1104;p91"/>
          <p:cNvGrpSpPr/>
          <p:nvPr/>
        </p:nvGrpSpPr>
        <p:grpSpPr>
          <a:xfrm>
            <a:off x="5774400" y="2321282"/>
            <a:ext cx="2969400" cy="738900"/>
            <a:chOff x="5413488" y="2887213"/>
            <a:chExt cx="2969400" cy="738900"/>
          </a:xfrm>
        </p:grpSpPr>
        <p:sp>
          <p:nvSpPr>
            <p:cNvPr id="1105" name="Google Shape;1105;p91"/>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106" name="Google Shape;1106;p91"/>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107" name="Google Shape;1107;p91"/>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92"/>
          <p:cNvSpPr txBox="1"/>
          <p:nvPr/>
        </p:nvSpPr>
        <p:spPr>
          <a:xfrm>
            <a:off x="324000" y="3209558"/>
            <a:ext cx="84957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Izzy says: “Stornoway is in Scotland. That means the amount of rainfall in other parts of Scotland is also increasing over time.”</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e) Explain whether Izzy’s statement is correct or not.</a:t>
            </a:r>
            <a:endParaRPr sz="1800">
              <a:solidFill>
                <a:schemeClr val="dk1"/>
              </a:solidFill>
              <a:latin typeface="Lexend"/>
              <a:ea typeface="Lexend"/>
              <a:cs typeface="Lexend"/>
              <a:sym typeface="Lexend"/>
            </a:endParaRPr>
          </a:p>
        </p:txBody>
      </p:sp>
      <p:sp>
        <p:nvSpPr>
          <p:cNvPr id="1113" name="Google Shape;1113;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114" name="Google Shape;1114;p92"/>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115" name="Google Shape;1115;p92"/>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grpSp>
        <p:nvGrpSpPr>
          <p:cNvPr id="1116" name="Google Shape;1116;p92"/>
          <p:cNvGrpSpPr/>
          <p:nvPr/>
        </p:nvGrpSpPr>
        <p:grpSpPr>
          <a:xfrm>
            <a:off x="5774400" y="2321282"/>
            <a:ext cx="2969400" cy="738900"/>
            <a:chOff x="5413488" y="2887213"/>
            <a:chExt cx="2969400" cy="738900"/>
          </a:xfrm>
        </p:grpSpPr>
        <p:sp>
          <p:nvSpPr>
            <p:cNvPr id="1117" name="Google Shape;1117;p92"/>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118" name="Google Shape;1118;p92"/>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119" name="Google Shape;1119;p92"/>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125" name="Google Shape;1125;p93"/>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126" name="Google Shape;1126;p93"/>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grpSp>
        <p:nvGrpSpPr>
          <p:cNvPr id="1127" name="Google Shape;1127;p93"/>
          <p:cNvGrpSpPr/>
          <p:nvPr/>
        </p:nvGrpSpPr>
        <p:grpSpPr>
          <a:xfrm>
            <a:off x="5774400" y="2321282"/>
            <a:ext cx="2969400" cy="738900"/>
            <a:chOff x="5413488" y="2887213"/>
            <a:chExt cx="2969400" cy="738900"/>
          </a:xfrm>
        </p:grpSpPr>
        <p:sp>
          <p:nvSpPr>
            <p:cNvPr id="1128" name="Google Shape;1128;p93"/>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129" name="Google Shape;1129;p93"/>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130" name="Google Shape;1130;p93"/>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131" name="Google Shape;1131;p93"/>
          <p:cNvSpPr txBox="1"/>
          <p:nvPr/>
        </p:nvSpPr>
        <p:spPr>
          <a:xfrm>
            <a:off x="324000" y="3209558"/>
            <a:ext cx="84957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Andeep says: “We usually expect to see more rain falling each month in Stornoway than in Southampton.”</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1a) Explain how Andeep might have come to this conclusion.</a:t>
            </a:r>
            <a:endParaRPr sz="1800">
              <a:latin typeface="Lexend"/>
              <a:ea typeface="Lexend"/>
              <a:cs typeface="Lexend"/>
              <a:sym typeface="Lexend"/>
            </a:endParaRPr>
          </a:p>
        </p:txBody>
      </p:sp>
      <p:sp>
        <p:nvSpPr>
          <p:cNvPr id="1132" name="Google Shape;1132;p93"/>
          <p:cNvSpPr txBox="1"/>
          <p:nvPr/>
        </p:nvSpPr>
        <p:spPr>
          <a:xfrm>
            <a:off x="688300" y="4197108"/>
            <a:ext cx="7710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trendline for Stornoway is above the trendline for Southampton.</a:t>
            </a:r>
            <a:endParaRPr sz="2000">
              <a:latin typeface="Kalam"/>
              <a:ea typeface="Kalam"/>
              <a:cs typeface="Kalam"/>
              <a:sym typeface="Kalam"/>
            </a:endParaRPr>
          </a:p>
        </p:txBody>
      </p:sp>
      <p:sp>
        <p:nvSpPr>
          <p:cNvPr id="1133" name="Google Shape;1133;p93"/>
          <p:cNvSpPr txBox="1"/>
          <p:nvPr/>
        </p:nvSpPr>
        <p:spPr>
          <a:xfrm>
            <a:off x="688300" y="4197108"/>
            <a:ext cx="7710600" cy="615600"/>
          </a:xfrm>
          <a:prstGeom prst="rect">
            <a:avLst/>
          </a:prstGeom>
          <a:solidFill>
            <a:srgbClr val="F3EEFB"/>
          </a:solid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This means there is a trend of Stornoway having a larger amount of rainfall than Southampton.</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94"/>
          <p:cNvSpPr txBox="1"/>
          <p:nvPr/>
        </p:nvSpPr>
        <p:spPr>
          <a:xfrm>
            <a:off x="688300" y="3858297"/>
            <a:ext cx="7710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Andeep is correct. The trend is definitely that Stornoway has more rainfall than Southampton. A few years that do not fit this trend does not mean the trend isn’t true across a longer timeframe.</a:t>
            </a:r>
            <a:endParaRPr sz="2000">
              <a:latin typeface="Kalam"/>
              <a:ea typeface="Kalam"/>
              <a:cs typeface="Kalam"/>
              <a:sym typeface="Kalam"/>
            </a:endParaRPr>
          </a:p>
        </p:txBody>
      </p:sp>
      <p:sp>
        <p:nvSpPr>
          <p:cNvPr id="1139" name="Google Shape;1139;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140" name="Google Shape;1140;p94"/>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141" name="Google Shape;1141;p94"/>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grpSp>
        <p:nvGrpSpPr>
          <p:cNvPr id="1142" name="Google Shape;1142;p94"/>
          <p:cNvGrpSpPr/>
          <p:nvPr/>
        </p:nvGrpSpPr>
        <p:grpSpPr>
          <a:xfrm>
            <a:off x="5774400" y="2321282"/>
            <a:ext cx="2969400" cy="738900"/>
            <a:chOff x="5413488" y="2887213"/>
            <a:chExt cx="2969400" cy="738900"/>
          </a:xfrm>
        </p:grpSpPr>
        <p:sp>
          <p:nvSpPr>
            <p:cNvPr id="1143" name="Google Shape;1143;p94"/>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144" name="Google Shape;1144;p94"/>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145" name="Google Shape;1145;p94"/>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146" name="Google Shape;1146;p94"/>
          <p:cNvSpPr txBox="1"/>
          <p:nvPr/>
        </p:nvSpPr>
        <p:spPr>
          <a:xfrm>
            <a:off x="324000" y="3209558"/>
            <a:ext cx="84957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 In 1968, more rain fell in Southampton than in Stornoway. Explain  whether this makes Andeep’s claim incorrect or not.</a:t>
            </a:r>
            <a:endParaRPr sz="1800">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95"/>
          <p:cNvSpPr txBox="1"/>
          <p:nvPr/>
        </p:nvSpPr>
        <p:spPr>
          <a:xfrm>
            <a:off x="324000" y="3236373"/>
            <a:ext cx="84957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Sofia says: “Over time, the general trend in Stornoway is that the average amount of rainfall is increasing.”</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 Sofia is correct. Explain how Sofia might have come to this conclusion.</a:t>
            </a:r>
            <a:endParaRPr sz="1800">
              <a:solidFill>
                <a:schemeClr val="dk1"/>
              </a:solidFill>
              <a:latin typeface="Lexend"/>
              <a:ea typeface="Lexend"/>
              <a:cs typeface="Lexend"/>
              <a:sym typeface="Lexend"/>
            </a:endParaRPr>
          </a:p>
        </p:txBody>
      </p:sp>
      <p:sp>
        <p:nvSpPr>
          <p:cNvPr id="1152" name="Google Shape;1152;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153" name="Google Shape;1153;p95"/>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154" name="Google Shape;1154;p95"/>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sp>
        <p:nvSpPr>
          <p:cNvPr id="1155" name="Google Shape;1155;p95"/>
          <p:cNvSpPr txBox="1"/>
          <p:nvPr/>
        </p:nvSpPr>
        <p:spPr>
          <a:xfrm>
            <a:off x="688300" y="4197582"/>
            <a:ext cx="77106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Stornoway’s trendline has a positive gradient (the line is going up from left to right).</a:t>
            </a:r>
            <a:endParaRPr sz="2000">
              <a:latin typeface="Kalam"/>
              <a:ea typeface="Kalam"/>
              <a:cs typeface="Kalam"/>
              <a:sym typeface="Kalam"/>
            </a:endParaRPr>
          </a:p>
        </p:txBody>
      </p:sp>
      <p:grpSp>
        <p:nvGrpSpPr>
          <p:cNvPr id="1156" name="Google Shape;1156;p95"/>
          <p:cNvGrpSpPr/>
          <p:nvPr/>
        </p:nvGrpSpPr>
        <p:grpSpPr>
          <a:xfrm>
            <a:off x="5774400" y="2321282"/>
            <a:ext cx="2969400" cy="738900"/>
            <a:chOff x="5413488" y="2887213"/>
            <a:chExt cx="2969400" cy="738900"/>
          </a:xfrm>
        </p:grpSpPr>
        <p:sp>
          <p:nvSpPr>
            <p:cNvPr id="1157" name="Google Shape;1157;p95"/>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158" name="Google Shape;1158;p95"/>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159" name="Google Shape;1159;p95"/>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96"/>
          <p:cNvSpPr txBox="1"/>
          <p:nvPr/>
        </p:nvSpPr>
        <p:spPr>
          <a:xfrm>
            <a:off x="688300" y="3856475"/>
            <a:ext cx="78285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Over time, the general trend in Southampton is that the average amount of rainfall is very slightly decreasing.</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or   The average amount of rainfall is staying fairly constant over time.</a:t>
            </a:r>
            <a:endParaRPr sz="2000">
              <a:solidFill>
                <a:schemeClr val="dk1"/>
              </a:solidFill>
              <a:latin typeface="Kalam"/>
              <a:ea typeface="Kalam"/>
              <a:cs typeface="Kalam"/>
              <a:sym typeface="Kalam"/>
            </a:endParaRPr>
          </a:p>
        </p:txBody>
      </p:sp>
      <p:sp>
        <p:nvSpPr>
          <p:cNvPr id="1165" name="Google Shape;1165;p96"/>
          <p:cNvSpPr txBox="1"/>
          <p:nvPr/>
        </p:nvSpPr>
        <p:spPr>
          <a:xfrm>
            <a:off x="324000" y="3236373"/>
            <a:ext cx="84957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 Write a sentence describing the long-term trend of Southampton’s rainfall.</a:t>
            </a:r>
            <a:endParaRPr sz="1800">
              <a:solidFill>
                <a:schemeClr val="dk1"/>
              </a:solidFill>
              <a:latin typeface="Lexend"/>
              <a:ea typeface="Lexend"/>
              <a:cs typeface="Lexend"/>
              <a:sym typeface="Lexend"/>
            </a:endParaRPr>
          </a:p>
        </p:txBody>
      </p:sp>
      <p:sp>
        <p:nvSpPr>
          <p:cNvPr id="1166" name="Google Shape;1166;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167" name="Google Shape;1167;p96"/>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168" name="Google Shape;1168;p96"/>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grpSp>
        <p:nvGrpSpPr>
          <p:cNvPr id="1169" name="Google Shape;1169;p96"/>
          <p:cNvGrpSpPr/>
          <p:nvPr/>
        </p:nvGrpSpPr>
        <p:grpSpPr>
          <a:xfrm>
            <a:off x="5774400" y="2321282"/>
            <a:ext cx="2969400" cy="738900"/>
            <a:chOff x="5413488" y="2887213"/>
            <a:chExt cx="2969400" cy="738900"/>
          </a:xfrm>
        </p:grpSpPr>
        <p:sp>
          <p:nvSpPr>
            <p:cNvPr id="1170" name="Google Shape;1170;p96"/>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171" name="Google Shape;1171;p96"/>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172" name="Google Shape;1172;p96"/>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97"/>
          <p:cNvSpPr txBox="1"/>
          <p:nvPr/>
        </p:nvSpPr>
        <p:spPr>
          <a:xfrm>
            <a:off x="324000" y="3209558"/>
            <a:ext cx="84957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Izzy says: “Stornoway is in Scotland. That means the amount of rainfall in other parts of Scotland is also increasing over time.”</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e) Explain whether Izzy’s statement is correct or not.</a:t>
            </a:r>
            <a:endParaRPr sz="1800">
              <a:solidFill>
                <a:schemeClr val="dk1"/>
              </a:solidFill>
              <a:latin typeface="Lexend"/>
              <a:ea typeface="Lexend"/>
              <a:cs typeface="Lexend"/>
              <a:sym typeface="Lexend"/>
            </a:endParaRPr>
          </a:p>
        </p:txBody>
      </p:sp>
      <p:sp>
        <p:nvSpPr>
          <p:cNvPr id="1178" name="Google Shape;1178;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local climate data</a:t>
            </a:r>
            <a:endParaRPr/>
          </a:p>
        </p:txBody>
      </p:sp>
      <p:pic>
        <p:nvPicPr>
          <p:cNvPr id="1179" name="Google Shape;1179;p97"/>
          <p:cNvPicPr preferRelativeResize="0"/>
          <p:nvPr/>
        </p:nvPicPr>
        <p:blipFill>
          <a:blip r:embed="rId3">
            <a:alphaModFix/>
          </a:blip>
          <a:stretch>
            <a:fillRect/>
          </a:stretch>
        </p:blipFill>
        <p:spPr>
          <a:xfrm>
            <a:off x="371100" y="627932"/>
            <a:ext cx="5181099" cy="2361250"/>
          </a:xfrm>
          <a:prstGeom prst="rect">
            <a:avLst/>
          </a:prstGeom>
          <a:noFill/>
          <a:ln cap="flat" cmpd="sng" w="19050">
            <a:solidFill>
              <a:schemeClr val="dk1"/>
            </a:solidFill>
            <a:prstDash val="solid"/>
            <a:round/>
            <a:headEnd len="sm" w="sm" type="none"/>
            <a:tailEnd len="sm" w="sm" type="none"/>
          </a:ln>
        </p:spPr>
      </p:pic>
      <p:sp>
        <p:nvSpPr>
          <p:cNvPr id="1180" name="Google Shape;1180;p97"/>
          <p:cNvSpPr txBox="1"/>
          <p:nvPr/>
        </p:nvSpPr>
        <p:spPr>
          <a:xfrm>
            <a:off x="5774400" y="595029"/>
            <a:ext cx="30456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graph from the Met Office shows the average monthly rainfall (in mm) each year from 1941 to 2000 in Stornoway and Southampton.</a:t>
            </a:r>
            <a:endParaRPr sz="1800">
              <a:latin typeface="Lexend"/>
              <a:ea typeface="Lexend"/>
              <a:cs typeface="Lexend"/>
              <a:sym typeface="Lexend"/>
            </a:endParaRPr>
          </a:p>
        </p:txBody>
      </p:sp>
      <p:grpSp>
        <p:nvGrpSpPr>
          <p:cNvPr id="1181" name="Google Shape;1181;p97"/>
          <p:cNvGrpSpPr/>
          <p:nvPr/>
        </p:nvGrpSpPr>
        <p:grpSpPr>
          <a:xfrm>
            <a:off x="5774400" y="2321282"/>
            <a:ext cx="2969400" cy="738900"/>
            <a:chOff x="5413488" y="2887213"/>
            <a:chExt cx="2969400" cy="738900"/>
          </a:xfrm>
        </p:grpSpPr>
        <p:sp>
          <p:nvSpPr>
            <p:cNvPr id="1182" name="Google Shape;1182;p97"/>
            <p:cNvSpPr txBox="1"/>
            <p:nvPr/>
          </p:nvSpPr>
          <p:spPr>
            <a:xfrm>
              <a:off x="5413488" y="2887213"/>
              <a:ext cx="29694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Stornoway </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Southampton</a:t>
              </a:r>
              <a:endParaRPr sz="1600">
                <a:latin typeface="Lexend"/>
                <a:ea typeface="Lexend"/>
                <a:cs typeface="Lexend"/>
                <a:sym typeface="Lexend"/>
              </a:endParaRPr>
            </a:p>
          </p:txBody>
        </p:sp>
        <p:sp>
          <p:nvSpPr>
            <p:cNvPr id="1183" name="Google Shape;1183;p97"/>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184" name="Google Shape;1184;p97"/>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185" name="Google Shape;1185;p97"/>
          <p:cNvSpPr txBox="1"/>
          <p:nvPr/>
        </p:nvSpPr>
        <p:spPr>
          <a:xfrm>
            <a:off x="688300" y="4204795"/>
            <a:ext cx="78285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It is not sensible to generalise conclusions about one location to other locations, even within the same country.</a:t>
            </a:r>
            <a:endParaRPr sz="2000">
              <a:solidFill>
                <a:schemeClr val="dk1"/>
              </a:solidFill>
              <a:latin typeface="Kalam"/>
              <a:ea typeface="Kalam"/>
              <a:cs typeface="Kalam"/>
              <a:sym typeface="Kalam"/>
            </a:endParaRPr>
          </a:p>
        </p:txBody>
      </p:sp>
      <p:sp>
        <p:nvSpPr>
          <p:cNvPr id="1186" name="Google Shape;1186;p97"/>
          <p:cNvSpPr txBox="1"/>
          <p:nvPr/>
        </p:nvSpPr>
        <p:spPr>
          <a:xfrm>
            <a:off x="688300" y="4205908"/>
            <a:ext cx="7710600" cy="615600"/>
          </a:xfrm>
          <a:prstGeom prst="rect">
            <a:avLst/>
          </a:prstGeom>
          <a:solidFill>
            <a:srgbClr val="F3EEFB"/>
          </a:solid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There are several reasons for this, such as Stornoway’s proximity to the sea, compared to other parts of Scotland.</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9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192" name="Google Shape;1192;p9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local climate data</a:t>
            </a:r>
            <a:endParaRPr/>
          </a:p>
        </p:txBody>
      </p:sp>
      <p:sp>
        <p:nvSpPr>
          <p:cNvPr id="1193" name="Google Shape;1193;p9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Studying local climate change</a:t>
            </a:r>
            <a:endParaRPr/>
          </a:p>
        </p:txBody>
      </p:sp>
      <p:pic>
        <p:nvPicPr>
          <p:cNvPr id="1194" name="Google Shape;1194;p98"/>
          <p:cNvPicPr preferRelativeResize="0"/>
          <p:nvPr/>
        </p:nvPicPr>
        <p:blipFill>
          <a:blip r:embed="rId3">
            <a:alphaModFix/>
          </a:blip>
          <a:stretch>
            <a:fillRect/>
          </a:stretch>
        </p:blipFill>
        <p:spPr>
          <a:xfrm>
            <a:off x="408127" y="2988373"/>
            <a:ext cx="450575" cy="446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200" name="Google Shape;1200;p99"/>
          <p:cNvSpPr txBox="1"/>
          <p:nvPr/>
        </p:nvSpPr>
        <p:spPr>
          <a:xfrm>
            <a:off x="324000" y="634207"/>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It is possible to combine different sets of climate data about a location to identify correlations involving time.</a:t>
            </a:r>
            <a:endParaRPr sz="1800">
              <a:solidFill>
                <a:srgbClr val="000000"/>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00"/>
          <p:cNvSpPr txBox="1"/>
          <p:nvPr/>
        </p:nvSpPr>
        <p:spPr>
          <a:xfrm>
            <a:off x="6059450" y="680700"/>
            <a:ext cx="2760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This graph shows data from the Met Office on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in January</a:t>
            </a:r>
            <a:r>
              <a:rPr lang="en-GB" sz="1800">
                <a:solidFill>
                  <a:srgbClr val="000000"/>
                </a:solidFill>
                <a:latin typeface="Lexend"/>
                <a:ea typeface="Lexend"/>
                <a:cs typeface="Lexend"/>
                <a:sym typeface="Lexend"/>
              </a:rPr>
              <a:t> </a:t>
            </a:r>
            <a:r>
              <a:rPr lang="en-GB" sz="1800">
                <a:latin typeface="Lexend"/>
                <a:ea typeface="Lexend"/>
                <a:cs typeface="Lexend"/>
                <a:sym typeface="Lexend"/>
              </a:rPr>
              <a:t>each year from 1941 to 2022 in Sheffield.</a:t>
            </a:r>
            <a:endParaRPr sz="1800">
              <a:solidFill>
                <a:srgbClr val="000000"/>
              </a:solidFill>
              <a:latin typeface="Lexend"/>
              <a:ea typeface="Lexend"/>
              <a:cs typeface="Lexend"/>
              <a:sym typeface="Lexend"/>
            </a:endParaRPr>
          </a:p>
        </p:txBody>
      </p:sp>
      <p:sp>
        <p:nvSpPr>
          <p:cNvPr id="1206" name="Google Shape;1206;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207" name="Google Shape;1207;p100"/>
          <p:cNvPicPr preferRelativeResize="0"/>
          <p:nvPr/>
        </p:nvPicPr>
        <p:blipFill rotWithShape="1">
          <a:blip r:embed="rId3">
            <a:alphaModFix/>
          </a:blip>
          <a:srcRect b="0" l="0" r="0" t="13666"/>
          <a:stretch/>
        </p:blipFill>
        <p:spPr>
          <a:xfrm>
            <a:off x="324000" y="680550"/>
            <a:ext cx="5586726" cy="1878925"/>
          </a:xfrm>
          <a:prstGeom prst="rect">
            <a:avLst/>
          </a:prstGeom>
          <a:noFill/>
          <a:ln cap="flat" cmpd="sng" w="19050">
            <a:solidFill>
              <a:schemeClr val="dk1"/>
            </a:solidFill>
            <a:prstDash val="solid"/>
            <a:round/>
            <a:headEnd len="sm" w="sm" type="none"/>
            <a:tailEnd len="sm" w="sm" type="none"/>
          </a:ln>
        </p:spPr>
      </p:pic>
      <p:sp>
        <p:nvSpPr>
          <p:cNvPr id="1208" name="Google Shape;1208;p100"/>
          <p:cNvSpPr txBox="1"/>
          <p:nvPr/>
        </p:nvSpPr>
        <p:spPr>
          <a:xfrm>
            <a:off x="952775" y="2700000"/>
            <a:ext cx="78672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long-term trend of this data suggests that the total number of sunshine hours in Sheffield each January has increased over time.</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214" name="Google Shape;1214;p101"/>
          <p:cNvPicPr preferRelativeResize="0"/>
          <p:nvPr/>
        </p:nvPicPr>
        <p:blipFill rotWithShape="1">
          <a:blip r:embed="rId3">
            <a:alphaModFix/>
          </a:blip>
          <a:srcRect b="0" l="0" r="0" t="13666"/>
          <a:stretch/>
        </p:blipFill>
        <p:spPr>
          <a:xfrm>
            <a:off x="324000" y="680550"/>
            <a:ext cx="5586726" cy="1878925"/>
          </a:xfrm>
          <a:prstGeom prst="rect">
            <a:avLst/>
          </a:prstGeom>
          <a:noFill/>
          <a:ln cap="flat" cmpd="sng" w="19050">
            <a:solidFill>
              <a:schemeClr val="dk1"/>
            </a:solidFill>
            <a:prstDash val="solid"/>
            <a:round/>
            <a:headEnd len="sm" w="sm" type="none"/>
            <a:tailEnd len="sm" w="sm" type="none"/>
          </a:ln>
        </p:spPr>
      </p:pic>
      <p:pic>
        <p:nvPicPr>
          <p:cNvPr id="1215" name="Google Shape;1215;p101"/>
          <p:cNvPicPr preferRelativeResize="0"/>
          <p:nvPr/>
        </p:nvPicPr>
        <p:blipFill>
          <a:blip r:embed="rId4">
            <a:alphaModFix/>
          </a:blip>
          <a:stretch>
            <a:fillRect/>
          </a:stretch>
        </p:blipFill>
        <p:spPr>
          <a:xfrm>
            <a:off x="324000" y="2700000"/>
            <a:ext cx="5586725" cy="2108695"/>
          </a:xfrm>
          <a:prstGeom prst="rect">
            <a:avLst/>
          </a:prstGeom>
          <a:noFill/>
          <a:ln cap="flat" cmpd="sng" w="19050">
            <a:solidFill>
              <a:schemeClr val="dk1"/>
            </a:solidFill>
            <a:prstDash val="solid"/>
            <a:round/>
            <a:headEnd len="sm" w="sm" type="none"/>
            <a:tailEnd len="sm" w="sm" type="none"/>
          </a:ln>
        </p:spPr>
      </p:pic>
      <p:sp>
        <p:nvSpPr>
          <p:cNvPr id="1216" name="Google Shape;1216;p101"/>
          <p:cNvSpPr txBox="1"/>
          <p:nvPr/>
        </p:nvSpPr>
        <p:spPr>
          <a:xfrm>
            <a:off x="6059450" y="2632200"/>
            <a:ext cx="2760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second graph shows data from the Met Office on the </a:t>
            </a:r>
            <a:r>
              <a:rPr lang="en-GB" sz="1800">
                <a:solidFill>
                  <a:schemeClr val="accent4"/>
                </a:solidFill>
                <a:latin typeface="Lexend"/>
                <a:ea typeface="Lexend"/>
                <a:cs typeface="Lexend"/>
                <a:sym typeface="Lexend"/>
              </a:rPr>
              <a:t>mean daily maximum temperature</a:t>
            </a:r>
            <a:r>
              <a:rPr lang="en-GB" sz="1800">
                <a:latin typeface="Lexend"/>
                <a:ea typeface="Lexend"/>
                <a:cs typeface="Lexend"/>
                <a:sym typeface="Lexend"/>
              </a:rPr>
              <a:t> and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for every month</a:t>
            </a:r>
            <a:r>
              <a:rPr lang="en-GB" sz="1800">
                <a:solidFill>
                  <a:srgbClr val="000000"/>
                </a:solidFill>
                <a:latin typeface="Lexend"/>
                <a:ea typeface="Lexend"/>
                <a:cs typeface="Lexend"/>
                <a:sym typeface="Lexend"/>
              </a:rPr>
              <a:t> </a:t>
            </a:r>
            <a:r>
              <a:rPr lang="en-GB" sz="1800">
                <a:latin typeface="Lexend"/>
                <a:ea typeface="Lexend"/>
                <a:cs typeface="Lexend"/>
                <a:sym typeface="Lexend"/>
              </a:rPr>
              <a:t>from 1990 to  2022 in Sheffield.</a:t>
            </a:r>
            <a:endParaRPr sz="1800">
              <a:solidFill>
                <a:srgbClr val="000000"/>
              </a:solidFill>
              <a:latin typeface="Lexend"/>
              <a:ea typeface="Lexend"/>
              <a:cs typeface="Lexend"/>
              <a:sym typeface="Lexend"/>
            </a:endParaRPr>
          </a:p>
        </p:txBody>
      </p:sp>
      <p:sp>
        <p:nvSpPr>
          <p:cNvPr id="1217" name="Google Shape;1217;p101"/>
          <p:cNvSpPr txBox="1"/>
          <p:nvPr/>
        </p:nvSpPr>
        <p:spPr>
          <a:xfrm>
            <a:off x="6059450" y="680700"/>
            <a:ext cx="2760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This graph shows data from the Met Office on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in January</a:t>
            </a:r>
            <a:r>
              <a:rPr lang="en-GB" sz="1800">
                <a:solidFill>
                  <a:srgbClr val="000000"/>
                </a:solidFill>
                <a:latin typeface="Lexend"/>
                <a:ea typeface="Lexend"/>
                <a:cs typeface="Lexend"/>
                <a:sym typeface="Lexend"/>
              </a:rPr>
              <a:t> </a:t>
            </a:r>
            <a:r>
              <a:rPr lang="en-GB" sz="1800">
                <a:latin typeface="Lexend"/>
                <a:ea typeface="Lexend"/>
                <a:cs typeface="Lexend"/>
                <a:sym typeface="Lexend"/>
              </a:rPr>
              <a:t>each year from 1941 to 2022 in Sheffield.</a:t>
            </a:r>
            <a:endParaRPr sz="1800">
              <a:solidFill>
                <a:srgbClr val="000000"/>
              </a:solidFill>
              <a:latin typeface="Lexend"/>
              <a:ea typeface="Lexend"/>
              <a:cs typeface="Lexend"/>
              <a:sym typeface="Lexend"/>
            </a:endParaRPr>
          </a:p>
        </p:txBody>
      </p:sp>
      <p:sp>
        <p:nvSpPr>
          <p:cNvPr id="1218" name="Google Shape;1218;p101"/>
          <p:cNvSpPr/>
          <p:nvPr/>
        </p:nvSpPr>
        <p:spPr>
          <a:xfrm>
            <a:off x="253625" y="653875"/>
            <a:ext cx="8629800" cy="19782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224" name="Google Shape;1224;p102"/>
          <p:cNvSpPr txBox="1"/>
          <p:nvPr/>
        </p:nvSpPr>
        <p:spPr>
          <a:xfrm>
            <a:off x="952775" y="833825"/>
            <a:ext cx="78672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There is a positive correlation between the mean daily maximum temperature and the total monthly sunshine hours.</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The trend of this data suggests that the greater the maximum temperature, the greater the total monthly sunshine hours.</a:t>
            </a:r>
            <a:endParaRPr sz="1800">
              <a:solidFill>
                <a:srgbClr val="000000"/>
              </a:solidFill>
              <a:latin typeface="Lexend"/>
              <a:ea typeface="Lexend"/>
              <a:cs typeface="Lexend"/>
              <a:sym typeface="Lexend"/>
            </a:endParaRPr>
          </a:p>
        </p:txBody>
      </p:sp>
      <p:pic>
        <p:nvPicPr>
          <p:cNvPr id="1225" name="Google Shape;1225;p102"/>
          <p:cNvPicPr preferRelativeResize="0"/>
          <p:nvPr/>
        </p:nvPicPr>
        <p:blipFill>
          <a:blip r:embed="rId3">
            <a:alphaModFix/>
          </a:blip>
          <a:stretch>
            <a:fillRect/>
          </a:stretch>
        </p:blipFill>
        <p:spPr>
          <a:xfrm>
            <a:off x="324000" y="2700000"/>
            <a:ext cx="5586725" cy="2108695"/>
          </a:xfrm>
          <a:prstGeom prst="rect">
            <a:avLst/>
          </a:prstGeom>
          <a:noFill/>
          <a:ln cap="flat" cmpd="sng" w="19050">
            <a:solidFill>
              <a:schemeClr val="dk1"/>
            </a:solidFill>
            <a:prstDash val="solid"/>
            <a:round/>
            <a:headEnd len="sm" w="sm" type="none"/>
            <a:tailEnd len="sm" w="sm" type="none"/>
          </a:ln>
        </p:spPr>
      </p:pic>
      <p:sp>
        <p:nvSpPr>
          <p:cNvPr id="1226" name="Google Shape;1226;p102"/>
          <p:cNvSpPr txBox="1"/>
          <p:nvPr/>
        </p:nvSpPr>
        <p:spPr>
          <a:xfrm>
            <a:off x="6059450" y="2632200"/>
            <a:ext cx="2760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second graph shows data from the Met Office on the </a:t>
            </a:r>
            <a:r>
              <a:rPr lang="en-GB" sz="1800">
                <a:solidFill>
                  <a:schemeClr val="accent4"/>
                </a:solidFill>
                <a:latin typeface="Lexend"/>
                <a:ea typeface="Lexend"/>
                <a:cs typeface="Lexend"/>
                <a:sym typeface="Lexend"/>
              </a:rPr>
              <a:t>mean daily maximum temperature</a:t>
            </a:r>
            <a:r>
              <a:rPr lang="en-GB" sz="1800">
                <a:latin typeface="Lexend"/>
                <a:ea typeface="Lexend"/>
                <a:cs typeface="Lexend"/>
                <a:sym typeface="Lexend"/>
              </a:rPr>
              <a:t> and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for every month</a:t>
            </a:r>
            <a:r>
              <a:rPr lang="en-GB" sz="1800">
                <a:solidFill>
                  <a:srgbClr val="000000"/>
                </a:solidFill>
                <a:latin typeface="Lexend"/>
                <a:ea typeface="Lexend"/>
                <a:cs typeface="Lexend"/>
                <a:sym typeface="Lexend"/>
              </a:rPr>
              <a:t> </a:t>
            </a:r>
            <a:r>
              <a:rPr lang="en-GB" sz="1800">
                <a:latin typeface="Lexend"/>
                <a:ea typeface="Lexend"/>
                <a:cs typeface="Lexend"/>
                <a:sym typeface="Lexend"/>
              </a:rPr>
              <a:t>from 1990 to  2022 in Sheffield.</a:t>
            </a:r>
            <a:endParaRPr sz="1800">
              <a:solidFill>
                <a:srgbClr val="000000"/>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232" name="Google Shape;1232;p103"/>
          <p:cNvSpPr txBox="1"/>
          <p:nvPr/>
        </p:nvSpPr>
        <p:spPr>
          <a:xfrm>
            <a:off x="6059450" y="1486675"/>
            <a:ext cx="27606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Furthermore, both graphs share the common variable of “total monthly sunshine hours”.</a:t>
            </a:r>
            <a:endParaRPr sz="1800">
              <a:solidFill>
                <a:srgbClr val="000000"/>
              </a:solidFill>
              <a:latin typeface="Lexend"/>
              <a:ea typeface="Lexend"/>
              <a:cs typeface="Lexend"/>
              <a:sym typeface="Lexend"/>
            </a:endParaRPr>
          </a:p>
        </p:txBody>
      </p:sp>
      <p:pic>
        <p:nvPicPr>
          <p:cNvPr id="1233" name="Google Shape;1233;p103"/>
          <p:cNvPicPr preferRelativeResize="0"/>
          <p:nvPr/>
        </p:nvPicPr>
        <p:blipFill rotWithShape="1">
          <a:blip r:embed="rId3">
            <a:alphaModFix/>
          </a:blip>
          <a:srcRect b="0" l="0" r="0" t="13666"/>
          <a:stretch/>
        </p:blipFill>
        <p:spPr>
          <a:xfrm>
            <a:off x="324000" y="680550"/>
            <a:ext cx="5586726" cy="1878925"/>
          </a:xfrm>
          <a:prstGeom prst="rect">
            <a:avLst/>
          </a:prstGeom>
          <a:noFill/>
          <a:ln cap="flat" cmpd="sng" w="19050">
            <a:solidFill>
              <a:schemeClr val="dk1"/>
            </a:solidFill>
            <a:prstDash val="solid"/>
            <a:round/>
            <a:headEnd len="sm" w="sm" type="none"/>
            <a:tailEnd len="sm" w="sm" type="none"/>
          </a:ln>
        </p:spPr>
      </p:pic>
      <p:pic>
        <p:nvPicPr>
          <p:cNvPr id="1234" name="Google Shape;1234;p103"/>
          <p:cNvPicPr preferRelativeResize="0"/>
          <p:nvPr/>
        </p:nvPicPr>
        <p:blipFill>
          <a:blip r:embed="rId4">
            <a:alphaModFix/>
          </a:blip>
          <a:stretch>
            <a:fillRect/>
          </a:stretch>
        </p:blipFill>
        <p:spPr>
          <a:xfrm>
            <a:off x="324000" y="2700000"/>
            <a:ext cx="5586725" cy="2108695"/>
          </a:xfrm>
          <a:prstGeom prst="rect">
            <a:avLst/>
          </a:prstGeom>
          <a:noFill/>
          <a:ln cap="flat" cmpd="sng" w="19050">
            <a:solidFill>
              <a:schemeClr val="dk1"/>
            </a:solidFill>
            <a:prstDash val="solid"/>
            <a:round/>
            <a:headEnd len="sm" w="sm" type="none"/>
            <a:tailEnd len="sm" w="sm" type="none"/>
          </a:ln>
        </p:spPr>
      </p:pic>
      <p:sp>
        <p:nvSpPr>
          <p:cNvPr id="1235" name="Google Shape;1235;p103"/>
          <p:cNvSpPr txBox="1"/>
          <p:nvPr/>
        </p:nvSpPr>
        <p:spPr>
          <a:xfrm>
            <a:off x="6059450" y="3123950"/>
            <a:ext cx="27606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It may be possible to identify a correlation between the non-common variable in each graph.</a:t>
            </a:r>
            <a:endParaRPr sz="1800">
              <a:solidFill>
                <a:srgbClr val="000000"/>
              </a:solidFill>
              <a:latin typeface="Lexend"/>
              <a:ea typeface="Lexend"/>
              <a:cs typeface="Lexend"/>
              <a:sym typeface="Lexend"/>
            </a:endParaRPr>
          </a:p>
        </p:txBody>
      </p:sp>
      <p:sp>
        <p:nvSpPr>
          <p:cNvPr id="1236" name="Google Shape;1236;p103"/>
          <p:cNvSpPr txBox="1"/>
          <p:nvPr/>
        </p:nvSpPr>
        <p:spPr>
          <a:xfrm>
            <a:off x="6059450" y="680700"/>
            <a:ext cx="2760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Both graphs show positive correlation.</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242" name="Google Shape;1242;p104"/>
          <p:cNvPicPr preferRelativeResize="0"/>
          <p:nvPr/>
        </p:nvPicPr>
        <p:blipFill rotWithShape="1">
          <a:blip r:embed="rId3">
            <a:alphaModFix/>
          </a:blip>
          <a:srcRect b="0" l="0" r="0" t="13666"/>
          <a:stretch/>
        </p:blipFill>
        <p:spPr>
          <a:xfrm>
            <a:off x="324000" y="680550"/>
            <a:ext cx="5586726" cy="1878925"/>
          </a:xfrm>
          <a:prstGeom prst="rect">
            <a:avLst/>
          </a:prstGeom>
          <a:noFill/>
          <a:ln cap="flat" cmpd="sng" w="19050">
            <a:solidFill>
              <a:schemeClr val="dk1"/>
            </a:solidFill>
            <a:prstDash val="solid"/>
            <a:round/>
            <a:headEnd len="sm" w="sm" type="none"/>
            <a:tailEnd len="sm" w="sm" type="none"/>
          </a:ln>
        </p:spPr>
      </p:pic>
      <p:pic>
        <p:nvPicPr>
          <p:cNvPr id="1243" name="Google Shape;1243;p104"/>
          <p:cNvPicPr preferRelativeResize="0"/>
          <p:nvPr/>
        </p:nvPicPr>
        <p:blipFill>
          <a:blip r:embed="rId4">
            <a:alphaModFix/>
          </a:blip>
          <a:stretch>
            <a:fillRect/>
          </a:stretch>
        </p:blipFill>
        <p:spPr>
          <a:xfrm>
            <a:off x="324000" y="2700000"/>
            <a:ext cx="5586725" cy="2108695"/>
          </a:xfrm>
          <a:prstGeom prst="rect">
            <a:avLst/>
          </a:prstGeom>
          <a:noFill/>
          <a:ln cap="flat" cmpd="sng" w="19050">
            <a:solidFill>
              <a:schemeClr val="dk1"/>
            </a:solidFill>
            <a:prstDash val="solid"/>
            <a:round/>
            <a:headEnd len="sm" w="sm" type="none"/>
            <a:tailEnd len="sm" w="sm" type="none"/>
          </a:ln>
        </p:spPr>
      </p:pic>
      <p:sp>
        <p:nvSpPr>
          <p:cNvPr id="1244" name="Google Shape;1244;p104"/>
          <p:cNvSpPr txBox="1"/>
          <p:nvPr/>
        </p:nvSpPr>
        <p:spPr>
          <a:xfrm>
            <a:off x="6059450" y="680700"/>
            <a:ext cx="27606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Graph 1 shows that the total monthly sunshine hours increases over time.</a:t>
            </a:r>
            <a:endParaRPr sz="1800">
              <a:solidFill>
                <a:srgbClr val="000000"/>
              </a:solidFill>
              <a:latin typeface="Lexend"/>
              <a:ea typeface="Lexend"/>
              <a:cs typeface="Lexend"/>
              <a:sym typeface="Lexend"/>
            </a:endParaRPr>
          </a:p>
        </p:txBody>
      </p:sp>
      <p:sp>
        <p:nvSpPr>
          <p:cNvPr id="1245" name="Google Shape;1245;p104"/>
          <p:cNvSpPr txBox="1"/>
          <p:nvPr/>
        </p:nvSpPr>
        <p:spPr>
          <a:xfrm>
            <a:off x="6059450" y="2145900"/>
            <a:ext cx="27606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Graph 2 shows that t</a:t>
            </a:r>
            <a:r>
              <a:rPr lang="en-GB" sz="1800">
                <a:latin typeface="Lexend"/>
                <a:ea typeface="Lexend"/>
                <a:cs typeface="Lexend"/>
                <a:sym typeface="Lexend"/>
              </a:rPr>
              <a:t>he total monthly sunshine hours increases as the maximum temperature increases.</a:t>
            </a:r>
            <a:endParaRPr sz="1800">
              <a:solidFill>
                <a:srgbClr val="000000"/>
              </a:solidFill>
              <a:latin typeface="Lexend"/>
              <a:ea typeface="Lexend"/>
              <a:cs typeface="Lexend"/>
              <a:sym typeface="Lexend"/>
            </a:endParaRPr>
          </a:p>
        </p:txBody>
      </p:sp>
      <p:sp>
        <p:nvSpPr>
          <p:cNvPr id="1246" name="Google Shape;1246;p104"/>
          <p:cNvSpPr txBox="1"/>
          <p:nvPr/>
        </p:nvSpPr>
        <p:spPr>
          <a:xfrm>
            <a:off x="6059450" y="3888300"/>
            <a:ext cx="27606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Therefore, the maximum temperature may also increase over time.</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252" name="Google Shape;1252;p105"/>
          <p:cNvPicPr preferRelativeResize="0"/>
          <p:nvPr/>
        </p:nvPicPr>
        <p:blipFill rotWithShape="1">
          <a:blip r:embed="rId3">
            <a:alphaModFix/>
          </a:blip>
          <a:srcRect b="0" l="0" r="0" t="13666"/>
          <a:stretch/>
        </p:blipFill>
        <p:spPr>
          <a:xfrm>
            <a:off x="324000" y="680550"/>
            <a:ext cx="5586726" cy="1878925"/>
          </a:xfrm>
          <a:prstGeom prst="rect">
            <a:avLst/>
          </a:prstGeom>
          <a:noFill/>
          <a:ln cap="flat" cmpd="sng" w="19050">
            <a:solidFill>
              <a:schemeClr val="dk1"/>
            </a:solidFill>
            <a:prstDash val="solid"/>
            <a:round/>
            <a:headEnd len="sm" w="sm" type="none"/>
            <a:tailEnd len="sm" w="sm" type="none"/>
          </a:ln>
        </p:spPr>
      </p:pic>
      <p:sp>
        <p:nvSpPr>
          <p:cNvPr id="1253" name="Google Shape;1253;p105"/>
          <p:cNvSpPr txBox="1"/>
          <p:nvPr/>
        </p:nvSpPr>
        <p:spPr>
          <a:xfrm>
            <a:off x="6059450" y="680700"/>
            <a:ext cx="2760600"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From these two graphs, we have identified a possible positive correlation between time and mean daily maximum temperature in Sheffield.</a:t>
            </a:r>
            <a:endParaRPr sz="1800">
              <a:solidFill>
                <a:srgbClr val="000000"/>
              </a:solidFill>
              <a:latin typeface="Lexend"/>
              <a:ea typeface="Lexend"/>
              <a:cs typeface="Lexend"/>
              <a:sym typeface="Lexend"/>
            </a:endParaRPr>
          </a:p>
        </p:txBody>
      </p:sp>
      <p:pic>
        <p:nvPicPr>
          <p:cNvPr id="1254" name="Google Shape;1254;p105"/>
          <p:cNvPicPr preferRelativeResize="0"/>
          <p:nvPr/>
        </p:nvPicPr>
        <p:blipFill>
          <a:blip r:embed="rId4">
            <a:alphaModFix/>
          </a:blip>
          <a:stretch>
            <a:fillRect/>
          </a:stretch>
        </p:blipFill>
        <p:spPr>
          <a:xfrm>
            <a:off x="324000" y="2700000"/>
            <a:ext cx="5586725" cy="2108695"/>
          </a:xfrm>
          <a:prstGeom prst="rect">
            <a:avLst/>
          </a:prstGeom>
          <a:noFill/>
          <a:ln cap="flat" cmpd="sng" w="19050">
            <a:solidFill>
              <a:schemeClr val="dk1"/>
            </a:solidFill>
            <a:prstDash val="solid"/>
            <a:round/>
            <a:headEnd len="sm" w="sm" type="none"/>
            <a:tailEnd len="sm" w="sm" type="none"/>
          </a:ln>
        </p:spPr>
      </p:pic>
      <p:sp>
        <p:nvSpPr>
          <p:cNvPr id="1255" name="Google Shape;1255;p105"/>
          <p:cNvSpPr txBox="1"/>
          <p:nvPr/>
        </p:nvSpPr>
        <p:spPr>
          <a:xfrm>
            <a:off x="6059450" y="3097800"/>
            <a:ext cx="26364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Conclusions made from comparing multiple sets of data may be more accurate than from just one set of data.</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0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261" name="Google Shape;1261;p106"/>
          <p:cNvSpPr txBox="1"/>
          <p:nvPr/>
        </p:nvSpPr>
        <p:spPr>
          <a:xfrm>
            <a:off x="6127150" y="612150"/>
            <a:ext cx="26928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Both graphs show data in Oakfield for </a:t>
            </a:r>
            <a:r>
              <a:rPr lang="en-GB" sz="1800">
                <a:solidFill>
                  <a:schemeClr val="dk1"/>
                </a:solidFill>
                <a:latin typeface="Lexend"/>
                <a:ea typeface="Lexend"/>
                <a:cs typeface="Lexend"/>
                <a:sym typeface="Lexend"/>
              </a:rPr>
              <a:t>the months of January and February from 1970 to 2024.</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p:txBody>
      </p:sp>
      <p:sp>
        <p:nvSpPr>
          <p:cNvPr id="1262" name="Google Shape;1262;p106"/>
          <p:cNvSpPr txBox="1"/>
          <p:nvPr/>
        </p:nvSpPr>
        <p:spPr>
          <a:xfrm>
            <a:off x="6127150" y="2284350"/>
            <a:ext cx="26928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What is the common variable across both graphs?</a:t>
            </a:r>
            <a:endParaRPr sz="1800">
              <a:latin typeface="Lexend"/>
              <a:ea typeface="Lexend"/>
              <a:cs typeface="Lexend"/>
              <a:sym typeface="Lexend"/>
            </a:endParaRPr>
          </a:p>
        </p:txBody>
      </p:sp>
      <p:sp>
        <p:nvSpPr>
          <p:cNvPr id="1263" name="Google Shape;1263;p106"/>
          <p:cNvSpPr txBox="1"/>
          <p:nvPr/>
        </p:nvSpPr>
        <p:spPr>
          <a:xfrm>
            <a:off x="6594225" y="3270800"/>
            <a:ext cx="22257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number of days of air frost</a:t>
            </a:r>
            <a:endParaRPr sz="2000">
              <a:latin typeface="Kalam"/>
              <a:ea typeface="Kalam"/>
              <a:cs typeface="Kalam"/>
              <a:sym typeface="Kalam"/>
            </a:endParaRPr>
          </a:p>
        </p:txBody>
      </p:sp>
      <p:sp>
        <p:nvSpPr>
          <p:cNvPr id="1264" name="Google Shape;1264;p106"/>
          <p:cNvSpPr txBox="1"/>
          <p:nvPr/>
        </p:nvSpPr>
        <p:spPr>
          <a:xfrm>
            <a:off x="324000" y="608815"/>
            <a:ext cx="5579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number of days of air frost each month</a:t>
            </a:r>
            <a:endParaRPr sz="1600">
              <a:solidFill>
                <a:srgbClr val="000000"/>
              </a:solidFill>
              <a:latin typeface="Lexend"/>
              <a:ea typeface="Lexend"/>
              <a:cs typeface="Lexend"/>
              <a:sym typeface="Lexend"/>
            </a:endParaRPr>
          </a:p>
        </p:txBody>
      </p:sp>
      <p:sp>
        <p:nvSpPr>
          <p:cNvPr id="1265" name="Google Shape;1265;p106"/>
          <p:cNvSpPr txBox="1"/>
          <p:nvPr/>
        </p:nvSpPr>
        <p:spPr>
          <a:xfrm>
            <a:off x="324000" y="4327800"/>
            <a:ext cx="38424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mean daily minimum temperature vs. number of days of air frost</a:t>
            </a:r>
            <a:endParaRPr sz="1600">
              <a:solidFill>
                <a:srgbClr val="000000"/>
              </a:solidFill>
              <a:latin typeface="Lexend"/>
              <a:ea typeface="Lexend"/>
              <a:cs typeface="Lexend"/>
              <a:sym typeface="Lexend"/>
            </a:endParaRPr>
          </a:p>
        </p:txBody>
      </p:sp>
      <p:grpSp>
        <p:nvGrpSpPr>
          <p:cNvPr id="1266" name="Google Shape;1266;p106"/>
          <p:cNvGrpSpPr/>
          <p:nvPr/>
        </p:nvGrpSpPr>
        <p:grpSpPr>
          <a:xfrm>
            <a:off x="324012" y="882514"/>
            <a:ext cx="5372889" cy="1647272"/>
            <a:chOff x="324000" y="882466"/>
            <a:chExt cx="5579324" cy="1710563"/>
          </a:xfrm>
        </p:grpSpPr>
        <p:pic>
          <p:nvPicPr>
            <p:cNvPr id="1267" name="Google Shape;1267;p106"/>
            <p:cNvPicPr preferRelativeResize="0"/>
            <p:nvPr/>
          </p:nvPicPr>
          <p:blipFill>
            <a:blip r:embed="rId3">
              <a:alphaModFix/>
            </a:blip>
            <a:stretch>
              <a:fillRect/>
            </a:stretch>
          </p:blipFill>
          <p:spPr>
            <a:xfrm>
              <a:off x="324000" y="882466"/>
              <a:ext cx="5579324" cy="1710563"/>
            </a:xfrm>
            <a:prstGeom prst="rect">
              <a:avLst/>
            </a:prstGeom>
            <a:noFill/>
            <a:ln cap="flat" cmpd="sng" w="19050">
              <a:solidFill>
                <a:schemeClr val="dk1"/>
              </a:solidFill>
              <a:prstDash val="solid"/>
              <a:round/>
              <a:headEnd len="sm" w="sm" type="none"/>
              <a:tailEnd len="sm" w="sm" type="none"/>
            </a:ln>
          </p:spPr>
        </p:pic>
        <p:grpSp>
          <p:nvGrpSpPr>
            <p:cNvPr id="1268" name="Google Shape;1268;p106"/>
            <p:cNvGrpSpPr/>
            <p:nvPr/>
          </p:nvGrpSpPr>
          <p:grpSpPr>
            <a:xfrm>
              <a:off x="1076157" y="2222464"/>
              <a:ext cx="76799" cy="60476"/>
              <a:chOff x="776825" y="2447425"/>
              <a:chExt cx="58500" cy="78225"/>
            </a:xfrm>
          </p:grpSpPr>
          <p:cxnSp>
            <p:nvCxnSpPr>
              <p:cNvPr id="1269" name="Google Shape;1269;p106"/>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270" name="Google Shape;1270;p106"/>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grpSp>
        <p:nvGrpSpPr>
          <p:cNvPr id="1271" name="Google Shape;1271;p106"/>
          <p:cNvGrpSpPr/>
          <p:nvPr/>
        </p:nvGrpSpPr>
        <p:grpSpPr>
          <a:xfrm>
            <a:off x="324013" y="2626881"/>
            <a:ext cx="5049779" cy="1700908"/>
            <a:chOff x="324001" y="2569478"/>
            <a:chExt cx="5243799" cy="1766259"/>
          </a:xfrm>
        </p:grpSpPr>
        <p:pic>
          <p:nvPicPr>
            <p:cNvPr id="1272" name="Google Shape;1272;p106"/>
            <p:cNvPicPr preferRelativeResize="0"/>
            <p:nvPr/>
          </p:nvPicPr>
          <p:blipFill>
            <a:blip r:embed="rId4">
              <a:alphaModFix/>
            </a:blip>
            <a:stretch>
              <a:fillRect/>
            </a:stretch>
          </p:blipFill>
          <p:spPr>
            <a:xfrm>
              <a:off x="324001" y="2569478"/>
              <a:ext cx="5243799" cy="1766259"/>
            </a:xfrm>
            <a:prstGeom prst="rect">
              <a:avLst/>
            </a:prstGeom>
            <a:noFill/>
            <a:ln cap="flat" cmpd="sng" w="19050">
              <a:solidFill>
                <a:schemeClr val="dk1"/>
              </a:solidFill>
              <a:prstDash val="solid"/>
              <a:round/>
              <a:headEnd len="sm" w="sm" type="none"/>
              <a:tailEnd len="sm" w="sm" type="none"/>
            </a:ln>
          </p:spPr>
        </p:pic>
        <p:grpSp>
          <p:nvGrpSpPr>
            <p:cNvPr id="1273" name="Google Shape;1273;p106"/>
            <p:cNvGrpSpPr/>
            <p:nvPr/>
          </p:nvGrpSpPr>
          <p:grpSpPr>
            <a:xfrm>
              <a:off x="1117532" y="3930943"/>
              <a:ext cx="76799" cy="60476"/>
              <a:chOff x="776825" y="2447425"/>
              <a:chExt cx="58500" cy="78225"/>
            </a:xfrm>
          </p:grpSpPr>
          <p:cxnSp>
            <p:nvCxnSpPr>
              <p:cNvPr id="1274" name="Google Shape;1274;p106"/>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275" name="Google Shape;1275;p106"/>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0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281" name="Google Shape;1281;p107"/>
          <p:cNvSpPr txBox="1"/>
          <p:nvPr/>
        </p:nvSpPr>
        <p:spPr>
          <a:xfrm>
            <a:off x="6127150" y="612150"/>
            <a:ext cx="26928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Both graphs show data in Oakfield for </a:t>
            </a:r>
            <a:r>
              <a:rPr lang="en-GB" sz="1800">
                <a:solidFill>
                  <a:schemeClr val="dk1"/>
                </a:solidFill>
                <a:latin typeface="Lexend"/>
                <a:ea typeface="Lexend"/>
                <a:cs typeface="Lexend"/>
                <a:sym typeface="Lexend"/>
              </a:rPr>
              <a:t>the months of January and February from 1970 to 2024.</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p:txBody>
      </p:sp>
      <p:sp>
        <p:nvSpPr>
          <p:cNvPr id="1282" name="Google Shape;1282;p107"/>
          <p:cNvSpPr txBox="1"/>
          <p:nvPr/>
        </p:nvSpPr>
        <p:spPr>
          <a:xfrm>
            <a:off x="6127150" y="2284350"/>
            <a:ext cx="26928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Describe the correlation between the mean daily minimum temperature and the number of days of air frost.</a:t>
            </a:r>
            <a:endParaRPr sz="1800">
              <a:latin typeface="Lexend"/>
              <a:ea typeface="Lexend"/>
              <a:cs typeface="Lexend"/>
              <a:sym typeface="Lexend"/>
            </a:endParaRPr>
          </a:p>
        </p:txBody>
      </p:sp>
      <p:sp>
        <p:nvSpPr>
          <p:cNvPr id="1283" name="Google Shape;1283;p107"/>
          <p:cNvSpPr txBox="1"/>
          <p:nvPr/>
        </p:nvSpPr>
        <p:spPr>
          <a:xfrm>
            <a:off x="6441825" y="3779998"/>
            <a:ext cx="2225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negative correlation</a:t>
            </a:r>
            <a:endParaRPr sz="2000">
              <a:latin typeface="Kalam"/>
              <a:ea typeface="Kalam"/>
              <a:cs typeface="Kalam"/>
              <a:sym typeface="Kalam"/>
            </a:endParaRPr>
          </a:p>
        </p:txBody>
      </p:sp>
      <p:sp>
        <p:nvSpPr>
          <p:cNvPr id="1284" name="Google Shape;1284;p107"/>
          <p:cNvSpPr txBox="1"/>
          <p:nvPr/>
        </p:nvSpPr>
        <p:spPr>
          <a:xfrm>
            <a:off x="5696685" y="3627600"/>
            <a:ext cx="30075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As the temperature increases, the number of days of air frost decreases.</a:t>
            </a:r>
            <a:endParaRPr sz="2000">
              <a:latin typeface="Kalam"/>
              <a:ea typeface="Kalam"/>
              <a:cs typeface="Kalam"/>
              <a:sym typeface="Kalam"/>
            </a:endParaRPr>
          </a:p>
        </p:txBody>
      </p:sp>
      <p:sp>
        <p:nvSpPr>
          <p:cNvPr id="1285" name="Google Shape;1285;p107"/>
          <p:cNvSpPr txBox="1"/>
          <p:nvPr/>
        </p:nvSpPr>
        <p:spPr>
          <a:xfrm>
            <a:off x="324000" y="608815"/>
            <a:ext cx="5579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number of days of air frost each month</a:t>
            </a:r>
            <a:endParaRPr sz="1600">
              <a:solidFill>
                <a:srgbClr val="000000"/>
              </a:solidFill>
              <a:latin typeface="Lexend"/>
              <a:ea typeface="Lexend"/>
              <a:cs typeface="Lexend"/>
              <a:sym typeface="Lexend"/>
            </a:endParaRPr>
          </a:p>
        </p:txBody>
      </p:sp>
      <p:sp>
        <p:nvSpPr>
          <p:cNvPr id="1286" name="Google Shape;1286;p107"/>
          <p:cNvSpPr txBox="1"/>
          <p:nvPr/>
        </p:nvSpPr>
        <p:spPr>
          <a:xfrm>
            <a:off x="324000" y="4327800"/>
            <a:ext cx="38424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mean daily minimum temperature vs. number of days of air frost</a:t>
            </a:r>
            <a:endParaRPr sz="1600">
              <a:solidFill>
                <a:srgbClr val="000000"/>
              </a:solidFill>
              <a:latin typeface="Lexend"/>
              <a:ea typeface="Lexend"/>
              <a:cs typeface="Lexend"/>
              <a:sym typeface="Lexend"/>
            </a:endParaRPr>
          </a:p>
        </p:txBody>
      </p:sp>
      <p:grpSp>
        <p:nvGrpSpPr>
          <p:cNvPr id="1287" name="Google Shape;1287;p107"/>
          <p:cNvGrpSpPr/>
          <p:nvPr/>
        </p:nvGrpSpPr>
        <p:grpSpPr>
          <a:xfrm>
            <a:off x="324012" y="882514"/>
            <a:ext cx="5372889" cy="1647272"/>
            <a:chOff x="324000" y="882466"/>
            <a:chExt cx="5579324" cy="1710563"/>
          </a:xfrm>
        </p:grpSpPr>
        <p:pic>
          <p:nvPicPr>
            <p:cNvPr id="1288" name="Google Shape;1288;p107"/>
            <p:cNvPicPr preferRelativeResize="0"/>
            <p:nvPr/>
          </p:nvPicPr>
          <p:blipFill>
            <a:blip r:embed="rId3">
              <a:alphaModFix/>
            </a:blip>
            <a:stretch>
              <a:fillRect/>
            </a:stretch>
          </p:blipFill>
          <p:spPr>
            <a:xfrm>
              <a:off x="324000" y="882466"/>
              <a:ext cx="5579324" cy="1710563"/>
            </a:xfrm>
            <a:prstGeom prst="rect">
              <a:avLst/>
            </a:prstGeom>
            <a:noFill/>
            <a:ln cap="flat" cmpd="sng" w="19050">
              <a:solidFill>
                <a:schemeClr val="dk1"/>
              </a:solidFill>
              <a:prstDash val="solid"/>
              <a:round/>
              <a:headEnd len="sm" w="sm" type="none"/>
              <a:tailEnd len="sm" w="sm" type="none"/>
            </a:ln>
          </p:spPr>
        </p:pic>
        <p:grpSp>
          <p:nvGrpSpPr>
            <p:cNvPr id="1289" name="Google Shape;1289;p107"/>
            <p:cNvGrpSpPr/>
            <p:nvPr/>
          </p:nvGrpSpPr>
          <p:grpSpPr>
            <a:xfrm>
              <a:off x="1076157" y="2222464"/>
              <a:ext cx="76799" cy="60476"/>
              <a:chOff x="776825" y="2447425"/>
              <a:chExt cx="58500" cy="78225"/>
            </a:xfrm>
          </p:grpSpPr>
          <p:cxnSp>
            <p:nvCxnSpPr>
              <p:cNvPr id="1290" name="Google Shape;1290;p107"/>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291" name="Google Shape;1291;p107"/>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grpSp>
        <p:nvGrpSpPr>
          <p:cNvPr id="1292" name="Google Shape;1292;p107"/>
          <p:cNvGrpSpPr/>
          <p:nvPr/>
        </p:nvGrpSpPr>
        <p:grpSpPr>
          <a:xfrm>
            <a:off x="324013" y="2626881"/>
            <a:ext cx="5049779" cy="1700908"/>
            <a:chOff x="324001" y="2569478"/>
            <a:chExt cx="5243799" cy="1766259"/>
          </a:xfrm>
        </p:grpSpPr>
        <p:pic>
          <p:nvPicPr>
            <p:cNvPr id="1293" name="Google Shape;1293;p107"/>
            <p:cNvPicPr preferRelativeResize="0"/>
            <p:nvPr/>
          </p:nvPicPr>
          <p:blipFill>
            <a:blip r:embed="rId4">
              <a:alphaModFix/>
            </a:blip>
            <a:stretch>
              <a:fillRect/>
            </a:stretch>
          </p:blipFill>
          <p:spPr>
            <a:xfrm>
              <a:off x="324001" y="2569478"/>
              <a:ext cx="5243799" cy="1766259"/>
            </a:xfrm>
            <a:prstGeom prst="rect">
              <a:avLst/>
            </a:prstGeom>
            <a:noFill/>
            <a:ln cap="flat" cmpd="sng" w="19050">
              <a:solidFill>
                <a:schemeClr val="dk1"/>
              </a:solidFill>
              <a:prstDash val="solid"/>
              <a:round/>
              <a:headEnd len="sm" w="sm" type="none"/>
              <a:tailEnd len="sm" w="sm" type="none"/>
            </a:ln>
          </p:spPr>
        </p:pic>
        <p:grpSp>
          <p:nvGrpSpPr>
            <p:cNvPr id="1294" name="Google Shape;1294;p107"/>
            <p:cNvGrpSpPr/>
            <p:nvPr/>
          </p:nvGrpSpPr>
          <p:grpSpPr>
            <a:xfrm>
              <a:off x="1117532" y="3930943"/>
              <a:ext cx="76799" cy="60476"/>
              <a:chOff x="776825" y="2447425"/>
              <a:chExt cx="58500" cy="78225"/>
            </a:xfrm>
          </p:grpSpPr>
          <p:cxnSp>
            <p:nvCxnSpPr>
              <p:cNvPr id="1295" name="Google Shape;1295;p107"/>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296" name="Google Shape;1296;p107"/>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8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108"/>
          <p:cNvSpPr txBox="1"/>
          <p:nvPr/>
        </p:nvSpPr>
        <p:spPr>
          <a:xfrm>
            <a:off x="5995950" y="882475"/>
            <a:ext cx="2823900" cy="304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Complete this possible conclusion using both graphs:</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Because the long-term trend is that the number of days of air frost per month is decreasing over time, the mean daily minimum temperature is </a:t>
            </a:r>
            <a:r>
              <a:rPr lang="en-GB" sz="1700">
                <a:latin typeface="Times New Roman"/>
                <a:ea typeface="Times New Roman"/>
                <a:cs typeface="Times New Roman"/>
                <a:sym typeface="Times New Roman"/>
              </a:rPr>
              <a:t>_____________</a:t>
            </a:r>
            <a:r>
              <a:rPr lang="en-GB" sz="1800">
                <a:latin typeface="Lexend"/>
                <a:ea typeface="Lexend"/>
                <a:cs typeface="Lexend"/>
                <a:sym typeface="Lexend"/>
              </a:rPr>
              <a:t> over time.</a:t>
            </a:r>
            <a:endParaRPr sz="1800">
              <a:latin typeface="Lexend"/>
              <a:ea typeface="Lexend"/>
              <a:cs typeface="Lexend"/>
              <a:sym typeface="Lexend"/>
            </a:endParaRPr>
          </a:p>
        </p:txBody>
      </p:sp>
      <p:sp>
        <p:nvSpPr>
          <p:cNvPr id="1302" name="Google Shape;1302;p10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303" name="Google Shape;1303;p108"/>
          <p:cNvSpPr txBox="1"/>
          <p:nvPr/>
        </p:nvSpPr>
        <p:spPr>
          <a:xfrm>
            <a:off x="5995950" y="3617416"/>
            <a:ext cx="1404900" cy="307800"/>
          </a:xfrm>
          <a:prstGeom prst="rect">
            <a:avLst/>
          </a:prstGeom>
          <a:solidFill>
            <a:srgbClr val="E6F2F2"/>
          </a:solidFill>
          <a:ln>
            <a:noFill/>
          </a:ln>
        </p:spPr>
        <p:txBody>
          <a:bodyPr anchorCtr="0" anchor="b"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increasing</a:t>
            </a:r>
            <a:endParaRPr sz="2000">
              <a:latin typeface="Kalam"/>
              <a:ea typeface="Kalam"/>
              <a:cs typeface="Kalam"/>
              <a:sym typeface="Kalam"/>
            </a:endParaRPr>
          </a:p>
        </p:txBody>
      </p:sp>
      <p:sp>
        <p:nvSpPr>
          <p:cNvPr id="1304" name="Google Shape;1304;p108"/>
          <p:cNvSpPr txBox="1"/>
          <p:nvPr/>
        </p:nvSpPr>
        <p:spPr>
          <a:xfrm>
            <a:off x="324000" y="608815"/>
            <a:ext cx="5579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number of days of air frost each month</a:t>
            </a:r>
            <a:endParaRPr sz="1600">
              <a:solidFill>
                <a:srgbClr val="000000"/>
              </a:solidFill>
              <a:latin typeface="Lexend"/>
              <a:ea typeface="Lexend"/>
              <a:cs typeface="Lexend"/>
              <a:sym typeface="Lexend"/>
            </a:endParaRPr>
          </a:p>
        </p:txBody>
      </p:sp>
      <p:sp>
        <p:nvSpPr>
          <p:cNvPr id="1305" name="Google Shape;1305;p108"/>
          <p:cNvSpPr txBox="1"/>
          <p:nvPr/>
        </p:nvSpPr>
        <p:spPr>
          <a:xfrm>
            <a:off x="324000" y="4327800"/>
            <a:ext cx="38424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mean daily minimum temperature vs. number of days of air frost</a:t>
            </a:r>
            <a:endParaRPr sz="1600">
              <a:solidFill>
                <a:srgbClr val="000000"/>
              </a:solidFill>
              <a:latin typeface="Lexend"/>
              <a:ea typeface="Lexend"/>
              <a:cs typeface="Lexend"/>
              <a:sym typeface="Lexend"/>
            </a:endParaRPr>
          </a:p>
        </p:txBody>
      </p:sp>
      <p:grpSp>
        <p:nvGrpSpPr>
          <p:cNvPr id="1306" name="Google Shape;1306;p108"/>
          <p:cNvGrpSpPr/>
          <p:nvPr/>
        </p:nvGrpSpPr>
        <p:grpSpPr>
          <a:xfrm>
            <a:off x="324012" y="882514"/>
            <a:ext cx="5372889" cy="1647272"/>
            <a:chOff x="324000" y="882466"/>
            <a:chExt cx="5579324" cy="1710563"/>
          </a:xfrm>
        </p:grpSpPr>
        <p:pic>
          <p:nvPicPr>
            <p:cNvPr id="1307" name="Google Shape;1307;p108"/>
            <p:cNvPicPr preferRelativeResize="0"/>
            <p:nvPr/>
          </p:nvPicPr>
          <p:blipFill>
            <a:blip r:embed="rId3">
              <a:alphaModFix/>
            </a:blip>
            <a:stretch>
              <a:fillRect/>
            </a:stretch>
          </p:blipFill>
          <p:spPr>
            <a:xfrm>
              <a:off x="324000" y="882466"/>
              <a:ext cx="5579324" cy="1710563"/>
            </a:xfrm>
            <a:prstGeom prst="rect">
              <a:avLst/>
            </a:prstGeom>
            <a:noFill/>
            <a:ln cap="flat" cmpd="sng" w="19050">
              <a:solidFill>
                <a:schemeClr val="dk1"/>
              </a:solidFill>
              <a:prstDash val="solid"/>
              <a:round/>
              <a:headEnd len="sm" w="sm" type="none"/>
              <a:tailEnd len="sm" w="sm" type="none"/>
            </a:ln>
          </p:spPr>
        </p:pic>
        <p:grpSp>
          <p:nvGrpSpPr>
            <p:cNvPr id="1308" name="Google Shape;1308;p108"/>
            <p:cNvGrpSpPr/>
            <p:nvPr/>
          </p:nvGrpSpPr>
          <p:grpSpPr>
            <a:xfrm>
              <a:off x="1076157" y="2222464"/>
              <a:ext cx="76799" cy="60476"/>
              <a:chOff x="776825" y="2447425"/>
              <a:chExt cx="58500" cy="78225"/>
            </a:xfrm>
          </p:grpSpPr>
          <p:cxnSp>
            <p:nvCxnSpPr>
              <p:cNvPr id="1309" name="Google Shape;1309;p108"/>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310" name="Google Shape;1310;p108"/>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grpSp>
        <p:nvGrpSpPr>
          <p:cNvPr id="1311" name="Google Shape;1311;p108"/>
          <p:cNvGrpSpPr/>
          <p:nvPr/>
        </p:nvGrpSpPr>
        <p:grpSpPr>
          <a:xfrm>
            <a:off x="324013" y="2626881"/>
            <a:ext cx="5049779" cy="1700908"/>
            <a:chOff x="324001" y="2569478"/>
            <a:chExt cx="5243799" cy="1766259"/>
          </a:xfrm>
        </p:grpSpPr>
        <p:pic>
          <p:nvPicPr>
            <p:cNvPr id="1312" name="Google Shape;1312;p108"/>
            <p:cNvPicPr preferRelativeResize="0"/>
            <p:nvPr/>
          </p:nvPicPr>
          <p:blipFill>
            <a:blip r:embed="rId4">
              <a:alphaModFix/>
            </a:blip>
            <a:stretch>
              <a:fillRect/>
            </a:stretch>
          </p:blipFill>
          <p:spPr>
            <a:xfrm>
              <a:off x="324001" y="2569478"/>
              <a:ext cx="5243799" cy="1766259"/>
            </a:xfrm>
            <a:prstGeom prst="rect">
              <a:avLst/>
            </a:prstGeom>
            <a:noFill/>
            <a:ln cap="flat" cmpd="sng" w="19050">
              <a:solidFill>
                <a:schemeClr val="dk1"/>
              </a:solidFill>
              <a:prstDash val="solid"/>
              <a:round/>
              <a:headEnd len="sm" w="sm" type="none"/>
              <a:tailEnd len="sm" w="sm" type="none"/>
            </a:ln>
          </p:spPr>
        </p:pic>
        <p:grpSp>
          <p:nvGrpSpPr>
            <p:cNvPr id="1313" name="Google Shape;1313;p108"/>
            <p:cNvGrpSpPr/>
            <p:nvPr/>
          </p:nvGrpSpPr>
          <p:grpSpPr>
            <a:xfrm>
              <a:off x="1117532" y="3930943"/>
              <a:ext cx="76799" cy="60476"/>
              <a:chOff x="776825" y="2447425"/>
              <a:chExt cx="58500" cy="78225"/>
            </a:xfrm>
          </p:grpSpPr>
          <p:cxnSp>
            <p:nvCxnSpPr>
              <p:cNvPr id="1314" name="Google Shape;1314;p108"/>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315" name="Google Shape;1315;p108"/>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09"/>
          <p:cNvSpPr txBox="1"/>
          <p:nvPr/>
        </p:nvSpPr>
        <p:spPr>
          <a:xfrm>
            <a:off x="324000" y="3692050"/>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However, the extent to which a conclusion is accurate may depend on the validity of the comparisons made between the two graphs.</a:t>
            </a:r>
            <a:endParaRPr sz="1800">
              <a:solidFill>
                <a:srgbClr val="000000"/>
              </a:solidFill>
              <a:latin typeface="Lexend"/>
              <a:ea typeface="Lexend"/>
              <a:cs typeface="Lexend"/>
              <a:sym typeface="Lexend"/>
            </a:endParaRPr>
          </a:p>
        </p:txBody>
      </p:sp>
      <p:sp>
        <p:nvSpPr>
          <p:cNvPr id="1321" name="Google Shape;1321;p10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322" name="Google Shape;1322;p109"/>
          <p:cNvPicPr preferRelativeResize="0"/>
          <p:nvPr/>
        </p:nvPicPr>
        <p:blipFill rotWithShape="1">
          <a:blip r:embed="rId3">
            <a:alphaModFix/>
          </a:blip>
          <a:srcRect b="0" l="0" r="0" t="13666"/>
          <a:stretch/>
        </p:blipFill>
        <p:spPr>
          <a:xfrm>
            <a:off x="324000" y="680550"/>
            <a:ext cx="3007325" cy="1011422"/>
          </a:xfrm>
          <a:prstGeom prst="rect">
            <a:avLst/>
          </a:prstGeom>
          <a:noFill/>
          <a:ln cap="flat" cmpd="sng" w="19050">
            <a:solidFill>
              <a:schemeClr val="dk1"/>
            </a:solidFill>
            <a:prstDash val="solid"/>
            <a:round/>
            <a:headEnd len="sm" w="sm" type="none"/>
            <a:tailEnd len="sm" w="sm" type="none"/>
          </a:ln>
        </p:spPr>
      </p:pic>
      <p:sp>
        <p:nvSpPr>
          <p:cNvPr id="1323" name="Google Shape;1323;p109"/>
          <p:cNvSpPr txBox="1"/>
          <p:nvPr/>
        </p:nvSpPr>
        <p:spPr>
          <a:xfrm>
            <a:off x="3530150" y="1767625"/>
            <a:ext cx="52899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second graph shows data from the Met Office on the </a:t>
            </a:r>
            <a:r>
              <a:rPr lang="en-GB" sz="1800">
                <a:solidFill>
                  <a:schemeClr val="accent4"/>
                </a:solidFill>
                <a:latin typeface="Lexend"/>
                <a:ea typeface="Lexend"/>
                <a:cs typeface="Lexend"/>
                <a:sym typeface="Lexend"/>
              </a:rPr>
              <a:t>mean daily maximum temperature</a:t>
            </a:r>
            <a:r>
              <a:rPr lang="en-GB" sz="1800">
                <a:latin typeface="Lexend"/>
                <a:ea typeface="Lexend"/>
                <a:cs typeface="Lexend"/>
                <a:sym typeface="Lexend"/>
              </a:rPr>
              <a:t> and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for every month</a:t>
            </a:r>
            <a:r>
              <a:rPr lang="en-GB" sz="1800">
                <a:solidFill>
                  <a:srgbClr val="000000"/>
                </a:solidFill>
                <a:latin typeface="Lexend"/>
                <a:ea typeface="Lexend"/>
                <a:cs typeface="Lexend"/>
                <a:sym typeface="Lexend"/>
              </a:rPr>
              <a:t> </a:t>
            </a:r>
            <a:r>
              <a:rPr lang="en-GB" sz="1800">
                <a:latin typeface="Lexend"/>
                <a:ea typeface="Lexend"/>
                <a:cs typeface="Lexend"/>
                <a:sym typeface="Lexend"/>
              </a:rPr>
              <a:t>from 1990 to 2022 in Sheffield.</a:t>
            </a:r>
            <a:endParaRPr sz="1800">
              <a:solidFill>
                <a:srgbClr val="000000"/>
              </a:solidFill>
              <a:latin typeface="Lexend"/>
              <a:ea typeface="Lexend"/>
              <a:cs typeface="Lexend"/>
              <a:sym typeface="Lexend"/>
            </a:endParaRPr>
          </a:p>
        </p:txBody>
      </p:sp>
      <p:sp>
        <p:nvSpPr>
          <p:cNvPr id="1324" name="Google Shape;1324;p109"/>
          <p:cNvSpPr txBox="1"/>
          <p:nvPr/>
        </p:nvSpPr>
        <p:spPr>
          <a:xfrm>
            <a:off x="3530100" y="680700"/>
            <a:ext cx="52899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This graph shows data from the Met Office on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in January</a:t>
            </a:r>
            <a:r>
              <a:rPr lang="en-GB" sz="1800">
                <a:solidFill>
                  <a:srgbClr val="000000"/>
                </a:solidFill>
                <a:latin typeface="Lexend"/>
                <a:ea typeface="Lexend"/>
                <a:cs typeface="Lexend"/>
                <a:sym typeface="Lexend"/>
              </a:rPr>
              <a:t> </a:t>
            </a:r>
            <a:r>
              <a:rPr lang="en-GB" sz="1800">
                <a:latin typeface="Lexend"/>
                <a:ea typeface="Lexend"/>
                <a:cs typeface="Lexend"/>
                <a:sym typeface="Lexend"/>
              </a:rPr>
              <a:t>each year from 1941 to 2022 in Sheffield.</a:t>
            </a:r>
            <a:endParaRPr sz="1800">
              <a:solidFill>
                <a:srgbClr val="000000"/>
              </a:solidFill>
              <a:latin typeface="Lexend"/>
              <a:ea typeface="Lexend"/>
              <a:cs typeface="Lexend"/>
              <a:sym typeface="Lexend"/>
            </a:endParaRPr>
          </a:p>
        </p:txBody>
      </p:sp>
      <p:pic>
        <p:nvPicPr>
          <p:cNvPr id="1325" name="Google Shape;1325;p109"/>
          <p:cNvPicPr preferRelativeResize="0"/>
          <p:nvPr/>
        </p:nvPicPr>
        <p:blipFill>
          <a:blip r:embed="rId4">
            <a:alphaModFix/>
          </a:blip>
          <a:stretch>
            <a:fillRect/>
          </a:stretch>
        </p:blipFill>
        <p:spPr>
          <a:xfrm>
            <a:off x="324000" y="1842992"/>
            <a:ext cx="3007325" cy="1135108"/>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grpSp>
        <p:nvGrpSpPr>
          <p:cNvPr id="1330" name="Google Shape;1330;p110"/>
          <p:cNvGrpSpPr/>
          <p:nvPr/>
        </p:nvGrpSpPr>
        <p:grpSpPr>
          <a:xfrm>
            <a:off x="4572000" y="930475"/>
            <a:ext cx="3899278" cy="1972250"/>
            <a:chOff x="4572000" y="930475"/>
            <a:chExt cx="3899278" cy="1972250"/>
          </a:xfrm>
        </p:grpSpPr>
        <p:sp>
          <p:nvSpPr>
            <p:cNvPr id="1331" name="Google Shape;1331;p110"/>
            <p:cNvSpPr/>
            <p:nvPr/>
          </p:nvSpPr>
          <p:spPr>
            <a:xfrm>
              <a:off x="4572000" y="2580525"/>
              <a:ext cx="1436100" cy="322200"/>
            </a:xfrm>
            <a:prstGeom prst="rect">
              <a:avLst/>
            </a:prstGeom>
            <a:solidFill>
              <a:srgbClr val="FAEAF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2" name="Google Shape;1332;p110"/>
            <p:cNvSpPr/>
            <p:nvPr/>
          </p:nvSpPr>
          <p:spPr>
            <a:xfrm>
              <a:off x="7421578" y="930475"/>
              <a:ext cx="1049700" cy="322200"/>
            </a:xfrm>
            <a:prstGeom prst="rect">
              <a:avLst/>
            </a:prstGeom>
            <a:solidFill>
              <a:srgbClr val="FAEAF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33" name="Google Shape;1333;p110"/>
          <p:cNvGrpSpPr/>
          <p:nvPr/>
        </p:nvGrpSpPr>
        <p:grpSpPr>
          <a:xfrm>
            <a:off x="5263254" y="1207850"/>
            <a:ext cx="2787496" cy="1694875"/>
            <a:chOff x="5263254" y="1207850"/>
            <a:chExt cx="2787496" cy="1694875"/>
          </a:xfrm>
        </p:grpSpPr>
        <p:sp>
          <p:nvSpPr>
            <p:cNvPr id="1334" name="Google Shape;1334;p110"/>
            <p:cNvSpPr/>
            <p:nvPr/>
          </p:nvSpPr>
          <p:spPr>
            <a:xfrm>
              <a:off x="6614650" y="2580525"/>
              <a:ext cx="1436100" cy="322200"/>
            </a:xfrm>
            <a:prstGeom prst="rect">
              <a:avLst/>
            </a:prstGeom>
            <a:solidFill>
              <a:srgbClr val="E6F2F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5" name="Google Shape;1335;p110"/>
            <p:cNvSpPr/>
            <p:nvPr/>
          </p:nvSpPr>
          <p:spPr>
            <a:xfrm>
              <a:off x="5263254" y="1207850"/>
              <a:ext cx="1429500" cy="322200"/>
            </a:xfrm>
            <a:prstGeom prst="rect">
              <a:avLst/>
            </a:prstGeom>
            <a:solidFill>
              <a:srgbClr val="E6F2F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336" name="Google Shape;1336;p11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337" name="Google Shape;1337;p110"/>
          <p:cNvPicPr preferRelativeResize="0"/>
          <p:nvPr/>
        </p:nvPicPr>
        <p:blipFill rotWithShape="1">
          <a:blip r:embed="rId3">
            <a:alphaModFix/>
          </a:blip>
          <a:srcRect b="0" l="0" r="0" t="13666"/>
          <a:stretch/>
        </p:blipFill>
        <p:spPr>
          <a:xfrm>
            <a:off x="324000" y="680550"/>
            <a:ext cx="3007325" cy="1011422"/>
          </a:xfrm>
          <a:prstGeom prst="rect">
            <a:avLst/>
          </a:prstGeom>
          <a:noFill/>
          <a:ln cap="flat" cmpd="sng" w="19050">
            <a:solidFill>
              <a:schemeClr val="dk1"/>
            </a:solidFill>
            <a:prstDash val="solid"/>
            <a:round/>
            <a:headEnd len="sm" w="sm" type="none"/>
            <a:tailEnd len="sm" w="sm" type="none"/>
          </a:ln>
        </p:spPr>
      </p:pic>
      <p:sp>
        <p:nvSpPr>
          <p:cNvPr id="1338" name="Google Shape;1338;p110"/>
          <p:cNvSpPr txBox="1"/>
          <p:nvPr/>
        </p:nvSpPr>
        <p:spPr>
          <a:xfrm>
            <a:off x="3530150" y="1767625"/>
            <a:ext cx="52899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second graph shows data from the Met Office on the </a:t>
            </a:r>
            <a:r>
              <a:rPr lang="en-GB" sz="1800">
                <a:solidFill>
                  <a:schemeClr val="accent4"/>
                </a:solidFill>
                <a:latin typeface="Lexend"/>
                <a:ea typeface="Lexend"/>
                <a:cs typeface="Lexend"/>
                <a:sym typeface="Lexend"/>
              </a:rPr>
              <a:t>mean daily maximum temperature</a:t>
            </a:r>
            <a:r>
              <a:rPr lang="en-GB" sz="1800">
                <a:latin typeface="Lexend"/>
                <a:ea typeface="Lexend"/>
                <a:cs typeface="Lexend"/>
                <a:sym typeface="Lexend"/>
              </a:rPr>
              <a:t> and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for every month</a:t>
            </a:r>
            <a:r>
              <a:rPr lang="en-GB" sz="1800">
                <a:solidFill>
                  <a:srgbClr val="000000"/>
                </a:solidFill>
                <a:latin typeface="Lexend"/>
                <a:ea typeface="Lexend"/>
                <a:cs typeface="Lexend"/>
                <a:sym typeface="Lexend"/>
              </a:rPr>
              <a:t> </a:t>
            </a:r>
            <a:r>
              <a:rPr lang="en-GB" sz="1800">
                <a:latin typeface="Lexend"/>
                <a:ea typeface="Lexend"/>
                <a:cs typeface="Lexend"/>
                <a:sym typeface="Lexend"/>
              </a:rPr>
              <a:t>from 1990 to 2022 in Sheffield.</a:t>
            </a:r>
            <a:endParaRPr sz="1800">
              <a:solidFill>
                <a:srgbClr val="000000"/>
              </a:solidFill>
              <a:latin typeface="Lexend"/>
              <a:ea typeface="Lexend"/>
              <a:cs typeface="Lexend"/>
              <a:sym typeface="Lexend"/>
            </a:endParaRPr>
          </a:p>
        </p:txBody>
      </p:sp>
      <p:sp>
        <p:nvSpPr>
          <p:cNvPr id="1339" name="Google Shape;1339;p110"/>
          <p:cNvSpPr txBox="1"/>
          <p:nvPr/>
        </p:nvSpPr>
        <p:spPr>
          <a:xfrm>
            <a:off x="3530100" y="680700"/>
            <a:ext cx="52899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This graph shows data from the Met Office on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in January</a:t>
            </a:r>
            <a:r>
              <a:rPr lang="en-GB" sz="1800">
                <a:solidFill>
                  <a:srgbClr val="000000"/>
                </a:solidFill>
                <a:latin typeface="Lexend"/>
                <a:ea typeface="Lexend"/>
                <a:cs typeface="Lexend"/>
                <a:sym typeface="Lexend"/>
              </a:rPr>
              <a:t> </a:t>
            </a:r>
            <a:r>
              <a:rPr lang="en-GB" sz="1800">
                <a:latin typeface="Lexend"/>
                <a:ea typeface="Lexend"/>
                <a:cs typeface="Lexend"/>
                <a:sym typeface="Lexend"/>
              </a:rPr>
              <a:t>each year from 1941 to 2022 in Sheffield.</a:t>
            </a:r>
            <a:endParaRPr sz="1800">
              <a:solidFill>
                <a:srgbClr val="000000"/>
              </a:solidFill>
              <a:latin typeface="Lexend"/>
              <a:ea typeface="Lexend"/>
              <a:cs typeface="Lexend"/>
              <a:sym typeface="Lexend"/>
            </a:endParaRPr>
          </a:p>
        </p:txBody>
      </p:sp>
      <p:sp>
        <p:nvSpPr>
          <p:cNvPr id="1340" name="Google Shape;1340;p110"/>
          <p:cNvSpPr txBox="1"/>
          <p:nvPr/>
        </p:nvSpPr>
        <p:spPr>
          <a:xfrm>
            <a:off x="324000" y="3417075"/>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One graph shows data from only the January of each year, whilst the other shows data from every month of each year.</a:t>
            </a:r>
            <a:endParaRPr sz="1800">
              <a:latin typeface="Lexend"/>
              <a:ea typeface="Lexend"/>
              <a:cs typeface="Lexend"/>
              <a:sym typeface="Lexend"/>
            </a:endParaRPr>
          </a:p>
        </p:txBody>
      </p:sp>
      <p:sp>
        <p:nvSpPr>
          <p:cNvPr id="1341" name="Google Shape;1341;p110"/>
          <p:cNvSpPr txBox="1"/>
          <p:nvPr/>
        </p:nvSpPr>
        <p:spPr>
          <a:xfrm>
            <a:off x="324000" y="4040825"/>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timeframes across both graphs are also different, with the long-term trends from the first graph accounting for more years of data than the second.</a:t>
            </a:r>
            <a:endParaRPr sz="1800">
              <a:latin typeface="Lexend"/>
              <a:ea typeface="Lexend"/>
              <a:cs typeface="Lexend"/>
              <a:sym typeface="Lexend"/>
            </a:endParaRPr>
          </a:p>
        </p:txBody>
      </p:sp>
      <p:pic>
        <p:nvPicPr>
          <p:cNvPr id="1342" name="Google Shape;1342;p110"/>
          <p:cNvPicPr preferRelativeResize="0"/>
          <p:nvPr/>
        </p:nvPicPr>
        <p:blipFill>
          <a:blip r:embed="rId4">
            <a:alphaModFix/>
          </a:blip>
          <a:stretch>
            <a:fillRect/>
          </a:stretch>
        </p:blipFill>
        <p:spPr>
          <a:xfrm>
            <a:off x="324000" y="1842992"/>
            <a:ext cx="3007325" cy="1135108"/>
          </a:xfrm>
          <a:prstGeom prst="rect">
            <a:avLst/>
          </a:prstGeom>
          <a:noFill/>
          <a:ln cap="flat" cmpd="sng" w="19050">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3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grpSp>
        <p:nvGrpSpPr>
          <p:cNvPr id="1347" name="Google Shape;1347;p111"/>
          <p:cNvGrpSpPr/>
          <p:nvPr/>
        </p:nvGrpSpPr>
        <p:grpSpPr>
          <a:xfrm>
            <a:off x="4572000" y="930475"/>
            <a:ext cx="3899278" cy="1972250"/>
            <a:chOff x="4572000" y="930475"/>
            <a:chExt cx="3899278" cy="1972250"/>
          </a:xfrm>
        </p:grpSpPr>
        <p:sp>
          <p:nvSpPr>
            <p:cNvPr id="1348" name="Google Shape;1348;p111"/>
            <p:cNvSpPr/>
            <p:nvPr/>
          </p:nvSpPr>
          <p:spPr>
            <a:xfrm>
              <a:off x="4572000" y="2580525"/>
              <a:ext cx="1436100" cy="322200"/>
            </a:xfrm>
            <a:prstGeom prst="rect">
              <a:avLst/>
            </a:prstGeom>
            <a:solidFill>
              <a:srgbClr val="FAEAF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9" name="Google Shape;1349;p111"/>
            <p:cNvSpPr/>
            <p:nvPr/>
          </p:nvSpPr>
          <p:spPr>
            <a:xfrm>
              <a:off x="7421578" y="930475"/>
              <a:ext cx="1049700" cy="322200"/>
            </a:xfrm>
            <a:prstGeom prst="rect">
              <a:avLst/>
            </a:prstGeom>
            <a:solidFill>
              <a:srgbClr val="FAEAF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50" name="Google Shape;1350;p111"/>
          <p:cNvGrpSpPr/>
          <p:nvPr/>
        </p:nvGrpSpPr>
        <p:grpSpPr>
          <a:xfrm>
            <a:off x="5263254" y="1207850"/>
            <a:ext cx="2787496" cy="1694875"/>
            <a:chOff x="5263254" y="1207850"/>
            <a:chExt cx="2787496" cy="1694875"/>
          </a:xfrm>
        </p:grpSpPr>
        <p:sp>
          <p:nvSpPr>
            <p:cNvPr id="1351" name="Google Shape;1351;p111"/>
            <p:cNvSpPr/>
            <p:nvPr/>
          </p:nvSpPr>
          <p:spPr>
            <a:xfrm>
              <a:off x="6614650" y="2580525"/>
              <a:ext cx="1436100" cy="322200"/>
            </a:xfrm>
            <a:prstGeom prst="rect">
              <a:avLst/>
            </a:prstGeom>
            <a:solidFill>
              <a:srgbClr val="E6F2F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2" name="Google Shape;1352;p111"/>
            <p:cNvSpPr/>
            <p:nvPr/>
          </p:nvSpPr>
          <p:spPr>
            <a:xfrm>
              <a:off x="5263254" y="1207850"/>
              <a:ext cx="1429500" cy="322200"/>
            </a:xfrm>
            <a:prstGeom prst="rect">
              <a:avLst/>
            </a:prstGeom>
            <a:solidFill>
              <a:srgbClr val="E6F2F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353" name="Google Shape;1353;p11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354" name="Google Shape;1354;p111"/>
          <p:cNvPicPr preferRelativeResize="0"/>
          <p:nvPr/>
        </p:nvPicPr>
        <p:blipFill rotWithShape="1">
          <a:blip r:embed="rId3">
            <a:alphaModFix/>
          </a:blip>
          <a:srcRect b="0" l="0" r="0" t="13666"/>
          <a:stretch/>
        </p:blipFill>
        <p:spPr>
          <a:xfrm>
            <a:off x="324000" y="680550"/>
            <a:ext cx="3007325" cy="1011422"/>
          </a:xfrm>
          <a:prstGeom prst="rect">
            <a:avLst/>
          </a:prstGeom>
          <a:noFill/>
          <a:ln cap="flat" cmpd="sng" w="19050">
            <a:solidFill>
              <a:schemeClr val="dk1"/>
            </a:solidFill>
            <a:prstDash val="solid"/>
            <a:round/>
            <a:headEnd len="sm" w="sm" type="none"/>
            <a:tailEnd len="sm" w="sm" type="none"/>
          </a:ln>
        </p:spPr>
      </p:pic>
      <p:pic>
        <p:nvPicPr>
          <p:cNvPr id="1355" name="Google Shape;1355;p111"/>
          <p:cNvPicPr preferRelativeResize="0"/>
          <p:nvPr/>
        </p:nvPicPr>
        <p:blipFill>
          <a:blip r:embed="rId4">
            <a:alphaModFix/>
          </a:blip>
          <a:stretch>
            <a:fillRect/>
          </a:stretch>
        </p:blipFill>
        <p:spPr>
          <a:xfrm>
            <a:off x="324000" y="1842992"/>
            <a:ext cx="3007325" cy="1135108"/>
          </a:xfrm>
          <a:prstGeom prst="rect">
            <a:avLst/>
          </a:prstGeom>
          <a:noFill/>
          <a:ln cap="flat" cmpd="sng" w="19050">
            <a:solidFill>
              <a:schemeClr val="dk1"/>
            </a:solidFill>
            <a:prstDash val="solid"/>
            <a:round/>
            <a:headEnd len="sm" w="sm" type="none"/>
            <a:tailEnd len="sm" w="sm" type="none"/>
          </a:ln>
        </p:spPr>
      </p:pic>
      <p:sp>
        <p:nvSpPr>
          <p:cNvPr id="1356" name="Google Shape;1356;p111"/>
          <p:cNvSpPr txBox="1"/>
          <p:nvPr/>
        </p:nvSpPr>
        <p:spPr>
          <a:xfrm>
            <a:off x="324000" y="3569475"/>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conclusion of “</a:t>
            </a:r>
            <a:r>
              <a:rPr lang="en-GB" sz="1800">
                <a:solidFill>
                  <a:schemeClr val="dk1"/>
                </a:solidFill>
                <a:latin typeface="Lexend"/>
                <a:ea typeface="Lexend"/>
                <a:cs typeface="Lexend"/>
                <a:sym typeface="Lexend"/>
              </a:rPr>
              <a:t>the maximum temperature may also increase over time</a:t>
            </a:r>
            <a:r>
              <a:rPr lang="en-GB" sz="1800">
                <a:latin typeface="Lexend"/>
                <a:ea typeface="Lexend"/>
                <a:cs typeface="Lexend"/>
                <a:sym typeface="Lexend"/>
              </a:rPr>
              <a:t>” may not be accurate, as only a small proportion of the data from each group has been taken from the same periods of time.</a:t>
            </a:r>
            <a:endParaRPr sz="1800">
              <a:latin typeface="Lexend"/>
              <a:ea typeface="Lexend"/>
              <a:cs typeface="Lexend"/>
              <a:sym typeface="Lexend"/>
            </a:endParaRPr>
          </a:p>
        </p:txBody>
      </p:sp>
      <p:sp>
        <p:nvSpPr>
          <p:cNvPr id="1357" name="Google Shape;1357;p111"/>
          <p:cNvSpPr txBox="1"/>
          <p:nvPr/>
        </p:nvSpPr>
        <p:spPr>
          <a:xfrm>
            <a:off x="3530150" y="1767625"/>
            <a:ext cx="52899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second graph shows data from the Met Office on the </a:t>
            </a:r>
            <a:r>
              <a:rPr lang="en-GB" sz="1800">
                <a:solidFill>
                  <a:schemeClr val="accent4"/>
                </a:solidFill>
                <a:latin typeface="Lexend"/>
                <a:ea typeface="Lexend"/>
                <a:cs typeface="Lexend"/>
                <a:sym typeface="Lexend"/>
              </a:rPr>
              <a:t>mean daily maximum temperature</a:t>
            </a:r>
            <a:r>
              <a:rPr lang="en-GB" sz="1800">
                <a:latin typeface="Lexend"/>
                <a:ea typeface="Lexend"/>
                <a:cs typeface="Lexend"/>
                <a:sym typeface="Lexend"/>
              </a:rPr>
              <a:t> and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for every month</a:t>
            </a:r>
            <a:r>
              <a:rPr lang="en-GB" sz="1800">
                <a:solidFill>
                  <a:srgbClr val="000000"/>
                </a:solidFill>
                <a:latin typeface="Lexend"/>
                <a:ea typeface="Lexend"/>
                <a:cs typeface="Lexend"/>
                <a:sym typeface="Lexend"/>
              </a:rPr>
              <a:t> </a:t>
            </a:r>
            <a:r>
              <a:rPr lang="en-GB" sz="1800">
                <a:latin typeface="Lexend"/>
                <a:ea typeface="Lexend"/>
                <a:cs typeface="Lexend"/>
                <a:sym typeface="Lexend"/>
              </a:rPr>
              <a:t>from 1990 to 2022 in Sheffield.</a:t>
            </a:r>
            <a:endParaRPr sz="1800">
              <a:solidFill>
                <a:srgbClr val="000000"/>
              </a:solidFill>
              <a:latin typeface="Lexend"/>
              <a:ea typeface="Lexend"/>
              <a:cs typeface="Lexend"/>
              <a:sym typeface="Lexend"/>
            </a:endParaRPr>
          </a:p>
        </p:txBody>
      </p:sp>
      <p:sp>
        <p:nvSpPr>
          <p:cNvPr id="1358" name="Google Shape;1358;p111"/>
          <p:cNvSpPr txBox="1"/>
          <p:nvPr/>
        </p:nvSpPr>
        <p:spPr>
          <a:xfrm>
            <a:off x="3530100" y="680700"/>
            <a:ext cx="52899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This graph shows data from the Met Office on the </a:t>
            </a:r>
            <a:r>
              <a:rPr lang="en-GB" sz="1800">
                <a:solidFill>
                  <a:schemeClr val="accent5"/>
                </a:solidFill>
                <a:latin typeface="Lexend"/>
                <a:ea typeface="Lexend"/>
                <a:cs typeface="Lexend"/>
                <a:sym typeface="Lexend"/>
              </a:rPr>
              <a:t>total monthly sunshine hours</a:t>
            </a:r>
            <a:r>
              <a:rPr lang="en-GB" sz="1800">
                <a:latin typeface="Lexend"/>
                <a:ea typeface="Lexend"/>
                <a:cs typeface="Lexend"/>
                <a:sym typeface="Lexend"/>
              </a:rPr>
              <a:t> in January</a:t>
            </a:r>
            <a:r>
              <a:rPr lang="en-GB" sz="1800">
                <a:solidFill>
                  <a:srgbClr val="000000"/>
                </a:solidFill>
                <a:latin typeface="Lexend"/>
                <a:ea typeface="Lexend"/>
                <a:cs typeface="Lexend"/>
                <a:sym typeface="Lexend"/>
              </a:rPr>
              <a:t> </a:t>
            </a:r>
            <a:r>
              <a:rPr lang="en-GB" sz="1800">
                <a:latin typeface="Lexend"/>
                <a:ea typeface="Lexend"/>
                <a:cs typeface="Lexend"/>
                <a:sym typeface="Lexend"/>
              </a:rPr>
              <a:t>each year from 1941 to 2022 in Sheffield.</a:t>
            </a:r>
            <a:endParaRPr sz="1800">
              <a:solidFill>
                <a:srgbClr val="000000"/>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12"/>
          <p:cNvSpPr txBox="1"/>
          <p:nvPr/>
        </p:nvSpPr>
        <p:spPr>
          <a:xfrm>
            <a:off x="324000" y="608815"/>
            <a:ext cx="5579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number of days of air frost each month</a:t>
            </a:r>
            <a:endParaRPr sz="1600">
              <a:solidFill>
                <a:srgbClr val="000000"/>
              </a:solidFill>
              <a:latin typeface="Lexend"/>
              <a:ea typeface="Lexend"/>
              <a:cs typeface="Lexend"/>
              <a:sym typeface="Lexend"/>
            </a:endParaRPr>
          </a:p>
        </p:txBody>
      </p:sp>
      <p:sp>
        <p:nvSpPr>
          <p:cNvPr id="1364" name="Google Shape;1364;p112"/>
          <p:cNvSpPr txBox="1"/>
          <p:nvPr/>
        </p:nvSpPr>
        <p:spPr>
          <a:xfrm>
            <a:off x="324000" y="4327800"/>
            <a:ext cx="38424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mean daily minimum temperature vs. number of days of air frost</a:t>
            </a:r>
            <a:endParaRPr sz="1600">
              <a:solidFill>
                <a:srgbClr val="000000"/>
              </a:solidFill>
              <a:latin typeface="Lexend"/>
              <a:ea typeface="Lexend"/>
              <a:cs typeface="Lexend"/>
              <a:sym typeface="Lexend"/>
            </a:endParaRPr>
          </a:p>
        </p:txBody>
      </p:sp>
      <p:sp>
        <p:nvSpPr>
          <p:cNvPr id="1365" name="Google Shape;1365;p11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grpSp>
        <p:nvGrpSpPr>
          <p:cNvPr id="1366" name="Google Shape;1366;p112"/>
          <p:cNvGrpSpPr/>
          <p:nvPr/>
        </p:nvGrpSpPr>
        <p:grpSpPr>
          <a:xfrm>
            <a:off x="324012" y="882514"/>
            <a:ext cx="5372889" cy="1647272"/>
            <a:chOff x="324000" y="882466"/>
            <a:chExt cx="5579324" cy="1710563"/>
          </a:xfrm>
        </p:grpSpPr>
        <p:pic>
          <p:nvPicPr>
            <p:cNvPr id="1367" name="Google Shape;1367;p112"/>
            <p:cNvPicPr preferRelativeResize="0"/>
            <p:nvPr/>
          </p:nvPicPr>
          <p:blipFill>
            <a:blip r:embed="rId3">
              <a:alphaModFix/>
            </a:blip>
            <a:stretch>
              <a:fillRect/>
            </a:stretch>
          </p:blipFill>
          <p:spPr>
            <a:xfrm>
              <a:off x="324000" y="882466"/>
              <a:ext cx="5579324" cy="1710563"/>
            </a:xfrm>
            <a:prstGeom prst="rect">
              <a:avLst/>
            </a:prstGeom>
            <a:noFill/>
            <a:ln cap="flat" cmpd="sng" w="19050">
              <a:solidFill>
                <a:schemeClr val="dk1"/>
              </a:solidFill>
              <a:prstDash val="solid"/>
              <a:round/>
              <a:headEnd len="sm" w="sm" type="none"/>
              <a:tailEnd len="sm" w="sm" type="none"/>
            </a:ln>
          </p:spPr>
        </p:pic>
        <p:grpSp>
          <p:nvGrpSpPr>
            <p:cNvPr id="1368" name="Google Shape;1368;p112"/>
            <p:cNvGrpSpPr/>
            <p:nvPr/>
          </p:nvGrpSpPr>
          <p:grpSpPr>
            <a:xfrm>
              <a:off x="1076157" y="2222464"/>
              <a:ext cx="76799" cy="60476"/>
              <a:chOff x="776825" y="2447425"/>
              <a:chExt cx="58500" cy="78225"/>
            </a:xfrm>
          </p:grpSpPr>
          <p:cxnSp>
            <p:nvCxnSpPr>
              <p:cNvPr id="1369" name="Google Shape;1369;p112"/>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370" name="Google Shape;1370;p112"/>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sp>
        <p:nvSpPr>
          <p:cNvPr id="1371" name="Google Shape;1371;p112"/>
          <p:cNvSpPr txBox="1"/>
          <p:nvPr/>
        </p:nvSpPr>
        <p:spPr>
          <a:xfrm>
            <a:off x="6127150" y="612150"/>
            <a:ext cx="26928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Both graphs show data in Oakfield for </a:t>
            </a:r>
            <a:r>
              <a:rPr lang="en-GB" sz="1800">
                <a:solidFill>
                  <a:schemeClr val="dk1"/>
                </a:solidFill>
                <a:latin typeface="Lexend"/>
                <a:ea typeface="Lexend"/>
                <a:cs typeface="Lexend"/>
                <a:sym typeface="Lexend"/>
              </a:rPr>
              <a:t>the months of January and February from 1970 to 2024.</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p:txBody>
      </p:sp>
      <p:sp>
        <p:nvSpPr>
          <p:cNvPr id="1372" name="Google Shape;1372;p112"/>
          <p:cNvSpPr txBox="1"/>
          <p:nvPr/>
        </p:nvSpPr>
        <p:spPr>
          <a:xfrm>
            <a:off x="5968550" y="2284350"/>
            <a:ext cx="28515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Give one reason why conclusions from comparing these two graphs may be accurate.</a:t>
            </a:r>
            <a:endParaRPr sz="1800">
              <a:latin typeface="Lexend"/>
              <a:ea typeface="Lexend"/>
              <a:cs typeface="Lexend"/>
              <a:sym typeface="Lexend"/>
            </a:endParaRPr>
          </a:p>
        </p:txBody>
      </p:sp>
      <p:grpSp>
        <p:nvGrpSpPr>
          <p:cNvPr id="1373" name="Google Shape;1373;p112"/>
          <p:cNvGrpSpPr/>
          <p:nvPr/>
        </p:nvGrpSpPr>
        <p:grpSpPr>
          <a:xfrm>
            <a:off x="324013" y="2626881"/>
            <a:ext cx="5049779" cy="1700908"/>
            <a:chOff x="324001" y="2569478"/>
            <a:chExt cx="5243799" cy="1766259"/>
          </a:xfrm>
        </p:grpSpPr>
        <p:pic>
          <p:nvPicPr>
            <p:cNvPr id="1374" name="Google Shape;1374;p112"/>
            <p:cNvPicPr preferRelativeResize="0"/>
            <p:nvPr/>
          </p:nvPicPr>
          <p:blipFill>
            <a:blip r:embed="rId4">
              <a:alphaModFix/>
            </a:blip>
            <a:stretch>
              <a:fillRect/>
            </a:stretch>
          </p:blipFill>
          <p:spPr>
            <a:xfrm>
              <a:off x="324001" y="2569478"/>
              <a:ext cx="5243799" cy="1766259"/>
            </a:xfrm>
            <a:prstGeom prst="rect">
              <a:avLst/>
            </a:prstGeom>
            <a:noFill/>
            <a:ln cap="flat" cmpd="sng" w="19050">
              <a:solidFill>
                <a:schemeClr val="dk1"/>
              </a:solidFill>
              <a:prstDash val="solid"/>
              <a:round/>
              <a:headEnd len="sm" w="sm" type="none"/>
              <a:tailEnd len="sm" w="sm" type="none"/>
            </a:ln>
          </p:spPr>
        </p:pic>
        <p:grpSp>
          <p:nvGrpSpPr>
            <p:cNvPr id="1375" name="Google Shape;1375;p112"/>
            <p:cNvGrpSpPr/>
            <p:nvPr/>
          </p:nvGrpSpPr>
          <p:grpSpPr>
            <a:xfrm>
              <a:off x="1117532" y="3930943"/>
              <a:ext cx="76799" cy="60476"/>
              <a:chOff x="776825" y="2447425"/>
              <a:chExt cx="58500" cy="78225"/>
            </a:xfrm>
          </p:grpSpPr>
          <p:cxnSp>
            <p:nvCxnSpPr>
              <p:cNvPr id="1376" name="Google Shape;1376;p112"/>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377" name="Google Shape;1377;p112"/>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sp>
        <p:nvSpPr>
          <p:cNvPr id="1378" name="Google Shape;1378;p112"/>
          <p:cNvSpPr txBox="1"/>
          <p:nvPr/>
        </p:nvSpPr>
        <p:spPr>
          <a:xfrm>
            <a:off x="5571100" y="3440925"/>
            <a:ext cx="32487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Both graphs show data from the same location and in the same time period (January &amp; February 1970 to 2024).</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graphicFrame>
        <p:nvGraphicFramePr>
          <p:cNvPr id="1383" name="Google Shape;1383;p113"/>
          <p:cNvGraphicFramePr/>
          <p:nvPr/>
        </p:nvGraphicFramePr>
        <p:xfrm>
          <a:off x="324050" y="674100"/>
          <a:ext cx="3000000" cy="3000000"/>
        </p:xfrm>
        <a:graphic>
          <a:graphicData uri="http://schemas.openxmlformats.org/drawingml/2006/table">
            <a:tbl>
              <a:tblPr>
                <a:noFill/>
                <a:tableStyleId>{3C8287E2-7AF8-476E-8597-507AD9815A78}</a:tableStyleId>
              </a:tblPr>
              <a:tblGrid>
                <a:gridCol w="625275"/>
                <a:gridCol w="829675"/>
                <a:gridCol w="1049500"/>
                <a:gridCol w="1049500"/>
                <a:gridCol w="1049500"/>
                <a:gridCol w="1049500"/>
                <a:gridCol w="1049500"/>
                <a:gridCol w="1049500"/>
                <a:gridCol w="743925"/>
              </a:tblGrid>
              <a:tr h="100000">
                <a:tc>
                  <a:txBody>
                    <a:bodyPr/>
                    <a:lstStyle/>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gridSpan="8">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distance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Lexend"/>
                          <a:ea typeface="Lexend"/>
                          <a:cs typeface="Lexend"/>
                          <a:sym typeface="Lexend"/>
                        </a:rPr>
                        <a:t>), in km</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hMerge="1"/>
                <a:tc hMerge="1"/>
                <a:tc hMerge="1"/>
                <a:tc hMerge="1"/>
                <a:tc hMerge="1"/>
                <a:tc hMerge="1"/>
                <a:tc hMerge="1"/>
              </a:tr>
              <a:tr h="100000">
                <a:tc>
                  <a:txBody>
                    <a:bodyPr/>
                    <a:lstStyle/>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2</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lt1"/>
                          </a:solidFill>
                          <a:latin typeface="Times New Roman"/>
                          <a:ea typeface="Times New Roman"/>
                          <a:cs typeface="Times New Roman"/>
                          <a:sym typeface="Times New Roman"/>
                        </a:rPr>
                        <a:t>2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5</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5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10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lt1"/>
                          </a:solidFill>
                          <a:latin typeface="Times New Roman"/>
                          <a:ea typeface="Times New Roman"/>
                          <a:cs typeface="Times New Roman"/>
                          <a:sym typeface="Times New Roman"/>
                        </a:rPr>
                        <a:t>10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20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lt1"/>
                          </a:solidFill>
                          <a:latin typeface="Times New Roman"/>
                          <a:ea typeface="Times New Roman"/>
                          <a:cs typeface="Times New Roman"/>
                          <a:sym typeface="Times New Roman"/>
                        </a:rPr>
                        <a:t>20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30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lt1"/>
                          </a:solidFill>
                          <a:latin typeface="Times New Roman"/>
                          <a:ea typeface="Times New Roman"/>
                          <a:cs typeface="Times New Roman"/>
                          <a:sym typeface="Times New Roman"/>
                        </a:rPr>
                        <a:t>30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40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lt1"/>
                          </a:solidFill>
                          <a:latin typeface="Times New Roman"/>
                          <a:ea typeface="Times New Roman"/>
                          <a:cs typeface="Times New Roman"/>
                          <a:sym typeface="Times New Roman"/>
                        </a:rPr>
                        <a:t>40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60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chemeClr val="dk1"/>
                        </a:buClr>
                        <a:buSzPts val="1100"/>
                        <a:buFont typeface="Arial"/>
                        <a:buNone/>
                      </a:pP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 60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r>
              <a:tr h="190500">
                <a:tc>
                  <a:txBody>
                    <a:bodyPr/>
                    <a:lstStyle/>
                    <a:p>
                      <a:pPr indent="0" lvl="0" marL="0" rtl="0" algn="l">
                        <a:spcBef>
                          <a:spcPts val="0"/>
                        </a:spcBef>
                        <a:spcAft>
                          <a:spcPts val="0"/>
                        </a:spcAft>
                        <a:buNone/>
                      </a:pPr>
                      <a:r>
                        <a:rPr lang="en-GB" sz="1600">
                          <a:latin typeface="Lexend"/>
                          <a:ea typeface="Lexend"/>
                          <a:cs typeface="Lexend"/>
                          <a:sym typeface="Lexend"/>
                        </a:rPr>
                        <a:t>North</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East</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202 172</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235 849</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220 617</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192 451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55 976</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20 205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15 795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33 880</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190500">
                <a:tc>
                  <a:txBody>
                    <a:bodyPr/>
                    <a:lstStyle/>
                    <a:p>
                      <a:pPr indent="0" lvl="0" marL="0" rtl="0" algn="l">
                        <a:spcBef>
                          <a:spcPts val="0"/>
                        </a:spcBef>
                        <a:spcAft>
                          <a:spcPts val="0"/>
                        </a:spcAft>
                        <a:buNone/>
                      </a:pPr>
                      <a:r>
                        <a:rPr lang="en-GB" sz="1600">
                          <a:latin typeface="Lexend"/>
                          <a:ea typeface="Lexend"/>
                          <a:cs typeface="Lexend"/>
                          <a:sym typeface="Lexend"/>
                        </a:rPr>
                        <a:t>South East</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706 167</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688 146</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604 950</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582 465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301 705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156 951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168 384</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169 351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
        <p:nvSpPr>
          <p:cNvPr id="1384" name="Google Shape;1384;p11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385" name="Google Shape;1385;p113"/>
          <p:cNvSpPr txBox="1"/>
          <p:nvPr/>
        </p:nvSpPr>
        <p:spPr>
          <a:xfrm>
            <a:off x="324050" y="2335450"/>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latin typeface="Lexend"/>
                <a:ea typeface="Lexend"/>
                <a:cs typeface="Lexend"/>
                <a:sym typeface="Lexend"/>
              </a:rPr>
              <a:t>1) This table from the ONS shows the distance people in the North-East and South-East of England travelled to work each day in 2011.</a:t>
            </a:r>
            <a:endParaRPr sz="1600">
              <a:latin typeface="Lexend"/>
              <a:ea typeface="Lexend"/>
              <a:cs typeface="Lexend"/>
              <a:sym typeface="Lexend"/>
            </a:endParaRPr>
          </a:p>
          <a:p>
            <a:pPr indent="0" lvl="0" marL="0" rtl="0" algn="l">
              <a:spcBef>
                <a:spcPts val="1000"/>
              </a:spcBef>
              <a:spcAft>
                <a:spcPts val="0"/>
              </a:spcAft>
              <a:buNone/>
            </a:pPr>
            <a:r>
              <a:rPr lang="en-GB" sz="1600">
                <a:latin typeface="Lexend"/>
                <a:ea typeface="Lexend"/>
                <a:cs typeface="Lexend"/>
                <a:sym typeface="Lexend"/>
              </a:rPr>
              <a:t>a) How many people’s information from the North-East were collected for this survey?</a:t>
            </a:r>
            <a:endParaRPr sz="1600">
              <a:latin typeface="Lexend"/>
              <a:ea typeface="Lexend"/>
              <a:cs typeface="Lexend"/>
              <a:sym typeface="Lexend"/>
            </a:endParaRPr>
          </a:p>
          <a:p>
            <a:pPr indent="0" lvl="0" marL="0" rtl="0" algn="l">
              <a:spcBef>
                <a:spcPts val="1000"/>
              </a:spcBef>
              <a:spcAft>
                <a:spcPts val="0"/>
              </a:spcAft>
              <a:buNone/>
            </a:pPr>
            <a:r>
              <a:rPr lang="en-GB" sz="1600">
                <a:latin typeface="Lexend"/>
                <a:ea typeface="Lexend"/>
                <a:cs typeface="Lexend"/>
                <a:sym typeface="Lexend"/>
              </a:rPr>
              <a:t>b) What fraction of people in the South-East travel under 10 km each day to work?</a:t>
            </a:r>
            <a:endParaRPr sz="1600">
              <a:latin typeface="Lexend"/>
              <a:ea typeface="Lexend"/>
              <a:cs typeface="Lexend"/>
              <a:sym typeface="Lexend"/>
            </a:endParaRPr>
          </a:p>
          <a:p>
            <a:pPr indent="0" lvl="0" marL="0" rtl="0" algn="l">
              <a:spcBef>
                <a:spcPts val="1000"/>
              </a:spcBef>
              <a:spcAft>
                <a:spcPts val="0"/>
              </a:spcAft>
              <a:buNone/>
            </a:pPr>
            <a:r>
              <a:rPr lang="en-GB" sz="1600">
                <a:latin typeface="Lexend"/>
                <a:ea typeface="Lexend"/>
                <a:cs typeface="Lexend"/>
                <a:sym typeface="Lexend"/>
              </a:rPr>
              <a:t>One possible influence on the climate of an area is the amount of carbon emissions (linked with travelling longer distances).</a:t>
            </a:r>
            <a:endParaRPr sz="1600">
              <a:latin typeface="Lexend"/>
              <a:ea typeface="Lexend"/>
              <a:cs typeface="Lexend"/>
              <a:sym typeface="Lexend"/>
            </a:endParaRPr>
          </a:p>
          <a:p>
            <a:pPr indent="0" lvl="0" marL="0" rtl="0" algn="l">
              <a:spcBef>
                <a:spcPts val="1000"/>
              </a:spcBef>
              <a:spcAft>
                <a:spcPts val="1000"/>
              </a:spcAft>
              <a:buNone/>
            </a:pPr>
            <a:r>
              <a:rPr lang="en-GB" sz="1600">
                <a:latin typeface="Lexend"/>
                <a:ea typeface="Lexend"/>
                <a:cs typeface="Lexend"/>
                <a:sym typeface="Lexend"/>
              </a:rPr>
              <a:t>c) In which location (North-East or South-East) does a higher percentage of people travel 20 km or further each day to work?</a:t>
            </a:r>
            <a:endParaRPr sz="16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114"/>
          <p:cNvSpPr txBox="1"/>
          <p:nvPr/>
        </p:nvSpPr>
        <p:spPr>
          <a:xfrm>
            <a:off x="324050" y="3278068"/>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latin typeface="Lexend"/>
                <a:ea typeface="Lexend"/>
                <a:cs typeface="Lexend"/>
                <a:sym typeface="Lexend"/>
              </a:rPr>
              <a:t>2) The long-term trends of both Manston and Durham are similar. Both locations show an increase in mean yearly temperature over time.</a:t>
            </a:r>
            <a:endParaRPr sz="1600">
              <a:latin typeface="Lexend"/>
              <a:ea typeface="Lexend"/>
              <a:cs typeface="Lexend"/>
              <a:sym typeface="Lexend"/>
            </a:endParaRPr>
          </a:p>
          <a:p>
            <a:pPr indent="0" lvl="0" marL="0" rtl="0" algn="l">
              <a:spcBef>
                <a:spcPts val="1000"/>
              </a:spcBef>
              <a:spcAft>
                <a:spcPts val="1000"/>
              </a:spcAft>
              <a:buNone/>
            </a:pPr>
            <a:r>
              <a:rPr lang="en-GB" sz="1600">
                <a:latin typeface="Lexend"/>
                <a:ea typeface="Lexend"/>
                <a:cs typeface="Lexend"/>
                <a:sym typeface="Lexend"/>
              </a:rPr>
              <a:t>In which location is the mean yearly temperature increasing at the faster rate? Explain how you know.</a:t>
            </a:r>
            <a:endParaRPr sz="1600">
              <a:latin typeface="Lexend"/>
              <a:ea typeface="Lexend"/>
              <a:cs typeface="Lexend"/>
              <a:sym typeface="Lexend"/>
            </a:endParaRPr>
          </a:p>
        </p:txBody>
      </p:sp>
      <p:sp>
        <p:nvSpPr>
          <p:cNvPr id="1391" name="Google Shape;1391;p114"/>
          <p:cNvSpPr txBox="1"/>
          <p:nvPr/>
        </p:nvSpPr>
        <p:spPr>
          <a:xfrm>
            <a:off x="5328850" y="708918"/>
            <a:ext cx="34911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This graph shows data from the Met Office on the mean yearly temperature for two UK locations: Manston (1961 – 2022) and Durham (1941 – 2022).</a:t>
            </a:r>
            <a:endParaRPr sz="1600">
              <a:latin typeface="Lexend"/>
              <a:ea typeface="Lexend"/>
              <a:cs typeface="Lexend"/>
              <a:sym typeface="Lexend"/>
            </a:endParaRPr>
          </a:p>
        </p:txBody>
      </p:sp>
      <p:sp>
        <p:nvSpPr>
          <p:cNvPr id="1392" name="Google Shape;1392;p11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393" name="Google Shape;1393;p114"/>
          <p:cNvPicPr preferRelativeResize="0"/>
          <p:nvPr/>
        </p:nvPicPr>
        <p:blipFill rotWithShape="1">
          <a:blip r:embed="rId3">
            <a:alphaModFix/>
          </a:blip>
          <a:srcRect b="0" l="0" r="1835" t="0"/>
          <a:stretch/>
        </p:blipFill>
        <p:spPr>
          <a:xfrm>
            <a:off x="324000" y="708293"/>
            <a:ext cx="4927775" cy="2019925"/>
          </a:xfrm>
          <a:prstGeom prst="rect">
            <a:avLst/>
          </a:prstGeom>
          <a:noFill/>
          <a:ln cap="flat" cmpd="sng" w="19050">
            <a:solidFill>
              <a:schemeClr val="dk1"/>
            </a:solidFill>
            <a:prstDash val="solid"/>
            <a:round/>
            <a:headEnd len="sm" w="sm" type="none"/>
            <a:tailEnd len="sm" w="sm" type="none"/>
          </a:ln>
        </p:spPr>
      </p:pic>
      <p:grpSp>
        <p:nvGrpSpPr>
          <p:cNvPr id="1394" name="Google Shape;1394;p114"/>
          <p:cNvGrpSpPr/>
          <p:nvPr/>
        </p:nvGrpSpPr>
        <p:grpSpPr>
          <a:xfrm>
            <a:off x="5328850" y="2147643"/>
            <a:ext cx="3491100" cy="738900"/>
            <a:chOff x="5413488" y="2887206"/>
            <a:chExt cx="3491100" cy="738900"/>
          </a:xfrm>
        </p:grpSpPr>
        <p:sp>
          <p:nvSpPr>
            <p:cNvPr id="1395" name="Google Shape;1395;p114"/>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Manston (South-East England)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Durham (North-East England)</a:t>
              </a:r>
              <a:endParaRPr sz="1600">
                <a:latin typeface="Lexend"/>
                <a:ea typeface="Lexend"/>
                <a:cs typeface="Lexend"/>
                <a:sym typeface="Lexend"/>
              </a:endParaRPr>
            </a:p>
          </p:txBody>
        </p:sp>
        <p:sp>
          <p:nvSpPr>
            <p:cNvPr id="1396" name="Google Shape;1396;p114"/>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397" name="Google Shape;1397;p114"/>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grpSp>
        <p:nvGrpSpPr>
          <p:cNvPr id="1398" name="Google Shape;1398;p114"/>
          <p:cNvGrpSpPr/>
          <p:nvPr/>
        </p:nvGrpSpPr>
        <p:grpSpPr>
          <a:xfrm>
            <a:off x="755896" y="2268890"/>
            <a:ext cx="109898" cy="86525"/>
            <a:chOff x="776825" y="2447425"/>
            <a:chExt cx="58500" cy="78225"/>
          </a:xfrm>
        </p:grpSpPr>
        <p:cxnSp>
          <p:nvCxnSpPr>
            <p:cNvPr id="1399" name="Google Shape;1399;p114"/>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400" name="Google Shape;1400;p114"/>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115"/>
          <p:cNvSpPr txBox="1"/>
          <p:nvPr/>
        </p:nvSpPr>
        <p:spPr>
          <a:xfrm>
            <a:off x="324050" y="3278068"/>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3a) Using both your answers to question 1c and 2, write down a possible link between distance travelled to work and mean yearly temperature.</a:t>
            </a:r>
            <a:endParaRPr sz="1600">
              <a:solidFill>
                <a:schemeClr val="dk1"/>
              </a:solidFill>
              <a:latin typeface="Lexend"/>
              <a:ea typeface="Lexend"/>
              <a:cs typeface="Lexend"/>
              <a:sym typeface="Lexend"/>
            </a:endParaRPr>
          </a:p>
          <a:p>
            <a:pPr indent="0" lvl="0" marL="0" rtl="0" algn="l">
              <a:spcBef>
                <a:spcPts val="1000"/>
              </a:spcBef>
              <a:spcAft>
                <a:spcPts val="1000"/>
              </a:spcAft>
              <a:buNone/>
            </a:pPr>
            <a:r>
              <a:rPr lang="en-GB" sz="1600">
                <a:solidFill>
                  <a:schemeClr val="dk1"/>
                </a:solidFill>
                <a:latin typeface="Lexend"/>
                <a:ea typeface="Lexend"/>
                <a:cs typeface="Lexend"/>
                <a:sym typeface="Lexend"/>
              </a:rPr>
              <a:t>b) Explain the extent to which this link is accurate or not by assessing the validity of the comparisons across both sets of data.</a:t>
            </a:r>
            <a:endParaRPr sz="1600">
              <a:solidFill>
                <a:schemeClr val="dk1"/>
              </a:solidFill>
              <a:latin typeface="Lexend"/>
              <a:ea typeface="Lexend"/>
              <a:cs typeface="Lexend"/>
              <a:sym typeface="Lexend"/>
            </a:endParaRPr>
          </a:p>
        </p:txBody>
      </p:sp>
      <p:sp>
        <p:nvSpPr>
          <p:cNvPr id="1406" name="Google Shape;1406;p115"/>
          <p:cNvSpPr txBox="1"/>
          <p:nvPr/>
        </p:nvSpPr>
        <p:spPr>
          <a:xfrm>
            <a:off x="5328850" y="708918"/>
            <a:ext cx="34911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This graph shows data from the Met Office on the mean yearly temperature for two UK locations: Manston (1961 – 2022) and Durham (1941 – 2022).</a:t>
            </a:r>
            <a:endParaRPr sz="1600">
              <a:latin typeface="Lexend"/>
              <a:ea typeface="Lexend"/>
              <a:cs typeface="Lexend"/>
              <a:sym typeface="Lexend"/>
            </a:endParaRPr>
          </a:p>
        </p:txBody>
      </p:sp>
      <p:sp>
        <p:nvSpPr>
          <p:cNvPr id="1407" name="Google Shape;1407;p11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pic>
        <p:nvPicPr>
          <p:cNvPr id="1408" name="Google Shape;1408;p115"/>
          <p:cNvPicPr preferRelativeResize="0"/>
          <p:nvPr/>
        </p:nvPicPr>
        <p:blipFill rotWithShape="1">
          <a:blip r:embed="rId3">
            <a:alphaModFix/>
          </a:blip>
          <a:srcRect b="0" l="0" r="1835" t="0"/>
          <a:stretch/>
        </p:blipFill>
        <p:spPr>
          <a:xfrm>
            <a:off x="324000" y="708293"/>
            <a:ext cx="4927775" cy="2019925"/>
          </a:xfrm>
          <a:prstGeom prst="rect">
            <a:avLst/>
          </a:prstGeom>
          <a:noFill/>
          <a:ln cap="flat" cmpd="sng" w="19050">
            <a:solidFill>
              <a:schemeClr val="dk1"/>
            </a:solidFill>
            <a:prstDash val="solid"/>
            <a:round/>
            <a:headEnd len="sm" w="sm" type="none"/>
            <a:tailEnd len="sm" w="sm" type="none"/>
          </a:ln>
        </p:spPr>
      </p:pic>
      <p:grpSp>
        <p:nvGrpSpPr>
          <p:cNvPr id="1409" name="Google Shape;1409;p115"/>
          <p:cNvGrpSpPr/>
          <p:nvPr/>
        </p:nvGrpSpPr>
        <p:grpSpPr>
          <a:xfrm>
            <a:off x="5328850" y="2147643"/>
            <a:ext cx="3491100" cy="738900"/>
            <a:chOff x="5413488" y="2887206"/>
            <a:chExt cx="3491100" cy="738900"/>
          </a:xfrm>
        </p:grpSpPr>
        <p:sp>
          <p:nvSpPr>
            <p:cNvPr id="1410" name="Google Shape;1410;p115"/>
            <p:cNvSpPr txBox="1"/>
            <p:nvPr/>
          </p:nvSpPr>
          <p:spPr>
            <a:xfrm>
              <a:off x="5413488" y="2887206"/>
              <a:ext cx="34911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Key</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        Manston (South-East England)</a:t>
              </a:r>
              <a:endParaRPr sz="1600">
                <a:latin typeface="Lexend"/>
                <a:ea typeface="Lexend"/>
                <a:cs typeface="Lexend"/>
                <a:sym typeface="Lexend"/>
              </a:endParaRPr>
            </a:p>
            <a:p>
              <a:pPr indent="0" lvl="0" marL="0" rtl="0" algn="l">
                <a:spcBef>
                  <a:spcPts val="0"/>
                </a:spcBef>
                <a:spcAft>
                  <a:spcPts val="0"/>
                </a:spcAft>
                <a:buNone/>
              </a:pPr>
              <a:r>
                <a:rPr lang="en-GB" sz="1600">
                  <a:solidFill>
                    <a:schemeClr val="dk1"/>
                  </a:solidFill>
                  <a:latin typeface="Lexend"/>
                  <a:ea typeface="Lexend"/>
                  <a:cs typeface="Lexend"/>
                  <a:sym typeface="Lexend"/>
                </a:rPr>
                <a:t>        Durham (North-East England)</a:t>
              </a:r>
              <a:endParaRPr sz="1600">
                <a:latin typeface="Lexend"/>
                <a:ea typeface="Lexend"/>
                <a:cs typeface="Lexend"/>
                <a:sym typeface="Lexend"/>
              </a:endParaRPr>
            </a:p>
          </p:txBody>
        </p:sp>
        <p:sp>
          <p:nvSpPr>
            <p:cNvPr id="1411" name="Google Shape;1411;p115"/>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412" name="Google Shape;1412;p115"/>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grpSp>
        <p:nvGrpSpPr>
          <p:cNvPr id="1413" name="Google Shape;1413;p115"/>
          <p:cNvGrpSpPr/>
          <p:nvPr/>
        </p:nvGrpSpPr>
        <p:grpSpPr>
          <a:xfrm>
            <a:off x="755896" y="2268890"/>
            <a:ext cx="109898" cy="86525"/>
            <a:chOff x="776825" y="2447425"/>
            <a:chExt cx="58500" cy="78225"/>
          </a:xfrm>
        </p:grpSpPr>
        <p:cxnSp>
          <p:nvCxnSpPr>
            <p:cNvPr id="1414" name="Google Shape;1414;p115"/>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415" name="Google Shape;1415;p115"/>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graphicFrame>
        <p:nvGraphicFramePr>
          <p:cNvPr id="1420" name="Google Shape;1420;p116"/>
          <p:cNvGraphicFramePr/>
          <p:nvPr/>
        </p:nvGraphicFramePr>
        <p:xfrm>
          <a:off x="324050" y="674100"/>
          <a:ext cx="3000000" cy="3000000"/>
        </p:xfrm>
        <a:graphic>
          <a:graphicData uri="http://schemas.openxmlformats.org/drawingml/2006/table">
            <a:tbl>
              <a:tblPr>
                <a:noFill/>
                <a:tableStyleId>{3C8287E2-7AF8-476E-8597-507AD9815A78}</a:tableStyleId>
              </a:tblPr>
              <a:tblGrid>
                <a:gridCol w="625275"/>
                <a:gridCol w="829675"/>
                <a:gridCol w="1049500"/>
                <a:gridCol w="1049500"/>
                <a:gridCol w="1049500"/>
                <a:gridCol w="1049500"/>
                <a:gridCol w="1049500"/>
                <a:gridCol w="1049500"/>
                <a:gridCol w="743925"/>
              </a:tblGrid>
              <a:tr h="100000">
                <a:tc>
                  <a:txBody>
                    <a:bodyPr/>
                    <a:lstStyle/>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gridSpan="8">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distance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Lexend"/>
                          <a:ea typeface="Lexend"/>
                          <a:cs typeface="Lexend"/>
                          <a:sym typeface="Lexend"/>
                        </a:rPr>
                        <a:t>), in km</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hMerge="1"/>
                <a:tc hMerge="1"/>
                <a:tc hMerge="1"/>
                <a:tc hMerge="1"/>
                <a:tc hMerge="1"/>
                <a:tc hMerge="1"/>
                <a:tc hMerge="1"/>
              </a:tr>
              <a:tr h="100000">
                <a:tc>
                  <a:txBody>
                    <a:bodyPr/>
                    <a:lstStyle/>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2</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2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5</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5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10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10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20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20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30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30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40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40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60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 60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r>
              <a:tr h="190500">
                <a:tc>
                  <a:txBody>
                    <a:bodyPr/>
                    <a:lstStyle/>
                    <a:p>
                      <a:pPr indent="0" lvl="0" marL="0" rtl="0" algn="l">
                        <a:spcBef>
                          <a:spcPts val="0"/>
                        </a:spcBef>
                        <a:spcAft>
                          <a:spcPts val="0"/>
                        </a:spcAft>
                        <a:buNone/>
                      </a:pPr>
                      <a:r>
                        <a:rPr lang="en-GB" sz="1600">
                          <a:latin typeface="Lexend"/>
                          <a:ea typeface="Lexend"/>
                          <a:cs typeface="Lexend"/>
                          <a:sym typeface="Lexend"/>
                        </a:rPr>
                        <a:t>North</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East</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202 172</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235 849</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220 617</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192 451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55 976</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20 205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15 795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33 880</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190500">
                <a:tc>
                  <a:txBody>
                    <a:bodyPr/>
                    <a:lstStyle/>
                    <a:p>
                      <a:pPr indent="0" lvl="0" marL="0" rtl="0" algn="l">
                        <a:spcBef>
                          <a:spcPts val="0"/>
                        </a:spcBef>
                        <a:spcAft>
                          <a:spcPts val="0"/>
                        </a:spcAft>
                        <a:buNone/>
                      </a:pPr>
                      <a:r>
                        <a:rPr lang="en-GB" sz="1600">
                          <a:latin typeface="Lexend"/>
                          <a:ea typeface="Lexend"/>
                          <a:cs typeface="Lexend"/>
                          <a:sym typeface="Lexend"/>
                        </a:rPr>
                        <a:t>South East</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706 167</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688 146</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604 950</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582 465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301 705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156 951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168 384</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169 351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
        <p:nvSpPr>
          <p:cNvPr id="1421" name="Google Shape;1421;p116"/>
          <p:cNvSpPr txBox="1"/>
          <p:nvPr/>
        </p:nvSpPr>
        <p:spPr>
          <a:xfrm>
            <a:off x="324050" y="2335450"/>
            <a:ext cx="8553000" cy="276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latin typeface="Lexend"/>
                <a:ea typeface="Lexend"/>
                <a:cs typeface="Lexend"/>
                <a:sym typeface="Lexend"/>
              </a:rPr>
              <a:t>1) This table from the ONS shows the distance people in the North-East and South-East of England travelled to work each day in 2011.</a:t>
            </a:r>
            <a:endParaRPr sz="1600">
              <a:latin typeface="Lexend"/>
              <a:ea typeface="Lexend"/>
              <a:cs typeface="Lexend"/>
              <a:sym typeface="Lexend"/>
            </a:endParaRPr>
          </a:p>
          <a:p>
            <a:pPr indent="0" lvl="0" marL="0" rtl="0" algn="l">
              <a:spcBef>
                <a:spcPts val="1000"/>
              </a:spcBef>
              <a:spcAft>
                <a:spcPts val="0"/>
              </a:spcAft>
              <a:buNone/>
            </a:pPr>
            <a:r>
              <a:rPr lang="en-GB" sz="1600">
                <a:latin typeface="Lexend"/>
                <a:ea typeface="Lexend"/>
                <a:cs typeface="Lexend"/>
                <a:sym typeface="Lexend"/>
              </a:rPr>
              <a:t>a) How many people’s information from the North-East were collected for this survey?</a:t>
            </a:r>
            <a:endParaRPr sz="1600">
              <a:latin typeface="Lexend"/>
              <a:ea typeface="Lexend"/>
              <a:cs typeface="Lexend"/>
              <a:sym typeface="Lexend"/>
            </a:endParaRPr>
          </a:p>
          <a:p>
            <a:pPr indent="0" lvl="0" marL="0" rtl="0" algn="l">
              <a:spcBef>
                <a:spcPts val="1000"/>
              </a:spcBef>
              <a:spcAft>
                <a:spcPts val="0"/>
              </a:spcAft>
              <a:buNone/>
            </a:pPr>
            <a:r>
              <a:t/>
            </a:r>
            <a:endParaRPr sz="1600">
              <a:latin typeface="Lexend"/>
              <a:ea typeface="Lexend"/>
              <a:cs typeface="Lexend"/>
              <a:sym typeface="Lexend"/>
            </a:endParaRPr>
          </a:p>
          <a:p>
            <a:pPr indent="0" lvl="0" marL="0" rtl="0" algn="l">
              <a:spcBef>
                <a:spcPts val="1000"/>
              </a:spcBef>
              <a:spcAft>
                <a:spcPts val="1000"/>
              </a:spcAft>
              <a:buNone/>
            </a:pPr>
            <a:r>
              <a:rPr lang="en-GB" sz="1600">
                <a:latin typeface="Lexend"/>
                <a:ea typeface="Lexend"/>
                <a:cs typeface="Lexend"/>
                <a:sym typeface="Lexend"/>
              </a:rPr>
              <a:t>b) What fraction of people in the South-East travel under 10 km each day to work?</a:t>
            </a:r>
            <a:endParaRPr sz="1600">
              <a:latin typeface="Lexend"/>
              <a:ea typeface="Lexend"/>
              <a:cs typeface="Lexend"/>
              <a:sym typeface="Lexend"/>
            </a:endParaRPr>
          </a:p>
        </p:txBody>
      </p:sp>
      <p:sp>
        <p:nvSpPr>
          <p:cNvPr id="1422" name="Google Shape;1422;p11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423" name="Google Shape;1423;p116"/>
          <p:cNvSpPr txBox="1"/>
          <p:nvPr/>
        </p:nvSpPr>
        <p:spPr>
          <a:xfrm>
            <a:off x="1439985" y="3240000"/>
            <a:ext cx="30075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976 945 people</a:t>
            </a:r>
            <a:endParaRPr sz="2000">
              <a:latin typeface="Kalam"/>
              <a:ea typeface="Kalam"/>
              <a:cs typeface="Kalam"/>
              <a:sym typeface="Kalam"/>
            </a:endParaRPr>
          </a:p>
        </p:txBody>
      </p:sp>
      <p:pic>
        <p:nvPicPr>
          <p:cNvPr descr="&lt;math xmlns=&quot;http://www.w3.org/1998/Math/MathML&quot; display=&quot;block&quot; data-is-equatio=&quot;1&quot; data-latex=&quot;\frac{1\ 999\ 263}{3\ 378\ 119}&quot;&gt;&lt;mfrac&gt;&lt;mrow&gt;&lt;mn&gt;1&lt;/mn&gt;&lt;mtext&gt;&lt;/mtext&gt;&lt;mn&gt;999&lt;/mn&gt;&lt;mtext&gt;&lt;/mtext&gt;&lt;mn&gt;263&lt;/mn&gt;&lt;/mrow&gt;&lt;mrow&gt;&lt;mn&gt;3&lt;/mn&gt;&lt;mtext&gt;&lt;/mtext&gt;&lt;mn&gt;378&lt;/mn&gt;&lt;mtext&gt;&lt;/mtext&gt;&lt;mn&gt;119&lt;/mn&gt;&lt;/mrow&gt;&lt;/mfrac&gt;&lt;/math&gt;" id="1424" name="Google Shape;1424;p116" title="the fraction with numerator 1 999 263 and denominator 3 378 119"/>
          <p:cNvPicPr preferRelativeResize="0"/>
          <p:nvPr/>
        </p:nvPicPr>
        <p:blipFill>
          <a:blip r:embed="rId3">
            <a:alphaModFix/>
          </a:blip>
          <a:stretch>
            <a:fillRect/>
          </a:stretch>
        </p:blipFill>
        <p:spPr>
          <a:xfrm>
            <a:off x="1479293" y="4239975"/>
            <a:ext cx="1111969" cy="56159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117"/>
          <p:cNvSpPr txBox="1"/>
          <p:nvPr/>
        </p:nvSpPr>
        <p:spPr>
          <a:xfrm>
            <a:off x="324050" y="2335450"/>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latin typeface="Lexend"/>
                <a:ea typeface="Lexend"/>
                <a:cs typeface="Lexend"/>
                <a:sym typeface="Lexend"/>
              </a:rPr>
              <a:t>1) This table from the ONS shows the distance people in the North-East and South-East of England travelled to work each day in 2011.</a:t>
            </a:r>
            <a:endParaRPr sz="1600">
              <a:latin typeface="Lexend"/>
              <a:ea typeface="Lexend"/>
              <a:cs typeface="Lexend"/>
              <a:sym typeface="Lexend"/>
            </a:endParaRPr>
          </a:p>
          <a:p>
            <a:pPr indent="0" lvl="0" marL="0" rtl="0" algn="l">
              <a:spcBef>
                <a:spcPts val="1000"/>
              </a:spcBef>
              <a:spcAft>
                <a:spcPts val="0"/>
              </a:spcAft>
              <a:buClr>
                <a:schemeClr val="dk1"/>
              </a:buClr>
              <a:buSzPts val="1100"/>
              <a:buFont typeface="Arial"/>
              <a:buNone/>
            </a:pPr>
            <a:r>
              <a:rPr lang="en-GB" sz="1600">
                <a:solidFill>
                  <a:schemeClr val="dk1"/>
                </a:solidFill>
                <a:latin typeface="Lexend"/>
                <a:ea typeface="Lexend"/>
                <a:cs typeface="Lexend"/>
                <a:sym typeface="Lexend"/>
              </a:rPr>
              <a:t>One possible influence on the climate of an area is the amount of carbon emissions (linked with travelling longer distances).</a:t>
            </a:r>
            <a:endParaRPr sz="1600">
              <a:latin typeface="Lexend"/>
              <a:ea typeface="Lexend"/>
              <a:cs typeface="Lexend"/>
              <a:sym typeface="Lexend"/>
            </a:endParaRPr>
          </a:p>
          <a:p>
            <a:pPr indent="0" lvl="0" marL="0" rtl="0" algn="l">
              <a:spcBef>
                <a:spcPts val="1000"/>
              </a:spcBef>
              <a:spcAft>
                <a:spcPts val="1000"/>
              </a:spcAft>
              <a:buNone/>
            </a:pPr>
            <a:r>
              <a:rPr lang="en-GB" sz="1600">
                <a:latin typeface="Lexend"/>
                <a:ea typeface="Lexend"/>
                <a:cs typeface="Lexend"/>
                <a:sym typeface="Lexend"/>
              </a:rPr>
              <a:t>c) In which location (North-East or South-East) does a higher percentage of people travel 20 km or further each day to work?</a:t>
            </a:r>
            <a:endParaRPr sz="1600">
              <a:latin typeface="Lexend"/>
              <a:ea typeface="Lexend"/>
              <a:cs typeface="Lexend"/>
              <a:sym typeface="Lexend"/>
            </a:endParaRPr>
          </a:p>
        </p:txBody>
      </p:sp>
      <p:graphicFrame>
        <p:nvGraphicFramePr>
          <p:cNvPr id="1430" name="Google Shape;1430;p117"/>
          <p:cNvGraphicFramePr/>
          <p:nvPr/>
        </p:nvGraphicFramePr>
        <p:xfrm>
          <a:off x="324050" y="674100"/>
          <a:ext cx="3000000" cy="3000000"/>
        </p:xfrm>
        <a:graphic>
          <a:graphicData uri="http://schemas.openxmlformats.org/drawingml/2006/table">
            <a:tbl>
              <a:tblPr>
                <a:noFill/>
                <a:tableStyleId>{3C8287E2-7AF8-476E-8597-507AD9815A78}</a:tableStyleId>
              </a:tblPr>
              <a:tblGrid>
                <a:gridCol w="625275"/>
                <a:gridCol w="829675"/>
                <a:gridCol w="1049500"/>
                <a:gridCol w="1049500"/>
                <a:gridCol w="1049500"/>
                <a:gridCol w="1049500"/>
                <a:gridCol w="1049500"/>
                <a:gridCol w="1049500"/>
                <a:gridCol w="743925"/>
              </a:tblGrid>
              <a:tr h="100000">
                <a:tc>
                  <a:txBody>
                    <a:bodyPr/>
                    <a:lstStyle/>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gridSpan="8">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distance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Lexend"/>
                          <a:ea typeface="Lexend"/>
                          <a:cs typeface="Lexend"/>
                          <a:sym typeface="Lexend"/>
                        </a:rPr>
                        <a:t>), in km</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hMerge="1"/>
                <a:tc hMerge="1"/>
                <a:tc hMerge="1"/>
                <a:tc hMerge="1"/>
                <a:tc hMerge="1"/>
                <a:tc hMerge="1"/>
                <a:tc hMerge="1"/>
              </a:tr>
              <a:tr h="100000">
                <a:tc>
                  <a:txBody>
                    <a:bodyPr/>
                    <a:lstStyle/>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2</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2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5</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5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10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10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20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20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30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30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40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600">
                          <a:solidFill>
                            <a:schemeClr val="lt1"/>
                          </a:solidFill>
                          <a:latin typeface="Times New Roman"/>
                          <a:ea typeface="Times New Roman"/>
                          <a:cs typeface="Times New Roman"/>
                          <a:sym typeface="Times New Roman"/>
                        </a:rPr>
                        <a:t>40 ≤ </a:t>
                      </a: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&lt; 60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i="1" lang="en-GB" sz="1600">
                          <a:solidFill>
                            <a:schemeClr val="lt1"/>
                          </a:solidFill>
                          <a:latin typeface="Times New Roman"/>
                          <a:ea typeface="Times New Roman"/>
                          <a:cs typeface="Times New Roman"/>
                          <a:sym typeface="Times New Roman"/>
                        </a:rPr>
                        <a:t>d</a:t>
                      </a:r>
                      <a:r>
                        <a:rPr lang="en-GB" sz="1600">
                          <a:solidFill>
                            <a:schemeClr val="lt1"/>
                          </a:solidFill>
                          <a:latin typeface="Times New Roman"/>
                          <a:ea typeface="Times New Roman"/>
                          <a:cs typeface="Times New Roman"/>
                          <a:sym typeface="Times New Roman"/>
                        </a:rPr>
                        <a:t> ≥ 60</a:t>
                      </a:r>
                      <a:endParaRPr sz="1600">
                        <a:solidFill>
                          <a:schemeClr val="lt1"/>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r>
              <a:tr h="190500">
                <a:tc>
                  <a:txBody>
                    <a:bodyPr/>
                    <a:lstStyle/>
                    <a:p>
                      <a:pPr indent="0" lvl="0" marL="0" rtl="0" algn="l">
                        <a:spcBef>
                          <a:spcPts val="0"/>
                        </a:spcBef>
                        <a:spcAft>
                          <a:spcPts val="0"/>
                        </a:spcAft>
                        <a:buNone/>
                      </a:pPr>
                      <a:r>
                        <a:rPr lang="en-GB" sz="1600">
                          <a:latin typeface="Lexend"/>
                          <a:ea typeface="Lexend"/>
                          <a:cs typeface="Lexend"/>
                          <a:sym typeface="Lexend"/>
                        </a:rPr>
                        <a:t>North</a:t>
                      </a:r>
                      <a:endParaRPr sz="1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East</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202 172</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235 849</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220 617</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192 451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55 976</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20 205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15 795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33 880</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190500">
                <a:tc>
                  <a:txBody>
                    <a:bodyPr/>
                    <a:lstStyle/>
                    <a:p>
                      <a:pPr indent="0" lvl="0" marL="0" rtl="0" algn="l">
                        <a:spcBef>
                          <a:spcPts val="0"/>
                        </a:spcBef>
                        <a:spcAft>
                          <a:spcPts val="0"/>
                        </a:spcAft>
                        <a:buNone/>
                      </a:pPr>
                      <a:r>
                        <a:rPr lang="en-GB" sz="1600">
                          <a:latin typeface="Lexend"/>
                          <a:ea typeface="Lexend"/>
                          <a:cs typeface="Lexend"/>
                          <a:sym typeface="Lexend"/>
                        </a:rPr>
                        <a:t>South East</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706 167</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688 146</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604 950</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582 465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301 705</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156 951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168 384</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600">
                          <a:latin typeface="Lexend"/>
                          <a:ea typeface="Lexend"/>
                          <a:cs typeface="Lexend"/>
                          <a:sym typeface="Lexend"/>
                        </a:rPr>
                        <a:t>169 351</a:t>
                      </a:r>
                      <a:endParaRPr sz="16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
        <p:nvSpPr>
          <p:cNvPr id="1431" name="Google Shape;1431;p11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432" name="Google Shape;1432;p117"/>
          <p:cNvSpPr txBox="1"/>
          <p:nvPr/>
        </p:nvSpPr>
        <p:spPr>
          <a:xfrm>
            <a:off x="324049" y="4166100"/>
            <a:ext cx="33318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North-East: 12.9%    (1 d.p.)</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South-East: 23.6%   </a:t>
            </a:r>
            <a:r>
              <a:rPr lang="en-GB" sz="2000">
                <a:solidFill>
                  <a:schemeClr val="dk1"/>
                </a:solidFill>
                <a:latin typeface="Kalam"/>
                <a:ea typeface="Kalam"/>
                <a:cs typeface="Kalam"/>
                <a:sym typeface="Kalam"/>
              </a:rPr>
              <a:t>(1 d.p.)</a:t>
            </a:r>
            <a:endParaRPr sz="2000">
              <a:latin typeface="Kalam"/>
              <a:ea typeface="Kalam"/>
              <a:cs typeface="Kalam"/>
              <a:sym typeface="Kalam"/>
            </a:endParaRPr>
          </a:p>
        </p:txBody>
      </p:sp>
      <p:sp>
        <p:nvSpPr>
          <p:cNvPr id="1433" name="Google Shape;1433;p117"/>
          <p:cNvSpPr txBox="1"/>
          <p:nvPr/>
        </p:nvSpPr>
        <p:spPr>
          <a:xfrm>
            <a:off x="4320000" y="4166100"/>
            <a:ext cx="41346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A larger percentage of people in the South-East travel 20 km or further.</a:t>
            </a:r>
            <a:endParaRPr sz="2000">
              <a:latin typeface="Kalam"/>
              <a:ea typeface="Kalam"/>
              <a:cs typeface="Kalam"/>
              <a:sym typeface="Kala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118"/>
          <p:cNvSpPr txBox="1"/>
          <p:nvPr/>
        </p:nvSpPr>
        <p:spPr>
          <a:xfrm>
            <a:off x="324050" y="2427168"/>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latin typeface="Lexend"/>
                <a:ea typeface="Lexend"/>
                <a:cs typeface="Lexend"/>
                <a:sym typeface="Lexend"/>
              </a:rPr>
              <a:t>2) The long-term trends of both Manston and Durham are similar. Both locations show an increase in mean yearly temperature over time.</a:t>
            </a:r>
            <a:endParaRPr sz="1600">
              <a:latin typeface="Lexend"/>
              <a:ea typeface="Lexend"/>
              <a:cs typeface="Lexend"/>
              <a:sym typeface="Lexend"/>
            </a:endParaRPr>
          </a:p>
          <a:p>
            <a:pPr indent="0" lvl="0" marL="0" rtl="0" algn="l">
              <a:spcBef>
                <a:spcPts val="1000"/>
              </a:spcBef>
              <a:spcAft>
                <a:spcPts val="1000"/>
              </a:spcAft>
              <a:buNone/>
            </a:pPr>
            <a:r>
              <a:rPr lang="en-GB" sz="1600">
                <a:latin typeface="Lexend"/>
                <a:ea typeface="Lexend"/>
                <a:cs typeface="Lexend"/>
                <a:sym typeface="Lexend"/>
              </a:rPr>
              <a:t>In which location is the mean yearly temperature increasing at the faster rate? Explain how you know.</a:t>
            </a:r>
            <a:endParaRPr sz="1600">
              <a:latin typeface="Lexend"/>
              <a:ea typeface="Lexend"/>
              <a:cs typeface="Lexend"/>
              <a:sym typeface="Lexend"/>
            </a:endParaRPr>
          </a:p>
        </p:txBody>
      </p:sp>
      <p:sp>
        <p:nvSpPr>
          <p:cNvPr id="1439" name="Google Shape;1439;p11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440" name="Google Shape;1440;p118"/>
          <p:cNvSpPr txBox="1"/>
          <p:nvPr/>
        </p:nvSpPr>
        <p:spPr>
          <a:xfrm>
            <a:off x="4034091" y="708757"/>
            <a:ext cx="25881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chemeClr val="dk1"/>
                </a:solidFill>
                <a:latin typeface="Lexend"/>
                <a:ea typeface="Lexend"/>
                <a:cs typeface="Lexend"/>
                <a:sym typeface="Lexend"/>
              </a:rPr>
              <a:t>This graph shows data from the Met Office on the mean yearly temperature for two UK locations: Manston (1961 – 2022) and Durham (1941 – 2022).</a:t>
            </a:r>
            <a:endParaRPr sz="1200">
              <a:latin typeface="Lexend"/>
              <a:ea typeface="Lexend"/>
              <a:cs typeface="Lexend"/>
              <a:sym typeface="Lexend"/>
            </a:endParaRPr>
          </a:p>
        </p:txBody>
      </p:sp>
      <p:pic>
        <p:nvPicPr>
          <p:cNvPr id="1441" name="Google Shape;1441;p118"/>
          <p:cNvPicPr preferRelativeResize="0"/>
          <p:nvPr/>
        </p:nvPicPr>
        <p:blipFill rotWithShape="1">
          <a:blip r:embed="rId3">
            <a:alphaModFix/>
          </a:blip>
          <a:srcRect b="0" l="0" r="1835" t="0"/>
          <a:stretch/>
        </p:blipFill>
        <p:spPr>
          <a:xfrm>
            <a:off x="323996" y="708294"/>
            <a:ext cx="3652958" cy="1497371"/>
          </a:xfrm>
          <a:prstGeom prst="rect">
            <a:avLst/>
          </a:prstGeom>
          <a:noFill/>
          <a:ln cap="flat" cmpd="sng" w="19050">
            <a:solidFill>
              <a:schemeClr val="dk1"/>
            </a:solidFill>
            <a:prstDash val="solid"/>
            <a:round/>
            <a:headEnd len="sm" w="sm" type="none"/>
            <a:tailEnd len="sm" w="sm" type="none"/>
          </a:ln>
        </p:spPr>
      </p:pic>
      <p:grpSp>
        <p:nvGrpSpPr>
          <p:cNvPr id="1442" name="Google Shape;1442;p118"/>
          <p:cNvGrpSpPr/>
          <p:nvPr/>
        </p:nvGrpSpPr>
        <p:grpSpPr>
          <a:xfrm>
            <a:off x="4034100" y="1693650"/>
            <a:ext cx="3963657" cy="554196"/>
            <a:chOff x="5413499" y="2887218"/>
            <a:chExt cx="5346900" cy="747600"/>
          </a:xfrm>
        </p:grpSpPr>
        <p:sp>
          <p:nvSpPr>
            <p:cNvPr id="1443" name="Google Shape;1443;p118"/>
            <p:cNvSpPr txBox="1"/>
            <p:nvPr/>
          </p:nvSpPr>
          <p:spPr>
            <a:xfrm>
              <a:off x="5413499" y="2887218"/>
              <a:ext cx="5346900" cy="74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Key</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Manston (South-East England)</a:t>
              </a:r>
              <a:endParaRPr sz="1200">
                <a:latin typeface="Lexend"/>
                <a:ea typeface="Lexend"/>
                <a:cs typeface="Lexend"/>
                <a:sym typeface="Lexend"/>
              </a:endParaRPr>
            </a:p>
            <a:p>
              <a:pPr indent="0" lvl="0" marL="0" rtl="0" algn="l">
                <a:spcBef>
                  <a:spcPts val="0"/>
                </a:spcBef>
                <a:spcAft>
                  <a:spcPts val="0"/>
                </a:spcAft>
                <a:buNone/>
              </a:pPr>
              <a:r>
                <a:rPr lang="en-GB" sz="1200">
                  <a:solidFill>
                    <a:schemeClr val="dk1"/>
                  </a:solidFill>
                  <a:latin typeface="Lexend"/>
                  <a:ea typeface="Lexend"/>
                  <a:cs typeface="Lexend"/>
                  <a:sym typeface="Lexend"/>
                </a:rPr>
                <a:t>        Durham (North-East England)</a:t>
              </a:r>
              <a:endParaRPr sz="1200">
                <a:latin typeface="Lexend"/>
                <a:ea typeface="Lexend"/>
                <a:cs typeface="Lexend"/>
                <a:sym typeface="Lexend"/>
              </a:endParaRPr>
            </a:p>
          </p:txBody>
        </p:sp>
        <p:sp>
          <p:nvSpPr>
            <p:cNvPr id="1444" name="Google Shape;1444;p118"/>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445" name="Google Shape;1445;p118"/>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grpSp>
      <p:sp>
        <p:nvSpPr>
          <p:cNvPr id="1446" name="Google Shape;1446;p118"/>
          <p:cNvSpPr txBox="1"/>
          <p:nvPr/>
        </p:nvSpPr>
        <p:spPr>
          <a:xfrm>
            <a:off x="884250" y="3621800"/>
            <a:ext cx="79359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Manston’s mean yearly temperature is increasing at a faster rate than Durham’s because Manston’s long-term trendline has a steeper gradient.</a:t>
            </a:r>
            <a:endParaRPr sz="2000">
              <a:latin typeface="Kalam"/>
              <a:ea typeface="Kalam"/>
              <a:cs typeface="Kalam"/>
              <a:sym typeface="Kalam"/>
            </a:endParaRPr>
          </a:p>
        </p:txBody>
      </p:sp>
      <p:grpSp>
        <p:nvGrpSpPr>
          <p:cNvPr id="1447" name="Google Shape;1447;p118"/>
          <p:cNvGrpSpPr/>
          <p:nvPr/>
        </p:nvGrpSpPr>
        <p:grpSpPr>
          <a:xfrm>
            <a:off x="644155" y="1865282"/>
            <a:ext cx="81467" cy="64144"/>
            <a:chOff x="776825" y="2447425"/>
            <a:chExt cx="58500" cy="78225"/>
          </a:xfrm>
        </p:grpSpPr>
        <p:cxnSp>
          <p:nvCxnSpPr>
            <p:cNvPr id="1448" name="Google Shape;1448;p118"/>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449" name="Google Shape;1449;p118"/>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119"/>
          <p:cNvSpPr txBox="1"/>
          <p:nvPr/>
        </p:nvSpPr>
        <p:spPr>
          <a:xfrm>
            <a:off x="324050" y="2427168"/>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latin typeface="Lexend"/>
                <a:ea typeface="Lexend"/>
                <a:cs typeface="Lexend"/>
                <a:sym typeface="Lexend"/>
              </a:rPr>
              <a:t>2) The long-term trends of both Manston and Durham are similar. Both locations show an increase in mean yearly temperature over time.</a:t>
            </a:r>
            <a:endParaRPr sz="1600">
              <a:latin typeface="Lexend"/>
              <a:ea typeface="Lexend"/>
              <a:cs typeface="Lexend"/>
              <a:sym typeface="Lexend"/>
            </a:endParaRPr>
          </a:p>
          <a:p>
            <a:pPr indent="0" lvl="0" marL="0" rtl="0" algn="l">
              <a:spcBef>
                <a:spcPts val="1000"/>
              </a:spcBef>
              <a:spcAft>
                <a:spcPts val="1000"/>
              </a:spcAft>
              <a:buNone/>
            </a:pPr>
            <a:r>
              <a:rPr lang="en-GB" sz="1600">
                <a:latin typeface="Lexend"/>
                <a:ea typeface="Lexend"/>
                <a:cs typeface="Lexend"/>
                <a:sym typeface="Lexend"/>
              </a:rPr>
              <a:t>In which location is the mean yearly temperature increasing at the faster rate? Explain how you know.</a:t>
            </a:r>
            <a:endParaRPr sz="1600">
              <a:latin typeface="Lexend"/>
              <a:ea typeface="Lexend"/>
              <a:cs typeface="Lexend"/>
              <a:sym typeface="Lexend"/>
            </a:endParaRPr>
          </a:p>
        </p:txBody>
      </p:sp>
      <p:sp>
        <p:nvSpPr>
          <p:cNvPr id="1455" name="Google Shape;1455;p11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456" name="Google Shape;1456;p119"/>
          <p:cNvSpPr txBox="1"/>
          <p:nvPr/>
        </p:nvSpPr>
        <p:spPr>
          <a:xfrm>
            <a:off x="4034091" y="708757"/>
            <a:ext cx="25881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chemeClr val="dk1"/>
                </a:solidFill>
                <a:latin typeface="Lexend"/>
                <a:ea typeface="Lexend"/>
                <a:cs typeface="Lexend"/>
                <a:sym typeface="Lexend"/>
              </a:rPr>
              <a:t>This graph shows data from the Met Office on the mean yearly temperature for two UK locations: Manston (1961 – 2022) and Durham (1941 – 2022).</a:t>
            </a:r>
            <a:endParaRPr sz="1200">
              <a:latin typeface="Lexend"/>
              <a:ea typeface="Lexend"/>
              <a:cs typeface="Lexend"/>
              <a:sym typeface="Lexend"/>
            </a:endParaRPr>
          </a:p>
        </p:txBody>
      </p:sp>
      <p:pic>
        <p:nvPicPr>
          <p:cNvPr id="1457" name="Google Shape;1457;p119"/>
          <p:cNvPicPr preferRelativeResize="0"/>
          <p:nvPr/>
        </p:nvPicPr>
        <p:blipFill rotWithShape="1">
          <a:blip r:embed="rId3">
            <a:alphaModFix/>
          </a:blip>
          <a:srcRect b="0" l="0" r="1835" t="0"/>
          <a:stretch/>
        </p:blipFill>
        <p:spPr>
          <a:xfrm>
            <a:off x="323996" y="708294"/>
            <a:ext cx="3652958" cy="1497371"/>
          </a:xfrm>
          <a:prstGeom prst="rect">
            <a:avLst/>
          </a:prstGeom>
          <a:noFill/>
          <a:ln cap="flat" cmpd="sng" w="19050">
            <a:solidFill>
              <a:schemeClr val="dk1"/>
            </a:solidFill>
            <a:prstDash val="solid"/>
            <a:round/>
            <a:headEnd len="sm" w="sm" type="none"/>
            <a:tailEnd len="sm" w="sm" type="none"/>
          </a:ln>
        </p:spPr>
      </p:pic>
      <p:sp>
        <p:nvSpPr>
          <p:cNvPr id="1458" name="Google Shape;1458;p119"/>
          <p:cNvSpPr txBox="1"/>
          <p:nvPr/>
        </p:nvSpPr>
        <p:spPr>
          <a:xfrm>
            <a:off x="884250" y="3621800"/>
            <a:ext cx="79359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Note: Temperature increasing at a faster rate is due to the </a:t>
            </a:r>
            <a:r>
              <a:rPr lang="en-GB" sz="2000">
                <a:solidFill>
                  <a:schemeClr val="accent5"/>
                </a:solidFill>
                <a:latin typeface="Kalam"/>
                <a:ea typeface="Kalam"/>
                <a:cs typeface="Kalam"/>
                <a:sym typeface="Kalam"/>
              </a:rPr>
              <a:t>steepness</a:t>
            </a:r>
            <a:r>
              <a:rPr lang="en-GB" sz="2000">
                <a:latin typeface="Kalam"/>
                <a:ea typeface="Kalam"/>
                <a:cs typeface="Kalam"/>
                <a:sym typeface="Kalam"/>
              </a:rPr>
              <a:t> of Manston’s trendline, not because the line itself is higher up than Durham’s.</a:t>
            </a:r>
            <a:endParaRPr sz="2000">
              <a:latin typeface="Kalam"/>
              <a:ea typeface="Kalam"/>
              <a:cs typeface="Kalam"/>
              <a:sym typeface="Kalam"/>
            </a:endParaRPr>
          </a:p>
        </p:txBody>
      </p:sp>
      <p:grpSp>
        <p:nvGrpSpPr>
          <p:cNvPr id="1459" name="Google Shape;1459;p119"/>
          <p:cNvGrpSpPr/>
          <p:nvPr/>
        </p:nvGrpSpPr>
        <p:grpSpPr>
          <a:xfrm>
            <a:off x="4034103" y="1693650"/>
            <a:ext cx="3475733" cy="554196"/>
            <a:chOff x="5413504" y="2887218"/>
            <a:chExt cx="4688700" cy="747600"/>
          </a:xfrm>
        </p:grpSpPr>
        <p:sp>
          <p:nvSpPr>
            <p:cNvPr id="1460" name="Google Shape;1460;p119"/>
            <p:cNvSpPr txBox="1"/>
            <p:nvPr/>
          </p:nvSpPr>
          <p:spPr>
            <a:xfrm>
              <a:off x="5413504" y="2887218"/>
              <a:ext cx="4688700" cy="74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Key</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Manston (South-East England)</a:t>
              </a:r>
              <a:endParaRPr sz="1200">
                <a:latin typeface="Lexend"/>
                <a:ea typeface="Lexend"/>
                <a:cs typeface="Lexend"/>
                <a:sym typeface="Lexend"/>
              </a:endParaRPr>
            </a:p>
            <a:p>
              <a:pPr indent="0" lvl="0" marL="0" rtl="0" algn="l">
                <a:spcBef>
                  <a:spcPts val="0"/>
                </a:spcBef>
                <a:spcAft>
                  <a:spcPts val="0"/>
                </a:spcAft>
                <a:buNone/>
              </a:pPr>
              <a:r>
                <a:rPr lang="en-GB" sz="1200">
                  <a:solidFill>
                    <a:schemeClr val="dk1"/>
                  </a:solidFill>
                  <a:latin typeface="Lexend"/>
                  <a:ea typeface="Lexend"/>
                  <a:cs typeface="Lexend"/>
                  <a:sym typeface="Lexend"/>
                </a:rPr>
                <a:t>        Durham (North-East England)</a:t>
              </a:r>
              <a:endParaRPr sz="1200">
                <a:latin typeface="Lexend"/>
                <a:ea typeface="Lexend"/>
                <a:cs typeface="Lexend"/>
                <a:sym typeface="Lexend"/>
              </a:endParaRPr>
            </a:p>
          </p:txBody>
        </p:sp>
        <p:sp>
          <p:nvSpPr>
            <p:cNvPr id="1461" name="Google Shape;1461;p119"/>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462" name="Google Shape;1462;p119"/>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grpSp>
      <p:grpSp>
        <p:nvGrpSpPr>
          <p:cNvPr id="1463" name="Google Shape;1463;p119"/>
          <p:cNvGrpSpPr/>
          <p:nvPr/>
        </p:nvGrpSpPr>
        <p:grpSpPr>
          <a:xfrm>
            <a:off x="644155" y="1865282"/>
            <a:ext cx="81467" cy="64144"/>
            <a:chOff x="776825" y="2447425"/>
            <a:chExt cx="58500" cy="78225"/>
          </a:xfrm>
        </p:grpSpPr>
        <p:cxnSp>
          <p:nvCxnSpPr>
            <p:cNvPr id="1464" name="Google Shape;1464;p119"/>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465" name="Google Shape;1465;p119"/>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120"/>
          <p:cNvSpPr txBox="1"/>
          <p:nvPr/>
        </p:nvSpPr>
        <p:spPr>
          <a:xfrm>
            <a:off x="884250" y="3040418"/>
            <a:ext cx="79359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The link could be that locations where </a:t>
            </a:r>
            <a:r>
              <a:rPr lang="en-GB" sz="2000">
                <a:solidFill>
                  <a:schemeClr val="dk1"/>
                </a:solidFill>
                <a:latin typeface="Kalam"/>
                <a:ea typeface="Kalam"/>
                <a:cs typeface="Kalam"/>
                <a:sym typeface="Kalam"/>
              </a:rPr>
              <a:t>people travel longer distances to get to work</a:t>
            </a:r>
            <a:r>
              <a:rPr lang="en-GB" sz="2000">
                <a:latin typeface="Kalam"/>
                <a:ea typeface="Kalam"/>
                <a:cs typeface="Kalam"/>
                <a:sym typeface="Kalam"/>
              </a:rPr>
              <a:t> (and the resultant </a:t>
            </a:r>
            <a:r>
              <a:rPr lang="en-GB" sz="2000">
                <a:solidFill>
                  <a:schemeClr val="dk1"/>
                </a:solidFill>
                <a:latin typeface="Kalam"/>
                <a:ea typeface="Kalam"/>
                <a:cs typeface="Kalam"/>
                <a:sym typeface="Kalam"/>
              </a:rPr>
              <a:t>higher carbon emissions</a:t>
            </a:r>
            <a:r>
              <a:rPr lang="en-GB" sz="2000">
                <a:latin typeface="Kalam"/>
                <a:ea typeface="Kalam"/>
                <a:cs typeface="Kalam"/>
                <a:sym typeface="Kalam"/>
              </a:rPr>
              <a:t>) have temperatures that increase at a faster rate than locations where fewer people travel longer distances to get to work.</a:t>
            </a:r>
            <a:endParaRPr sz="2000">
              <a:latin typeface="Kalam"/>
              <a:ea typeface="Kalam"/>
              <a:cs typeface="Kalam"/>
              <a:sym typeface="Kalam"/>
            </a:endParaRPr>
          </a:p>
        </p:txBody>
      </p:sp>
      <p:sp>
        <p:nvSpPr>
          <p:cNvPr id="1471" name="Google Shape;1471;p120"/>
          <p:cNvSpPr txBox="1"/>
          <p:nvPr/>
        </p:nvSpPr>
        <p:spPr>
          <a:xfrm>
            <a:off x="324050" y="2380123"/>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dk1"/>
                </a:solidFill>
                <a:latin typeface="Lexend"/>
                <a:ea typeface="Lexend"/>
                <a:cs typeface="Lexend"/>
                <a:sym typeface="Lexend"/>
              </a:rPr>
              <a:t>3a) Using both your answers to question 1c and 2, write down a possible link between distance travelled to work and mean yearly temperature.</a:t>
            </a:r>
            <a:endParaRPr sz="1600">
              <a:solidFill>
                <a:schemeClr val="dk1"/>
              </a:solidFill>
              <a:latin typeface="Lexend"/>
              <a:ea typeface="Lexend"/>
              <a:cs typeface="Lexend"/>
              <a:sym typeface="Lexend"/>
            </a:endParaRPr>
          </a:p>
        </p:txBody>
      </p:sp>
      <p:sp>
        <p:nvSpPr>
          <p:cNvPr id="1472" name="Google Shape;1472;p12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473" name="Google Shape;1473;p120"/>
          <p:cNvSpPr txBox="1"/>
          <p:nvPr/>
        </p:nvSpPr>
        <p:spPr>
          <a:xfrm>
            <a:off x="4034091" y="708757"/>
            <a:ext cx="25881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chemeClr val="dk1"/>
                </a:solidFill>
                <a:latin typeface="Lexend"/>
                <a:ea typeface="Lexend"/>
                <a:cs typeface="Lexend"/>
                <a:sym typeface="Lexend"/>
              </a:rPr>
              <a:t>This graph shows data from the Met Office on the mean yearly temperature for two UK locations: Manston (1961 – 2022) and Durham (1941 – 2022).</a:t>
            </a:r>
            <a:endParaRPr sz="1200">
              <a:latin typeface="Lexend"/>
              <a:ea typeface="Lexend"/>
              <a:cs typeface="Lexend"/>
              <a:sym typeface="Lexend"/>
            </a:endParaRPr>
          </a:p>
        </p:txBody>
      </p:sp>
      <p:pic>
        <p:nvPicPr>
          <p:cNvPr id="1474" name="Google Shape;1474;p120"/>
          <p:cNvPicPr preferRelativeResize="0"/>
          <p:nvPr/>
        </p:nvPicPr>
        <p:blipFill rotWithShape="1">
          <a:blip r:embed="rId3">
            <a:alphaModFix/>
          </a:blip>
          <a:srcRect b="0" l="0" r="1835" t="0"/>
          <a:stretch/>
        </p:blipFill>
        <p:spPr>
          <a:xfrm>
            <a:off x="323996" y="708294"/>
            <a:ext cx="3652958" cy="1497371"/>
          </a:xfrm>
          <a:prstGeom prst="rect">
            <a:avLst/>
          </a:prstGeom>
          <a:noFill/>
          <a:ln cap="flat" cmpd="sng" w="19050">
            <a:solidFill>
              <a:schemeClr val="dk1"/>
            </a:solidFill>
            <a:prstDash val="solid"/>
            <a:round/>
            <a:headEnd len="sm" w="sm" type="none"/>
            <a:tailEnd len="sm" w="sm" type="none"/>
          </a:ln>
        </p:spPr>
      </p:pic>
      <p:grpSp>
        <p:nvGrpSpPr>
          <p:cNvPr id="1475" name="Google Shape;1475;p120"/>
          <p:cNvGrpSpPr/>
          <p:nvPr/>
        </p:nvGrpSpPr>
        <p:grpSpPr>
          <a:xfrm>
            <a:off x="4034103" y="1693650"/>
            <a:ext cx="3373434" cy="554196"/>
            <a:chOff x="5413504" y="2887218"/>
            <a:chExt cx="4550700" cy="747600"/>
          </a:xfrm>
        </p:grpSpPr>
        <p:sp>
          <p:nvSpPr>
            <p:cNvPr id="1476" name="Google Shape;1476;p120"/>
            <p:cNvSpPr txBox="1"/>
            <p:nvPr/>
          </p:nvSpPr>
          <p:spPr>
            <a:xfrm>
              <a:off x="5413504" y="2887218"/>
              <a:ext cx="4550700" cy="74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Key</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Manston (South-East England)</a:t>
              </a:r>
              <a:endParaRPr sz="1200">
                <a:latin typeface="Lexend"/>
                <a:ea typeface="Lexend"/>
                <a:cs typeface="Lexend"/>
                <a:sym typeface="Lexend"/>
              </a:endParaRPr>
            </a:p>
            <a:p>
              <a:pPr indent="0" lvl="0" marL="0" rtl="0" algn="l">
                <a:spcBef>
                  <a:spcPts val="0"/>
                </a:spcBef>
                <a:spcAft>
                  <a:spcPts val="0"/>
                </a:spcAft>
                <a:buNone/>
              </a:pPr>
              <a:r>
                <a:rPr lang="en-GB" sz="1200">
                  <a:solidFill>
                    <a:schemeClr val="dk1"/>
                  </a:solidFill>
                  <a:latin typeface="Lexend"/>
                  <a:ea typeface="Lexend"/>
                  <a:cs typeface="Lexend"/>
                  <a:sym typeface="Lexend"/>
                </a:rPr>
                <a:t>        Durham (North-East England)</a:t>
              </a:r>
              <a:endParaRPr sz="1200">
                <a:latin typeface="Lexend"/>
                <a:ea typeface="Lexend"/>
                <a:cs typeface="Lexend"/>
                <a:sym typeface="Lexend"/>
              </a:endParaRPr>
            </a:p>
          </p:txBody>
        </p:sp>
        <p:sp>
          <p:nvSpPr>
            <p:cNvPr id="1477" name="Google Shape;1477;p120"/>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478" name="Google Shape;1478;p120"/>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grpSp>
      <p:grpSp>
        <p:nvGrpSpPr>
          <p:cNvPr id="1479" name="Google Shape;1479;p120"/>
          <p:cNvGrpSpPr/>
          <p:nvPr/>
        </p:nvGrpSpPr>
        <p:grpSpPr>
          <a:xfrm>
            <a:off x="644155" y="1865282"/>
            <a:ext cx="81467" cy="64144"/>
            <a:chOff x="776825" y="2447425"/>
            <a:chExt cx="58500" cy="78225"/>
          </a:xfrm>
        </p:grpSpPr>
        <p:cxnSp>
          <p:nvCxnSpPr>
            <p:cNvPr id="1480" name="Google Shape;1480;p120"/>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481" name="Google Shape;1481;p120"/>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121"/>
          <p:cNvSpPr txBox="1"/>
          <p:nvPr/>
        </p:nvSpPr>
        <p:spPr>
          <a:xfrm>
            <a:off x="324050" y="2380123"/>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dk1"/>
                </a:solidFill>
                <a:latin typeface="Lexend"/>
                <a:ea typeface="Lexend"/>
                <a:cs typeface="Lexend"/>
                <a:sym typeface="Lexend"/>
              </a:rPr>
              <a:t>b) Explain the extent to which this link is accurate or not by assessing the validity of the comparisons across both sets of data.</a:t>
            </a:r>
            <a:endParaRPr sz="1600">
              <a:solidFill>
                <a:schemeClr val="dk1"/>
              </a:solidFill>
              <a:latin typeface="Lexend"/>
              <a:ea typeface="Lexend"/>
              <a:cs typeface="Lexend"/>
              <a:sym typeface="Lexend"/>
            </a:endParaRPr>
          </a:p>
        </p:txBody>
      </p:sp>
      <p:sp>
        <p:nvSpPr>
          <p:cNvPr id="1487" name="Google Shape;1487;p12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488" name="Google Shape;1488;p121"/>
          <p:cNvSpPr txBox="1"/>
          <p:nvPr/>
        </p:nvSpPr>
        <p:spPr>
          <a:xfrm>
            <a:off x="4034091" y="708757"/>
            <a:ext cx="25881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chemeClr val="dk1"/>
                </a:solidFill>
                <a:latin typeface="Lexend"/>
                <a:ea typeface="Lexend"/>
                <a:cs typeface="Lexend"/>
                <a:sym typeface="Lexend"/>
              </a:rPr>
              <a:t>This graph shows data from the Met Office on the mean yearly temperature for two UK locations: Manston (1961 – 2022) and Durham (1941 – 2022).</a:t>
            </a:r>
            <a:endParaRPr sz="1200">
              <a:latin typeface="Lexend"/>
              <a:ea typeface="Lexend"/>
              <a:cs typeface="Lexend"/>
              <a:sym typeface="Lexend"/>
            </a:endParaRPr>
          </a:p>
        </p:txBody>
      </p:sp>
      <p:pic>
        <p:nvPicPr>
          <p:cNvPr id="1489" name="Google Shape;1489;p121"/>
          <p:cNvPicPr preferRelativeResize="0"/>
          <p:nvPr/>
        </p:nvPicPr>
        <p:blipFill rotWithShape="1">
          <a:blip r:embed="rId3">
            <a:alphaModFix/>
          </a:blip>
          <a:srcRect b="0" l="0" r="1835" t="0"/>
          <a:stretch/>
        </p:blipFill>
        <p:spPr>
          <a:xfrm>
            <a:off x="323996" y="708294"/>
            <a:ext cx="3652958" cy="1497371"/>
          </a:xfrm>
          <a:prstGeom prst="rect">
            <a:avLst/>
          </a:prstGeom>
          <a:noFill/>
          <a:ln cap="flat" cmpd="sng" w="19050">
            <a:solidFill>
              <a:schemeClr val="dk1"/>
            </a:solidFill>
            <a:prstDash val="solid"/>
            <a:round/>
            <a:headEnd len="sm" w="sm" type="none"/>
            <a:tailEnd len="sm" w="sm" type="none"/>
          </a:ln>
        </p:spPr>
      </p:pic>
      <p:grpSp>
        <p:nvGrpSpPr>
          <p:cNvPr id="1490" name="Google Shape;1490;p121"/>
          <p:cNvGrpSpPr/>
          <p:nvPr/>
        </p:nvGrpSpPr>
        <p:grpSpPr>
          <a:xfrm>
            <a:off x="4034103" y="1693650"/>
            <a:ext cx="3554015" cy="554196"/>
            <a:chOff x="5413505" y="2887218"/>
            <a:chExt cx="4794300" cy="747600"/>
          </a:xfrm>
        </p:grpSpPr>
        <p:sp>
          <p:nvSpPr>
            <p:cNvPr id="1491" name="Google Shape;1491;p121"/>
            <p:cNvSpPr txBox="1"/>
            <p:nvPr/>
          </p:nvSpPr>
          <p:spPr>
            <a:xfrm>
              <a:off x="5413505" y="2887218"/>
              <a:ext cx="4794300" cy="74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Key</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Manston (South-East England)</a:t>
              </a:r>
              <a:endParaRPr sz="1200">
                <a:latin typeface="Lexend"/>
                <a:ea typeface="Lexend"/>
                <a:cs typeface="Lexend"/>
                <a:sym typeface="Lexend"/>
              </a:endParaRPr>
            </a:p>
            <a:p>
              <a:pPr indent="0" lvl="0" marL="0" rtl="0" algn="l">
                <a:spcBef>
                  <a:spcPts val="0"/>
                </a:spcBef>
                <a:spcAft>
                  <a:spcPts val="0"/>
                </a:spcAft>
                <a:buNone/>
              </a:pPr>
              <a:r>
                <a:rPr lang="en-GB" sz="1200">
                  <a:solidFill>
                    <a:schemeClr val="dk1"/>
                  </a:solidFill>
                  <a:latin typeface="Lexend"/>
                  <a:ea typeface="Lexend"/>
                  <a:cs typeface="Lexend"/>
                  <a:sym typeface="Lexend"/>
                </a:rPr>
                <a:t>        Durham (North-East England)</a:t>
              </a:r>
              <a:endParaRPr sz="1200">
                <a:latin typeface="Lexend"/>
                <a:ea typeface="Lexend"/>
                <a:cs typeface="Lexend"/>
                <a:sym typeface="Lexend"/>
              </a:endParaRPr>
            </a:p>
          </p:txBody>
        </p:sp>
        <p:sp>
          <p:nvSpPr>
            <p:cNvPr id="1492" name="Google Shape;1492;p121"/>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493" name="Google Shape;1493;p121"/>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grpSp>
      <p:sp>
        <p:nvSpPr>
          <p:cNvPr id="1494" name="Google Shape;1494;p121"/>
          <p:cNvSpPr txBox="1"/>
          <p:nvPr/>
        </p:nvSpPr>
        <p:spPr>
          <a:xfrm>
            <a:off x="884250" y="2896500"/>
            <a:ext cx="7677000" cy="192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Whilst both the table (question 1) and graph (question 2) show data from the South-East and North-East regions of England, the graph only shows data from one part of each region.</a:t>
            </a:r>
            <a:endParaRPr sz="2000">
              <a:latin typeface="Kalam"/>
              <a:ea typeface="Kalam"/>
              <a:cs typeface="Kalam"/>
              <a:sym typeface="Kalam"/>
            </a:endParaRPr>
          </a:p>
          <a:p>
            <a:pPr indent="0" lvl="0" marL="0" rtl="0" algn="l">
              <a:spcBef>
                <a:spcPts val="600"/>
              </a:spcBef>
              <a:spcAft>
                <a:spcPts val="600"/>
              </a:spcAft>
              <a:buNone/>
            </a:pPr>
            <a:r>
              <a:rPr lang="en-GB" sz="2000">
                <a:latin typeface="Kalam"/>
                <a:ea typeface="Kalam"/>
                <a:cs typeface="Kalam"/>
                <a:sym typeface="Kalam"/>
              </a:rPr>
              <a:t>Therefore, it may not be valid to generalise the conclusions we make about the rate of temperature increase from Manston and Durham to the rest of each region.</a:t>
            </a:r>
            <a:endParaRPr sz="2000">
              <a:latin typeface="Kalam"/>
              <a:ea typeface="Kalam"/>
              <a:cs typeface="Kalam"/>
              <a:sym typeface="Kalam"/>
            </a:endParaRPr>
          </a:p>
        </p:txBody>
      </p:sp>
      <p:grpSp>
        <p:nvGrpSpPr>
          <p:cNvPr id="1495" name="Google Shape;1495;p121"/>
          <p:cNvGrpSpPr/>
          <p:nvPr/>
        </p:nvGrpSpPr>
        <p:grpSpPr>
          <a:xfrm>
            <a:off x="644155" y="1865282"/>
            <a:ext cx="81467" cy="64144"/>
            <a:chOff x="776825" y="2447425"/>
            <a:chExt cx="58500" cy="78225"/>
          </a:xfrm>
        </p:grpSpPr>
        <p:cxnSp>
          <p:nvCxnSpPr>
            <p:cNvPr id="1496" name="Google Shape;1496;p121"/>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497" name="Google Shape;1497;p121"/>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122"/>
          <p:cNvSpPr txBox="1"/>
          <p:nvPr/>
        </p:nvSpPr>
        <p:spPr>
          <a:xfrm>
            <a:off x="324050" y="2380123"/>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dk1"/>
                </a:solidFill>
                <a:latin typeface="Lexend"/>
                <a:ea typeface="Lexend"/>
                <a:cs typeface="Lexend"/>
                <a:sym typeface="Lexend"/>
              </a:rPr>
              <a:t>b) Explain the extent to which this link is accurate or not by assessing the validity of the comparisons across both sets of data.</a:t>
            </a:r>
            <a:endParaRPr sz="1600">
              <a:solidFill>
                <a:schemeClr val="dk1"/>
              </a:solidFill>
              <a:latin typeface="Lexend"/>
              <a:ea typeface="Lexend"/>
              <a:cs typeface="Lexend"/>
              <a:sym typeface="Lexend"/>
            </a:endParaRPr>
          </a:p>
        </p:txBody>
      </p:sp>
      <p:sp>
        <p:nvSpPr>
          <p:cNvPr id="1503" name="Google Shape;1503;p12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Forming conclusions about local climate change</a:t>
            </a:r>
            <a:endParaRPr/>
          </a:p>
        </p:txBody>
      </p:sp>
      <p:sp>
        <p:nvSpPr>
          <p:cNvPr id="1504" name="Google Shape;1504;p122"/>
          <p:cNvSpPr txBox="1"/>
          <p:nvPr/>
        </p:nvSpPr>
        <p:spPr>
          <a:xfrm>
            <a:off x="884250" y="2896500"/>
            <a:ext cx="7677000" cy="1847100"/>
          </a:xfrm>
          <a:prstGeom prst="rect">
            <a:avLst/>
          </a:prstGeom>
          <a:noFill/>
          <a:ln>
            <a:noFill/>
          </a:ln>
        </p:spPr>
        <p:txBody>
          <a:bodyPr anchorCtr="0" anchor="t" bIns="0" lIns="0" spcFirstLastPara="1" rIns="0" wrap="square" tIns="0">
            <a:spAutoFit/>
          </a:bodyPr>
          <a:lstStyle/>
          <a:p>
            <a:pPr indent="0" lvl="0" marL="0" rtl="0" algn="l">
              <a:spcBef>
                <a:spcPts val="0"/>
              </a:spcBef>
              <a:spcAft>
                <a:spcPts val="600"/>
              </a:spcAft>
              <a:buNone/>
            </a:pPr>
            <a:r>
              <a:rPr lang="en-GB" sz="2000">
                <a:latin typeface="Kalam"/>
                <a:ea typeface="Kalam"/>
                <a:cs typeface="Kalam"/>
                <a:sym typeface="Kalam"/>
              </a:rPr>
              <a:t>Positives that give validity to our comparisons include the timeframes. Both regions in the graph show data from 1961 to 2022 (with Durham having data going back to 1941), which allow for like comparisons between regions. Furthermore, the table from question 1 shows data collected in 2011, which is within the 1961 to 2022 timeframe.</a:t>
            </a:r>
            <a:endParaRPr sz="2000">
              <a:latin typeface="Kalam"/>
              <a:ea typeface="Kalam"/>
              <a:cs typeface="Kalam"/>
              <a:sym typeface="Kalam"/>
            </a:endParaRPr>
          </a:p>
        </p:txBody>
      </p:sp>
      <p:sp>
        <p:nvSpPr>
          <p:cNvPr id="1505" name="Google Shape;1505;p122"/>
          <p:cNvSpPr txBox="1"/>
          <p:nvPr/>
        </p:nvSpPr>
        <p:spPr>
          <a:xfrm>
            <a:off x="4034091" y="708757"/>
            <a:ext cx="25881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chemeClr val="dk1"/>
                </a:solidFill>
                <a:latin typeface="Lexend"/>
                <a:ea typeface="Lexend"/>
                <a:cs typeface="Lexend"/>
                <a:sym typeface="Lexend"/>
              </a:rPr>
              <a:t>This graph shows data from the Met Office on the mean yearly temperature for two UK locations: Manston (1961 – 2022) and Durham (1941 – 2022).</a:t>
            </a:r>
            <a:endParaRPr sz="1200">
              <a:latin typeface="Lexend"/>
              <a:ea typeface="Lexend"/>
              <a:cs typeface="Lexend"/>
              <a:sym typeface="Lexend"/>
            </a:endParaRPr>
          </a:p>
        </p:txBody>
      </p:sp>
      <p:pic>
        <p:nvPicPr>
          <p:cNvPr id="1506" name="Google Shape;1506;p122"/>
          <p:cNvPicPr preferRelativeResize="0"/>
          <p:nvPr/>
        </p:nvPicPr>
        <p:blipFill rotWithShape="1">
          <a:blip r:embed="rId3">
            <a:alphaModFix/>
          </a:blip>
          <a:srcRect b="0" l="0" r="1835" t="0"/>
          <a:stretch/>
        </p:blipFill>
        <p:spPr>
          <a:xfrm>
            <a:off x="323996" y="708294"/>
            <a:ext cx="3652958" cy="1497371"/>
          </a:xfrm>
          <a:prstGeom prst="rect">
            <a:avLst/>
          </a:prstGeom>
          <a:noFill/>
          <a:ln cap="flat" cmpd="sng" w="19050">
            <a:solidFill>
              <a:schemeClr val="dk1"/>
            </a:solidFill>
            <a:prstDash val="solid"/>
            <a:round/>
            <a:headEnd len="sm" w="sm" type="none"/>
            <a:tailEnd len="sm" w="sm" type="none"/>
          </a:ln>
        </p:spPr>
      </p:pic>
      <p:grpSp>
        <p:nvGrpSpPr>
          <p:cNvPr id="1507" name="Google Shape;1507;p122"/>
          <p:cNvGrpSpPr/>
          <p:nvPr/>
        </p:nvGrpSpPr>
        <p:grpSpPr>
          <a:xfrm>
            <a:off x="4034102" y="1693650"/>
            <a:ext cx="3319171" cy="554196"/>
            <a:chOff x="5413503" y="2887218"/>
            <a:chExt cx="4477500" cy="747600"/>
          </a:xfrm>
        </p:grpSpPr>
        <p:sp>
          <p:nvSpPr>
            <p:cNvPr id="1508" name="Google Shape;1508;p122"/>
            <p:cNvSpPr txBox="1"/>
            <p:nvPr/>
          </p:nvSpPr>
          <p:spPr>
            <a:xfrm>
              <a:off x="5413503" y="2887218"/>
              <a:ext cx="4477500" cy="74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Key</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Manston (South-East England)</a:t>
              </a:r>
              <a:endParaRPr sz="1200">
                <a:latin typeface="Lexend"/>
                <a:ea typeface="Lexend"/>
                <a:cs typeface="Lexend"/>
                <a:sym typeface="Lexend"/>
              </a:endParaRPr>
            </a:p>
            <a:p>
              <a:pPr indent="0" lvl="0" marL="0" rtl="0" algn="l">
                <a:spcBef>
                  <a:spcPts val="0"/>
                </a:spcBef>
                <a:spcAft>
                  <a:spcPts val="0"/>
                </a:spcAft>
                <a:buNone/>
              </a:pPr>
              <a:r>
                <a:rPr lang="en-GB" sz="1200">
                  <a:solidFill>
                    <a:schemeClr val="dk1"/>
                  </a:solidFill>
                  <a:latin typeface="Lexend"/>
                  <a:ea typeface="Lexend"/>
                  <a:cs typeface="Lexend"/>
                  <a:sym typeface="Lexend"/>
                </a:rPr>
                <a:t>        Durham (North-East England)</a:t>
              </a:r>
              <a:endParaRPr sz="1200">
                <a:latin typeface="Lexend"/>
                <a:ea typeface="Lexend"/>
                <a:cs typeface="Lexend"/>
                <a:sym typeface="Lexend"/>
              </a:endParaRPr>
            </a:p>
          </p:txBody>
        </p:sp>
        <p:sp>
          <p:nvSpPr>
            <p:cNvPr id="1509" name="Google Shape;1509;p122"/>
            <p:cNvSpPr/>
            <p:nvPr/>
          </p:nvSpPr>
          <p:spPr>
            <a:xfrm>
              <a:off x="5517175" y="3173038"/>
              <a:ext cx="189000" cy="1890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510" name="Google Shape;1510;p122"/>
            <p:cNvSpPr/>
            <p:nvPr/>
          </p:nvSpPr>
          <p:spPr>
            <a:xfrm>
              <a:off x="5538775" y="3431075"/>
              <a:ext cx="145800" cy="145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grpSp>
      <p:grpSp>
        <p:nvGrpSpPr>
          <p:cNvPr id="1511" name="Google Shape;1511;p122"/>
          <p:cNvGrpSpPr/>
          <p:nvPr/>
        </p:nvGrpSpPr>
        <p:grpSpPr>
          <a:xfrm>
            <a:off x="644155" y="1865282"/>
            <a:ext cx="81467" cy="64144"/>
            <a:chOff x="776825" y="2447425"/>
            <a:chExt cx="58500" cy="78225"/>
          </a:xfrm>
        </p:grpSpPr>
        <p:cxnSp>
          <p:nvCxnSpPr>
            <p:cNvPr id="1512" name="Google Shape;1512;p122"/>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513" name="Google Shape;1513;p122"/>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23"/>
          <p:cNvSpPr txBox="1"/>
          <p:nvPr/>
        </p:nvSpPr>
        <p:spPr>
          <a:xfrm>
            <a:off x="324000" y="751197"/>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There are many elements to a climate, such as temperature, amount of rainfall, amount of air frost, etc.</a:t>
            </a:r>
            <a:endParaRPr sz="1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A </a:t>
            </a:r>
            <a:r>
              <a:rPr lang="en-GB" sz="1800">
                <a:latin typeface="Lexend"/>
                <a:ea typeface="Lexend"/>
                <a:cs typeface="Lexend"/>
                <a:sym typeface="Lexend"/>
              </a:rPr>
              <a:t>measurable</a:t>
            </a:r>
            <a:r>
              <a:rPr lang="en-GB" sz="1800">
                <a:latin typeface="Lexend"/>
                <a:ea typeface="Lexend"/>
                <a:cs typeface="Lexend"/>
                <a:sym typeface="Lexend"/>
              </a:rPr>
              <a:t> element of the climate across multiple locations can be compared on a graph. It is possible to establish and compare long term trends between these locations.</a:t>
            </a:r>
            <a:endParaRPr sz="1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However, these trends cannot be generalised to other locations or other elements of the climate without further information.</a:t>
            </a:r>
            <a:endParaRPr sz="1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It is possible to begin forming conclusions about the climate of a location by considering data from multiple different elements of its climate and analysing any links between each dataset. </a:t>
            </a:r>
            <a:endParaRPr sz="1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However, the extent to which these conclusions may be helpful depends on whether each dataset shows trends from the same location over the same period of time.</a:t>
            </a:r>
            <a:endParaRPr sz="1800">
              <a:latin typeface="Lexend"/>
              <a:ea typeface="Lexend"/>
              <a:cs typeface="Lexend"/>
              <a:sym typeface="Lexend"/>
            </a:endParaRPr>
          </a:p>
        </p:txBody>
      </p:sp>
      <p:sp>
        <p:nvSpPr>
          <p:cNvPr id="1519" name="Google Shape;1519;p123"/>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Studying local climate change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124"/>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25" name="Google Shape;1525;p124"/>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