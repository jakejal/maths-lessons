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8" r:id="rId4"/>
  </p:sldMasterIdLst>
  <p:notesMasterIdLst>
    <p:notesMasterId r:id="rId5"/>
  </p:notesMasterIdLst>
  <p:sldIdLst>
    <p:sldId id="256" r:id="rId6"/>
    <p:sldId id="257" r:id="rId7"/>
    <p:sldId id="258" r:id="rId8"/>
  </p:sldIdLst>
  <p:sldSz cy="10692000" cx="7560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E4D92CE-E0C0-468E-AA07-0A278381EF15}">
  <a:tblStyle styleId="{1E4D92CE-E0C0-468E-AA07-0A278381EF1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79934fec8d_0_131: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279934fec8d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0e4f2c18f4_0_38: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0e4f2c18f4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79934fec8d_0_136: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279934fec8d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hyperlink" Target="https://www.nationalarchives.gov.uk/doc/open-government-licence/version/3/" TargetMode="External"/><Relationship Id="rId5" Type="http://schemas.openxmlformats.org/officeDocument/2006/relationships/hyperlink" Target="https://www.thenational.academy/legal/terms-and-conditions" TargetMode="Externa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hyperlink" Target="https://www.nationalarchives.gov.uk/doc/open-government-licence/version/3/" TargetMode="External"/><Relationship Id="rId6" Type="http://schemas.openxmlformats.org/officeDocument/2006/relationships/hyperlink" Target="https://www.thenational.academy/legal/terms-and-conditions" TargetMode="External"/><Relationship Id="rId7"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hyperlink" Target="https://www.nationalarchives.gov.uk/doc/open-government-licence/version/3/" TargetMode="External"/><Relationship Id="rId6" Type="http://schemas.openxmlformats.org/officeDocument/2006/relationships/hyperlink" Target="https://www.thenational.academy/legal/terms-and-conditions" TargetMode="External"/><Relationship Id="rId7"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hyperlink" Target="https://www.nationalarchives.gov.uk/doc/open-government-licence/version/3/" TargetMode="External"/><Relationship Id="rId5" Type="http://schemas.openxmlformats.org/officeDocument/2006/relationships/hyperlink" Target="https://www.thenational.academy/legal/terms-and-conditions" TargetMode="Externa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hyperlink" Target="https://www.nationalarchives.gov.uk/doc/open-government-licence/version/3/" TargetMode="External"/><Relationship Id="rId6" Type="http://schemas.openxmlformats.org/officeDocument/2006/relationships/hyperlink" Target="https://www.thenational.academy/legal/terms-and-conditions" TargetMode="External"/><Relationship Id="rId7"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Title page">
  <p:cSld name="SECTION_HEADER_1_1_1_1_1_1_1_1_1_1_1_2_1_1_1_1_1_2">
    <p:bg>
      <p:bgPr>
        <a:solidFill>
          <a:schemeClr val="lt1"/>
        </a:solidFill>
      </p:bgPr>
    </p:bg>
    <p:spTree>
      <p:nvGrpSpPr>
        <p:cNvPr id="9" name="Shape 9"/>
        <p:cNvGrpSpPr/>
        <p:nvPr/>
      </p:nvGrpSpPr>
      <p:grpSpPr>
        <a:xfrm>
          <a:off x="0" y="0"/>
          <a:ext cx="0" cy="0"/>
          <a:chOff x="0" y="0"/>
          <a:chExt cx="0" cy="0"/>
        </a:xfrm>
      </p:grpSpPr>
      <p:pic>
        <p:nvPicPr>
          <p:cNvPr id="10" name="Google Shape;10;p2"/>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11" name="Google Shape;11;p2"/>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2" name="Google Shape;12;p2"/>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3" name="Google Shape;13;p2"/>
          <p:cNvPicPr preferRelativeResize="0"/>
          <p:nvPr/>
        </p:nvPicPr>
        <p:blipFill>
          <a:blip r:embed="rId3">
            <a:alphaModFix/>
          </a:blip>
          <a:stretch>
            <a:fillRect/>
          </a:stretch>
        </p:blipFill>
        <p:spPr>
          <a:xfrm>
            <a:off x="468000" y="1242003"/>
            <a:ext cx="6624000" cy="66240"/>
          </a:xfrm>
          <a:prstGeom prst="rect">
            <a:avLst/>
          </a:prstGeom>
          <a:noFill/>
          <a:ln>
            <a:noFill/>
          </a:ln>
        </p:spPr>
      </p:pic>
      <p:sp>
        <p:nvSpPr>
          <p:cNvPr id="14" name="Google Shape;14;p2"/>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solidFill>
                  <a:schemeClr val="dk1"/>
                </a:solidFill>
                <a:latin typeface="Lexend"/>
                <a:ea typeface="Lexend"/>
                <a:cs typeface="Lexend"/>
                <a:sym typeface="Lexend"/>
              </a:rPr>
              <a:t>Worksheet</a:t>
            </a:r>
            <a:endParaRPr b="1">
              <a:solidFill>
                <a:schemeClr val="dk1"/>
              </a:solidFill>
              <a:latin typeface="Lexend"/>
              <a:ea typeface="Lexend"/>
              <a:cs typeface="Lexend"/>
              <a:sym typeface="Lexend"/>
            </a:endParaRPr>
          </a:p>
        </p:txBody>
      </p:sp>
      <p:pic>
        <p:nvPicPr>
          <p:cNvPr id="15" name="Google Shape;15;p2"/>
          <p:cNvPicPr preferRelativeResize="0"/>
          <p:nvPr/>
        </p:nvPicPr>
        <p:blipFill>
          <a:blip r:embed="rId4">
            <a:alphaModFix/>
          </a:blip>
          <a:stretch>
            <a:fillRect/>
          </a:stretch>
        </p:blipFill>
        <p:spPr>
          <a:xfrm>
            <a:off x="428300" y="324000"/>
            <a:ext cx="936000" cy="270612"/>
          </a:xfrm>
          <a:prstGeom prst="rect">
            <a:avLst/>
          </a:prstGeom>
          <a:noFill/>
          <a:ln>
            <a:noFill/>
          </a:ln>
        </p:spPr>
      </p:pic>
      <p:sp>
        <p:nvSpPr>
          <p:cNvPr id="16" name="Google Shape;16;p2"/>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pic>
        <p:nvPicPr>
          <p:cNvPr id="17" name="Google Shape;17;p2"/>
          <p:cNvPicPr preferRelativeResize="0"/>
          <p:nvPr/>
        </p:nvPicPr>
        <p:blipFill>
          <a:blip r:embed="rId5">
            <a:alphaModFix/>
          </a:blip>
          <a:stretch>
            <a:fillRect/>
          </a:stretch>
        </p:blipFill>
        <p:spPr>
          <a:xfrm>
            <a:off x="5722275" y="215694"/>
            <a:ext cx="504000" cy="504000"/>
          </a:xfrm>
          <a:prstGeom prst="rect">
            <a:avLst/>
          </a:prstGeom>
          <a:noFill/>
          <a:ln>
            <a:noFill/>
          </a:ln>
        </p:spPr>
      </p:pic>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Title page with long title">
  <p:cSld name="SECTION_HEADER_1_1_1_1_1_1_1_1_1_1_1_2_1_1_1_1_1_1_2">
    <p:bg>
      <p:bgPr>
        <a:solidFill>
          <a:schemeClr val="lt1"/>
        </a:solidFill>
      </p:bgPr>
    </p:bg>
    <p:spTree>
      <p:nvGrpSpPr>
        <p:cNvPr id="18" name="Shape 18"/>
        <p:cNvGrpSpPr/>
        <p:nvPr/>
      </p:nvGrpSpPr>
      <p:grpSpPr>
        <a:xfrm>
          <a:off x="0" y="0"/>
          <a:ext cx="0" cy="0"/>
          <a:chOff x="0" y="0"/>
          <a:chExt cx="0" cy="0"/>
        </a:xfrm>
      </p:grpSpPr>
      <p:pic>
        <p:nvPicPr>
          <p:cNvPr id="19" name="Google Shape;19;p3"/>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20" name="Google Shape;20;p3"/>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21" name="Google Shape;21;p3"/>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2" name="Google Shape;22;p3"/>
          <p:cNvPicPr preferRelativeResize="0"/>
          <p:nvPr/>
        </p:nvPicPr>
        <p:blipFill>
          <a:blip r:embed="rId3">
            <a:alphaModFix/>
          </a:blip>
          <a:stretch>
            <a:fillRect/>
          </a:stretch>
        </p:blipFill>
        <p:spPr>
          <a:xfrm>
            <a:off x="468000" y="1543153"/>
            <a:ext cx="6624000" cy="66240"/>
          </a:xfrm>
          <a:prstGeom prst="rect">
            <a:avLst/>
          </a:prstGeom>
          <a:noFill/>
          <a:ln>
            <a:noFill/>
          </a:ln>
        </p:spPr>
      </p:pic>
      <p:sp>
        <p:nvSpPr>
          <p:cNvPr id="23" name="Google Shape;23;p3"/>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solidFill>
                  <a:schemeClr val="dk1"/>
                </a:solidFill>
                <a:latin typeface="Lexend"/>
                <a:ea typeface="Lexend"/>
                <a:cs typeface="Lexend"/>
                <a:sym typeface="Lexend"/>
              </a:rPr>
              <a:t>Worksheet</a:t>
            </a:r>
            <a:endParaRPr b="1">
              <a:solidFill>
                <a:schemeClr val="dk1"/>
              </a:solidFill>
              <a:latin typeface="Lexend"/>
              <a:ea typeface="Lexend"/>
              <a:cs typeface="Lexend"/>
              <a:sym typeface="Lexend"/>
            </a:endParaRPr>
          </a:p>
        </p:txBody>
      </p:sp>
      <p:pic>
        <p:nvPicPr>
          <p:cNvPr id="24" name="Google Shape;24;p3"/>
          <p:cNvPicPr preferRelativeResize="0"/>
          <p:nvPr/>
        </p:nvPicPr>
        <p:blipFill>
          <a:blip r:embed="rId4">
            <a:alphaModFix/>
          </a:blip>
          <a:stretch>
            <a:fillRect/>
          </a:stretch>
        </p:blipFill>
        <p:spPr>
          <a:xfrm>
            <a:off x="428300" y="324000"/>
            <a:ext cx="936000" cy="270612"/>
          </a:xfrm>
          <a:prstGeom prst="rect">
            <a:avLst/>
          </a:prstGeom>
          <a:noFill/>
          <a:ln>
            <a:noFill/>
          </a:ln>
        </p:spPr>
      </p:pic>
      <p:sp>
        <p:nvSpPr>
          <p:cNvPr id="25" name="Google Shape;25;p3"/>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pic>
        <p:nvPicPr>
          <p:cNvPr id="26" name="Google Shape;26;p3"/>
          <p:cNvPicPr preferRelativeResize="0"/>
          <p:nvPr/>
        </p:nvPicPr>
        <p:blipFill>
          <a:blip r:embed="rId5">
            <a:alphaModFix/>
          </a:blip>
          <a:stretch>
            <a:fillRect/>
          </a:stretch>
        </p:blipFill>
        <p:spPr>
          <a:xfrm>
            <a:off x="5722275" y="215694"/>
            <a:ext cx="504000" cy="504000"/>
          </a:xfrm>
          <a:prstGeom prst="rect">
            <a:avLst/>
          </a:prstGeom>
          <a:noFill/>
          <a:ln>
            <a:noFill/>
          </a:ln>
        </p:spPr>
      </p:pic>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Middle page">
  <p:cSld name="SECTION_HEADER_1_1_1_1_1_1_1_1_1_1_1_2_1_1_1_1_1_1_1_1_2">
    <p:bg>
      <p:bgPr>
        <a:solidFill>
          <a:schemeClr val="lt1"/>
        </a:solidFill>
      </p:bgPr>
    </p:bg>
    <p:spTree>
      <p:nvGrpSpPr>
        <p:cNvPr id="27" name="Shape 27"/>
        <p:cNvGrpSpPr/>
        <p:nvPr/>
      </p:nvGrpSpPr>
      <p:grpSpPr>
        <a:xfrm>
          <a:off x="0" y="0"/>
          <a:ext cx="0" cy="0"/>
          <a:chOff x="0" y="0"/>
          <a:chExt cx="0" cy="0"/>
        </a:xfrm>
      </p:grpSpPr>
      <p:pic>
        <p:nvPicPr>
          <p:cNvPr id="28" name="Google Shape;28;p4"/>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29" name="Google Shape;29;p4"/>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30" name="Google Shape;30;p4"/>
          <p:cNvSpPr txBox="1"/>
          <p:nvPr/>
        </p:nvSpPr>
        <p:spPr>
          <a:xfrm>
            <a:off x="6366900" y="360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solidFill>
                  <a:schemeClr val="dk1"/>
                </a:solidFill>
                <a:latin typeface="Lexend"/>
                <a:ea typeface="Lexend"/>
                <a:cs typeface="Lexend"/>
                <a:sym typeface="Lexend"/>
              </a:rPr>
              <a:t>Worksheet</a:t>
            </a:r>
            <a:endParaRPr b="1" sz="900">
              <a:solidFill>
                <a:schemeClr val="dk1"/>
              </a:solidFill>
              <a:latin typeface="Lexend"/>
              <a:ea typeface="Lexend"/>
              <a:cs typeface="Lexend"/>
              <a:sym typeface="Lexend"/>
            </a:endParaRPr>
          </a:p>
        </p:txBody>
      </p:sp>
      <p:sp>
        <p:nvSpPr>
          <p:cNvPr id="31" name="Google Shape;31;p4"/>
          <p:cNvSpPr txBox="1"/>
          <p:nvPr>
            <p:ph idx="1" type="subTitle"/>
          </p:nvPr>
        </p:nvSpPr>
        <p:spPr>
          <a:xfrm>
            <a:off x="1463400" y="360000"/>
            <a:ext cx="4782600" cy="246300"/>
          </a:xfrm>
          <a:prstGeom prst="rect">
            <a:avLst/>
          </a:prstGeom>
          <a:ln>
            <a:noFill/>
          </a:ln>
        </p:spPr>
        <p:txBody>
          <a:bodyPr anchorCtr="0" anchor="t" bIns="0" lIns="0" spcFirstLastPara="1" rIns="0" wrap="square" tIns="0">
            <a:sp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pic>
        <p:nvPicPr>
          <p:cNvPr id="32" name="Google Shape;32;p4"/>
          <p:cNvPicPr preferRelativeResize="0"/>
          <p:nvPr/>
        </p:nvPicPr>
        <p:blipFill>
          <a:blip r:embed="rId3">
            <a:alphaModFix/>
          </a:blip>
          <a:stretch>
            <a:fillRect/>
          </a:stretch>
        </p:blipFill>
        <p:spPr>
          <a:xfrm>
            <a:off x="428300" y="324000"/>
            <a:ext cx="936000" cy="270612"/>
          </a:xfrm>
          <a:prstGeom prst="rect">
            <a:avLst/>
          </a:prstGeom>
          <a:noFill/>
          <a:ln>
            <a:noFill/>
          </a:ln>
        </p:spPr>
      </p:pic>
      <p:sp>
        <p:nvSpPr>
          <p:cNvPr id="33" name="Google Shape;33;p4"/>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Last page">
  <p:cSld name="SECTION_HEADER_1_1_1_1_1_1_1_1_1_1_1_2_1_1_1_1_1_1_1_1_1_3">
    <p:bg>
      <p:bgPr>
        <a:solidFill>
          <a:schemeClr val="lt1"/>
        </a:solidFill>
      </p:bgPr>
    </p:bg>
    <p:spTree>
      <p:nvGrpSpPr>
        <p:cNvPr id="34" name="Shape 34"/>
        <p:cNvGrpSpPr/>
        <p:nvPr/>
      </p:nvGrpSpPr>
      <p:grpSpPr>
        <a:xfrm>
          <a:off x="0" y="0"/>
          <a:ext cx="0" cy="0"/>
          <a:chOff x="0" y="0"/>
          <a:chExt cx="0" cy="0"/>
        </a:xfrm>
      </p:grpSpPr>
      <p:pic>
        <p:nvPicPr>
          <p:cNvPr id="35" name="Google Shape;35;p5"/>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36" name="Google Shape;36;p5"/>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37" name="Google Shape;37;p5"/>
          <p:cNvSpPr txBox="1"/>
          <p:nvPr/>
        </p:nvSpPr>
        <p:spPr>
          <a:xfrm>
            <a:off x="6366900" y="360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solidFill>
                  <a:schemeClr val="dk1"/>
                </a:solidFill>
                <a:latin typeface="Lexend"/>
                <a:ea typeface="Lexend"/>
                <a:cs typeface="Lexend"/>
                <a:sym typeface="Lexend"/>
              </a:rPr>
              <a:t>Worksheet</a:t>
            </a:r>
            <a:endParaRPr b="1" sz="900">
              <a:solidFill>
                <a:schemeClr val="dk1"/>
              </a:solidFill>
              <a:latin typeface="Lexend"/>
              <a:ea typeface="Lexend"/>
              <a:cs typeface="Lexend"/>
              <a:sym typeface="Lexend"/>
            </a:endParaRPr>
          </a:p>
        </p:txBody>
      </p:sp>
      <p:sp>
        <p:nvSpPr>
          <p:cNvPr id="38" name="Google Shape;38;p5"/>
          <p:cNvSpPr txBox="1"/>
          <p:nvPr>
            <p:ph idx="1" type="subTitle"/>
          </p:nvPr>
        </p:nvSpPr>
        <p:spPr>
          <a:xfrm>
            <a:off x="1463400" y="360000"/>
            <a:ext cx="4782600" cy="246300"/>
          </a:xfrm>
          <a:prstGeom prst="rect">
            <a:avLst/>
          </a:prstGeom>
          <a:ln>
            <a:noFill/>
          </a:ln>
        </p:spPr>
        <p:txBody>
          <a:bodyPr anchorCtr="0" anchor="t" bIns="0" lIns="0" spcFirstLastPara="1" rIns="0" wrap="square" tIns="0">
            <a:sp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pic>
        <p:nvPicPr>
          <p:cNvPr id="39" name="Google Shape;39;p5"/>
          <p:cNvPicPr preferRelativeResize="0"/>
          <p:nvPr/>
        </p:nvPicPr>
        <p:blipFill>
          <a:blip r:embed="rId3">
            <a:alphaModFix/>
          </a:blip>
          <a:stretch>
            <a:fillRect/>
          </a:stretch>
        </p:blipFill>
        <p:spPr>
          <a:xfrm>
            <a:off x="428300" y="324000"/>
            <a:ext cx="936000" cy="270612"/>
          </a:xfrm>
          <a:prstGeom prst="rect">
            <a:avLst/>
          </a:prstGeom>
          <a:noFill/>
          <a:ln>
            <a:noFill/>
          </a:ln>
        </p:spPr>
      </p:pic>
      <p:sp>
        <p:nvSpPr>
          <p:cNvPr id="40" name="Google Shape;40;p5"/>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41" name="Google Shape;41;p5"/>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chemeClr val="dk1"/>
                </a:solidFill>
                <a:latin typeface="Lexend Light"/>
                <a:ea typeface="Lexend Light"/>
                <a:cs typeface="Lexend Light"/>
                <a:sym typeface="Lexend Light"/>
              </a:rPr>
              <a:t>Licensed on the </a:t>
            </a:r>
            <a:r>
              <a:rPr lang="en-GB" sz="900" u="sng">
                <a:solidFill>
                  <a:schemeClr val="dk1"/>
                </a:solidFill>
                <a:latin typeface="Lexend Light"/>
                <a:ea typeface="Lexend Light"/>
                <a:cs typeface="Lexend Light"/>
                <a:sym typeface="Lexend Light"/>
                <a:hlinkClick r:id="rId4">
                  <a:extLst>
                    <a:ext uri="{A12FA001-AC4F-418D-AE19-62706E023703}">
                      <ahyp:hlinkClr val="tx"/>
                    </a:ext>
                  </a:extLst>
                </a:hlinkClick>
              </a:rPr>
              <a:t>Open Government Licence v3.0</a:t>
            </a:r>
            <a:r>
              <a:rPr lang="en-GB" sz="900">
                <a:solidFill>
                  <a:schemeClr val="dk1"/>
                </a:solidFill>
                <a:latin typeface="Lexend Light"/>
                <a:ea typeface="Lexend Light"/>
                <a:cs typeface="Lexend Light"/>
                <a:sym typeface="Lexend Light"/>
              </a:rPr>
              <a:t>, except where otherwise stated. See </a:t>
            </a:r>
            <a:r>
              <a:rPr lang="en-GB" sz="900" u="sng">
                <a:solidFill>
                  <a:schemeClr val="dk1"/>
                </a:solidFill>
                <a:latin typeface="Lexend Light"/>
                <a:ea typeface="Lexend Light"/>
                <a:cs typeface="Lexend Light"/>
                <a:sym typeface="Lexend Light"/>
                <a:hlinkClick r:id="rId5">
                  <a:extLst>
                    <a:ext uri="{A12FA001-AC4F-418D-AE19-62706E023703}">
                      <ahyp:hlinkClr val="tx"/>
                    </a:ext>
                  </a:extLst>
                </a:hlinkClick>
              </a:rPr>
              <a:t>Oak terms &amp; conditions</a:t>
            </a:r>
            <a:r>
              <a:rPr lang="en-GB" sz="900">
                <a:solidFill>
                  <a:schemeClr val="dk1"/>
                </a:solidFill>
                <a:latin typeface="Lexend Light"/>
                <a:ea typeface="Lexend Light"/>
                <a:cs typeface="Lexend Light"/>
                <a:sym typeface="Lexend Light"/>
              </a:rPr>
              <a:t>.</a:t>
            </a:r>
            <a:endParaRPr sz="900">
              <a:solidFill>
                <a:schemeClr val="dk1"/>
              </a:solidFill>
              <a:latin typeface="Lexend Light"/>
              <a:ea typeface="Lexend Light"/>
              <a:cs typeface="Lexend Light"/>
              <a:sym typeface="Lexend Light"/>
            </a:endParaRPr>
          </a:p>
        </p:txBody>
      </p:sp>
      <p:sp>
        <p:nvSpPr>
          <p:cNvPr id="42" name="Google Shape;42;p5"/>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chemeClr val="dk1"/>
                </a:solidFill>
                <a:latin typeface="Lexend"/>
                <a:ea typeface="Lexend"/>
                <a:cs typeface="Lexend"/>
                <a:sym typeface="Lexend"/>
              </a:rPr>
              <a:t>© Oak National Academy 2024</a:t>
            </a:r>
            <a:r>
              <a:rPr lang="en-GB" sz="900">
                <a:solidFill>
                  <a:schemeClr val="dk1"/>
                </a:solidFill>
                <a:latin typeface="Lexend Light"/>
                <a:ea typeface="Lexend Light"/>
                <a:cs typeface="Lexend Light"/>
                <a:sym typeface="Lexend Light"/>
              </a:rPr>
              <a:t>. Produced in partnership with</a:t>
            </a:r>
            <a:endParaRPr sz="900">
              <a:solidFill>
                <a:schemeClr val="dk1"/>
              </a:solidFill>
              <a:latin typeface="Lexend Light"/>
              <a:ea typeface="Lexend Light"/>
              <a:cs typeface="Lexend Light"/>
              <a:sym typeface="Lexend Light"/>
            </a:endParaRPr>
          </a:p>
        </p:txBody>
      </p:sp>
      <p:sp>
        <p:nvSpPr>
          <p:cNvPr id="43" name="Google Shape;43;p5"/>
          <p:cNvSpPr txBox="1"/>
          <p:nvPr/>
        </p:nvSpPr>
        <p:spPr>
          <a:xfrm>
            <a:off x="3903375" y="9972000"/>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chemeClr val="dk1"/>
              </a:solidFill>
              <a:latin typeface="Lexend Light"/>
              <a:ea typeface="Lexend Light"/>
              <a:cs typeface="Lexend Light"/>
              <a:sym typeface="Lexend Light"/>
            </a:endParaRPr>
          </a:p>
        </p:txBody>
      </p:sp>
      <p:sp>
        <p:nvSpPr>
          <p:cNvPr id="44" name="Google Shape;44;p5"/>
          <p:cNvSpPr txBox="1"/>
          <p:nvPr>
            <p:ph idx="2" type="subTitle"/>
          </p:nvPr>
        </p:nvSpPr>
        <p:spPr>
          <a:xfrm>
            <a:off x="3903375" y="9972000"/>
            <a:ext cx="2722800" cy="161100"/>
          </a:xfrm>
          <a:prstGeom prst="rect">
            <a:avLst/>
          </a:prstGeom>
        </p:spPr>
        <p:txBody>
          <a:bodyPr anchorCtr="0" anchor="b" bIns="0" lIns="0" spcFirstLastPara="1" rIns="0" wrap="square" tIns="0">
            <a:normAutofit/>
          </a:bodyPr>
          <a:lstStyle>
            <a:lvl1pPr lvl="0" rtl="0">
              <a:spcBef>
                <a:spcPts val="0"/>
              </a:spcBef>
              <a:spcAft>
                <a:spcPts val="0"/>
              </a:spcAft>
              <a:buSzPts val="900"/>
              <a:buFont typeface="Lexend Light"/>
              <a:buNone/>
              <a:defRPr sz="900">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 Single page worksheet">
  <p:cSld name="SECTION_HEADER_1_1_1_1_1_1_1_1_1_1_1_2_1_1_1_1_1_2_1">
    <p:bg>
      <p:bgPr>
        <a:solidFill>
          <a:schemeClr val="lt1"/>
        </a:solidFill>
      </p:bgPr>
    </p:bg>
    <p:spTree>
      <p:nvGrpSpPr>
        <p:cNvPr id="45" name="Shape 45"/>
        <p:cNvGrpSpPr/>
        <p:nvPr/>
      </p:nvGrpSpPr>
      <p:grpSpPr>
        <a:xfrm>
          <a:off x="0" y="0"/>
          <a:ext cx="0" cy="0"/>
          <a:chOff x="0" y="0"/>
          <a:chExt cx="0" cy="0"/>
        </a:xfrm>
      </p:grpSpPr>
      <p:pic>
        <p:nvPicPr>
          <p:cNvPr id="46" name="Google Shape;46;p6"/>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47" name="Google Shape;47;p6"/>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48" name="Google Shape;48;p6"/>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49" name="Google Shape;49;p6"/>
          <p:cNvPicPr preferRelativeResize="0"/>
          <p:nvPr/>
        </p:nvPicPr>
        <p:blipFill>
          <a:blip r:embed="rId3">
            <a:alphaModFix/>
          </a:blip>
          <a:stretch>
            <a:fillRect/>
          </a:stretch>
        </p:blipFill>
        <p:spPr>
          <a:xfrm>
            <a:off x="468000" y="1242003"/>
            <a:ext cx="6624000" cy="66240"/>
          </a:xfrm>
          <a:prstGeom prst="rect">
            <a:avLst/>
          </a:prstGeom>
          <a:noFill/>
          <a:ln>
            <a:noFill/>
          </a:ln>
        </p:spPr>
      </p:pic>
      <p:sp>
        <p:nvSpPr>
          <p:cNvPr id="50" name="Google Shape;50;p6"/>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solidFill>
                  <a:schemeClr val="dk1"/>
                </a:solidFill>
                <a:latin typeface="Lexend"/>
                <a:ea typeface="Lexend"/>
                <a:cs typeface="Lexend"/>
                <a:sym typeface="Lexend"/>
              </a:rPr>
              <a:t>Worksheet</a:t>
            </a:r>
            <a:endParaRPr b="1">
              <a:solidFill>
                <a:schemeClr val="dk1"/>
              </a:solidFill>
              <a:latin typeface="Lexend"/>
              <a:ea typeface="Lexend"/>
              <a:cs typeface="Lexend"/>
              <a:sym typeface="Lexend"/>
            </a:endParaRPr>
          </a:p>
        </p:txBody>
      </p:sp>
      <p:pic>
        <p:nvPicPr>
          <p:cNvPr id="51" name="Google Shape;51;p6"/>
          <p:cNvPicPr preferRelativeResize="0"/>
          <p:nvPr/>
        </p:nvPicPr>
        <p:blipFill>
          <a:blip r:embed="rId4">
            <a:alphaModFix/>
          </a:blip>
          <a:stretch>
            <a:fillRect/>
          </a:stretch>
        </p:blipFill>
        <p:spPr>
          <a:xfrm>
            <a:off x="428300" y="324000"/>
            <a:ext cx="936000" cy="270612"/>
          </a:xfrm>
          <a:prstGeom prst="rect">
            <a:avLst/>
          </a:prstGeom>
          <a:noFill/>
          <a:ln>
            <a:noFill/>
          </a:ln>
        </p:spPr>
      </p:pic>
      <p:sp>
        <p:nvSpPr>
          <p:cNvPr id="52" name="Google Shape;52;p6"/>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53" name="Google Shape;53;p6"/>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chemeClr val="dk1"/>
                </a:solidFill>
                <a:latin typeface="Lexend Light"/>
                <a:ea typeface="Lexend Light"/>
                <a:cs typeface="Lexend Light"/>
                <a:sym typeface="Lexend Light"/>
              </a:rPr>
              <a:t>Licensed on the </a:t>
            </a:r>
            <a:r>
              <a:rPr lang="en-GB" sz="900" u="sng">
                <a:solidFill>
                  <a:schemeClr val="dk1"/>
                </a:solidFill>
                <a:latin typeface="Lexend Light"/>
                <a:ea typeface="Lexend Light"/>
                <a:cs typeface="Lexend Light"/>
                <a:sym typeface="Lexend Light"/>
                <a:hlinkClick r:id="rId5">
                  <a:extLst>
                    <a:ext uri="{A12FA001-AC4F-418D-AE19-62706E023703}">
                      <ahyp:hlinkClr val="tx"/>
                    </a:ext>
                  </a:extLst>
                </a:hlinkClick>
              </a:rPr>
              <a:t>Open Government Licence v3.0</a:t>
            </a:r>
            <a:r>
              <a:rPr lang="en-GB" sz="900">
                <a:solidFill>
                  <a:schemeClr val="dk1"/>
                </a:solidFill>
                <a:latin typeface="Lexend Light"/>
                <a:ea typeface="Lexend Light"/>
                <a:cs typeface="Lexend Light"/>
                <a:sym typeface="Lexend Light"/>
              </a:rPr>
              <a:t>, except where otherwise stated. See </a:t>
            </a:r>
            <a:r>
              <a:rPr lang="en-GB" sz="900" u="sng">
                <a:solidFill>
                  <a:schemeClr val="dk1"/>
                </a:solidFill>
                <a:latin typeface="Lexend Light"/>
                <a:ea typeface="Lexend Light"/>
                <a:cs typeface="Lexend Light"/>
                <a:sym typeface="Lexend Light"/>
                <a:hlinkClick r:id="rId6">
                  <a:extLst>
                    <a:ext uri="{A12FA001-AC4F-418D-AE19-62706E023703}">
                      <ahyp:hlinkClr val="tx"/>
                    </a:ext>
                  </a:extLst>
                </a:hlinkClick>
              </a:rPr>
              <a:t>Oak terms &amp; conditions</a:t>
            </a:r>
            <a:r>
              <a:rPr lang="en-GB" sz="900">
                <a:solidFill>
                  <a:schemeClr val="dk1"/>
                </a:solidFill>
                <a:latin typeface="Lexend Light"/>
                <a:ea typeface="Lexend Light"/>
                <a:cs typeface="Lexend Light"/>
                <a:sym typeface="Lexend Light"/>
              </a:rPr>
              <a:t>.</a:t>
            </a:r>
            <a:endParaRPr sz="900">
              <a:solidFill>
                <a:schemeClr val="dk1"/>
              </a:solidFill>
              <a:latin typeface="Lexend Light"/>
              <a:ea typeface="Lexend Light"/>
              <a:cs typeface="Lexend Light"/>
              <a:sym typeface="Lexend Light"/>
            </a:endParaRPr>
          </a:p>
        </p:txBody>
      </p:sp>
      <p:sp>
        <p:nvSpPr>
          <p:cNvPr id="54" name="Google Shape;54;p6"/>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chemeClr val="dk1"/>
                </a:solidFill>
                <a:latin typeface="Lexend"/>
                <a:ea typeface="Lexend"/>
                <a:cs typeface="Lexend"/>
                <a:sym typeface="Lexend"/>
              </a:rPr>
              <a:t>© Oak National Academy 2024</a:t>
            </a:r>
            <a:r>
              <a:rPr lang="en-GB" sz="900">
                <a:solidFill>
                  <a:schemeClr val="dk1"/>
                </a:solidFill>
                <a:latin typeface="Lexend Light"/>
                <a:ea typeface="Lexend Light"/>
                <a:cs typeface="Lexend Light"/>
                <a:sym typeface="Lexend Light"/>
              </a:rPr>
              <a:t>. Produced in partnership with</a:t>
            </a:r>
            <a:endParaRPr sz="900">
              <a:solidFill>
                <a:schemeClr val="dk1"/>
              </a:solidFill>
              <a:latin typeface="Lexend Light"/>
              <a:ea typeface="Lexend Light"/>
              <a:cs typeface="Lexend Light"/>
              <a:sym typeface="Lexend Light"/>
            </a:endParaRPr>
          </a:p>
        </p:txBody>
      </p:sp>
      <p:sp>
        <p:nvSpPr>
          <p:cNvPr id="55" name="Google Shape;55;p6"/>
          <p:cNvSpPr txBox="1"/>
          <p:nvPr/>
        </p:nvSpPr>
        <p:spPr>
          <a:xfrm>
            <a:off x="3903375" y="9972000"/>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chemeClr val="dk1"/>
              </a:solidFill>
              <a:latin typeface="Lexend Light"/>
              <a:ea typeface="Lexend Light"/>
              <a:cs typeface="Lexend Light"/>
              <a:sym typeface="Lexend Light"/>
            </a:endParaRPr>
          </a:p>
        </p:txBody>
      </p:sp>
      <p:sp>
        <p:nvSpPr>
          <p:cNvPr id="56" name="Google Shape;56;p6"/>
          <p:cNvSpPr txBox="1"/>
          <p:nvPr>
            <p:ph idx="1" type="subTitle"/>
          </p:nvPr>
        </p:nvSpPr>
        <p:spPr>
          <a:xfrm>
            <a:off x="3903375" y="9972000"/>
            <a:ext cx="2722800" cy="161100"/>
          </a:xfrm>
          <a:prstGeom prst="rect">
            <a:avLst/>
          </a:prstGeom>
        </p:spPr>
        <p:txBody>
          <a:bodyPr anchorCtr="0" anchor="b" bIns="0" lIns="0" spcFirstLastPara="1" rIns="0" wrap="square" tIns="0">
            <a:normAutofit/>
          </a:bodyPr>
          <a:lstStyle>
            <a:lvl1pPr lvl="0" rtl="0">
              <a:spcBef>
                <a:spcPts val="0"/>
              </a:spcBef>
              <a:spcAft>
                <a:spcPts val="0"/>
              </a:spcAft>
              <a:buSzPts val="900"/>
              <a:buFont typeface="Lexend Light"/>
              <a:buNone/>
              <a:defRPr sz="900">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57" name="Google Shape;57;p6"/>
          <p:cNvPicPr preferRelativeResize="0"/>
          <p:nvPr/>
        </p:nvPicPr>
        <p:blipFill>
          <a:blip r:embed="rId7">
            <a:alphaModFix/>
          </a:blip>
          <a:stretch>
            <a:fillRect/>
          </a:stretch>
        </p:blipFill>
        <p:spPr>
          <a:xfrm>
            <a:off x="5722275" y="215694"/>
            <a:ext cx="504000" cy="504000"/>
          </a:xfrm>
          <a:prstGeom prst="rect">
            <a:avLst/>
          </a:prstGeom>
          <a:noFill/>
          <a:ln>
            <a:noFill/>
          </a:ln>
        </p:spPr>
      </p:pic>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 Single page worksheet with long title">
  <p:cSld name="SECTION_HEADER_1_1_1_1_1_1_1_1_1_1_1_2_1_1_1_1_1_1_1">
    <p:bg>
      <p:bgPr>
        <a:solidFill>
          <a:schemeClr val="lt1"/>
        </a:solidFill>
      </p:bgPr>
    </p:bg>
    <p:spTree>
      <p:nvGrpSpPr>
        <p:cNvPr id="58" name="Shape 58"/>
        <p:cNvGrpSpPr/>
        <p:nvPr/>
      </p:nvGrpSpPr>
      <p:grpSpPr>
        <a:xfrm>
          <a:off x="0" y="0"/>
          <a:ext cx="0" cy="0"/>
          <a:chOff x="0" y="0"/>
          <a:chExt cx="0" cy="0"/>
        </a:xfrm>
      </p:grpSpPr>
      <p:pic>
        <p:nvPicPr>
          <p:cNvPr id="59" name="Google Shape;59;p7"/>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60" name="Google Shape;60;p7"/>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61" name="Google Shape;61;p7"/>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62" name="Google Shape;62;p7"/>
          <p:cNvPicPr preferRelativeResize="0"/>
          <p:nvPr/>
        </p:nvPicPr>
        <p:blipFill>
          <a:blip r:embed="rId3">
            <a:alphaModFix/>
          </a:blip>
          <a:stretch>
            <a:fillRect/>
          </a:stretch>
        </p:blipFill>
        <p:spPr>
          <a:xfrm>
            <a:off x="468000" y="1543153"/>
            <a:ext cx="6624000" cy="66240"/>
          </a:xfrm>
          <a:prstGeom prst="rect">
            <a:avLst/>
          </a:prstGeom>
          <a:noFill/>
          <a:ln>
            <a:noFill/>
          </a:ln>
        </p:spPr>
      </p:pic>
      <p:sp>
        <p:nvSpPr>
          <p:cNvPr id="63" name="Google Shape;63;p7"/>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solidFill>
                  <a:schemeClr val="dk1"/>
                </a:solidFill>
                <a:latin typeface="Lexend"/>
                <a:ea typeface="Lexend"/>
                <a:cs typeface="Lexend"/>
                <a:sym typeface="Lexend"/>
              </a:rPr>
              <a:t>Worksheet</a:t>
            </a:r>
            <a:endParaRPr b="1">
              <a:solidFill>
                <a:schemeClr val="dk1"/>
              </a:solidFill>
              <a:latin typeface="Lexend"/>
              <a:ea typeface="Lexend"/>
              <a:cs typeface="Lexend"/>
              <a:sym typeface="Lexend"/>
            </a:endParaRPr>
          </a:p>
        </p:txBody>
      </p:sp>
      <p:pic>
        <p:nvPicPr>
          <p:cNvPr id="64" name="Google Shape;64;p7"/>
          <p:cNvPicPr preferRelativeResize="0"/>
          <p:nvPr/>
        </p:nvPicPr>
        <p:blipFill>
          <a:blip r:embed="rId4">
            <a:alphaModFix/>
          </a:blip>
          <a:stretch>
            <a:fillRect/>
          </a:stretch>
        </p:blipFill>
        <p:spPr>
          <a:xfrm>
            <a:off x="428300" y="324000"/>
            <a:ext cx="936000" cy="270612"/>
          </a:xfrm>
          <a:prstGeom prst="rect">
            <a:avLst/>
          </a:prstGeom>
          <a:noFill/>
          <a:ln>
            <a:noFill/>
          </a:ln>
        </p:spPr>
      </p:pic>
      <p:sp>
        <p:nvSpPr>
          <p:cNvPr id="65" name="Google Shape;65;p7"/>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66" name="Google Shape;66;p7"/>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chemeClr val="dk1"/>
                </a:solidFill>
                <a:latin typeface="Lexend Light"/>
                <a:ea typeface="Lexend Light"/>
                <a:cs typeface="Lexend Light"/>
                <a:sym typeface="Lexend Light"/>
              </a:rPr>
              <a:t>Licensed on the </a:t>
            </a:r>
            <a:r>
              <a:rPr lang="en-GB" sz="900" u="sng">
                <a:solidFill>
                  <a:schemeClr val="dk1"/>
                </a:solidFill>
                <a:latin typeface="Lexend Light"/>
                <a:ea typeface="Lexend Light"/>
                <a:cs typeface="Lexend Light"/>
                <a:sym typeface="Lexend Light"/>
                <a:hlinkClick r:id="rId5">
                  <a:extLst>
                    <a:ext uri="{A12FA001-AC4F-418D-AE19-62706E023703}">
                      <ahyp:hlinkClr val="tx"/>
                    </a:ext>
                  </a:extLst>
                </a:hlinkClick>
              </a:rPr>
              <a:t>Open Government Licence v3.0</a:t>
            </a:r>
            <a:r>
              <a:rPr lang="en-GB" sz="900">
                <a:solidFill>
                  <a:schemeClr val="dk1"/>
                </a:solidFill>
                <a:latin typeface="Lexend Light"/>
                <a:ea typeface="Lexend Light"/>
                <a:cs typeface="Lexend Light"/>
                <a:sym typeface="Lexend Light"/>
              </a:rPr>
              <a:t>, except where otherwise stated. See </a:t>
            </a:r>
            <a:r>
              <a:rPr lang="en-GB" sz="900" u="sng">
                <a:solidFill>
                  <a:schemeClr val="dk1"/>
                </a:solidFill>
                <a:latin typeface="Lexend Light"/>
                <a:ea typeface="Lexend Light"/>
                <a:cs typeface="Lexend Light"/>
                <a:sym typeface="Lexend Light"/>
                <a:hlinkClick r:id="rId6">
                  <a:extLst>
                    <a:ext uri="{A12FA001-AC4F-418D-AE19-62706E023703}">
                      <ahyp:hlinkClr val="tx"/>
                    </a:ext>
                  </a:extLst>
                </a:hlinkClick>
              </a:rPr>
              <a:t>Oak terms &amp; conditions</a:t>
            </a:r>
            <a:r>
              <a:rPr lang="en-GB" sz="900">
                <a:solidFill>
                  <a:schemeClr val="dk1"/>
                </a:solidFill>
                <a:latin typeface="Lexend Light"/>
                <a:ea typeface="Lexend Light"/>
                <a:cs typeface="Lexend Light"/>
                <a:sym typeface="Lexend Light"/>
              </a:rPr>
              <a:t>.</a:t>
            </a:r>
            <a:endParaRPr sz="900">
              <a:solidFill>
                <a:schemeClr val="dk1"/>
              </a:solidFill>
              <a:latin typeface="Lexend Light"/>
              <a:ea typeface="Lexend Light"/>
              <a:cs typeface="Lexend Light"/>
              <a:sym typeface="Lexend Light"/>
            </a:endParaRPr>
          </a:p>
        </p:txBody>
      </p:sp>
      <p:sp>
        <p:nvSpPr>
          <p:cNvPr id="67" name="Google Shape;67;p7"/>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chemeClr val="dk1"/>
                </a:solidFill>
                <a:latin typeface="Lexend"/>
                <a:ea typeface="Lexend"/>
                <a:cs typeface="Lexend"/>
                <a:sym typeface="Lexend"/>
              </a:rPr>
              <a:t>© Oak National Academy 2024</a:t>
            </a:r>
            <a:r>
              <a:rPr lang="en-GB" sz="900">
                <a:solidFill>
                  <a:schemeClr val="dk1"/>
                </a:solidFill>
                <a:latin typeface="Lexend Light"/>
                <a:ea typeface="Lexend Light"/>
                <a:cs typeface="Lexend Light"/>
                <a:sym typeface="Lexend Light"/>
              </a:rPr>
              <a:t>. Produced in partnership with</a:t>
            </a:r>
            <a:endParaRPr sz="900">
              <a:solidFill>
                <a:schemeClr val="dk1"/>
              </a:solidFill>
              <a:latin typeface="Lexend Light"/>
              <a:ea typeface="Lexend Light"/>
              <a:cs typeface="Lexend Light"/>
              <a:sym typeface="Lexend Light"/>
            </a:endParaRPr>
          </a:p>
        </p:txBody>
      </p:sp>
      <p:sp>
        <p:nvSpPr>
          <p:cNvPr id="68" name="Google Shape;68;p7"/>
          <p:cNvSpPr txBox="1"/>
          <p:nvPr/>
        </p:nvSpPr>
        <p:spPr>
          <a:xfrm>
            <a:off x="3903375" y="9972000"/>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chemeClr val="dk1"/>
              </a:solidFill>
              <a:latin typeface="Lexend Light"/>
              <a:ea typeface="Lexend Light"/>
              <a:cs typeface="Lexend Light"/>
              <a:sym typeface="Lexend Light"/>
            </a:endParaRPr>
          </a:p>
        </p:txBody>
      </p:sp>
      <p:sp>
        <p:nvSpPr>
          <p:cNvPr id="69" name="Google Shape;69;p7"/>
          <p:cNvSpPr txBox="1"/>
          <p:nvPr>
            <p:ph idx="1" type="subTitle"/>
          </p:nvPr>
        </p:nvSpPr>
        <p:spPr>
          <a:xfrm>
            <a:off x="3903375" y="9972000"/>
            <a:ext cx="2722800" cy="161100"/>
          </a:xfrm>
          <a:prstGeom prst="rect">
            <a:avLst/>
          </a:prstGeom>
        </p:spPr>
        <p:txBody>
          <a:bodyPr anchorCtr="0" anchor="b" bIns="0" lIns="0" spcFirstLastPara="1" rIns="0" wrap="square" tIns="0">
            <a:normAutofit/>
          </a:bodyPr>
          <a:lstStyle>
            <a:lvl1pPr lvl="0" rtl="0">
              <a:spcBef>
                <a:spcPts val="0"/>
              </a:spcBef>
              <a:spcAft>
                <a:spcPts val="0"/>
              </a:spcAft>
              <a:buSzPts val="900"/>
              <a:buFont typeface="Lexend Light"/>
              <a:buNone/>
              <a:defRPr sz="900">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70" name="Google Shape;70;p7"/>
          <p:cNvPicPr preferRelativeResize="0"/>
          <p:nvPr/>
        </p:nvPicPr>
        <p:blipFill>
          <a:blip r:embed="rId7">
            <a:alphaModFix/>
          </a:blip>
          <a:stretch>
            <a:fillRect/>
          </a:stretch>
        </p:blipFill>
        <p:spPr>
          <a:xfrm>
            <a:off x="5722275" y="215694"/>
            <a:ext cx="504000" cy="504000"/>
          </a:xfrm>
          <a:prstGeom prst="rect">
            <a:avLst/>
          </a:prstGeom>
          <a:noFill/>
          <a:ln>
            <a:noFill/>
          </a:ln>
        </p:spPr>
      </p:pic>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 Landscape title page">
  <p:cSld name="SECTION_HEADER_1_1_1_1_1_1_1_1_1_1_1_2_1_1_1_1_1_1_1_1_1_1">
    <p:bg>
      <p:bgPr>
        <a:solidFill>
          <a:schemeClr val="lt1"/>
        </a:solidFill>
      </p:bgPr>
    </p:bg>
    <p:spTree>
      <p:nvGrpSpPr>
        <p:cNvPr id="71" name="Shape 71"/>
        <p:cNvGrpSpPr/>
        <p:nvPr/>
      </p:nvGrpSpPr>
      <p:grpSpPr>
        <a:xfrm>
          <a:off x="0" y="0"/>
          <a:ext cx="0" cy="0"/>
          <a:chOff x="0" y="0"/>
          <a:chExt cx="0" cy="0"/>
        </a:xfrm>
      </p:grpSpPr>
      <p:pic>
        <p:nvPicPr>
          <p:cNvPr id="72" name="Google Shape;72;p8"/>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73" name="Google Shape;73;p8"/>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74" name="Google Shape;74;p8"/>
          <p:cNvSpPr txBox="1"/>
          <p:nvPr>
            <p:ph type="title"/>
          </p:nvPr>
        </p:nvSpPr>
        <p:spPr>
          <a:xfrm rot="-5400000">
            <a:off x="-3842125" y="5162095"/>
            <a:ext cx="99837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75" name="Google Shape;75;p8"/>
          <p:cNvPicPr preferRelativeResize="0"/>
          <p:nvPr/>
        </p:nvPicPr>
        <p:blipFill>
          <a:blip r:embed="rId3">
            <a:alphaModFix/>
          </a:blip>
          <a:stretch>
            <a:fillRect/>
          </a:stretch>
        </p:blipFill>
        <p:spPr>
          <a:xfrm rot="-5400000">
            <a:off x="-3612750" y="5310727"/>
            <a:ext cx="9987174" cy="66225"/>
          </a:xfrm>
          <a:prstGeom prst="rect">
            <a:avLst/>
          </a:prstGeom>
          <a:noFill/>
          <a:ln>
            <a:noFill/>
          </a:ln>
        </p:spPr>
      </p:pic>
      <p:sp>
        <p:nvSpPr>
          <p:cNvPr id="76" name="Google Shape;76;p8"/>
          <p:cNvSpPr txBox="1"/>
          <p:nvPr/>
        </p:nvSpPr>
        <p:spPr>
          <a:xfrm rot="-5400000">
            <a:off x="104964" y="719111"/>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solidFill>
                  <a:schemeClr val="dk1"/>
                </a:solidFill>
                <a:latin typeface="Lexend"/>
                <a:ea typeface="Lexend"/>
                <a:cs typeface="Lexend"/>
                <a:sym typeface="Lexend"/>
              </a:rPr>
              <a:t>Worksheet</a:t>
            </a:r>
            <a:endParaRPr b="1">
              <a:solidFill>
                <a:schemeClr val="dk1"/>
              </a:solidFill>
              <a:latin typeface="Lexend"/>
              <a:ea typeface="Lexend"/>
              <a:cs typeface="Lexend"/>
              <a:sym typeface="Lexend"/>
            </a:endParaRPr>
          </a:p>
        </p:txBody>
      </p:sp>
      <p:pic>
        <p:nvPicPr>
          <p:cNvPr id="77" name="Google Shape;77;p8"/>
          <p:cNvPicPr preferRelativeResize="0"/>
          <p:nvPr/>
        </p:nvPicPr>
        <p:blipFill>
          <a:blip r:embed="rId4">
            <a:alphaModFix/>
          </a:blip>
          <a:stretch>
            <a:fillRect/>
          </a:stretch>
        </p:blipFill>
        <p:spPr>
          <a:xfrm rot="-5400000">
            <a:off x="103775" y="9769600"/>
            <a:ext cx="936000" cy="270612"/>
          </a:xfrm>
          <a:prstGeom prst="rect">
            <a:avLst/>
          </a:prstGeom>
          <a:noFill/>
          <a:ln>
            <a:noFill/>
          </a:ln>
        </p:spPr>
      </p:pic>
      <p:sp>
        <p:nvSpPr>
          <p:cNvPr id="78" name="Google Shape;78;p8"/>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pic>
        <p:nvPicPr>
          <p:cNvPr id="79" name="Google Shape;79;p8"/>
          <p:cNvPicPr preferRelativeResize="0"/>
          <p:nvPr/>
        </p:nvPicPr>
        <p:blipFill>
          <a:blip r:embed="rId5">
            <a:alphaModFix/>
          </a:blip>
          <a:stretch>
            <a:fillRect/>
          </a:stretch>
        </p:blipFill>
        <p:spPr>
          <a:xfrm rot="-5400000">
            <a:off x="319775" y="1225719"/>
            <a:ext cx="504000" cy="504000"/>
          </a:xfrm>
          <a:prstGeom prst="rect">
            <a:avLst/>
          </a:prstGeom>
          <a:noFill/>
          <a:ln>
            <a:noFill/>
          </a:ln>
        </p:spPr>
      </p:pic>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1 Landscape middle page">
  <p:cSld name="SECTION_HEADER_1_1_1_1_1_1_1_1_1_1_1_2_1_1_1_1_1_1_1_1_1_1_1_2">
    <p:bg>
      <p:bgPr>
        <a:solidFill>
          <a:schemeClr val="lt1"/>
        </a:solidFill>
      </p:bgPr>
    </p:bg>
    <p:spTree>
      <p:nvGrpSpPr>
        <p:cNvPr id="80" name="Shape 80"/>
        <p:cNvGrpSpPr/>
        <p:nvPr/>
      </p:nvGrpSpPr>
      <p:grpSpPr>
        <a:xfrm>
          <a:off x="0" y="0"/>
          <a:ext cx="0" cy="0"/>
          <a:chOff x="0" y="0"/>
          <a:chExt cx="0" cy="0"/>
        </a:xfrm>
      </p:grpSpPr>
      <p:pic>
        <p:nvPicPr>
          <p:cNvPr id="81" name="Google Shape;81;p9"/>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82" name="Google Shape;82;p9"/>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83" name="Google Shape;83;p9"/>
          <p:cNvSpPr txBox="1"/>
          <p:nvPr/>
        </p:nvSpPr>
        <p:spPr>
          <a:xfrm rot="-5400000">
            <a:off x="174000" y="654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solidFill>
                  <a:schemeClr val="dk1"/>
                </a:solidFill>
                <a:latin typeface="Lexend"/>
                <a:ea typeface="Lexend"/>
                <a:cs typeface="Lexend"/>
                <a:sym typeface="Lexend"/>
              </a:rPr>
              <a:t>Worksheet</a:t>
            </a:r>
            <a:endParaRPr b="1" sz="900">
              <a:solidFill>
                <a:schemeClr val="dk1"/>
              </a:solidFill>
              <a:latin typeface="Lexend"/>
              <a:ea typeface="Lexend"/>
              <a:cs typeface="Lexend"/>
              <a:sym typeface="Lexend"/>
            </a:endParaRPr>
          </a:p>
        </p:txBody>
      </p:sp>
      <p:pic>
        <p:nvPicPr>
          <p:cNvPr id="84" name="Google Shape;84;p9"/>
          <p:cNvPicPr preferRelativeResize="0"/>
          <p:nvPr/>
        </p:nvPicPr>
        <p:blipFill>
          <a:blip r:embed="rId3">
            <a:alphaModFix/>
          </a:blip>
          <a:stretch>
            <a:fillRect/>
          </a:stretch>
        </p:blipFill>
        <p:spPr>
          <a:xfrm rot="-5400000">
            <a:off x="103775" y="9769600"/>
            <a:ext cx="936000" cy="270612"/>
          </a:xfrm>
          <a:prstGeom prst="rect">
            <a:avLst/>
          </a:prstGeom>
          <a:noFill/>
          <a:ln>
            <a:noFill/>
          </a:ln>
        </p:spPr>
      </p:pic>
      <p:sp>
        <p:nvSpPr>
          <p:cNvPr id="85" name="Google Shape;85;p9"/>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86" name="Google Shape;86;p9"/>
          <p:cNvSpPr txBox="1"/>
          <p:nvPr>
            <p:ph idx="1" type="subTitle"/>
          </p:nvPr>
        </p:nvSpPr>
        <p:spPr>
          <a:xfrm rot="-5400000">
            <a:off x="-3498000" y="5128425"/>
            <a:ext cx="8070600" cy="246300"/>
          </a:xfrm>
          <a:prstGeom prst="rect">
            <a:avLst/>
          </a:prstGeom>
          <a:ln>
            <a:noFill/>
          </a:ln>
        </p:spPr>
        <p:txBody>
          <a:bodyPr anchorCtr="0" anchor="ctr" bIns="0" lIns="0" spcFirstLastPara="1" rIns="0" wrap="square" tIns="0">
            <a:no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2 Landscape last page">
  <p:cSld name="SECTION_HEADER_1_1_1_1_1_1_1_1_1_1_1_2_1_1_1_1_1_1_1_1_1_1_1_1_1">
    <p:bg>
      <p:bgPr>
        <a:solidFill>
          <a:schemeClr val="lt1"/>
        </a:solidFill>
      </p:bgPr>
    </p:bg>
    <p:spTree>
      <p:nvGrpSpPr>
        <p:cNvPr id="87" name="Shape 87"/>
        <p:cNvGrpSpPr/>
        <p:nvPr/>
      </p:nvGrpSpPr>
      <p:grpSpPr>
        <a:xfrm>
          <a:off x="0" y="0"/>
          <a:ext cx="0" cy="0"/>
          <a:chOff x="0" y="0"/>
          <a:chExt cx="0" cy="0"/>
        </a:xfrm>
      </p:grpSpPr>
      <p:pic>
        <p:nvPicPr>
          <p:cNvPr id="88" name="Google Shape;88;p10"/>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89" name="Google Shape;89;p10"/>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90" name="Google Shape;90;p10"/>
          <p:cNvSpPr txBox="1"/>
          <p:nvPr/>
        </p:nvSpPr>
        <p:spPr>
          <a:xfrm rot="-5400000">
            <a:off x="174000" y="654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solidFill>
                  <a:schemeClr val="dk1"/>
                </a:solidFill>
                <a:latin typeface="Lexend"/>
                <a:ea typeface="Lexend"/>
                <a:cs typeface="Lexend"/>
                <a:sym typeface="Lexend"/>
              </a:rPr>
              <a:t>Worksheet</a:t>
            </a:r>
            <a:endParaRPr b="1" sz="900">
              <a:solidFill>
                <a:schemeClr val="dk1"/>
              </a:solidFill>
              <a:latin typeface="Lexend"/>
              <a:ea typeface="Lexend"/>
              <a:cs typeface="Lexend"/>
              <a:sym typeface="Lexend"/>
            </a:endParaRPr>
          </a:p>
        </p:txBody>
      </p:sp>
      <p:pic>
        <p:nvPicPr>
          <p:cNvPr id="91" name="Google Shape;91;p10"/>
          <p:cNvPicPr preferRelativeResize="0"/>
          <p:nvPr/>
        </p:nvPicPr>
        <p:blipFill>
          <a:blip r:embed="rId3">
            <a:alphaModFix/>
          </a:blip>
          <a:stretch>
            <a:fillRect/>
          </a:stretch>
        </p:blipFill>
        <p:spPr>
          <a:xfrm rot="-5400000">
            <a:off x="103775" y="9769600"/>
            <a:ext cx="936000" cy="270612"/>
          </a:xfrm>
          <a:prstGeom prst="rect">
            <a:avLst/>
          </a:prstGeom>
          <a:noFill/>
          <a:ln>
            <a:noFill/>
          </a:ln>
        </p:spPr>
      </p:pic>
      <p:sp>
        <p:nvSpPr>
          <p:cNvPr id="92" name="Google Shape;92;p10"/>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93" name="Google Shape;93;p10"/>
          <p:cNvSpPr txBox="1"/>
          <p:nvPr/>
        </p:nvSpPr>
        <p:spPr>
          <a:xfrm rot="-5400000">
            <a:off x="3997613" y="7219188"/>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chemeClr val="dk1"/>
                </a:solidFill>
                <a:latin typeface="Lexend Light"/>
                <a:ea typeface="Lexend Light"/>
                <a:cs typeface="Lexend Light"/>
                <a:sym typeface="Lexend Light"/>
              </a:rPr>
              <a:t>Licensed on the </a:t>
            </a:r>
            <a:r>
              <a:rPr lang="en-GB" sz="900" u="sng">
                <a:solidFill>
                  <a:schemeClr val="dk1"/>
                </a:solidFill>
                <a:latin typeface="Lexend Light"/>
                <a:ea typeface="Lexend Light"/>
                <a:cs typeface="Lexend Light"/>
                <a:sym typeface="Lexend Light"/>
                <a:hlinkClick r:id="rId4">
                  <a:extLst>
                    <a:ext uri="{A12FA001-AC4F-418D-AE19-62706E023703}">
                      <ahyp:hlinkClr val="tx"/>
                    </a:ext>
                  </a:extLst>
                </a:hlinkClick>
              </a:rPr>
              <a:t>Open Government Licence v3.0</a:t>
            </a:r>
            <a:r>
              <a:rPr lang="en-GB" sz="900">
                <a:solidFill>
                  <a:schemeClr val="dk1"/>
                </a:solidFill>
                <a:latin typeface="Lexend Light"/>
                <a:ea typeface="Lexend Light"/>
                <a:cs typeface="Lexend Light"/>
                <a:sym typeface="Lexend Light"/>
              </a:rPr>
              <a:t>, except where otherwise stated. See </a:t>
            </a:r>
            <a:r>
              <a:rPr lang="en-GB" sz="900" u="sng">
                <a:solidFill>
                  <a:schemeClr val="dk1"/>
                </a:solidFill>
                <a:latin typeface="Lexend Light"/>
                <a:ea typeface="Lexend Light"/>
                <a:cs typeface="Lexend Light"/>
                <a:sym typeface="Lexend Light"/>
                <a:hlinkClick r:id="rId5">
                  <a:extLst>
                    <a:ext uri="{A12FA001-AC4F-418D-AE19-62706E023703}">
                      <ahyp:hlinkClr val="tx"/>
                    </a:ext>
                  </a:extLst>
                </a:hlinkClick>
              </a:rPr>
              <a:t>Oak terms &amp; conditions</a:t>
            </a:r>
            <a:r>
              <a:rPr lang="en-GB" sz="900">
                <a:solidFill>
                  <a:schemeClr val="dk1"/>
                </a:solidFill>
                <a:latin typeface="Lexend Light"/>
                <a:ea typeface="Lexend Light"/>
                <a:cs typeface="Lexend Light"/>
                <a:sym typeface="Lexend Light"/>
              </a:rPr>
              <a:t>.</a:t>
            </a:r>
            <a:endParaRPr sz="900">
              <a:solidFill>
                <a:schemeClr val="dk1"/>
              </a:solidFill>
              <a:latin typeface="Lexend Light"/>
              <a:ea typeface="Lexend Light"/>
              <a:cs typeface="Lexend Light"/>
              <a:sym typeface="Lexend Light"/>
            </a:endParaRPr>
          </a:p>
        </p:txBody>
      </p:sp>
      <p:sp>
        <p:nvSpPr>
          <p:cNvPr id="94" name="Google Shape;94;p10"/>
          <p:cNvSpPr txBox="1"/>
          <p:nvPr/>
        </p:nvSpPr>
        <p:spPr>
          <a:xfrm rot="-5400000">
            <a:off x="5092013" y="8491038"/>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chemeClr val="dk1"/>
                </a:solidFill>
                <a:latin typeface="Lexend"/>
                <a:ea typeface="Lexend"/>
                <a:cs typeface="Lexend"/>
                <a:sym typeface="Lexend"/>
              </a:rPr>
              <a:t>© Oak National Academy 2024</a:t>
            </a:r>
            <a:r>
              <a:rPr lang="en-GB" sz="900">
                <a:solidFill>
                  <a:schemeClr val="dk1"/>
                </a:solidFill>
                <a:latin typeface="Lexend Light"/>
                <a:ea typeface="Lexend Light"/>
                <a:cs typeface="Lexend Light"/>
                <a:sym typeface="Lexend Light"/>
              </a:rPr>
              <a:t>. Produced in partnership with</a:t>
            </a:r>
            <a:endParaRPr sz="900">
              <a:solidFill>
                <a:schemeClr val="dk1"/>
              </a:solidFill>
              <a:latin typeface="Lexend Light"/>
              <a:ea typeface="Lexend Light"/>
              <a:cs typeface="Lexend Light"/>
              <a:sym typeface="Lexend Light"/>
            </a:endParaRPr>
          </a:p>
        </p:txBody>
      </p:sp>
      <p:sp>
        <p:nvSpPr>
          <p:cNvPr id="95" name="Google Shape;95;p10"/>
          <p:cNvSpPr txBox="1"/>
          <p:nvPr/>
        </p:nvSpPr>
        <p:spPr>
          <a:xfrm rot="-5400000">
            <a:off x="5488463" y="5454663"/>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chemeClr val="dk1"/>
              </a:solidFill>
              <a:latin typeface="Lexend Light"/>
              <a:ea typeface="Lexend Light"/>
              <a:cs typeface="Lexend Light"/>
              <a:sym typeface="Lexend Light"/>
            </a:endParaRPr>
          </a:p>
        </p:txBody>
      </p:sp>
      <p:sp>
        <p:nvSpPr>
          <p:cNvPr id="96" name="Google Shape;96;p10"/>
          <p:cNvSpPr txBox="1"/>
          <p:nvPr>
            <p:ph idx="1" type="subTitle"/>
          </p:nvPr>
        </p:nvSpPr>
        <p:spPr>
          <a:xfrm rot="-5400000">
            <a:off x="5488463" y="5454663"/>
            <a:ext cx="2722800" cy="161100"/>
          </a:xfrm>
          <a:prstGeom prst="rect">
            <a:avLst/>
          </a:prstGeom>
        </p:spPr>
        <p:txBody>
          <a:bodyPr anchorCtr="0" anchor="b" bIns="0" lIns="0" spcFirstLastPara="1" rIns="0" wrap="square" tIns="0">
            <a:normAutofit/>
          </a:bodyPr>
          <a:lstStyle>
            <a:lvl1pPr lvl="0" rtl="0">
              <a:spcBef>
                <a:spcPts val="0"/>
              </a:spcBef>
              <a:spcAft>
                <a:spcPts val="0"/>
              </a:spcAft>
              <a:buSzPts val="900"/>
              <a:buFont typeface="Lexend Light"/>
              <a:buNone/>
              <a:defRPr sz="900">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97" name="Google Shape;97;p10"/>
          <p:cNvSpPr txBox="1"/>
          <p:nvPr>
            <p:ph idx="2" type="subTitle"/>
          </p:nvPr>
        </p:nvSpPr>
        <p:spPr>
          <a:xfrm rot="-5400000">
            <a:off x="-3498000" y="5128425"/>
            <a:ext cx="8070600" cy="246300"/>
          </a:xfrm>
          <a:prstGeom prst="rect">
            <a:avLst/>
          </a:prstGeom>
          <a:ln>
            <a:noFill/>
          </a:ln>
        </p:spPr>
        <p:txBody>
          <a:bodyPr anchorCtr="0" anchor="ctr" bIns="0" lIns="0" spcFirstLastPara="1" rIns="0" wrap="square" tIns="0">
            <a:no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0 Landscape single page worksheet">
  <p:cSld name="SECTION_HEADER_1_1_1_1_1_1_1_1_1_1_1_2_1_1_1_1_1_1_1_1_1_1_2">
    <p:bg>
      <p:bgPr>
        <a:solidFill>
          <a:schemeClr val="lt1"/>
        </a:solidFill>
      </p:bgPr>
    </p:bg>
    <p:spTree>
      <p:nvGrpSpPr>
        <p:cNvPr id="98" name="Shape 98"/>
        <p:cNvGrpSpPr/>
        <p:nvPr/>
      </p:nvGrpSpPr>
      <p:grpSpPr>
        <a:xfrm>
          <a:off x="0" y="0"/>
          <a:ext cx="0" cy="0"/>
          <a:chOff x="0" y="0"/>
          <a:chExt cx="0" cy="0"/>
        </a:xfrm>
      </p:grpSpPr>
      <p:pic>
        <p:nvPicPr>
          <p:cNvPr id="99" name="Google Shape;99;p11"/>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00" name="Google Shape;100;p11"/>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01" name="Google Shape;101;p11"/>
          <p:cNvSpPr txBox="1"/>
          <p:nvPr>
            <p:ph type="title"/>
          </p:nvPr>
        </p:nvSpPr>
        <p:spPr>
          <a:xfrm rot="-5400000">
            <a:off x="-3842125" y="5162095"/>
            <a:ext cx="99837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02" name="Google Shape;102;p11"/>
          <p:cNvPicPr preferRelativeResize="0"/>
          <p:nvPr/>
        </p:nvPicPr>
        <p:blipFill>
          <a:blip r:embed="rId3">
            <a:alphaModFix/>
          </a:blip>
          <a:stretch>
            <a:fillRect/>
          </a:stretch>
        </p:blipFill>
        <p:spPr>
          <a:xfrm rot="-5400000">
            <a:off x="-3612750" y="5310727"/>
            <a:ext cx="9987174" cy="66225"/>
          </a:xfrm>
          <a:prstGeom prst="rect">
            <a:avLst/>
          </a:prstGeom>
          <a:noFill/>
          <a:ln>
            <a:noFill/>
          </a:ln>
        </p:spPr>
      </p:pic>
      <p:sp>
        <p:nvSpPr>
          <p:cNvPr id="103" name="Google Shape;103;p11"/>
          <p:cNvSpPr txBox="1"/>
          <p:nvPr/>
        </p:nvSpPr>
        <p:spPr>
          <a:xfrm rot="-5400000">
            <a:off x="104964" y="719111"/>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solidFill>
                  <a:schemeClr val="dk1"/>
                </a:solidFill>
                <a:latin typeface="Lexend"/>
                <a:ea typeface="Lexend"/>
                <a:cs typeface="Lexend"/>
                <a:sym typeface="Lexend"/>
              </a:rPr>
              <a:t>Worksheet</a:t>
            </a:r>
            <a:endParaRPr b="1">
              <a:solidFill>
                <a:schemeClr val="dk1"/>
              </a:solidFill>
              <a:latin typeface="Lexend"/>
              <a:ea typeface="Lexend"/>
              <a:cs typeface="Lexend"/>
              <a:sym typeface="Lexend"/>
            </a:endParaRPr>
          </a:p>
        </p:txBody>
      </p:sp>
      <p:pic>
        <p:nvPicPr>
          <p:cNvPr id="104" name="Google Shape;104;p11"/>
          <p:cNvPicPr preferRelativeResize="0"/>
          <p:nvPr/>
        </p:nvPicPr>
        <p:blipFill>
          <a:blip r:embed="rId4">
            <a:alphaModFix/>
          </a:blip>
          <a:stretch>
            <a:fillRect/>
          </a:stretch>
        </p:blipFill>
        <p:spPr>
          <a:xfrm rot="-5400000">
            <a:off x="103775" y="9769600"/>
            <a:ext cx="936000" cy="270612"/>
          </a:xfrm>
          <a:prstGeom prst="rect">
            <a:avLst/>
          </a:prstGeom>
          <a:noFill/>
          <a:ln>
            <a:noFill/>
          </a:ln>
        </p:spPr>
      </p:pic>
      <p:sp>
        <p:nvSpPr>
          <p:cNvPr id="105" name="Google Shape;105;p11"/>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106" name="Google Shape;106;p11"/>
          <p:cNvSpPr txBox="1"/>
          <p:nvPr/>
        </p:nvSpPr>
        <p:spPr>
          <a:xfrm rot="-5400000">
            <a:off x="3997613" y="7219188"/>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chemeClr val="dk1"/>
                </a:solidFill>
                <a:latin typeface="Lexend Light"/>
                <a:ea typeface="Lexend Light"/>
                <a:cs typeface="Lexend Light"/>
                <a:sym typeface="Lexend Light"/>
              </a:rPr>
              <a:t>Licensed on the </a:t>
            </a:r>
            <a:r>
              <a:rPr lang="en-GB" sz="900" u="sng">
                <a:solidFill>
                  <a:schemeClr val="dk1"/>
                </a:solidFill>
                <a:latin typeface="Lexend Light"/>
                <a:ea typeface="Lexend Light"/>
                <a:cs typeface="Lexend Light"/>
                <a:sym typeface="Lexend Light"/>
                <a:hlinkClick r:id="rId5">
                  <a:extLst>
                    <a:ext uri="{A12FA001-AC4F-418D-AE19-62706E023703}">
                      <ahyp:hlinkClr val="tx"/>
                    </a:ext>
                  </a:extLst>
                </a:hlinkClick>
              </a:rPr>
              <a:t>Open Government Licence v3.0</a:t>
            </a:r>
            <a:r>
              <a:rPr lang="en-GB" sz="900">
                <a:solidFill>
                  <a:schemeClr val="dk1"/>
                </a:solidFill>
                <a:latin typeface="Lexend Light"/>
                <a:ea typeface="Lexend Light"/>
                <a:cs typeface="Lexend Light"/>
                <a:sym typeface="Lexend Light"/>
              </a:rPr>
              <a:t>, except where otherwise stated. See </a:t>
            </a:r>
            <a:r>
              <a:rPr lang="en-GB" sz="900" u="sng">
                <a:solidFill>
                  <a:schemeClr val="dk1"/>
                </a:solidFill>
                <a:latin typeface="Lexend Light"/>
                <a:ea typeface="Lexend Light"/>
                <a:cs typeface="Lexend Light"/>
                <a:sym typeface="Lexend Light"/>
                <a:hlinkClick r:id="rId6">
                  <a:extLst>
                    <a:ext uri="{A12FA001-AC4F-418D-AE19-62706E023703}">
                      <ahyp:hlinkClr val="tx"/>
                    </a:ext>
                  </a:extLst>
                </a:hlinkClick>
              </a:rPr>
              <a:t>Oak terms &amp; conditions</a:t>
            </a:r>
            <a:r>
              <a:rPr lang="en-GB" sz="900">
                <a:solidFill>
                  <a:schemeClr val="dk1"/>
                </a:solidFill>
                <a:latin typeface="Lexend Light"/>
                <a:ea typeface="Lexend Light"/>
                <a:cs typeface="Lexend Light"/>
                <a:sym typeface="Lexend Light"/>
              </a:rPr>
              <a:t>.</a:t>
            </a:r>
            <a:endParaRPr sz="900">
              <a:solidFill>
                <a:schemeClr val="dk1"/>
              </a:solidFill>
              <a:latin typeface="Lexend Light"/>
              <a:ea typeface="Lexend Light"/>
              <a:cs typeface="Lexend Light"/>
              <a:sym typeface="Lexend Light"/>
            </a:endParaRPr>
          </a:p>
        </p:txBody>
      </p:sp>
      <p:sp>
        <p:nvSpPr>
          <p:cNvPr id="107" name="Google Shape;107;p11"/>
          <p:cNvSpPr txBox="1"/>
          <p:nvPr/>
        </p:nvSpPr>
        <p:spPr>
          <a:xfrm rot="-5400000">
            <a:off x="5092013" y="8491038"/>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chemeClr val="dk1"/>
                </a:solidFill>
                <a:latin typeface="Lexend"/>
                <a:ea typeface="Lexend"/>
                <a:cs typeface="Lexend"/>
                <a:sym typeface="Lexend"/>
              </a:rPr>
              <a:t>© Oak National Academy 2023</a:t>
            </a:r>
            <a:r>
              <a:rPr lang="en-GB" sz="900">
                <a:solidFill>
                  <a:schemeClr val="dk1"/>
                </a:solidFill>
                <a:latin typeface="Lexend Light"/>
                <a:ea typeface="Lexend Light"/>
                <a:cs typeface="Lexend Light"/>
                <a:sym typeface="Lexend Light"/>
              </a:rPr>
              <a:t>. Produced in partnership with</a:t>
            </a:r>
            <a:endParaRPr sz="900">
              <a:solidFill>
                <a:schemeClr val="dk1"/>
              </a:solidFill>
              <a:latin typeface="Lexend Light"/>
              <a:ea typeface="Lexend Light"/>
              <a:cs typeface="Lexend Light"/>
              <a:sym typeface="Lexend Light"/>
            </a:endParaRPr>
          </a:p>
        </p:txBody>
      </p:sp>
      <p:sp>
        <p:nvSpPr>
          <p:cNvPr id="108" name="Google Shape;108;p11"/>
          <p:cNvSpPr txBox="1"/>
          <p:nvPr/>
        </p:nvSpPr>
        <p:spPr>
          <a:xfrm rot="-5400000">
            <a:off x="5488463" y="5454663"/>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chemeClr val="dk1"/>
              </a:solidFill>
              <a:latin typeface="Lexend Light"/>
              <a:ea typeface="Lexend Light"/>
              <a:cs typeface="Lexend Light"/>
              <a:sym typeface="Lexend Light"/>
            </a:endParaRPr>
          </a:p>
        </p:txBody>
      </p:sp>
      <p:sp>
        <p:nvSpPr>
          <p:cNvPr id="109" name="Google Shape;109;p11"/>
          <p:cNvSpPr txBox="1"/>
          <p:nvPr>
            <p:ph idx="1" type="subTitle"/>
          </p:nvPr>
        </p:nvSpPr>
        <p:spPr>
          <a:xfrm rot="-5400000">
            <a:off x="5488463" y="5454663"/>
            <a:ext cx="2722800" cy="161100"/>
          </a:xfrm>
          <a:prstGeom prst="rect">
            <a:avLst/>
          </a:prstGeom>
        </p:spPr>
        <p:txBody>
          <a:bodyPr anchorCtr="0" anchor="b" bIns="0" lIns="0" spcFirstLastPara="1" rIns="0" wrap="square" tIns="0">
            <a:normAutofit/>
          </a:bodyPr>
          <a:lstStyle>
            <a:lvl1pPr lvl="0" rtl="0">
              <a:spcBef>
                <a:spcPts val="0"/>
              </a:spcBef>
              <a:spcAft>
                <a:spcPts val="0"/>
              </a:spcAft>
              <a:buSzPts val="900"/>
              <a:buFont typeface="Lexend Light"/>
              <a:buNone/>
              <a:defRPr sz="900">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110" name="Google Shape;110;p11"/>
          <p:cNvPicPr preferRelativeResize="0"/>
          <p:nvPr/>
        </p:nvPicPr>
        <p:blipFill>
          <a:blip r:embed="rId7">
            <a:alphaModFix/>
          </a:blip>
          <a:stretch>
            <a:fillRect/>
          </a:stretch>
        </p:blipFill>
        <p:spPr>
          <a:xfrm rot="-5400000">
            <a:off x="319775" y="1225719"/>
            <a:ext cx="504000" cy="504000"/>
          </a:xfrm>
          <a:prstGeom prst="rect">
            <a:avLst/>
          </a:prstGeom>
          <a:noFill/>
          <a:ln>
            <a:noFill/>
          </a:ln>
        </p:spPr>
      </p:pic>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57705" y="925091"/>
            <a:ext cx="7044600" cy="1190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200"/>
              <a:buFont typeface="Lexend"/>
              <a:buNone/>
              <a:defRPr b="1" i="0" sz="2200" u="none" cap="none" strike="noStrike">
                <a:solidFill>
                  <a:schemeClr val="dk1"/>
                </a:solidFill>
                <a:latin typeface="Lexend"/>
                <a:ea typeface="Lexend"/>
                <a:cs typeface="Lexend"/>
                <a:sym typeface="Lexend"/>
              </a:defRPr>
            </a:lvl1pPr>
            <a:lvl2pPr lvl="1"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2pPr>
            <a:lvl3pPr lvl="2"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3pPr>
            <a:lvl4pPr lvl="3"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4pPr>
            <a:lvl5pPr lvl="4"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5pPr>
            <a:lvl6pPr lvl="5"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6pPr>
            <a:lvl7pPr lvl="6"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7pPr>
            <a:lvl8pPr lvl="7"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8pPr>
            <a:lvl9pPr lvl="8"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9pPr>
          </a:lstStyle>
          <a:p/>
        </p:txBody>
      </p:sp>
      <p:sp>
        <p:nvSpPr>
          <p:cNvPr id="7" name="Google Shape;7;p1"/>
          <p:cNvSpPr txBox="1"/>
          <p:nvPr>
            <p:ph idx="1" type="body"/>
          </p:nvPr>
        </p:nvSpPr>
        <p:spPr>
          <a:xfrm>
            <a:off x="257705" y="2395696"/>
            <a:ext cx="7044600" cy="7101900"/>
          </a:xfrm>
          <a:prstGeom prst="rect">
            <a:avLst/>
          </a:prstGeom>
          <a:noFill/>
          <a:ln>
            <a:noFill/>
          </a:ln>
        </p:spPr>
        <p:txBody>
          <a:bodyPr anchorCtr="0" anchor="t" bIns="0" lIns="0" spcFirstLastPara="1" rIns="0" wrap="square" tIns="0">
            <a:normAutofit/>
          </a:bodyPr>
          <a:lstStyle>
            <a:lvl1pPr indent="-342900" lvl="0" marL="457200" marR="0" rtl="0" algn="l">
              <a:lnSpc>
                <a:spcPct val="115000"/>
              </a:lnSpc>
              <a:spcBef>
                <a:spcPts val="0"/>
              </a:spcBef>
              <a:spcAft>
                <a:spcPts val="0"/>
              </a:spcAft>
              <a:buClr>
                <a:schemeClr val="dk1"/>
              </a:buClr>
              <a:buSzPts val="1800"/>
              <a:buFont typeface="Lexend"/>
              <a:buChar char="●"/>
              <a:defRPr i="0" sz="1800" u="none" cap="none" strike="noStrike">
                <a:solidFill>
                  <a:schemeClr val="dk1"/>
                </a:solidFill>
                <a:latin typeface="Lexend"/>
                <a:ea typeface="Lexend"/>
                <a:cs typeface="Lexend"/>
                <a:sym typeface="Lexend"/>
              </a:defRPr>
            </a:lvl1pPr>
            <a:lvl2pPr indent="-317500" lvl="1" marL="9144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2pPr>
            <a:lvl3pPr indent="-317500" lvl="2" marL="13716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3pPr>
            <a:lvl4pPr indent="-317500" lvl="3" marL="18288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4pPr>
            <a:lvl5pPr indent="-317500" lvl="4" marL="22860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5pPr>
            <a:lvl6pPr indent="-317500" lvl="5" marL="27432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6pPr>
            <a:lvl7pPr indent="-317500" lvl="6" marL="32004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7pPr>
            <a:lvl8pPr indent="-317500" lvl="7" marL="36576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8pPr>
            <a:lvl9pPr indent="-317500" lvl="8" marL="4114800" marR="0" rtl="0" algn="l">
              <a:lnSpc>
                <a:spcPct val="115000"/>
              </a:lnSpc>
              <a:spcBef>
                <a:spcPts val="0"/>
              </a:spcBef>
              <a:spcAft>
                <a:spcPts val="0"/>
              </a:spcAft>
              <a:buClr>
                <a:schemeClr val="dk1"/>
              </a:buClr>
              <a:buSzPts val="1400"/>
              <a:buFont typeface="Kalam"/>
              <a:buChar char="■"/>
              <a:defRPr i="0" sz="1400" u="none" cap="none" strike="noStrike">
                <a:solidFill>
                  <a:schemeClr val="dk1"/>
                </a:solidFill>
                <a:latin typeface="Kalam"/>
                <a:ea typeface="Kalam"/>
                <a:cs typeface="Kalam"/>
                <a:sym typeface="Kalam"/>
              </a:defRPr>
            </a:lvl9pPr>
          </a:lstStyle>
          <a:p/>
        </p:txBody>
      </p:sp>
      <p:sp>
        <p:nvSpPr>
          <p:cNvPr id="8" name="Google Shape;8;p1"/>
          <p:cNvSpPr txBox="1"/>
          <p:nvPr>
            <p:ph idx="12" type="sldNum"/>
          </p:nvPr>
        </p:nvSpPr>
        <p:spPr>
          <a:xfrm>
            <a:off x="7004788" y="9693616"/>
            <a:ext cx="453600" cy="8181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1pPr>
            <a:lvl2pPr indent="0" lvl="1"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2pPr>
            <a:lvl3pPr indent="0" lvl="2"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3pPr>
            <a:lvl4pPr indent="0" lvl="3"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4pPr>
            <a:lvl5pPr indent="0" lvl="4"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5pPr>
            <a:lvl6pPr indent="0" lvl="5"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6pPr>
            <a:lvl7pPr indent="0" lvl="6"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7pPr>
            <a:lvl8pPr indent="0" lvl="7"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8pPr>
            <a:lvl9pPr indent="0" lvl="8"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2"/>
          <p:cNvSpPr txBox="1"/>
          <p:nvPr/>
        </p:nvSpPr>
        <p:spPr>
          <a:xfrm>
            <a:off x="677100" y="9375650"/>
            <a:ext cx="61941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200">
                <a:solidFill>
                  <a:srgbClr val="000000"/>
                </a:solidFill>
                <a:latin typeface="Kalam"/>
                <a:ea typeface="Kalam"/>
                <a:cs typeface="Kalam"/>
                <a:sym typeface="Kalam"/>
              </a:rPr>
              <a:t>It is not sensible to generalise conclusions about one location to other locations, even within the same country. </a:t>
            </a:r>
            <a:r>
              <a:rPr lang="en-GB" sz="1200">
                <a:latin typeface="Kalam"/>
                <a:ea typeface="Kalam"/>
                <a:cs typeface="Kalam"/>
                <a:sym typeface="Kalam"/>
              </a:rPr>
              <a:t>There are several reasons for this, such as Stornoway’s proximity to the sea, compared to other parts of Scotland.</a:t>
            </a:r>
            <a:endParaRPr sz="1200">
              <a:solidFill>
                <a:srgbClr val="000000"/>
              </a:solidFill>
              <a:latin typeface="Kalam"/>
              <a:ea typeface="Kalam"/>
              <a:cs typeface="Kalam"/>
              <a:sym typeface="Kalam"/>
            </a:endParaRPr>
          </a:p>
        </p:txBody>
      </p:sp>
      <p:sp>
        <p:nvSpPr>
          <p:cNvPr id="116" name="Google Shape;116;p12"/>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solidFill>
                  <a:schemeClr val="dk1"/>
                </a:solidFill>
              </a:rPr>
              <a:t>‹#›</a:t>
            </a:fld>
            <a:endParaRPr>
              <a:solidFill>
                <a:schemeClr val="dk1"/>
              </a:solidFill>
            </a:endParaRPr>
          </a:p>
        </p:txBody>
      </p:sp>
      <p:sp>
        <p:nvSpPr>
          <p:cNvPr id="117" name="Google Shape;117;p12"/>
          <p:cNvSpPr txBox="1"/>
          <p:nvPr>
            <p:ph type="title"/>
          </p:nvPr>
        </p:nvSpPr>
        <p:spPr>
          <a:xfrm>
            <a:off x="468000" y="864000"/>
            <a:ext cx="6624000" cy="2772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Studying local climate change</a:t>
            </a:r>
            <a:endParaRPr/>
          </a:p>
        </p:txBody>
      </p:sp>
      <p:sp>
        <p:nvSpPr>
          <p:cNvPr id="118" name="Google Shape;118;p12"/>
          <p:cNvSpPr txBox="1"/>
          <p:nvPr/>
        </p:nvSpPr>
        <p:spPr>
          <a:xfrm>
            <a:off x="468001" y="1335050"/>
            <a:ext cx="6194100" cy="2931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a:solidFill>
                  <a:srgbClr val="000000"/>
                </a:solidFill>
                <a:latin typeface="Lexend"/>
                <a:ea typeface="Lexend"/>
                <a:cs typeface="Lexend"/>
                <a:sym typeface="Lexend"/>
              </a:rPr>
              <a:t>Task A: </a:t>
            </a:r>
            <a:r>
              <a:rPr b="1" lang="en-GB">
                <a:latin typeface="Lexend"/>
                <a:ea typeface="Lexend"/>
                <a:cs typeface="Lexend"/>
                <a:sym typeface="Lexend"/>
              </a:rPr>
              <a:t>Analysing local climate data</a:t>
            </a:r>
            <a:endParaRPr b="1">
              <a:solidFill>
                <a:srgbClr val="000000"/>
              </a:solidFill>
              <a:latin typeface="Lexend"/>
              <a:ea typeface="Lexend"/>
              <a:cs typeface="Lexend"/>
              <a:sym typeface="Lexend"/>
            </a:endParaRPr>
          </a:p>
        </p:txBody>
      </p:sp>
      <p:sp>
        <p:nvSpPr>
          <p:cNvPr id="119" name="Google Shape;119;p12"/>
          <p:cNvSpPr txBox="1"/>
          <p:nvPr/>
        </p:nvSpPr>
        <p:spPr>
          <a:xfrm>
            <a:off x="468000" y="1814225"/>
            <a:ext cx="66240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200">
                <a:latin typeface="Lexend"/>
                <a:ea typeface="Lexend"/>
                <a:cs typeface="Lexend"/>
                <a:sym typeface="Lexend"/>
              </a:rPr>
              <a:t>1) </a:t>
            </a:r>
            <a:r>
              <a:rPr lang="en-GB" sz="1200">
                <a:latin typeface="Lexend"/>
                <a:ea typeface="Lexend"/>
                <a:cs typeface="Lexend"/>
                <a:sym typeface="Lexend"/>
              </a:rPr>
              <a:t>This graph from the Met Office shows the average monthly rainfall (in mm) each year </a:t>
            </a:r>
            <a:br>
              <a:rPr lang="en-GB" sz="1200">
                <a:latin typeface="Lexend"/>
                <a:ea typeface="Lexend"/>
                <a:cs typeface="Lexend"/>
                <a:sym typeface="Lexend"/>
              </a:rPr>
            </a:br>
            <a:r>
              <a:rPr lang="en-GB" sz="1200">
                <a:latin typeface="Lexend"/>
                <a:ea typeface="Lexend"/>
                <a:cs typeface="Lexend"/>
                <a:sym typeface="Lexend"/>
              </a:rPr>
              <a:t>    from 1941 to 2000 in Stornoway and Southampton.</a:t>
            </a:r>
            <a:endParaRPr sz="1200">
              <a:latin typeface="Lexend"/>
              <a:ea typeface="Lexend"/>
              <a:cs typeface="Lexend"/>
              <a:sym typeface="Lexend"/>
            </a:endParaRPr>
          </a:p>
        </p:txBody>
      </p:sp>
      <p:pic>
        <p:nvPicPr>
          <p:cNvPr id="120" name="Google Shape;120;p12"/>
          <p:cNvPicPr preferRelativeResize="0"/>
          <p:nvPr/>
        </p:nvPicPr>
        <p:blipFill>
          <a:blip r:embed="rId3">
            <a:alphaModFix/>
          </a:blip>
          <a:stretch>
            <a:fillRect/>
          </a:stretch>
        </p:blipFill>
        <p:spPr>
          <a:xfrm>
            <a:off x="656275" y="2247629"/>
            <a:ext cx="4659891" cy="2123732"/>
          </a:xfrm>
          <a:prstGeom prst="rect">
            <a:avLst/>
          </a:prstGeom>
          <a:noFill/>
          <a:ln cap="flat" cmpd="sng" w="19050">
            <a:solidFill>
              <a:srgbClr val="000000"/>
            </a:solidFill>
            <a:prstDash val="solid"/>
            <a:round/>
            <a:headEnd len="sm" w="sm" type="none"/>
            <a:tailEnd len="sm" w="sm" type="none"/>
          </a:ln>
        </p:spPr>
      </p:pic>
      <p:grpSp>
        <p:nvGrpSpPr>
          <p:cNvPr id="121" name="Google Shape;121;p12"/>
          <p:cNvGrpSpPr/>
          <p:nvPr/>
        </p:nvGrpSpPr>
        <p:grpSpPr>
          <a:xfrm>
            <a:off x="5387615" y="3908167"/>
            <a:ext cx="1274441" cy="507862"/>
            <a:chOff x="5413489" y="2887206"/>
            <a:chExt cx="1358100" cy="541200"/>
          </a:xfrm>
        </p:grpSpPr>
        <p:sp>
          <p:nvSpPr>
            <p:cNvPr id="122" name="Google Shape;122;p12"/>
            <p:cNvSpPr txBox="1"/>
            <p:nvPr/>
          </p:nvSpPr>
          <p:spPr>
            <a:xfrm>
              <a:off x="5413489" y="2887206"/>
              <a:ext cx="1358100" cy="541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100">
                  <a:latin typeface="Lexend"/>
                  <a:ea typeface="Lexend"/>
                  <a:cs typeface="Lexend"/>
                  <a:sym typeface="Lexend"/>
                </a:rPr>
                <a:t>Key:</a:t>
              </a:r>
              <a:endParaRPr sz="1100">
                <a:latin typeface="Lexend"/>
                <a:ea typeface="Lexend"/>
                <a:cs typeface="Lexend"/>
                <a:sym typeface="Lexend"/>
              </a:endParaRPr>
            </a:p>
            <a:p>
              <a:pPr indent="0" lvl="0" marL="0" rtl="0" algn="l">
                <a:spcBef>
                  <a:spcPts val="0"/>
                </a:spcBef>
                <a:spcAft>
                  <a:spcPts val="0"/>
                </a:spcAft>
                <a:buNone/>
              </a:pPr>
              <a:r>
                <a:rPr lang="en-GB" sz="1100">
                  <a:latin typeface="Lexend"/>
                  <a:ea typeface="Lexend"/>
                  <a:cs typeface="Lexend"/>
                  <a:sym typeface="Lexend"/>
                </a:rPr>
                <a:t>        Stornoway </a:t>
              </a:r>
              <a:endParaRPr sz="1100">
                <a:latin typeface="Lexend"/>
                <a:ea typeface="Lexend"/>
                <a:cs typeface="Lexend"/>
                <a:sym typeface="Lexend"/>
              </a:endParaRPr>
            </a:p>
            <a:p>
              <a:pPr indent="0" lvl="0" marL="0" rtl="0" algn="l">
                <a:spcBef>
                  <a:spcPts val="0"/>
                </a:spcBef>
                <a:spcAft>
                  <a:spcPts val="0"/>
                </a:spcAft>
                <a:buNone/>
              </a:pPr>
              <a:r>
                <a:rPr lang="en-GB" sz="1100">
                  <a:solidFill>
                    <a:srgbClr val="000000"/>
                  </a:solidFill>
                  <a:latin typeface="Lexend"/>
                  <a:ea typeface="Lexend"/>
                  <a:cs typeface="Lexend"/>
                  <a:sym typeface="Lexend"/>
                </a:rPr>
                <a:t>        Southampton</a:t>
              </a:r>
              <a:endParaRPr sz="1100">
                <a:latin typeface="Lexend"/>
                <a:ea typeface="Lexend"/>
                <a:cs typeface="Lexend"/>
                <a:sym typeface="Lexend"/>
              </a:endParaRPr>
            </a:p>
          </p:txBody>
        </p:sp>
        <p:sp>
          <p:nvSpPr>
            <p:cNvPr id="123" name="Google Shape;123;p12"/>
            <p:cNvSpPr/>
            <p:nvPr/>
          </p:nvSpPr>
          <p:spPr>
            <a:xfrm>
              <a:off x="5535563" y="3239526"/>
              <a:ext cx="152100" cy="152100"/>
            </a:xfrm>
            <a:prstGeom prst="mathMultiply">
              <a:avLst>
                <a:gd fmla="val 15141" name="adj1"/>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Lexend"/>
                <a:ea typeface="Lexend"/>
                <a:cs typeface="Lexend"/>
                <a:sym typeface="Lexend"/>
              </a:endParaRPr>
            </a:p>
          </p:txBody>
        </p:sp>
        <p:sp>
          <p:nvSpPr>
            <p:cNvPr id="124" name="Google Shape;124;p12"/>
            <p:cNvSpPr/>
            <p:nvPr/>
          </p:nvSpPr>
          <p:spPr>
            <a:xfrm>
              <a:off x="5555618" y="3097204"/>
              <a:ext cx="87900" cy="879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Lexend"/>
                <a:ea typeface="Lexend"/>
                <a:cs typeface="Lexend"/>
                <a:sym typeface="Lexend"/>
              </a:endParaRPr>
            </a:p>
          </p:txBody>
        </p:sp>
      </p:grpSp>
      <p:sp>
        <p:nvSpPr>
          <p:cNvPr id="125" name="Google Shape;125;p12"/>
          <p:cNvSpPr txBox="1"/>
          <p:nvPr/>
        </p:nvSpPr>
        <p:spPr>
          <a:xfrm>
            <a:off x="468000" y="4581150"/>
            <a:ext cx="6624000" cy="1605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200">
                <a:solidFill>
                  <a:srgbClr val="000000"/>
                </a:solidFill>
                <a:latin typeface="Lexend"/>
                <a:ea typeface="Lexend"/>
                <a:cs typeface="Lexend"/>
                <a:sym typeface="Lexend"/>
              </a:rPr>
              <a:t>Andeep says: “We usually expect to see more rain falling each month in Stornoway than in Southampton.”</a:t>
            </a:r>
            <a:endParaRPr sz="1200">
              <a:latin typeface="Lexend"/>
              <a:ea typeface="Lexend"/>
              <a:cs typeface="Lexend"/>
              <a:sym typeface="Lexend"/>
            </a:endParaRPr>
          </a:p>
          <a:p>
            <a:pPr indent="0" lvl="0" marL="0" rtl="0" algn="l">
              <a:spcBef>
                <a:spcPts val="1000"/>
              </a:spcBef>
              <a:spcAft>
                <a:spcPts val="0"/>
              </a:spcAft>
              <a:buNone/>
            </a:pPr>
            <a:r>
              <a:rPr lang="en-GB" sz="1200">
                <a:latin typeface="Lexend"/>
                <a:ea typeface="Lexend"/>
                <a:cs typeface="Lexend"/>
                <a:sym typeface="Lexend"/>
              </a:rPr>
              <a:t>a) Explain how Andeep might have come to this conclusion.</a:t>
            </a:r>
            <a:br>
              <a:rPr lang="en-GB" sz="1200">
                <a:latin typeface="Lexend"/>
                <a:ea typeface="Lexend"/>
                <a:cs typeface="Lexend"/>
                <a:sym typeface="Lexend"/>
              </a:rPr>
            </a:br>
            <a:endParaRPr sz="1200">
              <a:latin typeface="Lexend"/>
              <a:ea typeface="Lexend"/>
              <a:cs typeface="Lexend"/>
              <a:sym typeface="Lexend"/>
            </a:endParaRPr>
          </a:p>
          <a:p>
            <a:pPr indent="0" lvl="0" marL="0" rtl="0" algn="l">
              <a:spcBef>
                <a:spcPts val="0"/>
              </a:spcBef>
              <a:spcAft>
                <a:spcPts val="0"/>
              </a:spcAft>
              <a:buNone/>
            </a:pPr>
            <a:r>
              <a:t/>
            </a:r>
            <a:endParaRPr sz="1200">
              <a:latin typeface="Lexend"/>
              <a:ea typeface="Lexend"/>
              <a:cs typeface="Lexend"/>
              <a:sym typeface="Lexend"/>
            </a:endParaRPr>
          </a:p>
          <a:p>
            <a:pPr indent="0" lvl="0" marL="0" rtl="0" algn="l">
              <a:spcBef>
                <a:spcPts val="0"/>
              </a:spcBef>
              <a:spcAft>
                <a:spcPts val="0"/>
              </a:spcAft>
              <a:buNone/>
            </a:pPr>
            <a:r>
              <a:t/>
            </a:r>
            <a:endParaRPr sz="1200">
              <a:latin typeface="Lexend"/>
              <a:ea typeface="Lexend"/>
              <a:cs typeface="Lexend"/>
              <a:sym typeface="Lexend"/>
            </a:endParaRPr>
          </a:p>
          <a:p>
            <a:pPr indent="0" lvl="0" marL="0" rtl="0" algn="l">
              <a:spcBef>
                <a:spcPts val="0"/>
              </a:spcBef>
              <a:spcAft>
                <a:spcPts val="0"/>
              </a:spcAft>
              <a:buNone/>
            </a:pPr>
            <a:r>
              <a:rPr lang="en-GB" sz="1200">
                <a:latin typeface="Lexend"/>
                <a:ea typeface="Lexend"/>
                <a:cs typeface="Lexend"/>
                <a:sym typeface="Lexend"/>
              </a:rPr>
              <a:t>b) In 1968, more rain fell in Southampton than in Stornoway. </a:t>
            </a:r>
            <a:br>
              <a:rPr lang="en-GB" sz="1200">
                <a:latin typeface="Lexend"/>
                <a:ea typeface="Lexend"/>
                <a:cs typeface="Lexend"/>
                <a:sym typeface="Lexend"/>
              </a:rPr>
            </a:br>
            <a:r>
              <a:rPr lang="en-GB" sz="1200">
                <a:latin typeface="Lexend"/>
                <a:ea typeface="Lexend"/>
                <a:cs typeface="Lexend"/>
                <a:sym typeface="Lexend"/>
              </a:rPr>
              <a:t>    Explain whether this makes Andeep’s claim incorrect or not.</a:t>
            </a:r>
            <a:endParaRPr sz="1200">
              <a:latin typeface="Lexend"/>
              <a:ea typeface="Lexend"/>
              <a:cs typeface="Lexend"/>
              <a:sym typeface="Lexend"/>
            </a:endParaRPr>
          </a:p>
        </p:txBody>
      </p:sp>
      <p:sp>
        <p:nvSpPr>
          <p:cNvPr id="126" name="Google Shape;126;p12"/>
          <p:cNvSpPr txBox="1"/>
          <p:nvPr/>
        </p:nvSpPr>
        <p:spPr>
          <a:xfrm>
            <a:off x="476400" y="6717562"/>
            <a:ext cx="6624000" cy="1236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200">
                <a:solidFill>
                  <a:srgbClr val="000000"/>
                </a:solidFill>
                <a:latin typeface="Lexend"/>
                <a:ea typeface="Lexend"/>
                <a:cs typeface="Lexend"/>
                <a:sym typeface="Lexend"/>
              </a:rPr>
              <a:t>Sofia says: “Over time, the general trend in Stornoway is that the average amount of rainfall is increasing.”</a:t>
            </a:r>
            <a:endParaRPr sz="1200">
              <a:latin typeface="Lexend"/>
              <a:ea typeface="Lexend"/>
              <a:cs typeface="Lexend"/>
              <a:sym typeface="Lexend"/>
            </a:endParaRPr>
          </a:p>
          <a:p>
            <a:pPr indent="0" lvl="0" marL="0" rtl="0" algn="l">
              <a:spcBef>
                <a:spcPts val="1000"/>
              </a:spcBef>
              <a:spcAft>
                <a:spcPts val="0"/>
              </a:spcAft>
              <a:buNone/>
            </a:pPr>
            <a:r>
              <a:rPr lang="en-GB" sz="1200">
                <a:solidFill>
                  <a:srgbClr val="000000"/>
                </a:solidFill>
                <a:latin typeface="Lexend"/>
                <a:ea typeface="Lexend"/>
                <a:cs typeface="Lexend"/>
                <a:sym typeface="Lexend"/>
              </a:rPr>
              <a:t>c) Sofia is correct. Explain how Sofia might have come to this conclusion.</a:t>
            </a:r>
            <a:endParaRPr sz="1200">
              <a:solidFill>
                <a:srgbClr val="000000"/>
              </a:solidFill>
              <a:latin typeface="Lexend"/>
              <a:ea typeface="Lexend"/>
              <a:cs typeface="Lexend"/>
              <a:sym typeface="Lexend"/>
            </a:endParaRPr>
          </a:p>
          <a:p>
            <a:pPr indent="0" lvl="0" marL="0" rtl="0" algn="l">
              <a:spcBef>
                <a:spcPts val="0"/>
              </a:spcBef>
              <a:spcAft>
                <a:spcPts val="0"/>
              </a:spcAft>
              <a:buNone/>
            </a:pPr>
            <a:r>
              <a:t/>
            </a:r>
            <a:endParaRPr sz="1200">
              <a:latin typeface="Lexend"/>
              <a:ea typeface="Lexend"/>
              <a:cs typeface="Lexend"/>
              <a:sym typeface="Lexend"/>
            </a:endParaRPr>
          </a:p>
          <a:p>
            <a:pPr indent="0" lvl="0" marL="0" rtl="0" algn="l">
              <a:spcBef>
                <a:spcPts val="0"/>
              </a:spcBef>
              <a:spcAft>
                <a:spcPts val="0"/>
              </a:spcAft>
              <a:buNone/>
            </a:pPr>
            <a:r>
              <a:t/>
            </a:r>
            <a:endParaRPr sz="1200">
              <a:solidFill>
                <a:srgbClr val="000000"/>
              </a:solidFill>
              <a:latin typeface="Lexend"/>
              <a:ea typeface="Lexend"/>
              <a:cs typeface="Lexend"/>
              <a:sym typeface="Lexend"/>
            </a:endParaRPr>
          </a:p>
          <a:p>
            <a:pPr indent="0" lvl="0" marL="0" rtl="0" algn="l">
              <a:spcBef>
                <a:spcPts val="0"/>
              </a:spcBef>
              <a:spcAft>
                <a:spcPts val="0"/>
              </a:spcAft>
              <a:buNone/>
            </a:pPr>
            <a:r>
              <a:rPr lang="en-GB" sz="1200">
                <a:solidFill>
                  <a:srgbClr val="000000"/>
                </a:solidFill>
                <a:latin typeface="Lexend"/>
                <a:ea typeface="Lexend"/>
                <a:cs typeface="Lexend"/>
                <a:sym typeface="Lexend"/>
              </a:rPr>
              <a:t>d) Write a sentence describing the long-term trend of Southampton’s rainfall.</a:t>
            </a:r>
            <a:endParaRPr sz="1200">
              <a:solidFill>
                <a:srgbClr val="000000"/>
              </a:solidFill>
              <a:latin typeface="Lexend"/>
              <a:ea typeface="Lexend"/>
              <a:cs typeface="Lexend"/>
              <a:sym typeface="Lexend"/>
            </a:endParaRPr>
          </a:p>
        </p:txBody>
      </p:sp>
      <p:sp>
        <p:nvSpPr>
          <p:cNvPr id="127" name="Google Shape;127;p12"/>
          <p:cNvSpPr txBox="1"/>
          <p:nvPr/>
        </p:nvSpPr>
        <p:spPr>
          <a:xfrm>
            <a:off x="476400" y="8671937"/>
            <a:ext cx="6624000" cy="682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200">
                <a:solidFill>
                  <a:srgbClr val="000000"/>
                </a:solidFill>
                <a:latin typeface="Lexend"/>
                <a:ea typeface="Lexend"/>
                <a:cs typeface="Lexend"/>
                <a:sym typeface="Lexend"/>
              </a:rPr>
              <a:t>Izzy says: “Stornoway is in Scotland. That means the amount of rainfall in other parts of Scotland is also increasing over time.”</a:t>
            </a:r>
            <a:endParaRPr sz="1200">
              <a:latin typeface="Lexend"/>
              <a:ea typeface="Lexend"/>
              <a:cs typeface="Lexend"/>
              <a:sym typeface="Lexend"/>
            </a:endParaRPr>
          </a:p>
          <a:p>
            <a:pPr indent="0" lvl="0" marL="0" rtl="0" algn="l">
              <a:spcBef>
                <a:spcPts val="1000"/>
              </a:spcBef>
              <a:spcAft>
                <a:spcPts val="0"/>
              </a:spcAft>
              <a:buNone/>
            </a:pPr>
            <a:r>
              <a:rPr lang="en-GB" sz="1200">
                <a:solidFill>
                  <a:srgbClr val="000000"/>
                </a:solidFill>
                <a:latin typeface="Lexend"/>
                <a:ea typeface="Lexend"/>
                <a:cs typeface="Lexend"/>
                <a:sym typeface="Lexend"/>
              </a:rPr>
              <a:t>e) Explain whether Izzy’s statement is correct or not.</a:t>
            </a:r>
            <a:endParaRPr sz="1200">
              <a:solidFill>
                <a:srgbClr val="000000"/>
              </a:solidFill>
              <a:latin typeface="Lexend"/>
              <a:ea typeface="Lexend"/>
              <a:cs typeface="Lexend"/>
              <a:sym typeface="Lexend"/>
            </a:endParaRPr>
          </a:p>
        </p:txBody>
      </p:sp>
      <p:sp>
        <p:nvSpPr>
          <p:cNvPr id="128" name="Google Shape;128;p12"/>
          <p:cNvSpPr txBox="1"/>
          <p:nvPr/>
        </p:nvSpPr>
        <p:spPr>
          <a:xfrm>
            <a:off x="660122" y="5324100"/>
            <a:ext cx="64719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200">
                <a:solidFill>
                  <a:srgbClr val="000000"/>
                </a:solidFill>
                <a:latin typeface="Kalam"/>
                <a:ea typeface="Kalam"/>
                <a:cs typeface="Kalam"/>
                <a:sym typeface="Kalam"/>
              </a:rPr>
              <a:t>The trendline for Stornoway is above the trendline for Southampton.</a:t>
            </a:r>
            <a:r>
              <a:rPr lang="en-GB" sz="1200">
                <a:latin typeface="Kalam"/>
                <a:ea typeface="Kalam"/>
                <a:cs typeface="Kalam"/>
                <a:sym typeface="Kalam"/>
              </a:rPr>
              <a:t> </a:t>
            </a:r>
            <a:r>
              <a:rPr lang="en-GB" sz="1200">
                <a:latin typeface="Kalam"/>
                <a:ea typeface="Kalam"/>
                <a:cs typeface="Kalam"/>
                <a:sym typeface="Kalam"/>
              </a:rPr>
              <a:t>This means there is a trend of Stornoway having a larger amount of rainfall than Southampton.</a:t>
            </a:r>
            <a:endParaRPr sz="1200">
              <a:latin typeface="Kalam"/>
              <a:ea typeface="Kalam"/>
              <a:cs typeface="Kalam"/>
              <a:sym typeface="Kalam"/>
            </a:endParaRPr>
          </a:p>
        </p:txBody>
      </p:sp>
      <p:sp>
        <p:nvSpPr>
          <p:cNvPr id="129" name="Google Shape;129;p12"/>
          <p:cNvSpPr txBox="1"/>
          <p:nvPr/>
        </p:nvSpPr>
        <p:spPr>
          <a:xfrm>
            <a:off x="639872" y="6234478"/>
            <a:ext cx="64719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200">
                <a:solidFill>
                  <a:srgbClr val="000000"/>
                </a:solidFill>
                <a:latin typeface="Kalam"/>
                <a:ea typeface="Kalam"/>
                <a:cs typeface="Kalam"/>
                <a:sym typeface="Kalam"/>
              </a:rPr>
              <a:t>Andeep is correct. The trend is definitely that Stornoway has more rainfall than Southampton. A few years that do not fit this trend does not mean the trend isn’t true across a longer timeframe.</a:t>
            </a:r>
            <a:endParaRPr sz="1200">
              <a:latin typeface="Kalam"/>
              <a:ea typeface="Kalam"/>
              <a:cs typeface="Kalam"/>
              <a:sym typeface="Kalam"/>
            </a:endParaRPr>
          </a:p>
        </p:txBody>
      </p:sp>
      <p:sp>
        <p:nvSpPr>
          <p:cNvPr id="130" name="Google Shape;130;p12"/>
          <p:cNvSpPr txBox="1"/>
          <p:nvPr/>
        </p:nvSpPr>
        <p:spPr>
          <a:xfrm>
            <a:off x="664278" y="7458167"/>
            <a:ext cx="58572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200">
                <a:solidFill>
                  <a:srgbClr val="000000"/>
                </a:solidFill>
                <a:latin typeface="Kalam"/>
                <a:ea typeface="Kalam"/>
                <a:cs typeface="Kalam"/>
                <a:sym typeface="Kalam"/>
              </a:rPr>
              <a:t>Stornoway’s trendline has a positive gradient (the line is going up from left to right).</a:t>
            </a:r>
            <a:endParaRPr sz="1200">
              <a:latin typeface="Kalam"/>
              <a:ea typeface="Kalam"/>
              <a:cs typeface="Kalam"/>
              <a:sym typeface="Kalam"/>
            </a:endParaRPr>
          </a:p>
        </p:txBody>
      </p:sp>
      <p:sp>
        <p:nvSpPr>
          <p:cNvPr id="131" name="Google Shape;131;p12"/>
          <p:cNvSpPr txBox="1"/>
          <p:nvPr/>
        </p:nvSpPr>
        <p:spPr>
          <a:xfrm>
            <a:off x="688300" y="8047467"/>
            <a:ext cx="62574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200">
                <a:solidFill>
                  <a:srgbClr val="000000"/>
                </a:solidFill>
                <a:latin typeface="Kalam"/>
                <a:ea typeface="Kalam"/>
                <a:cs typeface="Kalam"/>
                <a:sym typeface="Kalam"/>
              </a:rPr>
              <a:t>Over time, the general trend in Southampton is that the average amount of rainfall is very slightly decreasing over time.</a:t>
            </a:r>
            <a:r>
              <a:rPr lang="en-GB" sz="1200">
                <a:latin typeface="Kalam"/>
                <a:ea typeface="Kalam"/>
                <a:cs typeface="Kalam"/>
                <a:sym typeface="Kalam"/>
              </a:rPr>
              <a:t> </a:t>
            </a:r>
            <a:endParaRPr sz="1200">
              <a:latin typeface="Kalam"/>
              <a:ea typeface="Kalam"/>
              <a:cs typeface="Kalam"/>
              <a:sym typeface="Kalam"/>
            </a:endParaRPr>
          </a:p>
          <a:p>
            <a:pPr indent="0" lvl="0" marL="0" rtl="0" algn="l">
              <a:spcBef>
                <a:spcPts val="0"/>
              </a:spcBef>
              <a:spcAft>
                <a:spcPts val="0"/>
              </a:spcAft>
              <a:buNone/>
            </a:pPr>
            <a:r>
              <a:rPr lang="en-GB" sz="1200">
                <a:latin typeface="Kalam"/>
                <a:ea typeface="Kalam"/>
                <a:cs typeface="Kalam"/>
                <a:sym typeface="Kalam"/>
              </a:rPr>
              <a:t>Alternative response: </a:t>
            </a:r>
            <a:r>
              <a:rPr lang="en-GB" sz="1200">
                <a:solidFill>
                  <a:srgbClr val="000000"/>
                </a:solidFill>
                <a:latin typeface="Kalam"/>
                <a:ea typeface="Kalam"/>
                <a:cs typeface="Kalam"/>
                <a:sym typeface="Kalam"/>
              </a:rPr>
              <a:t>The average amount of rainfall is staying fairly constant over time.</a:t>
            </a:r>
            <a:endParaRPr sz="1200">
              <a:solidFill>
                <a:srgbClr val="000000"/>
              </a:solidFill>
              <a:latin typeface="Kalam"/>
              <a:ea typeface="Kalam"/>
              <a:cs typeface="Kalam"/>
              <a:sym typeface="Kalam"/>
            </a:endParaRPr>
          </a:p>
        </p:txBody>
      </p:sp>
      <p:cxnSp>
        <p:nvCxnSpPr>
          <p:cNvPr id="132" name="Google Shape;132;p12"/>
          <p:cNvCxnSpPr/>
          <p:nvPr/>
        </p:nvCxnSpPr>
        <p:spPr>
          <a:xfrm>
            <a:off x="482701" y="9954310"/>
            <a:ext cx="6610500" cy="0"/>
          </a:xfrm>
          <a:prstGeom prst="straightConnector1">
            <a:avLst/>
          </a:prstGeom>
          <a:noFill/>
          <a:ln cap="flat" cmpd="sng" w="38100">
            <a:solidFill>
              <a:srgbClr val="000000"/>
            </a:solidFill>
            <a:prstDash val="solid"/>
            <a:round/>
            <a:headEnd len="med" w="med" type="none"/>
            <a:tailEnd len="med" w="med"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3"/>
          <p:cNvSpPr txBox="1"/>
          <p:nvPr>
            <p:ph idx="1" type="subTitle"/>
          </p:nvPr>
        </p:nvSpPr>
        <p:spPr>
          <a:xfrm>
            <a:off x="1463400" y="360000"/>
            <a:ext cx="478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Studying local climate change</a:t>
            </a:r>
            <a:endParaRPr/>
          </a:p>
        </p:txBody>
      </p:sp>
      <p:sp>
        <p:nvSpPr>
          <p:cNvPr id="138" name="Google Shape;138;p13"/>
          <p:cNvSpPr txBox="1"/>
          <p:nvPr/>
        </p:nvSpPr>
        <p:spPr>
          <a:xfrm>
            <a:off x="491525" y="496850"/>
            <a:ext cx="66006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a:solidFill>
                  <a:srgbClr val="000000"/>
                </a:solidFill>
                <a:latin typeface="Lexend"/>
                <a:ea typeface="Lexend"/>
                <a:cs typeface="Lexend"/>
                <a:sym typeface="Lexend"/>
              </a:rPr>
              <a:t>Task </a:t>
            </a:r>
            <a:r>
              <a:rPr b="1" lang="en-GB">
                <a:latin typeface="Lexend"/>
                <a:ea typeface="Lexend"/>
                <a:cs typeface="Lexend"/>
                <a:sym typeface="Lexend"/>
              </a:rPr>
              <a:t>B</a:t>
            </a:r>
            <a:r>
              <a:rPr b="1" lang="en-GB">
                <a:solidFill>
                  <a:srgbClr val="000000"/>
                </a:solidFill>
                <a:latin typeface="Lexend"/>
                <a:ea typeface="Lexend"/>
                <a:cs typeface="Lexend"/>
                <a:sym typeface="Lexend"/>
              </a:rPr>
              <a:t>: </a:t>
            </a:r>
            <a:r>
              <a:rPr b="1" lang="en-GB">
                <a:latin typeface="Lexend"/>
                <a:ea typeface="Lexend"/>
                <a:cs typeface="Lexend"/>
                <a:sym typeface="Lexend"/>
              </a:rPr>
              <a:t>Forming conclusions about local climate change</a:t>
            </a:r>
            <a:endParaRPr b="1">
              <a:solidFill>
                <a:srgbClr val="000000"/>
              </a:solidFill>
              <a:latin typeface="Lexend"/>
              <a:ea typeface="Lexend"/>
              <a:cs typeface="Lexend"/>
              <a:sym typeface="Lexend"/>
            </a:endParaRPr>
          </a:p>
        </p:txBody>
      </p:sp>
      <p:sp>
        <p:nvSpPr>
          <p:cNvPr id="139" name="Google Shape;139;p13"/>
          <p:cNvSpPr txBox="1"/>
          <p:nvPr/>
        </p:nvSpPr>
        <p:spPr>
          <a:xfrm>
            <a:off x="476450" y="1040050"/>
            <a:ext cx="6600600" cy="46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1000"/>
              </a:spcAft>
              <a:buNone/>
            </a:pPr>
            <a:r>
              <a:rPr lang="en-GB" sz="1200">
                <a:latin typeface="Lexend"/>
                <a:ea typeface="Lexend"/>
                <a:cs typeface="Lexend"/>
                <a:sym typeface="Lexend"/>
              </a:rPr>
              <a:t>1) This table from the ONS shows the distance people in the North-East and South-East </a:t>
            </a:r>
            <a:br>
              <a:rPr lang="en-GB" sz="1200">
                <a:latin typeface="Lexend"/>
                <a:ea typeface="Lexend"/>
                <a:cs typeface="Lexend"/>
                <a:sym typeface="Lexend"/>
              </a:rPr>
            </a:br>
            <a:r>
              <a:rPr lang="en-GB" sz="1200">
                <a:latin typeface="Lexend"/>
                <a:ea typeface="Lexend"/>
                <a:cs typeface="Lexend"/>
                <a:sym typeface="Lexend"/>
              </a:rPr>
              <a:t>    of England travelled to work each day in 2011.</a:t>
            </a:r>
            <a:endParaRPr sz="1200">
              <a:latin typeface="Lexend"/>
              <a:ea typeface="Lexend"/>
              <a:cs typeface="Lexend"/>
              <a:sym typeface="Lexend"/>
            </a:endParaRPr>
          </a:p>
        </p:txBody>
      </p:sp>
      <p:sp>
        <p:nvSpPr>
          <p:cNvPr id="140" name="Google Shape;140;p13"/>
          <p:cNvSpPr txBox="1"/>
          <p:nvPr/>
        </p:nvSpPr>
        <p:spPr>
          <a:xfrm>
            <a:off x="476450" y="2792650"/>
            <a:ext cx="6600600" cy="1881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latin typeface="Lexend"/>
                <a:ea typeface="Lexend"/>
                <a:cs typeface="Lexend"/>
                <a:sym typeface="Lexend"/>
              </a:rPr>
              <a:t>a) How many people’s information from the North-East were collected for this survey?</a:t>
            </a:r>
            <a:endParaRPr sz="1200">
              <a:latin typeface="Lexend"/>
              <a:ea typeface="Lexend"/>
              <a:cs typeface="Lexend"/>
              <a:sym typeface="Lexend"/>
            </a:endParaRPr>
          </a:p>
          <a:p>
            <a:pPr indent="0" lvl="0" marL="0" rtl="0" algn="l">
              <a:spcBef>
                <a:spcPts val="1000"/>
              </a:spcBef>
              <a:spcAft>
                <a:spcPts val="0"/>
              </a:spcAft>
              <a:buNone/>
            </a:pPr>
            <a:r>
              <a:t/>
            </a:r>
            <a:endParaRPr sz="1200">
              <a:latin typeface="Lexend"/>
              <a:ea typeface="Lexend"/>
              <a:cs typeface="Lexend"/>
              <a:sym typeface="Lexend"/>
            </a:endParaRPr>
          </a:p>
          <a:p>
            <a:pPr indent="0" lvl="0" marL="0" rtl="0" algn="l">
              <a:spcBef>
                <a:spcPts val="1000"/>
              </a:spcBef>
              <a:spcAft>
                <a:spcPts val="0"/>
              </a:spcAft>
              <a:buNone/>
            </a:pPr>
            <a:r>
              <a:rPr lang="en-GB" sz="1200">
                <a:latin typeface="Lexend"/>
                <a:ea typeface="Lexend"/>
                <a:cs typeface="Lexend"/>
                <a:sym typeface="Lexend"/>
              </a:rPr>
              <a:t>b) What fraction of people in the South-East travel under 10 km each day to work?</a:t>
            </a:r>
            <a:br>
              <a:rPr lang="en-GB" sz="1200">
                <a:latin typeface="Lexend"/>
                <a:ea typeface="Lexend"/>
                <a:cs typeface="Lexend"/>
                <a:sym typeface="Lexend"/>
              </a:rPr>
            </a:br>
            <a:br>
              <a:rPr lang="en-GB" sz="1200">
                <a:latin typeface="Lexend"/>
                <a:ea typeface="Lexend"/>
                <a:cs typeface="Lexend"/>
                <a:sym typeface="Lexend"/>
              </a:rPr>
            </a:br>
            <a:endParaRPr sz="1200">
              <a:latin typeface="Lexend"/>
              <a:ea typeface="Lexend"/>
              <a:cs typeface="Lexend"/>
              <a:sym typeface="Lexend"/>
            </a:endParaRPr>
          </a:p>
          <a:p>
            <a:pPr indent="0" lvl="0" marL="0" rtl="0" algn="l">
              <a:spcBef>
                <a:spcPts val="1000"/>
              </a:spcBef>
              <a:spcAft>
                <a:spcPts val="0"/>
              </a:spcAft>
              <a:buNone/>
            </a:pPr>
            <a:r>
              <a:rPr lang="en-GB" sz="1200">
                <a:latin typeface="Lexend"/>
                <a:ea typeface="Lexend"/>
                <a:cs typeface="Lexend"/>
                <a:sym typeface="Lexend"/>
              </a:rPr>
              <a:t>c) One possible influence on the climate of an area is the amount of carbon emissions  </a:t>
            </a:r>
            <a:br>
              <a:rPr lang="en-GB" sz="1200">
                <a:latin typeface="Lexend"/>
                <a:ea typeface="Lexend"/>
                <a:cs typeface="Lexend"/>
                <a:sym typeface="Lexend"/>
              </a:rPr>
            </a:br>
            <a:r>
              <a:rPr lang="en-GB" sz="1200">
                <a:latin typeface="Lexend"/>
                <a:ea typeface="Lexend"/>
                <a:cs typeface="Lexend"/>
                <a:sym typeface="Lexend"/>
              </a:rPr>
              <a:t>    (linked with travelling longer distances).</a:t>
            </a:r>
            <a:endParaRPr sz="1200">
              <a:latin typeface="Lexend"/>
              <a:ea typeface="Lexend"/>
              <a:cs typeface="Lexend"/>
              <a:sym typeface="Lexend"/>
            </a:endParaRPr>
          </a:p>
          <a:p>
            <a:pPr indent="0" lvl="0" marL="0" rtl="0" algn="l">
              <a:spcBef>
                <a:spcPts val="1000"/>
              </a:spcBef>
              <a:spcAft>
                <a:spcPts val="1000"/>
              </a:spcAft>
              <a:buNone/>
            </a:pPr>
            <a:r>
              <a:rPr lang="en-GB" sz="1200">
                <a:latin typeface="Lexend"/>
                <a:ea typeface="Lexend"/>
                <a:cs typeface="Lexend"/>
                <a:sym typeface="Lexend"/>
              </a:rPr>
              <a:t>    In which location (North-East or South-East) does a higher percentage of people </a:t>
            </a:r>
            <a:br>
              <a:rPr lang="en-GB" sz="1200">
                <a:latin typeface="Lexend"/>
                <a:ea typeface="Lexend"/>
                <a:cs typeface="Lexend"/>
                <a:sym typeface="Lexend"/>
              </a:rPr>
            </a:br>
            <a:r>
              <a:rPr lang="en-GB" sz="1200">
                <a:latin typeface="Lexend"/>
                <a:ea typeface="Lexend"/>
                <a:cs typeface="Lexend"/>
                <a:sym typeface="Lexend"/>
              </a:rPr>
              <a:t>    travel 20 km or further each day to work?</a:t>
            </a:r>
            <a:endParaRPr sz="1200">
              <a:latin typeface="Lexend"/>
              <a:ea typeface="Lexend"/>
              <a:cs typeface="Lexend"/>
              <a:sym typeface="Lexend"/>
            </a:endParaRPr>
          </a:p>
        </p:txBody>
      </p:sp>
      <p:graphicFrame>
        <p:nvGraphicFramePr>
          <p:cNvPr id="141" name="Google Shape;141;p13"/>
          <p:cNvGraphicFramePr/>
          <p:nvPr/>
        </p:nvGraphicFramePr>
        <p:xfrm>
          <a:off x="693711" y="1588500"/>
          <a:ext cx="3000000" cy="3000000"/>
        </p:xfrm>
        <a:graphic>
          <a:graphicData uri="http://schemas.openxmlformats.org/drawingml/2006/table">
            <a:tbl>
              <a:tblPr>
                <a:noFill/>
                <a:tableStyleId>{1E4D92CE-E0C0-468E-AA07-0A278381EF15}</a:tableStyleId>
              </a:tblPr>
              <a:tblGrid>
                <a:gridCol w="470900"/>
                <a:gridCol w="624850"/>
                <a:gridCol w="790400"/>
                <a:gridCol w="790400"/>
                <a:gridCol w="790400"/>
                <a:gridCol w="790400"/>
                <a:gridCol w="790400"/>
                <a:gridCol w="790400"/>
                <a:gridCol w="560275"/>
              </a:tblGrid>
              <a:tr h="100000">
                <a:tc>
                  <a:txBody>
                    <a:bodyPr/>
                    <a:lstStyle/>
                    <a:p>
                      <a:pPr indent="0" lvl="0" marL="0" rtl="0" algn="l">
                        <a:spcBef>
                          <a:spcPts val="0"/>
                        </a:spcBef>
                        <a:spcAft>
                          <a:spcPts val="0"/>
                        </a:spcAft>
                        <a:buNone/>
                      </a:pPr>
                      <a:r>
                        <a:t/>
                      </a:r>
                      <a:endParaRPr sz="1100">
                        <a:latin typeface="Times New Roman"/>
                        <a:ea typeface="Times New Roman"/>
                        <a:cs typeface="Times New Roman"/>
                        <a:sym typeface="Times New Roman"/>
                      </a:endParaRPr>
                    </a:p>
                  </a:txBody>
                  <a:tcPr marT="0" marB="0" marR="0" marL="0">
                    <a:lnL cap="flat" cmpd="sng" w="9525">
                      <a:solidFill>
                        <a:srgbClr val="999999">
                          <a:alpha val="0"/>
                        </a:srgbClr>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alpha val="0"/>
                        </a:srgbClr>
                      </a:solidFill>
                      <a:prstDash val="solid"/>
                      <a:round/>
                      <a:headEnd len="sm" w="sm" type="none"/>
                      <a:tailEnd len="sm" w="sm" type="none"/>
                    </a:lnT>
                    <a:lnB cap="flat" cmpd="sng" w="9525">
                      <a:solidFill>
                        <a:srgbClr val="999999">
                          <a:alpha val="0"/>
                        </a:srgbClr>
                      </a:solidFill>
                      <a:prstDash val="solid"/>
                      <a:round/>
                      <a:headEnd len="sm" w="sm" type="none"/>
                      <a:tailEnd len="sm" w="sm" type="none"/>
                    </a:lnB>
                  </a:tcPr>
                </a:tc>
                <a:tc gridSpan="8">
                  <a:txBody>
                    <a:bodyPr/>
                    <a:lstStyle/>
                    <a:p>
                      <a:pPr indent="0" lvl="0" marL="0" rtl="0" algn="ctr">
                        <a:spcBef>
                          <a:spcPts val="0"/>
                        </a:spcBef>
                        <a:spcAft>
                          <a:spcPts val="0"/>
                        </a:spcAft>
                        <a:buNone/>
                      </a:pPr>
                      <a:r>
                        <a:rPr lang="en-GB" sz="1100">
                          <a:solidFill>
                            <a:srgbClr val="FFFFFF"/>
                          </a:solidFill>
                          <a:latin typeface="Lexend"/>
                          <a:ea typeface="Lexend"/>
                          <a:cs typeface="Lexend"/>
                          <a:sym typeface="Lexend"/>
                        </a:rPr>
                        <a:t>distance (</a:t>
                      </a:r>
                      <a:r>
                        <a:rPr i="1" lang="en-GB" sz="1100">
                          <a:solidFill>
                            <a:srgbClr val="FFFFFF"/>
                          </a:solidFill>
                          <a:latin typeface="Times New Roman"/>
                          <a:ea typeface="Times New Roman"/>
                          <a:cs typeface="Times New Roman"/>
                          <a:sym typeface="Times New Roman"/>
                        </a:rPr>
                        <a:t>d</a:t>
                      </a:r>
                      <a:r>
                        <a:rPr lang="en-GB" sz="1100">
                          <a:solidFill>
                            <a:srgbClr val="FFFFFF"/>
                          </a:solidFill>
                          <a:latin typeface="Lexend"/>
                          <a:ea typeface="Lexend"/>
                          <a:cs typeface="Lexend"/>
                          <a:sym typeface="Lexend"/>
                        </a:rPr>
                        <a:t>), in km</a:t>
                      </a:r>
                      <a:endParaRPr sz="1100">
                        <a:solidFill>
                          <a:srgbClr val="FFFFFF"/>
                        </a:solidFill>
                        <a:latin typeface="Lexend"/>
                        <a:ea typeface="Lexend"/>
                        <a:cs typeface="Lexend"/>
                        <a:sym typeface="Lexend"/>
                      </a:endParaRPr>
                    </a:p>
                  </a:txBody>
                  <a:tcPr marT="0" marB="0" marR="0" marL="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666666"/>
                    </a:solidFill>
                  </a:tcPr>
                </a:tc>
                <a:tc hMerge="1"/>
                <a:tc hMerge="1"/>
                <a:tc hMerge="1"/>
                <a:tc hMerge="1"/>
                <a:tc hMerge="1"/>
                <a:tc hMerge="1"/>
                <a:tc hMerge="1"/>
              </a:tr>
              <a:tr h="100000">
                <a:tc>
                  <a:txBody>
                    <a:bodyPr/>
                    <a:lstStyle/>
                    <a:p>
                      <a:pPr indent="0" lvl="0" marL="0" rtl="0" algn="l">
                        <a:spcBef>
                          <a:spcPts val="0"/>
                        </a:spcBef>
                        <a:spcAft>
                          <a:spcPts val="0"/>
                        </a:spcAft>
                        <a:buNone/>
                      </a:pPr>
                      <a:r>
                        <a:t/>
                      </a:r>
                      <a:endParaRPr sz="1100">
                        <a:latin typeface="Times New Roman"/>
                        <a:ea typeface="Times New Roman"/>
                        <a:cs typeface="Times New Roman"/>
                        <a:sym typeface="Times New Roman"/>
                      </a:endParaRPr>
                    </a:p>
                  </a:txBody>
                  <a:tcPr marT="0" marB="0" marR="0" marL="0">
                    <a:lnL cap="flat" cmpd="sng" w="9525">
                      <a:solidFill>
                        <a:srgbClr val="999999">
                          <a:alpha val="0"/>
                        </a:srgbClr>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alpha val="0"/>
                        </a:srgbClr>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100"/>
                        <a:buFont typeface="Arial"/>
                        <a:buNone/>
                      </a:pPr>
                      <a:r>
                        <a:rPr i="1" lang="en-GB" sz="1100">
                          <a:solidFill>
                            <a:schemeClr val="lt1"/>
                          </a:solidFill>
                          <a:latin typeface="Times New Roman"/>
                          <a:ea typeface="Times New Roman"/>
                          <a:cs typeface="Times New Roman"/>
                          <a:sym typeface="Times New Roman"/>
                        </a:rPr>
                        <a:t>d</a:t>
                      </a:r>
                      <a:r>
                        <a:rPr lang="en-GB" sz="1100">
                          <a:solidFill>
                            <a:srgbClr val="FFFFFF"/>
                          </a:solidFill>
                          <a:latin typeface="Lexend"/>
                          <a:ea typeface="Lexend"/>
                          <a:cs typeface="Lexend"/>
                          <a:sym typeface="Lexend"/>
                        </a:rPr>
                        <a:t> &lt; 2</a:t>
                      </a:r>
                      <a:endParaRPr sz="1100">
                        <a:solidFill>
                          <a:srgbClr val="FFFFFF"/>
                        </a:solidFill>
                        <a:latin typeface="Lexend"/>
                        <a:ea typeface="Lexend"/>
                        <a:cs typeface="Lexend"/>
                        <a:sym typeface="Lexend"/>
                      </a:endParaRPr>
                    </a:p>
                  </a:txBody>
                  <a:tcPr marT="0" marB="0" marR="0" marL="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666666"/>
                    </a:solidFill>
                  </a:tcPr>
                </a:tc>
                <a:tc>
                  <a:txBody>
                    <a:bodyPr/>
                    <a:lstStyle/>
                    <a:p>
                      <a:pPr indent="0" lvl="0" marL="0" rtl="0" algn="ctr">
                        <a:spcBef>
                          <a:spcPts val="0"/>
                        </a:spcBef>
                        <a:spcAft>
                          <a:spcPts val="0"/>
                        </a:spcAft>
                        <a:buClr>
                          <a:srgbClr val="000000"/>
                        </a:buClr>
                        <a:buSzPts val="1100"/>
                        <a:buFont typeface="Arial"/>
                        <a:buNone/>
                      </a:pPr>
                      <a:r>
                        <a:rPr lang="en-GB" sz="1100">
                          <a:solidFill>
                            <a:srgbClr val="FFFFFF"/>
                          </a:solidFill>
                          <a:latin typeface="Lexend"/>
                          <a:ea typeface="Lexend"/>
                          <a:cs typeface="Lexend"/>
                          <a:sym typeface="Lexend"/>
                        </a:rPr>
                        <a:t>2 ≤ </a:t>
                      </a:r>
                      <a:r>
                        <a:rPr i="1" lang="en-GB" sz="1100">
                          <a:solidFill>
                            <a:schemeClr val="lt1"/>
                          </a:solidFill>
                          <a:latin typeface="Times New Roman"/>
                          <a:ea typeface="Times New Roman"/>
                          <a:cs typeface="Times New Roman"/>
                          <a:sym typeface="Times New Roman"/>
                        </a:rPr>
                        <a:t>d</a:t>
                      </a:r>
                      <a:r>
                        <a:rPr lang="en-GB" sz="1100">
                          <a:solidFill>
                            <a:srgbClr val="FFFFFF"/>
                          </a:solidFill>
                          <a:latin typeface="Lexend"/>
                          <a:ea typeface="Lexend"/>
                          <a:cs typeface="Lexend"/>
                          <a:sym typeface="Lexend"/>
                        </a:rPr>
                        <a:t> &lt; 5</a:t>
                      </a:r>
                      <a:endParaRPr sz="1100">
                        <a:solidFill>
                          <a:srgbClr val="FFFFFF"/>
                        </a:solidFill>
                        <a:latin typeface="Lexend"/>
                        <a:ea typeface="Lexend"/>
                        <a:cs typeface="Lexend"/>
                        <a:sym typeface="Lexend"/>
                      </a:endParaRPr>
                    </a:p>
                  </a:txBody>
                  <a:tcPr marT="0" marB="0" marR="0" marL="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666666"/>
                    </a:solidFill>
                  </a:tcPr>
                </a:tc>
                <a:tc>
                  <a:txBody>
                    <a:bodyPr/>
                    <a:lstStyle/>
                    <a:p>
                      <a:pPr indent="0" lvl="0" marL="0" rtl="0" algn="ctr">
                        <a:spcBef>
                          <a:spcPts val="0"/>
                        </a:spcBef>
                        <a:spcAft>
                          <a:spcPts val="0"/>
                        </a:spcAft>
                        <a:buNone/>
                      </a:pPr>
                      <a:r>
                        <a:rPr lang="en-GB" sz="1100">
                          <a:solidFill>
                            <a:srgbClr val="FFFFFF"/>
                          </a:solidFill>
                          <a:latin typeface="Lexend"/>
                          <a:ea typeface="Lexend"/>
                          <a:cs typeface="Lexend"/>
                          <a:sym typeface="Lexend"/>
                        </a:rPr>
                        <a:t>5 ≤ </a:t>
                      </a:r>
                      <a:r>
                        <a:rPr i="1" lang="en-GB" sz="1100">
                          <a:solidFill>
                            <a:schemeClr val="lt1"/>
                          </a:solidFill>
                          <a:latin typeface="Times New Roman"/>
                          <a:ea typeface="Times New Roman"/>
                          <a:cs typeface="Times New Roman"/>
                          <a:sym typeface="Times New Roman"/>
                        </a:rPr>
                        <a:t>d</a:t>
                      </a:r>
                      <a:r>
                        <a:rPr lang="en-GB" sz="1100">
                          <a:solidFill>
                            <a:srgbClr val="FFFFFF"/>
                          </a:solidFill>
                          <a:latin typeface="Lexend"/>
                          <a:ea typeface="Lexend"/>
                          <a:cs typeface="Lexend"/>
                          <a:sym typeface="Lexend"/>
                        </a:rPr>
                        <a:t> &lt; 10</a:t>
                      </a:r>
                      <a:endParaRPr sz="1100">
                        <a:solidFill>
                          <a:srgbClr val="FFFFFF"/>
                        </a:solidFill>
                        <a:latin typeface="Lexend"/>
                        <a:ea typeface="Lexend"/>
                        <a:cs typeface="Lexend"/>
                        <a:sym typeface="Lexend"/>
                      </a:endParaRPr>
                    </a:p>
                  </a:txBody>
                  <a:tcPr marT="0" marB="0" marR="0" marL="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666666"/>
                    </a:solidFill>
                  </a:tcPr>
                </a:tc>
                <a:tc>
                  <a:txBody>
                    <a:bodyPr/>
                    <a:lstStyle/>
                    <a:p>
                      <a:pPr indent="0" lvl="0" marL="0" rtl="0" algn="ctr">
                        <a:spcBef>
                          <a:spcPts val="0"/>
                        </a:spcBef>
                        <a:spcAft>
                          <a:spcPts val="0"/>
                        </a:spcAft>
                        <a:buClr>
                          <a:srgbClr val="000000"/>
                        </a:buClr>
                        <a:buSzPts val="1100"/>
                        <a:buFont typeface="Arial"/>
                        <a:buNone/>
                      </a:pPr>
                      <a:r>
                        <a:rPr lang="en-GB" sz="1100">
                          <a:solidFill>
                            <a:srgbClr val="FFFFFF"/>
                          </a:solidFill>
                          <a:latin typeface="Lexend"/>
                          <a:ea typeface="Lexend"/>
                          <a:cs typeface="Lexend"/>
                          <a:sym typeface="Lexend"/>
                        </a:rPr>
                        <a:t>10 ≤ </a:t>
                      </a:r>
                      <a:r>
                        <a:rPr i="1" lang="en-GB" sz="1100">
                          <a:solidFill>
                            <a:schemeClr val="lt1"/>
                          </a:solidFill>
                          <a:latin typeface="Times New Roman"/>
                          <a:ea typeface="Times New Roman"/>
                          <a:cs typeface="Times New Roman"/>
                          <a:sym typeface="Times New Roman"/>
                        </a:rPr>
                        <a:t>d</a:t>
                      </a:r>
                      <a:r>
                        <a:rPr lang="en-GB" sz="1100">
                          <a:solidFill>
                            <a:srgbClr val="FFFFFF"/>
                          </a:solidFill>
                          <a:latin typeface="Lexend"/>
                          <a:ea typeface="Lexend"/>
                          <a:cs typeface="Lexend"/>
                          <a:sym typeface="Lexend"/>
                        </a:rPr>
                        <a:t> &lt; 20</a:t>
                      </a:r>
                      <a:endParaRPr sz="1100">
                        <a:solidFill>
                          <a:srgbClr val="FFFFFF"/>
                        </a:solidFill>
                        <a:latin typeface="Lexend"/>
                        <a:ea typeface="Lexend"/>
                        <a:cs typeface="Lexend"/>
                        <a:sym typeface="Lexend"/>
                      </a:endParaRPr>
                    </a:p>
                  </a:txBody>
                  <a:tcPr marT="0" marB="0" marR="0" marL="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666666"/>
                    </a:solidFill>
                  </a:tcPr>
                </a:tc>
                <a:tc>
                  <a:txBody>
                    <a:bodyPr/>
                    <a:lstStyle/>
                    <a:p>
                      <a:pPr indent="0" lvl="0" marL="0" rtl="0" algn="ctr">
                        <a:spcBef>
                          <a:spcPts val="0"/>
                        </a:spcBef>
                        <a:spcAft>
                          <a:spcPts val="0"/>
                        </a:spcAft>
                        <a:buClr>
                          <a:srgbClr val="000000"/>
                        </a:buClr>
                        <a:buSzPts val="1100"/>
                        <a:buFont typeface="Arial"/>
                        <a:buNone/>
                      </a:pPr>
                      <a:r>
                        <a:rPr lang="en-GB" sz="1100">
                          <a:solidFill>
                            <a:srgbClr val="FFFFFF"/>
                          </a:solidFill>
                          <a:latin typeface="Lexend"/>
                          <a:ea typeface="Lexend"/>
                          <a:cs typeface="Lexend"/>
                          <a:sym typeface="Lexend"/>
                        </a:rPr>
                        <a:t>20 ≤ </a:t>
                      </a:r>
                      <a:r>
                        <a:rPr i="1" lang="en-GB" sz="1100">
                          <a:solidFill>
                            <a:schemeClr val="lt1"/>
                          </a:solidFill>
                          <a:latin typeface="Times New Roman"/>
                          <a:ea typeface="Times New Roman"/>
                          <a:cs typeface="Times New Roman"/>
                          <a:sym typeface="Times New Roman"/>
                        </a:rPr>
                        <a:t>d</a:t>
                      </a:r>
                      <a:r>
                        <a:rPr lang="en-GB" sz="1100">
                          <a:solidFill>
                            <a:srgbClr val="FFFFFF"/>
                          </a:solidFill>
                          <a:latin typeface="Lexend"/>
                          <a:ea typeface="Lexend"/>
                          <a:cs typeface="Lexend"/>
                          <a:sym typeface="Lexend"/>
                        </a:rPr>
                        <a:t> &lt; 30</a:t>
                      </a:r>
                      <a:endParaRPr sz="1100">
                        <a:solidFill>
                          <a:srgbClr val="FFFFFF"/>
                        </a:solidFill>
                        <a:latin typeface="Lexend"/>
                        <a:ea typeface="Lexend"/>
                        <a:cs typeface="Lexend"/>
                        <a:sym typeface="Lexend"/>
                      </a:endParaRPr>
                    </a:p>
                  </a:txBody>
                  <a:tcPr marT="0" marB="0" marR="0" marL="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666666"/>
                    </a:solidFill>
                  </a:tcPr>
                </a:tc>
                <a:tc>
                  <a:txBody>
                    <a:bodyPr/>
                    <a:lstStyle/>
                    <a:p>
                      <a:pPr indent="0" lvl="0" marL="0" rtl="0" algn="ctr">
                        <a:spcBef>
                          <a:spcPts val="0"/>
                        </a:spcBef>
                        <a:spcAft>
                          <a:spcPts val="0"/>
                        </a:spcAft>
                        <a:buClr>
                          <a:srgbClr val="000000"/>
                        </a:buClr>
                        <a:buSzPts val="1100"/>
                        <a:buFont typeface="Arial"/>
                        <a:buNone/>
                      </a:pPr>
                      <a:r>
                        <a:rPr lang="en-GB" sz="1100">
                          <a:solidFill>
                            <a:srgbClr val="FFFFFF"/>
                          </a:solidFill>
                          <a:latin typeface="Lexend"/>
                          <a:ea typeface="Lexend"/>
                          <a:cs typeface="Lexend"/>
                          <a:sym typeface="Lexend"/>
                        </a:rPr>
                        <a:t>30 ≤ </a:t>
                      </a:r>
                      <a:r>
                        <a:rPr i="1" lang="en-GB" sz="1100">
                          <a:solidFill>
                            <a:schemeClr val="lt1"/>
                          </a:solidFill>
                          <a:latin typeface="Times New Roman"/>
                          <a:ea typeface="Times New Roman"/>
                          <a:cs typeface="Times New Roman"/>
                          <a:sym typeface="Times New Roman"/>
                        </a:rPr>
                        <a:t>d</a:t>
                      </a:r>
                      <a:r>
                        <a:rPr lang="en-GB" sz="1100">
                          <a:solidFill>
                            <a:srgbClr val="FFFFFF"/>
                          </a:solidFill>
                          <a:latin typeface="Lexend"/>
                          <a:ea typeface="Lexend"/>
                          <a:cs typeface="Lexend"/>
                          <a:sym typeface="Lexend"/>
                        </a:rPr>
                        <a:t> &lt; 40</a:t>
                      </a:r>
                      <a:endParaRPr sz="1100">
                        <a:solidFill>
                          <a:srgbClr val="FFFFFF"/>
                        </a:solidFill>
                        <a:latin typeface="Lexend"/>
                        <a:ea typeface="Lexend"/>
                        <a:cs typeface="Lexend"/>
                        <a:sym typeface="Lexend"/>
                      </a:endParaRPr>
                    </a:p>
                  </a:txBody>
                  <a:tcPr marT="0" marB="0" marR="0" marL="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666666"/>
                    </a:solidFill>
                  </a:tcPr>
                </a:tc>
                <a:tc>
                  <a:txBody>
                    <a:bodyPr/>
                    <a:lstStyle/>
                    <a:p>
                      <a:pPr indent="0" lvl="0" marL="0" rtl="0" algn="ctr">
                        <a:spcBef>
                          <a:spcPts val="0"/>
                        </a:spcBef>
                        <a:spcAft>
                          <a:spcPts val="0"/>
                        </a:spcAft>
                        <a:buClr>
                          <a:srgbClr val="000000"/>
                        </a:buClr>
                        <a:buSzPts val="1100"/>
                        <a:buFont typeface="Arial"/>
                        <a:buNone/>
                      </a:pPr>
                      <a:r>
                        <a:rPr lang="en-GB" sz="1100">
                          <a:solidFill>
                            <a:srgbClr val="FFFFFF"/>
                          </a:solidFill>
                          <a:latin typeface="Lexend"/>
                          <a:ea typeface="Lexend"/>
                          <a:cs typeface="Lexend"/>
                          <a:sym typeface="Lexend"/>
                        </a:rPr>
                        <a:t>40 ≤ </a:t>
                      </a:r>
                      <a:r>
                        <a:rPr i="1" lang="en-GB" sz="1100">
                          <a:solidFill>
                            <a:schemeClr val="lt1"/>
                          </a:solidFill>
                          <a:latin typeface="Times New Roman"/>
                          <a:ea typeface="Times New Roman"/>
                          <a:cs typeface="Times New Roman"/>
                          <a:sym typeface="Times New Roman"/>
                        </a:rPr>
                        <a:t>d</a:t>
                      </a:r>
                      <a:r>
                        <a:rPr lang="en-GB" sz="1100">
                          <a:solidFill>
                            <a:srgbClr val="FFFFFF"/>
                          </a:solidFill>
                          <a:latin typeface="Lexend"/>
                          <a:ea typeface="Lexend"/>
                          <a:cs typeface="Lexend"/>
                          <a:sym typeface="Lexend"/>
                        </a:rPr>
                        <a:t> &lt; 60</a:t>
                      </a:r>
                      <a:endParaRPr sz="1100">
                        <a:solidFill>
                          <a:srgbClr val="FFFFFF"/>
                        </a:solidFill>
                        <a:latin typeface="Lexend"/>
                        <a:ea typeface="Lexend"/>
                        <a:cs typeface="Lexend"/>
                        <a:sym typeface="Lexend"/>
                      </a:endParaRPr>
                    </a:p>
                  </a:txBody>
                  <a:tcPr marT="0" marB="0" marR="0" marL="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666666"/>
                    </a:solidFill>
                  </a:tcPr>
                </a:tc>
                <a:tc>
                  <a:txBody>
                    <a:bodyPr/>
                    <a:lstStyle/>
                    <a:p>
                      <a:pPr indent="0" lvl="0" marL="0" rtl="0" algn="ctr">
                        <a:spcBef>
                          <a:spcPts val="0"/>
                        </a:spcBef>
                        <a:spcAft>
                          <a:spcPts val="0"/>
                        </a:spcAft>
                        <a:buClr>
                          <a:srgbClr val="000000"/>
                        </a:buClr>
                        <a:buSzPts val="1100"/>
                        <a:buFont typeface="Arial"/>
                        <a:buNone/>
                      </a:pPr>
                      <a:r>
                        <a:rPr i="1" lang="en-GB" sz="1100">
                          <a:solidFill>
                            <a:schemeClr val="lt1"/>
                          </a:solidFill>
                          <a:latin typeface="Times New Roman"/>
                          <a:ea typeface="Times New Roman"/>
                          <a:cs typeface="Times New Roman"/>
                          <a:sym typeface="Times New Roman"/>
                        </a:rPr>
                        <a:t>d</a:t>
                      </a:r>
                      <a:r>
                        <a:rPr lang="en-GB" sz="1100">
                          <a:solidFill>
                            <a:srgbClr val="FFFFFF"/>
                          </a:solidFill>
                          <a:latin typeface="Lexend"/>
                          <a:ea typeface="Lexend"/>
                          <a:cs typeface="Lexend"/>
                          <a:sym typeface="Lexend"/>
                        </a:rPr>
                        <a:t> ≥ 60</a:t>
                      </a:r>
                      <a:endParaRPr sz="1100">
                        <a:solidFill>
                          <a:srgbClr val="FFFFFF"/>
                        </a:solidFill>
                        <a:latin typeface="Lexend"/>
                        <a:ea typeface="Lexend"/>
                        <a:cs typeface="Lexend"/>
                        <a:sym typeface="Lexend"/>
                      </a:endParaRPr>
                    </a:p>
                  </a:txBody>
                  <a:tcPr marT="0" marB="0" marR="0" marL="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666666"/>
                    </a:solidFill>
                  </a:tcPr>
                </a:tc>
              </a:tr>
              <a:tr h="190500">
                <a:tc>
                  <a:txBody>
                    <a:bodyPr/>
                    <a:lstStyle/>
                    <a:p>
                      <a:pPr indent="0" lvl="0" marL="0" rtl="0" algn="l">
                        <a:spcBef>
                          <a:spcPts val="0"/>
                        </a:spcBef>
                        <a:spcAft>
                          <a:spcPts val="0"/>
                        </a:spcAft>
                        <a:buNone/>
                      </a:pPr>
                      <a:r>
                        <a:rPr lang="en-GB" sz="1100">
                          <a:latin typeface="Lexend"/>
                          <a:ea typeface="Lexend"/>
                          <a:cs typeface="Lexend"/>
                          <a:sym typeface="Lexend"/>
                        </a:rPr>
                        <a:t>North</a:t>
                      </a:r>
                      <a:endParaRPr sz="1100">
                        <a:latin typeface="Lexend"/>
                        <a:ea typeface="Lexend"/>
                        <a:cs typeface="Lexend"/>
                        <a:sym typeface="Lexend"/>
                      </a:endParaRPr>
                    </a:p>
                    <a:p>
                      <a:pPr indent="0" lvl="0" marL="0" rtl="0" algn="l">
                        <a:spcBef>
                          <a:spcPts val="0"/>
                        </a:spcBef>
                        <a:spcAft>
                          <a:spcPts val="0"/>
                        </a:spcAft>
                        <a:buNone/>
                      </a:pPr>
                      <a:r>
                        <a:rPr lang="en-GB" sz="1100">
                          <a:latin typeface="Lexend"/>
                          <a:ea typeface="Lexend"/>
                          <a:cs typeface="Lexend"/>
                          <a:sym typeface="Lexend"/>
                        </a:rPr>
                        <a:t>East</a:t>
                      </a:r>
                      <a:endParaRPr sz="11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100">
                          <a:latin typeface="Lexend"/>
                          <a:ea typeface="Lexend"/>
                          <a:cs typeface="Lexend"/>
                          <a:sym typeface="Lexend"/>
                        </a:rPr>
                        <a:t>202 172</a:t>
                      </a:r>
                      <a:endParaRPr sz="11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100">
                          <a:latin typeface="Lexend"/>
                          <a:ea typeface="Lexend"/>
                          <a:cs typeface="Lexend"/>
                          <a:sym typeface="Lexend"/>
                        </a:rPr>
                        <a:t>235 849</a:t>
                      </a:r>
                      <a:endParaRPr sz="11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100">
                          <a:latin typeface="Lexend"/>
                          <a:ea typeface="Lexend"/>
                          <a:cs typeface="Lexend"/>
                          <a:sym typeface="Lexend"/>
                        </a:rPr>
                        <a:t>220 617</a:t>
                      </a:r>
                      <a:endParaRPr sz="11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100">
                          <a:latin typeface="Lexend"/>
                          <a:ea typeface="Lexend"/>
                          <a:cs typeface="Lexend"/>
                          <a:sym typeface="Lexend"/>
                        </a:rPr>
                        <a:t>192 451</a:t>
                      </a:r>
                      <a:endParaRPr sz="11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100">
                          <a:latin typeface="Lexend"/>
                          <a:ea typeface="Lexend"/>
                          <a:cs typeface="Lexend"/>
                          <a:sym typeface="Lexend"/>
                        </a:rPr>
                        <a:t>55 976</a:t>
                      </a:r>
                      <a:endParaRPr sz="11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100">
                          <a:latin typeface="Lexend"/>
                          <a:ea typeface="Lexend"/>
                          <a:cs typeface="Lexend"/>
                          <a:sym typeface="Lexend"/>
                        </a:rPr>
                        <a:t>20 205</a:t>
                      </a:r>
                      <a:endParaRPr sz="11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100">
                          <a:latin typeface="Lexend"/>
                          <a:ea typeface="Lexend"/>
                          <a:cs typeface="Lexend"/>
                          <a:sym typeface="Lexend"/>
                        </a:rPr>
                        <a:t>15 795</a:t>
                      </a:r>
                      <a:endParaRPr sz="11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100">
                          <a:latin typeface="Lexend"/>
                          <a:ea typeface="Lexend"/>
                          <a:cs typeface="Lexend"/>
                          <a:sym typeface="Lexend"/>
                        </a:rPr>
                        <a:t>33 880</a:t>
                      </a:r>
                      <a:endParaRPr sz="11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r>
              <a:tr h="190500">
                <a:tc>
                  <a:txBody>
                    <a:bodyPr/>
                    <a:lstStyle/>
                    <a:p>
                      <a:pPr indent="0" lvl="0" marL="0" rtl="0" algn="l">
                        <a:spcBef>
                          <a:spcPts val="0"/>
                        </a:spcBef>
                        <a:spcAft>
                          <a:spcPts val="0"/>
                        </a:spcAft>
                        <a:buNone/>
                      </a:pPr>
                      <a:r>
                        <a:rPr lang="en-GB" sz="1100">
                          <a:latin typeface="Lexend"/>
                          <a:ea typeface="Lexend"/>
                          <a:cs typeface="Lexend"/>
                          <a:sym typeface="Lexend"/>
                        </a:rPr>
                        <a:t>South East</a:t>
                      </a:r>
                      <a:endParaRPr sz="11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100">
                          <a:latin typeface="Lexend"/>
                          <a:ea typeface="Lexend"/>
                          <a:cs typeface="Lexend"/>
                          <a:sym typeface="Lexend"/>
                        </a:rPr>
                        <a:t>706 167</a:t>
                      </a:r>
                      <a:endParaRPr sz="11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100">
                          <a:latin typeface="Lexend"/>
                          <a:ea typeface="Lexend"/>
                          <a:cs typeface="Lexend"/>
                          <a:sym typeface="Lexend"/>
                        </a:rPr>
                        <a:t>688 146</a:t>
                      </a:r>
                      <a:endParaRPr sz="11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100">
                          <a:latin typeface="Lexend"/>
                          <a:ea typeface="Lexend"/>
                          <a:cs typeface="Lexend"/>
                          <a:sym typeface="Lexend"/>
                        </a:rPr>
                        <a:t>604 950</a:t>
                      </a:r>
                      <a:endParaRPr sz="11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100">
                          <a:latin typeface="Lexend"/>
                          <a:ea typeface="Lexend"/>
                          <a:cs typeface="Lexend"/>
                          <a:sym typeface="Lexend"/>
                        </a:rPr>
                        <a:t>582 465</a:t>
                      </a:r>
                      <a:endParaRPr sz="11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100">
                          <a:latin typeface="Lexend"/>
                          <a:ea typeface="Lexend"/>
                          <a:cs typeface="Lexend"/>
                          <a:sym typeface="Lexend"/>
                        </a:rPr>
                        <a:t>301 705</a:t>
                      </a:r>
                      <a:endParaRPr sz="11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100">
                          <a:latin typeface="Lexend"/>
                          <a:ea typeface="Lexend"/>
                          <a:cs typeface="Lexend"/>
                          <a:sym typeface="Lexend"/>
                        </a:rPr>
                        <a:t>156 951</a:t>
                      </a:r>
                      <a:endParaRPr sz="11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100">
                          <a:latin typeface="Lexend"/>
                          <a:ea typeface="Lexend"/>
                          <a:cs typeface="Lexend"/>
                          <a:sym typeface="Lexend"/>
                        </a:rPr>
                        <a:t>168 384</a:t>
                      </a:r>
                      <a:endParaRPr sz="11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100">
                          <a:latin typeface="Lexend"/>
                          <a:ea typeface="Lexend"/>
                          <a:cs typeface="Lexend"/>
                          <a:sym typeface="Lexend"/>
                        </a:rPr>
                        <a:t>169 351</a:t>
                      </a:r>
                      <a:endParaRPr sz="11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r>
            </a:tbl>
          </a:graphicData>
        </a:graphic>
      </p:graphicFrame>
      <p:sp>
        <p:nvSpPr>
          <p:cNvPr id="142" name="Google Shape;142;p13"/>
          <p:cNvSpPr txBox="1"/>
          <p:nvPr/>
        </p:nvSpPr>
        <p:spPr>
          <a:xfrm>
            <a:off x="491525" y="5814325"/>
            <a:ext cx="66006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200">
                <a:latin typeface="Lexend"/>
                <a:ea typeface="Lexend"/>
                <a:cs typeface="Lexend"/>
                <a:sym typeface="Lexend"/>
              </a:rPr>
              <a:t>2) </a:t>
            </a:r>
            <a:r>
              <a:rPr lang="en-GB" sz="1200">
                <a:solidFill>
                  <a:srgbClr val="000000"/>
                </a:solidFill>
                <a:latin typeface="Lexend"/>
                <a:ea typeface="Lexend"/>
                <a:cs typeface="Lexend"/>
                <a:sym typeface="Lexend"/>
              </a:rPr>
              <a:t>This graph shows data from the Met Office on the mean yearly temperature for two </a:t>
            </a:r>
            <a:br>
              <a:rPr lang="en-GB" sz="1200">
                <a:solidFill>
                  <a:srgbClr val="000000"/>
                </a:solidFill>
                <a:latin typeface="Lexend"/>
                <a:ea typeface="Lexend"/>
                <a:cs typeface="Lexend"/>
                <a:sym typeface="Lexend"/>
              </a:rPr>
            </a:br>
            <a:r>
              <a:rPr lang="en-GB" sz="1200">
                <a:solidFill>
                  <a:srgbClr val="000000"/>
                </a:solidFill>
                <a:latin typeface="Lexend"/>
                <a:ea typeface="Lexend"/>
                <a:cs typeface="Lexend"/>
                <a:sym typeface="Lexend"/>
              </a:rPr>
              <a:t>    UK locations: Manston (1961 – 2022) and Durham (1941 – 2022).</a:t>
            </a:r>
            <a:endParaRPr sz="1200">
              <a:latin typeface="Lexend"/>
              <a:ea typeface="Lexend"/>
              <a:cs typeface="Lexend"/>
              <a:sym typeface="Lexend"/>
            </a:endParaRPr>
          </a:p>
        </p:txBody>
      </p:sp>
      <p:pic>
        <p:nvPicPr>
          <p:cNvPr id="143" name="Google Shape;143;p13"/>
          <p:cNvPicPr preferRelativeResize="0"/>
          <p:nvPr/>
        </p:nvPicPr>
        <p:blipFill rotWithShape="1">
          <a:blip r:embed="rId3">
            <a:alphaModFix/>
          </a:blip>
          <a:srcRect b="0" l="0" r="1835" t="0"/>
          <a:stretch/>
        </p:blipFill>
        <p:spPr>
          <a:xfrm>
            <a:off x="705000" y="6347100"/>
            <a:ext cx="3673425" cy="1505750"/>
          </a:xfrm>
          <a:prstGeom prst="rect">
            <a:avLst/>
          </a:prstGeom>
          <a:noFill/>
          <a:ln cap="flat" cmpd="sng" w="9525">
            <a:solidFill>
              <a:srgbClr val="000000"/>
            </a:solidFill>
            <a:prstDash val="solid"/>
            <a:round/>
            <a:headEnd len="sm" w="sm" type="none"/>
            <a:tailEnd len="sm" w="sm" type="none"/>
          </a:ln>
        </p:spPr>
      </p:pic>
      <p:grpSp>
        <p:nvGrpSpPr>
          <p:cNvPr id="144" name="Google Shape;144;p13"/>
          <p:cNvGrpSpPr/>
          <p:nvPr/>
        </p:nvGrpSpPr>
        <p:grpSpPr>
          <a:xfrm>
            <a:off x="1026951" y="7510346"/>
            <a:ext cx="81923" cy="64497"/>
            <a:chOff x="776825" y="2447425"/>
            <a:chExt cx="58500" cy="78225"/>
          </a:xfrm>
        </p:grpSpPr>
        <p:cxnSp>
          <p:nvCxnSpPr>
            <p:cNvPr id="145" name="Google Shape;145;p13"/>
            <p:cNvCxnSpPr/>
            <p:nvPr/>
          </p:nvCxnSpPr>
          <p:spPr>
            <a:xfrm flipH="1">
              <a:off x="776825" y="2447425"/>
              <a:ext cx="58500" cy="43500"/>
            </a:xfrm>
            <a:prstGeom prst="straightConnector1">
              <a:avLst/>
            </a:prstGeom>
            <a:noFill/>
            <a:ln cap="flat" cmpd="sng" w="9525">
              <a:solidFill>
                <a:srgbClr val="000000"/>
              </a:solidFill>
              <a:prstDash val="solid"/>
              <a:round/>
              <a:headEnd len="med" w="med" type="none"/>
              <a:tailEnd len="med" w="med" type="none"/>
            </a:ln>
          </p:spPr>
        </p:cxnSp>
        <p:cxnSp>
          <p:nvCxnSpPr>
            <p:cNvPr id="146" name="Google Shape;146;p13"/>
            <p:cNvCxnSpPr/>
            <p:nvPr/>
          </p:nvCxnSpPr>
          <p:spPr>
            <a:xfrm flipH="1">
              <a:off x="776825" y="2482150"/>
              <a:ext cx="58500" cy="43500"/>
            </a:xfrm>
            <a:prstGeom prst="straightConnector1">
              <a:avLst/>
            </a:prstGeom>
            <a:noFill/>
            <a:ln cap="flat" cmpd="sng" w="9525">
              <a:solidFill>
                <a:srgbClr val="000000"/>
              </a:solidFill>
              <a:prstDash val="solid"/>
              <a:round/>
              <a:headEnd len="med" w="med" type="none"/>
              <a:tailEnd len="med" w="med" type="none"/>
            </a:ln>
          </p:spPr>
        </p:cxnSp>
      </p:grpSp>
      <p:grpSp>
        <p:nvGrpSpPr>
          <p:cNvPr id="147" name="Google Shape;147;p13"/>
          <p:cNvGrpSpPr/>
          <p:nvPr/>
        </p:nvGrpSpPr>
        <p:grpSpPr>
          <a:xfrm>
            <a:off x="4465221" y="7329171"/>
            <a:ext cx="2973977" cy="554031"/>
            <a:chOff x="5413499" y="2887215"/>
            <a:chExt cx="3169200" cy="590400"/>
          </a:xfrm>
        </p:grpSpPr>
        <p:sp>
          <p:nvSpPr>
            <p:cNvPr id="148" name="Google Shape;148;p13"/>
            <p:cNvSpPr txBox="1"/>
            <p:nvPr/>
          </p:nvSpPr>
          <p:spPr>
            <a:xfrm>
              <a:off x="5413499" y="2887215"/>
              <a:ext cx="3169200" cy="590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200">
                  <a:latin typeface="Lexend"/>
                  <a:ea typeface="Lexend"/>
                  <a:cs typeface="Lexend"/>
                  <a:sym typeface="Lexend"/>
                </a:rPr>
                <a:t>Key:</a:t>
              </a:r>
              <a:endParaRPr sz="1200">
                <a:latin typeface="Lexend"/>
                <a:ea typeface="Lexend"/>
                <a:cs typeface="Lexend"/>
                <a:sym typeface="Lexend"/>
              </a:endParaRPr>
            </a:p>
            <a:p>
              <a:pPr indent="0" lvl="0" marL="0" rtl="0" algn="l">
                <a:spcBef>
                  <a:spcPts val="0"/>
                </a:spcBef>
                <a:spcAft>
                  <a:spcPts val="0"/>
                </a:spcAft>
                <a:buNone/>
              </a:pPr>
              <a:r>
                <a:rPr lang="en-GB" sz="1200">
                  <a:latin typeface="Lexend"/>
                  <a:ea typeface="Lexend"/>
                  <a:cs typeface="Lexend"/>
                  <a:sym typeface="Lexend"/>
                </a:rPr>
                <a:t>       Manston (South-East England)</a:t>
              </a:r>
              <a:endParaRPr sz="1200">
                <a:latin typeface="Lexend"/>
                <a:ea typeface="Lexend"/>
                <a:cs typeface="Lexend"/>
                <a:sym typeface="Lexend"/>
              </a:endParaRPr>
            </a:p>
            <a:p>
              <a:pPr indent="0" lvl="0" marL="0" rtl="0" algn="l">
                <a:spcBef>
                  <a:spcPts val="0"/>
                </a:spcBef>
                <a:spcAft>
                  <a:spcPts val="0"/>
                </a:spcAft>
                <a:buNone/>
              </a:pPr>
              <a:r>
                <a:rPr lang="en-GB" sz="1200">
                  <a:latin typeface="Lexend"/>
                  <a:ea typeface="Lexend"/>
                  <a:cs typeface="Lexend"/>
                  <a:sym typeface="Lexend"/>
                </a:rPr>
                <a:t>       Durham (North-East England)</a:t>
              </a:r>
              <a:endParaRPr sz="1200">
                <a:latin typeface="Lexend"/>
                <a:ea typeface="Lexend"/>
                <a:cs typeface="Lexend"/>
                <a:sym typeface="Lexend"/>
              </a:endParaRPr>
            </a:p>
          </p:txBody>
        </p:sp>
        <p:sp>
          <p:nvSpPr>
            <p:cNvPr id="149" name="Google Shape;149;p13"/>
            <p:cNvSpPr/>
            <p:nvPr/>
          </p:nvSpPr>
          <p:spPr>
            <a:xfrm>
              <a:off x="5535563" y="3312234"/>
              <a:ext cx="152100" cy="152100"/>
            </a:xfrm>
            <a:prstGeom prst="mathMultiply">
              <a:avLst>
                <a:gd fmla="val 15141" name="adj1"/>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Lexend"/>
                <a:ea typeface="Lexend"/>
                <a:cs typeface="Lexend"/>
                <a:sym typeface="Lexend"/>
              </a:endParaRPr>
            </a:p>
          </p:txBody>
        </p:sp>
        <p:sp>
          <p:nvSpPr>
            <p:cNvPr id="150" name="Google Shape;150;p13"/>
            <p:cNvSpPr/>
            <p:nvPr/>
          </p:nvSpPr>
          <p:spPr>
            <a:xfrm>
              <a:off x="5555618" y="3152924"/>
              <a:ext cx="87900" cy="879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Lexend"/>
                <a:ea typeface="Lexend"/>
                <a:cs typeface="Lexend"/>
                <a:sym typeface="Lexend"/>
              </a:endParaRPr>
            </a:p>
          </p:txBody>
        </p:sp>
      </p:grpSp>
      <p:sp>
        <p:nvSpPr>
          <p:cNvPr id="151" name="Google Shape;151;p13"/>
          <p:cNvSpPr txBox="1"/>
          <p:nvPr/>
        </p:nvSpPr>
        <p:spPr>
          <a:xfrm>
            <a:off x="476450" y="8078675"/>
            <a:ext cx="6600600" cy="90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latin typeface="Lexend"/>
                <a:ea typeface="Lexend"/>
                <a:cs typeface="Lexend"/>
                <a:sym typeface="Lexend"/>
              </a:rPr>
              <a:t>The long-term trends of both Manston and Durham are similar. Both locations show an increase in mean yearly temperature over time.</a:t>
            </a:r>
            <a:endParaRPr sz="1200">
              <a:latin typeface="Lexend"/>
              <a:ea typeface="Lexend"/>
              <a:cs typeface="Lexend"/>
              <a:sym typeface="Lexend"/>
            </a:endParaRPr>
          </a:p>
          <a:p>
            <a:pPr indent="0" lvl="0" marL="0" rtl="0" algn="l">
              <a:spcBef>
                <a:spcPts val="1000"/>
              </a:spcBef>
              <a:spcAft>
                <a:spcPts val="1000"/>
              </a:spcAft>
              <a:buNone/>
            </a:pPr>
            <a:r>
              <a:rPr lang="en-GB" sz="1200">
                <a:latin typeface="Lexend"/>
                <a:ea typeface="Lexend"/>
                <a:cs typeface="Lexend"/>
                <a:sym typeface="Lexend"/>
              </a:rPr>
              <a:t>In which location is the mean yearly temperature increasing at the faster rate? Explain how you know.</a:t>
            </a:r>
            <a:endParaRPr sz="1200">
              <a:latin typeface="Lexend"/>
              <a:ea typeface="Lexend"/>
              <a:cs typeface="Lexend"/>
              <a:sym typeface="Lexend"/>
            </a:endParaRPr>
          </a:p>
        </p:txBody>
      </p:sp>
      <p:sp>
        <p:nvSpPr>
          <p:cNvPr id="152" name="Google Shape;152;p13"/>
          <p:cNvSpPr txBox="1"/>
          <p:nvPr/>
        </p:nvSpPr>
        <p:spPr>
          <a:xfrm>
            <a:off x="1135181" y="3087600"/>
            <a:ext cx="11301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200">
                <a:latin typeface="Kalam"/>
                <a:ea typeface="Kalam"/>
                <a:cs typeface="Kalam"/>
                <a:sym typeface="Kalam"/>
              </a:rPr>
              <a:t>976 945 people</a:t>
            </a:r>
            <a:endParaRPr sz="1200">
              <a:latin typeface="Kalam"/>
              <a:ea typeface="Kalam"/>
              <a:cs typeface="Kalam"/>
              <a:sym typeface="Kalam"/>
            </a:endParaRPr>
          </a:p>
        </p:txBody>
      </p:sp>
      <p:pic>
        <p:nvPicPr>
          <p:cNvPr descr="&lt;math xmlns=&quot;http://www.w3.org/1998/Math/MathML&quot; display=&quot;block&quot; data-is-equatio=&quot;1&quot; data-latex=&quot;\frac{1\ 999\ 263}{3\ 378\ 119}&quot;&gt;&lt;mfrac&gt;&lt;mrow&gt;&lt;mn&gt;1&lt;/mn&gt;&lt;mtext&gt;&lt;/mtext&gt;&lt;mn&gt;999&lt;/mn&gt;&lt;mtext&gt;&lt;/mtext&gt;&lt;mn&gt;263&lt;/mn&gt;&lt;/mrow&gt;&lt;mrow&gt;&lt;mn&gt;3&lt;/mn&gt;&lt;mtext&gt;&lt;/mtext&gt;&lt;mn&gt;378&lt;/mn&gt;&lt;mtext&gt;&lt;/mtext&gt;&lt;mn&gt;119&lt;/mn&gt;&lt;/mrow&gt;&lt;/mfrac&gt;&lt;/math&gt;" id="153" name="Google Shape;153;p13" title="the fraction with numerator 1 999 263 and denominator 3 378 119"/>
          <p:cNvPicPr preferRelativeResize="0"/>
          <p:nvPr/>
        </p:nvPicPr>
        <p:blipFill>
          <a:blip r:embed="rId4">
            <a:alphaModFix/>
          </a:blip>
          <a:stretch>
            <a:fillRect/>
          </a:stretch>
        </p:blipFill>
        <p:spPr>
          <a:xfrm>
            <a:off x="1132803" y="3698788"/>
            <a:ext cx="599951" cy="303026"/>
          </a:xfrm>
          <a:prstGeom prst="rect">
            <a:avLst/>
          </a:prstGeom>
          <a:noFill/>
          <a:ln>
            <a:noFill/>
          </a:ln>
        </p:spPr>
      </p:pic>
      <p:sp>
        <p:nvSpPr>
          <p:cNvPr id="154" name="Google Shape;154;p13"/>
          <p:cNvSpPr txBox="1"/>
          <p:nvPr/>
        </p:nvSpPr>
        <p:spPr>
          <a:xfrm>
            <a:off x="645200" y="4999350"/>
            <a:ext cx="22743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200">
                <a:latin typeface="Kalam"/>
                <a:ea typeface="Kalam"/>
                <a:cs typeface="Kalam"/>
                <a:sym typeface="Kalam"/>
              </a:rPr>
              <a:t>North-East: 12.9% (to 1 d.p.) </a:t>
            </a:r>
            <a:endParaRPr sz="1200">
              <a:latin typeface="Kalam"/>
              <a:ea typeface="Kalam"/>
              <a:cs typeface="Kalam"/>
              <a:sym typeface="Kalam"/>
            </a:endParaRPr>
          </a:p>
          <a:p>
            <a:pPr indent="0" lvl="0" marL="0" rtl="0" algn="l">
              <a:spcBef>
                <a:spcPts val="0"/>
              </a:spcBef>
              <a:spcAft>
                <a:spcPts val="0"/>
              </a:spcAft>
              <a:buNone/>
            </a:pPr>
            <a:r>
              <a:rPr lang="en-GB" sz="1200">
                <a:latin typeface="Kalam"/>
                <a:ea typeface="Kalam"/>
                <a:cs typeface="Kalam"/>
                <a:sym typeface="Kalam"/>
              </a:rPr>
              <a:t>South-East: 23.6% </a:t>
            </a:r>
            <a:r>
              <a:rPr lang="en-GB" sz="1200">
                <a:solidFill>
                  <a:srgbClr val="000000"/>
                </a:solidFill>
                <a:latin typeface="Kalam"/>
                <a:ea typeface="Kalam"/>
                <a:cs typeface="Kalam"/>
                <a:sym typeface="Kalam"/>
              </a:rPr>
              <a:t>(to 1 d.p.)</a:t>
            </a:r>
            <a:endParaRPr sz="1200">
              <a:latin typeface="Kalam"/>
              <a:ea typeface="Kalam"/>
              <a:cs typeface="Kalam"/>
              <a:sym typeface="Kalam"/>
            </a:endParaRPr>
          </a:p>
        </p:txBody>
      </p:sp>
      <p:sp>
        <p:nvSpPr>
          <p:cNvPr id="155" name="Google Shape;155;p13"/>
          <p:cNvSpPr txBox="1"/>
          <p:nvPr/>
        </p:nvSpPr>
        <p:spPr>
          <a:xfrm>
            <a:off x="646178" y="5422047"/>
            <a:ext cx="52317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200">
                <a:latin typeface="Kalam"/>
                <a:ea typeface="Kalam"/>
                <a:cs typeface="Kalam"/>
                <a:sym typeface="Kalam"/>
              </a:rPr>
              <a:t>A larger percentage of people in the South-East travel 20 km or further.</a:t>
            </a:r>
            <a:endParaRPr sz="1200">
              <a:latin typeface="Kalam"/>
              <a:ea typeface="Kalam"/>
              <a:cs typeface="Kalam"/>
              <a:sym typeface="Kalam"/>
            </a:endParaRPr>
          </a:p>
        </p:txBody>
      </p:sp>
      <p:sp>
        <p:nvSpPr>
          <p:cNvPr id="156" name="Google Shape;156;p13"/>
          <p:cNvSpPr txBox="1"/>
          <p:nvPr/>
        </p:nvSpPr>
        <p:spPr>
          <a:xfrm>
            <a:off x="503250" y="9032000"/>
            <a:ext cx="66006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200">
                <a:latin typeface="Kalam"/>
                <a:ea typeface="Kalam"/>
                <a:cs typeface="Kalam"/>
                <a:sym typeface="Kalam"/>
              </a:rPr>
              <a:t>Manston’s mean yearly temperature is increasing at a faster rate than Durham’s because Manston’s long-term trendline has a steeper gradient.</a:t>
            </a:r>
            <a:endParaRPr sz="1200">
              <a:latin typeface="Kalam"/>
              <a:ea typeface="Kalam"/>
              <a:cs typeface="Kalam"/>
              <a:sym typeface="Kalam"/>
            </a:endParaRPr>
          </a:p>
        </p:txBody>
      </p:sp>
      <p:sp>
        <p:nvSpPr>
          <p:cNvPr id="157" name="Google Shape;157;p13"/>
          <p:cNvSpPr txBox="1"/>
          <p:nvPr/>
        </p:nvSpPr>
        <p:spPr>
          <a:xfrm>
            <a:off x="503250" y="9489200"/>
            <a:ext cx="66006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200">
                <a:latin typeface="Kalam"/>
                <a:ea typeface="Kalam"/>
                <a:cs typeface="Kalam"/>
                <a:sym typeface="Kalam"/>
              </a:rPr>
              <a:t>Note: Temperature increasing at a faster rate is due to the </a:t>
            </a:r>
            <a:r>
              <a:rPr lang="en-GB" sz="1200">
                <a:solidFill>
                  <a:srgbClr val="037B7D"/>
                </a:solidFill>
                <a:latin typeface="Kalam"/>
                <a:ea typeface="Kalam"/>
                <a:cs typeface="Kalam"/>
                <a:sym typeface="Kalam"/>
              </a:rPr>
              <a:t>steepness</a:t>
            </a:r>
            <a:r>
              <a:rPr lang="en-GB" sz="1200">
                <a:latin typeface="Kalam"/>
                <a:ea typeface="Kalam"/>
                <a:cs typeface="Kalam"/>
                <a:sym typeface="Kalam"/>
              </a:rPr>
              <a:t> of Manston’s trendline, not because the line itself is higher up than Durham’s.</a:t>
            </a:r>
            <a:endParaRPr sz="1200">
              <a:latin typeface="Kalam"/>
              <a:ea typeface="Kalam"/>
              <a:cs typeface="Kalam"/>
              <a:sym typeface="Kalam"/>
            </a:endParaRPr>
          </a:p>
        </p:txBody>
      </p:sp>
      <p:sp>
        <p:nvSpPr>
          <p:cNvPr id="158" name="Google Shape;158;p13"/>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solidFill>
                  <a:schemeClr val="dk1"/>
                </a:solidFill>
              </a:rPr>
              <a:t>‹#›</a:t>
            </a:fld>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4"/>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solidFill>
                  <a:schemeClr val="dk1"/>
                </a:solidFill>
              </a:rPr>
              <a:t>‹#›</a:t>
            </a:fld>
            <a:endParaRPr>
              <a:solidFill>
                <a:schemeClr val="dk1"/>
              </a:solidFill>
            </a:endParaRPr>
          </a:p>
        </p:txBody>
      </p:sp>
      <p:sp>
        <p:nvSpPr>
          <p:cNvPr id="164" name="Google Shape;164;p14"/>
          <p:cNvSpPr txBox="1"/>
          <p:nvPr>
            <p:ph idx="1" type="subTitle"/>
          </p:nvPr>
        </p:nvSpPr>
        <p:spPr>
          <a:xfrm>
            <a:off x="1463400" y="360000"/>
            <a:ext cx="478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Studying local climate change</a:t>
            </a:r>
            <a:endParaRPr/>
          </a:p>
        </p:txBody>
      </p:sp>
      <p:sp>
        <p:nvSpPr>
          <p:cNvPr id="165" name="Google Shape;165;p14"/>
          <p:cNvSpPr txBox="1"/>
          <p:nvPr>
            <p:ph idx="2" type="subTitle"/>
          </p:nvPr>
        </p:nvSpPr>
        <p:spPr>
          <a:xfrm>
            <a:off x="3903375" y="9972000"/>
            <a:ext cx="2722800" cy="161100"/>
          </a:xfrm>
          <a:prstGeom prst="rect">
            <a:avLst/>
          </a:prstGeom>
        </p:spPr>
        <p:txBody>
          <a:bodyPr anchorCtr="0" anchor="b" bIns="0" lIns="0" spcFirstLastPara="1" rIns="0" wrap="square" tIns="0">
            <a:normAutofit/>
          </a:bodyPr>
          <a:lstStyle/>
          <a:p>
            <a:pPr indent="0" lvl="0" marL="0" rtl="0" algn="l">
              <a:spcBef>
                <a:spcPts val="0"/>
              </a:spcBef>
              <a:spcAft>
                <a:spcPts val="0"/>
              </a:spcAft>
              <a:buNone/>
            </a:pPr>
            <a:r>
              <a:rPr lang="en-GB"/>
              <a:t>Mathematics in Education and Industry</a:t>
            </a:r>
            <a:endParaRPr/>
          </a:p>
        </p:txBody>
      </p:sp>
      <p:sp>
        <p:nvSpPr>
          <p:cNvPr id="166" name="Google Shape;166;p14"/>
          <p:cNvSpPr txBox="1"/>
          <p:nvPr/>
        </p:nvSpPr>
        <p:spPr>
          <a:xfrm>
            <a:off x="6744600" y="10447800"/>
            <a:ext cx="815400" cy="244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GB" sz="1000">
                <a:solidFill>
                  <a:srgbClr val="FFFFFF"/>
                </a:solidFill>
                <a:latin typeface="Lexend"/>
                <a:ea typeface="Lexend"/>
                <a:cs typeface="Lexend"/>
                <a:sym typeface="Lexend"/>
              </a:rPr>
              <a:t>v2.4</a:t>
            </a:r>
            <a:endParaRPr sz="1000">
              <a:solidFill>
                <a:srgbClr val="FFFFFF"/>
              </a:solidFill>
              <a:latin typeface="Lexend"/>
              <a:ea typeface="Lexend"/>
              <a:cs typeface="Lexend"/>
              <a:sym typeface="Lexend"/>
            </a:endParaRPr>
          </a:p>
        </p:txBody>
      </p:sp>
      <p:sp>
        <p:nvSpPr>
          <p:cNvPr id="167" name="Google Shape;167;p14"/>
          <p:cNvSpPr txBox="1"/>
          <p:nvPr/>
        </p:nvSpPr>
        <p:spPr>
          <a:xfrm>
            <a:off x="491525" y="861325"/>
            <a:ext cx="66006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200">
                <a:latin typeface="Lexend"/>
                <a:ea typeface="Lexend"/>
                <a:cs typeface="Lexend"/>
                <a:sym typeface="Lexend"/>
              </a:rPr>
              <a:t>3</a:t>
            </a:r>
            <a:r>
              <a:rPr lang="en-GB" sz="1200">
                <a:latin typeface="Lexend"/>
                <a:ea typeface="Lexend"/>
                <a:cs typeface="Lexend"/>
                <a:sym typeface="Lexend"/>
              </a:rPr>
              <a:t>) </a:t>
            </a:r>
            <a:r>
              <a:rPr lang="en-GB" sz="1200">
                <a:solidFill>
                  <a:srgbClr val="000000"/>
                </a:solidFill>
                <a:latin typeface="Lexend"/>
                <a:ea typeface="Lexend"/>
                <a:cs typeface="Lexend"/>
                <a:sym typeface="Lexend"/>
              </a:rPr>
              <a:t>This graph shows data from the Met Office on the mean yearly temperature for two </a:t>
            </a:r>
            <a:br>
              <a:rPr lang="en-GB" sz="1200">
                <a:solidFill>
                  <a:srgbClr val="000000"/>
                </a:solidFill>
                <a:latin typeface="Lexend"/>
                <a:ea typeface="Lexend"/>
                <a:cs typeface="Lexend"/>
                <a:sym typeface="Lexend"/>
              </a:rPr>
            </a:br>
            <a:r>
              <a:rPr lang="en-GB" sz="1200">
                <a:solidFill>
                  <a:srgbClr val="000000"/>
                </a:solidFill>
                <a:latin typeface="Lexend"/>
                <a:ea typeface="Lexend"/>
                <a:cs typeface="Lexend"/>
                <a:sym typeface="Lexend"/>
              </a:rPr>
              <a:t>    UK locations: Manston (1961 – 2022) and Durham (1941 – 2022).</a:t>
            </a:r>
            <a:endParaRPr sz="1200">
              <a:latin typeface="Lexend"/>
              <a:ea typeface="Lexend"/>
              <a:cs typeface="Lexend"/>
              <a:sym typeface="Lexend"/>
            </a:endParaRPr>
          </a:p>
        </p:txBody>
      </p:sp>
      <p:pic>
        <p:nvPicPr>
          <p:cNvPr id="168" name="Google Shape;168;p14"/>
          <p:cNvPicPr preferRelativeResize="0"/>
          <p:nvPr/>
        </p:nvPicPr>
        <p:blipFill rotWithShape="1">
          <a:blip r:embed="rId3">
            <a:alphaModFix/>
          </a:blip>
          <a:srcRect b="0" l="0" r="1835" t="0"/>
          <a:stretch/>
        </p:blipFill>
        <p:spPr>
          <a:xfrm>
            <a:off x="705000" y="1394100"/>
            <a:ext cx="3673425" cy="1505750"/>
          </a:xfrm>
          <a:prstGeom prst="rect">
            <a:avLst/>
          </a:prstGeom>
          <a:noFill/>
          <a:ln cap="flat" cmpd="sng" w="9525">
            <a:solidFill>
              <a:srgbClr val="000000"/>
            </a:solidFill>
            <a:prstDash val="solid"/>
            <a:round/>
            <a:headEnd len="sm" w="sm" type="none"/>
            <a:tailEnd len="sm" w="sm" type="none"/>
          </a:ln>
        </p:spPr>
      </p:pic>
      <p:grpSp>
        <p:nvGrpSpPr>
          <p:cNvPr id="169" name="Google Shape;169;p14"/>
          <p:cNvGrpSpPr/>
          <p:nvPr/>
        </p:nvGrpSpPr>
        <p:grpSpPr>
          <a:xfrm>
            <a:off x="1026951" y="2557346"/>
            <a:ext cx="81923" cy="64497"/>
            <a:chOff x="776825" y="2447425"/>
            <a:chExt cx="58500" cy="78225"/>
          </a:xfrm>
        </p:grpSpPr>
        <p:cxnSp>
          <p:nvCxnSpPr>
            <p:cNvPr id="170" name="Google Shape;170;p14"/>
            <p:cNvCxnSpPr/>
            <p:nvPr/>
          </p:nvCxnSpPr>
          <p:spPr>
            <a:xfrm flipH="1">
              <a:off x="776825" y="2447425"/>
              <a:ext cx="58500" cy="43500"/>
            </a:xfrm>
            <a:prstGeom prst="straightConnector1">
              <a:avLst/>
            </a:prstGeom>
            <a:noFill/>
            <a:ln cap="flat" cmpd="sng" w="9525">
              <a:solidFill>
                <a:srgbClr val="000000"/>
              </a:solidFill>
              <a:prstDash val="solid"/>
              <a:round/>
              <a:headEnd len="med" w="med" type="none"/>
              <a:tailEnd len="med" w="med" type="none"/>
            </a:ln>
          </p:spPr>
        </p:cxnSp>
        <p:cxnSp>
          <p:nvCxnSpPr>
            <p:cNvPr id="171" name="Google Shape;171;p14"/>
            <p:cNvCxnSpPr/>
            <p:nvPr/>
          </p:nvCxnSpPr>
          <p:spPr>
            <a:xfrm flipH="1">
              <a:off x="776825" y="2482150"/>
              <a:ext cx="58500" cy="43500"/>
            </a:xfrm>
            <a:prstGeom prst="straightConnector1">
              <a:avLst/>
            </a:prstGeom>
            <a:noFill/>
            <a:ln cap="flat" cmpd="sng" w="9525">
              <a:solidFill>
                <a:srgbClr val="000000"/>
              </a:solidFill>
              <a:prstDash val="solid"/>
              <a:round/>
              <a:headEnd len="med" w="med" type="none"/>
              <a:tailEnd len="med" w="med" type="none"/>
            </a:ln>
          </p:spPr>
        </p:cxnSp>
      </p:grpSp>
      <p:grpSp>
        <p:nvGrpSpPr>
          <p:cNvPr id="172" name="Google Shape;172;p14"/>
          <p:cNvGrpSpPr/>
          <p:nvPr/>
        </p:nvGrpSpPr>
        <p:grpSpPr>
          <a:xfrm>
            <a:off x="4465221" y="2376171"/>
            <a:ext cx="2973977" cy="554031"/>
            <a:chOff x="5413499" y="2887215"/>
            <a:chExt cx="3169200" cy="590400"/>
          </a:xfrm>
        </p:grpSpPr>
        <p:sp>
          <p:nvSpPr>
            <p:cNvPr id="173" name="Google Shape;173;p14"/>
            <p:cNvSpPr txBox="1"/>
            <p:nvPr/>
          </p:nvSpPr>
          <p:spPr>
            <a:xfrm>
              <a:off x="5413499" y="2887215"/>
              <a:ext cx="3169200" cy="590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200">
                  <a:latin typeface="Lexend"/>
                  <a:ea typeface="Lexend"/>
                  <a:cs typeface="Lexend"/>
                  <a:sym typeface="Lexend"/>
                </a:rPr>
                <a:t>Key:</a:t>
              </a:r>
              <a:endParaRPr sz="1200">
                <a:latin typeface="Lexend"/>
                <a:ea typeface="Lexend"/>
                <a:cs typeface="Lexend"/>
                <a:sym typeface="Lexend"/>
              </a:endParaRPr>
            </a:p>
            <a:p>
              <a:pPr indent="0" lvl="0" marL="0" rtl="0" algn="l">
                <a:spcBef>
                  <a:spcPts val="0"/>
                </a:spcBef>
                <a:spcAft>
                  <a:spcPts val="0"/>
                </a:spcAft>
                <a:buNone/>
              </a:pPr>
              <a:r>
                <a:rPr lang="en-GB" sz="1200">
                  <a:latin typeface="Lexend"/>
                  <a:ea typeface="Lexend"/>
                  <a:cs typeface="Lexend"/>
                  <a:sym typeface="Lexend"/>
                </a:rPr>
                <a:t>       Manston (South-East England)</a:t>
              </a:r>
              <a:endParaRPr sz="1200">
                <a:latin typeface="Lexend"/>
                <a:ea typeface="Lexend"/>
                <a:cs typeface="Lexend"/>
                <a:sym typeface="Lexend"/>
              </a:endParaRPr>
            </a:p>
            <a:p>
              <a:pPr indent="0" lvl="0" marL="0" rtl="0" algn="l">
                <a:spcBef>
                  <a:spcPts val="0"/>
                </a:spcBef>
                <a:spcAft>
                  <a:spcPts val="0"/>
                </a:spcAft>
                <a:buNone/>
              </a:pPr>
              <a:r>
                <a:rPr lang="en-GB" sz="1200">
                  <a:latin typeface="Lexend"/>
                  <a:ea typeface="Lexend"/>
                  <a:cs typeface="Lexend"/>
                  <a:sym typeface="Lexend"/>
                </a:rPr>
                <a:t>       Durham (North-East England)</a:t>
              </a:r>
              <a:endParaRPr sz="1200">
                <a:latin typeface="Lexend"/>
                <a:ea typeface="Lexend"/>
                <a:cs typeface="Lexend"/>
                <a:sym typeface="Lexend"/>
              </a:endParaRPr>
            </a:p>
          </p:txBody>
        </p:sp>
        <p:sp>
          <p:nvSpPr>
            <p:cNvPr id="174" name="Google Shape;174;p14"/>
            <p:cNvSpPr/>
            <p:nvPr/>
          </p:nvSpPr>
          <p:spPr>
            <a:xfrm>
              <a:off x="5535563" y="3312234"/>
              <a:ext cx="152100" cy="152100"/>
            </a:xfrm>
            <a:prstGeom prst="mathMultiply">
              <a:avLst>
                <a:gd fmla="val 15141" name="adj1"/>
              </a:avLst>
            </a:prstGeom>
            <a:solidFill>
              <a:srgbClr val="80808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Lexend"/>
                <a:ea typeface="Lexend"/>
                <a:cs typeface="Lexend"/>
                <a:sym typeface="Lexend"/>
              </a:endParaRPr>
            </a:p>
          </p:txBody>
        </p:sp>
        <p:sp>
          <p:nvSpPr>
            <p:cNvPr id="175" name="Google Shape;175;p14"/>
            <p:cNvSpPr/>
            <p:nvPr/>
          </p:nvSpPr>
          <p:spPr>
            <a:xfrm>
              <a:off x="5555618" y="3152924"/>
              <a:ext cx="87900" cy="879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latin typeface="Lexend"/>
                <a:ea typeface="Lexend"/>
                <a:cs typeface="Lexend"/>
                <a:sym typeface="Lexend"/>
              </a:endParaRPr>
            </a:p>
          </p:txBody>
        </p:sp>
      </p:grpSp>
      <p:sp>
        <p:nvSpPr>
          <p:cNvPr id="176" name="Google Shape;176;p14"/>
          <p:cNvSpPr txBox="1"/>
          <p:nvPr/>
        </p:nvSpPr>
        <p:spPr>
          <a:xfrm>
            <a:off x="476450" y="3218325"/>
            <a:ext cx="6600600" cy="46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1000"/>
              </a:spcAft>
              <a:buNone/>
            </a:pPr>
            <a:r>
              <a:rPr lang="en-GB" sz="1200">
                <a:solidFill>
                  <a:srgbClr val="000000"/>
                </a:solidFill>
                <a:latin typeface="Lexend"/>
                <a:ea typeface="Lexend"/>
                <a:cs typeface="Lexend"/>
                <a:sym typeface="Lexend"/>
              </a:rPr>
              <a:t>a) Using both your answers to question 1c and 2, write down a possible link between </a:t>
            </a:r>
            <a:br>
              <a:rPr lang="en-GB" sz="1200">
                <a:solidFill>
                  <a:srgbClr val="000000"/>
                </a:solidFill>
                <a:latin typeface="Lexend"/>
                <a:ea typeface="Lexend"/>
                <a:cs typeface="Lexend"/>
                <a:sym typeface="Lexend"/>
              </a:rPr>
            </a:br>
            <a:r>
              <a:rPr lang="en-GB" sz="1200">
                <a:solidFill>
                  <a:srgbClr val="000000"/>
                </a:solidFill>
                <a:latin typeface="Lexend"/>
                <a:ea typeface="Lexend"/>
                <a:cs typeface="Lexend"/>
                <a:sym typeface="Lexend"/>
              </a:rPr>
              <a:t>    distance travelled to work and mean yearly temperature.</a:t>
            </a:r>
            <a:endParaRPr sz="1200">
              <a:solidFill>
                <a:srgbClr val="000000"/>
              </a:solidFill>
              <a:latin typeface="Lexend"/>
              <a:ea typeface="Lexend"/>
              <a:cs typeface="Lexend"/>
              <a:sym typeface="Lexend"/>
            </a:endParaRPr>
          </a:p>
        </p:txBody>
      </p:sp>
      <p:sp>
        <p:nvSpPr>
          <p:cNvPr id="177" name="Google Shape;177;p14"/>
          <p:cNvSpPr txBox="1"/>
          <p:nvPr/>
        </p:nvSpPr>
        <p:spPr>
          <a:xfrm>
            <a:off x="655650" y="3726225"/>
            <a:ext cx="57738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200">
                <a:latin typeface="Kalam"/>
                <a:ea typeface="Kalam"/>
                <a:cs typeface="Kalam"/>
                <a:sym typeface="Kalam"/>
              </a:rPr>
              <a:t>The link could be that locations where </a:t>
            </a:r>
            <a:r>
              <a:rPr lang="en-GB" sz="1200">
                <a:solidFill>
                  <a:srgbClr val="000000"/>
                </a:solidFill>
                <a:latin typeface="Kalam"/>
                <a:ea typeface="Kalam"/>
                <a:cs typeface="Kalam"/>
                <a:sym typeface="Kalam"/>
              </a:rPr>
              <a:t>people travel longer distances to get to work</a:t>
            </a:r>
            <a:r>
              <a:rPr lang="en-GB" sz="1200">
                <a:latin typeface="Kalam"/>
                <a:ea typeface="Kalam"/>
                <a:cs typeface="Kalam"/>
                <a:sym typeface="Kalam"/>
              </a:rPr>
              <a:t> (and the resultant </a:t>
            </a:r>
            <a:r>
              <a:rPr lang="en-GB" sz="1200">
                <a:solidFill>
                  <a:srgbClr val="000000"/>
                </a:solidFill>
                <a:latin typeface="Kalam"/>
                <a:ea typeface="Kalam"/>
                <a:cs typeface="Kalam"/>
                <a:sym typeface="Kalam"/>
              </a:rPr>
              <a:t>higher carbon emissions</a:t>
            </a:r>
            <a:r>
              <a:rPr lang="en-GB" sz="1200">
                <a:latin typeface="Kalam"/>
                <a:ea typeface="Kalam"/>
                <a:cs typeface="Kalam"/>
                <a:sym typeface="Kalam"/>
              </a:rPr>
              <a:t>) have temperatures that increase at a faster rate than locations where fewer people travel longer distances to get to work.</a:t>
            </a:r>
            <a:endParaRPr sz="1200">
              <a:latin typeface="Kalam"/>
              <a:ea typeface="Kalam"/>
              <a:cs typeface="Kalam"/>
              <a:sym typeface="Kalam"/>
            </a:endParaRPr>
          </a:p>
        </p:txBody>
      </p:sp>
      <p:sp>
        <p:nvSpPr>
          <p:cNvPr id="178" name="Google Shape;178;p14"/>
          <p:cNvSpPr txBox="1"/>
          <p:nvPr/>
        </p:nvSpPr>
        <p:spPr>
          <a:xfrm>
            <a:off x="476450" y="4589925"/>
            <a:ext cx="6600600" cy="46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1000"/>
              </a:spcAft>
              <a:buNone/>
            </a:pPr>
            <a:r>
              <a:rPr lang="en-GB" sz="1200">
                <a:solidFill>
                  <a:srgbClr val="000000"/>
                </a:solidFill>
                <a:latin typeface="Lexend"/>
                <a:ea typeface="Lexend"/>
                <a:cs typeface="Lexend"/>
                <a:sym typeface="Lexend"/>
              </a:rPr>
              <a:t>b) Explain the extent to which this link is accurate or not by assessing the validity of the</a:t>
            </a:r>
            <a:br>
              <a:rPr lang="en-GB" sz="1200">
                <a:solidFill>
                  <a:srgbClr val="000000"/>
                </a:solidFill>
                <a:latin typeface="Lexend"/>
                <a:ea typeface="Lexend"/>
                <a:cs typeface="Lexend"/>
                <a:sym typeface="Lexend"/>
              </a:rPr>
            </a:br>
            <a:r>
              <a:rPr lang="en-GB" sz="1200">
                <a:solidFill>
                  <a:srgbClr val="000000"/>
                </a:solidFill>
                <a:latin typeface="Lexend"/>
                <a:ea typeface="Lexend"/>
                <a:cs typeface="Lexend"/>
                <a:sym typeface="Lexend"/>
              </a:rPr>
              <a:t>     comparisons across both sets of data.</a:t>
            </a:r>
            <a:endParaRPr sz="1200">
              <a:solidFill>
                <a:srgbClr val="000000"/>
              </a:solidFill>
              <a:latin typeface="Lexend"/>
              <a:ea typeface="Lexend"/>
              <a:cs typeface="Lexend"/>
              <a:sym typeface="Lexend"/>
            </a:endParaRPr>
          </a:p>
        </p:txBody>
      </p:sp>
      <p:sp>
        <p:nvSpPr>
          <p:cNvPr id="179" name="Google Shape;179;p14"/>
          <p:cNvSpPr txBox="1"/>
          <p:nvPr/>
        </p:nvSpPr>
        <p:spPr>
          <a:xfrm>
            <a:off x="705750" y="5106300"/>
            <a:ext cx="59205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600"/>
              </a:spcAft>
              <a:buNone/>
            </a:pPr>
            <a:r>
              <a:rPr lang="en-GB" sz="1200">
                <a:latin typeface="Kalam"/>
                <a:ea typeface="Kalam"/>
                <a:cs typeface="Kalam"/>
                <a:sym typeface="Kalam"/>
              </a:rPr>
              <a:t>Whilst both the table (question 1) and graph (question 2) show data from the South-East and North-East regions of England, the graph only shows data from one part of each region. Therefore, it may not be valid to generalise the conclusions we make about the rate of temperature increase from Manston and Durham to the rest of each region.</a:t>
            </a:r>
            <a:endParaRPr sz="1200">
              <a:latin typeface="Kalam"/>
              <a:ea typeface="Kalam"/>
              <a:cs typeface="Kalam"/>
              <a:sym typeface="Kalam"/>
            </a:endParaRPr>
          </a:p>
        </p:txBody>
      </p:sp>
      <p:sp>
        <p:nvSpPr>
          <p:cNvPr id="180" name="Google Shape;180;p14"/>
          <p:cNvSpPr txBox="1"/>
          <p:nvPr/>
        </p:nvSpPr>
        <p:spPr>
          <a:xfrm>
            <a:off x="731850" y="6020700"/>
            <a:ext cx="61038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600"/>
              </a:spcAft>
              <a:buNone/>
            </a:pPr>
            <a:r>
              <a:rPr lang="en-GB" sz="1200">
                <a:latin typeface="Kalam"/>
                <a:ea typeface="Kalam"/>
                <a:cs typeface="Kalam"/>
                <a:sym typeface="Kalam"/>
              </a:rPr>
              <a:t>Positives that give validity to our comparisons include the timeframes. Both regions in the graph show data from 1961 to 2022 (with Durham having data going back to 1941), which allow for like comparisons between regions. Furthermore, the table from question 1 shows data collected in 2011, which is within the 1961 to 2022 timeframe.</a:t>
            </a:r>
            <a:endParaRPr sz="1200">
              <a:latin typeface="Kalam"/>
              <a:ea typeface="Kalam"/>
              <a:cs typeface="Kalam"/>
              <a:sym typeface="Kalam"/>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orksheet Answers Sep 2024 v2">
  <a:themeElements>
    <a:clrScheme name="Simple Light">
      <a:dk1>
        <a:srgbClr val="222222"/>
      </a:dk1>
      <a:lt1>
        <a:srgbClr val="FFFFFF"/>
      </a:lt1>
      <a:dk2>
        <a:srgbClr val="808080"/>
      </a:dk2>
      <a:lt2>
        <a:srgbClr val="F2F2F2"/>
      </a:lt2>
      <a:accent1>
        <a:srgbClr val="BEF2BD"/>
      </a:accent1>
      <a:accent2>
        <a:srgbClr val="374CF1"/>
      </a:accent2>
      <a:accent3>
        <a:srgbClr val="D02AA7"/>
      </a:accent3>
      <a:accent4>
        <a:srgbClr val="845AD9"/>
      </a:accent4>
      <a:accent5>
        <a:srgbClr val="037B7D"/>
      </a:accent5>
      <a:accent6>
        <a:srgbClr val="287C34"/>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