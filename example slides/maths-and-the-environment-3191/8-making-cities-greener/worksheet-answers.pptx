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02CA70F-2494-4DD9-BC18-F96BCF29EC09}">
  <a:tblStyle styleId="{702CA70F-2494-4DD9-BC18-F96BCF29EC0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 name="Google Shape;11;p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 name="Google Shape;13;p2"/>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14" name="Google Shape;14;p2"/>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5" name="Google Shape;15;p2"/>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6" name="Google Shape;16;p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17" name="Google Shape;17;p2"/>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18" name="Shape 18"/>
        <p:cNvGrpSpPr/>
        <p:nvPr/>
      </p:nvGrpSpPr>
      <p:grpSpPr>
        <a:xfrm>
          <a:off x="0" y="0"/>
          <a:ext cx="0" cy="0"/>
          <a:chOff x="0" y="0"/>
          <a:chExt cx="0" cy="0"/>
        </a:xfrm>
      </p:grpSpPr>
      <p:pic>
        <p:nvPicPr>
          <p:cNvPr id="19" name="Google Shape;19;p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0" name="Google Shape;20;p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2" name="Google Shape;22;p3"/>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23" name="Google Shape;23;p3"/>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24" name="Google Shape;24;p3"/>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25" name="Google Shape;25;p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26" name="Google Shape;26;p3"/>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9" name="Google Shape;29;p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1" name="Google Shape;31;p4"/>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2" name="Google Shape;32;p4"/>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34" name="Shape 34"/>
        <p:cNvGrpSpPr/>
        <p:nvPr/>
      </p:nvGrpSpPr>
      <p:grpSpPr>
        <a:xfrm>
          <a:off x="0" y="0"/>
          <a:ext cx="0" cy="0"/>
          <a:chOff x="0" y="0"/>
          <a:chExt cx="0" cy="0"/>
        </a:xfrm>
      </p:grpSpPr>
      <p:pic>
        <p:nvPicPr>
          <p:cNvPr id="35" name="Google Shape;35;p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36" name="Google Shape;36;p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8" name="Google Shape;38;p5"/>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44" name="Google Shape;44;p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45" name="Shape 45"/>
        <p:cNvGrpSpPr/>
        <p:nvPr/>
      </p:nvGrpSpPr>
      <p:grpSpPr>
        <a:xfrm>
          <a:off x="0" y="0"/>
          <a:ext cx="0" cy="0"/>
          <a:chOff x="0" y="0"/>
          <a:chExt cx="0" cy="0"/>
        </a:xfrm>
      </p:grpSpPr>
      <p:pic>
        <p:nvPicPr>
          <p:cNvPr id="46" name="Google Shape;46;p6"/>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47" name="Google Shape;47;p6"/>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49" name="Google Shape;49;p6"/>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50" name="Google Shape;50;p6"/>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51" name="Google Shape;51;p6"/>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52" name="Google Shape;52;p6"/>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53" name="Google Shape;53;p6"/>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54" name="Google Shape;54;p6"/>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55" name="Google Shape;55;p6"/>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56" name="Google Shape;56;p6"/>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7" name="Google Shape;57;p6"/>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0" name="Google Shape;60;p7"/>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2" name="Google Shape;62;p7"/>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63" name="Google Shape;63;p7"/>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64" name="Google Shape;64;p7"/>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65" name="Google Shape;65;p7"/>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66" name="Google Shape;66;p7"/>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67" name="Google Shape;67;p7"/>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68" name="Google Shape;68;p7"/>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69" name="Google Shape;69;p7"/>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70" name="Google Shape;70;p7"/>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71" name="Shape 71"/>
        <p:cNvGrpSpPr/>
        <p:nvPr/>
      </p:nvGrpSpPr>
      <p:grpSpPr>
        <a:xfrm>
          <a:off x="0" y="0"/>
          <a:ext cx="0" cy="0"/>
          <a:chOff x="0" y="0"/>
          <a:chExt cx="0" cy="0"/>
        </a:xfrm>
      </p:grpSpPr>
      <p:pic>
        <p:nvPicPr>
          <p:cNvPr id="72" name="Google Shape;72;p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73" name="Google Shape;73;p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5" name="Google Shape;75;p8"/>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76" name="Google Shape;76;p8"/>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77" name="Google Shape;77;p8"/>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78" name="Google Shape;78;p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79" name="Google Shape;79;p8"/>
          <p:cNvPicPr preferRelativeResize="0"/>
          <p:nvPr/>
        </p:nvPicPr>
        <p:blipFill>
          <a:blip r:embed="rId5">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2" name="Google Shape;82;p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84" name="Google Shape;84;p9"/>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86" name="Google Shape;86;p9"/>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9" name="Google Shape;89;p10"/>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91" name="Google Shape;91;p10"/>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96" name="Google Shape;96;p10"/>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10"/>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chOff x="0" y="0"/>
          <a:chExt cx="0" cy="0"/>
        </a:xfrm>
      </p:grpSpPr>
      <p:pic>
        <p:nvPicPr>
          <p:cNvPr id="99" name="Google Shape;99;p11"/>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00" name="Google Shape;100;p11"/>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2" name="Google Shape;102;p11"/>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03" name="Google Shape;103;p11"/>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04" name="Google Shape;104;p11"/>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05" name="Google Shape;105;p11"/>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06" name="Google Shape;106;p11"/>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107" name="Google Shape;107;p11"/>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2023</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108" name="Google Shape;108;p11"/>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109" name="Google Shape;109;p11"/>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10" name="Google Shape;110;p11"/>
          <p:cNvPicPr preferRelativeResize="0"/>
          <p:nvPr/>
        </p:nvPicPr>
        <p:blipFill>
          <a:blip r:embed="rId7">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1"/>
              </a:buClr>
              <a:buSzPts val="1800"/>
              <a:buFont typeface="Lexend"/>
              <a:buChar char="●"/>
              <a:defRPr i="0" sz="18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Kalam"/>
              <a:buChar char="■"/>
              <a:defRPr i="0" sz="1400" u="none" cap="none" strike="noStrike">
                <a:solidFill>
                  <a:schemeClr val="dk1"/>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16" name="Google Shape;116;p12"/>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Making cities greener</a:t>
            </a:r>
            <a:endParaRPr/>
          </a:p>
        </p:txBody>
      </p:sp>
      <p:sp>
        <p:nvSpPr>
          <p:cNvPr id="117" name="Google Shape;117;p12"/>
          <p:cNvSpPr txBox="1"/>
          <p:nvPr/>
        </p:nvSpPr>
        <p:spPr>
          <a:xfrm>
            <a:off x="468001" y="1335050"/>
            <a:ext cx="6194100" cy="29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A: </a:t>
            </a:r>
            <a:r>
              <a:rPr b="1" lang="en-GB">
                <a:latin typeface="Lexend"/>
                <a:ea typeface="Lexend"/>
                <a:cs typeface="Lexend"/>
                <a:sym typeface="Lexend"/>
              </a:rPr>
              <a:t>The importance of urban greening</a:t>
            </a:r>
            <a:endParaRPr b="1">
              <a:solidFill>
                <a:srgbClr val="000000"/>
              </a:solidFill>
              <a:latin typeface="Lexend"/>
              <a:ea typeface="Lexend"/>
              <a:cs typeface="Lexend"/>
              <a:sym typeface="Lexend"/>
            </a:endParaRPr>
          </a:p>
        </p:txBody>
      </p:sp>
      <p:sp>
        <p:nvSpPr>
          <p:cNvPr id="118" name="Google Shape;118;p12"/>
          <p:cNvSpPr txBox="1"/>
          <p:nvPr/>
        </p:nvSpPr>
        <p:spPr>
          <a:xfrm>
            <a:off x="476400" y="1876800"/>
            <a:ext cx="6624000" cy="6280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1) Imagine you were the mayor of a medium-sized city, and were given the task of </a:t>
            </a:r>
            <a:br>
              <a:rPr lang="en-GB" sz="1200">
                <a:latin typeface="Lexend"/>
                <a:ea typeface="Lexend"/>
                <a:cs typeface="Lexend"/>
                <a:sym typeface="Lexend"/>
              </a:rPr>
            </a:br>
            <a:r>
              <a:rPr lang="en-GB" sz="1200">
                <a:latin typeface="Lexend"/>
                <a:ea typeface="Lexend"/>
                <a:cs typeface="Lexend"/>
                <a:sym typeface="Lexend"/>
              </a:rPr>
              <a:t>    adding two different </a:t>
            </a:r>
            <a:r>
              <a:rPr b="1" lang="en-GB" sz="1200">
                <a:latin typeface="Lexend"/>
                <a:ea typeface="Lexend"/>
                <a:cs typeface="Lexend"/>
                <a:sym typeface="Lexend"/>
              </a:rPr>
              <a:t>urban</a:t>
            </a:r>
            <a:r>
              <a:rPr lang="en-GB" sz="1200">
                <a:latin typeface="Lexend"/>
                <a:ea typeface="Lexend"/>
                <a:cs typeface="Lexend"/>
                <a:sym typeface="Lexend"/>
              </a:rPr>
              <a:t> greening strategies of your choice to the city.</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a) Which two strategies do you think would be the most cost effective to implement? </a:t>
            </a:r>
            <a:br>
              <a:rPr lang="en-GB" sz="1200">
                <a:latin typeface="Lexend"/>
                <a:ea typeface="Lexend"/>
                <a:cs typeface="Lexend"/>
                <a:sym typeface="Lexend"/>
              </a:rPr>
            </a:br>
            <a:r>
              <a:rPr lang="en-GB" sz="1200">
                <a:latin typeface="Lexend"/>
                <a:ea typeface="Lexend"/>
                <a:cs typeface="Lexend"/>
                <a:sym typeface="Lexend"/>
              </a:rPr>
              <a:t>     Explain why.</a:t>
            </a:r>
            <a:br>
              <a:rPr lang="en-GB" sz="1200">
                <a:latin typeface="Lexend"/>
                <a:ea typeface="Lexend"/>
                <a:cs typeface="Lexend"/>
                <a:sym typeface="Lexend"/>
              </a:rPr>
            </a:b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b) Which two strategies do you think would be most effective at improving the well-being </a:t>
            </a:r>
            <a:br>
              <a:rPr lang="en-GB" sz="1200">
                <a:latin typeface="Lexend"/>
                <a:ea typeface="Lexend"/>
                <a:cs typeface="Lexend"/>
                <a:sym typeface="Lexend"/>
              </a:rPr>
            </a:br>
            <a:r>
              <a:rPr lang="en-GB" sz="1200">
                <a:latin typeface="Lexend"/>
                <a:ea typeface="Lexend"/>
                <a:cs typeface="Lexend"/>
                <a:sym typeface="Lexend"/>
              </a:rPr>
              <a:t>     of the population of the city? Explain why.</a:t>
            </a:r>
            <a:br>
              <a:rPr lang="en-GB" sz="1200">
                <a:latin typeface="Lexend"/>
                <a:ea typeface="Lexend"/>
                <a:cs typeface="Lexend"/>
                <a:sym typeface="Lexend"/>
              </a:rPr>
            </a:b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br>
              <a:rPr lang="en-GB" sz="1200">
                <a:latin typeface="Lexend"/>
                <a:ea typeface="Lexend"/>
                <a:cs typeface="Lexend"/>
                <a:sym typeface="Lexend"/>
              </a:rPr>
            </a:br>
            <a:endParaRPr sz="1200">
              <a:latin typeface="Lexend"/>
              <a:ea typeface="Lexend"/>
              <a:cs typeface="Lexend"/>
              <a:sym typeface="Lexend"/>
            </a:endParaRPr>
          </a:p>
          <a:p>
            <a:pPr indent="0" lvl="0" marL="0" rtl="0" algn="l">
              <a:spcBef>
                <a:spcPts val="0"/>
              </a:spcBef>
              <a:spcAft>
                <a:spcPts val="0"/>
              </a:spcAft>
              <a:buNone/>
            </a:pPr>
            <a:br>
              <a:rPr lang="en-GB" sz="1200">
                <a:latin typeface="Lexend"/>
                <a:ea typeface="Lexend"/>
                <a:cs typeface="Lexend"/>
                <a:sym typeface="Lexend"/>
              </a:rPr>
            </a:br>
            <a:endParaRPr sz="1200">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c) Which two strategies do you think would be most effective at improving the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sustainability of the city? Explain why.</a:t>
            </a:r>
            <a:br>
              <a:rPr lang="en-GB" sz="1200">
                <a:solidFill>
                  <a:srgbClr val="000000"/>
                </a:solidFill>
                <a:latin typeface="Lexend"/>
                <a:ea typeface="Lexend"/>
                <a:cs typeface="Lexend"/>
                <a:sym typeface="Lexend"/>
              </a:rPr>
            </a:b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br>
              <a:rPr lang="en-GB" sz="1200">
                <a:latin typeface="Lexend"/>
                <a:ea typeface="Lexend"/>
                <a:cs typeface="Lexend"/>
                <a:sym typeface="Lexend"/>
              </a:rPr>
            </a:b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Note: </a:t>
            </a:r>
            <a:r>
              <a:rPr lang="en-GB" sz="1200">
                <a:solidFill>
                  <a:srgbClr val="000000"/>
                </a:solidFill>
                <a:latin typeface="Lexend"/>
                <a:ea typeface="Lexend"/>
                <a:cs typeface="Lexend"/>
                <a:sym typeface="Lexend"/>
              </a:rPr>
              <a:t>You can use the same strategy for more than one question.</a:t>
            </a:r>
            <a:endParaRPr sz="1200">
              <a:solidFill>
                <a:srgbClr val="000000"/>
              </a:solidFill>
              <a:latin typeface="Lexend"/>
              <a:ea typeface="Lexend"/>
              <a:cs typeface="Lexend"/>
              <a:sym typeface="Lexend"/>
            </a:endParaRPr>
          </a:p>
        </p:txBody>
      </p:sp>
      <p:sp>
        <p:nvSpPr>
          <p:cNvPr id="119" name="Google Shape;119;p12"/>
          <p:cNvSpPr txBox="1"/>
          <p:nvPr/>
        </p:nvSpPr>
        <p:spPr>
          <a:xfrm>
            <a:off x="476400" y="8430000"/>
            <a:ext cx="6615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2) Several old cities in the UK have tried to implement </a:t>
            </a:r>
            <a:r>
              <a:rPr b="1" lang="en-GB" sz="1200">
                <a:latin typeface="Lexend"/>
                <a:ea typeface="Lexend"/>
                <a:cs typeface="Lexend"/>
                <a:sym typeface="Lexend"/>
              </a:rPr>
              <a:t>urban</a:t>
            </a:r>
            <a:r>
              <a:rPr lang="en-GB" sz="1200">
                <a:latin typeface="Lexend"/>
                <a:ea typeface="Lexend"/>
                <a:cs typeface="Lexend"/>
                <a:sym typeface="Lexend"/>
              </a:rPr>
              <a:t> greening strategies, but </a:t>
            </a:r>
            <a:br>
              <a:rPr lang="en-GB" sz="1200">
                <a:latin typeface="Lexend"/>
                <a:ea typeface="Lexend"/>
                <a:cs typeface="Lexend"/>
                <a:sym typeface="Lexend"/>
              </a:rPr>
            </a:br>
            <a:r>
              <a:rPr lang="en-GB" sz="1200">
                <a:latin typeface="Lexend"/>
                <a:ea typeface="Lexend"/>
                <a:cs typeface="Lexend"/>
                <a:sym typeface="Lexend"/>
              </a:rPr>
              <a:t>    have struggled to do so. Give one possible reason why.</a:t>
            </a:r>
            <a:endParaRPr sz="1200">
              <a:latin typeface="Lexend"/>
              <a:ea typeface="Lexend"/>
              <a:cs typeface="Lexend"/>
              <a:sym typeface="Lexend"/>
            </a:endParaRPr>
          </a:p>
        </p:txBody>
      </p:sp>
      <p:sp>
        <p:nvSpPr>
          <p:cNvPr id="120" name="Google Shape;120;p12"/>
          <p:cNvSpPr txBox="1"/>
          <p:nvPr/>
        </p:nvSpPr>
        <p:spPr>
          <a:xfrm>
            <a:off x="656961" y="2946750"/>
            <a:ext cx="6427500" cy="1051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Any answer may be valid with the correct justification.</a:t>
            </a:r>
            <a:endParaRPr sz="1200">
              <a:latin typeface="Kalam"/>
              <a:ea typeface="Kalam"/>
              <a:cs typeface="Kalam"/>
              <a:sym typeface="Kalam"/>
            </a:endParaRPr>
          </a:p>
          <a:p>
            <a:pPr indent="0" lvl="0" marL="0" rtl="0" algn="l">
              <a:spcBef>
                <a:spcPts val="1000"/>
              </a:spcBef>
              <a:spcAft>
                <a:spcPts val="0"/>
              </a:spcAft>
              <a:buNone/>
            </a:pPr>
            <a:r>
              <a:rPr lang="en-GB" sz="1200">
                <a:latin typeface="Kalam"/>
                <a:ea typeface="Kalam"/>
                <a:cs typeface="Kalam"/>
                <a:sym typeface="Kalam"/>
              </a:rPr>
              <a:t>Examples include:</a:t>
            </a:r>
            <a:endParaRPr sz="1200">
              <a:latin typeface="Kalam"/>
              <a:ea typeface="Kalam"/>
              <a:cs typeface="Kalam"/>
              <a:sym typeface="Kalam"/>
            </a:endParaRPr>
          </a:p>
          <a:p>
            <a:pPr indent="-304800" lvl="0" marL="457200" rtl="0" algn="l">
              <a:spcBef>
                <a:spcPts val="0"/>
              </a:spcBef>
              <a:spcAft>
                <a:spcPts val="0"/>
              </a:spcAft>
              <a:buSzPts val="1200"/>
              <a:buFont typeface="Kalam"/>
              <a:buChar char="●"/>
            </a:pPr>
            <a:r>
              <a:rPr lang="en-GB" sz="1200">
                <a:latin typeface="Kalam"/>
                <a:ea typeface="Kalam"/>
                <a:cs typeface="Kalam"/>
                <a:sym typeface="Kalam"/>
              </a:rPr>
              <a:t>Cycle lanes - some roads may be made one-way only, allowing the other half of the road to be turned into cycle lanes. No new cycle lanes need to be built.</a:t>
            </a:r>
            <a:endParaRPr sz="1200">
              <a:latin typeface="Kalam"/>
              <a:ea typeface="Kalam"/>
              <a:cs typeface="Kalam"/>
              <a:sym typeface="Kalam"/>
            </a:endParaRPr>
          </a:p>
          <a:p>
            <a:pPr indent="-304800" lvl="0" marL="457200" rtl="0" algn="l">
              <a:spcBef>
                <a:spcPts val="0"/>
              </a:spcBef>
              <a:spcAft>
                <a:spcPts val="0"/>
              </a:spcAft>
              <a:buSzPts val="1200"/>
              <a:buFont typeface="Kalam"/>
              <a:buChar char="●"/>
            </a:pPr>
            <a:r>
              <a:rPr lang="en-GB" sz="1200">
                <a:latin typeface="Kalam"/>
                <a:ea typeface="Kalam"/>
                <a:cs typeface="Kalam"/>
                <a:sym typeface="Kalam"/>
              </a:rPr>
              <a:t>Trees in streets - tree saplings can be planted along different streets.</a:t>
            </a:r>
            <a:endParaRPr sz="1200">
              <a:latin typeface="Kalam"/>
              <a:ea typeface="Kalam"/>
              <a:cs typeface="Kalam"/>
              <a:sym typeface="Kalam"/>
            </a:endParaRPr>
          </a:p>
        </p:txBody>
      </p:sp>
      <p:sp>
        <p:nvSpPr>
          <p:cNvPr id="121" name="Google Shape;121;p12"/>
          <p:cNvSpPr txBox="1"/>
          <p:nvPr/>
        </p:nvSpPr>
        <p:spPr>
          <a:xfrm>
            <a:off x="656980" y="4815000"/>
            <a:ext cx="6509700" cy="923400"/>
          </a:xfrm>
          <a:prstGeom prst="rect">
            <a:avLst/>
          </a:prstGeom>
          <a:noFill/>
          <a:ln>
            <a:noFill/>
          </a:ln>
        </p:spPr>
        <p:txBody>
          <a:bodyPr anchorCtr="0" anchor="t" bIns="0" lIns="0" spcFirstLastPara="1" rIns="0" wrap="square" tIns="0">
            <a:spAutoFit/>
          </a:bodyPr>
          <a:lstStyle/>
          <a:p>
            <a:pPr indent="0" lvl="0" marL="0" rtl="0" algn="l">
              <a:spcBef>
                <a:spcPts val="1000"/>
              </a:spcBef>
              <a:spcAft>
                <a:spcPts val="0"/>
              </a:spcAft>
              <a:buNone/>
            </a:pPr>
            <a:r>
              <a:rPr lang="en-GB" sz="1200">
                <a:latin typeface="Kalam"/>
                <a:ea typeface="Kalam"/>
                <a:cs typeface="Kalam"/>
                <a:sym typeface="Kalam"/>
              </a:rPr>
              <a:t>E</a:t>
            </a:r>
            <a:r>
              <a:rPr lang="en-GB" sz="1200">
                <a:latin typeface="Kalam"/>
                <a:ea typeface="Kalam"/>
                <a:cs typeface="Kalam"/>
                <a:sym typeface="Kalam"/>
              </a:rPr>
              <a:t>xamples include:</a:t>
            </a:r>
            <a:endParaRPr sz="1200">
              <a:latin typeface="Kalam"/>
              <a:ea typeface="Kalam"/>
              <a:cs typeface="Kalam"/>
              <a:sym typeface="Kalam"/>
            </a:endParaRPr>
          </a:p>
          <a:p>
            <a:pPr indent="-304800" lvl="0" marL="457200" rtl="0" algn="l">
              <a:spcBef>
                <a:spcPts val="0"/>
              </a:spcBef>
              <a:spcAft>
                <a:spcPts val="0"/>
              </a:spcAft>
              <a:buSzPts val="1200"/>
              <a:buFont typeface="Kalam"/>
              <a:buChar char="●"/>
            </a:pPr>
            <a:r>
              <a:rPr lang="en-GB" sz="1200">
                <a:latin typeface="Kalam"/>
                <a:ea typeface="Kalam"/>
                <a:cs typeface="Kalam"/>
                <a:sym typeface="Kalam"/>
              </a:rPr>
              <a:t>Green parks - people in the city will have easier-to-access green spaces to enjoy walks, a relaxing space for their lunch, etc.</a:t>
            </a:r>
            <a:endParaRPr sz="1200">
              <a:latin typeface="Kalam"/>
              <a:ea typeface="Kalam"/>
              <a:cs typeface="Kalam"/>
              <a:sym typeface="Kalam"/>
            </a:endParaRPr>
          </a:p>
          <a:p>
            <a:pPr indent="-304800" lvl="0" marL="457200" rtl="0" algn="l">
              <a:spcBef>
                <a:spcPts val="0"/>
              </a:spcBef>
              <a:spcAft>
                <a:spcPts val="0"/>
              </a:spcAft>
              <a:buSzPts val="1200"/>
              <a:buFont typeface="Kalam"/>
              <a:buChar char="●"/>
            </a:pPr>
            <a:r>
              <a:rPr lang="en-GB" sz="1200">
                <a:latin typeface="Kalam"/>
                <a:ea typeface="Kalam"/>
                <a:cs typeface="Kalam"/>
                <a:sym typeface="Kalam"/>
              </a:rPr>
              <a:t>Improve public transport options - people may worry less about travelling to work on time on public transport. Options for travel are increased, or became more reliable.</a:t>
            </a:r>
            <a:endParaRPr sz="1200">
              <a:latin typeface="Kalam"/>
              <a:ea typeface="Kalam"/>
              <a:cs typeface="Kalam"/>
              <a:sym typeface="Kalam"/>
            </a:endParaRPr>
          </a:p>
        </p:txBody>
      </p:sp>
      <p:sp>
        <p:nvSpPr>
          <p:cNvPr id="122" name="Google Shape;122;p12"/>
          <p:cNvSpPr txBox="1"/>
          <p:nvPr/>
        </p:nvSpPr>
        <p:spPr>
          <a:xfrm>
            <a:off x="648580" y="6601417"/>
            <a:ext cx="6518100" cy="923400"/>
          </a:xfrm>
          <a:prstGeom prst="rect">
            <a:avLst/>
          </a:prstGeom>
          <a:noFill/>
          <a:ln>
            <a:noFill/>
          </a:ln>
        </p:spPr>
        <p:txBody>
          <a:bodyPr anchorCtr="0" anchor="t" bIns="0" lIns="0" spcFirstLastPara="1" rIns="0" wrap="square" tIns="0">
            <a:spAutoFit/>
          </a:bodyPr>
          <a:lstStyle/>
          <a:p>
            <a:pPr indent="0" lvl="0" marL="0" rtl="0" algn="l">
              <a:spcBef>
                <a:spcPts val="1000"/>
              </a:spcBef>
              <a:spcAft>
                <a:spcPts val="0"/>
              </a:spcAft>
              <a:buNone/>
            </a:pPr>
            <a:r>
              <a:rPr lang="en-GB" sz="1200">
                <a:latin typeface="Kalam"/>
                <a:ea typeface="Kalam"/>
                <a:cs typeface="Kalam"/>
                <a:sym typeface="Kalam"/>
              </a:rPr>
              <a:t>Examples include:</a:t>
            </a:r>
            <a:endParaRPr sz="1200">
              <a:latin typeface="Kalam"/>
              <a:ea typeface="Kalam"/>
              <a:cs typeface="Kalam"/>
              <a:sym typeface="Kalam"/>
            </a:endParaRPr>
          </a:p>
          <a:p>
            <a:pPr indent="-304800" lvl="0" marL="457200" rtl="0" algn="l">
              <a:spcBef>
                <a:spcPts val="0"/>
              </a:spcBef>
              <a:spcAft>
                <a:spcPts val="0"/>
              </a:spcAft>
              <a:buSzPts val="1200"/>
              <a:buFont typeface="Kalam"/>
              <a:buChar char="●"/>
            </a:pPr>
            <a:r>
              <a:rPr lang="en-GB" sz="1200">
                <a:latin typeface="Kalam"/>
                <a:ea typeface="Kalam"/>
                <a:cs typeface="Kalam"/>
                <a:sym typeface="Kalam"/>
              </a:rPr>
              <a:t>Improve public transport options - fewer people using cars on their own means a reduction in carbon emissions. This is especially true if the public transport uses electric vehicles.</a:t>
            </a:r>
            <a:endParaRPr sz="1200">
              <a:latin typeface="Kalam"/>
              <a:ea typeface="Kalam"/>
              <a:cs typeface="Kalam"/>
              <a:sym typeface="Kalam"/>
            </a:endParaRPr>
          </a:p>
          <a:p>
            <a:pPr indent="-304800" lvl="0" marL="457200" rtl="0" algn="l">
              <a:spcBef>
                <a:spcPts val="0"/>
              </a:spcBef>
              <a:spcAft>
                <a:spcPts val="0"/>
              </a:spcAft>
              <a:buSzPts val="1200"/>
              <a:buFont typeface="Kalam"/>
              <a:buChar char="●"/>
            </a:pPr>
            <a:r>
              <a:rPr lang="en-GB" sz="1200">
                <a:latin typeface="Kalam"/>
                <a:ea typeface="Kalam"/>
                <a:cs typeface="Kalam"/>
                <a:sym typeface="Kalam"/>
              </a:rPr>
              <a:t>Insulated buildings - the cost and energy consumption when heating a house during the winter can be very high.</a:t>
            </a:r>
            <a:endParaRPr sz="1200">
              <a:latin typeface="Kalam"/>
              <a:ea typeface="Kalam"/>
              <a:cs typeface="Kalam"/>
              <a:sym typeface="Kalam"/>
            </a:endParaRPr>
          </a:p>
        </p:txBody>
      </p:sp>
      <p:sp>
        <p:nvSpPr>
          <p:cNvPr id="123" name="Google Shape;123;p12"/>
          <p:cNvSpPr txBox="1"/>
          <p:nvPr/>
        </p:nvSpPr>
        <p:spPr>
          <a:xfrm>
            <a:off x="674457" y="9018804"/>
            <a:ext cx="62997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Old cities that have grown larger over time may not have grown with </a:t>
            </a:r>
            <a:r>
              <a:rPr b="1" lang="en-GB" sz="1200">
                <a:solidFill>
                  <a:srgbClr val="000000"/>
                </a:solidFill>
                <a:latin typeface="Kalam"/>
                <a:ea typeface="Kalam"/>
                <a:cs typeface="Kalam"/>
                <a:sym typeface="Kalam"/>
              </a:rPr>
              <a:t>urban</a:t>
            </a:r>
            <a:r>
              <a:rPr lang="en-GB" sz="1200">
                <a:solidFill>
                  <a:srgbClr val="000000"/>
                </a:solidFill>
                <a:latin typeface="Kalam"/>
                <a:ea typeface="Kalam"/>
                <a:cs typeface="Kalam"/>
                <a:sym typeface="Kalam"/>
              </a:rPr>
              <a:t> greening in mind.</a:t>
            </a:r>
            <a:endParaRPr sz="1200">
              <a:solidFill>
                <a:srgbClr val="000000"/>
              </a:solidFill>
              <a:latin typeface="Kalam"/>
              <a:ea typeface="Kalam"/>
              <a:cs typeface="Kalam"/>
              <a:sym typeface="Kalam"/>
            </a:endParaRPr>
          </a:p>
          <a:p>
            <a:pPr indent="0" lvl="0" marL="0" rtl="0" algn="l">
              <a:spcBef>
                <a:spcPts val="0"/>
              </a:spcBef>
              <a:spcAft>
                <a:spcPts val="0"/>
              </a:spcAft>
              <a:buNone/>
            </a:pPr>
            <a:r>
              <a:rPr lang="en-GB" sz="1200">
                <a:solidFill>
                  <a:srgbClr val="000000"/>
                </a:solidFill>
                <a:latin typeface="Kalam"/>
                <a:ea typeface="Kalam"/>
                <a:cs typeface="Kalam"/>
                <a:sym typeface="Kalam"/>
              </a:rPr>
              <a:t>This means these cities may not have the space for urban green parks, or the roads may not be wide enough to accommodate cycle lanes, routes for large buses, trains or trams, etc.</a:t>
            </a:r>
            <a:endParaRPr sz="1200">
              <a:solidFill>
                <a:srgbClr val="000000"/>
              </a:solidFill>
              <a:latin typeface="Kalam"/>
              <a:ea typeface="Kalam"/>
              <a:cs typeface="Kalam"/>
              <a:sym typeface="Kalam"/>
            </a:endParaRPr>
          </a:p>
        </p:txBody>
      </p:sp>
      <p:cxnSp>
        <p:nvCxnSpPr>
          <p:cNvPr id="124" name="Google Shape;124;p12"/>
          <p:cNvCxnSpPr/>
          <p:nvPr/>
        </p:nvCxnSpPr>
        <p:spPr>
          <a:xfrm>
            <a:off x="482701" y="9954310"/>
            <a:ext cx="6610500" cy="0"/>
          </a:xfrm>
          <a:prstGeom prst="straightConnector1">
            <a:avLst/>
          </a:prstGeom>
          <a:noFill/>
          <a:ln cap="flat" cmpd="sng" w="38100">
            <a:solidFill>
              <a:srgbClr val="00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3"/>
          <p:cNvSpPr txBox="1"/>
          <p:nvPr/>
        </p:nvSpPr>
        <p:spPr>
          <a:xfrm>
            <a:off x="647475" y="4720875"/>
            <a:ext cx="6448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The quantity of transport carbon emission per person is: 0.0045 kt (2 s.f.)</a:t>
            </a:r>
            <a:br>
              <a:rPr lang="en-GB" sz="1200">
                <a:solidFill>
                  <a:srgbClr val="000000"/>
                </a:solidFill>
                <a:latin typeface="Kalam"/>
                <a:ea typeface="Kalam"/>
                <a:cs typeface="Kalam"/>
                <a:sym typeface="Kalam"/>
              </a:rPr>
            </a:br>
            <a:r>
              <a:rPr lang="en-GB" sz="1200">
                <a:latin typeface="Kalam"/>
                <a:ea typeface="Kalam"/>
                <a:cs typeface="Kalam"/>
                <a:sym typeface="Kalam"/>
              </a:rPr>
              <a:t>The percentage area of the city available for renewal is 23% (2 s.f.)</a:t>
            </a:r>
            <a:br>
              <a:rPr lang="en-GB" sz="1200">
                <a:latin typeface="Kalam"/>
                <a:ea typeface="Kalam"/>
                <a:cs typeface="Kalam"/>
                <a:sym typeface="Kalam"/>
              </a:rPr>
            </a:br>
            <a:r>
              <a:rPr lang="en-GB" sz="1200">
                <a:latin typeface="Kalam"/>
                <a:ea typeface="Kalam"/>
                <a:cs typeface="Kalam"/>
                <a:sym typeface="Kalam"/>
              </a:rPr>
              <a:t>The average daily amount of sunshine is 3.7 hours (2 s.f.)</a:t>
            </a:r>
            <a:endParaRPr sz="1200">
              <a:latin typeface="Kalam"/>
              <a:ea typeface="Kalam"/>
              <a:cs typeface="Kalam"/>
              <a:sym typeface="Kalam"/>
            </a:endParaRPr>
          </a:p>
        </p:txBody>
      </p:sp>
      <p:sp>
        <p:nvSpPr>
          <p:cNvPr id="130" name="Google Shape;130;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31" name="Google Shape;131;p13"/>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Making cities greener</a:t>
            </a:r>
            <a:endParaRPr/>
          </a:p>
        </p:txBody>
      </p:sp>
      <p:sp>
        <p:nvSpPr>
          <p:cNvPr id="132" name="Google Shape;132;p13"/>
          <p:cNvSpPr txBox="1"/>
          <p:nvPr>
            <p:ph idx="2" type="subTitle"/>
          </p:nvPr>
        </p:nvSpPr>
        <p:spPr>
          <a:xfrm>
            <a:off x="39795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133" name="Google Shape;133;p13"/>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v2.4</a:t>
            </a:r>
            <a:endParaRPr sz="1000">
              <a:solidFill>
                <a:srgbClr val="FFFFFF"/>
              </a:solidFill>
              <a:latin typeface="Lexend"/>
              <a:ea typeface="Lexend"/>
              <a:cs typeface="Lexend"/>
              <a:sym typeface="Lexend"/>
            </a:endParaRPr>
          </a:p>
        </p:txBody>
      </p:sp>
      <p:sp>
        <p:nvSpPr>
          <p:cNvPr id="134" name="Google Shape;134;p13"/>
          <p:cNvSpPr txBox="1"/>
          <p:nvPr/>
        </p:nvSpPr>
        <p:spPr>
          <a:xfrm>
            <a:off x="491525" y="573050"/>
            <a:ext cx="66006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a:t>
            </a:r>
            <a:r>
              <a:rPr b="1" lang="en-GB">
                <a:latin typeface="Lexend"/>
                <a:ea typeface="Lexend"/>
                <a:cs typeface="Lexend"/>
                <a:sym typeface="Lexend"/>
              </a:rPr>
              <a:t>B</a:t>
            </a:r>
            <a:r>
              <a:rPr b="1" lang="en-GB">
                <a:solidFill>
                  <a:srgbClr val="000000"/>
                </a:solidFill>
                <a:latin typeface="Lexend"/>
                <a:ea typeface="Lexend"/>
                <a:cs typeface="Lexend"/>
                <a:sym typeface="Lexend"/>
              </a:rPr>
              <a:t>: </a:t>
            </a:r>
            <a:r>
              <a:rPr b="1" lang="en-GB">
                <a:latin typeface="Lexend"/>
                <a:ea typeface="Lexend"/>
                <a:cs typeface="Lexend"/>
                <a:sym typeface="Lexend"/>
              </a:rPr>
              <a:t>The maths behind urban greening</a:t>
            </a:r>
            <a:endParaRPr b="1">
              <a:solidFill>
                <a:srgbClr val="000000"/>
              </a:solidFill>
              <a:latin typeface="Lexend"/>
              <a:ea typeface="Lexend"/>
              <a:cs typeface="Lexend"/>
              <a:sym typeface="Lexend"/>
            </a:endParaRPr>
          </a:p>
        </p:txBody>
      </p:sp>
      <p:graphicFrame>
        <p:nvGraphicFramePr>
          <p:cNvPr id="135" name="Google Shape;135;p13"/>
          <p:cNvGraphicFramePr/>
          <p:nvPr/>
        </p:nvGraphicFramePr>
        <p:xfrm>
          <a:off x="660825" y="1658908"/>
          <a:ext cx="3000000" cy="3000000"/>
        </p:xfrm>
        <a:graphic>
          <a:graphicData uri="http://schemas.openxmlformats.org/drawingml/2006/table">
            <a:tbl>
              <a:tblPr>
                <a:noFill/>
                <a:tableStyleId>{702CA70F-2494-4DD9-BC18-F96BCF29EC09}</a:tableStyleId>
              </a:tblPr>
              <a:tblGrid>
                <a:gridCol w="1547250"/>
                <a:gridCol w="947900"/>
              </a:tblGrid>
              <a:tr h="480000">
                <a:tc>
                  <a:txBody>
                    <a:bodyPr/>
                    <a:lstStyle/>
                    <a:p>
                      <a:pPr indent="0" lvl="0" marL="0" rtl="0" algn="l">
                        <a:spcBef>
                          <a:spcPts val="0"/>
                        </a:spcBef>
                        <a:spcAft>
                          <a:spcPts val="0"/>
                        </a:spcAft>
                        <a:buNone/>
                      </a:pPr>
                      <a:r>
                        <a:rPr lang="en-GB" sz="1200">
                          <a:latin typeface="Lexend"/>
                          <a:ea typeface="Lexend"/>
                          <a:cs typeface="Lexend"/>
                          <a:sym typeface="Lexend"/>
                        </a:rPr>
                        <a:t> transport carbon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emissions</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461.3</a:t>
                      </a:r>
                      <a:r>
                        <a:rPr lang="en-GB" sz="1200">
                          <a:latin typeface="Lexend"/>
                          <a:ea typeface="Lexend"/>
                          <a:cs typeface="Lexend"/>
                          <a:sym typeface="Lexend"/>
                        </a:rPr>
                        <a:t> kt </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40000">
                <a:tc>
                  <a:txBody>
                    <a:bodyPr/>
                    <a:lstStyle/>
                    <a:p>
                      <a:pPr indent="0" lvl="0" marL="0" rtl="0" algn="l">
                        <a:spcBef>
                          <a:spcPts val="0"/>
                        </a:spcBef>
                        <a:spcAft>
                          <a:spcPts val="0"/>
                        </a:spcAft>
                        <a:buNone/>
                      </a:pPr>
                      <a:r>
                        <a:rPr lang="en-GB" sz="1200">
                          <a:latin typeface="Lexend"/>
                          <a:ea typeface="Lexend"/>
                          <a:cs typeface="Lexend"/>
                          <a:sym typeface="Lexend"/>
                        </a:rPr>
                        <a:t> population</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102 504</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40000">
                <a:tc>
                  <a:txBody>
                    <a:bodyPr/>
                    <a:lstStyle/>
                    <a:p>
                      <a:pPr indent="0" lvl="0" marL="0" rtl="0" algn="l">
                        <a:spcBef>
                          <a:spcPts val="0"/>
                        </a:spcBef>
                        <a:spcAft>
                          <a:spcPts val="0"/>
                        </a:spcAft>
                        <a:buNone/>
                      </a:pPr>
                      <a:r>
                        <a:rPr lang="en-GB" sz="1200">
                          <a:latin typeface="Lexend"/>
                          <a:ea typeface="Lexend"/>
                          <a:cs typeface="Lexend"/>
                          <a:sym typeface="Lexend"/>
                        </a:rPr>
                        <a:t> total area of city</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98 km²</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0000">
                <a:tc>
                  <a:txBody>
                    <a:bodyPr/>
                    <a:lstStyle/>
                    <a:p>
                      <a:pPr indent="0" lvl="0" marL="0" rtl="0" algn="l">
                        <a:spcBef>
                          <a:spcPts val="0"/>
                        </a:spcBef>
                        <a:spcAft>
                          <a:spcPts val="0"/>
                        </a:spcAft>
                        <a:buNone/>
                      </a:pPr>
                      <a:r>
                        <a:rPr lang="en-GB" sz="1200">
                          <a:latin typeface="Lexend"/>
                          <a:ea typeface="Lexend"/>
                          <a:cs typeface="Lexend"/>
                          <a:sym typeface="Lexend"/>
                        </a:rPr>
                        <a:t> area available for</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renewal</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23 km²</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40000">
                <a:tc>
                  <a:txBody>
                    <a:bodyPr/>
                    <a:lstStyle/>
                    <a:p>
                      <a:pPr indent="0" lvl="0" marL="0" rtl="0" algn="l">
                        <a:spcBef>
                          <a:spcPts val="0"/>
                        </a:spcBef>
                        <a:spcAft>
                          <a:spcPts val="0"/>
                        </a:spcAft>
                        <a:buNone/>
                      </a:pPr>
                      <a:r>
                        <a:rPr lang="en-GB" sz="1200">
                          <a:latin typeface="Lexend"/>
                          <a:ea typeface="Lexend"/>
                          <a:cs typeface="Lexend"/>
                          <a:sym typeface="Lexend"/>
                        </a:rPr>
                        <a:t> area of bus depot.</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7500 m²</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80000">
                <a:tc>
                  <a:txBody>
                    <a:bodyPr/>
                    <a:lstStyle/>
                    <a:p>
                      <a:pPr indent="0" lvl="0" marL="0" rtl="0" algn="l">
                        <a:spcBef>
                          <a:spcPts val="0"/>
                        </a:spcBef>
                        <a:spcAft>
                          <a:spcPts val="0"/>
                        </a:spcAft>
                        <a:buNone/>
                      </a:pPr>
                      <a:r>
                        <a:rPr lang="en-GB" sz="1200">
                          <a:latin typeface="Lexend"/>
                          <a:ea typeface="Lexend"/>
                          <a:cs typeface="Lexend"/>
                          <a:sym typeface="Lexend"/>
                        </a:rPr>
                        <a:t> yearly total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sunshine hours</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1356 hours</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36" name="Google Shape;136;p13"/>
          <p:cNvSpPr txBox="1"/>
          <p:nvPr/>
        </p:nvSpPr>
        <p:spPr>
          <a:xfrm>
            <a:off x="476400" y="1105375"/>
            <a:ext cx="6600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1) The </a:t>
            </a:r>
            <a:r>
              <a:rPr b="1" lang="en-GB" sz="1200">
                <a:solidFill>
                  <a:srgbClr val="000000"/>
                </a:solidFill>
                <a:latin typeface="Lexend"/>
                <a:ea typeface="Lexend"/>
                <a:cs typeface="Lexend"/>
                <a:sym typeface="Lexend"/>
              </a:rPr>
              <a:t>urban </a:t>
            </a:r>
            <a:r>
              <a:rPr lang="en-GB" sz="1200">
                <a:solidFill>
                  <a:srgbClr val="000000"/>
                </a:solidFill>
                <a:latin typeface="Lexend"/>
                <a:ea typeface="Lexend"/>
                <a:cs typeface="Lexend"/>
                <a:sym typeface="Lexend"/>
              </a:rPr>
              <a:t>city of Oakfield has been given £ 10 000 000 of funding to start an </a:t>
            </a:r>
            <a:r>
              <a:rPr b="1" lang="en-GB" sz="1200">
                <a:solidFill>
                  <a:srgbClr val="000000"/>
                </a:solidFill>
                <a:latin typeface="Lexend"/>
                <a:ea typeface="Lexend"/>
                <a:cs typeface="Lexend"/>
                <a:sym typeface="Lexend"/>
              </a:rPr>
              <a:t>urban </a:t>
            </a:r>
            <a:br>
              <a:rPr b="1" lang="en-GB" sz="1200">
                <a:solidFill>
                  <a:srgbClr val="000000"/>
                </a:solidFill>
                <a:latin typeface="Lexend"/>
                <a:ea typeface="Lexend"/>
                <a:cs typeface="Lexend"/>
                <a:sym typeface="Lexend"/>
              </a:rPr>
            </a:br>
            <a:r>
              <a:rPr b="1" lang="en-GB" sz="1200">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greening initiative.</a:t>
            </a:r>
            <a:endParaRPr sz="1200">
              <a:solidFill>
                <a:srgbClr val="000000"/>
              </a:solidFill>
              <a:latin typeface="Lexend"/>
              <a:ea typeface="Lexend"/>
              <a:cs typeface="Lexend"/>
              <a:sym typeface="Lexend"/>
            </a:endParaRPr>
          </a:p>
        </p:txBody>
      </p:sp>
      <p:graphicFrame>
        <p:nvGraphicFramePr>
          <p:cNvPr id="137" name="Google Shape;137;p13"/>
          <p:cNvGraphicFramePr/>
          <p:nvPr/>
        </p:nvGraphicFramePr>
        <p:xfrm>
          <a:off x="3475508" y="1658908"/>
          <a:ext cx="3000000" cy="3000000"/>
        </p:xfrm>
        <a:graphic>
          <a:graphicData uri="http://schemas.openxmlformats.org/drawingml/2006/table">
            <a:tbl>
              <a:tblPr>
                <a:noFill/>
                <a:tableStyleId>{702CA70F-2494-4DD9-BC18-F96BCF29EC09}</a:tableStyleId>
              </a:tblPr>
              <a:tblGrid>
                <a:gridCol w="2628800"/>
                <a:gridCol w="972700"/>
              </a:tblGrid>
              <a:tr h="590150">
                <a:tc>
                  <a:txBody>
                    <a:bodyPr/>
                    <a:lstStyle/>
                    <a:p>
                      <a:pPr indent="0" lvl="0" marL="0" rtl="0" algn="l">
                        <a:spcBef>
                          <a:spcPts val="0"/>
                        </a:spcBef>
                        <a:spcAft>
                          <a:spcPts val="0"/>
                        </a:spcAft>
                        <a:buNone/>
                      </a:pPr>
                      <a:r>
                        <a:rPr lang="en-GB" sz="1200">
                          <a:latin typeface="Lexend"/>
                          <a:ea typeface="Lexend"/>
                          <a:cs typeface="Lexend"/>
                          <a:sym typeface="Lexend"/>
                        </a:rPr>
                        <a:t> planting trees along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streets (requires average of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3.5 hours of daily sunshine)</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£17 000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per km²</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87825">
                <a:tc>
                  <a:txBody>
                    <a:bodyPr/>
                    <a:lstStyle/>
                    <a:p>
                      <a:pPr indent="0" lvl="0" marL="0" rtl="0" algn="l">
                        <a:spcBef>
                          <a:spcPts val="0"/>
                        </a:spcBef>
                        <a:spcAft>
                          <a:spcPts val="0"/>
                        </a:spcAft>
                        <a:buNone/>
                      </a:pPr>
                      <a:r>
                        <a:rPr lang="en-GB" sz="1200">
                          <a:latin typeface="Lexend"/>
                          <a:ea typeface="Lexend"/>
                          <a:cs typeface="Lexend"/>
                          <a:sym typeface="Lexend"/>
                        </a:rPr>
                        <a:t> cycle lanes (suggested only if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transport carbon emissions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per person are over 0.004 kt)</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£4 100 000</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1900">
                <a:tc>
                  <a:txBody>
                    <a:bodyPr/>
                    <a:lstStyle/>
                    <a:p>
                      <a:pPr indent="0" lvl="0" marL="0" rtl="0" algn="l">
                        <a:spcBef>
                          <a:spcPts val="0"/>
                        </a:spcBef>
                        <a:spcAft>
                          <a:spcPts val="0"/>
                        </a:spcAft>
                        <a:buNone/>
                      </a:pPr>
                      <a:r>
                        <a:rPr lang="en-GB" sz="1200">
                          <a:latin typeface="Lexend"/>
                          <a:ea typeface="Lexend"/>
                          <a:cs typeface="Lexend"/>
                          <a:sym typeface="Lexend"/>
                        </a:rPr>
                        <a:t> urban park renewal (requires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25% of city area to be available)</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£35 000 </a:t>
                      </a:r>
                      <a:br>
                        <a:rPr lang="en-GB" sz="1200">
                          <a:latin typeface="Lexend"/>
                          <a:ea typeface="Lexend"/>
                          <a:cs typeface="Lexend"/>
                          <a:sym typeface="Lexend"/>
                        </a:rPr>
                      </a:br>
                      <a:r>
                        <a:rPr lang="en-GB" sz="1200">
                          <a:latin typeface="Lexend"/>
                          <a:ea typeface="Lexend"/>
                          <a:cs typeface="Lexend"/>
                          <a:sym typeface="Lexend"/>
                        </a:rPr>
                        <a:t>per km²</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0150">
                <a:tc>
                  <a:txBody>
                    <a:bodyPr/>
                    <a:lstStyle/>
                    <a:p>
                      <a:pPr indent="0" lvl="0" marL="0" rtl="0" algn="l">
                        <a:spcBef>
                          <a:spcPts val="0"/>
                        </a:spcBef>
                        <a:spcAft>
                          <a:spcPts val="0"/>
                        </a:spcAft>
                        <a:buNone/>
                      </a:pPr>
                      <a:r>
                        <a:rPr lang="en-GB" sz="1200">
                          <a:latin typeface="Lexend"/>
                          <a:ea typeface="Lexend"/>
                          <a:cs typeface="Lexend"/>
                          <a:sym typeface="Lexend"/>
                        </a:rPr>
                        <a:t> electric, zero-emission buses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(area of 200 m² required per bus)</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£320 000 </a:t>
                      </a:r>
                      <a:br>
                        <a:rPr lang="en-GB" sz="1200">
                          <a:latin typeface="Lexend"/>
                          <a:ea typeface="Lexend"/>
                          <a:cs typeface="Lexend"/>
                          <a:sym typeface="Lexend"/>
                        </a:rPr>
                      </a:br>
                      <a:r>
                        <a:rPr lang="en-GB" sz="1200">
                          <a:latin typeface="Lexend"/>
                          <a:ea typeface="Lexend"/>
                          <a:cs typeface="Lexend"/>
                          <a:sym typeface="Lexend"/>
                        </a:rPr>
                        <a:t>per bus</a:t>
                      </a:r>
                      <a:endParaRPr sz="1200">
                        <a:latin typeface="Lexend"/>
                        <a:ea typeface="Lexend"/>
                        <a:cs typeface="Lexend"/>
                        <a:sym typeface="Lexend"/>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38" name="Google Shape;138;p13"/>
          <p:cNvSpPr txBox="1"/>
          <p:nvPr/>
        </p:nvSpPr>
        <p:spPr>
          <a:xfrm>
            <a:off x="628800" y="4077175"/>
            <a:ext cx="6448200" cy="554100"/>
          </a:xfrm>
          <a:prstGeom prst="rect">
            <a:avLst/>
          </a:prstGeom>
          <a:noFill/>
          <a:ln>
            <a:noFill/>
          </a:ln>
        </p:spPr>
        <p:txBody>
          <a:bodyPr anchorCtr="0" anchor="t" bIns="0" lIns="0" spcFirstLastPara="1" rIns="0" wrap="square" tIns="0">
            <a:spAutoFit/>
          </a:bodyPr>
          <a:lstStyle/>
          <a:p>
            <a:pPr indent="0" lvl="0" marL="0" rtl="0" algn="l">
              <a:spcBef>
                <a:spcPts val="1000"/>
              </a:spcBef>
              <a:spcAft>
                <a:spcPts val="0"/>
              </a:spcAft>
              <a:buNone/>
            </a:pPr>
            <a:r>
              <a:rPr lang="en-GB" sz="1200">
                <a:solidFill>
                  <a:srgbClr val="000000"/>
                </a:solidFill>
                <a:latin typeface="Lexend"/>
                <a:ea typeface="Lexend"/>
                <a:cs typeface="Lexend"/>
                <a:sym typeface="Lexend"/>
              </a:rPr>
              <a:t>Using the tables of information about Oakfield and the cost of each </a:t>
            </a:r>
            <a:r>
              <a:rPr b="1" lang="en-GB" sz="1200">
                <a:solidFill>
                  <a:srgbClr val="000000"/>
                </a:solidFill>
                <a:latin typeface="Lexend"/>
                <a:ea typeface="Lexend"/>
                <a:cs typeface="Lexend"/>
                <a:sym typeface="Lexend"/>
              </a:rPr>
              <a:t>urban </a:t>
            </a:r>
            <a:r>
              <a:rPr lang="en-GB" sz="1200">
                <a:solidFill>
                  <a:srgbClr val="000000"/>
                </a:solidFill>
                <a:latin typeface="Lexend"/>
                <a:ea typeface="Lexend"/>
                <a:cs typeface="Lexend"/>
                <a:sym typeface="Lexend"/>
              </a:rPr>
              <a:t>greening strategy, recommend a set of effective </a:t>
            </a:r>
            <a:r>
              <a:rPr b="1" lang="en-GB" sz="1200">
                <a:solidFill>
                  <a:srgbClr val="000000"/>
                </a:solidFill>
                <a:latin typeface="Lexend"/>
                <a:ea typeface="Lexend"/>
                <a:cs typeface="Lexend"/>
                <a:sym typeface="Lexend"/>
              </a:rPr>
              <a:t>urban</a:t>
            </a:r>
            <a:r>
              <a:rPr lang="en-GB" sz="1200">
                <a:solidFill>
                  <a:srgbClr val="000000"/>
                </a:solidFill>
                <a:latin typeface="Lexend"/>
                <a:ea typeface="Lexend"/>
                <a:cs typeface="Lexend"/>
                <a:sym typeface="Lexend"/>
              </a:rPr>
              <a:t> greening strategies (and how much of the city it will apply to) that Oakfield can afford to implement.</a:t>
            </a:r>
            <a:endParaRPr sz="1200">
              <a:solidFill>
                <a:srgbClr val="000000"/>
              </a:solidFill>
              <a:latin typeface="Lexend"/>
              <a:ea typeface="Lexend"/>
              <a:cs typeface="Lexend"/>
              <a:sym typeface="Lexend"/>
            </a:endParaRPr>
          </a:p>
        </p:txBody>
      </p:sp>
      <p:sp>
        <p:nvSpPr>
          <p:cNvPr id="139" name="Google Shape;139;p13"/>
          <p:cNvSpPr txBox="1"/>
          <p:nvPr/>
        </p:nvSpPr>
        <p:spPr>
          <a:xfrm>
            <a:off x="476400" y="8496775"/>
            <a:ext cx="70836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2) Discuss possible limitations of your proposed </a:t>
            </a:r>
            <a:r>
              <a:rPr b="1" lang="en-GB" sz="1200">
                <a:solidFill>
                  <a:srgbClr val="000000"/>
                </a:solidFill>
                <a:latin typeface="Lexend"/>
                <a:ea typeface="Lexend"/>
                <a:cs typeface="Lexend"/>
                <a:sym typeface="Lexend"/>
              </a:rPr>
              <a:t>urban</a:t>
            </a:r>
            <a:r>
              <a:rPr lang="en-GB" sz="1200">
                <a:solidFill>
                  <a:srgbClr val="000000"/>
                </a:solidFill>
                <a:latin typeface="Lexend"/>
                <a:ea typeface="Lexend"/>
                <a:cs typeface="Lexend"/>
                <a:sym typeface="Lexend"/>
              </a:rPr>
              <a:t> greening initiative in question 1.</a:t>
            </a:r>
            <a:endParaRPr sz="1200">
              <a:solidFill>
                <a:srgbClr val="000000"/>
              </a:solidFill>
              <a:latin typeface="Lexend"/>
              <a:ea typeface="Lexend"/>
              <a:cs typeface="Lexend"/>
              <a:sym typeface="Lexend"/>
            </a:endParaRPr>
          </a:p>
        </p:txBody>
      </p:sp>
      <p:graphicFrame>
        <p:nvGraphicFramePr>
          <p:cNvPr id="140" name="Google Shape;140;p13"/>
          <p:cNvGraphicFramePr/>
          <p:nvPr/>
        </p:nvGraphicFramePr>
        <p:xfrm>
          <a:off x="4257600" y="5381428"/>
          <a:ext cx="3000000" cy="3000000"/>
        </p:xfrm>
        <a:graphic>
          <a:graphicData uri="http://schemas.openxmlformats.org/drawingml/2006/table">
            <a:tbl>
              <a:tblPr>
                <a:noFill/>
                <a:tableStyleId>{702CA70F-2494-4DD9-BC18-F96BCF29EC09}</a:tableStyleId>
              </a:tblPr>
              <a:tblGrid>
                <a:gridCol w="2676725"/>
              </a:tblGrid>
              <a:tr h="590150">
                <a:tc>
                  <a:txBody>
                    <a:bodyPr/>
                    <a:lstStyle/>
                    <a:p>
                      <a:pPr indent="0" lvl="0" marL="0" rtl="0" algn="l">
                        <a:spcBef>
                          <a:spcPts val="0"/>
                        </a:spcBef>
                        <a:spcAft>
                          <a:spcPts val="0"/>
                        </a:spcAft>
                        <a:buNone/>
                      </a:pPr>
                      <a:r>
                        <a:rPr lang="en-GB" sz="1200">
                          <a:latin typeface="Kalam"/>
                          <a:ea typeface="Kalam"/>
                          <a:cs typeface="Kalam"/>
                          <a:sym typeface="Kalam"/>
                        </a:rPr>
                        <a:t>At 3.7 hours per day average, this strategy is available.</a:t>
                      </a:r>
                      <a:endParaRPr sz="1200">
                        <a:latin typeface="Kalam"/>
                        <a:ea typeface="Kalam"/>
                        <a:cs typeface="Kalam"/>
                        <a:sym typeface="Kalam"/>
                      </a:endParaRPr>
                    </a:p>
                  </a:txBody>
                  <a:tcPr marT="0" marB="0" marR="0" marL="36000" anchor="ctr"/>
                </a:tc>
              </a:tr>
              <a:tr h="587825">
                <a:tc>
                  <a:txBody>
                    <a:bodyPr/>
                    <a:lstStyle/>
                    <a:p>
                      <a:pPr indent="0" lvl="0" marL="0" rtl="0" algn="l">
                        <a:spcBef>
                          <a:spcPts val="0"/>
                        </a:spcBef>
                        <a:spcAft>
                          <a:spcPts val="0"/>
                        </a:spcAft>
                        <a:buNone/>
                      </a:pPr>
                      <a:r>
                        <a:rPr lang="en-GB" sz="1200">
                          <a:latin typeface="Kalam"/>
                          <a:ea typeface="Kalam"/>
                          <a:cs typeface="Kalam"/>
                          <a:sym typeface="Kalam"/>
                        </a:rPr>
                        <a:t>At 0.0045 kt per person, this strategy is available.</a:t>
                      </a:r>
                      <a:endParaRPr sz="1200">
                        <a:latin typeface="Kalam"/>
                        <a:ea typeface="Kalam"/>
                        <a:cs typeface="Kalam"/>
                        <a:sym typeface="Kalam"/>
                      </a:endParaRPr>
                    </a:p>
                  </a:txBody>
                  <a:tcPr marT="0" marB="0" marR="0" marL="36000" anchor="ctr"/>
                </a:tc>
              </a:tr>
              <a:tr h="391900">
                <a:tc>
                  <a:txBody>
                    <a:bodyPr/>
                    <a:lstStyle/>
                    <a:p>
                      <a:pPr indent="0" lvl="0" marL="0" rtl="0" algn="l">
                        <a:spcBef>
                          <a:spcPts val="0"/>
                        </a:spcBef>
                        <a:spcAft>
                          <a:spcPts val="0"/>
                        </a:spcAft>
                        <a:buNone/>
                      </a:pPr>
                      <a:r>
                        <a:rPr lang="en-GB" sz="1200">
                          <a:latin typeface="Kalam"/>
                          <a:ea typeface="Kalam"/>
                          <a:cs typeface="Kalam"/>
                          <a:sym typeface="Kalam"/>
                        </a:rPr>
                        <a:t>At only 23% area available, this strategy is not available. </a:t>
                      </a:r>
                      <a:endParaRPr sz="1200">
                        <a:latin typeface="Kalam"/>
                        <a:ea typeface="Kalam"/>
                        <a:cs typeface="Kalam"/>
                        <a:sym typeface="Kalam"/>
                      </a:endParaRPr>
                    </a:p>
                  </a:txBody>
                  <a:tcPr marT="0" marB="0" marR="0" marL="36000" anchor="ctr"/>
                </a:tc>
              </a:tr>
              <a:tr h="590150">
                <a:tc>
                  <a:txBody>
                    <a:bodyPr/>
                    <a:lstStyle/>
                    <a:p>
                      <a:pPr indent="0" lvl="0" marL="0" rtl="0" algn="l">
                        <a:spcBef>
                          <a:spcPts val="0"/>
                        </a:spcBef>
                        <a:spcAft>
                          <a:spcPts val="0"/>
                        </a:spcAft>
                        <a:buNone/>
                      </a:pPr>
                      <a:r>
                        <a:rPr lang="en-GB" sz="1200">
                          <a:latin typeface="Kalam"/>
                          <a:ea typeface="Kalam"/>
                          <a:cs typeface="Kalam"/>
                          <a:sym typeface="Kalam"/>
                        </a:rPr>
                        <a:t>A maximum of 37 buses can fit in the depot.</a:t>
                      </a:r>
                      <a:endParaRPr sz="1200">
                        <a:latin typeface="Kalam"/>
                        <a:ea typeface="Kalam"/>
                        <a:cs typeface="Kalam"/>
                        <a:sym typeface="Kalam"/>
                      </a:endParaRPr>
                    </a:p>
                  </a:txBody>
                  <a:tcPr marT="0" marB="0" marR="0" marL="36000" anchor="ctr"/>
                </a:tc>
              </a:tr>
            </a:tbl>
          </a:graphicData>
        </a:graphic>
      </p:graphicFrame>
      <p:graphicFrame>
        <p:nvGraphicFramePr>
          <p:cNvPr id="141" name="Google Shape;141;p13"/>
          <p:cNvGraphicFramePr/>
          <p:nvPr/>
        </p:nvGraphicFramePr>
        <p:xfrm>
          <a:off x="656108" y="5381436"/>
          <a:ext cx="3000000" cy="3000000"/>
        </p:xfrm>
        <a:graphic>
          <a:graphicData uri="http://schemas.openxmlformats.org/drawingml/2006/table">
            <a:tbl>
              <a:tblPr>
                <a:noFill/>
                <a:tableStyleId>{702CA70F-2494-4DD9-BC18-F96BCF29EC09}</a:tableStyleId>
              </a:tblPr>
              <a:tblGrid>
                <a:gridCol w="2628800"/>
                <a:gridCol w="972700"/>
              </a:tblGrid>
              <a:tr h="590150">
                <a:tc>
                  <a:txBody>
                    <a:bodyPr/>
                    <a:lstStyle/>
                    <a:p>
                      <a:pPr indent="0" lvl="0" marL="0" rtl="0" algn="l">
                        <a:spcBef>
                          <a:spcPts val="0"/>
                        </a:spcBef>
                        <a:spcAft>
                          <a:spcPts val="0"/>
                        </a:spcAft>
                        <a:buNone/>
                      </a:pPr>
                      <a:r>
                        <a:rPr lang="en-GB" sz="1200">
                          <a:latin typeface="Lexend"/>
                          <a:ea typeface="Lexend"/>
                          <a:cs typeface="Lexend"/>
                          <a:sym typeface="Lexend"/>
                        </a:rPr>
                        <a:t> planting trees along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streets (requires average of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3.5 hours of daily sunshine)</a:t>
                      </a:r>
                      <a:endParaRPr sz="1200">
                        <a:latin typeface="Lexend"/>
                        <a:ea typeface="Lexend"/>
                        <a:cs typeface="Lexend"/>
                        <a:sym typeface="Lexend"/>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200">
                          <a:solidFill>
                            <a:srgbClr val="000000"/>
                          </a:solidFill>
                          <a:latin typeface="Lexend"/>
                          <a:ea typeface="Lexend"/>
                          <a:cs typeface="Lexend"/>
                          <a:sym typeface="Lexend"/>
                        </a:rPr>
                        <a:t>£17 000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per km²</a:t>
                      </a:r>
                      <a:endParaRPr sz="1200">
                        <a:latin typeface="Lexend"/>
                        <a:ea typeface="Lexend"/>
                        <a:cs typeface="Lexend"/>
                        <a:sym typeface="Lexend"/>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7825">
                <a:tc>
                  <a:txBody>
                    <a:bodyPr/>
                    <a:lstStyle/>
                    <a:p>
                      <a:pPr indent="0" lvl="0" marL="0" rtl="0" algn="l">
                        <a:spcBef>
                          <a:spcPts val="0"/>
                        </a:spcBef>
                        <a:spcAft>
                          <a:spcPts val="0"/>
                        </a:spcAft>
                        <a:buNone/>
                      </a:pPr>
                      <a:r>
                        <a:rPr lang="en-GB" sz="1200">
                          <a:latin typeface="Lexend"/>
                          <a:ea typeface="Lexend"/>
                          <a:cs typeface="Lexend"/>
                          <a:sym typeface="Lexend"/>
                        </a:rPr>
                        <a:t> cycle lanes (suggested only if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transport carbon emissions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per person are over 0.004 kt)</a:t>
                      </a:r>
                      <a:endParaRPr sz="1200">
                        <a:latin typeface="Lexend"/>
                        <a:ea typeface="Lexend"/>
                        <a:cs typeface="Lexend"/>
                        <a:sym typeface="Lexend"/>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£4 100 000</a:t>
                      </a:r>
                      <a:endParaRPr sz="1200">
                        <a:latin typeface="Lexend"/>
                        <a:ea typeface="Lexend"/>
                        <a:cs typeface="Lexend"/>
                        <a:sym typeface="Lexend"/>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1900">
                <a:tc>
                  <a:txBody>
                    <a:bodyPr/>
                    <a:lstStyle/>
                    <a:p>
                      <a:pPr indent="0" lvl="0" marL="0" rtl="0" algn="l">
                        <a:spcBef>
                          <a:spcPts val="0"/>
                        </a:spcBef>
                        <a:spcAft>
                          <a:spcPts val="0"/>
                        </a:spcAft>
                        <a:buNone/>
                      </a:pPr>
                      <a:r>
                        <a:rPr lang="en-GB" sz="1200">
                          <a:latin typeface="Lexend"/>
                          <a:ea typeface="Lexend"/>
                          <a:cs typeface="Lexend"/>
                          <a:sym typeface="Lexend"/>
                        </a:rPr>
                        <a:t> urban park renewal (requires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25% of city area to be available)</a:t>
                      </a:r>
                      <a:endParaRPr sz="1200">
                        <a:latin typeface="Lexend"/>
                        <a:ea typeface="Lexend"/>
                        <a:cs typeface="Lexend"/>
                        <a:sym typeface="Lexend"/>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£35 000 </a:t>
                      </a:r>
                      <a:br>
                        <a:rPr lang="en-GB" sz="1200">
                          <a:latin typeface="Lexend"/>
                          <a:ea typeface="Lexend"/>
                          <a:cs typeface="Lexend"/>
                          <a:sym typeface="Lexend"/>
                        </a:rPr>
                      </a:br>
                      <a:r>
                        <a:rPr lang="en-GB" sz="1200">
                          <a:latin typeface="Lexend"/>
                          <a:ea typeface="Lexend"/>
                          <a:cs typeface="Lexend"/>
                          <a:sym typeface="Lexend"/>
                        </a:rPr>
                        <a:t>per km²</a:t>
                      </a:r>
                      <a:endParaRPr sz="1200">
                        <a:latin typeface="Lexend"/>
                        <a:ea typeface="Lexend"/>
                        <a:cs typeface="Lexend"/>
                        <a:sym typeface="Lexend"/>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90150">
                <a:tc>
                  <a:txBody>
                    <a:bodyPr/>
                    <a:lstStyle/>
                    <a:p>
                      <a:pPr indent="0" lvl="0" marL="0" rtl="0" algn="l">
                        <a:spcBef>
                          <a:spcPts val="0"/>
                        </a:spcBef>
                        <a:spcAft>
                          <a:spcPts val="0"/>
                        </a:spcAft>
                        <a:buNone/>
                      </a:pPr>
                      <a:r>
                        <a:rPr lang="en-GB" sz="1200">
                          <a:latin typeface="Lexend"/>
                          <a:ea typeface="Lexend"/>
                          <a:cs typeface="Lexend"/>
                          <a:sym typeface="Lexend"/>
                        </a:rPr>
                        <a:t> electric, zero-emission buses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(area of 200 m² required per bus)</a:t>
                      </a:r>
                      <a:endParaRPr sz="1200">
                        <a:latin typeface="Lexend"/>
                        <a:ea typeface="Lexend"/>
                        <a:cs typeface="Lexend"/>
                        <a:sym typeface="Lexend"/>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Lexend"/>
                          <a:ea typeface="Lexend"/>
                          <a:cs typeface="Lexend"/>
                          <a:sym typeface="Lexend"/>
                        </a:rPr>
                        <a:t>£320 000 </a:t>
                      </a:r>
                      <a:br>
                        <a:rPr lang="en-GB" sz="1200">
                          <a:latin typeface="Lexend"/>
                          <a:ea typeface="Lexend"/>
                          <a:cs typeface="Lexend"/>
                          <a:sym typeface="Lexend"/>
                        </a:rPr>
                      </a:br>
                      <a:r>
                        <a:rPr lang="en-GB" sz="1200">
                          <a:latin typeface="Lexend"/>
                          <a:ea typeface="Lexend"/>
                          <a:cs typeface="Lexend"/>
                          <a:sym typeface="Lexend"/>
                        </a:rPr>
                        <a:t>per bus</a:t>
                      </a:r>
                      <a:endParaRPr sz="1200">
                        <a:latin typeface="Lexend"/>
                        <a:ea typeface="Lexend"/>
                        <a:cs typeface="Lexend"/>
                        <a:sym typeface="Lexend"/>
                      </a:endParaRPr>
                    </a:p>
                  </a:txBody>
                  <a:tcPr marT="0" marB="0" marR="0" marL="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42" name="Google Shape;142;p13"/>
          <p:cNvSpPr txBox="1"/>
          <p:nvPr/>
        </p:nvSpPr>
        <p:spPr>
          <a:xfrm>
            <a:off x="662825" y="7679575"/>
            <a:ext cx="6345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Oakfield cannot afford all three strategies, as their total cost is £17 606 000.</a:t>
            </a:r>
            <a:r>
              <a:rPr lang="en-GB" sz="1200">
                <a:latin typeface="Kalam"/>
                <a:ea typeface="Kalam"/>
                <a:cs typeface="Kalam"/>
                <a:sym typeface="Kalam"/>
              </a:rPr>
              <a:t> However, it is possible to have the cycle lanes and all the street trees, plus 13 electric buses (at £4 160 000). Or the cycle path, some street trees, and a greater number of electric buses.</a:t>
            </a:r>
            <a:endParaRPr sz="1200">
              <a:solidFill>
                <a:srgbClr val="000000"/>
              </a:solidFill>
              <a:latin typeface="Kalam"/>
              <a:ea typeface="Kalam"/>
              <a:cs typeface="Kalam"/>
              <a:sym typeface="Kalam"/>
            </a:endParaRPr>
          </a:p>
        </p:txBody>
      </p:sp>
      <p:sp>
        <p:nvSpPr>
          <p:cNvPr id="143" name="Google Shape;143;p13"/>
          <p:cNvSpPr txBox="1"/>
          <p:nvPr/>
        </p:nvSpPr>
        <p:spPr>
          <a:xfrm>
            <a:off x="676018" y="8749257"/>
            <a:ext cx="6345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A large assumption is that the entire area of Oakfield is “street” that can have trees planted on them.</a:t>
            </a:r>
            <a:r>
              <a:rPr lang="en-GB" sz="1200">
                <a:latin typeface="Kalam"/>
                <a:ea typeface="Kalam"/>
                <a:cs typeface="Kalam"/>
                <a:sym typeface="Kalam"/>
              </a:rPr>
              <a:t> </a:t>
            </a:r>
            <a:r>
              <a:rPr lang="en-GB" sz="1200">
                <a:solidFill>
                  <a:srgbClr val="000000"/>
                </a:solidFill>
                <a:latin typeface="Kalam"/>
                <a:ea typeface="Kalam"/>
                <a:cs typeface="Kalam"/>
                <a:sym typeface="Kalam"/>
              </a:rPr>
              <a:t>In reality, the area of Oakfield that is “street” might be a lot less than 98 km², since a lot of the land will either be buildings or roads.</a:t>
            </a:r>
            <a:endParaRPr sz="1200">
              <a:solidFill>
                <a:srgbClr val="000000"/>
              </a:solidFill>
              <a:latin typeface="Kalam"/>
              <a:ea typeface="Kalam"/>
              <a:cs typeface="Kalam"/>
              <a:sym typeface="Kalam"/>
            </a:endParaRPr>
          </a:p>
          <a:p>
            <a:pPr indent="0" lvl="0" marL="0" rtl="0" algn="l">
              <a:spcBef>
                <a:spcPts val="0"/>
              </a:spcBef>
              <a:spcAft>
                <a:spcPts val="0"/>
              </a:spcAft>
              <a:buNone/>
            </a:pPr>
            <a:r>
              <a:t/>
            </a:r>
            <a:endParaRPr sz="1200">
              <a:solidFill>
                <a:srgbClr val="000000"/>
              </a:solidFill>
              <a:latin typeface="Kalam"/>
              <a:ea typeface="Kalam"/>
              <a:cs typeface="Kalam"/>
              <a:sym typeface="Kalam"/>
            </a:endParaRPr>
          </a:p>
          <a:p>
            <a:pPr indent="0" lvl="0" marL="0" rtl="0" algn="l">
              <a:spcBef>
                <a:spcPts val="0"/>
              </a:spcBef>
              <a:spcAft>
                <a:spcPts val="0"/>
              </a:spcAft>
              <a:buNone/>
            </a:pPr>
            <a:r>
              <a:rPr lang="en-GB" sz="1200">
                <a:solidFill>
                  <a:srgbClr val="000000"/>
                </a:solidFill>
                <a:latin typeface="Kalam"/>
                <a:ea typeface="Kalam"/>
                <a:cs typeface="Kalam"/>
                <a:sym typeface="Kalam"/>
              </a:rPr>
              <a:t>Another assumption is that all the roads are wide enough, and off-road locations are safe and unobstructed enough, to have cycle lanes built on them.</a:t>
            </a:r>
            <a:endParaRPr sz="1200">
              <a:solidFill>
                <a:srgbClr val="000000"/>
              </a:solidFill>
              <a:latin typeface="Kalam"/>
              <a:ea typeface="Kalam"/>
              <a:cs typeface="Kalam"/>
              <a:sym typeface="Kalam"/>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eet Answers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