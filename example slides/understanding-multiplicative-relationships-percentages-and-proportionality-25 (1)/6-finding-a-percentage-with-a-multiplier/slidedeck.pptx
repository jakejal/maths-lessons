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4EE823-4E34-47A5-83B8-C4115F32C55B}">
  <a:tblStyle styleId="{1A4EE823-4E34-47A5-83B8-C4115F32C5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b24be1424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b24be1424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b24be1424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b24be1424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b24be1424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b24be1424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b575089f8b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b575089f8b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b585142b41_1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b585142b41_1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b575089f8b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b575089f8b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2b575089f8b_1_1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2b575089f8b_1_1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b575089f8b_1_1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b575089f8b_1_1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b575089f8b_1_2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b575089f8b_1_2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b575089f8b_1_2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b575089f8b_1_2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b575089f8b_1_3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b575089f8b_1_3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b575089f8b_1_3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b575089f8b_1_3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b575089f8b_1_3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b575089f8b_1_3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2b575089f8b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2b575089f8b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2b575089f8b_1_4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b575089f8b_1_4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2b575089f8b_1_4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2b575089f8b_1_4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b575089f8b_1_4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2b575089f8b_1_4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2b575089f8b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2b575089f8b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2b585142b4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2b585142b4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2b585142b41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2b585142b41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68b2589fb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68b2589fb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b585142b41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b585142b41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2b585142b41_1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2b585142b41_1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2b585142b41_1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2b585142b41_1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2b585142b41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2b585142b41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2b585142b41_1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2b585142b41_1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2b585142b41_1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2b585142b41_1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2b585142b41_1_1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2b585142b41_1_1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2b585142b41_1_1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2b585142b41_1_1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2b585142b41_1_1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2b585142b41_1_1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268b2589fb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268b2589fb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2b585142b41_1_1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2b585142b41_1_1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2b585142b41_1_1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2b585142b41_1_1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2b585142b41_1_1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b585142b41_1_1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268b2589fb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268b2589fb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268b2589fb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268b2589fb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b585142b41_1_1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b585142b41_1_1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2b575089f8b_0_2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2b575089f8b_0_2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2b575089f8b_0_1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2b575089f8b_0_1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2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6.png"/><Relationship Id="rId4" Type="http://schemas.openxmlformats.org/officeDocument/2006/relationships/image" Target="../media/image64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4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31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4.png"/><Relationship Id="rId4" Type="http://schemas.openxmlformats.org/officeDocument/2006/relationships/image" Target="../media/image30.png"/><Relationship Id="rId11" Type="http://schemas.openxmlformats.org/officeDocument/2006/relationships/image" Target="../media/image19.png"/><Relationship Id="rId10" Type="http://schemas.openxmlformats.org/officeDocument/2006/relationships/image" Target="../media/image36.png"/><Relationship Id="rId9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31.png"/><Relationship Id="rId8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4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62"/>
          <p:cNvSpPr/>
          <p:nvPr/>
        </p:nvSpPr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sp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2">
  <p:cSld name="CUSTOM_3_1_3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6" name="Google Shape;756;p6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3">
  <p:cSld name="CUSTOM_3_1_4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9" name="Google Shape;759;p6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6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2" name="Google Shape;762;p6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3" name="Google Shape;763;p6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65" Type="http://schemas.openxmlformats.org/officeDocument/2006/relationships/theme" Target="../theme/theme1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3.png"/><Relationship Id="rId4" Type="http://schemas.openxmlformats.org/officeDocument/2006/relationships/image" Target="../media/image5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2.png"/><Relationship Id="rId4" Type="http://schemas.openxmlformats.org/officeDocument/2006/relationships/image" Target="../media/image5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percentage with a multiplier</a:t>
            </a:r>
            <a:endParaRPr/>
          </a:p>
        </p:txBody>
      </p:sp>
      <p:sp>
        <p:nvSpPr>
          <p:cNvPr id="769" name="Google Shape;769;p6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percentages and proportionality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a percentage of a quantity using a multiplier.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idx="1" type="subTitle"/>
          </p:nvPr>
        </p:nvSpPr>
        <p:spPr>
          <a:xfrm>
            <a:off x="324001" y="993650"/>
            <a:ext cx="8735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Two fractions are </a:t>
            </a:r>
            <a:r>
              <a:rPr b="0" lang="en-GB"/>
              <a:t>equivalent</a:t>
            </a:r>
            <a:r>
              <a:rPr lang="en-GB"/>
              <a:t> </a:t>
            </a:r>
            <a:r>
              <a:rPr b="0" lang="en-GB"/>
              <a:t>if they have the same value.</a:t>
            </a:r>
            <a:endParaRPr b="0"/>
          </a:p>
        </p:txBody>
      </p:sp>
      <p:sp>
        <p:nvSpPr>
          <p:cNvPr id="785" name="Google Shape;785;p68"/>
          <p:cNvSpPr txBox="1"/>
          <p:nvPr>
            <p:ph idx="1" type="subTitle"/>
          </p:nvPr>
        </p:nvSpPr>
        <p:spPr>
          <a:xfrm>
            <a:off x="1253151" y="1957194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}{2}=\ \frac{2}{4}\ \ \ \ \ \frac{4}{5}=\frac{40}{50}\ \ \ \ \ \ \frac{1}{5}\ne\frac{3}{7}&quot;&gt;&lt;mfrac&gt;&lt;mn&gt;1&lt;/mn&gt;&lt;mn&gt;2&lt;/mn&gt;&lt;/mfrac&gt;&lt;mo&gt;=&lt;/mo&gt;&lt;mtext&gt;&lt;/mtext&gt;&lt;mfrac&gt;&lt;mn&gt;2&lt;/mn&gt;&lt;mn&gt;4&lt;/mn&gt;&lt;/mfrac&gt;&lt;mtext&gt;&lt;/mtext&gt;&lt;mtext&gt;&lt;/mtext&gt;&lt;mtext&gt;&lt;/mtext&gt;&lt;mtext&gt;&lt;/mtext&gt;&lt;mtext&gt;&lt;/mtext&gt;&lt;mfrac&gt;&lt;mn&gt;4&lt;/mn&gt;&lt;mn&gt;5&lt;/mn&gt;&lt;/mfrac&gt;&lt;mo&gt;=&lt;/mo&gt;&lt;mfrac&gt;&lt;mn&gt;40&lt;/mn&gt;&lt;mn&gt;50&lt;/mn&gt;&lt;/mfrac&gt;&lt;mtext&gt;&lt;/mtext&gt;&lt;mtext&gt;&lt;/mtext&gt;&lt;mtext&gt;&lt;/mtext&gt;&lt;mtext&gt;&lt;/mtext&gt;&lt;mtext&gt;&lt;/mtext&gt;&lt;mtext&gt;&lt;/mtext&gt;&lt;mfrac&gt;&lt;mn&gt;1&lt;/mn&gt;&lt;mn&gt;5&lt;/mn&gt;&lt;/mfrac&gt;&lt;mo&gt;≠&lt;/mo&gt;&lt;mfrac&gt;&lt;mn&gt;3&lt;/mn&gt;&lt;mn&gt;7&lt;/mn&gt;&lt;/mfrac&gt;&lt;/math&gt;" id="786" name="Google Shape;786;p68" title="one half equals two fourths four fifths equals 40 over 50 one fifth is not equal to three sevenths"/>
          <p:cNvPicPr preferRelativeResize="0"/>
          <p:nvPr/>
        </p:nvPicPr>
        <p:blipFill rotWithShape="1">
          <a:blip r:embed="rId3">
            <a:alphaModFix/>
          </a:blip>
          <a:srcRect b="0" l="0" r="70872" t="0"/>
          <a:stretch/>
        </p:blipFill>
        <p:spPr>
          <a:xfrm>
            <a:off x="1232391" y="2596019"/>
            <a:ext cx="1505275" cy="8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8"/>
          <p:cNvSpPr txBox="1"/>
          <p:nvPr>
            <p:ph idx="1" type="subTitle"/>
          </p:nvPr>
        </p:nvSpPr>
        <p:spPr>
          <a:xfrm>
            <a:off x="3831714" y="1957194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}{2}=\ \frac{2}{4}\ \ \ \ \ \frac{4}{5}=\frac{40}{50}\ \ \ \ \ \ \frac{1}{5}\ne\frac{3}{7}&quot;&gt;&lt;mfrac&gt;&lt;mn&gt;1&lt;/mn&gt;&lt;mn&gt;2&lt;/mn&gt;&lt;/mfrac&gt;&lt;mo&gt;=&lt;/mo&gt;&lt;mtext&gt;&lt;/mtext&gt;&lt;mfrac&gt;&lt;mn&gt;2&lt;/mn&gt;&lt;mn&gt;4&lt;/mn&gt;&lt;/mfrac&gt;&lt;mtext&gt;&lt;/mtext&gt;&lt;mtext&gt;&lt;/mtext&gt;&lt;mtext&gt;&lt;/mtext&gt;&lt;mtext&gt;&lt;/mtext&gt;&lt;mtext&gt;&lt;/mtext&gt;&lt;mfrac&gt;&lt;mn&gt;4&lt;/mn&gt;&lt;mn&gt;5&lt;/mn&gt;&lt;/mfrac&gt;&lt;mo&gt;=&lt;/mo&gt;&lt;mfrac&gt;&lt;mn&gt;40&lt;/mn&gt;&lt;mn&gt;50&lt;/mn&gt;&lt;/mfrac&gt;&lt;mtext&gt;&lt;/mtext&gt;&lt;mtext&gt;&lt;/mtext&gt;&lt;mtext&gt;&lt;/mtext&gt;&lt;mtext&gt;&lt;/mtext&gt;&lt;mtext&gt;&lt;/mtext&gt;&lt;mtext&gt;&lt;/mtext&gt;&lt;mfrac&gt;&lt;mn&gt;1&lt;/mn&gt;&lt;mn&gt;5&lt;/mn&gt;&lt;/mfrac&gt;&lt;mo&gt;≠&lt;/mo&gt;&lt;mfrac&gt;&lt;mn&gt;3&lt;/mn&gt;&lt;mn&gt;7&lt;/mn&gt;&lt;/mfrac&gt;&lt;/math&gt;" id="788" name="Google Shape;788;p68" title="one half equals two fourths four fifths equals 40 over 50 one fifth is not equal to three sevenths"/>
          <p:cNvPicPr preferRelativeResize="0"/>
          <p:nvPr/>
        </p:nvPicPr>
        <p:blipFill rotWithShape="1">
          <a:blip r:embed="rId3">
            <a:alphaModFix/>
          </a:blip>
          <a:srcRect b="-8753" l="34396" r="36476" t="-8273"/>
          <a:stretch/>
        </p:blipFill>
        <p:spPr>
          <a:xfrm>
            <a:off x="3810958" y="2520606"/>
            <a:ext cx="1505275" cy="10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68"/>
          <p:cNvSpPr txBox="1"/>
          <p:nvPr>
            <p:ph idx="1" type="subTitle"/>
          </p:nvPr>
        </p:nvSpPr>
        <p:spPr>
          <a:xfrm>
            <a:off x="6389525" y="1957200"/>
            <a:ext cx="20487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Non Example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\frac{1}{2}=\ \frac{2}{4}\ \ \ \ \ \frac{4}{5}=\frac{40}{50}\ \ \ \ \ \ \frac{1}{5}\ne\frac{3}{7}&quot;&gt;&lt;mfrac&gt;&lt;mn&gt;1&lt;/mn&gt;&lt;mn&gt;2&lt;/mn&gt;&lt;/mfrac&gt;&lt;mo&gt;=&lt;/mo&gt;&lt;mtext&gt;&lt;/mtext&gt;&lt;mfrac&gt;&lt;mn&gt;2&lt;/mn&gt;&lt;mn&gt;4&lt;/mn&gt;&lt;/mfrac&gt;&lt;mtext&gt;&lt;/mtext&gt;&lt;mtext&gt;&lt;/mtext&gt;&lt;mtext&gt;&lt;/mtext&gt;&lt;mtext&gt;&lt;/mtext&gt;&lt;mtext&gt;&lt;/mtext&gt;&lt;mfrac&gt;&lt;mn&gt;4&lt;/mn&gt;&lt;mn&gt;5&lt;/mn&gt;&lt;/mfrac&gt;&lt;mo&gt;=&lt;/mo&gt;&lt;mfrac&gt;&lt;mn&gt;40&lt;/mn&gt;&lt;mn&gt;50&lt;/mn&gt;&lt;/mfrac&gt;&lt;mtext&gt;&lt;/mtext&gt;&lt;mtext&gt;&lt;/mtext&gt;&lt;mtext&gt;&lt;/mtext&gt;&lt;mtext&gt;&lt;/mtext&gt;&lt;mtext&gt;&lt;/mtext&gt;&lt;mtext&gt;&lt;/mtext&gt;&lt;mfrac&gt;&lt;mn&gt;1&lt;/mn&gt;&lt;mn&gt;5&lt;/mn&gt;&lt;/mfrac&gt;&lt;mo&gt;≠&lt;/mo&gt;&lt;mfrac&gt;&lt;mn&gt;3&lt;/mn&gt;&lt;mn&gt;7&lt;/mn&gt;&lt;/mfrac&gt;&lt;/math&gt;" id="790" name="Google Shape;790;p68" title="one half equals two fourths four fifths equals 40 over 50 one fifth is not equal to three sevenths"/>
          <p:cNvPicPr preferRelativeResize="0"/>
          <p:nvPr/>
        </p:nvPicPr>
        <p:blipFill rotWithShape="1">
          <a:blip r:embed="rId3">
            <a:alphaModFix/>
          </a:blip>
          <a:srcRect b="-8507" l="73727" r="-2854" t="-8519"/>
          <a:stretch/>
        </p:blipFill>
        <p:spPr>
          <a:xfrm>
            <a:off x="6389525" y="2520606"/>
            <a:ext cx="1505275" cy="103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9"/>
          <p:cNvSpPr txBox="1"/>
          <p:nvPr>
            <p:ph idx="1" type="subTitle"/>
          </p:nvPr>
        </p:nvSpPr>
        <p:spPr>
          <a:xfrm>
            <a:off x="324000" y="810000"/>
            <a:ext cx="8195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The associative law states that a repeated application of the operation produces the same result regardless of how pairs of values are grouped. </a:t>
            </a:r>
            <a:r>
              <a:rPr b="0" lang="en-GB" sz="1800">
                <a:solidFill>
                  <a:schemeClr val="dk1"/>
                </a:solidFill>
              </a:rPr>
              <a:t>We can group using brackets.</a:t>
            </a:r>
            <a:endParaRPr b="0" sz="1800"/>
          </a:p>
        </p:txBody>
      </p:sp>
      <p:sp>
        <p:nvSpPr>
          <p:cNvPr id="796" name="Google Shape;796;p69"/>
          <p:cNvSpPr txBox="1"/>
          <p:nvPr/>
        </p:nvSpPr>
        <p:spPr>
          <a:xfrm>
            <a:off x="323995" y="2050939"/>
            <a:ext cx="1399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Examples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 txBox="1"/>
          <p:nvPr/>
        </p:nvSpPr>
        <p:spPr>
          <a:xfrm>
            <a:off x="335349" y="2454850"/>
            <a:ext cx="2606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(3 + 4) + 10 =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 txBox="1"/>
          <p:nvPr/>
        </p:nvSpPr>
        <p:spPr>
          <a:xfrm>
            <a:off x="324002" y="2796975"/>
            <a:ext cx="3061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+ (4 + 10) =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 txBox="1"/>
          <p:nvPr/>
        </p:nvSpPr>
        <p:spPr>
          <a:xfrm>
            <a:off x="4608153" y="2050939"/>
            <a:ext cx="2317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Non examples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/>
        </p:nvSpPr>
        <p:spPr>
          <a:xfrm>
            <a:off x="4619500" y="2454850"/>
            <a:ext cx="19230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(48 ÷ 6) ÷ 2 =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 txBox="1"/>
          <p:nvPr/>
        </p:nvSpPr>
        <p:spPr>
          <a:xfrm>
            <a:off x="6120250" y="2454850"/>
            <a:ext cx="13992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24 ÷ 6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9"/>
          <p:cNvSpPr txBox="1"/>
          <p:nvPr/>
        </p:nvSpPr>
        <p:spPr>
          <a:xfrm>
            <a:off x="1829690" y="2466975"/>
            <a:ext cx="1260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7 + 10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9"/>
          <p:cNvSpPr txBox="1"/>
          <p:nvPr/>
        </p:nvSpPr>
        <p:spPr>
          <a:xfrm>
            <a:off x="1808763" y="2466975"/>
            <a:ext cx="1260900" cy="3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17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69"/>
          <p:cNvSpPr txBox="1"/>
          <p:nvPr/>
        </p:nvSpPr>
        <p:spPr>
          <a:xfrm>
            <a:off x="1829690" y="2796975"/>
            <a:ext cx="1260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+ 14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/>
        </p:nvSpPr>
        <p:spPr>
          <a:xfrm>
            <a:off x="6085300" y="2454850"/>
            <a:ext cx="996900" cy="28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/>
        </p:nvSpPr>
        <p:spPr>
          <a:xfrm>
            <a:off x="4556909" y="2796975"/>
            <a:ext cx="1923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48 ÷ (6 ÷ 2) =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9"/>
          <p:cNvSpPr txBox="1"/>
          <p:nvPr/>
        </p:nvSpPr>
        <p:spPr>
          <a:xfrm>
            <a:off x="6098904" y="2796975"/>
            <a:ext cx="151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48 ÷ 3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69"/>
          <p:cNvSpPr txBox="1"/>
          <p:nvPr/>
        </p:nvSpPr>
        <p:spPr>
          <a:xfrm>
            <a:off x="6065378" y="2796975"/>
            <a:ext cx="1770900" cy="48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9"/>
          <p:cNvSpPr txBox="1"/>
          <p:nvPr/>
        </p:nvSpPr>
        <p:spPr>
          <a:xfrm>
            <a:off x="1808763" y="2800875"/>
            <a:ext cx="1260900" cy="3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17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0" name="Google Shape;810;p69"/>
          <p:cNvCxnSpPr/>
          <p:nvPr/>
        </p:nvCxnSpPr>
        <p:spPr>
          <a:xfrm>
            <a:off x="4371200" y="2079675"/>
            <a:ext cx="0" cy="1383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</a:t>
            </a:r>
            <a:r>
              <a:rPr lang="en-GB"/>
              <a:t>eviewing percentages of amounts</a:t>
            </a:r>
            <a:endParaRPr/>
          </a:p>
        </p:txBody>
      </p:sp>
      <p:sp>
        <p:nvSpPr>
          <p:cNvPr id="816" name="Google Shape;816;p7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817" name="Google Shape;817;p7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percentage with a multiplier</a:t>
            </a:r>
            <a:endParaRPr/>
          </a:p>
        </p:txBody>
      </p:sp>
      <p:pic>
        <p:nvPicPr>
          <p:cNvPr id="818" name="Google Shape;81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97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1"/>
          <p:cNvSpPr txBox="1"/>
          <p:nvPr>
            <p:ph idx="1" type="body"/>
          </p:nvPr>
        </p:nvSpPr>
        <p:spPr>
          <a:xfrm>
            <a:off x="324000" y="759300"/>
            <a:ext cx="82377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find any percentage of an amount using a double number line.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71"/>
          <p:cNvSpPr txBox="1"/>
          <p:nvPr/>
        </p:nvSpPr>
        <p:spPr>
          <a:xfrm>
            <a:off x="6144502" y="4069100"/>
            <a:ext cx="53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/>
        </p:nvSpPr>
        <p:spPr>
          <a:xfrm>
            <a:off x="386791" y="32400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1"/>
          <p:cNvSpPr txBox="1"/>
          <p:nvPr/>
        </p:nvSpPr>
        <p:spPr>
          <a:xfrm>
            <a:off x="6096011" y="3070638"/>
            <a:ext cx="8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7" name="Google Shape;827;p71"/>
          <p:cNvGrpSpPr/>
          <p:nvPr/>
        </p:nvGrpSpPr>
        <p:grpSpPr>
          <a:xfrm>
            <a:off x="821260" y="3293578"/>
            <a:ext cx="8668422" cy="868664"/>
            <a:chOff x="745060" y="3293578"/>
            <a:chExt cx="8668422" cy="868664"/>
          </a:xfrm>
        </p:grpSpPr>
        <p:sp>
          <p:nvSpPr>
            <p:cNvPr id="828" name="Google Shape;828;p71"/>
            <p:cNvSpPr txBox="1"/>
            <p:nvPr/>
          </p:nvSpPr>
          <p:spPr>
            <a:xfrm>
              <a:off x="7292782" y="3339679"/>
              <a:ext cx="212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9" name="Google Shape;829;p71"/>
            <p:cNvSpPr txBox="1"/>
            <p:nvPr/>
          </p:nvSpPr>
          <p:spPr>
            <a:xfrm>
              <a:off x="7292772" y="3777530"/>
              <a:ext cx="184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30" name="Google Shape;830;p71"/>
            <p:cNvGrpSpPr/>
            <p:nvPr/>
          </p:nvGrpSpPr>
          <p:grpSpPr>
            <a:xfrm>
              <a:off x="745060" y="3293578"/>
              <a:ext cx="6406901" cy="868664"/>
              <a:chOff x="2621369" y="2760450"/>
              <a:chExt cx="4093082" cy="1357500"/>
            </a:xfrm>
          </p:grpSpPr>
          <p:grpSp>
            <p:nvGrpSpPr>
              <p:cNvPr id="831" name="Google Shape;831;p71"/>
              <p:cNvGrpSpPr/>
              <p:nvPr/>
            </p:nvGrpSpPr>
            <p:grpSpPr>
              <a:xfrm>
                <a:off x="2621369" y="2760450"/>
                <a:ext cx="4093082" cy="1357500"/>
                <a:chOff x="441900" y="3572013"/>
                <a:chExt cx="3074500" cy="1357500"/>
              </a:xfrm>
            </p:grpSpPr>
            <p:cxnSp>
              <p:nvCxnSpPr>
                <p:cNvPr id="832" name="Google Shape;832;p71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3" name="Google Shape;833;p71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834" name="Google Shape;834;p71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835" name="Google Shape;835;p71"/>
              <p:cNvSpPr/>
              <p:nvPr/>
            </p:nvSpPr>
            <p:spPr>
              <a:xfrm>
                <a:off x="3806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71"/>
              <p:cNvSpPr/>
              <p:nvPr/>
            </p:nvSpPr>
            <p:spPr>
              <a:xfrm>
                <a:off x="6092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71"/>
              <p:cNvSpPr/>
              <p:nvPr/>
            </p:nvSpPr>
            <p:spPr>
              <a:xfrm>
                <a:off x="4949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838" name="Google Shape;838;p71"/>
            <p:cNvCxnSpPr/>
            <p:nvPr/>
          </p:nvCxnSpPr>
          <p:spPr>
            <a:xfrm>
              <a:off x="74987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9" name="Google Shape;839;p71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0" name="Google Shape;840;p71"/>
            <p:cNvCxnSpPr/>
            <p:nvPr/>
          </p:nvCxnSpPr>
          <p:spPr>
            <a:xfrm>
              <a:off x="130502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1" name="Google Shape;841;p71"/>
            <p:cNvCxnSpPr/>
            <p:nvPr/>
          </p:nvCxnSpPr>
          <p:spPr>
            <a:xfrm>
              <a:off x="186016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2" name="Google Shape;842;p71"/>
            <p:cNvCxnSpPr/>
            <p:nvPr/>
          </p:nvCxnSpPr>
          <p:spPr>
            <a:xfrm>
              <a:off x="241531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3" name="Google Shape;843;p71"/>
            <p:cNvCxnSpPr/>
            <p:nvPr/>
          </p:nvCxnSpPr>
          <p:spPr>
            <a:xfrm>
              <a:off x="297045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71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5" name="Google Shape;845;p71"/>
            <p:cNvCxnSpPr/>
            <p:nvPr/>
          </p:nvCxnSpPr>
          <p:spPr>
            <a:xfrm>
              <a:off x="630132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6" name="Google Shape;846;p71"/>
            <p:cNvCxnSpPr/>
            <p:nvPr/>
          </p:nvCxnSpPr>
          <p:spPr>
            <a:xfrm>
              <a:off x="408074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7" name="Google Shape;847;p71"/>
            <p:cNvCxnSpPr/>
            <p:nvPr/>
          </p:nvCxnSpPr>
          <p:spPr>
            <a:xfrm>
              <a:off x="463589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8" name="Google Shape;848;p71"/>
            <p:cNvCxnSpPr/>
            <p:nvPr/>
          </p:nvCxnSpPr>
          <p:spPr>
            <a:xfrm>
              <a:off x="519103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9" name="Google Shape;849;p71"/>
            <p:cNvCxnSpPr/>
            <p:nvPr/>
          </p:nvCxnSpPr>
          <p:spPr>
            <a:xfrm>
              <a:off x="574618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0" name="Google Shape;850;p71"/>
            <p:cNvCxnSpPr/>
            <p:nvPr/>
          </p:nvCxnSpPr>
          <p:spPr>
            <a:xfrm>
              <a:off x="130312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1" name="Google Shape;851;p71"/>
            <p:cNvCxnSpPr/>
            <p:nvPr/>
          </p:nvCxnSpPr>
          <p:spPr>
            <a:xfrm>
              <a:off x="407884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2" name="Google Shape;852;p71"/>
            <p:cNvCxnSpPr/>
            <p:nvPr/>
          </p:nvCxnSpPr>
          <p:spPr>
            <a:xfrm>
              <a:off x="185826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3" name="Google Shape;853;p71"/>
            <p:cNvCxnSpPr/>
            <p:nvPr/>
          </p:nvCxnSpPr>
          <p:spPr>
            <a:xfrm>
              <a:off x="241341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4" name="Google Shape;854;p71"/>
            <p:cNvCxnSpPr/>
            <p:nvPr/>
          </p:nvCxnSpPr>
          <p:spPr>
            <a:xfrm>
              <a:off x="296855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5" name="Google Shape;855;p71"/>
            <p:cNvCxnSpPr/>
            <p:nvPr/>
          </p:nvCxnSpPr>
          <p:spPr>
            <a:xfrm>
              <a:off x="352370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6" name="Google Shape;856;p71"/>
            <p:cNvCxnSpPr/>
            <p:nvPr/>
          </p:nvCxnSpPr>
          <p:spPr>
            <a:xfrm>
              <a:off x="352284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7" name="Google Shape;857;p71"/>
            <p:cNvCxnSpPr/>
            <p:nvPr/>
          </p:nvCxnSpPr>
          <p:spPr>
            <a:xfrm>
              <a:off x="629856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8" name="Google Shape;858;p71"/>
            <p:cNvCxnSpPr/>
            <p:nvPr/>
          </p:nvCxnSpPr>
          <p:spPr>
            <a:xfrm>
              <a:off x="407798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9" name="Google Shape;859;p71"/>
            <p:cNvCxnSpPr/>
            <p:nvPr/>
          </p:nvCxnSpPr>
          <p:spPr>
            <a:xfrm>
              <a:off x="463313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0" name="Google Shape;860;p71"/>
            <p:cNvCxnSpPr/>
            <p:nvPr/>
          </p:nvCxnSpPr>
          <p:spPr>
            <a:xfrm>
              <a:off x="518827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1" name="Google Shape;861;p71"/>
            <p:cNvCxnSpPr/>
            <p:nvPr/>
          </p:nvCxnSpPr>
          <p:spPr>
            <a:xfrm>
              <a:off x="574342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62" name="Google Shape;862;p71"/>
            <p:cNvSpPr/>
            <p:nvPr/>
          </p:nvSpPr>
          <p:spPr>
            <a:xfrm>
              <a:off x="770000" y="3560250"/>
              <a:ext cx="6119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3" name="Google Shape;863;p71"/>
          <p:cNvSpPr txBox="1"/>
          <p:nvPr/>
        </p:nvSpPr>
        <p:spPr>
          <a:xfrm>
            <a:off x="386791" y="39156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1"/>
          <p:cNvSpPr txBox="1"/>
          <p:nvPr>
            <p:ph idx="1" type="body"/>
          </p:nvPr>
        </p:nvSpPr>
        <p:spPr>
          <a:xfrm>
            <a:off x="324000" y="15975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look at 42% of 340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71"/>
          <p:cNvSpPr txBox="1"/>
          <p:nvPr>
            <p:ph idx="1" type="body"/>
          </p:nvPr>
        </p:nvSpPr>
        <p:spPr>
          <a:xfrm>
            <a:off x="324000" y="20547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Firstly, draw the number line, indicating 100% is 340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2"/>
          <p:cNvSpPr/>
          <p:nvPr/>
        </p:nvSpPr>
        <p:spPr>
          <a:xfrm rot="10800000">
            <a:off x="1517521" y="4069100"/>
            <a:ext cx="4591500" cy="5781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72"/>
          <p:cNvSpPr txBox="1"/>
          <p:nvPr/>
        </p:nvSpPr>
        <p:spPr>
          <a:xfrm>
            <a:off x="6144502" y="4069100"/>
            <a:ext cx="53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2"/>
          <p:cNvSpPr txBox="1"/>
          <p:nvPr/>
        </p:nvSpPr>
        <p:spPr>
          <a:xfrm>
            <a:off x="1228431" y="4069100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2"/>
          <p:cNvSpPr txBox="1"/>
          <p:nvPr/>
        </p:nvSpPr>
        <p:spPr>
          <a:xfrm>
            <a:off x="386791" y="32400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2"/>
          <p:cNvSpPr txBox="1"/>
          <p:nvPr/>
        </p:nvSpPr>
        <p:spPr>
          <a:xfrm>
            <a:off x="6096011" y="3070638"/>
            <a:ext cx="8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6" name="Google Shape;876;p72"/>
          <p:cNvGrpSpPr/>
          <p:nvPr/>
        </p:nvGrpSpPr>
        <p:grpSpPr>
          <a:xfrm>
            <a:off x="821260" y="3293578"/>
            <a:ext cx="8668422" cy="868664"/>
            <a:chOff x="745060" y="3293578"/>
            <a:chExt cx="8668422" cy="868664"/>
          </a:xfrm>
        </p:grpSpPr>
        <p:sp>
          <p:nvSpPr>
            <p:cNvPr id="877" name="Google Shape;877;p72"/>
            <p:cNvSpPr txBox="1"/>
            <p:nvPr/>
          </p:nvSpPr>
          <p:spPr>
            <a:xfrm>
              <a:off x="7292782" y="3339679"/>
              <a:ext cx="212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8" name="Google Shape;878;p72"/>
            <p:cNvSpPr txBox="1"/>
            <p:nvPr/>
          </p:nvSpPr>
          <p:spPr>
            <a:xfrm>
              <a:off x="7292772" y="3777530"/>
              <a:ext cx="184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879" name="Google Shape;879;p72"/>
            <p:cNvGrpSpPr/>
            <p:nvPr/>
          </p:nvGrpSpPr>
          <p:grpSpPr>
            <a:xfrm>
              <a:off x="745060" y="3293578"/>
              <a:ext cx="6406901" cy="868664"/>
              <a:chOff x="2621369" y="2760450"/>
              <a:chExt cx="4093082" cy="1357500"/>
            </a:xfrm>
          </p:grpSpPr>
          <p:grpSp>
            <p:nvGrpSpPr>
              <p:cNvPr id="880" name="Google Shape;880;p72"/>
              <p:cNvGrpSpPr/>
              <p:nvPr/>
            </p:nvGrpSpPr>
            <p:grpSpPr>
              <a:xfrm>
                <a:off x="2621369" y="2760450"/>
                <a:ext cx="4093082" cy="1357500"/>
                <a:chOff x="441900" y="3572013"/>
                <a:chExt cx="3074500" cy="1357500"/>
              </a:xfrm>
            </p:grpSpPr>
            <p:cxnSp>
              <p:nvCxnSpPr>
                <p:cNvPr id="881" name="Google Shape;881;p72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82" name="Google Shape;882;p72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883" name="Google Shape;883;p72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884" name="Google Shape;884;p72"/>
              <p:cNvSpPr/>
              <p:nvPr/>
            </p:nvSpPr>
            <p:spPr>
              <a:xfrm>
                <a:off x="3806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72"/>
              <p:cNvSpPr/>
              <p:nvPr/>
            </p:nvSpPr>
            <p:spPr>
              <a:xfrm>
                <a:off x="6092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72"/>
              <p:cNvSpPr/>
              <p:nvPr/>
            </p:nvSpPr>
            <p:spPr>
              <a:xfrm>
                <a:off x="4949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887" name="Google Shape;887;p72"/>
            <p:cNvCxnSpPr/>
            <p:nvPr/>
          </p:nvCxnSpPr>
          <p:spPr>
            <a:xfrm>
              <a:off x="74987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8" name="Google Shape;888;p72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9" name="Google Shape;889;p72"/>
            <p:cNvCxnSpPr/>
            <p:nvPr/>
          </p:nvCxnSpPr>
          <p:spPr>
            <a:xfrm>
              <a:off x="130502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0" name="Google Shape;890;p72"/>
            <p:cNvCxnSpPr/>
            <p:nvPr/>
          </p:nvCxnSpPr>
          <p:spPr>
            <a:xfrm>
              <a:off x="186016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1" name="Google Shape;891;p72"/>
            <p:cNvCxnSpPr/>
            <p:nvPr/>
          </p:nvCxnSpPr>
          <p:spPr>
            <a:xfrm>
              <a:off x="241531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p72"/>
            <p:cNvCxnSpPr/>
            <p:nvPr/>
          </p:nvCxnSpPr>
          <p:spPr>
            <a:xfrm>
              <a:off x="297045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3" name="Google Shape;893;p72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4" name="Google Shape;894;p72"/>
            <p:cNvCxnSpPr/>
            <p:nvPr/>
          </p:nvCxnSpPr>
          <p:spPr>
            <a:xfrm>
              <a:off x="630132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5" name="Google Shape;895;p72"/>
            <p:cNvCxnSpPr/>
            <p:nvPr/>
          </p:nvCxnSpPr>
          <p:spPr>
            <a:xfrm>
              <a:off x="408074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6" name="Google Shape;896;p72"/>
            <p:cNvCxnSpPr/>
            <p:nvPr/>
          </p:nvCxnSpPr>
          <p:spPr>
            <a:xfrm>
              <a:off x="463589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7" name="Google Shape;897;p72"/>
            <p:cNvCxnSpPr/>
            <p:nvPr/>
          </p:nvCxnSpPr>
          <p:spPr>
            <a:xfrm>
              <a:off x="519103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8" name="Google Shape;898;p72"/>
            <p:cNvCxnSpPr/>
            <p:nvPr/>
          </p:nvCxnSpPr>
          <p:spPr>
            <a:xfrm>
              <a:off x="574618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9" name="Google Shape;899;p72"/>
            <p:cNvCxnSpPr/>
            <p:nvPr/>
          </p:nvCxnSpPr>
          <p:spPr>
            <a:xfrm>
              <a:off x="130312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0" name="Google Shape;900;p72"/>
            <p:cNvCxnSpPr/>
            <p:nvPr/>
          </p:nvCxnSpPr>
          <p:spPr>
            <a:xfrm>
              <a:off x="407884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1" name="Google Shape;901;p72"/>
            <p:cNvCxnSpPr/>
            <p:nvPr/>
          </p:nvCxnSpPr>
          <p:spPr>
            <a:xfrm>
              <a:off x="185826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2" name="Google Shape;902;p72"/>
            <p:cNvCxnSpPr/>
            <p:nvPr/>
          </p:nvCxnSpPr>
          <p:spPr>
            <a:xfrm>
              <a:off x="241341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3" name="Google Shape;903;p72"/>
            <p:cNvCxnSpPr/>
            <p:nvPr/>
          </p:nvCxnSpPr>
          <p:spPr>
            <a:xfrm>
              <a:off x="296855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4" name="Google Shape;904;p72"/>
            <p:cNvCxnSpPr/>
            <p:nvPr/>
          </p:nvCxnSpPr>
          <p:spPr>
            <a:xfrm>
              <a:off x="352370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5" name="Google Shape;905;p72"/>
            <p:cNvCxnSpPr/>
            <p:nvPr/>
          </p:nvCxnSpPr>
          <p:spPr>
            <a:xfrm>
              <a:off x="352284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6" name="Google Shape;906;p72"/>
            <p:cNvCxnSpPr/>
            <p:nvPr/>
          </p:nvCxnSpPr>
          <p:spPr>
            <a:xfrm>
              <a:off x="629856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7" name="Google Shape;907;p72"/>
            <p:cNvCxnSpPr/>
            <p:nvPr/>
          </p:nvCxnSpPr>
          <p:spPr>
            <a:xfrm>
              <a:off x="407798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8" name="Google Shape;908;p72"/>
            <p:cNvCxnSpPr/>
            <p:nvPr/>
          </p:nvCxnSpPr>
          <p:spPr>
            <a:xfrm>
              <a:off x="463313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9" name="Google Shape;909;p72"/>
            <p:cNvCxnSpPr/>
            <p:nvPr/>
          </p:nvCxnSpPr>
          <p:spPr>
            <a:xfrm>
              <a:off x="518827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" name="Google Shape;910;p72"/>
            <p:cNvCxnSpPr/>
            <p:nvPr/>
          </p:nvCxnSpPr>
          <p:spPr>
            <a:xfrm>
              <a:off x="574342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1" name="Google Shape;911;p72"/>
            <p:cNvSpPr/>
            <p:nvPr/>
          </p:nvSpPr>
          <p:spPr>
            <a:xfrm>
              <a:off x="770000" y="3560250"/>
              <a:ext cx="6119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2" name="Google Shape;912;p72"/>
          <p:cNvSpPr txBox="1"/>
          <p:nvPr/>
        </p:nvSpPr>
        <p:spPr>
          <a:xfrm>
            <a:off x="386791" y="39156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2"/>
          <p:cNvSpPr txBox="1"/>
          <p:nvPr/>
        </p:nvSpPr>
        <p:spPr>
          <a:xfrm>
            <a:off x="10961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2"/>
          <p:cNvSpPr/>
          <p:nvPr/>
        </p:nvSpPr>
        <p:spPr>
          <a:xfrm flipH="1">
            <a:off x="1540500" y="2721400"/>
            <a:ext cx="4716300" cy="6135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72"/>
          <p:cNvSpPr txBox="1"/>
          <p:nvPr/>
        </p:nvSpPr>
        <p:spPr>
          <a:xfrm>
            <a:off x="3369589" y="26985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2"/>
          <p:cNvSpPr txBox="1"/>
          <p:nvPr/>
        </p:nvSpPr>
        <p:spPr>
          <a:xfrm>
            <a:off x="3536689" y="43200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2"/>
          <p:cNvSpPr txBox="1"/>
          <p:nvPr>
            <p:ph idx="1" type="body"/>
          </p:nvPr>
        </p:nvSpPr>
        <p:spPr>
          <a:xfrm>
            <a:off x="324000" y="759300"/>
            <a:ext cx="8237700" cy="18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also find any percentage of an amount using a double number line.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72"/>
          <p:cNvSpPr txBox="1"/>
          <p:nvPr>
            <p:ph idx="1" type="body"/>
          </p:nvPr>
        </p:nvSpPr>
        <p:spPr>
          <a:xfrm>
            <a:off x="324000" y="15975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look at 42% of 340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72"/>
          <p:cNvSpPr txBox="1"/>
          <p:nvPr>
            <p:ph idx="1" type="body"/>
          </p:nvPr>
        </p:nvSpPr>
        <p:spPr>
          <a:xfrm>
            <a:off x="324000" y="20547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10% is usually helpful. H</a:t>
            </a:r>
            <a:r>
              <a:rPr lang="en-GB"/>
              <a:t>ow do you think we can find 10%?</a:t>
            </a:r>
            <a:endParaRPr/>
          </a:p>
        </p:txBody>
      </p:sp>
      <p:sp>
        <p:nvSpPr>
          <p:cNvPr id="920" name="Google Shape;92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73"/>
          <p:cNvSpPr txBox="1"/>
          <p:nvPr/>
        </p:nvSpPr>
        <p:spPr>
          <a:xfrm>
            <a:off x="6144502" y="4069100"/>
            <a:ext cx="53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3"/>
          <p:cNvSpPr txBox="1"/>
          <p:nvPr/>
        </p:nvSpPr>
        <p:spPr>
          <a:xfrm>
            <a:off x="1228431" y="4069100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3"/>
          <p:cNvSpPr txBox="1"/>
          <p:nvPr/>
        </p:nvSpPr>
        <p:spPr>
          <a:xfrm>
            <a:off x="386791" y="32400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3"/>
          <p:cNvSpPr txBox="1"/>
          <p:nvPr/>
        </p:nvSpPr>
        <p:spPr>
          <a:xfrm>
            <a:off x="6096011" y="3070638"/>
            <a:ext cx="8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9" name="Google Shape;929;p73"/>
          <p:cNvGrpSpPr/>
          <p:nvPr/>
        </p:nvGrpSpPr>
        <p:grpSpPr>
          <a:xfrm>
            <a:off x="821260" y="3293578"/>
            <a:ext cx="8668422" cy="868664"/>
            <a:chOff x="745060" y="3293578"/>
            <a:chExt cx="8668422" cy="868664"/>
          </a:xfrm>
        </p:grpSpPr>
        <p:sp>
          <p:nvSpPr>
            <p:cNvPr id="930" name="Google Shape;930;p73"/>
            <p:cNvSpPr txBox="1"/>
            <p:nvPr/>
          </p:nvSpPr>
          <p:spPr>
            <a:xfrm>
              <a:off x="7292782" y="3339679"/>
              <a:ext cx="212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1" name="Google Shape;931;p73"/>
            <p:cNvSpPr txBox="1"/>
            <p:nvPr/>
          </p:nvSpPr>
          <p:spPr>
            <a:xfrm>
              <a:off x="7292772" y="3777530"/>
              <a:ext cx="184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32" name="Google Shape;932;p73"/>
            <p:cNvGrpSpPr/>
            <p:nvPr/>
          </p:nvGrpSpPr>
          <p:grpSpPr>
            <a:xfrm>
              <a:off x="745060" y="3293578"/>
              <a:ext cx="6406901" cy="868664"/>
              <a:chOff x="2621369" y="2760450"/>
              <a:chExt cx="4093082" cy="1357500"/>
            </a:xfrm>
          </p:grpSpPr>
          <p:grpSp>
            <p:nvGrpSpPr>
              <p:cNvPr id="933" name="Google Shape;933;p73"/>
              <p:cNvGrpSpPr/>
              <p:nvPr/>
            </p:nvGrpSpPr>
            <p:grpSpPr>
              <a:xfrm>
                <a:off x="2621369" y="2760450"/>
                <a:ext cx="4093082" cy="1357500"/>
                <a:chOff x="441900" y="3572013"/>
                <a:chExt cx="3074500" cy="1357500"/>
              </a:xfrm>
            </p:grpSpPr>
            <p:cxnSp>
              <p:nvCxnSpPr>
                <p:cNvPr id="934" name="Google Shape;934;p73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35" name="Google Shape;935;p73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936" name="Google Shape;936;p73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937" name="Google Shape;937;p73"/>
              <p:cNvSpPr/>
              <p:nvPr/>
            </p:nvSpPr>
            <p:spPr>
              <a:xfrm>
                <a:off x="3806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73"/>
              <p:cNvSpPr/>
              <p:nvPr/>
            </p:nvSpPr>
            <p:spPr>
              <a:xfrm>
                <a:off x="6092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73"/>
              <p:cNvSpPr/>
              <p:nvPr/>
            </p:nvSpPr>
            <p:spPr>
              <a:xfrm>
                <a:off x="4949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940" name="Google Shape;940;p73"/>
            <p:cNvCxnSpPr/>
            <p:nvPr/>
          </p:nvCxnSpPr>
          <p:spPr>
            <a:xfrm>
              <a:off x="74987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1" name="Google Shape;941;p73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2" name="Google Shape;942;p73"/>
            <p:cNvCxnSpPr/>
            <p:nvPr/>
          </p:nvCxnSpPr>
          <p:spPr>
            <a:xfrm>
              <a:off x="130502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3" name="Google Shape;943;p73"/>
            <p:cNvCxnSpPr/>
            <p:nvPr/>
          </p:nvCxnSpPr>
          <p:spPr>
            <a:xfrm>
              <a:off x="186016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4" name="Google Shape;944;p73"/>
            <p:cNvCxnSpPr/>
            <p:nvPr/>
          </p:nvCxnSpPr>
          <p:spPr>
            <a:xfrm>
              <a:off x="241531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5" name="Google Shape;945;p73"/>
            <p:cNvCxnSpPr/>
            <p:nvPr/>
          </p:nvCxnSpPr>
          <p:spPr>
            <a:xfrm>
              <a:off x="297045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6" name="Google Shape;946;p73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7" name="Google Shape;947;p73"/>
            <p:cNvCxnSpPr/>
            <p:nvPr/>
          </p:nvCxnSpPr>
          <p:spPr>
            <a:xfrm>
              <a:off x="630132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8" name="Google Shape;948;p73"/>
            <p:cNvCxnSpPr/>
            <p:nvPr/>
          </p:nvCxnSpPr>
          <p:spPr>
            <a:xfrm>
              <a:off x="408074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9" name="Google Shape;949;p73"/>
            <p:cNvCxnSpPr/>
            <p:nvPr/>
          </p:nvCxnSpPr>
          <p:spPr>
            <a:xfrm>
              <a:off x="463589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0" name="Google Shape;950;p73"/>
            <p:cNvCxnSpPr/>
            <p:nvPr/>
          </p:nvCxnSpPr>
          <p:spPr>
            <a:xfrm>
              <a:off x="519103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1" name="Google Shape;951;p73"/>
            <p:cNvCxnSpPr/>
            <p:nvPr/>
          </p:nvCxnSpPr>
          <p:spPr>
            <a:xfrm>
              <a:off x="574618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2" name="Google Shape;952;p73"/>
            <p:cNvCxnSpPr/>
            <p:nvPr/>
          </p:nvCxnSpPr>
          <p:spPr>
            <a:xfrm>
              <a:off x="130312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3" name="Google Shape;953;p73"/>
            <p:cNvCxnSpPr/>
            <p:nvPr/>
          </p:nvCxnSpPr>
          <p:spPr>
            <a:xfrm>
              <a:off x="407884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4" name="Google Shape;954;p73"/>
            <p:cNvCxnSpPr/>
            <p:nvPr/>
          </p:nvCxnSpPr>
          <p:spPr>
            <a:xfrm>
              <a:off x="185826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5" name="Google Shape;955;p73"/>
            <p:cNvCxnSpPr/>
            <p:nvPr/>
          </p:nvCxnSpPr>
          <p:spPr>
            <a:xfrm>
              <a:off x="241341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6" name="Google Shape;956;p73"/>
            <p:cNvCxnSpPr/>
            <p:nvPr/>
          </p:nvCxnSpPr>
          <p:spPr>
            <a:xfrm>
              <a:off x="296855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7" name="Google Shape;957;p73"/>
            <p:cNvCxnSpPr/>
            <p:nvPr/>
          </p:nvCxnSpPr>
          <p:spPr>
            <a:xfrm>
              <a:off x="352370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8" name="Google Shape;958;p73"/>
            <p:cNvCxnSpPr/>
            <p:nvPr/>
          </p:nvCxnSpPr>
          <p:spPr>
            <a:xfrm>
              <a:off x="352284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9" name="Google Shape;959;p73"/>
            <p:cNvCxnSpPr/>
            <p:nvPr/>
          </p:nvCxnSpPr>
          <p:spPr>
            <a:xfrm>
              <a:off x="629856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0" name="Google Shape;960;p73"/>
            <p:cNvCxnSpPr/>
            <p:nvPr/>
          </p:nvCxnSpPr>
          <p:spPr>
            <a:xfrm>
              <a:off x="407798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1" name="Google Shape;961;p73"/>
            <p:cNvCxnSpPr/>
            <p:nvPr/>
          </p:nvCxnSpPr>
          <p:spPr>
            <a:xfrm>
              <a:off x="463313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2" name="Google Shape;962;p73"/>
            <p:cNvCxnSpPr/>
            <p:nvPr/>
          </p:nvCxnSpPr>
          <p:spPr>
            <a:xfrm>
              <a:off x="518827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3" name="Google Shape;963;p73"/>
            <p:cNvCxnSpPr/>
            <p:nvPr/>
          </p:nvCxnSpPr>
          <p:spPr>
            <a:xfrm>
              <a:off x="574342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4" name="Google Shape;964;p73"/>
            <p:cNvSpPr/>
            <p:nvPr/>
          </p:nvSpPr>
          <p:spPr>
            <a:xfrm>
              <a:off x="770000" y="3560250"/>
              <a:ext cx="6119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5" name="Google Shape;965;p73"/>
          <p:cNvSpPr txBox="1"/>
          <p:nvPr/>
        </p:nvSpPr>
        <p:spPr>
          <a:xfrm>
            <a:off x="386791" y="39156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3"/>
          <p:cNvSpPr txBox="1"/>
          <p:nvPr/>
        </p:nvSpPr>
        <p:spPr>
          <a:xfrm>
            <a:off x="10961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3"/>
          <p:cNvSpPr txBox="1"/>
          <p:nvPr>
            <p:ph idx="1" type="body"/>
          </p:nvPr>
        </p:nvSpPr>
        <p:spPr>
          <a:xfrm>
            <a:off x="386800" y="772903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look at 42% of 340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73"/>
          <p:cNvSpPr txBox="1"/>
          <p:nvPr>
            <p:ph idx="1" type="body"/>
          </p:nvPr>
        </p:nvSpPr>
        <p:spPr>
          <a:xfrm>
            <a:off x="386800" y="1237153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strategy to find 42% is to find 40% and 2% and sum.</a:t>
            </a:r>
            <a:endParaRPr/>
          </a:p>
        </p:txBody>
      </p:sp>
      <p:sp>
        <p:nvSpPr>
          <p:cNvPr id="969" name="Google Shape;96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  <p:sp>
        <p:nvSpPr>
          <p:cNvPr id="970" name="Google Shape;970;p73"/>
          <p:cNvSpPr txBox="1"/>
          <p:nvPr/>
        </p:nvSpPr>
        <p:spPr>
          <a:xfrm>
            <a:off x="324000" y="1755238"/>
            <a:ext cx="557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would you find 40%?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3"/>
          <p:cNvSpPr txBox="1"/>
          <p:nvPr/>
        </p:nvSpPr>
        <p:spPr>
          <a:xfrm>
            <a:off x="2904831" y="4069100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136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3"/>
          <p:cNvSpPr txBox="1"/>
          <p:nvPr/>
        </p:nvSpPr>
        <p:spPr>
          <a:xfrm>
            <a:off x="27725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3"/>
          <p:cNvSpPr/>
          <p:nvPr/>
        </p:nvSpPr>
        <p:spPr>
          <a:xfrm>
            <a:off x="1397975" y="2742700"/>
            <a:ext cx="1683000" cy="6666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73"/>
          <p:cNvSpPr txBox="1"/>
          <p:nvPr/>
        </p:nvSpPr>
        <p:spPr>
          <a:xfrm>
            <a:off x="1877514" y="27427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3"/>
          <p:cNvSpPr txBox="1"/>
          <p:nvPr/>
        </p:nvSpPr>
        <p:spPr>
          <a:xfrm>
            <a:off x="1877514" y="43200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3"/>
          <p:cNvSpPr/>
          <p:nvPr/>
        </p:nvSpPr>
        <p:spPr>
          <a:xfrm flipH="1" rot="10800000">
            <a:off x="1411475" y="4103824"/>
            <a:ext cx="1656000" cy="6144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74"/>
          <p:cNvSpPr txBox="1"/>
          <p:nvPr/>
        </p:nvSpPr>
        <p:spPr>
          <a:xfrm>
            <a:off x="6144502" y="4069100"/>
            <a:ext cx="53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4"/>
          <p:cNvSpPr txBox="1"/>
          <p:nvPr/>
        </p:nvSpPr>
        <p:spPr>
          <a:xfrm>
            <a:off x="1389006" y="4036825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4"/>
          <p:cNvSpPr txBox="1"/>
          <p:nvPr/>
        </p:nvSpPr>
        <p:spPr>
          <a:xfrm>
            <a:off x="386791" y="32400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4"/>
          <p:cNvSpPr txBox="1"/>
          <p:nvPr/>
        </p:nvSpPr>
        <p:spPr>
          <a:xfrm>
            <a:off x="6096011" y="3070638"/>
            <a:ext cx="8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5" name="Google Shape;985;p74"/>
          <p:cNvGrpSpPr/>
          <p:nvPr/>
        </p:nvGrpSpPr>
        <p:grpSpPr>
          <a:xfrm>
            <a:off x="821260" y="3293578"/>
            <a:ext cx="8668422" cy="868664"/>
            <a:chOff x="745060" y="3293578"/>
            <a:chExt cx="8668422" cy="868664"/>
          </a:xfrm>
        </p:grpSpPr>
        <p:sp>
          <p:nvSpPr>
            <p:cNvPr id="986" name="Google Shape;986;p74"/>
            <p:cNvSpPr txBox="1"/>
            <p:nvPr/>
          </p:nvSpPr>
          <p:spPr>
            <a:xfrm>
              <a:off x="7292782" y="3339679"/>
              <a:ext cx="212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7" name="Google Shape;987;p74"/>
            <p:cNvSpPr txBox="1"/>
            <p:nvPr/>
          </p:nvSpPr>
          <p:spPr>
            <a:xfrm>
              <a:off x="7292772" y="3777530"/>
              <a:ext cx="184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988" name="Google Shape;988;p74"/>
            <p:cNvGrpSpPr/>
            <p:nvPr/>
          </p:nvGrpSpPr>
          <p:grpSpPr>
            <a:xfrm>
              <a:off x="745060" y="3293578"/>
              <a:ext cx="6406901" cy="868664"/>
              <a:chOff x="2621369" y="2760450"/>
              <a:chExt cx="4093082" cy="1357500"/>
            </a:xfrm>
          </p:grpSpPr>
          <p:grpSp>
            <p:nvGrpSpPr>
              <p:cNvPr id="989" name="Google Shape;989;p74"/>
              <p:cNvGrpSpPr/>
              <p:nvPr/>
            </p:nvGrpSpPr>
            <p:grpSpPr>
              <a:xfrm>
                <a:off x="2621369" y="2760450"/>
                <a:ext cx="4093082" cy="1357500"/>
                <a:chOff x="441900" y="3572013"/>
                <a:chExt cx="3074500" cy="1357500"/>
              </a:xfrm>
            </p:grpSpPr>
            <p:cxnSp>
              <p:nvCxnSpPr>
                <p:cNvPr id="990" name="Google Shape;990;p74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91" name="Google Shape;991;p74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992" name="Google Shape;992;p74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993" name="Google Shape;993;p74"/>
              <p:cNvSpPr/>
              <p:nvPr/>
            </p:nvSpPr>
            <p:spPr>
              <a:xfrm>
                <a:off x="3806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74"/>
              <p:cNvSpPr/>
              <p:nvPr/>
            </p:nvSpPr>
            <p:spPr>
              <a:xfrm>
                <a:off x="6092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74"/>
              <p:cNvSpPr/>
              <p:nvPr/>
            </p:nvSpPr>
            <p:spPr>
              <a:xfrm>
                <a:off x="4949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996" name="Google Shape;996;p74"/>
            <p:cNvCxnSpPr/>
            <p:nvPr/>
          </p:nvCxnSpPr>
          <p:spPr>
            <a:xfrm>
              <a:off x="74987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7" name="Google Shape;997;p74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8" name="Google Shape;998;p74"/>
            <p:cNvCxnSpPr/>
            <p:nvPr/>
          </p:nvCxnSpPr>
          <p:spPr>
            <a:xfrm>
              <a:off x="130502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" name="Google Shape;999;p74"/>
            <p:cNvCxnSpPr/>
            <p:nvPr/>
          </p:nvCxnSpPr>
          <p:spPr>
            <a:xfrm>
              <a:off x="186016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0" name="Google Shape;1000;p74"/>
            <p:cNvCxnSpPr/>
            <p:nvPr/>
          </p:nvCxnSpPr>
          <p:spPr>
            <a:xfrm>
              <a:off x="241531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1" name="Google Shape;1001;p74"/>
            <p:cNvCxnSpPr/>
            <p:nvPr/>
          </p:nvCxnSpPr>
          <p:spPr>
            <a:xfrm>
              <a:off x="297045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2" name="Google Shape;1002;p74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3" name="Google Shape;1003;p74"/>
            <p:cNvCxnSpPr/>
            <p:nvPr/>
          </p:nvCxnSpPr>
          <p:spPr>
            <a:xfrm>
              <a:off x="630132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4" name="Google Shape;1004;p74"/>
            <p:cNvCxnSpPr/>
            <p:nvPr/>
          </p:nvCxnSpPr>
          <p:spPr>
            <a:xfrm>
              <a:off x="408074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5" name="Google Shape;1005;p74"/>
            <p:cNvCxnSpPr/>
            <p:nvPr/>
          </p:nvCxnSpPr>
          <p:spPr>
            <a:xfrm>
              <a:off x="463589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6" name="Google Shape;1006;p74"/>
            <p:cNvCxnSpPr/>
            <p:nvPr/>
          </p:nvCxnSpPr>
          <p:spPr>
            <a:xfrm>
              <a:off x="519103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7" name="Google Shape;1007;p74"/>
            <p:cNvCxnSpPr/>
            <p:nvPr/>
          </p:nvCxnSpPr>
          <p:spPr>
            <a:xfrm>
              <a:off x="574618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8" name="Google Shape;1008;p74"/>
            <p:cNvCxnSpPr/>
            <p:nvPr/>
          </p:nvCxnSpPr>
          <p:spPr>
            <a:xfrm>
              <a:off x="130312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9" name="Google Shape;1009;p74"/>
            <p:cNvCxnSpPr/>
            <p:nvPr/>
          </p:nvCxnSpPr>
          <p:spPr>
            <a:xfrm>
              <a:off x="407884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0" name="Google Shape;1010;p74"/>
            <p:cNvCxnSpPr/>
            <p:nvPr/>
          </p:nvCxnSpPr>
          <p:spPr>
            <a:xfrm>
              <a:off x="185826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1" name="Google Shape;1011;p74"/>
            <p:cNvCxnSpPr/>
            <p:nvPr/>
          </p:nvCxnSpPr>
          <p:spPr>
            <a:xfrm>
              <a:off x="241341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2" name="Google Shape;1012;p74"/>
            <p:cNvCxnSpPr/>
            <p:nvPr/>
          </p:nvCxnSpPr>
          <p:spPr>
            <a:xfrm>
              <a:off x="296855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3" name="Google Shape;1013;p74"/>
            <p:cNvCxnSpPr/>
            <p:nvPr/>
          </p:nvCxnSpPr>
          <p:spPr>
            <a:xfrm>
              <a:off x="352370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4" name="Google Shape;1014;p74"/>
            <p:cNvCxnSpPr/>
            <p:nvPr/>
          </p:nvCxnSpPr>
          <p:spPr>
            <a:xfrm>
              <a:off x="352284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5" name="Google Shape;1015;p74"/>
            <p:cNvCxnSpPr/>
            <p:nvPr/>
          </p:nvCxnSpPr>
          <p:spPr>
            <a:xfrm>
              <a:off x="629856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6" name="Google Shape;1016;p74"/>
            <p:cNvCxnSpPr/>
            <p:nvPr/>
          </p:nvCxnSpPr>
          <p:spPr>
            <a:xfrm>
              <a:off x="407798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7" name="Google Shape;1017;p74"/>
            <p:cNvCxnSpPr/>
            <p:nvPr/>
          </p:nvCxnSpPr>
          <p:spPr>
            <a:xfrm>
              <a:off x="463313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8" name="Google Shape;1018;p74"/>
            <p:cNvCxnSpPr/>
            <p:nvPr/>
          </p:nvCxnSpPr>
          <p:spPr>
            <a:xfrm>
              <a:off x="518827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9" name="Google Shape;1019;p74"/>
            <p:cNvCxnSpPr/>
            <p:nvPr/>
          </p:nvCxnSpPr>
          <p:spPr>
            <a:xfrm>
              <a:off x="574342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0" name="Google Shape;1020;p74"/>
            <p:cNvSpPr/>
            <p:nvPr/>
          </p:nvSpPr>
          <p:spPr>
            <a:xfrm>
              <a:off x="770000" y="3560250"/>
              <a:ext cx="6119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1" name="Google Shape;1021;p74"/>
          <p:cNvSpPr txBox="1"/>
          <p:nvPr/>
        </p:nvSpPr>
        <p:spPr>
          <a:xfrm>
            <a:off x="386791" y="39156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4"/>
          <p:cNvSpPr txBox="1"/>
          <p:nvPr/>
        </p:nvSpPr>
        <p:spPr>
          <a:xfrm>
            <a:off x="11723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4"/>
          <p:cNvSpPr txBox="1"/>
          <p:nvPr/>
        </p:nvSpPr>
        <p:spPr>
          <a:xfrm>
            <a:off x="2904831" y="4069100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136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4"/>
          <p:cNvSpPr txBox="1"/>
          <p:nvPr/>
        </p:nvSpPr>
        <p:spPr>
          <a:xfrm>
            <a:off x="27725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4"/>
          <p:cNvSpPr txBox="1"/>
          <p:nvPr>
            <p:ph idx="1" type="body"/>
          </p:nvPr>
        </p:nvSpPr>
        <p:spPr>
          <a:xfrm>
            <a:off x="324000" y="271925"/>
            <a:ext cx="8237700" cy="17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74"/>
          <p:cNvSpPr txBox="1"/>
          <p:nvPr>
            <p:ph idx="1" type="body"/>
          </p:nvPr>
        </p:nvSpPr>
        <p:spPr>
          <a:xfrm>
            <a:off x="324000" y="8694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look at 42% of 340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74"/>
          <p:cNvSpPr txBox="1"/>
          <p:nvPr>
            <p:ph idx="1" type="body"/>
          </p:nvPr>
        </p:nvSpPr>
        <p:spPr>
          <a:xfrm>
            <a:off x="324000" y="1439375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would you find 2%?</a:t>
            </a:r>
            <a:endParaRPr/>
          </a:p>
        </p:txBody>
      </p:sp>
      <p:sp>
        <p:nvSpPr>
          <p:cNvPr id="1028" name="Google Shape;1028;p74"/>
          <p:cNvSpPr/>
          <p:nvPr/>
        </p:nvSpPr>
        <p:spPr>
          <a:xfrm flipH="1">
            <a:off x="1096125" y="2852650"/>
            <a:ext cx="365700" cy="5181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74"/>
          <p:cNvSpPr txBox="1"/>
          <p:nvPr/>
        </p:nvSpPr>
        <p:spPr>
          <a:xfrm>
            <a:off x="1047622" y="2537513"/>
            <a:ext cx="45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÷ 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4"/>
          <p:cNvSpPr/>
          <p:nvPr/>
        </p:nvSpPr>
        <p:spPr>
          <a:xfrm rot="10800000">
            <a:off x="1054600" y="4050975"/>
            <a:ext cx="306900" cy="4638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74"/>
          <p:cNvSpPr txBox="1"/>
          <p:nvPr/>
        </p:nvSpPr>
        <p:spPr>
          <a:xfrm>
            <a:off x="1053822" y="4467763"/>
            <a:ext cx="45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÷ 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4"/>
          <p:cNvSpPr txBox="1"/>
          <p:nvPr/>
        </p:nvSpPr>
        <p:spPr>
          <a:xfrm>
            <a:off x="656716" y="3128213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3" name="Google Shape;1033;p74"/>
          <p:cNvCxnSpPr/>
          <p:nvPr/>
        </p:nvCxnSpPr>
        <p:spPr>
          <a:xfrm flipH="1">
            <a:off x="935266" y="3405437"/>
            <a:ext cx="1800" cy="67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4" name="Google Shape;1034;p74"/>
          <p:cNvSpPr/>
          <p:nvPr/>
        </p:nvSpPr>
        <p:spPr>
          <a:xfrm>
            <a:off x="874375" y="3558852"/>
            <a:ext cx="1236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4"/>
          <p:cNvSpPr txBox="1"/>
          <p:nvPr/>
        </p:nvSpPr>
        <p:spPr>
          <a:xfrm>
            <a:off x="722875" y="3944563"/>
            <a:ext cx="5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6.8</a:t>
            </a:r>
            <a:endParaRPr/>
          </a:p>
        </p:txBody>
      </p:sp>
      <p:sp>
        <p:nvSpPr>
          <p:cNvPr id="1036" name="Google Shape;103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75"/>
          <p:cNvSpPr txBox="1"/>
          <p:nvPr/>
        </p:nvSpPr>
        <p:spPr>
          <a:xfrm>
            <a:off x="6144502" y="4069100"/>
            <a:ext cx="53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5"/>
          <p:cNvSpPr txBox="1"/>
          <p:nvPr/>
        </p:nvSpPr>
        <p:spPr>
          <a:xfrm>
            <a:off x="386791" y="32400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5"/>
          <p:cNvSpPr txBox="1"/>
          <p:nvPr/>
        </p:nvSpPr>
        <p:spPr>
          <a:xfrm>
            <a:off x="6096011" y="3070638"/>
            <a:ext cx="8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4" name="Google Shape;1044;p75"/>
          <p:cNvGrpSpPr/>
          <p:nvPr/>
        </p:nvGrpSpPr>
        <p:grpSpPr>
          <a:xfrm>
            <a:off x="821260" y="3293578"/>
            <a:ext cx="8668422" cy="868664"/>
            <a:chOff x="745060" y="3293578"/>
            <a:chExt cx="8668422" cy="868664"/>
          </a:xfrm>
        </p:grpSpPr>
        <p:sp>
          <p:nvSpPr>
            <p:cNvPr id="1045" name="Google Shape;1045;p75"/>
            <p:cNvSpPr txBox="1"/>
            <p:nvPr/>
          </p:nvSpPr>
          <p:spPr>
            <a:xfrm>
              <a:off x="7292782" y="3339679"/>
              <a:ext cx="212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6" name="Google Shape;1046;p75"/>
            <p:cNvSpPr txBox="1"/>
            <p:nvPr/>
          </p:nvSpPr>
          <p:spPr>
            <a:xfrm>
              <a:off x="7292772" y="3777530"/>
              <a:ext cx="184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47" name="Google Shape;1047;p75"/>
            <p:cNvGrpSpPr/>
            <p:nvPr/>
          </p:nvGrpSpPr>
          <p:grpSpPr>
            <a:xfrm>
              <a:off x="745060" y="3293578"/>
              <a:ext cx="6406901" cy="868664"/>
              <a:chOff x="2621369" y="2760450"/>
              <a:chExt cx="4093082" cy="1357500"/>
            </a:xfrm>
          </p:grpSpPr>
          <p:grpSp>
            <p:nvGrpSpPr>
              <p:cNvPr id="1048" name="Google Shape;1048;p75"/>
              <p:cNvGrpSpPr/>
              <p:nvPr/>
            </p:nvGrpSpPr>
            <p:grpSpPr>
              <a:xfrm>
                <a:off x="2621369" y="2760450"/>
                <a:ext cx="4093082" cy="1357500"/>
                <a:chOff x="441900" y="3572013"/>
                <a:chExt cx="3074500" cy="1357500"/>
              </a:xfrm>
            </p:grpSpPr>
            <p:cxnSp>
              <p:nvCxnSpPr>
                <p:cNvPr id="1049" name="Google Shape;1049;p75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0" name="Google Shape;1050;p75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051" name="Google Shape;1051;p75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1052" name="Google Shape;1052;p75"/>
              <p:cNvSpPr/>
              <p:nvPr/>
            </p:nvSpPr>
            <p:spPr>
              <a:xfrm>
                <a:off x="3806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75"/>
              <p:cNvSpPr/>
              <p:nvPr/>
            </p:nvSpPr>
            <p:spPr>
              <a:xfrm>
                <a:off x="6092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75"/>
              <p:cNvSpPr/>
              <p:nvPr/>
            </p:nvSpPr>
            <p:spPr>
              <a:xfrm>
                <a:off x="4949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55" name="Google Shape;1055;p75"/>
            <p:cNvCxnSpPr/>
            <p:nvPr/>
          </p:nvCxnSpPr>
          <p:spPr>
            <a:xfrm>
              <a:off x="74987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6" name="Google Shape;1056;p75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7" name="Google Shape;1057;p75"/>
            <p:cNvCxnSpPr/>
            <p:nvPr/>
          </p:nvCxnSpPr>
          <p:spPr>
            <a:xfrm>
              <a:off x="130502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8" name="Google Shape;1058;p75"/>
            <p:cNvCxnSpPr/>
            <p:nvPr/>
          </p:nvCxnSpPr>
          <p:spPr>
            <a:xfrm>
              <a:off x="186016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9" name="Google Shape;1059;p75"/>
            <p:cNvCxnSpPr/>
            <p:nvPr/>
          </p:nvCxnSpPr>
          <p:spPr>
            <a:xfrm>
              <a:off x="241531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0" name="Google Shape;1060;p75"/>
            <p:cNvCxnSpPr/>
            <p:nvPr/>
          </p:nvCxnSpPr>
          <p:spPr>
            <a:xfrm>
              <a:off x="297045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75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75"/>
            <p:cNvCxnSpPr/>
            <p:nvPr/>
          </p:nvCxnSpPr>
          <p:spPr>
            <a:xfrm>
              <a:off x="630132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75"/>
            <p:cNvCxnSpPr/>
            <p:nvPr/>
          </p:nvCxnSpPr>
          <p:spPr>
            <a:xfrm>
              <a:off x="408074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4" name="Google Shape;1064;p75"/>
            <p:cNvCxnSpPr/>
            <p:nvPr/>
          </p:nvCxnSpPr>
          <p:spPr>
            <a:xfrm>
              <a:off x="463589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5" name="Google Shape;1065;p75"/>
            <p:cNvCxnSpPr/>
            <p:nvPr/>
          </p:nvCxnSpPr>
          <p:spPr>
            <a:xfrm>
              <a:off x="519103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75"/>
            <p:cNvCxnSpPr/>
            <p:nvPr/>
          </p:nvCxnSpPr>
          <p:spPr>
            <a:xfrm>
              <a:off x="574618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7" name="Google Shape;1067;p75"/>
            <p:cNvCxnSpPr/>
            <p:nvPr/>
          </p:nvCxnSpPr>
          <p:spPr>
            <a:xfrm>
              <a:off x="130312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" name="Google Shape;1068;p75"/>
            <p:cNvCxnSpPr/>
            <p:nvPr/>
          </p:nvCxnSpPr>
          <p:spPr>
            <a:xfrm>
              <a:off x="407884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9" name="Google Shape;1069;p75"/>
            <p:cNvCxnSpPr/>
            <p:nvPr/>
          </p:nvCxnSpPr>
          <p:spPr>
            <a:xfrm>
              <a:off x="185826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0" name="Google Shape;1070;p75"/>
            <p:cNvCxnSpPr/>
            <p:nvPr/>
          </p:nvCxnSpPr>
          <p:spPr>
            <a:xfrm>
              <a:off x="241341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1" name="Google Shape;1071;p75"/>
            <p:cNvCxnSpPr/>
            <p:nvPr/>
          </p:nvCxnSpPr>
          <p:spPr>
            <a:xfrm>
              <a:off x="296855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2" name="Google Shape;1072;p75"/>
            <p:cNvCxnSpPr/>
            <p:nvPr/>
          </p:nvCxnSpPr>
          <p:spPr>
            <a:xfrm>
              <a:off x="352370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3" name="Google Shape;1073;p75"/>
            <p:cNvCxnSpPr/>
            <p:nvPr/>
          </p:nvCxnSpPr>
          <p:spPr>
            <a:xfrm>
              <a:off x="352284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4" name="Google Shape;1074;p75"/>
            <p:cNvCxnSpPr/>
            <p:nvPr/>
          </p:nvCxnSpPr>
          <p:spPr>
            <a:xfrm>
              <a:off x="629856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5" name="Google Shape;1075;p75"/>
            <p:cNvCxnSpPr/>
            <p:nvPr/>
          </p:nvCxnSpPr>
          <p:spPr>
            <a:xfrm>
              <a:off x="407798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6" name="Google Shape;1076;p75"/>
            <p:cNvCxnSpPr/>
            <p:nvPr/>
          </p:nvCxnSpPr>
          <p:spPr>
            <a:xfrm>
              <a:off x="463313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7" name="Google Shape;1077;p75"/>
            <p:cNvCxnSpPr/>
            <p:nvPr/>
          </p:nvCxnSpPr>
          <p:spPr>
            <a:xfrm>
              <a:off x="518827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8" name="Google Shape;1078;p75"/>
            <p:cNvCxnSpPr/>
            <p:nvPr/>
          </p:nvCxnSpPr>
          <p:spPr>
            <a:xfrm>
              <a:off x="574342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9" name="Google Shape;1079;p75"/>
            <p:cNvSpPr/>
            <p:nvPr/>
          </p:nvSpPr>
          <p:spPr>
            <a:xfrm>
              <a:off x="770000" y="3560250"/>
              <a:ext cx="6119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0" name="Google Shape;1080;p75"/>
          <p:cNvSpPr txBox="1"/>
          <p:nvPr/>
        </p:nvSpPr>
        <p:spPr>
          <a:xfrm>
            <a:off x="386791" y="39156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5"/>
          <p:cNvSpPr txBox="1"/>
          <p:nvPr/>
        </p:nvSpPr>
        <p:spPr>
          <a:xfrm>
            <a:off x="2904831" y="4069100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136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5"/>
          <p:cNvSpPr txBox="1"/>
          <p:nvPr/>
        </p:nvSpPr>
        <p:spPr>
          <a:xfrm>
            <a:off x="27725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5"/>
          <p:cNvSpPr txBox="1"/>
          <p:nvPr>
            <p:ph idx="1" type="body"/>
          </p:nvPr>
        </p:nvSpPr>
        <p:spPr>
          <a:xfrm>
            <a:off x="324000" y="759300"/>
            <a:ext cx="8237700" cy="17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also find any percentage of an amount using a double number line.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75"/>
          <p:cNvSpPr txBox="1"/>
          <p:nvPr>
            <p:ph idx="1" type="body"/>
          </p:nvPr>
        </p:nvSpPr>
        <p:spPr>
          <a:xfrm>
            <a:off x="324000" y="1583025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42% of 340?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75"/>
          <p:cNvSpPr txBox="1"/>
          <p:nvPr/>
        </p:nvSpPr>
        <p:spPr>
          <a:xfrm>
            <a:off x="656716" y="3100999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6" name="Google Shape;1086;p75"/>
          <p:cNvCxnSpPr/>
          <p:nvPr/>
        </p:nvCxnSpPr>
        <p:spPr>
          <a:xfrm flipH="1">
            <a:off x="935266" y="3405437"/>
            <a:ext cx="1800" cy="67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7" name="Google Shape;1087;p75"/>
          <p:cNvSpPr txBox="1"/>
          <p:nvPr/>
        </p:nvSpPr>
        <p:spPr>
          <a:xfrm>
            <a:off x="722875" y="3944563"/>
            <a:ext cx="59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6.8</a:t>
            </a:r>
            <a:endParaRPr/>
          </a:p>
        </p:txBody>
      </p:sp>
      <p:sp>
        <p:nvSpPr>
          <p:cNvPr id="1088" name="Google Shape;1088;p75"/>
          <p:cNvSpPr/>
          <p:nvPr/>
        </p:nvSpPr>
        <p:spPr>
          <a:xfrm>
            <a:off x="874375" y="3558852"/>
            <a:ext cx="1236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75"/>
          <p:cNvSpPr txBox="1"/>
          <p:nvPr/>
        </p:nvSpPr>
        <p:spPr>
          <a:xfrm>
            <a:off x="386800" y="20029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136 + 6.8 = 142.8</a:t>
            </a:r>
            <a:endParaRPr/>
          </a:p>
        </p:txBody>
      </p:sp>
      <p:sp>
        <p:nvSpPr>
          <p:cNvPr id="1090" name="Google Shape;1090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76"/>
          <p:cNvSpPr txBox="1"/>
          <p:nvPr/>
        </p:nvSpPr>
        <p:spPr>
          <a:xfrm>
            <a:off x="6144502" y="4069100"/>
            <a:ext cx="53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76"/>
          <p:cNvSpPr txBox="1"/>
          <p:nvPr/>
        </p:nvSpPr>
        <p:spPr>
          <a:xfrm>
            <a:off x="386791" y="32400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76"/>
          <p:cNvSpPr txBox="1"/>
          <p:nvPr/>
        </p:nvSpPr>
        <p:spPr>
          <a:xfrm>
            <a:off x="6096011" y="3070638"/>
            <a:ext cx="8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8" name="Google Shape;1098;p76"/>
          <p:cNvGrpSpPr/>
          <p:nvPr/>
        </p:nvGrpSpPr>
        <p:grpSpPr>
          <a:xfrm>
            <a:off x="821260" y="3293578"/>
            <a:ext cx="8668422" cy="868664"/>
            <a:chOff x="745060" y="3293578"/>
            <a:chExt cx="8668422" cy="868664"/>
          </a:xfrm>
        </p:grpSpPr>
        <p:sp>
          <p:nvSpPr>
            <p:cNvPr id="1099" name="Google Shape;1099;p76"/>
            <p:cNvSpPr txBox="1"/>
            <p:nvPr/>
          </p:nvSpPr>
          <p:spPr>
            <a:xfrm>
              <a:off x="7292782" y="3339679"/>
              <a:ext cx="212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0" name="Google Shape;1100;p76"/>
            <p:cNvSpPr txBox="1"/>
            <p:nvPr/>
          </p:nvSpPr>
          <p:spPr>
            <a:xfrm>
              <a:off x="7292772" y="3777530"/>
              <a:ext cx="184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01" name="Google Shape;1101;p76"/>
            <p:cNvGrpSpPr/>
            <p:nvPr/>
          </p:nvGrpSpPr>
          <p:grpSpPr>
            <a:xfrm>
              <a:off x="745060" y="3293578"/>
              <a:ext cx="6406901" cy="868664"/>
              <a:chOff x="2621369" y="2760450"/>
              <a:chExt cx="4093082" cy="1357500"/>
            </a:xfrm>
          </p:grpSpPr>
          <p:grpSp>
            <p:nvGrpSpPr>
              <p:cNvPr id="1102" name="Google Shape;1102;p76"/>
              <p:cNvGrpSpPr/>
              <p:nvPr/>
            </p:nvGrpSpPr>
            <p:grpSpPr>
              <a:xfrm>
                <a:off x="2621369" y="2760450"/>
                <a:ext cx="4093082" cy="1357500"/>
                <a:chOff x="441900" y="3572013"/>
                <a:chExt cx="3074500" cy="1357500"/>
              </a:xfrm>
            </p:grpSpPr>
            <p:cxnSp>
              <p:nvCxnSpPr>
                <p:cNvPr id="1103" name="Google Shape;1103;p76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04" name="Google Shape;1104;p76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105" name="Google Shape;1105;p76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1106" name="Google Shape;1106;p76"/>
              <p:cNvSpPr/>
              <p:nvPr/>
            </p:nvSpPr>
            <p:spPr>
              <a:xfrm>
                <a:off x="3806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76"/>
              <p:cNvSpPr/>
              <p:nvPr/>
            </p:nvSpPr>
            <p:spPr>
              <a:xfrm>
                <a:off x="6092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76"/>
              <p:cNvSpPr/>
              <p:nvPr/>
            </p:nvSpPr>
            <p:spPr>
              <a:xfrm>
                <a:off x="4949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109" name="Google Shape;1109;p76"/>
            <p:cNvCxnSpPr/>
            <p:nvPr/>
          </p:nvCxnSpPr>
          <p:spPr>
            <a:xfrm>
              <a:off x="74987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0" name="Google Shape;1110;p76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1" name="Google Shape;1111;p76"/>
            <p:cNvCxnSpPr/>
            <p:nvPr/>
          </p:nvCxnSpPr>
          <p:spPr>
            <a:xfrm>
              <a:off x="130502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2" name="Google Shape;1112;p76"/>
            <p:cNvCxnSpPr/>
            <p:nvPr/>
          </p:nvCxnSpPr>
          <p:spPr>
            <a:xfrm>
              <a:off x="186016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3" name="Google Shape;1113;p76"/>
            <p:cNvCxnSpPr/>
            <p:nvPr/>
          </p:nvCxnSpPr>
          <p:spPr>
            <a:xfrm>
              <a:off x="241531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4" name="Google Shape;1114;p76"/>
            <p:cNvCxnSpPr/>
            <p:nvPr/>
          </p:nvCxnSpPr>
          <p:spPr>
            <a:xfrm>
              <a:off x="297045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5" name="Google Shape;1115;p76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6" name="Google Shape;1116;p76"/>
            <p:cNvCxnSpPr/>
            <p:nvPr/>
          </p:nvCxnSpPr>
          <p:spPr>
            <a:xfrm>
              <a:off x="630132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7" name="Google Shape;1117;p76"/>
            <p:cNvCxnSpPr/>
            <p:nvPr/>
          </p:nvCxnSpPr>
          <p:spPr>
            <a:xfrm>
              <a:off x="408074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8" name="Google Shape;1118;p76"/>
            <p:cNvCxnSpPr/>
            <p:nvPr/>
          </p:nvCxnSpPr>
          <p:spPr>
            <a:xfrm>
              <a:off x="463589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9" name="Google Shape;1119;p76"/>
            <p:cNvCxnSpPr/>
            <p:nvPr/>
          </p:nvCxnSpPr>
          <p:spPr>
            <a:xfrm>
              <a:off x="519103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0" name="Google Shape;1120;p76"/>
            <p:cNvCxnSpPr/>
            <p:nvPr/>
          </p:nvCxnSpPr>
          <p:spPr>
            <a:xfrm>
              <a:off x="574618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1" name="Google Shape;1121;p76"/>
            <p:cNvCxnSpPr/>
            <p:nvPr/>
          </p:nvCxnSpPr>
          <p:spPr>
            <a:xfrm>
              <a:off x="130312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2" name="Google Shape;1122;p76"/>
            <p:cNvCxnSpPr/>
            <p:nvPr/>
          </p:nvCxnSpPr>
          <p:spPr>
            <a:xfrm>
              <a:off x="407884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3" name="Google Shape;1123;p76"/>
            <p:cNvCxnSpPr/>
            <p:nvPr/>
          </p:nvCxnSpPr>
          <p:spPr>
            <a:xfrm>
              <a:off x="185826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4" name="Google Shape;1124;p76"/>
            <p:cNvCxnSpPr/>
            <p:nvPr/>
          </p:nvCxnSpPr>
          <p:spPr>
            <a:xfrm>
              <a:off x="241341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5" name="Google Shape;1125;p76"/>
            <p:cNvCxnSpPr/>
            <p:nvPr/>
          </p:nvCxnSpPr>
          <p:spPr>
            <a:xfrm>
              <a:off x="296855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6" name="Google Shape;1126;p76"/>
            <p:cNvCxnSpPr/>
            <p:nvPr/>
          </p:nvCxnSpPr>
          <p:spPr>
            <a:xfrm>
              <a:off x="352370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7" name="Google Shape;1127;p76"/>
            <p:cNvCxnSpPr/>
            <p:nvPr/>
          </p:nvCxnSpPr>
          <p:spPr>
            <a:xfrm>
              <a:off x="352284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8" name="Google Shape;1128;p76"/>
            <p:cNvCxnSpPr/>
            <p:nvPr/>
          </p:nvCxnSpPr>
          <p:spPr>
            <a:xfrm>
              <a:off x="629856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9" name="Google Shape;1129;p76"/>
            <p:cNvCxnSpPr/>
            <p:nvPr/>
          </p:nvCxnSpPr>
          <p:spPr>
            <a:xfrm>
              <a:off x="407798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0" name="Google Shape;1130;p76"/>
            <p:cNvCxnSpPr/>
            <p:nvPr/>
          </p:nvCxnSpPr>
          <p:spPr>
            <a:xfrm>
              <a:off x="463313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1" name="Google Shape;1131;p76"/>
            <p:cNvCxnSpPr/>
            <p:nvPr/>
          </p:nvCxnSpPr>
          <p:spPr>
            <a:xfrm>
              <a:off x="518827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2" name="Google Shape;1132;p76"/>
            <p:cNvCxnSpPr/>
            <p:nvPr/>
          </p:nvCxnSpPr>
          <p:spPr>
            <a:xfrm>
              <a:off x="574342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3" name="Google Shape;1133;p76"/>
            <p:cNvSpPr/>
            <p:nvPr/>
          </p:nvSpPr>
          <p:spPr>
            <a:xfrm>
              <a:off x="770000" y="3560250"/>
              <a:ext cx="6119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4" name="Google Shape;1134;p76"/>
          <p:cNvSpPr txBox="1"/>
          <p:nvPr/>
        </p:nvSpPr>
        <p:spPr>
          <a:xfrm>
            <a:off x="386791" y="39156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76"/>
          <p:cNvSpPr txBox="1"/>
          <p:nvPr/>
        </p:nvSpPr>
        <p:spPr>
          <a:xfrm>
            <a:off x="2904823" y="4069100"/>
            <a:ext cx="77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142.8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76"/>
          <p:cNvSpPr txBox="1"/>
          <p:nvPr/>
        </p:nvSpPr>
        <p:spPr>
          <a:xfrm>
            <a:off x="29249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42%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6"/>
          <p:cNvSpPr txBox="1"/>
          <p:nvPr>
            <p:ph idx="1" type="body"/>
          </p:nvPr>
        </p:nvSpPr>
        <p:spPr>
          <a:xfrm>
            <a:off x="324000" y="759300"/>
            <a:ext cx="8237700" cy="8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Having a strategy to find a </a:t>
            </a:r>
            <a:r>
              <a:rPr lang="en-GB"/>
              <a:t>percentage</a:t>
            </a:r>
            <a:r>
              <a:rPr lang="en-GB"/>
              <a:t> of an amount is important. Finding 10%, 5% and 1% can generally help.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1138" name="Google Shape;1138;p76"/>
          <p:cNvCxnSpPr/>
          <p:nvPr/>
        </p:nvCxnSpPr>
        <p:spPr>
          <a:xfrm flipH="1">
            <a:off x="3145066" y="3405437"/>
            <a:ext cx="1800" cy="67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9" name="Google Shape;1139;p76"/>
          <p:cNvSpPr/>
          <p:nvPr/>
        </p:nvSpPr>
        <p:spPr>
          <a:xfrm>
            <a:off x="3084175" y="3558852"/>
            <a:ext cx="1236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double number line, work out 36% of 460</a:t>
            </a:r>
            <a:endParaRPr/>
          </a:p>
        </p:txBody>
      </p:sp>
      <p:grpSp>
        <p:nvGrpSpPr>
          <p:cNvPr id="1146" name="Google Shape;1146;p77"/>
          <p:cNvGrpSpPr/>
          <p:nvPr/>
        </p:nvGrpSpPr>
        <p:grpSpPr>
          <a:xfrm>
            <a:off x="776160" y="2015863"/>
            <a:ext cx="9021227" cy="868664"/>
            <a:chOff x="745060" y="3293578"/>
            <a:chExt cx="8668422" cy="868664"/>
          </a:xfrm>
        </p:grpSpPr>
        <p:sp>
          <p:nvSpPr>
            <p:cNvPr id="1147" name="Google Shape;1147;p77"/>
            <p:cNvSpPr txBox="1"/>
            <p:nvPr/>
          </p:nvSpPr>
          <p:spPr>
            <a:xfrm>
              <a:off x="7292782" y="3339679"/>
              <a:ext cx="2120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8" name="Google Shape;1148;p77"/>
            <p:cNvSpPr txBox="1"/>
            <p:nvPr/>
          </p:nvSpPr>
          <p:spPr>
            <a:xfrm>
              <a:off x="7292772" y="3777530"/>
              <a:ext cx="184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49" name="Google Shape;1149;p77"/>
            <p:cNvGrpSpPr/>
            <p:nvPr/>
          </p:nvGrpSpPr>
          <p:grpSpPr>
            <a:xfrm>
              <a:off x="745060" y="3293578"/>
              <a:ext cx="6406901" cy="868664"/>
              <a:chOff x="2621369" y="2760450"/>
              <a:chExt cx="4093082" cy="1357500"/>
            </a:xfrm>
          </p:grpSpPr>
          <p:grpSp>
            <p:nvGrpSpPr>
              <p:cNvPr id="1150" name="Google Shape;1150;p77"/>
              <p:cNvGrpSpPr/>
              <p:nvPr/>
            </p:nvGrpSpPr>
            <p:grpSpPr>
              <a:xfrm>
                <a:off x="2621369" y="2760450"/>
                <a:ext cx="4093082" cy="1357500"/>
                <a:chOff x="441900" y="3572013"/>
                <a:chExt cx="3074500" cy="1357500"/>
              </a:xfrm>
            </p:grpSpPr>
            <p:cxnSp>
              <p:nvCxnSpPr>
                <p:cNvPr id="1151" name="Google Shape;1151;p77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52" name="Google Shape;1152;p77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153" name="Google Shape;1153;p77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1154" name="Google Shape;1154;p77"/>
              <p:cNvSpPr/>
              <p:nvPr/>
            </p:nvSpPr>
            <p:spPr>
              <a:xfrm>
                <a:off x="3806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77"/>
              <p:cNvSpPr/>
              <p:nvPr/>
            </p:nvSpPr>
            <p:spPr>
              <a:xfrm>
                <a:off x="6092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77"/>
              <p:cNvSpPr/>
              <p:nvPr/>
            </p:nvSpPr>
            <p:spPr>
              <a:xfrm>
                <a:off x="4949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157" name="Google Shape;1157;p77"/>
            <p:cNvCxnSpPr/>
            <p:nvPr/>
          </p:nvCxnSpPr>
          <p:spPr>
            <a:xfrm>
              <a:off x="74987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8" name="Google Shape;1158;p77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9" name="Google Shape;1159;p77"/>
            <p:cNvCxnSpPr/>
            <p:nvPr/>
          </p:nvCxnSpPr>
          <p:spPr>
            <a:xfrm>
              <a:off x="130502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0" name="Google Shape;1160;p77"/>
            <p:cNvCxnSpPr/>
            <p:nvPr/>
          </p:nvCxnSpPr>
          <p:spPr>
            <a:xfrm>
              <a:off x="186016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1" name="Google Shape;1161;p77"/>
            <p:cNvCxnSpPr/>
            <p:nvPr/>
          </p:nvCxnSpPr>
          <p:spPr>
            <a:xfrm>
              <a:off x="241531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77"/>
            <p:cNvCxnSpPr/>
            <p:nvPr/>
          </p:nvCxnSpPr>
          <p:spPr>
            <a:xfrm>
              <a:off x="297045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3" name="Google Shape;1163;p77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4" name="Google Shape;1164;p77"/>
            <p:cNvCxnSpPr/>
            <p:nvPr/>
          </p:nvCxnSpPr>
          <p:spPr>
            <a:xfrm>
              <a:off x="630132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5" name="Google Shape;1165;p77"/>
            <p:cNvCxnSpPr/>
            <p:nvPr/>
          </p:nvCxnSpPr>
          <p:spPr>
            <a:xfrm>
              <a:off x="408074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6" name="Google Shape;1166;p77"/>
            <p:cNvCxnSpPr/>
            <p:nvPr/>
          </p:nvCxnSpPr>
          <p:spPr>
            <a:xfrm>
              <a:off x="463589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7" name="Google Shape;1167;p77"/>
            <p:cNvCxnSpPr/>
            <p:nvPr/>
          </p:nvCxnSpPr>
          <p:spPr>
            <a:xfrm>
              <a:off x="519103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8" name="Google Shape;1168;p77"/>
            <p:cNvCxnSpPr/>
            <p:nvPr/>
          </p:nvCxnSpPr>
          <p:spPr>
            <a:xfrm>
              <a:off x="574618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9" name="Google Shape;1169;p77"/>
            <p:cNvCxnSpPr/>
            <p:nvPr/>
          </p:nvCxnSpPr>
          <p:spPr>
            <a:xfrm>
              <a:off x="130312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0" name="Google Shape;1170;p77"/>
            <p:cNvCxnSpPr/>
            <p:nvPr/>
          </p:nvCxnSpPr>
          <p:spPr>
            <a:xfrm>
              <a:off x="407884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1" name="Google Shape;1171;p77"/>
            <p:cNvCxnSpPr/>
            <p:nvPr/>
          </p:nvCxnSpPr>
          <p:spPr>
            <a:xfrm>
              <a:off x="185826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2" name="Google Shape;1172;p77"/>
            <p:cNvCxnSpPr/>
            <p:nvPr/>
          </p:nvCxnSpPr>
          <p:spPr>
            <a:xfrm>
              <a:off x="241341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3" name="Google Shape;1173;p77"/>
            <p:cNvCxnSpPr/>
            <p:nvPr/>
          </p:nvCxnSpPr>
          <p:spPr>
            <a:xfrm>
              <a:off x="296855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4" name="Google Shape;1174;p77"/>
            <p:cNvCxnSpPr/>
            <p:nvPr/>
          </p:nvCxnSpPr>
          <p:spPr>
            <a:xfrm>
              <a:off x="352370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5" name="Google Shape;1175;p77"/>
            <p:cNvCxnSpPr/>
            <p:nvPr/>
          </p:nvCxnSpPr>
          <p:spPr>
            <a:xfrm>
              <a:off x="352284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6" name="Google Shape;1176;p77"/>
            <p:cNvCxnSpPr/>
            <p:nvPr/>
          </p:nvCxnSpPr>
          <p:spPr>
            <a:xfrm>
              <a:off x="629856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7" name="Google Shape;1177;p77"/>
            <p:cNvCxnSpPr/>
            <p:nvPr/>
          </p:nvCxnSpPr>
          <p:spPr>
            <a:xfrm>
              <a:off x="407798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8" name="Google Shape;1178;p77"/>
            <p:cNvCxnSpPr/>
            <p:nvPr/>
          </p:nvCxnSpPr>
          <p:spPr>
            <a:xfrm>
              <a:off x="463313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9" name="Google Shape;1179;p77"/>
            <p:cNvCxnSpPr/>
            <p:nvPr/>
          </p:nvCxnSpPr>
          <p:spPr>
            <a:xfrm>
              <a:off x="518827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0" name="Google Shape;1180;p77"/>
            <p:cNvCxnSpPr/>
            <p:nvPr/>
          </p:nvCxnSpPr>
          <p:spPr>
            <a:xfrm>
              <a:off x="574342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81" name="Google Shape;1181;p77"/>
            <p:cNvSpPr/>
            <p:nvPr/>
          </p:nvSpPr>
          <p:spPr>
            <a:xfrm>
              <a:off x="770000" y="3560250"/>
              <a:ext cx="6119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2" name="Google Shape;1182;p77"/>
          <p:cNvSpPr txBox="1"/>
          <p:nvPr/>
        </p:nvSpPr>
        <p:spPr>
          <a:xfrm>
            <a:off x="6310302" y="2791425"/>
            <a:ext cx="531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460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77"/>
          <p:cNvSpPr txBox="1"/>
          <p:nvPr/>
        </p:nvSpPr>
        <p:spPr>
          <a:xfrm>
            <a:off x="324000" y="1962333"/>
            <a:ext cx="61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77"/>
          <p:cNvSpPr txBox="1"/>
          <p:nvPr/>
        </p:nvSpPr>
        <p:spPr>
          <a:xfrm>
            <a:off x="6143589" y="1792963"/>
            <a:ext cx="82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77"/>
          <p:cNvSpPr txBox="1"/>
          <p:nvPr/>
        </p:nvSpPr>
        <p:spPr>
          <a:xfrm>
            <a:off x="324000" y="2637941"/>
            <a:ext cx="61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77"/>
          <p:cNvSpPr txBox="1"/>
          <p:nvPr/>
        </p:nvSpPr>
        <p:spPr>
          <a:xfrm>
            <a:off x="1228176" y="1823725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7" name="Google Shape;1187;p77"/>
          <p:cNvCxnSpPr/>
          <p:nvPr/>
        </p:nvCxnSpPr>
        <p:spPr>
          <a:xfrm>
            <a:off x="1070835" y="2127000"/>
            <a:ext cx="0" cy="13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77"/>
          <p:cNvCxnSpPr/>
          <p:nvPr/>
        </p:nvCxnSpPr>
        <p:spPr>
          <a:xfrm>
            <a:off x="1070835" y="2653402"/>
            <a:ext cx="0" cy="13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9" name="Google Shape;1189;p77"/>
          <p:cNvSpPr txBox="1"/>
          <p:nvPr/>
        </p:nvSpPr>
        <p:spPr>
          <a:xfrm>
            <a:off x="1330307" y="2791430"/>
            <a:ext cx="6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77"/>
          <p:cNvSpPr txBox="1"/>
          <p:nvPr/>
        </p:nvSpPr>
        <p:spPr>
          <a:xfrm>
            <a:off x="989326" y="2792675"/>
            <a:ext cx="395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77"/>
          <p:cNvSpPr txBox="1"/>
          <p:nvPr/>
        </p:nvSpPr>
        <p:spPr>
          <a:xfrm>
            <a:off x="828580" y="1823725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2" name="Google Shape;1192;p77"/>
          <p:cNvCxnSpPr/>
          <p:nvPr/>
        </p:nvCxnSpPr>
        <p:spPr>
          <a:xfrm>
            <a:off x="2808134" y="2127000"/>
            <a:ext cx="0" cy="13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3" name="Google Shape;1193;p77"/>
          <p:cNvCxnSpPr/>
          <p:nvPr/>
        </p:nvCxnSpPr>
        <p:spPr>
          <a:xfrm>
            <a:off x="2808134" y="2653402"/>
            <a:ext cx="0" cy="13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4" name="Google Shape;1194;p77"/>
          <p:cNvSpPr txBox="1"/>
          <p:nvPr/>
        </p:nvSpPr>
        <p:spPr>
          <a:xfrm>
            <a:off x="2521925" y="1823725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77"/>
          <p:cNvSpPr txBox="1"/>
          <p:nvPr/>
        </p:nvSpPr>
        <p:spPr>
          <a:xfrm>
            <a:off x="2602342" y="2796531"/>
            <a:ext cx="55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77"/>
          <p:cNvSpPr txBox="1"/>
          <p:nvPr>
            <p:ph idx="1" type="body"/>
          </p:nvPr>
        </p:nvSpPr>
        <p:spPr>
          <a:xfrm>
            <a:off x="324000" y="3542125"/>
            <a:ext cx="8237700" cy="7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Lots of different ways using double number lines, but identifying 10%, 5% or 1% can help.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7" name="Google Shape;1197;p77"/>
          <p:cNvSpPr txBox="1"/>
          <p:nvPr/>
        </p:nvSpPr>
        <p:spPr>
          <a:xfrm>
            <a:off x="1722820" y="1267046"/>
            <a:ext cx="11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77"/>
          <p:cNvSpPr/>
          <p:nvPr/>
        </p:nvSpPr>
        <p:spPr>
          <a:xfrm>
            <a:off x="1117825" y="1563676"/>
            <a:ext cx="1669500" cy="4257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77"/>
          <p:cNvSpPr txBox="1"/>
          <p:nvPr/>
        </p:nvSpPr>
        <p:spPr>
          <a:xfrm>
            <a:off x="1684808" y="3179800"/>
            <a:ext cx="11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77"/>
          <p:cNvSpPr/>
          <p:nvPr/>
        </p:nvSpPr>
        <p:spPr>
          <a:xfrm flipH="1" rot="10800000">
            <a:off x="1070824" y="2903250"/>
            <a:ext cx="1737300" cy="3387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77"/>
          <p:cNvSpPr txBox="1"/>
          <p:nvPr/>
        </p:nvSpPr>
        <p:spPr>
          <a:xfrm>
            <a:off x="227942" y="4245429"/>
            <a:ext cx="8024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example, 35% + 1% = 36% so 23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7 + 4.6  = 165.6</a:t>
            </a:r>
            <a:endParaRPr/>
          </a:p>
        </p:txBody>
      </p:sp>
      <p:sp>
        <p:nvSpPr>
          <p:cNvPr id="1202" name="Google Shape;1202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  <p:cxnSp>
        <p:nvCxnSpPr>
          <p:cNvPr id="1203" name="Google Shape;1203;p77"/>
          <p:cNvCxnSpPr/>
          <p:nvPr/>
        </p:nvCxnSpPr>
        <p:spPr>
          <a:xfrm>
            <a:off x="854768" y="2127000"/>
            <a:ext cx="0" cy="13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77"/>
          <p:cNvCxnSpPr/>
          <p:nvPr/>
        </p:nvCxnSpPr>
        <p:spPr>
          <a:xfrm>
            <a:off x="854768" y="2653402"/>
            <a:ext cx="0" cy="136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5" name="Google Shape;1205;p77"/>
          <p:cNvSpPr txBox="1"/>
          <p:nvPr/>
        </p:nvSpPr>
        <p:spPr>
          <a:xfrm>
            <a:off x="423745" y="1695975"/>
            <a:ext cx="75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77"/>
          <p:cNvSpPr txBox="1"/>
          <p:nvPr/>
        </p:nvSpPr>
        <p:spPr>
          <a:xfrm>
            <a:off x="637648" y="2796525"/>
            <a:ext cx="43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4.6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78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Ratio tables can show the same information as a bar model and double number line. </a:t>
            </a:r>
            <a:endParaRPr/>
          </a:p>
        </p:txBody>
      </p:sp>
      <p:sp>
        <p:nvSpPr>
          <p:cNvPr id="1212" name="Google Shape;121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  <p:pic>
        <p:nvPicPr>
          <p:cNvPr id="1213" name="Google Shape;121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00" y="3567500"/>
            <a:ext cx="6556776" cy="1075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4" name="Google Shape;1214;p78"/>
          <p:cNvGraphicFramePr/>
          <p:nvPr/>
        </p:nvGraphicFramePr>
        <p:xfrm>
          <a:off x="5701845" y="178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5" name="Google Shape;1215;p78"/>
          <p:cNvSpPr txBox="1"/>
          <p:nvPr/>
        </p:nvSpPr>
        <p:spPr>
          <a:xfrm>
            <a:off x="3592300" y="1052793"/>
            <a:ext cx="502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look at 42% of 340 again.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78"/>
          <p:cNvSpPr txBox="1"/>
          <p:nvPr/>
        </p:nvSpPr>
        <p:spPr>
          <a:xfrm>
            <a:off x="5288650" y="2784925"/>
            <a:ext cx="31932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know 100% is 340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7" name="Google Shape;121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400" y="1730750"/>
            <a:ext cx="3599119" cy="16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7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Ratio tables can show the same information as a bar model and double number line. </a:t>
            </a:r>
            <a:endParaRPr/>
          </a:p>
        </p:txBody>
      </p:sp>
      <p:sp>
        <p:nvSpPr>
          <p:cNvPr id="1223" name="Google Shape;122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  <p:graphicFrame>
        <p:nvGraphicFramePr>
          <p:cNvPr id="1224" name="Google Shape;1224;p79"/>
          <p:cNvGraphicFramePr/>
          <p:nvPr/>
        </p:nvGraphicFramePr>
        <p:xfrm>
          <a:off x="5701845" y="178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25" name="Google Shape;1225;p79"/>
          <p:cNvGraphicFramePr/>
          <p:nvPr/>
        </p:nvGraphicFramePr>
        <p:xfrm>
          <a:off x="5701845" y="26999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26" name="Google Shape;1226;p79"/>
          <p:cNvGraphicFramePr/>
          <p:nvPr/>
        </p:nvGraphicFramePr>
        <p:xfrm>
          <a:off x="5701845" y="31558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7" name="Google Shape;1227;p79"/>
          <p:cNvSpPr txBox="1"/>
          <p:nvPr/>
        </p:nvSpPr>
        <p:spPr>
          <a:xfrm>
            <a:off x="324000" y="1620000"/>
            <a:ext cx="481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do you think we can find 10%?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79"/>
          <p:cNvSpPr txBox="1"/>
          <p:nvPr/>
        </p:nvSpPr>
        <p:spPr>
          <a:xfrm>
            <a:off x="3592300" y="1052793"/>
            <a:ext cx="502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look at 42% of 340 again.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9" name="Google Shape;1229;p79"/>
          <p:cNvGrpSpPr/>
          <p:nvPr/>
        </p:nvGrpSpPr>
        <p:grpSpPr>
          <a:xfrm>
            <a:off x="4864250" y="2411410"/>
            <a:ext cx="4187075" cy="569394"/>
            <a:chOff x="4864250" y="2411410"/>
            <a:chExt cx="4187075" cy="569394"/>
          </a:xfrm>
        </p:grpSpPr>
        <p:sp>
          <p:nvSpPr>
            <p:cNvPr id="1230" name="Google Shape;1230;p79"/>
            <p:cNvSpPr/>
            <p:nvPr/>
          </p:nvSpPr>
          <p:spPr>
            <a:xfrm rot="5180827">
              <a:off x="7752368" y="2412387"/>
              <a:ext cx="546210" cy="569533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79"/>
            <p:cNvSpPr/>
            <p:nvPr/>
          </p:nvSpPr>
          <p:spPr>
            <a:xfrm flipH="1" rot="-5619173">
              <a:off x="5386594" y="2423201"/>
              <a:ext cx="546210" cy="542818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79"/>
            <p:cNvSpPr txBox="1"/>
            <p:nvPr/>
          </p:nvSpPr>
          <p:spPr>
            <a:xfrm>
              <a:off x="8327425" y="2524622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÷10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79"/>
            <p:cNvSpPr txBox="1"/>
            <p:nvPr/>
          </p:nvSpPr>
          <p:spPr>
            <a:xfrm>
              <a:off x="4864250" y="2571103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÷10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79"/>
          <p:cNvGrpSpPr/>
          <p:nvPr/>
        </p:nvGrpSpPr>
        <p:grpSpPr>
          <a:xfrm>
            <a:off x="4878288" y="2868610"/>
            <a:ext cx="4187075" cy="569394"/>
            <a:chOff x="4878288" y="2868610"/>
            <a:chExt cx="4187075" cy="569394"/>
          </a:xfrm>
        </p:grpSpPr>
        <p:sp>
          <p:nvSpPr>
            <p:cNvPr id="1235" name="Google Shape;1235;p79"/>
            <p:cNvSpPr/>
            <p:nvPr/>
          </p:nvSpPr>
          <p:spPr>
            <a:xfrm rot="5180827">
              <a:off x="7752368" y="2869587"/>
              <a:ext cx="546210" cy="569533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79"/>
            <p:cNvSpPr/>
            <p:nvPr/>
          </p:nvSpPr>
          <p:spPr>
            <a:xfrm flipH="1" rot="-5619173">
              <a:off x="5400631" y="2880401"/>
              <a:ext cx="546210" cy="542818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79"/>
            <p:cNvSpPr txBox="1"/>
            <p:nvPr/>
          </p:nvSpPr>
          <p:spPr>
            <a:xfrm>
              <a:off x="8341463" y="2981822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÷10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8" name="Google Shape;1238;p79"/>
            <p:cNvSpPr txBox="1"/>
            <p:nvPr/>
          </p:nvSpPr>
          <p:spPr>
            <a:xfrm>
              <a:off x="4878288" y="3028303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÷10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239" name="Google Shape;1239;p79"/>
          <p:cNvGraphicFramePr/>
          <p:nvPr/>
        </p:nvGraphicFramePr>
        <p:xfrm>
          <a:off x="5701845" y="36143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40" name="Google Shape;1240;p79"/>
          <p:cNvGrpSpPr/>
          <p:nvPr/>
        </p:nvGrpSpPr>
        <p:grpSpPr>
          <a:xfrm>
            <a:off x="5037467" y="2912311"/>
            <a:ext cx="3868705" cy="1046089"/>
            <a:chOff x="3923716" y="3774307"/>
            <a:chExt cx="4666150" cy="1116900"/>
          </a:xfrm>
        </p:grpSpPr>
        <p:sp>
          <p:nvSpPr>
            <p:cNvPr id="1241" name="Google Shape;1241;p79"/>
            <p:cNvSpPr/>
            <p:nvPr/>
          </p:nvSpPr>
          <p:spPr>
            <a:xfrm flipH="1" rot="-5571084">
              <a:off x="4092849" y="4067071"/>
              <a:ext cx="1091551" cy="531371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79"/>
            <p:cNvSpPr txBox="1"/>
            <p:nvPr/>
          </p:nvSpPr>
          <p:spPr>
            <a:xfrm>
              <a:off x="3923716" y="4171199"/>
              <a:ext cx="723900" cy="3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3" name="Google Shape;1243;p79"/>
            <p:cNvSpPr/>
            <p:nvPr/>
          </p:nvSpPr>
          <p:spPr>
            <a:xfrm rot="5228916">
              <a:off x="7042399" y="4081796"/>
              <a:ext cx="1091551" cy="501933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79"/>
            <p:cNvSpPr txBox="1"/>
            <p:nvPr/>
          </p:nvSpPr>
          <p:spPr>
            <a:xfrm>
              <a:off x="7865966" y="4039786"/>
              <a:ext cx="723900" cy="3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245" name="Google Shape;1245;p79"/>
          <p:cNvGraphicFramePr/>
          <p:nvPr/>
        </p:nvGraphicFramePr>
        <p:xfrm>
          <a:off x="5701845" y="40702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46" name="Google Shape;1246;p79"/>
          <p:cNvGrpSpPr/>
          <p:nvPr/>
        </p:nvGrpSpPr>
        <p:grpSpPr>
          <a:xfrm>
            <a:off x="5037467" y="3293311"/>
            <a:ext cx="3868705" cy="1046089"/>
            <a:chOff x="3923716" y="3774307"/>
            <a:chExt cx="4666150" cy="1116900"/>
          </a:xfrm>
        </p:grpSpPr>
        <p:sp>
          <p:nvSpPr>
            <p:cNvPr id="1247" name="Google Shape;1247;p79"/>
            <p:cNvSpPr/>
            <p:nvPr/>
          </p:nvSpPr>
          <p:spPr>
            <a:xfrm flipH="1" rot="-5571084">
              <a:off x="4092849" y="4067071"/>
              <a:ext cx="1091551" cy="531371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79"/>
            <p:cNvSpPr txBox="1"/>
            <p:nvPr/>
          </p:nvSpPr>
          <p:spPr>
            <a:xfrm>
              <a:off x="3923716" y="4171199"/>
              <a:ext cx="723900" cy="3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9" name="Google Shape;1249;p79"/>
            <p:cNvSpPr/>
            <p:nvPr/>
          </p:nvSpPr>
          <p:spPr>
            <a:xfrm rot="5228916">
              <a:off x="7042399" y="4081796"/>
              <a:ext cx="1091551" cy="501933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79"/>
            <p:cNvSpPr txBox="1"/>
            <p:nvPr/>
          </p:nvSpPr>
          <p:spPr>
            <a:xfrm>
              <a:off x="7865966" y="4039786"/>
              <a:ext cx="723900" cy="3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251" name="Google Shape;1251;p79"/>
          <p:cNvGraphicFramePr/>
          <p:nvPr/>
        </p:nvGraphicFramePr>
        <p:xfrm>
          <a:off x="5696417" y="3613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52" name="Google Shape;1252;p79"/>
          <p:cNvGraphicFramePr/>
          <p:nvPr/>
        </p:nvGraphicFramePr>
        <p:xfrm>
          <a:off x="5696417" y="40689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253" name="Google Shape;1253;p79"/>
          <p:cNvSpPr txBox="1"/>
          <p:nvPr/>
        </p:nvSpPr>
        <p:spPr>
          <a:xfrm>
            <a:off x="324000" y="2095538"/>
            <a:ext cx="481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do you think we can find 1%?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79"/>
          <p:cNvSpPr txBox="1"/>
          <p:nvPr/>
        </p:nvSpPr>
        <p:spPr>
          <a:xfrm>
            <a:off x="324000" y="2571088"/>
            <a:ext cx="48105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Given this, what strategy would you use to find 42% of 340?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79"/>
          <p:cNvSpPr txBox="1"/>
          <p:nvPr/>
        </p:nvSpPr>
        <p:spPr>
          <a:xfrm>
            <a:off x="324000" y="3569113"/>
            <a:ext cx="481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E.g 40% + 2% = 136 + 6.8 = 142.8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80"/>
          <p:cNvSpPr txBox="1"/>
          <p:nvPr>
            <p:ph idx="1" type="body"/>
          </p:nvPr>
        </p:nvSpPr>
        <p:spPr>
          <a:xfrm>
            <a:off x="324000" y="6831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It does not matter which </a:t>
            </a:r>
            <a:r>
              <a:rPr lang="en-GB" sz="2100"/>
              <a:t>method</a:t>
            </a:r>
            <a:r>
              <a:rPr lang="en-GB" sz="2100"/>
              <a:t> you prefer, but some take a little longer than others. </a:t>
            </a:r>
            <a:r>
              <a:rPr lang="en-GB" sz="2100"/>
              <a:t>Fundamentally,</a:t>
            </a:r>
            <a:r>
              <a:rPr lang="en-GB" sz="2100"/>
              <a:t> finding 10%, 5% and 1% generally helps.</a:t>
            </a:r>
            <a:endParaRPr sz="2100"/>
          </a:p>
        </p:txBody>
      </p:sp>
      <p:sp>
        <p:nvSpPr>
          <p:cNvPr id="1261" name="Google Shape;1261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  <p:pic>
        <p:nvPicPr>
          <p:cNvPr id="1262" name="Google Shape;126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50" y="3703575"/>
            <a:ext cx="5576483" cy="914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3" name="Google Shape;1263;p80"/>
          <p:cNvGraphicFramePr/>
          <p:nvPr/>
        </p:nvGraphicFramePr>
        <p:xfrm>
          <a:off x="6079220" y="153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4" name="Google Shape;1264;p80"/>
          <p:cNvGraphicFramePr/>
          <p:nvPr/>
        </p:nvGraphicFramePr>
        <p:xfrm>
          <a:off x="6079220" y="24501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5" name="Google Shape;1265;p80"/>
          <p:cNvGraphicFramePr/>
          <p:nvPr/>
        </p:nvGraphicFramePr>
        <p:xfrm>
          <a:off x="6079220" y="29060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6" name="Google Shape;1266;p80"/>
          <p:cNvGraphicFramePr/>
          <p:nvPr/>
        </p:nvGraphicFramePr>
        <p:xfrm>
          <a:off x="6079220" y="3364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7" name="Google Shape;1267;p80"/>
          <p:cNvGraphicFramePr/>
          <p:nvPr/>
        </p:nvGraphicFramePr>
        <p:xfrm>
          <a:off x="6079220" y="38204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8" name="Google Shape;1268;p80"/>
          <p:cNvGraphicFramePr/>
          <p:nvPr/>
        </p:nvGraphicFramePr>
        <p:xfrm>
          <a:off x="6079220" y="42776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142.8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pic>
        <p:nvPicPr>
          <p:cNvPr id="1269" name="Google Shape;126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525" y="1848600"/>
            <a:ext cx="3969309" cy="185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81"/>
          <p:cNvSpPr txBox="1"/>
          <p:nvPr>
            <p:ph idx="1" type="body"/>
          </p:nvPr>
        </p:nvSpPr>
        <p:spPr>
          <a:xfrm>
            <a:off x="324000" y="759300"/>
            <a:ext cx="8237700" cy="4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ratio table, work out 23% of 840</a:t>
            </a:r>
            <a:endParaRPr/>
          </a:p>
        </p:txBody>
      </p:sp>
      <p:sp>
        <p:nvSpPr>
          <p:cNvPr id="1275" name="Google Shape;127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  <p:graphicFrame>
        <p:nvGraphicFramePr>
          <p:cNvPr id="1276" name="Google Shape;1276;p81"/>
          <p:cNvGraphicFramePr/>
          <p:nvPr/>
        </p:nvGraphicFramePr>
        <p:xfrm>
          <a:off x="1656033" y="125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7" name="Google Shape;1277;p81"/>
          <p:cNvGraphicFramePr/>
          <p:nvPr/>
        </p:nvGraphicFramePr>
        <p:xfrm>
          <a:off x="1656033" y="2166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8" name="Google Shape;1278;p81"/>
          <p:cNvGraphicFramePr/>
          <p:nvPr/>
        </p:nvGraphicFramePr>
        <p:xfrm>
          <a:off x="1656033" y="26224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79" name="Google Shape;1279;p81"/>
          <p:cNvGrpSpPr/>
          <p:nvPr/>
        </p:nvGrpSpPr>
        <p:grpSpPr>
          <a:xfrm>
            <a:off x="818438" y="1878010"/>
            <a:ext cx="4187075" cy="569394"/>
            <a:chOff x="4864250" y="2411410"/>
            <a:chExt cx="4187075" cy="569394"/>
          </a:xfrm>
        </p:grpSpPr>
        <p:sp>
          <p:nvSpPr>
            <p:cNvPr id="1280" name="Google Shape;1280;p81"/>
            <p:cNvSpPr/>
            <p:nvPr/>
          </p:nvSpPr>
          <p:spPr>
            <a:xfrm rot="5180827">
              <a:off x="7752368" y="2412387"/>
              <a:ext cx="546210" cy="569533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81"/>
            <p:cNvSpPr/>
            <p:nvPr/>
          </p:nvSpPr>
          <p:spPr>
            <a:xfrm flipH="1" rot="-5619173">
              <a:off x="5386594" y="2423201"/>
              <a:ext cx="546210" cy="542818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81"/>
            <p:cNvSpPr txBox="1"/>
            <p:nvPr/>
          </p:nvSpPr>
          <p:spPr>
            <a:xfrm>
              <a:off x="8327425" y="2524622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÷10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3" name="Google Shape;1283;p81"/>
            <p:cNvSpPr txBox="1"/>
            <p:nvPr/>
          </p:nvSpPr>
          <p:spPr>
            <a:xfrm>
              <a:off x="4864250" y="2571103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÷10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4" name="Google Shape;1284;p81"/>
          <p:cNvGrpSpPr/>
          <p:nvPr/>
        </p:nvGrpSpPr>
        <p:grpSpPr>
          <a:xfrm>
            <a:off x="832475" y="2335210"/>
            <a:ext cx="4187075" cy="569394"/>
            <a:chOff x="4878288" y="2868610"/>
            <a:chExt cx="4187075" cy="569394"/>
          </a:xfrm>
        </p:grpSpPr>
        <p:sp>
          <p:nvSpPr>
            <p:cNvPr id="1285" name="Google Shape;1285;p81"/>
            <p:cNvSpPr/>
            <p:nvPr/>
          </p:nvSpPr>
          <p:spPr>
            <a:xfrm rot="5180827">
              <a:off x="7752368" y="2869587"/>
              <a:ext cx="546210" cy="569533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81"/>
            <p:cNvSpPr/>
            <p:nvPr/>
          </p:nvSpPr>
          <p:spPr>
            <a:xfrm flipH="1" rot="-5619173">
              <a:off x="5400631" y="2880401"/>
              <a:ext cx="546210" cy="542818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81"/>
            <p:cNvSpPr txBox="1"/>
            <p:nvPr/>
          </p:nvSpPr>
          <p:spPr>
            <a:xfrm>
              <a:off x="8341463" y="2981822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÷10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8" name="Google Shape;1288;p81"/>
            <p:cNvSpPr txBox="1"/>
            <p:nvPr/>
          </p:nvSpPr>
          <p:spPr>
            <a:xfrm>
              <a:off x="4878288" y="3028303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÷10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289" name="Google Shape;1289;p81"/>
          <p:cNvGraphicFramePr/>
          <p:nvPr/>
        </p:nvGraphicFramePr>
        <p:xfrm>
          <a:off x="1656033" y="30809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90" name="Google Shape;1290;p81"/>
          <p:cNvGrpSpPr/>
          <p:nvPr/>
        </p:nvGrpSpPr>
        <p:grpSpPr>
          <a:xfrm>
            <a:off x="991655" y="2378911"/>
            <a:ext cx="3868705" cy="1046089"/>
            <a:chOff x="3923716" y="3774307"/>
            <a:chExt cx="4666150" cy="1116900"/>
          </a:xfrm>
        </p:grpSpPr>
        <p:sp>
          <p:nvSpPr>
            <p:cNvPr id="1291" name="Google Shape;1291;p81"/>
            <p:cNvSpPr/>
            <p:nvPr/>
          </p:nvSpPr>
          <p:spPr>
            <a:xfrm flipH="1" rot="-5571084">
              <a:off x="4092849" y="4067071"/>
              <a:ext cx="1091551" cy="531371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81"/>
            <p:cNvSpPr txBox="1"/>
            <p:nvPr/>
          </p:nvSpPr>
          <p:spPr>
            <a:xfrm>
              <a:off x="3923716" y="4171199"/>
              <a:ext cx="723900" cy="3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3" name="Google Shape;1293;p81"/>
            <p:cNvSpPr/>
            <p:nvPr/>
          </p:nvSpPr>
          <p:spPr>
            <a:xfrm rot="5228916">
              <a:off x="7042399" y="4081796"/>
              <a:ext cx="1091551" cy="501933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81"/>
            <p:cNvSpPr txBox="1"/>
            <p:nvPr/>
          </p:nvSpPr>
          <p:spPr>
            <a:xfrm>
              <a:off x="7865966" y="4039786"/>
              <a:ext cx="723900" cy="3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295" name="Google Shape;1295;p81"/>
          <p:cNvGraphicFramePr/>
          <p:nvPr/>
        </p:nvGraphicFramePr>
        <p:xfrm>
          <a:off x="1656033" y="35368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96" name="Google Shape;1296;p81"/>
          <p:cNvGrpSpPr/>
          <p:nvPr/>
        </p:nvGrpSpPr>
        <p:grpSpPr>
          <a:xfrm>
            <a:off x="991655" y="2759911"/>
            <a:ext cx="3868705" cy="1046089"/>
            <a:chOff x="3923716" y="3774307"/>
            <a:chExt cx="4666150" cy="1116900"/>
          </a:xfrm>
        </p:grpSpPr>
        <p:sp>
          <p:nvSpPr>
            <p:cNvPr id="1297" name="Google Shape;1297;p81"/>
            <p:cNvSpPr/>
            <p:nvPr/>
          </p:nvSpPr>
          <p:spPr>
            <a:xfrm flipH="1" rot="-5571084">
              <a:off x="4092849" y="4067071"/>
              <a:ext cx="1091551" cy="531371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81"/>
            <p:cNvSpPr txBox="1"/>
            <p:nvPr/>
          </p:nvSpPr>
          <p:spPr>
            <a:xfrm>
              <a:off x="3923716" y="4171199"/>
              <a:ext cx="723900" cy="3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81"/>
            <p:cNvSpPr/>
            <p:nvPr/>
          </p:nvSpPr>
          <p:spPr>
            <a:xfrm rot="5228916">
              <a:off x="7042399" y="4081796"/>
              <a:ext cx="1091551" cy="501933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81"/>
            <p:cNvSpPr txBox="1"/>
            <p:nvPr/>
          </p:nvSpPr>
          <p:spPr>
            <a:xfrm>
              <a:off x="7865966" y="4039786"/>
              <a:ext cx="723900" cy="34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301" name="Google Shape;1301;p81"/>
          <p:cNvGraphicFramePr/>
          <p:nvPr/>
        </p:nvGraphicFramePr>
        <p:xfrm>
          <a:off x="1656029" y="3995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193.2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302" name="Google Shape;1302;p81"/>
          <p:cNvSpPr txBox="1"/>
          <p:nvPr/>
        </p:nvSpPr>
        <p:spPr>
          <a:xfrm>
            <a:off x="5667825" y="1929150"/>
            <a:ext cx="809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3" name="Google Shape;1303;p81"/>
          <p:cNvSpPr txBox="1"/>
          <p:nvPr/>
        </p:nvSpPr>
        <p:spPr>
          <a:xfrm>
            <a:off x="6772725" y="1929150"/>
            <a:ext cx="809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0.4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4" name="Google Shape;1304;p81"/>
          <p:cNvSpPr txBox="1"/>
          <p:nvPr/>
        </p:nvSpPr>
        <p:spPr>
          <a:xfrm>
            <a:off x="4776913" y="2421125"/>
            <a:ext cx="809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05" name="Google Shape;1305;p81"/>
          <p:cNvGraphicFramePr/>
          <p:nvPr/>
        </p:nvGraphicFramePr>
        <p:xfrm>
          <a:off x="5439225" y="2391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128275"/>
                <a:gridCol w="1128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1.2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6" name="Google Shape;1306;p81"/>
          <p:cNvSpPr txBox="1"/>
          <p:nvPr/>
        </p:nvSpPr>
        <p:spPr>
          <a:xfrm>
            <a:off x="5226075" y="1666713"/>
            <a:ext cx="3147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Show working out if it helps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  <p:sp>
        <p:nvSpPr>
          <p:cNvPr id="1312" name="Google Shape;1312;p82"/>
          <p:cNvSpPr txBox="1"/>
          <p:nvPr>
            <p:ph idx="1" type="body"/>
          </p:nvPr>
        </p:nvSpPr>
        <p:spPr>
          <a:xfrm>
            <a:off x="324000" y="759300"/>
            <a:ext cx="8237700" cy="3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Without a </a:t>
            </a:r>
            <a:r>
              <a:rPr lang="en-GB"/>
              <a:t>calculator</a:t>
            </a:r>
            <a:r>
              <a:rPr lang="en-GB"/>
              <a:t>, work out: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51% of 980 = 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23% of 640 = 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62% of 120 = 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13% of 140 = 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3% of 40  = 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9% of 24 =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  <p:sp>
        <p:nvSpPr>
          <p:cNvPr id="1318" name="Google Shape;1318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Without a calculator, work out: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51% of 980 = 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23% of 640 = 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62% of 120 = 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13% of 140 = 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3% of 40  = 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9% of 24 =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83"/>
          <p:cNvSpPr txBox="1"/>
          <p:nvPr/>
        </p:nvSpPr>
        <p:spPr>
          <a:xfrm>
            <a:off x="2543675" y="1080000"/>
            <a:ext cx="9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499.8</a:t>
            </a:r>
            <a:endParaRPr/>
          </a:p>
        </p:txBody>
      </p:sp>
      <p:sp>
        <p:nvSpPr>
          <p:cNvPr id="1320" name="Google Shape;1320;p83"/>
          <p:cNvSpPr txBox="1"/>
          <p:nvPr/>
        </p:nvSpPr>
        <p:spPr>
          <a:xfrm>
            <a:off x="2543675" y="1537200"/>
            <a:ext cx="9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147.2</a:t>
            </a:r>
            <a:endParaRPr/>
          </a:p>
        </p:txBody>
      </p:sp>
      <p:sp>
        <p:nvSpPr>
          <p:cNvPr id="1321" name="Google Shape;1321;p83"/>
          <p:cNvSpPr txBox="1"/>
          <p:nvPr/>
        </p:nvSpPr>
        <p:spPr>
          <a:xfrm>
            <a:off x="2543675" y="2070600"/>
            <a:ext cx="9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74.4</a:t>
            </a:r>
            <a:endParaRPr/>
          </a:p>
        </p:txBody>
      </p:sp>
      <p:sp>
        <p:nvSpPr>
          <p:cNvPr id="1322" name="Google Shape;1322;p83"/>
          <p:cNvSpPr txBox="1"/>
          <p:nvPr/>
        </p:nvSpPr>
        <p:spPr>
          <a:xfrm>
            <a:off x="2543675" y="2527800"/>
            <a:ext cx="9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18.2</a:t>
            </a:r>
            <a:endParaRPr/>
          </a:p>
        </p:txBody>
      </p:sp>
      <p:sp>
        <p:nvSpPr>
          <p:cNvPr id="1323" name="Google Shape;1323;p83"/>
          <p:cNvSpPr txBox="1"/>
          <p:nvPr/>
        </p:nvSpPr>
        <p:spPr>
          <a:xfrm>
            <a:off x="2391275" y="3061200"/>
            <a:ext cx="9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1.2</a:t>
            </a:r>
            <a:endParaRPr/>
          </a:p>
        </p:txBody>
      </p:sp>
      <p:sp>
        <p:nvSpPr>
          <p:cNvPr id="1324" name="Google Shape;1324;p83"/>
          <p:cNvSpPr txBox="1"/>
          <p:nvPr/>
        </p:nvSpPr>
        <p:spPr>
          <a:xfrm>
            <a:off x="2391275" y="3594600"/>
            <a:ext cx="96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2.16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84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Reviewing percentages of amounts</a:t>
            </a:r>
            <a:endParaRPr/>
          </a:p>
        </p:txBody>
      </p:sp>
      <p:sp>
        <p:nvSpPr>
          <p:cNvPr id="1330" name="Google Shape;1330;p84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1331" name="Google Shape;1331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percentage with a multiplier</a:t>
            </a:r>
            <a:endParaRPr/>
          </a:p>
        </p:txBody>
      </p:sp>
      <p:pic>
        <p:nvPicPr>
          <p:cNvPr id="1332" name="Google Shape;1332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272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1338" name="Google Shape;1338;p85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Without a calculator, work out 68% of £430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Here’s one way you might work this out:</a:t>
            </a:r>
            <a:endParaRPr sz="2000"/>
          </a:p>
        </p:txBody>
      </p:sp>
      <p:sp>
        <p:nvSpPr>
          <p:cNvPr id="1339" name="Google Shape;1339;p85"/>
          <p:cNvSpPr txBox="1"/>
          <p:nvPr>
            <p:ph idx="1" type="body"/>
          </p:nvPr>
        </p:nvSpPr>
        <p:spPr>
          <a:xfrm>
            <a:off x="324000" y="3780000"/>
            <a:ext cx="4187700" cy="8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50% + 10% + 10% − 2% = 68%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£</a:t>
            </a:r>
            <a:r>
              <a:rPr lang="en-GB" sz="2000"/>
              <a:t>215 + </a:t>
            </a:r>
            <a:r>
              <a:rPr lang="en-GB" sz="1800"/>
              <a:t>£</a:t>
            </a:r>
            <a:r>
              <a:rPr lang="en-GB" sz="2000"/>
              <a:t>43 + </a:t>
            </a:r>
            <a:r>
              <a:rPr lang="en-GB" sz="1800"/>
              <a:t>£</a:t>
            </a:r>
            <a:r>
              <a:rPr lang="en-GB" sz="2000"/>
              <a:t>43 − </a:t>
            </a:r>
            <a:r>
              <a:rPr lang="en-GB" sz="1800"/>
              <a:t>£</a:t>
            </a:r>
            <a:r>
              <a:rPr lang="en-GB" sz="2000"/>
              <a:t>8.60 = </a:t>
            </a:r>
            <a:r>
              <a:rPr lang="en-GB" sz="1800"/>
              <a:t>£</a:t>
            </a:r>
            <a:r>
              <a:rPr lang="en-GB" sz="2000"/>
              <a:t>292.40</a:t>
            </a:r>
            <a:endParaRPr sz="2000"/>
          </a:p>
        </p:txBody>
      </p:sp>
      <p:graphicFrame>
        <p:nvGraphicFramePr>
          <p:cNvPr id="1340" name="Google Shape;1340;p85"/>
          <p:cNvGraphicFramePr/>
          <p:nvPr/>
        </p:nvGraphicFramePr>
        <p:xfrm>
          <a:off x="792350" y="168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1488050"/>
                <a:gridCol w="1488050"/>
              </a:tblGrid>
              <a:tr h="31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 (£)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0" marR="0" marL="36000"/>
                </a:tc>
              </a:tr>
              <a:tr h="31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0" marR="0" marL="36000"/>
                </a:tc>
              </a:tr>
              <a:tr h="31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0" marR="0" marL="36000"/>
                </a:tc>
              </a:tr>
              <a:tr h="31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0" marR="0" marL="36000"/>
                </a:tc>
              </a:tr>
              <a:tr h="31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0" marR="0" marL="36000"/>
                </a:tc>
              </a:tr>
              <a:tr h="31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0" marR="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0" marR="0" marL="36000"/>
                </a:tc>
              </a:tr>
            </a:tbl>
          </a:graphicData>
        </a:graphic>
      </p:graphicFrame>
      <p:sp>
        <p:nvSpPr>
          <p:cNvPr id="1341" name="Google Shape;1341;p85"/>
          <p:cNvSpPr/>
          <p:nvPr/>
        </p:nvSpPr>
        <p:spPr>
          <a:xfrm>
            <a:off x="4743150" y="1689000"/>
            <a:ext cx="3694800" cy="2978700"/>
          </a:xfrm>
          <a:prstGeom prst="roundRect">
            <a:avLst>
              <a:gd fmla="val 7625" name="adj"/>
            </a:avLst>
          </a:prstGeom>
          <a:solidFill>
            <a:srgbClr val="E6F2F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85"/>
          <p:cNvSpPr txBox="1"/>
          <p:nvPr/>
        </p:nvSpPr>
        <p:spPr>
          <a:xfrm>
            <a:off x="4840100" y="1689000"/>
            <a:ext cx="3468600" cy="28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Now, using a calculator, work out the answer to: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0.68 × 430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should get 292.4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you notice?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does this calculation give the same answer?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1348" name="Google Shape;1348;p86"/>
          <p:cNvSpPr txBox="1"/>
          <p:nvPr>
            <p:ph idx="1" type="body"/>
          </p:nvPr>
        </p:nvSpPr>
        <p:spPr>
          <a:xfrm>
            <a:off x="324000" y="759300"/>
            <a:ext cx="8237700" cy="7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Let’s look at why that works.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For example, finding 68% of £430 </a:t>
            </a:r>
            <a:endParaRPr sz="2000"/>
          </a:p>
        </p:txBody>
      </p:sp>
      <p:sp>
        <p:nvSpPr>
          <p:cNvPr id="1349" name="Google Shape;1349;p86"/>
          <p:cNvSpPr txBox="1"/>
          <p:nvPr>
            <p:ph idx="1" type="body"/>
          </p:nvPr>
        </p:nvSpPr>
        <p:spPr>
          <a:xfrm>
            <a:off x="324000" y="1689000"/>
            <a:ext cx="8496000" cy="14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know that finding percentages of a given amount is like finding a fraction of an amount: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68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%</a:t>
            </a:r>
            <a:r>
              <a:rPr lang="en-GB" sz="2000"/>
              <a:t>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430</a:t>
            </a:r>
            <a:r>
              <a:rPr lang="en-GB" sz="20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/>
              <a:t>       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430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68}{100}&quot;&gt;&lt;mfrac&gt;&lt;mn&gt;68&lt;/mn&gt;&lt;mn&gt;100&lt;/mn&gt;&lt;/mfrac&gt;&lt;/math&gt;" id="1350" name="Google Shape;1350;p86" title="68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766" y="2416194"/>
            <a:ext cx="411325" cy="52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86"/>
          <p:cNvSpPr txBox="1"/>
          <p:nvPr>
            <p:ph idx="1" type="body"/>
          </p:nvPr>
        </p:nvSpPr>
        <p:spPr>
          <a:xfrm>
            <a:off x="324000" y="3075575"/>
            <a:ext cx="8496000" cy="14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When finding fractions of amounts we use multiplication in place of the ‘of’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latin typeface="Times"/>
                <a:ea typeface="Times"/>
                <a:cs typeface="Times"/>
                <a:sym typeface="Times"/>
              </a:rPr>
              <a:t>68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%</a:t>
            </a:r>
            <a:r>
              <a:rPr lang="en-GB" sz="2000"/>
              <a:t> of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430</a:t>
            </a:r>
            <a:r>
              <a:rPr lang="en-GB" sz="20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/>
              <a:t>        ×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430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68}{100}&quot;&gt;&lt;mfrac&gt;&lt;mn&gt;68&lt;/mn&gt;&lt;mn&gt;100&lt;/mn&gt;&lt;/mfrac&gt;&lt;/math&gt;" id="1352" name="Google Shape;1352;p86" title="68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763" y="3795467"/>
            <a:ext cx="411325" cy="52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86"/>
          <p:cNvSpPr txBox="1"/>
          <p:nvPr>
            <p:ph idx="1" type="body"/>
          </p:nvPr>
        </p:nvSpPr>
        <p:spPr>
          <a:xfrm>
            <a:off x="3240475" y="3901325"/>
            <a:ext cx="4798800" cy="7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must be equivalent to </a:t>
            </a:r>
            <a:r>
              <a:rPr lang="en-GB" sz="2000"/>
              <a:t>0.68 × 430 since 0.68 is the decimal equivalent to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68}{100}&quot;&gt;&lt;mfrac&gt;&lt;mn&gt;68&lt;/mn&gt;&lt;mn&gt;100&lt;/mn&gt;&lt;/mfrac&gt;&lt;/math&gt;" id="1354" name="Google Shape;1354;p86" title="68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9263" y="4158492"/>
            <a:ext cx="411325" cy="5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87"/>
          <p:cNvSpPr txBox="1"/>
          <p:nvPr>
            <p:ph idx="1" type="body"/>
          </p:nvPr>
        </p:nvSpPr>
        <p:spPr>
          <a:xfrm>
            <a:off x="324000" y="759300"/>
            <a:ext cx="8293500" cy="38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</a:t>
            </a:r>
            <a:r>
              <a:rPr lang="en-GB"/>
              <a:t>ork out the decimal equivalent to the following percentages: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26%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89%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54%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3%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2%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5.8%</a:t>
            </a:r>
            <a:endParaRPr/>
          </a:p>
        </p:txBody>
      </p:sp>
      <p:sp>
        <p:nvSpPr>
          <p:cNvPr id="1360" name="Google Shape;136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1361" name="Google Shape;1361;p87"/>
          <p:cNvSpPr txBox="1"/>
          <p:nvPr/>
        </p:nvSpPr>
        <p:spPr>
          <a:xfrm>
            <a:off x="1684800" y="1546750"/>
            <a:ext cx="145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0.26</a:t>
            </a:r>
            <a:endParaRPr/>
          </a:p>
        </p:txBody>
      </p:sp>
      <p:sp>
        <p:nvSpPr>
          <p:cNvPr id="1362" name="Google Shape;1362;p87"/>
          <p:cNvSpPr txBox="1"/>
          <p:nvPr/>
        </p:nvSpPr>
        <p:spPr>
          <a:xfrm>
            <a:off x="1684800" y="1950325"/>
            <a:ext cx="145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0.89</a:t>
            </a:r>
            <a:endParaRPr/>
          </a:p>
        </p:txBody>
      </p:sp>
      <p:sp>
        <p:nvSpPr>
          <p:cNvPr id="1363" name="Google Shape;1363;p87"/>
          <p:cNvSpPr txBox="1"/>
          <p:nvPr/>
        </p:nvSpPr>
        <p:spPr>
          <a:xfrm>
            <a:off x="1684800" y="2335738"/>
            <a:ext cx="145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0.54</a:t>
            </a:r>
            <a:endParaRPr/>
          </a:p>
        </p:txBody>
      </p:sp>
      <p:sp>
        <p:nvSpPr>
          <p:cNvPr id="1364" name="Google Shape;1364;p87"/>
          <p:cNvSpPr txBox="1"/>
          <p:nvPr/>
        </p:nvSpPr>
        <p:spPr>
          <a:xfrm>
            <a:off x="1684800" y="2716800"/>
            <a:ext cx="145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0.03</a:t>
            </a:r>
            <a:endParaRPr/>
          </a:p>
        </p:txBody>
      </p:sp>
      <p:sp>
        <p:nvSpPr>
          <p:cNvPr id="1365" name="Google Shape;1365;p87"/>
          <p:cNvSpPr txBox="1"/>
          <p:nvPr/>
        </p:nvSpPr>
        <p:spPr>
          <a:xfrm>
            <a:off x="1684800" y="3124725"/>
            <a:ext cx="145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0.02</a:t>
            </a:r>
            <a:endParaRPr/>
          </a:p>
        </p:txBody>
      </p:sp>
      <p:sp>
        <p:nvSpPr>
          <p:cNvPr id="1366" name="Google Shape;1366;p87"/>
          <p:cNvSpPr txBox="1"/>
          <p:nvPr/>
        </p:nvSpPr>
        <p:spPr>
          <a:xfrm>
            <a:off x="1660850" y="3518400"/>
            <a:ext cx="1455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0.058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88"/>
          <p:cNvSpPr txBox="1"/>
          <p:nvPr>
            <p:ph idx="1" type="body"/>
          </p:nvPr>
        </p:nvSpPr>
        <p:spPr>
          <a:xfrm>
            <a:off x="324000" y="759300"/>
            <a:ext cx="8237700" cy="53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Pair up the question with the correct decimal multiplication.</a:t>
            </a:r>
            <a:endParaRPr/>
          </a:p>
        </p:txBody>
      </p:sp>
      <p:sp>
        <p:nvSpPr>
          <p:cNvPr id="1372" name="Google Shape;137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1373" name="Google Shape;1373;p88"/>
          <p:cNvSpPr/>
          <p:nvPr/>
        </p:nvSpPr>
        <p:spPr>
          <a:xfrm>
            <a:off x="893375" y="1354900"/>
            <a:ext cx="3230400" cy="73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24% of 600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88"/>
          <p:cNvSpPr/>
          <p:nvPr/>
        </p:nvSpPr>
        <p:spPr>
          <a:xfrm>
            <a:off x="893375" y="2193867"/>
            <a:ext cx="3230400" cy="73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42</a:t>
            </a: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% of 600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88"/>
          <p:cNvSpPr/>
          <p:nvPr/>
        </p:nvSpPr>
        <p:spPr>
          <a:xfrm>
            <a:off x="893375" y="3032833"/>
            <a:ext cx="3230400" cy="73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4.2% of 600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88"/>
          <p:cNvSpPr/>
          <p:nvPr/>
        </p:nvSpPr>
        <p:spPr>
          <a:xfrm>
            <a:off x="893375" y="3871800"/>
            <a:ext cx="3230400" cy="73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2.4</a:t>
            </a: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% of 600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88"/>
          <p:cNvSpPr/>
          <p:nvPr/>
        </p:nvSpPr>
        <p:spPr>
          <a:xfrm>
            <a:off x="4641600" y="3117600"/>
            <a:ext cx="3230400" cy="73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0.24</a:t>
            </a: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 600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88"/>
          <p:cNvSpPr/>
          <p:nvPr/>
        </p:nvSpPr>
        <p:spPr>
          <a:xfrm>
            <a:off x="4641600" y="4053500"/>
            <a:ext cx="3230400" cy="73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0.42</a:t>
            </a: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 600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88"/>
          <p:cNvSpPr/>
          <p:nvPr/>
        </p:nvSpPr>
        <p:spPr>
          <a:xfrm>
            <a:off x="4641600" y="1245800"/>
            <a:ext cx="3230400" cy="73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0.042 ×</a:t>
            </a: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 600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88"/>
          <p:cNvSpPr/>
          <p:nvPr/>
        </p:nvSpPr>
        <p:spPr>
          <a:xfrm>
            <a:off x="4641600" y="2181700"/>
            <a:ext cx="3230400" cy="73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0.024</a:t>
            </a: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 600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1" name="Google Shape;1381;p88"/>
          <p:cNvCxnSpPr>
            <a:stCxn id="1373" idx="3"/>
            <a:endCxn id="1377" idx="1"/>
          </p:cNvCxnSpPr>
          <p:nvPr/>
        </p:nvCxnSpPr>
        <p:spPr>
          <a:xfrm>
            <a:off x="4123775" y="1720300"/>
            <a:ext cx="517800" cy="17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2" name="Google Shape;1382;p88"/>
          <p:cNvCxnSpPr/>
          <p:nvPr/>
        </p:nvCxnSpPr>
        <p:spPr>
          <a:xfrm>
            <a:off x="4123775" y="2571750"/>
            <a:ext cx="517800" cy="1762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3" name="Google Shape;1383;p88"/>
          <p:cNvCxnSpPr>
            <a:endCxn id="1379" idx="1"/>
          </p:cNvCxnSpPr>
          <p:nvPr/>
        </p:nvCxnSpPr>
        <p:spPr>
          <a:xfrm flipH="1" rot="10800000">
            <a:off x="4092300" y="1611200"/>
            <a:ext cx="549300" cy="184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4" name="Google Shape;1384;p88"/>
          <p:cNvCxnSpPr/>
          <p:nvPr/>
        </p:nvCxnSpPr>
        <p:spPr>
          <a:xfrm flipH="1" rot="10800000">
            <a:off x="4108025" y="2562000"/>
            <a:ext cx="549300" cy="184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89"/>
          <p:cNvSpPr txBox="1"/>
          <p:nvPr>
            <p:ph idx="1" type="body"/>
          </p:nvPr>
        </p:nvSpPr>
        <p:spPr>
          <a:xfrm>
            <a:off x="324000" y="759300"/>
            <a:ext cx="8237700" cy="22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that we can calculate a percentage of an amount using a decimal multiplier </a:t>
            </a:r>
            <a:r>
              <a:rPr lang="en-GB"/>
              <a:t>simplifies the questions and working out, especially if we have a calculator.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For example,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Work out 24% of 182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would this be using a decimal multiplier?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390" name="Google Shape;139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90"/>
          <p:cNvSpPr txBox="1"/>
          <p:nvPr>
            <p:ph idx="1" type="body"/>
          </p:nvPr>
        </p:nvSpPr>
        <p:spPr>
          <a:xfrm>
            <a:off x="324000" y="759300"/>
            <a:ext cx="8237700" cy="22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Recognising that we can calculate a percentage of an amount using a decimal multiplier simplifies the questions and working out</a:t>
            </a:r>
            <a:r>
              <a:rPr lang="en-GB"/>
              <a:t>, especially if we have a calculator.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For example,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Work out 24% of 182 = 0.24 × 182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396" name="Google Shape;139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9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24% of 182 = 0.24 × 182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You can still work this out using a written method.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402" name="Google Shape;140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1403" name="Google Shape;1403;p91"/>
          <p:cNvSpPr txBox="1"/>
          <p:nvPr>
            <p:ph idx="1" type="body"/>
          </p:nvPr>
        </p:nvSpPr>
        <p:spPr>
          <a:xfrm>
            <a:off x="369100" y="17658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E.g. Using the associative law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0.24 × 182 = 24 × 182 × 0.01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grpSp>
        <p:nvGrpSpPr>
          <p:cNvPr id="1404" name="Google Shape;1404;p91"/>
          <p:cNvGrpSpPr/>
          <p:nvPr/>
        </p:nvGrpSpPr>
        <p:grpSpPr>
          <a:xfrm>
            <a:off x="7325025" y="2176925"/>
            <a:ext cx="1236682" cy="2213337"/>
            <a:chOff x="7988175" y="1351750"/>
            <a:chExt cx="1236682" cy="2213337"/>
          </a:xfrm>
        </p:grpSpPr>
        <p:cxnSp>
          <p:nvCxnSpPr>
            <p:cNvPr id="1405" name="Google Shape;1405;p91"/>
            <p:cNvCxnSpPr/>
            <p:nvPr/>
          </p:nvCxnSpPr>
          <p:spPr>
            <a:xfrm>
              <a:off x="8040825" y="3456148"/>
              <a:ext cx="784200" cy="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6" name="Google Shape;1406;p91"/>
            <p:cNvGrpSpPr/>
            <p:nvPr/>
          </p:nvGrpSpPr>
          <p:grpSpPr>
            <a:xfrm>
              <a:off x="7988175" y="1351750"/>
              <a:ext cx="1236682" cy="2213337"/>
              <a:chOff x="7988175" y="1351750"/>
              <a:chExt cx="1236682" cy="2213337"/>
            </a:xfrm>
          </p:grpSpPr>
          <p:sp>
            <p:nvSpPr>
              <p:cNvPr id="1407" name="Google Shape;1407;p91"/>
              <p:cNvSpPr txBox="1"/>
              <p:nvPr/>
            </p:nvSpPr>
            <p:spPr>
              <a:xfrm>
                <a:off x="7988175" y="3041887"/>
                <a:ext cx="10419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Kalam"/>
                    <a:ea typeface="Kalam"/>
                    <a:cs typeface="Kalam"/>
                    <a:sym typeface="Kalam"/>
                  </a:rPr>
                  <a:t>4368</a:t>
                </a:r>
                <a:r>
                  <a:rPr lang="en-GB" sz="2200">
                    <a:solidFill>
                      <a:srgbClr val="000000"/>
                    </a:solidFill>
                    <a:latin typeface="Kalam"/>
                    <a:ea typeface="Kalam"/>
                    <a:cs typeface="Kalam"/>
                    <a:sym typeface="Kalam"/>
                  </a:rPr>
                  <a:t> </a:t>
                </a:r>
                <a:endParaRPr sz="1500"/>
              </a:p>
            </p:txBody>
          </p:sp>
          <p:sp>
            <p:nvSpPr>
              <p:cNvPr id="1408" name="Google Shape;1408;p91"/>
              <p:cNvSpPr txBox="1"/>
              <p:nvPr/>
            </p:nvSpPr>
            <p:spPr>
              <a:xfrm>
                <a:off x="8051857" y="1351750"/>
                <a:ext cx="11730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solidFill>
                      <a:srgbClr val="000000"/>
                    </a:solidFill>
                    <a:latin typeface="Kalam"/>
                    <a:ea typeface="Kalam"/>
                    <a:cs typeface="Kalam"/>
                    <a:sym typeface="Kalam"/>
                  </a:rPr>
                  <a:t>2000 </a:t>
                </a:r>
                <a:endParaRPr sz="2100"/>
              </a:p>
            </p:txBody>
          </p:sp>
          <p:sp>
            <p:nvSpPr>
              <p:cNvPr id="1409" name="Google Shape;1409;p91"/>
              <p:cNvSpPr txBox="1"/>
              <p:nvPr/>
            </p:nvSpPr>
            <p:spPr>
              <a:xfrm>
                <a:off x="8213067" y="1614502"/>
                <a:ext cx="8391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Kalam"/>
                    <a:ea typeface="Kalam"/>
                    <a:cs typeface="Kalam"/>
                    <a:sym typeface="Kalam"/>
                  </a:rPr>
                  <a:t>400</a:t>
                </a:r>
                <a:endParaRPr sz="2100"/>
              </a:p>
            </p:txBody>
          </p:sp>
          <p:sp>
            <p:nvSpPr>
              <p:cNvPr id="1410" name="Google Shape;1410;p91"/>
              <p:cNvSpPr txBox="1"/>
              <p:nvPr/>
            </p:nvSpPr>
            <p:spPr>
              <a:xfrm>
                <a:off x="8128049" y="1886950"/>
                <a:ext cx="9687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Kalam"/>
                    <a:ea typeface="Kalam"/>
                    <a:cs typeface="Kalam"/>
                    <a:sym typeface="Kalam"/>
                  </a:rPr>
                  <a:t>1600</a:t>
                </a:r>
                <a:endParaRPr sz="2100"/>
              </a:p>
            </p:txBody>
          </p:sp>
          <p:sp>
            <p:nvSpPr>
              <p:cNvPr id="1411" name="Google Shape;1411;p91"/>
              <p:cNvSpPr txBox="1"/>
              <p:nvPr/>
            </p:nvSpPr>
            <p:spPr>
              <a:xfrm>
                <a:off x="8141938" y="2664876"/>
                <a:ext cx="10419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solidFill>
                      <a:srgbClr val="000000"/>
                    </a:solidFill>
                    <a:latin typeface="Kalam"/>
                    <a:ea typeface="Kalam"/>
                    <a:cs typeface="Kalam"/>
                    <a:sym typeface="Kalam"/>
                  </a:rPr>
                  <a:t>+ 8</a:t>
                </a:r>
                <a:endParaRPr sz="2100"/>
              </a:p>
            </p:txBody>
          </p:sp>
          <p:cxnSp>
            <p:nvCxnSpPr>
              <p:cNvPr id="1412" name="Google Shape;1412;p91"/>
              <p:cNvCxnSpPr/>
              <p:nvPr/>
            </p:nvCxnSpPr>
            <p:spPr>
              <a:xfrm>
                <a:off x="8010894" y="3113248"/>
                <a:ext cx="7335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3" name="Google Shape;1413;p91"/>
              <p:cNvSpPr txBox="1"/>
              <p:nvPr/>
            </p:nvSpPr>
            <p:spPr>
              <a:xfrm>
                <a:off x="8333686" y="2412166"/>
                <a:ext cx="8391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Kalam"/>
                    <a:ea typeface="Kalam"/>
                    <a:cs typeface="Kalam"/>
                    <a:sym typeface="Kalam"/>
                  </a:rPr>
                  <a:t>40</a:t>
                </a:r>
                <a:endParaRPr sz="2100"/>
              </a:p>
            </p:txBody>
          </p:sp>
          <p:sp>
            <p:nvSpPr>
              <p:cNvPr id="1414" name="Google Shape;1414;p91"/>
              <p:cNvSpPr txBox="1"/>
              <p:nvPr/>
            </p:nvSpPr>
            <p:spPr>
              <a:xfrm>
                <a:off x="8181276" y="2157175"/>
                <a:ext cx="9255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Kalam"/>
                    <a:ea typeface="Kalam"/>
                    <a:cs typeface="Kalam"/>
                    <a:sym typeface="Kalam"/>
                  </a:rPr>
                  <a:t>3</a:t>
                </a:r>
                <a:r>
                  <a:rPr lang="en-GB" sz="2100">
                    <a:solidFill>
                      <a:srgbClr val="000000"/>
                    </a:solidFill>
                    <a:latin typeface="Kalam"/>
                    <a:ea typeface="Kalam"/>
                    <a:cs typeface="Kalam"/>
                    <a:sym typeface="Kalam"/>
                  </a:rPr>
                  <a:t>20 </a:t>
                </a:r>
                <a:endParaRPr sz="2100"/>
              </a:p>
            </p:txBody>
          </p:sp>
        </p:grpSp>
      </p:grpSp>
      <p:graphicFrame>
        <p:nvGraphicFramePr>
          <p:cNvPr id="1415" name="Google Shape;1415;p91"/>
          <p:cNvGraphicFramePr/>
          <p:nvPr/>
        </p:nvGraphicFramePr>
        <p:xfrm>
          <a:off x="4823988" y="17657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845375"/>
                <a:gridCol w="787425"/>
                <a:gridCol w="635200"/>
              </a:tblGrid>
              <a:tr h="45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✕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5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6" name="Google Shape;1416;p91"/>
          <p:cNvGraphicFramePr/>
          <p:nvPr/>
        </p:nvGraphicFramePr>
        <p:xfrm>
          <a:off x="4824000" y="176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845375"/>
                <a:gridCol w="787425"/>
                <a:gridCol w="635200"/>
              </a:tblGrid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✕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7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2000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400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1600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320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7" name="Google Shape;1417;p91"/>
          <p:cNvSpPr txBox="1"/>
          <p:nvPr>
            <p:ph idx="1" type="body"/>
          </p:nvPr>
        </p:nvSpPr>
        <p:spPr>
          <a:xfrm>
            <a:off x="1770300" y="2772300"/>
            <a:ext cx="2386200" cy="4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 4368 × 0.01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418" name="Google Shape;1418;p91"/>
          <p:cNvSpPr txBox="1"/>
          <p:nvPr>
            <p:ph idx="1" type="body"/>
          </p:nvPr>
        </p:nvSpPr>
        <p:spPr>
          <a:xfrm>
            <a:off x="1770300" y="3229500"/>
            <a:ext cx="2386200" cy="4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 43.68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419" name="Google Shape;1419;p91"/>
          <p:cNvSpPr txBox="1"/>
          <p:nvPr/>
        </p:nvSpPr>
        <p:spPr>
          <a:xfrm>
            <a:off x="369100" y="3924263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24% of 182 = 43.68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92"/>
          <p:cNvSpPr/>
          <p:nvPr/>
        </p:nvSpPr>
        <p:spPr>
          <a:xfrm>
            <a:off x="324000" y="1706425"/>
            <a:ext cx="8237700" cy="2141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92"/>
          <p:cNvSpPr txBox="1"/>
          <p:nvPr>
            <p:ph idx="1" type="body"/>
          </p:nvPr>
        </p:nvSpPr>
        <p:spPr>
          <a:xfrm>
            <a:off x="324000" y="759300"/>
            <a:ext cx="8237700" cy="44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Jun’s working out for 3% of 812.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Where did he make his mistake? What did he calculate?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0.3\ \times812\ =\ 3\ \times812\ \times0.01\end{array}&quot;&gt;&lt;mtable columnalign=&quot;left&quot; columnspacing=&quot;1em&quot; rowspacing=&quot;4pt&quot;&gt;&lt;mtr&gt;&lt;mtd&gt;&lt;mn&gt;0.3&lt;/mn&gt;&lt;mtext&gt;&lt;/mtext&gt;&lt;mo&gt;×&lt;/mo&gt;&lt;mn&gt;812&lt;/mn&gt;&lt;mtext&gt;&lt;/mtext&gt;&lt;mo&gt;=&lt;/mo&gt;&lt;mtext&gt;&lt;/mtext&gt;&lt;mn&gt;3&lt;/mn&gt;&lt;mtext&gt;&lt;/mtext&gt;&lt;mo&gt;×&lt;/mo&gt;&lt;mn&gt;812&lt;/mn&gt;&lt;mtext&gt;&lt;/mtext&gt;&lt;mo&gt;×&lt;/mo&gt;&lt;mn&gt;0.01&lt;/mn&gt;&lt;/mtd&gt;&lt;/mtr&gt;&lt;/mtable&gt;&lt;/math&gt;" id="1426" name="Google Shape;1426;p92" title="1 lines Line 1: 0.3 times 812 equals 3 times 812 times 0.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525" y="1975250"/>
            <a:ext cx="5127149" cy="298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7" name="Google Shape;1427;p92"/>
          <p:cNvGrpSpPr/>
          <p:nvPr/>
        </p:nvGrpSpPr>
        <p:grpSpPr>
          <a:xfrm>
            <a:off x="7633825" y="2186450"/>
            <a:ext cx="1195663" cy="1407912"/>
            <a:chOff x="7988175" y="2157175"/>
            <a:chExt cx="1195663" cy="1407912"/>
          </a:xfrm>
        </p:grpSpPr>
        <p:cxnSp>
          <p:nvCxnSpPr>
            <p:cNvPr id="1428" name="Google Shape;1428;p92"/>
            <p:cNvCxnSpPr/>
            <p:nvPr/>
          </p:nvCxnSpPr>
          <p:spPr>
            <a:xfrm>
              <a:off x="8040825" y="3456148"/>
              <a:ext cx="784200" cy="0"/>
            </a:xfrm>
            <a:prstGeom prst="straightConnector1">
              <a:avLst/>
            </a:prstGeom>
            <a:noFill/>
            <a:ln cap="flat" cmpd="sng" w="19050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9" name="Google Shape;1429;p92"/>
            <p:cNvGrpSpPr/>
            <p:nvPr/>
          </p:nvGrpSpPr>
          <p:grpSpPr>
            <a:xfrm>
              <a:off x="7988175" y="2157175"/>
              <a:ext cx="1195663" cy="1407912"/>
              <a:chOff x="7988175" y="2157175"/>
              <a:chExt cx="1195663" cy="1407912"/>
            </a:xfrm>
          </p:grpSpPr>
          <p:sp>
            <p:nvSpPr>
              <p:cNvPr id="1430" name="Google Shape;1430;p92"/>
              <p:cNvSpPr txBox="1"/>
              <p:nvPr/>
            </p:nvSpPr>
            <p:spPr>
              <a:xfrm>
                <a:off x="7988175" y="3041887"/>
                <a:ext cx="10419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Kalam"/>
                    <a:ea typeface="Kalam"/>
                    <a:cs typeface="Kalam"/>
                    <a:sym typeface="Kalam"/>
                  </a:rPr>
                  <a:t>2436</a:t>
                </a:r>
                <a:endParaRPr sz="1500"/>
              </a:p>
            </p:txBody>
          </p:sp>
          <p:sp>
            <p:nvSpPr>
              <p:cNvPr id="1431" name="Google Shape;1431;p92"/>
              <p:cNvSpPr txBox="1"/>
              <p:nvPr/>
            </p:nvSpPr>
            <p:spPr>
              <a:xfrm>
                <a:off x="8141938" y="2664876"/>
                <a:ext cx="10419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solidFill>
                      <a:srgbClr val="000000"/>
                    </a:solidFill>
                    <a:latin typeface="Kalam"/>
                    <a:ea typeface="Kalam"/>
                    <a:cs typeface="Kalam"/>
                    <a:sym typeface="Kalam"/>
                  </a:rPr>
                  <a:t>+ </a:t>
                </a:r>
                <a:r>
                  <a:rPr lang="en-GB" sz="2100">
                    <a:latin typeface="Kalam"/>
                    <a:ea typeface="Kalam"/>
                    <a:cs typeface="Kalam"/>
                    <a:sym typeface="Kalam"/>
                  </a:rPr>
                  <a:t>6</a:t>
                </a:r>
                <a:endParaRPr sz="2100"/>
              </a:p>
            </p:txBody>
          </p:sp>
          <p:cxnSp>
            <p:nvCxnSpPr>
              <p:cNvPr id="1432" name="Google Shape;1432;p92"/>
              <p:cNvCxnSpPr/>
              <p:nvPr/>
            </p:nvCxnSpPr>
            <p:spPr>
              <a:xfrm>
                <a:off x="8010894" y="3113248"/>
                <a:ext cx="7335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80808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33" name="Google Shape;1433;p92"/>
              <p:cNvSpPr txBox="1"/>
              <p:nvPr/>
            </p:nvSpPr>
            <p:spPr>
              <a:xfrm>
                <a:off x="8333686" y="2412166"/>
                <a:ext cx="8391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Kalam"/>
                    <a:ea typeface="Kalam"/>
                    <a:cs typeface="Kalam"/>
                    <a:sym typeface="Kalam"/>
                  </a:rPr>
                  <a:t>3</a:t>
                </a:r>
                <a:r>
                  <a:rPr lang="en-GB" sz="2100">
                    <a:latin typeface="Kalam"/>
                    <a:ea typeface="Kalam"/>
                    <a:cs typeface="Kalam"/>
                    <a:sym typeface="Kalam"/>
                  </a:rPr>
                  <a:t>0</a:t>
                </a:r>
                <a:endParaRPr sz="2100"/>
              </a:p>
            </p:txBody>
          </p:sp>
          <p:sp>
            <p:nvSpPr>
              <p:cNvPr id="1434" name="Google Shape;1434;p92"/>
              <p:cNvSpPr txBox="1"/>
              <p:nvPr/>
            </p:nvSpPr>
            <p:spPr>
              <a:xfrm>
                <a:off x="8010900" y="2157175"/>
                <a:ext cx="1095900" cy="50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latin typeface="Kalam"/>
                    <a:ea typeface="Kalam"/>
                    <a:cs typeface="Kalam"/>
                    <a:sym typeface="Kalam"/>
                  </a:rPr>
                  <a:t>2400</a:t>
                </a:r>
                <a:endParaRPr sz="2100"/>
              </a:p>
            </p:txBody>
          </p:sp>
        </p:grpSp>
      </p:grpSp>
      <p:graphicFrame>
        <p:nvGraphicFramePr>
          <p:cNvPr id="1435" name="Google Shape;1435;p92"/>
          <p:cNvGraphicFramePr/>
          <p:nvPr/>
        </p:nvGraphicFramePr>
        <p:xfrm>
          <a:off x="5774388" y="1809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{1A4EE823-4E34-47A5-83B8-C4115F32C55B}</a:tableStyleId>
              </a:tblPr>
              <a:tblGrid>
                <a:gridCol w="845375"/>
                <a:gridCol w="787425"/>
              </a:tblGrid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✕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7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800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7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=\ 2436\ \times0.01\\&amp;#13;&amp;#10;=\ 24.36\end{array}&quot;&gt;&lt;mtable columnalign=&quot;left&quot; columnspacing=&quot;1em&quot; rowspacing=&quot;4pt&quot;&gt;&lt;mtr&gt;&lt;mtd&gt;&lt;mo&gt;=&lt;/mo&gt;&lt;mtext&gt;&lt;/mtext&gt;&lt;mn&gt;2436&lt;/mn&gt;&lt;mtext&gt;&lt;/mtext&gt;&lt;mo&gt;×&lt;/mo&gt;&lt;mn&gt;0.01&lt;/mn&gt;&lt;/mtd&gt;&lt;/mtr&gt;&lt;mtr&gt;&lt;mtd&gt;&lt;mo&gt;=&lt;/mo&gt;&lt;mtext&gt;&lt;/mtext&gt;&lt;mn&gt;24.36&lt;/mn&gt;&lt;/mtd&gt;&lt;/mtr&gt;&lt;/mtable&gt;&lt;/math&gt;" id="1436" name="Google Shape;1436;p92" title="2 lines Line 1: equals 2436 times 0.01 Line 2: equals 24.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6850" y="2572814"/>
            <a:ext cx="2732050" cy="93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1438" name="Google Shape;1438;p92"/>
          <p:cNvSpPr txBox="1"/>
          <p:nvPr/>
        </p:nvSpPr>
        <p:spPr>
          <a:xfrm>
            <a:off x="369600" y="3779150"/>
            <a:ext cx="83571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decimal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calculation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should be 0.03 × 812 = 3 × 812 × 0.001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Jun has worked out 30% of 812, not 3%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93"/>
          <p:cNvSpPr txBox="1"/>
          <p:nvPr>
            <p:ph idx="1" type="body"/>
          </p:nvPr>
        </p:nvSpPr>
        <p:spPr>
          <a:xfrm>
            <a:off x="324000" y="759300"/>
            <a:ext cx="8237700" cy="392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</a:t>
            </a:r>
            <a:r>
              <a:rPr lang="en-GB"/>
              <a:t>calculation showing the decimal multiplier. You do not need to calculate the answer.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56% of 389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24% of 484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16% of 563.1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3% of 186.2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33.3% of 475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3.3% of 986</a:t>
            </a:r>
            <a:endParaRPr/>
          </a:p>
        </p:txBody>
      </p:sp>
      <p:sp>
        <p:nvSpPr>
          <p:cNvPr id="1444" name="Google Shape;1444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94"/>
          <p:cNvSpPr txBox="1"/>
          <p:nvPr>
            <p:ph idx="1" type="body"/>
          </p:nvPr>
        </p:nvSpPr>
        <p:spPr>
          <a:xfrm>
            <a:off x="324000" y="759300"/>
            <a:ext cx="8237700" cy="392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Work out: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a)    </a:t>
            </a:r>
            <a:r>
              <a:rPr lang="en-GB"/>
              <a:t>27% of 560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b)    18</a:t>
            </a:r>
            <a:r>
              <a:rPr lang="en-GB"/>
              <a:t>% of 244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c)    6</a:t>
            </a:r>
            <a:r>
              <a:rPr lang="en-GB"/>
              <a:t>% of 94</a:t>
            </a:r>
            <a:endParaRPr/>
          </a:p>
        </p:txBody>
      </p:sp>
      <p:sp>
        <p:nvSpPr>
          <p:cNvPr id="1450" name="Google Shape;1450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95"/>
          <p:cNvSpPr/>
          <p:nvPr/>
        </p:nvSpPr>
        <p:spPr>
          <a:xfrm>
            <a:off x="4919675" y="1620000"/>
            <a:ext cx="3788100" cy="230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1457" name="Google Shape;1457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</a:t>
            </a:r>
            <a:r>
              <a:rPr lang="en-GB"/>
              <a:t> Can you explain the strategy behind each student’s working out for finding 48% of 64?</a:t>
            </a:r>
            <a:endParaRPr/>
          </a:p>
        </p:txBody>
      </p:sp>
      <p:sp>
        <p:nvSpPr>
          <p:cNvPr id="1458" name="Google Shape;1458;p95"/>
          <p:cNvSpPr/>
          <p:nvPr/>
        </p:nvSpPr>
        <p:spPr>
          <a:xfrm>
            <a:off x="526150" y="1660075"/>
            <a:ext cx="4297800" cy="230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4\ \times6.4\ =\ 25.6\\&amp;#13;&amp;#10;8\ \times0.64\ =\ 5.12\\&amp;#13;&amp;#10;5.12\ +25.6\ =\ 30.72\end{array}&quot;&gt;&lt;mtable columnalign=&quot;left&quot; columnspacing=&quot;1em&quot; rowspacing=&quot;4pt&quot;&gt;&lt;mtr&gt;&lt;mtd&gt;&lt;mn&gt;4&lt;/mn&gt;&lt;mtext&gt;&lt;/mtext&gt;&lt;mo&gt;×&lt;/mo&gt;&lt;mn&gt;6.4&lt;/mn&gt;&lt;mtext&gt;&lt;/mtext&gt;&lt;mo&gt;=&lt;/mo&gt;&lt;mtext&gt;&lt;/mtext&gt;&lt;mn&gt;25.6&lt;/mn&gt;&lt;/mtd&gt;&lt;/mtr&gt;&lt;mtr&gt;&lt;mtd&gt;&lt;mn&gt;8&lt;/mn&gt;&lt;mtext&gt;&lt;/mtext&gt;&lt;mo&gt;×&lt;/mo&gt;&lt;mn&gt;0.64&lt;/mn&gt;&lt;mtext&gt;&lt;/mtext&gt;&lt;mo&gt;=&lt;/mo&gt;&lt;mtext&gt;&lt;/mtext&gt;&lt;mn&gt;5.12&lt;/mn&gt;&lt;/mtd&gt;&lt;/mtr&gt;&lt;mtr&gt;&lt;mtd&gt;&lt;mn&gt;5.12&lt;/mn&gt;&lt;mtext&gt;&lt;/mtext&gt;&lt;mo&gt;+&lt;/mo&gt;&lt;mn&gt;25.6&lt;/mn&gt;&lt;mtext&gt;&lt;/mtext&gt;&lt;mo&gt;=&lt;/mo&gt;&lt;mtext&gt;&lt;/mtext&gt;&lt;mn&gt;30.72&lt;/mn&gt;&lt;/mtd&gt;&lt;/mtr&gt;&lt;/mtable&gt;&lt;/math&gt;" id="1459" name="Google Shape;1459;p95" title="3 lines Line 1: 4 times 6.4 equals 25.6 Line 2: 8 times 0.64 equals 5.12 Line 3: 5.12 positive 25.6 equals 30.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445" y="1914025"/>
            <a:ext cx="3736549" cy="149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\ \times0.64\ =\ 1.28\\&amp;#13;&amp;#10;32-1.28\ =\ 30.72\end{array}&quot;&gt;&lt;mtable columnalign=&quot;left&quot; columnspacing=&quot;1em&quot; rowspacing=&quot;4pt&quot;&gt;&lt;mtr&gt;&lt;mtd&gt;&lt;mn&gt;2&lt;/mn&gt;&lt;mtext&gt;&lt;/mtext&gt;&lt;mo&gt;×&lt;/mo&gt;&lt;mn&gt;0.64&lt;/mn&gt;&lt;mtext&gt;&lt;/mtext&gt;&lt;mo&gt;=&lt;/mo&gt;&lt;mtext&gt;&lt;/mtext&gt;&lt;mn&gt;1.28&lt;/mn&gt;&lt;/mtd&gt;&lt;/mtr&gt;&lt;mtr&gt;&lt;mtd&gt;&lt;mn&gt;32&lt;/mn&gt;&lt;mo&gt;−&lt;/mo&gt;&lt;mn&gt;1.28&lt;/mn&gt;&lt;mtext&gt;&lt;/mtext&gt;&lt;mo&gt;=&lt;/mo&gt;&lt;mtext&gt;&lt;/mtext&gt;&lt;mn&gt;30.72&lt;/mn&gt;&lt;/mtd&gt;&lt;/mtr&gt;&lt;/mtable&gt;&lt;/math&gt;" id="1460" name="Google Shape;1460;p95" title="2 lines Line 1: 2 times 0.64 equals 1.28 Line 2: 32 minus 1.28 equals 30.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8146" y="2159996"/>
            <a:ext cx="3337867" cy="9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95"/>
          <p:cNvSpPr txBox="1"/>
          <p:nvPr/>
        </p:nvSpPr>
        <p:spPr>
          <a:xfrm>
            <a:off x="983575" y="3519225"/>
            <a:ext cx="1128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95"/>
          <p:cNvSpPr txBox="1"/>
          <p:nvPr/>
        </p:nvSpPr>
        <p:spPr>
          <a:xfrm>
            <a:off x="5118150" y="3455100"/>
            <a:ext cx="1128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96"/>
          <p:cNvSpPr txBox="1"/>
          <p:nvPr>
            <p:ph idx="1" type="body"/>
          </p:nvPr>
        </p:nvSpPr>
        <p:spPr>
          <a:xfrm>
            <a:off x="3093350" y="759300"/>
            <a:ext cx="5468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A </a:t>
            </a:r>
            <a:r>
              <a:rPr lang="en-GB"/>
              <a:t>hard cheddar cheese contains 37% water, 33% fat, 23% protein, 3.5% carbohydrates, and 3.5% minerals and other compounds.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From a 250g block of cheese, work out how many grams there are of:</a:t>
            </a:r>
            <a:endParaRPr/>
          </a:p>
        </p:txBody>
      </p:sp>
      <p:sp>
        <p:nvSpPr>
          <p:cNvPr id="1468" name="Google Shape;1468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pic>
        <p:nvPicPr>
          <p:cNvPr id="1469" name="Google Shape;146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00" y="958150"/>
            <a:ext cx="2225201" cy="19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96"/>
          <p:cNvSpPr txBox="1"/>
          <p:nvPr>
            <p:ph idx="1" type="body"/>
          </p:nvPr>
        </p:nvSpPr>
        <p:spPr>
          <a:xfrm>
            <a:off x="635550" y="3365500"/>
            <a:ext cx="7800900" cy="13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Water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Fat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Protein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calculation showing the decimal multiplier. You do not need to calculate the answer.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56% of 389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24% of 484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16% of 563.1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3% of 186.2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33.3% of 475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3.3% of 986</a:t>
            </a:r>
            <a:endParaRPr/>
          </a:p>
        </p:txBody>
      </p:sp>
      <p:sp>
        <p:nvSpPr>
          <p:cNvPr id="1476" name="Google Shape;1476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1477" name="Google Shape;1477;p97"/>
          <p:cNvSpPr txBox="1"/>
          <p:nvPr/>
        </p:nvSpPr>
        <p:spPr>
          <a:xfrm>
            <a:off x="2455875" y="1473750"/>
            <a:ext cx="428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0.56 × 389  </a:t>
            </a:r>
            <a:endParaRPr/>
          </a:p>
        </p:txBody>
      </p:sp>
      <p:sp>
        <p:nvSpPr>
          <p:cNvPr id="1478" name="Google Shape;1478;p97"/>
          <p:cNvSpPr txBox="1"/>
          <p:nvPr/>
        </p:nvSpPr>
        <p:spPr>
          <a:xfrm>
            <a:off x="2455875" y="1930950"/>
            <a:ext cx="452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0.24 × 484 </a:t>
            </a:r>
            <a:endParaRPr/>
          </a:p>
        </p:txBody>
      </p:sp>
      <p:sp>
        <p:nvSpPr>
          <p:cNvPr id="1479" name="Google Shape;1479;p97"/>
          <p:cNvSpPr txBox="1"/>
          <p:nvPr/>
        </p:nvSpPr>
        <p:spPr>
          <a:xfrm>
            <a:off x="2455875" y="2464350"/>
            <a:ext cx="536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0.16 × 563.1</a:t>
            </a:r>
            <a:endParaRPr/>
          </a:p>
        </p:txBody>
      </p:sp>
      <p:sp>
        <p:nvSpPr>
          <p:cNvPr id="1480" name="Google Shape;1480;p97"/>
          <p:cNvSpPr txBox="1"/>
          <p:nvPr/>
        </p:nvSpPr>
        <p:spPr>
          <a:xfrm>
            <a:off x="2455875" y="2959650"/>
            <a:ext cx="536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0.03 × 186.2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1" name="Google Shape;1481;p97"/>
          <p:cNvSpPr txBox="1"/>
          <p:nvPr/>
        </p:nvSpPr>
        <p:spPr>
          <a:xfrm>
            <a:off x="2455875" y="3454950"/>
            <a:ext cx="536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0.333 × 475 </a:t>
            </a:r>
            <a:endParaRPr/>
          </a:p>
        </p:txBody>
      </p:sp>
      <p:sp>
        <p:nvSpPr>
          <p:cNvPr id="1482" name="Google Shape;1482;p97"/>
          <p:cNvSpPr txBox="1"/>
          <p:nvPr/>
        </p:nvSpPr>
        <p:spPr>
          <a:xfrm>
            <a:off x="2455875" y="3988350"/>
            <a:ext cx="536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0.033 × 986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</a:t>
            </a:r>
            <a:r>
              <a:rPr lang="en-GB"/>
              <a:t>Work out: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a)   </a:t>
            </a:r>
            <a:r>
              <a:rPr lang="en-GB"/>
              <a:t>27% of 560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b)   18% of 244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 c)   6% of 94</a:t>
            </a:r>
            <a:endParaRPr/>
          </a:p>
        </p:txBody>
      </p:sp>
      <p:sp>
        <p:nvSpPr>
          <p:cNvPr id="1488" name="Google Shape;1488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1489" name="Google Shape;1489;p98"/>
          <p:cNvSpPr txBox="1"/>
          <p:nvPr/>
        </p:nvSpPr>
        <p:spPr>
          <a:xfrm>
            <a:off x="2383300" y="1179600"/>
            <a:ext cx="428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0.27 × 560 = 151.2  </a:t>
            </a:r>
            <a:endParaRPr/>
          </a:p>
        </p:txBody>
      </p:sp>
      <p:sp>
        <p:nvSpPr>
          <p:cNvPr id="1490" name="Google Shape;1490;p98"/>
          <p:cNvSpPr txBox="1"/>
          <p:nvPr/>
        </p:nvSpPr>
        <p:spPr>
          <a:xfrm>
            <a:off x="2383300" y="2235400"/>
            <a:ext cx="452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0.18 × 244 = 43.92 </a:t>
            </a:r>
            <a:endParaRPr/>
          </a:p>
        </p:txBody>
      </p:sp>
      <p:sp>
        <p:nvSpPr>
          <p:cNvPr id="1491" name="Google Shape;1491;p98"/>
          <p:cNvSpPr txBox="1"/>
          <p:nvPr/>
        </p:nvSpPr>
        <p:spPr>
          <a:xfrm>
            <a:off x="2138500" y="3240000"/>
            <a:ext cx="452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0.06 × 94 = 5.64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1497" name="Google Shape;1497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</a:t>
            </a:r>
            <a:r>
              <a:rPr lang="en-GB"/>
              <a:t> </a:t>
            </a:r>
            <a:r>
              <a:rPr lang="en-GB"/>
              <a:t>Can you explain the strategy behind each student’s working out for finding 48% of 64?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99"/>
          <p:cNvSpPr/>
          <p:nvPr/>
        </p:nvSpPr>
        <p:spPr>
          <a:xfrm>
            <a:off x="526150" y="1660075"/>
            <a:ext cx="4297800" cy="230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4\ \times6.4\ =\ 25.6\\&amp;#13;&amp;#10;8\ \times0.64\ =\ 5.12\\&amp;#13;&amp;#10;5.12\ +25.6\ =\ 30.72\end{array}&quot;&gt;&lt;mtable columnalign=&quot;left&quot; columnspacing=&quot;1em&quot; rowspacing=&quot;4pt&quot;&gt;&lt;mtr&gt;&lt;mtd&gt;&lt;mn&gt;4&lt;/mn&gt;&lt;mtext&gt;&lt;/mtext&gt;&lt;mo&gt;×&lt;/mo&gt;&lt;mn&gt;6.4&lt;/mn&gt;&lt;mtext&gt;&lt;/mtext&gt;&lt;mo&gt;=&lt;/mo&gt;&lt;mtext&gt;&lt;/mtext&gt;&lt;mn&gt;25.6&lt;/mn&gt;&lt;/mtd&gt;&lt;/mtr&gt;&lt;mtr&gt;&lt;mtd&gt;&lt;mn&gt;8&lt;/mn&gt;&lt;mtext&gt;&lt;/mtext&gt;&lt;mo&gt;×&lt;/mo&gt;&lt;mn&gt;0.64&lt;/mn&gt;&lt;mtext&gt;&lt;/mtext&gt;&lt;mo&gt;=&lt;/mo&gt;&lt;mtext&gt;&lt;/mtext&gt;&lt;mn&gt;5.12&lt;/mn&gt;&lt;/mtd&gt;&lt;/mtr&gt;&lt;mtr&gt;&lt;mtd&gt;&lt;mn&gt;5.12&lt;/mn&gt;&lt;mtext&gt;&lt;/mtext&gt;&lt;mo&gt;+&lt;/mo&gt;&lt;mn&gt;25.6&lt;/mn&gt;&lt;mtext&gt;&lt;/mtext&gt;&lt;mo&gt;=&lt;/mo&gt;&lt;mtext&gt;&lt;/mtext&gt;&lt;mn&gt;30.72&lt;/mn&gt;&lt;/mtd&gt;&lt;/mtr&gt;&lt;/mtable&gt;&lt;/math&gt;" id="1499" name="Google Shape;1499;p99" title="3 lines Line 1: 4 times 6.4 equals 25.6 Line 2: 8 times 0.64 equals 5.12 Line 3: 5.12 positive 25.6 equals 30.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445" y="1914025"/>
            <a:ext cx="3736549" cy="149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99"/>
          <p:cNvSpPr txBox="1"/>
          <p:nvPr/>
        </p:nvSpPr>
        <p:spPr>
          <a:xfrm>
            <a:off x="983575" y="3519225"/>
            <a:ext cx="1128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99"/>
          <p:cNvSpPr txBox="1"/>
          <p:nvPr/>
        </p:nvSpPr>
        <p:spPr>
          <a:xfrm>
            <a:off x="4926925" y="1660075"/>
            <a:ext cx="37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Alex has found 10% and is multiplying by 4 to give 40%.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2" name="Google Shape;1502;p99"/>
          <p:cNvSpPr txBox="1"/>
          <p:nvPr/>
        </p:nvSpPr>
        <p:spPr>
          <a:xfrm>
            <a:off x="4926925" y="2498275"/>
            <a:ext cx="37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Then Alex has found 1% and is multiplying by 8 to give 8%.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3" name="Google Shape;1503;p99"/>
          <p:cNvSpPr txBox="1"/>
          <p:nvPr/>
        </p:nvSpPr>
        <p:spPr>
          <a:xfrm>
            <a:off x="4926925" y="3260275"/>
            <a:ext cx="37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has then summed 40% and 8% to make 48% which is 30.72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04" name="Google Shape;1504;p99"/>
          <p:cNvCxnSpPr>
            <a:stCxn id="1501" idx="1"/>
          </p:cNvCxnSpPr>
          <p:nvPr/>
        </p:nvCxnSpPr>
        <p:spPr>
          <a:xfrm flipH="1">
            <a:off x="3798925" y="2029525"/>
            <a:ext cx="1128000" cy="11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5" name="Google Shape;1505;p99"/>
          <p:cNvCxnSpPr/>
          <p:nvPr/>
        </p:nvCxnSpPr>
        <p:spPr>
          <a:xfrm rot="10800000">
            <a:off x="3878850" y="2700000"/>
            <a:ext cx="1128000" cy="10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6" name="Google Shape;1506;p99"/>
          <p:cNvCxnSpPr>
            <a:stCxn id="1503" idx="1"/>
          </p:cNvCxnSpPr>
          <p:nvPr/>
        </p:nvCxnSpPr>
        <p:spPr>
          <a:xfrm rot="10800000">
            <a:off x="4260025" y="3474925"/>
            <a:ext cx="666900" cy="154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00"/>
          <p:cNvSpPr/>
          <p:nvPr/>
        </p:nvSpPr>
        <p:spPr>
          <a:xfrm>
            <a:off x="4919675" y="1620000"/>
            <a:ext cx="3788100" cy="230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sp>
        <p:nvSpPr>
          <p:cNvPr id="1513" name="Google Shape;1513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</a:t>
            </a:r>
            <a:r>
              <a:rPr lang="en-GB"/>
              <a:t> </a:t>
            </a:r>
            <a:r>
              <a:rPr lang="en-GB"/>
              <a:t>Can you explain the strategy behind each student’s working out for finding 48% of 64?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2\ \times0.64\ =\ 1.28\\&amp;#13;&amp;#10;32-1.28\ =\ 30.72\end{array}&quot;&gt;&lt;mtable columnalign=&quot;left&quot; columnspacing=&quot;1em&quot; rowspacing=&quot;4pt&quot;&gt;&lt;mtr&gt;&lt;mtd&gt;&lt;mn&gt;2&lt;/mn&gt;&lt;mtext&gt;&lt;/mtext&gt;&lt;mo&gt;×&lt;/mo&gt;&lt;mn&gt;0.64&lt;/mn&gt;&lt;mtext&gt;&lt;/mtext&gt;&lt;mo&gt;=&lt;/mo&gt;&lt;mtext&gt;&lt;/mtext&gt;&lt;mn&gt;1.28&lt;/mn&gt;&lt;/mtd&gt;&lt;/mtr&gt;&lt;mtr&gt;&lt;mtd&gt;&lt;mn&gt;32&lt;/mn&gt;&lt;mo&gt;−&lt;/mo&gt;&lt;mn&gt;1.28&lt;/mn&gt;&lt;mtext&gt;&lt;/mtext&gt;&lt;mo&gt;=&lt;/mo&gt;&lt;mtext&gt;&lt;/mtext&gt;&lt;mn&gt;30.72&lt;/mn&gt;&lt;/mtd&gt;&lt;/mtr&gt;&lt;/mtable&gt;&lt;/math&gt;" id="1514" name="Google Shape;1514;p100" title="2 lines Line 1: 2 times 0.64 equals 1.28 Line 2: 32 minus 1.28 equals 30.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146" y="2159996"/>
            <a:ext cx="3337867" cy="9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100"/>
          <p:cNvSpPr txBox="1"/>
          <p:nvPr/>
        </p:nvSpPr>
        <p:spPr>
          <a:xfrm>
            <a:off x="5118150" y="3455100"/>
            <a:ext cx="11280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100"/>
          <p:cNvSpPr txBox="1"/>
          <p:nvPr/>
        </p:nvSpPr>
        <p:spPr>
          <a:xfrm>
            <a:off x="324000" y="1998075"/>
            <a:ext cx="37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Sam has found 1% and is multiplying by 2 to give 2%.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17" name="Google Shape;1517;p100"/>
          <p:cNvCxnSpPr/>
          <p:nvPr/>
        </p:nvCxnSpPr>
        <p:spPr>
          <a:xfrm flipH="1" rot="10800000">
            <a:off x="4137288" y="2292150"/>
            <a:ext cx="771600" cy="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8" name="Google Shape;1518;p100"/>
          <p:cNvSpPr txBox="1"/>
          <p:nvPr/>
        </p:nvSpPr>
        <p:spPr>
          <a:xfrm>
            <a:off x="278875" y="2800175"/>
            <a:ext cx="378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32 represents 50% of the 64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19" name="Google Shape;1519;p100"/>
          <p:cNvCxnSpPr>
            <a:stCxn id="1518" idx="3"/>
          </p:cNvCxnSpPr>
          <p:nvPr/>
        </p:nvCxnSpPr>
        <p:spPr>
          <a:xfrm flipH="1" rot="10800000">
            <a:off x="4068775" y="2941925"/>
            <a:ext cx="894300" cy="8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0" name="Google Shape;1520;p100"/>
          <p:cNvSpPr txBox="1"/>
          <p:nvPr/>
        </p:nvSpPr>
        <p:spPr>
          <a:xfrm>
            <a:off x="278875" y="3333575"/>
            <a:ext cx="37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Sam has subtracted 2% from 50% to make 48% which is 30.72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21" name="Google Shape;1521;p100"/>
          <p:cNvCxnSpPr/>
          <p:nvPr/>
        </p:nvCxnSpPr>
        <p:spPr>
          <a:xfrm flipH="1" rot="10800000">
            <a:off x="3953088" y="3302725"/>
            <a:ext cx="919800" cy="24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01"/>
          <p:cNvSpPr txBox="1"/>
          <p:nvPr>
            <p:ph idx="1" type="body"/>
          </p:nvPr>
        </p:nvSpPr>
        <p:spPr>
          <a:xfrm>
            <a:off x="2951250" y="759300"/>
            <a:ext cx="55188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</a:t>
            </a:r>
            <a:r>
              <a:rPr lang="en-GB"/>
              <a:t> A hard cheddar cheese contains 37% water, 33% fat, 23% protein, 3.5% carbohydrates, and 3.5% minerals and other compounds.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From a 250g block of cheese, work out how many grams there are of:</a:t>
            </a:r>
            <a:endParaRPr/>
          </a:p>
        </p:txBody>
      </p:sp>
      <p:sp>
        <p:nvSpPr>
          <p:cNvPr id="1527" name="Google Shape;1527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decimal multiplier</a:t>
            </a:r>
            <a:endParaRPr/>
          </a:p>
        </p:txBody>
      </p:sp>
      <p:pic>
        <p:nvPicPr>
          <p:cNvPr id="1528" name="Google Shape;1528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00" y="958150"/>
            <a:ext cx="2225201" cy="19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9" name="Google Shape;1529;p101"/>
          <p:cNvSpPr txBox="1"/>
          <p:nvPr>
            <p:ph idx="1" type="body"/>
          </p:nvPr>
        </p:nvSpPr>
        <p:spPr>
          <a:xfrm>
            <a:off x="635550" y="3365500"/>
            <a:ext cx="7800900" cy="13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Water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Fat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Protein</a:t>
            </a:r>
            <a:endParaRPr/>
          </a:p>
        </p:txBody>
      </p:sp>
      <p:sp>
        <p:nvSpPr>
          <p:cNvPr id="1530" name="Google Shape;1530;p101"/>
          <p:cNvSpPr txBox="1"/>
          <p:nvPr/>
        </p:nvSpPr>
        <p:spPr>
          <a:xfrm>
            <a:off x="2108075" y="3303000"/>
            <a:ext cx="452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0.37 × 250 = 92.5 g </a:t>
            </a:r>
            <a:endParaRPr/>
          </a:p>
        </p:txBody>
      </p:sp>
      <p:sp>
        <p:nvSpPr>
          <p:cNvPr id="1531" name="Google Shape;1531;p101"/>
          <p:cNvSpPr txBox="1"/>
          <p:nvPr/>
        </p:nvSpPr>
        <p:spPr>
          <a:xfrm>
            <a:off x="2108075" y="3684000"/>
            <a:ext cx="452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0.33 × 250 = 82.5 g </a:t>
            </a:r>
            <a:endParaRPr/>
          </a:p>
        </p:txBody>
      </p:sp>
      <p:sp>
        <p:nvSpPr>
          <p:cNvPr id="1532" name="Google Shape;1532;p101"/>
          <p:cNvSpPr txBox="1"/>
          <p:nvPr/>
        </p:nvSpPr>
        <p:spPr>
          <a:xfrm>
            <a:off x="2108075" y="4065000"/>
            <a:ext cx="452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0.23 × 250 = 57.5 g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102"/>
          <p:cNvSpPr txBox="1"/>
          <p:nvPr>
            <p:ph idx="1" type="body"/>
          </p:nvPr>
        </p:nvSpPr>
        <p:spPr>
          <a:xfrm>
            <a:off x="324000" y="810000"/>
            <a:ext cx="8402700" cy="115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We have looked at finding a </a:t>
            </a:r>
            <a:r>
              <a:rPr lang="en-GB" sz="2100"/>
              <a:t>percentage</a:t>
            </a:r>
            <a:r>
              <a:rPr lang="en-GB" sz="2100"/>
              <a:t> of an amount using: double number lines, bar models, ratio tables and using a decimal multiplier.</a:t>
            </a:r>
            <a:endParaRPr sz="2100"/>
          </a:p>
        </p:txBody>
      </p:sp>
      <p:sp>
        <p:nvSpPr>
          <p:cNvPr id="1538" name="Google Shape;1538;p102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a percentage with a multiplier</a:t>
            </a:r>
            <a:endParaRPr/>
          </a:p>
        </p:txBody>
      </p:sp>
      <p:sp>
        <p:nvSpPr>
          <p:cNvPr id="1539" name="Google Shape;1539;p102"/>
          <p:cNvSpPr txBox="1"/>
          <p:nvPr>
            <p:ph idx="1" type="body"/>
          </p:nvPr>
        </p:nvSpPr>
        <p:spPr>
          <a:xfrm>
            <a:off x="324000" y="2219225"/>
            <a:ext cx="8496000" cy="11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You can use an equivalent decimal multiplication to find percentages of amounts.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For example, 68% of 430 can be found by calculating 0.68 × 430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0" name="Google Shape;1540;p102"/>
          <p:cNvSpPr txBox="1"/>
          <p:nvPr>
            <p:ph idx="1" type="body"/>
          </p:nvPr>
        </p:nvSpPr>
        <p:spPr>
          <a:xfrm>
            <a:off x="324000" y="3780000"/>
            <a:ext cx="8496000" cy="7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This is particularly </a:t>
            </a:r>
            <a:r>
              <a:rPr lang="en-GB" sz="2100"/>
              <a:t>efficient</a:t>
            </a:r>
            <a:r>
              <a:rPr lang="en-GB" sz="2100"/>
              <a:t> when using a calculator to work out percentages of amounts. </a:t>
            </a:r>
            <a:r>
              <a:rPr lang="en-GB" sz="2100"/>
              <a:t>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46" name="Google Shape;1546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