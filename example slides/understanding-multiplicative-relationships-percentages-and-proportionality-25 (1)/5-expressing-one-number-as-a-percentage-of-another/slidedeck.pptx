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4" r:id="rId4"/>
    <p:sldMasterId id="21474837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A3313B-CC42-41B2-AB50-C15D5DAE776A}">
  <a:tblStyle styleId="{3BA3313B-CC42-41B2-AB50-C15D5DAE77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b25cd8224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b25cd8224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b25cd8224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b25cd8224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b25cd8224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b25cd8224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2b56a96efa5_1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2b56a96efa5_1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b50e39f829_0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b50e39f829_0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2b50e39f829_0_1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2b50e39f829_0_1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2b50e39f829_0_2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2b50e39f829_0_2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2b50e39f829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b50e39f829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b50e39f829_0_2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b50e39f829_0_2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b50e39f829_0_3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b50e39f829_0_3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2b50e39f829_0_3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2b50e39f829_0_3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b50e39f829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b50e39f829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b50e39f829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b50e39f829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2b50e39f829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2b50e39f829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2b50e39f829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b50e39f82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b50e39f829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b50e39f829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b50e39f829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b50e39f829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b50e39f829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b50e39f82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2b50e39f829_2_2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2b50e39f829_2_2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2b50e39f829_2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2b50e39f829_2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2b50e39f829_2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2b50e39f829_2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2b50e39f829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2b50e39f829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2b56a96efa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2b56a96efa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2b56a96efa5_1_1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2b56a96efa5_1_1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b56a96efa5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b56a96efa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2b56a96efa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2b56a96efa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2b56a96efa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2b56a96efa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b56a96efa5_1_1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b56a96efa5_1_1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b56a96efa5_1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b56a96efa5_1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g2b56a96efa5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2b56a96efa5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2b56a96efa5_1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b56a96efa5_1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2b56a96efa5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2" name="Google Shape;2092;g2b56a96efa5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2b56a96efa5_2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2b56a96efa5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2b56a96efa5_2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3" name="Google Shape;2163;g2b56a96efa5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2b56a96efa5_2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2b56a96efa5_2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2b56a96efa5_2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2b56a96efa5_2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2b56a96efa5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1" name="Google Shape;2201;g2b56a96efa5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2b56a96efa5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2b56a96efa5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2b56a96efa5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2b56a96efa5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2b56a96efa5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2b56a96efa5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2b50e39f829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2b50e39f829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2b56a96efa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2b56a96efa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80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80.png"/><Relationship Id="rId4" Type="http://schemas.openxmlformats.org/officeDocument/2006/relationships/image" Target="../media/image23.png"/><Relationship Id="rId9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36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80.png"/><Relationship Id="rId4" Type="http://schemas.openxmlformats.org/officeDocument/2006/relationships/image" Target="../media/image31.png"/><Relationship Id="rId11" Type="http://schemas.openxmlformats.org/officeDocument/2006/relationships/image" Target="../media/image9.png"/><Relationship Id="rId10" Type="http://schemas.openxmlformats.org/officeDocument/2006/relationships/image" Target="../media/image35.png"/><Relationship Id="rId9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2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5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5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80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0.png"/><Relationship Id="rId4" Type="http://schemas.openxmlformats.org/officeDocument/2006/relationships/image" Target="../media/image23.png"/><Relationship Id="rId9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36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0.png"/><Relationship Id="rId4" Type="http://schemas.openxmlformats.org/officeDocument/2006/relationships/image" Target="../media/image31.png"/><Relationship Id="rId11" Type="http://schemas.openxmlformats.org/officeDocument/2006/relationships/image" Target="../media/image9.png"/><Relationship Id="rId10" Type="http://schemas.openxmlformats.org/officeDocument/2006/relationships/image" Target="../media/image35.png"/><Relationship Id="rId9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2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2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3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53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53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53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3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4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2"/>
          <p:cNvSpPr/>
          <p:nvPr/>
        </p:nvSpPr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sp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4" name="Google Shape;754;p6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6" name="Google Shape;756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7" name="Google Shape;75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2" name="Google Shape;762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65" name="Google Shape;76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2">
  <p:cSld name="TITLE_AND_TWO_COLUMNS_1_1_5_1_3_1_1_1_1_2_2">
    <p:bg>
      <p:bgPr>
        <a:solidFill>
          <a:srgbClr val="E6F2F2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0" name="Google Shape;770;p6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2" name="Google Shape;772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3" name="Google Shape;77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8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1" name="Google Shape;79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0" name="Google Shape;80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9" name="Google Shape;809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0" name="Google Shape;810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70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2" name="Google Shape;812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6" name="Google Shape;816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1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8" name="Google Shape;81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20" name="Google Shape;820;p71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2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27" name="Google Shape;827;p72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8" name="Google Shape;828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9" name="Google Shape;829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p72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1" name="Google Shape;831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6" name="Google Shape;836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8" name="Google Shape;838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3" name="Google Shape;843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45" name="Google Shape;84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47" name="Google Shape;847;p7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48" name="Google Shape;848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74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0" name="Google Shape;850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7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5" name="Google Shape;855;p7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57" name="Google Shape;85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7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7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7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7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7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9" name="Google Shape;869;p77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70" name="Google Shape;870;p7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71" name="Google Shape;871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72" name="Google Shape;872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73" name="Google Shape;873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74" name="Google Shape;874;p77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8" name="Google Shape;878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78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80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4" name="Google Shape;894;p80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7" name="Google Shape;897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0" name="Google Shape;900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1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2" name="Google Shape;902;p81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3" name="Google Shape;903;p81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4" name="Google Shape;904;p81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8" name="Google Shape;908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82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0" name="Google Shape;910;p82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1" name="Google Shape;911;p82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2" name="Google Shape;912;p82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3" name="Google Shape;913;p82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4" name="Google Shape;914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83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9" name="Google Shape;919;p83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0" name="Google Shape;920;p83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921" name="Google Shape;921;p83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922" name="Google Shape;922;p83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3" name="Google Shape;923;p8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6" name="Google Shape;926;p8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4"/>
          <p:cNvCxnSpPr>
            <a:endCxn id="930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1" name="Google Shape;93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3" name="Google Shape;933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0" name="Google Shape;930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4" name="Google Shape;944;p85"/>
          <p:cNvCxnSpPr>
            <a:endCxn id="94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5" name="Google Shape;945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8" name="Google Shape;948;p8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9" name="Google Shape;949;p8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50" name="Google Shape;950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2" name="Google Shape;952;p85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86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8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6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86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5" name="Google Shape;965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9" name="Google Shape;969;p86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0" name="Google Shape;970;p86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1" name="Google Shape;971;p86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4" name="Google Shape;974;p86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6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7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1" name="Google Shape;98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2" name="Google Shape;98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8" name="Google Shape;988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0" name="Google Shape;99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5" name="Google Shape;995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7" name="Google Shape;997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2" name="Google Shape;1002;p9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04" name="Google Shape;1004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7" name="Google Shape;100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0" name="Google Shape;101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1" name="Google Shape;1011;p9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2" name="Google Shape;101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3" name="Google Shape;101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4" name="Google Shape;101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5" name="Google Shape;101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6" name="Google Shape;101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7" name="Google Shape;101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0" name="Google Shape;102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5" name="Google Shape;102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6" name="Google Shape;102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7" name="Google Shape;102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8" name="Google Shape;102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9" name="Google Shape;102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9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3" name="Google Shape;103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8" name="Google Shape;103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39" name="Google Shape;103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0" name="Google Shape;104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1" name="Google Shape;104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42" name="Google Shape;104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6" name="Google Shape;104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0" name="Google Shape;105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1" name="Google Shape;1051;p9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52" name="Google Shape;1052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9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9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55" name="Google Shape;1055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9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Google Shape;105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5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6" name="Google Shape;1066;p9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68" name="Google Shape;1068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9" name="Google Shape;1069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1" name="Google Shape;1071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74" name="Google Shape;1074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5" name="Google Shape;1075;p9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7" name="Google Shape;1077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8" name="Google Shape;1078;p9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8" name="Google Shape;108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2" name="Google Shape;109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3" name="Google Shape;109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4" name="Google Shape;109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5" name="Google Shape;109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6" name="Google Shape;109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7" name="Google Shape;109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9" name="Google Shape;109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11" name="Google Shape;111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4" name="Google Shape;111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7" name="Google Shape;111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2" name="Google Shape;112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9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9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9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34" name="Google Shape;113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7" name="Google Shape;1137;p9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8" name="Google Shape;1138;p9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9" name="Google Shape;1139;p9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40" name="Google Shape;114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1" name="Google Shape;114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2" name="Google Shape;1142;p9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43" name="Google Shape;114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4" name="Google Shape;114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45" name="Google Shape;1145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9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3" name="Google Shape;115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6" name="Google Shape;115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7" name="Google Shape;115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8" name="Google Shape;115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9" name="Google Shape;115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0" name="Google Shape;116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2" name="Google Shape;116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3" name="Google Shape;116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9" name="Google Shape;116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2" name="Google Shape;117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5" name="Google Shape;117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6" name="Google Shape;117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7" name="Google Shape;117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8" name="Google Shape;117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9" name="Google Shape;117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0" name="Google Shape;118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1" name="Google Shape;118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2" name="Google Shape;118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8" name="Google Shape;1188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1" name="Google Shape;119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4" name="Google Shape;1194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5" name="Google Shape;1195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6" name="Google Shape;1196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7" name="Google Shape;1197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8" name="Google Shape;119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9" name="Google Shape;119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0" name="Google Shape;1200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01" name="Google Shape;120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2" name="Google Shape;120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3" name="Google Shape;1203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04" name="Google Shape;120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5" name="Google Shape;120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7" name="Google Shape;1207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0" name="Google Shape;121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3" name="Google Shape;1213;p10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Google Shape;122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9" name="Google Shape;122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2" name="Google Shape;123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5" name="Google Shape;123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6" name="Google Shape;123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9" name="Google Shape;123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2" name="Google Shape;125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5" name="Google Shape;125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7" name="Google Shape;125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8" name="Google Shape;125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9" name="Google Shape;125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2" name="Google Shape;126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5" name="Google Shape;127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8" name="Google Shape;127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0" name="Google Shape;128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1" name="Google Shape;128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2" name="Google Shape;128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5" name="Google Shape;128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6" name="Google Shape;128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7" name="Google Shape;128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8" name="Google Shape;128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9" name="Google Shape;128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0" name="Google Shape;129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1" name="Google Shape;129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2" name="Google Shape;129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3" name="Google Shape;129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0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8" name="Google Shape;129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1" name="Google Shape;1301;p10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2" name="Google Shape;1302;p10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3" name="Google Shape;1303;p10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4" name="Google Shape;1304;p10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05" name="Google Shape;1305;p10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10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09" name="Google Shape;130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1" name="Google Shape;1311;p10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8" name="Google Shape;1318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1" name="Google Shape;132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4" name="Google Shape;132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5" name="Google Shape;132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6" name="Google Shape;132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7" name="Google Shape;132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8" name="Google Shape;132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9" name="Google Shape;132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0" name="Google Shape;133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0" name="Google Shape;134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3" name="Google Shape;134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4" name="Google Shape;134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5" name="Google Shape;134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6" name="Google Shape;134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7" name="Google Shape;134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6" name="Google Shape;135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9" name="Google Shape;135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4" name="Google Shape;1364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5" name="Google Shape;1365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6" name="Google Shape;1366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8" name="Google Shape;1368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9" name="Google Shape;1369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5" name="Google Shape;137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1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78" name="Google Shape;1378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1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1" name="Google Shape;1381;p11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82" name="Google Shape;1382;p11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83" name="Google Shape;1383;p11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84" name="Google Shape;1384;p11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85" name="Google Shape;1385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6" name="Google Shape;1386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7" name="Google Shape;1387;p11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88" name="Google Shape;1388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9" name="Google Shape;1389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0" name="Google Shape;1390;p11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91" name="Google Shape;1391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2" name="Google Shape;1392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7" name="Google Shape;139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1" name="Google Shape;140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11" name="Google Shape;1411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18" name="Google Shape;141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59" name="Google Shape;1459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5" name="Google Shape;1465;p120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7" name="Google Shape;1467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8" name="Google Shape;1468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3" name="Google Shape;1473;p121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5" name="Google Shape;1475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6" name="Google Shape;1476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1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2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1" name="Google Shape;1481;p122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3" name="Google Shape;1483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4" name="Google Shape;1484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3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7" name="Google Shape;1487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9" name="Google Shape;1489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2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124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3" name="Google Shape;1493;p1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2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5" name="Google Shape;1495;p12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24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2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6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2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126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26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26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126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26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26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26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1" name="Google Shape;1511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27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2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theme" Target="../theme/theme2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3.xml"/><Relationship Id="rId42" Type="http://schemas.openxmlformats.org/officeDocument/2006/relationships/slideLayout" Target="../slideLayouts/slideLayout105.xml"/><Relationship Id="rId41" Type="http://schemas.openxmlformats.org/officeDocument/2006/relationships/slideLayout" Target="../slideLayouts/slideLayout104.xml"/><Relationship Id="rId44" Type="http://schemas.openxmlformats.org/officeDocument/2006/relationships/slideLayout" Target="../slideLayouts/slideLayout107.xml"/><Relationship Id="rId43" Type="http://schemas.openxmlformats.org/officeDocument/2006/relationships/slideLayout" Target="../slideLayouts/slideLayout106.xml"/><Relationship Id="rId46" Type="http://schemas.openxmlformats.org/officeDocument/2006/relationships/slideLayout" Target="../slideLayouts/slideLayout109.xml"/><Relationship Id="rId45" Type="http://schemas.openxmlformats.org/officeDocument/2006/relationships/slideLayout" Target="../slideLayouts/slideLayout108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48" Type="http://schemas.openxmlformats.org/officeDocument/2006/relationships/slideLayout" Target="../slideLayouts/slideLayout111.xml"/><Relationship Id="rId47" Type="http://schemas.openxmlformats.org/officeDocument/2006/relationships/slideLayout" Target="../slideLayouts/slideLayout110.xml"/><Relationship Id="rId49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94.xml"/><Relationship Id="rId30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98.xml"/><Relationship Id="rId34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0.xml"/><Relationship Id="rId36" Type="http://schemas.openxmlformats.org/officeDocument/2006/relationships/slideLayout" Target="../slideLayouts/slideLayout99.xml"/><Relationship Id="rId39" Type="http://schemas.openxmlformats.org/officeDocument/2006/relationships/slideLayout" Target="../slideLayouts/slideLayout102.xml"/><Relationship Id="rId38" Type="http://schemas.openxmlformats.org/officeDocument/2006/relationships/slideLayout" Target="../slideLayouts/slideLayout101.xml"/><Relationship Id="rId62" Type="http://schemas.openxmlformats.org/officeDocument/2006/relationships/slideLayout" Target="../slideLayouts/slideLayout125.xml"/><Relationship Id="rId61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83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86.xml"/><Relationship Id="rId60" Type="http://schemas.openxmlformats.org/officeDocument/2006/relationships/slideLayout" Target="../slideLayouts/slideLayout123.xml"/><Relationship Id="rId26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2.xml"/><Relationship Id="rId51" Type="http://schemas.openxmlformats.org/officeDocument/2006/relationships/slideLayout" Target="../slideLayouts/slideLayout114.xml"/><Relationship Id="rId50" Type="http://schemas.openxmlformats.org/officeDocument/2006/relationships/slideLayout" Target="../slideLayouts/slideLayout113.xml"/><Relationship Id="rId53" Type="http://schemas.openxmlformats.org/officeDocument/2006/relationships/slideLayout" Target="../slideLayouts/slideLayout116.xml"/><Relationship Id="rId52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74.xml"/><Relationship Id="rId5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73.xml"/><Relationship Id="rId54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76.xml"/><Relationship Id="rId5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75.xml"/><Relationship Id="rId56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78.xml"/><Relationship Id="rId5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77.xml"/><Relationship Id="rId58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76" name="Google Shape;776;p66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77" name="Google Shape;777;p6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  <p:sldLayoutId id="2147483753" r:id="rId43"/>
    <p:sldLayoutId id="2147483754" r:id="rId44"/>
    <p:sldLayoutId id="2147483755" r:id="rId45"/>
    <p:sldLayoutId id="2147483756" r:id="rId46"/>
    <p:sldLayoutId id="2147483757" r:id="rId47"/>
    <p:sldLayoutId id="2147483758" r:id="rId48"/>
    <p:sldLayoutId id="2147483759" r:id="rId49"/>
    <p:sldLayoutId id="2147483760" r:id="rId50"/>
    <p:sldLayoutId id="2147483761" r:id="rId51"/>
    <p:sldLayoutId id="2147483762" r:id="rId52"/>
    <p:sldLayoutId id="2147483763" r:id="rId53"/>
    <p:sldLayoutId id="2147483764" r:id="rId54"/>
    <p:sldLayoutId id="2147483765" r:id="rId55"/>
    <p:sldLayoutId id="2147483766" r:id="rId56"/>
    <p:sldLayoutId id="2147483767" r:id="rId57"/>
    <p:sldLayoutId id="2147483768" r:id="rId58"/>
    <p:sldLayoutId id="2147483769" r:id="rId59"/>
    <p:sldLayoutId id="2147483770" r:id="rId60"/>
    <p:sldLayoutId id="2147483771" r:id="rId61"/>
    <p:sldLayoutId id="2147483772" r:id="rId62"/>
    <p:sldLayoutId id="2147483773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6.png"/><Relationship Id="rId4" Type="http://schemas.openxmlformats.org/officeDocument/2006/relationships/image" Target="../media/image108.png"/><Relationship Id="rId5" Type="http://schemas.openxmlformats.org/officeDocument/2006/relationships/image" Target="../media/image10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3.png"/><Relationship Id="rId6" Type="http://schemas.openxmlformats.org/officeDocument/2006/relationships/image" Target="../media/image1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5.png"/><Relationship Id="rId6" Type="http://schemas.openxmlformats.org/officeDocument/2006/relationships/image" Target="../media/image1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6.png"/><Relationship Id="rId4" Type="http://schemas.openxmlformats.org/officeDocument/2006/relationships/image" Target="../media/image115.png"/><Relationship Id="rId5" Type="http://schemas.openxmlformats.org/officeDocument/2006/relationships/image" Target="../media/image1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9.png"/><Relationship Id="rId4" Type="http://schemas.openxmlformats.org/officeDocument/2006/relationships/image" Target="../media/image1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0.png"/><Relationship Id="rId4" Type="http://schemas.openxmlformats.org/officeDocument/2006/relationships/image" Target="../media/image122.png"/><Relationship Id="rId5" Type="http://schemas.openxmlformats.org/officeDocument/2006/relationships/image" Target="../media/image1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3.png"/><Relationship Id="rId4" Type="http://schemas.openxmlformats.org/officeDocument/2006/relationships/image" Target="../media/image1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0.png"/><Relationship Id="rId4" Type="http://schemas.openxmlformats.org/officeDocument/2006/relationships/image" Target="../media/image119.png"/><Relationship Id="rId5" Type="http://schemas.openxmlformats.org/officeDocument/2006/relationships/image" Target="../media/image132.png"/><Relationship Id="rId6" Type="http://schemas.openxmlformats.org/officeDocument/2006/relationships/image" Target="../media/image1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3.png"/><Relationship Id="rId4" Type="http://schemas.openxmlformats.org/officeDocument/2006/relationships/image" Target="../media/image1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2.png"/><Relationship Id="rId4" Type="http://schemas.openxmlformats.org/officeDocument/2006/relationships/image" Target="../media/image128.png"/><Relationship Id="rId5" Type="http://schemas.openxmlformats.org/officeDocument/2006/relationships/image" Target="../media/image131.png"/><Relationship Id="rId6" Type="http://schemas.openxmlformats.org/officeDocument/2006/relationships/image" Target="../media/image137.png"/><Relationship Id="rId7" Type="http://schemas.openxmlformats.org/officeDocument/2006/relationships/image" Target="../media/image129.png"/><Relationship Id="rId8" Type="http://schemas.openxmlformats.org/officeDocument/2006/relationships/image" Target="../media/image1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1.png"/><Relationship Id="rId4" Type="http://schemas.openxmlformats.org/officeDocument/2006/relationships/image" Target="../media/image130.png"/><Relationship Id="rId5" Type="http://schemas.openxmlformats.org/officeDocument/2006/relationships/image" Target="../media/image119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6.png"/><Relationship Id="rId4" Type="http://schemas.openxmlformats.org/officeDocument/2006/relationships/image" Target="../media/image1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8.png"/><Relationship Id="rId4" Type="http://schemas.openxmlformats.org/officeDocument/2006/relationships/image" Target="../media/image140.png"/><Relationship Id="rId5" Type="http://schemas.openxmlformats.org/officeDocument/2006/relationships/image" Target="../media/image1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9.png"/><Relationship Id="rId4" Type="http://schemas.openxmlformats.org/officeDocument/2006/relationships/image" Target="../media/image147.png"/><Relationship Id="rId5" Type="http://schemas.openxmlformats.org/officeDocument/2006/relationships/image" Target="../media/image1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9.png"/><Relationship Id="rId4" Type="http://schemas.openxmlformats.org/officeDocument/2006/relationships/image" Target="../media/image1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4.png"/><Relationship Id="rId4" Type="http://schemas.openxmlformats.org/officeDocument/2006/relationships/image" Target="../media/image1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1.png"/><Relationship Id="rId4" Type="http://schemas.openxmlformats.org/officeDocument/2006/relationships/image" Target="../media/image1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0.png"/><Relationship Id="rId4" Type="http://schemas.openxmlformats.org/officeDocument/2006/relationships/image" Target="../media/image1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0.png"/><Relationship Id="rId4" Type="http://schemas.openxmlformats.org/officeDocument/2006/relationships/image" Target="../media/image1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sp>
        <p:nvSpPr>
          <p:cNvPr id="1520" name="Google Shape;1520;p12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130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3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describe one number as a percentage of another.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32"/>
          <p:cNvSpPr txBox="1"/>
          <p:nvPr>
            <p:ph idx="1" type="subTitle"/>
          </p:nvPr>
        </p:nvSpPr>
        <p:spPr>
          <a:xfrm>
            <a:off x="324001" y="993650"/>
            <a:ext cx="8735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Two fractions are </a:t>
            </a:r>
            <a:r>
              <a:rPr b="0" lang="en-GB"/>
              <a:t>equivalent</a:t>
            </a:r>
            <a:r>
              <a:rPr lang="en-GB"/>
              <a:t> </a:t>
            </a:r>
            <a:r>
              <a:rPr b="0" lang="en-GB"/>
              <a:t>if they have the same value.</a:t>
            </a:r>
            <a:endParaRPr b="0"/>
          </a:p>
        </p:txBody>
      </p:sp>
      <p:sp>
        <p:nvSpPr>
          <p:cNvPr id="1536" name="Google Shape;1536;p132"/>
          <p:cNvSpPr txBox="1"/>
          <p:nvPr>
            <p:ph idx="1" type="subTitle"/>
          </p:nvPr>
        </p:nvSpPr>
        <p:spPr>
          <a:xfrm>
            <a:off x="1253151" y="195719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1537" name="Google Shape;1537;p132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0" l="0" r="70872" t="0"/>
          <a:stretch/>
        </p:blipFill>
        <p:spPr>
          <a:xfrm>
            <a:off x="1232391" y="2596019"/>
            <a:ext cx="1505275" cy="8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2"/>
          <p:cNvSpPr txBox="1"/>
          <p:nvPr>
            <p:ph idx="1" type="subTitle"/>
          </p:nvPr>
        </p:nvSpPr>
        <p:spPr>
          <a:xfrm>
            <a:off x="3831714" y="195719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1539" name="Google Shape;1539;p132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753" l="34396" r="36476" t="-8273"/>
          <a:stretch/>
        </p:blipFill>
        <p:spPr>
          <a:xfrm>
            <a:off x="3810958" y="2520606"/>
            <a:ext cx="1505275" cy="10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32"/>
          <p:cNvSpPr txBox="1"/>
          <p:nvPr>
            <p:ph idx="1" type="subTitle"/>
          </p:nvPr>
        </p:nvSpPr>
        <p:spPr>
          <a:xfrm>
            <a:off x="6389525" y="1957200"/>
            <a:ext cx="2048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Non 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1541" name="Google Shape;1541;p132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507" l="73727" r="-2854" t="-8519"/>
          <a:stretch/>
        </p:blipFill>
        <p:spPr>
          <a:xfrm>
            <a:off x="6389525" y="2520606"/>
            <a:ext cx="1505275" cy="10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3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547" name="Google Shape;1547;p13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sp>
        <p:nvSpPr>
          <p:cNvPr id="1548" name="Google Shape;1548;p13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pic>
        <p:nvPicPr>
          <p:cNvPr id="1549" name="Google Shape;1549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92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555" name="Google Shape;1555;p134"/>
          <p:cNvSpPr txBox="1"/>
          <p:nvPr/>
        </p:nvSpPr>
        <p:spPr>
          <a:xfrm>
            <a:off x="324000" y="759300"/>
            <a:ext cx="39000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Percent comes from the Latin phrase “per centum” meaning “by the hundred”.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hundred square is a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helpful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way to show a percentage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, 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the total represents 100%.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56" name="Google Shape;1556;p134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562" name="Google Shape;1562;p135"/>
          <p:cNvSpPr txBox="1"/>
          <p:nvPr/>
        </p:nvSpPr>
        <p:spPr>
          <a:xfrm>
            <a:off x="324000" y="759300"/>
            <a:ext cx="39000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Given decimals, percentages and fractions show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proportion, we are able to interchange between them.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do you think 1% looks like on this hundred grid?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3" name="Google Shape;1563;p135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graphicFrame>
        <p:nvGraphicFramePr>
          <p:cNvPr id="1569" name="Google Shape;1569;p136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70" name="Google Shape;1570;p136"/>
          <p:cNvCxnSpPr/>
          <p:nvPr/>
        </p:nvCxnSpPr>
        <p:spPr>
          <a:xfrm flipH="1" rot="10800000">
            <a:off x="2081700" y="2160000"/>
            <a:ext cx="2142300" cy="56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1" name="Google Shape;1571;p136"/>
          <p:cNvSpPr txBox="1"/>
          <p:nvPr>
            <p:ph idx="1" type="body"/>
          </p:nvPr>
        </p:nvSpPr>
        <p:spPr>
          <a:xfrm>
            <a:off x="409275" y="2791000"/>
            <a:ext cx="30972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Only 1 square filled in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36"/>
          <p:cNvSpPr txBox="1"/>
          <p:nvPr>
            <p:ph idx="1" type="body"/>
          </p:nvPr>
        </p:nvSpPr>
        <p:spPr>
          <a:xfrm>
            <a:off x="409275" y="3186400"/>
            <a:ext cx="30972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can be any </a:t>
            </a:r>
            <a:r>
              <a:rPr lang="en-GB"/>
              <a:t>square</a:t>
            </a:r>
            <a:r>
              <a:rPr lang="en-GB"/>
              <a:t> filled in, as it still represents 1%.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graphicFrame>
        <p:nvGraphicFramePr>
          <p:cNvPr id="1578" name="Google Shape;1578;p137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9" name="Google Shape;1579;p137"/>
          <p:cNvSpPr txBox="1"/>
          <p:nvPr>
            <p:ph idx="1" type="body"/>
          </p:nvPr>
        </p:nvSpPr>
        <p:spPr>
          <a:xfrm>
            <a:off x="409275" y="2791000"/>
            <a:ext cx="34005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1% simply means it is 1 part per 100 or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580" name="Google Shape;1580;p137"/>
          <p:cNvCxnSpPr/>
          <p:nvPr/>
        </p:nvCxnSpPr>
        <p:spPr>
          <a:xfrm flipH="1" rot="10800000">
            <a:off x="2081700" y="1809900"/>
            <a:ext cx="4264200" cy="91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581" name="Google Shape;1581;p137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750" y="3151650"/>
            <a:ext cx="397175" cy="5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137"/>
          <p:cNvSpPr txBox="1"/>
          <p:nvPr>
            <p:ph idx="1" type="body"/>
          </p:nvPr>
        </p:nvSpPr>
        <p:spPr>
          <a:xfrm>
            <a:off x="324000" y="759300"/>
            <a:ext cx="3655500" cy="12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you think 1% is as a fraction?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588" name="Google Shape;1588;p138"/>
          <p:cNvSpPr txBox="1"/>
          <p:nvPr/>
        </p:nvSpPr>
        <p:spPr>
          <a:xfrm>
            <a:off x="324000" y="759300"/>
            <a:ext cx="3758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percentage and fraction is shaded?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89" name="Google Shape;1589;p138"/>
          <p:cNvGraphicFramePr/>
          <p:nvPr/>
        </p:nvGraphicFramePr>
        <p:xfrm>
          <a:off x="45711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0" name="Google Shape;1590;p138"/>
          <p:cNvSpPr txBox="1"/>
          <p:nvPr/>
        </p:nvSpPr>
        <p:spPr>
          <a:xfrm>
            <a:off x="324000" y="1770000"/>
            <a:ext cx="3900000" cy="20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27% as a percentage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 each square represents 1% and we have 27 squares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shaded.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As a fraction  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7}{100}&quot;&gt;&lt;mfrac&gt;&lt;mn&gt;27&lt;/mn&gt;&lt;mn&gt;100&lt;/mn&gt;&lt;/mfrac&gt;&lt;/math&gt;" id="1591" name="Google Shape;1591;p138" title="27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738" y="3547850"/>
            <a:ext cx="524525" cy="673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2" name="Google Shape;1592;p138"/>
          <p:cNvCxnSpPr/>
          <p:nvPr/>
        </p:nvCxnSpPr>
        <p:spPr>
          <a:xfrm flipH="1">
            <a:off x="2536250" y="3494375"/>
            <a:ext cx="320400" cy="1563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138"/>
          <p:cNvCxnSpPr/>
          <p:nvPr/>
        </p:nvCxnSpPr>
        <p:spPr>
          <a:xfrm rot="10800000">
            <a:off x="2605025" y="4130625"/>
            <a:ext cx="320100" cy="1359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4" name="Google Shape;1594;p138"/>
          <p:cNvSpPr txBox="1"/>
          <p:nvPr/>
        </p:nvSpPr>
        <p:spPr>
          <a:xfrm>
            <a:off x="2887200" y="3123600"/>
            <a:ext cx="21021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shaded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138"/>
          <p:cNvSpPr txBox="1"/>
          <p:nvPr/>
        </p:nvSpPr>
        <p:spPr>
          <a:xfrm>
            <a:off x="2805925" y="4014525"/>
            <a:ext cx="21021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 of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100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39"/>
          <p:cNvSpPr txBox="1"/>
          <p:nvPr>
            <p:ph idx="1" type="body"/>
          </p:nvPr>
        </p:nvSpPr>
        <p:spPr>
          <a:xfrm>
            <a:off x="324000" y="670950"/>
            <a:ext cx="7950600" cy="17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Making the </a:t>
            </a:r>
            <a:r>
              <a:rPr lang="en-GB" sz="2100"/>
              <a:t>denominator</a:t>
            </a:r>
            <a:r>
              <a:rPr lang="en-GB" sz="2100"/>
              <a:t> of a fraction 100 allows us to </a:t>
            </a:r>
            <a:r>
              <a:rPr lang="en-GB" sz="2100"/>
              <a:t>change</a:t>
            </a:r>
            <a:r>
              <a:rPr lang="en-GB" sz="2100"/>
              <a:t> a fraction to a percentage easily, without the need of hundred grids.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For example, write         as a percentage.</a:t>
            </a:r>
            <a:endParaRPr sz="2100"/>
          </a:p>
        </p:txBody>
      </p:sp>
      <p:sp>
        <p:nvSpPr>
          <p:cNvPr id="1601" name="Google Shape;1601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02" name="Google Shape;1602;p139" title="16 over 25 equals 16 over 25 times four fourths equals the fraction with numerator 16 times 4 and denominator 25 times 4 equals 64 over 100 equals 64 percent sign"/>
          <p:cNvPicPr preferRelativeResize="0"/>
          <p:nvPr/>
        </p:nvPicPr>
        <p:blipFill rotWithShape="1">
          <a:blip r:embed="rId3">
            <a:alphaModFix/>
          </a:blip>
          <a:srcRect b="0" l="0" r="91321" t="0"/>
          <a:stretch/>
        </p:blipFill>
        <p:spPr>
          <a:xfrm>
            <a:off x="3100574" y="2700000"/>
            <a:ext cx="543804" cy="796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03" name="Google Shape;1603;p139" title="16 over 25 equals 16 over 25 times four fourths equals the fraction with numerator 16 times 4 and denominator 25 times 4 equals 64 over 100 equals 64 percent sign"/>
          <p:cNvPicPr preferRelativeResize="0"/>
          <p:nvPr/>
        </p:nvPicPr>
        <p:blipFill rotWithShape="1">
          <a:blip r:embed="rId3">
            <a:alphaModFix/>
          </a:blip>
          <a:srcRect b="0" l="0" r="91978" t="0"/>
          <a:stretch/>
        </p:blipFill>
        <p:spPr>
          <a:xfrm>
            <a:off x="2887200" y="1795050"/>
            <a:ext cx="375002" cy="61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4" name="Google Shape;1604;p139"/>
          <p:cNvGrpSpPr/>
          <p:nvPr/>
        </p:nvGrpSpPr>
        <p:grpSpPr>
          <a:xfrm>
            <a:off x="311900" y="2361300"/>
            <a:ext cx="2434577" cy="1958700"/>
            <a:chOff x="8768130" y="3240000"/>
            <a:chExt cx="3453300" cy="1958700"/>
          </a:xfrm>
        </p:grpSpPr>
        <p:sp>
          <p:nvSpPr>
            <p:cNvPr id="1605" name="Google Shape;1605;p139"/>
            <p:cNvSpPr/>
            <p:nvPr/>
          </p:nvSpPr>
          <p:spPr>
            <a:xfrm>
              <a:off x="8768130" y="3240000"/>
              <a:ext cx="3453300" cy="1958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To make the denominator 100, we can multiply by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06" name="Google Shape;1606;p139" title="16 over 25 equals 16 over 25 times four fourths equals the fraction with numerator 16 times 4 and denominator 25 times 4 equals 64 over 100 equals 64 percent sign"/>
            <p:cNvPicPr preferRelativeResize="0"/>
            <p:nvPr/>
          </p:nvPicPr>
          <p:blipFill rotWithShape="1">
            <a:blip r:embed="rId3">
              <a:alphaModFix/>
            </a:blip>
            <a:srcRect b="0" l="29776" r="62614" t="0"/>
            <a:stretch/>
          </p:blipFill>
          <p:spPr>
            <a:xfrm>
              <a:off x="11599695" y="4421263"/>
              <a:ext cx="421632" cy="567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07" name="Google Shape;1607;p139" title="16 over 25 equals 16 over 25 times four fourths equals the fraction with numerator 16 times 4 and denominator 25 times 4 equals 64 over 100 equals 64 percent sign"/>
          <p:cNvPicPr preferRelativeResize="0"/>
          <p:nvPr/>
        </p:nvPicPr>
        <p:blipFill rotWithShape="1">
          <a:blip r:embed="rId3">
            <a:alphaModFix/>
          </a:blip>
          <a:srcRect b="0" l="8725" r="62475" t="0"/>
          <a:stretch/>
        </p:blipFill>
        <p:spPr>
          <a:xfrm>
            <a:off x="3644376" y="2700000"/>
            <a:ext cx="1804470" cy="796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08" name="Google Shape;1608;p139" title="16 over 25 equals 16 over 25 times four fourths equals the fraction with numerator 16 times 4 and denominator 25 times 4 equals 64 over 100 equals 64 percent sign"/>
          <p:cNvPicPr preferRelativeResize="0"/>
          <p:nvPr/>
        </p:nvPicPr>
        <p:blipFill rotWithShape="1">
          <a:blip r:embed="rId3">
            <a:alphaModFix/>
          </a:blip>
          <a:srcRect b="0" l="38814" r="32386" t="0"/>
          <a:stretch/>
        </p:blipFill>
        <p:spPr>
          <a:xfrm>
            <a:off x="3734953" y="3651273"/>
            <a:ext cx="1804470" cy="796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09" name="Google Shape;1609;p139" title="16 over 25 equals 16 over 25 times four fourths equals the fraction with numerator 16 times 4 and denominator 25 times 4 equals 64 over 100 equals 64 percent sign"/>
          <p:cNvPicPr preferRelativeResize="0"/>
          <p:nvPr/>
        </p:nvPicPr>
        <p:blipFill rotWithShape="1">
          <a:blip r:embed="rId3">
            <a:alphaModFix/>
          </a:blip>
          <a:srcRect b="0" l="69870" r="16744" t="0"/>
          <a:stretch/>
        </p:blipFill>
        <p:spPr>
          <a:xfrm>
            <a:off x="5689175" y="3651275"/>
            <a:ext cx="838726" cy="7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39"/>
          <p:cNvSpPr/>
          <p:nvPr/>
        </p:nvSpPr>
        <p:spPr>
          <a:xfrm>
            <a:off x="5940150" y="1750800"/>
            <a:ext cx="2532900" cy="1489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Now the denominator is 100, we have the percentage. 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6}{25}=\frac{16}{25}\times\frac{4}{4}=\frac{16\times4}{25\times4}=\frac{64}{100}=64\%&quot;&gt;&lt;mfrac&gt;&lt;mn&gt;16&lt;/mn&gt;&lt;mn&gt;25&lt;/mn&gt;&lt;/mfrac&gt;&lt;mo&gt;=&lt;/mo&gt;&lt;mfrac&gt;&lt;mn&gt;16&lt;/mn&gt;&lt;mn&gt;25&lt;/mn&gt;&lt;/mfrac&gt;&lt;mo&gt;×&lt;/mo&gt;&lt;mfrac&gt;&lt;mn&gt;4&lt;/mn&gt;&lt;mn&gt;4&lt;/mn&gt;&lt;/mfrac&gt;&lt;mo&gt;=&lt;/mo&gt;&lt;mfrac&gt;&lt;mrow&gt;&lt;mn&gt;16&lt;/mn&gt;&lt;mo&gt;×&lt;/mo&gt;&lt;mn&gt;4&lt;/mn&gt;&lt;/mrow&gt;&lt;mrow&gt;&lt;mn&gt;25&lt;/mn&gt;&lt;mo&gt;×&lt;/mo&gt;&lt;mn&gt;4&lt;/mn&gt;&lt;/mrow&gt;&lt;/mfrac&gt;&lt;mo&gt;=&lt;/mo&gt;&lt;mfrac&gt;&lt;mn&gt;64&lt;/mn&gt;&lt;mn&gt;100&lt;/mn&gt;&lt;/mfrac&gt;&lt;mo&gt;=&lt;/mo&gt;&lt;mn&gt;64&lt;/mn&gt;&lt;mi mathvariant=&quot;normal&quot;&gt;%&lt;/mi&gt;&lt;/math&gt;" id="1611" name="Google Shape;1611;p139" title="16 over 25 equals 16 over 25 times four fourths equals the fraction with numerator 16 times 4 and denominator 25 times 4 equals 64 over 100 equals 64 percent sign"/>
          <p:cNvPicPr preferRelativeResize="0"/>
          <p:nvPr/>
        </p:nvPicPr>
        <p:blipFill rotWithShape="1">
          <a:blip r:embed="rId3">
            <a:alphaModFix/>
          </a:blip>
          <a:srcRect b="0" l="82690" r="-2687" t="0"/>
          <a:stretch/>
        </p:blipFill>
        <p:spPr>
          <a:xfrm>
            <a:off x="6527900" y="3651275"/>
            <a:ext cx="1253051" cy="7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0"/>
          <p:cNvSpPr txBox="1"/>
          <p:nvPr>
            <p:ph idx="1" type="subTitle"/>
          </p:nvPr>
        </p:nvSpPr>
        <p:spPr>
          <a:xfrm>
            <a:off x="337825" y="810000"/>
            <a:ext cx="3982200" cy="5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Write       as a percentage.</a:t>
            </a:r>
            <a:endParaRPr sz="2300"/>
          </a:p>
        </p:txBody>
      </p:sp>
      <p:sp>
        <p:nvSpPr>
          <p:cNvPr id="1617" name="Google Shape;1617;p14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618" name="Google Shape;1618;p140"/>
          <p:cNvSpPr txBox="1"/>
          <p:nvPr>
            <p:ph idx="2" type="subTitle"/>
          </p:nvPr>
        </p:nvSpPr>
        <p:spPr>
          <a:xfrm>
            <a:off x="4824000" y="810000"/>
            <a:ext cx="39822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Write       as a percentage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3}{20}=\frac{13}{20}\times\frac{5}{5}=\frac{13\times5}{20\times5}=\ \frac{65}{100\ }=65\%&quot;&gt;&lt;mfrac&gt;&lt;mn&gt;13&lt;/mn&gt;&lt;mn&gt;20&lt;/mn&gt;&lt;/mfrac&gt;&lt;mo&gt;=&lt;/mo&gt;&lt;mfrac&gt;&lt;mn&gt;13&lt;/mn&gt;&lt;mn&gt;20&lt;/mn&gt;&lt;/mfrac&gt;&lt;mo&gt;×&lt;/mo&gt;&lt;mfrac&gt;&lt;mn&gt;5&lt;/mn&gt;&lt;mn&gt;5&lt;/mn&gt;&lt;/mfrac&gt;&lt;mo&gt;=&lt;/mo&gt;&lt;mfrac&gt;&lt;mrow&gt;&lt;mn&gt;13&lt;/mn&gt;&lt;mo&gt;×&lt;/mo&gt;&lt;mn&gt;5&lt;/mn&gt;&lt;/mrow&gt;&lt;mrow&gt;&lt;mn&gt;20&lt;/mn&gt;&lt;mo&gt;×&lt;/mo&gt;&lt;mn&gt;5&lt;/mn&gt;&lt;/mrow&gt;&lt;/mfrac&gt;&lt;mo&gt;=&lt;/mo&gt;&lt;mtext&gt;&lt;/mtext&gt;&lt;mfrac&gt;&lt;mn&gt;65&lt;/mn&gt;&lt;mrow&gt;&lt;mn&gt;100&lt;/mn&gt;&lt;mtext&gt;&lt;/mtext&gt;&lt;/mrow&gt;&lt;/mfrac&gt;&lt;mo&gt;=&lt;/mo&gt;&lt;mn&gt;65&lt;/mn&gt;&lt;mi mathvariant=&quot;normal&quot;&gt;%&lt;/mi&gt;&lt;/math&gt;" id="1619" name="Google Shape;1619;p140" title="13 over 20 equals 13 over 20 times five fifths equals the fraction with numerator 13 times 5 and denominator 20 times 5 equals 65 over 100 equals 65 percent sign"/>
          <p:cNvPicPr preferRelativeResize="0"/>
          <p:nvPr/>
        </p:nvPicPr>
        <p:blipFill rotWithShape="1">
          <a:blip r:embed="rId3">
            <a:alphaModFix/>
          </a:blip>
          <a:srcRect b="0" l="0" r="92597" t="0"/>
          <a:stretch/>
        </p:blipFill>
        <p:spPr>
          <a:xfrm>
            <a:off x="1222900" y="705950"/>
            <a:ext cx="38380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=\frac{13}{20}\times\frac{5}{5}=\frac{13\times5}{20\times5}=\ \frac{65}{100\ }=65\%&quot;&gt;&lt;mfrac&gt;&lt;mn&gt;13&lt;/mn&gt;&lt;mn&gt;20&lt;/mn&gt;&lt;/mfrac&gt;&lt;mo&gt;=&lt;/mo&gt;&lt;mfrac&gt;&lt;mn&gt;13&lt;/mn&gt;&lt;mn&gt;20&lt;/mn&gt;&lt;/mfrac&gt;&lt;mo&gt;×&lt;/mo&gt;&lt;mfrac&gt;&lt;mn&gt;5&lt;/mn&gt;&lt;mn&gt;5&lt;/mn&gt;&lt;/mfrac&gt;&lt;mo&gt;=&lt;/mo&gt;&lt;mfrac&gt;&lt;mrow&gt;&lt;mn&gt;13&lt;/mn&gt;&lt;mo&gt;×&lt;/mo&gt;&lt;mn&gt;5&lt;/mn&gt;&lt;/mrow&gt;&lt;mrow&gt;&lt;mn&gt;20&lt;/mn&gt;&lt;mo&gt;×&lt;/mo&gt;&lt;mn&gt;5&lt;/mn&gt;&lt;/mrow&gt;&lt;/mfrac&gt;&lt;mo&gt;=&lt;/mo&gt;&lt;mtext&gt;&lt;/mtext&gt;&lt;mfrac&gt;&lt;mn&gt;65&lt;/mn&gt;&lt;mrow&gt;&lt;mn&gt;100&lt;/mn&gt;&lt;mtext&gt;&lt;/mtext&gt;&lt;/mrow&gt;&lt;/mfrac&gt;&lt;mo&gt;=&lt;/mo&gt;&lt;mn&gt;65&lt;/mn&gt;&lt;mi mathvariant=&quot;normal&quot;&gt;%&lt;/mi&gt;&lt;/math&gt;" id="1620" name="Google Shape;1620;p140" title="13 over 20 equals 13 over 20 times five fifths equals the fraction with numerator 13 times 5 and denominator 20 times 5 equals 65 over 100 equals 65 percent sign"/>
          <p:cNvPicPr preferRelativeResize="0"/>
          <p:nvPr/>
        </p:nvPicPr>
        <p:blipFill rotWithShape="1">
          <a:blip r:embed="rId3">
            <a:alphaModFix/>
          </a:blip>
          <a:srcRect b="0" l="0" r="91173" t="0"/>
          <a:stretch/>
        </p:blipFill>
        <p:spPr>
          <a:xfrm>
            <a:off x="828025" y="1616950"/>
            <a:ext cx="508179" cy="751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=\frac{13}{20}\times\frac{5}{5}=\frac{13\times5}{20\times5}=\ \frac{65}{100\ }=65\%&quot;&gt;&lt;mfrac&gt;&lt;mn&gt;13&lt;/mn&gt;&lt;mn&gt;20&lt;/mn&gt;&lt;/mfrac&gt;&lt;mo&gt;=&lt;/mo&gt;&lt;mfrac&gt;&lt;mn&gt;13&lt;/mn&gt;&lt;mn&gt;20&lt;/mn&gt;&lt;/mfrac&gt;&lt;mo&gt;×&lt;/mo&gt;&lt;mfrac&gt;&lt;mn&gt;5&lt;/mn&gt;&lt;mn&gt;5&lt;/mn&gt;&lt;/mfrac&gt;&lt;mo&gt;=&lt;/mo&gt;&lt;mfrac&gt;&lt;mrow&gt;&lt;mn&gt;13&lt;/mn&gt;&lt;mo&gt;×&lt;/mo&gt;&lt;mn&gt;5&lt;/mn&gt;&lt;/mrow&gt;&lt;mrow&gt;&lt;mn&gt;20&lt;/mn&gt;&lt;mo&gt;×&lt;/mo&gt;&lt;mn&gt;5&lt;/mn&gt;&lt;/mrow&gt;&lt;/mfrac&gt;&lt;mo&gt;=&lt;/mo&gt;&lt;mtext&gt;&lt;/mtext&gt;&lt;mfrac&gt;&lt;mn&gt;65&lt;/mn&gt;&lt;mrow&gt;&lt;mn&gt;100&lt;/mn&gt;&lt;mtext&gt;&lt;/mtext&gt;&lt;/mrow&gt;&lt;/mfrac&gt;&lt;mo&gt;=&lt;/mo&gt;&lt;mn&gt;65&lt;/mn&gt;&lt;mi mathvariant=&quot;normal&quot;&gt;%&lt;/mi&gt;&lt;/math&gt;" id="1621" name="Google Shape;1621;p140" title="13 over 20 equals 13 over 20 times five fifths equals the fraction with numerator 13 times 5 and denominator 20 times 5 equals 65 over 100 equals 65 percent sign"/>
          <p:cNvPicPr preferRelativeResize="0"/>
          <p:nvPr/>
        </p:nvPicPr>
        <p:blipFill rotWithShape="1">
          <a:blip r:embed="rId3">
            <a:alphaModFix/>
          </a:blip>
          <a:srcRect b="0" l="8812" r="64227" t="0"/>
          <a:stretch/>
        </p:blipFill>
        <p:spPr>
          <a:xfrm>
            <a:off x="1336205" y="1616950"/>
            <a:ext cx="1552212" cy="751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=\frac{13}{20}\times\frac{5}{5}=\frac{13\times5}{20\times5}=\ \frac{65}{100\ }=65\%&quot;&gt;&lt;mfrac&gt;&lt;mn&gt;13&lt;/mn&gt;&lt;mn&gt;20&lt;/mn&gt;&lt;/mfrac&gt;&lt;mo&gt;=&lt;/mo&gt;&lt;mfrac&gt;&lt;mn&gt;13&lt;/mn&gt;&lt;mn&gt;20&lt;/mn&gt;&lt;/mfrac&gt;&lt;mo&gt;×&lt;/mo&gt;&lt;mfrac&gt;&lt;mn&gt;5&lt;/mn&gt;&lt;mn&gt;5&lt;/mn&gt;&lt;/mfrac&gt;&lt;mo&gt;=&lt;/mo&gt;&lt;mfrac&gt;&lt;mrow&gt;&lt;mn&gt;13&lt;/mn&gt;&lt;mo&gt;×&lt;/mo&gt;&lt;mn&gt;5&lt;/mn&gt;&lt;/mrow&gt;&lt;mrow&gt;&lt;mn&gt;20&lt;/mn&gt;&lt;mo&gt;×&lt;/mo&gt;&lt;mn&gt;5&lt;/mn&gt;&lt;/mrow&gt;&lt;/mfrac&gt;&lt;mo&gt;=&lt;/mo&gt;&lt;mtext&gt;&lt;/mtext&gt;&lt;mfrac&gt;&lt;mn&gt;65&lt;/mn&gt;&lt;mrow&gt;&lt;mn&gt;100&lt;/mn&gt;&lt;mtext&gt;&lt;/mtext&gt;&lt;/mrow&gt;&lt;/mfrac&gt;&lt;mo&gt;=&lt;/mo&gt;&lt;mn&gt;65&lt;/mn&gt;&lt;mi mathvariant=&quot;normal&quot;&gt;%&lt;/mi&gt;&lt;/math&gt;" id="1622" name="Google Shape;1622;p140" title="13 over 20 equals 13 over 20 times five fifths equals the fraction with numerator 13 times 5 and denominator 20 times 5 equals 65 over 100 equals 65 percent sign"/>
          <p:cNvPicPr preferRelativeResize="0"/>
          <p:nvPr/>
        </p:nvPicPr>
        <p:blipFill rotWithShape="1">
          <a:blip r:embed="rId3">
            <a:alphaModFix/>
          </a:blip>
          <a:srcRect b="0" l="36521" r="38541" t="0"/>
          <a:stretch/>
        </p:blipFill>
        <p:spPr>
          <a:xfrm>
            <a:off x="1463266" y="2621544"/>
            <a:ext cx="1435829" cy="751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=\frac{13}{20}\times\frac{5}{5}=\frac{13\times5}{20\times5}=\ \frac{65}{100\ }=65\%&quot;&gt;&lt;mfrac&gt;&lt;mn&gt;13&lt;/mn&gt;&lt;mn&gt;20&lt;/mn&gt;&lt;/mfrac&gt;&lt;mo&gt;=&lt;/mo&gt;&lt;mfrac&gt;&lt;mn&gt;13&lt;/mn&gt;&lt;mn&gt;20&lt;/mn&gt;&lt;/mfrac&gt;&lt;mo&gt;×&lt;/mo&gt;&lt;mfrac&gt;&lt;mn&gt;5&lt;/mn&gt;&lt;mn&gt;5&lt;/mn&gt;&lt;/mfrac&gt;&lt;mo&gt;=&lt;/mo&gt;&lt;mfrac&gt;&lt;mrow&gt;&lt;mn&gt;13&lt;/mn&gt;&lt;mo&gt;×&lt;/mo&gt;&lt;mn&gt;5&lt;/mn&gt;&lt;/mrow&gt;&lt;mrow&gt;&lt;mn&gt;20&lt;/mn&gt;&lt;mo&gt;×&lt;/mo&gt;&lt;mn&gt;5&lt;/mn&gt;&lt;/mrow&gt;&lt;/mfrac&gt;&lt;mo&gt;=&lt;/mo&gt;&lt;mtext&gt;&lt;/mtext&gt;&lt;mfrac&gt;&lt;mn&gt;65&lt;/mn&gt;&lt;mrow&gt;&lt;mn&gt;100&lt;/mn&gt;&lt;mtext&gt;&lt;/mtext&gt;&lt;/mrow&gt;&lt;/mfrac&gt;&lt;mo&gt;=&lt;/mo&gt;&lt;mn&gt;65&lt;/mn&gt;&lt;mi mathvariant=&quot;normal&quot;&gt;%&lt;/mi&gt;&lt;/math&gt;" id="1623" name="Google Shape;1623;p140" title="13 over 20 equals 13 over 20 times five fifths equals the fraction with numerator 13 times 5 and denominator 20 times 5 equals 65 over 100 equals 65 percent sign"/>
          <p:cNvPicPr preferRelativeResize="0"/>
          <p:nvPr/>
        </p:nvPicPr>
        <p:blipFill rotWithShape="1">
          <a:blip r:embed="rId3">
            <a:alphaModFix/>
          </a:blip>
          <a:srcRect b="0" l="61647" r="18439" t="0"/>
          <a:stretch/>
        </p:blipFill>
        <p:spPr>
          <a:xfrm>
            <a:off x="1463276" y="3639155"/>
            <a:ext cx="1146520" cy="751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=\frac{13}{20}\times\frac{5}{5}=\frac{13\times5}{20\times5}=\ \frac{65}{100\ }=65\%&quot;&gt;&lt;mfrac&gt;&lt;mn&gt;13&lt;/mn&gt;&lt;mn&gt;20&lt;/mn&gt;&lt;/mfrac&gt;&lt;mo&gt;=&lt;/mo&gt;&lt;mfrac&gt;&lt;mn&gt;13&lt;/mn&gt;&lt;mn&gt;20&lt;/mn&gt;&lt;/mfrac&gt;&lt;mo&gt;×&lt;/mo&gt;&lt;mfrac&gt;&lt;mn&gt;5&lt;/mn&gt;&lt;mn&gt;5&lt;/mn&gt;&lt;/mfrac&gt;&lt;mo&gt;=&lt;/mo&gt;&lt;mfrac&gt;&lt;mrow&gt;&lt;mn&gt;13&lt;/mn&gt;&lt;mo&gt;×&lt;/mo&gt;&lt;mn&gt;5&lt;/mn&gt;&lt;/mrow&gt;&lt;mrow&gt;&lt;mn&gt;20&lt;/mn&gt;&lt;mo&gt;×&lt;/mo&gt;&lt;mn&gt;5&lt;/mn&gt;&lt;/mrow&gt;&lt;/mfrac&gt;&lt;mo&gt;=&lt;/mo&gt;&lt;mtext&gt;&lt;/mtext&gt;&lt;mfrac&gt;&lt;mn&gt;65&lt;/mn&gt;&lt;mrow&gt;&lt;mn&gt;100&lt;/mn&gt;&lt;mtext&gt;&lt;/mtext&gt;&lt;/mrow&gt;&lt;/mfrac&gt;&lt;mo&gt;=&lt;/mo&gt;&lt;mn&gt;65&lt;/mn&gt;&lt;mi mathvariant=&quot;normal&quot;&gt;%&lt;/mi&gt;&lt;/math&gt;" id="1624" name="Google Shape;1624;p140" title="13 over 20 equals 13 over 20 times five fifths equals the fraction with numerator 13 times 5 and denominator 20 times 5 equals 65 over 100 equals 65 percent sign"/>
          <p:cNvPicPr preferRelativeResize="0"/>
          <p:nvPr/>
        </p:nvPicPr>
        <p:blipFill rotWithShape="1">
          <a:blip r:embed="rId3">
            <a:alphaModFix/>
          </a:blip>
          <a:srcRect b="0" l="83380" r="-1161" t="0"/>
          <a:stretch/>
        </p:blipFill>
        <p:spPr>
          <a:xfrm>
            <a:off x="2740781" y="3676277"/>
            <a:ext cx="1023769" cy="751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}{50}=\frac{31}{50}\times\frac{2}{2}=\frac{31\times2}{50\times2}=\frac{61}{100}=61\%&quot;&gt;&lt;mfrac&gt;&lt;mn&gt;31&lt;/mn&gt;&lt;mn&gt;50&lt;/mn&gt;&lt;/mfrac&gt;&lt;mo&gt;=&lt;/mo&gt;&lt;mfrac&gt;&lt;mn&gt;31&lt;/mn&gt;&lt;mn&gt;50&lt;/mn&gt;&lt;/mfrac&gt;&lt;mo&gt;×&lt;/mo&gt;&lt;mfrac&gt;&lt;mn&gt;2&lt;/mn&gt;&lt;mn&gt;2&lt;/mn&gt;&lt;/mfrac&gt;&lt;mo&gt;=&lt;/mo&gt;&lt;mfrac&gt;&lt;mrow&gt;&lt;mn&gt;31&lt;/mn&gt;&lt;mo&gt;×&lt;/mo&gt;&lt;mn&gt;2&lt;/mn&gt;&lt;/mrow&gt;&lt;mrow&gt;&lt;mn&gt;50&lt;/mn&gt;&lt;mo&gt;×&lt;/mo&gt;&lt;mn&gt;2&lt;/mn&gt;&lt;/mrow&gt;&lt;/mfrac&gt;&lt;mo&gt;=&lt;/mo&gt;&lt;mfrac&gt;&lt;mn&gt;61&lt;/mn&gt;&lt;mn&gt;100&lt;/mn&gt;&lt;/mfrac&gt;&lt;mo&gt;=&lt;/mo&gt;&lt;mn&gt;61&lt;/mn&gt;&lt;mi mathvariant=&quot;normal&quot;&gt;%&lt;/mi&gt;&lt;/math&gt;" id="1625" name="Google Shape;1625;p140" title="31 over 50 equals 31 over 50 times two halves equals the fraction with numerator 31 times 2 and denominator 50 times 2 equals 61 over 100 equals 61 percent sign"/>
          <p:cNvPicPr preferRelativeResize="0"/>
          <p:nvPr/>
        </p:nvPicPr>
        <p:blipFill rotWithShape="1">
          <a:blip r:embed="rId4">
            <a:alphaModFix/>
          </a:blip>
          <a:srcRect b="0" l="0" r="90899" t="0"/>
          <a:stretch/>
        </p:blipFill>
        <p:spPr>
          <a:xfrm>
            <a:off x="4996836" y="1616950"/>
            <a:ext cx="591299" cy="85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}{50}=\frac{31}{50}\times\frac{2}{2}=\frac{31\times2}{50\times2}=\frac{61}{100}=61\%&quot;&gt;&lt;mfrac&gt;&lt;mn&gt;31&lt;/mn&gt;&lt;mn&gt;50&lt;/mn&gt;&lt;/mfrac&gt;&lt;mo&gt;=&lt;/mo&gt;&lt;mfrac&gt;&lt;mn&gt;31&lt;/mn&gt;&lt;mn&gt;50&lt;/mn&gt;&lt;/mfrac&gt;&lt;mo&gt;×&lt;/mo&gt;&lt;mfrac&gt;&lt;mn&gt;2&lt;/mn&gt;&lt;mn&gt;2&lt;/mn&gt;&lt;/mfrac&gt;&lt;mo&gt;=&lt;/mo&gt;&lt;mfrac&gt;&lt;mrow&gt;&lt;mn&gt;31&lt;/mn&gt;&lt;mo&gt;×&lt;/mo&gt;&lt;mn&gt;2&lt;/mn&gt;&lt;/mrow&gt;&lt;mrow&gt;&lt;mn&gt;50&lt;/mn&gt;&lt;mo&gt;×&lt;/mo&gt;&lt;mn&gt;2&lt;/mn&gt;&lt;/mrow&gt;&lt;/mfrac&gt;&lt;mo&gt;=&lt;/mo&gt;&lt;mfrac&gt;&lt;mn&gt;61&lt;/mn&gt;&lt;mn&gt;100&lt;/mn&gt;&lt;/mfrac&gt;&lt;mo&gt;=&lt;/mo&gt;&lt;mn&gt;61&lt;/mn&gt;&lt;mi mathvariant=&quot;normal&quot;&gt;%&lt;/mi&gt;&lt;/math&gt;" id="1626" name="Google Shape;1626;p140" title="31 over 50 equals 31 over 50 times two halves equals the fraction with numerator 31 times 2 and denominator 50 times 2 equals 61 over 100 equals 61 percent sign"/>
          <p:cNvPicPr preferRelativeResize="0"/>
          <p:nvPr/>
        </p:nvPicPr>
        <p:blipFill rotWithShape="1">
          <a:blip r:embed="rId4">
            <a:alphaModFix/>
          </a:blip>
          <a:srcRect b="0" l="8710" r="63450" t="0"/>
          <a:stretch/>
        </p:blipFill>
        <p:spPr>
          <a:xfrm>
            <a:off x="5544400" y="1616950"/>
            <a:ext cx="1732256" cy="825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}{50}=\frac{31}{50}\times\frac{2}{2}=\frac{31\times2}{50\times2}=\frac{61}{100}=61\%&quot;&gt;&lt;mfrac&gt;&lt;mn&gt;31&lt;/mn&gt;&lt;mn&gt;50&lt;/mn&gt;&lt;/mfrac&gt;&lt;mo&gt;=&lt;/mo&gt;&lt;mfrac&gt;&lt;mn&gt;31&lt;/mn&gt;&lt;mn&gt;50&lt;/mn&gt;&lt;/mfrac&gt;&lt;mo&gt;×&lt;/mo&gt;&lt;mfrac&gt;&lt;mn&gt;2&lt;/mn&gt;&lt;mn&gt;2&lt;/mn&gt;&lt;/mfrac&gt;&lt;mo&gt;=&lt;/mo&gt;&lt;mfrac&gt;&lt;mrow&gt;&lt;mn&gt;31&lt;/mn&gt;&lt;mo&gt;×&lt;/mo&gt;&lt;mn&gt;2&lt;/mn&gt;&lt;/mrow&gt;&lt;mrow&gt;&lt;mn&gt;50&lt;/mn&gt;&lt;mo&gt;×&lt;/mo&gt;&lt;mn&gt;2&lt;/mn&gt;&lt;/mrow&gt;&lt;/mfrac&gt;&lt;mo&gt;=&lt;/mo&gt;&lt;mfrac&gt;&lt;mn&gt;61&lt;/mn&gt;&lt;mn&gt;100&lt;/mn&gt;&lt;/mfrac&gt;&lt;mo&gt;=&lt;/mo&gt;&lt;mn&gt;61&lt;/mn&gt;&lt;mi mathvariant=&quot;normal&quot;&gt;%&lt;/mi&gt;&lt;/math&gt;" id="1627" name="Google Shape;1627;p140" title="31 over 50 equals 31 over 50 times two halves equals the fraction with numerator 31 times 2 and denominator 50 times 2 equals 61 over 100 equals 61 percent sign"/>
          <p:cNvPicPr preferRelativeResize="0"/>
          <p:nvPr/>
        </p:nvPicPr>
        <p:blipFill rotWithShape="1">
          <a:blip r:embed="rId4">
            <a:alphaModFix/>
          </a:blip>
          <a:srcRect b="0" l="38320" r="37789" t="0"/>
          <a:stretch/>
        </p:blipFill>
        <p:spPr>
          <a:xfrm>
            <a:off x="5667261" y="2590564"/>
            <a:ext cx="1486538" cy="825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}{50}=\frac{31}{50}\times\frac{2}{2}=\frac{31\times2}{50\times2}=\frac{61}{100}=61\%&quot;&gt;&lt;mfrac&gt;&lt;mn&gt;31&lt;/mn&gt;&lt;mn&gt;50&lt;/mn&gt;&lt;/mfrac&gt;&lt;mo&gt;=&lt;/mo&gt;&lt;mfrac&gt;&lt;mn&gt;31&lt;/mn&gt;&lt;mn&gt;50&lt;/mn&gt;&lt;/mfrac&gt;&lt;mo&gt;×&lt;/mo&gt;&lt;mfrac&gt;&lt;mn&gt;2&lt;/mn&gt;&lt;mn&gt;2&lt;/mn&gt;&lt;/mfrac&gt;&lt;mo&gt;=&lt;/mo&gt;&lt;mfrac&gt;&lt;mrow&gt;&lt;mn&gt;31&lt;/mn&gt;&lt;mo&gt;×&lt;/mo&gt;&lt;mn&gt;2&lt;/mn&gt;&lt;/mrow&gt;&lt;mrow&gt;&lt;mn&gt;50&lt;/mn&gt;&lt;mo&gt;×&lt;/mo&gt;&lt;mn&gt;2&lt;/mn&gt;&lt;/mrow&gt;&lt;/mfrac&gt;&lt;mo&gt;=&lt;/mo&gt;&lt;mfrac&gt;&lt;mn&gt;61&lt;/mn&gt;&lt;mn&gt;100&lt;/mn&gt;&lt;/mfrac&gt;&lt;mo&gt;=&lt;/mo&gt;&lt;mn&gt;61&lt;/mn&gt;&lt;mi mathvariant=&quot;normal&quot;&gt;%&lt;/mi&gt;&lt;/math&gt;" id="1628" name="Google Shape;1628;p140" title="31 over 50 equals 31 over 50 times two halves equals the fraction with numerator 31 times 2 and denominator 50 times 2 equals 61 over 100 equals 61 percent sign"/>
          <p:cNvPicPr preferRelativeResize="0"/>
          <p:nvPr/>
        </p:nvPicPr>
        <p:blipFill rotWithShape="1">
          <a:blip r:embed="rId4">
            <a:alphaModFix/>
          </a:blip>
          <a:srcRect b="0" l="0" r="90899" t="0"/>
          <a:stretch/>
        </p:blipFill>
        <p:spPr>
          <a:xfrm>
            <a:off x="5725229" y="759350"/>
            <a:ext cx="383800" cy="552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}{50}=\frac{31}{50}\times\frac{2}{2}=\frac{31\times2}{50\times2}=\frac{62}{100}=62\%&quot;&gt;&lt;mfrac&gt;&lt;mn&gt;31&lt;/mn&gt;&lt;mn&gt;50&lt;/mn&gt;&lt;/mfrac&gt;&lt;mo&gt;=&lt;/mo&gt;&lt;mfrac&gt;&lt;mn&gt;31&lt;/mn&gt;&lt;mn&gt;50&lt;/mn&gt;&lt;/mfrac&gt;&lt;mo&gt;×&lt;/mo&gt;&lt;mfrac&gt;&lt;mn&gt;2&lt;/mn&gt;&lt;mn&gt;2&lt;/mn&gt;&lt;/mfrac&gt;&lt;mo&gt;=&lt;/mo&gt;&lt;mfrac&gt;&lt;mrow&gt;&lt;mn&gt;31&lt;/mn&gt;&lt;mo&gt;×&lt;/mo&gt;&lt;mn&gt;2&lt;/mn&gt;&lt;/mrow&gt;&lt;mrow&gt;&lt;mn&gt;50&lt;/mn&gt;&lt;mo&gt;×&lt;/mo&gt;&lt;mn&gt;2&lt;/mn&gt;&lt;/mrow&gt;&lt;/mfrac&gt;&lt;mo&gt;=&lt;/mo&gt;&lt;mfrac&gt;&lt;mn&gt;62&lt;/mn&gt;&lt;mn&gt;100&lt;/mn&gt;&lt;/mfrac&gt;&lt;mo&gt;=&lt;/mo&gt;&lt;mn&gt;62&lt;/mn&gt;&lt;mi mathvariant=&quot;normal&quot;&gt;%&lt;/mi&gt;&lt;/math&gt;" id="1629" name="Google Shape;1629;p140" title="31 over 50 equals 31 over 50 times two halves equals the fraction with numerator 31 times 2 and denominator 50 times 2 equals 62 over 100 equals 62 percent sign"/>
          <p:cNvPicPr preferRelativeResize="0"/>
          <p:nvPr/>
        </p:nvPicPr>
        <p:blipFill rotWithShape="1">
          <a:blip r:embed="rId5">
            <a:alphaModFix/>
          </a:blip>
          <a:srcRect b="0" l="62157" r="17181" t="0"/>
          <a:stretch/>
        </p:blipFill>
        <p:spPr>
          <a:xfrm>
            <a:off x="5588125" y="3780000"/>
            <a:ext cx="1185349" cy="75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1}{50}=\frac{31}{50}\times\frac{2}{2}=\frac{31\times2}{50\times2}=\frac{62}{100}=62\%&quot;&gt;&lt;mfrac&gt;&lt;mn&gt;31&lt;/mn&gt;&lt;mn&gt;50&lt;/mn&gt;&lt;/mfrac&gt;&lt;mo&gt;=&lt;/mo&gt;&lt;mfrac&gt;&lt;mn&gt;31&lt;/mn&gt;&lt;mn&gt;50&lt;/mn&gt;&lt;/mfrac&gt;&lt;mo&gt;×&lt;/mo&gt;&lt;mfrac&gt;&lt;mn&gt;2&lt;/mn&gt;&lt;mn&gt;2&lt;/mn&gt;&lt;/mfrac&gt;&lt;mo&gt;=&lt;/mo&gt;&lt;mfrac&gt;&lt;mrow&gt;&lt;mn&gt;31&lt;/mn&gt;&lt;mo&gt;×&lt;/mo&gt;&lt;mn&gt;2&lt;/mn&gt;&lt;/mrow&gt;&lt;mrow&gt;&lt;mn&gt;50&lt;/mn&gt;&lt;mo&gt;×&lt;/mo&gt;&lt;mn&gt;2&lt;/mn&gt;&lt;/mrow&gt;&lt;/mfrac&gt;&lt;mo&gt;=&lt;/mo&gt;&lt;mfrac&gt;&lt;mn&gt;62&lt;/mn&gt;&lt;mn&gt;100&lt;/mn&gt;&lt;/mfrac&gt;&lt;mo&gt;=&lt;/mo&gt;&lt;mn&gt;62&lt;/mn&gt;&lt;mi mathvariant=&quot;normal&quot;&gt;%&lt;/mi&gt;&lt;/math&gt;" id="1630" name="Google Shape;1630;p140" title="31 over 50 equals 31 over 50 times two halves equals the fraction with numerator 31 times 2 and denominator 50 times 2 equals 62 over 100 equals 62 percent sign"/>
          <p:cNvPicPr preferRelativeResize="0"/>
          <p:nvPr/>
        </p:nvPicPr>
        <p:blipFill rotWithShape="1">
          <a:blip r:embed="rId5">
            <a:alphaModFix/>
          </a:blip>
          <a:srcRect b="0" l="82578" r="0" t="0"/>
          <a:stretch/>
        </p:blipFill>
        <p:spPr>
          <a:xfrm>
            <a:off x="6897499" y="3780000"/>
            <a:ext cx="999524" cy="7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41"/>
          <p:cNvSpPr txBox="1"/>
          <p:nvPr>
            <p:ph idx="1" type="body"/>
          </p:nvPr>
        </p:nvSpPr>
        <p:spPr>
          <a:xfrm>
            <a:off x="324000" y="759300"/>
            <a:ext cx="8237700" cy="3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the following fractions into percentages. Show your working out.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636" name="Google Shape;1636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10}=\frac{7}{10}\times\frac{10}{10}=\frac{7\times10}{10\times10}=\frac{70}{100}=70\%&quot;&gt;&lt;mfrac&gt;&lt;mn&gt;7&lt;/mn&gt;&lt;mn&gt;10&lt;/mn&gt;&lt;/mfrac&gt;&lt;mo&gt;=&lt;/mo&gt;&lt;mfrac&gt;&lt;mn&gt;7&lt;/mn&gt;&lt;mn&gt;10&lt;/mn&gt;&lt;/mfrac&gt;&lt;mo&gt;×&lt;/mo&gt;&lt;mfrac&gt;&lt;mn&gt;10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frac&gt;&lt;mn&gt;70&lt;/mn&gt;&lt;mn&gt;100&lt;/mn&gt;&lt;/mfrac&gt;&lt;mo&gt;=&lt;/mo&gt;&lt;mn&gt;70&lt;/mn&gt;&lt;mi mathvariant=&quot;normal&quot;&gt;%&lt;/mi&gt;&lt;/math&gt;" id="1637" name="Google Shape;1637;p141" title="seven tenths equals seven tenths times ten tenths equals the fraction with numerator 7 times 10 and denominator 10 times 10 equals 70 over 100 equals 70 percent sign"/>
          <p:cNvPicPr preferRelativeResize="0"/>
          <p:nvPr/>
        </p:nvPicPr>
        <p:blipFill rotWithShape="1">
          <a:blip r:embed="rId3">
            <a:alphaModFix/>
          </a:blip>
          <a:srcRect b="0" l="0" r="91804" t="0"/>
          <a:stretch/>
        </p:blipFill>
        <p:spPr>
          <a:xfrm>
            <a:off x="789789" y="1522300"/>
            <a:ext cx="4103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.3}{300}=\frac{12.3}{300}\div\frac{3}{3}=\frac{12.3\div3}{300\div3}=\frac{4.1}{100}=4.1\%&quot;&gt;&lt;mfrac&gt;&lt;mn&gt;12.3&lt;/mn&gt;&lt;mn&gt;300&lt;/mn&gt;&lt;/mfrac&gt;&lt;mo&gt;=&lt;/mo&gt;&lt;mfrac&gt;&lt;mn&gt;12.3&lt;/mn&gt;&lt;mn&gt;300&lt;/mn&gt;&lt;/mfrac&gt;&lt;mo&gt;÷&lt;/mo&gt;&lt;mfrac&gt;&lt;mn&gt;3&lt;/mn&gt;&lt;mn&gt;3&lt;/mn&gt;&lt;/mfrac&gt;&lt;mo&gt;=&lt;/mo&gt;&lt;mfrac&gt;&lt;mrow&gt;&lt;mn&gt;12.3&lt;/mn&gt;&lt;mo&gt;÷&lt;/mo&gt;&lt;mn&gt;3&lt;/mn&gt;&lt;/mrow&gt;&lt;mrow&gt;&lt;mn&gt;300&lt;/mn&gt;&lt;mo&gt;÷&lt;/mo&gt;&lt;mn&gt;3&lt;/mn&gt;&lt;/mrow&gt;&lt;/mfrac&gt;&lt;mo&gt;=&lt;/mo&gt;&lt;mfrac&gt;&lt;mn&gt;4.1&lt;/mn&gt;&lt;mn&gt;100&lt;/mn&gt;&lt;/mfrac&gt;&lt;mo&gt;=&lt;/mo&gt;&lt;mn&gt;4.1&lt;/mn&gt;&lt;mi mathvariant=&quot;normal&quot;&gt;%&lt;/mi&gt;&lt;/math&gt;" id="1638" name="Google Shape;1638;p141" title="12.3 over 300 equals 12.3 over 300 divided by three thirds equals the fraction with numerator 12.3 divided by 3 and denominator 300 divided by 3 equals 4.1 over 100 equals 4.1 percent sign"/>
          <p:cNvPicPr preferRelativeResize="0"/>
          <p:nvPr/>
        </p:nvPicPr>
        <p:blipFill rotWithShape="1">
          <a:blip r:embed="rId4">
            <a:alphaModFix/>
          </a:blip>
          <a:srcRect b="0" l="0" r="88775" t="0"/>
          <a:stretch/>
        </p:blipFill>
        <p:spPr>
          <a:xfrm>
            <a:off x="735675" y="4084800"/>
            <a:ext cx="681049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0}=\frac{17}{200}\div\frac{2}{2}=\frac{17\div2}{200\div2}=\frac{8.5}{100}=8.5\%&quot;&gt;&lt;mfrac&gt;&lt;mn&gt;17&lt;/mn&gt;&lt;mn&gt;200&lt;/mn&gt;&lt;/mfrac&gt;&lt;mo&gt;=&lt;/mo&gt;&lt;mfrac&gt;&lt;mn&gt;17&lt;/mn&gt;&lt;mn&gt;200&lt;/mn&gt;&lt;/mfrac&gt;&lt;mo&gt;÷&lt;/mo&gt;&lt;mfrac&gt;&lt;mn&gt;2&lt;/mn&gt;&lt;mn&gt;2&lt;/mn&gt;&lt;/mfrac&gt;&lt;mo&gt;=&lt;/mo&gt;&lt;mfrac&gt;&lt;mrow&gt;&lt;mn&gt;17&lt;/mn&gt;&lt;mo&gt;÷&lt;/mo&gt;&lt;mn&gt;2&lt;/mn&gt;&lt;/mrow&gt;&lt;mrow&gt;&lt;mn&gt;200&lt;/mn&gt;&lt;mo&gt;÷&lt;/mo&gt;&lt;mn&gt;2&lt;/mn&gt;&lt;/mrow&gt;&lt;/mfrac&gt;&lt;mo&gt;=&lt;/mo&gt;&lt;mfrac&gt;&lt;mn&gt;8.5&lt;/mn&gt;&lt;mn&gt;100&lt;/mn&gt;&lt;/mfrac&gt;&lt;mo&gt;=&lt;/mo&gt;&lt;mn&gt;8.5&lt;/mn&gt;&lt;mi mathvariant=&quot;normal&quot;&gt;%&lt;/mi&gt;&lt;/math&gt;" id="1639" name="Google Shape;1639;p141" title="17 over 200 equals 17 over 200 divided by two halves equals the fraction with numerator 17 divided by 2 and denominator 200 divided by 2 equals 8.5 over 100 equals 8.5 percent sign"/>
          <p:cNvPicPr preferRelativeResize="0"/>
          <p:nvPr/>
        </p:nvPicPr>
        <p:blipFill rotWithShape="1">
          <a:blip r:embed="rId5">
            <a:alphaModFix/>
          </a:blip>
          <a:srcRect b="0" l="0" r="89187" t="0"/>
          <a:stretch/>
        </p:blipFill>
        <p:spPr>
          <a:xfrm>
            <a:off x="789800" y="3110750"/>
            <a:ext cx="626925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=\frac{1}{5}\times\frac{20}{20}=\frac{1\times20}{5\times20}=\frac{20}{100}=20\%&quot;&gt;&lt;mfrac&gt;&lt;mn&gt;1&lt;/mn&gt;&lt;mn&gt;5&lt;/mn&gt;&lt;/mfrac&gt;&lt;mo&gt;=&lt;/mo&gt;&lt;mfrac&gt;&lt;mn&gt;1&lt;/mn&gt;&lt;mn&gt;5&lt;/mn&gt;&lt;/mfrac&gt;&lt;mo&gt;×&lt;/mo&gt;&lt;mfrac&gt;&lt;mn&gt;20&lt;/mn&gt;&lt;mn&gt;20&lt;/mn&gt;&lt;/mfrac&gt;&lt;mo&gt;=&lt;/mo&gt;&lt;mfrac&gt;&lt;mrow&gt;&lt;mn&gt;1&lt;/mn&gt;&lt;mo&gt;×&lt;/mo&gt;&lt;mn&gt;20&lt;/mn&gt;&lt;/mrow&gt;&lt;mrow&gt;&lt;mn&gt;5&lt;/mn&gt;&lt;mo&gt;×&lt;/mo&gt;&lt;mn&gt;20&lt;/mn&gt;&lt;/mrow&gt;&lt;/mfrac&gt;&lt;mo&gt;=&lt;/mo&gt;&lt;mfrac&gt;&lt;mn&gt;20&lt;/mn&gt;&lt;mn&gt;100&lt;/mn&gt;&lt;/mfrac&gt;&lt;mo&gt;=&lt;/mo&gt;&lt;mn&gt;20&lt;/mn&gt;&lt;mi mathvariant=&quot;normal&quot;&gt;%&lt;/mi&gt;&lt;/math&gt;" id="1640" name="Google Shape;1640;p141" title="one fifth equals one fifth times 20 over 20 equals the fraction with numerator 1 times 20 and denominator 5 times 20 equals 20 over 100 equals 20 percent sign"/>
          <p:cNvPicPr preferRelativeResize="0"/>
          <p:nvPr/>
        </p:nvPicPr>
        <p:blipFill rotWithShape="1">
          <a:blip r:embed="rId6">
            <a:alphaModFix/>
          </a:blip>
          <a:srcRect b="0" l="0" r="93311" t="0"/>
          <a:stretch/>
        </p:blipFill>
        <p:spPr>
          <a:xfrm>
            <a:off x="751925" y="2317650"/>
            <a:ext cx="339950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=\frac{7}{10}\times\frac{10}{10}=\frac{7\times10}{10\times10}=\frac{70}{100}=70\%&quot;&gt;&lt;mfrac&gt;&lt;mn&gt;7&lt;/mn&gt;&lt;mn&gt;10&lt;/mn&gt;&lt;/mfrac&gt;&lt;mo&gt;=&lt;/mo&gt;&lt;mfrac&gt;&lt;mn&gt;7&lt;/mn&gt;&lt;mn&gt;10&lt;/mn&gt;&lt;/mfrac&gt;&lt;mo&gt;×&lt;/mo&gt;&lt;mfrac&gt;&lt;mn&gt;10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frac&gt;&lt;mn&gt;70&lt;/mn&gt;&lt;mn&gt;100&lt;/mn&gt;&lt;/mfrac&gt;&lt;mo&gt;=&lt;/mo&gt;&lt;mn&gt;70&lt;/mn&gt;&lt;mi mathvariant=&quot;normal&quot;&gt;%&lt;/mi&gt;&lt;/math&gt;" id="1641" name="Google Shape;1641;p141" title="seven tenths equals seven tenths times ten tenths equals the fraction with numerator 7 times 10 and denominator 10 times 10 equals 70 over 100 equals 70 percent sign"/>
          <p:cNvPicPr preferRelativeResize="0"/>
          <p:nvPr/>
        </p:nvPicPr>
        <p:blipFill rotWithShape="1">
          <a:blip r:embed="rId3">
            <a:alphaModFix/>
          </a:blip>
          <a:srcRect b="0" l="7851" r="61150" t="0"/>
          <a:stretch/>
        </p:blipFill>
        <p:spPr>
          <a:xfrm>
            <a:off x="1245250" y="1555375"/>
            <a:ext cx="155207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=\frac{7}{10}\times\frac{10}{10}=\frac{7\times10}{10\times10}=\frac{70}{100}=70\%&quot;&gt;&lt;mfrac&gt;&lt;mn&gt;7&lt;/mn&gt;&lt;mn&gt;10&lt;/mn&gt;&lt;/mfrac&gt;&lt;mo&gt;=&lt;/mo&gt;&lt;mfrac&gt;&lt;mn&gt;7&lt;/mn&gt;&lt;mn&gt;10&lt;/mn&gt;&lt;/mfrac&gt;&lt;mo&gt;×&lt;/mo&gt;&lt;mfrac&gt;&lt;mn&gt;10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frac&gt;&lt;mn&gt;70&lt;/mn&gt;&lt;mn&gt;100&lt;/mn&gt;&lt;/mfrac&gt;&lt;mo&gt;=&lt;/mo&gt;&lt;mn&gt;70&lt;/mn&gt;&lt;mi mathvariant=&quot;normal&quot;&gt;%&lt;/mi&gt;&lt;/math&gt;" id="1642" name="Google Shape;1642;p141" title="seven tenths equals seven tenths times ten tenths equals the fraction with numerator 7 times 10 and denominator 10 times 10 equals 70 over 100 equals 70 percent sign"/>
          <p:cNvPicPr preferRelativeResize="0"/>
          <p:nvPr/>
        </p:nvPicPr>
        <p:blipFill rotWithShape="1">
          <a:blip r:embed="rId3">
            <a:alphaModFix/>
          </a:blip>
          <a:srcRect b="0" l="38265" r="16434" t="0"/>
          <a:stretch/>
        </p:blipFill>
        <p:spPr>
          <a:xfrm>
            <a:off x="2842425" y="1555375"/>
            <a:ext cx="226812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=\frac{7}{10}\times\frac{10}{10}=\frac{7\times10}{10\times10}=\frac{70}{100}=70\%&quot;&gt;&lt;mfrac&gt;&lt;mn&gt;7&lt;/mn&gt;&lt;mn&gt;10&lt;/mn&gt;&lt;/mfrac&gt;&lt;mo&gt;=&lt;/mo&gt;&lt;mfrac&gt;&lt;mn&gt;7&lt;/mn&gt;&lt;mn&gt;10&lt;/mn&gt;&lt;/mfrac&gt;&lt;mo&gt;×&lt;/mo&gt;&lt;mfrac&gt;&lt;mn&gt;10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frac&gt;&lt;mn&gt;70&lt;/mn&gt;&lt;mn&gt;100&lt;/mn&gt;&lt;/mfrac&gt;&lt;mo&gt;=&lt;/mo&gt;&lt;mn&gt;70&lt;/mn&gt;&lt;mi mathvariant=&quot;normal&quot;&gt;%&lt;/mi&gt;&lt;/math&gt;" id="1643" name="Google Shape;1643;p141" title="seven tenths equals seven tenths times ten tenths equals the fraction with numerator 7 times 10 and denominator 10 times 10 equals 70 over 100 equals 70 percent sign"/>
          <p:cNvPicPr preferRelativeResize="0"/>
          <p:nvPr/>
        </p:nvPicPr>
        <p:blipFill rotWithShape="1">
          <a:blip r:embed="rId3">
            <a:alphaModFix/>
          </a:blip>
          <a:srcRect b="0" l="82834" r="-6949" t="0"/>
          <a:stretch/>
        </p:blipFill>
        <p:spPr>
          <a:xfrm>
            <a:off x="5049395" y="1555375"/>
            <a:ext cx="12074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=\frac{1}{5}\times\frac{20}{20}=\frac{1\times20}{5\times20}=\frac{20}{100}=20\%&quot;&gt;&lt;mfrac&gt;&lt;mn&gt;1&lt;/mn&gt;&lt;mn&gt;5&lt;/mn&gt;&lt;/mfrac&gt;&lt;mo&gt;=&lt;/mo&gt;&lt;mfrac&gt;&lt;mn&gt;1&lt;/mn&gt;&lt;mn&gt;5&lt;/mn&gt;&lt;/mfrac&gt;&lt;mo&gt;×&lt;/mo&gt;&lt;mfrac&gt;&lt;mn&gt;20&lt;/mn&gt;&lt;mn&gt;20&lt;/mn&gt;&lt;/mfrac&gt;&lt;mo&gt;=&lt;/mo&gt;&lt;mfrac&gt;&lt;mrow&gt;&lt;mn&gt;1&lt;/mn&gt;&lt;mo&gt;×&lt;/mo&gt;&lt;mn&gt;20&lt;/mn&gt;&lt;/mrow&gt;&lt;mrow&gt;&lt;mn&gt;5&lt;/mn&gt;&lt;mo&gt;×&lt;/mo&gt;&lt;mn&gt;20&lt;/mn&gt;&lt;/mrow&gt;&lt;/mfrac&gt;&lt;mo&gt;=&lt;/mo&gt;&lt;mfrac&gt;&lt;mn&gt;20&lt;/mn&gt;&lt;mn&gt;100&lt;/mn&gt;&lt;/mfrac&gt;&lt;mo&gt;=&lt;/mo&gt;&lt;mn&gt;20&lt;/mn&gt;&lt;mi mathvariant=&quot;normal&quot;&gt;%&lt;/mi&gt;&lt;/math&gt;" id="1644" name="Google Shape;1644;p141" title="one fifth equals one fifth times 20 over 20 equals the fraction with numerator 1 times 20 and denominator 5 times 20 equals 20 over 100 equals 20 percent sign"/>
          <p:cNvPicPr preferRelativeResize="0"/>
          <p:nvPr/>
        </p:nvPicPr>
        <p:blipFill rotWithShape="1">
          <a:blip r:embed="rId6">
            <a:alphaModFix/>
          </a:blip>
          <a:srcRect b="0" l="6689" r="64907" t="0"/>
          <a:stretch/>
        </p:blipFill>
        <p:spPr>
          <a:xfrm>
            <a:off x="1146025" y="2356425"/>
            <a:ext cx="1443776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=\frac{1}{5}\times\frac{20}{20}=\frac{1\times20}{5\times20}=\frac{20}{100}=20\%&quot;&gt;&lt;mfrac&gt;&lt;mn&gt;1&lt;/mn&gt;&lt;mn&gt;5&lt;/mn&gt;&lt;/mfrac&gt;&lt;mo&gt;=&lt;/mo&gt;&lt;mfrac&gt;&lt;mn&gt;1&lt;/mn&gt;&lt;mn&gt;5&lt;/mn&gt;&lt;/mfrac&gt;&lt;mo&gt;×&lt;/mo&gt;&lt;mfrac&gt;&lt;mn&gt;20&lt;/mn&gt;&lt;mn&gt;20&lt;/mn&gt;&lt;/mfrac&gt;&lt;mo&gt;=&lt;/mo&gt;&lt;mfrac&gt;&lt;mrow&gt;&lt;mn&gt;1&lt;/mn&gt;&lt;mo&gt;×&lt;/mo&gt;&lt;mn&gt;20&lt;/mn&gt;&lt;/mrow&gt;&lt;mrow&gt;&lt;mn&gt;5&lt;/mn&gt;&lt;mo&gt;×&lt;/mo&gt;&lt;mn&gt;20&lt;/mn&gt;&lt;/mrow&gt;&lt;/mfrac&gt;&lt;mo&gt;=&lt;/mo&gt;&lt;mfrac&gt;&lt;mn&gt;20&lt;/mn&gt;&lt;mn&gt;100&lt;/mn&gt;&lt;/mfrac&gt;&lt;mo&gt;=&lt;/mo&gt;&lt;mn&gt;20&lt;/mn&gt;&lt;mi mathvariant=&quot;normal&quot;&gt;%&lt;/mi&gt;&lt;/math&gt;" id="1645" name="Google Shape;1645;p141" title="one fifth equals one fifth times 20 over 20 equals the fraction with numerator 1 times 20 and denominator 5 times 20 equals 20 over 100 equals 20 percent sign"/>
          <p:cNvPicPr preferRelativeResize="0"/>
          <p:nvPr/>
        </p:nvPicPr>
        <p:blipFill rotWithShape="1">
          <a:blip r:embed="rId6">
            <a:alphaModFix/>
          </a:blip>
          <a:srcRect b="0" l="34402" r="38614" t="0"/>
          <a:stretch/>
        </p:blipFill>
        <p:spPr>
          <a:xfrm>
            <a:off x="2535650" y="2317663"/>
            <a:ext cx="1371601" cy="6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=\frac{1}{5}\times\frac{20}{20}=\frac{1\times20}{5\times20}=\frac{20}{100}=20\%&quot;&gt;&lt;mfrac&gt;&lt;mn&gt;1&lt;/mn&gt;&lt;mn&gt;5&lt;/mn&gt;&lt;/mfrac&gt;&lt;mo&gt;=&lt;/mo&gt;&lt;mfrac&gt;&lt;mn&gt;1&lt;/mn&gt;&lt;mn&gt;5&lt;/mn&gt;&lt;/mfrac&gt;&lt;mo&gt;×&lt;/mo&gt;&lt;mfrac&gt;&lt;mn&gt;20&lt;/mn&gt;&lt;mn&gt;20&lt;/mn&gt;&lt;/mfrac&gt;&lt;mo&gt;=&lt;/mo&gt;&lt;mfrac&gt;&lt;mrow&gt;&lt;mn&gt;1&lt;/mn&gt;&lt;mo&gt;×&lt;/mo&gt;&lt;mn&gt;20&lt;/mn&gt;&lt;/mrow&gt;&lt;mrow&gt;&lt;mn&gt;5&lt;/mn&gt;&lt;mo&gt;×&lt;/mo&gt;&lt;mn&gt;20&lt;/mn&gt;&lt;/mrow&gt;&lt;/mfrac&gt;&lt;mo&gt;=&lt;/mo&gt;&lt;mfrac&gt;&lt;mn&gt;20&lt;/mn&gt;&lt;mn&gt;100&lt;/mn&gt;&lt;/mfrac&gt;&lt;mo&gt;=&lt;/mo&gt;&lt;mn&gt;20&lt;/mn&gt;&lt;mi mathvariant=&quot;normal&quot;&gt;%&lt;/mi&gt;&lt;/math&gt;" id="1646" name="Google Shape;1646;p141" title="one fifth equals one fifth times 20 over 20 equals the fraction with numerator 1 times 20 and denominator 5 times 20 equals 20 over 100 equals 20 percent sign"/>
          <p:cNvPicPr preferRelativeResize="0"/>
          <p:nvPr/>
        </p:nvPicPr>
        <p:blipFill rotWithShape="1">
          <a:blip r:embed="rId6">
            <a:alphaModFix/>
          </a:blip>
          <a:srcRect b="0" l="62117" r="-1459" t="0"/>
          <a:stretch/>
        </p:blipFill>
        <p:spPr>
          <a:xfrm>
            <a:off x="3970425" y="2296250"/>
            <a:ext cx="1999875" cy="6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0}=\frac{17}{200}\div\frac{2}{2}=\frac{17\div2}{200\div2}=\frac{8.5}{100}=8.5\%&quot;&gt;&lt;mfrac&gt;&lt;mn&gt;17&lt;/mn&gt;&lt;mn&gt;200&lt;/mn&gt;&lt;/mfrac&gt;&lt;mo&gt;=&lt;/mo&gt;&lt;mfrac&gt;&lt;mn&gt;17&lt;/mn&gt;&lt;mn&gt;200&lt;/mn&gt;&lt;/mfrac&gt;&lt;mo&gt;÷&lt;/mo&gt;&lt;mfrac&gt;&lt;mn&gt;2&lt;/mn&gt;&lt;mn&gt;2&lt;/mn&gt;&lt;/mfrac&gt;&lt;mo&gt;=&lt;/mo&gt;&lt;mfrac&gt;&lt;mrow&gt;&lt;mn&gt;17&lt;/mn&gt;&lt;mo&gt;÷&lt;/mo&gt;&lt;mn&gt;2&lt;/mn&gt;&lt;/mrow&gt;&lt;mrow&gt;&lt;mn&gt;200&lt;/mn&gt;&lt;mo&gt;÷&lt;/mo&gt;&lt;mn&gt;2&lt;/mn&gt;&lt;/mrow&gt;&lt;/mfrac&gt;&lt;mo&gt;=&lt;/mo&gt;&lt;mfrac&gt;&lt;mn&gt;8.5&lt;/mn&gt;&lt;mn&gt;100&lt;/mn&gt;&lt;/mfrac&gt;&lt;mo&gt;=&lt;/mo&gt;&lt;mn&gt;8.5&lt;/mn&gt;&lt;mi mathvariant=&quot;normal&quot;&gt;%&lt;/mi&gt;&lt;/math&gt;" id="1647" name="Google Shape;1647;p141" title="17 over 200 equals 17 over 200 divided by two halves equals the fraction with numerator 17 divided by 2 and denominator 200 divided by 2 equals 8.5 over 100 equals 8.5 percent sign"/>
          <p:cNvPicPr preferRelativeResize="0"/>
          <p:nvPr/>
        </p:nvPicPr>
        <p:blipFill rotWithShape="1">
          <a:blip r:embed="rId5">
            <a:alphaModFix/>
          </a:blip>
          <a:srcRect b="0" l="10840" r="61146" t="0"/>
          <a:stretch/>
        </p:blipFill>
        <p:spPr>
          <a:xfrm>
            <a:off x="1380625" y="3110725"/>
            <a:ext cx="1624249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0}=\frac{17}{200}\div\frac{2}{2}=\frac{17\div2}{200\div2}=\frac{8.5}{100}=8.5\%&quot;&gt;&lt;mfrac&gt;&lt;mn&gt;17&lt;/mn&gt;&lt;mn&gt;200&lt;/mn&gt;&lt;/mfrac&gt;&lt;mo&gt;=&lt;/mo&gt;&lt;mfrac&gt;&lt;mn&gt;17&lt;/mn&gt;&lt;mn&gt;200&lt;/mn&gt;&lt;/mfrac&gt;&lt;mo&gt;÷&lt;/mo&gt;&lt;mfrac&gt;&lt;mn&gt;2&lt;/mn&gt;&lt;mn&gt;2&lt;/mn&gt;&lt;/mfrac&gt;&lt;mo&gt;=&lt;/mo&gt;&lt;mfrac&gt;&lt;mrow&gt;&lt;mn&gt;17&lt;/mn&gt;&lt;mo&gt;÷&lt;/mo&gt;&lt;mn&gt;2&lt;/mn&gt;&lt;/mrow&gt;&lt;mrow&gt;&lt;mn&gt;200&lt;/mn&gt;&lt;mo&gt;÷&lt;/mo&gt;&lt;mn&gt;2&lt;/mn&gt;&lt;/mrow&gt;&lt;/mfrac&gt;&lt;mo&gt;=&lt;/mo&gt;&lt;mfrac&gt;&lt;mn&gt;8.5&lt;/mn&gt;&lt;mn&gt;100&lt;/mn&gt;&lt;/mfrac&gt;&lt;mo&gt;=&lt;/mo&gt;&lt;mn&gt;8.5&lt;/mn&gt;&lt;mi mathvariant=&quot;normal&quot;&gt;%&lt;/mi&gt;&lt;/math&gt;" id="1648" name="Google Shape;1648;p141" title="17 over 200 equals 17 over 200 divided by two halves equals the fraction with numerator 17 divided by 2 and denominator 200 divided by 2 equals 8.5 over 100 equals 8.5 percent sign"/>
          <p:cNvPicPr preferRelativeResize="0"/>
          <p:nvPr/>
        </p:nvPicPr>
        <p:blipFill rotWithShape="1">
          <a:blip r:embed="rId5">
            <a:alphaModFix/>
          </a:blip>
          <a:srcRect b="0" l="38203" r="16511" t="0"/>
          <a:stretch/>
        </p:blipFill>
        <p:spPr>
          <a:xfrm>
            <a:off x="3004876" y="3110725"/>
            <a:ext cx="2625900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0}=\frac{17}{200}\div\frac{2}{2}=\frac{17\div2}{200\div2}=\frac{8.5}{100}=8.5\%&quot;&gt;&lt;mfrac&gt;&lt;mn&gt;17&lt;/mn&gt;&lt;mn&gt;200&lt;/mn&gt;&lt;/mfrac&gt;&lt;mo&gt;=&lt;/mo&gt;&lt;mfrac&gt;&lt;mn&gt;17&lt;/mn&gt;&lt;mn&gt;200&lt;/mn&gt;&lt;/mfrac&gt;&lt;mo&gt;÷&lt;/mo&gt;&lt;mfrac&gt;&lt;mn&gt;2&lt;/mn&gt;&lt;mn&gt;2&lt;/mn&gt;&lt;/mfrac&gt;&lt;mo&gt;=&lt;/mo&gt;&lt;mfrac&gt;&lt;mrow&gt;&lt;mn&gt;17&lt;/mn&gt;&lt;mo&gt;÷&lt;/mo&gt;&lt;mn&gt;2&lt;/mn&gt;&lt;/mrow&gt;&lt;mrow&gt;&lt;mn&gt;200&lt;/mn&gt;&lt;mo&gt;÷&lt;/mo&gt;&lt;mn&gt;2&lt;/mn&gt;&lt;/mrow&gt;&lt;/mfrac&gt;&lt;mo&gt;=&lt;/mo&gt;&lt;mfrac&gt;&lt;mn&gt;8.5&lt;/mn&gt;&lt;mn&gt;100&lt;/mn&gt;&lt;/mfrac&gt;&lt;mo&gt;=&lt;/mo&gt;&lt;mn&gt;8.5&lt;/mn&gt;&lt;mi mathvariant=&quot;normal&quot;&gt;%&lt;/mi&gt;&lt;/math&gt;" id="1649" name="Google Shape;1649;p141" title="17 over 200 equals 17 over 200 divided by two halves equals the fraction with numerator 17 divided by 2 and denominator 200 divided by 2 equals 8.5 over 100 equals 8.5 percent sign"/>
          <p:cNvPicPr preferRelativeResize="0"/>
          <p:nvPr/>
        </p:nvPicPr>
        <p:blipFill rotWithShape="1">
          <a:blip r:embed="rId5">
            <a:alphaModFix/>
          </a:blip>
          <a:srcRect b="0" l="83334" r="-4924" t="0"/>
          <a:stretch/>
        </p:blipFill>
        <p:spPr>
          <a:xfrm>
            <a:off x="5551050" y="3146850"/>
            <a:ext cx="1251925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.3}{300}=\frac{12.3}{300}\div\frac{3}{3}=\frac{12.3\div3}{300\div3}=\frac{4.1}{100}=4.1\%&quot;&gt;&lt;mfrac&gt;&lt;mn&gt;12.3&lt;/mn&gt;&lt;mn&gt;300&lt;/mn&gt;&lt;/mfrac&gt;&lt;mo&gt;=&lt;/mo&gt;&lt;mfrac&gt;&lt;mn&gt;12.3&lt;/mn&gt;&lt;mn&gt;300&lt;/mn&gt;&lt;/mfrac&gt;&lt;mo&gt;÷&lt;/mo&gt;&lt;mfrac&gt;&lt;mn&gt;3&lt;/mn&gt;&lt;mn&gt;3&lt;/mn&gt;&lt;/mfrac&gt;&lt;mo&gt;=&lt;/mo&gt;&lt;mfrac&gt;&lt;mrow&gt;&lt;mn&gt;12.3&lt;/mn&gt;&lt;mo&gt;÷&lt;/mo&gt;&lt;mn&gt;3&lt;/mn&gt;&lt;/mrow&gt;&lt;mrow&gt;&lt;mn&gt;300&lt;/mn&gt;&lt;mo&gt;÷&lt;/mo&gt;&lt;mn&gt;3&lt;/mn&gt;&lt;/mrow&gt;&lt;/mfrac&gt;&lt;mo&gt;=&lt;/mo&gt;&lt;mfrac&gt;&lt;mn&gt;4.1&lt;/mn&gt;&lt;mn&gt;100&lt;/mn&gt;&lt;/mfrac&gt;&lt;mo&gt;=&lt;/mo&gt;&lt;mn&gt;4.1&lt;/mn&gt;&lt;mi mathvariant=&quot;normal&quot;&gt;%&lt;/mi&gt;&lt;/math&gt;" id="1650" name="Google Shape;1650;p141" title="12.3 over 300 equals 12.3 over 300 divided by three thirds equals the fraction with numerator 12.3 divided by 3 and denominator 300 divided by 3 equals 4.1 over 100 equals 4.1 percent sign"/>
          <p:cNvPicPr preferRelativeResize="0"/>
          <p:nvPr/>
        </p:nvPicPr>
        <p:blipFill rotWithShape="1">
          <a:blip r:embed="rId4">
            <a:alphaModFix/>
          </a:blip>
          <a:srcRect b="0" l="11857" r="59883" t="0"/>
          <a:stretch/>
        </p:blipFill>
        <p:spPr>
          <a:xfrm>
            <a:off x="1380627" y="4084800"/>
            <a:ext cx="1714524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.3}{300}=\frac{12.3}{300}\div\frac{3}{3}=\frac{12.3\div3}{300\div3}=\frac{4.1}{100}=4.1\%&quot;&gt;&lt;mfrac&gt;&lt;mn&gt;12.3&lt;/mn&gt;&lt;mn&gt;300&lt;/mn&gt;&lt;/mfrac&gt;&lt;mo&gt;=&lt;/mo&gt;&lt;mfrac&gt;&lt;mn&gt;12.3&lt;/mn&gt;&lt;mn&gt;300&lt;/mn&gt;&lt;/mfrac&gt;&lt;mo&gt;÷&lt;/mo&gt;&lt;mfrac&gt;&lt;mn&gt;3&lt;/mn&gt;&lt;mn&gt;3&lt;/mn&gt;&lt;/mfrac&gt;&lt;mo&gt;=&lt;/mo&gt;&lt;mfrac&gt;&lt;mrow&gt;&lt;mn&gt;12.3&lt;/mn&gt;&lt;mo&gt;÷&lt;/mo&gt;&lt;mn&gt;3&lt;/mn&gt;&lt;/mrow&gt;&lt;mrow&gt;&lt;mn&gt;300&lt;/mn&gt;&lt;mo&gt;÷&lt;/mo&gt;&lt;mn&gt;3&lt;/mn&gt;&lt;/mrow&gt;&lt;/mfrac&gt;&lt;mo&gt;=&lt;/mo&gt;&lt;mfrac&gt;&lt;mn&gt;4.1&lt;/mn&gt;&lt;mn&gt;100&lt;/mn&gt;&lt;/mfrac&gt;&lt;mo&gt;=&lt;/mo&gt;&lt;mn&gt;4.1&lt;/mn&gt;&lt;mi mathvariant=&quot;normal&quot;&gt;%&lt;/mi&gt;&lt;/math&gt;" id="1651" name="Google Shape;1651;p141" title="12.3 over 300 equals 12.3 over 300 divided by three thirds equals the fraction with numerator 12.3 divided by 3 and denominator 300 divided by 3 equals 4.1 over 100 equals 4.1 percent sign"/>
          <p:cNvPicPr preferRelativeResize="0"/>
          <p:nvPr/>
        </p:nvPicPr>
        <p:blipFill rotWithShape="1">
          <a:blip r:embed="rId4">
            <a:alphaModFix/>
          </a:blip>
          <a:srcRect b="0" l="40611" r="33806" t="0"/>
          <a:stretch/>
        </p:blipFill>
        <p:spPr>
          <a:xfrm>
            <a:off x="3140250" y="4084800"/>
            <a:ext cx="1552076" cy="68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.3}{300}=\frac{12.3}{300}\div\frac{3}{3}=\frac{12.3\div3}{300\div3}=\frac{4.1}{100}=4.1\%&quot;&gt;&lt;mfrac&gt;&lt;mn&gt;12.3&lt;/mn&gt;&lt;mn&gt;300&lt;/mn&gt;&lt;/mfrac&gt;&lt;mo&gt;=&lt;/mo&gt;&lt;mfrac&gt;&lt;mn&gt;12.3&lt;/mn&gt;&lt;mn&gt;300&lt;/mn&gt;&lt;/mfrac&gt;&lt;mo&gt;÷&lt;/mo&gt;&lt;mfrac&gt;&lt;mn&gt;3&lt;/mn&gt;&lt;mn&gt;3&lt;/mn&gt;&lt;/mfrac&gt;&lt;mo&gt;=&lt;/mo&gt;&lt;mfrac&gt;&lt;mrow&gt;&lt;mn&gt;12.3&lt;/mn&gt;&lt;mo&gt;÷&lt;/mo&gt;&lt;mn&gt;3&lt;/mn&gt;&lt;/mrow&gt;&lt;mrow&gt;&lt;mn&gt;300&lt;/mn&gt;&lt;mo&gt;÷&lt;/mo&gt;&lt;mn&gt;3&lt;/mn&gt;&lt;/mrow&gt;&lt;/mfrac&gt;&lt;mo&gt;=&lt;/mo&gt;&lt;mfrac&gt;&lt;mn&gt;4.1&lt;/mn&gt;&lt;mn&gt;100&lt;/mn&gt;&lt;/mfrac&gt;&lt;mo&gt;=&lt;/mo&gt;&lt;mn&gt;4.1&lt;/mn&gt;&lt;mi mathvariant=&quot;normal&quot;&gt;%&lt;/mi&gt;&lt;/math&gt;" id="1652" name="Google Shape;1652;p141" title="12.3 over 300 equals 12.3 over 300 divided by three thirds equals the fraction with numerator 12.3 divided by 3 and denominator 300 divided by 3 equals 4.1 over 100 equals 4.1 percent sign"/>
          <p:cNvPicPr preferRelativeResize="0"/>
          <p:nvPr/>
        </p:nvPicPr>
        <p:blipFill rotWithShape="1">
          <a:blip r:embed="rId4">
            <a:alphaModFix/>
          </a:blip>
          <a:srcRect b="0" l="64927" r="-1610" t="0"/>
          <a:stretch/>
        </p:blipFill>
        <p:spPr>
          <a:xfrm>
            <a:off x="4571988" y="4084800"/>
            <a:ext cx="2225475" cy="6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42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268775" y="860825"/>
            <a:ext cx="3759473" cy="277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42"/>
          <p:cNvSpPr txBox="1"/>
          <p:nvPr>
            <p:ph idx="1" type="body"/>
          </p:nvPr>
        </p:nvSpPr>
        <p:spPr>
          <a:xfrm>
            <a:off x="1747950" y="1043900"/>
            <a:ext cx="29967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But what about fractions where the denominator can’t be easily changed into 100? For example </a:t>
            </a:r>
            <a:endParaRPr/>
          </a:p>
        </p:txBody>
      </p:sp>
      <p:sp>
        <p:nvSpPr>
          <p:cNvPr id="1659" name="Google Shape;1659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660" name="Google Shape;1660;p142"/>
          <p:cNvSpPr txBox="1"/>
          <p:nvPr>
            <p:ph idx="1" type="body"/>
          </p:nvPr>
        </p:nvSpPr>
        <p:spPr>
          <a:xfrm>
            <a:off x="5663250" y="1216125"/>
            <a:ext cx="21783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Good point!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do we do?</a:t>
            </a:r>
            <a:endParaRPr/>
          </a:p>
        </p:txBody>
      </p:sp>
      <p:sp>
        <p:nvSpPr>
          <p:cNvPr id="1661" name="Google Shape;1661;p142"/>
          <p:cNvSpPr txBox="1"/>
          <p:nvPr>
            <p:ph idx="1" type="body"/>
          </p:nvPr>
        </p:nvSpPr>
        <p:spPr>
          <a:xfrm>
            <a:off x="595650" y="3697200"/>
            <a:ext cx="7613700" cy="7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look at the hundred square grid and see if we can find another way.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1662" name="Google Shape;1662;p142" title="1 over 12 equals 1 divided by 12"/>
          <p:cNvPicPr preferRelativeResize="0"/>
          <p:nvPr/>
        </p:nvPicPr>
        <p:blipFill rotWithShape="1">
          <a:blip r:embed="rId4">
            <a:alphaModFix/>
          </a:blip>
          <a:srcRect b="0" l="0" r="72109" t="0"/>
          <a:stretch/>
        </p:blipFill>
        <p:spPr>
          <a:xfrm>
            <a:off x="4211125" y="2532225"/>
            <a:ext cx="360875" cy="53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59934" y="191615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142"/>
          <p:cNvSpPr txBox="1"/>
          <p:nvPr/>
        </p:nvSpPr>
        <p:spPr>
          <a:xfrm>
            <a:off x="535875" y="281223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5" name="Google Shape;1665;p1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0140" y="220596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42"/>
          <p:cNvSpPr txBox="1"/>
          <p:nvPr/>
        </p:nvSpPr>
        <p:spPr>
          <a:xfrm>
            <a:off x="7606925" y="3083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7" name="Google Shape;1667;p142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405125" y="961875"/>
            <a:ext cx="2138675" cy="180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graphicFrame>
        <p:nvGraphicFramePr>
          <p:cNvPr id="1673" name="Google Shape;1673;p143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74" name="Google Shape;1674;p143"/>
          <p:cNvCxnSpPr/>
          <p:nvPr/>
        </p:nvCxnSpPr>
        <p:spPr>
          <a:xfrm flipH="1" rot="10800000">
            <a:off x="3103300" y="2160000"/>
            <a:ext cx="1120800" cy="30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5" name="Google Shape;1675;p143"/>
          <p:cNvSpPr txBox="1"/>
          <p:nvPr>
            <p:ph idx="1" type="body"/>
          </p:nvPr>
        </p:nvSpPr>
        <p:spPr>
          <a:xfrm>
            <a:off x="436325" y="1998600"/>
            <a:ext cx="30972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a percentage, we know this represents 1% as there is 1 shaded out of 100.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graphicFrame>
        <p:nvGraphicFramePr>
          <p:cNvPr id="1681" name="Google Shape;1681;p144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82" name="Google Shape;1682;p144"/>
          <p:cNvCxnSpPr/>
          <p:nvPr/>
        </p:nvCxnSpPr>
        <p:spPr>
          <a:xfrm flipH="1" rot="10800000">
            <a:off x="3103300" y="2160000"/>
            <a:ext cx="1120800" cy="30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3" name="Google Shape;1683;p144"/>
          <p:cNvSpPr txBox="1"/>
          <p:nvPr>
            <p:ph idx="1" type="body"/>
          </p:nvPr>
        </p:nvSpPr>
        <p:spPr>
          <a:xfrm>
            <a:off x="436325" y="1998600"/>
            <a:ext cx="30972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would this be as a decimal if we know the whole grid represents 1?</a:t>
            </a:r>
            <a:endParaRPr/>
          </a:p>
        </p:txBody>
      </p:sp>
      <p:sp>
        <p:nvSpPr>
          <p:cNvPr id="1684" name="Google Shape;1684;p144"/>
          <p:cNvSpPr txBox="1"/>
          <p:nvPr/>
        </p:nvSpPr>
        <p:spPr>
          <a:xfrm>
            <a:off x="5684150" y="1565550"/>
            <a:ext cx="19131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5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graphicFrame>
        <p:nvGraphicFramePr>
          <p:cNvPr id="1690" name="Google Shape;1690;p145"/>
          <p:cNvGraphicFramePr/>
          <p:nvPr/>
        </p:nvGraphicFramePr>
        <p:xfrm>
          <a:off x="434255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1" name="Google Shape;1691;p145"/>
          <p:cNvSpPr txBox="1"/>
          <p:nvPr>
            <p:ph idx="1" type="body"/>
          </p:nvPr>
        </p:nvSpPr>
        <p:spPr>
          <a:xfrm>
            <a:off x="441300" y="1080000"/>
            <a:ext cx="3388500" cy="3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would be 0.01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0.01 is </a:t>
            </a:r>
            <a:r>
              <a:rPr lang="en-GB"/>
              <a:t>equivalent</a:t>
            </a:r>
            <a:r>
              <a:rPr b="1" lang="en-GB"/>
              <a:t> </a:t>
            </a:r>
            <a:r>
              <a:rPr lang="en-GB"/>
              <a:t>to 1%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Using this fact we can convert any fraction into a decimal and then a decimal into a percentage.</a:t>
            </a:r>
            <a:endParaRPr/>
          </a:p>
        </p:txBody>
      </p:sp>
      <p:sp>
        <p:nvSpPr>
          <p:cNvPr id="1692" name="Google Shape;1692;p145"/>
          <p:cNvSpPr txBox="1"/>
          <p:nvPr/>
        </p:nvSpPr>
        <p:spPr>
          <a:xfrm>
            <a:off x="5684150" y="1565550"/>
            <a:ext cx="19131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5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7" name="Google Shape;1697;p146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1250" y="1981650"/>
            <a:ext cx="4149550" cy="19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699" name="Google Shape;1699;p146"/>
          <p:cNvSpPr txBox="1"/>
          <p:nvPr>
            <p:ph idx="1" type="body"/>
          </p:nvPr>
        </p:nvSpPr>
        <p:spPr>
          <a:xfrm>
            <a:off x="324000" y="810000"/>
            <a:ext cx="8591400" cy="4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 knowing 0.01 is </a:t>
            </a:r>
            <a:r>
              <a:rPr lang="en-GB"/>
              <a:t>equivalent </a:t>
            </a:r>
            <a:r>
              <a:rPr lang="en-GB"/>
              <a:t>to 1%, we can convert any fraction to a decimal which then can be converted to a percentage.</a:t>
            </a:r>
            <a:endParaRPr/>
          </a:p>
        </p:txBody>
      </p:sp>
      <p:sp>
        <p:nvSpPr>
          <p:cNvPr id="1700" name="Google Shape;1700;p146"/>
          <p:cNvSpPr txBox="1"/>
          <p:nvPr>
            <p:ph idx="1" type="body"/>
          </p:nvPr>
        </p:nvSpPr>
        <p:spPr>
          <a:xfrm>
            <a:off x="1497925" y="2107425"/>
            <a:ext cx="35643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change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into a percentage please?</a:t>
            </a:r>
            <a:r>
              <a:rPr lang="en-GB"/>
              <a:t> </a:t>
            </a:r>
            <a:endParaRPr/>
          </a:p>
        </p:txBody>
      </p:sp>
      <p:pic>
        <p:nvPicPr>
          <p:cNvPr id="1701" name="Google Shape;1701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9647" y="29796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46"/>
          <p:cNvSpPr txBox="1"/>
          <p:nvPr/>
        </p:nvSpPr>
        <p:spPr>
          <a:xfrm>
            <a:off x="525588" y="3875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1703" name="Google Shape;1703;p146" title="1 over 12 equals 1 divided by 12"/>
          <p:cNvPicPr preferRelativeResize="0"/>
          <p:nvPr/>
        </p:nvPicPr>
        <p:blipFill rotWithShape="1">
          <a:blip r:embed="rId5">
            <a:alphaModFix/>
          </a:blip>
          <a:srcRect b="0" l="0" r="72109" t="0"/>
          <a:stretch/>
        </p:blipFill>
        <p:spPr>
          <a:xfrm>
            <a:off x="2887200" y="2571750"/>
            <a:ext cx="360875" cy="53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14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Using short division we can work out the decimal of the following fraction. </a:t>
            </a:r>
            <a:endParaRPr sz="1900"/>
          </a:p>
        </p:txBody>
      </p:sp>
      <p:sp>
        <p:nvSpPr>
          <p:cNvPr id="1709" name="Google Shape;1709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710" name="Google Shape;1710;p147"/>
          <p:cNvSpPr txBox="1"/>
          <p:nvPr/>
        </p:nvSpPr>
        <p:spPr>
          <a:xfrm>
            <a:off x="4784045" y="25153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47"/>
          <p:cNvSpPr txBox="1"/>
          <p:nvPr/>
        </p:nvSpPr>
        <p:spPr>
          <a:xfrm>
            <a:off x="4150823" y="20223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47"/>
          <p:cNvSpPr txBox="1"/>
          <p:nvPr/>
        </p:nvSpPr>
        <p:spPr>
          <a:xfrm>
            <a:off x="4354547" y="212223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47"/>
          <p:cNvSpPr txBox="1"/>
          <p:nvPr/>
        </p:nvSpPr>
        <p:spPr>
          <a:xfrm>
            <a:off x="4354547" y="161390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47"/>
          <p:cNvSpPr txBox="1"/>
          <p:nvPr/>
        </p:nvSpPr>
        <p:spPr>
          <a:xfrm>
            <a:off x="4458554" y="2022338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47"/>
          <p:cNvSpPr txBox="1"/>
          <p:nvPr/>
        </p:nvSpPr>
        <p:spPr>
          <a:xfrm>
            <a:off x="4687154" y="20223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47"/>
          <p:cNvSpPr txBox="1"/>
          <p:nvPr/>
        </p:nvSpPr>
        <p:spPr>
          <a:xfrm>
            <a:off x="4622225" y="2386125"/>
            <a:ext cx="54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147"/>
          <p:cNvSpPr txBox="1"/>
          <p:nvPr/>
        </p:nvSpPr>
        <p:spPr>
          <a:xfrm>
            <a:off x="4377527" y="239223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47"/>
          <p:cNvSpPr txBox="1"/>
          <p:nvPr/>
        </p:nvSpPr>
        <p:spPr>
          <a:xfrm>
            <a:off x="4479245" y="25153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47"/>
          <p:cNvSpPr txBox="1"/>
          <p:nvPr/>
        </p:nvSpPr>
        <p:spPr>
          <a:xfrm>
            <a:off x="4893507" y="20166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147"/>
          <p:cNvSpPr txBox="1"/>
          <p:nvPr/>
        </p:nvSpPr>
        <p:spPr>
          <a:xfrm>
            <a:off x="5345597" y="25153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147"/>
          <p:cNvSpPr txBox="1"/>
          <p:nvPr/>
        </p:nvSpPr>
        <p:spPr>
          <a:xfrm>
            <a:off x="5109896" y="20166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47"/>
          <p:cNvSpPr txBox="1"/>
          <p:nvPr/>
        </p:nvSpPr>
        <p:spPr>
          <a:xfrm>
            <a:off x="5059566" y="25153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47"/>
          <p:cNvSpPr txBox="1"/>
          <p:nvPr/>
        </p:nvSpPr>
        <p:spPr>
          <a:xfrm>
            <a:off x="4970364" y="238127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47"/>
          <p:cNvSpPr txBox="1"/>
          <p:nvPr/>
        </p:nvSpPr>
        <p:spPr>
          <a:xfrm>
            <a:off x="5256395" y="238127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2}=0.08\dot{3}&quot;&gt;&lt;mfrac&gt;&lt;mn&gt;1&lt;/mn&gt;&lt;mn&gt;12&lt;/mn&gt;&lt;/mfrac&gt;&lt;mo&gt;=&lt;/mo&gt;&lt;mn&gt;0.08&lt;/mn&gt;&lt;mrow data-mjx-texclass=&quot;ORD&quot;&gt;&lt;mover&gt;&lt;mn&gt;3&lt;/mn&gt;&lt;mo&gt;˙&lt;/mo&gt;&lt;/mover&gt;&lt;/mrow&gt;&lt;/math&gt;" id="1725" name="Google Shape;1725;p147" title="1 over 12 equals the repeating decimal 0.08 followed by repeating digit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782" y="3134432"/>
            <a:ext cx="1601026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1726" name="Google Shape;1726;p147" title="1 over 12 equals 1 divided by 12"/>
          <p:cNvPicPr preferRelativeResize="0"/>
          <p:nvPr/>
        </p:nvPicPr>
        <p:blipFill rotWithShape="1">
          <a:blip r:embed="rId4">
            <a:alphaModFix/>
          </a:blip>
          <a:srcRect b="0" l="0" r="72109" t="0"/>
          <a:stretch/>
        </p:blipFill>
        <p:spPr>
          <a:xfrm>
            <a:off x="3784000" y="1255500"/>
            <a:ext cx="475250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1727" name="Google Shape;1727;p147" title="1 over 12 equals 1 divided by 12"/>
          <p:cNvPicPr preferRelativeResize="0"/>
          <p:nvPr/>
        </p:nvPicPr>
        <p:blipFill rotWithShape="1">
          <a:blip r:embed="rId4">
            <a:alphaModFix/>
          </a:blip>
          <a:srcRect b="0" l="30105" r="-11076" t="0"/>
          <a:stretch/>
        </p:blipFill>
        <p:spPr>
          <a:xfrm>
            <a:off x="4296975" y="1255500"/>
            <a:ext cx="1379700" cy="70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8" name="Google Shape;1728;p147"/>
          <p:cNvGrpSpPr/>
          <p:nvPr/>
        </p:nvGrpSpPr>
        <p:grpSpPr>
          <a:xfrm>
            <a:off x="3440541" y="2111275"/>
            <a:ext cx="2190674" cy="980100"/>
            <a:chOff x="1133466" y="3015775"/>
            <a:chExt cx="2190674" cy="980100"/>
          </a:xfrm>
        </p:grpSpPr>
        <p:grpSp>
          <p:nvGrpSpPr>
            <p:cNvPr id="1729" name="Google Shape;1729;p147"/>
            <p:cNvGrpSpPr/>
            <p:nvPr/>
          </p:nvGrpSpPr>
          <p:grpSpPr>
            <a:xfrm>
              <a:off x="1133466" y="3015775"/>
              <a:ext cx="2190674" cy="980100"/>
              <a:chOff x="2665999" y="2240457"/>
              <a:chExt cx="4652100" cy="980100"/>
            </a:xfrm>
          </p:grpSpPr>
          <p:sp>
            <p:nvSpPr>
              <p:cNvPr id="1730" name="Google Shape;1730;p147"/>
              <p:cNvSpPr txBox="1"/>
              <p:nvPr/>
            </p:nvSpPr>
            <p:spPr>
              <a:xfrm>
                <a:off x="2665999" y="2240457"/>
                <a:ext cx="46521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r>
                  <a:rPr lang="en-GB" sz="55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31" name="Google Shape;1731;p147"/>
              <p:cNvCxnSpPr/>
              <p:nvPr/>
            </p:nvCxnSpPr>
            <p:spPr>
              <a:xfrm>
                <a:off x="3726594" y="2614557"/>
                <a:ext cx="3168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32" name="Google Shape;1732;p147"/>
            <p:cNvCxnSpPr/>
            <p:nvPr/>
          </p:nvCxnSpPr>
          <p:spPr>
            <a:xfrm rot="10800000">
              <a:off x="1655777" y="3380829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33" name="Google Shape;1733;p147"/>
          <p:cNvSpPr txBox="1"/>
          <p:nvPr/>
        </p:nvSpPr>
        <p:spPr>
          <a:xfrm>
            <a:off x="941875" y="4215450"/>
            <a:ext cx="754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a percentage is 8.3% (correct to 1 d.p.)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1}{12}=1\div12&quot;&gt;&lt;mfrac&gt;&lt;mn&gt;1&lt;/mn&gt;&lt;mn&gt;12&lt;/mn&gt;&lt;/mfrac&gt;&lt;mo&gt;=&lt;/mo&gt;&lt;mn&gt;1&lt;/mn&gt;&lt;mo&gt;÷&lt;/mo&gt;&lt;mn&gt;12&lt;/mn&gt;&lt;/math&gt;" id="1734" name="Google Shape;1734;p147" title="1 over 12 equals 1 divided by 12"/>
          <p:cNvPicPr preferRelativeResize="0"/>
          <p:nvPr/>
        </p:nvPicPr>
        <p:blipFill rotWithShape="1">
          <a:blip r:embed="rId4">
            <a:alphaModFix/>
          </a:blip>
          <a:srcRect b="0" l="0" r="72109" t="0"/>
          <a:stretch/>
        </p:blipFill>
        <p:spPr>
          <a:xfrm>
            <a:off x="758738" y="4169247"/>
            <a:ext cx="352571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48"/>
          <p:cNvSpPr txBox="1"/>
          <p:nvPr>
            <p:ph idx="1" type="body"/>
          </p:nvPr>
        </p:nvSpPr>
        <p:spPr>
          <a:xfrm>
            <a:off x="324000" y="78152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     as a percentage to 1 decimal place?</a:t>
            </a:r>
            <a:endParaRPr/>
          </a:p>
        </p:txBody>
      </p:sp>
      <p:sp>
        <p:nvSpPr>
          <p:cNvPr id="1740" name="Google Shape;1740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741" name="Google Shape;1741;p148"/>
          <p:cNvSpPr txBox="1"/>
          <p:nvPr/>
        </p:nvSpPr>
        <p:spPr>
          <a:xfrm>
            <a:off x="6868875" y="2419480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48"/>
          <p:cNvSpPr txBox="1"/>
          <p:nvPr/>
        </p:nvSpPr>
        <p:spPr>
          <a:xfrm>
            <a:off x="7122871" y="2419480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48"/>
          <p:cNvSpPr txBox="1"/>
          <p:nvPr/>
        </p:nvSpPr>
        <p:spPr>
          <a:xfrm>
            <a:off x="6249975" y="1938762"/>
            <a:ext cx="483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4" name="Google Shape;1744;p148"/>
          <p:cNvGrpSpPr/>
          <p:nvPr/>
        </p:nvGrpSpPr>
        <p:grpSpPr>
          <a:xfrm>
            <a:off x="6476330" y="1484950"/>
            <a:ext cx="264300" cy="1586710"/>
            <a:chOff x="6828255" y="1827525"/>
            <a:chExt cx="264300" cy="1586710"/>
          </a:xfrm>
        </p:grpSpPr>
        <p:sp>
          <p:nvSpPr>
            <p:cNvPr id="1745" name="Google Shape;1745;p148"/>
            <p:cNvSpPr txBox="1"/>
            <p:nvPr/>
          </p:nvSpPr>
          <p:spPr>
            <a:xfrm>
              <a:off x="6828255" y="2325235"/>
              <a:ext cx="2643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7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6" name="Google Shape;1746;p148"/>
            <p:cNvSpPr txBox="1"/>
            <p:nvPr/>
          </p:nvSpPr>
          <p:spPr>
            <a:xfrm>
              <a:off x="6828255" y="1827525"/>
              <a:ext cx="2643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7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7" name="Google Shape;1747;p148"/>
          <p:cNvSpPr txBox="1"/>
          <p:nvPr/>
        </p:nvSpPr>
        <p:spPr>
          <a:xfrm>
            <a:off x="6591892" y="1938762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48"/>
          <p:cNvSpPr txBox="1"/>
          <p:nvPr/>
        </p:nvSpPr>
        <p:spPr>
          <a:xfrm>
            <a:off x="6845887" y="1938762"/>
            <a:ext cx="483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48"/>
          <p:cNvSpPr txBox="1"/>
          <p:nvPr/>
        </p:nvSpPr>
        <p:spPr>
          <a:xfrm>
            <a:off x="7099886" y="1938776"/>
            <a:ext cx="605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3…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48"/>
          <p:cNvSpPr txBox="1"/>
          <p:nvPr/>
        </p:nvSpPr>
        <p:spPr>
          <a:xfrm>
            <a:off x="6773736" y="2275874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48"/>
          <p:cNvSpPr txBox="1"/>
          <p:nvPr/>
        </p:nvSpPr>
        <p:spPr>
          <a:xfrm>
            <a:off x="6501863" y="2282658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48"/>
          <p:cNvSpPr txBox="1"/>
          <p:nvPr/>
        </p:nvSpPr>
        <p:spPr>
          <a:xfrm>
            <a:off x="6614880" y="2419480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48"/>
          <p:cNvSpPr txBox="1"/>
          <p:nvPr/>
        </p:nvSpPr>
        <p:spPr>
          <a:xfrm>
            <a:off x="7027731" y="2275874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1754" name="Google Shape;1754;p148" title="2 lines Line 1: one eighth Line 2: one third"/>
          <p:cNvPicPr preferRelativeResize="0"/>
          <p:nvPr/>
        </p:nvPicPr>
        <p:blipFill rotWithShape="1">
          <a:blip r:embed="rId3">
            <a:alphaModFix/>
          </a:blip>
          <a:srcRect b="-2290" l="0" r="0" t="52504"/>
          <a:stretch/>
        </p:blipFill>
        <p:spPr>
          <a:xfrm>
            <a:off x="1442950" y="658601"/>
            <a:ext cx="241850" cy="77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1755" name="Google Shape;1755;p148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0" r="85186" t="0"/>
          <a:stretch/>
        </p:blipFill>
        <p:spPr>
          <a:xfrm>
            <a:off x="1489075" y="2116550"/>
            <a:ext cx="483600" cy="9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1756" name="Google Shape;1756;p148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13795" r="38251" t="0"/>
          <a:stretch/>
        </p:blipFill>
        <p:spPr>
          <a:xfrm>
            <a:off x="1919300" y="2113300"/>
            <a:ext cx="1565500" cy="9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1757" name="Google Shape;1757;p148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64307" r="-4334" t="0"/>
          <a:stretch/>
        </p:blipFill>
        <p:spPr>
          <a:xfrm>
            <a:off x="3573779" y="2104450"/>
            <a:ext cx="1306775" cy="98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8" name="Google Shape;1758;p148"/>
          <p:cNvGrpSpPr/>
          <p:nvPr/>
        </p:nvGrpSpPr>
        <p:grpSpPr>
          <a:xfrm>
            <a:off x="5646408" y="2009804"/>
            <a:ext cx="2146725" cy="1088989"/>
            <a:chOff x="5998333" y="2352379"/>
            <a:chExt cx="2146725" cy="1088989"/>
          </a:xfrm>
        </p:grpSpPr>
        <p:grpSp>
          <p:nvGrpSpPr>
            <p:cNvPr id="1759" name="Google Shape;1759;p148"/>
            <p:cNvGrpSpPr/>
            <p:nvPr/>
          </p:nvGrpSpPr>
          <p:grpSpPr>
            <a:xfrm>
              <a:off x="5998333" y="2352379"/>
              <a:ext cx="2146725" cy="1088989"/>
              <a:chOff x="2800350" y="2259775"/>
              <a:chExt cx="4423500" cy="980100"/>
            </a:xfrm>
          </p:grpSpPr>
          <p:sp>
            <p:nvSpPr>
              <p:cNvPr id="1760" name="Google Shape;1760;p148"/>
              <p:cNvSpPr txBox="1"/>
              <p:nvPr/>
            </p:nvSpPr>
            <p:spPr>
              <a:xfrm>
                <a:off x="2800350" y="2259775"/>
                <a:ext cx="44235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57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24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61" name="Google Shape;1761;p148"/>
              <p:cNvCxnSpPr/>
              <p:nvPr/>
            </p:nvCxnSpPr>
            <p:spPr>
              <a:xfrm>
                <a:off x="3763759" y="2580422"/>
                <a:ext cx="3121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62" name="Google Shape;1762;p148"/>
            <p:cNvCxnSpPr/>
            <p:nvPr/>
          </p:nvCxnSpPr>
          <p:spPr>
            <a:xfrm rot="10800000">
              <a:off x="6476925" y="2694375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63" name="Google Shape;1763;p148"/>
          <p:cNvGrpSpPr/>
          <p:nvPr/>
        </p:nvGrpSpPr>
        <p:grpSpPr>
          <a:xfrm>
            <a:off x="1064800" y="3403724"/>
            <a:ext cx="7200900" cy="1192426"/>
            <a:chOff x="1064800" y="3403724"/>
            <a:chExt cx="7200900" cy="1192426"/>
          </a:xfrm>
        </p:grpSpPr>
        <p:sp>
          <p:nvSpPr>
            <p:cNvPr id="1764" name="Google Shape;1764;p148"/>
            <p:cNvSpPr txBox="1"/>
            <p:nvPr/>
          </p:nvSpPr>
          <p:spPr>
            <a:xfrm>
              <a:off x="1064800" y="3555150"/>
              <a:ext cx="7200900" cy="10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This means       as a percentage is 33.3% (1 d.p.)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1765" name="Google Shape;1765;p148" title="2 lines Line 1: one eighth Line 2: one third"/>
            <p:cNvPicPr preferRelativeResize="0"/>
            <p:nvPr/>
          </p:nvPicPr>
          <p:blipFill rotWithShape="1">
            <a:blip r:embed="rId3">
              <a:alphaModFix/>
            </a:blip>
            <a:srcRect b="-2290" l="0" r="0" t="52504"/>
            <a:stretch/>
          </p:blipFill>
          <p:spPr>
            <a:xfrm>
              <a:off x="2860129" y="3403724"/>
              <a:ext cx="241850" cy="77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771" name="Google Shape;1771;p149"/>
          <p:cNvSpPr txBox="1"/>
          <p:nvPr>
            <p:ph idx="1" type="body"/>
          </p:nvPr>
        </p:nvSpPr>
        <p:spPr>
          <a:xfrm>
            <a:off x="326850" y="657438"/>
            <a:ext cx="8237700" cy="7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Three students convert     into a </a:t>
            </a:r>
            <a:r>
              <a:rPr lang="en-GB"/>
              <a:t>percentage</a:t>
            </a:r>
            <a:r>
              <a:rPr lang="en-GB"/>
              <a:t>. Who is correct?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=2\ \div5&quot;&gt;&lt;mfrac&gt;&lt;mn&gt;2&lt;/mn&gt;&lt;mn&gt;5&lt;/mn&gt;&lt;/mfrac&gt;&lt;mo&gt;=&lt;/mo&gt;&lt;mn&gt;2&lt;/mn&gt;&lt;mtext&gt;&lt;/mtext&gt;&lt;mo&gt;÷&lt;/mo&gt;&lt;mn&gt;5&lt;/mn&gt;&lt;/math&gt;" id="1772" name="Google Shape;1772;p149" title="two fifths equals 2 division sign 5"/>
          <p:cNvPicPr preferRelativeResize="0"/>
          <p:nvPr/>
        </p:nvPicPr>
        <p:blipFill rotWithShape="1">
          <a:blip r:embed="rId3">
            <a:alphaModFix/>
          </a:blip>
          <a:srcRect b="0" l="0" r="83328" t="0"/>
          <a:stretch/>
        </p:blipFill>
        <p:spPr>
          <a:xfrm>
            <a:off x="3575550" y="613500"/>
            <a:ext cx="186285" cy="5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49"/>
          <p:cNvSpPr/>
          <p:nvPr/>
        </p:nvSpPr>
        <p:spPr>
          <a:xfrm>
            <a:off x="326850" y="1571125"/>
            <a:ext cx="2603400" cy="243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\frac{2}{5}\times\frac{20}{20}=\frac{2\times20}{5\times20}=\frac{40}{100}=40\%&quot;&gt;&lt;mfrac&gt;&lt;mn&gt;2&lt;/mn&gt;&lt;mn&gt;5&lt;/mn&gt;&lt;/mfrac&gt;&lt;mo&gt;=&lt;/mo&gt;&lt;mfrac&gt;&lt;mn&gt;2&lt;/mn&gt;&lt;mn&gt;5&lt;/mn&gt;&lt;/mfrac&gt;&lt;mo&gt;×&lt;/mo&gt;&lt;mfrac&gt;&lt;mn&gt;20&lt;/mn&gt;&lt;mn&gt;20&lt;/mn&gt;&lt;/mfrac&gt;&lt;mo&gt;=&lt;/mo&gt;&lt;mfrac&gt;&lt;mrow&gt;&lt;mn&gt;2&lt;/mn&gt;&lt;mo&gt;×&lt;/mo&gt;&lt;mn&gt;20&lt;/mn&gt;&lt;/mrow&gt;&lt;mrow&gt;&lt;mn&gt;5&lt;/mn&gt;&lt;mo&gt;×&lt;/mo&gt;&lt;mn&gt;20&lt;/mn&gt;&lt;/mrow&gt;&lt;/mfrac&gt;&lt;mo&gt;=&lt;/mo&gt;&lt;mfrac&gt;&lt;mn&gt;40&lt;/mn&gt;&lt;mn&gt;100&lt;/mn&gt;&lt;/mfrac&gt;&lt;mo&gt;=&lt;/mo&gt;&lt;mn&gt;40&lt;/mn&gt;&lt;mi mathvariant=&quot;normal&quot;&gt;%&lt;/mi&gt;&lt;/math&gt;" id="1774" name="Google Shape;1774;p149" title="two fifths equals two fifths times 20 over 20 equals the fraction with numerator 2 times 20 and denominator 5 times 20 equals 40 over 100 equals 40 percent sign"/>
          <p:cNvPicPr preferRelativeResize="0"/>
          <p:nvPr/>
        </p:nvPicPr>
        <p:blipFill rotWithShape="1">
          <a:blip r:embed="rId4">
            <a:alphaModFix/>
          </a:blip>
          <a:srcRect b="0" l="0" r="65323" t="0"/>
          <a:stretch/>
        </p:blipFill>
        <p:spPr>
          <a:xfrm>
            <a:off x="471842" y="1855600"/>
            <a:ext cx="15715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2}{5}\times\frac{20}{20}=\frac{2\times20}{5\times20}=\frac{40}{100}=40\%&quot;&gt;&lt;mfrac&gt;&lt;mn&gt;2&lt;/mn&gt;&lt;mn&gt;5&lt;/mn&gt;&lt;/mfrac&gt;&lt;mo&gt;=&lt;/mo&gt;&lt;mfrac&gt;&lt;mn&gt;2&lt;/mn&gt;&lt;mn&gt;5&lt;/mn&gt;&lt;/mfrac&gt;&lt;mo&gt;×&lt;/mo&gt;&lt;mfrac&gt;&lt;mn&gt;20&lt;/mn&gt;&lt;mn&gt;20&lt;/mn&gt;&lt;/mfrac&gt;&lt;mo&gt;=&lt;/mo&gt;&lt;mfrac&gt;&lt;mrow&gt;&lt;mn&gt;2&lt;/mn&gt;&lt;mo&gt;×&lt;/mo&gt;&lt;mn&gt;20&lt;/mn&gt;&lt;/mrow&gt;&lt;mrow&gt;&lt;mn&gt;5&lt;/mn&gt;&lt;mo&gt;×&lt;/mo&gt;&lt;mn&gt;20&lt;/mn&gt;&lt;/mrow&gt;&lt;/mfrac&gt;&lt;mo&gt;=&lt;/mo&gt;&lt;mfrac&gt;&lt;mn&gt;40&lt;/mn&gt;&lt;mn&gt;100&lt;/mn&gt;&lt;/mfrac&gt;&lt;mo&gt;=&lt;/mo&gt;&lt;mn&gt;40&lt;/mn&gt;&lt;mi mathvariant=&quot;normal&quot;&gt;%&lt;/mi&gt;&lt;/math&gt;" id="1775" name="Google Shape;1775;p149" title="two fifths equals two fifths times 20 over 20 equals the fraction with numerator 2 times 20 and denominator 5 times 20 equals 40 over 100 equals 40 percent sign"/>
          <p:cNvPicPr preferRelativeResize="0"/>
          <p:nvPr/>
        </p:nvPicPr>
        <p:blipFill rotWithShape="1">
          <a:blip r:embed="rId4">
            <a:alphaModFix/>
          </a:blip>
          <a:srcRect b="0" l="34234" r="18178" t="0"/>
          <a:stretch/>
        </p:blipFill>
        <p:spPr>
          <a:xfrm>
            <a:off x="734925" y="2595400"/>
            <a:ext cx="215667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2}{5}\times\frac{20}{20}=\frac{2\times20}{5\times20}=\frac{40}{100}=40\%&quot;&gt;&lt;mfrac&gt;&lt;mn&gt;2&lt;/mn&gt;&lt;mn&gt;5&lt;/mn&gt;&lt;/mfrac&gt;&lt;mo&gt;=&lt;/mo&gt;&lt;mfrac&gt;&lt;mn&gt;2&lt;/mn&gt;&lt;mn&gt;5&lt;/mn&gt;&lt;/mfrac&gt;&lt;mo&gt;×&lt;/mo&gt;&lt;mfrac&gt;&lt;mn&gt;20&lt;/mn&gt;&lt;mn&gt;20&lt;/mn&gt;&lt;/mfrac&gt;&lt;mo&gt;=&lt;/mo&gt;&lt;mfrac&gt;&lt;mrow&gt;&lt;mn&gt;2&lt;/mn&gt;&lt;mo&gt;×&lt;/mo&gt;&lt;mn&gt;20&lt;/mn&gt;&lt;/mrow&gt;&lt;mrow&gt;&lt;mn&gt;5&lt;/mn&gt;&lt;mo&gt;×&lt;/mo&gt;&lt;mn&gt;20&lt;/mn&gt;&lt;/mrow&gt;&lt;/mfrac&gt;&lt;mo&gt;=&lt;/mo&gt;&lt;mfrac&gt;&lt;mn&gt;40&lt;/mn&gt;&lt;mn&gt;100&lt;/mn&gt;&lt;/mfrac&gt;&lt;mo&gt;=&lt;/mo&gt;&lt;mn&gt;40&lt;/mn&gt;&lt;mi mathvariant=&quot;normal&quot;&gt;%&lt;/mi&gt;&lt;/math&gt;" id="1776" name="Google Shape;1776;p149" title="two fifths equals two fifths times 20 over 20 equals the fraction with numerator 2 times 20 and denominator 5 times 20 equals 40 over 100 equals 40 percent sign"/>
          <p:cNvPicPr preferRelativeResize="0"/>
          <p:nvPr/>
        </p:nvPicPr>
        <p:blipFill rotWithShape="1">
          <a:blip r:embed="rId4">
            <a:alphaModFix/>
          </a:blip>
          <a:srcRect b="0" l="80638" r="0" t="0"/>
          <a:stretch/>
        </p:blipFill>
        <p:spPr>
          <a:xfrm>
            <a:off x="734925" y="3335200"/>
            <a:ext cx="1016713" cy="71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7" name="Google Shape;1777;p149"/>
          <p:cNvSpPr/>
          <p:nvPr/>
        </p:nvSpPr>
        <p:spPr>
          <a:xfrm>
            <a:off x="3090088" y="1412400"/>
            <a:ext cx="2980500" cy="257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49"/>
          <p:cNvSpPr txBox="1"/>
          <p:nvPr/>
        </p:nvSpPr>
        <p:spPr>
          <a:xfrm>
            <a:off x="4424038" y="2464913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49"/>
          <p:cNvSpPr txBox="1"/>
          <p:nvPr/>
        </p:nvSpPr>
        <p:spPr>
          <a:xfrm>
            <a:off x="4703961" y="256481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49"/>
          <p:cNvSpPr txBox="1"/>
          <p:nvPr/>
        </p:nvSpPr>
        <p:spPr>
          <a:xfrm>
            <a:off x="4856363" y="2564813"/>
            <a:ext cx="351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49"/>
          <p:cNvSpPr txBox="1"/>
          <p:nvPr/>
        </p:nvSpPr>
        <p:spPr>
          <a:xfrm>
            <a:off x="4775788" y="2834813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49"/>
          <p:cNvSpPr txBox="1"/>
          <p:nvPr/>
        </p:nvSpPr>
        <p:spPr>
          <a:xfrm>
            <a:off x="4703961" y="205647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49"/>
          <p:cNvSpPr txBox="1"/>
          <p:nvPr/>
        </p:nvSpPr>
        <p:spPr>
          <a:xfrm>
            <a:off x="4881238" y="2464913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2\ \div5&quot;&gt;&lt;mfrac&gt;&lt;mn&gt;2&lt;/mn&gt;&lt;mn&gt;5&lt;/mn&gt;&lt;/mfrac&gt;&lt;mo&gt;=&lt;/mo&gt;&lt;mn&gt;2&lt;/mn&gt;&lt;mtext&gt;&lt;/mtext&gt;&lt;mo&gt;÷&lt;/mo&gt;&lt;mn&gt;5&lt;/mn&gt;&lt;/math&gt;" id="1784" name="Google Shape;1784;p149" title="two fifths equals 2 division sign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922" y="1586887"/>
            <a:ext cx="1571525" cy="78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49"/>
          <p:cNvSpPr txBox="1"/>
          <p:nvPr/>
        </p:nvSpPr>
        <p:spPr>
          <a:xfrm>
            <a:off x="3539438" y="2672475"/>
            <a:ext cx="1296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6" name="Google Shape;1786;p149"/>
          <p:cNvGrpSpPr/>
          <p:nvPr/>
        </p:nvGrpSpPr>
        <p:grpSpPr>
          <a:xfrm>
            <a:off x="3843100" y="2564802"/>
            <a:ext cx="2313000" cy="980100"/>
            <a:chOff x="6172488" y="2945690"/>
            <a:chExt cx="2313000" cy="980100"/>
          </a:xfrm>
        </p:grpSpPr>
        <p:grpSp>
          <p:nvGrpSpPr>
            <p:cNvPr id="1787" name="Google Shape;1787;p149"/>
            <p:cNvGrpSpPr/>
            <p:nvPr/>
          </p:nvGrpSpPr>
          <p:grpSpPr>
            <a:xfrm>
              <a:off x="6172488" y="2945690"/>
              <a:ext cx="2313000" cy="980100"/>
              <a:chOff x="8179563" y="2952602"/>
              <a:chExt cx="2313000" cy="980100"/>
            </a:xfrm>
          </p:grpSpPr>
          <p:sp>
            <p:nvSpPr>
              <p:cNvPr id="1788" name="Google Shape;1788;p149"/>
              <p:cNvSpPr txBox="1"/>
              <p:nvPr/>
            </p:nvSpPr>
            <p:spPr>
              <a:xfrm>
                <a:off x="8179563" y="2952602"/>
                <a:ext cx="23130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89" name="Google Shape;1789;p149"/>
              <p:cNvCxnSpPr/>
              <p:nvPr/>
            </p:nvCxnSpPr>
            <p:spPr>
              <a:xfrm>
                <a:off x="8696649" y="3314852"/>
                <a:ext cx="83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90" name="Google Shape;1790;p149"/>
            <p:cNvCxnSpPr/>
            <p:nvPr/>
          </p:nvCxnSpPr>
          <p:spPr>
            <a:xfrm rot="10800000">
              <a:off x="6705150" y="3309000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2}{5}=\frac{2}{5}\times\frac{20}{20}=\frac{2\times20}{5\times20}=\frac{40}{100}=40\%&quot;&gt;&lt;mfrac&gt;&lt;mn&gt;2&lt;/mn&gt;&lt;mn&gt;5&lt;/mn&gt;&lt;/mfrac&gt;&lt;mo&gt;=&lt;/mo&gt;&lt;mfrac&gt;&lt;mn&gt;2&lt;/mn&gt;&lt;mn&gt;5&lt;/mn&gt;&lt;/mfrac&gt;&lt;mo&gt;×&lt;/mo&gt;&lt;mfrac&gt;&lt;mn&gt;20&lt;/mn&gt;&lt;mn&gt;20&lt;/mn&gt;&lt;/mfrac&gt;&lt;mo&gt;=&lt;/mo&gt;&lt;mfrac&gt;&lt;mrow&gt;&lt;mn&gt;2&lt;/mn&gt;&lt;mo&gt;×&lt;/mo&gt;&lt;mn&gt;20&lt;/mn&gt;&lt;/mrow&gt;&lt;mrow&gt;&lt;mn&gt;5&lt;/mn&gt;&lt;mo&gt;×&lt;/mo&gt;&lt;mn&gt;20&lt;/mn&gt;&lt;/mrow&gt;&lt;/mfrac&gt;&lt;mo&gt;=&lt;/mo&gt;&lt;mfrac&gt;&lt;mn&gt;40&lt;/mn&gt;&lt;mn&gt;100&lt;/mn&gt;&lt;/mfrac&gt;&lt;mo&gt;=&lt;/mo&gt;&lt;mn&gt;40&lt;/mn&gt;&lt;mi mathvariant=&quot;normal&quot;&gt;%&lt;/mi&gt;&lt;/math&gt;" id="1791" name="Google Shape;1791;p149" title="two fifths equals two fifths times 20 over 20 equals the fraction with numerator 2 times 20 and denominator 5 times 20 equals 40 over 100 equals 40 percent sign"/>
          <p:cNvPicPr preferRelativeResize="0"/>
          <p:nvPr/>
        </p:nvPicPr>
        <p:blipFill rotWithShape="1">
          <a:blip r:embed="rId4">
            <a:alphaModFix/>
          </a:blip>
          <a:srcRect b="0" l="80638" r="0" t="0"/>
          <a:stretch/>
        </p:blipFill>
        <p:spPr>
          <a:xfrm>
            <a:off x="4071975" y="3358200"/>
            <a:ext cx="1016713" cy="71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149"/>
          <p:cNvSpPr txBox="1"/>
          <p:nvPr/>
        </p:nvSpPr>
        <p:spPr>
          <a:xfrm>
            <a:off x="1121163" y="12576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49"/>
          <p:cNvSpPr txBox="1"/>
          <p:nvPr/>
        </p:nvSpPr>
        <p:spPr>
          <a:xfrm>
            <a:off x="4199025" y="107443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49"/>
          <p:cNvSpPr txBox="1"/>
          <p:nvPr/>
        </p:nvSpPr>
        <p:spPr>
          <a:xfrm>
            <a:off x="369600" y="4015350"/>
            <a:ext cx="8004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and Andeep are correct. Sam needed to multiply 0.4 by 100 to convert to a percentage.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5" name="Google Shape;1795;p149"/>
          <p:cNvSpPr/>
          <p:nvPr/>
        </p:nvSpPr>
        <p:spPr>
          <a:xfrm>
            <a:off x="6230450" y="1260050"/>
            <a:ext cx="2251500" cy="273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49"/>
          <p:cNvSpPr txBox="1"/>
          <p:nvPr/>
        </p:nvSpPr>
        <p:spPr>
          <a:xfrm>
            <a:off x="7115050" y="2430913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49"/>
          <p:cNvSpPr txBox="1"/>
          <p:nvPr/>
        </p:nvSpPr>
        <p:spPr>
          <a:xfrm>
            <a:off x="7394973" y="253081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49"/>
          <p:cNvSpPr txBox="1"/>
          <p:nvPr/>
        </p:nvSpPr>
        <p:spPr>
          <a:xfrm>
            <a:off x="7547376" y="2530813"/>
            <a:ext cx="351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49"/>
          <p:cNvSpPr txBox="1"/>
          <p:nvPr/>
        </p:nvSpPr>
        <p:spPr>
          <a:xfrm>
            <a:off x="7466800" y="2800813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49"/>
          <p:cNvSpPr txBox="1"/>
          <p:nvPr/>
        </p:nvSpPr>
        <p:spPr>
          <a:xfrm>
            <a:off x="7394973" y="202247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49"/>
          <p:cNvSpPr txBox="1"/>
          <p:nvPr/>
        </p:nvSpPr>
        <p:spPr>
          <a:xfrm>
            <a:off x="7572250" y="2430913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2\ \div5&quot;&gt;&lt;mfrac&gt;&lt;mn&gt;2&lt;/mn&gt;&lt;mn&gt;5&lt;/mn&gt;&lt;/mfrac&gt;&lt;mo&gt;=&lt;/mo&gt;&lt;mn&gt;2&lt;/mn&gt;&lt;mtext&gt;&lt;/mtext&gt;&lt;mo&gt;÷&lt;/mo&gt;&lt;mn&gt;5&lt;/mn&gt;&lt;/math&gt;" id="1802" name="Google Shape;1802;p149" title="two fifths equals 2 division sign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934" y="1552887"/>
            <a:ext cx="1571525" cy="78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49"/>
          <p:cNvSpPr txBox="1"/>
          <p:nvPr/>
        </p:nvSpPr>
        <p:spPr>
          <a:xfrm>
            <a:off x="6230450" y="2638475"/>
            <a:ext cx="1296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4" name="Google Shape;1804;p149"/>
          <p:cNvGrpSpPr/>
          <p:nvPr/>
        </p:nvGrpSpPr>
        <p:grpSpPr>
          <a:xfrm>
            <a:off x="6534113" y="2530802"/>
            <a:ext cx="2313000" cy="980100"/>
            <a:chOff x="6172488" y="2945690"/>
            <a:chExt cx="2313000" cy="980100"/>
          </a:xfrm>
        </p:grpSpPr>
        <p:grpSp>
          <p:nvGrpSpPr>
            <p:cNvPr id="1805" name="Google Shape;1805;p149"/>
            <p:cNvGrpSpPr/>
            <p:nvPr/>
          </p:nvGrpSpPr>
          <p:grpSpPr>
            <a:xfrm>
              <a:off x="6172488" y="2945690"/>
              <a:ext cx="2313000" cy="980100"/>
              <a:chOff x="8179563" y="2952602"/>
              <a:chExt cx="2313000" cy="980100"/>
            </a:xfrm>
          </p:grpSpPr>
          <p:sp>
            <p:nvSpPr>
              <p:cNvPr id="1806" name="Google Shape;1806;p149"/>
              <p:cNvSpPr txBox="1"/>
              <p:nvPr/>
            </p:nvSpPr>
            <p:spPr>
              <a:xfrm>
                <a:off x="8179563" y="2952602"/>
                <a:ext cx="23130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807" name="Google Shape;1807;p149"/>
              <p:cNvCxnSpPr/>
              <p:nvPr/>
            </p:nvCxnSpPr>
            <p:spPr>
              <a:xfrm>
                <a:off x="8696649" y="3314852"/>
                <a:ext cx="83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808" name="Google Shape;1808;p149"/>
            <p:cNvCxnSpPr/>
            <p:nvPr/>
          </p:nvCxnSpPr>
          <p:spPr>
            <a:xfrm rot="10800000">
              <a:off x="6705150" y="3309000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=4\%&quot;&gt;&lt;mo&gt;=&lt;/mo&gt;&lt;mn&gt;4&lt;/mn&gt;&lt;mi mathvariant=&quot;normal&quot;&gt;%&lt;/mi&gt;&lt;/math&gt;" id="1809" name="Google Shape;1809;p149" title="equals 4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0474" y="3564325"/>
            <a:ext cx="800250" cy="282444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49"/>
          <p:cNvSpPr txBox="1"/>
          <p:nvPr/>
        </p:nvSpPr>
        <p:spPr>
          <a:xfrm>
            <a:off x="6937938" y="12576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50"/>
          <p:cNvSpPr txBox="1"/>
          <p:nvPr>
            <p:ph idx="1" type="body"/>
          </p:nvPr>
        </p:nvSpPr>
        <p:spPr>
          <a:xfrm>
            <a:off x="324000" y="759300"/>
            <a:ext cx="3552000" cy="4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-GB" sz="1700"/>
              <a:t>Only shade in the </a:t>
            </a:r>
            <a:r>
              <a:rPr lang="en-GB" sz="1700"/>
              <a:t>equivalent</a:t>
            </a:r>
            <a:r>
              <a:rPr b="1" lang="en-GB" sz="1700"/>
              <a:t> </a:t>
            </a:r>
            <a:r>
              <a:rPr lang="en-GB" sz="1700"/>
              <a:t>percentages of the following fractions. </a:t>
            </a:r>
            <a:endParaRPr sz="1700"/>
          </a:p>
        </p:txBody>
      </p:sp>
      <p:sp>
        <p:nvSpPr>
          <p:cNvPr id="1816" name="Google Shape;1816;p150"/>
          <p:cNvSpPr txBox="1"/>
          <p:nvPr>
            <p:ph type="title"/>
          </p:nvPr>
        </p:nvSpPr>
        <p:spPr>
          <a:xfrm>
            <a:off x="14031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17" name="Google Shape;1817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0" l="0" r="94203" t="0"/>
          <a:stretch/>
        </p:blipFill>
        <p:spPr>
          <a:xfrm>
            <a:off x="822589" y="1668775"/>
            <a:ext cx="367526" cy="145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18" name="Google Shape;1818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2" l="41147" r="44043" t="0"/>
          <a:stretch/>
        </p:blipFill>
        <p:spPr>
          <a:xfrm>
            <a:off x="710750" y="3257475"/>
            <a:ext cx="949600" cy="46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19" name="Google Shape;1819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588" l="48201" r="29063" t="34708"/>
          <a:stretch/>
        </p:blipFill>
        <p:spPr>
          <a:xfrm>
            <a:off x="612000" y="3816000"/>
            <a:ext cx="1281451" cy="89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775" y="166877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1000" y="1668775"/>
            <a:ext cx="80237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0125" y="218512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5325" y="218512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950" y="270147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225" y="270147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" name="Google Shape;1826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950" y="325747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225" y="325747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8" name="Google Shape;1828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950" y="3813475"/>
            <a:ext cx="9956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5325" y="381347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950" y="4322525"/>
            <a:ext cx="848225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1" name="Google Shape;1831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5325" y="4322525"/>
            <a:ext cx="848225" cy="4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150"/>
          <p:cNvSpPr/>
          <p:nvPr/>
        </p:nvSpPr>
        <p:spPr>
          <a:xfrm>
            <a:off x="710750" y="162167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50"/>
          <p:cNvSpPr/>
          <p:nvPr/>
        </p:nvSpPr>
        <p:spPr>
          <a:xfrm>
            <a:off x="2038350" y="162167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50"/>
          <p:cNvSpPr/>
          <p:nvPr/>
        </p:nvSpPr>
        <p:spPr>
          <a:xfrm>
            <a:off x="710750" y="216157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50"/>
          <p:cNvSpPr/>
          <p:nvPr/>
        </p:nvSpPr>
        <p:spPr>
          <a:xfrm>
            <a:off x="710750" y="268309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50"/>
          <p:cNvSpPr/>
          <p:nvPr/>
        </p:nvSpPr>
        <p:spPr>
          <a:xfrm>
            <a:off x="710750" y="322299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50"/>
          <p:cNvSpPr/>
          <p:nvPr/>
        </p:nvSpPr>
        <p:spPr>
          <a:xfrm>
            <a:off x="710750" y="3762900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50"/>
          <p:cNvSpPr/>
          <p:nvPr/>
        </p:nvSpPr>
        <p:spPr>
          <a:xfrm>
            <a:off x="710750" y="4302800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39" name="Google Shape;1839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832" l="77210" r="12223" t="31115"/>
          <a:stretch/>
        </p:blipFill>
        <p:spPr>
          <a:xfrm>
            <a:off x="1867164" y="3762900"/>
            <a:ext cx="639099" cy="10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40" name="Google Shape;1840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475" l="23298" r="69966" t="30620"/>
          <a:stretch/>
        </p:blipFill>
        <p:spPr>
          <a:xfrm>
            <a:off x="2007026" y="2101125"/>
            <a:ext cx="427050" cy="106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41" name="Google Shape;1841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1890" l="19020" r="75183" t="-6572"/>
          <a:stretch/>
        </p:blipFill>
        <p:spPr>
          <a:xfrm>
            <a:off x="2142350" y="1554987"/>
            <a:ext cx="367526" cy="65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42" name="Google Shape;1842;p15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2" l="65144" r="27423" t="0"/>
          <a:stretch/>
        </p:blipFill>
        <p:spPr>
          <a:xfrm>
            <a:off x="1957475" y="3227313"/>
            <a:ext cx="476600" cy="4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3" name="Google Shape;1843;p150"/>
          <p:cNvSpPr/>
          <p:nvPr/>
        </p:nvSpPr>
        <p:spPr>
          <a:xfrm>
            <a:off x="2038350" y="216157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50"/>
          <p:cNvSpPr/>
          <p:nvPr/>
        </p:nvSpPr>
        <p:spPr>
          <a:xfrm>
            <a:off x="2027113" y="2692288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50"/>
          <p:cNvSpPr/>
          <p:nvPr/>
        </p:nvSpPr>
        <p:spPr>
          <a:xfrm>
            <a:off x="2027113" y="3232188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50"/>
          <p:cNvSpPr/>
          <p:nvPr/>
        </p:nvSpPr>
        <p:spPr>
          <a:xfrm>
            <a:off x="2027113" y="3759088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50"/>
          <p:cNvSpPr/>
          <p:nvPr/>
        </p:nvSpPr>
        <p:spPr>
          <a:xfrm>
            <a:off x="2027113" y="4298988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8" name="Google Shape;1848;p150"/>
          <p:cNvGraphicFramePr/>
          <p:nvPr/>
        </p:nvGraphicFramePr>
        <p:xfrm>
          <a:off x="4060675" y="89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740275"/>
                <a:gridCol w="740275"/>
                <a:gridCol w="740275"/>
                <a:gridCol w="740275"/>
                <a:gridCol w="740275"/>
                <a:gridCol w="740275"/>
              </a:tblGrid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15.5%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51"/>
          <p:cNvSpPr txBox="1"/>
          <p:nvPr>
            <p:ph idx="1" type="body"/>
          </p:nvPr>
        </p:nvSpPr>
        <p:spPr>
          <a:xfrm>
            <a:off x="324000" y="759300"/>
            <a:ext cx="8237700" cy="39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Convert the following fractions into a percentage. Give your answers correct to 1 decimal place if needed.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                                                   </a:t>
            </a: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                                                     d)</a:t>
            </a:r>
            <a:endParaRPr sz="13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1854" name="Google Shape;1854;p151" title="1 over 11 equals 1 divided by 11 equals the repeating decimal 0 point followed by repeating digits 0 9"/>
          <p:cNvPicPr preferRelativeResize="0"/>
          <p:nvPr/>
        </p:nvPicPr>
        <p:blipFill rotWithShape="1">
          <a:blip r:embed="rId3">
            <a:alphaModFix/>
          </a:blip>
          <a:srcRect b="0" l="0" r="84177" t="0"/>
          <a:stretch/>
        </p:blipFill>
        <p:spPr>
          <a:xfrm>
            <a:off x="5376274" y="3444063"/>
            <a:ext cx="435300" cy="6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1855" name="Google Shape;1855;p151" title="2 lines Line 1: one eighth Line 2: one third"/>
          <p:cNvPicPr preferRelativeResize="0"/>
          <p:nvPr/>
        </p:nvPicPr>
        <p:blipFill rotWithShape="1">
          <a:blip r:embed="rId4">
            <a:alphaModFix/>
          </a:blip>
          <a:srcRect b="50214" l="0" r="0" t="0"/>
          <a:stretch/>
        </p:blipFill>
        <p:spPr>
          <a:xfrm>
            <a:off x="692723" y="3498197"/>
            <a:ext cx="241854" cy="770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=\ 0.35&quot;&gt;&lt;mfrac&gt;&lt;mn&gt;7&lt;/mn&gt;&lt;mn&gt;20&lt;/mn&gt;&lt;/mfrac&gt;&lt;mo&gt;=&lt;/mo&gt;&lt;mtext&gt;&lt;/mtext&gt;&lt;mn&gt;0.35&lt;/mn&gt;&lt;/math&gt;" id="1856" name="Google Shape;1856;p151" title="7 over 20 equals 0.35"/>
          <p:cNvPicPr preferRelativeResize="0"/>
          <p:nvPr/>
        </p:nvPicPr>
        <p:blipFill rotWithShape="1">
          <a:blip r:embed="rId5">
            <a:alphaModFix/>
          </a:blip>
          <a:srcRect b="0" l="0" r="66903" t="0"/>
          <a:stretch/>
        </p:blipFill>
        <p:spPr>
          <a:xfrm>
            <a:off x="5376267" y="1994100"/>
            <a:ext cx="4353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857" name="Google Shape;1857;p151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7225" y="2030200"/>
            <a:ext cx="19086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151"/>
          <p:cNvSpPr txBox="1"/>
          <p:nvPr>
            <p:ph type="title"/>
          </p:nvPr>
        </p:nvSpPr>
        <p:spPr>
          <a:xfrm>
            <a:off x="14031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52"/>
          <p:cNvSpPr txBox="1"/>
          <p:nvPr>
            <p:ph idx="1" type="body"/>
          </p:nvPr>
        </p:nvSpPr>
        <p:spPr>
          <a:xfrm>
            <a:off x="324000" y="759300"/>
            <a:ext cx="36195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arenR"/>
            </a:pPr>
            <a:r>
              <a:rPr lang="en-GB" sz="1700"/>
              <a:t>Only shade in the </a:t>
            </a:r>
            <a:r>
              <a:rPr lang="en-GB" sz="1700"/>
              <a:t>equivalent</a:t>
            </a:r>
            <a:r>
              <a:rPr b="1" lang="en-GB" sz="1700"/>
              <a:t> </a:t>
            </a:r>
            <a:r>
              <a:rPr lang="en-GB" sz="1700"/>
              <a:t>percentages of the following fractions. 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64" name="Google Shape;1864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832" l="77211" r="-2733" t="31115"/>
          <a:stretch/>
        </p:blipFill>
        <p:spPr>
          <a:xfrm>
            <a:off x="1867199" y="3762900"/>
            <a:ext cx="1453475" cy="950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65" name="Google Shape;1865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475" l="23297" r="55211" t="30620"/>
          <a:stretch/>
        </p:blipFill>
        <p:spPr>
          <a:xfrm>
            <a:off x="2007022" y="2101125"/>
            <a:ext cx="1362574" cy="106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66" name="Google Shape;1866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7686" l="19021" r="61622" t="-6571"/>
          <a:stretch/>
        </p:blipFill>
        <p:spPr>
          <a:xfrm>
            <a:off x="2142350" y="1555000"/>
            <a:ext cx="1227250" cy="56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67" name="Google Shape;1867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4" l="65143" r="12190" t="0"/>
          <a:stretch/>
        </p:blipFill>
        <p:spPr>
          <a:xfrm>
            <a:off x="1957474" y="3227325"/>
            <a:ext cx="1453475" cy="469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8" name="Google Shape;1868;p152"/>
          <p:cNvGraphicFramePr/>
          <p:nvPr/>
        </p:nvGraphicFramePr>
        <p:xfrm>
          <a:off x="4060675" y="89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740275"/>
                <a:gridCol w="740275"/>
                <a:gridCol w="740275"/>
                <a:gridCol w="740275"/>
                <a:gridCol w="740275"/>
                <a:gridCol w="740275"/>
              </a:tblGrid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15.5%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69" name="Google Shape;1869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0" l="0" r="80644" t="0"/>
          <a:stretch/>
        </p:blipFill>
        <p:spPr>
          <a:xfrm>
            <a:off x="822625" y="1668775"/>
            <a:ext cx="1184401" cy="1404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70" name="Google Shape;1870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2" l="41146" r="38870" t="0"/>
          <a:stretch/>
        </p:blipFill>
        <p:spPr>
          <a:xfrm>
            <a:off x="710750" y="3257475"/>
            <a:ext cx="1227250" cy="4497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71" name="Google Shape;1871;p152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588" l="48202" r="26010" t="34708"/>
          <a:stretch/>
        </p:blipFill>
        <p:spPr>
          <a:xfrm>
            <a:off x="574800" y="3780001"/>
            <a:ext cx="1362574" cy="9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2" name="Google Shape;1872;p152"/>
          <p:cNvSpPr/>
          <p:nvPr/>
        </p:nvSpPr>
        <p:spPr>
          <a:xfrm>
            <a:off x="710750" y="162167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152"/>
          <p:cNvSpPr/>
          <p:nvPr/>
        </p:nvSpPr>
        <p:spPr>
          <a:xfrm>
            <a:off x="2038350" y="1621675"/>
            <a:ext cx="13314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52"/>
          <p:cNvSpPr/>
          <p:nvPr/>
        </p:nvSpPr>
        <p:spPr>
          <a:xfrm>
            <a:off x="710750" y="216157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52"/>
          <p:cNvSpPr/>
          <p:nvPr/>
        </p:nvSpPr>
        <p:spPr>
          <a:xfrm>
            <a:off x="710750" y="268309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52"/>
          <p:cNvSpPr/>
          <p:nvPr/>
        </p:nvSpPr>
        <p:spPr>
          <a:xfrm>
            <a:off x="710750" y="3222995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52"/>
          <p:cNvSpPr/>
          <p:nvPr/>
        </p:nvSpPr>
        <p:spPr>
          <a:xfrm>
            <a:off x="710750" y="3762900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52"/>
          <p:cNvSpPr/>
          <p:nvPr/>
        </p:nvSpPr>
        <p:spPr>
          <a:xfrm>
            <a:off x="710750" y="4302800"/>
            <a:ext cx="1263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52"/>
          <p:cNvSpPr/>
          <p:nvPr/>
        </p:nvSpPr>
        <p:spPr>
          <a:xfrm>
            <a:off x="2038864" y="2161575"/>
            <a:ext cx="1319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52"/>
          <p:cNvSpPr/>
          <p:nvPr/>
        </p:nvSpPr>
        <p:spPr>
          <a:xfrm>
            <a:off x="2027125" y="2692290"/>
            <a:ext cx="1319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52"/>
          <p:cNvSpPr/>
          <p:nvPr/>
        </p:nvSpPr>
        <p:spPr>
          <a:xfrm>
            <a:off x="2027125" y="3232193"/>
            <a:ext cx="1319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52"/>
          <p:cNvSpPr/>
          <p:nvPr/>
        </p:nvSpPr>
        <p:spPr>
          <a:xfrm>
            <a:off x="2027125" y="3759095"/>
            <a:ext cx="1319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2"/>
          <p:cNvSpPr/>
          <p:nvPr/>
        </p:nvSpPr>
        <p:spPr>
          <a:xfrm>
            <a:off x="2027125" y="4298998"/>
            <a:ext cx="1319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4" name="Google Shape;1884;p152"/>
          <p:cNvGraphicFramePr/>
          <p:nvPr/>
        </p:nvGraphicFramePr>
        <p:xfrm>
          <a:off x="4060675" y="89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740275"/>
                <a:gridCol w="740275"/>
                <a:gridCol w="740275"/>
                <a:gridCol w="740275"/>
                <a:gridCol w="740275"/>
                <a:gridCol w="740275"/>
              </a:tblGrid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15.5%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63%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885" name="Google Shape;1885;p152"/>
          <p:cNvGrpSpPr/>
          <p:nvPr/>
        </p:nvGrpSpPr>
        <p:grpSpPr>
          <a:xfrm>
            <a:off x="1036725" y="1636625"/>
            <a:ext cx="2282463" cy="3092475"/>
            <a:chOff x="1036725" y="1636625"/>
            <a:chExt cx="2282463" cy="3092475"/>
          </a:xfrm>
        </p:grpSpPr>
        <p:pic>
          <p:nvPicPr>
            <p:cNvPr id="1886" name="Google Shape;1886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36725" y="1666850"/>
              <a:ext cx="900650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7" name="Google Shape;1887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3400" y="2195900"/>
              <a:ext cx="900650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8" name="Google Shape;1888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3400" y="2709450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9" name="Google Shape;1889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3400" y="326651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0" name="Google Shape;1890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1738" y="3784650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1" name="Google Shape;1891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1750" y="4346325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2" name="Google Shape;1892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55213" y="1636625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3" name="Google Shape;1893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55213" y="2200500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4" name="Google Shape;1894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273796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5" name="Google Shape;1895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327111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6" name="Google Shape;1896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380911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7" name="Google Shape;1897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4334125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8" name="Google Shape;1898;p152"/>
          <p:cNvSpPr txBox="1"/>
          <p:nvPr>
            <p:ph type="title"/>
          </p:nvPr>
        </p:nvSpPr>
        <p:spPr>
          <a:xfrm>
            <a:off x="14031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53"/>
          <p:cNvSpPr txBox="1"/>
          <p:nvPr>
            <p:ph idx="1" type="body"/>
          </p:nvPr>
        </p:nvSpPr>
        <p:spPr>
          <a:xfrm>
            <a:off x="324000" y="759300"/>
            <a:ext cx="8237700" cy="9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Convert the following fractions into a percentage. Give your answers correct to 1 decimal place if needed.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    </a:t>
            </a:r>
            <a:r>
              <a:rPr lang="en-GB"/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20}=\ 0.35&quot;&gt;&lt;mfrac&gt;&lt;mn&gt;7&lt;/mn&gt;&lt;mn&gt;20&lt;/mn&gt;&lt;/mfrac&gt;&lt;mo&gt;=&lt;/mo&gt;&lt;mtext&gt;&lt;/mtext&gt;&lt;mn&gt;0.35&lt;/mn&gt;&lt;/math&gt;" id="1904" name="Google Shape;1904;p153" title="7 over 20 equals 0.35"/>
          <p:cNvPicPr preferRelativeResize="0"/>
          <p:nvPr/>
        </p:nvPicPr>
        <p:blipFill rotWithShape="1">
          <a:blip r:embed="rId3">
            <a:alphaModFix/>
          </a:blip>
          <a:srcRect b="0" l="0" r="66903" t="0"/>
          <a:stretch/>
        </p:blipFill>
        <p:spPr>
          <a:xfrm>
            <a:off x="5295442" y="1620000"/>
            <a:ext cx="4353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905" name="Google Shape;1905;p153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400" y="1620000"/>
            <a:ext cx="19086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6" name="Google Shape;1906;p153"/>
          <p:cNvSpPr txBox="1"/>
          <p:nvPr/>
        </p:nvSpPr>
        <p:spPr>
          <a:xfrm>
            <a:off x="804863" y="3557463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53"/>
          <p:cNvSpPr txBox="1"/>
          <p:nvPr/>
        </p:nvSpPr>
        <p:spPr>
          <a:xfrm>
            <a:off x="1084786" y="365736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53"/>
          <p:cNvSpPr txBox="1"/>
          <p:nvPr/>
        </p:nvSpPr>
        <p:spPr>
          <a:xfrm>
            <a:off x="1237188" y="3657363"/>
            <a:ext cx="351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53"/>
          <p:cNvSpPr txBox="1"/>
          <p:nvPr/>
        </p:nvSpPr>
        <p:spPr>
          <a:xfrm>
            <a:off x="1156613" y="3927363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153"/>
          <p:cNvSpPr txBox="1"/>
          <p:nvPr/>
        </p:nvSpPr>
        <p:spPr>
          <a:xfrm>
            <a:off x="1084786" y="314902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53"/>
          <p:cNvSpPr txBox="1"/>
          <p:nvPr/>
        </p:nvSpPr>
        <p:spPr>
          <a:xfrm>
            <a:off x="1197937" y="3554150"/>
            <a:ext cx="830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2" name="Google Shape;1912;p153"/>
          <p:cNvGrpSpPr/>
          <p:nvPr/>
        </p:nvGrpSpPr>
        <p:grpSpPr>
          <a:xfrm>
            <a:off x="370835" y="3623965"/>
            <a:ext cx="1792112" cy="980100"/>
            <a:chOff x="6021387" y="2912312"/>
            <a:chExt cx="2313000" cy="980100"/>
          </a:xfrm>
        </p:grpSpPr>
        <p:grpSp>
          <p:nvGrpSpPr>
            <p:cNvPr id="1913" name="Google Shape;1913;p153"/>
            <p:cNvGrpSpPr/>
            <p:nvPr/>
          </p:nvGrpSpPr>
          <p:grpSpPr>
            <a:xfrm>
              <a:off x="6021387" y="2912312"/>
              <a:ext cx="2313000" cy="980100"/>
              <a:chOff x="8028462" y="2919225"/>
              <a:chExt cx="2313000" cy="980100"/>
            </a:xfrm>
          </p:grpSpPr>
          <p:sp>
            <p:nvSpPr>
              <p:cNvPr id="1914" name="Google Shape;1914;p153"/>
              <p:cNvSpPr txBox="1"/>
              <p:nvPr/>
            </p:nvSpPr>
            <p:spPr>
              <a:xfrm>
                <a:off x="8028462" y="2919225"/>
                <a:ext cx="23130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 5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15" name="Google Shape;1915;p153"/>
              <p:cNvCxnSpPr/>
              <p:nvPr/>
            </p:nvCxnSpPr>
            <p:spPr>
              <a:xfrm>
                <a:off x="8696649" y="3314852"/>
                <a:ext cx="83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916" name="Google Shape;1916;p153"/>
            <p:cNvCxnSpPr/>
            <p:nvPr/>
          </p:nvCxnSpPr>
          <p:spPr>
            <a:xfrm rot="10800000">
              <a:off x="6705150" y="3309000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3}{5}=\frac{3\times20}{5\times20}=\frac{60}{100}=60\%&quot;&gt;&lt;mfrac&gt;&lt;mn&gt;3&lt;/mn&gt;&lt;mn&gt;5&lt;/mn&gt;&lt;/mfrac&gt;&lt;mo&gt;=&lt;/mo&gt;&lt;mfrac&gt;&lt;mrow&gt;&lt;mn&gt;3&lt;/mn&gt;&lt;mo&gt;×&lt;/mo&gt;&lt;mn&gt;20&lt;/mn&gt;&lt;/mrow&gt;&lt;mrow&gt;&lt;mn&gt;5&lt;/mn&gt;&lt;mo&gt;×&lt;/mo&gt;&lt;mn&gt;20&lt;/mn&gt;&lt;/mrow&gt;&lt;/mfrac&gt;&lt;mo&gt;=&lt;/mo&gt;&lt;mfrac&gt;&lt;mn&gt;60&lt;/mn&gt;&lt;mn&gt;100&lt;/mn&gt;&lt;/mfrac&gt;&lt;mo&gt;=&lt;/mo&gt;&lt;mn&gt;60&lt;/mn&gt;&lt;mi mathvariant=&quot;normal&quot;&gt;%&lt;/mi&gt;&lt;/math&gt;" id="1917" name="Google Shape;1917;p153" title="three fifths equals the fraction with numerator 3 times 20 and denominator 5 times 20 equals 60 over 100 equals 60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825" y="2767350"/>
            <a:ext cx="3484412" cy="66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6=60\%&quot;&gt;&lt;mn&gt;0.6&lt;/mn&gt;&lt;mo&gt;=&lt;/mo&gt;&lt;mn&gt;60&lt;/mn&gt;&lt;mi mathvariant=&quot;normal&quot;&gt;%&lt;/mi&gt;&lt;/math&gt;" id="1918" name="Google Shape;1918;p153" title="0.6 equals 60 percent sig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1398" y="4059925"/>
            <a:ext cx="1462952" cy="26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9" name="Google Shape;1919;p153"/>
          <p:cNvGrpSpPr/>
          <p:nvPr/>
        </p:nvGrpSpPr>
        <p:grpSpPr>
          <a:xfrm>
            <a:off x="4929613" y="3035776"/>
            <a:ext cx="2070825" cy="1488434"/>
            <a:chOff x="6699175" y="1403701"/>
            <a:chExt cx="2070825" cy="1488434"/>
          </a:xfrm>
        </p:grpSpPr>
        <p:grpSp>
          <p:nvGrpSpPr>
            <p:cNvPr id="1920" name="Google Shape;1920;p153"/>
            <p:cNvGrpSpPr/>
            <p:nvPr/>
          </p:nvGrpSpPr>
          <p:grpSpPr>
            <a:xfrm>
              <a:off x="6699175" y="1403701"/>
              <a:ext cx="2070825" cy="1488434"/>
              <a:chOff x="6699175" y="1403701"/>
              <a:chExt cx="2070825" cy="1488434"/>
            </a:xfrm>
          </p:grpSpPr>
          <p:grpSp>
            <p:nvGrpSpPr>
              <p:cNvPr id="1921" name="Google Shape;1921;p153"/>
              <p:cNvGrpSpPr/>
              <p:nvPr/>
            </p:nvGrpSpPr>
            <p:grpSpPr>
              <a:xfrm>
                <a:off x="6699175" y="1903680"/>
                <a:ext cx="2070825" cy="980100"/>
                <a:chOff x="2482950" y="2259775"/>
                <a:chExt cx="4740900" cy="980100"/>
              </a:xfrm>
            </p:grpSpPr>
            <p:sp>
              <p:nvSpPr>
                <p:cNvPr id="1922" name="Google Shape;1922;p153"/>
                <p:cNvSpPr txBox="1"/>
                <p:nvPr/>
              </p:nvSpPr>
              <p:spPr>
                <a:xfrm>
                  <a:off x="2482950" y="2259775"/>
                  <a:ext cx="4740900" cy="98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20</a:t>
                  </a:r>
                  <a:r>
                    <a:rPr lang="en-GB" sz="55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r>
                    <a:rPr lang="en-GB" sz="36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</a:t>
                  </a:r>
                  <a:r>
                    <a:rPr lang="en-GB" sz="22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7</a:t>
                  </a:r>
                  <a:endParaRPr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1923" name="Google Shape;1923;p153"/>
                <p:cNvCxnSpPr/>
                <p:nvPr/>
              </p:nvCxnSpPr>
              <p:spPr>
                <a:xfrm>
                  <a:off x="3896099" y="2614552"/>
                  <a:ext cx="29994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24" name="Google Shape;1924;p153"/>
              <p:cNvSpPr txBox="1"/>
              <p:nvPr/>
            </p:nvSpPr>
            <p:spPr>
              <a:xfrm>
                <a:off x="8130030" y="2305177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5" name="Google Shape;1925;p153"/>
              <p:cNvSpPr txBox="1"/>
              <p:nvPr/>
            </p:nvSpPr>
            <p:spPr>
              <a:xfrm>
                <a:off x="7496809" y="1812136"/>
                <a:ext cx="435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6" name="Google Shape;1926;p153"/>
              <p:cNvSpPr txBox="1"/>
              <p:nvPr/>
            </p:nvSpPr>
            <p:spPr>
              <a:xfrm>
                <a:off x="7700532" y="1912036"/>
                <a:ext cx="2379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7" name="Google Shape;1927;p153"/>
              <p:cNvSpPr txBox="1"/>
              <p:nvPr/>
            </p:nvSpPr>
            <p:spPr>
              <a:xfrm>
                <a:off x="7700532" y="1403701"/>
                <a:ext cx="2379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.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8" name="Google Shape;1928;p153"/>
              <p:cNvSpPr txBox="1"/>
              <p:nvPr/>
            </p:nvSpPr>
            <p:spPr>
              <a:xfrm>
                <a:off x="7822857" y="1812136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9" name="Google Shape;1929;p153"/>
              <p:cNvSpPr txBox="1"/>
              <p:nvPr/>
            </p:nvSpPr>
            <p:spPr>
              <a:xfrm>
                <a:off x="8051457" y="1812136"/>
                <a:ext cx="435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0" name="Google Shape;1930;p153"/>
              <p:cNvSpPr txBox="1"/>
              <p:nvPr/>
            </p:nvSpPr>
            <p:spPr>
              <a:xfrm>
                <a:off x="7968200" y="2175925"/>
                <a:ext cx="4887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1" name="Google Shape;1931;p153"/>
              <p:cNvSpPr txBox="1"/>
              <p:nvPr/>
            </p:nvSpPr>
            <p:spPr>
              <a:xfrm>
                <a:off x="7723513" y="2182036"/>
                <a:ext cx="2379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2" name="Google Shape;1932;p153"/>
              <p:cNvSpPr txBox="1"/>
              <p:nvPr/>
            </p:nvSpPr>
            <p:spPr>
              <a:xfrm>
                <a:off x="7825230" y="2305177"/>
                <a:ext cx="327000" cy="3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933" name="Google Shape;1933;p153"/>
            <p:cNvCxnSpPr/>
            <p:nvPr/>
          </p:nvCxnSpPr>
          <p:spPr>
            <a:xfrm rot="10800000">
              <a:off x="7334208" y="2265467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0.35=35\%&quot;&gt;&lt;mn&gt;0.35&lt;/mn&gt;&lt;mo&gt;=&lt;/mo&gt;&lt;mn&gt;35&lt;/mn&gt;&lt;mi mathvariant=&quot;normal&quot;&gt;%&lt;/mi&gt;&lt;/math&gt;" id="1934" name="Google Shape;1934;p153" title="0.35 equals 35 percent sig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42125" y="4059913"/>
            <a:ext cx="1641777" cy="26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=\frac{7\times5}{20\times5}=\frac{35}{100}=35\%&quot;&gt;&lt;mfrac&gt;&lt;mn&gt;7&lt;/mn&gt;&lt;mn&gt;20&lt;/mn&gt;&lt;/mfrac&gt;&lt;mo&gt;=&lt;/mo&gt;&lt;mfrac&gt;&lt;mrow&gt;&lt;mn&gt;7&lt;/mn&gt;&lt;mo&gt;×&lt;/mo&gt;&lt;mn&gt;5&lt;/mn&gt;&lt;/mrow&gt;&lt;mrow&gt;&lt;mn&gt;20&lt;/mn&gt;&lt;mo&gt;×&lt;/mo&gt;&lt;mn&gt;5&lt;/mn&gt;&lt;/mrow&gt;&lt;/mfrac&gt;&lt;mo&gt;=&lt;/mo&gt;&lt;mfrac&gt;&lt;mn&gt;35&lt;/mn&gt;&lt;mn&gt;100&lt;/mn&gt;&lt;/mfrac&gt;&lt;mo&gt;=&lt;/mo&gt;&lt;mn&gt;35&lt;/mn&gt;&lt;mi mathvariant=&quot;normal&quot;&gt;%&lt;/mi&gt;&lt;/math&gt;" id="1935" name="Google Shape;1935;p153" title="7 over 20 equals the fraction with numerator 7 times 5 and denominator 20 times 5 equals 35 over 100 equals 35 percent sig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1950" y="2700001"/>
            <a:ext cx="3638046" cy="6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53"/>
          <p:cNvSpPr txBox="1"/>
          <p:nvPr>
            <p:ph type="title"/>
          </p:nvPr>
        </p:nvSpPr>
        <p:spPr>
          <a:xfrm>
            <a:off x="14031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0.\dot{0}\dot{9}\ =\ 0.0909...=9.\dot{0}\dot{9}\%=9.1\%&quot;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mtext&gt;&lt;/mtext&gt;&lt;mo&gt;=&lt;/mo&gt;&lt;mtext&gt;&lt;/mtext&gt;&lt;mn&gt;0.0909&lt;/mn&gt;&lt;mo&gt;.&lt;/mo&gt;&lt;mo&gt;.&lt;/mo&gt;&lt;mo&gt;.&lt;/mo&gt;&lt;mo&gt;=&lt;/mo&gt;&lt;mn&gt;9.&lt;/mn&gt;&lt;mrow data-mjx-texclass=&quot;ORD&quot;&gt;&lt;mover&gt;&lt;mn&gt;0&lt;/mn&gt;&lt;mo&gt;˙&lt;/mo&gt;&lt;/mover&gt;&lt;/mrow&gt;&lt;mrow data-mjx-texclass=&quot;ORD&quot;&gt;&lt;mover&gt;&lt;mn&gt;9&lt;/mn&gt;&lt;mo&gt;˙&lt;/mo&gt;&lt;/mover&gt;&lt;/mrow&gt;&lt;mi mathvariant=&quot;normal&quot;&gt;%&lt;/mi&gt;&lt;mo&gt;=&lt;/mo&gt;&lt;mn&gt;9.1&lt;/mn&gt;&lt;mi mathvariant=&quot;normal&quot;&gt;%&lt;/mi&gt;&lt;/math&gt;" id="1941" name="Google Shape;1941;p154" title="the repeating decimal 0 point followed by repeating digits 0 9 dot above equals 0.0909 period period period equals the repeating decimal 9 point followed by repeating digit 0 9 percent sign equals 9.1 percent sig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389" y="4102250"/>
            <a:ext cx="4377546" cy="2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2" name="Google Shape;1942;p154"/>
          <p:cNvSpPr txBox="1"/>
          <p:nvPr>
            <p:ph idx="1" type="body"/>
          </p:nvPr>
        </p:nvSpPr>
        <p:spPr>
          <a:xfrm>
            <a:off x="369125" y="759300"/>
            <a:ext cx="8237700" cy="9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Convert the following fractions into a percentage. Give your answers correct to 1 decimal place if needed.</a:t>
            </a:r>
            <a:endParaRPr sz="21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                                                    d)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154"/>
          <p:cNvSpPr txBox="1"/>
          <p:nvPr/>
        </p:nvSpPr>
        <p:spPr>
          <a:xfrm>
            <a:off x="3425195" y="28753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1944" name="Google Shape;1944;p154" title="1 over 11 equals 1 divided by 11 equals the repeating decimal 0 point followed by repeating digits 0 9"/>
          <p:cNvPicPr preferRelativeResize="0"/>
          <p:nvPr/>
        </p:nvPicPr>
        <p:blipFill rotWithShape="1">
          <a:blip r:embed="rId4">
            <a:alphaModFix/>
          </a:blip>
          <a:srcRect b="0" l="0" r="84177" t="0"/>
          <a:stretch/>
        </p:blipFill>
        <p:spPr>
          <a:xfrm>
            <a:off x="5217049" y="1555575"/>
            <a:ext cx="435300" cy="6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1945" name="Google Shape;1945;p154" title="1 over 11 equals 1 divided by 11 equals the repeating decimal 0 point followed by repeating digits 0 9"/>
          <p:cNvPicPr preferRelativeResize="0"/>
          <p:nvPr/>
        </p:nvPicPr>
        <p:blipFill rotWithShape="1">
          <a:blip r:embed="rId4">
            <a:alphaModFix/>
          </a:blip>
          <a:srcRect b="0" l="15631" r="39436" t="0"/>
          <a:stretch/>
        </p:blipFill>
        <p:spPr>
          <a:xfrm>
            <a:off x="5629428" y="1565000"/>
            <a:ext cx="1236126" cy="6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1946" name="Google Shape;1946;p154" title="2 lines Line 1: one eighth Line 2: one third"/>
          <p:cNvPicPr preferRelativeResize="0"/>
          <p:nvPr/>
        </p:nvPicPr>
        <p:blipFill rotWithShape="1">
          <a:blip r:embed="rId5">
            <a:alphaModFix/>
          </a:blip>
          <a:srcRect b="50214" l="0" r="0" t="0"/>
          <a:stretch/>
        </p:blipFill>
        <p:spPr>
          <a:xfrm>
            <a:off x="814648" y="1707985"/>
            <a:ext cx="241854" cy="770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25=12.5\%&quot;&gt;&lt;mn&gt;0.125&lt;/mn&gt;&lt;mo&gt;=&lt;/mo&gt;&lt;mn&gt;12.5&lt;/mn&gt;&lt;mi mathvariant=&quot;normal&quot;&gt;%&lt;/mi&gt;&lt;/math&gt;" id="1947" name="Google Shape;1947;p154" title="0.125 equals 12.5 percent sig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25" y="3983687"/>
            <a:ext cx="2190675" cy="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154"/>
          <p:cNvSpPr txBox="1"/>
          <p:nvPr>
            <p:ph type="title"/>
          </p:nvPr>
        </p:nvSpPr>
        <p:spPr>
          <a:xfrm>
            <a:off x="14031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949" name="Google Shape;1949;p154"/>
          <p:cNvSpPr txBox="1"/>
          <p:nvPr/>
        </p:nvSpPr>
        <p:spPr>
          <a:xfrm>
            <a:off x="3653795" y="28753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1950" name="Google Shape;1950;p154" title="2 lines Line 1: one eighth Line 2: one third"/>
          <p:cNvPicPr preferRelativeResize="0"/>
          <p:nvPr/>
        </p:nvPicPr>
        <p:blipFill rotWithShape="1">
          <a:blip r:embed="rId5">
            <a:alphaModFix/>
          </a:blip>
          <a:srcRect b="50214" l="0" r="0" t="0"/>
          <a:stretch/>
        </p:blipFill>
        <p:spPr>
          <a:xfrm>
            <a:off x="543923" y="2649010"/>
            <a:ext cx="241854" cy="7705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154"/>
          <p:cNvSpPr txBox="1"/>
          <p:nvPr/>
        </p:nvSpPr>
        <p:spPr>
          <a:xfrm>
            <a:off x="3096773" y="23823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54"/>
          <p:cNvSpPr txBox="1"/>
          <p:nvPr/>
        </p:nvSpPr>
        <p:spPr>
          <a:xfrm>
            <a:off x="3300497" y="248223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54"/>
          <p:cNvSpPr txBox="1"/>
          <p:nvPr/>
        </p:nvSpPr>
        <p:spPr>
          <a:xfrm>
            <a:off x="3300497" y="197390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54"/>
          <p:cNvSpPr txBox="1"/>
          <p:nvPr/>
        </p:nvSpPr>
        <p:spPr>
          <a:xfrm>
            <a:off x="3422822" y="2382338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54"/>
          <p:cNvSpPr txBox="1"/>
          <p:nvPr/>
        </p:nvSpPr>
        <p:spPr>
          <a:xfrm>
            <a:off x="3651422" y="23823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54"/>
          <p:cNvSpPr txBox="1"/>
          <p:nvPr/>
        </p:nvSpPr>
        <p:spPr>
          <a:xfrm>
            <a:off x="3568168" y="274613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54"/>
          <p:cNvSpPr txBox="1"/>
          <p:nvPr/>
        </p:nvSpPr>
        <p:spPr>
          <a:xfrm>
            <a:off x="3323477" y="275223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8}=0.125\end{array}&quot;&gt;&lt;mtable columnalign=&quot;left&quot; columnspacing=&quot;1em&quot; rowspacing=&quot;4pt&quot;&gt;&lt;mtr&gt;&lt;mtd&gt;&lt;mfrac&gt;&lt;mn&gt;1&lt;/mn&gt;&lt;mn&gt;8&lt;/mn&gt;&lt;/mfrac&gt;&lt;mo&gt;=&lt;/mo&gt;&lt;mn&gt;0.125&lt;/mn&gt;&lt;/mtd&gt;&lt;/mtr&gt;&lt;/mtable&gt;&lt;/math&gt;" id="1958" name="Google Shape;1958;p154" title="1 lines Line 1: one eighth equals 0.125"/>
          <p:cNvPicPr preferRelativeResize="0"/>
          <p:nvPr/>
        </p:nvPicPr>
        <p:blipFill rotWithShape="1">
          <a:blip r:embed="rId7">
            <a:alphaModFix/>
          </a:blip>
          <a:srcRect b="0" l="19491" r="0" t="0"/>
          <a:stretch/>
        </p:blipFill>
        <p:spPr>
          <a:xfrm>
            <a:off x="841124" y="2746913"/>
            <a:ext cx="1255800" cy="530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9" name="Google Shape;1959;p154"/>
          <p:cNvGrpSpPr/>
          <p:nvPr/>
        </p:nvGrpSpPr>
        <p:grpSpPr>
          <a:xfrm>
            <a:off x="2506257" y="2462622"/>
            <a:ext cx="1932300" cy="980100"/>
            <a:chOff x="2506257" y="2462622"/>
            <a:chExt cx="1932300" cy="980100"/>
          </a:xfrm>
        </p:grpSpPr>
        <p:grpSp>
          <p:nvGrpSpPr>
            <p:cNvPr id="1960" name="Google Shape;1960;p154"/>
            <p:cNvGrpSpPr/>
            <p:nvPr/>
          </p:nvGrpSpPr>
          <p:grpSpPr>
            <a:xfrm>
              <a:off x="2506257" y="2462622"/>
              <a:ext cx="1932300" cy="980100"/>
              <a:chOff x="9830005" y="1996275"/>
              <a:chExt cx="1932300" cy="980100"/>
            </a:xfrm>
          </p:grpSpPr>
          <p:sp>
            <p:nvSpPr>
              <p:cNvPr id="1961" name="Google Shape;1961;p154"/>
              <p:cNvSpPr txBox="1"/>
              <p:nvPr/>
            </p:nvSpPr>
            <p:spPr>
              <a:xfrm>
                <a:off x="9830005" y="1996275"/>
                <a:ext cx="19323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r>
                  <a:rPr lang="en-GB" sz="5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62" name="Google Shape;1962;p154"/>
              <p:cNvCxnSpPr/>
              <p:nvPr/>
            </p:nvCxnSpPr>
            <p:spPr>
              <a:xfrm>
                <a:off x="10298201" y="2351510"/>
                <a:ext cx="131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963" name="Google Shape;1963;p154"/>
            <p:cNvCxnSpPr/>
            <p:nvPr/>
          </p:nvCxnSpPr>
          <p:spPr>
            <a:xfrm rot="10800000">
              <a:off x="2992875" y="2809838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1964" name="Google Shape;1964;p154" title="1 over 11 equals 1 divided by 11 equals the repeating decimal 0 point followed by repeating digits 0 9"/>
          <p:cNvPicPr preferRelativeResize="0"/>
          <p:nvPr/>
        </p:nvPicPr>
        <p:blipFill rotWithShape="1">
          <a:blip r:embed="rId4">
            <a:alphaModFix/>
          </a:blip>
          <a:srcRect b="0" l="0" r="71204" t="0"/>
          <a:stretch/>
        </p:blipFill>
        <p:spPr>
          <a:xfrm>
            <a:off x="4780681" y="3275382"/>
            <a:ext cx="792199" cy="6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1965" name="Google Shape;1965;p154" title="1 over 11 equals 1 divided by 11 equals the repeating decimal 0 point followed by repeating digits 0 9"/>
          <p:cNvPicPr preferRelativeResize="0"/>
          <p:nvPr/>
        </p:nvPicPr>
        <p:blipFill rotWithShape="1">
          <a:blip r:embed="rId4">
            <a:alphaModFix/>
          </a:blip>
          <a:srcRect b="0" l="74727" r="-23431" t="0"/>
          <a:stretch/>
        </p:blipFill>
        <p:spPr>
          <a:xfrm>
            <a:off x="5441011" y="3320492"/>
            <a:ext cx="1339899" cy="6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54"/>
          <p:cNvSpPr txBox="1"/>
          <p:nvPr/>
        </p:nvSpPr>
        <p:spPr>
          <a:xfrm>
            <a:off x="6104045" y="27229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54"/>
          <p:cNvSpPr txBox="1"/>
          <p:nvPr/>
        </p:nvSpPr>
        <p:spPr>
          <a:xfrm>
            <a:off x="5470823" y="22299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8" name="Google Shape;1968;p154"/>
          <p:cNvGrpSpPr/>
          <p:nvPr/>
        </p:nvGrpSpPr>
        <p:grpSpPr>
          <a:xfrm>
            <a:off x="5674547" y="1821503"/>
            <a:ext cx="237900" cy="1488434"/>
            <a:chOff x="6620022" y="2431103"/>
            <a:chExt cx="237900" cy="1488434"/>
          </a:xfrm>
        </p:grpSpPr>
        <p:sp>
          <p:nvSpPr>
            <p:cNvPr id="1969" name="Google Shape;1969;p154"/>
            <p:cNvSpPr txBox="1"/>
            <p:nvPr/>
          </p:nvSpPr>
          <p:spPr>
            <a:xfrm>
              <a:off x="6620022" y="2939438"/>
              <a:ext cx="237900" cy="9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0" name="Google Shape;1970;p154"/>
            <p:cNvSpPr txBox="1"/>
            <p:nvPr/>
          </p:nvSpPr>
          <p:spPr>
            <a:xfrm>
              <a:off x="6620022" y="2431103"/>
              <a:ext cx="237900" cy="9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5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1" name="Google Shape;1971;p154"/>
          <p:cNvSpPr txBox="1"/>
          <p:nvPr/>
        </p:nvSpPr>
        <p:spPr>
          <a:xfrm>
            <a:off x="5733429" y="2229938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54"/>
          <p:cNvSpPr txBox="1"/>
          <p:nvPr/>
        </p:nvSpPr>
        <p:spPr>
          <a:xfrm>
            <a:off x="6007154" y="22299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54"/>
          <p:cNvSpPr txBox="1"/>
          <p:nvPr/>
        </p:nvSpPr>
        <p:spPr>
          <a:xfrm>
            <a:off x="5942225" y="2593725"/>
            <a:ext cx="54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4"/>
          <p:cNvSpPr txBox="1"/>
          <p:nvPr/>
        </p:nvSpPr>
        <p:spPr>
          <a:xfrm>
            <a:off x="5697527" y="259983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4"/>
          <p:cNvSpPr txBox="1"/>
          <p:nvPr/>
        </p:nvSpPr>
        <p:spPr>
          <a:xfrm>
            <a:off x="5799245" y="27229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4"/>
          <p:cNvSpPr txBox="1"/>
          <p:nvPr/>
        </p:nvSpPr>
        <p:spPr>
          <a:xfrm>
            <a:off x="6213507" y="22242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54"/>
          <p:cNvSpPr txBox="1"/>
          <p:nvPr/>
        </p:nvSpPr>
        <p:spPr>
          <a:xfrm>
            <a:off x="6637445" y="27229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54"/>
          <p:cNvSpPr txBox="1"/>
          <p:nvPr/>
        </p:nvSpPr>
        <p:spPr>
          <a:xfrm>
            <a:off x="6429896" y="2224225"/>
            <a:ext cx="697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4"/>
          <p:cNvSpPr txBox="1"/>
          <p:nvPr/>
        </p:nvSpPr>
        <p:spPr>
          <a:xfrm>
            <a:off x="6356105" y="2722979"/>
            <a:ext cx="32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4"/>
          <p:cNvSpPr txBox="1"/>
          <p:nvPr/>
        </p:nvSpPr>
        <p:spPr>
          <a:xfrm>
            <a:off x="6266903" y="2588872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4"/>
          <p:cNvSpPr txBox="1"/>
          <p:nvPr/>
        </p:nvSpPr>
        <p:spPr>
          <a:xfrm>
            <a:off x="6459125" y="2588875"/>
            <a:ext cx="54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2" name="Google Shape;1982;p154"/>
          <p:cNvGrpSpPr/>
          <p:nvPr/>
        </p:nvGrpSpPr>
        <p:grpSpPr>
          <a:xfrm>
            <a:off x="4678272" y="2319432"/>
            <a:ext cx="2190674" cy="980100"/>
            <a:chOff x="5623747" y="2929032"/>
            <a:chExt cx="2190674" cy="980100"/>
          </a:xfrm>
        </p:grpSpPr>
        <p:grpSp>
          <p:nvGrpSpPr>
            <p:cNvPr id="1983" name="Google Shape;1983;p154"/>
            <p:cNvGrpSpPr/>
            <p:nvPr/>
          </p:nvGrpSpPr>
          <p:grpSpPr>
            <a:xfrm>
              <a:off x="5623747" y="2929032"/>
              <a:ext cx="2190674" cy="980100"/>
              <a:chOff x="2491293" y="2241014"/>
              <a:chExt cx="4652100" cy="980100"/>
            </a:xfrm>
          </p:grpSpPr>
          <p:sp>
            <p:nvSpPr>
              <p:cNvPr id="1984" name="Google Shape;1984;p154"/>
              <p:cNvSpPr txBox="1"/>
              <p:nvPr/>
            </p:nvSpPr>
            <p:spPr>
              <a:xfrm>
                <a:off x="2491293" y="2241014"/>
                <a:ext cx="46521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r>
                  <a:rPr lang="en-GB" sz="55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600">
                    <a:latin typeface="Lexend"/>
                    <a:ea typeface="Lexend"/>
                    <a:cs typeface="Lexend"/>
                    <a:sym typeface="Lexend"/>
                  </a:rPr>
                  <a:t>  </a:t>
                </a: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85" name="Google Shape;1985;p154"/>
              <p:cNvCxnSpPr/>
              <p:nvPr/>
            </p:nvCxnSpPr>
            <p:spPr>
              <a:xfrm>
                <a:off x="3726594" y="2595789"/>
                <a:ext cx="3168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986" name="Google Shape;1986;p154"/>
            <p:cNvCxnSpPr/>
            <p:nvPr/>
          </p:nvCxnSpPr>
          <p:spPr>
            <a:xfrm rot="10800000">
              <a:off x="6224416" y="3268574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87" name="Google Shape;1987;p154"/>
          <p:cNvGrpSpPr/>
          <p:nvPr/>
        </p:nvGrpSpPr>
        <p:grpSpPr>
          <a:xfrm>
            <a:off x="3799824" y="2382338"/>
            <a:ext cx="523010" cy="888741"/>
            <a:chOff x="3799824" y="2382338"/>
            <a:chExt cx="523010" cy="888741"/>
          </a:xfrm>
        </p:grpSpPr>
        <p:sp>
          <p:nvSpPr>
            <p:cNvPr id="1988" name="Google Shape;1988;p154"/>
            <p:cNvSpPr txBox="1"/>
            <p:nvPr/>
          </p:nvSpPr>
          <p:spPr>
            <a:xfrm>
              <a:off x="3891970" y="2875379"/>
              <a:ext cx="3270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9" name="Google Shape;1989;p154"/>
            <p:cNvSpPr txBox="1"/>
            <p:nvPr/>
          </p:nvSpPr>
          <p:spPr>
            <a:xfrm>
              <a:off x="3799824" y="2735301"/>
              <a:ext cx="2379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0" name="Google Shape;1990;p154"/>
            <p:cNvSpPr txBox="1"/>
            <p:nvPr/>
          </p:nvSpPr>
          <p:spPr>
            <a:xfrm>
              <a:off x="3887534" y="2382338"/>
              <a:ext cx="4353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15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fraction as a percentage</a:t>
            </a:r>
            <a:endParaRPr/>
          </a:p>
        </p:txBody>
      </p:sp>
      <p:sp>
        <p:nvSpPr>
          <p:cNvPr id="1996" name="Google Shape;1996;p15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sp>
        <p:nvSpPr>
          <p:cNvPr id="1997" name="Google Shape;1997;p15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pic>
        <p:nvPicPr>
          <p:cNvPr id="1998" name="Google Shape;1998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91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56"/>
          <p:cNvSpPr txBox="1"/>
          <p:nvPr>
            <p:ph idx="1" type="body"/>
          </p:nvPr>
        </p:nvSpPr>
        <p:spPr>
          <a:xfrm>
            <a:off x="324000" y="759300"/>
            <a:ext cx="537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percentage of 40 is 10?</a:t>
            </a:r>
            <a:endParaRPr/>
          </a:p>
        </p:txBody>
      </p:sp>
      <p:graphicFrame>
        <p:nvGraphicFramePr>
          <p:cNvPr id="2004" name="Google Shape;2004;p156"/>
          <p:cNvGraphicFramePr/>
          <p:nvPr/>
        </p:nvGraphicFramePr>
        <p:xfrm>
          <a:off x="2679150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5" name="Google Shape;2005;p156"/>
          <p:cNvGraphicFramePr/>
          <p:nvPr/>
        </p:nvGraphicFramePr>
        <p:xfrm>
          <a:off x="6743125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87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1BDBE"/>
                    </a:solidFill>
                  </a:tcPr>
                </a:tc>
              </a:tr>
              <a:tr h="87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1BDBE"/>
                    </a:solidFill>
                  </a:tcPr>
                </a:tc>
              </a:tr>
              <a:tr h="87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1BDBE"/>
                    </a:solidFill>
                  </a:tcPr>
                </a:tc>
              </a:tr>
              <a:tr h="87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6" name="Google Shape;2006;p156"/>
          <p:cNvGraphicFramePr/>
          <p:nvPr/>
        </p:nvGraphicFramePr>
        <p:xfrm>
          <a:off x="5315904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261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87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7" name="Google Shape;2007;p156"/>
          <p:cNvGraphicFramePr/>
          <p:nvPr/>
        </p:nvGraphicFramePr>
        <p:xfrm>
          <a:off x="3964896" y="387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87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08" name="Google Shape;2008;p156"/>
          <p:cNvSpPr/>
          <p:nvPr/>
        </p:nvSpPr>
        <p:spPr>
          <a:xfrm rot="10800000">
            <a:off x="7747650" y="3928000"/>
            <a:ext cx="199800" cy="820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010" name="Google Shape;2010;p156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0775" y="3877975"/>
            <a:ext cx="257623" cy="8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56"/>
          <p:cNvSpPr txBox="1"/>
          <p:nvPr>
            <p:ph idx="1" type="body"/>
          </p:nvPr>
        </p:nvSpPr>
        <p:spPr>
          <a:xfrm>
            <a:off x="324300" y="1834323"/>
            <a:ext cx="1793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is   of 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012" name="Google Shape;2012;p156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800" y="1676388"/>
            <a:ext cx="199800" cy="6365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156"/>
          <p:cNvSpPr txBox="1"/>
          <p:nvPr>
            <p:ph idx="1" type="body"/>
          </p:nvPr>
        </p:nvSpPr>
        <p:spPr>
          <a:xfrm>
            <a:off x="324300" y="3670400"/>
            <a:ext cx="207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is 25% of 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=\frac{1\times25}{4\times25}=\frac{25}{100}&quot;&gt;&lt;mfrac&gt;&lt;mn&gt;1&lt;/mn&gt;&lt;mn&gt;4&lt;/mn&gt;&lt;/mfrac&gt;&lt;mo&gt;=&lt;/mo&gt;&lt;mfrac&gt;&lt;mrow&gt;&lt;mn&gt;1&lt;/mn&gt;&lt;mo&gt;×&lt;/mo&gt;&lt;mn&gt;25&lt;/mn&gt;&lt;/mrow&gt;&lt;mrow&gt;&lt;mn&gt;4&lt;/mn&gt;&lt;mo&gt;×&lt;/mo&gt;&lt;mn&gt;25&lt;/mn&gt;&lt;/mrow&gt;&lt;/mfrac&gt;&lt;mo&gt;=&lt;/mo&gt;&lt;mfrac&gt;&lt;mn&gt;25&lt;/mn&gt;&lt;mn&gt;100&lt;/mn&gt;&lt;/mfrac&gt;&lt;/math&gt;" id="2014" name="Google Shape;2014;p156" title="one fourth equals the fraction with numerator 1 times 25 and denominator 4 times 25 equals 25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93" y="2636543"/>
            <a:ext cx="2079600" cy="5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157"/>
          <p:cNvSpPr txBox="1"/>
          <p:nvPr>
            <p:ph idx="1" type="body"/>
          </p:nvPr>
        </p:nvSpPr>
        <p:spPr>
          <a:xfrm>
            <a:off x="324000" y="759300"/>
            <a:ext cx="584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percentage of 250 is 150?</a:t>
            </a:r>
            <a:endParaRPr/>
          </a:p>
        </p:txBody>
      </p:sp>
      <p:graphicFrame>
        <p:nvGraphicFramePr>
          <p:cNvPr id="2020" name="Google Shape;2020;p157"/>
          <p:cNvGraphicFramePr/>
          <p:nvPr/>
        </p:nvGraphicFramePr>
        <p:xfrm>
          <a:off x="3060150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1" name="Google Shape;2021;p157"/>
          <p:cNvGraphicFramePr/>
          <p:nvPr/>
        </p:nvGraphicFramePr>
        <p:xfrm>
          <a:off x="6917388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  <a:tr h="69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2" name="Google Shape;2022;p157"/>
          <p:cNvGraphicFramePr/>
          <p:nvPr/>
        </p:nvGraphicFramePr>
        <p:xfrm>
          <a:off x="5479242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13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210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3" name="Google Shape;2023;p157"/>
          <p:cNvGraphicFramePr/>
          <p:nvPr/>
        </p:nvGraphicFramePr>
        <p:xfrm>
          <a:off x="4269696" y="26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210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24" name="Google Shape;2024;p157"/>
          <p:cNvSpPr/>
          <p:nvPr/>
        </p:nvSpPr>
        <p:spPr>
          <a:xfrm rot="10800000">
            <a:off x="7900050" y="2651800"/>
            <a:ext cx="199800" cy="2097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025" name="Google Shape;2025;p157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2100" y="3458888"/>
            <a:ext cx="199800" cy="642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26" name="Google Shape;2026;p157"/>
          <p:cNvSpPr txBox="1"/>
          <p:nvPr>
            <p:ph idx="1" type="body"/>
          </p:nvPr>
        </p:nvSpPr>
        <p:spPr>
          <a:xfrm>
            <a:off x="552600" y="1360300"/>
            <a:ext cx="19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150 is   of 250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also know: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027" name="Google Shape;2027;p157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850" y="1299423"/>
            <a:ext cx="160775" cy="51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0}{250}=\frac{15}{25}=\frac{3}{5}&quot;&gt;&lt;mfrac&gt;&lt;mn&gt;150&lt;/mn&gt;&lt;mn&gt;250&lt;/mn&gt;&lt;/mfrac&gt;&lt;mo&gt;=&lt;/mo&gt;&lt;mfrac&gt;&lt;mn&gt;15&lt;/mn&gt;&lt;mn&gt;25&lt;/mn&gt;&lt;/mfrac&gt;&lt;mo&gt;=&lt;/mo&gt;&lt;mfrac&gt;&lt;mn&gt;3&lt;/mn&gt;&lt;mn&gt;5&lt;/mn&gt;&lt;/mfrac&gt;&lt;/math&gt;" id="2028" name="Google Shape;2028;p157" title="150 over 250 equals 15 over 25 equals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31" y="2312000"/>
            <a:ext cx="18544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9" name="Google Shape;2029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sp>
        <p:nvSpPr>
          <p:cNvPr id="2030" name="Google Shape;2030;p157"/>
          <p:cNvSpPr txBox="1"/>
          <p:nvPr>
            <p:ph idx="1" type="body"/>
          </p:nvPr>
        </p:nvSpPr>
        <p:spPr>
          <a:xfrm>
            <a:off x="331700" y="4441300"/>
            <a:ext cx="2535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150 is 60% of 250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=\frac{3\times20}{5\times20}=\frac{60}{100}&quot;&gt;&lt;mfrac&gt;&lt;mn&gt;3&lt;/mn&gt;&lt;mn&gt;5&lt;/mn&gt;&lt;/mfrac&gt;&lt;mo&gt;=&lt;/mo&gt;&lt;mfrac&gt;&lt;mrow&gt;&lt;mn&gt;3&lt;/mn&gt;&lt;mo&gt;×&lt;/mo&gt;&lt;mn&gt;20&lt;/mn&gt;&lt;/mrow&gt;&lt;mrow&gt;&lt;mn&gt;5&lt;/mn&gt;&lt;mo&gt;×&lt;/mo&gt;&lt;mn&gt;20&lt;/mn&gt;&lt;/mrow&gt;&lt;/mfrac&gt;&lt;mo&gt;=&lt;/mo&gt;&lt;mfrac&gt;&lt;mn&gt;60&lt;/mn&gt;&lt;mn&gt;100&lt;/mn&gt;&lt;/mfrac&gt;&lt;/math&gt;" id="2031" name="Google Shape;2031;p157" title="three fifths equals the fraction with numerator 3 times 20 and denominator 5 times 20 equals 60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268" y="3605238"/>
            <a:ext cx="231415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57"/>
          <p:cNvSpPr txBox="1"/>
          <p:nvPr/>
        </p:nvSpPr>
        <p:spPr>
          <a:xfrm>
            <a:off x="178850" y="3019075"/>
            <a:ext cx="326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Converting this into a %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7" name="Google Shape;2037;p158"/>
          <p:cNvGraphicFramePr/>
          <p:nvPr/>
        </p:nvGraphicFramePr>
        <p:xfrm>
          <a:off x="6951875" y="12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38" name="Google Shape;2038;p158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percentage of 60 is 42? You can use vertical bars to help.</a:t>
            </a:r>
            <a:endParaRPr sz="2100"/>
          </a:p>
        </p:txBody>
      </p:sp>
      <p:graphicFrame>
        <p:nvGraphicFramePr>
          <p:cNvPr id="2039" name="Google Shape;2039;p158"/>
          <p:cNvGraphicFramePr/>
          <p:nvPr/>
        </p:nvGraphicFramePr>
        <p:xfrm>
          <a:off x="6951863" y="126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9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0" name="Google Shape;2040;p158"/>
          <p:cNvGraphicFramePr/>
          <p:nvPr/>
        </p:nvGraphicFramePr>
        <p:xfrm>
          <a:off x="5555442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10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  <a:tr h="24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41" name="Google Shape;2041;p158"/>
          <p:cNvSpPr/>
          <p:nvPr/>
        </p:nvSpPr>
        <p:spPr>
          <a:xfrm rot="10800000">
            <a:off x="7976250" y="2337100"/>
            <a:ext cx="199800" cy="241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58"/>
          <p:cNvSpPr txBox="1"/>
          <p:nvPr>
            <p:ph idx="1" type="body"/>
          </p:nvPr>
        </p:nvSpPr>
        <p:spPr>
          <a:xfrm>
            <a:off x="628800" y="1360300"/>
            <a:ext cx="19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   of 60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also know: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3" name="Google Shape;2043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graphicFrame>
        <p:nvGraphicFramePr>
          <p:cNvPr id="2044" name="Google Shape;2044;p158"/>
          <p:cNvGraphicFramePr/>
          <p:nvPr/>
        </p:nvGraphicFramePr>
        <p:xfrm>
          <a:off x="5541974" y="12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2045" name="Google Shape;2045;p158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750" y="1274350"/>
            <a:ext cx="269324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2046" name="Google Shape;2046;p158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4600" y="3112650"/>
            <a:ext cx="343300" cy="627902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158"/>
          <p:cNvSpPr txBox="1"/>
          <p:nvPr>
            <p:ph idx="1" type="body"/>
          </p:nvPr>
        </p:nvSpPr>
        <p:spPr>
          <a:xfrm>
            <a:off x="407900" y="4441300"/>
            <a:ext cx="2535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70% of 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8" name="Google Shape;2048;p158"/>
          <p:cNvSpPr txBox="1"/>
          <p:nvPr/>
        </p:nvSpPr>
        <p:spPr>
          <a:xfrm>
            <a:off x="255050" y="3019075"/>
            <a:ext cx="326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Converting this into a %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42}{60}=\frac{6\times7}{6\times10}=\frac{7}{10}&quot;&gt;&lt;mfrac&gt;&lt;mn&gt;42&lt;/mn&gt;&lt;mn&gt;60&lt;/mn&gt;&lt;/mfrac&gt;&lt;mo&gt;=&lt;/mo&gt;&lt;mfrac&gt;&lt;mrow&gt;&lt;mn&gt;6&lt;/mn&gt;&lt;mo&gt;×&lt;/mo&gt;&lt;mn&gt;7&lt;/mn&gt;&lt;/mrow&gt;&lt;mrow&gt;&lt;mn&gt;6&lt;/mn&gt;&lt;mo&gt;×&lt;/mo&gt;&lt;mn&gt;10&lt;/mn&gt;&lt;/mrow&gt;&lt;/mfrac&gt;&lt;mo&gt;=&lt;/mo&gt;&lt;mfrac&gt;&lt;mn&gt;7&lt;/mn&gt;&lt;mn&gt;10&lt;/mn&gt;&lt;/mfrac&gt;&lt;/math&gt;" id="2049" name="Google Shape;2049;p158" title="42 over 60 equals the fraction with numerator 6 times 7 and denominator 6 times 10 equals seven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75" y="2337093"/>
            <a:ext cx="2364938" cy="62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=\frac{7\times10}{10\times10}=\frac{70}{100}&quot;&gt;&lt;mfrac&gt;&lt;mn&gt;7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frac&gt;&lt;mn&gt;70&lt;/mn&gt;&lt;mn&gt;100&lt;/mn&gt;&lt;/mfrac&gt;&lt;/math&gt;" id="2050" name="Google Shape;2050;p158" title="seven tenths equals the fraction with numerator 7 times 10 and denominator 10 times 10 equals 70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025" y="3565750"/>
            <a:ext cx="2687043" cy="62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1" name="Google Shape;2051;p158"/>
          <p:cNvGraphicFramePr/>
          <p:nvPr/>
        </p:nvGraphicFramePr>
        <p:xfrm>
          <a:off x="3136350" y="12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348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2" name="Google Shape;2052;p158"/>
          <p:cNvGraphicFramePr/>
          <p:nvPr/>
        </p:nvGraphicFramePr>
        <p:xfrm>
          <a:off x="4345896" y="231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{3BA3313B-CC42-41B2-AB50-C15D5DAE776A}</a:tableStyleId>
              </a:tblPr>
              <a:tblGrid>
                <a:gridCol w="905825"/>
              </a:tblGrid>
              <a:tr h="243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59"/>
          <p:cNvSpPr txBox="1"/>
          <p:nvPr>
            <p:ph idx="1" type="body"/>
          </p:nvPr>
        </p:nvSpPr>
        <p:spPr>
          <a:xfrm>
            <a:off x="324000" y="759300"/>
            <a:ext cx="8237700" cy="12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represent this type of problem on a double number line. What percentage of 50 is 35?</a:t>
            </a:r>
            <a:endParaRPr/>
          </a:p>
        </p:txBody>
      </p:sp>
      <p:grpSp>
        <p:nvGrpSpPr>
          <p:cNvPr id="2058" name="Google Shape;2058;p159"/>
          <p:cNvGrpSpPr/>
          <p:nvPr/>
        </p:nvGrpSpPr>
        <p:grpSpPr>
          <a:xfrm>
            <a:off x="3688175" y="2227038"/>
            <a:ext cx="4922700" cy="1357500"/>
            <a:chOff x="2773775" y="2531838"/>
            <a:chExt cx="4922700" cy="1357500"/>
          </a:xfrm>
        </p:grpSpPr>
        <p:grpSp>
          <p:nvGrpSpPr>
            <p:cNvPr id="2059" name="Google Shape;2059;p159"/>
            <p:cNvGrpSpPr/>
            <p:nvPr/>
          </p:nvGrpSpPr>
          <p:grpSpPr>
            <a:xfrm>
              <a:off x="2773775" y="2531838"/>
              <a:ext cx="3074500" cy="1357500"/>
              <a:chOff x="441900" y="3572013"/>
              <a:chExt cx="3074500" cy="1357500"/>
            </a:xfrm>
          </p:grpSpPr>
          <p:cxnSp>
            <p:nvCxnSpPr>
              <p:cNvPr id="2060" name="Google Shape;2060;p159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159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62" name="Google Shape;2062;p159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063" name="Google Shape;2063;p159"/>
            <p:cNvGrpSpPr/>
            <p:nvPr/>
          </p:nvGrpSpPr>
          <p:grpSpPr>
            <a:xfrm>
              <a:off x="51023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2064" name="Google Shape;2064;p159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5" name="Google Shape;2065;p15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6" name="Google Shape;2066;p159"/>
            <p:cNvGrpSpPr/>
            <p:nvPr/>
          </p:nvGrpSpPr>
          <p:grpSpPr>
            <a:xfrm>
              <a:off x="41879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2067" name="Google Shape;2067;p159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8" name="Google Shape;2068;p15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69" name="Google Shape;2069;p159"/>
            <p:cNvSpPr txBox="1"/>
            <p:nvPr/>
          </p:nvSpPr>
          <p:spPr>
            <a:xfrm>
              <a:off x="5893175" y="2767425"/>
              <a:ext cx="180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0" name="Google Shape;2070;p159"/>
            <p:cNvSpPr txBox="1"/>
            <p:nvPr/>
          </p:nvSpPr>
          <p:spPr>
            <a:xfrm>
              <a:off x="5922377" y="3374750"/>
              <a:ext cx="113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1" name="Google Shape;2071;p159"/>
          <p:cNvSpPr txBox="1"/>
          <p:nvPr/>
        </p:nvSpPr>
        <p:spPr>
          <a:xfrm>
            <a:off x="5064450" y="20868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59"/>
          <p:cNvSpPr txBox="1"/>
          <p:nvPr/>
        </p:nvSpPr>
        <p:spPr>
          <a:xfrm>
            <a:off x="5900478" y="3466625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59"/>
          <p:cNvSpPr txBox="1"/>
          <p:nvPr/>
        </p:nvSpPr>
        <p:spPr>
          <a:xfrm>
            <a:off x="4973600" y="3466625"/>
            <a:ext cx="3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59"/>
          <p:cNvSpPr txBox="1"/>
          <p:nvPr/>
        </p:nvSpPr>
        <p:spPr>
          <a:xfrm>
            <a:off x="5858325" y="2086850"/>
            <a:ext cx="83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59"/>
          <p:cNvSpPr/>
          <p:nvPr/>
        </p:nvSpPr>
        <p:spPr>
          <a:xfrm rot="10800000">
            <a:off x="5083330" y="3666450"/>
            <a:ext cx="9078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59"/>
          <p:cNvSpPr/>
          <p:nvPr/>
        </p:nvSpPr>
        <p:spPr>
          <a:xfrm flipH="1">
            <a:off x="5083325" y="1962075"/>
            <a:ext cx="9078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imes\frac{35}{50}&quot;&gt;&lt;mo&gt;×&lt;/mo&gt;&lt;mfrac&gt;&lt;mn&gt;35&lt;/mn&gt;&lt;mn&gt;50&lt;/mn&gt;&lt;/mfrac&gt;&lt;/math&gt;" id="2078" name="Google Shape;2078;p159" title="times 35 over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775" y="1453801"/>
            <a:ext cx="443550" cy="500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9" name="Google Shape;2079;p159"/>
          <p:cNvGrpSpPr/>
          <p:nvPr/>
        </p:nvGrpSpPr>
        <p:grpSpPr>
          <a:xfrm>
            <a:off x="5415889" y="3895475"/>
            <a:ext cx="441300" cy="369925"/>
            <a:chOff x="4395889" y="4410575"/>
            <a:chExt cx="441300" cy="369925"/>
          </a:xfrm>
        </p:grpSpPr>
        <p:sp>
          <p:nvSpPr>
            <p:cNvPr id="2080" name="Google Shape;2080;p159"/>
            <p:cNvSpPr txBox="1"/>
            <p:nvPr/>
          </p:nvSpPr>
          <p:spPr>
            <a:xfrm>
              <a:off x="4578900" y="444180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1" name="Google Shape;2081;p159"/>
            <p:cNvSpPr txBox="1"/>
            <p:nvPr/>
          </p:nvSpPr>
          <p:spPr>
            <a:xfrm>
              <a:off x="4395889" y="4410575"/>
              <a:ext cx="4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times\frac{35}{50}&quot;&gt;&lt;mo&gt;×&lt;/mo&gt;&lt;mfrac&gt;&lt;mn&gt;35&lt;/mn&gt;&lt;mn&gt;50&lt;/mn&gt;&lt;/mfrac&gt;&lt;/math&gt;" id="2082" name="Google Shape;2082;p159" title="times 35 over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450" y="4004551"/>
            <a:ext cx="443550" cy="5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35}{50}=\frac{100\times35}{50}=\frac{50\times2\times35}{50}=\frac{50}{50}\times70=70\%&quot;&gt;&lt;mn&gt;100&lt;/mn&gt;&lt;mo&gt;×&lt;/mo&gt;&lt;mfrac&gt;&lt;mn&gt;35&lt;/mn&gt;&lt;mn&gt;50&lt;/mn&gt;&lt;/mfrac&gt;&lt;mo&gt;=&lt;/mo&gt;&lt;mfrac&gt;&lt;mrow&gt;&lt;mn&gt;100&lt;/mn&gt;&lt;mo&gt;×&lt;/mo&gt;&lt;mn&gt;35&lt;/mn&gt;&lt;/mrow&gt;&lt;mn&gt;50&lt;/mn&gt;&lt;/mfrac&gt;&lt;mo&gt;=&lt;/mo&gt;&lt;mfrac&gt;&lt;mrow&gt;&lt;mn&gt;50&lt;/mn&gt;&lt;mo&gt;×&lt;/mo&gt;&lt;mn&gt;2&lt;/mn&gt;&lt;mo&gt;×&lt;/mo&gt;&lt;mn&gt;35&lt;/mn&gt;&lt;/mrow&gt;&lt;mn&gt;50&lt;/mn&gt;&lt;/mfrac&gt;&lt;mo&gt;=&lt;/mo&gt;&lt;mfrac&gt;&lt;mn&gt;50&lt;/mn&gt;&lt;mn&gt;50&lt;/mn&gt;&lt;/mfrac&gt;&lt;mo&gt;×&lt;/mo&gt;&lt;mn&gt;70&lt;/mn&gt;&lt;mo&gt;=&lt;/mo&gt;&lt;mn&gt;70&lt;/mn&gt;&lt;mi mathvariant=&quot;normal&quot;&gt;%&lt;/mi&gt;&lt;/math&gt;" id="2083" name="Google Shape;2083;p159" title="100 times 35 over 50 equals the fraction with numerator 100 times 35 and denominator 50 equals the fraction with numerator 50 times 2 times 35 and denominator 50 equals 50 over 50 times 70 equals 70 percent sign"/>
          <p:cNvPicPr preferRelativeResize="0"/>
          <p:nvPr/>
        </p:nvPicPr>
        <p:blipFill rotWithShape="1">
          <a:blip r:embed="rId4">
            <a:alphaModFix/>
          </a:blip>
          <a:srcRect b="0" l="0" r="82565" t="0"/>
          <a:stretch/>
        </p:blipFill>
        <p:spPr>
          <a:xfrm>
            <a:off x="358125" y="1899625"/>
            <a:ext cx="116689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35}{50}=\frac{100\times35}{50}=\frac{50\times2\times35}{50}=\frac{50}{50}\times70=70\%&quot;&gt;&lt;mn&gt;100&lt;/mn&gt;&lt;mo&gt;×&lt;/mo&gt;&lt;mfrac&gt;&lt;mn&gt;35&lt;/mn&gt;&lt;mn&gt;50&lt;/mn&gt;&lt;/mfrac&gt;&lt;mo&gt;=&lt;/mo&gt;&lt;mfrac&gt;&lt;mrow&gt;&lt;mn&gt;100&lt;/mn&gt;&lt;mo&gt;×&lt;/mo&gt;&lt;mn&gt;35&lt;/mn&gt;&lt;/mrow&gt;&lt;mn&gt;50&lt;/mn&gt;&lt;/mfrac&gt;&lt;mo&gt;=&lt;/mo&gt;&lt;mfrac&gt;&lt;mrow&gt;&lt;mn&gt;50&lt;/mn&gt;&lt;mo&gt;×&lt;/mo&gt;&lt;mn&gt;2&lt;/mn&gt;&lt;mo&gt;×&lt;/mo&gt;&lt;mn&gt;35&lt;/mn&gt;&lt;/mrow&gt;&lt;mn&gt;50&lt;/mn&gt;&lt;/mfrac&gt;&lt;mo&gt;=&lt;/mo&gt;&lt;mfrac&gt;&lt;mn&gt;50&lt;/mn&gt;&lt;mn&gt;50&lt;/mn&gt;&lt;/mfrac&gt;&lt;mo&gt;×&lt;/mo&gt;&lt;mn&gt;70&lt;/mn&gt;&lt;mo&gt;=&lt;/mo&gt;&lt;mn&gt;70&lt;/mn&gt;&lt;mi mathvariant=&quot;normal&quot;&gt;%&lt;/mi&gt;&lt;/math&gt;" id="2084" name="Google Shape;2084;p159" title="100 times 35 over 50 equals the fraction with numerator 100 times 35 and denominator 50 equals the fraction with numerator 50 times 2 times 35 and denominator 50 equals 50 over 50 times 70 equals 70 percent sign"/>
          <p:cNvPicPr preferRelativeResize="0"/>
          <p:nvPr/>
        </p:nvPicPr>
        <p:blipFill rotWithShape="1">
          <a:blip r:embed="rId4">
            <a:alphaModFix/>
          </a:blip>
          <a:srcRect b="0" l="16661" r="59738" t="0"/>
          <a:stretch/>
        </p:blipFill>
        <p:spPr>
          <a:xfrm>
            <a:off x="1525025" y="2009200"/>
            <a:ext cx="157954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35}{50}=\frac{100\times35}{50}=\frac{50\times2\times35}{50}=\frac{50}{50}\times70=70\%&quot;&gt;&lt;mn&gt;100&lt;/mn&gt;&lt;mo&gt;×&lt;/mo&gt;&lt;mfrac&gt;&lt;mn&gt;35&lt;/mn&gt;&lt;mn&gt;50&lt;/mn&gt;&lt;/mfrac&gt;&lt;mo&gt;=&lt;/mo&gt;&lt;mfrac&gt;&lt;mrow&gt;&lt;mn&gt;100&lt;/mn&gt;&lt;mo&gt;×&lt;/mo&gt;&lt;mn&gt;35&lt;/mn&gt;&lt;/mrow&gt;&lt;mn&gt;50&lt;/mn&gt;&lt;/mfrac&gt;&lt;mo&gt;=&lt;/mo&gt;&lt;mfrac&gt;&lt;mrow&gt;&lt;mn&gt;50&lt;/mn&gt;&lt;mo&gt;×&lt;/mo&gt;&lt;mn&gt;2&lt;/mn&gt;&lt;mo&gt;×&lt;/mo&gt;&lt;mn&gt;35&lt;/mn&gt;&lt;/mrow&gt;&lt;mn&gt;50&lt;/mn&gt;&lt;/mfrac&gt;&lt;mo&gt;=&lt;/mo&gt;&lt;mfrac&gt;&lt;mn&gt;50&lt;/mn&gt;&lt;mn&gt;50&lt;/mn&gt;&lt;/mfrac&gt;&lt;mo&gt;×&lt;/mo&gt;&lt;mn&gt;70&lt;/mn&gt;&lt;mo&gt;=&lt;/mo&gt;&lt;mn&gt;70&lt;/mn&gt;&lt;mi mathvariant=&quot;normal&quot;&gt;%&lt;/mi&gt;&lt;/math&gt;" id="2085" name="Google Shape;2085;p159" title="100 times 35 over 50 equals the fraction with numerator 100 times 35 and denominator 50 equals the fraction with numerator 50 times 2 times 35 and denominator 50 equals 50 over 50 times 70 equals 70 percent sign"/>
          <p:cNvPicPr preferRelativeResize="0"/>
          <p:nvPr/>
        </p:nvPicPr>
        <p:blipFill rotWithShape="1">
          <a:blip r:embed="rId4">
            <a:alphaModFix/>
          </a:blip>
          <a:srcRect b="0" l="39516" r="32869" t="-12435"/>
          <a:stretch/>
        </p:blipFill>
        <p:spPr>
          <a:xfrm>
            <a:off x="1563750" y="2905800"/>
            <a:ext cx="1805850" cy="67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35}{50}=\frac{100\times35}{50}=\frac{50\times2\times35}{50}=\frac{50}{50}\times70=70\%&quot;&gt;&lt;mn&gt;100&lt;/mn&gt;&lt;mo&gt;×&lt;/mo&gt;&lt;mfrac&gt;&lt;mn&gt;35&lt;/mn&gt;&lt;mn&gt;50&lt;/mn&gt;&lt;/mfrac&gt;&lt;mo&gt;=&lt;/mo&gt;&lt;mfrac&gt;&lt;mrow&gt;&lt;mn&gt;100&lt;/mn&gt;&lt;mo&gt;×&lt;/mo&gt;&lt;mn&gt;35&lt;/mn&gt;&lt;/mrow&gt;&lt;mn&gt;50&lt;/mn&gt;&lt;/mfrac&gt;&lt;mo&gt;=&lt;/mo&gt;&lt;mfrac&gt;&lt;mrow&gt;&lt;mn&gt;50&lt;/mn&gt;&lt;mo&gt;×&lt;/mo&gt;&lt;mn&gt;2&lt;/mn&gt;&lt;mo&gt;×&lt;/mo&gt;&lt;mn&gt;35&lt;/mn&gt;&lt;/mrow&gt;&lt;mn&gt;50&lt;/mn&gt;&lt;/mfrac&gt;&lt;mo&gt;=&lt;/mo&gt;&lt;mfrac&gt;&lt;mn&gt;50&lt;/mn&gt;&lt;mn&gt;50&lt;/mn&gt;&lt;/mfrac&gt;&lt;mo&gt;×&lt;/mo&gt;&lt;mn&gt;70&lt;/mn&gt;&lt;mo&gt;=&lt;/mo&gt;&lt;mn&gt;70&lt;/mn&gt;&lt;mi mathvariant=&quot;normal&quot;&gt;%&lt;/mi&gt;&lt;/math&gt;" id="2086" name="Google Shape;2086;p159" title="100 times 35 over 50 equals the fraction with numerator 100 times 35 and denominator 50 equals the fraction with numerator 50 times 2 times 35 and denominator 50 equals 50 over 50 times 70 equals 70 percent sign"/>
          <p:cNvPicPr preferRelativeResize="0"/>
          <p:nvPr/>
        </p:nvPicPr>
        <p:blipFill rotWithShape="1">
          <a:blip r:embed="rId4">
            <a:alphaModFix/>
          </a:blip>
          <a:srcRect b="0" l="67131" r="11497" t="-12435"/>
          <a:stretch/>
        </p:blipFill>
        <p:spPr>
          <a:xfrm>
            <a:off x="1563749" y="3757450"/>
            <a:ext cx="1397549" cy="67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35}{50}=\frac{100\times35}{50}=\frac{50\times2\times35}{50}=\frac{50}{50}\times70=70\%&quot;&gt;&lt;mn&gt;100&lt;/mn&gt;&lt;mo&gt;×&lt;/mo&gt;&lt;mfrac&gt;&lt;mn&gt;35&lt;/mn&gt;&lt;mn&gt;50&lt;/mn&gt;&lt;/mfrac&gt;&lt;mo&gt;=&lt;/mo&gt;&lt;mfrac&gt;&lt;mrow&gt;&lt;mn&gt;100&lt;/mn&gt;&lt;mo&gt;×&lt;/mo&gt;&lt;mn&gt;35&lt;/mn&gt;&lt;/mrow&gt;&lt;mn&gt;50&lt;/mn&gt;&lt;/mfrac&gt;&lt;mo&gt;=&lt;/mo&gt;&lt;mfrac&gt;&lt;mrow&gt;&lt;mn&gt;50&lt;/mn&gt;&lt;mo&gt;×&lt;/mo&gt;&lt;mn&gt;2&lt;/mn&gt;&lt;mo&gt;×&lt;/mo&gt;&lt;mn&gt;35&lt;/mn&gt;&lt;/mrow&gt;&lt;mn&gt;50&lt;/mn&gt;&lt;/mfrac&gt;&lt;mo&gt;=&lt;/mo&gt;&lt;mfrac&gt;&lt;mn&gt;50&lt;/mn&gt;&lt;mn&gt;50&lt;/mn&gt;&lt;/mfrac&gt;&lt;mo&gt;×&lt;/mo&gt;&lt;mn&gt;70&lt;/mn&gt;&lt;mo&gt;=&lt;/mo&gt;&lt;mn&gt;70&lt;/mn&gt;&lt;mi mathvariant=&quot;normal&quot;&gt;%&lt;/mi&gt;&lt;/math&gt;" id="2087" name="Google Shape;2087;p159" title="100 times 35 over 50 equals the fraction with numerator 100 times 35 and denominator 50 equals the fraction with numerator 50 times 2 times 35 and denominator 50 equals 50 over 50 times 70 equals 70 percent sign"/>
          <p:cNvPicPr preferRelativeResize="0"/>
          <p:nvPr/>
        </p:nvPicPr>
        <p:blipFill rotWithShape="1">
          <a:blip r:embed="rId4">
            <a:alphaModFix/>
          </a:blip>
          <a:srcRect b="0" l="87900" r="-1782" t="-12435"/>
          <a:stretch/>
        </p:blipFill>
        <p:spPr>
          <a:xfrm>
            <a:off x="2915701" y="3757450"/>
            <a:ext cx="907801" cy="6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159"/>
          <p:cNvSpPr txBox="1"/>
          <p:nvPr/>
        </p:nvSpPr>
        <p:spPr>
          <a:xfrm>
            <a:off x="4824000" y="2085138"/>
            <a:ext cx="104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9" name="Google Shape;2089;p159"/>
          <p:cNvSpPr txBox="1"/>
          <p:nvPr/>
        </p:nvSpPr>
        <p:spPr>
          <a:xfrm>
            <a:off x="6617100" y="3757450"/>
            <a:ext cx="2202900" cy="52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 is 70% of 50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160"/>
          <p:cNvSpPr txBox="1"/>
          <p:nvPr>
            <p:ph idx="1" type="body"/>
          </p:nvPr>
        </p:nvSpPr>
        <p:spPr>
          <a:xfrm>
            <a:off x="324000" y="744138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percentage of 24 is 18?</a:t>
            </a:r>
            <a:endParaRPr/>
          </a:p>
        </p:txBody>
      </p:sp>
      <p:grpSp>
        <p:nvGrpSpPr>
          <p:cNvPr id="2095" name="Google Shape;2095;p160"/>
          <p:cNvGrpSpPr/>
          <p:nvPr/>
        </p:nvGrpSpPr>
        <p:grpSpPr>
          <a:xfrm>
            <a:off x="3688175" y="2227038"/>
            <a:ext cx="4922700" cy="1357500"/>
            <a:chOff x="2773775" y="2531838"/>
            <a:chExt cx="4922700" cy="1357500"/>
          </a:xfrm>
        </p:grpSpPr>
        <p:grpSp>
          <p:nvGrpSpPr>
            <p:cNvPr id="2096" name="Google Shape;2096;p160"/>
            <p:cNvGrpSpPr/>
            <p:nvPr/>
          </p:nvGrpSpPr>
          <p:grpSpPr>
            <a:xfrm>
              <a:off x="2773775" y="2531838"/>
              <a:ext cx="3074500" cy="1357500"/>
              <a:chOff x="441900" y="3572013"/>
              <a:chExt cx="3074500" cy="1357500"/>
            </a:xfrm>
          </p:grpSpPr>
          <p:cxnSp>
            <p:nvCxnSpPr>
              <p:cNvPr id="2097" name="Google Shape;2097;p160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8" name="Google Shape;2098;p160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99" name="Google Shape;2099;p160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100" name="Google Shape;2100;p160"/>
            <p:cNvGrpSpPr/>
            <p:nvPr/>
          </p:nvGrpSpPr>
          <p:grpSpPr>
            <a:xfrm>
              <a:off x="51023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2101" name="Google Shape;2101;p160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02" name="Google Shape;2102;p160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E6F2F2"/>
              </a:solidFill>
              <a:ln cap="flat" cmpd="sng" w="9525">
                <a:solidFill>
                  <a:srgbClr val="E6F2F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3" name="Google Shape;2103;p160"/>
            <p:cNvGrpSpPr/>
            <p:nvPr/>
          </p:nvGrpSpPr>
          <p:grpSpPr>
            <a:xfrm>
              <a:off x="41879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2104" name="Google Shape;2104;p160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05" name="Google Shape;2105;p160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E6F2F2"/>
              </a:solidFill>
              <a:ln cap="flat" cmpd="sng" w="9525">
                <a:solidFill>
                  <a:srgbClr val="E6F2F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6" name="Google Shape;2106;p160"/>
            <p:cNvSpPr txBox="1"/>
            <p:nvPr/>
          </p:nvSpPr>
          <p:spPr>
            <a:xfrm>
              <a:off x="5893175" y="2767425"/>
              <a:ext cx="180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7" name="Google Shape;2107;p160"/>
            <p:cNvSpPr txBox="1"/>
            <p:nvPr/>
          </p:nvSpPr>
          <p:spPr>
            <a:xfrm>
              <a:off x="5922377" y="3374750"/>
              <a:ext cx="113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8" name="Google Shape;2108;p160"/>
          <p:cNvSpPr txBox="1"/>
          <p:nvPr/>
        </p:nvSpPr>
        <p:spPr>
          <a:xfrm>
            <a:off x="5064450" y="2086850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60"/>
          <p:cNvSpPr txBox="1"/>
          <p:nvPr/>
        </p:nvSpPr>
        <p:spPr>
          <a:xfrm>
            <a:off x="5900478" y="3466625"/>
            <a:ext cx="5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60"/>
          <p:cNvSpPr txBox="1"/>
          <p:nvPr/>
        </p:nvSpPr>
        <p:spPr>
          <a:xfrm>
            <a:off x="4973600" y="3466625"/>
            <a:ext cx="3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60"/>
          <p:cNvSpPr txBox="1"/>
          <p:nvPr/>
        </p:nvSpPr>
        <p:spPr>
          <a:xfrm>
            <a:off x="5858325" y="2086850"/>
            <a:ext cx="83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60"/>
          <p:cNvSpPr/>
          <p:nvPr/>
        </p:nvSpPr>
        <p:spPr>
          <a:xfrm rot="10800000">
            <a:off x="5083330" y="3666450"/>
            <a:ext cx="907800" cy="261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160"/>
          <p:cNvSpPr/>
          <p:nvPr/>
        </p:nvSpPr>
        <p:spPr>
          <a:xfrm flipH="1">
            <a:off x="5083325" y="1962075"/>
            <a:ext cx="907800" cy="270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grpSp>
        <p:nvGrpSpPr>
          <p:cNvPr id="2115" name="Google Shape;2115;p160"/>
          <p:cNvGrpSpPr/>
          <p:nvPr/>
        </p:nvGrpSpPr>
        <p:grpSpPr>
          <a:xfrm>
            <a:off x="5415889" y="3895475"/>
            <a:ext cx="441300" cy="369925"/>
            <a:chOff x="4395889" y="4410575"/>
            <a:chExt cx="441300" cy="369925"/>
          </a:xfrm>
        </p:grpSpPr>
        <p:sp>
          <p:nvSpPr>
            <p:cNvPr id="2116" name="Google Shape;2116;p160"/>
            <p:cNvSpPr txBox="1"/>
            <p:nvPr/>
          </p:nvSpPr>
          <p:spPr>
            <a:xfrm>
              <a:off x="4578900" y="4441800"/>
              <a:ext cx="13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7" name="Google Shape;2117;p160"/>
            <p:cNvSpPr txBox="1"/>
            <p:nvPr/>
          </p:nvSpPr>
          <p:spPr>
            <a:xfrm>
              <a:off x="4395889" y="4410575"/>
              <a:ext cx="4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8" name="Google Shape;2118;p160"/>
          <p:cNvSpPr txBox="1"/>
          <p:nvPr/>
        </p:nvSpPr>
        <p:spPr>
          <a:xfrm>
            <a:off x="4824000" y="2085125"/>
            <a:ext cx="104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75%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60"/>
          <p:cNvSpPr txBox="1"/>
          <p:nvPr/>
        </p:nvSpPr>
        <p:spPr>
          <a:xfrm>
            <a:off x="6617100" y="3757450"/>
            <a:ext cx="2202900" cy="52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75% of 24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imes\frac{18}{24}&quot;&gt;&lt;mo&gt;×&lt;/mo&gt;&lt;mfrac&gt;&lt;mn&gt;18&lt;/mn&gt;&lt;mn&gt;24&lt;/mn&gt;&lt;/mfrac&gt;&lt;/math&gt;" id="2120" name="Google Shape;2120;p160" title="times 18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900" y="1462275"/>
            <a:ext cx="378600" cy="421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8}{24}&quot;&gt;&lt;mo&gt;×&lt;/mo&gt;&lt;mfrac&gt;&lt;mn&gt;18&lt;/mn&gt;&lt;mn&gt;24&lt;/mn&gt;&lt;/mfrac&gt;&lt;/math&gt;" id="2121" name="Google Shape;2121;p160" title="times 18 over 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900" y="4010250"/>
            <a:ext cx="378600" cy="421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18}{24}=\frac{100\times18}{24}=\frac{100\times6\times3}{6\ \times4}=\frac{100\times3}{4}\ \times\frac{6}{6}=\frac{25\times4\times3}{4}\times1\ =\ 25\times3\ \times\frac{4}{4}=75\%&quot;&gt;&lt;mn&gt;100&lt;/mn&gt;&lt;mo&gt;×&lt;/mo&gt;&lt;mfrac&gt;&lt;mn&gt;18&lt;/mn&gt;&lt;mn&gt;24&lt;/mn&gt;&lt;/mfrac&gt;&lt;mo&gt;=&lt;/mo&gt;&lt;mfrac&gt;&lt;mrow&gt;&lt;mn&gt;100&lt;/mn&gt;&lt;mo&gt;×&lt;/mo&gt;&lt;mn&gt;18&lt;/mn&gt;&lt;/mrow&gt;&lt;mn&gt;24&lt;/mn&gt;&lt;/mfrac&gt;&lt;mo&gt;=&lt;/mo&gt;&lt;mfrac&gt;&lt;mrow&gt;&lt;mn&gt;100&lt;/mn&gt;&lt;mo&gt;×&lt;/mo&gt;&lt;mn&gt;6&lt;/mn&gt;&lt;mo&gt;×&lt;/mo&gt;&lt;mn&gt;3&lt;/mn&gt;&lt;/mrow&gt;&lt;mrow&gt;&lt;mn&gt;6&lt;/mn&gt;&lt;mtext&gt;&lt;/mtext&gt;&lt;mo&gt;×&lt;/mo&gt;&lt;mn&gt;4&lt;/mn&gt;&lt;/mrow&gt;&lt;/mfrac&gt;&lt;mo&gt;=&lt;/mo&gt;&lt;mfrac&gt;&lt;mrow&gt;&lt;mn&gt;100&lt;/mn&gt;&lt;mo&gt;×&lt;/mo&gt;&lt;mn&gt;3&lt;/mn&gt;&lt;/mrow&gt;&lt;mn&gt;4&lt;/mn&gt;&lt;/mfrac&gt;&lt;mtext&gt;&lt;/mtext&gt;&lt;mo&gt;×&lt;/mo&gt;&lt;mfrac&gt;&lt;mn&gt;6&lt;/mn&gt;&lt;mn&gt;6&lt;/mn&gt;&lt;/mfrac&gt;&lt;mo&gt;=&lt;/mo&gt;&lt;mfrac&gt;&lt;mrow&gt;&lt;mn&gt;25&lt;/mn&gt;&lt;mo&gt;×&lt;/mo&gt;&lt;mn&gt;4&lt;/mn&gt;&lt;mo&gt;×&lt;/mo&gt;&lt;mn&gt;3&lt;/mn&gt;&lt;/mrow&gt;&lt;mn&gt;4&lt;/mn&gt;&lt;/mfrac&gt;&lt;mo&gt;×&lt;/mo&gt;&lt;mn&gt;1&lt;/mn&gt;&lt;mtext&gt;&lt;/mtext&gt;&lt;mo&gt;=&lt;/mo&gt;&lt;mtext&gt;&lt;/mtext&gt;&lt;mn&gt;25&lt;/mn&gt;&lt;mo&gt;×&lt;/mo&gt;&lt;mn&gt;3&lt;/mn&gt;&lt;mtext&gt;&lt;/mtext&gt;&lt;mo&gt;×&lt;/mo&gt;&lt;mfrac&gt;&lt;mn&gt;4&lt;/mn&gt;&lt;mn&gt;4&lt;/mn&gt;&lt;/mfrac&gt;&lt;mo&gt;=&lt;/mo&gt;&lt;mn&gt;75&lt;/mn&gt;&lt;mi mathvariant=&quot;normal&quot;&gt;%&lt;/mi&gt;&lt;/math&gt;" id="2122" name="Google Shape;2122;p160" title="100 times 18 over 24 equals the fraction with numerator 100 times 18 and denominator 24 equals the fraction with numerator 100 times 6 times 3 and denominator 6 times 4 equals the fraction with numerator 100 times 3 and denominator 4 times six sixths equals the fraction with numerator 25 times 4 times 3 and denominator 4 times 1 equals 25 times 3 times four fourths equals 75 percent sign"/>
          <p:cNvPicPr preferRelativeResize="0"/>
          <p:nvPr/>
        </p:nvPicPr>
        <p:blipFill rotWithShape="1">
          <a:blip r:embed="rId4">
            <a:alphaModFix/>
          </a:blip>
          <a:srcRect b="0" l="0" r="76670" t="0"/>
          <a:stretch/>
        </p:blipFill>
        <p:spPr>
          <a:xfrm>
            <a:off x="430053" y="1462263"/>
            <a:ext cx="2608215" cy="6052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18}{24}=\frac{100\times18}{24}=\frac{100\times6\times3}{6\ \times4}=\frac{100\times3}{4}\ \times\frac{6}{6}=\frac{25\times4\times3}{4}\times1\ =\ 25\times3\ \times\frac{4}{4}=75\%&quot;&gt;&lt;mn&gt;100&lt;/mn&gt;&lt;mo&gt;×&lt;/mo&gt;&lt;mfrac&gt;&lt;mn&gt;18&lt;/mn&gt;&lt;mn&gt;24&lt;/mn&gt;&lt;/mfrac&gt;&lt;mo&gt;=&lt;/mo&gt;&lt;mfrac&gt;&lt;mrow&gt;&lt;mn&gt;100&lt;/mn&gt;&lt;mo&gt;×&lt;/mo&gt;&lt;mn&gt;18&lt;/mn&gt;&lt;/mrow&gt;&lt;mn&gt;24&lt;/mn&gt;&lt;/mfrac&gt;&lt;mo&gt;=&lt;/mo&gt;&lt;mfrac&gt;&lt;mrow&gt;&lt;mn&gt;100&lt;/mn&gt;&lt;mo&gt;×&lt;/mo&gt;&lt;mn&gt;6&lt;/mn&gt;&lt;mo&gt;×&lt;/mo&gt;&lt;mn&gt;3&lt;/mn&gt;&lt;/mrow&gt;&lt;mrow&gt;&lt;mn&gt;6&lt;/mn&gt;&lt;mtext&gt;&lt;/mtext&gt;&lt;mo&gt;×&lt;/mo&gt;&lt;mn&gt;4&lt;/mn&gt;&lt;/mrow&gt;&lt;/mfrac&gt;&lt;mo&gt;=&lt;/mo&gt;&lt;mfrac&gt;&lt;mrow&gt;&lt;mn&gt;100&lt;/mn&gt;&lt;mo&gt;×&lt;/mo&gt;&lt;mn&gt;3&lt;/mn&gt;&lt;/mrow&gt;&lt;mn&gt;4&lt;/mn&gt;&lt;/mfrac&gt;&lt;mtext&gt;&lt;/mtext&gt;&lt;mo&gt;×&lt;/mo&gt;&lt;mfrac&gt;&lt;mn&gt;6&lt;/mn&gt;&lt;mn&gt;6&lt;/mn&gt;&lt;/mfrac&gt;&lt;mo&gt;=&lt;/mo&gt;&lt;mfrac&gt;&lt;mrow&gt;&lt;mn&gt;25&lt;/mn&gt;&lt;mo&gt;×&lt;/mo&gt;&lt;mn&gt;4&lt;/mn&gt;&lt;mo&gt;×&lt;/mo&gt;&lt;mn&gt;3&lt;/mn&gt;&lt;/mrow&gt;&lt;mn&gt;4&lt;/mn&gt;&lt;/mfrac&gt;&lt;mo&gt;×&lt;/mo&gt;&lt;mn&gt;1&lt;/mn&gt;&lt;mtext&gt;&lt;/mtext&gt;&lt;mo&gt;=&lt;/mo&gt;&lt;mtext&gt;&lt;/mtext&gt;&lt;mn&gt;25&lt;/mn&gt;&lt;mo&gt;×&lt;/mo&gt;&lt;mn&gt;3&lt;/mn&gt;&lt;mtext&gt;&lt;/mtext&gt;&lt;mo&gt;×&lt;/mo&gt;&lt;mfrac&gt;&lt;mn&gt;4&lt;/mn&gt;&lt;mn&gt;4&lt;/mn&gt;&lt;/mfrac&gt;&lt;mo&gt;=&lt;/mo&gt;&lt;mn&gt;75&lt;/mn&gt;&lt;mi mathvariant=&quot;normal&quot;&gt;%&lt;/mi&gt;&lt;/math&gt;" id="2123" name="Google Shape;2123;p160" title="100 times 18 over 24 equals the fraction with numerator 100 times 18 and denominator 24 equals the fraction with numerator 100 times 6 times 3 and denominator 6 times 4 equals the fraction with numerator 100 times 3 and denominator 4 times six sixths equals the fraction with numerator 25 times 4 times 3 and denominator 4 times 1 equals 25 times 3 times four fourths equals 75 percent sign"/>
          <p:cNvPicPr preferRelativeResize="0"/>
          <p:nvPr/>
        </p:nvPicPr>
        <p:blipFill rotWithShape="1">
          <a:blip r:embed="rId4">
            <a:alphaModFix/>
          </a:blip>
          <a:srcRect b="0" l="23674" r="60984" t="0"/>
          <a:stretch/>
        </p:blipFill>
        <p:spPr>
          <a:xfrm>
            <a:off x="1544626" y="2242108"/>
            <a:ext cx="1596288" cy="563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18}{24}=\frac{100\times18}{24}=\frac{100\times6\times3}{6\ \times4}=\frac{100\times3}{4}\ \times\frac{6}{6}=\frac{25\times4\times3}{4}\times1\ =\ 25\times3\ \times\frac{4}{4}=75\%&quot;&gt;&lt;mn&gt;100&lt;/mn&gt;&lt;mo&gt;×&lt;/mo&gt;&lt;mfrac&gt;&lt;mn&gt;18&lt;/mn&gt;&lt;mn&gt;24&lt;/mn&gt;&lt;/mfrac&gt;&lt;mo&gt;=&lt;/mo&gt;&lt;mfrac&gt;&lt;mrow&gt;&lt;mn&gt;100&lt;/mn&gt;&lt;mo&gt;×&lt;/mo&gt;&lt;mn&gt;18&lt;/mn&gt;&lt;/mrow&gt;&lt;mn&gt;24&lt;/mn&gt;&lt;/mfrac&gt;&lt;mo&gt;=&lt;/mo&gt;&lt;mfrac&gt;&lt;mrow&gt;&lt;mn&gt;100&lt;/mn&gt;&lt;mo&gt;×&lt;/mo&gt;&lt;mn&gt;6&lt;/mn&gt;&lt;mo&gt;×&lt;/mo&gt;&lt;mn&gt;3&lt;/mn&gt;&lt;/mrow&gt;&lt;mrow&gt;&lt;mn&gt;6&lt;/mn&gt;&lt;mtext&gt;&lt;/mtext&gt;&lt;mo&gt;×&lt;/mo&gt;&lt;mn&gt;4&lt;/mn&gt;&lt;/mrow&gt;&lt;/mfrac&gt;&lt;mo&gt;=&lt;/mo&gt;&lt;mfrac&gt;&lt;mrow&gt;&lt;mn&gt;100&lt;/mn&gt;&lt;mo&gt;×&lt;/mo&gt;&lt;mn&gt;3&lt;/mn&gt;&lt;/mrow&gt;&lt;mn&gt;4&lt;/mn&gt;&lt;/mfrac&gt;&lt;mtext&gt;&lt;/mtext&gt;&lt;mo&gt;×&lt;/mo&gt;&lt;mfrac&gt;&lt;mn&gt;6&lt;/mn&gt;&lt;mn&gt;6&lt;/mn&gt;&lt;/mfrac&gt;&lt;mo&gt;=&lt;/mo&gt;&lt;mfrac&gt;&lt;mrow&gt;&lt;mn&gt;25&lt;/mn&gt;&lt;mo&gt;×&lt;/mo&gt;&lt;mn&gt;4&lt;/mn&gt;&lt;mo&gt;×&lt;/mo&gt;&lt;mn&gt;3&lt;/mn&gt;&lt;/mrow&gt;&lt;mn&gt;4&lt;/mn&gt;&lt;/mfrac&gt;&lt;mo&gt;×&lt;/mo&gt;&lt;mn&gt;1&lt;/mn&gt;&lt;mtext&gt;&lt;/mtext&gt;&lt;mo&gt;=&lt;/mo&gt;&lt;mtext&gt;&lt;/mtext&gt;&lt;mn&gt;25&lt;/mn&gt;&lt;mo&gt;×&lt;/mo&gt;&lt;mn&gt;3&lt;/mn&gt;&lt;mtext&gt;&lt;/mtext&gt;&lt;mo&gt;×&lt;/mo&gt;&lt;mfrac&gt;&lt;mn&gt;4&lt;/mn&gt;&lt;mn&gt;4&lt;/mn&gt;&lt;/mfrac&gt;&lt;mo&gt;=&lt;/mo&gt;&lt;mn&gt;75&lt;/mn&gt;&lt;mi mathvariant=&quot;normal&quot;&gt;%&lt;/mi&gt;&lt;/math&gt;" id="2124" name="Google Shape;2124;p160" title="100 times 18 over 24 equals the fraction with numerator 100 times 18 and denominator 24 equals the fraction with numerator 100 times 6 times 3 and denominator 6 times 4 equals the fraction with numerator 100 times 3 and denominator 4 times six sixths equals the fraction with numerator 25 times 4 times 3 and denominator 4 times 1 equals 25 times 3 times four fourths equals 75 percent sign"/>
          <p:cNvPicPr preferRelativeResize="0"/>
          <p:nvPr/>
        </p:nvPicPr>
        <p:blipFill rotWithShape="1">
          <a:blip r:embed="rId4">
            <a:alphaModFix/>
          </a:blip>
          <a:srcRect b="0" l="39653" r="42808" t="0"/>
          <a:stretch/>
        </p:blipFill>
        <p:spPr>
          <a:xfrm>
            <a:off x="1530591" y="2980020"/>
            <a:ext cx="1824850" cy="563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18}{24}=\frac{100\times18}{24}=\frac{100\times6\times3}{6\ \times4}=\frac{100\times3}{4}\ \times\frac{6}{6}=\frac{25\times4\times3}{4}\times1\ =\ 25\times3\ \times\frac{4}{4}=75\%&quot;&gt;&lt;mn&gt;100&lt;/mn&gt;&lt;mo&gt;×&lt;/mo&gt;&lt;mfrac&gt;&lt;mn&gt;18&lt;/mn&gt;&lt;mn&gt;24&lt;/mn&gt;&lt;/mfrac&gt;&lt;mo&gt;=&lt;/mo&gt;&lt;mfrac&gt;&lt;mrow&gt;&lt;mn&gt;100&lt;/mn&gt;&lt;mo&gt;×&lt;/mo&gt;&lt;mn&gt;18&lt;/mn&gt;&lt;/mrow&gt;&lt;mn&gt;24&lt;/mn&gt;&lt;/mfrac&gt;&lt;mo&gt;=&lt;/mo&gt;&lt;mfrac&gt;&lt;mrow&gt;&lt;mn&gt;100&lt;/mn&gt;&lt;mo&gt;×&lt;/mo&gt;&lt;mn&gt;6&lt;/mn&gt;&lt;mo&gt;×&lt;/mo&gt;&lt;mn&gt;3&lt;/mn&gt;&lt;/mrow&gt;&lt;mrow&gt;&lt;mn&gt;6&lt;/mn&gt;&lt;mtext&gt;&lt;/mtext&gt;&lt;mo&gt;×&lt;/mo&gt;&lt;mn&gt;4&lt;/mn&gt;&lt;/mrow&gt;&lt;/mfrac&gt;&lt;mo&gt;=&lt;/mo&gt;&lt;mfrac&gt;&lt;mrow&gt;&lt;mn&gt;100&lt;/mn&gt;&lt;mo&gt;×&lt;/mo&gt;&lt;mn&gt;3&lt;/mn&gt;&lt;/mrow&gt;&lt;mn&gt;4&lt;/mn&gt;&lt;/mfrac&gt;&lt;mtext&gt;&lt;/mtext&gt;&lt;mo&gt;×&lt;/mo&gt;&lt;mfrac&gt;&lt;mn&gt;6&lt;/mn&gt;&lt;mn&gt;6&lt;/mn&gt;&lt;/mfrac&gt;&lt;mo&gt;=&lt;/mo&gt;&lt;mfrac&gt;&lt;mrow&gt;&lt;mn&gt;25&lt;/mn&gt;&lt;mo&gt;×&lt;/mo&gt;&lt;mn&gt;4&lt;/mn&gt;&lt;mo&gt;×&lt;/mo&gt;&lt;mn&gt;3&lt;/mn&gt;&lt;/mrow&gt;&lt;mn&gt;4&lt;/mn&gt;&lt;/mfrac&gt;&lt;mo&gt;×&lt;/mo&gt;&lt;mn&gt;1&lt;/mn&gt;&lt;mtext&gt;&lt;/mtext&gt;&lt;mo&gt;=&lt;/mo&gt;&lt;mtext&gt;&lt;/mtext&gt;&lt;mn&gt;25&lt;/mn&gt;&lt;mo&gt;×&lt;/mo&gt;&lt;mn&gt;3&lt;/mn&gt;&lt;mtext&gt;&lt;/mtext&gt;&lt;mo&gt;×&lt;/mo&gt;&lt;mfrac&gt;&lt;mn&gt;4&lt;/mn&gt;&lt;mn&gt;4&lt;/mn&gt;&lt;/mfrac&gt;&lt;mo&gt;=&lt;/mo&gt;&lt;mn&gt;75&lt;/mn&gt;&lt;mi mathvariant=&quot;normal&quot;&gt;%&lt;/mi&gt;&lt;/math&gt;" id="2125" name="Google Shape;2125;p160" title="100 times 18 over 24 equals the fraction with numerator 100 times 18 and denominator 24 equals the fraction with numerator 100 times 6 times 3 and denominator 6 times 4 equals the fraction with numerator 100 times 3 and denominator 4 times six sixths equals the fraction with numerator 25 times 4 times 3 and denominator 4 times 1 equals 25 times 3 times four fourths equals 75 percent sign"/>
          <p:cNvPicPr preferRelativeResize="0"/>
          <p:nvPr/>
        </p:nvPicPr>
        <p:blipFill rotWithShape="1">
          <a:blip r:embed="rId4">
            <a:alphaModFix/>
          </a:blip>
          <a:srcRect b="0" l="57048" r="23666" t="0"/>
          <a:stretch/>
        </p:blipFill>
        <p:spPr>
          <a:xfrm>
            <a:off x="1503525" y="3637777"/>
            <a:ext cx="2006702" cy="563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0\times\frac{18}{24}=\frac{100\times18}{24}=\frac{100\times6\times3}{6\ \times4}=\frac{100\times3}{4}\ \times\frac{6}{6}=\frac{25\times4\times3}{4}\times1\ =\ 25\times3\ \times\frac{4}{4}=75\%&quot;&gt;&lt;mn&gt;100&lt;/mn&gt;&lt;mo&gt;×&lt;/mo&gt;&lt;mfrac&gt;&lt;mn&gt;18&lt;/mn&gt;&lt;mn&gt;24&lt;/mn&gt;&lt;/mfrac&gt;&lt;mo&gt;=&lt;/mo&gt;&lt;mfrac&gt;&lt;mrow&gt;&lt;mn&gt;100&lt;/mn&gt;&lt;mo&gt;×&lt;/mo&gt;&lt;mn&gt;18&lt;/mn&gt;&lt;/mrow&gt;&lt;mn&gt;24&lt;/mn&gt;&lt;/mfrac&gt;&lt;mo&gt;=&lt;/mo&gt;&lt;mfrac&gt;&lt;mrow&gt;&lt;mn&gt;100&lt;/mn&gt;&lt;mo&gt;×&lt;/mo&gt;&lt;mn&gt;6&lt;/mn&gt;&lt;mo&gt;×&lt;/mo&gt;&lt;mn&gt;3&lt;/mn&gt;&lt;/mrow&gt;&lt;mrow&gt;&lt;mn&gt;6&lt;/mn&gt;&lt;mtext&gt;&lt;/mtext&gt;&lt;mo&gt;×&lt;/mo&gt;&lt;mn&gt;4&lt;/mn&gt;&lt;/mrow&gt;&lt;/mfrac&gt;&lt;mo&gt;=&lt;/mo&gt;&lt;mfrac&gt;&lt;mrow&gt;&lt;mn&gt;100&lt;/mn&gt;&lt;mo&gt;×&lt;/mo&gt;&lt;mn&gt;3&lt;/mn&gt;&lt;/mrow&gt;&lt;mn&gt;4&lt;/mn&gt;&lt;/mfrac&gt;&lt;mtext&gt;&lt;/mtext&gt;&lt;mo&gt;×&lt;/mo&gt;&lt;mfrac&gt;&lt;mn&gt;6&lt;/mn&gt;&lt;mn&gt;6&lt;/mn&gt;&lt;/mfrac&gt;&lt;mo&gt;=&lt;/mo&gt;&lt;mfrac&gt;&lt;mrow&gt;&lt;mn&gt;25&lt;/mn&gt;&lt;mo&gt;×&lt;/mo&gt;&lt;mn&gt;4&lt;/mn&gt;&lt;mo&gt;×&lt;/mo&gt;&lt;mn&gt;3&lt;/mn&gt;&lt;/mrow&gt;&lt;mn&gt;4&lt;/mn&gt;&lt;/mfrac&gt;&lt;mo&gt;×&lt;/mo&gt;&lt;mn&gt;1&lt;/mn&gt;&lt;mtext&gt;&lt;/mtext&gt;&lt;mo&gt;=&lt;/mo&gt;&lt;mtext&gt;&lt;/mtext&gt;&lt;mn&gt;25&lt;/mn&gt;&lt;mo&gt;×&lt;/mo&gt;&lt;mn&gt;3&lt;/mn&gt;&lt;mtext&gt;&lt;/mtext&gt;&lt;mo&gt;×&lt;/mo&gt;&lt;mfrac&gt;&lt;mn&gt;4&lt;/mn&gt;&lt;mn&gt;4&lt;/mn&gt;&lt;/mfrac&gt;&lt;mo&gt;=&lt;/mo&gt;&lt;mn&gt;75&lt;/mn&gt;&lt;mi mathvariant=&quot;normal&quot;&gt;%&lt;/mi&gt;&lt;/math&gt;" id="2126" name="Google Shape;2126;p160" title="100 times 18 over 24 equals the fraction with numerator 100 times 18 and denominator 24 equals the fraction with numerator 100 times 6 times 3 and denominator 6 times 4 equals the fraction with numerator 100 times 3 and denominator 4 times six sixths equals the fraction with numerator 25 times 4 times 3 and denominator 4 times 1 equals 25 times 3 times four fourths equals 75 percent sign"/>
          <p:cNvPicPr preferRelativeResize="0"/>
          <p:nvPr/>
        </p:nvPicPr>
        <p:blipFill rotWithShape="1">
          <a:blip r:embed="rId4">
            <a:alphaModFix/>
          </a:blip>
          <a:srcRect b="0" l="76585" r="-460" t="0"/>
          <a:stretch/>
        </p:blipFill>
        <p:spPr>
          <a:xfrm>
            <a:off x="1503537" y="4265407"/>
            <a:ext cx="2484413" cy="56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61"/>
          <p:cNvSpPr txBox="1"/>
          <p:nvPr>
            <p:ph idx="1" type="body"/>
          </p:nvPr>
        </p:nvSpPr>
        <p:spPr>
          <a:xfrm>
            <a:off x="365275" y="766275"/>
            <a:ext cx="8454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Without </a:t>
            </a:r>
            <a:r>
              <a:rPr lang="en-GB" sz="2000"/>
              <a:t>representation, we can simply write the number as a fraction of its whole. For example, write 90 as a percentage of 270.</a:t>
            </a:r>
            <a:endParaRPr sz="2000"/>
          </a:p>
        </p:txBody>
      </p:sp>
      <p:sp>
        <p:nvSpPr>
          <p:cNvPr id="2132" name="Google Shape;2132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90}{270}=\frac{90\times1}{90\times3}=\frac{1}{3}&quot;&gt;&lt;mfrac&gt;&lt;mn&gt;90&lt;/mn&gt;&lt;mn&gt;270&lt;/mn&gt;&lt;/mfrac&gt;&lt;mo&gt;=&lt;/mo&gt;&lt;mfrac&gt;&lt;mrow&gt;&lt;mn&gt;90&lt;/mn&gt;&lt;mo&gt;×&lt;/mo&gt;&lt;mn&gt;1&lt;/mn&gt;&lt;/mrow&gt;&lt;mrow&gt;&lt;mn&gt;90&lt;/mn&gt;&lt;mo&gt;×&lt;/mo&gt;&lt;mn&gt;3&lt;/mn&gt;&lt;/mrow&gt;&lt;/mfrac&gt;&lt;mo&gt;=&lt;/mo&gt;&lt;mfrac&gt;&lt;mn&gt;1&lt;/mn&gt;&lt;mn&gt;3&lt;/mn&gt;&lt;/mfrac&gt;&lt;/math&gt;" id="2133" name="Google Shape;2133;p161" title="90 over 270 equals the fraction with numerator 90 times 1 and denominator 90 times 3 equals one third"/>
          <p:cNvPicPr preferRelativeResize="0"/>
          <p:nvPr/>
        </p:nvPicPr>
        <p:blipFill rotWithShape="1">
          <a:blip r:embed="rId3">
            <a:alphaModFix/>
          </a:blip>
          <a:srcRect b="0" l="0" r="76617" t="0"/>
          <a:stretch/>
        </p:blipFill>
        <p:spPr>
          <a:xfrm>
            <a:off x="2809853" y="1940175"/>
            <a:ext cx="726650" cy="81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0}{270}=\frac{90\times1}{90\times3}=\frac{1}{3}&quot;&gt;&lt;mfrac&gt;&lt;mn&gt;90&lt;/mn&gt;&lt;mn&gt;270&lt;/mn&gt;&lt;/mfrac&gt;&lt;mo&gt;=&lt;/mo&gt;&lt;mfrac&gt;&lt;mrow&gt;&lt;mn&gt;90&lt;/mn&gt;&lt;mo&gt;×&lt;/mo&gt;&lt;mn&gt;1&lt;/mn&gt;&lt;/mrow&gt;&lt;mrow&gt;&lt;mn&gt;90&lt;/mn&gt;&lt;mo&gt;×&lt;/mo&gt;&lt;mn&gt;3&lt;/mn&gt;&lt;/mrow&gt;&lt;/mfrac&gt;&lt;mo&gt;=&lt;/mo&gt;&lt;mfrac&gt;&lt;mn&gt;1&lt;/mn&gt;&lt;mn&gt;3&lt;/mn&gt;&lt;/mfrac&gt;&lt;/math&gt;" id="2134" name="Google Shape;2134;p161" title="90 over 270 equals the fraction with numerator 90 times 1 and denominator 90 times 3 equals one third"/>
          <p:cNvPicPr preferRelativeResize="0"/>
          <p:nvPr/>
        </p:nvPicPr>
        <p:blipFill rotWithShape="1">
          <a:blip r:embed="rId3">
            <a:alphaModFix/>
          </a:blip>
          <a:srcRect b="0" l="24001" r="24214" t="0"/>
          <a:stretch/>
        </p:blipFill>
        <p:spPr>
          <a:xfrm>
            <a:off x="3587636" y="1940175"/>
            <a:ext cx="1609250" cy="81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0}{270}=\frac{90\times1}{90\times3}=\frac{1}{3}&quot;&gt;&lt;mfrac&gt;&lt;mn&gt;90&lt;/mn&gt;&lt;mn&gt;270&lt;/mn&gt;&lt;/mfrac&gt;&lt;mo&gt;=&lt;/mo&gt;&lt;mfrac&gt;&lt;mrow&gt;&lt;mn&gt;90&lt;/mn&gt;&lt;mo&gt;×&lt;/mo&gt;&lt;mn&gt;1&lt;/mn&gt;&lt;/mrow&gt;&lt;mrow&gt;&lt;mn&gt;90&lt;/mn&gt;&lt;mo&gt;×&lt;/mo&gt;&lt;mn&gt;3&lt;/mn&gt;&lt;/mrow&gt;&lt;/mfrac&gt;&lt;mo&gt;=&lt;/mo&gt;&lt;mfrac&gt;&lt;mn&gt;1&lt;/mn&gt;&lt;mn&gt;3&lt;/mn&gt;&lt;/mfrac&gt;&lt;/math&gt;" id="2135" name="Google Shape;2135;p161" title="90 over 270 equals the fraction with numerator 90 times 1 and denominator 90 times 3 equals one third"/>
          <p:cNvPicPr preferRelativeResize="0"/>
          <p:nvPr/>
        </p:nvPicPr>
        <p:blipFill rotWithShape="1">
          <a:blip r:embed="rId3">
            <a:alphaModFix/>
          </a:blip>
          <a:srcRect b="0" l="77849" r="-4488" t="0"/>
          <a:stretch/>
        </p:blipFill>
        <p:spPr>
          <a:xfrm>
            <a:off x="5248013" y="1940175"/>
            <a:ext cx="827826" cy="81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2136" name="Google Shape;2136;p161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0" r="85186" t="0"/>
          <a:stretch/>
        </p:blipFill>
        <p:spPr>
          <a:xfrm>
            <a:off x="3168950" y="3280797"/>
            <a:ext cx="408456" cy="79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2137" name="Google Shape;2137;p161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13795" r="38251" t="0"/>
          <a:stretch/>
        </p:blipFill>
        <p:spPr>
          <a:xfrm>
            <a:off x="3611293" y="3273833"/>
            <a:ext cx="1322252" cy="789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1\div3\ =\ 0.\dot{3}&quot;&gt;&lt;mfrac&gt;&lt;mn&gt;1&lt;/mn&gt;&lt;mn&gt;3&lt;/mn&gt;&lt;/mfrac&gt;&lt;mo&gt;=&lt;/mo&gt;&lt;mn&gt;1&lt;/mn&gt;&lt;mo&gt;÷&lt;/mo&gt;&lt;mn&gt;3&lt;/mn&gt;&lt;mtext&gt;&lt;/mtext&gt;&lt;mo&gt;=&lt;/mo&gt;&lt;mtext&gt;&lt;/mtext&gt;&lt;mn&gt;0.&lt;/mn&gt;&lt;mrow data-mjx-texclass=&quot;ORD&quot;&gt;&lt;mover&gt;&lt;mn&gt;3&lt;/mn&gt;&lt;mo&gt;˙&lt;/mo&gt;&lt;/mover&gt;&lt;/mrow&gt;&lt;/math&gt;" id="2138" name="Google Shape;2138;p161" title="one third equals 1 divided by 3 equals the repeating decimal 0 point followed by repeating digit 3"/>
          <p:cNvPicPr preferRelativeResize="0"/>
          <p:nvPr/>
        </p:nvPicPr>
        <p:blipFill rotWithShape="1">
          <a:blip r:embed="rId4">
            <a:alphaModFix/>
          </a:blip>
          <a:srcRect b="0" l="64307" r="-4334" t="0"/>
          <a:stretch/>
        </p:blipFill>
        <p:spPr>
          <a:xfrm>
            <a:off x="5008698" y="3266699"/>
            <a:ext cx="1103727" cy="789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161"/>
          <p:cNvSpPr txBox="1"/>
          <p:nvPr/>
        </p:nvSpPr>
        <p:spPr>
          <a:xfrm>
            <a:off x="319950" y="4389450"/>
            <a:ext cx="774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a percentage of 270 is 33.3% (1 d.p.)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61"/>
          <p:cNvSpPr txBox="1"/>
          <p:nvPr/>
        </p:nvSpPr>
        <p:spPr>
          <a:xfrm>
            <a:off x="7721125" y="2954630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161"/>
          <p:cNvSpPr txBox="1"/>
          <p:nvPr/>
        </p:nvSpPr>
        <p:spPr>
          <a:xfrm>
            <a:off x="7975121" y="2954630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161"/>
          <p:cNvSpPr txBox="1"/>
          <p:nvPr/>
        </p:nvSpPr>
        <p:spPr>
          <a:xfrm>
            <a:off x="7102225" y="2473912"/>
            <a:ext cx="483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3" name="Google Shape;2143;p161"/>
          <p:cNvGrpSpPr/>
          <p:nvPr/>
        </p:nvGrpSpPr>
        <p:grpSpPr>
          <a:xfrm>
            <a:off x="7328580" y="2020100"/>
            <a:ext cx="264300" cy="1586710"/>
            <a:chOff x="6828255" y="1827525"/>
            <a:chExt cx="264300" cy="1586710"/>
          </a:xfrm>
        </p:grpSpPr>
        <p:sp>
          <p:nvSpPr>
            <p:cNvPr id="2144" name="Google Shape;2144;p161"/>
            <p:cNvSpPr txBox="1"/>
            <p:nvPr/>
          </p:nvSpPr>
          <p:spPr>
            <a:xfrm>
              <a:off x="6828255" y="2325235"/>
              <a:ext cx="2643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7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5" name="Google Shape;2145;p161"/>
            <p:cNvSpPr txBox="1"/>
            <p:nvPr/>
          </p:nvSpPr>
          <p:spPr>
            <a:xfrm>
              <a:off x="6828255" y="1827525"/>
              <a:ext cx="2643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r>
                <a:rPr lang="en-GB" sz="57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6" name="Google Shape;2146;p161"/>
          <p:cNvSpPr txBox="1"/>
          <p:nvPr/>
        </p:nvSpPr>
        <p:spPr>
          <a:xfrm>
            <a:off x="7444142" y="2473912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61"/>
          <p:cNvSpPr txBox="1"/>
          <p:nvPr/>
        </p:nvSpPr>
        <p:spPr>
          <a:xfrm>
            <a:off x="7698137" y="2473912"/>
            <a:ext cx="4836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61"/>
          <p:cNvSpPr txBox="1"/>
          <p:nvPr/>
        </p:nvSpPr>
        <p:spPr>
          <a:xfrm>
            <a:off x="7952136" y="2473926"/>
            <a:ext cx="605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3…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61"/>
          <p:cNvSpPr txBox="1"/>
          <p:nvPr/>
        </p:nvSpPr>
        <p:spPr>
          <a:xfrm>
            <a:off x="7625986" y="2811024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161"/>
          <p:cNvSpPr txBox="1"/>
          <p:nvPr/>
        </p:nvSpPr>
        <p:spPr>
          <a:xfrm>
            <a:off x="7354113" y="2817808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61"/>
          <p:cNvSpPr txBox="1"/>
          <p:nvPr/>
        </p:nvSpPr>
        <p:spPr>
          <a:xfrm>
            <a:off x="7467130" y="2954630"/>
            <a:ext cx="3633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61"/>
          <p:cNvSpPr txBox="1"/>
          <p:nvPr/>
        </p:nvSpPr>
        <p:spPr>
          <a:xfrm>
            <a:off x="7879981" y="2811024"/>
            <a:ext cx="2643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3" name="Google Shape;2153;p161"/>
          <p:cNvGrpSpPr/>
          <p:nvPr/>
        </p:nvGrpSpPr>
        <p:grpSpPr>
          <a:xfrm>
            <a:off x="6498658" y="2544954"/>
            <a:ext cx="2146725" cy="1088989"/>
            <a:chOff x="5998333" y="2352379"/>
            <a:chExt cx="2146725" cy="1088989"/>
          </a:xfrm>
        </p:grpSpPr>
        <p:grpSp>
          <p:nvGrpSpPr>
            <p:cNvPr id="2154" name="Google Shape;2154;p161"/>
            <p:cNvGrpSpPr/>
            <p:nvPr/>
          </p:nvGrpSpPr>
          <p:grpSpPr>
            <a:xfrm>
              <a:off x="5998333" y="2352379"/>
              <a:ext cx="2146725" cy="1088989"/>
              <a:chOff x="2800350" y="2259775"/>
              <a:chExt cx="4423500" cy="980100"/>
            </a:xfrm>
          </p:grpSpPr>
          <p:sp>
            <p:nvSpPr>
              <p:cNvPr id="2155" name="Google Shape;2155;p161"/>
              <p:cNvSpPr txBox="1"/>
              <p:nvPr/>
            </p:nvSpPr>
            <p:spPr>
              <a:xfrm>
                <a:off x="2800350" y="2259775"/>
                <a:ext cx="4423500" cy="9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57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3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24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4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156" name="Google Shape;2156;p161"/>
              <p:cNvCxnSpPr/>
              <p:nvPr/>
            </p:nvCxnSpPr>
            <p:spPr>
              <a:xfrm>
                <a:off x="3763759" y="2580422"/>
                <a:ext cx="3121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57" name="Google Shape;2157;p161"/>
            <p:cNvCxnSpPr/>
            <p:nvPr/>
          </p:nvCxnSpPr>
          <p:spPr>
            <a:xfrm rot="10800000">
              <a:off x="6476925" y="2694375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58" name="Google Shape;2158;p161"/>
          <p:cNvSpPr txBox="1"/>
          <p:nvPr/>
        </p:nvSpPr>
        <p:spPr>
          <a:xfrm>
            <a:off x="735575" y="1626972"/>
            <a:ext cx="1669500" cy="8607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as a fraction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161"/>
          <p:cNvSpPr txBox="1"/>
          <p:nvPr/>
        </p:nvSpPr>
        <p:spPr>
          <a:xfrm>
            <a:off x="735575" y="2485661"/>
            <a:ext cx="1669500" cy="5232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161"/>
          <p:cNvSpPr txBox="1"/>
          <p:nvPr/>
        </p:nvSpPr>
        <p:spPr>
          <a:xfrm>
            <a:off x="722400" y="3223822"/>
            <a:ext cx="1924800" cy="927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to a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percentage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62"/>
          <p:cNvSpPr txBox="1"/>
          <p:nvPr>
            <p:ph idx="1" type="body"/>
          </p:nvPr>
        </p:nvSpPr>
        <p:spPr>
          <a:xfrm>
            <a:off x="324000" y="759300"/>
            <a:ext cx="4377300" cy="4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35 as a </a:t>
            </a:r>
            <a:r>
              <a:rPr lang="en-GB"/>
              <a:t>percentage</a:t>
            </a:r>
            <a:r>
              <a:rPr lang="en-GB"/>
              <a:t> of 50</a:t>
            </a:r>
            <a:endParaRPr/>
          </a:p>
        </p:txBody>
      </p:sp>
      <p:sp>
        <p:nvSpPr>
          <p:cNvPr id="2166" name="Google Shape;2166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5}{50}=\frac{5\times7}{5\times10}=\frac{7}{10}&quot;&gt;&lt;mfrac&gt;&lt;mn&gt;35&lt;/mn&gt;&lt;mn&gt;50&lt;/mn&gt;&lt;/mfrac&gt;&lt;mo&gt;=&lt;/mo&gt;&lt;mfrac&gt;&lt;mrow&gt;&lt;mn&gt;5&lt;/mn&gt;&lt;mo&gt;×&lt;/mo&gt;&lt;mn&gt;7&lt;/mn&gt;&lt;/mrow&gt;&lt;mrow&gt;&lt;mn&gt;5&lt;/mn&gt;&lt;mo&gt;×&lt;/mo&gt;&lt;mn&gt;10&lt;/mn&gt;&lt;/mrow&gt;&lt;/mfrac&gt;&lt;mo&gt;=&lt;/mo&gt;&lt;mfrac&gt;&lt;mn&gt;7&lt;/mn&gt;&lt;mn&gt;10&lt;/mn&gt;&lt;/mfrac&gt;&lt;/math&gt;" id="2167" name="Google Shape;2167;p162" title="35 over 50 equals the fraction with numerator 5 times 7 and denominator 5 times 10 equals 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273" y="1737950"/>
            <a:ext cx="2572125" cy="6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8" name="Google Shape;2168;p162"/>
          <p:cNvSpPr txBox="1"/>
          <p:nvPr/>
        </p:nvSpPr>
        <p:spPr>
          <a:xfrm>
            <a:off x="2442225" y="3835550"/>
            <a:ext cx="460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a percentage of 50 is 70%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=7\div10\ =\ 0.7\ \ \ \ \ \ \frac{7}{10}=\frac{7\times10}{10\times10}=\ \frac{70}{100}&quot;&gt;&lt;mfrac&gt;&lt;mn&gt;7&lt;/mn&gt;&lt;mn&gt;10&lt;/mn&gt;&lt;/mfrac&gt;&lt;mo&gt;=&lt;/mo&gt;&lt;mn&gt;7&lt;/mn&gt;&lt;mo&gt;÷&lt;/mo&gt;&lt;mn&gt;10&lt;/mn&gt;&lt;mtext&gt;&lt;/mtext&gt;&lt;mo&gt;=&lt;/mo&gt;&lt;mtext&gt;&lt;/mtext&gt;&lt;mn&gt;0.7&lt;/mn&gt;&lt;mtext&gt;&lt;/mtext&gt;&lt;mtext&gt;&lt;/mtext&gt;&lt;mtext&gt;&lt;/mtext&gt;&lt;mtext&gt;&lt;/mtext&gt;&lt;mtext&gt;&lt;/mtext&gt;&lt;mtext&gt;&lt;/mtext&gt;&lt;mfrac&gt;&lt;mn&gt;7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text&gt;&lt;/mtext&gt;&lt;mfrac&gt;&lt;mn&gt;70&lt;/mn&gt;&lt;mn&gt;100&lt;/mn&gt;&lt;/mfrac&gt;&lt;/math&gt;" id="2169" name="Google Shape;2169;p162" title="seven tenths equals 7 divided by 10 equals 0.7 seven tenths equals the fraction with numerator 7 times 10 and denominator 10 times 10 equals 70 over 100"/>
          <p:cNvPicPr preferRelativeResize="0"/>
          <p:nvPr/>
        </p:nvPicPr>
        <p:blipFill rotWithShape="1">
          <a:blip r:embed="rId4">
            <a:alphaModFix/>
          </a:blip>
          <a:srcRect b="0" l="0" r="65033" t="0"/>
          <a:stretch/>
        </p:blipFill>
        <p:spPr>
          <a:xfrm>
            <a:off x="3202275" y="2786750"/>
            <a:ext cx="2144451" cy="6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0" name="Google Shape;2170;p162"/>
          <p:cNvSpPr txBox="1"/>
          <p:nvPr/>
        </p:nvSpPr>
        <p:spPr>
          <a:xfrm>
            <a:off x="1594688" y="25684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1" name="Google Shape;2171;p162"/>
          <p:cNvSpPr txBox="1"/>
          <p:nvPr/>
        </p:nvSpPr>
        <p:spPr>
          <a:xfrm>
            <a:off x="1874611" y="2668338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62"/>
          <p:cNvSpPr txBox="1"/>
          <p:nvPr/>
        </p:nvSpPr>
        <p:spPr>
          <a:xfrm>
            <a:off x="2027013" y="2668338"/>
            <a:ext cx="351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62"/>
          <p:cNvSpPr txBox="1"/>
          <p:nvPr/>
        </p:nvSpPr>
        <p:spPr>
          <a:xfrm>
            <a:off x="1946438" y="2938338"/>
            <a:ext cx="237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62"/>
          <p:cNvSpPr txBox="1"/>
          <p:nvPr/>
        </p:nvSpPr>
        <p:spPr>
          <a:xfrm>
            <a:off x="1874611" y="2160003"/>
            <a:ext cx="237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62"/>
          <p:cNvSpPr txBox="1"/>
          <p:nvPr/>
        </p:nvSpPr>
        <p:spPr>
          <a:xfrm>
            <a:off x="2051888" y="2568438"/>
            <a:ext cx="43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162"/>
          <p:cNvSpPr txBox="1"/>
          <p:nvPr/>
        </p:nvSpPr>
        <p:spPr>
          <a:xfrm>
            <a:off x="710088" y="2776000"/>
            <a:ext cx="12969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7" name="Google Shape;2177;p162"/>
          <p:cNvGrpSpPr/>
          <p:nvPr/>
        </p:nvGrpSpPr>
        <p:grpSpPr>
          <a:xfrm>
            <a:off x="1530836" y="3030577"/>
            <a:ext cx="830100" cy="406060"/>
            <a:chOff x="6689574" y="3307940"/>
            <a:chExt cx="830100" cy="406060"/>
          </a:xfrm>
        </p:grpSpPr>
        <p:cxnSp>
          <p:nvCxnSpPr>
            <p:cNvPr id="2178" name="Google Shape;2178;p162"/>
            <p:cNvCxnSpPr/>
            <p:nvPr/>
          </p:nvCxnSpPr>
          <p:spPr>
            <a:xfrm>
              <a:off x="6689574" y="3307940"/>
              <a:ext cx="830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9" name="Google Shape;2179;p162"/>
            <p:cNvCxnSpPr/>
            <p:nvPr/>
          </p:nvCxnSpPr>
          <p:spPr>
            <a:xfrm rot="10800000">
              <a:off x="6705150" y="3309000"/>
              <a:ext cx="0" cy="405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80" name="Google Shape;2180;p162"/>
          <p:cNvSpPr txBox="1"/>
          <p:nvPr/>
        </p:nvSpPr>
        <p:spPr>
          <a:xfrm>
            <a:off x="6442275" y="2571750"/>
            <a:ext cx="1838100" cy="912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short division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162"/>
          <p:cNvSpPr txBox="1"/>
          <p:nvPr/>
        </p:nvSpPr>
        <p:spPr>
          <a:xfrm>
            <a:off x="1013750" y="2668327"/>
            <a:ext cx="23130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5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=7\div10\ =\ 0.7\ \ \ \ \ \ \frac{7}{10}=\frac{7\times10}{10\times10}=\ \frac{70}{100}&quot;&gt;&lt;mfrac&gt;&lt;mn&gt;7&lt;/mn&gt;&lt;mn&gt;10&lt;/mn&gt;&lt;/mfrac&gt;&lt;mo&gt;=&lt;/mo&gt;&lt;mn&gt;7&lt;/mn&gt;&lt;mo&gt;÷&lt;/mo&gt;&lt;mn&gt;10&lt;/mn&gt;&lt;mtext&gt;&lt;/mtext&gt;&lt;mo&gt;=&lt;/mo&gt;&lt;mtext&gt;&lt;/mtext&gt;&lt;mn&gt;0.7&lt;/mn&gt;&lt;mtext&gt;&lt;/mtext&gt;&lt;mtext&gt;&lt;/mtext&gt;&lt;mtext&gt;&lt;/mtext&gt;&lt;mtext&gt;&lt;/mtext&gt;&lt;mtext&gt;&lt;/mtext&gt;&lt;mtext&gt;&lt;/mtext&gt;&lt;mfrac&gt;&lt;mn&gt;7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text&gt;&lt;/mtext&gt;&lt;mfrac&gt;&lt;mn&gt;70&lt;/mn&gt;&lt;mn&gt;100&lt;/mn&gt;&lt;/mfrac&gt;&lt;/math&gt;" id="2182" name="Google Shape;2182;p162" title="seven tenths equals 7 divided by 10 equals 0.7 seven tenths equals the fraction with numerator 7 times 10 and denominator 10 times 10 equals 70 over 100"/>
          <p:cNvPicPr preferRelativeResize="0"/>
          <p:nvPr/>
        </p:nvPicPr>
        <p:blipFill rotWithShape="1">
          <a:blip r:embed="rId4">
            <a:alphaModFix/>
          </a:blip>
          <a:srcRect b="0" l="34228" r="53460" t="0"/>
          <a:stretch/>
        </p:blipFill>
        <p:spPr>
          <a:xfrm>
            <a:off x="5301450" y="2786750"/>
            <a:ext cx="755049" cy="6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163"/>
          <p:cNvSpPr txBox="1"/>
          <p:nvPr>
            <p:ph idx="1" type="body"/>
          </p:nvPr>
        </p:nvSpPr>
        <p:spPr>
          <a:xfrm>
            <a:off x="324000" y="759300"/>
            <a:ext cx="4377300" cy="4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35 as a percentage of 50</a:t>
            </a:r>
            <a:endParaRPr/>
          </a:p>
        </p:txBody>
      </p:sp>
      <p:sp>
        <p:nvSpPr>
          <p:cNvPr id="2188" name="Google Shape;2188;p16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5}{50}=\frac{5\times7}{5\times10}=\frac{7}{10}&quot;&gt;&lt;mfrac&gt;&lt;mn&gt;35&lt;/mn&gt;&lt;mn&gt;50&lt;/mn&gt;&lt;/mfrac&gt;&lt;mo&gt;=&lt;/mo&gt;&lt;mfrac&gt;&lt;mrow&gt;&lt;mn&gt;5&lt;/mn&gt;&lt;mo&gt;×&lt;/mo&gt;&lt;mn&gt;7&lt;/mn&gt;&lt;/mrow&gt;&lt;mrow&gt;&lt;mn&gt;5&lt;/mn&gt;&lt;mo&gt;×&lt;/mo&gt;&lt;mn&gt;10&lt;/mn&gt;&lt;/mrow&gt;&lt;/mfrac&gt;&lt;mo&gt;=&lt;/mo&gt;&lt;mfrac&gt;&lt;mn&gt;7&lt;/mn&gt;&lt;mn&gt;10&lt;/mn&gt;&lt;/mfrac&gt;&lt;/math&gt;" id="2189" name="Google Shape;2189;p163" title="35 over 50 equals the fraction with numerator 5 times 7 and denominator 5 times 10 equals 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273" y="1737950"/>
            <a:ext cx="2572125" cy="6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163"/>
          <p:cNvSpPr txBox="1"/>
          <p:nvPr/>
        </p:nvSpPr>
        <p:spPr>
          <a:xfrm>
            <a:off x="2442225" y="3835550"/>
            <a:ext cx="460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 as a percentage of 50 is 70%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10}=7\div10\ =\ 0.7\ \ \ \ \ \ \frac{7}{10}=\frac{7\times10}{10\times10}=\ \frac{70}{100}&quot;&gt;&lt;mfrac&gt;&lt;mn&gt;7&lt;/mn&gt;&lt;mn&gt;10&lt;/mn&gt;&lt;/mfrac&gt;&lt;mo&gt;=&lt;/mo&gt;&lt;mn&gt;7&lt;/mn&gt;&lt;mo&gt;÷&lt;/mo&gt;&lt;mn&gt;10&lt;/mn&gt;&lt;mtext&gt;&lt;/mtext&gt;&lt;mo&gt;=&lt;/mo&gt;&lt;mtext&gt;&lt;/mtext&gt;&lt;mn&gt;0.7&lt;/mn&gt;&lt;mtext&gt;&lt;/mtext&gt;&lt;mtext&gt;&lt;/mtext&gt;&lt;mtext&gt;&lt;/mtext&gt;&lt;mtext&gt;&lt;/mtext&gt;&lt;mtext&gt;&lt;/mtext&gt;&lt;mtext&gt;&lt;/mtext&gt;&lt;mfrac&gt;&lt;mn&gt;7&lt;/mn&gt;&lt;mn&gt;10&lt;/mn&gt;&lt;/mfrac&gt;&lt;mo&gt;=&lt;/mo&gt;&lt;mfrac&gt;&lt;mrow&gt;&lt;mn&gt;7&lt;/mn&gt;&lt;mo&gt;×&lt;/mo&gt;&lt;mn&gt;10&lt;/mn&gt;&lt;/mrow&gt;&lt;mrow&gt;&lt;mn&gt;10&lt;/mn&gt;&lt;mo&gt;×&lt;/mo&gt;&lt;mn&gt;10&lt;/mn&gt;&lt;/mrow&gt;&lt;/mfrac&gt;&lt;mo&gt;=&lt;/mo&gt;&lt;mtext&gt;&lt;/mtext&gt;&lt;mfrac&gt;&lt;mn&gt;70&lt;/mn&gt;&lt;mn&gt;100&lt;/mn&gt;&lt;/mfrac&gt;&lt;/math&gt;" id="2191" name="Google Shape;2191;p163" title="seven tenths equals 7 divided by 10 equals 0.7 seven tenths equals the fraction with numerator 7 times 10 and denominator 10 times 10 equals 70 over 100"/>
          <p:cNvPicPr preferRelativeResize="0"/>
          <p:nvPr/>
        </p:nvPicPr>
        <p:blipFill rotWithShape="1">
          <a:blip r:embed="rId4">
            <a:alphaModFix/>
          </a:blip>
          <a:srcRect b="0" l="48896" r="0" t="0"/>
          <a:stretch/>
        </p:blipFill>
        <p:spPr>
          <a:xfrm>
            <a:off x="2752944" y="2786750"/>
            <a:ext cx="3134101" cy="6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63"/>
          <p:cNvSpPr txBox="1"/>
          <p:nvPr/>
        </p:nvSpPr>
        <p:spPr>
          <a:xfrm>
            <a:off x="6593850" y="2347075"/>
            <a:ext cx="1730700" cy="1302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64"/>
          <p:cNvSpPr txBox="1"/>
          <p:nvPr>
            <p:ph idx="1" type="body"/>
          </p:nvPr>
        </p:nvSpPr>
        <p:spPr>
          <a:xfrm>
            <a:off x="324000" y="759300"/>
            <a:ext cx="8421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Work out the following, giving your answer to 2 d.p. where appropriate: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21 as a percentage of 25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60 as a percentage of 80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84 as a percentage of 240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81 </a:t>
            </a:r>
            <a:r>
              <a:rPr lang="en-GB" sz="1800"/>
              <a:t>as a percentage of 240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37 as a percentage of 60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19 as a </a:t>
            </a:r>
            <a:r>
              <a:rPr lang="en-GB" sz="1800"/>
              <a:t>percentage</a:t>
            </a:r>
            <a:r>
              <a:rPr lang="en-GB" sz="1800"/>
              <a:t> of 40</a:t>
            </a:r>
            <a:endParaRPr sz="1800"/>
          </a:p>
        </p:txBody>
      </p:sp>
      <p:sp>
        <p:nvSpPr>
          <p:cNvPr id="2198" name="Google Shape;2198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165"/>
          <p:cNvSpPr txBox="1"/>
          <p:nvPr>
            <p:ph idx="1" type="body"/>
          </p:nvPr>
        </p:nvSpPr>
        <p:spPr>
          <a:xfrm>
            <a:off x="324000" y="759300"/>
            <a:ext cx="8237700" cy="3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Laura is ill and misses her first day of school.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a) What is her percentage attendance after day one?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Laura is better the next day and attends school.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b) What is her percentage attendance after day two?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Laura attends the rest of that week and all of the next week.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c) What is her percentage attendance after day five?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d) What is her percentage attendance after day ten?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Laura says that she will need to attend every day for the rest of the year to get 100% attendance.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e) Is Laura correct? Why or why not?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</a:t>
            </a:r>
            <a:endParaRPr sz="1900"/>
          </a:p>
        </p:txBody>
      </p:sp>
      <p:sp>
        <p:nvSpPr>
          <p:cNvPr id="2204" name="Google Shape;2204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166"/>
          <p:cNvSpPr txBox="1"/>
          <p:nvPr>
            <p:ph idx="1" type="body"/>
          </p:nvPr>
        </p:nvSpPr>
        <p:spPr>
          <a:xfrm>
            <a:off x="324000" y="759300"/>
            <a:ext cx="8379000" cy="39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Work out the following, giving your answer to 2 d.p. where appropriate: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21 as a percentage of 25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60 as a percentage of 80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84 as a percentage of 240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81 as a percentage of 240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37 as a percentage of 60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19 as a percentage of 40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sp>
        <p:nvSpPr>
          <p:cNvPr id="2211" name="Google Shape;2211;p166"/>
          <p:cNvSpPr txBox="1"/>
          <p:nvPr/>
        </p:nvSpPr>
        <p:spPr>
          <a:xfrm>
            <a:off x="4114800" y="943825"/>
            <a:ext cx="797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84%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2" name="Google Shape;2212;p166"/>
          <p:cNvSpPr txBox="1"/>
          <p:nvPr/>
        </p:nvSpPr>
        <p:spPr>
          <a:xfrm>
            <a:off x="4114800" y="1482625"/>
            <a:ext cx="797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75%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3" name="Google Shape;2213;p166"/>
          <p:cNvSpPr txBox="1"/>
          <p:nvPr/>
        </p:nvSpPr>
        <p:spPr>
          <a:xfrm>
            <a:off x="4114800" y="1999525"/>
            <a:ext cx="797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35%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4" name="Google Shape;2214;p166"/>
          <p:cNvSpPr txBox="1"/>
          <p:nvPr/>
        </p:nvSpPr>
        <p:spPr>
          <a:xfrm>
            <a:off x="4195000" y="3203675"/>
            <a:ext cx="250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61.67% (2 d.p.)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5" name="Google Shape;2215;p166"/>
          <p:cNvSpPr txBox="1"/>
          <p:nvPr/>
        </p:nvSpPr>
        <p:spPr>
          <a:xfrm>
            <a:off x="4195000" y="3783550"/>
            <a:ext cx="1041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47.5%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6" name="Google Shape;2216;p166"/>
          <p:cNvSpPr txBox="1"/>
          <p:nvPr/>
        </p:nvSpPr>
        <p:spPr>
          <a:xfrm>
            <a:off x="4195000" y="2560225"/>
            <a:ext cx="1453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33.75%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sp>
        <p:nvSpPr>
          <p:cNvPr id="2222" name="Google Shape;2222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Laura is ill and misses her first day of school.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a) What is her percentage attendance after day one?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900"/>
            </a:br>
            <a:r>
              <a:rPr lang="en-GB" sz="1900"/>
              <a:t>Laura is better the next day and attends school.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b) What is her percentage attendance after day two?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900"/>
            </a:br>
            <a:r>
              <a:rPr lang="en-GB" sz="1900"/>
              <a:t>Laura attends the rest of that week and all of the next week.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c) What is her percentage attendance after day five?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d) What is her percentage attendance after day ten?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23" name="Google Shape;2223;p167"/>
          <p:cNvSpPr txBox="1"/>
          <p:nvPr/>
        </p:nvSpPr>
        <p:spPr>
          <a:xfrm>
            <a:off x="6710225" y="973025"/>
            <a:ext cx="68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4" name="Google Shape;2224;p167"/>
          <p:cNvSpPr txBox="1"/>
          <p:nvPr/>
        </p:nvSpPr>
        <p:spPr>
          <a:xfrm>
            <a:off x="6674250" y="1887575"/>
            <a:ext cx="106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5" name="Google Shape;2225;p167"/>
          <p:cNvSpPr txBox="1"/>
          <p:nvPr/>
        </p:nvSpPr>
        <p:spPr>
          <a:xfrm>
            <a:off x="6710225" y="2888438"/>
            <a:ext cx="106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6" name="Google Shape;2226;p167"/>
          <p:cNvSpPr txBox="1"/>
          <p:nvPr/>
        </p:nvSpPr>
        <p:spPr>
          <a:xfrm>
            <a:off x="6710225" y="3327313"/>
            <a:ext cx="106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1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any number as a percentage of another</a:t>
            </a:r>
            <a:endParaRPr/>
          </a:p>
        </p:txBody>
      </p:sp>
      <p:sp>
        <p:nvSpPr>
          <p:cNvPr id="2232" name="Google Shape;2232;p168"/>
          <p:cNvSpPr txBox="1"/>
          <p:nvPr>
            <p:ph idx="1" type="body"/>
          </p:nvPr>
        </p:nvSpPr>
        <p:spPr>
          <a:xfrm>
            <a:off x="324000" y="759300"/>
            <a:ext cx="8237700" cy="10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Laura</a:t>
            </a:r>
            <a:r>
              <a:rPr lang="en-GB" sz="1900"/>
              <a:t> says that she will need to attend every day for the rest of the year to get 100% attendance.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e) Is </a:t>
            </a:r>
            <a:r>
              <a:rPr lang="en-GB" sz="1900"/>
              <a:t>Laura</a:t>
            </a:r>
            <a:r>
              <a:rPr lang="en-GB" sz="1900"/>
              <a:t> correct? Why or why not?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</a:t>
            </a:r>
            <a:endParaRPr sz="1900"/>
          </a:p>
        </p:txBody>
      </p:sp>
      <p:sp>
        <p:nvSpPr>
          <p:cNvPr id="2233" name="Google Shape;2233;p168"/>
          <p:cNvSpPr txBox="1"/>
          <p:nvPr/>
        </p:nvSpPr>
        <p:spPr>
          <a:xfrm>
            <a:off x="299250" y="1858800"/>
            <a:ext cx="82626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not correct – she cannot get 100% attendance for the year, as she has already missed a day.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highest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’s attendance can be, to the nearest whole number, is 99% (as 189 ÷ 190 × 100 = 99.473684…). The lowest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’s attendance could be is 5% (as 9 ÷ 190 × 100 = 4.736842…)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6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</a:t>
            </a:r>
            <a:r>
              <a:rPr lang="en-GB" sz="2000"/>
              <a:t>have</a:t>
            </a:r>
            <a:r>
              <a:rPr lang="en-GB" sz="2000"/>
              <a:t> looked at how to</a:t>
            </a:r>
            <a:r>
              <a:rPr lang="en-GB" sz="2000"/>
              <a:t> write any fraction as a </a:t>
            </a:r>
            <a:r>
              <a:rPr lang="en-GB" sz="2000"/>
              <a:t>percentage.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the denominator is a factor of 100, we can work out the equivalent</a:t>
            </a:r>
            <a:r>
              <a:rPr b="1" lang="en-GB" sz="2000"/>
              <a:t> </a:t>
            </a:r>
            <a:r>
              <a:rPr lang="en-GB" sz="2000"/>
              <a:t>percentage easily.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We can also convert a fraction to a decimal and then convert this into a percentage for any fraction.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There are lots of ways we can make sense of writing one number as a percentage of another. In this lesson we looked at </a:t>
            </a:r>
            <a:r>
              <a:rPr lang="en-GB" sz="2000"/>
              <a:t>vertical</a:t>
            </a:r>
            <a:r>
              <a:rPr lang="en-GB" sz="2000"/>
              <a:t> bars, double number lines and using equivalent</a:t>
            </a:r>
            <a:r>
              <a:rPr b="1" lang="en-GB" sz="2000"/>
              <a:t> </a:t>
            </a:r>
            <a:r>
              <a:rPr lang="en-GB" sz="2000"/>
              <a:t>fractions.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239" name="Google Shape;2239;p169"/>
          <p:cNvSpPr txBox="1"/>
          <p:nvPr>
            <p:ph type="title"/>
          </p:nvPr>
        </p:nvSpPr>
        <p:spPr>
          <a:xfrm>
            <a:off x="1701300" y="348600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7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45" name="Google Shape;2245;p1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