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81BBF3D-6789-4361-93D4-358C44B4AF3D}">
  <a:tblStyle styleId="{481BBF3D-6789-4361-93D4-358C44B4AF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3" name="Shape 223"/>
        <p:cNvGrpSpPr/>
        <p:nvPr/>
      </p:nvGrpSpPr>
      <p:grpSpPr>
        <a:xfrm>
          <a:off x="0" y="0"/>
          <a:ext cx="0" cy="0"/>
        </a:xfrm>
      </p:grpSpPr>
      <p:sp>
        <p:nvSpPr>
          <p:cNvPr id="224" name="Google Shape;22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amount after an increase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58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Finding the original value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6352327" y="7239000"/>
            <a:ext cx="72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>
            <a:graphicFrameLocks noGrp="1"/>
          </p:cNvGraphicFramePr>
          <p:nvPr/>
        </p:nvGraphicFramePr>
        <p:xfrm>
          <a:off x="609000" y="3083966"/>
          <a:ext cx="6115175" cy="335300"/>
        </p:xfrm>
        <a:graphic>
          <a:graphicData uri="http://schemas.openxmlformats.org/drawingml/2006/table">
            <a:tbl>
              <a:tblPr>
                <a:noFill/>
                <a:tableStyleId>{481BBF3D-6789-4361-93D4-358C44B4AF3D}</a:tableStyleId>
              </a:tblPr>
              <a:tblGrid>
                <a:gridCol w="3057600"/>
                <a:gridCol w="1834550"/>
                <a:gridCol w="1223025"/>
              </a:tblGrid>
              <a:tr h="335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609000" y="4357009"/>
          <a:ext cx="6115175" cy="345600"/>
        </p:xfrm>
        <a:graphic>
          <a:graphicData uri="http://schemas.openxmlformats.org/drawingml/2006/table">
            <a:tbl>
              <a:tblPr>
                <a:noFill/>
                <a:tableStyleId>{481BBF3D-6789-4361-93D4-358C44B4AF3D}</a:tableStyleId>
              </a:tblPr>
              <a:tblGrid>
                <a:gridCol w="2431100"/>
                <a:gridCol w="1215525"/>
                <a:gridCol w="2263150"/>
                <a:gridCol w="205400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609000" y="5592383"/>
          <a:ext cx="6142100" cy="345600"/>
        </p:xfrm>
        <a:graphic>
          <a:graphicData uri="http://schemas.openxmlformats.org/drawingml/2006/table">
            <a:tbl>
              <a:tblPr>
                <a:noFill/>
                <a:tableStyleId>{481BBF3D-6789-4361-93D4-358C44B4AF3D}</a:tableStyleId>
              </a:tblPr>
              <a:tblGrid>
                <a:gridCol w="3071050"/>
                <a:gridCol w="1842625"/>
                <a:gridCol w="1228425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609000" y="6800850"/>
          <a:ext cx="6187950" cy="345600"/>
        </p:xfrm>
        <a:graphic>
          <a:graphicData uri="http://schemas.openxmlformats.org/drawingml/2006/table">
            <a:tbl>
              <a:tblPr>
                <a:noFill/>
                <a:tableStyleId>{481BBF3D-6789-4361-93D4-358C44B4AF3D}</a:tableStyleId>
              </a:tblPr>
              <a:tblGrid>
                <a:gridCol w="1856375"/>
                <a:gridCol w="2803600"/>
                <a:gridCol w="1193250"/>
                <a:gridCol w="334725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67" name="Google Shape;167;p20"/>
          <p:cNvCxnSpPr/>
          <p:nvPr/>
        </p:nvCxnSpPr>
        <p:spPr>
          <a:xfrm>
            <a:off x="582075" y="3471866"/>
            <a:ext cx="6149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8" name="Google Shape;168;p20"/>
          <p:cNvCxnSpPr/>
          <p:nvPr/>
        </p:nvCxnSpPr>
        <p:spPr>
          <a:xfrm>
            <a:off x="566250" y="5992300"/>
            <a:ext cx="3103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9" name="Google Shape;169;p20"/>
          <p:cNvCxnSpPr/>
          <p:nvPr/>
        </p:nvCxnSpPr>
        <p:spPr>
          <a:xfrm>
            <a:off x="6462225" y="7212844"/>
            <a:ext cx="375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0" name="Google Shape;170;p20"/>
          <p:cNvSpPr txBox="1"/>
          <p:nvPr/>
        </p:nvSpPr>
        <p:spPr>
          <a:xfrm>
            <a:off x="3371825" y="3460945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543025" y="4745080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718708" y="5959795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" name="Google Shape;173;p20"/>
          <p:cNvCxnSpPr/>
          <p:nvPr/>
        </p:nvCxnSpPr>
        <p:spPr>
          <a:xfrm>
            <a:off x="566250" y="4750917"/>
            <a:ext cx="247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4" name="Google Shape;174;p20"/>
          <p:cNvSpPr/>
          <p:nvPr/>
        </p:nvSpPr>
        <p:spPr>
          <a:xfrm>
            <a:off x="2411725" y="3083878"/>
            <a:ext cx="375600" cy="335400"/>
          </a:xfrm>
          <a:prstGeom prst="sun">
            <a:avLst>
              <a:gd name="adj" fmla="val 25000"/>
            </a:avLst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074200" y="4356917"/>
            <a:ext cx="375600" cy="335400"/>
          </a:xfrm>
          <a:prstGeom prst="sun">
            <a:avLst>
              <a:gd name="adj" fmla="val 25000"/>
            </a:avLst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438225" y="5592337"/>
            <a:ext cx="375600" cy="335400"/>
          </a:xfrm>
          <a:prstGeom prst="sun">
            <a:avLst>
              <a:gd name="adj" fmla="val 25000"/>
            </a:avLst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803625" y="6813750"/>
            <a:ext cx="375600" cy="335400"/>
          </a:xfrm>
          <a:prstGeom prst="sun">
            <a:avLst>
              <a:gd name="adj" fmla="val 25000"/>
            </a:avLst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857925" y="3112962"/>
            <a:ext cx="375624" cy="277236"/>
          </a:xfrm>
          <a:prstGeom prst="cloud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761208" y="4391188"/>
            <a:ext cx="375624" cy="277236"/>
          </a:xfrm>
          <a:prstGeom prst="cloud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365975" y="5626575"/>
            <a:ext cx="375624" cy="277236"/>
          </a:xfrm>
          <a:prstGeom prst="cloud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212142" y="6834594"/>
            <a:ext cx="375624" cy="277236"/>
          </a:xfrm>
          <a:prstGeom prst="cloud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5918157" y="3102787"/>
            <a:ext cx="375597" cy="297578"/>
            <a:chOff x="197700" y="2943560"/>
            <a:chExt cx="594675" cy="471150"/>
          </a:xfrm>
        </p:grpSpPr>
        <p:sp>
          <p:nvSpPr>
            <p:cNvPr id="183" name="Google Shape;183;p2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" name="Google Shape;186;p20"/>
          <p:cNvGrpSpPr/>
          <p:nvPr/>
        </p:nvGrpSpPr>
        <p:grpSpPr>
          <a:xfrm>
            <a:off x="5646407" y="4381022"/>
            <a:ext cx="375597" cy="297578"/>
            <a:chOff x="197700" y="2943560"/>
            <a:chExt cx="594675" cy="471150"/>
          </a:xfrm>
        </p:grpSpPr>
        <p:sp>
          <p:nvSpPr>
            <p:cNvPr id="187" name="Google Shape;187;p2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6293740" y="5624838"/>
            <a:ext cx="375597" cy="297578"/>
            <a:chOff x="197700" y="2943560"/>
            <a:chExt cx="594675" cy="471150"/>
          </a:xfrm>
        </p:grpSpPr>
        <p:sp>
          <p:nvSpPr>
            <p:cNvPr id="191" name="Google Shape;191;p2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" name="Google Shape;194;p20"/>
          <p:cNvGrpSpPr/>
          <p:nvPr/>
        </p:nvGrpSpPr>
        <p:grpSpPr>
          <a:xfrm>
            <a:off x="5918157" y="6832772"/>
            <a:ext cx="375597" cy="297578"/>
            <a:chOff x="197700" y="2943560"/>
            <a:chExt cx="594675" cy="471150"/>
          </a:xfrm>
        </p:grpSpPr>
        <p:sp>
          <p:nvSpPr>
            <p:cNvPr id="195" name="Google Shape;195;p2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8" name="Google Shape;198;p20"/>
          <p:cNvSpPr/>
          <p:nvPr/>
        </p:nvSpPr>
        <p:spPr>
          <a:xfrm>
            <a:off x="6521700" y="4382355"/>
            <a:ext cx="200988" cy="337176"/>
          </a:xfrm>
          <a:prstGeom prst="lightningBolt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549525" y="6800813"/>
            <a:ext cx="200988" cy="337176"/>
          </a:xfrm>
          <a:prstGeom prst="lightningBolt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71225" y="2728913"/>
            <a:ext cx="9051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76400" y="1673700"/>
            <a:ext cx="6624000" cy="9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Four friends live in different places.  They draw bars to show the percentage of days that they experienced different weather.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how many days were sunny, cloudy, rainy or stormy for each person.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2801400" y="2357264"/>
            <a:ext cx="308700" cy="275700"/>
          </a:xfrm>
          <a:prstGeom prst="sun">
            <a:avLst>
              <a:gd name="adj" fmla="val 25000"/>
            </a:avLst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392771" y="2381174"/>
            <a:ext cx="308772" cy="227988"/>
          </a:xfrm>
          <a:prstGeom prst="cloud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" name="Google Shape;204;p20"/>
          <p:cNvGrpSpPr/>
          <p:nvPr/>
        </p:nvGrpSpPr>
        <p:grpSpPr>
          <a:xfrm>
            <a:off x="3908100" y="2355774"/>
            <a:ext cx="308755" cy="244668"/>
            <a:chOff x="197700" y="2943560"/>
            <a:chExt cx="594675" cy="471150"/>
          </a:xfrm>
        </p:grpSpPr>
        <p:sp>
          <p:nvSpPr>
            <p:cNvPr id="205" name="Google Shape;205;p2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8" name="Google Shape;208;p20"/>
          <p:cNvSpPr/>
          <p:nvPr/>
        </p:nvSpPr>
        <p:spPr>
          <a:xfrm>
            <a:off x="4660985" y="2355794"/>
            <a:ext cx="165240" cy="277182"/>
          </a:xfrm>
          <a:prstGeom prst="lightningBolt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74450" y="8574429"/>
            <a:ext cx="65208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original cost for each of these items, given that: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price of the trainers has increased by 10%.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price of the sunglasses has increased by 15%.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price of the car has increased by 17%.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00" y="7693265"/>
            <a:ext cx="793240" cy="504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20"/>
          <p:cNvGrpSpPr/>
          <p:nvPr/>
        </p:nvGrpSpPr>
        <p:grpSpPr>
          <a:xfrm>
            <a:off x="1160904" y="7720379"/>
            <a:ext cx="735756" cy="450052"/>
            <a:chOff x="6546880" y="2060737"/>
            <a:chExt cx="1129500" cy="690900"/>
          </a:xfrm>
        </p:grpSpPr>
        <p:sp>
          <p:nvSpPr>
            <p:cNvPr id="212" name="Google Shape;212;p20"/>
            <p:cNvSpPr/>
            <p:nvPr/>
          </p:nvSpPr>
          <p:spPr>
            <a:xfrm rot="-9581508">
              <a:off x="6571825" y="2237611"/>
              <a:ext cx="1079609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0"/>
            <p:cNvSpPr txBox="1"/>
            <p:nvPr/>
          </p:nvSpPr>
          <p:spPr>
            <a:xfrm rot="1287977">
              <a:off x="6887609" y="2242418"/>
              <a:ext cx="523837" cy="283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£66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4" name="Google Shape;2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4174" y="7674576"/>
            <a:ext cx="997537" cy="4500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0"/>
          <p:cNvGrpSpPr/>
          <p:nvPr/>
        </p:nvGrpSpPr>
        <p:grpSpPr>
          <a:xfrm>
            <a:off x="3517897" y="7740484"/>
            <a:ext cx="1043738" cy="563982"/>
            <a:chOff x="6546945" y="2060824"/>
            <a:chExt cx="1602300" cy="865800"/>
          </a:xfrm>
        </p:grpSpPr>
        <p:sp>
          <p:nvSpPr>
            <p:cNvPr id="216" name="Google Shape;216;p20"/>
            <p:cNvSpPr/>
            <p:nvPr/>
          </p:nvSpPr>
          <p:spPr>
            <a:xfrm rot="-9581652">
              <a:off x="6556234" y="2325148"/>
              <a:ext cx="1583722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 rot="1288362">
              <a:off x="6955698" y="2357942"/>
              <a:ext cx="961323" cy="283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£36.80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8" name="Google Shape;2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1686" y="7674575"/>
            <a:ext cx="1150383" cy="4112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20"/>
          <p:cNvGrpSpPr/>
          <p:nvPr/>
        </p:nvGrpSpPr>
        <p:grpSpPr>
          <a:xfrm>
            <a:off x="5483846" y="8007136"/>
            <a:ext cx="1043738" cy="563982"/>
            <a:chOff x="6546945" y="2060824"/>
            <a:chExt cx="1602300" cy="865800"/>
          </a:xfrm>
        </p:grpSpPr>
        <p:sp>
          <p:nvSpPr>
            <p:cNvPr id="220" name="Google Shape;220;p20"/>
            <p:cNvSpPr/>
            <p:nvPr/>
          </p:nvSpPr>
          <p:spPr>
            <a:xfrm rot="-9581652">
              <a:off x="6556234" y="2325148"/>
              <a:ext cx="1583722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0"/>
            <p:cNvSpPr txBox="1"/>
            <p:nvPr/>
          </p:nvSpPr>
          <p:spPr>
            <a:xfrm rot="1288362">
              <a:off x="6955698" y="2357942"/>
              <a:ext cx="961323" cy="283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£9360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22" name="Google Shape;222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sp>
        <p:nvSpPr>
          <p:cNvPr id="227" name="Google Shape;22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8" name="Google Shape;22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amount after an increase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476401" y="592175"/>
            <a:ext cx="6506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Using a multiplier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2" name="Google Shape;232;p21"/>
          <p:cNvGraphicFramePr>
            <a:graphicFrameLocks noGrp="1"/>
          </p:cNvGraphicFramePr>
          <p:nvPr/>
        </p:nvGraphicFramePr>
        <p:xfrm>
          <a:off x="451050" y="176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{481BBF3D-6789-4361-93D4-358C44B4AF3D}</a:tableStyleId>
              </a:tblPr>
              <a:tblGrid>
                <a:gridCol w="219850"/>
                <a:gridCol w="1844275"/>
                <a:gridCol w="1624825"/>
              </a:tblGrid>
              <a:tr h="305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Increase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Amount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412.16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522.24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326.34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33" name="Google Shape;233;p21"/>
          <p:cNvGraphicFramePr>
            <a:graphicFrameLocks noGrp="1"/>
          </p:cNvGraphicFramePr>
          <p:nvPr/>
        </p:nvGraphicFramePr>
        <p:xfrm>
          <a:off x="4759200" y="224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{481BBF3D-6789-4361-93D4-358C44B4AF3D}</a:tableStyleId>
              </a:tblPr>
              <a:tblGrid>
                <a:gridCol w="769400"/>
                <a:gridCol w="769400"/>
                <a:gridCol w="7694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21"/>
          <p:cNvSpPr txBox="1"/>
          <p:nvPr/>
        </p:nvSpPr>
        <p:spPr>
          <a:xfrm>
            <a:off x="476400" y="971172"/>
            <a:ext cx="66156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the new amount and percentage increase find the original amount.  All of the answers are in the grid except for one.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i) Write a percentage question that gives this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76400" y="5026500"/>
            <a:ext cx="6615600" cy="15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statement in several different ways.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Increase £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  = £80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Increase £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  = £250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76400" y="7083900"/>
            <a:ext cx="6506100" cy="23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to use the multiplier method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social media manager earns £34 980 a year.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includes a pay rise of 6%.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was their wage before the pay rise?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cost of a concert ticket is £89.60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includes an increase of 28% on the previous year.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was the cost of the ticket last year?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Finding the original amount after an increase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2024-02-27T09:56:07.960</cp:lastPrinted>
  <dcterms:created xsi:type="dcterms:W3CDTF">2024-02-27T09:56:07Z</dcterms:created>
  <dcterms:modified xsi:type="dcterms:W3CDTF">2024-02-27T09:56:18Z</dcterms:modified>
</cp:coreProperties>
</file>