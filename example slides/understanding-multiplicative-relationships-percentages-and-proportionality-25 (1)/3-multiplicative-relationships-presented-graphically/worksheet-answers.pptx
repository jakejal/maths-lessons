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F4DE06F1-E652-4E50-AD69-A82AC7E3448D}">
  <a:tblStyle styleId="{F4DE06F1-E652-4E50-AD69-A82AC7E344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6" name="Shape 226"/>
        <p:cNvGrpSpPr/>
        <p:nvPr/>
      </p:nvGrpSpPr>
      <p:grpSpPr>
        <a:xfrm>
          <a:off x="0" y="0"/>
          <a:ext cx="0" cy="0"/>
        </a:xfrm>
      </p:grpSpPr>
      <p:sp>
        <p:nvSpPr>
          <p:cNvPr id="227" name="Google Shape;227;g2b9145b4d64_0_98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b9145b4d64_0_9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82" name="Shape 382"/>
        <p:cNvGrpSpPr/>
        <p:nvPr/>
      </p:nvGrpSpPr>
      <p:grpSpPr>
        <a:xfrm>
          <a:off x="0" y="0"/>
          <a:ext cx="0" cy="0"/>
        </a:xfrm>
      </p:grpSpPr>
      <p:sp>
        <p:nvSpPr>
          <p:cNvPr id="383" name="Google Shape;383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image" Target="../media/image11.png" /><Relationship Id="rId6" Type="http://schemas.openxmlformats.org/officeDocument/2006/relationships/image" Target="../media/image1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3.png" /><Relationship Id="rId4" Type="http://schemas.openxmlformats.org/officeDocument/2006/relationships/image" Target="../media/image14.png" /><Relationship Id="rId5" Type="http://schemas.openxmlformats.org/officeDocument/2006/relationships/image" Target="../media/image15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Multiplicative relationships presented graphically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-8206353" y="5074844"/>
            <a:ext cx="591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-8206350" y="5654100"/>
            <a:ext cx="40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-8379650" y="3326050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56519" y="1781103"/>
            <a:ext cx="64776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the double number line with the corresponding graph.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74749" y="1335050"/>
            <a:ext cx="6357000" cy="3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Percentages of amounts graphically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1699513" y="4478341"/>
            <a:ext cx="296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9" name="Google Shape;179;p20"/>
          <p:cNvCxnSpPr/>
          <p:nvPr/>
        </p:nvCxnSpPr>
        <p:spPr>
          <a:xfrm>
            <a:off x="5206332" y="4647927"/>
            <a:ext cx="8100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80" name="Google Shape;180;p20"/>
          <p:cNvGraphicFramePr>
            <a:graphicFrameLocks noGrp="1"/>
          </p:cNvGraphicFramePr>
          <p:nvPr/>
        </p:nvGraphicFramePr>
        <p:xfrm>
          <a:off x="645450" y="4807457"/>
          <a:ext cx="1909050" cy="176750"/>
        </p:xfrm>
        <a:graphic>
          <a:graphicData uri="http://schemas.openxmlformats.org/drawingml/2006/table">
            <a:tbl>
              <a:tblPr>
                <a:noFill/>
                <a:tableStyleId>{F4DE06F1-E652-4E50-AD69-A82AC7E3448D}</a:tableStyleId>
              </a:tblPr>
              <a:tblGrid>
                <a:gridCol w="318175"/>
                <a:gridCol w="318175"/>
                <a:gridCol w="318175"/>
                <a:gridCol w="318175"/>
                <a:gridCol w="318175"/>
                <a:gridCol w="318175"/>
              </a:tblGrid>
              <a:tr h="88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8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81" name="Google Shape;181;p20"/>
          <p:cNvCxnSpPr/>
          <p:nvPr/>
        </p:nvCxnSpPr>
        <p:spPr>
          <a:xfrm>
            <a:off x="2412002" y="4895828"/>
            <a:ext cx="1737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2" name="Google Shape;182;p20"/>
          <p:cNvSpPr txBox="1"/>
          <p:nvPr/>
        </p:nvSpPr>
        <p:spPr>
          <a:xfrm>
            <a:off x="595821" y="4580611"/>
            <a:ext cx="465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595823" y="5036105"/>
            <a:ext cx="316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2868439" y="4580611"/>
            <a:ext cx="465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2868441" y="5036105"/>
            <a:ext cx="316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5075351" y="4580611"/>
            <a:ext cx="465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5075354" y="5036105"/>
            <a:ext cx="316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8" name="Google Shape;18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717" y="2203028"/>
            <a:ext cx="1909096" cy="18162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9" name="Google Shape;189;p20"/>
          <p:cNvCxnSpPr/>
          <p:nvPr/>
        </p:nvCxnSpPr>
        <p:spPr>
          <a:xfrm rot="10800000">
            <a:off x="828850" y="2078175"/>
            <a:ext cx="13800" cy="1844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0" name="Google Shape;190;p20"/>
          <p:cNvCxnSpPr/>
          <p:nvPr/>
        </p:nvCxnSpPr>
        <p:spPr>
          <a:xfrm flipH="1">
            <a:off x="856452" y="3889071"/>
            <a:ext cx="1675500" cy="5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91" name="Google Shape;191;p20"/>
          <p:cNvSpPr txBox="1"/>
          <p:nvPr/>
        </p:nvSpPr>
        <p:spPr>
          <a:xfrm>
            <a:off x="459540" y="2900574"/>
            <a:ext cx="447000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1502252" y="3889071"/>
            <a:ext cx="270600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" name="Google Shape;19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2523" y="2203028"/>
            <a:ext cx="1909096" cy="181628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2731345" y="2900574"/>
            <a:ext cx="447000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3774058" y="3889071"/>
            <a:ext cx="270600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6" name="Google Shape;19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4328" y="2203028"/>
            <a:ext cx="1909096" cy="181628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5003151" y="2900574"/>
            <a:ext cx="447000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6045863" y="3889071"/>
            <a:ext cx="270600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9" name="Google Shape;199;p20"/>
          <p:cNvCxnSpPr/>
          <p:nvPr/>
        </p:nvCxnSpPr>
        <p:spPr>
          <a:xfrm rot="10800000" flipH="1">
            <a:off x="844996" y="2204092"/>
            <a:ext cx="1345200" cy="168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0" name="Google Shape;200;p20"/>
          <p:cNvCxnSpPr/>
          <p:nvPr/>
        </p:nvCxnSpPr>
        <p:spPr>
          <a:xfrm rot="10800000" flipH="1">
            <a:off x="3117470" y="2528947"/>
            <a:ext cx="1694100" cy="1359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1" name="Google Shape;201;p20"/>
          <p:cNvCxnSpPr/>
          <p:nvPr/>
        </p:nvCxnSpPr>
        <p:spPr>
          <a:xfrm rot="10800000" flipH="1">
            <a:off x="5390474" y="2210342"/>
            <a:ext cx="1044600" cy="1678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2" name="Google Shape;202;p20"/>
          <p:cNvSpPr txBox="1"/>
          <p:nvPr/>
        </p:nvSpPr>
        <p:spPr>
          <a:xfrm>
            <a:off x="1756986" y="4591271"/>
            <a:ext cx="81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1741850" y="5046762"/>
            <a:ext cx="55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£100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4265500" y="4580616"/>
            <a:ext cx="81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4265505" y="5036107"/>
            <a:ext cx="55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£80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6258311" y="4580616"/>
            <a:ext cx="81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6217308" y="5036107"/>
            <a:ext cx="55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£50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8" name="Google Shape;208;p20"/>
          <p:cNvCxnSpPr/>
          <p:nvPr/>
        </p:nvCxnSpPr>
        <p:spPr>
          <a:xfrm rot="10800000">
            <a:off x="3114850" y="2078175"/>
            <a:ext cx="13800" cy="1844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9" name="Google Shape;209;p20"/>
          <p:cNvCxnSpPr/>
          <p:nvPr/>
        </p:nvCxnSpPr>
        <p:spPr>
          <a:xfrm flipH="1">
            <a:off x="3142452" y="3889071"/>
            <a:ext cx="1675500" cy="5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10" name="Google Shape;210;p20"/>
          <p:cNvCxnSpPr/>
          <p:nvPr/>
        </p:nvCxnSpPr>
        <p:spPr>
          <a:xfrm rot="10800000">
            <a:off x="5389225" y="2078175"/>
            <a:ext cx="13800" cy="1844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1" name="Google Shape;211;p20"/>
          <p:cNvCxnSpPr/>
          <p:nvPr/>
        </p:nvCxnSpPr>
        <p:spPr>
          <a:xfrm flipH="1">
            <a:off x="5428452" y="3889071"/>
            <a:ext cx="1675500" cy="5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cxnSp>
      <p:graphicFrame>
        <p:nvGraphicFramePr>
          <p:cNvPr id="212" name="Google Shape;212;p20"/>
          <p:cNvGraphicFramePr>
            <a:graphicFrameLocks noGrp="1"/>
          </p:cNvGraphicFramePr>
          <p:nvPr/>
        </p:nvGraphicFramePr>
        <p:xfrm>
          <a:off x="2931450" y="4807457"/>
          <a:ext cx="1909050" cy="176750"/>
        </p:xfrm>
        <a:graphic>
          <a:graphicData uri="http://schemas.openxmlformats.org/drawingml/2006/table">
            <a:tbl>
              <a:tblPr>
                <a:noFill/>
                <a:tableStyleId>{F4DE06F1-E652-4E50-AD69-A82AC7E3448D}</a:tableStyleId>
              </a:tblPr>
              <a:tblGrid>
                <a:gridCol w="318175"/>
                <a:gridCol w="318175"/>
                <a:gridCol w="318175"/>
                <a:gridCol w="318175"/>
                <a:gridCol w="318175"/>
                <a:gridCol w="318175"/>
              </a:tblGrid>
              <a:tr h="88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8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13" name="Google Shape;213;p20"/>
          <p:cNvCxnSpPr/>
          <p:nvPr/>
        </p:nvCxnSpPr>
        <p:spPr>
          <a:xfrm>
            <a:off x="4698002" y="4895828"/>
            <a:ext cx="1737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214" name="Google Shape;214;p20"/>
          <p:cNvGraphicFramePr>
            <a:graphicFrameLocks noGrp="1"/>
          </p:cNvGraphicFramePr>
          <p:nvPr/>
        </p:nvGraphicFramePr>
        <p:xfrm>
          <a:off x="5141251" y="4807457"/>
          <a:ext cx="1909050" cy="176750"/>
        </p:xfrm>
        <a:graphic>
          <a:graphicData uri="http://schemas.openxmlformats.org/drawingml/2006/table">
            <a:tbl>
              <a:tblPr>
                <a:noFill/>
                <a:tableStyleId>{F4DE06F1-E652-4E50-AD69-A82AC7E3448D}</a:tableStyleId>
              </a:tblPr>
              <a:tblGrid>
                <a:gridCol w="318175"/>
                <a:gridCol w="318175"/>
                <a:gridCol w="318175"/>
                <a:gridCol w="318175"/>
                <a:gridCol w="318175"/>
                <a:gridCol w="318175"/>
              </a:tblGrid>
              <a:tr h="88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8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15" name="Google Shape;215;p20"/>
          <p:cNvCxnSpPr/>
          <p:nvPr/>
        </p:nvCxnSpPr>
        <p:spPr>
          <a:xfrm>
            <a:off x="6907802" y="4895828"/>
            <a:ext cx="1737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6" name="Google Shape;216;p20"/>
          <p:cNvCxnSpPr/>
          <p:nvPr/>
        </p:nvCxnSpPr>
        <p:spPr>
          <a:xfrm>
            <a:off x="2042528" y="3563550"/>
            <a:ext cx="1794300" cy="1039500"/>
          </a:xfrm>
          <a:prstGeom prst="straightConnector1">
            <a:avLst/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7" name="Google Shape;217;p20"/>
          <p:cNvCxnSpPr/>
          <p:nvPr/>
        </p:nvCxnSpPr>
        <p:spPr>
          <a:xfrm rot="10800000" flipH="1">
            <a:off x="1281800" y="3845688"/>
            <a:ext cx="2044500" cy="691800"/>
          </a:xfrm>
          <a:prstGeom prst="straightConnector1">
            <a:avLst/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8" name="Google Shape;218;p20"/>
          <p:cNvCxnSpPr/>
          <p:nvPr/>
        </p:nvCxnSpPr>
        <p:spPr>
          <a:xfrm rot="10800000" flipH="1">
            <a:off x="6217300" y="3733594"/>
            <a:ext cx="0" cy="728700"/>
          </a:xfrm>
          <a:prstGeom prst="straightConnector1">
            <a:avLst/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triangle" w="med" len="med"/>
            <a:tailEnd type="triangle" w="med" len="med"/>
          </a:ln>
        </p:spPr>
      </p:cxnSp>
      <p:pic>
        <p:nvPicPr>
          <p:cNvPr id="219" name="Google Shape;21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3470" y="6121379"/>
            <a:ext cx="3519285" cy="248592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 txBox="1"/>
          <p:nvPr/>
        </p:nvSpPr>
        <p:spPr>
          <a:xfrm>
            <a:off x="482775" y="6308275"/>
            <a:ext cx="6610500" cy="28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 scored 35 marks on his assessment.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grade did Jun get?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Estimate his percentage score.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Estimate the minimum mark you need to get a grade. What calculation could you carry out to be more accurate?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482775" y="5626950"/>
            <a:ext cx="6610500" cy="4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A class of students took a test. The grades available were A, B, C or 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graph helps the teacher convert a score out of 65 to a grade.</a:t>
            </a:r>
            <a:endParaRPr sz="1200"/>
          </a:p>
        </p:txBody>
      </p:sp>
      <p:sp>
        <p:nvSpPr>
          <p:cNvPr id="222" name="Google Shape;222;p20"/>
          <p:cNvSpPr txBox="1"/>
          <p:nvPr/>
        </p:nvSpPr>
        <p:spPr>
          <a:xfrm>
            <a:off x="6187673" y="8396125"/>
            <a:ext cx="8100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Mark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672500" y="6743275"/>
            <a:ext cx="268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35 marks is a grade C.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731425" y="7767500"/>
            <a:ext cx="286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Jun scored 54% (an estimate between 50% and 60% is reasonable).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811050" y="9289500"/>
            <a:ext cx="3375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13 is the minimum mark needed for a grade. The calculation is 65 × 0.2 (or equivalent).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9" name="Shape 229"/>
        <p:cNvGrpSpPr/>
        <p:nvPr/>
      </p:nvGrpSpPr>
      <p:grpSpPr>
        <a:xfrm>
          <a:off x="0" y="0"/>
          <a:ext cx="0" cy="0"/>
        </a:xfrm>
      </p:grpSpPr>
      <p:sp>
        <p:nvSpPr>
          <p:cNvPr id="230" name="Google Shape;230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Multiplicative relationships presented graphically</a:t>
            </a:r>
            <a:endParaRPr/>
          </a:p>
        </p:txBody>
      </p:sp>
      <p:cxnSp>
        <p:nvCxnSpPr>
          <p:cNvPr id="231" name="Google Shape;231;p21"/>
          <p:cNvCxnSpPr/>
          <p:nvPr/>
        </p:nvCxnSpPr>
        <p:spPr>
          <a:xfrm>
            <a:off x="474757" y="982003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2" name="Google Shape;232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pic>
        <p:nvPicPr>
          <p:cNvPr id="233" name="Google Shape;23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516" y="1288437"/>
            <a:ext cx="3189023" cy="18056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4" name="Google Shape;234;p21"/>
          <p:cNvCxnSpPr/>
          <p:nvPr/>
        </p:nvCxnSpPr>
        <p:spPr>
          <a:xfrm flipH="1">
            <a:off x="1587621" y="3587645"/>
            <a:ext cx="0" cy="737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5" name="Google Shape;235;p21"/>
          <p:cNvSpPr txBox="1"/>
          <p:nvPr/>
        </p:nvSpPr>
        <p:spPr>
          <a:xfrm>
            <a:off x="467800" y="911700"/>
            <a:ext cx="6610500" cy="2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Fill in the missing information given the graph and double number line.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2417262" y="4272675"/>
            <a:ext cx="59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180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37" name="Google Shape;237;p21"/>
          <p:cNvGrpSpPr/>
          <p:nvPr/>
        </p:nvGrpSpPr>
        <p:grpSpPr>
          <a:xfrm>
            <a:off x="1284035" y="3313687"/>
            <a:ext cx="2675110" cy="1245396"/>
            <a:chOff x="344550" y="2159986"/>
            <a:chExt cx="3502829" cy="1689359"/>
          </a:xfrm>
        </p:grpSpPr>
        <p:grpSp>
          <p:nvGrpSpPr>
            <p:cNvPr id="238" name="Google Shape;238;p21"/>
            <p:cNvGrpSpPr/>
            <p:nvPr/>
          </p:nvGrpSpPr>
          <p:grpSpPr>
            <a:xfrm>
              <a:off x="1433102" y="2533775"/>
              <a:ext cx="31897" cy="1000200"/>
              <a:chOff x="941713" y="3767150"/>
              <a:chExt cx="63300" cy="1000200"/>
            </a:xfrm>
          </p:grpSpPr>
          <p:cxnSp>
            <p:nvCxnSpPr>
              <p:cNvPr id="239" name="Google Shape;239;p21"/>
              <p:cNvCxnSpPr/>
              <p:nvPr/>
            </p:nvCxnSpPr>
            <p:spPr>
              <a:xfrm flipH="1">
                <a:off x="975300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40" name="Google Shape;240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241" name="Google Shape;241;p21"/>
            <p:cNvSpPr txBox="1"/>
            <p:nvPr/>
          </p:nvSpPr>
          <p:spPr>
            <a:xfrm>
              <a:off x="2586779" y="2574239"/>
              <a:ext cx="12606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%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2" name="Google Shape;242;p21"/>
            <p:cNvSpPr txBox="1"/>
            <p:nvPr/>
          </p:nvSpPr>
          <p:spPr>
            <a:xfrm>
              <a:off x="2616798" y="3181537"/>
              <a:ext cx="11451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£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3" name="Google Shape;243;p21"/>
            <p:cNvSpPr txBox="1"/>
            <p:nvPr/>
          </p:nvSpPr>
          <p:spPr>
            <a:xfrm>
              <a:off x="774976" y="2160000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4" name="Google Shape;244;p21"/>
            <p:cNvSpPr txBox="1"/>
            <p:nvPr/>
          </p:nvSpPr>
          <p:spPr>
            <a:xfrm>
              <a:off x="1356140" y="3473445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" name="Google Shape;245;p21"/>
            <p:cNvSpPr txBox="1"/>
            <p:nvPr/>
          </p:nvSpPr>
          <p:spPr>
            <a:xfrm>
              <a:off x="773777" y="3473445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6" name="Google Shape;246;p21"/>
            <p:cNvSpPr txBox="1"/>
            <p:nvPr/>
          </p:nvSpPr>
          <p:spPr>
            <a:xfrm>
              <a:off x="1348295" y="2159986"/>
              <a:ext cx="4722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" name="Google Shape;247;p21"/>
            <p:cNvSpPr txBox="1"/>
            <p:nvPr/>
          </p:nvSpPr>
          <p:spPr>
            <a:xfrm>
              <a:off x="1924278" y="2160000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48" name="Google Shape;248;p21"/>
            <p:cNvCxnSpPr/>
            <p:nvPr/>
          </p:nvCxnSpPr>
          <p:spPr>
            <a:xfrm flipH="1">
              <a:off x="397280" y="2355125"/>
              <a:ext cx="0" cy="1357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49" name="Google Shape;249;p21"/>
            <p:cNvGrpSpPr/>
            <p:nvPr/>
          </p:nvGrpSpPr>
          <p:grpSpPr>
            <a:xfrm>
              <a:off x="856988" y="2519701"/>
              <a:ext cx="233764" cy="1000200"/>
              <a:chOff x="941713" y="3753076"/>
              <a:chExt cx="463909" cy="1000200"/>
            </a:xfrm>
          </p:grpSpPr>
          <p:cxnSp>
            <p:nvCxnSpPr>
              <p:cNvPr id="250" name="Google Shape;250;p21"/>
              <p:cNvCxnSpPr/>
              <p:nvPr/>
            </p:nvCxnSpPr>
            <p:spPr>
              <a:xfrm flipH="1">
                <a:off x="1405622" y="3753076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1" name="Google Shape;251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52" name="Google Shape;252;p21"/>
            <p:cNvGrpSpPr/>
            <p:nvPr/>
          </p:nvGrpSpPr>
          <p:grpSpPr>
            <a:xfrm>
              <a:off x="2008903" y="2533775"/>
              <a:ext cx="94704" cy="1000200"/>
              <a:chOff x="941713" y="3767150"/>
              <a:chExt cx="187942" cy="1000200"/>
            </a:xfrm>
          </p:grpSpPr>
          <p:cxnSp>
            <p:nvCxnSpPr>
              <p:cNvPr id="253" name="Google Shape;253;p21"/>
              <p:cNvCxnSpPr/>
              <p:nvPr/>
            </p:nvCxnSpPr>
            <p:spPr>
              <a:xfrm flipH="1">
                <a:off x="1129655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4" name="Google Shape;254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55" name="Google Shape;255;p21"/>
            <p:cNvGrpSpPr/>
            <p:nvPr/>
          </p:nvGrpSpPr>
          <p:grpSpPr>
            <a:xfrm>
              <a:off x="1432946" y="2533775"/>
              <a:ext cx="31897" cy="1000200"/>
              <a:chOff x="941713" y="3767150"/>
              <a:chExt cx="63300" cy="1000200"/>
            </a:xfrm>
          </p:grpSpPr>
          <p:cxnSp>
            <p:nvCxnSpPr>
              <p:cNvPr id="256" name="Google Shape;256;p21"/>
              <p:cNvCxnSpPr/>
              <p:nvPr/>
            </p:nvCxnSpPr>
            <p:spPr>
              <a:xfrm flipH="1">
                <a:off x="975300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7" name="Google Shape;257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cxnSp>
          <p:nvCxnSpPr>
            <p:cNvPr id="258" name="Google Shape;258;p21"/>
            <p:cNvCxnSpPr/>
            <p:nvPr/>
          </p:nvCxnSpPr>
          <p:spPr>
            <a:xfrm>
              <a:off x="344550" y="2769525"/>
              <a:ext cx="2212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59" name="Google Shape;259;p21"/>
            <p:cNvCxnSpPr/>
            <p:nvPr/>
          </p:nvCxnSpPr>
          <p:spPr>
            <a:xfrm>
              <a:off x="367935" y="3317336"/>
              <a:ext cx="2166000" cy="13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260" name="Google Shape;260;p21"/>
          <p:cNvCxnSpPr/>
          <p:nvPr/>
        </p:nvCxnSpPr>
        <p:spPr>
          <a:xfrm flipH="1">
            <a:off x="2380743" y="3587645"/>
            <a:ext cx="0" cy="737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1" name="Google Shape;261;p21"/>
          <p:cNvSpPr/>
          <p:nvPr/>
        </p:nvSpPr>
        <p:spPr>
          <a:xfrm>
            <a:off x="1348500" y="3783625"/>
            <a:ext cx="1314900" cy="36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2" name="Google Shape;262;p21"/>
          <p:cNvCxnSpPr/>
          <p:nvPr/>
        </p:nvCxnSpPr>
        <p:spPr>
          <a:xfrm>
            <a:off x="1543925" y="3592834"/>
            <a:ext cx="9627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3" name="Google Shape;263;p21"/>
          <p:cNvCxnSpPr/>
          <p:nvPr/>
        </p:nvCxnSpPr>
        <p:spPr>
          <a:xfrm>
            <a:off x="1453800" y="4325050"/>
            <a:ext cx="12255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4" name="Google Shape;264;p21"/>
          <p:cNvSpPr txBox="1"/>
          <p:nvPr/>
        </p:nvSpPr>
        <p:spPr>
          <a:xfrm>
            <a:off x="2420146" y="3271775"/>
            <a:ext cx="59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100</a:t>
            </a:r>
            <a:endParaRPr sz="1200"/>
          </a:p>
        </p:txBody>
      </p:sp>
      <p:sp>
        <p:nvSpPr>
          <p:cNvPr id="265" name="Google Shape;265;p21"/>
          <p:cNvSpPr txBox="1"/>
          <p:nvPr/>
        </p:nvSpPr>
        <p:spPr>
          <a:xfrm>
            <a:off x="3857106" y="2669705"/>
            <a:ext cx="251100" cy="3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467725" y="1168612"/>
            <a:ext cx="414900" cy="3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1627385" y="3261955"/>
            <a:ext cx="59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40</a:t>
            </a:r>
            <a:endParaRPr sz="1200"/>
          </a:p>
        </p:txBody>
      </p:sp>
      <p:sp>
        <p:nvSpPr>
          <p:cNvPr id="268" name="Google Shape;268;p21"/>
          <p:cNvSpPr txBox="1"/>
          <p:nvPr/>
        </p:nvSpPr>
        <p:spPr>
          <a:xfrm>
            <a:off x="1696056" y="4282505"/>
            <a:ext cx="59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69" name="Google Shape;26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9096" y="1277580"/>
            <a:ext cx="3137040" cy="1805606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1"/>
          <p:cNvSpPr txBox="1"/>
          <p:nvPr/>
        </p:nvSpPr>
        <p:spPr>
          <a:xfrm>
            <a:off x="3775216" y="1168612"/>
            <a:ext cx="414900" cy="3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3490183" y="2547874"/>
            <a:ext cx="251100" cy="3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6743009" y="2576758"/>
            <a:ext cx="251100" cy="3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3" name="Google Shape;273;p21"/>
          <p:cNvCxnSpPr/>
          <p:nvPr/>
        </p:nvCxnSpPr>
        <p:spPr>
          <a:xfrm flipH="1">
            <a:off x="4970221" y="3563170"/>
            <a:ext cx="0" cy="737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4" name="Google Shape;274;p21"/>
          <p:cNvSpPr txBox="1"/>
          <p:nvPr/>
        </p:nvSpPr>
        <p:spPr>
          <a:xfrm>
            <a:off x="5799862" y="4248200"/>
            <a:ext cx="59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75" name="Google Shape;275;p21"/>
          <p:cNvGrpSpPr/>
          <p:nvPr/>
        </p:nvGrpSpPr>
        <p:grpSpPr>
          <a:xfrm>
            <a:off x="4666635" y="3289212"/>
            <a:ext cx="2429941" cy="1245396"/>
            <a:chOff x="344550" y="2159986"/>
            <a:chExt cx="3181801" cy="1689359"/>
          </a:xfrm>
        </p:grpSpPr>
        <p:grpSp>
          <p:nvGrpSpPr>
            <p:cNvPr id="276" name="Google Shape;276;p21"/>
            <p:cNvGrpSpPr/>
            <p:nvPr/>
          </p:nvGrpSpPr>
          <p:grpSpPr>
            <a:xfrm>
              <a:off x="1433102" y="2533775"/>
              <a:ext cx="31897" cy="1000200"/>
              <a:chOff x="941713" y="3767150"/>
              <a:chExt cx="63300" cy="1000200"/>
            </a:xfrm>
          </p:grpSpPr>
          <p:cxnSp>
            <p:nvCxnSpPr>
              <p:cNvPr id="277" name="Google Shape;277;p21"/>
              <p:cNvCxnSpPr/>
              <p:nvPr/>
            </p:nvCxnSpPr>
            <p:spPr>
              <a:xfrm flipH="1">
                <a:off x="975300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78" name="Google Shape;278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279" name="Google Shape;279;p21"/>
            <p:cNvSpPr txBox="1"/>
            <p:nvPr/>
          </p:nvSpPr>
          <p:spPr>
            <a:xfrm>
              <a:off x="2542750" y="2574239"/>
              <a:ext cx="9690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%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0" name="Google Shape;280;p21"/>
            <p:cNvSpPr txBox="1"/>
            <p:nvPr/>
          </p:nvSpPr>
          <p:spPr>
            <a:xfrm>
              <a:off x="2557351" y="3181537"/>
              <a:ext cx="9690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£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1" name="Google Shape;281;p21"/>
            <p:cNvSpPr txBox="1"/>
            <p:nvPr/>
          </p:nvSpPr>
          <p:spPr>
            <a:xfrm>
              <a:off x="774976" y="2160000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2" name="Google Shape;282;p21"/>
            <p:cNvSpPr txBox="1"/>
            <p:nvPr/>
          </p:nvSpPr>
          <p:spPr>
            <a:xfrm>
              <a:off x="1356140" y="3473445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3" name="Google Shape;283;p21"/>
            <p:cNvSpPr txBox="1"/>
            <p:nvPr/>
          </p:nvSpPr>
          <p:spPr>
            <a:xfrm>
              <a:off x="773777" y="3473445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4" name="Google Shape;284;p21"/>
            <p:cNvSpPr txBox="1"/>
            <p:nvPr/>
          </p:nvSpPr>
          <p:spPr>
            <a:xfrm>
              <a:off x="1348295" y="2159986"/>
              <a:ext cx="4722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5" name="Google Shape;285;p21"/>
            <p:cNvSpPr txBox="1"/>
            <p:nvPr/>
          </p:nvSpPr>
          <p:spPr>
            <a:xfrm>
              <a:off x="1924278" y="2160000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86" name="Google Shape;286;p21"/>
            <p:cNvCxnSpPr/>
            <p:nvPr/>
          </p:nvCxnSpPr>
          <p:spPr>
            <a:xfrm flipH="1">
              <a:off x="397280" y="2355125"/>
              <a:ext cx="0" cy="1357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87" name="Google Shape;287;p21"/>
            <p:cNvGrpSpPr/>
            <p:nvPr/>
          </p:nvGrpSpPr>
          <p:grpSpPr>
            <a:xfrm>
              <a:off x="856988" y="2519701"/>
              <a:ext cx="233764" cy="1000200"/>
              <a:chOff x="941713" y="3753076"/>
              <a:chExt cx="463909" cy="1000200"/>
            </a:xfrm>
          </p:grpSpPr>
          <p:cxnSp>
            <p:nvCxnSpPr>
              <p:cNvPr id="288" name="Google Shape;288;p21"/>
              <p:cNvCxnSpPr/>
              <p:nvPr/>
            </p:nvCxnSpPr>
            <p:spPr>
              <a:xfrm flipH="1">
                <a:off x="1405622" y="3753076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89" name="Google Shape;289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90" name="Google Shape;290;p21"/>
            <p:cNvGrpSpPr/>
            <p:nvPr/>
          </p:nvGrpSpPr>
          <p:grpSpPr>
            <a:xfrm>
              <a:off x="2008903" y="2533775"/>
              <a:ext cx="94704" cy="1000200"/>
              <a:chOff x="941713" y="3767150"/>
              <a:chExt cx="187942" cy="1000200"/>
            </a:xfrm>
          </p:grpSpPr>
          <p:cxnSp>
            <p:nvCxnSpPr>
              <p:cNvPr id="291" name="Google Shape;291;p21"/>
              <p:cNvCxnSpPr/>
              <p:nvPr/>
            </p:nvCxnSpPr>
            <p:spPr>
              <a:xfrm flipH="1">
                <a:off x="1129655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92" name="Google Shape;292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93" name="Google Shape;293;p21"/>
            <p:cNvGrpSpPr/>
            <p:nvPr/>
          </p:nvGrpSpPr>
          <p:grpSpPr>
            <a:xfrm>
              <a:off x="1432946" y="2533775"/>
              <a:ext cx="31897" cy="1000200"/>
              <a:chOff x="941713" y="3767150"/>
              <a:chExt cx="63300" cy="1000200"/>
            </a:xfrm>
          </p:grpSpPr>
          <p:cxnSp>
            <p:nvCxnSpPr>
              <p:cNvPr id="294" name="Google Shape;294;p21"/>
              <p:cNvCxnSpPr/>
              <p:nvPr/>
            </p:nvCxnSpPr>
            <p:spPr>
              <a:xfrm flipH="1">
                <a:off x="975300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95" name="Google Shape;295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cxnSp>
          <p:nvCxnSpPr>
            <p:cNvPr id="296" name="Google Shape;296;p21"/>
            <p:cNvCxnSpPr/>
            <p:nvPr/>
          </p:nvCxnSpPr>
          <p:spPr>
            <a:xfrm>
              <a:off x="344550" y="2769525"/>
              <a:ext cx="2212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97" name="Google Shape;297;p21"/>
            <p:cNvCxnSpPr/>
            <p:nvPr/>
          </p:nvCxnSpPr>
          <p:spPr>
            <a:xfrm>
              <a:off x="367935" y="3317336"/>
              <a:ext cx="2166000" cy="13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298" name="Google Shape;298;p21"/>
          <p:cNvCxnSpPr/>
          <p:nvPr/>
        </p:nvCxnSpPr>
        <p:spPr>
          <a:xfrm flipH="1">
            <a:off x="5763343" y="3563170"/>
            <a:ext cx="0" cy="737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9" name="Google Shape;299;p21"/>
          <p:cNvSpPr/>
          <p:nvPr/>
        </p:nvSpPr>
        <p:spPr>
          <a:xfrm>
            <a:off x="4731100" y="3759150"/>
            <a:ext cx="1314900" cy="36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0" name="Google Shape;300;p21"/>
          <p:cNvCxnSpPr/>
          <p:nvPr/>
        </p:nvCxnSpPr>
        <p:spPr>
          <a:xfrm>
            <a:off x="4846800" y="3559725"/>
            <a:ext cx="9627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1" name="Google Shape;301;p21"/>
          <p:cNvCxnSpPr/>
          <p:nvPr/>
        </p:nvCxnSpPr>
        <p:spPr>
          <a:xfrm>
            <a:off x="4836400" y="4300575"/>
            <a:ext cx="12255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2" name="Google Shape;302;p21"/>
          <p:cNvSpPr txBox="1"/>
          <p:nvPr/>
        </p:nvSpPr>
        <p:spPr>
          <a:xfrm>
            <a:off x="5802746" y="3247300"/>
            <a:ext cx="59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100</a:t>
            </a:r>
            <a:endParaRPr sz="1200"/>
          </a:p>
        </p:txBody>
      </p:sp>
      <p:sp>
        <p:nvSpPr>
          <p:cNvPr id="303" name="Google Shape;303;p21"/>
          <p:cNvSpPr txBox="1"/>
          <p:nvPr/>
        </p:nvSpPr>
        <p:spPr>
          <a:xfrm>
            <a:off x="4762647" y="3237480"/>
            <a:ext cx="59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</a:t>
            </a:r>
            <a:endParaRPr sz="1200"/>
          </a:p>
        </p:txBody>
      </p:sp>
      <p:sp>
        <p:nvSpPr>
          <p:cNvPr id="304" name="Google Shape;304;p21"/>
          <p:cNvSpPr txBox="1"/>
          <p:nvPr/>
        </p:nvSpPr>
        <p:spPr>
          <a:xfrm>
            <a:off x="4788506" y="4258030"/>
            <a:ext cx="59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5" name="Google Shape;305;p21"/>
          <p:cNvSpPr/>
          <p:nvPr/>
        </p:nvSpPr>
        <p:spPr>
          <a:xfrm>
            <a:off x="2456522" y="4309315"/>
            <a:ext cx="344100" cy="284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1684800" y="4294800"/>
            <a:ext cx="344100" cy="284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5832122" y="4309315"/>
            <a:ext cx="344100" cy="284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4798175" y="4309325"/>
            <a:ext cx="344100" cy="284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9" name="Google Shape;30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21357" y="5659344"/>
            <a:ext cx="3269043" cy="18922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0" name="Google Shape;310;p21"/>
          <p:cNvCxnSpPr/>
          <p:nvPr/>
        </p:nvCxnSpPr>
        <p:spPr>
          <a:xfrm flipH="1">
            <a:off x="1514946" y="8138820"/>
            <a:ext cx="0" cy="737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1" name="Google Shape;311;p21"/>
          <p:cNvSpPr txBox="1"/>
          <p:nvPr/>
        </p:nvSpPr>
        <p:spPr>
          <a:xfrm>
            <a:off x="479900" y="5331300"/>
            <a:ext cx="6413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3b)  Fill in the missing information given the graph and double number line.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12" name="Google Shape;312;p21"/>
          <p:cNvGrpSpPr/>
          <p:nvPr/>
        </p:nvGrpSpPr>
        <p:grpSpPr>
          <a:xfrm>
            <a:off x="4472100" y="7874325"/>
            <a:ext cx="2839298" cy="1245396"/>
            <a:chOff x="1068645" y="1397986"/>
            <a:chExt cx="3717818" cy="1689359"/>
          </a:xfrm>
        </p:grpSpPr>
        <p:grpSp>
          <p:nvGrpSpPr>
            <p:cNvPr id="313" name="Google Shape;313;p21"/>
            <p:cNvGrpSpPr/>
            <p:nvPr/>
          </p:nvGrpSpPr>
          <p:grpSpPr>
            <a:xfrm>
              <a:off x="1283663" y="1397986"/>
              <a:ext cx="3502800" cy="1689359"/>
              <a:chOff x="344550" y="2159986"/>
              <a:chExt cx="3502800" cy="1689359"/>
            </a:xfrm>
          </p:grpSpPr>
          <p:grpSp>
            <p:nvGrpSpPr>
              <p:cNvPr id="314" name="Google Shape;314;p21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15" name="Google Shape;315;p21"/>
                <p:cNvCxnSpPr/>
                <p:nvPr/>
              </p:nvCxnSpPr>
              <p:spPr>
                <a:xfrm flipH="1"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16" name="Google Shape;316;p21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17" name="Google Shape;317;p21"/>
              <p:cNvSpPr txBox="1"/>
              <p:nvPr/>
            </p:nvSpPr>
            <p:spPr>
              <a:xfrm>
                <a:off x="2445450" y="2574225"/>
                <a:ext cx="1401900" cy="39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%</a:t>
                </a:r>
                <a:endParaRPr sz="19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8" name="Google Shape;318;p21"/>
              <p:cNvSpPr txBox="1"/>
              <p:nvPr/>
            </p:nvSpPr>
            <p:spPr>
              <a:xfrm>
                <a:off x="2460186" y="3181550"/>
                <a:ext cx="1301700" cy="39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£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9" name="Google Shape;319;p21"/>
              <p:cNvSpPr txBox="1"/>
              <p:nvPr/>
            </p:nvSpPr>
            <p:spPr>
              <a:xfrm>
                <a:off x="774976" y="2160000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0" name="Google Shape;320;p21"/>
              <p:cNvSpPr txBox="1"/>
              <p:nvPr/>
            </p:nvSpPr>
            <p:spPr>
              <a:xfrm>
                <a:off x="1356140" y="3473445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1" name="Google Shape;321;p21"/>
              <p:cNvSpPr txBox="1"/>
              <p:nvPr/>
            </p:nvSpPr>
            <p:spPr>
              <a:xfrm>
                <a:off x="773777" y="3473445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2" name="Google Shape;322;p21"/>
              <p:cNvSpPr txBox="1"/>
              <p:nvPr/>
            </p:nvSpPr>
            <p:spPr>
              <a:xfrm>
                <a:off x="1348295" y="2159986"/>
                <a:ext cx="4722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3" name="Google Shape;323;p21"/>
              <p:cNvSpPr txBox="1"/>
              <p:nvPr/>
            </p:nvSpPr>
            <p:spPr>
              <a:xfrm>
                <a:off x="1924278" y="2160000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324" name="Google Shape;324;p21"/>
              <p:cNvCxnSpPr/>
              <p:nvPr/>
            </p:nvCxnSpPr>
            <p:spPr>
              <a:xfrm flipH="1">
                <a:off x="397280" y="2355125"/>
                <a:ext cx="0" cy="13575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325" name="Google Shape;325;p21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26" name="Google Shape;326;p21"/>
                <p:cNvCxnSpPr/>
                <p:nvPr/>
              </p:nvCxnSpPr>
              <p:spPr>
                <a:xfrm flipH="1"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27" name="Google Shape;327;p21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28" name="Google Shape;328;p21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29" name="Google Shape;329;p21"/>
                <p:cNvCxnSpPr/>
                <p:nvPr/>
              </p:nvCxnSpPr>
              <p:spPr>
                <a:xfrm flipH="1"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30" name="Google Shape;330;p21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31" name="Google Shape;331;p21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32" name="Google Shape;332;p21"/>
                <p:cNvCxnSpPr/>
                <p:nvPr/>
              </p:nvCxnSpPr>
              <p:spPr>
                <a:xfrm flipH="1"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33" name="Google Shape;333;p21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cxnSp>
            <p:nvCxnSpPr>
              <p:cNvPr id="334" name="Google Shape;334;p21"/>
              <p:cNvCxnSpPr/>
              <p:nvPr/>
            </p:nvCxnSpPr>
            <p:spPr>
              <a:xfrm>
                <a:off x="344550" y="2769525"/>
                <a:ext cx="22128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35" name="Google Shape;335;p21"/>
              <p:cNvCxnSpPr/>
              <p:nvPr/>
            </p:nvCxnSpPr>
            <p:spPr>
              <a:xfrm>
                <a:off x="367935" y="3317336"/>
                <a:ext cx="2166000" cy="138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336" name="Google Shape;336;p21"/>
            <p:cNvSpPr/>
            <p:nvPr/>
          </p:nvSpPr>
          <p:spPr>
            <a:xfrm>
              <a:off x="1068645" y="1560357"/>
              <a:ext cx="244500" cy="14589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F3EEF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37" name="Google Shape;337;p21"/>
          <p:cNvSpPr/>
          <p:nvPr/>
        </p:nvSpPr>
        <p:spPr>
          <a:xfrm>
            <a:off x="4700775" y="8344250"/>
            <a:ext cx="1257300" cy="36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4819406" y="8856105"/>
            <a:ext cx="4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4739301" y="7809600"/>
            <a:ext cx="65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33.3</a:t>
            </a:r>
            <a:endParaRPr sz="1200"/>
          </a:p>
        </p:txBody>
      </p:sp>
      <p:sp>
        <p:nvSpPr>
          <p:cNvPr id="340" name="Google Shape;340;p21"/>
          <p:cNvSpPr txBox="1"/>
          <p:nvPr/>
        </p:nvSpPr>
        <p:spPr>
          <a:xfrm>
            <a:off x="1582587" y="8823850"/>
            <a:ext cx="59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180</a:t>
            </a:r>
            <a:endParaRPr sz="1200"/>
          </a:p>
        </p:txBody>
      </p:sp>
      <p:grpSp>
        <p:nvGrpSpPr>
          <p:cNvPr id="341" name="Google Shape;341;p21"/>
          <p:cNvGrpSpPr/>
          <p:nvPr/>
        </p:nvGrpSpPr>
        <p:grpSpPr>
          <a:xfrm>
            <a:off x="1211360" y="7864862"/>
            <a:ext cx="2675088" cy="1245396"/>
            <a:chOff x="344550" y="2159986"/>
            <a:chExt cx="3502800" cy="1689359"/>
          </a:xfrm>
        </p:grpSpPr>
        <p:grpSp>
          <p:nvGrpSpPr>
            <p:cNvPr id="342" name="Google Shape;342;p21"/>
            <p:cNvGrpSpPr/>
            <p:nvPr/>
          </p:nvGrpSpPr>
          <p:grpSpPr>
            <a:xfrm>
              <a:off x="1433102" y="2533775"/>
              <a:ext cx="31897" cy="1000200"/>
              <a:chOff x="941713" y="3767150"/>
              <a:chExt cx="63300" cy="1000200"/>
            </a:xfrm>
          </p:grpSpPr>
          <p:cxnSp>
            <p:nvCxnSpPr>
              <p:cNvPr id="343" name="Google Shape;343;p21"/>
              <p:cNvCxnSpPr/>
              <p:nvPr/>
            </p:nvCxnSpPr>
            <p:spPr>
              <a:xfrm flipH="1">
                <a:off x="975300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44" name="Google Shape;344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45" name="Google Shape;345;p21"/>
            <p:cNvSpPr txBox="1"/>
            <p:nvPr/>
          </p:nvSpPr>
          <p:spPr>
            <a:xfrm>
              <a:off x="2445450" y="2574225"/>
              <a:ext cx="14019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 %</a:t>
              </a:r>
              <a:endParaRPr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6" name="Google Shape;346;p21"/>
            <p:cNvSpPr txBox="1"/>
            <p:nvPr/>
          </p:nvSpPr>
          <p:spPr>
            <a:xfrm>
              <a:off x="2460186" y="3181550"/>
              <a:ext cx="13017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 £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7" name="Google Shape;347;p21"/>
            <p:cNvSpPr txBox="1"/>
            <p:nvPr/>
          </p:nvSpPr>
          <p:spPr>
            <a:xfrm>
              <a:off x="774976" y="2160000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8" name="Google Shape;348;p21"/>
            <p:cNvSpPr txBox="1"/>
            <p:nvPr/>
          </p:nvSpPr>
          <p:spPr>
            <a:xfrm>
              <a:off x="1356140" y="3473445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9" name="Google Shape;349;p21"/>
            <p:cNvSpPr txBox="1"/>
            <p:nvPr/>
          </p:nvSpPr>
          <p:spPr>
            <a:xfrm>
              <a:off x="1348295" y="2159986"/>
              <a:ext cx="4722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0" name="Google Shape;350;p21"/>
            <p:cNvSpPr txBox="1"/>
            <p:nvPr/>
          </p:nvSpPr>
          <p:spPr>
            <a:xfrm>
              <a:off x="1924278" y="2160000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51" name="Google Shape;351;p21"/>
            <p:cNvCxnSpPr/>
            <p:nvPr/>
          </p:nvCxnSpPr>
          <p:spPr>
            <a:xfrm flipH="1">
              <a:off x="397280" y="2355125"/>
              <a:ext cx="0" cy="1357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52" name="Google Shape;352;p21"/>
            <p:cNvGrpSpPr/>
            <p:nvPr/>
          </p:nvGrpSpPr>
          <p:grpSpPr>
            <a:xfrm>
              <a:off x="856988" y="2519701"/>
              <a:ext cx="233764" cy="1000200"/>
              <a:chOff x="941713" y="3753076"/>
              <a:chExt cx="463909" cy="1000200"/>
            </a:xfrm>
          </p:grpSpPr>
          <p:cxnSp>
            <p:nvCxnSpPr>
              <p:cNvPr id="353" name="Google Shape;353;p21"/>
              <p:cNvCxnSpPr/>
              <p:nvPr/>
            </p:nvCxnSpPr>
            <p:spPr>
              <a:xfrm flipH="1">
                <a:off x="1405622" y="3753076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54" name="Google Shape;354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55" name="Google Shape;355;p21"/>
            <p:cNvGrpSpPr/>
            <p:nvPr/>
          </p:nvGrpSpPr>
          <p:grpSpPr>
            <a:xfrm>
              <a:off x="2008903" y="2533775"/>
              <a:ext cx="94704" cy="1000200"/>
              <a:chOff x="941713" y="3767150"/>
              <a:chExt cx="187942" cy="1000200"/>
            </a:xfrm>
          </p:grpSpPr>
          <p:cxnSp>
            <p:nvCxnSpPr>
              <p:cNvPr id="356" name="Google Shape;356;p21"/>
              <p:cNvCxnSpPr/>
              <p:nvPr/>
            </p:nvCxnSpPr>
            <p:spPr>
              <a:xfrm flipH="1">
                <a:off x="1129655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57" name="Google Shape;357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58" name="Google Shape;358;p21"/>
            <p:cNvGrpSpPr/>
            <p:nvPr/>
          </p:nvGrpSpPr>
          <p:grpSpPr>
            <a:xfrm>
              <a:off x="1432946" y="2533775"/>
              <a:ext cx="31897" cy="1000200"/>
              <a:chOff x="941713" y="3767150"/>
              <a:chExt cx="63300" cy="1000200"/>
            </a:xfrm>
          </p:grpSpPr>
          <p:cxnSp>
            <p:nvCxnSpPr>
              <p:cNvPr id="359" name="Google Shape;359;p21"/>
              <p:cNvCxnSpPr/>
              <p:nvPr/>
            </p:nvCxnSpPr>
            <p:spPr>
              <a:xfrm flipH="1">
                <a:off x="975300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60" name="Google Shape;360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cxnSp>
          <p:nvCxnSpPr>
            <p:cNvPr id="361" name="Google Shape;361;p21"/>
            <p:cNvCxnSpPr/>
            <p:nvPr/>
          </p:nvCxnSpPr>
          <p:spPr>
            <a:xfrm>
              <a:off x="344550" y="2769525"/>
              <a:ext cx="2212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62" name="Google Shape;362;p21"/>
            <p:cNvCxnSpPr/>
            <p:nvPr/>
          </p:nvCxnSpPr>
          <p:spPr>
            <a:xfrm>
              <a:off x="367935" y="3317336"/>
              <a:ext cx="2166000" cy="13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363" name="Google Shape;363;p21"/>
          <p:cNvSpPr/>
          <p:nvPr/>
        </p:nvSpPr>
        <p:spPr>
          <a:xfrm>
            <a:off x="4390000" y="8133838"/>
            <a:ext cx="186600" cy="107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4" name="Google Shape;364;p21"/>
          <p:cNvCxnSpPr/>
          <p:nvPr/>
        </p:nvCxnSpPr>
        <p:spPr>
          <a:xfrm flipH="1">
            <a:off x="2308068" y="8138820"/>
            <a:ext cx="0" cy="737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5" name="Google Shape;365;p21"/>
          <p:cNvSpPr/>
          <p:nvPr/>
        </p:nvSpPr>
        <p:spPr>
          <a:xfrm>
            <a:off x="1275825" y="8334800"/>
            <a:ext cx="1314900" cy="36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6" name="Google Shape;366;p21"/>
          <p:cNvCxnSpPr/>
          <p:nvPr/>
        </p:nvCxnSpPr>
        <p:spPr>
          <a:xfrm>
            <a:off x="1391525" y="8135375"/>
            <a:ext cx="9627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7" name="Google Shape;367;p21"/>
          <p:cNvCxnSpPr/>
          <p:nvPr/>
        </p:nvCxnSpPr>
        <p:spPr>
          <a:xfrm>
            <a:off x="1381125" y="8876225"/>
            <a:ext cx="12255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8" name="Google Shape;368;p21"/>
          <p:cNvSpPr txBox="1"/>
          <p:nvPr/>
        </p:nvSpPr>
        <p:spPr>
          <a:xfrm>
            <a:off x="2347471" y="7822950"/>
            <a:ext cx="59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100</a:t>
            </a:r>
            <a:endParaRPr sz="1200"/>
          </a:p>
        </p:txBody>
      </p:sp>
      <p:sp>
        <p:nvSpPr>
          <p:cNvPr id="369" name="Google Shape;369;p21"/>
          <p:cNvSpPr txBox="1"/>
          <p:nvPr/>
        </p:nvSpPr>
        <p:spPr>
          <a:xfrm>
            <a:off x="5545575" y="7809600"/>
            <a:ext cx="87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100%</a:t>
            </a:r>
            <a:endParaRPr sz="1200"/>
          </a:p>
        </p:txBody>
      </p:sp>
      <p:sp>
        <p:nvSpPr>
          <p:cNvPr id="370" name="Google Shape;370;p21"/>
          <p:cNvSpPr txBox="1"/>
          <p:nvPr/>
        </p:nvSpPr>
        <p:spPr>
          <a:xfrm>
            <a:off x="5657598" y="8779900"/>
            <a:ext cx="59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240</a:t>
            </a:r>
            <a:endParaRPr sz="1200"/>
          </a:p>
        </p:txBody>
      </p:sp>
      <p:sp>
        <p:nvSpPr>
          <p:cNvPr id="371" name="Google Shape;371;p21"/>
          <p:cNvSpPr txBox="1"/>
          <p:nvPr/>
        </p:nvSpPr>
        <p:spPr>
          <a:xfrm>
            <a:off x="5066759" y="7609011"/>
            <a:ext cx="3441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72" name="Google Shape;37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3759" y="5653858"/>
            <a:ext cx="3230966" cy="1892248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1"/>
          <p:cNvSpPr txBox="1"/>
          <p:nvPr/>
        </p:nvSpPr>
        <p:spPr>
          <a:xfrm>
            <a:off x="1616308" y="7822950"/>
            <a:ext cx="59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4" name="Google Shape;374;p21"/>
          <p:cNvSpPr txBox="1"/>
          <p:nvPr/>
        </p:nvSpPr>
        <p:spPr>
          <a:xfrm>
            <a:off x="2308071" y="8823850"/>
            <a:ext cx="59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450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5" name="Google Shape;375;p21"/>
          <p:cNvSpPr txBox="1"/>
          <p:nvPr/>
        </p:nvSpPr>
        <p:spPr>
          <a:xfrm>
            <a:off x="3578957" y="7068436"/>
            <a:ext cx="263100" cy="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21"/>
          <p:cNvSpPr txBox="1"/>
          <p:nvPr/>
        </p:nvSpPr>
        <p:spPr>
          <a:xfrm>
            <a:off x="479900" y="5576109"/>
            <a:ext cx="434700" cy="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2380325" y="8876225"/>
            <a:ext cx="414900" cy="284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21"/>
          <p:cNvSpPr/>
          <p:nvPr/>
        </p:nvSpPr>
        <p:spPr>
          <a:xfrm>
            <a:off x="1632063" y="7871375"/>
            <a:ext cx="344100" cy="284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21"/>
          <p:cNvSpPr/>
          <p:nvPr/>
        </p:nvSpPr>
        <p:spPr>
          <a:xfrm>
            <a:off x="4819402" y="8868400"/>
            <a:ext cx="414900" cy="284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6827277" y="7008027"/>
            <a:ext cx="263100" cy="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1" name="Google Shape;381;p21"/>
          <p:cNvSpPr txBox="1"/>
          <p:nvPr/>
        </p:nvSpPr>
        <p:spPr>
          <a:xfrm>
            <a:off x="3817419" y="5595589"/>
            <a:ext cx="434700" cy="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85" name="Shape 385"/>
        <p:cNvGrpSpPr/>
        <p:nvPr/>
      </p:nvGrpSpPr>
      <p:grpSpPr>
        <a:xfrm>
          <a:off x="0" y="0"/>
          <a:ext cx="0" cy="0"/>
        </a:xfrm>
      </p:grpSpPr>
      <p:sp>
        <p:nvSpPr>
          <p:cNvPr id="386" name="Google Shape;386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387" name="Google Shape;387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Multiplicative relationships presented graphically</a:t>
            </a:r>
            <a:endParaRPr/>
          </a:p>
        </p:txBody>
      </p:sp>
      <p:sp>
        <p:nvSpPr>
          <p:cNvPr id="388" name="Google Shape;388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390" name="Google Shape;390;p22"/>
          <p:cNvSpPr txBox="1"/>
          <p:nvPr/>
        </p:nvSpPr>
        <p:spPr>
          <a:xfrm>
            <a:off x="468000" y="72545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Other representations of proportional relationships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1" name="Google Shape;391;p22"/>
          <p:cNvSpPr txBox="1"/>
          <p:nvPr/>
        </p:nvSpPr>
        <p:spPr>
          <a:xfrm>
            <a:off x="453150" y="1267200"/>
            <a:ext cx="662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Write what you think are the advantages and disadvantages of using a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graph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double number line and ratio table when trying to find a percentage of an amount.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92" name="Google Shape;392;p22"/>
          <p:cNvGraphicFramePr>
            <a:graphicFrameLocks noGrp="1"/>
          </p:cNvGraphicFramePr>
          <p:nvPr/>
        </p:nvGraphicFramePr>
        <p:xfrm>
          <a:off x="453150" y="187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{F4DE06F1-E652-4E50-AD69-A82AC7E3448D}</a:tableStyleId>
              </a:tblPr>
              <a:tblGrid>
                <a:gridCol w="1539925"/>
                <a:gridCol w="1664275"/>
                <a:gridCol w="2004225"/>
                <a:gridCol w="1415550"/>
              </a:tblGrid>
              <a:tr h="469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Graph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Double number line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Ratio table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637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Advantages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1319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Disadvantages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93" name="Google Shape;393;p22"/>
          <p:cNvSpPr txBox="1"/>
          <p:nvPr/>
        </p:nvSpPr>
        <p:spPr>
          <a:xfrm>
            <a:off x="2031034" y="2344025"/>
            <a:ext cx="16404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Good visual representation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4" name="Google Shape;394;p22"/>
          <p:cNvSpPr txBox="1"/>
          <p:nvPr/>
        </p:nvSpPr>
        <p:spPr>
          <a:xfrm>
            <a:off x="3813435" y="2381398"/>
            <a:ext cx="16404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Good visual representation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5" name="Google Shape;395;p22"/>
          <p:cNvSpPr txBox="1"/>
          <p:nvPr/>
        </p:nvSpPr>
        <p:spPr>
          <a:xfrm>
            <a:off x="5789210" y="2380106"/>
            <a:ext cx="978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Concise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6" name="Google Shape;396;p22"/>
          <p:cNvSpPr txBox="1"/>
          <p:nvPr/>
        </p:nvSpPr>
        <p:spPr>
          <a:xfrm>
            <a:off x="1995775" y="3042000"/>
            <a:ext cx="1710900" cy="10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Takes time to draw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Answers are dependent on the accuracy of the scale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7" name="Google Shape;397;p22"/>
          <p:cNvSpPr txBox="1"/>
          <p:nvPr/>
        </p:nvSpPr>
        <p:spPr>
          <a:xfrm>
            <a:off x="3663825" y="3031225"/>
            <a:ext cx="16404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Takes time to draw as it is scaled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8" name="Google Shape;398;p22"/>
          <p:cNvSpPr txBox="1"/>
          <p:nvPr/>
        </p:nvSpPr>
        <p:spPr>
          <a:xfrm>
            <a:off x="5610123" y="3031231"/>
            <a:ext cx="14670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Doesn’t show visual representation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9" name="Google Shape;399;p22"/>
          <p:cNvSpPr txBox="1"/>
          <p:nvPr/>
        </p:nvSpPr>
        <p:spPr>
          <a:xfrm>
            <a:off x="476400" y="44169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Match the ratio table with the correct graph and work out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missing amount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using the ratio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0" name="Google Shape;4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077" y="5956906"/>
            <a:ext cx="2179735" cy="1940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5053" y="5953905"/>
            <a:ext cx="2225619" cy="1946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96315" y="5956906"/>
            <a:ext cx="2225627" cy="194036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03" name="Google Shape;403;p22"/>
          <p:cNvGraphicFramePr>
            <a:graphicFrameLocks noGrp="1"/>
          </p:cNvGraphicFramePr>
          <p:nvPr/>
        </p:nvGraphicFramePr>
        <p:xfrm>
          <a:off x="636725" y="4846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{F4DE06F1-E652-4E50-AD69-A82AC7E3448D}</a:tableStyleId>
              </a:tblPr>
              <a:tblGrid>
                <a:gridCol w="1067200"/>
                <a:gridCol w="872775"/>
              </a:tblGrid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4" name="Google Shape;404;p22"/>
          <p:cNvGraphicFramePr>
            <a:graphicFrameLocks noGrp="1"/>
          </p:cNvGraphicFramePr>
          <p:nvPr/>
        </p:nvGraphicFramePr>
        <p:xfrm>
          <a:off x="2795138" y="4846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{F4DE06F1-E652-4E50-AD69-A82AC7E3448D}</a:tableStyleId>
              </a:tblPr>
              <a:tblGrid>
                <a:gridCol w="970000"/>
                <a:gridCol w="970000"/>
              </a:tblGrid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405" name="Google Shape;405;p22"/>
          <p:cNvGraphicFramePr>
            <a:graphicFrameLocks noGrp="1"/>
          </p:cNvGraphicFramePr>
          <p:nvPr/>
        </p:nvGraphicFramePr>
        <p:xfrm>
          <a:off x="4953600" y="4846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{F4DE06F1-E652-4E50-AD69-A82AC7E3448D}</a:tableStyleId>
              </a:tblPr>
              <a:tblGrid>
                <a:gridCol w="970000"/>
                <a:gridCol w="970000"/>
              </a:tblGrid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06" name="Google Shape;406;p22"/>
          <p:cNvSpPr txBox="1"/>
          <p:nvPr/>
        </p:nvSpPr>
        <p:spPr>
          <a:xfrm>
            <a:off x="995775" y="5331000"/>
            <a:ext cx="63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60.5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>
            <a:off x="3005300" y="5331000"/>
            <a:ext cx="83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30.25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8" name="Google Shape;408;p22"/>
          <p:cNvSpPr txBox="1"/>
          <p:nvPr/>
        </p:nvSpPr>
        <p:spPr>
          <a:xfrm>
            <a:off x="5246850" y="5331000"/>
            <a:ext cx="568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409" name="Google Shape;409;p22"/>
          <p:cNvCxnSpPr/>
          <p:nvPr/>
        </p:nvCxnSpPr>
        <p:spPr>
          <a:xfrm>
            <a:off x="1762600" y="5747648"/>
            <a:ext cx="7500" cy="4617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0" name="Google Shape;410;p22"/>
          <p:cNvCxnSpPr/>
          <p:nvPr/>
        </p:nvCxnSpPr>
        <p:spPr>
          <a:xfrm>
            <a:off x="4428615" y="5747648"/>
            <a:ext cx="1233600" cy="4329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1" name="Google Shape;411;p22"/>
          <p:cNvCxnSpPr/>
          <p:nvPr/>
        </p:nvCxnSpPr>
        <p:spPr>
          <a:xfrm flipH="1">
            <a:off x="3896700" y="5761907"/>
            <a:ext cx="2014500" cy="3603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2" name="Google Shape;412;p22"/>
          <p:cNvSpPr txBox="1"/>
          <p:nvPr/>
        </p:nvSpPr>
        <p:spPr>
          <a:xfrm>
            <a:off x="403547" y="5817597"/>
            <a:ext cx="4359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3" name="Google Shape;413;p22"/>
          <p:cNvSpPr txBox="1"/>
          <p:nvPr/>
        </p:nvSpPr>
        <p:spPr>
          <a:xfrm>
            <a:off x="2499319" y="7470422"/>
            <a:ext cx="2823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4" name="Google Shape;414;p22"/>
          <p:cNvSpPr txBox="1"/>
          <p:nvPr/>
        </p:nvSpPr>
        <p:spPr>
          <a:xfrm>
            <a:off x="2665037" y="5817597"/>
            <a:ext cx="4359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5" name="Google Shape;415;p22"/>
          <p:cNvSpPr txBox="1"/>
          <p:nvPr/>
        </p:nvSpPr>
        <p:spPr>
          <a:xfrm>
            <a:off x="4760809" y="7470422"/>
            <a:ext cx="2823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22"/>
          <p:cNvSpPr txBox="1"/>
          <p:nvPr/>
        </p:nvSpPr>
        <p:spPr>
          <a:xfrm>
            <a:off x="4885842" y="5817597"/>
            <a:ext cx="4359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7" name="Google Shape;417;p22"/>
          <p:cNvSpPr txBox="1"/>
          <p:nvPr/>
        </p:nvSpPr>
        <p:spPr>
          <a:xfrm>
            <a:off x="6818080" y="7424558"/>
            <a:ext cx="2823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18" name="Google Shape;418;p22"/>
          <p:cNvGraphicFramePr>
            <a:graphicFrameLocks noGrp="1"/>
          </p:cNvGraphicFramePr>
          <p:nvPr/>
        </p:nvGraphicFramePr>
        <p:xfrm>
          <a:off x="636725" y="8163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{F4DE06F1-E652-4E50-AD69-A82AC7E3448D}</a:tableStyleId>
              </a:tblPr>
              <a:tblGrid>
                <a:gridCol w="896900"/>
                <a:gridCol w="1043100"/>
              </a:tblGrid>
              <a:tr h="296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296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110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6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6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6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419" name="Google Shape;419;p22"/>
          <p:cNvGraphicFramePr>
            <a:graphicFrameLocks noGrp="1"/>
          </p:cNvGraphicFramePr>
          <p:nvPr/>
        </p:nvGraphicFramePr>
        <p:xfrm>
          <a:off x="2836225" y="8163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{F4DE06F1-E652-4E50-AD69-A82AC7E3448D}</a:tableStyleId>
              </a:tblPr>
              <a:tblGrid>
                <a:gridCol w="970000"/>
                <a:gridCol w="970000"/>
              </a:tblGrid>
              <a:tr h="296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296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6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6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6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420" name="Google Shape;420;p22"/>
          <p:cNvGraphicFramePr>
            <a:graphicFrameLocks noGrp="1"/>
          </p:cNvGraphicFramePr>
          <p:nvPr/>
        </p:nvGraphicFramePr>
        <p:xfrm>
          <a:off x="5154375" y="8163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{F4DE06F1-E652-4E50-AD69-A82AC7E3448D}</a:tableStyleId>
              </a:tblPr>
              <a:tblGrid>
                <a:gridCol w="934800"/>
                <a:gridCol w="934800"/>
              </a:tblGrid>
              <a:tr h="3024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3024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4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4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21" name="Google Shape;421;p22"/>
          <p:cNvSpPr txBox="1"/>
          <p:nvPr/>
        </p:nvSpPr>
        <p:spPr>
          <a:xfrm>
            <a:off x="824375" y="9321617"/>
            <a:ext cx="63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60.5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22" name="Google Shape;422;p22"/>
          <p:cNvSpPr txBox="1"/>
          <p:nvPr/>
        </p:nvSpPr>
        <p:spPr>
          <a:xfrm>
            <a:off x="3044025" y="8694525"/>
            <a:ext cx="671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27.5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23" name="Google Shape;423;p22"/>
          <p:cNvSpPr txBox="1"/>
          <p:nvPr/>
        </p:nvSpPr>
        <p:spPr>
          <a:xfrm>
            <a:off x="5424950" y="9044250"/>
            <a:ext cx="65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24" name="Google Shape;424;p22"/>
          <p:cNvSpPr txBox="1"/>
          <p:nvPr/>
        </p:nvSpPr>
        <p:spPr>
          <a:xfrm>
            <a:off x="5477580" y="8694525"/>
            <a:ext cx="65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25" name="Google Shape;425;p22"/>
          <p:cNvSpPr txBox="1"/>
          <p:nvPr/>
        </p:nvSpPr>
        <p:spPr>
          <a:xfrm>
            <a:off x="6238995" y="8694525"/>
            <a:ext cx="65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200"/>
          </a:p>
        </p:txBody>
      </p:sp>
      <p:sp>
        <p:nvSpPr>
          <p:cNvPr id="426" name="Google Shape;426;p22"/>
          <p:cNvSpPr txBox="1"/>
          <p:nvPr/>
        </p:nvSpPr>
        <p:spPr>
          <a:xfrm>
            <a:off x="4012855" y="8694525"/>
            <a:ext cx="671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50%</a:t>
            </a:r>
            <a:endParaRPr sz="1200"/>
          </a:p>
        </p:txBody>
      </p:sp>
      <p:sp>
        <p:nvSpPr>
          <p:cNvPr id="427" name="Google Shape;427;p22"/>
          <p:cNvSpPr txBox="1"/>
          <p:nvPr/>
        </p:nvSpPr>
        <p:spPr>
          <a:xfrm>
            <a:off x="4012855" y="8968050"/>
            <a:ext cx="671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5%</a:t>
            </a:r>
            <a:endParaRPr sz="1200"/>
          </a:p>
        </p:txBody>
      </p:sp>
      <p:sp>
        <p:nvSpPr>
          <p:cNvPr id="428" name="Google Shape;428;p22"/>
          <p:cNvSpPr txBox="1"/>
          <p:nvPr/>
        </p:nvSpPr>
        <p:spPr>
          <a:xfrm>
            <a:off x="4012855" y="9259100"/>
            <a:ext cx="628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55%</a:t>
            </a:r>
            <a:endParaRPr sz="1200"/>
          </a:p>
        </p:txBody>
      </p:sp>
      <p:sp>
        <p:nvSpPr>
          <p:cNvPr id="429" name="Google Shape;429;p22"/>
          <p:cNvSpPr txBox="1"/>
          <p:nvPr/>
        </p:nvSpPr>
        <p:spPr>
          <a:xfrm>
            <a:off x="1693125" y="8685750"/>
            <a:ext cx="83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50%</a:t>
            </a:r>
            <a:endParaRPr sz="1200"/>
          </a:p>
        </p:txBody>
      </p:sp>
      <p:sp>
        <p:nvSpPr>
          <p:cNvPr id="430" name="Google Shape;430;p22"/>
          <p:cNvSpPr txBox="1"/>
          <p:nvPr/>
        </p:nvSpPr>
        <p:spPr>
          <a:xfrm>
            <a:off x="1693125" y="8993814"/>
            <a:ext cx="83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5%</a:t>
            </a:r>
            <a:endParaRPr sz="1200"/>
          </a:p>
        </p:txBody>
      </p:sp>
      <p:sp>
        <p:nvSpPr>
          <p:cNvPr id="431" name="Google Shape;431;p22"/>
          <p:cNvSpPr txBox="1"/>
          <p:nvPr/>
        </p:nvSpPr>
        <p:spPr>
          <a:xfrm>
            <a:off x="1693125" y="9321617"/>
            <a:ext cx="783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55%</a:t>
            </a:r>
            <a:endParaRPr sz="1200"/>
          </a:p>
        </p:txBody>
      </p:sp>
      <p:sp>
        <p:nvSpPr>
          <p:cNvPr id="432" name="Google Shape;432;p22"/>
          <p:cNvSpPr txBox="1"/>
          <p:nvPr/>
        </p:nvSpPr>
        <p:spPr>
          <a:xfrm>
            <a:off x="3044025" y="8975173"/>
            <a:ext cx="671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2.75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33" name="Google Shape;433;p22"/>
          <p:cNvSpPr txBox="1"/>
          <p:nvPr/>
        </p:nvSpPr>
        <p:spPr>
          <a:xfrm>
            <a:off x="3044025" y="9250313"/>
            <a:ext cx="671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30.25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34" name="Google Shape;434;p22"/>
          <p:cNvSpPr txBox="1"/>
          <p:nvPr/>
        </p:nvSpPr>
        <p:spPr>
          <a:xfrm>
            <a:off x="900900" y="9003697"/>
            <a:ext cx="63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5.5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35" name="Google Shape;435;p22"/>
          <p:cNvSpPr txBox="1"/>
          <p:nvPr/>
        </p:nvSpPr>
        <p:spPr>
          <a:xfrm>
            <a:off x="900900" y="8695633"/>
            <a:ext cx="63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36" name="Google Shape;436;p22"/>
          <p:cNvSpPr txBox="1"/>
          <p:nvPr/>
        </p:nvSpPr>
        <p:spPr>
          <a:xfrm>
            <a:off x="6186442" y="9035475"/>
            <a:ext cx="70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200"/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113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simple-light-2</vt:lpstr>
      <vt:lpstr>Multiplicative relationships presented graphically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2024-03-04T09:34:36.036</cp:lastPrinted>
  <dcterms:created xsi:type="dcterms:W3CDTF">2024-03-04T09:34:36Z</dcterms:created>
  <dcterms:modified xsi:type="dcterms:W3CDTF">2024-03-04T09:34:22Z</dcterms:modified>
</cp:coreProperties>
</file>