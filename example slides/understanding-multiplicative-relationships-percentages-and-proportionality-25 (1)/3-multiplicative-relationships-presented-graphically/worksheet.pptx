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A0A152D1-D5BC-49CA-92CC-087C054E0926}">
  <a:tblStyle styleId="{A0A152D1-D5BC-49CA-92CC-087C054E092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5" name="Shape 205"/>
        <p:cNvGrpSpPr/>
        <p:nvPr/>
      </p:nvGrpSpPr>
      <p:grpSpPr>
        <a:xfrm>
          <a:off x="0" y="0"/>
          <a:ext cx="0" cy="0"/>
        </a:xfrm>
      </p:grpSpPr>
      <p:sp>
        <p:nvSpPr>
          <p:cNvPr id="206" name="Google Shape;206;g2b911d61b98_0_5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b911d61b98_0_5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361" name="Shape 361"/>
        <p:cNvGrpSpPr/>
        <p:nvPr/>
      </p:nvGrpSpPr>
      <p:grpSpPr>
        <a:xfrm>
          <a:off x="0" y="0"/>
          <a:ext cx="0" cy="0"/>
        </a:xfrm>
      </p:grpSpPr>
      <p:sp>
        <p:nvSpPr>
          <p:cNvPr id="362" name="Google Shape;362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11.png" /><Relationship Id="rId4" Type="http://schemas.openxmlformats.org/officeDocument/2006/relationships/image" Target="../media/image12.png" /><Relationship Id="rId5" Type="http://schemas.openxmlformats.org/officeDocument/2006/relationships/image" Target="../media/image13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Multiplicative relationships presented graphically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56519" y="1781103"/>
            <a:ext cx="64776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Match the double number line with the corresponding graph.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74749" y="1335050"/>
            <a:ext cx="6357000" cy="3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 Percentages of amounts graphically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1699513" y="4478341"/>
            <a:ext cx="296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4" name="Google Shape;164;p20"/>
          <p:cNvCxnSpPr/>
          <p:nvPr/>
        </p:nvCxnSpPr>
        <p:spPr>
          <a:xfrm>
            <a:off x="5206332" y="4647927"/>
            <a:ext cx="8100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65" name="Google Shape;165;p20"/>
          <p:cNvGraphicFramePr>
            <a:graphicFrameLocks noGrp="1"/>
          </p:cNvGraphicFramePr>
          <p:nvPr/>
        </p:nvGraphicFramePr>
        <p:xfrm>
          <a:off x="645450" y="4807457"/>
          <a:ext cx="1909050" cy="176750"/>
        </p:xfrm>
        <a:graphic>
          <a:graphicData uri="http://schemas.openxmlformats.org/drawingml/2006/table">
            <a:tbl>
              <a:tblPr>
                <a:noFill/>
                <a:tableStyleId>{A0A152D1-D5BC-49CA-92CC-087C054E0926}</a:tableStyleId>
              </a:tblPr>
              <a:tblGrid>
                <a:gridCol w="318175"/>
                <a:gridCol w="318175"/>
                <a:gridCol w="318175"/>
                <a:gridCol w="318175"/>
                <a:gridCol w="318175"/>
                <a:gridCol w="318175"/>
              </a:tblGrid>
              <a:tr h="88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8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166" name="Google Shape;166;p20"/>
          <p:cNvCxnSpPr/>
          <p:nvPr/>
        </p:nvCxnSpPr>
        <p:spPr>
          <a:xfrm>
            <a:off x="2412002" y="4895828"/>
            <a:ext cx="1737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7" name="Google Shape;167;p20"/>
          <p:cNvSpPr txBox="1"/>
          <p:nvPr/>
        </p:nvSpPr>
        <p:spPr>
          <a:xfrm>
            <a:off x="595821" y="4580611"/>
            <a:ext cx="465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595823" y="5036105"/>
            <a:ext cx="316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2868439" y="4580611"/>
            <a:ext cx="465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2868441" y="5036105"/>
            <a:ext cx="316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5075351" y="4580611"/>
            <a:ext cx="465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5075354" y="5036105"/>
            <a:ext cx="316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3" name="Google Shape;17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717" y="2203028"/>
            <a:ext cx="1909096" cy="18162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4" name="Google Shape;174;p20"/>
          <p:cNvCxnSpPr/>
          <p:nvPr/>
        </p:nvCxnSpPr>
        <p:spPr>
          <a:xfrm rot="10800000">
            <a:off x="828850" y="2078175"/>
            <a:ext cx="13800" cy="18441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5" name="Google Shape;175;p20"/>
          <p:cNvCxnSpPr/>
          <p:nvPr/>
        </p:nvCxnSpPr>
        <p:spPr>
          <a:xfrm flipH="1">
            <a:off x="856452" y="3889071"/>
            <a:ext cx="1675500" cy="5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76" name="Google Shape;176;p20"/>
          <p:cNvSpPr txBox="1"/>
          <p:nvPr/>
        </p:nvSpPr>
        <p:spPr>
          <a:xfrm>
            <a:off x="459540" y="2900574"/>
            <a:ext cx="447000" cy="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1502252" y="3889071"/>
            <a:ext cx="270600" cy="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8" name="Google Shape;17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2523" y="2203028"/>
            <a:ext cx="1909096" cy="181628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 txBox="1"/>
          <p:nvPr/>
        </p:nvSpPr>
        <p:spPr>
          <a:xfrm>
            <a:off x="2731345" y="2900574"/>
            <a:ext cx="447000" cy="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3774058" y="3889071"/>
            <a:ext cx="270600" cy="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1" name="Google Shape;18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4328" y="2203028"/>
            <a:ext cx="1909096" cy="1816281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5003151" y="2900574"/>
            <a:ext cx="447000" cy="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6045863" y="3889071"/>
            <a:ext cx="270600" cy="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4" name="Google Shape;184;p20"/>
          <p:cNvCxnSpPr/>
          <p:nvPr/>
        </p:nvCxnSpPr>
        <p:spPr>
          <a:xfrm rot="10800000" flipH="1">
            <a:off x="844996" y="2204092"/>
            <a:ext cx="1345200" cy="1682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5" name="Google Shape;185;p20"/>
          <p:cNvCxnSpPr/>
          <p:nvPr/>
        </p:nvCxnSpPr>
        <p:spPr>
          <a:xfrm rot="10800000" flipH="1">
            <a:off x="3117470" y="2528947"/>
            <a:ext cx="1694100" cy="1359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6" name="Google Shape;186;p20"/>
          <p:cNvCxnSpPr/>
          <p:nvPr/>
        </p:nvCxnSpPr>
        <p:spPr>
          <a:xfrm rot="10800000" flipH="1">
            <a:off x="5390474" y="2210342"/>
            <a:ext cx="1044600" cy="1678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7" name="Google Shape;187;p20"/>
          <p:cNvSpPr txBox="1"/>
          <p:nvPr/>
        </p:nvSpPr>
        <p:spPr>
          <a:xfrm>
            <a:off x="1756986" y="4591271"/>
            <a:ext cx="810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80%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1741850" y="5046762"/>
            <a:ext cx="550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£100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4265500" y="4580616"/>
            <a:ext cx="810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100%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4265505" y="5036107"/>
            <a:ext cx="550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£80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6258311" y="4580616"/>
            <a:ext cx="810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80%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6217308" y="5036107"/>
            <a:ext cx="550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£50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3" name="Google Shape;193;p20"/>
          <p:cNvCxnSpPr/>
          <p:nvPr/>
        </p:nvCxnSpPr>
        <p:spPr>
          <a:xfrm rot="10800000">
            <a:off x="3114850" y="2078175"/>
            <a:ext cx="13800" cy="18441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4" name="Google Shape;194;p20"/>
          <p:cNvCxnSpPr/>
          <p:nvPr/>
        </p:nvCxnSpPr>
        <p:spPr>
          <a:xfrm flipH="1">
            <a:off x="3142452" y="3889071"/>
            <a:ext cx="1675500" cy="5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95" name="Google Shape;195;p20"/>
          <p:cNvCxnSpPr/>
          <p:nvPr/>
        </p:nvCxnSpPr>
        <p:spPr>
          <a:xfrm rot="10800000">
            <a:off x="5389225" y="2078175"/>
            <a:ext cx="13800" cy="18441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6" name="Google Shape;196;p20"/>
          <p:cNvCxnSpPr/>
          <p:nvPr/>
        </p:nvCxnSpPr>
        <p:spPr>
          <a:xfrm flipH="1">
            <a:off x="5428452" y="3889071"/>
            <a:ext cx="1675500" cy="5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none" w="med" len="med"/>
          </a:ln>
        </p:spPr>
      </p:cxnSp>
      <p:graphicFrame>
        <p:nvGraphicFramePr>
          <p:cNvPr id="197" name="Google Shape;197;p20"/>
          <p:cNvGraphicFramePr>
            <a:graphicFrameLocks noGrp="1"/>
          </p:cNvGraphicFramePr>
          <p:nvPr/>
        </p:nvGraphicFramePr>
        <p:xfrm>
          <a:off x="2931450" y="4807457"/>
          <a:ext cx="1909050" cy="176750"/>
        </p:xfrm>
        <a:graphic>
          <a:graphicData uri="http://schemas.openxmlformats.org/drawingml/2006/table">
            <a:tbl>
              <a:tblPr>
                <a:noFill/>
                <a:tableStyleId>{A0A152D1-D5BC-49CA-92CC-087C054E0926}</a:tableStyleId>
              </a:tblPr>
              <a:tblGrid>
                <a:gridCol w="318175"/>
                <a:gridCol w="318175"/>
                <a:gridCol w="318175"/>
                <a:gridCol w="318175"/>
                <a:gridCol w="318175"/>
                <a:gridCol w="318175"/>
              </a:tblGrid>
              <a:tr h="88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8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198" name="Google Shape;198;p20"/>
          <p:cNvCxnSpPr/>
          <p:nvPr/>
        </p:nvCxnSpPr>
        <p:spPr>
          <a:xfrm>
            <a:off x="4698002" y="4895828"/>
            <a:ext cx="1737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199" name="Google Shape;199;p20"/>
          <p:cNvGraphicFramePr>
            <a:graphicFrameLocks noGrp="1"/>
          </p:cNvGraphicFramePr>
          <p:nvPr/>
        </p:nvGraphicFramePr>
        <p:xfrm>
          <a:off x="5141251" y="4807457"/>
          <a:ext cx="1909050" cy="176750"/>
        </p:xfrm>
        <a:graphic>
          <a:graphicData uri="http://schemas.openxmlformats.org/drawingml/2006/table">
            <a:tbl>
              <a:tblPr>
                <a:noFill/>
                <a:tableStyleId>{A0A152D1-D5BC-49CA-92CC-087C054E0926}</a:tableStyleId>
              </a:tblPr>
              <a:tblGrid>
                <a:gridCol w="318175"/>
                <a:gridCol w="318175"/>
                <a:gridCol w="318175"/>
                <a:gridCol w="318175"/>
                <a:gridCol w="318175"/>
                <a:gridCol w="318175"/>
              </a:tblGrid>
              <a:tr h="88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8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200" name="Google Shape;200;p20"/>
          <p:cNvCxnSpPr/>
          <p:nvPr/>
        </p:nvCxnSpPr>
        <p:spPr>
          <a:xfrm>
            <a:off x="6907802" y="4895828"/>
            <a:ext cx="1737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201" name="Google Shape;20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13470" y="6121379"/>
            <a:ext cx="3519285" cy="2485926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 txBox="1"/>
          <p:nvPr/>
        </p:nvSpPr>
        <p:spPr>
          <a:xfrm>
            <a:off x="482775" y="6308275"/>
            <a:ext cx="6610500" cy="28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Jun scored 35 marks on his assessment.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What grade did Jun get?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Estimate his percentage score.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Estimate the minimum mark you need to get a grade. What calculation could you carry out to be more accurate?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482775" y="5626950"/>
            <a:ext cx="6610500" cy="4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A class of students took a test. The grades available were A, B, C or 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graph helps the teacher convert a score out of 65 to a grade.</a:t>
            </a:r>
            <a:endParaRPr sz="1200"/>
          </a:p>
        </p:txBody>
      </p:sp>
      <p:sp>
        <p:nvSpPr>
          <p:cNvPr id="204" name="Google Shape;204;p20"/>
          <p:cNvSpPr txBox="1"/>
          <p:nvPr/>
        </p:nvSpPr>
        <p:spPr>
          <a:xfrm>
            <a:off x="6187673" y="8396125"/>
            <a:ext cx="810000" cy="3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Mark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8" name="Shape 208"/>
        <p:cNvGrpSpPr/>
        <p:nvPr/>
      </p:nvGrpSpPr>
      <p:grpSpPr>
        <a:xfrm>
          <a:off x="0" y="0"/>
          <a:ext cx="0" cy="0"/>
        </a:xfrm>
      </p:grpSpPr>
      <p:pic>
        <p:nvPicPr>
          <p:cNvPr id="209" name="Google Shape;2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8588" y="5669500"/>
            <a:ext cx="3189025" cy="184760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Multiplicative relationships presented graphically</a:t>
            </a:r>
            <a:endParaRPr/>
          </a:p>
        </p:txBody>
      </p:sp>
      <p:cxnSp>
        <p:nvCxnSpPr>
          <p:cNvPr id="211" name="Google Shape;211;p21"/>
          <p:cNvCxnSpPr/>
          <p:nvPr/>
        </p:nvCxnSpPr>
        <p:spPr>
          <a:xfrm>
            <a:off x="474757" y="982003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2" name="Google Shape;212;p21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2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213" name="Google Shape;21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516" y="1288437"/>
            <a:ext cx="3189023" cy="18056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4" name="Google Shape;214;p21"/>
          <p:cNvCxnSpPr/>
          <p:nvPr/>
        </p:nvCxnSpPr>
        <p:spPr>
          <a:xfrm flipH="1">
            <a:off x="1587621" y="3587645"/>
            <a:ext cx="0" cy="737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5" name="Google Shape;215;p21"/>
          <p:cNvSpPr txBox="1"/>
          <p:nvPr/>
        </p:nvSpPr>
        <p:spPr>
          <a:xfrm>
            <a:off x="467800" y="911700"/>
            <a:ext cx="6610500" cy="2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3a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Fill in the missing information given the graph and double number line.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2417262" y="4272675"/>
            <a:ext cx="59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180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17" name="Google Shape;217;p21"/>
          <p:cNvGrpSpPr/>
          <p:nvPr/>
        </p:nvGrpSpPr>
        <p:grpSpPr>
          <a:xfrm>
            <a:off x="1284035" y="3313687"/>
            <a:ext cx="2675110" cy="1245396"/>
            <a:chOff x="344550" y="2159986"/>
            <a:chExt cx="3502829" cy="1689359"/>
          </a:xfrm>
        </p:grpSpPr>
        <p:grpSp>
          <p:nvGrpSpPr>
            <p:cNvPr id="218" name="Google Shape;218;p21"/>
            <p:cNvGrpSpPr/>
            <p:nvPr/>
          </p:nvGrpSpPr>
          <p:grpSpPr>
            <a:xfrm>
              <a:off x="1433102" y="2533775"/>
              <a:ext cx="31897" cy="1000200"/>
              <a:chOff x="941713" y="3767150"/>
              <a:chExt cx="63300" cy="1000200"/>
            </a:xfrm>
          </p:grpSpPr>
          <p:cxnSp>
            <p:nvCxnSpPr>
              <p:cNvPr id="219" name="Google Shape;219;p21"/>
              <p:cNvCxnSpPr/>
              <p:nvPr/>
            </p:nvCxnSpPr>
            <p:spPr>
              <a:xfrm flipH="1">
                <a:off x="975300" y="3767150"/>
                <a:ext cx="0" cy="1000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20" name="Google Shape;220;p21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221" name="Google Shape;221;p21"/>
            <p:cNvSpPr txBox="1"/>
            <p:nvPr/>
          </p:nvSpPr>
          <p:spPr>
            <a:xfrm>
              <a:off x="2586779" y="2574239"/>
              <a:ext cx="1260600" cy="25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%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2" name="Google Shape;222;p21"/>
            <p:cNvSpPr txBox="1"/>
            <p:nvPr/>
          </p:nvSpPr>
          <p:spPr>
            <a:xfrm>
              <a:off x="2616798" y="3181537"/>
              <a:ext cx="1145100" cy="25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£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3" name="Google Shape;223;p21"/>
            <p:cNvSpPr txBox="1"/>
            <p:nvPr/>
          </p:nvSpPr>
          <p:spPr>
            <a:xfrm>
              <a:off x="774976" y="2160000"/>
              <a:ext cx="4929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4" name="Google Shape;224;p21"/>
            <p:cNvSpPr txBox="1"/>
            <p:nvPr/>
          </p:nvSpPr>
          <p:spPr>
            <a:xfrm>
              <a:off x="1356140" y="3473445"/>
              <a:ext cx="4929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5" name="Google Shape;225;p21"/>
            <p:cNvSpPr txBox="1"/>
            <p:nvPr/>
          </p:nvSpPr>
          <p:spPr>
            <a:xfrm>
              <a:off x="773777" y="3473445"/>
              <a:ext cx="4929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6" name="Google Shape;226;p21"/>
            <p:cNvSpPr txBox="1"/>
            <p:nvPr/>
          </p:nvSpPr>
          <p:spPr>
            <a:xfrm>
              <a:off x="1348295" y="2159986"/>
              <a:ext cx="4722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7" name="Google Shape;227;p21"/>
            <p:cNvSpPr txBox="1"/>
            <p:nvPr/>
          </p:nvSpPr>
          <p:spPr>
            <a:xfrm>
              <a:off x="1924278" y="2160000"/>
              <a:ext cx="4929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28" name="Google Shape;228;p21"/>
            <p:cNvCxnSpPr/>
            <p:nvPr/>
          </p:nvCxnSpPr>
          <p:spPr>
            <a:xfrm flipH="1">
              <a:off x="397280" y="2355125"/>
              <a:ext cx="0" cy="13575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29" name="Google Shape;229;p21"/>
            <p:cNvGrpSpPr/>
            <p:nvPr/>
          </p:nvGrpSpPr>
          <p:grpSpPr>
            <a:xfrm>
              <a:off x="856988" y="2519701"/>
              <a:ext cx="233764" cy="1000200"/>
              <a:chOff x="941713" y="3753076"/>
              <a:chExt cx="463909" cy="1000200"/>
            </a:xfrm>
          </p:grpSpPr>
          <p:cxnSp>
            <p:nvCxnSpPr>
              <p:cNvPr id="230" name="Google Shape;230;p21"/>
              <p:cNvCxnSpPr/>
              <p:nvPr/>
            </p:nvCxnSpPr>
            <p:spPr>
              <a:xfrm flipH="1">
                <a:off x="1405622" y="3753076"/>
                <a:ext cx="0" cy="1000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31" name="Google Shape;231;p21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32" name="Google Shape;232;p21"/>
            <p:cNvGrpSpPr/>
            <p:nvPr/>
          </p:nvGrpSpPr>
          <p:grpSpPr>
            <a:xfrm>
              <a:off x="2008903" y="2533775"/>
              <a:ext cx="94704" cy="1000200"/>
              <a:chOff x="941713" y="3767150"/>
              <a:chExt cx="187942" cy="1000200"/>
            </a:xfrm>
          </p:grpSpPr>
          <p:cxnSp>
            <p:nvCxnSpPr>
              <p:cNvPr id="233" name="Google Shape;233;p21"/>
              <p:cNvCxnSpPr/>
              <p:nvPr/>
            </p:nvCxnSpPr>
            <p:spPr>
              <a:xfrm flipH="1">
                <a:off x="1129655" y="3767150"/>
                <a:ext cx="0" cy="1000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34" name="Google Shape;234;p21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35" name="Google Shape;235;p21"/>
            <p:cNvGrpSpPr/>
            <p:nvPr/>
          </p:nvGrpSpPr>
          <p:grpSpPr>
            <a:xfrm>
              <a:off x="1432946" y="2533775"/>
              <a:ext cx="31897" cy="1000200"/>
              <a:chOff x="941713" y="3767150"/>
              <a:chExt cx="63300" cy="1000200"/>
            </a:xfrm>
          </p:grpSpPr>
          <p:cxnSp>
            <p:nvCxnSpPr>
              <p:cNvPr id="236" name="Google Shape;236;p21"/>
              <p:cNvCxnSpPr/>
              <p:nvPr/>
            </p:nvCxnSpPr>
            <p:spPr>
              <a:xfrm flipH="1">
                <a:off x="975300" y="3767150"/>
                <a:ext cx="0" cy="1000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37" name="Google Shape;237;p21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cxnSp>
          <p:nvCxnSpPr>
            <p:cNvPr id="238" name="Google Shape;238;p21"/>
            <p:cNvCxnSpPr/>
            <p:nvPr/>
          </p:nvCxnSpPr>
          <p:spPr>
            <a:xfrm>
              <a:off x="344550" y="2769525"/>
              <a:ext cx="22128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39" name="Google Shape;239;p21"/>
            <p:cNvCxnSpPr/>
            <p:nvPr/>
          </p:nvCxnSpPr>
          <p:spPr>
            <a:xfrm>
              <a:off x="367935" y="3317336"/>
              <a:ext cx="2166000" cy="13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cxnSp>
        <p:nvCxnSpPr>
          <p:cNvPr id="240" name="Google Shape;240;p21"/>
          <p:cNvCxnSpPr/>
          <p:nvPr/>
        </p:nvCxnSpPr>
        <p:spPr>
          <a:xfrm flipH="1">
            <a:off x="2380743" y="3587645"/>
            <a:ext cx="0" cy="737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1" name="Google Shape;241;p21"/>
          <p:cNvSpPr/>
          <p:nvPr/>
        </p:nvSpPr>
        <p:spPr>
          <a:xfrm>
            <a:off x="1348500" y="3783625"/>
            <a:ext cx="1314900" cy="362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3E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2" name="Google Shape;242;p21"/>
          <p:cNvCxnSpPr/>
          <p:nvPr/>
        </p:nvCxnSpPr>
        <p:spPr>
          <a:xfrm>
            <a:off x="1543925" y="3592834"/>
            <a:ext cx="9627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3" name="Google Shape;243;p21"/>
          <p:cNvCxnSpPr/>
          <p:nvPr/>
        </p:nvCxnSpPr>
        <p:spPr>
          <a:xfrm>
            <a:off x="1453800" y="4325050"/>
            <a:ext cx="12255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4" name="Google Shape;244;p21"/>
          <p:cNvSpPr txBox="1"/>
          <p:nvPr/>
        </p:nvSpPr>
        <p:spPr>
          <a:xfrm>
            <a:off x="2420146" y="3271775"/>
            <a:ext cx="59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100</a:t>
            </a:r>
            <a:endParaRPr sz="1200"/>
          </a:p>
        </p:txBody>
      </p:sp>
      <p:sp>
        <p:nvSpPr>
          <p:cNvPr id="245" name="Google Shape;245;p21"/>
          <p:cNvSpPr txBox="1"/>
          <p:nvPr/>
        </p:nvSpPr>
        <p:spPr>
          <a:xfrm>
            <a:off x="3857106" y="2669705"/>
            <a:ext cx="251100" cy="3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467725" y="1168612"/>
            <a:ext cx="414900" cy="3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1627385" y="3261955"/>
            <a:ext cx="59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40</a:t>
            </a:r>
            <a:endParaRPr sz="1200"/>
          </a:p>
        </p:txBody>
      </p:sp>
      <p:sp>
        <p:nvSpPr>
          <p:cNvPr id="248" name="Google Shape;248;p21"/>
          <p:cNvSpPr txBox="1"/>
          <p:nvPr/>
        </p:nvSpPr>
        <p:spPr>
          <a:xfrm>
            <a:off x="1696056" y="4282505"/>
            <a:ext cx="59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49" name="Google Shape;249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09096" y="1277580"/>
            <a:ext cx="3137040" cy="1805606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1"/>
          <p:cNvSpPr txBox="1"/>
          <p:nvPr/>
        </p:nvSpPr>
        <p:spPr>
          <a:xfrm>
            <a:off x="3775216" y="1168612"/>
            <a:ext cx="414900" cy="3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3490183" y="2547874"/>
            <a:ext cx="251100" cy="3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6743009" y="2576758"/>
            <a:ext cx="251100" cy="3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3" name="Google Shape;253;p21"/>
          <p:cNvCxnSpPr/>
          <p:nvPr/>
        </p:nvCxnSpPr>
        <p:spPr>
          <a:xfrm flipH="1">
            <a:off x="4970221" y="3563170"/>
            <a:ext cx="0" cy="737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4" name="Google Shape;254;p21"/>
          <p:cNvSpPr txBox="1"/>
          <p:nvPr/>
        </p:nvSpPr>
        <p:spPr>
          <a:xfrm>
            <a:off x="5799862" y="4248200"/>
            <a:ext cx="59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55" name="Google Shape;255;p21"/>
          <p:cNvGrpSpPr/>
          <p:nvPr/>
        </p:nvGrpSpPr>
        <p:grpSpPr>
          <a:xfrm>
            <a:off x="4666635" y="3289212"/>
            <a:ext cx="2429941" cy="1245396"/>
            <a:chOff x="344550" y="2159986"/>
            <a:chExt cx="3181801" cy="1689359"/>
          </a:xfrm>
        </p:grpSpPr>
        <p:grpSp>
          <p:nvGrpSpPr>
            <p:cNvPr id="256" name="Google Shape;256;p21"/>
            <p:cNvGrpSpPr/>
            <p:nvPr/>
          </p:nvGrpSpPr>
          <p:grpSpPr>
            <a:xfrm>
              <a:off x="1433102" y="2533775"/>
              <a:ext cx="31897" cy="1000200"/>
              <a:chOff x="941713" y="3767150"/>
              <a:chExt cx="63300" cy="1000200"/>
            </a:xfrm>
          </p:grpSpPr>
          <p:cxnSp>
            <p:nvCxnSpPr>
              <p:cNvPr id="257" name="Google Shape;257;p21"/>
              <p:cNvCxnSpPr/>
              <p:nvPr/>
            </p:nvCxnSpPr>
            <p:spPr>
              <a:xfrm flipH="1">
                <a:off x="975300" y="3767150"/>
                <a:ext cx="0" cy="1000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8" name="Google Shape;258;p21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259" name="Google Shape;259;p21"/>
            <p:cNvSpPr txBox="1"/>
            <p:nvPr/>
          </p:nvSpPr>
          <p:spPr>
            <a:xfrm>
              <a:off x="2542750" y="2574239"/>
              <a:ext cx="969000" cy="25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%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0" name="Google Shape;260;p21"/>
            <p:cNvSpPr txBox="1"/>
            <p:nvPr/>
          </p:nvSpPr>
          <p:spPr>
            <a:xfrm>
              <a:off x="2557351" y="3181537"/>
              <a:ext cx="969000" cy="25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£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1" name="Google Shape;261;p21"/>
            <p:cNvSpPr txBox="1"/>
            <p:nvPr/>
          </p:nvSpPr>
          <p:spPr>
            <a:xfrm>
              <a:off x="774976" y="2160000"/>
              <a:ext cx="4929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2" name="Google Shape;262;p21"/>
            <p:cNvSpPr txBox="1"/>
            <p:nvPr/>
          </p:nvSpPr>
          <p:spPr>
            <a:xfrm>
              <a:off x="1356140" y="3473445"/>
              <a:ext cx="4929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3" name="Google Shape;263;p21"/>
            <p:cNvSpPr txBox="1"/>
            <p:nvPr/>
          </p:nvSpPr>
          <p:spPr>
            <a:xfrm>
              <a:off x="773777" y="3473445"/>
              <a:ext cx="4929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4" name="Google Shape;264;p21"/>
            <p:cNvSpPr txBox="1"/>
            <p:nvPr/>
          </p:nvSpPr>
          <p:spPr>
            <a:xfrm>
              <a:off x="1348295" y="2159986"/>
              <a:ext cx="4722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5" name="Google Shape;265;p21"/>
            <p:cNvSpPr txBox="1"/>
            <p:nvPr/>
          </p:nvSpPr>
          <p:spPr>
            <a:xfrm>
              <a:off x="1924278" y="2160000"/>
              <a:ext cx="4929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66" name="Google Shape;266;p21"/>
            <p:cNvCxnSpPr/>
            <p:nvPr/>
          </p:nvCxnSpPr>
          <p:spPr>
            <a:xfrm flipH="1">
              <a:off x="397280" y="2355125"/>
              <a:ext cx="0" cy="13575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67" name="Google Shape;267;p21"/>
            <p:cNvGrpSpPr/>
            <p:nvPr/>
          </p:nvGrpSpPr>
          <p:grpSpPr>
            <a:xfrm>
              <a:off x="856988" y="2519701"/>
              <a:ext cx="233764" cy="1000200"/>
              <a:chOff x="941713" y="3753076"/>
              <a:chExt cx="463909" cy="1000200"/>
            </a:xfrm>
          </p:grpSpPr>
          <p:cxnSp>
            <p:nvCxnSpPr>
              <p:cNvPr id="268" name="Google Shape;268;p21"/>
              <p:cNvCxnSpPr/>
              <p:nvPr/>
            </p:nvCxnSpPr>
            <p:spPr>
              <a:xfrm flipH="1">
                <a:off x="1405622" y="3753076"/>
                <a:ext cx="0" cy="1000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69" name="Google Shape;269;p21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70" name="Google Shape;270;p21"/>
            <p:cNvGrpSpPr/>
            <p:nvPr/>
          </p:nvGrpSpPr>
          <p:grpSpPr>
            <a:xfrm>
              <a:off x="2008903" y="2533775"/>
              <a:ext cx="94704" cy="1000200"/>
              <a:chOff x="941713" y="3767150"/>
              <a:chExt cx="187942" cy="1000200"/>
            </a:xfrm>
          </p:grpSpPr>
          <p:cxnSp>
            <p:nvCxnSpPr>
              <p:cNvPr id="271" name="Google Shape;271;p21"/>
              <p:cNvCxnSpPr/>
              <p:nvPr/>
            </p:nvCxnSpPr>
            <p:spPr>
              <a:xfrm flipH="1">
                <a:off x="1129655" y="3767150"/>
                <a:ext cx="0" cy="1000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72" name="Google Shape;272;p21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73" name="Google Shape;273;p21"/>
            <p:cNvGrpSpPr/>
            <p:nvPr/>
          </p:nvGrpSpPr>
          <p:grpSpPr>
            <a:xfrm>
              <a:off x="1432946" y="2533775"/>
              <a:ext cx="31897" cy="1000200"/>
              <a:chOff x="941713" y="3767150"/>
              <a:chExt cx="63300" cy="1000200"/>
            </a:xfrm>
          </p:grpSpPr>
          <p:cxnSp>
            <p:nvCxnSpPr>
              <p:cNvPr id="274" name="Google Shape;274;p21"/>
              <p:cNvCxnSpPr/>
              <p:nvPr/>
            </p:nvCxnSpPr>
            <p:spPr>
              <a:xfrm flipH="1">
                <a:off x="975300" y="3767150"/>
                <a:ext cx="0" cy="1000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75" name="Google Shape;275;p21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cxnSp>
          <p:nvCxnSpPr>
            <p:cNvPr id="276" name="Google Shape;276;p21"/>
            <p:cNvCxnSpPr/>
            <p:nvPr/>
          </p:nvCxnSpPr>
          <p:spPr>
            <a:xfrm>
              <a:off x="344550" y="2769525"/>
              <a:ext cx="22128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77" name="Google Shape;277;p21"/>
            <p:cNvCxnSpPr/>
            <p:nvPr/>
          </p:nvCxnSpPr>
          <p:spPr>
            <a:xfrm>
              <a:off x="367935" y="3317336"/>
              <a:ext cx="2166000" cy="13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cxnSp>
        <p:nvCxnSpPr>
          <p:cNvPr id="278" name="Google Shape;278;p21"/>
          <p:cNvCxnSpPr/>
          <p:nvPr/>
        </p:nvCxnSpPr>
        <p:spPr>
          <a:xfrm flipH="1">
            <a:off x="5763343" y="3563170"/>
            <a:ext cx="0" cy="737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9" name="Google Shape;279;p21"/>
          <p:cNvSpPr/>
          <p:nvPr/>
        </p:nvSpPr>
        <p:spPr>
          <a:xfrm>
            <a:off x="4731100" y="3759150"/>
            <a:ext cx="1314900" cy="362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3E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0" name="Google Shape;280;p21"/>
          <p:cNvCxnSpPr/>
          <p:nvPr/>
        </p:nvCxnSpPr>
        <p:spPr>
          <a:xfrm>
            <a:off x="4846800" y="3559725"/>
            <a:ext cx="9627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1" name="Google Shape;281;p21"/>
          <p:cNvCxnSpPr/>
          <p:nvPr/>
        </p:nvCxnSpPr>
        <p:spPr>
          <a:xfrm>
            <a:off x="4836400" y="4300575"/>
            <a:ext cx="12255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2" name="Google Shape;282;p21"/>
          <p:cNvSpPr txBox="1"/>
          <p:nvPr/>
        </p:nvSpPr>
        <p:spPr>
          <a:xfrm>
            <a:off x="5802746" y="3247300"/>
            <a:ext cx="59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100</a:t>
            </a:r>
            <a:endParaRPr sz="1200"/>
          </a:p>
        </p:txBody>
      </p:sp>
      <p:sp>
        <p:nvSpPr>
          <p:cNvPr id="283" name="Google Shape;283;p21"/>
          <p:cNvSpPr txBox="1"/>
          <p:nvPr/>
        </p:nvSpPr>
        <p:spPr>
          <a:xfrm>
            <a:off x="4762647" y="3237480"/>
            <a:ext cx="59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20</a:t>
            </a:r>
            <a:endParaRPr sz="1200"/>
          </a:p>
        </p:txBody>
      </p:sp>
      <p:sp>
        <p:nvSpPr>
          <p:cNvPr id="284" name="Google Shape;284;p21"/>
          <p:cNvSpPr txBox="1"/>
          <p:nvPr/>
        </p:nvSpPr>
        <p:spPr>
          <a:xfrm>
            <a:off x="4788506" y="4258030"/>
            <a:ext cx="59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5" name="Google Shape;285;p21"/>
          <p:cNvSpPr/>
          <p:nvPr/>
        </p:nvSpPr>
        <p:spPr>
          <a:xfrm>
            <a:off x="2456522" y="4309315"/>
            <a:ext cx="344100" cy="284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1"/>
          <p:cNvSpPr/>
          <p:nvPr/>
        </p:nvSpPr>
        <p:spPr>
          <a:xfrm>
            <a:off x="1684800" y="4294800"/>
            <a:ext cx="344100" cy="284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1"/>
          <p:cNvSpPr/>
          <p:nvPr/>
        </p:nvSpPr>
        <p:spPr>
          <a:xfrm>
            <a:off x="5832122" y="4309315"/>
            <a:ext cx="344100" cy="284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1"/>
          <p:cNvSpPr/>
          <p:nvPr/>
        </p:nvSpPr>
        <p:spPr>
          <a:xfrm>
            <a:off x="4798175" y="4309325"/>
            <a:ext cx="344100" cy="284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9" name="Google Shape;289;p21"/>
          <p:cNvCxnSpPr/>
          <p:nvPr/>
        </p:nvCxnSpPr>
        <p:spPr>
          <a:xfrm flipH="1">
            <a:off x="1514946" y="8138820"/>
            <a:ext cx="0" cy="737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0" name="Google Shape;290;p21"/>
          <p:cNvSpPr txBox="1"/>
          <p:nvPr/>
        </p:nvSpPr>
        <p:spPr>
          <a:xfrm>
            <a:off x="479900" y="5331300"/>
            <a:ext cx="6413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3b)  Fill in the missing information given the graph and double number line.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91" name="Google Shape;291;p21"/>
          <p:cNvGrpSpPr/>
          <p:nvPr/>
        </p:nvGrpSpPr>
        <p:grpSpPr>
          <a:xfrm>
            <a:off x="4472100" y="7874325"/>
            <a:ext cx="2839298" cy="1245396"/>
            <a:chOff x="1068645" y="1397986"/>
            <a:chExt cx="3717818" cy="1689359"/>
          </a:xfrm>
        </p:grpSpPr>
        <p:grpSp>
          <p:nvGrpSpPr>
            <p:cNvPr id="292" name="Google Shape;292;p21"/>
            <p:cNvGrpSpPr/>
            <p:nvPr/>
          </p:nvGrpSpPr>
          <p:grpSpPr>
            <a:xfrm>
              <a:off x="1283663" y="1397986"/>
              <a:ext cx="3502800" cy="1689359"/>
              <a:chOff x="344550" y="2159986"/>
              <a:chExt cx="3502800" cy="1689359"/>
            </a:xfrm>
          </p:grpSpPr>
          <p:grpSp>
            <p:nvGrpSpPr>
              <p:cNvPr id="293" name="Google Shape;293;p21"/>
              <p:cNvGrpSpPr/>
              <p:nvPr/>
            </p:nvGrpSpPr>
            <p:grpSpPr>
              <a:xfrm>
                <a:off x="1433102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94" name="Google Shape;294;p21"/>
                <p:cNvCxnSpPr/>
                <p:nvPr/>
              </p:nvCxnSpPr>
              <p:spPr>
                <a:xfrm flipH="1"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95" name="Google Shape;295;p21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96" name="Google Shape;296;p21"/>
              <p:cNvSpPr txBox="1"/>
              <p:nvPr/>
            </p:nvSpPr>
            <p:spPr>
              <a:xfrm>
                <a:off x="2445450" y="2574225"/>
                <a:ext cx="1401900" cy="39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900">
                    <a:latin typeface="Lexend"/>
                    <a:ea typeface="Lexend"/>
                    <a:cs typeface="Lexend"/>
                    <a:sym typeface="Lexend"/>
                  </a:rPr>
                  <a:t> %</a:t>
                </a:r>
                <a:endParaRPr sz="19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7" name="Google Shape;297;p21"/>
              <p:cNvSpPr txBox="1"/>
              <p:nvPr/>
            </p:nvSpPr>
            <p:spPr>
              <a:xfrm>
                <a:off x="2460186" y="3181550"/>
                <a:ext cx="1301700" cy="39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900">
                    <a:latin typeface="Lexend"/>
                    <a:ea typeface="Lexend"/>
                    <a:cs typeface="Lexend"/>
                    <a:sym typeface="Lexend"/>
                  </a:rPr>
                  <a:t> £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8" name="Google Shape;298;p21"/>
              <p:cNvSpPr txBox="1"/>
              <p:nvPr/>
            </p:nvSpPr>
            <p:spPr>
              <a:xfrm>
                <a:off x="774976" y="2160000"/>
                <a:ext cx="4929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9" name="Google Shape;299;p21"/>
              <p:cNvSpPr txBox="1"/>
              <p:nvPr/>
            </p:nvSpPr>
            <p:spPr>
              <a:xfrm>
                <a:off x="1356140" y="3473445"/>
                <a:ext cx="4929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0" name="Google Shape;300;p21"/>
              <p:cNvSpPr txBox="1"/>
              <p:nvPr/>
            </p:nvSpPr>
            <p:spPr>
              <a:xfrm>
                <a:off x="773777" y="3473445"/>
                <a:ext cx="4929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1" name="Google Shape;301;p21"/>
              <p:cNvSpPr txBox="1"/>
              <p:nvPr/>
            </p:nvSpPr>
            <p:spPr>
              <a:xfrm>
                <a:off x="1348295" y="2159986"/>
                <a:ext cx="4722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2" name="Google Shape;302;p21"/>
              <p:cNvSpPr txBox="1"/>
              <p:nvPr/>
            </p:nvSpPr>
            <p:spPr>
              <a:xfrm>
                <a:off x="1924278" y="2160000"/>
                <a:ext cx="4929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303" name="Google Shape;303;p21"/>
              <p:cNvCxnSpPr/>
              <p:nvPr/>
            </p:nvCxnSpPr>
            <p:spPr>
              <a:xfrm flipH="1">
                <a:off x="397280" y="2355125"/>
                <a:ext cx="0" cy="13575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304" name="Google Shape;304;p21"/>
              <p:cNvGrpSpPr/>
              <p:nvPr/>
            </p:nvGrpSpPr>
            <p:grpSpPr>
              <a:xfrm>
                <a:off x="856988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305" name="Google Shape;305;p21"/>
                <p:cNvCxnSpPr/>
                <p:nvPr/>
              </p:nvCxnSpPr>
              <p:spPr>
                <a:xfrm flipH="1"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06" name="Google Shape;306;p21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07" name="Google Shape;307;p21"/>
              <p:cNvGrpSpPr/>
              <p:nvPr/>
            </p:nvGrpSpPr>
            <p:grpSpPr>
              <a:xfrm>
                <a:off x="2008903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308" name="Google Shape;308;p21"/>
                <p:cNvCxnSpPr/>
                <p:nvPr/>
              </p:nvCxnSpPr>
              <p:spPr>
                <a:xfrm flipH="1"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09" name="Google Shape;309;p21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10" name="Google Shape;310;p21"/>
              <p:cNvGrpSpPr/>
              <p:nvPr/>
            </p:nvGrpSpPr>
            <p:grpSpPr>
              <a:xfrm>
                <a:off x="1432946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311" name="Google Shape;311;p21"/>
                <p:cNvCxnSpPr/>
                <p:nvPr/>
              </p:nvCxnSpPr>
              <p:spPr>
                <a:xfrm flipH="1"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12" name="Google Shape;312;p21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cxnSp>
            <p:nvCxnSpPr>
              <p:cNvPr id="313" name="Google Shape;313;p21"/>
              <p:cNvCxnSpPr/>
              <p:nvPr/>
            </p:nvCxnSpPr>
            <p:spPr>
              <a:xfrm>
                <a:off x="344550" y="2769525"/>
                <a:ext cx="2212800" cy="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314" name="Google Shape;314;p21"/>
              <p:cNvCxnSpPr/>
              <p:nvPr/>
            </p:nvCxnSpPr>
            <p:spPr>
              <a:xfrm>
                <a:off x="367935" y="3317336"/>
                <a:ext cx="2166000" cy="138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315" name="Google Shape;315;p21"/>
            <p:cNvSpPr/>
            <p:nvPr/>
          </p:nvSpPr>
          <p:spPr>
            <a:xfrm>
              <a:off x="1068645" y="1560357"/>
              <a:ext cx="244500" cy="14589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3EEF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16" name="Google Shape;316;p21"/>
          <p:cNvSpPr/>
          <p:nvPr/>
        </p:nvSpPr>
        <p:spPr>
          <a:xfrm>
            <a:off x="4700775" y="8344250"/>
            <a:ext cx="1257300" cy="362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3E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1"/>
          <p:cNvSpPr txBox="1"/>
          <p:nvPr/>
        </p:nvSpPr>
        <p:spPr>
          <a:xfrm>
            <a:off x="4819406" y="8856105"/>
            <a:ext cx="49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80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8" name="Google Shape;318;p21"/>
          <p:cNvSpPr txBox="1"/>
          <p:nvPr/>
        </p:nvSpPr>
        <p:spPr>
          <a:xfrm>
            <a:off x="4739301" y="7809600"/>
            <a:ext cx="65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33.3</a:t>
            </a:r>
            <a:endParaRPr sz="1200"/>
          </a:p>
        </p:txBody>
      </p:sp>
      <p:sp>
        <p:nvSpPr>
          <p:cNvPr id="319" name="Google Shape;319;p21"/>
          <p:cNvSpPr txBox="1"/>
          <p:nvPr/>
        </p:nvSpPr>
        <p:spPr>
          <a:xfrm>
            <a:off x="1582587" y="8823850"/>
            <a:ext cx="59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180</a:t>
            </a:r>
            <a:endParaRPr sz="1200"/>
          </a:p>
        </p:txBody>
      </p:sp>
      <p:grpSp>
        <p:nvGrpSpPr>
          <p:cNvPr id="320" name="Google Shape;320;p21"/>
          <p:cNvGrpSpPr/>
          <p:nvPr/>
        </p:nvGrpSpPr>
        <p:grpSpPr>
          <a:xfrm>
            <a:off x="1211360" y="7864862"/>
            <a:ext cx="2675088" cy="1245396"/>
            <a:chOff x="344550" y="2159986"/>
            <a:chExt cx="3502800" cy="1689359"/>
          </a:xfrm>
        </p:grpSpPr>
        <p:grpSp>
          <p:nvGrpSpPr>
            <p:cNvPr id="321" name="Google Shape;321;p21"/>
            <p:cNvGrpSpPr/>
            <p:nvPr/>
          </p:nvGrpSpPr>
          <p:grpSpPr>
            <a:xfrm>
              <a:off x="1433102" y="2533775"/>
              <a:ext cx="31897" cy="1000200"/>
              <a:chOff x="941713" y="3767150"/>
              <a:chExt cx="63300" cy="1000200"/>
            </a:xfrm>
          </p:grpSpPr>
          <p:cxnSp>
            <p:nvCxnSpPr>
              <p:cNvPr id="322" name="Google Shape;322;p21"/>
              <p:cNvCxnSpPr/>
              <p:nvPr/>
            </p:nvCxnSpPr>
            <p:spPr>
              <a:xfrm flipH="1">
                <a:off x="975300" y="3767150"/>
                <a:ext cx="0" cy="1000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23" name="Google Shape;323;p21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324" name="Google Shape;324;p21"/>
            <p:cNvSpPr txBox="1"/>
            <p:nvPr/>
          </p:nvSpPr>
          <p:spPr>
            <a:xfrm>
              <a:off x="2445450" y="2574225"/>
              <a:ext cx="14019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900">
                  <a:latin typeface="Lexend"/>
                  <a:ea typeface="Lexend"/>
                  <a:cs typeface="Lexend"/>
                  <a:sym typeface="Lexend"/>
                </a:rPr>
                <a:t> %</a:t>
              </a:r>
              <a:endParaRPr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5" name="Google Shape;325;p21"/>
            <p:cNvSpPr txBox="1"/>
            <p:nvPr/>
          </p:nvSpPr>
          <p:spPr>
            <a:xfrm>
              <a:off x="2460186" y="3181550"/>
              <a:ext cx="13017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900">
                  <a:latin typeface="Lexend"/>
                  <a:ea typeface="Lexend"/>
                  <a:cs typeface="Lexend"/>
                  <a:sym typeface="Lexend"/>
                </a:rPr>
                <a:t> £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6" name="Google Shape;326;p21"/>
            <p:cNvSpPr txBox="1"/>
            <p:nvPr/>
          </p:nvSpPr>
          <p:spPr>
            <a:xfrm>
              <a:off x="774976" y="2160000"/>
              <a:ext cx="4929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7" name="Google Shape;327;p21"/>
            <p:cNvSpPr txBox="1"/>
            <p:nvPr/>
          </p:nvSpPr>
          <p:spPr>
            <a:xfrm>
              <a:off x="1356140" y="3473445"/>
              <a:ext cx="4929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8" name="Google Shape;328;p21"/>
            <p:cNvSpPr txBox="1"/>
            <p:nvPr/>
          </p:nvSpPr>
          <p:spPr>
            <a:xfrm>
              <a:off x="1348295" y="2159986"/>
              <a:ext cx="4722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9" name="Google Shape;329;p21"/>
            <p:cNvSpPr txBox="1"/>
            <p:nvPr/>
          </p:nvSpPr>
          <p:spPr>
            <a:xfrm>
              <a:off x="1924278" y="2160000"/>
              <a:ext cx="4929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30" name="Google Shape;330;p21"/>
            <p:cNvCxnSpPr/>
            <p:nvPr/>
          </p:nvCxnSpPr>
          <p:spPr>
            <a:xfrm flipH="1">
              <a:off x="397280" y="2355125"/>
              <a:ext cx="0" cy="13575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31" name="Google Shape;331;p21"/>
            <p:cNvGrpSpPr/>
            <p:nvPr/>
          </p:nvGrpSpPr>
          <p:grpSpPr>
            <a:xfrm>
              <a:off x="856988" y="2519701"/>
              <a:ext cx="233764" cy="1000200"/>
              <a:chOff x="941713" y="3753076"/>
              <a:chExt cx="463909" cy="1000200"/>
            </a:xfrm>
          </p:grpSpPr>
          <p:cxnSp>
            <p:nvCxnSpPr>
              <p:cNvPr id="332" name="Google Shape;332;p21"/>
              <p:cNvCxnSpPr/>
              <p:nvPr/>
            </p:nvCxnSpPr>
            <p:spPr>
              <a:xfrm flipH="1">
                <a:off x="1405622" y="3753076"/>
                <a:ext cx="0" cy="1000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33" name="Google Shape;333;p21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334" name="Google Shape;334;p21"/>
            <p:cNvGrpSpPr/>
            <p:nvPr/>
          </p:nvGrpSpPr>
          <p:grpSpPr>
            <a:xfrm>
              <a:off x="2008903" y="2533775"/>
              <a:ext cx="94704" cy="1000200"/>
              <a:chOff x="941713" y="3767150"/>
              <a:chExt cx="187942" cy="1000200"/>
            </a:xfrm>
          </p:grpSpPr>
          <p:cxnSp>
            <p:nvCxnSpPr>
              <p:cNvPr id="335" name="Google Shape;335;p21"/>
              <p:cNvCxnSpPr/>
              <p:nvPr/>
            </p:nvCxnSpPr>
            <p:spPr>
              <a:xfrm flipH="1">
                <a:off x="1129655" y="3767150"/>
                <a:ext cx="0" cy="1000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36" name="Google Shape;336;p21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337" name="Google Shape;337;p21"/>
            <p:cNvGrpSpPr/>
            <p:nvPr/>
          </p:nvGrpSpPr>
          <p:grpSpPr>
            <a:xfrm>
              <a:off x="1432946" y="2533775"/>
              <a:ext cx="31897" cy="1000200"/>
              <a:chOff x="941713" y="3767150"/>
              <a:chExt cx="63300" cy="1000200"/>
            </a:xfrm>
          </p:grpSpPr>
          <p:cxnSp>
            <p:nvCxnSpPr>
              <p:cNvPr id="338" name="Google Shape;338;p21"/>
              <p:cNvCxnSpPr/>
              <p:nvPr/>
            </p:nvCxnSpPr>
            <p:spPr>
              <a:xfrm flipH="1">
                <a:off x="975300" y="3767150"/>
                <a:ext cx="0" cy="1000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39" name="Google Shape;339;p21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cxnSp>
          <p:nvCxnSpPr>
            <p:cNvPr id="340" name="Google Shape;340;p21"/>
            <p:cNvCxnSpPr/>
            <p:nvPr/>
          </p:nvCxnSpPr>
          <p:spPr>
            <a:xfrm>
              <a:off x="344550" y="2769525"/>
              <a:ext cx="22128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41" name="Google Shape;341;p21"/>
            <p:cNvCxnSpPr/>
            <p:nvPr/>
          </p:nvCxnSpPr>
          <p:spPr>
            <a:xfrm>
              <a:off x="367935" y="3317336"/>
              <a:ext cx="2166000" cy="13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342" name="Google Shape;342;p21"/>
          <p:cNvSpPr/>
          <p:nvPr/>
        </p:nvSpPr>
        <p:spPr>
          <a:xfrm>
            <a:off x="4390000" y="8133838"/>
            <a:ext cx="186600" cy="1075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3E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43" name="Google Shape;343;p21"/>
          <p:cNvCxnSpPr/>
          <p:nvPr/>
        </p:nvCxnSpPr>
        <p:spPr>
          <a:xfrm flipH="1">
            <a:off x="2308068" y="8138820"/>
            <a:ext cx="0" cy="737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4" name="Google Shape;344;p21"/>
          <p:cNvSpPr/>
          <p:nvPr/>
        </p:nvSpPr>
        <p:spPr>
          <a:xfrm>
            <a:off x="1275825" y="8334800"/>
            <a:ext cx="1314900" cy="362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3E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45" name="Google Shape;345;p21"/>
          <p:cNvCxnSpPr/>
          <p:nvPr/>
        </p:nvCxnSpPr>
        <p:spPr>
          <a:xfrm>
            <a:off x="1391525" y="8135375"/>
            <a:ext cx="9627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6" name="Google Shape;346;p21"/>
          <p:cNvCxnSpPr/>
          <p:nvPr/>
        </p:nvCxnSpPr>
        <p:spPr>
          <a:xfrm>
            <a:off x="1381125" y="8876225"/>
            <a:ext cx="12255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7" name="Google Shape;347;p21"/>
          <p:cNvSpPr txBox="1"/>
          <p:nvPr/>
        </p:nvSpPr>
        <p:spPr>
          <a:xfrm>
            <a:off x="2347471" y="7822950"/>
            <a:ext cx="59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100</a:t>
            </a:r>
            <a:endParaRPr sz="1200"/>
          </a:p>
        </p:txBody>
      </p:sp>
      <p:sp>
        <p:nvSpPr>
          <p:cNvPr id="348" name="Google Shape;348;p21"/>
          <p:cNvSpPr txBox="1"/>
          <p:nvPr/>
        </p:nvSpPr>
        <p:spPr>
          <a:xfrm>
            <a:off x="5545575" y="7809600"/>
            <a:ext cx="874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100%</a:t>
            </a:r>
            <a:endParaRPr sz="1200"/>
          </a:p>
        </p:txBody>
      </p:sp>
      <p:sp>
        <p:nvSpPr>
          <p:cNvPr id="349" name="Google Shape;349;p21"/>
          <p:cNvSpPr txBox="1"/>
          <p:nvPr/>
        </p:nvSpPr>
        <p:spPr>
          <a:xfrm>
            <a:off x="5657598" y="8779900"/>
            <a:ext cx="59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240</a:t>
            </a:r>
            <a:endParaRPr sz="1200"/>
          </a:p>
        </p:txBody>
      </p:sp>
      <p:sp>
        <p:nvSpPr>
          <p:cNvPr id="350" name="Google Shape;350;p21"/>
          <p:cNvSpPr txBox="1"/>
          <p:nvPr/>
        </p:nvSpPr>
        <p:spPr>
          <a:xfrm>
            <a:off x="5066759" y="7609011"/>
            <a:ext cx="3441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51" name="Google Shape;351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3759" y="5653858"/>
            <a:ext cx="3230966" cy="1892248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1"/>
          <p:cNvSpPr txBox="1"/>
          <p:nvPr/>
        </p:nvSpPr>
        <p:spPr>
          <a:xfrm>
            <a:off x="1616308" y="7822950"/>
            <a:ext cx="59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3" name="Google Shape;353;p21"/>
          <p:cNvSpPr txBox="1"/>
          <p:nvPr/>
        </p:nvSpPr>
        <p:spPr>
          <a:xfrm>
            <a:off x="2308071" y="8823850"/>
            <a:ext cx="59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450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4" name="Google Shape;354;p21"/>
          <p:cNvSpPr txBox="1"/>
          <p:nvPr/>
        </p:nvSpPr>
        <p:spPr>
          <a:xfrm>
            <a:off x="3578957" y="6992236"/>
            <a:ext cx="263100" cy="3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5" name="Google Shape;355;p21"/>
          <p:cNvSpPr txBox="1"/>
          <p:nvPr/>
        </p:nvSpPr>
        <p:spPr>
          <a:xfrm>
            <a:off x="479900" y="5576109"/>
            <a:ext cx="434700" cy="3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21"/>
          <p:cNvSpPr/>
          <p:nvPr/>
        </p:nvSpPr>
        <p:spPr>
          <a:xfrm>
            <a:off x="2380325" y="8876225"/>
            <a:ext cx="414900" cy="284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21"/>
          <p:cNvSpPr/>
          <p:nvPr/>
        </p:nvSpPr>
        <p:spPr>
          <a:xfrm>
            <a:off x="1632063" y="7871375"/>
            <a:ext cx="344100" cy="284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21"/>
          <p:cNvSpPr/>
          <p:nvPr/>
        </p:nvSpPr>
        <p:spPr>
          <a:xfrm>
            <a:off x="4819402" y="8868400"/>
            <a:ext cx="414900" cy="284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21"/>
          <p:cNvSpPr txBox="1"/>
          <p:nvPr/>
        </p:nvSpPr>
        <p:spPr>
          <a:xfrm>
            <a:off x="3817419" y="5595589"/>
            <a:ext cx="434700" cy="3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21"/>
          <p:cNvSpPr txBox="1"/>
          <p:nvPr/>
        </p:nvSpPr>
        <p:spPr>
          <a:xfrm>
            <a:off x="6779357" y="6992236"/>
            <a:ext cx="263100" cy="3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364" name="Shape 364"/>
        <p:cNvGrpSpPr/>
        <p:nvPr/>
      </p:nvGrpSpPr>
      <p:grpSpPr>
        <a:xfrm>
          <a:off x="0" y="0"/>
          <a:ext cx="0" cy="0"/>
        </a:xfrm>
      </p:grpSpPr>
      <p:sp>
        <p:nvSpPr>
          <p:cNvPr id="365" name="Google Shape;365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366" name="Google Shape;366;p22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Multiplicative relationships presented graphically</a:t>
            </a:r>
            <a:endParaRPr/>
          </a:p>
        </p:txBody>
      </p:sp>
      <p:sp>
        <p:nvSpPr>
          <p:cNvPr id="367" name="Google Shape;367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8" name="Google Shape;368;p22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369" name="Google Shape;369;p22"/>
          <p:cNvSpPr txBox="1"/>
          <p:nvPr/>
        </p:nvSpPr>
        <p:spPr>
          <a:xfrm>
            <a:off x="468000" y="72545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 Other representations of proportional relationships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0" name="Google Shape;370;p22"/>
          <p:cNvSpPr txBox="1"/>
          <p:nvPr/>
        </p:nvSpPr>
        <p:spPr>
          <a:xfrm>
            <a:off x="453150" y="1267200"/>
            <a:ext cx="662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Write what you think are the advantages and disadvantages of using a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graph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double number line and ratio table when trying to find a percentage of an amount.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71" name="Google Shape;371;p22"/>
          <p:cNvGraphicFramePr>
            <a:graphicFrameLocks noGrp="1"/>
          </p:cNvGraphicFramePr>
          <p:nvPr/>
        </p:nvGraphicFramePr>
        <p:xfrm>
          <a:off x="453150" y="187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{A0A152D1-D5BC-49CA-92CC-087C054E0926}</a:tableStyleId>
              </a:tblPr>
              <a:tblGrid>
                <a:gridCol w="1539925"/>
                <a:gridCol w="1664275"/>
                <a:gridCol w="2004225"/>
                <a:gridCol w="1415550"/>
              </a:tblGrid>
              <a:tr h="4696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Graph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Double number line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Ratio table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</a:tr>
              <a:tr h="6374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Advantages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1319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Disadvantages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72" name="Google Shape;372;p22"/>
          <p:cNvSpPr txBox="1"/>
          <p:nvPr/>
        </p:nvSpPr>
        <p:spPr>
          <a:xfrm>
            <a:off x="476400" y="44169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Match the ratio table with the correct graph and work out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missing amount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using the ratio table.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73" name="Google Shape;37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077" y="5956906"/>
            <a:ext cx="2179735" cy="19403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5053" y="5953905"/>
            <a:ext cx="2225619" cy="1946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96315" y="5956906"/>
            <a:ext cx="2225627" cy="194036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76" name="Google Shape;376;p22"/>
          <p:cNvGraphicFramePr>
            <a:graphicFrameLocks noGrp="1"/>
          </p:cNvGraphicFramePr>
          <p:nvPr/>
        </p:nvGraphicFramePr>
        <p:xfrm>
          <a:off x="636725" y="4846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{A0A152D1-D5BC-49CA-92CC-087C054E0926}</a:tableStyleId>
              </a:tblPr>
              <a:tblGrid>
                <a:gridCol w="1067200"/>
                <a:gridCol w="872775"/>
              </a:tblGrid>
              <a:tr h="272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</a:tr>
              <a:tr h="272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272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7" name="Google Shape;377;p22"/>
          <p:cNvGraphicFramePr>
            <a:graphicFrameLocks noGrp="1"/>
          </p:cNvGraphicFramePr>
          <p:nvPr/>
        </p:nvGraphicFramePr>
        <p:xfrm>
          <a:off x="2795138" y="4846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{A0A152D1-D5BC-49CA-92CC-087C054E0926}</a:tableStyleId>
              </a:tblPr>
              <a:tblGrid>
                <a:gridCol w="970000"/>
                <a:gridCol w="970000"/>
              </a:tblGrid>
              <a:tr h="272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</a:tr>
              <a:tr h="272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2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378" name="Google Shape;378;p22"/>
          <p:cNvGraphicFramePr>
            <a:graphicFrameLocks noGrp="1"/>
          </p:cNvGraphicFramePr>
          <p:nvPr/>
        </p:nvGraphicFramePr>
        <p:xfrm>
          <a:off x="4953600" y="4846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{A0A152D1-D5BC-49CA-92CC-087C054E0926}</a:tableStyleId>
              </a:tblPr>
              <a:tblGrid>
                <a:gridCol w="970000"/>
                <a:gridCol w="970000"/>
              </a:tblGrid>
              <a:tr h="272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</a:tr>
              <a:tr h="272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2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79" name="Google Shape;379;p22"/>
          <p:cNvSpPr txBox="1"/>
          <p:nvPr/>
        </p:nvSpPr>
        <p:spPr>
          <a:xfrm>
            <a:off x="403547" y="5817597"/>
            <a:ext cx="4359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0" name="Google Shape;380;p22"/>
          <p:cNvSpPr txBox="1"/>
          <p:nvPr/>
        </p:nvSpPr>
        <p:spPr>
          <a:xfrm>
            <a:off x="2499319" y="7470422"/>
            <a:ext cx="2823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1" name="Google Shape;381;p22"/>
          <p:cNvSpPr txBox="1"/>
          <p:nvPr/>
        </p:nvSpPr>
        <p:spPr>
          <a:xfrm>
            <a:off x="2665037" y="5817597"/>
            <a:ext cx="4359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22"/>
          <p:cNvSpPr txBox="1"/>
          <p:nvPr/>
        </p:nvSpPr>
        <p:spPr>
          <a:xfrm>
            <a:off x="4760809" y="7470422"/>
            <a:ext cx="2823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22"/>
          <p:cNvSpPr txBox="1"/>
          <p:nvPr/>
        </p:nvSpPr>
        <p:spPr>
          <a:xfrm>
            <a:off x="4885842" y="5817597"/>
            <a:ext cx="4359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4" name="Google Shape;384;p22"/>
          <p:cNvSpPr txBox="1"/>
          <p:nvPr/>
        </p:nvSpPr>
        <p:spPr>
          <a:xfrm>
            <a:off x="6818080" y="7424558"/>
            <a:ext cx="2823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81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simple-light-2</vt:lpstr>
      <vt:lpstr>Multiplicative relationships presented graphically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2024-03-04T09:34:11.031</cp:lastPrinted>
  <dcterms:created xsi:type="dcterms:W3CDTF">2024-03-04T09:34:11Z</dcterms:created>
  <dcterms:modified xsi:type="dcterms:W3CDTF">2024-03-04T09:31:53Z</dcterms:modified>
</cp:coreProperties>
</file>