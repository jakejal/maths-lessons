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1C29A-37BE-461B-862E-475533172313}">
  <a:tblStyle styleId="{0F31C29A-37BE-461B-862E-4755331723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0fce3a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0fce3a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b0fce3ac0f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0fce3ac0f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b0fce3ac0f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b0fce3ac0f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b0fce3ac0f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b0fce3ac0f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b0fce3ac0f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b0fce3ac0f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b494c1c3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b494c1c3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b0fce3ac0f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b0fce3ac0f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b69aacfe9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b69aacfe9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b0fce3ac0f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b0fce3ac0f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b69aacfe98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b69aacfe98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b69aacfe98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b69aacfe98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b0fce3ac0f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b0fce3ac0f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b69aacfe98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b69aacfe98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b0fce3ac0f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b0fce3ac0f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b6ef90741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b6ef90741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b6ef90741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b6ef90741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b6ef90741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b6ef90741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b0fce3ac0f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b0fce3ac0f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b0fce3ac0f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b0fce3ac0f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b6ef90741e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b6ef90741e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b6ef90741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b6ef90741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b6ef90741e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b6ef90741e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2b0fce3ac0f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b0fce3ac0f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b6ef90741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b6ef90741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b6ef90741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b6ef90741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b6ef90741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b6ef90741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b6ef90741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b6ef90741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b6ef90741e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b6ef90741e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b6ef9074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b6ef9074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b6ef90741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b6ef90741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b6ef9074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b6ef9074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b6ef90741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b6ef90741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2b6ef90741e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2b6ef90741e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82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2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2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73.png"/><Relationship Id="rId6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the connection between multiplicative relationships and direct proportion.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Two variables are in direct proportion if they have a constant multiplicative relationship.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783" name="Google Shape;78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784" name="Google Shape;78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pic>
        <p:nvPicPr>
          <p:cNvPr id="785" name="Google Shape;78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familiar with </a:t>
            </a:r>
            <a:r>
              <a:rPr lang="en-GB">
                <a:solidFill>
                  <a:schemeClr val="accent4"/>
                </a:solidFill>
              </a:rPr>
              <a:t>multiplicative relationships</a:t>
            </a:r>
            <a:r>
              <a:rPr lang="en-GB"/>
              <a:t> in a variety of situations.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	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units of measurement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recipes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units of currency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buying different amounts of an item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two variables have a </a:t>
            </a:r>
            <a:r>
              <a:rPr lang="en-GB">
                <a:solidFill>
                  <a:schemeClr val="accent4"/>
                </a:solidFill>
              </a:rPr>
              <a:t>constant</a:t>
            </a:r>
            <a:r>
              <a:rPr lang="en-GB"/>
              <a:t> multiplicative relationship, they are in </a:t>
            </a:r>
            <a:r>
              <a:rPr b="1" lang="en-GB"/>
              <a:t>direct proportion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know that any variables which have a multiplicative relationship can be represented in a variety of ways.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Can you remember the different ways of representing multiplicative relationships?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double number lines</a:t>
            </a:r>
            <a:endParaRPr/>
          </a:p>
        </p:txBody>
      </p:sp>
      <p:grpSp>
        <p:nvGrpSpPr>
          <p:cNvPr id="798" name="Google Shape;798;p70"/>
          <p:cNvGrpSpPr/>
          <p:nvPr/>
        </p:nvGrpSpPr>
        <p:grpSpPr>
          <a:xfrm>
            <a:off x="4221575" y="2125821"/>
            <a:ext cx="3846372" cy="2065675"/>
            <a:chOff x="4221575" y="2125821"/>
            <a:chExt cx="3846372" cy="2065675"/>
          </a:xfrm>
        </p:grpSpPr>
        <p:grpSp>
          <p:nvGrpSpPr>
            <p:cNvPr id="799" name="Google Shape;799;p70"/>
            <p:cNvGrpSpPr/>
            <p:nvPr/>
          </p:nvGrpSpPr>
          <p:grpSpPr>
            <a:xfrm>
              <a:off x="4221575" y="2853113"/>
              <a:ext cx="3846372" cy="613454"/>
              <a:chOff x="2164175" y="2531838"/>
              <a:chExt cx="3846372" cy="1357500"/>
            </a:xfrm>
          </p:grpSpPr>
          <p:grpSp>
            <p:nvGrpSpPr>
              <p:cNvPr id="800" name="Google Shape;800;p70"/>
              <p:cNvGrpSpPr/>
              <p:nvPr/>
            </p:nvGrpSpPr>
            <p:grpSpPr>
              <a:xfrm>
                <a:off x="4492788" y="2726975"/>
                <a:ext cx="63300" cy="1000200"/>
                <a:chOff x="941713" y="3767150"/>
                <a:chExt cx="63300" cy="1000200"/>
              </a:xfrm>
            </p:grpSpPr>
            <p:cxnSp>
              <p:nvCxnSpPr>
                <p:cNvPr id="801" name="Google Shape;801;p70"/>
                <p:cNvCxnSpPr/>
                <p:nvPr/>
              </p:nvCxnSpPr>
              <p:spPr>
                <a:xfrm>
                  <a:off x="9753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02" name="Google Shape;802;p70"/>
                <p:cNvSpPr/>
                <p:nvPr/>
              </p:nvSpPr>
              <p:spPr>
                <a:xfrm>
                  <a:off x="9417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03" name="Google Shape;803;p70"/>
              <p:cNvGrpSpPr/>
              <p:nvPr/>
            </p:nvGrpSpPr>
            <p:grpSpPr>
              <a:xfrm>
                <a:off x="3654588" y="2726975"/>
                <a:ext cx="63300" cy="1000200"/>
                <a:chOff x="1475113" y="3767150"/>
                <a:chExt cx="63300" cy="1000200"/>
              </a:xfrm>
            </p:grpSpPr>
            <p:cxnSp>
              <p:nvCxnSpPr>
                <p:cNvPr id="804" name="Google Shape;804;p70"/>
                <p:cNvCxnSpPr/>
                <p:nvPr/>
              </p:nvCxnSpPr>
              <p:spPr>
                <a:xfrm>
                  <a:off x="1508700" y="3767150"/>
                  <a:ext cx="0" cy="10002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805" name="Google Shape;805;p70"/>
                <p:cNvSpPr/>
                <p:nvPr/>
              </p:nvSpPr>
              <p:spPr>
                <a:xfrm>
                  <a:off x="1475113" y="3976875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06" name="Google Shape;806;p70"/>
              <p:cNvGrpSpPr/>
              <p:nvPr/>
            </p:nvGrpSpPr>
            <p:grpSpPr>
              <a:xfrm>
                <a:off x="2164175" y="2531838"/>
                <a:ext cx="3846372" cy="1357500"/>
                <a:chOff x="2164175" y="2531838"/>
                <a:chExt cx="3846372" cy="1357500"/>
              </a:xfrm>
            </p:grpSpPr>
            <p:grpSp>
              <p:nvGrpSpPr>
                <p:cNvPr id="807" name="Google Shape;807;p70"/>
                <p:cNvGrpSpPr/>
                <p:nvPr/>
              </p:nvGrpSpPr>
              <p:grpSpPr>
                <a:xfrm>
                  <a:off x="2164175" y="2531838"/>
                  <a:ext cx="3074500" cy="1357500"/>
                  <a:chOff x="441900" y="3572013"/>
                  <a:chExt cx="3074500" cy="1357500"/>
                </a:xfrm>
              </p:grpSpPr>
              <p:cxnSp>
                <p:nvCxnSpPr>
                  <p:cNvPr id="808" name="Google Shape;808;p70"/>
                  <p:cNvCxnSpPr/>
                  <p:nvPr/>
                </p:nvCxnSpPr>
                <p:spPr>
                  <a:xfrm>
                    <a:off x="441900" y="3572013"/>
                    <a:ext cx="0" cy="135750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09" name="Google Shape;809;p70"/>
                  <p:cNvCxnSpPr/>
                  <p:nvPr/>
                </p:nvCxnSpPr>
                <p:spPr>
                  <a:xfrm>
                    <a:off x="455200" y="3950800"/>
                    <a:ext cx="3061200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810" name="Google Shape;810;p70"/>
                  <p:cNvCxnSpPr/>
                  <p:nvPr/>
                </p:nvCxnSpPr>
                <p:spPr>
                  <a:xfrm>
                    <a:off x="455200" y="4555638"/>
                    <a:ext cx="3061200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sp>
              <p:nvSpPr>
                <p:cNvPr id="811" name="Google Shape;811;p70"/>
                <p:cNvSpPr txBox="1"/>
                <p:nvPr/>
              </p:nvSpPr>
              <p:spPr>
                <a:xfrm>
                  <a:off x="5291447" y="2623863"/>
                  <a:ext cx="683700" cy="61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%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812" name="Google Shape;812;p70"/>
                <p:cNvSpPr txBox="1"/>
                <p:nvPr/>
              </p:nvSpPr>
              <p:spPr>
                <a:xfrm>
                  <a:off x="5291447" y="3231188"/>
                  <a:ext cx="719100" cy="61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Score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813" name="Google Shape;813;p70"/>
            <p:cNvSpPr txBox="1"/>
            <p:nvPr/>
          </p:nvSpPr>
          <p:spPr>
            <a:xfrm>
              <a:off x="6375080" y="2692800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70"/>
            <p:cNvSpPr txBox="1"/>
            <p:nvPr/>
          </p:nvSpPr>
          <p:spPr>
            <a:xfrm>
              <a:off x="5515603" y="2693925"/>
              <a:ext cx="47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70"/>
            <p:cNvSpPr txBox="1"/>
            <p:nvPr/>
          </p:nvSpPr>
          <p:spPr>
            <a:xfrm>
              <a:off x="6367974" y="3379725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70"/>
            <p:cNvSpPr/>
            <p:nvPr/>
          </p:nvSpPr>
          <p:spPr>
            <a:xfrm flipH="1" rot="10800000">
              <a:off x="5710923" y="3582350"/>
              <a:ext cx="896700" cy="2340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70"/>
            <p:cNvSpPr txBox="1"/>
            <p:nvPr/>
          </p:nvSpPr>
          <p:spPr>
            <a:xfrm flipH="1">
              <a:off x="5936863" y="3864778"/>
              <a:ext cx="549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70"/>
            <p:cNvSpPr txBox="1"/>
            <p:nvPr/>
          </p:nvSpPr>
          <p:spPr>
            <a:xfrm>
              <a:off x="5600477" y="3379725"/>
              <a:ext cx="311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20}{80}&quot;&gt;&lt;mfrac&gt;&lt;mn&gt;120&lt;/mn&gt;&lt;mn&gt;80&lt;/mn&gt;&lt;/mfrac&gt;&lt;/math&gt;" id="819" name="Google Shape;819;p70" title="120 over 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83635" y="3864773"/>
              <a:ext cx="256200" cy="3267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20" name="Google Shape;820;p70"/>
            <p:cNvGrpSpPr/>
            <p:nvPr/>
          </p:nvGrpSpPr>
          <p:grpSpPr>
            <a:xfrm>
              <a:off x="5710900" y="2125821"/>
              <a:ext cx="896700" cy="669429"/>
              <a:chOff x="1900900" y="2659221"/>
              <a:chExt cx="896700" cy="669429"/>
            </a:xfrm>
          </p:grpSpPr>
          <p:sp>
            <p:nvSpPr>
              <p:cNvPr id="821" name="Google Shape;821;p70"/>
              <p:cNvSpPr/>
              <p:nvPr/>
            </p:nvSpPr>
            <p:spPr>
              <a:xfrm>
                <a:off x="1900900" y="3030750"/>
                <a:ext cx="896700" cy="297900"/>
              </a:xfrm>
              <a:prstGeom prst="arc">
                <a:avLst>
                  <a:gd fmla="val 10729459" name="adj1"/>
                  <a:gd fmla="val 472" name="adj2"/>
                </a:avLst>
              </a:prstGeom>
              <a:noFill/>
              <a:ln cap="flat" cmpd="sng" w="38100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triangl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70"/>
              <p:cNvSpPr txBox="1"/>
              <p:nvPr/>
            </p:nvSpPr>
            <p:spPr>
              <a:xfrm>
                <a:off x="2141199" y="2664092"/>
                <a:ext cx="4236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120}{80}&quot;&gt;&lt;mfrac&gt;&lt;mn&gt;120&lt;/mn&gt;&lt;mn&gt;80&lt;/mn&gt;&lt;/mfrac&gt;&lt;/math&gt;" id="823" name="Google Shape;823;p70" title="120 over 8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308610" y="2659221"/>
                <a:ext cx="256200" cy="326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830" name="Google Shape;830;p71"/>
          <p:cNvGraphicFramePr/>
          <p:nvPr/>
        </p:nvGraphicFramePr>
        <p:xfrm>
          <a:off x="3752850" y="766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1" name="Google Shape;831;p71"/>
          <p:cNvGraphicFramePr/>
          <p:nvPr/>
        </p:nvGraphicFramePr>
        <p:xfrm>
          <a:off x="3752850" y="766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2" name="Google Shape;832;p71"/>
          <p:cNvGraphicFramePr/>
          <p:nvPr/>
        </p:nvGraphicFramePr>
        <p:xfrm>
          <a:off x="3752850" y="766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3" name="Google Shape;833;p71"/>
          <p:cNvSpPr/>
          <p:nvPr/>
        </p:nvSpPr>
        <p:spPr>
          <a:xfrm rot="5400000">
            <a:off x="7301850" y="135195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1"/>
          <p:cNvSpPr txBox="1"/>
          <p:nvPr/>
        </p:nvSpPr>
        <p:spPr>
          <a:xfrm>
            <a:off x="7823200" y="126615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0.8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5" name="Google Shape;835;p71"/>
          <p:cNvGrpSpPr/>
          <p:nvPr/>
        </p:nvGrpSpPr>
        <p:grpSpPr>
          <a:xfrm>
            <a:off x="2641600" y="1266150"/>
            <a:ext cx="1096300" cy="523200"/>
            <a:chOff x="1651000" y="3990300"/>
            <a:chExt cx="1096300" cy="523200"/>
          </a:xfrm>
        </p:grpSpPr>
        <p:sp>
          <p:nvSpPr>
            <p:cNvPr id="836" name="Google Shape;836;p71"/>
            <p:cNvSpPr/>
            <p:nvPr/>
          </p:nvSpPr>
          <p:spPr>
            <a:xfrm flipH="1" rot="-5400000">
              <a:off x="2367050" y="4091539"/>
              <a:ext cx="439800" cy="3207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71"/>
            <p:cNvSpPr txBox="1"/>
            <p:nvPr/>
          </p:nvSpPr>
          <p:spPr>
            <a:xfrm>
              <a:off x="1651000" y="3990300"/>
              <a:ext cx="930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0.8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324000" y="2283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graphs</a:t>
            </a:r>
            <a:endParaRPr/>
          </a:p>
        </p:txBody>
      </p:sp>
      <p:pic>
        <p:nvPicPr>
          <p:cNvPr id="839" name="Google Shape;83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59" y="2088957"/>
            <a:ext cx="2674948" cy="2623949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1"/>
          <p:cNvSpPr txBox="1"/>
          <p:nvPr/>
        </p:nvSpPr>
        <p:spPr>
          <a:xfrm rot="-5400000">
            <a:off x="1565850" y="2447502"/>
            <a:ext cx="969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4844743" y="4301262"/>
            <a:ext cx="969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boxes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4857350" y="2229600"/>
            <a:ext cx="410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Does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this graph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 a </a:t>
            </a:r>
            <a:r>
              <a:rPr lang="en-GB" sz="2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multiplicative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relationship?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does. As the number of boxes doubles so does the cost.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00" y="679438"/>
            <a:ext cx="3045600" cy="2974323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849" name="Google Shape;849;p72"/>
          <p:cNvSpPr txBox="1"/>
          <p:nvPr>
            <p:ph idx="1" type="body"/>
          </p:nvPr>
        </p:nvSpPr>
        <p:spPr>
          <a:xfrm>
            <a:off x="4708525" y="606900"/>
            <a:ext cx="40809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graph shows the relationship between two currencies used in a computer game.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Does it show a multiplicative relationship?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50" name="Google Shape;850;p72"/>
          <p:cNvGraphicFramePr/>
          <p:nvPr/>
        </p:nvGraphicFramePr>
        <p:xfrm>
          <a:off x="495338" y="4439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1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1" name="Google Shape;851;p72"/>
          <p:cNvGraphicFramePr/>
          <p:nvPr/>
        </p:nvGraphicFramePr>
        <p:xfrm>
          <a:off x="495338" y="4080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1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52" name="Google Shape;852;p72"/>
          <p:cNvGrpSpPr/>
          <p:nvPr/>
        </p:nvGrpSpPr>
        <p:grpSpPr>
          <a:xfrm>
            <a:off x="422472" y="3815569"/>
            <a:ext cx="7909223" cy="478250"/>
            <a:chOff x="422472" y="3815569"/>
            <a:chExt cx="7909223" cy="478250"/>
          </a:xfrm>
        </p:grpSpPr>
        <p:sp>
          <p:nvSpPr>
            <p:cNvPr id="853" name="Google Shape;853;p72"/>
            <p:cNvSpPr txBox="1"/>
            <p:nvPr/>
          </p:nvSpPr>
          <p:spPr>
            <a:xfrm>
              <a:off x="7802194" y="4016619"/>
              <a:ext cx="529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zag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72"/>
            <p:cNvSpPr txBox="1"/>
            <p:nvPr/>
          </p:nvSpPr>
          <p:spPr>
            <a:xfrm>
              <a:off x="42247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72"/>
            <p:cNvSpPr txBox="1"/>
            <p:nvPr/>
          </p:nvSpPr>
          <p:spPr>
            <a:xfrm>
              <a:off x="1242859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72"/>
            <p:cNvSpPr txBox="1"/>
            <p:nvPr/>
          </p:nvSpPr>
          <p:spPr>
            <a:xfrm>
              <a:off x="2037934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7" name="Google Shape;857;p72"/>
            <p:cNvSpPr txBox="1"/>
            <p:nvPr/>
          </p:nvSpPr>
          <p:spPr>
            <a:xfrm>
              <a:off x="2835428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8" name="Google Shape;858;p72"/>
            <p:cNvSpPr txBox="1"/>
            <p:nvPr/>
          </p:nvSpPr>
          <p:spPr>
            <a:xfrm>
              <a:off x="6861428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2"/>
            <p:cNvSpPr txBox="1"/>
            <p:nvPr/>
          </p:nvSpPr>
          <p:spPr>
            <a:xfrm>
              <a:off x="765892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2"/>
            <p:cNvSpPr txBox="1"/>
            <p:nvPr/>
          </p:nvSpPr>
          <p:spPr>
            <a:xfrm>
              <a:off x="362287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2"/>
            <p:cNvSpPr txBox="1"/>
            <p:nvPr/>
          </p:nvSpPr>
          <p:spPr>
            <a:xfrm>
              <a:off x="4443259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72"/>
            <p:cNvSpPr txBox="1"/>
            <p:nvPr/>
          </p:nvSpPr>
          <p:spPr>
            <a:xfrm>
              <a:off x="5245965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72"/>
            <p:cNvSpPr txBox="1"/>
            <p:nvPr/>
          </p:nvSpPr>
          <p:spPr>
            <a:xfrm>
              <a:off x="605872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4" name="Google Shape;864;p72"/>
          <p:cNvGrpSpPr/>
          <p:nvPr/>
        </p:nvGrpSpPr>
        <p:grpSpPr>
          <a:xfrm>
            <a:off x="430103" y="4374857"/>
            <a:ext cx="7814591" cy="478312"/>
            <a:chOff x="430103" y="4374857"/>
            <a:chExt cx="7814591" cy="478312"/>
          </a:xfrm>
        </p:grpSpPr>
        <p:sp>
          <p:nvSpPr>
            <p:cNvPr id="865" name="Google Shape;865;p72"/>
            <p:cNvSpPr txBox="1"/>
            <p:nvPr/>
          </p:nvSpPr>
          <p:spPr>
            <a:xfrm>
              <a:off x="7802194" y="4374857"/>
              <a:ext cx="442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zig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72"/>
            <p:cNvSpPr txBox="1"/>
            <p:nvPr/>
          </p:nvSpPr>
          <p:spPr>
            <a:xfrm>
              <a:off x="430103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7" name="Google Shape;867;p72"/>
            <p:cNvSpPr txBox="1"/>
            <p:nvPr/>
          </p:nvSpPr>
          <p:spPr>
            <a:xfrm>
              <a:off x="1639447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8" name="Google Shape;868;p72"/>
            <p:cNvSpPr txBox="1"/>
            <p:nvPr/>
          </p:nvSpPr>
          <p:spPr>
            <a:xfrm>
              <a:off x="2841159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9" name="Google Shape;869;p72"/>
            <p:cNvSpPr txBox="1"/>
            <p:nvPr/>
          </p:nvSpPr>
          <p:spPr>
            <a:xfrm>
              <a:off x="4058135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0" name="Google Shape;870;p72"/>
            <p:cNvSpPr txBox="1"/>
            <p:nvPr/>
          </p:nvSpPr>
          <p:spPr>
            <a:xfrm>
              <a:off x="5251372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1" name="Google Shape;871;p72"/>
            <p:cNvSpPr txBox="1"/>
            <p:nvPr/>
          </p:nvSpPr>
          <p:spPr>
            <a:xfrm>
              <a:off x="6468347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2" name="Google Shape;872;p72"/>
            <p:cNvSpPr txBox="1"/>
            <p:nvPr/>
          </p:nvSpPr>
          <p:spPr>
            <a:xfrm>
              <a:off x="7670060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73" name="Google Shape;873;p72"/>
          <p:cNvCxnSpPr/>
          <p:nvPr/>
        </p:nvCxnSpPr>
        <p:spPr>
          <a:xfrm rot="10800000">
            <a:off x="1359450" y="2633525"/>
            <a:ext cx="2400" cy="74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72"/>
          <p:cNvCxnSpPr/>
          <p:nvPr/>
        </p:nvCxnSpPr>
        <p:spPr>
          <a:xfrm flipH="1" rot="10800000">
            <a:off x="847650" y="2616050"/>
            <a:ext cx="522000" cy="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5" name="Google Shape;875;p72"/>
          <p:cNvSpPr txBox="1"/>
          <p:nvPr/>
        </p:nvSpPr>
        <p:spPr>
          <a:xfrm>
            <a:off x="4708525" y="2149650"/>
            <a:ext cx="193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zigs = 3 zags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 txBox="1"/>
          <p:nvPr/>
        </p:nvSpPr>
        <p:spPr>
          <a:xfrm>
            <a:off x="4708525" y="2519908"/>
            <a:ext cx="193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zigs = 6 zags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7" name="Google Shape;877;p72"/>
          <p:cNvCxnSpPr/>
          <p:nvPr/>
        </p:nvCxnSpPr>
        <p:spPr>
          <a:xfrm rot="10800000">
            <a:off x="1873275" y="1853895"/>
            <a:ext cx="0" cy="153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2"/>
          <p:cNvCxnSpPr/>
          <p:nvPr/>
        </p:nvCxnSpPr>
        <p:spPr>
          <a:xfrm>
            <a:off x="847650" y="1848244"/>
            <a:ext cx="102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9" name="Google Shape;879;p72"/>
          <p:cNvSpPr txBox="1"/>
          <p:nvPr/>
        </p:nvSpPr>
        <p:spPr>
          <a:xfrm>
            <a:off x="4708525" y="2890175"/>
            <a:ext cx="411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yes it does which means zigs and zags are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directly proportional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each other.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4708525" y="3108025"/>
            <a:ext cx="4111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could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also represent this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a double number line.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 rot="-5400000">
            <a:off x="-154525" y="1534650"/>
            <a:ext cx="1271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zags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 txBox="1"/>
          <p:nvPr/>
        </p:nvSpPr>
        <p:spPr>
          <a:xfrm>
            <a:off x="3589525" y="3238350"/>
            <a:ext cx="127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zigs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3"/>
          <p:cNvSpPr/>
          <p:nvPr/>
        </p:nvSpPr>
        <p:spPr>
          <a:xfrm rot="5400000">
            <a:off x="3964122" y="3725216"/>
            <a:ext cx="1219200" cy="4029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324000" y="683100"/>
            <a:ext cx="823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quickest and easiest way to decide if two variables are in </a:t>
            </a:r>
            <a:r>
              <a:rPr b="1" lang="en-GB"/>
              <a:t>direct proportion</a:t>
            </a:r>
            <a:r>
              <a:rPr lang="en-GB"/>
              <a:t> is by checking as one variable doubles so does the other.</a:t>
            </a:r>
            <a:endParaRPr/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324000" y="1902300"/>
            <a:ext cx="82377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this table show a </a:t>
            </a:r>
            <a:r>
              <a:rPr b="1" lang="en-GB"/>
              <a:t>directly proportional</a:t>
            </a:r>
            <a:r>
              <a:rPr lang="en-GB"/>
              <a:t> relationship between A and B? </a:t>
            </a:r>
            <a:endParaRPr/>
          </a:p>
        </p:txBody>
      </p:sp>
      <p:graphicFrame>
        <p:nvGraphicFramePr>
          <p:cNvPr id="891" name="Google Shape;891;p73"/>
          <p:cNvGraphicFramePr/>
          <p:nvPr/>
        </p:nvGraphicFramePr>
        <p:xfrm>
          <a:off x="1159195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649225"/>
                <a:gridCol w="164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2" name="Google Shape;892;p73"/>
          <p:cNvSpPr/>
          <p:nvPr/>
        </p:nvSpPr>
        <p:spPr>
          <a:xfrm rot="5400000">
            <a:off x="4328285" y="336118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3"/>
          <p:cNvSpPr txBox="1"/>
          <p:nvPr/>
        </p:nvSpPr>
        <p:spPr>
          <a:xfrm>
            <a:off x="4753295" y="327538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3"/>
          <p:cNvSpPr/>
          <p:nvPr/>
        </p:nvSpPr>
        <p:spPr>
          <a:xfrm flipH="1" rot="-5400000">
            <a:off x="821145" y="337661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3"/>
          <p:cNvSpPr txBox="1"/>
          <p:nvPr/>
        </p:nvSpPr>
        <p:spPr>
          <a:xfrm>
            <a:off x="257495" y="3275375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/>
          <p:nvPr/>
        </p:nvSpPr>
        <p:spPr>
          <a:xfrm flipH="1" rot="-5400000">
            <a:off x="396795" y="3745799"/>
            <a:ext cx="1184100" cy="368700"/>
          </a:xfrm>
          <a:prstGeom prst="arc">
            <a:avLst>
              <a:gd fmla="val 10729459" name="adj1"/>
              <a:gd fmla="val 23187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3"/>
          <p:cNvSpPr txBox="1"/>
          <p:nvPr/>
        </p:nvSpPr>
        <p:spPr>
          <a:xfrm>
            <a:off x="257495" y="3656375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 txBox="1"/>
          <p:nvPr/>
        </p:nvSpPr>
        <p:spPr>
          <a:xfrm>
            <a:off x="4753295" y="3656375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 txBox="1"/>
          <p:nvPr/>
        </p:nvSpPr>
        <p:spPr>
          <a:xfrm>
            <a:off x="5497301" y="3089400"/>
            <a:ext cx="3419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Yes, A and B do have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directly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proportional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relationship.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05" name="Google Shape;905;p74"/>
          <p:cNvSpPr txBox="1"/>
          <p:nvPr>
            <p:ph idx="1" type="body"/>
          </p:nvPr>
        </p:nvSpPr>
        <p:spPr>
          <a:xfrm>
            <a:off x="324000" y="759300"/>
            <a:ext cx="82377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this table show a </a:t>
            </a:r>
            <a:r>
              <a:rPr b="1" lang="en-GB"/>
              <a:t>directly proportional</a:t>
            </a:r>
            <a:r>
              <a:rPr lang="en-GB"/>
              <a:t> relationship between A and B? </a:t>
            </a:r>
            <a:endParaRPr/>
          </a:p>
        </p:txBody>
      </p:sp>
      <p:graphicFrame>
        <p:nvGraphicFramePr>
          <p:cNvPr id="906" name="Google Shape;906;p74"/>
          <p:cNvGraphicFramePr/>
          <p:nvPr/>
        </p:nvGraphicFramePr>
        <p:xfrm>
          <a:off x="115919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649225"/>
                <a:gridCol w="164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7" name="Google Shape;907;p74"/>
          <p:cNvSpPr/>
          <p:nvPr/>
        </p:nvSpPr>
        <p:spPr>
          <a:xfrm rot="5400000">
            <a:off x="4328285" y="221818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74"/>
          <p:cNvSpPr txBox="1"/>
          <p:nvPr/>
        </p:nvSpPr>
        <p:spPr>
          <a:xfrm>
            <a:off x="4753295" y="213238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4"/>
          <p:cNvSpPr/>
          <p:nvPr/>
        </p:nvSpPr>
        <p:spPr>
          <a:xfrm flipH="1" rot="-5400000">
            <a:off x="821145" y="223361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4"/>
          <p:cNvSpPr txBox="1"/>
          <p:nvPr/>
        </p:nvSpPr>
        <p:spPr>
          <a:xfrm>
            <a:off x="257495" y="2132375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5497301" y="1946400"/>
            <a:ext cx="3419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No,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A and B do not have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directly proportional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relationship as the multiplier between the values of A is not the same as B.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912" name="Google Shape;912;p74" title="four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200" y="2059175"/>
            <a:ext cx="200875" cy="6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18" name="Google Shape;918;p7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and B are going up by the same amount each time.</a:t>
            </a:r>
            <a:endParaRPr/>
          </a:p>
        </p:txBody>
      </p:sp>
      <p:sp>
        <p:nvSpPr>
          <p:cNvPr id="919" name="Google Shape;919;p75"/>
          <p:cNvSpPr txBox="1"/>
          <p:nvPr>
            <p:ph idx="2" type="subTitle"/>
          </p:nvPr>
        </p:nvSpPr>
        <p:spPr>
          <a:xfrm>
            <a:off x="324000" y="10038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</a:t>
            </a:r>
            <a:r>
              <a:rPr lang="en-GB"/>
              <a:t>table</a:t>
            </a:r>
            <a:r>
              <a:rPr lang="en-GB"/>
              <a:t> shows a </a:t>
            </a:r>
            <a:r>
              <a:rPr b="1" lang="en-GB"/>
              <a:t>directly proportional</a:t>
            </a:r>
            <a:r>
              <a:rPr lang="en-GB"/>
              <a:t> relationship between A and B.</a:t>
            </a:r>
            <a:endParaRPr/>
          </a:p>
        </p:txBody>
      </p:sp>
      <p:sp>
        <p:nvSpPr>
          <p:cNvPr id="920" name="Google Shape;920;p7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A doubles B does not double.</a:t>
            </a:r>
            <a:endParaRPr/>
          </a:p>
        </p:txBody>
      </p:sp>
      <p:graphicFrame>
        <p:nvGraphicFramePr>
          <p:cNvPr id="921" name="Google Shape;921;p75"/>
          <p:cNvGraphicFramePr/>
          <p:nvPr/>
        </p:nvGraphicFramePr>
        <p:xfrm>
          <a:off x="6741595" y="70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2" name="Google Shape;92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478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808" y="3981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29" name="Google Shape;929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	Which of the following show a </a:t>
            </a:r>
            <a:r>
              <a:rPr b="1" lang="en-GB"/>
              <a:t>directly proportional</a:t>
            </a:r>
            <a:r>
              <a:rPr lang="en-GB"/>
              <a:t> relationship between A and B?</a:t>
            </a:r>
            <a:endParaRPr/>
          </a:p>
        </p:txBody>
      </p:sp>
      <p:graphicFrame>
        <p:nvGraphicFramePr>
          <p:cNvPr id="930" name="Google Shape;930;p76"/>
          <p:cNvGraphicFramePr/>
          <p:nvPr/>
        </p:nvGraphicFramePr>
        <p:xfrm>
          <a:off x="83517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1" name="Google Shape;931;p76"/>
          <p:cNvGraphicFramePr/>
          <p:nvPr/>
        </p:nvGraphicFramePr>
        <p:xfrm>
          <a:off x="3675593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2" name="Google Shape;932;p76"/>
          <p:cNvGraphicFramePr/>
          <p:nvPr/>
        </p:nvGraphicFramePr>
        <p:xfrm>
          <a:off x="6516015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3" name="Google Shape;933;p76"/>
          <p:cNvSpPr txBox="1"/>
          <p:nvPr/>
        </p:nvSpPr>
        <p:spPr>
          <a:xfrm>
            <a:off x="4216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 txBox="1"/>
          <p:nvPr/>
        </p:nvSpPr>
        <p:spPr>
          <a:xfrm>
            <a:off x="32410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 txBox="1"/>
          <p:nvPr/>
        </p:nvSpPr>
        <p:spPr>
          <a:xfrm>
            <a:off x="60604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 txBox="1"/>
          <p:nvPr/>
        </p:nvSpPr>
        <p:spPr>
          <a:xfrm>
            <a:off x="4216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6"/>
          <p:cNvSpPr txBox="1"/>
          <p:nvPr/>
        </p:nvSpPr>
        <p:spPr>
          <a:xfrm>
            <a:off x="32410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6"/>
          <p:cNvSpPr txBox="1"/>
          <p:nvPr/>
        </p:nvSpPr>
        <p:spPr>
          <a:xfrm>
            <a:off x="60604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9" name="Google Shape;939;p76"/>
          <p:cNvGraphicFramePr/>
          <p:nvPr/>
        </p:nvGraphicFramePr>
        <p:xfrm>
          <a:off x="835170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0" name="Google Shape;940;p76"/>
          <p:cNvGraphicFramePr/>
          <p:nvPr/>
        </p:nvGraphicFramePr>
        <p:xfrm>
          <a:off x="3675593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1" name="Google Shape;941;p76"/>
          <p:cNvGraphicFramePr/>
          <p:nvPr/>
        </p:nvGraphicFramePr>
        <p:xfrm>
          <a:off x="6516015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47" name="Google Shape;947;p77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	</a:t>
            </a:r>
            <a:r>
              <a:rPr lang="en-GB" sz="1800"/>
              <a:t>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Jun is painting his neighbour’s fence.  He paints one fence every 40 minutes.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Andeep is making necklaces for the school fete.  He makes 2 necklaces every 7 minutes.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 miles is equivalent to 8 km.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 box of tiles covering 0.75 m</a:t>
            </a:r>
            <a:r>
              <a:rPr baseline="30000" lang="en-GB" sz="1800"/>
              <a:t>2</a:t>
            </a:r>
            <a:r>
              <a:rPr lang="en-GB" sz="1800"/>
              <a:t>, costs £15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Sofia’s dog eats 3 tins of food every 4 days.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For each situation draw the following: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i)  A double number line and mark on at least 3 equivalents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ii) A ratio table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53" name="Google Shape;953;p78"/>
          <p:cNvSpPr txBox="1"/>
          <p:nvPr>
            <p:ph idx="1" type="body"/>
          </p:nvPr>
        </p:nvSpPr>
        <p:spPr>
          <a:xfrm>
            <a:off x="324000" y="606900"/>
            <a:ext cx="8237700" cy="7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Which of the following show a </a:t>
            </a:r>
            <a:r>
              <a:rPr b="1" lang="en-GB"/>
              <a:t>directly proportional</a:t>
            </a:r>
            <a:r>
              <a:rPr lang="en-GB"/>
              <a:t> relationship between A and B?</a:t>
            </a:r>
            <a:endParaRPr/>
          </a:p>
        </p:txBody>
      </p:sp>
      <p:graphicFrame>
        <p:nvGraphicFramePr>
          <p:cNvPr id="954" name="Google Shape;954;p78"/>
          <p:cNvGraphicFramePr/>
          <p:nvPr/>
        </p:nvGraphicFramePr>
        <p:xfrm>
          <a:off x="83517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5" name="Google Shape;955;p78"/>
          <p:cNvGraphicFramePr/>
          <p:nvPr/>
        </p:nvGraphicFramePr>
        <p:xfrm>
          <a:off x="3675593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6" name="Google Shape;956;p78"/>
          <p:cNvGraphicFramePr/>
          <p:nvPr/>
        </p:nvGraphicFramePr>
        <p:xfrm>
          <a:off x="6516015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7" name="Google Shape;957;p78"/>
          <p:cNvSpPr txBox="1"/>
          <p:nvPr/>
        </p:nvSpPr>
        <p:spPr>
          <a:xfrm>
            <a:off x="4216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8"/>
          <p:cNvSpPr txBox="1"/>
          <p:nvPr/>
        </p:nvSpPr>
        <p:spPr>
          <a:xfrm>
            <a:off x="32410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6060400" y="13276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8"/>
          <p:cNvSpPr txBox="1"/>
          <p:nvPr/>
        </p:nvSpPr>
        <p:spPr>
          <a:xfrm>
            <a:off x="4216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8"/>
          <p:cNvSpPr txBox="1"/>
          <p:nvPr/>
        </p:nvSpPr>
        <p:spPr>
          <a:xfrm>
            <a:off x="32410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8"/>
          <p:cNvSpPr txBox="1"/>
          <p:nvPr/>
        </p:nvSpPr>
        <p:spPr>
          <a:xfrm>
            <a:off x="6060400" y="3156475"/>
            <a:ext cx="46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3" name="Google Shape;963;p78"/>
          <p:cNvGraphicFramePr/>
          <p:nvPr/>
        </p:nvGraphicFramePr>
        <p:xfrm>
          <a:off x="835170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4" name="Google Shape;964;p78"/>
          <p:cNvGraphicFramePr/>
          <p:nvPr/>
        </p:nvGraphicFramePr>
        <p:xfrm>
          <a:off x="3675593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5" name="Google Shape;965;p78"/>
          <p:cNvGraphicFramePr/>
          <p:nvPr/>
        </p:nvGraphicFramePr>
        <p:xfrm>
          <a:off x="6516015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6" name="Google Shape;96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008" y="1428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083" y="1504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008" y="3253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083" y="3208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975" name="Google Shape;975;p79"/>
          <p:cNvSpPr txBox="1"/>
          <p:nvPr>
            <p:ph idx="1" type="body"/>
          </p:nvPr>
        </p:nvSpPr>
        <p:spPr>
          <a:xfrm>
            <a:off x="324000" y="606900"/>
            <a:ext cx="8496000" cy="12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  </a:t>
            </a:r>
            <a:r>
              <a:rPr lang="en-GB" sz="1800"/>
              <a:t>Jun is painting his neighbour’s fence.  He paints one fence every 40 minutes.</a:t>
            </a:r>
            <a:endParaRPr sz="1800"/>
          </a:p>
        </p:txBody>
      </p:sp>
      <p:grpSp>
        <p:nvGrpSpPr>
          <p:cNvPr id="976" name="Google Shape;976;p79"/>
          <p:cNvGrpSpPr/>
          <p:nvPr/>
        </p:nvGrpSpPr>
        <p:grpSpPr>
          <a:xfrm>
            <a:off x="3488173" y="2456180"/>
            <a:ext cx="63300" cy="556611"/>
            <a:chOff x="941713" y="3767150"/>
            <a:chExt cx="63300" cy="1000200"/>
          </a:xfrm>
        </p:grpSpPr>
        <p:cxnSp>
          <p:nvCxnSpPr>
            <p:cNvPr id="977" name="Google Shape;977;p79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8" name="Google Shape;978;p79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9" name="Google Shape;979;p79"/>
          <p:cNvGrpSpPr/>
          <p:nvPr/>
        </p:nvGrpSpPr>
        <p:grpSpPr>
          <a:xfrm>
            <a:off x="1597188" y="2456180"/>
            <a:ext cx="63300" cy="556611"/>
            <a:chOff x="1475113" y="3767150"/>
            <a:chExt cx="63300" cy="1000200"/>
          </a:xfrm>
        </p:grpSpPr>
        <p:cxnSp>
          <p:nvCxnSpPr>
            <p:cNvPr id="980" name="Google Shape;980;p79"/>
            <p:cNvCxnSpPr/>
            <p:nvPr/>
          </p:nvCxnSpPr>
          <p:spPr>
            <a:xfrm>
              <a:off x="15087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1" name="Google Shape;981;p79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2" name="Google Shape;982;p79"/>
          <p:cNvGrpSpPr/>
          <p:nvPr/>
        </p:nvGrpSpPr>
        <p:grpSpPr>
          <a:xfrm>
            <a:off x="1249775" y="2347586"/>
            <a:ext cx="3074500" cy="755449"/>
            <a:chOff x="441900" y="3572013"/>
            <a:chExt cx="3074500" cy="1357500"/>
          </a:xfrm>
        </p:grpSpPr>
        <p:cxnSp>
          <p:nvCxnSpPr>
            <p:cNvPr id="983" name="Google Shape;983;p7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4" name="Google Shape;984;p7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5" name="Google Shape;985;p7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86" name="Google Shape;986;p79"/>
          <p:cNvSpPr txBox="1"/>
          <p:nvPr/>
        </p:nvSpPr>
        <p:spPr>
          <a:xfrm>
            <a:off x="4391695" y="2382981"/>
            <a:ext cx="6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Fence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9"/>
          <p:cNvSpPr txBox="1"/>
          <p:nvPr/>
        </p:nvSpPr>
        <p:spPr>
          <a:xfrm>
            <a:off x="4373995" y="2776199"/>
            <a:ext cx="7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Time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9"/>
          <p:cNvSpPr txBox="1"/>
          <p:nvPr/>
        </p:nvSpPr>
        <p:spPr>
          <a:xfrm>
            <a:off x="1980500" y="21941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79"/>
          <p:cNvSpPr txBox="1"/>
          <p:nvPr/>
        </p:nvSpPr>
        <p:spPr>
          <a:xfrm>
            <a:off x="1567217" y="2174508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9"/>
          <p:cNvSpPr txBox="1"/>
          <p:nvPr/>
        </p:nvSpPr>
        <p:spPr>
          <a:xfrm>
            <a:off x="1950449" y="31030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79"/>
          <p:cNvSpPr txBox="1"/>
          <p:nvPr/>
        </p:nvSpPr>
        <p:spPr>
          <a:xfrm>
            <a:off x="1473302" y="31030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92" name="Google Shape;992;p79"/>
          <p:cNvGrpSpPr/>
          <p:nvPr/>
        </p:nvGrpSpPr>
        <p:grpSpPr>
          <a:xfrm>
            <a:off x="1998328" y="2456180"/>
            <a:ext cx="63300" cy="556611"/>
            <a:chOff x="941713" y="3767150"/>
            <a:chExt cx="63300" cy="1000200"/>
          </a:xfrm>
        </p:grpSpPr>
        <p:cxnSp>
          <p:nvCxnSpPr>
            <p:cNvPr id="993" name="Google Shape;993;p79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4" name="Google Shape;994;p79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79"/>
          <p:cNvGrpSpPr/>
          <p:nvPr/>
        </p:nvGrpSpPr>
        <p:grpSpPr>
          <a:xfrm>
            <a:off x="3044988" y="2456180"/>
            <a:ext cx="63300" cy="556611"/>
            <a:chOff x="941713" y="3767150"/>
            <a:chExt cx="63300" cy="1000200"/>
          </a:xfrm>
        </p:grpSpPr>
        <p:cxnSp>
          <p:nvCxnSpPr>
            <p:cNvPr id="996" name="Google Shape;996;p79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7" name="Google Shape;997;p79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79"/>
          <p:cNvSpPr txBox="1"/>
          <p:nvPr/>
        </p:nvSpPr>
        <p:spPr>
          <a:xfrm>
            <a:off x="2985115" y="21941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9"/>
          <p:cNvSpPr txBox="1"/>
          <p:nvPr/>
        </p:nvSpPr>
        <p:spPr>
          <a:xfrm>
            <a:off x="3428300" y="21941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9"/>
          <p:cNvSpPr txBox="1"/>
          <p:nvPr/>
        </p:nvSpPr>
        <p:spPr>
          <a:xfrm>
            <a:off x="2864849" y="31030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79"/>
          <p:cNvSpPr txBox="1"/>
          <p:nvPr/>
        </p:nvSpPr>
        <p:spPr>
          <a:xfrm>
            <a:off x="3322049" y="31030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02" name="Google Shape;1002;p79"/>
          <p:cNvGraphicFramePr/>
          <p:nvPr/>
        </p:nvGraphicFramePr>
        <p:xfrm>
          <a:off x="835170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953525"/>
                <a:gridCol w="9535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Fence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Time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240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3" name="Google Shape;1003;p79"/>
          <p:cNvSpPr txBox="1"/>
          <p:nvPr/>
        </p:nvSpPr>
        <p:spPr>
          <a:xfrm>
            <a:off x="228600" y="17526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  A double number line and mark on at least 3 equivalents</a:t>
            </a:r>
            <a:endParaRPr/>
          </a:p>
        </p:txBody>
      </p:sp>
      <p:sp>
        <p:nvSpPr>
          <p:cNvPr id="1004" name="Google Shape;1004;p79"/>
          <p:cNvSpPr txBox="1"/>
          <p:nvPr/>
        </p:nvSpPr>
        <p:spPr>
          <a:xfrm>
            <a:off x="152400" y="3276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ii) A ratio table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1010" name="Google Shape;1010;p80"/>
          <p:cNvSpPr txBox="1"/>
          <p:nvPr>
            <p:ph idx="1" type="body"/>
          </p:nvPr>
        </p:nvSpPr>
        <p:spPr>
          <a:xfrm>
            <a:off x="324000" y="606900"/>
            <a:ext cx="8628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</a:t>
            </a:r>
            <a:r>
              <a:rPr lang="en-GB" sz="1800"/>
              <a:t>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  </a:t>
            </a:r>
            <a:r>
              <a:rPr lang="en-GB" sz="1800"/>
              <a:t>Andeep is making </a:t>
            </a:r>
            <a:r>
              <a:rPr lang="en-GB" sz="1800"/>
              <a:t>necklaces for the school fete.  He makes 2 necklaces every 7 minutes.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i)  A double number line and mark on at least 3 equivalents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ii) A ratio table</a:t>
            </a:r>
            <a:endParaRPr sz="1800"/>
          </a:p>
        </p:txBody>
      </p:sp>
      <p:grpSp>
        <p:nvGrpSpPr>
          <p:cNvPr id="1011" name="Google Shape;1011;p80"/>
          <p:cNvGrpSpPr/>
          <p:nvPr/>
        </p:nvGrpSpPr>
        <p:grpSpPr>
          <a:xfrm>
            <a:off x="3488173" y="2379980"/>
            <a:ext cx="63300" cy="556611"/>
            <a:chOff x="941713" y="3767150"/>
            <a:chExt cx="63300" cy="1000200"/>
          </a:xfrm>
        </p:grpSpPr>
        <p:cxnSp>
          <p:nvCxnSpPr>
            <p:cNvPr id="1012" name="Google Shape;1012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3" name="Google Shape;1013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4" name="Google Shape;1014;p80"/>
          <p:cNvGrpSpPr/>
          <p:nvPr/>
        </p:nvGrpSpPr>
        <p:grpSpPr>
          <a:xfrm>
            <a:off x="1597188" y="2379980"/>
            <a:ext cx="63300" cy="556611"/>
            <a:chOff x="1475113" y="3767150"/>
            <a:chExt cx="63300" cy="1000200"/>
          </a:xfrm>
        </p:grpSpPr>
        <p:cxnSp>
          <p:nvCxnSpPr>
            <p:cNvPr id="1015" name="Google Shape;1015;p80"/>
            <p:cNvCxnSpPr/>
            <p:nvPr/>
          </p:nvCxnSpPr>
          <p:spPr>
            <a:xfrm>
              <a:off x="15087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6" name="Google Shape;1016;p80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80"/>
          <p:cNvGrpSpPr/>
          <p:nvPr/>
        </p:nvGrpSpPr>
        <p:grpSpPr>
          <a:xfrm>
            <a:off x="1249775" y="2271386"/>
            <a:ext cx="3074500" cy="755449"/>
            <a:chOff x="441900" y="3572013"/>
            <a:chExt cx="3074500" cy="1357500"/>
          </a:xfrm>
        </p:grpSpPr>
        <p:cxnSp>
          <p:nvCxnSpPr>
            <p:cNvPr id="1018" name="Google Shape;1018;p80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80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0" name="Google Shape;1020;p80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21" name="Google Shape;1021;p80"/>
          <p:cNvSpPr txBox="1"/>
          <p:nvPr/>
        </p:nvSpPr>
        <p:spPr>
          <a:xfrm>
            <a:off x="4391703" y="2306775"/>
            <a:ext cx="11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Necklaces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80"/>
          <p:cNvSpPr txBox="1"/>
          <p:nvPr/>
        </p:nvSpPr>
        <p:spPr>
          <a:xfrm>
            <a:off x="4373995" y="2699999"/>
            <a:ext cx="7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Time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3" name="Google Shape;1023;p80"/>
          <p:cNvSpPr txBox="1"/>
          <p:nvPr/>
        </p:nvSpPr>
        <p:spPr>
          <a:xfrm>
            <a:off x="1980500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0"/>
          <p:cNvSpPr txBox="1"/>
          <p:nvPr/>
        </p:nvSpPr>
        <p:spPr>
          <a:xfrm>
            <a:off x="1567217" y="2098308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0"/>
          <p:cNvSpPr txBox="1"/>
          <p:nvPr/>
        </p:nvSpPr>
        <p:spPr>
          <a:xfrm>
            <a:off x="19504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0"/>
          <p:cNvSpPr txBox="1"/>
          <p:nvPr/>
        </p:nvSpPr>
        <p:spPr>
          <a:xfrm>
            <a:off x="1591547" y="30268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27" name="Google Shape;1027;p80"/>
          <p:cNvGrpSpPr/>
          <p:nvPr/>
        </p:nvGrpSpPr>
        <p:grpSpPr>
          <a:xfrm>
            <a:off x="1998328" y="2379980"/>
            <a:ext cx="63300" cy="556611"/>
            <a:chOff x="941713" y="3767150"/>
            <a:chExt cx="63300" cy="1000200"/>
          </a:xfrm>
        </p:grpSpPr>
        <p:cxnSp>
          <p:nvCxnSpPr>
            <p:cNvPr id="1028" name="Google Shape;1028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80"/>
          <p:cNvGrpSpPr/>
          <p:nvPr/>
        </p:nvGrpSpPr>
        <p:grpSpPr>
          <a:xfrm>
            <a:off x="3044988" y="2379980"/>
            <a:ext cx="63300" cy="556611"/>
            <a:chOff x="941713" y="3767150"/>
            <a:chExt cx="63300" cy="1000200"/>
          </a:xfrm>
        </p:grpSpPr>
        <p:cxnSp>
          <p:nvCxnSpPr>
            <p:cNvPr id="1031" name="Google Shape;1031;p80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2" name="Google Shape;1032;p80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3" name="Google Shape;1033;p80"/>
          <p:cNvSpPr txBox="1"/>
          <p:nvPr/>
        </p:nvSpPr>
        <p:spPr>
          <a:xfrm>
            <a:off x="2985115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0"/>
          <p:cNvSpPr txBox="1"/>
          <p:nvPr/>
        </p:nvSpPr>
        <p:spPr>
          <a:xfrm>
            <a:off x="3428300" y="21179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0"/>
          <p:cNvSpPr txBox="1"/>
          <p:nvPr/>
        </p:nvSpPr>
        <p:spPr>
          <a:xfrm>
            <a:off x="292090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80"/>
          <p:cNvSpPr txBox="1"/>
          <p:nvPr/>
        </p:nvSpPr>
        <p:spPr>
          <a:xfrm>
            <a:off x="33982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37" name="Google Shape;1037;p80"/>
          <p:cNvGraphicFramePr/>
          <p:nvPr/>
        </p:nvGraphicFramePr>
        <p:xfrm>
          <a:off x="835170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074975"/>
                <a:gridCol w="1074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Necklaces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Time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1043" name="Google Shape;104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5 miles is equivalent to 8 km.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i)  A double number line and mark on at least 3 equivalents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ii) A ratio table</a:t>
            </a:r>
            <a:endParaRPr sz="1800"/>
          </a:p>
        </p:txBody>
      </p:sp>
      <p:grpSp>
        <p:nvGrpSpPr>
          <p:cNvPr id="1044" name="Google Shape;1044;p81"/>
          <p:cNvGrpSpPr/>
          <p:nvPr/>
        </p:nvGrpSpPr>
        <p:grpSpPr>
          <a:xfrm>
            <a:off x="3488173" y="2379980"/>
            <a:ext cx="63300" cy="556611"/>
            <a:chOff x="941713" y="3767150"/>
            <a:chExt cx="63300" cy="1000200"/>
          </a:xfrm>
        </p:grpSpPr>
        <p:cxnSp>
          <p:nvCxnSpPr>
            <p:cNvPr id="1045" name="Google Shape;1045;p8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6" name="Google Shape;1046;p8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81"/>
          <p:cNvGrpSpPr/>
          <p:nvPr/>
        </p:nvGrpSpPr>
        <p:grpSpPr>
          <a:xfrm>
            <a:off x="1597188" y="2379980"/>
            <a:ext cx="63300" cy="556611"/>
            <a:chOff x="1475113" y="3767150"/>
            <a:chExt cx="63300" cy="1000200"/>
          </a:xfrm>
        </p:grpSpPr>
        <p:cxnSp>
          <p:nvCxnSpPr>
            <p:cNvPr id="1048" name="Google Shape;1048;p81"/>
            <p:cNvCxnSpPr/>
            <p:nvPr/>
          </p:nvCxnSpPr>
          <p:spPr>
            <a:xfrm>
              <a:off x="15087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9" name="Google Shape;1049;p81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0" name="Google Shape;1050;p81"/>
          <p:cNvGrpSpPr/>
          <p:nvPr/>
        </p:nvGrpSpPr>
        <p:grpSpPr>
          <a:xfrm>
            <a:off x="1249775" y="2271386"/>
            <a:ext cx="3074500" cy="755449"/>
            <a:chOff x="441900" y="3572013"/>
            <a:chExt cx="3074500" cy="1357500"/>
          </a:xfrm>
        </p:grpSpPr>
        <p:cxnSp>
          <p:nvCxnSpPr>
            <p:cNvPr id="1051" name="Google Shape;1051;p8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2" name="Google Shape;1052;p8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3" name="Google Shape;1053;p8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54" name="Google Shape;1054;p81"/>
          <p:cNvSpPr txBox="1"/>
          <p:nvPr/>
        </p:nvSpPr>
        <p:spPr>
          <a:xfrm>
            <a:off x="4391703" y="2306775"/>
            <a:ext cx="11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Miles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1"/>
          <p:cNvSpPr txBox="1"/>
          <p:nvPr/>
        </p:nvSpPr>
        <p:spPr>
          <a:xfrm>
            <a:off x="4374004" y="2700000"/>
            <a:ext cx="132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Kilometres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1"/>
          <p:cNvSpPr txBox="1"/>
          <p:nvPr/>
        </p:nvSpPr>
        <p:spPr>
          <a:xfrm>
            <a:off x="1980500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81"/>
          <p:cNvSpPr txBox="1"/>
          <p:nvPr/>
        </p:nvSpPr>
        <p:spPr>
          <a:xfrm>
            <a:off x="1567217" y="2098308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81"/>
          <p:cNvSpPr txBox="1"/>
          <p:nvPr/>
        </p:nvSpPr>
        <p:spPr>
          <a:xfrm>
            <a:off x="19504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9" name="Google Shape;1059;p81"/>
          <p:cNvSpPr txBox="1"/>
          <p:nvPr/>
        </p:nvSpPr>
        <p:spPr>
          <a:xfrm>
            <a:off x="1591547" y="30268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60" name="Google Shape;1060;p81"/>
          <p:cNvGrpSpPr/>
          <p:nvPr/>
        </p:nvGrpSpPr>
        <p:grpSpPr>
          <a:xfrm>
            <a:off x="1998328" y="2379980"/>
            <a:ext cx="63300" cy="556611"/>
            <a:chOff x="941713" y="3767150"/>
            <a:chExt cx="63300" cy="1000200"/>
          </a:xfrm>
        </p:grpSpPr>
        <p:cxnSp>
          <p:nvCxnSpPr>
            <p:cNvPr id="1061" name="Google Shape;1061;p8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2" name="Google Shape;1062;p8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81"/>
          <p:cNvGrpSpPr/>
          <p:nvPr/>
        </p:nvGrpSpPr>
        <p:grpSpPr>
          <a:xfrm>
            <a:off x="3044988" y="2379980"/>
            <a:ext cx="63300" cy="556611"/>
            <a:chOff x="941713" y="3767150"/>
            <a:chExt cx="63300" cy="1000200"/>
          </a:xfrm>
        </p:grpSpPr>
        <p:cxnSp>
          <p:nvCxnSpPr>
            <p:cNvPr id="1064" name="Google Shape;1064;p8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5" name="Google Shape;1065;p81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6" name="Google Shape;1066;p81"/>
          <p:cNvSpPr txBox="1"/>
          <p:nvPr/>
        </p:nvSpPr>
        <p:spPr>
          <a:xfrm>
            <a:off x="2957104" y="21179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1"/>
          <p:cNvSpPr txBox="1"/>
          <p:nvPr/>
        </p:nvSpPr>
        <p:spPr>
          <a:xfrm>
            <a:off x="3400270" y="21179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81"/>
          <p:cNvSpPr txBox="1"/>
          <p:nvPr/>
        </p:nvSpPr>
        <p:spPr>
          <a:xfrm>
            <a:off x="292090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81"/>
          <p:cNvSpPr txBox="1"/>
          <p:nvPr/>
        </p:nvSpPr>
        <p:spPr>
          <a:xfrm>
            <a:off x="33982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70" name="Google Shape;1070;p81"/>
          <p:cNvGraphicFramePr/>
          <p:nvPr/>
        </p:nvGraphicFramePr>
        <p:xfrm>
          <a:off x="835170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074975"/>
                <a:gridCol w="1074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Mil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Kilometres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1076" name="Google Shape;1076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  A box of tiles covering 0.75 m</a:t>
            </a:r>
            <a:r>
              <a:rPr baseline="30000" lang="en-GB" sz="1800"/>
              <a:t>2</a:t>
            </a:r>
            <a:r>
              <a:rPr lang="en-GB" sz="1800"/>
              <a:t>, costs £15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i)  A double number line and mark on at least 3 equivalents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ii) A ratio table</a:t>
            </a:r>
            <a:endParaRPr sz="1800"/>
          </a:p>
        </p:txBody>
      </p:sp>
      <p:grpSp>
        <p:nvGrpSpPr>
          <p:cNvPr id="1077" name="Google Shape;1077;p82"/>
          <p:cNvGrpSpPr/>
          <p:nvPr/>
        </p:nvGrpSpPr>
        <p:grpSpPr>
          <a:xfrm>
            <a:off x="3488173" y="2379980"/>
            <a:ext cx="63300" cy="556611"/>
            <a:chOff x="941713" y="3767150"/>
            <a:chExt cx="63300" cy="1000200"/>
          </a:xfrm>
        </p:grpSpPr>
        <p:cxnSp>
          <p:nvCxnSpPr>
            <p:cNvPr id="1078" name="Google Shape;1078;p82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9" name="Google Shape;1079;p82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82"/>
          <p:cNvGrpSpPr/>
          <p:nvPr/>
        </p:nvGrpSpPr>
        <p:grpSpPr>
          <a:xfrm>
            <a:off x="1597188" y="2379980"/>
            <a:ext cx="63300" cy="556611"/>
            <a:chOff x="1475113" y="3767150"/>
            <a:chExt cx="63300" cy="1000200"/>
          </a:xfrm>
        </p:grpSpPr>
        <p:cxnSp>
          <p:nvCxnSpPr>
            <p:cNvPr id="1081" name="Google Shape;1081;p82"/>
            <p:cNvCxnSpPr/>
            <p:nvPr/>
          </p:nvCxnSpPr>
          <p:spPr>
            <a:xfrm>
              <a:off x="15087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2" name="Google Shape;1082;p82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82"/>
          <p:cNvGrpSpPr/>
          <p:nvPr/>
        </p:nvGrpSpPr>
        <p:grpSpPr>
          <a:xfrm>
            <a:off x="1249775" y="2271386"/>
            <a:ext cx="3074500" cy="755449"/>
            <a:chOff x="441900" y="3572013"/>
            <a:chExt cx="3074500" cy="1357500"/>
          </a:xfrm>
        </p:grpSpPr>
        <p:cxnSp>
          <p:nvCxnSpPr>
            <p:cNvPr id="1084" name="Google Shape;1084;p82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82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6" name="Google Shape;1086;p82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87" name="Google Shape;1087;p82"/>
          <p:cNvSpPr txBox="1"/>
          <p:nvPr/>
        </p:nvSpPr>
        <p:spPr>
          <a:xfrm>
            <a:off x="4391703" y="2306775"/>
            <a:ext cx="11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8" name="Google Shape;1088;p82"/>
          <p:cNvSpPr txBox="1"/>
          <p:nvPr/>
        </p:nvSpPr>
        <p:spPr>
          <a:xfrm>
            <a:off x="4373995" y="2699999"/>
            <a:ext cx="7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Cost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9" name="Google Shape;1089;p82"/>
          <p:cNvSpPr txBox="1"/>
          <p:nvPr/>
        </p:nvSpPr>
        <p:spPr>
          <a:xfrm>
            <a:off x="1904300" y="21179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82"/>
          <p:cNvSpPr txBox="1"/>
          <p:nvPr/>
        </p:nvSpPr>
        <p:spPr>
          <a:xfrm>
            <a:off x="1434974" y="2116800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82"/>
          <p:cNvSpPr txBox="1"/>
          <p:nvPr/>
        </p:nvSpPr>
        <p:spPr>
          <a:xfrm>
            <a:off x="1916294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82"/>
          <p:cNvSpPr txBox="1"/>
          <p:nvPr/>
        </p:nvSpPr>
        <p:spPr>
          <a:xfrm>
            <a:off x="1507457" y="30268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93" name="Google Shape;1093;p82"/>
          <p:cNvGrpSpPr/>
          <p:nvPr/>
        </p:nvGrpSpPr>
        <p:grpSpPr>
          <a:xfrm>
            <a:off x="1998328" y="2379980"/>
            <a:ext cx="63300" cy="556611"/>
            <a:chOff x="941713" y="3767150"/>
            <a:chExt cx="63300" cy="1000200"/>
          </a:xfrm>
        </p:grpSpPr>
        <p:cxnSp>
          <p:nvCxnSpPr>
            <p:cNvPr id="1094" name="Google Shape;1094;p82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5" name="Google Shape;1095;p82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6" name="Google Shape;1096;p82"/>
          <p:cNvGrpSpPr/>
          <p:nvPr/>
        </p:nvGrpSpPr>
        <p:grpSpPr>
          <a:xfrm>
            <a:off x="3044988" y="2379980"/>
            <a:ext cx="63300" cy="556611"/>
            <a:chOff x="941713" y="3767150"/>
            <a:chExt cx="63300" cy="1000200"/>
          </a:xfrm>
        </p:grpSpPr>
        <p:cxnSp>
          <p:nvCxnSpPr>
            <p:cNvPr id="1097" name="Google Shape;1097;p82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" name="Google Shape;1098;p82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9" name="Google Shape;1099;p82"/>
          <p:cNvSpPr txBox="1"/>
          <p:nvPr/>
        </p:nvSpPr>
        <p:spPr>
          <a:xfrm>
            <a:off x="2985115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82"/>
          <p:cNvSpPr txBox="1"/>
          <p:nvPr/>
        </p:nvSpPr>
        <p:spPr>
          <a:xfrm>
            <a:off x="3428300" y="21179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1" name="Google Shape;1101;p82"/>
          <p:cNvSpPr txBox="1"/>
          <p:nvPr/>
        </p:nvSpPr>
        <p:spPr>
          <a:xfrm>
            <a:off x="292090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82"/>
          <p:cNvSpPr txBox="1"/>
          <p:nvPr/>
        </p:nvSpPr>
        <p:spPr>
          <a:xfrm>
            <a:off x="33982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03" name="Google Shape;1103;p82"/>
          <p:cNvGraphicFramePr/>
          <p:nvPr/>
        </p:nvGraphicFramePr>
        <p:xfrm>
          <a:off x="835170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074975"/>
                <a:gridCol w="1074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Area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Cost (£)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0.75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1109" name="Google Shape;110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 Below are some variables which are </a:t>
            </a:r>
            <a:r>
              <a:rPr b="1" lang="en-GB" sz="1800"/>
              <a:t>directly proportional</a:t>
            </a:r>
            <a:r>
              <a:rPr lang="en-GB" sz="1800"/>
              <a:t> to each other.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  Sofia’s dog eats 3 tins of food every 4 days.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i)  A double number line and mark on at least 3 equivalents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ii) A ratio table</a:t>
            </a:r>
            <a:endParaRPr sz="1800"/>
          </a:p>
        </p:txBody>
      </p:sp>
      <p:grpSp>
        <p:nvGrpSpPr>
          <p:cNvPr id="1110" name="Google Shape;1110;p83"/>
          <p:cNvGrpSpPr/>
          <p:nvPr/>
        </p:nvGrpSpPr>
        <p:grpSpPr>
          <a:xfrm>
            <a:off x="3488173" y="2379980"/>
            <a:ext cx="63300" cy="556611"/>
            <a:chOff x="941713" y="3767150"/>
            <a:chExt cx="63300" cy="1000200"/>
          </a:xfrm>
        </p:grpSpPr>
        <p:cxnSp>
          <p:nvCxnSpPr>
            <p:cNvPr id="1111" name="Google Shape;1111;p83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2" name="Google Shape;1112;p83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3" name="Google Shape;1113;p83"/>
          <p:cNvGrpSpPr/>
          <p:nvPr/>
        </p:nvGrpSpPr>
        <p:grpSpPr>
          <a:xfrm>
            <a:off x="1597188" y="2379980"/>
            <a:ext cx="63300" cy="556611"/>
            <a:chOff x="1475113" y="3767150"/>
            <a:chExt cx="63300" cy="1000200"/>
          </a:xfrm>
        </p:grpSpPr>
        <p:cxnSp>
          <p:nvCxnSpPr>
            <p:cNvPr id="1114" name="Google Shape;1114;p83"/>
            <p:cNvCxnSpPr/>
            <p:nvPr/>
          </p:nvCxnSpPr>
          <p:spPr>
            <a:xfrm>
              <a:off x="15087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5" name="Google Shape;1115;p83"/>
            <p:cNvSpPr/>
            <p:nvPr/>
          </p:nvSpPr>
          <p:spPr>
            <a:xfrm>
              <a:off x="14751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83"/>
          <p:cNvGrpSpPr/>
          <p:nvPr/>
        </p:nvGrpSpPr>
        <p:grpSpPr>
          <a:xfrm>
            <a:off x="1249775" y="2271386"/>
            <a:ext cx="3074500" cy="755449"/>
            <a:chOff x="441900" y="3572013"/>
            <a:chExt cx="3074500" cy="1357500"/>
          </a:xfrm>
        </p:grpSpPr>
        <p:cxnSp>
          <p:nvCxnSpPr>
            <p:cNvPr id="1117" name="Google Shape;1117;p83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83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9" name="Google Shape;1119;p83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20" name="Google Shape;1120;p83"/>
          <p:cNvSpPr txBox="1"/>
          <p:nvPr/>
        </p:nvSpPr>
        <p:spPr>
          <a:xfrm>
            <a:off x="4391703" y="2306775"/>
            <a:ext cx="110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Tins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4373995" y="2699999"/>
            <a:ext cx="7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Day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3"/>
          <p:cNvSpPr txBox="1"/>
          <p:nvPr/>
        </p:nvSpPr>
        <p:spPr>
          <a:xfrm>
            <a:off x="1980500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3"/>
          <p:cNvSpPr txBox="1"/>
          <p:nvPr/>
        </p:nvSpPr>
        <p:spPr>
          <a:xfrm>
            <a:off x="1567217" y="2098308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3"/>
          <p:cNvSpPr txBox="1"/>
          <p:nvPr/>
        </p:nvSpPr>
        <p:spPr>
          <a:xfrm>
            <a:off x="19504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3"/>
          <p:cNvSpPr txBox="1"/>
          <p:nvPr/>
        </p:nvSpPr>
        <p:spPr>
          <a:xfrm>
            <a:off x="1591547" y="30268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26" name="Google Shape;1126;p83"/>
          <p:cNvGrpSpPr/>
          <p:nvPr/>
        </p:nvGrpSpPr>
        <p:grpSpPr>
          <a:xfrm>
            <a:off x="1998328" y="2379980"/>
            <a:ext cx="63300" cy="556611"/>
            <a:chOff x="941713" y="3767150"/>
            <a:chExt cx="63300" cy="1000200"/>
          </a:xfrm>
        </p:grpSpPr>
        <p:cxnSp>
          <p:nvCxnSpPr>
            <p:cNvPr id="1127" name="Google Shape;1127;p83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8" name="Google Shape;1128;p83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83"/>
          <p:cNvGrpSpPr/>
          <p:nvPr/>
        </p:nvGrpSpPr>
        <p:grpSpPr>
          <a:xfrm>
            <a:off x="3044988" y="2379980"/>
            <a:ext cx="63300" cy="556611"/>
            <a:chOff x="941713" y="3767150"/>
            <a:chExt cx="63300" cy="1000200"/>
          </a:xfrm>
        </p:grpSpPr>
        <p:cxnSp>
          <p:nvCxnSpPr>
            <p:cNvPr id="1130" name="Google Shape;1130;p83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1" name="Google Shape;1131;p83"/>
            <p:cNvSpPr/>
            <p:nvPr/>
          </p:nvSpPr>
          <p:spPr>
            <a:xfrm>
              <a:off x="941713" y="3976875"/>
              <a:ext cx="63300" cy="552600"/>
            </a:xfrm>
            <a:prstGeom prst="rect">
              <a:avLst/>
            </a:prstGeom>
            <a:solidFill>
              <a:srgbClr val="F3EEFB"/>
            </a:solidFill>
            <a:ln cap="flat" cmpd="sng" w="9525">
              <a:solidFill>
                <a:srgbClr val="F3EEF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83"/>
          <p:cNvSpPr txBox="1"/>
          <p:nvPr/>
        </p:nvSpPr>
        <p:spPr>
          <a:xfrm>
            <a:off x="2985115" y="211793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3"/>
          <p:cNvSpPr txBox="1"/>
          <p:nvPr/>
        </p:nvSpPr>
        <p:spPr>
          <a:xfrm>
            <a:off x="3428300" y="21179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83"/>
          <p:cNvSpPr txBox="1"/>
          <p:nvPr/>
        </p:nvSpPr>
        <p:spPr>
          <a:xfrm>
            <a:off x="292090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83"/>
          <p:cNvSpPr txBox="1"/>
          <p:nvPr/>
        </p:nvSpPr>
        <p:spPr>
          <a:xfrm>
            <a:off x="3398249" y="30268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36" name="Google Shape;1136;p83"/>
          <p:cNvGraphicFramePr/>
          <p:nvPr/>
        </p:nvGraphicFramePr>
        <p:xfrm>
          <a:off x="835170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074975"/>
                <a:gridCol w="10749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Tin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Day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</a:t>
            </a:r>
            <a:endParaRPr/>
          </a:p>
        </p:txBody>
      </p:sp>
      <p:sp>
        <p:nvSpPr>
          <p:cNvPr id="1142" name="Google Shape;1142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143" name="Google Shape;1143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  <p:pic>
        <p:nvPicPr>
          <p:cNvPr id="1144" name="Google Shape;114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150" name="Google Shape;1150;p85"/>
          <p:cNvSpPr txBox="1"/>
          <p:nvPr>
            <p:ph idx="1" type="body"/>
          </p:nvPr>
        </p:nvSpPr>
        <p:spPr>
          <a:xfrm>
            <a:off x="400200" y="606900"/>
            <a:ext cx="7265400" cy="15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cost of strawberries is </a:t>
            </a:r>
            <a:r>
              <a:rPr b="1" lang="en-GB" sz="1800"/>
              <a:t>directly proportional </a:t>
            </a:r>
            <a:r>
              <a:rPr lang="en-GB" sz="1800"/>
              <a:t>to the number of boxes.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 boxes of strawberries cost £8.25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can represent this situation on a graph.</a:t>
            </a:r>
            <a:endParaRPr sz="1800"/>
          </a:p>
        </p:txBody>
      </p:sp>
      <p:grpSp>
        <p:nvGrpSpPr>
          <p:cNvPr id="1151" name="Google Shape;1151;p85"/>
          <p:cNvGrpSpPr/>
          <p:nvPr/>
        </p:nvGrpSpPr>
        <p:grpSpPr>
          <a:xfrm>
            <a:off x="7665500" y="691241"/>
            <a:ext cx="1077670" cy="814222"/>
            <a:chOff x="4084100" y="2748641"/>
            <a:chExt cx="1077670" cy="814222"/>
          </a:xfrm>
        </p:grpSpPr>
        <p:pic>
          <p:nvPicPr>
            <p:cNvPr id="1152" name="Google Shape;1152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4215824" y="2616917"/>
              <a:ext cx="814222" cy="107767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3" name="Google Shape;1153;p85"/>
            <p:cNvGrpSpPr/>
            <p:nvPr/>
          </p:nvGrpSpPr>
          <p:grpSpPr>
            <a:xfrm>
              <a:off x="4169818" y="2799634"/>
              <a:ext cx="884924" cy="744636"/>
              <a:chOff x="3736853" y="1293550"/>
              <a:chExt cx="1774818" cy="1307986"/>
            </a:xfrm>
          </p:grpSpPr>
          <p:pic>
            <p:nvPicPr>
              <p:cNvPr id="1154" name="Google Shape;1154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65978" y="1440000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5" name="Google Shape;1155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78278" y="1293550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6" name="Google Shape;1156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4019129" y="1570463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7" name="Google Shape;1157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830040" y="1474450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8" name="Google Shape;1158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142340" y="1328000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9" name="Google Shape;1159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5083192" y="1604913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0" name="Google Shape;1160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9190" y="1460438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1" name="Google Shape;1161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651490" y="1313988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2" name="Google Shape;1162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4592342" y="1590900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3" name="Google Shape;1163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736853" y="1933525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4" name="Google Shape;1164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49153" y="1787075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5" name="Google Shape;1165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3990004" y="2063988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6" name="Google Shape;1166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800915" y="1967975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7" name="Google Shape;1167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113215" y="1821525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8" name="Google Shape;1168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5054067" y="2098438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9" name="Google Shape;1169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10065" y="1953963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0" name="Google Shape;1170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622365" y="1807513"/>
                <a:ext cx="369330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1" name="Google Shape;1171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21952">
                <a:off x="4563217" y="2084425"/>
                <a:ext cx="369331" cy="459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72" name="Google Shape;1172;p85"/>
          <p:cNvSpPr txBox="1"/>
          <p:nvPr/>
        </p:nvSpPr>
        <p:spPr>
          <a:xfrm>
            <a:off x="8047000" y="4069225"/>
            <a:ext cx="8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boxes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5"/>
          <p:cNvSpPr txBox="1"/>
          <p:nvPr/>
        </p:nvSpPr>
        <p:spPr>
          <a:xfrm>
            <a:off x="5109975" y="1281600"/>
            <a:ext cx="8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4" name="Google Shape;1174;p85"/>
          <p:cNvGraphicFramePr/>
          <p:nvPr/>
        </p:nvGraphicFramePr>
        <p:xfrm>
          <a:off x="1109250" y="226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614200"/>
                <a:gridCol w="161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Boxes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5" name="Google Shape;117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9172" y="1592134"/>
            <a:ext cx="2753100" cy="322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5"/>
          <p:cNvSpPr/>
          <p:nvPr/>
        </p:nvSpPr>
        <p:spPr>
          <a:xfrm rot="5400000">
            <a:off x="4175885" y="282778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85"/>
          <p:cNvSpPr txBox="1"/>
          <p:nvPr/>
        </p:nvSpPr>
        <p:spPr>
          <a:xfrm>
            <a:off x="4524695" y="274198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5"/>
          <p:cNvSpPr/>
          <p:nvPr/>
        </p:nvSpPr>
        <p:spPr>
          <a:xfrm flipH="1" rot="-5400000">
            <a:off x="821145" y="2843219"/>
            <a:ext cx="439800" cy="3207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5"/>
          <p:cNvSpPr txBox="1"/>
          <p:nvPr/>
        </p:nvSpPr>
        <p:spPr>
          <a:xfrm>
            <a:off x="271510" y="2679790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80" name="Google Shape;1180;p85"/>
          <p:cNvGraphicFramePr/>
          <p:nvPr/>
        </p:nvGraphicFramePr>
        <p:xfrm>
          <a:off x="1109250" y="226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1614200"/>
                <a:gridCol w="161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Boxes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1" name="Google Shape;1181;p85"/>
          <p:cNvSpPr txBox="1"/>
          <p:nvPr/>
        </p:nvSpPr>
        <p:spPr>
          <a:xfrm>
            <a:off x="5501960" y="4335610"/>
            <a:ext cx="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5"/>
          <p:cNvSpPr txBox="1"/>
          <p:nvPr/>
        </p:nvSpPr>
        <p:spPr>
          <a:xfrm>
            <a:off x="6201775" y="3393180"/>
            <a:ext cx="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5"/>
          <p:cNvSpPr txBox="1"/>
          <p:nvPr/>
        </p:nvSpPr>
        <p:spPr>
          <a:xfrm>
            <a:off x="6901590" y="2436735"/>
            <a:ext cx="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4" name="Google Shape;1184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9175" y="1592134"/>
            <a:ext cx="2753100" cy="322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5"/>
          <p:cNvSpPr txBox="1"/>
          <p:nvPr/>
        </p:nvSpPr>
        <p:spPr>
          <a:xfrm>
            <a:off x="326175" y="3529800"/>
            <a:ext cx="4497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spend exactly £20 on strawberries?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6" name="Google Shape;1186;p85"/>
          <p:cNvCxnSpPr/>
          <p:nvPr/>
        </p:nvCxnSpPr>
        <p:spPr>
          <a:xfrm>
            <a:off x="5638700" y="2265750"/>
            <a:ext cx="1695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85"/>
          <p:cNvCxnSpPr/>
          <p:nvPr/>
        </p:nvCxnSpPr>
        <p:spPr>
          <a:xfrm>
            <a:off x="7308595" y="2265750"/>
            <a:ext cx="12000" cy="232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8" name="Google Shape;1188;p85"/>
          <p:cNvSpPr txBox="1"/>
          <p:nvPr/>
        </p:nvSpPr>
        <p:spPr>
          <a:xfrm>
            <a:off x="326175" y="4159540"/>
            <a:ext cx="4497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reading from the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graph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the number of boxes is </a:t>
            </a:r>
            <a:r>
              <a:rPr lang="en-GB" sz="22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 integer.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3" name="Google Shape;119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8050" y="1273050"/>
            <a:ext cx="1967375" cy="316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86"/>
          <p:cNvSpPr txBox="1"/>
          <p:nvPr>
            <p:ph idx="1" type="body"/>
          </p:nvPr>
        </p:nvSpPr>
        <p:spPr>
          <a:xfrm>
            <a:off x="324000" y="759300"/>
            <a:ext cx="50484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graph shows the </a:t>
            </a:r>
            <a:r>
              <a:rPr b="1" lang="en-GB"/>
              <a:t>directly proportional</a:t>
            </a:r>
            <a:r>
              <a:rPr lang="en-GB"/>
              <a:t> relationship between milkshakes and cost.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Can you spend exactly £7 on milkshakes?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pic>
        <p:nvPicPr>
          <p:cNvPr id="1196" name="Google Shape;119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425" y="663450"/>
            <a:ext cx="664575" cy="1523783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6"/>
          <p:cNvSpPr txBox="1"/>
          <p:nvPr>
            <p:ph idx="1" type="body"/>
          </p:nvPr>
        </p:nvSpPr>
        <p:spPr>
          <a:xfrm>
            <a:off x="324000" y="3121500"/>
            <a:ext cx="5723100" cy="7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£7 is between the cost of 2 and 3 milkshakes.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98" name="Google Shape;1198;p86"/>
          <p:cNvCxnSpPr/>
          <p:nvPr/>
        </p:nvCxnSpPr>
        <p:spPr>
          <a:xfrm>
            <a:off x="5859520" y="2237725"/>
            <a:ext cx="78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86"/>
          <p:cNvCxnSpPr/>
          <p:nvPr/>
        </p:nvCxnSpPr>
        <p:spPr>
          <a:xfrm>
            <a:off x="6546595" y="2259625"/>
            <a:ext cx="0" cy="202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0" name="Google Shape;1200;p86"/>
          <p:cNvSpPr txBox="1"/>
          <p:nvPr/>
        </p:nvSpPr>
        <p:spPr>
          <a:xfrm>
            <a:off x="7283630" y="4021055"/>
            <a:ext cx="16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milkshakes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6"/>
          <p:cNvSpPr txBox="1"/>
          <p:nvPr/>
        </p:nvSpPr>
        <p:spPr>
          <a:xfrm>
            <a:off x="5368040" y="887550"/>
            <a:ext cx="6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87"/>
          <p:cNvGrpSpPr/>
          <p:nvPr/>
        </p:nvGrpSpPr>
        <p:grpSpPr>
          <a:xfrm>
            <a:off x="3713015" y="3552898"/>
            <a:ext cx="4266511" cy="1151259"/>
            <a:chOff x="3989785" y="3705298"/>
            <a:chExt cx="4266511" cy="1151259"/>
          </a:xfrm>
        </p:grpSpPr>
        <p:cxnSp>
          <p:nvCxnSpPr>
            <p:cNvPr id="1207" name="Google Shape;1207;p87"/>
            <p:cNvCxnSpPr/>
            <p:nvPr/>
          </p:nvCxnSpPr>
          <p:spPr>
            <a:xfrm>
              <a:off x="4011959" y="3821257"/>
              <a:ext cx="0" cy="103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08" name="Google Shape;1208;p87"/>
            <p:cNvGrpSpPr/>
            <p:nvPr/>
          </p:nvGrpSpPr>
          <p:grpSpPr>
            <a:xfrm>
              <a:off x="3989785" y="3705298"/>
              <a:ext cx="4266511" cy="587860"/>
              <a:chOff x="2069852" y="3407400"/>
              <a:chExt cx="5197358" cy="716117"/>
            </a:xfrm>
          </p:grpSpPr>
          <p:cxnSp>
            <p:nvCxnSpPr>
              <p:cNvPr id="1209" name="Google Shape;1209;p87"/>
              <p:cNvCxnSpPr/>
              <p:nvPr/>
            </p:nvCxnSpPr>
            <p:spPr>
              <a:xfrm>
                <a:off x="2119997" y="3900635"/>
                <a:ext cx="414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210" name="Google Shape;1210;p87"/>
              <p:cNvCxnSpPr/>
              <p:nvPr/>
            </p:nvCxnSpPr>
            <p:spPr>
              <a:xfrm>
                <a:off x="2069852" y="3902644"/>
                <a:ext cx="262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1" name="Google Shape;1211;p87"/>
              <p:cNvCxnSpPr/>
              <p:nvPr/>
            </p:nvCxnSpPr>
            <p:spPr>
              <a:xfrm>
                <a:off x="4170175" y="3902644"/>
                <a:ext cx="190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2" name="Google Shape;1212;p87"/>
              <p:cNvCxnSpPr/>
              <p:nvPr/>
            </p:nvCxnSpPr>
            <p:spPr>
              <a:xfrm>
                <a:off x="4170277" y="3767832"/>
                <a:ext cx="0" cy="265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3" name="Google Shape;1213;p87"/>
              <p:cNvSpPr txBox="1"/>
              <p:nvPr/>
            </p:nvSpPr>
            <p:spPr>
              <a:xfrm>
                <a:off x="29890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14" name="Google Shape;1214;p87"/>
              <p:cNvCxnSpPr/>
              <p:nvPr/>
            </p:nvCxnSpPr>
            <p:spPr>
              <a:xfrm>
                <a:off x="3119266" y="3746184"/>
                <a:ext cx="0" cy="265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5" name="Google Shape;1215;p87"/>
              <p:cNvCxnSpPr/>
              <p:nvPr/>
            </p:nvCxnSpPr>
            <p:spPr>
              <a:xfrm>
                <a:off x="5211700" y="3746184"/>
                <a:ext cx="0" cy="265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16" name="Google Shape;1216;p87"/>
              <p:cNvSpPr txBox="1"/>
              <p:nvPr/>
            </p:nvSpPr>
            <p:spPr>
              <a:xfrm>
                <a:off x="6363910" y="3625517"/>
                <a:ext cx="903300" cy="4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cost</a:t>
                </a:r>
                <a:endParaRPr i="1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217" name="Google Shape;1217;p87"/>
              <p:cNvSpPr txBox="1"/>
              <p:nvPr/>
            </p:nvSpPr>
            <p:spPr>
              <a:xfrm>
                <a:off x="40558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8" name="Google Shape;1218;p87"/>
              <p:cNvSpPr txBox="1"/>
              <p:nvPr/>
            </p:nvSpPr>
            <p:spPr>
              <a:xfrm>
                <a:off x="5122688" y="3407400"/>
                <a:ext cx="415800" cy="41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19" name="Google Shape;1219;p87"/>
          <p:cNvGrpSpPr/>
          <p:nvPr/>
        </p:nvGrpSpPr>
        <p:grpSpPr>
          <a:xfrm>
            <a:off x="3712994" y="4232333"/>
            <a:ext cx="4900741" cy="630755"/>
            <a:chOff x="4294564" y="4232333"/>
            <a:chExt cx="4900741" cy="630755"/>
          </a:xfrm>
        </p:grpSpPr>
        <p:cxnSp>
          <p:nvCxnSpPr>
            <p:cNvPr id="1220" name="Google Shape;1220;p87"/>
            <p:cNvCxnSpPr/>
            <p:nvPr/>
          </p:nvCxnSpPr>
          <p:spPr>
            <a:xfrm>
              <a:off x="4335728" y="4419056"/>
              <a:ext cx="3441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1" name="Google Shape;1221;p87"/>
            <p:cNvCxnSpPr/>
            <p:nvPr/>
          </p:nvCxnSpPr>
          <p:spPr>
            <a:xfrm>
              <a:off x="515470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2" name="Google Shape;1222;p87"/>
            <p:cNvCxnSpPr/>
            <p:nvPr/>
          </p:nvCxnSpPr>
          <p:spPr>
            <a:xfrm>
              <a:off x="601483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87"/>
            <p:cNvCxnSpPr/>
            <p:nvPr/>
          </p:nvCxnSpPr>
          <p:spPr>
            <a:xfrm>
              <a:off x="6878836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24" name="Google Shape;1224;p87"/>
            <p:cNvGrpSpPr/>
            <p:nvPr/>
          </p:nvGrpSpPr>
          <p:grpSpPr>
            <a:xfrm>
              <a:off x="4294564" y="4232333"/>
              <a:ext cx="4900741" cy="630755"/>
              <a:chOff x="4294564" y="3851333"/>
              <a:chExt cx="4900741" cy="630755"/>
            </a:xfrm>
          </p:grpSpPr>
          <p:cxnSp>
            <p:nvCxnSpPr>
              <p:cNvPr id="1225" name="Google Shape;1225;p87"/>
              <p:cNvCxnSpPr/>
              <p:nvPr/>
            </p:nvCxnSpPr>
            <p:spPr>
              <a:xfrm>
                <a:off x="4294564" y="4043338"/>
                <a:ext cx="215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" name="Google Shape;1226;p87"/>
              <p:cNvCxnSpPr/>
              <p:nvPr/>
            </p:nvCxnSpPr>
            <p:spPr>
              <a:xfrm>
                <a:off x="6018699" y="4043338"/>
                <a:ext cx="1706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7" name="Google Shape;1227;p87"/>
              <p:cNvSpPr txBox="1"/>
              <p:nvPr/>
            </p:nvSpPr>
            <p:spPr>
              <a:xfrm>
                <a:off x="5074795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28" name="Google Shape;1228;p87"/>
              <p:cNvSpPr txBox="1"/>
              <p:nvPr/>
            </p:nvSpPr>
            <p:spPr>
              <a:xfrm>
                <a:off x="7819506" y="3851333"/>
                <a:ext cx="13758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watermelons</a:t>
                </a:r>
                <a:endParaRPr i="1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229" name="Google Shape;1229;p87"/>
              <p:cNvSpPr txBox="1"/>
              <p:nvPr/>
            </p:nvSpPr>
            <p:spPr>
              <a:xfrm>
                <a:off x="5950520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30" name="Google Shape;1230;p87"/>
              <p:cNvSpPr txBox="1"/>
              <p:nvPr/>
            </p:nvSpPr>
            <p:spPr>
              <a:xfrm>
                <a:off x="6826246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31" name="Google Shape;1231;p87"/>
          <p:cNvSpPr txBox="1"/>
          <p:nvPr/>
        </p:nvSpPr>
        <p:spPr>
          <a:xfrm>
            <a:off x="3553189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7"/>
          <p:cNvSpPr txBox="1"/>
          <p:nvPr>
            <p:ph idx="1" type="body"/>
          </p:nvPr>
        </p:nvSpPr>
        <p:spPr>
          <a:xfrm>
            <a:off x="388600" y="810000"/>
            <a:ext cx="3078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know that variables which are </a:t>
            </a:r>
            <a:r>
              <a:rPr b="1" lang="en-GB" sz="1800"/>
              <a:t>directly proportional</a:t>
            </a:r>
            <a:r>
              <a:rPr lang="en-GB" sz="1800"/>
              <a:t> can be represented on a double </a:t>
            </a:r>
            <a:r>
              <a:rPr lang="en-GB" sz="1800"/>
              <a:t>number</a:t>
            </a:r>
            <a:r>
              <a:rPr lang="en-GB" sz="1800"/>
              <a:t> line and a graph.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cost of watermelons is </a:t>
            </a:r>
            <a:r>
              <a:rPr b="1" lang="en-GB" sz="1800"/>
              <a:t>directly proportional</a:t>
            </a:r>
            <a:r>
              <a:rPr lang="en-GB" sz="1800"/>
              <a:t> to the number of watermelons bought.</a:t>
            </a:r>
            <a:endParaRPr sz="1800"/>
          </a:p>
        </p:txBody>
      </p:sp>
      <p:sp>
        <p:nvSpPr>
          <p:cNvPr id="1233" name="Google Shape;1233;p87"/>
          <p:cNvSpPr txBox="1"/>
          <p:nvPr>
            <p:ph idx="1" type="body"/>
          </p:nvPr>
        </p:nvSpPr>
        <p:spPr>
          <a:xfrm>
            <a:off x="388600" y="4320000"/>
            <a:ext cx="3430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a double number line:</a:t>
            </a:r>
            <a:endParaRPr sz="1800"/>
          </a:p>
        </p:txBody>
      </p:sp>
      <p:sp>
        <p:nvSpPr>
          <p:cNvPr id="1234" name="Google Shape;123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proportional relationships</a:t>
            </a:r>
            <a:endParaRPr/>
          </a:p>
        </p:txBody>
      </p:sp>
      <p:grpSp>
        <p:nvGrpSpPr>
          <p:cNvPr id="1235" name="Google Shape;1235;p87"/>
          <p:cNvGrpSpPr/>
          <p:nvPr/>
        </p:nvGrpSpPr>
        <p:grpSpPr>
          <a:xfrm rot="-846034">
            <a:off x="3646494" y="3460700"/>
            <a:ext cx="4326528" cy="587889"/>
            <a:chOff x="2069852" y="3407400"/>
            <a:chExt cx="5270243" cy="716121"/>
          </a:xfrm>
        </p:grpSpPr>
        <p:cxnSp>
          <p:nvCxnSpPr>
            <p:cNvPr id="1236" name="Google Shape;1236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7" name="Google Shape;1237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8" name="Google Shape;1238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0" name="Google Shape;1240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41" name="Google Shape;1241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3" name="Google Shape;1243;p87"/>
            <p:cNvSpPr txBox="1"/>
            <p:nvPr/>
          </p:nvSpPr>
          <p:spPr>
            <a:xfrm>
              <a:off x="6363895" y="3625521"/>
              <a:ext cx="9762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44" name="Google Shape;1244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6" name="Google Shape;1246;p87"/>
          <p:cNvGrpSpPr/>
          <p:nvPr/>
        </p:nvGrpSpPr>
        <p:grpSpPr>
          <a:xfrm rot="-1513739">
            <a:off x="3448468" y="3054856"/>
            <a:ext cx="4353474" cy="587865"/>
            <a:chOff x="2069852" y="3407400"/>
            <a:chExt cx="5303262" cy="716119"/>
          </a:xfrm>
        </p:grpSpPr>
        <p:cxnSp>
          <p:nvCxnSpPr>
            <p:cNvPr id="1247" name="Google Shape;1247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8" name="Google Shape;1248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2" name="Google Shape;1252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3" name="Google Shape;1253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4" name="Google Shape;1254;p87"/>
            <p:cNvSpPr txBox="1"/>
            <p:nvPr/>
          </p:nvSpPr>
          <p:spPr>
            <a:xfrm>
              <a:off x="6363914" y="3625519"/>
              <a:ext cx="10092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55" name="Google Shape;1255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87"/>
          <p:cNvGrpSpPr/>
          <p:nvPr/>
        </p:nvGrpSpPr>
        <p:grpSpPr>
          <a:xfrm rot="-2075300">
            <a:off x="3247287" y="2779125"/>
            <a:ext cx="4368423" cy="587857"/>
            <a:chOff x="2069852" y="3407400"/>
            <a:chExt cx="5321565" cy="716120"/>
          </a:xfrm>
        </p:grpSpPr>
        <p:cxnSp>
          <p:nvCxnSpPr>
            <p:cNvPr id="1258" name="Google Shape;1258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59" name="Google Shape;1259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2" name="Google Shape;1262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3" name="Google Shape;1263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5" name="Google Shape;1265;p87"/>
            <p:cNvSpPr txBox="1"/>
            <p:nvPr/>
          </p:nvSpPr>
          <p:spPr>
            <a:xfrm>
              <a:off x="6363917" y="3625520"/>
              <a:ext cx="10275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66" name="Google Shape;1266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87"/>
          <p:cNvGrpSpPr/>
          <p:nvPr/>
        </p:nvGrpSpPr>
        <p:grpSpPr>
          <a:xfrm rot="-2906231">
            <a:off x="2937229" y="2437107"/>
            <a:ext cx="4202327" cy="587839"/>
            <a:chOff x="2069852" y="3407400"/>
            <a:chExt cx="5119346" cy="716115"/>
          </a:xfrm>
        </p:grpSpPr>
        <p:cxnSp>
          <p:nvCxnSpPr>
            <p:cNvPr id="1269" name="Google Shape;1269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0" name="Google Shape;1270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3" name="Google Shape;1273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74" name="Google Shape;1274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87"/>
            <p:cNvSpPr txBox="1"/>
            <p:nvPr/>
          </p:nvSpPr>
          <p:spPr>
            <a:xfrm>
              <a:off x="6363898" y="3625515"/>
              <a:ext cx="8253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77" name="Google Shape;1277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87"/>
          <p:cNvGrpSpPr/>
          <p:nvPr/>
        </p:nvGrpSpPr>
        <p:grpSpPr>
          <a:xfrm rot="-3920365">
            <a:off x="2362407" y="2099096"/>
            <a:ext cx="4322975" cy="587853"/>
            <a:chOff x="2069852" y="3407400"/>
            <a:chExt cx="5266353" cy="716137"/>
          </a:xfrm>
        </p:grpSpPr>
        <p:cxnSp>
          <p:nvCxnSpPr>
            <p:cNvPr id="1280" name="Google Shape;1280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1" name="Google Shape;1281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2" name="Google Shape;1282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4" name="Google Shape;1284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5" name="Google Shape;1285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7" name="Google Shape;1287;p87"/>
            <p:cNvSpPr txBox="1"/>
            <p:nvPr/>
          </p:nvSpPr>
          <p:spPr>
            <a:xfrm>
              <a:off x="6363905" y="3625537"/>
              <a:ext cx="9723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8" name="Google Shape;1288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87"/>
          <p:cNvGrpSpPr/>
          <p:nvPr/>
        </p:nvGrpSpPr>
        <p:grpSpPr>
          <a:xfrm rot="-3433999">
            <a:off x="2602953" y="2174598"/>
            <a:ext cx="4481164" cy="583142"/>
            <a:chOff x="2069852" y="3407400"/>
            <a:chExt cx="5249552" cy="716116"/>
          </a:xfrm>
        </p:grpSpPr>
        <p:cxnSp>
          <p:nvCxnSpPr>
            <p:cNvPr id="1291" name="Google Shape;1291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92" name="Google Shape;1292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4" name="Google Shape;1294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5" name="Google Shape;1295;p87"/>
            <p:cNvSpPr txBox="1"/>
            <p:nvPr/>
          </p:nvSpPr>
          <p:spPr>
            <a:xfrm>
              <a:off x="2989088" y="3407400"/>
              <a:ext cx="4158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6" name="Google Shape;1296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8" name="Google Shape;1298;p87"/>
            <p:cNvSpPr txBox="1"/>
            <p:nvPr/>
          </p:nvSpPr>
          <p:spPr>
            <a:xfrm>
              <a:off x="6363904" y="3625516"/>
              <a:ext cx="9555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9" name="Google Shape;1299;p87"/>
            <p:cNvSpPr txBox="1"/>
            <p:nvPr/>
          </p:nvSpPr>
          <p:spPr>
            <a:xfrm>
              <a:off x="4055888" y="3407400"/>
              <a:ext cx="4158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7"/>
            <p:cNvSpPr txBox="1"/>
            <p:nvPr/>
          </p:nvSpPr>
          <p:spPr>
            <a:xfrm>
              <a:off x="5122688" y="3407400"/>
              <a:ext cx="415800" cy="4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87"/>
          <p:cNvGrpSpPr/>
          <p:nvPr/>
        </p:nvGrpSpPr>
        <p:grpSpPr>
          <a:xfrm rot="-4613386">
            <a:off x="2087444" y="2130082"/>
            <a:ext cx="3988840" cy="581474"/>
            <a:chOff x="2069852" y="3407400"/>
            <a:chExt cx="4859128" cy="708340"/>
          </a:xfrm>
        </p:grpSpPr>
        <p:cxnSp>
          <p:nvCxnSpPr>
            <p:cNvPr id="1302" name="Google Shape;1302;p87"/>
            <p:cNvCxnSpPr/>
            <p:nvPr/>
          </p:nvCxnSpPr>
          <p:spPr>
            <a:xfrm>
              <a:off x="2119997" y="3900635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3" name="Google Shape;1303;p87"/>
            <p:cNvCxnSpPr/>
            <p:nvPr/>
          </p:nvCxnSpPr>
          <p:spPr>
            <a:xfrm>
              <a:off x="2069852" y="3902644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4" name="Google Shape;1304;p87"/>
            <p:cNvCxnSpPr/>
            <p:nvPr/>
          </p:nvCxnSpPr>
          <p:spPr>
            <a:xfrm>
              <a:off x="4170175" y="3902644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87"/>
            <p:cNvCxnSpPr/>
            <p:nvPr/>
          </p:nvCxnSpPr>
          <p:spPr>
            <a:xfrm>
              <a:off x="4170277" y="376783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6" name="Google Shape;1306;p87"/>
            <p:cNvSpPr txBox="1"/>
            <p:nvPr/>
          </p:nvSpPr>
          <p:spPr>
            <a:xfrm>
              <a:off x="29890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7" name="Google Shape;1307;p87"/>
            <p:cNvCxnSpPr/>
            <p:nvPr/>
          </p:nvCxnSpPr>
          <p:spPr>
            <a:xfrm>
              <a:off x="3119266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8" name="Google Shape;1308;p87"/>
            <p:cNvCxnSpPr/>
            <p:nvPr/>
          </p:nvCxnSpPr>
          <p:spPr>
            <a:xfrm>
              <a:off x="5211700" y="3746184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9" name="Google Shape;1309;p87"/>
            <p:cNvSpPr txBox="1"/>
            <p:nvPr/>
          </p:nvSpPr>
          <p:spPr>
            <a:xfrm>
              <a:off x="6171480" y="3617740"/>
              <a:ext cx="7575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5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0" name="Google Shape;1310;p87"/>
            <p:cNvSpPr txBox="1"/>
            <p:nvPr/>
          </p:nvSpPr>
          <p:spPr>
            <a:xfrm>
              <a:off x="40558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7"/>
            <p:cNvSpPr txBox="1"/>
            <p:nvPr/>
          </p:nvSpPr>
          <p:spPr>
            <a:xfrm>
              <a:off x="5122688" y="340740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87"/>
          <p:cNvGrpSpPr/>
          <p:nvPr/>
        </p:nvGrpSpPr>
        <p:grpSpPr>
          <a:xfrm>
            <a:off x="3380104" y="647675"/>
            <a:ext cx="630697" cy="3790608"/>
            <a:chOff x="-634364" y="-85258"/>
            <a:chExt cx="768300" cy="4617624"/>
          </a:xfrm>
        </p:grpSpPr>
        <p:cxnSp>
          <p:nvCxnSpPr>
            <p:cNvPr id="1313" name="Google Shape;1313;p87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14" name="Google Shape;1314;p87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87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6" name="Google Shape;1316;p87"/>
            <p:cNvCxnSpPr/>
            <p:nvPr/>
          </p:nvCxnSpPr>
          <p:spPr>
            <a:xfrm rot="10800000">
              <a:off x="-219202" y="2311215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7" name="Google Shape;1317;p87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18" name="Google Shape;1318;p87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9" name="Google Shape;1319;p87"/>
            <p:cNvCxnSpPr/>
            <p:nvPr/>
          </p:nvCxnSpPr>
          <p:spPr>
            <a:xfrm rot="10800000">
              <a:off x="-240849" y="126979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0" name="Google Shape;1320;p87"/>
            <p:cNvSpPr txBox="1"/>
            <p:nvPr/>
          </p:nvSpPr>
          <p:spPr>
            <a:xfrm>
              <a:off x="-634364" y="-85258"/>
              <a:ext cx="7683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21" name="Google Shape;1321;p87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87"/>
            <p:cNvSpPr txBox="1"/>
            <p:nvPr/>
          </p:nvSpPr>
          <p:spPr>
            <a:xfrm>
              <a:off x="-573283" y="11408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23" name="Google Shape;132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85495" y="315529"/>
            <a:ext cx="978449" cy="168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852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261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674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852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261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674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183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183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7"/>
          <p:cNvSpPr/>
          <p:nvPr/>
        </p:nvSpPr>
        <p:spPr>
          <a:xfrm rot="-1233997">
            <a:off x="7435965" y="1434952"/>
            <a:ext cx="1331355" cy="466222"/>
          </a:xfrm>
          <a:prstGeom prst="homePlate">
            <a:avLst>
              <a:gd fmla="val 50000" name="adj"/>
            </a:avLst>
          </a:prstGeom>
          <a:solidFill>
            <a:srgbClr val="037B7D">
              <a:alpha val="79870"/>
            </a:srgbClr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£2 each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7" name="Google Shape;1337;p88"/>
          <p:cNvGrpSpPr/>
          <p:nvPr/>
        </p:nvGrpSpPr>
        <p:grpSpPr>
          <a:xfrm>
            <a:off x="3712994" y="4232333"/>
            <a:ext cx="4900741" cy="630755"/>
            <a:chOff x="4294564" y="4232333"/>
            <a:chExt cx="4900741" cy="630755"/>
          </a:xfrm>
        </p:grpSpPr>
        <p:cxnSp>
          <p:nvCxnSpPr>
            <p:cNvPr id="1338" name="Google Shape;1338;p88"/>
            <p:cNvCxnSpPr/>
            <p:nvPr/>
          </p:nvCxnSpPr>
          <p:spPr>
            <a:xfrm>
              <a:off x="4335728" y="4419056"/>
              <a:ext cx="3441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9" name="Google Shape;1339;p88"/>
            <p:cNvCxnSpPr/>
            <p:nvPr/>
          </p:nvCxnSpPr>
          <p:spPr>
            <a:xfrm>
              <a:off x="515470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0" name="Google Shape;1340;p88"/>
            <p:cNvCxnSpPr/>
            <p:nvPr/>
          </p:nvCxnSpPr>
          <p:spPr>
            <a:xfrm>
              <a:off x="6014831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1" name="Google Shape;1341;p88"/>
            <p:cNvCxnSpPr/>
            <p:nvPr/>
          </p:nvCxnSpPr>
          <p:spPr>
            <a:xfrm>
              <a:off x="6878836" y="4315312"/>
              <a:ext cx="0" cy="217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42" name="Google Shape;1342;p88"/>
            <p:cNvGrpSpPr/>
            <p:nvPr/>
          </p:nvGrpSpPr>
          <p:grpSpPr>
            <a:xfrm>
              <a:off x="4294564" y="4232333"/>
              <a:ext cx="4900741" cy="630755"/>
              <a:chOff x="4294564" y="3851333"/>
              <a:chExt cx="4900741" cy="630755"/>
            </a:xfrm>
          </p:grpSpPr>
          <p:cxnSp>
            <p:nvCxnSpPr>
              <p:cNvPr id="1343" name="Google Shape;1343;p88"/>
              <p:cNvCxnSpPr/>
              <p:nvPr/>
            </p:nvCxnSpPr>
            <p:spPr>
              <a:xfrm>
                <a:off x="4294564" y="4043338"/>
                <a:ext cx="215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88"/>
              <p:cNvCxnSpPr/>
              <p:nvPr/>
            </p:nvCxnSpPr>
            <p:spPr>
              <a:xfrm>
                <a:off x="6018699" y="4043338"/>
                <a:ext cx="1706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5" name="Google Shape;1345;p88"/>
              <p:cNvSpPr txBox="1"/>
              <p:nvPr/>
            </p:nvSpPr>
            <p:spPr>
              <a:xfrm>
                <a:off x="5074795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6" name="Google Shape;1346;p88"/>
              <p:cNvSpPr txBox="1"/>
              <p:nvPr/>
            </p:nvSpPr>
            <p:spPr>
              <a:xfrm>
                <a:off x="7819506" y="3851333"/>
                <a:ext cx="1375800" cy="40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000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 watermelons</a:t>
                </a:r>
                <a:endParaRPr i="1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347" name="Google Shape;1347;p88"/>
              <p:cNvSpPr txBox="1"/>
              <p:nvPr/>
            </p:nvSpPr>
            <p:spPr>
              <a:xfrm>
                <a:off x="5950520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8" name="Google Shape;1348;p88"/>
              <p:cNvSpPr txBox="1"/>
              <p:nvPr/>
            </p:nvSpPr>
            <p:spPr>
              <a:xfrm>
                <a:off x="6826246" y="4143389"/>
                <a:ext cx="341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49" name="Google Shape;1349;p88"/>
          <p:cNvSpPr txBox="1"/>
          <p:nvPr/>
        </p:nvSpPr>
        <p:spPr>
          <a:xfrm>
            <a:off x="3553189" y="4297711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8"/>
          <p:cNvSpPr txBox="1"/>
          <p:nvPr>
            <p:ph idx="1" type="body"/>
          </p:nvPr>
        </p:nvSpPr>
        <p:spPr>
          <a:xfrm>
            <a:off x="388600" y="810000"/>
            <a:ext cx="30786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know that variables which are </a:t>
            </a:r>
            <a:r>
              <a:rPr b="1" lang="en-GB" sz="1800"/>
              <a:t>directly proportional</a:t>
            </a:r>
            <a:r>
              <a:rPr lang="en-GB" sz="1800"/>
              <a:t> can be represented on a double number line and a graph.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cost of watermelons is </a:t>
            </a:r>
            <a:r>
              <a:rPr b="1" lang="en-GB" sz="1800"/>
              <a:t>directly proportional</a:t>
            </a:r>
            <a:r>
              <a:rPr lang="en-GB" sz="1800"/>
              <a:t> to the number of watermelons bought.</a:t>
            </a:r>
            <a:endParaRPr sz="1800"/>
          </a:p>
        </p:txBody>
      </p:sp>
      <p:sp>
        <p:nvSpPr>
          <p:cNvPr id="1351" name="Google Shape;1351;p88"/>
          <p:cNvSpPr txBox="1"/>
          <p:nvPr>
            <p:ph idx="1" type="body"/>
          </p:nvPr>
        </p:nvSpPr>
        <p:spPr>
          <a:xfrm>
            <a:off x="388600" y="4320000"/>
            <a:ext cx="3430800" cy="3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 a double number line:</a:t>
            </a:r>
            <a:endParaRPr sz="1800"/>
          </a:p>
        </p:txBody>
      </p:sp>
      <p:sp>
        <p:nvSpPr>
          <p:cNvPr id="1352" name="Google Shape;135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grpSp>
        <p:nvGrpSpPr>
          <p:cNvPr id="1353" name="Google Shape;1353;p88"/>
          <p:cNvGrpSpPr/>
          <p:nvPr/>
        </p:nvGrpSpPr>
        <p:grpSpPr>
          <a:xfrm>
            <a:off x="3380104" y="647675"/>
            <a:ext cx="630697" cy="3790608"/>
            <a:chOff x="-634364" y="-85258"/>
            <a:chExt cx="768300" cy="4617624"/>
          </a:xfrm>
        </p:grpSpPr>
        <p:cxnSp>
          <p:nvCxnSpPr>
            <p:cNvPr id="1354" name="Google Shape;1354;p88"/>
            <p:cNvCxnSpPr/>
            <p:nvPr/>
          </p:nvCxnSpPr>
          <p:spPr>
            <a:xfrm rot="-5400000">
              <a:off x="-2289748" y="2411621"/>
              <a:ext cx="414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55" name="Google Shape;1355;p88"/>
            <p:cNvCxnSpPr/>
            <p:nvPr/>
          </p:nvCxnSpPr>
          <p:spPr>
            <a:xfrm rot="-5400000">
              <a:off x="-1529039" y="3220466"/>
              <a:ext cx="262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88"/>
            <p:cNvCxnSpPr/>
            <p:nvPr/>
          </p:nvCxnSpPr>
          <p:spPr>
            <a:xfrm rot="-5400000">
              <a:off x="-1167389" y="1481793"/>
              <a:ext cx="190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88"/>
            <p:cNvCxnSpPr/>
            <p:nvPr/>
          </p:nvCxnSpPr>
          <p:spPr>
            <a:xfrm rot="10800000">
              <a:off x="-219202" y="2311215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8" name="Google Shape;1358;p88"/>
            <p:cNvSpPr txBox="1"/>
            <p:nvPr/>
          </p:nvSpPr>
          <p:spPr>
            <a:xfrm>
              <a:off x="-573283" y="32744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9" name="Google Shape;1359;p88"/>
            <p:cNvCxnSpPr/>
            <p:nvPr/>
          </p:nvCxnSpPr>
          <p:spPr>
            <a:xfrm rot="10800000">
              <a:off x="-240849" y="335020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0" name="Google Shape;1360;p88"/>
            <p:cNvCxnSpPr/>
            <p:nvPr/>
          </p:nvCxnSpPr>
          <p:spPr>
            <a:xfrm rot="10800000">
              <a:off x="-240849" y="1269792"/>
              <a:ext cx="0" cy="265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1" name="Google Shape;1361;p88"/>
            <p:cNvSpPr txBox="1"/>
            <p:nvPr/>
          </p:nvSpPr>
          <p:spPr>
            <a:xfrm>
              <a:off x="-634364" y="-85258"/>
              <a:ext cx="7683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cost</a:t>
              </a:r>
              <a:endParaRPr i="1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2" name="Google Shape;1362;p88"/>
            <p:cNvSpPr txBox="1"/>
            <p:nvPr/>
          </p:nvSpPr>
          <p:spPr>
            <a:xfrm>
              <a:off x="-573283" y="22076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8"/>
            <p:cNvSpPr txBox="1"/>
            <p:nvPr/>
          </p:nvSpPr>
          <p:spPr>
            <a:xfrm>
              <a:off x="-573283" y="1140830"/>
              <a:ext cx="415800" cy="4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64" name="Google Shape;136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85495" y="315529"/>
            <a:ext cx="978449" cy="168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852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261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674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852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261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674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183" y="768421"/>
            <a:ext cx="380414" cy="41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1183" y="1185712"/>
            <a:ext cx="380414" cy="412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88"/>
          <p:cNvSpPr/>
          <p:nvPr/>
        </p:nvSpPr>
        <p:spPr>
          <a:xfrm rot="-1233997">
            <a:off x="7435965" y="1434952"/>
            <a:ext cx="1331355" cy="466222"/>
          </a:xfrm>
          <a:prstGeom prst="homePlate">
            <a:avLst>
              <a:gd fmla="val 50000" name="adj"/>
            </a:avLst>
          </a:prstGeom>
          <a:solidFill>
            <a:srgbClr val="037B7D">
              <a:alpha val="79870"/>
            </a:srgbClr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£2 each</a:t>
            </a:r>
            <a:endParaRPr sz="2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4" name="Google Shape;1374;p88"/>
          <p:cNvCxnSpPr/>
          <p:nvPr/>
        </p:nvCxnSpPr>
        <p:spPr>
          <a:xfrm flipH="1" rot="10800000">
            <a:off x="3743200" y="1857450"/>
            <a:ext cx="2552400" cy="255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49" y="2005773"/>
            <a:ext cx="7664425" cy="19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381" name="Google Shape;1381;p8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</a:t>
            </a:r>
            <a:r>
              <a:rPr lang="en-GB"/>
              <a:t> </a:t>
            </a:r>
            <a:r>
              <a:rPr lang="en-GB"/>
              <a:t>each graph to the situations they represent.</a:t>
            </a:r>
            <a:endParaRPr/>
          </a:p>
        </p:txBody>
      </p:sp>
      <p:sp>
        <p:nvSpPr>
          <p:cNvPr id="1382" name="Google Shape;1382;p89"/>
          <p:cNvSpPr txBox="1"/>
          <p:nvPr>
            <p:ph type="title"/>
          </p:nvPr>
        </p:nvSpPr>
        <p:spPr>
          <a:xfrm>
            <a:off x="733030" y="1282175"/>
            <a:ext cx="1924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box costs £4</a:t>
            </a:r>
            <a:endParaRPr/>
          </a:p>
        </p:txBody>
      </p:sp>
      <p:sp>
        <p:nvSpPr>
          <p:cNvPr id="1383" name="Google Shape;1383;p89"/>
          <p:cNvSpPr txBox="1"/>
          <p:nvPr>
            <p:ph type="title"/>
          </p:nvPr>
        </p:nvSpPr>
        <p:spPr>
          <a:xfrm>
            <a:off x="3524410" y="1282175"/>
            <a:ext cx="2248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box costs 50p</a:t>
            </a:r>
            <a:endParaRPr/>
          </a:p>
        </p:txBody>
      </p:sp>
      <p:sp>
        <p:nvSpPr>
          <p:cNvPr id="1384" name="Google Shape;1384;p89"/>
          <p:cNvSpPr txBox="1"/>
          <p:nvPr>
            <p:ph type="title"/>
          </p:nvPr>
        </p:nvSpPr>
        <p:spPr>
          <a:xfrm>
            <a:off x="6385850" y="1282175"/>
            <a:ext cx="2402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box costs £2.50</a:t>
            </a:r>
            <a:endParaRPr/>
          </a:p>
        </p:txBody>
      </p:sp>
      <p:cxnSp>
        <p:nvCxnSpPr>
          <p:cNvPr id="1385" name="Google Shape;1385;p89"/>
          <p:cNvCxnSpPr/>
          <p:nvPr/>
        </p:nvCxnSpPr>
        <p:spPr>
          <a:xfrm>
            <a:off x="1980775" y="1761225"/>
            <a:ext cx="2620800" cy="953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6" name="Google Shape;1386;p89"/>
          <p:cNvCxnSpPr/>
          <p:nvPr/>
        </p:nvCxnSpPr>
        <p:spPr>
          <a:xfrm>
            <a:off x="4464000" y="1683450"/>
            <a:ext cx="2620800" cy="953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89"/>
          <p:cNvCxnSpPr>
            <a:stCxn id="1384" idx="2"/>
          </p:cNvCxnSpPr>
          <p:nvPr/>
        </p:nvCxnSpPr>
        <p:spPr>
          <a:xfrm flipH="1">
            <a:off x="2036900" y="1771775"/>
            <a:ext cx="5550000" cy="7464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8" name="Google Shape;1388;p89"/>
          <p:cNvSpPr txBox="1"/>
          <p:nvPr/>
        </p:nvSpPr>
        <p:spPr>
          <a:xfrm>
            <a:off x="68175" y="1685025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ost (£)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9"/>
          <p:cNvSpPr txBox="1"/>
          <p:nvPr/>
        </p:nvSpPr>
        <p:spPr>
          <a:xfrm>
            <a:off x="2963775" y="1685025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9"/>
          <p:cNvSpPr txBox="1"/>
          <p:nvPr/>
        </p:nvSpPr>
        <p:spPr>
          <a:xfrm>
            <a:off x="5935575" y="1685025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9"/>
          <p:cNvSpPr txBox="1"/>
          <p:nvPr/>
        </p:nvSpPr>
        <p:spPr>
          <a:xfrm>
            <a:off x="1939925" y="3862050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9"/>
          <p:cNvSpPr txBox="1"/>
          <p:nvPr/>
        </p:nvSpPr>
        <p:spPr>
          <a:xfrm>
            <a:off x="4759325" y="3862050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9"/>
          <p:cNvSpPr txBox="1"/>
          <p:nvPr/>
        </p:nvSpPr>
        <p:spPr>
          <a:xfrm>
            <a:off x="7731125" y="3862050"/>
            <a:ext cx="11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399" name="Google Shape;1399;p90"/>
          <p:cNvSpPr txBox="1"/>
          <p:nvPr>
            <p:ph idx="1" type="body"/>
          </p:nvPr>
        </p:nvSpPr>
        <p:spPr>
          <a:xfrm>
            <a:off x="324000" y="6831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Match each table to the correct graph and fill in the missing values:</a:t>
            </a:r>
            <a:endParaRPr sz="1900"/>
          </a:p>
        </p:txBody>
      </p:sp>
      <p:pic>
        <p:nvPicPr>
          <p:cNvPr id="1400" name="Google Shape;140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64" y="1248520"/>
            <a:ext cx="1657461" cy="19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698" y="1248520"/>
            <a:ext cx="2075450" cy="199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6578" y="1248520"/>
            <a:ext cx="1145467" cy="199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800" y="1248520"/>
            <a:ext cx="2541801" cy="1653703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90"/>
          <p:cNvSpPr txBox="1"/>
          <p:nvPr/>
        </p:nvSpPr>
        <p:spPr>
          <a:xfrm>
            <a:off x="11740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0"/>
          <p:cNvSpPr txBox="1"/>
          <p:nvPr/>
        </p:nvSpPr>
        <p:spPr>
          <a:xfrm>
            <a:off x="28504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90"/>
          <p:cNvSpPr txBox="1"/>
          <p:nvPr/>
        </p:nvSpPr>
        <p:spPr>
          <a:xfrm>
            <a:off x="49078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90"/>
          <p:cNvSpPr txBox="1"/>
          <p:nvPr/>
        </p:nvSpPr>
        <p:spPr>
          <a:xfrm>
            <a:off x="74224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08" name="Google Shape;1408;p90"/>
          <p:cNvGraphicFramePr/>
          <p:nvPr/>
        </p:nvGraphicFramePr>
        <p:xfrm>
          <a:off x="647700" y="33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9" name="Google Shape;1409;p90"/>
          <p:cNvGraphicFramePr/>
          <p:nvPr/>
        </p:nvGraphicFramePr>
        <p:xfrm>
          <a:off x="2715067" y="33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0" name="Google Shape;1410;p90"/>
          <p:cNvGraphicFramePr/>
          <p:nvPr/>
        </p:nvGraphicFramePr>
        <p:xfrm>
          <a:off x="6849800" y="339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1" name="Google Shape;1411;p90"/>
          <p:cNvGraphicFramePr/>
          <p:nvPr/>
        </p:nvGraphicFramePr>
        <p:xfrm>
          <a:off x="4782433" y="33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91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417" name="Google Shape;1417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Graphing proportional relationships</a:t>
            </a:r>
            <a:endParaRPr/>
          </a:p>
        </p:txBody>
      </p:sp>
      <p:pic>
        <p:nvPicPr>
          <p:cNvPr id="1418" name="Google Shape;141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675" y="1395125"/>
            <a:ext cx="5208246" cy="3329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9" name="Google Shape;1419;p91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pic>
        <p:nvPicPr>
          <p:cNvPr id="1425" name="Google Shape;14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675" y="1395125"/>
            <a:ext cx="5208246" cy="3329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6" name="Google Shape;1426;p92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7" name="Google Shape;1427;p92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pic>
        <p:nvPicPr>
          <p:cNvPr id="1433" name="Google Shape;143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675" y="1395125"/>
            <a:ext cx="5208246" cy="3329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4" name="Google Shape;1434;p93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5" name="Google Shape;1435;p93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4"/>
          <p:cNvSpPr txBox="1"/>
          <p:nvPr>
            <p:ph idx="1" type="body"/>
          </p:nvPr>
        </p:nvSpPr>
        <p:spPr>
          <a:xfrm>
            <a:off x="324000" y="6069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 Match each double number line to the correct graph:</a:t>
            </a:r>
            <a:endParaRPr/>
          </a:p>
        </p:txBody>
      </p:sp>
      <p:sp>
        <p:nvSpPr>
          <p:cNvPr id="1441" name="Google Shape;1441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442" name="Google Shape;1442;p94"/>
          <p:cNvSpPr txBox="1"/>
          <p:nvPr/>
        </p:nvSpPr>
        <p:spPr>
          <a:xfrm>
            <a:off x="1174050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94"/>
          <p:cNvSpPr txBox="1"/>
          <p:nvPr/>
        </p:nvSpPr>
        <p:spPr>
          <a:xfrm>
            <a:off x="3291593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94"/>
          <p:cNvSpPr txBox="1"/>
          <p:nvPr/>
        </p:nvSpPr>
        <p:spPr>
          <a:xfrm>
            <a:off x="5409137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94"/>
          <p:cNvSpPr txBox="1"/>
          <p:nvPr/>
        </p:nvSpPr>
        <p:spPr>
          <a:xfrm>
            <a:off x="7526680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6" name="Google Shape;144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7760" y="1293295"/>
            <a:ext cx="1300866" cy="2180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352067"/>
            <a:ext cx="1219603" cy="201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0592" y="1344929"/>
            <a:ext cx="1221499" cy="2019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9" name="Google Shape;1449;p94"/>
          <p:cNvGrpSpPr/>
          <p:nvPr/>
        </p:nvGrpSpPr>
        <p:grpSpPr>
          <a:xfrm>
            <a:off x="6844855" y="3719172"/>
            <a:ext cx="1599662" cy="755449"/>
            <a:chOff x="441900" y="3572013"/>
            <a:chExt cx="3074500" cy="1357500"/>
          </a:xfrm>
        </p:grpSpPr>
        <p:cxnSp>
          <p:nvCxnSpPr>
            <p:cNvPr id="1450" name="Google Shape;1450;p94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1" name="Google Shape;1451;p94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52" name="Google Shape;1452;p94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53" name="Google Shape;1453;p94"/>
          <p:cNvSpPr txBox="1"/>
          <p:nvPr/>
        </p:nvSpPr>
        <p:spPr>
          <a:xfrm>
            <a:off x="1925450" y="29900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4" name="Google Shape;1454;p94"/>
          <p:cNvSpPr txBox="1"/>
          <p:nvPr/>
        </p:nvSpPr>
        <p:spPr>
          <a:xfrm>
            <a:off x="830620" y="95282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5" name="Google Shape;1455;p94"/>
          <p:cNvSpPr txBox="1"/>
          <p:nvPr/>
        </p:nvSpPr>
        <p:spPr>
          <a:xfrm>
            <a:off x="4031020" y="296994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6" name="Google Shape;1456;p94"/>
          <p:cNvSpPr txBox="1"/>
          <p:nvPr/>
        </p:nvSpPr>
        <p:spPr>
          <a:xfrm>
            <a:off x="2936190" y="9326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7" name="Google Shape;1457;p94"/>
          <p:cNvSpPr txBox="1"/>
          <p:nvPr/>
        </p:nvSpPr>
        <p:spPr>
          <a:xfrm>
            <a:off x="6088420" y="296994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8" name="Google Shape;1458;p94"/>
          <p:cNvSpPr txBox="1"/>
          <p:nvPr/>
        </p:nvSpPr>
        <p:spPr>
          <a:xfrm>
            <a:off x="4993590" y="9326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9" name="Google Shape;1459;p94"/>
          <p:cNvSpPr txBox="1"/>
          <p:nvPr/>
        </p:nvSpPr>
        <p:spPr>
          <a:xfrm>
            <a:off x="8312235" y="30181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0" name="Google Shape;1460;p94"/>
          <p:cNvSpPr txBox="1"/>
          <p:nvPr/>
        </p:nvSpPr>
        <p:spPr>
          <a:xfrm>
            <a:off x="7079020" y="90465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1" name="Google Shape;1461;p94"/>
          <p:cNvSpPr txBox="1"/>
          <p:nvPr/>
        </p:nvSpPr>
        <p:spPr>
          <a:xfrm>
            <a:off x="83884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2" name="Google Shape;1462;p94"/>
          <p:cNvSpPr txBox="1"/>
          <p:nvPr/>
        </p:nvSpPr>
        <p:spPr>
          <a:xfrm>
            <a:off x="8388435" y="4008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63" name="Google Shape;1463;p94"/>
          <p:cNvGrpSpPr/>
          <p:nvPr/>
        </p:nvGrpSpPr>
        <p:grpSpPr>
          <a:xfrm>
            <a:off x="4787455" y="3719172"/>
            <a:ext cx="1599662" cy="755449"/>
            <a:chOff x="441900" y="3572013"/>
            <a:chExt cx="3074500" cy="1357500"/>
          </a:xfrm>
        </p:grpSpPr>
        <p:cxnSp>
          <p:nvCxnSpPr>
            <p:cNvPr id="1464" name="Google Shape;1464;p94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94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6" name="Google Shape;1466;p94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67" name="Google Shape;1467;p94"/>
          <p:cNvSpPr txBox="1"/>
          <p:nvPr/>
        </p:nvSpPr>
        <p:spPr>
          <a:xfrm>
            <a:off x="63310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8" name="Google Shape;1468;p94"/>
          <p:cNvSpPr txBox="1"/>
          <p:nvPr/>
        </p:nvSpPr>
        <p:spPr>
          <a:xfrm>
            <a:off x="6331035" y="4008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69" name="Google Shape;1469;p94"/>
          <p:cNvGrpSpPr/>
          <p:nvPr/>
        </p:nvGrpSpPr>
        <p:grpSpPr>
          <a:xfrm>
            <a:off x="2653855" y="3719172"/>
            <a:ext cx="1599662" cy="755449"/>
            <a:chOff x="441900" y="3572013"/>
            <a:chExt cx="3074500" cy="1357500"/>
          </a:xfrm>
        </p:grpSpPr>
        <p:cxnSp>
          <p:nvCxnSpPr>
            <p:cNvPr id="1470" name="Google Shape;1470;p94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1" name="Google Shape;1471;p94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2" name="Google Shape;1472;p94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73" name="Google Shape;1473;p94"/>
          <p:cNvSpPr txBox="1"/>
          <p:nvPr/>
        </p:nvSpPr>
        <p:spPr>
          <a:xfrm>
            <a:off x="41974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94"/>
          <p:cNvSpPr txBox="1"/>
          <p:nvPr/>
        </p:nvSpPr>
        <p:spPr>
          <a:xfrm>
            <a:off x="4197435" y="4008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75" name="Google Shape;1475;p94"/>
          <p:cNvGrpSpPr/>
          <p:nvPr/>
        </p:nvGrpSpPr>
        <p:grpSpPr>
          <a:xfrm>
            <a:off x="520255" y="3719172"/>
            <a:ext cx="1599662" cy="755449"/>
            <a:chOff x="441900" y="3572013"/>
            <a:chExt cx="3074500" cy="1357500"/>
          </a:xfrm>
        </p:grpSpPr>
        <p:cxnSp>
          <p:nvCxnSpPr>
            <p:cNvPr id="1476" name="Google Shape;1476;p94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7" name="Google Shape;1477;p94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8" name="Google Shape;1478;p94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79" name="Google Shape;1479;p94"/>
          <p:cNvSpPr txBox="1"/>
          <p:nvPr/>
        </p:nvSpPr>
        <p:spPr>
          <a:xfrm>
            <a:off x="20638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94"/>
          <p:cNvSpPr txBox="1"/>
          <p:nvPr/>
        </p:nvSpPr>
        <p:spPr>
          <a:xfrm>
            <a:off x="2063835" y="4008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81" name="Google Shape;1481;p94"/>
          <p:cNvCxnSpPr/>
          <p:nvPr/>
        </p:nvCxnSpPr>
        <p:spPr>
          <a:xfrm>
            <a:off x="10137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94"/>
          <p:cNvCxnSpPr/>
          <p:nvPr/>
        </p:nvCxnSpPr>
        <p:spPr>
          <a:xfrm>
            <a:off x="16995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94"/>
          <p:cNvCxnSpPr/>
          <p:nvPr/>
        </p:nvCxnSpPr>
        <p:spPr>
          <a:xfrm>
            <a:off x="28425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94"/>
          <p:cNvCxnSpPr/>
          <p:nvPr/>
        </p:nvCxnSpPr>
        <p:spPr>
          <a:xfrm>
            <a:off x="3833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94"/>
          <p:cNvCxnSpPr/>
          <p:nvPr/>
        </p:nvCxnSpPr>
        <p:spPr>
          <a:xfrm>
            <a:off x="5379055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94"/>
          <p:cNvCxnSpPr/>
          <p:nvPr/>
        </p:nvCxnSpPr>
        <p:spPr>
          <a:xfrm>
            <a:off x="59667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94"/>
          <p:cNvCxnSpPr/>
          <p:nvPr/>
        </p:nvCxnSpPr>
        <p:spPr>
          <a:xfrm>
            <a:off x="7262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8" name="Google Shape;1488;p94"/>
          <p:cNvCxnSpPr/>
          <p:nvPr/>
        </p:nvCxnSpPr>
        <p:spPr>
          <a:xfrm>
            <a:off x="7643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9" name="Google Shape;1489;p94"/>
          <p:cNvSpPr/>
          <p:nvPr/>
        </p:nvSpPr>
        <p:spPr>
          <a:xfrm>
            <a:off x="95365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4"/>
          <p:cNvSpPr/>
          <p:nvPr/>
        </p:nvSpPr>
        <p:spPr>
          <a:xfrm>
            <a:off x="163945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4"/>
          <p:cNvSpPr/>
          <p:nvPr/>
        </p:nvSpPr>
        <p:spPr>
          <a:xfrm>
            <a:off x="278245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4"/>
          <p:cNvSpPr/>
          <p:nvPr/>
        </p:nvSpPr>
        <p:spPr>
          <a:xfrm>
            <a:off x="375291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4"/>
          <p:cNvSpPr/>
          <p:nvPr/>
        </p:nvSpPr>
        <p:spPr>
          <a:xfrm>
            <a:off x="531283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4"/>
          <p:cNvSpPr/>
          <p:nvPr/>
        </p:nvSpPr>
        <p:spPr>
          <a:xfrm>
            <a:off x="5914540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4"/>
          <p:cNvSpPr/>
          <p:nvPr/>
        </p:nvSpPr>
        <p:spPr>
          <a:xfrm>
            <a:off x="7195925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4"/>
          <p:cNvSpPr/>
          <p:nvPr/>
        </p:nvSpPr>
        <p:spPr>
          <a:xfrm>
            <a:off x="7576925" y="3946299"/>
            <a:ext cx="120300" cy="3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4"/>
          <p:cNvSpPr txBox="1"/>
          <p:nvPr/>
        </p:nvSpPr>
        <p:spPr>
          <a:xfrm>
            <a:off x="8614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4"/>
          <p:cNvSpPr txBox="1"/>
          <p:nvPr/>
        </p:nvSpPr>
        <p:spPr>
          <a:xfrm>
            <a:off x="15472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4"/>
          <p:cNvSpPr txBox="1"/>
          <p:nvPr/>
        </p:nvSpPr>
        <p:spPr>
          <a:xfrm>
            <a:off x="861465" y="42988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4"/>
          <p:cNvSpPr txBox="1"/>
          <p:nvPr/>
        </p:nvSpPr>
        <p:spPr>
          <a:xfrm>
            <a:off x="1475683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4"/>
          <p:cNvSpPr txBox="1"/>
          <p:nvPr/>
        </p:nvSpPr>
        <p:spPr>
          <a:xfrm>
            <a:off x="26902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4"/>
          <p:cNvSpPr txBox="1"/>
          <p:nvPr/>
        </p:nvSpPr>
        <p:spPr>
          <a:xfrm>
            <a:off x="2564151" y="4298850"/>
            <a:ext cx="7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4"/>
          <p:cNvSpPr txBox="1"/>
          <p:nvPr/>
        </p:nvSpPr>
        <p:spPr>
          <a:xfrm>
            <a:off x="368875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4"/>
          <p:cNvSpPr txBox="1"/>
          <p:nvPr/>
        </p:nvSpPr>
        <p:spPr>
          <a:xfrm>
            <a:off x="3671689" y="4285450"/>
            <a:ext cx="6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4"/>
          <p:cNvSpPr txBox="1"/>
          <p:nvPr/>
        </p:nvSpPr>
        <p:spPr>
          <a:xfrm>
            <a:off x="5094738" y="34606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94"/>
          <p:cNvSpPr txBox="1"/>
          <p:nvPr/>
        </p:nvSpPr>
        <p:spPr>
          <a:xfrm>
            <a:off x="5056125" y="4298850"/>
            <a:ext cx="6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94"/>
          <p:cNvSpPr txBox="1"/>
          <p:nvPr/>
        </p:nvSpPr>
        <p:spPr>
          <a:xfrm>
            <a:off x="58144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94"/>
          <p:cNvSpPr txBox="1"/>
          <p:nvPr/>
        </p:nvSpPr>
        <p:spPr>
          <a:xfrm>
            <a:off x="5820580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94"/>
          <p:cNvSpPr txBox="1"/>
          <p:nvPr/>
        </p:nvSpPr>
        <p:spPr>
          <a:xfrm>
            <a:off x="71098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94"/>
          <p:cNvSpPr txBox="1"/>
          <p:nvPr/>
        </p:nvSpPr>
        <p:spPr>
          <a:xfrm>
            <a:off x="7109883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4"/>
          <p:cNvSpPr txBox="1"/>
          <p:nvPr/>
        </p:nvSpPr>
        <p:spPr>
          <a:xfrm>
            <a:off x="74908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4"/>
          <p:cNvSpPr txBox="1"/>
          <p:nvPr/>
        </p:nvSpPr>
        <p:spPr>
          <a:xfrm>
            <a:off x="7420808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3" name="Google Shape;1513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2500" y="1321050"/>
            <a:ext cx="1219600" cy="2051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75" y="1248525"/>
            <a:ext cx="8349126" cy="199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520" name="Google Shape;1520;p95"/>
          <p:cNvSpPr txBox="1"/>
          <p:nvPr>
            <p:ph idx="1" type="body"/>
          </p:nvPr>
        </p:nvSpPr>
        <p:spPr>
          <a:xfrm>
            <a:off x="324000" y="6831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  </a:t>
            </a:r>
            <a:r>
              <a:rPr lang="en-GB" sz="1900"/>
              <a:t>Match each table to the correct graph and fill in the missing values:</a:t>
            </a:r>
            <a:endParaRPr sz="1900"/>
          </a:p>
        </p:txBody>
      </p:sp>
      <p:sp>
        <p:nvSpPr>
          <p:cNvPr id="1521" name="Google Shape;1521;p95"/>
          <p:cNvSpPr txBox="1"/>
          <p:nvPr/>
        </p:nvSpPr>
        <p:spPr>
          <a:xfrm>
            <a:off x="11740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5"/>
          <p:cNvSpPr txBox="1"/>
          <p:nvPr/>
        </p:nvSpPr>
        <p:spPr>
          <a:xfrm>
            <a:off x="28504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5"/>
          <p:cNvSpPr txBox="1"/>
          <p:nvPr/>
        </p:nvSpPr>
        <p:spPr>
          <a:xfrm>
            <a:off x="49078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5"/>
          <p:cNvSpPr txBox="1"/>
          <p:nvPr/>
        </p:nvSpPr>
        <p:spPr>
          <a:xfrm>
            <a:off x="7422450" y="83103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25" name="Google Shape;1525;p95"/>
          <p:cNvGraphicFramePr/>
          <p:nvPr/>
        </p:nvGraphicFramePr>
        <p:xfrm>
          <a:off x="647700" y="329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7.5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6" name="Google Shape;1526;p95"/>
          <p:cNvGraphicFramePr/>
          <p:nvPr/>
        </p:nvGraphicFramePr>
        <p:xfrm>
          <a:off x="2715067" y="329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7" name="Google Shape;1527;p95"/>
          <p:cNvGraphicFramePr/>
          <p:nvPr/>
        </p:nvGraphicFramePr>
        <p:xfrm>
          <a:off x="6849800" y="332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8" name="Google Shape;1528;p95"/>
          <p:cNvGraphicFramePr/>
          <p:nvPr/>
        </p:nvGraphicFramePr>
        <p:xfrm>
          <a:off x="4782433" y="329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9" name="Google Shape;1529;p95"/>
          <p:cNvSpPr txBox="1"/>
          <p:nvPr/>
        </p:nvSpPr>
        <p:spPr>
          <a:xfrm>
            <a:off x="3289800" y="4446580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0" name="Google Shape;1530;p95"/>
          <p:cNvSpPr txBox="1"/>
          <p:nvPr/>
        </p:nvSpPr>
        <p:spPr>
          <a:xfrm>
            <a:off x="7365027" y="444055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1" name="Google Shape;1531;p95"/>
          <p:cNvSpPr txBox="1"/>
          <p:nvPr/>
        </p:nvSpPr>
        <p:spPr>
          <a:xfrm>
            <a:off x="1215450" y="442291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2" name="Google Shape;1532;p95"/>
          <p:cNvSpPr txBox="1"/>
          <p:nvPr/>
        </p:nvSpPr>
        <p:spPr>
          <a:xfrm>
            <a:off x="5302865" y="4426450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400" y="1439013"/>
            <a:ext cx="5111999" cy="32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graphicFrame>
        <p:nvGraphicFramePr>
          <p:cNvPr id="1539" name="Google Shape;1539;p96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0" name="Google Shape;1540;p96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463" y="1471925"/>
            <a:ext cx="5022000" cy="3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graphicFrame>
        <p:nvGraphicFramePr>
          <p:cNvPr id="1547" name="Google Shape;1547;p97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8" name="Google Shape;1548;p97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3" name="Google Shape;155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800" y="1501538"/>
            <a:ext cx="5241599" cy="333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graphicFrame>
        <p:nvGraphicFramePr>
          <p:cNvPr id="1555" name="Google Shape;1555;p98"/>
          <p:cNvGraphicFramePr/>
          <p:nvPr/>
        </p:nvGraphicFramePr>
        <p:xfrm>
          <a:off x="8763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{0F31C29A-37BE-461B-862E-475533172313}</a:tableStyleId>
              </a:tblPr>
              <a:tblGrid>
                <a:gridCol w="721950"/>
                <a:gridCol w="721950"/>
              </a:tblGrid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6" name="Google Shape;1556;p98"/>
          <p:cNvSpPr txBox="1"/>
          <p:nvPr>
            <p:ph idx="1" type="body"/>
          </p:nvPr>
        </p:nvSpPr>
        <p:spPr>
          <a:xfrm>
            <a:off x="324000" y="606900"/>
            <a:ext cx="84960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 The following all have a </a:t>
            </a:r>
            <a:r>
              <a:rPr b="1" lang="en-GB"/>
              <a:t>directly proportional</a:t>
            </a:r>
            <a:r>
              <a:rPr lang="en-GB"/>
              <a:t> relationship.  Plot a graph of each.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Google Shape;15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0" y="1303200"/>
            <a:ext cx="7523999" cy="21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99"/>
          <p:cNvSpPr txBox="1"/>
          <p:nvPr/>
        </p:nvSpPr>
        <p:spPr>
          <a:xfrm>
            <a:off x="5814483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9"/>
          <p:cNvSpPr txBox="1"/>
          <p:nvPr/>
        </p:nvSpPr>
        <p:spPr>
          <a:xfrm>
            <a:off x="71098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  Match each double number line to the correct graph:</a:t>
            </a:r>
            <a:endParaRPr/>
          </a:p>
        </p:txBody>
      </p:sp>
      <p:sp>
        <p:nvSpPr>
          <p:cNvPr id="1565" name="Google Shape;1565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proportional relationships</a:t>
            </a:r>
            <a:endParaRPr/>
          </a:p>
        </p:txBody>
      </p:sp>
      <p:sp>
        <p:nvSpPr>
          <p:cNvPr id="1566" name="Google Shape;1566;p99"/>
          <p:cNvSpPr txBox="1"/>
          <p:nvPr/>
        </p:nvSpPr>
        <p:spPr>
          <a:xfrm>
            <a:off x="1174050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9"/>
          <p:cNvSpPr txBox="1"/>
          <p:nvPr/>
        </p:nvSpPr>
        <p:spPr>
          <a:xfrm>
            <a:off x="3291593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9"/>
          <p:cNvSpPr txBox="1"/>
          <p:nvPr/>
        </p:nvSpPr>
        <p:spPr>
          <a:xfrm>
            <a:off x="5409137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9"/>
          <p:cNvSpPr txBox="1"/>
          <p:nvPr/>
        </p:nvSpPr>
        <p:spPr>
          <a:xfrm>
            <a:off x="7526680" y="899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0" name="Google Shape;1570;p99"/>
          <p:cNvGrpSpPr/>
          <p:nvPr/>
        </p:nvGrpSpPr>
        <p:grpSpPr>
          <a:xfrm>
            <a:off x="6844855" y="3719172"/>
            <a:ext cx="1599662" cy="755449"/>
            <a:chOff x="441900" y="3572013"/>
            <a:chExt cx="3074500" cy="1357500"/>
          </a:xfrm>
        </p:grpSpPr>
        <p:cxnSp>
          <p:nvCxnSpPr>
            <p:cNvPr id="1571" name="Google Shape;1571;p9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2" name="Google Shape;1572;p9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3" name="Google Shape;1573;p9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74" name="Google Shape;1574;p99"/>
          <p:cNvSpPr txBox="1"/>
          <p:nvPr/>
        </p:nvSpPr>
        <p:spPr>
          <a:xfrm>
            <a:off x="1925450" y="29900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5" name="Google Shape;1575;p99"/>
          <p:cNvSpPr txBox="1"/>
          <p:nvPr/>
        </p:nvSpPr>
        <p:spPr>
          <a:xfrm>
            <a:off x="830620" y="95282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6" name="Google Shape;1576;p99"/>
          <p:cNvSpPr txBox="1"/>
          <p:nvPr/>
        </p:nvSpPr>
        <p:spPr>
          <a:xfrm>
            <a:off x="4031020" y="296994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7" name="Google Shape;1577;p99"/>
          <p:cNvSpPr txBox="1"/>
          <p:nvPr/>
        </p:nvSpPr>
        <p:spPr>
          <a:xfrm>
            <a:off x="2936190" y="9326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8" name="Google Shape;1578;p99"/>
          <p:cNvSpPr txBox="1"/>
          <p:nvPr/>
        </p:nvSpPr>
        <p:spPr>
          <a:xfrm>
            <a:off x="6088420" y="296994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9" name="Google Shape;1579;p99"/>
          <p:cNvSpPr txBox="1"/>
          <p:nvPr/>
        </p:nvSpPr>
        <p:spPr>
          <a:xfrm>
            <a:off x="4993590" y="93268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0" name="Google Shape;1580;p99"/>
          <p:cNvSpPr txBox="1"/>
          <p:nvPr/>
        </p:nvSpPr>
        <p:spPr>
          <a:xfrm>
            <a:off x="8312235" y="30181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1" name="Google Shape;1581;p99"/>
          <p:cNvSpPr txBox="1"/>
          <p:nvPr/>
        </p:nvSpPr>
        <p:spPr>
          <a:xfrm>
            <a:off x="7079020" y="90465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2" name="Google Shape;1582;p99"/>
          <p:cNvSpPr txBox="1"/>
          <p:nvPr/>
        </p:nvSpPr>
        <p:spPr>
          <a:xfrm>
            <a:off x="83884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3" name="Google Shape;1583;p99"/>
          <p:cNvSpPr txBox="1"/>
          <p:nvPr/>
        </p:nvSpPr>
        <p:spPr>
          <a:xfrm>
            <a:off x="8393760" y="39973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4" name="Google Shape;1584;p99"/>
          <p:cNvGrpSpPr/>
          <p:nvPr/>
        </p:nvGrpSpPr>
        <p:grpSpPr>
          <a:xfrm>
            <a:off x="4787455" y="3719172"/>
            <a:ext cx="1599662" cy="755449"/>
            <a:chOff x="441900" y="3572013"/>
            <a:chExt cx="3074500" cy="1357500"/>
          </a:xfrm>
        </p:grpSpPr>
        <p:cxnSp>
          <p:nvCxnSpPr>
            <p:cNvPr id="1585" name="Google Shape;1585;p9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9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7" name="Google Shape;1587;p9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88" name="Google Shape;1588;p99"/>
          <p:cNvSpPr txBox="1"/>
          <p:nvPr/>
        </p:nvSpPr>
        <p:spPr>
          <a:xfrm>
            <a:off x="63310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99"/>
          <p:cNvSpPr txBox="1"/>
          <p:nvPr/>
        </p:nvSpPr>
        <p:spPr>
          <a:xfrm>
            <a:off x="6336360" y="39973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90" name="Google Shape;1590;p99"/>
          <p:cNvGrpSpPr/>
          <p:nvPr/>
        </p:nvGrpSpPr>
        <p:grpSpPr>
          <a:xfrm>
            <a:off x="2653855" y="3719172"/>
            <a:ext cx="1599662" cy="755449"/>
            <a:chOff x="441900" y="3572013"/>
            <a:chExt cx="3074500" cy="1357500"/>
          </a:xfrm>
        </p:grpSpPr>
        <p:cxnSp>
          <p:nvCxnSpPr>
            <p:cNvPr id="1591" name="Google Shape;1591;p9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9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3" name="Google Shape;1593;p9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94" name="Google Shape;1594;p99"/>
          <p:cNvSpPr txBox="1"/>
          <p:nvPr/>
        </p:nvSpPr>
        <p:spPr>
          <a:xfrm>
            <a:off x="41974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5" name="Google Shape;1595;p99"/>
          <p:cNvSpPr txBox="1"/>
          <p:nvPr/>
        </p:nvSpPr>
        <p:spPr>
          <a:xfrm>
            <a:off x="4202760" y="39973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96" name="Google Shape;1596;p99"/>
          <p:cNvGrpSpPr/>
          <p:nvPr/>
        </p:nvGrpSpPr>
        <p:grpSpPr>
          <a:xfrm>
            <a:off x="520255" y="3719172"/>
            <a:ext cx="1599662" cy="755449"/>
            <a:chOff x="441900" y="3572013"/>
            <a:chExt cx="3074500" cy="1357500"/>
          </a:xfrm>
        </p:grpSpPr>
        <p:cxnSp>
          <p:nvCxnSpPr>
            <p:cNvPr id="1597" name="Google Shape;1597;p99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8" name="Google Shape;1598;p99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9" name="Google Shape;1599;p99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00" name="Google Shape;1600;p99"/>
          <p:cNvSpPr txBox="1"/>
          <p:nvPr/>
        </p:nvSpPr>
        <p:spPr>
          <a:xfrm>
            <a:off x="2063835" y="36277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1" name="Google Shape;1601;p99"/>
          <p:cNvSpPr txBox="1"/>
          <p:nvPr/>
        </p:nvSpPr>
        <p:spPr>
          <a:xfrm>
            <a:off x="2069160" y="3997310"/>
            <a:ext cx="4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2" name="Google Shape;1602;p99"/>
          <p:cNvCxnSpPr/>
          <p:nvPr/>
        </p:nvCxnSpPr>
        <p:spPr>
          <a:xfrm>
            <a:off x="10137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99"/>
          <p:cNvCxnSpPr/>
          <p:nvPr/>
        </p:nvCxnSpPr>
        <p:spPr>
          <a:xfrm>
            <a:off x="16995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99"/>
          <p:cNvCxnSpPr/>
          <p:nvPr/>
        </p:nvCxnSpPr>
        <p:spPr>
          <a:xfrm>
            <a:off x="28425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5" name="Google Shape;1605;p99"/>
          <p:cNvCxnSpPr/>
          <p:nvPr/>
        </p:nvCxnSpPr>
        <p:spPr>
          <a:xfrm>
            <a:off x="3833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99"/>
          <p:cNvCxnSpPr/>
          <p:nvPr/>
        </p:nvCxnSpPr>
        <p:spPr>
          <a:xfrm>
            <a:off x="5379055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7" name="Google Shape;1607;p99"/>
          <p:cNvCxnSpPr/>
          <p:nvPr/>
        </p:nvCxnSpPr>
        <p:spPr>
          <a:xfrm>
            <a:off x="59667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99"/>
          <p:cNvCxnSpPr/>
          <p:nvPr/>
        </p:nvCxnSpPr>
        <p:spPr>
          <a:xfrm>
            <a:off x="7262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9" name="Google Shape;1609;p99"/>
          <p:cNvCxnSpPr/>
          <p:nvPr/>
        </p:nvCxnSpPr>
        <p:spPr>
          <a:xfrm>
            <a:off x="7643150" y="3835425"/>
            <a:ext cx="0" cy="54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99"/>
          <p:cNvSpPr/>
          <p:nvPr/>
        </p:nvSpPr>
        <p:spPr>
          <a:xfrm>
            <a:off x="95365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99"/>
          <p:cNvSpPr/>
          <p:nvPr/>
        </p:nvSpPr>
        <p:spPr>
          <a:xfrm>
            <a:off x="163945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99"/>
          <p:cNvSpPr/>
          <p:nvPr/>
        </p:nvSpPr>
        <p:spPr>
          <a:xfrm>
            <a:off x="278245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99"/>
          <p:cNvSpPr/>
          <p:nvPr/>
        </p:nvSpPr>
        <p:spPr>
          <a:xfrm>
            <a:off x="375291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9"/>
          <p:cNvSpPr/>
          <p:nvPr/>
        </p:nvSpPr>
        <p:spPr>
          <a:xfrm>
            <a:off x="531283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9"/>
          <p:cNvSpPr/>
          <p:nvPr/>
        </p:nvSpPr>
        <p:spPr>
          <a:xfrm>
            <a:off x="5914540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9"/>
          <p:cNvSpPr/>
          <p:nvPr/>
        </p:nvSpPr>
        <p:spPr>
          <a:xfrm>
            <a:off x="7195925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9"/>
          <p:cNvSpPr/>
          <p:nvPr/>
        </p:nvSpPr>
        <p:spPr>
          <a:xfrm>
            <a:off x="7576925" y="3946299"/>
            <a:ext cx="120300" cy="3039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rgbClr val="E6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9"/>
          <p:cNvSpPr txBox="1"/>
          <p:nvPr/>
        </p:nvSpPr>
        <p:spPr>
          <a:xfrm>
            <a:off x="8614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9"/>
          <p:cNvSpPr txBox="1"/>
          <p:nvPr/>
        </p:nvSpPr>
        <p:spPr>
          <a:xfrm>
            <a:off x="15472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9"/>
          <p:cNvSpPr txBox="1"/>
          <p:nvPr/>
        </p:nvSpPr>
        <p:spPr>
          <a:xfrm>
            <a:off x="861465" y="42988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9"/>
          <p:cNvSpPr txBox="1"/>
          <p:nvPr/>
        </p:nvSpPr>
        <p:spPr>
          <a:xfrm>
            <a:off x="1491223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9"/>
          <p:cNvSpPr txBox="1"/>
          <p:nvPr/>
        </p:nvSpPr>
        <p:spPr>
          <a:xfrm>
            <a:off x="26902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9"/>
          <p:cNvSpPr txBox="1"/>
          <p:nvPr/>
        </p:nvSpPr>
        <p:spPr>
          <a:xfrm>
            <a:off x="2564151" y="4298850"/>
            <a:ext cx="7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9"/>
          <p:cNvSpPr txBox="1"/>
          <p:nvPr/>
        </p:nvSpPr>
        <p:spPr>
          <a:xfrm>
            <a:off x="368875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99"/>
          <p:cNvSpPr txBox="1"/>
          <p:nvPr/>
        </p:nvSpPr>
        <p:spPr>
          <a:xfrm>
            <a:off x="3699802" y="4298850"/>
            <a:ext cx="6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9"/>
          <p:cNvSpPr txBox="1"/>
          <p:nvPr/>
        </p:nvSpPr>
        <p:spPr>
          <a:xfrm>
            <a:off x="5094738" y="34606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9"/>
          <p:cNvSpPr txBox="1"/>
          <p:nvPr/>
        </p:nvSpPr>
        <p:spPr>
          <a:xfrm>
            <a:off x="5056125" y="4298850"/>
            <a:ext cx="6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9"/>
          <p:cNvSpPr txBox="1"/>
          <p:nvPr/>
        </p:nvSpPr>
        <p:spPr>
          <a:xfrm>
            <a:off x="58144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9"/>
          <p:cNvSpPr txBox="1"/>
          <p:nvPr/>
        </p:nvSpPr>
        <p:spPr>
          <a:xfrm>
            <a:off x="7109883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9"/>
          <p:cNvSpPr txBox="1"/>
          <p:nvPr/>
        </p:nvSpPr>
        <p:spPr>
          <a:xfrm>
            <a:off x="7490865" y="3460660"/>
            <a:ext cx="3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9"/>
          <p:cNvSpPr txBox="1"/>
          <p:nvPr/>
        </p:nvSpPr>
        <p:spPr>
          <a:xfrm>
            <a:off x="7420808" y="4298850"/>
            <a:ext cx="5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9"/>
          <p:cNvSpPr txBox="1"/>
          <p:nvPr/>
        </p:nvSpPr>
        <p:spPr>
          <a:xfrm>
            <a:off x="3289800" y="3836980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3" name="Google Shape;1633;p99"/>
          <p:cNvSpPr txBox="1"/>
          <p:nvPr/>
        </p:nvSpPr>
        <p:spPr>
          <a:xfrm>
            <a:off x="7365027" y="383095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99"/>
          <p:cNvSpPr txBox="1"/>
          <p:nvPr/>
        </p:nvSpPr>
        <p:spPr>
          <a:xfrm>
            <a:off x="1215450" y="3841345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5" name="Google Shape;1635;p99"/>
          <p:cNvSpPr txBox="1"/>
          <p:nvPr/>
        </p:nvSpPr>
        <p:spPr>
          <a:xfrm>
            <a:off x="5302865" y="3844880"/>
            <a:ext cx="30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00"/>
          <p:cNvSpPr txBox="1"/>
          <p:nvPr>
            <p:ph idx="1" type="body"/>
          </p:nvPr>
        </p:nvSpPr>
        <p:spPr>
          <a:xfrm>
            <a:off x="324000" y="7752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If two variables have a constant multiplicative relationship, they are in </a:t>
            </a:r>
            <a:r>
              <a:rPr b="1" lang="en-GB" sz="2100"/>
              <a:t>direct proportion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E.g.	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converting between units of measurement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recipes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converting between units of currency</a:t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buying different amounts of an item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Variables which are </a:t>
            </a:r>
            <a:r>
              <a:rPr b="1" lang="en-GB" sz="2100"/>
              <a:t>directly proportional</a:t>
            </a:r>
            <a:r>
              <a:rPr lang="en-GB" sz="2100"/>
              <a:t> can be represented on a double number line, in a ratio table and on a graph.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</p:txBody>
      </p:sp>
      <p:sp>
        <p:nvSpPr>
          <p:cNvPr id="1641" name="Google Shape;1641;p100"/>
          <p:cNvSpPr txBox="1"/>
          <p:nvPr>
            <p:ph type="title"/>
          </p:nvPr>
        </p:nvSpPr>
        <p:spPr>
          <a:xfrm>
            <a:off x="1684800" y="43825"/>
            <a:ext cx="67530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and direct proportion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47" name="Google Shape;1647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