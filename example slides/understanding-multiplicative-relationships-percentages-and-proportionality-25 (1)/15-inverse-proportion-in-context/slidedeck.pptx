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170905-32B1-49E5-8DCE-2FCF886A4B12}">
  <a:tblStyle styleId="{AC170905-32B1-49E5-8DCE-2FCF886A4B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0f802cc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0f802cc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b0f802cc0f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b0f802cc0f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b0f802cc0f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0f802cc0f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b56a7e4ca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b56a7e4ca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b56a7e4ca3_2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b56a7e4ca3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b56a7e4ca3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b56a7e4ca3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b56a7e4ca3_2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b56a7e4ca3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b56a7e4ca3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b56a7e4ca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b56a7e4ca3_3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b56a7e4ca3_3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b4fedc2d4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b4fedc2d4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b0f802cc0f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b0f802cc0f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b4fedc2d4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b4fedc2d4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b4fedc2d4f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b4fedc2d4f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b4fedc2d4f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b4fedc2d4f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b4fedc2d4f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b4fedc2d4f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b4fedc2d4f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b4fedc2d4f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b0f802cc0f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b0f802cc0f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b0f802cc0f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b0f802cc0f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8ebc853f5e_2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8ebc853f5e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8ebc853f5e_2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8ebc853f5e_2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8ebc853f5e_2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8ebc853f5e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8ebc853f5e_2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8ebc853f5e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8ebc853f5e_2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8ebc853f5e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8ebc853f5e_2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8ebc853f5e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28ebc853f5e_2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28ebc853f5e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b0f802cc0f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b0f802cc0f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b56a7e4ca3_5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b56a7e4ca3_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b56a7e4ca3_5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2b56a7e4ca3_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b56a7e4ca3_5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b56a7e4ca3_5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af89ab966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af89ab966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b0f802cc0f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b0f802cc0f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8ebc853f5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8ebc853f5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8ebc853f5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8ebc853f5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28ebc853f5e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28ebc853f5e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8ebc853f5e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8ebc853f5e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2b56a7e4ca3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2b56a7e4ca3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2b5e05d49a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2b5e05d49a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2b56a7e4ca3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2b56a7e4ca3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2b56a7e4ca3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2b56a7e4ca3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b5e05d49a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b5e05d49a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6.png"/><Relationship Id="rId4" Type="http://schemas.openxmlformats.org/officeDocument/2006/relationships/image" Target="../media/image76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76.png"/><Relationship Id="rId4" Type="http://schemas.openxmlformats.org/officeDocument/2006/relationships/image" Target="../media/image16.png"/><Relationship Id="rId9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76.png"/><Relationship Id="rId4" Type="http://schemas.openxmlformats.org/officeDocument/2006/relationships/image" Target="../media/image34.png"/><Relationship Id="rId11" Type="http://schemas.openxmlformats.org/officeDocument/2006/relationships/image" Target="../media/image15.png"/><Relationship Id="rId10" Type="http://schemas.openxmlformats.org/officeDocument/2006/relationships/image" Target="../media/image38.png"/><Relationship Id="rId9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5.png"/><Relationship Id="rId4" Type="http://schemas.openxmlformats.org/officeDocument/2006/relationships/image" Target="../media/image67.png"/><Relationship Id="rId5" Type="http://schemas.openxmlformats.org/officeDocument/2006/relationships/image" Target="../media/image69.png"/><Relationship Id="rId6" Type="http://schemas.openxmlformats.org/officeDocument/2006/relationships/image" Target="../media/image68.png"/><Relationship Id="rId7" Type="http://schemas.openxmlformats.org/officeDocument/2006/relationships/image" Target="../media/image66.png"/><Relationship Id="rId8" Type="http://schemas.openxmlformats.org/officeDocument/2006/relationships/image" Target="../media/image6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5.png"/><Relationship Id="rId4" Type="http://schemas.openxmlformats.org/officeDocument/2006/relationships/image" Target="../media/image67.png"/><Relationship Id="rId5" Type="http://schemas.openxmlformats.org/officeDocument/2006/relationships/image" Target="../media/image69.png"/><Relationship Id="rId6" Type="http://schemas.openxmlformats.org/officeDocument/2006/relationships/image" Target="../media/image68.png"/><Relationship Id="rId7" Type="http://schemas.openxmlformats.org/officeDocument/2006/relationships/image" Target="../media/image66.png"/><Relationship Id="rId8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7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proportion in context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inverse proportion graphically and use inverse proportionality in a range of contexts.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Two variables are inversely proportional if there is a constant multiplicative relationship between one variable and the reciprocal of the other. </a:t>
            </a:r>
            <a:endParaRPr b="0"/>
          </a:p>
        </p:txBody>
      </p:sp>
      <p:sp>
        <p:nvSpPr>
          <p:cNvPr id="771" name="Google Shape;771;p66"/>
          <p:cNvSpPr txBox="1"/>
          <p:nvPr>
            <p:ph idx="1" type="subTitle"/>
          </p:nvPr>
        </p:nvSpPr>
        <p:spPr>
          <a:xfrm>
            <a:off x="306950" y="24366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</a:t>
            </a:r>
            <a:r>
              <a:rPr lang="en-GB"/>
              <a:t> of inverse proportion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proportion in context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759300"/>
            <a:ext cx="8237700" cy="12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takes 3 people 2 days to paint a fence.  How long will it take 6 people?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2975" y="33980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82" y="34903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8"/>
          <p:cNvSpPr txBox="1"/>
          <p:nvPr/>
        </p:nvSpPr>
        <p:spPr>
          <a:xfrm>
            <a:off x="758745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 txBox="1"/>
          <p:nvPr/>
        </p:nvSpPr>
        <p:spPr>
          <a:xfrm>
            <a:off x="32400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0" name="Google Shape;790;p68"/>
          <p:cNvGrpSpPr/>
          <p:nvPr/>
        </p:nvGrpSpPr>
        <p:grpSpPr>
          <a:xfrm>
            <a:off x="4657583" y="2813550"/>
            <a:ext cx="2779976" cy="1316250"/>
            <a:chOff x="5482573" y="2813550"/>
            <a:chExt cx="1955251" cy="1316250"/>
          </a:xfrm>
        </p:grpSpPr>
        <p:pic>
          <p:nvPicPr>
            <p:cNvPr id="791" name="Google Shape;791;p6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482573" y="2813550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68"/>
            <p:cNvSpPr txBox="1"/>
            <p:nvPr/>
          </p:nvSpPr>
          <p:spPr>
            <a:xfrm>
              <a:off x="5642921" y="3039157"/>
              <a:ext cx="1621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How can the job take longer if more people are doing it?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3" name="Google Shape;793;p68"/>
          <p:cNvGrpSpPr/>
          <p:nvPr/>
        </p:nvGrpSpPr>
        <p:grpSpPr>
          <a:xfrm>
            <a:off x="756577" y="1614150"/>
            <a:ext cx="2321843" cy="1892100"/>
            <a:chOff x="1226704" y="2248975"/>
            <a:chExt cx="1955236" cy="1892100"/>
          </a:xfrm>
        </p:grpSpPr>
        <p:pic>
          <p:nvPicPr>
            <p:cNvPr id="794" name="Google Shape;794;p6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704" y="2248975"/>
              <a:ext cx="1955236" cy="189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5" name="Google Shape;795;p68"/>
            <p:cNvSpPr txBox="1"/>
            <p:nvPr/>
          </p:nvSpPr>
          <p:spPr>
            <a:xfrm>
              <a:off x="1425425" y="2573875"/>
              <a:ext cx="1677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you double the number of people then you will double the time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6" name="Google Shape;796;p68"/>
          <p:cNvSpPr txBox="1"/>
          <p:nvPr/>
        </p:nvSpPr>
        <p:spPr>
          <a:xfrm>
            <a:off x="3369600" y="1821300"/>
            <a:ext cx="53103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 you agree with Sam?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Izzy doesn’t think that Sam is right.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802" name="Google Shape;802;p69"/>
          <p:cNvSpPr txBox="1"/>
          <p:nvPr>
            <p:ph idx="1" type="body"/>
          </p:nvPr>
        </p:nvSpPr>
        <p:spPr>
          <a:xfrm>
            <a:off x="324000" y="606900"/>
            <a:ext cx="8237700" cy="9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take a look a slightly easier problem.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</a:t>
            </a:r>
            <a:r>
              <a:rPr lang="en-GB"/>
              <a:t>t takes 1 person 6 days to paint this fence.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69"/>
          <p:cNvSpPr txBox="1"/>
          <p:nvPr>
            <p:ph idx="1" type="body"/>
          </p:nvPr>
        </p:nvSpPr>
        <p:spPr>
          <a:xfrm>
            <a:off x="417750" y="3014325"/>
            <a:ext cx="84024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long will it take 2 people?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We will start by thinking about how many panels 1 person can paint in a day.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6 panels </a:t>
            </a:r>
            <a:r>
              <a:rPr lang="en-GB"/>
              <a:t>÷ 6 days = 1 panel per day</a:t>
            </a:r>
            <a:endParaRPr/>
          </a:p>
        </p:txBody>
      </p:sp>
      <p:sp>
        <p:nvSpPr>
          <p:cNvPr id="804" name="Google Shape;804;p69"/>
          <p:cNvSpPr/>
          <p:nvPr/>
        </p:nvSpPr>
        <p:spPr>
          <a:xfrm rot="10800000">
            <a:off x="1826434" y="1602121"/>
            <a:ext cx="915516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/>
          <p:nvPr/>
        </p:nvSpPr>
        <p:spPr>
          <a:xfrm flipH="1" rot="10800000">
            <a:off x="2741950" y="1602121"/>
            <a:ext cx="901530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/>
          <p:nvPr/>
        </p:nvSpPr>
        <p:spPr>
          <a:xfrm rot="10800000">
            <a:off x="3642058" y="1602121"/>
            <a:ext cx="915516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9"/>
          <p:cNvSpPr/>
          <p:nvPr/>
        </p:nvSpPr>
        <p:spPr>
          <a:xfrm flipH="1" rot="10800000">
            <a:off x="4557574" y="1602121"/>
            <a:ext cx="901530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9"/>
          <p:cNvSpPr/>
          <p:nvPr/>
        </p:nvSpPr>
        <p:spPr>
          <a:xfrm rot="10800000">
            <a:off x="5470858" y="1602121"/>
            <a:ext cx="915516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9"/>
          <p:cNvSpPr/>
          <p:nvPr/>
        </p:nvSpPr>
        <p:spPr>
          <a:xfrm flipH="1" rot="10800000">
            <a:off x="6386374" y="1602121"/>
            <a:ext cx="901530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815" name="Google Shape;815;p70"/>
          <p:cNvSpPr txBox="1"/>
          <p:nvPr>
            <p:ph idx="1" type="body"/>
          </p:nvPr>
        </p:nvSpPr>
        <p:spPr>
          <a:xfrm>
            <a:off x="324000" y="606900"/>
            <a:ext cx="8237700" cy="9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take a look a slightly easier problem.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takes 1 person 6 days to paint this fence.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70"/>
          <p:cNvSpPr txBox="1"/>
          <p:nvPr>
            <p:ph idx="1" type="body"/>
          </p:nvPr>
        </p:nvSpPr>
        <p:spPr>
          <a:xfrm>
            <a:off x="417750" y="3014325"/>
            <a:ext cx="84024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see the difference between the 2 people we will use </a:t>
            </a:r>
            <a:r>
              <a:rPr lang="en-GB"/>
              <a:t>different</a:t>
            </a:r>
            <a:r>
              <a:rPr lang="en-GB"/>
              <a:t> shading.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Person 1 (shaded)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Person 2 (unshaded)</a:t>
            </a:r>
            <a:endParaRPr/>
          </a:p>
        </p:txBody>
      </p:sp>
      <p:sp>
        <p:nvSpPr>
          <p:cNvPr id="817" name="Google Shape;817;p70"/>
          <p:cNvSpPr/>
          <p:nvPr/>
        </p:nvSpPr>
        <p:spPr>
          <a:xfrm rot="10800000">
            <a:off x="1826434" y="1602121"/>
            <a:ext cx="915516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0"/>
          <p:cNvSpPr/>
          <p:nvPr/>
        </p:nvSpPr>
        <p:spPr>
          <a:xfrm flipH="1" rot="10800000">
            <a:off x="2741950" y="1602121"/>
            <a:ext cx="901530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 rot="10800000">
            <a:off x="3642058" y="1602121"/>
            <a:ext cx="915516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0"/>
          <p:cNvSpPr/>
          <p:nvPr/>
        </p:nvSpPr>
        <p:spPr>
          <a:xfrm flipH="1" rot="10800000">
            <a:off x="4557574" y="1602121"/>
            <a:ext cx="901530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 rot="10800000">
            <a:off x="5470858" y="1602121"/>
            <a:ext cx="915516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 flipH="1" rot="10800000">
            <a:off x="6386374" y="1602121"/>
            <a:ext cx="901530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 rot="10800000">
            <a:off x="1826434" y="1602121"/>
            <a:ext cx="915516" cy="1177254"/>
          </a:xfrm>
          <a:prstGeom prst="flowChartDocument">
            <a:avLst/>
          </a:prstGeom>
          <a:gradFill>
            <a:gsLst>
              <a:gs pos="0">
                <a:srgbClr val="A1A1A1"/>
              </a:gs>
              <a:gs pos="100000">
                <a:srgbClr val="606060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 flipH="1" rot="10800000">
            <a:off x="2741950" y="1602121"/>
            <a:ext cx="901530" cy="1177254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 rot="10800000">
            <a:off x="3642058" y="1602121"/>
            <a:ext cx="915516" cy="1177254"/>
          </a:xfrm>
          <a:prstGeom prst="flowChartDocument">
            <a:avLst/>
          </a:prstGeom>
          <a:gradFill>
            <a:gsLst>
              <a:gs pos="0">
                <a:srgbClr val="A1A1A1"/>
              </a:gs>
              <a:gs pos="100000">
                <a:srgbClr val="606060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 flipH="1" rot="10800000">
            <a:off x="4557574" y="1602121"/>
            <a:ext cx="901530" cy="1177254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0"/>
          <p:cNvSpPr/>
          <p:nvPr/>
        </p:nvSpPr>
        <p:spPr>
          <a:xfrm rot="10800000">
            <a:off x="5470858" y="1602121"/>
            <a:ext cx="915516" cy="1177254"/>
          </a:xfrm>
          <a:prstGeom prst="flowChartDocument">
            <a:avLst/>
          </a:prstGeom>
          <a:gradFill>
            <a:gsLst>
              <a:gs pos="0">
                <a:srgbClr val="A1A1A1"/>
              </a:gs>
              <a:gs pos="100000">
                <a:srgbClr val="606060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0"/>
          <p:cNvSpPr/>
          <p:nvPr/>
        </p:nvSpPr>
        <p:spPr>
          <a:xfrm flipH="1" rot="10800000">
            <a:off x="6386374" y="1602121"/>
            <a:ext cx="901530" cy="1177254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 txBox="1"/>
          <p:nvPr/>
        </p:nvSpPr>
        <p:spPr>
          <a:xfrm>
            <a:off x="18771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Day 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27915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Day 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0"/>
          <p:cNvSpPr txBox="1"/>
          <p:nvPr/>
        </p:nvSpPr>
        <p:spPr>
          <a:xfrm>
            <a:off x="37059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Day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 txBox="1"/>
          <p:nvPr/>
        </p:nvSpPr>
        <p:spPr>
          <a:xfrm>
            <a:off x="46203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Day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 txBox="1"/>
          <p:nvPr/>
        </p:nvSpPr>
        <p:spPr>
          <a:xfrm>
            <a:off x="55347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Day 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 txBox="1"/>
          <p:nvPr/>
        </p:nvSpPr>
        <p:spPr>
          <a:xfrm>
            <a:off x="64491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Day 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0"/>
          <p:cNvSpPr txBox="1"/>
          <p:nvPr/>
        </p:nvSpPr>
        <p:spPr>
          <a:xfrm>
            <a:off x="3369601" y="3768000"/>
            <a:ext cx="3797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It would take 2 people 3 days to paint the same fence.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324000" y="606900"/>
            <a:ext cx="8237700" cy="9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take a look a slightly easier problem.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takes 1 person 6 days to paint this fence.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71"/>
          <p:cNvSpPr txBox="1"/>
          <p:nvPr>
            <p:ph idx="1" type="body"/>
          </p:nvPr>
        </p:nvSpPr>
        <p:spPr>
          <a:xfrm>
            <a:off x="417750" y="3319125"/>
            <a:ext cx="84024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 1 (dark shading)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Person 2 (unshaded)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Person 3 (light shading)</a:t>
            </a:r>
            <a:endParaRPr/>
          </a:p>
        </p:txBody>
      </p:sp>
      <p:sp>
        <p:nvSpPr>
          <p:cNvPr id="843" name="Google Shape;843;p71"/>
          <p:cNvSpPr/>
          <p:nvPr/>
        </p:nvSpPr>
        <p:spPr>
          <a:xfrm rot="10800000">
            <a:off x="1826434" y="1602121"/>
            <a:ext cx="915516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1"/>
          <p:cNvSpPr/>
          <p:nvPr/>
        </p:nvSpPr>
        <p:spPr>
          <a:xfrm flipH="1" rot="10800000">
            <a:off x="2741950" y="1602121"/>
            <a:ext cx="901530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1"/>
          <p:cNvSpPr/>
          <p:nvPr/>
        </p:nvSpPr>
        <p:spPr>
          <a:xfrm rot="10800000">
            <a:off x="3642058" y="1602121"/>
            <a:ext cx="915516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1"/>
          <p:cNvSpPr/>
          <p:nvPr/>
        </p:nvSpPr>
        <p:spPr>
          <a:xfrm flipH="1" rot="10800000">
            <a:off x="4557574" y="1602121"/>
            <a:ext cx="901530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1"/>
          <p:cNvSpPr/>
          <p:nvPr/>
        </p:nvSpPr>
        <p:spPr>
          <a:xfrm rot="10800000">
            <a:off x="5470858" y="1602121"/>
            <a:ext cx="915516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1"/>
          <p:cNvSpPr/>
          <p:nvPr/>
        </p:nvSpPr>
        <p:spPr>
          <a:xfrm flipH="1" rot="10800000">
            <a:off x="6386374" y="1602121"/>
            <a:ext cx="901530" cy="1177254"/>
          </a:xfrm>
          <a:prstGeom prst="flowChartDocumen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1"/>
          <p:cNvSpPr/>
          <p:nvPr/>
        </p:nvSpPr>
        <p:spPr>
          <a:xfrm rot="10800000">
            <a:off x="1826434" y="1602121"/>
            <a:ext cx="915516" cy="1177254"/>
          </a:xfrm>
          <a:prstGeom prst="flowChartDocument">
            <a:avLst/>
          </a:prstGeom>
          <a:gradFill>
            <a:gsLst>
              <a:gs pos="0">
                <a:srgbClr val="A1A1A1"/>
              </a:gs>
              <a:gs pos="100000">
                <a:srgbClr val="606060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1"/>
          <p:cNvSpPr/>
          <p:nvPr/>
        </p:nvSpPr>
        <p:spPr>
          <a:xfrm flipH="1" rot="10800000">
            <a:off x="2741950" y="1602121"/>
            <a:ext cx="901530" cy="1177254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1"/>
          <p:cNvSpPr/>
          <p:nvPr/>
        </p:nvSpPr>
        <p:spPr>
          <a:xfrm rot="10800000">
            <a:off x="3642058" y="1602121"/>
            <a:ext cx="915516" cy="1177254"/>
          </a:xfrm>
          <a:prstGeom prst="flowChartDocument">
            <a:avLst/>
          </a:prstGeom>
          <a:solidFill>
            <a:srgbClr val="CFBBF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1"/>
          <p:cNvSpPr/>
          <p:nvPr/>
        </p:nvSpPr>
        <p:spPr>
          <a:xfrm flipH="1" rot="10800000">
            <a:off x="4557574" y="1602121"/>
            <a:ext cx="901530" cy="1177254"/>
          </a:xfrm>
          <a:prstGeom prst="flowChartDocument">
            <a:avLst/>
          </a:prstGeom>
          <a:gradFill>
            <a:gsLst>
              <a:gs pos="0">
                <a:srgbClr val="A1A1A1"/>
              </a:gs>
              <a:gs pos="100000">
                <a:srgbClr val="606060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1"/>
          <p:cNvSpPr/>
          <p:nvPr/>
        </p:nvSpPr>
        <p:spPr>
          <a:xfrm rot="10800000">
            <a:off x="5470858" y="1602121"/>
            <a:ext cx="915516" cy="1177254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1"/>
          <p:cNvSpPr/>
          <p:nvPr/>
        </p:nvSpPr>
        <p:spPr>
          <a:xfrm flipH="1" rot="10800000">
            <a:off x="6386374" y="1602121"/>
            <a:ext cx="901530" cy="1177254"/>
          </a:xfrm>
          <a:prstGeom prst="flowChartDocument">
            <a:avLst/>
          </a:prstGeom>
          <a:solidFill>
            <a:srgbClr val="CFBBF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1"/>
          <p:cNvSpPr txBox="1"/>
          <p:nvPr/>
        </p:nvSpPr>
        <p:spPr>
          <a:xfrm>
            <a:off x="18771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Day 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1"/>
          <p:cNvSpPr txBox="1"/>
          <p:nvPr/>
        </p:nvSpPr>
        <p:spPr>
          <a:xfrm>
            <a:off x="27915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Day 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1"/>
          <p:cNvSpPr txBox="1"/>
          <p:nvPr/>
        </p:nvSpPr>
        <p:spPr>
          <a:xfrm>
            <a:off x="37059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Day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1"/>
          <p:cNvSpPr txBox="1"/>
          <p:nvPr/>
        </p:nvSpPr>
        <p:spPr>
          <a:xfrm>
            <a:off x="46203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Day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1"/>
          <p:cNvSpPr txBox="1"/>
          <p:nvPr/>
        </p:nvSpPr>
        <p:spPr>
          <a:xfrm>
            <a:off x="55347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Day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1"/>
          <p:cNvSpPr txBox="1"/>
          <p:nvPr/>
        </p:nvSpPr>
        <p:spPr>
          <a:xfrm>
            <a:off x="6449100" y="2133648"/>
            <a:ext cx="8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Day 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1"/>
          <p:cNvSpPr txBox="1"/>
          <p:nvPr/>
        </p:nvSpPr>
        <p:spPr>
          <a:xfrm>
            <a:off x="4231326" y="3768000"/>
            <a:ext cx="3797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It would take 3 people 2 days to paint the same fence.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2" name="Google Shape;862;p71"/>
          <p:cNvSpPr txBox="1"/>
          <p:nvPr>
            <p:ph idx="1" type="body"/>
          </p:nvPr>
        </p:nvSpPr>
        <p:spPr>
          <a:xfrm>
            <a:off x="324000" y="2892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long will it take 3 people to paint the same fence?</a:t>
            </a:r>
            <a:r>
              <a:rPr lang="en-GB"/>
              <a:t>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2"/>
          <p:cNvSpPr txBox="1"/>
          <p:nvPr>
            <p:ph idx="1" type="body"/>
          </p:nvPr>
        </p:nvSpPr>
        <p:spPr>
          <a:xfrm>
            <a:off x="324000" y="759300"/>
            <a:ext cx="82377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put the information we have into tables:</a:t>
            </a:r>
            <a:endParaRPr/>
          </a:p>
        </p:txBody>
      </p:sp>
      <p:sp>
        <p:nvSpPr>
          <p:cNvPr id="868" name="Google Shape;86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Graphs of inverse proportion</a:t>
            </a:r>
            <a:endParaRPr/>
          </a:p>
        </p:txBody>
      </p:sp>
      <p:graphicFrame>
        <p:nvGraphicFramePr>
          <p:cNvPr id="869" name="Google Shape;869;p72"/>
          <p:cNvGraphicFramePr/>
          <p:nvPr/>
        </p:nvGraphicFramePr>
        <p:xfrm>
          <a:off x="703040" y="116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694375"/>
                <a:gridCol w="1694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0" name="Google Shape;870;p72"/>
          <p:cNvGraphicFramePr/>
          <p:nvPr/>
        </p:nvGraphicFramePr>
        <p:xfrm>
          <a:off x="5122640" y="116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694375"/>
                <a:gridCol w="1694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71" name="Google Shape;87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2975" y="33980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82" y="34903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2"/>
          <p:cNvSpPr txBox="1"/>
          <p:nvPr/>
        </p:nvSpPr>
        <p:spPr>
          <a:xfrm>
            <a:off x="758745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2"/>
          <p:cNvSpPr txBox="1"/>
          <p:nvPr/>
        </p:nvSpPr>
        <p:spPr>
          <a:xfrm>
            <a:off x="32400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5" name="Google Shape;875;p72"/>
          <p:cNvGrpSpPr/>
          <p:nvPr/>
        </p:nvGrpSpPr>
        <p:grpSpPr>
          <a:xfrm>
            <a:off x="4167234" y="2280209"/>
            <a:ext cx="3270744" cy="2082702"/>
            <a:chOff x="5482573" y="2813550"/>
            <a:chExt cx="1955251" cy="1316250"/>
          </a:xfrm>
        </p:grpSpPr>
        <p:pic>
          <p:nvPicPr>
            <p:cNvPr id="876" name="Google Shape;876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482573" y="2813550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7" name="Google Shape;877;p72"/>
            <p:cNvSpPr txBox="1"/>
            <p:nvPr/>
          </p:nvSpPr>
          <p:spPr>
            <a:xfrm>
              <a:off x="5624624" y="3010510"/>
              <a:ext cx="1621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That does make sense.  This must mean that the number of people and days are </a:t>
              </a:r>
              <a:r>
                <a:rPr lang="en-GB" sz="18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not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directly proportional.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8" name="Google Shape;878;p72"/>
          <p:cNvGrpSpPr/>
          <p:nvPr/>
        </p:nvGrpSpPr>
        <p:grpSpPr>
          <a:xfrm>
            <a:off x="1226688" y="2235005"/>
            <a:ext cx="2309720" cy="2082679"/>
            <a:chOff x="1226704" y="2782375"/>
            <a:chExt cx="1955236" cy="974900"/>
          </a:xfrm>
        </p:grpSpPr>
        <p:pic>
          <p:nvPicPr>
            <p:cNvPr id="879" name="Google Shape;879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704" y="2782375"/>
              <a:ext cx="1955236" cy="974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0" name="Google Shape;880;p72"/>
            <p:cNvSpPr txBox="1"/>
            <p:nvPr/>
          </p:nvSpPr>
          <p:spPr>
            <a:xfrm>
              <a:off x="1425429" y="2945391"/>
              <a:ext cx="16776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So, as the number of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people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increases the number of days decreases.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Graphs of inverse proportion</a:t>
            </a:r>
            <a:endParaRPr/>
          </a:p>
        </p:txBody>
      </p:sp>
      <p:pic>
        <p:nvPicPr>
          <p:cNvPr id="886" name="Google Shape;88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2975" y="33980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82" y="16615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3"/>
          <p:cNvSpPr txBox="1"/>
          <p:nvPr/>
        </p:nvSpPr>
        <p:spPr>
          <a:xfrm>
            <a:off x="758745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3"/>
          <p:cNvSpPr txBox="1"/>
          <p:nvPr/>
        </p:nvSpPr>
        <p:spPr>
          <a:xfrm>
            <a:off x="324000" y="26781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0" name="Google Shape;890;p73"/>
          <p:cNvGrpSpPr/>
          <p:nvPr/>
        </p:nvGrpSpPr>
        <p:grpSpPr>
          <a:xfrm>
            <a:off x="3522000" y="2127875"/>
            <a:ext cx="4068378" cy="2611601"/>
            <a:chOff x="5005744" y="2572750"/>
            <a:chExt cx="2432077" cy="2127231"/>
          </a:xfrm>
        </p:grpSpPr>
        <p:pic>
          <p:nvPicPr>
            <p:cNvPr id="891" name="Google Shape;891;p7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005744" y="2572750"/>
              <a:ext cx="2432077" cy="2127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2" name="Google Shape;892;p73"/>
            <p:cNvSpPr txBox="1"/>
            <p:nvPr/>
          </p:nvSpPr>
          <p:spPr>
            <a:xfrm>
              <a:off x="5174068" y="2794221"/>
              <a:ext cx="2016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Direct proportion means as one variable increases the other increases at the same rate.  This relationship in the fence problem shows that as one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variable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increases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the other decreases.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3" name="Google Shape;893;p73"/>
          <p:cNvGrpSpPr/>
          <p:nvPr/>
        </p:nvGrpSpPr>
        <p:grpSpPr>
          <a:xfrm>
            <a:off x="1226698" y="493025"/>
            <a:ext cx="2393851" cy="2082700"/>
            <a:chOff x="1226713" y="2823016"/>
            <a:chExt cx="2026455" cy="974910"/>
          </a:xfrm>
        </p:grpSpPr>
        <p:pic>
          <p:nvPicPr>
            <p:cNvPr id="894" name="Google Shape;894;p7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713" y="2823016"/>
              <a:ext cx="2026455" cy="9749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73"/>
            <p:cNvSpPr txBox="1"/>
            <p:nvPr/>
          </p:nvSpPr>
          <p:spPr>
            <a:xfrm>
              <a:off x="1425429" y="2945391"/>
              <a:ext cx="16776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remember that we could draw graphs of direct proportion.  They looked like this.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6" name="Google Shape;896;p73"/>
          <p:cNvGrpSpPr/>
          <p:nvPr/>
        </p:nvGrpSpPr>
        <p:grpSpPr>
          <a:xfrm>
            <a:off x="1181174" y="2450053"/>
            <a:ext cx="2393851" cy="1078298"/>
            <a:chOff x="1226713" y="2823016"/>
            <a:chExt cx="2026455" cy="504750"/>
          </a:xfrm>
        </p:grpSpPr>
        <p:pic>
          <p:nvPicPr>
            <p:cNvPr id="897" name="Google Shape;897;p7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713" y="2823016"/>
              <a:ext cx="2026455" cy="504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8" name="Google Shape;898;p73"/>
            <p:cNvSpPr txBox="1"/>
            <p:nvPr/>
          </p:nvSpPr>
          <p:spPr>
            <a:xfrm>
              <a:off x="1425429" y="2945391"/>
              <a:ext cx="16776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Maybe the graph will look like this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9" name="Google Shape;899;p73"/>
          <p:cNvGrpSpPr/>
          <p:nvPr/>
        </p:nvGrpSpPr>
        <p:grpSpPr>
          <a:xfrm>
            <a:off x="4825750" y="794325"/>
            <a:ext cx="1417510" cy="1359300"/>
            <a:chOff x="4825750" y="794325"/>
            <a:chExt cx="1417510" cy="1359300"/>
          </a:xfrm>
        </p:grpSpPr>
        <p:cxnSp>
          <p:nvCxnSpPr>
            <p:cNvPr id="900" name="Google Shape;900;p73"/>
            <p:cNvCxnSpPr/>
            <p:nvPr/>
          </p:nvCxnSpPr>
          <p:spPr>
            <a:xfrm rot="10800000">
              <a:off x="4825750" y="794325"/>
              <a:ext cx="14100" cy="1359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01" name="Google Shape;901;p73"/>
            <p:cNvCxnSpPr/>
            <p:nvPr/>
          </p:nvCxnSpPr>
          <p:spPr>
            <a:xfrm>
              <a:off x="4839860" y="2139610"/>
              <a:ext cx="1403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02" name="Google Shape;902;p73"/>
            <p:cNvCxnSpPr/>
            <p:nvPr/>
          </p:nvCxnSpPr>
          <p:spPr>
            <a:xfrm flipH="1" rot="10800000">
              <a:off x="4867875" y="990400"/>
              <a:ext cx="882900" cy="1135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3" name="Google Shape;903;p73"/>
          <p:cNvGrpSpPr/>
          <p:nvPr/>
        </p:nvGrpSpPr>
        <p:grpSpPr>
          <a:xfrm>
            <a:off x="1091950" y="2927925"/>
            <a:ext cx="1417510" cy="1359425"/>
            <a:chOff x="1625350" y="3232725"/>
            <a:chExt cx="1417510" cy="1359425"/>
          </a:xfrm>
        </p:grpSpPr>
        <p:cxnSp>
          <p:nvCxnSpPr>
            <p:cNvPr id="904" name="Google Shape;904;p73"/>
            <p:cNvCxnSpPr/>
            <p:nvPr/>
          </p:nvCxnSpPr>
          <p:spPr>
            <a:xfrm rot="10800000">
              <a:off x="1625350" y="3232725"/>
              <a:ext cx="14100" cy="1359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05" name="Google Shape;905;p73"/>
            <p:cNvCxnSpPr/>
            <p:nvPr/>
          </p:nvCxnSpPr>
          <p:spPr>
            <a:xfrm>
              <a:off x="1639460" y="4578010"/>
              <a:ext cx="1403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06" name="Google Shape;906;p73"/>
            <p:cNvCxnSpPr/>
            <p:nvPr/>
          </p:nvCxnSpPr>
          <p:spPr>
            <a:xfrm>
              <a:off x="1639450" y="3582950"/>
              <a:ext cx="944100" cy="1009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7" name="Google Shape;907;p73"/>
          <p:cNvSpPr txBox="1"/>
          <p:nvPr/>
        </p:nvSpPr>
        <p:spPr>
          <a:xfrm>
            <a:off x="6039000" y="925500"/>
            <a:ext cx="2781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Graphical representation of direct proportion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3"/>
          <p:cNvSpPr txBox="1"/>
          <p:nvPr>
            <p:ph idx="1" type="body"/>
          </p:nvPr>
        </p:nvSpPr>
        <p:spPr>
          <a:xfrm>
            <a:off x="324000" y="4493100"/>
            <a:ext cx="2698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think?</a:t>
            </a:r>
            <a:r>
              <a:rPr lang="en-GB"/>
              <a:t>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4"/>
          <p:cNvSpPr txBox="1"/>
          <p:nvPr>
            <p:ph idx="1" type="body"/>
          </p:nvPr>
        </p:nvSpPr>
        <p:spPr>
          <a:xfrm>
            <a:off x="324000" y="759300"/>
            <a:ext cx="8237700" cy="12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 and Izzy are working on this problem that their teacher has set them.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Find as many rectangles as you can with an area of 24 cm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14" name="Google Shape;91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2975" y="33980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607" y="34903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4"/>
          <p:cNvSpPr txBox="1"/>
          <p:nvPr/>
        </p:nvSpPr>
        <p:spPr>
          <a:xfrm>
            <a:off x="758745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4"/>
          <p:cNvSpPr txBox="1"/>
          <p:nvPr/>
        </p:nvSpPr>
        <p:spPr>
          <a:xfrm>
            <a:off x="32400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8" name="Google Shape;918;p74"/>
          <p:cNvGrpSpPr/>
          <p:nvPr/>
        </p:nvGrpSpPr>
        <p:grpSpPr>
          <a:xfrm>
            <a:off x="4645775" y="3165725"/>
            <a:ext cx="2868354" cy="981374"/>
            <a:chOff x="5482570" y="2891600"/>
            <a:chExt cx="1955251" cy="981374"/>
          </a:xfrm>
        </p:grpSpPr>
        <p:pic>
          <p:nvPicPr>
            <p:cNvPr id="919" name="Google Shape;919;p7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482570" y="2891600"/>
              <a:ext cx="1955251" cy="981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0" name="Google Shape;920;p74"/>
            <p:cNvSpPr txBox="1"/>
            <p:nvPr/>
          </p:nvSpPr>
          <p:spPr>
            <a:xfrm>
              <a:off x="5649445" y="3053218"/>
              <a:ext cx="1621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 cm x 8 cm = 24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 cm x 6 cm = 24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1" name="Google Shape;921;p74"/>
          <p:cNvGrpSpPr/>
          <p:nvPr/>
        </p:nvGrpSpPr>
        <p:grpSpPr>
          <a:xfrm>
            <a:off x="946733" y="2946264"/>
            <a:ext cx="3211215" cy="1016522"/>
            <a:chOff x="1226695" y="2782365"/>
            <a:chExt cx="2379735" cy="1087771"/>
          </a:xfrm>
        </p:grpSpPr>
        <p:pic>
          <p:nvPicPr>
            <p:cNvPr id="922" name="Google Shape;922;p7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695" y="2782365"/>
              <a:ext cx="2270879" cy="10877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3" name="Google Shape;923;p74"/>
            <p:cNvSpPr txBox="1"/>
            <p:nvPr/>
          </p:nvSpPr>
          <p:spPr>
            <a:xfrm>
              <a:off x="1425431" y="3016226"/>
              <a:ext cx="2181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 x 24 cm =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24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aseline="30000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 cm x 12 cm = 24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aseline="30000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4" name="Google Shape;924;p74"/>
          <p:cNvGrpSpPr/>
          <p:nvPr/>
        </p:nvGrpSpPr>
        <p:grpSpPr>
          <a:xfrm>
            <a:off x="345720" y="2196017"/>
            <a:ext cx="2092298" cy="915236"/>
            <a:chOff x="1226704" y="2782375"/>
            <a:chExt cx="1955236" cy="974900"/>
          </a:xfrm>
        </p:grpSpPr>
        <p:pic>
          <p:nvPicPr>
            <p:cNvPr id="925" name="Google Shape;925;p7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704" y="2782375"/>
              <a:ext cx="1955236" cy="974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6" name="Google Shape;926;p74"/>
            <p:cNvSpPr txBox="1"/>
            <p:nvPr/>
          </p:nvSpPr>
          <p:spPr>
            <a:xfrm>
              <a:off x="1480122" y="2952305"/>
              <a:ext cx="1677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That’s all of them.  Isn’t it?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7" name="Google Shape;927;p74"/>
          <p:cNvSpPr txBox="1"/>
          <p:nvPr/>
        </p:nvSpPr>
        <p:spPr>
          <a:xfrm>
            <a:off x="3564348" y="4494292"/>
            <a:ext cx="379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 you agree with Sam?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8" name="Google Shape;928;p74"/>
          <p:cNvGrpSpPr/>
          <p:nvPr/>
        </p:nvGrpSpPr>
        <p:grpSpPr>
          <a:xfrm>
            <a:off x="3145350" y="2116725"/>
            <a:ext cx="2451300" cy="1127311"/>
            <a:chOff x="3145350" y="2116725"/>
            <a:chExt cx="2451300" cy="1127311"/>
          </a:xfrm>
        </p:grpSpPr>
        <p:grpSp>
          <p:nvGrpSpPr>
            <p:cNvPr id="929" name="Google Shape;929;p74"/>
            <p:cNvGrpSpPr/>
            <p:nvPr/>
          </p:nvGrpSpPr>
          <p:grpSpPr>
            <a:xfrm>
              <a:off x="3145350" y="2116725"/>
              <a:ext cx="2439750" cy="1127311"/>
              <a:chOff x="3145350" y="2116725"/>
              <a:chExt cx="2439750" cy="1127311"/>
            </a:xfrm>
          </p:grpSpPr>
          <p:sp>
            <p:nvSpPr>
              <p:cNvPr id="930" name="Google Shape;930;p74"/>
              <p:cNvSpPr/>
              <p:nvPr/>
            </p:nvSpPr>
            <p:spPr>
              <a:xfrm>
                <a:off x="3558900" y="2116725"/>
                <a:ext cx="2026200" cy="6135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24 cm</a:t>
                </a:r>
                <a:r>
                  <a:rPr baseline="30000"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baseline="30000" sz="2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1" name="Google Shape;931;p74"/>
              <p:cNvSpPr txBox="1"/>
              <p:nvPr/>
            </p:nvSpPr>
            <p:spPr>
              <a:xfrm>
                <a:off x="3145350" y="2238525"/>
                <a:ext cx="221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400">
                    <a:latin typeface="Times New Roman"/>
                    <a:ea typeface="Times New Roman"/>
                    <a:cs typeface="Times New Roman"/>
                    <a:sym typeface="Times New Roman"/>
                  </a:rPr>
                  <a:t>w</a:t>
                </a:r>
                <a:endParaRPr i="1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2" name="Google Shape;932;p74"/>
              <p:cNvSpPr txBox="1"/>
              <p:nvPr/>
            </p:nvSpPr>
            <p:spPr>
              <a:xfrm>
                <a:off x="4509865" y="2874736"/>
                <a:ext cx="1311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400"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i="1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933" name="Google Shape;933;p74"/>
            <p:cNvCxnSpPr/>
            <p:nvPr/>
          </p:nvCxnSpPr>
          <p:spPr>
            <a:xfrm>
              <a:off x="3452350" y="2125600"/>
              <a:ext cx="0" cy="60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34" name="Google Shape;934;p74"/>
            <p:cNvCxnSpPr/>
            <p:nvPr/>
          </p:nvCxnSpPr>
          <p:spPr>
            <a:xfrm rot="10800000">
              <a:off x="3556650" y="2832530"/>
              <a:ext cx="2040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35" name="Google Shape;93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0" name="Google Shape;940;p75"/>
          <p:cNvGrpSpPr/>
          <p:nvPr/>
        </p:nvGrpSpPr>
        <p:grpSpPr>
          <a:xfrm>
            <a:off x="913208" y="1877555"/>
            <a:ext cx="3797648" cy="2413003"/>
            <a:chOff x="1175151" y="2575726"/>
            <a:chExt cx="3554852" cy="1671750"/>
          </a:xfrm>
        </p:grpSpPr>
        <p:pic>
          <p:nvPicPr>
            <p:cNvPr id="941" name="Google Shape;941;p75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175151" y="2575726"/>
              <a:ext cx="3554852" cy="1671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2" name="Google Shape;942;p75"/>
            <p:cNvSpPr txBox="1"/>
            <p:nvPr/>
          </p:nvSpPr>
          <p:spPr>
            <a:xfrm>
              <a:off x="1492852" y="2878896"/>
              <a:ext cx="3079200" cy="10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see! There are an infinite number of rectangles dependent on the degree of accuracy used to measure the dimensions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3" name="Google Shape;94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944" name="Google Shape;944;p75"/>
          <p:cNvSpPr txBox="1"/>
          <p:nvPr>
            <p:ph idx="1" type="body"/>
          </p:nvPr>
        </p:nvSpPr>
        <p:spPr>
          <a:xfrm>
            <a:off x="324000" y="759300"/>
            <a:ext cx="8237700" cy="3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as many rectangles as you can with an area of 24 cm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45" name="Google Shape;94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975" y="33980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682" y="34903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5"/>
          <p:cNvSpPr txBox="1"/>
          <p:nvPr/>
        </p:nvSpPr>
        <p:spPr>
          <a:xfrm>
            <a:off x="758745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5"/>
          <p:cNvSpPr txBox="1"/>
          <p:nvPr/>
        </p:nvSpPr>
        <p:spPr>
          <a:xfrm>
            <a:off x="32400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9" name="Google Shape;949;p75"/>
          <p:cNvGrpSpPr/>
          <p:nvPr/>
        </p:nvGrpSpPr>
        <p:grpSpPr>
          <a:xfrm>
            <a:off x="4786397" y="2085772"/>
            <a:ext cx="2845849" cy="2390478"/>
            <a:chOff x="5378813" y="2243095"/>
            <a:chExt cx="2228019" cy="1954602"/>
          </a:xfrm>
        </p:grpSpPr>
        <p:pic>
          <p:nvPicPr>
            <p:cNvPr id="950" name="Google Shape;950;p75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378813" y="2243095"/>
              <a:ext cx="2228019" cy="19546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1" name="Google Shape;951;p75"/>
            <p:cNvSpPr txBox="1"/>
            <p:nvPr/>
          </p:nvSpPr>
          <p:spPr>
            <a:xfrm>
              <a:off x="5600179" y="2618745"/>
              <a:ext cx="1785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Wait, there are more! For example, </a:t>
              </a:r>
              <a:r>
                <a:rPr lang="en-GB" sz="18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2.4 cm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by 10 cm gives an area of 24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2" name="Google Shape;952;p75"/>
          <p:cNvGrpSpPr/>
          <p:nvPr/>
        </p:nvGrpSpPr>
        <p:grpSpPr>
          <a:xfrm>
            <a:off x="3283581" y="1202325"/>
            <a:ext cx="2439750" cy="1051111"/>
            <a:chOff x="3283581" y="1202325"/>
            <a:chExt cx="2439750" cy="1051111"/>
          </a:xfrm>
        </p:grpSpPr>
        <p:sp>
          <p:nvSpPr>
            <p:cNvPr id="953" name="Google Shape;953;p75"/>
            <p:cNvSpPr/>
            <p:nvPr/>
          </p:nvSpPr>
          <p:spPr>
            <a:xfrm>
              <a:off x="3697131" y="1202325"/>
              <a:ext cx="2026200" cy="6135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24 cm</a:t>
              </a:r>
              <a:r>
                <a:rPr baseline="30000"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aseline="30000"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5"/>
            <p:cNvSpPr txBox="1"/>
            <p:nvPr/>
          </p:nvSpPr>
          <p:spPr>
            <a:xfrm>
              <a:off x="3283581" y="1324125"/>
              <a:ext cx="22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 i="1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5" name="Google Shape;955;p75"/>
            <p:cNvSpPr txBox="1"/>
            <p:nvPr/>
          </p:nvSpPr>
          <p:spPr>
            <a:xfrm>
              <a:off x="4648096" y="1884136"/>
              <a:ext cx="131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i="1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56" name="Google Shape;956;p75"/>
          <p:cNvSpPr txBox="1"/>
          <p:nvPr/>
        </p:nvSpPr>
        <p:spPr>
          <a:xfrm>
            <a:off x="1684801" y="4290550"/>
            <a:ext cx="379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 you agree with Sam?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7" name="Google Shape;957;p75"/>
          <p:cNvGrpSpPr/>
          <p:nvPr/>
        </p:nvGrpSpPr>
        <p:grpSpPr>
          <a:xfrm>
            <a:off x="3604750" y="1177045"/>
            <a:ext cx="2144300" cy="706930"/>
            <a:chOff x="3452350" y="2125600"/>
            <a:chExt cx="2144300" cy="706930"/>
          </a:xfrm>
        </p:grpSpPr>
        <p:cxnSp>
          <p:nvCxnSpPr>
            <p:cNvPr id="958" name="Google Shape;958;p75"/>
            <p:cNvCxnSpPr/>
            <p:nvPr/>
          </p:nvCxnSpPr>
          <p:spPr>
            <a:xfrm>
              <a:off x="3452350" y="2125600"/>
              <a:ext cx="0" cy="60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59" name="Google Shape;959;p75"/>
            <p:cNvCxnSpPr/>
            <p:nvPr/>
          </p:nvCxnSpPr>
          <p:spPr>
            <a:xfrm rot="10800000">
              <a:off x="3556650" y="2832530"/>
              <a:ext cx="2040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965" name="Google Shape;965;p76"/>
          <p:cNvSpPr txBox="1"/>
          <p:nvPr>
            <p:ph idx="1" type="body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a graph representing this problem.</a:t>
            </a:r>
            <a:endParaRPr/>
          </a:p>
        </p:txBody>
      </p:sp>
      <p:pic>
        <p:nvPicPr>
          <p:cNvPr id="966" name="Google Shape;96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71" y="1061700"/>
            <a:ext cx="6397019" cy="37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6"/>
          <p:cNvSpPr txBox="1"/>
          <p:nvPr/>
        </p:nvSpPr>
        <p:spPr>
          <a:xfrm>
            <a:off x="6898662" y="4257175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8" name="Google Shape;968;p76"/>
          <p:cNvSpPr txBox="1"/>
          <p:nvPr/>
        </p:nvSpPr>
        <p:spPr>
          <a:xfrm>
            <a:off x="310026" y="845757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9" name="Google Shape;969;p76"/>
          <p:cNvSpPr txBox="1"/>
          <p:nvPr/>
        </p:nvSpPr>
        <p:spPr>
          <a:xfrm>
            <a:off x="1074859" y="1173565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6"/>
          <p:cNvSpPr txBox="1"/>
          <p:nvPr>
            <p:ph idx="1" type="body"/>
          </p:nvPr>
        </p:nvSpPr>
        <p:spPr>
          <a:xfrm>
            <a:off x="7055850" y="1080000"/>
            <a:ext cx="1870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will plot some points we know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Let’s start with:</a:t>
            </a:r>
            <a:endParaRPr/>
          </a:p>
        </p:txBody>
      </p:sp>
      <p:sp>
        <p:nvSpPr>
          <p:cNvPr id="971" name="Google Shape;971;p76"/>
          <p:cNvSpPr txBox="1"/>
          <p:nvPr>
            <p:ph idx="1" type="body"/>
          </p:nvPr>
        </p:nvSpPr>
        <p:spPr>
          <a:xfrm>
            <a:off x="7831700" y="2730500"/>
            <a:ext cx="896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(1, 24)</a:t>
            </a:r>
            <a:endParaRPr/>
          </a:p>
        </p:txBody>
      </p:sp>
      <p:sp>
        <p:nvSpPr>
          <p:cNvPr id="972" name="Google Shape;972;p76"/>
          <p:cNvSpPr txBox="1"/>
          <p:nvPr>
            <p:ph idx="1" type="body"/>
          </p:nvPr>
        </p:nvSpPr>
        <p:spPr>
          <a:xfrm>
            <a:off x="7055850" y="3270975"/>
            <a:ext cx="1764300" cy="11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reverse the </a:t>
            </a:r>
            <a:r>
              <a:rPr lang="en-GB"/>
              <a:t>coordinates.</a:t>
            </a:r>
            <a:endParaRPr/>
          </a:p>
        </p:txBody>
      </p:sp>
      <p:sp>
        <p:nvSpPr>
          <p:cNvPr id="973" name="Google Shape;973;p76"/>
          <p:cNvSpPr txBox="1"/>
          <p:nvPr/>
        </p:nvSpPr>
        <p:spPr>
          <a:xfrm>
            <a:off x="6597454" y="4195929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979" name="Google Shape;979;p77"/>
          <p:cNvSpPr txBox="1"/>
          <p:nvPr>
            <p:ph idx="1" type="body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a graph representing this problem.</a:t>
            </a:r>
            <a:endParaRPr/>
          </a:p>
        </p:txBody>
      </p:sp>
      <p:pic>
        <p:nvPicPr>
          <p:cNvPr id="980" name="Google Shape;98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71" y="1061700"/>
            <a:ext cx="6397019" cy="37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77"/>
          <p:cNvSpPr txBox="1"/>
          <p:nvPr/>
        </p:nvSpPr>
        <p:spPr>
          <a:xfrm>
            <a:off x="6898662" y="4257175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2" name="Google Shape;982;p77"/>
          <p:cNvSpPr txBox="1"/>
          <p:nvPr/>
        </p:nvSpPr>
        <p:spPr>
          <a:xfrm>
            <a:off x="310026" y="845757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p77"/>
          <p:cNvSpPr txBox="1"/>
          <p:nvPr/>
        </p:nvSpPr>
        <p:spPr>
          <a:xfrm>
            <a:off x="1317629" y="2752511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7"/>
          <p:cNvSpPr txBox="1"/>
          <p:nvPr>
            <p:ph idx="1" type="body"/>
          </p:nvPr>
        </p:nvSpPr>
        <p:spPr>
          <a:xfrm>
            <a:off x="7055850" y="1080000"/>
            <a:ext cx="1870800" cy="16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will plot some points we know,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and now:</a:t>
            </a:r>
            <a:endParaRPr/>
          </a:p>
        </p:txBody>
      </p:sp>
      <p:sp>
        <p:nvSpPr>
          <p:cNvPr id="985" name="Google Shape;985;p77"/>
          <p:cNvSpPr txBox="1"/>
          <p:nvPr>
            <p:ph idx="1" type="body"/>
          </p:nvPr>
        </p:nvSpPr>
        <p:spPr>
          <a:xfrm>
            <a:off x="7069700" y="2771276"/>
            <a:ext cx="896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(2, 12)</a:t>
            </a:r>
            <a:endParaRPr/>
          </a:p>
        </p:txBody>
      </p:sp>
      <p:sp>
        <p:nvSpPr>
          <p:cNvPr id="986" name="Google Shape;986;p77"/>
          <p:cNvSpPr txBox="1"/>
          <p:nvPr/>
        </p:nvSpPr>
        <p:spPr>
          <a:xfrm>
            <a:off x="3716023" y="4064783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7"/>
          <p:cNvSpPr txBox="1"/>
          <p:nvPr>
            <p:ph idx="1" type="body"/>
          </p:nvPr>
        </p:nvSpPr>
        <p:spPr>
          <a:xfrm>
            <a:off x="7055850" y="3270975"/>
            <a:ext cx="1764300" cy="11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Again, </a:t>
            </a:r>
            <a:r>
              <a:rPr lang="en-GB"/>
              <a:t>reverse the coordinates.</a:t>
            </a:r>
            <a:endParaRPr/>
          </a:p>
        </p:txBody>
      </p:sp>
      <p:sp>
        <p:nvSpPr>
          <p:cNvPr id="988" name="Google Shape;988;p77"/>
          <p:cNvSpPr txBox="1"/>
          <p:nvPr/>
        </p:nvSpPr>
        <p:spPr>
          <a:xfrm>
            <a:off x="1076591" y="1173565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7"/>
          <p:cNvSpPr txBox="1"/>
          <p:nvPr/>
        </p:nvSpPr>
        <p:spPr>
          <a:xfrm>
            <a:off x="6597454" y="4195929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995" name="Google Shape;995;p78"/>
          <p:cNvSpPr txBox="1"/>
          <p:nvPr>
            <p:ph idx="1" type="body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a graph representing this problem.</a:t>
            </a:r>
            <a:endParaRPr/>
          </a:p>
        </p:txBody>
      </p:sp>
      <p:pic>
        <p:nvPicPr>
          <p:cNvPr id="996" name="Google Shape;99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71" y="1061700"/>
            <a:ext cx="6397019" cy="37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78"/>
          <p:cNvSpPr txBox="1"/>
          <p:nvPr/>
        </p:nvSpPr>
        <p:spPr>
          <a:xfrm>
            <a:off x="6898662" y="4257175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8" name="Google Shape;998;p78"/>
          <p:cNvSpPr txBox="1"/>
          <p:nvPr/>
        </p:nvSpPr>
        <p:spPr>
          <a:xfrm>
            <a:off x="310026" y="845757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78"/>
          <p:cNvSpPr txBox="1"/>
          <p:nvPr/>
        </p:nvSpPr>
        <p:spPr>
          <a:xfrm>
            <a:off x="1553314" y="3271742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8"/>
          <p:cNvSpPr txBox="1"/>
          <p:nvPr>
            <p:ph idx="1" type="body"/>
          </p:nvPr>
        </p:nvSpPr>
        <p:spPr>
          <a:xfrm>
            <a:off x="7055850" y="1080000"/>
            <a:ext cx="1870800" cy="16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will plot some points we know,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and now:</a:t>
            </a:r>
            <a:endParaRPr/>
          </a:p>
        </p:txBody>
      </p:sp>
      <p:sp>
        <p:nvSpPr>
          <p:cNvPr id="1001" name="Google Shape;1001;p78"/>
          <p:cNvSpPr txBox="1"/>
          <p:nvPr>
            <p:ph idx="1" type="body"/>
          </p:nvPr>
        </p:nvSpPr>
        <p:spPr>
          <a:xfrm>
            <a:off x="7069700" y="2771276"/>
            <a:ext cx="896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(3, 8)</a:t>
            </a:r>
            <a:endParaRPr/>
          </a:p>
        </p:txBody>
      </p:sp>
      <p:sp>
        <p:nvSpPr>
          <p:cNvPr id="1002" name="Google Shape;1002;p78"/>
          <p:cNvSpPr txBox="1"/>
          <p:nvPr/>
        </p:nvSpPr>
        <p:spPr>
          <a:xfrm>
            <a:off x="2753762" y="3919468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8"/>
          <p:cNvSpPr txBox="1"/>
          <p:nvPr>
            <p:ph idx="1" type="body"/>
          </p:nvPr>
        </p:nvSpPr>
        <p:spPr>
          <a:xfrm>
            <a:off x="7055850" y="3270975"/>
            <a:ext cx="1764300" cy="11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Again, reverse the coordinates.</a:t>
            </a:r>
            <a:endParaRPr/>
          </a:p>
        </p:txBody>
      </p:sp>
      <p:sp>
        <p:nvSpPr>
          <p:cNvPr id="1004" name="Google Shape;1004;p78"/>
          <p:cNvSpPr txBox="1"/>
          <p:nvPr/>
        </p:nvSpPr>
        <p:spPr>
          <a:xfrm>
            <a:off x="1076591" y="1173565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8"/>
          <p:cNvSpPr txBox="1"/>
          <p:nvPr/>
        </p:nvSpPr>
        <p:spPr>
          <a:xfrm>
            <a:off x="6597454" y="4195929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8"/>
          <p:cNvSpPr txBox="1"/>
          <p:nvPr/>
        </p:nvSpPr>
        <p:spPr>
          <a:xfrm>
            <a:off x="1312276" y="2752511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8"/>
          <p:cNvSpPr txBox="1"/>
          <p:nvPr/>
        </p:nvSpPr>
        <p:spPr>
          <a:xfrm>
            <a:off x="3716023" y="4064783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013" name="Google Shape;1013;p79"/>
          <p:cNvSpPr txBox="1"/>
          <p:nvPr>
            <p:ph idx="1" type="body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a graph representing this problem.</a:t>
            </a:r>
            <a:endParaRPr/>
          </a:p>
        </p:txBody>
      </p:sp>
      <p:pic>
        <p:nvPicPr>
          <p:cNvPr id="1014" name="Google Shape;101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71" y="1061700"/>
            <a:ext cx="6397019" cy="37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79"/>
          <p:cNvSpPr txBox="1"/>
          <p:nvPr/>
        </p:nvSpPr>
        <p:spPr>
          <a:xfrm>
            <a:off x="6898662" y="4257175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" name="Google Shape;1016;p79"/>
          <p:cNvSpPr txBox="1"/>
          <p:nvPr/>
        </p:nvSpPr>
        <p:spPr>
          <a:xfrm>
            <a:off x="310026" y="845757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7" name="Google Shape;1017;p79"/>
          <p:cNvSpPr txBox="1"/>
          <p:nvPr/>
        </p:nvSpPr>
        <p:spPr>
          <a:xfrm>
            <a:off x="1788998" y="3535765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9"/>
          <p:cNvSpPr txBox="1"/>
          <p:nvPr>
            <p:ph idx="1" type="body"/>
          </p:nvPr>
        </p:nvSpPr>
        <p:spPr>
          <a:xfrm>
            <a:off x="7055850" y="1080000"/>
            <a:ext cx="1870800" cy="16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will plot some points we know,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and now:</a:t>
            </a:r>
            <a:endParaRPr/>
          </a:p>
        </p:txBody>
      </p:sp>
      <p:sp>
        <p:nvSpPr>
          <p:cNvPr id="1019" name="Google Shape;1019;p79"/>
          <p:cNvSpPr txBox="1"/>
          <p:nvPr>
            <p:ph idx="1" type="body"/>
          </p:nvPr>
        </p:nvSpPr>
        <p:spPr>
          <a:xfrm>
            <a:off x="7069700" y="2771276"/>
            <a:ext cx="896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(4, 6)</a:t>
            </a:r>
            <a:endParaRPr/>
          </a:p>
        </p:txBody>
      </p:sp>
      <p:sp>
        <p:nvSpPr>
          <p:cNvPr id="1020" name="Google Shape;1020;p79"/>
          <p:cNvSpPr txBox="1"/>
          <p:nvPr/>
        </p:nvSpPr>
        <p:spPr>
          <a:xfrm>
            <a:off x="2282393" y="3800760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9"/>
          <p:cNvSpPr txBox="1"/>
          <p:nvPr>
            <p:ph idx="1" type="body"/>
          </p:nvPr>
        </p:nvSpPr>
        <p:spPr>
          <a:xfrm>
            <a:off x="7055850" y="3270975"/>
            <a:ext cx="1764300" cy="11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Again, reverse the coordinates.</a:t>
            </a:r>
            <a:endParaRPr/>
          </a:p>
        </p:txBody>
      </p:sp>
      <p:sp>
        <p:nvSpPr>
          <p:cNvPr id="1022" name="Google Shape;1022;p79"/>
          <p:cNvSpPr txBox="1"/>
          <p:nvPr/>
        </p:nvSpPr>
        <p:spPr>
          <a:xfrm>
            <a:off x="1076591" y="1173565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9"/>
          <p:cNvSpPr txBox="1"/>
          <p:nvPr/>
        </p:nvSpPr>
        <p:spPr>
          <a:xfrm>
            <a:off x="6597454" y="4195929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9"/>
          <p:cNvSpPr txBox="1"/>
          <p:nvPr/>
        </p:nvSpPr>
        <p:spPr>
          <a:xfrm>
            <a:off x="1312276" y="2752511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9"/>
          <p:cNvSpPr txBox="1"/>
          <p:nvPr/>
        </p:nvSpPr>
        <p:spPr>
          <a:xfrm>
            <a:off x="3716023" y="4064783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9"/>
          <p:cNvSpPr txBox="1"/>
          <p:nvPr/>
        </p:nvSpPr>
        <p:spPr>
          <a:xfrm>
            <a:off x="1555881" y="3278053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9"/>
          <p:cNvSpPr txBox="1"/>
          <p:nvPr/>
        </p:nvSpPr>
        <p:spPr>
          <a:xfrm>
            <a:off x="2753827" y="3935514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033" name="Google Shape;1033;p80"/>
          <p:cNvSpPr txBox="1"/>
          <p:nvPr>
            <p:ph idx="1" type="body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a graph representing this problem.</a:t>
            </a:r>
            <a:endParaRPr/>
          </a:p>
        </p:txBody>
      </p:sp>
      <p:pic>
        <p:nvPicPr>
          <p:cNvPr id="1034" name="Google Shape;103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71" y="1061700"/>
            <a:ext cx="6397019" cy="37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80"/>
          <p:cNvSpPr txBox="1"/>
          <p:nvPr/>
        </p:nvSpPr>
        <p:spPr>
          <a:xfrm>
            <a:off x="6898662" y="4257175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6" name="Google Shape;1036;p80"/>
          <p:cNvSpPr txBox="1"/>
          <p:nvPr/>
        </p:nvSpPr>
        <p:spPr>
          <a:xfrm>
            <a:off x="310026" y="845757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80"/>
          <p:cNvSpPr txBox="1"/>
          <p:nvPr/>
        </p:nvSpPr>
        <p:spPr>
          <a:xfrm>
            <a:off x="1988319" y="3670451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0"/>
          <p:cNvSpPr txBox="1"/>
          <p:nvPr>
            <p:ph idx="1" type="body"/>
          </p:nvPr>
        </p:nvSpPr>
        <p:spPr>
          <a:xfrm>
            <a:off x="7055850" y="1080000"/>
            <a:ext cx="1870800" cy="16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will plot some points we know,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and now:</a:t>
            </a:r>
            <a:endParaRPr/>
          </a:p>
        </p:txBody>
      </p:sp>
      <p:sp>
        <p:nvSpPr>
          <p:cNvPr id="1039" name="Google Shape;1039;p80"/>
          <p:cNvSpPr txBox="1"/>
          <p:nvPr>
            <p:ph idx="1" type="body"/>
          </p:nvPr>
        </p:nvSpPr>
        <p:spPr>
          <a:xfrm>
            <a:off x="7069700" y="2771275"/>
            <a:ext cx="11394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/>
              <a:t>4.8, 5)</a:t>
            </a:r>
            <a:endParaRPr/>
          </a:p>
        </p:txBody>
      </p:sp>
      <p:sp>
        <p:nvSpPr>
          <p:cNvPr id="1040" name="Google Shape;1040;p80"/>
          <p:cNvSpPr txBox="1"/>
          <p:nvPr/>
        </p:nvSpPr>
        <p:spPr>
          <a:xfrm>
            <a:off x="2039614" y="3697222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0"/>
          <p:cNvSpPr txBox="1"/>
          <p:nvPr>
            <p:ph idx="1" type="body"/>
          </p:nvPr>
        </p:nvSpPr>
        <p:spPr>
          <a:xfrm>
            <a:off x="7055850" y="3270975"/>
            <a:ext cx="1764300" cy="11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Again, reverse the coordinates.</a:t>
            </a:r>
            <a:endParaRPr/>
          </a:p>
        </p:txBody>
      </p:sp>
      <p:sp>
        <p:nvSpPr>
          <p:cNvPr id="1042" name="Google Shape;1042;p80"/>
          <p:cNvSpPr txBox="1"/>
          <p:nvPr/>
        </p:nvSpPr>
        <p:spPr>
          <a:xfrm>
            <a:off x="1076591" y="1173565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0"/>
          <p:cNvSpPr txBox="1"/>
          <p:nvPr/>
        </p:nvSpPr>
        <p:spPr>
          <a:xfrm>
            <a:off x="6597454" y="4195929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0"/>
          <p:cNvSpPr txBox="1"/>
          <p:nvPr/>
        </p:nvSpPr>
        <p:spPr>
          <a:xfrm>
            <a:off x="1312276" y="2752511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0"/>
          <p:cNvSpPr txBox="1"/>
          <p:nvPr/>
        </p:nvSpPr>
        <p:spPr>
          <a:xfrm>
            <a:off x="3716023" y="4064783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0"/>
          <p:cNvSpPr txBox="1"/>
          <p:nvPr/>
        </p:nvSpPr>
        <p:spPr>
          <a:xfrm>
            <a:off x="1555881" y="3278053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0"/>
          <p:cNvSpPr txBox="1"/>
          <p:nvPr/>
        </p:nvSpPr>
        <p:spPr>
          <a:xfrm>
            <a:off x="2753827" y="3935514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0"/>
          <p:cNvSpPr txBox="1"/>
          <p:nvPr/>
        </p:nvSpPr>
        <p:spPr>
          <a:xfrm>
            <a:off x="1791566" y="3540344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0"/>
          <p:cNvSpPr txBox="1"/>
          <p:nvPr/>
        </p:nvSpPr>
        <p:spPr>
          <a:xfrm>
            <a:off x="2277341" y="3802282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pic>
        <p:nvPicPr>
          <p:cNvPr id="1055" name="Google Shape;105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71" y="680700"/>
            <a:ext cx="6397019" cy="37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81"/>
          <p:cNvSpPr txBox="1"/>
          <p:nvPr/>
        </p:nvSpPr>
        <p:spPr>
          <a:xfrm>
            <a:off x="6898662" y="3876175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7" name="Google Shape;1057;p81"/>
          <p:cNvSpPr txBox="1"/>
          <p:nvPr/>
        </p:nvSpPr>
        <p:spPr>
          <a:xfrm>
            <a:off x="310026" y="464757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8" name="Google Shape;1058;p81"/>
          <p:cNvSpPr txBox="1"/>
          <p:nvPr/>
        </p:nvSpPr>
        <p:spPr>
          <a:xfrm>
            <a:off x="1988319" y="3289451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1"/>
          <p:cNvSpPr txBox="1"/>
          <p:nvPr/>
        </p:nvSpPr>
        <p:spPr>
          <a:xfrm>
            <a:off x="2039614" y="3316222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1"/>
          <p:cNvSpPr txBox="1"/>
          <p:nvPr/>
        </p:nvSpPr>
        <p:spPr>
          <a:xfrm>
            <a:off x="1076591" y="792565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1"/>
          <p:cNvSpPr txBox="1"/>
          <p:nvPr/>
        </p:nvSpPr>
        <p:spPr>
          <a:xfrm>
            <a:off x="6597454" y="3814929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1"/>
          <p:cNvSpPr txBox="1"/>
          <p:nvPr/>
        </p:nvSpPr>
        <p:spPr>
          <a:xfrm>
            <a:off x="1312276" y="2371511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1"/>
          <p:cNvSpPr txBox="1"/>
          <p:nvPr/>
        </p:nvSpPr>
        <p:spPr>
          <a:xfrm>
            <a:off x="3716023" y="3683783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1"/>
          <p:cNvSpPr txBox="1"/>
          <p:nvPr/>
        </p:nvSpPr>
        <p:spPr>
          <a:xfrm>
            <a:off x="1555881" y="2897053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1"/>
          <p:cNvSpPr txBox="1"/>
          <p:nvPr/>
        </p:nvSpPr>
        <p:spPr>
          <a:xfrm>
            <a:off x="2753827" y="3554514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1"/>
          <p:cNvSpPr txBox="1"/>
          <p:nvPr/>
        </p:nvSpPr>
        <p:spPr>
          <a:xfrm>
            <a:off x="1791566" y="3159344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1"/>
          <p:cNvSpPr txBox="1"/>
          <p:nvPr/>
        </p:nvSpPr>
        <p:spPr>
          <a:xfrm>
            <a:off x="2277341" y="3421282"/>
            <a:ext cx="14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8" name="Google Shape;106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209197" y="1596375"/>
            <a:ext cx="603802" cy="87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9" name="Google Shape;1069;p81"/>
          <p:cNvGrpSpPr/>
          <p:nvPr/>
        </p:nvGrpSpPr>
        <p:grpSpPr>
          <a:xfrm>
            <a:off x="6922551" y="539910"/>
            <a:ext cx="1384351" cy="1636757"/>
            <a:chOff x="1547863" y="4687375"/>
            <a:chExt cx="1293665" cy="1316250"/>
          </a:xfrm>
        </p:grpSpPr>
        <p:pic>
          <p:nvPicPr>
            <p:cNvPr id="1070" name="Google Shape;1070;p8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1547863" y="4687375"/>
              <a:ext cx="1293665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81"/>
            <p:cNvSpPr txBox="1"/>
            <p:nvPr/>
          </p:nvSpPr>
          <p:spPr>
            <a:xfrm>
              <a:off x="1611272" y="4881343"/>
              <a:ext cx="1166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looks like this is forming a curve.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2" name="Google Shape;1072;p81"/>
          <p:cNvSpPr txBox="1"/>
          <p:nvPr/>
        </p:nvSpPr>
        <p:spPr>
          <a:xfrm>
            <a:off x="6936601" y="2553550"/>
            <a:ext cx="1883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 you agree with Sam?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This does form a curve.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078" name="Google Shape;1078;p82"/>
          <p:cNvSpPr txBox="1"/>
          <p:nvPr>
            <p:ph idx="1" type="body"/>
          </p:nvPr>
        </p:nvSpPr>
        <p:spPr>
          <a:xfrm>
            <a:off x="324000" y="606900"/>
            <a:ext cx="2389500" cy="3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Yes, Sam is right.</a:t>
            </a:r>
            <a:endParaRPr/>
          </a:p>
        </p:txBody>
      </p:sp>
      <p:pic>
        <p:nvPicPr>
          <p:cNvPr id="1079" name="Google Shape;107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95" y="1079997"/>
            <a:ext cx="6118224" cy="36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82"/>
          <p:cNvSpPr txBox="1"/>
          <p:nvPr/>
        </p:nvSpPr>
        <p:spPr>
          <a:xfrm>
            <a:off x="6716467" y="4180975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1" name="Google Shape;1081;p82"/>
          <p:cNvSpPr txBox="1"/>
          <p:nvPr/>
        </p:nvSpPr>
        <p:spPr>
          <a:xfrm>
            <a:off x="310026" y="845757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2" name="Google Shape;1082;p82"/>
          <p:cNvSpPr txBox="1"/>
          <p:nvPr>
            <p:ph idx="1" type="body"/>
          </p:nvPr>
        </p:nvSpPr>
        <p:spPr>
          <a:xfrm>
            <a:off x="6724800" y="606900"/>
            <a:ext cx="2095200" cy="3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Sam’s previous idea was pretty close.  However, it forms a curve not a straight line.</a:t>
            </a:r>
            <a:endParaRPr/>
          </a:p>
        </p:txBody>
      </p:sp>
      <p:grpSp>
        <p:nvGrpSpPr>
          <p:cNvPr id="1083" name="Google Shape;1083;p82"/>
          <p:cNvGrpSpPr/>
          <p:nvPr/>
        </p:nvGrpSpPr>
        <p:grpSpPr>
          <a:xfrm>
            <a:off x="7035550" y="3308925"/>
            <a:ext cx="1417510" cy="1359425"/>
            <a:chOff x="1625350" y="3232725"/>
            <a:chExt cx="1417510" cy="1359425"/>
          </a:xfrm>
        </p:grpSpPr>
        <p:cxnSp>
          <p:nvCxnSpPr>
            <p:cNvPr id="1084" name="Google Shape;1084;p82"/>
            <p:cNvCxnSpPr/>
            <p:nvPr/>
          </p:nvCxnSpPr>
          <p:spPr>
            <a:xfrm rot="10800000">
              <a:off x="1625350" y="3232725"/>
              <a:ext cx="14100" cy="1359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5" name="Google Shape;1085;p82"/>
            <p:cNvCxnSpPr/>
            <p:nvPr/>
          </p:nvCxnSpPr>
          <p:spPr>
            <a:xfrm>
              <a:off x="1639460" y="4578010"/>
              <a:ext cx="1403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6" name="Google Shape;1086;p82"/>
            <p:cNvCxnSpPr/>
            <p:nvPr/>
          </p:nvCxnSpPr>
          <p:spPr>
            <a:xfrm>
              <a:off x="1639450" y="3582950"/>
              <a:ext cx="944100" cy="1009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092" name="Google Shape;1092;p8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This is an example of </a:t>
            </a:r>
            <a:r>
              <a:rPr b="1" lang="en-GB" sz="2100"/>
              <a:t>inverse proportion</a:t>
            </a:r>
            <a:r>
              <a:rPr lang="en-GB" sz="2100"/>
              <a:t>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As one variable increases the other decreases in proportion.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In this example, as the width of the rectangle increases the length decreases to keep the area at 24 cm</a:t>
            </a:r>
            <a:r>
              <a:rPr baseline="30000" lang="en-GB" sz="2100"/>
              <a:t>2</a:t>
            </a:r>
            <a:r>
              <a:rPr lang="en-GB" sz="2100"/>
              <a:t>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Can you think of any other examples of </a:t>
            </a:r>
            <a:r>
              <a:rPr b="1" lang="en-GB" sz="2100"/>
              <a:t>inverse proportion</a:t>
            </a:r>
            <a:r>
              <a:rPr lang="en-GB" sz="2100"/>
              <a:t>?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As the speed of the car increases the time taken to cover a certain distance decreases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The number of people doing something and the time it takes to do it. As the number of people increases, the time it takes to finish decreases.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098" name="Google Shape;1098;p84"/>
          <p:cNvSpPr txBox="1"/>
          <p:nvPr>
            <p:ph idx="1" type="body"/>
          </p:nvPr>
        </p:nvSpPr>
        <p:spPr>
          <a:xfrm>
            <a:off x="324000" y="378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99" name="Google Shape;109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98" y="698999"/>
            <a:ext cx="3926026" cy="233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84"/>
          <p:cNvSpPr txBox="1"/>
          <p:nvPr/>
        </p:nvSpPr>
        <p:spPr>
          <a:xfrm>
            <a:off x="4493392" y="2571750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1" name="Google Shape;1101;p84"/>
          <p:cNvSpPr txBox="1"/>
          <p:nvPr/>
        </p:nvSpPr>
        <p:spPr>
          <a:xfrm>
            <a:off x="310026" y="464757"/>
            <a:ext cx="1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2" name="Google Shape;1102;p84"/>
          <p:cNvSpPr txBox="1"/>
          <p:nvPr>
            <p:ph idx="1" type="body"/>
          </p:nvPr>
        </p:nvSpPr>
        <p:spPr>
          <a:xfrm>
            <a:off x="324000" y="3197700"/>
            <a:ext cx="8075700" cy="3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this graph to read off possible dimensions of our rectangle.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If the length is 10 cm</a:t>
            </a:r>
            <a:endParaRPr/>
          </a:p>
        </p:txBody>
      </p:sp>
      <p:cxnSp>
        <p:nvCxnSpPr>
          <p:cNvPr id="1103" name="Google Shape;1103;p84"/>
          <p:cNvCxnSpPr/>
          <p:nvPr/>
        </p:nvCxnSpPr>
        <p:spPr>
          <a:xfrm rot="10800000">
            <a:off x="2260975" y="2579575"/>
            <a:ext cx="0" cy="2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84"/>
          <p:cNvCxnSpPr/>
          <p:nvPr/>
        </p:nvCxnSpPr>
        <p:spPr>
          <a:xfrm rot="10800000">
            <a:off x="808075" y="2605827"/>
            <a:ext cx="145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05" name="Google Shape;1105;p84"/>
          <p:cNvSpPr txBox="1"/>
          <p:nvPr>
            <p:ph idx="1" type="body"/>
          </p:nvPr>
        </p:nvSpPr>
        <p:spPr>
          <a:xfrm>
            <a:off x="875275" y="4475200"/>
            <a:ext cx="2771400" cy="3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width is 2.4 cm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111" name="Google Shape;1111;p85"/>
          <p:cNvSpPr txBox="1"/>
          <p:nvPr/>
        </p:nvSpPr>
        <p:spPr>
          <a:xfrm>
            <a:off x="4132549" y="4171950"/>
            <a:ext cx="3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2" name="Google Shape;1112;p85"/>
          <p:cNvSpPr txBox="1"/>
          <p:nvPr>
            <p:ph idx="1" type="body"/>
          </p:nvPr>
        </p:nvSpPr>
        <p:spPr>
          <a:xfrm>
            <a:off x="4499750" y="643585"/>
            <a:ext cx="4320300" cy="30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It was </a:t>
            </a:r>
            <a:r>
              <a:rPr lang="en-GB" sz="2100"/>
              <a:t>possible</a:t>
            </a:r>
            <a:r>
              <a:rPr lang="en-GB" sz="2100"/>
              <a:t> to read values from the graph representing our rectangle.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This is the graph representing the fence problem.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How many people will I need if I want the job finished in 5 days?</a:t>
            </a:r>
            <a:endParaRPr sz="2100"/>
          </a:p>
        </p:txBody>
      </p:sp>
      <p:pic>
        <p:nvPicPr>
          <p:cNvPr id="1113" name="Google Shape;111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85" y="834100"/>
            <a:ext cx="3742526" cy="391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85"/>
          <p:cNvSpPr txBox="1"/>
          <p:nvPr/>
        </p:nvSpPr>
        <p:spPr>
          <a:xfrm>
            <a:off x="378335" y="617150"/>
            <a:ext cx="3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15" name="Google Shape;1115;p85"/>
          <p:cNvCxnSpPr/>
          <p:nvPr/>
        </p:nvCxnSpPr>
        <p:spPr>
          <a:xfrm>
            <a:off x="618000" y="1684185"/>
            <a:ext cx="620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85"/>
          <p:cNvCxnSpPr/>
          <p:nvPr/>
        </p:nvCxnSpPr>
        <p:spPr>
          <a:xfrm>
            <a:off x="1275770" y="1684185"/>
            <a:ext cx="0" cy="2725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17" name="Google Shape;1117;p85"/>
          <p:cNvSpPr txBox="1"/>
          <p:nvPr>
            <p:ph idx="1" type="body"/>
          </p:nvPr>
        </p:nvSpPr>
        <p:spPr>
          <a:xfrm>
            <a:off x="4499750" y="3603085"/>
            <a:ext cx="4320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Why is this not </a:t>
            </a:r>
            <a:r>
              <a:rPr lang="en-GB" sz="2100"/>
              <a:t>appropriate</a:t>
            </a:r>
            <a:r>
              <a:rPr lang="en-GB" sz="2100"/>
              <a:t>?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 can’t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have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1 and a bit of a person!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848" y="1784850"/>
            <a:ext cx="2430226" cy="218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8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124" name="Google Shape;1124;p8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 each graph to the correct description.</a:t>
            </a:r>
            <a:endParaRPr/>
          </a:p>
        </p:txBody>
      </p:sp>
      <p:pic>
        <p:nvPicPr>
          <p:cNvPr id="1125" name="Google Shape;112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775" y="2016146"/>
            <a:ext cx="2315400" cy="1684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9710" y="1784850"/>
            <a:ext cx="2486199" cy="218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86"/>
          <p:cNvSpPr/>
          <p:nvPr/>
        </p:nvSpPr>
        <p:spPr>
          <a:xfrm>
            <a:off x="465600" y="1211750"/>
            <a:ext cx="2486100" cy="489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direct proportion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6"/>
          <p:cNvSpPr/>
          <p:nvPr/>
        </p:nvSpPr>
        <p:spPr>
          <a:xfrm>
            <a:off x="6059155" y="1211750"/>
            <a:ext cx="2763900" cy="489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proportion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6"/>
          <p:cNvSpPr/>
          <p:nvPr/>
        </p:nvSpPr>
        <p:spPr>
          <a:xfrm>
            <a:off x="3255831" y="1211750"/>
            <a:ext cx="2599500" cy="489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neither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0" name="Google Shape;1130;p86"/>
          <p:cNvCxnSpPr>
            <a:stCxn id="1127" idx="2"/>
          </p:cNvCxnSpPr>
          <p:nvPr/>
        </p:nvCxnSpPr>
        <p:spPr>
          <a:xfrm>
            <a:off x="1708650" y="1701350"/>
            <a:ext cx="2500500" cy="928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86"/>
          <p:cNvCxnSpPr/>
          <p:nvPr/>
        </p:nvCxnSpPr>
        <p:spPr>
          <a:xfrm>
            <a:off x="4604250" y="1701350"/>
            <a:ext cx="2500500" cy="928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86"/>
          <p:cNvCxnSpPr>
            <a:endCxn id="1128" idx="2"/>
          </p:cNvCxnSpPr>
          <p:nvPr/>
        </p:nvCxnSpPr>
        <p:spPr>
          <a:xfrm flipH="1" rot="10800000">
            <a:off x="1892605" y="1701350"/>
            <a:ext cx="5548500" cy="1097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138" name="Google Shape;1138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Label each of the graphs as direct proportion, </a:t>
            </a:r>
            <a:r>
              <a:rPr b="1" lang="en-GB"/>
              <a:t>inverse proportion</a:t>
            </a:r>
            <a:r>
              <a:rPr lang="en-GB"/>
              <a:t> or neither.</a:t>
            </a:r>
            <a:endParaRPr/>
          </a:p>
        </p:txBody>
      </p:sp>
      <p:pic>
        <p:nvPicPr>
          <p:cNvPr id="1139" name="Google Shape;113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549" y="1587646"/>
            <a:ext cx="1492437" cy="1500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4373" y="3240006"/>
            <a:ext cx="2041190" cy="155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7552" y="3195254"/>
            <a:ext cx="1695723" cy="1649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4380" y="1642295"/>
            <a:ext cx="1935230" cy="155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7187" y="3400369"/>
            <a:ext cx="1935218" cy="142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8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366" y="1619989"/>
            <a:ext cx="1492443" cy="1452196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87"/>
          <p:cNvSpPr txBox="1"/>
          <p:nvPr/>
        </p:nvSpPr>
        <p:spPr>
          <a:xfrm>
            <a:off x="349755" y="16202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7"/>
          <p:cNvSpPr txBox="1"/>
          <p:nvPr/>
        </p:nvSpPr>
        <p:spPr>
          <a:xfrm>
            <a:off x="3245355" y="16202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7"/>
          <p:cNvSpPr txBox="1"/>
          <p:nvPr/>
        </p:nvSpPr>
        <p:spPr>
          <a:xfrm>
            <a:off x="6217155" y="16202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7"/>
          <p:cNvSpPr txBox="1"/>
          <p:nvPr/>
        </p:nvSpPr>
        <p:spPr>
          <a:xfrm>
            <a:off x="349755" y="33728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7"/>
          <p:cNvSpPr txBox="1"/>
          <p:nvPr/>
        </p:nvSpPr>
        <p:spPr>
          <a:xfrm>
            <a:off x="3245355" y="33728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7"/>
          <p:cNvSpPr txBox="1"/>
          <p:nvPr/>
        </p:nvSpPr>
        <p:spPr>
          <a:xfrm>
            <a:off x="6217155" y="33728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156" name="Google Shape;1156;p88"/>
          <p:cNvSpPr txBox="1"/>
          <p:nvPr>
            <p:ph idx="1" type="body"/>
          </p:nvPr>
        </p:nvSpPr>
        <p:spPr>
          <a:xfrm>
            <a:off x="370025" y="759300"/>
            <a:ext cx="8191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Decide if the following situations are directly or </a:t>
            </a:r>
            <a:r>
              <a:rPr b="1" lang="en-GB" sz="2000"/>
              <a:t>inversely proportional</a:t>
            </a:r>
            <a:r>
              <a:rPr lang="en-GB" sz="2000"/>
              <a:t>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The number of taps and the time taken to fill a bath.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The number of Euros exchanged and the number of pounds.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The number of boxes of tiles bought and the cost.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 The number of days to dig a hole and the number of people.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e) The time taken to get to Edinburgh and the speed of the car.</a:t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162" name="Google Shape;1162;p89"/>
          <p:cNvSpPr txBox="1"/>
          <p:nvPr>
            <p:ph idx="1" type="body"/>
          </p:nvPr>
        </p:nvSpPr>
        <p:spPr>
          <a:xfrm>
            <a:off x="324000" y="759300"/>
            <a:ext cx="8237700" cy="7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Label each of the graphs as direct proportion, </a:t>
            </a:r>
            <a:r>
              <a:rPr b="1" lang="en-GB"/>
              <a:t>inverse proportion</a:t>
            </a:r>
            <a:r>
              <a:rPr lang="en-GB"/>
              <a:t> or neither.</a:t>
            </a:r>
            <a:endParaRPr/>
          </a:p>
        </p:txBody>
      </p:sp>
      <p:pic>
        <p:nvPicPr>
          <p:cNvPr id="1163" name="Google Shape;116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549" y="1587646"/>
            <a:ext cx="1492437" cy="1500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4373" y="3240006"/>
            <a:ext cx="2041190" cy="155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7552" y="3195254"/>
            <a:ext cx="1695723" cy="1649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4380" y="1642295"/>
            <a:ext cx="1935230" cy="155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7187" y="3400369"/>
            <a:ext cx="1935218" cy="142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366" y="1619989"/>
            <a:ext cx="1492443" cy="1452196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89"/>
          <p:cNvSpPr txBox="1"/>
          <p:nvPr/>
        </p:nvSpPr>
        <p:spPr>
          <a:xfrm>
            <a:off x="349755" y="16202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9"/>
          <p:cNvSpPr txBox="1"/>
          <p:nvPr/>
        </p:nvSpPr>
        <p:spPr>
          <a:xfrm>
            <a:off x="3245355" y="16202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9"/>
          <p:cNvSpPr txBox="1"/>
          <p:nvPr/>
        </p:nvSpPr>
        <p:spPr>
          <a:xfrm>
            <a:off x="6217155" y="16202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9"/>
          <p:cNvSpPr txBox="1"/>
          <p:nvPr/>
        </p:nvSpPr>
        <p:spPr>
          <a:xfrm>
            <a:off x="349755" y="33728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9"/>
          <p:cNvSpPr txBox="1"/>
          <p:nvPr/>
        </p:nvSpPr>
        <p:spPr>
          <a:xfrm>
            <a:off x="3245355" y="33728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9"/>
          <p:cNvSpPr txBox="1"/>
          <p:nvPr/>
        </p:nvSpPr>
        <p:spPr>
          <a:xfrm>
            <a:off x="6217155" y="33728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9"/>
          <p:cNvSpPr/>
          <p:nvPr/>
        </p:nvSpPr>
        <p:spPr>
          <a:xfrm>
            <a:off x="3388600" y="4271275"/>
            <a:ext cx="2486100" cy="489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direct proportion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9"/>
          <p:cNvSpPr/>
          <p:nvPr/>
        </p:nvSpPr>
        <p:spPr>
          <a:xfrm>
            <a:off x="3214114" y="2700000"/>
            <a:ext cx="2741700" cy="489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proportion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9"/>
          <p:cNvSpPr/>
          <p:nvPr/>
        </p:nvSpPr>
        <p:spPr>
          <a:xfrm>
            <a:off x="408906" y="2671075"/>
            <a:ext cx="2599500" cy="489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neither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9"/>
          <p:cNvSpPr/>
          <p:nvPr/>
        </p:nvSpPr>
        <p:spPr>
          <a:xfrm>
            <a:off x="6123906" y="2671075"/>
            <a:ext cx="2599500" cy="489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neither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9"/>
          <p:cNvSpPr/>
          <p:nvPr/>
        </p:nvSpPr>
        <p:spPr>
          <a:xfrm>
            <a:off x="408906" y="4271275"/>
            <a:ext cx="2599500" cy="489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neither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9"/>
          <p:cNvSpPr/>
          <p:nvPr/>
        </p:nvSpPr>
        <p:spPr>
          <a:xfrm>
            <a:off x="5863061" y="4271275"/>
            <a:ext cx="2599500" cy="489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proportion</a:t>
            </a:r>
            <a:endParaRPr b="1" sz="13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186" name="Google Shape;1186;p90"/>
          <p:cNvSpPr txBox="1"/>
          <p:nvPr>
            <p:ph idx="1" type="body"/>
          </p:nvPr>
        </p:nvSpPr>
        <p:spPr>
          <a:xfrm>
            <a:off x="370025" y="606900"/>
            <a:ext cx="8191800" cy="43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Decide if the following situations are directly or </a:t>
            </a:r>
            <a:r>
              <a:rPr b="1" lang="en-GB" sz="2000"/>
              <a:t>inversely proportional</a:t>
            </a:r>
            <a:r>
              <a:rPr lang="en-GB" sz="2000"/>
              <a:t>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</a:t>
            </a:r>
            <a:r>
              <a:rPr lang="en-GB" sz="2000"/>
              <a:t>The number of taps and the time taken to fill a bath.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inverse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</a:t>
            </a:r>
            <a:r>
              <a:rPr lang="en-GB" sz="2000"/>
              <a:t>The </a:t>
            </a:r>
            <a:r>
              <a:rPr lang="en-GB" sz="2000"/>
              <a:t>number</a:t>
            </a:r>
            <a:r>
              <a:rPr lang="en-GB" sz="2000"/>
              <a:t> of Euros exchanged and the number of pounds.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direct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</a:t>
            </a:r>
            <a:r>
              <a:rPr lang="en-GB" sz="2000"/>
              <a:t>The number of boxes of tiles bought and the cost.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direct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 The number of days to dig a hole and the number of people. 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inverse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e) </a:t>
            </a:r>
            <a:r>
              <a:rPr lang="en-GB" sz="2000"/>
              <a:t>The time taken to get to Edinburgh and the speed of the car. 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inverse</a:t>
            </a:r>
            <a:endParaRPr b="1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of inverse proportion</a:t>
            </a:r>
            <a:endParaRPr/>
          </a:p>
        </p:txBody>
      </p:sp>
      <p:sp>
        <p:nvSpPr>
          <p:cNvPr id="1192" name="Google Shape;1192;p9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193" name="Google Shape;1193;p9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proportion in context</a:t>
            </a:r>
            <a:endParaRPr/>
          </a:p>
        </p:txBody>
      </p:sp>
      <p:pic>
        <p:nvPicPr>
          <p:cNvPr id="1194" name="Google Shape;119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2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200" name="Google Shape;1200;p92"/>
          <p:cNvSpPr txBox="1"/>
          <p:nvPr>
            <p:ph idx="1" type="body"/>
          </p:nvPr>
        </p:nvSpPr>
        <p:spPr>
          <a:xfrm>
            <a:off x="324000" y="3273900"/>
            <a:ext cx="82377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consider the</a:t>
            </a:r>
            <a:r>
              <a:rPr lang="en-GB"/>
              <a:t> rectangle example from earlier.</a:t>
            </a:r>
            <a:endParaRPr/>
          </a:p>
        </p:txBody>
      </p:sp>
      <p:pic>
        <p:nvPicPr>
          <p:cNvPr id="1201" name="Google Shape;120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2975" y="16454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82" y="17377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2"/>
          <p:cNvSpPr txBox="1"/>
          <p:nvPr/>
        </p:nvSpPr>
        <p:spPr>
          <a:xfrm>
            <a:off x="7587450" y="2754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2"/>
          <p:cNvSpPr txBox="1"/>
          <p:nvPr/>
        </p:nvSpPr>
        <p:spPr>
          <a:xfrm>
            <a:off x="324000" y="2754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5" name="Google Shape;1205;p92"/>
          <p:cNvGrpSpPr/>
          <p:nvPr/>
        </p:nvGrpSpPr>
        <p:grpSpPr>
          <a:xfrm>
            <a:off x="1288834" y="1029775"/>
            <a:ext cx="2674197" cy="1316250"/>
            <a:chOff x="1226698" y="2782375"/>
            <a:chExt cx="1955251" cy="1316250"/>
          </a:xfrm>
        </p:grpSpPr>
        <p:pic>
          <p:nvPicPr>
            <p:cNvPr id="1206" name="Google Shape;1206;p9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698" y="27823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2"/>
            <p:cNvSpPr txBox="1"/>
            <p:nvPr/>
          </p:nvSpPr>
          <p:spPr>
            <a:xfrm>
              <a:off x="1404930" y="3016225"/>
              <a:ext cx="1677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When we worked on direct proportion we used ratio tables.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2"/>
          <p:cNvGrpSpPr/>
          <p:nvPr/>
        </p:nvGrpSpPr>
        <p:grpSpPr>
          <a:xfrm>
            <a:off x="4800475" y="603790"/>
            <a:ext cx="2865616" cy="1662819"/>
            <a:chOff x="5482573" y="2813550"/>
            <a:chExt cx="1955251" cy="1316250"/>
          </a:xfrm>
        </p:grpSpPr>
        <p:pic>
          <p:nvPicPr>
            <p:cNvPr id="1209" name="Google Shape;1209;p9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482573" y="2813550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2"/>
            <p:cNvSpPr txBox="1"/>
            <p:nvPr/>
          </p:nvSpPr>
          <p:spPr>
            <a:xfrm>
              <a:off x="5668999" y="3009942"/>
              <a:ext cx="1621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Yes, we did Sam.  I assume we can use them for </a:t>
              </a:r>
              <a:r>
                <a:rPr b="1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inverse proportion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as well.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5" name="Google Shape;1215;p93"/>
          <p:cNvGrpSpPr/>
          <p:nvPr/>
        </p:nvGrpSpPr>
        <p:grpSpPr>
          <a:xfrm>
            <a:off x="5173533" y="2356469"/>
            <a:ext cx="2797769" cy="1143032"/>
            <a:chOff x="5406373" y="2813550"/>
            <a:chExt cx="1955251" cy="1316250"/>
          </a:xfrm>
        </p:grpSpPr>
        <p:pic>
          <p:nvPicPr>
            <p:cNvPr id="1216" name="Google Shape;1216;p9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406373" y="2813550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93"/>
            <p:cNvSpPr txBox="1"/>
            <p:nvPr/>
          </p:nvSpPr>
          <p:spPr>
            <a:xfrm>
              <a:off x="5548424" y="2977974"/>
              <a:ext cx="1621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Oh yes, Sam. You are right!  That is an area of 6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93"/>
          <p:cNvGrpSpPr/>
          <p:nvPr/>
        </p:nvGrpSpPr>
        <p:grpSpPr>
          <a:xfrm>
            <a:off x="1046177" y="2564598"/>
            <a:ext cx="2391562" cy="1500250"/>
            <a:chOff x="1297910" y="2745027"/>
            <a:chExt cx="1876323" cy="1500250"/>
          </a:xfrm>
        </p:grpSpPr>
        <p:pic>
          <p:nvPicPr>
            <p:cNvPr id="1219" name="Google Shape;1219;p9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297910" y="2745027"/>
              <a:ext cx="1827180" cy="150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93"/>
            <p:cNvSpPr txBox="1"/>
            <p:nvPr/>
          </p:nvSpPr>
          <p:spPr>
            <a:xfrm>
              <a:off x="1496633" y="2940025"/>
              <a:ext cx="1677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Hold on!  That doesn’t give a rectangle with an area of 24 cm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1" name="Google Shape;1221;p93"/>
          <p:cNvSpPr txBox="1"/>
          <p:nvPr/>
        </p:nvSpPr>
        <p:spPr>
          <a:xfrm>
            <a:off x="2938055" y="3984300"/>
            <a:ext cx="86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223" name="Google Shape;1223;p93"/>
          <p:cNvSpPr txBox="1"/>
          <p:nvPr>
            <p:ph idx="1" type="body"/>
          </p:nvPr>
        </p:nvSpPr>
        <p:spPr>
          <a:xfrm>
            <a:off x="324000" y="1968781"/>
            <a:ext cx="8237700" cy="7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start with the dimensions of 6 cm by 4cm which we know has an area of 24 cm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</p:txBody>
      </p:sp>
      <p:sp>
        <p:nvSpPr>
          <p:cNvPr id="1224" name="Google Shape;1224;p93"/>
          <p:cNvSpPr txBox="1"/>
          <p:nvPr>
            <p:ph idx="1" type="body"/>
          </p:nvPr>
        </p:nvSpPr>
        <p:spPr>
          <a:xfrm>
            <a:off x="324000" y="606900"/>
            <a:ext cx="8237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as many rectangles as you can with an area of 24 cm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</p:txBody>
      </p:sp>
      <p:grpSp>
        <p:nvGrpSpPr>
          <p:cNvPr id="1225" name="Google Shape;1225;p93"/>
          <p:cNvGrpSpPr/>
          <p:nvPr/>
        </p:nvGrpSpPr>
        <p:grpSpPr>
          <a:xfrm>
            <a:off x="3345920" y="1007880"/>
            <a:ext cx="2391580" cy="1044986"/>
            <a:chOff x="3193520" y="2116725"/>
            <a:chExt cx="2391580" cy="1044986"/>
          </a:xfrm>
        </p:grpSpPr>
        <p:sp>
          <p:nvSpPr>
            <p:cNvPr id="1226" name="Google Shape;1226;p93"/>
            <p:cNvSpPr/>
            <p:nvPr/>
          </p:nvSpPr>
          <p:spPr>
            <a:xfrm>
              <a:off x="3558900" y="2116725"/>
              <a:ext cx="2026200" cy="613500"/>
            </a:xfrm>
            <a:prstGeom prst="rect">
              <a:avLst/>
            </a:prstGeom>
            <a:solidFill>
              <a:srgbClr val="037B7D">
                <a:alpha val="25000"/>
              </a:srgbClr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24 cm</a:t>
              </a:r>
              <a:r>
                <a:rPr baseline="30000"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aseline="30000"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7" name="Google Shape;1227;p93"/>
            <p:cNvSpPr txBox="1"/>
            <p:nvPr/>
          </p:nvSpPr>
          <p:spPr>
            <a:xfrm>
              <a:off x="3193520" y="2238525"/>
              <a:ext cx="22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 i="1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8" name="Google Shape;1228;p93"/>
            <p:cNvSpPr txBox="1"/>
            <p:nvPr/>
          </p:nvSpPr>
          <p:spPr>
            <a:xfrm>
              <a:off x="4509865" y="2792411"/>
              <a:ext cx="131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i="1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1229" name="Google Shape;1229;p93"/>
          <p:cNvGraphicFramePr/>
          <p:nvPr/>
        </p:nvGraphicFramePr>
        <p:xfrm>
          <a:off x="3982540" y="35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595375"/>
                <a:gridCol w="59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0" name="Google Shape;1230;p93"/>
          <p:cNvGraphicFramePr/>
          <p:nvPr/>
        </p:nvGraphicFramePr>
        <p:xfrm>
          <a:off x="3982540" y="35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595375"/>
                <a:gridCol w="59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1" name="Google Shape;1231;p93"/>
          <p:cNvSpPr/>
          <p:nvPr/>
        </p:nvSpPr>
        <p:spPr>
          <a:xfrm flipH="1" rot="-5400000">
            <a:off x="3692572" y="408553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93"/>
          <p:cNvSpPr txBox="1"/>
          <p:nvPr/>
        </p:nvSpPr>
        <p:spPr>
          <a:xfrm>
            <a:off x="5454404" y="3983175"/>
            <a:ext cx="86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3"/>
          <p:cNvSpPr/>
          <p:nvPr/>
        </p:nvSpPr>
        <p:spPr>
          <a:xfrm rot="5400000">
            <a:off x="5010531" y="4097308"/>
            <a:ext cx="439800" cy="3516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34" name="Google Shape;1234;p93"/>
          <p:cNvGraphicFramePr/>
          <p:nvPr/>
        </p:nvGraphicFramePr>
        <p:xfrm>
          <a:off x="3982540" y="35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595375"/>
                <a:gridCol w="59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35" name="Google Shape;123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9390" y="30170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6" name="Google Shape;123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512" y="34903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93"/>
          <p:cNvSpPr txBox="1"/>
          <p:nvPr/>
        </p:nvSpPr>
        <p:spPr>
          <a:xfrm>
            <a:off x="7753865" y="4125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93"/>
          <p:cNvSpPr txBox="1"/>
          <p:nvPr/>
        </p:nvSpPr>
        <p:spPr>
          <a:xfrm>
            <a:off x="27583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9" name="Google Shape;1239;p93"/>
          <p:cNvGrpSpPr/>
          <p:nvPr/>
        </p:nvGrpSpPr>
        <p:grpSpPr>
          <a:xfrm>
            <a:off x="3604750" y="996615"/>
            <a:ext cx="2144300" cy="706930"/>
            <a:chOff x="3452350" y="2125600"/>
            <a:chExt cx="2144300" cy="706930"/>
          </a:xfrm>
        </p:grpSpPr>
        <p:cxnSp>
          <p:nvCxnSpPr>
            <p:cNvPr id="1240" name="Google Shape;1240;p93"/>
            <p:cNvCxnSpPr/>
            <p:nvPr/>
          </p:nvCxnSpPr>
          <p:spPr>
            <a:xfrm>
              <a:off x="3452350" y="2125600"/>
              <a:ext cx="0" cy="60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41" name="Google Shape;1241;p93"/>
            <p:cNvCxnSpPr/>
            <p:nvPr/>
          </p:nvCxnSpPr>
          <p:spPr>
            <a:xfrm rot="10800000">
              <a:off x="3556650" y="2832530"/>
              <a:ext cx="2040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6" name="Google Shape;1246;p94"/>
          <p:cNvGrpSpPr/>
          <p:nvPr/>
        </p:nvGrpSpPr>
        <p:grpSpPr>
          <a:xfrm>
            <a:off x="3751972" y="3159415"/>
            <a:ext cx="4001617" cy="1678614"/>
            <a:chOff x="5193361" y="3902130"/>
            <a:chExt cx="1955251" cy="1316250"/>
          </a:xfrm>
        </p:grpSpPr>
        <p:pic>
          <p:nvPicPr>
            <p:cNvPr id="1247" name="Google Shape;1247;p94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193361" y="3902130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8" name="Google Shape;1248;p94"/>
            <p:cNvSpPr txBox="1"/>
            <p:nvPr/>
          </p:nvSpPr>
          <p:spPr>
            <a:xfrm>
              <a:off x="5343529" y="4184057"/>
              <a:ext cx="1650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To get an area of 24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aseline="30000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we must have a length of 8cm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as 3 x 8 = 24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9" name="Google Shape;1249;p94"/>
          <p:cNvGrpSpPr/>
          <p:nvPr/>
        </p:nvGrpSpPr>
        <p:grpSpPr>
          <a:xfrm>
            <a:off x="1112177" y="2906750"/>
            <a:ext cx="2439757" cy="1602225"/>
            <a:chOff x="1369123" y="2553779"/>
            <a:chExt cx="2137513" cy="1602225"/>
          </a:xfrm>
        </p:grpSpPr>
        <p:pic>
          <p:nvPicPr>
            <p:cNvPr id="1250" name="Google Shape;1250;p94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369123" y="2553779"/>
              <a:ext cx="2137513" cy="1602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94"/>
            <p:cNvSpPr txBox="1"/>
            <p:nvPr/>
          </p:nvSpPr>
          <p:spPr>
            <a:xfrm>
              <a:off x="1603458" y="2780440"/>
              <a:ext cx="1842600" cy="104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the width of the rectangle is 3 cm what would the length be?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52" name="Google Shape;1252;p94"/>
          <p:cNvSpPr txBox="1"/>
          <p:nvPr/>
        </p:nvSpPr>
        <p:spPr>
          <a:xfrm>
            <a:off x="2935205" y="2590795"/>
            <a:ext cx="86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254" name="Google Shape;1254;p94"/>
          <p:cNvSpPr txBox="1"/>
          <p:nvPr>
            <p:ph idx="1" type="body"/>
          </p:nvPr>
        </p:nvSpPr>
        <p:spPr>
          <a:xfrm>
            <a:off x="324000" y="606900"/>
            <a:ext cx="8237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as many rectangles as you can with an area of 24 cm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</p:txBody>
      </p:sp>
      <p:graphicFrame>
        <p:nvGraphicFramePr>
          <p:cNvPr id="1255" name="Google Shape;1255;p94"/>
          <p:cNvGraphicFramePr/>
          <p:nvPr/>
        </p:nvGraphicFramePr>
        <p:xfrm>
          <a:off x="3982540" y="20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595375"/>
                <a:gridCol w="59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6" name="Google Shape;1256;p94"/>
          <p:cNvSpPr/>
          <p:nvPr/>
        </p:nvSpPr>
        <p:spPr>
          <a:xfrm flipH="1" rot="-5400000">
            <a:off x="3692572" y="2692034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57" name="Google Shape;1257;p94"/>
          <p:cNvGraphicFramePr/>
          <p:nvPr/>
        </p:nvGraphicFramePr>
        <p:xfrm>
          <a:off x="3982540" y="20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595375"/>
                <a:gridCol w="59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58" name="Google Shape;125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9390" y="33980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512" y="34903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94"/>
          <p:cNvSpPr txBox="1"/>
          <p:nvPr/>
        </p:nvSpPr>
        <p:spPr>
          <a:xfrm>
            <a:off x="775386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4"/>
          <p:cNvSpPr txBox="1"/>
          <p:nvPr/>
        </p:nvSpPr>
        <p:spPr>
          <a:xfrm>
            <a:off x="27583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94"/>
          <p:cNvSpPr txBox="1"/>
          <p:nvPr/>
        </p:nvSpPr>
        <p:spPr>
          <a:xfrm>
            <a:off x="947425" y="1765975"/>
            <a:ext cx="1778749" cy="555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3" name="Google Shape;1263;p94"/>
          <p:cNvGrpSpPr/>
          <p:nvPr/>
        </p:nvGrpSpPr>
        <p:grpSpPr>
          <a:xfrm>
            <a:off x="5088786" y="2590800"/>
            <a:ext cx="993866" cy="523200"/>
            <a:chOff x="5088786" y="2590800"/>
            <a:chExt cx="993866" cy="523200"/>
          </a:xfrm>
        </p:grpSpPr>
        <p:sp>
          <p:nvSpPr>
            <p:cNvPr id="1264" name="Google Shape;1264;p94"/>
            <p:cNvSpPr/>
            <p:nvPr/>
          </p:nvSpPr>
          <p:spPr>
            <a:xfrm rot="5400000">
              <a:off x="5044686" y="2649508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94"/>
            <p:cNvSpPr txBox="1"/>
            <p:nvPr/>
          </p:nvSpPr>
          <p:spPr>
            <a:xfrm>
              <a:off x="5528852" y="2590800"/>
              <a:ext cx="553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6" name="Google Shape;1266;p94"/>
          <p:cNvGrpSpPr/>
          <p:nvPr/>
        </p:nvGrpSpPr>
        <p:grpSpPr>
          <a:xfrm>
            <a:off x="3345920" y="1007880"/>
            <a:ext cx="2391580" cy="1044986"/>
            <a:chOff x="3193520" y="2116725"/>
            <a:chExt cx="2391580" cy="1044986"/>
          </a:xfrm>
        </p:grpSpPr>
        <p:sp>
          <p:nvSpPr>
            <p:cNvPr id="1267" name="Google Shape;1267;p94"/>
            <p:cNvSpPr/>
            <p:nvPr/>
          </p:nvSpPr>
          <p:spPr>
            <a:xfrm>
              <a:off x="3558900" y="2116725"/>
              <a:ext cx="2026200" cy="613500"/>
            </a:xfrm>
            <a:prstGeom prst="rect">
              <a:avLst/>
            </a:prstGeom>
            <a:solidFill>
              <a:srgbClr val="037B7D">
                <a:alpha val="25000"/>
              </a:srgbClr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24 cm</a:t>
              </a:r>
              <a:r>
                <a:rPr baseline="30000"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aseline="30000"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8" name="Google Shape;1268;p94"/>
            <p:cNvSpPr txBox="1"/>
            <p:nvPr/>
          </p:nvSpPr>
          <p:spPr>
            <a:xfrm>
              <a:off x="3193520" y="2238525"/>
              <a:ext cx="22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 i="1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9" name="Google Shape;1269;p94"/>
            <p:cNvSpPr txBox="1"/>
            <p:nvPr/>
          </p:nvSpPr>
          <p:spPr>
            <a:xfrm>
              <a:off x="4509865" y="2792411"/>
              <a:ext cx="131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i="1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70" name="Google Shape;1270;p94"/>
          <p:cNvGrpSpPr/>
          <p:nvPr/>
        </p:nvGrpSpPr>
        <p:grpSpPr>
          <a:xfrm>
            <a:off x="3604750" y="996615"/>
            <a:ext cx="2144300" cy="706930"/>
            <a:chOff x="3452350" y="2125600"/>
            <a:chExt cx="2144300" cy="706930"/>
          </a:xfrm>
        </p:grpSpPr>
        <p:cxnSp>
          <p:nvCxnSpPr>
            <p:cNvPr id="1271" name="Google Shape;1271;p94"/>
            <p:cNvCxnSpPr/>
            <p:nvPr/>
          </p:nvCxnSpPr>
          <p:spPr>
            <a:xfrm>
              <a:off x="3452350" y="2125600"/>
              <a:ext cx="0" cy="60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72" name="Google Shape;1272;p94"/>
            <p:cNvCxnSpPr/>
            <p:nvPr/>
          </p:nvCxnSpPr>
          <p:spPr>
            <a:xfrm rot="10800000">
              <a:off x="3556650" y="2832530"/>
              <a:ext cx="2040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95"/>
          <p:cNvSpPr txBox="1"/>
          <p:nvPr/>
        </p:nvSpPr>
        <p:spPr>
          <a:xfrm>
            <a:off x="2938055" y="2590795"/>
            <a:ext cx="86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279" name="Google Shape;1279;p95"/>
          <p:cNvSpPr txBox="1"/>
          <p:nvPr>
            <p:ph idx="1" type="body"/>
          </p:nvPr>
        </p:nvSpPr>
        <p:spPr>
          <a:xfrm>
            <a:off x="324000" y="606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as many rectangles as you can with an area of 24 cm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</p:txBody>
      </p:sp>
      <p:graphicFrame>
        <p:nvGraphicFramePr>
          <p:cNvPr id="1280" name="Google Shape;1280;p95"/>
          <p:cNvGraphicFramePr/>
          <p:nvPr/>
        </p:nvGraphicFramePr>
        <p:xfrm>
          <a:off x="3982540" y="20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595375"/>
                <a:gridCol w="59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1" name="Google Shape;1281;p95"/>
          <p:cNvSpPr/>
          <p:nvPr/>
        </p:nvSpPr>
        <p:spPr>
          <a:xfrm flipH="1" rot="-5400000">
            <a:off x="3692572" y="2692034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82" name="Google Shape;1282;p95"/>
          <p:cNvGraphicFramePr/>
          <p:nvPr/>
        </p:nvGraphicFramePr>
        <p:xfrm>
          <a:off x="3982540" y="20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595375"/>
                <a:gridCol w="59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83" name="Google Shape;128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9390" y="33980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12" y="34903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95"/>
          <p:cNvSpPr txBox="1"/>
          <p:nvPr/>
        </p:nvSpPr>
        <p:spPr>
          <a:xfrm>
            <a:off x="775386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5"/>
          <p:cNvSpPr txBox="1"/>
          <p:nvPr/>
        </p:nvSpPr>
        <p:spPr>
          <a:xfrm>
            <a:off x="27583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7" name="Google Shape;1287;p95"/>
          <p:cNvGrpSpPr/>
          <p:nvPr/>
        </p:nvGrpSpPr>
        <p:grpSpPr>
          <a:xfrm>
            <a:off x="1074999" y="3117086"/>
            <a:ext cx="2707801" cy="1627974"/>
            <a:chOff x="851974" y="2413040"/>
            <a:chExt cx="2137513" cy="1254701"/>
          </a:xfrm>
        </p:grpSpPr>
        <p:pic>
          <p:nvPicPr>
            <p:cNvPr id="1288" name="Google Shape;1288;p95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851974" y="2413040"/>
              <a:ext cx="2137513" cy="1254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95"/>
            <p:cNvSpPr txBox="1"/>
            <p:nvPr/>
          </p:nvSpPr>
          <p:spPr>
            <a:xfrm>
              <a:off x="1067794" y="2593186"/>
              <a:ext cx="179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So, when we divided the width by 2 we multiplied the length by 2.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95"/>
          <p:cNvGrpSpPr/>
          <p:nvPr/>
        </p:nvGrpSpPr>
        <p:grpSpPr>
          <a:xfrm>
            <a:off x="3982346" y="3213371"/>
            <a:ext cx="3836398" cy="1549358"/>
            <a:chOff x="5193361" y="3542844"/>
            <a:chExt cx="1955251" cy="1316250"/>
          </a:xfrm>
        </p:grpSpPr>
        <p:pic>
          <p:nvPicPr>
            <p:cNvPr id="1291" name="Google Shape;1291;p95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193361" y="3542844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95"/>
            <p:cNvSpPr txBox="1"/>
            <p:nvPr/>
          </p:nvSpPr>
          <p:spPr>
            <a:xfrm>
              <a:off x="5335409" y="3707263"/>
              <a:ext cx="1675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course! That makes sense as they are inverses of each other and as one increases the other decreases.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3" name="Google Shape;1293;p95"/>
          <p:cNvGrpSpPr/>
          <p:nvPr/>
        </p:nvGrpSpPr>
        <p:grpSpPr>
          <a:xfrm>
            <a:off x="5088786" y="2590800"/>
            <a:ext cx="993866" cy="523200"/>
            <a:chOff x="5088786" y="2590800"/>
            <a:chExt cx="993866" cy="523200"/>
          </a:xfrm>
        </p:grpSpPr>
        <p:sp>
          <p:nvSpPr>
            <p:cNvPr id="1294" name="Google Shape;1294;p95"/>
            <p:cNvSpPr/>
            <p:nvPr/>
          </p:nvSpPr>
          <p:spPr>
            <a:xfrm rot="5400000">
              <a:off x="5044686" y="2649508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95"/>
            <p:cNvSpPr txBox="1"/>
            <p:nvPr/>
          </p:nvSpPr>
          <p:spPr>
            <a:xfrm>
              <a:off x="5528852" y="2590800"/>
              <a:ext cx="553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6" name="Google Shape;1296;p95"/>
          <p:cNvGrpSpPr/>
          <p:nvPr/>
        </p:nvGrpSpPr>
        <p:grpSpPr>
          <a:xfrm>
            <a:off x="5088786" y="2590800"/>
            <a:ext cx="993866" cy="523200"/>
            <a:chOff x="5088786" y="2590800"/>
            <a:chExt cx="993866" cy="523200"/>
          </a:xfrm>
        </p:grpSpPr>
        <p:sp>
          <p:nvSpPr>
            <p:cNvPr id="1297" name="Google Shape;1297;p95"/>
            <p:cNvSpPr/>
            <p:nvPr/>
          </p:nvSpPr>
          <p:spPr>
            <a:xfrm rot="5400000">
              <a:off x="5044686" y="2649508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95"/>
            <p:cNvSpPr txBox="1"/>
            <p:nvPr/>
          </p:nvSpPr>
          <p:spPr>
            <a:xfrm>
              <a:off x="5528852" y="2590800"/>
              <a:ext cx="553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95"/>
          <p:cNvGrpSpPr/>
          <p:nvPr/>
        </p:nvGrpSpPr>
        <p:grpSpPr>
          <a:xfrm>
            <a:off x="3345920" y="1007880"/>
            <a:ext cx="2391580" cy="1044986"/>
            <a:chOff x="3193520" y="2116725"/>
            <a:chExt cx="2391580" cy="1044986"/>
          </a:xfrm>
        </p:grpSpPr>
        <p:sp>
          <p:nvSpPr>
            <p:cNvPr id="1300" name="Google Shape;1300;p95"/>
            <p:cNvSpPr/>
            <p:nvPr/>
          </p:nvSpPr>
          <p:spPr>
            <a:xfrm>
              <a:off x="3558900" y="2116725"/>
              <a:ext cx="2026200" cy="613500"/>
            </a:xfrm>
            <a:prstGeom prst="rect">
              <a:avLst/>
            </a:prstGeom>
            <a:solidFill>
              <a:srgbClr val="037B7D">
                <a:alpha val="25000"/>
              </a:srgbClr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24 cm</a:t>
              </a:r>
              <a:r>
                <a:rPr baseline="30000"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aseline="30000"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95"/>
            <p:cNvSpPr txBox="1"/>
            <p:nvPr/>
          </p:nvSpPr>
          <p:spPr>
            <a:xfrm>
              <a:off x="3193520" y="2238525"/>
              <a:ext cx="22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 i="1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2" name="Google Shape;1302;p95"/>
            <p:cNvSpPr txBox="1"/>
            <p:nvPr/>
          </p:nvSpPr>
          <p:spPr>
            <a:xfrm>
              <a:off x="4509865" y="2792411"/>
              <a:ext cx="131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i="1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03" name="Google Shape;1303;p95"/>
          <p:cNvGrpSpPr/>
          <p:nvPr/>
        </p:nvGrpSpPr>
        <p:grpSpPr>
          <a:xfrm>
            <a:off x="3604750" y="996615"/>
            <a:ext cx="2144300" cy="706930"/>
            <a:chOff x="3452350" y="2125600"/>
            <a:chExt cx="2144300" cy="706930"/>
          </a:xfrm>
        </p:grpSpPr>
        <p:cxnSp>
          <p:nvCxnSpPr>
            <p:cNvPr id="1304" name="Google Shape;1304;p95"/>
            <p:cNvCxnSpPr/>
            <p:nvPr/>
          </p:nvCxnSpPr>
          <p:spPr>
            <a:xfrm>
              <a:off x="3452350" y="2125600"/>
              <a:ext cx="0" cy="60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05" name="Google Shape;1305;p95"/>
            <p:cNvCxnSpPr/>
            <p:nvPr/>
          </p:nvCxnSpPr>
          <p:spPr>
            <a:xfrm rot="10800000">
              <a:off x="3556650" y="2832530"/>
              <a:ext cx="2040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311" name="Google Shape;1311;p96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go back to our original problem: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If it takes 3 people 2 days to paint a fence, how long will it take 6 people?</a:t>
            </a:r>
            <a:endParaRPr/>
          </a:p>
        </p:txBody>
      </p:sp>
      <p:sp>
        <p:nvSpPr>
          <p:cNvPr id="1312" name="Google Shape;1312;p96"/>
          <p:cNvSpPr txBox="1"/>
          <p:nvPr/>
        </p:nvSpPr>
        <p:spPr>
          <a:xfrm>
            <a:off x="2557049" y="2819400"/>
            <a:ext cx="70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13" name="Google Shape;1313;p96"/>
          <p:cNvGraphicFramePr/>
          <p:nvPr/>
        </p:nvGraphicFramePr>
        <p:xfrm>
          <a:off x="3445790" y="230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114425"/>
                <a:gridCol w="1114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4" name="Google Shape;1314;p96"/>
          <p:cNvSpPr/>
          <p:nvPr/>
        </p:nvSpPr>
        <p:spPr>
          <a:xfrm flipH="1" rot="-5400000">
            <a:off x="3082972" y="2920634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15" name="Google Shape;1315;p96"/>
          <p:cNvGraphicFramePr/>
          <p:nvPr/>
        </p:nvGraphicFramePr>
        <p:xfrm>
          <a:off x="3445790" y="230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114425"/>
                <a:gridCol w="1114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16" name="Google Shape;1316;p96"/>
          <p:cNvGrpSpPr/>
          <p:nvPr/>
        </p:nvGrpSpPr>
        <p:grpSpPr>
          <a:xfrm>
            <a:off x="5622186" y="2819400"/>
            <a:ext cx="1298914" cy="523200"/>
            <a:chOff x="5088786" y="2590800"/>
            <a:chExt cx="1298914" cy="523200"/>
          </a:xfrm>
        </p:grpSpPr>
        <p:sp>
          <p:nvSpPr>
            <p:cNvPr id="1317" name="Google Shape;1317;p96"/>
            <p:cNvSpPr/>
            <p:nvPr/>
          </p:nvSpPr>
          <p:spPr>
            <a:xfrm rot="5400000">
              <a:off x="5044686" y="2649508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96"/>
            <p:cNvSpPr txBox="1"/>
            <p:nvPr/>
          </p:nvSpPr>
          <p:spPr>
            <a:xfrm>
              <a:off x="5378500" y="2590800"/>
              <a:ext cx="1009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÷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324" name="Google Shape;1324;p97"/>
          <p:cNvSpPr txBox="1"/>
          <p:nvPr>
            <p:ph idx="1" type="body"/>
          </p:nvPr>
        </p:nvSpPr>
        <p:spPr>
          <a:xfrm>
            <a:off x="324000" y="6069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a </a:t>
            </a:r>
            <a:r>
              <a:rPr lang="en-GB"/>
              <a:t>factory,</a:t>
            </a:r>
            <a:r>
              <a:rPr lang="en-GB"/>
              <a:t> 10 machines take 5 days to produce a lorry load of items.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long will it take 2 machines?</a:t>
            </a:r>
            <a:endParaRPr/>
          </a:p>
        </p:txBody>
      </p:sp>
      <p:sp>
        <p:nvSpPr>
          <p:cNvPr id="1325" name="Google Shape;1325;p97"/>
          <p:cNvSpPr txBox="1"/>
          <p:nvPr/>
        </p:nvSpPr>
        <p:spPr>
          <a:xfrm>
            <a:off x="423450" y="3429000"/>
            <a:ext cx="64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26" name="Google Shape;1326;p97"/>
          <p:cNvGraphicFramePr/>
          <p:nvPr/>
        </p:nvGraphicFramePr>
        <p:xfrm>
          <a:off x="1312190" y="29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114425"/>
                <a:gridCol w="1114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machin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7" name="Google Shape;1327;p97"/>
          <p:cNvSpPr/>
          <p:nvPr/>
        </p:nvSpPr>
        <p:spPr>
          <a:xfrm flipH="1" rot="-5400000">
            <a:off x="949372" y="3530234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28" name="Google Shape;1328;p97"/>
          <p:cNvGraphicFramePr/>
          <p:nvPr/>
        </p:nvGraphicFramePr>
        <p:xfrm>
          <a:off x="1312190" y="29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114425"/>
                <a:gridCol w="1114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machin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29" name="Google Shape;1329;p97"/>
          <p:cNvGrpSpPr/>
          <p:nvPr/>
        </p:nvGrpSpPr>
        <p:grpSpPr>
          <a:xfrm>
            <a:off x="3488586" y="3429000"/>
            <a:ext cx="1298914" cy="523200"/>
            <a:chOff x="5088786" y="2590800"/>
            <a:chExt cx="1298914" cy="523200"/>
          </a:xfrm>
        </p:grpSpPr>
        <p:sp>
          <p:nvSpPr>
            <p:cNvPr id="1330" name="Google Shape;1330;p97"/>
            <p:cNvSpPr/>
            <p:nvPr/>
          </p:nvSpPr>
          <p:spPr>
            <a:xfrm rot="5400000">
              <a:off x="5044686" y="2649508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97"/>
            <p:cNvSpPr txBox="1"/>
            <p:nvPr/>
          </p:nvSpPr>
          <p:spPr>
            <a:xfrm>
              <a:off x="5378500" y="2590800"/>
              <a:ext cx="1009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2" name="Google Shape;1332;p97"/>
          <p:cNvGrpSpPr/>
          <p:nvPr/>
        </p:nvGrpSpPr>
        <p:grpSpPr>
          <a:xfrm>
            <a:off x="1274786" y="1916147"/>
            <a:ext cx="1755326" cy="913589"/>
            <a:chOff x="1369123" y="2553779"/>
            <a:chExt cx="2137513" cy="1602225"/>
          </a:xfrm>
        </p:grpSpPr>
        <p:pic>
          <p:nvPicPr>
            <p:cNvPr id="1333" name="Google Shape;1333;p97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369123" y="2553779"/>
              <a:ext cx="2137513" cy="1602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4" name="Google Shape;1334;p97"/>
            <p:cNvSpPr txBox="1"/>
            <p:nvPr/>
          </p:nvSpPr>
          <p:spPr>
            <a:xfrm>
              <a:off x="1567846" y="2787629"/>
              <a:ext cx="1735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Here are my workings.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35" name="Google Shape;1335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9390" y="15692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512" y="19663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97"/>
          <p:cNvSpPr txBox="1"/>
          <p:nvPr/>
        </p:nvSpPr>
        <p:spPr>
          <a:xfrm>
            <a:off x="7753865" y="26781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97"/>
          <p:cNvSpPr txBox="1"/>
          <p:nvPr/>
        </p:nvSpPr>
        <p:spPr>
          <a:xfrm>
            <a:off x="275830" y="2982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344" name="Google Shape;1344;p98"/>
          <p:cNvSpPr txBox="1"/>
          <p:nvPr>
            <p:ph idx="1" type="body"/>
          </p:nvPr>
        </p:nvSpPr>
        <p:spPr>
          <a:xfrm>
            <a:off x="324000" y="6069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a factory, 10 machines take 5 days to produce a lorry load of items.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long will it take 2 machines?</a:t>
            </a:r>
            <a:endParaRPr/>
          </a:p>
        </p:txBody>
      </p:sp>
      <p:sp>
        <p:nvSpPr>
          <p:cNvPr id="1345" name="Google Shape;1345;p98"/>
          <p:cNvSpPr txBox="1"/>
          <p:nvPr/>
        </p:nvSpPr>
        <p:spPr>
          <a:xfrm>
            <a:off x="4473640" y="3429000"/>
            <a:ext cx="88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46" name="Google Shape;1346;p98"/>
          <p:cNvGraphicFramePr/>
          <p:nvPr/>
        </p:nvGraphicFramePr>
        <p:xfrm>
          <a:off x="5579390" y="29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114425"/>
                <a:gridCol w="1114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machines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7" name="Google Shape;1347;p98"/>
          <p:cNvSpPr/>
          <p:nvPr/>
        </p:nvSpPr>
        <p:spPr>
          <a:xfrm flipH="1" rot="-5400000">
            <a:off x="5216572" y="3530234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48" name="Google Shape;1348;p98"/>
          <p:cNvGraphicFramePr/>
          <p:nvPr/>
        </p:nvGraphicFramePr>
        <p:xfrm>
          <a:off x="5579390" y="29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114425"/>
                <a:gridCol w="1114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machines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49" name="Google Shape;1349;p98"/>
          <p:cNvGrpSpPr/>
          <p:nvPr/>
        </p:nvGrpSpPr>
        <p:grpSpPr>
          <a:xfrm>
            <a:off x="7755786" y="3429000"/>
            <a:ext cx="1256869" cy="523200"/>
            <a:chOff x="5088786" y="2590800"/>
            <a:chExt cx="1256869" cy="523200"/>
          </a:xfrm>
        </p:grpSpPr>
        <p:sp>
          <p:nvSpPr>
            <p:cNvPr id="1350" name="Google Shape;1350;p98"/>
            <p:cNvSpPr/>
            <p:nvPr/>
          </p:nvSpPr>
          <p:spPr>
            <a:xfrm rot="5400000">
              <a:off x="5044686" y="2649508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98"/>
            <p:cNvSpPr txBox="1"/>
            <p:nvPr/>
          </p:nvSpPr>
          <p:spPr>
            <a:xfrm>
              <a:off x="5336455" y="2590800"/>
              <a:ext cx="1009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0.2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52" name="Google Shape;135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9390" y="15692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12" y="19663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98"/>
          <p:cNvSpPr txBox="1"/>
          <p:nvPr/>
        </p:nvSpPr>
        <p:spPr>
          <a:xfrm>
            <a:off x="7753865" y="26781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98"/>
          <p:cNvSpPr txBox="1"/>
          <p:nvPr/>
        </p:nvSpPr>
        <p:spPr>
          <a:xfrm>
            <a:off x="275830" y="2982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6" name="Google Shape;1356;p98"/>
          <p:cNvGrpSpPr/>
          <p:nvPr/>
        </p:nvGrpSpPr>
        <p:grpSpPr>
          <a:xfrm>
            <a:off x="1274786" y="1916147"/>
            <a:ext cx="1755326" cy="913589"/>
            <a:chOff x="1369123" y="2553779"/>
            <a:chExt cx="2137513" cy="1602225"/>
          </a:xfrm>
        </p:grpSpPr>
        <p:pic>
          <p:nvPicPr>
            <p:cNvPr id="1357" name="Google Shape;1357;p9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369123" y="2553779"/>
              <a:ext cx="2137513" cy="1602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98"/>
            <p:cNvSpPr txBox="1"/>
            <p:nvPr/>
          </p:nvSpPr>
          <p:spPr>
            <a:xfrm>
              <a:off x="1567846" y="2787629"/>
              <a:ext cx="1735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Here are my workings.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98"/>
          <p:cNvGrpSpPr/>
          <p:nvPr/>
        </p:nvGrpSpPr>
        <p:grpSpPr>
          <a:xfrm>
            <a:off x="5834775" y="1594523"/>
            <a:ext cx="1755425" cy="813874"/>
            <a:chOff x="5193371" y="3866526"/>
            <a:chExt cx="1955251" cy="937211"/>
          </a:xfrm>
        </p:grpSpPr>
        <p:pic>
          <p:nvPicPr>
            <p:cNvPr id="1360" name="Google Shape;1360;p9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193371" y="3866526"/>
              <a:ext cx="1955251" cy="9372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98"/>
            <p:cNvSpPr txBox="1"/>
            <p:nvPr/>
          </p:nvSpPr>
          <p:spPr>
            <a:xfrm>
              <a:off x="5297366" y="3943192"/>
              <a:ext cx="1675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And, here are mine.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62" name="Google Shape;1362;p98"/>
          <p:cNvSpPr txBox="1"/>
          <p:nvPr/>
        </p:nvSpPr>
        <p:spPr>
          <a:xfrm>
            <a:off x="423450" y="3429000"/>
            <a:ext cx="64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63" name="Google Shape;1363;p98"/>
          <p:cNvGraphicFramePr/>
          <p:nvPr/>
        </p:nvGraphicFramePr>
        <p:xfrm>
          <a:off x="1312190" y="29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114425"/>
                <a:gridCol w="1114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machines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4" name="Google Shape;1364;p98"/>
          <p:cNvSpPr/>
          <p:nvPr/>
        </p:nvSpPr>
        <p:spPr>
          <a:xfrm flipH="1" rot="-5400000">
            <a:off x="949372" y="3530234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65" name="Google Shape;1365;p98"/>
          <p:cNvGraphicFramePr/>
          <p:nvPr/>
        </p:nvGraphicFramePr>
        <p:xfrm>
          <a:off x="1312190" y="29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114425"/>
                <a:gridCol w="1114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machines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66" name="Google Shape;1366;p98"/>
          <p:cNvGrpSpPr/>
          <p:nvPr/>
        </p:nvGrpSpPr>
        <p:grpSpPr>
          <a:xfrm>
            <a:off x="3488586" y="3429000"/>
            <a:ext cx="1298914" cy="523200"/>
            <a:chOff x="5088786" y="2590800"/>
            <a:chExt cx="1298914" cy="523200"/>
          </a:xfrm>
        </p:grpSpPr>
        <p:sp>
          <p:nvSpPr>
            <p:cNvPr id="1367" name="Google Shape;1367;p98"/>
            <p:cNvSpPr/>
            <p:nvPr/>
          </p:nvSpPr>
          <p:spPr>
            <a:xfrm rot="5400000">
              <a:off x="5044686" y="2649508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98"/>
            <p:cNvSpPr txBox="1"/>
            <p:nvPr/>
          </p:nvSpPr>
          <p:spPr>
            <a:xfrm>
              <a:off x="5378500" y="2590800"/>
              <a:ext cx="1009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69" name="Google Shape;1369;p98"/>
          <p:cNvSpPr txBox="1"/>
          <p:nvPr>
            <p:ph idx="1" type="body"/>
          </p:nvPr>
        </p:nvSpPr>
        <p:spPr>
          <a:xfrm>
            <a:off x="324000" y="4188300"/>
            <a:ext cx="82377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Whose method is correct?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are both correct.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375" name="Google Shape;1375;p99"/>
          <p:cNvSpPr txBox="1"/>
          <p:nvPr>
            <p:ph idx="1" type="body"/>
          </p:nvPr>
        </p:nvSpPr>
        <p:spPr>
          <a:xfrm>
            <a:off x="324000" y="606900"/>
            <a:ext cx="82377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 a factory, 10 machines take 5 days to produce a lorry load of items.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long will it take 3 machines?</a:t>
            </a:r>
            <a:endParaRPr/>
          </a:p>
        </p:txBody>
      </p:sp>
      <p:graphicFrame>
        <p:nvGraphicFramePr>
          <p:cNvPr id="1376" name="Google Shape;1376;p99"/>
          <p:cNvGraphicFramePr/>
          <p:nvPr/>
        </p:nvGraphicFramePr>
        <p:xfrm>
          <a:off x="3082190" y="184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533300"/>
                <a:gridCol w="153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machin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7" name="Google Shape;1377;p99"/>
          <p:cNvSpPr/>
          <p:nvPr/>
        </p:nvSpPr>
        <p:spPr>
          <a:xfrm flipH="1" rot="-5400000">
            <a:off x="2701972" y="2311034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78" name="Google Shape;1378;p99"/>
          <p:cNvGraphicFramePr/>
          <p:nvPr/>
        </p:nvGraphicFramePr>
        <p:xfrm>
          <a:off x="3082190" y="184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533300"/>
                <a:gridCol w="153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machin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16.7 (1 d.p.)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79" name="Google Shape;137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9390" y="33218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12" y="34903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99"/>
          <p:cNvSpPr txBox="1"/>
          <p:nvPr/>
        </p:nvSpPr>
        <p:spPr>
          <a:xfrm>
            <a:off x="7753865" y="4430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99"/>
          <p:cNvSpPr txBox="1"/>
          <p:nvPr/>
        </p:nvSpPr>
        <p:spPr>
          <a:xfrm>
            <a:off x="27583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3" name="Google Shape;1383;p99"/>
          <p:cNvGrpSpPr/>
          <p:nvPr/>
        </p:nvGrpSpPr>
        <p:grpSpPr>
          <a:xfrm>
            <a:off x="1274828" y="3135301"/>
            <a:ext cx="2962372" cy="1222224"/>
            <a:chOff x="1369124" y="2553770"/>
            <a:chExt cx="2137508" cy="1398106"/>
          </a:xfrm>
        </p:grpSpPr>
        <p:pic>
          <p:nvPicPr>
            <p:cNvPr id="1384" name="Google Shape;1384;p9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369124" y="2553770"/>
              <a:ext cx="2137508" cy="13981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5" name="Google Shape;1385;p99"/>
            <p:cNvSpPr txBox="1"/>
            <p:nvPr/>
          </p:nvSpPr>
          <p:spPr>
            <a:xfrm>
              <a:off x="1567837" y="2787639"/>
              <a:ext cx="185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Hmmm, 10 is not a multiple of 3.  That means I cannot divide.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6" name="Google Shape;1386;p99"/>
          <p:cNvGrpSpPr/>
          <p:nvPr/>
        </p:nvGrpSpPr>
        <p:grpSpPr>
          <a:xfrm>
            <a:off x="4627867" y="3042415"/>
            <a:ext cx="3066643" cy="1473296"/>
            <a:chOff x="3849030" y="3866528"/>
            <a:chExt cx="3299594" cy="937211"/>
          </a:xfrm>
        </p:grpSpPr>
        <p:pic>
          <p:nvPicPr>
            <p:cNvPr id="1387" name="Google Shape;1387;p9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3849030" y="3866528"/>
              <a:ext cx="3299594" cy="9372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8" name="Google Shape;1388;p99"/>
            <p:cNvSpPr txBox="1"/>
            <p:nvPr/>
          </p:nvSpPr>
          <p:spPr>
            <a:xfrm>
              <a:off x="4067536" y="3943192"/>
              <a:ext cx="2905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Sam, remember 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any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pair of numbers have a multiplicative relationship.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9" name="Google Shape;1389;p99"/>
          <p:cNvGrpSpPr/>
          <p:nvPr/>
        </p:nvGrpSpPr>
        <p:grpSpPr>
          <a:xfrm>
            <a:off x="2091960" y="2174213"/>
            <a:ext cx="705900" cy="594370"/>
            <a:chOff x="2091960" y="2174213"/>
            <a:chExt cx="705900" cy="594370"/>
          </a:xfrm>
        </p:grpSpPr>
        <p:sp>
          <p:nvSpPr>
            <p:cNvPr id="1390" name="Google Shape;1390;p99"/>
            <p:cNvSpPr txBox="1"/>
            <p:nvPr/>
          </p:nvSpPr>
          <p:spPr>
            <a:xfrm>
              <a:off x="2091960" y="2209800"/>
              <a:ext cx="70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}{10}&quot;&gt;&lt;mfrac&gt;&lt;mn&gt;3&lt;/mn&gt;&lt;mn&gt;10&lt;/mn&gt;&lt;/mfrac&gt;&lt;/math&gt;" id="1391" name="Google Shape;1391;p99" title="three te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56735" y="2174213"/>
              <a:ext cx="320700" cy="5943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2" name="Google Shape;1392;p99"/>
          <p:cNvGrpSpPr/>
          <p:nvPr/>
        </p:nvGrpSpPr>
        <p:grpSpPr>
          <a:xfrm>
            <a:off x="6079386" y="2174213"/>
            <a:ext cx="1298914" cy="594370"/>
            <a:chOff x="6079386" y="2174213"/>
            <a:chExt cx="1298914" cy="594370"/>
          </a:xfrm>
        </p:grpSpPr>
        <p:grpSp>
          <p:nvGrpSpPr>
            <p:cNvPr id="1393" name="Google Shape;1393;p99"/>
            <p:cNvGrpSpPr/>
            <p:nvPr/>
          </p:nvGrpSpPr>
          <p:grpSpPr>
            <a:xfrm>
              <a:off x="6079386" y="2209800"/>
              <a:ext cx="1298914" cy="523200"/>
              <a:chOff x="5088786" y="2590800"/>
              <a:chExt cx="1298914" cy="523200"/>
            </a:xfrm>
          </p:grpSpPr>
          <p:sp>
            <p:nvSpPr>
              <p:cNvPr id="1394" name="Google Shape;1394;p99"/>
              <p:cNvSpPr/>
              <p:nvPr/>
            </p:nvSpPr>
            <p:spPr>
              <a:xfrm rot="5400000">
                <a:off x="5044686" y="2649508"/>
                <a:ext cx="439800" cy="351600"/>
              </a:xfrm>
              <a:prstGeom prst="arc">
                <a:avLst>
                  <a:gd fmla="val 10729459" name="adj1"/>
                  <a:gd fmla="val 194289" name="adj2"/>
                </a:avLst>
              </a:prstGeom>
              <a:noFill/>
              <a:ln cap="flat" cmpd="sng" w="3810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99"/>
              <p:cNvSpPr txBox="1"/>
              <p:nvPr/>
            </p:nvSpPr>
            <p:spPr>
              <a:xfrm>
                <a:off x="5378500" y="2590800"/>
                <a:ext cx="10092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÷  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3}{10}&quot;&gt;&lt;mfrac&gt;&lt;mn&gt;3&lt;/mn&gt;&lt;mn&gt;10&lt;/mn&gt;&lt;/mfrac&gt;&lt;/math&gt;" id="1396" name="Google Shape;1396;p99" title="three te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48305" y="2174213"/>
              <a:ext cx="320700" cy="5943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7" name="Google Shape;1397;p99"/>
          <p:cNvSpPr txBox="1"/>
          <p:nvPr>
            <p:ph idx="1" type="body"/>
          </p:nvPr>
        </p:nvSpPr>
        <p:spPr>
          <a:xfrm>
            <a:off x="1274825" y="4586325"/>
            <a:ext cx="66945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It will take 3 machines 16.7 days to produce a lorry load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. 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403" name="Google Shape;1403;p100"/>
          <p:cNvSpPr txBox="1"/>
          <p:nvPr>
            <p:ph idx="1" type="body"/>
          </p:nvPr>
        </p:nvSpPr>
        <p:spPr>
          <a:xfrm>
            <a:off x="324000" y="676975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 and B are </a:t>
            </a:r>
            <a:r>
              <a:rPr b="1" lang="en-GB" sz="2000"/>
              <a:t>inversely proportional</a:t>
            </a:r>
            <a:r>
              <a:rPr lang="en-GB" sz="2000"/>
              <a:t> to each other.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Find the missing value in the table.</a:t>
            </a:r>
            <a:endParaRPr sz="2000"/>
          </a:p>
        </p:txBody>
      </p:sp>
      <p:graphicFrame>
        <p:nvGraphicFramePr>
          <p:cNvPr id="1404" name="Google Shape;1404;p100"/>
          <p:cNvGraphicFramePr/>
          <p:nvPr/>
        </p:nvGraphicFramePr>
        <p:xfrm>
          <a:off x="3082190" y="1258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533300"/>
                <a:gridCol w="153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5" name="Google Shape;1405;p100"/>
          <p:cNvSpPr/>
          <p:nvPr/>
        </p:nvSpPr>
        <p:spPr>
          <a:xfrm flipH="1" rot="-5400000">
            <a:off x="2701972" y="1873974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06" name="Google Shape;1406;p100"/>
          <p:cNvGraphicFramePr/>
          <p:nvPr/>
        </p:nvGraphicFramePr>
        <p:xfrm>
          <a:off x="3082190" y="1258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1533300"/>
                <a:gridCol w="153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7" name="Google Shape;1407;p100"/>
          <p:cNvSpPr txBox="1"/>
          <p:nvPr/>
        </p:nvSpPr>
        <p:spPr>
          <a:xfrm>
            <a:off x="1892297" y="1772740"/>
            <a:ext cx="90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1.6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8" name="Google Shape;1408;p100"/>
          <p:cNvGrpSpPr/>
          <p:nvPr/>
        </p:nvGrpSpPr>
        <p:grpSpPr>
          <a:xfrm>
            <a:off x="6079386" y="1772740"/>
            <a:ext cx="1298914" cy="523200"/>
            <a:chOff x="5088786" y="2590800"/>
            <a:chExt cx="1298914" cy="523200"/>
          </a:xfrm>
        </p:grpSpPr>
        <p:sp>
          <p:nvSpPr>
            <p:cNvPr id="1409" name="Google Shape;1409;p100"/>
            <p:cNvSpPr/>
            <p:nvPr/>
          </p:nvSpPr>
          <p:spPr>
            <a:xfrm rot="5400000">
              <a:off x="5044686" y="2649508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00"/>
            <p:cNvSpPr txBox="1"/>
            <p:nvPr/>
          </p:nvSpPr>
          <p:spPr>
            <a:xfrm>
              <a:off x="5378500" y="2590800"/>
              <a:ext cx="1009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÷ 1.6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11" name="Google Shape;141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9390" y="286465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12" y="30331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3" name="Google Shape;1413;p100"/>
          <p:cNvSpPr txBox="1"/>
          <p:nvPr/>
        </p:nvSpPr>
        <p:spPr>
          <a:xfrm>
            <a:off x="7753865" y="4430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00"/>
          <p:cNvSpPr txBox="1"/>
          <p:nvPr/>
        </p:nvSpPr>
        <p:spPr>
          <a:xfrm>
            <a:off x="275830" y="4049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5" name="Google Shape;1415;p100"/>
          <p:cNvGrpSpPr/>
          <p:nvPr/>
        </p:nvGrpSpPr>
        <p:grpSpPr>
          <a:xfrm>
            <a:off x="1161098" y="2317240"/>
            <a:ext cx="4613477" cy="1579199"/>
            <a:chOff x="1369114" y="2553772"/>
            <a:chExt cx="2372577" cy="1806451"/>
          </a:xfrm>
        </p:grpSpPr>
        <p:pic>
          <p:nvPicPr>
            <p:cNvPr id="1416" name="Google Shape;1416;p10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369114" y="2553772"/>
              <a:ext cx="2372577" cy="1806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7" name="Google Shape;1417;p100"/>
            <p:cNvSpPr txBox="1"/>
            <p:nvPr/>
          </p:nvSpPr>
          <p:spPr>
            <a:xfrm>
              <a:off x="1567842" y="2787642"/>
              <a:ext cx="2073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I’ve just had a thought.  When we looked at the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rectangle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the product of each row had to be 24 as this was the area of the rectangle.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8" name="Google Shape;1418;p100"/>
          <p:cNvGrpSpPr/>
          <p:nvPr/>
        </p:nvGrpSpPr>
        <p:grpSpPr>
          <a:xfrm>
            <a:off x="5848925" y="2346940"/>
            <a:ext cx="1845925" cy="1579198"/>
            <a:chOff x="3208547" y="3895972"/>
            <a:chExt cx="3940076" cy="1004579"/>
          </a:xfrm>
        </p:grpSpPr>
        <p:pic>
          <p:nvPicPr>
            <p:cNvPr id="1419" name="Google Shape;1419;p10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3208547" y="3895972"/>
              <a:ext cx="3940076" cy="1004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0" name="Google Shape;1420;p100"/>
            <p:cNvSpPr txBox="1"/>
            <p:nvPr/>
          </p:nvSpPr>
          <p:spPr>
            <a:xfrm>
              <a:off x="3465757" y="3991663"/>
              <a:ext cx="3310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That’s interesting Sam.  Is it the same here?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1" name="Google Shape;1421;p100"/>
          <p:cNvSpPr txBox="1"/>
          <p:nvPr>
            <p:ph idx="1" type="body"/>
          </p:nvPr>
        </p:nvSpPr>
        <p:spPr>
          <a:xfrm>
            <a:off x="1185450" y="3900525"/>
            <a:ext cx="77745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What do you think?</a:t>
            </a:r>
            <a:endParaRPr sz="2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 × 8 = 120 and 24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5 = 120, it is true.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This is a good way to check your answers.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427" name="Google Shape;1427;p101"/>
          <p:cNvSpPr txBox="1"/>
          <p:nvPr>
            <p:ph idx="1" type="subTitle"/>
          </p:nvPr>
        </p:nvSpPr>
        <p:spPr>
          <a:xfrm>
            <a:off x="337825" y="810000"/>
            <a:ext cx="3982200" cy="12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and B are </a:t>
            </a:r>
            <a:r>
              <a:rPr b="1" lang="en-GB"/>
              <a:t>inversely proportional</a:t>
            </a:r>
            <a:r>
              <a:rPr lang="en-GB"/>
              <a:t> to each other.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 the missing value in the 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01"/>
          <p:cNvSpPr/>
          <p:nvPr/>
        </p:nvSpPr>
        <p:spPr>
          <a:xfrm flipH="1" rot="-5400000">
            <a:off x="1101772" y="3016974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29" name="Google Shape;1429;p101"/>
          <p:cNvGraphicFramePr/>
          <p:nvPr/>
        </p:nvGraphicFramePr>
        <p:xfrm>
          <a:off x="1481990" y="2401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0" name="Google Shape;1430;p101"/>
          <p:cNvGraphicFramePr/>
          <p:nvPr/>
        </p:nvGraphicFramePr>
        <p:xfrm>
          <a:off x="1481990" y="2401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431" name="Google Shape;1431;p101"/>
          <p:cNvGrpSpPr/>
          <p:nvPr/>
        </p:nvGrpSpPr>
        <p:grpSpPr>
          <a:xfrm>
            <a:off x="388437" y="2885575"/>
            <a:ext cx="905700" cy="583496"/>
            <a:chOff x="388437" y="2885575"/>
            <a:chExt cx="905700" cy="583496"/>
          </a:xfrm>
        </p:grpSpPr>
        <p:sp>
          <p:nvSpPr>
            <p:cNvPr id="1432" name="Google Shape;1432;p101"/>
            <p:cNvSpPr txBox="1"/>
            <p:nvPr/>
          </p:nvSpPr>
          <p:spPr>
            <a:xfrm>
              <a:off x="388437" y="2915740"/>
              <a:ext cx="905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16}&quot;&gt;&lt;mfrac&gt;&lt;mn&gt;5&lt;/mn&gt;&lt;mn&gt;16&lt;/mn&gt;&lt;/mfrac&gt;&lt;/math&gt;" id="1433" name="Google Shape;1433;p101" title="5 over 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920" y="2885575"/>
              <a:ext cx="320700" cy="5834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4" name="Google Shape;1434;p101"/>
          <p:cNvGrpSpPr/>
          <p:nvPr/>
        </p:nvGrpSpPr>
        <p:grpSpPr>
          <a:xfrm>
            <a:off x="2955186" y="2885575"/>
            <a:ext cx="1018235" cy="583496"/>
            <a:chOff x="4479186" y="2885575"/>
            <a:chExt cx="1018235" cy="583496"/>
          </a:xfrm>
        </p:grpSpPr>
        <p:grpSp>
          <p:nvGrpSpPr>
            <p:cNvPr id="1435" name="Google Shape;1435;p101"/>
            <p:cNvGrpSpPr/>
            <p:nvPr/>
          </p:nvGrpSpPr>
          <p:grpSpPr>
            <a:xfrm>
              <a:off x="4479186" y="2915750"/>
              <a:ext cx="767014" cy="523200"/>
              <a:chOff x="5088786" y="2590810"/>
              <a:chExt cx="767014" cy="523200"/>
            </a:xfrm>
          </p:grpSpPr>
          <p:sp>
            <p:nvSpPr>
              <p:cNvPr id="1436" name="Google Shape;1436;p101"/>
              <p:cNvSpPr/>
              <p:nvPr/>
            </p:nvSpPr>
            <p:spPr>
              <a:xfrm rot="5400000">
                <a:off x="5044686" y="2649508"/>
                <a:ext cx="439800" cy="351600"/>
              </a:xfrm>
              <a:prstGeom prst="arc">
                <a:avLst>
                  <a:gd fmla="val 10729459" name="adj1"/>
                  <a:gd fmla="val 194289" name="adj2"/>
                </a:avLst>
              </a:prstGeom>
              <a:noFill/>
              <a:ln cap="flat" cmpd="sng" w="3810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101"/>
              <p:cNvSpPr txBox="1"/>
              <p:nvPr/>
            </p:nvSpPr>
            <p:spPr>
              <a:xfrm>
                <a:off x="5378500" y="2590810"/>
                <a:ext cx="4773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÷   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5}{16}&quot;&gt;&lt;mfrac&gt;&lt;mn&gt;5&lt;/mn&gt;&lt;mn&gt;16&lt;/mn&gt;&lt;/mfrac&gt;&lt;/math&gt;" id="1438" name="Google Shape;1438;p101" title="5 over 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76720" y="2885575"/>
              <a:ext cx="320700" cy="583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9" name="Google Shape;1439;p101"/>
          <p:cNvSpPr txBox="1"/>
          <p:nvPr>
            <p:ph idx="2" type="subTitle"/>
          </p:nvPr>
        </p:nvSpPr>
        <p:spPr>
          <a:xfrm>
            <a:off x="4824000" y="810000"/>
            <a:ext cx="3982200" cy="13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and B are </a:t>
            </a:r>
            <a:r>
              <a:rPr b="1" lang="en-GB"/>
              <a:t>inversely proportional</a:t>
            </a:r>
            <a:r>
              <a:rPr lang="en-GB"/>
              <a:t> to each other.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 the missing value in the table.</a:t>
            </a:r>
            <a:endParaRPr/>
          </a:p>
        </p:txBody>
      </p:sp>
      <p:sp>
        <p:nvSpPr>
          <p:cNvPr id="1440" name="Google Shape;1440;p101"/>
          <p:cNvSpPr/>
          <p:nvPr/>
        </p:nvSpPr>
        <p:spPr>
          <a:xfrm flipH="1" rot="-5400000">
            <a:off x="5673772" y="3016974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41" name="Google Shape;1441;p101"/>
          <p:cNvGraphicFramePr/>
          <p:nvPr/>
        </p:nvGraphicFramePr>
        <p:xfrm>
          <a:off x="6053990" y="2401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2" name="Google Shape;1442;p101"/>
          <p:cNvGraphicFramePr/>
          <p:nvPr/>
        </p:nvGraphicFramePr>
        <p:xfrm>
          <a:off x="6053990" y="2403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3" name="Google Shape;1443;p101"/>
          <p:cNvSpPr txBox="1"/>
          <p:nvPr/>
        </p:nvSpPr>
        <p:spPr>
          <a:xfrm>
            <a:off x="4619274" y="2915750"/>
            <a:ext cx="101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1.28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4" name="Google Shape;1444;p101"/>
          <p:cNvGrpSpPr/>
          <p:nvPr/>
        </p:nvGrpSpPr>
        <p:grpSpPr>
          <a:xfrm>
            <a:off x="7527186" y="2915750"/>
            <a:ext cx="1376914" cy="523200"/>
            <a:chOff x="5088786" y="2590810"/>
            <a:chExt cx="1376914" cy="523200"/>
          </a:xfrm>
        </p:grpSpPr>
        <p:sp>
          <p:nvSpPr>
            <p:cNvPr id="1445" name="Google Shape;1445;p101"/>
            <p:cNvSpPr/>
            <p:nvPr/>
          </p:nvSpPr>
          <p:spPr>
            <a:xfrm rot="5400000">
              <a:off x="5044686" y="2649508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01"/>
            <p:cNvSpPr txBox="1"/>
            <p:nvPr/>
          </p:nvSpPr>
          <p:spPr>
            <a:xfrm>
              <a:off x="5378500" y="2590810"/>
              <a:ext cx="1087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2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÷ 1.28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452" name="Google Shape;1452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The following tables show variables A &amp; B which are </a:t>
            </a:r>
            <a:r>
              <a:rPr b="1" lang="en-GB"/>
              <a:t>inversely proportional</a:t>
            </a:r>
            <a:r>
              <a:rPr lang="en-GB"/>
              <a:t>.  Find the missing value.</a:t>
            </a:r>
            <a:endParaRPr/>
          </a:p>
        </p:txBody>
      </p:sp>
      <p:graphicFrame>
        <p:nvGraphicFramePr>
          <p:cNvPr id="1453" name="Google Shape;1453;p102"/>
          <p:cNvGraphicFramePr/>
          <p:nvPr/>
        </p:nvGraphicFramePr>
        <p:xfrm>
          <a:off x="920560" y="1715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4" name="Google Shape;1454;p102"/>
          <p:cNvGraphicFramePr/>
          <p:nvPr/>
        </p:nvGraphicFramePr>
        <p:xfrm>
          <a:off x="920560" y="3468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5" name="Google Shape;1455;p102"/>
          <p:cNvGraphicFramePr/>
          <p:nvPr/>
        </p:nvGraphicFramePr>
        <p:xfrm>
          <a:off x="3810035" y="1715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6" name="Google Shape;1456;p102"/>
          <p:cNvGraphicFramePr/>
          <p:nvPr/>
        </p:nvGraphicFramePr>
        <p:xfrm>
          <a:off x="3810035" y="3468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7" name="Google Shape;1457;p102"/>
          <p:cNvGraphicFramePr/>
          <p:nvPr/>
        </p:nvGraphicFramePr>
        <p:xfrm>
          <a:off x="6691620" y="1715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8" name="Google Shape;1458;p102"/>
          <p:cNvGraphicFramePr/>
          <p:nvPr/>
        </p:nvGraphicFramePr>
        <p:xfrm>
          <a:off x="6691620" y="3468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9" name="Google Shape;1459;p102"/>
          <p:cNvSpPr txBox="1"/>
          <p:nvPr/>
        </p:nvSpPr>
        <p:spPr>
          <a:xfrm>
            <a:off x="349755" y="16964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102"/>
          <p:cNvSpPr txBox="1"/>
          <p:nvPr/>
        </p:nvSpPr>
        <p:spPr>
          <a:xfrm>
            <a:off x="3245355" y="16964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02"/>
          <p:cNvSpPr txBox="1"/>
          <p:nvPr/>
        </p:nvSpPr>
        <p:spPr>
          <a:xfrm>
            <a:off x="6217155" y="16964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02"/>
          <p:cNvSpPr txBox="1"/>
          <p:nvPr/>
        </p:nvSpPr>
        <p:spPr>
          <a:xfrm>
            <a:off x="349755" y="34490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02"/>
          <p:cNvSpPr txBox="1"/>
          <p:nvPr/>
        </p:nvSpPr>
        <p:spPr>
          <a:xfrm>
            <a:off x="3245355" y="34490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02"/>
          <p:cNvSpPr txBox="1"/>
          <p:nvPr/>
        </p:nvSpPr>
        <p:spPr>
          <a:xfrm>
            <a:off x="6217155" y="34490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470" name="Google Shape;1470;p103"/>
          <p:cNvSpPr txBox="1"/>
          <p:nvPr>
            <p:ph idx="1" type="body"/>
          </p:nvPr>
        </p:nvSpPr>
        <p:spPr>
          <a:xfrm>
            <a:off x="324000" y="6069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Use a ratio table to answer the following:</a:t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</a:t>
            </a:r>
            <a:r>
              <a:rPr lang="en-GB" sz="2000"/>
              <a:t>It takes 4 people 2 days to paint a house.  How long will it 8 people?</a:t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It takes 10 </a:t>
            </a:r>
            <a:r>
              <a:rPr lang="en-GB" sz="2000"/>
              <a:t>factory</a:t>
            </a:r>
            <a:r>
              <a:rPr lang="en-GB" sz="2000"/>
              <a:t> </a:t>
            </a:r>
            <a:r>
              <a:rPr lang="en-GB" sz="2000"/>
              <a:t>workers</a:t>
            </a:r>
            <a:r>
              <a:rPr lang="en-GB" sz="2000"/>
              <a:t> 4 hours to pack a lorry full of boxes.  2 people are on holiday.  How long will it take to fill the lorry now?</a:t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It takes 3 days to fill a pond if 5 taps are used.  How long will it take if 4 taps are used?  Give your answer in hours and minutes.</a:t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d) </a:t>
            </a:r>
            <a:r>
              <a:rPr lang="en-GB" sz="2000"/>
              <a:t>4 machines work all day every day.  They make 1 million items in 7 days.  The company buys 1 new machine.  How long will it take to make 1 million items now?  Give your answer in days, hours and minutes.</a:t>
            </a:r>
            <a:endParaRPr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476" name="Google Shape;1476;p10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The following tables show variables A &amp; B which are </a:t>
            </a:r>
            <a:r>
              <a:rPr b="1" lang="en-GB"/>
              <a:t>inversely proportional</a:t>
            </a:r>
            <a:r>
              <a:rPr lang="en-GB"/>
              <a:t>.  Find the missing value.</a:t>
            </a:r>
            <a:endParaRPr/>
          </a:p>
        </p:txBody>
      </p:sp>
      <p:graphicFrame>
        <p:nvGraphicFramePr>
          <p:cNvPr id="1477" name="Google Shape;1477;p104"/>
          <p:cNvGraphicFramePr/>
          <p:nvPr/>
        </p:nvGraphicFramePr>
        <p:xfrm>
          <a:off x="920560" y="1715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78" name="Google Shape;1478;p104"/>
          <p:cNvGraphicFramePr/>
          <p:nvPr/>
        </p:nvGraphicFramePr>
        <p:xfrm>
          <a:off x="920560" y="3468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79" name="Google Shape;1479;p104"/>
          <p:cNvGraphicFramePr/>
          <p:nvPr/>
        </p:nvGraphicFramePr>
        <p:xfrm>
          <a:off x="3810035" y="1715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0" name="Google Shape;1480;p104"/>
          <p:cNvGraphicFramePr/>
          <p:nvPr/>
        </p:nvGraphicFramePr>
        <p:xfrm>
          <a:off x="3810035" y="3468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8.75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1" name="Google Shape;1481;p104"/>
          <p:cNvGraphicFramePr/>
          <p:nvPr/>
        </p:nvGraphicFramePr>
        <p:xfrm>
          <a:off x="6691620" y="1715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192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2" name="Google Shape;1482;p104"/>
          <p:cNvGraphicFramePr/>
          <p:nvPr/>
        </p:nvGraphicFramePr>
        <p:xfrm>
          <a:off x="6691620" y="3468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{AC170905-32B1-49E5-8DCE-2FCF886A4B12}</a:tableStyleId>
              </a:tblPr>
              <a:tblGrid>
                <a:gridCol w="775325"/>
                <a:gridCol w="7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3" name="Google Shape;1483;p104"/>
          <p:cNvSpPr txBox="1"/>
          <p:nvPr/>
        </p:nvSpPr>
        <p:spPr>
          <a:xfrm>
            <a:off x="349755" y="16964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04"/>
          <p:cNvSpPr txBox="1"/>
          <p:nvPr/>
        </p:nvSpPr>
        <p:spPr>
          <a:xfrm>
            <a:off x="3245355" y="16964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04"/>
          <p:cNvSpPr txBox="1"/>
          <p:nvPr/>
        </p:nvSpPr>
        <p:spPr>
          <a:xfrm>
            <a:off x="6217155" y="16964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104"/>
          <p:cNvSpPr txBox="1"/>
          <p:nvPr/>
        </p:nvSpPr>
        <p:spPr>
          <a:xfrm>
            <a:off x="349755" y="34490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04"/>
          <p:cNvSpPr txBox="1"/>
          <p:nvPr/>
        </p:nvSpPr>
        <p:spPr>
          <a:xfrm>
            <a:off x="3245355" y="34490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04"/>
          <p:cNvSpPr txBox="1"/>
          <p:nvPr/>
        </p:nvSpPr>
        <p:spPr>
          <a:xfrm>
            <a:off x="6217155" y="3449025"/>
            <a:ext cx="3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inverse proportion to find missing values</a:t>
            </a:r>
            <a:endParaRPr/>
          </a:p>
        </p:txBody>
      </p:sp>
      <p:sp>
        <p:nvSpPr>
          <p:cNvPr id="1494" name="Google Shape;1494;p105"/>
          <p:cNvSpPr txBox="1"/>
          <p:nvPr>
            <p:ph idx="1" type="body"/>
          </p:nvPr>
        </p:nvSpPr>
        <p:spPr>
          <a:xfrm>
            <a:off x="324000" y="583591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Use a ratio table to answer the following:</a:t>
            </a:r>
            <a:endParaRPr sz="18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It takes 4 people 2 days to paint a house.  How long will it 8 people?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 day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lang="en-GB" sz="1800"/>
              <a:t>It takes 10 factory workers 4 hours to pack a lorry full of boxes.  2 people are on holiday.  How long will it take to fill the lorry now?	   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 hours</a:t>
            </a:r>
            <a:endParaRPr sz="18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It takes 3 days to fill a pond if 5 taps are used.  How long will it take if 4 taps are used?  Give your answer in hours and minutes.  </a:t>
            </a:r>
            <a:endParaRPr sz="18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hours 45 minutes</a:t>
            </a:r>
            <a:endParaRPr sz="18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4 machines work all day every day.  They make 1 million items in 7 days.  The company buys 1 new machine.  How long will it take to make 1 million items now?  Give your answer in days, hours and minutes.</a:t>
            </a:r>
            <a:endParaRPr sz="18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 days 14 hours and 24 mins 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06"/>
          <p:cNvSpPr txBox="1"/>
          <p:nvPr>
            <p:ph idx="1" type="body"/>
          </p:nvPr>
        </p:nvSpPr>
        <p:spPr>
          <a:xfrm>
            <a:off x="324000" y="699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/>
              <a:t>Inverse proportion</a:t>
            </a:r>
            <a:r>
              <a:rPr lang="en-GB" sz="2100"/>
              <a:t> is when as </a:t>
            </a:r>
            <a:r>
              <a:rPr lang="en-GB" sz="2100"/>
              <a:t>one variable increases the other decreases.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In this example, as the width of the rectangle increases the length decreases to keep the area at 24 cm</a:t>
            </a:r>
            <a:r>
              <a:rPr baseline="30000" lang="en-GB" sz="2100"/>
              <a:t>2</a:t>
            </a:r>
            <a:r>
              <a:rPr lang="en-GB" sz="2100"/>
              <a:t>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The graphs of</a:t>
            </a:r>
            <a:r>
              <a:rPr b="1" lang="en-GB" sz="2100"/>
              <a:t> inverse proportion</a:t>
            </a:r>
            <a:r>
              <a:rPr lang="en-GB" sz="2100"/>
              <a:t>, take this shape: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A ratio table can be used to solve </a:t>
            </a:r>
            <a:r>
              <a:rPr b="1" lang="en-GB" sz="2100"/>
              <a:t>inverse                      proportion</a:t>
            </a:r>
            <a:r>
              <a:rPr lang="en-GB" sz="2100"/>
              <a:t> problems.  Remember to use</a:t>
            </a:r>
            <a:br>
              <a:rPr lang="en-GB" sz="2100"/>
            </a:br>
            <a:r>
              <a:rPr lang="en-GB" sz="2100"/>
              <a:t>inverse operations.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10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proportion in context</a:t>
            </a:r>
            <a:endParaRPr/>
          </a:p>
        </p:txBody>
      </p:sp>
      <p:pic>
        <p:nvPicPr>
          <p:cNvPr id="1501" name="Google Shape;1501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6850" y="2460750"/>
            <a:ext cx="1779549" cy="18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07" name="Google Shape;1507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