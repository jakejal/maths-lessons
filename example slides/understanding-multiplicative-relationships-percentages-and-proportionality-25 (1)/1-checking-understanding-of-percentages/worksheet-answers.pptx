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87080fa5c_0_5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87080fa5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2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percentages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548300" y="1337875"/>
            <a:ext cx="6543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Percentages, fractions and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851056"/>
            <a:ext cx="4452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proportion of the grid is shaded?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your answer as a percentage and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proportion of the grid is shaded?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your answer as a percentage and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0" y="1851049"/>
            <a:ext cx="1121900" cy="10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000" y="3418200"/>
            <a:ext cx="1121900" cy="13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84050" y="5404163"/>
            <a:ext cx="57795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What percentage is shaded on the 100 grid on the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the same percentage on grids A to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9325" y="6879900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2515125" y="6264875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181" name="Google Shape;181;p20"/>
          <p:cNvSpPr txBox="1"/>
          <p:nvPr/>
        </p:nvSpPr>
        <p:spPr>
          <a:xfrm>
            <a:off x="4516950" y="7003363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5213986" y="6991675"/>
            <a:ext cx="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8}{25}=\frac{8\times4}{25\times4}=\frac{32}{100}=32\%&quot;&gt;&lt;mfrac&gt;&lt;mn&gt;8&lt;/mn&gt;&lt;mn&gt;25&lt;/mn&gt;&lt;/mfrac&gt;&lt;mo&gt;=&lt;/mo&gt;&lt;mfrac&gt;&lt;mrow&gt;&lt;mn&gt;8&lt;/mn&gt;&lt;mo&gt;×&lt;/mo&gt;&lt;mn&gt;4&lt;/mn&gt;&lt;/mrow&gt;&lt;mrow&gt;&lt;mn&gt;25&lt;/mn&gt;&lt;mo&gt;×&lt;/mo&gt;&lt;mn&gt;4&lt;/mn&gt;&lt;/mrow&gt;&lt;/mfrac&gt;&lt;mo&gt;=&lt;/mo&gt;&lt;mfrac&gt;&lt;mn&gt;32&lt;/mn&gt;&lt;mn&gt;100&lt;/mn&gt;&lt;/mfrac&gt;&lt;mo&gt;=&lt;/mo&gt;&lt;mn&gt;32&lt;/mn&gt;&lt;mi mathvariant=&quot;normal&quot;&gt;%&lt;/mi&gt;&lt;/math&gt;" id="183" name="Google Shape;183;p20" title="8 over 25 equals the fraction with numerator 8 times 4 and denominator 25 times 4 equals 32 over 100 equals 32 percent sig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3733" y="2539051"/>
            <a:ext cx="2211404" cy="405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20}=\frac{4\times5}{20\times5}=\frac{20}{100}=20\%&quot;&gt;&lt;mfrac&gt;&lt;mn&gt;4&lt;/mn&gt;&lt;mn&gt;20&lt;/mn&gt;&lt;/mfrac&gt;&lt;mo&gt;=&lt;/mo&gt;&lt;mfrac&gt;&lt;mrow&gt;&lt;mn&gt;4&lt;/mn&gt;&lt;mo&gt;×&lt;/mo&gt;&lt;mn&gt;5&lt;/mn&gt;&lt;/mrow&gt;&lt;mrow&gt;&lt;mn&gt;20&lt;/mn&gt;&lt;mo&gt;×&lt;/mo&gt;&lt;mn&gt;5&lt;/mn&gt;&lt;/mrow&gt;&lt;/mfrac&gt;&lt;mo&gt;=&lt;/mo&gt;&lt;mfrac&gt;&lt;mn&gt;20&lt;/mn&gt;&lt;mn&gt;100&lt;/mn&gt;&lt;/mfrac&gt;&lt;mo&gt;=&lt;/mo&gt;&lt;mn&gt;20&lt;/mn&gt;&lt;mi mathvariant=&quot;normal&quot;&gt;%&lt;/mi&gt;&lt;/math&gt;" id="184" name="Google Shape;184;p20" title="4 over 20 equals the fraction with numerator 4 times 5 and denominator 20 times 5 equals 20 over 100 equals 20 percent sig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9048" y="4072396"/>
            <a:ext cx="2500989" cy="45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8000" y="5396675"/>
            <a:ext cx="1419741" cy="158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55525" y="6173500"/>
            <a:ext cx="19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squares shaded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3002" y="6520700"/>
            <a:ext cx="774000" cy="16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112675" y="7804100"/>
            <a:ext cx="12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blocks shaded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52125" y="6692797"/>
            <a:ext cx="1031350" cy="10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3372825" y="6005413"/>
            <a:ext cx="14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squares shaded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58838" y="6310463"/>
            <a:ext cx="868350" cy="18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83100" y="7282528"/>
            <a:ext cx="1251600" cy="4042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314275" y="7721700"/>
            <a:ext cx="1247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30% of 2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495627" y="8680450"/>
            <a:ext cx="14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of a block shaded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0}\times2\ =\ \frac{30\times2}{100}=\frac{30\times2}{50\times2}=\frac{30}{50}\times\frac{2}{2}=\frac{3}{5}\times1=\frac{3}{5}&quot;&gt;&lt;mfrac&gt;&lt;mn&gt;30&lt;/mn&gt;&lt;mn&gt;100&lt;/mn&gt;&lt;/mfrac&gt;&lt;mo&gt;×&lt;/mo&gt;&lt;mn&gt;2&lt;/mn&gt;&lt;mtext&gt;&lt;/mtext&gt;&lt;mo&gt;=&lt;/mo&gt;&lt;mtext&gt;&lt;/mtext&gt;&lt;mfrac&gt;&lt;mrow&gt;&lt;mn&gt;30&lt;/mn&gt;&lt;mo&gt;×&lt;/mo&gt;&lt;mn&gt;2&lt;/mn&gt;&lt;/mrow&gt;&lt;mn&gt;100&lt;/mn&gt;&lt;/mfrac&gt;&lt;mo&gt;=&lt;/mo&gt;&lt;mfrac&gt;&lt;mrow&gt;&lt;mn&gt;30&lt;/mn&gt;&lt;mo&gt;×&lt;/mo&gt;&lt;mn&gt;2&lt;/mn&gt;&lt;/mrow&gt;&lt;mrow&gt;&lt;mn&gt;50&lt;/mn&gt;&lt;mo&gt;×&lt;/mo&gt;&lt;mn&gt;2&lt;/mn&gt;&lt;/mrow&gt;&lt;/mfrac&gt;&lt;mo&gt;=&lt;/mo&gt;&lt;mfrac&gt;&lt;mn&gt;30&lt;/mn&gt;&lt;mn&gt;50&lt;/mn&gt;&lt;/mfrac&gt;&lt;mo&gt;×&lt;/mo&gt;&lt;mfrac&gt;&lt;mn&gt;2&lt;/mn&gt;&lt;mn&gt;2&lt;/mn&gt;&lt;/mfrac&gt;&lt;mo&gt;=&lt;/mo&gt;&lt;mfrac&gt;&lt;mn&gt;3&lt;/mn&gt;&lt;mn&gt;5&lt;/mn&gt;&lt;/mfrac&gt;&lt;mo&gt;×&lt;/mo&gt;&lt;mn&gt;1&lt;/mn&gt;&lt;mo&gt;=&lt;/mo&gt;&lt;mfrac&gt;&lt;mn&gt;3&lt;/mn&gt;&lt;mn&gt;5&lt;/mn&gt;&lt;/mfrac&gt;&lt;/math&gt;" id="195" name="Google Shape;195;p20" title="30 over 100 times 2 equals the fraction with numerator 30 times 2 and denominator 100 equals the fraction with numerator 30 times 2 and denominator 50 times 2 equals 30 over 50 times two halves equals three fifths times 1 equals three fifths"/>
          <p:cNvPicPr preferRelativeResize="0"/>
          <p:nvPr/>
        </p:nvPicPr>
        <p:blipFill rotWithShape="1">
          <a:blip r:embed="rId12">
            <a:alphaModFix/>
          </a:blip>
          <a:srcRect b="0" l="0" r="83864" t="0"/>
          <a:stretch/>
        </p:blipFill>
        <p:spPr>
          <a:xfrm>
            <a:off x="6225543" y="7721700"/>
            <a:ext cx="528478" cy="306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100}\times2\ =\ \frac{30\times2}{100}=\frac{30\times2}{50\times2}=\frac{30}{50}\times\frac{2}{2}=\frac{3}{5}\times1=\frac{3}{5}&quot;&gt;&lt;mfrac&gt;&lt;mn&gt;30&lt;/mn&gt;&lt;mn&gt;100&lt;/mn&gt;&lt;/mfrac&gt;&lt;mo&gt;×&lt;/mo&gt;&lt;mn&gt;2&lt;/mn&gt;&lt;mtext&gt;&lt;/mtext&gt;&lt;mo&gt;=&lt;/mo&gt;&lt;mtext&gt;&lt;/mtext&gt;&lt;mfrac&gt;&lt;mrow&gt;&lt;mn&gt;30&lt;/mn&gt;&lt;mo&gt;×&lt;/mo&gt;&lt;mn&gt;2&lt;/mn&gt;&lt;/mrow&gt;&lt;mn&gt;100&lt;/mn&gt;&lt;/mfrac&gt;&lt;mo&gt;=&lt;/mo&gt;&lt;mfrac&gt;&lt;mrow&gt;&lt;mn&gt;30&lt;/mn&gt;&lt;mo&gt;×&lt;/mo&gt;&lt;mn&gt;2&lt;/mn&gt;&lt;/mrow&gt;&lt;mrow&gt;&lt;mn&gt;50&lt;/mn&gt;&lt;mo&gt;×&lt;/mo&gt;&lt;mn&gt;2&lt;/mn&gt;&lt;/mrow&gt;&lt;/mfrac&gt;&lt;mo&gt;=&lt;/mo&gt;&lt;mfrac&gt;&lt;mn&gt;30&lt;/mn&gt;&lt;mn&gt;50&lt;/mn&gt;&lt;/mfrac&gt;&lt;mo&gt;×&lt;/mo&gt;&lt;mfrac&gt;&lt;mn&gt;2&lt;/mn&gt;&lt;mn&gt;2&lt;/mn&gt;&lt;/mfrac&gt;&lt;mo&gt;=&lt;/mo&gt;&lt;mfrac&gt;&lt;mn&gt;3&lt;/mn&gt;&lt;mn&gt;5&lt;/mn&gt;&lt;/mfrac&gt;&lt;mo&gt;×&lt;/mo&gt;&lt;mn&gt;1&lt;/mn&gt;&lt;mo&gt;=&lt;/mo&gt;&lt;mfrac&gt;&lt;mn&gt;3&lt;/mn&gt;&lt;mn&gt;5&lt;/mn&gt;&lt;/mfrac&gt;&lt;/math&gt;" id="196" name="Google Shape;196;p20" title="30 over 100 times 2 equals the fraction with numerator 30 times 2 and denominator 100 equals the fraction with numerator 30 times 2 and denominator 50 times 2 equals 30 over 50 times two halves equals three fifths times 1 equals three fifths"/>
          <p:cNvPicPr preferRelativeResize="0"/>
          <p:nvPr/>
        </p:nvPicPr>
        <p:blipFill rotWithShape="1">
          <a:blip r:embed="rId12">
            <a:alphaModFix/>
          </a:blip>
          <a:srcRect b="0" l="36795" r="25140" t="0"/>
          <a:stretch/>
        </p:blipFill>
        <p:spPr>
          <a:xfrm>
            <a:off x="5340824" y="8066625"/>
            <a:ext cx="1246663" cy="306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100}\times2\ =\ \frac{30\times2}{100}=\frac{30\times2}{50\times2}=\frac{30}{50}\times\frac{2}{2}=\frac{3}{5}\times1=\frac{3}{5}&quot;&gt;&lt;mfrac&gt;&lt;mn&gt;30&lt;/mn&gt;&lt;mn&gt;100&lt;/mn&gt;&lt;/mfrac&gt;&lt;mo&gt;×&lt;/mo&gt;&lt;mn&gt;2&lt;/mn&gt;&lt;mtext&gt;&lt;/mtext&gt;&lt;mo&gt;=&lt;/mo&gt;&lt;mtext&gt;&lt;/mtext&gt;&lt;mfrac&gt;&lt;mrow&gt;&lt;mn&gt;30&lt;/mn&gt;&lt;mo&gt;×&lt;/mo&gt;&lt;mn&gt;2&lt;/mn&gt;&lt;/mrow&gt;&lt;mn&gt;100&lt;/mn&gt;&lt;/mfrac&gt;&lt;mo&gt;=&lt;/mo&gt;&lt;mfrac&gt;&lt;mrow&gt;&lt;mn&gt;30&lt;/mn&gt;&lt;mo&gt;×&lt;/mo&gt;&lt;mn&gt;2&lt;/mn&gt;&lt;/mrow&gt;&lt;mrow&gt;&lt;mn&gt;50&lt;/mn&gt;&lt;mo&gt;×&lt;/mo&gt;&lt;mn&gt;2&lt;/mn&gt;&lt;/mrow&gt;&lt;/mfrac&gt;&lt;mo&gt;=&lt;/mo&gt;&lt;mfrac&gt;&lt;mn&gt;30&lt;/mn&gt;&lt;mn&gt;50&lt;/mn&gt;&lt;/mfrac&gt;&lt;mo&gt;×&lt;/mo&gt;&lt;mfrac&gt;&lt;mn&gt;2&lt;/mn&gt;&lt;mn&gt;2&lt;/mn&gt;&lt;/mfrac&gt;&lt;mo&gt;=&lt;/mo&gt;&lt;mfrac&gt;&lt;mn&gt;3&lt;/mn&gt;&lt;mn&gt;5&lt;/mn&gt;&lt;/mfrac&gt;&lt;mo&gt;×&lt;/mo&gt;&lt;mn&gt;1&lt;/mn&gt;&lt;mo&gt;=&lt;/mo&gt;&lt;mfrac&gt;&lt;mn&gt;3&lt;/mn&gt;&lt;mn&gt;5&lt;/mn&gt;&lt;/mfrac&gt;&lt;/math&gt;" id="197" name="Google Shape;197;p20" title="30 over 100 times 2 equals the fraction with numerator 30 times 2 and denominator 100 equals the fraction with numerator 30 times 2 and denominator 50 times 2 equals 30 over 50 times two halves equals three fifths times 1 equals three fifths"/>
          <p:cNvPicPr preferRelativeResize="0"/>
          <p:nvPr/>
        </p:nvPicPr>
        <p:blipFill rotWithShape="1">
          <a:blip r:embed="rId12">
            <a:alphaModFix/>
          </a:blip>
          <a:srcRect b="0" l="75539" r="-1152" t="0"/>
          <a:stretch/>
        </p:blipFill>
        <p:spPr>
          <a:xfrm>
            <a:off x="5921686" y="8408546"/>
            <a:ext cx="838890" cy="3065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100}\times2\ =\ \frac{30\times2}{100}=\frac{30\times2}{50\times2}=\frac{30}{50}\times\frac{2}{2}=\frac{3}{5}\times1=\frac{3}{5}&quot;&gt;&lt;mfrac&gt;&lt;mn&gt;30&lt;/mn&gt;&lt;mn&gt;100&lt;/mn&gt;&lt;/mfrac&gt;&lt;mo&gt;×&lt;/mo&gt;&lt;mn&gt;2&lt;/mn&gt;&lt;mtext&gt;&lt;/mtext&gt;&lt;mo&gt;=&lt;/mo&gt;&lt;mtext&gt;&lt;/mtext&gt;&lt;mfrac&gt;&lt;mrow&gt;&lt;mn&gt;30&lt;/mn&gt;&lt;mo&gt;×&lt;/mo&gt;&lt;mn&gt;2&lt;/mn&gt;&lt;/mrow&gt;&lt;mn&gt;100&lt;/mn&gt;&lt;/mfrac&gt;&lt;mo&gt;=&lt;/mo&gt;&lt;mfrac&gt;&lt;mrow&gt;&lt;mn&gt;30&lt;/mn&gt;&lt;mo&gt;×&lt;/mo&gt;&lt;mn&gt;2&lt;/mn&gt;&lt;/mrow&gt;&lt;mrow&gt;&lt;mn&gt;50&lt;/mn&gt;&lt;mo&gt;×&lt;/mo&gt;&lt;mn&gt;2&lt;/mn&gt;&lt;/mrow&gt;&lt;/mfrac&gt;&lt;mo&gt;=&lt;/mo&gt;&lt;mfrac&gt;&lt;mn&gt;30&lt;/mn&gt;&lt;mn&gt;50&lt;/mn&gt;&lt;/mfrac&gt;&lt;mo&gt;×&lt;/mo&gt;&lt;mfrac&gt;&lt;mn&gt;2&lt;/mn&gt;&lt;mn&gt;2&lt;/mn&gt;&lt;/mfrac&gt;&lt;mo&gt;=&lt;/mo&gt;&lt;mfrac&gt;&lt;mn&gt;3&lt;/mn&gt;&lt;mn&gt;5&lt;/mn&gt;&lt;/mfrac&gt;&lt;mo&gt;×&lt;/mo&gt;&lt;mn&gt;1&lt;/mn&gt;&lt;mo&gt;=&lt;/mo&gt;&lt;mfrac&gt;&lt;mn&gt;3&lt;/mn&gt;&lt;mn&gt;5&lt;/mn&gt;&lt;/mfrac&gt;&lt;/math&gt;" id="198" name="Google Shape;198;p20" title="30 over 100 times 2 equals the fraction with numerator 30 times 2 and denominator 100 equals the fraction with numerator 30 times 2 and denominator 50 times 2 equals 30 over 50 times two halves equals three fifths times 1 equals three fifths"/>
          <p:cNvPicPr preferRelativeResize="0"/>
          <p:nvPr/>
        </p:nvPicPr>
        <p:blipFill rotWithShape="1">
          <a:blip r:embed="rId12">
            <a:alphaModFix/>
          </a:blip>
          <a:srcRect b="0" l="97529" r="-1834" t="0"/>
          <a:stretch/>
        </p:blipFill>
        <p:spPr>
          <a:xfrm>
            <a:off x="5497386" y="8751891"/>
            <a:ext cx="140977" cy="30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76399" y="573050"/>
            <a:ext cx="643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Percentages of amounts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2200" y="1061500"/>
            <a:ext cx="3307800" cy="1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20% of 640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30% of 520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6400" y="3923400"/>
            <a:ext cx="6433200" cy="24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Who do you think is correct?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What percentages would the incorrect calculation(s) actually find?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91549" y="4258623"/>
            <a:ext cx="1824855" cy="8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259450" y="4193400"/>
            <a:ext cx="1888548" cy="86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465925" y="3781800"/>
            <a:ext cx="1386598" cy="13736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1246100" y="4258600"/>
            <a:ext cx="18018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10% of a number is easy. You just divide it by 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402674" y="4190975"/>
            <a:ext cx="1708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20% of a number is easy. You just divide it by 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525808" y="3990148"/>
            <a:ext cx="1386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Finding 50% of a number is easy. You just divide it by 50.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67" y="4506944"/>
            <a:ext cx="496172" cy="93689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919915" y="5266142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5488" y="4973819"/>
            <a:ext cx="627512" cy="80916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718480" y="5782994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034558" y="5061281"/>
            <a:ext cx="773516" cy="69813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155877" y="5759407"/>
            <a:ext cx="704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140000" y="1383700"/>
            <a:ext cx="2952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15% of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35% of 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33400" y="7682125"/>
            <a:ext cx="3395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would have found 2%.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would have found 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50" y="5443825"/>
            <a:ext cx="3855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is correct. Andeep - 20% is found by dividing by five. Izzy - 50% would be divide by two.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also try to exemplify your reasoning using a particular value, showing why dividing it by 20 would not result in 20% or 50% of that number.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88800" y="1570138"/>
            <a:ext cx="38352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of 640 = 640 ÷ 10 = 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20% of 640 = 2 × 64 = 128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88800" y="2817425"/>
            <a:ext cx="38352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of 520 = 520 ÷ 10 = 52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30% of 520 = 3 × 52 = 156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301500" y="1493625"/>
            <a:ext cx="27906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of 8 = 8 ÷ 10 = 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5% of 8 = 0.8 ÷ 2 = 0.4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15% of 8 = 0.8 + 0.4 = 1.2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301500" y="2833850"/>
            <a:ext cx="27906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10% of 30 = 30 ÷ 10 =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5% of 30 = 3 ÷ 2 = 1.5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35% of 30 = 3 × 3 + 1.5 = 10.5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percentages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76400" y="965450"/>
            <a:ext cx="6054900" cy="21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Below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six students’ different strategies for finding 75% of 250. One of them is incorrect.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Whose strategy is incorrect?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the method used by each pupil.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168195" y="2492906"/>
            <a:ext cx="1492200" cy="94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100 = 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× 75 = 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776889" y="2431650"/>
            <a:ext cx="1683900" cy="128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2 = 125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÷ 2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+ 62.5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168195" y="3562073"/>
            <a:ext cx="1608600" cy="172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10 =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× 7 = 175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25÷ 2 = 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+ 12.5 = 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54842" y="3760038"/>
            <a:ext cx="1492200" cy="94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4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250 - 62.5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903084" y="4781461"/>
            <a:ext cx="1492200" cy="81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4 = 62.5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62.5 × 3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37765" y="2527255"/>
            <a:ext cx="1492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Found 1% then multiplied by 75 to give 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89925" y="3665922"/>
            <a:ext cx="1492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Found 10% then multiplied by 7 to give 70% then found 5% and summed to make 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4140000" y="5775175"/>
            <a:ext cx="3012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Found 25% then multiplied by 3 to make 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577021" y="2492906"/>
            <a:ext cx="1492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Found 50% then found 25% and summed to make 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5483325" y="3763816"/>
            <a:ext cx="16086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Found 25% then subtracted from 100% to make 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6" name="Google Shape;246;p22"/>
          <p:cNvCxnSpPr/>
          <p:nvPr/>
        </p:nvCxnSpPr>
        <p:spPr>
          <a:xfrm flipH="1" rot="10800000">
            <a:off x="1830736" y="2919382"/>
            <a:ext cx="344400" cy="2202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2"/>
          <p:cNvCxnSpPr/>
          <p:nvPr/>
        </p:nvCxnSpPr>
        <p:spPr>
          <a:xfrm flipH="1" rot="10800000">
            <a:off x="1830736" y="4248342"/>
            <a:ext cx="344400" cy="2202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2"/>
          <p:cNvCxnSpPr/>
          <p:nvPr/>
        </p:nvCxnSpPr>
        <p:spPr>
          <a:xfrm>
            <a:off x="4692875" y="5596550"/>
            <a:ext cx="337200" cy="1572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2"/>
          <p:cNvCxnSpPr/>
          <p:nvPr/>
        </p:nvCxnSpPr>
        <p:spPr>
          <a:xfrm flipH="1" rot="10800000">
            <a:off x="5460674" y="2684311"/>
            <a:ext cx="151800" cy="3702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2"/>
          <p:cNvCxnSpPr/>
          <p:nvPr/>
        </p:nvCxnSpPr>
        <p:spPr>
          <a:xfrm>
            <a:off x="5347189" y="3974261"/>
            <a:ext cx="195000" cy="179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2"/>
          <p:cNvSpPr/>
          <p:nvPr/>
        </p:nvSpPr>
        <p:spPr>
          <a:xfrm>
            <a:off x="2606402" y="5516592"/>
            <a:ext cx="1090800" cy="106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÷ 75 = __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735650" y="5575550"/>
            <a:ext cx="8154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is incorrect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