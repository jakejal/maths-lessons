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C9DB84-52D8-4539-8054-AB8EF78AA331}">
  <a:tblStyle styleId="{DFC9DB84-52D8-4539-8054-AB8EF78AA33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b2384d1bec_2_1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b2384d1bec_2_1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b2384d1bec_2_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b2384d1bec_2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2b2384d1bec_2_1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2b2384d1bec_2_1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2b56f359f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2b56f359f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b2384d26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b2384d26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2b42c932b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2b42c932b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2b42c932b5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2b42c932b5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2b42c932b5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2b42c932b5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b42c932b5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b42c932b5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b42c932b5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b42c932b5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2b42c932b5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2b42c932b5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2b42c932b55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2b42c932b55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2b38252ade0_1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2b38252ade0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b38252ade0_1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2b38252ade0_1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2b38252ade0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2b38252ade0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b38252ade0_1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b38252ade0_1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b38252ade0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b38252ade0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2b38252ade0_1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2b38252ade0_1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b38252ade0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b38252ade0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2b42c932b55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2b42c932b55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2b42c932b55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2b42c932b55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b42c932b55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b42c932b55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2b38252ade0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2b38252ade0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b42c932b55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b42c932b55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b42c932b55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b42c932b55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b42c932b55_1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b42c932b55_1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2b42c932b55_1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2b42c932b55_1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2b42c932b55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2b42c932b55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2b42c932b55_1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2b42c932b55_1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b42c932b55_1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2b42c932b55_1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2b42c932b55_1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2b42c932b55_1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2b42c932b55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2b42c932b55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2b42c932b55_1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2b42c932b55_1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2b42c932b55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2b42c932b55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2b42c932b55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2b42c932b55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2b42c932b55_1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2b42c932b55_1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2b42c932b55_1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2b42c932b55_1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2b42c932b55_1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2b42c932b55_1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2b42c932b55_1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2b42c932b55_1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2b42c932b55_1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2b42c932b55_1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1efd4b1a4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1efd4b1a4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2b58e05ab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2b58e05ab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6.png"/><Relationship Id="rId4" Type="http://schemas.openxmlformats.org/officeDocument/2006/relationships/image" Target="../media/image62.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2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2.png"/><Relationship Id="rId4" Type="http://schemas.openxmlformats.org/officeDocument/2006/relationships/image" Target="../media/image26.png"/><Relationship Id="rId9" Type="http://schemas.openxmlformats.org/officeDocument/2006/relationships/image" Target="../media/image22.png"/><Relationship Id="rId5" Type="http://schemas.openxmlformats.org/officeDocument/2006/relationships/image" Target="../media/image16.png"/><Relationship Id="rId6" Type="http://schemas.openxmlformats.org/officeDocument/2006/relationships/image" Target="../media/image33.png"/><Relationship Id="rId7" Type="http://schemas.openxmlformats.org/officeDocument/2006/relationships/image" Target="../media/image25.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2.png"/><Relationship Id="rId4" Type="http://schemas.openxmlformats.org/officeDocument/2006/relationships/image" Target="../media/image31.png"/><Relationship Id="rId11" Type="http://schemas.openxmlformats.org/officeDocument/2006/relationships/image" Target="../media/image22.png"/><Relationship Id="rId10" Type="http://schemas.openxmlformats.org/officeDocument/2006/relationships/image" Target="../media/image36.png"/><Relationship Id="rId9" Type="http://schemas.openxmlformats.org/officeDocument/2006/relationships/image" Target="../media/image29.png"/><Relationship Id="rId5" Type="http://schemas.openxmlformats.org/officeDocument/2006/relationships/image" Target="../media/image26.png"/><Relationship Id="rId6" Type="http://schemas.openxmlformats.org/officeDocument/2006/relationships/image" Target="../media/image16.png"/><Relationship Id="rId7" Type="http://schemas.openxmlformats.org/officeDocument/2006/relationships/image" Target="../media/image33.png"/><Relationship Id="rId8"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2"/>
          <p:cNvSpPr/>
          <p:nvPr/>
        </p:nvSpPr>
        <p:spPr>
          <a:xfrm>
            <a:off x="0" y="532525"/>
            <a:ext cx="9151202" cy="116709"/>
          </a:xfrm>
          <a:prstGeom prst="rect">
            <a:avLst/>
          </a:prstGeom>
          <a:noFill/>
          <a:ln>
            <a:noFill/>
          </a:ln>
        </p:spPr>
      </p:sp>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2">
  <p:cSld name="CUSTOM_3_1_3">
    <p:spTree>
      <p:nvGrpSpPr>
        <p:cNvPr id="750" name="Shape 750"/>
        <p:cNvGrpSpPr/>
        <p:nvPr/>
      </p:nvGrpSpPr>
      <p:grpSpPr>
        <a:xfrm>
          <a:off x="0" y="0"/>
          <a:ext cx="0" cy="0"/>
          <a:chOff x="0" y="0"/>
          <a:chExt cx="0" cy="0"/>
        </a:xfrm>
      </p:grpSpPr>
      <p:sp>
        <p:nvSpPr>
          <p:cNvPr id="751" name="Google Shape;751;p6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2" name="Google Shape;752;p6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53" name="Google Shape;753;p6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54" name="Google Shape;754;p6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55" name="Google Shape;755;p6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56" name="Google Shape;756;p6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xml"/><Relationship Id="rId3" Type="http://schemas.openxmlformats.org/officeDocument/2006/relationships/image" Target="../media/image5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5.png"/><Relationship Id="rId4"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5.png"/><Relationship Id="rId4" Type="http://schemas.openxmlformats.org/officeDocument/2006/relationships/image" Target="../media/image5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60.png"/><Relationship Id="rId4" Type="http://schemas.openxmlformats.org/officeDocument/2006/relationships/image" Target="../media/image58.png"/><Relationship Id="rId5"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9.png"/><Relationship Id="rId4"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61.png"/><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64.png"/><Relationship Id="rId4" Type="http://schemas.openxmlformats.org/officeDocument/2006/relationships/image" Target="../media/image63.png"/><Relationship Id="rId5"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6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 Id="rId3" Type="http://schemas.openxmlformats.org/officeDocument/2006/relationships/image" Target="../media/image70.png"/><Relationship Id="rId4" Type="http://schemas.openxmlformats.org/officeDocument/2006/relationships/image" Target="../media/image7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 Id="rId3" Type="http://schemas.openxmlformats.org/officeDocument/2006/relationships/image" Target="../media/image67.png"/><Relationship Id="rId4" Type="http://schemas.openxmlformats.org/officeDocument/2006/relationships/image" Target="../media/image6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 Id="rId3" Type="http://schemas.openxmlformats.org/officeDocument/2006/relationships/image" Target="../media/image7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 Id="rId3" Type="http://schemas.openxmlformats.org/officeDocument/2006/relationships/image" Target="../media/image7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 Id="rId3" Type="http://schemas.openxmlformats.org/officeDocument/2006/relationships/image" Target="../media/image7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7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75.png"/><Relationship Id="rId4" Type="http://schemas.openxmlformats.org/officeDocument/2006/relationships/image" Target="../media/image78.png"/><Relationship Id="rId5" Type="http://schemas.openxmlformats.org/officeDocument/2006/relationships/image" Target="../media/image7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image" Target="../media/image72.png"/><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image" Target="../media/image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 Id="rId3" Type="http://schemas.openxmlformats.org/officeDocument/2006/relationships/image" Target="../media/image72.png"/><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image" Target="../media/image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 Id="rId3" Type="http://schemas.openxmlformats.org/officeDocument/2006/relationships/image" Target="../media/image72.png"/><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image" Target="../media/image8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2.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percentages</a:t>
            </a:r>
            <a:endParaRPr/>
          </a:p>
        </p:txBody>
      </p:sp>
      <p:sp>
        <p:nvSpPr>
          <p:cNvPr id="762" name="Google Shape;762;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percentages and proportionality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6" name="Shape 766"/>
        <p:cNvGrpSpPr/>
        <p:nvPr/>
      </p:nvGrpSpPr>
      <p:grpSpPr>
        <a:xfrm>
          <a:off x="0" y="0"/>
          <a:ext cx="0" cy="0"/>
          <a:chOff x="0" y="0"/>
          <a:chExt cx="0" cy="0"/>
        </a:xfrm>
      </p:grpSpPr>
      <p:sp>
        <p:nvSpPr>
          <p:cNvPr id="767" name="Google Shape;767;p65"/>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manipulate percentages of an amount without a representation.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67"/>
          <p:cNvSpPr txBox="1"/>
          <p:nvPr>
            <p:ph idx="1" type="subTitle"/>
          </p:nvPr>
        </p:nvSpPr>
        <p:spPr>
          <a:xfrm>
            <a:off x="324001" y="993650"/>
            <a:ext cx="87351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Two fractions are </a:t>
            </a:r>
            <a:r>
              <a:rPr lang="en-GB"/>
              <a:t>equivalent </a:t>
            </a:r>
            <a:r>
              <a:rPr b="0" lang="en-GB"/>
              <a:t>if they have the same value.</a:t>
            </a:r>
            <a:endParaRPr b="0"/>
          </a:p>
        </p:txBody>
      </p:sp>
      <p:sp>
        <p:nvSpPr>
          <p:cNvPr id="778" name="Google Shape;778;p67"/>
          <p:cNvSpPr txBox="1"/>
          <p:nvPr>
            <p:ph idx="1" type="subTitle"/>
          </p:nvPr>
        </p:nvSpPr>
        <p:spPr>
          <a:xfrm>
            <a:off x="1253151" y="1957194"/>
            <a:ext cx="13608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Example</a:t>
            </a:r>
            <a:endParaRPr b="0"/>
          </a:p>
        </p:txBody>
      </p:sp>
      <p:pic>
        <p:nvPicPr>
          <p:cNvPr descr="&lt;math xmlns=&quot;http://www.w3.org/1998/Math/MathML&quot; display=&quot;block&quot; data-is-equatio=&quot;1&quot; data-latex=&quot;\frac{1}{2}=\ \frac{2}{4}\ \ \ \ \ \frac{4}{5}=\frac{40}{50}\ \ \ \ \ \ \frac{1}{5}\ne\frac{3}{7}&quot;&gt;&lt;mfrac&gt;&lt;mn&gt;1&lt;/mn&gt;&lt;mn&gt;2&lt;/mn&gt;&lt;/mfrac&gt;&lt;mo&gt;=&lt;/mo&gt;&lt;mtext&gt;&lt;/mtext&gt;&lt;mfrac&gt;&lt;mn&gt;2&lt;/mn&gt;&lt;mn&gt;4&lt;/mn&gt;&lt;/mfrac&gt;&lt;mtext&gt;&lt;/mtext&gt;&lt;mtext&gt;&lt;/mtext&gt;&lt;mtext&gt;&lt;/mtext&gt;&lt;mtext&gt;&lt;/mtext&gt;&lt;mtext&gt;&lt;/mtext&gt;&lt;mfrac&gt;&lt;mn&gt;4&lt;/mn&gt;&lt;mn&gt;5&lt;/mn&gt;&lt;/mfrac&gt;&lt;mo&gt;=&lt;/mo&gt;&lt;mfrac&gt;&lt;mn&gt;40&lt;/mn&gt;&lt;mn&gt;50&lt;/mn&gt;&lt;/mfrac&gt;&lt;mtext&gt;&lt;/mtext&gt;&lt;mtext&gt;&lt;/mtext&gt;&lt;mtext&gt;&lt;/mtext&gt;&lt;mtext&gt;&lt;/mtext&gt;&lt;mtext&gt;&lt;/mtext&gt;&lt;mtext&gt;&lt;/mtext&gt;&lt;mfrac&gt;&lt;mn&gt;1&lt;/mn&gt;&lt;mn&gt;5&lt;/mn&gt;&lt;/mfrac&gt;&lt;mo&gt;≠&lt;/mo&gt;&lt;mfrac&gt;&lt;mn&gt;3&lt;/mn&gt;&lt;mn&gt;7&lt;/mn&gt;&lt;/mfrac&gt;&lt;/math&gt;" id="779" name="Google Shape;779;p67" title="one half equals two fourths four fifths equals 40 over 50 one fifth is not equal to three sevenths"/>
          <p:cNvPicPr preferRelativeResize="0"/>
          <p:nvPr/>
        </p:nvPicPr>
        <p:blipFill rotWithShape="1">
          <a:blip r:embed="rId3">
            <a:alphaModFix/>
          </a:blip>
          <a:srcRect b="0" l="0" r="70872" t="0"/>
          <a:stretch/>
        </p:blipFill>
        <p:spPr>
          <a:xfrm>
            <a:off x="1232391" y="2596019"/>
            <a:ext cx="1505275" cy="886300"/>
          </a:xfrm>
          <a:prstGeom prst="rect">
            <a:avLst/>
          </a:prstGeom>
          <a:noFill/>
          <a:ln>
            <a:noFill/>
          </a:ln>
        </p:spPr>
      </p:pic>
      <p:sp>
        <p:nvSpPr>
          <p:cNvPr id="780" name="Google Shape;780;p67"/>
          <p:cNvSpPr txBox="1"/>
          <p:nvPr>
            <p:ph idx="1" type="subTitle"/>
          </p:nvPr>
        </p:nvSpPr>
        <p:spPr>
          <a:xfrm>
            <a:off x="3831714" y="1957194"/>
            <a:ext cx="13608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Example</a:t>
            </a:r>
            <a:endParaRPr b="0"/>
          </a:p>
        </p:txBody>
      </p:sp>
      <p:pic>
        <p:nvPicPr>
          <p:cNvPr descr="&lt;math xmlns=&quot;http://www.w3.org/1998/Math/MathML&quot; display=&quot;block&quot; data-is-equatio=&quot;1&quot; data-latex=&quot;\frac{1}{2}=\ \frac{2}{4}\ \ \ \ \ \frac{4}{5}=\frac{40}{50}\ \ \ \ \ \ \frac{1}{5}\ne\frac{3}{7}&quot;&gt;&lt;mfrac&gt;&lt;mn&gt;1&lt;/mn&gt;&lt;mn&gt;2&lt;/mn&gt;&lt;/mfrac&gt;&lt;mo&gt;=&lt;/mo&gt;&lt;mtext&gt;&lt;/mtext&gt;&lt;mfrac&gt;&lt;mn&gt;2&lt;/mn&gt;&lt;mn&gt;4&lt;/mn&gt;&lt;/mfrac&gt;&lt;mtext&gt;&lt;/mtext&gt;&lt;mtext&gt;&lt;/mtext&gt;&lt;mtext&gt;&lt;/mtext&gt;&lt;mtext&gt;&lt;/mtext&gt;&lt;mtext&gt;&lt;/mtext&gt;&lt;mfrac&gt;&lt;mn&gt;4&lt;/mn&gt;&lt;mn&gt;5&lt;/mn&gt;&lt;/mfrac&gt;&lt;mo&gt;=&lt;/mo&gt;&lt;mfrac&gt;&lt;mn&gt;40&lt;/mn&gt;&lt;mn&gt;50&lt;/mn&gt;&lt;/mfrac&gt;&lt;mtext&gt;&lt;/mtext&gt;&lt;mtext&gt;&lt;/mtext&gt;&lt;mtext&gt;&lt;/mtext&gt;&lt;mtext&gt;&lt;/mtext&gt;&lt;mtext&gt;&lt;/mtext&gt;&lt;mtext&gt;&lt;/mtext&gt;&lt;mfrac&gt;&lt;mn&gt;1&lt;/mn&gt;&lt;mn&gt;5&lt;/mn&gt;&lt;/mfrac&gt;&lt;mo&gt;≠&lt;/mo&gt;&lt;mfrac&gt;&lt;mn&gt;3&lt;/mn&gt;&lt;mn&gt;7&lt;/mn&gt;&lt;/mfrac&gt;&lt;/math&gt;" id="781" name="Google Shape;781;p67" title="one half equals two fourths four fifths equals 40 over 50 one fifth is not equal to three sevenths"/>
          <p:cNvPicPr preferRelativeResize="0"/>
          <p:nvPr/>
        </p:nvPicPr>
        <p:blipFill rotWithShape="1">
          <a:blip r:embed="rId3">
            <a:alphaModFix/>
          </a:blip>
          <a:srcRect b="-8753" l="34396" r="36476" t="-8273"/>
          <a:stretch/>
        </p:blipFill>
        <p:spPr>
          <a:xfrm>
            <a:off x="3810958" y="2520606"/>
            <a:ext cx="1505275" cy="1037125"/>
          </a:xfrm>
          <a:prstGeom prst="rect">
            <a:avLst/>
          </a:prstGeom>
          <a:noFill/>
          <a:ln>
            <a:noFill/>
          </a:ln>
        </p:spPr>
      </p:pic>
      <p:sp>
        <p:nvSpPr>
          <p:cNvPr id="782" name="Google Shape;782;p67"/>
          <p:cNvSpPr txBox="1"/>
          <p:nvPr>
            <p:ph idx="1" type="subTitle"/>
          </p:nvPr>
        </p:nvSpPr>
        <p:spPr>
          <a:xfrm>
            <a:off x="6389525" y="1957200"/>
            <a:ext cx="2048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Non-example</a:t>
            </a:r>
            <a:endParaRPr b="0"/>
          </a:p>
        </p:txBody>
      </p:sp>
      <p:pic>
        <p:nvPicPr>
          <p:cNvPr descr="&lt;math xmlns=&quot;http://www.w3.org/1998/Math/MathML&quot; display=&quot;block&quot; data-is-equatio=&quot;1&quot; data-latex=&quot;\frac{1}{2}=\ \frac{2}{4}\ \ \ \ \ \frac{4}{5}=\frac{40}{50}\ \ \ \ \ \ \frac{1}{5}\ne\frac{3}{7}&quot;&gt;&lt;mfrac&gt;&lt;mn&gt;1&lt;/mn&gt;&lt;mn&gt;2&lt;/mn&gt;&lt;/mfrac&gt;&lt;mo&gt;=&lt;/mo&gt;&lt;mtext&gt;&lt;/mtext&gt;&lt;mfrac&gt;&lt;mn&gt;2&lt;/mn&gt;&lt;mn&gt;4&lt;/mn&gt;&lt;/mfrac&gt;&lt;mtext&gt;&lt;/mtext&gt;&lt;mtext&gt;&lt;/mtext&gt;&lt;mtext&gt;&lt;/mtext&gt;&lt;mtext&gt;&lt;/mtext&gt;&lt;mtext&gt;&lt;/mtext&gt;&lt;mfrac&gt;&lt;mn&gt;4&lt;/mn&gt;&lt;mn&gt;5&lt;/mn&gt;&lt;/mfrac&gt;&lt;mo&gt;=&lt;/mo&gt;&lt;mfrac&gt;&lt;mn&gt;40&lt;/mn&gt;&lt;mn&gt;50&lt;/mn&gt;&lt;/mfrac&gt;&lt;mtext&gt;&lt;/mtext&gt;&lt;mtext&gt;&lt;/mtext&gt;&lt;mtext&gt;&lt;/mtext&gt;&lt;mtext&gt;&lt;/mtext&gt;&lt;mtext&gt;&lt;/mtext&gt;&lt;mtext&gt;&lt;/mtext&gt;&lt;mfrac&gt;&lt;mn&gt;1&lt;/mn&gt;&lt;mn&gt;5&lt;/mn&gt;&lt;/mfrac&gt;&lt;mo&gt;≠&lt;/mo&gt;&lt;mfrac&gt;&lt;mn&gt;3&lt;/mn&gt;&lt;mn&gt;7&lt;/mn&gt;&lt;/mfrac&gt;&lt;/math&gt;" id="783" name="Google Shape;783;p67" title="one half equals two fourths four fifths equals 40 over 50 one fifth is not equal to three sevenths"/>
          <p:cNvPicPr preferRelativeResize="0"/>
          <p:nvPr/>
        </p:nvPicPr>
        <p:blipFill rotWithShape="1">
          <a:blip r:embed="rId3">
            <a:alphaModFix/>
          </a:blip>
          <a:srcRect b="-8507" l="73727" r="-2854" t="-8519"/>
          <a:stretch/>
        </p:blipFill>
        <p:spPr>
          <a:xfrm>
            <a:off x="6389525" y="2520606"/>
            <a:ext cx="1505275" cy="1037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sp>
        <p:nvSpPr>
          <p:cNvPr id="789" name="Google Shape;789;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790" name="Google Shape;790;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percentages</a:t>
            </a:r>
            <a:endParaRPr/>
          </a:p>
        </p:txBody>
      </p:sp>
      <p:pic>
        <p:nvPicPr>
          <p:cNvPr id="791" name="Google Shape;791;p68"/>
          <p:cNvPicPr preferRelativeResize="0"/>
          <p:nvPr/>
        </p:nvPicPr>
        <p:blipFill>
          <a:blip r:embed="rId3">
            <a:alphaModFix/>
          </a:blip>
          <a:stretch>
            <a:fillRect/>
          </a:stretch>
        </p:blipFill>
        <p:spPr>
          <a:xfrm>
            <a:off x="415922"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69"/>
          <p:cNvSpPr txBox="1"/>
          <p:nvPr>
            <p:ph idx="1" type="body"/>
          </p:nvPr>
        </p:nvSpPr>
        <p:spPr>
          <a:xfrm>
            <a:off x="324000" y="759300"/>
            <a:ext cx="7462800" cy="81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What fraction is shaded here?</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797" name="Google Shape;797;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798" name="Google Shape;798;p69"/>
          <p:cNvGraphicFramePr/>
          <p:nvPr/>
        </p:nvGraphicFramePr>
        <p:xfrm>
          <a:off x="629375" y="1319575"/>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17}{20}&quot;&gt;&lt;mfrac&gt;&lt;mn&gt;17&lt;/mn&gt;&lt;mn&gt;20&lt;/mn&gt;&lt;/mfrac&gt;&lt;/math&gt;" id="799" name="Google Shape;799;p69" title="17 over 20"/>
          <p:cNvPicPr preferRelativeResize="0"/>
          <p:nvPr/>
        </p:nvPicPr>
        <p:blipFill>
          <a:blip r:embed="rId3">
            <a:alphaModFix/>
          </a:blip>
          <a:stretch>
            <a:fillRect/>
          </a:stretch>
        </p:blipFill>
        <p:spPr>
          <a:xfrm>
            <a:off x="4097950" y="2367150"/>
            <a:ext cx="444112" cy="818100"/>
          </a:xfrm>
          <a:prstGeom prst="rect">
            <a:avLst/>
          </a:prstGeom>
          <a:noFill/>
          <a:ln>
            <a:noFill/>
          </a:ln>
        </p:spPr>
      </p:pic>
      <p:cxnSp>
        <p:nvCxnSpPr>
          <p:cNvPr id="800" name="Google Shape;800;p69"/>
          <p:cNvCxnSpPr/>
          <p:nvPr/>
        </p:nvCxnSpPr>
        <p:spPr>
          <a:xfrm flipH="1">
            <a:off x="4572000" y="2130163"/>
            <a:ext cx="621000" cy="318600"/>
          </a:xfrm>
          <a:prstGeom prst="straightConnector1">
            <a:avLst/>
          </a:prstGeom>
          <a:noFill/>
          <a:ln cap="flat" cmpd="sng" w="28575">
            <a:solidFill>
              <a:schemeClr val="dk2"/>
            </a:solidFill>
            <a:prstDash val="solid"/>
            <a:round/>
            <a:headEnd len="med" w="med" type="none"/>
            <a:tailEnd len="med" w="med" type="none"/>
          </a:ln>
        </p:spPr>
      </p:cxnSp>
      <p:cxnSp>
        <p:nvCxnSpPr>
          <p:cNvPr id="801" name="Google Shape;801;p69"/>
          <p:cNvCxnSpPr/>
          <p:nvPr/>
        </p:nvCxnSpPr>
        <p:spPr>
          <a:xfrm rot="10800000">
            <a:off x="4572125" y="2968175"/>
            <a:ext cx="684600" cy="209400"/>
          </a:xfrm>
          <a:prstGeom prst="straightConnector1">
            <a:avLst/>
          </a:prstGeom>
          <a:noFill/>
          <a:ln cap="flat" cmpd="sng" w="28575">
            <a:solidFill>
              <a:schemeClr val="dk2"/>
            </a:solidFill>
            <a:prstDash val="solid"/>
            <a:round/>
            <a:headEnd len="med" w="med" type="none"/>
            <a:tailEnd len="med" w="med" type="none"/>
          </a:ln>
        </p:spPr>
      </p:cxnSp>
      <p:sp>
        <p:nvSpPr>
          <p:cNvPr id="802" name="Google Shape;802;p69"/>
          <p:cNvSpPr txBox="1"/>
          <p:nvPr/>
        </p:nvSpPr>
        <p:spPr>
          <a:xfrm>
            <a:off x="5273675" y="1869900"/>
            <a:ext cx="2102100" cy="73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17 shaded</a:t>
            </a:r>
            <a:endParaRPr sz="2200">
              <a:solidFill>
                <a:schemeClr val="dk1"/>
              </a:solidFill>
              <a:latin typeface="Lexend"/>
              <a:ea typeface="Lexend"/>
              <a:cs typeface="Lexend"/>
              <a:sym typeface="Lexend"/>
            </a:endParaRPr>
          </a:p>
        </p:txBody>
      </p:sp>
      <p:sp>
        <p:nvSpPr>
          <p:cNvPr id="803" name="Google Shape;803;p69"/>
          <p:cNvSpPr txBox="1"/>
          <p:nvPr/>
        </p:nvSpPr>
        <p:spPr>
          <a:xfrm>
            <a:off x="5273800" y="2925350"/>
            <a:ext cx="2102100" cy="73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Out of 20</a:t>
            </a:r>
            <a:endParaRPr sz="2200">
              <a:solidFill>
                <a:schemeClr val="dk1"/>
              </a:solidFill>
              <a:latin typeface="Lexend"/>
              <a:ea typeface="Lexend"/>
              <a:cs typeface="Lexend"/>
              <a:sym typeface="Lexend"/>
            </a:endParaRPr>
          </a:p>
        </p:txBody>
      </p:sp>
      <p:sp>
        <p:nvSpPr>
          <p:cNvPr id="804" name="Google Shape;804;p69"/>
          <p:cNvSpPr txBox="1"/>
          <p:nvPr>
            <p:ph idx="1" type="body"/>
          </p:nvPr>
        </p:nvSpPr>
        <p:spPr>
          <a:xfrm>
            <a:off x="324000" y="3537750"/>
            <a:ext cx="8190900" cy="81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Therefore, this states for every 20 bars, 17 are shaded.</a:t>
            </a:r>
            <a:endParaRPr/>
          </a:p>
          <a:p>
            <a:pPr indent="0" lvl="0" marL="0" rtl="0" algn="l">
              <a:spcBef>
                <a:spcPts val="1000"/>
              </a:spcBef>
              <a:spcAft>
                <a:spcPts val="1000"/>
              </a:spcAft>
              <a:buNone/>
            </a:pPr>
            <a:r>
              <a:rPr lang="en-GB"/>
              <a:t>How do we show this as a percentage?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70"/>
          <p:cNvSpPr txBox="1"/>
          <p:nvPr>
            <p:ph idx="1" type="body"/>
          </p:nvPr>
        </p:nvSpPr>
        <p:spPr>
          <a:xfrm>
            <a:off x="324000" y="759300"/>
            <a:ext cx="8577600" cy="8181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We need to keep </a:t>
            </a:r>
            <a:r>
              <a:rPr lang="en-GB"/>
              <a:t>the proportion of ‘for every 20 bars, 17 are shaded’ the same but make a hundred grid.</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810" name="Google Shape;810;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811" name="Google Shape;811;p70"/>
          <p:cNvGraphicFramePr/>
          <p:nvPr/>
        </p:nvGraphicFramePr>
        <p:xfrm>
          <a:off x="781775" y="1852975"/>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12" name="Google Shape;812;p70"/>
          <p:cNvGraphicFramePr/>
          <p:nvPr/>
        </p:nvGraphicFramePr>
        <p:xfrm>
          <a:off x="781775" y="2249175"/>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13" name="Google Shape;813;p70" title="17 over 20 equals 34 over 40 equals 51 over 60 equals 68 over 80 equals 85 over 100"/>
          <p:cNvPicPr preferRelativeResize="0"/>
          <p:nvPr/>
        </p:nvPicPr>
        <p:blipFill rotWithShape="1">
          <a:blip r:embed="rId3">
            <a:alphaModFix/>
          </a:blip>
          <a:srcRect b="0" l="0" r="88329" t="0"/>
          <a:stretch/>
        </p:blipFill>
        <p:spPr>
          <a:xfrm>
            <a:off x="2039798" y="3954700"/>
            <a:ext cx="491600" cy="730600"/>
          </a:xfrm>
          <a:prstGeom prst="rect">
            <a:avLst/>
          </a:prstGeom>
          <a:noFill/>
          <a:ln>
            <a:noFill/>
          </a:ln>
        </p:spPr>
      </p:pic>
      <p:graphicFrame>
        <p:nvGraphicFramePr>
          <p:cNvPr id="814" name="Google Shape;814;p70"/>
          <p:cNvGraphicFramePr/>
          <p:nvPr/>
        </p:nvGraphicFramePr>
        <p:xfrm>
          <a:off x="781775" y="2654888"/>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15" name="Google Shape;815;p70"/>
          <p:cNvGraphicFramePr/>
          <p:nvPr/>
        </p:nvGraphicFramePr>
        <p:xfrm>
          <a:off x="781775" y="3051088"/>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16" name="Google Shape;816;p70"/>
          <p:cNvGraphicFramePr/>
          <p:nvPr/>
        </p:nvGraphicFramePr>
        <p:xfrm>
          <a:off x="781775" y="3432088"/>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17" name="Google Shape;817;p70" title="17 over 20 equals 34 over 40 equals 51 over 60 equals 68 over 80 equals 85 over 100"/>
          <p:cNvPicPr preferRelativeResize="0"/>
          <p:nvPr/>
        </p:nvPicPr>
        <p:blipFill rotWithShape="1">
          <a:blip r:embed="rId3">
            <a:alphaModFix/>
          </a:blip>
          <a:srcRect b="0" l="9713" r="65983" t="0"/>
          <a:stretch/>
        </p:blipFill>
        <p:spPr>
          <a:xfrm>
            <a:off x="2458100" y="3954700"/>
            <a:ext cx="1023699" cy="730600"/>
          </a:xfrm>
          <a:prstGeom prst="rect">
            <a:avLst/>
          </a:prstGeom>
          <a:noFill/>
          <a:ln>
            <a:noFill/>
          </a:ln>
        </p:spPr>
      </p:pic>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18" name="Google Shape;818;p70" title="17 over 20 equals 34 over 40 equals 51 over 60 equals 68 over 80 equals 85 over 100"/>
          <p:cNvPicPr preferRelativeResize="0"/>
          <p:nvPr/>
        </p:nvPicPr>
        <p:blipFill rotWithShape="1">
          <a:blip r:embed="rId3">
            <a:alphaModFix/>
          </a:blip>
          <a:srcRect b="0" l="34019" r="47017" t="0"/>
          <a:stretch/>
        </p:blipFill>
        <p:spPr>
          <a:xfrm>
            <a:off x="3481800" y="3954700"/>
            <a:ext cx="798801" cy="730600"/>
          </a:xfrm>
          <a:prstGeom prst="rect">
            <a:avLst/>
          </a:prstGeom>
          <a:noFill/>
          <a:ln>
            <a:noFill/>
          </a:ln>
        </p:spPr>
      </p:pic>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19" name="Google Shape;819;p70" title="17 over 20 equals 34 over 40 equals 51 over 60 equals 68 over 80 equals 85 over 100"/>
          <p:cNvPicPr preferRelativeResize="0"/>
          <p:nvPr/>
        </p:nvPicPr>
        <p:blipFill rotWithShape="1">
          <a:blip r:embed="rId3">
            <a:alphaModFix/>
          </a:blip>
          <a:srcRect b="0" l="52981" r="24128" t="0"/>
          <a:stretch/>
        </p:blipFill>
        <p:spPr>
          <a:xfrm>
            <a:off x="4280600" y="3954700"/>
            <a:ext cx="964225" cy="730600"/>
          </a:xfrm>
          <a:prstGeom prst="rect">
            <a:avLst/>
          </a:prstGeom>
          <a:noFill/>
          <a:ln>
            <a:noFill/>
          </a:ln>
        </p:spPr>
      </p:pic>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20" name="Google Shape;820;p70" title="17 over 20 equals 34 over 40 equals 51 over 60 equals 68 over 80 equals 85 over 100"/>
          <p:cNvPicPr preferRelativeResize="0"/>
          <p:nvPr/>
        </p:nvPicPr>
        <p:blipFill rotWithShape="1">
          <a:blip r:embed="rId3">
            <a:alphaModFix/>
          </a:blip>
          <a:srcRect b="0" l="75874" r="-3471" t="0"/>
          <a:stretch/>
        </p:blipFill>
        <p:spPr>
          <a:xfrm>
            <a:off x="5244826" y="3954700"/>
            <a:ext cx="1162500" cy="730600"/>
          </a:xfrm>
          <a:prstGeom prst="rect">
            <a:avLst/>
          </a:prstGeom>
          <a:noFill/>
          <a:ln>
            <a:noFill/>
          </a:ln>
        </p:spPr>
      </p:pic>
      <p:pic>
        <p:nvPicPr>
          <p:cNvPr descr="&lt;math xmlns=&quot;http://www.w3.org/1998/Math/MathML&quot; display=&quot;block&quot; data-is-equatio=&quot;1&quot; data-latex=&quot;=85\%&quot;&gt;&lt;mo&gt;=&lt;/mo&gt;&lt;mn&gt;85&lt;/mn&gt;&lt;mi mathvariant=&quot;normal&quot;&gt;%&lt;/mi&gt;&lt;/math&gt;" id="821" name="Google Shape;821;p70" title="equals 85 percent sign"/>
          <p:cNvPicPr preferRelativeResize="0"/>
          <p:nvPr/>
        </p:nvPicPr>
        <p:blipFill>
          <a:blip r:embed="rId4">
            <a:alphaModFix/>
          </a:blip>
          <a:stretch>
            <a:fillRect/>
          </a:stretch>
        </p:blipFill>
        <p:spPr>
          <a:xfrm>
            <a:off x="6407325" y="4128600"/>
            <a:ext cx="1023700" cy="2907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71"/>
          <p:cNvSpPr txBox="1"/>
          <p:nvPr>
            <p:ph idx="1" type="body"/>
          </p:nvPr>
        </p:nvSpPr>
        <p:spPr>
          <a:xfrm>
            <a:off x="324000" y="683100"/>
            <a:ext cx="8577600" cy="81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Knowledge on </a:t>
            </a:r>
            <a:r>
              <a:rPr b="1" lang="en-GB"/>
              <a:t>equivalent fractions</a:t>
            </a:r>
            <a:r>
              <a:rPr lang="en-GB"/>
              <a:t> allows us to convert so the denominator of the fraction becomes 100</a:t>
            </a:r>
            <a:endParaRPr/>
          </a:p>
          <a:p>
            <a:pPr indent="0" lvl="0" marL="0" rtl="0" algn="l">
              <a:spcBef>
                <a:spcPts val="1000"/>
              </a:spcBef>
              <a:spcAft>
                <a:spcPts val="1000"/>
              </a:spcAft>
              <a:buNone/>
            </a:pPr>
            <a:r>
              <a:t/>
            </a:r>
            <a:endParaRPr/>
          </a:p>
        </p:txBody>
      </p:sp>
      <p:sp>
        <p:nvSpPr>
          <p:cNvPr id="827" name="Google Shape;827;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828" name="Google Shape;828;p71"/>
          <p:cNvGraphicFramePr/>
          <p:nvPr/>
        </p:nvGraphicFramePr>
        <p:xfrm>
          <a:off x="781775" y="1852975"/>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29" name="Google Shape;829;p71"/>
          <p:cNvGraphicFramePr/>
          <p:nvPr/>
        </p:nvGraphicFramePr>
        <p:xfrm>
          <a:off x="781775" y="2249175"/>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30" name="Google Shape;830;p71" title="17 over 20 equals 34 over 40 equals 51 over 60 equals 68 over 80 equals 85 over 100"/>
          <p:cNvPicPr preferRelativeResize="0"/>
          <p:nvPr/>
        </p:nvPicPr>
        <p:blipFill rotWithShape="1">
          <a:blip r:embed="rId3">
            <a:alphaModFix/>
          </a:blip>
          <a:srcRect b="0" l="0" r="88329" t="0"/>
          <a:stretch/>
        </p:blipFill>
        <p:spPr>
          <a:xfrm>
            <a:off x="2039798" y="3954700"/>
            <a:ext cx="491600" cy="730600"/>
          </a:xfrm>
          <a:prstGeom prst="rect">
            <a:avLst/>
          </a:prstGeom>
          <a:noFill/>
          <a:ln>
            <a:noFill/>
          </a:ln>
        </p:spPr>
      </p:pic>
      <p:graphicFrame>
        <p:nvGraphicFramePr>
          <p:cNvPr id="831" name="Google Shape;831;p71"/>
          <p:cNvGraphicFramePr/>
          <p:nvPr/>
        </p:nvGraphicFramePr>
        <p:xfrm>
          <a:off x="781775" y="2654888"/>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32" name="Google Shape;832;p71"/>
          <p:cNvGraphicFramePr/>
          <p:nvPr/>
        </p:nvGraphicFramePr>
        <p:xfrm>
          <a:off x="781775" y="3051088"/>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33" name="Google Shape;833;p71"/>
          <p:cNvGraphicFramePr/>
          <p:nvPr/>
        </p:nvGraphicFramePr>
        <p:xfrm>
          <a:off x="781775" y="3432088"/>
          <a:ext cx="3000000" cy="3000000"/>
        </p:xfrm>
        <a:graphic>
          <a:graphicData uri="http://schemas.openxmlformats.org/drawingml/2006/table">
            <a:tbl>
              <a:tblPr>
                <a:noFill/>
                <a:tableStyleId>{DFC9DB84-52D8-4539-8054-AB8EF78AA331}</a:tableStyleId>
              </a:tblPr>
              <a:tblGrid>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gridCol w="394275"/>
              </a:tblGrid>
              <a:tr h="251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34" name="Google Shape;834;p71" title="17 over 20 equals 34 over 40 equals 51 over 60 equals 68 over 80 equals 85 over 100"/>
          <p:cNvPicPr preferRelativeResize="0"/>
          <p:nvPr/>
        </p:nvPicPr>
        <p:blipFill rotWithShape="1">
          <a:blip r:embed="rId3">
            <a:alphaModFix/>
          </a:blip>
          <a:srcRect b="0" l="9713" r="65983" t="0"/>
          <a:stretch/>
        </p:blipFill>
        <p:spPr>
          <a:xfrm>
            <a:off x="2458100" y="3954700"/>
            <a:ext cx="1023699" cy="730600"/>
          </a:xfrm>
          <a:prstGeom prst="rect">
            <a:avLst/>
          </a:prstGeom>
          <a:noFill/>
          <a:ln>
            <a:noFill/>
          </a:ln>
        </p:spPr>
      </p:pic>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35" name="Google Shape;835;p71" title="17 over 20 equals 34 over 40 equals 51 over 60 equals 68 over 80 equals 85 over 100"/>
          <p:cNvPicPr preferRelativeResize="0"/>
          <p:nvPr/>
        </p:nvPicPr>
        <p:blipFill rotWithShape="1">
          <a:blip r:embed="rId3">
            <a:alphaModFix/>
          </a:blip>
          <a:srcRect b="0" l="34019" r="47017" t="0"/>
          <a:stretch/>
        </p:blipFill>
        <p:spPr>
          <a:xfrm>
            <a:off x="3481800" y="3954700"/>
            <a:ext cx="798801" cy="730600"/>
          </a:xfrm>
          <a:prstGeom prst="rect">
            <a:avLst/>
          </a:prstGeom>
          <a:noFill/>
          <a:ln>
            <a:noFill/>
          </a:ln>
        </p:spPr>
      </p:pic>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36" name="Google Shape;836;p71" title="17 over 20 equals 34 over 40 equals 51 over 60 equals 68 over 80 equals 85 over 100"/>
          <p:cNvPicPr preferRelativeResize="0"/>
          <p:nvPr/>
        </p:nvPicPr>
        <p:blipFill rotWithShape="1">
          <a:blip r:embed="rId3">
            <a:alphaModFix/>
          </a:blip>
          <a:srcRect b="0" l="52981" r="24128" t="0"/>
          <a:stretch/>
        </p:blipFill>
        <p:spPr>
          <a:xfrm>
            <a:off x="4280600" y="3954700"/>
            <a:ext cx="964225" cy="730600"/>
          </a:xfrm>
          <a:prstGeom prst="rect">
            <a:avLst/>
          </a:prstGeom>
          <a:noFill/>
          <a:ln>
            <a:noFill/>
          </a:ln>
        </p:spPr>
      </p:pic>
      <p:pic>
        <p:nvPicPr>
          <p:cNvPr descr="&lt;math xmlns=&quot;http://www.w3.org/1998/Math/MathML&quot; display=&quot;block&quot; data-is-equatio=&quot;1&quot; data-latex=&quot;\frac{17}{20}=\frac{34}{40}=\frac{51}{60}=\frac{68}{80}=\frac{85}{100}&quot;&gt;&lt;mfrac&gt;&lt;mn&gt;17&lt;/mn&gt;&lt;mn&gt;20&lt;/mn&gt;&lt;/mfrac&gt;&lt;mo&gt;=&lt;/mo&gt;&lt;mfrac&gt;&lt;mn&gt;34&lt;/mn&gt;&lt;mn&gt;40&lt;/mn&gt;&lt;/mfrac&gt;&lt;mo&gt;=&lt;/mo&gt;&lt;mfrac&gt;&lt;mn&gt;51&lt;/mn&gt;&lt;mn&gt;60&lt;/mn&gt;&lt;/mfrac&gt;&lt;mo&gt;=&lt;/mo&gt;&lt;mfrac&gt;&lt;mn&gt;68&lt;/mn&gt;&lt;mn&gt;80&lt;/mn&gt;&lt;/mfrac&gt;&lt;mo&gt;=&lt;/mo&gt;&lt;mfrac&gt;&lt;mn&gt;85&lt;/mn&gt;&lt;mn&gt;100&lt;/mn&gt;&lt;/mfrac&gt;&lt;/math&gt;" id="837" name="Google Shape;837;p71" title="17 over 20 equals 34 over 40 equals 51 over 60 equals 68 over 80 equals 85 over 100"/>
          <p:cNvPicPr preferRelativeResize="0"/>
          <p:nvPr/>
        </p:nvPicPr>
        <p:blipFill rotWithShape="1">
          <a:blip r:embed="rId3">
            <a:alphaModFix/>
          </a:blip>
          <a:srcRect b="0" l="75874" r="-3471" t="0"/>
          <a:stretch/>
        </p:blipFill>
        <p:spPr>
          <a:xfrm>
            <a:off x="5244826" y="3954700"/>
            <a:ext cx="1162500" cy="730600"/>
          </a:xfrm>
          <a:prstGeom prst="rect">
            <a:avLst/>
          </a:prstGeom>
          <a:noFill/>
          <a:ln>
            <a:noFill/>
          </a:ln>
        </p:spPr>
      </p:pic>
      <p:pic>
        <p:nvPicPr>
          <p:cNvPr descr="&lt;math xmlns=&quot;http://www.w3.org/1998/Math/MathML&quot; display=&quot;block&quot; data-is-equatio=&quot;1&quot; data-latex=&quot;=85\%&quot;&gt;&lt;mo&gt;=&lt;/mo&gt;&lt;mn&gt;85&lt;/mn&gt;&lt;mi mathvariant=&quot;normal&quot;&gt;%&lt;/mi&gt;&lt;/math&gt;" id="838" name="Google Shape;838;p71" title="equals 85 percent sign"/>
          <p:cNvPicPr preferRelativeResize="0"/>
          <p:nvPr/>
        </p:nvPicPr>
        <p:blipFill>
          <a:blip r:embed="rId4">
            <a:alphaModFix/>
          </a:blip>
          <a:stretch>
            <a:fillRect/>
          </a:stretch>
        </p:blipFill>
        <p:spPr>
          <a:xfrm>
            <a:off x="6407325" y="4128600"/>
            <a:ext cx="1023700" cy="29075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2"/>
          <p:cNvSpPr txBox="1"/>
          <p:nvPr>
            <p:ph idx="1" type="body"/>
          </p:nvPr>
        </p:nvSpPr>
        <p:spPr>
          <a:xfrm>
            <a:off x="324000" y="759300"/>
            <a:ext cx="4057500" cy="113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Another example would be to fill in      of this grid.</a:t>
            </a:r>
            <a:endParaRPr/>
          </a:p>
        </p:txBody>
      </p:sp>
      <p:sp>
        <p:nvSpPr>
          <p:cNvPr id="844" name="Google Shape;844;p72"/>
          <p:cNvSpPr txBox="1"/>
          <p:nvPr>
            <p:ph idx="1" type="body"/>
          </p:nvPr>
        </p:nvSpPr>
        <p:spPr>
          <a:xfrm>
            <a:off x="324000" y="2037600"/>
            <a:ext cx="4057500" cy="252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Here we need to fill in  </a:t>
            </a:r>
            <a:endParaRPr/>
          </a:p>
          <a:p>
            <a:pPr indent="0" lvl="0" marL="0" rtl="0" algn="l">
              <a:spcBef>
                <a:spcPts val="1000"/>
              </a:spcBef>
              <a:spcAft>
                <a:spcPts val="0"/>
              </a:spcAft>
              <a:buNone/>
            </a:pPr>
            <a:r>
              <a:rPr lang="en-GB"/>
              <a:t>                   of 25</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Shade in 3 out of every 5.</a:t>
            </a:r>
            <a:endParaRPr/>
          </a:p>
          <a:p>
            <a:pPr indent="0" lvl="0" marL="0" rtl="0" algn="l">
              <a:spcBef>
                <a:spcPts val="1000"/>
              </a:spcBef>
              <a:spcAft>
                <a:spcPts val="1000"/>
              </a:spcAft>
              <a:buNone/>
            </a:pPr>
            <a:r>
              <a:t/>
            </a:r>
            <a:endParaRPr/>
          </a:p>
        </p:txBody>
      </p:sp>
      <p:sp>
        <p:nvSpPr>
          <p:cNvPr id="845" name="Google Shape;845;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846" name="Google Shape;846;p72"/>
          <p:cNvGraphicFramePr/>
          <p:nvPr/>
        </p:nvGraphicFramePr>
        <p:xfrm>
          <a:off x="4793150" y="10795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2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2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2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2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2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3}{5}&quot;&gt;&lt;mfrac&gt;&lt;mn&gt;3&lt;/mn&gt;&lt;mn&gt;5&lt;/mn&gt;&lt;/mfrac&gt;&lt;/math&gt;" id="847" name="Google Shape;847;p72" title="three fifths"/>
          <p:cNvPicPr preferRelativeResize="0"/>
          <p:nvPr/>
        </p:nvPicPr>
        <p:blipFill>
          <a:blip r:embed="rId3">
            <a:alphaModFix/>
          </a:blip>
          <a:stretch>
            <a:fillRect/>
          </a:stretch>
        </p:blipFill>
        <p:spPr>
          <a:xfrm>
            <a:off x="1117575" y="1079220"/>
            <a:ext cx="162770" cy="523200"/>
          </a:xfrm>
          <a:prstGeom prst="rect">
            <a:avLst/>
          </a:prstGeom>
          <a:noFill/>
          <a:ln>
            <a:noFill/>
          </a:ln>
        </p:spPr>
      </p:pic>
      <p:pic>
        <p:nvPicPr>
          <p:cNvPr descr="&lt;math xmlns=&quot;http://www.w3.org/1998/Math/MathML&quot; display=&quot;block&quot; data-is-equatio=&quot;1&quot; data-latex=&quot;\frac{3}{5}&quot;&gt;&lt;mfrac&gt;&lt;mn&gt;3&lt;/mn&gt;&lt;mn&gt;5&lt;/mn&gt;&lt;/mfrac&gt;&lt;/math&gt;" id="848" name="Google Shape;848;p72" title="three fifths"/>
          <p:cNvPicPr preferRelativeResize="0"/>
          <p:nvPr/>
        </p:nvPicPr>
        <p:blipFill>
          <a:blip r:embed="rId3">
            <a:alphaModFix/>
          </a:blip>
          <a:stretch>
            <a:fillRect/>
          </a:stretch>
        </p:blipFill>
        <p:spPr>
          <a:xfrm>
            <a:off x="1484775" y="2471400"/>
            <a:ext cx="200025" cy="642938"/>
          </a:xfrm>
          <a:prstGeom prst="rect">
            <a:avLst/>
          </a:prstGeom>
          <a:noFill/>
          <a:ln>
            <a:noFill/>
          </a:ln>
        </p:spPr>
      </p:pic>
      <p:graphicFrame>
        <p:nvGraphicFramePr>
          <p:cNvPr id="849" name="Google Shape;849;p72"/>
          <p:cNvGraphicFramePr/>
          <p:nvPr/>
        </p:nvGraphicFramePr>
        <p:xfrm>
          <a:off x="4793138" y="1079225"/>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232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50" name="Google Shape;850;p72"/>
          <p:cNvGraphicFramePr/>
          <p:nvPr/>
        </p:nvGraphicFramePr>
        <p:xfrm>
          <a:off x="4793138" y="16915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2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51" name="Google Shape;851;p72"/>
          <p:cNvGraphicFramePr/>
          <p:nvPr/>
        </p:nvGraphicFramePr>
        <p:xfrm>
          <a:off x="4793138" y="23035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20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52" name="Google Shape;852;p72"/>
          <p:cNvGraphicFramePr/>
          <p:nvPr/>
        </p:nvGraphicFramePr>
        <p:xfrm>
          <a:off x="4793138" y="29246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029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53" name="Google Shape;853;p72"/>
          <p:cNvGraphicFramePr/>
          <p:nvPr/>
        </p:nvGraphicFramePr>
        <p:xfrm>
          <a:off x="4793138" y="35342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053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854" name="Google Shape;854;p72"/>
          <p:cNvSpPr txBox="1"/>
          <p:nvPr/>
        </p:nvSpPr>
        <p:spPr>
          <a:xfrm>
            <a:off x="2648100" y="2451425"/>
            <a:ext cx="1923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15 squares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3"/>
          <p:cNvSpPr txBox="1"/>
          <p:nvPr>
            <p:ph idx="1" type="body"/>
          </p:nvPr>
        </p:nvSpPr>
        <p:spPr>
          <a:xfrm>
            <a:off x="324000" y="759300"/>
            <a:ext cx="4248000" cy="12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Without incrementally shading, we can also do this by multiplying the fraction by the a</a:t>
            </a:r>
            <a:r>
              <a:rPr lang="en-GB"/>
              <a:t>mount.</a:t>
            </a:r>
            <a:endParaRPr/>
          </a:p>
          <a:p>
            <a:pPr indent="0" lvl="0" marL="0" rtl="0" algn="l">
              <a:spcBef>
                <a:spcPts val="1000"/>
              </a:spcBef>
              <a:spcAft>
                <a:spcPts val="0"/>
              </a:spcAft>
              <a:buNone/>
            </a:pPr>
            <a:r>
              <a:rPr lang="en-GB"/>
              <a:t>                   of 25</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860" name="Google Shape;860;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861" name="Google Shape;861;p73"/>
          <p:cNvGraphicFramePr/>
          <p:nvPr/>
        </p:nvGraphicFramePr>
        <p:xfrm>
          <a:off x="4793150" y="10795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47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47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47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47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47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3}{5}&quot;&gt;&lt;mfrac&gt;&lt;mn&gt;3&lt;/mn&gt;&lt;mn&gt;5&lt;/mn&gt;&lt;/mfrac&gt;&lt;/math&gt;" id="862" name="Google Shape;862;p73" title="three fifths"/>
          <p:cNvPicPr preferRelativeResize="0"/>
          <p:nvPr/>
        </p:nvPicPr>
        <p:blipFill>
          <a:blip r:embed="rId3">
            <a:alphaModFix/>
          </a:blip>
          <a:stretch>
            <a:fillRect/>
          </a:stretch>
        </p:blipFill>
        <p:spPr>
          <a:xfrm>
            <a:off x="1484775" y="2254250"/>
            <a:ext cx="200025" cy="642938"/>
          </a:xfrm>
          <a:prstGeom prst="rect">
            <a:avLst/>
          </a:prstGeom>
          <a:noFill/>
          <a:ln>
            <a:noFill/>
          </a:ln>
        </p:spPr>
      </p:pic>
      <p:graphicFrame>
        <p:nvGraphicFramePr>
          <p:cNvPr id="863" name="Google Shape;863;p73"/>
          <p:cNvGraphicFramePr/>
          <p:nvPr/>
        </p:nvGraphicFramePr>
        <p:xfrm>
          <a:off x="4793138" y="10958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64" name="Google Shape;864;p73"/>
          <p:cNvGraphicFramePr/>
          <p:nvPr/>
        </p:nvGraphicFramePr>
        <p:xfrm>
          <a:off x="4793138" y="17054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3}{5}\times25\ =\ \frac{75}{5}=15&quot;&gt;&lt;mfrac&gt;&lt;mn&gt;3&lt;/mn&gt;&lt;mn&gt;5&lt;/mn&gt;&lt;/mfrac&gt;&lt;mo&gt;×&lt;/mo&gt;&lt;mn&gt;25&lt;/mn&gt;&lt;mtext&gt;&lt;/mtext&gt;&lt;mo&gt;=&lt;/mo&gt;&lt;mtext&gt;&lt;/mtext&gt;&lt;mfrac&gt;&lt;mn&gt;75&lt;/mn&gt;&lt;mn&gt;5&lt;/mn&gt;&lt;/mfrac&gt;&lt;mo&gt;=&lt;/mo&gt;&lt;mn&gt;15&lt;/mn&gt;&lt;/math&gt;" id="865" name="Google Shape;865;p73" title="three fifths times 25 equals 75 over 5 equals 15"/>
          <p:cNvPicPr preferRelativeResize="0"/>
          <p:nvPr/>
        </p:nvPicPr>
        <p:blipFill rotWithShape="1">
          <a:blip r:embed="rId4">
            <a:alphaModFix/>
          </a:blip>
          <a:srcRect b="0" l="0" r="46893" t="0"/>
          <a:stretch/>
        </p:blipFill>
        <p:spPr>
          <a:xfrm>
            <a:off x="439825" y="3153250"/>
            <a:ext cx="1543266" cy="753375"/>
          </a:xfrm>
          <a:prstGeom prst="rect">
            <a:avLst/>
          </a:prstGeom>
          <a:noFill/>
          <a:ln>
            <a:noFill/>
          </a:ln>
        </p:spPr>
      </p:pic>
      <p:sp>
        <p:nvSpPr>
          <p:cNvPr id="866" name="Google Shape;866;p73"/>
          <p:cNvSpPr txBox="1"/>
          <p:nvPr/>
        </p:nvSpPr>
        <p:spPr>
          <a:xfrm>
            <a:off x="324000" y="4167600"/>
            <a:ext cx="7402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15 squares need shading.</a:t>
            </a:r>
            <a:endParaRPr/>
          </a:p>
        </p:txBody>
      </p:sp>
      <p:graphicFrame>
        <p:nvGraphicFramePr>
          <p:cNvPr id="867" name="Google Shape;867;p73"/>
          <p:cNvGraphicFramePr/>
          <p:nvPr/>
        </p:nvGraphicFramePr>
        <p:xfrm>
          <a:off x="4793138" y="23150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68" name="Google Shape;868;p73"/>
          <p:cNvGraphicFramePr/>
          <p:nvPr/>
        </p:nvGraphicFramePr>
        <p:xfrm>
          <a:off x="4793138" y="29246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69" name="Google Shape;869;p73"/>
          <p:cNvGraphicFramePr/>
          <p:nvPr/>
        </p:nvGraphicFramePr>
        <p:xfrm>
          <a:off x="4793138" y="35342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3}{5}\times25\ =\ \frac{75}{5}=15&quot;&gt;&lt;mfrac&gt;&lt;mn&gt;3&lt;/mn&gt;&lt;mn&gt;5&lt;/mn&gt;&lt;/mfrac&gt;&lt;mo&gt;×&lt;/mo&gt;&lt;mn&gt;25&lt;/mn&gt;&lt;mtext&gt;&lt;/mtext&gt;&lt;mo&gt;=&lt;/mo&gt;&lt;mtext&gt;&lt;/mtext&gt;&lt;mfrac&gt;&lt;mn&gt;75&lt;/mn&gt;&lt;mn&gt;5&lt;/mn&gt;&lt;/mfrac&gt;&lt;mo&gt;=&lt;/mo&gt;&lt;mn&gt;15&lt;/mn&gt;&lt;/math&gt;" id="870" name="Google Shape;870;p73" title="three fifths times 25 equals 75 over 5 equals 15"/>
          <p:cNvPicPr preferRelativeResize="0"/>
          <p:nvPr/>
        </p:nvPicPr>
        <p:blipFill rotWithShape="1">
          <a:blip r:embed="rId4">
            <a:alphaModFix/>
          </a:blip>
          <a:srcRect b="0" l="41599" r="23886" t="0"/>
          <a:stretch/>
        </p:blipFill>
        <p:spPr>
          <a:xfrm>
            <a:off x="3001793" y="3153250"/>
            <a:ext cx="1002939" cy="753375"/>
          </a:xfrm>
          <a:prstGeom prst="rect">
            <a:avLst/>
          </a:prstGeom>
          <a:noFill/>
          <a:ln>
            <a:noFill/>
          </a:ln>
        </p:spPr>
      </p:pic>
      <p:pic>
        <p:nvPicPr>
          <p:cNvPr descr="&lt;math xmlns=&quot;http://www.w3.org/1998/Math/MathML&quot; display=&quot;block&quot; data-is-equatio=&quot;1&quot; data-latex=&quot;\frac{3}{5}\times25\ =\ \frac{75}{5}=15&quot;&gt;&lt;mfrac&gt;&lt;mn&gt;3&lt;/mn&gt;&lt;mn&gt;5&lt;/mn&gt;&lt;/mfrac&gt;&lt;mo&gt;×&lt;/mo&gt;&lt;mn&gt;25&lt;/mn&gt;&lt;mtext&gt;&lt;/mtext&gt;&lt;mo&gt;=&lt;/mo&gt;&lt;mtext&gt;&lt;/mtext&gt;&lt;mfrac&gt;&lt;mn&gt;75&lt;/mn&gt;&lt;mn&gt;5&lt;/mn&gt;&lt;/mfrac&gt;&lt;mo&gt;=&lt;/mo&gt;&lt;mn&gt;15&lt;/mn&gt;&lt;/math&gt;" id="871" name="Google Shape;871;p73" title="three fifths times 25 equals 75 over 5 equals 15"/>
          <p:cNvPicPr preferRelativeResize="0"/>
          <p:nvPr/>
        </p:nvPicPr>
        <p:blipFill rotWithShape="1">
          <a:blip r:embed="rId4">
            <a:alphaModFix/>
          </a:blip>
          <a:srcRect b="0" l="73568" r="0" t="0"/>
          <a:stretch/>
        </p:blipFill>
        <p:spPr>
          <a:xfrm>
            <a:off x="3859773" y="3153250"/>
            <a:ext cx="768064" cy="753375"/>
          </a:xfrm>
          <a:prstGeom prst="rect">
            <a:avLst/>
          </a:prstGeom>
          <a:noFill/>
          <a:ln>
            <a:noFill/>
          </a:ln>
        </p:spPr>
      </p:pic>
      <p:pic>
        <p:nvPicPr>
          <p:cNvPr descr="&lt;math xmlns=&quot;http://www.w3.org/1998/Math/MathML&quot; display=&quot;block&quot; data-is-equatio=&quot;1&quot; data-latex=&quot;\frac{3\times25}{5}&quot;&gt;&lt;mfrac&gt;&lt;mrow&gt;&lt;mn&gt;3&lt;/mn&gt;&lt;mo&gt;×&lt;/mo&gt;&lt;mn&gt;25&lt;/mn&gt;&lt;/mrow&gt;&lt;mn&gt;5&lt;/mn&gt;&lt;/mfrac&gt;&lt;/math&gt;" id="872" name="Google Shape;872;p73" title="the fraction with numerator 3 times 25 and denominator 5"/>
          <p:cNvPicPr preferRelativeResize="0"/>
          <p:nvPr/>
        </p:nvPicPr>
        <p:blipFill>
          <a:blip r:embed="rId5">
            <a:alphaModFix/>
          </a:blip>
          <a:stretch>
            <a:fillRect/>
          </a:stretch>
        </p:blipFill>
        <p:spPr>
          <a:xfrm>
            <a:off x="2042375" y="3207012"/>
            <a:ext cx="836650" cy="6458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74"/>
          <p:cNvSpPr txBox="1"/>
          <p:nvPr>
            <p:ph idx="1" type="body"/>
          </p:nvPr>
        </p:nvSpPr>
        <p:spPr>
          <a:xfrm>
            <a:off x="324000" y="759300"/>
            <a:ext cx="4057500" cy="12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To convert this into a percentage, we can use our </a:t>
            </a:r>
            <a:r>
              <a:rPr b="1" lang="en-GB"/>
              <a:t>equivalent fractions</a:t>
            </a:r>
            <a:r>
              <a:rPr lang="en-GB"/>
              <a:t> again.</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878" name="Google Shape;878;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879" name="Google Shape;879;p74"/>
          <p:cNvGraphicFramePr/>
          <p:nvPr/>
        </p:nvGraphicFramePr>
        <p:xfrm>
          <a:off x="4793150" y="10795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8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56262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8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56262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618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80" name="Google Shape;880;p74"/>
          <p:cNvGraphicFramePr/>
          <p:nvPr/>
        </p:nvGraphicFramePr>
        <p:xfrm>
          <a:off x="4793138" y="10831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81" name="Google Shape;881;p74"/>
          <p:cNvGraphicFramePr/>
          <p:nvPr/>
        </p:nvGraphicFramePr>
        <p:xfrm>
          <a:off x="4793138" y="16927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882" name="Google Shape;882;p74"/>
          <p:cNvSpPr txBox="1"/>
          <p:nvPr/>
        </p:nvSpPr>
        <p:spPr>
          <a:xfrm>
            <a:off x="324000" y="3718200"/>
            <a:ext cx="7402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60% is shaded.</a:t>
            </a:r>
            <a:endParaRPr/>
          </a:p>
        </p:txBody>
      </p:sp>
      <p:graphicFrame>
        <p:nvGraphicFramePr>
          <p:cNvPr id="883" name="Google Shape;883;p74"/>
          <p:cNvGraphicFramePr/>
          <p:nvPr/>
        </p:nvGraphicFramePr>
        <p:xfrm>
          <a:off x="4793138" y="23023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84" name="Google Shape;884;p74"/>
          <p:cNvGraphicFramePr/>
          <p:nvPr/>
        </p:nvGraphicFramePr>
        <p:xfrm>
          <a:off x="4793138" y="29119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885" name="Google Shape;885;p74"/>
          <p:cNvGraphicFramePr/>
          <p:nvPr/>
        </p:nvGraphicFramePr>
        <p:xfrm>
          <a:off x="4793138" y="3521550"/>
          <a:ext cx="3000000" cy="3000000"/>
        </p:xfrm>
        <a:graphic>
          <a:graphicData uri="http://schemas.openxmlformats.org/drawingml/2006/table">
            <a:tbl>
              <a:tblPr>
                <a:noFill/>
                <a:tableStyleId>{DFC9DB84-52D8-4539-8054-AB8EF78AA331}</a:tableStyleId>
              </a:tblPr>
              <a:tblGrid>
                <a:gridCol w="577150"/>
                <a:gridCol w="577150"/>
                <a:gridCol w="577150"/>
                <a:gridCol w="577150"/>
                <a:gridCol w="577150"/>
              </a:tblGrid>
              <a:tr h="6191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3}{5}=\frac{3\times20}{5\times20}=\frac{60}{100}=60\%&quot;&gt;&lt;mfrac&gt;&lt;mn&gt;3&lt;/mn&gt;&lt;mn&gt;5&lt;/mn&gt;&lt;/mfrac&gt;&lt;mo&gt;=&lt;/mo&gt;&lt;mfrac&gt;&lt;mrow&gt;&lt;mn&gt;3&lt;/mn&gt;&lt;mo&gt;×&lt;/mo&gt;&lt;mn&gt;20&lt;/mn&gt;&lt;/mrow&gt;&lt;mrow&gt;&lt;mn&gt;5&lt;/mn&gt;&lt;mo&gt;×&lt;/mo&gt;&lt;mn&gt;20&lt;/mn&gt;&lt;/mrow&gt;&lt;/mfrac&gt;&lt;mo&gt;=&lt;/mo&gt;&lt;mfrac&gt;&lt;mn&gt;60&lt;/mn&gt;&lt;mn&gt;100&lt;/mn&gt;&lt;/mfrac&gt;&lt;mo&gt;=&lt;/mo&gt;&lt;mn&gt;60&lt;/mn&gt;&lt;mi mathvariant=&quot;normal&quot;&gt;%&lt;/mi&gt;&lt;/math&gt;" id="886" name="Google Shape;886;p74" title="three fifths equals the fraction with numerator 3 times 20 and denominator 5 times 20 equals 60 over 100 equals 60 percent sign"/>
          <p:cNvPicPr preferRelativeResize="0"/>
          <p:nvPr/>
        </p:nvPicPr>
        <p:blipFill rotWithShape="1">
          <a:blip r:embed="rId3">
            <a:alphaModFix/>
          </a:blip>
          <a:srcRect b="0" l="55076" r="25803" t="0"/>
          <a:stretch/>
        </p:blipFill>
        <p:spPr>
          <a:xfrm>
            <a:off x="2601362" y="2368725"/>
            <a:ext cx="800076" cy="800400"/>
          </a:xfrm>
          <a:prstGeom prst="rect">
            <a:avLst/>
          </a:prstGeom>
          <a:noFill/>
          <a:ln>
            <a:noFill/>
          </a:ln>
        </p:spPr>
      </p:pic>
      <p:pic>
        <p:nvPicPr>
          <p:cNvPr descr="&lt;math xmlns=&quot;http://www.w3.org/1998/Math/MathML&quot; display=&quot;block&quot; data-is-equatio=&quot;1&quot; data-latex=&quot;\frac{3}{5}=\frac{3\times20}{5\times20}=\frac{60}{100}=60\%&quot;&gt;&lt;mfrac&gt;&lt;mn&gt;3&lt;/mn&gt;&lt;mn&gt;5&lt;/mn&gt;&lt;/mfrac&gt;&lt;mo&gt;=&lt;/mo&gt;&lt;mfrac&gt;&lt;mrow&gt;&lt;mn&gt;3&lt;/mn&gt;&lt;mo&gt;×&lt;/mo&gt;&lt;mn&gt;20&lt;/mn&gt;&lt;/mrow&gt;&lt;mrow&gt;&lt;mn&gt;5&lt;/mn&gt;&lt;mo&gt;×&lt;/mo&gt;&lt;mn&gt;20&lt;/mn&gt;&lt;/mrow&gt;&lt;/mfrac&gt;&lt;mo&gt;=&lt;/mo&gt;&lt;mfrac&gt;&lt;mn&gt;60&lt;/mn&gt;&lt;mn&gt;100&lt;/mn&gt;&lt;/mfrac&gt;&lt;mo&gt;=&lt;/mo&gt;&lt;mn&gt;60&lt;/mn&gt;&lt;mi mathvariant=&quot;normal&quot;&gt;%&lt;/mi&gt;&lt;/math&gt;" id="887" name="Google Shape;887;p74" title="three fifths equals the fraction with numerator 3 times 20 and denominator 5 times 20 equals 60 over 100 equals 60 percent sign"/>
          <p:cNvPicPr preferRelativeResize="0"/>
          <p:nvPr/>
        </p:nvPicPr>
        <p:blipFill rotWithShape="1">
          <a:blip r:embed="rId3">
            <a:alphaModFix/>
          </a:blip>
          <a:srcRect b="0" l="74195" r="-2677" t="0"/>
          <a:stretch/>
        </p:blipFill>
        <p:spPr>
          <a:xfrm>
            <a:off x="3429500" y="2368725"/>
            <a:ext cx="1191800" cy="800400"/>
          </a:xfrm>
          <a:prstGeom prst="rect">
            <a:avLst/>
          </a:prstGeom>
          <a:noFill/>
          <a:ln>
            <a:noFill/>
          </a:ln>
        </p:spPr>
      </p:pic>
      <p:pic>
        <p:nvPicPr>
          <p:cNvPr descr="&lt;math xmlns=&quot;http://www.w3.org/1998/Math/MathML&quot; display=&quot;block&quot; data-is-equatio=&quot;1&quot; data-latex=&quot;\frac{15}{25}=\frac{15\times4}{25\times4}=&quot;&gt;&lt;mfrac&gt;&lt;mn&gt;15&lt;/mn&gt;&lt;mn&gt;25&lt;/mn&gt;&lt;/mfrac&gt;&lt;mo&gt;=&lt;/mo&gt;&lt;mfrac&gt;&lt;mrow&gt;&lt;mn&gt;15&lt;/mn&gt;&lt;mo&gt;×&lt;/mo&gt;&lt;mn&gt;4&lt;/mn&gt;&lt;/mrow&gt;&lt;mrow&gt;&lt;mn&gt;25&lt;/mn&gt;&lt;mo&gt;×&lt;/mo&gt;&lt;mn&gt;4&lt;/mn&gt;&lt;/mrow&gt;&lt;/mfrac&gt;&lt;mo&gt;=&lt;/mo&gt;&lt;/math&gt;" id="888" name="Google Shape;888;p74" title="15 over 25 equals the fraction with numerator 15 times 4 and denominator 25 times 4 equals"/>
          <p:cNvPicPr preferRelativeResize="0"/>
          <p:nvPr/>
        </p:nvPicPr>
        <p:blipFill rotWithShape="1">
          <a:blip r:embed="rId4">
            <a:alphaModFix/>
          </a:blip>
          <a:srcRect b="0" l="0" r="77006" t="0"/>
          <a:stretch/>
        </p:blipFill>
        <p:spPr>
          <a:xfrm>
            <a:off x="399548" y="2414575"/>
            <a:ext cx="492535" cy="708700"/>
          </a:xfrm>
          <a:prstGeom prst="rect">
            <a:avLst/>
          </a:prstGeom>
          <a:noFill/>
          <a:ln>
            <a:noFill/>
          </a:ln>
        </p:spPr>
      </p:pic>
      <p:pic>
        <p:nvPicPr>
          <p:cNvPr descr="&lt;math xmlns=&quot;http://www.w3.org/1998/Math/MathML&quot; display=&quot;block&quot; data-is-equatio=&quot;1&quot; data-latex=&quot;\frac{15}{25}=\frac{15\times4}{25\times4}=&quot;&gt;&lt;mfrac&gt;&lt;mn&gt;15&lt;/mn&gt;&lt;mn&gt;25&lt;/mn&gt;&lt;/mfrac&gt;&lt;mo&gt;=&lt;/mo&gt;&lt;mfrac&gt;&lt;mrow&gt;&lt;mn&gt;15&lt;/mn&gt;&lt;mo&gt;×&lt;/mo&gt;&lt;mn&gt;4&lt;/mn&gt;&lt;/mrow&gt;&lt;mrow&gt;&lt;mn&gt;25&lt;/mn&gt;&lt;mo&gt;×&lt;/mo&gt;&lt;mn&gt;4&lt;/mn&gt;&lt;/mrow&gt;&lt;/mfrac&gt;&lt;mo&gt;=&lt;/mo&gt;&lt;/math&gt;" id="889" name="Google Shape;889;p74" title="15 over 25 equals the fraction with numerator 15 times 4 and denominator 25 times 4 equals"/>
          <p:cNvPicPr preferRelativeResize="0"/>
          <p:nvPr/>
        </p:nvPicPr>
        <p:blipFill rotWithShape="1">
          <a:blip r:embed="rId4">
            <a:alphaModFix/>
          </a:blip>
          <a:srcRect b="0" l="20255" r="2666" t="0"/>
          <a:stretch/>
        </p:blipFill>
        <p:spPr>
          <a:xfrm>
            <a:off x="859300" y="2414575"/>
            <a:ext cx="1651000" cy="70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75"/>
          <p:cNvSpPr txBox="1"/>
          <p:nvPr>
            <p:ph idx="1" type="body"/>
          </p:nvPr>
        </p:nvSpPr>
        <p:spPr>
          <a:xfrm>
            <a:off x="324000" y="720750"/>
            <a:ext cx="8496000" cy="12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can use our knowledge of fractions of an amount to find a percentage of an amount. </a:t>
            </a:r>
            <a:r>
              <a:rPr lang="en-GB"/>
              <a:t>For example:</a:t>
            </a:r>
            <a:endParaRPr/>
          </a:p>
          <a:p>
            <a:pPr indent="0" lvl="0" marL="0" rtl="0" algn="l">
              <a:spcBef>
                <a:spcPts val="1000"/>
              </a:spcBef>
              <a:spcAft>
                <a:spcPts val="0"/>
              </a:spcAft>
              <a:buNone/>
            </a:pPr>
            <a:r>
              <a:rPr lang="en-GB"/>
              <a:t>Shade in 45% of 20 blocks.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895" name="Google Shape;895;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896" name="Google Shape;896;p75"/>
          <p:cNvGraphicFramePr/>
          <p:nvPr/>
        </p:nvGraphicFramePr>
        <p:xfrm>
          <a:off x="4914900" y="1709488"/>
          <a:ext cx="3000000" cy="3000000"/>
        </p:xfrm>
        <a:graphic>
          <a:graphicData uri="http://schemas.openxmlformats.org/drawingml/2006/table">
            <a:tbl>
              <a:tblPr>
                <a:noFill/>
                <a:tableStyleId>{DFC9DB84-52D8-4539-8054-AB8EF78AA331}</a:tableStyleId>
              </a:tblPr>
              <a:tblGrid>
                <a:gridCol w="846325"/>
                <a:gridCol w="846325"/>
                <a:gridCol w="846325"/>
                <a:gridCol w="846325"/>
              </a:tblGrid>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45\%=\frac{45}{100}=\frac{9\times5}{20\times5}=\frac{9}{20}\times1=\frac{9}{20}&quot;&gt;&lt;mn&gt;45&lt;/mn&gt;&lt;mi mathvariant=&quot;normal&quot;&gt;%&lt;/mi&gt;&lt;mo&gt;=&lt;/mo&gt;&lt;mfrac&gt;&lt;mn&gt;45&lt;/mn&gt;&lt;mn&gt;100&lt;/mn&gt;&lt;/mfrac&gt;&lt;mo&gt;=&lt;/mo&gt;&lt;mfrac&gt;&lt;mrow&gt;&lt;mn&gt;9&lt;/mn&gt;&lt;mo&gt;×&lt;/mo&gt;&lt;mn&gt;5&lt;/mn&gt;&lt;/mrow&gt;&lt;mrow&gt;&lt;mn&gt;20&lt;/mn&gt;&lt;mo&gt;×&lt;/mo&gt;&lt;mn&gt;5&lt;/mn&gt;&lt;/mrow&gt;&lt;/mfrac&gt;&lt;mo&gt;=&lt;/mo&gt;&lt;mfrac&gt;&lt;mn&gt;9&lt;/mn&gt;&lt;mn&gt;20&lt;/mn&gt;&lt;/mfrac&gt;&lt;mo&gt;×&lt;/mo&gt;&lt;mn&gt;1&lt;/mn&gt;&lt;mo&gt;=&lt;/mo&gt;&lt;mfrac&gt;&lt;mn&gt;9&lt;/mn&gt;&lt;mn&gt;20&lt;/mn&gt;&lt;/mfrac&gt;&lt;/math&gt;" id="897" name="Google Shape;897;p75" title="45 percent sign equals 45 over 100 equals the fraction with numerator 9 times 5 and denominator 20 times 5 equals 9 over 20 times 1 equals 9 over 20"/>
          <p:cNvPicPr preferRelativeResize="0"/>
          <p:nvPr/>
        </p:nvPicPr>
        <p:blipFill rotWithShape="1">
          <a:blip r:embed="rId3">
            <a:alphaModFix/>
          </a:blip>
          <a:srcRect b="0" l="0" r="88100" t="0"/>
          <a:stretch/>
        </p:blipFill>
        <p:spPr>
          <a:xfrm>
            <a:off x="244950" y="2105700"/>
            <a:ext cx="623812" cy="692397"/>
          </a:xfrm>
          <a:prstGeom prst="rect">
            <a:avLst/>
          </a:prstGeom>
          <a:noFill/>
          <a:ln>
            <a:noFill/>
          </a:ln>
        </p:spPr>
      </p:pic>
      <p:sp>
        <p:nvSpPr>
          <p:cNvPr id="898" name="Google Shape;898;p75"/>
          <p:cNvSpPr txBox="1"/>
          <p:nvPr/>
        </p:nvSpPr>
        <p:spPr>
          <a:xfrm>
            <a:off x="4375300" y="-828775"/>
            <a:ext cx="45909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45% of 20 squares = 9 squares.</a:t>
            </a:r>
            <a:endParaRPr/>
          </a:p>
        </p:txBody>
      </p:sp>
      <p:pic>
        <p:nvPicPr>
          <p:cNvPr descr="&lt;math xmlns=&quot;http://www.w3.org/1998/Math/MathML&quot; display=&quot;block&quot; data-is-equatio=&quot;1&quot; data-latex=&quot;45\%=\frac{45}{100}=\frac{9\times5}{20\times5}=\frac{9}{20}\times1=\frac{9}{20}&quot;&gt;&lt;mn&gt;45&lt;/mn&gt;&lt;mi mathvariant=&quot;normal&quot;&gt;%&lt;/mi&gt;&lt;mo&gt;=&lt;/mo&gt;&lt;mfrac&gt;&lt;mn&gt;45&lt;/mn&gt;&lt;mn&gt;100&lt;/mn&gt;&lt;/mfrac&gt;&lt;mo&gt;=&lt;/mo&gt;&lt;mfrac&gt;&lt;mrow&gt;&lt;mn&gt;9&lt;/mn&gt;&lt;mo&gt;×&lt;/mo&gt;&lt;mn&gt;5&lt;/mn&gt;&lt;/mrow&gt;&lt;mrow&gt;&lt;mn&gt;20&lt;/mn&gt;&lt;mo&gt;×&lt;/mo&gt;&lt;mn&gt;5&lt;/mn&gt;&lt;/mrow&gt;&lt;/mfrac&gt;&lt;mo&gt;=&lt;/mo&gt;&lt;mfrac&gt;&lt;mn&gt;9&lt;/mn&gt;&lt;mn&gt;20&lt;/mn&gt;&lt;/mfrac&gt;&lt;mo&gt;×&lt;/mo&gt;&lt;mn&gt;1&lt;/mn&gt;&lt;mo&gt;=&lt;/mo&gt;&lt;mfrac&gt;&lt;mn&gt;9&lt;/mn&gt;&lt;mn&gt;20&lt;/mn&gt;&lt;/mfrac&gt;&lt;/math&gt;" id="899" name="Google Shape;899;p75" title="45 percent sign equals 45 over 100 equals the fraction with numerator 9 times 5 and denominator 20 times 5 equals 9 over 20 times 1 equals 9 over 20"/>
          <p:cNvPicPr preferRelativeResize="0"/>
          <p:nvPr/>
        </p:nvPicPr>
        <p:blipFill rotWithShape="1">
          <a:blip r:embed="rId3">
            <a:alphaModFix/>
          </a:blip>
          <a:srcRect b="0" l="11899" r="68523" t="0"/>
          <a:stretch/>
        </p:blipFill>
        <p:spPr>
          <a:xfrm>
            <a:off x="868761" y="2105700"/>
            <a:ext cx="1026307" cy="692397"/>
          </a:xfrm>
          <a:prstGeom prst="rect">
            <a:avLst/>
          </a:prstGeom>
          <a:noFill/>
          <a:ln>
            <a:noFill/>
          </a:ln>
        </p:spPr>
      </p:pic>
      <p:graphicFrame>
        <p:nvGraphicFramePr>
          <p:cNvPr id="900" name="Google Shape;900;p75"/>
          <p:cNvGraphicFramePr/>
          <p:nvPr/>
        </p:nvGraphicFramePr>
        <p:xfrm>
          <a:off x="4914900" y="1709488"/>
          <a:ext cx="3000000" cy="3000000"/>
        </p:xfrm>
        <a:graphic>
          <a:graphicData uri="http://schemas.openxmlformats.org/drawingml/2006/table">
            <a:tbl>
              <a:tblPr>
                <a:noFill/>
                <a:tableStyleId>{DFC9DB84-52D8-4539-8054-AB8EF78AA331}</a:tableStyleId>
              </a:tblPr>
              <a:tblGrid>
                <a:gridCol w="846325"/>
                <a:gridCol w="846325"/>
                <a:gridCol w="846325"/>
                <a:gridCol w="846325"/>
              </a:tblGrid>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3100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901" name="Google Shape;901;p75"/>
          <p:cNvSpPr txBox="1"/>
          <p:nvPr/>
        </p:nvSpPr>
        <p:spPr>
          <a:xfrm>
            <a:off x="1806175" y="21903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of 20 blocks</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45}{100}\times20=\frac{45\times20}{100}=\frac{45\times20}{5\times20}=\frac{45}{5}\times\frac{20}{20}=9\ \times1\ =\ 9&quot;&gt;&lt;mo&gt;=&lt;/mo&gt;&lt;mfrac&gt;&lt;mn&gt;45&lt;/mn&gt;&lt;mn&gt;100&lt;/mn&gt;&lt;/mfrac&gt;&lt;mo&gt;×&lt;/mo&gt;&lt;mn&gt;20&lt;/mn&gt;&lt;mo&gt;=&lt;/mo&gt;&lt;mfrac&gt;&lt;mrow&gt;&lt;mn&gt;45&lt;/mn&gt;&lt;mo&gt;×&lt;/mo&gt;&lt;mn&gt;20&lt;/mn&gt;&lt;/mrow&gt;&lt;mn&gt;100&lt;/mn&gt;&lt;/mfrac&gt;&lt;mo&gt;=&lt;/mo&gt;&lt;mfrac&gt;&lt;mrow&gt;&lt;mn&gt;45&lt;/mn&gt;&lt;mo&gt;×&lt;/mo&gt;&lt;mn&gt;20&lt;/mn&gt;&lt;/mrow&gt;&lt;mrow&gt;&lt;mn&gt;5&lt;/mn&gt;&lt;mo&gt;×&lt;/mo&gt;&lt;mn&gt;20&lt;/mn&gt;&lt;/mrow&gt;&lt;/mfrac&gt;&lt;mo&gt;=&lt;/mo&gt;&lt;mfrac&gt;&lt;mn&gt;45&lt;/mn&gt;&lt;mn&gt;5&lt;/mn&gt;&lt;/mfrac&gt;&lt;mo&gt;×&lt;/mo&gt;&lt;mfrac&gt;&lt;mn&gt;20&lt;/mn&gt;&lt;mn&gt;20&lt;/mn&gt;&lt;/mfrac&gt;&lt;mo&gt;=&lt;/mo&gt;&lt;mn&gt;9&lt;/mn&gt;&lt;mtext&gt;&lt;/mtext&gt;&lt;mo&gt;×&lt;/mo&gt;&lt;mn&gt;1&lt;/mn&gt;&lt;mtext&gt;&lt;/mtext&gt;&lt;mo&gt;=&lt;/mo&gt;&lt;mtext&gt;&lt;/mtext&gt;&lt;mn&gt;9&lt;/mn&gt;&lt;/math&gt;" id="902" name="Google Shape;902;p75" title="equals 45 over 100 times 20 equals the fraction with numerator 45 times 20 and denominator 100 equals the fraction with numerator 45 times 20 and denominator 5 times 20 equals 45 over 5 times 20 over 20 equals 9 times 1 equals 9"/>
          <p:cNvPicPr preferRelativeResize="0"/>
          <p:nvPr/>
        </p:nvPicPr>
        <p:blipFill rotWithShape="1">
          <a:blip r:embed="rId4">
            <a:alphaModFix/>
          </a:blip>
          <a:srcRect b="0" l="0" r="79677" t="0"/>
          <a:stretch/>
        </p:blipFill>
        <p:spPr>
          <a:xfrm>
            <a:off x="920150" y="2930550"/>
            <a:ext cx="1858300" cy="766800"/>
          </a:xfrm>
          <a:prstGeom prst="rect">
            <a:avLst/>
          </a:prstGeom>
          <a:noFill/>
          <a:ln>
            <a:noFill/>
          </a:ln>
        </p:spPr>
      </p:pic>
      <p:pic>
        <p:nvPicPr>
          <p:cNvPr descr="&lt;math xmlns=&quot;http://www.w3.org/1998/Math/MathML&quot; display=&quot;block&quot; data-is-equatio=&quot;1&quot; data-latex=&quot;=\frac{45}{100}\times20=\frac{45\times20}{100}=\frac{45\times20}{5\times20}=\frac{45}{5}\times\frac{20}{20}=9\ \times1\ =\ 9&quot;&gt;&lt;mo&gt;=&lt;/mo&gt;&lt;mfrac&gt;&lt;mn&gt;45&lt;/mn&gt;&lt;mn&gt;100&lt;/mn&gt;&lt;/mfrac&gt;&lt;mo&gt;×&lt;/mo&gt;&lt;mn&gt;20&lt;/mn&gt;&lt;mo&gt;=&lt;/mo&gt;&lt;mfrac&gt;&lt;mrow&gt;&lt;mn&gt;45&lt;/mn&gt;&lt;mo&gt;×&lt;/mo&gt;&lt;mn&gt;20&lt;/mn&gt;&lt;/mrow&gt;&lt;mn&gt;100&lt;/mn&gt;&lt;/mfrac&gt;&lt;mo&gt;=&lt;/mo&gt;&lt;mfrac&gt;&lt;mrow&gt;&lt;mn&gt;45&lt;/mn&gt;&lt;mo&gt;×&lt;/mo&gt;&lt;mn&gt;20&lt;/mn&gt;&lt;/mrow&gt;&lt;mrow&gt;&lt;mn&gt;5&lt;/mn&gt;&lt;mo&gt;×&lt;/mo&gt;&lt;mn&gt;20&lt;/mn&gt;&lt;/mrow&gt;&lt;/mfrac&gt;&lt;mo&gt;=&lt;/mo&gt;&lt;mfrac&gt;&lt;mn&gt;45&lt;/mn&gt;&lt;mn&gt;5&lt;/mn&gt;&lt;/mfrac&gt;&lt;mo&gt;×&lt;/mo&gt;&lt;mfrac&gt;&lt;mn&gt;20&lt;/mn&gt;&lt;mn&gt;20&lt;/mn&gt;&lt;/mfrac&gt;&lt;mo&gt;=&lt;/mo&gt;&lt;mn&gt;9&lt;/mn&gt;&lt;mtext&gt;&lt;/mtext&gt;&lt;mo&gt;×&lt;/mo&gt;&lt;mn&gt;1&lt;/mn&gt;&lt;mtext&gt;&lt;/mtext&gt;&lt;mo&gt;=&lt;/mo&gt;&lt;mtext&gt;&lt;/mtext&gt;&lt;mn&gt;9&lt;/mn&gt;&lt;/math&gt;" id="903" name="Google Shape;903;p75" title="equals 45 over 100 times 20 equals the fraction with numerator 45 times 20 and denominator 100 equals the fraction with numerator 45 times 20 and denominator 5 times 20 equals 45 over 5 times 20 over 20 equals 9 times 1 equals 9"/>
          <p:cNvPicPr preferRelativeResize="0"/>
          <p:nvPr/>
        </p:nvPicPr>
        <p:blipFill rotWithShape="1">
          <a:blip r:embed="rId4">
            <a:alphaModFix/>
          </a:blip>
          <a:srcRect b="0" l="39051" r="42817" t="0"/>
          <a:stretch/>
        </p:blipFill>
        <p:spPr>
          <a:xfrm>
            <a:off x="920150" y="3914400"/>
            <a:ext cx="1657949" cy="766800"/>
          </a:xfrm>
          <a:prstGeom prst="rect">
            <a:avLst/>
          </a:prstGeom>
          <a:noFill/>
          <a:ln>
            <a:noFill/>
          </a:ln>
        </p:spPr>
      </p:pic>
      <p:pic>
        <p:nvPicPr>
          <p:cNvPr descr="&lt;math xmlns=&quot;http://www.w3.org/1998/Math/MathML&quot; display=&quot;block&quot; data-is-equatio=&quot;1&quot; data-latex=&quot;=\frac{45}{100}\times20=\frac{45\times20}{100}=\frac{45\times20}{5\times20}=\frac{45}{5}\times\frac{20}{20}=9\ \times1\ =\ 9&quot;&gt;&lt;mo&gt;=&lt;/mo&gt;&lt;mfrac&gt;&lt;mn&gt;45&lt;/mn&gt;&lt;mn&gt;100&lt;/mn&gt;&lt;/mfrac&gt;&lt;mo&gt;×&lt;/mo&gt;&lt;mn&gt;20&lt;/mn&gt;&lt;mo&gt;=&lt;/mo&gt;&lt;mfrac&gt;&lt;mrow&gt;&lt;mn&gt;45&lt;/mn&gt;&lt;mo&gt;×&lt;/mo&gt;&lt;mn&gt;20&lt;/mn&gt;&lt;/mrow&gt;&lt;mn&gt;100&lt;/mn&gt;&lt;/mfrac&gt;&lt;mo&gt;=&lt;/mo&gt;&lt;mfrac&gt;&lt;mrow&gt;&lt;mn&gt;45&lt;/mn&gt;&lt;mo&gt;×&lt;/mo&gt;&lt;mn&gt;20&lt;/mn&gt;&lt;/mrow&gt;&lt;mrow&gt;&lt;mn&gt;5&lt;/mn&gt;&lt;mo&gt;×&lt;/mo&gt;&lt;mn&gt;20&lt;/mn&gt;&lt;/mrow&gt;&lt;/mfrac&gt;&lt;mo&gt;=&lt;/mo&gt;&lt;mfrac&gt;&lt;mn&gt;45&lt;/mn&gt;&lt;mn&gt;5&lt;/mn&gt;&lt;/mfrac&gt;&lt;mo&gt;×&lt;/mo&gt;&lt;mfrac&gt;&lt;mn&gt;20&lt;/mn&gt;&lt;mn&gt;20&lt;/mn&gt;&lt;/mfrac&gt;&lt;mo&gt;=&lt;/mo&gt;&lt;mn&gt;9&lt;/mn&gt;&lt;mtext&gt;&lt;/mtext&gt;&lt;mo&gt;×&lt;/mo&gt;&lt;mn&gt;1&lt;/mn&gt;&lt;mtext&gt;&lt;/mtext&gt;&lt;mo&gt;=&lt;/mo&gt;&lt;mtext&gt;&lt;/mtext&gt;&lt;mn&gt;9&lt;/mn&gt;&lt;/math&gt;" id="904" name="Google Shape;904;p75" title="equals 45 over 100 times 20 equals the fraction with numerator 45 times 20 and denominator 100 equals the fraction with numerator 45 times 20 and denominator 5 times 20 equals 45 over 5 times 20 over 20 equals 9 times 1 equals 9"/>
          <p:cNvPicPr preferRelativeResize="0"/>
          <p:nvPr/>
        </p:nvPicPr>
        <p:blipFill rotWithShape="1">
          <a:blip r:embed="rId4">
            <a:alphaModFix/>
          </a:blip>
          <a:srcRect b="0" l="58172" r="22199" t="0"/>
          <a:stretch/>
        </p:blipFill>
        <p:spPr>
          <a:xfrm>
            <a:off x="2637500" y="3951650"/>
            <a:ext cx="1794801" cy="766800"/>
          </a:xfrm>
          <a:prstGeom prst="rect">
            <a:avLst/>
          </a:prstGeom>
          <a:noFill/>
          <a:ln>
            <a:noFill/>
          </a:ln>
        </p:spPr>
      </p:pic>
      <p:pic>
        <p:nvPicPr>
          <p:cNvPr descr="&lt;math xmlns=&quot;http://www.w3.org/1998/Math/MathML&quot; display=&quot;block&quot; data-is-equatio=&quot;1&quot; data-latex=&quot;=\frac{45}{100}\times20=\frac{45\times20}{100}=\frac{45\times20}{5\times20}=\frac{45}{5}\times\frac{20}{20}=9\ \times1\ =\ 9&quot;&gt;&lt;mo&gt;=&lt;/mo&gt;&lt;mfrac&gt;&lt;mn&gt;45&lt;/mn&gt;&lt;mn&gt;100&lt;/mn&gt;&lt;/mfrac&gt;&lt;mo&gt;×&lt;/mo&gt;&lt;mn&gt;20&lt;/mn&gt;&lt;mo&gt;=&lt;/mo&gt;&lt;mfrac&gt;&lt;mrow&gt;&lt;mn&gt;45&lt;/mn&gt;&lt;mo&gt;×&lt;/mo&gt;&lt;mn&gt;20&lt;/mn&gt;&lt;/mrow&gt;&lt;mn&gt;100&lt;/mn&gt;&lt;/mfrac&gt;&lt;mo&gt;=&lt;/mo&gt;&lt;mfrac&gt;&lt;mrow&gt;&lt;mn&gt;45&lt;/mn&gt;&lt;mo&gt;×&lt;/mo&gt;&lt;mn&gt;20&lt;/mn&gt;&lt;/mrow&gt;&lt;mrow&gt;&lt;mn&gt;5&lt;/mn&gt;&lt;mo&gt;×&lt;/mo&gt;&lt;mn&gt;20&lt;/mn&gt;&lt;/mrow&gt;&lt;/mfrac&gt;&lt;mo&gt;=&lt;/mo&gt;&lt;mfrac&gt;&lt;mn&gt;45&lt;/mn&gt;&lt;mn&gt;5&lt;/mn&gt;&lt;/mfrac&gt;&lt;mo&gt;×&lt;/mo&gt;&lt;mfrac&gt;&lt;mn&gt;20&lt;/mn&gt;&lt;mn&gt;20&lt;/mn&gt;&lt;/mfrac&gt;&lt;mo&gt;=&lt;/mo&gt;&lt;mn&gt;9&lt;/mn&gt;&lt;mtext&gt;&lt;/mtext&gt;&lt;mo&gt;×&lt;/mo&gt;&lt;mn&gt;1&lt;/mn&gt;&lt;mtext&gt;&lt;/mtext&gt;&lt;mo&gt;=&lt;/mo&gt;&lt;mtext&gt;&lt;/mtext&gt;&lt;mn&gt;9&lt;/mn&gt;&lt;/math&gt;" id="905" name="Google Shape;905;p75" title="equals 45 over 100 times 20 equals the fraction with numerator 45 times 20 and denominator 100 equals the fraction with numerator 45 times 20 and denominator 5 times 20 equals 45 over 5 times 20 over 20 equals 9 times 1 equals 9"/>
          <p:cNvPicPr preferRelativeResize="0"/>
          <p:nvPr/>
        </p:nvPicPr>
        <p:blipFill rotWithShape="1">
          <a:blip r:embed="rId4">
            <a:alphaModFix/>
          </a:blip>
          <a:srcRect b="0" l="78125" r="8076" t="0"/>
          <a:stretch/>
        </p:blipFill>
        <p:spPr>
          <a:xfrm>
            <a:off x="4470399" y="3951650"/>
            <a:ext cx="1261600" cy="766800"/>
          </a:xfrm>
          <a:prstGeom prst="rect">
            <a:avLst/>
          </a:prstGeom>
          <a:noFill/>
          <a:ln>
            <a:noFill/>
          </a:ln>
        </p:spPr>
      </p:pic>
      <p:pic>
        <p:nvPicPr>
          <p:cNvPr descr="&lt;math xmlns=&quot;http://www.w3.org/1998/Math/MathML&quot; display=&quot;block&quot; data-is-equatio=&quot;1&quot; data-latex=&quot;=\frac{45}{100}\times20=\frac{45\times20}{100}=\frac{45\times20}{5\times20}=\frac{45}{5}\times\frac{20}{20}=9\ \times1\ =\ 9&quot;&gt;&lt;mo&gt;=&lt;/mo&gt;&lt;mfrac&gt;&lt;mn&gt;45&lt;/mn&gt;&lt;mn&gt;100&lt;/mn&gt;&lt;/mfrac&gt;&lt;mo&gt;×&lt;/mo&gt;&lt;mn&gt;20&lt;/mn&gt;&lt;mo&gt;=&lt;/mo&gt;&lt;mfrac&gt;&lt;mrow&gt;&lt;mn&gt;45&lt;/mn&gt;&lt;mo&gt;×&lt;/mo&gt;&lt;mn&gt;20&lt;/mn&gt;&lt;/mrow&gt;&lt;mn&gt;100&lt;/mn&gt;&lt;/mfrac&gt;&lt;mo&gt;=&lt;/mo&gt;&lt;mfrac&gt;&lt;mrow&gt;&lt;mn&gt;45&lt;/mn&gt;&lt;mo&gt;×&lt;/mo&gt;&lt;mn&gt;20&lt;/mn&gt;&lt;/mrow&gt;&lt;mrow&gt;&lt;mn&gt;5&lt;/mn&gt;&lt;mo&gt;×&lt;/mo&gt;&lt;mn&gt;20&lt;/mn&gt;&lt;/mrow&gt;&lt;/mfrac&gt;&lt;mo&gt;=&lt;/mo&gt;&lt;mfrac&gt;&lt;mn&gt;45&lt;/mn&gt;&lt;mn&gt;5&lt;/mn&gt;&lt;/mfrac&gt;&lt;mo&gt;×&lt;/mo&gt;&lt;mfrac&gt;&lt;mn&gt;20&lt;/mn&gt;&lt;mn&gt;20&lt;/mn&gt;&lt;/mfrac&gt;&lt;mo&gt;=&lt;/mo&gt;&lt;mn&gt;9&lt;/mn&gt;&lt;mtext&gt;&lt;/mtext&gt;&lt;mo&gt;×&lt;/mo&gt;&lt;mn&gt;1&lt;/mn&gt;&lt;mtext&gt;&lt;/mtext&gt;&lt;mo&gt;=&lt;/mo&gt;&lt;mtext&gt;&lt;/mtext&gt;&lt;mn&gt;9&lt;/mn&gt;&lt;/math&gt;" id="906" name="Google Shape;906;p75" title="equals 45 over 100 times 20 equals the fraction with numerator 45 times 20 and denominator 100 equals the fraction with numerator 45 times 20 and denominator 5 times 20 equals 45 over 5 times 20 over 20 equals 9 times 1 equals 9"/>
          <p:cNvPicPr preferRelativeResize="0"/>
          <p:nvPr/>
        </p:nvPicPr>
        <p:blipFill rotWithShape="1">
          <a:blip r:embed="rId4">
            <a:alphaModFix/>
          </a:blip>
          <a:srcRect b="0" l="91919" r="-1363" t="0"/>
          <a:stretch/>
        </p:blipFill>
        <p:spPr>
          <a:xfrm>
            <a:off x="5693899" y="3951650"/>
            <a:ext cx="863601" cy="766800"/>
          </a:xfrm>
          <a:prstGeom prst="rect">
            <a:avLst/>
          </a:prstGeom>
          <a:noFill/>
          <a:ln>
            <a:noFill/>
          </a:ln>
        </p:spPr>
      </p:pic>
      <p:sp>
        <p:nvSpPr>
          <p:cNvPr id="907" name="Google Shape;907;p75"/>
          <p:cNvSpPr txBox="1"/>
          <p:nvPr/>
        </p:nvSpPr>
        <p:spPr>
          <a:xfrm>
            <a:off x="6502400" y="407345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blocks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76"/>
          <p:cNvSpPr txBox="1"/>
          <p:nvPr>
            <p:ph idx="1" type="body"/>
          </p:nvPr>
        </p:nvSpPr>
        <p:spPr>
          <a:xfrm>
            <a:off x="324000" y="759300"/>
            <a:ext cx="83865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Is </a:t>
            </a:r>
            <a:r>
              <a:rPr lang="en-GB" sz="2100"/>
              <a:t>shading</a:t>
            </a:r>
            <a:r>
              <a:rPr lang="en-GB" sz="2100"/>
              <a:t> 36% of this 50 square grid the same as shading in      of this grid?</a:t>
            </a:r>
            <a:endParaRPr sz="2100"/>
          </a:p>
        </p:txBody>
      </p:sp>
      <p:sp>
        <p:nvSpPr>
          <p:cNvPr id="913" name="Google Shape;913;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sp>
        <p:nvSpPr>
          <p:cNvPr id="914" name="Google Shape;914;p76"/>
          <p:cNvSpPr txBox="1"/>
          <p:nvPr/>
        </p:nvSpPr>
        <p:spPr>
          <a:xfrm>
            <a:off x="7692923" y="4046250"/>
            <a:ext cx="12693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100">
                <a:solidFill>
                  <a:schemeClr val="dk1"/>
                </a:solidFill>
                <a:latin typeface="Kalam"/>
                <a:ea typeface="Kalam"/>
                <a:cs typeface="Kalam"/>
                <a:sym typeface="Kalam"/>
              </a:rPr>
              <a:t>s</a:t>
            </a:r>
            <a:r>
              <a:rPr lang="en-GB" sz="2100">
                <a:solidFill>
                  <a:schemeClr val="dk1"/>
                </a:solidFill>
                <a:latin typeface="Kalam"/>
                <a:ea typeface="Kalam"/>
                <a:cs typeface="Kalam"/>
                <a:sym typeface="Kalam"/>
              </a:rPr>
              <a:t>quares</a:t>
            </a:r>
            <a:endParaRPr sz="1300"/>
          </a:p>
        </p:txBody>
      </p:sp>
      <p:sp>
        <p:nvSpPr>
          <p:cNvPr id="915" name="Google Shape;915;p76"/>
          <p:cNvSpPr txBox="1"/>
          <p:nvPr/>
        </p:nvSpPr>
        <p:spPr>
          <a:xfrm>
            <a:off x="4395850" y="1672000"/>
            <a:ext cx="1949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36% of 50 = </a:t>
            </a:r>
            <a:endParaRPr/>
          </a:p>
        </p:txBody>
      </p:sp>
      <p:pic>
        <p:nvPicPr>
          <p:cNvPr descr="&lt;math xmlns=&quot;http://www.w3.org/1998/Math/MathML&quot; display=&quot;block&quot; data-is-equatio=&quot;1&quot; data-latex=&quot;\frac{9}{25}&quot;&gt;&lt;mfrac&gt;&lt;mn&gt;9&lt;/mn&gt;&lt;mn&gt;25&lt;/mn&gt;&lt;/mfrac&gt;&lt;/math&gt;" id="916" name="Google Shape;916;p76" title="9 over 25"/>
          <p:cNvPicPr preferRelativeResize="0"/>
          <p:nvPr/>
        </p:nvPicPr>
        <p:blipFill>
          <a:blip r:embed="rId3">
            <a:alphaModFix/>
          </a:blip>
          <a:stretch>
            <a:fillRect/>
          </a:stretch>
        </p:blipFill>
        <p:spPr>
          <a:xfrm>
            <a:off x="8260200" y="759300"/>
            <a:ext cx="296010" cy="540000"/>
          </a:xfrm>
          <a:prstGeom prst="rect">
            <a:avLst/>
          </a:prstGeom>
          <a:noFill/>
          <a:ln>
            <a:noFill/>
          </a:ln>
        </p:spPr>
      </p:pic>
      <p:graphicFrame>
        <p:nvGraphicFramePr>
          <p:cNvPr id="917" name="Google Shape;917;p76"/>
          <p:cNvGraphicFramePr/>
          <p:nvPr/>
        </p:nvGraphicFramePr>
        <p:xfrm>
          <a:off x="376925" y="1799000"/>
          <a:ext cx="3000000" cy="3000000"/>
        </p:xfrm>
        <a:graphic>
          <a:graphicData uri="http://schemas.openxmlformats.org/drawingml/2006/table">
            <a:tbl>
              <a:tblPr>
                <a:noFill/>
                <a:tableStyleId>{DFC9DB84-52D8-4539-8054-AB8EF78AA331}</a:tableStyleId>
              </a:tblPr>
              <a:tblGrid>
                <a:gridCol w="382850"/>
                <a:gridCol w="382850"/>
                <a:gridCol w="382850"/>
                <a:gridCol w="382850"/>
                <a:gridCol w="382850"/>
                <a:gridCol w="382850"/>
                <a:gridCol w="382850"/>
                <a:gridCol w="382850"/>
                <a:gridCol w="382850"/>
                <a:gridCol w="382850"/>
              </a:tblGrid>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pic>
        <p:nvPicPr>
          <p:cNvPr descr="&lt;math xmlns=&quot;http://www.w3.org/1998/Math/MathML&quot; display=&quot;block&quot; data-is-equatio=&quot;1&quot; data-latex=&quot;\frac{36}{100}\times50=\frac{36\times50}{100}=\frac{36\times50}{2\ \times50}=\frac{36}{2}\times\frac{50}{50}=18\times1=18&quot;&gt;&lt;mfrac&gt;&lt;mn&gt;36&lt;/mn&gt;&lt;mn&gt;100&lt;/mn&gt;&lt;/mfrac&gt;&lt;mo&gt;×&lt;/mo&gt;&lt;mn&gt;50&lt;/mn&gt;&lt;mo&gt;=&lt;/mo&gt;&lt;mfrac&gt;&lt;mrow&gt;&lt;mn&gt;36&lt;/mn&gt;&lt;mo&gt;×&lt;/mo&gt;&lt;mn&gt;50&lt;/mn&gt;&lt;/mrow&gt;&lt;mn&gt;100&lt;/mn&gt;&lt;/mfrac&gt;&lt;mo&gt;=&lt;/mo&gt;&lt;mfrac&gt;&lt;mrow&gt;&lt;mn&gt;36&lt;/mn&gt;&lt;mo&gt;×&lt;/mo&gt;&lt;mn&gt;50&lt;/mn&gt;&lt;/mrow&gt;&lt;mrow&gt;&lt;mn&gt;2&lt;/mn&gt;&lt;mtext&gt;&lt;/mtext&gt;&lt;mo&gt;×&lt;/mo&gt;&lt;mn&gt;50&lt;/mn&gt;&lt;/mrow&gt;&lt;/mfrac&gt;&lt;mo&gt;=&lt;/mo&gt;&lt;mfrac&gt;&lt;mn&gt;36&lt;/mn&gt;&lt;mn&gt;2&lt;/mn&gt;&lt;/mfrac&gt;&lt;mo&gt;×&lt;/mo&gt;&lt;mfrac&gt;&lt;mn&gt;50&lt;/mn&gt;&lt;mn&gt;50&lt;/mn&gt;&lt;/mfrac&gt;&lt;mo&gt;=&lt;/mo&gt;&lt;mn&gt;18&lt;/mn&gt;&lt;mo&gt;×&lt;/mo&gt;&lt;mn&gt;1&lt;/mn&gt;&lt;mo&gt;=&lt;/mo&gt;&lt;mn&gt;18&lt;/mn&gt;&lt;/math&gt;" id="918" name="Google Shape;918;p76" title="36 over 100 times 50 equals the fraction with numerator 36 times 50 and denominator 100 equals the fraction with numerator 36 times 50 and denominator 2 times 50 equals 36 over 2 times 50 over 50 equals 18 times 1 equals 18"/>
          <p:cNvPicPr preferRelativeResize="0"/>
          <p:nvPr/>
        </p:nvPicPr>
        <p:blipFill rotWithShape="1">
          <a:blip r:embed="rId4">
            <a:alphaModFix/>
          </a:blip>
          <a:srcRect b="0" l="0" r="79356" t="0"/>
          <a:stretch/>
        </p:blipFill>
        <p:spPr>
          <a:xfrm>
            <a:off x="6176850" y="1610700"/>
            <a:ext cx="1540174" cy="645800"/>
          </a:xfrm>
          <a:prstGeom prst="rect">
            <a:avLst/>
          </a:prstGeom>
          <a:noFill/>
          <a:ln>
            <a:noFill/>
          </a:ln>
        </p:spPr>
      </p:pic>
      <p:pic>
        <p:nvPicPr>
          <p:cNvPr descr="&lt;math xmlns=&quot;http://www.w3.org/1998/Math/MathML&quot; display=&quot;block&quot; data-is-equatio=&quot;1&quot; data-latex=&quot;\frac{36}{100}\times50=\frac{36\times50}{100}=\frac{36\times50}{2\ \times50}=\frac{36}{2}\times\frac{50}{50}=18\times1=18&quot;&gt;&lt;mfrac&gt;&lt;mn&gt;36&lt;/mn&gt;&lt;mn&gt;100&lt;/mn&gt;&lt;/mfrac&gt;&lt;mo&gt;×&lt;/mo&gt;&lt;mn&gt;50&lt;/mn&gt;&lt;mo&gt;=&lt;/mo&gt;&lt;mfrac&gt;&lt;mrow&gt;&lt;mn&gt;36&lt;/mn&gt;&lt;mo&gt;×&lt;/mo&gt;&lt;mn&gt;50&lt;/mn&gt;&lt;/mrow&gt;&lt;mn&gt;100&lt;/mn&gt;&lt;/mfrac&gt;&lt;mo&gt;=&lt;/mo&gt;&lt;mfrac&gt;&lt;mrow&gt;&lt;mn&gt;36&lt;/mn&gt;&lt;mo&gt;×&lt;/mo&gt;&lt;mn&gt;50&lt;/mn&gt;&lt;/mrow&gt;&lt;mrow&gt;&lt;mn&gt;2&lt;/mn&gt;&lt;mtext&gt;&lt;/mtext&gt;&lt;mo&gt;×&lt;/mo&gt;&lt;mn&gt;50&lt;/mn&gt;&lt;/mrow&gt;&lt;/mfrac&gt;&lt;mo&gt;=&lt;/mo&gt;&lt;mfrac&gt;&lt;mn&gt;36&lt;/mn&gt;&lt;mn&gt;2&lt;/mn&gt;&lt;/mfrac&gt;&lt;mo&gt;×&lt;/mo&gt;&lt;mfrac&gt;&lt;mn&gt;50&lt;/mn&gt;&lt;mn&gt;50&lt;/mn&gt;&lt;/mfrac&gt;&lt;mo&gt;=&lt;/mo&gt;&lt;mn&gt;18&lt;/mn&gt;&lt;mo&gt;×&lt;/mo&gt;&lt;mn&gt;1&lt;/mn&gt;&lt;mo&gt;=&lt;/mo&gt;&lt;mn&gt;18&lt;/mn&gt;&lt;/math&gt;" id="919" name="Google Shape;919;p76" title="36 over 100 times 50 equals the fraction with numerator 36 times 50 and denominator 100 equals the fraction with numerator 36 times 50 and denominator 2 times 50 equals 36 over 2 times 50 over 50 equals 18 times 1 equals 18"/>
          <p:cNvPicPr preferRelativeResize="0"/>
          <p:nvPr/>
        </p:nvPicPr>
        <p:blipFill rotWithShape="1">
          <a:blip r:embed="rId4">
            <a:alphaModFix/>
          </a:blip>
          <a:srcRect b="0" l="35859" r="44691" t="0"/>
          <a:stretch/>
        </p:blipFill>
        <p:spPr>
          <a:xfrm>
            <a:off x="5922006" y="2421200"/>
            <a:ext cx="1451049" cy="645800"/>
          </a:xfrm>
          <a:prstGeom prst="rect">
            <a:avLst/>
          </a:prstGeom>
          <a:noFill/>
          <a:ln>
            <a:noFill/>
          </a:ln>
        </p:spPr>
      </p:pic>
      <p:pic>
        <p:nvPicPr>
          <p:cNvPr descr="&lt;math xmlns=&quot;http://www.w3.org/1998/Math/MathML&quot; display=&quot;block&quot; data-is-equatio=&quot;1&quot; data-latex=&quot;\frac{36}{100}\times50=\frac{36\times50}{100}=\frac{36\times50}{2\ \times50}=\frac{36}{2}\times\frac{50}{50}=18\times1=18&quot;&gt;&lt;mfrac&gt;&lt;mn&gt;36&lt;/mn&gt;&lt;mn&gt;100&lt;/mn&gt;&lt;/mfrac&gt;&lt;mo&gt;×&lt;/mo&gt;&lt;mn&gt;50&lt;/mn&gt;&lt;mo&gt;=&lt;/mo&gt;&lt;mfrac&gt;&lt;mrow&gt;&lt;mn&gt;36&lt;/mn&gt;&lt;mo&gt;×&lt;/mo&gt;&lt;mn&gt;50&lt;/mn&gt;&lt;/mrow&gt;&lt;mn&gt;100&lt;/mn&gt;&lt;/mfrac&gt;&lt;mo&gt;=&lt;/mo&gt;&lt;mfrac&gt;&lt;mrow&gt;&lt;mn&gt;36&lt;/mn&gt;&lt;mo&gt;×&lt;/mo&gt;&lt;mn&gt;50&lt;/mn&gt;&lt;/mrow&gt;&lt;mrow&gt;&lt;mn&gt;2&lt;/mn&gt;&lt;mtext&gt;&lt;/mtext&gt;&lt;mo&gt;×&lt;/mo&gt;&lt;mn&gt;50&lt;/mn&gt;&lt;/mrow&gt;&lt;/mfrac&gt;&lt;mo&gt;=&lt;/mo&gt;&lt;mfrac&gt;&lt;mn&gt;36&lt;/mn&gt;&lt;mn&gt;2&lt;/mn&gt;&lt;/mfrac&gt;&lt;mo&gt;×&lt;/mo&gt;&lt;mfrac&gt;&lt;mn&gt;50&lt;/mn&gt;&lt;mn&gt;50&lt;/mn&gt;&lt;/mfrac&gt;&lt;mo&gt;=&lt;/mo&gt;&lt;mn&gt;18&lt;/mn&gt;&lt;mo&gt;×&lt;/mo&gt;&lt;mn&gt;1&lt;/mn&gt;&lt;mo&gt;=&lt;/mo&gt;&lt;mn&gt;18&lt;/mn&gt;&lt;/math&gt;" id="920" name="Google Shape;920;p76" title="36 over 100 times 50 equals the fraction with numerator 36 times 50 and denominator 100 equals the fraction with numerator 36 times 50 and denominator 2 times 50 equals 36 over 2 times 50 over 50 equals 18 times 1 equals 18"/>
          <p:cNvPicPr preferRelativeResize="0"/>
          <p:nvPr/>
        </p:nvPicPr>
        <p:blipFill rotWithShape="1">
          <a:blip r:embed="rId4">
            <a:alphaModFix/>
          </a:blip>
          <a:srcRect b="0" l="20150" r="65009" t="0"/>
          <a:stretch/>
        </p:blipFill>
        <p:spPr>
          <a:xfrm>
            <a:off x="7717025" y="1610700"/>
            <a:ext cx="1107150" cy="645800"/>
          </a:xfrm>
          <a:prstGeom prst="rect">
            <a:avLst/>
          </a:prstGeom>
          <a:noFill/>
          <a:ln>
            <a:noFill/>
          </a:ln>
        </p:spPr>
      </p:pic>
      <p:pic>
        <p:nvPicPr>
          <p:cNvPr descr="&lt;math xmlns=&quot;http://www.w3.org/1998/Math/MathML&quot; display=&quot;block&quot; data-is-equatio=&quot;1&quot; data-latex=&quot;\frac{36}{100}\times50=\frac{36\times50}{100}=\frac{36\times50}{2\ \times50}=\frac{36}{2}\times\frac{50}{50}=18\times1=18&quot;&gt;&lt;mfrac&gt;&lt;mn&gt;36&lt;/mn&gt;&lt;mn&gt;100&lt;/mn&gt;&lt;/mfrac&gt;&lt;mo&gt;×&lt;/mo&gt;&lt;mn&gt;50&lt;/mn&gt;&lt;mo&gt;=&lt;/mo&gt;&lt;mfrac&gt;&lt;mrow&gt;&lt;mn&gt;36&lt;/mn&gt;&lt;mo&gt;×&lt;/mo&gt;&lt;mn&gt;50&lt;/mn&gt;&lt;/mrow&gt;&lt;mn&gt;100&lt;/mn&gt;&lt;/mfrac&gt;&lt;mo&gt;=&lt;/mo&gt;&lt;mfrac&gt;&lt;mrow&gt;&lt;mn&gt;36&lt;/mn&gt;&lt;mo&gt;×&lt;/mo&gt;&lt;mn&gt;50&lt;/mn&gt;&lt;/mrow&gt;&lt;mrow&gt;&lt;mn&gt;2&lt;/mn&gt;&lt;mtext&gt;&lt;/mtext&gt;&lt;mo&gt;×&lt;/mo&gt;&lt;mn&gt;50&lt;/mn&gt;&lt;/mrow&gt;&lt;/mfrac&gt;&lt;mo&gt;=&lt;/mo&gt;&lt;mfrac&gt;&lt;mn&gt;36&lt;/mn&gt;&lt;mn&gt;2&lt;/mn&gt;&lt;/mfrac&gt;&lt;mo&gt;×&lt;/mo&gt;&lt;mfrac&gt;&lt;mn&gt;50&lt;/mn&gt;&lt;mn&gt;50&lt;/mn&gt;&lt;/mfrac&gt;&lt;mo&gt;=&lt;/mo&gt;&lt;mn&gt;18&lt;/mn&gt;&lt;mo&gt;×&lt;/mo&gt;&lt;mn&gt;1&lt;/mn&gt;&lt;mo&gt;=&lt;/mo&gt;&lt;mn&gt;18&lt;/mn&gt;&lt;/math&gt;" id="921" name="Google Shape;921;p76" title="36 over 100 times 50 equals the fraction with numerator 36 times 50 and denominator 100 equals the fraction with numerator 36 times 50 and denominator 2 times 50 equals 36 over 2 times 50 over 50 equals 18 times 1 equals 18"/>
          <p:cNvPicPr preferRelativeResize="0"/>
          <p:nvPr/>
        </p:nvPicPr>
        <p:blipFill rotWithShape="1">
          <a:blip r:embed="rId4">
            <a:alphaModFix/>
          </a:blip>
          <a:srcRect b="0" l="54719" r="24637" t="0"/>
          <a:stretch/>
        </p:blipFill>
        <p:spPr>
          <a:xfrm>
            <a:off x="7328951" y="2421200"/>
            <a:ext cx="1540174" cy="645800"/>
          </a:xfrm>
          <a:prstGeom prst="rect">
            <a:avLst/>
          </a:prstGeom>
          <a:noFill/>
          <a:ln>
            <a:noFill/>
          </a:ln>
        </p:spPr>
      </p:pic>
      <p:pic>
        <p:nvPicPr>
          <p:cNvPr descr="&lt;math xmlns=&quot;http://www.w3.org/1998/Math/MathML&quot; display=&quot;block&quot; data-is-equatio=&quot;1&quot; data-latex=&quot;\frac{36}{100}\times50=\frac{36\times50}{100}=\frac{36\times50}{2\ \times50}=\frac{36}{2}\times\frac{50}{50}=18\times1=18&quot;&gt;&lt;mfrac&gt;&lt;mn&gt;36&lt;/mn&gt;&lt;mn&gt;100&lt;/mn&gt;&lt;/mfrac&gt;&lt;mo&gt;×&lt;/mo&gt;&lt;mn&gt;50&lt;/mn&gt;&lt;mo&gt;=&lt;/mo&gt;&lt;mfrac&gt;&lt;mrow&gt;&lt;mn&gt;36&lt;/mn&gt;&lt;mo&gt;×&lt;/mo&gt;&lt;mn&gt;50&lt;/mn&gt;&lt;/mrow&gt;&lt;mn&gt;100&lt;/mn&gt;&lt;/mfrac&gt;&lt;mo&gt;=&lt;/mo&gt;&lt;mfrac&gt;&lt;mrow&gt;&lt;mn&gt;36&lt;/mn&gt;&lt;mo&gt;×&lt;/mo&gt;&lt;mn&gt;50&lt;/mn&gt;&lt;/mrow&gt;&lt;mrow&gt;&lt;mn&gt;2&lt;/mn&gt;&lt;mtext&gt;&lt;/mtext&gt;&lt;mo&gt;×&lt;/mo&gt;&lt;mn&gt;50&lt;/mn&gt;&lt;/mrow&gt;&lt;/mfrac&gt;&lt;mo&gt;=&lt;/mo&gt;&lt;mfrac&gt;&lt;mn&gt;36&lt;/mn&gt;&lt;mn&gt;2&lt;/mn&gt;&lt;/mfrac&gt;&lt;mo&gt;×&lt;/mo&gt;&lt;mfrac&gt;&lt;mn&gt;50&lt;/mn&gt;&lt;mn&gt;50&lt;/mn&gt;&lt;/mfrac&gt;&lt;mo&gt;=&lt;/mo&gt;&lt;mn&gt;18&lt;/mn&gt;&lt;mo&gt;×&lt;/mo&gt;&lt;mn&gt;1&lt;/mn&gt;&lt;mo&gt;=&lt;/mo&gt;&lt;mn&gt;18&lt;/mn&gt;&lt;/math&gt;" id="922" name="Google Shape;922;p76" title="36 over 100 times 50 equals the fraction with numerator 36 times 50 and denominator 100 equals the fraction with numerator 36 times 50 and denominator 2 times 50 equals 36 over 2 times 50 over 50 equals 18 times 1 equals 18"/>
          <p:cNvPicPr preferRelativeResize="0"/>
          <p:nvPr/>
        </p:nvPicPr>
        <p:blipFill rotWithShape="1">
          <a:blip r:embed="rId4">
            <a:alphaModFix/>
          </a:blip>
          <a:srcRect b="0" l="75356" r="-1481" t="0"/>
          <a:stretch/>
        </p:blipFill>
        <p:spPr>
          <a:xfrm>
            <a:off x="5921995" y="3196400"/>
            <a:ext cx="1949125" cy="645800"/>
          </a:xfrm>
          <a:prstGeom prst="rect">
            <a:avLst/>
          </a:prstGeom>
          <a:noFill/>
          <a:ln>
            <a:noFill/>
          </a:ln>
        </p:spPr>
      </p:pic>
      <p:sp>
        <p:nvSpPr>
          <p:cNvPr id="923" name="Google Shape;923;p76"/>
          <p:cNvSpPr txBox="1"/>
          <p:nvPr/>
        </p:nvSpPr>
        <p:spPr>
          <a:xfrm>
            <a:off x="7793150" y="3275361"/>
            <a:ext cx="11073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100">
                <a:solidFill>
                  <a:schemeClr val="dk1"/>
                </a:solidFill>
                <a:latin typeface="Kalam"/>
                <a:ea typeface="Kalam"/>
                <a:cs typeface="Kalam"/>
                <a:sym typeface="Kalam"/>
              </a:rPr>
              <a:t>squares</a:t>
            </a:r>
            <a:endParaRPr>
              <a:latin typeface="Kalam"/>
              <a:ea typeface="Kalam"/>
              <a:cs typeface="Kalam"/>
              <a:sym typeface="Kalam"/>
            </a:endParaRPr>
          </a:p>
        </p:txBody>
      </p:sp>
      <p:pic>
        <p:nvPicPr>
          <p:cNvPr descr="&lt;math xmlns=&quot;http://www.w3.org/1998/Math/MathML&quot; display=&quot;block&quot; data-is-equatio=&quot;1&quot; data-latex=&quot;\frac{9}{25}\times50=\frac{9\times50}{25}=\frac{9\times2\times25}{25}=18\times\frac{25}{25}=18\ \times1=18&quot;&gt;&lt;mfrac&gt;&lt;mn&gt;9&lt;/mn&gt;&lt;mn&gt;25&lt;/mn&gt;&lt;/mfrac&gt;&lt;mo&gt;×&lt;/mo&gt;&lt;mn&gt;50&lt;/mn&gt;&lt;mo&gt;=&lt;/mo&gt;&lt;mfrac&gt;&lt;mrow&gt;&lt;mn&gt;9&lt;/mn&gt;&lt;mo&gt;×&lt;/mo&gt;&lt;mn&gt;50&lt;/mn&gt;&lt;/mrow&gt;&lt;mn&gt;25&lt;/mn&gt;&lt;/mfrac&gt;&lt;mo&gt;=&lt;/mo&gt;&lt;mfrac&gt;&lt;mrow&gt;&lt;mn&gt;9&lt;/mn&gt;&lt;mo&gt;×&lt;/mo&gt;&lt;mn&gt;2&lt;/mn&gt;&lt;mo&gt;×&lt;/mo&gt;&lt;mn&gt;25&lt;/mn&gt;&lt;/mrow&gt;&lt;mn&gt;25&lt;/mn&gt;&lt;/mfrac&gt;&lt;mo&gt;=&lt;/mo&gt;&lt;mn&gt;18&lt;/mn&gt;&lt;mo&gt;×&lt;/mo&gt;&lt;mfrac&gt;&lt;mn&gt;25&lt;/mn&gt;&lt;mn&gt;25&lt;/mn&gt;&lt;/mfrac&gt;&lt;mo&gt;=&lt;/mo&gt;&lt;mn&gt;18&lt;/mn&gt;&lt;mtext&gt;&lt;/mtext&gt;&lt;mo&gt;×&lt;/mo&gt;&lt;mn&gt;1&lt;/mn&gt;&lt;mo&gt;=&lt;/mo&gt;&lt;mn&gt;18&lt;/mn&gt;&lt;/math&gt;" id="924" name="Google Shape;924;p76" title="9 over 25 times 50 equals the fraction with numerator 9 times 50 and denominator 25 equals the fraction with numerator 9 times 2 times 25 and denominator 25 equals 18 times 25 over 25 equals 18 times 1 equals 18"/>
          <p:cNvPicPr preferRelativeResize="0"/>
          <p:nvPr/>
        </p:nvPicPr>
        <p:blipFill rotWithShape="1">
          <a:blip r:embed="rId5">
            <a:alphaModFix/>
          </a:blip>
          <a:srcRect b="0" l="0" r="81597" t="0"/>
          <a:stretch/>
        </p:blipFill>
        <p:spPr>
          <a:xfrm>
            <a:off x="376931" y="3971600"/>
            <a:ext cx="1380657" cy="650270"/>
          </a:xfrm>
          <a:prstGeom prst="rect">
            <a:avLst/>
          </a:prstGeom>
          <a:noFill/>
          <a:ln>
            <a:noFill/>
          </a:ln>
        </p:spPr>
      </p:pic>
      <p:pic>
        <p:nvPicPr>
          <p:cNvPr descr="&lt;math xmlns=&quot;http://www.w3.org/1998/Math/MathML&quot; display=&quot;block&quot; data-is-equatio=&quot;1&quot; data-latex=&quot;\frac{9}{25}\times50=\frac{9\times50}{25}=\frac{9\times2\times25}{25}=18\times\frac{25}{25}=18\ \times1=18&quot;&gt;&lt;mfrac&gt;&lt;mn&gt;9&lt;/mn&gt;&lt;mn&gt;25&lt;/mn&gt;&lt;/mfrac&gt;&lt;mo&gt;×&lt;/mo&gt;&lt;mn&gt;50&lt;/mn&gt;&lt;mo&gt;=&lt;/mo&gt;&lt;mfrac&gt;&lt;mrow&gt;&lt;mn&gt;9&lt;/mn&gt;&lt;mo&gt;×&lt;/mo&gt;&lt;mn&gt;50&lt;/mn&gt;&lt;/mrow&gt;&lt;mn&gt;25&lt;/mn&gt;&lt;/mfrac&gt;&lt;mo&gt;=&lt;/mo&gt;&lt;mfrac&gt;&lt;mrow&gt;&lt;mn&gt;9&lt;/mn&gt;&lt;mo&gt;×&lt;/mo&gt;&lt;mn&gt;2&lt;/mn&gt;&lt;mo&gt;×&lt;/mo&gt;&lt;mn&gt;25&lt;/mn&gt;&lt;/mrow&gt;&lt;mn&gt;25&lt;/mn&gt;&lt;/mfrac&gt;&lt;mo&gt;=&lt;/mo&gt;&lt;mn&gt;18&lt;/mn&gt;&lt;mo&gt;×&lt;/mo&gt;&lt;mfrac&gt;&lt;mn&gt;25&lt;/mn&gt;&lt;mn&gt;25&lt;/mn&gt;&lt;/mfrac&gt;&lt;mo&gt;=&lt;/mo&gt;&lt;mn&gt;18&lt;/mn&gt;&lt;mtext&gt;&lt;/mtext&gt;&lt;mo&gt;×&lt;/mo&gt;&lt;mn&gt;1&lt;/mn&gt;&lt;mo&gt;=&lt;/mo&gt;&lt;mn&gt;18&lt;/mn&gt;&lt;/math&gt;" id="925" name="Google Shape;925;p76" title="9 over 25 times 50 equals the fraction with numerator 9 times 50 and denominator 25 equals the fraction with numerator 9 times 2 times 25 and denominator 25 equals 18 times 25 over 25 equals 18 times 1 equals 18"/>
          <p:cNvPicPr preferRelativeResize="0"/>
          <p:nvPr/>
        </p:nvPicPr>
        <p:blipFill rotWithShape="1">
          <a:blip r:embed="rId5">
            <a:alphaModFix/>
          </a:blip>
          <a:srcRect b="0" l="18400" r="64516" t="0"/>
          <a:stretch/>
        </p:blipFill>
        <p:spPr>
          <a:xfrm>
            <a:off x="1757587" y="3990630"/>
            <a:ext cx="1281677" cy="650270"/>
          </a:xfrm>
          <a:prstGeom prst="rect">
            <a:avLst/>
          </a:prstGeom>
          <a:noFill/>
          <a:ln>
            <a:noFill/>
          </a:ln>
        </p:spPr>
      </p:pic>
      <p:pic>
        <p:nvPicPr>
          <p:cNvPr descr="&lt;math xmlns=&quot;http://www.w3.org/1998/Math/MathML&quot; display=&quot;block&quot; data-is-equatio=&quot;1&quot; data-latex=&quot;\frac{9}{25}\times50=\frac{9\times50}{25}=\frac{9\times2\times25}{25}=18\times\frac{25}{25}=18\ \times1=18&quot;&gt;&lt;mfrac&gt;&lt;mn&gt;9&lt;/mn&gt;&lt;mn&gt;25&lt;/mn&gt;&lt;/mfrac&gt;&lt;mo&gt;×&lt;/mo&gt;&lt;mn&gt;50&lt;/mn&gt;&lt;mo&gt;=&lt;/mo&gt;&lt;mfrac&gt;&lt;mrow&gt;&lt;mn&gt;9&lt;/mn&gt;&lt;mo&gt;×&lt;/mo&gt;&lt;mn&gt;50&lt;/mn&gt;&lt;/mrow&gt;&lt;mn&gt;25&lt;/mn&gt;&lt;/mfrac&gt;&lt;mo&gt;=&lt;/mo&gt;&lt;mfrac&gt;&lt;mrow&gt;&lt;mn&gt;9&lt;/mn&gt;&lt;mo&gt;×&lt;/mo&gt;&lt;mn&gt;2&lt;/mn&gt;&lt;mo&gt;×&lt;/mo&gt;&lt;mn&gt;25&lt;/mn&gt;&lt;/mrow&gt;&lt;mn&gt;25&lt;/mn&gt;&lt;/mfrac&gt;&lt;mo&gt;=&lt;/mo&gt;&lt;mn&gt;18&lt;/mn&gt;&lt;mo&gt;×&lt;/mo&gt;&lt;mfrac&gt;&lt;mn&gt;25&lt;/mn&gt;&lt;mn&gt;25&lt;/mn&gt;&lt;/mfrac&gt;&lt;mo&gt;=&lt;/mo&gt;&lt;mn&gt;18&lt;/mn&gt;&lt;mtext&gt;&lt;/mtext&gt;&lt;mo&gt;×&lt;/mo&gt;&lt;mn&gt;1&lt;/mn&gt;&lt;mo&gt;=&lt;/mo&gt;&lt;mn&gt;18&lt;/mn&gt;&lt;/math&gt;" id="926" name="Google Shape;926;p76" title="9 over 25 times 50 equals the fraction with numerator 9 times 50 and denominator 25 equals the fraction with numerator 9 times 2 times 25 and denominator 25 equals 18 times 25 over 25 equals 18 times 1 equals 18"/>
          <p:cNvPicPr preferRelativeResize="0"/>
          <p:nvPr/>
        </p:nvPicPr>
        <p:blipFill rotWithShape="1">
          <a:blip r:embed="rId5">
            <a:alphaModFix/>
          </a:blip>
          <a:srcRect b="0" l="35291" r="44464" t="0"/>
          <a:stretch/>
        </p:blipFill>
        <p:spPr>
          <a:xfrm>
            <a:off x="3039265" y="3990630"/>
            <a:ext cx="1518884" cy="650270"/>
          </a:xfrm>
          <a:prstGeom prst="rect">
            <a:avLst/>
          </a:prstGeom>
          <a:noFill/>
          <a:ln>
            <a:noFill/>
          </a:ln>
        </p:spPr>
      </p:pic>
      <p:pic>
        <p:nvPicPr>
          <p:cNvPr descr="&lt;math xmlns=&quot;http://www.w3.org/1998/Math/MathML&quot; display=&quot;block&quot; data-is-equatio=&quot;1&quot; data-latex=&quot;\frac{9}{25}\times50=\frac{9\times50}{25}=\frac{9\times2\times25}{25}=18\times\frac{25}{25}=18\ \times1=18&quot;&gt;&lt;mfrac&gt;&lt;mn&gt;9&lt;/mn&gt;&lt;mn&gt;25&lt;/mn&gt;&lt;/mfrac&gt;&lt;mo&gt;×&lt;/mo&gt;&lt;mn&gt;50&lt;/mn&gt;&lt;mo&gt;=&lt;/mo&gt;&lt;mfrac&gt;&lt;mrow&gt;&lt;mn&gt;9&lt;/mn&gt;&lt;mo&gt;×&lt;/mo&gt;&lt;mn&gt;50&lt;/mn&gt;&lt;/mrow&gt;&lt;mn&gt;25&lt;/mn&gt;&lt;/mfrac&gt;&lt;mo&gt;=&lt;/mo&gt;&lt;mfrac&gt;&lt;mrow&gt;&lt;mn&gt;9&lt;/mn&gt;&lt;mo&gt;×&lt;/mo&gt;&lt;mn&gt;2&lt;/mn&gt;&lt;mo&gt;×&lt;/mo&gt;&lt;mn&gt;25&lt;/mn&gt;&lt;/mrow&gt;&lt;mn&gt;25&lt;/mn&gt;&lt;/mfrac&gt;&lt;mo&gt;=&lt;/mo&gt;&lt;mn&gt;18&lt;/mn&gt;&lt;mo&gt;×&lt;/mo&gt;&lt;mfrac&gt;&lt;mn&gt;25&lt;/mn&gt;&lt;mn&gt;25&lt;/mn&gt;&lt;/mfrac&gt;&lt;mo&gt;=&lt;/mo&gt;&lt;mn&gt;18&lt;/mn&gt;&lt;mtext&gt;&lt;/mtext&gt;&lt;mo&gt;×&lt;/mo&gt;&lt;mn&gt;1&lt;/mn&gt;&lt;mo&gt;=&lt;/mo&gt;&lt;mn&gt;18&lt;/mn&gt;&lt;/math&gt;" id="927" name="Google Shape;927;p76" title="9 over 25 times 50 equals the fraction with numerator 9 times 50 and denominator 25 equals the fraction with numerator 9 times 2 times 25 and denominator 25 equals 18 times 25 over 25 equals 18 times 1 equals 18"/>
          <p:cNvPicPr preferRelativeResize="0"/>
          <p:nvPr/>
        </p:nvPicPr>
        <p:blipFill rotWithShape="1">
          <a:blip r:embed="rId5">
            <a:alphaModFix/>
          </a:blip>
          <a:srcRect b="0" l="55012" r="25455" t="0"/>
          <a:stretch/>
        </p:blipFill>
        <p:spPr>
          <a:xfrm>
            <a:off x="4558625" y="4047800"/>
            <a:ext cx="1380676" cy="612657"/>
          </a:xfrm>
          <a:prstGeom prst="rect">
            <a:avLst/>
          </a:prstGeom>
          <a:noFill/>
          <a:ln>
            <a:noFill/>
          </a:ln>
        </p:spPr>
      </p:pic>
      <p:pic>
        <p:nvPicPr>
          <p:cNvPr descr="&lt;math xmlns=&quot;http://www.w3.org/1998/Math/MathML&quot; display=&quot;block&quot; data-is-equatio=&quot;1&quot; data-latex=&quot;\frac{9}{25}\times50=\frac{9\times50}{25}=\frac{9\times2\times25}{25}=18\times\frac{25}{25}=18\ \times1=18&quot;&gt;&lt;mfrac&gt;&lt;mn&gt;9&lt;/mn&gt;&lt;mn&gt;25&lt;/mn&gt;&lt;/mfrac&gt;&lt;mo&gt;×&lt;/mo&gt;&lt;mn&gt;50&lt;/mn&gt;&lt;mo&gt;=&lt;/mo&gt;&lt;mfrac&gt;&lt;mrow&gt;&lt;mn&gt;9&lt;/mn&gt;&lt;mo&gt;×&lt;/mo&gt;&lt;mn&gt;50&lt;/mn&gt;&lt;/mrow&gt;&lt;mn&gt;25&lt;/mn&gt;&lt;/mfrac&gt;&lt;mo&gt;=&lt;/mo&gt;&lt;mfrac&gt;&lt;mrow&gt;&lt;mn&gt;9&lt;/mn&gt;&lt;mo&gt;×&lt;/mo&gt;&lt;mn&gt;2&lt;/mn&gt;&lt;mo&gt;×&lt;/mo&gt;&lt;mn&gt;25&lt;/mn&gt;&lt;/mrow&gt;&lt;mn&gt;25&lt;/mn&gt;&lt;/mfrac&gt;&lt;mo&gt;=&lt;/mo&gt;&lt;mn&gt;18&lt;/mn&gt;&lt;mo&gt;×&lt;/mo&gt;&lt;mfrac&gt;&lt;mn&gt;25&lt;/mn&gt;&lt;mn&gt;25&lt;/mn&gt;&lt;/mfrac&gt;&lt;mo&gt;=&lt;/mo&gt;&lt;mn&gt;18&lt;/mn&gt;&lt;mtext&gt;&lt;/mtext&gt;&lt;mo&gt;×&lt;/mo&gt;&lt;mn&gt;1&lt;/mn&gt;&lt;mo&gt;=&lt;/mo&gt;&lt;mn&gt;18&lt;/mn&gt;&lt;/math&gt;" id="928" name="Google Shape;928;p76" title="9 over 25 times 50 equals the fraction with numerator 9 times 50 and denominator 25 equals the fraction with numerator 9 times 2 times 25 and denominator 25 equals 18 times 25 over 25 equals 18 times 1 equals 18"/>
          <p:cNvPicPr preferRelativeResize="0"/>
          <p:nvPr/>
        </p:nvPicPr>
        <p:blipFill rotWithShape="1">
          <a:blip r:embed="rId5">
            <a:alphaModFix/>
          </a:blip>
          <a:srcRect b="0" l="74545" r="-2120" t="0"/>
          <a:stretch/>
        </p:blipFill>
        <p:spPr>
          <a:xfrm>
            <a:off x="6073550" y="4061150"/>
            <a:ext cx="1717936" cy="540000"/>
          </a:xfrm>
          <a:prstGeom prst="rect">
            <a:avLst/>
          </a:prstGeom>
          <a:noFill/>
          <a:ln>
            <a:noFill/>
          </a:ln>
        </p:spPr>
      </p:pic>
      <p:sp>
        <p:nvSpPr>
          <p:cNvPr id="929" name="Google Shape;929;p76"/>
          <p:cNvSpPr txBox="1"/>
          <p:nvPr/>
        </p:nvSpPr>
        <p:spPr>
          <a:xfrm>
            <a:off x="567250" y="1366050"/>
            <a:ext cx="38286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100">
                <a:solidFill>
                  <a:schemeClr val="dk1"/>
                </a:solidFill>
                <a:latin typeface="Kalam"/>
                <a:ea typeface="Kalam"/>
                <a:cs typeface="Kalam"/>
                <a:sym typeface="Kalam"/>
              </a:rPr>
              <a:t>Yes, they are both the same.</a:t>
            </a:r>
            <a:endParaRPr sz="1300"/>
          </a:p>
        </p:txBody>
      </p:sp>
      <p:graphicFrame>
        <p:nvGraphicFramePr>
          <p:cNvPr id="930" name="Google Shape;930;p76"/>
          <p:cNvGraphicFramePr/>
          <p:nvPr/>
        </p:nvGraphicFramePr>
        <p:xfrm>
          <a:off x="376925" y="1805300"/>
          <a:ext cx="3000000" cy="3000000"/>
        </p:xfrm>
        <a:graphic>
          <a:graphicData uri="http://schemas.openxmlformats.org/drawingml/2006/table">
            <a:tbl>
              <a:tblPr>
                <a:noFill/>
                <a:tableStyleId>{DFC9DB84-52D8-4539-8054-AB8EF78AA331}</a:tableStyleId>
              </a:tblPr>
              <a:tblGrid>
                <a:gridCol w="382850"/>
                <a:gridCol w="382850"/>
                <a:gridCol w="382850"/>
                <a:gridCol w="382850"/>
                <a:gridCol w="382850"/>
                <a:gridCol w="382850"/>
                <a:gridCol w="382850"/>
                <a:gridCol w="382850"/>
                <a:gridCol w="382850"/>
                <a:gridCol w="382850"/>
              </a:tblGrid>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79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936" name="Google Shape;936;p77"/>
          <p:cNvGraphicFramePr/>
          <p:nvPr/>
        </p:nvGraphicFramePr>
        <p:xfrm>
          <a:off x="5111600" y="986950"/>
          <a:ext cx="3000000" cy="3000000"/>
        </p:xfrm>
        <a:graphic>
          <a:graphicData uri="http://schemas.openxmlformats.org/drawingml/2006/table">
            <a:tbl>
              <a:tblPr>
                <a:noFill/>
                <a:tableStyleId>{DFC9DB84-52D8-4539-8054-AB8EF78AA331}</a:tableStyleId>
              </a:tblPr>
              <a:tblGrid>
                <a:gridCol w="670450"/>
                <a:gridCol w="670450"/>
                <a:gridCol w="670450"/>
                <a:gridCol w="670450"/>
                <a:gridCol w="670450"/>
              </a:tblGrid>
              <a:tr h="376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r>
              <a:tr h="376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r>
              <a:tr h="376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rgbClr val="E5559C"/>
                      </a:solidFill>
                      <a:prstDash val="solid"/>
                      <a:round/>
                      <a:headEnd len="sm" w="sm" type="none"/>
                      <a:tailEnd len="sm" w="sm" type="none"/>
                    </a:lnB>
                    <a:solidFill>
                      <a:srgbClr val="DF2C84">
                        <a:alpha val="80380"/>
                      </a:srgbClr>
                    </a:solidFill>
                  </a:tcPr>
                </a:tc>
              </a:tr>
              <a:tr h="3762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rgbClr val="E5559C"/>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937" name="Google Shape;937;p77"/>
          <p:cNvSpPr txBox="1"/>
          <p:nvPr>
            <p:ph idx="1" type="body"/>
          </p:nvPr>
        </p:nvSpPr>
        <p:spPr>
          <a:xfrm>
            <a:off x="324000" y="923375"/>
            <a:ext cx="5383800" cy="48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Here is another grid.</a:t>
            </a:r>
            <a:endParaRPr/>
          </a:p>
          <a:p>
            <a:pPr indent="0" lvl="0" marL="0" rtl="0" algn="l">
              <a:spcBef>
                <a:spcPts val="1000"/>
              </a:spcBef>
              <a:spcAft>
                <a:spcPts val="0"/>
              </a:spcAft>
              <a:buNone/>
            </a:pPr>
            <a:r>
              <a:rPr lang="en-GB"/>
              <a:t>What percentage is shaded?</a:t>
            </a:r>
            <a:endParaRPr/>
          </a:p>
          <a:p>
            <a:pPr indent="0" lvl="0" marL="0" rtl="0" algn="l">
              <a:spcBef>
                <a:spcPts val="1000"/>
              </a:spcBef>
              <a:spcAft>
                <a:spcPts val="0"/>
              </a:spcAft>
              <a:buNone/>
            </a:pPr>
            <a:r>
              <a:t/>
            </a:r>
            <a:endParaRPr sz="300"/>
          </a:p>
          <a:p>
            <a:pPr indent="0" lvl="0" marL="0" rtl="0" algn="l">
              <a:spcBef>
                <a:spcPts val="1000"/>
              </a:spcBef>
              <a:spcAft>
                <a:spcPts val="1000"/>
              </a:spcAft>
              <a:buNone/>
            </a:pPr>
            <a:r>
              <a:t/>
            </a:r>
            <a:endParaRPr/>
          </a:p>
        </p:txBody>
      </p:sp>
      <p:cxnSp>
        <p:nvCxnSpPr>
          <p:cNvPr id="938" name="Google Shape;938;p77"/>
          <p:cNvCxnSpPr/>
          <p:nvPr/>
        </p:nvCxnSpPr>
        <p:spPr>
          <a:xfrm>
            <a:off x="5108275" y="975500"/>
            <a:ext cx="3300" cy="1595400"/>
          </a:xfrm>
          <a:prstGeom prst="straightConnector1">
            <a:avLst/>
          </a:prstGeom>
          <a:noFill/>
          <a:ln cap="flat" cmpd="sng" w="28575">
            <a:solidFill>
              <a:schemeClr val="dk1"/>
            </a:solidFill>
            <a:prstDash val="solid"/>
            <a:round/>
            <a:headEnd len="med" w="med" type="none"/>
            <a:tailEnd len="med" w="med" type="none"/>
          </a:ln>
        </p:spPr>
      </p:cxnSp>
      <p:cxnSp>
        <p:nvCxnSpPr>
          <p:cNvPr id="939" name="Google Shape;939;p77"/>
          <p:cNvCxnSpPr/>
          <p:nvPr/>
        </p:nvCxnSpPr>
        <p:spPr>
          <a:xfrm>
            <a:off x="5782050" y="975500"/>
            <a:ext cx="3300" cy="1595400"/>
          </a:xfrm>
          <a:prstGeom prst="straightConnector1">
            <a:avLst/>
          </a:prstGeom>
          <a:noFill/>
          <a:ln cap="flat" cmpd="sng" w="28575">
            <a:solidFill>
              <a:schemeClr val="dk1"/>
            </a:solidFill>
            <a:prstDash val="solid"/>
            <a:round/>
            <a:headEnd len="med" w="med" type="none"/>
            <a:tailEnd len="med" w="med" type="none"/>
          </a:ln>
        </p:spPr>
      </p:cxnSp>
      <p:cxnSp>
        <p:nvCxnSpPr>
          <p:cNvPr id="940" name="Google Shape;940;p77"/>
          <p:cNvCxnSpPr/>
          <p:nvPr/>
        </p:nvCxnSpPr>
        <p:spPr>
          <a:xfrm>
            <a:off x="6452509" y="987344"/>
            <a:ext cx="0" cy="1571700"/>
          </a:xfrm>
          <a:prstGeom prst="straightConnector1">
            <a:avLst/>
          </a:prstGeom>
          <a:noFill/>
          <a:ln cap="flat" cmpd="sng" w="28575">
            <a:solidFill>
              <a:schemeClr val="dk1"/>
            </a:solidFill>
            <a:prstDash val="solid"/>
            <a:round/>
            <a:headEnd len="med" w="med" type="none"/>
            <a:tailEnd len="med" w="med" type="none"/>
          </a:ln>
        </p:spPr>
      </p:cxnSp>
      <p:cxnSp>
        <p:nvCxnSpPr>
          <p:cNvPr id="941" name="Google Shape;941;p77"/>
          <p:cNvCxnSpPr/>
          <p:nvPr/>
        </p:nvCxnSpPr>
        <p:spPr>
          <a:xfrm>
            <a:off x="7122959" y="1001753"/>
            <a:ext cx="0" cy="1555200"/>
          </a:xfrm>
          <a:prstGeom prst="straightConnector1">
            <a:avLst/>
          </a:prstGeom>
          <a:noFill/>
          <a:ln cap="flat" cmpd="sng" w="28575">
            <a:solidFill>
              <a:schemeClr val="dk1"/>
            </a:solidFill>
            <a:prstDash val="solid"/>
            <a:round/>
            <a:headEnd len="med" w="med" type="none"/>
            <a:tailEnd len="med" w="med" type="none"/>
          </a:ln>
        </p:spPr>
      </p:cxnSp>
      <p:cxnSp>
        <p:nvCxnSpPr>
          <p:cNvPr id="942" name="Google Shape;942;p77"/>
          <p:cNvCxnSpPr/>
          <p:nvPr/>
        </p:nvCxnSpPr>
        <p:spPr>
          <a:xfrm>
            <a:off x="8462790" y="995603"/>
            <a:ext cx="0" cy="1555200"/>
          </a:xfrm>
          <a:prstGeom prst="straightConnector1">
            <a:avLst/>
          </a:prstGeom>
          <a:noFill/>
          <a:ln cap="flat" cmpd="sng" w="28575">
            <a:solidFill>
              <a:schemeClr val="dk1"/>
            </a:solidFill>
            <a:prstDash val="solid"/>
            <a:round/>
            <a:headEnd len="med" w="med" type="none"/>
            <a:tailEnd len="med" w="med" type="none"/>
          </a:ln>
        </p:spPr>
      </p:cxnSp>
      <p:cxnSp>
        <p:nvCxnSpPr>
          <p:cNvPr id="943" name="Google Shape;943;p77"/>
          <p:cNvCxnSpPr/>
          <p:nvPr/>
        </p:nvCxnSpPr>
        <p:spPr>
          <a:xfrm>
            <a:off x="7793409" y="1001753"/>
            <a:ext cx="0" cy="1555200"/>
          </a:xfrm>
          <a:prstGeom prst="straightConnector1">
            <a:avLst/>
          </a:prstGeom>
          <a:noFill/>
          <a:ln cap="flat" cmpd="sng" w="28575">
            <a:solidFill>
              <a:schemeClr val="dk1"/>
            </a:solidFill>
            <a:prstDash val="solid"/>
            <a:round/>
            <a:headEnd len="med" w="med" type="none"/>
            <a:tailEnd len="med" w="med" type="none"/>
          </a:ln>
        </p:spPr>
      </p:cxnSp>
      <p:pic>
        <p:nvPicPr>
          <p:cNvPr descr="&lt;math xmlns=&quot;http://www.w3.org/1998/Math/MathML&quot; display=&quot;block&quot; data-is-equatio=&quot;1&quot; data-latex=&quot;\frac{7.5}{10}=\frac{7.5\times10}{10\times10}=\frac{75}{100}=75\%&quot;&gt;&lt;mfrac&gt;&lt;mn&gt;7.5&lt;/mn&gt;&lt;mn&gt;10&lt;/mn&gt;&lt;/mfrac&gt;&lt;mo&gt;=&lt;/mo&gt;&lt;mfrac&gt;&lt;mrow&gt;&lt;mn&gt;7.5&lt;/mn&gt;&lt;mo&gt;×&lt;/mo&gt;&lt;mn&gt;10&lt;/mn&gt;&lt;/mrow&gt;&lt;mrow&gt;&lt;mn&gt;10&lt;/mn&gt;&lt;mo&gt;×&lt;/mo&gt;&lt;mn&gt;10&lt;/mn&gt;&lt;/mrow&gt;&lt;/mfrac&gt;&lt;mo&gt;=&lt;/mo&gt;&lt;mfrac&gt;&lt;mn&gt;75&lt;/mn&gt;&lt;mn&gt;100&lt;/mn&gt;&lt;/mfrac&gt;&lt;mo&gt;=&lt;/mo&gt;&lt;mn&gt;75&lt;/mn&gt;&lt;mi mathvariant=&quot;normal&quot;&gt;%&lt;/mi&gt;&lt;/math&gt;" id="944" name="Google Shape;944;p77" title="7.5 over 10 equals the fraction with numerator 7.5 times 10 and denominator 10 times 10 equals 75 over 100 equals 75 percent sign"/>
          <p:cNvPicPr preferRelativeResize="0"/>
          <p:nvPr/>
        </p:nvPicPr>
        <p:blipFill rotWithShape="1">
          <a:blip r:embed="rId3">
            <a:alphaModFix/>
          </a:blip>
          <a:srcRect b="0" l="0" r="85206" t="0"/>
          <a:stretch/>
        </p:blipFill>
        <p:spPr>
          <a:xfrm>
            <a:off x="1601900" y="2978450"/>
            <a:ext cx="703425" cy="801550"/>
          </a:xfrm>
          <a:prstGeom prst="rect">
            <a:avLst/>
          </a:prstGeom>
          <a:noFill/>
          <a:ln>
            <a:noFill/>
          </a:ln>
        </p:spPr>
      </p:pic>
      <p:sp>
        <p:nvSpPr>
          <p:cNvPr id="945" name="Google Shape;945;p77"/>
          <p:cNvSpPr txBox="1"/>
          <p:nvPr/>
        </p:nvSpPr>
        <p:spPr>
          <a:xfrm>
            <a:off x="868500" y="3908250"/>
            <a:ext cx="69030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2300">
                <a:solidFill>
                  <a:schemeClr val="dk1"/>
                </a:solidFill>
                <a:latin typeface="Lexend"/>
                <a:ea typeface="Lexend"/>
                <a:cs typeface="Lexend"/>
                <a:sym typeface="Lexend"/>
              </a:rPr>
              <a:t>75% is shaded</a:t>
            </a:r>
            <a:endParaRPr sz="1500"/>
          </a:p>
        </p:txBody>
      </p:sp>
      <p:pic>
        <p:nvPicPr>
          <p:cNvPr descr="&lt;math xmlns=&quot;http://www.w3.org/1998/Math/MathML&quot; display=&quot;block&quot; data-is-equatio=&quot;1&quot; data-latex=&quot;\frac{7.5}{10}=\frac{7.5\times10}{10\times10}=\frac{75}{100}=75\%&quot;&gt;&lt;mfrac&gt;&lt;mn&gt;7.5&lt;/mn&gt;&lt;mn&gt;10&lt;/mn&gt;&lt;/mfrac&gt;&lt;mo&gt;=&lt;/mo&gt;&lt;mfrac&gt;&lt;mrow&gt;&lt;mn&gt;7.5&lt;/mn&gt;&lt;mo&gt;×&lt;/mo&gt;&lt;mn&gt;10&lt;/mn&gt;&lt;/mrow&gt;&lt;mrow&gt;&lt;mn&gt;10&lt;/mn&gt;&lt;mo&gt;×&lt;/mo&gt;&lt;mn&gt;10&lt;/mn&gt;&lt;/mrow&gt;&lt;/mfrac&gt;&lt;mo&gt;=&lt;/mo&gt;&lt;mfrac&gt;&lt;mn&gt;75&lt;/mn&gt;&lt;mn&gt;100&lt;/mn&gt;&lt;/mfrac&gt;&lt;mo&gt;=&lt;/mo&gt;&lt;mn&gt;75&lt;/mn&gt;&lt;mi mathvariant=&quot;normal&quot;&gt;%&lt;/mi&gt;&lt;/math&gt;" id="946" name="Google Shape;946;p77" title="7.5 over 10 equals the fraction with numerator 7.5 times 10 and denominator 10 times 10 equals 75 over 100 equals 75 percent sign"/>
          <p:cNvPicPr preferRelativeResize="0"/>
          <p:nvPr/>
        </p:nvPicPr>
        <p:blipFill rotWithShape="1">
          <a:blip r:embed="rId3">
            <a:alphaModFix/>
          </a:blip>
          <a:srcRect b="0" l="13498" r="47031" t="0"/>
          <a:stretch/>
        </p:blipFill>
        <p:spPr>
          <a:xfrm>
            <a:off x="2250125" y="2978450"/>
            <a:ext cx="1876775" cy="801550"/>
          </a:xfrm>
          <a:prstGeom prst="rect">
            <a:avLst/>
          </a:prstGeom>
          <a:noFill/>
          <a:ln>
            <a:noFill/>
          </a:ln>
        </p:spPr>
      </p:pic>
      <p:pic>
        <p:nvPicPr>
          <p:cNvPr descr="&lt;math xmlns=&quot;http://www.w3.org/1998/Math/MathML&quot; display=&quot;block&quot; data-is-equatio=&quot;1&quot; data-latex=&quot;\frac{7.5}{10}=\frac{7.5\times10}{10\times10}=\frac{75}{100}=75\%&quot;&gt;&lt;mfrac&gt;&lt;mn&gt;7.5&lt;/mn&gt;&lt;mn&gt;10&lt;/mn&gt;&lt;/mfrac&gt;&lt;mo&gt;=&lt;/mo&gt;&lt;mfrac&gt;&lt;mrow&gt;&lt;mn&gt;7.5&lt;/mn&gt;&lt;mo&gt;×&lt;/mo&gt;&lt;mn&gt;10&lt;/mn&gt;&lt;/mrow&gt;&lt;mrow&gt;&lt;mn&gt;10&lt;/mn&gt;&lt;mo&gt;×&lt;/mo&gt;&lt;mn&gt;10&lt;/mn&gt;&lt;/mrow&gt;&lt;/mfrac&gt;&lt;mo&gt;=&lt;/mo&gt;&lt;mfrac&gt;&lt;mn&gt;75&lt;/mn&gt;&lt;mn&gt;100&lt;/mn&gt;&lt;/mfrac&gt;&lt;mo&gt;=&lt;/mo&gt;&lt;mn&gt;75&lt;/mn&gt;&lt;mi mathvariant=&quot;normal&quot;&gt;%&lt;/mi&gt;&lt;/math&gt;" id="947" name="Google Shape;947;p77" title="7.5 over 10 equals the fraction with numerator 7.5 times 10 and denominator 10 times 10 equals 75 over 100 equals 75 percent sign"/>
          <p:cNvPicPr preferRelativeResize="0"/>
          <p:nvPr/>
        </p:nvPicPr>
        <p:blipFill rotWithShape="1">
          <a:blip r:embed="rId3">
            <a:alphaModFix/>
          </a:blip>
          <a:srcRect b="0" l="52535" r="22643" t="0"/>
          <a:stretch/>
        </p:blipFill>
        <p:spPr>
          <a:xfrm>
            <a:off x="4126900" y="2978450"/>
            <a:ext cx="1180174" cy="801550"/>
          </a:xfrm>
          <a:prstGeom prst="rect">
            <a:avLst/>
          </a:prstGeom>
          <a:noFill/>
          <a:ln>
            <a:noFill/>
          </a:ln>
        </p:spPr>
      </p:pic>
      <p:pic>
        <p:nvPicPr>
          <p:cNvPr descr="&lt;math xmlns=&quot;http://www.w3.org/1998/Math/MathML&quot; display=&quot;block&quot; data-is-equatio=&quot;1&quot; data-latex=&quot;\frac{7.5}{10}=\frac{7.5\times10}{10\times10}=\frac{75}{100}=75\%&quot;&gt;&lt;mfrac&gt;&lt;mn&gt;7.5&lt;/mn&gt;&lt;mn&gt;10&lt;/mn&gt;&lt;/mfrac&gt;&lt;mo&gt;=&lt;/mo&gt;&lt;mfrac&gt;&lt;mrow&gt;&lt;mn&gt;7.5&lt;/mn&gt;&lt;mo&gt;×&lt;/mo&gt;&lt;mn&gt;10&lt;/mn&gt;&lt;/mrow&gt;&lt;mrow&gt;&lt;mn&gt;10&lt;/mn&gt;&lt;mo&gt;×&lt;/mo&gt;&lt;mn&gt;10&lt;/mn&gt;&lt;/mrow&gt;&lt;/mfrac&gt;&lt;mo&gt;=&lt;/mo&gt;&lt;mfrac&gt;&lt;mn&gt;75&lt;/mn&gt;&lt;mn&gt;100&lt;/mn&gt;&lt;/mfrac&gt;&lt;mo&gt;=&lt;/mo&gt;&lt;mn&gt;75&lt;/mn&gt;&lt;mi mathvariant=&quot;normal&quot;&gt;%&lt;/mi&gt;&lt;/math&gt;" id="948" name="Google Shape;948;p77" title="7.5 over 10 equals the fraction with numerator 7.5 times 10 and denominator 10 times 10 equals 75 over 100 equals 75 percent sign"/>
          <p:cNvPicPr preferRelativeResize="0"/>
          <p:nvPr/>
        </p:nvPicPr>
        <p:blipFill rotWithShape="1">
          <a:blip r:embed="rId3">
            <a:alphaModFix/>
          </a:blip>
          <a:srcRect b="0" l="76199" r="-1747" t="0"/>
          <a:stretch/>
        </p:blipFill>
        <p:spPr>
          <a:xfrm>
            <a:off x="5307074" y="2978450"/>
            <a:ext cx="1214776" cy="801550"/>
          </a:xfrm>
          <a:prstGeom prst="rect">
            <a:avLst/>
          </a:prstGeom>
          <a:noFill/>
          <a:ln>
            <a:noFill/>
          </a:ln>
        </p:spPr>
      </p:pic>
      <p:sp>
        <p:nvSpPr>
          <p:cNvPr id="949" name="Google Shape;949;p77"/>
          <p:cNvSpPr txBox="1"/>
          <p:nvPr/>
        </p:nvSpPr>
        <p:spPr>
          <a:xfrm>
            <a:off x="324000" y="2257200"/>
            <a:ext cx="2506500" cy="354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300">
                <a:solidFill>
                  <a:schemeClr val="dk1"/>
                </a:solidFill>
                <a:latin typeface="Lexend"/>
                <a:ea typeface="Lexend"/>
                <a:cs typeface="Lexend"/>
                <a:sym typeface="Lexend"/>
              </a:rPr>
              <a:t>Using fractions,</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78"/>
          <p:cNvSpPr txBox="1"/>
          <p:nvPr>
            <p:ph idx="1" type="body"/>
          </p:nvPr>
        </p:nvSpPr>
        <p:spPr>
          <a:xfrm>
            <a:off x="324000" y="759300"/>
            <a:ext cx="7275000" cy="41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What percentage of each bar is shaded?</a:t>
            </a:r>
            <a:endParaRPr/>
          </a:p>
          <a:p>
            <a:pPr indent="0" lvl="0" marL="0" rtl="0" algn="l">
              <a:spcBef>
                <a:spcPts val="1000"/>
              </a:spcBef>
              <a:spcAft>
                <a:spcPts val="0"/>
              </a:spcAft>
              <a:buNone/>
            </a:pPr>
            <a:r>
              <a:rPr lang="en-GB"/>
              <a:t>a)</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955" name="Google Shape;955;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956" name="Google Shape;956;p78"/>
          <p:cNvGraphicFramePr/>
          <p:nvPr/>
        </p:nvGraphicFramePr>
        <p:xfrm>
          <a:off x="938144" y="1419788"/>
          <a:ext cx="3000000" cy="3000000"/>
        </p:xfrm>
        <a:graphic>
          <a:graphicData uri="http://schemas.openxmlformats.org/drawingml/2006/table">
            <a:tbl>
              <a:tblPr>
                <a:noFill/>
                <a:tableStyleId>{DFC9DB84-52D8-4539-8054-AB8EF78AA331}</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58902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lt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lt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lt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957" name="Google Shape;957;p78"/>
          <p:cNvGraphicFramePr/>
          <p:nvPr/>
        </p:nvGraphicFramePr>
        <p:xfrm>
          <a:off x="880650" y="3124700"/>
          <a:ext cx="3000000" cy="3000000"/>
        </p:xfrm>
        <a:graphic>
          <a:graphicData uri="http://schemas.openxmlformats.org/drawingml/2006/table">
            <a:tbl>
              <a:tblPr>
                <a:noFill/>
                <a:tableStyleId>{DFC9DB84-52D8-4539-8054-AB8EF78AA331}</a:tableStyleId>
              </a:tblPr>
              <a:tblGrid>
                <a:gridCol w="385725"/>
                <a:gridCol w="385725"/>
                <a:gridCol w="385725"/>
                <a:gridCol w="385725"/>
                <a:gridCol w="385725"/>
                <a:gridCol w="385725"/>
                <a:gridCol w="385725"/>
                <a:gridCol w="385725"/>
                <a:gridCol w="385725"/>
                <a:gridCol w="385725"/>
                <a:gridCol w="385725"/>
                <a:gridCol w="385725"/>
                <a:gridCol w="385725"/>
                <a:gridCol w="385725"/>
                <a:gridCol w="385725"/>
                <a:gridCol w="385725"/>
                <a:gridCol w="385725"/>
                <a:gridCol w="385725"/>
                <a:gridCol w="385725"/>
                <a:gridCol w="385725"/>
              </a:tblGrid>
              <a:tr h="1073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rgbClr val="E3529B"/>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E3529B"/>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rgbClr val="D9D9D9"/>
                      </a:solidFill>
                      <a:prstDash val="dot"/>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F2C84">
                        <a:alpha val="80380"/>
                      </a:srgbClr>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rgbClr val="D9D9D9"/>
                      </a:solidFill>
                      <a:prstDash val="dot"/>
                      <a:round/>
                      <a:headEnd len="sm" w="sm" type="none"/>
                      <a:tailEnd len="sm" w="sm" type="none"/>
                    </a:lnL>
                    <a:lnR cap="flat" cmpd="sng" w="28575">
                      <a:solidFill>
                        <a:srgbClr val="D9D9D9"/>
                      </a:solidFill>
                      <a:prstDash val="dot"/>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D9D9D9"/>
                      </a:solidFill>
                      <a:prstDash val="dot"/>
                      <a:round/>
                      <a:headEnd len="sm" w="sm" type="none"/>
                      <a:tailEnd len="sm" w="sm" type="none"/>
                    </a:lnL>
                    <a:lnR cap="flat" cmpd="sng" w="28575">
                      <a:solidFill>
                        <a:srgbClr val="D9D9D9"/>
                      </a:solidFill>
                      <a:prstDash val="dot"/>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D9D9D9"/>
                      </a:solidFill>
                      <a:prstDash val="dot"/>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alpha val="0"/>
                        </a:schemeClr>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alpha val="0"/>
                        </a:scheme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6.5}{10}=\frac{6.5\times10}{10\times10}=\frac{65}{100}=65\%&quot;&gt;&lt;mfrac&gt;&lt;mn&gt;6.5&lt;/mn&gt;&lt;mn&gt;10&lt;/mn&gt;&lt;/mfrac&gt;&lt;mo&gt;=&lt;/mo&gt;&lt;mfrac&gt;&lt;mrow&gt;&lt;mn&gt;6.5&lt;/mn&gt;&lt;mo&gt;×&lt;/mo&gt;&lt;mn&gt;10&lt;/mn&gt;&lt;/mrow&gt;&lt;mrow&gt;&lt;mn&gt;10&lt;/mn&gt;&lt;mo&gt;×&lt;/mo&gt;&lt;mn&gt;10&lt;/mn&gt;&lt;/mrow&gt;&lt;/mfrac&gt;&lt;mo&gt;=&lt;/mo&gt;&lt;mfrac&gt;&lt;mn&gt;65&lt;/mn&gt;&lt;mn&gt;100&lt;/mn&gt;&lt;/mfrac&gt;&lt;mo&gt;=&lt;/mo&gt;&lt;mn&gt;65&lt;/mn&gt;&lt;mi mathvariant=&quot;normal&quot;&gt;%&lt;/mi&gt;&lt;/math&gt;" id="958" name="Google Shape;958;p78" title="6.5 over 10 equals the fraction with numerator 6.5 times 10 and denominator 10 times 10 equals 65 over 100 equals 65 percent sign"/>
          <p:cNvPicPr preferRelativeResize="0"/>
          <p:nvPr/>
        </p:nvPicPr>
        <p:blipFill rotWithShape="1">
          <a:blip r:embed="rId3">
            <a:alphaModFix/>
          </a:blip>
          <a:srcRect b="0" l="0" r="46138" t="0"/>
          <a:stretch/>
        </p:blipFill>
        <p:spPr>
          <a:xfrm>
            <a:off x="938150" y="2266950"/>
            <a:ext cx="2115926" cy="661425"/>
          </a:xfrm>
          <a:prstGeom prst="rect">
            <a:avLst/>
          </a:prstGeom>
          <a:noFill/>
          <a:ln>
            <a:noFill/>
          </a:ln>
        </p:spPr>
      </p:pic>
      <p:pic>
        <p:nvPicPr>
          <p:cNvPr descr="&lt;math xmlns=&quot;http://www.w3.org/1998/Math/MathML&quot; display=&quot;block&quot; data-is-equatio=&quot;1&quot; data-latex=&quot;\frac{6.5}{10}=\frac{6.5\times10}{10\times10}=\frac{65}{100}=65\%&quot;&gt;&lt;mfrac&gt;&lt;mn&gt;6.5&lt;/mn&gt;&lt;mn&gt;10&lt;/mn&gt;&lt;/mfrac&gt;&lt;mo&gt;=&lt;/mo&gt;&lt;mfrac&gt;&lt;mrow&gt;&lt;mn&gt;6.5&lt;/mn&gt;&lt;mo&gt;×&lt;/mo&gt;&lt;mn&gt;10&lt;/mn&gt;&lt;/mrow&gt;&lt;mrow&gt;&lt;mn&gt;10&lt;/mn&gt;&lt;mo&gt;×&lt;/mo&gt;&lt;mn&gt;10&lt;/mn&gt;&lt;/mrow&gt;&lt;/mfrac&gt;&lt;mo&gt;=&lt;/mo&gt;&lt;mfrac&gt;&lt;mn&gt;65&lt;/mn&gt;&lt;mn&gt;100&lt;/mn&gt;&lt;/mfrac&gt;&lt;mo&gt;=&lt;/mo&gt;&lt;mn&gt;65&lt;/mn&gt;&lt;mi mathvariant=&quot;normal&quot;&gt;%&lt;/mi&gt;&lt;/math&gt;" id="959" name="Google Shape;959;p78" title="6.5 over 10 equals the fraction with numerator 6.5 times 10 and denominator 10 times 10 equals 65 over 100 equals 65 percent sign"/>
          <p:cNvPicPr preferRelativeResize="0"/>
          <p:nvPr/>
        </p:nvPicPr>
        <p:blipFill rotWithShape="1">
          <a:blip r:embed="rId3">
            <a:alphaModFix/>
          </a:blip>
          <a:srcRect b="0" l="52099" r="-2696" t="0"/>
          <a:stretch/>
        </p:blipFill>
        <p:spPr>
          <a:xfrm>
            <a:off x="3235250" y="2266950"/>
            <a:ext cx="1987824" cy="661425"/>
          </a:xfrm>
          <a:prstGeom prst="rect">
            <a:avLst/>
          </a:prstGeom>
          <a:noFill/>
          <a:ln>
            <a:noFill/>
          </a:ln>
        </p:spPr>
      </p:pic>
      <p:pic>
        <p:nvPicPr>
          <p:cNvPr descr="&lt;math xmlns=&quot;http://www.w3.org/1998/Math/MathML&quot; display=&quot;block&quot; data-is-equatio=&quot;1&quot; data-latex=&quot;\frac{2.25}{5}=\frac{2.25\times20}{5\times20}=\frac{45}{100}=45\%&quot;&gt;&lt;mfrac&gt;&lt;mn&gt;2.25&lt;/mn&gt;&lt;mn&gt;5&lt;/mn&gt;&lt;/mfrac&gt;&lt;mo&gt;=&lt;/mo&gt;&lt;mfrac&gt;&lt;mrow&gt;&lt;mn&gt;2.25&lt;/mn&gt;&lt;mo&gt;×&lt;/mo&gt;&lt;mn&gt;20&lt;/mn&gt;&lt;/mrow&gt;&lt;mrow&gt;&lt;mn&gt;5&lt;/mn&gt;&lt;mo&gt;×&lt;/mo&gt;&lt;mn&gt;20&lt;/mn&gt;&lt;/mrow&gt;&lt;/mfrac&gt;&lt;mo&gt;=&lt;/mo&gt;&lt;mfrac&gt;&lt;mn&gt;45&lt;/mn&gt;&lt;mn&gt;100&lt;/mn&gt;&lt;/mfrac&gt;&lt;mo&gt;=&lt;/mo&gt;&lt;mn&gt;45&lt;/mn&gt;&lt;mi mathvariant=&quot;normal&quot;&gt;%&lt;/mi&gt;&lt;/math&gt;" id="960" name="Google Shape;960;p78" title="2.25 over 5 equals the fraction with numerator 2.25 times 20 and denominator 5 times 20 equals 45 over 100 equals 45 percent sign"/>
          <p:cNvPicPr preferRelativeResize="0"/>
          <p:nvPr/>
        </p:nvPicPr>
        <p:blipFill rotWithShape="1">
          <a:blip r:embed="rId4">
            <a:alphaModFix/>
          </a:blip>
          <a:srcRect b="0" l="0" r="83287" t="0"/>
          <a:stretch/>
        </p:blipFill>
        <p:spPr>
          <a:xfrm>
            <a:off x="909400" y="3707738"/>
            <a:ext cx="783250" cy="731575"/>
          </a:xfrm>
          <a:prstGeom prst="rect">
            <a:avLst/>
          </a:prstGeom>
          <a:noFill/>
          <a:ln>
            <a:noFill/>
          </a:ln>
        </p:spPr>
      </p:pic>
      <p:pic>
        <p:nvPicPr>
          <p:cNvPr descr="&lt;math xmlns=&quot;http://www.w3.org/1998/Math/MathML&quot; display=&quot;block&quot; data-is-equatio=&quot;1&quot; data-latex=&quot;\frac{2.25}{5}=\frac{2.25\times20}{5\times20}=\frac{45}{100}=45\%&quot;&gt;&lt;mfrac&gt;&lt;mn&gt;2.25&lt;/mn&gt;&lt;mn&gt;5&lt;/mn&gt;&lt;/mfrac&gt;&lt;mo&gt;=&lt;/mo&gt;&lt;mfrac&gt;&lt;mrow&gt;&lt;mn&gt;2.25&lt;/mn&gt;&lt;mo&gt;×&lt;/mo&gt;&lt;mn&gt;20&lt;/mn&gt;&lt;/mrow&gt;&lt;mrow&gt;&lt;mn&gt;5&lt;/mn&gt;&lt;mo&gt;×&lt;/mo&gt;&lt;mn&gt;20&lt;/mn&gt;&lt;/mrow&gt;&lt;/mfrac&gt;&lt;mo&gt;=&lt;/mo&gt;&lt;mfrac&gt;&lt;mn&gt;45&lt;/mn&gt;&lt;mn&gt;100&lt;/mn&gt;&lt;/mfrac&gt;&lt;mo&gt;=&lt;/mo&gt;&lt;mn&gt;45&lt;/mn&gt;&lt;mi mathvariant=&quot;normal&quot;&gt;%&lt;/mi&gt;&lt;/math&gt;" id="961" name="Google Shape;961;p78" title="2.25 over 5 equals the fraction with numerator 2.25 times 20 and denominator 5 times 20 equals 45 over 100 equals 45 percent sign"/>
          <p:cNvPicPr preferRelativeResize="0"/>
          <p:nvPr/>
        </p:nvPicPr>
        <p:blipFill rotWithShape="1">
          <a:blip r:embed="rId4">
            <a:alphaModFix/>
          </a:blip>
          <a:srcRect b="0" l="14727" r="43741" t="0"/>
          <a:stretch/>
        </p:blipFill>
        <p:spPr>
          <a:xfrm>
            <a:off x="1651250" y="3707738"/>
            <a:ext cx="1946400" cy="731575"/>
          </a:xfrm>
          <a:prstGeom prst="rect">
            <a:avLst/>
          </a:prstGeom>
          <a:noFill/>
          <a:ln>
            <a:noFill/>
          </a:ln>
        </p:spPr>
      </p:pic>
      <p:pic>
        <p:nvPicPr>
          <p:cNvPr descr="&lt;math xmlns=&quot;http://www.w3.org/1998/Math/MathML&quot; display=&quot;block&quot; data-is-equatio=&quot;1&quot; data-latex=&quot;\frac{2.25}{5}=\frac{2.25\times20}{5\times20}=\frac{45}{100}=45\%&quot;&gt;&lt;mfrac&gt;&lt;mn&gt;2.25&lt;/mn&gt;&lt;mn&gt;5&lt;/mn&gt;&lt;/mfrac&gt;&lt;mo&gt;=&lt;/mo&gt;&lt;mfrac&gt;&lt;mrow&gt;&lt;mn&gt;2.25&lt;/mn&gt;&lt;mo&gt;×&lt;/mo&gt;&lt;mn&gt;20&lt;/mn&gt;&lt;/mrow&gt;&lt;mrow&gt;&lt;mn&gt;5&lt;/mn&gt;&lt;mo&gt;×&lt;/mo&gt;&lt;mn&gt;20&lt;/mn&gt;&lt;/mrow&gt;&lt;/mfrac&gt;&lt;mo&gt;=&lt;/mo&gt;&lt;mfrac&gt;&lt;mn&gt;45&lt;/mn&gt;&lt;mn&gt;100&lt;/mn&gt;&lt;/mfrac&gt;&lt;mo&gt;=&lt;/mo&gt;&lt;mn&gt;45&lt;/mn&gt;&lt;mi mathvariant=&quot;normal&quot;&gt;%&lt;/mi&gt;&lt;/math&gt;" id="962" name="Google Shape;962;p78" title="2.25 over 5 equals the fraction with numerator 2.25 times 20 and denominator 5 times 20 equals 45 over 100 equals 45 percent sign"/>
          <p:cNvPicPr preferRelativeResize="0"/>
          <p:nvPr/>
        </p:nvPicPr>
        <p:blipFill rotWithShape="1">
          <a:blip r:embed="rId4">
            <a:alphaModFix/>
          </a:blip>
          <a:srcRect b="0" l="56131" r="-2651" t="0"/>
          <a:stretch/>
        </p:blipFill>
        <p:spPr>
          <a:xfrm>
            <a:off x="3733938" y="3707738"/>
            <a:ext cx="2180125" cy="731575"/>
          </a:xfrm>
          <a:prstGeom prst="rect">
            <a:avLst/>
          </a:prstGeom>
          <a:noFill/>
          <a:ln>
            <a:noFill/>
          </a:ln>
        </p:spPr>
      </p:pic>
      <p:sp>
        <p:nvSpPr>
          <p:cNvPr id="963" name="Google Shape;963;p78"/>
          <p:cNvSpPr txBox="1"/>
          <p:nvPr/>
        </p:nvSpPr>
        <p:spPr>
          <a:xfrm>
            <a:off x="247800" y="3008325"/>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969" name="Google Shape;969;p79"/>
          <p:cNvGraphicFramePr/>
          <p:nvPr/>
        </p:nvGraphicFramePr>
        <p:xfrm>
          <a:off x="5844475" y="657875"/>
          <a:ext cx="3000000" cy="3000000"/>
        </p:xfrm>
        <a:graphic>
          <a:graphicData uri="http://schemas.openxmlformats.org/drawingml/2006/table">
            <a:tbl>
              <a:tblPr>
                <a:noFill/>
                <a:tableStyleId>{DFC9DB84-52D8-4539-8054-AB8EF78AA331}</a:tableStyleId>
              </a:tblPr>
              <a:tblGrid>
                <a:gridCol w="382850"/>
                <a:gridCol w="382850"/>
                <a:gridCol w="382850"/>
                <a:gridCol w="382850"/>
                <a:gridCol w="382850"/>
              </a:tblGrid>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22592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bl>
          </a:graphicData>
        </a:graphic>
      </p:graphicFrame>
      <p:graphicFrame>
        <p:nvGraphicFramePr>
          <p:cNvPr id="970" name="Google Shape;970;p79"/>
          <p:cNvGraphicFramePr/>
          <p:nvPr/>
        </p:nvGraphicFramePr>
        <p:xfrm>
          <a:off x="5959206" y="2755225"/>
          <a:ext cx="3000000" cy="3000000"/>
        </p:xfrm>
        <a:graphic>
          <a:graphicData uri="http://schemas.openxmlformats.org/drawingml/2006/table">
            <a:tbl>
              <a:tblPr>
                <a:noFill/>
                <a:tableStyleId>{DFC9DB84-52D8-4539-8054-AB8EF78AA331}</a:tableStyleId>
              </a:tblPr>
              <a:tblGrid>
                <a:gridCol w="421200"/>
                <a:gridCol w="421200"/>
                <a:gridCol w="421200"/>
                <a:gridCol w="421200"/>
              </a:tblGrid>
              <a:tr h="828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bl>
          </a:graphicData>
        </a:graphic>
      </p:graphicFrame>
      <p:sp>
        <p:nvSpPr>
          <p:cNvPr id="971" name="Google Shape;971;p79"/>
          <p:cNvSpPr txBox="1"/>
          <p:nvPr>
            <p:ph idx="4294967295" type="body"/>
          </p:nvPr>
        </p:nvSpPr>
        <p:spPr>
          <a:xfrm>
            <a:off x="324000" y="810000"/>
            <a:ext cx="5383800" cy="4521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AutoNum type="arabicParenR"/>
            </a:pPr>
            <a:r>
              <a:rPr lang="en-GB" sz="1800"/>
              <a:t>What proportion of the grid is shaded?</a:t>
            </a:r>
            <a:endParaRPr sz="1800"/>
          </a:p>
          <a:p>
            <a:pPr indent="0" lvl="0" marL="457200" rtl="0" algn="l">
              <a:lnSpc>
                <a:spcPct val="150000"/>
              </a:lnSpc>
              <a:spcBef>
                <a:spcPts val="0"/>
              </a:spcBef>
              <a:spcAft>
                <a:spcPts val="0"/>
              </a:spcAft>
              <a:buNone/>
            </a:pPr>
            <a:r>
              <a:rPr lang="en-GB" sz="1800"/>
              <a:t>Give your answer as a percentage and a fraction.</a:t>
            </a:r>
            <a:endParaRPr sz="1800"/>
          </a:p>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lnSpc>
                <a:spcPct val="150000"/>
              </a:lnSpc>
              <a:spcBef>
                <a:spcPts val="1000"/>
              </a:spcBef>
              <a:spcAft>
                <a:spcPts val="0"/>
              </a:spcAft>
              <a:buNone/>
            </a:pPr>
            <a:r>
              <a:rPr lang="en-GB" sz="1800"/>
              <a:t>2a) What proportion of the grid is shaded?</a:t>
            </a:r>
            <a:endParaRPr sz="1800"/>
          </a:p>
          <a:p>
            <a:pPr indent="0" lvl="0" marL="457200" rtl="0" algn="l">
              <a:lnSpc>
                <a:spcPct val="150000"/>
              </a:lnSpc>
              <a:spcBef>
                <a:spcPts val="0"/>
              </a:spcBef>
              <a:spcAft>
                <a:spcPts val="0"/>
              </a:spcAft>
              <a:buNone/>
            </a:pPr>
            <a:r>
              <a:rPr lang="en-GB" sz="1800"/>
              <a:t>Give your answer as a percentage and a fraction.</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80"/>
          <p:cNvSpPr txBox="1"/>
          <p:nvPr>
            <p:ph idx="1" type="body"/>
          </p:nvPr>
        </p:nvSpPr>
        <p:spPr>
          <a:xfrm>
            <a:off x="324000" y="759300"/>
            <a:ext cx="57795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2b</a:t>
            </a:r>
            <a:r>
              <a:rPr lang="en-GB" sz="1800"/>
              <a:t>) What percentage is shaded on the 100 grid on the right?</a:t>
            </a:r>
            <a:endParaRPr sz="1800"/>
          </a:p>
          <a:p>
            <a:pPr indent="0" lvl="0" marL="0" rtl="0" algn="l">
              <a:spcBef>
                <a:spcPts val="1000"/>
              </a:spcBef>
              <a:spcAft>
                <a:spcPts val="0"/>
              </a:spcAft>
              <a:buNone/>
            </a:pPr>
            <a:r>
              <a:rPr lang="en-GB" sz="1800"/>
              <a:t>Shade the same percentage on grids A to D.</a:t>
            </a:r>
            <a:endParaRPr sz="1800"/>
          </a:p>
          <a:p>
            <a:pPr indent="0" lvl="0" marL="0" rtl="0" algn="l">
              <a:spcBef>
                <a:spcPts val="1000"/>
              </a:spcBef>
              <a:spcAft>
                <a:spcPts val="1000"/>
              </a:spcAft>
              <a:buNone/>
            </a:pPr>
            <a:r>
              <a:t/>
            </a:r>
            <a:endParaRPr/>
          </a:p>
        </p:txBody>
      </p:sp>
      <p:sp>
        <p:nvSpPr>
          <p:cNvPr id="977" name="Google Shape;977;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978" name="Google Shape;978;p80"/>
          <p:cNvGraphicFramePr/>
          <p:nvPr/>
        </p:nvGraphicFramePr>
        <p:xfrm>
          <a:off x="6257075" y="759300"/>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979" name="Google Shape;979;p80"/>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980" name="Google Shape;980;p80"/>
          <p:cNvGraphicFramePr/>
          <p:nvPr/>
        </p:nvGraphicFramePr>
        <p:xfrm>
          <a:off x="4163575" y="2043475"/>
          <a:ext cx="3000000" cy="3000000"/>
        </p:xfrm>
        <a:graphic>
          <a:graphicData uri="http://schemas.openxmlformats.org/drawingml/2006/table">
            <a:tbl>
              <a:tblPr>
                <a:noFill/>
                <a:tableStyleId>{DFC9DB84-52D8-4539-8054-AB8EF78AA331}</a:tableStyleId>
              </a:tblPr>
              <a:tblGrid>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981" name="Google Shape;981;p80"/>
          <p:cNvGraphicFramePr/>
          <p:nvPr/>
        </p:nvGraphicFramePr>
        <p:xfrm>
          <a:off x="2197700" y="2312150"/>
          <a:ext cx="3000000" cy="3000000"/>
        </p:xfrm>
        <a:graphic>
          <a:graphicData uri="http://schemas.openxmlformats.org/drawingml/2006/table">
            <a:tbl>
              <a:tblPr>
                <a:noFill/>
                <a:tableStyleId>{DFC9DB84-52D8-4539-8054-AB8EF78AA331}</a:tableStyleId>
              </a:tblPr>
              <a:tblGrid>
                <a:gridCol w="306275"/>
                <a:gridCol w="306275"/>
                <a:gridCol w="306275"/>
                <a:gridCol w="306275"/>
                <a:gridCol w="306275"/>
              </a:tblGrid>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982" name="Google Shape;982;p80"/>
          <p:cNvGraphicFramePr/>
          <p:nvPr/>
        </p:nvGraphicFramePr>
        <p:xfrm>
          <a:off x="5774400" y="3908875"/>
          <a:ext cx="3000000" cy="3000000"/>
        </p:xfrm>
        <a:graphic>
          <a:graphicData uri="http://schemas.openxmlformats.org/drawingml/2006/table">
            <a:tbl>
              <a:tblPr>
                <a:noFill/>
                <a:tableStyleId>{DFC9DB84-52D8-4539-8054-AB8EF78AA331}</a:tableStyleId>
              </a:tblPr>
              <a:tblGrid>
                <a:gridCol w="1132200"/>
                <a:gridCol w="1132200"/>
              </a:tblGrid>
              <a:tr h="668950">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983" name="Google Shape;983;p80"/>
          <p:cNvSpPr txBox="1"/>
          <p:nvPr/>
        </p:nvSpPr>
        <p:spPr>
          <a:xfrm>
            <a:off x="250725" y="299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A</a:t>
            </a:r>
            <a:endParaRPr sz="1600"/>
          </a:p>
        </p:txBody>
      </p:sp>
      <p:sp>
        <p:nvSpPr>
          <p:cNvPr id="984" name="Google Shape;984;p80"/>
          <p:cNvSpPr txBox="1"/>
          <p:nvPr/>
        </p:nvSpPr>
        <p:spPr>
          <a:xfrm>
            <a:off x="2758200" y="191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B</a:t>
            </a:r>
            <a:endParaRPr sz="1600"/>
          </a:p>
        </p:txBody>
      </p:sp>
      <p:sp>
        <p:nvSpPr>
          <p:cNvPr id="985" name="Google Shape;985;p80"/>
          <p:cNvSpPr txBox="1"/>
          <p:nvPr/>
        </p:nvSpPr>
        <p:spPr>
          <a:xfrm>
            <a:off x="5073675" y="2908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C</a:t>
            </a:r>
            <a:endParaRPr sz="1600"/>
          </a:p>
        </p:txBody>
      </p:sp>
      <p:sp>
        <p:nvSpPr>
          <p:cNvPr id="986" name="Google Shape;986;p80"/>
          <p:cNvSpPr txBox="1"/>
          <p:nvPr/>
        </p:nvSpPr>
        <p:spPr>
          <a:xfrm>
            <a:off x="6519599" y="353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D</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81"/>
          <p:cNvSpPr txBox="1"/>
          <p:nvPr>
            <p:ph idx="4294967295" type="body"/>
          </p:nvPr>
        </p:nvSpPr>
        <p:spPr>
          <a:xfrm>
            <a:off x="324000" y="810000"/>
            <a:ext cx="5383800" cy="4521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AutoNum type="arabicParenR"/>
            </a:pPr>
            <a:r>
              <a:rPr lang="en-GB" sz="1800"/>
              <a:t>What proportion of the grid is shaded?</a:t>
            </a:r>
            <a:endParaRPr sz="1800"/>
          </a:p>
          <a:p>
            <a:pPr indent="0" lvl="0" marL="457200" rtl="0" algn="l">
              <a:lnSpc>
                <a:spcPct val="150000"/>
              </a:lnSpc>
              <a:spcBef>
                <a:spcPts val="0"/>
              </a:spcBef>
              <a:spcAft>
                <a:spcPts val="0"/>
              </a:spcAft>
              <a:buNone/>
            </a:pPr>
            <a:r>
              <a:rPr lang="en-GB" sz="1800"/>
              <a:t>Give your answer as a percentage and a fraction.</a:t>
            </a:r>
            <a:endParaRPr sz="1800"/>
          </a:p>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lnSpc>
                <a:spcPct val="150000"/>
              </a:lnSpc>
              <a:spcBef>
                <a:spcPts val="1000"/>
              </a:spcBef>
              <a:spcAft>
                <a:spcPts val="0"/>
              </a:spcAft>
              <a:buNone/>
            </a:pPr>
            <a:r>
              <a:rPr lang="en-GB" sz="1800"/>
              <a:t>2a) What proportion of the grid is shaded?</a:t>
            </a:r>
            <a:endParaRPr sz="1800"/>
          </a:p>
          <a:p>
            <a:pPr indent="0" lvl="0" marL="457200" rtl="0" algn="l">
              <a:lnSpc>
                <a:spcPct val="150000"/>
              </a:lnSpc>
              <a:spcBef>
                <a:spcPts val="0"/>
              </a:spcBef>
              <a:spcAft>
                <a:spcPts val="0"/>
              </a:spcAft>
              <a:buNone/>
            </a:pPr>
            <a:r>
              <a:rPr lang="en-GB" sz="1800"/>
              <a:t>Give your answer as a percentage and a fraction.</a:t>
            </a:r>
            <a:endParaRPr sz="1800"/>
          </a:p>
        </p:txBody>
      </p:sp>
      <p:sp>
        <p:nvSpPr>
          <p:cNvPr id="992" name="Google Shape;992;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fractions and decimals</a:t>
            </a:r>
            <a:endParaRPr/>
          </a:p>
        </p:txBody>
      </p:sp>
      <p:pic>
        <p:nvPicPr>
          <p:cNvPr descr="&lt;math xmlns=&quot;http://www.w3.org/1998/Math/MathML&quot; display=&quot;block&quot; data-is-equatio=&quot;1&quot; data-latex=&quot;\frac{8}{25}=\frac{8\times4}{25\times4}=\frac{32}{100}=32\%&quot;&gt;&lt;mfrac&gt;&lt;mn&gt;8&lt;/mn&gt;&lt;mn&gt;25&lt;/mn&gt;&lt;/mfrac&gt;&lt;mo&gt;=&lt;/mo&gt;&lt;mfrac&gt;&lt;mrow&gt;&lt;mn&gt;8&lt;/mn&gt;&lt;mo&gt;×&lt;/mo&gt;&lt;mn&gt;4&lt;/mn&gt;&lt;/mrow&gt;&lt;mrow&gt;&lt;mn&gt;25&lt;/mn&gt;&lt;mo&gt;×&lt;/mo&gt;&lt;mn&gt;4&lt;/mn&gt;&lt;/mrow&gt;&lt;/mfrac&gt;&lt;mo&gt;=&lt;/mo&gt;&lt;mfrac&gt;&lt;mn&gt;32&lt;/mn&gt;&lt;mn&gt;100&lt;/mn&gt;&lt;/mfrac&gt;&lt;mo&gt;=&lt;/mo&gt;&lt;mn&gt;32&lt;/mn&gt;&lt;mi mathvariant=&quot;normal&quot;&gt;%&lt;/mi&gt;&lt;/math&gt;" id="993" name="Google Shape;993;p81" title="8 over 25 equals the fraction with numerator 8 times 4 and denominator 25 times 4 equals 32 over 100 equals 32 percent sign"/>
          <p:cNvPicPr preferRelativeResize="0"/>
          <p:nvPr/>
        </p:nvPicPr>
        <p:blipFill>
          <a:blip r:embed="rId3">
            <a:alphaModFix/>
          </a:blip>
          <a:stretch>
            <a:fillRect/>
          </a:stretch>
        </p:blipFill>
        <p:spPr>
          <a:xfrm>
            <a:off x="1209050" y="2068325"/>
            <a:ext cx="3518151" cy="644375"/>
          </a:xfrm>
          <a:prstGeom prst="rect">
            <a:avLst/>
          </a:prstGeom>
          <a:noFill/>
          <a:ln>
            <a:noFill/>
          </a:ln>
        </p:spPr>
      </p:pic>
      <p:pic>
        <p:nvPicPr>
          <p:cNvPr descr="&lt;math xmlns=&quot;http://www.w3.org/1998/Math/MathML&quot; display=&quot;block&quot; data-is-equatio=&quot;1&quot; data-latex=&quot;\frac{4}{20}=\frac{4\times5}{20\times5}=\frac{20}{100}=20\%&quot;&gt;&lt;mfrac&gt;&lt;mn&gt;4&lt;/mn&gt;&lt;mn&gt;20&lt;/mn&gt;&lt;/mfrac&gt;&lt;mo&gt;=&lt;/mo&gt;&lt;mfrac&gt;&lt;mrow&gt;&lt;mn&gt;4&lt;/mn&gt;&lt;mo&gt;×&lt;/mo&gt;&lt;mn&gt;5&lt;/mn&gt;&lt;/mrow&gt;&lt;mrow&gt;&lt;mn&gt;20&lt;/mn&gt;&lt;mo&gt;×&lt;/mo&gt;&lt;mn&gt;5&lt;/mn&gt;&lt;/mrow&gt;&lt;/mfrac&gt;&lt;mo&gt;=&lt;/mo&gt;&lt;mfrac&gt;&lt;mn&gt;20&lt;/mn&gt;&lt;mn&gt;100&lt;/mn&gt;&lt;/mfrac&gt;&lt;mo&gt;=&lt;/mo&gt;&lt;mn&gt;20&lt;/mn&gt;&lt;mi mathvariant=&quot;normal&quot;&gt;%&lt;/mi&gt;&lt;/math&gt;" id="994" name="Google Shape;994;p81" title="4 over 20 equals the fraction with numerator 4 times 5 and denominator 20 times 5 equals 20 over 100 equals 20 percent sign"/>
          <p:cNvPicPr preferRelativeResize="0"/>
          <p:nvPr/>
        </p:nvPicPr>
        <p:blipFill>
          <a:blip r:embed="rId4">
            <a:alphaModFix/>
          </a:blip>
          <a:stretch>
            <a:fillRect/>
          </a:stretch>
        </p:blipFill>
        <p:spPr>
          <a:xfrm>
            <a:off x="1259625" y="4186270"/>
            <a:ext cx="3312375" cy="607653"/>
          </a:xfrm>
          <a:prstGeom prst="rect">
            <a:avLst/>
          </a:prstGeom>
          <a:noFill/>
          <a:ln>
            <a:noFill/>
          </a:ln>
        </p:spPr>
      </p:pic>
      <p:graphicFrame>
        <p:nvGraphicFramePr>
          <p:cNvPr id="995" name="Google Shape;995;p81"/>
          <p:cNvGraphicFramePr/>
          <p:nvPr/>
        </p:nvGraphicFramePr>
        <p:xfrm>
          <a:off x="5844475" y="657875"/>
          <a:ext cx="3000000" cy="3000000"/>
        </p:xfrm>
        <a:graphic>
          <a:graphicData uri="http://schemas.openxmlformats.org/drawingml/2006/table">
            <a:tbl>
              <a:tblPr>
                <a:noFill/>
                <a:tableStyleId>{DFC9DB84-52D8-4539-8054-AB8EF78AA331}</a:tableStyleId>
              </a:tblPr>
              <a:tblGrid>
                <a:gridCol w="382850"/>
                <a:gridCol w="382850"/>
                <a:gridCol w="382850"/>
                <a:gridCol w="382850"/>
                <a:gridCol w="382850"/>
              </a:tblGrid>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22592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20565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bl>
          </a:graphicData>
        </a:graphic>
      </p:graphicFrame>
      <p:graphicFrame>
        <p:nvGraphicFramePr>
          <p:cNvPr id="996" name="Google Shape;996;p81"/>
          <p:cNvGraphicFramePr/>
          <p:nvPr/>
        </p:nvGraphicFramePr>
        <p:xfrm>
          <a:off x="5959206" y="2755225"/>
          <a:ext cx="3000000" cy="3000000"/>
        </p:xfrm>
        <a:graphic>
          <a:graphicData uri="http://schemas.openxmlformats.org/drawingml/2006/table">
            <a:tbl>
              <a:tblPr>
                <a:noFill/>
                <a:tableStyleId>{DFC9DB84-52D8-4539-8054-AB8EF78AA331}</a:tableStyleId>
              </a:tblPr>
              <a:tblGrid>
                <a:gridCol w="421200"/>
                <a:gridCol w="421200"/>
                <a:gridCol w="421200"/>
                <a:gridCol w="421200"/>
              </a:tblGrid>
              <a:tr h="82800">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130475">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1002" name="Google Shape;1002;p82"/>
          <p:cNvGraphicFramePr/>
          <p:nvPr/>
        </p:nvGraphicFramePr>
        <p:xfrm>
          <a:off x="6257075" y="759300"/>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bl>
          </a:graphicData>
        </a:graphic>
      </p:graphicFrame>
      <p:graphicFrame>
        <p:nvGraphicFramePr>
          <p:cNvPr id="1003" name="Google Shape;1003;p82"/>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1004" name="Google Shape;1004;p82"/>
          <p:cNvSpPr txBox="1"/>
          <p:nvPr/>
        </p:nvSpPr>
        <p:spPr>
          <a:xfrm>
            <a:off x="250725" y="299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A</a:t>
            </a:r>
            <a:endParaRPr sz="1600"/>
          </a:p>
        </p:txBody>
      </p:sp>
      <p:sp>
        <p:nvSpPr>
          <p:cNvPr id="1005" name="Google Shape;1005;p82"/>
          <p:cNvSpPr txBox="1"/>
          <p:nvPr/>
        </p:nvSpPr>
        <p:spPr>
          <a:xfrm>
            <a:off x="6978350" y="810000"/>
            <a:ext cx="11232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500">
                <a:solidFill>
                  <a:schemeClr val="dk1"/>
                </a:solidFill>
                <a:latin typeface="Lexend"/>
                <a:ea typeface="Lexend"/>
                <a:cs typeface="Lexend"/>
                <a:sym typeface="Lexend"/>
              </a:rPr>
              <a:t>30%</a:t>
            </a:r>
            <a:endParaRPr sz="3500">
              <a:solidFill>
                <a:schemeClr val="dk1"/>
              </a:solidFill>
              <a:latin typeface="Lexend"/>
              <a:ea typeface="Lexend"/>
              <a:cs typeface="Lexend"/>
              <a:sym typeface="Lexend"/>
            </a:endParaRPr>
          </a:p>
        </p:txBody>
      </p:sp>
      <p:graphicFrame>
        <p:nvGraphicFramePr>
          <p:cNvPr id="1006" name="Google Shape;1006;p82"/>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1007" name="Google Shape;1007;p82"/>
          <p:cNvSpPr txBox="1"/>
          <p:nvPr/>
        </p:nvSpPr>
        <p:spPr>
          <a:xfrm>
            <a:off x="1931450" y="2231325"/>
            <a:ext cx="25047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30% of 50 = </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30}{100}\times50&quot;&gt;&lt;mfrac&gt;&lt;mn&gt;30&lt;/mn&gt;&lt;mn&gt;100&lt;/mn&gt;&lt;/mfrac&gt;&lt;mo&gt;×&lt;/mo&gt;&lt;mn&gt;50&lt;/mn&gt;&lt;/math&gt;" id="1008" name="Google Shape;1008;p82" title="30 over 100 times 50"/>
          <p:cNvPicPr preferRelativeResize="0"/>
          <p:nvPr/>
        </p:nvPicPr>
        <p:blipFill>
          <a:blip r:embed="rId3">
            <a:alphaModFix/>
          </a:blip>
          <a:stretch>
            <a:fillRect/>
          </a:stretch>
        </p:blipFill>
        <p:spPr>
          <a:xfrm>
            <a:off x="3700800" y="2231325"/>
            <a:ext cx="1123200" cy="612255"/>
          </a:xfrm>
          <a:prstGeom prst="rect">
            <a:avLst/>
          </a:prstGeom>
          <a:noFill/>
          <a:ln>
            <a:noFill/>
          </a:ln>
        </p:spPr>
      </p:pic>
      <p:sp>
        <p:nvSpPr>
          <p:cNvPr id="1009" name="Google Shape;1009;p82"/>
          <p:cNvSpPr txBox="1"/>
          <p:nvPr/>
        </p:nvSpPr>
        <p:spPr>
          <a:xfrm>
            <a:off x="3324000" y="30091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15 squares shaded</a:t>
            </a:r>
            <a:endParaRPr sz="1800">
              <a:latin typeface="Kalam"/>
              <a:ea typeface="Kalam"/>
              <a:cs typeface="Kalam"/>
              <a:sym typeface="Kalam"/>
            </a:endParaRPr>
          </a:p>
        </p:txBody>
      </p:sp>
      <p:sp>
        <p:nvSpPr>
          <p:cNvPr id="1010" name="Google Shape;1010;p82"/>
          <p:cNvSpPr txBox="1"/>
          <p:nvPr/>
        </p:nvSpPr>
        <p:spPr>
          <a:xfrm>
            <a:off x="324000" y="1702500"/>
            <a:ext cx="196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15 blocks shaded</a:t>
            </a:r>
            <a:endParaRPr sz="1800">
              <a:latin typeface="Kalam"/>
              <a:ea typeface="Kalam"/>
              <a:cs typeface="Kalam"/>
              <a:sym typeface="Kalam"/>
            </a:endParaRPr>
          </a:p>
        </p:txBody>
      </p:sp>
      <p:sp>
        <p:nvSpPr>
          <p:cNvPr id="1011" name="Google Shape;1011;p82"/>
          <p:cNvSpPr txBox="1"/>
          <p:nvPr>
            <p:ph idx="1" type="body"/>
          </p:nvPr>
        </p:nvSpPr>
        <p:spPr>
          <a:xfrm>
            <a:off x="324000" y="759300"/>
            <a:ext cx="57795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2b) What percentage is shaded on the 100 grid on the right?</a:t>
            </a:r>
            <a:endParaRPr sz="1800"/>
          </a:p>
          <a:p>
            <a:pPr indent="0" lvl="0" marL="0" rtl="0" algn="l">
              <a:spcBef>
                <a:spcPts val="1000"/>
              </a:spcBef>
              <a:spcAft>
                <a:spcPts val="1000"/>
              </a:spcAft>
              <a:buNone/>
            </a:pPr>
            <a:r>
              <a:rPr lang="en-GB" sz="1800"/>
              <a:t>Shade the same percentage on grids A to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1017" name="Google Shape;1017;p83"/>
          <p:cNvGraphicFramePr/>
          <p:nvPr/>
        </p:nvGraphicFramePr>
        <p:xfrm>
          <a:off x="6257075" y="759300"/>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bl>
          </a:graphicData>
        </a:graphic>
      </p:graphicFrame>
      <p:graphicFrame>
        <p:nvGraphicFramePr>
          <p:cNvPr id="1018" name="Google Shape;1018;p83"/>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19" name="Google Shape;1019;p83"/>
          <p:cNvGraphicFramePr/>
          <p:nvPr/>
        </p:nvGraphicFramePr>
        <p:xfrm>
          <a:off x="2197700" y="2312150"/>
          <a:ext cx="3000000" cy="3000000"/>
        </p:xfrm>
        <a:graphic>
          <a:graphicData uri="http://schemas.openxmlformats.org/drawingml/2006/table">
            <a:tbl>
              <a:tblPr>
                <a:noFill/>
                <a:tableStyleId>{DFC9DB84-52D8-4539-8054-AB8EF78AA331}</a:tableStyleId>
              </a:tblPr>
              <a:tblGrid>
                <a:gridCol w="306275"/>
                <a:gridCol w="306275"/>
                <a:gridCol w="306275"/>
                <a:gridCol w="306275"/>
                <a:gridCol w="306275"/>
              </a:tblGrid>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1020" name="Google Shape;1020;p83"/>
          <p:cNvSpPr txBox="1"/>
          <p:nvPr/>
        </p:nvSpPr>
        <p:spPr>
          <a:xfrm>
            <a:off x="250725" y="299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A</a:t>
            </a:r>
            <a:endParaRPr sz="1600"/>
          </a:p>
        </p:txBody>
      </p:sp>
      <p:sp>
        <p:nvSpPr>
          <p:cNvPr id="1021" name="Google Shape;1021;p83"/>
          <p:cNvSpPr txBox="1"/>
          <p:nvPr/>
        </p:nvSpPr>
        <p:spPr>
          <a:xfrm>
            <a:off x="2758200" y="191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B</a:t>
            </a:r>
            <a:endParaRPr sz="1600"/>
          </a:p>
        </p:txBody>
      </p:sp>
      <p:sp>
        <p:nvSpPr>
          <p:cNvPr id="1022" name="Google Shape;1022;p83"/>
          <p:cNvSpPr txBox="1"/>
          <p:nvPr/>
        </p:nvSpPr>
        <p:spPr>
          <a:xfrm>
            <a:off x="6978350" y="810000"/>
            <a:ext cx="11232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500">
                <a:solidFill>
                  <a:schemeClr val="dk1"/>
                </a:solidFill>
                <a:latin typeface="Lexend"/>
                <a:ea typeface="Lexend"/>
                <a:cs typeface="Lexend"/>
                <a:sym typeface="Lexend"/>
              </a:rPr>
              <a:t>30%</a:t>
            </a:r>
            <a:endParaRPr sz="3500">
              <a:solidFill>
                <a:schemeClr val="dk1"/>
              </a:solidFill>
              <a:latin typeface="Lexend"/>
              <a:ea typeface="Lexend"/>
              <a:cs typeface="Lexend"/>
              <a:sym typeface="Lexend"/>
            </a:endParaRPr>
          </a:p>
        </p:txBody>
      </p:sp>
      <p:graphicFrame>
        <p:nvGraphicFramePr>
          <p:cNvPr id="1023" name="Google Shape;1023;p83"/>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24" name="Google Shape;1024;p83"/>
          <p:cNvGraphicFramePr/>
          <p:nvPr/>
        </p:nvGraphicFramePr>
        <p:xfrm>
          <a:off x="2204981" y="2312150"/>
          <a:ext cx="3000000" cy="3000000"/>
        </p:xfrm>
        <a:graphic>
          <a:graphicData uri="http://schemas.openxmlformats.org/drawingml/2006/table">
            <a:tbl>
              <a:tblPr>
                <a:noFill/>
                <a:tableStyleId>{DFC9DB84-52D8-4539-8054-AB8EF78AA331}</a:tableStyleId>
              </a:tblPr>
              <a:tblGrid>
                <a:gridCol w="306275"/>
                <a:gridCol w="306275"/>
                <a:gridCol w="306275"/>
                <a:gridCol w="306275"/>
                <a:gridCol w="306275"/>
              </a:tblGrid>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1025" name="Google Shape;1025;p83"/>
          <p:cNvSpPr txBox="1"/>
          <p:nvPr/>
        </p:nvSpPr>
        <p:spPr>
          <a:xfrm>
            <a:off x="324000" y="1702500"/>
            <a:ext cx="196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15 blocks shaded</a:t>
            </a:r>
            <a:endParaRPr sz="1800">
              <a:latin typeface="Kalam"/>
              <a:ea typeface="Kalam"/>
              <a:cs typeface="Kalam"/>
              <a:sym typeface="Kalam"/>
            </a:endParaRPr>
          </a:p>
        </p:txBody>
      </p:sp>
      <p:sp>
        <p:nvSpPr>
          <p:cNvPr id="1026" name="Google Shape;1026;p83"/>
          <p:cNvSpPr txBox="1"/>
          <p:nvPr/>
        </p:nvSpPr>
        <p:spPr>
          <a:xfrm>
            <a:off x="3903025" y="2406300"/>
            <a:ext cx="25047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30% of 10  </a:t>
            </a:r>
            <a:endParaRPr sz="2200">
              <a:solidFill>
                <a:schemeClr val="dk1"/>
              </a:solidFill>
              <a:latin typeface="Lexend"/>
              <a:ea typeface="Lexend"/>
              <a:cs typeface="Lexend"/>
              <a:sym typeface="Lexend"/>
            </a:endParaRPr>
          </a:p>
        </p:txBody>
      </p:sp>
      <p:sp>
        <p:nvSpPr>
          <p:cNvPr id="1027" name="Google Shape;1027;p83"/>
          <p:cNvSpPr txBox="1"/>
          <p:nvPr/>
        </p:nvSpPr>
        <p:spPr>
          <a:xfrm>
            <a:off x="3903025" y="37147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3 blocks shaded</a:t>
            </a:r>
            <a:endParaRPr sz="1800">
              <a:latin typeface="Kalam"/>
              <a:ea typeface="Kalam"/>
              <a:cs typeface="Kalam"/>
              <a:sym typeface="Kalam"/>
            </a:endParaRPr>
          </a:p>
        </p:txBody>
      </p:sp>
      <p:pic>
        <p:nvPicPr>
          <p:cNvPr descr="&lt;math xmlns=&quot;http://www.w3.org/1998/Math/MathML&quot; display=&quot;block&quot; data-is-equatio=&quot;1&quot; data-latex=&quot;\frac{30}{100}\times10&quot;&gt;&lt;mfrac&gt;&lt;mn&gt;30&lt;/mn&gt;&lt;mn&gt;100&lt;/mn&gt;&lt;/mfrac&gt;&lt;mo&gt;×&lt;/mo&gt;&lt;mn&gt;10&lt;/mn&gt;&lt;/math&gt;" id="1028" name="Google Shape;1028;p83" title="30 over 100 times 10"/>
          <p:cNvPicPr preferRelativeResize="0"/>
          <p:nvPr/>
        </p:nvPicPr>
        <p:blipFill>
          <a:blip r:embed="rId3">
            <a:alphaModFix/>
          </a:blip>
          <a:stretch>
            <a:fillRect/>
          </a:stretch>
        </p:blipFill>
        <p:spPr>
          <a:xfrm>
            <a:off x="3974626" y="2963352"/>
            <a:ext cx="1123200" cy="612237"/>
          </a:xfrm>
          <a:prstGeom prst="rect">
            <a:avLst/>
          </a:prstGeom>
          <a:noFill/>
          <a:ln>
            <a:noFill/>
          </a:ln>
        </p:spPr>
      </p:pic>
      <p:sp>
        <p:nvSpPr>
          <p:cNvPr id="1029" name="Google Shape;1029;p83"/>
          <p:cNvSpPr txBox="1"/>
          <p:nvPr/>
        </p:nvSpPr>
        <p:spPr>
          <a:xfrm>
            <a:off x="2118925" y="4315550"/>
            <a:ext cx="185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3 blocks shaded</a:t>
            </a:r>
            <a:endParaRPr sz="1800">
              <a:latin typeface="Kalam"/>
              <a:ea typeface="Kalam"/>
              <a:cs typeface="Kalam"/>
              <a:sym typeface="Kalam"/>
            </a:endParaRPr>
          </a:p>
        </p:txBody>
      </p:sp>
      <p:sp>
        <p:nvSpPr>
          <p:cNvPr id="1030" name="Google Shape;1030;p83"/>
          <p:cNvSpPr txBox="1"/>
          <p:nvPr>
            <p:ph idx="1" type="body"/>
          </p:nvPr>
        </p:nvSpPr>
        <p:spPr>
          <a:xfrm>
            <a:off x="324000" y="759300"/>
            <a:ext cx="57795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2b) What percentage is shaded on the 100 grid on the right?</a:t>
            </a:r>
            <a:endParaRPr sz="1800"/>
          </a:p>
          <a:p>
            <a:pPr indent="0" lvl="0" marL="0" rtl="0" algn="l">
              <a:spcBef>
                <a:spcPts val="1000"/>
              </a:spcBef>
              <a:spcAft>
                <a:spcPts val="1000"/>
              </a:spcAft>
              <a:buNone/>
            </a:pPr>
            <a:r>
              <a:rPr lang="en-GB" sz="1800"/>
              <a:t>Shade the same percentage on grids A to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1036" name="Google Shape;1036;p84"/>
          <p:cNvGraphicFramePr/>
          <p:nvPr/>
        </p:nvGraphicFramePr>
        <p:xfrm>
          <a:off x="6257075" y="759300"/>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bl>
          </a:graphicData>
        </a:graphic>
      </p:graphicFrame>
      <p:graphicFrame>
        <p:nvGraphicFramePr>
          <p:cNvPr id="1037" name="Google Shape;1037;p84"/>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38" name="Google Shape;1038;p84"/>
          <p:cNvGraphicFramePr/>
          <p:nvPr/>
        </p:nvGraphicFramePr>
        <p:xfrm>
          <a:off x="4163575" y="2043475"/>
          <a:ext cx="3000000" cy="3000000"/>
        </p:xfrm>
        <a:graphic>
          <a:graphicData uri="http://schemas.openxmlformats.org/drawingml/2006/table">
            <a:tbl>
              <a:tblPr>
                <a:noFill/>
                <a:tableStyleId>{DFC9DB84-52D8-4539-8054-AB8EF78AA331}</a:tableStyleId>
              </a:tblPr>
              <a:tblGrid>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39" name="Google Shape;1039;p84"/>
          <p:cNvGraphicFramePr/>
          <p:nvPr/>
        </p:nvGraphicFramePr>
        <p:xfrm>
          <a:off x="2197700" y="2312150"/>
          <a:ext cx="3000000" cy="3000000"/>
        </p:xfrm>
        <a:graphic>
          <a:graphicData uri="http://schemas.openxmlformats.org/drawingml/2006/table">
            <a:tbl>
              <a:tblPr>
                <a:noFill/>
                <a:tableStyleId>{DFC9DB84-52D8-4539-8054-AB8EF78AA331}</a:tableStyleId>
              </a:tblPr>
              <a:tblGrid>
                <a:gridCol w="306275"/>
                <a:gridCol w="306275"/>
                <a:gridCol w="306275"/>
                <a:gridCol w="306275"/>
                <a:gridCol w="306275"/>
              </a:tblGrid>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1040" name="Google Shape;1040;p84"/>
          <p:cNvSpPr txBox="1"/>
          <p:nvPr/>
        </p:nvSpPr>
        <p:spPr>
          <a:xfrm>
            <a:off x="250725" y="299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A</a:t>
            </a:r>
            <a:endParaRPr sz="1600"/>
          </a:p>
        </p:txBody>
      </p:sp>
      <p:sp>
        <p:nvSpPr>
          <p:cNvPr id="1041" name="Google Shape;1041;p84"/>
          <p:cNvSpPr txBox="1"/>
          <p:nvPr/>
        </p:nvSpPr>
        <p:spPr>
          <a:xfrm>
            <a:off x="2758200" y="191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B</a:t>
            </a:r>
            <a:endParaRPr sz="1600"/>
          </a:p>
        </p:txBody>
      </p:sp>
      <p:sp>
        <p:nvSpPr>
          <p:cNvPr id="1042" name="Google Shape;1042;p84"/>
          <p:cNvSpPr txBox="1"/>
          <p:nvPr/>
        </p:nvSpPr>
        <p:spPr>
          <a:xfrm>
            <a:off x="5073675" y="2908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C</a:t>
            </a:r>
            <a:endParaRPr sz="1600"/>
          </a:p>
        </p:txBody>
      </p:sp>
      <p:sp>
        <p:nvSpPr>
          <p:cNvPr id="1043" name="Google Shape;1043;p84"/>
          <p:cNvSpPr txBox="1"/>
          <p:nvPr/>
        </p:nvSpPr>
        <p:spPr>
          <a:xfrm>
            <a:off x="6978350" y="810000"/>
            <a:ext cx="11232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500">
                <a:solidFill>
                  <a:schemeClr val="dk1"/>
                </a:solidFill>
                <a:latin typeface="Lexend"/>
                <a:ea typeface="Lexend"/>
                <a:cs typeface="Lexend"/>
                <a:sym typeface="Lexend"/>
              </a:rPr>
              <a:t>30%</a:t>
            </a:r>
            <a:endParaRPr sz="3500">
              <a:solidFill>
                <a:schemeClr val="dk1"/>
              </a:solidFill>
              <a:latin typeface="Lexend"/>
              <a:ea typeface="Lexend"/>
              <a:cs typeface="Lexend"/>
              <a:sym typeface="Lexend"/>
            </a:endParaRPr>
          </a:p>
        </p:txBody>
      </p:sp>
      <p:graphicFrame>
        <p:nvGraphicFramePr>
          <p:cNvPr id="1044" name="Google Shape;1044;p84"/>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45" name="Google Shape;1045;p84"/>
          <p:cNvGraphicFramePr/>
          <p:nvPr/>
        </p:nvGraphicFramePr>
        <p:xfrm>
          <a:off x="4172438" y="2043475"/>
          <a:ext cx="3000000" cy="3000000"/>
        </p:xfrm>
        <a:graphic>
          <a:graphicData uri="http://schemas.openxmlformats.org/drawingml/2006/table">
            <a:tbl>
              <a:tblPr>
                <a:noFill/>
                <a:tableStyleId>{DFC9DB84-52D8-4539-8054-AB8EF78AA331}</a:tableStyleId>
              </a:tblPr>
              <a:tblGrid>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46" name="Google Shape;1046;p84"/>
          <p:cNvGraphicFramePr/>
          <p:nvPr/>
        </p:nvGraphicFramePr>
        <p:xfrm>
          <a:off x="2204981" y="2312150"/>
          <a:ext cx="3000000" cy="3000000"/>
        </p:xfrm>
        <a:graphic>
          <a:graphicData uri="http://schemas.openxmlformats.org/drawingml/2006/table">
            <a:tbl>
              <a:tblPr>
                <a:noFill/>
                <a:tableStyleId>{DFC9DB84-52D8-4539-8054-AB8EF78AA331}</a:tableStyleId>
              </a:tblPr>
              <a:tblGrid>
                <a:gridCol w="306275"/>
                <a:gridCol w="306275"/>
                <a:gridCol w="306275"/>
                <a:gridCol w="306275"/>
                <a:gridCol w="306275"/>
              </a:tblGrid>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1047" name="Google Shape;1047;p84"/>
          <p:cNvSpPr txBox="1"/>
          <p:nvPr/>
        </p:nvSpPr>
        <p:spPr>
          <a:xfrm>
            <a:off x="324000" y="1702500"/>
            <a:ext cx="196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15 blocks shaded</a:t>
            </a:r>
            <a:endParaRPr sz="1800">
              <a:latin typeface="Kalam"/>
              <a:ea typeface="Kalam"/>
              <a:cs typeface="Kalam"/>
              <a:sym typeface="Kalam"/>
            </a:endParaRPr>
          </a:p>
        </p:txBody>
      </p:sp>
      <p:sp>
        <p:nvSpPr>
          <p:cNvPr id="1048" name="Google Shape;1048;p84"/>
          <p:cNvSpPr txBox="1"/>
          <p:nvPr/>
        </p:nvSpPr>
        <p:spPr>
          <a:xfrm>
            <a:off x="2118925" y="4315550"/>
            <a:ext cx="185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3 blocks shaded</a:t>
            </a:r>
            <a:endParaRPr sz="1800">
              <a:latin typeface="Kalam"/>
              <a:ea typeface="Kalam"/>
              <a:cs typeface="Kalam"/>
              <a:sym typeface="Kalam"/>
            </a:endParaRPr>
          </a:p>
        </p:txBody>
      </p:sp>
      <p:sp>
        <p:nvSpPr>
          <p:cNvPr id="1049" name="Google Shape;1049;p84"/>
          <p:cNvSpPr txBox="1"/>
          <p:nvPr/>
        </p:nvSpPr>
        <p:spPr>
          <a:xfrm>
            <a:off x="5331875" y="3614475"/>
            <a:ext cx="25047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30% of 40 =  </a:t>
            </a:r>
            <a:endParaRPr sz="2200">
              <a:solidFill>
                <a:schemeClr val="dk1"/>
              </a:solidFill>
              <a:latin typeface="Lexend"/>
              <a:ea typeface="Lexend"/>
              <a:cs typeface="Lexend"/>
              <a:sym typeface="Lexend"/>
            </a:endParaRPr>
          </a:p>
        </p:txBody>
      </p:sp>
      <p:sp>
        <p:nvSpPr>
          <p:cNvPr id="1050" name="Google Shape;1050;p84"/>
          <p:cNvSpPr txBox="1"/>
          <p:nvPr/>
        </p:nvSpPr>
        <p:spPr>
          <a:xfrm>
            <a:off x="6343675" y="42520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12 blocks shaded</a:t>
            </a:r>
            <a:endParaRPr sz="1800">
              <a:latin typeface="Kalam"/>
              <a:ea typeface="Kalam"/>
              <a:cs typeface="Kalam"/>
              <a:sym typeface="Kalam"/>
            </a:endParaRPr>
          </a:p>
        </p:txBody>
      </p:sp>
      <p:pic>
        <p:nvPicPr>
          <p:cNvPr descr="&lt;math xmlns=&quot;http://www.w3.org/1998/Math/MathML&quot; display=&quot;block&quot; data-is-equatio=&quot;1&quot; data-latex=&quot;\frac{30}{100}\times40&quot;&gt;&lt;mfrac&gt;&lt;mn&gt;30&lt;/mn&gt;&lt;mn&gt;100&lt;/mn&gt;&lt;/mfrac&gt;&lt;mo&gt;×&lt;/mo&gt;&lt;mn&gt;40&lt;/mn&gt;&lt;/math&gt;" id="1051" name="Google Shape;1051;p84" title="30 over 100 times 40"/>
          <p:cNvPicPr preferRelativeResize="0"/>
          <p:nvPr/>
        </p:nvPicPr>
        <p:blipFill>
          <a:blip r:embed="rId3">
            <a:alphaModFix/>
          </a:blip>
          <a:stretch>
            <a:fillRect/>
          </a:stretch>
        </p:blipFill>
        <p:spPr>
          <a:xfrm>
            <a:off x="7088100" y="3655525"/>
            <a:ext cx="961700" cy="524215"/>
          </a:xfrm>
          <a:prstGeom prst="rect">
            <a:avLst/>
          </a:prstGeom>
          <a:noFill/>
          <a:ln>
            <a:noFill/>
          </a:ln>
        </p:spPr>
      </p:pic>
      <p:sp>
        <p:nvSpPr>
          <p:cNvPr id="1052" name="Google Shape;1052;p84"/>
          <p:cNvSpPr txBox="1"/>
          <p:nvPr/>
        </p:nvSpPr>
        <p:spPr>
          <a:xfrm>
            <a:off x="3729075" y="16962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12 blocks shaded</a:t>
            </a:r>
            <a:endParaRPr sz="1800">
              <a:latin typeface="Kalam"/>
              <a:ea typeface="Kalam"/>
              <a:cs typeface="Kalam"/>
              <a:sym typeface="Kalam"/>
            </a:endParaRPr>
          </a:p>
        </p:txBody>
      </p:sp>
      <p:sp>
        <p:nvSpPr>
          <p:cNvPr id="1053" name="Google Shape;1053;p84"/>
          <p:cNvSpPr txBox="1"/>
          <p:nvPr>
            <p:ph idx="1" type="body"/>
          </p:nvPr>
        </p:nvSpPr>
        <p:spPr>
          <a:xfrm>
            <a:off x="324000" y="759300"/>
            <a:ext cx="57795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2b) What percentage is shaded on the 100 grid on the right?</a:t>
            </a:r>
            <a:endParaRPr sz="1800"/>
          </a:p>
          <a:p>
            <a:pPr indent="0" lvl="0" marL="0" rtl="0" algn="l">
              <a:spcBef>
                <a:spcPts val="1000"/>
              </a:spcBef>
              <a:spcAft>
                <a:spcPts val="1000"/>
              </a:spcAft>
              <a:buNone/>
            </a:pPr>
            <a:r>
              <a:rPr lang="en-GB" sz="1800"/>
              <a:t>Shade the same percentage on grids A to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fractions and decimals</a:t>
            </a:r>
            <a:endParaRPr/>
          </a:p>
        </p:txBody>
      </p:sp>
      <p:graphicFrame>
        <p:nvGraphicFramePr>
          <p:cNvPr id="1059" name="Google Shape;1059;p85"/>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60" name="Google Shape;1060;p85"/>
          <p:cNvGraphicFramePr/>
          <p:nvPr/>
        </p:nvGraphicFramePr>
        <p:xfrm>
          <a:off x="4163575" y="2043475"/>
          <a:ext cx="3000000" cy="3000000"/>
        </p:xfrm>
        <a:graphic>
          <a:graphicData uri="http://schemas.openxmlformats.org/drawingml/2006/table">
            <a:tbl>
              <a:tblPr>
                <a:noFill/>
                <a:tableStyleId>{DFC9DB84-52D8-4539-8054-AB8EF78AA331}</a:tableStyleId>
              </a:tblPr>
              <a:tblGrid>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61" name="Google Shape;1061;p85"/>
          <p:cNvGraphicFramePr/>
          <p:nvPr/>
        </p:nvGraphicFramePr>
        <p:xfrm>
          <a:off x="2197700" y="2312150"/>
          <a:ext cx="3000000" cy="3000000"/>
        </p:xfrm>
        <a:graphic>
          <a:graphicData uri="http://schemas.openxmlformats.org/drawingml/2006/table">
            <a:tbl>
              <a:tblPr>
                <a:noFill/>
                <a:tableStyleId>{DFC9DB84-52D8-4539-8054-AB8EF78AA331}</a:tableStyleId>
              </a:tblPr>
              <a:tblGrid>
                <a:gridCol w="306275"/>
                <a:gridCol w="306275"/>
                <a:gridCol w="306275"/>
                <a:gridCol w="306275"/>
                <a:gridCol w="306275"/>
              </a:tblGrid>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62" name="Google Shape;1062;p85"/>
          <p:cNvGraphicFramePr/>
          <p:nvPr/>
        </p:nvGraphicFramePr>
        <p:xfrm>
          <a:off x="5774400" y="3832675"/>
          <a:ext cx="3000000" cy="3000000"/>
        </p:xfrm>
        <a:graphic>
          <a:graphicData uri="http://schemas.openxmlformats.org/drawingml/2006/table">
            <a:tbl>
              <a:tblPr>
                <a:noFill/>
                <a:tableStyleId>{DFC9DB84-52D8-4539-8054-AB8EF78AA331}</a:tableStyleId>
              </a:tblPr>
              <a:tblGrid>
                <a:gridCol w="1132200"/>
                <a:gridCol w="1132200"/>
              </a:tblGrid>
              <a:tr h="668950">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
        <p:nvSpPr>
          <p:cNvPr id="1063" name="Google Shape;1063;p85"/>
          <p:cNvSpPr txBox="1"/>
          <p:nvPr/>
        </p:nvSpPr>
        <p:spPr>
          <a:xfrm>
            <a:off x="250725" y="299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A</a:t>
            </a:r>
            <a:endParaRPr sz="1600"/>
          </a:p>
        </p:txBody>
      </p:sp>
      <p:sp>
        <p:nvSpPr>
          <p:cNvPr id="1064" name="Google Shape;1064;p85"/>
          <p:cNvSpPr txBox="1"/>
          <p:nvPr/>
        </p:nvSpPr>
        <p:spPr>
          <a:xfrm>
            <a:off x="2758200" y="1913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B</a:t>
            </a:r>
            <a:endParaRPr sz="1600"/>
          </a:p>
        </p:txBody>
      </p:sp>
      <p:sp>
        <p:nvSpPr>
          <p:cNvPr id="1065" name="Google Shape;1065;p85"/>
          <p:cNvSpPr txBox="1"/>
          <p:nvPr/>
        </p:nvSpPr>
        <p:spPr>
          <a:xfrm>
            <a:off x="5073675" y="290870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C</a:t>
            </a:r>
            <a:endParaRPr sz="1600"/>
          </a:p>
        </p:txBody>
      </p:sp>
      <p:sp>
        <p:nvSpPr>
          <p:cNvPr id="1066" name="Google Shape;1066;p85"/>
          <p:cNvSpPr txBox="1"/>
          <p:nvPr/>
        </p:nvSpPr>
        <p:spPr>
          <a:xfrm>
            <a:off x="8038849" y="3920850"/>
            <a:ext cx="774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D</a:t>
            </a:r>
            <a:endParaRPr sz="1600"/>
          </a:p>
        </p:txBody>
      </p:sp>
      <p:graphicFrame>
        <p:nvGraphicFramePr>
          <p:cNvPr id="1067" name="Google Shape;1067;p85"/>
          <p:cNvGraphicFramePr/>
          <p:nvPr/>
        </p:nvGraphicFramePr>
        <p:xfrm>
          <a:off x="617050" y="2102675"/>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68" name="Google Shape;1068;p85"/>
          <p:cNvGraphicFramePr/>
          <p:nvPr/>
        </p:nvGraphicFramePr>
        <p:xfrm>
          <a:off x="4172438" y="2043475"/>
          <a:ext cx="3000000" cy="3000000"/>
        </p:xfrm>
        <a:graphic>
          <a:graphicData uri="http://schemas.openxmlformats.org/drawingml/2006/table">
            <a:tbl>
              <a:tblPr>
                <a:noFill/>
                <a:tableStyleId>{DFC9DB84-52D8-4539-8054-AB8EF78AA331}</a:tableStyleId>
              </a:tblPr>
              <a:tblGrid>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69" name="Google Shape;1069;p85"/>
          <p:cNvGraphicFramePr/>
          <p:nvPr/>
        </p:nvGraphicFramePr>
        <p:xfrm>
          <a:off x="2204981" y="2312150"/>
          <a:ext cx="3000000" cy="3000000"/>
        </p:xfrm>
        <a:graphic>
          <a:graphicData uri="http://schemas.openxmlformats.org/drawingml/2006/table">
            <a:tbl>
              <a:tblPr>
                <a:noFill/>
                <a:tableStyleId>{DFC9DB84-52D8-4539-8054-AB8EF78AA331}</a:tableStyleId>
              </a:tblPr>
              <a:tblGrid>
                <a:gridCol w="306275"/>
                <a:gridCol w="306275"/>
                <a:gridCol w="306275"/>
                <a:gridCol w="306275"/>
                <a:gridCol w="306275"/>
              </a:tblGrid>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r h="999325">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70" name="Google Shape;1070;p85"/>
          <p:cNvGraphicFramePr/>
          <p:nvPr/>
        </p:nvGraphicFramePr>
        <p:xfrm>
          <a:off x="5774350" y="3832671"/>
          <a:ext cx="3000000" cy="3000000"/>
        </p:xfrm>
        <a:graphic>
          <a:graphicData uri="http://schemas.openxmlformats.org/drawingml/2006/table">
            <a:tbl>
              <a:tblPr>
                <a:noFill/>
                <a:tableStyleId>{DFC9DB84-52D8-4539-8054-AB8EF78AA331}</a:tableStyleId>
              </a:tblPr>
              <a:tblGrid>
                <a:gridCol w="226450"/>
                <a:gridCol w="226450"/>
                <a:gridCol w="226450"/>
                <a:gridCol w="226450"/>
                <a:gridCol w="226450"/>
                <a:gridCol w="226450"/>
                <a:gridCol w="226450"/>
                <a:gridCol w="226450"/>
                <a:gridCol w="226450"/>
                <a:gridCol w="226450"/>
              </a:tblGrid>
              <a:tr h="668950">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71" name="Google Shape;1071;p85"/>
          <p:cNvGraphicFramePr/>
          <p:nvPr/>
        </p:nvGraphicFramePr>
        <p:xfrm>
          <a:off x="5774350" y="3834720"/>
          <a:ext cx="3000000" cy="3000000"/>
        </p:xfrm>
        <a:graphic>
          <a:graphicData uri="http://schemas.openxmlformats.org/drawingml/2006/table">
            <a:tbl>
              <a:tblPr>
                <a:noFill/>
                <a:tableStyleId>{DFC9DB84-52D8-4539-8054-AB8EF78AA331}</a:tableStyleId>
              </a:tblPr>
              <a:tblGrid>
                <a:gridCol w="226450"/>
                <a:gridCol w="226450"/>
                <a:gridCol w="226450"/>
                <a:gridCol w="226450"/>
                <a:gridCol w="226450"/>
                <a:gridCol w="226450"/>
                <a:gridCol w="226450"/>
                <a:gridCol w="226450"/>
                <a:gridCol w="226450"/>
                <a:gridCol w="226450"/>
              </a:tblGrid>
              <a:tr h="668950">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chemeClr val="dk2"/>
                      </a:solidFill>
                      <a:prstDash val="dash"/>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graphicFrame>
        <p:nvGraphicFramePr>
          <p:cNvPr id="1072" name="Google Shape;1072;p85"/>
          <p:cNvGraphicFramePr/>
          <p:nvPr/>
        </p:nvGraphicFramePr>
        <p:xfrm>
          <a:off x="6257075" y="759300"/>
          <a:ext cx="3000000" cy="3000000"/>
        </p:xfrm>
        <a:graphic>
          <a:graphicData uri="http://schemas.openxmlformats.org/drawingml/2006/table">
            <a:tbl>
              <a:tblPr>
                <a:noFill/>
                <a:tableStyleId>{DFC9DB84-52D8-4539-8054-AB8EF78AA331}</a:tableStyleId>
              </a:tblPr>
              <a:tblGrid>
                <a:gridCol w="240425"/>
                <a:gridCol w="240425"/>
                <a:gridCol w="240425"/>
                <a:gridCol w="240425"/>
                <a:gridCol w="240425"/>
                <a:gridCol w="240425"/>
                <a:gridCol w="240425"/>
                <a:gridCol w="240425"/>
                <a:gridCol w="240425"/>
                <a:gridCol w="240425"/>
              </a:tblGrid>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rgbClr val="B7B7B7"/>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r h="268675">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p>
                  </a:txBody>
                  <a:tcPr marT="91425" marB="91425" marR="91425" marL="91425">
                    <a:lnL cap="flat" cmpd="sng" w="28575">
                      <a:solidFill>
                        <a:srgbClr val="999999"/>
                      </a:solidFill>
                      <a:prstDash val="solid"/>
                      <a:round/>
                      <a:headEnd len="sm" w="sm" type="none"/>
                      <a:tailEnd len="sm" w="sm" type="none"/>
                    </a:lnL>
                    <a:lnR cap="flat" cmpd="sng" w="28575">
                      <a:solidFill>
                        <a:srgbClr val="999999"/>
                      </a:solidFill>
                      <a:prstDash val="solid"/>
                      <a:round/>
                      <a:headEnd len="sm" w="sm" type="none"/>
                      <a:tailEnd len="sm" w="sm" type="none"/>
                    </a:lnR>
                    <a:lnT cap="flat" cmpd="sng" w="28575">
                      <a:solidFill>
                        <a:srgbClr val="999999"/>
                      </a:solidFill>
                      <a:prstDash val="solid"/>
                      <a:round/>
                      <a:headEnd len="sm" w="sm" type="none"/>
                      <a:tailEnd len="sm" w="sm" type="none"/>
                    </a:lnT>
                    <a:lnB cap="flat" cmpd="sng" w="28575">
                      <a:solidFill>
                        <a:srgbClr val="999999"/>
                      </a:solidFill>
                      <a:prstDash val="solid"/>
                      <a:round/>
                      <a:headEnd len="sm" w="sm" type="none"/>
                      <a:tailEnd len="sm" w="sm" type="none"/>
                    </a:lnB>
                    <a:solidFill>
                      <a:schemeClr val="lt1"/>
                    </a:solidFill>
                  </a:tcPr>
                </a:tc>
              </a:tr>
            </a:tbl>
          </a:graphicData>
        </a:graphic>
      </p:graphicFrame>
      <p:sp>
        <p:nvSpPr>
          <p:cNvPr id="1073" name="Google Shape;1073;p85"/>
          <p:cNvSpPr txBox="1"/>
          <p:nvPr/>
        </p:nvSpPr>
        <p:spPr>
          <a:xfrm>
            <a:off x="6978350" y="810000"/>
            <a:ext cx="11232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500">
                <a:solidFill>
                  <a:schemeClr val="dk1"/>
                </a:solidFill>
                <a:latin typeface="Lexend"/>
                <a:ea typeface="Lexend"/>
                <a:cs typeface="Lexend"/>
                <a:sym typeface="Lexend"/>
              </a:rPr>
              <a:t>30%</a:t>
            </a:r>
            <a:endParaRPr sz="3500">
              <a:solidFill>
                <a:schemeClr val="dk1"/>
              </a:solidFill>
              <a:latin typeface="Lexend"/>
              <a:ea typeface="Lexend"/>
              <a:cs typeface="Lexend"/>
              <a:sym typeface="Lexend"/>
            </a:endParaRPr>
          </a:p>
        </p:txBody>
      </p:sp>
      <p:sp>
        <p:nvSpPr>
          <p:cNvPr id="1074" name="Google Shape;1074;p85"/>
          <p:cNvSpPr txBox="1"/>
          <p:nvPr/>
        </p:nvSpPr>
        <p:spPr>
          <a:xfrm>
            <a:off x="324000" y="1702500"/>
            <a:ext cx="196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15 blocks shaded</a:t>
            </a:r>
            <a:endParaRPr sz="1800">
              <a:latin typeface="Kalam"/>
              <a:ea typeface="Kalam"/>
              <a:cs typeface="Kalam"/>
              <a:sym typeface="Kalam"/>
            </a:endParaRPr>
          </a:p>
        </p:txBody>
      </p:sp>
      <p:sp>
        <p:nvSpPr>
          <p:cNvPr id="1075" name="Google Shape;1075;p85"/>
          <p:cNvSpPr txBox="1"/>
          <p:nvPr/>
        </p:nvSpPr>
        <p:spPr>
          <a:xfrm>
            <a:off x="2118925" y="4315550"/>
            <a:ext cx="185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3 blocks shaded</a:t>
            </a:r>
            <a:endParaRPr sz="1800">
              <a:latin typeface="Kalam"/>
              <a:ea typeface="Kalam"/>
              <a:cs typeface="Kalam"/>
              <a:sym typeface="Kalam"/>
            </a:endParaRPr>
          </a:p>
        </p:txBody>
      </p:sp>
      <p:sp>
        <p:nvSpPr>
          <p:cNvPr id="1076" name="Google Shape;1076;p85"/>
          <p:cNvSpPr txBox="1"/>
          <p:nvPr/>
        </p:nvSpPr>
        <p:spPr>
          <a:xfrm>
            <a:off x="3729075" y="16962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12 blocks shaded</a:t>
            </a:r>
            <a:endParaRPr sz="1800">
              <a:latin typeface="Kalam"/>
              <a:ea typeface="Kalam"/>
              <a:cs typeface="Kalam"/>
              <a:sym typeface="Kalam"/>
            </a:endParaRPr>
          </a:p>
        </p:txBody>
      </p:sp>
      <p:sp>
        <p:nvSpPr>
          <p:cNvPr id="1077" name="Google Shape;1077;p85"/>
          <p:cNvSpPr txBox="1"/>
          <p:nvPr/>
        </p:nvSpPr>
        <p:spPr>
          <a:xfrm>
            <a:off x="5944763" y="33771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 of a block shaded</a:t>
            </a:r>
            <a:endParaRPr sz="1800">
              <a:latin typeface="Kalam"/>
              <a:ea typeface="Kalam"/>
              <a:cs typeface="Kalam"/>
              <a:sym typeface="Kalam"/>
            </a:endParaRPr>
          </a:p>
        </p:txBody>
      </p:sp>
      <p:pic>
        <p:nvPicPr>
          <p:cNvPr descr="&lt;math xmlns=&quot;http://www.w3.org/1998/Math/MathML&quot; display=&quot;block&quot; data-is-equatio=&quot;1&quot; data-latex=&quot;\frac{30}{100}\times2\ =\ \frac{30\times2}{100}=\frac{30\times2}{50\times2}=\frac{30}{50}\times\frac{2}{2}=\frac{3}{5}\times1=\frac{3}{5}&quot;&gt;&lt;mfrac&gt;&lt;mn&gt;30&lt;/mn&gt;&lt;mn&gt;100&lt;/mn&gt;&lt;/mfrac&gt;&lt;mo&gt;×&lt;/mo&gt;&lt;mn&gt;2&lt;/mn&gt;&lt;mtext&gt;&lt;/mtext&gt;&lt;mo&gt;=&lt;/mo&gt;&lt;mtext&gt;&lt;/mtext&gt;&lt;mfrac&gt;&lt;mrow&gt;&lt;mn&gt;30&lt;/mn&gt;&lt;mo&gt;×&lt;/mo&gt;&lt;mn&gt;2&lt;/mn&gt;&lt;/mrow&gt;&lt;mn&gt;100&lt;/mn&gt;&lt;/mfrac&gt;&lt;mo&gt;=&lt;/mo&gt;&lt;mfrac&gt;&lt;mrow&gt;&lt;mn&gt;30&lt;/mn&gt;&lt;mo&gt;×&lt;/mo&gt;&lt;mn&gt;2&lt;/mn&gt;&lt;/mrow&gt;&lt;mrow&gt;&lt;mn&gt;50&lt;/mn&gt;&lt;mo&gt;×&lt;/mo&gt;&lt;mn&gt;2&lt;/mn&gt;&lt;/mrow&gt;&lt;/mfrac&gt;&lt;mo&gt;=&lt;/mo&gt;&lt;mfrac&gt;&lt;mn&gt;30&lt;/mn&gt;&lt;mn&gt;50&lt;/mn&gt;&lt;/mfrac&gt;&lt;mo&gt;×&lt;/mo&gt;&lt;mfrac&gt;&lt;mn&gt;2&lt;/mn&gt;&lt;mn&gt;2&lt;/mn&gt;&lt;/mfrac&gt;&lt;mo&gt;=&lt;/mo&gt;&lt;mfrac&gt;&lt;mn&gt;3&lt;/mn&gt;&lt;mn&gt;5&lt;/mn&gt;&lt;/mfrac&gt;&lt;mo&gt;×&lt;/mo&gt;&lt;mn&gt;1&lt;/mn&gt;&lt;mo&gt;=&lt;/mo&gt;&lt;mfrac&gt;&lt;mn&gt;3&lt;/mn&gt;&lt;mn&gt;5&lt;/mn&gt;&lt;/mfrac&gt;&lt;/math&gt;" id="1078" name="Google Shape;1078;p85" title="30 over 100 times 2 equals the fraction with numerator 30 times 2 and denominator 100 equals the fraction with numerator 30 times 2 and denominator 50 times 2 equals 30 over 50 times two halves equals three fifths times 1 equals three fifths"/>
          <p:cNvPicPr preferRelativeResize="0"/>
          <p:nvPr/>
        </p:nvPicPr>
        <p:blipFill rotWithShape="1">
          <a:blip r:embed="rId3">
            <a:alphaModFix/>
          </a:blip>
          <a:srcRect b="0" l="97529" r="-1834" t="0"/>
          <a:stretch/>
        </p:blipFill>
        <p:spPr>
          <a:xfrm>
            <a:off x="5847675" y="3240000"/>
            <a:ext cx="233624" cy="508028"/>
          </a:xfrm>
          <a:prstGeom prst="rect">
            <a:avLst/>
          </a:prstGeom>
          <a:noFill/>
          <a:ln>
            <a:noFill/>
          </a:ln>
        </p:spPr>
      </p:pic>
      <p:sp>
        <p:nvSpPr>
          <p:cNvPr id="1079" name="Google Shape;1079;p85"/>
          <p:cNvSpPr txBox="1"/>
          <p:nvPr>
            <p:ph idx="1" type="body"/>
          </p:nvPr>
        </p:nvSpPr>
        <p:spPr>
          <a:xfrm>
            <a:off x="324000" y="759300"/>
            <a:ext cx="57795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2b) What percentage is shaded on the 100 grid on the right?</a:t>
            </a:r>
            <a:endParaRPr sz="1800"/>
          </a:p>
          <a:p>
            <a:pPr indent="0" lvl="0" marL="0" rtl="0" algn="l">
              <a:spcBef>
                <a:spcPts val="1000"/>
              </a:spcBef>
              <a:spcAft>
                <a:spcPts val="1000"/>
              </a:spcAft>
              <a:buNone/>
            </a:pPr>
            <a:r>
              <a:rPr lang="en-GB" sz="1800"/>
              <a:t>Shade the same percentage on grids A to 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8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fractions and decimals</a:t>
            </a:r>
            <a:endParaRPr/>
          </a:p>
        </p:txBody>
      </p:sp>
      <p:sp>
        <p:nvSpPr>
          <p:cNvPr id="1085" name="Google Shape;1085;p8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086" name="Google Shape;1086;p8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percentages</a:t>
            </a:r>
            <a:endParaRPr/>
          </a:p>
        </p:txBody>
      </p:sp>
      <p:pic>
        <p:nvPicPr>
          <p:cNvPr id="1087" name="Google Shape;1087;p86"/>
          <p:cNvPicPr preferRelativeResize="0"/>
          <p:nvPr/>
        </p:nvPicPr>
        <p:blipFill>
          <a:blip r:embed="rId3">
            <a:alphaModFix/>
          </a:blip>
          <a:stretch>
            <a:fillRect/>
          </a:stretch>
        </p:blipFill>
        <p:spPr>
          <a:xfrm>
            <a:off x="415922" y="2988375"/>
            <a:ext cx="450575" cy="446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8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know percent comes from the Latin phrase “per centum” meaning “by the hundred” and we know fractions, decimals, percentages and ratio all represent proportion and we can change between them; this means there are lots of different ways to work out a percentage of an amount. </a:t>
            </a:r>
            <a:endParaRPr/>
          </a:p>
          <a:p>
            <a:pPr indent="0" lvl="0" marL="0" rtl="0" algn="l">
              <a:spcBef>
                <a:spcPts val="1000"/>
              </a:spcBef>
              <a:spcAft>
                <a:spcPts val="1000"/>
              </a:spcAft>
              <a:buNone/>
            </a:pPr>
            <a:r>
              <a:rPr lang="en-GB"/>
              <a:t>You will see lots of different ways, but it is </a:t>
            </a:r>
            <a:r>
              <a:rPr lang="en-GB"/>
              <a:t>essential</a:t>
            </a:r>
            <a:r>
              <a:rPr lang="en-GB"/>
              <a:t> you </a:t>
            </a:r>
            <a:r>
              <a:rPr lang="en-GB"/>
              <a:t>understand</a:t>
            </a:r>
            <a:r>
              <a:rPr lang="en-GB"/>
              <a:t> the reasoning behind the working out.</a:t>
            </a:r>
            <a:endParaRPr/>
          </a:p>
        </p:txBody>
      </p:sp>
      <p:sp>
        <p:nvSpPr>
          <p:cNvPr id="1093" name="Google Shape;1093;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88"/>
          <p:cNvSpPr txBox="1"/>
          <p:nvPr>
            <p:ph idx="1" type="body"/>
          </p:nvPr>
        </p:nvSpPr>
        <p:spPr>
          <a:xfrm>
            <a:off x="324000" y="759300"/>
            <a:ext cx="8237700" cy="1017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For example, we will find 40% of 600</a:t>
            </a:r>
            <a:endParaRPr/>
          </a:p>
          <a:p>
            <a:pPr indent="0" lvl="0" marL="0" rtl="0" algn="l">
              <a:spcBef>
                <a:spcPts val="1000"/>
              </a:spcBef>
              <a:spcAft>
                <a:spcPts val="1000"/>
              </a:spcAft>
              <a:buNone/>
            </a:pPr>
            <a:r>
              <a:rPr lang="en-GB"/>
              <a:t>We will initially use a bar model to demonstrate.</a:t>
            </a:r>
            <a:endParaRPr/>
          </a:p>
        </p:txBody>
      </p:sp>
      <p:sp>
        <p:nvSpPr>
          <p:cNvPr id="1099" name="Google Shape;1099;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graphicFrame>
        <p:nvGraphicFramePr>
          <p:cNvPr id="1100" name="Google Shape;1100;p88"/>
          <p:cNvGraphicFramePr/>
          <p:nvPr/>
        </p:nvGraphicFramePr>
        <p:xfrm>
          <a:off x="889825" y="2343309"/>
          <a:ext cx="3000000" cy="3000000"/>
        </p:xfrm>
        <a:graphic>
          <a:graphicData uri="http://schemas.openxmlformats.org/drawingml/2006/table">
            <a:tbl>
              <a:tblPr>
                <a:noFill/>
                <a:tableStyleId>{DFC9DB84-52D8-4539-8054-AB8EF78AA331}</a:tableStyleId>
              </a:tblPr>
              <a:tblGrid>
                <a:gridCol w="7239000"/>
              </a:tblGrid>
              <a:tr h="381000">
                <a:tc>
                  <a:txBody>
                    <a:bodyPr/>
                    <a:lstStyle/>
                    <a:p>
                      <a:pPr indent="0" lvl="0" marL="0" rtl="0" algn="ctr">
                        <a:spcBef>
                          <a:spcPts val="0"/>
                        </a:spcBef>
                        <a:spcAft>
                          <a:spcPts val="0"/>
                        </a:spcAft>
                        <a:buNone/>
                      </a:pPr>
                      <a:r>
                        <a:rPr lang="en-GB" sz="2200">
                          <a:latin typeface="Lexend"/>
                          <a:ea typeface="Lexend"/>
                          <a:cs typeface="Lexend"/>
                          <a:sym typeface="Lexend"/>
                        </a:rPr>
                        <a:t>600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01" name="Google Shape;1101;p88"/>
          <p:cNvSpPr/>
          <p:nvPr/>
        </p:nvSpPr>
        <p:spPr>
          <a:xfrm rot="-5400000">
            <a:off x="4417525" y="-577491"/>
            <a:ext cx="199800" cy="72552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2" name="Google Shape;1102;p88"/>
          <p:cNvSpPr txBox="1"/>
          <p:nvPr>
            <p:ph idx="1" type="body"/>
          </p:nvPr>
        </p:nvSpPr>
        <p:spPr>
          <a:xfrm>
            <a:off x="324000" y="3543575"/>
            <a:ext cx="8237700" cy="52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600 represents our 100%</a:t>
            </a:r>
            <a:endParaRPr/>
          </a:p>
        </p:txBody>
      </p:sp>
      <p:sp>
        <p:nvSpPr>
          <p:cNvPr id="1103" name="Google Shape;1103;p88"/>
          <p:cNvSpPr txBox="1"/>
          <p:nvPr/>
        </p:nvSpPr>
        <p:spPr>
          <a:xfrm>
            <a:off x="4320002" y="31774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graphicFrame>
        <p:nvGraphicFramePr>
          <p:cNvPr id="1109" name="Google Shape;1109;p89"/>
          <p:cNvGraphicFramePr/>
          <p:nvPr/>
        </p:nvGraphicFramePr>
        <p:xfrm>
          <a:off x="889825" y="2342859"/>
          <a:ext cx="3000000" cy="3000000"/>
        </p:xfrm>
        <a:graphic>
          <a:graphicData uri="http://schemas.openxmlformats.org/drawingml/2006/table">
            <a:tbl>
              <a:tblPr>
                <a:noFill/>
                <a:tableStyleId>{DFC9DB84-52D8-4539-8054-AB8EF78AA331}</a:tableStyleId>
              </a:tblPr>
              <a:tblGrid>
                <a:gridCol w="7239000"/>
              </a:tblGrid>
              <a:tr h="381000">
                <a:tc>
                  <a:txBody>
                    <a:bodyPr/>
                    <a:lstStyle/>
                    <a:p>
                      <a:pPr indent="0" lvl="0" marL="0" rtl="0" algn="ctr">
                        <a:spcBef>
                          <a:spcPts val="0"/>
                        </a:spcBef>
                        <a:spcAft>
                          <a:spcPts val="0"/>
                        </a:spcAft>
                        <a:buNone/>
                      </a:pPr>
                      <a:r>
                        <a:rPr lang="en-GB" sz="2200">
                          <a:latin typeface="Lexend"/>
                          <a:ea typeface="Lexend"/>
                          <a:cs typeface="Lexend"/>
                          <a:sym typeface="Lexend"/>
                        </a:rPr>
                        <a:t>600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10" name="Google Shape;1110;p89"/>
          <p:cNvSpPr txBox="1"/>
          <p:nvPr>
            <p:ph idx="1" type="body"/>
          </p:nvPr>
        </p:nvSpPr>
        <p:spPr>
          <a:xfrm>
            <a:off x="324000" y="3417290"/>
            <a:ext cx="8237700" cy="52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600 represents our 100%</a:t>
            </a:r>
            <a:endParaRPr/>
          </a:p>
          <a:p>
            <a:pPr indent="0" lvl="0" marL="0" rtl="0" algn="l">
              <a:spcBef>
                <a:spcPts val="1000"/>
              </a:spcBef>
              <a:spcAft>
                <a:spcPts val="1000"/>
              </a:spcAft>
              <a:buNone/>
            </a:pPr>
            <a:r>
              <a:rPr lang="en-GB"/>
              <a:t>Therefore, dividing it into 10 equal parts represents 10%</a:t>
            </a:r>
            <a:endParaRPr/>
          </a:p>
        </p:txBody>
      </p:sp>
      <p:graphicFrame>
        <p:nvGraphicFramePr>
          <p:cNvPr id="1111" name="Google Shape;1111;p89"/>
          <p:cNvGraphicFramePr/>
          <p:nvPr/>
        </p:nvGraphicFramePr>
        <p:xfrm>
          <a:off x="889825" y="2342859"/>
          <a:ext cx="3000000" cy="3000000"/>
        </p:xfrm>
        <a:graphic>
          <a:graphicData uri="http://schemas.openxmlformats.org/drawingml/2006/table">
            <a:tbl>
              <a:tblPr>
                <a:noFill/>
                <a:tableStyleId>{DFC9DB84-52D8-4539-8054-AB8EF78AA331}</a:tableStyleId>
              </a:tblPr>
              <a:tblGrid>
                <a:gridCol w="723900"/>
                <a:gridCol w="723900"/>
                <a:gridCol w="723900"/>
                <a:gridCol w="723900"/>
                <a:gridCol w="723900"/>
                <a:gridCol w="723900"/>
                <a:gridCol w="723900"/>
                <a:gridCol w="723900"/>
                <a:gridCol w="723900"/>
                <a:gridCol w="723900"/>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12" name="Google Shape;1112;p89"/>
          <p:cNvSpPr/>
          <p:nvPr/>
        </p:nvSpPr>
        <p:spPr>
          <a:xfrm rot="5400000">
            <a:off x="1147100"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3" name="Google Shape;1113;p89"/>
          <p:cNvSpPr txBox="1"/>
          <p:nvPr/>
        </p:nvSpPr>
        <p:spPr>
          <a:xfrm>
            <a:off x="8898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14" name="Google Shape;1114;p89"/>
          <p:cNvSpPr/>
          <p:nvPr/>
        </p:nvSpPr>
        <p:spPr>
          <a:xfrm rot="5400000">
            <a:off x="1890424"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5" name="Google Shape;1115;p89"/>
          <p:cNvSpPr txBox="1"/>
          <p:nvPr/>
        </p:nvSpPr>
        <p:spPr>
          <a:xfrm>
            <a:off x="16518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16" name="Google Shape;1116;p89"/>
          <p:cNvSpPr/>
          <p:nvPr/>
        </p:nvSpPr>
        <p:spPr>
          <a:xfrm rot="5400000">
            <a:off x="2594900"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7" name="Google Shape;1117;p89"/>
          <p:cNvSpPr txBox="1"/>
          <p:nvPr/>
        </p:nvSpPr>
        <p:spPr>
          <a:xfrm>
            <a:off x="23376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18" name="Google Shape;1118;p89"/>
          <p:cNvSpPr/>
          <p:nvPr/>
        </p:nvSpPr>
        <p:spPr>
          <a:xfrm rot="5400000">
            <a:off x="3338224"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9" name="Google Shape;1119;p89"/>
          <p:cNvSpPr txBox="1"/>
          <p:nvPr/>
        </p:nvSpPr>
        <p:spPr>
          <a:xfrm>
            <a:off x="30996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20" name="Google Shape;1120;p89"/>
          <p:cNvSpPr/>
          <p:nvPr/>
        </p:nvSpPr>
        <p:spPr>
          <a:xfrm rot="5400000">
            <a:off x="4042700"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1" name="Google Shape;1121;p89"/>
          <p:cNvSpPr txBox="1"/>
          <p:nvPr/>
        </p:nvSpPr>
        <p:spPr>
          <a:xfrm>
            <a:off x="37854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22" name="Google Shape;1122;p89"/>
          <p:cNvSpPr/>
          <p:nvPr/>
        </p:nvSpPr>
        <p:spPr>
          <a:xfrm rot="5400000">
            <a:off x="4786024"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3" name="Google Shape;1123;p89"/>
          <p:cNvSpPr txBox="1"/>
          <p:nvPr/>
        </p:nvSpPr>
        <p:spPr>
          <a:xfrm>
            <a:off x="45474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24" name="Google Shape;1124;p89"/>
          <p:cNvSpPr/>
          <p:nvPr/>
        </p:nvSpPr>
        <p:spPr>
          <a:xfrm rot="5400000">
            <a:off x="5490500"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5" name="Google Shape;1125;p89"/>
          <p:cNvSpPr txBox="1"/>
          <p:nvPr/>
        </p:nvSpPr>
        <p:spPr>
          <a:xfrm>
            <a:off x="52332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26" name="Google Shape;1126;p89"/>
          <p:cNvSpPr/>
          <p:nvPr/>
        </p:nvSpPr>
        <p:spPr>
          <a:xfrm rot="5400000">
            <a:off x="6233824"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7" name="Google Shape;1127;p89"/>
          <p:cNvSpPr txBox="1"/>
          <p:nvPr/>
        </p:nvSpPr>
        <p:spPr>
          <a:xfrm>
            <a:off x="59952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28" name="Google Shape;1128;p89"/>
          <p:cNvSpPr/>
          <p:nvPr/>
        </p:nvSpPr>
        <p:spPr>
          <a:xfrm rot="5400000">
            <a:off x="6938300"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9" name="Google Shape;1129;p89"/>
          <p:cNvSpPr txBox="1"/>
          <p:nvPr/>
        </p:nvSpPr>
        <p:spPr>
          <a:xfrm>
            <a:off x="66810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30" name="Google Shape;1130;p89"/>
          <p:cNvSpPr/>
          <p:nvPr/>
        </p:nvSpPr>
        <p:spPr>
          <a:xfrm rot="5400000">
            <a:off x="7681624" y="179220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1" name="Google Shape;1131;p89"/>
          <p:cNvSpPr txBox="1"/>
          <p:nvPr/>
        </p:nvSpPr>
        <p:spPr>
          <a:xfrm>
            <a:off x="7443026" y="178200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32" name="Google Shape;1132;p89"/>
          <p:cNvSpPr/>
          <p:nvPr/>
        </p:nvSpPr>
        <p:spPr>
          <a:xfrm rot="-5400000">
            <a:off x="4417525" y="-577941"/>
            <a:ext cx="199800" cy="72552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3" name="Google Shape;1133;p89"/>
          <p:cNvSpPr txBox="1"/>
          <p:nvPr/>
        </p:nvSpPr>
        <p:spPr>
          <a:xfrm>
            <a:off x="4320002" y="317699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sp>
        <p:nvSpPr>
          <p:cNvPr id="1134" name="Google Shape;1134;p89"/>
          <p:cNvSpPr txBox="1"/>
          <p:nvPr>
            <p:ph idx="1" type="body"/>
          </p:nvPr>
        </p:nvSpPr>
        <p:spPr>
          <a:xfrm>
            <a:off x="324000" y="759600"/>
            <a:ext cx="8237700" cy="410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For example, we will find 40% of 600</a:t>
            </a:r>
            <a:endParaRPr/>
          </a:p>
          <a:p>
            <a:pPr indent="0" lvl="0" marL="0" rtl="0" algn="l">
              <a:spcBef>
                <a:spcPts val="1000"/>
              </a:spcBef>
              <a:spcAft>
                <a:spcPts val="10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140" name="Google Shape;1140;p90"/>
          <p:cNvSpPr txBox="1"/>
          <p:nvPr>
            <p:ph idx="1" type="body"/>
          </p:nvPr>
        </p:nvSpPr>
        <p:spPr>
          <a:xfrm>
            <a:off x="324000" y="1267200"/>
            <a:ext cx="8237700" cy="593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600 ÷ 10 = 60   t</a:t>
            </a:r>
            <a:r>
              <a:rPr lang="en-GB"/>
              <a:t>herefore 10% of 600 = 60</a:t>
            </a:r>
            <a:endParaRPr/>
          </a:p>
        </p:txBody>
      </p:sp>
      <p:graphicFrame>
        <p:nvGraphicFramePr>
          <p:cNvPr id="1141" name="Google Shape;1141;p90"/>
          <p:cNvGraphicFramePr/>
          <p:nvPr/>
        </p:nvGraphicFramePr>
        <p:xfrm>
          <a:off x="897925" y="2333846"/>
          <a:ext cx="3000000" cy="3000000"/>
        </p:xfrm>
        <a:graphic>
          <a:graphicData uri="http://schemas.openxmlformats.org/drawingml/2006/table">
            <a:tbl>
              <a:tblPr>
                <a:noFill/>
                <a:tableStyleId>{DFC9DB84-52D8-4539-8054-AB8EF78AA331}</a:tableStyleId>
              </a:tblPr>
              <a:tblGrid>
                <a:gridCol w="723900"/>
                <a:gridCol w="723900"/>
                <a:gridCol w="723900"/>
                <a:gridCol w="723900"/>
                <a:gridCol w="723900"/>
                <a:gridCol w="723900"/>
                <a:gridCol w="723900"/>
                <a:gridCol w="723900"/>
                <a:gridCol w="723900"/>
                <a:gridCol w="723900"/>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42" name="Google Shape;1142;p90"/>
          <p:cNvSpPr/>
          <p:nvPr/>
        </p:nvSpPr>
        <p:spPr>
          <a:xfrm rot="5400000">
            <a:off x="11471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3" name="Google Shape;1143;p90"/>
          <p:cNvSpPr txBox="1"/>
          <p:nvPr/>
        </p:nvSpPr>
        <p:spPr>
          <a:xfrm>
            <a:off x="8898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44" name="Google Shape;1144;p90"/>
          <p:cNvSpPr/>
          <p:nvPr/>
        </p:nvSpPr>
        <p:spPr>
          <a:xfrm rot="5400000">
            <a:off x="1870999" y="18013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5" name="Google Shape;1145;p90"/>
          <p:cNvSpPr txBox="1"/>
          <p:nvPr/>
        </p:nvSpPr>
        <p:spPr>
          <a:xfrm>
            <a:off x="16518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46" name="Google Shape;1146;p90"/>
          <p:cNvSpPr/>
          <p:nvPr/>
        </p:nvSpPr>
        <p:spPr>
          <a:xfrm rot="5400000">
            <a:off x="25949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7" name="Google Shape;1147;p90"/>
          <p:cNvSpPr txBox="1"/>
          <p:nvPr/>
        </p:nvSpPr>
        <p:spPr>
          <a:xfrm>
            <a:off x="23376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48" name="Google Shape;1148;p90"/>
          <p:cNvSpPr/>
          <p:nvPr/>
        </p:nvSpPr>
        <p:spPr>
          <a:xfrm rot="5400000">
            <a:off x="33382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9" name="Google Shape;1149;p90"/>
          <p:cNvSpPr txBox="1"/>
          <p:nvPr/>
        </p:nvSpPr>
        <p:spPr>
          <a:xfrm>
            <a:off x="30996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50" name="Google Shape;1150;p90"/>
          <p:cNvSpPr/>
          <p:nvPr/>
        </p:nvSpPr>
        <p:spPr>
          <a:xfrm rot="5400000">
            <a:off x="40427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1" name="Google Shape;1151;p90"/>
          <p:cNvSpPr txBox="1"/>
          <p:nvPr/>
        </p:nvSpPr>
        <p:spPr>
          <a:xfrm>
            <a:off x="37854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52" name="Google Shape;1152;p90"/>
          <p:cNvSpPr/>
          <p:nvPr/>
        </p:nvSpPr>
        <p:spPr>
          <a:xfrm rot="5400000">
            <a:off x="47860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3" name="Google Shape;1153;p90"/>
          <p:cNvSpPr txBox="1"/>
          <p:nvPr/>
        </p:nvSpPr>
        <p:spPr>
          <a:xfrm>
            <a:off x="45474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54" name="Google Shape;1154;p90"/>
          <p:cNvSpPr/>
          <p:nvPr/>
        </p:nvSpPr>
        <p:spPr>
          <a:xfrm rot="5400000">
            <a:off x="54905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5" name="Google Shape;1155;p90"/>
          <p:cNvSpPr txBox="1"/>
          <p:nvPr/>
        </p:nvSpPr>
        <p:spPr>
          <a:xfrm>
            <a:off x="52332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56" name="Google Shape;1156;p90"/>
          <p:cNvSpPr/>
          <p:nvPr/>
        </p:nvSpPr>
        <p:spPr>
          <a:xfrm rot="5400000">
            <a:off x="62338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7" name="Google Shape;1157;p90"/>
          <p:cNvSpPr txBox="1"/>
          <p:nvPr/>
        </p:nvSpPr>
        <p:spPr>
          <a:xfrm>
            <a:off x="59952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58" name="Google Shape;1158;p90"/>
          <p:cNvSpPr/>
          <p:nvPr/>
        </p:nvSpPr>
        <p:spPr>
          <a:xfrm rot="5400000">
            <a:off x="69383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9" name="Google Shape;1159;p90"/>
          <p:cNvSpPr txBox="1"/>
          <p:nvPr/>
        </p:nvSpPr>
        <p:spPr>
          <a:xfrm>
            <a:off x="66810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60" name="Google Shape;1160;p90"/>
          <p:cNvSpPr/>
          <p:nvPr/>
        </p:nvSpPr>
        <p:spPr>
          <a:xfrm rot="5400000">
            <a:off x="76816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1" name="Google Shape;1161;p90"/>
          <p:cNvSpPr txBox="1"/>
          <p:nvPr/>
        </p:nvSpPr>
        <p:spPr>
          <a:xfrm>
            <a:off x="74430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62" name="Google Shape;1162;p90"/>
          <p:cNvSpPr/>
          <p:nvPr/>
        </p:nvSpPr>
        <p:spPr>
          <a:xfrm rot="-5400000">
            <a:off x="4417525" y="-577491"/>
            <a:ext cx="199800" cy="72552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90"/>
          <p:cNvSpPr txBox="1"/>
          <p:nvPr/>
        </p:nvSpPr>
        <p:spPr>
          <a:xfrm>
            <a:off x="4320002" y="31774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aphicFrame>
        <p:nvGraphicFramePr>
          <p:cNvPr id="1164" name="Google Shape;1164;p90"/>
          <p:cNvGraphicFramePr/>
          <p:nvPr/>
        </p:nvGraphicFramePr>
        <p:xfrm>
          <a:off x="897925" y="2340971"/>
          <a:ext cx="3000000" cy="3000000"/>
        </p:xfrm>
        <a:graphic>
          <a:graphicData uri="http://schemas.openxmlformats.org/drawingml/2006/table">
            <a:tbl>
              <a:tblPr>
                <a:noFill/>
                <a:tableStyleId>{DFC9DB84-52D8-4539-8054-AB8EF78AA331}</a:tableStyleId>
              </a:tblPr>
              <a:tblGrid>
                <a:gridCol w="723900"/>
                <a:gridCol w="723900"/>
                <a:gridCol w="723900"/>
                <a:gridCol w="723900"/>
                <a:gridCol w="723900"/>
                <a:gridCol w="723900"/>
                <a:gridCol w="723900"/>
                <a:gridCol w="723900"/>
                <a:gridCol w="723900"/>
                <a:gridCol w="723900"/>
              </a:tblGrid>
              <a:tr h="381000">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65" name="Google Shape;1165;p90"/>
          <p:cNvSpPr txBox="1"/>
          <p:nvPr>
            <p:ph idx="1" type="body"/>
          </p:nvPr>
        </p:nvSpPr>
        <p:spPr>
          <a:xfrm>
            <a:off x="324000" y="759600"/>
            <a:ext cx="8237700" cy="52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For example, we will find 40% of 600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171" name="Google Shape;1171;p91"/>
          <p:cNvSpPr txBox="1"/>
          <p:nvPr>
            <p:ph idx="1" type="body"/>
          </p:nvPr>
        </p:nvSpPr>
        <p:spPr>
          <a:xfrm>
            <a:off x="324000" y="12165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40% of 600 = 60 × 4 = 240 </a:t>
            </a:r>
            <a:endParaRPr/>
          </a:p>
        </p:txBody>
      </p:sp>
      <p:graphicFrame>
        <p:nvGraphicFramePr>
          <p:cNvPr id="1172" name="Google Shape;1172;p91"/>
          <p:cNvGraphicFramePr/>
          <p:nvPr/>
        </p:nvGraphicFramePr>
        <p:xfrm>
          <a:off x="897925" y="2333846"/>
          <a:ext cx="3000000" cy="3000000"/>
        </p:xfrm>
        <a:graphic>
          <a:graphicData uri="http://schemas.openxmlformats.org/drawingml/2006/table">
            <a:tbl>
              <a:tblPr>
                <a:noFill/>
                <a:tableStyleId>{DFC9DB84-52D8-4539-8054-AB8EF78AA331}</a:tableStyleId>
              </a:tblPr>
              <a:tblGrid>
                <a:gridCol w="723900"/>
                <a:gridCol w="723900"/>
                <a:gridCol w="723900"/>
                <a:gridCol w="723900"/>
                <a:gridCol w="723900"/>
                <a:gridCol w="723900"/>
                <a:gridCol w="723900"/>
                <a:gridCol w="723900"/>
                <a:gridCol w="723900"/>
                <a:gridCol w="723900"/>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73" name="Google Shape;1173;p91"/>
          <p:cNvSpPr/>
          <p:nvPr/>
        </p:nvSpPr>
        <p:spPr>
          <a:xfrm rot="5400000">
            <a:off x="11471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4" name="Google Shape;1174;p91"/>
          <p:cNvSpPr/>
          <p:nvPr/>
        </p:nvSpPr>
        <p:spPr>
          <a:xfrm rot="5400000">
            <a:off x="18904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5" name="Google Shape;1175;p91"/>
          <p:cNvSpPr/>
          <p:nvPr/>
        </p:nvSpPr>
        <p:spPr>
          <a:xfrm rot="5400000">
            <a:off x="25949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6" name="Google Shape;1176;p91"/>
          <p:cNvSpPr/>
          <p:nvPr/>
        </p:nvSpPr>
        <p:spPr>
          <a:xfrm rot="5400000">
            <a:off x="33382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7" name="Google Shape;1177;p91"/>
          <p:cNvSpPr/>
          <p:nvPr/>
        </p:nvSpPr>
        <p:spPr>
          <a:xfrm rot="5400000">
            <a:off x="40427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8" name="Google Shape;1178;p91"/>
          <p:cNvSpPr/>
          <p:nvPr/>
        </p:nvSpPr>
        <p:spPr>
          <a:xfrm rot="5400000">
            <a:off x="47860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9" name="Google Shape;1179;p91"/>
          <p:cNvSpPr/>
          <p:nvPr/>
        </p:nvSpPr>
        <p:spPr>
          <a:xfrm rot="5400000">
            <a:off x="54905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0" name="Google Shape;1180;p91"/>
          <p:cNvSpPr/>
          <p:nvPr/>
        </p:nvSpPr>
        <p:spPr>
          <a:xfrm rot="5400000">
            <a:off x="62338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1" name="Google Shape;1181;p91"/>
          <p:cNvSpPr/>
          <p:nvPr/>
        </p:nvSpPr>
        <p:spPr>
          <a:xfrm rot="5400000">
            <a:off x="6938300"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2" name="Google Shape;1182;p91"/>
          <p:cNvSpPr/>
          <p:nvPr/>
        </p:nvSpPr>
        <p:spPr>
          <a:xfrm rot="5400000">
            <a:off x="7681624" y="1792650"/>
            <a:ext cx="199800" cy="714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3" name="Google Shape;1183;p91"/>
          <p:cNvSpPr/>
          <p:nvPr/>
        </p:nvSpPr>
        <p:spPr>
          <a:xfrm rot="-5400000">
            <a:off x="4417525" y="-577491"/>
            <a:ext cx="199800" cy="72552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4" name="Google Shape;1184;p91"/>
          <p:cNvSpPr txBox="1"/>
          <p:nvPr/>
        </p:nvSpPr>
        <p:spPr>
          <a:xfrm>
            <a:off x="4320002" y="3177446"/>
            <a:ext cx="131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a:t>
            </a:r>
            <a:endParaRPr sz="2200">
              <a:solidFill>
                <a:srgbClr val="000000"/>
              </a:solidFill>
              <a:latin typeface="Lexend"/>
              <a:ea typeface="Lexend"/>
              <a:cs typeface="Lexend"/>
              <a:sym typeface="Lexend"/>
            </a:endParaRPr>
          </a:p>
        </p:txBody>
      </p:sp>
      <p:graphicFrame>
        <p:nvGraphicFramePr>
          <p:cNvPr id="1185" name="Google Shape;1185;p91"/>
          <p:cNvGraphicFramePr/>
          <p:nvPr/>
        </p:nvGraphicFramePr>
        <p:xfrm>
          <a:off x="897925" y="2340971"/>
          <a:ext cx="3000000" cy="3000000"/>
        </p:xfrm>
        <a:graphic>
          <a:graphicData uri="http://schemas.openxmlformats.org/drawingml/2006/table">
            <a:tbl>
              <a:tblPr>
                <a:noFill/>
                <a:tableStyleId>{DFC9DB84-52D8-4539-8054-AB8EF78AA331}</a:tableStyleId>
              </a:tblPr>
              <a:tblGrid>
                <a:gridCol w="723900"/>
                <a:gridCol w="723900"/>
                <a:gridCol w="723900"/>
                <a:gridCol w="723900"/>
                <a:gridCol w="723900"/>
                <a:gridCol w="723900"/>
                <a:gridCol w="723900"/>
                <a:gridCol w="723900"/>
                <a:gridCol w="723900"/>
                <a:gridCol w="723900"/>
              </a:tblGrid>
              <a:tr h="381000">
                <a:tc>
                  <a:txBody>
                    <a:bodyPr/>
                    <a:lstStyle/>
                    <a:p>
                      <a:pPr indent="0" lvl="0" marL="0" rtl="0" algn="ctr">
                        <a:spcBef>
                          <a:spcPts val="0"/>
                        </a:spcBef>
                        <a:spcAft>
                          <a:spcPts val="0"/>
                        </a:spcAft>
                        <a:buNone/>
                      </a:pPr>
                      <a:r>
                        <a:rPr lang="en-GB" sz="2200">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00"/>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60</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1186" name="Google Shape;1186;p91"/>
          <p:cNvSpPr txBox="1"/>
          <p:nvPr>
            <p:ph idx="1" type="body"/>
          </p:nvPr>
        </p:nvSpPr>
        <p:spPr>
          <a:xfrm>
            <a:off x="324000" y="759300"/>
            <a:ext cx="8237700" cy="52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For example, we will find 40% of 600</a:t>
            </a:r>
            <a:endParaRPr/>
          </a:p>
          <a:p>
            <a:pPr indent="0" lvl="0" marL="0" rtl="0" algn="l">
              <a:spcBef>
                <a:spcPts val="1000"/>
              </a:spcBef>
              <a:spcAft>
                <a:spcPts val="1000"/>
              </a:spcAft>
              <a:buNone/>
            </a:pPr>
            <a:r>
              <a:rPr lang="en-GB"/>
              <a:t> </a:t>
            </a:r>
            <a:endParaRPr/>
          </a:p>
        </p:txBody>
      </p:sp>
      <p:sp>
        <p:nvSpPr>
          <p:cNvPr id="1187" name="Google Shape;1187;p91"/>
          <p:cNvSpPr txBox="1"/>
          <p:nvPr/>
        </p:nvSpPr>
        <p:spPr>
          <a:xfrm>
            <a:off x="8898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88" name="Google Shape;1188;p91"/>
          <p:cNvSpPr txBox="1"/>
          <p:nvPr/>
        </p:nvSpPr>
        <p:spPr>
          <a:xfrm>
            <a:off x="16518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89" name="Google Shape;1189;p91"/>
          <p:cNvSpPr txBox="1"/>
          <p:nvPr/>
        </p:nvSpPr>
        <p:spPr>
          <a:xfrm>
            <a:off x="23376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90" name="Google Shape;1190;p91"/>
          <p:cNvSpPr txBox="1"/>
          <p:nvPr/>
        </p:nvSpPr>
        <p:spPr>
          <a:xfrm>
            <a:off x="30996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91" name="Google Shape;1191;p91"/>
          <p:cNvSpPr txBox="1"/>
          <p:nvPr/>
        </p:nvSpPr>
        <p:spPr>
          <a:xfrm>
            <a:off x="37854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92" name="Google Shape;1192;p91"/>
          <p:cNvSpPr txBox="1"/>
          <p:nvPr/>
        </p:nvSpPr>
        <p:spPr>
          <a:xfrm>
            <a:off x="45474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93" name="Google Shape;1193;p91"/>
          <p:cNvSpPr txBox="1"/>
          <p:nvPr/>
        </p:nvSpPr>
        <p:spPr>
          <a:xfrm>
            <a:off x="52332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94" name="Google Shape;1194;p91"/>
          <p:cNvSpPr txBox="1"/>
          <p:nvPr/>
        </p:nvSpPr>
        <p:spPr>
          <a:xfrm>
            <a:off x="59952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95" name="Google Shape;1195;p91"/>
          <p:cNvSpPr txBox="1"/>
          <p:nvPr/>
        </p:nvSpPr>
        <p:spPr>
          <a:xfrm>
            <a:off x="66810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96" name="Google Shape;1196;p91"/>
          <p:cNvSpPr txBox="1"/>
          <p:nvPr/>
        </p:nvSpPr>
        <p:spPr>
          <a:xfrm>
            <a:off x="7443026" y="17824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02" name="Google Shape;1202;p9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Looking at</a:t>
            </a:r>
            <a:r>
              <a:rPr lang="en-GB" sz="1900"/>
              <a:t> how we found</a:t>
            </a:r>
            <a:r>
              <a:rPr lang="en-GB" sz="1900"/>
              <a:t> 40% of 600 means we can </a:t>
            </a:r>
            <a:r>
              <a:rPr lang="en-GB" sz="1900"/>
              <a:t>calculate multiples of 10% without the representation.</a:t>
            </a:r>
            <a:endParaRPr sz="1900"/>
          </a:p>
          <a:p>
            <a:pPr indent="0" lvl="0" marL="0" rtl="0" algn="l">
              <a:spcBef>
                <a:spcPts val="1000"/>
              </a:spcBef>
              <a:spcAft>
                <a:spcPts val="1000"/>
              </a:spcAft>
              <a:buNone/>
            </a:pPr>
            <a:r>
              <a:t/>
            </a:r>
            <a:endParaRPr sz="1900"/>
          </a:p>
        </p:txBody>
      </p:sp>
      <p:pic>
        <p:nvPicPr>
          <p:cNvPr id="1203" name="Google Shape;1203;p92"/>
          <p:cNvPicPr preferRelativeResize="0"/>
          <p:nvPr/>
        </p:nvPicPr>
        <p:blipFill>
          <a:blip r:embed="rId3">
            <a:alphaModFix/>
          </a:blip>
          <a:stretch>
            <a:fillRect/>
          </a:stretch>
        </p:blipFill>
        <p:spPr>
          <a:xfrm>
            <a:off x="3289993" y="1504275"/>
            <a:ext cx="5072835" cy="853724"/>
          </a:xfrm>
          <a:prstGeom prst="rect">
            <a:avLst/>
          </a:prstGeom>
          <a:noFill/>
          <a:ln>
            <a:noFill/>
          </a:ln>
        </p:spPr>
      </p:pic>
      <p:sp>
        <p:nvSpPr>
          <p:cNvPr id="1204" name="Google Shape;1204;p92"/>
          <p:cNvSpPr txBox="1"/>
          <p:nvPr/>
        </p:nvSpPr>
        <p:spPr>
          <a:xfrm>
            <a:off x="324000" y="1567950"/>
            <a:ext cx="2913300" cy="1093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900">
                <a:solidFill>
                  <a:schemeClr val="dk1"/>
                </a:solidFill>
                <a:latin typeface="Lexend"/>
                <a:ea typeface="Lexend"/>
                <a:cs typeface="Lexend"/>
                <a:sym typeface="Lexend"/>
              </a:rPr>
              <a:t>We recogni</a:t>
            </a:r>
            <a:r>
              <a:rPr lang="en-GB" sz="1900">
                <a:solidFill>
                  <a:schemeClr val="dk1"/>
                </a:solidFill>
                <a:latin typeface="Lexend"/>
                <a:ea typeface="Lexend"/>
                <a:cs typeface="Lexend"/>
                <a:sym typeface="Lexend"/>
              </a:rPr>
              <a:t>sed</a:t>
            </a:r>
            <a:r>
              <a:rPr lang="en-GB" sz="1900">
                <a:solidFill>
                  <a:schemeClr val="dk1"/>
                </a:solidFill>
                <a:latin typeface="Lexend"/>
                <a:ea typeface="Lexend"/>
                <a:cs typeface="Lexend"/>
                <a:sym typeface="Lexend"/>
              </a:rPr>
              <a:t> 100% </a:t>
            </a:r>
            <a:r>
              <a:rPr lang="en-GB" sz="1900">
                <a:solidFill>
                  <a:schemeClr val="dk1"/>
                </a:solidFill>
                <a:latin typeface="Lexend"/>
                <a:ea typeface="Lexend"/>
                <a:cs typeface="Lexend"/>
                <a:sym typeface="Lexend"/>
              </a:rPr>
              <a:t>was</a:t>
            </a:r>
            <a:r>
              <a:rPr lang="en-GB" sz="1900">
                <a:solidFill>
                  <a:schemeClr val="dk1"/>
                </a:solidFill>
                <a:latin typeface="Lexend"/>
                <a:ea typeface="Lexend"/>
                <a:cs typeface="Lexend"/>
                <a:sym typeface="Lexend"/>
              </a:rPr>
              <a:t> equivalent to 600</a:t>
            </a:r>
            <a:endParaRPr sz="19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900">
                <a:solidFill>
                  <a:schemeClr val="dk1"/>
                </a:solidFill>
                <a:latin typeface="Lexend"/>
                <a:ea typeface="Lexend"/>
                <a:cs typeface="Lexend"/>
                <a:sym typeface="Lexend"/>
              </a:rPr>
              <a:t> </a:t>
            </a:r>
            <a:endParaRPr sz="1900">
              <a:solidFill>
                <a:schemeClr val="dk1"/>
              </a:solidFill>
              <a:latin typeface="Lexend"/>
              <a:ea typeface="Lexend"/>
              <a:cs typeface="Lexend"/>
              <a:sym typeface="Lexend"/>
            </a:endParaRPr>
          </a:p>
        </p:txBody>
      </p:sp>
      <p:sp>
        <p:nvSpPr>
          <p:cNvPr id="1205" name="Google Shape;1205;p92"/>
          <p:cNvSpPr txBox="1"/>
          <p:nvPr/>
        </p:nvSpPr>
        <p:spPr>
          <a:xfrm>
            <a:off x="323950" y="2597825"/>
            <a:ext cx="2913300" cy="756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900">
                <a:solidFill>
                  <a:schemeClr val="dk1"/>
                </a:solidFill>
                <a:latin typeface="Lexend"/>
                <a:ea typeface="Lexend"/>
                <a:cs typeface="Lexend"/>
                <a:sym typeface="Lexend"/>
              </a:rPr>
              <a:t>We </a:t>
            </a:r>
            <a:r>
              <a:rPr lang="en-GB" sz="1900">
                <a:solidFill>
                  <a:schemeClr val="dk1"/>
                </a:solidFill>
                <a:latin typeface="Lexend"/>
                <a:ea typeface="Lexend"/>
                <a:cs typeface="Lexend"/>
                <a:sym typeface="Lexend"/>
              </a:rPr>
              <a:t>found</a:t>
            </a:r>
            <a:r>
              <a:rPr lang="en-GB" sz="1900">
                <a:solidFill>
                  <a:schemeClr val="dk1"/>
                </a:solidFill>
                <a:latin typeface="Lexend"/>
                <a:ea typeface="Lexend"/>
                <a:cs typeface="Lexend"/>
                <a:sym typeface="Lexend"/>
              </a:rPr>
              <a:t> 10% </a:t>
            </a:r>
            <a:r>
              <a:rPr lang="en-GB" sz="1900">
                <a:solidFill>
                  <a:schemeClr val="dk1"/>
                </a:solidFill>
                <a:latin typeface="Lexend"/>
                <a:ea typeface="Lexend"/>
                <a:cs typeface="Lexend"/>
                <a:sym typeface="Lexend"/>
              </a:rPr>
              <a:t>by</a:t>
            </a:r>
            <a:endParaRPr sz="19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900">
                <a:solidFill>
                  <a:schemeClr val="dk1"/>
                </a:solidFill>
                <a:latin typeface="Lexend"/>
                <a:ea typeface="Lexend"/>
                <a:cs typeface="Lexend"/>
                <a:sym typeface="Lexend"/>
              </a:rPr>
              <a:t>600 ÷ 10 = 60</a:t>
            </a:r>
            <a:endParaRPr sz="1900">
              <a:solidFill>
                <a:schemeClr val="dk1"/>
              </a:solidFill>
              <a:latin typeface="Lexend"/>
              <a:ea typeface="Lexend"/>
              <a:cs typeface="Lexend"/>
              <a:sym typeface="Lexend"/>
            </a:endParaRPr>
          </a:p>
        </p:txBody>
      </p:sp>
      <p:pic>
        <p:nvPicPr>
          <p:cNvPr id="1206" name="Google Shape;1206;p92"/>
          <p:cNvPicPr preferRelativeResize="0"/>
          <p:nvPr/>
        </p:nvPicPr>
        <p:blipFill rotWithShape="1">
          <a:blip r:embed="rId4">
            <a:alphaModFix/>
          </a:blip>
          <a:srcRect b="31431" l="0" r="0" t="0"/>
          <a:stretch/>
        </p:blipFill>
        <p:spPr>
          <a:xfrm>
            <a:off x="3259375" y="2437498"/>
            <a:ext cx="5273625" cy="853725"/>
          </a:xfrm>
          <a:prstGeom prst="rect">
            <a:avLst/>
          </a:prstGeom>
          <a:noFill/>
          <a:ln>
            <a:noFill/>
          </a:ln>
        </p:spPr>
      </p:pic>
      <p:sp>
        <p:nvSpPr>
          <p:cNvPr id="1207" name="Google Shape;1207;p92"/>
          <p:cNvSpPr txBox="1"/>
          <p:nvPr/>
        </p:nvSpPr>
        <p:spPr>
          <a:xfrm>
            <a:off x="323950" y="3875475"/>
            <a:ext cx="2913300" cy="756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900">
                <a:solidFill>
                  <a:schemeClr val="dk1"/>
                </a:solidFill>
                <a:latin typeface="Lexend"/>
                <a:ea typeface="Lexend"/>
                <a:cs typeface="Lexend"/>
                <a:sym typeface="Lexend"/>
              </a:rPr>
              <a:t>40% of 600</a:t>
            </a:r>
            <a:endParaRPr sz="19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900">
                <a:solidFill>
                  <a:schemeClr val="dk1"/>
                </a:solidFill>
                <a:latin typeface="Lexend"/>
                <a:ea typeface="Lexend"/>
                <a:cs typeface="Lexend"/>
                <a:sym typeface="Lexend"/>
              </a:rPr>
              <a:t>4 × 60 = 240</a:t>
            </a:r>
            <a:endParaRPr sz="1900">
              <a:solidFill>
                <a:schemeClr val="dk1"/>
              </a:solidFill>
              <a:latin typeface="Lexend"/>
              <a:ea typeface="Lexend"/>
              <a:cs typeface="Lexend"/>
              <a:sym typeface="Lexend"/>
            </a:endParaRPr>
          </a:p>
        </p:txBody>
      </p:sp>
      <p:pic>
        <p:nvPicPr>
          <p:cNvPr id="1208" name="Google Shape;1208;p92"/>
          <p:cNvPicPr preferRelativeResize="0"/>
          <p:nvPr/>
        </p:nvPicPr>
        <p:blipFill rotWithShape="1">
          <a:blip r:embed="rId5">
            <a:alphaModFix/>
          </a:blip>
          <a:srcRect b="31525" l="0" r="0" t="0"/>
          <a:stretch/>
        </p:blipFill>
        <p:spPr>
          <a:xfrm>
            <a:off x="3259375" y="3747626"/>
            <a:ext cx="5273624" cy="853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9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Work out the following. You can use a bar model if it helps.</a:t>
            </a:r>
            <a:endParaRPr/>
          </a:p>
          <a:p>
            <a:pPr indent="0" lvl="0" marL="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30% of 800</a:t>
            </a:r>
            <a:endParaRPr/>
          </a:p>
          <a:p>
            <a:pPr indent="0" lvl="0" marL="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20% of 90</a:t>
            </a:r>
            <a:endParaRPr/>
          </a:p>
          <a:p>
            <a:pPr indent="0" lvl="0" marL="0" rtl="0" algn="l">
              <a:spcBef>
                <a:spcPts val="1000"/>
              </a:spcBef>
              <a:spcAft>
                <a:spcPts val="0"/>
              </a:spcAft>
              <a:buNone/>
            </a:pPr>
            <a:r>
              <a:t/>
            </a:r>
            <a:endParaRPr/>
          </a:p>
          <a:p>
            <a:pPr indent="-368300" lvl="0" marL="457200" rtl="0" algn="l">
              <a:spcBef>
                <a:spcPts val="1000"/>
              </a:spcBef>
              <a:spcAft>
                <a:spcPts val="0"/>
              </a:spcAft>
              <a:buSzPts val="2200"/>
              <a:buAutoNum type="alphaLcParenR"/>
            </a:pPr>
            <a:r>
              <a:rPr lang="en-GB"/>
              <a:t>40% of 12</a:t>
            </a:r>
            <a:endParaRPr/>
          </a:p>
        </p:txBody>
      </p:sp>
      <p:sp>
        <p:nvSpPr>
          <p:cNvPr id="1214" name="Google Shape;121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15" name="Google Shape;1215;p93"/>
          <p:cNvSpPr txBox="1"/>
          <p:nvPr/>
        </p:nvSpPr>
        <p:spPr>
          <a:xfrm>
            <a:off x="3044250" y="1481175"/>
            <a:ext cx="38352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10% of 800 = 800 ÷ 10 = 80</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200">
                <a:solidFill>
                  <a:schemeClr val="dk1"/>
                </a:solidFill>
                <a:latin typeface="Kalam"/>
                <a:ea typeface="Kalam"/>
                <a:cs typeface="Kalam"/>
                <a:sym typeface="Kalam"/>
              </a:rPr>
              <a:t>30% of 800 = 3 × 80 = 240 </a:t>
            </a:r>
            <a:endParaRPr sz="2200">
              <a:solidFill>
                <a:schemeClr val="dk1"/>
              </a:solidFill>
              <a:latin typeface="Kalam"/>
              <a:ea typeface="Kalam"/>
              <a:cs typeface="Kalam"/>
              <a:sym typeface="Kalam"/>
            </a:endParaRPr>
          </a:p>
        </p:txBody>
      </p:sp>
      <p:sp>
        <p:nvSpPr>
          <p:cNvPr id="1216" name="Google Shape;1216;p93"/>
          <p:cNvSpPr txBox="1"/>
          <p:nvPr/>
        </p:nvSpPr>
        <p:spPr>
          <a:xfrm>
            <a:off x="3044250" y="2623800"/>
            <a:ext cx="38352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10</a:t>
            </a:r>
            <a:r>
              <a:rPr lang="en-GB" sz="2200">
                <a:solidFill>
                  <a:schemeClr val="dk1"/>
                </a:solidFill>
                <a:latin typeface="Kalam"/>
                <a:ea typeface="Kalam"/>
                <a:cs typeface="Kalam"/>
                <a:sym typeface="Kalam"/>
              </a:rPr>
              <a:t>% of 90 = 90 ÷ 10 = 9</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200">
                <a:solidFill>
                  <a:schemeClr val="dk1"/>
                </a:solidFill>
                <a:latin typeface="Kalam"/>
                <a:ea typeface="Kalam"/>
                <a:cs typeface="Kalam"/>
                <a:sym typeface="Kalam"/>
              </a:rPr>
              <a:t>20% of 90 = 2 × 9 = 18</a:t>
            </a:r>
            <a:endParaRPr sz="2200">
              <a:solidFill>
                <a:schemeClr val="dk1"/>
              </a:solidFill>
              <a:latin typeface="Kalam"/>
              <a:ea typeface="Kalam"/>
              <a:cs typeface="Kalam"/>
              <a:sym typeface="Kalam"/>
            </a:endParaRPr>
          </a:p>
        </p:txBody>
      </p:sp>
      <p:sp>
        <p:nvSpPr>
          <p:cNvPr id="1217" name="Google Shape;1217;p93"/>
          <p:cNvSpPr txBox="1"/>
          <p:nvPr/>
        </p:nvSpPr>
        <p:spPr>
          <a:xfrm>
            <a:off x="3044250" y="3779000"/>
            <a:ext cx="38352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10% of 12 = 12 ÷ 10 = 1.2</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200">
                <a:solidFill>
                  <a:schemeClr val="dk1"/>
                </a:solidFill>
                <a:latin typeface="Kalam"/>
                <a:ea typeface="Kalam"/>
                <a:cs typeface="Kalam"/>
                <a:sym typeface="Kalam"/>
              </a:rPr>
              <a:t>40% of 12 = 4 × 1.2 = 4.8 </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23" name="Google Shape;1223;p94"/>
          <p:cNvSpPr txBox="1"/>
          <p:nvPr>
            <p:ph idx="1" type="body"/>
          </p:nvPr>
        </p:nvSpPr>
        <p:spPr>
          <a:xfrm>
            <a:off x="324000" y="759300"/>
            <a:ext cx="8237700" cy="211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Finding 10% can allow us to find 5%, thus we are able to find any percentage which is a multiple of 5% or 10% easily.</a:t>
            </a:r>
            <a:endParaRPr/>
          </a:p>
          <a:p>
            <a:pPr indent="0" lvl="0" marL="0" rtl="0" algn="l">
              <a:spcBef>
                <a:spcPts val="1000"/>
              </a:spcBef>
              <a:spcAft>
                <a:spcPts val="0"/>
              </a:spcAft>
              <a:buNone/>
            </a:pPr>
            <a:r>
              <a:rPr lang="en-GB"/>
              <a:t>If you know how to work out 10%, what do you think you need to do to work out 5%?</a:t>
            </a:r>
            <a:endParaRPr/>
          </a:p>
          <a:p>
            <a:pPr indent="0" lvl="0" marL="0" rtl="0" algn="ctr">
              <a:spcBef>
                <a:spcPts val="1000"/>
              </a:spcBef>
              <a:spcAft>
                <a:spcPts val="0"/>
              </a:spcAft>
              <a:buNone/>
            </a:pPr>
            <a:r>
              <a:rPr lang="en-GB"/>
              <a:t>5% = 10% ÷ 2 </a:t>
            </a:r>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9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Work out 15% of 40</a:t>
            </a:r>
            <a:endParaRPr sz="2100"/>
          </a:p>
          <a:p>
            <a:pPr indent="0" lvl="0" marL="0" rtl="0" algn="l">
              <a:spcBef>
                <a:spcPts val="1000"/>
              </a:spcBef>
              <a:spcAft>
                <a:spcPts val="0"/>
              </a:spcAft>
              <a:buNone/>
            </a:pPr>
            <a:r>
              <a:rPr lang="en-GB" sz="2100"/>
              <a:t>10% + 5% = 15%</a:t>
            </a:r>
            <a:endParaRPr sz="2100"/>
          </a:p>
          <a:p>
            <a:pPr indent="0" lvl="0" marL="0" rtl="0" algn="l">
              <a:spcBef>
                <a:spcPts val="1000"/>
              </a:spcBef>
              <a:spcAft>
                <a:spcPts val="0"/>
              </a:spcAft>
              <a:buNone/>
            </a:pPr>
            <a:r>
              <a:rPr lang="en-GB" sz="2100"/>
              <a:t>10% = 40 </a:t>
            </a:r>
            <a:r>
              <a:rPr lang="en-GB" sz="2200"/>
              <a:t>÷</a:t>
            </a:r>
            <a:r>
              <a:rPr lang="en-GB" sz="2100"/>
              <a:t>  10 = 4</a:t>
            </a:r>
            <a:endParaRPr sz="2100"/>
          </a:p>
          <a:p>
            <a:pPr indent="0" lvl="0" marL="0" rtl="0" algn="l">
              <a:spcBef>
                <a:spcPts val="1000"/>
              </a:spcBef>
              <a:spcAft>
                <a:spcPts val="0"/>
              </a:spcAft>
              <a:buNone/>
            </a:pPr>
            <a:r>
              <a:rPr lang="en-GB" sz="2100"/>
              <a:t>5% = 4</a:t>
            </a:r>
            <a:r>
              <a:rPr lang="en-GB" sz="2100"/>
              <a:t> </a:t>
            </a:r>
            <a:r>
              <a:rPr lang="en-GB" sz="2200"/>
              <a:t>÷</a:t>
            </a:r>
            <a:r>
              <a:rPr lang="en-GB" sz="2100"/>
              <a:t>  2 = 2</a:t>
            </a:r>
            <a:endParaRPr sz="2100"/>
          </a:p>
          <a:p>
            <a:pPr indent="0" lvl="0" marL="0" rtl="0" algn="l">
              <a:spcBef>
                <a:spcPts val="1000"/>
              </a:spcBef>
              <a:spcAft>
                <a:spcPts val="0"/>
              </a:spcAft>
              <a:buNone/>
            </a:pPr>
            <a:r>
              <a:rPr lang="en-GB" sz="2200"/>
              <a:t>15% = 4 + 2 = 6</a:t>
            </a:r>
            <a:endParaRPr sz="2200"/>
          </a:p>
          <a:p>
            <a:pPr indent="0" lvl="0" marL="0" rtl="0" algn="l">
              <a:spcBef>
                <a:spcPts val="1000"/>
              </a:spcBef>
              <a:spcAft>
                <a:spcPts val="1000"/>
              </a:spcAft>
              <a:buClr>
                <a:schemeClr val="dk1"/>
              </a:buClr>
              <a:buSzPts val="1100"/>
              <a:buFont typeface="Arial"/>
              <a:buNone/>
            </a:pPr>
            <a:r>
              <a:rPr lang="en-GB" sz="2100"/>
              <a:t>1</a:t>
            </a:r>
            <a:r>
              <a:rPr lang="en-GB" sz="2100"/>
              <a:t>5% of 40 = 6</a:t>
            </a:r>
            <a:endParaRPr sz="2200"/>
          </a:p>
        </p:txBody>
      </p:sp>
      <p:sp>
        <p:nvSpPr>
          <p:cNvPr id="1229" name="Google Shape;1229;p9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100"/>
              <a:t>Work out 35% of 24</a:t>
            </a:r>
            <a:endParaRPr sz="2100"/>
          </a:p>
          <a:p>
            <a:pPr indent="0" lvl="0" marL="0" rtl="0" algn="l">
              <a:spcBef>
                <a:spcPts val="1000"/>
              </a:spcBef>
              <a:spcAft>
                <a:spcPts val="0"/>
              </a:spcAft>
              <a:buClr>
                <a:schemeClr val="dk1"/>
              </a:buClr>
              <a:buSzPts val="1100"/>
              <a:buFont typeface="Arial"/>
              <a:buNone/>
            </a:pPr>
            <a:r>
              <a:rPr lang="en-GB" sz="2100"/>
              <a:t>30% + 5% = 35%</a:t>
            </a:r>
            <a:endParaRPr sz="2100"/>
          </a:p>
          <a:p>
            <a:pPr indent="0" lvl="0" marL="0" rtl="0" algn="l">
              <a:spcBef>
                <a:spcPts val="1000"/>
              </a:spcBef>
              <a:spcAft>
                <a:spcPts val="0"/>
              </a:spcAft>
              <a:buClr>
                <a:schemeClr val="dk1"/>
              </a:buClr>
              <a:buSzPts val="1100"/>
              <a:buFont typeface="Arial"/>
              <a:buNone/>
            </a:pPr>
            <a:r>
              <a:rPr lang="en-GB" sz="2100"/>
              <a:t>10% = 24 </a:t>
            </a:r>
            <a:r>
              <a:rPr lang="en-GB" sz="2200"/>
              <a:t>÷</a:t>
            </a:r>
            <a:r>
              <a:rPr lang="en-GB" sz="2100"/>
              <a:t>  10 = 2.4</a:t>
            </a:r>
            <a:endParaRPr sz="2100"/>
          </a:p>
          <a:p>
            <a:pPr indent="0" lvl="0" marL="0" rtl="0" algn="l">
              <a:spcBef>
                <a:spcPts val="1000"/>
              </a:spcBef>
              <a:spcAft>
                <a:spcPts val="0"/>
              </a:spcAft>
              <a:buClr>
                <a:schemeClr val="dk1"/>
              </a:buClr>
              <a:buSzPts val="1100"/>
              <a:buFont typeface="Arial"/>
              <a:buNone/>
            </a:pPr>
            <a:r>
              <a:rPr lang="en-GB" sz="2100"/>
              <a:t>5% = 2.4 </a:t>
            </a:r>
            <a:r>
              <a:rPr lang="en-GB" sz="2200"/>
              <a:t>÷</a:t>
            </a:r>
            <a:r>
              <a:rPr lang="en-GB" sz="2100"/>
              <a:t>  2 = 1.2</a:t>
            </a:r>
            <a:endParaRPr sz="2100"/>
          </a:p>
          <a:p>
            <a:pPr indent="0" lvl="0" marL="0" rtl="0" algn="l">
              <a:spcBef>
                <a:spcPts val="1000"/>
              </a:spcBef>
              <a:spcAft>
                <a:spcPts val="0"/>
              </a:spcAft>
              <a:buClr>
                <a:schemeClr val="dk1"/>
              </a:buClr>
              <a:buSzPts val="1100"/>
              <a:buFont typeface="Arial"/>
              <a:buNone/>
            </a:pPr>
            <a:r>
              <a:rPr lang="en-GB" sz="2100"/>
              <a:t>30% = 3 </a:t>
            </a:r>
            <a:r>
              <a:rPr lang="en-GB" sz="2200"/>
              <a:t>× 2.4 = 7.2</a:t>
            </a:r>
            <a:endParaRPr sz="2200"/>
          </a:p>
          <a:p>
            <a:pPr indent="0" lvl="0" marL="0" rtl="0" algn="l">
              <a:spcBef>
                <a:spcPts val="1000"/>
              </a:spcBef>
              <a:spcAft>
                <a:spcPts val="0"/>
              </a:spcAft>
              <a:buClr>
                <a:schemeClr val="dk1"/>
              </a:buClr>
              <a:buSzPts val="1100"/>
              <a:buFont typeface="Arial"/>
              <a:buNone/>
            </a:pPr>
            <a:r>
              <a:rPr lang="en-GB" sz="2200"/>
              <a:t>35% = 7.2 + 1.2 = 8.4</a:t>
            </a:r>
            <a:endParaRPr sz="2200"/>
          </a:p>
          <a:p>
            <a:pPr indent="0" lvl="0" marL="0" rtl="0" algn="l">
              <a:spcBef>
                <a:spcPts val="1000"/>
              </a:spcBef>
              <a:spcAft>
                <a:spcPts val="1000"/>
              </a:spcAft>
              <a:buClr>
                <a:schemeClr val="dk1"/>
              </a:buClr>
              <a:buSzPts val="1100"/>
              <a:buFont typeface="Arial"/>
              <a:buNone/>
            </a:pPr>
            <a:r>
              <a:rPr lang="en-GB" sz="2100"/>
              <a:t>35% of 24 = 8.4</a:t>
            </a:r>
            <a:endParaRPr/>
          </a:p>
        </p:txBody>
      </p:sp>
      <p:sp>
        <p:nvSpPr>
          <p:cNvPr id="1230" name="Google Shape;1230;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of amounts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36" name="Google Shape;1236;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Work out the following:</a:t>
            </a:r>
            <a:endParaRPr/>
          </a:p>
          <a:p>
            <a:pPr indent="0" lvl="0" marL="457200" rtl="0" algn="l">
              <a:spcBef>
                <a:spcPts val="1000"/>
              </a:spcBef>
              <a:spcAft>
                <a:spcPts val="0"/>
              </a:spcAft>
              <a:buNone/>
            </a:pPr>
            <a:r>
              <a:t/>
            </a:r>
            <a:endParaRPr sz="100"/>
          </a:p>
          <a:p>
            <a:pPr indent="-368300" lvl="0" marL="457200" rtl="0" algn="l">
              <a:lnSpc>
                <a:spcPct val="100000"/>
              </a:lnSpc>
              <a:spcBef>
                <a:spcPts val="1000"/>
              </a:spcBef>
              <a:spcAft>
                <a:spcPts val="0"/>
              </a:spcAft>
              <a:buSzPts val="2200"/>
              <a:buAutoNum type="alphaLcParenR"/>
            </a:pPr>
            <a:r>
              <a:rPr lang="en-GB"/>
              <a:t>20% of 640</a:t>
            </a:r>
            <a:endParaRPr/>
          </a:p>
          <a:p>
            <a:pPr indent="0" lvl="0" marL="0" rtl="0" algn="l">
              <a:lnSpc>
                <a:spcPct val="100000"/>
              </a:lnSpc>
              <a:spcBef>
                <a:spcPts val="1000"/>
              </a:spcBef>
              <a:spcAft>
                <a:spcPts val="0"/>
              </a:spcAft>
              <a:buNone/>
            </a:pPr>
            <a:r>
              <a:t/>
            </a:r>
            <a:endParaRPr/>
          </a:p>
          <a:p>
            <a:pPr indent="-368300" lvl="0" marL="457200" rtl="0" algn="l">
              <a:lnSpc>
                <a:spcPct val="100000"/>
              </a:lnSpc>
              <a:spcBef>
                <a:spcPts val="1000"/>
              </a:spcBef>
              <a:spcAft>
                <a:spcPts val="0"/>
              </a:spcAft>
              <a:buSzPts val="2200"/>
              <a:buAutoNum type="alphaLcParenR" startAt="2"/>
            </a:pPr>
            <a:r>
              <a:rPr lang="en-GB"/>
              <a:t>30% of 520</a:t>
            </a:r>
            <a:endParaRPr/>
          </a:p>
          <a:p>
            <a:pPr indent="0" lvl="0" marL="0" rtl="0" algn="l">
              <a:lnSpc>
                <a:spcPct val="100000"/>
              </a:lnSpc>
              <a:spcBef>
                <a:spcPts val="1000"/>
              </a:spcBef>
              <a:spcAft>
                <a:spcPts val="0"/>
              </a:spcAft>
              <a:buNone/>
            </a:pPr>
            <a:r>
              <a:t/>
            </a:r>
            <a:endParaRPr/>
          </a:p>
          <a:p>
            <a:pPr indent="-368300" lvl="0" marL="457200" rtl="0" algn="l">
              <a:lnSpc>
                <a:spcPct val="100000"/>
              </a:lnSpc>
              <a:spcBef>
                <a:spcPts val="1000"/>
              </a:spcBef>
              <a:spcAft>
                <a:spcPts val="0"/>
              </a:spcAft>
              <a:buSzPts val="2200"/>
              <a:buAutoNum type="alphaLcParenR" startAt="3"/>
            </a:pPr>
            <a:r>
              <a:rPr lang="en-GB"/>
              <a:t>15% of 8</a:t>
            </a:r>
            <a:endParaRPr/>
          </a:p>
          <a:p>
            <a:pPr indent="0" lvl="0" marL="0" rtl="0" algn="l">
              <a:lnSpc>
                <a:spcPct val="100000"/>
              </a:lnSpc>
              <a:spcBef>
                <a:spcPts val="1000"/>
              </a:spcBef>
              <a:spcAft>
                <a:spcPts val="0"/>
              </a:spcAft>
              <a:buNone/>
            </a:pPr>
            <a:r>
              <a:t/>
            </a:r>
            <a:endParaRPr/>
          </a:p>
          <a:p>
            <a:pPr indent="-368300" lvl="0" marL="457200" rtl="0" algn="l">
              <a:lnSpc>
                <a:spcPct val="100000"/>
              </a:lnSpc>
              <a:spcBef>
                <a:spcPts val="1000"/>
              </a:spcBef>
              <a:spcAft>
                <a:spcPts val="0"/>
              </a:spcAft>
              <a:buSzPts val="2200"/>
              <a:buAutoNum type="alphaLcParenR" startAt="4"/>
            </a:pPr>
            <a:r>
              <a:rPr lang="en-GB"/>
              <a:t>35% of 30</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42" name="Google Shape;1242;p97"/>
          <p:cNvSpPr txBox="1"/>
          <p:nvPr>
            <p:ph idx="1" type="body"/>
          </p:nvPr>
        </p:nvSpPr>
        <p:spPr>
          <a:xfrm>
            <a:off x="324000" y="759300"/>
            <a:ext cx="5638500" cy="31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2a) </a:t>
            </a:r>
            <a:r>
              <a:rPr lang="en-GB"/>
              <a:t>Who do you think is correct? Why?</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br>
              <a:rPr lang="en-GB"/>
            </a:br>
            <a:endParaRPr/>
          </a:p>
          <a:p>
            <a:pPr indent="0" lvl="0" marL="0" rtl="0" algn="l">
              <a:spcBef>
                <a:spcPts val="1000"/>
              </a:spcBef>
              <a:spcAft>
                <a:spcPts val="0"/>
              </a:spcAft>
              <a:buNone/>
            </a:pPr>
            <a:r>
              <a:rPr lang="en-GB"/>
              <a:t>b) What percentages would the incorrect calculation(s) actually find?</a:t>
            </a:r>
            <a:endParaRPr/>
          </a:p>
          <a:p>
            <a:pPr indent="0" lvl="0" marL="0" rtl="0" algn="l">
              <a:spcBef>
                <a:spcPts val="1000"/>
              </a:spcBef>
              <a:spcAft>
                <a:spcPts val="1000"/>
              </a:spcAft>
              <a:buNone/>
            </a:pPr>
            <a:r>
              <a:t/>
            </a:r>
            <a:endParaRPr/>
          </a:p>
        </p:txBody>
      </p:sp>
      <p:pic>
        <p:nvPicPr>
          <p:cNvPr id="1243" name="Google Shape;1243;p97"/>
          <p:cNvPicPr preferRelativeResize="0"/>
          <p:nvPr/>
        </p:nvPicPr>
        <p:blipFill rotWithShape="1">
          <a:blip r:embed="rId3">
            <a:alphaModFix/>
          </a:blip>
          <a:srcRect b="43690" l="0" r="57905" t="0"/>
          <a:stretch/>
        </p:blipFill>
        <p:spPr>
          <a:xfrm flipH="1">
            <a:off x="1001100" y="1332825"/>
            <a:ext cx="2909251" cy="1391325"/>
          </a:xfrm>
          <a:prstGeom prst="rect">
            <a:avLst/>
          </a:prstGeom>
          <a:noFill/>
          <a:ln>
            <a:noFill/>
          </a:ln>
        </p:spPr>
      </p:pic>
      <p:pic>
        <p:nvPicPr>
          <p:cNvPr id="1244" name="Google Shape;1244;p97"/>
          <p:cNvPicPr preferRelativeResize="0"/>
          <p:nvPr/>
        </p:nvPicPr>
        <p:blipFill rotWithShape="1">
          <a:blip r:embed="rId3">
            <a:alphaModFix/>
          </a:blip>
          <a:srcRect b="43690" l="0" r="57905" t="0"/>
          <a:stretch/>
        </p:blipFill>
        <p:spPr>
          <a:xfrm>
            <a:off x="3985575" y="1769475"/>
            <a:ext cx="2606828" cy="1391325"/>
          </a:xfrm>
          <a:prstGeom prst="rect">
            <a:avLst/>
          </a:prstGeom>
          <a:noFill/>
          <a:ln>
            <a:noFill/>
          </a:ln>
        </p:spPr>
      </p:pic>
      <p:pic>
        <p:nvPicPr>
          <p:cNvPr id="1245" name="Google Shape;1245;p97"/>
          <p:cNvPicPr preferRelativeResize="0"/>
          <p:nvPr/>
        </p:nvPicPr>
        <p:blipFill rotWithShape="1">
          <a:blip r:embed="rId3">
            <a:alphaModFix/>
          </a:blip>
          <a:srcRect b="0" l="0" r="70143" t="56280"/>
          <a:stretch/>
        </p:blipFill>
        <p:spPr>
          <a:xfrm>
            <a:off x="6592400" y="581400"/>
            <a:ext cx="2042849" cy="2200175"/>
          </a:xfrm>
          <a:prstGeom prst="rect">
            <a:avLst/>
          </a:prstGeom>
          <a:noFill/>
          <a:ln>
            <a:noFill/>
          </a:ln>
        </p:spPr>
      </p:pic>
      <p:sp>
        <p:nvSpPr>
          <p:cNvPr id="1246" name="Google Shape;1246;p97"/>
          <p:cNvSpPr txBox="1"/>
          <p:nvPr/>
        </p:nvSpPr>
        <p:spPr>
          <a:xfrm>
            <a:off x="1290975" y="1332813"/>
            <a:ext cx="2757300" cy="13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10% of a number is easy. You just divide it by 10.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sp>
        <p:nvSpPr>
          <p:cNvPr id="1247" name="Google Shape;1247;p97"/>
          <p:cNvSpPr txBox="1"/>
          <p:nvPr/>
        </p:nvSpPr>
        <p:spPr>
          <a:xfrm>
            <a:off x="3985575" y="1799847"/>
            <a:ext cx="2538000" cy="10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20% of a number is easy. You just divide it by 20.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sp>
        <p:nvSpPr>
          <p:cNvPr id="1248" name="Google Shape;1248;p97"/>
          <p:cNvSpPr txBox="1"/>
          <p:nvPr/>
        </p:nvSpPr>
        <p:spPr>
          <a:xfrm>
            <a:off x="6667625" y="843150"/>
            <a:ext cx="1742100" cy="10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50% of a number is easy. You just divide it by 50.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pic>
        <p:nvPicPr>
          <p:cNvPr id="1249" name="Google Shape;1249;p97"/>
          <p:cNvPicPr preferRelativeResize="0"/>
          <p:nvPr/>
        </p:nvPicPr>
        <p:blipFill>
          <a:blip r:embed="rId4">
            <a:alphaModFix/>
          </a:blip>
          <a:stretch>
            <a:fillRect/>
          </a:stretch>
        </p:blipFill>
        <p:spPr>
          <a:xfrm>
            <a:off x="401850" y="1644806"/>
            <a:ext cx="623346" cy="1177024"/>
          </a:xfrm>
          <a:prstGeom prst="rect">
            <a:avLst/>
          </a:prstGeom>
          <a:noFill/>
          <a:ln>
            <a:noFill/>
          </a:ln>
        </p:spPr>
      </p:pic>
      <p:sp>
        <p:nvSpPr>
          <p:cNvPr id="1250" name="Google Shape;1250;p97"/>
          <p:cNvSpPr txBox="1"/>
          <p:nvPr/>
        </p:nvSpPr>
        <p:spPr>
          <a:xfrm>
            <a:off x="594000" y="28857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251" name="Google Shape;1251;p97"/>
          <p:cNvPicPr preferRelativeResize="0"/>
          <p:nvPr/>
        </p:nvPicPr>
        <p:blipFill>
          <a:blip r:embed="rId5">
            <a:alphaModFix/>
          </a:blip>
          <a:stretch>
            <a:fillRect/>
          </a:stretch>
        </p:blipFill>
        <p:spPr>
          <a:xfrm>
            <a:off x="6316712" y="2940524"/>
            <a:ext cx="788350" cy="1016564"/>
          </a:xfrm>
          <a:prstGeom prst="rect">
            <a:avLst/>
          </a:prstGeom>
          <a:noFill/>
          <a:ln>
            <a:noFill/>
          </a:ln>
        </p:spPr>
      </p:pic>
      <p:sp>
        <p:nvSpPr>
          <p:cNvPr id="1252" name="Google Shape;1252;p97"/>
          <p:cNvSpPr txBox="1"/>
          <p:nvPr/>
        </p:nvSpPr>
        <p:spPr>
          <a:xfrm>
            <a:off x="6132025" y="3957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pic>
        <p:nvPicPr>
          <p:cNvPr id="1253" name="Google Shape;1253;p97"/>
          <p:cNvPicPr preferRelativeResize="0"/>
          <p:nvPr/>
        </p:nvPicPr>
        <p:blipFill>
          <a:blip r:embed="rId6">
            <a:alphaModFix/>
          </a:blip>
          <a:stretch>
            <a:fillRect/>
          </a:stretch>
        </p:blipFill>
        <p:spPr>
          <a:xfrm flipH="1">
            <a:off x="7306774" y="2571750"/>
            <a:ext cx="971776" cy="877074"/>
          </a:xfrm>
          <a:prstGeom prst="rect">
            <a:avLst/>
          </a:prstGeom>
          <a:noFill/>
          <a:ln>
            <a:noFill/>
          </a:ln>
        </p:spPr>
      </p:pic>
      <p:sp>
        <p:nvSpPr>
          <p:cNvPr id="1254" name="Google Shape;1254;p97"/>
          <p:cNvSpPr txBox="1"/>
          <p:nvPr/>
        </p:nvSpPr>
        <p:spPr>
          <a:xfrm>
            <a:off x="7459188" y="3448813"/>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60" name="Google Shape;1260;p98"/>
          <p:cNvSpPr txBox="1"/>
          <p:nvPr>
            <p:ph idx="1" type="body"/>
          </p:nvPr>
        </p:nvSpPr>
        <p:spPr>
          <a:xfrm>
            <a:off x="324000" y="759300"/>
            <a:ext cx="2669400" cy="3020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3</a:t>
            </a:r>
            <a:r>
              <a:rPr lang="en-GB" sz="2000"/>
              <a:t>)  On the right are six students’ different strategies for finding 75% of 250. One of them is incorrect.</a:t>
            </a:r>
            <a:endParaRPr sz="2000"/>
          </a:p>
          <a:p>
            <a:pPr indent="0" lvl="0" marL="0" rtl="0" algn="l">
              <a:lnSpc>
                <a:spcPct val="115000"/>
              </a:lnSpc>
              <a:spcBef>
                <a:spcPts val="1000"/>
              </a:spcBef>
              <a:spcAft>
                <a:spcPts val="0"/>
              </a:spcAft>
              <a:buNone/>
            </a:pPr>
            <a:r>
              <a:rPr lang="en-GB" sz="2000"/>
              <a:t>Whose strategy is incorrect?</a:t>
            </a:r>
            <a:endParaRPr sz="2000"/>
          </a:p>
          <a:p>
            <a:pPr indent="0" lvl="0" marL="0" rtl="0" algn="l">
              <a:lnSpc>
                <a:spcPct val="115000"/>
              </a:lnSpc>
              <a:spcBef>
                <a:spcPts val="1000"/>
              </a:spcBef>
              <a:spcAft>
                <a:spcPts val="1000"/>
              </a:spcAft>
              <a:buNone/>
            </a:pPr>
            <a:r>
              <a:rPr lang="en-GB" sz="2000"/>
              <a:t>Explain the method used by each pupil.</a:t>
            </a:r>
            <a:endParaRPr sz="2000"/>
          </a:p>
        </p:txBody>
      </p:sp>
      <p:sp>
        <p:nvSpPr>
          <p:cNvPr id="1261" name="Google Shape;1261;p98"/>
          <p:cNvSpPr/>
          <p:nvPr/>
        </p:nvSpPr>
        <p:spPr>
          <a:xfrm>
            <a:off x="3145800" y="759300"/>
            <a:ext cx="1955100" cy="1233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500"/>
              </a:spcBef>
              <a:spcAft>
                <a:spcPts val="0"/>
              </a:spcAft>
              <a:buClr>
                <a:schemeClr val="dk1"/>
              </a:buClr>
              <a:buSzPts val="1100"/>
              <a:buFont typeface="Arial"/>
              <a:buNone/>
            </a:pPr>
            <a:r>
              <a:rPr lang="en-GB" sz="1800">
                <a:solidFill>
                  <a:schemeClr val="dk1"/>
                </a:solidFill>
                <a:latin typeface="Lexend"/>
                <a:ea typeface="Lexend"/>
                <a:cs typeface="Lexend"/>
                <a:sym typeface="Lexend"/>
              </a:rPr>
              <a:t>Andeep</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Clr>
                <a:schemeClr val="dk1"/>
              </a:buClr>
              <a:buSzPts val="1100"/>
              <a:buFont typeface="Arial"/>
              <a:buNone/>
            </a:pPr>
            <a:r>
              <a:rPr lang="en-GB" sz="1800">
                <a:solidFill>
                  <a:schemeClr val="dk1"/>
                </a:solidFill>
                <a:latin typeface="Lexend"/>
                <a:ea typeface="Lexend"/>
                <a:cs typeface="Lexend"/>
                <a:sym typeface="Lexend"/>
              </a:rPr>
              <a:t>250 ÷ 100 = 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 75 = __</a:t>
            </a:r>
            <a:endParaRPr>
              <a:latin typeface="Lexend"/>
              <a:ea typeface="Lexend"/>
              <a:cs typeface="Lexend"/>
              <a:sym typeface="Lexend"/>
            </a:endParaRPr>
          </a:p>
        </p:txBody>
      </p:sp>
      <p:sp>
        <p:nvSpPr>
          <p:cNvPr id="1262" name="Google Shape;1262;p98"/>
          <p:cNvSpPr/>
          <p:nvPr/>
        </p:nvSpPr>
        <p:spPr>
          <a:xfrm>
            <a:off x="5253325" y="679050"/>
            <a:ext cx="2205900" cy="1677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Aisha</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2 = 125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125 ÷ 2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125 + 62.5 = __</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1800">
              <a:latin typeface="Lexend"/>
              <a:ea typeface="Lexend"/>
              <a:cs typeface="Lexend"/>
              <a:sym typeface="Lexend"/>
            </a:endParaRPr>
          </a:p>
        </p:txBody>
      </p:sp>
      <p:sp>
        <p:nvSpPr>
          <p:cNvPr id="1263" name="Google Shape;1263;p98"/>
          <p:cNvSpPr/>
          <p:nvPr/>
        </p:nvSpPr>
        <p:spPr>
          <a:xfrm>
            <a:off x="3145800" y="2160000"/>
            <a:ext cx="2107500" cy="22539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Sofia</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10 = 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 7 = 175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2 = 12.5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175 + 12.5 = __</a:t>
            </a:r>
            <a:endParaRPr sz="1800">
              <a:latin typeface="Lexend"/>
              <a:ea typeface="Lexend"/>
              <a:cs typeface="Lexend"/>
              <a:sym typeface="Lexend"/>
            </a:endParaRPr>
          </a:p>
        </p:txBody>
      </p:sp>
      <p:sp>
        <p:nvSpPr>
          <p:cNvPr id="1264" name="Google Shape;1264;p98"/>
          <p:cNvSpPr/>
          <p:nvPr/>
        </p:nvSpPr>
        <p:spPr>
          <a:xfrm>
            <a:off x="5355450" y="2419350"/>
            <a:ext cx="1955100" cy="1233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Jacob</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4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250 - 62.5 = __</a:t>
            </a:r>
            <a:endParaRPr sz="1800">
              <a:solidFill>
                <a:schemeClr val="dk1"/>
              </a:solidFill>
              <a:latin typeface="Lexend"/>
              <a:ea typeface="Lexend"/>
              <a:cs typeface="Lexend"/>
              <a:sym typeface="Lexend"/>
            </a:endParaRPr>
          </a:p>
        </p:txBody>
      </p:sp>
      <p:sp>
        <p:nvSpPr>
          <p:cNvPr id="1265" name="Google Shape;1265;p98"/>
          <p:cNvSpPr/>
          <p:nvPr/>
        </p:nvSpPr>
        <p:spPr>
          <a:xfrm>
            <a:off x="5355450" y="3757500"/>
            <a:ext cx="1955100" cy="1068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Sam</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4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62.5 × 3 = __</a:t>
            </a:r>
            <a:endParaRPr sz="1800">
              <a:solidFill>
                <a:schemeClr val="dk1"/>
              </a:solidFill>
              <a:latin typeface="Lexend"/>
              <a:ea typeface="Lexend"/>
              <a:cs typeface="Lexend"/>
              <a:sym typeface="Lexend"/>
            </a:endParaRPr>
          </a:p>
        </p:txBody>
      </p:sp>
      <p:sp>
        <p:nvSpPr>
          <p:cNvPr id="1266" name="Google Shape;1266;p98"/>
          <p:cNvSpPr/>
          <p:nvPr/>
        </p:nvSpPr>
        <p:spPr>
          <a:xfrm>
            <a:off x="7459225" y="2401200"/>
            <a:ext cx="1378500" cy="14739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Lucas</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75 = __</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t/>
            </a:r>
            <a:endParaRPr sz="1800">
              <a:solidFill>
                <a:schemeClr val="dk1"/>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72" name="Google Shape;1272;p9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Work out the following:</a:t>
            </a:r>
            <a:endParaRPr/>
          </a:p>
          <a:p>
            <a:pPr indent="0" lvl="0" marL="457200" rtl="0" algn="l">
              <a:spcBef>
                <a:spcPts val="1000"/>
              </a:spcBef>
              <a:spcAft>
                <a:spcPts val="0"/>
              </a:spcAft>
              <a:buNone/>
            </a:pPr>
            <a:r>
              <a:t/>
            </a:r>
            <a:endParaRPr sz="100"/>
          </a:p>
          <a:p>
            <a:pPr indent="-368300" lvl="0" marL="457200" rtl="0" algn="l">
              <a:lnSpc>
                <a:spcPct val="100000"/>
              </a:lnSpc>
              <a:spcBef>
                <a:spcPts val="1000"/>
              </a:spcBef>
              <a:spcAft>
                <a:spcPts val="0"/>
              </a:spcAft>
              <a:buSzPts val="2200"/>
              <a:buAutoNum type="alphaLcParenR"/>
            </a:pPr>
            <a:r>
              <a:rPr lang="en-GB"/>
              <a:t>20% of 640</a:t>
            </a:r>
            <a:endParaRPr/>
          </a:p>
          <a:p>
            <a:pPr indent="0" lvl="0" marL="0" rtl="0" algn="l">
              <a:lnSpc>
                <a:spcPct val="100000"/>
              </a:lnSpc>
              <a:spcBef>
                <a:spcPts val="1000"/>
              </a:spcBef>
              <a:spcAft>
                <a:spcPts val="0"/>
              </a:spcAft>
              <a:buNone/>
            </a:pPr>
            <a:r>
              <a:t/>
            </a:r>
            <a:endParaRPr/>
          </a:p>
          <a:p>
            <a:pPr indent="-368300" lvl="0" marL="457200" rtl="0" algn="l">
              <a:lnSpc>
                <a:spcPct val="100000"/>
              </a:lnSpc>
              <a:spcBef>
                <a:spcPts val="1000"/>
              </a:spcBef>
              <a:spcAft>
                <a:spcPts val="0"/>
              </a:spcAft>
              <a:buSzPts val="2200"/>
              <a:buAutoNum type="alphaLcParenR" startAt="2"/>
            </a:pPr>
            <a:r>
              <a:rPr lang="en-GB"/>
              <a:t>30% of 520</a:t>
            </a:r>
            <a:endParaRPr/>
          </a:p>
          <a:p>
            <a:pPr indent="0" lvl="0" marL="0" rtl="0" algn="l">
              <a:lnSpc>
                <a:spcPct val="100000"/>
              </a:lnSpc>
              <a:spcBef>
                <a:spcPts val="1000"/>
              </a:spcBef>
              <a:spcAft>
                <a:spcPts val="0"/>
              </a:spcAft>
              <a:buNone/>
            </a:pPr>
            <a:r>
              <a:t/>
            </a:r>
            <a:endParaRPr/>
          </a:p>
          <a:p>
            <a:pPr indent="-368300" lvl="0" marL="457200" rtl="0" algn="l">
              <a:lnSpc>
                <a:spcPct val="100000"/>
              </a:lnSpc>
              <a:spcBef>
                <a:spcPts val="1000"/>
              </a:spcBef>
              <a:spcAft>
                <a:spcPts val="0"/>
              </a:spcAft>
              <a:buSzPts val="2200"/>
              <a:buAutoNum type="alphaLcParenR" startAt="3"/>
            </a:pPr>
            <a:r>
              <a:rPr lang="en-GB"/>
              <a:t>15% of 8</a:t>
            </a:r>
            <a:endParaRPr/>
          </a:p>
          <a:p>
            <a:pPr indent="0" lvl="0" marL="0" rtl="0" algn="l">
              <a:lnSpc>
                <a:spcPct val="100000"/>
              </a:lnSpc>
              <a:spcBef>
                <a:spcPts val="1000"/>
              </a:spcBef>
              <a:spcAft>
                <a:spcPts val="0"/>
              </a:spcAft>
              <a:buNone/>
            </a:pPr>
            <a:r>
              <a:t/>
            </a:r>
            <a:endParaRPr/>
          </a:p>
          <a:p>
            <a:pPr indent="-368300" lvl="0" marL="457200" rtl="0" algn="l">
              <a:lnSpc>
                <a:spcPct val="100000"/>
              </a:lnSpc>
              <a:spcBef>
                <a:spcPts val="1000"/>
              </a:spcBef>
              <a:spcAft>
                <a:spcPts val="0"/>
              </a:spcAft>
              <a:buSzPts val="2200"/>
              <a:buAutoNum type="alphaLcParenR" startAt="4"/>
            </a:pPr>
            <a:r>
              <a:rPr lang="en-GB"/>
              <a:t>35% of 30</a:t>
            </a:r>
            <a:endParaRPr/>
          </a:p>
        </p:txBody>
      </p:sp>
      <p:sp>
        <p:nvSpPr>
          <p:cNvPr id="1273" name="Google Shape;1273;p99"/>
          <p:cNvSpPr txBox="1"/>
          <p:nvPr/>
        </p:nvSpPr>
        <p:spPr>
          <a:xfrm>
            <a:off x="3065550" y="1219885"/>
            <a:ext cx="38352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 of 640 = 640 ÷ 10 = 64</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20% of 640 = 2 × 64 = 128 </a:t>
            </a:r>
            <a:endParaRPr sz="2000">
              <a:solidFill>
                <a:schemeClr val="dk1"/>
              </a:solidFill>
              <a:latin typeface="Kalam"/>
              <a:ea typeface="Kalam"/>
              <a:cs typeface="Kalam"/>
              <a:sym typeface="Kalam"/>
            </a:endParaRPr>
          </a:p>
        </p:txBody>
      </p:sp>
      <p:sp>
        <p:nvSpPr>
          <p:cNvPr id="1274" name="Google Shape;1274;p99"/>
          <p:cNvSpPr txBox="1"/>
          <p:nvPr/>
        </p:nvSpPr>
        <p:spPr>
          <a:xfrm>
            <a:off x="3065550" y="2161025"/>
            <a:ext cx="3835200" cy="7395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 of 520 = 520 ÷ 10 = 52</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30% of 520 = 3 × 52 = 156 </a:t>
            </a:r>
            <a:endParaRPr sz="2000">
              <a:solidFill>
                <a:schemeClr val="dk1"/>
              </a:solidFill>
              <a:latin typeface="Kalam"/>
              <a:ea typeface="Kalam"/>
              <a:cs typeface="Kalam"/>
              <a:sym typeface="Kalam"/>
            </a:endParaRPr>
          </a:p>
        </p:txBody>
      </p:sp>
      <p:sp>
        <p:nvSpPr>
          <p:cNvPr id="1275" name="Google Shape;1275;p99"/>
          <p:cNvSpPr txBox="1"/>
          <p:nvPr/>
        </p:nvSpPr>
        <p:spPr>
          <a:xfrm>
            <a:off x="2989350" y="2923025"/>
            <a:ext cx="3835200" cy="7395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 of 8 = 8 ÷ 10 = 0.8</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5% of 8 = 0.8 ÷ 2 = 0.4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15% of 8 = 0.8 + 0.4 = 1.2</a:t>
            </a:r>
            <a:endParaRPr sz="2000">
              <a:solidFill>
                <a:schemeClr val="dk1"/>
              </a:solidFill>
              <a:latin typeface="Kalam"/>
              <a:ea typeface="Kalam"/>
              <a:cs typeface="Kalam"/>
              <a:sym typeface="Kalam"/>
            </a:endParaRPr>
          </a:p>
        </p:txBody>
      </p:sp>
      <p:sp>
        <p:nvSpPr>
          <p:cNvPr id="1276" name="Google Shape;1276;p99"/>
          <p:cNvSpPr txBox="1"/>
          <p:nvPr/>
        </p:nvSpPr>
        <p:spPr>
          <a:xfrm>
            <a:off x="2989350" y="3973182"/>
            <a:ext cx="3835200" cy="7395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a:t>
            </a:r>
            <a:r>
              <a:rPr lang="en-GB" sz="2000">
                <a:solidFill>
                  <a:schemeClr val="dk1"/>
                </a:solidFill>
                <a:latin typeface="Kalam"/>
                <a:ea typeface="Kalam"/>
                <a:cs typeface="Kalam"/>
                <a:sym typeface="Kalam"/>
              </a:rPr>
              <a:t>% of 30 = 30 ÷ 10 = 3</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5% of 30 = 3 ÷ 2 = 1.5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35% of 30 = 3 × 3 + 1.5 = 10.5</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282" name="Google Shape;1282;p100"/>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2a) Who do you think is correct? Why?</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id="1283" name="Google Shape;1283;p100"/>
          <p:cNvPicPr preferRelativeResize="0"/>
          <p:nvPr/>
        </p:nvPicPr>
        <p:blipFill rotWithShape="1">
          <a:blip r:embed="rId3">
            <a:alphaModFix/>
          </a:blip>
          <a:srcRect b="43690" l="0" r="57905" t="0"/>
          <a:stretch/>
        </p:blipFill>
        <p:spPr>
          <a:xfrm flipH="1">
            <a:off x="1001100" y="1332825"/>
            <a:ext cx="2909251" cy="1391325"/>
          </a:xfrm>
          <a:prstGeom prst="rect">
            <a:avLst/>
          </a:prstGeom>
          <a:noFill/>
          <a:ln>
            <a:noFill/>
          </a:ln>
        </p:spPr>
      </p:pic>
      <p:pic>
        <p:nvPicPr>
          <p:cNvPr id="1284" name="Google Shape;1284;p100"/>
          <p:cNvPicPr preferRelativeResize="0"/>
          <p:nvPr/>
        </p:nvPicPr>
        <p:blipFill rotWithShape="1">
          <a:blip r:embed="rId3">
            <a:alphaModFix/>
          </a:blip>
          <a:srcRect b="43690" l="0" r="57905" t="0"/>
          <a:stretch/>
        </p:blipFill>
        <p:spPr>
          <a:xfrm>
            <a:off x="3985575" y="1769475"/>
            <a:ext cx="2606828" cy="1391325"/>
          </a:xfrm>
          <a:prstGeom prst="rect">
            <a:avLst/>
          </a:prstGeom>
          <a:noFill/>
          <a:ln>
            <a:noFill/>
          </a:ln>
        </p:spPr>
      </p:pic>
      <p:pic>
        <p:nvPicPr>
          <p:cNvPr id="1285" name="Google Shape;1285;p100"/>
          <p:cNvPicPr preferRelativeResize="0"/>
          <p:nvPr/>
        </p:nvPicPr>
        <p:blipFill rotWithShape="1">
          <a:blip r:embed="rId3">
            <a:alphaModFix/>
          </a:blip>
          <a:srcRect b="0" l="0" r="70143" t="56280"/>
          <a:stretch/>
        </p:blipFill>
        <p:spPr>
          <a:xfrm>
            <a:off x="6592400" y="581400"/>
            <a:ext cx="2042849" cy="2200175"/>
          </a:xfrm>
          <a:prstGeom prst="rect">
            <a:avLst/>
          </a:prstGeom>
          <a:noFill/>
          <a:ln>
            <a:noFill/>
          </a:ln>
        </p:spPr>
      </p:pic>
      <p:sp>
        <p:nvSpPr>
          <p:cNvPr id="1286" name="Google Shape;1286;p100"/>
          <p:cNvSpPr txBox="1"/>
          <p:nvPr/>
        </p:nvSpPr>
        <p:spPr>
          <a:xfrm>
            <a:off x="1290975" y="1332813"/>
            <a:ext cx="2757300" cy="13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10% of a number is easy. You just divide it by 10.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sp>
        <p:nvSpPr>
          <p:cNvPr id="1287" name="Google Shape;1287;p100"/>
          <p:cNvSpPr txBox="1"/>
          <p:nvPr/>
        </p:nvSpPr>
        <p:spPr>
          <a:xfrm>
            <a:off x="3985575" y="1799847"/>
            <a:ext cx="2538000" cy="10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20% of a number is easy. You just divide it by 20.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sp>
        <p:nvSpPr>
          <p:cNvPr id="1288" name="Google Shape;1288;p100"/>
          <p:cNvSpPr txBox="1"/>
          <p:nvPr/>
        </p:nvSpPr>
        <p:spPr>
          <a:xfrm>
            <a:off x="6667625" y="843150"/>
            <a:ext cx="1742100" cy="10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50% of a number is easy. You just divide it by 50.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pic>
        <p:nvPicPr>
          <p:cNvPr id="1289" name="Google Shape;1289;p100"/>
          <p:cNvPicPr preferRelativeResize="0"/>
          <p:nvPr/>
        </p:nvPicPr>
        <p:blipFill>
          <a:blip r:embed="rId4">
            <a:alphaModFix/>
          </a:blip>
          <a:stretch>
            <a:fillRect/>
          </a:stretch>
        </p:blipFill>
        <p:spPr>
          <a:xfrm>
            <a:off x="401850" y="1644806"/>
            <a:ext cx="623346" cy="1177024"/>
          </a:xfrm>
          <a:prstGeom prst="rect">
            <a:avLst/>
          </a:prstGeom>
          <a:noFill/>
          <a:ln>
            <a:noFill/>
          </a:ln>
        </p:spPr>
      </p:pic>
      <p:sp>
        <p:nvSpPr>
          <p:cNvPr id="1290" name="Google Shape;1290;p100"/>
          <p:cNvSpPr txBox="1"/>
          <p:nvPr/>
        </p:nvSpPr>
        <p:spPr>
          <a:xfrm>
            <a:off x="594000" y="28857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291" name="Google Shape;1291;p100"/>
          <p:cNvPicPr preferRelativeResize="0"/>
          <p:nvPr/>
        </p:nvPicPr>
        <p:blipFill>
          <a:blip r:embed="rId5">
            <a:alphaModFix/>
          </a:blip>
          <a:stretch>
            <a:fillRect/>
          </a:stretch>
        </p:blipFill>
        <p:spPr>
          <a:xfrm>
            <a:off x="6316712" y="2940524"/>
            <a:ext cx="788350" cy="1016564"/>
          </a:xfrm>
          <a:prstGeom prst="rect">
            <a:avLst/>
          </a:prstGeom>
          <a:noFill/>
          <a:ln>
            <a:noFill/>
          </a:ln>
        </p:spPr>
      </p:pic>
      <p:sp>
        <p:nvSpPr>
          <p:cNvPr id="1292" name="Google Shape;1292;p100"/>
          <p:cNvSpPr txBox="1"/>
          <p:nvPr/>
        </p:nvSpPr>
        <p:spPr>
          <a:xfrm>
            <a:off x="6132025" y="3957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pic>
        <p:nvPicPr>
          <p:cNvPr id="1293" name="Google Shape;1293;p100"/>
          <p:cNvPicPr preferRelativeResize="0"/>
          <p:nvPr/>
        </p:nvPicPr>
        <p:blipFill>
          <a:blip r:embed="rId6">
            <a:alphaModFix/>
          </a:blip>
          <a:stretch>
            <a:fillRect/>
          </a:stretch>
        </p:blipFill>
        <p:spPr>
          <a:xfrm flipH="1">
            <a:off x="7306774" y="2571750"/>
            <a:ext cx="971776" cy="877074"/>
          </a:xfrm>
          <a:prstGeom prst="rect">
            <a:avLst/>
          </a:prstGeom>
          <a:noFill/>
          <a:ln>
            <a:noFill/>
          </a:ln>
        </p:spPr>
      </p:pic>
      <p:sp>
        <p:nvSpPr>
          <p:cNvPr id="1294" name="Google Shape;1294;p100"/>
          <p:cNvSpPr txBox="1"/>
          <p:nvPr/>
        </p:nvSpPr>
        <p:spPr>
          <a:xfrm>
            <a:off x="7459188" y="3448813"/>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1295" name="Google Shape;1295;p100"/>
          <p:cNvSpPr txBox="1"/>
          <p:nvPr/>
        </p:nvSpPr>
        <p:spPr>
          <a:xfrm>
            <a:off x="247550" y="3129377"/>
            <a:ext cx="5715000" cy="18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900">
                <a:solidFill>
                  <a:schemeClr val="dk1"/>
                </a:solidFill>
                <a:latin typeface="Kalam"/>
                <a:ea typeface="Kalam"/>
                <a:cs typeface="Kalam"/>
                <a:sym typeface="Kalam"/>
              </a:rPr>
              <a:t>Aisha is correct. Andeep - 20% is found by dividing by five. Izzy - 50% would be divide by two.</a:t>
            </a:r>
            <a:endParaRPr sz="1900">
              <a:solidFill>
                <a:schemeClr val="dk1"/>
              </a:solidFill>
              <a:latin typeface="Kalam"/>
              <a:ea typeface="Kalam"/>
              <a:cs typeface="Kalam"/>
              <a:sym typeface="Kalam"/>
            </a:endParaRPr>
          </a:p>
          <a:p>
            <a:pPr indent="0" lvl="0" marL="0" rtl="0" algn="l">
              <a:lnSpc>
                <a:spcPct val="115000"/>
              </a:lnSpc>
              <a:spcBef>
                <a:spcPts val="0"/>
              </a:spcBef>
              <a:spcAft>
                <a:spcPts val="0"/>
              </a:spcAft>
              <a:buNone/>
            </a:pPr>
            <a:r>
              <a:rPr lang="en-GB" sz="1900">
                <a:solidFill>
                  <a:schemeClr val="dk1"/>
                </a:solidFill>
                <a:latin typeface="Kalam"/>
                <a:ea typeface="Kalam"/>
                <a:cs typeface="Kalam"/>
                <a:sym typeface="Kalam"/>
              </a:rPr>
              <a:t>You may also try to exemplify your reasoning using a particular value, showing why dividing it by 20 would not result in 20% or 50% of that number.</a:t>
            </a:r>
            <a:endParaRPr sz="19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301" name="Google Shape;1301;p101"/>
          <p:cNvSpPr txBox="1"/>
          <p:nvPr>
            <p:ph idx="1" type="body"/>
          </p:nvPr>
        </p:nvSpPr>
        <p:spPr>
          <a:xfrm>
            <a:off x="324000" y="759300"/>
            <a:ext cx="5955600" cy="72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2b) What percentages would the incorrect calculation(s) actually find?</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sz="1900"/>
          </a:p>
        </p:txBody>
      </p:sp>
      <p:pic>
        <p:nvPicPr>
          <p:cNvPr id="1302" name="Google Shape;1302;p101"/>
          <p:cNvPicPr preferRelativeResize="0"/>
          <p:nvPr/>
        </p:nvPicPr>
        <p:blipFill rotWithShape="1">
          <a:blip r:embed="rId3">
            <a:alphaModFix/>
          </a:blip>
          <a:srcRect b="43690" l="0" r="57905" t="0"/>
          <a:stretch/>
        </p:blipFill>
        <p:spPr>
          <a:xfrm flipH="1">
            <a:off x="1001100" y="1637625"/>
            <a:ext cx="2909251" cy="1391325"/>
          </a:xfrm>
          <a:prstGeom prst="rect">
            <a:avLst/>
          </a:prstGeom>
          <a:noFill/>
          <a:ln>
            <a:noFill/>
          </a:ln>
        </p:spPr>
      </p:pic>
      <p:pic>
        <p:nvPicPr>
          <p:cNvPr id="1303" name="Google Shape;1303;p101"/>
          <p:cNvPicPr preferRelativeResize="0"/>
          <p:nvPr/>
        </p:nvPicPr>
        <p:blipFill rotWithShape="1">
          <a:blip r:embed="rId3">
            <a:alphaModFix/>
          </a:blip>
          <a:srcRect b="43690" l="0" r="57905" t="0"/>
          <a:stretch/>
        </p:blipFill>
        <p:spPr>
          <a:xfrm>
            <a:off x="3985575" y="1769475"/>
            <a:ext cx="2606828" cy="1391325"/>
          </a:xfrm>
          <a:prstGeom prst="rect">
            <a:avLst/>
          </a:prstGeom>
          <a:noFill/>
          <a:ln>
            <a:noFill/>
          </a:ln>
        </p:spPr>
      </p:pic>
      <p:pic>
        <p:nvPicPr>
          <p:cNvPr id="1304" name="Google Shape;1304;p101"/>
          <p:cNvPicPr preferRelativeResize="0"/>
          <p:nvPr/>
        </p:nvPicPr>
        <p:blipFill rotWithShape="1">
          <a:blip r:embed="rId3">
            <a:alphaModFix/>
          </a:blip>
          <a:srcRect b="0" l="0" r="70143" t="56280"/>
          <a:stretch/>
        </p:blipFill>
        <p:spPr>
          <a:xfrm>
            <a:off x="6592400" y="581400"/>
            <a:ext cx="2042849" cy="2200175"/>
          </a:xfrm>
          <a:prstGeom prst="rect">
            <a:avLst/>
          </a:prstGeom>
          <a:noFill/>
          <a:ln>
            <a:noFill/>
          </a:ln>
        </p:spPr>
      </p:pic>
      <p:sp>
        <p:nvSpPr>
          <p:cNvPr id="1305" name="Google Shape;1305;p101"/>
          <p:cNvSpPr txBox="1"/>
          <p:nvPr/>
        </p:nvSpPr>
        <p:spPr>
          <a:xfrm>
            <a:off x="1290975" y="1637613"/>
            <a:ext cx="2757300" cy="13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10% of a number is easy. You just divide it by 10.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sp>
        <p:nvSpPr>
          <p:cNvPr id="1306" name="Google Shape;1306;p101"/>
          <p:cNvSpPr txBox="1"/>
          <p:nvPr/>
        </p:nvSpPr>
        <p:spPr>
          <a:xfrm>
            <a:off x="3985575" y="1799847"/>
            <a:ext cx="2538000" cy="10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20% of a number is easy. You just divide it by 20.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sp>
        <p:nvSpPr>
          <p:cNvPr id="1307" name="Google Shape;1307;p101"/>
          <p:cNvSpPr txBox="1"/>
          <p:nvPr/>
        </p:nvSpPr>
        <p:spPr>
          <a:xfrm>
            <a:off x="6667625" y="843150"/>
            <a:ext cx="1742100" cy="10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Finding 50% of a number is easy. You just divide it by 50.</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a:p>
            <a:pPr indent="0" lvl="0" marL="0" rtl="0" algn="l">
              <a:spcBef>
                <a:spcPts val="0"/>
              </a:spcBef>
              <a:spcAft>
                <a:spcPts val="0"/>
              </a:spcAft>
              <a:buNone/>
            </a:pPr>
            <a:r>
              <a:t/>
            </a:r>
            <a:endParaRPr sz="1900">
              <a:solidFill>
                <a:schemeClr val="dk1"/>
              </a:solidFill>
              <a:latin typeface="Lexend"/>
              <a:ea typeface="Lexend"/>
              <a:cs typeface="Lexend"/>
              <a:sym typeface="Lexend"/>
            </a:endParaRPr>
          </a:p>
        </p:txBody>
      </p:sp>
      <p:pic>
        <p:nvPicPr>
          <p:cNvPr id="1308" name="Google Shape;1308;p101"/>
          <p:cNvPicPr preferRelativeResize="0"/>
          <p:nvPr/>
        </p:nvPicPr>
        <p:blipFill>
          <a:blip r:embed="rId4">
            <a:alphaModFix/>
          </a:blip>
          <a:stretch>
            <a:fillRect/>
          </a:stretch>
        </p:blipFill>
        <p:spPr>
          <a:xfrm>
            <a:off x="401850" y="1949606"/>
            <a:ext cx="623346" cy="1177024"/>
          </a:xfrm>
          <a:prstGeom prst="rect">
            <a:avLst/>
          </a:prstGeom>
          <a:noFill/>
          <a:ln>
            <a:noFill/>
          </a:ln>
        </p:spPr>
      </p:pic>
      <p:sp>
        <p:nvSpPr>
          <p:cNvPr id="1309" name="Google Shape;1309;p101"/>
          <p:cNvSpPr txBox="1"/>
          <p:nvPr/>
        </p:nvSpPr>
        <p:spPr>
          <a:xfrm>
            <a:off x="594000" y="319058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310" name="Google Shape;1310;p101"/>
          <p:cNvPicPr preferRelativeResize="0"/>
          <p:nvPr/>
        </p:nvPicPr>
        <p:blipFill>
          <a:blip r:embed="rId5">
            <a:alphaModFix/>
          </a:blip>
          <a:stretch>
            <a:fillRect/>
          </a:stretch>
        </p:blipFill>
        <p:spPr>
          <a:xfrm>
            <a:off x="6316712" y="2940524"/>
            <a:ext cx="788350" cy="1016564"/>
          </a:xfrm>
          <a:prstGeom prst="rect">
            <a:avLst/>
          </a:prstGeom>
          <a:noFill/>
          <a:ln>
            <a:noFill/>
          </a:ln>
        </p:spPr>
      </p:pic>
      <p:sp>
        <p:nvSpPr>
          <p:cNvPr id="1311" name="Google Shape;1311;p101"/>
          <p:cNvSpPr txBox="1"/>
          <p:nvPr/>
        </p:nvSpPr>
        <p:spPr>
          <a:xfrm>
            <a:off x="6132025" y="3957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pic>
        <p:nvPicPr>
          <p:cNvPr id="1312" name="Google Shape;1312;p101"/>
          <p:cNvPicPr preferRelativeResize="0"/>
          <p:nvPr/>
        </p:nvPicPr>
        <p:blipFill>
          <a:blip r:embed="rId6">
            <a:alphaModFix/>
          </a:blip>
          <a:stretch>
            <a:fillRect/>
          </a:stretch>
        </p:blipFill>
        <p:spPr>
          <a:xfrm flipH="1">
            <a:off x="7306774" y="2571750"/>
            <a:ext cx="971776" cy="877074"/>
          </a:xfrm>
          <a:prstGeom prst="rect">
            <a:avLst/>
          </a:prstGeom>
          <a:noFill/>
          <a:ln>
            <a:noFill/>
          </a:ln>
        </p:spPr>
      </p:pic>
      <p:sp>
        <p:nvSpPr>
          <p:cNvPr id="1313" name="Google Shape;1313;p101"/>
          <p:cNvSpPr txBox="1"/>
          <p:nvPr/>
        </p:nvSpPr>
        <p:spPr>
          <a:xfrm>
            <a:off x="7459188" y="3448813"/>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1314" name="Google Shape;1314;p101"/>
          <p:cNvSpPr txBox="1"/>
          <p:nvPr/>
        </p:nvSpPr>
        <p:spPr>
          <a:xfrm>
            <a:off x="401850" y="3677425"/>
            <a:ext cx="33957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000">
                <a:solidFill>
                  <a:schemeClr val="dk1"/>
                </a:solidFill>
                <a:latin typeface="Kalam"/>
                <a:ea typeface="Kalam"/>
                <a:cs typeface="Kalam"/>
                <a:sym typeface="Kalam"/>
              </a:rPr>
              <a:t>Izzy would have found 2%.</a:t>
            </a:r>
            <a:endParaRPr sz="2000">
              <a:solidFill>
                <a:schemeClr val="dk1"/>
              </a:solidFill>
              <a:latin typeface="Kalam"/>
              <a:ea typeface="Kalam"/>
              <a:cs typeface="Kalam"/>
              <a:sym typeface="Kalam"/>
            </a:endParaRPr>
          </a:p>
          <a:p>
            <a:pPr indent="0" lvl="0" marL="0" rtl="0" algn="l">
              <a:lnSpc>
                <a:spcPct val="115000"/>
              </a:lnSpc>
              <a:spcBef>
                <a:spcPts val="0"/>
              </a:spcBef>
              <a:spcAft>
                <a:spcPts val="0"/>
              </a:spcAft>
              <a:buNone/>
            </a:pPr>
            <a:r>
              <a:rPr lang="en-GB" sz="2000">
                <a:solidFill>
                  <a:schemeClr val="dk1"/>
                </a:solidFill>
                <a:latin typeface="Kalam"/>
                <a:ea typeface="Kalam"/>
                <a:cs typeface="Kalam"/>
                <a:sym typeface="Kalam"/>
              </a:rPr>
              <a:t>Andeep would have </a:t>
            </a:r>
            <a:r>
              <a:rPr lang="en-GB" sz="2000">
                <a:solidFill>
                  <a:schemeClr val="dk1"/>
                </a:solidFill>
                <a:latin typeface="Kalam"/>
                <a:ea typeface="Kalam"/>
                <a:cs typeface="Kalam"/>
                <a:sym typeface="Kalam"/>
              </a:rPr>
              <a:t>found</a:t>
            </a:r>
            <a:r>
              <a:rPr lang="en-GB" sz="2000">
                <a:solidFill>
                  <a:schemeClr val="dk1"/>
                </a:solidFill>
                <a:latin typeface="Kalam"/>
                <a:ea typeface="Kalam"/>
                <a:cs typeface="Kalam"/>
                <a:sym typeface="Kalam"/>
              </a:rPr>
              <a:t> 5%</a:t>
            </a:r>
            <a:endParaRPr sz="2000">
              <a:solidFill>
                <a:schemeClr val="dk1"/>
              </a:solidFill>
              <a:latin typeface="Kalam"/>
              <a:ea typeface="Kalam"/>
              <a:cs typeface="Kalam"/>
              <a:sym typeface="Kala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320" name="Google Shape;1320;p102"/>
          <p:cNvSpPr/>
          <p:nvPr/>
        </p:nvSpPr>
        <p:spPr>
          <a:xfrm>
            <a:off x="3145800" y="759300"/>
            <a:ext cx="1955100" cy="1233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500"/>
              </a:spcBef>
              <a:spcAft>
                <a:spcPts val="0"/>
              </a:spcAft>
              <a:buNone/>
            </a:pPr>
            <a:r>
              <a:rPr lang="en-GB" sz="1800">
                <a:solidFill>
                  <a:schemeClr val="dk1"/>
                </a:solidFill>
                <a:latin typeface="Lexend"/>
                <a:ea typeface="Lexend"/>
                <a:cs typeface="Lexend"/>
                <a:sym typeface="Lexend"/>
              </a:rPr>
              <a:t>Andeep</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100 = 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 75 = __</a:t>
            </a:r>
            <a:endParaRPr>
              <a:latin typeface="Lexend"/>
              <a:ea typeface="Lexend"/>
              <a:cs typeface="Lexend"/>
              <a:sym typeface="Lexend"/>
            </a:endParaRPr>
          </a:p>
        </p:txBody>
      </p:sp>
      <p:sp>
        <p:nvSpPr>
          <p:cNvPr id="1321" name="Google Shape;1321;p102"/>
          <p:cNvSpPr/>
          <p:nvPr/>
        </p:nvSpPr>
        <p:spPr>
          <a:xfrm>
            <a:off x="5253325" y="679050"/>
            <a:ext cx="2205900" cy="1677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Aisha</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2 = 125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125 ÷ 2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125 + 62.5 = __</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1800">
              <a:latin typeface="Lexend"/>
              <a:ea typeface="Lexend"/>
              <a:cs typeface="Lexend"/>
              <a:sym typeface="Lexend"/>
            </a:endParaRPr>
          </a:p>
        </p:txBody>
      </p:sp>
      <p:sp>
        <p:nvSpPr>
          <p:cNvPr id="1322" name="Google Shape;1322;p102"/>
          <p:cNvSpPr/>
          <p:nvPr/>
        </p:nvSpPr>
        <p:spPr>
          <a:xfrm>
            <a:off x="3145800" y="2160000"/>
            <a:ext cx="2107500" cy="22539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Sofia</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10 = 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 7 = 175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2 = 12.5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175 + 12.5 = __</a:t>
            </a:r>
            <a:endParaRPr sz="1800">
              <a:latin typeface="Lexend"/>
              <a:ea typeface="Lexend"/>
              <a:cs typeface="Lexend"/>
              <a:sym typeface="Lexend"/>
            </a:endParaRPr>
          </a:p>
        </p:txBody>
      </p:sp>
      <p:sp>
        <p:nvSpPr>
          <p:cNvPr id="1323" name="Google Shape;1323;p102"/>
          <p:cNvSpPr/>
          <p:nvPr/>
        </p:nvSpPr>
        <p:spPr>
          <a:xfrm>
            <a:off x="5355450" y="2419350"/>
            <a:ext cx="1955100" cy="1233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Jacob</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4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250 - 62.5 = __</a:t>
            </a:r>
            <a:endParaRPr sz="1800">
              <a:solidFill>
                <a:schemeClr val="dk1"/>
              </a:solidFill>
              <a:latin typeface="Lexend"/>
              <a:ea typeface="Lexend"/>
              <a:cs typeface="Lexend"/>
              <a:sym typeface="Lexend"/>
            </a:endParaRPr>
          </a:p>
        </p:txBody>
      </p:sp>
      <p:sp>
        <p:nvSpPr>
          <p:cNvPr id="1324" name="Google Shape;1324;p102"/>
          <p:cNvSpPr/>
          <p:nvPr/>
        </p:nvSpPr>
        <p:spPr>
          <a:xfrm>
            <a:off x="5355450" y="3757500"/>
            <a:ext cx="1955100" cy="1068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Sam</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4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62.5 × 3 = __</a:t>
            </a:r>
            <a:endParaRPr sz="1800">
              <a:solidFill>
                <a:schemeClr val="dk1"/>
              </a:solidFill>
              <a:latin typeface="Lexend"/>
              <a:ea typeface="Lexend"/>
              <a:cs typeface="Lexend"/>
              <a:sym typeface="Lexend"/>
            </a:endParaRPr>
          </a:p>
        </p:txBody>
      </p:sp>
      <p:sp>
        <p:nvSpPr>
          <p:cNvPr id="1325" name="Google Shape;1325;p102"/>
          <p:cNvSpPr/>
          <p:nvPr/>
        </p:nvSpPr>
        <p:spPr>
          <a:xfrm>
            <a:off x="7459225" y="2401200"/>
            <a:ext cx="1378500" cy="14739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Lucas</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75 = __</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t/>
            </a:r>
            <a:endParaRPr sz="1800">
              <a:solidFill>
                <a:schemeClr val="dk1"/>
              </a:solidFill>
              <a:latin typeface="Lexend"/>
              <a:ea typeface="Lexend"/>
              <a:cs typeface="Lexend"/>
              <a:sym typeface="Lexend"/>
            </a:endParaRPr>
          </a:p>
        </p:txBody>
      </p:sp>
      <p:sp>
        <p:nvSpPr>
          <p:cNvPr id="1326" name="Google Shape;1326;p102"/>
          <p:cNvSpPr txBox="1"/>
          <p:nvPr/>
        </p:nvSpPr>
        <p:spPr>
          <a:xfrm>
            <a:off x="317200" y="4256100"/>
            <a:ext cx="2587800" cy="55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200">
                <a:solidFill>
                  <a:schemeClr val="dk1"/>
                </a:solidFill>
                <a:latin typeface="Kalam"/>
                <a:ea typeface="Kalam"/>
                <a:cs typeface="Kalam"/>
                <a:sym typeface="Kalam"/>
              </a:rPr>
              <a:t>Lucas</a:t>
            </a:r>
            <a:r>
              <a:rPr lang="en-GB" sz="2200">
                <a:solidFill>
                  <a:schemeClr val="dk1"/>
                </a:solidFill>
                <a:latin typeface="Kalam"/>
                <a:ea typeface="Kalam"/>
                <a:cs typeface="Kalam"/>
                <a:sym typeface="Kalam"/>
              </a:rPr>
              <a:t> is incorrect</a:t>
            </a:r>
            <a:endParaRPr sz="2200">
              <a:solidFill>
                <a:schemeClr val="dk1"/>
              </a:solidFill>
              <a:latin typeface="Kalam"/>
              <a:ea typeface="Kalam"/>
              <a:cs typeface="Kalam"/>
              <a:sym typeface="Kalam"/>
            </a:endParaRPr>
          </a:p>
        </p:txBody>
      </p:sp>
      <p:sp>
        <p:nvSpPr>
          <p:cNvPr id="1327" name="Google Shape;1327;p102"/>
          <p:cNvSpPr txBox="1"/>
          <p:nvPr>
            <p:ph idx="1" type="body"/>
          </p:nvPr>
        </p:nvSpPr>
        <p:spPr>
          <a:xfrm>
            <a:off x="324000" y="759300"/>
            <a:ext cx="2669400" cy="3020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3</a:t>
            </a:r>
            <a:r>
              <a:rPr lang="en-GB" sz="2000"/>
              <a:t>)  On the right are six students’ different strategies for finding 75% of 250. One of them is incorrect.</a:t>
            </a:r>
            <a:endParaRPr sz="2000"/>
          </a:p>
          <a:p>
            <a:pPr indent="0" lvl="0" marL="0" rtl="0" algn="l">
              <a:lnSpc>
                <a:spcPct val="115000"/>
              </a:lnSpc>
              <a:spcBef>
                <a:spcPts val="0"/>
              </a:spcBef>
              <a:spcAft>
                <a:spcPts val="0"/>
              </a:spcAft>
              <a:buNone/>
            </a:pPr>
            <a:r>
              <a:rPr lang="en-GB" sz="2000"/>
              <a:t>Whose strategy is incorrect?</a:t>
            </a:r>
            <a:endParaRPr sz="2000"/>
          </a:p>
          <a:p>
            <a:pPr indent="0" lvl="0" marL="0" rtl="0" algn="l">
              <a:lnSpc>
                <a:spcPct val="115000"/>
              </a:lnSpc>
              <a:spcBef>
                <a:spcPts val="0"/>
              </a:spcBef>
              <a:spcAft>
                <a:spcPts val="0"/>
              </a:spcAft>
              <a:buNone/>
            </a:pPr>
            <a:r>
              <a:rPr lang="en-GB" sz="2000"/>
              <a:t>Explain the method used by each pupil.</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of amounts</a:t>
            </a:r>
            <a:endParaRPr/>
          </a:p>
        </p:txBody>
      </p:sp>
      <p:sp>
        <p:nvSpPr>
          <p:cNvPr id="1333" name="Google Shape;1333;p103"/>
          <p:cNvSpPr/>
          <p:nvPr/>
        </p:nvSpPr>
        <p:spPr>
          <a:xfrm>
            <a:off x="2460000" y="759300"/>
            <a:ext cx="1955100" cy="1233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500"/>
              </a:spcBef>
              <a:spcAft>
                <a:spcPts val="0"/>
              </a:spcAft>
              <a:buNone/>
            </a:pPr>
            <a:r>
              <a:rPr lang="en-GB" sz="1800">
                <a:solidFill>
                  <a:schemeClr val="dk1"/>
                </a:solidFill>
                <a:latin typeface="Lexend"/>
                <a:ea typeface="Lexend"/>
                <a:cs typeface="Lexend"/>
                <a:sym typeface="Lexend"/>
              </a:rPr>
              <a:t>Andeep</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100 = 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 75 = __</a:t>
            </a:r>
            <a:endParaRPr>
              <a:latin typeface="Lexend"/>
              <a:ea typeface="Lexend"/>
              <a:cs typeface="Lexend"/>
              <a:sym typeface="Lexend"/>
            </a:endParaRPr>
          </a:p>
        </p:txBody>
      </p:sp>
      <p:sp>
        <p:nvSpPr>
          <p:cNvPr id="1334" name="Google Shape;1334;p103"/>
          <p:cNvSpPr/>
          <p:nvPr/>
        </p:nvSpPr>
        <p:spPr>
          <a:xfrm>
            <a:off x="4567525" y="679050"/>
            <a:ext cx="2205900" cy="1677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Aisha</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2 = 125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125 ÷ 2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125 + 62.5 = __</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1800">
              <a:latin typeface="Lexend"/>
              <a:ea typeface="Lexend"/>
              <a:cs typeface="Lexend"/>
              <a:sym typeface="Lexend"/>
            </a:endParaRPr>
          </a:p>
        </p:txBody>
      </p:sp>
      <p:sp>
        <p:nvSpPr>
          <p:cNvPr id="1335" name="Google Shape;1335;p103"/>
          <p:cNvSpPr/>
          <p:nvPr/>
        </p:nvSpPr>
        <p:spPr>
          <a:xfrm>
            <a:off x="2460000" y="2160000"/>
            <a:ext cx="2107500" cy="22539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Sofia</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10 = 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 7 = 175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 2 = 12.5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175 + 12.5 = __</a:t>
            </a:r>
            <a:endParaRPr sz="1800">
              <a:latin typeface="Lexend"/>
              <a:ea typeface="Lexend"/>
              <a:cs typeface="Lexend"/>
              <a:sym typeface="Lexend"/>
            </a:endParaRPr>
          </a:p>
        </p:txBody>
      </p:sp>
      <p:sp>
        <p:nvSpPr>
          <p:cNvPr id="1336" name="Google Shape;1336;p103"/>
          <p:cNvSpPr/>
          <p:nvPr/>
        </p:nvSpPr>
        <p:spPr>
          <a:xfrm>
            <a:off x="4669650" y="2419350"/>
            <a:ext cx="1955100" cy="12336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Jacob</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4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250 - 62.5 = __</a:t>
            </a:r>
            <a:endParaRPr sz="1800">
              <a:solidFill>
                <a:schemeClr val="dk1"/>
              </a:solidFill>
              <a:latin typeface="Lexend"/>
              <a:ea typeface="Lexend"/>
              <a:cs typeface="Lexend"/>
              <a:sym typeface="Lexend"/>
            </a:endParaRPr>
          </a:p>
        </p:txBody>
      </p:sp>
      <p:sp>
        <p:nvSpPr>
          <p:cNvPr id="1337" name="Google Shape;1337;p103"/>
          <p:cNvSpPr/>
          <p:nvPr/>
        </p:nvSpPr>
        <p:spPr>
          <a:xfrm>
            <a:off x="5431650" y="3757500"/>
            <a:ext cx="1955100" cy="10680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Sam</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250 ÷ 4 = 62.5</a:t>
            </a:r>
            <a:endParaRPr sz="1800">
              <a:solidFill>
                <a:schemeClr val="dk1"/>
              </a:solidFill>
              <a:latin typeface="Lexend"/>
              <a:ea typeface="Lexend"/>
              <a:cs typeface="Lexend"/>
              <a:sym typeface="Lexend"/>
            </a:endParaRPr>
          </a:p>
          <a:p>
            <a:pPr indent="0" lvl="0" marL="0" rtl="0" algn="l">
              <a:lnSpc>
                <a:spcPct val="115000"/>
              </a:lnSpc>
              <a:spcBef>
                <a:spcPts val="500"/>
              </a:spcBef>
              <a:spcAft>
                <a:spcPts val="0"/>
              </a:spcAft>
              <a:buNone/>
            </a:pPr>
            <a:r>
              <a:rPr lang="en-GB" sz="1800">
                <a:solidFill>
                  <a:schemeClr val="dk1"/>
                </a:solidFill>
                <a:latin typeface="Lexend"/>
                <a:ea typeface="Lexend"/>
                <a:cs typeface="Lexend"/>
                <a:sym typeface="Lexend"/>
              </a:rPr>
              <a:t>62.5 × 3 = __</a:t>
            </a:r>
            <a:endParaRPr sz="1800">
              <a:solidFill>
                <a:schemeClr val="dk1"/>
              </a:solidFill>
              <a:latin typeface="Lexend"/>
              <a:ea typeface="Lexend"/>
              <a:cs typeface="Lexend"/>
              <a:sym typeface="Lexend"/>
            </a:endParaRPr>
          </a:p>
        </p:txBody>
      </p:sp>
      <p:sp>
        <p:nvSpPr>
          <p:cNvPr id="1338" name="Google Shape;1338;p103"/>
          <p:cNvSpPr txBox="1"/>
          <p:nvPr/>
        </p:nvSpPr>
        <p:spPr>
          <a:xfrm>
            <a:off x="324000" y="804300"/>
            <a:ext cx="1955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Found 1% then multiplied by 75 to give 75%</a:t>
            </a:r>
            <a:endParaRPr sz="1900">
              <a:solidFill>
                <a:schemeClr val="dk1"/>
              </a:solidFill>
              <a:latin typeface="Kalam"/>
              <a:ea typeface="Kalam"/>
              <a:cs typeface="Kalam"/>
              <a:sym typeface="Kalam"/>
            </a:endParaRPr>
          </a:p>
        </p:txBody>
      </p:sp>
      <p:sp>
        <p:nvSpPr>
          <p:cNvPr id="1339" name="Google Shape;1339;p103"/>
          <p:cNvSpPr txBox="1"/>
          <p:nvPr/>
        </p:nvSpPr>
        <p:spPr>
          <a:xfrm>
            <a:off x="261325" y="2296050"/>
            <a:ext cx="1955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Found </a:t>
            </a:r>
            <a:r>
              <a:rPr lang="en-GB" sz="1900">
                <a:solidFill>
                  <a:schemeClr val="dk1"/>
                </a:solidFill>
                <a:latin typeface="Kalam"/>
                <a:ea typeface="Kalam"/>
                <a:cs typeface="Kalam"/>
                <a:sym typeface="Kalam"/>
              </a:rPr>
              <a:t>10% then multiplied by 7 to give 70% then found 5% and summed to make 75%</a:t>
            </a:r>
            <a:endParaRPr sz="1900">
              <a:solidFill>
                <a:schemeClr val="dk1"/>
              </a:solidFill>
              <a:latin typeface="Kalam"/>
              <a:ea typeface="Kalam"/>
              <a:cs typeface="Kalam"/>
              <a:sym typeface="Kalam"/>
            </a:endParaRPr>
          </a:p>
        </p:txBody>
      </p:sp>
      <p:sp>
        <p:nvSpPr>
          <p:cNvPr id="1340" name="Google Shape;1340;p103"/>
          <p:cNvSpPr txBox="1"/>
          <p:nvPr/>
        </p:nvSpPr>
        <p:spPr>
          <a:xfrm>
            <a:off x="261325" y="4413900"/>
            <a:ext cx="52533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Found 25% then multiplied by 3 to make 75%</a:t>
            </a:r>
            <a:endParaRPr sz="1900">
              <a:solidFill>
                <a:schemeClr val="dk1"/>
              </a:solidFill>
              <a:latin typeface="Kalam"/>
              <a:ea typeface="Kalam"/>
              <a:cs typeface="Kalam"/>
              <a:sym typeface="Kalam"/>
            </a:endParaRPr>
          </a:p>
        </p:txBody>
      </p:sp>
      <p:sp>
        <p:nvSpPr>
          <p:cNvPr id="1341" name="Google Shape;1341;p103"/>
          <p:cNvSpPr txBox="1"/>
          <p:nvPr/>
        </p:nvSpPr>
        <p:spPr>
          <a:xfrm>
            <a:off x="6925850" y="759300"/>
            <a:ext cx="1955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Found 50% then found 25% and summed to make 75%</a:t>
            </a:r>
            <a:endParaRPr sz="1900">
              <a:solidFill>
                <a:schemeClr val="dk1"/>
              </a:solidFill>
              <a:latin typeface="Kalam"/>
              <a:ea typeface="Kalam"/>
              <a:cs typeface="Kalam"/>
              <a:sym typeface="Kalam"/>
            </a:endParaRPr>
          </a:p>
        </p:txBody>
      </p:sp>
      <p:sp>
        <p:nvSpPr>
          <p:cNvPr id="1342" name="Google Shape;1342;p103"/>
          <p:cNvSpPr txBox="1"/>
          <p:nvPr/>
        </p:nvSpPr>
        <p:spPr>
          <a:xfrm>
            <a:off x="6803100" y="2424300"/>
            <a:ext cx="21075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Kalam"/>
                <a:ea typeface="Kalam"/>
                <a:cs typeface="Kalam"/>
                <a:sym typeface="Kalam"/>
              </a:rPr>
              <a:t>Found 25</a:t>
            </a:r>
            <a:r>
              <a:rPr lang="en-GB" sz="1900">
                <a:solidFill>
                  <a:schemeClr val="dk1"/>
                </a:solidFill>
                <a:latin typeface="Kalam"/>
                <a:ea typeface="Kalam"/>
                <a:cs typeface="Kalam"/>
                <a:sym typeface="Kalam"/>
              </a:rPr>
              <a:t>% then subtracted from 100% to make 75%</a:t>
            </a:r>
            <a:endParaRPr sz="1900">
              <a:solidFill>
                <a:schemeClr val="dk1"/>
              </a:solidFill>
              <a:latin typeface="Kalam"/>
              <a:ea typeface="Kalam"/>
              <a:cs typeface="Kalam"/>
              <a:sym typeface="Kalam"/>
            </a:endParaRPr>
          </a:p>
        </p:txBody>
      </p:sp>
      <p:cxnSp>
        <p:nvCxnSpPr>
          <p:cNvPr id="1343" name="Google Shape;1343;p103"/>
          <p:cNvCxnSpPr/>
          <p:nvPr/>
        </p:nvCxnSpPr>
        <p:spPr>
          <a:xfrm flipH="1" rot="10800000">
            <a:off x="2017900" y="1318200"/>
            <a:ext cx="451200" cy="288300"/>
          </a:xfrm>
          <a:prstGeom prst="straightConnector1">
            <a:avLst/>
          </a:prstGeom>
          <a:noFill/>
          <a:ln cap="flat" cmpd="sng" w="28575">
            <a:solidFill>
              <a:schemeClr val="dk2"/>
            </a:solidFill>
            <a:prstDash val="solid"/>
            <a:round/>
            <a:headEnd len="med" w="med" type="none"/>
            <a:tailEnd len="med" w="med" type="none"/>
          </a:ln>
        </p:spPr>
      </p:cxnSp>
      <p:cxnSp>
        <p:nvCxnSpPr>
          <p:cNvPr id="1344" name="Google Shape;1344;p103"/>
          <p:cNvCxnSpPr/>
          <p:nvPr/>
        </p:nvCxnSpPr>
        <p:spPr>
          <a:xfrm flipH="1" rot="10800000">
            <a:off x="2017900" y="3059250"/>
            <a:ext cx="451200" cy="288300"/>
          </a:xfrm>
          <a:prstGeom prst="straightConnector1">
            <a:avLst/>
          </a:prstGeom>
          <a:noFill/>
          <a:ln cap="flat" cmpd="sng" w="28575">
            <a:solidFill>
              <a:schemeClr val="dk2"/>
            </a:solidFill>
            <a:prstDash val="solid"/>
            <a:round/>
            <a:headEnd len="med" w="med" type="none"/>
            <a:tailEnd len="med" w="med" type="none"/>
          </a:ln>
        </p:spPr>
      </p:cxnSp>
      <p:cxnSp>
        <p:nvCxnSpPr>
          <p:cNvPr id="1345" name="Google Shape;1345;p103"/>
          <p:cNvCxnSpPr/>
          <p:nvPr/>
        </p:nvCxnSpPr>
        <p:spPr>
          <a:xfrm flipH="1" rot="10800000">
            <a:off x="4980450" y="4147350"/>
            <a:ext cx="451200" cy="288300"/>
          </a:xfrm>
          <a:prstGeom prst="straightConnector1">
            <a:avLst/>
          </a:prstGeom>
          <a:noFill/>
          <a:ln cap="flat" cmpd="sng" w="28575">
            <a:solidFill>
              <a:schemeClr val="dk2"/>
            </a:solidFill>
            <a:prstDash val="solid"/>
            <a:round/>
            <a:headEnd len="med" w="med" type="none"/>
            <a:tailEnd len="med" w="med" type="none"/>
          </a:ln>
        </p:spPr>
      </p:cxnSp>
      <p:cxnSp>
        <p:nvCxnSpPr>
          <p:cNvPr id="1346" name="Google Shape;1346;p103"/>
          <p:cNvCxnSpPr/>
          <p:nvPr/>
        </p:nvCxnSpPr>
        <p:spPr>
          <a:xfrm flipH="1" rot="10800000">
            <a:off x="6773425" y="1009950"/>
            <a:ext cx="198900" cy="485100"/>
          </a:xfrm>
          <a:prstGeom prst="straightConnector1">
            <a:avLst/>
          </a:prstGeom>
          <a:noFill/>
          <a:ln cap="flat" cmpd="sng" w="28575">
            <a:solidFill>
              <a:schemeClr val="dk2"/>
            </a:solidFill>
            <a:prstDash val="solid"/>
            <a:round/>
            <a:headEnd len="med" w="med" type="none"/>
            <a:tailEnd len="med" w="med" type="none"/>
          </a:ln>
        </p:spPr>
      </p:cxnSp>
      <p:cxnSp>
        <p:nvCxnSpPr>
          <p:cNvPr id="1347" name="Google Shape;1347;p103"/>
          <p:cNvCxnSpPr/>
          <p:nvPr/>
        </p:nvCxnSpPr>
        <p:spPr>
          <a:xfrm>
            <a:off x="6624750" y="2700000"/>
            <a:ext cx="255600" cy="234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104"/>
          <p:cNvSpPr txBox="1"/>
          <p:nvPr>
            <p:ph idx="1" type="body"/>
          </p:nvPr>
        </p:nvSpPr>
        <p:spPr>
          <a:xfrm>
            <a:off x="324000" y="8298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a:t>
            </a:r>
            <a:r>
              <a:rPr lang="en-GB"/>
              <a:t>e know percent comes from the Latin phrase “per centum” meaning “by the hundred” and we know we can represent proportion using fractions and percentages and so we can change between them.</a:t>
            </a:r>
            <a:endParaRPr/>
          </a:p>
          <a:p>
            <a:pPr indent="0" lvl="0" marL="0" rtl="0" algn="l">
              <a:spcBef>
                <a:spcPts val="1000"/>
              </a:spcBef>
              <a:spcAft>
                <a:spcPts val="0"/>
              </a:spcAft>
              <a:buNone/>
            </a:pPr>
            <a:r>
              <a:rPr lang="en-GB"/>
              <a:t>There are lots of different ways to work out a percentage of an amount, it is essential you understand the reasoning behind the working out.</a:t>
            </a:r>
            <a:endParaRPr/>
          </a:p>
          <a:p>
            <a:pPr indent="0" lvl="0" marL="0" rtl="0" algn="l">
              <a:spcBef>
                <a:spcPts val="1000"/>
              </a:spcBef>
              <a:spcAft>
                <a:spcPts val="1000"/>
              </a:spcAft>
              <a:buNone/>
            </a:pPr>
            <a:r>
              <a:t/>
            </a:r>
            <a:endParaRPr/>
          </a:p>
        </p:txBody>
      </p:sp>
      <p:sp>
        <p:nvSpPr>
          <p:cNvPr id="1353" name="Google Shape;1353;p104"/>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sz="1800"/>
              <a:t>Checking understanding of percentages</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0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359" name="Google Shape;1359;p10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