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6E45988-EC54-4E59-B495-1E5CBC512A16}">
  <a:tblStyle styleId="{D6E45988-EC54-4E59-B495-1E5CBC512A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sp>
        <p:nvSpPr>
          <p:cNvPr id="212" name="Google Shape;21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Relationship Id="rId7" Type="http://schemas.openxmlformats.org/officeDocument/2006/relationships/image" Target="../media/image15.png" /><Relationship Id="rId8" Type="http://schemas.openxmlformats.org/officeDocument/2006/relationships/image" Target="../media/image16.png" /><Relationship Id="rId9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Graphing direct proportion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500" y="6102775"/>
            <a:ext cx="4237561" cy="226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68000" y="5466900"/>
            <a:ext cx="6405000" cy="23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Which of the following graphs show two variables that are in direct proportion?  Give a reason for your answers.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			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			                                                      d)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3587" y="7496549"/>
            <a:ext cx="307894" cy="325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8286" y="6136096"/>
            <a:ext cx="307894" cy="326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9968" y="6136104"/>
            <a:ext cx="316428" cy="32636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1831916" y="6102767"/>
            <a:ext cx="182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has a constant positive gradient but the intercept is not zero.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128148" y="7406183"/>
            <a:ext cx="182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has a constant positive gradient and the intercept is zero.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393725" y="6102775"/>
            <a:ext cx="169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has a constant positive gradient but the intercept is not zero.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9968" y="7380275"/>
            <a:ext cx="316428" cy="32636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393725" y="7346950"/>
            <a:ext cx="169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intercept is zero but the gradient is not constant.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00" y="13962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Features of graphs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68000" y="173485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 Which of the following tables show that A and B are in direct proportion?  Give a reason for your answers.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      		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3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                                                         		 d)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6" name="Google Shape;186;p20"/>
          <p:cNvGraphicFramePr>
            <a:graphicFrameLocks noGrp="1"/>
          </p:cNvGraphicFramePr>
          <p:nvPr/>
        </p:nvGraphicFramePr>
        <p:xfrm>
          <a:off x="1170175" y="2392725"/>
          <a:ext cx="1601750" cy="923400"/>
        </p:xfrm>
        <a:graphic>
          <a:graphicData uri="http://schemas.openxmlformats.org/drawingml/2006/table">
            <a:tbl>
              <a:tblPr>
                <a:noFill/>
                <a:tableStyleId>{D6E45988-EC54-4E59-B495-1E5CBC512A16}</a:tableStyleId>
              </a:tblPr>
              <a:tblGrid>
                <a:gridCol w="800875"/>
                <a:gridCol w="800875"/>
              </a:tblGrid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7" name="Google Shape;187;p20"/>
          <p:cNvGraphicFramePr>
            <a:graphicFrameLocks noGrp="1"/>
          </p:cNvGraphicFramePr>
          <p:nvPr/>
        </p:nvGraphicFramePr>
        <p:xfrm>
          <a:off x="1170175" y="3600088"/>
          <a:ext cx="1601750" cy="923400"/>
        </p:xfrm>
        <a:graphic>
          <a:graphicData uri="http://schemas.openxmlformats.org/drawingml/2006/table">
            <a:tbl>
              <a:tblPr>
                <a:noFill/>
                <a:tableStyleId>{D6E45988-EC54-4E59-B495-1E5CBC512A16}</a:tableStyleId>
              </a:tblPr>
              <a:tblGrid>
                <a:gridCol w="800875"/>
                <a:gridCol w="800875"/>
              </a:tblGrid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8" name="Google Shape;188;p20"/>
          <p:cNvGraphicFramePr>
            <a:graphicFrameLocks noGrp="1"/>
          </p:cNvGraphicFramePr>
          <p:nvPr/>
        </p:nvGraphicFramePr>
        <p:xfrm>
          <a:off x="4519588" y="2396626"/>
          <a:ext cx="1601750" cy="923400"/>
        </p:xfrm>
        <a:graphic>
          <a:graphicData uri="http://schemas.openxmlformats.org/drawingml/2006/table">
            <a:tbl>
              <a:tblPr>
                <a:noFill/>
                <a:tableStyleId>{D6E45988-EC54-4E59-B495-1E5CBC512A16}</a:tableStyleId>
              </a:tblPr>
              <a:tblGrid>
                <a:gridCol w="800875"/>
                <a:gridCol w="800875"/>
              </a:tblGrid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9" name="Google Shape;189;p20"/>
          <p:cNvGraphicFramePr>
            <a:graphicFrameLocks noGrp="1"/>
          </p:cNvGraphicFramePr>
          <p:nvPr/>
        </p:nvGraphicFramePr>
        <p:xfrm>
          <a:off x="4522975" y="3600100"/>
          <a:ext cx="1601750" cy="923400"/>
        </p:xfrm>
        <a:graphic>
          <a:graphicData uri="http://schemas.openxmlformats.org/drawingml/2006/table">
            <a:tbl>
              <a:tblPr>
                <a:noFill/>
                <a:tableStyleId>{D6E45988-EC54-4E59-B495-1E5CBC512A16}</a:tableStyleId>
              </a:tblPr>
              <a:tblGrid>
                <a:gridCol w="800875"/>
                <a:gridCol w="800875"/>
              </a:tblGrid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30.6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90" name="Google Shape;19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4100" y="3041975"/>
            <a:ext cx="267561" cy="283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7022" y="4392037"/>
            <a:ext cx="267561" cy="28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2329" y="4215706"/>
            <a:ext cx="267561" cy="283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2336" y="3041750"/>
            <a:ext cx="267561" cy="28361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2961143" y="2773719"/>
            <a:ext cx="58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/>
          <p:nvPr/>
        </p:nvSpPr>
        <p:spPr>
          <a:xfrm rot="-5400000" flipH="1">
            <a:off x="925398" y="2838848"/>
            <a:ext cx="347700" cy="253500"/>
          </a:xfrm>
          <a:prstGeom prst="arc">
            <a:avLst>
              <a:gd name="adj1" fmla="val 10729459"/>
              <a:gd name="adj2" fmla="val 194289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77892" y="2750050"/>
            <a:ext cx="58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/>
          <p:nvPr/>
        </p:nvSpPr>
        <p:spPr>
          <a:xfrm rot="5400000">
            <a:off x="2681027" y="2848072"/>
            <a:ext cx="347700" cy="278100"/>
          </a:xfrm>
          <a:prstGeom prst="arc">
            <a:avLst>
              <a:gd name="adj1" fmla="val 10729459"/>
              <a:gd name="adj2" fmla="val 194289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2991442" y="3968119"/>
            <a:ext cx="58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/>
          <p:nvPr/>
        </p:nvSpPr>
        <p:spPr>
          <a:xfrm rot="-5400000" flipH="1">
            <a:off x="941549" y="4058048"/>
            <a:ext cx="347700" cy="253500"/>
          </a:xfrm>
          <a:prstGeom prst="arc">
            <a:avLst>
              <a:gd name="adj1" fmla="val 10729459"/>
              <a:gd name="adj2" fmla="val 194289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474750" y="3839975"/>
            <a:ext cx="889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0.25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÷ 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/>
          <p:nvPr/>
        </p:nvSpPr>
        <p:spPr>
          <a:xfrm rot="5400000">
            <a:off x="2697178" y="4067272"/>
            <a:ext cx="347700" cy="278100"/>
          </a:xfrm>
          <a:prstGeom prst="arc">
            <a:avLst>
              <a:gd name="adj1" fmla="val 10729459"/>
              <a:gd name="adj2" fmla="val 194289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2" name="Google Shape;202;p20" descr="&lt;math xmlns=&quot;http://www.w3.org/1998/Math/MathML&quot; display=&quot;block&quot; data-is-equatio=&quot;1&quot; data-latex=&quot;\begin{array}{l}\frac{29}{120}\end{array}&quot;&gt;&lt;mtable columnalign=&quot;left&quot; columnspacing=&quot;1em&quot; rowspacing=&quot;4pt&quot;&gt;&lt;mtr&gt;&lt;mtd&gt;&lt;mfrac&gt;&lt;mn&gt;29&lt;/mn&gt;&lt;mn&gt;120&lt;/mn&gt;&lt;/mfrac&gt;&lt;/mtd&gt;&lt;/mtr&gt;&lt;/mtable&gt;&lt;/math&gt;" title="1 lines Line 1: 29 over 1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3545" y="4047163"/>
            <a:ext cx="289913" cy="33451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5063601" y="2717775"/>
            <a:ext cx="483300" cy="1848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0.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4" name="Google Shape;204;p20"/>
          <p:cNvCxnSpPr/>
          <p:nvPr/>
        </p:nvCxnSpPr>
        <p:spPr>
          <a:xfrm>
            <a:off x="5069947" y="2905583"/>
            <a:ext cx="552600" cy="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5" name="Google Shape;205;p20"/>
          <p:cNvCxnSpPr/>
          <p:nvPr/>
        </p:nvCxnSpPr>
        <p:spPr>
          <a:xfrm>
            <a:off x="5074502" y="3320275"/>
            <a:ext cx="552600" cy="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6" name="Google Shape;206;p20"/>
          <p:cNvSpPr txBox="1"/>
          <p:nvPr/>
        </p:nvSpPr>
        <p:spPr>
          <a:xfrm>
            <a:off x="5052003" y="3070425"/>
            <a:ext cx="396000" cy="1848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0.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5132556" y="3946950"/>
            <a:ext cx="396000" cy="1848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1.8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>
            <a:off x="5074300" y="4210955"/>
            <a:ext cx="552600" cy="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9" name="Google Shape;209;p20"/>
          <p:cNvCxnSpPr/>
          <p:nvPr/>
        </p:nvCxnSpPr>
        <p:spPr>
          <a:xfrm>
            <a:off x="5118400" y="4610322"/>
            <a:ext cx="552600" cy="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" name="Google Shape;210;p20"/>
          <p:cNvSpPr txBox="1"/>
          <p:nvPr/>
        </p:nvSpPr>
        <p:spPr>
          <a:xfrm>
            <a:off x="5095901" y="4312625"/>
            <a:ext cx="396000" cy="1848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1.8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4" name="Shape 214"/>
        <p:cNvGrpSpPr/>
        <p:nvPr/>
      </p:nvGrpSpPr>
      <p:grpSpPr>
        <a:xfrm>
          <a:off x="0" y="0"/>
          <a:ext cx="0" cy="0"/>
        </a:xfrm>
      </p:grpSpPr>
      <p:sp>
        <p:nvSpPr>
          <p:cNvPr id="215" name="Google Shape;21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6" name="Google Shape;216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Graphing direct proportion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pic>
        <p:nvPicPr>
          <p:cNvPr id="219" name="Google Shape;2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089" y="1372535"/>
            <a:ext cx="5447160" cy="249108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468000" y="72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Graphs representing direct proportion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8000" y="997200"/>
            <a:ext cx="6623400" cy="23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Calculate the value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(constant of proportionality) from the following graphs: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a)                                               		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b)  	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	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871973" y="1242266"/>
            <a:ext cx="11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2238029" y="2225699"/>
            <a:ext cx="11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871973" y="2548928"/>
            <a:ext cx="11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2091631" y="3602799"/>
            <a:ext cx="11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041806" y="1218221"/>
            <a:ext cx="11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381602" y="2250003"/>
            <a:ext cx="11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041806" y="2524884"/>
            <a:ext cx="11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6472778" y="3406095"/>
            <a:ext cx="11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2453707" y="2263441"/>
            <a:ext cx="100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2453707" y="3332529"/>
            <a:ext cx="116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÷ 2.4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2" name="Google Shape;232;p21"/>
          <p:cNvCxnSpPr/>
          <p:nvPr/>
        </p:nvCxnSpPr>
        <p:spPr>
          <a:xfrm>
            <a:off x="1369737" y="2165073"/>
            <a:ext cx="1881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33" name="Google Shape;233;p21"/>
          <p:cNvCxnSpPr/>
          <p:nvPr/>
        </p:nvCxnSpPr>
        <p:spPr>
          <a:xfrm rot="10800000" flipH="1">
            <a:off x="1557735" y="1980876"/>
            <a:ext cx="0" cy="1842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234" name="Google Shape;234;p21"/>
          <p:cNvSpPr txBox="1"/>
          <p:nvPr/>
        </p:nvSpPr>
        <p:spPr>
          <a:xfrm>
            <a:off x="1533501" y="1903565"/>
            <a:ext cx="41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1267282" y="2084924"/>
            <a:ext cx="50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6" name="Google Shape;236;p21"/>
          <p:cNvCxnSpPr/>
          <p:nvPr/>
        </p:nvCxnSpPr>
        <p:spPr>
          <a:xfrm>
            <a:off x="1492573" y="3320468"/>
            <a:ext cx="5178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37" name="Google Shape;237;p21"/>
          <p:cNvCxnSpPr/>
          <p:nvPr/>
        </p:nvCxnSpPr>
        <p:spPr>
          <a:xfrm rot="10800000" flipH="1">
            <a:off x="2010514" y="2682153"/>
            <a:ext cx="0" cy="6165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238" name="Google Shape;238;p21"/>
          <p:cNvSpPr txBox="1"/>
          <p:nvPr/>
        </p:nvSpPr>
        <p:spPr>
          <a:xfrm>
            <a:off x="1473943" y="3243633"/>
            <a:ext cx="50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+2.4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2050800" y="2826353"/>
            <a:ext cx="50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0" name="Google Shape;240;p21"/>
          <p:cNvCxnSpPr/>
          <p:nvPr/>
        </p:nvCxnSpPr>
        <p:spPr>
          <a:xfrm>
            <a:off x="4308222" y="2395441"/>
            <a:ext cx="7815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41" name="Google Shape;241;p21"/>
          <p:cNvCxnSpPr/>
          <p:nvPr/>
        </p:nvCxnSpPr>
        <p:spPr>
          <a:xfrm rot="10800000" flipH="1">
            <a:off x="5089694" y="2014132"/>
            <a:ext cx="0" cy="3813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242" name="Google Shape;242;p21"/>
          <p:cNvSpPr txBox="1"/>
          <p:nvPr/>
        </p:nvSpPr>
        <p:spPr>
          <a:xfrm>
            <a:off x="4558233" y="2133089"/>
            <a:ext cx="50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046472" y="2054234"/>
            <a:ext cx="50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5495707" y="1868847"/>
            <a:ext cx="1367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÷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0.25 or </a:t>
            </a:r>
            <a:endParaRPr sz="1200"/>
          </a:p>
        </p:txBody>
      </p:sp>
      <p:pic>
        <p:nvPicPr>
          <p:cNvPr id="245" name="Google Shape;245;p21" descr="&lt;math xmlns=&quot;http://www.w3.org/1998/Math/MathML&quot; display=&quot;block&quot; data-is-equatio=&quot;1&quot; data-latex=&quot;\frac{1}{4}&quot;&gt;&lt;mfrac&gt;&lt;mn&gt;1&lt;/mn&gt;&lt;mn&gt;4&lt;/mn&gt;&lt;/mfrac&gt;&lt;/math&gt;" title="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9870" y="2055373"/>
            <a:ext cx="114111" cy="3635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21"/>
          <p:cNvCxnSpPr/>
          <p:nvPr/>
        </p:nvCxnSpPr>
        <p:spPr>
          <a:xfrm>
            <a:off x="5584101" y="3029021"/>
            <a:ext cx="7548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47" name="Google Shape;247;p21"/>
          <p:cNvCxnSpPr/>
          <p:nvPr/>
        </p:nvCxnSpPr>
        <p:spPr>
          <a:xfrm rot="10800000" flipH="1">
            <a:off x="6336222" y="2730625"/>
            <a:ext cx="0" cy="2949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248" name="Google Shape;248;p21"/>
          <p:cNvSpPr txBox="1"/>
          <p:nvPr/>
        </p:nvSpPr>
        <p:spPr>
          <a:xfrm>
            <a:off x="5783311" y="2938791"/>
            <a:ext cx="50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6276354" y="2746317"/>
            <a:ext cx="50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+0.6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5725444" y="3678015"/>
            <a:ext cx="116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0.6 ÷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68000" y="4458475"/>
            <a:ext cx="662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Match each table, equation and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2" name="Google Shape;252;p21"/>
          <p:cNvGraphicFramePr>
            <a:graphicFrameLocks noGrp="1"/>
          </p:cNvGraphicFramePr>
          <p:nvPr/>
        </p:nvGraphicFramePr>
        <p:xfrm>
          <a:off x="748346" y="497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{D6E45988-EC54-4E59-B495-1E5CBC512A16}</a:tableStyleId>
              </a:tblPr>
              <a:tblGrid>
                <a:gridCol w="362000"/>
                <a:gridCol w="362000"/>
                <a:gridCol w="362000"/>
                <a:gridCol w="362000"/>
                <a:gridCol w="362000"/>
                <a:gridCol w="362000"/>
              </a:tblGrid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53" name="Google Shape;253;p21"/>
          <p:cNvGraphicFramePr>
            <a:graphicFrameLocks noGrp="1"/>
          </p:cNvGraphicFramePr>
          <p:nvPr/>
        </p:nvGraphicFramePr>
        <p:xfrm>
          <a:off x="748346" y="5916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{D6E45988-EC54-4E59-B495-1E5CBC512A16}</a:tableStyleId>
              </a:tblPr>
              <a:tblGrid>
                <a:gridCol w="362000"/>
                <a:gridCol w="362000"/>
                <a:gridCol w="362000"/>
                <a:gridCol w="362000"/>
                <a:gridCol w="362000"/>
                <a:gridCol w="362000"/>
              </a:tblGrid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54" name="Google Shape;254;p21"/>
          <p:cNvGraphicFramePr>
            <a:graphicFrameLocks noGrp="1"/>
          </p:cNvGraphicFramePr>
          <p:nvPr/>
        </p:nvGraphicFramePr>
        <p:xfrm>
          <a:off x="748346" y="6856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{D6E45988-EC54-4E59-B495-1E5CBC512A16}</a:tableStyleId>
              </a:tblPr>
              <a:tblGrid>
                <a:gridCol w="362000"/>
                <a:gridCol w="362000"/>
                <a:gridCol w="362000"/>
                <a:gridCol w="362000"/>
                <a:gridCol w="362000"/>
                <a:gridCol w="362000"/>
              </a:tblGrid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55" name="Google Shape;255;p21"/>
          <p:cNvGraphicFramePr>
            <a:graphicFrameLocks noGrp="1"/>
          </p:cNvGraphicFramePr>
          <p:nvPr/>
        </p:nvGraphicFramePr>
        <p:xfrm>
          <a:off x="748346" y="7796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{D6E45988-EC54-4E59-B495-1E5CBC512A16}</a:tableStyleId>
              </a:tblPr>
              <a:tblGrid>
                <a:gridCol w="362000"/>
                <a:gridCol w="362000"/>
                <a:gridCol w="362000"/>
                <a:gridCol w="362000"/>
                <a:gridCol w="362000"/>
                <a:gridCol w="362000"/>
              </a:tblGrid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6" name="Google Shape;256;p21"/>
          <p:cNvSpPr txBox="1"/>
          <p:nvPr/>
        </p:nvSpPr>
        <p:spPr>
          <a:xfrm>
            <a:off x="6377088" y="4949970"/>
            <a:ext cx="539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6377088" y="6954206"/>
            <a:ext cx="539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6377088" y="5618048"/>
            <a:ext cx="71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0.5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6377088" y="6286127"/>
            <a:ext cx="71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1.5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60" name="Google Shape;260;p21" descr="&lt;math xmlns=&quot;http://www.w3.org/1998/Math/MathML&quot; display=&quot;block&quot; data-is-equatio=&quot;1&quot; data-latex=&quot;\begin{array}{l}\frac{2}{3}\end{array}&quot;&gt;&lt;mtable columnalign=&quot;left&quot; columnspacing=&quot;1em&quot; rowspacing=&quot;4pt&quot;&gt;&lt;mtr&gt;&lt;mtd&gt;&lt;mfrac&gt;&lt;mn&gt;2&lt;/mn&gt;&lt;mn&gt;3&lt;/mn&gt;&lt;/mfrac&gt;&lt;/mtd&gt;&lt;/mtr&gt;&lt;/mtable&gt;&lt;/math&gt;" title="1 lines Line 1: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8660" y="6905753"/>
            <a:ext cx="119640" cy="334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1007" y="6322346"/>
            <a:ext cx="935044" cy="116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87891" y="4884425"/>
            <a:ext cx="1463861" cy="973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97390" y="4884436"/>
            <a:ext cx="895887" cy="129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87891" y="6467969"/>
            <a:ext cx="1463861" cy="101443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452246" y="4912238"/>
            <a:ext cx="29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52246" y="5847892"/>
            <a:ext cx="29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52246" y="6788899"/>
            <a:ext cx="29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52246" y="7731638"/>
            <a:ext cx="29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3107650" y="4904189"/>
            <a:ext cx="14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3107650" y="6420909"/>
            <a:ext cx="14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4841038" y="4904189"/>
            <a:ext cx="14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841038" y="6420909"/>
            <a:ext cx="14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6086910" y="4978503"/>
            <a:ext cx="21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6086910" y="5643635"/>
            <a:ext cx="21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6037736" y="6312572"/>
            <a:ext cx="25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6037647" y="6982748"/>
            <a:ext cx="25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iv)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467400" y="8689100"/>
            <a:ext cx="6624000" cy="10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Kalam"/>
              <a:buAutoNum type="alphaLcParenR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	iii)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Kalam"/>
              <a:buAutoNum type="alphaLcParenR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	i)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Kalam"/>
              <a:buAutoNum type="alphaLcParenR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	iv)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Kalam"/>
              <a:buAutoNum type="alphaLcParenR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	ii)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Graphing direct proportion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2024-03-05T14:13:49.641</cp:lastPrinted>
  <dcterms:created xsi:type="dcterms:W3CDTF">2024-03-05T14:13:49Z</dcterms:created>
  <dcterms:modified xsi:type="dcterms:W3CDTF">2024-03-05T14:14:15Z</dcterms:modified>
</cp:coreProperties>
</file>