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76FB72-93CE-4E66-9494-FAFA15B1102A}">
  <a:tblStyle styleId="{5676FB72-93CE-4E66-9494-FAFA15B1102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b25613589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b25613589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b25613589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b25613589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b25613589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b25613589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b59557b27d_1_3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b59557b27d_1_3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b57e90ca93_0_2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b57e90ca93_0_2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2b59557b27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2b59557b27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b59557b27d_1_3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2b59557b27d_1_3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2b59557b27d_1_3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2b59557b27d_1_3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2b59557b27d_1_3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2b59557b27d_1_3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2b59557b27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2b59557b27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b59557b27d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2b59557b27d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2b59557b27d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2b59557b27d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2b59557b27d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2b59557b27d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b57e90ca93_0_2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b57e90ca93_0_2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2b59557b27d_1_1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2b59557b27d_1_1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2b59557b27d_1_1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2b59557b27d_1_1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b59557b27d_1_2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2b59557b27d_1_2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2b59557b27d_1_2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2b59557b27d_1_2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2b59557b27d_1_2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2b59557b27d_1_2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2b59557b27d_1_2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2b59557b27d_1_2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2b59557b27d_1_3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2b59557b27d_1_3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2b59557b27d_1_3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2b59557b27d_1_3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2b59557b27d_1_3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2b59557b27d_1_3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2b59557b27d_1_3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2b59557b27d_1_3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2b59557b27d_1_3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2b59557b27d_1_3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2b59557b27d_1_3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2b59557b27d_1_3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2b59557b27d_1_3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2b59557b27d_1_3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2b59557b27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2b59557b27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b59557b27d_1_2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2b59557b27d_1_2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2b59557b27d_1_2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2b59557b27d_1_2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g2b59557b27d_1_2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8" name="Google Shape;1368;g2b59557b27d_1_2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2b59557b27d_1_2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7" name="Google Shape;1427;g2b59557b27d_1_2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2b59557b27d_1_2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5" name="Google Shape;1535;g2b59557b27d_1_2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2b59557b27d_1_2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4" name="Google Shape;1644;g2b59557b27d_1_2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g2b59557b27d_1_3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1" name="Google Shape;1701;g2b59557b27d_1_3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g2b59557b27d_1_3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3" name="Google Shape;1713;g2b59557b27d_1_3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2b59557b27d_1_3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6" name="Google Shape;1726;g2b59557b27d_1_3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g2b59557b27d_1_3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7" name="Google Shape;1747;g2b59557b27d_1_3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g2b59557b27d_1_3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3" name="Google Shape;1763;g2b59557b27d_1_3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g2b59557b27d_1_3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9" name="Google Shape;1769;g2b59557b27d_1_3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g2b59557b27d_1_3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0" name="Google Shape;1790;g2b59557b27d_1_3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g2b57e90ca93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1" name="Google Shape;1801;g2b57e90ca93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2b68cc26e7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2b68cc26e7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16.png"/><Relationship Id="rId7"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1.png"/><Relationship Id="rId4" Type="http://schemas.openxmlformats.org/officeDocument/2006/relationships/image" Target="../media/image63.png"/><Relationship Id="rId5" Type="http://schemas.openxmlformats.org/officeDocument/2006/relationships/image" Target="../media/image26.png"/><Relationship Id="rId6" Type="http://schemas.openxmlformats.org/officeDocument/2006/relationships/image" Target="../media/image29.png"/><Relationship Id="rId7" Type="http://schemas.openxmlformats.org/officeDocument/2006/relationships/image" Target="../media/image2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63.png"/><Relationship Id="rId4" Type="http://schemas.openxmlformats.org/officeDocument/2006/relationships/image" Target="../media/image17.png"/><Relationship Id="rId9"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8.png"/><Relationship Id="rId7" Type="http://schemas.openxmlformats.org/officeDocument/2006/relationships/image" Target="../media/image26.png"/><Relationship Id="rId8" Type="http://schemas.openxmlformats.org/officeDocument/2006/relationships/image" Target="../media/image2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63.png"/><Relationship Id="rId4" Type="http://schemas.openxmlformats.org/officeDocument/2006/relationships/image" Target="../media/image31.png"/><Relationship Id="rId11" Type="http://schemas.openxmlformats.org/officeDocument/2006/relationships/image" Target="../media/image24.png"/><Relationship Id="rId10" Type="http://schemas.openxmlformats.org/officeDocument/2006/relationships/image" Target="../media/image36.png"/><Relationship Id="rId9"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28.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9.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2"/>
          <p:cNvSpPr/>
          <p:nvPr/>
        </p:nvSpPr>
        <p:spPr>
          <a:xfrm>
            <a:off x="0" y="532525"/>
            <a:ext cx="9151202" cy="116709"/>
          </a:xfrm>
          <a:prstGeom prst="rect">
            <a:avLst/>
          </a:prstGeom>
          <a:noFill/>
          <a:ln>
            <a:noFill/>
          </a:ln>
        </p:spPr>
      </p:sp>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4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0.png"/><Relationship Id="rId4" Type="http://schemas.openxmlformats.org/officeDocument/2006/relationships/image" Target="../media/image53.png"/><Relationship Id="rId5" Type="http://schemas.openxmlformats.org/officeDocument/2006/relationships/image" Target="../media/image5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0.png"/><Relationship Id="rId4" Type="http://schemas.openxmlformats.org/officeDocument/2006/relationships/image" Target="../media/image53.png"/><Relationship Id="rId5" Type="http://schemas.openxmlformats.org/officeDocument/2006/relationships/image" Target="../media/image5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 Id="rId3" Type="http://schemas.openxmlformats.org/officeDocument/2006/relationships/image" Target="../media/image5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5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53.png"/><Relationship Id="rId4" Type="http://schemas.openxmlformats.org/officeDocument/2006/relationships/image" Target="../media/image60.png"/><Relationship Id="rId5" Type="http://schemas.openxmlformats.org/officeDocument/2006/relationships/image" Target="../media/image5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53.png"/><Relationship Id="rId4" Type="http://schemas.openxmlformats.org/officeDocument/2006/relationships/image" Target="../media/image60.png"/><Relationship Id="rId5" Type="http://schemas.openxmlformats.org/officeDocument/2006/relationships/image" Target="../media/image5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53.png"/><Relationship Id="rId4" Type="http://schemas.openxmlformats.org/officeDocument/2006/relationships/image" Target="../media/image60.png"/><Relationship Id="rId5" Type="http://schemas.openxmlformats.org/officeDocument/2006/relationships/image" Target="../media/image5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6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3.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Increase by a percentage</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multiplicative relationships: percentages and proportionality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 can calculate percentage changes (increase). </a:t>
            </a:r>
            <a:endParaRPr/>
          </a:p>
          <a:p>
            <a:pPr indent="0" lvl="0" marL="0" rtl="0" algn="l">
              <a:spcBef>
                <a:spcPts val="1000"/>
              </a:spcBef>
              <a:spcAft>
                <a:spcPts val="10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ph idx="2" type="subTitle"/>
          </p:nvPr>
        </p:nvSpPr>
        <p:spPr>
          <a:xfrm>
            <a:off x="489525" y="810000"/>
            <a:ext cx="78663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Proportion is a part to whole (sometimes part to part) comparison. If two things are proportional then the ratio of part to whole is maintained and the multiplicative relationship between parts is also maintained.</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776" name="Google Shape;776;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777" name="Google Shape;777;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Increase by a percentage</a:t>
            </a:r>
            <a:endParaRPr/>
          </a:p>
        </p:txBody>
      </p:sp>
      <p:pic>
        <p:nvPicPr>
          <p:cNvPr id="778" name="Google Shape;778;p67"/>
          <p:cNvPicPr preferRelativeResize="0"/>
          <p:nvPr/>
        </p:nvPicPr>
        <p:blipFill>
          <a:blip r:embed="rId3">
            <a:alphaModFix/>
          </a:blip>
          <a:stretch>
            <a:fillRect/>
          </a:stretch>
        </p:blipFill>
        <p:spPr>
          <a:xfrm>
            <a:off x="419400"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784" name="Google Shape;784;p68"/>
          <p:cNvSpPr txBox="1"/>
          <p:nvPr/>
        </p:nvSpPr>
        <p:spPr>
          <a:xfrm>
            <a:off x="324000" y="759300"/>
            <a:ext cx="8237700" cy="40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In this lesson, we will be looking at increasing an amount by a percentage. However, before starting it is important to know if it is possible to increase something beyond 100%.</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pic>
        <p:nvPicPr>
          <p:cNvPr id="785" name="Google Shape;785;p68"/>
          <p:cNvPicPr preferRelativeResize="0"/>
          <p:nvPr/>
        </p:nvPicPr>
        <p:blipFill>
          <a:blip r:embed="rId3">
            <a:alphaModFix/>
          </a:blip>
          <a:stretch>
            <a:fillRect/>
          </a:stretch>
        </p:blipFill>
        <p:spPr>
          <a:xfrm flipH="1">
            <a:off x="475438" y="2933062"/>
            <a:ext cx="1114250" cy="1078300"/>
          </a:xfrm>
          <a:prstGeom prst="rect">
            <a:avLst/>
          </a:prstGeom>
          <a:noFill/>
          <a:ln>
            <a:noFill/>
          </a:ln>
        </p:spPr>
      </p:pic>
      <p:sp>
        <p:nvSpPr>
          <p:cNvPr id="786" name="Google Shape;786;p68"/>
          <p:cNvSpPr txBox="1"/>
          <p:nvPr/>
        </p:nvSpPr>
        <p:spPr>
          <a:xfrm>
            <a:off x="589925" y="407767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pic>
        <p:nvPicPr>
          <p:cNvPr id="787" name="Google Shape;787;p68"/>
          <p:cNvPicPr preferRelativeResize="0"/>
          <p:nvPr/>
        </p:nvPicPr>
        <p:blipFill rotWithShape="1">
          <a:blip r:embed="rId4">
            <a:alphaModFix/>
          </a:blip>
          <a:srcRect b="43690" l="0" r="57905" t="0"/>
          <a:stretch/>
        </p:blipFill>
        <p:spPr>
          <a:xfrm flipH="1">
            <a:off x="1589700" y="2160000"/>
            <a:ext cx="2887199" cy="1695301"/>
          </a:xfrm>
          <a:prstGeom prst="rect">
            <a:avLst/>
          </a:prstGeom>
          <a:noFill/>
          <a:ln>
            <a:noFill/>
          </a:ln>
        </p:spPr>
      </p:pic>
      <p:sp>
        <p:nvSpPr>
          <p:cNvPr id="788" name="Google Shape;788;p68"/>
          <p:cNvSpPr txBox="1"/>
          <p:nvPr/>
        </p:nvSpPr>
        <p:spPr>
          <a:xfrm>
            <a:off x="1829925" y="2244400"/>
            <a:ext cx="2490000" cy="12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You need to try harder Laura! Give it 110%!</a:t>
            </a:r>
            <a:endParaRPr sz="2200">
              <a:solidFill>
                <a:schemeClr val="dk1"/>
              </a:solidFill>
              <a:latin typeface="Lexend"/>
              <a:ea typeface="Lexend"/>
              <a:cs typeface="Lexend"/>
              <a:sym typeface="Lexend"/>
            </a:endParaRPr>
          </a:p>
        </p:txBody>
      </p:sp>
      <p:pic>
        <p:nvPicPr>
          <p:cNvPr id="789" name="Google Shape;789;p68"/>
          <p:cNvPicPr preferRelativeResize="0"/>
          <p:nvPr/>
        </p:nvPicPr>
        <p:blipFill rotWithShape="1">
          <a:blip r:embed="rId4">
            <a:alphaModFix/>
          </a:blip>
          <a:srcRect b="4760" l="40550" r="0" t="13015"/>
          <a:stretch/>
        </p:blipFill>
        <p:spPr>
          <a:xfrm flipH="1">
            <a:off x="4686524" y="2160000"/>
            <a:ext cx="2574781" cy="1695301"/>
          </a:xfrm>
          <a:prstGeom prst="rect">
            <a:avLst/>
          </a:prstGeom>
          <a:noFill/>
          <a:ln>
            <a:noFill/>
          </a:ln>
        </p:spPr>
      </p:pic>
      <p:pic>
        <p:nvPicPr>
          <p:cNvPr id="790" name="Google Shape;790;p68"/>
          <p:cNvPicPr preferRelativeResize="0"/>
          <p:nvPr/>
        </p:nvPicPr>
        <p:blipFill>
          <a:blip r:embed="rId5">
            <a:alphaModFix/>
          </a:blip>
          <a:stretch>
            <a:fillRect/>
          </a:stretch>
        </p:blipFill>
        <p:spPr>
          <a:xfrm flipH="1">
            <a:off x="7263524" y="2700000"/>
            <a:ext cx="885301" cy="1159495"/>
          </a:xfrm>
          <a:prstGeom prst="rect">
            <a:avLst/>
          </a:prstGeom>
          <a:noFill/>
          <a:ln>
            <a:noFill/>
          </a:ln>
        </p:spPr>
      </p:pic>
      <p:sp>
        <p:nvSpPr>
          <p:cNvPr id="791" name="Google Shape;791;p68"/>
          <p:cNvSpPr txBox="1"/>
          <p:nvPr/>
        </p:nvSpPr>
        <p:spPr>
          <a:xfrm>
            <a:off x="7263525" y="38595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sz="1800">
              <a:latin typeface="Lexend"/>
              <a:ea typeface="Lexend"/>
              <a:cs typeface="Lexend"/>
              <a:sym typeface="Lexend"/>
            </a:endParaRPr>
          </a:p>
        </p:txBody>
      </p:sp>
      <p:sp>
        <p:nvSpPr>
          <p:cNvPr id="792" name="Google Shape;792;p68"/>
          <p:cNvSpPr txBox="1"/>
          <p:nvPr/>
        </p:nvSpPr>
        <p:spPr>
          <a:xfrm>
            <a:off x="4737113" y="2244400"/>
            <a:ext cx="2266200" cy="132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That doesn’t make sense Izzy!</a:t>
            </a:r>
            <a:endParaRPr sz="2200">
              <a:solidFill>
                <a:schemeClr val="dk1"/>
              </a:solidFill>
              <a:latin typeface="Lexend"/>
              <a:ea typeface="Lexend"/>
              <a:cs typeface="Lexend"/>
              <a:sym typeface="Lexend"/>
            </a:endParaRPr>
          </a:p>
        </p:txBody>
      </p:sp>
      <p:sp>
        <p:nvSpPr>
          <p:cNvPr id="793" name="Google Shape;793;p68"/>
          <p:cNvSpPr txBox="1"/>
          <p:nvPr/>
        </p:nvSpPr>
        <p:spPr>
          <a:xfrm>
            <a:off x="2506275" y="3778125"/>
            <a:ext cx="3858600" cy="91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Why is Izzy’s comment incorrect?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799" name="Google Shape;799;p69"/>
          <p:cNvSpPr txBox="1"/>
          <p:nvPr/>
        </p:nvSpPr>
        <p:spPr>
          <a:xfrm>
            <a:off x="324000" y="759300"/>
            <a:ext cx="8237700" cy="40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100">
                <a:latin typeface="Lexend"/>
                <a:ea typeface="Lexend"/>
                <a:cs typeface="Lexend"/>
                <a:sym typeface="Lexend"/>
              </a:rPr>
              <a:t>It is incorrect because the most effort you can give is 100% (i.e. all of your effort) although it’s a common phrase used in sports coaching. What 100% effort looks like can, of course, vary each day.</a:t>
            </a:r>
            <a:endParaRPr sz="2100">
              <a:latin typeface="Lexend"/>
              <a:ea typeface="Lexend"/>
              <a:cs typeface="Lexend"/>
              <a:sym typeface="Lexend"/>
            </a:endParaRPr>
          </a:p>
          <a:p>
            <a:pPr indent="0" lvl="0" marL="0" rtl="0" algn="l">
              <a:lnSpc>
                <a:spcPct val="115000"/>
              </a:lnSpc>
              <a:spcBef>
                <a:spcPts val="1000"/>
              </a:spcBef>
              <a:spcAft>
                <a:spcPts val="0"/>
              </a:spcAft>
              <a:buNone/>
            </a:pPr>
            <a:r>
              <a:t/>
            </a:r>
            <a:endParaRPr sz="2200">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pic>
        <p:nvPicPr>
          <p:cNvPr id="800" name="Google Shape;800;p69"/>
          <p:cNvPicPr preferRelativeResize="0"/>
          <p:nvPr/>
        </p:nvPicPr>
        <p:blipFill>
          <a:blip r:embed="rId3">
            <a:alphaModFix/>
          </a:blip>
          <a:stretch>
            <a:fillRect/>
          </a:stretch>
        </p:blipFill>
        <p:spPr>
          <a:xfrm flipH="1">
            <a:off x="475438" y="2933062"/>
            <a:ext cx="1114250" cy="1078300"/>
          </a:xfrm>
          <a:prstGeom prst="rect">
            <a:avLst/>
          </a:prstGeom>
          <a:noFill/>
          <a:ln>
            <a:noFill/>
          </a:ln>
        </p:spPr>
      </p:pic>
      <p:sp>
        <p:nvSpPr>
          <p:cNvPr id="801" name="Google Shape;801;p69"/>
          <p:cNvSpPr txBox="1"/>
          <p:nvPr/>
        </p:nvSpPr>
        <p:spPr>
          <a:xfrm>
            <a:off x="589925" y="407767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pic>
        <p:nvPicPr>
          <p:cNvPr id="802" name="Google Shape;802;p69"/>
          <p:cNvPicPr preferRelativeResize="0"/>
          <p:nvPr/>
        </p:nvPicPr>
        <p:blipFill rotWithShape="1">
          <a:blip r:embed="rId4">
            <a:alphaModFix/>
          </a:blip>
          <a:srcRect b="43690" l="0" r="57905" t="0"/>
          <a:stretch/>
        </p:blipFill>
        <p:spPr>
          <a:xfrm flipH="1">
            <a:off x="1589700" y="2160000"/>
            <a:ext cx="2887199" cy="1695301"/>
          </a:xfrm>
          <a:prstGeom prst="rect">
            <a:avLst/>
          </a:prstGeom>
          <a:noFill/>
          <a:ln>
            <a:noFill/>
          </a:ln>
        </p:spPr>
      </p:pic>
      <p:pic>
        <p:nvPicPr>
          <p:cNvPr id="803" name="Google Shape;803;p69"/>
          <p:cNvPicPr preferRelativeResize="0"/>
          <p:nvPr/>
        </p:nvPicPr>
        <p:blipFill rotWithShape="1">
          <a:blip r:embed="rId4">
            <a:alphaModFix/>
          </a:blip>
          <a:srcRect b="4760" l="40550" r="0" t="13015"/>
          <a:stretch/>
        </p:blipFill>
        <p:spPr>
          <a:xfrm flipH="1">
            <a:off x="4686524" y="2160000"/>
            <a:ext cx="2574781" cy="1695301"/>
          </a:xfrm>
          <a:prstGeom prst="rect">
            <a:avLst/>
          </a:prstGeom>
          <a:noFill/>
          <a:ln>
            <a:noFill/>
          </a:ln>
        </p:spPr>
      </p:pic>
      <p:pic>
        <p:nvPicPr>
          <p:cNvPr id="804" name="Google Shape;804;p69"/>
          <p:cNvPicPr preferRelativeResize="0"/>
          <p:nvPr/>
        </p:nvPicPr>
        <p:blipFill>
          <a:blip r:embed="rId5">
            <a:alphaModFix/>
          </a:blip>
          <a:stretch>
            <a:fillRect/>
          </a:stretch>
        </p:blipFill>
        <p:spPr>
          <a:xfrm flipH="1">
            <a:off x="7263524" y="2700000"/>
            <a:ext cx="885301" cy="1159495"/>
          </a:xfrm>
          <a:prstGeom prst="rect">
            <a:avLst/>
          </a:prstGeom>
          <a:noFill/>
          <a:ln>
            <a:noFill/>
          </a:ln>
        </p:spPr>
      </p:pic>
      <p:sp>
        <p:nvSpPr>
          <p:cNvPr id="805" name="Google Shape;805;p69"/>
          <p:cNvSpPr txBox="1"/>
          <p:nvPr/>
        </p:nvSpPr>
        <p:spPr>
          <a:xfrm>
            <a:off x="7263525" y="38595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sz="1800">
              <a:latin typeface="Lexend"/>
              <a:ea typeface="Lexend"/>
              <a:cs typeface="Lexend"/>
              <a:sym typeface="Lexend"/>
            </a:endParaRPr>
          </a:p>
        </p:txBody>
      </p:sp>
      <p:sp>
        <p:nvSpPr>
          <p:cNvPr id="806" name="Google Shape;806;p69"/>
          <p:cNvSpPr txBox="1"/>
          <p:nvPr/>
        </p:nvSpPr>
        <p:spPr>
          <a:xfrm>
            <a:off x="4737113" y="2244400"/>
            <a:ext cx="2266200" cy="132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That doesn’t make sense Izzy!</a:t>
            </a:r>
            <a:endParaRPr sz="2200">
              <a:solidFill>
                <a:schemeClr val="dk1"/>
              </a:solidFill>
              <a:latin typeface="Lexend"/>
              <a:ea typeface="Lexend"/>
              <a:cs typeface="Lexend"/>
              <a:sym typeface="Lexend"/>
            </a:endParaRPr>
          </a:p>
        </p:txBody>
      </p:sp>
      <p:sp>
        <p:nvSpPr>
          <p:cNvPr id="807" name="Google Shape;807;p69"/>
          <p:cNvSpPr txBox="1"/>
          <p:nvPr/>
        </p:nvSpPr>
        <p:spPr>
          <a:xfrm>
            <a:off x="2506275" y="3778125"/>
            <a:ext cx="38586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What do you think</a:t>
            </a:r>
            <a:r>
              <a:rPr lang="en-GB" sz="2200">
                <a:solidFill>
                  <a:schemeClr val="dk1"/>
                </a:solidFill>
                <a:latin typeface="Lexend"/>
                <a:ea typeface="Lexend"/>
                <a:cs typeface="Lexend"/>
                <a:sym typeface="Lexend"/>
              </a:rPr>
              <a:t>?</a:t>
            </a:r>
            <a:endParaRPr/>
          </a:p>
        </p:txBody>
      </p:sp>
      <p:sp>
        <p:nvSpPr>
          <p:cNvPr id="808" name="Google Shape;808;p69"/>
          <p:cNvSpPr txBox="1"/>
          <p:nvPr/>
        </p:nvSpPr>
        <p:spPr>
          <a:xfrm>
            <a:off x="1829925" y="2244400"/>
            <a:ext cx="2490000" cy="12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You need to try harder Laura! Give it 110%!</a:t>
            </a:r>
            <a:endParaRPr sz="2200">
              <a:solidFill>
                <a:schemeClr val="dk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70"/>
          <p:cNvSpPr txBox="1"/>
          <p:nvPr>
            <p:ph idx="1" type="body"/>
          </p:nvPr>
        </p:nvSpPr>
        <p:spPr>
          <a:xfrm>
            <a:off x="324000" y="759300"/>
            <a:ext cx="8237700" cy="61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Is 110% possible or not possible in each of these situations?</a:t>
            </a:r>
            <a:endParaRPr/>
          </a:p>
          <a:p>
            <a:pPr indent="0" lvl="0" marL="0" rtl="0" algn="l">
              <a:spcBef>
                <a:spcPts val="1000"/>
              </a:spcBef>
              <a:spcAft>
                <a:spcPts val="1000"/>
              </a:spcAft>
              <a:buNone/>
            </a:pPr>
            <a:r>
              <a:t/>
            </a:r>
            <a:endParaRPr/>
          </a:p>
        </p:txBody>
      </p:sp>
      <p:sp>
        <p:nvSpPr>
          <p:cNvPr id="814" name="Google Shape;814;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pic>
        <p:nvPicPr>
          <p:cNvPr id="815" name="Google Shape;815;p70"/>
          <p:cNvPicPr preferRelativeResize="0"/>
          <p:nvPr/>
        </p:nvPicPr>
        <p:blipFill rotWithShape="1">
          <a:blip r:embed="rId3">
            <a:alphaModFix/>
          </a:blip>
          <a:srcRect b="0" l="0" r="69082" t="56280"/>
          <a:stretch/>
        </p:blipFill>
        <p:spPr>
          <a:xfrm flipH="1">
            <a:off x="238650" y="1284900"/>
            <a:ext cx="2467825" cy="1415100"/>
          </a:xfrm>
          <a:prstGeom prst="rect">
            <a:avLst/>
          </a:prstGeom>
          <a:noFill/>
          <a:ln>
            <a:noFill/>
          </a:ln>
        </p:spPr>
      </p:pic>
      <p:pic>
        <p:nvPicPr>
          <p:cNvPr id="816" name="Google Shape;816;p70"/>
          <p:cNvPicPr preferRelativeResize="0"/>
          <p:nvPr/>
        </p:nvPicPr>
        <p:blipFill rotWithShape="1">
          <a:blip r:embed="rId3">
            <a:alphaModFix/>
          </a:blip>
          <a:srcRect b="0" l="0" r="69082" t="56280"/>
          <a:stretch/>
        </p:blipFill>
        <p:spPr>
          <a:xfrm flipH="1">
            <a:off x="201574" y="2990325"/>
            <a:ext cx="3197051" cy="1862450"/>
          </a:xfrm>
          <a:prstGeom prst="rect">
            <a:avLst/>
          </a:prstGeom>
          <a:noFill/>
          <a:ln>
            <a:noFill/>
          </a:ln>
        </p:spPr>
      </p:pic>
      <p:sp>
        <p:nvSpPr>
          <p:cNvPr id="817" name="Google Shape;817;p70"/>
          <p:cNvSpPr txBox="1"/>
          <p:nvPr/>
        </p:nvSpPr>
        <p:spPr>
          <a:xfrm>
            <a:off x="480988" y="1512625"/>
            <a:ext cx="2319900" cy="10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Scoring 110% on an exam.</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818" name="Google Shape;818;p70"/>
          <p:cNvSpPr txBox="1"/>
          <p:nvPr/>
        </p:nvSpPr>
        <p:spPr>
          <a:xfrm>
            <a:off x="514725" y="3441725"/>
            <a:ext cx="26976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lang="en-GB" sz="2000">
                <a:solidFill>
                  <a:schemeClr val="dk1"/>
                </a:solidFill>
                <a:latin typeface="Lexend"/>
                <a:ea typeface="Lexend"/>
                <a:cs typeface="Lexend"/>
                <a:sym typeface="Lexend"/>
              </a:rPr>
              <a:t>The cost of a house increasing by 110%.</a:t>
            </a:r>
            <a:endParaRPr sz="2000">
              <a:solidFill>
                <a:schemeClr val="dk1"/>
              </a:solidFill>
              <a:latin typeface="Lexend"/>
              <a:ea typeface="Lexend"/>
              <a:cs typeface="Lexend"/>
              <a:sym typeface="Lexend"/>
            </a:endParaRPr>
          </a:p>
        </p:txBody>
      </p:sp>
      <p:sp>
        <p:nvSpPr>
          <p:cNvPr id="819" name="Google Shape;819;p70"/>
          <p:cNvSpPr txBox="1"/>
          <p:nvPr/>
        </p:nvSpPr>
        <p:spPr>
          <a:xfrm>
            <a:off x="3659543" y="1514100"/>
            <a:ext cx="51945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Scoring 110% on an exam: not possible, as the maximum score is 100%.</a:t>
            </a:r>
            <a:endParaRPr sz="2200">
              <a:solidFill>
                <a:schemeClr val="dk1"/>
              </a:solidFill>
              <a:latin typeface="Kalam"/>
              <a:ea typeface="Kalam"/>
              <a:cs typeface="Kalam"/>
              <a:sym typeface="Kalam"/>
            </a:endParaRPr>
          </a:p>
        </p:txBody>
      </p:sp>
      <p:sp>
        <p:nvSpPr>
          <p:cNvPr id="820" name="Google Shape;820;p70"/>
          <p:cNvSpPr txBox="1"/>
          <p:nvPr/>
        </p:nvSpPr>
        <p:spPr>
          <a:xfrm>
            <a:off x="3825750" y="3276600"/>
            <a:ext cx="44514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 house costing 110% of its original cost’. Yes, this is possible.</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826" name="Google Shape;826;p71"/>
          <p:cNvSpPr txBox="1"/>
          <p:nvPr/>
        </p:nvSpPr>
        <p:spPr>
          <a:xfrm>
            <a:off x="324000" y="759300"/>
            <a:ext cx="8237700" cy="40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Here is a bar model showing £600.</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graphicFrame>
        <p:nvGraphicFramePr>
          <p:cNvPr id="827" name="Google Shape;827;p71"/>
          <p:cNvGraphicFramePr/>
          <p:nvPr/>
        </p:nvGraphicFramePr>
        <p:xfrm>
          <a:off x="889825" y="2876709"/>
          <a:ext cx="3000000" cy="3000000"/>
        </p:xfrm>
        <a:graphic>
          <a:graphicData uri="http://schemas.openxmlformats.org/drawingml/2006/table">
            <a:tbl>
              <a:tblPr>
                <a:noFill/>
                <a:tableStyleId>{5676FB72-93CE-4E66-9494-FAFA15B1102A}</a:tableStyleId>
              </a:tblPr>
              <a:tblGrid>
                <a:gridCol w="5217975"/>
              </a:tblGrid>
              <a:tr h="381000">
                <a:tc>
                  <a:txBody>
                    <a:bodyPr/>
                    <a:lstStyle/>
                    <a:p>
                      <a:pPr indent="0" lvl="0" marL="0" rtl="0" algn="ctr">
                        <a:spcBef>
                          <a:spcPts val="0"/>
                        </a:spcBef>
                        <a:spcAft>
                          <a:spcPts val="0"/>
                        </a:spcAft>
                        <a:buNone/>
                      </a:pPr>
                      <a:r>
                        <a:rPr lang="en-GB" sz="2200">
                          <a:latin typeface="Lexend"/>
                          <a:ea typeface="Lexend"/>
                          <a:cs typeface="Lexend"/>
                          <a:sym typeface="Lexend"/>
                        </a:rPr>
                        <a:t>£600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828" name="Google Shape;828;p71"/>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9" name="Google Shape;829;p71"/>
          <p:cNvSpPr txBox="1"/>
          <p:nvPr/>
        </p:nvSpPr>
        <p:spPr>
          <a:xfrm>
            <a:off x="324000" y="1168875"/>
            <a:ext cx="82377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If someone said they would give you an extra 10%, how much money would you have in total?</a:t>
            </a:r>
            <a:endParaRPr sz="2200">
              <a:solidFill>
                <a:srgbClr val="000000"/>
              </a:solidFill>
              <a:latin typeface="Lexend"/>
              <a:ea typeface="Lexend"/>
              <a:cs typeface="Lexend"/>
              <a:sym typeface="Lexend"/>
            </a:endParaRPr>
          </a:p>
        </p:txBody>
      </p:sp>
      <p:sp>
        <p:nvSpPr>
          <p:cNvPr id="830" name="Google Shape;830;p71"/>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aphicFrame>
        <p:nvGraphicFramePr>
          <p:cNvPr id="831" name="Google Shape;831;p71"/>
          <p:cNvGraphicFramePr/>
          <p:nvPr/>
        </p:nvGraphicFramePr>
        <p:xfrm>
          <a:off x="889800" y="2854784"/>
          <a:ext cx="3000000" cy="3000000"/>
        </p:xfrm>
        <a:graphic>
          <a:graphicData uri="http://schemas.openxmlformats.org/drawingml/2006/table">
            <a:tbl>
              <a:tblPr>
                <a:noFill/>
                <a:tableStyleId>{5676FB72-93CE-4E66-9494-FAFA15B1102A}</a:tableStyleId>
              </a:tblPr>
              <a:tblGrid>
                <a:gridCol w="521375"/>
                <a:gridCol w="521375"/>
                <a:gridCol w="521375"/>
                <a:gridCol w="521375"/>
                <a:gridCol w="521375"/>
                <a:gridCol w="521375"/>
                <a:gridCol w="521375"/>
                <a:gridCol w="521375"/>
                <a:gridCol w="521375"/>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832" name="Google Shape;832;p71"/>
          <p:cNvSpPr/>
          <p:nvPr/>
        </p:nvSpPr>
        <p:spPr>
          <a:xfrm rot="5400000">
            <a:off x="1046803"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3" name="Google Shape;833;p71"/>
          <p:cNvSpPr txBox="1"/>
          <p:nvPr/>
        </p:nvSpPr>
        <p:spPr>
          <a:xfrm>
            <a:off x="787951" y="2245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34" name="Google Shape;834;p71"/>
          <p:cNvSpPr/>
          <p:nvPr/>
        </p:nvSpPr>
        <p:spPr>
          <a:xfrm rot="5400000">
            <a:off x="1581415"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5" name="Google Shape;835;p71"/>
          <p:cNvSpPr txBox="1"/>
          <p:nvPr/>
        </p:nvSpPr>
        <p:spPr>
          <a:xfrm>
            <a:off x="1324203"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36" name="Google Shape;836;p71"/>
          <p:cNvSpPr/>
          <p:nvPr/>
        </p:nvSpPr>
        <p:spPr>
          <a:xfrm rot="5400000">
            <a:off x="2088087"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7" name="Google Shape;837;p71"/>
          <p:cNvSpPr txBox="1"/>
          <p:nvPr/>
        </p:nvSpPr>
        <p:spPr>
          <a:xfrm>
            <a:off x="1860456"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38" name="Google Shape;838;p71"/>
          <p:cNvSpPr/>
          <p:nvPr/>
        </p:nvSpPr>
        <p:spPr>
          <a:xfrm rot="5400000">
            <a:off x="2622699"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9" name="Google Shape;839;p71"/>
          <p:cNvSpPr txBox="1"/>
          <p:nvPr/>
        </p:nvSpPr>
        <p:spPr>
          <a:xfrm>
            <a:off x="2396709"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40" name="Google Shape;840;p71"/>
          <p:cNvSpPr/>
          <p:nvPr/>
        </p:nvSpPr>
        <p:spPr>
          <a:xfrm rot="5400000">
            <a:off x="3129371"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1" name="Google Shape;841;p71"/>
          <p:cNvSpPr txBox="1"/>
          <p:nvPr/>
        </p:nvSpPr>
        <p:spPr>
          <a:xfrm>
            <a:off x="2932962"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42" name="Google Shape;842;p71"/>
          <p:cNvSpPr/>
          <p:nvPr/>
        </p:nvSpPr>
        <p:spPr>
          <a:xfrm rot="5400000">
            <a:off x="3663982"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3" name="Google Shape;843;p71"/>
          <p:cNvSpPr txBox="1"/>
          <p:nvPr/>
        </p:nvSpPr>
        <p:spPr>
          <a:xfrm>
            <a:off x="3423330"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44" name="Google Shape;844;p71"/>
          <p:cNvSpPr/>
          <p:nvPr/>
        </p:nvSpPr>
        <p:spPr>
          <a:xfrm rot="5400000">
            <a:off x="4170655"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5" name="Google Shape;845;p71"/>
          <p:cNvSpPr txBox="1"/>
          <p:nvPr/>
        </p:nvSpPr>
        <p:spPr>
          <a:xfrm>
            <a:off x="3929267"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46" name="Google Shape;846;p71"/>
          <p:cNvSpPr/>
          <p:nvPr/>
        </p:nvSpPr>
        <p:spPr>
          <a:xfrm rot="5400000">
            <a:off x="4705266"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7" name="Google Shape;847;p71"/>
          <p:cNvSpPr txBox="1"/>
          <p:nvPr/>
        </p:nvSpPr>
        <p:spPr>
          <a:xfrm>
            <a:off x="4465520"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48" name="Google Shape;848;p71"/>
          <p:cNvSpPr/>
          <p:nvPr/>
        </p:nvSpPr>
        <p:spPr>
          <a:xfrm rot="5400000">
            <a:off x="5211938"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9" name="Google Shape;849;p71"/>
          <p:cNvSpPr txBox="1"/>
          <p:nvPr/>
        </p:nvSpPr>
        <p:spPr>
          <a:xfrm>
            <a:off x="5001773"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50" name="Google Shape;850;p71"/>
          <p:cNvSpPr/>
          <p:nvPr/>
        </p:nvSpPr>
        <p:spPr>
          <a:xfrm rot="5400000">
            <a:off x="5746550"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1" name="Google Shape;851;p71"/>
          <p:cNvSpPr txBox="1"/>
          <p:nvPr/>
        </p:nvSpPr>
        <p:spPr>
          <a:xfrm>
            <a:off x="5538026"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52" name="Google Shape;852;p71"/>
          <p:cNvSpPr txBox="1"/>
          <p:nvPr/>
        </p:nvSpPr>
        <p:spPr>
          <a:xfrm>
            <a:off x="6362900" y="1823925"/>
            <a:ext cx="2059800" cy="11328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Divide the 100% into 10 equal parts</a:t>
            </a:r>
            <a:endParaRPr sz="2200">
              <a:solidFill>
                <a:schemeClr val="dk1"/>
              </a:solidFill>
              <a:latin typeface="Lexend"/>
              <a:ea typeface="Lexend"/>
              <a:cs typeface="Lexend"/>
              <a:sym typeface="Lexend"/>
            </a:endParaRPr>
          </a:p>
        </p:txBody>
      </p:sp>
      <p:sp>
        <p:nvSpPr>
          <p:cNvPr id="853" name="Google Shape;853;p71"/>
          <p:cNvSpPr txBox="1"/>
          <p:nvPr/>
        </p:nvSpPr>
        <p:spPr>
          <a:xfrm>
            <a:off x="6362900" y="2956725"/>
            <a:ext cx="2059800" cy="7995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Each part is 10%</a:t>
            </a:r>
            <a:endParaRPr sz="2200">
              <a:solidFill>
                <a:schemeClr val="dk1"/>
              </a:solidFill>
              <a:latin typeface="Lexend"/>
              <a:ea typeface="Lexend"/>
              <a:cs typeface="Lexend"/>
              <a:sym typeface="Lexend"/>
            </a:endParaRPr>
          </a:p>
        </p:txBody>
      </p:sp>
      <p:sp>
        <p:nvSpPr>
          <p:cNvPr id="854" name="Google Shape;854;p71"/>
          <p:cNvSpPr txBox="1"/>
          <p:nvPr/>
        </p:nvSpPr>
        <p:spPr>
          <a:xfrm>
            <a:off x="6362900" y="3756225"/>
            <a:ext cx="2059800" cy="7995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Each part is £60</a:t>
            </a:r>
            <a:endParaRPr sz="2200">
              <a:solidFill>
                <a:schemeClr val="dk1"/>
              </a:solidFill>
              <a:latin typeface="Lexend"/>
              <a:ea typeface="Lexend"/>
              <a:cs typeface="Lexend"/>
              <a:sym typeface="Lexend"/>
            </a:endParaRPr>
          </a:p>
        </p:txBody>
      </p:sp>
      <p:graphicFrame>
        <p:nvGraphicFramePr>
          <p:cNvPr id="855" name="Google Shape;855;p71"/>
          <p:cNvGraphicFramePr/>
          <p:nvPr/>
        </p:nvGraphicFramePr>
        <p:xfrm>
          <a:off x="891938" y="2854149"/>
          <a:ext cx="3000000" cy="3000000"/>
        </p:xfrm>
        <a:graphic>
          <a:graphicData uri="http://schemas.openxmlformats.org/drawingml/2006/table">
            <a:tbl>
              <a:tblPr>
                <a:noFill/>
                <a:tableStyleId>{5676FB72-93CE-4E66-9494-FAFA15B1102A}</a:tableStyleId>
              </a:tblPr>
              <a:tblGrid>
                <a:gridCol w="521375"/>
                <a:gridCol w="521375"/>
                <a:gridCol w="521375"/>
                <a:gridCol w="521375"/>
                <a:gridCol w="521375"/>
                <a:gridCol w="521375"/>
                <a:gridCol w="521375"/>
                <a:gridCol w="521375"/>
                <a:gridCol w="521375"/>
                <a:gridCol w="521375"/>
              </a:tblGrid>
              <a:tr h="381000">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5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5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2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861" name="Google Shape;861;p72"/>
          <p:cNvSpPr txBox="1"/>
          <p:nvPr/>
        </p:nvSpPr>
        <p:spPr>
          <a:xfrm>
            <a:off x="324000" y="759300"/>
            <a:ext cx="8237700" cy="40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Here is a bar model showing £600.</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sp>
        <p:nvSpPr>
          <p:cNvPr id="862" name="Google Shape;862;p72"/>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3" name="Google Shape;863;p72"/>
          <p:cNvSpPr txBox="1"/>
          <p:nvPr/>
        </p:nvSpPr>
        <p:spPr>
          <a:xfrm>
            <a:off x="324000" y="1168875"/>
            <a:ext cx="82377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If someone said they would give you an extra 10%, how much money would you have in total?</a:t>
            </a:r>
            <a:endParaRPr sz="2200">
              <a:solidFill>
                <a:srgbClr val="000000"/>
              </a:solidFill>
              <a:latin typeface="Lexend"/>
              <a:ea typeface="Lexend"/>
              <a:cs typeface="Lexend"/>
              <a:sym typeface="Lexend"/>
            </a:endParaRPr>
          </a:p>
        </p:txBody>
      </p:sp>
      <p:sp>
        <p:nvSpPr>
          <p:cNvPr id="864" name="Google Shape;864;p72"/>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sp>
        <p:nvSpPr>
          <p:cNvPr id="865" name="Google Shape;865;p72"/>
          <p:cNvSpPr/>
          <p:nvPr/>
        </p:nvSpPr>
        <p:spPr>
          <a:xfrm rot="5400000">
            <a:off x="6203750" y="24264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6" name="Google Shape;866;p72"/>
          <p:cNvSpPr txBox="1"/>
          <p:nvPr/>
        </p:nvSpPr>
        <p:spPr>
          <a:xfrm>
            <a:off x="5995226" y="22396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67" name="Google Shape;867;p72"/>
          <p:cNvSpPr txBox="1"/>
          <p:nvPr/>
        </p:nvSpPr>
        <p:spPr>
          <a:xfrm>
            <a:off x="5995225" y="3907725"/>
            <a:ext cx="2059800" cy="5214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Adding 10%</a:t>
            </a:r>
            <a:endParaRPr sz="2200">
              <a:solidFill>
                <a:schemeClr val="dk1"/>
              </a:solidFill>
              <a:latin typeface="Lexend"/>
              <a:ea typeface="Lexend"/>
              <a:cs typeface="Lexend"/>
              <a:sym typeface="Lexend"/>
            </a:endParaRPr>
          </a:p>
        </p:txBody>
      </p:sp>
      <p:graphicFrame>
        <p:nvGraphicFramePr>
          <p:cNvPr id="868" name="Google Shape;868;p72"/>
          <p:cNvGraphicFramePr/>
          <p:nvPr/>
        </p:nvGraphicFramePr>
        <p:xfrm>
          <a:off x="832950" y="2741161"/>
          <a:ext cx="3000000" cy="3000000"/>
        </p:xfrm>
        <a:graphic>
          <a:graphicData uri="http://schemas.openxmlformats.org/drawingml/2006/table">
            <a:tbl>
              <a:tblPr>
                <a:noFill/>
                <a:tableStyleId>{5676FB72-93CE-4E66-9494-FAFA15B1102A}</a:tableStyleId>
              </a:tblPr>
              <a:tblGrid>
                <a:gridCol w="521375"/>
                <a:gridCol w="521375"/>
                <a:gridCol w="521375"/>
                <a:gridCol w="521375"/>
                <a:gridCol w="521375"/>
                <a:gridCol w="521375"/>
                <a:gridCol w="521375"/>
                <a:gridCol w="521375"/>
                <a:gridCol w="521375"/>
                <a:gridCol w="521375"/>
              </a:tblGrid>
              <a:tr h="381000">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869" name="Google Shape;869;p72"/>
          <p:cNvGraphicFramePr/>
          <p:nvPr/>
        </p:nvGraphicFramePr>
        <p:xfrm>
          <a:off x="6042963" y="2741161"/>
          <a:ext cx="3000000" cy="3000000"/>
        </p:xfrm>
        <a:graphic>
          <a:graphicData uri="http://schemas.openxmlformats.org/drawingml/2006/table">
            <a:tbl>
              <a:tblPr>
                <a:noFill/>
                <a:tableStyleId>{5676FB72-93CE-4E66-9494-FAFA15B1102A}</a:tableStyleId>
              </a:tblPr>
              <a:tblGrid>
                <a:gridCol w="521375"/>
              </a:tblGrid>
              <a:tr h="381000">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875" name="Google Shape;875;p73"/>
          <p:cNvSpPr txBox="1"/>
          <p:nvPr/>
        </p:nvSpPr>
        <p:spPr>
          <a:xfrm>
            <a:off x="324000" y="759300"/>
            <a:ext cx="8237700" cy="40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Here is a bar model showing £600.</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sp>
        <p:nvSpPr>
          <p:cNvPr id="876" name="Google Shape;876;p73"/>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7" name="Google Shape;877;p73"/>
          <p:cNvSpPr txBox="1"/>
          <p:nvPr/>
        </p:nvSpPr>
        <p:spPr>
          <a:xfrm>
            <a:off x="324000" y="1168875"/>
            <a:ext cx="82377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If someone said they would give you an extra 10%, how much money would you have in total?</a:t>
            </a:r>
            <a:endParaRPr sz="2200">
              <a:solidFill>
                <a:srgbClr val="000000"/>
              </a:solidFill>
              <a:latin typeface="Lexend"/>
              <a:ea typeface="Lexend"/>
              <a:cs typeface="Lexend"/>
              <a:sym typeface="Lexend"/>
            </a:endParaRPr>
          </a:p>
        </p:txBody>
      </p:sp>
      <p:sp>
        <p:nvSpPr>
          <p:cNvPr id="878" name="Google Shape;878;p73"/>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sp>
        <p:nvSpPr>
          <p:cNvPr id="879" name="Google Shape;879;p73"/>
          <p:cNvSpPr txBox="1"/>
          <p:nvPr/>
        </p:nvSpPr>
        <p:spPr>
          <a:xfrm>
            <a:off x="2857500" y="4226075"/>
            <a:ext cx="3429000" cy="521400"/>
          </a:xfrm>
          <a:prstGeom prst="rect">
            <a:avLst/>
          </a:prstGeom>
          <a:noFill/>
          <a:ln cap="flat" cmpd="sng" w="2857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You would have £660</a:t>
            </a:r>
            <a:endParaRPr sz="2200">
              <a:solidFill>
                <a:schemeClr val="dk1"/>
              </a:solidFill>
              <a:latin typeface="Lexend"/>
              <a:ea typeface="Lexend"/>
              <a:cs typeface="Lexend"/>
              <a:sym typeface="Lexend"/>
            </a:endParaRPr>
          </a:p>
        </p:txBody>
      </p:sp>
      <p:graphicFrame>
        <p:nvGraphicFramePr>
          <p:cNvPr id="880" name="Google Shape;880;p73"/>
          <p:cNvGraphicFramePr/>
          <p:nvPr/>
        </p:nvGraphicFramePr>
        <p:xfrm>
          <a:off x="6042963" y="2741161"/>
          <a:ext cx="3000000" cy="3000000"/>
        </p:xfrm>
        <a:graphic>
          <a:graphicData uri="http://schemas.openxmlformats.org/drawingml/2006/table">
            <a:tbl>
              <a:tblPr>
                <a:noFill/>
                <a:tableStyleId>{5676FB72-93CE-4E66-9494-FAFA15B1102A}</a:tableStyleId>
              </a:tblPr>
              <a:tblGrid>
                <a:gridCol w="521375"/>
              </a:tblGrid>
              <a:tr h="381000">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881" name="Google Shape;881;p73"/>
          <p:cNvGraphicFramePr/>
          <p:nvPr/>
        </p:nvGraphicFramePr>
        <p:xfrm>
          <a:off x="889825" y="2744519"/>
          <a:ext cx="3000000" cy="3000000"/>
        </p:xfrm>
        <a:graphic>
          <a:graphicData uri="http://schemas.openxmlformats.org/drawingml/2006/table">
            <a:tbl>
              <a:tblPr>
                <a:noFill/>
                <a:tableStyleId>{5676FB72-93CE-4E66-9494-FAFA15B1102A}</a:tableStyleId>
              </a:tblPr>
              <a:tblGrid>
                <a:gridCol w="5141775"/>
              </a:tblGrid>
              <a:tr h="381000">
                <a:tc>
                  <a:txBody>
                    <a:bodyPr/>
                    <a:lstStyle/>
                    <a:p>
                      <a:pPr indent="0" lvl="0" marL="0" rtl="0" algn="ctr">
                        <a:spcBef>
                          <a:spcPts val="0"/>
                        </a:spcBef>
                        <a:spcAft>
                          <a:spcPts val="0"/>
                        </a:spcAft>
                        <a:buNone/>
                      </a:pPr>
                      <a:r>
                        <a:rPr lang="en-GB" sz="2200">
                          <a:latin typeface="Lexend"/>
                          <a:ea typeface="Lexend"/>
                          <a:cs typeface="Lexend"/>
                          <a:sym typeface="Lexend"/>
                        </a:rPr>
                        <a:t>£600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882" name="Google Shape;882;p73"/>
          <p:cNvSpPr/>
          <p:nvPr/>
        </p:nvSpPr>
        <p:spPr>
          <a:xfrm rot="5400000">
            <a:off x="6203750" y="23502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3" name="Google Shape;883;p73"/>
          <p:cNvSpPr txBox="1"/>
          <p:nvPr/>
        </p:nvSpPr>
        <p:spPr>
          <a:xfrm>
            <a:off x="5995226" y="2163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889" name="Google Shape;889;p74"/>
          <p:cNvSpPr txBox="1"/>
          <p:nvPr/>
        </p:nvSpPr>
        <p:spPr>
          <a:xfrm>
            <a:off x="324000" y="759300"/>
            <a:ext cx="8237700" cy="40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Here is a bar model showing £600.</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sp>
        <p:nvSpPr>
          <p:cNvPr id="890" name="Google Shape;890;p74"/>
          <p:cNvSpPr txBox="1"/>
          <p:nvPr/>
        </p:nvSpPr>
        <p:spPr>
          <a:xfrm>
            <a:off x="324000" y="1168875"/>
            <a:ext cx="82377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Given £600 was the original 100%, what percentage of £600 is now shown on the bar model?</a:t>
            </a:r>
            <a:endParaRPr sz="2200">
              <a:solidFill>
                <a:srgbClr val="000000"/>
              </a:solidFill>
              <a:latin typeface="Lexend"/>
              <a:ea typeface="Lexend"/>
              <a:cs typeface="Lexend"/>
              <a:sym typeface="Lexend"/>
            </a:endParaRPr>
          </a:p>
        </p:txBody>
      </p:sp>
      <p:grpSp>
        <p:nvGrpSpPr>
          <p:cNvPr id="891" name="Google Shape;891;p74"/>
          <p:cNvGrpSpPr/>
          <p:nvPr/>
        </p:nvGrpSpPr>
        <p:grpSpPr>
          <a:xfrm>
            <a:off x="889825" y="3483600"/>
            <a:ext cx="5213700" cy="565946"/>
            <a:chOff x="889825" y="3483600"/>
            <a:chExt cx="5213700" cy="565946"/>
          </a:xfrm>
        </p:grpSpPr>
        <p:sp>
          <p:nvSpPr>
            <p:cNvPr id="892" name="Google Shape;892;p74"/>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3" name="Google Shape;893;p74"/>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sp>
        <p:nvSpPr>
          <p:cNvPr id="894" name="Google Shape;894;p74"/>
          <p:cNvSpPr/>
          <p:nvPr/>
        </p:nvSpPr>
        <p:spPr>
          <a:xfrm rot="5400000">
            <a:off x="6203750" y="23502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5" name="Google Shape;895;p74"/>
          <p:cNvSpPr txBox="1"/>
          <p:nvPr/>
        </p:nvSpPr>
        <p:spPr>
          <a:xfrm>
            <a:off x="5995226" y="2163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graphicFrame>
        <p:nvGraphicFramePr>
          <p:cNvPr id="896" name="Google Shape;896;p74"/>
          <p:cNvGraphicFramePr/>
          <p:nvPr/>
        </p:nvGraphicFramePr>
        <p:xfrm>
          <a:off x="6042963" y="2741161"/>
          <a:ext cx="3000000" cy="3000000"/>
        </p:xfrm>
        <a:graphic>
          <a:graphicData uri="http://schemas.openxmlformats.org/drawingml/2006/table">
            <a:tbl>
              <a:tblPr>
                <a:noFill/>
                <a:tableStyleId>{5676FB72-93CE-4E66-9494-FAFA15B1102A}</a:tableStyleId>
              </a:tblPr>
              <a:tblGrid>
                <a:gridCol w="521375"/>
              </a:tblGrid>
              <a:tr h="381000">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897" name="Google Shape;897;p74"/>
          <p:cNvGraphicFramePr/>
          <p:nvPr/>
        </p:nvGraphicFramePr>
        <p:xfrm>
          <a:off x="889825" y="2744519"/>
          <a:ext cx="3000000" cy="3000000"/>
        </p:xfrm>
        <a:graphic>
          <a:graphicData uri="http://schemas.openxmlformats.org/drawingml/2006/table">
            <a:tbl>
              <a:tblPr>
                <a:noFill/>
                <a:tableStyleId>{5676FB72-93CE-4E66-9494-FAFA15B1102A}</a:tableStyleId>
              </a:tblPr>
              <a:tblGrid>
                <a:gridCol w="5141775"/>
              </a:tblGrid>
              <a:tr h="381000">
                <a:tc>
                  <a:txBody>
                    <a:bodyPr/>
                    <a:lstStyle/>
                    <a:p>
                      <a:pPr indent="0" lvl="0" marL="0" rtl="0" algn="ctr">
                        <a:spcBef>
                          <a:spcPts val="0"/>
                        </a:spcBef>
                        <a:spcAft>
                          <a:spcPts val="0"/>
                        </a:spcAft>
                        <a:buNone/>
                      </a:pPr>
                      <a:r>
                        <a:rPr lang="en-GB" sz="2200">
                          <a:latin typeface="Lexend"/>
                          <a:ea typeface="Lexend"/>
                          <a:cs typeface="Lexend"/>
                          <a:sym typeface="Lexend"/>
                        </a:rPr>
                        <a:t>£600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898" name="Google Shape;898;p74"/>
          <p:cNvSpPr txBox="1"/>
          <p:nvPr/>
        </p:nvSpPr>
        <p:spPr>
          <a:xfrm>
            <a:off x="2741550" y="4316900"/>
            <a:ext cx="41649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£660 is 110% of £600</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latin typeface="Lexend"/>
              <a:ea typeface="Lexend"/>
              <a:cs typeface="Lexend"/>
              <a:sym typeface="Lexend"/>
            </a:endParaRPr>
          </a:p>
        </p:txBody>
      </p:sp>
      <p:grpSp>
        <p:nvGrpSpPr>
          <p:cNvPr id="899" name="Google Shape;899;p74"/>
          <p:cNvGrpSpPr/>
          <p:nvPr/>
        </p:nvGrpSpPr>
        <p:grpSpPr>
          <a:xfrm>
            <a:off x="878575" y="2187596"/>
            <a:ext cx="5172600" cy="502654"/>
            <a:chOff x="878575" y="2187596"/>
            <a:chExt cx="5172600" cy="502654"/>
          </a:xfrm>
        </p:grpSpPr>
        <p:sp>
          <p:nvSpPr>
            <p:cNvPr id="900" name="Google Shape;900;p74"/>
            <p:cNvSpPr/>
            <p:nvPr/>
          </p:nvSpPr>
          <p:spPr>
            <a:xfrm rot="5400000">
              <a:off x="3371875" y="10950"/>
              <a:ext cx="186000" cy="5172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1" name="Google Shape;901;p74"/>
            <p:cNvSpPr txBox="1"/>
            <p:nvPr/>
          </p:nvSpPr>
          <p:spPr>
            <a:xfrm>
              <a:off x="3260102" y="2187596"/>
              <a:ext cx="1311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9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75"/>
          <p:cNvSpPr txBox="1"/>
          <p:nvPr>
            <p:ph idx="1" type="body"/>
          </p:nvPr>
        </p:nvSpPr>
        <p:spPr>
          <a:xfrm>
            <a:off x="324000" y="683100"/>
            <a:ext cx="8237700" cy="48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Fill in the blanks using the bar models:</a:t>
            </a:r>
            <a:endParaRPr/>
          </a:p>
          <a:p>
            <a:pPr indent="0" lvl="0" marL="0" rtl="0" algn="l">
              <a:lnSpc>
                <a:spcPct val="100000"/>
              </a:lnSpc>
              <a:spcBef>
                <a:spcPts val="1000"/>
              </a:spcBef>
              <a:spcAft>
                <a:spcPts val="0"/>
              </a:spcAft>
              <a:buNone/>
            </a:pPr>
            <a:r>
              <a:t/>
            </a:r>
            <a:endParaRPr sz="1100"/>
          </a:p>
          <a:p>
            <a:pPr indent="0" lvl="0" marL="0" rtl="0" algn="l">
              <a:lnSpc>
                <a:spcPct val="200000"/>
              </a:lnSpc>
              <a:spcBef>
                <a:spcPts val="1000"/>
              </a:spcBef>
              <a:spcAft>
                <a:spcPts val="0"/>
              </a:spcAft>
              <a:buNone/>
            </a:pPr>
            <a:r>
              <a:rPr lang="en-GB"/>
              <a:t>a)</a:t>
            </a:r>
            <a:endParaRPr/>
          </a:p>
          <a:p>
            <a:pPr indent="0" lvl="0" marL="0" rtl="0" algn="l">
              <a:lnSpc>
                <a:spcPct val="200000"/>
              </a:lnSpc>
              <a:spcBef>
                <a:spcPts val="1000"/>
              </a:spcBef>
              <a:spcAft>
                <a:spcPts val="0"/>
              </a:spcAft>
              <a:buNone/>
            </a:pPr>
            <a:r>
              <a:t/>
            </a:r>
            <a:endParaRPr sz="900"/>
          </a:p>
          <a:p>
            <a:pPr indent="0" lvl="0" marL="0" rtl="0" algn="l">
              <a:lnSpc>
                <a:spcPct val="200000"/>
              </a:lnSpc>
              <a:spcBef>
                <a:spcPts val="1000"/>
              </a:spcBef>
              <a:spcAft>
                <a:spcPts val="0"/>
              </a:spcAft>
              <a:buNone/>
            </a:pPr>
            <a:r>
              <a:t/>
            </a:r>
            <a:endParaRPr sz="900"/>
          </a:p>
          <a:p>
            <a:pPr indent="0" lvl="0" marL="0" rtl="0" algn="l">
              <a:lnSpc>
                <a:spcPct val="200000"/>
              </a:lnSpc>
              <a:spcBef>
                <a:spcPts val="1000"/>
              </a:spcBef>
              <a:spcAft>
                <a:spcPts val="0"/>
              </a:spcAft>
              <a:buNone/>
            </a:pPr>
            <a:r>
              <a:rPr lang="en-GB"/>
              <a:t>b)</a:t>
            </a:r>
            <a:endParaRPr/>
          </a:p>
          <a:p>
            <a:pPr indent="0" lvl="0" marL="0" rtl="0" algn="l">
              <a:lnSpc>
                <a:spcPct val="200000"/>
              </a:lnSpc>
              <a:spcBef>
                <a:spcPts val="1000"/>
              </a:spcBef>
              <a:spcAft>
                <a:spcPts val="1000"/>
              </a:spcAft>
              <a:buNone/>
            </a:pPr>
            <a:r>
              <a:t/>
            </a:r>
            <a:endParaRPr/>
          </a:p>
        </p:txBody>
      </p:sp>
      <p:sp>
        <p:nvSpPr>
          <p:cNvPr id="907" name="Google Shape;907;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graphicFrame>
        <p:nvGraphicFramePr>
          <p:cNvPr id="908" name="Google Shape;908;p75"/>
          <p:cNvGraphicFramePr/>
          <p:nvPr/>
        </p:nvGraphicFramePr>
        <p:xfrm>
          <a:off x="881075" y="1669975"/>
          <a:ext cx="3000000" cy="3000000"/>
        </p:xfrm>
        <a:graphic>
          <a:graphicData uri="http://schemas.openxmlformats.org/drawingml/2006/table">
            <a:tbl>
              <a:tblPr>
                <a:noFill/>
                <a:tableStyleId>{5676FB72-93CE-4E66-9494-FAFA15B1102A}</a:tableStyleId>
              </a:tblPr>
              <a:tblGrid>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r>
            </a:tbl>
          </a:graphicData>
        </a:graphic>
      </p:graphicFrame>
      <p:grpSp>
        <p:nvGrpSpPr>
          <p:cNvPr id="909" name="Google Shape;909;p75"/>
          <p:cNvGrpSpPr/>
          <p:nvPr/>
        </p:nvGrpSpPr>
        <p:grpSpPr>
          <a:xfrm>
            <a:off x="881062" y="2161002"/>
            <a:ext cx="3828420" cy="565946"/>
            <a:chOff x="889825" y="3483600"/>
            <a:chExt cx="5213700" cy="565946"/>
          </a:xfrm>
        </p:grpSpPr>
        <p:sp>
          <p:nvSpPr>
            <p:cNvPr id="910" name="Google Shape;910;p75"/>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1" name="Google Shape;911;p75"/>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graphicFrame>
        <p:nvGraphicFramePr>
          <p:cNvPr id="912" name="Google Shape;912;p75"/>
          <p:cNvGraphicFramePr/>
          <p:nvPr/>
        </p:nvGraphicFramePr>
        <p:xfrm>
          <a:off x="881038" y="1669986"/>
          <a:ext cx="3000000" cy="3000000"/>
        </p:xfrm>
        <a:graphic>
          <a:graphicData uri="http://schemas.openxmlformats.org/drawingml/2006/table">
            <a:tbl>
              <a:tblPr>
                <a:noFill/>
                <a:tableStyleId>{5676FB72-93CE-4E66-9494-FAFA15B1102A}</a:tableStyleId>
              </a:tblPr>
              <a:tblGrid>
                <a:gridCol w="3828425"/>
              </a:tblGrid>
              <a:tr h="75200">
                <a:tc>
                  <a:txBody>
                    <a:bodyPr/>
                    <a:lstStyle/>
                    <a:p>
                      <a:pPr indent="0" lvl="0" marL="0" rtl="0" algn="ctr">
                        <a:spcBef>
                          <a:spcPts val="0"/>
                        </a:spcBef>
                        <a:spcAft>
                          <a:spcPts val="0"/>
                        </a:spcAft>
                        <a:buNone/>
                      </a:pPr>
                      <a:r>
                        <a:t/>
                      </a:r>
                      <a:endParaRPr>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845AD9">
                        <a:alpha val="50000"/>
                      </a:srgbClr>
                    </a:solidFill>
                  </a:tcPr>
                </a:tc>
              </a:tr>
            </a:tbl>
          </a:graphicData>
        </a:graphic>
      </p:graphicFrame>
      <p:sp>
        <p:nvSpPr>
          <p:cNvPr id="913" name="Google Shape;913;p75"/>
          <p:cNvSpPr txBox="1"/>
          <p:nvPr/>
        </p:nvSpPr>
        <p:spPr>
          <a:xfrm>
            <a:off x="2229763" y="1583375"/>
            <a:ext cx="11310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80</a:t>
            </a:r>
            <a:endParaRPr sz="2500">
              <a:latin typeface="Lexend"/>
              <a:ea typeface="Lexend"/>
              <a:cs typeface="Lexend"/>
              <a:sym typeface="Lexend"/>
            </a:endParaRPr>
          </a:p>
        </p:txBody>
      </p:sp>
      <p:sp>
        <p:nvSpPr>
          <p:cNvPr id="914" name="Google Shape;914;p75"/>
          <p:cNvSpPr/>
          <p:nvPr/>
        </p:nvSpPr>
        <p:spPr>
          <a:xfrm rot="5400000">
            <a:off x="5175074" y="972816"/>
            <a:ext cx="199800" cy="11310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5" name="Google Shape;915;p75"/>
          <p:cNvSpPr txBox="1"/>
          <p:nvPr/>
        </p:nvSpPr>
        <p:spPr>
          <a:xfrm>
            <a:off x="4933394" y="1156550"/>
            <a:ext cx="798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30</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16" name="Google Shape;916;p75"/>
          <p:cNvSpPr txBox="1"/>
          <p:nvPr/>
        </p:nvSpPr>
        <p:spPr>
          <a:xfrm>
            <a:off x="4676890" y="1587560"/>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8</a:t>
            </a:r>
            <a:endParaRPr sz="2500">
              <a:latin typeface="Lexend"/>
              <a:ea typeface="Lexend"/>
              <a:cs typeface="Lexend"/>
              <a:sym typeface="Lexend"/>
            </a:endParaRPr>
          </a:p>
        </p:txBody>
      </p:sp>
      <p:sp>
        <p:nvSpPr>
          <p:cNvPr id="917" name="Google Shape;917;p75"/>
          <p:cNvSpPr txBox="1"/>
          <p:nvPr/>
        </p:nvSpPr>
        <p:spPr>
          <a:xfrm>
            <a:off x="5057890" y="1587560"/>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8</a:t>
            </a:r>
            <a:endParaRPr sz="2500">
              <a:latin typeface="Lexend"/>
              <a:ea typeface="Lexend"/>
              <a:cs typeface="Lexend"/>
              <a:sym typeface="Lexend"/>
            </a:endParaRPr>
          </a:p>
        </p:txBody>
      </p:sp>
      <p:sp>
        <p:nvSpPr>
          <p:cNvPr id="918" name="Google Shape;918;p75"/>
          <p:cNvSpPr txBox="1"/>
          <p:nvPr/>
        </p:nvSpPr>
        <p:spPr>
          <a:xfrm>
            <a:off x="5438890" y="1587560"/>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8</a:t>
            </a:r>
            <a:endParaRPr sz="2500">
              <a:latin typeface="Lexend"/>
              <a:ea typeface="Lexend"/>
              <a:cs typeface="Lexend"/>
              <a:sym typeface="Lexend"/>
            </a:endParaRPr>
          </a:p>
        </p:txBody>
      </p:sp>
      <p:sp>
        <p:nvSpPr>
          <p:cNvPr id="919" name="Google Shape;919;p75"/>
          <p:cNvSpPr txBox="1"/>
          <p:nvPr/>
        </p:nvSpPr>
        <p:spPr>
          <a:xfrm>
            <a:off x="6078650" y="1620000"/>
            <a:ext cx="2583900" cy="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104 is 130% of 80</a:t>
            </a:r>
            <a:endParaRPr sz="2200">
              <a:solidFill>
                <a:schemeClr val="dk1"/>
              </a:solidFill>
              <a:latin typeface="Lexend"/>
              <a:ea typeface="Lexend"/>
              <a:cs typeface="Lexend"/>
              <a:sym typeface="Lexend"/>
            </a:endParaRPr>
          </a:p>
        </p:txBody>
      </p:sp>
      <p:graphicFrame>
        <p:nvGraphicFramePr>
          <p:cNvPr id="920" name="Google Shape;920;p75"/>
          <p:cNvGraphicFramePr/>
          <p:nvPr/>
        </p:nvGraphicFramePr>
        <p:xfrm>
          <a:off x="881075" y="3193975"/>
          <a:ext cx="3000000" cy="3000000"/>
        </p:xfrm>
        <a:graphic>
          <a:graphicData uri="http://schemas.openxmlformats.org/drawingml/2006/table">
            <a:tbl>
              <a:tblPr>
                <a:noFill/>
                <a:tableStyleId>{5676FB72-93CE-4E66-9494-FAFA15B1102A}</a:tableStyleId>
              </a:tblPr>
              <a:tblGrid>
                <a:gridCol w="344575"/>
                <a:gridCol w="344575"/>
                <a:gridCol w="344575"/>
                <a:gridCol w="344575"/>
                <a:gridCol w="344575"/>
                <a:gridCol w="344575"/>
                <a:gridCol w="344575"/>
                <a:gridCol w="344575"/>
                <a:gridCol w="344575"/>
                <a:gridCol w="344575"/>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r>
            </a:tbl>
          </a:graphicData>
        </a:graphic>
      </p:graphicFrame>
      <p:grpSp>
        <p:nvGrpSpPr>
          <p:cNvPr id="921" name="Google Shape;921;p75"/>
          <p:cNvGrpSpPr/>
          <p:nvPr/>
        </p:nvGrpSpPr>
        <p:grpSpPr>
          <a:xfrm>
            <a:off x="881099" y="3684952"/>
            <a:ext cx="3445734" cy="565946"/>
            <a:chOff x="889825" y="3483600"/>
            <a:chExt cx="5213700" cy="565946"/>
          </a:xfrm>
        </p:grpSpPr>
        <p:sp>
          <p:nvSpPr>
            <p:cNvPr id="922" name="Google Shape;922;p75"/>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3" name="Google Shape;923;p75"/>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graphicFrame>
        <p:nvGraphicFramePr>
          <p:cNvPr id="924" name="Google Shape;924;p75"/>
          <p:cNvGraphicFramePr/>
          <p:nvPr/>
        </p:nvGraphicFramePr>
        <p:xfrm>
          <a:off x="891188" y="3193986"/>
          <a:ext cx="3000000" cy="3000000"/>
        </p:xfrm>
        <a:graphic>
          <a:graphicData uri="http://schemas.openxmlformats.org/drawingml/2006/table">
            <a:tbl>
              <a:tblPr>
                <a:noFill/>
                <a:tableStyleId>{5676FB72-93CE-4E66-9494-FAFA15B1102A}</a:tableStyleId>
              </a:tblPr>
              <a:tblGrid>
                <a:gridCol w="3445750"/>
              </a:tblGrid>
              <a:tr h="75200">
                <a:tc>
                  <a:txBody>
                    <a:bodyPr/>
                    <a:lstStyle/>
                    <a:p>
                      <a:pPr indent="0" lvl="0" marL="0" rtl="0" algn="ctr">
                        <a:spcBef>
                          <a:spcPts val="0"/>
                        </a:spcBef>
                        <a:spcAft>
                          <a:spcPts val="0"/>
                        </a:spcAft>
                        <a:buNone/>
                      </a:pPr>
                      <a:r>
                        <a:t/>
                      </a:r>
                      <a:endParaRPr>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F6B26B">
                        <a:alpha val="53160"/>
                      </a:srgbClr>
                    </a:solidFill>
                  </a:tcPr>
                </a:tc>
              </a:tr>
            </a:tbl>
          </a:graphicData>
        </a:graphic>
      </p:graphicFrame>
      <p:sp>
        <p:nvSpPr>
          <p:cNvPr id="925" name="Google Shape;925;p75"/>
          <p:cNvSpPr txBox="1"/>
          <p:nvPr/>
        </p:nvSpPr>
        <p:spPr>
          <a:xfrm>
            <a:off x="2178938" y="3111550"/>
            <a:ext cx="11310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70</a:t>
            </a:r>
            <a:endParaRPr sz="2500">
              <a:latin typeface="Lexend"/>
              <a:ea typeface="Lexend"/>
              <a:cs typeface="Lexend"/>
              <a:sym typeface="Lexend"/>
            </a:endParaRPr>
          </a:p>
        </p:txBody>
      </p:sp>
      <p:sp>
        <p:nvSpPr>
          <p:cNvPr id="926" name="Google Shape;926;p75"/>
          <p:cNvSpPr/>
          <p:nvPr/>
        </p:nvSpPr>
        <p:spPr>
          <a:xfrm rot="5400000">
            <a:off x="5275675" y="2023725"/>
            <a:ext cx="199800" cy="20772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7" name="Google Shape;927;p75"/>
          <p:cNvSpPr txBox="1"/>
          <p:nvPr/>
        </p:nvSpPr>
        <p:spPr>
          <a:xfrm>
            <a:off x="4905494" y="2653475"/>
            <a:ext cx="798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6</a:t>
            </a:r>
            <a:r>
              <a:rPr lang="en-GB" sz="1800">
                <a:latin typeface="Lexend"/>
                <a:ea typeface="Lexend"/>
                <a:cs typeface="Lexend"/>
                <a:sym typeface="Lexend"/>
              </a:rPr>
              <a:t>0%</a:t>
            </a:r>
            <a:endParaRPr sz="1800">
              <a:solidFill>
                <a:srgbClr val="000000"/>
              </a:solidFill>
              <a:latin typeface="Lexend"/>
              <a:ea typeface="Lexend"/>
              <a:cs typeface="Lexend"/>
              <a:sym typeface="Lexend"/>
            </a:endParaRPr>
          </a:p>
        </p:txBody>
      </p:sp>
      <p:sp>
        <p:nvSpPr>
          <p:cNvPr id="928" name="Google Shape;928;p75"/>
          <p:cNvSpPr txBox="1"/>
          <p:nvPr/>
        </p:nvSpPr>
        <p:spPr>
          <a:xfrm>
            <a:off x="4676890" y="3111560"/>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8</a:t>
            </a:r>
            <a:endParaRPr sz="2500">
              <a:latin typeface="Lexend"/>
              <a:ea typeface="Lexend"/>
              <a:cs typeface="Lexend"/>
              <a:sym typeface="Lexend"/>
            </a:endParaRPr>
          </a:p>
        </p:txBody>
      </p:sp>
      <p:sp>
        <p:nvSpPr>
          <p:cNvPr id="929" name="Google Shape;929;p75"/>
          <p:cNvSpPr txBox="1"/>
          <p:nvPr/>
        </p:nvSpPr>
        <p:spPr>
          <a:xfrm>
            <a:off x="5057890" y="3111560"/>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8</a:t>
            </a:r>
            <a:endParaRPr sz="2500">
              <a:latin typeface="Lexend"/>
              <a:ea typeface="Lexend"/>
              <a:cs typeface="Lexend"/>
              <a:sym typeface="Lexend"/>
            </a:endParaRPr>
          </a:p>
        </p:txBody>
      </p:sp>
      <p:sp>
        <p:nvSpPr>
          <p:cNvPr id="930" name="Google Shape;930;p75"/>
          <p:cNvSpPr txBox="1"/>
          <p:nvPr/>
        </p:nvSpPr>
        <p:spPr>
          <a:xfrm>
            <a:off x="5438890" y="3111560"/>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8</a:t>
            </a:r>
            <a:endParaRPr sz="2500">
              <a:latin typeface="Lexend"/>
              <a:ea typeface="Lexend"/>
              <a:cs typeface="Lexend"/>
              <a:sym typeface="Lexend"/>
            </a:endParaRPr>
          </a:p>
        </p:txBody>
      </p:sp>
      <p:sp>
        <p:nvSpPr>
          <p:cNvPr id="931" name="Google Shape;931;p75"/>
          <p:cNvSpPr txBox="1"/>
          <p:nvPr/>
        </p:nvSpPr>
        <p:spPr>
          <a:xfrm>
            <a:off x="6459650" y="3144000"/>
            <a:ext cx="2583900" cy="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112 is 160% of 70</a:t>
            </a:r>
            <a:endParaRPr sz="2200">
              <a:solidFill>
                <a:schemeClr val="dk1"/>
              </a:solidFill>
              <a:latin typeface="Lexend"/>
              <a:ea typeface="Lexend"/>
              <a:cs typeface="Lexend"/>
              <a:sym typeface="Lexend"/>
            </a:endParaRPr>
          </a:p>
        </p:txBody>
      </p:sp>
      <p:graphicFrame>
        <p:nvGraphicFramePr>
          <p:cNvPr id="932" name="Google Shape;932;p75"/>
          <p:cNvGraphicFramePr/>
          <p:nvPr/>
        </p:nvGraphicFramePr>
        <p:xfrm>
          <a:off x="4339247" y="3193975"/>
          <a:ext cx="3000000" cy="3000000"/>
        </p:xfrm>
        <a:graphic>
          <a:graphicData uri="http://schemas.openxmlformats.org/drawingml/2006/table">
            <a:tbl>
              <a:tblPr>
                <a:noFill/>
                <a:tableStyleId>{5676FB72-93CE-4E66-9494-FAFA15B1102A}</a:tableStyleId>
              </a:tblPr>
              <a:tblGrid>
                <a:gridCol w="344575"/>
                <a:gridCol w="344575"/>
                <a:gridCol w="344575"/>
                <a:gridCol w="344575"/>
                <a:gridCol w="344575"/>
                <a:gridCol w="344575"/>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r>
            </a:tbl>
          </a:graphicData>
        </a:graphic>
      </p:graphicFrame>
      <p:sp>
        <p:nvSpPr>
          <p:cNvPr id="933" name="Google Shape;933;p75"/>
          <p:cNvSpPr/>
          <p:nvPr/>
        </p:nvSpPr>
        <p:spPr>
          <a:xfrm>
            <a:off x="7027775" y="1632525"/>
            <a:ext cx="699300" cy="487200"/>
          </a:xfrm>
          <a:prstGeom prst="rect">
            <a:avLst/>
          </a:prstGeom>
          <a:solidFill>
            <a:schemeClr val="lt1"/>
          </a:solid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4" name="Google Shape;934;p75"/>
          <p:cNvSpPr/>
          <p:nvPr/>
        </p:nvSpPr>
        <p:spPr>
          <a:xfrm>
            <a:off x="6511475" y="3148475"/>
            <a:ext cx="516300" cy="487200"/>
          </a:xfrm>
          <a:prstGeom prst="rect">
            <a:avLst/>
          </a:prstGeom>
          <a:solidFill>
            <a:schemeClr val="lt1"/>
          </a:solid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5" name="Google Shape;935;p75"/>
          <p:cNvSpPr txBox="1"/>
          <p:nvPr/>
        </p:nvSpPr>
        <p:spPr>
          <a:xfrm>
            <a:off x="4265491" y="3101427"/>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7</a:t>
            </a:r>
            <a:endParaRPr sz="2500">
              <a:latin typeface="Lexend"/>
              <a:ea typeface="Lexend"/>
              <a:cs typeface="Lexend"/>
              <a:sym typeface="Lexend"/>
            </a:endParaRPr>
          </a:p>
        </p:txBody>
      </p:sp>
      <p:sp>
        <p:nvSpPr>
          <p:cNvPr id="936" name="Google Shape;936;p75"/>
          <p:cNvSpPr txBox="1"/>
          <p:nvPr/>
        </p:nvSpPr>
        <p:spPr>
          <a:xfrm>
            <a:off x="4613984" y="3101427"/>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7</a:t>
            </a:r>
            <a:endParaRPr sz="2500">
              <a:latin typeface="Lexend"/>
              <a:ea typeface="Lexend"/>
              <a:cs typeface="Lexend"/>
              <a:sym typeface="Lexend"/>
            </a:endParaRPr>
          </a:p>
        </p:txBody>
      </p:sp>
      <p:sp>
        <p:nvSpPr>
          <p:cNvPr id="937" name="Google Shape;937;p75"/>
          <p:cNvSpPr txBox="1"/>
          <p:nvPr/>
        </p:nvSpPr>
        <p:spPr>
          <a:xfrm>
            <a:off x="4962478" y="3101427"/>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7</a:t>
            </a:r>
            <a:endParaRPr sz="2500">
              <a:latin typeface="Lexend"/>
              <a:ea typeface="Lexend"/>
              <a:cs typeface="Lexend"/>
              <a:sym typeface="Lexend"/>
            </a:endParaRPr>
          </a:p>
        </p:txBody>
      </p:sp>
      <p:sp>
        <p:nvSpPr>
          <p:cNvPr id="938" name="Google Shape;938;p75"/>
          <p:cNvSpPr txBox="1"/>
          <p:nvPr/>
        </p:nvSpPr>
        <p:spPr>
          <a:xfrm>
            <a:off x="5310971" y="3101427"/>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7</a:t>
            </a:r>
            <a:endParaRPr sz="2500">
              <a:latin typeface="Lexend"/>
              <a:ea typeface="Lexend"/>
              <a:cs typeface="Lexend"/>
              <a:sym typeface="Lexend"/>
            </a:endParaRPr>
          </a:p>
        </p:txBody>
      </p:sp>
      <p:sp>
        <p:nvSpPr>
          <p:cNvPr id="939" name="Google Shape;939;p75"/>
          <p:cNvSpPr txBox="1"/>
          <p:nvPr/>
        </p:nvSpPr>
        <p:spPr>
          <a:xfrm>
            <a:off x="5659465" y="3101427"/>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7</a:t>
            </a:r>
            <a:endParaRPr sz="2500">
              <a:latin typeface="Lexend"/>
              <a:ea typeface="Lexend"/>
              <a:cs typeface="Lexend"/>
              <a:sym typeface="Lexend"/>
            </a:endParaRPr>
          </a:p>
        </p:txBody>
      </p:sp>
      <p:sp>
        <p:nvSpPr>
          <p:cNvPr id="940" name="Google Shape;940;p75"/>
          <p:cNvSpPr txBox="1"/>
          <p:nvPr/>
        </p:nvSpPr>
        <p:spPr>
          <a:xfrm>
            <a:off x="6007958" y="3101427"/>
            <a:ext cx="415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1"/>
                </a:solidFill>
                <a:latin typeface="Lexend"/>
                <a:ea typeface="Lexend"/>
                <a:cs typeface="Lexend"/>
                <a:sym typeface="Lexend"/>
              </a:rPr>
              <a:t>7</a:t>
            </a:r>
            <a:endParaRPr sz="25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76"/>
          <p:cNvSpPr txBox="1"/>
          <p:nvPr>
            <p:ph idx="1" type="body"/>
          </p:nvPr>
        </p:nvSpPr>
        <p:spPr>
          <a:xfrm>
            <a:off x="324000" y="759300"/>
            <a:ext cx="8237700" cy="259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 mathematics there are many different ways to write a question, but they all mean the same thing.</a:t>
            </a:r>
            <a:endParaRPr/>
          </a:p>
          <a:p>
            <a:pPr indent="0" lvl="0" marL="0" rtl="0" algn="l">
              <a:spcBef>
                <a:spcPts val="1000"/>
              </a:spcBef>
              <a:spcAft>
                <a:spcPts val="0"/>
              </a:spcAft>
              <a:buNone/>
            </a:pPr>
            <a:r>
              <a:rPr lang="en-GB"/>
              <a:t>For </a:t>
            </a:r>
            <a:r>
              <a:rPr lang="en-GB"/>
              <a:t>example:</a:t>
            </a:r>
            <a:endParaRPr/>
          </a:p>
          <a:p>
            <a:pPr indent="0" lvl="0" marL="0" rtl="0" algn="l">
              <a:spcBef>
                <a:spcPts val="1000"/>
              </a:spcBef>
              <a:spcAft>
                <a:spcPts val="0"/>
              </a:spcAft>
              <a:buNone/>
            </a:pPr>
            <a:r>
              <a:rPr lang="en-GB"/>
              <a:t>How many different ways can you write the question</a:t>
            </a:r>
            <a:endParaRPr/>
          </a:p>
          <a:p>
            <a:pPr indent="0" lvl="0" marL="0" rtl="0" algn="ctr">
              <a:spcBef>
                <a:spcPts val="1000"/>
              </a:spcBef>
              <a:spcAft>
                <a:spcPts val="1000"/>
              </a:spcAft>
              <a:buNone/>
            </a:pPr>
            <a:r>
              <a:rPr lang="en-GB"/>
              <a:t>“Work out 60% of 900”?</a:t>
            </a:r>
            <a:endParaRPr/>
          </a:p>
        </p:txBody>
      </p:sp>
      <p:sp>
        <p:nvSpPr>
          <p:cNvPr id="946" name="Google Shape;946;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cxnSp>
        <p:nvCxnSpPr>
          <p:cNvPr id="947" name="Google Shape;947;p76"/>
          <p:cNvCxnSpPr>
            <a:endCxn id="948" idx="0"/>
          </p:cNvCxnSpPr>
          <p:nvPr/>
        </p:nvCxnSpPr>
        <p:spPr>
          <a:xfrm flipH="1">
            <a:off x="3838050" y="3061225"/>
            <a:ext cx="58500" cy="691500"/>
          </a:xfrm>
          <a:prstGeom prst="straightConnector1">
            <a:avLst/>
          </a:prstGeom>
          <a:noFill/>
          <a:ln cap="flat" cmpd="sng" w="28575">
            <a:solidFill>
              <a:schemeClr val="dk2"/>
            </a:solidFill>
            <a:prstDash val="solid"/>
            <a:round/>
            <a:headEnd len="med" w="med" type="none"/>
            <a:tailEnd len="med" w="med" type="none"/>
          </a:ln>
        </p:spPr>
      </p:cxnSp>
      <p:sp>
        <p:nvSpPr>
          <p:cNvPr id="949" name="Google Shape;949;p76"/>
          <p:cNvSpPr txBox="1"/>
          <p:nvPr/>
        </p:nvSpPr>
        <p:spPr>
          <a:xfrm>
            <a:off x="539475" y="3501000"/>
            <a:ext cx="18621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0.6 × 900</a:t>
            </a:r>
            <a:endParaRPr/>
          </a:p>
        </p:txBody>
      </p:sp>
      <p:sp>
        <p:nvSpPr>
          <p:cNvPr id="948" name="Google Shape;948;p76"/>
          <p:cNvSpPr txBox="1"/>
          <p:nvPr/>
        </p:nvSpPr>
        <p:spPr>
          <a:xfrm>
            <a:off x="2758200" y="3752725"/>
            <a:ext cx="21597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of 900</a:t>
            </a:r>
            <a:endParaRPr>
              <a:solidFill>
                <a:schemeClr val="dk1"/>
              </a:solidFill>
            </a:endParaRPr>
          </a:p>
        </p:txBody>
      </p:sp>
      <p:sp>
        <p:nvSpPr>
          <p:cNvPr id="950" name="Google Shape;950;p76"/>
          <p:cNvSpPr txBox="1"/>
          <p:nvPr/>
        </p:nvSpPr>
        <p:spPr>
          <a:xfrm>
            <a:off x="5148275" y="3752725"/>
            <a:ext cx="18207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 900</a:t>
            </a:r>
            <a:endParaRPr>
              <a:solidFill>
                <a:schemeClr val="dk1"/>
              </a:solidFill>
            </a:endParaRPr>
          </a:p>
        </p:txBody>
      </p:sp>
      <p:sp>
        <p:nvSpPr>
          <p:cNvPr id="951" name="Google Shape;951;p76"/>
          <p:cNvSpPr txBox="1"/>
          <p:nvPr/>
        </p:nvSpPr>
        <p:spPr>
          <a:xfrm>
            <a:off x="6794400" y="3314650"/>
            <a:ext cx="1862100" cy="91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Decrease 900 by 40%</a:t>
            </a:r>
            <a:endParaRPr/>
          </a:p>
        </p:txBody>
      </p:sp>
      <p:pic>
        <p:nvPicPr>
          <p:cNvPr descr="&lt;math xmlns=&quot;http://www.w3.org/1998/Math/MathML&quot; display=&quot;block&quot; data-is-equatio=&quot;1&quot; data-latex=&quot;\frac{3}{5}&quot;&gt;&lt;mfrac&gt;&lt;mn&gt;3&lt;/mn&gt;&lt;mn&gt;5&lt;/mn&gt;&lt;/mfrac&gt;&lt;/math&gt;" id="952" name="Google Shape;952;p76" title="three fifths"/>
          <p:cNvPicPr preferRelativeResize="0"/>
          <p:nvPr/>
        </p:nvPicPr>
        <p:blipFill>
          <a:blip r:embed="rId3">
            <a:alphaModFix/>
          </a:blip>
          <a:stretch>
            <a:fillRect/>
          </a:stretch>
        </p:blipFill>
        <p:spPr>
          <a:xfrm>
            <a:off x="3177700" y="3720700"/>
            <a:ext cx="182700" cy="587250"/>
          </a:xfrm>
          <a:prstGeom prst="rect">
            <a:avLst/>
          </a:prstGeom>
          <a:noFill/>
          <a:ln>
            <a:noFill/>
          </a:ln>
        </p:spPr>
      </p:pic>
      <p:pic>
        <p:nvPicPr>
          <p:cNvPr descr="&lt;math xmlns=&quot;http://www.w3.org/1998/Math/MathML&quot; display=&quot;block&quot; data-is-equatio=&quot;1&quot; data-latex=&quot;\frac{3}{5}&quot;&gt;&lt;mfrac&gt;&lt;mn&gt;3&lt;/mn&gt;&lt;mn&gt;5&lt;/mn&gt;&lt;/mfrac&gt;&lt;/math&gt;" id="953" name="Google Shape;953;p76" title="three fifths"/>
          <p:cNvPicPr preferRelativeResize="0"/>
          <p:nvPr/>
        </p:nvPicPr>
        <p:blipFill>
          <a:blip r:embed="rId3">
            <a:alphaModFix/>
          </a:blip>
          <a:stretch>
            <a:fillRect/>
          </a:stretch>
        </p:blipFill>
        <p:spPr>
          <a:xfrm>
            <a:off x="5407375" y="3720700"/>
            <a:ext cx="182700" cy="587250"/>
          </a:xfrm>
          <a:prstGeom prst="rect">
            <a:avLst/>
          </a:prstGeom>
          <a:noFill/>
          <a:ln>
            <a:noFill/>
          </a:ln>
        </p:spPr>
      </p:pic>
      <p:cxnSp>
        <p:nvCxnSpPr>
          <p:cNvPr id="954" name="Google Shape;954;p76"/>
          <p:cNvCxnSpPr>
            <a:endCxn id="949" idx="0"/>
          </p:cNvCxnSpPr>
          <p:nvPr/>
        </p:nvCxnSpPr>
        <p:spPr>
          <a:xfrm flipH="1">
            <a:off x="1470525" y="2881800"/>
            <a:ext cx="1322700" cy="619200"/>
          </a:xfrm>
          <a:prstGeom prst="straightConnector1">
            <a:avLst/>
          </a:prstGeom>
          <a:noFill/>
          <a:ln cap="flat" cmpd="sng" w="28575">
            <a:solidFill>
              <a:schemeClr val="dk2"/>
            </a:solidFill>
            <a:prstDash val="solid"/>
            <a:round/>
            <a:headEnd len="med" w="med" type="none"/>
            <a:tailEnd len="med" w="med" type="none"/>
          </a:ln>
        </p:spPr>
      </p:cxnSp>
      <p:cxnSp>
        <p:nvCxnSpPr>
          <p:cNvPr id="955" name="Google Shape;955;p76"/>
          <p:cNvCxnSpPr>
            <a:endCxn id="950" idx="0"/>
          </p:cNvCxnSpPr>
          <p:nvPr/>
        </p:nvCxnSpPr>
        <p:spPr>
          <a:xfrm>
            <a:off x="5504825" y="3096325"/>
            <a:ext cx="553800" cy="656400"/>
          </a:xfrm>
          <a:prstGeom prst="straightConnector1">
            <a:avLst/>
          </a:prstGeom>
          <a:noFill/>
          <a:ln cap="flat" cmpd="sng" w="28575">
            <a:solidFill>
              <a:schemeClr val="dk2"/>
            </a:solidFill>
            <a:prstDash val="solid"/>
            <a:round/>
            <a:headEnd len="med" w="med" type="none"/>
            <a:tailEnd len="med" w="med" type="none"/>
          </a:ln>
        </p:spPr>
      </p:cxnSp>
      <p:cxnSp>
        <p:nvCxnSpPr>
          <p:cNvPr id="956" name="Google Shape;956;p76"/>
          <p:cNvCxnSpPr>
            <a:endCxn id="951" idx="0"/>
          </p:cNvCxnSpPr>
          <p:nvPr/>
        </p:nvCxnSpPr>
        <p:spPr>
          <a:xfrm>
            <a:off x="6308250" y="2881750"/>
            <a:ext cx="1417200" cy="432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pic>
        <p:nvPicPr>
          <p:cNvPr id="961" name="Google Shape;961;p77"/>
          <p:cNvPicPr preferRelativeResize="0"/>
          <p:nvPr/>
        </p:nvPicPr>
        <p:blipFill rotWithShape="1">
          <a:blip r:embed="rId3">
            <a:alphaModFix/>
          </a:blip>
          <a:srcRect b="43690" l="0" r="57905" t="0"/>
          <a:stretch/>
        </p:blipFill>
        <p:spPr>
          <a:xfrm flipH="1">
            <a:off x="1481123" y="703750"/>
            <a:ext cx="3090877" cy="1996249"/>
          </a:xfrm>
          <a:prstGeom prst="rect">
            <a:avLst/>
          </a:prstGeom>
          <a:noFill/>
          <a:ln>
            <a:noFill/>
          </a:ln>
        </p:spPr>
      </p:pic>
      <p:sp>
        <p:nvSpPr>
          <p:cNvPr id="962" name="Google Shape;962;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963" name="Google Shape;963;p77"/>
          <p:cNvSpPr txBox="1"/>
          <p:nvPr>
            <p:ph idx="1" type="body"/>
          </p:nvPr>
        </p:nvSpPr>
        <p:spPr>
          <a:xfrm>
            <a:off x="1814400" y="820950"/>
            <a:ext cx="2709900" cy="51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would I increase £240 by 35%? My bar model only shows 10% parts.</a:t>
            </a:r>
            <a:endParaRPr sz="2000"/>
          </a:p>
        </p:txBody>
      </p:sp>
      <p:pic>
        <p:nvPicPr>
          <p:cNvPr id="964" name="Google Shape;964;p77"/>
          <p:cNvPicPr preferRelativeResize="0"/>
          <p:nvPr/>
        </p:nvPicPr>
        <p:blipFill rotWithShape="1">
          <a:blip r:embed="rId3">
            <a:alphaModFix/>
          </a:blip>
          <a:srcRect b="4760" l="40550" r="0" t="13015"/>
          <a:stretch/>
        </p:blipFill>
        <p:spPr>
          <a:xfrm flipH="1">
            <a:off x="4823998" y="886200"/>
            <a:ext cx="2841677" cy="1350000"/>
          </a:xfrm>
          <a:prstGeom prst="rect">
            <a:avLst/>
          </a:prstGeom>
          <a:noFill/>
          <a:ln>
            <a:noFill/>
          </a:ln>
        </p:spPr>
      </p:pic>
      <p:pic>
        <p:nvPicPr>
          <p:cNvPr id="965" name="Google Shape;965;p77"/>
          <p:cNvPicPr preferRelativeResize="0"/>
          <p:nvPr/>
        </p:nvPicPr>
        <p:blipFill>
          <a:blip r:embed="rId4">
            <a:alphaModFix/>
          </a:blip>
          <a:stretch>
            <a:fillRect/>
          </a:stretch>
        </p:blipFill>
        <p:spPr>
          <a:xfrm>
            <a:off x="7614315" y="1601550"/>
            <a:ext cx="807760" cy="896090"/>
          </a:xfrm>
          <a:prstGeom prst="rect">
            <a:avLst/>
          </a:prstGeom>
          <a:noFill/>
          <a:ln>
            <a:noFill/>
          </a:ln>
        </p:spPr>
      </p:pic>
      <p:sp>
        <p:nvSpPr>
          <p:cNvPr id="966" name="Google Shape;966;p77"/>
          <p:cNvSpPr txBox="1"/>
          <p:nvPr/>
        </p:nvSpPr>
        <p:spPr>
          <a:xfrm>
            <a:off x="667550" y="24149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sz="1800">
              <a:latin typeface="Lexend"/>
              <a:ea typeface="Lexend"/>
              <a:cs typeface="Lexend"/>
              <a:sym typeface="Lexend"/>
            </a:endParaRPr>
          </a:p>
        </p:txBody>
      </p:sp>
      <p:sp>
        <p:nvSpPr>
          <p:cNvPr id="967" name="Google Shape;967;p77"/>
          <p:cNvSpPr txBox="1"/>
          <p:nvPr/>
        </p:nvSpPr>
        <p:spPr>
          <a:xfrm>
            <a:off x="7575550" y="240493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a:t>
            </a:r>
            <a:endParaRPr sz="1800">
              <a:latin typeface="Lexend"/>
              <a:ea typeface="Lexend"/>
              <a:cs typeface="Lexend"/>
              <a:sym typeface="Lexend"/>
            </a:endParaRPr>
          </a:p>
        </p:txBody>
      </p:sp>
      <p:sp>
        <p:nvSpPr>
          <p:cNvPr id="968" name="Google Shape;968;p77"/>
          <p:cNvSpPr txBox="1"/>
          <p:nvPr>
            <p:ph idx="1" type="body"/>
          </p:nvPr>
        </p:nvSpPr>
        <p:spPr>
          <a:xfrm>
            <a:off x="4955775" y="1080000"/>
            <a:ext cx="2709900" cy="51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Easy! Just find 5% by halving 10%</a:t>
            </a:r>
            <a:endParaRPr/>
          </a:p>
        </p:txBody>
      </p:sp>
      <p:graphicFrame>
        <p:nvGraphicFramePr>
          <p:cNvPr id="969" name="Google Shape;969;p77"/>
          <p:cNvGraphicFramePr/>
          <p:nvPr/>
        </p:nvGraphicFramePr>
        <p:xfrm>
          <a:off x="667550" y="3399000"/>
          <a:ext cx="3000000" cy="3000000"/>
        </p:xfrm>
        <a:graphic>
          <a:graphicData uri="http://schemas.openxmlformats.org/drawingml/2006/table">
            <a:tbl>
              <a:tblPr>
                <a:noFill/>
                <a:tableStyleId>{5676FB72-93CE-4E66-9494-FAFA15B1102A}</a:tableStyleId>
              </a:tblPr>
              <a:tblGrid>
                <a:gridCol w="573425"/>
                <a:gridCol w="573425"/>
                <a:gridCol w="573425"/>
                <a:gridCol w="573425"/>
                <a:gridCol w="573425"/>
                <a:gridCol w="573425"/>
                <a:gridCol w="573425"/>
                <a:gridCol w="573425"/>
                <a:gridCol w="573425"/>
                <a:gridCol w="5734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graphicFrame>
        <p:nvGraphicFramePr>
          <p:cNvPr id="970" name="Google Shape;970;p77"/>
          <p:cNvGraphicFramePr/>
          <p:nvPr/>
        </p:nvGraphicFramePr>
        <p:xfrm>
          <a:off x="667550" y="3399006"/>
          <a:ext cx="3000000" cy="3000000"/>
        </p:xfrm>
        <a:graphic>
          <a:graphicData uri="http://schemas.openxmlformats.org/drawingml/2006/table">
            <a:tbl>
              <a:tblPr>
                <a:noFill/>
                <a:tableStyleId>{5676FB72-93CE-4E66-9494-FAFA15B1102A}</a:tableStyleId>
              </a:tblPr>
              <a:tblGrid>
                <a:gridCol w="5734250"/>
              </a:tblGrid>
              <a:tr h="613500">
                <a:tc>
                  <a:txBody>
                    <a:bodyPr/>
                    <a:lstStyle/>
                    <a:p>
                      <a:pPr indent="0" lvl="0" marL="0" rtl="0" algn="ctr">
                        <a:spcBef>
                          <a:spcPts val="0"/>
                        </a:spcBef>
                        <a:spcAft>
                          <a:spcPts val="0"/>
                        </a:spcAft>
                        <a:buNone/>
                      </a:pPr>
                      <a:r>
                        <a:rPr lang="en-GB" sz="2700">
                          <a:latin typeface="Lexend"/>
                          <a:ea typeface="Lexend"/>
                          <a:cs typeface="Lexend"/>
                          <a:sym typeface="Lexend"/>
                        </a:rPr>
                        <a:t>£240</a:t>
                      </a:r>
                      <a:endParaRPr sz="27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971" name="Google Shape;971;p77"/>
          <p:cNvSpPr/>
          <p:nvPr/>
        </p:nvSpPr>
        <p:spPr>
          <a:xfrm rot="5400000">
            <a:off x="894675" y="2988375"/>
            <a:ext cx="136200" cy="552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2" name="Google Shape;972;p77"/>
          <p:cNvSpPr txBox="1"/>
          <p:nvPr/>
        </p:nvSpPr>
        <p:spPr>
          <a:xfrm>
            <a:off x="537201" y="2940558"/>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grpSp>
        <p:nvGrpSpPr>
          <p:cNvPr id="973" name="Google Shape;973;p77"/>
          <p:cNvGrpSpPr/>
          <p:nvPr/>
        </p:nvGrpSpPr>
        <p:grpSpPr>
          <a:xfrm>
            <a:off x="667506" y="4088677"/>
            <a:ext cx="5734027" cy="565946"/>
            <a:chOff x="889825" y="3483600"/>
            <a:chExt cx="5213700" cy="565946"/>
          </a:xfrm>
        </p:grpSpPr>
        <p:sp>
          <p:nvSpPr>
            <p:cNvPr id="974" name="Google Shape;974;p77"/>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5" name="Google Shape;975;p77"/>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sp>
        <p:nvSpPr>
          <p:cNvPr id="976" name="Google Shape;976;p77"/>
          <p:cNvSpPr/>
          <p:nvPr/>
        </p:nvSpPr>
        <p:spPr>
          <a:xfrm rot="5400000">
            <a:off x="1447514" y="2988375"/>
            <a:ext cx="136200" cy="552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7" name="Google Shape;977;p77"/>
          <p:cNvSpPr txBox="1"/>
          <p:nvPr/>
        </p:nvSpPr>
        <p:spPr>
          <a:xfrm>
            <a:off x="1090040" y="2940558"/>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78" name="Google Shape;978;p77"/>
          <p:cNvSpPr/>
          <p:nvPr/>
        </p:nvSpPr>
        <p:spPr>
          <a:xfrm rot="5400000">
            <a:off x="2009825" y="2978775"/>
            <a:ext cx="136200" cy="5721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9" name="Google Shape;979;p77"/>
          <p:cNvSpPr txBox="1"/>
          <p:nvPr/>
        </p:nvSpPr>
        <p:spPr>
          <a:xfrm>
            <a:off x="1662317" y="2940558"/>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80" name="Google Shape;980;p77"/>
          <p:cNvSpPr/>
          <p:nvPr/>
        </p:nvSpPr>
        <p:spPr>
          <a:xfrm rot="5400000">
            <a:off x="2592514" y="2968575"/>
            <a:ext cx="136200" cy="5925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1" name="Google Shape;981;p77"/>
          <p:cNvSpPr txBox="1"/>
          <p:nvPr/>
        </p:nvSpPr>
        <p:spPr>
          <a:xfrm>
            <a:off x="2224876" y="2940558"/>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82" name="Google Shape;982;p77"/>
          <p:cNvSpPr/>
          <p:nvPr/>
        </p:nvSpPr>
        <p:spPr>
          <a:xfrm rot="5400000">
            <a:off x="3173601" y="2991864"/>
            <a:ext cx="136200" cy="552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3" name="Google Shape;983;p77"/>
          <p:cNvSpPr txBox="1"/>
          <p:nvPr/>
        </p:nvSpPr>
        <p:spPr>
          <a:xfrm>
            <a:off x="2816128" y="2944047"/>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84" name="Google Shape;984;p77"/>
          <p:cNvSpPr/>
          <p:nvPr/>
        </p:nvSpPr>
        <p:spPr>
          <a:xfrm rot="5400000">
            <a:off x="3726440" y="2991864"/>
            <a:ext cx="136200" cy="552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5" name="Google Shape;985;p77"/>
          <p:cNvSpPr txBox="1"/>
          <p:nvPr/>
        </p:nvSpPr>
        <p:spPr>
          <a:xfrm>
            <a:off x="3368966" y="2944047"/>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86" name="Google Shape;986;p77"/>
          <p:cNvSpPr/>
          <p:nvPr/>
        </p:nvSpPr>
        <p:spPr>
          <a:xfrm rot="5400000">
            <a:off x="4288751" y="2982264"/>
            <a:ext cx="136200" cy="5721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7" name="Google Shape;987;p77"/>
          <p:cNvSpPr txBox="1"/>
          <p:nvPr/>
        </p:nvSpPr>
        <p:spPr>
          <a:xfrm>
            <a:off x="3941244" y="2944047"/>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88" name="Google Shape;988;p77"/>
          <p:cNvSpPr/>
          <p:nvPr/>
        </p:nvSpPr>
        <p:spPr>
          <a:xfrm rot="5400000">
            <a:off x="4871441" y="2972064"/>
            <a:ext cx="136200" cy="5925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9" name="Google Shape;989;p77"/>
          <p:cNvSpPr txBox="1"/>
          <p:nvPr/>
        </p:nvSpPr>
        <p:spPr>
          <a:xfrm>
            <a:off x="4503802" y="2944047"/>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90" name="Google Shape;990;p77"/>
          <p:cNvSpPr/>
          <p:nvPr/>
        </p:nvSpPr>
        <p:spPr>
          <a:xfrm rot="5400000">
            <a:off x="5460910" y="2982264"/>
            <a:ext cx="136200" cy="5721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1" name="Google Shape;991;p77"/>
          <p:cNvSpPr txBox="1"/>
          <p:nvPr/>
        </p:nvSpPr>
        <p:spPr>
          <a:xfrm>
            <a:off x="5113402" y="2944047"/>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992" name="Google Shape;992;p77"/>
          <p:cNvSpPr/>
          <p:nvPr/>
        </p:nvSpPr>
        <p:spPr>
          <a:xfrm rot="5400000">
            <a:off x="6043599" y="2972064"/>
            <a:ext cx="136200" cy="5925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3" name="Google Shape;993;p77"/>
          <p:cNvSpPr txBox="1"/>
          <p:nvPr/>
        </p:nvSpPr>
        <p:spPr>
          <a:xfrm>
            <a:off x="5675960" y="2944047"/>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pic>
        <p:nvPicPr>
          <p:cNvPr id="994" name="Google Shape;994;p77"/>
          <p:cNvPicPr preferRelativeResize="0"/>
          <p:nvPr/>
        </p:nvPicPr>
        <p:blipFill>
          <a:blip r:embed="rId5">
            <a:alphaModFix/>
          </a:blip>
          <a:stretch>
            <a:fillRect/>
          </a:stretch>
        </p:blipFill>
        <p:spPr>
          <a:xfrm flipH="1">
            <a:off x="789687" y="1583887"/>
            <a:ext cx="727175" cy="8957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pic>
        <p:nvPicPr>
          <p:cNvPr id="999" name="Google Shape;999;p78"/>
          <p:cNvPicPr preferRelativeResize="0"/>
          <p:nvPr/>
        </p:nvPicPr>
        <p:blipFill rotWithShape="1">
          <a:blip r:embed="rId3">
            <a:alphaModFix/>
          </a:blip>
          <a:srcRect b="43690" l="0" r="57905" t="0"/>
          <a:stretch/>
        </p:blipFill>
        <p:spPr>
          <a:xfrm flipH="1">
            <a:off x="1239174" y="703675"/>
            <a:ext cx="3380751" cy="1610449"/>
          </a:xfrm>
          <a:prstGeom prst="rect">
            <a:avLst/>
          </a:prstGeom>
          <a:noFill/>
          <a:ln>
            <a:noFill/>
          </a:ln>
        </p:spPr>
      </p:pic>
      <p:sp>
        <p:nvSpPr>
          <p:cNvPr id="1000" name="Google Shape;1000;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pic>
        <p:nvPicPr>
          <p:cNvPr id="1001" name="Google Shape;1001;p78"/>
          <p:cNvPicPr preferRelativeResize="0"/>
          <p:nvPr/>
        </p:nvPicPr>
        <p:blipFill rotWithShape="1">
          <a:blip r:embed="rId3">
            <a:alphaModFix/>
          </a:blip>
          <a:srcRect b="4760" l="40550" r="0" t="13015"/>
          <a:stretch/>
        </p:blipFill>
        <p:spPr>
          <a:xfrm flipH="1">
            <a:off x="4824002" y="886200"/>
            <a:ext cx="2709898" cy="1350000"/>
          </a:xfrm>
          <a:prstGeom prst="rect">
            <a:avLst/>
          </a:prstGeom>
          <a:noFill/>
          <a:ln>
            <a:noFill/>
          </a:ln>
        </p:spPr>
      </p:pic>
      <p:pic>
        <p:nvPicPr>
          <p:cNvPr id="1002" name="Google Shape;1002;p78"/>
          <p:cNvPicPr preferRelativeResize="0"/>
          <p:nvPr/>
        </p:nvPicPr>
        <p:blipFill>
          <a:blip r:embed="rId4">
            <a:alphaModFix/>
          </a:blip>
          <a:stretch>
            <a:fillRect/>
          </a:stretch>
        </p:blipFill>
        <p:spPr>
          <a:xfrm>
            <a:off x="7614315" y="1601550"/>
            <a:ext cx="807760" cy="896090"/>
          </a:xfrm>
          <a:prstGeom prst="rect">
            <a:avLst/>
          </a:prstGeom>
          <a:noFill/>
          <a:ln>
            <a:noFill/>
          </a:ln>
        </p:spPr>
      </p:pic>
      <p:sp>
        <p:nvSpPr>
          <p:cNvPr id="1003" name="Google Shape;1003;p78"/>
          <p:cNvSpPr txBox="1"/>
          <p:nvPr/>
        </p:nvSpPr>
        <p:spPr>
          <a:xfrm>
            <a:off x="7575550" y="240493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a:t>
            </a:r>
            <a:endParaRPr sz="1800">
              <a:latin typeface="Lexend"/>
              <a:ea typeface="Lexend"/>
              <a:cs typeface="Lexend"/>
              <a:sym typeface="Lexend"/>
            </a:endParaRPr>
          </a:p>
        </p:txBody>
      </p:sp>
      <p:sp>
        <p:nvSpPr>
          <p:cNvPr id="1004" name="Google Shape;1004;p78"/>
          <p:cNvSpPr txBox="1"/>
          <p:nvPr>
            <p:ph idx="1" type="body"/>
          </p:nvPr>
        </p:nvSpPr>
        <p:spPr>
          <a:xfrm>
            <a:off x="4903550" y="1080000"/>
            <a:ext cx="2403300" cy="51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 what is 5% of £240?</a:t>
            </a:r>
            <a:endParaRPr/>
          </a:p>
        </p:txBody>
      </p:sp>
      <p:sp>
        <p:nvSpPr>
          <p:cNvPr id="1005" name="Google Shape;1005;p78"/>
          <p:cNvSpPr/>
          <p:nvPr/>
        </p:nvSpPr>
        <p:spPr>
          <a:xfrm rot="5400000">
            <a:off x="738200" y="3144850"/>
            <a:ext cx="149100" cy="290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6" name="Google Shape;1006;p78"/>
          <p:cNvSpPr txBox="1"/>
          <p:nvPr/>
        </p:nvSpPr>
        <p:spPr>
          <a:xfrm>
            <a:off x="477138" y="29251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5%</a:t>
            </a:r>
            <a:endParaRPr sz="1800">
              <a:solidFill>
                <a:srgbClr val="000000"/>
              </a:solidFill>
              <a:latin typeface="Lexend"/>
              <a:ea typeface="Lexend"/>
              <a:cs typeface="Lexend"/>
              <a:sym typeface="Lexend"/>
            </a:endParaRPr>
          </a:p>
        </p:txBody>
      </p:sp>
      <p:sp>
        <p:nvSpPr>
          <p:cNvPr id="1007" name="Google Shape;1007;p78"/>
          <p:cNvSpPr txBox="1"/>
          <p:nvPr>
            <p:ph idx="1" type="body"/>
          </p:nvPr>
        </p:nvSpPr>
        <p:spPr>
          <a:xfrm>
            <a:off x="1641870" y="802845"/>
            <a:ext cx="2858400" cy="313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10% is 24, so 5% is 12</a:t>
            </a:r>
            <a:endParaRPr/>
          </a:p>
          <a:p>
            <a:pPr indent="0" lvl="0" marL="0" rtl="0" algn="ctr">
              <a:spcBef>
                <a:spcPts val="1000"/>
              </a:spcBef>
              <a:spcAft>
                <a:spcPts val="1000"/>
              </a:spcAft>
              <a:buClr>
                <a:schemeClr val="dk1"/>
              </a:buClr>
              <a:buSzPts val="1100"/>
              <a:buFont typeface="Arial"/>
              <a:buNone/>
            </a:pPr>
            <a:r>
              <a:t/>
            </a:r>
            <a:endParaRPr/>
          </a:p>
        </p:txBody>
      </p:sp>
      <p:graphicFrame>
        <p:nvGraphicFramePr>
          <p:cNvPr id="1008" name="Google Shape;1008;p78"/>
          <p:cNvGraphicFramePr/>
          <p:nvPr/>
        </p:nvGraphicFramePr>
        <p:xfrm>
          <a:off x="667550" y="3399000"/>
          <a:ext cx="3000000" cy="3000000"/>
        </p:xfrm>
        <a:graphic>
          <a:graphicData uri="http://schemas.openxmlformats.org/drawingml/2006/table">
            <a:tbl>
              <a:tblPr>
                <a:noFill/>
                <a:tableStyleId>{5676FB72-93CE-4E66-9494-FAFA15B1102A}</a:tableStyleId>
              </a:tblPr>
              <a:tblGrid>
                <a:gridCol w="573425"/>
                <a:gridCol w="573425"/>
                <a:gridCol w="573425"/>
                <a:gridCol w="573425"/>
                <a:gridCol w="573425"/>
                <a:gridCol w="573425"/>
                <a:gridCol w="573425"/>
                <a:gridCol w="573425"/>
                <a:gridCol w="573425"/>
                <a:gridCol w="5734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graphicFrame>
        <p:nvGraphicFramePr>
          <p:cNvPr id="1009" name="Google Shape;1009;p78"/>
          <p:cNvGraphicFramePr/>
          <p:nvPr/>
        </p:nvGraphicFramePr>
        <p:xfrm>
          <a:off x="667550" y="3399006"/>
          <a:ext cx="3000000" cy="3000000"/>
        </p:xfrm>
        <a:graphic>
          <a:graphicData uri="http://schemas.openxmlformats.org/drawingml/2006/table">
            <a:tbl>
              <a:tblPr>
                <a:noFill/>
                <a:tableStyleId>{5676FB72-93CE-4E66-9494-FAFA15B1102A}</a:tableStyleId>
              </a:tblPr>
              <a:tblGrid>
                <a:gridCol w="5734250"/>
              </a:tblGrid>
              <a:tr h="613500">
                <a:tc>
                  <a:txBody>
                    <a:bodyPr/>
                    <a:lstStyle/>
                    <a:p>
                      <a:pPr indent="0" lvl="0" marL="0" rtl="0" algn="ctr">
                        <a:spcBef>
                          <a:spcPts val="0"/>
                        </a:spcBef>
                        <a:spcAft>
                          <a:spcPts val="0"/>
                        </a:spcAft>
                        <a:buNone/>
                      </a:pPr>
                      <a:r>
                        <a:t/>
                      </a:r>
                      <a:endParaRPr sz="27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pSp>
        <p:nvGrpSpPr>
          <p:cNvPr id="1010" name="Google Shape;1010;p78"/>
          <p:cNvGrpSpPr/>
          <p:nvPr/>
        </p:nvGrpSpPr>
        <p:grpSpPr>
          <a:xfrm>
            <a:off x="667506" y="4088677"/>
            <a:ext cx="5734027" cy="565946"/>
            <a:chOff x="889825" y="3483600"/>
            <a:chExt cx="5213700" cy="565946"/>
          </a:xfrm>
        </p:grpSpPr>
        <p:sp>
          <p:nvSpPr>
            <p:cNvPr id="1011" name="Google Shape;1011;p78"/>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2" name="Google Shape;1012;p78"/>
            <p:cNvSpPr txBox="1"/>
            <p:nvPr/>
          </p:nvSpPr>
          <p:spPr>
            <a:xfrm>
              <a:off x="2689241"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cxnSp>
        <p:nvCxnSpPr>
          <p:cNvPr id="1013" name="Google Shape;1013;p78"/>
          <p:cNvCxnSpPr/>
          <p:nvPr/>
        </p:nvCxnSpPr>
        <p:spPr>
          <a:xfrm>
            <a:off x="958975" y="3394225"/>
            <a:ext cx="0" cy="617100"/>
          </a:xfrm>
          <a:prstGeom prst="straightConnector1">
            <a:avLst/>
          </a:prstGeom>
          <a:noFill/>
          <a:ln cap="flat" cmpd="sng" w="28575">
            <a:solidFill>
              <a:schemeClr val="dk1"/>
            </a:solidFill>
            <a:prstDash val="dash"/>
            <a:round/>
            <a:headEnd len="med" w="med" type="none"/>
            <a:tailEnd len="med" w="med" type="none"/>
          </a:ln>
        </p:spPr>
      </p:cxnSp>
      <p:sp>
        <p:nvSpPr>
          <p:cNvPr id="1014" name="Google Shape;1014;p78"/>
          <p:cNvSpPr/>
          <p:nvPr/>
        </p:nvSpPr>
        <p:spPr>
          <a:xfrm rot="5400000">
            <a:off x="1447514" y="2988375"/>
            <a:ext cx="136200" cy="552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5" name="Google Shape;1015;p78"/>
          <p:cNvSpPr txBox="1"/>
          <p:nvPr/>
        </p:nvSpPr>
        <p:spPr>
          <a:xfrm>
            <a:off x="1090040" y="2925100"/>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016" name="Google Shape;1016;p78"/>
          <p:cNvSpPr txBox="1"/>
          <p:nvPr/>
        </p:nvSpPr>
        <p:spPr>
          <a:xfrm>
            <a:off x="565917" y="3450001"/>
            <a:ext cx="473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12</a:t>
            </a:r>
            <a:endParaRPr sz="2000"/>
          </a:p>
        </p:txBody>
      </p:sp>
      <p:sp>
        <p:nvSpPr>
          <p:cNvPr id="1017" name="Google Shape;1017;p78"/>
          <p:cNvSpPr txBox="1"/>
          <p:nvPr/>
        </p:nvSpPr>
        <p:spPr>
          <a:xfrm>
            <a:off x="1201040" y="3439875"/>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24</a:t>
            </a:r>
            <a:endParaRPr sz="2000"/>
          </a:p>
        </p:txBody>
      </p:sp>
      <p:sp>
        <p:nvSpPr>
          <p:cNvPr id="1018" name="Google Shape;1018;p78"/>
          <p:cNvSpPr txBox="1"/>
          <p:nvPr/>
        </p:nvSpPr>
        <p:spPr>
          <a:xfrm>
            <a:off x="2938150" y="4224600"/>
            <a:ext cx="1895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 £240</a:t>
            </a:r>
            <a:endParaRPr sz="900"/>
          </a:p>
        </p:txBody>
      </p:sp>
      <p:sp>
        <p:nvSpPr>
          <p:cNvPr id="1019" name="Google Shape;1019;p78"/>
          <p:cNvSpPr txBox="1"/>
          <p:nvPr/>
        </p:nvSpPr>
        <p:spPr>
          <a:xfrm>
            <a:off x="438950" y="24149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sz="1800">
              <a:latin typeface="Lexend"/>
              <a:ea typeface="Lexend"/>
              <a:cs typeface="Lexend"/>
              <a:sym typeface="Lexend"/>
            </a:endParaRPr>
          </a:p>
        </p:txBody>
      </p:sp>
      <p:pic>
        <p:nvPicPr>
          <p:cNvPr id="1020" name="Google Shape;1020;p78"/>
          <p:cNvPicPr preferRelativeResize="0"/>
          <p:nvPr/>
        </p:nvPicPr>
        <p:blipFill>
          <a:blip r:embed="rId5">
            <a:alphaModFix/>
          </a:blip>
          <a:stretch>
            <a:fillRect/>
          </a:stretch>
        </p:blipFill>
        <p:spPr>
          <a:xfrm flipH="1">
            <a:off x="561087" y="1583887"/>
            <a:ext cx="727175" cy="895749"/>
          </a:xfrm>
          <a:prstGeom prst="rect">
            <a:avLst/>
          </a:prstGeom>
          <a:noFill/>
          <a:ln>
            <a:noFill/>
          </a:ln>
        </p:spPr>
      </p:pic>
      <p:sp>
        <p:nvSpPr>
          <p:cNvPr id="1021" name="Google Shape;1021;p78"/>
          <p:cNvSpPr txBox="1"/>
          <p:nvPr/>
        </p:nvSpPr>
        <p:spPr>
          <a:xfrm>
            <a:off x="1481421" y="1135091"/>
            <a:ext cx="3000000" cy="91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Now I can increase £240 by 35%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graphicFrame>
        <p:nvGraphicFramePr>
          <p:cNvPr id="1027" name="Google Shape;1027;p79"/>
          <p:cNvGraphicFramePr/>
          <p:nvPr/>
        </p:nvGraphicFramePr>
        <p:xfrm>
          <a:off x="436475" y="3525725"/>
          <a:ext cx="3000000" cy="3000000"/>
        </p:xfrm>
        <a:graphic>
          <a:graphicData uri="http://schemas.openxmlformats.org/drawingml/2006/table">
            <a:tbl>
              <a:tblPr>
                <a:noFill/>
                <a:tableStyleId>{5676FB72-93CE-4E66-9494-FAFA15B1102A}</a:tableStyleId>
              </a:tblPr>
              <a:tblGrid>
                <a:gridCol w="573425"/>
                <a:gridCol w="573425"/>
                <a:gridCol w="573425"/>
                <a:gridCol w="573425"/>
                <a:gridCol w="573425"/>
                <a:gridCol w="573425"/>
                <a:gridCol w="573425"/>
                <a:gridCol w="573425"/>
                <a:gridCol w="573425"/>
                <a:gridCol w="5734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graphicFrame>
        <p:nvGraphicFramePr>
          <p:cNvPr id="1028" name="Google Shape;1028;p79"/>
          <p:cNvGraphicFramePr/>
          <p:nvPr/>
        </p:nvGraphicFramePr>
        <p:xfrm>
          <a:off x="429309" y="3518667"/>
          <a:ext cx="3000000" cy="3000000"/>
        </p:xfrm>
        <a:graphic>
          <a:graphicData uri="http://schemas.openxmlformats.org/drawingml/2006/table">
            <a:tbl>
              <a:tblPr>
                <a:noFill/>
                <a:tableStyleId>{5676FB72-93CE-4E66-9494-FAFA15B1102A}</a:tableStyleId>
              </a:tblPr>
              <a:tblGrid>
                <a:gridCol w="5734250"/>
              </a:tblGrid>
              <a:tr h="613500">
                <a:tc>
                  <a:txBody>
                    <a:bodyPr/>
                    <a:lstStyle/>
                    <a:p>
                      <a:pPr indent="0" lvl="0" marL="0" rtl="0" algn="ctr">
                        <a:spcBef>
                          <a:spcPts val="0"/>
                        </a:spcBef>
                        <a:spcAft>
                          <a:spcPts val="0"/>
                        </a:spcAft>
                        <a:buNone/>
                      </a:pPr>
                      <a:r>
                        <a:t/>
                      </a:r>
                      <a:endParaRPr sz="27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1029" name="Google Shape;1029;p79"/>
          <p:cNvSpPr/>
          <p:nvPr/>
        </p:nvSpPr>
        <p:spPr>
          <a:xfrm rot="-5400000">
            <a:off x="3195938" y="1317417"/>
            <a:ext cx="199800" cy="573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0" name="Google Shape;1030;p79"/>
          <p:cNvSpPr txBox="1"/>
          <p:nvPr/>
        </p:nvSpPr>
        <p:spPr>
          <a:xfrm>
            <a:off x="2165855" y="4367239"/>
            <a:ext cx="1442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aphicFrame>
        <p:nvGraphicFramePr>
          <p:cNvPr id="1031" name="Google Shape;1031;p79"/>
          <p:cNvGraphicFramePr/>
          <p:nvPr/>
        </p:nvGraphicFramePr>
        <p:xfrm>
          <a:off x="6170725" y="3516275"/>
          <a:ext cx="3000000" cy="3000000"/>
        </p:xfrm>
        <a:graphic>
          <a:graphicData uri="http://schemas.openxmlformats.org/drawingml/2006/table">
            <a:tbl>
              <a:tblPr>
                <a:noFill/>
                <a:tableStyleId>{5676FB72-93CE-4E66-9494-FAFA15B1102A}</a:tableStyleId>
              </a:tblPr>
              <a:tblGrid>
                <a:gridCol w="573425"/>
                <a:gridCol w="573425"/>
                <a:gridCol w="5734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sp>
        <p:nvSpPr>
          <p:cNvPr id="1032" name="Google Shape;1032;p79"/>
          <p:cNvSpPr txBox="1"/>
          <p:nvPr/>
        </p:nvSpPr>
        <p:spPr>
          <a:xfrm>
            <a:off x="6170715" y="358951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24</a:t>
            </a:r>
            <a:endParaRPr sz="2000"/>
          </a:p>
        </p:txBody>
      </p:sp>
      <p:sp>
        <p:nvSpPr>
          <p:cNvPr id="1033" name="Google Shape;1033;p79"/>
          <p:cNvSpPr txBox="1"/>
          <p:nvPr/>
        </p:nvSpPr>
        <p:spPr>
          <a:xfrm>
            <a:off x="6722572" y="358951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24</a:t>
            </a:r>
            <a:endParaRPr sz="2000"/>
          </a:p>
        </p:txBody>
      </p:sp>
      <p:sp>
        <p:nvSpPr>
          <p:cNvPr id="1034" name="Google Shape;1034;p79"/>
          <p:cNvSpPr txBox="1"/>
          <p:nvPr/>
        </p:nvSpPr>
        <p:spPr>
          <a:xfrm>
            <a:off x="7268265" y="358951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24</a:t>
            </a:r>
            <a:endParaRPr sz="2000"/>
          </a:p>
        </p:txBody>
      </p:sp>
      <p:sp>
        <p:nvSpPr>
          <p:cNvPr id="1035" name="Google Shape;1035;p79"/>
          <p:cNvSpPr/>
          <p:nvPr/>
        </p:nvSpPr>
        <p:spPr>
          <a:xfrm rot="5400000">
            <a:off x="6946621" y="2508100"/>
            <a:ext cx="174000" cy="170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6" name="Google Shape;1036;p79"/>
          <p:cNvSpPr txBox="1"/>
          <p:nvPr/>
        </p:nvSpPr>
        <p:spPr>
          <a:xfrm>
            <a:off x="6547216" y="2920458"/>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30%</a:t>
            </a:r>
            <a:endParaRPr sz="1800">
              <a:solidFill>
                <a:srgbClr val="000000"/>
              </a:solidFill>
              <a:latin typeface="Lexend"/>
              <a:ea typeface="Lexend"/>
              <a:cs typeface="Lexend"/>
              <a:sym typeface="Lexend"/>
            </a:endParaRPr>
          </a:p>
        </p:txBody>
      </p:sp>
      <p:graphicFrame>
        <p:nvGraphicFramePr>
          <p:cNvPr id="1037" name="Google Shape;1037;p79"/>
          <p:cNvGraphicFramePr/>
          <p:nvPr/>
        </p:nvGraphicFramePr>
        <p:xfrm>
          <a:off x="7898175" y="3515820"/>
          <a:ext cx="3000000" cy="3000000"/>
        </p:xfrm>
        <a:graphic>
          <a:graphicData uri="http://schemas.openxmlformats.org/drawingml/2006/table">
            <a:tbl>
              <a:tblPr>
                <a:noFill/>
                <a:tableStyleId>{5676FB72-93CE-4E66-9494-FAFA15B1102A}</a:tableStyleId>
              </a:tblPr>
              <a:tblGrid>
                <a:gridCol w="286725"/>
                <a:gridCol w="2867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alpha val="0"/>
                        </a:schemeClr>
                      </a:solidFill>
                      <a:prstDash val="solid"/>
                      <a:round/>
                      <a:headEnd len="sm" w="sm" type="none"/>
                      <a:tailEnd len="sm" w="sm" type="none"/>
                    </a:lnT>
                    <a:lnB cap="flat" cmpd="sng" w="28575">
                      <a:solidFill>
                        <a:schemeClr val="dk1">
                          <a:alpha val="0"/>
                        </a:schemeClr>
                      </a:solidFill>
                      <a:prstDash val="solid"/>
                      <a:round/>
                      <a:headEnd len="sm" w="sm" type="none"/>
                      <a:tailEnd len="sm" w="sm" type="none"/>
                    </a:lnB>
                  </a:tcPr>
                </a:tc>
              </a:tr>
            </a:tbl>
          </a:graphicData>
        </a:graphic>
      </p:graphicFrame>
      <p:sp>
        <p:nvSpPr>
          <p:cNvPr id="1038" name="Google Shape;1038;p79"/>
          <p:cNvSpPr/>
          <p:nvPr/>
        </p:nvSpPr>
        <p:spPr>
          <a:xfrm rot="5400000">
            <a:off x="7960415" y="3202530"/>
            <a:ext cx="149100" cy="290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9" name="Google Shape;1039;p79"/>
          <p:cNvSpPr txBox="1"/>
          <p:nvPr/>
        </p:nvSpPr>
        <p:spPr>
          <a:xfrm>
            <a:off x="7699353" y="2947005"/>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5%</a:t>
            </a:r>
            <a:endParaRPr sz="1800">
              <a:solidFill>
                <a:srgbClr val="000000"/>
              </a:solidFill>
              <a:latin typeface="Lexend"/>
              <a:ea typeface="Lexend"/>
              <a:cs typeface="Lexend"/>
              <a:sym typeface="Lexend"/>
            </a:endParaRPr>
          </a:p>
        </p:txBody>
      </p:sp>
      <p:sp>
        <p:nvSpPr>
          <p:cNvPr id="1040" name="Google Shape;1040;p79"/>
          <p:cNvSpPr txBox="1"/>
          <p:nvPr/>
        </p:nvSpPr>
        <p:spPr>
          <a:xfrm>
            <a:off x="7792301" y="3563544"/>
            <a:ext cx="473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12</a:t>
            </a:r>
            <a:endParaRPr sz="2000"/>
          </a:p>
        </p:txBody>
      </p:sp>
      <p:sp>
        <p:nvSpPr>
          <p:cNvPr id="1041" name="Google Shape;1041;p79"/>
          <p:cNvSpPr txBox="1"/>
          <p:nvPr/>
        </p:nvSpPr>
        <p:spPr>
          <a:xfrm>
            <a:off x="2462337" y="4253535"/>
            <a:ext cx="1895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 £240</a:t>
            </a:r>
            <a:endParaRPr sz="900"/>
          </a:p>
        </p:txBody>
      </p:sp>
      <p:pic>
        <p:nvPicPr>
          <p:cNvPr id="1042" name="Google Shape;1042;p79"/>
          <p:cNvPicPr preferRelativeResize="0"/>
          <p:nvPr/>
        </p:nvPicPr>
        <p:blipFill rotWithShape="1">
          <a:blip r:embed="rId3">
            <a:alphaModFix/>
          </a:blip>
          <a:srcRect b="43690" l="0" r="57905" t="0"/>
          <a:stretch/>
        </p:blipFill>
        <p:spPr>
          <a:xfrm flipH="1">
            <a:off x="898152" y="1079999"/>
            <a:ext cx="2709898" cy="1169900"/>
          </a:xfrm>
          <a:prstGeom prst="rect">
            <a:avLst/>
          </a:prstGeom>
          <a:noFill/>
          <a:ln>
            <a:noFill/>
          </a:ln>
        </p:spPr>
      </p:pic>
      <p:sp>
        <p:nvSpPr>
          <p:cNvPr id="1043" name="Google Shape;1043;p79"/>
          <p:cNvSpPr txBox="1"/>
          <p:nvPr/>
        </p:nvSpPr>
        <p:spPr>
          <a:xfrm>
            <a:off x="1192578" y="1234257"/>
            <a:ext cx="2221200" cy="3831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None/>
            </a:pPr>
            <a:r>
              <a:rPr lang="en-GB" sz="2200">
                <a:solidFill>
                  <a:srgbClr val="000000"/>
                </a:solidFill>
                <a:latin typeface="Lexend"/>
                <a:ea typeface="Lexend"/>
                <a:cs typeface="Lexend"/>
                <a:sym typeface="Lexend"/>
              </a:rPr>
              <a:t>240 + 24 × 3 + 12 = £324</a:t>
            </a:r>
            <a:endParaRPr sz="2200">
              <a:solidFill>
                <a:srgbClr val="000000"/>
              </a:solidFill>
              <a:latin typeface="Lexend"/>
              <a:ea typeface="Lexend"/>
              <a:cs typeface="Lexend"/>
              <a:sym typeface="Lexend"/>
            </a:endParaRPr>
          </a:p>
        </p:txBody>
      </p:sp>
      <p:pic>
        <p:nvPicPr>
          <p:cNvPr id="1044" name="Google Shape;1044;p79"/>
          <p:cNvPicPr preferRelativeResize="0"/>
          <p:nvPr/>
        </p:nvPicPr>
        <p:blipFill rotWithShape="1">
          <a:blip r:embed="rId3">
            <a:alphaModFix/>
          </a:blip>
          <a:srcRect b="4760" l="40550" r="0" t="13015"/>
          <a:stretch/>
        </p:blipFill>
        <p:spPr>
          <a:xfrm flipH="1">
            <a:off x="5392188" y="652609"/>
            <a:ext cx="2709898" cy="2134550"/>
          </a:xfrm>
          <a:prstGeom prst="rect">
            <a:avLst/>
          </a:prstGeom>
          <a:noFill/>
          <a:ln>
            <a:noFill/>
          </a:ln>
        </p:spPr>
      </p:pic>
      <p:pic>
        <p:nvPicPr>
          <p:cNvPr id="1045" name="Google Shape;1045;p79"/>
          <p:cNvPicPr preferRelativeResize="0"/>
          <p:nvPr/>
        </p:nvPicPr>
        <p:blipFill>
          <a:blip r:embed="rId4">
            <a:alphaModFix/>
          </a:blip>
          <a:stretch>
            <a:fillRect/>
          </a:stretch>
        </p:blipFill>
        <p:spPr>
          <a:xfrm>
            <a:off x="7997715" y="1616613"/>
            <a:ext cx="807760" cy="896090"/>
          </a:xfrm>
          <a:prstGeom prst="rect">
            <a:avLst/>
          </a:prstGeom>
          <a:noFill/>
          <a:ln>
            <a:noFill/>
          </a:ln>
        </p:spPr>
      </p:pic>
      <p:sp>
        <p:nvSpPr>
          <p:cNvPr id="1046" name="Google Shape;1046;p79"/>
          <p:cNvSpPr txBox="1"/>
          <p:nvPr/>
        </p:nvSpPr>
        <p:spPr>
          <a:xfrm>
            <a:off x="7958950" y="254323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a:t>
            </a:r>
            <a:endParaRPr sz="1800">
              <a:latin typeface="Lexend"/>
              <a:ea typeface="Lexend"/>
              <a:cs typeface="Lexend"/>
              <a:sym typeface="Lexend"/>
            </a:endParaRPr>
          </a:p>
        </p:txBody>
      </p:sp>
      <p:sp>
        <p:nvSpPr>
          <p:cNvPr id="1047" name="Google Shape;1047;p79"/>
          <p:cNvSpPr txBox="1"/>
          <p:nvPr/>
        </p:nvSpPr>
        <p:spPr>
          <a:xfrm>
            <a:off x="5451925" y="865677"/>
            <a:ext cx="2403300" cy="5181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None/>
            </a:pPr>
            <a:r>
              <a:rPr lang="en-GB" sz="2200">
                <a:solidFill>
                  <a:srgbClr val="000000"/>
                </a:solidFill>
                <a:latin typeface="Lexend"/>
                <a:ea typeface="Lexend"/>
                <a:cs typeface="Lexend"/>
                <a:sym typeface="Lexend"/>
              </a:rPr>
              <a:t>So what is the answer when you increase £240 by 35%?</a:t>
            </a:r>
            <a:endParaRPr sz="2200">
              <a:solidFill>
                <a:srgbClr val="000000"/>
              </a:solidFill>
              <a:latin typeface="Lexend"/>
              <a:ea typeface="Lexend"/>
              <a:cs typeface="Lexend"/>
              <a:sym typeface="Lexend"/>
            </a:endParaRPr>
          </a:p>
        </p:txBody>
      </p:sp>
      <p:pic>
        <p:nvPicPr>
          <p:cNvPr id="1048" name="Google Shape;1048;p79"/>
          <p:cNvPicPr preferRelativeResize="0"/>
          <p:nvPr/>
        </p:nvPicPr>
        <p:blipFill>
          <a:blip r:embed="rId5">
            <a:alphaModFix/>
          </a:blip>
          <a:stretch>
            <a:fillRect/>
          </a:stretch>
        </p:blipFill>
        <p:spPr>
          <a:xfrm flipH="1">
            <a:off x="170962" y="1680787"/>
            <a:ext cx="727175" cy="895749"/>
          </a:xfrm>
          <a:prstGeom prst="rect">
            <a:avLst/>
          </a:prstGeom>
          <a:noFill/>
          <a:ln>
            <a:noFill/>
          </a:ln>
        </p:spPr>
      </p:pic>
      <p:sp>
        <p:nvSpPr>
          <p:cNvPr id="1049" name="Google Shape;1049;p79"/>
          <p:cNvSpPr/>
          <p:nvPr/>
        </p:nvSpPr>
        <p:spPr>
          <a:xfrm rot="-5400000">
            <a:off x="4208305" y="313524"/>
            <a:ext cx="199800" cy="77553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0" name="Google Shape;1050;p79"/>
          <p:cNvSpPr txBox="1"/>
          <p:nvPr/>
        </p:nvSpPr>
        <p:spPr>
          <a:xfrm>
            <a:off x="4051585" y="4345774"/>
            <a:ext cx="1951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135 % = £324</a:t>
            </a:r>
            <a:endParaRPr sz="2200">
              <a:solidFill>
                <a:srgbClr val="000000"/>
              </a:solidFill>
              <a:latin typeface="Lexend"/>
              <a:ea typeface="Lexend"/>
              <a:cs typeface="Lexend"/>
              <a:sym typeface="Lexend"/>
            </a:endParaRPr>
          </a:p>
        </p:txBody>
      </p:sp>
      <p:sp>
        <p:nvSpPr>
          <p:cNvPr id="1051" name="Google Shape;1051;p79"/>
          <p:cNvSpPr txBox="1"/>
          <p:nvPr/>
        </p:nvSpPr>
        <p:spPr>
          <a:xfrm>
            <a:off x="400275" y="2716400"/>
            <a:ext cx="5602800" cy="52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We say that 135% of £240 is £324</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2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3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80"/>
          <p:cNvSpPr txBox="1"/>
          <p:nvPr>
            <p:ph idx="1" type="body"/>
          </p:nvPr>
        </p:nvSpPr>
        <p:spPr>
          <a:xfrm>
            <a:off x="324000" y="759300"/>
            <a:ext cx="8237700" cy="41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By drawing a bar model, work out 155% of 120</a:t>
            </a:r>
            <a:endParaRPr/>
          </a:p>
        </p:txBody>
      </p:sp>
      <p:sp>
        <p:nvSpPr>
          <p:cNvPr id="1057" name="Google Shape;1057;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graphicFrame>
        <p:nvGraphicFramePr>
          <p:cNvPr id="1058" name="Google Shape;1058;p80"/>
          <p:cNvGraphicFramePr/>
          <p:nvPr/>
        </p:nvGraphicFramePr>
        <p:xfrm>
          <a:off x="428863" y="1838650"/>
          <a:ext cx="3000000" cy="3000000"/>
        </p:xfrm>
        <a:graphic>
          <a:graphicData uri="http://schemas.openxmlformats.org/drawingml/2006/table">
            <a:tbl>
              <a:tblPr>
                <a:noFill/>
                <a:tableStyleId>{5676FB72-93CE-4E66-9494-FAFA15B1102A}</a:tableStyleId>
              </a:tblPr>
              <a:tblGrid>
                <a:gridCol w="536325"/>
                <a:gridCol w="536325"/>
                <a:gridCol w="536325"/>
                <a:gridCol w="536325"/>
                <a:gridCol w="536325"/>
                <a:gridCol w="536325"/>
                <a:gridCol w="536325"/>
                <a:gridCol w="536325"/>
                <a:gridCol w="536325"/>
                <a:gridCol w="536325"/>
                <a:gridCol w="536325"/>
                <a:gridCol w="536325"/>
                <a:gridCol w="536325"/>
                <a:gridCol w="536325"/>
                <a:gridCol w="5363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graphicFrame>
        <p:nvGraphicFramePr>
          <p:cNvPr id="1059" name="Google Shape;1059;p80"/>
          <p:cNvGraphicFramePr/>
          <p:nvPr/>
        </p:nvGraphicFramePr>
        <p:xfrm>
          <a:off x="428871" y="1839285"/>
          <a:ext cx="3000000" cy="3000000"/>
        </p:xfrm>
        <a:graphic>
          <a:graphicData uri="http://schemas.openxmlformats.org/drawingml/2006/table">
            <a:tbl>
              <a:tblPr>
                <a:noFill/>
                <a:tableStyleId>{5676FB72-93CE-4E66-9494-FAFA15B1102A}</a:tableStyleId>
              </a:tblPr>
              <a:tblGrid>
                <a:gridCol w="5363350"/>
              </a:tblGrid>
              <a:tr h="613500">
                <a:tc>
                  <a:txBody>
                    <a:bodyPr/>
                    <a:lstStyle/>
                    <a:p>
                      <a:pPr indent="0" lvl="0" marL="0" rtl="0" algn="ctr">
                        <a:spcBef>
                          <a:spcPts val="0"/>
                        </a:spcBef>
                        <a:spcAft>
                          <a:spcPts val="0"/>
                        </a:spcAft>
                        <a:buNone/>
                      </a:pPr>
                      <a:r>
                        <a:rPr lang="en-GB" sz="2700">
                          <a:latin typeface="Lexend"/>
                          <a:ea typeface="Lexend"/>
                          <a:cs typeface="Lexend"/>
                          <a:sym typeface="Lexend"/>
                        </a:rPr>
                        <a:t>120</a:t>
                      </a:r>
                      <a:endParaRPr sz="27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pSp>
        <p:nvGrpSpPr>
          <p:cNvPr id="1060" name="Google Shape;1060;p80"/>
          <p:cNvGrpSpPr/>
          <p:nvPr/>
        </p:nvGrpSpPr>
        <p:grpSpPr>
          <a:xfrm>
            <a:off x="428830" y="2604502"/>
            <a:ext cx="5363333" cy="565946"/>
            <a:chOff x="889825" y="3483600"/>
            <a:chExt cx="5213700" cy="565946"/>
          </a:xfrm>
        </p:grpSpPr>
        <p:sp>
          <p:nvSpPr>
            <p:cNvPr id="1061" name="Google Shape;1061;p80"/>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2" name="Google Shape;1062;p80"/>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sp>
        <p:nvSpPr>
          <p:cNvPr id="1063" name="Google Shape;1063;p80"/>
          <p:cNvSpPr txBox="1"/>
          <p:nvPr/>
        </p:nvSpPr>
        <p:spPr>
          <a:xfrm>
            <a:off x="5705653" y="190856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12</a:t>
            </a:r>
            <a:endParaRPr sz="2000"/>
          </a:p>
        </p:txBody>
      </p:sp>
      <p:sp>
        <p:nvSpPr>
          <p:cNvPr id="1064" name="Google Shape;1064;p80"/>
          <p:cNvSpPr/>
          <p:nvPr/>
        </p:nvSpPr>
        <p:spPr>
          <a:xfrm rot="5400000">
            <a:off x="7048775" y="304980"/>
            <a:ext cx="126000" cy="26745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5" name="Google Shape;1065;p80"/>
          <p:cNvSpPr txBox="1"/>
          <p:nvPr/>
        </p:nvSpPr>
        <p:spPr>
          <a:xfrm>
            <a:off x="6714703" y="1294170"/>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50%</a:t>
            </a:r>
            <a:endParaRPr sz="1800">
              <a:solidFill>
                <a:srgbClr val="000000"/>
              </a:solidFill>
              <a:latin typeface="Lexend"/>
              <a:ea typeface="Lexend"/>
              <a:cs typeface="Lexend"/>
              <a:sym typeface="Lexend"/>
            </a:endParaRPr>
          </a:p>
        </p:txBody>
      </p:sp>
      <p:graphicFrame>
        <p:nvGraphicFramePr>
          <p:cNvPr id="1066" name="Google Shape;1066;p80"/>
          <p:cNvGraphicFramePr/>
          <p:nvPr/>
        </p:nvGraphicFramePr>
        <p:xfrm>
          <a:off x="8479632" y="1837438"/>
          <a:ext cx="3000000" cy="3000000"/>
        </p:xfrm>
        <a:graphic>
          <a:graphicData uri="http://schemas.openxmlformats.org/drawingml/2006/table">
            <a:tbl>
              <a:tblPr>
                <a:noFill/>
                <a:tableStyleId>{5676FB72-93CE-4E66-9494-FAFA15B1102A}</a:tableStyleId>
              </a:tblPr>
              <a:tblGrid>
                <a:gridCol w="286725"/>
                <a:gridCol w="2867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alpha val="0"/>
                        </a:schemeClr>
                      </a:solidFill>
                      <a:prstDash val="solid"/>
                      <a:round/>
                      <a:headEnd len="sm" w="sm" type="none"/>
                      <a:tailEnd len="sm" w="sm" type="none"/>
                    </a:lnT>
                    <a:lnB cap="flat" cmpd="sng" w="28575">
                      <a:solidFill>
                        <a:schemeClr val="dk1">
                          <a:alpha val="0"/>
                        </a:schemeClr>
                      </a:solidFill>
                      <a:prstDash val="solid"/>
                      <a:round/>
                      <a:headEnd len="sm" w="sm" type="none"/>
                      <a:tailEnd len="sm" w="sm" type="none"/>
                    </a:lnB>
                  </a:tcPr>
                </a:tc>
              </a:tr>
            </a:tbl>
          </a:graphicData>
        </a:graphic>
      </p:graphicFrame>
      <p:sp>
        <p:nvSpPr>
          <p:cNvPr id="1067" name="Google Shape;1067;p80"/>
          <p:cNvSpPr/>
          <p:nvPr/>
        </p:nvSpPr>
        <p:spPr>
          <a:xfrm rot="5400000">
            <a:off x="8513063" y="1513925"/>
            <a:ext cx="149100" cy="290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8" name="Google Shape;1068;p80"/>
          <p:cNvSpPr txBox="1"/>
          <p:nvPr/>
        </p:nvSpPr>
        <p:spPr>
          <a:xfrm>
            <a:off x="8252001" y="1294175"/>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5%</a:t>
            </a:r>
            <a:endParaRPr sz="1800">
              <a:solidFill>
                <a:srgbClr val="000000"/>
              </a:solidFill>
              <a:latin typeface="Lexend"/>
              <a:ea typeface="Lexend"/>
              <a:cs typeface="Lexend"/>
              <a:sym typeface="Lexend"/>
            </a:endParaRPr>
          </a:p>
        </p:txBody>
      </p:sp>
      <p:sp>
        <p:nvSpPr>
          <p:cNvPr id="1069" name="Google Shape;1069;p80"/>
          <p:cNvSpPr txBox="1"/>
          <p:nvPr/>
        </p:nvSpPr>
        <p:spPr>
          <a:xfrm>
            <a:off x="6239053" y="190856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12</a:t>
            </a:r>
            <a:endParaRPr sz="2000"/>
          </a:p>
        </p:txBody>
      </p:sp>
      <p:sp>
        <p:nvSpPr>
          <p:cNvPr id="1070" name="Google Shape;1070;p80"/>
          <p:cNvSpPr txBox="1"/>
          <p:nvPr/>
        </p:nvSpPr>
        <p:spPr>
          <a:xfrm>
            <a:off x="6772453" y="190856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12</a:t>
            </a:r>
            <a:endParaRPr sz="2000"/>
          </a:p>
        </p:txBody>
      </p:sp>
      <p:sp>
        <p:nvSpPr>
          <p:cNvPr id="1071" name="Google Shape;1071;p80"/>
          <p:cNvSpPr txBox="1"/>
          <p:nvPr/>
        </p:nvSpPr>
        <p:spPr>
          <a:xfrm>
            <a:off x="7305853" y="190856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12</a:t>
            </a:r>
            <a:endParaRPr sz="2000"/>
          </a:p>
        </p:txBody>
      </p:sp>
      <p:sp>
        <p:nvSpPr>
          <p:cNvPr id="1072" name="Google Shape;1072;p80"/>
          <p:cNvSpPr txBox="1"/>
          <p:nvPr/>
        </p:nvSpPr>
        <p:spPr>
          <a:xfrm>
            <a:off x="7839253" y="190856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12</a:t>
            </a:r>
            <a:endParaRPr sz="2000"/>
          </a:p>
        </p:txBody>
      </p:sp>
      <p:sp>
        <p:nvSpPr>
          <p:cNvPr id="1073" name="Google Shape;1073;p80"/>
          <p:cNvSpPr txBox="1"/>
          <p:nvPr/>
        </p:nvSpPr>
        <p:spPr>
          <a:xfrm>
            <a:off x="8273169" y="190856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6</a:t>
            </a:r>
            <a:endParaRPr sz="2000"/>
          </a:p>
        </p:txBody>
      </p:sp>
      <p:sp>
        <p:nvSpPr>
          <p:cNvPr id="1074" name="Google Shape;1074;p80"/>
          <p:cNvSpPr txBox="1"/>
          <p:nvPr/>
        </p:nvSpPr>
        <p:spPr>
          <a:xfrm>
            <a:off x="3744350" y="2949450"/>
            <a:ext cx="4240500" cy="5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Firstly, identify the 10% </a:t>
            </a:r>
            <a:endParaRPr sz="1800">
              <a:solidFill>
                <a:schemeClr val="dk1"/>
              </a:solidFill>
              <a:latin typeface="Kalam"/>
              <a:ea typeface="Kalam"/>
              <a:cs typeface="Kalam"/>
              <a:sym typeface="Kalam"/>
            </a:endParaRPr>
          </a:p>
        </p:txBody>
      </p:sp>
      <p:sp>
        <p:nvSpPr>
          <p:cNvPr id="1075" name="Google Shape;1075;p80"/>
          <p:cNvSpPr txBox="1"/>
          <p:nvPr/>
        </p:nvSpPr>
        <p:spPr>
          <a:xfrm>
            <a:off x="3744350" y="3330450"/>
            <a:ext cx="4240500" cy="5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Each 10% represents 12</a:t>
            </a:r>
            <a:endParaRPr sz="1800">
              <a:solidFill>
                <a:schemeClr val="dk1"/>
              </a:solidFill>
              <a:latin typeface="Kalam"/>
              <a:ea typeface="Kalam"/>
              <a:cs typeface="Kalam"/>
              <a:sym typeface="Kalam"/>
            </a:endParaRPr>
          </a:p>
        </p:txBody>
      </p:sp>
      <p:sp>
        <p:nvSpPr>
          <p:cNvPr id="1076" name="Google Shape;1076;p80"/>
          <p:cNvSpPr txBox="1"/>
          <p:nvPr/>
        </p:nvSpPr>
        <p:spPr>
          <a:xfrm>
            <a:off x="3744350" y="3711450"/>
            <a:ext cx="4240500" cy="5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50% represents 12 × 5 = 60</a:t>
            </a:r>
            <a:endParaRPr sz="1800">
              <a:solidFill>
                <a:schemeClr val="dk1"/>
              </a:solidFill>
              <a:latin typeface="Kalam"/>
              <a:ea typeface="Kalam"/>
              <a:cs typeface="Kalam"/>
              <a:sym typeface="Kalam"/>
            </a:endParaRPr>
          </a:p>
        </p:txBody>
      </p:sp>
      <p:sp>
        <p:nvSpPr>
          <p:cNvPr id="1077" name="Google Shape;1077;p80"/>
          <p:cNvSpPr txBox="1"/>
          <p:nvPr/>
        </p:nvSpPr>
        <p:spPr>
          <a:xfrm>
            <a:off x="3744350" y="4092450"/>
            <a:ext cx="4240500" cy="5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Finding 5% is 6</a:t>
            </a:r>
            <a:endParaRPr sz="1800">
              <a:solidFill>
                <a:schemeClr val="dk1"/>
              </a:solidFill>
              <a:latin typeface="Kalam"/>
              <a:ea typeface="Kalam"/>
              <a:cs typeface="Kalam"/>
              <a:sym typeface="Kalam"/>
            </a:endParaRPr>
          </a:p>
        </p:txBody>
      </p:sp>
      <p:sp>
        <p:nvSpPr>
          <p:cNvPr id="1078" name="Google Shape;1078;p80"/>
          <p:cNvSpPr txBox="1"/>
          <p:nvPr/>
        </p:nvSpPr>
        <p:spPr>
          <a:xfrm>
            <a:off x="3744350" y="4473450"/>
            <a:ext cx="4240500" cy="5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155% of 120 is 186</a:t>
            </a:r>
            <a:endParaRPr sz="18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81"/>
          <p:cNvSpPr txBox="1"/>
          <p:nvPr>
            <p:ph idx="1" type="body"/>
          </p:nvPr>
        </p:nvSpPr>
        <p:spPr>
          <a:xfrm>
            <a:off x="324000" y="683100"/>
            <a:ext cx="8588400" cy="35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a:t>
            </a:r>
            <a:r>
              <a:rPr lang="en-GB"/>
              <a:t>Write questions and answers for the representation of these bar models:</a:t>
            </a:r>
            <a:endParaRPr/>
          </a:p>
          <a:p>
            <a:pPr indent="0" lvl="0" marL="0" rtl="0" algn="l">
              <a:spcBef>
                <a:spcPts val="1000"/>
              </a:spcBef>
              <a:spcAft>
                <a:spcPts val="0"/>
              </a:spcAft>
              <a:buNone/>
            </a:pPr>
            <a:r>
              <a:rPr lang="en-GB"/>
              <a:t>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b)</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c)</a:t>
            </a:r>
            <a:endParaRPr/>
          </a:p>
        </p:txBody>
      </p:sp>
      <p:sp>
        <p:nvSpPr>
          <p:cNvPr id="1084" name="Google Shape;1084;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graphicFrame>
        <p:nvGraphicFramePr>
          <p:cNvPr id="1085" name="Google Shape;1085;p81"/>
          <p:cNvGraphicFramePr/>
          <p:nvPr/>
        </p:nvGraphicFramePr>
        <p:xfrm>
          <a:off x="917125" y="1620000"/>
          <a:ext cx="3000000" cy="3000000"/>
        </p:xfrm>
        <a:graphic>
          <a:graphicData uri="http://schemas.openxmlformats.org/drawingml/2006/table">
            <a:tbl>
              <a:tblPr>
                <a:noFill/>
                <a:tableStyleId>{5676FB72-93CE-4E66-9494-FAFA15B1102A}</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086" name="Google Shape;1086;p81"/>
          <p:cNvGraphicFramePr/>
          <p:nvPr/>
        </p:nvGraphicFramePr>
        <p:xfrm>
          <a:off x="917125" y="2724150"/>
          <a:ext cx="3000000" cy="3000000"/>
        </p:xfrm>
        <a:graphic>
          <a:graphicData uri="http://schemas.openxmlformats.org/drawingml/2006/table">
            <a:tbl>
              <a:tblPr>
                <a:noFill/>
                <a:tableStyleId>{5676FB72-93CE-4E66-9494-FAFA15B1102A}</a:tableStyleId>
              </a:tblPr>
              <a:tblGrid>
                <a:gridCol w="498675"/>
                <a:gridCol w="498675"/>
                <a:gridCol w="498675"/>
                <a:gridCol w="498675"/>
                <a:gridCol w="498675"/>
                <a:gridCol w="498675"/>
                <a:gridCol w="498675"/>
                <a:gridCol w="498675"/>
                <a:gridCol w="498675"/>
                <a:gridCol w="498675"/>
                <a:gridCol w="498675"/>
                <a:gridCol w="498675"/>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087" name="Google Shape;1087;p81"/>
          <p:cNvGraphicFramePr/>
          <p:nvPr/>
        </p:nvGraphicFramePr>
        <p:xfrm>
          <a:off x="917125" y="3793775"/>
          <a:ext cx="3000000" cy="3000000"/>
        </p:xfrm>
        <a:graphic>
          <a:graphicData uri="http://schemas.openxmlformats.org/drawingml/2006/table">
            <a:tbl>
              <a:tblPr>
                <a:noFill/>
                <a:tableStyleId>{5676FB72-93CE-4E66-9494-FAFA15B1102A}</a:tableStyleId>
              </a:tblPr>
              <a:tblGrid>
                <a:gridCol w="1341900"/>
                <a:gridCol w="1341900"/>
                <a:gridCol w="1341900"/>
                <a:gridCol w="1341900"/>
                <a:gridCol w="134190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088" name="Google Shape;1088;p81"/>
          <p:cNvGraphicFramePr/>
          <p:nvPr/>
        </p:nvGraphicFramePr>
        <p:xfrm>
          <a:off x="6901225" y="2724150"/>
          <a:ext cx="3000000" cy="3000000"/>
        </p:xfrm>
        <a:graphic>
          <a:graphicData uri="http://schemas.openxmlformats.org/drawingml/2006/table">
            <a:tbl>
              <a:tblPr>
                <a:noFill/>
                <a:tableStyleId>{5676FB72-93CE-4E66-9494-FAFA15B1102A}</a:tableStyleId>
              </a:tblPr>
              <a:tblGrid>
                <a:gridCol w="498675"/>
                <a:gridCol w="498675"/>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089" name="Google Shape;1089;p81"/>
          <p:cNvGraphicFramePr/>
          <p:nvPr/>
        </p:nvGraphicFramePr>
        <p:xfrm>
          <a:off x="7898575" y="2724150"/>
          <a:ext cx="3000000" cy="3000000"/>
        </p:xfrm>
        <a:graphic>
          <a:graphicData uri="http://schemas.openxmlformats.org/drawingml/2006/table">
            <a:tbl>
              <a:tblPr>
                <a:noFill/>
                <a:tableStyleId>{5676FB72-93CE-4E66-9494-FAFA15B1102A}</a:tableStyleId>
              </a:tblPr>
              <a:tblGrid>
                <a:gridCol w="498675"/>
                <a:gridCol w="38285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1090" name="Google Shape;1090;p81"/>
          <p:cNvGrpSpPr/>
          <p:nvPr/>
        </p:nvGrpSpPr>
        <p:grpSpPr>
          <a:xfrm>
            <a:off x="917080" y="2053716"/>
            <a:ext cx="3828420" cy="515988"/>
            <a:chOff x="889825" y="3457425"/>
            <a:chExt cx="5213700" cy="737021"/>
          </a:xfrm>
        </p:grpSpPr>
        <p:sp>
          <p:nvSpPr>
            <p:cNvPr id="1091" name="Google Shape;1091;p81"/>
            <p:cNvSpPr/>
            <p:nvPr/>
          </p:nvSpPr>
          <p:spPr>
            <a:xfrm rot="-5400000">
              <a:off x="3396775" y="950475"/>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2" name="Google Shape;1092;p81"/>
            <p:cNvSpPr txBox="1"/>
            <p:nvPr/>
          </p:nvSpPr>
          <p:spPr>
            <a:xfrm>
              <a:off x="3177002" y="3710846"/>
              <a:ext cx="1311900" cy="483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sp>
        <p:nvSpPr>
          <p:cNvPr id="1093" name="Google Shape;1093;p81"/>
          <p:cNvSpPr/>
          <p:nvPr/>
        </p:nvSpPr>
        <p:spPr>
          <a:xfrm rot="-5400000">
            <a:off x="5633652" y="1165575"/>
            <a:ext cx="139800" cy="19161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4" name="Google Shape;1094;p81"/>
          <p:cNvSpPr txBox="1"/>
          <p:nvPr/>
        </p:nvSpPr>
        <p:spPr>
          <a:xfrm>
            <a:off x="5405204" y="2200836"/>
            <a:ext cx="963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50</a:t>
            </a: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grpSp>
        <p:nvGrpSpPr>
          <p:cNvPr id="1095" name="Google Shape;1095;p81"/>
          <p:cNvGrpSpPr/>
          <p:nvPr/>
        </p:nvGrpSpPr>
        <p:grpSpPr>
          <a:xfrm>
            <a:off x="917064" y="3152052"/>
            <a:ext cx="4986904" cy="478963"/>
            <a:chOff x="889825" y="3457425"/>
            <a:chExt cx="5213700" cy="684136"/>
          </a:xfrm>
        </p:grpSpPr>
        <p:sp>
          <p:nvSpPr>
            <p:cNvPr id="1096" name="Google Shape;1096;p81"/>
            <p:cNvSpPr/>
            <p:nvPr/>
          </p:nvSpPr>
          <p:spPr>
            <a:xfrm rot="-5400000">
              <a:off x="3396775" y="950475"/>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7" name="Google Shape;1097;p81"/>
            <p:cNvSpPr txBox="1"/>
            <p:nvPr/>
          </p:nvSpPr>
          <p:spPr>
            <a:xfrm>
              <a:off x="3362064" y="3657961"/>
              <a:ext cx="1311900" cy="483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sp>
        <p:nvSpPr>
          <p:cNvPr id="1098" name="Google Shape;1098;p81"/>
          <p:cNvSpPr/>
          <p:nvPr/>
        </p:nvSpPr>
        <p:spPr>
          <a:xfrm rot="-5400000">
            <a:off x="7267274" y="1775536"/>
            <a:ext cx="139800" cy="28860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9" name="Google Shape;1099;p81"/>
          <p:cNvSpPr txBox="1"/>
          <p:nvPr/>
        </p:nvSpPr>
        <p:spPr>
          <a:xfrm>
            <a:off x="6887780" y="3278108"/>
            <a:ext cx="1450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57%</a:t>
            </a:r>
            <a:endParaRPr sz="2200">
              <a:solidFill>
                <a:srgbClr val="000000"/>
              </a:solidFill>
              <a:latin typeface="Lexend"/>
              <a:ea typeface="Lexend"/>
              <a:cs typeface="Lexend"/>
              <a:sym typeface="Lexend"/>
            </a:endParaRPr>
          </a:p>
        </p:txBody>
      </p:sp>
      <p:grpSp>
        <p:nvGrpSpPr>
          <p:cNvPr id="1100" name="Google Shape;1100;p81"/>
          <p:cNvGrpSpPr/>
          <p:nvPr/>
        </p:nvGrpSpPr>
        <p:grpSpPr>
          <a:xfrm>
            <a:off x="902629" y="4225982"/>
            <a:ext cx="5408692" cy="478963"/>
            <a:chOff x="889825" y="3457425"/>
            <a:chExt cx="5213700" cy="684136"/>
          </a:xfrm>
        </p:grpSpPr>
        <p:sp>
          <p:nvSpPr>
            <p:cNvPr id="1101" name="Google Shape;1101;p81"/>
            <p:cNvSpPr/>
            <p:nvPr/>
          </p:nvSpPr>
          <p:spPr>
            <a:xfrm rot="-5400000">
              <a:off x="3396775" y="950475"/>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2" name="Google Shape;1102;p81"/>
            <p:cNvSpPr txBox="1"/>
            <p:nvPr/>
          </p:nvSpPr>
          <p:spPr>
            <a:xfrm>
              <a:off x="3362064" y="3657961"/>
              <a:ext cx="1311900" cy="483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sp>
        <p:nvSpPr>
          <p:cNvPr id="1103" name="Google Shape;1103;p81"/>
          <p:cNvSpPr/>
          <p:nvPr/>
        </p:nvSpPr>
        <p:spPr>
          <a:xfrm rot="-5400000">
            <a:off x="6879381" y="3623164"/>
            <a:ext cx="139800" cy="1341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4" name="Google Shape;1104;p81"/>
          <p:cNvSpPr txBox="1"/>
          <p:nvPr/>
        </p:nvSpPr>
        <p:spPr>
          <a:xfrm>
            <a:off x="6756321" y="4353530"/>
            <a:ext cx="1450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25</a:t>
            </a: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105" name="Google Shape;1105;p81"/>
          <p:cNvSpPr txBox="1"/>
          <p:nvPr/>
        </p:nvSpPr>
        <p:spPr>
          <a:xfrm>
            <a:off x="6284875" y="3793775"/>
            <a:ext cx="1341600" cy="382800"/>
          </a:xfrm>
          <a:prstGeom prst="rect">
            <a:avLst/>
          </a:prstGeom>
          <a:solidFill>
            <a:srgbClr val="F0F0F0">
              <a:alpha val="5949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20</a:t>
            </a:r>
            <a:endParaRPr sz="2200">
              <a:solidFill>
                <a:schemeClr val="dk1"/>
              </a:solidFill>
              <a:latin typeface="Lexend"/>
              <a:ea typeface="Lexend"/>
              <a:cs typeface="Lexend"/>
              <a:sym typeface="Lexend"/>
            </a:endParaRPr>
          </a:p>
        </p:txBody>
      </p:sp>
      <p:sp>
        <p:nvSpPr>
          <p:cNvPr id="1106" name="Google Shape;1106;p81"/>
          <p:cNvSpPr txBox="1"/>
          <p:nvPr/>
        </p:nvSpPr>
        <p:spPr>
          <a:xfrm>
            <a:off x="917125" y="1620000"/>
            <a:ext cx="3828300" cy="396300"/>
          </a:xfrm>
          <a:prstGeom prst="rect">
            <a:avLst/>
          </a:prstGeom>
          <a:solidFill>
            <a:srgbClr val="F0F0F0">
              <a:alpha val="59490"/>
            </a:srgbClr>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40</a:t>
            </a:r>
            <a:endParaRPr sz="2200">
              <a:solidFill>
                <a:schemeClr val="dk1"/>
              </a:solidFill>
              <a:latin typeface="Lexend"/>
              <a:ea typeface="Lexend"/>
              <a:cs typeface="Lexend"/>
              <a:sym typeface="Lexend"/>
            </a:endParaRPr>
          </a:p>
        </p:txBody>
      </p:sp>
      <p:sp>
        <p:nvSpPr>
          <p:cNvPr id="1107" name="Google Shape;1107;p81"/>
          <p:cNvSpPr txBox="1"/>
          <p:nvPr/>
        </p:nvSpPr>
        <p:spPr>
          <a:xfrm>
            <a:off x="917125" y="2722075"/>
            <a:ext cx="4986900" cy="396300"/>
          </a:xfrm>
          <a:prstGeom prst="rect">
            <a:avLst/>
          </a:prstGeom>
          <a:solidFill>
            <a:srgbClr val="F0F0F0">
              <a:alpha val="59490"/>
            </a:srgbClr>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200</a:t>
            </a:r>
            <a:endParaRPr sz="2200">
              <a:solidFill>
                <a:schemeClr val="dk1"/>
              </a:solidFill>
              <a:latin typeface="Lexend"/>
              <a:ea typeface="Lexend"/>
              <a:cs typeface="Lexend"/>
              <a:sym typeface="Lexend"/>
            </a:endParaRPr>
          </a:p>
        </p:txBody>
      </p:sp>
      <p:sp>
        <p:nvSpPr>
          <p:cNvPr id="1108" name="Google Shape;1108;p81"/>
          <p:cNvSpPr txBox="1"/>
          <p:nvPr/>
        </p:nvSpPr>
        <p:spPr>
          <a:xfrm>
            <a:off x="917125" y="3788875"/>
            <a:ext cx="5361300" cy="396300"/>
          </a:xfrm>
          <a:prstGeom prst="rect">
            <a:avLst/>
          </a:prstGeom>
          <a:solidFill>
            <a:srgbClr val="F0F0F0">
              <a:alpha val="59490"/>
            </a:srgbClr>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80</a:t>
            </a:r>
            <a:endParaRPr sz="2200">
              <a:solidFill>
                <a:schemeClr val="dk1"/>
              </a:solidFill>
              <a:latin typeface="Lexend"/>
              <a:ea typeface="Lexend"/>
              <a:cs typeface="Lexend"/>
              <a:sym typeface="Lexend"/>
            </a:endParaRPr>
          </a:p>
        </p:txBody>
      </p:sp>
      <p:sp>
        <p:nvSpPr>
          <p:cNvPr id="1109" name="Google Shape;1109;p81"/>
          <p:cNvSpPr txBox="1"/>
          <p:nvPr/>
        </p:nvSpPr>
        <p:spPr>
          <a:xfrm>
            <a:off x="4745425" y="1624575"/>
            <a:ext cx="1916100" cy="382800"/>
          </a:xfrm>
          <a:prstGeom prst="rect">
            <a:avLst/>
          </a:prstGeom>
          <a:solidFill>
            <a:srgbClr val="F0F0F0">
              <a:alpha val="5949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20</a:t>
            </a:r>
            <a:endParaRPr sz="2200">
              <a:solidFill>
                <a:schemeClr val="dk1"/>
              </a:solidFill>
              <a:latin typeface="Lexend"/>
              <a:ea typeface="Lexend"/>
              <a:cs typeface="Lexend"/>
              <a:sym typeface="Lexend"/>
            </a:endParaRPr>
          </a:p>
        </p:txBody>
      </p:sp>
      <p:sp>
        <p:nvSpPr>
          <p:cNvPr id="1110" name="Google Shape;1110;p81"/>
          <p:cNvSpPr txBox="1"/>
          <p:nvPr/>
        </p:nvSpPr>
        <p:spPr>
          <a:xfrm>
            <a:off x="5888425" y="2726650"/>
            <a:ext cx="2886000" cy="382800"/>
          </a:xfrm>
          <a:prstGeom prst="rect">
            <a:avLst/>
          </a:prstGeom>
          <a:solidFill>
            <a:srgbClr val="F0F0F0">
              <a:alpha val="5949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114</a:t>
            </a:r>
            <a:endParaRPr sz="2200">
              <a:solidFill>
                <a:schemeClr val="dk1"/>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8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Drawing bar models, show how you work out:</a:t>
            </a:r>
            <a:endParaRPr/>
          </a:p>
          <a:p>
            <a:pPr indent="0" lvl="0" marL="0" rtl="0" algn="l">
              <a:spcBef>
                <a:spcPts val="1000"/>
              </a:spcBef>
              <a:spcAft>
                <a:spcPts val="0"/>
              </a:spcAft>
              <a:buNone/>
            </a:pPr>
            <a:r>
              <a:rPr lang="en-GB"/>
              <a:t>a) </a:t>
            </a:r>
            <a:r>
              <a:rPr lang="en-GB"/>
              <a:t>An increase of 30% to 640</a:t>
            </a:r>
            <a:br>
              <a:rPr lang="en-GB"/>
            </a:br>
            <a:endParaRPr/>
          </a:p>
          <a:p>
            <a:pPr indent="0" lvl="0" marL="0" rtl="0" algn="l">
              <a:spcBef>
                <a:spcPts val="1000"/>
              </a:spcBef>
              <a:spcAft>
                <a:spcPts val="0"/>
              </a:spcAft>
              <a:buNone/>
            </a:pPr>
            <a:r>
              <a:rPr lang="en-GB"/>
              <a:t>b) 125% of 900</a:t>
            </a:r>
            <a:br>
              <a:rPr lang="en-GB"/>
            </a:br>
            <a:endParaRPr/>
          </a:p>
          <a:p>
            <a:pPr indent="0" lvl="0" marL="0" rtl="0" algn="l">
              <a:spcBef>
                <a:spcPts val="1000"/>
              </a:spcBef>
              <a:spcAft>
                <a:spcPts val="0"/>
              </a:spcAft>
              <a:buNone/>
            </a:pPr>
            <a:r>
              <a:rPr lang="en-GB"/>
              <a:t>c) Increase 700 by 95% </a:t>
            </a:r>
            <a:endParaRPr/>
          </a:p>
          <a:p>
            <a:pPr indent="0" lvl="0" marL="0" rtl="0" algn="l">
              <a:spcBef>
                <a:spcPts val="1000"/>
              </a:spcBef>
              <a:spcAft>
                <a:spcPts val="1000"/>
              </a:spcAft>
              <a:buNone/>
            </a:pPr>
            <a:r>
              <a:t/>
            </a:r>
            <a:endParaRPr/>
          </a:p>
        </p:txBody>
      </p:sp>
      <p:sp>
        <p:nvSpPr>
          <p:cNvPr id="1116" name="Google Shape;1116;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83"/>
          <p:cNvSpPr txBox="1"/>
          <p:nvPr>
            <p:ph idx="1" type="body"/>
          </p:nvPr>
        </p:nvSpPr>
        <p:spPr>
          <a:xfrm>
            <a:off x="324000" y="759300"/>
            <a:ext cx="8496000" cy="1577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1) Write questions and answers for the representation of these bar models:</a:t>
            </a:r>
            <a:endParaRPr/>
          </a:p>
          <a:p>
            <a:pPr indent="0" lvl="0" marL="0" rtl="0" algn="l">
              <a:spcBef>
                <a:spcPts val="1000"/>
              </a:spcBef>
              <a:spcAft>
                <a:spcPts val="0"/>
              </a:spcAft>
              <a:buNone/>
            </a:pPr>
            <a:r>
              <a:rPr lang="en-GB"/>
              <a:t>a)</a:t>
            </a:r>
            <a:endParaRPr/>
          </a:p>
          <a:p>
            <a:pPr indent="0" lvl="0" marL="0" rtl="0" algn="l">
              <a:spcBef>
                <a:spcPts val="1000"/>
              </a:spcBef>
              <a:spcAft>
                <a:spcPts val="1000"/>
              </a:spcAft>
              <a:buNone/>
            </a:pPr>
            <a:r>
              <a:t/>
            </a:r>
            <a:endParaRPr/>
          </a:p>
        </p:txBody>
      </p:sp>
      <p:sp>
        <p:nvSpPr>
          <p:cNvPr id="1122" name="Google Shape;1122;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graphicFrame>
        <p:nvGraphicFramePr>
          <p:cNvPr id="1123" name="Google Shape;1123;p83"/>
          <p:cNvGraphicFramePr/>
          <p:nvPr/>
        </p:nvGraphicFramePr>
        <p:xfrm>
          <a:off x="1450525" y="1772400"/>
          <a:ext cx="3000000" cy="3000000"/>
        </p:xfrm>
        <a:graphic>
          <a:graphicData uri="http://schemas.openxmlformats.org/drawingml/2006/table">
            <a:tbl>
              <a:tblPr>
                <a:noFill/>
                <a:tableStyleId>{5676FB72-93CE-4E66-9494-FAFA15B1102A}</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1124" name="Google Shape;1124;p83"/>
          <p:cNvGrpSpPr/>
          <p:nvPr/>
        </p:nvGrpSpPr>
        <p:grpSpPr>
          <a:xfrm>
            <a:off x="1450480" y="2206116"/>
            <a:ext cx="3828420" cy="515988"/>
            <a:chOff x="889825" y="3457425"/>
            <a:chExt cx="5213700" cy="737021"/>
          </a:xfrm>
        </p:grpSpPr>
        <p:sp>
          <p:nvSpPr>
            <p:cNvPr id="1125" name="Google Shape;1125;p83"/>
            <p:cNvSpPr/>
            <p:nvPr/>
          </p:nvSpPr>
          <p:spPr>
            <a:xfrm rot="-5400000">
              <a:off x="3396775" y="950475"/>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6" name="Google Shape;1126;p83"/>
            <p:cNvSpPr txBox="1"/>
            <p:nvPr/>
          </p:nvSpPr>
          <p:spPr>
            <a:xfrm>
              <a:off x="3177002" y="3710846"/>
              <a:ext cx="1311900" cy="483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sp>
        <p:nvSpPr>
          <p:cNvPr id="1127" name="Google Shape;1127;p83"/>
          <p:cNvSpPr/>
          <p:nvPr/>
        </p:nvSpPr>
        <p:spPr>
          <a:xfrm rot="-5400000">
            <a:off x="6167052" y="1317975"/>
            <a:ext cx="139800" cy="19161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8" name="Google Shape;1128;p83"/>
          <p:cNvSpPr txBox="1"/>
          <p:nvPr/>
        </p:nvSpPr>
        <p:spPr>
          <a:xfrm>
            <a:off x="5938604" y="2353236"/>
            <a:ext cx="963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50%</a:t>
            </a:r>
            <a:endParaRPr sz="2200">
              <a:solidFill>
                <a:srgbClr val="000000"/>
              </a:solidFill>
              <a:latin typeface="Lexend"/>
              <a:ea typeface="Lexend"/>
              <a:cs typeface="Lexend"/>
              <a:sym typeface="Lexend"/>
            </a:endParaRPr>
          </a:p>
        </p:txBody>
      </p:sp>
      <p:sp>
        <p:nvSpPr>
          <p:cNvPr id="1129" name="Google Shape;1129;p83"/>
          <p:cNvSpPr txBox="1"/>
          <p:nvPr/>
        </p:nvSpPr>
        <p:spPr>
          <a:xfrm>
            <a:off x="1450525" y="1772400"/>
            <a:ext cx="3828300" cy="396300"/>
          </a:xfrm>
          <a:prstGeom prst="rect">
            <a:avLst/>
          </a:prstGeom>
          <a:solidFill>
            <a:srgbClr val="F0F0F0">
              <a:alpha val="59490"/>
            </a:srgbClr>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40</a:t>
            </a:r>
            <a:endParaRPr sz="2200">
              <a:solidFill>
                <a:schemeClr val="dk1"/>
              </a:solidFill>
              <a:latin typeface="Lexend"/>
              <a:ea typeface="Lexend"/>
              <a:cs typeface="Lexend"/>
              <a:sym typeface="Lexend"/>
            </a:endParaRPr>
          </a:p>
        </p:txBody>
      </p:sp>
      <p:sp>
        <p:nvSpPr>
          <p:cNvPr id="1130" name="Google Shape;1130;p83"/>
          <p:cNvSpPr txBox="1"/>
          <p:nvPr/>
        </p:nvSpPr>
        <p:spPr>
          <a:xfrm>
            <a:off x="5278825" y="1776975"/>
            <a:ext cx="1916100" cy="382800"/>
          </a:xfrm>
          <a:prstGeom prst="rect">
            <a:avLst/>
          </a:prstGeom>
          <a:solidFill>
            <a:srgbClr val="F0F0F0">
              <a:alpha val="5949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20</a:t>
            </a:r>
            <a:endParaRPr sz="2200">
              <a:solidFill>
                <a:schemeClr val="dk1"/>
              </a:solidFill>
              <a:latin typeface="Lexend"/>
              <a:ea typeface="Lexend"/>
              <a:cs typeface="Lexend"/>
              <a:sym typeface="Lexend"/>
            </a:endParaRPr>
          </a:p>
        </p:txBody>
      </p:sp>
      <p:sp>
        <p:nvSpPr>
          <p:cNvPr id="1131" name="Google Shape;1131;p83"/>
          <p:cNvSpPr txBox="1"/>
          <p:nvPr/>
        </p:nvSpPr>
        <p:spPr>
          <a:xfrm>
            <a:off x="451725" y="2759525"/>
            <a:ext cx="4120200" cy="20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Kalam"/>
                <a:ea typeface="Kalam"/>
                <a:cs typeface="Kalam"/>
                <a:sym typeface="Kalam"/>
              </a:rPr>
              <a:t>Possible questions:</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Increase 40 by 50%</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Work out 150% of 40</a:t>
            </a:r>
            <a:endParaRPr sz="22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rPr lang="en-GB" sz="2200">
                <a:solidFill>
                  <a:schemeClr val="dk1"/>
                </a:solidFill>
                <a:latin typeface="Kalam"/>
                <a:ea typeface="Kalam"/>
                <a:cs typeface="Kalam"/>
                <a:sym typeface="Kalam"/>
              </a:rPr>
              <a:t>What percentage </a:t>
            </a:r>
            <a:r>
              <a:rPr lang="en-GB" sz="2200">
                <a:solidFill>
                  <a:schemeClr val="dk1"/>
                </a:solidFill>
                <a:latin typeface="Kalam"/>
                <a:ea typeface="Kalam"/>
                <a:cs typeface="Kalam"/>
                <a:sym typeface="Kalam"/>
              </a:rPr>
              <a:t>of 40</a:t>
            </a:r>
            <a:r>
              <a:rPr lang="en-GB" sz="2200">
                <a:solidFill>
                  <a:schemeClr val="dk1"/>
                </a:solidFill>
                <a:latin typeface="Kalam"/>
                <a:ea typeface="Kalam"/>
                <a:cs typeface="Kalam"/>
                <a:sym typeface="Kalam"/>
              </a:rPr>
              <a:t> is 60?</a:t>
            </a:r>
            <a:endParaRPr sz="2200">
              <a:solidFill>
                <a:schemeClr val="dk1"/>
              </a:solidFill>
              <a:latin typeface="Kalam"/>
              <a:ea typeface="Kalam"/>
              <a:cs typeface="Kalam"/>
              <a:sym typeface="Kalam"/>
            </a:endParaRPr>
          </a:p>
        </p:txBody>
      </p:sp>
      <p:sp>
        <p:nvSpPr>
          <p:cNvPr id="1132" name="Google Shape;1132;p83"/>
          <p:cNvSpPr txBox="1"/>
          <p:nvPr/>
        </p:nvSpPr>
        <p:spPr>
          <a:xfrm>
            <a:off x="4732075" y="2768450"/>
            <a:ext cx="1441500" cy="20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Kalam"/>
                <a:ea typeface="Kalam"/>
                <a:cs typeface="Kalam"/>
                <a:sym typeface="Kalam"/>
              </a:rPr>
              <a:t>Answers:</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60</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60</a:t>
            </a:r>
            <a:endParaRPr sz="22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rPr lang="en-GB" sz="2200">
                <a:solidFill>
                  <a:schemeClr val="dk1"/>
                </a:solidFill>
                <a:latin typeface="Kalam"/>
                <a:ea typeface="Kalam"/>
                <a:cs typeface="Kalam"/>
                <a:sym typeface="Kalam"/>
              </a:rPr>
              <a:t>150%</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graphicFrame>
        <p:nvGraphicFramePr>
          <p:cNvPr id="1138" name="Google Shape;1138;p84"/>
          <p:cNvGraphicFramePr/>
          <p:nvPr/>
        </p:nvGraphicFramePr>
        <p:xfrm>
          <a:off x="840925" y="1962150"/>
          <a:ext cx="3000000" cy="3000000"/>
        </p:xfrm>
        <a:graphic>
          <a:graphicData uri="http://schemas.openxmlformats.org/drawingml/2006/table">
            <a:tbl>
              <a:tblPr>
                <a:noFill/>
                <a:tableStyleId>{5676FB72-93CE-4E66-9494-FAFA15B1102A}</a:tableStyleId>
              </a:tblPr>
              <a:tblGrid>
                <a:gridCol w="498675"/>
                <a:gridCol w="498675"/>
                <a:gridCol w="498675"/>
                <a:gridCol w="498675"/>
                <a:gridCol w="498675"/>
                <a:gridCol w="498675"/>
                <a:gridCol w="498675"/>
                <a:gridCol w="498675"/>
                <a:gridCol w="498675"/>
                <a:gridCol w="498675"/>
                <a:gridCol w="498675"/>
                <a:gridCol w="498675"/>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139" name="Google Shape;1139;p84"/>
          <p:cNvGraphicFramePr/>
          <p:nvPr/>
        </p:nvGraphicFramePr>
        <p:xfrm>
          <a:off x="6825025" y="1962150"/>
          <a:ext cx="3000000" cy="3000000"/>
        </p:xfrm>
        <a:graphic>
          <a:graphicData uri="http://schemas.openxmlformats.org/drawingml/2006/table">
            <a:tbl>
              <a:tblPr>
                <a:noFill/>
                <a:tableStyleId>{5676FB72-93CE-4E66-9494-FAFA15B1102A}</a:tableStyleId>
              </a:tblPr>
              <a:tblGrid>
                <a:gridCol w="498675"/>
                <a:gridCol w="498675"/>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140" name="Google Shape;1140;p84"/>
          <p:cNvGraphicFramePr/>
          <p:nvPr/>
        </p:nvGraphicFramePr>
        <p:xfrm>
          <a:off x="7822375" y="1962150"/>
          <a:ext cx="3000000" cy="3000000"/>
        </p:xfrm>
        <a:graphic>
          <a:graphicData uri="http://schemas.openxmlformats.org/drawingml/2006/table">
            <a:tbl>
              <a:tblPr>
                <a:noFill/>
                <a:tableStyleId>{5676FB72-93CE-4E66-9494-FAFA15B1102A}</a:tableStyleId>
              </a:tblPr>
              <a:tblGrid>
                <a:gridCol w="498675"/>
                <a:gridCol w="38285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1141" name="Google Shape;1141;p84"/>
          <p:cNvGrpSpPr/>
          <p:nvPr/>
        </p:nvGrpSpPr>
        <p:grpSpPr>
          <a:xfrm>
            <a:off x="840864" y="2390052"/>
            <a:ext cx="4986904" cy="478963"/>
            <a:chOff x="889825" y="3457425"/>
            <a:chExt cx="5213700" cy="684136"/>
          </a:xfrm>
        </p:grpSpPr>
        <p:sp>
          <p:nvSpPr>
            <p:cNvPr id="1142" name="Google Shape;1142;p84"/>
            <p:cNvSpPr/>
            <p:nvPr/>
          </p:nvSpPr>
          <p:spPr>
            <a:xfrm rot="-5400000">
              <a:off x="3396775" y="950475"/>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3" name="Google Shape;1143;p84"/>
            <p:cNvSpPr txBox="1"/>
            <p:nvPr/>
          </p:nvSpPr>
          <p:spPr>
            <a:xfrm>
              <a:off x="3362064" y="3657961"/>
              <a:ext cx="1311900" cy="483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sp>
        <p:nvSpPr>
          <p:cNvPr id="1144" name="Google Shape;1144;p84"/>
          <p:cNvSpPr/>
          <p:nvPr/>
        </p:nvSpPr>
        <p:spPr>
          <a:xfrm rot="-5400000">
            <a:off x="7191074" y="1013536"/>
            <a:ext cx="139800" cy="28860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5" name="Google Shape;1145;p84"/>
          <p:cNvSpPr txBox="1"/>
          <p:nvPr/>
        </p:nvSpPr>
        <p:spPr>
          <a:xfrm>
            <a:off x="6811580" y="2516108"/>
            <a:ext cx="1450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57%</a:t>
            </a:r>
            <a:endParaRPr sz="2200">
              <a:solidFill>
                <a:srgbClr val="000000"/>
              </a:solidFill>
              <a:latin typeface="Lexend"/>
              <a:ea typeface="Lexend"/>
              <a:cs typeface="Lexend"/>
              <a:sym typeface="Lexend"/>
            </a:endParaRPr>
          </a:p>
        </p:txBody>
      </p:sp>
      <p:sp>
        <p:nvSpPr>
          <p:cNvPr id="1146" name="Google Shape;1146;p84"/>
          <p:cNvSpPr txBox="1"/>
          <p:nvPr/>
        </p:nvSpPr>
        <p:spPr>
          <a:xfrm>
            <a:off x="840925" y="1960075"/>
            <a:ext cx="4986900" cy="396300"/>
          </a:xfrm>
          <a:prstGeom prst="rect">
            <a:avLst/>
          </a:prstGeom>
          <a:solidFill>
            <a:srgbClr val="F0F0F0">
              <a:alpha val="59490"/>
            </a:srgbClr>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200</a:t>
            </a:r>
            <a:endParaRPr sz="2200">
              <a:solidFill>
                <a:schemeClr val="dk1"/>
              </a:solidFill>
              <a:latin typeface="Lexend"/>
              <a:ea typeface="Lexend"/>
              <a:cs typeface="Lexend"/>
              <a:sym typeface="Lexend"/>
            </a:endParaRPr>
          </a:p>
        </p:txBody>
      </p:sp>
      <p:sp>
        <p:nvSpPr>
          <p:cNvPr id="1147" name="Google Shape;1147;p84"/>
          <p:cNvSpPr txBox="1"/>
          <p:nvPr/>
        </p:nvSpPr>
        <p:spPr>
          <a:xfrm>
            <a:off x="5812225" y="1964650"/>
            <a:ext cx="2886000" cy="382800"/>
          </a:xfrm>
          <a:prstGeom prst="rect">
            <a:avLst/>
          </a:prstGeom>
          <a:solidFill>
            <a:srgbClr val="F0F0F0">
              <a:alpha val="5949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114</a:t>
            </a:r>
            <a:endParaRPr sz="2200">
              <a:solidFill>
                <a:schemeClr val="dk1"/>
              </a:solidFill>
              <a:latin typeface="Lexend"/>
              <a:ea typeface="Lexend"/>
              <a:cs typeface="Lexend"/>
              <a:sym typeface="Lexend"/>
            </a:endParaRPr>
          </a:p>
        </p:txBody>
      </p:sp>
      <p:sp>
        <p:nvSpPr>
          <p:cNvPr id="1148" name="Google Shape;1148;p84"/>
          <p:cNvSpPr txBox="1"/>
          <p:nvPr>
            <p:ph idx="1" type="body"/>
          </p:nvPr>
        </p:nvSpPr>
        <p:spPr>
          <a:xfrm>
            <a:off x="324000" y="759300"/>
            <a:ext cx="8237700" cy="1348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1) Write questions and answers for the representation of these bar models:</a:t>
            </a:r>
            <a:endParaRPr/>
          </a:p>
          <a:p>
            <a:pPr indent="0" lvl="0" marL="0" rtl="0" algn="l">
              <a:spcBef>
                <a:spcPts val="1000"/>
              </a:spcBef>
              <a:spcAft>
                <a:spcPts val="1000"/>
              </a:spcAft>
              <a:buNone/>
            </a:pPr>
            <a:r>
              <a:rPr lang="en-GB"/>
              <a:t>b)</a:t>
            </a:r>
            <a:endParaRPr/>
          </a:p>
        </p:txBody>
      </p:sp>
      <p:sp>
        <p:nvSpPr>
          <p:cNvPr id="1149" name="Google Shape;1149;p84"/>
          <p:cNvSpPr txBox="1"/>
          <p:nvPr/>
        </p:nvSpPr>
        <p:spPr>
          <a:xfrm>
            <a:off x="451800" y="2768450"/>
            <a:ext cx="4469400" cy="20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Kalam"/>
                <a:ea typeface="Kalam"/>
                <a:cs typeface="Kalam"/>
                <a:sym typeface="Kalam"/>
              </a:rPr>
              <a:t>Possible questions:</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Increase 200 by 57%</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Work out 157% of 200</a:t>
            </a:r>
            <a:endParaRPr sz="22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rPr lang="en-GB" sz="2200">
                <a:solidFill>
                  <a:schemeClr val="dk1"/>
                </a:solidFill>
                <a:latin typeface="Kalam"/>
                <a:ea typeface="Kalam"/>
                <a:cs typeface="Kalam"/>
                <a:sym typeface="Kalam"/>
              </a:rPr>
              <a:t>What percentage of</a:t>
            </a:r>
            <a:r>
              <a:rPr lang="en-GB" sz="2200">
                <a:solidFill>
                  <a:schemeClr val="dk1"/>
                </a:solidFill>
                <a:latin typeface="Kalam"/>
                <a:ea typeface="Kalam"/>
                <a:cs typeface="Kalam"/>
                <a:sym typeface="Kalam"/>
              </a:rPr>
              <a:t> 200</a:t>
            </a:r>
            <a:r>
              <a:rPr lang="en-GB" sz="2200">
                <a:solidFill>
                  <a:schemeClr val="dk1"/>
                </a:solidFill>
                <a:latin typeface="Kalam"/>
                <a:ea typeface="Kalam"/>
                <a:cs typeface="Kalam"/>
                <a:sym typeface="Kalam"/>
              </a:rPr>
              <a:t> is 314?</a:t>
            </a:r>
            <a:endParaRPr sz="2200">
              <a:solidFill>
                <a:schemeClr val="dk1"/>
              </a:solidFill>
              <a:latin typeface="Kalam"/>
              <a:ea typeface="Kalam"/>
              <a:cs typeface="Kalam"/>
              <a:sym typeface="Kalam"/>
            </a:endParaRPr>
          </a:p>
        </p:txBody>
      </p:sp>
      <p:sp>
        <p:nvSpPr>
          <p:cNvPr id="1150" name="Google Shape;1150;p84"/>
          <p:cNvSpPr txBox="1"/>
          <p:nvPr/>
        </p:nvSpPr>
        <p:spPr>
          <a:xfrm>
            <a:off x="5113075" y="2768450"/>
            <a:ext cx="1441500" cy="20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Kalam"/>
                <a:ea typeface="Kalam"/>
                <a:cs typeface="Kalam"/>
                <a:sym typeface="Kalam"/>
              </a:rPr>
              <a:t>Answers:</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314</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314</a:t>
            </a:r>
            <a:endParaRPr sz="22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rPr lang="en-GB" sz="2200">
                <a:solidFill>
                  <a:schemeClr val="dk1"/>
                </a:solidFill>
                <a:latin typeface="Kalam"/>
                <a:ea typeface="Kalam"/>
                <a:cs typeface="Kalam"/>
                <a:sym typeface="Kalam"/>
              </a:rPr>
              <a:t>157%</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graphicFrame>
        <p:nvGraphicFramePr>
          <p:cNvPr id="1156" name="Google Shape;1156;p85"/>
          <p:cNvGraphicFramePr/>
          <p:nvPr/>
        </p:nvGraphicFramePr>
        <p:xfrm>
          <a:off x="917125" y="1812575"/>
          <a:ext cx="3000000" cy="3000000"/>
        </p:xfrm>
        <a:graphic>
          <a:graphicData uri="http://schemas.openxmlformats.org/drawingml/2006/table">
            <a:tbl>
              <a:tblPr>
                <a:noFill/>
                <a:tableStyleId>{5676FB72-93CE-4E66-9494-FAFA15B1102A}</a:tableStyleId>
              </a:tblPr>
              <a:tblGrid>
                <a:gridCol w="1341900"/>
                <a:gridCol w="1341900"/>
                <a:gridCol w="1341900"/>
                <a:gridCol w="1341900"/>
                <a:gridCol w="134190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1157" name="Google Shape;1157;p85"/>
          <p:cNvGrpSpPr/>
          <p:nvPr/>
        </p:nvGrpSpPr>
        <p:grpSpPr>
          <a:xfrm>
            <a:off x="902629" y="2244782"/>
            <a:ext cx="5408692" cy="478963"/>
            <a:chOff x="889825" y="3457425"/>
            <a:chExt cx="5213700" cy="684136"/>
          </a:xfrm>
        </p:grpSpPr>
        <p:sp>
          <p:nvSpPr>
            <p:cNvPr id="1158" name="Google Shape;1158;p85"/>
            <p:cNvSpPr/>
            <p:nvPr/>
          </p:nvSpPr>
          <p:spPr>
            <a:xfrm rot="-5400000">
              <a:off x="3396775" y="950475"/>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9" name="Google Shape;1159;p85"/>
            <p:cNvSpPr txBox="1"/>
            <p:nvPr/>
          </p:nvSpPr>
          <p:spPr>
            <a:xfrm>
              <a:off x="3362064" y="3657961"/>
              <a:ext cx="1311900" cy="483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pSp>
      <p:sp>
        <p:nvSpPr>
          <p:cNvPr id="1160" name="Google Shape;1160;p85"/>
          <p:cNvSpPr/>
          <p:nvPr/>
        </p:nvSpPr>
        <p:spPr>
          <a:xfrm rot="-5400000">
            <a:off x="6879381" y="1641964"/>
            <a:ext cx="139800" cy="1341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1" name="Google Shape;1161;p85"/>
          <p:cNvSpPr txBox="1"/>
          <p:nvPr/>
        </p:nvSpPr>
        <p:spPr>
          <a:xfrm>
            <a:off x="6832521" y="2372330"/>
            <a:ext cx="1450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25</a:t>
            </a: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162" name="Google Shape;1162;p85"/>
          <p:cNvSpPr txBox="1"/>
          <p:nvPr/>
        </p:nvSpPr>
        <p:spPr>
          <a:xfrm>
            <a:off x="6284875" y="1812575"/>
            <a:ext cx="1341600" cy="382800"/>
          </a:xfrm>
          <a:prstGeom prst="rect">
            <a:avLst/>
          </a:prstGeom>
          <a:solidFill>
            <a:srgbClr val="F0F0F0">
              <a:alpha val="5949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20</a:t>
            </a:r>
            <a:endParaRPr sz="2200">
              <a:solidFill>
                <a:schemeClr val="dk1"/>
              </a:solidFill>
              <a:latin typeface="Lexend"/>
              <a:ea typeface="Lexend"/>
              <a:cs typeface="Lexend"/>
              <a:sym typeface="Lexend"/>
            </a:endParaRPr>
          </a:p>
        </p:txBody>
      </p:sp>
      <p:sp>
        <p:nvSpPr>
          <p:cNvPr id="1163" name="Google Shape;1163;p85"/>
          <p:cNvSpPr txBox="1"/>
          <p:nvPr/>
        </p:nvSpPr>
        <p:spPr>
          <a:xfrm>
            <a:off x="917125" y="1807675"/>
            <a:ext cx="5339700" cy="396300"/>
          </a:xfrm>
          <a:prstGeom prst="rect">
            <a:avLst/>
          </a:prstGeom>
          <a:solidFill>
            <a:srgbClr val="F0F0F0">
              <a:alpha val="59490"/>
            </a:srgbClr>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80</a:t>
            </a:r>
            <a:endParaRPr sz="2200">
              <a:solidFill>
                <a:schemeClr val="dk1"/>
              </a:solidFill>
              <a:latin typeface="Lexend"/>
              <a:ea typeface="Lexend"/>
              <a:cs typeface="Lexend"/>
              <a:sym typeface="Lexend"/>
            </a:endParaRPr>
          </a:p>
        </p:txBody>
      </p:sp>
      <p:sp>
        <p:nvSpPr>
          <p:cNvPr id="1164" name="Google Shape;1164;p85"/>
          <p:cNvSpPr txBox="1"/>
          <p:nvPr>
            <p:ph idx="1" type="body"/>
          </p:nvPr>
        </p:nvSpPr>
        <p:spPr>
          <a:xfrm>
            <a:off x="324000" y="759300"/>
            <a:ext cx="8237700" cy="1295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1) Write questions and answers for the representation of these bar models:</a:t>
            </a:r>
            <a:endParaRPr/>
          </a:p>
          <a:p>
            <a:pPr indent="0" lvl="0" marL="0" rtl="0" algn="l">
              <a:spcBef>
                <a:spcPts val="1000"/>
              </a:spcBef>
              <a:spcAft>
                <a:spcPts val="1000"/>
              </a:spcAft>
              <a:buNone/>
            </a:pPr>
            <a:r>
              <a:rPr lang="en-GB"/>
              <a:t>c)</a:t>
            </a:r>
            <a:endParaRPr/>
          </a:p>
        </p:txBody>
      </p:sp>
      <p:sp>
        <p:nvSpPr>
          <p:cNvPr id="1165" name="Google Shape;1165;p85"/>
          <p:cNvSpPr txBox="1"/>
          <p:nvPr/>
        </p:nvSpPr>
        <p:spPr>
          <a:xfrm>
            <a:off x="451725" y="2759525"/>
            <a:ext cx="4372200" cy="20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Kalam"/>
                <a:ea typeface="Kalam"/>
                <a:cs typeface="Kalam"/>
                <a:sym typeface="Kalam"/>
              </a:rPr>
              <a:t>Possible questions:</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Increase 80 by 25%</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Work out 125% of 80</a:t>
            </a:r>
            <a:endParaRPr sz="22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rPr lang="en-GB" sz="2200">
                <a:solidFill>
                  <a:schemeClr val="dk1"/>
                </a:solidFill>
                <a:latin typeface="Kalam"/>
                <a:ea typeface="Kalam"/>
                <a:cs typeface="Kalam"/>
                <a:sym typeface="Kalam"/>
              </a:rPr>
              <a:t>What percentage</a:t>
            </a:r>
            <a:r>
              <a:rPr lang="en-GB" sz="2200">
                <a:solidFill>
                  <a:schemeClr val="dk1"/>
                </a:solidFill>
                <a:latin typeface="Kalam"/>
                <a:ea typeface="Kalam"/>
                <a:cs typeface="Kalam"/>
                <a:sym typeface="Kalam"/>
              </a:rPr>
              <a:t> of 80</a:t>
            </a:r>
            <a:r>
              <a:rPr lang="en-GB" sz="2200">
                <a:solidFill>
                  <a:schemeClr val="dk1"/>
                </a:solidFill>
                <a:latin typeface="Kalam"/>
                <a:ea typeface="Kalam"/>
                <a:cs typeface="Kalam"/>
                <a:sym typeface="Kalam"/>
              </a:rPr>
              <a:t> is 100?</a:t>
            </a:r>
            <a:endParaRPr sz="2200">
              <a:solidFill>
                <a:schemeClr val="dk1"/>
              </a:solidFill>
              <a:latin typeface="Kalam"/>
              <a:ea typeface="Kalam"/>
              <a:cs typeface="Kalam"/>
              <a:sym typeface="Kalam"/>
            </a:endParaRPr>
          </a:p>
        </p:txBody>
      </p:sp>
      <p:sp>
        <p:nvSpPr>
          <p:cNvPr id="1166" name="Google Shape;1166;p85"/>
          <p:cNvSpPr txBox="1"/>
          <p:nvPr/>
        </p:nvSpPr>
        <p:spPr>
          <a:xfrm>
            <a:off x="4732075" y="2768450"/>
            <a:ext cx="1441500" cy="20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Kalam"/>
                <a:ea typeface="Kalam"/>
                <a:cs typeface="Kalam"/>
                <a:sym typeface="Kalam"/>
              </a:rPr>
              <a:t>Answers:</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100</a:t>
            </a:r>
            <a:endParaRPr sz="22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200">
                <a:solidFill>
                  <a:schemeClr val="dk1"/>
                </a:solidFill>
                <a:latin typeface="Kalam"/>
                <a:ea typeface="Kalam"/>
                <a:cs typeface="Kalam"/>
                <a:sym typeface="Kalam"/>
              </a:rPr>
              <a:t>100</a:t>
            </a:r>
            <a:endParaRPr sz="22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rPr lang="en-GB" sz="2200">
                <a:solidFill>
                  <a:schemeClr val="dk1"/>
                </a:solidFill>
                <a:latin typeface="Kalam"/>
                <a:ea typeface="Kalam"/>
                <a:cs typeface="Kalam"/>
                <a:sym typeface="Kalam"/>
              </a:rPr>
              <a:t>125%</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8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Drawing bar models, show how you work out:</a:t>
            </a:r>
            <a:endParaRPr/>
          </a:p>
          <a:p>
            <a:pPr indent="-368300" lvl="0" marL="457200" rtl="0" algn="l">
              <a:spcBef>
                <a:spcPts val="1000"/>
              </a:spcBef>
              <a:spcAft>
                <a:spcPts val="0"/>
              </a:spcAft>
              <a:buSzPts val="2200"/>
              <a:buAutoNum type="alphaLcParenR"/>
            </a:pPr>
            <a:r>
              <a:rPr lang="en-GB"/>
              <a:t>An increase of 30% to 640</a:t>
            </a:r>
            <a:endParaRPr/>
          </a:p>
          <a:p>
            <a:pPr indent="0" lvl="0" marL="0" rtl="0" algn="l">
              <a:spcBef>
                <a:spcPts val="1000"/>
              </a:spcBef>
              <a:spcAft>
                <a:spcPts val="1000"/>
              </a:spcAft>
              <a:buNone/>
            </a:pPr>
            <a:r>
              <a:t/>
            </a:r>
            <a:endParaRPr/>
          </a:p>
        </p:txBody>
      </p:sp>
      <p:sp>
        <p:nvSpPr>
          <p:cNvPr id="1172" name="Google Shape;1172;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graphicFrame>
        <p:nvGraphicFramePr>
          <p:cNvPr id="1173" name="Google Shape;1173;p86"/>
          <p:cNvGraphicFramePr/>
          <p:nvPr/>
        </p:nvGraphicFramePr>
        <p:xfrm>
          <a:off x="667550" y="2027400"/>
          <a:ext cx="3000000" cy="3000000"/>
        </p:xfrm>
        <a:graphic>
          <a:graphicData uri="http://schemas.openxmlformats.org/drawingml/2006/table">
            <a:tbl>
              <a:tblPr>
                <a:noFill/>
                <a:tableStyleId>{5676FB72-93CE-4E66-9494-FAFA15B1102A}</a:tableStyleId>
              </a:tblPr>
              <a:tblGrid>
                <a:gridCol w="573425"/>
                <a:gridCol w="573425"/>
                <a:gridCol w="573425"/>
                <a:gridCol w="573425"/>
                <a:gridCol w="573425"/>
                <a:gridCol w="573425"/>
                <a:gridCol w="573425"/>
                <a:gridCol w="573425"/>
                <a:gridCol w="573425"/>
                <a:gridCol w="573425"/>
              </a:tblGrid>
              <a:tr h="613500">
                <a:tc>
                  <a:txBody>
                    <a:bodyPr/>
                    <a:lstStyle/>
                    <a:p>
                      <a:pPr indent="0" lvl="0" marL="0" rtl="0" algn="ctr">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sz="23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grpSp>
        <p:nvGrpSpPr>
          <p:cNvPr id="1174" name="Google Shape;1174;p86"/>
          <p:cNvGrpSpPr/>
          <p:nvPr/>
        </p:nvGrpSpPr>
        <p:grpSpPr>
          <a:xfrm>
            <a:off x="667506" y="2717077"/>
            <a:ext cx="5734027" cy="565946"/>
            <a:chOff x="889825" y="3483600"/>
            <a:chExt cx="5213700" cy="565946"/>
          </a:xfrm>
        </p:grpSpPr>
        <p:sp>
          <p:nvSpPr>
            <p:cNvPr id="1175" name="Google Shape;1175;p86"/>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lam"/>
                <a:ea typeface="Kalam"/>
                <a:cs typeface="Kalam"/>
                <a:sym typeface="Kalam"/>
              </a:endParaRPr>
            </a:p>
          </p:txBody>
        </p:sp>
        <p:sp>
          <p:nvSpPr>
            <p:cNvPr id="1176" name="Google Shape;1176;p86"/>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100%</a:t>
              </a:r>
              <a:endParaRPr sz="2200">
                <a:solidFill>
                  <a:srgbClr val="000000"/>
                </a:solidFill>
                <a:latin typeface="Kalam"/>
                <a:ea typeface="Kalam"/>
                <a:cs typeface="Kalam"/>
                <a:sym typeface="Kalam"/>
              </a:endParaRPr>
            </a:p>
          </p:txBody>
        </p:sp>
      </p:grpSp>
      <p:graphicFrame>
        <p:nvGraphicFramePr>
          <p:cNvPr id="1177" name="Google Shape;1177;p86"/>
          <p:cNvGraphicFramePr/>
          <p:nvPr/>
        </p:nvGraphicFramePr>
        <p:xfrm>
          <a:off x="6401800" y="2017950"/>
          <a:ext cx="3000000" cy="3000000"/>
        </p:xfrm>
        <a:graphic>
          <a:graphicData uri="http://schemas.openxmlformats.org/drawingml/2006/table">
            <a:tbl>
              <a:tblPr>
                <a:noFill/>
                <a:tableStyleId>{5676FB72-93CE-4E66-9494-FAFA15B1102A}</a:tableStyleId>
              </a:tblPr>
              <a:tblGrid>
                <a:gridCol w="573425"/>
                <a:gridCol w="573425"/>
                <a:gridCol w="5734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sp>
        <p:nvSpPr>
          <p:cNvPr id="1178" name="Google Shape;1178;p86"/>
          <p:cNvSpPr txBox="1"/>
          <p:nvPr/>
        </p:nvSpPr>
        <p:spPr>
          <a:xfrm>
            <a:off x="6401790" y="2091188"/>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64</a:t>
            </a:r>
            <a:endParaRPr sz="2000">
              <a:latin typeface="Kalam"/>
              <a:ea typeface="Kalam"/>
              <a:cs typeface="Kalam"/>
              <a:sym typeface="Kalam"/>
            </a:endParaRPr>
          </a:p>
        </p:txBody>
      </p:sp>
      <p:sp>
        <p:nvSpPr>
          <p:cNvPr id="1179" name="Google Shape;1179;p86"/>
          <p:cNvSpPr txBox="1"/>
          <p:nvPr/>
        </p:nvSpPr>
        <p:spPr>
          <a:xfrm>
            <a:off x="6953647" y="2091188"/>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64</a:t>
            </a:r>
            <a:endParaRPr sz="2000">
              <a:latin typeface="Kalam"/>
              <a:ea typeface="Kalam"/>
              <a:cs typeface="Kalam"/>
              <a:sym typeface="Kalam"/>
            </a:endParaRPr>
          </a:p>
        </p:txBody>
      </p:sp>
      <p:sp>
        <p:nvSpPr>
          <p:cNvPr id="1180" name="Google Shape;1180;p86"/>
          <p:cNvSpPr txBox="1"/>
          <p:nvPr/>
        </p:nvSpPr>
        <p:spPr>
          <a:xfrm>
            <a:off x="7499340" y="2091188"/>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64</a:t>
            </a:r>
            <a:endParaRPr sz="2000">
              <a:latin typeface="Kalam"/>
              <a:ea typeface="Kalam"/>
              <a:cs typeface="Kalam"/>
              <a:sym typeface="Kalam"/>
            </a:endParaRPr>
          </a:p>
        </p:txBody>
      </p:sp>
      <p:sp>
        <p:nvSpPr>
          <p:cNvPr id="1181" name="Google Shape;1181;p86"/>
          <p:cNvSpPr/>
          <p:nvPr/>
        </p:nvSpPr>
        <p:spPr>
          <a:xfrm rot="5400000">
            <a:off x="7177696" y="1009775"/>
            <a:ext cx="174000" cy="170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2" name="Google Shape;1182;p86"/>
          <p:cNvSpPr txBox="1"/>
          <p:nvPr/>
        </p:nvSpPr>
        <p:spPr>
          <a:xfrm>
            <a:off x="6778291" y="1422133"/>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Kalam"/>
                <a:ea typeface="Kalam"/>
                <a:cs typeface="Kalam"/>
                <a:sym typeface="Kalam"/>
              </a:rPr>
              <a:t>30%</a:t>
            </a:r>
            <a:endParaRPr sz="1800">
              <a:solidFill>
                <a:srgbClr val="000000"/>
              </a:solidFill>
              <a:latin typeface="Kalam"/>
              <a:ea typeface="Kalam"/>
              <a:cs typeface="Kalam"/>
              <a:sym typeface="Kalam"/>
            </a:endParaRPr>
          </a:p>
        </p:txBody>
      </p:sp>
      <p:graphicFrame>
        <p:nvGraphicFramePr>
          <p:cNvPr id="1183" name="Google Shape;1183;p86"/>
          <p:cNvGraphicFramePr/>
          <p:nvPr/>
        </p:nvGraphicFramePr>
        <p:xfrm>
          <a:off x="667559" y="2030742"/>
          <a:ext cx="3000000" cy="3000000"/>
        </p:xfrm>
        <a:graphic>
          <a:graphicData uri="http://schemas.openxmlformats.org/drawingml/2006/table">
            <a:tbl>
              <a:tblPr>
                <a:noFill/>
                <a:tableStyleId>{5676FB72-93CE-4E66-9494-FAFA15B1102A}</a:tableStyleId>
              </a:tblPr>
              <a:tblGrid>
                <a:gridCol w="5734250"/>
              </a:tblGrid>
              <a:tr h="613500">
                <a:tc>
                  <a:txBody>
                    <a:bodyPr/>
                    <a:lstStyle/>
                    <a:p>
                      <a:pPr indent="0" lvl="0" marL="0" rtl="0" algn="ctr">
                        <a:spcBef>
                          <a:spcPts val="0"/>
                        </a:spcBef>
                        <a:spcAft>
                          <a:spcPts val="0"/>
                        </a:spcAft>
                        <a:buNone/>
                      </a:pPr>
                      <a:r>
                        <a:rPr lang="en-GB" sz="2700">
                          <a:latin typeface="Lexend"/>
                          <a:ea typeface="Lexend"/>
                          <a:cs typeface="Lexend"/>
                          <a:sym typeface="Lexend"/>
                        </a:rPr>
                        <a:t>640</a:t>
                      </a:r>
                      <a:endParaRPr sz="27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1184" name="Google Shape;1184;p86"/>
          <p:cNvSpPr txBox="1"/>
          <p:nvPr/>
        </p:nvSpPr>
        <p:spPr>
          <a:xfrm>
            <a:off x="1359766" y="3780000"/>
            <a:ext cx="6507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Increasing 640 by 30% is 640 + 64 × 3 = 832 </a:t>
            </a:r>
            <a:endParaRPr sz="22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87"/>
          <p:cNvSpPr txBox="1"/>
          <p:nvPr>
            <p:ph idx="1" type="body"/>
          </p:nvPr>
        </p:nvSpPr>
        <p:spPr>
          <a:xfrm>
            <a:off x="324000" y="759300"/>
            <a:ext cx="8237700" cy="99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Drawing bar models, show how you work out:</a:t>
            </a:r>
            <a:endParaRPr/>
          </a:p>
          <a:p>
            <a:pPr indent="0" lvl="0" marL="0" rtl="0" algn="l">
              <a:spcBef>
                <a:spcPts val="1000"/>
              </a:spcBef>
              <a:spcAft>
                <a:spcPts val="0"/>
              </a:spcAft>
              <a:buNone/>
            </a:pPr>
            <a:r>
              <a:rPr lang="en-GB"/>
              <a:t>b) 125% of 900</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190" name="Google Shape;1190;p8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1191" name="Google Shape;1191;p87"/>
          <p:cNvSpPr txBox="1"/>
          <p:nvPr/>
        </p:nvSpPr>
        <p:spPr>
          <a:xfrm>
            <a:off x="1359766" y="3780000"/>
            <a:ext cx="6507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125% of 900 is 900 + 90 </a:t>
            </a:r>
            <a:r>
              <a:rPr lang="en-GB" sz="2200">
                <a:solidFill>
                  <a:schemeClr val="dk1"/>
                </a:solidFill>
                <a:latin typeface="Kalam"/>
                <a:ea typeface="Kalam"/>
                <a:cs typeface="Kalam"/>
                <a:sym typeface="Kalam"/>
              </a:rPr>
              <a:t>× 2 + 45 = 1125</a:t>
            </a:r>
            <a:r>
              <a:rPr lang="en-GB" sz="2200">
                <a:latin typeface="Kalam"/>
                <a:ea typeface="Kalam"/>
                <a:cs typeface="Kalam"/>
                <a:sym typeface="Kalam"/>
              </a:rPr>
              <a:t> </a:t>
            </a:r>
            <a:endParaRPr sz="2200">
              <a:solidFill>
                <a:srgbClr val="000000"/>
              </a:solidFill>
              <a:latin typeface="Kalam"/>
              <a:ea typeface="Kalam"/>
              <a:cs typeface="Kalam"/>
              <a:sym typeface="Kalam"/>
            </a:endParaRPr>
          </a:p>
        </p:txBody>
      </p:sp>
      <p:graphicFrame>
        <p:nvGraphicFramePr>
          <p:cNvPr id="1192" name="Google Shape;1192;p87"/>
          <p:cNvGraphicFramePr/>
          <p:nvPr/>
        </p:nvGraphicFramePr>
        <p:xfrm>
          <a:off x="667550" y="2256000"/>
          <a:ext cx="3000000" cy="3000000"/>
        </p:xfrm>
        <a:graphic>
          <a:graphicData uri="http://schemas.openxmlformats.org/drawingml/2006/table">
            <a:tbl>
              <a:tblPr>
                <a:noFill/>
                <a:tableStyleId>{5676FB72-93CE-4E66-9494-FAFA15B1102A}</a:tableStyleId>
              </a:tblPr>
              <a:tblGrid>
                <a:gridCol w="573425"/>
                <a:gridCol w="573425"/>
                <a:gridCol w="573425"/>
                <a:gridCol w="573425"/>
                <a:gridCol w="573425"/>
                <a:gridCol w="573425"/>
                <a:gridCol w="573425"/>
                <a:gridCol w="573425"/>
                <a:gridCol w="573425"/>
                <a:gridCol w="5734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graphicFrame>
        <p:nvGraphicFramePr>
          <p:cNvPr id="1193" name="Google Shape;1193;p87"/>
          <p:cNvGraphicFramePr/>
          <p:nvPr/>
        </p:nvGraphicFramePr>
        <p:xfrm>
          <a:off x="660384" y="2248942"/>
          <a:ext cx="3000000" cy="3000000"/>
        </p:xfrm>
        <a:graphic>
          <a:graphicData uri="http://schemas.openxmlformats.org/drawingml/2006/table">
            <a:tbl>
              <a:tblPr>
                <a:noFill/>
                <a:tableStyleId>{5676FB72-93CE-4E66-9494-FAFA15B1102A}</a:tableStyleId>
              </a:tblPr>
              <a:tblGrid>
                <a:gridCol w="5734250"/>
              </a:tblGrid>
              <a:tr h="613500">
                <a:tc>
                  <a:txBody>
                    <a:bodyPr/>
                    <a:lstStyle/>
                    <a:p>
                      <a:pPr indent="0" lvl="0" marL="0" rtl="0" algn="ctr">
                        <a:spcBef>
                          <a:spcPts val="0"/>
                        </a:spcBef>
                        <a:spcAft>
                          <a:spcPts val="0"/>
                        </a:spcAft>
                        <a:buNone/>
                      </a:pPr>
                      <a:r>
                        <a:rPr lang="en-GB" sz="2700">
                          <a:latin typeface="Kalam"/>
                          <a:ea typeface="Kalam"/>
                          <a:cs typeface="Kalam"/>
                          <a:sym typeface="Kalam"/>
                        </a:rPr>
                        <a:t>900</a:t>
                      </a:r>
                      <a:endParaRPr sz="2700">
                        <a:latin typeface="Kalam"/>
                        <a:ea typeface="Kalam"/>
                        <a:cs typeface="Kalam"/>
                        <a:sym typeface="Kalam"/>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pSp>
        <p:nvGrpSpPr>
          <p:cNvPr id="1194" name="Google Shape;1194;p87"/>
          <p:cNvGrpSpPr/>
          <p:nvPr/>
        </p:nvGrpSpPr>
        <p:grpSpPr>
          <a:xfrm>
            <a:off x="667506" y="2945677"/>
            <a:ext cx="5734027" cy="565946"/>
            <a:chOff x="889825" y="3483600"/>
            <a:chExt cx="5213700" cy="565946"/>
          </a:xfrm>
        </p:grpSpPr>
        <p:sp>
          <p:nvSpPr>
            <p:cNvPr id="1195" name="Google Shape;1195;p87"/>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lam"/>
                <a:ea typeface="Kalam"/>
                <a:cs typeface="Kalam"/>
                <a:sym typeface="Kalam"/>
              </a:endParaRPr>
            </a:p>
          </p:txBody>
        </p:sp>
        <p:sp>
          <p:nvSpPr>
            <p:cNvPr id="1196" name="Google Shape;1196;p87"/>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100%</a:t>
              </a:r>
              <a:endParaRPr sz="2200">
                <a:solidFill>
                  <a:srgbClr val="000000"/>
                </a:solidFill>
                <a:latin typeface="Kalam"/>
                <a:ea typeface="Kalam"/>
                <a:cs typeface="Kalam"/>
                <a:sym typeface="Kalam"/>
              </a:endParaRPr>
            </a:p>
          </p:txBody>
        </p:sp>
      </p:grpSp>
      <p:graphicFrame>
        <p:nvGraphicFramePr>
          <p:cNvPr id="1197" name="Google Shape;1197;p87"/>
          <p:cNvGraphicFramePr/>
          <p:nvPr/>
        </p:nvGraphicFramePr>
        <p:xfrm>
          <a:off x="6401800" y="2246550"/>
          <a:ext cx="3000000" cy="3000000"/>
        </p:xfrm>
        <a:graphic>
          <a:graphicData uri="http://schemas.openxmlformats.org/drawingml/2006/table">
            <a:tbl>
              <a:tblPr>
                <a:noFill/>
                <a:tableStyleId>{5676FB72-93CE-4E66-9494-FAFA15B1102A}</a:tableStyleId>
              </a:tblPr>
              <a:tblGrid>
                <a:gridCol w="573425"/>
                <a:gridCol w="5734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sp>
        <p:nvSpPr>
          <p:cNvPr id="1198" name="Google Shape;1198;p87"/>
          <p:cNvSpPr txBox="1"/>
          <p:nvPr/>
        </p:nvSpPr>
        <p:spPr>
          <a:xfrm>
            <a:off x="6401790" y="2319788"/>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90</a:t>
            </a:r>
            <a:endParaRPr sz="2000">
              <a:latin typeface="Kalam"/>
              <a:ea typeface="Kalam"/>
              <a:cs typeface="Kalam"/>
              <a:sym typeface="Kalam"/>
            </a:endParaRPr>
          </a:p>
        </p:txBody>
      </p:sp>
      <p:sp>
        <p:nvSpPr>
          <p:cNvPr id="1199" name="Google Shape;1199;p87"/>
          <p:cNvSpPr txBox="1"/>
          <p:nvPr/>
        </p:nvSpPr>
        <p:spPr>
          <a:xfrm>
            <a:off x="6953647" y="2319788"/>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90</a:t>
            </a:r>
            <a:endParaRPr sz="2000">
              <a:latin typeface="Kalam"/>
              <a:ea typeface="Kalam"/>
              <a:cs typeface="Kalam"/>
              <a:sym typeface="Kalam"/>
            </a:endParaRPr>
          </a:p>
        </p:txBody>
      </p:sp>
      <p:sp>
        <p:nvSpPr>
          <p:cNvPr id="1200" name="Google Shape;1200;p87"/>
          <p:cNvSpPr/>
          <p:nvPr/>
        </p:nvSpPr>
        <p:spPr>
          <a:xfrm rot="5400000">
            <a:off x="6898574" y="1517525"/>
            <a:ext cx="174000" cy="1145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1" name="Google Shape;1201;p87"/>
          <p:cNvSpPr txBox="1"/>
          <p:nvPr/>
        </p:nvSpPr>
        <p:spPr>
          <a:xfrm>
            <a:off x="6549691" y="1650733"/>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Kalam"/>
                <a:ea typeface="Kalam"/>
                <a:cs typeface="Kalam"/>
                <a:sym typeface="Kalam"/>
              </a:rPr>
              <a:t>20%</a:t>
            </a:r>
            <a:endParaRPr sz="1800">
              <a:solidFill>
                <a:srgbClr val="000000"/>
              </a:solidFill>
              <a:latin typeface="Kalam"/>
              <a:ea typeface="Kalam"/>
              <a:cs typeface="Kalam"/>
              <a:sym typeface="Kalam"/>
            </a:endParaRPr>
          </a:p>
        </p:txBody>
      </p:sp>
      <p:graphicFrame>
        <p:nvGraphicFramePr>
          <p:cNvPr id="1202" name="Google Shape;1202;p87"/>
          <p:cNvGraphicFramePr/>
          <p:nvPr/>
        </p:nvGraphicFramePr>
        <p:xfrm>
          <a:off x="7547088" y="2246095"/>
          <a:ext cx="3000000" cy="3000000"/>
        </p:xfrm>
        <a:graphic>
          <a:graphicData uri="http://schemas.openxmlformats.org/drawingml/2006/table">
            <a:tbl>
              <a:tblPr>
                <a:noFill/>
                <a:tableStyleId>{5676FB72-93CE-4E66-9494-FAFA15B1102A}</a:tableStyleId>
              </a:tblPr>
              <a:tblGrid>
                <a:gridCol w="286725"/>
                <a:gridCol w="2867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alpha val="0"/>
                        </a:schemeClr>
                      </a:solidFill>
                      <a:prstDash val="solid"/>
                      <a:round/>
                      <a:headEnd len="sm" w="sm" type="none"/>
                      <a:tailEnd len="sm" w="sm" type="none"/>
                    </a:lnT>
                    <a:lnB cap="flat" cmpd="sng" w="28575">
                      <a:solidFill>
                        <a:schemeClr val="dk1">
                          <a:alpha val="0"/>
                        </a:schemeClr>
                      </a:solidFill>
                      <a:prstDash val="solid"/>
                      <a:round/>
                      <a:headEnd len="sm" w="sm" type="none"/>
                      <a:tailEnd len="sm" w="sm" type="none"/>
                    </a:lnB>
                  </a:tcPr>
                </a:tc>
              </a:tr>
            </a:tbl>
          </a:graphicData>
        </a:graphic>
      </p:graphicFrame>
      <p:sp>
        <p:nvSpPr>
          <p:cNvPr id="1203" name="Google Shape;1203;p87"/>
          <p:cNvSpPr/>
          <p:nvPr/>
        </p:nvSpPr>
        <p:spPr>
          <a:xfrm rot="5400000">
            <a:off x="7581200" y="1940650"/>
            <a:ext cx="179100" cy="290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4" name="Google Shape;1204;p87"/>
          <p:cNvSpPr txBox="1"/>
          <p:nvPr/>
        </p:nvSpPr>
        <p:spPr>
          <a:xfrm>
            <a:off x="7335138" y="1650733"/>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Kalam"/>
                <a:ea typeface="Kalam"/>
                <a:cs typeface="Kalam"/>
                <a:sym typeface="Kalam"/>
              </a:rPr>
              <a:t>5%</a:t>
            </a:r>
            <a:endParaRPr sz="1800">
              <a:solidFill>
                <a:srgbClr val="000000"/>
              </a:solidFill>
              <a:latin typeface="Kalam"/>
              <a:ea typeface="Kalam"/>
              <a:cs typeface="Kalam"/>
              <a:sym typeface="Kalam"/>
            </a:endParaRPr>
          </a:p>
        </p:txBody>
      </p:sp>
      <p:sp>
        <p:nvSpPr>
          <p:cNvPr id="1205" name="Google Shape;1205;p87"/>
          <p:cNvSpPr txBox="1"/>
          <p:nvPr/>
        </p:nvSpPr>
        <p:spPr>
          <a:xfrm>
            <a:off x="7414769" y="2293825"/>
            <a:ext cx="573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45</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88"/>
          <p:cNvSpPr txBox="1"/>
          <p:nvPr>
            <p:ph idx="1" type="body"/>
          </p:nvPr>
        </p:nvSpPr>
        <p:spPr>
          <a:xfrm>
            <a:off x="324000" y="759300"/>
            <a:ext cx="8237700" cy="108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Drawing bar models, show how you work out:</a:t>
            </a:r>
            <a:endParaRPr/>
          </a:p>
          <a:p>
            <a:pPr indent="0" lvl="0" marL="0" rtl="0" algn="l">
              <a:spcBef>
                <a:spcPts val="1000"/>
              </a:spcBef>
              <a:spcAft>
                <a:spcPts val="0"/>
              </a:spcAft>
              <a:buClr>
                <a:schemeClr val="dk1"/>
              </a:buClr>
              <a:buSzPts val="1100"/>
              <a:buFont typeface="Arial"/>
              <a:buNone/>
            </a:pPr>
            <a:r>
              <a:rPr lang="en-GB"/>
              <a:t>c) Increase 700 by 95%</a:t>
            </a:r>
            <a:endParaRPr/>
          </a:p>
          <a:p>
            <a:pPr indent="0" lvl="0" marL="0" rtl="0" algn="l">
              <a:spcBef>
                <a:spcPts val="1000"/>
              </a:spcBef>
              <a:spcAft>
                <a:spcPts val="1000"/>
              </a:spcAft>
              <a:buNone/>
            </a:pPr>
            <a:r>
              <a:t/>
            </a:r>
            <a:endParaRPr/>
          </a:p>
        </p:txBody>
      </p:sp>
      <p:sp>
        <p:nvSpPr>
          <p:cNvPr id="1211" name="Google Shape;1211;p8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1212" name="Google Shape;1212;p88"/>
          <p:cNvSpPr txBox="1"/>
          <p:nvPr/>
        </p:nvSpPr>
        <p:spPr>
          <a:xfrm>
            <a:off x="1359766" y="3780000"/>
            <a:ext cx="6507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Increase 700 by 95% is 700 + 70 </a:t>
            </a:r>
            <a:r>
              <a:rPr lang="en-GB" sz="2200">
                <a:solidFill>
                  <a:schemeClr val="dk1"/>
                </a:solidFill>
                <a:latin typeface="Kalam"/>
                <a:ea typeface="Kalam"/>
                <a:cs typeface="Kalam"/>
                <a:sym typeface="Kalam"/>
              </a:rPr>
              <a:t>× 9 + 35 = 1365</a:t>
            </a:r>
            <a:endParaRPr sz="2200">
              <a:solidFill>
                <a:srgbClr val="000000"/>
              </a:solidFill>
              <a:latin typeface="Kalam"/>
              <a:ea typeface="Kalam"/>
              <a:cs typeface="Kalam"/>
              <a:sym typeface="Kalam"/>
            </a:endParaRPr>
          </a:p>
        </p:txBody>
      </p:sp>
      <p:graphicFrame>
        <p:nvGraphicFramePr>
          <p:cNvPr id="1213" name="Google Shape;1213;p88"/>
          <p:cNvGraphicFramePr/>
          <p:nvPr/>
        </p:nvGraphicFramePr>
        <p:xfrm>
          <a:off x="497050" y="2051888"/>
          <a:ext cx="3000000" cy="3000000"/>
        </p:xfrm>
        <a:graphic>
          <a:graphicData uri="http://schemas.openxmlformats.org/drawingml/2006/table">
            <a:tbl>
              <a:tblPr>
                <a:noFill/>
                <a:tableStyleId>{5676FB72-93CE-4E66-9494-FAFA15B1102A}</a:tableStyleId>
              </a:tblPr>
              <a:tblGrid>
                <a:gridCol w="382850"/>
                <a:gridCol w="382850"/>
                <a:gridCol w="382850"/>
                <a:gridCol w="382850"/>
                <a:gridCol w="382850"/>
                <a:gridCol w="382850"/>
                <a:gridCol w="382850"/>
                <a:gridCol w="382850"/>
                <a:gridCol w="382850"/>
                <a:gridCol w="382850"/>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graphicFrame>
        <p:nvGraphicFramePr>
          <p:cNvPr id="1214" name="Google Shape;1214;p88"/>
          <p:cNvGraphicFramePr/>
          <p:nvPr/>
        </p:nvGraphicFramePr>
        <p:xfrm>
          <a:off x="516396" y="2065197"/>
          <a:ext cx="3000000" cy="3000000"/>
        </p:xfrm>
        <a:graphic>
          <a:graphicData uri="http://schemas.openxmlformats.org/drawingml/2006/table">
            <a:tbl>
              <a:tblPr>
                <a:noFill/>
                <a:tableStyleId>{5676FB72-93CE-4E66-9494-FAFA15B1102A}</a:tableStyleId>
              </a:tblPr>
              <a:tblGrid>
                <a:gridCol w="3811875"/>
              </a:tblGrid>
              <a:tr h="613500">
                <a:tc>
                  <a:txBody>
                    <a:bodyPr/>
                    <a:lstStyle/>
                    <a:p>
                      <a:pPr indent="0" lvl="0" marL="0" rtl="0" algn="ctr">
                        <a:spcBef>
                          <a:spcPts val="0"/>
                        </a:spcBef>
                        <a:spcAft>
                          <a:spcPts val="0"/>
                        </a:spcAft>
                        <a:buNone/>
                      </a:pPr>
                      <a:r>
                        <a:rPr lang="en-GB" sz="2700">
                          <a:latin typeface="Lexend"/>
                          <a:ea typeface="Lexend"/>
                          <a:cs typeface="Lexend"/>
                          <a:sym typeface="Lexend"/>
                        </a:rPr>
                        <a:t>700</a:t>
                      </a:r>
                      <a:endParaRPr sz="27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pSp>
        <p:nvGrpSpPr>
          <p:cNvPr id="1215" name="Google Shape;1215;p88"/>
          <p:cNvGrpSpPr/>
          <p:nvPr/>
        </p:nvGrpSpPr>
        <p:grpSpPr>
          <a:xfrm>
            <a:off x="508113" y="2782127"/>
            <a:ext cx="3828420" cy="565946"/>
            <a:chOff x="889825" y="3483600"/>
            <a:chExt cx="5213700" cy="565946"/>
          </a:xfrm>
        </p:grpSpPr>
        <p:sp>
          <p:nvSpPr>
            <p:cNvPr id="1216" name="Google Shape;1216;p88"/>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lam"/>
                <a:ea typeface="Kalam"/>
                <a:cs typeface="Kalam"/>
                <a:sym typeface="Kalam"/>
              </a:endParaRPr>
            </a:p>
          </p:txBody>
        </p:sp>
        <p:sp>
          <p:nvSpPr>
            <p:cNvPr id="1217" name="Google Shape;1217;p88"/>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100%</a:t>
              </a:r>
              <a:endParaRPr sz="2200">
                <a:solidFill>
                  <a:srgbClr val="000000"/>
                </a:solidFill>
                <a:latin typeface="Kalam"/>
                <a:ea typeface="Kalam"/>
                <a:cs typeface="Kalam"/>
                <a:sym typeface="Kalam"/>
              </a:endParaRPr>
            </a:p>
          </p:txBody>
        </p:sp>
      </p:grpSp>
      <p:sp>
        <p:nvSpPr>
          <p:cNvPr id="1218" name="Google Shape;1218;p88"/>
          <p:cNvSpPr txBox="1"/>
          <p:nvPr/>
        </p:nvSpPr>
        <p:spPr>
          <a:xfrm>
            <a:off x="5697016" y="1429945"/>
            <a:ext cx="936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Kalam"/>
                <a:ea typeface="Kalam"/>
                <a:cs typeface="Kalam"/>
                <a:sym typeface="Kalam"/>
              </a:rPr>
              <a:t>90%</a:t>
            </a:r>
            <a:endParaRPr sz="1800">
              <a:solidFill>
                <a:srgbClr val="000000"/>
              </a:solidFill>
              <a:latin typeface="Kalam"/>
              <a:ea typeface="Kalam"/>
              <a:cs typeface="Kalam"/>
              <a:sym typeface="Kalam"/>
            </a:endParaRPr>
          </a:p>
        </p:txBody>
      </p:sp>
      <p:graphicFrame>
        <p:nvGraphicFramePr>
          <p:cNvPr id="1219" name="Google Shape;1219;p88"/>
          <p:cNvGraphicFramePr/>
          <p:nvPr/>
        </p:nvGraphicFramePr>
        <p:xfrm>
          <a:off x="7782175" y="2051908"/>
          <a:ext cx="3000000" cy="3000000"/>
        </p:xfrm>
        <a:graphic>
          <a:graphicData uri="http://schemas.openxmlformats.org/drawingml/2006/table">
            <a:tbl>
              <a:tblPr>
                <a:noFill/>
                <a:tableStyleId>{5676FB72-93CE-4E66-9494-FAFA15B1102A}</a:tableStyleId>
              </a:tblPr>
              <a:tblGrid>
                <a:gridCol w="286725"/>
                <a:gridCol w="286725"/>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alpha val="0"/>
                        </a:schemeClr>
                      </a:solidFill>
                      <a:prstDash val="solid"/>
                      <a:round/>
                      <a:headEnd len="sm" w="sm" type="none"/>
                      <a:tailEnd len="sm" w="sm" type="none"/>
                    </a:lnT>
                    <a:lnB cap="flat" cmpd="sng" w="28575">
                      <a:solidFill>
                        <a:schemeClr val="dk1">
                          <a:alpha val="0"/>
                        </a:schemeClr>
                      </a:solidFill>
                      <a:prstDash val="solid"/>
                      <a:round/>
                      <a:headEnd len="sm" w="sm" type="none"/>
                      <a:tailEnd len="sm" w="sm" type="none"/>
                    </a:lnB>
                  </a:tcPr>
                </a:tc>
              </a:tr>
            </a:tbl>
          </a:graphicData>
        </a:graphic>
      </p:graphicFrame>
      <p:sp>
        <p:nvSpPr>
          <p:cNvPr id="1220" name="Google Shape;1220;p88"/>
          <p:cNvSpPr/>
          <p:nvPr/>
        </p:nvSpPr>
        <p:spPr>
          <a:xfrm rot="5400000">
            <a:off x="7856522" y="1718293"/>
            <a:ext cx="149100" cy="290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1" name="Google Shape;1221;p88"/>
          <p:cNvSpPr txBox="1"/>
          <p:nvPr/>
        </p:nvSpPr>
        <p:spPr>
          <a:xfrm>
            <a:off x="7595460" y="1498543"/>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Kalam"/>
                <a:ea typeface="Kalam"/>
                <a:cs typeface="Kalam"/>
                <a:sym typeface="Kalam"/>
              </a:rPr>
              <a:t>5%</a:t>
            </a:r>
            <a:endParaRPr sz="1800">
              <a:solidFill>
                <a:srgbClr val="000000"/>
              </a:solidFill>
              <a:latin typeface="Kalam"/>
              <a:ea typeface="Kalam"/>
              <a:cs typeface="Kalam"/>
              <a:sym typeface="Kalam"/>
            </a:endParaRPr>
          </a:p>
        </p:txBody>
      </p:sp>
      <p:graphicFrame>
        <p:nvGraphicFramePr>
          <p:cNvPr id="1222" name="Google Shape;1222;p88"/>
          <p:cNvGraphicFramePr/>
          <p:nvPr/>
        </p:nvGraphicFramePr>
        <p:xfrm>
          <a:off x="4336525" y="2051888"/>
          <a:ext cx="3000000" cy="3000000"/>
        </p:xfrm>
        <a:graphic>
          <a:graphicData uri="http://schemas.openxmlformats.org/drawingml/2006/table">
            <a:tbl>
              <a:tblPr>
                <a:noFill/>
                <a:tableStyleId>{5676FB72-93CE-4E66-9494-FAFA15B1102A}</a:tableStyleId>
              </a:tblPr>
              <a:tblGrid>
                <a:gridCol w="382850"/>
                <a:gridCol w="382850"/>
                <a:gridCol w="382850"/>
                <a:gridCol w="382850"/>
                <a:gridCol w="382850"/>
                <a:gridCol w="382850"/>
                <a:gridCol w="382850"/>
                <a:gridCol w="382850"/>
                <a:gridCol w="382850"/>
              </a:tblGrid>
              <a:tr h="613500">
                <a:tc>
                  <a:txBody>
                    <a:bodyPr/>
                    <a:lstStyle/>
                    <a:p>
                      <a:pPr indent="0" lvl="0" marL="0" rtl="0" algn="ctr">
                        <a:spcBef>
                          <a:spcPts val="0"/>
                        </a:spcBef>
                        <a:spcAft>
                          <a:spcPts val="0"/>
                        </a:spcAft>
                        <a:buNone/>
                      </a:pPr>
                      <a:r>
                        <a:rPr lang="en-GB" sz="1600">
                          <a:latin typeface="Kalam"/>
                          <a:ea typeface="Kalam"/>
                          <a:cs typeface="Kalam"/>
                          <a:sym typeface="Kalam"/>
                        </a:rPr>
                        <a:t>70</a:t>
                      </a:r>
                      <a:endParaRPr sz="16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dk1"/>
                          </a:solidFill>
                          <a:latin typeface="Kalam"/>
                          <a:ea typeface="Kalam"/>
                          <a:cs typeface="Kalam"/>
                          <a:sym typeface="Kalam"/>
                        </a:rPr>
                        <a:t>70</a:t>
                      </a:r>
                      <a:endParaRPr sz="21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rPr lang="en-GB" sz="1600">
                          <a:solidFill>
                            <a:schemeClr val="dk1"/>
                          </a:solidFill>
                          <a:latin typeface="Kalam"/>
                          <a:ea typeface="Kalam"/>
                          <a:cs typeface="Kalam"/>
                          <a:sym typeface="Kalam"/>
                        </a:rPr>
                        <a:t>70</a:t>
                      </a:r>
                      <a:endParaRPr sz="21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dk1"/>
                          </a:solidFill>
                          <a:latin typeface="Kalam"/>
                          <a:ea typeface="Kalam"/>
                          <a:cs typeface="Kalam"/>
                          <a:sym typeface="Kalam"/>
                        </a:rPr>
                        <a:t>70</a:t>
                      </a:r>
                      <a:endParaRPr sz="21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dk1"/>
                          </a:solidFill>
                          <a:latin typeface="Kalam"/>
                          <a:ea typeface="Kalam"/>
                          <a:cs typeface="Kalam"/>
                          <a:sym typeface="Kalam"/>
                        </a:rPr>
                        <a:t>70</a:t>
                      </a:r>
                      <a:endParaRPr sz="21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dk1"/>
                          </a:solidFill>
                          <a:latin typeface="Kalam"/>
                          <a:ea typeface="Kalam"/>
                          <a:cs typeface="Kalam"/>
                          <a:sym typeface="Kalam"/>
                        </a:rPr>
                        <a:t>70</a:t>
                      </a:r>
                      <a:endParaRPr sz="21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dk1"/>
                          </a:solidFill>
                          <a:latin typeface="Kalam"/>
                          <a:ea typeface="Kalam"/>
                          <a:cs typeface="Kalam"/>
                          <a:sym typeface="Kalam"/>
                        </a:rPr>
                        <a:t>70</a:t>
                      </a:r>
                      <a:endParaRPr sz="21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dk1"/>
                          </a:solidFill>
                          <a:latin typeface="Kalam"/>
                          <a:ea typeface="Kalam"/>
                          <a:cs typeface="Kalam"/>
                          <a:sym typeface="Kalam"/>
                        </a:rPr>
                        <a:t>70</a:t>
                      </a:r>
                      <a:endParaRPr sz="21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ctr">
                        <a:spcBef>
                          <a:spcPts val="0"/>
                        </a:spcBef>
                        <a:spcAft>
                          <a:spcPts val="0"/>
                        </a:spcAft>
                        <a:buClr>
                          <a:schemeClr val="dk1"/>
                        </a:buClr>
                        <a:buSzPts val="1100"/>
                        <a:buFont typeface="Arial"/>
                        <a:buNone/>
                      </a:pPr>
                      <a:r>
                        <a:rPr lang="en-GB" sz="1600">
                          <a:solidFill>
                            <a:schemeClr val="dk1"/>
                          </a:solidFill>
                          <a:latin typeface="Kalam"/>
                          <a:ea typeface="Kalam"/>
                          <a:cs typeface="Kalam"/>
                          <a:sym typeface="Kalam"/>
                        </a:rPr>
                        <a:t>70</a:t>
                      </a:r>
                      <a:endParaRPr sz="2100">
                        <a:latin typeface="Kalam"/>
                        <a:ea typeface="Kalam"/>
                        <a:cs typeface="Kalam"/>
                        <a:sym typeface="Kalam"/>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sp>
        <p:nvSpPr>
          <p:cNvPr id="1223" name="Google Shape;1223;p88"/>
          <p:cNvSpPr/>
          <p:nvPr/>
        </p:nvSpPr>
        <p:spPr>
          <a:xfrm rot="5400000">
            <a:off x="5965545" y="156629"/>
            <a:ext cx="199800" cy="34458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4" name="Google Shape;1224;p88"/>
          <p:cNvSpPr txBox="1"/>
          <p:nvPr/>
        </p:nvSpPr>
        <p:spPr>
          <a:xfrm>
            <a:off x="7938890" y="2629988"/>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35</a:t>
            </a:r>
            <a:endParaRPr sz="2000">
              <a:latin typeface="Kalam"/>
              <a:ea typeface="Kalam"/>
              <a:cs typeface="Kalam"/>
              <a:sym typeface="Kalam"/>
            </a:endParaRPr>
          </a:p>
        </p:txBody>
      </p:sp>
      <p:cxnSp>
        <p:nvCxnSpPr>
          <p:cNvPr id="1225" name="Google Shape;1225;p88"/>
          <p:cNvCxnSpPr>
            <a:stCxn id="1224" idx="0"/>
          </p:cNvCxnSpPr>
          <p:nvPr/>
        </p:nvCxnSpPr>
        <p:spPr>
          <a:xfrm rot="10800000">
            <a:off x="7910990" y="2354888"/>
            <a:ext cx="339300" cy="2751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89"/>
          <p:cNvSpPr txBox="1"/>
          <p:nvPr>
            <p:ph idx="1" type="body"/>
          </p:nvPr>
        </p:nvSpPr>
        <p:spPr>
          <a:xfrm>
            <a:off x="324000" y="759300"/>
            <a:ext cx="8237700" cy="108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Drawing bar models, show how you work out:</a:t>
            </a:r>
            <a:endParaRPr/>
          </a:p>
          <a:p>
            <a:pPr indent="0" lvl="0" marL="0" rtl="0" algn="l">
              <a:spcBef>
                <a:spcPts val="1000"/>
              </a:spcBef>
              <a:spcAft>
                <a:spcPts val="1000"/>
              </a:spcAft>
              <a:buNone/>
            </a:pPr>
            <a:r>
              <a:rPr lang="en-GB"/>
              <a:t>c) Increase 700 by 95%</a:t>
            </a:r>
            <a:endParaRPr/>
          </a:p>
        </p:txBody>
      </p:sp>
      <p:sp>
        <p:nvSpPr>
          <p:cNvPr id="1231" name="Google Shape;1231;p8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graphicFrame>
        <p:nvGraphicFramePr>
          <p:cNvPr id="1232" name="Google Shape;1232;p89"/>
          <p:cNvGraphicFramePr/>
          <p:nvPr/>
        </p:nvGraphicFramePr>
        <p:xfrm>
          <a:off x="497050" y="2051888"/>
          <a:ext cx="3000000" cy="3000000"/>
        </p:xfrm>
        <a:graphic>
          <a:graphicData uri="http://schemas.openxmlformats.org/drawingml/2006/table">
            <a:tbl>
              <a:tblPr>
                <a:noFill/>
                <a:tableStyleId>{5676FB72-93CE-4E66-9494-FAFA15B1102A}</a:tableStyleId>
              </a:tblPr>
              <a:tblGrid>
                <a:gridCol w="382850"/>
                <a:gridCol w="382850"/>
                <a:gridCol w="382850"/>
                <a:gridCol w="382850"/>
                <a:gridCol w="382850"/>
                <a:gridCol w="382850"/>
                <a:gridCol w="382850"/>
                <a:gridCol w="382850"/>
                <a:gridCol w="382850"/>
                <a:gridCol w="382850"/>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graphicFrame>
        <p:nvGraphicFramePr>
          <p:cNvPr id="1233" name="Google Shape;1233;p89"/>
          <p:cNvGraphicFramePr/>
          <p:nvPr/>
        </p:nvGraphicFramePr>
        <p:xfrm>
          <a:off x="516396" y="2065197"/>
          <a:ext cx="3000000" cy="3000000"/>
        </p:xfrm>
        <a:graphic>
          <a:graphicData uri="http://schemas.openxmlformats.org/drawingml/2006/table">
            <a:tbl>
              <a:tblPr>
                <a:noFill/>
                <a:tableStyleId>{5676FB72-93CE-4E66-9494-FAFA15B1102A}</a:tableStyleId>
              </a:tblPr>
              <a:tblGrid>
                <a:gridCol w="3811875"/>
              </a:tblGrid>
              <a:tr h="613500">
                <a:tc>
                  <a:txBody>
                    <a:bodyPr/>
                    <a:lstStyle/>
                    <a:p>
                      <a:pPr indent="0" lvl="0" marL="0" rtl="0" algn="ctr">
                        <a:spcBef>
                          <a:spcPts val="0"/>
                        </a:spcBef>
                        <a:spcAft>
                          <a:spcPts val="0"/>
                        </a:spcAft>
                        <a:buNone/>
                      </a:pPr>
                      <a:r>
                        <a:rPr lang="en-GB" sz="2700">
                          <a:latin typeface="Lexend"/>
                          <a:ea typeface="Lexend"/>
                          <a:cs typeface="Lexend"/>
                          <a:sym typeface="Lexend"/>
                        </a:rPr>
                        <a:t>700</a:t>
                      </a:r>
                      <a:endParaRPr sz="27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pSp>
        <p:nvGrpSpPr>
          <p:cNvPr id="1234" name="Google Shape;1234;p89"/>
          <p:cNvGrpSpPr/>
          <p:nvPr/>
        </p:nvGrpSpPr>
        <p:grpSpPr>
          <a:xfrm>
            <a:off x="508113" y="2782127"/>
            <a:ext cx="3828420" cy="565946"/>
            <a:chOff x="889825" y="3483600"/>
            <a:chExt cx="5213700" cy="565946"/>
          </a:xfrm>
        </p:grpSpPr>
        <p:sp>
          <p:nvSpPr>
            <p:cNvPr id="1235" name="Google Shape;1235;p89"/>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lam"/>
                <a:ea typeface="Kalam"/>
                <a:cs typeface="Kalam"/>
                <a:sym typeface="Kalam"/>
              </a:endParaRPr>
            </a:p>
          </p:txBody>
        </p:sp>
        <p:sp>
          <p:nvSpPr>
            <p:cNvPr id="1236" name="Google Shape;1236;p89"/>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100%</a:t>
              </a:r>
              <a:endParaRPr sz="2200">
                <a:solidFill>
                  <a:srgbClr val="000000"/>
                </a:solidFill>
                <a:latin typeface="Kalam"/>
                <a:ea typeface="Kalam"/>
                <a:cs typeface="Kalam"/>
                <a:sym typeface="Kalam"/>
              </a:endParaRPr>
            </a:p>
          </p:txBody>
        </p:sp>
      </p:grpSp>
      <p:sp>
        <p:nvSpPr>
          <p:cNvPr id="1237" name="Google Shape;1237;p89"/>
          <p:cNvSpPr/>
          <p:nvPr/>
        </p:nvSpPr>
        <p:spPr>
          <a:xfrm rot="5400000">
            <a:off x="7990524" y="1855150"/>
            <a:ext cx="149100" cy="1848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8" name="Google Shape;1238;p89"/>
          <p:cNvSpPr txBox="1"/>
          <p:nvPr/>
        </p:nvSpPr>
        <p:spPr>
          <a:xfrm>
            <a:off x="7726785" y="1565993"/>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Kalam"/>
                <a:ea typeface="Kalam"/>
                <a:cs typeface="Kalam"/>
                <a:sym typeface="Kalam"/>
              </a:rPr>
              <a:t>5%</a:t>
            </a:r>
            <a:endParaRPr sz="1800">
              <a:solidFill>
                <a:srgbClr val="000000"/>
              </a:solidFill>
              <a:latin typeface="Kalam"/>
              <a:ea typeface="Kalam"/>
              <a:cs typeface="Kalam"/>
              <a:sym typeface="Kalam"/>
            </a:endParaRPr>
          </a:p>
        </p:txBody>
      </p:sp>
      <p:sp>
        <p:nvSpPr>
          <p:cNvPr id="1239" name="Google Shape;1239;p89"/>
          <p:cNvSpPr txBox="1"/>
          <p:nvPr/>
        </p:nvSpPr>
        <p:spPr>
          <a:xfrm>
            <a:off x="7244265" y="1282663"/>
            <a:ext cx="62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Kalam"/>
                <a:ea typeface="Kalam"/>
                <a:cs typeface="Kalam"/>
                <a:sym typeface="Kalam"/>
              </a:rPr>
              <a:t>35</a:t>
            </a:r>
            <a:endParaRPr sz="2000">
              <a:latin typeface="Kalam"/>
              <a:ea typeface="Kalam"/>
              <a:cs typeface="Kalam"/>
              <a:sym typeface="Kalam"/>
            </a:endParaRPr>
          </a:p>
        </p:txBody>
      </p:sp>
      <p:sp>
        <p:nvSpPr>
          <p:cNvPr id="1240" name="Google Shape;1240;p89"/>
          <p:cNvSpPr txBox="1"/>
          <p:nvPr/>
        </p:nvSpPr>
        <p:spPr>
          <a:xfrm>
            <a:off x="1653291" y="3614950"/>
            <a:ext cx="6507300" cy="1015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A more efficient way to increase 700 by 95% is to add 100% and subtract 5%</a:t>
            </a:r>
            <a:endParaRPr sz="2200">
              <a:latin typeface="Kalam"/>
              <a:ea typeface="Kalam"/>
              <a:cs typeface="Kalam"/>
              <a:sym typeface="Kalam"/>
            </a:endParaRPr>
          </a:p>
          <a:p>
            <a:pPr indent="0" lvl="0" marL="0" rtl="0" algn="l">
              <a:spcBef>
                <a:spcPts val="0"/>
              </a:spcBef>
              <a:spcAft>
                <a:spcPts val="0"/>
              </a:spcAft>
              <a:buNone/>
            </a:pPr>
            <a:r>
              <a:rPr lang="en-GB" sz="2200">
                <a:latin typeface="Kalam"/>
                <a:ea typeface="Kalam"/>
                <a:cs typeface="Kalam"/>
                <a:sym typeface="Kalam"/>
              </a:rPr>
              <a:t>700 + 700 - 35 = 1365</a:t>
            </a:r>
            <a:endParaRPr sz="2200">
              <a:solidFill>
                <a:srgbClr val="000000"/>
              </a:solidFill>
              <a:latin typeface="Kalam"/>
              <a:ea typeface="Kalam"/>
              <a:cs typeface="Kalam"/>
              <a:sym typeface="Kalam"/>
            </a:endParaRPr>
          </a:p>
        </p:txBody>
      </p:sp>
      <p:graphicFrame>
        <p:nvGraphicFramePr>
          <p:cNvPr id="1241" name="Google Shape;1241;p89"/>
          <p:cNvGraphicFramePr/>
          <p:nvPr/>
        </p:nvGraphicFramePr>
        <p:xfrm>
          <a:off x="4307050" y="2051888"/>
          <a:ext cx="3000000" cy="3000000"/>
        </p:xfrm>
        <a:graphic>
          <a:graphicData uri="http://schemas.openxmlformats.org/drawingml/2006/table">
            <a:tbl>
              <a:tblPr>
                <a:noFill/>
                <a:tableStyleId>{5676FB72-93CE-4E66-9494-FAFA15B1102A}</a:tableStyleId>
              </a:tblPr>
              <a:tblGrid>
                <a:gridCol w="382850"/>
                <a:gridCol w="382850"/>
                <a:gridCol w="382850"/>
                <a:gridCol w="382850"/>
                <a:gridCol w="382850"/>
                <a:gridCol w="382850"/>
                <a:gridCol w="382850"/>
                <a:gridCol w="382850"/>
                <a:gridCol w="382850"/>
                <a:gridCol w="382850"/>
              </a:tblGrid>
              <a:tr h="6135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1ACEC">
                        <a:alpha val="49370"/>
                      </a:srgbClr>
                    </a:solidFill>
                  </a:tcPr>
                </a:tc>
              </a:tr>
            </a:tbl>
          </a:graphicData>
        </a:graphic>
      </p:graphicFrame>
      <p:graphicFrame>
        <p:nvGraphicFramePr>
          <p:cNvPr id="1242" name="Google Shape;1242;p89"/>
          <p:cNvGraphicFramePr/>
          <p:nvPr/>
        </p:nvGraphicFramePr>
        <p:xfrm>
          <a:off x="4326396" y="2065197"/>
          <a:ext cx="3000000" cy="3000000"/>
        </p:xfrm>
        <a:graphic>
          <a:graphicData uri="http://schemas.openxmlformats.org/drawingml/2006/table">
            <a:tbl>
              <a:tblPr>
                <a:noFill/>
                <a:tableStyleId>{5676FB72-93CE-4E66-9494-FAFA15B1102A}</a:tableStyleId>
              </a:tblPr>
              <a:tblGrid>
                <a:gridCol w="3811875"/>
              </a:tblGrid>
              <a:tr h="613500">
                <a:tc>
                  <a:txBody>
                    <a:bodyPr/>
                    <a:lstStyle/>
                    <a:p>
                      <a:pPr indent="0" lvl="0" marL="0" rtl="0" algn="ctr">
                        <a:spcBef>
                          <a:spcPts val="0"/>
                        </a:spcBef>
                        <a:spcAft>
                          <a:spcPts val="0"/>
                        </a:spcAft>
                        <a:buNone/>
                      </a:pPr>
                      <a:r>
                        <a:rPr lang="en-GB" sz="2700">
                          <a:latin typeface="Lexend"/>
                          <a:ea typeface="Lexend"/>
                          <a:cs typeface="Lexend"/>
                          <a:sym typeface="Lexend"/>
                        </a:rPr>
                        <a:t>700</a:t>
                      </a:r>
                      <a:endParaRPr sz="27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pSp>
        <p:nvGrpSpPr>
          <p:cNvPr id="1243" name="Google Shape;1243;p89"/>
          <p:cNvGrpSpPr/>
          <p:nvPr/>
        </p:nvGrpSpPr>
        <p:grpSpPr>
          <a:xfrm>
            <a:off x="4318113" y="2782127"/>
            <a:ext cx="3828420" cy="565946"/>
            <a:chOff x="889825" y="3483600"/>
            <a:chExt cx="5213700" cy="565946"/>
          </a:xfrm>
        </p:grpSpPr>
        <p:sp>
          <p:nvSpPr>
            <p:cNvPr id="1244" name="Google Shape;1244;p89"/>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lam"/>
                <a:ea typeface="Kalam"/>
                <a:cs typeface="Kalam"/>
                <a:sym typeface="Kalam"/>
              </a:endParaRPr>
            </a:p>
          </p:txBody>
        </p:sp>
        <p:sp>
          <p:nvSpPr>
            <p:cNvPr id="1245" name="Google Shape;1245;p89"/>
            <p:cNvSpPr txBox="1"/>
            <p:nvPr/>
          </p:nvSpPr>
          <p:spPr>
            <a:xfrm>
              <a:off x="3177002" y="37108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100%</a:t>
              </a:r>
              <a:endParaRPr sz="2200">
                <a:solidFill>
                  <a:srgbClr val="000000"/>
                </a:solidFill>
                <a:latin typeface="Kalam"/>
                <a:ea typeface="Kalam"/>
                <a:cs typeface="Kalam"/>
                <a:sym typeface="Kalam"/>
              </a:endParaRPr>
            </a:p>
          </p:txBody>
        </p:sp>
      </p:grpSp>
      <p:sp>
        <p:nvSpPr>
          <p:cNvPr id="1246" name="Google Shape;1246;p89"/>
          <p:cNvSpPr/>
          <p:nvPr/>
        </p:nvSpPr>
        <p:spPr>
          <a:xfrm>
            <a:off x="7967075" y="2092900"/>
            <a:ext cx="135600" cy="550500"/>
          </a:xfrm>
          <a:prstGeom prst="rect">
            <a:avLst/>
          </a:prstGeom>
          <a:solidFill>
            <a:schemeClr val="l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47" name="Google Shape;1247;p89"/>
          <p:cNvCxnSpPr/>
          <p:nvPr/>
        </p:nvCxnSpPr>
        <p:spPr>
          <a:xfrm>
            <a:off x="7568900" y="1687200"/>
            <a:ext cx="463200" cy="6630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240">
                                            <p:txEl>
                                              <p:pRg end="0" st="0"/>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240">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9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Increasing an amount by a percentage</a:t>
            </a:r>
            <a:endParaRPr/>
          </a:p>
        </p:txBody>
      </p:sp>
      <p:sp>
        <p:nvSpPr>
          <p:cNvPr id="1253" name="Google Shape;1253;p9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254" name="Google Shape;1254;p9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Increase by a percentage</a:t>
            </a:r>
            <a:endParaRPr/>
          </a:p>
        </p:txBody>
      </p:sp>
      <p:pic>
        <p:nvPicPr>
          <p:cNvPr id="1255" name="Google Shape;1255;p90"/>
          <p:cNvPicPr preferRelativeResize="0"/>
          <p:nvPr/>
        </p:nvPicPr>
        <p:blipFill>
          <a:blip r:embed="rId3">
            <a:alphaModFix/>
          </a:blip>
          <a:stretch>
            <a:fillRect/>
          </a:stretch>
        </p:blipFill>
        <p:spPr>
          <a:xfrm>
            <a:off x="409300" y="2988375"/>
            <a:ext cx="450575" cy="446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grpSp>
        <p:nvGrpSpPr>
          <p:cNvPr id="1261" name="Google Shape;1261;p91"/>
          <p:cNvGrpSpPr/>
          <p:nvPr/>
        </p:nvGrpSpPr>
        <p:grpSpPr>
          <a:xfrm>
            <a:off x="938873" y="2693334"/>
            <a:ext cx="7037892" cy="868664"/>
            <a:chOff x="745060" y="3293578"/>
            <a:chExt cx="8668422" cy="868664"/>
          </a:xfrm>
        </p:grpSpPr>
        <p:sp>
          <p:nvSpPr>
            <p:cNvPr id="1262" name="Google Shape;1262;p91"/>
            <p:cNvSpPr txBox="1"/>
            <p:nvPr/>
          </p:nvSpPr>
          <p:spPr>
            <a:xfrm>
              <a:off x="7292782" y="3339679"/>
              <a:ext cx="2120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Percentage</a:t>
              </a:r>
              <a:endParaRPr sz="2200">
                <a:solidFill>
                  <a:srgbClr val="000000"/>
                </a:solidFill>
                <a:latin typeface="Lexend"/>
                <a:ea typeface="Lexend"/>
                <a:cs typeface="Lexend"/>
                <a:sym typeface="Lexend"/>
              </a:endParaRPr>
            </a:p>
          </p:txBody>
        </p:sp>
        <p:sp>
          <p:nvSpPr>
            <p:cNvPr id="1263" name="Google Shape;1263;p91"/>
            <p:cNvSpPr txBox="1"/>
            <p:nvPr/>
          </p:nvSpPr>
          <p:spPr>
            <a:xfrm>
              <a:off x="7292772" y="3777530"/>
              <a:ext cx="184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Amount</a:t>
              </a:r>
              <a:endParaRPr sz="2200">
                <a:solidFill>
                  <a:srgbClr val="000000"/>
                </a:solidFill>
                <a:latin typeface="Lexend"/>
                <a:ea typeface="Lexend"/>
                <a:cs typeface="Lexend"/>
                <a:sym typeface="Lexend"/>
              </a:endParaRPr>
            </a:p>
          </p:txBody>
        </p:sp>
        <p:grpSp>
          <p:nvGrpSpPr>
            <p:cNvPr id="1264" name="Google Shape;1264;p91"/>
            <p:cNvGrpSpPr/>
            <p:nvPr/>
          </p:nvGrpSpPr>
          <p:grpSpPr>
            <a:xfrm>
              <a:off x="745060" y="3293578"/>
              <a:ext cx="6406901" cy="868664"/>
              <a:chOff x="2621369" y="2760450"/>
              <a:chExt cx="4093082" cy="1357500"/>
            </a:xfrm>
          </p:grpSpPr>
          <p:grpSp>
            <p:nvGrpSpPr>
              <p:cNvPr id="1265" name="Google Shape;1265;p91"/>
              <p:cNvGrpSpPr/>
              <p:nvPr/>
            </p:nvGrpSpPr>
            <p:grpSpPr>
              <a:xfrm>
                <a:off x="2621369" y="2760450"/>
                <a:ext cx="4093082" cy="1357500"/>
                <a:chOff x="441900" y="3572013"/>
                <a:chExt cx="3074500" cy="1357500"/>
              </a:xfrm>
            </p:grpSpPr>
            <p:cxnSp>
              <p:nvCxnSpPr>
                <p:cNvPr id="1266" name="Google Shape;1266;p91"/>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267" name="Google Shape;1267;p91"/>
                <p:cNvCxnSpPr/>
                <p:nvPr/>
              </p:nvCxnSpPr>
              <p:spPr>
                <a:xfrm>
                  <a:off x="455200" y="3950800"/>
                  <a:ext cx="3061200" cy="0"/>
                </a:xfrm>
                <a:prstGeom prst="straightConnector1">
                  <a:avLst/>
                </a:prstGeom>
                <a:noFill/>
                <a:ln cap="flat" cmpd="sng" w="38100">
                  <a:solidFill>
                    <a:srgbClr val="000000"/>
                  </a:solidFill>
                  <a:prstDash val="solid"/>
                  <a:round/>
                  <a:headEnd len="med" w="med" type="none"/>
                  <a:tailEnd len="med" w="med" type="triangle"/>
                </a:ln>
              </p:spPr>
            </p:cxnSp>
            <p:cxnSp>
              <p:nvCxnSpPr>
                <p:cNvPr id="1268" name="Google Shape;1268;p91"/>
                <p:cNvCxnSpPr/>
                <p:nvPr/>
              </p:nvCxnSpPr>
              <p:spPr>
                <a:xfrm>
                  <a:off x="455200" y="4555638"/>
                  <a:ext cx="3061200" cy="0"/>
                </a:xfrm>
                <a:prstGeom prst="straightConnector1">
                  <a:avLst/>
                </a:prstGeom>
                <a:noFill/>
                <a:ln cap="flat" cmpd="sng" w="38100">
                  <a:solidFill>
                    <a:srgbClr val="000000"/>
                  </a:solidFill>
                  <a:prstDash val="solid"/>
                  <a:round/>
                  <a:headEnd len="med" w="med" type="none"/>
                  <a:tailEnd len="med" w="med" type="triangle"/>
                </a:ln>
              </p:spPr>
            </p:cxnSp>
          </p:grpSp>
          <p:sp>
            <p:nvSpPr>
              <p:cNvPr id="1269" name="Google Shape;1269;p91"/>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91"/>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91"/>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72" name="Google Shape;1272;p91"/>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3" name="Google Shape;1273;p91"/>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4" name="Google Shape;1274;p91"/>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5" name="Google Shape;1275;p91"/>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6" name="Google Shape;1276;p91"/>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7" name="Google Shape;1277;p91"/>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8" name="Google Shape;1278;p91"/>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9" name="Google Shape;1279;p91"/>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0" name="Google Shape;1280;p91"/>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1" name="Google Shape;1281;p91"/>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2" name="Google Shape;1282;p91"/>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3" name="Google Shape;1283;p91"/>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4" name="Google Shape;1284;p91"/>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5" name="Google Shape;1285;p91"/>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6" name="Google Shape;1286;p91"/>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7" name="Google Shape;1287;p91"/>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8" name="Google Shape;1288;p91"/>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9" name="Google Shape;1289;p91"/>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0" name="Google Shape;1290;p91"/>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1" name="Google Shape;1291;p91"/>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2" name="Google Shape;1292;p91"/>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3" name="Google Shape;1293;p91"/>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4" name="Google Shape;1294;p91"/>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5" name="Google Shape;1295;p91"/>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296" name="Google Shape;1296;p91"/>
            <p:cNvSpPr/>
            <p:nvPr/>
          </p:nvSpPr>
          <p:spPr>
            <a:xfrm>
              <a:off x="770004" y="3560244"/>
              <a:ext cx="59310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97" name="Google Shape;1297;p91"/>
          <p:cNvSpPr txBox="1"/>
          <p:nvPr/>
        </p:nvSpPr>
        <p:spPr>
          <a:xfrm>
            <a:off x="53088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80</a:t>
            </a:r>
            <a:endParaRPr sz="1800">
              <a:solidFill>
                <a:srgbClr val="000000"/>
              </a:solidFill>
              <a:latin typeface="Lexend"/>
              <a:ea typeface="Lexend"/>
              <a:cs typeface="Lexend"/>
              <a:sym typeface="Lexend"/>
            </a:endParaRPr>
          </a:p>
        </p:txBody>
      </p:sp>
      <p:sp>
        <p:nvSpPr>
          <p:cNvPr id="1298" name="Google Shape;1298;p91"/>
          <p:cNvSpPr txBox="1"/>
          <p:nvPr/>
        </p:nvSpPr>
        <p:spPr>
          <a:xfrm>
            <a:off x="504391" y="26398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299" name="Google Shape;1299;p91"/>
          <p:cNvSpPr txBox="1"/>
          <p:nvPr/>
        </p:nvSpPr>
        <p:spPr>
          <a:xfrm>
            <a:off x="51639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300" name="Google Shape;1300;p91"/>
          <p:cNvSpPr txBox="1"/>
          <p:nvPr/>
        </p:nvSpPr>
        <p:spPr>
          <a:xfrm>
            <a:off x="504391" y="33154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301" name="Google Shape;1301;p91"/>
          <p:cNvSpPr txBox="1"/>
          <p:nvPr/>
        </p:nvSpPr>
        <p:spPr>
          <a:xfrm>
            <a:off x="338975" y="810000"/>
            <a:ext cx="8237700" cy="33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Here we have a double number line showing 100% is 80</a:t>
            </a:r>
            <a:endParaRPr sz="2200">
              <a:latin typeface="Lexend"/>
              <a:ea typeface="Lexend"/>
              <a:cs typeface="Lexend"/>
              <a:sym typeface="Lexend"/>
            </a:endParaRPr>
          </a:p>
          <a:p>
            <a:pPr indent="0" lvl="0" marL="0" rtl="0" algn="l">
              <a:lnSpc>
                <a:spcPct val="115000"/>
              </a:lnSpc>
              <a:spcBef>
                <a:spcPts val="1000"/>
              </a:spcBef>
              <a:spcAft>
                <a:spcPts val="1000"/>
              </a:spcAft>
              <a:buNone/>
            </a:pPr>
            <a:r>
              <a:t/>
            </a:r>
            <a:endParaRPr sz="2200">
              <a:latin typeface="Lexend"/>
              <a:ea typeface="Lexend"/>
              <a:cs typeface="Lexend"/>
              <a:sym typeface="Lexend"/>
            </a:endParaRPr>
          </a:p>
        </p:txBody>
      </p:sp>
      <p:sp>
        <p:nvSpPr>
          <p:cNvPr id="1302" name="Google Shape;1302;p91"/>
          <p:cNvSpPr txBox="1"/>
          <p:nvPr/>
        </p:nvSpPr>
        <p:spPr>
          <a:xfrm>
            <a:off x="283775" y="1304525"/>
            <a:ext cx="8348100" cy="91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We can extend the double number line to find percentages beyond 100%</a:t>
            </a:r>
            <a:endParaRPr sz="2200">
              <a:solidFill>
                <a:schemeClr val="dk1"/>
              </a:solidFill>
              <a:latin typeface="Lexend"/>
              <a:ea typeface="Lexend"/>
              <a:cs typeface="Lexend"/>
              <a:sym typeface="Lexend"/>
            </a:endParaRPr>
          </a:p>
        </p:txBody>
      </p:sp>
      <p:sp>
        <p:nvSpPr>
          <p:cNvPr id="1303" name="Google Shape;1303;p91"/>
          <p:cNvSpPr txBox="1"/>
          <p:nvPr/>
        </p:nvSpPr>
        <p:spPr>
          <a:xfrm>
            <a:off x="504400" y="4092450"/>
            <a:ext cx="614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Let’s look at working out 120% of 80</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grpSp>
        <p:nvGrpSpPr>
          <p:cNvPr id="1309" name="Google Shape;1309;p92"/>
          <p:cNvGrpSpPr/>
          <p:nvPr/>
        </p:nvGrpSpPr>
        <p:grpSpPr>
          <a:xfrm>
            <a:off x="938873" y="2693334"/>
            <a:ext cx="8050305" cy="868664"/>
            <a:chOff x="745060" y="3293578"/>
            <a:chExt cx="9915390" cy="868664"/>
          </a:xfrm>
        </p:grpSpPr>
        <p:sp>
          <p:nvSpPr>
            <p:cNvPr id="1310" name="Google Shape;1310;p92"/>
            <p:cNvSpPr txBox="1"/>
            <p:nvPr/>
          </p:nvSpPr>
          <p:spPr>
            <a:xfrm>
              <a:off x="8539750" y="3339679"/>
              <a:ext cx="2120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Percentage</a:t>
              </a:r>
              <a:endParaRPr sz="2200">
                <a:solidFill>
                  <a:srgbClr val="000000"/>
                </a:solidFill>
                <a:latin typeface="Lexend"/>
                <a:ea typeface="Lexend"/>
                <a:cs typeface="Lexend"/>
                <a:sym typeface="Lexend"/>
              </a:endParaRPr>
            </a:p>
          </p:txBody>
        </p:sp>
        <p:sp>
          <p:nvSpPr>
            <p:cNvPr id="1311" name="Google Shape;1311;p92"/>
            <p:cNvSpPr txBox="1"/>
            <p:nvPr/>
          </p:nvSpPr>
          <p:spPr>
            <a:xfrm>
              <a:off x="8539739" y="3777530"/>
              <a:ext cx="184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Amount</a:t>
              </a:r>
              <a:endParaRPr sz="2200">
                <a:solidFill>
                  <a:srgbClr val="000000"/>
                </a:solidFill>
                <a:latin typeface="Lexend"/>
                <a:ea typeface="Lexend"/>
                <a:cs typeface="Lexend"/>
                <a:sym typeface="Lexend"/>
              </a:endParaRPr>
            </a:p>
          </p:txBody>
        </p:sp>
        <p:grpSp>
          <p:nvGrpSpPr>
            <p:cNvPr id="1312" name="Google Shape;1312;p92"/>
            <p:cNvGrpSpPr/>
            <p:nvPr/>
          </p:nvGrpSpPr>
          <p:grpSpPr>
            <a:xfrm>
              <a:off x="745060" y="3293578"/>
              <a:ext cx="7806021" cy="868664"/>
              <a:chOff x="2621369" y="2760450"/>
              <a:chExt cx="4986917" cy="1357500"/>
            </a:xfrm>
          </p:grpSpPr>
          <p:grpSp>
            <p:nvGrpSpPr>
              <p:cNvPr id="1313" name="Google Shape;1313;p92"/>
              <p:cNvGrpSpPr/>
              <p:nvPr/>
            </p:nvGrpSpPr>
            <p:grpSpPr>
              <a:xfrm>
                <a:off x="2621369" y="2760450"/>
                <a:ext cx="4986917" cy="1357500"/>
                <a:chOff x="441900" y="3572013"/>
                <a:chExt cx="3745900" cy="1357500"/>
              </a:xfrm>
            </p:grpSpPr>
            <p:cxnSp>
              <p:nvCxnSpPr>
                <p:cNvPr id="1314" name="Google Shape;1314;p92"/>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315" name="Google Shape;1315;p92"/>
                <p:cNvCxnSpPr/>
                <p:nvPr/>
              </p:nvCxnSpPr>
              <p:spPr>
                <a:xfrm>
                  <a:off x="455200" y="3950800"/>
                  <a:ext cx="3732600" cy="0"/>
                </a:xfrm>
                <a:prstGeom prst="straightConnector1">
                  <a:avLst/>
                </a:prstGeom>
                <a:noFill/>
                <a:ln cap="flat" cmpd="sng" w="38100">
                  <a:solidFill>
                    <a:srgbClr val="000000"/>
                  </a:solidFill>
                  <a:prstDash val="solid"/>
                  <a:round/>
                  <a:headEnd len="med" w="med" type="none"/>
                  <a:tailEnd len="med" w="med" type="triangle"/>
                </a:ln>
              </p:spPr>
            </p:cxnSp>
            <p:cxnSp>
              <p:nvCxnSpPr>
                <p:cNvPr id="1316" name="Google Shape;1316;p92"/>
                <p:cNvCxnSpPr/>
                <p:nvPr/>
              </p:nvCxnSpPr>
              <p:spPr>
                <a:xfrm>
                  <a:off x="455200" y="4555638"/>
                  <a:ext cx="3729900" cy="0"/>
                </a:xfrm>
                <a:prstGeom prst="straightConnector1">
                  <a:avLst/>
                </a:prstGeom>
                <a:noFill/>
                <a:ln cap="flat" cmpd="sng" w="38100">
                  <a:solidFill>
                    <a:srgbClr val="000000"/>
                  </a:solidFill>
                  <a:prstDash val="solid"/>
                  <a:round/>
                  <a:headEnd len="med" w="med" type="none"/>
                  <a:tailEnd len="med" w="med" type="triangle"/>
                </a:ln>
              </p:spPr>
            </p:cxnSp>
          </p:grpSp>
          <p:sp>
            <p:nvSpPr>
              <p:cNvPr id="1317" name="Google Shape;1317;p92"/>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92"/>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92"/>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20" name="Google Shape;1320;p92"/>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1" name="Google Shape;1321;p92"/>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2" name="Google Shape;1322;p92"/>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3" name="Google Shape;1323;p92"/>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4" name="Google Shape;1324;p92"/>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5" name="Google Shape;1325;p92"/>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6" name="Google Shape;1326;p92"/>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7" name="Google Shape;1327;p92"/>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8" name="Google Shape;1328;p92"/>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9" name="Google Shape;1329;p92"/>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0" name="Google Shape;1330;p92"/>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1" name="Google Shape;1331;p92"/>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2" name="Google Shape;1332;p92"/>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3" name="Google Shape;1333;p92"/>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4" name="Google Shape;1334;p92"/>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5" name="Google Shape;1335;p92"/>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6" name="Google Shape;1336;p92"/>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7" name="Google Shape;1337;p92"/>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8" name="Google Shape;1338;p92"/>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9" name="Google Shape;1339;p92"/>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0" name="Google Shape;1340;p92"/>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1" name="Google Shape;1341;p92"/>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2" name="Google Shape;1342;p92"/>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3" name="Google Shape;1343;p92"/>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344" name="Google Shape;1344;p92"/>
            <p:cNvSpPr/>
            <p:nvPr/>
          </p:nvSpPr>
          <p:spPr>
            <a:xfrm>
              <a:off x="770004" y="3560244"/>
              <a:ext cx="59310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345" name="Google Shape;1345;p92"/>
          <p:cNvSpPr txBox="1"/>
          <p:nvPr/>
        </p:nvSpPr>
        <p:spPr>
          <a:xfrm>
            <a:off x="53088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80</a:t>
            </a:r>
            <a:endParaRPr sz="1800">
              <a:solidFill>
                <a:srgbClr val="000000"/>
              </a:solidFill>
              <a:latin typeface="Lexend"/>
              <a:ea typeface="Lexend"/>
              <a:cs typeface="Lexend"/>
              <a:sym typeface="Lexend"/>
            </a:endParaRPr>
          </a:p>
        </p:txBody>
      </p:sp>
      <p:sp>
        <p:nvSpPr>
          <p:cNvPr id="1346" name="Google Shape;1346;p92"/>
          <p:cNvSpPr txBox="1"/>
          <p:nvPr/>
        </p:nvSpPr>
        <p:spPr>
          <a:xfrm>
            <a:off x="504391" y="26398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347" name="Google Shape;1347;p92"/>
          <p:cNvSpPr txBox="1"/>
          <p:nvPr/>
        </p:nvSpPr>
        <p:spPr>
          <a:xfrm>
            <a:off x="51639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348" name="Google Shape;1348;p92"/>
          <p:cNvSpPr txBox="1"/>
          <p:nvPr/>
        </p:nvSpPr>
        <p:spPr>
          <a:xfrm>
            <a:off x="504391" y="33154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cxnSp>
        <p:nvCxnSpPr>
          <p:cNvPr id="1349" name="Google Shape;1349;p92"/>
          <p:cNvCxnSpPr/>
          <p:nvPr/>
        </p:nvCxnSpPr>
        <p:spPr>
          <a:xfrm>
            <a:off x="5927360" y="28044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350" name="Google Shape;1350;p92"/>
          <p:cNvCxnSpPr/>
          <p:nvPr/>
        </p:nvCxnSpPr>
        <p:spPr>
          <a:xfrm>
            <a:off x="5927360" y="3330873"/>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351" name="Google Shape;1351;p92"/>
          <p:cNvCxnSpPr/>
          <p:nvPr/>
        </p:nvCxnSpPr>
        <p:spPr>
          <a:xfrm>
            <a:off x="6441420" y="28044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352" name="Google Shape;1352;p92"/>
          <p:cNvCxnSpPr/>
          <p:nvPr/>
        </p:nvCxnSpPr>
        <p:spPr>
          <a:xfrm>
            <a:off x="6441420" y="3330873"/>
            <a:ext cx="0" cy="136200"/>
          </a:xfrm>
          <a:prstGeom prst="straightConnector1">
            <a:avLst/>
          </a:prstGeom>
          <a:noFill/>
          <a:ln cap="flat" cmpd="sng" w="38100">
            <a:solidFill>
              <a:srgbClr val="000000"/>
            </a:solidFill>
            <a:prstDash val="solid"/>
            <a:round/>
            <a:headEnd len="med" w="med" type="none"/>
            <a:tailEnd len="med" w="med" type="none"/>
          </a:ln>
        </p:spPr>
      </p:cxnSp>
      <p:sp>
        <p:nvSpPr>
          <p:cNvPr id="1353" name="Google Shape;1353;p92"/>
          <p:cNvSpPr txBox="1"/>
          <p:nvPr/>
        </p:nvSpPr>
        <p:spPr>
          <a:xfrm>
            <a:off x="324000" y="7593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How do you think we can find the value of 120% of 80?</a:t>
            </a:r>
            <a:endParaRPr sz="2200">
              <a:latin typeface="Lexend"/>
              <a:ea typeface="Lexend"/>
              <a:cs typeface="Lexend"/>
              <a:sym typeface="Lexend"/>
            </a:endParaRPr>
          </a:p>
        </p:txBody>
      </p:sp>
      <p:sp>
        <p:nvSpPr>
          <p:cNvPr id="1354" name="Google Shape;1354;p92"/>
          <p:cNvSpPr txBox="1"/>
          <p:nvPr/>
        </p:nvSpPr>
        <p:spPr>
          <a:xfrm>
            <a:off x="6101382" y="2497796"/>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120%</a:t>
            </a:r>
            <a:endParaRPr sz="1800">
              <a:solidFill>
                <a:srgbClr val="000000"/>
              </a:solidFill>
              <a:latin typeface="Lexend"/>
              <a:ea typeface="Lexend"/>
              <a:cs typeface="Lexend"/>
              <a:sym typeface="Lexend"/>
            </a:endParaRPr>
          </a:p>
        </p:txBody>
      </p:sp>
      <p:sp>
        <p:nvSpPr>
          <p:cNvPr id="1355" name="Google Shape;1355;p92"/>
          <p:cNvSpPr txBox="1"/>
          <p:nvPr/>
        </p:nvSpPr>
        <p:spPr>
          <a:xfrm>
            <a:off x="5308880" y="1815225"/>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+20%</a:t>
            </a:r>
            <a:endParaRPr sz="1800">
              <a:solidFill>
                <a:srgbClr val="000000"/>
              </a:solidFill>
              <a:latin typeface="Lexend"/>
              <a:ea typeface="Lexend"/>
              <a:cs typeface="Lexend"/>
              <a:sym typeface="Lexend"/>
            </a:endParaRPr>
          </a:p>
        </p:txBody>
      </p:sp>
      <p:sp>
        <p:nvSpPr>
          <p:cNvPr id="1356" name="Google Shape;1356;p92"/>
          <p:cNvSpPr/>
          <p:nvPr/>
        </p:nvSpPr>
        <p:spPr>
          <a:xfrm>
            <a:off x="5450090" y="2130072"/>
            <a:ext cx="780600" cy="3747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7" name="Google Shape;1357;p92"/>
          <p:cNvSpPr txBox="1"/>
          <p:nvPr/>
        </p:nvSpPr>
        <p:spPr>
          <a:xfrm>
            <a:off x="1334230" y="243315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20%</a:t>
            </a:r>
            <a:endParaRPr sz="1800">
              <a:solidFill>
                <a:srgbClr val="000000"/>
              </a:solidFill>
              <a:latin typeface="Lexend"/>
              <a:ea typeface="Lexend"/>
              <a:cs typeface="Lexend"/>
              <a:sym typeface="Lexend"/>
            </a:endParaRPr>
          </a:p>
        </p:txBody>
      </p:sp>
      <p:sp>
        <p:nvSpPr>
          <p:cNvPr id="1358" name="Google Shape;1358;p92"/>
          <p:cNvSpPr txBox="1"/>
          <p:nvPr/>
        </p:nvSpPr>
        <p:spPr>
          <a:xfrm>
            <a:off x="808711" y="3489175"/>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8</a:t>
            </a:r>
            <a:endParaRPr sz="1800">
              <a:solidFill>
                <a:srgbClr val="000000"/>
              </a:solidFill>
              <a:latin typeface="Lexend"/>
              <a:ea typeface="Lexend"/>
              <a:cs typeface="Lexend"/>
              <a:sym typeface="Lexend"/>
            </a:endParaRPr>
          </a:p>
        </p:txBody>
      </p:sp>
      <p:sp>
        <p:nvSpPr>
          <p:cNvPr id="1359" name="Google Shape;1359;p92"/>
          <p:cNvSpPr txBox="1"/>
          <p:nvPr/>
        </p:nvSpPr>
        <p:spPr>
          <a:xfrm>
            <a:off x="1604901" y="3489175"/>
            <a:ext cx="531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16</a:t>
            </a:r>
            <a:endParaRPr sz="1800">
              <a:solidFill>
                <a:srgbClr val="000000"/>
              </a:solidFill>
              <a:latin typeface="Lexend"/>
              <a:ea typeface="Lexend"/>
              <a:cs typeface="Lexend"/>
              <a:sym typeface="Lexend"/>
            </a:endParaRPr>
          </a:p>
        </p:txBody>
      </p:sp>
      <p:sp>
        <p:nvSpPr>
          <p:cNvPr id="1360" name="Google Shape;1360;p92"/>
          <p:cNvSpPr txBox="1"/>
          <p:nvPr/>
        </p:nvSpPr>
        <p:spPr>
          <a:xfrm>
            <a:off x="763711" y="243315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361" name="Google Shape;1361;p92"/>
          <p:cNvSpPr txBox="1"/>
          <p:nvPr/>
        </p:nvSpPr>
        <p:spPr>
          <a:xfrm>
            <a:off x="324000" y="1292700"/>
            <a:ext cx="19752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10% is 8</a:t>
            </a:r>
            <a:endParaRPr sz="2200">
              <a:latin typeface="Lexend"/>
              <a:ea typeface="Lexend"/>
              <a:cs typeface="Lexend"/>
              <a:sym typeface="Lexend"/>
            </a:endParaRPr>
          </a:p>
        </p:txBody>
      </p:sp>
      <p:sp>
        <p:nvSpPr>
          <p:cNvPr id="1362" name="Google Shape;1362;p92"/>
          <p:cNvSpPr/>
          <p:nvPr/>
        </p:nvSpPr>
        <p:spPr>
          <a:xfrm flipH="1" rot="10800000">
            <a:off x="5537050" y="3536543"/>
            <a:ext cx="780600" cy="4869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3" name="Google Shape;1363;p92"/>
          <p:cNvSpPr txBox="1"/>
          <p:nvPr/>
        </p:nvSpPr>
        <p:spPr>
          <a:xfrm>
            <a:off x="5450105" y="404262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16</a:t>
            </a:r>
            <a:endParaRPr sz="1800">
              <a:solidFill>
                <a:srgbClr val="000000"/>
              </a:solidFill>
              <a:latin typeface="Lexend"/>
              <a:ea typeface="Lexend"/>
              <a:cs typeface="Lexend"/>
              <a:sym typeface="Lexend"/>
            </a:endParaRPr>
          </a:p>
        </p:txBody>
      </p:sp>
      <p:sp>
        <p:nvSpPr>
          <p:cNvPr id="1364" name="Google Shape;1364;p92"/>
          <p:cNvSpPr txBox="1"/>
          <p:nvPr/>
        </p:nvSpPr>
        <p:spPr>
          <a:xfrm>
            <a:off x="5909180" y="348917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96</a:t>
            </a:r>
            <a:endParaRPr sz="1800">
              <a:solidFill>
                <a:srgbClr val="000000"/>
              </a:solidFill>
              <a:latin typeface="Lexend"/>
              <a:ea typeface="Lexend"/>
              <a:cs typeface="Lexend"/>
              <a:sym typeface="Lexend"/>
            </a:endParaRPr>
          </a:p>
        </p:txBody>
      </p:sp>
      <p:sp>
        <p:nvSpPr>
          <p:cNvPr id="1365" name="Google Shape;1365;p92"/>
          <p:cNvSpPr txBox="1"/>
          <p:nvPr/>
        </p:nvSpPr>
        <p:spPr>
          <a:xfrm>
            <a:off x="343778" y="1784139"/>
            <a:ext cx="30000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So 20% is 16</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grpSp>
        <p:nvGrpSpPr>
          <p:cNvPr id="1371" name="Google Shape;1371;p93"/>
          <p:cNvGrpSpPr/>
          <p:nvPr/>
        </p:nvGrpSpPr>
        <p:grpSpPr>
          <a:xfrm>
            <a:off x="938873" y="2693334"/>
            <a:ext cx="8050305" cy="868664"/>
            <a:chOff x="745060" y="3293578"/>
            <a:chExt cx="9915390" cy="868664"/>
          </a:xfrm>
        </p:grpSpPr>
        <p:sp>
          <p:nvSpPr>
            <p:cNvPr id="1372" name="Google Shape;1372;p93"/>
            <p:cNvSpPr txBox="1"/>
            <p:nvPr/>
          </p:nvSpPr>
          <p:spPr>
            <a:xfrm>
              <a:off x="8539750" y="3339679"/>
              <a:ext cx="2120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Percentage</a:t>
              </a:r>
              <a:endParaRPr sz="2200">
                <a:solidFill>
                  <a:srgbClr val="000000"/>
                </a:solidFill>
                <a:latin typeface="Lexend"/>
                <a:ea typeface="Lexend"/>
                <a:cs typeface="Lexend"/>
                <a:sym typeface="Lexend"/>
              </a:endParaRPr>
            </a:p>
          </p:txBody>
        </p:sp>
        <p:sp>
          <p:nvSpPr>
            <p:cNvPr id="1373" name="Google Shape;1373;p93"/>
            <p:cNvSpPr txBox="1"/>
            <p:nvPr/>
          </p:nvSpPr>
          <p:spPr>
            <a:xfrm>
              <a:off x="8539739" y="3777530"/>
              <a:ext cx="184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Amount</a:t>
              </a:r>
              <a:endParaRPr sz="2200">
                <a:solidFill>
                  <a:srgbClr val="000000"/>
                </a:solidFill>
                <a:latin typeface="Lexend"/>
                <a:ea typeface="Lexend"/>
                <a:cs typeface="Lexend"/>
                <a:sym typeface="Lexend"/>
              </a:endParaRPr>
            </a:p>
          </p:txBody>
        </p:sp>
        <p:grpSp>
          <p:nvGrpSpPr>
            <p:cNvPr id="1374" name="Google Shape;1374;p93"/>
            <p:cNvGrpSpPr/>
            <p:nvPr/>
          </p:nvGrpSpPr>
          <p:grpSpPr>
            <a:xfrm>
              <a:off x="745060" y="3293578"/>
              <a:ext cx="7806021" cy="868664"/>
              <a:chOff x="2621369" y="2760450"/>
              <a:chExt cx="4986917" cy="1357500"/>
            </a:xfrm>
          </p:grpSpPr>
          <p:grpSp>
            <p:nvGrpSpPr>
              <p:cNvPr id="1375" name="Google Shape;1375;p93"/>
              <p:cNvGrpSpPr/>
              <p:nvPr/>
            </p:nvGrpSpPr>
            <p:grpSpPr>
              <a:xfrm>
                <a:off x="2621369" y="2760450"/>
                <a:ext cx="4986917" cy="1357500"/>
                <a:chOff x="441900" y="3572013"/>
                <a:chExt cx="3745900" cy="1357500"/>
              </a:xfrm>
            </p:grpSpPr>
            <p:cxnSp>
              <p:nvCxnSpPr>
                <p:cNvPr id="1376" name="Google Shape;1376;p93"/>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377" name="Google Shape;1377;p93"/>
                <p:cNvCxnSpPr/>
                <p:nvPr/>
              </p:nvCxnSpPr>
              <p:spPr>
                <a:xfrm>
                  <a:off x="455200" y="3950800"/>
                  <a:ext cx="3732600" cy="0"/>
                </a:xfrm>
                <a:prstGeom prst="straightConnector1">
                  <a:avLst/>
                </a:prstGeom>
                <a:noFill/>
                <a:ln cap="flat" cmpd="sng" w="38100">
                  <a:solidFill>
                    <a:srgbClr val="000000"/>
                  </a:solidFill>
                  <a:prstDash val="solid"/>
                  <a:round/>
                  <a:headEnd len="med" w="med" type="none"/>
                  <a:tailEnd len="med" w="med" type="triangle"/>
                </a:ln>
              </p:spPr>
            </p:cxnSp>
            <p:cxnSp>
              <p:nvCxnSpPr>
                <p:cNvPr id="1378" name="Google Shape;1378;p93"/>
                <p:cNvCxnSpPr/>
                <p:nvPr/>
              </p:nvCxnSpPr>
              <p:spPr>
                <a:xfrm>
                  <a:off x="455200" y="4555638"/>
                  <a:ext cx="3729900" cy="0"/>
                </a:xfrm>
                <a:prstGeom prst="straightConnector1">
                  <a:avLst/>
                </a:prstGeom>
                <a:noFill/>
                <a:ln cap="flat" cmpd="sng" w="38100">
                  <a:solidFill>
                    <a:srgbClr val="000000"/>
                  </a:solidFill>
                  <a:prstDash val="solid"/>
                  <a:round/>
                  <a:headEnd len="med" w="med" type="none"/>
                  <a:tailEnd len="med" w="med" type="triangle"/>
                </a:ln>
              </p:spPr>
            </p:cxnSp>
          </p:grpSp>
          <p:sp>
            <p:nvSpPr>
              <p:cNvPr id="1379" name="Google Shape;1379;p93"/>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93"/>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93"/>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82" name="Google Shape;1382;p93"/>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83" name="Google Shape;1383;p93"/>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84" name="Google Shape;1384;p93"/>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85" name="Google Shape;1385;p93"/>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86" name="Google Shape;1386;p93"/>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87" name="Google Shape;1387;p93"/>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88" name="Google Shape;1388;p93"/>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89" name="Google Shape;1389;p93"/>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0" name="Google Shape;1390;p93"/>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1" name="Google Shape;1391;p93"/>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2" name="Google Shape;1392;p93"/>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3" name="Google Shape;1393;p93"/>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4" name="Google Shape;1394;p93"/>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5" name="Google Shape;1395;p93"/>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6" name="Google Shape;1396;p93"/>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7" name="Google Shape;1397;p93"/>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8" name="Google Shape;1398;p93"/>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99" name="Google Shape;1399;p93"/>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00" name="Google Shape;1400;p93"/>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01" name="Google Shape;1401;p93"/>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02" name="Google Shape;1402;p93"/>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03" name="Google Shape;1403;p93"/>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04" name="Google Shape;1404;p93"/>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05" name="Google Shape;1405;p93"/>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406" name="Google Shape;1406;p93"/>
            <p:cNvSpPr/>
            <p:nvPr/>
          </p:nvSpPr>
          <p:spPr>
            <a:xfrm>
              <a:off x="770004" y="3560244"/>
              <a:ext cx="59310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07" name="Google Shape;1407;p93"/>
          <p:cNvSpPr txBox="1"/>
          <p:nvPr/>
        </p:nvSpPr>
        <p:spPr>
          <a:xfrm>
            <a:off x="53088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80</a:t>
            </a:r>
            <a:endParaRPr sz="1800">
              <a:solidFill>
                <a:srgbClr val="000000"/>
              </a:solidFill>
              <a:latin typeface="Lexend"/>
              <a:ea typeface="Lexend"/>
              <a:cs typeface="Lexend"/>
              <a:sym typeface="Lexend"/>
            </a:endParaRPr>
          </a:p>
        </p:txBody>
      </p:sp>
      <p:sp>
        <p:nvSpPr>
          <p:cNvPr id="1408" name="Google Shape;1408;p93"/>
          <p:cNvSpPr txBox="1"/>
          <p:nvPr/>
        </p:nvSpPr>
        <p:spPr>
          <a:xfrm>
            <a:off x="504391" y="26398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409" name="Google Shape;1409;p93"/>
          <p:cNvSpPr txBox="1"/>
          <p:nvPr/>
        </p:nvSpPr>
        <p:spPr>
          <a:xfrm>
            <a:off x="51639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410" name="Google Shape;1410;p93"/>
          <p:cNvSpPr txBox="1"/>
          <p:nvPr/>
        </p:nvSpPr>
        <p:spPr>
          <a:xfrm>
            <a:off x="504391" y="33154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cxnSp>
        <p:nvCxnSpPr>
          <p:cNvPr id="1411" name="Google Shape;1411;p93"/>
          <p:cNvCxnSpPr/>
          <p:nvPr/>
        </p:nvCxnSpPr>
        <p:spPr>
          <a:xfrm>
            <a:off x="5927360" y="28044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412" name="Google Shape;1412;p93"/>
          <p:cNvCxnSpPr/>
          <p:nvPr/>
        </p:nvCxnSpPr>
        <p:spPr>
          <a:xfrm>
            <a:off x="5927360" y="3330873"/>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413" name="Google Shape;1413;p93"/>
          <p:cNvCxnSpPr/>
          <p:nvPr/>
        </p:nvCxnSpPr>
        <p:spPr>
          <a:xfrm>
            <a:off x="6441420" y="28044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414" name="Google Shape;1414;p93"/>
          <p:cNvCxnSpPr/>
          <p:nvPr/>
        </p:nvCxnSpPr>
        <p:spPr>
          <a:xfrm>
            <a:off x="6441420" y="3330873"/>
            <a:ext cx="0" cy="136200"/>
          </a:xfrm>
          <a:prstGeom prst="straightConnector1">
            <a:avLst/>
          </a:prstGeom>
          <a:noFill/>
          <a:ln cap="flat" cmpd="sng" w="38100">
            <a:solidFill>
              <a:srgbClr val="000000"/>
            </a:solidFill>
            <a:prstDash val="solid"/>
            <a:round/>
            <a:headEnd len="med" w="med" type="none"/>
            <a:tailEnd len="med" w="med" type="none"/>
          </a:ln>
        </p:spPr>
      </p:cxnSp>
      <p:sp>
        <p:nvSpPr>
          <p:cNvPr id="1415" name="Google Shape;1415;p93"/>
          <p:cNvSpPr txBox="1"/>
          <p:nvPr/>
        </p:nvSpPr>
        <p:spPr>
          <a:xfrm>
            <a:off x="324000" y="7593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How do you think we can find the value of 120% of 80?</a:t>
            </a:r>
            <a:endParaRPr sz="2200">
              <a:latin typeface="Lexend"/>
              <a:ea typeface="Lexend"/>
              <a:cs typeface="Lexend"/>
              <a:sym typeface="Lexend"/>
            </a:endParaRPr>
          </a:p>
        </p:txBody>
      </p:sp>
      <p:sp>
        <p:nvSpPr>
          <p:cNvPr id="1416" name="Google Shape;1416;p93"/>
          <p:cNvSpPr txBox="1"/>
          <p:nvPr/>
        </p:nvSpPr>
        <p:spPr>
          <a:xfrm>
            <a:off x="6101382" y="2497796"/>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120%</a:t>
            </a:r>
            <a:endParaRPr sz="1800">
              <a:solidFill>
                <a:srgbClr val="000000"/>
              </a:solidFill>
              <a:latin typeface="Lexend"/>
              <a:ea typeface="Lexend"/>
              <a:cs typeface="Lexend"/>
              <a:sym typeface="Lexend"/>
            </a:endParaRPr>
          </a:p>
        </p:txBody>
      </p:sp>
      <p:sp>
        <p:nvSpPr>
          <p:cNvPr id="1417" name="Google Shape;1417;p93"/>
          <p:cNvSpPr txBox="1"/>
          <p:nvPr/>
        </p:nvSpPr>
        <p:spPr>
          <a:xfrm>
            <a:off x="5308880" y="1815225"/>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1.2</a:t>
            </a:r>
            <a:endParaRPr sz="1800">
              <a:solidFill>
                <a:srgbClr val="000000"/>
              </a:solidFill>
              <a:latin typeface="Lexend"/>
              <a:ea typeface="Lexend"/>
              <a:cs typeface="Lexend"/>
              <a:sym typeface="Lexend"/>
            </a:endParaRPr>
          </a:p>
        </p:txBody>
      </p:sp>
      <p:sp>
        <p:nvSpPr>
          <p:cNvPr id="1418" name="Google Shape;1418;p93"/>
          <p:cNvSpPr/>
          <p:nvPr/>
        </p:nvSpPr>
        <p:spPr>
          <a:xfrm>
            <a:off x="5450090" y="2130072"/>
            <a:ext cx="780600" cy="3747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9" name="Google Shape;1419;p93"/>
          <p:cNvSpPr/>
          <p:nvPr/>
        </p:nvSpPr>
        <p:spPr>
          <a:xfrm flipH="1" rot="10800000">
            <a:off x="5537050" y="3536543"/>
            <a:ext cx="780600" cy="4869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0" name="Google Shape;1420;p93"/>
          <p:cNvSpPr txBox="1"/>
          <p:nvPr/>
        </p:nvSpPr>
        <p:spPr>
          <a:xfrm>
            <a:off x="5909180" y="348917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96</a:t>
            </a:r>
            <a:endParaRPr sz="1800">
              <a:solidFill>
                <a:srgbClr val="000000"/>
              </a:solidFill>
              <a:latin typeface="Lexend"/>
              <a:ea typeface="Lexend"/>
              <a:cs typeface="Lexend"/>
              <a:sym typeface="Lexend"/>
            </a:endParaRPr>
          </a:p>
        </p:txBody>
      </p:sp>
      <p:sp>
        <p:nvSpPr>
          <p:cNvPr id="1421" name="Google Shape;1421;p93"/>
          <p:cNvSpPr txBox="1"/>
          <p:nvPr/>
        </p:nvSpPr>
        <p:spPr>
          <a:xfrm>
            <a:off x="324000" y="12165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Another approach is using the multiplicative relationship.</a:t>
            </a:r>
            <a:endParaRPr sz="2200">
              <a:latin typeface="Lexend"/>
              <a:ea typeface="Lexend"/>
              <a:cs typeface="Lexend"/>
              <a:sym typeface="Lexend"/>
            </a:endParaRPr>
          </a:p>
        </p:txBody>
      </p:sp>
      <p:sp>
        <p:nvSpPr>
          <p:cNvPr id="1422" name="Google Shape;1422;p93"/>
          <p:cNvSpPr txBox="1"/>
          <p:nvPr/>
        </p:nvSpPr>
        <p:spPr>
          <a:xfrm>
            <a:off x="5450105" y="4092925"/>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1.2</a:t>
            </a:r>
            <a:endParaRPr sz="1800">
              <a:solidFill>
                <a:srgbClr val="000000"/>
              </a:solidFill>
              <a:latin typeface="Lexend"/>
              <a:ea typeface="Lexend"/>
              <a:cs typeface="Lexend"/>
              <a:sym typeface="Lexend"/>
            </a:endParaRPr>
          </a:p>
        </p:txBody>
      </p:sp>
      <p:sp>
        <p:nvSpPr>
          <p:cNvPr id="1423" name="Google Shape;1423;p93"/>
          <p:cNvSpPr txBox="1"/>
          <p:nvPr/>
        </p:nvSpPr>
        <p:spPr>
          <a:xfrm>
            <a:off x="324000" y="1699550"/>
            <a:ext cx="24132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The multiplier is </a:t>
            </a:r>
            <a:endParaRPr sz="2200">
              <a:latin typeface="Lexend"/>
              <a:ea typeface="Lexend"/>
              <a:cs typeface="Lexend"/>
              <a:sym typeface="Lexend"/>
            </a:endParaRPr>
          </a:p>
        </p:txBody>
      </p:sp>
      <p:pic>
        <p:nvPicPr>
          <p:cNvPr descr="&lt;math xmlns=&quot;http://www.w3.org/1998/Math/MathML&quot; display=&quot;block&quot; data-is-equatio=&quot;1&quot; data-latex=&quot;\frac{120}{100}=1.2&quot;&gt;&lt;mfrac&gt;&lt;mn&gt;120&lt;/mn&gt;&lt;mn&gt;100&lt;/mn&gt;&lt;/mfrac&gt;&lt;mo&gt;=&lt;/mo&gt;&lt;mn&gt;1.2&lt;/mn&gt;&lt;/math&gt;" id="1424" name="Google Shape;1424;p93" title="120 over 100 equals 1.2"/>
          <p:cNvPicPr preferRelativeResize="0"/>
          <p:nvPr/>
        </p:nvPicPr>
        <p:blipFill>
          <a:blip r:embed="rId3">
            <a:alphaModFix/>
          </a:blip>
          <a:stretch>
            <a:fillRect/>
          </a:stretch>
        </p:blipFill>
        <p:spPr>
          <a:xfrm>
            <a:off x="2661000" y="1620001"/>
            <a:ext cx="1147299" cy="565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94"/>
          <p:cNvSpPr txBox="1"/>
          <p:nvPr>
            <p:ph idx="1" type="body"/>
          </p:nvPr>
        </p:nvSpPr>
        <p:spPr>
          <a:xfrm>
            <a:off x="520200" y="737013"/>
            <a:ext cx="47340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Label the correct multiplier on these double number lines:</a:t>
            </a:r>
            <a:endParaRPr sz="1900"/>
          </a:p>
        </p:txBody>
      </p:sp>
      <p:sp>
        <p:nvSpPr>
          <p:cNvPr id="1430" name="Google Shape;1430;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grpSp>
        <p:nvGrpSpPr>
          <p:cNvPr id="1431" name="Google Shape;1431;p94"/>
          <p:cNvGrpSpPr/>
          <p:nvPr/>
        </p:nvGrpSpPr>
        <p:grpSpPr>
          <a:xfrm>
            <a:off x="1016085" y="1521534"/>
            <a:ext cx="8050305" cy="868664"/>
            <a:chOff x="745060" y="3293578"/>
            <a:chExt cx="9915390" cy="868664"/>
          </a:xfrm>
        </p:grpSpPr>
        <p:sp>
          <p:nvSpPr>
            <p:cNvPr id="1432" name="Google Shape;1432;p94"/>
            <p:cNvSpPr txBox="1"/>
            <p:nvPr/>
          </p:nvSpPr>
          <p:spPr>
            <a:xfrm>
              <a:off x="8539750" y="3339679"/>
              <a:ext cx="2120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Percentage</a:t>
              </a:r>
              <a:endParaRPr sz="1900">
                <a:solidFill>
                  <a:srgbClr val="000000"/>
                </a:solidFill>
                <a:latin typeface="Lexend"/>
                <a:ea typeface="Lexend"/>
                <a:cs typeface="Lexend"/>
                <a:sym typeface="Lexend"/>
              </a:endParaRPr>
            </a:p>
          </p:txBody>
        </p:sp>
        <p:sp>
          <p:nvSpPr>
            <p:cNvPr id="1433" name="Google Shape;1433;p94"/>
            <p:cNvSpPr txBox="1"/>
            <p:nvPr/>
          </p:nvSpPr>
          <p:spPr>
            <a:xfrm>
              <a:off x="8539739" y="3777530"/>
              <a:ext cx="1842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Amount</a:t>
              </a:r>
              <a:endParaRPr sz="1900">
                <a:solidFill>
                  <a:srgbClr val="000000"/>
                </a:solidFill>
                <a:latin typeface="Lexend"/>
                <a:ea typeface="Lexend"/>
                <a:cs typeface="Lexend"/>
                <a:sym typeface="Lexend"/>
              </a:endParaRPr>
            </a:p>
          </p:txBody>
        </p:sp>
        <p:grpSp>
          <p:nvGrpSpPr>
            <p:cNvPr id="1434" name="Google Shape;1434;p94"/>
            <p:cNvGrpSpPr/>
            <p:nvPr/>
          </p:nvGrpSpPr>
          <p:grpSpPr>
            <a:xfrm>
              <a:off x="745060" y="3293578"/>
              <a:ext cx="7806021" cy="868664"/>
              <a:chOff x="2621369" y="2760450"/>
              <a:chExt cx="4986917" cy="1357500"/>
            </a:xfrm>
          </p:grpSpPr>
          <p:grpSp>
            <p:nvGrpSpPr>
              <p:cNvPr id="1435" name="Google Shape;1435;p94"/>
              <p:cNvGrpSpPr/>
              <p:nvPr/>
            </p:nvGrpSpPr>
            <p:grpSpPr>
              <a:xfrm>
                <a:off x="2621369" y="2760450"/>
                <a:ext cx="4986917" cy="1357500"/>
                <a:chOff x="441900" y="3572013"/>
                <a:chExt cx="3745900" cy="1357500"/>
              </a:xfrm>
            </p:grpSpPr>
            <p:cxnSp>
              <p:nvCxnSpPr>
                <p:cNvPr id="1436" name="Google Shape;1436;p94"/>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437" name="Google Shape;1437;p94"/>
                <p:cNvCxnSpPr/>
                <p:nvPr/>
              </p:nvCxnSpPr>
              <p:spPr>
                <a:xfrm>
                  <a:off x="455200" y="3950800"/>
                  <a:ext cx="3732600" cy="0"/>
                </a:xfrm>
                <a:prstGeom prst="straightConnector1">
                  <a:avLst/>
                </a:prstGeom>
                <a:noFill/>
                <a:ln cap="flat" cmpd="sng" w="38100">
                  <a:solidFill>
                    <a:srgbClr val="000000"/>
                  </a:solidFill>
                  <a:prstDash val="solid"/>
                  <a:round/>
                  <a:headEnd len="med" w="med" type="none"/>
                  <a:tailEnd len="med" w="med" type="triangle"/>
                </a:ln>
              </p:spPr>
            </p:cxnSp>
            <p:cxnSp>
              <p:nvCxnSpPr>
                <p:cNvPr id="1438" name="Google Shape;1438;p94"/>
                <p:cNvCxnSpPr/>
                <p:nvPr/>
              </p:nvCxnSpPr>
              <p:spPr>
                <a:xfrm>
                  <a:off x="455200" y="4555638"/>
                  <a:ext cx="3729900" cy="0"/>
                </a:xfrm>
                <a:prstGeom prst="straightConnector1">
                  <a:avLst/>
                </a:prstGeom>
                <a:noFill/>
                <a:ln cap="flat" cmpd="sng" w="38100">
                  <a:solidFill>
                    <a:srgbClr val="000000"/>
                  </a:solidFill>
                  <a:prstDash val="solid"/>
                  <a:round/>
                  <a:headEnd len="med" w="med" type="none"/>
                  <a:tailEnd len="med" w="med" type="triangle"/>
                </a:ln>
              </p:spPr>
            </p:cxnSp>
          </p:grpSp>
          <p:sp>
            <p:nvSpPr>
              <p:cNvPr id="1439" name="Google Shape;1439;p94"/>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94"/>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94"/>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42" name="Google Shape;1442;p94"/>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43" name="Google Shape;1443;p94"/>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44" name="Google Shape;1444;p94"/>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45" name="Google Shape;1445;p94"/>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46" name="Google Shape;1446;p94"/>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47" name="Google Shape;1447;p94"/>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48" name="Google Shape;1448;p94"/>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49" name="Google Shape;1449;p94"/>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0" name="Google Shape;1450;p94"/>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1" name="Google Shape;1451;p94"/>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2" name="Google Shape;1452;p94"/>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3" name="Google Shape;1453;p94"/>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4" name="Google Shape;1454;p94"/>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5" name="Google Shape;1455;p94"/>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6" name="Google Shape;1456;p94"/>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7" name="Google Shape;1457;p94"/>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8" name="Google Shape;1458;p94"/>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59" name="Google Shape;1459;p94"/>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60" name="Google Shape;1460;p94"/>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61" name="Google Shape;1461;p94"/>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62" name="Google Shape;1462;p94"/>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63" name="Google Shape;1463;p94"/>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64" name="Google Shape;1464;p94"/>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65" name="Google Shape;1465;p94"/>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466" name="Google Shape;1466;p94"/>
            <p:cNvSpPr/>
            <p:nvPr/>
          </p:nvSpPr>
          <p:spPr>
            <a:xfrm>
              <a:off x="769985" y="3560244"/>
              <a:ext cx="74643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67" name="Google Shape;1467;p94"/>
          <p:cNvSpPr txBox="1"/>
          <p:nvPr/>
        </p:nvSpPr>
        <p:spPr>
          <a:xfrm>
            <a:off x="5386089" y="23173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12</a:t>
            </a:r>
            <a:r>
              <a:rPr lang="en-GB" sz="1800">
                <a:latin typeface="Lexend"/>
                <a:ea typeface="Lexend"/>
                <a:cs typeface="Lexend"/>
                <a:sym typeface="Lexend"/>
              </a:rPr>
              <a:t>0</a:t>
            </a:r>
            <a:endParaRPr sz="1800">
              <a:solidFill>
                <a:srgbClr val="000000"/>
              </a:solidFill>
              <a:latin typeface="Lexend"/>
              <a:ea typeface="Lexend"/>
              <a:cs typeface="Lexend"/>
              <a:sym typeface="Lexend"/>
            </a:endParaRPr>
          </a:p>
        </p:txBody>
      </p:sp>
      <p:sp>
        <p:nvSpPr>
          <p:cNvPr id="1468" name="Google Shape;1468;p94"/>
          <p:cNvSpPr txBox="1"/>
          <p:nvPr/>
        </p:nvSpPr>
        <p:spPr>
          <a:xfrm>
            <a:off x="581604" y="14680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469" name="Google Shape;1469;p94"/>
          <p:cNvSpPr txBox="1"/>
          <p:nvPr/>
        </p:nvSpPr>
        <p:spPr>
          <a:xfrm>
            <a:off x="5241177" y="13391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470" name="Google Shape;1470;p94"/>
          <p:cNvSpPr txBox="1"/>
          <p:nvPr/>
        </p:nvSpPr>
        <p:spPr>
          <a:xfrm>
            <a:off x="581604" y="21436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cxnSp>
        <p:nvCxnSpPr>
          <p:cNvPr id="1471" name="Google Shape;1471;p94"/>
          <p:cNvCxnSpPr/>
          <p:nvPr/>
        </p:nvCxnSpPr>
        <p:spPr>
          <a:xfrm>
            <a:off x="6004572" y="1632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472" name="Google Shape;1472;p94"/>
          <p:cNvCxnSpPr/>
          <p:nvPr/>
        </p:nvCxnSpPr>
        <p:spPr>
          <a:xfrm>
            <a:off x="6004572" y="2159073"/>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473" name="Google Shape;1473;p94"/>
          <p:cNvCxnSpPr/>
          <p:nvPr/>
        </p:nvCxnSpPr>
        <p:spPr>
          <a:xfrm>
            <a:off x="6518632" y="1632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474" name="Google Shape;1474;p94"/>
          <p:cNvCxnSpPr/>
          <p:nvPr/>
        </p:nvCxnSpPr>
        <p:spPr>
          <a:xfrm>
            <a:off x="6518632" y="2159073"/>
            <a:ext cx="0" cy="136200"/>
          </a:xfrm>
          <a:prstGeom prst="straightConnector1">
            <a:avLst/>
          </a:prstGeom>
          <a:noFill/>
          <a:ln cap="flat" cmpd="sng" w="38100">
            <a:solidFill>
              <a:srgbClr val="000000"/>
            </a:solidFill>
            <a:prstDash val="solid"/>
            <a:round/>
            <a:headEnd len="med" w="med" type="none"/>
            <a:tailEnd len="med" w="med" type="none"/>
          </a:ln>
        </p:spPr>
      </p:cxnSp>
      <p:sp>
        <p:nvSpPr>
          <p:cNvPr id="1475" name="Google Shape;1475;p94"/>
          <p:cNvSpPr txBox="1"/>
          <p:nvPr/>
        </p:nvSpPr>
        <p:spPr>
          <a:xfrm>
            <a:off x="6635795" y="1325996"/>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130%</a:t>
            </a:r>
            <a:endParaRPr sz="1800">
              <a:solidFill>
                <a:srgbClr val="000000"/>
              </a:solidFill>
              <a:latin typeface="Lexend"/>
              <a:ea typeface="Lexend"/>
              <a:cs typeface="Lexend"/>
              <a:sym typeface="Lexend"/>
            </a:endParaRPr>
          </a:p>
        </p:txBody>
      </p:sp>
      <p:sp>
        <p:nvSpPr>
          <p:cNvPr id="1476" name="Google Shape;1476;p94"/>
          <p:cNvSpPr txBox="1"/>
          <p:nvPr/>
        </p:nvSpPr>
        <p:spPr>
          <a:xfrm>
            <a:off x="5767093" y="870196"/>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477" name="Google Shape;1477;p94"/>
          <p:cNvSpPr/>
          <p:nvPr/>
        </p:nvSpPr>
        <p:spPr>
          <a:xfrm>
            <a:off x="5603500" y="1146675"/>
            <a:ext cx="1340400" cy="321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8" name="Google Shape;1478;p94"/>
          <p:cNvSpPr/>
          <p:nvPr/>
        </p:nvSpPr>
        <p:spPr>
          <a:xfrm flipH="1" rot="10800000">
            <a:off x="5614275" y="2364875"/>
            <a:ext cx="1351200" cy="3696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9" name="Google Shape;1479;p94"/>
          <p:cNvSpPr txBox="1"/>
          <p:nvPr/>
        </p:nvSpPr>
        <p:spPr>
          <a:xfrm>
            <a:off x="6443593" y="231737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156</a:t>
            </a:r>
            <a:endParaRPr sz="1800">
              <a:solidFill>
                <a:srgbClr val="000000"/>
              </a:solidFill>
              <a:latin typeface="Lexend"/>
              <a:ea typeface="Lexend"/>
              <a:cs typeface="Lexend"/>
              <a:sym typeface="Lexend"/>
            </a:endParaRPr>
          </a:p>
        </p:txBody>
      </p:sp>
      <p:cxnSp>
        <p:nvCxnSpPr>
          <p:cNvPr id="1480" name="Google Shape;1480;p94"/>
          <p:cNvCxnSpPr/>
          <p:nvPr/>
        </p:nvCxnSpPr>
        <p:spPr>
          <a:xfrm>
            <a:off x="7002443" y="1632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481" name="Google Shape;1481;p94"/>
          <p:cNvCxnSpPr/>
          <p:nvPr/>
        </p:nvCxnSpPr>
        <p:spPr>
          <a:xfrm>
            <a:off x="7002443" y="2159073"/>
            <a:ext cx="0" cy="136200"/>
          </a:xfrm>
          <a:prstGeom prst="straightConnector1">
            <a:avLst/>
          </a:prstGeom>
          <a:noFill/>
          <a:ln cap="flat" cmpd="sng" w="38100">
            <a:solidFill>
              <a:srgbClr val="000000"/>
            </a:solidFill>
            <a:prstDash val="solid"/>
            <a:round/>
            <a:headEnd len="med" w="med" type="none"/>
            <a:tailEnd len="med" w="med" type="none"/>
          </a:ln>
        </p:spPr>
      </p:cxnSp>
      <p:sp>
        <p:nvSpPr>
          <p:cNvPr id="1482" name="Google Shape;1482;p94"/>
          <p:cNvSpPr txBox="1"/>
          <p:nvPr/>
        </p:nvSpPr>
        <p:spPr>
          <a:xfrm>
            <a:off x="4770393" y="2953033"/>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grpSp>
        <p:nvGrpSpPr>
          <p:cNvPr id="1483" name="Google Shape;1483;p94"/>
          <p:cNvGrpSpPr/>
          <p:nvPr/>
        </p:nvGrpSpPr>
        <p:grpSpPr>
          <a:xfrm>
            <a:off x="1016085" y="3426534"/>
            <a:ext cx="8050305" cy="868664"/>
            <a:chOff x="745060" y="3293578"/>
            <a:chExt cx="9915390" cy="868664"/>
          </a:xfrm>
        </p:grpSpPr>
        <p:sp>
          <p:nvSpPr>
            <p:cNvPr id="1484" name="Google Shape;1484;p94"/>
            <p:cNvSpPr txBox="1"/>
            <p:nvPr/>
          </p:nvSpPr>
          <p:spPr>
            <a:xfrm>
              <a:off x="8539750" y="3339679"/>
              <a:ext cx="2120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Percentage</a:t>
              </a:r>
              <a:endParaRPr sz="1900">
                <a:solidFill>
                  <a:srgbClr val="000000"/>
                </a:solidFill>
                <a:latin typeface="Lexend"/>
                <a:ea typeface="Lexend"/>
                <a:cs typeface="Lexend"/>
                <a:sym typeface="Lexend"/>
              </a:endParaRPr>
            </a:p>
          </p:txBody>
        </p:sp>
        <p:sp>
          <p:nvSpPr>
            <p:cNvPr id="1485" name="Google Shape;1485;p94"/>
            <p:cNvSpPr txBox="1"/>
            <p:nvPr/>
          </p:nvSpPr>
          <p:spPr>
            <a:xfrm>
              <a:off x="8539739" y="3777530"/>
              <a:ext cx="1842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Amount</a:t>
              </a:r>
              <a:endParaRPr sz="1900">
                <a:solidFill>
                  <a:srgbClr val="000000"/>
                </a:solidFill>
                <a:latin typeface="Lexend"/>
                <a:ea typeface="Lexend"/>
                <a:cs typeface="Lexend"/>
                <a:sym typeface="Lexend"/>
              </a:endParaRPr>
            </a:p>
          </p:txBody>
        </p:sp>
        <p:grpSp>
          <p:nvGrpSpPr>
            <p:cNvPr id="1486" name="Google Shape;1486;p94"/>
            <p:cNvGrpSpPr/>
            <p:nvPr/>
          </p:nvGrpSpPr>
          <p:grpSpPr>
            <a:xfrm>
              <a:off x="745060" y="3293578"/>
              <a:ext cx="7806021" cy="868664"/>
              <a:chOff x="2621369" y="2760450"/>
              <a:chExt cx="4986917" cy="1357500"/>
            </a:xfrm>
          </p:grpSpPr>
          <p:grpSp>
            <p:nvGrpSpPr>
              <p:cNvPr id="1487" name="Google Shape;1487;p94"/>
              <p:cNvGrpSpPr/>
              <p:nvPr/>
            </p:nvGrpSpPr>
            <p:grpSpPr>
              <a:xfrm>
                <a:off x="2621369" y="2760450"/>
                <a:ext cx="4986917" cy="1357500"/>
                <a:chOff x="441900" y="3572013"/>
                <a:chExt cx="3745900" cy="1357500"/>
              </a:xfrm>
            </p:grpSpPr>
            <p:cxnSp>
              <p:nvCxnSpPr>
                <p:cNvPr id="1488" name="Google Shape;1488;p94"/>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489" name="Google Shape;1489;p94"/>
                <p:cNvCxnSpPr/>
                <p:nvPr/>
              </p:nvCxnSpPr>
              <p:spPr>
                <a:xfrm>
                  <a:off x="455200" y="3950800"/>
                  <a:ext cx="3732600" cy="0"/>
                </a:xfrm>
                <a:prstGeom prst="straightConnector1">
                  <a:avLst/>
                </a:prstGeom>
                <a:noFill/>
                <a:ln cap="flat" cmpd="sng" w="38100">
                  <a:solidFill>
                    <a:srgbClr val="000000"/>
                  </a:solidFill>
                  <a:prstDash val="solid"/>
                  <a:round/>
                  <a:headEnd len="med" w="med" type="none"/>
                  <a:tailEnd len="med" w="med" type="triangle"/>
                </a:ln>
              </p:spPr>
            </p:cxnSp>
            <p:cxnSp>
              <p:nvCxnSpPr>
                <p:cNvPr id="1490" name="Google Shape;1490;p94"/>
                <p:cNvCxnSpPr/>
                <p:nvPr/>
              </p:nvCxnSpPr>
              <p:spPr>
                <a:xfrm>
                  <a:off x="455200" y="4555638"/>
                  <a:ext cx="3729900" cy="0"/>
                </a:xfrm>
                <a:prstGeom prst="straightConnector1">
                  <a:avLst/>
                </a:prstGeom>
                <a:noFill/>
                <a:ln cap="flat" cmpd="sng" w="38100">
                  <a:solidFill>
                    <a:srgbClr val="000000"/>
                  </a:solidFill>
                  <a:prstDash val="solid"/>
                  <a:round/>
                  <a:headEnd len="med" w="med" type="none"/>
                  <a:tailEnd len="med" w="med" type="triangle"/>
                </a:ln>
              </p:spPr>
            </p:cxnSp>
          </p:grpSp>
          <p:sp>
            <p:nvSpPr>
              <p:cNvPr id="1491" name="Google Shape;1491;p94"/>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94"/>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94"/>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94" name="Google Shape;1494;p94"/>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95" name="Google Shape;1495;p94"/>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96" name="Google Shape;1496;p94"/>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97" name="Google Shape;1497;p94"/>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98" name="Google Shape;1498;p94"/>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499" name="Google Shape;1499;p94"/>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0" name="Google Shape;1500;p94"/>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1" name="Google Shape;1501;p94"/>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2" name="Google Shape;1502;p94"/>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3" name="Google Shape;1503;p94"/>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4" name="Google Shape;1504;p94"/>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5" name="Google Shape;1505;p94"/>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6" name="Google Shape;1506;p94"/>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7" name="Google Shape;1507;p94"/>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8" name="Google Shape;1508;p94"/>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09" name="Google Shape;1509;p94"/>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10" name="Google Shape;1510;p94"/>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11" name="Google Shape;1511;p94"/>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12" name="Google Shape;1512;p94"/>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13" name="Google Shape;1513;p94"/>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14" name="Google Shape;1514;p94"/>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15" name="Google Shape;1515;p94"/>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16" name="Google Shape;1516;p94"/>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17" name="Google Shape;1517;p94"/>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518" name="Google Shape;1518;p94"/>
            <p:cNvSpPr/>
            <p:nvPr/>
          </p:nvSpPr>
          <p:spPr>
            <a:xfrm>
              <a:off x="769985" y="3560244"/>
              <a:ext cx="74643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519" name="Google Shape;1519;p94"/>
          <p:cNvSpPr txBox="1"/>
          <p:nvPr/>
        </p:nvSpPr>
        <p:spPr>
          <a:xfrm>
            <a:off x="5386089" y="42223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340</a:t>
            </a:r>
            <a:endParaRPr sz="1800">
              <a:solidFill>
                <a:srgbClr val="000000"/>
              </a:solidFill>
              <a:latin typeface="Lexend"/>
              <a:ea typeface="Lexend"/>
              <a:cs typeface="Lexend"/>
              <a:sym typeface="Lexend"/>
            </a:endParaRPr>
          </a:p>
        </p:txBody>
      </p:sp>
      <p:sp>
        <p:nvSpPr>
          <p:cNvPr id="1520" name="Google Shape;1520;p94"/>
          <p:cNvSpPr txBox="1"/>
          <p:nvPr/>
        </p:nvSpPr>
        <p:spPr>
          <a:xfrm>
            <a:off x="581604" y="33730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521" name="Google Shape;1521;p94"/>
          <p:cNvSpPr txBox="1"/>
          <p:nvPr/>
        </p:nvSpPr>
        <p:spPr>
          <a:xfrm>
            <a:off x="5241177" y="32441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522" name="Google Shape;1522;p94"/>
          <p:cNvSpPr txBox="1"/>
          <p:nvPr/>
        </p:nvSpPr>
        <p:spPr>
          <a:xfrm>
            <a:off x="581604" y="40486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cxnSp>
        <p:nvCxnSpPr>
          <p:cNvPr id="1523" name="Google Shape;1523;p94"/>
          <p:cNvCxnSpPr/>
          <p:nvPr/>
        </p:nvCxnSpPr>
        <p:spPr>
          <a:xfrm>
            <a:off x="6004572" y="3537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524" name="Google Shape;1524;p94"/>
          <p:cNvCxnSpPr/>
          <p:nvPr/>
        </p:nvCxnSpPr>
        <p:spPr>
          <a:xfrm>
            <a:off x="6004572" y="4064073"/>
            <a:ext cx="0" cy="136200"/>
          </a:xfrm>
          <a:prstGeom prst="straightConnector1">
            <a:avLst/>
          </a:prstGeom>
          <a:noFill/>
          <a:ln cap="flat" cmpd="sng" w="38100">
            <a:solidFill>
              <a:srgbClr val="000000"/>
            </a:solidFill>
            <a:prstDash val="solid"/>
            <a:round/>
            <a:headEnd len="med" w="med" type="none"/>
            <a:tailEnd len="med" w="med" type="none"/>
          </a:ln>
        </p:spPr>
      </p:cxnSp>
      <p:sp>
        <p:nvSpPr>
          <p:cNvPr id="1525" name="Google Shape;1525;p94"/>
          <p:cNvSpPr txBox="1"/>
          <p:nvPr/>
        </p:nvSpPr>
        <p:spPr>
          <a:xfrm>
            <a:off x="6062570" y="3234521"/>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115%</a:t>
            </a:r>
            <a:endParaRPr sz="1800">
              <a:solidFill>
                <a:srgbClr val="000000"/>
              </a:solidFill>
              <a:latin typeface="Lexend"/>
              <a:ea typeface="Lexend"/>
              <a:cs typeface="Lexend"/>
              <a:sym typeface="Lexend"/>
            </a:endParaRPr>
          </a:p>
        </p:txBody>
      </p:sp>
      <p:sp>
        <p:nvSpPr>
          <p:cNvPr id="1526" name="Google Shape;1526;p94"/>
          <p:cNvSpPr txBox="1"/>
          <p:nvPr/>
        </p:nvSpPr>
        <p:spPr>
          <a:xfrm>
            <a:off x="5767093" y="2457683"/>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527" name="Google Shape;1527;p94"/>
          <p:cNvSpPr/>
          <p:nvPr/>
        </p:nvSpPr>
        <p:spPr>
          <a:xfrm>
            <a:off x="5603500" y="3051675"/>
            <a:ext cx="677100" cy="399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8" name="Google Shape;1528;p94"/>
          <p:cNvSpPr/>
          <p:nvPr/>
        </p:nvSpPr>
        <p:spPr>
          <a:xfrm flipH="1" rot="10800000">
            <a:off x="5614275" y="4270025"/>
            <a:ext cx="695400" cy="3426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9" name="Google Shape;1529;p94"/>
          <p:cNvSpPr txBox="1"/>
          <p:nvPr/>
        </p:nvSpPr>
        <p:spPr>
          <a:xfrm>
            <a:off x="5833293" y="422237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391</a:t>
            </a:r>
            <a:endParaRPr sz="1800">
              <a:solidFill>
                <a:srgbClr val="000000"/>
              </a:solidFill>
              <a:latin typeface="Lexend"/>
              <a:ea typeface="Lexend"/>
              <a:cs typeface="Lexend"/>
              <a:sym typeface="Lexend"/>
            </a:endParaRPr>
          </a:p>
        </p:txBody>
      </p:sp>
      <p:sp>
        <p:nvSpPr>
          <p:cNvPr id="1530" name="Google Shape;1530;p94"/>
          <p:cNvSpPr txBox="1"/>
          <p:nvPr/>
        </p:nvSpPr>
        <p:spPr>
          <a:xfrm>
            <a:off x="5430518" y="4563283"/>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cxnSp>
        <p:nvCxnSpPr>
          <p:cNvPr id="1531" name="Google Shape;1531;p94"/>
          <p:cNvCxnSpPr/>
          <p:nvPr/>
        </p:nvCxnSpPr>
        <p:spPr>
          <a:xfrm>
            <a:off x="6275527" y="3537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532" name="Google Shape;1532;p94"/>
          <p:cNvCxnSpPr/>
          <p:nvPr/>
        </p:nvCxnSpPr>
        <p:spPr>
          <a:xfrm>
            <a:off x="6275527" y="4064073"/>
            <a:ext cx="0" cy="136200"/>
          </a:xfrm>
          <a:prstGeom prst="straightConnector1">
            <a:avLst/>
          </a:prstGeom>
          <a:noFill/>
          <a:ln cap="flat" cmpd="sng" w="38100">
            <a:solidFill>
              <a:srgbClr val="000000"/>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95"/>
          <p:cNvSpPr txBox="1"/>
          <p:nvPr>
            <p:ph idx="1" type="body"/>
          </p:nvPr>
        </p:nvSpPr>
        <p:spPr>
          <a:xfrm>
            <a:off x="520200" y="737013"/>
            <a:ext cx="4734000" cy="860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900"/>
              <a:t>Label the correct multiplier on these double number lines:</a:t>
            </a:r>
            <a:endParaRPr sz="1900"/>
          </a:p>
          <a:p>
            <a:pPr indent="0" lvl="0" marL="0" rtl="0" algn="l">
              <a:spcBef>
                <a:spcPts val="1000"/>
              </a:spcBef>
              <a:spcAft>
                <a:spcPts val="1000"/>
              </a:spcAft>
              <a:buNone/>
            </a:pPr>
            <a:r>
              <a:t/>
            </a:r>
            <a:endParaRPr sz="1900"/>
          </a:p>
        </p:txBody>
      </p:sp>
      <p:sp>
        <p:nvSpPr>
          <p:cNvPr id="1538" name="Google Shape;1538;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grpSp>
        <p:nvGrpSpPr>
          <p:cNvPr id="1539" name="Google Shape;1539;p95"/>
          <p:cNvGrpSpPr/>
          <p:nvPr/>
        </p:nvGrpSpPr>
        <p:grpSpPr>
          <a:xfrm>
            <a:off x="1016085" y="1521534"/>
            <a:ext cx="8050305" cy="868664"/>
            <a:chOff x="745060" y="3293578"/>
            <a:chExt cx="9915390" cy="868664"/>
          </a:xfrm>
        </p:grpSpPr>
        <p:sp>
          <p:nvSpPr>
            <p:cNvPr id="1540" name="Google Shape;1540;p95"/>
            <p:cNvSpPr txBox="1"/>
            <p:nvPr/>
          </p:nvSpPr>
          <p:spPr>
            <a:xfrm>
              <a:off x="8539750" y="3339679"/>
              <a:ext cx="2120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Percentage</a:t>
              </a:r>
              <a:endParaRPr sz="1900">
                <a:solidFill>
                  <a:srgbClr val="000000"/>
                </a:solidFill>
                <a:latin typeface="Lexend"/>
                <a:ea typeface="Lexend"/>
                <a:cs typeface="Lexend"/>
                <a:sym typeface="Lexend"/>
              </a:endParaRPr>
            </a:p>
          </p:txBody>
        </p:sp>
        <p:sp>
          <p:nvSpPr>
            <p:cNvPr id="1541" name="Google Shape;1541;p95"/>
            <p:cNvSpPr txBox="1"/>
            <p:nvPr/>
          </p:nvSpPr>
          <p:spPr>
            <a:xfrm>
              <a:off x="8539739" y="3777530"/>
              <a:ext cx="1842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Amount</a:t>
              </a:r>
              <a:endParaRPr sz="1900">
                <a:solidFill>
                  <a:srgbClr val="000000"/>
                </a:solidFill>
                <a:latin typeface="Lexend"/>
                <a:ea typeface="Lexend"/>
                <a:cs typeface="Lexend"/>
                <a:sym typeface="Lexend"/>
              </a:endParaRPr>
            </a:p>
          </p:txBody>
        </p:sp>
        <p:grpSp>
          <p:nvGrpSpPr>
            <p:cNvPr id="1542" name="Google Shape;1542;p95"/>
            <p:cNvGrpSpPr/>
            <p:nvPr/>
          </p:nvGrpSpPr>
          <p:grpSpPr>
            <a:xfrm>
              <a:off x="745060" y="3293578"/>
              <a:ext cx="7806021" cy="868664"/>
              <a:chOff x="2621369" y="2760450"/>
              <a:chExt cx="4986917" cy="1357500"/>
            </a:xfrm>
          </p:grpSpPr>
          <p:grpSp>
            <p:nvGrpSpPr>
              <p:cNvPr id="1543" name="Google Shape;1543;p95"/>
              <p:cNvGrpSpPr/>
              <p:nvPr/>
            </p:nvGrpSpPr>
            <p:grpSpPr>
              <a:xfrm>
                <a:off x="2621369" y="2760450"/>
                <a:ext cx="4986917" cy="1357500"/>
                <a:chOff x="441900" y="3572013"/>
                <a:chExt cx="3745900" cy="1357500"/>
              </a:xfrm>
            </p:grpSpPr>
            <p:cxnSp>
              <p:nvCxnSpPr>
                <p:cNvPr id="1544" name="Google Shape;1544;p95"/>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545" name="Google Shape;1545;p95"/>
                <p:cNvCxnSpPr/>
                <p:nvPr/>
              </p:nvCxnSpPr>
              <p:spPr>
                <a:xfrm>
                  <a:off x="455200" y="3950800"/>
                  <a:ext cx="3732600" cy="0"/>
                </a:xfrm>
                <a:prstGeom prst="straightConnector1">
                  <a:avLst/>
                </a:prstGeom>
                <a:noFill/>
                <a:ln cap="flat" cmpd="sng" w="38100">
                  <a:solidFill>
                    <a:srgbClr val="000000"/>
                  </a:solidFill>
                  <a:prstDash val="solid"/>
                  <a:round/>
                  <a:headEnd len="med" w="med" type="none"/>
                  <a:tailEnd len="med" w="med" type="triangle"/>
                </a:ln>
              </p:spPr>
            </p:cxnSp>
            <p:cxnSp>
              <p:nvCxnSpPr>
                <p:cNvPr id="1546" name="Google Shape;1546;p95"/>
                <p:cNvCxnSpPr/>
                <p:nvPr/>
              </p:nvCxnSpPr>
              <p:spPr>
                <a:xfrm>
                  <a:off x="455200" y="4555638"/>
                  <a:ext cx="3729900" cy="0"/>
                </a:xfrm>
                <a:prstGeom prst="straightConnector1">
                  <a:avLst/>
                </a:prstGeom>
                <a:noFill/>
                <a:ln cap="flat" cmpd="sng" w="38100">
                  <a:solidFill>
                    <a:srgbClr val="000000"/>
                  </a:solidFill>
                  <a:prstDash val="solid"/>
                  <a:round/>
                  <a:headEnd len="med" w="med" type="none"/>
                  <a:tailEnd len="med" w="med" type="triangle"/>
                </a:ln>
              </p:spPr>
            </p:cxnSp>
          </p:grpSp>
          <p:sp>
            <p:nvSpPr>
              <p:cNvPr id="1547" name="Google Shape;1547;p95"/>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95"/>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95"/>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50" name="Google Shape;1550;p95"/>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51" name="Google Shape;1551;p95"/>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52" name="Google Shape;1552;p95"/>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53" name="Google Shape;1553;p95"/>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54" name="Google Shape;1554;p95"/>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55" name="Google Shape;1555;p95"/>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56" name="Google Shape;1556;p95"/>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57" name="Google Shape;1557;p95"/>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58" name="Google Shape;1558;p95"/>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59" name="Google Shape;1559;p95"/>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0" name="Google Shape;1560;p95"/>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1" name="Google Shape;1561;p95"/>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2" name="Google Shape;1562;p95"/>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3" name="Google Shape;1563;p95"/>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4" name="Google Shape;1564;p95"/>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5" name="Google Shape;1565;p95"/>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6" name="Google Shape;1566;p95"/>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7" name="Google Shape;1567;p95"/>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8" name="Google Shape;1568;p95"/>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69" name="Google Shape;1569;p95"/>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70" name="Google Shape;1570;p95"/>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71" name="Google Shape;1571;p95"/>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72" name="Google Shape;1572;p95"/>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573" name="Google Shape;1573;p95"/>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574" name="Google Shape;1574;p95"/>
            <p:cNvSpPr/>
            <p:nvPr/>
          </p:nvSpPr>
          <p:spPr>
            <a:xfrm>
              <a:off x="769985" y="3560244"/>
              <a:ext cx="74643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575" name="Google Shape;1575;p95"/>
          <p:cNvSpPr txBox="1"/>
          <p:nvPr/>
        </p:nvSpPr>
        <p:spPr>
          <a:xfrm>
            <a:off x="5386089" y="23173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120</a:t>
            </a:r>
            <a:endParaRPr sz="1800">
              <a:solidFill>
                <a:srgbClr val="000000"/>
              </a:solidFill>
              <a:latin typeface="Lexend"/>
              <a:ea typeface="Lexend"/>
              <a:cs typeface="Lexend"/>
              <a:sym typeface="Lexend"/>
            </a:endParaRPr>
          </a:p>
        </p:txBody>
      </p:sp>
      <p:sp>
        <p:nvSpPr>
          <p:cNvPr id="1576" name="Google Shape;1576;p95"/>
          <p:cNvSpPr txBox="1"/>
          <p:nvPr/>
        </p:nvSpPr>
        <p:spPr>
          <a:xfrm>
            <a:off x="581604" y="14680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577" name="Google Shape;1577;p95"/>
          <p:cNvSpPr txBox="1"/>
          <p:nvPr/>
        </p:nvSpPr>
        <p:spPr>
          <a:xfrm>
            <a:off x="5241177" y="13391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578" name="Google Shape;1578;p95"/>
          <p:cNvSpPr txBox="1"/>
          <p:nvPr/>
        </p:nvSpPr>
        <p:spPr>
          <a:xfrm>
            <a:off x="581604" y="21436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cxnSp>
        <p:nvCxnSpPr>
          <p:cNvPr id="1579" name="Google Shape;1579;p95"/>
          <p:cNvCxnSpPr/>
          <p:nvPr/>
        </p:nvCxnSpPr>
        <p:spPr>
          <a:xfrm>
            <a:off x="6004572" y="1632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580" name="Google Shape;1580;p95"/>
          <p:cNvCxnSpPr/>
          <p:nvPr/>
        </p:nvCxnSpPr>
        <p:spPr>
          <a:xfrm>
            <a:off x="6004572" y="2159073"/>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581" name="Google Shape;1581;p95"/>
          <p:cNvCxnSpPr/>
          <p:nvPr/>
        </p:nvCxnSpPr>
        <p:spPr>
          <a:xfrm>
            <a:off x="6518632" y="1632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582" name="Google Shape;1582;p95"/>
          <p:cNvCxnSpPr/>
          <p:nvPr/>
        </p:nvCxnSpPr>
        <p:spPr>
          <a:xfrm>
            <a:off x="6518632" y="2159073"/>
            <a:ext cx="0" cy="136200"/>
          </a:xfrm>
          <a:prstGeom prst="straightConnector1">
            <a:avLst/>
          </a:prstGeom>
          <a:noFill/>
          <a:ln cap="flat" cmpd="sng" w="38100">
            <a:solidFill>
              <a:srgbClr val="000000"/>
            </a:solidFill>
            <a:prstDash val="solid"/>
            <a:round/>
            <a:headEnd len="med" w="med" type="none"/>
            <a:tailEnd len="med" w="med" type="none"/>
          </a:ln>
        </p:spPr>
      </p:cxnSp>
      <p:sp>
        <p:nvSpPr>
          <p:cNvPr id="1583" name="Google Shape;1583;p95"/>
          <p:cNvSpPr txBox="1"/>
          <p:nvPr/>
        </p:nvSpPr>
        <p:spPr>
          <a:xfrm>
            <a:off x="6635795" y="1325996"/>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130%</a:t>
            </a:r>
            <a:endParaRPr sz="1800">
              <a:solidFill>
                <a:srgbClr val="000000"/>
              </a:solidFill>
              <a:latin typeface="Lexend"/>
              <a:ea typeface="Lexend"/>
              <a:cs typeface="Lexend"/>
              <a:sym typeface="Lexend"/>
            </a:endParaRPr>
          </a:p>
        </p:txBody>
      </p:sp>
      <p:sp>
        <p:nvSpPr>
          <p:cNvPr id="1584" name="Google Shape;1584;p95"/>
          <p:cNvSpPr txBox="1"/>
          <p:nvPr/>
        </p:nvSpPr>
        <p:spPr>
          <a:xfrm>
            <a:off x="5864825" y="718538"/>
            <a:ext cx="821400" cy="323100"/>
          </a:xfrm>
          <a:prstGeom prst="rect">
            <a:avLst/>
          </a:prstGeom>
          <a:noFill/>
          <a:ln cap="flat" cmpd="sng" w="19050">
            <a:solidFill>
              <a:srgbClr val="000000"/>
            </a:solidFill>
            <a:prstDash val="solid"/>
            <a:round/>
            <a:headEnd len="sm" w="sm" type="none"/>
            <a:tailEnd len="sm" w="sm" type="none"/>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a:t>
            </a:r>
            <a:r>
              <a:rPr lang="en-GB" sz="2100">
                <a:latin typeface="Kalam"/>
                <a:ea typeface="Kalam"/>
                <a:cs typeface="Kalam"/>
                <a:sym typeface="Kalam"/>
              </a:rPr>
              <a:t> 1.3</a:t>
            </a:r>
            <a:endParaRPr sz="2100">
              <a:solidFill>
                <a:srgbClr val="000000"/>
              </a:solidFill>
              <a:latin typeface="Kalam"/>
              <a:ea typeface="Kalam"/>
              <a:cs typeface="Kalam"/>
              <a:sym typeface="Kalam"/>
            </a:endParaRPr>
          </a:p>
        </p:txBody>
      </p:sp>
      <p:sp>
        <p:nvSpPr>
          <p:cNvPr id="1585" name="Google Shape;1585;p95"/>
          <p:cNvSpPr/>
          <p:nvPr/>
        </p:nvSpPr>
        <p:spPr>
          <a:xfrm>
            <a:off x="5603500" y="1146675"/>
            <a:ext cx="1340400" cy="321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6" name="Google Shape;1586;p95"/>
          <p:cNvSpPr/>
          <p:nvPr/>
        </p:nvSpPr>
        <p:spPr>
          <a:xfrm flipH="1" rot="10800000">
            <a:off x="5614275" y="2364875"/>
            <a:ext cx="1351200" cy="3696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7" name="Google Shape;1587;p95"/>
          <p:cNvSpPr txBox="1"/>
          <p:nvPr/>
        </p:nvSpPr>
        <p:spPr>
          <a:xfrm>
            <a:off x="6443593" y="231737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156</a:t>
            </a:r>
            <a:endParaRPr sz="1800">
              <a:solidFill>
                <a:srgbClr val="000000"/>
              </a:solidFill>
              <a:latin typeface="Lexend"/>
              <a:ea typeface="Lexend"/>
              <a:cs typeface="Lexend"/>
              <a:sym typeface="Lexend"/>
            </a:endParaRPr>
          </a:p>
        </p:txBody>
      </p:sp>
      <p:cxnSp>
        <p:nvCxnSpPr>
          <p:cNvPr id="1588" name="Google Shape;1588;p95"/>
          <p:cNvCxnSpPr/>
          <p:nvPr/>
        </p:nvCxnSpPr>
        <p:spPr>
          <a:xfrm>
            <a:off x="7002443" y="1632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589" name="Google Shape;1589;p95"/>
          <p:cNvCxnSpPr/>
          <p:nvPr/>
        </p:nvCxnSpPr>
        <p:spPr>
          <a:xfrm>
            <a:off x="7002443" y="2159073"/>
            <a:ext cx="0" cy="136200"/>
          </a:xfrm>
          <a:prstGeom prst="straightConnector1">
            <a:avLst/>
          </a:prstGeom>
          <a:noFill/>
          <a:ln cap="flat" cmpd="sng" w="38100">
            <a:solidFill>
              <a:srgbClr val="000000"/>
            </a:solidFill>
            <a:prstDash val="solid"/>
            <a:round/>
            <a:headEnd len="med" w="med" type="none"/>
            <a:tailEnd len="med" w="med" type="none"/>
          </a:ln>
        </p:spPr>
      </p:cxnSp>
      <p:grpSp>
        <p:nvGrpSpPr>
          <p:cNvPr id="1590" name="Google Shape;1590;p95"/>
          <p:cNvGrpSpPr/>
          <p:nvPr/>
        </p:nvGrpSpPr>
        <p:grpSpPr>
          <a:xfrm>
            <a:off x="1016085" y="3426534"/>
            <a:ext cx="8050305" cy="868664"/>
            <a:chOff x="745060" y="3293578"/>
            <a:chExt cx="9915390" cy="868664"/>
          </a:xfrm>
        </p:grpSpPr>
        <p:sp>
          <p:nvSpPr>
            <p:cNvPr id="1591" name="Google Shape;1591;p95"/>
            <p:cNvSpPr txBox="1"/>
            <p:nvPr/>
          </p:nvSpPr>
          <p:spPr>
            <a:xfrm>
              <a:off x="8539750" y="3339679"/>
              <a:ext cx="2120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Percentage</a:t>
              </a:r>
              <a:endParaRPr sz="1900">
                <a:solidFill>
                  <a:srgbClr val="000000"/>
                </a:solidFill>
                <a:latin typeface="Lexend"/>
                <a:ea typeface="Lexend"/>
                <a:cs typeface="Lexend"/>
                <a:sym typeface="Lexend"/>
              </a:endParaRPr>
            </a:p>
          </p:txBody>
        </p:sp>
        <p:sp>
          <p:nvSpPr>
            <p:cNvPr id="1592" name="Google Shape;1592;p95"/>
            <p:cNvSpPr txBox="1"/>
            <p:nvPr/>
          </p:nvSpPr>
          <p:spPr>
            <a:xfrm>
              <a:off x="8539739" y="3777530"/>
              <a:ext cx="1842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Amount</a:t>
              </a:r>
              <a:endParaRPr sz="1900">
                <a:solidFill>
                  <a:srgbClr val="000000"/>
                </a:solidFill>
                <a:latin typeface="Lexend"/>
                <a:ea typeface="Lexend"/>
                <a:cs typeface="Lexend"/>
                <a:sym typeface="Lexend"/>
              </a:endParaRPr>
            </a:p>
          </p:txBody>
        </p:sp>
        <p:grpSp>
          <p:nvGrpSpPr>
            <p:cNvPr id="1593" name="Google Shape;1593;p95"/>
            <p:cNvGrpSpPr/>
            <p:nvPr/>
          </p:nvGrpSpPr>
          <p:grpSpPr>
            <a:xfrm>
              <a:off x="745060" y="3293578"/>
              <a:ext cx="7806021" cy="868664"/>
              <a:chOff x="2621369" y="2760450"/>
              <a:chExt cx="4986917" cy="1357500"/>
            </a:xfrm>
          </p:grpSpPr>
          <p:grpSp>
            <p:nvGrpSpPr>
              <p:cNvPr id="1594" name="Google Shape;1594;p95"/>
              <p:cNvGrpSpPr/>
              <p:nvPr/>
            </p:nvGrpSpPr>
            <p:grpSpPr>
              <a:xfrm>
                <a:off x="2621369" y="2760450"/>
                <a:ext cx="4986917" cy="1357500"/>
                <a:chOff x="441900" y="3572013"/>
                <a:chExt cx="3745900" cy="1357500"/>
              </a:xfrm>
            </p:grpSpPr>
            <p:cxnSp>
              <p:nvCxnSpPr>
                <p:cNvPr id="1595" name="Google Shape;1595;p95"/>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596" name="Google Shape;1596;p95"/>
                <p:cNvCxnSpPr/>
                <p:nvPr/>
              </p:nvCxnSpPr>
              <p:spPr>
                <a:xfrm>
                  <a:off x="455200" y="3950800"/>
                  <a:ext cx="3732600" cy="0"/>
                </a:xfrm>
                <a:prstGeom prst="straightConnector1">
                  <a:avLst/>
                </a:prstGeom>
                <a:noFill/>
                <a:ln cap="flat" cmpd="sng" w="38100">
                  <a:solidFill>
                    <a:srgbClr val="000000"/>
                  </a:solidFill>
                  <a:prstDash val="solid"/>
                  <a:round/>
                  <a:headEnd len="med" w="med" type="none"/>
                  <a:tailEnd len="med" w="med" type="triangle"/>
                </a:ln>
              </p:spPr>
            </p:cxnSp>
            <p:cxnSp>
              <p:nvCxnSpPr>
                <p:cNvPr id="1597" name="Google Shape;1597;p95"/>
                <p:cNvCxnSpPr/>
                <p:nvPr/>
              </p:nvCxnSpPr>
              <p:spPr>
                <a:xfrm>
                  <a:off x="455200" y="4555638"/>
                  <a:ext cx="3729900" cy="0"/>
                </a:xfrm>
                <a:prstGeom prst="straightConnector1">
                  <a:avLst/>
                </a:prstGeom>
                <a:noFill/>
                <a:ln cap="flat" cmpd="sng" w="38100">
                  <a:solidFill>
                    <a:srgbClr val="000000"/>
                  </a:solidFill>
                  <a:prstDash val="solid"/>
                  <a:round/>
                  <a:headEnd len="med" w="med" type="none"/>
                  <a:tailEnd len="med" w="med" type="triangle"/>
                </a:ln>
              </p:spPr>
            </p:cxnSp>
          </p:grpSp>
          <p:sp>
            <p:nvSpPr>
              <p:cNvPr id="1598" name="Google Shape;1598;p95"/>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95"/>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95"/>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01" name="Google Shape;1601;p95"/>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02" name="Google Shape;1602;p95"/>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03" name="Google Shape;1603;p95"/>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04" name="Google Shape;1604;p95"/>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05" name="Google Shape;1605;p95"/>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06" name="Google Shape;1606;p95"/>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07" name="Google Shape;1607;p95"/>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08" name="Google Shape;1608;p95"/>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09" name="Google Shape;1609;p95"/>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0" name="Google Shape;1610;p95"/>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1" name="Google Shape;1611;p95"/>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2" name="Google Shape;1612;p95"/>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3" name="Google Shape;1613;p95"/>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4" name="Google Shape;1614;p95"/>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5" name="Google Shape;1615;p95"/>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6" name="Google Shape;1616;p95"/>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7" name="Google Shape;1617;p95"/>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8" name="Google Shape;1618;p95"/>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19" name="Google Shape;1619;p95"/>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20" name="Google Shape;1620;p95"/>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21" name="Google Shape;1621;p95"/>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22" name="Google Shape;1622;p95"/>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23" name="Google Shape;1623;p95"/>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24" name="Google Shape;1624;p95"/>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625" name="Google Shape;1625;p95"/>
            <p:cNvSpPr/>
            <p:nvPr/>
          </p:nvSpPr>
          <p:spPr>
            <a:xfrm>
              <a:off x="769985" y="3560244"/>
              <a:ext cx="74643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626" name="Google Shape;1626;p95"/>
          <p:cNvSpPr txBox="1"/>
          <p:nvPr/>
        </p:nvSpPr>
        <p:spPr>
          <a:xfrm>
            <a:off x="5309889" y="4146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340</a:t>
            </a:r>
            <a:endParaRPr sz="1800">
              <a:solidFill>
                <a:srgbClr val="000000"/>
              </a:solidFill>
              <a:latin typeface="Lexend"/>
              <a:ea typeface="Lexend"/>
              <a:cs typeface="Lexend"/>
              <a:sym typeface="Lexend"/>
            </a:endParaRPr>
          </a:p>
        </p:txBody>
      </p:sp>
      <p:sp>
        <p:nvSpPr>
          <p:cNvPr id="1627" name="Google Shape;1627;p95"/>
          <p:cNvSpPr txBox="1"/>
          <p:nvPr/>
        </p:nvSpPr>
        <p:spPr>
          <a:xfrm>
            <a:off x="581604" y="33730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628" name="Google Shape;1628;p95"/>
          <p:cNvSpPr txBox="1"/>
          <p:nvPr/>
        </p:nvSpPr>
        <p:spPr>
          <a:xfrm>
            <a:off x="5241177" y="32441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629" name="Google Shape;1629;p95"/>
          <p:cNvSpPr txBox="1"/>
          <p:nvPr/>
        </p:nvSpPr>
        <p:spPr>
          <a:xfrm>
            <a:off x="581604" y="40486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cxnSp>
        <p:nvCxnSpPr>
          <p:cNvPr id="1630" name="Google Shape;1630;p95"/>
          <p:cNvCxnSpPr/>
          <p:nvPr/>
        </p:nvCxnSpPr>
        <p:spPr>
          <a:xfrm>
            <a:off x="6004572" y="3537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631" name="Google Shape;1631;p95"/>
          <p:cNvCxnSpPr/>
          <p:nvPr/>
        </p:nvCxnSpPr>
        <p:spPr>
          <a:xfrm>
            <a:off x="6004572" y="4064073"/>
            <a:ext cx="0" cy="136200"/>
          </a:xfrm>
          <a:prstGeom prst="straightConnector1">
            <a:avLst/>
          </a:prstGeom>
          <a:noFill/>
          <a:ln cap="flat" cmpd="sng" w="38100">
            <a:solidFill>
              <a:srgbClr val="000000"/>
            </a:solidFill>
            <a:prstDash val="solid"/>
            <a:round/>
            <a:headEnd len="med" w="med" type="none"/>
            <a:tailEnd len="med" w="med" type="none"/>
          </a:ln>
        </p:spPr>
      </p:cxnSp>
      <p:sp>
        <p:nvSpPr>
          <p:cNvPr id="1632" name="Google Shape;1632;p95"/>
          <p:cNvSpPr txBox="1"/>
          <p:nvPr/>
        </p:nvSpPr>
        <p:spPr>
          <a:xfrm>
            <a:off x="6062570" y="3234521"/>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115%</a:t>
            </a:r>
            <a:endParaRPr sz="1800">
              <a:solidFill>
                <a:srgbClr val="000000"/>
              </a:solidFill>
              <a:latin typeface="Lexend"/>
              <a:ea typeface="Lexend"/>
              <a:cs typeface="Lexend"/>
              <a:sym typeface="Lexend"/>
            </a:endParaRPr>
          </a:p>
        </p:txBody>
      </p:sp>
      <p:sp>
        <p:nvSpPr>
          <p:cNvPr id="1633" name="Google Shape;1633;p95"/>
          <p:cNvSpPr/>
          <p:nvPr/>
        </p:nvSpPr>
        <p:spPr>
          <a:xfrm>
            <a:off x="5603500" y="3051675"/>
            <a:ext cx="677100" cy="399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4" name="Google Shape;1634;p95"/>
          <p:cNvSpPr/>
          <p:nvPr/>
        </p:nvSpPr>
        <p:spPr>
          <a:xfrm flipH="1" rot="10800000">
            <a:off x="5538075" y="4193825"/>
            <a:ext cx="695400" cy="3426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5" name="Google Shape;1635;p95"/>
          <p:cNvSpPr txBox="1"/>
          <p:nvPr/>
        </p:nvSpPr>
        <p:spPr>
          <a:xfrm>
            <a:off x="5757093" y="414617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391</a:t>
            </a:r>
            <a:endParaRPr sz="1800">
              <a:solidFill>
                <a:srgbClr val="000000"/>
              </a:solidFill>
              <a:latin typeface="Lexend"/>
              <a:ea typeface="Lexend"/>
              <a:cs typeface="Lexend"/>
              <a:sym typeface="Lexend"/>
            </a:endParaRPr>
          </a:p>
        </p:txBody>
      </p:sp>
      <p:cxnSp>
        <p:nvCxnSpPr>
          <p:cNvPr id="1636" name="Google Shape;1636;p95"/>
          <p:cNvCxnSpPr/>
          <p:nvPr/>
        </p:nvCxnSpPr>
        <p:spPr>
          <a:xfrm>
            <a:off x="6275527" y="353767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637" name="Google Shape;1637;p95"/>
          <p:cNvCxnSpPr/>
          <p:nvPr/>
        </p:nvCxnSpPr>
        <p:spPr>
          <a:xfrm>
            <a:off x="6275527" y="4064073"/>
            <a:ext cx="0" cy="136200"/>
          </a:xfrm>
          <a:prstGeom prst="straightConnector1">
            <a:avLst/>
          </a:prstGeom>
          <a:noFill/>
          <a:ln cap="flat" cmpd="sng" w="38100">
            <a:solidFill>
              <a:srgbClr val="000000"/>
            </a:solidFill>
            <a:prstDash val="solid"/>
            <a:round/>
            <a:headEnd len="med" w="med" type="none"/>
            <a:tailEnd len="med" w="med" type="none"/>
          </a:ln>
        </p:spPr>
      </p:cxnSp>
      <p:sp>
        <p:nvSpPr>
          <p:cNvPr id="1638" name="Google Shape;1638;p95"/>
          <p:cNvSpPr txBox="1"/>
          <p:nvPr/>
        </p:nvSpPr>
        <p:spPr>
          <a:xfrm>
            <a:off x="1127675" y="-372250"/>
            <a:ext cx="109500" cy="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639" name="Google Shape;1639;p95"/>
          <p:cNvSpPr txBox="1"/>
          <p:nvPr/>
        </p:nvSpPr>
        <p:spPr>
          <a:xfrm>
            <a:off x="5846100" y="2340138"/>
            <a:ext cx="821400" cy="323100"/>
          </a:xfrm>
          <a:prstGeom prst="rect">
            <a:avLst/>
          </a:prstGeom>
          <a:noFill/>
          <a:ln cap="flat" cmpd="sng" w="19050">
            <a:solidFill>
              <a:srgbClr val="000000"/>
            </a:solidFill>
            <a:prstDash val="solid"/>
            <a:round/>
            <a:headEnd len="sm" w="sm" type="none"/>
            <a:tailEnd len="sm" w="sm" type="none"/>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a:t>
            </a:r>
            <a:r>
              <a:rPr lang="en-GB" sz="2100">
                <a:latin typeface="Kalam"/>
                <a:ea typeface="Kalam"/>
                <a:cs typeface="Kalam"/>
                <a:sym typeface="Kalam"/>
              </a:rPr>
              <a:t> 1.3</a:t>
            </a:r>
            <a:endParaRPr sz="2100">
              <a:solidFill>
                <a:srgbClr val="000000"/>
              </a:solidFill>
              <a:latin typeface="Kalam"/>
              <a:ea typeface="Kalam"/>
              <a:cs typeface="Kalam"/>
              <a:sym typeface="Kalam"/>
            </a:endParaRPr>
          </a:p>
        </p:txBody>
      </p:sp>
      <p:sp>
        <p:nvSpPr>
          <p:cNvPr id="1640" name="Google Shape;1640;p95"/>
          <p:cNvSpPr txBox="1"/>
          <p:nvPr/>
        </p:nvSpPr>
        <p:spPr>
          <a:xfrm>
            <a:off x="4824000" y="2831789"/>
            <a:ext cx="821400" cy="323100"/>
          </a:xfrm>
          <a:prstGeom prst="rect">
            <a:avLst/>
          </a:prstGeom>
          <a:noFill/>
          <a:ln cap="flat" cmpd="sng" w="19050">
            <a:solidFill>
              <a:srgbClr val="000000"/>
            </a:solidFill>
            <a:prstDash val="solid"/>
            <a:round/>
            <a:headEnd len="sm" w="sm" type="none"/>
            <a:tailEnd len="sm" w="sm" type="none"/>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a:t>
            </a:r>
            <a:r>
              <a:rPr lang="en-GB" sz="2100">
                <a:latin typeface="Kalam"/>
                <a:ea typeface="Kalam"/>
                <a:cs typeface="Kalam"/>
                <a:sym typeface="Kalam"/>
              </a:rPr>
              <a:t> 1.15</a:t>
            </a:r>
            <a:endParaRPr sz="2100">
              <a:solidFill>
                <a:srgbClr val="000000"/>
              </a:solidFill>
              <a:latin typeface="Kalam"/>
              <a:ea typeface="Kalam"/>
              <a:cs typeface="Kalam"/>
              <a:sym typeface="Kalam"/>
            </a:endParaRPr>
          </a:p>
        </p:txBody>
      </p:sp>
      <p:sp>
        <p:nvSpPr>
          <p:cNvPr id="1641" name="Google Shape;1641;p95"/>
          <p:cNvSpPr txBox="1"/>
          <p:nvPr/>
        </p:nvSpPr>
        <p:spPr>
          <a:xfrm>
            <a:off x="5475075" y="4504172"/>
            <a:ext cx="821400" cy="323100"/>
          </a:xfrm>
          <a:prstGeom prst="rect">
            <a:avLst/>
          </a:prstGeom>
          <a:noFill/>
          <a:ln cap="flat" cmpd="sng" w="19050">
            <a:solidFill>
              <a:srgbClr val="000000"/>
            </a:solidFill>
            <a:prstDash val="solid"/>
            <a:round/>
            <a:headEnd len="sm" w="sm" type="none"/>
            <a:tailEnd len="sm" w="sm" type="none"/>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a:t>
            </a:r>
            <a:r>
              <a:rPr lang="en-GB" sz="2100">
                <a:latin typeface="Kalam"/>
                <a:ea typeface="Kalam"/>
                <a:cs typeface="Kalam"/>
                <a:sym typeface="Kalam"/>
              </a:rPr>
              <a:t> 1.15</a:t>
            </a:r>
            <a:endParaRPr sz="2100">
              <a:solidFill>
                <a:srgbClr val="000000"/>
              </a:solidFill>
              <a:latin typeface="Kalam"/>
              <a:ea typeface="Kalam"/>
              <a:cs typeface="Kalam"/>
              <a:sym typeface="Kala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5" name="Shape 1645"/>
        <p:cNvGrpSpPr/>
        <p:nvPr/>
      </p:nvGrpSpPr>
      <p:grpSpPr>
        <a:xfrm>
          <a:off x="0" y="0"/>
          <a:ext cx="0" cy="0"/>
          <a:chOff x="0" y="0"/>
          <a:chExt cx="0" cy="0"/>
        </a:xfrm>
      </p:grpSpPr>
      <p:sp>
        <p:nvSpPr>
          <p:cNvPr id="1646" name="Google Shape;1646;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647" name="Google Shape;1647;p96"/>
          <p:cNvSpPr txBox="1"/>
          <p:nvPr/>
        </p:nvSpPr>
        <p:spPr>
          <a:xfrm>
            <a:off x="324000" y="7593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Removing the double number lines, can you work out the multiplier to increase any amount by 35%?</a:t>
            </a:r>
            <a:endParaRPr sz="2200">
              <a:latin typeface="Lexend"/>
              <a:ea typeface="Lexend"/>
              <a:cs typeface="Lexend"/>
              <a:sym typeface="Lexend"/>
            </a:endParaRPr>
          </a:p>
        </p:txBody>
      </p:sp>
      <p:sp>
        <p:nvSpPr>
          <p:cNvPr id="1648" name="Google Shape;1648;p96"/>
          <p:cNvSpPr txBox="1"/>
          <p:nvPr/>
        </p:nvSpPr>
        <p:spPr>
          <a:xfrm>
            <a:off x="5019877" y="208471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649" name="Google Shape;1649;p96"/>
          <p:cNvSpPr txBox="1"/>
          <p:nvPr/>
        </p:nvSpPr>
        <p:spPr>
          <a:xfrm>
            <a:off x="6719295" y="2071546"/>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sp>
        <p:nvSpPr>
          <p:cNvPr id="1650" name="Google Shape;1650;p96"/>
          <p:cNvSpPr txBox="1"/>
          <p:nvPr/>
        </p:nvSpPr>
        <p:spPr>
          <a:xfrm>
            <a:off x="5545793" y="1615746"/>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651" name="Google Shape;1651;p96"/>
          <p:cNvSpPr/>
          <p:nvPr/>
        </p:nvSpPr>
        <p:spPr>
          <a:xfrm>
            <a:off x="5382200" y="1892225"/>
            <a:ext cx="1551300" cy="321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52" name="Google Shape;1652;p96"/>
          <p:cNvGrpSpPr/>
          <p:nvPr/>
        </p:nvGrpSpPr>
        <p:grpSpPr>
          <a:xfrm>
            <a:off x="360304" y="2213562"/>
            <a:ext cx="8941987" cy="1014300"/>
            <a:chOff x="360304" y="2213562"/>
            <a:chExt cx="8941987" cy="1014300"/>
          </a:xfrm>
        </p:grpSpPr>
        <p:sp>
          <p:nvSpPr>
            <p:cNvPr id="1653" name="Google Shape;1653;p96"/>
            <p:cNvSpPr txBox="1"/>
            <p:nvPr/>
          </p:nvSpPr>
          <p:spPr>
            <a:xfrm>
              <a:off x="360304" y="221356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654" name="Google Shape;1654;p96"/>
            <p:cNvSpPr txBox="1"/>
            <p:nvPr/>
          </p:nvSpPr>
          <p:spPr>
            <a:xfrm>
              <a:off x="360304" y="288916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cxnSp>
          <p:nvCxnSpPr>
            <p:cNvPr id="1655" name="Google Shape;1655;p96"/>
            <p:cNvCxnSpPr/>
            <p:nvPr/>
          </p:nvCxnSpPr>
          <p:spPr>
            <a:xfrm>
              <a:off x="5783272" y="237822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656" name="Google Shape;1656;p96"/>
            <p:cNvCxnSpPr/>
            <p:nvPr/>
          </p:nvCxnSpPr>
          <p:spPr>
            <a:xfrm>
              <a:off x="5783272" y="2904623"/>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657" name="Google Shape;1657;p96"/>
            <p:cNvCxnSpPr/>
            <p:nvPr/>
          </p:nvCxnSpPr>
          <p:spPr>
            <a:xfrm>
              <a:off x="6297332" y="237822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658" name="Google Shape;1658;p96"/>
            <p:cNvCxnSpPr/>
            <p:nvPr/>
          </p:nvCxnSpPr>
          <p:spPr>
            <a:xfrm>
              <a:off x="6297332" y="2904623"/>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659" name="Google Shape;1659;p96"/>
            <p:cNvCxnSpPr/>
            <p:nvPr/>
          </p:nvCxnSpPr>
          <p:spPr>
            <a:xfrm>
              <a:off x="6781143" y="237822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660" name="Google Shape;1660;p96"/>
            <p:cNvCxnSpPr/>
            <p:nvPr/>
          </p:nvCxnSpPr>
          <p:spPr>
            <a:xfrm>
              <a:off x="6781143" y="2904623"/>
              <a:ext cx="0" cy="136200"/>
            </a:xfrm>
            <a:prstGeom prst="straightConnector1">
              <a:avLst/>
            </a:prstGeom>
            <a:noFill/>
            <a:ln cap="flat" cmpd="sng" w="38100">
              <a:solidFill>
                <a:srgbClr val="000000"/>
              </a:solidFill>
              <a:prstDash val="solid"/>
              <a:round/>
              <a:headEnd len="med" w="med" type="none"/>
              <a:tailEnd len="med" w="med" type="none"/>
            </a:ln>
          </p:spPr>
        </p:cxnSp>
        <p:grpSp>
          <p:nvGrpSpPr>
            <p:cNvPr id="1661" name="Google Shape;1661;p96"/>
            <p:cNvGrpSpPr/>
            <p:nvPr/>
          </p:nvGrpSpPr>
          <p:grpSpPr>
            <a:xfrm>
              <a:off x="794785" y="2267084"/>
              <a:ext cx="8507505" cy="868664"/>
              <a:chOff x="745060" y="3293578"/>
              <a:chExt cx="10478513" cy="868664"/>
            </a:xfrm>
          </p:grpSpPr>
          <p:sp>
            <p:nvSpPr>
              <p:cNvPr id="1662" name="Google Shape;1662;p96"/>
              <p:cNvSpPr txBox="1"/>
              <p:nvPr/>
            </p:nvSpPr>
            <p:spPr>
              <a:xfrm>
                <a:off x="9102873" y="3339679"/>
                <a:ext cx="2120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Percentage</a:t>
                </a:r>
                <a:endParaRPr sz="1900">
                  <a:solidFill>
                    <a:srgbClr val="000000"/>
                  </a:solidFill>
                  <a:latin typeface="Lexend"/>
                  <a:ea typeface="Lexend"/>
                  <a:cs typeface="Lexend"/>
                  <a:sym typeface="Lexend"/>
                </a:endParaRPr>
              </a:p>
            </p:txBody>
          </p:sp>
          <p:sp>
            <p:nvSpPr>
              <p:cNvPr id="1663" name="Google Shape;1663;p96"/>
              <p:cNvSpPr txBox="1"/>
              <p:nvPr/>
            </p:nvSpPr>
            <p:spPr>
              <a:xfrm>
                <a:off x="9102863" y="3777530"/>
                <a:ext cx="1842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Amount</a:t>
                </a:r>
                <a:endParaRPr sz="1900">
                  <a:solidFill>
                    <a:srgbClr val="000000"/>
                  </a:solidFill>
                  <a:latin typeface="Lexend"/>
                  <a:ea typeface="Lexend"/>
                  <a:cs typeface="Lexend"/>
                  <a:sym typeface="Lexend"/>
                </a:endParaRPr>
              </a:p>
            </p:txBody>
          </p:sp>
          <p:grpSp>
            <p:nvGrpSpPr>
              <p:cNvPr id="1664" name="Google Shape;1664;p96"/>
              <p:cNvGrpSpPr/>
              <p:nvPr/>
            </p:nvGrpSpPr>
            <p:grpSpPr>
              <a:xfrm>
                <a:off x="745060" y="3293578"/>
                <a:ext cx="8357813" cy="868664"/>
                <a:chOff x="2621369" y="2760450"/>
                <a:chExt cx="5339432" cy="1357500"/>
              </a:xfrm>
            </p:grpSpPr>
            <p:grpSp>
              <p:nvGrpSpPr>
                <p:cNvPr id="1665" name="Google Shape;1665;p96"/>
                <p:cNvGrpSpPr/>
                <p:nvPr/>
              </p:nvGrpSpPr>
              <p:grpSpPr>
                <a:xfrm>
                  <a:off x="2621369" y="2760450"/>
                  <a:ext cx="5339432" cy="1357500"/>
                  <a:chOff x="441900" y="3572013"/>
                  <a:chExt cx="4010691" cy="1357500"/>
                </a:xfrm>
              </p:grpSpPr>
              <p:cxnSp>
                <p:nvCxnSpPr>
                  <p:cNvPr id="1666" name="Google Shape;1666;p96"/>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667" name="Google Shape;1667;p96"/>
                  <p:cNvCxnSpPr>
                    <a:endCxn id="1662" idx="1"/>
                  </p:cNvCxnSpPr>
                  <p:nvPr/>
                </p:nvCxnSpPr>
                <p:spPr>
                  <a:xfrm flipH="1" rot="10800000">
                    <a:off x="455091" y="3872608"/>
                    <a:ext cx="3997500" cy="78300"/>
                  </a:xfrm>
                  <a:prstGeom prst="straightConnector1">
                    <a:avLst/>
                  </a:prstGeom>
                  <a:noFill/>
                  <a:ln cap="flat" cmpd="sng" w="38100">
                    <a:solidFill>
                      <a:srgbClr val="000000"/>
                    </a:solidFill>
                    <a:prstDash val="solid"/>
                    <a:round/>
                    <a:headEnd len="med" w="med" type="none"/>
                    <a:tailEnd len="med" w="med" type="triangle"/>
                  </a:ln>
                </p:spPr>
              </p:cxnSp>
              <p:cxnSp>
                <p:nvCxnSpPr>
                  <p:cNvPr id="1668" name="Google Shape;1668;p96"/>
                  <p:cNvCxnSpPr>
                    <a:endCxn id="1663" idx="1"/>
                  </p:cNvCxnSpPr>
                  <p:nvPr/>
                </p:nvCxnSpPr>
                <p:spPr>
                  <a:xfrm>
                    <a:off x="455086" y="4555356"/>
                    <a:ext cx="3997500" cy="1500"/>
                  </a:xfrm>
                  <a:prstGeom prst="straightConnector1">
                    <a:avLst/>
                  </a:prstGeom>
                  <a:noFill/>
                  <a:ln cap="flat" cmpd="sng" w="38100">
                    <a:solidFill>
                      <a:srgbClr val="000000"/>
                    </a:solidFill>
                    <a:prstDash val="solid"/>
                    <a:round/>
                    <a:headEnd len="med" w="med" type="none"/>
                    <a:tailEnd len="med" w="med" type="triangle"/>
                  </a:ln>
                </p:spPr>
              </p:cxnSp>
            </p:grpSp>
            <p:sp>
              <p:nvSpPr>
                <p:cNvPr id="1669" name="Google Shape;1669;p96"/>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96"/>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96"/>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72" name="Google Shape;1672;p96"/>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73" name="Google Shape;1673;p96"/>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74" name="Google Shape;1674;p96"/>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75" name="Google Shape;1675;p96"/>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76" name="Google Shape;1676;p96"/>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77" name="Google Shape;1677;p96"/>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78" name="Google Shape;1678;p96"/>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79" name="Google Shape;1679;p96"/>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0" name="Google Shape;1680;p96"/>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1" name="Google Shape;1681;p96"/>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2" name="Google Shape;1682;p96"/>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3" name="Google Shape;1683;p96"/>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4" name="Google Shape;1684;p96"/>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5" name="Google Shape;1685;p96"/>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6" name="Google Shape;1686;p96"/>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7" name="Google Shape;1687;p96"/>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8" name="Google Shape;1688;p96"/>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89" name="Google Shape;1689;p96"/>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90" name="Google Shape;1690;p96"/>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91" name="Google Shape;1691;p96"/>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92" name="Google Shape;1692;p96"/>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93" name="Google Shape;1693;p96"/>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94" name="Google Shape;1694;p96"/>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695" name="Google Shape;1695;p96"/>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696" name="Google Shape;1696;p96"/>
              <p:cNvSpPr/>
              <p:nvPr/>
            </p:nvSpPr>
            <p:spPr>
              <a:xfrm>
                <a:off x="769985" y="3560244"/>
                <a:ext cx="74643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697" name="Google Shape;1697;p96"/>
            <p:cNvCxnSpPr/>
            <p:nvPr/>
          </p:nvCxnSpPr>
          <p:spPr>
            <a:xfrm>
              <a:off x="7047263" y="2378227"/>
              <a:ext cx="0" cy="136200"/>
            </a:xfrm>
            <a:prstGeom prst="straightConnector1">
              <a:avLst/>
            </a:prstGeom>
            <a:noFill/>
            <a:ln cap="flat" cmpd="sng" w="38100">
              <a:solidFill>
                <a:srgbClr val="000000"/>
              </a:solidFill>
              <a:prstDash val="solid"/>
              <a:round/>
              <a:headEnd len="med" w="med" type="none"/>
              <a:tailEnd len="med" w="med" type="none"/>
            </a:ln>
          </p:spPr>
        </p:cxnSp>
        <p:cxnSp>
          <p:nvCxnSpPr>
            <p:cNvPr id="1698" name="Google Shape;1698;p96"/>
            <p:cNvCxnSpPr/>
            <p:nvPr/>
          </p:nvCxnSpPr>
          <p:spPr>
            <a:xfrm>
              <a:off x="7047263" y="2904623"/>
              <a:ext cx="0" cy="136200"/>
            </a:xfrm>
            <a:prstGeom prst="straightConnector1">
              <a:avLst/>
            </a:prstGeom>
            <a:noFill/>
            <a:ln cap="flat" cmpd="sng" w="38100">
              <a:solidFill>
                <a:srgbClr val="00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5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sp>
        <p:nvSpPr>
          <p:cNvPr id="1703" name="Google Shape;1703;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704" name="Google Shape;1704;p97"/>
          <p:cNvSpPr txBox="1"/>
          <p:nvPr/>
        </p:nvSpPr>
        <p:spPr>
          <a:xfrm>
            <a:off x="324000" y="7593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Removing the double number lines, can you work out the multiplier to increase any amount by 35%?</a:t>
            </a:r>
            <a:endParaRPr sz="2200">
              <a:latin typeface="Lexend"/>
              <a:ea typeface="Lexend"/>
              <a:cs typeface="Lexend"/>
              <a:sym typeface="Lexend"/>
            </a:endParaRPr>
          </a:p>
        </p:txBody>
      </p:sp>
      <p:sp>
        <p:nvSpPr>
          <p:cNvPr id="1705" name="Google Shape;1705;p97"/>
          <p:cNvSpPr txBox="1"/>
          <p:nvPr/>
        </p:nvSpPr>
        <p:spPr>
          <a:xfrm>
            <a:off x="5545793" y="1615746"/>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1.35</a:t>
            </a:r>
            <a:endParaRPr sz="1800">
              <a:solidFill>
                <a:srgbClr val="000000"/>
              </a:solidFill>
              <a:latin typeface="Lexend"/>
              <a:ea typeface="Lexend"/>
              <a:cs typeface="Lexend"/>
              <a:sym typeface="Lexend"/>
            </a:endParaRPr>
          </a:p>
        </p:txBody>
      </p:sp>
      <p:sp>
        <p:nvSpPr>
          <p:cNvPr id="1706" name="Google Shape;1706;p97"/>
          <p:cNvSpPr txBox="1"/>
          <p:nvPr/>
        </p:nvSpPr>
        <p:spPr>
          <a:xfrm>
            <a:off x="5019877" y="208471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707" name="Google Shape;1707;p97"/>
          <p:cNvSpPr txBox="1"/>
          <p:nvPr/>
        </p:nvSpPr>
        <p:spPr>
          <a:xfrm>
            <a:off x="6719295" y="2071546"/>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sp>
        <p:nvSpPr>
          <p:cNvPr id="1708" name="Google Shape;1708;p97"/>
          <p:cNvSpPr/>
          <p:nvPr/>
        </p:nvSpPr>
        <p:spPr>
          <a:xfrm>
            <a:off x="5382200" y="1892225"/>
            <a:ext cx="1551300" cy="321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9" name="Google Shape;1709;p97"/>
          <p:cNvSpPr txBox="1"/>
          <p:nvPr/>
        </p:nvSpPr>
        <p:spPr>
          <a:xfrm>
            <a:off x="324000" y="26643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Can you explain how to quickly find this multiplier?</a:t>
            </a:r>
            <a:endParaRPr sz="2200">
              <a:latin typeface="Lexend"/>
              <a:ea typeface="Lexend"/>
              <a:cs typeface="Lexend"/>
              <a:sym typeface="Lexend"/>
            </a:endParaRPr>
          </a:p>
        </p:txBody>
      </p:sp>
      <p:sp>
        <p:nvSpPr>
          <p:cNvPr id="1710" name="Google Shape;1710;p97"/>
          <p:cNvSpPr txBox="1"/>
          <p:nvPr/>
        </p:nvSpPr>
        <p:spPr>
          <a:xfrm>
            <a:off x="324000" y="31977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Given 35% as a decimal is 0.35 and 100% as a decimal is 1, summing them gives 1.35</a:t>
            </a:r>
            <a:endParaRPr sz="22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p98"/>
          <p:cNvSpPr txBox="1"/>
          <p:nvPr>
            <p:ph idx="1" type="body"/>
          </p:nvPr>
        </p:nvSpPr>
        <p:spPr>
          <a:xfrm>
            <a:off x="324000" y="683100"/>
            <a:ext cx="8237700" cy="41373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GB"/>
              <a:t>Identify the multiplier when any number is:</a:t>
            </a:r>
            <a:endParaRPr/>
          </a:p>
          <a:p>
            <a:pPr indent="-368300" lvl="0" marL="457200" rtl="0" algn="l">
              <a:lnSpc>
                <a:spcPct val="150000"/>
              </a:lnSpc>
              <a:spcBef>
                <a:spcPts val="1000"/>
              </a:spcBef>
              <a:spcAft>
                <a:spcPts val="0"/>
              </a:spcAft>
              <a:buSzPts val="2200"/>
              <a:buAutoNum type="alphaLcParenR"/>
            </a:pPr>
            <a:r>
              <a:rPr lang="en-GB"/>
              <a:t>Increased by 40%</a:t>
            </a:r>
            <a:endParaRPr/>
          </a:p>
          <a:p>
            <a:pPr indent="-368300" lvl="0" marL="457200" rtl="0" algn="l">
              <a:lnSpc>
                <a:spcPct val="150000"/>
              </a:lnSpc>
              <a:spcBef>
                <a:spcPts val="0"/>
              </a:spcBef>
              <a:spcAft>
                <a:spcPts val="0"/>
              </a:spcAft>
              <a:buSzPts val="2200"/>
              <a:buAutoNum type="alphaLcParenR"/>
            </a:pPr>
            <a:r>
              <a:rPr lang="en-GB"/>
              <a:t>Increased by 34%</a:t>
            </a:r>
            <a:endParaRPr/>
          </a:p>
          <a:p>
            <a:pPr indent="-368300" lvl="0" marL="457200" rtl="0" algn="l">
              <a:lnSpc>
                <a:spcPct val="150000"/>
              </a:lnSpc>
              <a:spcBef>
                <a:spcPts val="0"/>
              </a:spcBef>
              <a:spcAft>
                <a:spcPts val="0"/>
              </a:spcAft>
              <a:buSzPts val="2200"/>
              <a:buAutoNum type="alphaLcParenR"/>
            </a:pPr>
            <a:r>
              <a:rPr lang="en-GB"/>
              <a:t>Increased by 78%</a:t>
            </a:r>
            <a:endParaRPr/>
          </a:p>
          <a:p>
            <a:pPr indent="-368300" lvl="0" marL="457200" rtl="0" algn="l">
              <a:lnSpc>
                <a:spcPct val="150000"/>
              </a:lnSpc>
              <a:spcBef>
                <a:spcPts val="0"/>
              </a:spcBef>
              <a:spcAft>
                <a:spcPts val="0"/>
              </a:spcAft>
              <a:buSzPts val="2200"/>
              <a:buAutoNum type="alphaLcParenR"/>
            </a:pPr>
            <a:r>
              <a:rPr lang="en-GB"/>
              <a:t>Increased by 16%</a:t>
            </a:r>
            <a:endParaRPr/>
          </a:p>
          <a:p>
            <a:pPr indent="-368300" lvl="0" marL="457200" rtl="0" algn="l">
              <a:lnSpc>
                <a:spcPct val="150000"/>
              </a:lnSpc>
              <a:spcBef>
                <a:spcPts val="0"/>
              </a:spcBef>
              <a:spcAft>
                <a:spcPts val="0"/>
              </a:spcAft>
              <a:buSzPts val="2200"/>
              <a:buAutoNum type="alphaLcParenR"/>
            </a:pPr>
            <a:r>
              <a:rPr lang="en-GB"/>
              <a:t>Increased</a:t>
            </a:r>
            <a:r>
              <a:rPr lang="en-GB"/>
              <a:t> by 4%</a:t>
            </a:r>
            <a:endParaRPr/>
          </a:p>
          <a:p>
            <a:pPr indent="-368300" lvl="0" marL="457200" rtl="0" algn="l">
              <a:lnSpc>
                <a:spcPct val="150000"/>
              </a:lnSpc>
              <a:spcBef>
                <a:spcPts val="0"/>
              </a:spcBef>
              <a:spcAft>
                <a:spcPts val="0"/>
              </a:spcAft>
              <a:buSzPts val="2200"/>
              <a:buAutoNum type="alphaLcParenR"/>
            </a:pPr>
            <a:r>
              <a:rPr lang="en-GB"/>
              <a:t>Increased by 200%</a:t>
            </a:r>
            <a:endParaRPr/>
          </a:p>
          <a:p>
            <a:pPr indent="-368300" lvl="0" marL="457200" rtl="0" algn="l">
              <a:lnSpc>
                <a:spcPct val="150000"/>
              </a:lnSpc>
              <a:spcBef>
                <a:spcPts val="0"/>
              </a:spcBef>
              <a:spcAft>
                <a:spcPts val="0"/>
              </a:spcAft>
              <a:buSzPts val="2200"/>
              <a:buAutoNum type="alphaLcParenR"/>
            </a:pPr>
            <a:r>
              <a:rPr lang="en-GB"/>
              <a:t>Increased by 2.3% </a:t>
            </a:r>
            <a:endParaRPr/>
          </a:p>
        </p:txBody>
      </p:sp>
      <p:sp>
        <p:nvSpPr>
          <p:cNvPr id="1716" name="Google Shape;1716;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717" name="Google Shape;1717;p98"/>
          <p:cNvSpPr txBox="1"/>
          <p:nvPr/>
        </p:nvSpPr>
        <p:spPr>
          <a:xfrm>
            <a:off x="3324000" y="1213375"/>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1.4</a:t>
            </a:r>
            <a:endParaRPr>
              <a:latin typeface="Kalam"/>
              <a:ea typeface="Kalam"/>
              <a:cs typeface="Kalam"/>
              <a:sym typeface="Kalam"/>
            </a:endParaRPr>
          </a:p>
        </p:txBody>
      </p:sp>
      <p:sp>
        <p:nvSpPr>
          <p:cNvPr id="1718" name="Google Shape;1718;p98"/>
          <p:cNvSpPr txBox="1"/>
          <p:nvPr/>
        </p:nvSpPr>
        <p:spPr>
          <a:xfrm>
            <a:off x="3324000" y="169235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1.34</a:t>
            </a:r>
            <a:endParaRPr>
              <a:latin typeface="Kalam"/>
              <a:ea typeface="Kalam"/>
              <a:cs typeface="Kalam"/>
              <a:sym typeface="Kalam"/>
            </a:endParaRPr>
          </a:p>
        </p:txBody>
      </p:sp>
      <p:sp>
        <p:nvSpPr>
          <p:cNvPr id="1719" name="Google Shape;1719;p98"/>
          <p:cNvSpPr txBox="1"/>
          <p:nvPr/>
        </p:nvSpPr>
        <p:spPr>
          <a:xfrm>
            <a:off x="3324000" y="2220888"/>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1.78</a:t>
            </a:r>
            <a:endParaRPr>
              <a:latin typeface="Kalam"/>
              <a:ea typeface="Kalam"/>
              <a:cs typeface="Kalam"/>
              <a:sym typeface="Kalam"/>
            </a:endParaRPr>
          </a:p>
        </p:txBody>
      </p:sp>
      <p:sp>
        <p:nvSpPr>
          <p:cNvPr id="1720" name="Google Shape;1720;p98"/>
          <p:cNvSpPr txBox="1"/>
          <p:nvPr/>
        </p:nvSpPr>
        <p:spPr>
          <a:xfrm>
            <a:off x="3324000" y="2694993"/>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1.16</a:t>
            </a:r>
            <a:endParaRPr>
              <a:latin typeface="Kalam"/>
              <a:ea typeface="Kalam"/>
              <a:cs typeface="Kalam"/>
              <a:sym typeface="Kalam"/>
            </a:endParaRPr>
          </a:p>
        </p:txBody>
      </p:sp>
      <p:sp>
        <p:nvSpPr>
          <p:cNvPr id="1721" name="Google Shape;1721;p98"/>
          <p:cNvSpPr txBox="1"/>
          <p:nvPr/>
        </p:nvSpPr>
        <p:spPr>
          <a:xfrm>
            <a:off x="3324000" y="3228393"/>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1.04</a:t>
            </a:r>
            <a:endParaRPr>
              <a:latin typeface="Kalam"/>
              <a:ea typeface="Kalam"/>
              <a:cs typeface="Kalam"/>
              <a:sym typeface="Kalam"/>
            </a:endParaRPr>
          </a:p>
        </p:txBody>
      </p:sp>
      <p:sp>
        <p:nvSpPr>
          <p:cNvPr id="1722" name="Google Shape;1722;p98"/>
          <p:cNvSpPr txBox="1"/>
          <p:nvPr/>
        </p:nvSpPr>
        <p:spPr>
          <a:xfrm>
            <a:off x="3324000" y="3761793"/>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3</a:t>
            </a:r>
            <a:endParaRPr>
              <a:latin typeface="Kalam"/>
              <a:ea typeface="Kalam"/>
              <a:cs typeface="Kalam"/>
              <a:sym typeface="Kalam"/>
            </a:endParaRPr>
          </a:p>
        </p:txBody>
      </p:sp>
      <p:sp>
        <p:nvSpPr>
          <p:cNvPr id="1723" name="Google Shape;1723;p98"/>
          <p:cNvSpPr txBox="1"/>
          <p:nvPr/>
        </p:nvSpPr>
        <p:spPr>
          <a:xfrm>
            <a:off x="3324000" y="4235893"/>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1.023</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729" name="Google Shape;1729;p99"/>
          <p:cNvSpPr txBox="1"/>
          <p:nvPr/>
        </p:nvSpPr>
        <p:spPr>
          <a:xfrm>
            <a:off x="324000" y="759300"/>
            <a:ext cx="8237700" cy="2415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Using a multiplier and the </a:t>
            </a:r>
            <a:r>
              <a:rPr lang="en-GB" sz="2200">
                <a:latin typeface="Lexend"/>
                <a:ea typeface="Lexend"/>
                <a:cs typeface="Lexend"/>
                <a:sym typeface="Lexend"/>
              </a:rPr>
              <a:t>associative</a:t>
            </a:r>
            <a:r>
              <a:rPr lang="en-GB" sz="2200">
                <a:latin typeface="Lexend"/>
                <a:ea typeface="Lexend"/>
                <a:cs typeface="Lexend"/>
                <a:sym typeface="Lexend"/>
              </a:rPr>
              <a:t> law makes finding the percentage of an amount easier without a calculator.</a:t>
            </a:r>
            <a:endParaRPr sz="2200">
              <a:latin typeface="Lexend"/>
              <a:ea typeface="Lexend"/>
              <a:cs typeface="Lexend"/>
              <a:sym typeface="Lexend"/>
            </a:endParaRPr>
          </a:p>
          <a:p>
            <a:pPr indent="0" lvl="0" marL="0" rtl="0" algn="l">
              <a:lnSpc>
                <a:spcPct val="115000"/>
              </a:lnSpc>
              <a:spcBef>
                <a:spcPts val="1000"/>
              </a:spcBef>
              <a:spcAft>
                <a:spcPts val="0"/>
              </a:spcAft>
              <a:buNone/>
            </a:pPr>
            <a:r>
              <a:rPr lang="en-GB" sz="2200">
                <a:latin typeface="Lexend"/>
                <a:ea typeface="Lexend"/>
                <a:cs typeface="Lexend"/>
                <a:sym typeface="Lexend"/>
              </a:rPr>
              <a:t>For example, increase 48 by 32%</a:t>
            </a:r>
            <a:endParaRPr sz="2200">
              <a:latin typeface="Lexend"/>
              <a:ea typeface="Lexend"/>
              <a:cs typeface="Lexend"/>
              <a:sym typeface="Lexend"/>
            </a:endParaRPr>
          </a:p>
          <a:p>
            <a:pPr indent="0" lvl="0" marL="0" rtl="0" algn="l">
              <a:lnSpc>
                <a:spcPct val="115000"/>
              </a:lnSpc>
              <a:spcBef>
                <a:spcPts val="1000"/>
              </a:spcBef>
              <a:spcAft>
                <a:spcPts val="0"/>
              </a:spcAft>
              <a:buNone/>
            </a:pPr>
            <a:r>
              <a:rPr lang="en-GB" sz="2200">
                <a:latin typeface="Lexend"/>
                <a:ea typeface="Lexend"/>
                <a:cs typeface="Lexend"/>
                <a:sym typeface="Lexend"/>
              </a:rPr>
              <a:t>We need to work out </a:t>
            </a:r>
            <a:endParaRPr sz="2200">
              <a:latin typeface="Lexend"/>
              <a:ea typeface="Lexend"/>
              <a:cs typeface="Lexend"/>
              <a:sym typeface="Lexend"/>
            </a:endParaRPr>
          </a:p>
          <a:p>
            <a:pPr indent="0" lvl="0" marL="0" rtl="0" algn="l">
              <a:lnSpc>
                <a:spcPct val="115000"/>
              </a:lnSpc>
              <a:spcBef>
                <a:spcPts val="1000"/>
              </a:spcBef>
              <a:spcAft>
                <a:spcPts val="1000"/>
              </a:spcAft>
              <a:buNone/>
            </a:pPr>
            <a:r>
              <a:rPr lang="en-GB" sz="2200">
                <a:latin typeface="Lexend"/>
                <a:ea typeface="Lexend"/>
                <a:cs typeface="Lexend"/>
                <a:sym typeface="Lexend"/>
              </a:rPr>
              <a:t>48 × 1.32 = 48 </a:t>
            </a:r>
            <a:r>
              <a:rPr lang="en-GB" sz="2200">
                <a:solidFill>
                  <a:schemeClr val="dk1"/>
                </a:solidFill>
                <a:latin typeface="Lexend"/>
                <a:ea typeface="Lexend"/>
                <a:cs typeface="Lexend"/>
                <a:sym typeface="Lexend"/>
              </a:rPr>
              <a:t>× 132 × 0.01</a:t>
            </a:r>
            <a:r>
              <a:rPr lang="en-GB" sz="2200">
                <a:latin typeface="Lexend"/>
                <a:ea typeface="Lexend"/>
                <a:cs typeface="Lexend"/>
                <a:sym typeface="Lexend"/>
              </a:rPr>
              <a:t> </a:t>
            </a:r>
            <a:endParaRPr sz="2200">
              <a:latin typeface="Lexend"/>
              <a:ea typeface="Lexend"/>
              <a:cs typeface="Lexend"/>
              <a:sym typeface="Lexend"/>
            </a:endParaRPr>
          </a:p>
        </p:txBody>
      </p:sp>
      <p:grpSp>
        <p:nvGrpSpPr>
          <p:cNvPr id="1730" name="Google Shape;1730;p99"/>
          <p:cNvGrpSpPr/>
          <p:nvPr/>
        </p:nvGrpSpPr>
        <p:grpSpPr>
          <a:xfrm>
            <a:off x="7412625" y="1566675"/>
            <a:ext cx="1294604" cy="2213337"/>
            <a:chOff x="7988175" y="1351750"/>
            <a:chExt cx="1294604" cy="2213337"/>
          </a:xfrm>
        </p:grpSpPr>
        <p:cxnSp>
          <p:nvCxnSpPr>
            <p:cNvPr id="1731" name="Google Shape;1731;p99"/>
            <p:cNvCxnSpPr/>
            <p:nvPr/>
          </p:nvCxnSpPr>
          <p:spPr>
            <a:xfrm>
              <a:off x="8040825" y="3456148"/>
              <a:ext cx="784200" cy="0"/>
            </a:xfrm>
            <a:prstGeom prst="straightConnector1">
              <a:avLst/>
            </a:prstGeom>
            <a:noFill/>
            <a:ln cap="flat" cmpd="sng" w="19050">
              <a:solidFill>
                <a:srgbClr val="808080"/>
              </a:solidFill>
              <a:prstDash val="solid"/>
              <a:round/>
              <a:headEnd len="med" w="med" type="none"/>
              <a:tailEnd len="med" w="med" type="none"/>
            </a:ln>
          </p:spPr>
        </p:cxnSp>
        <p:grpSp>
          <p:nvGrpSpPr>
            <p:cNvPr id="1732" name="Google Shape;1732;p99"/>
            <p:cNvGrpSpPr/>
            <p:nvPr/>
          </p:nvGrpSpPr>
          <p:grpSpPr>
            <a:xfrm>
              <a:off x="7988175" y="1351750"/>
              <a:ext cx="1294604" cy="2213337"/>
              <a:chOff x="7988175" y="1351750"/>
              <a:chExt cx="1294604" cy="2213337"/>
            </a:xfrm>
          </p:grpSpPr>
          <p:sp>
            <p:nvSpPr>
              <p:cNvPr id="1733" name="Google Shape;1733;p99"/>
              <p:cNvSpPr txBox="1"/>
              <p:nvPr/>
            </p:nvSpPr>
            <p:spPr>
              <a:xfrm>
                <a:off x="7988175" y="3041887"/>
                <a:ext cx="1041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Kalam"/>
                    <a:ea typeface="Kalam"/>
                    <a:cs typeface="Kalam"/>
                    <a:sym typeface="Kalam"/>
                  </a:rPr>
                  <a:t>6336</a:t>
                </a:r>
                <a:endParaRPr sz="1500"/>
              </a:p>
            </p:txBody>
          </p:sp>
          <p:sp>
            <p:nvSpPr>
              <p:cNvPr id="1734" name="Google Shape;1734;p99"/>
              <p:cNvSpPr txBox="1"/>
              <p:nvPr/>
            </p:nvSpPr>
            <p:spPr>
              <a:xfrm>
                <a:off x="8109779" y="1351750"/>
                <a:ext cx="1173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latin typeface="Kalam"/>
                    <a:ea typeface="Kalam"/>
                    <a:cs typeface="Kalam"/>
                    <a:sym typeface="Kalam"/>
                  </a:rPr>
                  <a:t>4</a:t>
                </a:r>
                <a:r>
                  <a:rPr lang="en-GB" sz="2100">
                    <a:solidFill>
                      <a:srgbClr val="000000"/>
                    </a:solidFill>
                    <a:latin typeface="Kalam"/>
                    <a:ea typeface="Kalam"/>
                    <a:cs typeface="Kalam"/>
                    <a:sym typeface="Kalam"/>
                  </a:rPr>
                  <a:t>000 </a:t>
                </a:r>
                <a:endParaRPr sz="2100"/>
              </a:p>
            </p:txBody>
          </p:sp>
          <p:sp>
            <p:nvSpPr>
              <p:cNvPr id="1735" name="Google Shape;1735;p99"/>
              <p:cNvSpPr txBox="1"/>
              <p:nvPr/>
            </p:nvSpPr>
            <p:spPr>
              <a:xfrm>
                <a:off x="8213067" y="1614502"/>
                <a:ext cx="839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latin typeface="Kalam"/>
                    <a:ea typeface="Kalam"/>
                    <a:cs typeface="Kalam"/>
                    <a:sym typeface="Kalam"/>
                  </a:rPr>
                  <a:t>8</a:t>
                </a:r>
                <a:r>
                  <a:rPr lang="en-GB" sz="2100">
                    <a:latin typeface="Kalam"/>
                    <a:ea typeface="Kalam"/>
                    <a:cs typeface="Kalam"/>
                    <a:sym typeface="Kalam"/>
                  </a:rPr>
                  <a:t>00</a:t>
                </a:r>
                <a:endParaRPr sz="2100"/>
              </a:p>
            </p:txBody>
          </p:sp>
          <p:sp>
            <p:nvSpPr>
              <p:cNvPr id="1736" name="Google Shape;1736;p99"/>
              <p:cNvSpPr txBox="1"/>
              <p:nvPr/>
            </p:nvSpPr>
            <p:spPr>
              <a:xfrm>
                <a:off x="8142564" y="1881950"/>
                <a:ext cx="968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latin typeface="Kalam"/>
                    <a:ea typeface="Kalam"/>
                    <a:cs typeface="Kalam"/>
                    <a:sym typeface="Kalam"/>
                  </a:rPr>
                  <a:t>12</a:t>
                </a:r>
                <a:r>
                  <a:rPr lang="en-GB" sz="2100">
                    <a:latin typeface="Kalam"/>
                    <a:ea typeface="Kalam"/>
                    <a:cs typeface="Kalam"/>
                    <a:sym typeface="Kalam"/>
                  </a:rPr>
                  <a:t>00</a:t>
                </a:r>
                <a:endParaRPr sz="2100"/>
              </a:p>
            </p:txBody>
          </p:sp>
          <p:sp>
            <p:nvSpPr>
              <p:cNvPr id="1737" name="Google Shape;1737;p99"/>
              <p:cNvSpPr txBox="1"/>
              <p:nvPr/>
            </p:nvSpPr>
            <p:spPr>
              <a:xfrm>
                <a:off x="8105986" y="2664876"/>
                <a:ext cx="1041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solidFill>
                      <a:srgbClr val="000000"/>
                    </a:solidFill>
                    <a:latin typeface="Kalam"/>
                    <a:ea typeface="Kalam"/>
                    <a:cs typeface="Kalam"/>
                    <a:sym typeface="Kalam"/>
                  </a:rPr>
                  <a:t>+ 1</a:t>
                </a:r>
                <a:r>
                  <a:rPr lang="en-GB" sz="2100">
                    <a:latin typeface="Kalam"/>
                    <a:ea typeface="Kalam"/>
                    <a:cs typeface="Kalam"/>
                    <a:sym typeface="Kalam"/>
                  </a:rPr>
                  <a:t>6</a:t>
                </a:r>
                <a:endParaRPr sz="2100"/>
              </a:p>
            </p:txBody>
          </p:sp>
          <p:cxnSp>
            <p:nvCxnSpPr>
              <p:cNvPr id="1738" name="Google Shape;1738;p99"/>
              <p:cNvCxnSpPr/>
              <p:nvPr/>
            </p:nvCxnSpPr>
            <p:spPr>
              <a:xfrm>
                <a:off x="8010894" y="3113248"/>
                <a:ext cx="733500" cy="0"/>
              </a:xfrm>
              <a:prstGeom prst="straightConnector1">
                <a:avLst/>
              </a:prstGeom>
              <a:noFill/>
              <a:ln cap="flat" cmpd="sng" w="19050">
                <a:solidFill>
                  <a:srgbClr val="808080"/>
                </a:solidFill>
                <a:prstDash val="solid"/>
                <a:round/>
                <a:headEnd len="med" w="med" type="none"/>
                <a:tailEnd len="med" w="med" type="none"/>
              </a:ln>
            </p:spPr>
          </p:cxnSp>
          <p:sp>
            <p:nvSpPr>
              <p:cNvPr id="1739" name="Google Shape;1739;p99"/>
              <p:cNvSpPr txBox="1"/>
              <p:nvPr/>
            </p:nvSpPr>
            <p:spPr>
              <a:xfrm>
                <a:off x="8333686" y="2412166"/>
                <a:ext cx="839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latin typeface="Kalam"/>
                    <a:ea typeface="Kalam"/>
                    <a:cs typeface="Kalam"/>
                    <a:sym typeface="Kalam"/>
                  </a:rPr>
                  <a:t>8</a:t>
                </a:r>
                <a:r>
                  <a:rPr lang="en-GB" sz="2100">
                    <a:latin typeface="Kalam"/>
                    <a:ea typeface="Kalam"/>
                    <a:cs typeface="Kalam"/>
                    <a:sym typeface="Kalam"/>
                  </a:rPr>
                  <a:t>0</a:t>
                </a:r>
                <a:endParaRPr sz="2100"/>
              </a:p>
            </p:txBody>
          </p:sp>
          <p:sp>
            <p:nvSpPr>
              <p:cNvPr id="1740" name="Google Shape;1740;p99"/>
              <p:cNvSpPr txBox="1"/>
              <p:nvPr/>
            </p:nvSpPr>
            <p:spPr>
              <a:xfrm>
                <a:off x="8181276" y="2157175"/>
                <a:ext cx="925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100">
                    <a:latin typeface="Kalam"/>
                    <a:ea typeface="Kalam"/>
                    <a:cs typeface="Kalam"/>
                    <a:sym typeface="Kalam"/>
                  </a:rPr>
                  <a:t>24</a:t>
                </a:r>
                <a:r>
                  <a:rPr lang="en-GB" sz="2100">
                    <a:solidFill>
                      <a:srgbClr val="000000"/>
                    </a:solidFill>
                    <a:latin typeface="Kalam"/>
                    <a:ea typeface="Kalam"/>
                    <a:cs typeface="Kalam"/>
                    <a:sym typeface="Kalam"/>
                  </a:rPr>
                  <a:t>0 </a:t>
                </a:r>
                <a:endParaRPr sz="2100"/>
              </a:p>
            </p:txBody>
          </p:sp>
        </p:grpSp>
      </p:grpSp>
      <p:graphicFrame>
        <p:nvGraphicFramePr>
          <p:cNvPr id="1741" name="Google Shape;1741;p99"/>
          <p:cNvGraphicFramePr/>
          <p:nvPr/>
        </p:nvGraphicFramePr>
        <p:xfrm>
          <a:off x="4911588" y="1917539"/>
          <a:ext cx="3000000" cy="3000000"/>
        </p:xfrm>
        <a:graphic>
          <a:graphicData uri="http://schemas.openxmlformats.org/drawingml/2006/table">
            <a:tbl>
              <a:tblPr>
                <a:noFill/>
                <a:tableStyleId>{5676FB72-93CE-4E66-9494-FAFA15B1102A}</a:tableStyleId>
              </a:tblPr>
              <a:tblGrid>
                <a:gridCol w="845375"/>
                <a:gridCol w="787425"/>
                <a:gridCol w="635200"/>
              </a:tblGrid>
              <a:tr h="301850">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20</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4</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r>
              <a:tr h="172975">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100</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r>
              <a:tr h="301850">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80</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r>
              <a:tr h="301850">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2</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r>
            </a:tbl>
          </a:graphicData>
        </a:graphic>
      </p:graphicFrame>
      <p:graphicFrame>
        <p:nvGraphicFramePr>
          <p:cNvPr id="1742" name="Google Shape;1742;p99"/>
          <p:cNvGraphicFramePr/>
          <p:nvPr/>
        </p:nvGraphicFramePr>
        <p:xfrm>
          <a:off x="4911588" y="1917539"/>
          <a:ext cx="3000000" cy="3000000"/>
        </p:xfrm>
        <a:graphic>
          <a:graphicData uri="http://schemas.openxmlformats.org/drawingml/2006/table">
            <a:tbl>
              <a:tblPr>
                <a:noFill/>
                <a:tableStyleId>{5676FB72-93CE-4E66-9494-FAFA15B1102A}</a:tableStyleId>
              </a:tblPr>
              <a:tblGrid>
                <a:gridCol w="845375"/>
                <a:gridCol w="787425"/>
                <a:gridCol w="635200"/>
              </a:tblGrid>
              <a:tr h="301850">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40</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8</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r>
              <a:tr h="172975">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100</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l">
                        <a:spcBef>
                          <a:spcPts val="0"/>
                        </a:spcBef>
                        <a:spcAft>
                          <a:spcPts val="0"/>
                        </a:spcAft>
                        <a:buNone/>
                      </a:pPr>
                      <a:r>
                        <a:rPr lang="en-GB" sz="1800">
                          <a:latin typeface="Kalam"/>
                          <a:ea typeface="Kalam"/>
                          <a:cs typeface="Kalam"/>
                          <a:sym typeface="Kalam"/>
                        </a:rPr>
                        <a:t>4</a:t>
                      </a:r>
                      <a:r>
                        <a:rPr lang="en-GB" sz="1800">
                          <a:latin typeface="Kalam"/>
                          <a:ea typeface="Kalam"/>
                          <a:cs typeface="Kalam"/>
                          <a:sym typeface="Kalam"/>
                        </a:rPr>
                        <a:t>000</a:t>
                      </a:r>
                      <a:endParaRPr sz="1800">
                        <a:latin typeface="Kalam"/>
                        <a:ea typeface="Kalam"/>
                        <a:cs typeface="Kalam"/>
                        <a:sym typeface="Kalam"/>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Kalam"/>
                          <a:ea typeface="Kalam"/>
                          <a:cs typeface="Kalam"/>
                          <a:sym typeface="Kalam"/>
                        </a:rPr>
                        <a:t>8</a:t>
                      </a:r>
                      <a:r>
                        <a:rPr lang="en-GB" sz="1800">
                          <a:latin typeface="Kalam"/>
                          <a:ea typeface="Kalam"/>
                          <a:cs typeface="Kalam"/>
                          <a:sym typeface="Kalam"/>
                        </a:rPr>
                        <a:t>00</a:t>
                      </a:r>
                      <a:endParaRPr sz="1800">
                        <a:latin typeface="Kalam"/>
                        <a:ea typeface="Kalam"/>
                        <a:cs typeface="Kalam"/>
                        <a:sym typeface="Kalam"/>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r>
              <a:tr h="301850">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3</a:t>
                      </a:r>
                      <a:r>
                        <a:rPr lang="en-GB" sz="1700">
                          <a:solidFill>
                            <a:srgbClr val="FFFFFF"/>
                          </a:solidFill>
                          <a:latin typeface="Lexend"/>
                          <a:ea typeface="Lexend"/>
                          <a:cs typeface="Lexend"/>
                          <a:sym typeface="Lexend"/>
                        </a:rPr>
                        <a:t>0</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l">
                        <a:spcBef>
                          <a:spcPts val="0"/>
                        </a:spcBef>
                        <a:spcAft>
                          <a:spcPts val="0"/>
                        </a:spcAft>
                        <a:buNone/>
                      </a:pPr>
                      <a:r>
                        <a:rPr lang="en-GB" sz="1800">
                          <a:latin typeface="Kalam"/>
                          <a:ea typeface="Kalam"/>
                          <a:cs typeface="Kalam"/>
                          <a:sym typeface="Kalam"/>
                        </a:rPr>
                        <a:t>12</a:t>
                      </a:r>
                      <a:r>
                        <a:rPr lang="en-GB" sz="1800">
                          <a:latin typeface="Kalam"/>
                          <a:ea typeface="Kalam"/>
                          <a:cs typeface="Kalam"/>
                          <a:sym typeface="Kalam"/>
                        </a:rPr>
                        <a:t>00</a:t>
                      </a:r>
                      <a:endParaRPr sz="1800">
                        <a:latin typeface="Kalam"/>
                        <a:ea typeface="Kalam"/>
                        <a:cs typeface="Kalam"/>
                        <a:sym typeface="Kalam"/>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Kalam"/>
                          <a:ea typeface="Kalam"/>
                          <a:cs typeface="Kalam"/>
                          <a:sym typeface="Kalam"/>
                        </a:rPr>
                        <a:t>24</a:t>
                      </a:r>
                      <a:r>
                        <a:rPr lang="en-GB" sz="1800">
                          <a:latin typeface="Kalam"/>
                          <a:ea typeface="Kalam"/>
                          <a:cs typeface="Kalam"/>
                          <a:sym typeface="Kalam"/>
                        </a:rPr>
                        <a:t>0</a:t>
                      </a:r>
                      <a:endParaRPr sz="1800">
                        <a:latin typeface="Kalam"/>
                        <a:ea typeface="Kalam"/>
                        <a:cs typeface="Kalam"/>
                        <a:sym typeface="Kalam"/>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r>
              <a:tr h="301850">
                <a:tc>
                  <a:txBody>
                    <a:bodyPr/>
                    <a:lstStyle/>
                    <a:p>
                      <a:pPr indent="0" lvl="0" marL="0" rtl="0" algn="ctr">
                        <a:spcBef>
                          <a:spcPts val="0"/>
                        </a:spcBef>
                        <a:spcAft>
                          <a:spcPts val="0"/>
                        </a:spcAft>
                        <a:buNone/>
                      </a:pPr>
                      <a:r>
                        <a:rPr lang="en-GB" sz="1700">
                          <a:solidFill>
                            <a:srgbClr val="FFFFFF"/>
                          </a:solidFill>
                          <a:latin typeface="Lexend"/>
                          <a:ea typeface="Lexend"/>
                          <a:cs typeface="Lexend"/>
                          <a:sym typeface="Lexend"/>
                        </a:rPr>
                        <a:t>2</a:t>
                      </a:r>
                      <a:endParaRPr sz="1700">
                        <a:solidFill>
                          <a:srgbClr val="FFFFFF"/>
                        </a:solidFill>
                        <a:latin typeface="Lexend"/>
                        <a:ea typeface="Lexend"/>
                        <a:cs typeface="Lexend"/>
                        <a:sym typeface="Lexend"/>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037B7D"/>
                    </a:solidFill>
                  </a:tcPr>
                </a:tc>
                <a:tc>
                  <a:txBody>
                    <a:bodyPr/>
                    <a:lstStyle/>
                    <a:p>
                      <a:pPr indent="0" lvl="0" marL="0" rtl="0" algn="l">
                        <a:spcBef>
                          <a:spcPts val="0"/>
                        </a:spcBef>
                        <a:spcAft>
                          <a:spcPts val="0"/>
                        </a:spcAft>
                        <a:buNone/>
                      </a:pPr>
                      <a:r>
                        <a:rPr lang="en-GB" sz="1800">
                          <a:latin typeface="Kalam"/>
                          <a:ea typeface="Kalam"/>
                          <a:cs typeface="Kalam"/>
                          <a:sym typeface="Kalam"/>
                        </a:rPr>
                        <a:t>80</a:t>
                      </a:r>
                      <a:endParaRPr sz="1800">
                        <a:latin typeface="Kalam"/>
                        <a:ea typeface="Kalam"/>
                        <a:cs typeface="Kalam"/>
                        <a:sym typeface="Kalam"/>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Kalam"/>
                          <a:ea typeface="Kalam"/>
                          <a:cs typeface="Kalam"/>
                          <a:sym typeface="Kalam"/>
                        </a:rPr>
                        <a:t>16</a:t>
                      </a:r>
                      <a:endParaRPr sz="1800">
                        <a:latin typeface="Kalam"/>
                        <a:ea typeface="Kalam"/>
                        <a:cs typeface="Kalam"/>
                        <a:sym typeface="Kalam"/>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FFF"/>
                    </a:solidFill>
                  </a:tcPr>
                </a:tc>
              </a:tr>
            </a:tbl>
          </a:graphicData>
        </a:graphic>
      </p:graphicFrame>
      <p:sp>
        <p:nvSpPr>
          <p:cNvPr id="1743" name="Google Shape;1743;p99"/>
          <p:cNvSpPr txBox="1"/>
          <p:nvPr/>
        </p:nvSpPr>
        <p:spPr>
          <a:xfrm>
            <a:off x="1434903" y="3118695"/>
            <a:ext cx="3869400" cy="104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 6336 × 0.01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 63.36</a:t>
            </a:r>
            <a:endParaRPr sz="2200">
              <a:solidFill>
                <a:schemeClr val="dk1"/>
              </a:solidFill>
              <a:latin typeface="Lexend"/>
              <a:ea typeface="Lexend"/>
              <a:cs typeface="Lexend"/>
              <a:sym typeface="Lexend"/>
            </a:endParaRPr>
          </a:p>
        </p:txBody>
      </p:sp>
      <p:sp>
        <p:nvSpPr>
          <p:cNvPr id="1744" name="Google Shape;1744;p99"/>
          <p:cNvSpPr txBox="1"/>
          <p:nvPr/>
        </p:nvSpPr>
        <p:spPr>
          <a:xfrm>
            <a:off x="324000" y="4159700"/>
            <a:ext cx="41430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In</a:t>
            </a:r>
            <a:r>
              <a:rPr lang="en-GB" sz="2200">
                <a:solidFill>
                  <a:schemeClr val="dk1"/>
                </a:solidFill>
                <a:latin typeface="Lexend"/>
                <a:ea typeface="Lexend"/>
                <a:cs typeface="Lexend"/>
                <a:sym typeface="Lexend"/>
              </a:rPr>
              <a:t>creasing 48 by 32% is 63.36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sp>
        <p:nvSpPr>
          <p:cNvPr id="1749" name="Google Shape;1749;p100"/>
          <p:cNvSpPr txBox="1"/>
          <p:nvPr>
            <p:ph idx="1" type="body"/>
          </p:nvPr>
        </p:nvSpPr>
        <p:spPr>
          <a:xfrm>
            <a:off x="324000" y="759300"/>
            <a:ext cx="8237700" cy="5121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Match the calculation with the question:</a:t>
            </a:r>
            <a:endParaRPr/>
          </a:p>
        </p:txBody>
      </p:sp>
      <p:sp>
        <p:nvSpPr>
          <p:cNvPr id="1750" name="Google Shape;1750;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751" name="Google Shape;1751;p100"/>
          <p:cNvSpPr/>
          <p:nvPr/>
        </p:nvSpPr>
        <p:spPr>
          <a:xfrm>
            <a:off x="685800" y="12079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Increase 40 by 65%</a:t>
            </a:r>
            <a:endParaRPr sz="2100">
              <a:latin typeface="Lexend"/>
              <a:ea typeface="Lexend"/>
              <a:cs typeface="Lexend"/>
              <a:sym typeface="Lexend"/>
            </a:endParaRPr>
          </a:p>
        </p:txBody>
      </p:sp>
      <p:sp>
        <p:nvSpPr>
          <p:cNvPr id="1752" name="Google Shape;1752;p100"/>
          <p:cNvSpPr/>
          <p:nvPr/>
        </p:nvSpPr>
        <p:spPr>
          <a:xfrm>
            <a:off x="685800" y="191145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Work out 125% of 40</a:t>
            </a:r>
            <a:endParaRPr sz="2100">
              <a:latin typeface="Lexend"/>
              <a:ea typeface="Lexend"/>
              <a:cs typeface="Lexend"/>
              <a:sym typeface="Lexend"/>
            </a:endParaRPr>
          </a:p>
        </p:txBody>
      </p:sp>
      <p:sp>
        <p:nvSpPr>
          <p:cNvPr id="1753" name="Google Shape;1753;p100"/>
          <p:cNvSpPr/>
          <p:nvPr/>
        </p:nvSpPr>
        <p:spPr>
          <a:xfrm>
            <a:off x="685800" y="331855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Work out 156% of 56</a:t>
            </a:r>
            <a:endParaRPr sz="2100">
              <a:latin typeface="Lexend"/>
              <a:ea typeface="Lexend"/>
              <a:cs typeface="Lexend"/>
              <a:sym typeface="Lexend"/>
            </a:endParaRPr>
          </a:p>
        </p:txBody>
      </p:sp>
      <p:sp>
        <p:nvSpPr>
          <p:cNvPr id="1754" name="Google Shape;1754;p100"/>
          <p:cNvSpPr/>
          <p:nvPr/>
        </p:nvSpPr>
        <p:spPr>
          <a:xfrm>
            <a:off x="685800" y="26150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Increase 65 by 56%</a:t>
            </a:r>
            <a:endParaRPr sz="2100">
              <a:latin typeface="Lexend"/>
              <a:ea typeface="Lexend"/>
              <a:cs typeface="Lexend"/>
              <a:sym typeface="Lexend"/>
            </a:endParaRPr>
          </a:p>
        </p:txBody>
      </p:sp>
      <p:sp>
        <p:nvSpPr>
          <p:cNvPr id="1755" name="Google Shape;1755;p100"/>
          <p:cNvSpPr/>
          <p:nvPr/>
        </p:nvSpPr>
        <p:spPr>
          <a:xfrm>
            <a:off x="685800" y="40221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Increase 65 by 65%</a:t>
            </a:r>
            <a:endParaRPr sz="2100">
              <a:latin typeface="Lexend"/>
              <a:ea typeface="Lexend"/>
              <a:cs typeface="Lexend"/>
              <a:sym typeface="Lexend"/>
            </a:endParaRPr>
          </a:p>
        </p:txBody>
      </p:sp>
      <p:sp>
        <p:nvSpPr>
          <p:cNvPr id="1756" name="Google Shape;1756;p100"/>
          <p:cNvSpPr/>
          <p:nvPr/>
        </p:nvSpPr>
        <p:spPr>
          <a:xfrm>
            <a:off x="4700400" y="12079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65 × 1.65</a:t>
            </a:r>
            <a:endParaRPr sz="2100">
              <a:latin typeface="Lexend"/>
              <a:ea typeface="Lexend"/>
              <a:cs typeface="Lexend"/>
              <a:sym typeface="Lexend"/>
            </a:endParaRPr>
          </a:p>
        </p:txBody>
      </p:sp>
      <p:sp>
        <p:nvSpPr>
          <p:cNvPr id="1757" name="Google Shape;1757;p100"/>
          <p:cNvSpPr/>
          <p:nvPr/>
        </p:nvSpPr>
        <p:spPr>
          <a:xfrm>
            <a:off x="4700400" y="191145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100">
                <a:solidFill>
                  <a:schemeClr val="dk1"/>
                </a:solidFill>
                <a:latin typeface="Lexend"/>
                <a:ea typeface="Lexend"/>
                <a:cs typeface="Lexend"/>
                <a:sym typeface="Lexend"/>
              </a:rPr>
              <a:t>40 </a:t>
            </a:r>
            <a:r>
              <a:rPr lang="en-GB" sz="2100">
                <a:solidFill>
                  <a:schemeClr val="dk1"/>
                </a:solidFill>
                <a:latin typeface="Lexend"/>
                <a:ea typeface="Lexend"/>
                <a:cs typeface="Lexend"/>
                <a:sym typeface="Lexend"/>
              </a:rPr>
              <a:t>× 1.65</a:t>
            </a:r>
            <a:endParaRPr sz="2100">
              <a:latin typeface="Lexend"/>
              <a:ea typeface="Lexend"/>
              <a:cs typeface="Lexend"/>
              <a:sym typeface="Lexend"/>
            </a:endParaRPr>
          </a:p>
        </p:txBody>
      </p:sp>
      <p:sp>
        <p:nvSpPr>
          <p:cNvPr id="1758" name="Google Shape;1758;p100"/>
          <p:cNvSpPr/>
          <p:nvPr/>
        </p:nvSpPr>
        <p:spPr>
          <a:xfrm>
            <a:off x="4700400" y="331855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100">
                <a:solidFill>
                  <a:schemeClr val="dk1"/>
                </a:solidFill>
                <a:latin typeface="Lexend"/>
                <a:ea typeface="Lexend"/>
                <a:cs typeface="Lexend"/>
                <a:sym typeface="Lexend"/>
              </a:rPr>
              <a:t>65 × 1.56</a:t>
            </a:r>
            <a:endParaRPr sz="2100">
              <a:latin typeface="Lexend"/>
              <a:ea typeface="Lexend"/>
              <a:cs typeface="Lexend"/>
              <a:sym typeface="Lexend"/>
            </a:endParaRPr>
          </a:p>
        </p:txBody>
      </p:sp>
      <p:sp>
        <p:nvSpPr>
          <p:cNvPr id="1759" name="Google Shape;1759;p100"/>
          <p:cNvSpPr/>
          <p:nvPr/>
        </p:nvSpPr>
        <p:spPr>
          <a:xfrm>
            <a:off x="4700400" y="26150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100">
                <a:solidFill>
                  <a:schemeClr val="dk1"/>
                </a:solidFill>
                <a:latin typeface="Lexend"/>
                <a:ea typeface="Lexend"/>
                <a:cs typeface="Lexend"/>
                <a:sym typeface="Lexend"/>
              </a:rPr>
              <a:t>40</a:t>
            </a:r>
            <a:r>
              <a:rPr lang="en-GB" sz="2100">
                <a:solidFill>
                  <a:schemeClr val="dk1"/>
                </a:solidFill>
                <a:latin typeface="Lexend"/>
                <a:ea typeface="Lexend"/>
                <a:cs typeface="Lexend"/>
                <a:sym typeface="Lexend"/>
              </a:rPr>
              <a:t> × 1.25</a:t>
            </a:r>
            <a:endParaRPr sz="2100">
              <a:latin typeface="Lexend"/>
              <a:ea typeface="Lexend"/>
              <a:cs typeface="Lexend"/>
              <a:sym typeface="Lexend"/>
            </a:endParaRPr>
          </a:p>
        </p:txBody>
      </p:sp>
      <p:sp>
        <p:nvSpPr>
          <p:cNvPr id="1760" name="Google Shape;1760;p100"/>
          <p:cNvSpPr/>
          <p:nvPr/>
        </p:nvSpPr>
        <p:spPr>
          <a:xfrm>
            <a:off x="4700400" y="40221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100">
                <a:solidFill>
                  <a:schemeClr val="dk1"/>
                </a:solidFill>
                <a:latin typeface="Lexend"/>
                <a:ea typeface="Lexend"/>
                <a:cs typeface="Lexend"/>
                <a:sym typeface="Lexend"/>
              </a:rPr>
              <a:t>56 </a:t>
            </a:r>
            <a:r>
              <a:rPr lang="en-GB" sz="2100">
                <a:solidFill>
                  <a:schemeClr val="dk1"/>
                </a:solidFill>
                <a:latin typeface="Lexend"/>
                <a:ea typeface="Lexend"/>
                <a:cs typeface="Lexend"/>
                <a:sym typeface="Lexend"/>
              </a:rPr>
              <a:t>× 1.56</a:t>
            </a:r>
            <a:endParaRPr sz="2100">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4" name="Shape 1764"/>
        <p:cNvGrpSpPr/>
        <p:nvPr/>
      </p:nvGrpSpPr>
      <p:grpSpPr>
        <a:xfrm>
          <a:off x="0" y="0"/>
          <a:ext cx="0" cy="0"/>
          <a:chOff x="0" y="0"/>
          <a:chExt cx="0" cy="0"/>
        </a:xfrm>
      </p:grpSpPr>
      <p:sp>
        <p:nvSpPr>
          <p:cNvPr id="1765" name="Google Shape;1765;p101"/>
          <p:cNvSpPr txBox="1"/>
          <p:nvPr>
            <p:ph idx="1" type="body"/>
          </p:nvPr>
        </p:nvSpPr>
        <p:spPr>
          <a:xfrm>
            <a:off x="324000" y="759300"/>
            <a:ext cx="8237700" cy="369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Work out the amount of money when £640 has been increased by 41%</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3) Work out 138% of 700</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4) Aisha tries to increase £40 by 5% by working out  40 × 1.5</a:t>
            </a:r>
            <a:endParaRPr/>
          </a:p>
          <a:p>
            <a:pPr indent="0" lvl="0" marL="0" rtl="0" algn="l">
              <a:spcBef>
                <a:spcPts val="1000"/>
              </a:spcBef>
              <a:spcAft>
                <a:spcPts val="1000"/>
              </a:spcAft>
              <a:buNone/>
            </a:pPr>
            <a:r>
              <a:rPr lang="en-GB"/>
              <a:t>Explain</a:t>
            </a:r>
            <a:r>
              <a:rPr lang="en-GB"/>
              <a:t> why she is incorrect and </a:t>
            </a:r>
            <a:r>
              <a:rPr lang="en-GB"/>
              <a:t>correctly</a:t>
            </a:r>
            <a:r>
              <a:rPr lang="en-GB"/>
              <a:t> work out the answer.</a:t>
            </a:r>
            <a:endParaRPr/>
          </a:p>
        </p:txBody>
      </p:sp>
      <p:sp>
        <p:nvSpPr>
          <p:cNvPr id="1766" name="Google Shape;1766;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multiplier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10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Match the calculation with the question:</a:t>
            </a:r>
            <a:endParaRPr/>
          </a:p>
        </p:txBody>
      </p:sp>
      <p:sp>
        <p:nvSpPr>
          <p:cNvPr id="1772" name="Google Shape;1772;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773" name="Google Shape;1773;p102"/>
          <p:cNvSpPr/>
          <p:nvPr/>
        </p:nvSpPr>
        <p:spPr>
          <a:xfrm>
            <a:off x="685800" y="12079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Increase 40 by 65%</a:t>
            </a:r>
            <a:endParaRPr sz="2100">
              <a:latin typeface="Lexend"/>
              <a:ea typeface="Lexend"/>
              <a:cs typeface="Lexend"/>
              <a:sym typeface="Lexend"/>
            </a:endParaRPr>
          </a:p>
        </p:txBody>
      </p:sp>
      <p:sp>
        <p:nvSpPr>
          <p:cNvPr id="1774" name="Google Shape;1774;p102"/>
          <p:cNvSpPr/>
          <p:nvPr/>
        </p:nvSpPr>
        <p:spPr>
          <a:xfrm>
            <a:off x="685800" y="191145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Work out 125% of 40</a:t>
            </a:r>
            <a:endParaRPr sz="2100">
              <a:latin typeface="Lexend"/>
              <a:ea typeface="Lexend"/>
              <a:cs typeface="Lexend"/>
              <a:sym typeface="Lexend"/>
            </a:endParaRPr>
          </a:p>
        </p:txBody>
      </p:sp>
      <p:sp>
        <p:nvSpPr>
          <p:cNvPr id="1775" name="Google Shape;1775;p102"/>
          <p:cNvSpPr/>
          <p:nvPr/>
        </p:nvSpPr>
        <p:spPr>
          <a:xfrm>
            <a:off x="685800" y="331855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Work out 156% of 56</a:t>
            </a:r>
            <a:endParaRPr sz="2100">
              <a:latin typeface="Lexend"/>
              <a:ea typeface="Lexend"/>
              <a:cs typeface="Lexend"/>
              <a:sym typeface="Lexend"/>
            </a:endParaRPr>
          </a:p>
        </p:txBody>
      </p:sp>
      <p:sp>
        <p:nvSpPr>
          <p:cNvPr id="1776" name="Google Shape;1776;p102"/>
          <p:cNvSpPr/>
          <p:nvPr/>
        </p:nvSpPr>
        <p:spPr>
          <a:xfrm>
            <a:off x="685800" y="26150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Increase 65 by 56%</a:t>
            </a:r>
            <a:endParaRPr sz="2100">
              <a:latin typeface="Lexend"/>
              <a:ea typeface="Lexend"/>
              <a:cs typeface="Lexend"/>
              <a:sym typeface="Lexend"/>
            </a:endParaRPr>
          </a:p>
        </p:txBody>
      </p:sp>
      <p:sp>
        <p:nvSpPr>
          <p:cNvPr id="1777" name="Google Shape;1777;p102"/>
          <p:cNvSpPr/>
          <p:nvPr/>
        </p:nvSpPr>
        <p:spPr>
          <a:xfrm>
            <a:off x="685800" y="40221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Increase 65 by 65%</a:t>
            </a:r>
            <a:endParaRPr sz="2100">
              <a:latin typeface="Lexend"/>
              <a:ea typeface="Lexend"/>
              <a:cs typeface="Lexend"/>
              <a:sym typeface="Lexend"/>
            </a:endParaRPr>
          </a:p>
        </p:txBody>
      </p:sp>
      <p:sp>
        <p:nvSpPr>
          <p:cNvPr id="1778" name="Google Shape;1778;p102"/>
          <p:cNvSpPr/>
          <p:nvPr/>
        </p:nvSpPr>
        <p:spPr>
          <a:xfrm>
            <a:off x="4700400" y="12079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65 × 1.65</a:t>
            </a:r>
            <a:endParaRPr sz="2100">
              <a:latin typeface="Lexend"/>
              <a:ea typeface="Lexend"/>
              <a:cs typeface="Lexend"/>
              <a:sym typeface="Lexend"/>
            </a:endParaRPr>
          </a:p>
        </p:txBody>
      </p:sp>
      <p:sp>
        <p:nvSpPr>
          <p:cNvPr id="1779" name="Google Shape;1779;p102"/>
          <p:cNvSpPr/>
          <p:nvPr/>
        </p:nvSpPr>
        <p:spPr>
          <a:xfrm>
            <a:off x="4700400" y="191145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40 × 1.65</a:t>
            </a:r>
            <a:endParaRPr sz="2100">
              <a:latin typeface="Lexend"/>
              <a:ea typeface="Lexend"/>
              <a:cs typeface="Lexend"/>
              <a:sym typeface="Lexend"/>
            </a:endParaRPr>
          </a:p>
        </p:txBody>
      </p:sp>
      <p:sp>
        <p:nvSpPr>
          <p:cNvPr id="1780" name="Google Shape;1780;p102"/>
          <p:cNvSpPr/>
          <p:nvPr/>
        </p:nvSpPr>
        <p:spPr>
          <a:xfrm>
            <a:off x="4700400" y="331855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65 × 1.56</a:t>
            </a:r>
            <a:endParaRPr sz="2100">
              <a:latin typeface="Lexend"/>
              <a:ea typeface="Lexend"/>
              <a:cs typeface="Lexend"/>
              <a:sym typeface="Lexend"/>
            </a:endParaRPr>
          </a:p>
        </p:txBody>
      </p:sp>
      <p:sp>
        <p:nvSpPr>
          <p:cNvPr id="1781" name="Google Shape;1781;p102"/>
          <p:cNvSpPr/>
          <p:nvPr/>
        </p:nvSpPr>
        <p:spPr>
          <a:xfrm>
            <a:off x="4700400" y="26150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40 × 1.25</a:t>
            </a:r>
            <a:endParaRPr sz="2100">
              <a:latin typeface="Lexend"/>
              <a:ea typeface="Lexend"/>
              <a:cs typeface="Lexend"/>
              <a:sym typeface="Lexend"/>
            </a:endParaRPr>
          </a:p>
        </p:txBody>
      </p:sp>
      <p:sp>
        <p:nvSpPr>
          <p:cNvPr id="1782" name="Google Shape;1782;p102"/>
          <p:cNvSpPr/>
          <p:nvPr/>
        </p:nvSpPr>
        <p:spPr>
          <a:xfrm>
            <a:off x="4700400" y="4022100"/>
            <a:ext cx="3634200" cy="6603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56 × 1.56</a:t>
            </a:r>
            <a:endParaRPr sz="2100">
              <a:latin typeface="Lexend"/>
              <a:ea typeface="Lexend"/>
              <a:cs typeface="Lexend"/>
              <a:sym typeface="Lexend"/>
            </a:endParaRPr>
          </a:p>
        </p:txBody>
      </p:sp>
      <p:cxnSp>
        <p:nvCxnSpPr>
          <p:cNvPr id="1783" name="Google Shape;1783;p102"/>
          <p:cNvCxnSpPr>
            <a:stCxn id="1773" idx="3"/>
            <a:endCxn id="1779" idx="1"/>
          </p:cNvCxnSpPr>
          <p:nvPr/>
        </p:nvCxnSpPr>
        <p:spPr>
          <a:xfrm>
            <a:off x="4320000" y="1538050"/>
            <a:ext cx="380400" cy="703500"/>
          </a:xfrm>
          <a:prstGeom prst="straightConnector1">
            <a:avLst/>
          </a:prstGeom>
          <a:noFill/>
          <a:ln cap="flat" cmpd="sng" w="28575">
            <a:solidFill>
              <a:schemeClr val="dk2"/>
            </a:solidFill>
            <a:prstDash val="solid"/>
            <a:round/>
            <a:headEnd len="med" w="med" type="none"/>
            <a:tailEnd len="med" w="med" type="none"/>
          </a:ln>
        </p:spPr>
      </p:cxnSp>
      <p:cxnSp>
        <p:nvCxnSpPr>
          <p:cNvPr id="1784" name="Google Shape;1784;p102"/>
          <p:cNvCxnSpPr/>
          <p:nvPr/>
        </p:nvCxnSpPr>
        <p:spPr>
          <a:xfrm>
            <a:off x="4320000" y="2295000"/>
            <a:ext cx="380400" cy="703500"/>
          </a:xfrm>
          <a:prstGeom prst="straightConnector1">
            <a:avLst/>
          </a:prstGeom>
          <a:noFill/>
          <a:ln cap="flat" cmpd="sng" w="28575">
            <a:solidFill>
              <a:schemeClr val="dk2"/>
            </a:solidFill>
            <a:prstDash val="solid"/>
            <a:round/>
            <a:headEnd len="med" w="med" type="none"/>
            <a:tailEnd len="med" w="med" type="none"/>
          </a:ln>
        </p:spPr>
      </p:cxnSp>
      <p:cxnSp>
        <p:nvCxnSpPr>
          <p:cNvPr id="1785" name="Google Shape;1785;p102"/>
          <p:cNvCxnSpPr/>
          <p:nvPr/>
        </p:nvCxnSpPr>
        <p:spPr>
          <a:xfrm>
            <a:off x="4320000" y="2945175"/>
            <a:ext cx="380400" cy="703500"/>
          </a:xfrm>
          <a:prstGeom prst="straightConnector1">
            <a:avLst/>
          </a:prstGeom>
          <a:noFill/>
          <a:ln cap="flat" cmpd="sng" w="28575">
            <a:solidFill>
              <a:schemeClr val="dk2"/>
            </a:solidFill>
            <a:prstDash val="solid"/>
            <a:round/>
            <a:headEnd len="med" w="med" type="none"/>
            <a:tailEnd len="med" w="med" type="none"/>
          </a:ln>
        </p:spPr>
      </p:cxnSp>
      <p:cxnSp>
        <p:nvCxnSpPr>
          <p:cNvPr id="1786" name="Google Shape;1786;p102"/>
          <p:cNvCxnSpPr/>
          <p:nvPr/>
        </p:nvCxnSpPr>
        <p:spPr>
          <a:xfrm>
            <a:off x="4320000" y="3616500"/>
            <a:ext cx="380400" cy="703500"/>
          </a:xfrm>
          <a:prstGeom prst="straightConnector1">
            <a:avLst/>
          </a:prstGeom>
          <a:noFill/>
          <a:ln cap="flat" cmpd="sng" w="28575">
            <a:solidFill>
              <a:schemeClr val="dk2"/>
            </a:solidFill>
            <a:prstDash val="solid"/>
            <a:round/>
            <a:headEnd len="med" w="med" type="none"/>
            <a:tailEnd len="med" w="med" type="none"/>
          </a:ln>
        </p:spPr>
      </p:cxnSp>
      <p:cxnSp>
        <p:nvCxnSpPr>
          <p:cNvPr id="1787" name="Google Shape;1787;p102"/>
          <p:cNvCxnSpPr>
            <a:stCxn id="1778" idx="1"/>
          </p:cNvCxnSpPr>
          <p:nvPr/>
        </p:nvCxnSpPr>
        <p:spPr>
          <a:xfrm flipH="1">
            <a:off x="4320000" y="1538050"/>
            <a:ext cx="380400" cy="2874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1" name="Shape 1791"/>
        <p:cNvGrpSpPr/>
        <p:nvPr/>
      </p:nvGrpSpPr>
      <p:grpSpPr>
        <a:xfrm>
          <a:off x="0" y="0"/>
          <a:ext cx="0" cy="0"/>
          <a:chOff x="0" y="0"/>
          <a:chExt cx="0" cy="0"/>
        </a:xfrm>
      </p:grpSpPr>
      <p:sp>
        <p:nvSpPr>
          <p:cNvPr id="1792" name="Google Shape;1792;p10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a:t>
            </a:r>
            <a:r>
              <a:rPr lang="en-GB"/>
              <a:t>Work out the amount of money when £640 has been increased by 41%</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3) Work out 138% of 700</a:t>
            </a:r>
            <a:endParaRPr/>
          </a:p>
          <a:p>
            <a:pPr indent="0" lvl="0" marL="0" rtl="0" algn="l">
              <a:spcBef>
                <a:spcPts val="1000"/>
              </a:spcBef>
              <a:spcAft>
                <a:spcPts val="0"/>
              </a:spcAft>
              <a:buNone/>
            </a:pPr>
            <a:r>
              <a:t/>
            </a:r>
            <a:endParaRPr sz="1100"/>
          </a:p>
          <a:p>
            <a:pPr indent="0" lvl="0" marL="0" rtl="0" algn="l">
              <a:spcBef>
                <a:spcPts val="1000"/>
              </a:spcBef>
              <a:spcAft>
                <a:spcPts val="0"/>
              </a:spcAft>
              <a:buNone/>
            </a:pPr>
            <a:r>
              <a:rPr lang="en-GB"/>
              <a:t>4) Aisha tries to increase £40 by 5% by working out  40 × 1.5</a:t>
            </a:r>
            <a:endParaRPr/>
          </a:p>
          <a:p>
            <a:pPr indent="0" lvl="0" marL="0" rtl="0" algn="l">
              <a:spcBef>
                <a:spcPts val="1000"/>
              </a:spcBef>
              <a:spcAft>
                <a:spcPts val="1000"/>
              </a:spcAft>
              <a:buNone/>
            </a:pPr>
            <a:r>
              <a:rPr lang="en-GB"/>
              <a:t>Explain why she is incorrect and correctly work out the answer.</a:t>
            </a:r>
            <a:endParaRPr/>
          </a:p>
        </p:txBody>
      </p:sp>
      <p:sp>
        <p:nvSpPr>
          <p:cNvPr id="1793" name="Google Shape;1793;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794" name="Google Shape;1794;p103"/>
          <p:cNvSpPr txBox="1"/>
          <p:nvPr/>
        </p:nvSpPr>
        <p:spPr>
          <a:xfrm>
            <a:off x="324000" y="1564625"/>
            <a:ext cx="2540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000">
                <a:solidFill>
                  <a:schemeClr val="dk1"/>
                </a:solidFill>
                <a:latin typeface="Kalam"/>
                <a:ea typeface="Kalam"/>
                <a:cs typeface="Kalam"/>
                <a:sym typeface="Kalam"/>
              </a:rPr>
              <a:t>640 × 1.41 = 902.4</a:t>
            </a:r>
            <a:endParaRPr sz="2000">
              <a:solidFill>
                <a:schemeClr val="dk1"/>
              </a:solidFill>
              <a:latin typeface="Kalam"/>
              <a:ea typeface="Kalam"/>
              <a:cs typeface="Kalam"/>
              <a:sym typeface="Kalam"/>
            </a:endParaRPr>
          </a:p>
        </p:txBody>
      </p:sp>
      <p:sp>
        <p:nvSpPr>
          <p:cNvPr id="1795" name="Google Shape;1795;p103"/>
          <p:cNvSpPr txBox="1"/>
          <p:nvPr/>
        </p:nvSpPr>
        <p:spPr>
          <a:xfrm>
            <a:off x="3463150" y="2461500"/>
            <a:ext cx="2540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000">
                <a:solidFill>
                  <a:schemeClr val="dk1"/>
                </a:solidFill>
                <a:latin typeface="Kalam"/>
                <a:ea typeface="Kalam"/>
                <a:cs typeface="Kalam"/>
                <a:sym typeface="Kalam"/>
              </a:rPr>
              <a:t>700 × 1.38 = 966</a:t>
            </a:r>
            <a:endParaRPr sz="2000">
              <a:solidFill>
                <a:schemeClr val="dk1"/>
              </a:solidFill>
              <a:latin typeface="Kalam"/>
              <a:ea typeface="Kalam"/>
              <a:cs typeface="Kalam"/>
              <a:sym typeface="Kalam"/>
            </a:endParaRPr>
          </a:p>
        </p:txBody>
      </p:sp>
      <p:sp>
        <p:nvSpPr>
          <p:cNvPr id="1796" name="Google Shape;1796;p103"/>
          <p:cNvSpPr txBox="1"/>
          <p:nvPr/>
        </p:nvSpPr>
        <p:spPr>
          <a:xfrm>
            <a:off x="1410675" y="3812050"/>
            <a:ext cx="69855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000">
                <a:solidFill>
                  <a:schemeClr val="dk1"/>
                </a:solidFill>
                <a:latin typeface="Kalam"/>
                <a:ea typeface="Kalam"/>
                <a:cs typeface="Kalam"/>
                <a:sym typeface="Kalam"/>
              </a:rPr>
              <a:t>Aisha worked out an increase of 50% not 5% of 40 </a:t>
            </a:r>
            <a:endParaRPr sz="2000">
              <a:solidFill>
                <a:schemeClr val="dk1"/>
              </a:solidFill>
              <a:latin typeface="Kalam"/>
              <a:ea typeface="Kalam"/>
              <a:cs typeface="Kalam"/>
              <a:sym typeface="Kalam"/>
            </a:endParaRPr>
          </a:p>
        </p:txBody>
      </p:sp>
      <p:sp>
        <p:nvSpPr>
          <p:cNvPr id="1797" name="Google Shape;1797;p103"/>
          <p:cNvSpPr txBox="1"/>
          <p:nvPr/>
        </p:nvSpPr>
        <p:spPr>
          <a:xfrm>
            <a:off x="1410675" y="4116850"/>
            <a:ext cx="4528200" cy="800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GB" sz="2000">
                <a:solidFill>
                  <a:schemeClr val="dk1"/>
                </a:solidFill>
                <a:latin typeface="Kalam"/>
                <a:ea typeface="Kalam"/>
                <a:cs typeface="Kalam"/>
                <a:sym typeface="Kalam"/>
              </a:rPr>
              <a:t>Increasing 40 by 5% is 40 × 1.05 = 42 so her answer should be £42</a:t>
            </a:r>
            <a:endParaRPr sz="2000">
              <a:solidFill>
                <a:schemeClr val="dk1"/>
              </a:solidFill>
              <a:latin typeface="Kalam"/>
              <a:ea typeface="Kalam"/>
              <a:cs typeface="Kalam"/>
              <a:sym typeface="Kalam"/>
            </a:endParaRPr>
          </a:p>
        </p:txBody>
      </p:sp>
      <p:sp>
        <p:nvSpPr>
          <p:cNvPr id="1798" name="Google Shape;1798;p103"/>
          <p:cNvSpPr txBox="1"/>
          <p:nvPr/>
        </p:nvSpPr>
        <p:spPr>
          <a:xfrm>
            <a:off x="2887200" y="1564625"/>
            <a:ext cx="5414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000">
                <a:solidFill>
                  <a:schemeClr val="dk1"/>
                </a:solidFill>
                <a:latin typeface="Kalam"/>
                <a:ea typeface="Kalam"/>
                <a:cs typeface="Kalam"/>
                <a:sym typeface="Kalam"/>
              </a:rPr>
              <a:t>£</a:t>
            </a:r>
            <a:r>
              <a:rPr lang="en-GB" sz="2000">
                <a:solidFill>
                  <a:schemeClr val="dk1"/>
                </a:solidFill>
                <a:latin typeface="Kalam"/>
                <a:ea typeface="Kalam"/>
                <a:cs typeface="Kalam"/>
                <a:sym typeface="Kalam"/>
              </a:rPr>
              <a:t>640 increased by 41% is £902.40</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2" name="Shape 1802"/>
        <p:cNvGrpSpPr/>
        <p:nvPr/>
      </p:nvGrpSpPr>
      <p:grpSpPr>
        <a:xfrm>
          <a:off x="0" y="0"/>
          <a:ext cx="0" cy="0"/>
          <a:chOff x="0" y="0"/>
          <a:chExt cx="0" cy="0"/>
        </a:xfrm>
      </p:grpSpPr>
      <p:sp>
        <p:nvSpPr>
          <p:cNvPr id="1803" name="Google Shape;1803;p104"/>
          <p:cNvSpPr txBox="1"/>
          <p:nvPr>
            <p:ph idx="1" type="body"/>
          </p:nvPr>
        </p:nvSpPr>
        <p:spPr>
          <a:xfrm>
            <a:off x="324000" y="829800"/>
            <a:ext cx="84552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the context of the question tells us if we can increase anything beyond 100%.</a:t>
            </a:r>
            <a:endParaRPr/>
          </a:p>
          <a:p>
            <a:pPr indent="0" lvl="0" marL="0" rtl="0" algn="l">
              <a:spcBef>
                <a:spcPts val="1000"/>
              </a:spcBef>
              <a:spcAft>
                <a:spcPts val="0"/>
              </a:spcAft>
              <a:buNone/>
            </a:pPr>
            <a:r>
              <a:rPr lang="en-GB"/>
              <a:t>If an increase is possible, double number lines and bar models are helpful visual </a:t>
            </a:r>
            <a:r>
              <a:rPr lang="en-GB"/>
              <a:t>approaches</a:t>
            </a:r>
            <a:r>
              <a:rPr lang="en-GB"/>
              <a:t> to work out the increase.</a:t>
            </a:r>
            <a:endParaRPr/>
          </a:p>
          <a:p>
            <a:pPr indent="0" lvl="0" marL="0" rtl="0" algn="l">
              <a:spcBef>
                <a:spcPts val="1000"/>
              </a:spcBef>
              <a:spcAft>
                <a:spcPts val="0"/>
              </a:spcAft>
              <a:buNone/>
            </a:pPr>
            <a:r>
              <a:rPr lang="en-GB"/>
              <a:t>It is important to remember the same question can be asked but in different ways, e.g. Increase 70 by 12% is the same as 112% of 70</a:t>
            </a:r>
            <a:endParaRPr/>
          </a:p>
          <a:p>
            <a:pPr indent="0" lvl="0" marL="0" rtl="0" algn="l">
              <a:spcBef>
                <a:spcPts val="1000"/>
              </a:spcBef>
              <a:spcAft>
                <a:spcPts val="1000"/>
              </a:spcAft>
              <a:buNone/>
            </a:pPr>
            <a:r>
              <a:rPr lang="en-GB"/>
              <a:t>Using a decimal multiplier can be a good </a:t>
            </a:r>
            <a:r>
              <a:rPr lang="en-GB"/>
              <a:t>approach</a:t>
            </a:r>
            <a:r>
              <a:rPr lang="en-GB"/>
              <a:t> to work out a percentage increase. </a:t>
            </a:r>
            <a:endParaRPr/>
          </a:p>
        </p:txBody>
      </p:sp>
      <p:sp>
        <p:nvSpPr>
          <p:cNvPr id="1804" name="Google Shape;1804;p104"/>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Increase by a percentage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
        <p:nvSpPr>
          <p:cNvPr id="1809" name="Google Shape;1809;p105"/>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810" name="Google Shape;1810;p105"/>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