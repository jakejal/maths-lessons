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9C1D95-0268-4F40-B24B-12B4A212E599}">
  <a:tblStyle styleId="{EC9C1D95-0268-4F40-B24B-12B4A212E5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9875b8bee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9875b8bee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9875b8bee_0_1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9875b8bee_0_1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9875b8b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9875b8b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9875b8bee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9875b8bee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99875b8bee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9875b8bee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9875b8bee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9875b8bee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99875b8bee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99875b8bee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99875b8bee_3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99875b8bee_3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9875b8bee_3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9875b8bee_3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9875b8bee_3_2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9875b8bee_3_2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9875b8bee_3_3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9875b8bee_3_3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9875b8bee_3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9875b8bee_3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99875b8bee_3_1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99875b8bee_3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99875b8bee_3_3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99875b8bee_3_3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9875b8bee_3_3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9875b8bee_3_3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9875b8bee_3_3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9875b8bee_3_3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99875b8bee_3_3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99875b8bee_3_3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99875b8bee_3_3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99875b8bee_3_3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99875b8bee_3_3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99875b8bee_3_3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9c05fd39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9c05fd39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99875b8bee_3_3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99875b8bee_3_3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9875b8bee_3_3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9875b8bee_3_3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99875b8bee_3_3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99875b8bee_3_3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993eaae2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993eaae2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993eaae2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993eaae2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993eaae2a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993eaae2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993eaae2a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993eaae2a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99875b8bee_3_4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99875b8bee_3_4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993eaae2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993eaae2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99875b8bee_3_3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99875b8bee_3_3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9c05fd39c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9c05fd39c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993eaae2a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993eaae2a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99875b8bee_3_4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99875b8bee_3_4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99875b8bee_3_4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9875b8bee_3_4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04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4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4.png"/><Relationship Id="rId4" Type="http://schemas.openxmlformats.org/officeDocument/2006/relationships/image" Target="../media/image30.png"/><Relationship Id="rId11" Type="http://schemas.openxmlformats.org/officeDocument/2006/relationships/image" Target="../media/image13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81.png"/><Relationship Id="rId8" Type="http://schemas.openxmlformats.org/officeDocument/2006/relationships/image" Target="../media/image8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0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3.png"/><Relationship Id="rId4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4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4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2.png"/><Relationship Id="rId4" Type="http://schemas.openxmlformats.org/officeDocument/2006/relationships/image" Target="../media/image101.png"/><Relationship Id="rId5" Type="http://schemas.openxmlformats.org/officeDocument/2006/relationships/image" Target="../media/image100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divide the numerator of a fraction by its denominator and know that this results in an equivalent recurring decimal.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7822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</a:t>
            </a:r>
            <a:r>
              <a:rPr lang="en-GB"/>
              <a:t> </a:t>
            </a:r>
            <a:r>
              <a:rPr b="0" lang="en-GB"/>
              <a:t>terminating decimal is one that has a finite number of digits after the decimal point.</a:t>
            </a:r>
            <a:endParaRPr b="0"/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8" name="Google Shape;768;p67"/>
          <p:cNvSpPr txBox="1"/>
          <p:nvPr/>
        </p:nvSpPr>
        <p:spPr>
          <a:xfrm>
            <a:off x="2478775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9" name="Google Shape;769;p67"/>
          <p:cNvSpPr txBox="1"/>
          <p:nvPr/>
        </p:nvSpPr>
        <p:spPr>
          <a:xfrm>
            <a:off x="4535725" y="2319175"/>
            <a:ext cx="213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0" name="Google Shape;770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0" l="0" r="78771" t="0"/>
          <a:stretch/>
        </p:blipFill>
        <p:spPr>
          <a:xfrm>
            <a:off x="683400" y="2885825"/>
            <a:ext cx="1001400" cy="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/>
        </p:nvSpPr>
        <p:spPr>
          <a:xfrm>
            <a:off x="6918225" y="2319163"/>
            <a:ext cx="25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2" name="Google Shape;772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15689" l="19284" r="38462" t="15690"/>
          <a:stretch/>
        </p:blipFill>
        <p:spPr>
          <a:xfrm>
            <a:off x="2196350" y="2962025"/>
            <a:ext cx="1993200" cy="4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3" name="Google Shape;773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7763" l="73510" r="10058" t="-7763"/>
          <a:stretch/>
        </p:blipFill>
        <p:spPr>
          <a:xfrm>
            <a:off x="5141418" y="2885825"/>
            <a:ext cx="775150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4" name="Google Shape;774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27437" l="91624" r="-8056" t="11910"/>
          <a:stretch/>
        </p:blipFill>
        <p:spPr>
          <a:xfrm>
            <a:off x="7597968" y="2962025"/>
            <a:ext cx="775150" cy="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/>
        </p:nvSpPr>
        <p:spPr>
          <a:xfrm>
            <a:off x="267550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80" name="Google Shape;780;p68"/>
          <p:cNvSpPr txBox="1"/>
          <p:nvPr/>
        </p:nvSpPr>
        <p:spPr>
          <a:xfrm>
            <a:off x="5145775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81" name="Google Shape;781;p68"/>
          <p:cNvSpPr txBox="1"/>
          <p:nvPr/>
        </p:nvSpPr>
        <p:spPr>
          <a:xfrm>
            <a:off x="324000" y="649850"/>
            <a:ext cx="77148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one that has an infinite number of digits after the decimal point.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8"/>
          <p:cNvSpPr txBox="1"/>
          <p:nvPr/>
        </p:nvSpPr>
        <p:spPr>
          <a:xfrm>
            <a:off x="324000" y="1494650"/>
            <a:ext cx="8496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digits after the decimal point are represented using dots. A dot is placed above the first digit that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recurs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digit that recurs.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783" name="Google Shape;783;p68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0" r="81819" t="0"/>
          <a:stretch/>
        </p:blipFill>
        <p:spPr>
          <a:xfrm>
            <a:off x="393600" y="3184250"/>
            <a:ext cx="497200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4}7\dot{3}\ =\ 0.473473473...&quot;&gt;&lt;mn&gt;0.&lt;/mn&gt;&lt;mrow data-mjx-texclass=&quot;ORD&quot;&gt;&lt;mover&gt;&lt;mn&gt;4&lt;/mn&gt;&lt;mo&gt;˙&lt;/mo&gt;&lt;/mover&gt;&lt;/mrow&gt;&lt;mn&gt;7&lt;/mn&gt;&lt;mrow data-mjx-texclass=&quot;ORD&quot;&gt;&lt;mover&gt;&lt;mn&gt;3&lt;/mn&gt;&lt;mo&gt;˙&lt;/mo&gt;&lt;/mover&gt;&lt;/mrow&gt;&lt;mtext&gt;&lt;/mtext&gt;&lt;mo&gt;=&lt;/mo&gt;&lt;mtext&gt;&lt;/mtext&gt;&lt;mn&gt;0.473473473&lt;/mn&gt;&lt;mo&gt;.&lt;/mo&gt;&lt;mo&gt;.&lt;/mo&gt;&lt;mo&gt;.&lt;/mo&gt;&lt;/math&gt;" id="784" name="Google Shape;784;p68" title="the repeating decimal 0 point followed by repeating digits 4 7 3 equals 0.473473473 period period period"/>
          <p:cNvPicPr preferRelativeResize="0"/>
          <p:nvPr/>
        </p:nvPicPr>
        <p:blipFill rotWithShape="1">
          <a:blip r:embed="rId4">
            <a:alphaModFix/>
          </a:blip>
          <a:srcRect b="0" l="0" r="74513" t="0"/>
          <a:stretch/>
        </p:blipFill>
        <p:spPr>
          <a:xfrm>
            <a:off x="3327466" y="4167600"/>
            <a:ext cx="855476" cy="3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8"/>
          <p:cNvSpPr txBox="1"/>
          <p:nvPr/>
        </p:nvSpPr>
        <p:spPr>
          <a:xfrm>
            <a:off x="3255513" y="36437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786" name="Google Shape;786;p68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18186" r="2119" t="0"/>
          <a:stretch/>
        </p:blipFill>
        <p:spPr>
          <a:xfrm>
            <a:off x="890800" y="3184250"/>
            <a:ext cx="2179500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787" name="Google Shape;787;p68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5">
            <a:alphaModFix/>
          </a:blip>
          <a:srcRect b="0" l="19657" r="1744" t="0"/>
          <a:stretch/>
        </p:blipFill>
        <p:spPr>
          <a:xfrm>
            <a:off x="6003000" y="3184250"/>
            <a:ext cx="2836326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4}7\dot{3}\ =\ 0.473473473...&quot;&gt;&lt;mn&gt;0.&lt;/mn&gt;&lt;mrow data-mjx-texclass=&quot;ORD&quot;&gt;&lt;mover&gt;&lt;mn&gt;4&lt;/mn&gt;&lt;mo&gt;˙&lt;/mo&gt;&lt;/mover&gt;&lt;/mrow&gt;&lt;mn&gt;7&lt;/mn&gt;&lt;mrow data-mjx-texclass=&quot;ORD&quot;&gt;&lt;mover&gt;&lt;mn&gt;3&lt;/mn&gt;&lt;mo&gt;˙&lt;/mo&gt;&lt;/mover&gt;&lt;/mrow&gt;&lt;mtext&gt;&lt;/mtext&gt;&lt;mo&gt;=&lt;/mo&gt;&lt;mtext&gt;&lt;/mtext&gt;&lt;mn&gt;0.473473473&lt;/mn&gt;&lt;mo&gt;.&lt;/mo&gt;&lt;mo&gt;.&lt;/mo&gt;&lt;mo&gt;.&lt;/mo&gt;&lt;/math&gt;" id="788" name="Google Shape;788;p68" title="the repeating decimal 0 point followed by repeating digits 4 7 3 equals 0.473473473 period period period"/>
          <p:cNvPicPr preferRelativeResize="0"/>
          <p:nvPr/>
        </p:nvPicPr>
        <p:blipFill rotWithShape="1">
          <a:blip r:embed="rId4">
            <a:alphaModFix/>
          </a:blip>
          <a:srcRect b="0" l="25484" r="0" t="0"/>
          <a:stretch/>
        </p:blipFill>
        <p:spPr>
          <a:xfrm>
            <a:off x="4182952" y="4166975"/>
            <a:ext cx="2501174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789" name="Google Shape;789;p68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5">
            <a:alphaModFix/>
          </a:blip>
          <a:srcRect b="0" l="0" r="79880" t="0"/>
          <a:stretch/>
        </p:blipFill>
        <p:spPr>
          <a:xfrm>
            <a:off x="5277000" y="3184250"/>
            <a:ext cx="726000" cy="3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795" name="Google Shape;795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796" name="Google Shape;796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pic>
        <p:nvPicPr>
          <p:cNvPr id="797" name="Google Shape;79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1" y="20603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24000" y="7593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 in </a:t>
            </a:r>
            <a:r>
              <a:rPr lang="en-GB"/>
              <a:t>mathematics</a:t>
            </a:r>
            <a:r>
              <a:rPr lang="en-GB"/>
              <a:t> is very important.</a:t>
            </a:r>
            <a:endParaRPr/>
          </a:p>
        </p:txBody>
      </p:sp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24000" y="12927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use s</a:t>
            </a:r>
            <a:r>
              <a:rPr lang="en-GB"/>
              <a:t>ymbols and notation because:</a:t>
            </a:r>
            <a:endParaRPr/>
          </a:p>
        </p:txBody>
      </p:sp>
      <p:sp>
        <p:nvSpPr>
          <p:cNvPr id="805" name="Google Shape;805;p70"/>
          <p:cNvSpPr txBox="1"/>
          <p:nvPr/>
        </p:nvSpPr>
        <p:spPr>
          <a:xfrm>
            <a:off x="252000" y="1734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easier to read and understand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252000" y="2437500"/>
            <a:ext cx="856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concise and take up less space</a:t>
            </a:r>
            <a:endParaRPr/>
          </a:p>
        </p:txBody>
      </p:sp>
      <p:sp>
        <p:nvSpPr>
          <p:cNvPr id="807" name="Google Shape;807;p70"/>
          <p:cNvSpPr txBox="1"/>
          <p:nvPr/>
        </p:nvSpPr>
        <p:spPr>
          <a:xfrm>
            <a:off x="252000" y="3140700"/>
            <a:ext cx="856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be used to represent complex concepts</a:t>
            </a:r>
            <a:endParaRPr/>
          </a:p>
        </p:txBody>
      </p:sp>
      <p:sp>
        <p:nvSpPr>
          <p:cNvPr id="808" name="Google Shape;808;p70"/>
          <p:cNvSpPr txBox="1"/>
          <p:nvPr/>
        </p:nvSpPr>
        <p:spPr>
          <a:xfrm>
            <a:off x="252000" y="3843900"/>
            <a:ext cx="7658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allows mathematical ideas to be communicated more effectively than words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413076" y="2425525"/>
            <a:ext cx="23274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</a:t>
            </a:r>
            <a:endParaRPr/>
          </a:p>
        </p:txBody>
      </p:sp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815" name="Google Shape;815;p71"/>
          <p:cNvSpPr txBox="1"/>
          <p:nvPr/>
        </p:nvSpPr>
        <p:spPr>
          <a:xfrm>
            <a:off x="324000" y="3029400"/>
            <a:ext cx="353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don’t want to write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.\dot{2}\dot{3} = 1.23232323232323....&quot;&gt;&lt;mn&gt;1.&lt;/mn&gt;&lt;mrow data-mjx-texclass=&quot;ORD&quot;&gt;&lt;mover&gt;&lt;mn&gt;2&lt;/mn&gt;&lt;mo&gt;˙&lt;/mo&gt;&lt;/mover&gt;&lt;/mrow&gt;&lt;mrow data-mjx-texclass=&quot;ORD&quot;&gt;&lt;mover&gt;&lt;mn&gt;3&lt;/mn&gt;&lt;mo&gt;˙&lt;/mo&gt;&lt;/mover&gt;&lt;/mrow&gt;&lt;mo&gt;=&lt;/mo&gt;&lt;mn&gt;1.23232323232323&lt;/mn&gt;&lt;mo&gt;.&lt;/mo&gt;&lt;mo&gt;.&lt;/mo&gt;&lt;mo&gt;.&lt;/mo&gt;&lt;mo&gt;.&lt;/mo&gt;&lt;/math&gt;" id="816" name="Google Shape;816;p71" title="the repeating decimal 1 point followed by repeating digits 2 3 equals 1.23232323232323 period period period period"/>
          <p:cNvPicPr preferRelativeResize="0"/>
          <p:nvPr/>
        </p:nvPicPr>
        <p:blipFill rotWithShape="1">
          <a:blip r:embed="rId3">
            <a:alphaModFix/>
          </a:blip>
          <a:srcRect b="0" l="23177" r="0" t="0"/>
          <a:stretch/>
        </p:blipFill>
        <p:spPr>
          <a:xfrm>
            <a:off x="3687717" y="3019193"/>
            <a:ext cx="4289776" cy="4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/>
        </p:nvSpPr>
        <p:spPr>
          <a:xfrm>
            <a:off x="324000" y="3780000"/>
            <a:ext cx="54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easier and more efficient to write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.\dot{2}\dot{3} = 1.23232323232323....&quot;&gt;&lt;mn&gt;1.&lt;/mn&gt;&lt;mrow data-mjx-texclass=&quot;ORD&quot;&gt;&lt;mover&gt;&lt;mn&gt;2&lt;/mn&gt;&lt;mo&gt;˙&lt;/mo&gt;&lt;/mover&gt;&lt;/mrow&gt;&lt;mrow data-mjx-texclass=&quot;ORD&quot;&gt;&lt;mover&gt;&lt;mn&gt;3&lt;/mn&gt;&lt;mo&gt;˙&lt;/mo&gt;&lt;/mover&gt;&lt;/mrow&gt;&lt;mo&gt;=&lt;/mo&gt;&lt;mn&gt;1.23232323232323&lt;/mn&gt;&lt;mo&gt;.&lt;/mo&gt;&lt;mo&gt;.&lt;/mo&gt;&lt;mo&gt;.&lt;/mo&gt;&lt;mo&gt;.&lt;/mo&gt;&lt;/math&gt;" id="818" name="Google Shape;818;p71" title="the repeating decimal 1 point followed by repeating digits 2 3 equals 1.23232323232323 period period period period"/>
          <p:cNvPicPr preferRelativeResize="0"/>
          <p:nvPr/>
        </p:nvPicPr>
        <p:blipFill rotWithShape="1">
          <a:blip r:embed="rId3">
            <a:alphaModFix/>
          </a:blip>
          <a:srcRect b="0" l="0" r="83931" t="0"/>
          <a:stretch/>
        </p:blipFill>
        <p:spPr>
          <a:xfrm>
            <a:off x="5808177" y="3780000"/>
            <a:ext cx="897251" cy="4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1"/>
          <p:cNvSpPr txBox="1"/>
          <p:nvPr/>
        </p:nvSpPr>
        <p:spPr>
          <a:xfrm>
            <a:off x="324000" y="649850"/>
            <a:ext cx="823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special notation to show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decimals.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324000" y="1189850"/>
            <a:ext cx="8496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one that has an infinite number of digits after the decimal point.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dot is placed above the first digit that recurs and the last digit that recurs.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\dot{4}\dot{5} = 0.45454545.... &quot;&gt;&lt;mn&gt;0.&lt;/mn&gt;&lt;mrow data-mjx-texclass=&quot;ORD&quot;&gt;&lt;mover&gt;&lt;mn&gt;4&lt;/mn&gt;&lt;mo&gt;˙&lt;/mo&gt;&lt;/mover&gt;&lt;/mrow&gt;&lt;mrow data-mjx-texclass=&quot;ORD&quot;&gt;&lt;mover&gt;&lt;mn&gt;5&lt;/mn&gt;&lt;mo&gt;˙&lt;/mo&gt;&lt;/mover&gt;&lt;/mrow&gt;&lt;mo&gt;=&lt;/mo&gt;&lt;mn&gt;0.45454545&lt;/mn&gt;&lt;mo&gt;.&lt;/mo&gt;&lt;mo&gt;.&lt;/mo&gt;&lt;mo&gt;.&lt;/mo&gt;&lt;mo&gt;.&lt;/mo&gt;&lt;/math&gt;" id="826" name="Google Shape;826;p72" title="the repeating decimal 0 point followed by repeating digits 4 5 equals 0.45454545 period period period period"/>
          <p:cNvPicPr preferRelativeResize="0"/>
          <p:nvPr/>
        </p:nvPicPr>
        <p:blipFill rotWithShape="1">
          <a:blip r:embed="rId3">
            <a:alphaModFix/>
          </a:blip>
          <a:srcRect b="0" l="0" r="78583" t="0"/>
          <a:stretch/>
        </p:blipFill>
        <p:spPr>
          <a:xfrm>
            <a:off x="2714690" y="1666125"/>
            <a:ext cx="722700" cy="3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6\dot{5} = 0.165165165165.... &quot;&gt;&lt;mn&gt;0.&lt;/mn&gt;&lt;mrow data-mjx-texclass=&quot;ORD&quot;&gt;&lt;mover&gt;&lt;mn&gt;1&lt;/mn&gt;&lt;mo&gt;˙&lt;/mo&gt;&lt;/mover&gt;&lt;/mrow&gt;&lt;mn&gt;6&lt;/mn&gt;&lt;mrow data-mjx-texclass=&quot;ORD&quot;&gt;&lt;mover&gt;&lt;mn&gt;5&lt;/mn&gt;&lt;mo&gt;˙&lt;/mo&gt;&lt;/mover&gt;&lt;/mrow&gt;&lt;mo&gt;=&lt;/mo&gt;&lt;mn&gt;0.165165165165&lt;/mn&gt;&lt;mo&gt;.&lt;/mo&gt;&lt;mo&gt;.&lt;/mo&gt;&lt;mo&gt;.&lt;/mo&gt;&lt;mo&gt;.&lt;/mo&gt;&lt;/math&gt;" id="827" name="Google Shape;827;p72" title="the repeating decimal 0 point followed by repeating digits 1 6 5 equals 0.165165165165 period period period period"/>
          <p:cNvPicPr preferRelativeResize="0"/>
          <p:nvPr/>
        </p:nvPicPr>
        <p:blipFill rotWithShape="1">
          <a:blip r:embed="rId4">
            <a:alphaModFix/>
          </a:blip>
          <a:srcRect b="10" l="0" r="78977" t="0"/>
          <a:stretch/>
        </p:blipFill>
        <p:spPr>
          <a:xfrm>
            <a:off x="2714690" y="2284656"/>
            <a:ext cx="901375" cy="3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\dot{6}\dot{5} = 0.165656565... &quot;&gt;&lt;mn&gt;0.1&lt;/mn&gt;&lt;mrow data-mjx-texclass=&quot;ORD&quot;&gt;&lt;mover&gt;&lt;mn&gt;6&lt;/mn&gt;&lt;mo&gt;˙&lt;/mo&gt;&lt;/mover&gt;&lt;/mrow&gt;&lt;mrow data-mjx-texclass=&quot;ORD&quot;&gt;&lt;mover&gt;&lt;mn&gt;5&lt;/mn&gt;&lt;mo&gt;˙&lt;/mo&gt;&lt;/mover&gt;&lt;/mrow&gt;&lt;mo&gt;=&lt;/mo&gt;&lt;mn&gt;0.165656565&lt;/mn&gt;&lt;mo&gt;.&lt;/mo&gt;&lt;mo&gt;.&lt;/mo&gt;&lt;mo&gt;.&lt;/mo&gt;&lt;/math&gt;" id="828" name="Google Shape;828;p72" title="the repeating decimal 0.1 followed by repeating digits 6 5 equals 0.165656565 period period period"/>
          <p:cNvPicPr preferRelativeResize="0"/>
          <p:nvPr/>
        </p:nvPicPr>
        <p:blipFill rotWithShape="1">
          <a:blip r:embed="rId5">
            <a:alphaModFix/>
          </a:blip>
          <a:srcRect b="0" l="0" r="73775" t="0"/>
          <a:stretch/>
        </p:blipFill>
        <p:spPr>
          <a:xfrm>
            <a:off x="2714691" y="2903163"/>
            <a:ext cx="948901" cy="3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6\dot{5} = 0.1655555...&quot;&gt;&lt;mn&gt;0.16&lt;/mn&gt;&lt;mrow data-mjx-texclass=&quot;ORD&quot;&gt;&lt;mover&gt;&lt;mn&gt;5&lt;/mn&gt;&lt;mo&gt;˙&lt;/mo&gt;&lt;/mover&gt;&lt;/mrow&gt;&lt;mo&gt;=&lt;/mo&gt;&lt;mn&gt;0.1655555&lt;/mn&gt;&lt;mo&gt;.&lt;/mo&gt;&lt;mo&gt;.&lt;/mo&gt;&lt;mo&gt;.&lt;/mo&gt;&lt;/math&gt;" id="829" name="Google Shape;829;p72" title="the repeating decimal 0.16 followed by repeating digit 5 equals 0.1655555 period period period"/>
          <p:cNvPicPr preferRelativeResize="0"/>
          <p:nvPr/>
        </p:nvPicPr>
        <p:blipFill rotWithShape="1">
          <a:blip r:embed="rId6">
            <a:alphaModFix/>
          </a:blip>
          <a:srcRect b="10" l="0" r="70646" t="0"/>
          <a:stretch/>
        </p:blipFill>
        <p:spPr>
          <a:xfrm>
            <a:off x="2714691" y="3521694"/>
            <a:ext cx="948900" cy="3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4\dot{5} = 0.455555...&quot;&gt;&lt;mn&gt;0.4&lt;/mn&gt;&lt;mrow data-mjx-texclass=&quot;ORD&quot;&gt;&lt;mover&gt;&lt;mn&gt;5&lt;/mn&gt;&lt;mo&gt;˙&lt;/mo&gt;&lt;/mover&gt;&lt;/mrow&gt;&lt;mo&gt;=&lt;/mo&gt;&lt;mn&gt;0.455555&lt;/mn&gt;&lt;mo&gt;.&lt;/mo&gt;&lt;mo&gt;.&lt;/mo&gt;&lt;mo&gt;.&lt;/mo&gt;&lt;/math&gt;" id="830" name="Google Shape;830;p72" title="the repeating decimal 0.4 followed by repeating digit 5 equals 0.455555 period period period"/>
          <p:cNvPicPr preferRelativeResize="0"/>
          <p:nvPr/>
        </p:nvPicPr>
        <p:blipFill rotWithShape="1">
          <a:blip r:embed="rId7">
            <a:alphaModFix/>
          </a:blip>
          <a:srcRect b="0" l="0" r="74616" t="0"/>
          <a:stretch/>
        </p:blipFill>
        <p:spPr>
          <a:xfrm>
            <a:off x="2714699" y="4140200"/>
            <a:ext cx="722701" cy="3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2"/>
          <p:cNvSpPr txBox="1"/>
          <p:nvPr/>
        </p:nvSpPr>
        <p:spPr>
          <a:xfrm>
            <a:off x="324000" y="733800"/>
            <a:ext cx="79569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Match the correctly notated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the decimal form.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\dot{4}\dot{5} = 0.45454545.... &quot;&gt;&lt;mn&gt;0.&lt;/mn&gt;&lt;mrow data-mjx-texclass=&quot;ORD&quot;&gt;&lt;mover&gt;&lt;mn&gt;4&lt;/mn&gt;&lt;mo&gt;˙&lt;/mo&gt;&lt;/mover&gt;&lt;/mrow&gt;&lt;mrow data-mjx-texclass=&quot;ORD&quot;&gt;&lt;mover&gt;&lt;mn&gt;5&lt;/mn&gt;&lt;mo&gt;˙&lt;/mo&gt;&lt;/mover&gt;&lt;/mrow&gt;&lt;mo&gt;=&lt;/mo&gt;&lt;mn&gt;0.45454545&lt;/mn&gt;&lt;mo&gt;.&lt;/mo&gt;&lt;mo&gt;.&lt;/mo&gt;&lt;mo&gt;.&lt;/mo&gt;&lt;mo&gt;.&lt;/mo&gt;&lt;/math&gt;" id="832" name="Google Shape;832;p72" title="the repeating decimal 0 point followed by repeating digits 4 5 equals 0.45454545 period period period period"/>
          <p:cNvPicPr preferRelativeResize="0"/>
          <p:nvPr/>
        </p:nvPicPr>
        <p:blipFill rotWithShape="1">
          <a:blip r:embed="rId3">
            <a:alphaModFix/>
          </a:blip>
          <a:srcRect b="0" l="30982" r="1925" t="0"/>
          <a:stretch/>
        </p:blipFill>
        <p:spPr>
          <a:xfrm>
            <a:off x="5231000" y="3533600"/>
            <a:ext cx="2264026" cy="3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6\dot{5} = 0.165165165165.... &quot;&gt;&lt;mn&gt;0.&lt;/mn&gt;&lt;mrow data-mjx-texclass=&quot;ORD&quot;&gt;&lt;mover&gt;&lt;mn&gt;1&lt;/mn&gt;&lt;mo&gt;˙&lt;/mo&gt;&lt;/mover&gt;&lt;/mrow&gt;&lt;mn&gt;6&lt;/mn&gt;&lt;mrow data-mjx-texclass=&quot;ORD&quot;&gt;&lt;mover&gt;&lt;mn&gt;5&lt;/mn&gt;&lt;mo&gt;˙&lt;/mo&gt;&lt;/mover&gt;&lt;/mrow&gt;&lt;mo&gt;=&lt;/mo&gt;&lt;mn&gt;0.165165165165&lt;/mn&gt;&lt;mo&gt;.&lt;/mo&gt;&lt;mo&gt;.&lt;/mo&gt;&lt;mo&gt;.&lt;/mo&gt;&lt;mo&gt;.&lt;/mo&gt;&lt;/math&gt;" id="833" name="Google Shape;833;p72" title="the repeating decimal 0 point followed by repeating digits 1 6 5 equals 0.165165165165 period period period period"/>
          <p:cNvPicPr preferRelativeResize="0"/>
          <p:nvPr/>
        </p:nvPicPr>
        <p:blipFill rotWithShape="1">
          <a:blip r:embed="rId4">
            <a:alphaModFix/>
          </a:blip>
          <a:srcRect b="10" l="29168" r="1497" t="0"/>
          <a:stretch/>
        </p:blipFill>
        <p:spPr>
          <a:xfrm>
            <a:off x="5255225" y="2927000"/>
            <a:ext cx="2972751" cy="3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\dot{6}\dot{5} = 0.165656565... &quot;&gt;&lt;mn&gt;0.1&lt;/mn&gt;&lt;mrow data-mjx-texclass=&quot;ORD&quot;&gt;&lt;mover&gt;&lt;mn&gt;6&lt;/mn&gt;&lt;mo&gt;˙&lt;/mo&gt;&lt;/mover&gt;&lt;/mrow&gt;&lt;mrow data-mjx-texclass=&quot;ORD&quot;&gt;&lt;mover&gt;&lt;mn&gt;5&lt;/mn&gt;&lt;mo&gt;˙&lt;/mo&gt;&lt;/mover&gt;&lt;/mrow&gt;&lt;mo&gt;=&lt;/mo&gt;&lt;mn&gt;0.165656565&lt;/mn&gt;&lt;mo&gt;.&lt;/mo&gt;&lt;mo&gt;.&lt;/mo&gt;&lt;mo&gt;.&lt;/mo&gt;&lt;/math&gt;" id="834" name="Google Shape;834;p72" title="the repeating decimal 0.1 followed by repeating digits 6 5 equals 0.165656565 period period period"/>
          <p:cNvPicPr preferRelativeResize="0"/>
          <p:nvPr/>
        </p:nvPicPr>
        <p:blipFill rotWithShape="1">
          <a:blip r:embed="rId5">
            <a:alphaModFix/>
          </a:blip>
          <a:srcRect b="0" l="35633" r="0" t="0"/>
          <a:stretch/>
        </p:blipFill>
        <p:spPr>
          <a:xfrm>
            <a:off x="5285559" y="2320390"/>
            <a:ext cx="2329000" cy="3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6\dot{5} = 0.1655555...&quot;&gt;&lt;mn&gt;0.16&lt;/mn&gt;&lt;mrow data-mjx-texclass=&quot;ORD&quot;&gt;&lt;mover&gt;&lt;mn&gt;5&lt;/mn&gt;&lt;mo&gt;˙&lt;/mo&gt;&lt;/mover&gt;&lt;/mrow&gt;&lt;mo&gt;=&lt;/mo&gt;&lt;mn&gt;0.1655555&lt;/mn&gt;&lt;mo&gt;.&lt;/mo&gt;&lt;mo&gt;.&lt;/mo&gt;&lt;mo&gt;.&lt;/mo&gt;&lt;/math&gt;" id="835" name="Google Shape;835;p72" title="the repeating decimal 0.16 followed by repeating digit 5 equals 0.1655555 period period period"/>
          <p:cNvPicPr preferRelativeResize="0"/>
          <p:nvPr/>
        </p:nvPicPr>
        <p:blipFill rotWithShape="1">
          <a:blip r:embed="rId6">
            <a:alphaModFix/>
          </a:blip>
          <a:srcRect b="-12908" l="39411" r="-2511" t="12918"/>
          <a:stretch/>
        </p:blipFill>
        <p:spPr>
          <a:xfrm>
            <a:off x="5271297" y="1713803"/>
            <a:ext cx="2039775" cy="3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4\dot{5} = 0.455555...&quot;&gt;&lt;mn&gt;0.4&lt;/mn&gt;&lt;mrow data-mjx-texclass=&quot;ORD&quot;&gt;&lt;mover&gt;&lt;mn&gt;5&lt;/mn&gt;&lt;mo&gt;˙&lt;/mo&gt;&lt;/mover&gt;&lt;/mrow&gt;&lt;mo&gt;=&lt;/mo&gt;&lt;mn&gt;0.455555&lt;/mn&gt;&lt;mo&gt;.&lt;/mo&gt;&lt;mo&gt;.&lt;/mo&gt;&lt;mo&gt;.&lt;/mo&gt;&lt;/math&gt;" id="836" name="Google Shape;836;p72" title="the repeating decimal 0.4 followed by repeating digit 5 equals 0.455555 period period period"/>
          <p:cNvPicPr preferRelativeResize="0"/>
          <p:nvPr/>
        </p:nvPicPr>
        <p:blipFill rotWithShape="1">
          <a:blip r:embed="rId7">
            <a:alphaModFix/>
          </a:blip>
          <a:srcRect b="0" l="38252" r="-2186" t="0"/>
          <a:stretch/>
        </p:blipFill>
        <p:spPr>
          <a:xfrm>
            <a:off x="5293678" y="4140200"/>
            <a:ext cx="1820224" cy="35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7" name="Google Shape;837;p72"/>
          <p:cNvCxnSpPr>
            <a:endCxn id="832" idx="1"/>
          </p:cNvCxnSpPr>
          <p:nvPr/>
        </p:nvCxnSpPr>
        <p:spPr>
          <a:xfrm>
            <a:off x="3622400" y="1800950"/>
            <a:ext cx="1608600" cy="191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2"/>
          <p:cNvCxnSpPr>
            <a:stCxn id="827" idx="3"/>
            <a:endCxn id="833" idx="1"/>
          </p:cNvCxnSpPr>
          <p:nvPr/>
        </p:nvCxnSpPr>
        <p:spPr>
          <a:xfrm>
            <a:off x="3616065" y="2463294"/>
            <a:ext cx="1639200" cy="642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2"/>
          <p:cNvCxnSpPr/>
          <p:nvPr/>
        </p:nvCxnSpPr>
        <p:spPr>
          <a:xfrm flipH="1" rot="10800000">
            <a:off x="3600934" y="2529850"/>
            <a:ext cx="1669500" cy="618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2"/>
          <p:cNvCxnSpPr>
            <a:endCxn id="835" idx="1"/>
          </p:cNvCxnSpPr>
          <p:nvPr/>
        </p:nvCxnSpPr>
        <p:spPr>
          <a:xfrm flipH="1" rot="10800000">
            <a:off x="3663597" y="1892440"/>
            <a:ext cx="1607700" cy="1897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2"/>
          <p:cNvCxnSpPr/>
          <p:nvPr/>
        </p:nvCxnSpPr>
        <p:spPr>
          <a:xfrm flipH="1" rot="10800000">
            <a:off x="3525241" y="4318800"/>
            <a:ext cx="1680600" cy="1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847" name="Google Shape;847;p73"/>
          <p:cNvSpPr txBox="1"/>
          <p:nvPr/>
        </p:nvSpPr>
        <p:spPr>
          <a:xfrm>
            <a:off x="324000" y="733800"/>
            <a:ext cx="79569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we know how a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represented in decimal form using the dot.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3"/>
          <p:cNvSpPr txBox="1"/>
          <p:nvPr/>
        </p:nvSpPr>
        <p:spPr>
          <a:xfrm>
            <a:off x="324000" y="1724400"/>
            <a:ext cx="79569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also need to recognise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decimals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when in fractional form.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3"/>
          <p:cNvSpPr txBox="1"/>
          <p:nvPr/>
        </p:nvSpPr>
        <p:spPr>
          <a:xfrm>
            <a:off x="400200" y="2827800"/>
            <a:ext cx="82377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let’s do some short division to determine if the fraction gives 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b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not.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>
            <p:ph idx="1" type="body"/>
          </p:nvPr>
        </p:nvSpPr>
        <p:spPr>
          <a:xfrm>
            <a:off x="400200" y="862500"/>
            <a:ext cx="8419800" cy="14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855" name="Google Shape;85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856" name="Google Shape;856;p74"/>
          <p:cNvSpPr txBox="1"/>
          <p:nvPr/>
        </p:nvSpPr>
        <p:spPr>
          <a:xfrm>
            <a:off x="7220800" y="2762055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7474796" y="2762055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4"/>
          <p:cNvSpPr txBox="1"/>
          <p:nvPr/>
        </p:nvSpPr>
        <p:spPr>
          <a:xfrm>
            <a:off x="6601900" y="2281337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9" name="Google Shape;859;p74"/>
          <p:cNvGrpSpPr/>
          <p:nvPr/>
        </p:nvGrpSpPr>
        <p:grpSpPr>
          <a:xfrm>
            <a:off x="6828255" y="1827525"/>
            <a:ext cx="264300" cy="1586710"/>
            <a:chOff x="6828255" y="1827525"/>
            <a:chExt cx="264300" cy="1586710"/>
          </a:xfrm>
        </p:grpSpPr>
        <p:sp>
          <p:nvSpPr>
            <p:cNvPr id="860" name="Google Shape;860;p74"/>
            <p:cNvSpPr txBox="1"/>
            <p:nvPr/>
          </p:nvSpPr>
          <p:spPr>
            <a:xfrm>
              <a:off x="6828255" y="232523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4"/>
            <p:cNvSpPr txBox="1"/>
            <p:nvPr/>
          </p:nvSpPr>
          <p:spPr>
            <a:xfrm>
              <a:off x="6828255" y="182752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2" name="Google Shape;862;p74"/>
          <p:cNvSpPr txBox="1"/>
          <p:nvPr/>
        </p:nvSpPr>
        <p:spPr>
          <a:xfrm>
            <a:off x="6943817" y="2281337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4"/>
          <p:cNvSpPr txBox="1"/>
          <p:nvPr/>
        </p:nvSpPr>
        <p:spPr>
          <a:xfrm>
            <a:off x="7197812" y="2281337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4"/>
          <p:cNvSpPr txBox="1"/>
          <p:nvPr/>
        </p:nvSpPr>
        <p:spPr>
          <a:xfrm>
            <a:off x="7451811" y="2281351"/>
            <a:ext cx="605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4"/>
          <p:cNvSpPr txBox="1"/>
          <p:nvPr/>
        </p:nvSpPr>
        <p:spPr>
          <a:xfrm>
            <a:off x="7125661" y="2618449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4"/>
          <p:cNvSpPr txBox="1"/>
          <p:nvPr/>
        </p:nvSpPr>
        <p:spPr>
          <a:xfrm>
            <a:off x="6853788" y="2625233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4"/>
          <p:cNvSpPr txBox="1"/>
          <p:nvPr/>
        </p:nvSpPr>
        <p:spPr>
          <a:xfrm>
            <a:off x="6966805" y="2762055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4"/>
          <p:cNvSpPr txBox="1"/>
          <p:nvPr/>
        </p:nvSpPr>
        <p:spPr>
          <a:xfrm>
            <a:off x="7379656" y="2618449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869" name="Google Shape;869;p74" title="2 lines Line 1: one eighth Line 2: one third"/>
          <p:cNvPicPr preferRelativeResize="0"/>
          <p:nvPr/>
        </p:nvPicPr>
        <p:blipFill rotWithShape="1">
          <a:blip r:embed="rId3">
            <a:alphaModFix/>
          </a:blip>
          <a:srcRect b="-2290" l="0" r="0" t="52504"/>
          <a:stretch/>
        </p:blipFill>
        <p:spPr>
          <a:xfrm>
            <a:off x="2456850" y="1151024"/>
            <a:ext cx="241854" cy="770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870" name="Google Shape;870;p74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0" r="85186" t="0"/>
          <a:stretch/>
        </p:blipFill>
        <p:spPr>
          <a:xfrm>
            <a:off x="1841000" y="2459125"/>
            <a:ext cx="483600" cy="9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871" name="Google Shape;871;p74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13795" r="38251" t="0"/>
          <a:stretch/>
        </p:blipFill>
        <p:spPr>
          <a:xfrm>
            <a:off x="2271225" y="2455875"/>
            <a:ext cx="1565500" cy="9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872" name="Google Shape;872;p74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64307" r="-4334" t="0"/>
          <a:stretch/>
        </p:blipFill>
        <p:spPr>
          <a:xfrm>
            <a:off x="3925704" y="2447025"/>
            <a:ext cx="1306775" cy="9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4"/>
          <p:cNvSpPr txBox="1"/>
          <p:nvPr/>
        </p:nvSpPr>
        <p:spPr>
          <a:xfrm>
            <a:off x="400200" y="3970250"/>
            <a:ext cx="546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 it is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decimal.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/>
          </a:p>
        </p:txBody>
      </p:sp>
      <p:grpSp>
        <p:nvGrpSpPr>
          <p:cNvPr id="874" name="Google Shape;874;p74"/>
          <p:cNvGrpSpPr/>
          <p:nvPr/>
        </p:nvGrpSpPr>
        <p:grpSpPr>
          <a:xfrm>
            <a:off x="5998333" y="2352379"/>
            <a:ext cx="2146725" cy="1088989"/>
            <a:chOff x="5998333" y="2352379"/>
            <a:chExt cx="2146725" cy="1088989"/>
          </a:xfrm>
        </p:grpSpPr>
        <p:grpSp>
          <p:nvGrpSpPr>
            <p:cNvPr id="875" name="Google Shape;875;p74"/>
            <p:cNvGrpSpPr/>
            <p:nvPr/>
          </p:nvGrpSpPr>
          <p:grpSpPr>
            <a:xfrm>
              <a:off x="5998333" y="2352379"/>
              <a:ext cx="2146725" cy="1088989"/>
              <a:chOff x="2800350" y="2259775"/>
              <a:chExt cx="4423500" cy="980100"/>
            </a:xfrm>
          </p:grpSpPr>
          <p:sp>
            <p:nvSpPr>
              <p:cNvPr id="876" name="Google Shape;876;p74"/>
              <p:cNvSpPr txBox="1"/>
              <p:nvPr/>
            </p:nvSpPr>
            <p:spPr>
              <a:xfrm>
                <a:off x="2800350" y="2259775"/>
                <a:ext cx="44235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57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877" name="Google Shape;877;p74"/>
              <p:cNvCxnSpPr/>
              <p:nvPr/>
            </p:nvCxnSpPr>
            <p:spPr>
              <a:xfrm>
                <a:off x="3763759" y="2580422"/>
                <a:ext cx="3121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78" name="Google Shape;878;p74"/>
            <p:cNvCxnSpPr/>
            <p:nvPr/>
          </p:nvCxnSpPr>
          <p:spPr>
            <a:xfrm rot="10800000">
              <a:off x="6476925" y="2694375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9" name="Google Shape;879;p74"/>
          <p:cNvSpPr txBox="1"/>
          <p:nvPr>
            <p:ph idx="1" type="body"/>
          </p:nvPr>
        </p:nvSpPr>
        <p:spPr>
          <a:xfrm>
            <a:off x="400200" y="1395900"/>
            <a:ext cx="795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880" name="Google Shape;880;p74"/>
          <p:cNvSpPr txBox="1"/>
          <p:nvPr>
            <p:ph idx="1" type="body"/>
          </p:nvPr>
        </p:nvSpPr>
        <p:spPr>
          <a:xfrm>
            <a:off x="1230250" y="1395900"/>
            <a:ext cx="12264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     </a:t>
            </a:r>
            <a:endParaRPr/>
          </a:p>
        </p:txBody>
      </p:sp>
      <p:sp>
        <p:nvSpPr>
          <p:cNvPr id="881" name="Google Shape;881;p74"/>
          <p:cNvSpPr txBox="1"/>
          <p:nvPr>
            <p:ph idx="1" type="body"/>
          </p:nvPr>
        </p:nvSpPr>
        <p:spPr>
          <a:xfrm>
            <a:off x="2838600" y="1395900"/>
            <a:ext cx="49389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to a </a:t>
            </a:r>
            <a:r>
              <a:rPr b="1" lang="en-GB"/>
              <a:t>recurring decimal</a:t>
            </a:r>
            <a:r>
              <a:rPr lang="en-GB"/>
              <a:t>?</a:t>
            </a:r>
            <a:endParaRPr/>
          </a:p>
        </p:txBody>
      </p:sp>
      <p:sp>
        <p:nvSpPr>
          <p:cNvPr id="882" name="Google Shape;882;p74"/>
          <p:cNvSpPr txBox="1"/>
          <p:nvPr>
            <p:ph idx="1" type="body"/>
          </p:nvPr>
        </p:nvSpPr>
        <p:spPr>
          <a:xfrm>
            <a:off x="742500" y="1395900"/>
            <a:ext cx="605100" cy="14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 txBox="1"/>
          <p:nvPr>
            <p:ph idx="1" type="subTitle"/>
          </p:nvPr>
        </p:nvSpPr>
        <p:spPr>
          <a:xfrm>
            <a:off x="337825" y="810000"/>
            <a:ext cx="3982200" cy="12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short division, work out the decimal of the following fraction. Write your answer using correct notation.</a:t>
            </a:r>
            <a:endParaRPr/>
          </a:p>
        </p:txBody>
      </p:sp>
      <p:sp>
        <p:nvSpPr>
          <p:cNvPr id="888" name="Google Shape;888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889" name="Google Shape;889;p75"/>
          <p:cNvSpPr txBox="1"/>
          <p:nvPr/>
        </p:nvSpPr>
        <p:spPr>
          <a:xfrm>
            <a:off x="2476970" y="34198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 txBox="1"/>
          <p:nvPr/>
        </p:nvSpPr>
        <p:spPr>
          <a:xfrm>
            <a:off x="1843748" y="29268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5"/>
          <p:cNvSpPr txBox="1"/>
          <p:nvPr/>
        </p:nvSpPr>
        <p:spPr>
          <a:xfrm>
            <a:off x="2047472" y="302673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5"/>
          <p:cNvSpPr txBox="1"/>
          <p:nvPr/>
        </p:nvSpPr>
        <p:spPr>
          <a:xfrm>
            <a:off x="2047472" y="251840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 txBox="1"/>
          <p:nvPr/>
        </p:nvSpPr>
        <p:spPr>
          <a:xfrm>
            <a:off x="2151479" y="292683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 txBox="1"/>
          <p:nvPr/>
        </p:nvSpPr>
        <p:spPr>
          <a:xfrm>
            <a:off x="2380079" y="29268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 txBox="1"/>
          <p:nvPr/>
        </p:nvSpPr>
        <p:spPr>
          <a:xfrm>
            <a:off x="2315150" y="329062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5"/>
          <p:cNvSpPr txBox="1"/>
          <p:nvPr/>
        </p:nvSpPr>
        <p:spPr>
          <a:xfrm>
            <a:off x="2070452" y="32967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5"/>
          <p:cNvSpPr txBox="1"/>
          <p:nvPr/>
        </p:nvSpPr>
        <p:spPr>
          <a:xfrm>
            <a:off x="2172170" y="34198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5"/>
          <p:cNvSpPr txBox="1"/>
          <p:nvPr/>
        </p:nvSpPr>
        <p:spPr>
          <a:xfrm>
            <a:off x="2586432" y="29211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5"/>
          <p:cNvSpPr txBox="1"/>
          <p:nvPr/>
        </p:nvSpPr>
        <p:spPr>
          <a:xfrm>
            <a:off x="3038522" y="34198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2802821" y="29211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5"/>
          <p:cNvSpPr txBox="1"/>
          <p:nvPr/>
        </p:nvSpPr>
        <p:spPr>
          <a:xfrm>
            <a:off x="2752491" y="34198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2663289" y="32857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 txBox="1"/>
          <p:nvPr/>
        </p:nvSpPr>
        <p:spPr>
          <a:xfrm>
            <a:off x="2949320" y="32857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2}=0.08\dot{3}&quot;&gt;&lt;mfrac&gt;&lt;mn&gt;1&lt;/mn&gt;&lt;mn&gt;12&lt;/mn&gt;&lt;/mfrac&gt;&lt;mo&gt;=&lt;/mo&gt;&lt;mn&gt;0.08&lt;/mn&gt;&lt;mrow data-mjx-texclass=&quot;ORD&quot;&gt;&lt;mover&gt;&lt;mn&gt;3&lt;/mn&gt;&lt;mo&gt;˙&lt;/mo&gt;&lt;/mover&gt;&lt;/mrow&gt;&lt;/math&gt;" id="904" name="Google Shape;904;p75" title="1 over 12 equals the repeating decimal 0.08 followed by repeating digit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707" y="4038932"/>
            <a:ext cx="1601026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905" name="Google Shape;905;p75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0" r="72109" t="0"/>
          <a:stretch/>
        </p:blipFill>
        <p:spPr>
          <a:xfrm>
            <a:off x="1476925" y="2160000"/>
            <a:ext cx="475250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906" name="Google Shape;906;p75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30105" r="-11076" t="0"/>
          <a:stretch/>
        </p:blipFill>
        <p:spPr>
          <a:xfrm>
            <a:off x="1989900" y="2160000"/>
            <a:ext cx="1379700" cy="7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5"/>
          <p:cNvSpPr txBox="1"/>
          <p:nvPr/>
        </p:nvSpPr>
        <p:spPr>
          <a:xfrm>
            <a:off x="4909200" y="718225"/>
            <a:ext cx="3982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short division, work out the decimal of the following fraction. Write your answer using correct notation.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908" name="Google Shape;908;p75" title="1 over 11 equals 1 divided by 11 equals the repeating decimal 0 point followed by repeating digits 0 9"/>
          <p:cNvPicPr preferRelativeResize="0"/>
          <p:nvPr/>
        </p:nvPicPr>
        <p:blipFill rotWithShape="1">
          <a:blip r:embed="rId5">
            <a:alphaModFix/>
          </a:blip>
          <a:srcRect b="0" l="0" r="84177" t="0"/>
          <a:stretch/>
        </p:blipFill>
        <p:spPr>
          <a:xfrm>
            <a:off x="6207649" y="2165175"/>
            <a:ext cx="435300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909" name="Google Shape;909;p75" title="1 over 11 equals 1 divided by 11 equals the repeating decimal 0 point followed by repeating digits 0 9"/>
          <p:cNvPicPr preferRelativeResize="0"/>
          <p:nvPr/>
        </p:nvPicPr>
        <p:blipFill rotWithShape="1">
          <a:blip r:embed="rId5">
            <a:alphaModFix/>
          </a:blip>
          <a:srcRect b="0" l="0" r="71204" t="0"/>
          <a:stretch/>
        </p:blipFill>
        <p:spPr>
          <a:xfrm>
            <a:off x="5979047" y="4070175"/>
            <a:ext cx="792199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910" name="Google Shape;910;p75" title="1 over 11 equals 1 divided by 11 equals the repeating decimal 0 point followed by repeating digits 0 9"/>
          <p:cNvPicPr preferRelativeResize="0"/>
          <p:nvPr/>
        </p:nvPicPr>
        <p:blipFill rotWithShape="1">
          <a:blip r:embed="rId5">
            <a:alphaModFix/>
          </a:blip>
          <a:srcRect b="0" l="74727" r="-23431" t="0"/>
          <a:stretch/>
        </p:blipFill>
        <p:spPr>
          <a:xfrm>
            <a:off x="6732674" y="4098467"/>
            <a:ext cx="1339899" cy="6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5"/>
          <p:cNvSpPr txBox="1"/>
          <p:nvPr/>
        </p:nvSpPr>
        <p:spPr>
          <a:xfrm>
            <a:off x="7049520" y="33325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6416298" y="28395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3" name="Google Shape;913;p75"/>
          <p:cNvGrpSpPr/>
          <p:nvPr/>
        </p:nvGrpSpPr>
        <p:grpSpPr>
          <a:xfrm>
            <a:off x="6620022" y="2431103"/>
            <a:ext cx="237900" cy="1488434"/>
            <a:chOff x="6620022" y="2431103"/>
            <a:chExt cx="237900" cy="1488434"/>
          </a:xfrm>
        </p:grpSpPr>
        <p:sp>
          <p:nvSpPr>
            <p:cNvPr id="914" name="Google Shape;914;p75"/>
            <p:cNvSpPr txBox="1"/>
            <p:nvPr/>
          </p:nvSpPr>
          <p:spPr>
            <a:xfrm>
              <a:off x="6620022" y="2939438"/>
              <a:ext cx="237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5"/>
            <p:cNvSpPr txBox="1"/>
            <p:nvPr/>
          </p:nvSpPr>
          <p:spPr>
            <a:xfrm>
              <a:off x="6620022" y="2431103"/>
              <a:ext cx="237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6" name="Google Shape;916;p75"/>
          <p:cNvSpPr txBox="1"/>
          <p:nvPr/>
        </p:nvSpPr>
        <p:spPr>
          <a:xfrm>
            <a:off x="6724029" y="283953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5"/>
          <p:cNvSpPr txBox="1"/>
          <p:nvPr/>
        </p:nvSpPr>
        <p:spPr>
          <a:xfrm>
            <a:off x="6952629" y="28395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6887700" y="320332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 txBox="1"/>
          <p:nvPr/>
        </p:nvSpPr>
        <p:spPr>
          <a:xfrm>
            <a:off x="6643002" y="32094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6744720" y="33325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5"/>
          <p:cNvSpPr txBox="1"/>
          <p:nvPr/>
        </p:nvSpPr>
        <p:spPr>
          <a:xfrm>
            <a:off x="7158982" y="28338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5"/>
          <p:cNvSpPr txBox="1"/>
          <p:nvPr/>
        </p:nvSpPr>
        <p:spPr>
          <a:xfrm>
            <a:off x="7582920" y="33325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5"/>
          <p:cNvSpPr txBox="1"/>
          <p:nvPr/>
        </p:nvSpPr>
        <p:spPr>
          <a:xfrm>
            <a:off x="7375371" y="28338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5"/>
          <p:cNvSpPr txBox="1"/>
          <p:nvPr/>
        </p:nvSpPr>
        <p:spPr>
          <a:xfrm>
            <a:off x="7301580" y="33325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5"/>
          <p:cNvSpPr txBox="1"/>
          <p:nvPr/>
        </p:nvSpPr>
        <p:spPr>
          <a:xfrm>
            <a:off x="7212378" y="31984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5"/>
          <p:cNvSpPr txBox="1"/>
          <p:nvPr/>
        </p:nvSpPr>
        <p:spPr>
          <a:xfrm>
            <a:off x="7404600" y="319847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927" name="Google Shape;927;p75" title="1 over 11 equals 1 divided by 11 equals the repeating decimal 0 point followed by repeating digits 0 9"/>
          <p:cNvPicPr preferRelativeResize="0"/>
          <p:nvPr/>
        </p:nvPicPr>
        <p:blipFill rotWithShape="1">
          <a:blip r:embed="rId5">
            <a:alphaModFix/>
          </a:blip>
          <a:srcRect b="0" l="15631" r="39436" t="0"/>
          <a:stretch/>
        </p:blipFill>
        <p:spPr>
          <a:xfrm>
            <a:off x="6620028" y="2174600"/>
            <a:ext cx="1236126" cy="671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8" name="Google Shape;928;p75"/>
          <p:cNvGrpSpPr/>
          <p:nvPr/>
        </p:nvGrpSpPr>
        <p:grpSpPr>
          <a:xfrm>
            <a:off x="1032428" y="3035100"/>
            <a:ext cx="2190674" cy="980100"/>
            <a:chOff x="1032428" y="3035100"/>
            <a:chExt cx="2190674" cy="980100"/>
          </a:xfrm>
        </p:grpSpPr>
        <p:grpSp>
          <p:nvGrpSpPr>
            <p:cNvPr id="929" name="Google Shape;929;p75"/>
            <p:cNvGrpSpPr/>
            <p:nvPr/>
          </p:nvGrpSpPr>
          <p:grpSpPr>
            <a:xfrm>
              <a:off x="1032428" y="3035100"/>
              <a:ext cx="2190674" cy="980100"/>
              <a:chOff x="2451437" y="2259782"/>
              <a:chExt cx="4652100" cy="980100"/>
            </a:xfrm>
          </p:grpSpPr>
          <p:sp>
            <p:nvSpPr>
              <p:cNvPr id="930" name="Google Shape;930;p75"/>
              <p:cNvSpPr txBox="1"/>
              <p:nvPr/>
            </p:nvSpPr>
            <p:spPr>
              <a:xfrm>
                <a:off x="2451437" y="2259782"/>
                <a:ext cx="46521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r>
                  <a:rPr lang="en-GB" sz="55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31" name="Google Shape;931;p75"/>
              <p:cNvCxnSpPr/>
              <p:nvPr/>
            </p:nvCxnSpPr>
            <p:spPr>
              <a:xfrm>
                <a:off x="3726594" y="2614557"/>
                <a:ext cx="3168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32" name="Google Shape;932;p75"/>
            <p:cNvCxnSpPr/>
            <p:nvPr/>
          </p:nvCxnSpPr>
          <p:spPr>
            <a:xfrm rot="10800000">
              <a:off x="1655777" y="3380829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3" name="Google Shape;933;p75"/>
          <p:cNvGrpSpPr/>
          <p:nvPr/>
        </p:nvGrpSpPr>
        <p:grpSpPr>
          <a:xfrm>
            <a:off x="5623747" y="2929032"/>
            <a:ext cx="2190674" cy="980100"/>
            <a:chOff x="5623747" y="2929032"/>
            <a:chExt cx="2190674" cy="980100"/>
          </a:xfrm>
        </p:grpSpPr>
        <p:grpSp>
          <p:nvGrpSpPr>
            <p:cNvPr id="934" name="Google Shape;934;p75"/>
            <p:cNvGrpSpPr/>
            <p:nvPr/>
          </p:nvGrpSpPr>
          <p:grpSpPr>
            <a:xfrm>
              <a:off x="5623747" y="2929032"/>
              <a:ext cx="2190674" cy="980100"/>
              <a:chOff x="2491293" y="2241014"/>
              <a:chExt cx="4652100" cy="980100"/>
            </a:xfrm>
          </p:grpSpPr>
          <p:sp>
            <p:nvSpPr>
              <p:cNvPr id="935" name="Google Shape;935;p75"/>
              <p:cNvSpPr txBox="1"/>
              <p:nvPr/>
            </p:nvSpPr>
            <p:spPr>
              <a:xfrm>
                <a:off x="2491293" y="2241014"/>
                <a:ext cx="46521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 sz="55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36" name="Google Shape;936;p75"/>
              <p:cNvCxnSpPr/>
              <p:nvPr/>
            </p:nvCxnSpPr>
            <p:spPr>
              <a:xfrm>
                <a:off x="3726594" y="2595789"/>
                <a:ext cx="3168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37" name="Google Shape;937;p75"/>
            <p:cNvCxnSpPr/>
            <p:nvPr/>
          </p:nvCxnSpPr>
          <p:spPr>
            <a:xfrm rot="10800000">
              <a:off x="6224416" y="3268574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6"/>
          <p:cNvSpPr txBox="1"/>
          <p:nvPr>
            <p:ph idx="1" type="body"/>
          </p:nvPr>
        </p:nvSpPr>
        <p:spPr>
          <a:xfrm>
            <a:off x="312661" y="911700"/>
            <a:ext cx="8496000" cy="8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short division is a fantastic way to find the decimal form of a fraction whether it is terminating or </a:t>
            </a:r>
            <a:r>
              <a:rPr b="1" lang="en-GB"/>
              <a:t>recurring</a:t>
            </a:r>
            <a:r>
              <a:rPr lang="en-GB"/>
              <a:t>.</a:t>
            </a:r>
            <a:endParaRPr/>
          </a:p>
        </p:txBody>
      </p:sp>
      <p:sp>
        <p:nvSpPr>
          <p:cNvPr id="943" name="Google Shape;94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944" name="Google Shape;944;p76"/>
          <p:cNvSpPr txBox="1"/>
          <p:nvPr>
            <p:ph idx="1" type="body"/>
          </p:nvPr>
        </p:nvSpPr>
        <p:spPr>
          <a:xfrm>
            <a:off x="312661" y="2054700"/>
            <a:ext cx="8237700" cy="8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if we simply need to recognise if a fraction is </a:t>
            </a:r>
            <a:r>
              <a:rPr lang="en-GB"/>
              <a:t>equivalent</a:t>
            </a:r>
            <a:r>
              <a:rPr lang="en-GB"/>
              <a:t> to a </a:t>
            </a:r>
            <a:r>
              <a:rPr b="1" lang="en-GB"/>
              <a:t>recurring decimal</a:t>
            </a:r>
            <a:r>
              <a:rPr lang="en-GB"/>
              <a:t>, we can use knowledge of prime factors to identify if it is a terminating or </a:t>
            </a:r>
            <a:r>
              <a:rPr b="1" lang="en-GB"/>
              <a:t>recurring decimal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950" name="Google Shape;950;p77"/>
          <p:cNvSpPr txBox="1"/>
          <p:nvPr/>
        </p:nvSpPr>
        <p:spPr>
          <a:xfrm>
            <a:off x="247800" y="810000"/>
            <a:ext cx="87963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simplified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 gives a terminating decimal when the denominator has prime factors of 2 and/or 5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only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/>
          </a:p>
        </p:txBody>
      </p:sp>
      <p:sp>
        <p:nvSpPr>
          <p:cNvPr id="951" name="Google Shape;951;p77"/>
          <p:cNvSpPr txBox="1"/>
          <p:nvPr/>
        </p:nvSpPr>
        <p:spPr>
          <a:xfrm>
            <a:off x="247800" y="1700700"/>
            <a:ext cx="86643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 a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simplified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 gives a </a:t>
            </a: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 denominator has prime factors of any other prime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900"/>
          </a:p>
        </p:txBody>
      </p:sp>
      <p:sp>
        <p:nvSpPr>
          <p:cNvPr id="952" name="Google Shape;952;p77"/>
          <p:cNvSpPr txBox="1"/>
          <p:nvPr/>
        </p:nvSpPr>
        <p:spPr>
          <a:xfrm>
            <a:off x="1213009" y="2752500"/>
            <a:ext cx="14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/>
          </a:p>
        </p:txBody>
      </p:sp>
      <p:sp>
        <p:nvSpPr>
          <p:cNvPr id="953" name="Google Shape;953;p77"/>
          <p:cNvSpPr txBox="1"/>
          <p:nvPr/>
        </p:nvSpPr>
        <p:spPr>
          <a:xfrm>
            <a:off x="3854609" y="2752500"/>
            <a:ext cx="14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/>
          </a:p>
        </p:txBody>
      </p:sp>
      <p:sp>
        <p:nvSpPr>
          <p:cNvPr id="954" name="Google Shape;954;p77"/>
          <p:cNvSpPr txBox="1"/>
          <p:nvPr/>
        </p:nvSpPr>
        <p:spPr>
          <a:xfrm>
            <a:off x="6572409" y="2752500"/>
            <a:ext cx="14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7\times11}&quot;&gt;&lt;mfrac&gt;&lt;mn&gt;1&lt;/mn&gt;&lt;mrow&gt;&lt;mn&gt;7&lt;/mn&gt;&lt;mo&gt;×&lt;/mo&gt;&lt;mn&gt;11&lt;/mn&gt;&lt;/mrow&gt;&lt;/mfrac&gt;&lt;/math&gt;" id="955" name="Google Shape;955;p77" title="the fraction with numerator 1 and denominator 7 times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038" y="3324476"/>
            <a:ext cx="80436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77"/>
          <p:cNvSpPr txBox="1"/>
          <p:nvPr/>
        </p:nvSpPr>
        <p:spPr>
          <a:xfrm>
            <a:off x="774894" y="4153384"/>
            <a:ext cx="252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 </a:t>
            </a:r>
            <a:endParaRPr sz="1100"/>
          </a:p>
        </p:txBody>
      </p:sp>
      <p:pic>
        <p:nvPicPr>
          <p:cNvPr descr="&lt;math xmlns=&quot;http://www.w3.org/1998/Math/MathML&quot; display=&quot;block&quot; data-is-equatio=&quot;1&quot; data-latex=&quot;\frac{2}{13\times5^3}&quot;&gt;&lt;mfrac&gt;&lt;mn&gt;2&lt;/mn&gt;&lt;mrow&gt;&lt;mn&gt;13&lt;/mn&gt;&lt;mo&gt;×&lt;/mo&gt;&lt;msup&gt;&lt;mn&gt;5&lt;/mn&gt;&lt;mn&gt;3&lt;/mn&gt;&lt;/msup&gt;&lt;/mrow&gt;&lt;/mfrac&gt;&lt;/math&gt;" id="957" name="Google Shape;957;p77" title="the fraction with numerator 2 and denominator 13 times 5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6400" y="3301676"/>
            <a:ext cx="980738" cy="713697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7"/>
          <p:cNvSpPr txBox="1"/>
          <p:nvPr/>
        </p:nvSpPr>
        <p:spPr>
          <a:xfrm>
            <a:off x="3289494" y="4153384"/>
            <a:ext cx="252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decimal </a:t>
            </a:r>
            <a:endParaRPr sz="1100"/>
          </a:p>
        </p:txBody>
      </p:sp>
      <p:sp>
        <p:nvSpPr>
          <p:cNvPr id="959" name="Google Shape;959;p77"/>
          <p:cNvSpPr txBox="1"/>
          <p:nvPr/>
        </p:nvSpPr>
        <p:spPr>
          <a:xfrm>
            <a:off x="6108894" y="4153384"/>
            <a:ext cx="252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 </a:t>
            </a:r>
            <a:endParaRPr sz="1100"/>
          </a:p>
        </p:txBody>
      </p:sp>
      <p:pic>
        <p:nvPicPr>
          <p:cNvPr descr="&lt;math xmlns=&quot;http://www.w3.org/1998/Math/MathML&quot; display=&quot;block&quot; data-is-equatio=&quot;1&quot; data-latex=&quot;\frac{3}{2\times5^2}&quot;&gt;&lt;mfrac&gt;&lt;mn&gt;3&lt;/mn&gt;&lt;mrow&gt;&lt;mn&gt;2&lt;/mn&gt;&lt;mo&gt;×&lt;/mo&gt;&lt;msup&gt;&lt;mn&gt;5&lt;/mn&gt;&lt;mn&gt;2&lt;/mn&gt;&lt;/msup&gt;&lt;/mrow&gt;&lt;/mfrac&gt;&lt;/math&gt;" id="960" name="Google Shape;960;p77" title="the fraction with numerator 3 and denominator 2 times 5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6675" y="3311300"/>
            <a:ext cx="804350" cy="6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8"/>
          <p:cNvSpPr txBox="1"/>
          <p:nvPr>
            <p:ph idx="1" type="body"/>
          </p:nvPr>
        </p:nvSpPr>
        <p:spPr>
          <a:xfrm>
            <a:off x="324000" y="683100"/>
            <a:ext cx="8237700" cy="8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Put a tick in the correct column to identify if the fraction is </a:t>
            </a:r>
            <a:r>
              <a:rPr lang="en-GB" sz="2000"/>
              <a:t>equivalent</a:t>
            </a:r>
            <a:r>
              <a:rPr lang="en-GB" sz="2000"/>
              <a:t> to a terminating decimal or </a:t>
            </a:r>
            <a:r>
              <a:rPr b="1" lang="en-GB" sz="2000"/>
              <a:t>recurring decimal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graphicFrame>
        <p:nvGraphicFramePr>
          <p:cNvPr id="967" name="Google Shape;967;p78"/>
          <p:cNvGraphicFramePr/>
          <p:nvPr/>
        </p:nvGraphicFramePr>
        <p:xfrm>
          <a:off x="896950" y="150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{EC9C1D95-0268-4F40-B24B-12B4A212E599}</a:tableStyleId>
              </a:tblPr>
              <a:tblGrid>
                <a:gridCol w="1321250"/>
                <a:gridCol w="2887200"/>
                <a:gridCol w="2887200"/>
              </a:tblGrid>
              <a:tr h="76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Equivalent to a recurring 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Equivalent to a terminating 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6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9}\ \ \ \frac{1}{11}\ \ \ \ \frac{5}{36}\ \ \frac{3}{6}&quot;&gt;&lt;mfrac&gt;&lt;mn&gt;1&lt;/mn&gt;&lt;mn&gt;9&lt;/mn&gt;&lt;/mfrac&gt;&lt;mtext&gt;&lt;/mtext&gt;&lt;mtext&gt;&lt;/mtext&gt;&lt;mtext&gt;&lt;/mtext&gt;&lt;mfrac&gt;&lt;mn&gt;1&lt;/mn&gt;&lt;mn&gt;11&lt;/mn&gt;&lt;/mfrac&gt;&lt;mtext&gt;&lt;/mtext&gt;&lt;mtext&gt;&lt;/mtext&gt;&lt;mtext&gt;&lt;/mtext&gt;&lt;mtext&gt;&lt;/mtext&gt;&lt;mfrac&gt;&lt;mn&gt;5&lt;/mn&gt;&lt;mn&gt;36&lt;/mn&gt;&lt;/mfrac&gt;&lt;mtext&gt;&lt;/mtext&gt;&lt;mtext&gt;&lt;/mtext&gt;&lt;mfrac&gt;&lt;mn&gt;3&lt;/mn&gt;&lt;mn&gt;6&lt;/mn&gt;&lt;/mfrac&gt;&lt;/math&gt;" id="968" name="Google Shape;968;p78" title="one ninth 1 over 11 5 over 36 three sixths"/>
          <p:cNvPicPr preferRelativeResize="0"/>
          <p:nvPr/>
        </p:nvPicPr>
        <p:blipFill rotWithShape="1">
          <a:blip r:embed="rId3">
            <a:alphaModFix/>
          </a:blip>
          <a:srcRect b="0" l="0" r="80000" t="0"/>
          <a:stretch/>
        </p:blipFill>
        <p:spPr>
          <a:xfrm>
            <a:off x="1453550" y="2325625"/>
            <a:ext cx="305850" cy="4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 \ \ \frac{1}{11}\ \ \ \ \frac{5}{36}\ \ \frac{3}{6}&quot;&gt;&lt;mfrac&gt;&lt;mn&gt;1&lt;/mn&gt;&lt;mn&gt;9&lt;/mn&gt;&lt;/mfrac&gt;&lt;mtext&gt;&lt;/mtext&gt;&lt;mtext&gt;&lt;/mtext&gt;&lt;mtext&gt;&lt;/mtext&gt;&lt;mfrac&gt;&lt;mn&gt;1&lt;/mn&gt;&lt;mn&gt;11&lt;/mn&gt;&lt;/mfrac&gt;&lt;mtext&gt;&lt;/mtext&gt;&lt;mtext&gt;&lt;/mtext&gt;&lt;mtext&gt;&lt;/mtext&gt;&lt;mtext&gt;&lt;/mtext&gt;&lt;mfrac&gt;&lt;mn&gt;5&lt;/mn&gt;&lt;mn&gt;36&lt;/mn&gt;&lt;/mfrac&gt;&lt;mtext&gt;&lt;/mtext&gt;&lt;mtext&gt;&lt;/mtext&gt;&lt;mfrac&gt;&lt;mn&gt;3&lt;/mn&gt;&lt;mn&gt;6&lt;/mn&gt;&lt;/mfrac&gt;&lt;/math&gt;" id="969" name="Google Shape;969;p78" title="one ninth 1 over 11 5 over 36 three sixths"/>
          <p:cNvPicPr preferRelativeResize="0"/>
          <p:nvPr/>
        </p:nvPicPr>
        <p:blipFill rotWithShape="1">
          <a:blip r:embed="rId3">
            <a:alphaModFix/>
          </a:blip>
          <a:srcRect b="0" l="17436" r="45565" t="0"/>
          <a:stretch/>
        </p:blipFill>
        <p:spPr>
          <a:xfrm>
            <a:off x="1259575" y="2937325"/>
            <a:ext cx="565825" cy="4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 \ \ \frac{1}{11}\ \ \ \ \frac{5}{36}\ \ \frac{3}{6}&quot;&gt;&lt;mfrac&gt;&lt;mn&gt;1&lt;/mn&gt;&lt;mn&gt;9&lt;/mn&gt;&lt;/mfrac&gt;&lt;mtext&gt;&lt;/mtext&gt;&lt;mtext&gt;&lt;/mtext&gt;&lt;mtext&gt;&lt;/mtext&gt;&lt;mfrac&gt;&lt;mn&gt;1&lt;/mn&gt;&lt;mn&gt;11&lt;/mn&gt;&lt;/mfrac&gt;&lt;mtext&gt;&lt;/mtext&gt;&lt;mtext&gt;&lt;/mtext&gt;&lt;mtext&gt;&lt;/mtext&gt;&lt;mtext&gt;&lt;/mtext&gt;&lt;mfrac&gt;&lt;mn&gt;5&lt;/mn&gt;&lt;mn&gt;36&lt;/mn&gt;&lt;/mfrac&gt;&lt;mtext&gt;&lt;/mtext&gt;&lt;mtext&gt;&lt;/mtext&gt;&lt;mfrac&gt;&lt;mn&gt;3&lt;/mn&gt;&lt;mn&gt;6&lt;/mn&gt;&lt;/mfrac&gt;&lt;/math&gt;" id="970" name="Google Shape;970;p78" title="one ninth 1 over 11 5 over 36 three sixths"/>
          <p:cNvPicPr preferRelativeResize="0"/>
          <p:nvPr/>
        </p:nvPicPr>
        <p:blipFill rotWithShape="1">
          <a:blip r:embed="rId3">
            <a:alphaModFix/>
          </a:blip>
          <a:srcRect b="0" l="54338" r="12978" t="0"/>
          <a:stretch/>
        </p:blipFill>
        <p:spPr>
          <a:xfrm>
            <a:off x="1259575" y="3533875"/>
            <a:ext cx="499826" cy="4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 \ \ \frac{1}{11}\ \ \ \ \frac{5}{36}\ \ \frac{3}{6}&quot;&gt;&lt;mfrac&gt;&lt;mn&gt;1&lt;/mn&gt;&lt;mn&gt;9&lt;/mn&gt;&lt;/mfrac&gt;&lt;mtext&gt;&lt;/mtext&gt;&lt;mtext&gt;&lt;/mtext&gt;&lt;mtext&gt;&lt;/mtext&gt;&lt;mfrac&gt;&lt;mn&gt;1&lt;/mn&gt;&lt;mn&gt;11&lt;/mn&gt;&lt;/mfrac&gt;&lt;mtext&gt;&lt;/mtext&gt;&lt;mtext&gt;&lt;/mtext&gt;&lt;mtext&gt;&lt;/mtext&gt;&lt;mtext&gt;&lt;/mtext&gt;&lt;mfrac&gt;&lt;mn&gt;5&lt;/mn&gt;&lt;mn&gt;36&lt;/mn&gt;&lt;/mfrac&gt;&lt;mtext&gt;&lt;/mtext&gt;&lt;mtext&gt;&lt;/mtext&gt;&lt;mfrac&gt;&lt;mn&gt;3&lt;/mn&gt;&lt;mn&gt;6&lt;/mn&gt;&lt;/mfrac&gt;&lt;/math&gt;" id="971" name="Google Shape;971;p78" title="one ninth 1 over 11 5 over 36 three sixths"/>
          <p:cNvPicPr preferRelativeResize="0"/>
          <p:nvPr/>
        </p:nvPicPr>
        <p:blipFill rotWithShape="1">
          <a:blip r:embed="rId3">
            <a:alphaModFix/>
          </a:blip>
          <a:srcRect b="0" l="85547" r="0" t="0"/>
          <a:stretch/>
        </p:blipFill>
        <p:spPr>
          <a:xfrm>
            <a:off x="1372732" y="4158725"/>
            <a:ext cx="221025" cy="4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933" y="23256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933" y="29738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933" y="36221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183" y="41952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475" y="752562"/>
            <a:ext cx="2904551" cy="270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1838" y="650450"/>
            <a:ext cx="2969412" cy="2907469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9"/>
          <p:cNvSpPr txBox="1"/>
          <p:nvPr>
            <p:ph idx="1" type="body"/>
          </p:nvPr>
        </p:nvSpPr>
        <p:spPr>
          <a:xfrm>
            <a:off x="303575" y="1731588"/>
            <a:ext cx="16629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</a:t>
            </a:r>
            <a:r>
              <a:rPr lang="en-GB" sz="1800"/>
              <a:t> says </a:t>
            </a:r>
            <a:endParaRPr sz="1800"/>
          </a:p>
        </p:txBody>
      </p:sp>
      <p:sp>
        <p:nvSpPr>
          <p:cNvPr id="983" name="Google Shape;98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984" name="Google Shape;984;p79"/>
          <p:cNvSpPr txBox="1"/>
          <p:nvPr/>
        </p:nvSpPr>
        <p:spPr>
          <a:xfrm>
            <a:off x="324000" y="3440900"/>
            <a:ext cx="83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 one person is correct and the other is incorrect?</a:t>
            </a:r>
            <a:endParaRPr sz="1800"/>
          </a:p>
        </p:txBody>
      </p:sp>
      <p:pic>
        <p:nvPicPr>
          <p:cNvPr id="985" name="Google Shape;98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03566" y="2091000"/>
            <a:ext cx="1209222" cy="12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0250" y="2032600"/>
            <a:ext cx="1209224" cy="1170211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9"/>
          <p:cNvSpPr txBox="1"/>
          <p:nvPr>
            <p:ph idx="1" type="body"/>
          </p:nvPr>
        </p:nvSpPr>
        <p:spPr>
          <a:xfrm>
            <a:off x="7670750" y="1655400"/>
            <a:ext cx="11286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</a:t>
            </a:r>
            <a:r>
              <a:rPr lang="en-GB" sz="1800"/>
              <a:t>says </a:t>
            </a:r>
            <a:endParaRPr sz="1800"/>
          </a:p>
        </p:txBody>
      </p:sp>
      <p:grpSp>
        <p:nvGrpSpPr>
          <p:cNvPr id="988" name="Google Shape;988;p79"/>
          <p:cNvGrpSpPr/>
          <p:nvPr/>
        </p:nvGrpSpPr>
        <p:grpSpPr>
          <a:xfrm>
            <a:off x="328650" y="3856200"/>
            <a:ext cx="7982700" cy="1015800"/>
            <a:chOff x="328650" y="3856200"/>
            <a:chExt cx="7982700" cy="1015800"/>
          </a:xfrm>
        </p:grpSpPr>
        <p:sp>
          <p:nvSpPr>
            <p:cNvPr id="989" name="Google Shape;989;p79"/>
            <p:cNvSpPr txBox="1"/>
            <p:nvPr/>
          </p:nvSpPr>
          <p:spPr>
            <a:xfrm>
              <a:off x="328650" y="3856200"/>
              <a:ext cx="7982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Sofia is correct and Izzy is incorrect. The </a:t>
              </a: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fraction     is in its simplest form. </a:t>
              </a:r>
              <a:endPara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     Simplified is    . This means      is equivalent to a terminating decimal.</a:t>
              </a:r>
              <a:endPara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3}\ \ \ \ \frac{1}{3}&quot;&gt;&lt;mfrac&gt;&lt;mn&gt;2&lt;/mn&gt;&lt;mn&gt;3&lt;/mn&gt;&lt;/mfrac&gt;&lt;mtext&gt;&lt;/mtext&gt;&lt;mtext&gt;&lt;/mtext&gt;&lt;mtext&gt;&lt;/mtext&gt;&lt;mtext&gt;&lt;/mtext&gt;&lt;mfrac&gt;&lt;mn&gt;1&lt;/mn&gt;&lt;mn&gt;3&lt;/mn&gt;&lt;/mfrac&gt;&lt;/math&gt;" id="990" name="Google Shape;990;p79" title="two thirds one third"/>
            <p:cNvPicPr preferRelativeResize="0"/>
            <p:nvPr/>
          </p:nvPicPr>
          <p:blipFill rotWithShape="1">
            <a:blip r:embed="rId7">
              <a:alphaModFix/>
            </a:blip>
            <a:srcRect b="0" l="0" r="51305" t="0"/>
            <a:stretch/>
          </p:blipFill>
          <p:spPr>
            <a:xfrm>
              <a:off x="5411075" y="3856200"/>
              <a:ext cx="268512" cy="46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12}\ \frac{1}{12}&quot;&gt;&lt;mfrac&gt;&lt;mn&gt;3&lt;/mn&gt;&lt;mn&gt;12&lt;/mn&gt;&lt;/mfrac&gt;&lt;mtext&gt;&lt;/mtext&gt;&lt;mfrac&gt;&lt;mn&gt;1&lt;/mn&gt;&lt;mn&gt;12&lt;/mn&gt;&lt;/mfrac&gt;&lt;/math&gt;" id="991" name="Google Shape;991;p79" title="3 over 12 1 over 12"/>
            <p:cNvPicPr preferRelativeResize="0"/>
            <p:nvPr/>
          </p:nvPicPr>
          <p:blipFill rotWithShape="1">
            <a:blip r:embed="rId8">
              <a:alphaModFix/>
            </a:blip>
            <a:srcRect b="0" l="0" r="52414" t="0"/>
            <a:stretch/>
          </p:blipFill>
          <p:spPr>
            <a:xfrm>
              <a:off x="585175" y="4300239"/>
              <a:ext cx="301675" cy="474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92" name="Google Shape;992;p79" title="one fourt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75400" y="4290037"/>
              <a:ext cx="155377" cy="49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93" name="Google Shape;993;p79" title="one fourt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948383" y="4290037"/>
              <a:ext cx="155377" cy="495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0"/>
          <p:cNvSpPr txBox="1"/>
          <p:nvPr>
            <p:ph idx="1" type="body"/>
          </p:nvPr>
        </p:nvSpPr>
        <p:spPr>
          <a:xfrm>
            <a:off x="324000" y="759300"/>
            <a:ext cx="7956300" cy="6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correctly notated </a:t>
            </a:r>
            <a:r>
              <a:rPr b="1" lang="en-GB"/>
              <a:t>recurring decimal</a:t>
            </a:r>
            <a:r>
              <a:rPr lang="en-GB"/>
              <a:t> with the decimal form.</a:t>
            </a:r>
            <a:endParaRPr/>
          </a:p>
        </p:txBody>
      </p:sp>
      <p:sp>
        <p:nvSpPr>
          <p:cNvPr id="999" name="Google Shape;999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00" name="Google Shape;1000;p8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26188" r="19645" t="29942"/>
          <a:stretch/>
        </p:blipFill>
        <p:spPr>
          <a:xfrm>
            <a:off x="4862092" y="1673287"/>
            <a:ext cx="1848400" cy="59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1" name="Google Shape;1001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26911" r="21355" t="29942"/>
          <a:stretch/>
        </p:blipFill>
        <p:spPr>
          <a:xfrm>
            <a:off x="4905104" y="4111651"/>
            <a:ext cx="19898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2" name="Google Shape;1002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20534" r="40976" t="0"/>
          <a:stretch/>
        </p:blipFill>
        <p:spPr>
          <a:xfrm>
            <a:off x="4957900" y="3609875"/>
            <a:ext cx="1480601" cy="39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3" name="Google Shape;1003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27323" r="20945" t="64971"/>
          <a:stretch/>
        </p:blipFill>
        <p:spPr>
          <a:xfrm>
            <a:off x="4865528" y="2880411"/>
            <a:ext cx="19898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04" name="Google Shape;1004;p8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26595" r="30018" t="68986"/>
          <a:stretch/>
        </p:blipFill>
        <p:spPr>
          <a:xfrm>
            <a:off x="4880669" y="2308636"/>
            <a:ext cx="1480600" cy="48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05" name="Google Shape;1005;p8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0" r="81550" t="29942"/>
          <a:stretch/>
        </p:blipFill>
        <p:spPr>
          <a:xfrm>
            <a:off x="2559525" y="2899513"/>
            <a:ext cx="629575" cy="59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6" name="Google Shape;1006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0" r="79465" t="29942"/>
          <a:stretch/>
        </p:blipFill>
        <p:spPr>
          <a:xfrm>
            <a:off x="2559525" y="2258144"/>
            <a:ext cx="789900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7" name="Google Shape;1007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0" r="88085" t="0"/>
          <a:stretch/>
        </p:blipFill>
        <p:spPr>
          <a:xfrm>
            <a:off x="2559525" y="1772400"/>
            <a:ext cx="458300" cy="39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08" name="Google Shape;1008;p8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-1303" r="79464" t="64971"/>
          <a:stretch/>
        </p:blipFill>
        <p:spPr>
          <a:xfrm>
            <a:off x="2512372" y="3530172"/>
            <a:ext cx="8400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09" name="Google Shape;1009;p8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0" r="81550" t="68986"/>
          <a:stretch/>
        </p:blipFill>
        <p:spPr>
          <a:xfrm>
            <a:off x="2559525" y="4228125"/>
            <a:ext cx="629575" cy="4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0"/>
          <p:cNvSpPr txBox="1"/>
          <p:nvPr/>
        </p:nvSpPr>
        <p:spPr>
          <a:xfrm>
            <a:off x="6318000" y="2445575"/>
            <a:ext cx="507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1"/>
          <p:cNvSpPr txBox="1"/>
          <p:nvPr>
            <p:ph idx="1" type="body"/>
          </p:nvPr>
        </p:nvSpPr>
        <p:spPr>
          <a:xfrm>
            <a:off x="324000" y="759300"/>
            <a:ext cx="82377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Using short division, identify the </a:t>
            </a:r>
            <a:r>
              <a:rPr b="1" lang="en-GB"/>
              <a:t>recurring decimal</a:t>
            </a:r>
            <a:r>
              <a:rPr lang="en-GB"/>
              <a:t> of the following fractions: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016" name="Google Shape;1016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017" name="Google Shape;1017;p81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3">
            <a:alphaModFix/>
          </a:blip>
          <a:srcRect b="0" l="0" r="81694" t="0"/>
          <a:stretch/>
        </p:blipFill>
        <p:spPr>
          <a:xfrm>
            <a:off x="834450" y="1715150"/>
            <a:ext cx="495275" cy="2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Circle the fractions which are equivalent to a </a:t>
            </a:r>
            <a:r>
              <a:rPr b="1" lang="en-GB"/>
              <a:t>recurring decimal.</a:t>
            </a:r>
            <a:endParaRPr b="1"/>
          </a:p>
        </p:txBody>
      </p:sp>
      <p:sp>
        <p:nvSpPr>
          <p:cNvPr id="1023" name="Google Shape;102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4" name="Google Shape;1024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0" r="93520" t="0"/>
          <a:stretch/>
        </p:blipFill>
        <p:spPr>
          <a:xfrm>
            <a:off x="955850" y="1845275"/>
            <a:ext cx="4776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5" name="Google Shape;1025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7498" r="83888" t="0"/>
          <a:stretch/>
        </p:blipFill>
        <p:spPr>
          <a:xfrm>
            <a:off x="1269849" y="335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6" name="Google Shape;1026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20555" r="70831" t="0"/>
          <a:stretch/>
        </p:blipFill>
        <p:spPr>
          <a:xfrm>
            <a:off x="2377949" y="173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7" name="Google Shape;1027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3622" l="30259" r="59440" t="-8881"/>
          <a:stretch/>
        </p:blipFill>
        <p:spPr>
          <a:xfrm>
            <a:off x="3195825" y="3335500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8" name="Google Shape;1028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45" l="42947" r="46752" t="-11258"/>
          <a:stretch/>
        </p:blipFill>
        <p:spPr>
          <a:xfrm>
            <a:off x="4093212" y="1640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29" name="Google Shape;1029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7518" l="56560" r="33140" t="-4985"/>
          <a:stretch/>
        </p:blipFill>
        <p:spPr>
          <a:xfrm>
            <a:off x="4911862" y="3144500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30" name="Google Shape;1030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69346" r="20353" t="-11245"/>
          <a:stretch/>
        </p:blipFill>
        <p:spPr>
          <a:xfrm>
            <a:off x="5821962" y="15446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31" name="Google Shape;1031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81293" r="8406" t="-11245"/>
          <a:stretch/>
        </p:blipFill>
        <p:spPr>
          <a:xfrm>
            <a:off x="6759937" y="3399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32" name="Google Shape;1032;p82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8881" l="91850" r="-2150" t="-13622"/>
          <a:stretch/>
        </p:blipFill>
        <p:spPr>
          <a:xfrm>
            <a:off x="7550712" y="1845275"/>
            <a:ext cx="699275" cy="10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3"/>
          <p:cNvSpPr txBox="1"/>
          <p:nvPr>
            <p:ph idx="1" type="body"/>
          </p:nvPr>
        </p:nvSpPr>
        <p:spPr>
          <a:xfrm>
            <a:off x="324000" y="759300"/>
            <a:ext cx="7629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correctly notated </a:t>
            </a:r>
            <a:r>
              <a:rPr b="1" lang="en-GB"/>
              <a:t>recurring decimal</a:t>
            </a:r>
            <a:r>
              <a:rPr lang="en-GB"/>
              <a:t> with the decimal form.</a:t>
            </a:r>
            <a:endParaRPr/>
          </a:p>
        </p:txBody>
      </p:sp>
      <p:sp>
        <p:nvSpPr>
          <p:cNvPr id="1038" name="Google Shape;1038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39" name="Google Shape;1039;p83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26188" r="19645" t="29942"/>
          <a:stretch/>
        </p:blipFill>
        <p:spPr>
          <a:xfrm>
            <a:off x="4862092" y="1673287"/>
            <a:ext cx="1848400" cy="59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0" name="Google Shape;1040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26911" r="21355" t="29942"/>
          <a:stretch/>
        </p:blipFill>
        <p:spPr>
          <a:xfrm>
            <a:off x="4905104" y="4111651"/>
            <a:ext cx="19898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1" name="Google Shape;1041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20534" r="40976" t="0"/>
          <a:stretch/>
        </p:blipFill>
        <p:spPr>
          <a:xfrm>
            <a:off x="4957900" y="3609875"/>
            <a:ext cx="1480601" cy="39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2" name="Google Shape;1042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27323" r="20945" t="64971"/>
          <a:stretch/>
        </p:blipFill>
        <p:spPr>
          <a:xfrm>
            <a:off x="4865528" y="2880411"/>
            <a:ext cx="19898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43" name="Google Shape;1043;p83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26595" r="30018" t="68986"/>
          <a:stretch/>
        </p:blipFill>
        <p:spPr>
          <a:xfrm>
            <a:off x="4880669" y="2308636"/>
            <a:ext cx="1480600" cy="48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44" name="Google Shape;1044;p83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0" r="81550" t="29942"/>
          <a:stretch/>
        </p:blipFill>
        <p:spPr>
          <a:xfrm>
            <a:off x="2559525" y="2899513"/>
            <a:ext cx="629575" cy="59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5" name="Google Shape;1045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0" r="79465" t="29942"/>
          <a:stretch/>
        </p:blipFill>
        <p:spPr>
          <a:xfrm>
            <a:off x="2559525" y="2258144"/>
            <a:ext cx="789900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6" name="Google Shape;1046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0" r="88085" t="0"/>
          <a:stretch/>
        </p:blipFill>
        <p:spPr>
          <a:xfrm>
            <a:off x="2559525" y="1772400"/>
            <a:ext cx="458300" cy="39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047" name="Google Shape;1047;p83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-1303" r="79464" t="64971"/>
          <a:stretch/>
        </p:blipFill>
        <p:spPr>
          <a:xfrm>
            <a:off x="2512372" y="3530172"/>
            <a:ext cx="840076" cy="5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048" name="Google Shape;1048;p83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0" r="81550" t="68986"/>
          <a:stretch/>
        </p:blipFill>
        <p:spPr>
          <a:xfrm>
            <a:off x="2559525" y="4228125"/>
            <a:ext cx="629575" cy="488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9" name="Google Shape;1049;p83"/>
          <p:cNvCxnSpPr/>
          <p:nvPr/>
        </p:nvCxnSpPr>
        <p:spPr>
          <a:xfrm>
            <a:off x="3094000" y="2046663"/>
            <a:ext cx="1787700" cy="168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83"/>
          <p:cNvCxnSpPr/>
          <p:nvPr/>
        </p:nvCxnSpPr>
        <p:spPr>
          <a:xfrm>
            <a:off x="3324704" y="2614851"/>
            <a:ext cx="1497600" cy="177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83"/>
          <p:cNvCxnSpPr>
            <a:endCxn id="1039" idx="1"/>
          </p:cNvCxnSpPr>
          <p:nvPr/>
        </p:nvCxnSpPr>
        <p:spPr>
          <a:xfrm flipH="1" rot="10800000">
            <a:off x="3278392" y="1972124"/>
            <a:ext cx="1583700" cy="118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83"/>
          <p:cNvCxnSpPr>
            <a:endCxn id="1042" idx="1"/>
          </p:cNvCxnSpPr>
          <p:nvPr/>
        </p:nvCxnSpPr>
        <p:spPr>
          <a:xfrm flipH="1" rot="10800000">
            <a:off x="3369728" y="3156311"/>
            <a:ext cx="1495800" cy="72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83"/>
          <p:cNvCxnSpPr>
            <a:endCxn id="1043" idx="1"/>
          </p:cNvCxnSpPr>
          <p:nvPr/>
        </p:nvCxnSpPr>
        <p:spPr>
          <a:xfrm flipH="1" rot="10800000">
            <a:off x="3170069" y="2552912"/>
            <a:ext cx="1710600" cy="190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83"/>
          <p:cNvSpPr txBox="1"/>
          <p:nvPr/>
        </p:nvSpPr>
        <p:spPr>
          <a:xfrm>
            <a:off x="6318000" y="2445575"/>
            <a:ext cx="507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Using short division, identify the </a:t>
            </a:r>
            <a:r>
              <a:rPr b="1" lang="en-GB"/>
              <a:t>recurring decimal</a:t>
            </a:r>
            <a:r>
              <a:rPr lang="en-GB"/>
              <a:t> of the following fractions: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3 lines Line 1: one ninth equals the repeating decimal 0 point followed by repeating digit 1 Line 2: five ninths equals the repeating decimal 0 point followed by repeating digit 5 Line 3: 1 over 24 equals the repeating decimal 0.041 followed by repeating digit 6&#10;&#10;&lt;math xmlns=&quot;http://www.w3.org/1998/Math/MathML&quot; display=&quot;block&quot; data-is-equatio=&quot;1&quot; data-latex=&quot;\begin{array}{l}\frac{1}{9}=0.\dot{1}\\&amp;#13;&amp;#10;\frac{5}{9}=0.\dot{5}\\&amp;#13;&amp;#10;\frac{1}{24}=0.041\dot{6}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1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060" name="Google Shape;1060;p84"/>
          <p:cNvPicPr preferRelativeResize="0"/>
          <p:nvPr/>
        </p:nvPicPr>
        <p:blipFill rotWithShape="1">
          <a:blip r:embed="rId3">
            <a:alphaModFix/>
          </a:blip>
          <a:srcRect b="75219" l="14690" r="14648" t="0"/>
          <a:stretch/>
        </p:blipFill>
        <p:spPr>
          <a:xfrm>
            <a:off x="1199124" y="1817017"/>
            <a:ext cx="1527800" cy="5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062" name="Google Shape;1062;p84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4">
            <a:alphaModFix/>
          </a:blip>
          <a:srcRect b="0" l="0" r="81694" t="0"/>
          <a:stretch/>
        </p:blipFill>
        <p:spPr>
          <a:xfrm>
            <a:off x="834450" y="1715150"/>
            <a:ext cx="495275" cy="268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063" name="Google Shape;1063;p84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4">
            <a:alphaModFix/>
          </a:blip>
          <a:srcRect b="41262" l="13602" r="17029" t="34375"/>
          <a:stretch/>
        </p:blipFill>
        <p:spPr>
          <a:xfrm>
            <a:off x="1207100" y="2793300"/>
            <a:ext cx="1527800" cy="5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064" name="Google Shape;1064;p84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4">
            <a:alphaModFix/>
          </a:blip>
          <a:srcRect b="2499" l="22597" r="-12090" t="73139"/>
          <a:stretch/>
        </p:blipFill>
        <p:spPr>
          <a:xfrm>
            <a:off x="1398575" y="3777125"/>
            <a:ext cx="1971025" cy="5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Circle the fractions which are equivalent to a </a:t>
            </a:r>
            <a:r>
              <a:rPr b="1" lang="en-GB"/>
              <a:t>recurring decimal.</a:t>
            </a:r>
            <a:endParaRPr b="1"/>
          </a:p>
        </p:txBody>
      </p:sp>
      <p:sp>
        <p:nvSpPr>
          <p:cNvPr id="1070" name="Google Shape;107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1" name="Google Shape;1071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0" r="93520" t="0"/>
          <a:stretch/>
        </p:blipFill>
        <p:spPr>
          <a:xfrm>
            <a:off x="955850" y="1845275"/>
            <a:ext cx="4776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2" name="Google Shape;1072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7498" r="83888" t="0"/>
          <a:stretch/>
        </p:blipFill>
        <p:spPr>
          <a:xfrm>
            <a:off x="1269849" y="335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3" name="Google Shape;1073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20555" r="70831" t="0"/>
          <a:stretch/>
        </p:blipFill>
        <p:spPr>
          <a:xfrm>
            <a:off x="2377949" y="173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4" name="Google Shape;1074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3622" l="30259" r="59440" t="-8881"/>
          <a:stretch/>
        </p:blipFill>
        <p:spPr>
          <a:xfrm>
            <a:off x="3195825" y="3335500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5" name="Google Shape;1075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45" l="42947" r="46752" t="-11258"/>
          <a:stretch/>
        </p:blipFill>
        <p:spPr>
          <a:xfrm>
            <a:off x="4093212" y="1640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6" name="Google Shape;1076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7518" l="56560" r="33140" t="-4985"/>
          <a:stretch/>
        </p:blipFill>
        <p:spPr>
          <a:xfrm>
            <a:off x="4911862" y="3144500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7" name="Google Shape;1077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69346" r="20353" t="-11245"/>
          <a:stretch/>
        </p:blipFill>
        <p:spPr>
          <a:xfrm>
            <a:off x="5821962" y="15446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8" name="Google Shape;1078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81293" r="8406" t="-11245"/>
          <a:stretch/>
        </p:blipFill>
        <p:spPr>
          <a:xfrm>
            <a:off x="6759937" y="3399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79" name="Google Shape;1079;p85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8881" l="91850" r="-2150" t="-13622"/>
          <a:stretch/>
        </p:blipFill>
        <p:spPr>
          <a:xfrm>
            <a:off x="7550712" y="1845275"/>
            <a:ext cx="699275" cy="10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5"/>
          <p:cNvSpPr/>
          <p:nvPr/>
        </p:nvSpPr>
        <p:spPr>
          <a:xfrm>
            <a:off x="2083025" y="1499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5"/>
          <p:cNvSpPr/>
          <p:nvPr/>
        </p:nvSpPr>
        <p:spPr>
          <a:xfrm>
            <a:off x="1147300" y="3119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5"/>
          <p:cNvSpPr/>
          <p:nvPr/>
        </p:nvSpPr>
        <p:spPr>
          <a:xfrm>
            <a:off x="4771138" y="3004225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5"/>
          <p:cNvSpPr/>
          <p:nvPr/>
        </p:nvSpPr>
        <p:spPr>
          <a:xfrm>
            <a:off x="6627888" y="3258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6"/>
          <p:cNvSpPr txBox="1"/>
          <p:nvPr>
            <p:ph idx="1" type="body"/>
          </p:nvPr>
        </p:nvSpPr>
        <p:spPr>
          <a:xfrm>
            <a:off x="324000" y="759300"/>
            <a:ext cx="8237700" cy="7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Circle the fractions which are equivalent to a </a:t>
            </a:r>
            <a:r>
              <a:rPr b="1" lang="en-GB"/>
              <a:t>recurring decimal.</a:t>
            </a:r>
            <a:endParaRPr b="1"/>
          </a:p>
        </p:txBody>
      </p:sp>
      <p:sp>
        <p:nvSpPr>
          <p:cNvPr id="1089" name="Google Shape;1089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recurring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0" name="Google Shape;1090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0" r="93520" t="0"/>
          <a:stretch/>
        </p:blipFill>
        <p:spPr>
          <a:xfrm>
            <a:off x="955850" y="1845275"/>
            <a:ext cx="4776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1" name="Google Shape;1091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7498" r="83888" t="0"/>
          <a:stretch/>
        </p:blipFill>
        <p:spPr>
          <a:xfrm>
            <a:off x="1269849" y="335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2" name="Google Shape;1092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0" l="20555" r="70831" t="0"/>
          <a:stretch/>
        </p:blipFill>
        <p:spPr>
          <a:xfrm>
            <a:off x="2377949" y="1735625"/>
            <a:ext cx="584701" cy="84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3" name="Google Shape;1093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45" l="42947" r="46752" t="-11258"/>
          <a:stretch/>
        </p:blipFill>
        <p:spPr>
          <a:xfrm>
            <a:off x="4093212" y="1640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4" name="Google Shape;1094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7518" l="56560" r="33140" t="-4985"/>
          <a:stretch/>
        </p:blipFill>
        <p:spPr>
          <a:xfrm>
            <a:off x="4911862" y="3144500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5" name="Google Shape;1095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69346" r="20353" t="-11245"/>
          <a:stretch/>
        </p:blipFill>
        <p:spPr>
          <a:xfrm>
            <a:off x="5821962" y="15446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6" name="Google Shape;1096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81293" r="8406" t="-11245"/>
          <a:stretch/>
        </p:blipFill>
        <p:spPr>
          <a:xfrm>
            <a:off x="6759937" y="3399125"/>
            <a:ext cx="699275" cy="103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097" name="Google Shape;1097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8881" l="91850" r="-2150" t="-13622"/>
          <a:stretch/>
        </p:blipFill>
        <p:spPr>
          <a:xfrm>
            <a:off x="7550712" y="1845275"/>
            <a:ext cx="699275" cy="10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6"/>
          <p:cNvSpPr/>
          <p:nvPr/>
        </p:nvSpPr>
        <p:spPr>
          <a:xfrm>
            <a:off x="2083025" y="1499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6"/>
          <p:cNvSpPr/>
          <p:nvPr/>
        </p:nvSpPr>
        <p:spPr>
          <a:xfrm>
            <a:off x="1147300" y="3119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6"/>
          <p:cNvSpPr/>
          <p:nvPr/>
        </p:nvSpPr>
        <p:spPr>
          <a:xfrm>
            <a:off x="4771138" y="3004225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6"/>
          <p:cNvSpPr/>
          <p:nvPr/>
        </p:nvSpPr>
        <p:spPr>
          <a:xfrm>
            <a:off x="6627888" y="3258850"/>
            <a:ext cx="980700" cy="1320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2" name="Google Shape;1102;p86"/>
          <p:cNvGrpSpPr/>
          <p:nvPr/>
        </p:nvGrpSpPr>
        <p:grpSpPr>
          <a:xfrm>
            <a:off x="581925" y="1450625"/>
            <a:ext cx="7695125" cy="3301600"/>
            <a:chOff x="581925" y="1450625"/>
            <a:chExt cx="7695125" cy="3301600"/>
          </a:xfrm>
        </p:grpSpPr>
        <p:sp>
          <p:nvSpPr>
            <p:cNvPr id="1103" name="Google Shape;1103;p86"/>
            <p:cNvSpPr/>
            <p:nvPr/>
          </p:nvSpPr>
          <p:spPr>
            <a:xfrm>
              <a:off x="581925" y="1450625"/>
              <a:ext cx="2551800" cy="3128400"/>
            </a:xfrm>
            <a:prstGeom prst="rect">
              <a:avLst/>
            </a:prstGeom>
            <a:solidFill>
              <a:srgbClr val="F3EEFB">
                <a:alpha val="7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6"/>
            <p:cNvSpPr/>
            <p:nvPr/>
          </p:nvSpPr>
          <p:spPr>
            <a:xfrm>
              <a:off x="3296100" y="1450625"/>
              <a:ext cx="1913700" cy="1369500"/>
            </a:xfrm>
            <a:prstGeom prst="rect">
              <a:avLst/>
            </a:prstGeom>
            <a:solidFill>
              <a:srgbClr val="F3EEFB">
                <a:alpha val="7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6"/>
            <p:cNvSpPr/>
            <p:nvPr/>
          </p:nvSpPr>
          <p:spPr>
            <a:xfrm>
              <a:off x="4499975" y="2885025"/>
              <a:ext cx="3777000" cy="1867200"/>
            </a:xfrm>
            <a:prstGeom prst="rect">
              <a:avLst/>
            </a:prstGeom>
            <a:solidFill>
              <a:srgbClr val="F3EEFB">
                <a:alpha val="7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6"/>
            <p:cNvSpPr/>
            <p:nvPr/>
          </p:nvSpPr>
          <p:spPr>
            <a:xfrm>
              <a:off x="7346150" y="1450625"/>
              <a:ext cx="930900" cy="1434300"/>
            </a:xfrm>
            <a:prstGeom prst="rect">
              <a:avLst/>
            </a:prstGeom>
            <a:solidFill>
              <a:srgbClr val="F3EEFB">
                <a:alpha val="7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107" name="Google Shape;1107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3622" l="30259" r="59440" t="-8881"/>
          <a:stretch/>
        </p:blipFill>
        <p:spPr>
          <a:xfrm>
            <a:off x="3195825" y="3335500"/>
            <a:ext cx="699275" cy="10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6"/>
          <p:cNvSpPr/>
          <p:nvPr/>
        </p:nvSpPr>
        <p:spPr>
          <a:xfrm>
            <a:off x="6402450" y="1567675"/>
            <a:ext cx="2481900" cy="987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0}=\frac{3}{3\times2\times2\times5}=\frac{1}{2^2\times5}&quot;&gt;&lt;mfrac&gt;&lt;mn&gt;3&lt;/mn&gt;&lt;mn&gt;60&lt;/mn&gt;&lt;/mfrac&gt;&lt;mo&gt;=&lt;/mo&gt;&lt;mfrac&gt;&lt;mn&gt;3&lt;/mn&gt;&lt;mrow&gt;&lt;mn&gt;3&lt;/mn&gt;&lt;mo&gt;×&lt;/mo&gt;&lt;mn&gt;2&lt;/mn&gt;&lt;mo&gt;×&lt;/mo&gt;&lt;mn&gt;2&lt;/mn&gt;&lt;mo&gt;×&lt;/mo&gt;&lt;mn&gt;5&lt;/mn&gt;&lt;/mrow&gt;&lt;/mfrac&gt;&lt;mo&gt;=&lt;/mo&gt;&lt;mfrac&gt;&lt;mn&gt;1&lt;/mn&gt;&lt;mrow&gt;&lt;msup&gt;&lt;mn&gt;2&lt;/mn&gt;&lt;mn&gt;2&lt;/mn&gt;&lt;/msup&gt;&lt;mo&gt;×&lt;/mo&gt;&lt;mn&gt;5&lt;/mn&gt;&lt;/mrow&gt;&lt;/mfrac&gt;&lt;/math&gt;" id="1109" name="Google Shape;1109;p86" title="3 over 60 equals the fraction with numerator 3 and denominator 3 times 2 times 2 times 5 equals the fraction with numerator 1 and denominator 2 squared times 5"/>
          <p:cNvPicPr preferRelativeResize="0"/>
          <p:nvPr/>
        </p:nvPicPr>
        <p:blipFill rotWithShape="1">
          <a:blip r:embed="rId4">
            <a:alphaModFix/>
          </a:blip>
          <a:srcRect b="0" l="12109" r="31329" t="0"/>
          <a:stretch/>
        </p:blipFill>
        <p:spPr>
          <a:xfrm>
            <a:off x="6402443" y="1708850"/>
            <a:ext cx="2353456" cy="7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6"/>
          <p:cNvSpPr/>
          <p:nvPr/>
        </p:nvSpPr>
        <p:spPr>
          <a:xfrm>
            <a:off x="6402450" y="2523875"/>
            <a:ext cx="2481900" cy="987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0}=\frac{3}{3\times2\times2\times5}=\frac{1}{2^2\times5}&quot;&gt;&lt;mfrac&gt;&lt;mn&gt;3&lt;/mn&gt;&lt;mn&gt;60&lt;/mn&gt;&lt;/mfrac&gt;&lt;mo&gt;=&lt;/mo&gt;&lt;mfrac&gt;&lt;mn&gt;3&lt;/mn&gt;&lt;mrow&gt;&lt;mn&gt;3&lt;/mn&gt;&lt;mo&gt;×&lt;/mo&gt;&lt;mn&gt;2&lt;/mn&gt;&lt;mo&gt;×&lt;/mo&gt;&lt;mn&gt;2&lt;/mn&gt;&lt;mo&gt;×&lt;/mo&gt;&lt;mn&gt;5&lt;/mn&gt;&lt;/mrow&gt;&lt;/mfrac&gt;&lt;mo&gt;=&lt;/mo&gt;&lt;mfrac&gt;&lt;mn&gt;1&lt;/mn&gt;&lt;mrow&gt;&lt;msup&gt;&lt;mn&gt;2&lt;/mn&gt;&lt;mn&gt;2&lt;/mn&gt;&lt;/msup&gt;&lt;mo&gt;×&lt;/mo&gt;&lt;mn&gt;5&lt;/mn&gt;&lt;/mrow&gt;&lt;/mfrac&gt;&lt;/math&gt;" id="1111" name="Google Shape;1111;p86" title="3 over 60 equals the fraction with numerator 3 and denominator 3 times 2 times 2 times 5 equals the fraction with numerator 1 and denominator 2 squared times 5"/>
          <p:cNvPicPr preferRelativeResize="0"/>
          <p:nvPr/>
        </p:nvPicPr>
        <p:blipFill rotWithShape="1">
          <a:blip r:embed="rId4">
            <a:alphaModFix/>
          </a:blip>
          <a:srcRect b="0" l="67401" r="0" t="0"/>
          <a:stretch/>
        </p:blipFill>
        <p:spPr>
          <a:xfrm>
            <a:off x="6358114" y="2623250"/>
            <a:ext cx="1356401" cy="7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86"/>
          <p:cNvSpPr/>
          <p:nvPr/>
        </p:nvSpPr>
        <p:spPr>
          <a:xfrm>
            <a:off x="3828850" y="3425050"/>
            <a:ext cx="2931000" cy="987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12}=\frac{3\times3}{3\times2\times2}=\frac{3}{2^2}&quot;&gt;&lt;mfrac&gt;&lt;mn&gt;9&lt;/mn&gt;&lt;mn&gt;12&lt;/mn&gt;&lt;/mfrac&gt;&lt;mo&gt;=&lt;/mo&gt;&lt;mfrac&gt;&lt;mrow&gt;&lt;mn&gt;3&lt;/mn&gt;&lt;mo&gt;×&lt;/mo&gt;&lt;mn&gt;3&lt;/mn&gt;&lt;/mrow&gt;&lt;mrow&gt;&lt;mn&gt;3&lt;/mn&gt;&lt;mo&gt;×&lt;/mo&gt;&lt;mn&gt;2&lt;/mn&gt;&lt;mo&gt;×&lt;/mo&gt;&lt;mn&gt;2&lt;/mn&gt;&lt;/mrow&gt;&lt;/mfrac&gt;&lt;mo&gt;=&lt;/mo&gt;&lt;mfrac&gt;&lt;mn&gt;3&lt;/mn&gt;&lt;msup&gt;&lt;mn&gt;2&lt;/mn&gt;&lt;mn&gt;2&lt;/mn&gt;&lt;/msup&gt;&lt;/mfrac&gt;&lt;/math&gt;" id="1113" name="Google Shape;1113;p86" title="9 over 12 equals the fraction with numerator 3 times 3 and denominator 3 times 2 times 2 equals the fraction with numerator 3 and denominator 2 squared"/>
          <p:cNvPicPr preferRelativeResize="0"/>
          <p:nvPr/>
        </p:nvPicPr>
        <p:blipFill rotWithShape="1">
          <a:blip r:embed="rId5">
            <a:alphaModFix/>
          </a:blip>
          <a:srcRect b="0" l="16233" r="0" t="0"/>
          <a:stretch/>
        </p:blipFill>
        <p:spPr>
          <a:xfrm>
            <a:off x="3852326" y="3469959"/>
            <a:ext cx="2620420" cy="7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86"/>
          <p:cNvSpPr/>
          <p:nvPr/>
        </p:nvSpPr>
        <p:spPr>
          <a:xfrm>
            <a:off x="290400" y="1450625"/>
            <a:ext cx="2931000" cy="11727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6"/>
          <p:cNvSpPr/>
          <p:nvPr/>
        </p:nvSpPr>
        <p:spPr>
          <a:xfrm>
            <a:off x="118200" y="2623250"/>
            <a:ext cx="2970600" cy="2197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6"/>
          <p:cNvSpPr txBox="1"/>
          <p:nvPr/>
        </p:nvSpPr>
        <p:spPr>
          <a:xfrm>
            <a:off x="330450" y="1450625"/>
            <a:ext cx="28653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nd     are not simplified fractions.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117" name="Google Shape;1117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3622" l="30259" r="59440" t="-8881"/>
          <a:stretch/>
        </p:blipFill>
        <p:spPr>
          <a:xfrm>
            <a:off x="1147312" y="1570911"/>
            <a:ext cx="461339" cy="685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118" name="Google Shape;1118;p86" title="three fifths seven sixths six sevenths 9 over 12 twelve fifths 5 over 12 3 over 60 4 over 11 eleven fourths"/>
          <p:cNvPicPr preferRelativeResize="0"/>
          <p:nvPr/>
        </p:nvPicPr>
        <p:blipFill rotWithShape="1">
          <a:blip r:embed="rId3">
            <a:alphaModFix/>
          </a:blip>
          <a:srcRect b="-11258" l="69346" r="20353" t="-11245"/>
          <a:stretch/>
        </p:blipFill>
        <p:spPr>
          <a:xfrm>
            <a:off x="324010" y="1570925"/>
            <a:ext cx="461339" cy="68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6"/>
          <p:cNvSpPr txBox="1"/>
          <p:nvPr/>
        </p:nvSpPr>
        <p:spPr>
          <a:xfrm>
            <a:off x="330450" y="2632825"/>
            <a:ext cx="2554800" cy="22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simplified their denominators only have prime factors of powers of 2 and/or 5 and so they will terminate.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recurring decimals</a:t>
            </a:r>
            <a:endParaRPr/>
          </a:p>
        </p:txBody>
      </p:sp>
      <p:sp>
        <p:nvSpPr>
          <p:cNvPr id="1125" name="Google Shape;1125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126" name="Google Shape;1126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pic>
        <p:nvPicPr>
          <p:cNvPr id="1127" name="Google Shape;112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1" y="298837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8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Scientific calculators are fantastic tools.</a:t>
            </a:r>
            <a:endParaRPr sz="2000"/>
          </a:p>
        </p:txBody>
      </p:sp>
      <p:sp>
        <p:nvSpPr>
          <p:cNvPr id="1133" name="Google Shape;113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134" name="Google Shape;1134;p88"/>
          <p:cNvSpPr txBox="1"/>
          <p:nvPr>
            <p:ph idx="1" type="body"/>
          </p:nvPr>
        </p:nvSpPr>
        <p:spPr>
          <a:xfrm>
            <a:off x="324000" y="1064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Casio fx 991 classwiz allows you to change the format of a number.</a:t>
            </a:r>
            <a:endParaRPr sz="2000"/>
          </a:p>
        </p:txBody>
      </p:sp>
      <p:pic>
        <p:nvPicPr>
          <p:cNvPr id="1135" name="Google Shape;113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975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8"/>
          <p:cNvSpPr txBox="1"/>
          <p:nvPr/>
        </p:nvSpPr>
        <p:spPr>
          <a:xfrm>
            <a:off x="4856525" y="1935900"/>
            <a:ext cx="36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let’s input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137" name="Google Shape;1137;p88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175" y="2407975"/>
            <a:ext cx="19084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8"/>
          <p:cNvSpPr txBox="1"/>
          <p:nvPr/>
        </p:nvSpPr>
        <p:spPr>
          <a:xfrm>
            <a:off x="4856525" y="2469300"/>
            <a:ext cx="36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/>
          </a:p>
        </p:txBody>
      </p:sp>
      <p:sp>
        <p:nvSpPr>
          <p:cNvPr id="1139" name="Google Shape;1139;p88"/>
          <p:cNvSpPr txBox="1"/>
          <p:nvPr/>
        </p:nvSpPr>
        <p:spPr>
          <a:xfrm>
            <a:off x="4856525" y="3002700"/>
            <a:ext cx="428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it into decimal form</a:t>
            </a:r>
            <a:endParaRPr/>
          </a:p>
        </p:txBody>
      </p:sp>
      <p:sp>
        <p:nvSpPr>
          <p:cNvPr id="1140" name="Google Shape;1140;p88"/>
          <p:cNvSpPr txBox="1"/>
          <p:nvPr/>
        </p:nvSpPr>
        <p:spPr>
          <a:xfrm>
            <a:off x="5360625" y="2469300"/>
            <a:ext cx="332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/>
          </a:p>
        </p:txBody>
      </p:sp>
      <p:sp>
        <p:nvSpPr>
          <p:cNvPr id="1141" name="Google Shape;1141;p88"/>
          <p:cNvSpPr txBox="1"/>
          <p:nvPr/>
        </p:nvSpPr>
        <p:spPr>
          <a:xfrm>
            <a:off x="6820450" y="2469300"/>
            <a:ext cx="201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" name="Google Shape;114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975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id="1148" name="Google Shape;114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072" y="2176125"/>
            <a:ext cx="19526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89"/>
          <p:cNvSpPr txBox="1"/>
          <p:nvPr/>
        </p:nvSpPr>
        <p:spPr>
          <a:xfrm>
            <a:off x="4885900" y="1526000"/>
            <a:ext cx="26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/>
          </a:p>
        </p:txBody>
      </p:sp>
      <p:pic>
        <p:nvPicPr>
          <p:cNvPr id="1150" name="Google Shape;1150;p89"/>
          <p:cNvPicPr preferRelativeResize="0"/>
          <p:nvPr/>
        </p:nvPicPr>
        <p:blipFill rotWithShape="1">
          <a:blip r:embed="rId5">
            <a:alphaModFix/>
          </a:blip>
          <a:srcRect b="-7545" l="-3550" r="3550" t="10430"/>
          <a:stretch/>
        </p:blipFill>
        <p:spPr>
          <a:xfrm>
            <a:off x="2381900" y="1814275"/>
            <a:ext cx="1570675" cy="7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89"/>
          <p:cNvSpPr txBox="1"/>
          <p:nvPr/>
        </p:nvSpPr>
        <p:spPr>
          <a:xfrm>
            <a:off x="4874916" y="2725713"/>
            <a:ext cx="394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to a decimal</a:t>
            </a:r>
            <a:endParaRPr/>
          </a:p>
        </p:txBody>
      </p:sp>
      <p:pic>
        <p:nvPicPr>
          <p:cNvPr id="1152" name="Google Shape;1152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9127" y="1731604"/>
            <a:ext cx="1570676" cy="7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8216" y="3350825"/>
            <a:ext cx="15335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89"/>
          <p:cNvPicPr preferRelativeResize="0"/>
          <p:nvPr/>
        </p:nvPicPr>
        <p:blipFill rotWithShape="1">
          <a:blip r:embed="rId8">
            <a:alphaModFix/>
          </a:blip>
          <a:srcRect b="1919" l="0" r="0" t="-1920"/>
          <a:stretch/>
        </p:blipFill>
        <p:spPr>
          <a:xfrm>
            <a:off x="2459106" y="1738702"/>
            <a:ext cx="1570700" cy="7178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9"/>
          <p:cNvSpPr txBox="1"/>
          <p:nvPr>
            <p:ph idx="1" type="body"/>
          </p:nvPr>
        </p:nvSpPr>
        <p:spPr>
          <a:xfrm>
            <a:off x="324000" y="1064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Casio fx 991 classwiz allows you to change the format of a number.</a:t>
            </a:r>
            <a:endParaRPr sz="2000"/>
          </a:p>
        </p:txBody>
      </p:sp>
      <p:sp>
        <p:nvSpPr>
          <p:cNvPr id="1156" name="Google Shape;1156;p89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Scientific calculators are fantastic tools.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162" name="Google Shape;1162;p90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Calculators are fantastic but it is important to remember they only have a limited number of digits. </a:t>
            </a:r>
            <a:endParaRPr b="1" sz="2000"/>
          </a:p>
        </p:txBody>
      </p:sp>
      <p:pic>
        <p:nvPicPr>
          <p:cNvPr id="1163" name="Google Shape;1163;p90"/>
          <p:cNvPicPr preferRelativeResize="0"/>
          <p:nvPr/>
        </p:nvPicPr>
        <p:blipFill rotWithShape="1">
          <a:blip r:embed="rId3">
            <a:alphaModFix/>
          </a:blip>
          <a:srcRect b="4315" l="0" r="0" t="0"/>
          <a:stretch/>
        </p:blipFill>
        <p:spPr>
          <a:xfrm>
            <a:off x="502628" y="3265743"/>
            <a:ext cx="2854100" cy="1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0"/>
          <p:cNvSpPr txBox="1"/>
          <p:nvPr>
            <p:ph idx="1" type="body"/>
          </p:nvPr>
        </p:nvSpPr>
        <p:spPr>
          <a:xfrm>
            <a:off x="324000" y="1673700"/>
            <a:ext cx="8237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65" name="Google Shape;1165;p90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307" y="2440050"/>
            <a:ext cx="195907" cy="6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90"/>
          <p:cNvSpPr txBox="1"/>
          <p:nvPr>
            <p:ph idx="1" type="body"/>
          </p:nvPr>
        </p:nvSpPr>
        <p:spPr>
          <a:xfrm>
            <a:off x="324000" y="21309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all the digits displayed on your calculator screen when</a:t>
            </a:r>
            <a:endParaRPr sz="2000"/>
          </a:p>
        </p:txBody>
      </p:sp>
      <p:sp>
        <p:nvSpPr>
          <p:cNvPr id="1167" name="Google Shape;1167;p90"/>
          <p:cNvSpPr txBox="1"/>
          <p:nvPr>
            <p:ph idx="1" type="body"/>
          </p:nvPr>
        </p:nvSpPr>
        <p:spPr>
          <a:xfrm>
            <a:off x="324000" y="2511900"/>
            <a:ext cx="1425300" cy="4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converting</a:t>
            </a:r>
            <a:endParaRPr sz="2000"/>
          </a:p>
        </p:txBody>
      </p:sp>
      <p:sp>
        <p:nvSpPr>
          <p:cNvPr id="1168" name="Google Shape;1168;p90"/>
          <p:cNvSpPr txBox="1"/>
          <p:nvPr>
            <p:ph idx="1" type="body"/>
          </p:nvPr>
        </p:nvSpPr>
        <p:spPr>
          <a:xfrm>
            <a:off x="2106225" y="2511900"/>
            <a:ext cx="6607800" cy="4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into a decimal.</a:t>
            </a:r>
            <a:endParaRPr sz="2000"/>
          </a:p>
        </p:txBody>
      </p:sp>
      <p:pic>
        <p:nvPicPr>
          <p:cNvPr id="1169" name="Google Shape;116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6683" y="3208628"/>
            <a:ext cx="4184067" cy="13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id="1175" name="Google Shape;1175;p91"/>
          <p:cNvPicPr preferRelativeResize="0"/>
          <p:nvPr/>
        </p:nvPicPr>
        <p:blipFill rotWithShape="1">
          <a:blip r:embed="rId3">
            <a:alphaModFix/>
          </a:blip>
          <a:srcRect b="4315" l="0" r="0" t="0"/>
          <a:stretch/>
        </p:blipFill>
        <p:spPr>
          <a:xfrm>
            <a:off x="502628" y="3265743"/>
            <a:ext cx="2854100" cy="1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1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Calculators are fantastic but it is important to remember they only have a limited number of digits. </a:t>
            </a:r>
            <a:endParaRPr b="1" sz="2000"/>
          </a:p>
        </p:txBody>
      </p:sp>
      <p:sp>
        <p:nvSpPr>
          <p:cNvPr id="1177" name="Google Shape;1177;p91"/>
          <p:cNvSpPr txBox="1"/>
          <p:nvPr>
            <p:ph idx="1" type="body"/>
          </p:nvPr>
        </p:nvSpPr>
        <p:spPr>
          <a:xfrm>
            <a:off x="324000" y="1673700"/>
            <a:ext cx="8237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For example,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all the digits displayed on your calculator screen when converting     into a decimal.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78" name="Google Shape;1178;p91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282" y="2484425"/>
            <a:ext cx="195907" cy="6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1"/>
          <p:cNvSpPr txBox="1"/>
          <p:nvPr>
            <p:ph idx="1" type="body"/>
          </p:nvPr>
        </p:nvSpPr>
        <p:spPr>
          <a:xfrm>
            <a:off x="3913250" y="3305325"/>
            <a:ext cx="4736700" cy="13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the calculator is limited to 12 digit display, the final digit is rounded.      It is a </a:t>
            </a:r>
            <a:r>
              <a:rPr b="1" lang="en-GB" sz="2000"/>
              <a:t>recurring decimal.</a:t>
            </a:r>
            <a:endParaRPr b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2"/>
          <p:cNvSpPr txBox="1"/>
          <p:nvPr>
            <p:ph idx="1" type="body"/>
          </p:nvPr>
        </p:nvSpPr>
        <p:spPr>
          <a:xfrm>
            <a:off x="400200" y="759300"/>
            <a:ext cx="21654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</a:t>
            </a:r>
            <a:endParaRPr/>
          </a:p>
        </p:txBody>
      </p:sp>
      <p:sp>
        <p:nvSpPr>
          <p:cNvPr id="1185" name="Google Shape;118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186" name="Google Shape;1186;p92"/>
          <p:cNvSpPr txBox="1"/>
          <p:nvPr/>
        </p:nvSpPr>
        <p:spPr>
          <a:xfrm>
            <a:off x="324000" y="1173075"/>
            <a:ext cx="8496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no button to press to show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fraction on the Casio Classwiz.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need to input the repeated digits a certain number of times for the equivalent fraction to appear.</a:t>
            </a:r>
            <a:endParaRPr/>
          </a:p>
        </p:txBody>
      </p:sp>
      <p:sp>
        <p:nvSpPr>
          <p:cNvPr id="1187" name="Google Shape;1187;p92"/>
          <p:cNvSpPr txBox="1"/>
          <p:nvPr/>
        </p:nvSpPr>
        <p:spPr>
          <a:xfrm>
            <a:off x="1162200" y="3017175"/>
            <a:ext cx="6700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minimum number of decimal places you need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press to get 0.16666… displayed as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1666...\ \ \ \frac{1}{6}&quot;&gt;&lt;mn&gt;0.1666&lt;/mn&gt;&lt;mo&gt;.&lt;/mo&gt;&lt;mo&gt;.&lt;/mo&gt;&lt;mo&gt;.&lt;/mo&gt;&lt;mtext&gt;&lt;/mtext&gt;&lt;mtext&gt;&lt;/mtext&gt;&lt;mtext&gt;&lt;/mtext&gt;&lt;mfrac&gt;&lt;mn&gt;1&lt;/mn&gt;&lt;mn&gt;6&lt;/mn&gt;&lt;/mfrac&gt;&lt;/math&gt;" id="1188" name="Google Shape;1188;p92" title="0.1666 period period period one sixth"/>
          <p:cNvPicPr preferRelativeResize="0"/>
          <p:nvPr/>
        </p:nvPicPr>
        <p:blipFill rotWithShape="1">
          <a:blip r:embed="rId3">
            <a:alphaModFix/>
          </a:blip>
          <a:srcRect b="0" l="84368" r="0" t="0"/>
          <a:stretch/>
        </p:blipFill>
        <p:spPr>
          <a:xfrm>
            <a:off x="1279000" y="3893800"/>
            <a:ext cx="217075" cy="58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92"/>
          <p:cNvSpPr txBox="1"/>
          <p:nvPr/>
        </p:nvSpPr>
        <p:spPr>
          <a:xfrm>
            <a:off x="1580600" y="3922413"/>
            <a:ext cx="35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you calculator?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3"/>
          <p:cNvSpPr txBox="1"/>
          <p:nvPr>
            <p:ph idx="1" type="body"/>
          </p:nvPr>
        </p:nvSpPr>
        <p:spPr>
          <a:xfrm>
            <a:off x="400200" y="683100"/>
            <a:ext cx="21654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</a:t>
            </a:r>
            <a:endParaRPr/>
          </a:p>
        </p:txBody>
      </p:sp>
      <p:graphicFrame>
        <p:nvGraphicFramePr>
          <p:cNvPr id="1195" name="Google Shape;1195;p93"/>
          <p:cNvGraphicFramePr/>
          <p:nvPr/>
        </p:nvGraphicFramePr>
        <p:xfrm>
          <a:off x="465850" y="120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{EC9C1D95-0268-4F40-B24B-12B4A212E599}</a:tableStyleId>
              </a:tblPr>
              <a:tblGrid>
                <a:gridCol w="2375725"/>
                <a:gridCol w="3228325"/>
                <a:gridCol w="2367575"/>
              </a:tblGrid>
              <a:tr h="45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 places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666666666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33}{5000}&quot;&gt;&lt;mfrac&gt;&lt;mn&gt;833&lt;/mn&gt;&lt;mn&gt;5000&lt;/mn&gt;&lt;/mfrac&gt;&lt;/math&gt;" id="1196" name="Google Shape;1196;p93" title="833 over 5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982" y="1761069"/>
            <a:ext cx="433225" cy="42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7" name="Google Shape;1197;p93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1375" y="4055425"/>
            <a:ext cx="135575" cy="4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grpSp>
        <p:nvGrpSpPr>
          <p:cNvPr id="1199" name="Google Shape;1199;p93"/>
          <p:cNvGrpSpPr/>
          <p:nvPr/>
        </p:nvGrpSpPr>
        <p:grpSpPr>
          <a:xfrm>
            <a:off x="1235550" y="2341314"/>
            <a:ext cx="4665300" cy="420911"/>
            <a:chOff x="1311750" y="2265114"/>
            <a:chExt cx="4665300" cy="420911"/>
          </a:xfrm>
        </p:grpSpPr>
        <p:sp>
          <p:nvSpPr>
            <p:cNvPr id="1200" name="Google Shape;1200;p93"/>
            <p:cNvSpPr/>
            <p:nvPr/>
          </p:nvSpPr>
          <p:spPr>
            <a:xfrm>
              <a:off x="3166950" y="2265114"/>
              <a:ext cx="2810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93"/>
            <p:cNvSpPr/>
            <p:nvPr/>
          </p:nvSpPr>
          <p:spPr>
            <a:xfrm>
              <a:off x="1311750" y="2265125"/>
              <a:ext cx="746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93"/>
          <p:cNvGrpSpPr/>
          <p:nvPr/>
        </p:nvGrpSpPr>
        <p:grpSpPr>
          <a:xfrm>
            <a:off x="1235550" y="1815375"/>
            <a:ext cx="4656875" cy="420975"/>
            <a:chOff x="1311750" y="1739175"/>
            <a:chExt cx="4656875" cy="420975"/>
          </a:xfrm>
        </p:grpSpPr>
        <p:sp>
          <p:nvSpPr>
            <p:cNvPr id="1203" name="Google Shape;1203;p93"/>
            <p:cNvSpPr/>
            <p:nvPr/>
          </p:nvSpPr>
          <p:spPr>
            <a:xfrm>
              <a:off x="3158525" y="1739250"/>
              <a:ext cx="2810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93"/>
            <p:cNvSpPr/>
            <p:nvPr/>
          </p:nvSpPr>
          <p:spPr>
            <a:xfrm>
              <a:off x="1311750" y="1739175"/>
              <a:ext cx="746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5" name="Google Shape;1205;p93"/>
          <p:cNvGrpSpPr/>
          <p:nvPr/>
        </p:nvGrpSpPr>
        <p:grpSpPr>
          <a:xfrm>
            <a:off x="1235550" y="2915183"/>
            <a:ext cx="4665300" cy="428339"/>
            <a:chOff x="1311750" y="2791075"/>
            <a:chExt cx="4665300" cy="428339"/>
          </a:xfrm>
        </p:grpSpPr>
        <p:sp>
          <p:nvSpPr>
            <p:cNvPr id="1206" name="Google Shape;1206;p93"/>
            <p:cNvSpPr/>
            <p:nvPr/>
          </p:nvSpPr>
          <p:spPr>
            <a:xfrm>
              <a:off x="3166950" y="2798514"/>
              <a:ext cx="2810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7" name="Google Shape;1207;p93"/>
            <p:cNvSpPr/>
            <p:nvPr/>
          </p:nvSpPr>
          <p:spPr>
            <a:xfrm>
              <a:off x="1311750" y="2791075"/>
              <a:ext cx="746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3"/>
          <p:cNvGrpSpPr/>
          <p:nvPr/>
        </p:nvGrpSpPr>
        <p:grpSpPr>
          <a:xfrm>
            <a:off x="1235550" y="3478856"/>
            <a:ext cx="4665300" cy="435789"/>
            <a:chOff x="1311750" y="3317025"/>
            <a:chExt cx="4665300" cy="435789"/>
          </a:xfrm>
        </p:grpSpPr>
        <p:sp>
          <p:nvSpPr>
            <p:cNvPr id="1209" name="Google Shape;1209;p93"/>
            <p:cNvSpPr/>
            <p:nvPr/>
          </p:nvSpPr>
          <p:spPr>
            <a:xfrm>
              <a:off x="3166950" y="3331914"/>
              <a:ext cx="2810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93"/>
            <p:cNvSpPr/>
            <p:nvPr/>
          </p:nvSpPr>
          <p:spPr>
            <a:xfrm>
              <a:off x="1311750" y="3317025"/>
              <a:ext cx="746100" cy="42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3"/>
          <p:cNvGrpSpPr/>
          <p:nvPr/>
        </p:nvGrpSpPr>
        <p:grpSpPr>
          <a:xfrm>
            <a:off x="1227073" y="4028964"/>
            <a:ext cx="4665300" cy="635854"/>
            <a:chOff x="1311750" y="3842975"/>
            <a:chExt cx="4665300" cy="635854"/>
          </a:xfrm>
        </p:grpSpPr>
        <p:sp>
          <p:nvSpPr>
            <p:cNvPr id="1212" name="Google Shape;1212;p93"/>
            <p:cNvSpPr/>
            <p:nvPr/>
          </p:nvSpPr>
          <p:spPr>
            <a:xfrm>
              <a:off x="3166950" y="3865329"/>
              <a:ext cx="2810100" cy="6135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93"/>
            <p:cNvSpPr/>
            <p:nvPr/>
          </p:nvSpPr>
          <p:spPr>
            <a:xfrm>
              <a:off x="1311750" y="3842975"/>
              <a:ext cx="746100" cy="6135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4" name="Google Shape;1214;p93"/>
          <p:cNvSpPr/>
          <p:nvPr/>
        </p:nvSpPr>
        <p:spPr>
          <a:xfrm>
            <a:off x="6337724" y="2341325"/>
            <a:ext cx="1701900" cy="42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3"/>
          <p:cNvSpPr/>
          <p:nvPr/>
        </p:nvSpPr>
        <p:spPr>
          <a:xfrm>
            <a:off x="6337724" y="3995300"/>
            <a:ext cx="1701900" cy="613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3"/>
          <p:cNvSpPr/>
          <p:nvPr/>
        </p:nvSpPr>
        <p:spPr>
          <a:xfrm>
            <a:off x="6337724" y="1751913"/>
            <a:ext cx="1701900" cy="42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3"/>
          <p:cNvSpPr/>
          <p:nvPr/>
        </p:nvSpPr>
        <p:spPr>
          <a:xfrm>
            <a:off x="6348307" y="2918900"/>
            <a:ext cx="1701900" cy="42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3"/>
          <p:cNvSpPr/>
          <p:nvPr/>
        </p:nvSpPr>
        <p:spPr>
          <a:xfrm>
            <a:off x="6348307" y="3457111"/>
            <a:ext cx="1701900" cy="42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94"/>
          <p:cNvSpPr txBox="1"/>
          <p:nvPr>
            <p:ph idx="1" type="body"/>
          </p:nvPr>
        </p:nvSpPr>
        <p:spPr>
          <a:xfrm>
            <a:off x="400200" y="683100"/>
            <a:ext cx="2165400" cy="5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Investigation</a:t>
            </a:r>
            <a:endParaRPr/>
          </a:p>
        </p:txBody>
      </p:sp>
      <p:graphicFrame>
        <p:nvGraphicFramePr>
          <p:cNvPr id="1224" name="Google Shape;1224;p94"/>
          <p:cNvGraphicFramePr/>
          <p:nvPr/>
        </p:nvGraphicFramePr>
        <p:xfrm>
          <a:off x="455275" y="112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{EC9C1D95-0268-4F40-B24B-12B4A212E599}</a:tableStyleId>
              </a:tblPr>
              <a:tblGrid>
                <a:gridCol w="2375725"/>
                <a:gridCol w="3228325"/>
                <a:gridCol w="2367575"/>
              </a:tblGrid>
              <a:tr h="59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 places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84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0.166666666666666666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33}{5000}&quot;&gt;&lt;mfrac&gt;&lt;mn&gt;833&lt;/mn&gt;&lt;mn&gt;5000&lt;/mn&gt;&lt;/mfrac&gt;&lt;/math&gt;" id="1225" name="Google Shape;1225;p94" title="833 over 5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982" y="1815497"/>
            <a:ext cx="43322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227" name="Google Shape;1227;p94"/>
          <p:cNvSpPr txBox="1"/>
          <p:nvPr>
            <p:ph idx="1" type="body"/>
          </p:nvPr>
        </p:nvSpPr>
        <p:spPr>
          <a:xfrm>
            <a:off x="455275" y="3073600"/>
            <a:ext cx="7971600" cy="8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need to have 18 decimal places when a number is less than 1.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95"/>
          <p:cNvSpPr/>
          <p:nvPr/>
        </p:nvSpPr>
        <p:spPr>
          <a:xfrm>
            <a:off x="2778926" y="1712400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5"/>
          <p:cNvSpPr/>
          <p:nvPr/>
        </p:nvSpPr>
        <p:spPr>
          <a:xfrm>
            <a:off x="6085025" y="1660800"/>
            <a:ext cx="2604000" cy="114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5"/>
          <p:cNvSpPr/>
          <p:nvPr/>
        </p:nvSpPr>
        <p:spPr>
          <a:xfrm>
            <a:off x="6085025" y="2970775"/>
            <a:ext cx="2604000" cy="120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5"/>
          <p:cNvSpPr/>
          <p:nvPr/>
        </p:nvSpPr>
        <p:spPr>
          <a:xfrm>
            <a:off x="2812326" y="3906900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5"/>
          <p:cNvSpPr/>
          <p:nvPr/>
        </p:nvSpPr>
        <p:spPr>
          <a:xfrm>
            <a:off x="2812326" y="2836363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5"/>
          <p:cNvSpPr/>
          <p:nvPr/>
        </p:nvSpPr>
        <p:spPr>
          <a:xfrm>
            <a:off x="667100" y="2803800"/>
            <a:ext cx="10176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5"/>
          <p:cNvSpPr/>
          <p:nvPr/>
        </p:nvSpPr>
        <p:spPr>
          <a:xfrm>
            <a:off x="667100" y="1660800"/>
            <a:ext cx="10176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5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calculator, match the fraction to the equivalent decimal to the correct statement.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40" name="Google Shape;1240;p95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7017" l="0" r="86379" t="0"/>
          <a:stretch/>
        </p:blipFill>
        <p:spPr>
          <a:xfrm>
            <a:off x="951214" y="1765800"/>
            <a:ext cx="518551" cy="7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5"/>
          <p:cNvSpPr txBox="1"/>
          <p:nvPr/>
        </p:nvSpPr>
        <p:spPr>
          <a:xfrm>
            <a:off x="6201833" y="1797550"/>
            <a:ext cx="2356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5"/>
          <p:cNvSpPr txBox="1"/>
          <p:nvPr/>
        </p:nvSpPr>
        <p:spPr>
          <a:xfrm>
            <a:off x="6148858" y="3111075"/>
            <a:ext cx="2475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Non-terminating decimal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43" name="Google Shape;1243;p95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33507" l="-2206" r="88585" t="33510"/>
          <a:stretch/>
        </p:blipFill>
        <p:spPr>
          <a:xfrm>
            <a:off x="901648" y="2826119"/>
            <a:ext cx="518551" cy="75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44" name="Google Shape;1244;p95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9165" l="16854" r="10402" t="-2147"/>
          <a:stretch/>
        </p:blipFill>
        <p:spPr>
          <a:xfrm>
            <a:off x="3349125" y="4087525"/>
            <a:ext cx="1834949" cy="49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45" name="Google Shape;1245;p95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0" l="9578" r="23108" t="67018"/>
          <a:stretch/>
        </p:blipFill>
        <p:spPr>
          <a:xfrm>
            <a:off x="3201275" y="3016975"/>
            <a:ext cx="1698001" cy="49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5}{113}&quot;&gt;&lt;mfrac&gt;&lt;mn&gt;355&lt;/mn&gt;&lt;mn&gt;113&lt;/mn&gt;&lt;/mfrac&gt;&lt;/math&gt;" id="1246" name="Google Shape;1246;p95" title="355 over 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963" y="3960325"/>
            <a:ext cx="591932" cy="7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95"/>
          <p:cNvSpPr/>
          <p:nvPr/>
        </p:nvSpPr>
        <p:spPr>
          <a:xfrm>
            <a:off x="667100" y="3870600"/>
            <a:ext cx="1017600" cy="94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320754717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320754717&lt;/mn&gt;&lt;/mtd&gt;&lt;/mtr&gt;&lt;mtr&gt;&lt;mtd&gt;&lt;mfrac&gt;&lt;mn&gt;1&lt;/mn&gt;&lt;mn&gt;7&lt;/mn&gt;&lt;/mfrac&gt;&lt;mtext&gt;&lt;/mtext&gt;&lt;mtext&gt;&lt;/mtext&gt;&lt;mn&gt;3.14159292&lt;/mn&gt;&lt;/mtd&gt;&lt;/mtr&gt;&lt;/mtable&gt;&lt;/math&gt;" id="1249" name="Google Shape;1249;p95" title="3 lines Line 1: 59 over 64 0.921875 Line 2: 17 over 53 0.320754717 Line 3: one seventh 3.14159292"/>
          <p:cNvPicPr preferRelativeResize="0"/>
          <p:nvPr/>
        </p:nvPicPr>
        <p:blipFill rotWithShape="1">
          <a:blip r:embed="rId5">
            <a:alphaModFix/>
          </a:blip>
          <a:srcRect b="35615" l="16534" r="0" t="30046"/>
          <a:stretch/>
        </p:blipFill>
        <p:spPr>
          <a:xfrm>
            <a:off x="2839825" y="1799025"/>
            <a:ext cx="1957800" cy="5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6"/>
          <p:cNvSpPr txBox="1"/>
          <p:nvPr>
            <p:ph idx="1" type="body"/>
          </p:nvPr>
        </p:nvSpPr>
        <p:spPr>
          <a:xfrm>
            <a:off x="371175" y="810000"/>
            <a:ext cx="82377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Match the correctly notated </a:t>
            </a:r>
            <a:r>
              <a:rPr b="1" lang="en-GB"/>
              <a:t>recurring decimal</a:t>
            </a:r>
            <a:r>
              <a:rPr lang="en-GB"/>
              <a:t> with the fractional form.</a:t>
            </a:r>
            <a:endParaRPr sz="2300"/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55" name="Google Shape;1255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8957" l="0" r="81610" t="27851"/>
          <a:stretch/>
        </p:blipFill>
        <p:spPr>
          <a:xfrm>
            <a:off x="1928181" y="2050294"/>
            <a:ext cx="627525" cy="5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56" name="Google Shape;1256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0375" l="0" r="88536" t="0"/>
          <a:stretch/>
        </p:blipFill>
        <p:spPr>
          <a:xfrm>
            <a:off x="4131063" y="2183833"/>
            <a:ext cx="440950" cy="4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58" name="Google Shape;1258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73637" l="0" r="85755" t="0"/>
          <a:stretch/>
        </p:blipFill>
        <p:spPr>
          <a:xfrm>
            <a:off x="987400" y="2183833"/>
            <a:ext cx="486074" cy="41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59" name="Google Shape;1259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4556" l="0" r="78975" t="27849"/>
          <a:stretch/>
        </p:blipFill>
        <p:spPr>
          <a:xfrm>
            <a:off x="5142525" y="2059725"/>
            <a:ext cx="808725" cy="5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60" name="Google Shape;1260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-4786" l="76553" r="8524" t="63773"/>
          <a:stretch/>
        </p:blipFill>
        <p:spPr>
          <a:xfrm>
            <a:off x="5231900" y="3215162"/>
            <a:ext cx="509200" cy="64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61" name="Google Shape;1261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0375" l="66356" r="25434" t="0"/>
          <a:stretch/>
        </p:blipFill>
        <p:spPr>
          <a:xfrm>
            <a:off x="6595769" y="3331725"/>
            <a:ext cx="3158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62" name="Google Shape;1262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70375" l="73151" r="15033" t="0"/>
          <a:stretch/>
        </p:blipFill>
        <p:spPr>
          <a:xfrm>
            <a:off x="4180888" y="3331717"/>
            <a:ext cx="4032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63" name="Google Shape;1263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88791" r="-2029" t="70375"/>
          <a:stretch/>
        </p:blipFill>
        <p:spPr>
          <a:xfrm>
            <a:off x="936575" y="3364825"/>
            <a:ext cx="5092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64" name="Google Shape;1264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29491" l="88989" r="-3911" t="29495"/>
          <a:stretch/>
        </p:blipFill>
        <p:spPr>
          <a:xfrm>
            <a:off x="3220525" y="3256264"/>
            <a:ext cx="509200" cy="64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265" name="Google Shape;1265;p96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395" l="0" r="81610" t="63412"/>
          <a:stretch/>
        </p:blipFill>
        <p:spPr>
          <a:xfrm>
            <a:off x="2994931" y="2040864"/>
            <a:ext cx="627525" cy="5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66" name="Google Shape;1266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214" l="0" r="78975" t="62191"/>
          <a:stretch/>
        </p:blipFill>
        <p:spPr>
          <a:xfrm>
            <a:off x="6388875" y="2022002"/>
            <a:ext cx="808725" cy="5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267" name="Google Shape;1267;p96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1136" l="88791" r="-2029" t="27851"/>
          <a:stretch/>
        </p:blipFill>
        <p:spPr>
          <a:xfrm>
            <a:off x="2099775" y="3213717"/>
            <a:ext cx="509200" cy="6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Write the following </a:t>
            </a:r>
            <a:r>
              <a:rPr b="1" lang="en-GB"/>
              <a:t>recurring decimals</a:t>
            </a:r>
            <a:r>
              <a:rPr lang="en-GB"/>
              <a:t> as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73" name="Google Shape;127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124\dot5&quot;&gt;&lt;mn&gt;0.124&lt;/mn&gt;&lt;mrow data-mjx-texclass=&quot;ORD&quot;&gt;&lt;mover&gt;&lt;mn&gt;5&lt;/mn&gt;&lt;mo&gt;˙&lt;/mo&gt;&lt;/mover&gt;&lt;/mrow&gt;&lt;/math&gt;" id="1274" name="Google Shape;1274;p97" title="the repeating decimal 0.124 followed by repeating digit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025" y="1645338"/>
            <a:ext cx="1015175" cy="350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424\dot8&quot;&gt;&lt;mn&gt;3.424&lt;/mn&gt;&lt;mrow data-mjx-texclass=&quot;ORD&quot;&gt;&lt;mover&gt;&lt;mn&gt;8&lt;/mn&gt;&lt;mo&gt;˙&lt;/mo&gt;&lt;/mover&gt;&lt;/mrow&gt;&lt;/math&gt;" id="1275" name="Google Shape;1275;p97" title="the repeating decimal 3.424 followed by repeating digit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25" y="2683383"/>
            <a:ext cx="1015165" cy="34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1\dot4&quot;&gt;&lt;mn&gt;3.1&lt;/mn&gt;&lt;mrow data-mjx-texclass=&quot;ORD&quot;&gt;&lt;mover&gt;&lt;mn&gt;4&lt;/mn&gt;&lt;mo&gt;˙&lt;/mo&gt;&lt;/mover&gt;&lt;/mrow&gt;&lt;/math&gt;" id="1276" name="Google Shape;1276;p97" title="the repeating decimal 3.1 followed by repeating digit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025" y="3715493"/>
            <a:ext cx="653036" cy="350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8"/>
          <p:cNvSpPr/>
          <p:nvPr/>
        </p:nvSpPr>
        <p:spPr>
          <a:xfrm>
            <a:off x="2778926" y="1712400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8"/>
          <p:cNvSpPr/>
          <p:nvPr/>
        </p:nvSpPr>
        <p:spPr>
          <a:xfrm>
            <a:off x="2812326" y="3906900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8"/>
          <p:cNvSpPr/>
          <p:nvPr/>
        </p:nvSpPr>
        <p:spPr>
          <a:xfrm>
            <a:off x="2812326" y="2836363"/>
            <a:ext cx="24759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8"/>
          <p:cNvSpPr/>
          <p:nvPr/>
        </p:nvSpPr>
        <p:spPr>
          <a:xfrm>
            <a:off x="667100" y="2803800"/>
            <a:ext cx="10176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8"/>
          <p:cNvSpPr/>
          <p:nvPr/>
        </p:nvSpPr>
        <p:spPr>
          <a:xfrm>
            <a:off x="667100" y="1660800"/>
            <a:ext cx="10176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86" name="Google Shape;1286;p98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7017" l="0" r="86379" t="0"/>
          <a:stretch/>
        </p:blipFill>
        <p:spPr>
          <a:xfrm>
            <a:off x="951214" y="1765800"/>
            <a:ext cx="518551" cy="75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87" name="Google Shape;1287;p98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33507" l="-2206" r="88585" t="33510"/>
          <a:stretch/>
        </p:blipFill>
        <p:spPr>
          <a:xfrm>
            <a:off x="901648" y="2826119"/>
            <a:ext cx="518551" cy="75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88" name="Google Shape;1288;p98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9165" l="16854" r="10402" t="-2147"/>
          <a:stretch/>
        </p:blipFill>
        <p:spPr>
          <a:xfrm>
            <a:off x="3349125" y="4087525"/>
            <a:ext cx="1834949" cy="49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1289" name="Google Shape;1289;p98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0" l="9578" r="23108" t="67018"/>
          <a:stretch/>
        </p:blipFill>
        <p:spPr>
          <a:xfrm>
            <a:off x="3201275" y="3016975"/>
            <a:ext cx="1698001" cy="49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5}{113}&quot;&gt;&lt;mfrac&gt;&lt;mn&gt;355&lt;/mn&gt;&lt;mn&gt;113&lt;/mn&gt;&lt;/mfrac&gt;&lt;/math&gt;" id="1290" name="Google Shape;1290;p98" title="355 over 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963" y="3960325"/>
            <a:ext cx="591932" cy="7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8"/>
          <p:cNvSpPr/>
          <p:nvPr/>
        </p:nvSpPr>
        <p:spPr>
          <a:xfrm>
            <a:off x="667100" y="3870600"/>
            <a:ext cx="1017600" cy="94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2" name="Google Shape;1292;p98"/>
          <p:cNvCxnSpPr>
            <a:stCxn id="1285" idx="3"/>
            <a:endCxn id="1282" idx="1"/>
          </p:cNvCxnSpPr>
          <p:nvPr/>
        </p:nvCxnSpPr>
        <p:spPr>
          <a:xfrm>
            <a:off x="1684700" y="2091150"/>
            <a:ext cx="1127700" cy="224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98"/>
          <p:cNvCxnSpPr>
            <a:endCxn id="1294" idx="1"/>
          </p:cNvCxnSpPr>
          <p:nvPr/>
        </p:nvCxnSpPr>
        <p:spPr>
          <a:xfrm flipH="1" rot="10800000">
            <a:off x="5288225" y="2232300"/>
            <a:ext cx="796800" cy="208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98"/>
          <p:cNvCxnSpPr>
            <a:stCxn id="1284" idx="3"/>
            <a:endCxn id="1281" idx="1"/>
          </p:cNvCxnSpPr>
          <p:nvPr/>
        </p:nvCxnSpPr>
        <p:spPr>
          <a:xfrm flipH="1" rot="10800000">
            <a:off x="1684700" y="2142750"/>
            <a:ext cx="1094100" cy="109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98"/>
          <p:cNvCxnSpPr>
            <a:stCxn id="1281" idx="3"/>
            <a:endCxn id="1297" idx="1"/>
          </p:cNvCxnSpPr>
          <p:nvPr/>
        </p:nvCxnSpPr>
        <p:spPr>
          <a:xfrm>
            <a:off x="5254826" y="2142750"/>
            <a:ext cx="830100" cy="157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98"/>
          <p:cNvCxnSpPr>
            <a:endCxn id="1283" idx="1"/>
          </p:cNvCxnSpPr>
          <p:nvPr/>
        </p:nvCxnSpPr>
        <p:spPr>
          <a:xfrm flipH="1" rot="10800000">
            <a:off x="1684626" y="3266713"/>
            <a:ext cx="1127700" cy="117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98"/>
          <p:cNvCxnSpPr>
            <a:endCxn id="1297" idx="1"/>
          </p:cNvCxnSpPr>
          <p:nvPr/>
        </p:nvCxnSpPr>
        <p:spPr>
          <a:xfrm>
            <a:off x="5305025" y="3182480"/>
            <a:ext cx="780000" cy="53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320754717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320754717&lt;/mn&gt;&lt;/mtd&gt;&lt;/mtr&gt;&lt;mtr&gt;&lt;mtd&gt;&lt;mfrac&gt;&lt;mn&gt;1&lt;/mn&gt;&lt;mn&gt;7&lt;/mn&gt;&lt;/mfrac&gt;&lt;mtext&gt;&lt;/mtext&gt;&lt;mtext&gt;&lt;/mtext&gt;&lt;mn&gt;3.14159292&lt;/mn&gt;&lt;/mtd&gt;&lt;/mtr&gt;&lt;/mtable&gt;&lt;/math&gt;" id="1301" name="Google Shape;1301;p98" title="3 lines Line 1: 59 over 64 0.921875 Line 2: 17 over 53 0.320754717 Line 3: one seventh 3.14159292"/>
          <p:cNvPicPr preferRelativeResize="0"/>
          <p:nvPr/>
        </p:nvPicPr>
        <p:blipFill rotWithShape="1">
          <a:blip r:embed="rId5">
            <a:alphaModFix/>
          </a:blip>
          <a:srcRect b="35615" l="16534" r="0" t="30046"/>
          <a:stretch/>
        </p:blipFill>
        <p:spPr>
          <a:xfrm>
            <a:off x="2839825" y="1799025"/>
            <a:ext cx="1957800" cy="59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8"/>
          <p:cNvSpPr/>
          <p:nvPr/>
        </p:nvSpPr>
        <p:spPr>
          <a:xfrm>
            <a:off x="6085025" y="1660800"/>
            <a:ext cx="2604000" cy="114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8"/>
          <p:cNvSpPr/>
          <p:nvPr/>
        </p:nvSpPr>
        <p:spPr>
          <a:xfrm>
            <a:off x="6085025" y="2970775"/>
            <a:ext cx="2604000" cy="120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8"/>
          <p:cNvSpPr txBox="1"/>
          <p:nvPr/>
        </p:nvSpPr>
        <p:spPr>
          <a:xfrm>
            <a:off x="6201833" y="1797550"/>
            <a:ext cx="2356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8"/>
          <p:cNvSpPr txBox="1"/>
          <p:nvPr/>
        </p:nvSpPr>
        <p:spPr>
          <a:xfrm>
            <a:off x="6148858" y="3111075"/>
            <a:ext cx="2475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Non-terminating decimal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8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calculator, match the fraction to the equivalent decimal to the correct statement.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12" name="Google Shape;1312;p99"/>
          <p:cNvSpPr txBox="1"/>
          <p:nvPr>
            <p:ph idx="1" type="body"/>
          </p:nvPr>
        </p:nvSpPr>
        <p:spPr>
          <a:xfrm>
            <a:off x="371175" y="810000"/>
            <a:ext cx="82377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Match the correctly notated </a:t>
            </a:r>
            <a:r>
              <a:rPr b="1" lang="en-GB"/>
              <a:t>recurring decimal </a:t>
            </a:r>
            <a:r>
              <a:rPr lang="en-GB"/>
              <a:t>with the fractional form.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13" name="Google Shape;1313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8957" l="0" r="81610" t="27851"/>
          <a:stretch/>
        </p:blipFill>
        <p:spPr>
          <a:xfrm>
            <a:off x="1928181" y="2050294"/>
            <a:ext cx="627525" cy="5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14" name="Google Shape;1314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0375" l="0" r="88536" t="0"/>
          <a:stretch/>
        </p:blipFill>
        <p:spPr>
          <a:xfrm>
            <a:off x="4131063" y="2183833"/>
            <a:ext cx="44095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15" name="Google Shape;1315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73637" l="0" r="85755" t="0"/>
          <a:stretch/>
        </p:blipFill>
        <p:spPr>
          <a:xfrm>
            <a:off x="987400" y="2183833"/>
            <a:ext cx="486074" cy="41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16" name="Google Shape;1316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4556" l="0" r="78975" t="27849"/>
          <a:stretch/>
        </p:blipFill>
        <p:spPr>
          <a:xfrm>
            <a:off x="5142525" y="2059725"/>
            <a:ext cx="808725" cy="5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17" name="Google Shape;1317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-4786" l="76553" r="8524" t="63773"/>
          <a:stretch/>
        </p:blipFill>
        <p:spPr>
          <a:xfrm>
            <a:off x="5231900" y="3215162"/>
            <a:ext cx="509200" cy="64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18" name="Google Shape;1318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0375" l="66356" r="25434" t="0"/>
          <a:stretch/>
        </p:blipFill>
        <p:spPr>
          <a:xfrm>
            <a:off x="6595769" y="3331725"/>
            <a:ext cx="3158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19" name="Google Shape;1319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70375" l="73151" r="15033" t="0"/>
          <a:stretch/>
        </p:blipFill>
        <p:spPr>
          <a:xfrm>
            <a:off x="4180888" y="3331717"/>
            <a:ext cx="4032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20" name="Google Shape;1320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88791" r="-2029" t="70375"/>
          <a:stretch/>
        </p:blipFill>
        <p:spPr>
          <a:xfrm>
            <a:off x="936575" y="3364825"/>
            <a:ext cx="509200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21" name="Google Shape;1321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29491" l="88989" r="-3911" t="29495"/>
          <a:stretch/>
        </p:blipFill>
        <p:spPr>
          <a:xfrm>
            <a:off x="3220525" y="3256264"/>
            <a:ext cx="509200" cy="64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322" name="Google Shape;1322;p99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395" l="0" r="81610" t="63412"/>
          <a:stretch/>
        </p:blipFill>
        <p:spPr>
          <a:xfrm>
            <a:off x="2994931" y="2040864"/>
            <a:ext cx="627525" cy="5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23" name="Google Shape;1323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214" l="0" r="78975" t="62191"/>
          <a:stretch/>
        </p:blipFill>
        <p:spPr>
          <a:xfrm>
            <a:off x="6388875" y="2022002"/>
            <a:ext cx="808725" cy="5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324" name="Google Shape;1324;p99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1136" l="88791" r="-2029" t="27851"/>
          <a:stretch/>
        </p:blipFill>
        <p:spPr>
          <a:xfrm>
            <a:off x="2099775" y="3213717"/>
            <a:ext cx="509200" cy="64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5" name="Google Shape;1325;p99"/>
          <p:cNvCxnSpPr>
            <a:stCxn id="1315" idx="2"/>
          </p:cNvCxnSpPr>
          <p:nvPr/>
        </p:nvCxnSpPr>
        <p:spPr>
          <a:xfrm>
            <a:off x="1230437" y="2599133"/>
            <a:ext cx="2928600" cy="68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99"/>
          <p:cNvCxnSpPr>
            <a:endCxn id="1321" idx="0"/>
          </p:cNvCxnSpPr>
          <p:nvPr/>
        </p:nvCxnSpPr>
        <p:spPr>
          <a:xfrm>
            <a:off x="2303325" y="2603164"/>
            <a:ext cx="1171800" cy="653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99"/>
          <p:cNvCxnSpPr/>
          <p:nvPr/>
        </p:nvCxnSpPr>
        <p:spPr>
          <a:xfrm>
            <a:off x="3290000" y="2583600"/>
            <a:ext cx="1934700" cy="76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99"/>
          <p:cNvCxnSpPr/>
          <p:nvPr/>
        </p:nvCxnSpPr>
        <p:spPr>
          <a:xfrm>
            <a:off x="4519150" y="2549025"/>
            <a:ext cx="1934700" cy="76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99"/>
          <p:cNvCxnSpPr>
            <a:stCxn id="1316" idx="2"/>
            <a:endCxn id="1324" idx="0"/>
          </p:cNvCxnSpPr>
          <p:nvPr/>
        </p:nvCxnSpPr>
        <p:spPr>
          <a:xfrm flipH="1">
            <a:off x="2354287" y="2651950"/>
            <a:ext cx="3192600" cy="56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99"/>
          <p:cNvCxnSpPr>
            <a:stCxn id="1323" idx="2"/>
          </p:cNvCxnSpPr>
          <p:nvPr/>
        </p:nvCxnSpPr>
        <p:spPr>
          <a:xfrm flipH="1">
            <a:off x="1230337" y="2614227"/>
            <a:ext cx="5562900" cy="67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Write the following </a:t>
            </a:r>
            <a:r>
              <a:rPr b="1" lang="en-GB"/>
              <a:t>recurring decimals</a:t>
            </a:r>
            <a:r>
              <a:rPr lang="en-GB"/>
              <a:t> as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336" name="Google Shape;1336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853}{1125}&quot;&gt;&lt;mfrac&gt;&lt;mn&gt;3853&lt;/mn&gt;&lt;mn&gt;1125&lt;/mn&gt;&lt;/mfrac&gt;&lt;/math&gt;" id="1337" name="Google Shape;1337;p100" title="3853 over 1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175" y="2700000"/>
            <a:ext cx="699200" cy="683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21}{9000}&quot;&gt;&lt;mfrac&gt;&lt;mn&gt;1121&lt;/mn&gt;&lt;mn&gt;9000&lt;/mn&gt;&lt;/mfrac&gt;&lt;/math&gt;" id="1338" name="Google Shape;1338;p100" title="1121 over 9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4175" y="1480938"/>
            <a:ext cx="699200" cy="67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3}{90}&quot;&gt;&lt;mfrac&gt;&lt;mn&gt;283&lt;/mn&gt;&lt;mn&gt;90&lt;/mn&gt;&lt;/mfrac&gt;&lt;/math&gt;" id="1339" name="Google Shape;1339;p100" title="283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5373" y="3715500"/>
            <a:ext cx="536791" cy="68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4\dot5&quot;&gt;&lt;mn&gt;0.124&lt;/mn&gt;&lt;mrow data-mjx-texclass=&quot;ORD&quot;&gt;&lt;mover&gt;&lt;mn&gt;5&lt;/mn&gt;&lt;mo&gt;˙&lt;/mo&gt;&lt;/mover&gt;&lt;/mrow&gt;&lt;/math&gt;" id="1340" name="Google Shape;1340;p100" title="the repeating decimal 0.124 followed by repeating digit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2025" y="1645338"/>
            <a:ext cx="1015175" cy="350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424\dot8&quot;&gt;&lt;mn&gt;3.424&lt;/mn&gt;&lt;mrow data-mjx-texclass=&quot;ORD&quot;&gt;&lt;mover&gt;&lt;mn&gt;8&lt;/mn&gt;&lt;mo&gt;˙&lt;/mo&gt;&lt;/mover&gt;&lt;/mrow&gt;&lt;/math&gt;" id="1341" name="Google Shape;1341;p100" title="the repeating decimal 3.424 followed by repeating digit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2025" y="2683383"/>
            <a:ext cx="1015165" cy="34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1\dot4&quot;&gt;&lt;mn&gt;3.1&lt;/mn&gt;&lt;mrow data-mjx-texclass=&quot;ORD&quot;&gt;&lt;mover&gt;&lt;mn&gt;4&lt;/mn&gt;&lt;mo&gt;˙&lt;/mo&gt;&lt;/mover&gt;&lt;/mrow&gt;&lt;/math&gt;" id="1342" name="Google Shape;1342;p100" title="the repeating decimal 3.1 followed by repeating digit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2025" y="3715493"/>
            <a:ext cx="653036" cy="350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1348" name="Google Shape;1348;p101"/>
          <p:cNvSpPr txBox="1"/>
          <p:nvPr/>
        </p:nvSpPr>
        <p:spPr>
          <a:xfrm>
            <a:off x="343750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1349" name="Google Shape;1349;p101"/>
          <p:cNvSpPr txBox="1"/>
          <p:nvPr/>
        </p:nvSpPr>
        <p:spPr>
          <a:xfrm>
            <a:off x="5069575" y="2700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1350" name="Google Shape;1350;p101"/>
          <p:cNvSpPr txBox="1"/>
          <p:nvPr/>
        </p:nvSpPr>
        <p:spPr>
          <a:xfrm>
            <a:off x="324000" y="649850"/>
            <a:ext cx="77148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one that has an infinite number of digits after the decimal point.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01"/>
          <p:cNvSpPr txBox="1"/>
          <p:nvPr/>
        </p:nvSpPr>
        <p:spPr>
          <a:xfrm>
            <a:off x="324000" y="1494650"/>
            <a:ext cx="8496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digits after the decimal point are represented using dots. A dot is placed above the first digit that recurs and the last digit that recurs.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1352" name="Google Shape;1352;p101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0" r="81819" t="0"/>
          <a:stretch/>
        </p:blipFill>
        <p:spPr>
          <a:xfrm>
            <a:off x="469800" y="3184250"/>
            <a:ext cx="497200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3}=0.33333333....&quot;&gt;&lt;mn&gt;0.&lt;/mn&gt;&lt;mrow data-mjx-texclass=&quot;ORD&quot;&gt;&lt;mover&gt;&lt;mn&gt;3&lt;/mn&gt;&lt;mo&gt;˙&lt;/mo&gt;&lt;/mover&gt;&lt;/mrow&gt;&lt;mo&gt;=&lt;/mo&gt;&lt;mn&gt;0.33333333&lt;/mn&gt;&lt;mo&gt;.&lt;/mo&gt;&lt;mo&gt;.&lt;/mo&gt;&lt;mo&gt;.&lt;/mo&gt;&lt;mo&gt;.&lt;/mo&gt;&lt;/math&gt;" id="1353" name="Google Shape;1353;p101" title="the repeating decimal 0 point followed by repeating digit 3 equals 0.33333333 period period period period"/>
          <p:cNvPicPr preferRelativeResize="0"/>
          <p:nvPr/>
        </p:nvPicPr>
        <p:blipFill rotWithShape="1">
          <a:blip r:embed="rId3">
            <a:alphaModFix/>
          </a:blip>
          <a:srcRect b="0" l="18179" r="2050" t="0"/>
          <a:stretch/>
        </p:blipFill>
        <p:spPr>
          <a:xfrm>
            <a:off x="967000" y="3184250"/>
            <a:ext cx="2181651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1354" name="Google Shape;1354;p101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4">
            <a:alphaModFix/>
          </a:blip>
          <a:srcRect b="0" l="19654" r="1729" t="0"/>
          <a:stretch/>
        </p:blipFill>
        <p:spPr>
          <a:xfrm>
            <a:off x="5926800" y="3184250"/>
            <a:ext cx="2837026" cy="3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1}\dot{7}\ =\ 0.17171717171....&quot;&gt;&lt;mn&gt;0.&lt;/mn&gt;&lt;mrow data-mjx-texclass=&quot;ORD&quot;&gt;&lt;mover&gt;&lt;mn&gt;1&lt;/mn&gt;&lt;mo&gt;˙&lt;/mo&gt;&lt;/mover&gt;&lt;/mrow&gt;&lt;mrow data-mjx-texclass=&quot;ORD&quot;&gt;&lt;mover&gt;&lt;mn&gt;7&lt;/mn&gt;&lt;mo&gt;˙&lt;/mo&gt;&lt;/mover&gt;&lt;/mrow&gt;&lt;mtext&gt;&lt;/mtext&gt;&lt;mo&gt;=&lt;/mo&gt;&lt;mtext&gt;&lt;/mtext&gt;&lt;mn&gt;0.17171717171&lt;/mn&gt;&lt;mo&gt;.&lt;/mo&gt;&lt;mo&gt;.&lt;/mo&gt;&lt;mo&gt;.&lt;/mo&gt;&lt;mo&gt;.&lt;/mo&gt;&lt;/math&gt;" id="1355" name="Google Shape;1355;p101" title="the repeating decimal 0 point followed by repeating digits 1 7 equals 0.17171717171 period period period period"/>
          <p:cNvPicPr preferRelativeResize="0"/>
          <p:nvPr/>
        </p:nvPicPr>
        <p:blipFill rotWithShape="1">
          <a:blip r:embed="rId4">
            <a:alphaModFix/>
          </a:blip>
          <a:srcRect b="0" l="0" r="79880" t="0"/>
          <a:stretch/>
        </p:blipFill>
        <p:spPr>
          <a:xfrm>
            <a:off x="5200800" y="3184250"/>
            <a:ext cx="726000" cy="3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1"/>
          <p:cNvSpPr txBox="1"/>
          <p:nvPr/>
        </p:nvSpPr>
        <p:spPr>
          <a:xfrm>
            <a:off x="307500" y="3783300"/>
            <a:ext cx="8496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identify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recurring decimals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short division, prime factors or spotting a relationship with denominators.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2" name="Google Shape;1362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