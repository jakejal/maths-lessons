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BD9AC1-388E-4784-901B-DBB5F67840E5}">
  <a:tblStyle styleId="{5CBD9AC1-388E-4784-901B-DBB5F67840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8584688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8584688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998fb1f8a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998fb1f8a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ea8584688f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ea8584688f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9c041ec00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9c041ec00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998fb1f8a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998fb1f8a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9a8d34dbe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9a8d34dbe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9db7f3f63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9db7f3f63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9c041ec00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9c041ec0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9db7f3f63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9db7f3f63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9a8d34dbe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9a8d34dbe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9db7f3f6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9db7f3f6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9c041ec0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9c041ec0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9a8d34dbe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9a8d34dbe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9db7f3f635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9db7f3f635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9a8d34dbe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9a8d34dbe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1ea8584688f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1ea8584688f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9c041ec00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9c041ec00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9db7f3f63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9db7f3f63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29db7f3f635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29db7f3f635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ea8584688f_1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1ea8584688f_1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9db7f3f63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9db7f3f63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9db7f3f635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9db7f3f635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9db7f3f635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9db7f3f635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1ea8584688f_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1ea8584688f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998fb1f8a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998fb1f8a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29d4d307b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29d4d307b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9db7f3f63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29db7f3f63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9db7f3f635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9db7f3f63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998fb1f8a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998fb1f8a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29d4d307bd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29d4d307b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9a8d34dbe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9a8d34dbe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1ea8584688f_1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1ea8584688f_1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1ea8584688f_1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1ea8584688f_1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29db7f3f635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29db7f3f63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1ea8584688f_1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1ea8584688f_1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1ea8584688f_1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1ea8584688f_1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9db7f3f635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9db7f3f635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998fb1f8a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998fb1f8a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2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4.png"/><Relationship Id="rId4" Type="http://schemas.openxmlformats.org/officeDocument/2006/relationships/image" Target="../media/image24.png"/><Relationship Id="rId9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4.png"/><Relationship Id="rId4" Type="http://schemas.openxmlformats.org/officeDocument/2006/relationships/image" Target="../media/image30.png"/><Relationship Id="rId11" Type="http://schemas.openxmlformats.org/officeDocument/2006/relationships/image" Target="../media/image16.png"/><Relationship Id="rId10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Relationship Id="rId9" Type="http://schemas.openxmlformats.org/officeDocument/2006/relationships/image" Target="../media/image60.png"/><Relationship Id="rId5" Type="http://schemas.openxmlformats.org/officeDocument/2006/relationships/image" Target="../media/image62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8" Type="http://schemas.openxmlformats.org/officeDocument/2006/relationships/image" Target="../media/image58.png"/><Relationship Id="rId10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4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6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7.png"/><Relationship Id="rId4" Type="http://schemas.openxmlformats.org/officeDocument/2006/relationships/image" Target="../media/image71.png"/><Relationship Id="rId5" Type="http://schemas.openxmlformats.org/officeDocument/2006/relationships/image" Target="../media/image7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Relationship Id="rId5" Type="http://schemas.openxmlformats.org/officeDocument/2006/relationships/image" Target="../media/image7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5.png"/><Relationship Id="rId4" Type="http://schemas.openxmlformats.org/officeDocument/2006/relationships/image" Target="../media/image77.png"/><Relationship Id="rId5" Type="http://schemas.openxmlformats.org/officeDocument/2006/relationships/image" Target="../media/image8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4.png"/><Relationship Id="rId4" Type="http://schemas.openxmlformats.org/officeDocument/2006/relationships/image" Target="../media/image80.png"/><Relationship Id="rId9" Type="http://schemas.openxmlformats.org/officeDocument/2006/relationships/image" Target="../media/image87.png"/><Relationship Id="rId5" Type="http://schemas.openxmlformats.org/officeDocument/2006/relationships/image" Target="../media/image79.png"/><Relationship Id="rId6" Type="http://schemas.openxmlformats.org/officeDocument/2006/relationships/image" Target="../media/image83.png"/><Relationship Id="rId7" Type="http://schemas.openxmlformats.org/officeDocument/2006/relationships/image" Target="../media/image82.png"/><Relationship Id="rId8" Type="http://schemas.openxmlformats.org/officeDocument/2006/relationships/image" Target="../media/image8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1.png"/><Relationship Id="rId6" Type="http://schemas.openxmlformats.org/officeDocument/2006/relationships/image" Target="../media/image9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3.png"/><Relationship Id="rId4" Type="http://schemas.openxmlformats.org/officeDocument/2006/relationships/image" Target="../media/image67.png"/><Relationship Id="rId5" Type="http://schemas.openxmlformats.org/officeDocument/2006/relationships/image" Target="../media/image9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71.png"/><Relationship Id="rId5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Relationship Id="rId4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7.png"/><Relationship Id="rId4" Type="http://schemas.openxmlformats.org/officeDocument/2006/relationships/image" Target="../media/image100.png"/><Relationship Id="rId5" Type="http://schemas.openxmlformats.org/officeDocument/2006/relationships/image" Target="../media/image9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Relationship Id="rId5" Type="http://schemas.openxmlformats.org/officeDocument/2006/relationships/image" Target="../media/image97.png"/><Relationship Id="rId6" Type="http://schemas.openxmlformats.org/officeDocument/2006/relationships/image" Target="../media/image10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9.png"/><Relationship Id="rId4" Type="http://schemas.openxmlformats.org/officeDocument/2006/relationships/image" Target="../media/image105.png"/><Relationship Id="rId5" Type="http://schemas.openxmlformats.org/officeDocument/2006/relationships/image" Target="../media/image104.png"/><Relationship Id="rId6" Type="http://schemas.openxmlformats.org/officeDocument/2006/relationships/image" Target="../media/image10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3.png"/><Relationship Id="rId4" Type="http://schemas.openxmlformats.org/officeDocument/2006/relationships/image" Target="../media/image112.png"/><Relationship Id="rId5" Type="http://schemas.openxmlformats.org/officeDocument/2006/relationships/image" Target="../media/image1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5.png"/><Relationship Id="rId4" Type="http://schemas.openxmlformats.org/officeDocument/2006/relationships/image" Target="../media/image111.png"/><Relationship Id="rId5" Type="http://schemas.openxmlformats.org/officeDocument/2006/relationships/image" Target="../media/image10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8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3.png"/><Relationship Id="rId4" Type="http://schemas.openxmlformats.org/officeDocument/2006/relationships/image" Target="../media/image112.png"/><Relationship Id="rId9" Type="http://schemas.openxmlformats.org/officeDocument/2006/relationships/image" Target="../media/image109.png"/><Relationship Id="rId5" Type="http://schemas.openxmlformats.org/officeDocument/2006/relationships/image" Target="../media/image118.png"/><Relationship Id="rId6" Type="http://schemas.openxmlformats.org/officeDocument/2006/relationships/image" Target="../media/image117.png"/><Relationship Id="rId7" Type="http://schemas.openxmlformats.org/officeDocument/2006/relationships/image" Target="../media/image121.png"/><Relationship Id="rId8" Type="http://schemas.openxmlformats.org/officeDocument/2006/relationships/image" Target="../media/image120.png"/><Relationship Id="rId11" Type="http://schemas.openxmlformats.org/officeDocument/2006/relationships/image" Target="../media/image122.png"/><Relationship Id="rId10" Type="http://schemas.openxmlformats.org/officeDocument/2006/relationships/image" Target="../media/image1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fractions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represent fractions as numbers.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7560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numerator</a:t>
            </a:r>
            <a:r>
              <a:rPr lang="en-GB"/>
              <a:t> is t</a:t>
            </a:r>
            <a:r>
              <a:rPr lang="en-GB"/>
              <a:t>he expression in a fraction that is written above the fraction line. It is the dividend. </a:t>
            </a:r>
            <a:endParaRPr/>
          </a:p>
        </p:txBody>
      </p:sp>
      <p:sp>
        <p:nvSpPr>
          <p:cNvPr id="767" name="Google Shape;767;p67"/>
          <p:cNvSpPr txBox="1"/>
          <p:nvPr>
            <p:ph idx="3" type="subTitle"/>
          </p:nvPr>
        </p:nvSpPr>
        <p:spPr>
          <a:xfrm>
            <a:off x="324000" y="16179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denominator </a:t>
            </a:r>
            <a:r>
              <a:rPr lang="en-GB"/>
              <a:t>is the expression in a fraction that is written below the fraction line. It is the divisor.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768" name="Google Shape;768;p67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850" y="2700000"/>
            <a:ext cx="409575" cy="130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9" name="Google Shape;769;p67"/>
          <p:cNvCxnSpPr/>
          <p:nvPr/>
        </p:nvCxnSpPr>
        <p:spPr>
          <a:xfrm flipH="1">
            <a:off x="4654000" y="2700000"/>
            <a:ext cx="887700" cy="24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0" name="Google Shape;770;p67"/>
          <p:cNvCxnSpPr/>
          <p:nvPr/>
        </p:nvCxnSpPr>
        <p:spPr>
          <a:xfrm rot="10800000">
            <a:off x="4698450" y="3780000"/>
            <a:ext cx="1009200" cy="260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1" name="Google Shape;771;p67"/>
          <p:cNvSpPr txBox="1"/>
          <p:nvPr/>
        </p:nvSpPr>
        <p:spPr>
          <a:xfrm>
            <a:off x="5619450" y="2384025"/>
            <a:ext cx="1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numerator</a:t>
            </a:r>
            <a:endParaRPr/>
          </a:p>
        </p:txBody>
      </p:sp>
      <p:sp>
        <p:nvSpPr>
          <p:cNvPr id="772" name="Google Shape;772;p67"/>
          <p:cNvSpPr txBox="1"/>
          <p:nvPr/>
        </p:nvSpPr>
        <p:spPr>
          <a:xfrm>
            <a:off x="5795675" y="3780000"/>
            <a:ext cx="191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denominator </a:t>
            </a:r>
            <a:endParaRPr/>
          </a:p>
        </p:txBody>
      </p:sp>
      <p:sp>
        <p:nvSpPr>
          <p:cNvPr id="773" name="Google Shape;773;p67"/>
          <p:cNvSpPr txBox="1"/>
          <p:nvPr/>
        </p:nvSpPr>
        <p:spPr>
          <a:xfrm>
            <a:off x="2088175" y="2515925"/>
            <a:ext cx="144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</p:txBody>
      </p:sp>
      <p:sp>
        <p:nvSpPr>
          <p:cNvPr id="779" name="Google Shape;779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</p:txBody>
      </p:sp>
      <p:sp>
        <p:nvSpPr>
          <p:cNvPr id="780" name="Google Shape;780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fractions</a:t>
            </a:r>
            <a:endParaRPr/>
          </a:p>
        </p:txBody>
      </p:sp>
      <p:pic>
        <p:nvPicPr>
          <p:cNvPr id="781" name="Google Shape;78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63995"/>
            <a:ext cx="4873827" cy="27058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</a:t>
            </a:r>
            <a:r>
              <a:rPr lang="en-GB"/>
              <a:t>describe</a:t>
            </a:r>
            <a:r>
              <a:rPr lang="en-GB"/>
              <a:t> diagrams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788" name="Google Shape;788;p69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4050" y="1088275"/>
            <a:ext cx="714375" cy="1323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9" name="Google Shape;789;p69"/>
          <p:cNvGraphicFramePr/>
          <p:nvPr/>
        </p:nvGraphicFramePr>
        <p:xfrm>
          <a:off x="510125" y="1441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439300"/>
                <a:gridCol w="439300"/>
                <a:gridCol w="439300"/>
                <a:gridCol w="439300"/>
                <a:gridCol w="439300"/>
                <a:gridCol w="439300"/>
                <a:gridCol w="439300"/>
                <a:gridCol w="439300"/>
                <a:gridCol w="439300"/>
                <a:gridCol w="439300"/>
              </a:tblGrid>
              <a:tr h="48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?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0" name="Google Shape;790;p69"/>
          <p:cNvGraphicFramePr/>
          <p:nvPr/>
        </p:nvGraphicFramePr>
        <p:xfrm>
          <a:off x="510125" y="1462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439300"/>
                <a:gridCol w="439300"/>
                <a:gridCol w="439300"/>
                <a:gridCol w="439300"/>
                <a:gridCol w="439300"/>
                <a:gridCol w="439300"/>
                <a:gridCol w="439300"/>
                <a:gridCol w="439300"/>
                <a:gridCol w="439300"/>
                <a:gridCol w="439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1" name="Google Shape;791;p69"/>
          <p:cNvSpPr/>
          <p:nvPr/>
        </p:nvSpPr>
        <p:spPr>
          <a:xfrm>
            <a:off x="488300" y="1438450"/>
            <a:ext cx="4438800" cy="504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/>
          <p:nvPr/>
        </p:nvSpPr>
        <p:spPr>
          <a:xfrm>
            <a:off x="487225" y="1435750"/>
            <a:ext cx="4438800" cy="504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One whole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9"/>
          <p:cNvSpPr/>
          <p:nvPr/>
        </p:nvSpPr>
        <p:spPr>
          <a:xfrm>
            <a:off x="6496850" y="1940075"/>
            <a:ext cx="8688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9"/>
          <p:cNvSpPr/>
          <p:nvPr/>
        </p:nvSpPr>
        <p:spPr>
          <a:xfrm>
            <a:off x="6496850" y="918975"/>
            <a:ext cx="868800" cy="74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/>
          <p:nvPr/>
        </p:nvSpPr>
        <p:spPr>
          <a:xfrm>
            <a:off x="6496850" y="1720363"/>
            <a:ext cx="868800" cy="1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/>
          <p:nvPr/>
        </p:nvSpPr>
        <p:spPr>
          <a:xfrm>
            <a:off x="2267325" y="856775"/>
            <a:ext cx="1425000" cy="335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>
            <p:ph idx="1" type="body"/>
          </p:nvPr>
        </p:nvSpPr>
        <p:spPr>
          <a:xfrm>
            <a:off x="324000" y="2511900"/>
            <a:ext cx="59328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whole can be split into </a:t>
            </a:r>
            <a:r>
              <a:rPr lang="en-GB">
                <a:solidFill>
                  <a:schemeClr val="accent4"/>
                </a:solidFill>
              </a:rPr>
              <a:t>equal parts</a:t>
            </a:r>
            <a:r>
              <a:rPr lang="en-GB"/>
              <a:t>. </a:t>
            </a:r>
            <a:endParaRPr/>
          </a:p>
        </p:txBody>
      </p:sp>
      <p:sp>
        <p:nvSpPr>
          <p:cNvPr id="798" name="Google Shape;798;p69"/>
          <p:cNvSpPr txBox="1"/>
          <p:nvPr>
            <p:ph idx="1" type="body"/>
          </p:nvPr>
        </p:nvSpPr>
        <p:spPr>
          <a:xfrm>
            <a:off x="324000" y="3093250"/>
            <a:ext cx="84960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denominator </a:t>
            </a:r>
            <a:r>
              <a:rPr lang="en-GB"/>
              <a:t>represents the number of equal parts the whole has been divided into.</a:t>
            </a:r>
            <a:endParaRPr/>
          </a:p>
        </p:txBody>
      </p:sp>
      <p:sp>
        <p:nvSpPr>
          <p:cNvPr id="799" name="Google Shape;799;p69"/>
          <p:cNvSpPr txBox="1"/>
          <p:nvPr>
            <p:ph idx="1" type="body"/>
          </p:nvPr>
        </p:nvSpPr>
        <p:spPr>
          <a:xfrm>
            <a:off x="324000" y="3943800"/>
            <a:ext cx="79428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numerator </a:t>
            </a:r>
            <a:r>
              <a:rPr lang="en-GB"/>
              <a:t>counts the number of equal parts that the fraction represents.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24000" y="759300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fraction of the whole rectangle is shaded?</a:t>
            </a:r>
            <a:endParaRPr/>
          </a:p>
        </p:txBody>
      </p:sp>
      <p:sp>
        <p:nvSpPr>
          <p:cNvPr id="805" name="Google Shape;80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806" name="Google Shape;806;p70"/>
          <p:cNvGraphicFramePr/>
          <p:nvPr/>
        </p:nvGraphicFramePr>
        <p:xfrm>
          <a:off x="2652438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667025"/>
                <a:gridCol w="667025"/>
                <a:gridCol w="667025"/>
                <a:gridCol w="667025"/>
                <a:gridCol w="667025"/>
              </a:tblGrid>
              <a:tr h="68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68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324000" y="3338400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808" name="Google Shape;808;p70" title="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050" y="3240000"/>
            <a:ext cx="331025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1"/>
          <p:cNvSpPr txBox="1"/>
          <p:nvPr>
            <p:ph idx="1" type="body"/>
          </p:nvPr>
        </p:nvSpPr>
        <p:spPr>
          <a:xfrm>
            <a:off x="324000" y="759300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fraction of the whole rectangle is shaded?</a:t>
            </a:r>
            <a:endParaRPr/>
          </a:p>
        </p:txBody>
      </p:sp>
      <p:sp>
        <p:nvSpPr>
          <p:cNvPr id="814" name="Google Shape;81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815" name="Google Shape;815;p71"/>
          <p:cNvGraphicFramePr/>
          <p:nvPr/>
        </p:nvGraphicFramePr>
        <p:xfrm>
          <a:off x="2652438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667025"/>
                <a:gridCol w="667025"/>
                <a:gridCol w="667025"/>
                <a:gridCol w="667025"/>
                <a:gridCol w="667025"/>
              </a:tblGrid>
              <a:tr h="68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8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16" name="Google Shape;816;p71"/>
          <p:cNvCxnSpPr/>
          <p:nvPr/>
        </p:nvCxnSpPr>
        <p:spPr>
          <a:xfrm flipH="1">
            <a:off x="2659213" y="1627725"/>
            <a:ext cx="663600" cy="136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71"/>
          <p:cNvCxnSpPr/>
          <p:nvPr/>
        </p:nvCxnSpPr>
        <p:spPr>
          <a:xfrm>
            <a:off x="3998300" y="1630800"/>
            <a:ext cx="661800" cy="136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71"/>
          <p:cNvCxnSpPr/>
          <p:nvPr/>
        </p:nvCxnSpPr>
        <p:spPr>
          <a:xfrm flipH="1" rot="10800000">
            <a:off x="4658000" y="1623575"/>
            <a:ext cx="1329300" cy="67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71"/>
          <p:cNvSpPr/>
          <p:nvPr/>
        </p:nvSpPr>
        <p:spPr>
          <a:xfrm>
            <a:off x="4662275" y="1621925"/>
            <a:ext cx="1326375" cy="685450"/>
          </a:xfrm>
          <a:custGeom>
            <a:rect b="b" l="l" r="r" t="t"/>
            <a:pathLst>
              <a:path extrusionOk="0" h="27418" w="53055">
                <a:moveTo>
                  <a:pt x="0" y="27418"/>
                </a:moveTo>
                <a:lnTo>
                  <a:pt x="53055" y="27418"/>
                </a:lnTo>
                <a:lnTo>
                  <a:pt x="53055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0" name="Google Shape;820;p71"/>
          <p:cNvSpPr/>
          <p:nvPr/>
        </p:nvSpPr>
        <p:spPr>
          <a:xfrm flipH="1" rot="5400000">
            <a:off x="2301218" y="1979243"/>
            <a:ext cx="1379430" cy="667834"/>
          </a:xfrm>
          <a:custGeom>
            <a:rect b="b" l="l" r="r" t="t"/>
            <a:pathLst>
              <a:path extrusionOk="0" h="27418" w="53055">
                <a:moveTo>
                  <a:pt x="0" y="27418"/>
                </a:moveTo>
                <a:lnTo>
                  <a:pt x="53055" y="27418"/>
                </a:lnTo>
                <a:lnTo>
                  <a:pt x="53055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324000" y="3338400"/>
            <a:ext cx="3540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</a:t>
            </a:r>
            <a:endParaRPr/>
          </a:p>
        </p:txBody>
      </p:sp>
      <p:sp>
        <p:nvSpPr>
          <p:cNvPr id="822" name="Google Shape;822;p71"/>
          <p:cNvSpPr txBox="1"/>
          <p:nvPr>
            <p:ph idx="1" type="body"/>
          </p:nvPr>
        </p:nvSpPr>
        <p:spPr>
          <a:xfrm>
            <a:off x="324000" y="3884125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Yes, the 10 parts all have equal area.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So we can say that     is shaded.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823" name="Google Shape;823;p71" title="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650" y="3278638"/>
            <a:ext cx="302775" cy="56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824" name="Google Shape;824;p71" title="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650" y="4259288"/>
            <a:ext cx="302775" cy="56112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677975" y="3338400"/>
            <a:ext cx="548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</a:t>
            </a:r>
            <a:endParaRPr/>
          </a:p>
        </p:txBody>
      </p:sp>
      <p:sp>
        <p:nvSpPr>
          <p:cNvPr id="826" name="Google Shape;826;p71"/>
          <p:cNvSpPr txBox="1"/>
          <p:nvPr>
            <p:ph idx="1" type="body"/>
          </p:nvPr>
        </p:nvSpPr>
        <p:spPr>
          <a:xfrm>
            <a:off x="1226625" y="3338400"/>
            <a:ext cx="6939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also</a:t>
            </a:r>
            <a:endParaRPr/>
          </a:p>
        </p:txBody>
      </p: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2329125" y="3338400"/>
            <a:ext cx="2298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2"/>
          <p:cNvSpPr txBox="1"/>
          <p:nvPr>
            <p:ph idx="1" type="body"/>
          </p:nvPr>
        </p:nvSpPr>
        <p:spPr>
          <a:xfrm>
            <a:off x="324000" y="759300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fraction of the whole rectangle is shaded?</a:t>
            </a:r>
            <a:endParaRPr/>
          </a:p>
        </p:txBody>
      </p:sp>
      <p:sp>
        <p:nvSpPr>
          <p:cNvPr id="833" name="Google Shape;83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834" name="Google Shape;834;p72"/>
          <p:cNvGraphicFramePr/>
          <p:nvPr/>
        </p:nvGraphicFramePr>
        <p:xfrm>
          <a:off x="2652438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9300"/>
                <a:gridCol w="389300"/>
                <a:gridCol w="1224425"/>
                <a:gridCol w="942775"/>
                <a:gridCol w="389300"/>
              </a:tblGrid>
              <a:tr h="4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35" name="Google Shape;835;p72"/>
          <p:cNvCxnSpPr/>
          <p:nvPr/>
        </p:nvCxnSpPr>
        <p:spPr>
          <a:xfrm flipH="1" rot="10800000">
            <a:off x="4667350" y="1624600"/>
            <a:ext cx="596100" cy="40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72"/>
          <p:cNvCxnSpPr/>
          <p:nvPr/>
        </p:nvCxnSpPr>
        <p:spPr>
          <a:xfrm>
            <a:off x="5604953" y="2823575"/>
            <a:ext cx="388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72"/>
          <p:cNvCxnSpPr/>
          <p:nvPr/>
        </p:nvCxnSpPr>
        <p:spPr>
          <a:xfrm>
            <a:off x="3053300" y="2301175"/>
            <a:ext cx="38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72"/>
          <p:cNvSpPr txBox="1"/>
          <p:nvPr>
            <p:ph idx="1" type="body"/>
          </p:nvPr>
        </p:nvSpPr>
        <p:spPr>
          <a:xfrm>
            <a:off x="324000" y="3926800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difficult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to tell, there are 10 parts in the rectangle but they do not have equal area, so we cannot say this is     shaded.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839" name="Google Shape;839;p72" title="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650" y="3278638"/>
            <a:ext cx="302775" cy="56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840" name="Google Shape;840;p72" title="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350" y="4260650"/>
            <a:ext cx="265325" cy="491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2"/>
          <p:cNvSpPr txBox="1"/>
          <p:nvPr>
            <p:ph idx="1" type="body"/>
          </p:nvPr>
        </p:nvSpPr>
        <p:spPr>
          <a:xfrm>
            <a:off x="324000" y="3338400"/>
            <a:ext cx="3540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</a:t>
            </a:r>
            <a:endParaRPr/>
          </a:p>
        </p:txBody>
      </p:sp>
      <p:sp>
        <p:nvSpPr>
          <p:cNvPr id="842" name="Google Shape;842;p72"/>
          <p:cNvSpPr txBox="1"/>
          <p:nvPr>
            <p:ph idx="1" type="body"/>
          </p:nvPr>
        </p:nvSpPr>
        <p:spPr>
          <a:xfrm>
            <a:off x="677975" y="3338400"/>
            <a:ext cx="548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</a:t>
            </a:r>
            <a:endParaRPr/>
          </a:p>
        </p:txBody>
      </p:sp>
      <p:sp>
        <p:nvSpPr>
          <p:cNvPr id="843" name="Google Shape;843;p72"/>
          <p:cNvSpPr txBox="1"/>
          <p:nvPr>
            <p:ph idx="1" type="body"/>
          </p:nvPr>
        </p:nvSpPr>
        <p:spPr>
          <a:xfrm>
            <a:off x="1226625" y="3338400"/>
            <a:ext cx="6939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also</a:t>
            </a:r>
            <a:endParaRPr/>
          </a:p>
        </p:txBody>
      </p:sp>
      <p:sp>
        <p:nvSpPr>
          <p:cNvPr id="844" name="Google Shape;844;p72"/>
          <p:cNvSpPr txBox="1"/>
          <p:nvPr>
            <p:ph idx="1" type="body"/>
          </p:nvPr>
        </p:nvSpPr>
        <p:spPr>
          <a:xfrm>
            <a:off x="2329125" y="3338400"/>
            <a:ext cx="2298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3"/>
          <p:cNvSpPr txBox="1"/>
          <p:nvPr>
            <p:ph idx="1" type="body"/>
          </p:nvPr>
        </p:nvSpPr>
        <p:spPr>
          <a:xfrm>
            <a:off x="324000" y="759300"/>
            <a:ext cx="8237700" cy="7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square has been drawn on a dotty grid. The dots are equally spaced. </a:t>
            </a:r>
            <a:endParaRPr/>
          </a:p>
        </p:txBody>
      </p:sp>
      <p:sp>
        <p:nvSpPr>
          <p:cNvPr id="850" name="Google Shape;85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</p:txBody>
      </p:sp>
      <p:pic>
        <p:nvPicPr>
          <p:cNvPr id="851" name="Google Shape;85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5313" y="2143150"/>
            <a:ext cx="2473374" cy="24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3"/>
          <p:cNvSpPr txBox="1"/>
          <p:nvPr/>
        </p:nvSpPr>
        <p:spPr>
          <a:xfrm>
            <a:off x="327425" y="1611375"/>
            <a:ext cx="8237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we say what fraction of the square is shaded?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4"/>
          <p:cNvSpPr txBox="1"/>
          <p:nvPr>
            <p:ph idx="1" type="body"/>
          </p:nvPr>
        </p:nvSpPr>
        <p:spPr>
          <a:xfrm>
            <a:off x="324000" y="759300"/>
            <a:ext cx="8237700" cy="7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square has been drawn on a dotty grid. The dots are equally spaced. </a:t>
            </a:r>
            <a:endParaRPr/>
          </a:p>
        </p:txBody>
      </p:sp>
      <p:sp>
        <p:nvSpPr>
          <p:cNvPr id="858" name="Google Shape;85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</p:txBody>
      </p:sp>
      <p:pic>
        <p:nvPicPr>
          <p:cNvPr id="859" name="Google Shape;85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5313" y="2143150"/>
            <a:ext cx="2473374" cy="24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4"/>
          <p:cNvSpPr txBox="1"/>
          <p:nvPr/>
        </p:nvSpPr>
        <p:spPr>
          <a:xfrm>
            <a:off x="327425" y="1611375"/>
            <a:ext cx="8237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we say what fraction of the square is shaded?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4"/>
          <p:cNvSpPr txBox="1"/>
          <p:nvPr/>
        </p:nvSpPr>
        <p:spPr>
          <a:xfrm>
            <a:off x="324000" y="2384250"/>
            <a:ext cx="2867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could count the area shaded by imagining the grid made by the dots.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2" name="Google Shape;86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5839" y="2246536"/>
            <a:ext cx="231935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4"/>
          <p:cNvSpPr txBox="1"/>
          <p:nvPr/>
        </p:nvSpPr>
        <p:spPr>
          <a:xfrm>
            <a:off x="5952900" y="2384250"/>
            <a:ext cx="2867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see that 12 whole squares and 4 half squares are shaded. So 14 small squares in total.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5"/>
          <p:cNvSpPr txBox="1"/>
          <p:nvPr>
            <p:ph idx="1" type="body"/>
          </p:nvPr>
        </p:nvSpPr>
        <p:spPr>
          <a:xfrm>
            <a:off x="324000" y="759300"/>
            <a:ext cx="8237700" cy="7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square has been drawn on a dotty grid. The dots are equally spaced. </a:t>
            </a:r>
            <a:endParaRPr/>
          </a:p>
        </p:txBody>
      </p:sp>
      <p:sp>
        <p:nvSpPr>
          <p:cNvPr id="869" name="Google Shape;86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</p:txBody>
      </p:sp>
      <p:pic>
        <p:nvPicPr>
          <p:cNvPr id="870" name="Google Shape;87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5313" y="2143150"/>
            <a:ext cx="2473374" cy="24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5"/>
          <p:cNvSpPr txBox="1"/>
          <p:nvPr/>
        </p:nvSpPr>
        <p:spPr>
          <a:xfrm>
            <a:off x="327425" y="1611375"/>
            <a:ext cx="8237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we say what fraction of the square is shaded?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5"/>
          <p:cNvSpPr txBox="1"/>
          <p:nvPr/>
        </p:nvSpPr>
        <p:spPr>
          <a:xfrm>
            <a:off x="324000" y="2384250"/>
            <a:ext cx="30114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36 small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3" name="Google Shape;87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5839" y="2246536"/>
            <a:ext cx="231935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5"/>
          <p:cNvSpPr txBox="1"/>
          <p:nvPr/>
        </p:nvSpPr>
        <p:spPr>
          <a:xfrm>
            <a:off x="5952900" y="2384250"/>
            <a:ext cx="2867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equivalent to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4}{36}&quot;&gt;&lt;mfrac&gt;&lt;mn&gt;14&lt;/mn&gt;&lt;mn&gt;36&lt;/mn&gt;&lt;/mfrac&gt;&lt;/math&gt;" id="875" name="Google Shape;875;p75" title="14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7268" y="3336400"/>
            <a:ext cx="315350" cy="5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8}&quot;&gt;&lt;mfrac&gt;&lt;mn&gt;7&lt;/mn&gt;&lt;mn&gt;18&lt;/mn&gt;&lt;/mfrac&gt;&lt;/math&gt;" id="876" name="Google Shape;876;p75" title="7 over 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04551" y="2851375"/>
            <a:ext cx="315350" cy="57674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5"/>
          <p:cNvSpPr txBox="1"/>
          <p:nvPr/>
        </p:nvSpPr>
        <p:spPr>
          <a:xfrm>
            <a:off x="324000" y="3374850"/>
            <a:ext cx="1257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5"/>
          <p:cNvSpPr txBox="1"/>
          <p:nvPr/>
        </p:nvSpPr>
        <p:spPr>
          <a:xfrm>
            <a:off x="324000" y="3908250"/>
            <a:ext cx="1508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5"/>
          <p:cNvSpPr txBox="1"/>
          <p:nvPr/>
        </p:nvSpPr>
        <p:spPr>
          <a:xfrm>
            <a:off x="1404275" y="3374850"/>
            <a:ext cx="1325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meaning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5"/>
          <p:cNvSpPr txBox="1"/>
          <p:nvPr/>
        </p:nvSpPr>
        <p:spPr>
          <a:xfrm>
            <a:off x="324000" y="2917650"/>
            <a:ext cx="3011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squares in the larger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</p:txBody>
      </p:sp>
      <p:sp>
        <p:nvSpPr>
          <p:cNvPr id="886" name="Google Shape;886;p76"/>
          <p:cNvSpPr txBox="1"/>
          <p:nvPr>
            <p:ph idx="4294967295" type="title"/>
          </p:nvPr>
        </p:nvSpPr>
        <p:spPr>
          <a:xfrm>
            <a:off x="324000" y="748775"/>
            <a:ext cx="47589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Which of these correctly represent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887" name="Google Shape;887;p76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75" y="1079999"/>
            <a:ext cx="192569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p76"/>
          <p:cNvGrpSpPr/>
          <p:nvPr/>
        </p:nvGrpSpPr>
        <p:grpSpPr>
          <a:xfrm>
            <a:off x="7579541" y="4281150"/>
            <a:ext cx="457200" cy="457200"/>
            <a:chOff x="1020916" y="1442088"/>
            <a:chExt cx="457200" cy="457200"/>
          </a:xfrm>
        </p:grpSpPr>
        <p:pic>
          <p:nvPicPr>
            <p:cNvPr id="889" name="Google Shape;889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0" name="Google Shape;890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1" name="Google Shape;891;p76"/>
          <p:cNvGrpSpPr/>
          <p:nvPr/>
        </p:nvGrpSpPr>
        <p:grpSpPr>
          <a:xfrm>
            <a:off x="1053291" y="4281150"/>
            <a:ext cx="457200" cy="457200"/>
            <a:chOff x="1020916" y="1442088"/>
            <a:chExt cx="457200" cy="457200"/>
          </a:xfrm>
        </p:grpSpPr>
        <p:pic>
          <p:nvPicPr>
            <p:cNvPr id="892" name="Google Shape;892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3" name="Google Shape;893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4" name="Google Shape;894;p76"/>
          <p:cNvGrpSpPr/>
          <p:nvPr/>
        </p:nvGrpSpPr>
        <p:grpSpPr>
          <a:xfrm>
            <a:off x="3228708" y="4281150"/>
            <a:ext cx="457200" cy="457200"/>
            <a:chOff x="1020916" y="1442088"/>
            <a:chExt cx="457200" cy="457200"/>
          </a:xfrm>
        </p:grpSpPr>
        <p:pic>
          <p:nvPicPr>
            <p:cNvPr id="895" name="Google Shape;895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7" name="Google Shape;897;p76"/>
          <p:cNvGrpSpPr/>
          <p:nvPr/>
        </p:nvGrpSpPr>
        <p:grpSpPr>
          <a:xfrm>
            <a:off x="5404124" y="4281150"/>
            <a:ext cx="457200" cy="457200"/>
            <a:chOff x="1020916" y="1442088"/>
            <a:chExt cx="457200" cy="457200"/>
          </a:xfrm>
        </p:grpSpPr>
        <p:pic>
          <p:nvPicPr>
            <p:cNvPr id="898" name="Google Shape;898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0" name="Google Shape;90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8" y="2724060"/>
            <a:ext cx="2016500" cy="1366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0985" y="2718550"/>
            <a:ext cx="2022009" cy="1377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3471" y="2720162"/>
            <a:ext cx="2016495" cy="1374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70442" y="2724060"/>
            <a:ext cx="2049557" cy="1366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71750" y="810000"/>
            <a:ext cx="2016500" cy="139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17833" y="43583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75758" y="43583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58833" y="43583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76"/>
          <p:cNvSpPr txBox="1"/>
          <p:nvPr>
            <p:ph idx="4294967295" type="title"/>
          </p:nvPr>
        </p:nvSpPr>
        <p:spPr>
          <a:xfrm>
            <a:off x="705000" y="1129775"/>
            <a:ext cx="5932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of this rectangle being shaded?</a:t>
            </a:r>
            <a:endParaRPr b="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593402"/>
            <a:ext cx="2324197" cy="6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</p:txBody>
      </p:sp>
      <p:sp>
        <p:nvSpPr>
          <p:cNvPr id="915" name="Google Shape;915;p77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91425" lIns="0" spcFirstLastPara="1" rIns="91425" wrap="square" tIns="10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916" name="Google Shape;916;p77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5003" y="719600"/>
            <a:ext cx="19086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0446" y="719600"/>
            <a:ext cx="190862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8" name="Google Shape;918;p77"/>
          <p:cNvGraphicFramePr/>
          <p:nvPr/>
        </p:nvGraphicFramePr>
        <p:xfrm>
          <a:off x="870475" y="21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9" name="Google Shape;919;p77"/>
          <p:cNvGraphicFramePr/>
          <p:nvPr/>
        </p:nvGraphicFramePr>
        <p:xfrm>
          <a:off x="870475" y="338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289550"/>
                <a:gridCol w="289550"/>
                <a:gridCol w="289550"/>
                <a:gridCol w="289550"/>
                <a:gridCol w="289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0" name="Google Shape;920;p77"/>
          <p:cNvSpPr txBox="1"/>
          <p:nvPr>
            <p:ph idx="1" type="body"/>
          </p:nvPr>
        </p:nvSpPr>
        <p:spPr>
          <a:xfrm>
            <a:off x="324000" y="4102700"/>
            <a:ext cx="8237700" cy="613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Paying attention to what is defined as the </a:t>
            </a:r>
            <a:r>
              <a:rPr lang="en-GB">
                <a:solidFill>
                  <a:schemeClr val="accent4"/>
                </a:solidFill>
              </a:rPr>
              <a:t>whole </a:t>
            </a:r>
            <a:r>
              <a:rPr lang="en-GB"/>
              <a:t>is important when using fractions to describe diagrams.</a:t>
            </a:r>
            <a:endParaRPr/>
          </a:p>
        </p:txBody>
      </p:sp>
      <p:sp>
        <p:nvSpPr>
          <p:cNvPr id="921" name="Google Shape;921;p77"/>
          <p:cNvSpPr txBox="1"/>
          <p:nvPr>
            <p:ph idx="1" type="body"/>
          </p:nvPr>
        </p:nvSpPr>
        <p:spPr>
          <a:xfrm>
            <a:off x="1231850" y="759300"/>
            <a:ext cx="7482300" cy="613500"/>
          </a:xfrm>
          <a:prstGeom prst="rect">
            <a:avLst/>
          </a:prstGeom>
        </p:spPr>
        <p:txBody>
          <a:bodyPr anchorCtr="0" anchor="t" bIns="91425" lIns="0" spcFirstLastPara="1" rIns="91425" wrap="square" tIns="10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</a:t>
            </a:r>
            <a:endParaRPr/>
          </a:p>
        </p:txBody>
      </p:sp>
      <p:sp>
        <p:nvSpPr>
          <p:cNvPr id="922" name="Google Shape;922;p77"/>
          <p:cNvSpPr txBox="1"/>
          <p:nvPr>
            <p:ph idx="1" type="body"/>
          </p:nvPr>
        </p:nvSpPr>
        <p:spPr>
          <a:xfrm>
            <a:off x="1529675" y="759300"/>
            <a:ext cx="7336800" cy="613500"/>
          </a:xfrm>
          <a:prstGeom prst="rect">
            <a:avLst/>
          </a:prstGeom>
        </p:spPr>
        <p:txBody>
          <a:bodyPr anchorCtr="0" anchor="t" bIns="91425" lIns="0" spcFirstLastPara="1" rIns="91425" wrap="square" tIns="10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larger</a:t>
            </a:r>
            <a:endParaRPr/>
          </a:p>
        </p:txBody>
      </p:sp>
      <p:sp>
        <p:nvSpPr>
          <p:cNvPr id="923" name="Google Shape;923;p77"/>
          <p:cNvSpPr txBox="1"/>
          <p:nvPr>
            <p:ph idx="1" type="body"/>
          </p:nvPr>
        </p:nvSpPr>
        <p:spPr>
          <a:xfrm>
            <a:off x="2757600" y="759300"/>
            <a:ext cx="6261300" cy="613500"/>
          </a:xfrm>
          <a:prstGeom prst="rect">
            <a:avLst/>
          </a:prstGeom>
        </p:spPr>
        <p:txBody>
          <a:bodyPr anchorCtr="0" anchor="t" bIns="91425" lIns="0" spcFirstLastPara="1" rIns="91425" wrap="square" tIns="10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</a:t>
            </a:r>
            <a:endParaRPr/>
          </a:p>
        </p:txBody>
      </p:sp>
      <p:sp>
        <p:nvSpPr>
          <p:cNvPr id="924" name="Google Shape;924;p77"/>
          <p:cNvSpPr txBox="1"/>
          <p:nvPr>
            <p:ph idx="1" type="body"/>
          </p:nvPr>
        </p:nvSpPr>
        <p:spPr>
          <a:xfrm>
            <a:off x="3436850" y="759300"/>
            <a:ext cx="5734500" cy="613500"/>
          </a:xfrm>
          <a:prstGeom prst="rect">
            <a:avLst/>
          </a:prstGeom>
        </p:spPr>
        <p:txBody>
          <a:bodyPr anchorCtr="0" anchor="t" bIns="91425" lIns="0" spcFirstLastPara="1" rIns="91425" wrap="square" tIns="10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  </a:t>
            </a:r>
            <a:endParaRPr/>
          </a:p>
        </p:txBody>
      </p:sp>
      <p:pic>
        <p:nvPicPr>
          <p:cNvPr id="925" name="Google Shape;925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7" y="1440826"/>
            <a:ext cx="3096866" cy="6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8"/>
          <p:cNvSpPr txBox="1"/>
          <p:nvPr>
            <p:ph idx="1" type="body"/>
          </p:nvPr>
        </p:nvSpPr>
        <p:spPr>
          <a:xfrm>
            <a:off x="324000" y="759300"/>
            <a:ext cx="8499000" cy="3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cuisenaire rods to represent fractions.</a:t>
            </a:r>
            <a:endParaRPr sz="1800"/>
          </a:p>
        </p:txBody>
      </p:sp>
      <p:sp>
        <p:nvSpPr>
          <p:cNvPr id="931" name="Google Shape;93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932" name="Google Shape;932;p78"/>
          <p:cNvGraphicFramePr/>
          <p:nvPr/>
        </p:nvGraphicFramePr>
        <p:xfrm>
          <a:off x="337395" y="116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33" name="Google Shape;933;p78"/>
          <p:cNvSpPr/>
          <p:nvPr/>
        </p:nvSpPr>
        <p:spPr>
          <a:xfrm>
            <a:off x="337385" y="1160262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8"/>
          <p:cNvSpPr/>
          <p:nvPr/>
        </p:nvSpPr>
        <p:spPr>
          <a:xfrm>
            <a:off x="337395" y="152595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8"/>
          <p:cNvSpPr/>
          <p:nvPr/>
        </p:nvSpPr>
        <p:spPr>
          <a:xfrm>
            <a:off x="337395" y="1889925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8"/>
          <p:cNvSpPr/>
          <p:nvPr/>
        </p:nvSpPr>
        <p:spPr>
          <a:xfrm>
            <a:off x="337395" y="22537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8"/>
          <p:cNvSpPr/>
          <p:nvPr/>
        </p:nvSpPr>
        <p:spPr>
          <a:xfrm>
            <a:off x="337395" y="261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8"/>
          <p:cNvSpPr/>
          <p:nvPr/>
        </p:nvSpPr>
        <p:spPr>
          <a:xfrm>
            <a:off x="337395" y="298185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8"/>
          <p:cNvSpPr/>
          <p:nvPr/>
        </p:nvSpPr>
        <p:spPr>
          <a:xfrm>
            <a:off x="337395" y="3345950"/>
            <a:ext cx="2679900" cy="3642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8"/>
          <p:cNvSpPr/>
          <p:nvPr/>
        </p:nvSpPr>
        <p:spPr>
          <a:xfrm>
            <a:off x="337395" y="371005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8"/>
          <p:cNvSpPr/>
          <p:nvPr/>
        </p:nvSpPr>
        <p:spPr>
          <a:xfrm>
            <a:off x="337395" y="4074150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8"/>
          <p:cNvSpPr/>
          <p:nvPr/>
        </p:nvSpPr>
        <p:spPr>
          <a:xfrm>
            <a:off x="337395" y="443825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8"/>
          <p:cNvSpPr/>
          <p:nvPr/>
        </p:nvSpPr>
        <p:spPr>
          <a:xfrm>
            <a:off x="4519142" y="1548775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8"/>
          <p:cNvSpPr txBox="1"/>
          <p:nvPr>
            <p:ph idx="1" type="body"/>
          </p:nvPr>
        </p:nvSpPr>
        <p:spPr>
          <a:xfrm>
            <a:off x="4366800" y="1149750"/>
            <a:ext cx="4453200" cy="6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pink (p) rod is </a:t>
            </a:r>
            <a:r>
              <a:rPr lang="en-GB" sz="1800">
                <a:solidFill>
                  <a:schemeClr val="accent4"/>
                </a:solidFill>
              </a:rPr>
              <a:t>half </a:t>
            </a:r>
            <a:r>
              <a:rPr lang="en-GB" sz="1800"/>
              <a:t>of the tan (t) rod.</a:t>
            </a:r>
            <a:endParaRPr sz="1800"/>
          </a:p>
        </p:txBody>
      </p:sp>
      <p:sp>
        <p:nvSpPr>
          <p:cNvPr id="945" name="Google Shape;945;p78"/>
          <p:cNvSpPr/>
          <p:nvPr/>
        </p:nvSpPr>
        <p:spPr>
          <a:xfrm>
            <a:off x="4519142" y="19129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8"/>
          <p:cNvSpPr/>
          <p:nvPr/>
        </p:nvSpPr>
        <p:spPr>
          <a:xfrm>
            <a:off x="4519142" y="310380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8"/>
          <p:cNvSpPr/>
          <p:nvPr/>
        </p:nvSpPr>
        <p:spPr>
          <a:xfrm>
            <a:off x="4519142" y="346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8"/>
          <p:cNvSpPr txBox="1"/>
          <p:nvPr>
            <p:ph idx="1" type="body"/>
          </p:nvPr>
        </p:nvSpPr>
        <p:spPr>
          <a:xfrm>
            <a:off x="4366800" y="2359025"/>
            <a:ext cx="4453200" cy="6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yellow (y) rod is </a:t>
            </a:r>
            <a:r>
              <a:rPr lang="en-GB" sz="1800">
                <a:solidFill>
                  <a:schemeClr val="accent4"/>
                </a:solidFill>
              </a:rPr>
              <a:t>half </a:t>
            </a:r>
            <a:r>
              <a:rPr lang="en-GB" sz="1800"/>
              <a:t>of the orange (O) rod.</a:t>
            </a:r>
            <a:endParaRPr sz="1800"/>
          </a:p>
        </p:txBody>
      </p:sp>
      <p:sp>
        <p:nvSpPr>
          <p:cNvPr id="949" name="Google Shape;949;p78"/>
          <p:cNvSpPr txBox="1"/>
          <p:nvPr>
            <p:ph idx="1" type="body"/>
          </p:nvPr>
        </p:nvSpPr>
        <p:spPr>
          <a:xfrm>
            <a:off x="4366800" y="3875575"/>
            <a:ext cx="45351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pink and yellow rods both represent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50" name="Google Shape;950;p78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401" y="4150400"/>
            <a:ext cx="159400" cy="50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8"/>
          <p:cNvSpPr txBox="1"/>
          <p:nvPr>
            <p:ph idx="1" type="body"/>
          </p:nvPr>
        </p:nvSpPr>
        <p:spPr>
          <a:xfrm>
            <a:off x="4747800" y="4256575"/>
            <a:ext cx="45351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but in relation to different </a:t>
            </a:r>
            <a:r>
              <a:rPr lang="en-GB" sz="1800">
                <a:solidFill>
                  <a:schemeClr val="accent4"/>
                </a:solidFill>
              </a:rPr>
              <a:t>wholes</a:t>
            </a:r>
            <a:r>
              <a:rPr lang="en-GB" sz="1800"/>
              <a:t>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9"/>
          <p:cNvSpPr txBox="1"/>
          <p:nvPr>
            <p:ph idx="1" type="body"/>
          </p:nvPr>
        </p:nvSpPr>
        <p:spPr>
          <a:xfrm>
            <a:off x="324000" y="759300"/>
            <a:ext cx="8499000" cy="3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cuisenaire rods to represent fractions.</a:t>
            </a:r>
            <a:endParaRPr sz="1800"/>
          </a:p>
        </p:txBody>
      </p:sp>
      <p:sp>
        <p:nvSpPr>
          <p:cNvPr id="957" name="Google Shape;957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958" name="Google Shape;958;p79"/>
          <p:cNvGraphicFramePr/>
          <p:nvPr/>
        </p:nvGraphicFramePr>
        <p:xfrm>
          <a:off x="337395" y="116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59" name="Google Shape;959;p79"/>
          <p:cNvSpPr/>
          <p:nvPr/>
        </p:nvSpPr>
        <p:spPr>
          <a:xfrm>
            <a:off x="337385" y="1160262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9"/>
          <p:cNvSpPr/>
          <p:nvPr/>
        </p:nvSpPr>
        <p:spPr>
          <a:xfrm>
            <a:off x="337395" y="152595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9"/>
          <p:cNvSpPr/>
          <p:nvPr/>
        </p:nvSpPr>
        <p:spPr>
          <a:xfrm>
            <a:off x="337395" y="1889925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9"/>
          <p:cNvSpPr/>
          <p:nvPr/>
        </p:nvSpPr>
        <p:spPr>
          <a:xfrm>
            <a:off x="337395" y="22537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9"/>
          <p:cNvSpPr/>
          <p:nvPr/>
        </p:nvSpPr>
        <p:spPr>
          <a:xfrm>
            <a:off x="337395" y="261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9"/>
          <p:cNvSpPr/>
          <p:nvPr/>
        </p:nvSpPr>
        <p:spPr>
          <a:xfrm>
            <a:off x="337395" y="298185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9"/>
          <p:cNvSpPr/>
          <p:nvPr/>
        </p:nvSpPr>
        <p:spPr>
          <a:xfrm>
            <a:off x="337395" y="3345950"/>
            <a:ext cx="2679900" cy="3642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9"/>
          <p:cNvSpPr/>
          <p:nvPr/>
        </p:nvSpPr>
        <p:spPr>
          <a:xfrm>
            <a:off x="337395" y="371005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9"/>
          <p:cNvSpPr/>
          <p:nvPr/>
        </p:nvSpPr>
        <p:spPr>
          <a:xfrm>
            <a:off x="337395" y="4074150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9"/>
          <p:cNvSpPr/>
          <p:nvPr/>
        </p:nvSpPr>
        <p:spPr>
          <a:xfrm>
            <a:off x="337395" y="443825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9" name="Google Shape;969;p79"/>
          <p:cNvCxnSpPr/>
          <p:nvPr/>
        </p:nvCxnSpPr>
        <p:spPr>
          <a:xfrm>
            <a:off x="4684995" y="1860864"/>
            <a:ext cx="229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0" name="Google Shape;970;p79"/>
          <p:cNvSpPr txBox="1"/>
          <p:nvPr/>
        </p:nvSpPr>
        <p:spPr>
          <a:xfrm>
            <a:off x="5522995" y="1514791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9"/>
          <p:cNvSpPr/>
          <p:nvPr/>
        </p:nvSpPr>
        <p:spPr>
          <a:xfrm>
            <a:off x="4684995" y="197130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9"/>
          <p:cNvSpPr txBox="1"/>
          <p:nvPr>
            <p:ph idx="1" type="body"/>
          </p:nvPr>
        </p:nvSpPr>
        <p:spPr>
          <a:xfrm>
            <a:off x="4366800" y="1149750"/>
            <a:ext cx="4453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 dark </a:t>
            </a:r>
            <a:r>
              <a:rPr lang="en-GB" sz="1800"/>
              <a:t>green</a:t>
            </a:r>
            <a:r>
              <a:rPr lang="en-GB" sz="1800"/>
              <a:t> rod (d) represents 1,</a:t>
            </a:r>
            <a:endParaRPr sz="1800"/>
          </a:p>
        </p:txBody>
      </p:sp>
      <p:sp>
        <p:nvSpPr>
          <p:cNvPr id="973" name="Google Shape;973;p79"/>
          <p:cNvSpPr txBox="1"/>
          <p:nvPr>
            <p:ph idx="1" type="body"/>
          </p:nvPr>
        </p:nvSpPr>
        <p:spPr>
          <a:xfrm>
            <a:off x="4399350" y="2445925"/>
            <a:ext cx="4206000" cy="6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fraction does the light green rod (g) represent?</a:t>
            </a:r>
            <a:endParaRPr sz="1800"/>
          </a:p>
        </p:txBody>
      </p:sp>
      <p:sp>
        <p:nvSpPr>
          <p:cNvPr id="974" name="Google Shape;974;p79"/>
          <p:cNvSpPr/>
          <p:nvPr/>
        </p:nvSpPr>
        <p:spPr>
          <a:xfrm>
            <a:off x="4684995" y="3232250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9"/>
          <p:cNvSpPr txBox="1"/>
          <p:nvPr>
            <p:ph idx="1" type="body"/>
          </p:nvPr>
        </p:nvSpPr>
        <p:spPr>
          <a:xfrm>
            <a:off x="4366800" y="3706875"/>
            <a:ext cx="3913800" cy="6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Light green (g) fits twice along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76" name="Google Shape;976;p79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001" y="4318534"/>
            <a:ext cx="159400" cy="50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79"/>
          <p:cNvSpPr txBox="1"/>
          <p:nvPr>
            <p:ph idx="1" type="body"/>
          </p:nvPr>
        </p:nvSpPr>
        <p:spPr>
          <a:xfrm>
            <a:off x="4366800" y="4049800"/>
            <a:ext cx="3913800" cy="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dark green (d) so the light </a:t>
            </a:r>
            <a:endParaRPr sz="1800"/>
          </a:p>
        </p:txBody>
      </p:sp>
      <p:sp>
        <p:nvSpPr>
          <p:cNvPr id="978" name="Google Shape;978;p79"/>
          <p:cNvSpPr txBox="1"/>
          <p:nvPr>
            <p:ph idx="1" type="body"/>
          </p:nvPr>
        </p:nvSpPr>
        <p:spPr>
          <a:xfrm>
            <a:off x="4366800" y="4392675"/>
            <a:ext cx="39138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represents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0"/>
          <p:cNvSpPr txBox="1"/>
          <p:nvPr>
            <p:ph idx="1" type="body"/>
          </p:nvPr>
        </p:nvSpPr>
        <p:spPr>
          <a:xfrm>
            <a:off x="324000" y="759300"/>
            <a:ext cx="8499000" cy="3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cuisenaire rods to represent fractions.</a:t>
            </a:r>
            <a:endParaRPr sz="1800"/>
          </a:p>
        </p:txBody>
      </p:sp>
      <p:sp>
        <p:nvSpPr>
          <p:cNvPr id="984" name="Google Shape;98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985" name="Google Shape;985;p80"/>
          <p:cNvGraphicFramePr/>
          <p:nvPr/>
        </p:nvGraphicFramePr>
        <p:xfrm>
          <a:off x="337395" y="116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6" name="Google Shape;986;p80"/>
          <p:cNvSpPr/>
          <p:nvPr/>
        </p:nvSpPr>
        <p:spPr>
          <a:xfrm>
            <a:off x="337385" y="1160262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80"/>
          <p:cNvSpPr/>
          <p:nvPr/>
        </p:nvSpPr>
        <p:spPr>
          <a:xfrm>
            <a:off x="337395" y="152595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80"/>
          <p:cNvSpPr/>
          <p:nvPr/>
        </p:nvSpPr>
        <p:spPr>
          <a:xfrm>
            <a:off x="337395" y="1889925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80"/>
          <p:cNvSpPr/>
          <p:nvPr/>
        </p:nvSpPr>
        <p:spPr>
          <a:xfrm>
            <a:off x="337395" y="22537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0"/>
          <p:cNvSpPr/>
          <p:nvPr/>
        </p:nvSpPr>
        <p:spPr>
          <a:xfrm>
            <a:off x="337395" y="261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0"/>
          <p:cNvSpPr/>
          <p:nvPr/>
        </p:nvSpPr>
        <p:spPr>
          <a:xfrm>
            <a:off x="337395" y="298185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0"/>
          <p:cNvSpPr/>
          <p:nvPr/>
        </p:nvSpPr>
        <p:spPr>
          <a:xfrm>
            <a:off x="337395" y="3345950"/>
            <a:ext cx="2679900" cy="3642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80"/>
          <p:cNvSpPr/>
          <p:nvPr/>
        </p:nvSpPr>
        <p:spPr>
          <a:xfrm>
            <a:off x="337395" y="371005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0"/>
          <p:cNvSpPr/>
          <p:nvPr/>
        </p:nvSpPr>
        <p:spPr>
          <a:xfrm>
            <a:off x="337395" y="4074150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0"/>
          <p:cNvSpPr/>
          <p:nvPr/>
        </p:nvSpPr>
        <p:spPr>
          <a:xfrm>
            <a:off x="337395" y="443825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0"/>
          <p:cNvSpPr txBox="1"/>
          <p:nvPr>
            <p:ph idx="1" type="body"/>
          </p:nvPr>
        </p:nvSpPr>
        <p:spPr>
          <a:xfrm>
            <a:off x="4366800" y="1149750"/>
            <a:ext cx="4453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other fractions can you represent using these cuisenaire rods?</a:t>
            </a:r>
            <a:endParaRPr sz="1800"/>
          </a:p>
        </p:txBody>
      </p:sp>
      <p:sp>
        <p:nvSpPr>
          <p:cNvPr id="997" name="Google Shape;997;p80"/>
          <p:cNvSpPr txBox="1"/>
          <p:nvPr>
            <p:ph idx="1" type="body"/>
          </p:nvPr>
        </p:nvSpPr>
        <p:spPr>
          <a:xfrm>
            <a:off x="4366800" y="1890150"/>
            <a:ext cx="1854300" cy="4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Some examples: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80"/>
          <p:cNvSpPr/>
          <p:nvPr/>
        </p:nvSpPr>
        <p:spPr>
          <a:xfrm>
            <a:off x="4366797" y="2700000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0"/>
          <p:cNvSpPr/>
          <p:nvPr/>
        </p:nvSpPr>
        <p:spPr>
          <a:xfrm>
            <a:off x="4366800" y="2335800"/>
            <a:ext cx="18084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0"/>
          <p:cNvSpPr/>
          <p:nvPr/>
        </p:nvSpPr>
        <p:spPr>
          <a:xfrm>
            <a:off x="4731315" y="2700000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0"/>
          <p:cNvSpPr/>
          <p:nvPr/>
        </p:nvSpPr>
        <p:spPr>
          <a:xfrm>
            <a:off x="5091231" y="2700000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0"/>
          <p:cNvSpPr/>
          <p:nvPr/>
        </p:nvSpPr>
        <p:spPr>
          <a:xfrm>
            <a:off x="5811064" y="2700000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0"/>
          <p:cNvSpPr/>
          <p:nvPr/>
        </p:nvSpPr>
        <p:spPr>
          <a:xfrm>
            <a:off x="5446546" y="2700000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0"/>
          <p:cNvSpPr/>
          <p:nvPr/>
        </p:nvSpPr>
        <p:spPr>
          <a:xfrm>
            <a:off x="4366800" y="3057900"/>
            <a:ext cx="7245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0"/>
          <p:cNvSpPr txBox="1"/>
          <p:nvPr>
            <p:ph idx="1" type="body"/>
          </p:nvPr>
        </p:nvSpPr>
        <p:spPr>
          <a:xfrm>
            <a:off x="6441300" y="2361750"/>
            <a:ext cx="1854300" cy="4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 is 1, w is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r is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6" name="Google Shape;1006;p80"/>
          <p:cNvSpPr txBox="1"/>
          <p:nvPr>
            <p:ph idx="1" type="body"/>
          </p:nvPr>
        </p:nvSpPr>
        <p:spPr>
          <a:xfrm>
            <a:off x="6771400" y="3569988"/>
            <a:ext cx="1854300" cy="4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B is 1, g is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d is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7" name="Google Shape;1007;p80"/>
          <p:cNvSpPr/>
          <p:nvPr/>
        </p:nvSpPr>
        <p:spPr>
          <a:xfrm>
            <a:off x="4319995" y="3710050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0"/>
          <p:cNvSpPr/>
          <p:nvPr/>
        </p:nvSpPr>
        <p:spPr>
          <a:xfrm>
            <a:off x="4319995" y="408510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0"/>
          <p:cNvSpPr/>
          <p:nvPr/>
        </p:nvSpPr>
        <p:spPr>
          <a:xfrm>
            <a:off x="4319995" y="4446325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010" name="Google Shape;1010;p8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225" y="2229149"/>
            <a:ext cx="179650" cy="577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011" name="Google Shape;1011;p80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50" y="2750170"/>
            <a:ext cx="179650" cy="577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12" name="Google Shape;1012;p80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5600" y="3380241"/>
            <a:ext cx="179650" cy="594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13" name="Google Shape;1013;p80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1575" y="3958950"/>
            <a:ext cx="179650" cy="594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1"/>
          <p:cNvSpPr txBox="1"/>
          <p:nvPr>
            <p:ph idx="1" type="body"/>
          </p:nvPr>
        </p:nvSpPr>
        <p:spPr>
          <a:xfrm>
            <a:off x="324000" y="759300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Work out the missing lengths given that: </a:t>
            </a:r>
            <a:endParaRPr sz="1800"/>
          </a:p>
        </p:txBody>
      </p:sp>
      <p:sp>
        <p:nvSpPr>
          <p:cNvPr id="1019" name="Google Shape;101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1020" name="Google Shape;1020;p81"/>
          <p:cNvGraphicFramePr/>
          <p:nvPr/>
        </p:nvGraphicFramePr>
        <p:xfrm>
          <a:off x="337395" y="116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21" name="Google Shape;1021;p81"/>
          <p:cNvSpPr/>
          <p:nvPr/>
        </p:nvSpPr>
        <p:spPr>
          <a:xfrm>
            <a:off x="337385" y="1160262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1"/>
          <p:cNvSpPr/>
          <p:nvPr/>
        </p:nvSpPr>
        <p:spPr>
          <a:xfrm>
            <a:off x="337395" y="152595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1"/>
          <p:cNvSpPr/>
          <p:nvPr/>
        </p:nvSpPr>
        <p:spPr>
          <a:xfrm>
            <a:off x="337395" y="1889925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1"/>
          <p:cNvSpPr/>
          <p:nvPr/>
        </p:nvSpPr>
        <p:spPr>
          <a:xfrm>
            <a:off x="337395" y="22537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1"/>
          <p:cNvSpPr/>
          <p:nvPr/>
        </p:nvSpPr>
        <p:spPr>
          <a:xfrm>
            <a:off x="337395" y="261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1"/>
          <p:cNvSpPr/>
          <p:nvPr/>
        </p:nvSpPr>
        <p:spPr>
          <a:xfrm>
            <a:off x="337395" y="298185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1"/>
          <p:cNvSpPr/>
          <p:nvPr/>
        </p:nvSpPr>
        <p:spPr>
          <a:xfrm>
            <a:off x="337395" y="3345950"/>
            <a:ext cx="2679900" cy="3642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1"/>
          <p:cNvSpPr/>
          <p:nvPr/>
        </p:nvSpPr>
        <p:spPr>
          <a:xfrm>
            <a:off x="337395" y="371005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1"/>
          <p:cNvSpPr/>
          <p:nvPr/>
        </p:nvSpPr>
        <p:spPr>
          <a:xfrm>
            <a:off x="337395" y="4074150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1"/>
          <p:cNvSpPr/>
          <p:nvPr/>
        </p:nvSpPr>
        <p:spPr>
          <a:xfrm>
            <a:off x="337395" y="443825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1"/>
          <p:cNvSpPr/>
          <p:nvPr/>
        </p:nvSpPr>
        <p:spPr>
          <a:xfrm>
            <a:off x="5036245" y="81000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1"/>
          <p:cNvSpPr/>
          <p:nvPr/>
        </p:nvSpPr>
        <p:spPr>
          <a:xfrm>
            <a:off x="5036245" y="1759712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1"/>
          <p:cNvSpPr/>
          <p:nvPr/>
        </p:nvSpPr>
        <p:spPr>
          <a:xfrm>
            <a:off x="5044045" y="2756625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1"/>
          <p:cNvSpPr/>
          <p:nvPr/>
        </p:nvSpPr>
        <p:spPr>
          <a:xfrm>
            <a:off x="5044045" y="3821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5" name="Google Shape;1035;p81"/>
          <p:cNvCxnSpPr/>
          <p:nvPr/>
        </p:nvCxnSpPr>
        <p:spPr>
          <a:xfrm>
            <a:off x="5036245" y="2214064"/>
            <a:ext cx="1164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6" name="Google Shape;1036;p81"/>
          <p:cNvCxnSpPr/>
          <p:nvPr/>
        </p:nvCxnSpPr>
        <p:spPr>
          <a:xfrm>
            <a:off x="5044045" y="3209839"/>
            <a:ext cx="78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7" name="Google Shape;1037;p81"/>
          <p:cNvCxnSpPr/>
          <p:nvPr/>
        </p:nvCxnSpPr>
        <p:spPr>
          <a:xfrm>
            <a:off x="5044045" y="4283028"/>
            <a:ext cx="1930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8" name="Google Shape;1038;p81"/>
          <p:cNvSpPr txBox="1"/>
          <p:nvPr/>
        </p:nvSpPr>
        <p:spPr>
          <a:xfrm>
            <a:off x="4385975" y="16113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1"/>
          <p:cNvSpPr txBox="1"/>
          <p:nvPr/>
        </p:nvSpPr>
        <p:spPr>
          <a:xfrm>
            <a:off x="4385975" y="2660713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1"/>
          <p:cNvSpPr txBox="1"/>
          <p:nvPr/>
        </p:nvSpPr>
        <p:spPr>
          <a:xfrm>
            <a:off x="4385975" y="37100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1"/>
          <p:cNvSpPr txBox="1"/>
          <p:nvPr/>
        </p:nvSpPr>
        <p:spPr>
          <a:xfrm>
            <a:off x="5371345" y="2102834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1"/>
          <p:cNvSpPr txBox="1"/>
          <p:nvPr/>
        </p:nvSpPr>
        <p:spPr>
          <a:xfrm>
            <a:off x="5183545" y="3120822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1"/>
          <p:cNvSpPr txBox="1"/>
          <p:nvPr/>
        </p:nvSpPr>
        <p:spPr>
          <a:xfrm>
            <a:off x="5749795" y="4190048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4" name="Google Shape;1044;p81"/>
          <p:cNvCxnSpPr/>
          <p:nvPr/>
        </p:nvCxnSpPr>
        <p:spPr>
          <a:xfrm>
            <a:off x="5036245" y="1244725"/>
            <a:ext cx="231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5" name="Google Shape;1045;p81"/>
          <p:cNvSpPr txBox="1"/>
          <p:nvPr/>
        </p:nvSpPr>
        <p:spPr>
          <a:xfrm>
            <a:off x="5933395" y="1160241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46" name="Google Shape;1046;p81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837" y="1715175"/>
            <a:ext cx="194025" cy="618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47" name="Google Shape;1047;p81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0842" y="2699094"/>
            <a:ext cx="194037" cy="642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048" name="Google Shape;1048;p81" title="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4325" y="3768443"/>
            <a:ext cx="194025" cy="635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54" name="Google Shape;105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725" y="1804582"/>
            <a:ext cx="22669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6425" y="1859134"/>
            <a:ext cx="1403300" cy="14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3979" y="1848270"/>
            <a:ext cx="1499850" cy="28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2"/>
          <p:cNvSpPr txBox="1"/>
          <p:nvPr>
            <p:ph idx="1" type="body"/>
          </p:nvPr>
        </p:nvSpPr>
        <p:spPr>
          <a:xfrm>
            <a:off x="324000" y="759300"/>
            <a:ext cx="8237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 What fraction of each diagram is shaded? </a:t>
            </a:r>
            <a:endParaRPr/>
          </a:p>
        </p:txBody>
      </p:sp>
      <p:sp>
        <p:nvSpPr>
          <p:cNvPr id="1058" name="Google Shape;1058;p82"/>
          <p:cNvSpPr txBox="1"/>
          <p:nvPr>
            <p:ph idx="1" type="body"/>
          </p:nvPr>
        </p:nvSpPr>
        <p:spPr>
          <a:xfrm>
            <a:off x="324000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endParaRPr/>
          </a:p>
        </p:txBody>
      </p:sp>
      <p:sp>
        <p:nvSpPr>
          <p:cNvPr id="1059" name="Google Shape;1059;p82"/>
          <p:cNvSpPr txBox="1"/>
          <p:nvPr>
            <p:ph idx="1" type="body"/>
          </p:nvPr>
        </p:nvSpPr>
        <p:spPr>
          <a:xfrm>
            <a:off x="3266625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</a:t>
            </a:r>
            <a:endParaRPr/>
          </a:p>
        </p:txBody>
      </p:sp>
      <p:sp>
        <p:nvSpPr>
          <p:cNvPr id="1060" name="Google Shape;1060;p82"/>
          <p:cNvSpPr txBox="1"/>
          <p:nvPr>
            <p:ph idx="1" type="body"/>
          </p:nvPr>
        </p:nvSpPr>
        <p:spPr>
          <a:xfrm>
            <a:off x="5639700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c)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83"/>
          <p:cNvSpPr txBox="1"/>
          <p:nvPr>
            <p:ph idx="1" type="body"/>
          </p:nvPr>
        </p:nvSpPr>
        <p:spPr>
          <a:xfrm>
            <a:off x="324000" y="759300"/>
            <a:ext cx="8237700" cy="4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What fraction of each diagram is shaded?</a:t>
            </a:r>
            <a:endParaRPr/>
          </a:p>
        </p:txBody>
      </p:sp>
      <p:pic>
        <p:nvPicPr>
          <p:cNvPr id="1067" name="Google Shape;106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37" y="2038359"/>
            <a:ext cx="1919136" cy="19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527" y="2493751"/>
            <a:ext cx="2821511" cy="108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4212" y="2083863"/>
            <a:ext cx="1887362" cy="1906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83"/>
          <p:cNvSpPr txBox="1"/>
          <p:nvPr>
            <p:ph idx="1" type="body"/>
          </p:nvPr>
        </p:nvSpPr>
        <p:spPr>
          <a:xfrm>
            <a:off x="324000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d) </a:t>
            </a:r>
            <a:endParaRPr/>
          </a:p>
        </p:txBody>
      </p:sp>
      <p:sp>
        <p:nvSpPr>
          <p:cNvPr id="1071" name="Google Shape;1071;p83"/>
          <p:cNvSpPr txBox="1"/>
          <p:nvPr>
            <p:ph idx="1" type="body"/>
          </p:nvPr>
        </p:nvSpPr>
        <p:spPr>
          <a:xfrm>
            <a:off x="3266625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e) </a:t>
            </a:r>
            <a:endParaRPr/>
          </a:p>
        </p:txBody>
      </p:sp>
      <p:sp>
        <p:nvSpPr>
          <p:cNvPr id="1072" name="Google Shape;1072;p83"/>
          <p:cNvSpPr txBox="1"/>
          <p:nvPr>
            <p:ph idx="1" type="body"/>
          </p:nvPr>
        </p:nvSpPr>
        <p:spPr>
          <a:xfrm>
            <a:off x="5639700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f)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324000" y="759300"/>
            <a:ext cx="7096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Work out the missing lengths given that:</a:t>
            </a:r>
            <a:endParaRPr sz="2000"/>
          </a:p>
        </p:txBody>
      </p:sp>
      <p:sp>
        <p:nvSpPr>
          <p:cNvPr id="1078" name="Google Shape;1078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1079" name="Google Shape;1079;p84"/>
          <p:cNvGraphicFramePr/>
          <p:nvPr/>
        </p:nvGraphicFramePr>
        <p:xfrm>
          <a:off x="337395" y="116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0" name="Google Shape;1080;p84"/>
          <p:cNvSpPr/>
          <p:nvPr/>
        </p:nvSpPr>
        <p:spPr>
          <a:xfrm>
            <a:off x="337385" y="1160262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4"/>
          <p:cNvSpPr/>
          <p:nvPr/>
        </p:nvSpPr>
        <p:spPr>
          <a:xfrm>
            <a:off x="337395" y="152595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4"/>
          <p:cNvSpPr/>
          <p:nvPr/>
        </p:nvSpPr>
        <p:spPr>
          <a:xfrm>
            <a:off x="337395" y="1889925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4"/>
          <p:cNvSpPr/>
          <p:nvPr/>
        </p:nvSpPr>
        <p:spPr>
          <a:xfrm>
            <a:off x="337395" y="22537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4"/>
          <p:cNvSpPr/>
          <p:nvPr/>
        </p:nvSpPr>
        <p:spPr>
          <a:xfrm>
            <a:off x="337395" y="261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4"/>
          <p:cNvSpPr/>
          <p:nvPr/>
        </p:nvSpPr>
        <p:spPr>
          <a:xfrm>
            <a:off x="337395" y="298185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4"/>
          <p:cNvSpPr/>
          <p:nvPr/>
        </p:nvSpPr>
        <p:spPr>
          <a:xfrm>
            <a:off x="337395" y="3345950"/>
            <a:ext cx="2679900" cy="3642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4"/>
          <p:cNvSpPr/>
          <p:nvPr/>
        </p:nvSpPr>
        <p:spPr>
          <a:xfrm>
            <a:off x="337395" y="371005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4"/>
          <p:cNvSpPr/>
          <p:nvPr/>
        </p:nvSpPr>
        <p:spPr>
          <a:xfrm>
            <a:off x="337395" y="4074150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4"/>
          <p:cNvSpPr/>
          <p:nvPr/>
        </p:nvSpPr>
        <p:spPr>
          <a:xfrm>
            <a:off x="337395" y="443825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4"/>
          <p:cNvSpPr/>
          <p:nvPr/>
        </p:nvSpPr>
        <p:spPr>
          <a:xfrm>
            <a:off x="5234995" y="3780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4"/>
          <p:cNvSpPr/>
          <p:nvPr/>
        </p:nvSpPr>
        <p:spPr>
          <a:xfrm>
            <a:off x="5234995" y="27994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4"/>
          <p:cNvSpPr/>
          <p:nvPr/>
        </p:nvSpPr>
        <p:spPr>
          <a:xfrm>
            <a:off x="5234995" y="168440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4"/>
          <p:cNvSpPr/>
          <p:nvPr/>
        </p:nvSpPr>
        <p:spPr>
          <a:xfrm>
            <a:off x="5692195" y="75930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4" name="Google Shape;1094;p84"/>
          <p:cNvCxnSpPr/>
          <p:nvPr/>
        </p:nvCxnSpPr>
        <p:spPr>
          <a:xfrm>
            <a:off x="5692195" y="1244714"/>
            <a:ext cx="3051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5" name="Google Shape;1095;p84"/>
          <p:cNvSpPr txBox="1"/>
          <p:nvPr/>
        </p:nvSpPr>
        <p:spPr>
          <a:xfrm>
            <a:off x="6990720" y="1185591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6" name="Google Shape;1096;p84"/>
          <p:cNvCxnSpPr/>
          <p:nvPr/>
        </p:nvCxnSpPr>
        <p:spPr>
          <a:xfrm>
            <a:off x="5232145" y="2159989"/>
            <a:ext cx="78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7" name="Google Shape;1097;p84"/>
          <p:cNvCxnSpPr/>
          <p:nvPr/>
        </p:nvCxnSpPr>
        <p:spPr>
          <a:xfrm>
            <a:off x="5232145" y="3270114"/>
            <a:ext cx="15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8" name="Google Shape;1098;p84"/>
          <p:cNvCxnSpPr/>
          <p:nvPr/>
        </p:nvCxnSpPr>
        <p:spPr>
          <a:xfrm>
            <a:off x="5228395" y="4226189"/>
            <a:ext cx="1930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9" name="Google Shape;1099;p84"/>
          <p:cNvSpPr txBox="1"/>
          <p:nvPr/>
        </p:nvSpPr>
        <p:spPr>
          <a:xfrm>
            <a:off x="4385975" y="16113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4"/>
          <p:cNvSpPr txBox="1"/>
          <p:nvPr/>
        </p:nvSpPr>
        <p:spPr>
          <a:xfrm>
            <a:off x="4385975" y="2660713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4"/>
          <p:cNvSpPr txBox="1"/>
          <p:nvPr/>
        </p:nvSpPr>
        <p:spPr>
          <a:xfrm>
            <a:off x="4385975" y="37100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4"/>
          <p:cNvSpPr txBox="1"/>
          <p:nvPr/>
        </p:nvSpPr>
        <p:spPr>
          <a:xfrm>
            <a:off x="5371345" y="2102834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4"/>
          <p:cNvSpPr txBox="1"/>
          <p:nvPr/>
        </p:nvSpPr>
        <p:spPr>
          <a:xfrm>
            <a:off x="5749345" y="3171234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4"/>
          <p:cNvSpPr txBox="1"/>
          <p:nvPr/>
        </p:nvSpPr>
        <p:spPr>
          <a:xfrm>
            <a:off x="5940745" y="4136609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5"/>
          <p:cNvSpPr txBox="1"/>
          <p:nvPr>
            <p:ph idx="1" type="body"/>
          </p:nvPr>
        </p:nvSpPr>
        <p:spPr>
          <a:xfrm>
            <a:off x="324000" y="759300"/>
            <a:ext cx="8237700" cy="3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) Work out the missing lengths given that:</a:t>
            </a:r>
            <a:endParaRPr sz="2000"/>
          </a:p>
        </p:txBody>
      </p:sp>
      <p:sp>
        <p:nvSpPr>
          <p:cNvPr id="1110" name="Google Shape;1110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1111" name="Google Shape;1111;p85"/>
          <p:cNvGraphicFramePr/>
          <p:nvPr/>
        </p:nvGraphicFramePr>
        <p:xfrm>
          <a:off x="337395" y="116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2" name="Google Shape;1112;p85"/>
          <p:cNvSpPr/>
          <p:nvPr/>
        </p:nvSpPr>
        <p:spPr>
          <a:xfrm>
            <a:off x="337385" y="1160262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5"/>
          <p:cNvSpPr/>
          <p:nvPr/>
        </p:nvSpPr>
        <p:spPr>
          <a:xfrm>
            <a:off x="337395" y="152595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5"/>
          <p:cNvSpPr/>
          <p:nvPr/>
        </p:nvSpPr>
        <p:spPr>
          <a:xfrm>
            <a:off x="337395" y="1889925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5"/>
          <p:cNvSpPr/>
          <p:nvPr/>
        </p:nvSpPr>
        <p:spPr>
          <a:xfrm>
            <a:off x="337395" y="22537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5"/>
          <p:cNvSpPr/>
          <p:nvPr/>
        </p:nvSpPr>
        <p:spPr>
          <a:xfrm>
            <a:off x="337395" y="261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5"/>
          <p:cNvSpPr/>
          <p:nvPr/>
        </p:nvSpPr>
        <p:spPr>
          <a:xfrm>
            <a:off x="337395" y="298185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5"/>
          <p:cNvSpPr/>
          <p:nvPr/>
        </p:nvSpPr>
        <p:spPr>
          <a:xfrm>
            <a:off x="337395" y="3345950"/>
            <a:ext cx="2679900" cy="3642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5"/>
          <p:cNvSpPr/>
          <p:nvPr/>
        </p:nvSpPr>
        <p:spPr>
          <a:xfrm>
            <a:off x="337395" y="371005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5"/>
          <p:cNvSpPr/>
          <p:nvPr/>
        </p:nvSpPr>
        <p:spPr>
          <a:xfrm>
            <a:off x="337395" y="4074150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5"/>
          <p:cNvSpPr/>
          <p:nvPr/>
        </p:nvSpPr>
        <p:spPr>
          <a:xfrm>
            <a:off x="337395" y="443825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5"/>
          <p:cNvSpPr/>
          <p:nvPr/>
        </p:nvSpPr>
        <p:spPr>
          <a:xfrm>
            <a:off x="4853995" y="3068258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3" name="Google Shape;1123;p85"/>
          <p:cNvCxnSpPr/>
          <p:nvPr/>
        </p:nvCxnSpPr>
        <p:spPr>
          <a:xfrm>
            <a:off x="4207770" y="1616439"/>
            <a:ext cx="461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4" name="Google Shape;1124;p85"/>
          <p:cNvSpPr txBox="1"/>
          <p:nvPr/>
        </p:nvSpPr>
        <p:spPr>
          <a:xfrm>
            <a:off x="6262328" y="1551292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5" name="Google Shape;1125;p85"/>
          <p:cNvCxnSpPr/>
          <p:nvPr/>
        </p:nvCxnSpPr>
        <p:spPr>
          <a:xfrm>
            <a:off x="4823995" y="2604572"/>
            <a:ext cx="2314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6" name="Google Shape;1126;p85"/>
          <p:cNvCxnSpPr/>
          <p:nvPr/>
        </p:nvCxnSpPr>
        <p:spPr>
          <a:xfrm>
            <a:off x="4851145" y="3538897"/>
            <a:ext cx="15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7" name="Google Shape;1127;p85"/>
          <p:cNvCxnSpPr/>
          <p:nvPr/>
        </p:nvCxnSpPr>
        <p:spPr>
          <a:xfrm>
            <a:off x="4851145" y="4510897"/>
            <a:ext cx="342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8" name="Google Shape;1128;p85"/>
          <p:cNvSpPr txBox="1"/>
          <p:nvPr/>
        </p:nvSpPr>
        <p:spPr>
          <a:xfrm>
            <a:off x="4385975" y="19923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5"/>
          <p:cNvSpPr txBox="1"/>
          <p:nvPr/>
        </p:nvSpPr>
        <p:spPr>
          <a:xfrm>
            <a:off x="4385975" y="2889313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5"/>
          <p:cNvSpPr txBox="1"/>
          <p:nvPr/>
        </p:nvSpPr>
        <p:spPr>
          <a:xfrm>
            <a:off x="4385975" y="38624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5"/>
          <p:cNvSpPr txBox="1"/>
          <p:nvPr/>
        </p:nvSpPr>
        <p:spPr>
          <a:xfrm>
            <a:off x="5721120" y="2550843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5"/>
          <p:cNvSpPr txBox="1"/>
          <p:nvPr/>
        </p:nvSpPr>
        <p:spPr>
          <a:xfrm>
            <a:off x="5368345" y="3440018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5"/>
          <p:cNvSpPr txBox="1"/>
          <p:nvPr/>
        </p:nvSpPr>
        <p:spPr>
          <a:xfrm>
            <a:off x="6312745" y="4473218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5"/>
          <p:cNvSpPr/>
          <p:nvPr/>
        </p:nvSpPr>
        <p:spPr>
          <a:xfrm>
            <a:off x="4207779" y="1165675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5"/>
          <p:cNvSpPr/>
          <p:nvPr/>
        </p:nvSpPr>
        <p:spPr>
          <a:xfrm>
            <a:off x="8036379" y="1165675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5"/>
          <p:cNvSpPr/>
          <p:nvPr/>
        </p:nvSpPr>
        <p:spPr>
          <a:xfrm>
            <a:off x="4823970" y="214700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5"/>
          <p:cNvSpPr/>
          <p:nvPr/>
        </p:nvSpPr>
        <p:spPr>
          <a:xfrm>
            <a:off x="4823995" y="4025625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9}&quot;&gt;&lt;mfrac&gt;&lt;mn&gt;5&lt;/mn&gt;&lt;mn&gt;9&lt;/mn&gt;&lt;/mfrac&gt;&lt;/math&gt;" id="1143" name="Google Shape;1143;p86" title="fiv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708" y="4067123"/>
            <a:ext cx="221992" cy="727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1144" name="Google Shape;1144;p86" title="one eigh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8235" y="3340098"/>
            <a:ext cx="219677" cy="72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5" name="Google Shape;1145;p86"/>
          <p:cNvGrpSpPr/>
          <p:nvPr/>
        </p:nvGrpSpPr>
        <p:grpSpPr>
          <a:xfrm>
            <a:off x="7823863" y="2140860"/>
            <a:ext cx="471000" cy="2102614"/>
            <a:chOff x="7823863" y="2140860"/>
            <a:chExt cx="471000" cy="2102614"/>
          </a:xfrm>
        </p:grpSpPr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146" name="Google Shape;1146;p86" title="one six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911580" y="3516448"/>
              <a:ext cx="226186" cy="72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18}&quot;&gt;&lt;mfrac&gt;&lt;mn&gt;3&lt;/mn&gt;&lt;mn&gt;18&lt;/mn&gt;&lt;/mfrac&gt;&lt;/math&gt;" id="1147" name="Google Shape;1147;p86" title="3 over 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63220" y="2140860"/>
              <a:ext cx="392280" cy="7270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86"/>
            <p:cNvSpPr txBox="1"/>
            <p:nvPr/>
          </p:nvSpPr>
          <p:spPr>
            <a:xfrm>
              <a:off x="7823863" y="2936300"/>
              <a:ext cx="4710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or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149" name="Google Shape;1149;p8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What fraction of each diagram is shaded?</a:t>
            </a:r>
            <a:endParaRPr/>
          </a:p>
        </p:txBody>
      </p:sp>
      <p:pic>
        <p:nvPicPr>
          <p:cNvPr id="1150" name="Google Shape;1150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3763" y="1679464"/>
            <a:ext cx="237172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86"/>
          <p:cNvPicPr preferRelativeResize="0"/>
          <p:nvPr/>
        </p:nvPicPr>
        <p:blipFill rotWithShape="1">
          <a:blip r:embed="rId8">
            <a:alphaModFix/>
          </a:blip>
          <a:srcRect b="13363" l="16005" r="15739" t="13128"/>
          <a:stretch/>
        </p:blipFill>
        <p:spPr>
          <a:xfrm>
            <a:off x="3715000" y="1899905"/>
            <a:ext cx="1346150" cy="13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8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1575" y="1893199"/>
            <a:ext cx="1528275" cy="27545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3" name="Google Shape;1153;p86"/>
          <p:cNvGrpSpPr/>
          <p:nvPr/>
        </p:nvGrpSpPr>
        <p:grpSpPr>
          <a:xfrm>
            <a:off x="6216113" y="1999650"/>
            <a:ext cx="1295700" cy="1714800"/>
            <a:chOff x="6063713" y="1999650"/>
            <a:chExt cx="1295700" cy="1714800"/>
          </a:xfrm>
        </p:grpSpPr>
        <p:cxnSp>
          <p:nvCxnSpPr>
            <p:cNvPr id="1154" name="Google Shape;1154;p86"/>
            <p:cNvCxnSpPr/>
            <p:nvPr/>
          </p:nvCxnSpPr>
          <p:spPr>
            <a:xfrm>
              <a:off x="6087075" y="3707600"/>
              <a:ext cx="1266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5" name="Google Shape;1155;p86"/>
            <p:cNvCxnSpPr/>
            <p:nvPr/>
          </p:nvCxnSpPr>
          <p:spPr>
            <a:xfrm>
              <a:off x="6067013" y="2842025"/>
              <a:ext cx="129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6" name="Google Shape;1156;p86"/>
            <p:cNvCxnSpPr/>
            <p:nvPr/>
          </p:nvCxnSpPr>
          <p:spPr>
            <a:xfrm>
              <a:off x="6073675" y="2857050"/>
              <a:ext cx="1279200" cy="8574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86"/>
            <p:cNvCxnSpPr/>
            <p:nvPr/>
          </p:nvCxnSpPr>
          <p:spPr>
            <a:xfrm>
              <a:off x="6063713" y="1999650"/>
              <a:ext cx="1279200" cy="8574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58" name="Google Shape;1158;p86"/>
          <p:cNvSpPr txBox="1"/>
          <p:nvPr>
            <p:ph idx="1" type="body"/>
          </p:nvPr>
        </p:nvSpPr>
        <p:spPr>
          <a:xfrm>
            <a:off x="324000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endParaRPr/>
          </a:p>
        </p:txBody>
      </p:sp>
      <p:sp>
        <p:nvSpPr>
          <p:cNvPr id="1159" name="Google Shape;1159;p86"/>
          <p:cNvSpPr txBox="1"/>
          <p:nvPr>
            <p:ph idx="1" type="body"/>
          </p:nvPr>
        </p:nvSpPr>
        <p:spPr>
          <a:xfrm>
            <a:off x="3266625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</a:t>
            </a:r>
            <a:endParaRPr/>
          </a:p>
        </p:txBody>
      </p:sp>
      <p:sp>
        <p:nvSpPr>
          <p:cNvPr id="1160" name="Google Shape;1160;p86"/>
          <p:cNvSpPr txBox="1"/>
          <p:nvPr>
            <p:ph idx="1" type="body"/>
          </p:nvPr>
        </p:nvSpPr>
        <p:spPr>
          <a:xfrm>
            <a:off x="5639700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fractions to describe diagrams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66" name="Google Shape;116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34" y="2069739"/>
            <a:ext cx="1911148" cy="1930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210" y="2512036"/>
            <a:ext cx="2821525" cy="104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0966" y="2075242"/>
            <a:ext cx="1917604" cy="19369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8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What fraction of each diagram is shaded?</a:t>
            </a:r>
            <a:endParaRPr/>
          </a:p>
        </p:txBody>
      </p:sp>
      <p:sp>
        <p:nvSpPr>
          <p:cNvPr id="1170" name="Google Shape;1170;p87"/>
          <p:cNvSpPr txBox="1"/>
          <p:nvPr/>
        </p:nvSpPr>
        <p:spPr>
          <a:xfrm>
            <a:off x="7436238" y="4140964"/>
            <a:ext cx="471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id="1171" name="Google Shape;1171;p87" title="8 over 16 one half one fourth 3 over 12 6 over 16 three eighths"/>
          <p:cNvPicPr preferRelativeResize="0"/>
          <p:nvPr/>
        </p:nvPicPr>
        <p:blipFill rotWithShape="1">
          <a:blip r:embed="rId6">
            <a:alphaModFix/>
          </a:blip>
          <a:srcRect b="0" l="0" r="86995" t="0"/>
          <a:stretch/>
        </p:blipFill>
        <p:spPr>
          <a:xfrm>
            <a:off x="1095700" y="4000110"/>
            <a:ext cx="474316" cy="78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id="1172" name="Google Shape;1172;p87" title="8 over 16 one half one fourth 3 over 12 6 over 16 three eighths"/>
          <p:cNvPicPr preferRelativeResize="0"/>
          <p:nvPr/>
        </p:nvPicPr>
        <p:blipFill rotWithShape="1">
          <a:blip r:embed="rId6">
            <a:alphaModFix/>
          </a:blip>
          <a:srcRect b="0" l="15387" r="75416" t="0"/>
          <a:stretch/>
        </p:blipFill>
        <p:spPr>
          <a:xfrm>
            <a:off x="1932240" y="4000110"/>
            <a:ext cx="335393" cy="78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id="1173" name="Google Shape;1173;p87" title="8 over 16 one half one fourth 3 over 12 6 over 16 three eighths"/>
          <p:cNvPicPr preferRelativeResize="0"/>
          <p:nvPr/>
        </p:nvPicPr>
        <p:blipFill rotWithShape="1">
          <a:blip r:embed="rId6">
            <a:alphaModFix/>
          </a:blip>
          <a:srcRect b="0" l="31224" r="58234" t="0"/>
          <a:stretch/>
        </p:blipFill>
        <p:spPr>
          <a:xfrm>
            <a:off x="4850160" y="4000110"/>
            <a:ext cx="384465" cy="78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id="1174" name="Google Shape;1174;p87" title="8 over 16 one half one fourth 3 over 12 6 over 16 three eighths"/>
          <p:cNvPicPr preferRelativeResize="0"/>
          <p:nvPr/>
        </p:nvPicPr>
        <p:blipFill rotWithShape="1">
          <a:blip r:embed="rId6">
            <a:alphaModFix/>
          </a:blip>
          <a:srcRect b="0" l="49083" r="37122" t="0"/>
          <a:stretch/>
        </p:blipFill>
        <p:spPr>
          <a:xfrm>
            <a:off x="3972729" y="4000110"/>
            <a:ext cx="503095" cy="78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id="1175" name="Google Shape;1175;p87" title="8 over 16 one half one fourth 3 over 12 6 over 16 three eighths"/>
          <p:cNvPicPr preferRelativeResize="0"/>
          <p:nvPr/>
        </p:nvPicPr>
        <p:blipFill rotWithShape="1">
          <a:blip r:embed="rId6">
            <a:alphaModFix/>
          </a:blip>
          <a:srcRect b="0" l="70529" r="15190" t="0"/>
          <a:stretch/>
        </p:blipFill>
        <p:spPr>
          <a:xfrm>
            <a:off x="6878520" y="4000110"/>
            <a:ext cx="520855" cy="78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id="1176" name="Google Shape;1176;p87" title="8 over 16 one half one fourth 3 over 12 6 over 16 three eighths"/>
          <p:cNvPicPr preferRelativeResize="0"/>
          <p:nvPr/>
        </p:nvPicPr>
        <p:blipFill rotWithShape="1">
          <a:blip r:embed="rId6">
            <a:alphaModFix/>
          </a:blip>
          <a:srcRect b="0" l="92974" r="0" t="0"/>
          <a:stretch/>
        </p:blipFill>
        <p:spPr>
          <a:xfrm>
            <a:off x="7864054" y="4000110"/>
            <a:ext cx="256230" cy="7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87"/>
          <p:cNvSpPr txBox="1"/>
          <p:nvPr/>
        </p:nvSpPr>
        <p:spPr>
          <a:xfrm>
            <a:off x="1526788" y="4140964"/>
            <a:ext cx="471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87"/>
          <p:cNvSpPr txBox="1"/>
          <p:nvPr/>
        </p:nvSpPr>
        <p:spPr>
          <a:xfrm>
            <a:off x="4481525" y="4140964"/>
            <a:ext cx="471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87"/>
          <p:cNvSpPr txBox="1"/>
          <p:nvPr>
            <p:ph idx="1" type="body"/>
          </p:nvPr>
        </p:nvSpPr>
        <p:spPr>
          <a:xfrm>
            <a:off x="324000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d) </a:t>
            </a:r>
            <a:endParaRPr/>
          </a:p>
        </p:txBody>
      </p:sp>
      <p:sp>
        <p:nvSpPr>
          <p:cNvPr id="1180" name="Google Shape;1180;p87"/>
          <p:cNvSpPr txBox="1"/>
          <p:nvPr>
            <p:ph idx="1" type="body"/>
          </p:nvPr>
        </p:nvSpPr>
        <p:spPr>
          <a:xfrm>
            <a:off x="3266625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e) </a:t>
            </a:r>
            <a:endParaRPr/>
          </a:p>
        </p:txBody>
      </p:sp>
      <p:sp>
        <p:nvSpPr>
          <p:cNvPr id="1181" name="Google Shape;1181;p87"/>
          <p:cNvSpPr txBox="1"/>
          <p:nvPr>
            <p:ph idx="1" type="body"/>
          </p:nvPr>
        </p:nvSpPr>
        <p:spPr>
          <a:xfrm>
            <a:off x="5639700" y="1804575"/>
            <a:ext cx="4737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88"/>
          <p:cNvSpPr txBox="1"/>
          <p:nvPr>
            <p:ph idx="1" type="body"/>
          </p:nvPr>
        </p:nvSpPr>
        <p:spPr>
          <a:xfrm>
            <a:off x="324000" y="759300"/>
            <a:ext cx="7474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Work out the missing lengths given that:</a:t>
            </a:r>
            <a:endParaRPr sz="2000"/>
          </a:p>
        </p:txBody>
      </p:sp>
      <p:sp>
        <p:nvSpPr>
          <p:cNvPr id="1187" name="Google Shape;1187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1188" name="Google Shape;1188;p88"/>
          <p:cNvGraphicFramePr/>
          <p:nvPr/>
        </p:nvGraphicFramePr>
        <p:xfrm>
          <a:off x="337395" y="116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9" name="Google Shape;1189;p88"/>
          <p:cNvSpPr/>
          <p:nvPr/>
        </p:nvSpPr>
        <p:spPr>
          <a:xfrm>
            <a:off x="337385" y="1160262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8"/>
          <p:cNvSpPr/>
          <p:nvPr/>
        </p:nvSpPr>
        <p:spPr>
          <a:xfrm>
            <a:off x="337395" y="152595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8"/>
          <p:cNvSpPr/>
          <p:nvPr/>
        </p:nvSpPr>
        <p:spPr>
          <a:xfrm>
            <a:off x="337395" y="1889925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8"/>
          <p:cNvSpPr/>
          <p:nvPr/>
        </p:nvSpPr>
        <p:spPr>
          <a:xfrm>
            <a:off x="337395" y="22537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8"/>
          <p:cNvSpPr/>
          <p:nvPr/>
        </p:nvSpPr>
        <p:spPr>
          <a:xfrm>
            <a:off x="337395" y="261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8"/>
          <p:cNvSpPr/>
          <p:nvPr/>
        </p:nvSpPr>
        <p:spPr>
          <a:xfrm>
            <a:off x="337395" y="298185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8"/>
          <p:cNvSpPr/>
          <p:nvPr/>
        </p:nvSpPr>
        <p:spPr>
          <a:xfrm>
            <a:off x="337395" y="3345950"/>
            <a:ext cx="2679900" cy="3642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8"/>
          <p:cNvSpPr/>
          <p:nvPr/>
        </p:nvSpPr>
        <p:spPr>
          <a:xfrm>
            <a:off x="337395" y="371005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8"/>
          <p:cNvSpPr/>
          <p:nvPr/>
        </p:nvSpPr>
        <p:spPr>
          <a:xfrm>
            <a:off x="337395" y="4074150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8"/>
          <p:cNvSpPr/>
          <p:nvPr/>
        </p:nvSpPr>
        <p:spPr>
          <a:xfrm>
            <a:off x="337395" y="443825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8"/>
          <p:cNvSpPr/>
          <p:nvPr/>
        </p:nvSpPr>
        <p:spPr>
          <a:xfrm>
            <a:off x="5234995" y="3780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8"/>
          <p:cNvSpPr/>
          <p:nvPr/>
        </p:nvSpPr>
        <p:spPr>
          <a:xfrm>
            <a:off x="5234995" y="27994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8"/>
          <p:cNvSpPr/>
          <p:nvPr/>
        </p:nvSpPr>
        <p:spPr>
          <a:xfrm>
            <a:off x="5234995" y="168440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2" name="Google Shape;1202;p88"/>
          <p:cNvCxnSpPr/>
          <p:nvPr/>
        </p:nvCxnSpPr>
        <p:spPr>
          <a:xfrm>
            <a:off x="5232145" y="2159989"/>
            <a:ext cx="78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3" name="Google Shape;1203;p88"/>
          <p:cNvCxnSpPr/>
          <p:nvPr/>
        </p:nvCxnSpPr>
        <p:spPr>
          <a:xfrm>
            <a:off x="5232145" y="3270114"/>
            <a:ext cx="15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4" name="Google Shape;1204;p88"/>
          <p:cNvCxnSpPr/>
          <p:nvPr/>
        </p:nvCxnSpPr>
        <p:spPr>
          <a:xfrm>
            <a:off x="5228395" y="4226189"/>
            <a:ext cx="1930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5" name="Google Shape;1205;p88"/>
          <p:cNvSpPr txBox="1"/>
          <p:nvPr/>
        </p:nvSpPr>
        <p:spPr>
          <a:xfrm>
            <a:off x="4385975" y="16113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8"/>
          <p:cNvSpPr txBox="1"/>
          <p:nvPr/>
        </p:nvSpPr>
        <p:spPr>
          <a:xfrm>
            <a:off x="4385975" y="2660713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8"/>
          <p:cNvSpPr txBox="1"/>
          <p:nvPr/>
        </p:nvSpPr>
        <p:spPr>
          <a:xfrm>
            <a:off x="4385975" y="37100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8"/>
          <p:cNvSpPr txBox="1"/>
          <p:nvPr/>
        </p:nvSpPr>
        <p:spPr>
          <a:xfrm>
            <a:off x="5371345" y="2102834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8"/>
          <p:cNvSpPr txBox="1"/>
          <p:nvPr/>
        </p:nvSpPr>
        <p:spPr>
          <a:xfrm>
            <a:off x="5749345" y="3171234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8"/>
          <p:cNvSpPr txBox="1"/>
          <p:nvPr/>
        </p:nvSpPr>
        <p:spPr>
          <a:xfrm>
            <a:off x="5940745" y="4136609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211" name="Google Shape;1211;p88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3500" y="1594063"/>
            <a:ext cx="200025" cy="637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12" name="Google Shape;1212;p88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6323" y="2700000"/>
            <a:ext cx="200025" cy="63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1213" name="Google Shape;1213;p88" title="fiv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9200" y="3689925"/>
            <a:ext cx="200029" cy="6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88"/>
          <p:cNvSpPr/>
          <p:nvPr/>
        </p:nvSpPr>
        <p:spPr>
          <a:xfrm>
            <a:off x="5692195" y="75930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5" name="Google Shape;1215;p88"/>
          <p:cNvCxnSpPr/>
          <p:nvPr/>
        </p:nvCxnSpPr>
        <p:spPr>
          <a:xfrm>
            <a:off x="5692195" y="1244714"/>
            <a:ext cx="3051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6" name="Google Shape;1216;p88"/>
          <p:cNvSpPr txBox="1"/>
          <p:nvPr/>
        </p:nvSpPr>
        <p:spPr>
          <a:xfrm>
            <a:off x="6990720" y="1185591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Work out the missing lengths given that:</a:t>
            </a:r>
            <a:endParaRPr sz="2000"/>
          </a:p>
        </p:txBody>
      </p:sp>
      <p:sp>
        <p:nvSpPr>
          <p:cNvPr id="1222" name="Google Shape;1222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graphicFrame>
        <p:nvGraphicFramePr>
          <p:cNvPr id="1223" name="Google Shape;1223;p89"/>
          <p:cNvGraphicFramePr/>
          <p:nvPr/>
        </p:nvGraphicFramePr>
        <p:xfrm>
          <a:off x="337395" y="116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4" name="Google Shape;1224;p89"/>
          <p:cNvSpPr/>
          <p:nvPr/>
        </p:nvSpPr>
        <p:spPr>
          <a:xfrm>
            <a:off x="337385" y="1160262"/>
            <a:ext cx="364200" cy="364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9"/>
          <p:cNvSpPr/>
          <p:nvPr/>
        </p:nvSpPr>
        <p:spPr>
          <a:xfrm>
            <a:off x="337395" y="1525950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9"/>
          <p:cNvSpPr/>
          <p:nvPr/>
        </p:nvSpPr>
        <p:spPr>
          <a:xfrm>
            <a:off x="337395" y="1889925"/>
            <a:ext cx="1148700" cy="364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9"/>
          <p:cNvSpPr/>
          <p:nvPr/>
        </p:nvSpPr>
        <p:spPr>
          <a:xfrm>
            <a:off x="337395" y="2253775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9"/>
          <p:cNvSpPr/>
          <p:nvPr/>
        </p:nvSpPr>
        <p:spPr>
          <a:xfrm>
            <a:off x="337395" y="2618000"/>
            <a:ext cx="1914300" cy="3642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9"/>
          <p:cNvSpPr/>
          <p:nvPr/>
        </p:nvSpPr>
        <p:spPr>
          <a:xfrm>
            <a:off x="337395" y="298185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89"/>
          <p:cNvSpPr/>
          <p:nvPr/>
        </p:nvSpPr>
        <p:spPr>
          <a:xfrm>
            <a:off x="337395" y="3345950"/>
            <a:ext cx="2679900" cy="3642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9"/>
          <p:cNvSpPr/>
          <p:nvPr/>
        </p:nvSpPr>
        <p:spPr>
          <a:xfrm>
            <a:off x="337395" y="3710050"/>
            <a:ext cx="3045600" cy="364200"/>
          </a:xfrm>
          <a:prstGeom prst="rect">
            <a:avLst/>
          </a:prstGeom>
          <a:solidFill>
            <a:srgbClr val="C63D0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9"/>
          <p:cNvSpPr/>
          <p:nvPr/>
        </p:nvSpPr>
        <p:spPr>
          <a:xfrm>
            <a:off x="337395" y="4074150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9"/>
          <p:cNvSpPr/>
          <p:nvPr/>
        </p:nvSpPr>
        <p:spPr>
          <a:xfrm>
            <a:off x="337395" y="4438250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9"/>
          <p:cNvSpPr/>
          <p:nvPr/>
        </p:nvSpPr>
        <p:spPr>
          <a:xfrm>
            <a:off x="4853995" y="3068258"/>
            <a:ext cx="1531500" cy="364200"/>
          </a:xfrm>
          <a:prstGeom prst="rect">
            <a:avLst/>
          </a:prstGeom>
          <a:solidFill>
            <a:srgbClr val="C27BA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5" name="Google Shape;1235;p89"/>
          <p:cNvCxnSpPr/>
          <p:nvPr/>
        </p:nvCxnSpPr>
        <p:spPr>
          <a:xfrm>
            <a:off x="4207770" y="1616439"/>
            <a:ext cx="461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6" name="Google Shape;1236;p89"/>
          <p:cNvSpPr txBox="1"/>
          <p:nvPr/>
        </p:nvSpPr>
        <p:spPr>
          <a:xfrm>
            <a:off x="6262328" y="1551292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7" name="Google Shape;1237;p89"/>
          <p:cNvCxnSpPr/>
          <p:nvPr/>
        </p:nvCxnSpPr>
        <p:spPr>
          <a:xfrm>
            <a:off x="4823995" y="2604572"/>
            <a:ext cx="2314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8" name="Google Shape;1238;p89"/>
          <p:cNvCxnSpPr/>
          <p:nvPr/>
        </p:nvCxnSpPr>
        <p:spPr>
          <a:xfrm>
            <a:off x="4851145" y="3538897"/>
            <a:ext cx="15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9" name="Google Shape;1239;p89"/>
          <p:cNvCxnSpPr/>
          <p:nvPr/>
        </p:nvCxnSpPr>
        <p:spPr>
          <a:xfrm>
            <a:off x="4851145" y="4510897"/>
            <a:ext cx="342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0" name="Google Shape;1240;p89"/>
          <p:cNvSpPr txBox="1"/>
          <p:nvPr/>
        </p:nvSpPr>
        <p:spPr>
          <a:xfrm>
            <a:off x="4385975" y="19923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9"/>
          <p:cNvSpPr txBox="1"/>
          <p:nvPr/>
        </p:nvSpPr>
        <p:spPr>
          <a:xfrm>
            <a:off x="4385975" y="2889313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9"/>
          <p:cNvSpPr txBox="1"/>
          <p:nvPr/>
        </p:nvSpPr>
        <p:spPr>
          <a:xfrm>
            <a:off x="4385975" y="38624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9"/>
          <p:cNvSpPr txBox="1"/>
          <p:nvPr/>
        </p:nvSpPr>
        <p:spPr>
          <a:xfrm>
            <a:off x="5721120" y="2550843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9"/>
          <p:cNvSpPr txBox="1"/>
          <p:nvPr/>
        </p:nvSpPr>
        <p:spPr>
          <a:xfrm>
            <a:off x="5368345" y="3440018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9"/>
          <p:cNvSpPr txBox="1"/>
          <p:nvPr/>
        </p:nvSpPr>
        <p:spPr>
          <a:xfrm>
            <a:off x="6312745" y="4473218"/>
            <a:ext cx="50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9"/>
          <p:cNvSpPr/>
          <p:nvPr/>
        </p:nvSpPr>
        <p:spPr>
          <a:xfrm>
            <a:off x="4207779" y="1165675"/>
            <a:ext cx="3828600" cy="3642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9"/>
          <p:cNvSpPr/>
          <p:nvPr/>
        </p:nvSpPr>
        <p:spPr>
          <a:xfrm>
            <a:off x="8036379" y="1165675"/>
            <a:ext cx="765600" cy="3642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9"/>
          <p:cNvSpPr/>
          <p:nvPr/>
        </p:nvSpPr>
        <p:spPr>
          <a:xfrm>
            <a:off x="4823970" y="2147000"/>
            <a:ext cx="2297100" cy="364200"/>
          </a:xfrm>
          <a:prstGeom prst="rect">
            <a:avLst/>
          </a:prstGeom>
          <a:solidFill>
            <a:srgbClr val="38761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9"/>
          <p:cNvSpPr/>
          <p:nvPr/>
        </p:nvSpPr>
        <p:spPr>
          <a:xfrm>
            <a:off x="4823995" y="4025625"/>
            <a:ext cx="3445800" cy="36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50" name="Google Shape;1250;p89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2187" y="2047075"/>
            <a:ext cx="194025" cy="618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251" name="Google Shape;1251;p89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5117" y="2943919"/>
            <a:ext cx="194037" cy="642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252" name="Google Shape;1252;p89" title="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5336" y="3753517"/>
            <a:ext cx="198657" cy="632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fractions to describe diagrams</a:t>
            </a:r>
            <a:endParaRPr/>
          </a:p>
        </p:txBody>
      </p:sp>
      <p:sp>
        <p:nvSpPr>
          <p:cNvPr id="1258" name="Google Shape;1258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Fractions as numbers on the number line</a:t>
            </a:r>
            <a:endParaRPr/>
          </a:p>
        </p:txBody>
      </p:sp>
      <p:sp>
        <p:nvSpPr>
          <p:cNvPr id="1259" name="Google Shape;1259;p9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fractions</a:t>
            </a:r>
            <a:endParaRPr/>
          </a:p>
        </p:txBody>
      </p:sp>
      <p:pic>
        <p:nvPicPr>
          <p:cNvPr id="1260" name="Google Shape;126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91"/>
          <p:cNvSpPr txBox="1"/>
          <p:nvPr>
            <p:ph idx="1" type="body"/>
          </p:nvPr>
        </p:nvSpPr>
        <p:spPr>
          <a:xfrm>
            <a:off x="324000" y="759300"/>
            <a:ext cx="71352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Mark the position of</a:t>
            </a:r>
            <a:r>
              <a:rPr lang="en-GB"/>
              <a:t> the number 3 on this number line.</a:t>
            </a:r>
            <a:endParaRPr/>
          </a:p>
        </p:txBody>
      </p:sp>
      <p:sp>
        <p:nvSpPr>
          <p:cNvPr id="1266" name="Google Shape;126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</p:txBody>
      </p:sp>
      <p:cxnSp>
        <p:nvCxnSpPr>
          <p:cNvPr id="1267" name="Google Shape;1267;p91"/>
          <p:cNvCxnSpPr/>
          <p:nvPr/>
        </p:nvCxnSpPr>
        <p:spPr>
          <a:xfrm>
            <a:off x="601650" y="2510000"/>
            <a:ext cx="785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8" name="Google Shape;1268;p91"/>
          <p:cNvSpPr txBox="1"/>
          <p:nvPr>
            <p:ph idx="1" type="body"/>
          </p:nvPr>
        </p:nvSpPr>
        <p:spPr>
          <a:xfrm>
            <a:off x="324000" y="3384800"/>
            <a:ext cx="8237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Where is the position of the number 2 on your number line?</a:t>
            </a:r>
            <a:endParaRPr/>
          </a:p>
        </p:txBody>
      </p:sp>
      <p:sp>
        <p:nvSpPr>
          <p:cNvPr id="1269" name="Google Shape;1269;p91"/>
          <p:cNvSpPr txBox="1"/>
          <p:nvPr/>
        </p:nvSpPr>
        <p:spPr>
          <a:xfrm>
            <a:off x="327425" y="1498400"/>
            <a:ext cx="7655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mark the position of the number 1.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0" name="Google Shape;1270;p91"/>
          <p:cNvGrpSpPr/>
          <p:nvPr/>
        </p:nvGrpSpPr>
        <p:grpSpPr>
          <a:xfrm>
            <a:off x="5339100" y="2380100"/>
            <a:ext cx="435300" cy="652650"/>
            <a:chOff x="5339100" y="2075300"/>
            <a:chExt cx="435300" cy="652650"/>
          </a:xfrm>
        </p:grpSpPr>
        <p:sp>
          <p:nvSpPr>
            <p:cNvPr id="1271" name="Google Shape;1271;p91"/>
            <p:cNvSpPr txBox="1"/>
            <p:nvPr/>
          </p:nvSpPr>
          <p:spPr>
            <a:xfrm>
              <a:off x="5339100" y="2252450"/>
              <a:ext cx="4353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272" name="Google Shape;1272;p91"/>
            <p:cNvCxnSpPr/>
            <p:nvPr/>
          </p:nvCxnSpPr>
          <p:spPr>
            <a:xfrm>
              <a:off x="5523275" y="2075300"/>
              <a:ext cx="0" cy="259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3" name="Google Shape;1273;p91"/>
          <p:cNvSpPr txBox="1"/>
          <p:nvPr/>
        </p:nvSpPr>
        <p:spPr>
          <a:xfrm>
            <a:off x="180975" y="2613650"/>
            <a:ext cx="7368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74" name="Google Shape;1274;p91"/>
          <p:cNvGrpSpPr/>
          <p:nvPr/>
        </p:nvGrpSpPr>
        <p:grpSpPr>
          <a:xfrm>
            <a:off x="2511225" y="2380100"/>
            <a:ext cx="435300" cy="652650"/>
            <a:chOff x="2511225" y="2075300"/>
            <a:chExt cx="435300" cy="652650"/>
          </a:xfrm>
        </p:grpSpPr>
        <p:sp>
          <p:nvSpPr>
            <p:cNvPr id="1275" name="Google Shape;1275;p91"/>
            <p:cNvSpPr txBox="1"/>
            <p:nvPr/>
          </p:nvSpPr>
          <p:spPr>
            <a:xfrm>
              <a:off x="2511225" y="2252450"/>
              <a:ext cx="4353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276" name="Google Shape;1276;p91"/>
            <p:cNvCxnSpPr/>
            <p:nvPr/>
          </p:nvCxnSpPr>
          <p:spPr>
            <a:xfrm>
              <a:off x="2668625" y="2075300"/>
              <a:ext cx="0" cy="259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7" name="Google Shape;1277;p91"/>
          <p:cNvSpPr txBox="1"/>
          <p:nvPr/>
        </p:nvSpPr>
        <p:spPr>
          <a:xfrm>
            <a:off x="327425" y="3997800"/>
            <a:ext cx="84927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3 and 1 could have gone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anywhere, as long as 1 was to the left of 3, but 2 must go </a:t>
            </a:r>
            <a:r>
              <a:rPr lang="en-GB" sz="21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half way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between the 1 and 3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92"/>
          <p:cNvSpPr txBox="1"/>
          <p:nvPr>
            <p:ph idx="1" type="body"/>
          </p:nvPr>
        </p:nvSpPr>
        <p:spPr>
          <a:xfrm>
            <a:off x="324000" y="759300"/>
            <a:ext cx="78852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Once you have two numbers on a number line, any other numbers should be positioned correctly relative to these</a:t>
            </a:r>
            <a:r>
              <a:rPr lang="en-GB"/>
              <a:t>. </a:t>
            </a:r>
            <a:endParaRPr/>
          </a:p>
        </p:txBody>
      </p:sp>
      <p:sp>
        <p:nvSpPr>
          <p:cNvPr id="1283" name="Google Shape;128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</p:txBody>
      </p:sp>
      <p:cxnSp>
        <p:nvCxnSpPr>
          <p:cNvPr id="1284" name="Google Shape;1284;p92"/>
          <p:cNvCxnSpPr/>
          <p:nvPr/>
        </p:nvCxnSpPr>
        <p:spPr>
          <a:xfrm>
            <a:off x="601650" y="2814800"/>
            <a:ext cx="785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5" name="Google Shape;1285;p92"/>
          <p:cNvSpPr txBox="1"/>
          <p:nvPr>
            <p:ph idx="1" type="body"/>
          </p:nvPr>
        </p:nvSpPr>
        <p:spPr>
          <a:xfrm>
            <a:off x="324000" y="3535675"/>
            <a:ext cx="8237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Where would the number 5 be on this number line</a:t>
            </a:r>
            <a:r>
              <a:rPr lang="en-GB"/>
              <a:t>?</a:t>
            </a:r>
            <a:endParaRPr/>
          </a:p>
        </p:txBody>
      </p:sp>
      <p:sp>
        <p:nvSpPr>
          <p:cNvPr id="1286" name="Google Shape;1286;p92"/>
          <p:cNvSpPr txBox="1"/>
          <p:nvPr/>
        </p:nvSpPr>
        <p:spPr>
          <a:xfrm>
            <a:off x="1488725" y="29077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2"/>
          <p:cNvSpPr txBox="1"/>
          <p:nvPr/>
        </p:nvSpPr>
        <p:spPr>
          <a:xfrm>
            <a:off x="6752861" y="29077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88" name="Google Shape;1288;p92"/>
          <p:cNvGraphicFramePr/>
          <p:nvPr/>
        </p:nvGraphicFramePr>
        <p:xfrm>
          <a:off x="1634513" y="281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756000"/>
                <a:gridCol w="756000"/>
                <a:gridCol w="756000"/>
                <a:gridCol w="756000"/>
                <a:gridCol w="756000"/>
                <a:gridCol w="756000"/>
                <a:gridCol w="75600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93"/>
          <p:cNvSpPr txBox="1"/>
          <p:nvPr>
            <p:ph idx="1" type="body"/>
          </p:nvPr>
        </p:nvSpPr>
        <p:spPr>
          <a:xfrm>
            <a:off x="324000" y="759300"/>
            <a:ext cx="8237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Once you have two numbers on a number line, any other numbers should be positioned correctly relative to these. </a:t>
            </a:r>
            <a:endParaRPr/>
          </a:p>
        </p:txBody>
      </p:sp>
      <p:sp>
        <p:nvSpPr>
          <p:cNvPr id="1294" name="Google Shape;129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</p:txBody>
      </p:sp>
      <p:cxnSp>
        <p:nvCxnSpPr>
          <p:cNvPr id="1295" name="Google Shape;1295;p93"/>
          <p:cNvCxnSpPr/>
          <p:nvPr/>
        </p:nvCxnSpPr>
        <p:spPr>
          <a:xfrm>
            <a:off x="601650" y="2205200"/>
            <a:ext cx="785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6" name="Google Shape;1296;p93"/>
          <p:cNvSpPr txBox="1"/>
          <p:nvPr>
            <p:ph idx="1" type="body"/>
          </p:nvPr>
        </p:nvSpPr>
        <p:spPr>
          <a:xfrm>
            <a:off x="324000" y="3078475"/>
            <a:ext cx="8237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Divide the line equally into 7 parts between 0 and 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This means each section will be worth 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Then you can place 5 correctly</a:t>
            </a:r>
            <a:endParaRPr/>
          </a:p>
        </p:txBody>
      </p:sp>
      <p:sp>
        <p:nvSpPr>
          <p:cNvPr id="1297" name="Google Shape;1297;p93"/>
          <p:cNvSpPr txBox="1"/>
          <p:nvPr/>
        </p:nvSpPr>
        <p:spPr>
          <a:xfrm>
            <a:off x="1488725" y="22981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3"/>
          <p:cNvSpPr txBox="1"/>
          <p:nvPr/>
        </p:nvSpPr>
        <p:spPr>
          <a:xfrm>
            <a:off x="6752861" y="22981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99" name="Google Shape;1299;p93"/>
          <p:cNvGraphicFramePr/>
          <p:nvPr/>
        </p:nvGraphicFramePr>
        <p:xfrm>
          <a:off x="1634513" y="22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756000"/>
                <a:gridCol w="756000"/>
                <a:gridCol w="756000"/>
                <a:gridCol w="756000"/>
                <a:gridCol w="756000"/>
                <a:gridCol w="756000"/>
                <a:gridCol w="75600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00" name="Google Shape;1300;p93"/>
          <p:cNvCxnSpPr/>
          <p:nvPr/>
        </p:nvCxnSpPr>
        <p:spPr>
          <a:xfrm rot="10800000">
            <a:off x="5414525" y="2357425"/>
            <a:ext cx="0" cy="365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1" name="Google Shape;1301;p93"/>
          <p:cNvSpPr txBox="1"/>
          <p:nvPr/>
        </p:nvSpPr>
        <p:spPr>
          <a:xfrm>
            <a:off x="5255341" y="2635361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94"/>
          <p:cNvSpPr txBox="1"/>
          <p:nvPr>
            <p:ph idx="1" type="body"/>
          </p:nvPr>
        </p:nvSpPr>
        <p:spPr>
          <a:xfrm>
            <a:off x="324000" y="810000"/>
            <a:ext cx="8237700" cy="4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arrow shows the position of the number 3 on this number line?</a:t>
            </a:r>
            <a:endParaRPr/>
          </a:p>
        </p:txBody>
      </p:sp>
      <p:sp>
        <p:nvSpPr>
          <p:cNvPr id="1307" name="Google Shape;130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</p:txBody>
      </p:sp>
      <p:sp>
        <p:nvSpPr>
          <p:cNvPr id="1308" name="Google Shape;1308;p94"/>
          <p:cNvSpPr txBox="1"/>
          <p:nvPr/>
        </p:nvSpPr>
        <p:spPr>
          <a:xfrm>
            <a:off x="1081788" y="22463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9" name="Google Shape;1309;p94"/>
          <p:cNvCxnSpPr/>
          <p:nvPr/>
        </p:nvCxnSpPr>
        <p:spPr>
          <a:xfrm>
            <a:off x="811625" y="2153400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0" name="Google Shape;1310;p94"/>
          <p:cNvSpPr txBox="1"/>
          <p:nvPr/>
        </p:nvSpPr>
        <p:spPr>
          <a:xfrm>
            <a:off x="6345923" y="22463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1" name="Google Shape;1311;p94"/>
          <p:cNvGraphicFramePr/>
          <p:nvPr/>
        </p:nvGraphicFramePr>
        <p:xfrm>
          <a:off x="1227575" y="215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658475"/>
                <a:gridCol w="658475"/>
                <a:gridCol w="658475"/>
                <a:gridCol w="658475"/>
                <a:gridCol w="658475"/>
                <a:gridCol w="658475"/>
                <a:gridCol w="658475"/>
                <a:gridCol w="658475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2" name="Google Shape;1312;p94"/>
          <p:cNvGraphicFramePr/>
          <p:nvPr/>
        </p:nvGraphicFramePr>
        <p:xfrm>
          <a:off x="1215463" y="215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529200"/>
                <a:gridCol w="529200"/>
                <a:gridCol w="529200"/>
                <a:gridCol w="529200"/>
                <a:gridCol w="529200"/>
                <a:gridCol w="529200"/>
                <a:gridCol w="529200"/>
                <a:gridCol w="529200"/>
                <a:gridCol w="529200"/>
                <a:gridCol w="52920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13" name="Google Shape;1313;p94"/>
          <p:cNvCxnSpPr/>
          <p:nvPr/>
        </p:nvCxnSpPr>
        <p:spPr>
          <a:xfrm rot="10800000">
            <a:off x="2803075" y="2381700"/>
            <a:ext cx="0" cy="569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4" name="Google Shape;1314;p94"/>
          <p:cNvCxnSpPr/>
          <p:nvPr/>
        </p:nvCxnSpPr>
        <p:spPr>
          <a:xfrm rot="10800000">
            <a:off x="5449075" y="2381700"/>
            <a:ext cx="0" cy="569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5" name="Google Shape;1315;p94"/>
          <p:cNvCxnSpPr/>
          <p:nvPr/>
        </p:nvCxnSpPr>
        <p:spPr>
          <a:xfrm rot="10800000">
            <a:off x="4390675" y="2381700"/>
            <a:ext cx="0" cy="569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16" name="Google Shape;1316;p94"/>
          <p:cNvGrpSpPr/>
          <p:nvPr/>
        </p:nvGrpSpPr>
        <p:grpSpPr>
          <a:xfrm>
            <a:off x="2574466" y="3016200"/>
            <a:ext cx="457200" cy="457200"/>
            <a:chOff x="1020916" y="1442088"/>
            <a:chExt cx="457200" cy="457200"/>
          </a:xfrm>
        </p:grpSpPr>
        <p:pic>
          <p:nvPicPr>
            <p:cNvPr id="1317" name="Google Shape;1317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8" name="Google Shape;131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9" name="Google Shape;1319;p94"/>
          <p:cNvGrpSpPr/>
          <p:nvPr/>
        </p:nvGrpSpPr>
        <p:grpSpPr>
          <a:xfrm>
            <a:off x="4162066" y="3016200"/>
            <a:ext cx="457200" cy="457200"/>
            <a:chOff x="1020916" y="1442088"/>
            <a:chExt cx="457200" cy="457200"/>
          </a:xfrm>
        </p:grpSpPr>
        <p:pic>
          <p:nvPicPr>
            <p:cNvPr id="1320" name="Google Shape;1320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1" name="Google Shape;132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2" name="Google Shape;1322;p94"/>
          <p:cNvGrpSpPr/>
          <p:nvPr/>
        </p:nvGrpSpPr>
        <p:grpSpPr>
          <a:xfrm>
            <a:off x="5220466" y="3016200"/>
            <a:ext cx="457200" cy="457200"/>
            <a:chOff x="1020916" y="1442088"/>
            <a:chExt cx="457200" cy="457200"/>
          </a:xfrm>
        </p:grpSpPr>
        <p:pic>
          <p:nvPicPr>
            <p:cNvPr id="1323" name="Google Shape;1323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25" name="Google Shape;1325;p94"/>
          <p:cNvCxnSpPr/>
          <p:nvPr/>
        </p:nvCxnSpPr>
        <p:spPr>
          <a:xfrm rot="10800000">
            <a:off x="2273875" y="2151620"/>
            <a:ext cx="0" cy="16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6" name="Google Shape;1326;p94"/>
          <p:cNvCxnSpPr/>
          <p:nvPr/>
        </p:nvCxnSpPr>
        <p:spPr>
          <a:xfrm rot="10800000">
            <a:off x="3332275" y="2150840"/>
            <a:ext cx="0" cy="16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94"/>
          <p:cNvCxnSpPr/>
          <p:nvPr/>
        </p:nvCxnSpPr>
        <p:spPr>
          <a:xfrm rot="10800000">
            <a:off x="4390675" y="2153700"/>
            <a:ext cx="0" cy="16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94"/>
          <p:cNvCxnSpPr/>
          <p:nvPr/>
        </p:nvCxnSpPr>
        <p:spPr>
          <a:xfrm rot="10800000">
            <a:off x="5449075" y="2151620"/>
            <a:ext cx="0" cy="16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29" name="Google Shape;132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2683" y="357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</p:txBody>
      </p:sp>
      <p:sp>
        <p:nvSpPr>
          <p:cNvPr id="1335" name="Google Shape;1335;p95"/>
          <p:cNvSpPr txBox="1"/>
          <p:nvPr/>
        </p:nvSpPr>
        <p:spPr>
          <a:xfrm>
            <a:off x="1512731" y="20939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6" name="Google Shape;1336;p95"/>
          <p:cNvCxnSpPr/>
          <p:nvPr/>
        </p:nvCxnSpPr>
        <p:spPr>
          <a:xfrm>
            <a:off x="1268825" y="2001000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7" name="Google Shape;1337;p95"/>
          <p:cNvSpPr txBox="1"/>
          <p:nvPr/>
        </p:nvSpPr>
        <p:spPr>
          <a:xfrm>
            <a:off x="6803123" y="20939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38" name="Google Shape;1338;p95"/>
          <p:cNvGraphicFramePr/>
          <p:nvPr/>
        </p:nvGraphicFramePr>
        <p:xfrm>
          <a:off x="1684775" y="200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9" name="Google Shape;1339;p95"/>
          <p:cNvSpPr txBox="1"/>
          <p:nvPr/>
        </p:nvSpPr>
        <p:spPr>
          <a:xfrm>
            <a:off x="1512731" y="30108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0" name="Google Shape;1340;p95"/>
          <p:cNvCxnSpPr/>
          <p:nvPr/>
        </p:nvCxnSpPr>
        <p:spPr>
          <a:xfrm>
            <a:off x="1268825" y="2917950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1" name="Google Shape;1341;p95"/>
          <p:cNvSpPr txBox="1"/>
          <p:nvPr/>
        </p:nvSpPr>
        <p:spPr>
          <a:xfrm>
            <a:off x="6742849" y="3010875"/>
            <a:ext cx="4893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42" name="Google Shape;1342;p95"/>
          <p:cNvGraphicFramePr/>
          <p:nvPr/>
        </p:nvGraphicFramePr>
        <p:xfrm>
          <a:off x="1684775" y="291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3" name="Google Shape;1343;p95"/>
          <p:cNvSpPr txBox="1"/>
          <p:nvPr/>
        </p:nvSpPr>
        <p:spPr>
          <a:xfrm>
            <a:off x="1512731" y="40207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4" name="Google Shape;1344;p95"/>
          <p:cNvCxnSpPr/>
          <p:nvPr/>
        </p:nvCxnSpPr>
        <p:spPr>
          <a:xfrm>
            <a:off x="1268825" y="3927825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345" name="Google Shape;1345;p95"/>
          <p:cNvGraphicFramePr/>
          <p:nvPr/>
        </p:nvGraphicFramePr>
        <p:xfrm>
          <a:off x="1684775" y="392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346" name="Google Shape;1346;p95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425" y="4130950"/>
            <a:ext cx="181000" cy="576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7" name="Google Shape;1347;p95"/>
          <p:cNvGraphicFramePr/>
          <p:nvPr/>
        </p:nvGraphicFramePr>
        <p:xfrm>
          <a:off x="1686100" y="20010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1312625"/>
                <a:gridCol w="1312625"/>
                <a:gridCol w="1312625"/>
                <a:gridCol w="1312625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8" name="Google Shape;1348;p95"/>
          <p:cNvGraphicFramePr/>
          <p:nvPr/>
        </p:nvGraphicFramePr>
        <p:xfrm>
          <a:off x="1684778" y="2925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528325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  <a:gridCol w="5250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9" name="Google Shape;1349;p95"/>
          <p:cNvGraphicFramePr/>
          <p:nvPr/>
        </p:nvGraphicFramePr>
        <p:xfrm>
          <a:off x="1684775" y="39278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1750175"/>
                <a:gridCol w="1750175"/>
                <a:gridCol w="1750175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50" name="Google Shape;1350;p95"/>
          <p:cNvCxnSpPr/>
          <p:nvPr/>
        </p:nvCxnSpPr>
        <p:spPr>
          <a:xfrm rot="10800000">
            <a:off x="2998725" y="2209950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1" name="Google Shape;1351;p95"/>
          <p:cNvCxnSpPr/>
          <p:nvPr/>
        </p:nvCxnSpPr>
        <p:spPr>
          <a:xfrm rot="10800000">
            <a:off x="1815650" y="3080900"/>
            <a:ext cx="0" cy="42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2" name="Google Shape;1352;p95"/>
          <p:cNvCxnSpPr/>
          <p:nvPr/>
        </p:nvCxnSpPr>
        <p:spPr>
          <a:xfrm>
            <a:off x="1948113" y="2930260"/>
            <a:ext cx="0" cy="10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95"/>
          <p:cNvCxnSpPr/>
          <p:nvPr/>
        </p:nvCxnSpPr>
        <p:spPr>
          <a:xfrm>
            <a:off x="1815644" y="2932035"/>
            <a:ext cx="0" cy="10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95"/>
          <p:cNvCxnSpPr/>
          <p:nvPr/>
        </p:nvCxnSpPr>
        <p:spPr>
          <a:xfrm>
            <a:off x="2080606" y="2932035"/>
            <a:ext cx="0" cy="10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5" name="Google Shape;1355;p95"/>
          <p:cNvCxnSpPr/>
          <p:nvPr/>
        </p:nvCxnSpPr>
        <p:spPr>
          <a:xfrm>
            <a:off x="1683125" y="2932035"/>
            <a:ext cx="0" cy="10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95"/>
          <p:cNvCxnSpPr/>
          <p:nvPr/>
        </p:nvCxnSpPr>
        <p:spPr>
          <a:xfrm rot="10800000">
            <a:off x="3434950" y="4145650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57" name="Google Shape;1357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674" y="1611575"/>
            <a:ext cx="7059862" cy="7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125" y="826375"/>
            <a:ext cx="7188226" cy="5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96"/>
          <p:cNvSpPr txBox="1"/>
          <p:nvPr>
            <p:ph idx="1" type="body"/>
          </p:nvPr>
        </p:nvSpPr>
        <p:spPr>
          <a:xfrm>
            <a:off x="324000" y="810000"/>
            <a:ext cx="8237700" cy="4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Here is a number line.</a:t>
            </a:r>
            <a:endParaRPr sz="2000"/>
          </a:p>
        </p:txBody>
      </p:sp>
      <p:graphicFrame>
        <p:nvGraphicFramePr>
          <p:cNvPr id="1364" name="Google Shape;1364;p96"/>
          <p:cNvGraphicFramePr/>
          <p:nvPr/>
        </p:nvGraphicFramePr>
        <p:xfrm>
          <a:off x="688550" y="209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5" name="Google Shape;136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</p:txBody>
      </p:sp>
      <p:cxnSp>
        <p:nvCxnSpPr>
          <p:cNvPr id="1366" name="Google Shape;1366;p96"/>
          <p:cNvCxnSpPr/>
          <p:nvPr/>
        </p:nvCxnSpPr>
        <p:spPr>
          <a:xfrm flipH="1" rot="10800000">
            <a:off x="347400" y="2088950"/>
            <a:ext cx="8449200" cy="2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7" name="Google Shape;1367;p96"/>
          <p:cNvSpPr txBox="1"/>
          <p:nvPr/>
        </p:nvSpPr>
        <p:spPr>
          <a:xfrm>
            <a:off x="558325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96"/>
          <p:cNvSpPr txBox="1"/>
          <p:nvPr/>
        </p:nvSpPr>
        <p:spPr>
          <a:xfrm>
            <a:off x="4371250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96"/>
          <p:cNvSpPr txBox="1"/>
          <p:nvPr/>
        </p:nvSpPr>
        <p:spPr>
          <a:xfrm>
            <a:off x="8136250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96"/>
          <p:cNvSpPr txBox="1"/>
          <p:nvPr/>
        </p:nvSpPr>
        <p:spPr>
          <a:xfrm>
            <a:off x="558325" y="39147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96"/>
          <p:cNvSpPr txBox="1"/>
          <p:nvPr/>
        </p:nvSpPr>
        <p:spPr>
          <a:xfrm>
            <a:off x="4371250" y="39147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96"/>
          <p:cNvSpPr txBox="1"/>
          <p:nvPr/>
        </p:nvSpPr>
        <p:spPr>
          <a:xfrm>
            <a:off x="8136250" y="39147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3" name="Google Shape;1373;p96"/>
          <p:cNvGraphicFramePr/>
          <p:nvPr/>
        </p:nvGraphicFramePr>
        <p:xfrm>
          <a:off x="688550" y="377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74" name="Google Shape;1374;p96"/>
          <p:cNvCxnSpPr/>
          <p:nvPr/>
        </p:nvCxnSpPr>
        <p:spPr>
          <a:xfrm>
            <a:off x="347400" y="3781500"/>
            <a:ext cx="8414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5" name="Google Shape;1375;p96"/>
          <p:cNvCxnSpPr/>
          <p:nvPr/>
        </p:nvCxnSpPr>
        <p:spPr>
          <a:xfrm rot="10800000">
            <a:off x="7197600" y="2246975"/>
            <a:ext cx="0" cy="328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7}{10}&quot;&gt;&lt;mfrac&gt;&lt;mn&gt;17&lt;/mn&gt;&lt;mn&gt;10&lt;/mn&gt;&lt;/mfrac&gt;&lt;/math&gt;" id="1376" name="Google Shape;1376;p96" title="sevente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2339" y="2606325"/>
            <a:ext cx="290499" cy="535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7" name="Google Shape;1377;p96"/>
          <p:cNvCxnSpPr/>
          <p:nvPr/>
        </p:nvCxnSpPr>
        <p:spPr>
          <a:xfrm rot="10800000">
            <a:off x="6814150" y="3941600"/>
            <a:ext cx="0" cy="328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8}{5}&quot;&gt;&lt;mfrac&gt;&lt;mn&gt;8&lt;/mn&gt;&lt;mn&gt;5&lt;/mn&gt;&lt;/mfrac&gt;&lt;/math&gt;" id="1378" name="Google Shape;1378;p96" title="eight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9385" y="4314375"/>
            <a:ext cx="149536" cy="4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650" y="1258500"/>
            <a:ext cx="5885205" cy="6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2739000"/>
            <a:ext cx="5758723" cy="5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97"/>
          <p:cNvSpPr txBox="1"/>
          <p:nvPr>
            <p:ph idx="1" type="body"/>
          </p:nvPr>
        </p:nvSpPr>
        <p:spPr>
          <a:xfrm>
            <a:off x="324000" y="847875"/>
            <a:ext cx="34794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has marked a fraction on this number line.</a:t>
            </a:r>
            <a:r>
              <a:rPr lang="en-GB"/>
              <a:t>  </a:t>
            </a:r>
            <a:endParaRPr/>
          </a:p>
        </p:txBody>
      </p:sp>
      <p:sp>
        <p:nvSpPr>
          <p:cNvPr id="1386" name="Google Shape;138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</p:txBody>
      </p:sp>
      <p:pic>
        <p:nvPicPr>
          <p:cNvPr id="1387" name="Google Shape;138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9200" y="171213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97"/>
          <p:cNvSpPr txBox="1"/>
          <p:nvPr/>
        </p:nvSpPr>
        <p:spPr>
          <a:xfrm>
            <a:off x="558325" y="29241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9" name="Google Shape;1389;p97"/>
          <p:cNvGraphicFramePr/>
          <p:nvPr/>
        </p:nvGraphicFramePr>
        <p:xfrm>
          <a:off x="688550" y="27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90" name="Google Shape;1390;p97"/>
          <p:cNvCxnSpPr/>
          <p:nvPr/>
        </p:nvCxnSpPr>
        <p:spPr>
          <a:xfrm>
            <a:off x="347400" y="2790900"/>
            <a:ext cx="8414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1" name="Google Shape;1391;p97"/>
          <p:cNvSpPr txBox="1"/>
          <p:nvPr/>
        </p:nvSpPr>
        <p:spPr>
          <a:xfrm>
            <a:off x="8209200" y="292418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2" name="Google Shape;1392;p97"/>
          <p:cNvCxnSpPr/>
          <p:nvPr/>
        </p:nvCxnSpPr>
        <p:spPr>
          <a:xfrm flipH="1" rot="10800000">
            <a:off x="6048461" y="2963700"/>
            <a:ext cx="600" cy="49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93" name="Google Shape;1393;p97" title="8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8588" y="3512075"/>
            <a:ext cx="34032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97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4064501" y="803275"/>
            <a:ext cx="3623224" cy="157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97"/>
          <p:cNvSpPr txBox="1"/>
          <p:nvPr/>
        </p:nvSpPr>
        <p:spPr>
          <a:xfrm>
            <a:off x="4118075" y="847875"/>
            <a:ext cx="33888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counted 11 lines so it must be in 11ths. This is the 8th line along so it’s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396" name="Google Shape;1396;p97" title="8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6650" y="1546500"/>
            <a:ext cx="272741" cy="4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97"/>
          <p:cNvSpPr txBox="1"/>
          <p:nvPr>
            <p:ph idx="1" type="body"/>
          </p:nvPr>
        </p:nvSpPr>
        <p:spPr>
          <a:xfrm>
            <a:off x="347400" y="3512075"/>
            <a:ext cx="52374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 you agree with Jacob?</a:t>
            </a:r>
            <a:endParaRPr/>
          </a:p>
        </p:txBody>
      </p:sp>
      <p:sp>
        <p:nvSpPr>
          <p:cNvPr id="1398" name="Google Shape;1398;p97"/>
          <p:cNvSpPr txBox="1"/>
          <p:nvPr>
            <p:ph idx="1" type="body"/>
          </p:nvPr>
        </p:nvSpPr>
        <p:spPr>
          <a:xfrm>
            <a:off x="324000" y="3961725"/>
            <a:ext cx="52374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lines divide the number line into 10 equal parts, the arrow is pointing to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399" name="Google Shape;1399;p97" title="seven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6900" y="4287067"/>
            <a:ext cx="291600" cy="5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05" name="Google Shape;1405;p98"/>
          <p:cNvGraphicFramePr/>
          <p:nvPr/>
        </p:nvGraphicFramePr>
        <p:xfrm>
          <a:off x="710455" y="3622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957125"/>
                <a:gridCol w="957125"/>
                <a:gridCol w="957125"/>
                <a:gridCol w="957125"/>
                <a:gridCol w="957125"/>
                <a:gridCol w="957125"/>
                <a:gridCol w="957125"/>
                <a:gridCol w="957125"/>
              </a:tblGrid>
              <a:tr h="15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6" name="Google Shape;1406;p98"/>
          <p:cNvSpPr txBox="1"/>
          <p:nvPr>
            <p:ph idx="1" type="body"/>
          </p:nvPr>
        </p:nvSpPr>
        <p:spPr>
          <a:xfrm>
            <a:off x="324000" y="759300"/>
            <a:ext cx="84963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Label the fraction the arrow is pointing to on each number line.</a:t>
            </a:r>
            <a:endParaRPr sz="2000"/>
          </a:p>
        </p:txBody>
      </p:sp>
      <p:cxnSp>
        <p:nvCxnSpPr>
          <p:cNvPr id="1407" name="Google Shape;1407;p98"/>
          <p:cNvCxnSpPr/>
          <p:nvPr/>
        </p:nvCxnSpPr>
        <p:spPr>
          <a:xfrm>
            <a:off x="347400" y="2113550"/>
            <a:ext cx="84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8" name="Google Shape;1408;p98"/>
          <p:cNvSpPr txBox="1"/>
          <p:nvPr/>
        </p:nvSpPr>
        <p:spPr>
          <a:xfrm>
            <a:off x="558325" y="2246854"/>
            <a:ext cx="2916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98"/>
          <p:cNvSpPr txBox="1"/>
          <p:nvPr/>
        </p:nvSpPr>
        <p:spPr>
          <a:xfrm>
            <a:off x="4401730" y="225445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10" name="Google Shape;1410;p98"/>
          <p:cNvGraphicFramePr/>
          <p:nvPr/>
        </p:nvGraphicFramePr>
        <p:xfrm>
          <a:off x="719030" y="211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15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1" name="Google Shape;1411;p98"/>
          <p:cNvSpPr txBox="1"/>
          <p:nvPr/>
        </p:nvSpPr>
        <p:spPr>
          <a:xfrm>
            <a:off x="8227700" y="2246850"/>
            <a:ext cx="3273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2" name="Google Shape;1412;p98"/>
          <p:cNvCxnSpPr/>
          <p:nvPr/>
        </p:nvCxnSpPr>
        <p:spPr>
          <a:xfrm>
            <a:off x="349700" y="3620825"/>
            <a:ext cx="849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3" name="Google Shape;1413;p98"/>
          <p:cNvSpPr txBox="1"/>
          <p:nvPr/>
        </p:nvSpPr>
        <p:spPr>
          <a:xfrm>
            <a:off x="558000" y="3778730"/>
            <a:ext cx="2916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98"/>
          <p:cNvSpPr txBox="1"/>
          <p:nvPr/>
        </p:nvSpPr>
        <p:spPr>
          <a:xfrm>
            <a:off x="4393154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98"/>
          <p:cNvSpPr txBox="1"/>
          <p:nvPr/>
        </p:nvSpPr>
        <p:spPr>
          <a:xfrm>
            <a:off x="8185525" y="3778725"/>
            <a:ext cx="3273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6" name="Google Shape;1416;p98"/>
          <p:cNvCxnSpPr/>
          <p:nvPr/>
        </p:nvCxnSpPr>
        <p:spPr>
          <a:xfrm>
            <a:off x="5310315" y="2321045"/>
            <a:ext cx="0" cy="502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17" name="Google Shape;1417;p98"/>
          <p:cNvCxnSpPr/>
          <p:nvPr/>
        </p:nvCxnSpPr>
        <p:spPr>
          <a:xfrm>
            <a:off x="3581820" y="3912830"/>
            <a:ext cx="0" cy="502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18" name="Google Shape;1418;p98"/>
          <p:cNvSpPr txBox="1"/>
          <p:nvPr/>
        </p:nvSpPr>
        <p:spPr>
          <a:xfrm>
            <a:off x="349700" y="147032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98"/>
          <p:cNvSpPr txBox="1"/>
          <p:nvPr/>
        </p:nvSpPr>
        <p:spPr>
          <a:xfrm>
            <a:off x="349700" y="28738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4" name="Google Shape;1424;p99"/>
          <p:cNvGraphicFramePr/>
          <p:nvPr/>
        </p:nvGraphicFramePr>
        <p:xfrm>
          <a:off x="710455" y="3622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</a:tblGrid>
              <a:tr h="15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5" name="Google Shape;1425;p99"/>
          <p:cNvSpPr txBox="1"/>
          <p:nvPr>
            <p:ph idx="1" type="body"/>
          </p:nvPr>
        </p:nvSpPr>
        <p:spPr>
          <a:xfrm>
            <a:off x="324000" y="759300"/>
            <a:ext cx="84963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</a:t>
            </a:r>
            <a:r>
              <a:rPr lang="en-GB" sz="2000"/>
              <a:t>Label the fraction the arrow is pointing to on each number line.</a:t>
            </a:r>
            <a:endParaRPr sz="2000"/>
          </a:p>
        </p:txBody>
      </p:sp>
      <p:sp>
        <p:nvSpPr>
          <p:cNvPr id="1426" name="Google Shape;1426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427" name="Google Shape;1427;p99"/>
          <p:cNvCxnSpPr/>
          <p:nvPr/>
        </p:nvCxnSpPr>
        <p:spPr>
          <a:xfrm>
            <a:off x="347400" y="2113550"/>
            <a:ext cx="84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8" name="Google Shape;1428;p99"/>
          <p:cNvSpPr txBox="1"/>
          <p:nvPr/>
        </p:nvSpPr>
        <p:spPr>
          <a:xfrm>
            <a:off x="558325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99"/>
          <p:cNvSpPr txBox="1"/>
          <p:nvPr/>
        </p:nvSpPr>
        <p:spPr>
          <a:xfrm>
            <a:off x="4401730" y="225445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30" name="Google Shape;1430;p99"/>
          <p:cNvGraphicFramePr/>
          <p:nvPr/>
        </p:nvGraphicFramePr>
        <p:xfrm>
          <a:off x="719030" y="211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</a:tblGrid>
              <a:tr h="15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1" name="Google Shape;1431;p99"/>
          <p:cNvSpPr txBox="1"/>
          <p:nvPr/>
        </p:nvSpPr>
        <p:spPr>
          <a:xfrm>
            <a:off x="8227690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2" name="Google Shape;1432;p99"/>
          <p:cNvCxnSpPr/>
          <p:nvPr/>
        </p:nvCxnSpPr>
        <p:spPr>
          <a:xfrm>
            <a:off x="349700" y="3620825"/>
            <a:ext cx="849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3" name="Google Shape;1433;p99"/>
          <p:cNvSpPr txBox="1"/>
          <p:nvPr/>
        </p:nvSpPr>
        <p:spPr>
          <a:xfrm>
            <a:off x="540000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9"/>
          <p:cNvSpPr txBox="1"/>
          <p:nvPr/>
        </p:nvSpPr>
        <p:spPr>
          <a:xfrm>
            <a:off x="4393154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99"/>
          <p:cNvSpPr txBox="1"/>
          <p:nvPr/>
        </p:nvSpPr>
        <p:spPr>
          <a:xfrm>
            <a:off x="8185525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6" name="Google Shape;1436;p99"/>
          <p:cNvCxnSpPr/>
          <p:nvPr/>
        </p:nvCxnSpPr>
        <p:spPr>
          <a:xfrm>
            <a:off x="5399910" y="2321045"/>
            <a:ext cx="0" cy="502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37" name="Google Shape;1437;p99"/>
          <p:cNvCxnSpPr/>
          <p:nvPr/>
        </p:nvCxnSpPr>
        <p:spPr>
          <a:xfrm>
            <a:off x="6071295" y="3859480"/>
            <a:ext cx="0" cy="502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38" name="Google Shape;1438;p99"/>
          <p:cNvSpPr txBox="1"/>
          <p:nvPr/>
        </p:nvSpPr>
        <p:spPr>
          <a:xfrm>
            <a:off x="349700" y="147032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99"/>
          <p:cNvSpPr txBox="1"/>
          <p:nvPr/>
        </p:nvSpPr>
        <p:spPr>
          <a:xfrm>
            <a:off x="349700" y="28738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Fill in the missing numbers on these number lines</a:t>
            </a:r>
            <a:endParaRPr sz="2000"/>
          </a:p>
        </p:txBody>
      </p:sp>
      <p:sp>
        <p:nvSpPr>
          <p:cNvPr id="1445" name="Google Shape;144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Fractions as numbers on the number line</a:t>
            </a:r>
            <a:endParaRPr/>
          </a:p>
        </p:txBody>
      </p:sp>
      <p:sp>
        <p:nvSpPr>
          <p:cNvPr id="1446" name="Google Shape;1446;p100"/>
          <p:cNvSpPr txBox="1"/>
          <p:nvPr/>
        </p:nvSpPr>
        <p:spPr>
          <a:xfrm>
            <a:off x="1440000" y="17129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7" name="Google Shape;1447;p100"/>
          <p:cNvCxnSpPr/>
          <p:nvPr/>
        </p:nvCxnSpPr>
        <p:spPr>
          <a:xfrm>
            <a:off x="1289375" y="1345425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8" name="Google Shape;1448;p100"/>
          <p:cNvSpPr txBox="1"/>
          <p:nvPr/>
        </p:nvSpPr>
        <p:spPr>
          <a:xfrm>
            <a:off x="1440000" y="27060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9" name="Google Shape;1449;p100"/>
          <p:cNvCxnSpPr/>
          <p:nvPr/>
        </p:nvCxnSpPr>
        <p:spPr>
          <a:xfrm>
            <a:off x="1268825" y="2522325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0" name="Google Shape;1450;p100"/>
          <p:cNvSpPr txBox="1"/>
          <p:nvPr/>
        </p:nvSpPr>
        <p:spPr>
          <a:xfrm>
            <a:off x="1440000" y="3792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1" name="Google Shape;1451;p100"/>
          <p:cNvCxnSpPr/>
          <p:nvPr/>
        </p:nvCxnSpPr>
        <p:spPr>
          <a:xfrm>
            <a:off x="1268825" y="3699225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452" name="Google Shape;1452;p100"/>
          <p:cNvGraphicFramePr/>
          <p:nvPr/>
        </p:nvGraphicFramePr>
        <p:xfrm>
          <a:off x="1607925" y="13393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1693350"/>
                <a:gridCol w="1693350"/>
                <a:gridCol w="1693350"/>
                <a:gridCol w="16933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3" name="Google Shape;1453;p100"/>
          <p:cNvGraphicFramePr/>
          <p:nvPr/>
        </p:nvGraphicFramePr>
        <p:xfrm>
          <a:off x="1607815" y="252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681175"/>
                <a:gridCol w="676925"/>
                <a:gridCol w="676925"/>
                <a:gridCol w="676925"/>
                <a:gridCol w="676925"/>
                <a:gridCol w="676925"/>
                <a:gridCol w="676925"/>
                <a:gridCol w="676925"/>
                <a:gridCol w="676925"/>
                <a:gridCol w="676925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4" name="Google Shape;1454;p100"/>
          <p:cNvGraphicFramePr/>
          <p:nvPr/>
        </p:nvGraphicFramePr>
        <p:xfrm>
          <a:off x="1607925" y="36894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733250"/>
                <a:gridCol w="733250"/>
                <a:gridCol w="733250"/>
                <a:gridCol w="733250"/>
                <a:gridCol w="733250"/>
                <a:gridCol w="733250"/>
                <a:gridCol w="733250"/>
                <a:gridCol w="733250"/>
                <a:gridCol w="7332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55" name="Google Shape;1455;p100"/>
          <p:cNvCxnSpPr/>
          <p:nvPr/>
        </p:nvCxnSpPr>
        <p:spPr>
          <a:xfrm rot="10800000">
            <a:off x="3301275" y="1478275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6" name="Google Shape;1456;p100"/>
          <p:cNvCxnSpPr/>
          <p:nvPr/>
        </p:nvCxnSpPr>
        <p:spPr>
          <a:xfrm rot="10800000">
            <a:off x="3804125" y="3823425"/>
            <a:ext cx="0" cy="42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7" name="Google Shape;1457;p100"/>
          <p:cNvSpPr/>
          <p:nvPr/>
        </p:nvSpPr>
        <p:spPr>
          <a:xfrm>
            <a:off x="5491800" y="3011888"/>
            <a:ext cx="351900" cy="61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00"/>
          <p:cNvSpPr/>
          <p:nvPr/>
        </p:nvSpPr>
        <p:spPr>
          <a:xfrm>
            <a:off x="5098225" y="4194288"/>
            <a:ext cx="351900" cy="61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00"/>
          <p:cNvSpPr/>
          <p:nvPr/>
        </p:nvSpPr>
        <p:spPr>
          <a:xfrm>
            <a:off x="3125325" y="1741000"/>
            <a:ext cx="351900" cy="61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0" name="Google Shape;1460;p100"/>
          <p:cNvCxnSpPr>
            <a:stCxn id="1457" idx="0"/>
          </p:cNvCxnSpPr>
          <p:nvPr/>
        </p:nvCxnSpPr>
        <p:spPr>
          <a:xfrm rot="10800000">
            <a:off x="5667750" y="2707088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461" name="Google Shape;1461;p100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833" y="2699998"/>
            <a:ext cx="181000" cy="576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2" name="Google Shape;1462;p100"/>
          <p:cNvCxnSpPr/>
          <p:nvPr/>
        </p:nvCxnSpPr>
        <p:spPr>
          <a:xfrm rot="10800000">
            <a:off x="7030950" y="2707088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100"/>
          <p:cNvCxnSpPr>
            <a:stCxn id="1458" idx="0"/>
          </p:cNvCxnSpPr>
          <p:nvPr/>
        </p:nvCxnSpPr>
        <p:spPr>
          <a:xfrm rot="10800000">
            <a:off x="5274175" y="3836688"/>
            <a:ext cx="0" cy="357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4" name="Google Shape;1464;p100"/>
          <p:cNvCxnSpPr/>
          <p:nvPr/>
        </p:nvCxnSpPr>
        <p:spPr>
          <a:xfrm rot="10800000">
            <a:off x="3629725" y="2707088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5" name="Google Shape;1465;p100"/>
          <p:cNvSpPr/>
          <p:nvPr/>
        </p:nvSpPr>
        <p:spPr>
          <a:xfrm>
            <a:off x="3628175" y="4194300"/>
            <a:ext cx="351900" cy="61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00"/>
          <p:cNvSpPr/>
          <p:nvPr/>
        </p:nvSpPr>
        <p:spPr>
          <a:xfrm>
            <a:off x="6855000" y="3011888"/>
            <a:ext cx="351900" cy="61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00"/>
          <p:cNvSpPr/>
          <p:nvPr/>
        </p:nvSpPr>
        <p:spPr>
          <a:xfrm>
            <a:off x="3455763" y="3011888"/>
            <a:ext cx="351900" cy="61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id="1468" name="Google Shape;1468;p100" title="1 lines Line 1: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1726" y="3854139"/>
            <a:ext cx="219864" cy="61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frac{1}{2}\end{array}&quot;&gt;&lt;mtable columnalign=&quot;left&quot; columnspacing=&quot;1em&quot; rowspacing=&quot;4pt&quot;&gt;&lt;mtr&gt;&lt;mtd&gt;&lt;mn&gt;1&lt;/mn&gt;&lt;mfrac&gt;&lt;mn&gt;1&lt;/mn&gt;&lt;mn&gt;2&lt;/mn&gt;&lt;/mfrac&gt;&lt;/mtd&gt;&lt;/mtr&gt;&lt;/mtable&gt;&lt;/math&gt;" id="1469" name="Google Shape;1469;p100" title="1 lines Line 1: 1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325" y="1530800"/>
            <a:ext cx="339683" cy="4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01"/>
          <p:cNvSpPr txBox="1"/>
          <p:nvPr>
            <p:ph idx="1" type="body"/>
          </p:nvPr>
        </p:nvSpPr>
        <p:spPr>
          <a:xfrm>
            <a:off x="324000" y="759300"/>
            <a:ext cx="84963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Label the fraction the arrow is pointing to on each number line.</a:t>
            </a:r>
            <a:endParaRPr sz="2000"/>
          </a:p>
        </p:txBody>
      </p:sp>
      <p:sp>
        <p:nvSpPr>
          <p:cNvPr id="1476" name="Google Shape;1476;p101"/>
          <p:cNvSpPr txBox="1"/>
          <p:nvPr/>
        </p:nvSpPr>
        <p:spPr>
          <a:xfrm>
            <a:off x="349700" y="147032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01"/>
          <p:cNvSpPr txBox="1"/>
          <p:nvPr/>
        </p:nvSpPr>
        <p:spPr>
          <a:xfrm>
            <a:off x="349700" y="28738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78" name="Google Shape;1478;p101"/>
          <p:cNvGraphicFramePr/>
          <p:nvPr/>
        </p:nvGraphicFramePr>
        <p:xfrm>
          <a:off x="710455" y="3622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957125"/>
                <a:gridCol w="957125"/>
                <a:gridCol w="957125"/>
                <a:gridCol w="957125"/>
                <a:gridCol w="957125"/>
                <a:gridCol w="957125"/>
                <a:gridCol w="957125"/>
                <a:gridCol w="957125"/>
              </a:tblGrid>
              <a:tr h="15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79" name="Google Shape;1479;p101"/>
          <p:cNvCxnSpPr/>
          <p:nvPr/>
        </p:nvCxnSpPr>
        <p:spPr>
          <a:xfrm>
            <a:off x="347400" y="2113550"/>
            <a:ext cx="84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0" name="Google Shape;1480;p101"/>
          <p:cNvSpPr txBox="1"/>
          <p:nvPr/>
        </p:nvSpPr>
        <p:spPr>
          <a:xfrm>
            <a:off x="558325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81" name="Google Shape;1481;p101"/>
          <p:cNvGraphicFramePr/>
          <p:nvPr/>
        </p:nvGraphicFramePr>
        <p:xfrm>
          <a:off x="719030" y="211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15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2" name="Google Shape;1482;p101"/>
          <p:cNvSpPr txBox="1"/>
          <p:nvPr/>
        </p:nvSpPr>
        <p:spPr>
          <a:xfrm>
            <a:off x="8227690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3" name="Google Shape;1483;p101"/>
          <p:cNvCxnSpPr/>
          <p:nvPr/>
        </p:nvCxnSpPr>
        <p:spPr>
          <a:xfrm>
            <a:off x="349700" y="3620825"/>
            <a:ext cx="849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4" name="Google Shape;1484;p101"/>
          <p:cNvSpPr txBox="1"/>
          <p:nvPr/>
        </p:nvSpPr>
        <p:spPr>
          <a:xfrm>
            <a:off x="558325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01"/>
          <p:cNvSpPr txBox="1"/>
          <p:nvPr/>
        </p:nvSpPr>
        <p:spPr>
          <a:xfrm>
            <a:off x="8185525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6" name="Google Shape;1486;p101"/>
          <p:cNvCxnSpPr/>
          <p:nvPr/>
        </p:nvCxnSpPr>
        <p:spPr>
          <a:xfrm>
            <a:off x="5310315" y="2321045"/>
            <a:ext cx="0" cy="502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87" name="Google Shape;1487;p101"/>
          <p:cNvCxnSpPr/>
          <p:nvPr/>
        </p:nvCxnSpPr>
        <p:spPr>
          <a:xfrm>
            <a:off x="3581820" y="3912830"/>
            <a:ext cx="0" cy="502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88" name="Google Shape;1488;p101"/>
          <p:cNvSpPr/>
          <p:nvPr/>
        </p:nvSpPr>
        <p:spPr>
          <a:xfrm>
            <a:off x="4680650" y="2700000"/>
            <a:ext cx="1312500" cy="686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20}&quot;&gt;&lt;mfrac&gt;&lt;mn&gt;12&lt;/mn&gt;&lt;mn&gt;20&lt;/mn&gt;&lt;/mfrac&gt;&lt;/math&gt;" id="1489" name="Google Shape;1489;p101" title="12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0" y="2745884"/>
            <a:ext cx="325194" cy="60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0}&quot;&gt;&lt;mfrac&gt;&lt;mn&gt;6&lt;/mn&gt;&lt;mn&gt;10&lt;/mn&gt;&lt;/mfrac&gt;&lt;/math&gt;" id="1490" name="Google Shape;1490;p101" title="six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5394" y="2745884"/>
            <a:ext cx="325194" cy="6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01"/>
          <p:cNvSpPr txBox="1"/>
          <p:nvPr/>
        </p:nvSpPr>
        <p:spPr>
          <a:xfrm>
            <a:off x="5128403" y="2823839"/>
            <a:ext cx="471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2" name="Google Shape;1492;p101"/>
          <p:cNvSpPr/>
          <p:nvPr/>
        </p:nvSpPr>
        <p:spPr>
          <a:xfrm>
            <a:off x="3372425" y="4134300"/>
            <a:ext cx="438000" cy="686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8}\end{array}&quot;&gt;&lt;mtable columnalign=&quot;left&quot; columnspacing=&quot;1em&quot; rowspacing=&quot;4pt&quot;&gt;&lt;mtr&gt;&lt;mtd&gt;&lt;mfrac&gt;&lt;mn&gt;3&lt;/mn&gt;&lt;mn&gt;8&lt;/mn&gt;&lt;/mfrac&gt;&lt;/mtd&gt;&lt;/mtr&gt;&lt;/mtable&gt;&lt;/math&gt;" id="1493" name="Google Shape;1493;p101" title="1 lines Line 1: 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5750" y="4156025"/>
            <a:ext cx="231354" cy="6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as numbers on the number 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99" name="Google Shape;1499;p102"/>
          <p:cNvGraphicFramePr/>
          <p:nvPr/>
        </p:nvGraphicFramePr>
        <p:xfrm>
          <a:off x="710455" y="3622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  <a:gridCol w="765700"/>
              </a:tblGrid>
              <a:tr h="15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00" name="Google Shape;1500;p102"/>
          <p:cNvCxnSpPr/>
          <p:nvPr/>
        </p:nvCxnSpPr>
        <p:spPr>
          <a:xfrm>
            <a:off x="347400" y="2113550"/>
            <a:ext cx="84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1" name="Google Shape;1501;p102"/>
          <p:cNvSpPr txBox="1"/>
          <p:nvPr/>
        </p:nvSpPr>
        <p:spPr>
          <a:xfrm>
            <a:off x="558325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02"/>
          <p:cNvSpPr txBox="1"/>
          <p:nvPr/>
        </p:nvSpPr>
        <p:spPr>
          <a:xfrm>
            <a:off x="4401730" y="225445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03" name="Google Shape;1503;p102"/>
          <p:cNvGraphicFramePr/>
          <p:nvPr/>
        </p:nvGraphicFramePr>
        <p:xfrm>
          <a:off x="719030" y="211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  <a:gridCol w="425400"/>
              </a:tblGrid>
              <a:tr h="15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4" name="Google Shape;1504;p102"/>
          <p:cNvSpPr txBox="1"/>
          <p:nvPr/>
        </p:nvSpPr>
        <p:spPr>
          <a:xfrm>
            <a:off x="8227690" y="2246838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5" name="Google Shape;1505;p102"/>
          <p:cNvCxnSpPr/>
          <p:nvPr/>
        </p:nvCxnSpPr>
        <p:spPr>
          <a:xfrm>
            <a:off x="349700" y="3620825"/>
            <a:ext cx="849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6" name="Google Shape;1506;p102"/>
          <p:cNvSpPr txBox="1"/>
          <p:nvPr/>
        </p:nvSpPr>
        <p:spPr>
          <a:xfrm>
            <a:off x="540000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102"/>
          <p:cNvSpPr txBox="1"/>
          <p:nvPr/>
        </p:nvSpPr>
        <p:spPr>
          <a:xfrm>
            <a:off x="4393154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102"/>
          <p:cNvSpPr txBox="1"/>
          <p:nvPr/>
        </p:nvSpPr>
        <p:spPr>
          <a:xfrm>
            <a:off x="8185525" y="377871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9" name="Google Shape;1509;p102"/>
          <p:cNvCxnSpPr/>
          <p:nvPr/>
        </p:nvCxnSpPr>
        <p:spPr>
          <a:xfrm>
            <a:off x="5404077" y="2321045"/>
            <a:ext cx="0" cy="502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10" name="Google Shape;1510;p102"/>
          <p:cNvCxnSpPr/>
          <p:nvPr/>
        </p:nvCxnSpPr>
        <p:spPr>
          <a:xfrm>
            <a:off x="6071295" y="3859480"/>
            <a:ext cx="0" cy="502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11" name="Google Shape;1511;p102"/>
          <p:cNvSpPr txBox="1"/>
          <p:nvPr/>
        </p:nvSpPr>
        <p:spPr>
          <a:xfrm>
            <a:off x="349700" y="147032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02"/>
          <p:cNvSpPr txBox="1"/>
          <p:nvPr/>
        </p:nvSpPr>
        <p:spPr>
          <a:xfrm>
            <a:off x="349700" y="28738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02"/>
          <p:cNvSpPr txBox="1"/>
          <p:nvPr>
            <p:ph idx="1" type="body"/>
          </p:nvPr>
        </p:nvSpPr>
        <p:spPr>
          <a:xfrm>
            <a:off x="324000" y="759300"/>
            <a:ext cx="84963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Label the fraction the arrow is pointing to on each number line.</a:t>
            </a:r>
            <a:endParaRPr sz="2000"/>
          </a:p>
        </p:txBody>
      </p:sp>
      <p:sp>
        <p:nvSpPr>
          <p:cNvPr id="1514" name="Google Shape;1514;p102"/>
          <p:cNvSpPr/>
          <p:nvPr/>
        </p:nvSpPr>
        <p:spPr>
          <a:xfrm>
            <a:off x="4774412" y="2700000"/>
            <a:ext cx="1312500" cy="686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02"/>
          <p:cNvSpPr txBox="1"/>
          <p:nvPr/>
        </p:nvSpPr>
        <p:spPr>
          <a:xfrm>
            <a:off x="5248940" y="2782327"/>
            <a:ext cx="471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6" name="Google Shape;1516;p102"/>
          <p:cNvSpPr/>
          <p:nvPr/>
        </p:nvSpPr>
        <p:spPr>
          <a:xfrm>
            <a:off x="5373250" y="4134300"/>
            <a:ext cx="1312500" cy="686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02"/>
          <p:cNvSpPr txBox="1"/>
          <p:nvPr/>
        </p:nvSpPr>
        <p:spPr>
          <a:xfrm>
            <a:off x="5821003" y="4258139"/>
            <a:ext cx="471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2}{9}\end{array}&quot;&gt;&lt;mtable columnalign=&quot;left&quot; columnspacing=&quot;1em&quot; rowspacing=&quot;4pt&quot;&gt;&lt;mtr&gt;&lt;mtd&gt;&lt;mn&gt;1&lt;/mn&gt;&lt;mfrac&gt;&lt;mn&gt;2&lt;/mn&gt;&lt;mn&gt;9&lt;/mn&gt;&lt;/mfrac&gt;&lt;/mtd&gt;&lt;/mtr&gt;&lt;/mtable&gt;&lt;/math&gt;" id="1518" name="Google Shape;1518;p102" title="1 lines Line 1: 1 and 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274" y="2791650"/>
            <a:ext cx="365672" cy="50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9}\end{array}&quot;&gt;&lt;mtable columnalign=&quot;left&quot; columnspacing=&quot;1em&quot; rowspacing=&quot;4pt&quot;&gt;&lt;mtr&gt;&lt;mtd&gt;&lt;mfrac&gt;&lt;mn&gt;11&lt;/mn&gt;&lt;mn&gt;9&lt;/mn&gt;&lt;/mfrac&gt;&lt;/mtd&gt;&lt;/mtr&gt;&lt;/mtable&gt;&lt;/math&gt;" id="1519" name="Google Shape;1519;p102" title="1 lines Line 1: eleven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0737" y="2791650"/>
            <a:ext cx="306903" cy="50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frac{2}{5}\end{array}&quot;&gt;&lt;mtable columnalign=&quot;left&quot; columnspacing=&quot;1em&quot; rowspacing=&quot;4pt&quot;&gt;&lt;mtr&gt;&lt;mtd&gt;&lt;mn&gt;1&lt;/mn&gt;&lt;mfrac&gt;&lt;mn&gt;2&lt;/mn&gt;&lt;mn&gt;5&lt;/mn&gt;&lt;/mfrac&gt;&lt;/mtd&gt;&lt;/mtr&gt;&lt;/mtable&gt;&lt;/math&gt;" id="1520" name="Google Shape;1520;p102" title="1 lines Line 1: 1 and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338" y="4238102"/>
            <a:ext cx="344500" cy="478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5}\end{array}&quot;&gt;&lt;mtable columnalign=&quot;left&quot; columnspacing=&quot;1em&quot; rowspacing=&quot;4pt&quot;&gt;&lt;mtr&gt;&lt;mtd&gt;&lt;mfrac&gt;&lt;mn&gt;7&lt;/mn&gt;&lt;mn&gt;5&lt;/mn&gt;&lt;/mfrac&gt;&lt;/mtd&gt;&lt;/mtr&gt;&lt;/mtable&gt;&lt;/math&gt;" id="1521" name="Google Shape;1521;p102" title="1 lines Line 1: seven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8578" y="4238114"/>
            <a:ext cx="171759" cy="478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03"/>
          <p:cNvSpPr txBox="1"/>
          <p:nvPr>
            <p:ph idx="1" type="body"/>
          </p:nvPr>
        </p:nvSpPr>
        <p:spPr>
          <a:xfrm>
            <a:off x="324000" y="759300"/>
            <a:ext cx="8237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2) Fill in the missing numbers on these number lines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Fractions as numbers on the number 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03"/>
          <p:cNvSpPr txBox="1"/>
          <p:nvPr/>
        </p:nvSpPr>
        <p:spPr>
          <a:xfrm>
            <a:off x="1440000" y="171292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9" name="Google Shape;1529;p103"/>
          <p:cNvCxnSpPr/>
          <p:nvPr/>
        </p:nvCxnSpPr>
        <p:spPr>
          <a:xfrm>
            <a:off x="1289375" y="1345425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0" name="Google Shape;1530;p103"/>
          <p:cNvSpPr txBox="1"/>
          <p:nvPr/>
        </p:nvSpPr>
        <p:spPr>
          <a:xfrm>
            <a:off x="1440000" y="27060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1" name="Google Shape;1531;p103"/>
          <p:cNvCxnSpPr/>
          <p:nvPr/>
        </p:nvCxnSpPr>
        <p:spPr>
          <a:xfrm>
            <a:off x="1268825" y="2522325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2" name="Google Shape;1532;p103"/>
          <p:cNvSpPr txBox="1"/>
          <p:nvPr/>
        </p:nvSpPr>
        <p:spPr>
          <a:xfrm>
            <a:off x="1440000" y="3792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3" name="Google Shape;1533;p103"/>
          <p:cNvCxnSpPr/>
          <p:nvPr/>
        </p:nvCxnSpPr>
        <p:spPr>
          <a:xfrm>
            <a:off x="1268825" y="3699225"/>
            <a:ext cx="741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534" name="Google Shape;1534;p103"/>
          <p:cNvGraphicFramePr/>
          <p:nvPr/>
        </p:nvGraphicFramePr>
        <p:xfrm>
          <a:off x="1607925" y="13393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1693350"/>
                <a:gridCol w="1693350"/>
                <a:gridCol w="1693350"/>
                <a:gridCol w="16933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5" name="Google Shape;1535;p103"/>
          <p:cNvGraphicFramePr/>
          <p:nvPr/>
        </p:nvGraphicFramePr>
        <p:xfrm>
          <a:off x="1607815" y="252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681175"/>
                <a:gridCol w="676925"/>
                <a:gridCol w="676925"/>
                <a:gridCol w="676925"/>
                <a:gridCol w="676925"/>
                <a:gridCol w="676925"/>
                <a:gridCol w="676925"/>
                <a:gridCol w="676925"/>
                <a:gridCol w="676925"/>
                <a:gridCol w="676925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6" name="Google Shape;1536;p103"/>
          <p:cNvGraphicFramePr/>
          <p:nvPr/>
        </p:nvGraphicFramePr>
        <p:xfrm>
          <a:off x="1607925" y="36894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{5CBD9AC1-388E-4784-901B-DBB5F67840E5}</a:tableStyleId>
              </a:tblPr>
              <a:tblGrid>
                <a:gridCol w="733250"/>
                <a:gridCol w="733250"/>
                <a:gridCol w="733250"/>
                <a:gridCol w="733250"/>
                <a:gridCol w="733250"/>
                <a:gridCol w="733250"/>
                <a:gridCol w="733250"/>
                <a:gridCol w="733250"/>
                <a:gridCol w="733250"/>
              </a:tblGrid>
              <a:tr h="1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37" name="Google Shape;1537;p103"/>
          <p:cNvCxnSpPr/>
          <p:nvPr/>
        </p:nvCxnSpPr>
        <p:spPr>
          <a:xfrm rot="10800000">
            <a:off x="3301275" y="1478275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8" name="Google Shape;1538;p103"/>
          <p:cNvCxnSpPr/>
          <p:nvPr/>
        </p:nvCxnSpPr>
        <p:spPr>
          <a:xfrm rot="10800000">
            <a:off x="3804125" y="3823425"/>
            <a:ext cx="0" cy="42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9" name="Google Shape;1539;p103"/>
          <p:cNvSpPr/>
          <p:nvPr/>
        </p:nvSpPr>
        <p:spPr>
          <a:xfrm>
            <a:off x="5491800" y="3011888"/>
            <a:ext cx="351900" cy="614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03"/>
          <p:cNvSpPr/>
          <p:nvPr/>
        </p:nvSpPr>
        <p:spPr>
          <a:xfrm>
            <a:off x="5098225" y="4194288"/>
            <a:ext cx="351900" cy="614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03"/>
          <p:cNvSpPr/>
          <p:nvPr/>
        </p:nvSpPr>
        <p:spPr>
          <a:xfrm>
            <a:off x="3125325" y="1741000"/>
            <a:ext cx="351900" cy="614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2" name="Google Shape;1542;p103"/>
          <p:cNvCxnSpPr>
            <a:stCxn id="1539" idx="0"/>
          </p:cNvCxnSpPr>
          <p:nvPr/>
        </p:nvCxnSpPr>
        <p:spPr>
          <a:xfrm rot="10800000">
            <a:off x="5667750" y="2707088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543" name="Google Shape;1543;p103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833" y="2699998"/>
            <a:ext cx="181000" cy="576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4" name="Google Shape;1544;p103"/>
          <p:cNvCxnSpPr/>
          <p:nvPr/>
        </p:nvCxnSpPr>
        <p:spPr>
          <a:xfrm rot="10800000">
            <a:off x="7030950" y="2707088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5" name="Google Shape;1545;p103"/>
          <p:cNvCxnSpPr>
            <a:stCxn id="1540" idx="0"/>
          </p:cNvCxnSpPr>
          <p:nvPr/>
        </p:nvCxnSpPr>
        <p:spPr>
          <a:xfrm rot="10800000">
            <a:off x="5274175" y="3836688"/>
            <a:ext cx="0" cy="357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6" name="Google Shape;1546;p103"/>
          <p:cNvCxnSpPr/>
          <p:nvPr/>
        </p:nvCxnSpPr>
        <p:spPr>
          <a:xfrm rot="10800000">
            <a:off x="3629725" y="2707088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7" name="Google Shape;1547;p103"/>
          <p:cNvSpPr/>
          <p:nvPr/>
        </p:nvSpPr>
        <p:spPr>
          <a:xfrm>
            <a:off x="3628175" y="4194300"/>
            <a:ext cx="351900" cy="614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03"/>
          <p:cNvSpPr/>
          <p:nvPr/>
        </p:nvSpPr>
        <p:spPr>
          <a:xfrm>
            <a:off x="6855000" y="3011888"/>
            <a:ext cx="351900" cy="614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103"/>
          <p:cNvSpPr/>
          <p:nvPr/>
        </p:nvSpPr>
        <p:spPr>
          <a:xfrm>
            <a:off x="3455763" y="3011888"/>
            <a:ext cx="351900" cy="6141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id="1550" name="Google Shape;1550;p103" title="1 lines Line 1: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1726" y="3854139"/>
            <a:ext cx="219864" cy="61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end{array}&quot;&gt;&lt;mtable columnalign=&quot;left&quot; columnspacing=&quot;1em&quot; rowspacing=&quot;4pt&quot;&gt;&lt;mtr&gt;&lt;mtd&gt;&lt;mfrac&gt;&lt;mn&gt;1&lt;/mn&gt;&lt;mn&gt;3&lt;/mn&gt;&lt;/mfrac&gt;&lt;/mtd&gt;&lt;/mtr&gt;&lt;/mtable&gt;&lt;/math&gt;" id="1551" name="Google Shape;1551;p103" title="1 lines Line 1: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1375" y="4214328"/>
            <a:ext cx="205511" cy="5740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9}\end{array}&quot;&gt;&lt;mtable columnalign=&quot;left&quot; columnspacing=&quot;1em&quot; rowspacing=&quot;4pt&quot;&gt;&lt;mtr&gt;&lt;mtd&gt;&lt;mfrac&gt;&lt;mn&gt;5&lt;/mn&gt;&lt;mn&gt;9&lt;/mn&gt;&lt;/mfrac&gt;&lt;/mtd&gt;&lt;/mtr&gt;&lt;/mtable&gt;&lt;/math&gt;" id="1552" name="Google Shape;1552;p103" title="1 lines Line 1: fiv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8509" y="4223124"/>
            <a:ext cx="191338" cy="531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end{array}&quot;&gt;&lt;mtable columnalign=&quot;left&quot; columnspacing=&quot;1em&quot; rowspacing=&quot;4pt&quot;&gt;&lt;mtr&gt;&lt;mtd&gt;&lt;mfrac&gt;&lt;mn&gt;3&lt;/mn&gt;&lt;mn&gt;4&lt;/mn&gt;&lt;/mfrac&gt;&lt;/mtd&gt;&lt;/mtr&gt;&lt;/mtable&gt;&lt;/math&gt;" id="1553" name="Google Shape;1553;p103" title="1 lines Line 1: three four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72075" y="3055035"/>
            <a:ext cx="191350" cy="527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4}\end{array}&quot;&gt;&lt;mtable columnalign=&quot;left&quot; columnspacing=&quot;1em&quot; rowspacing=&quot;4pt&quot;&gt;&lt;mtr&gt;&lt;mtd&gt;&lt;mfrac&gt;&lt;mn&gt;4&lt;/mn&gt;&lt;mn&gt;4&lt;/mn&gt;&lt;/mfrac&gt;&lt;/mtd&gt;&lt;/mtr&gt;&lt;/mtable&gt;&lt;/math&gt;" id="1554" name="Google Shape;1554;p103" title="1 lines Line 1: four four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26996" y="3032175"/>
            <a:ext cx="207913" cy="57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8}\end{array}&quot;&gt;&lt;mtable columnalign=&quot;left&quot; columnspacing=&quot;1em&quot; rowspacing=&quot;4pt&quot;&gt;&lt;mtr&gt;&lt;mtd&gt;&lt;mfrac&gt;&lt;mn&gt;3&lt;/mn&gt;&lt;mn&gt;8&lt;/mn&gt;&lt;/mfrac&gt;&lt;/mtd&gt;&lt;/mtr&gt;&lt;/mtable&gt;&lt;/math&gt;" id="1555" name="Google Shape;1555;p103" title="1 lines Line 1: three eigh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34939" y="3050094"/>
            <a:ext cx="193574" cy="537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frac{1}{2}\end{array}&quot;&gt;&lt;mtable columnalign=&quot;left&quot; columnspacing=&quot;1em&quot; rowspacing=&quot;4pt&quot;&gt;&lt;mtr&gt;&lt;mtd&gt;&lt;mn&gt;1&lt;/mn&gt;&lt;mfrac&gt;&lt;mn&gt;1&lt;/mn&gt;&lt;mn&gt;2&lt;/mn&gt;&lt;/mfrac&gt;&lt;/mtd&gt;&lt;/mtr&gt;&lt;/mtable&gt;&lt;/math&gt;" id="1556" name="Google Shape;1556;p103" title="1 lines Line 1: 1 and 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15325" y="1530800"/>
            <a:ext cx="339683" cy="46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end{array}&quot;&gt;&lt;mtable columnalign=&quot;left&quot; columnspacing=&quot;1em&quot; rowspacing=&quot;4pt&quot;&gt;&lt;mtr&gt;&lt;mtd&gt;&lt;mfrac&gt;&lt;mn&gt;1&lt;/mn&gt;&lt;mn&gt;2&lt;/mn&gt;&lt;/mfrac&gt;&lt;/mtd&gt;&lt;/mtr&gt;&lt;/mtable&gt;&lt;/math&gt;" id="1557" name="Google Shape;1557;p103" title="1 lines Line 1: 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19288" y="1813775"/>
            <a:ext cx="163985" cy="4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fractions</a:t>
            </a:r>
            <a:endParaRPr/>
          </a:p>
        </p:txBody>
      </p:sp>
      <p:sp>
        <p:nvSpPr>
          <p:cNvPr id="1563" name="Google Shape;1563;p104"/>
          <p:cNvSpPr txBox="1"/>
          <p:nvPr>
            <p:ph idx="4294967295" type="subTitle"/>
          </p:nvPr>
        </p:nvSpPr>
        <p:spPr>
          <a:xfrm>
            <a:off x="307500" y="984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b="1" lang="en-GB" sz="1800"/>
              <a:t>numerator</a:t>
            </a:r>
            <a:r>
              <a:rPr lang="en-GB" sz="1800"/>
              <a:t> is the expression in a fraction that is written above the fraction line. It is the dividend. </a:t>
            </a:r>
            <a:endParaRPr sz="1800"/>
          </a:p>
        </p:txBody>
      </p:sp>
      <p:sp>
        <p:nvSpPr>
          <p:cNvPr id="1564" name="Google Shape;1564;p104"/>
          <p:cNvSpPr txBox="1"/>
          <p:nvPr>
            <p:ph idx="4294967295" type="subTitle"/>
          </p:nvPr>
        </p:nvSpPr>
        <p:spPr>
          <a:xfrm>
            <a:off x="307500" y="1894683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b="1" lang="en-GB" sz="1800"/>
              <a:t>denominator </a:t>
            </a:r>
            <a:r>
              <a:rPr lang="en-GB" sz="1800"/>
              <a:t>is the expression in a fraction that is written below the fraction line. It is the divisor.</a:t>
            </a:r>
            <a:endParaRPr sz="1800"/>
          </a:p>
        </p:txBody>
      </p:sp>
      <p:sp>
        <p:nvSpPr>
          <p:cNvPr id="1565" name="Google Shape;1565;p104"/>
          <p:cNvSpPr txBox="1"/>
          <p:nvPr>
            <p:ph idx="4294967295" type="subTitle"/>
          </p:nvPr>
        </p:nvSpPr>
        <p:spPr>
          <a:xfrm>
            <a:off x="307500" y="2804692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Fractions can be used to describe diagrams when we define what the part of the diagram represents the whole. The </a:t>
            </a:r>
            <a:r>
              <a:rPr b="1" lang="en-GB" sz="1800"/>
              <a:t>denominator</a:t>
            </a:r>
            <a:r>
              <a:rPr lang="en-GB" sz="1800"/>
              <a:t> must represent the number of equal parts the whole is divided into. </a:t>
            </a:r>
            <a:endParaRPr sz="1800"/>
          </a:p>
        </p:txBody>
      </p:sp>
      <p:sp>
        <p:nvSpPr>
          <p:cNvPr id="1566" name="Google Shape;1566;p104"/>
          <p:cNvSpPr txBox="1"/>
          <p:nvPr>
            <p:ph idx="4294967295" type="subTitle"/>
          </p:nvPr>
        </p:nvSpPr>
        <p:spPr>
          <a:xfrm>
            <a:off x="307500" y="39303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Fractions are numbers that can be placed on a number line by dividing the line equally. </a:t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72" name="Google Shape;1572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