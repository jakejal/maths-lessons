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C248E7-A1EC-461E-9D1D-4BF1A02AE78F}">
  <a:tblStyle styleId="{94C248E7-A1EC-461E-9D1D-4BF1A02AE7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979d5038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979d5038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79d5038e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79d5038e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979d5038ee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79d5038ee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79d5038e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79d5038e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979d5038ee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979d5038ee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79d5038ee_1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79d5038ee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979d5038e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979d5038e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79d5038ee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79d5038ee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979d5038ee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979d5038ee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979d5038ee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979d5038ee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79d5038ee_1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79d5038ee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79d5038ee_1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79d5038ee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1ea903818f1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1ea903818f1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1ea903818f1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1ea903818f1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79d5038ee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79d5038ee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979d5038ee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79d5038ee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979d5038ee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979d5038ee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1ea903818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1ea903818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1ea903818f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1ea903818f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9988bab5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9988bab5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ea903818f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ea903818f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1ea903818f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1ea903818f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1ea903818f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1ea903818f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1ea903818f1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1ea903818f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1ea903818f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1ea903818f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1ea903818f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1ea903818f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1ea903818f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ea903818f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1ea903818f1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1ea903818f1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1ea903818f1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1ea903818f1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ea903818f1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ea903818f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1ea903818f1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1ea903818f1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73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3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35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Relationship Id="rId8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Relationship Id="rId4" Type="http://schemas.openxmlformats.org/officeDocument/2006/relationships/image" Target="../media/image74.png"/><Relationship Id="rId5" Type="http://schemas.openxmlformats.org/officeDocument/2006/relationships/image" Target="../media/image68.png"/><Relationship Id="rId6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Relationship Id="rId4" Type="http://schemas.openxmlformats.org/officeDocument/2006/relationships/image" Target="../media/image7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9.png"/><Relationship Id="rId4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Relationship Id="rId8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Relationship Id="rId5" Type="http://schemas.openxmlformats.org/officeDocument/2006/relationships/image" Target="../media/image74.png"/><Relationship Id="rId6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5" Type="http://schemas.openxmlformats.org/officeDocument/2006/relationships/image" Target="../media/image77.png"/><Relationship Id="rId6" Type="http://schemas.openxmlformats.org/officeDocument/2006/relationships/image" Target="../media/image7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7.png"/><Relationship Id="rId4" Type="http://schemas.openxmlformats.org/officeDocument/2006/relationships/image" Target="../media/image8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Relationship Id="rId5" Type="http://schemas.openxmlformats.org/officeDocument/2006/relationships/image" Target="../media/image82.png"/><Relationship Id="rId6" Type="http://schemas.openxmlformats.org/officeDocument/2006/relationships/image" Target="../media/image81.png"/><Relationship Id="rId7" Type="http://schemas.openxmlformats.org/officeDocument/2006/relationships/image" Target="../media/image8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8.png"/><Relationship Id="rId4" Type="http://schemas.openxmlformats.org/officeDocument/2006/relationships/image" Target="../media/image8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8.png"/><Relationship Id="rId4" Type="http://schemas.openxmlformats.org/officeDocument/2006/relationships/image" Target="../media/image95.png"/><Relationship Id="rId9" Type="http://schemas.openxmlformats.org/officeDocument/2006/relationships/image" Target="../media/image77.png"/><Relationship Id="rId5" Type="http://schemas.openxmlformats.org/officeDocument/2006/relationships/image" Target="../media/image97.png"/><Relationship Id="rId6" Type="http://schemas.openxmlformats.org/officeDocument/2006/relationships/image" Target="../media/image96.png"/><Relationship Id="rId7" Type="http://schemas.openxmlformats.org/officeDocument/2006/relationships/image" Target="../media/image102.png"/><Relationship Id="rId8" Type="http://schemas.openxmlformats.org/officeDocument/2006/relationships/image" Target="../media/image105.png"/><Relationship Id="rId11" Type="http://schemas.openxmlformats.org/officeDocument/2006/relationships/image" Target="../media/image100.png"/><Relationship Id="rId10" Type="http://schemas.openxmlformats.org/officeDocument/2006/relationships/image" Target="../media/image101.png"/><Relationship Id="rId13" Type="http://schemas.openxmlformats.org/officeDocument/2006/relationships/image" Target="../media/image99.png"/><Relationship Id="rId12" Type="http://schemas.openxmlformats.org/officeDocument/2006/relationships/image" Target="../media/image103.png"/><Relationship Id="rId15" Type="http://schemas.openxmlformats.org/officeDocument/2006/relationships/image" Target="../media/image111.png"/><Relationship Id="rId14" Type="http://schemas.openxmlformats.org/officeDocument/2006/relationships/image" Target="../media/image104.png"/><Relationship Id="rId16" Type="http://schemas.openxmlformats.org/officeDocument/2006/relationships/image" Target="../media/image10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6.png"/><Relationship Id="rId4" Type="http://schemas.openxmlformats.org/officeDocument/2006/relationships/image" Target="../media/image112.png"/><Relationship Id="rId5" Type="http://schemas.openxmlformats.org/officeDocument/2006/relationships/image" Target="../media/image107.png"/><Relationship Id="rId6" Type="http://schemas.openxmlformats.org/officeDocument/2006/relationships/image" Target="../media/image10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4.png"/><Relationship Id="rId4" Type="http://schemas.openxmlformats.org/officeDocument/2006/relationships/image" Target="../media/image52.png"/><Relationship Id="rId5" Type="http://schemas.openxmlformats.org/officeDocument/2006/relationships/image" Target="../media/image113.png"/><Relationship Id="rId6" Type="http://schemas.openxmlformats.org/officeDocument/2006/relationships/image" Target="../media/image1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8.png"/><Relationship Id="rId4" Type="http://schemas.openxmlformats.org/officeDocument/2006/relationships/image" Target="../media/image95.png"/><Relationship Id="rId9" Type="http://schemas.openxmlformats.org/officeDocument/2006/relationships/image" Target="../media/image77.png"/><Relationship Id="rId5" Type="http://schemas.openxmlformats.org/officeDocument/2006/relationships/image" Target="../media/image97.png"/><Relationship Id="rId6" Type="http://schemas.openxmlformats.org/officeDocument/2006/relationships/image" Target="../media/image96.png"/><Relationship Id="rId7" Type="http://schemas.openxmlformats.org/officeDocument/2006/relationships/image" Target="../media/image102.png"/><Relationship Id="rId8" Type="http://schemas.openxmlformats.org/officeDocument/2006/relationships/image" Target="../media/image105.png"/><Relationship Id="rId11" Type="http://schemas.openxmlformats.org/officeDocument/2006/relationships/image" Target="../media/image100.png"/><Relationship Id="rId10" Type="http://schemas.openxmlformats.org/officeDocument/2006/relationships/image" Target="../media/image101.png"/><Relationship Id="rId13" Type="http://schemas.openxmlformats.org/officeDocument/2006/relationships/image" Target="../media/image99.png"/><Relationship Id="rId12" Type="http://schemas.openxmlformats.org/officeDocument/2006/relationships/image" Target="../media/image103.png"/><Relationship Id="rId15" Type="http://schemas.openxmlformats.org/officeDocument/2006/relationships/image" Target="../media/image111.png"/><Relationship Id="rId14" Type="http://schemas.openxmlformats.org/officeDocument/2006/relationships/image" Target="../media/image104.png"/><Relationship Id="rId16" Type="http://schemas.openxmlformats.org/officeDocument/2006/relationships/image" Target="../media/image12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7.png"/><Relationship Id="rId4" Type="http://schemas.openxmlformats.org/officeDocument/2006/relationships/image" Target="../media/image112.png"/><Relationship Id="rId5" Type="http://schemas.openxmlformats.org/officeDocument/2006/relationships/image" Target="../media/image115.png"/><Relationship Id="rId6" Type="http://schemas.openxmlformats.org/officeDocument/2006/relationships/image" Target="../media/image118.png"/><Relationship Id="rId7" Type="http://schemas.openxmlformats.org/officeDocument/2006/relationships/image" Target="../media/image1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4.png"/><Relationship Id="rId4" Type="http://schemas.openxmlformats.org/officeDocument/2006/relationships/image" Target="../media/image113.png"/><Relationship Id="rId5" Type="http://schemas.openxmlformats.org/officeDocument/2006/relationships/image" Target="../media/image1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frac{n}{n}&quot;&gt;&lt;mfrac&gt;&lt;mi&gt;n&lt;/mi&gt;&lt;mi&gt;n&lt;/mi&gt;&lt;/mfrac&gt;&lt;/math&gt;" id="761" name="Google Shape;761;p66" title="n over n"/>
          <p:cNvSpPr txBox="1"/>
          <p:nvPr>
            <p:ph idx="1" type="subTitle"/>
          </p:nvPr>
        </p:nvSpPr>
        <p:spPr>
          <a:xfrm>
            <a:off x="585575" y="2344375"/>
            <a:ext cx="73512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fact that 1 can be written in the form</a:t>
            </a:r>
            <a:endParaRPr/>
          </a:p>
        </p:txBody>
      </p:sp>
      <p:pic>
        <p:nvPicPr>
          <p:cNvPr id="762" name="Google Shape;7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21" y="2779900"/>
            <a:ext cx="152189" cy="4348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frac{n}{n}&quot;&gt;&lt;mfrac&gt;&lt;mi&gt;n&lt;/mi&gt;&lt;mi&gt;n&lt;/mi&gt;&lt;/mfrac&gt;&lt;/math&gt;" id="763" name="Google Shape;763;p66" title="n over n"/>
          <p:cNvSpPr txBox="1"/>
          <p:nvPr>
            <p:ph idx="1" type="subTitle"/>
          </p:nvPr>
        </p:nvSpPr>
        <p:spPr>
          <a:xfrm>
            <a:off x="992225" y="2801575"/>
            <a:ext cx="69444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 vice versa.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324001" y="993650"/>
            <a:ext cx="8735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Two fractions are </a:t>
            </a:r>
            <a:r>
              <a:rPr lang="en-GB"/>
              <a:t>equivalent </a:t>
            </a:r>
            <a:r>
              <a:rPr b="0" lang="en-GB"/>
              <a:t>if they have the same value.</a:t>
            </a:r>
            <a:endParaRPr b="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1253151" y="195719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770" name="Google Shape;770;p67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0" l="0" r="70872" t="0"/>
          <a:stretch/>
        </p:blipFill>
        <p:spPr>
          <a:xfrm>
            <a:off x="1232391" y="2596019"/>
            <a:ext cx="1505275" cy="8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3831714" y="195719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772" name="Google Shape;772;p67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753" l="34396" r="36476" t="-8273"/>
          <a:stretch/>
        </p:blipFill>
        <p:spPr>
          <a:xfrm>
            <a:off x="3810958" y="2520606"/>
            <a:ext cx="1505275" cy="10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6389525" y="1957200"/>
            <a:ext cx="2048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Non e</a:t>
            </a:r>
            <a:r>
              <a:rPr b="0" lang="en-GB"/>
              <a:t>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774" name="Google Shape;774;p67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507" l="73727" r="-2854" t="-8519"/>
          <a:stretch/>
        </p:blipFill>
        <p:spPr>
          <a:xfrm>
            <a:off x="6389525" y="2520606"/>
            <a:ext cx="1505275" cy="10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781" name="Google Shape;781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pic>
        <p:nvPicPr>
          <p:cNvPr id="782" name="Google Shape;78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324000" y="987900"/>
            <a:ext cx="8237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Two fractions are </a:t>
            </a:r>
            <a:r>
              <a:rPr b="1" lang="en-GB">
                <a:solidFill>
                  <a:srgbClr val="282828"/>
                </a:solidFill>
              </a:rPr>
              <a:t>equivalent </a:t>
            </a:r>
            <a:r>
              <a:rPr lang="en-GB">
                <a:solidFill>
                  <a:srgbClr val="282828"/>
                </a:solidFill>
              </a:rPr>
              <a:t>if they have the same value.</a:t>
            </a:r>
            <a:endParaRPr/>
          </a:p>
        </p:txBody>
      </p:sp>
      <p:sp>
        <p:nvSpPr>
          <p:cNvPr id="788" name="Google Shape;78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24000" y="1804050"/>
            <a:ext cx="8237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Let’s look at some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 </a:t>
            </a:r>
            <a:r>
              <a:rPr lang="en-GB"/>
              <a:t>using bars</a:t>
            </a:r>
            <a:r>
              <a:rPr lang="en-GB">
                <a:solidFill>
                  <a:schemeClr val="accent4"/>
                </a:solidFill>
              </a:rPr>
              <a:t> </a:t>
            </a:r>
            <a:r>
              <a:rPr lang="en-GB">
                <a:solidFill>
                  <a:srgbClr val="282828"/>
                </a:solidFill>
              </a:rPr>
              <a:t>to show they are the same value.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idx="1" type="body"/>
          </p:nvPr>
        </p:nvSpPr>
        <p:spPr>
          <a:xfrm>
            <a:off x="278400" y="883050"/>
            <a:ext cx="68436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For example, what fraction do you have here? </a:t>
            </a:r>
            <a:endParaRPr/>
          </a:p>
        </p:txBody>
      </p:sp>
      <p:graphicFrame>
        <p:nvGraphicFramePr>
          <p:cNvPr id="795" name="Google Shape;795;p70"/>
          <p:cNvGraphicFramePr/>
          <p:nvPr/>
        </p:nvGraphicFramePr>
        <p:xfrm>
          <a:off x="2466500" y="152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987400"/>
                <a:gridCol w="999750"/>
                <a:gridCol w="993575"/>
                <a:gridCol w="993575"/>
                <a:gridCol w="993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6" name="Google Shape;796;p70"/>
          <p:cNvGraphicFramePr/>
          <p:nvPr/>
        </p:nvGraphicFramePr>
        <p:xfrm>
          <a:off x="2466500" y="283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278400" y="2162175"/>
            <a:ext cx="72294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Divide each part by two, what do you have?</a:t>
            </a:r>
            <a:r>
              <a:rPr lang="en-GB">
                <a:solidFill>
                  <a:srgbClr val="282828"/>
                </a:solidFill>
              </a:rPr>
              <a:t> </a:t>
            </a:r>
            <a:endParaRPr/>
          </a:p>
        </p:txBody>
      </p:sp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278400" y="3572900"/>
            <a:ext cx="72294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Divide each part by two again, what do you have?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6}{10}\\&amp;#13;&amp;#10;\frac{12}{2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6&lt;/mn&gt;&lt;mn&gt;10&lt;/mn&gt;&lt;/mfrac&gt;&lt;/mtd&gt;&lt;/mtr&gt;&lt;mtr&gt;&lt;mtd&gt;&lt;mfrac&gt;&lt;mn&gt;12&lt;/mn&gt;&lt;mn&gt;20&lt;/mn&gt;&lt;/mfrac&gt;&lt;/mtd&gt;&lt;/mtr&gt;&lt;/mtable&gt;&lt;/math&gt;" id="799" name="Google Shape;799;p70" title="3 lines Line 1: three fifths Line 2: six tenths Line 3: 12 over 20"/>
          <p:cNvPicPr preferRelativeResize="0"/>
          <p:nvPr/>
        </p:nvPicPr>
        <p:blipFill rotWithShape="1">
          <a:blip r:embed="rId3">
            <a:alphaModFix/>
          </a:blip>
          <a:srcRect b="34241" l="9010" r="-9009" t="34237"/>
          <a:stretch/>
        </p:blipFill>
        <p:spPr>
          <a:xfrm>
            <a:off x="7585725" y="2486188"/>
            <a:ext cx="460550" cy="84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6}{10}\\&amp;#13;&amp;#10;\frac{12}{2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6&lt;/mn&gt;&lt;mn&gt;10&lt;/mn&gt;&lt;/mfrac&gt;&lt;/mtd&gt;&lt;/mtr&gt;&lt;mtr&gt;&lt;mtd&gt;&lt;mfrac&gt;&lt;mn&gt;12&lt;/mn&gt;&lt;mn&gt;20&lt;/mn&gt;&lt;/mfrac&gt;&lt;/mtd&gt;&lt;/mtr&gt;&lt;/mtable&gt;&lt;/math&gt;" id="800" name="Google Shape;800;p70" title="3 lines Line 1: three fifths Line 2: six tenths Line 3: 12 over 20"/>
          <p:cNvPicPr preferRelativeResize="0"/>
          <p:nvPr/>
        </p:nvPicPr>
        <p:blipFill rotWithShape="1">
          <a:blip r:embed="rId3">
            <a:alphaModFix/>
          </a:blip>
          <a:srcRect b="-2575" l="0" r="-17536" t="71054"/>
          <a:stretch/>
        </p:blipFill>
        <p:spPr>
          <a:xfrm>
            <a:off x="7619775" y="3852850"/>
            <a:ext cx="541300" cy="84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6}{10}\\&amp;#13;&amp;#10;\frac{12}{2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6&lt;/mn&gt;&lt;mn&gt;10&lt;/mn&gt;&lt;/mfrac&gt;&lt;/mtd&gt;&lt;/mtr&gt;&lt;mtr&gt;&lt;mtd&gt;&lt;mfrac&gt;&lt;mn&gt;12&lt;/mn&gt;&lt;mn&gt;20&lt;/mn&gt;&lt;/mfrac&gt;&lt;/mtd&gt;&lt;/mtr&gt;&lt;/mtable&gt;&lt;/math&gt;" id="801" name="Google Shape;801;p70" title="3 lines Line 1: three fifths Line 2: six tenths Line 3: 12 over 20"/>
          <p:cNvPicPr preferRelativeResize="0"/>
          <p:nvPr/>
        </p:nvPicPr>
        <p:blipFill rotWithShape="1">
          <a:blip r:embed="rId3">
            <a:alphaModFix/>
          </a:blip>
          <a:srcRect b="68479" l="0" r="0" t="0"/>
          <a:stretch/>
        </p:blipFill>
        <p:spPr>
          <a:xfrm>
            <a:off x="7644663" y="1160971"/>
            <a:ext cx="460550" cy="8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  <p:graphicFrame>
        <p:nvGraphicFramePr>
          <p:cNvPr id="803" name="Google Shape;803;p70"/>
          <p:cNvGraphicFramePr/>
          <p:nvPr/>
        </p:nvGraphicFramePr>
        <p:xfrm>
          <a:off x="2455200" y="42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1"/>
          <p:cNvSpPr txBox="1"/>
          <p:nvPr>
            <p:ph idx="1" type="body"/>
          </p:nvPr>
        </p:nvSpPr>
        <p:spPr>
          <a:xfrm>
            <a:off x="324000" y="654450"/>
            <a:ext cx="7079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All of these are </a:t>
            </a:r>
            <a:r>
              <a:rPr b="1" lang="en-GB">
                <a:solidFill>
                  <a:srgbClr val="282828"/>
                </a:solidFill>
              </a:rPr>
              <a:t>equivalent. </a:t>
            </a:r>
            <a:r>
              <a:rPr lang="en-GB">
                <a:solidFill>
                  <a:srgbClr val="282828"/>
                </a:solidFill>
              </a:rPr>
              <a:t>There are an infinite number of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.</a:t>
            </a:r>
            <a:r>
              <a:rPr lang="en-GB">
                <a:solidFill>
                  <a:srgbClr val="282828"/>
                </a:solidFill>
              </a:rPr>
              <a:t> </a:t>
            </a:r>
            <a:endParaRPr/>
          </a:p>
        </p:txBody>
      </p:sp>
      <p:graphicFrame>
        <p:nvGraphicFramePr>
          <p:cNvPr id="809" name="Google Shape;809;p71"/>
          <p:cNvGraphicFramePr/>
          <p:nvPr/>
        </p:nvGraphicFramePr>
        <p:xfrm>
          <a:off x="2455650" y="167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989550"/>
                <a:gridCol w="989550"/>
                <a:gridCol w="989550"/>
                <a:gridCol w="989550"/>
                <a:gridCol w="97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0" name="Google Shape;810;p71"/>
          <p:cNvGraphicFramePr/>
          <p:nvPr/>
        </p:nvGraphicFramePr>
        <p:xfrm>
          <a:off x="2455250" y="29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  <a:gridCol w="49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3}{5}\\&amp;#13;&amp;#10;\frac{6}{10}\\&amp;#13;&amp;#10;\frac{12}{2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6&lt;/mn&gt;&lt;mn&gt;10&lt;/mn&gt;&lt;/mfrac&gt;&lt;/mtd&gt;&lt;/mtr&gt;&lt;mtr&gt;&lt;mtd&gt;&lt;mfrac&gt;&lt;mn&gt;12&lt;/mn&gt;&lt;mn&gt;20&lt;/mn&gt;&lt;/mfrac&gt;&lt;/mtd&gt;&lt;/mtr&gt;&lt;/mtable&gt;&lt;/math&gt;" id="811" name="Google Shape;811;p71" title="3 lines Line 1: three fifths Line 2: six tenths Line 3: 12 over 20"/>
          <p:cNvPicPr preferRelativeResize="0"/>
          <p:nvPr/>
        </p:nvPicPr>
        <p:blipFill rotWithShape="1">
          <a:blip r:embed="rId3">
            <a:alphaModFix/>
          </a:blip>
          <a:srcRect b="68479" l="0" r="0" t="0"/>
          <a:stretch/>
        </p:blipFill>
        <p:spPr>
          <a:xfrm>
            <a:off x="7644663" y="1313371"/>
            <a:ext cx="460550" cy="84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6}{10}\\&amp;#13;&amp;#10;\frac{12}{2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6&lt;/mn&gt;&lt;mn&gt;10&lt;/mn&gt;&lt;/mfrac&gt;&lt;/mtd&gt;&lt;/mtr&gt;&lt;mtr&gt;&lt;mtd&gt;&lt;mfrac&gt;&lt;mn&gt;12&lt;/mn&gt;&lt;mn&gt;20&lt;/mn&gt;&lt;/mfrac&gt;&lt;/mtd&gt;&lt;/mtr&gt;&lt;/mtable&gt;&lt;/math&gt;" id="812" name="Google Shape;812;p71" title="3 lines Line 1: three fifths Line 2: six tenths Line 3: 12 over 20"/>
          <p:cNvPicPr preferRelativeResize="0"/>
          <p:nvPr/>
        </p:nvPicPr>
        <p:blipFill rotWithShape="1">
          <a:blip r:embed="rId3">
            <a:alphaModFix/>
          </a:blip>
          <a:srcRect b="34241" l="9010" r="-9009" t="34237"/>
          <a:stretch/>
        </p:blipFill>
        <p:spPr>
          <a:xfrm>
            <a:off x="7585725" y="2638588"/>
            <a:ext cx="460550" cy="84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6}{10}\\&amp;#13;&amp;#10;\frac{12}{2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6&lt;/mn&gt;&lt;mn&gt;10&lt;/mn&gt;&lt;/mfrac&gt;&lt;/mtd&gt;&lt;/mtr&gt;&lt;mtr&gt;&lt;mtd&gt;&lt;mfrac&gt;&lt;mn&gt;12&lt;/mn&gt;&lt;mn&gt;20&lt;/mn&gt;&lt;/mfrac&gt;&lt;/mtd&gt;&lt;/mtr&gt;&lt;/mtable&gt;&lt;/math&gt;" id="813" name="Google Shape;813;p71" title="3 lines Line 1: three fifths Line 2: six tenths Line 3: 12 over 20"/>
          <p:cNvPicPr preferRelativeResize="0"/>
          <p:nvPr/>
        </p:nvPicPr>
        <p:blipFill rotWithShape="1">
          <a:blip r:embed="rId3">
            <a:alphaModFix/>
          </a:blip>
          <a:srcRect b="-2575" l="0" r="-17536" t="71054"/>
          <a:stretch/>
        </p:blipFill>
        <p:spPr>
          <a:xfrm>
            <a:off x="7619775" y="4005250"/>
            <a:ext cx="541300" cy="8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1"/>
          <p:cNvSpPr txBox="1"/>
          <p:nvPr/>
        </p:nvSpPr>
        <p:spPr>
          <a:xfrm>
            <a:off x="279775" y="1676375"/>
            <a:ext cx="20697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They are </a:t>
            </a:r>
            <a:r>
              <a:rPr b="1"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because we have simply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subdivided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each equal part.</a:t>
            </a:r>
            <a:endParaRPr/>
          </a:p>
        </p:txBody>
      </p:sp>
      <p:sp>
        <p:nvSpPr>
          <p:cNvPr id="815" name="Google Shape;81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  <p:graphicFrame>
        <p:nvGraphicFramePr>
          <p:cNvPr id="816" name="Google Shape;816;p71"/>
          <p:cNvGraphicFramePr/>
          <p:nvPr/>
        </p:nvGraphicFramePr>
        <p:xfrm>
          <a:off x="2455200" y="42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  <a:gridCol w="2468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81E9">
                        <a:alpha val="525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1" name="Google Shape;821;p72"/>
          <p:cNvGraphicFramePr/>
          <p:nvPr/>
        </p:nvGraphicFramePr>
        <p:xfrm>
          <a:off x="4824050" y="28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358350"/>
                <a:gridCol w="1358350"/>
              </a:tblGrid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2" name="Google Shape;822;p72"/>
          <p:cNvGraphicFramePr/>
          <p:nvPr/>
        </p:nvGraphicFramePr>
        <p:xfrm>
          <a:off x="1046950" y="2874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358350"/>
                <a:gridCol w="1358350"/>
              </a:tblGrid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3" name="Google Shape;823;p72"/>
          <p:cNvSpPr txBox="1"/>
          <p:nvPr>
            <p:ph idx="1" type="body"/>
          </p:nvPr>
        </p:nvSpPr>
        <p:spPr>
          <a:xfrm>
            <a:off x="324000" y="759300"/>
            <a:ext cx="8237700" cy="21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Aisha has a fraction shaded.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Show, using dividing lines to show the sub-division, how she can make the other </a:t>
            </a:r>
            <a:r>
              <a:rPr b="1" lang="en-GB" sz="1900"/>
              <a:t>equivalent fractions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824" name="Google Shape;82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  <p:graphicFrame>
        <p:nvGraphicFramePr>
          <p:cNvPr id="825" name="Google Shape;825;p72"/>
          <p:cNvGraphicFramePr/>
          <p:nvPr/>
        </p:nvGraphicFramePr>
        <p:xfrm>
          <a:off x="47425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358350"/>
                <a:gridCol w="1358350"/>
              </a:tblGrid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6" name="Google Shape;826;p72"/>
          <p:cNvGraphicFramePr/>
          <p:nvPr/>
        </p:nvGraphicFramePr>
        <p:xfrm>
          <a:off x="1046950" y="2876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679175"/>
                <a:gridCol w="679175"/>
                <a:gridCol w="679175"/>
                <a:gridCol w="679175"/>
              </a:tblGrid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7" name="Google Shape;827;p72"/>
          <p:cNvGraphicFramePr/>
          <p:nvPr/>
        </p:nvGraphicFramePr>
        <p:xfrm>
          <a:off x="4824000" y="287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452800"/>
                <a:gridCol w="452800"/>
                <a:gridCol w="452800"/>
                <a:gridCol w="452800"/>
                <a:gridCol w="452800"/>
                <a:gridCol w="452800"/>
              </a:tblGrid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9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3}{4}\\&amp;#13;&amp;#10;\end{array}&quot;&gt;&lt;mtable columnalign=&quot;left&quot; columnspacing=&quot;1em&quot; rowspacing=&quot;4pt&quot;&gt;&lt;mtr&gt;&lt;mtd&gt;&lt;mfrac&gt;&lt;mn&gt;3&lt;/mn&gt;&lt;mn&gt;4&lt;/mn&gt;&lt;/mfrac&gt;&lt;/mtd&gt;&lt;/mtr&gt;&lt;/mtable&gt;&lt;/math&gt;" id="828" name="Google Shape;828;p72" title="1 lines Line 1: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488" y="925975"/>
            <a:ext cx="2762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8}&quot;&gt;&lt;mfrac&gt;&lt;mn&gt;6&lt;/mn&gt;&lt;mn&gt;8&lt;/mn&gt;&lt;/mfrac&gt;&lt;/math&gt;" id="829" name="Google Shape;829;p72" title="six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475" y="3939000"/>
            <a:ext cx="230244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2}&quot;&gt;&lt;mfrac&gt;&lt;mn&gt;9&lt;/mn&gt;&lt;mn&gt;12&lt;/mn&gt;&lt;/mfrac&gt;&lt;/math&gt;" id="830" name="Google Shape;830;p72" title="9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0849" y="3939000"/>
            <a:ext cx="387900" cy="6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3"/>
          <p:cNvSpPr txBox="1"/>
          <p:nvPr>
            <p:ph idx="1" type="body"/>
          </p:nvPr>
        </p:nvSpPr>
        <p:spPr>
          <a:xfrm>
            <a:off x="324000" y="730650"/>
            <a:ext cx="8237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Let’s look at some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 using </a:t>
            </a:r>
            <a:r>
              <a:rPr lang="en-GB">
                <a:solidFill>
                  <a:schemeClr val="accent4"/>
                </a:solidFill>
              </a:rPr>
              <a:t>number lines</a:t>
            </a:r>
            <a:r>
              <a:rPr lang="en-GB">
                <a:solidFill>
                  <a:schemeClr val="accent4"/>
                </a:solidFill>
              </a:rPr>
              <a:t> </a:t>
            </a:r>
            <a:r>
              <a:rPr lang="en-GB">
                <a:solidFill>
                  <a:srgbClr val="282828"/>
                </a:solidFill>
              </a:rPr>
              <a:t>to show they are the same value.</a:t>
            </a:r>
            <a:endParaRPr/>
          </a:p>
        </p:txBody>
      </p:sp>
      <p:graphicFrame>
        <p:nvGraphicFramePr>
          <p:cNvPr id="836" name="Google Shape;836;p73"/>
          <p:cNvGraphicFramePr/>
          <p:nvPr/>
        </p:nvGraphicFramePr>
        <p:xfrm>
          <a:off x="3488350" y="194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2480350"/>
                <a:gridCol w="2480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37" name="Google Shape;837;p73"/>
          <p:cNvCxnSpPr/>
          <p:nvPr/>
        </p:nvCxnSpPr>
        <p:spPr>
          <a:xfrm flipH="1" rot="10800000">
            <a:off x="3116600" y="2129000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8" name="Google Shape;838;p73"/>
          <p:cNvSpPr txBox="1"/>
          <p:nvPr/>
        </p:nvSpPr>
        <p:spPr>
          <a:xfrm>
            <a:off x="3344300" y="22451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 txBox="1"/>
          <p:nvPr/>
        </p:nvSpPr>
        <p:spPr>
          <a:xfrm>
            <a:off x="8358900" y="22451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0" name="Google Shape;84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800" y="1869375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76" y="2242654"/>
            <a:ext cx="5355426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3"/>
          <p:cNvSpPr txBox="1"/>
          <p:nvPr>
            <p:ph idx="1" type="body"/>
          </p:nvPr>
        </p:nvSpPr>
        <p:spPr>
          <a:xfrm>
            <a:off x="324000" y="1766100"/>
            <a:ext cx="22437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For example, draw an arrow indicating </a:t>
            </a:r>
            <a:endParaRPr sz="1800"/>
          </a:p>
        </p:txBody>
      </p:sp>
      <p:graphicFrame>
        <p:nvGraphicFramePr>
          <p:cNvPr id="843" name="Google Shape;843;p73"/>
          <p:cNvGraphicFramePr/>
          <p:nvPr/>
        </p:nvGraphicFramePr>
        <p:xfrm>
          <a:off x="3488350" y="278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240175"/>
                <a:gridCol w="1240175"/>
                <a:gridCol w="1240175"/>
                <a:gridCol w="1240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44" name="Google Shape;844;p73"/>
          <p:cNvCxnSpPr/>
          <p:nvPr/>
        </p:nvCxnSpPr>
        <p:spPr>
          <a:xfrm flipH="1" rot="10800000">
            <a:off x="3116600" y="2977125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5" name="Google Shape;845;p73"/>
          <p:cNvSpPr txBox="1"/>
          <p:nvPr/>
        </p:nvSpPr>
        <p:spPr>
          <a:xfrm>
            <a:off x="3344300" y="30933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3"/>
          <p:cNvSpPr txBox="1"/>
          <p:nvPr/>
        </p:nvSpPr>
        <p:spPr>
          <a:xfrm>
            <a:off x="8358900" y="30933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7" name="Google Shape;84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800" y="2717500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76" y="3090779"/>
            <a:ext cx="5355426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 txBox="1"/>
          <p:nvPr>
            <p:ph idx="1" type="body"/>
          </p:nvPr>
        </p:nvSpPr>
        <p:spPr>
          <a:xfrm>
            <a:off x="324000" y="2666850"/>
            <a:ext cx="22437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D</a:t>
            </a:r>
            <a:r>
              <a:rPr lang="en-GB" sz="1800">
                <a:solidFill>
                  <a:srgbClr val="282828"/>
                </a:solidFill>
              </a:rPr>
              <a:t>raw an arrow indicating </a:t>
            </a:r>
            <a:endParaRPr sz="1800"/>
          </a:p>
        </p:txBody>
      </p:sp>
      <p:sp>
        <p:nvSpPr>
          <p:cNvPr id="850" name="Google Shape;850;p73"/>
          <p:cNvSpPr txBox="1"/>
          <p:nvPr>
            <p:ph idx="1" type="body"/>
          </p:nvPr>
        </p:nvSpPr>
        <p:spPr>
          <a:xfrm>
            <a:off x="324000" y="3629100"/>
            <a:ext cx="22437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Draw an arrow indicating </a:t>
            </a:r>
            <a:endParaRPr sz="1800"/>
          </a:p>
        </p:txBody>
      </p:sp>
      <p:graphicFrame>
        <p:nvGraphicFramePr>
          <p:cNvPr id="851" name="Google Shape;851;p73"/>
          <p:cNvGraphicFramePr/>
          <p:nvPr/>
        </p:nvGraphicFramePr>
        <p:xfrm>
          <a:off x="3488350" y="36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52" name="Google Shape;852;p73"/>
          <p:cNvCxnSpPr/>
          <p:nvPr/>
        </p:nvCxnSpPr>
        <p:spPr>
          <a:xfrm flipH="1" rot="10800000">
            <a:off x="3116600" y="3869300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3" name="Google Shape;853;p73"/>
          <p:cNvSpPr txBox="1"/>
          <p:nvPr/>
        </p:nvSpPr>
        <p:spPr>
          <a:xfrm>
            <a:off x="3344300" y="39854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3"/>
          <p:cNvSpPr txBox="1"/>
          <p:nvPr/>
        </p:nvSpPr>
        <p:spPr>
          <a:xfrm>
            <a:off x="8358900" y="39854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5" name="Google Shape;85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988" y="3639950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63" y="3996725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\&amp;#13;&amp;#10;\frac{2}{4}\\&amp;#13;&amp;#10;\frac{7}{14}\end{array}&quot;&gt;&lt;mtable columnalign=&quot;left&quot; columnspacing=&quot;1em&quot; rowspacing=&quot;4pt&quot;&gt;&lt;mtr&gt;&lt;mtd&gt;&lt;mfrac&gt;&lt;mn&gt;1&lt;/mn&gt;&lt;mn&gt;2&lt;/mn&gt;&lt;/mfrac&gt;&lt;/mtd&gt;&lt;/mtr&gt;&lt;mtr&gt;&lt;mtd&gt;&lt;mfrac&gt;&lt;mn&gt;2&lt;/mn&gt;&lt;mn&gt;4&lt;/mn&gt;&lt;/mfrac&gt;&lt;/mtd&gt;&lt;/mtr&gt;&lt;mtr&gt;&lt;mtd&gt;&lt;mfrac&gt;&lt;mn&gt;7&lt;/mn&gt;&lt;mn&gt;14&lt;/mn&gt;&lt;/mfrac&gt;&lt;/mtd&gt;&lt;/mtr&gt;&lt;/mtable&gt;&lt;/math&gt;" id="857" name="Google Shape;857;p73" title="3 lines Line 1: one half Line 2: two fourths Line 3: 7 over 14"/>
          <p:cNvPicPr preferRelativeResize="0"/>
          <p:nvPr/>
        </p:nvPicPr>
        <p:blipFill rotWithShape="1">
          <a:blip r:embed="rId4">
            <a:alphaModFix/>
          </a:blip>
          <a:srcRect b="66480" l="0" r="0" t="0"/>
          <a:stretch/>
        </p:blipFill>
        <p:spPr>
          <a:xfrm>
            <a:off x="2601250" y="1869375"/>
            <a:ext cx="365875" cy="71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\&amp;#13;&amp;#10;\frac{2}{4}\\&amp;#13;&amp;#10;\frac{7}{14}\end{array}&quot;&gt;&lt;mtable columnalign=&quot;left&quot; columnspacing=&quot;1em&quot; rowspacing=&quot;4pt&quot;&gt;&lt;mtr&gt;&lt;mtd&gt;&lt;mfrac&gt;&lt;mn&gt;1&lt;/mn&gt;&lt;mn&gt;2&lt;/mn&gt;&lt;/mfrac&gt;&lt;/mtd&gt;&lt;/mtr&gt;&lt;mtr&gt;&lt;mtd&gt;&lt;mfrac&gt;&lt;mn&gt;2&lt;/mn&gt;&lt;mn&gt;4&lt;/mn&gt;&lt;/mfrac&gt;&lt;/mtd&gt;&lt;/mtr&gt;&lt;mtr&gt;&lt;mtd&gt;&lt;mfrac&gt;&lt;mn&gt;7&lt;/mn&gt;&lt;mn&gt;14&lt;/mn&gt;&lt;/mfrac&gt;&lt;/mtd&gt;&lt;/mtr&gt;&lt;/mtable&gt;&lt;/math&gt;" id="858" name="Google Shape;858;p73" title="3 lines Line 1: one half Line 2: two fourths Line 3: 7 over 14"/>
          <p:cNvPicPr preferRelativeResize="0"/>
          <p:nvPr/>
        </p:nvPicPr>
        <p:blipFill rotWithShape="1">
          <a:blip r:embed="rId4">
            <a:alphaModFix/>
          </a:blip>
          <a:srcRect b="33238" l="-9059" r="9060" t="33241"/>
          <a:stretch/>
        </p:blipFill>
        <p:spPr>
          <a:xfrm>
            <a:off x="2074500" y="2476500"/>
            <a:ext cx="365875" cy="71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\&amp;#13;&amp;#10;\frac{2}{4}\\&amp;#13;&amp;#10;\frac{7}{14}\end{array}&quot;&gt;&lt;mtable columnalign=&quot;left&quot; columnspacing=&quot;1em&quot; rowspacing=&quot;4pt&quot;&gt;&lt;mtr&gt;&lt;mtd&gt;&lt;mfrac&gt;&lt;mn&gt;1&lt;/mn&gt;&lt;mn&gt;2&lt;/mn&gt;&lt;/mfrac&gt;&lt;/mtd&gt;&lt;/mtr&gt;&lt;mtr&gt;&lt;mtd&gt;&lt;mfrac&gt;&lt;mn&gt;2&lt;/mn&gt;&lt;mn&gt;4&lt;/mn&gt;&lt;/mfrac&gt;&lt;/mtd&gt;&lt;/mtr&gt;&lt;mtr&gt;&lt;mtd&gt;&lt;mfrac&gt;&lt;mn&gt;7&lt;/mn&gt;&lt;mn&gt;14&lt;/mn&gt;&lt;/mfrac&gt;&lt;/mtd&gt;&lt;/mtr&gt;&lt;/mtable&gt;&lt;/math&gt;" id="859" name="Google Shape;859;p73" title="3 lines Line 1: one half Line 2: two fourths Line 3: 7 over 14"/>
          <p:cNvPicPr preferRelativeResize="0"/>
          <p:nvPr/>
        </p:nvPicPr>
        <p:blipFill rotWithShape="1">
          <a:blip r:embed="rId4">
            <a:alphaModFix/>
          </a:blip>
          <a:srcRect b="-3476" l="0" r="0" t="69956"/>
          <a:stretch/>
        </p:blipFill>
        <p:spPr>
          <a:xfrm>
            <a:off x="2028125" y="3424800"/>
            <a:ext cx="365875" cy="71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0" name="Google Shape;860;p73"/>
          <p:cNvCxnSpPr/>
          <p:nvPr/>
        </p:nvCxnSpPr>
        <p:spPr>
          <a:xfrm>
            <a:off x="5968700" y="2460900"/>
            <a:ext cx="0" cy="4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1" name="Google Shape;861;p73"/>
          <p:cNvCxnSpPr/>
          <p:nvPr/>
        </p:nvCxnSpPr>
        <p:spPr>
          <a:xfrm>
            <a:off x="5968700" y="1557613"/>
            <a:ext cx="0" cy="4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2" name="Google Shape;862;p73"/>
          <p:cNvCxnSpPr/>
          <p:nvPr/>
        </p:nvCxnSpPr>
        <p:spPr>
          <a:xfrm>
            <a:off x="5968700" y="3316825"/>
            <a:ext cx="0" cy="4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3" name="Google Shape;86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4"/>
          <p:cNvSpPr txBox="1"/>
          <p:nvPr>
            <p:ph idx="1" type="body"/>
          </p:nvPr>
        </p:nvSpPr>
        <p:spPr>
          <a:xfrm>
            <a:off x="324000" y="730650"/>
            <a:ext cx="71352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All of these are </a:t>
            </a:r>
            <a:r>
              <a:rPr b="1" lang="en-GB">
                <a:solidFill>
                  <a:srgbClr val="282828"/>
                </a:solidFill>
              </a:rPr>
              <a:t>equivalent. </a:t>
            </a:r>
            <a:r>
              <a:rPr lang="en-GB">
                <a:solidFill>
                  <a:srgbClr val="282828"/>
                </a:solidFill>
              </a:rPr>
              <a:t>There are an infinite number of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. </a:t>
            </a:r>
            <a:endParaRPr/>
          </a:p>
        </p:txBody>
      </p:sp>
      <p:graphicFrame>
        <p:nvGraphicFramePr>
          <p:cNvPr id="869" name="Google Shape;869;p74"/>
          <p:cNvGraphicFramePr/>
          <p:nvPr/>
        </p:nvGraphicFramePr>
        <p:xfrm>
          <a:off x="3488350" y="194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2480350"/>
                <a:gridCol w="2480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70" name="Google Shape;870;p74"/>
          <p:cNvCxnSpPr/>
          <p:nvPr/>
        </p:nvCxnSpPr>
        <p:spPr>
          <a:xfrm flipH="1" rot="10800000">
            <a:off x="3116600" y="2129000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1" name="Google Shape;871;p74"/>
          <p:cNvSpPr txBox="1"/>
          <p:nvPr/>
        </p:nvSpPr>
        <p:spPr>
          <a:xfrm>
            <a:off x="3344300" y="22451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4"/>
          <p:cNvSpPr txBox="1"/>
          <p:nvPr/>
        </p:nvSpPr>
        <p:spPr>
          <a:xfrm>
            <a:off x="8358900" y="22451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3" name="Google Shape;8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800" y="1869375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76" y="2242654"/>
            <a:ext cx="5355426" cy="12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5" name="Google Shape;875;p74"/>
          <p:cNvGraphicFramePr/>
          <p:nvPr/>
        </p:nvGraphicFramePr>
        <p:xfrm>
          <a:off x="3488350" y="278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240175"/>
                <a:gridCol w="1240175"/>
                <a:gridCol w="1240175"/>
                <a:gridCol w="1240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76" name="Google Shape;876;p74"/>
          <p:cNvCxnSpPr/>
          <p:nvPr/>
        </p:nvCxnSpPr>
        <p:spPr>
          <a:xfrm flipH="1" rot="10800000">
            <a:off x="3116600" y="2977125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7" name="Google Shape;877;p74"/>
          <p:cNvSpPr txBox="1"/>
          <p:nvPr/>
        </p:nvSpPr>
        <p:spPr>
          <a:xfrm>
            <a:off x="3344300" y="30933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4"/>
          <p:cNvSpPr txBox="1"/>
          <p:nvPr/>
        </p:nvSpPr>
        <p:spPr>
          <a:xfrm>
            <a:off x="8358900" y="30933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800" y="2717500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76" y="3090779"/>
            <a:ext cx="5355426" cy="12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74"/>
          <p:cNvGraphicFramePr/>
          <p:nvPr/>
        </p:nvGraphicFramePr>
        <p:xfrm>
          <a:off x="3488350" y="36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  <a:gridCol w="354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82" name="Google Shape;882;p74"/>
          <p:cNvCxnSpPr/>
          <p:nvPr/>
        </p:nvCxnSpPr>
        <p:spPr>
          <a:xfrm flipH="1" rot="10800000">
            <a:off x="3116600" y="3869300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3" name="Google Shape;883;p74"/>
          <p:cNvSpPr txBox="1"/>
          <p:nvPr/>
        </p:nvSpPr>
        <p:spPr>
          <a:xfrm>
            <a:off x="3344300" y="39854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8358900" y="39854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5" name="Google Shape;88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988" y="3639950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263" y="3996725"/>
            <a:ext cx="5355426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\&amp;#13;&amp;#10;\frac{2}{4}\\&amp;#13;&amp;#10;\frac{7}{14}\end{array}&quot;&gt;&lt;mtable columnalign=&quot;left&quot; columnspacing=&quot;1em&quot; rowspacing=&quot;4pt&quot;&gt;&lt;mtr&gt;&lt;mtd&gt;&lt;mfrac&gt;&lt;mn&gt;1&lt;/mn&gt;&lt;mn&gt;2&lt;/mn&gt;&lt;/mfrac&gt;&lt;/mtd&gt;&lt;/mtr&gt;&lt;mtr&gt;&lt;mtd&gt;&lt;mfrac&gt;&lt;mn&gt;2&lt;/mn&gt;&lt;mn&gt;4&lt;/mn&gt;&lt;/mfrac&gt;&lt;/mtd&gt;&lt;/mtr&gt;&lt;mtr&gt;&lt;mtd&gt;&lt;mfrac&gt;&lt;mn&gt;7&lt;/mn&gt;&lt;mn&gt;14&lt;/mn&gt;&lt;/mfrac&gt;&lt;/mtd&gt;&lt;/mtr&gt;&lt;/mtable&gt;&lt;/math&gt;" id="887" name="Google Shape;887;p74" title="3 lines Line 1: one half Line 2: two fourths Line 3: 7 over 14"/>
          <p:cNvPicPr preferRelativeResize="0"/>
          <p:nvPr/>
        </p:nvPicPr>
        <p:blipFill rotWithShape="1">
          <a:blip r:embed="rId4">
            <a:alphaModFix/>
          </a:blip>
          <a:srcRect b="66480" l="0" r="0" t="0"/>
          <a:stretch/>
        </p:blipFill>
        <p:spPr>
          <a:xfrm>
            <a:off x="2776865" y="1780800"/>
            <a:ext cx="365875" cy="71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\&amp;#13;&amp;#10;\frac{2}{4}\\&amp;#13;&amp;#10;\frac{7}{14}\end{array}&quot;&gt;&lt;mtable columnalign=&quot;left&quot; columnspacing=&quot;1em&quot; rowspacing=&quot;4pt&quot;&gt;&lt;mtr&gt;&lt;mtd&gt;&lt;mfrac&gt;&lt;mn&gt;1&lt;/mn&gt;&lt;mn&gt;2&lt;/mn&gt;&lt;/mfrac&gt;&lt;/mtd&gt;&lt;/mtr&gt;&lt;mtr&gt;&lt;mtd&gt;&lt;mfrac&gt;&lt;mn&gt;2&lt;/mn&gt;&lt;mn&gt;4&lt;/mn&gt;&lt;/mfrac&gt;&lt;/mtd&gt;&lt;/mtr&gt;&lt;mtr&gt;&lt;mtd&gt;&lt;mfrac&gt;&lt;mn&gt;7&lt;/mn&gt;&lt;mn&gt;14&lt;/mn&gt;&lt;/mfrac&gt;&lt;/mtd&gt;&lt;/mtr&gt;&lt;/mtable&gt;&lt;/math&gt;" id="888" name="Google Shape;888;p74" title="3 lines Line 1: one half Line 2: two fourths Line 3: 7 over 14"/>
          <p:cNvPicPr preferRelativeResize="0"/>
          <p:nvPr/>
        </p:nvPicPr>
        <p:blipFill rotWithShape="1">
          <a:blip r:embed="rId4">
            <a:alphaModFix/>
          </a:blip>
          <a:srcRect b="33238" l="-9059" r="9060" t="33241"/>
          <a:stretch/>
        </p:blipFill>
        <p:spPr>
          <a:xfrm>
            <a:off x="2760300" y="2628900"/>
            <a:ext cx="365875" cy="71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\&amp;#13;&amp;#10;\frac{2}{4}\\&amp;#13;&amp;#10;\frac{7}{14}\end{array}&quot;&gt;&lt;mtable columnalign=&quot;left&quot; columnspacing=&quot;1em&quot; rowspacing=&quot;4pt&quot;&gt;&lt;mtr&gt;&lt;mtd&gt;&lt;mfrac&gt;&lt;mn&gt;1&lt;/mn&gt;&lt;mn&gt;2&lt;/mn&gt;&lt;/mfrac&gt;&lt;/mtd&gt;&lt;/mtr&gt;&lt;mtr&gt;&lt;mtd&gt;&lt;mfrac&gt;&lt;mn&gt;2&lt;/mn&gt;&lt;mn&gt;4&lt;/mn&gt;&lt;/mfrac&gt;&lt;/mtd&gt;&lt;/mtr&gt;&lt;mtr&gt;&lt;mtd&gt;&lt;mfrac&gt;&lt;mn&gt;7&lt;/mn&gt;&lt;mn&gt;14&lt;/mn&gt;&lt;/mfrac&gt;&lt;/mtd&gt;&lt;/mtr&gt;&lt;/mtable&gt;&lt;/math&gt;" id="889" name="Google Shape;889;p74" title="3 lines Line 1: one half Line 2: two fourths Line 3: 7 over 14"/>
          <p:cNvPicPr preferRelativeResize="0"/>
          <p:nvPr/>
        </p:nvPicPr>
        <p:blipFill rotWithShape="1">
          <a:blip r:embed="rId4">
            <a:alphaModFix/>
          </a:blip>
          <a:srcRect b="-3476" l="0" r="0" t="69956"/>
          <a:stretch/>
        </p:blipFill>
        <p:spPr>
          <a:xfrm>
            <a:off x="2713925" y="3577200"/>
            <a:ext cx="365875" cy="71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0" name="Google Shape;890;p74"/>
          <p:cNvCxnSpPr/>
          <p:nvPr/>
        </p:nvCxnSpPr>
        <p:spPr>
          <a:xfrm>
            <a:off x="5968700" y="2460900"/>
            <a:ext cx="0" cy="4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1" name="Google Shape;891;p74"/>
          <p:cNvCxnSpPr/>
          <p:nvPr/>
        </p:nvCxnSpPr>
        <p:spPr>
          <a:xfrm>
            <a:off x="5968700" y="1557613"/>
            <a:ext cx="0" cy="4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2" name="Google Shape;892;p74"/>
          <p:cNvCxnSpPr/>
          <p:nvPr/>
        </p:nvCxnSpPr>
        <p:spPr>
          <a:xfrm>
            <a:off x="5968700" y="3316825"/>
            <a:ext cx="0" cy="4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3" name="Google Shape;893;p74"/>
          <p:cNvSpPr txBox="1"/>
          <p:nvPr/>
        </p:nvSpPr>
        <p:spPr>
          <a:xfrm>
            <a:off x="221922" y="1752827"/>
            <a:ext cx="24552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They are </a:t>
            </a:r>
            <a:r>
              <a:rPr b="1"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because we have simply subdivided each equal part.</a:t>
            </a:r>
            <a:endParaRPr/>
          </a:p>
        </p:txBody>
      </p:sp>
      <p:sp>
        <p:nvSpPr>
          <p:cNvPr id="894" name="Google Shape;89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75" y="661275"/>
            <a:ext cx="7333524" cy="817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0" name="Google Shape;900;p75"/>
          <p:cNvGraphicFramePr/>
          <p:nvPr/>
        </p:nvGraphicFramePr>
        <p:xfrm>
          <a:off x="2078000" y="18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240175"/>
                <a:gridCol w="1240175"/>
                <a:gridCol w="1240175"/>
                <a:gridCol w="1240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01" name="Google Shape;901;p75"/>
          <p:cNvCxnSpPr/>
          <p:nvPr/>
        </p:nvCxnSpPr>
        <p:spPr>
          <a:xfrm flipH="1" rot="10800000">
            <a:off x="1706250" y="2060500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2" name="Google Shape;902;p75"/>
          <p:cNvSpPr txBox="1"/>
          <p:nvPr/>
        </p:nvSpPr>
        <p:spPr>
          <a:xfrm>
            <a:off x="1933950" y="21766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 txBox="1"/>
          <p:nvPr/>
        </p:nvSpPr>
        <p:spPr>
          <a:xfrm>
            <a:off x="6948550" y="21766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4" name="Google Shape;904;p75"/>
          <p:cNvGraphicFramePr/>
          <p:nvPr/>
        </p:nvGraphicFramePr>
        <p:xfrm>
          <a:off x="2078000" y="279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620100"/>
                <a:gridCol w="620100"/>
                <a:gridCol w="620100"/>
                <a:gridCol w="620100"/>
                <a:gridCol w="620100"/>
                <a:gridCol w="620100"/>
                <a:gridCol w="620100"/>
                <a:gridCol w="62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05" name="Google Shape;905;p75"/>
          <p:cNvCxnSpPr/>
          <p:nvPr/>
        </p:nvCxnSpPr>
        <p:spPr>
          <a:xfrm flipH="1" rot="10800000">
            <a:off x="1706250" y="2984825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6" name="Google Shape;906;p75"/>
          <p:cNvSpPr txBox="1"/>
          <p:nvPr/>
        </p:nvSpPr>
        <p:spPr>
          <a:xfrm>
            <a:off x="1933950" y="31010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 txBox="1"/>
          <p:nvPr/>
        </p:nvSpPr>
        <p:spPr>
          <a:xfrm>
            <a:off x="6948550" y="31010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8" name="Google Shape;908;p75"/>
          <p:cNvGraphicFramePr/>
          <p:nvPr/>
        </p:nvGraphicFramePr>
        <p:xfrm>
          <a:off x="2078000" y="384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413400"/>
                <a:gridCol w="413400"/>
                <a:gridCol w="413400"/>
                <a:gridCol w="413400"/>
                <a:gridCol w="413400"/>
                <a:gridCol w="413400"/>
                <a:gridCol w="413400"/>
                <a:gridCol w="413400"/>
                <a:gridCol w="413400"/>
                <a:gridCol w="413400"/>
                <a:gridCol w="413400"/>
                <a:gridCol w="41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09" name="Google Shape;909;p75"/>
          <p:cNvCxnSpPr/>
          <p:nvPr/>
        </p:nvCxnSpPr>
        <p:spPr>
          <a:xfrm flipH="1" rot="10800000">
            <a:off x="1706250" y="4029400"/>
            <a:ext cx="5731500" cy="2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0" name="Google Shape;910;p75"/>
          <p:cNvSpPr txBox="1"/>
          <p:nvPr/>
        </p:nvSpPr>
        <p:spPr>
          <a:xfrm>
            <a:off x="1933950" y="41455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 txBox="1"/>
          <p:nvPr/>
        </p:nvSpPr>
        <p:spPr>
          <a:xfrm>
            <a:off x="6948550" y="41455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2" name="Google Shape;91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6250" y="3814325"/>
            <a:ext cx="58959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825" y="4171125"/>
            <a:ext cx="58959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6250" y="2733688"/>
            <a:ext cx="58959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825" y="3121850"/>
            <a:ext cx="58959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013" y="1815080"/>
            <a:ext cx="58959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013" y="2184373"/>
            <a:ext cx="58959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\\&amp;#13;&amp;#10;\frac{3}{4}\end{array}&quot;&gt;&lt;mtable columnalign=&quot;left&quot; columnspacing=&quot;1em&quot; rowspacing=&quot;4pt&quot;&gt;&lt;mtr&gt;&lt;mtd&gt;&lt;mfrac&gt;&lt;mn&gt;1&lt;/mn&gt;&lt;mn&gt;4&lt;/mn&gt;&lt;/mfrac&gt;&lt;/mtd&gt;&lt;/mtr&gt;&lt;mtr&gt;&lt;mtd&gt;&lt;mfrac&gt;&lt;mn&gt;3&lt;/mn&gt;&lt;mn&gt;4&lt;/mn&gt;&lt;/mfrac&gt;&lt;/mtd&gt;&lt;/mtr&gt;&lt;/mtable&gt;&lt;/math&gt;" id="918" name="Google Shape;918;p75" title="2 lines Line 1: one fourth Line 2: three fourths"/>
          <p:cNvPicPr preferRelativeResize="0"/>
          <p:nvPr/>
        </p:nvPicPr>
        <p:blipFill rotWithShape="1">
          <a:blip r:embed="rId5">
            <a:alphaModFix/>
          </a:blip>
          <a:srcRect b="0" l="0" r="0" t="51267"/>
          <a:stretch/>
        </p:blipFill>
        <p:spPr>
          <a:xfrm>
            <a:off x="5722265" y="1473552"/>
            <a:ext cx="137400" cy="421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\\&amp;#13;&amp;#10;\frac{3}{4}\end{array}&quot;&gt;&lt;mtable columnalign=&quot;left&quot; columnspacing=&quot;1em&quot; rowspacing=&quot;4pt&quot;&gt;&lt;mtr&gt;&lt;mtd&gt;&lt;mfrac&gt;&lt;mn&gt;1&lt;/mn&gt;&lt;mn&gt;4&lt;/mn&gt;&lt;/mfrac&gt;&lt;/mtd&gt;&lt;/mtr&gt;&lt;mtr&gt;&lt;mtd&gt;&lt;mfrac&gt;&lt;mn&gt;3&lt;/mn&gt;&lt;mn&gt;4&lt;/mn&gt;&lt;/mfrac&gt;&lt;/mtd&gt;&lt;/mtr&gt;&lt;/mtable&gt;&lt;/math&gt;" id="919" name="Google Shape;919;p75" title="2 lines Line 1: one fourth Line 2: three fourths"/>
          <p:cNvPicPr preferRelativeResize="0"/>
          <p:nvPr/>
        </p:nvPicPr>
        <p:blipFill rotWithShape="1">
          <a:blip r:embed="rId5">
            <a:alphaModFix/>
          </a:blip>
          <a:srcRect b="51267" l="0" r="0" t="0"/>
          <a:stretch/>
        </p:blipFill>
        <p:spPr>
          <a:xfrm>
            <a:off x="3240485" y="1499672"/>
            <a:ext cx="137386" cy="42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8}\ \ \ \frac{6}{8}&quot;&gt;&lt;mfrac&gt;&lt;mn&gt;2&lt;/mn&gt;&lt;mn&gt;8&lt;/mn&gt;&lt;/mfrac&gt;&lt;mtext&gt;&lt;/mtext&gt;&lt;mtext&gt;&lt;/mtext&gt;&lt;mtext&gt;&lt;/mtext&gt;&lt;mfrac&gt;&lt;mn&gt;6&lt;/mn&gt;&lt;mn&gt;8&lt;/mn&gt;&lt;/mfrac&gt;&lt;/math&gt;" id="920" name="Google Shape;920;p75" title="two eighths six eighths"/>
          <p:cNvPicPr preferRelativeResize="0"/>
          <p:nvPr/>
        </p:nvPicPr>
        <p:blipFill rotWithShape="1">
          <a:blip r:embed="rId6">
            <a:alphaModFix/>
          </a:blip>
          <a:srcRect b="0" l="0" r="56103" t="0"/>
          <a:stretch/>
        </p:blipFill>
        <p:spPr>
          <a:xfrm>
            <a:off x="3259810" y="2396397"/>
            <a:ext cx="199825" cy="4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8}\ \ \ \frac{6}{8}&quot;&gt;&lt;mfrac&gt;&lt;mn&gt;2&lt;/mn&gt;&lt;mn&gt;8&lt;/mn&gt;&lt;/mfrac&gt;&lt;mtext&gt;&lt;/mtext&gt;&lt;mtext&gt;&lt;/mtext&gt;&lt;mtext&gt;&lt;/mtext&gt;&lt;mfrac&gt;&lt;mn&gt;6&lt;/mn&gt;&lt;mn&gt;8&lt;/mn&gt;&lt;/mfrac&gt;&lt;/math&gt;" id="921" name="Google Shape;921;p75" title="two eighths six eighths"/>
          <p:cNvPicPr preferRelativeResize="0"/>
          <p:nvPr/>
        </p:nvPicPr>
        <p:blipFill rotWithShape="1">
          <a:blip r:embed="rId6">
            <a:alphaModFix/>
          </a:blip>
          <a:srcRect b="0" l="56106" r="-12308" t="0"/>
          <a:stretch/>
        </p:blipFill>
        <p:spPr>
          <a:xfrm>
            <a:off x="5666227" y="2404679"/>
            <a:ext cx="255850" cy="4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\ \ \ \frac{9}{12}&quot;&gt;&lt;mfrac&gt;&lt;mn&gt;3&lt;/mn&gt;&lt;mn&gt;12&lt;/mn&gt;&lt;/mfrac&gt;&lt;mtext&gt;&lt;/mtext&gt;&lt;mtext&gt;&lt;/mtext&gt;&lt;mtext&gt;&lt;/mtext&gt;&lt;mfrac&gt;&lt;mn&gt;9&lt;/mn&gt;&lt;mn&gt;12&lt;/mn&gt;&lt;/mfrac&gt;&lt;/math&gt;" id="922" name="Google Shape;922;p75" title="3 over 12 9 over 12"/>
          <p:cNvPicPr preferRelativeResize="0"/>
          <p:nvPr/>
        </p:nvPicPr>
        <p:blipFill rotWithShape="1">
          <a:blip r:embed="rId7">
            <a:alphaModFix/>
          </a:blip>
          <a:srcRect b="0" l="0" r="61532" t="0"/>
          <a:stretch/>
        </p:blipFill>
        <p:spPr>
          <a:xfrm>
            <a:off x="3207345" y="3460360"/>
            <a:ext cx="255850" cy="4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\ \ \ \frac{9}{12}&quot;&gt;&lt;mfrac&gt;&lt;mn&gt;3&lt;/mn&gt;&lt;mn&gt;12&lt;/mn&gt;&lt;/mfrac&gt;&lt;mtext&gt;&lt;/mtext&gt;&lt;mtext&gt;&lt;/mtext&gt;&lt;mtext&gt;&lt;/mtext&gt;&lt;mfrac&gt;&lt;mn&gt;9&lt;/mn&gt;&lt;mn&gt;12&lt;/mn&gt;&lt;/mfrac&gt;&lt;/math&gt;" id="923" name="Google Shape;923;p75" title="3 over 12 9 over 12"/>
          <p:cNvPicPr preferRelativeResize="0"/>
          <p:nvPr/>
        </p:nvPicPr>
        <p:blipFill rotWithShape="1">
          <a:blip r:embed="rId7">
            <a:alphaModFix/>
          </a:blip>
          <a:srcRect b="0" l="61532" r="0" t="0"/>
          <a:stretch/>
        </p:blipFill>
        <p:spPr>
          <a:xfrm>
            <a:off x="5666220" y="3488535"/>
            <a:ext cx="255850" cy="4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75" y="694850"/>
            <a:ext cx="8247900" cy="632663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31" name="Google Shape;931;p76"/>
          <p:cNvGraphicFramePr/>
          <p:nvPr/>
        </p:nvGraphicFramePr>
        <p:xfrm>
          <a:off x="3770775" y="209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aphicFrame>
        <p:nvGraphicFramePr>
          <p:cNvPr id="932" name="Google Shape;932;p76"/>
          <p:cNvGraphicFramePr/>
          <p:nvPr/>
        </p:nvGraphicFramePr>
        <p:xfrm>
          <a:off x="1441700" y="136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aphicFrame>
        <p:nvGraphicFramePr>
          <p:cNvPr id="933" name="Google Shape;933;p76"/>
          <p:cNvGraphicFramePr/>
          <p:nvPr/>
        </p:nvGraphicFramePr>
        <p:xfrm>
          <a:off x="1441700" y="32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aphicFrame>
        <p:nvGraphicFramePr>
          <p:cNvPr id="934" name="Google Shape;934;p76"/>
          <p:cNvGraphicFramePr/>
          <p:nvPr/>
        </p:nvGraphicFramePr>
        <p:xfrm>
          <a:off x="5950750" y="11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aphicFrame>
        <p:nvGraphicFramePr>
          <p:cNvPr id="935" name="Google Shape;935;p76"/>
          <p:cNvGraphicFramePr/>
          <p:nvPr/>
        </p:nvGraphicFramePr>
        <p:xfrm>
          <a:off x="5950750" y="32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36" name="Google Shape;936;p76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2300" y="3676500"/>
            <a:ext cx="176400" cy="583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6}&quot;&gt;&lt;mfrac&gt;&lt;mn&gt;4&lt;/mn&gt;&lt;mn&gt;6&lt;/mn&gt;&lt;/mfrac&gt;&lt;/math&gt;" id="937" name="Google Shape;937;p76" title="four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780400"/>
            <a:ext cx="213991" cy="69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2}&quot;&gt;&lt;mfrac&gt;&lt;mn&gt;8&lt;/mn&gt;&lt;mn&gt;12&lt;/mn&gt;&lt;/mfrac&gt;&lt;/math&gt;" id="938" name="Google Shape;938;p76" title="8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0488" y="3679975"/>
            <a:ext cx="373875" cy="673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9}&quot;&gt;&lt;mfrac&gt;&lt;mn&gt;6&lt;/mn&gt;&lt;mn&gt;9&lt;/mn&gt;&lt;/mfrac&gt;&lt;/math&gt;" id="939" name="Google Shape;939;p76" title="six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6650" y="3715574"/>
            <a:ext cx="214000" cy="687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8}&quot;&gt;&lt;mfrac&gt;&lt;mn&gt;12&lt;/mn&gt;&lt;mn&gt;18&lt;/mn&gt;&lt;/mfrac&gt;&lt;/math&gt;" id="940" name="Google Shape;940;p76" title="12 over 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5563" y="1587096"/>
            <a:ext cx="373886" cy="692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1" name="Google Shape;941;p76"/>
          <p:cNvCxnSpPr/>
          <p:nvPr/>
        </p:nvCxnSpPr>
        <p:spPr>
          <a:xfrm>
            <a:off x="2658725" y="2103775"/>
            <a:ext cx="1010400" cy="687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2" name="Google Shape;942;p76"/>
          <p:cNvCxnSpPr/>
          <p:nvPr/>
        </p:nvCxnSpPr>
        <p:spPr>
          <a:xfrm flipH="1" rot="10800000">
            <a:off x="2690163" y="3454500"/>
            <a:ext cx="980700" cy="651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3" name="Google Shape;943;p76"/>
          <p:cNvCxnSpPr/>
          <p:nvPr/>
        </p:nvCxnSpPr>
        <p:spPr>
          <a:xfrm flipH="1">
            <a:off x="4973550" y="2103775"/>
            <a:ext cx="816000" cy="762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4" name="Google Shape;944;p76"/>
          <p:cNvCxnSpPr/>
          <p:nvPr/>
        </p:nvCxnSpPr>
        <p:spPr>
          <a:xfrm rot="10800000">
            <a:off x="5019175" y="3195400"/>
            <a:ext cx="853200" cy="755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9" name="Google Shape;949;p77"/>
          <p:cNvGraphicFramePr/>
          <p:nvPr/>
        </p:nvGraphicFramePr>
        <p:xfrm>
          <a:off x="503163" y="229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548025"/>
                <a:gridCol w="548025"/>
                <a:gridCol w="548025"/>
                <a:gridCol w="548025"/>
                <a:gridCol w="548025"/>
                <a:gridCol w="548025"/>
                <a:gridCol w="548025"/>
                <a:gridCol w="548025"/>
                <a:gridCol w="5480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950" name="Google Shape;950;p77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2000" y="2243787"/>
            <a:ext cx="157249" cy="5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52" name="Google Shape;952;p77"/>
          <p:cNvGraphicFramePr/>
          <p:nvPr/>
        </p:nvGraphicFramePr>
        <p:xfrm>
          <a:off x="503163" y="308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082000"/>
                <a:gridCol w="1082000"/>
                <a:gridCol w="1082000"/>
                <a:gridCol w="1082000"/>
                <a:gridCol w="1082000"/>
                <a:gridCol w="1082000"/>
                <a:gridCol w="1082000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953" name="Google Shape;953;p77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3024" y="2977800"/>
            <a:ext cx="157250" cy="516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954" name="Google Shape;954;p77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149" y="1613950"/>
            <a:ext cx="157250" cy="5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7"/>
          <p:cNvSpPr txBox="1"/>
          <p:nvPr/>
        </p:nvSpPr>
        <p:spPr>
          <a:xfrm>
            <a:off x="377675" y="1217550"/>
            <a:ext cx="5879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 then drew another bar underneath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7"/>
          <p:cNvSpPr txBox="1"/>
          <p:nvPr/>
        </p:nvSpPr>
        <p:spPr>
          <a:xfrm>
            <a:off x="377675" y="4341750"/>
            <a:ext cx="76947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Is Sam correct? Explain why.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7"/>
          <p:cNvSpPr txBox="1"/>
          <p:nvPr/>
        </p:nvSpPr>
        <p:spPr>
          <a:xfrm>
            <a:off x="377675" y="1598550"/>
            <a:ext cx="1192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7"/>
          <p:cNvSpPr txBox="1"/>
          <p:nvPr/>
        </p:nvSpPr>
        <p:spPr>
          <a:xfrm>
            <a:off x="1231225" y="1598550"/>
            <a:ext cx="12330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shows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9" name="Google Shape;95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175" y="760250"/>
            <a:ext cx="3857826" cy="535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175" y="3701974"/>
            <a:ext cx="6532998" cy="598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22800"/>
            <a:ext cx="5633976" cy="6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67" name="Google Shape;96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2950" y="1805237"/>
            <a:ext cx="2434100" cy="28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8"/>
          <p:cNvSpPr txBox="1"/>
          <p:nvPr>
            <p:ph idx="1" type="body"/>
          </p:nvPr>
        </p:nvSpPr>
        <p:spPr>
          <a:xfrm>
            <a:off x="324000" y="1292700"/>
            <a:ext cx="82377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show your working out on the diagram.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25" y="653175"/>
            <a:ext cx="8110551" cy="617205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5" name="Google Shape;975;p79"/>
          <p:cNvGraphicFramePr/>
          <p:nvPr/>
        </p:nvGraphicFramePr>
        <p:xfrm>
          <a:off x="3770775" y="209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aphicFrame>
        <p:nvGraphicFramePr>
          <p:cNvPr id="976" name="Google Shape;976;p79"/>
          <p:cNvGraphicFramePr/>
          <p:nvPr/>
        </p:nvGraphicFramePr>
        <p:xfrm>
          <a:off x="1441700" y="136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7" name="Google Shape;977;p79"/>
          <p:cNvGraphicFramePr/>
          <p:nvPr/>
        </p:nvGraphicFramePr>
        <p:xfrm>
          <a:off x="1441700" y="32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8" name="Google Shape;978;p79"/>
          <p:cNvGraphicFramePr/>
          <p:nvPr/>
        </p:nvGraphicFramePr>
        <p:xfrm>
          <a:off x="5950750" y="11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9" name="Google Shape;979;p79"/>
          <p:cNvGraphicFramePr/>
          <p:nvPr/>
        </p:nvGraphicFramePr>
        <p:xfrm>
          <a:off x="5950750" y="32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82850"/>
                <a:gridCol w="382850"/>
                <a:gridCol w="382850"/>
              </a:tblGrid>
              <a:tr h="153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80" name="Google Shape;980;p79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2300" y="3676500"/>
            <a:ext cx="176400" cy="583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6}&quot;&gt;&lt;mfrac&gt;&lt;mn&gt;4&lt;/mn&gt;&lt;mn&gt;6&lt;/mn&gt;&lt;/mfrac&gt;&lt;/math&gt;" id="981" name="Google Shape;981;p79" title="four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780400"/>
            <a:ext cx="213991" cy="69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2}&quot;&gt;&lt;mfrac&gt;&lt;mn&gt;8&lt;/mn&gt;&lt;mn&gt;12&lt;/mn&gt;&lt;/mfrac&gt;&lt;/math&gt;" id="982" name="Google Shape;982;p79" title="8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0488" y="3679975"/>
            <a:ext cx="373875" cy="673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9}&quot;&gt;&lt;mfrac&gt;&lt;mn&gt;6&lt;/mn&gt;&lt;mn&gt;9&lt;/mn&gt;&lt;/mfrac&gt;&lt;/math&gt;" id="983" name="Google Shape;983;p79" title="six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6650" y="3715574"/>
            <a:ext cx="214000" cy="687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8}&quot;&gt;&lt;mfrac&gt;&lt;mn&gt;12&lt;/mn&gt;&lt;mn&gt;18&lt;/mn&gt;&lt;/mfrac&gt;&lt;/math&gt;" id="984" name="Google Shape;984;p79" title="12 over 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5563" y="1587096"/>
            <a:ext cx="373886" cy="692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5" name="Google Shape;985;p79"/>
          <p:cNvCxnSpPr/>
          <p:nvPr/>
        </p:nvCxnSpPr>
        <p:spPr>
          <a:xfrm>
            <a:off x="2658725" y="2103775"/>
            <a:ext cx="1010400" cy="687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6" name="Google Shape;986;p79"/>
          <p:cNvCxnSpPr/>
          <p:nvPr/>
        </p:nvCxnSpPr>
        <p:spPr>
          <a:xfrm flipH="1" rot="10800000">
            <a:off x="2690163" y="3454500"/>
            <a:ext cx="980700" cy="651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7" name="Google Shape;987;p79"/>
          <p:cNvCxnSpPr/>
          <p:nvPr/>
        </p:nvCxnSpPr>
        <p:spPr>
          <a:xfrm flipH="1">
            <a:off x="4973550" y="2103775"/>
            <a:ext cx="816000" cy="762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8" name="Google Shape;988;p79"/>
          <p:cNvCxnSpPr/>
          <p:nvPr/>
        </p:nvCxnSpPr>
        <p:spPr>
          <a:xfrm rot="10800000">
            <a:off x="5019175" y="3195400"/>
            <a:ext cx="853200" cy="755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9" name="Google Shape;989;p79"/>
          <p:cNvCxnSpPr/>
          <p:nvPr/>
        </p:nvCxnSpPr>
        <p:spPr>
          <a:xfrm>
            <a:off x="1460100" y="2107175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9"/>
          <p:cNvCxnSpPr/>
          <p:nvPr/>
        </p:nvCxnSpPr>
        <p:spPr>
          <a:xfrm>
            <a:off x="1424863" y="4016963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9"/>
          <p:cNvCxnSpPr/>
          <p:nvPr/>
        </p:nvCxnSpPr>
        <p:spPr>
          <a:xfrm>
            <a:off x="1460088" y="3630013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79"/>
          <p:cNvCxnSpPr/>
          <p:nvPr/>
        </p:nvCxnSpPr>
        <p:spPr>
          <a:xfrm>
            <a:off x="1443563" y="4403413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79"/>
          <p:cNvCxnSpPr/>
          <p:nvPr/>
        </p:nvCxnSpPr>
        <p:spPr>
          <a:xfrm>
            <a:off x="5918108" y="3748746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79"/>
          <p:cNvCxnSpPr/>
          <p:nvPr/>
        </p:nvCxnSpPr>
        <p:spPr>
          <a:xfrm>
            <a:off x="5959033" y="4257046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79"/>
          <p:cNvCxnSpPr/>
          <p:nvPr/>
        </p:nvCxnSpPr>
        <p:spPr>
          <a:xfrm flipH="1">
            <a:off x="6133871" y="1153721"/>
            <a:ext cx="16500" cy="15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79"/>
          <p:cNvCxnSpPr/>
          <p:nvPr/>
        </p:nvCxnSpPr>
        <p:spPr>
          <a:xfrm flipH="1">
            <a:off x="6523171" y="1153721"/>
            <a:ext cx="16500" cy="15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79"/>
          <p:cNvCxnSpPr/>
          <p:nvPr/>
        </p:nvCxnSpPr>
        <p:spPr>
          <a:xfrm flipH="1">
            <a:off x="6904175" y="1153721"/>
            <a:ext cx="16500" cy="15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79"/>
          <p:cNvCxnSpPr/>
          <p:nvPr/>
        </p:nvCxnSpPr>
        <p:spPr>
          <a:xfrm>
            <a:off x="5936188" y="1648689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79"/>
          <p:cNvCxnSpPr/>
          <p:nvPr/>
        </p:nvCxnSpPr>
        <p:spPr>
          <a:xfrm>
            <a:off x="5935633" y="2156989"/>
            <a:ext cx="114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00" name="Google Shape;1000;p79"/>
          <p:cNvSpPr txBox="1"/>
          <p:nvPr/>
        </p:nvSpPr>
        <p:spPr>
          <a:xfrm>
            <a:off x="2770500" y="1270363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Lots of different ways as long as you have equal parts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75" y="3304726"/>
            <a:ext cx="6492001" cy="6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50" y="670900"/>
            <a:ext cx="3829349" cy="531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007" name="Google Shape;1007;p8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8149" y="1461550"/>
            <a:ext cx="157250" cy="5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80"/>
          <p:cNvSpPr txBox="1"/>
          <p:nvPr/>
        </p:nvSpPr>
        <p:spPr>
          <a:xfrm>
            <a:off x="377675" y="1065150"/>
            <a:ext cx="5879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 then drew another bar underneath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0"/>
          <p:cNvSpPr txBox="1"/>
          <p:nvPr/>
        </p:nvSpPr>
        <p:spPr>
          <a:xfrm>
            <a:off x="377675" y="1446150"/>
            <a:ext cx="1192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0"/>
          <p:cNvSpPr txBox="1"/>
          <p:nvPr/>
        </p:nvSpPr>
        <p:spPr>
          <a:xfrm>
            <a:off x="1231225" y="1446150"/>
            <a:ext cx="12330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shows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0"/>
          <p:cNvSpPr txBox="1"/>
          <p:nvPr/>
        </p:nvSpPr>
        <p:spPr>
          <a:xfrm>
            <a:off x="377675" y="4036950"/>
            <a:ext cx="76947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Is Sam correct? Explain why.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0"/>
          <p:cNvSpPr txBox="1"/>
          <p:nvPr/>
        </p:nvSpPr>
        <p:spPr>
          <a:xfrm>
            <a:off x="4435325" y="3832575"/>
            <a:ext cx="4239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Incorrect. The bar that represents the whole must be the same length to compare fractions this way.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14" name="Google Shape;1014;p80"/>
          <p:cNvGraphicFramePr/>
          <p:nvPr/>
        </p:nvGraphicFramePr>
        <p:xfrm>
          <a:off x="503163" y="20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548025"/>
                <a:gridCol w="548025"/>
                <a:gridCol w="548025"/>
                <a:gridCol w="548025"/>
                <a:gridCol w="548025"/>
                <a:gridCol w="548025"/>
                <a:gridCol w="548025"/>
                <a:gridCol w="548025"/>
                <a:gridCol w="5480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015" name="Google Shape;1015;p80" title="two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2000" y="2015187"/>
            <a:ext cx="157249" cy="505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6" name="Google Shape;1016;p80"/>
          <p:cNvGraphicFramePr/>
          <p:nvPr/>
        </p:nvGraphicFramePr>
        <p:xfrm>
          <a:off x="503163" y="285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082000"/>
                <a:gridCol w="1082000"/>
                <a:gridCol w="1082000"/>
                <a:gridCol w="1082000"/>
                <a:gridCol w="1082000"/>
                <a:gridCol w="1082000"/>
                <a:gridCol w="1082000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017" name="Google Shape;1017;p8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3024" y="2749200"/>
            <a:ext cx="157250" cy="51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24500"/>
            <a:ext cx="5685283" cy="6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2950" y="1805237"/>
            <a:ext cx="2434100" cy="28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1"/>
          <p:cNvSpPr txBox="1"/>
          <p:nvPr/>
        </p:nvSpPr>
        <p:spPr>
          <a:xfrm>
            <a:off x="324000" y="1938150"/>
            <a:ext cx="26163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is incorrect. Splitting the shape equally, there are 15 out of 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1"/>
          <p:cNvSpPr txBox="1"/>
          <p:nvPr/>
        </p:nvSpPr>
        <p:spPr>
          <a:xfrm>
            <a:off x="5774400" y="2004750"/>
            <a:ext cx="2434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 out of 25 shaded is not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equivalent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26" name="Google Shape;1026;p81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5301" y="2822600"/>
            <a:ext cx="193975" cy="6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28" name="Google Shape;1028;p81"/>
          <p:cNvPicPr preferRelativeResize="0"/>
          <p:nvPr/>
        </p:nvPicPr>
        <p:blipFill rotWithShape="1">
          <a:blip r:embed="rId6">
            <a:alphaModFix/>
          </a:blip>
          <a:srcRect b="0" l="1054" r="423" t="960"/>
          <a:stretch/>
        </p:blipFill>
        <p:spPr>
          <a:xfrm>
            <a:off x="3120825" y="1830069"/>
            <a:ext cx="2398350" cy="28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1"/>
          <p:cNvSpPr txBox="1"/>
          <p:nvPr>
            <p:ph idx="1" type="body"/>
          </p:nvPr>
        </p:nvSpPr>
        <p:spPr>
          <a:xfrm>
            <a:off x="324000" y="1292700"/>
            <a:ext cx="82377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show your working out on the diagram.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and number lines</a:t>
            </a:r>
            <a:endParaRPr/>
          </a:p>
        </p:txBody>
      </p:sp>
      <p:sp>
        <p:nvSpPr>
          <p:cNvPr id="1035" name="Google Shape;1035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036" name="Google Shape;1036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pic>
        <p:nvPicPr>
          <p:cNvPr id="1037" name="Google Shape;103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043" name="Google Shape;1043;p83"/>
          <p:cNvSpPr txBox="1"/>
          <p:nvPr>
            <p:ph idx="1" type="body"/>
          </p:nvPr>
        </p:nvSpPr>
        <p:spPr>
          <a:xfrm>
            <a:off x="333825" y="204335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Let’s look at some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 </a:t>
            </a:r>
            <a:r>
              <a:rPr lang="en-GB">
                <a:solidFill>
                  <a:schemeClr val="accent5"/>
                </a:solidFill>
              </a:rPr>
              <a:t>using multiplication of 1 </a:t>
            </a:r>
            <a:r>
              <a:rPr lang="en-GB">
                <a:solidFill>
                  <a:srgbClr val="282828"/>
                </a:solidFill>
              </a:rPr>
              <a:t>to show they are the same value.</a:t>
            </a:r>
            <a:endParaRPr/>
          </a:p>
        </p:txBody>
      </p:sp>
      <p:sp>
        <p:nvSpPr>
          <p:cNvPr id="1044" name="Google Shape;1044;p83"/>
          <p:cNvSpPr txBox="1"/>
          <p:nvPr>
            <p:ph idx="1" type="body"/>
          </p:nvPr>
        </p:nvSpPr>
        <p:spPr>
          <a:xfrm>
            <a:off x="333825" y="3985950"/>
            <a:ext cx="82377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We know any number multiplied by 1 is always itself.</a:t>
            </a:r>
            <a:endParaRPr/>
          </a:p>
        </p:txBody>
      </p:sp>
      <p:sp>
        <p:nvSpPr>
          <p:cNvPr id="1045" name="Google Shape;1045;p83"/>
          <p:cNvSpPr txBox="1"/>
          <p:nvPr>
            <p:ph idx="1" type="body"/>
          </p:nvPr>
        </p:nvSpPr>
        <p:spPr>
          <a:xfrm>
            <a:off x="333825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Bar models and number lines are very good visual ways to see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, but they do take time to construct.</a:t>
            </a:r>
            <a:endParaRPr/>
          </a:p>
        </p:txBody>
      </p:sp>
      <p:sp>
        <p:nvSpPr>
          <p:cNvPr id="1046" name="Google Shape;1046;p83"/>
          <p:cNvSpPr txBox="1"/>
          <p:nvPr>
            <p:ph idx="1" type="body"/>
          </p:nvPr>
        </p:nvSpPr>
        <p:spPr>
          <a:xfrm>
            <a:off x="333825" y="3175000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This method is more effective and quicker.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052" name="Google Shape;1052;p84"/>
          <p:cNvSpPr txBox="1"/>
          <p:nvPr>
            <p:ph idx="1" type="body"/>
          </p:nvPr>
        </p:nvSpPr>
        <p:spPr>
          <a:xfrm>
            <a:off x="338765" y="768800"/>
            <a:ext cx="82377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We know any number multiplied by 1 is always itself.</a:t>
            </a:r>
            <a:endParaRPr/>
          </a:p>
        </p:txBody>
      </p:sp>
      <p:sp>
        <p:nvSpPr>
          <p:cNvPr id="1053" name="Google Shape;1053;p84"/>
          <p:cNvSpPr txBox="1"/>
          <p:nvPr>
            <p:ph idx="1" type="body"/>
          </p:nvPr>
        </p:nvSpPr>
        <p:spPr>
          <a:xfrm>
            <a:off x="338765" y="1433600"/>
            <a:ext cx="82377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For example,</a:t>
            </a:r>
            <a:endParaRPr/>
          </a:p>
        </p:txBody>
      </p:sp>
      <p:sp>
        <p:nvSpPr>
          <p:cNvPr id="1054" name="Google Shape;1054;p84"/>
          <p:cNvSpPr txBox="1"/>
          <p:nvPr>
            <p:ph idx="1" type="body"/>
          </p:nvPr>
        </p:nvSpPr>
        <p:spPr>
          <a:xfrm>
            <a:off x="338765" y="2254100"/>
            <a:ext cx="82377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We also know any fraction can be written as 1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\ \times1\ =\ 1\\&amp;#13;&amp;#10;\frac{2}{2}=1\ \ \ \ \ \ \ \ \ \frac{5}{5}=1\ \ \ \ \ \ \ \frac{11}{11}=1\\&amp;#13;&amp;#10;8\ \times\frac{3}{3}=\ 8\\&amp;#13;&amp;#10;\frac{2}{3}\times\frac{4}{4}=\frac{2}{3}\\&amp;#13;&amp;#10;\frac{8}{12}\end{array}&quot;&gt;&lt;mtable columnalign=&quot;left&quot; columnspacing=&quot;1em&quot; rowspacing=&quot;4pt&quot;&gt;&lt;mtr&gt;&lt;mtd&gt;&lt;mn&gt;8&lt;/mn&gt;&lt;mtext&gt;&lt;/mtext&gt;&lt;mo&gt;×&lt;/mo&gt;&lt;mn&gt;1&lt;/mn&gt;&lt;mtext&gt;&lt;/mtext&gt;&lt;mo&gt;=&lt;/mo&gt;&lt;mtext&gt;&lt;/mtext&gt;&lt;mn&gt;1&lt;/mn&gt;&lt;/mtd&gt;&lt;/mtr&gt;&lt;mtr&gt;&lt;mtd&gt;&lt;mfrac&gt;&lt;mn&gt;2&lt;/mn&gt;&lt;mn&gt;2&lt;/mn&gt;&lt;/mfrac&gt;&lt;mo&gt;=&lt;/mo&gt;&lt;mn&gt;1&lt;/mn&gt;&lt;mtext&gt;&lt;/mtext&gt;&lt;mtext&gt;&lt;/mtext&gt;&lt;mtext&gt;&lt;/mtext&gt;&lt;mtext&gt;&lt;/mtext&gt;&lt;mtext&gt;&lt;/mtext&gt;&lt;mtext&gt;&lt;/mtext&gt;&lt;mtext&gt;&lt;/mtext&gt;&lt;mtext&gt;&lt;/mtext&gt;&lt;mtext&gt;&lt;/mtext&gt;&lt;mfrac&gt;&lt;mn&gt;5&lt;/mn&gt;&lt;mn&gt;5&lt;/mn&gt;&lt;/mfrac&gt;&lt;mo&gt;=&lt;/mo&gt;&lt;mn&gt;1&lt;/mn&gt;&lt;mtext&gt;&lt;/mtext&gt;&lt;mtext&gt;&lt;/mtext&gt;&lt;mtext&gt;&lt;/mtext&gt;&lt;mtext&gt;&lt;/mtext&gt;&lt;mtext&gt;&lt;/mtext&gt;&lt;mtext&gt;&lt;/mtext&gt;&lt;mtext&gt;&lt;/mtext&gt;&lt;mfrac&gt;&lt;mn&gt;11&lt;/mn&gt;&lt;mn&gt;11&lt;/mn&gt;&lt;/mfrac&gt;&lt;mo&gt;=&lt;/mo&gt;&lt;mn&gt;1&lt;/mn&gt;&lt;/mtd&gt;&lt;/mtr&gt;&lt;mtr&gt;&lt;mtd&gt;&lt;mn&gt;8&lt;/mn&gt;&lt;mtext&gt;&lt;/mtext&gt;&lt;mo&gt;×&lt;/mo&gt;&lt;mfrac&gt;&lt;mn&gt;3&lt;/mn&gt;&lt;mn&gt;3&lt;/mn&gt;&lt;/mfrac&gt;&lt;mo&gt;=&lt;/mo&gt;&lt;mtext&gt;&lt;/mtext&gt;&lt;mn&gt;8&lt;/mn&gt;&lt;/mtd&gt;&lt;/mtr&gt;&lt;mtr&gt;&lt;mtd&gt;&lt;mfrac&gt;&lt;mn&gt;2&lt;/mn&gt;&lt;mn&gt;3&lt;/mn&gt;&lt;/mfrac&gt;&lt;mo&gt;×&lt;/mo&gt;&lt;mfrac&gt;&lt;mn&gt;4&lt;/mn&gt;&lt;mn&gt;4&lt;/mn&gt;&lt;/mfrac&gt;&lt;mo&gt;=&lt;/mo&gt;&lt;mfrac&gt;&lt;mn&gt;2&lt;/mn&gt;&lt;mn&gt;3&lt;/mn&gt;&lt;/mfrac&gt;&lt;/mtd&gt;&lt;/mtr&gt;&lt;mtr&gt;&lt;mtd&gt;&lt;mfrac&gt;&lt;mn&gt;8&lt;/mn&gt;&lt;mn&gt;12&lt;/mn&gt;&lt;/mfrac&gt;&lt;/mtd&gt;&lt;/mtr&gt;&lt;/mtable&gt;&lt;/math&gt;" id="1055" name="Google Shape;1055;p84" title="5 lines Line 1: 8 times 1 equals 1 Line 2: two halves equals 1 five fifths equals 1 11 over 11 equals 1 Line 3: 8 times three thirds equals 8 Line 4: two thirds times four fourths equals two thirds Line 5: 8 over 12"/>
          <p:cNvPicPr preferRelativeResize="0"/>
          <p:nvPr/>
        </p:nvPicPr>
        <p:blipFill rotWithShape="1">
          <a:blip r:embed="rId3">
            <a:alphaModFix/>
          </a:blip>
          <a:srcRect b="62449" l="0" r="0" t="12718"/>
          <a:stretch/>
        </p:blipFill>
        <p:spPr>
          <a:xfrm>
            <a:off x="2305201" y="2625313"/>
            <a:ext cx="4409026" cy="752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1\ =\ \frac{2}{3}&quot;&gt;&lt;mfrac&gt;&lt;mn&gt;2&lt;/mn&gt;&lt;mn&gt;3&lt;/mn&gt;&lt;/mfrac&gt;&lt;mo&gt;×&lt;/mo&gt;&lt;mn&gt;1&lt;/mn&gt;&lt;mtext&gt;&lt;/mtext&gt;&lt;mo&gt;=&lt;/mo&gt;&lt;mtext&gt;&lt;/mtext&gt;&lt;mfrac&gt;&lt;mn&gt;2&lt;/mn&gt;&lt;mn&gt;3&lt;/mn&gt;&lt;/mfrac&gt;&lt;/math&gt;" id="1056" name="Google Shape;1056;p84" title="two thirds times 1 equal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9040" y="1259025"/>
            <a:ext cx="1421202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4"/>
          <p:cNvSpPr txBox="1"/>
          <p:nvPr>
            <p:ph idx="1" type="body"/>
          </p:nvPr>
        </p:nvSpPr>
        <p:spPr>
          <a:xfrm>
            <a:off x="305565" y="3451800"/>
            <a:ext cx="82377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So we can combine these two facts to make an </a:t>
            </a:r>
            <a:r>
              <a:rPr b="1" lang="en-GB">
                <a:solidFill>
                  <a:srgbClr val="282828"/>
                </a:solidFill>
              </a:rPr>
              <a:t>equivalent fraction</a:t>
            </a:r>
            <a:r>
              <a:rPr lang="en-GB">
                <a:solidFill>
                  <a:srgbClr val="282828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063" name="Google Shape;1063;p85"/>
          <p:cNvSpPr txBox="1"/>
          <p:nvPr>
            <p:ph idx="1" type="body"/>
          </p:nvPr>
        </p:nvSpPr>
        <p:spPr>
          <a:xfrm>
            <a:off x="1425675" y="893775"/>
            <a:ext cx="26826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Therefore we know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\times\frac{4}{4}&quot;&gt;&lt;mfrac&gt;&lt;mn&gt;2&lt;/mn&gt;&lt;mn&gt;3&lt;/mn&gt;&lt;/mfrac&gt;&lt;mo&gt;×&lt;/mo&gt;&lt;mfrac&gt;&lt;mn&gt;4&lt;/mn&gt;&lt;mn&gt;4&lt;/mn&gt;&lt;/mfrac&gt;&lt;/math&gt;" id="1064" name="Google Shape;1064;p85" title="two thirds times four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478" y="1652980"/>
            <a:ext cx="978791" cy="7920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\times4}{3\times4}=\frac{2}{3}&quot;&gt;&lt;mfrac&gt;&lt;mrow&gt;&lt;mn&gt;2&lt;/mn&gt;&lt;mo&gt;×&lt;/mo&gt;&lt;mn&gt;4&lt;/mn&gt;&lt;/mrow&gt;&lt;mrow&gt;&lt;mn&gt;3&lt;/mn&gt;&lt;mo&gt;×&lt;/mo&gt;&lt;mn&gt;4&lt;/mn&gt;&lt;/mrow&gt;&lt;/mfrac&gt;&lt;mo&gt;=&lt;/mo&gt;&lt;mfrac&gt;&lt;mn&gt;2&lt;/mn&gt;&lt;mn&gt;3&lt;/mn&gt;&lt;/mfrac&gt;&lt;/math&gt;" id="1065" name="Google Shape;1065;p85" title="the fraction with numerator 2 times 4 and denominator 3 times 4 equal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364" y="2787493"/>
            <a:ext cx="1611547" cy="779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2}=\frac{2}{3}&quot;&gt;&lt;mfrac&gt;&lt;mn&gt;8&lt;/mn&gt;&lt;mn&gt;12&lt;/mn&gt;&lt;/mfrac&gt;&lt;mo&gt;=&lt;/mo&gt;&lt;mfrac&gt;&lt;mn&gt;2&lt;/mn&gt;&lt;mn&gt;3&lt;/mn&gt;&lt;/mfrac&gt;&lt;/math&gt;" id="1066" name="Google Shape;1066;p85" title="8 over 12 equal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1515" y="3923793"/>
            <a:ext cx="1230846" cy="79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1\ =\frac{2}{3}&quot;&gt;&lt;mfrac&gt;&lt;mn&gt;2&lt;/mn&gt;&lt;mn&gt;3&lt;/mn&gt;&lt;/mfrac&gt;&lt;mo&gt;×&lt;/mo&gt;&lt;mn&gt;1&lt;/mn&gt;&lt;mtext&gt;&lt;/mtext&gt;&lt;mo&gt;=&lt;/mo&gt;&lt;mfrac&gt;&lt;mn&gt;2&lt;/mn&gt;&lt;mn&gt;3&lt;/mn&gt;&lt;/mfrac&gt;&lt;/math&gt;" id="1067" name="Google Shape;1067;p85" title="two thirds times 1 equal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6475" y="719224"/>
            <a:ext cx="1711430" cy="77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1661" y="1652991"/>
            <a:ext cx="686139" cy="828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85"/>
          <p:cNvSpPr txBox="1"/>
          <p:nvPr>
            <p:ph idx="1" type="body"/>
          </p:nvPr>
        </p:nvSpPr>
        <p:spPr>
          <a:xfrm>
            <a:off x="398525" y="4237875"/>
            <a:ext cx="46338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We have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075" name="Google Shape;1075;p86"/>
          <p:cNvSpPr txBox="1"/>
          <p:nvPr>
            <p:ph idx="1" type="body"/>
          </p:nvPr>
        </p:nvSpPr>
        <p:spPr>
          <a:xfrm>
            <a:off x="398525" y="893775"/>
            <a:ext cx="45201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We can use 1 to be any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\times4}{3\times4}=\frac{2}{3}&quot;&gt;&lt;mfrac&gt;&lt;mrow&gt;&lt;mn&gt;2&lt;/mn&gt;&lt;mo&gt;×&lt;/mo&gt;&lt;mn&gt;4&lt;/mn&gt;&lt;/mrow&gt;&lt;mrow&gt;&lt;mn&gt;3&lt;/mn&gt;&lt;mo&gt;×&lt;/mo&gt;&lt;mn&gt;4&lt;/mn&gt;&lt;/mrow&gt;&lt;/mfrac&gt;&lt;mo&gt;=&lt;/mo&gt;&lt;mfrac&gt;&lt;mn&gt;2&lt;/mn&gt;&lt;mn&gt;3&lt;/mn&gt;&lt;/mfrac&gt;&lt;/math&gt;" id="1076" name="Google Shape;1076;p86" title="the fraction with numerator 2 times 4 and denominator 3 times 4 equals two thirds"/>
          <p:cNvPicPr preferRelativeResize="0"/>
          <p:nvPr/>
        </p:nvPicPr>
        <p:blipFill rotWithShape="1">
          <a:blip r:embed="rId3">
            <a:alphaModFix/>
          </a:blip>
          <a:srcRect b="0" l="59278" r="0" t="0"/>
          <a:stretch/>
        </p:blipFill>
        <p:spPr>
          <a:xfrm>
            <a:off x="5951657" y="2787500"/>
            <a:ext cx="656250" cy="77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2}=\frac{2}{3}&quot;&gt;&lt;mfrac&gt;&lt;mn&gt;8&lt;/mn&gt;&lt;mn&gt;12&lt;/mn&gt;&lt;/mfrac&gt;&lt;mo&gt;=&lt;/mo&gt;&lt;mfrac&gt;&lt;mn&gt;2&lt;/mn&gt;&lt;mn&gt;3&lt;/mn&gt;&lt;/mfrac&gt;&lt;/math&gt;" id="1077" name="Google Shape;1077;p86" title="8 over 12 equals two thirds"/>
          <p:cNvPicPr preferRelativeResize="0"/>
          <p:nvPr/>
        </p:nvPicPr>
        <p:blipFill rotWithShape="1">
          <a:blip r:embed="rId4">
            <a:alphaModFix/>
          </a:blip>
          <a:srcRect b="0" l="44252" r="0" t="0"/>
          <a:stretch/>
        </p:blipFill>
        <p:spPr>
          <a:xfrm>
            <a:off x="5946205" y="3923800"/>
            <a:ext cx="686150" cy="79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1\ =\frac{2}{3}&quot;&gt;&lt;mfrac&gt;&lt;mn&gt;2&lt;/mn&gt;&lt;mn&gt;3&lt;/mn&gt;&lt;/mfrac&gt;&lt;mo&gt;×&lt;/mo&gt;&lt;mn&gt;1&lt;/mn&gt;&lt;mtext&gt;&lt;/mtext&gt;&lt;mo&gt;=&lt;/mo&gt;&lt;mfrac&gt;&lt;mn&gt;2&lt;/mn&gt;&lt;mn&gt;3&lt;/mn&gt;&lt;/mfrac&gt;&lt;/math&gt;" id="1078" name="Google Shape;1078;p86" title="two thirds times 1 equal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475" y="719224"/>
            <a:ext cx="1711430" cy="77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1661" y="1652991"/>
            <a:ext cx="686139" cy="828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6"/>
          <p:cNvSpPr txBox="1"/>
          <p:nvPr>
            <p:ph idx="1" type="body"/>
          </p:nvPr>
        </p:nvSpPr>
        <p:spPr>
          <a:xfrm>
            <a:off x="398525" y="4237875"/>
            <a:ext cx="46338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We have </a:t>
            </a:r>
            <a:r>
              <a:rPr b="1" lang="en-GB">
                <a:solidFill>
                  <a:srgbClr val="282828"/>
                </a:solidFill>
              </a:rPr>
              <a:t>equivalent fractions</a:t>
            </a:r>
            <a:r>
              <a:rPr lang="en-GB">
                <a:solidFill>
                  <a:srgbClr val="282828"/>
                </a:solidFill>
              </a:rPr>
              <a:t>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2}{3}\times\frac{11}{11}\\&amp;#13;&amp;#10;\frac{2\times11}{3\times11}\\&amp;#13;&amp;#10;\frac{22}{33}\end{array}&quot;&gt;&lt;mtable columnalign=&quot;left&quot; columnspacing=&quot;1em&quot; rowspacing=&quot;4pt&quot;&gt;&lt;mtr&gt;&lt;mtd&gt;&lt;mfrac&gt;&lt;mn&gt;2&lt;/mn&gt;&lt;mn&gt;3&lt;/mn&gt;&lt;/mfrac&gt;&lt;mo&gt;×&lt;/mo&gt;&lt;mfrac&gt;&lt;mn&gt;11&lt;/mn&gt;&lt;mn&gt;11&lt;/mn&gt;&lt;/mfrac&gt;&lt;/mtd&gt;&lt;/mtr&gt;&lt;mtr&gt;&lt;mtd&gt;&lt;mfrac&gt;&lt;mrow&gt;&lt;mn&gt;2&lt;/mn&gt;&lt;mo&gt;×&lt;/mo&gt;&lt;mn&gt;11&lt;/mn&gt;&lt;/mrow&gt;&lt;mrow&gt;&lt;mn&gt;3&lt;/mn&gt;&lt;mo&gt;×&lt;/mo&gt;&lt;mn&gt;11&lt;/mn&gt;&lt;/mrow&gt;&lt;/mfrac&gt;&lt;/mtd&gt;&lt;/mtr&gt;&lt;mtr&gt;&lt;mtd&gt;&lt;mfrac&gt;&lt;mn&gt;22&lt;/mn&gt;&lt;mn&gt;33&lt;/mn&gt;&lt;/mfrac&gt;&lt;/mtd&gt;&lt;/mtr&gt;&lt;/mtable&gt;&lt;/math&gt;" id="1081" name="Google Shape;1081;p86" title="3 lines Line 1: two thirds times 11 over 11 Line 2: the fraction with numerator 2 times 11 and denominator 3 times 11 Line 3: 22 over 33"/>
          <p:cNvPicPr preferRelativeResize="0"/>
          <p:nvPr/>
        </p:nvPicPr>
        <p:blipFill rotWithShape="1">
          <a:blip r:embed="rId7">
            <a:alphaModFix/>
          </a:blip>
          <a:srcRect b="68408" l="0" r="0" t="0"/>
          <a:stretch/>
        </p:blipFill>
        <p:spPr>
          <a:xfrm>
            <a:off x="4824000" y="1776138"/>
            <a:ext cx="1098381" cy="64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3}\times\frac{11}{11}\\&amp;#13;&amp;#10;\frac{2\times11}{3\times11}\\&amp;#13;&amp;#10;\frac{22}{33}\end{array}&quot;&gt;&lt;mtable columnalign=&quot;left&quot; columnspacing=&quot;1em&quot; rowspacing=&quot;4pt&quot;&gt;&lt;mtr&gt;&lt;mtd&gt;&lt;mfrac&gt;&lt;mn&gt;2&lt;/mn&gt;&lt;mn&gt;3&lt;/mn&gt;&lt;/mfrac&gt;&lt;mo&gt;×&lt;/mo&gt;&lt;mfrac&gt;&lt;mn&gt;11&lt;/mn&gt;&lt;mn&gt;11&lt;/mn&gt;&lt;/mfrac&gt;&lt;/mtd&gt;&lt;/mtr&gt;&lt;mtr&gt;&lt;mtd&gt;&lt;mfrac&gt;&lt;mrow&gt;&lt;mn&gt;2&lt;/mn&gt;&lt;mo&gt;×&lt;/mo&gt;&lt;mn&gt;11&lt;/mn&gt;&lt;/mrow&gt;&lt;mrow&gt;&lt;mn&gt;3&lt;/mn&gt;&lt;mo&gt;×&lt;/mo&gt;&lt;mn&gt;11&lt;/mn&gt;&lt;/mrow&gt;&lt;/mfrac&gt;&lt;/mtd&gt;&lt;/mtr&gt;&lt;mtr&gt;&lt;mtd&gt;&lt;mfrac&gt;&lt;mn&gt;22&lt;/mn&gt;&lt;mn&gt;33&lt;/mn&gt;&lt;/mfrac&gt;&lt;/mtd&gt;&lt;/mtr&gt;&lt;/mtable&gt;&lt;/math&gt;" id="1082" name="Google Shape;1082;p86" title="3 lines Line 1: two thirds times 11 over 11 Line 2: the fraction with numerator 2 times 11 and denominator 3 times 11 Line 3: 22 over 33"/>
          <p:cNvPicPr preferRelativeResize="0"/>
          <p:nvPr/>
        </p:nvPicPr>
        <p:blipFill rotWithShape="1">
          <a:blip r:embed="rId7">
            <a:alphaModFix/>
          </a:blip>
          <a:srcRect b="30892" l="-10559" r="10559" t="30888"/>
          <a:stretch/>
        </p:blipFill>
        <p:spPr>
          <a:xfrm>
            <a:off x="5032325" y="2735325"/>
            <a:ext cx="1230825" cy="874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3}\times\frac{11}{11}\\&amp;#13;&amp;#10;\frac{2\times11}{3\times11}\\&amp;#13;&amp;#10;\frac{22}{33}\end{array}&quot;&gt;&lt;mtable columnalign=&quot;left&quot; columnspacing=&quot;1em&quot; rowspacing=&quot;4pt&quot;&gt;&lt;mtr&gt;&lt;mtd&gt;&lt;mfrac&gt;&lt;mn&gt;2&lt;/mn&gt;&lt;mn&gt;3&lt;/mn&gt;&lt;/mfrac&gt;&lt;mo&gt;×&lt;/mo&gt;&lt;mfrac&gt;&lt;mn&gt;11&lt;/mn&gt;&lt;mn&gt;11&lt;/mn&gt;&lt;/mfrac&gt;&lt;/mtd&gt;&lt;/mtr&gt;&lt;mtr&gt;&lt;mtd&gt;&lt;mfrac&gt;&lt;mrow&gt;&lt;mn&gt;2&lt;/mn&gt;&lt;mo&gt;×&lt;/mo&gt;&lt;mn&gt;11&lt;/mn&gt;&lt;/mrow&gt;&lt;mrow&gt;&lt;mn&gt;3&lt;/mn&gt;&lt;mo&gt;×&lt;/mo&gt;&lt;mn&gt;11&lt;/mn&gt;&lt;/mrow&gt;&lt;/mfrac&gt;&lt;/mtd&gt;&lt;/mtr&gt;&lt;mtr&gt;&lt;mtd&gt;&lt;mfrac&gt;&lt;mn&gt;22&lt;/mn&gt;&lt;mn&gt;33&lt;/mn&gt;&lt;/mfrac&gt;&lt;/mtd&gt;&lt;/mtr&gt;&lt;/mtable&gt;&lt;/math&gt;" id="1083" name="Google Shape;1083;p86" title="3 lines Line 1: two thirds times 11 over 11 Line 2: the fraction with numerator 2 times 11 and denominator 3 times 11 Line 3: 22 over 33"/>
          <p:cNvPicPr preferRelativeResize="0"/>
          <p:nvPr/>
        </p:nvPicPr>
        <p:blipFill rotWithShape="1">
          <a:blip r:embed="rId7">
            <a:alphaModFix/>
          </a:blip>
          <a:srcRect b="-4953" l="-27759" r="27760" t="66734"/>
          <a:stretch/>
        </p:blipFill>
        <p:spPr>
          <a:xfrm>
            <a:off x="4948263" y="3803085"/>
            <a:ext cx="1455450" cy="103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gaps to identify the </a:t>
            </a:r>
            <a:r>
              <a:rPr b="1" lang="en-GB"/>
              <a:t>equivalent fractions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87"/>
          <p:cNvSpPr txBox="1"/>
          <p:nvPr>
            <p:ph idx="2" type="subTitle"/>
          </p:nvPr>
        </p:nvSpPr>
        <p:spPr>
          <a:xfrm>
            <a:off x="4906825" y="765325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gaps to identify the </a:t>
            </a:r>
            <a:r>
              <a:rPr b="1" lang="en-GB"/>
              <a:t>equivalent fractions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090" name="Google Shape;109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4}{5}=\frac{4\times2}{5\times2}=\frac{8}{10}\\&amp;#13;&amp;#10;\frac{3}{4}=\frac{3\times5}{4\times5}=\frac{15}{20}\\&amp;#13;&amp;#10;\frac{7}{10}=\frac{7\times11}{10\times11}=\frac{77}{110}\end{array}&quot;&gt;&lt;mtable columnalign=&quot;left&quot; columnspacing=&quot;1em&quot; rowspacing=&quot;4pt&quot;&gt;&lt;mtr&gt;&lt;mtd&gt;&lt;mfrac&gt;&lt;mn&gt;4&lt;/mn&gt;&lt;mn&gt;5&lt;/mn&gt;&lt;/mfrac&gt;&lt;mo&gt;=&lt;/mo&gt;&lt;mfrac&gt;&lt;mrow&gt;&lt;mn&gt;4&lt;/mn&gt;&lt;mo&gt;×&lt;/mo&gt;&lt;mn&gt;2&lt;/mn&gt;&lt;/mrow&gt;&lt;mrow&gt;&lt;mn&gt;5&lt;/mn&gt;&lt;mo&gt;×&lt;/mo&gt;&lt;mn&gt;2&lt;/mn&gt;&lt;/mrow&gt;&lt;/mfrac&gt;&lt;mo&gt;=&lt;/mo&gt;&lt;mfrac&gt;&lt;mn&gt;8&lt;/mn&gt;&lt;mn&gt;10&lt;/mn&gt;&lt;/mfrac&gt;&lt;/mtd&gt;&lt;/mtr&gt;&lt;mtr&gt;&lt;mtd&gt;&lt;mfrac&gt;&lt;mn&gt;3&lt;/mn&gt;&lt;mn&gt;4&lt;/mn&gt;&lt;/mfrac&gt;&lt;mo&gt;=&lt;/mo&gt;&lt;mfrac&gt;&lt;mrow&gt;&lt;mn&gt;3&lt;/mn&gt;&lt;mo&gt;×&lt;/mo&gt;&lt;mn&gt;5&lt;/mn&gt;&lt;/mrow&gt;&lt;mrow&gt;&lt;mn&gt;4&lt;/mn&gt;&lt;mo&gt;×&lt;/mo&gt;&lt;mn&gt;5&lt;/mn&gt;&lt;/mrow&gt;&lt;/mfrac&gt;&lt;mo&gt;=&lt;/mo&gt;&lt;mfrac&gt;&lt;mn&gt;15&lt;/mn&gt;&lt;mn&gt;20&lt;/mn&gt;&lt;/mfrac&gt;&lt;/mtd&gt;&lt;/mtr&gt;&lt;mtr&gt;&lt;mtd&gt;&lt;mfrac&gt;&lt;mn&gt;7&lt;/mn&gt;&lt;mn&gt;10&lt;/mn&gt;&lt;/mfrac&gt;&lt;mo&gt;=&lt;/mo&gt;&lt;mfrac&gt;&lt;mrow&gt;&lt;mn&gt;7&lt;/mn&gt;&lt;mo&gt;×&lt;/mo&gt;&lt;mn&gt;11&lt;/mn&gt;&lt;/mrow&gt;&lt;mrow&gt;&lt;mn&gt;10&lt;/mn&gt;&lt;mo&gt;×&lt;/mo&gt;&lt;mn&gt;11&lt;/mn&gt;&lt;/mrow&gt;&lt;/mfrac&gt;&lt;mo&gt;=&lt;/mo&gt;&lt;mfrac&gt;&lt;mn&gt;77&lt;/mn&gt;&lt;mn&gt;110&lt;/mn&gt;&lt;/mfrac&gt;&lt;/mtd&gt;&lt;/mtr&gt;&lt;/mtable&gt;&lt;/math&gt;" id="1091" name="Google Shape;1091;p87" title="3 lines Line 1: four fifths equals the fraction with numerator 4 times 2 and denominator 5 times 2 equals eight tenths Line 2: three fourths equals the fraction with numerator 3 times 5 and denominator 4 times 5 equals 15 over 20 Line 3: seven tenths equals the fraction with numerator 7 times 11 and denominator 10 times 11 equals 77 over 110"/>
          <p:cNvPicPr preferRelativeResize="0"/>
          <p:nvPr/>
        </p:nvPicPr>
        <p:blipFill rotWithShape="1">
          <a:blip r:embed="rId3">
            <a:alphaModFix/>
          </a:blip>
          <a:srcRect b="68235" l="0" r="0" t="0"/>
          <a:stretch/>
        </p:blipFill>
        <p:spPr>
          <a:xfrm>
            <a:off x="744600" y="1691650"/>
            <a:ext cx="3575400" cy="81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5}=\frac{4\times2}{5\times2}=\frac{8}{10}\\&amp;#13;&amp;#10;\frac{3}{4}=\frac{3\times5}{4\times5}=\frac{15}{20}\\&amp;#13;&amp;#10;\frac{7}{10}=\frac{7\times11}{10\times11}=\frac{77}{110}\end{array}&quot;&gt;&lt;mtable columnalign=&quot;left&quot; columnspacing=&quot;1em&quot; rowspacing=&quot;4pt&quot;&gt;&lt;mtr&gt;&lt;mtd&gt;&lt;mfrac&gt;&lt;mn&gt;4&lt;/mn&gt;&lt;mn&gt;5&lt;/mn&gt;&lt;/mfrac&gt;&lt;mo&gt;=&lt;/mo&gt;&lt;mfrac&gt;&lt;mrow&gt;&lt;mn&gt;4&lt;/mn&gt;&lt;mo&gt;×&lt;/mo&gt;&lt;mn&gt;2&lt;/mn&gt;&lt;/mrow&gt;&lt;mrow&gt;&lt;mn&gt;5&lt;/mn&gt;&lt;mo&gt;×&lt;/mo&gt;&lt;mn&gt;2&lt;/mn&gt;&lt;/mrow&gt;&lt;/mfrac&gt;&lt;mo&gt;=&lt;/mo&gt;&lt;mfrac&gt;&lt;mn&gt;8&lt;/mn&gt;&lt;mn&gt;10&lt;/mn&gt;&lt;/mfrac&gt;&lt;/mtd&gt;&lt;/mtr&gt;&lt;mtr&gt;&lt;mtd&gt;&lt;mfrac&gt;&lt;mn&gt;3&lt;/mn&gt;&lt;mn&gt;4&lt;/mn&gt;&lt;/mfrac&gt;&lt;mo&gt;=&lt;/mo&gt;&lt;mfrac&gt;&lt;mrow&gt;&lt;mn&gt;3&lt;/mn&gt;&lt;mo&gt;×&lt;/mo&gt;&lt;mn&gt;5&lt;/mn&gt;&lt;/mrow&gt;&lt;mrow&gt;&lt;mn&gt;4&lt;/mn&gt;&lt;mo&gt;×&lt;/mo&gt;&lt;mn&gt;5&lt;/mn&gt;&lt;/mrow&gt;&lt;/mfrac&gt;&lt;mo&gt;=&lt;/mo&gt;&lt;mfrac&gt;&lt;mn&gt;15&lt;/mn&gt;&lt;mn&gt;20&lt;/mn&gt;&lt;/mfrac&gt;&lt;/mtd&gt;&lt;/mtr&gt;&lt;mtr&gt;&lt;mtd&gt;&lt;mfrac&gt;&lt;mn&gt;7&lt;/mn&gt;&lt;mn&gt;10&lt;/mn&gt;&lt;/mfrac&gt;&lt;mo&gt;=&lt;/mo&gt;&lt;mfrac&gt;&lt;mrow&gt;&lt;mn&gt;7&lt;/mn&gt;&lt;mo&gt;×&lt;/mo&gt;&lt;mn&gt;11&lt;/mn&gt;&lt;/mrow&gt;&lt;mrow&gt;&lt;mn&gt;10&lt;/mn&gt;&lt;mo&gt;×&lt;/mo&gt;&lt;mn&gt;11&lt;/mn&gt;&lt;/mrow&gt;&lt;/mfrac&gt;&lt;mo&gt;=&lt;/mo&gt;&lt;mfrac&gt;&lt;mn&gt;77&lt;/mn&gt;&lt;mn&gt;110&lt;/mn&gt;&lt;/mfrac&gt;&lt;/mtd&gt;&lt;/mtr&gt;&lt;/mtable&gt;&lt;/math&gt;" id="1092" name="Google Shape;1092;p87" title="3 lines Line 1: four fifths equals the fraction with numerator 4 times 2 and denominator 5 times 2 equals eight tenths Line 2: three fourths equals the fraction with numerator 3 times 5 and denominator 4 times 5 equals 15 over 20 Line 3: seven tenths equals the fraction with numerator 7 times 11 and denominator 10 times 11 equals 77 over 110"/>
          <p:cNvPicPr preferRelativeResize="0"/>
          <p:nvPr/>
        </p:nvPicPr>
        <p:blipFill rotWithShape="1">
          <a:blip r:embed="rId3">
            <a:alphaModFix/>
          </a:blip>
          <a:srcRect b="31545" l="0" r="0" t="33736"/>
          <a:stretch/>
        </p:blipFill>
        <p:spPr>
          <a:xfrm>
            <a:off x="703200" y="3197100"/>
            <a:ext cx="3575400" cy="8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87"/>
          <p:cNvSpPr/>
          <p:nvPr/>
        </p:nvSpPr>
        <p:spPr>
          <a:xfrm>
            <a:off x="2202990" y="1644848"/>
            <a:ext cx="2850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7"/>
          <p:cNvSpPr/>
          <p:nvPr/>
        </p:nvSpPr>
        <p:spPr>
          <a:xfrm>
            <a:off x="2202990" y="2102048"/>
            <a:ext cx="2850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7"/>
          <p:cNvSpPr/>
          <p:nvPr/>
        </p:nvSpPr>
        <p:spPr>
          <a:xfrm>
            <a:off x="2168203" y="3220200"/>
            <a:ext cx="2850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7"/>
          <p:cNvSpPr/>
          <p:nvPr/>
        </p:nvSpPr>
        <p:spPr>
          <a:xfrm>
            <a:off x="3156605" y="3675750"/>
            <a:ext cx="4260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2}{7}=\frac{2\times4}{7\times4}=\frac{8}{28}\\&amp;#13;&amp;#10;\frac{7}{9}=\frac{7\times10}{9\times10}=\frac{70}{90}\end{array}&quot;&gt;&lt;mtable columnalign=&quot;left&quot; columnspacing=&quot;1em&quot; rowspacing=&quot;4pt&quot;&gt;&lt;mtr&gt;&lt;mtd&gt;&lt;mfrac&gt;&lt;mn&gt;2&lt;/mn&gt;&lt;mn&gt;7&lt;/mn&gt;&lt;/mfrac&gt;&lt;mo&gt;=&lt;/mo&gt;&lt;mfrac&gt;&lt;mrow&gt;&lt;mn&gt;2&lt;/mn&gt;&lt;mo&gt;×&lt;/mo&gt;&lt;mn&gt;4&lt;/mn&gt;&lt;/mrow&gt;&lt;mrow&gt;&lt;mn&gt;7&lt;/mn&gt;&lt;mo&gt;×&lt;/mo&gt;&lt;mn&gt;4&lt;/mn&gt;&lt;/mrow&gt;&lt;/mfrac&gt;&lt;mo&gt;=&lt;/mo&gt;&lt;mfrac&gt;&lt;mn&gt;8&lt;/mn&gt;&lt;mn&gt;28&lt;/mn&gt;&lt;/mfrac&gt;&lt;/mtd&gt;&lt;/mtr&gt;&lt;mtr&gt;&lt;mtd&gt;&lt;mfrac&gt;&lt;mn&gt;7&lt;/mn&gt;&lt;mn&gt;9&lt;/mn&gt;&lt;/mfrac&gt;&lt;mo&gt;=&lt;/mo&gt;&lt;mfrac&gt;&lt;mrow&gt;&lt;mn&gt;7&lt;/mn&gt;&lt;mo&gt;×&lt;/mo&gt;&lt;mn&gt;10&lt;/mn&gt;&lt;/mrow&gt;&lt;mrow&gt;&lt;mn&gt;9&lt;/mn&gt;&lt;mo&gt;×&lt;/mo&gt;&lt;mn&gt;10&lt;/mn&gt;&lt;/mrow&gt;&lt;/mfrac&gt;&lt;mo&gt;=&lt;/mo&gt;&lt;mfrac&gt;&lt;mn&gt;70&lt;/mn&gt;&lt;mn&gt;90&lt;/mn&gt;&lt;/mfrac&gt;&lt;/mtd&gt;&lt;/mtr&gt;&lt;/mtable&gt;&lt;/math&gt;" id="1097" name="Google Shape;1097;p87" title="2 lines Line 1: two sevenths equals the fraction with numerator 2 times 4 and denominator 7 times 4 equals 8 over 28 Line 2: seven ninths equals the fraction with numerator 7 times 10 and denominator 9 times 10 equals 70 over 90"/>
          <p:cNvPicPr preferRelativeResize="0"/>
          <p:nvPr/>
        </p:nvPicPr>
        <p:blipFill rotWithShape="1">
          <a:blip r:embed="rId4">
            <a:alphaModFix/>
          </a:blip>
          <a:srcRect b="49186" l="0" r="0" t="0"/>
          <a:stretch/>
        </p:blipFill>
        <p:spPr>
          <a:xfrm>
            <a:off x="5364750" y="1644850"/>
            <a:ext cx="2967575" cy="81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7}=\frac{2\times4}{7\times4}=\frac{8}{28}\\&amp;#13;&amp;#10;\frac{7}{9}=\frac{7\times10}{9\times10}=\frac{70}{90}\end{array}&quot;&gt;&lt;mtable columnalign=&quot;left&quot; columnspacing=&quot;1em&quot; rowspacing=&quot;4pt&quot;&gt;&lt;mtr&gt;&lt;mtd&gt;&lt;mfrac&gt;&lt;mn&gt;2&lt;/mn&gt;&lt;mn&gt;7&lt;/mn&gt;&lt;/mfrac&gt;&lt;mo&gt;=&lt;/mo&gt;&lt;mfrac&gt;&lt;mrow&gt;&lt;mn&gt;2&lt;/mn&gt;&lt;mo&gt;×&lt;/mo&gt;&lt;mn&gt;4&lt;/mn&gt;&lt;/mrow&gt;&lt;mrow&gt;&lt;mn&gt;7&lt;/mn&gt;&lt;mo&gt;×&lt;/mo&gt;&lt;mn&gt;4&lt;/mn&gt;&lt;/mrow&gt;&lt;/mfrac&gt;&lt;mo&gt;=&lt;/mo&gt;&lt;mfrac&gt;&lt;mn&gt;8&lt;/mn&gt;&lt;mn&gt;28&lt;/mn&gt;&lt;/mfrac&gt;&lt;/mtd&gt;&lt;/mtr&gt;&lt;mtr&gt;&lt;mtd&gt;&lt;mfrac&gt;&lt;mn&gt;7&lt;/mn&gt;&lt;mn&gt;9&lt;/mn&gt;&lt;/mfrac&gt;&lt;mo&gt;=&lt;/mo&gt;&lt;mfrac&gt;&lt;mrow&gt;&lt;mn&gt;7&lt;/mn&gt;&lt;mo&gt;×&lt;/mo&gt;&lt;mn&gt;10&lt;/mn&gt;&lt;/mrow&gt;&lt;mrow&gt;&lt;mn&gt;9&lt;/mn&gt;&lt;mo&gt;×&lt;/mo&gt;&lt;mn&gt;10&lt;/mn&gt;&lt;/mrow&gt;&lt;/mfrac&gt;&lt;mo&gt;=&lt;/mo&gt;&lt;mfrac&gt;&lt;mn&gt;70&lt;/mn&gt;&lt;mn&gt;90&lt;/mn&gt;&lt;/mfrac&gt;&lt;/mtd&gt;&lt;/mtr&gt;&lt;/mtable&gt;&lt;/math&gt;" id="1098" name="Google Shape;1098;p87" title="2 lines Line 1: two sevenths equals the fraction with numerator 2 times 4 and denominator 7 times 4 equals 8 over 28 Line 2: seven ninths equals the fraction with numerator 7 times 10 and denominator 9 times 10 equals 70 over 90"/>
          <p:cNvPicPr preferRelativeResize="0"/>
          <p:nvPr/>
        </p:nvPicPr>
        <p:blipFill rotWithShape="1">
          <a:blip r:embed="rId4">
            <a:alphaModFix/>
          </a:blip>
          <a:srcRect b="0" l="0" r="0" t="49186"/>
          <a:stretch/>
        </p:blipFill>
        <p:spPr>
          <a:xfrm>
            <a:off x="5364750" y="3064500"/>
            <a:ext cx="2967575" cy="8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87"/>
          <p:cNvSpPr/>
          <p:nvPr/>
        </p:nvSpPr>
        <p:spPr>
          <a:xfrm>
            <a:off x="6788546" y="1611715"/>
            <a:ext cx="2850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7"/>
          <p:cNvSpPr/>
          <p:nvPr/>
        </p:nvSpPr>
        <p:spPr>
          <a:xfrm>
            <a:off x="6788546" y="2054015"/>
            <a:ext cx="2850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7"/>
          <p:cNvSpPr/>
          <p:nvPr/>
        </p:nvSpPr>
        <p:spPr>
          <a:xfrm>
            <a:off x="7769202" y="2054025"/>
            <a:ext cx="3891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7"/>
          <p:cNvSpPr/>
          <p:nvPr/>
        </p:nvSpPr>
        <p:spPr>
          <a:xfrm>
            <a:off x="6824975" y="3150625"/>
            <a:ext cx="3396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7"/>
          <p:cNvSpPr/>
          <p:nvPr/>
        </p:nvSpPr>
        <p:spPr>
          <a:xfrm>
            <a:off x="6824975" y="3614400"/>
            <a:ext cx="3396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7"/>
          <p:cNvSpPr/>
          <p:nvPr/>
        </p:nvSpPr>
        <p:spPr>
          <a:xfrm>
            <a:off x="7958050" y="3150625"/>
            <a:ext cx="3396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8"/>
          <p:cNvSpPr txBox="1"/>
          <p:nvPr>
            <p:ph idx="1" type="body"/>
          </p:nvPr>
        </p:nvSpPr>
        <p:spPr>
          <a:xfrm>
            <a:off x="324000" y="759300"/>
            <a:ext cx="8237700" cy="6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table to show the fraction, working out and the </a:t>
            </a:r>
            <a:r>
              <a:rPr b="1" lang="en-GB"/>
              <a:t>equivalent</a:t>
            </a:r>
            <a:r>
              <a:rPr lang="en-GB"/>
              <a:t> </a:t>
            </a:r>
            <a:r>
              <a:rPr b="1" lang="en-GB"/>
              <a:t>fraction</a:t>
            </a:r>
            <a:r>
              <a:rPr lang="en-GB"/>
              <a:t>.</a:t>
            </a:r>
            <a:endParaRPr/>
          </a:p>
        </p:txBody>
      </p:sp>
      <p:sp>
        <p:nvSpPr>
          <p:cNvPr id="1110" name="Google Shape;111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graphicFrame>
        <p:nvGraphicFramePr>
          <p:cNvPr id="1111" name="Google Shape;1111;p88"/>
          <p:cNvGraphicFramePr/>
          <p:nvPr/>
        </p:nvGraphicFramePr>
        <p:xfrm>
          <a:off x="435300" y="17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978725"/>
                <a:gridCol w="3160175"/>
                <a:gridCol w="3146575"/>
              </a:tblGrid>
              <a:tr h="57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Working out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Equivalent fraction</a:t>
                      </a:r>
                      <a:endParaRPr b="1"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8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4}\ \ \ \frac{3\times3}{4\times3}\ \ \ \frac{9}{12}&quot;&gt;&lt;mfrac&gt;&lt;mn&gt;3&lt;/mn&gt;&lt;mn&gt;4&lt;/mn&gt;&lt;/mfrac&gt;&lt;mtext&gt;&lt;/mtext&gt;&lt;mtext&gt;&lt;/mtext&gt;&lt;mtext&gt;&lt;/mtext&gt;&lt;mfrac&gt;&lt;mrow&gt;&lt;mn&gt;3&lt;/mn&gt;&lt;mo&gt;×&lt;/mo&gt;&lt;mn&gt;3&lt;/mn&gt;&lt;/mrow&gt;&lt;mrow&gt;&lt;mn&gt;4&lt;/mn&gt;&lt;mo&gt;×&lt;/mo&gt;&lt;mn&gt;3&lt;/mn&gt;&lt;/mrow&gt;&lt;/mfrac&gt;&lt;mtext&gt;&lt;/mtext&gt;&lt;mtext&gt;&lt;/mtext&gt;&lt;mtext&gt;&lt;/mtext&gt;&lt;mfrac&gt;&lt;mn&gt;9&lt;/mn&gt;&lt;mn&gt;12&lt;/mn&gt;&lt;/mfrac&gt;&lt;/math&gt;" id="1112" name="Google Shape;1112;p88" title="three fourths the fraction with numerator 3 times 3 and denominator 4 times 3 9 over 12"/>
          <p:cNvPicPr preferRelativeResize="0"/>
          <p:nvPr/>
        </p:nvPicPr>
        <p:blipFill rotWithShape="1">
          <a:blip r:embed="rId3">
            <a:alphaModFix/>
          </a:blip>
          <a:srcRect b="0" l="0" r="80349" t="0"/>
          <a:stretch/>
        </p:blipFill>
        <p:spPr>
          <a:xfrm>
            <a:off x="1140090" y="2368350"/>
            <a:ext cx="370750" cy="66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\ \ \ \frac{2\times4}{7\times4}\ \ \ \frac{8}{28}&quot;&gt;&lt;mfrac&gt;&lt;mn&gt;2&lt;/mn&gt;&lt;mn&gt;7&lt;/mn&gt;&lt;/mfrac&gt;&lt;mtext&gt;&lt;/mtext&gt;&lt;mtext&gt;&lt;/mtext&gt;&lt;mtext&gt;&lt;/mtext&gt;&lt;mfrac&gt;&lt;mrow&gt;&lt;mn&gt;2&lt;/mn&gt;&lt;mo&gt;×&lt;/mo&gt;&lt;mn&gt;4&lt;/mn&gt;&lt;/mrow&gt;&lt;mrow&gt;&lt;mn&gt;7&lt;/mn&gt;&lt;mo&gt;×&lt;/mo&gt;&lt;mn&gt;4&lt;/mn&gt;&lt;/mrow&gt;&lt;/mfrac&gt;&lt;mtext&gt;&lt;/mtext&gt;&lt;mtext&gt;&lt;/mtext&gt;&lt;mtext&gt;&lt;/mtext&gt;&lt;mfrac&gt;&lt;mn&gt;8&lt;/mn&gt;&lt;mn&gt;28&lt;/mn&gt;&lt;/mfrac&gt;&lt;/math&gt;" id="1113" name="Google Shape;1113;p88" title="two sevenths the fraction with numerator 2 times 4 and denominator 7 times 4 8 over 28"/>
          <p:cNvPicPr preferRelativeResize="0"/>
          <p:nvPr/>
        </p:nvPicPr>
        <p:blipFill rotWithShape="1">
          <a:blip r:embed="rId4">
            <a:alphaModFix/>
          </a:blip>
          <a:srcRect b="0" l="0" r="81920" t="0"/>
          <a:stretch/>
        </p:blipFill>
        <p:spPr>
          <a:xfrm>
            <a:off x="1136925" y="3166500"/>
            <a:ext cx="3164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\times5}{6\times5}\ \ \ \frac{25}{30}&quot;&gt;&lt;mfrac&gt;&lt;mn&gt;5&lt;/mn&gt;&lt;mn&gt;6&lt;/mn&gt;&lt;/mfrac&gt;&lt;mtext&gt;&lt;/mtext&gt;&lt;mtext&gt;&lt;/mtext&gt;&lt;mtext&gt;&lt;/mtext&gt;&lt;mfrac&gt;&lt;mrow&gt;&lt;mn&gt;5&lt;/mn&gt;&lt;mo&gt;×&lt;/mo&gt;&lt;mn&gt;5&lt;/mn&gt;&lt;/mrow&gt;&lt;mrow&gt;&lt;mn&gt;6&lt;/mn&gt;&lt;mo&gt;×&lt;/mo&gt;&lt;mn&gt;5&lt;/mn&gt;&lt;/mrow&gt;&lt;/mfrac&gt;&lt;mtext&gt;&lt;/mtext&gt;&lt;mtext&gt;&lt;/mtext&gt;&lt;mtext&gt;&lt;/mtext&gt;&lt;mfrac&gt;&lt;mn&gt;25&lt;/mn&gt;&lt;mn&gt;30&lt;/mn&gt;&lt;/mfrac&gt;&lt;/math&gt;" id="1114" name="Google Shape;1114;p88" title="five sixths the fraction with numerator 5 times 5 and denominator 6 times 5 25 over 30"/>
          <p:cNvPicPr preferRelativeResize="0"/>
          <p:nvPr/>
        </p:nvPicPr>
        <p:blipFill rotWithShape="1">
          <a:blip r:embed="rId5">
            <a:alphaModFix/>
          </a:blip>
          <a:srcRect b="0" l="0" r="78670" t="0"/>
          <a:stretch/>
        </p:blipFill>
        <p:spPr>
          <a:xfrm>
            <a:off x="1095875" y="3914850"/>
            <a:ext cx="3707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\ \ \frac{3\times3}{4\times3}\ \ \ \frac{9}{12}&quot;&gt;&lt;mfrac&gt;&lt;mn&gt;3&lt;/mn&gt;&lt;mn&gt;4&lt;/mn&gt;&lt;/mfrac&gt;&lt;mtext&gt;&lt;/mtext&gt;&lt;mtext&gt;&lt;/mtext&gt;&lt;mtext&gt;&lt;/mtext&gt;&lt;mfrac&gt;&lt;mrow&gt;&lt;mn&gt;3&lt;/mn&gt;&lt;mo&gt;×&lt;/mo&gt;&lt;mn&gt;3&lt;/mn&gt;&lt;/mrow&gt;&lt;mrow&gt;&lt;mn&gt;4&lt;/mn&gt;&lt;mo&gt;×&lt;/mo&gt;&lt;mn&gt;3&lt;/mn&gt;&lt;/mrow&gt;&lt;/mfrac&gt;&lt;mtext&gt;&lt;/mtext&gt;&lt;mtext&gt;&lt;/mtext&gt;&lt;mtext&gt;&lt;/mtext&gt;&lt;mfrac&gt;&lt;mn&gt;9&lt;/mn&gt;&lt;mn&gt;12&lt;/mn&gt;&lt;/mfrac&gt;&lt;/math&gt;" id="1115" name="Google Shape;1115;p88" title="three fourths the fraction with numerator 3 times 3 and denominator 4 times 3 9 over 12"/>
          <p:cNvPicPr preferRelativeResize="0"/>
          <p:nvPr/>
        </p:nvPicPr>
        <p:blipFill rotWithShape="1">
          <a:blip r:embed="rId3">
            <a:alphaModFix/>
          </a:blip>
          <a:srcRect b="0" l="22521" r="29169" t="0"/>
          <a:stretch/>
        </p:blipFill>
        <p:spPr>
          <a:xfrm>
            <a:off x="3563650" y="2368350"/>
            <a:ext cx="911475" cy="66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\ \ \frac{3\times3}{4\times3}\ \ \ \frac{9}{12}&quot;&gt;&lt;mfrac&gt;&lt;mn&gt;3&lt;/mn&gt;&lt;mn&gt;4&lt;/mn&gt;&lt;/mfrac&gt;&lt;mtext&gt;&lt;/mtext&gt;&lt;mtext&gt;&lt;/mtext&gt;&lt;mtext&gt;&lt;/mtext&gt;&lt;mfrac&gt;&lt;mrow&gt;&lt;mn&gt;3&lt;/mn&gt;&lt;mo&gt;×&lt;/mo&gt;&lt;mn&gt;3&lt;/mn&gt;&lt;/mrow&gt;&lt;mrow&gt;&lt;mn&gt;4&lt;/mn&gt;&lt;mo&gt;×&lt;/mo&gt;&lt;mn&gt;3&lt;/mn&gt;&lt;/mrow&gt;&lt;/mfrac&gt;&lt;mtext&gt;&lt;/mtext&gt;&lt;mtext&gt;&lt;/mtext&gt;&lt;mtext&gt;&lt;/mtext&gt;&lt;mfrac&gt;&lt;mn&gt;9&lt;/mn&gt;&lt;mn&gt;12&lt;/mn&gt;&lt;/mfrac&gt;&lt;/math&gt;" id="1116" name="Google Shape;1116;p88" title="three fourths the fraction with numerator 3 times 3 and denominator 4 times 3 9 over 12"/>
          <p:cNvPicPr preferRelativeResize="0"/>
          <p:nvPr/>
        </p:nvPicPr>
        <p:blipFill rotWithShape="1">
          <a:blip r:embed="rId3">
            <a:alphaModFix/>
          </a:blip>
          <a:srcRect b="0" l="67212" r="-15521" t="0"/>
          <a:stretch/>
        </p:blipFill>
        <p:spPr>
          <a:xfrm>
            <a:off x="6678188" y="2326525"/>
            <a:ext cx="911475" cy="66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\ \ \ \frac{2\times4}{7\times4}\ \ \ \frac{8}{28}&quot;&gt;&lt;mfrac&gt;&lt;mn&gt;2&lt;/mn&gt;&lt;mn&gt;7&lt;/mn&gt;&lt;/mfrac&gt;&lt;mtext&gt;&lt;/mtext&gt;&lt;mtext&gt;&lt;/mtext&gt;&lt;mtext&gt;&lt;/mtext&gt;&lt;mfrac&gt;&lt;mrow&gt;&lt;mn&gt;2&lt;/mn&gt;&lt;mo&gt;×&lt;/mo&gt;&lt;mn&gt;4&lt;/mn&gt;&lt;/mrow&gt;&lt;mrow&gt;&lt;mn&gt;7&lt;/mn&gt;&lt;mo&gt;×&lt;/mo&gt;&lt;mn&gt;4&lt;/mn&gt;&lt;/mrow&gt;&lt;/mfrac&gt;&lt;mtext&gt;&lt;/mtext&gt;&lt;mtext&gt;&lt;/mtext&gt;&lt;mtext&gt;&lt;/mtext&gt;&lt;mfrac&gt;&lt;mn&gt;8&lt;/mn&gt;&lt;mn&gt;28&lt;/mn&gt;&lt;/mfrac&gt;&lt;/math&gt;" id="1117" name="Google Shape;1117;p88" title="two sevenths the fraction with numerator 2 times 4 and denominator 7 times 4 8 over 28"/>
          <p:cNvPicPr preferRelativeResize="0"/>
          <p:nvPr/>
        </p:nvPicPr>
        <p:blipFill rotWithShape="1">
          <a:blip r:embed="rId4">
            <a:alphaModFix/>
          </a:blip>
          <a:srcRect b="0" l="20709" r="30029" t="0"/>
          <a:stretch/>
        </p:blipFill>
        <p:spPr>
          <a:xfrm>
            <a:off x="3588287" y="3166500"/>
            <a:ext cx="8622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\ \ \ \frac{2\times4}{7\times4}\ \ \ \frac{8}{28}&quot;&gt;&lt;mfrac&gt;&lt;mn&gt;2&lt;/mn&gt;&lt;mn&gt;7&lt;/mn&gt;&lt;/mfrac&gt;&lt;mtext&gt;&lt;/mtext&gt;&lt;mtext&gt;&lt;/mtext&gt;&lt;mtext&gt;&lt;/mtext&gt;&lt;mfrac&gt;&lt;mrow&gt;&lt;mn&gt;2&lt;/mn&gt;&lt;mo&gt;×&lt;/mo&gt;&lt;mn&gt;4&lt;/mn&gt;&lt;/mrow&gt;&lt;mrow&gt;&lt;mn&gt;7&lt;/mn&gt;&lt;mo&gt;×&lt;/mo&gt;&lt;mn&gt;4&lt;/mn&gt;&lt;/mrow&gt;&lt;/mfrac&gt;&lt;mtext&gt;&lt;/mtext&gt;&lt;mtext&gt;&lt;/mtext&gt;&lt;mtext&gt;&lt;/mtext&gt;&lt;mfrac&gt;&lt;mn&gt;8&lt;/mn&gt;&lt;mn&gt;28&lt;/mn&gt;&lt;/mfrac&gt;&lt;/math&gt;" id="1118" name="Google Shape;1118;p88" title="two sevenths the fraction with numerator 2 times 4 and denominator 7 times 4 8 over 28"/>
          <p:cNvPicPr preferRelativeResize="0"/>
          <p:nvPr/>
        </p:nvPicPr>
        <p:blipFill rotWithShape="1">
          <a:blip r:embed="rId4">
            <a:alphaModFix/>
          </a:blip>
          <a:srcRect b="0" l="75133" r="-24394" t="0"/>
          <a:stretch/>
        </p:blipFill>
        <p:spPr>
          <a:xfrm>
            <a:off x="6852737" y="3166500"/>
            <a:ext cx="8622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\times5}{6\times5}\ \ \ \frac{25}{30}&quot;&gt;&lt;mfrac&gt;&lt;mn&gt;5&lt;/mn&gt;&lt;mn&gt;6&lt;/mn&gt;&lt;/mfrac&gt;&lt;mtext&gt;&lt;/mtext&gt;&lt;mtext&gt;&lt;/mtext&gt;&lt;mtext&gt;&lt;/mtext&gt;&lt;mfrac&gt;&lt;mrow&gt;&lt;mn&gt;5&lt;/mn&gt;&lt;mo&gt;×&lt;/mo&gt;&lt;mn&gt;5&lt;/mn&gt;&lt;/mrow&gt;&lt;mrow&gt;&lt;mn&gt;6&lt;/mn&gt;&lt;mo&gt;×&lt;/mo&gt;&lt;mn&gt;5&lt;/mn&gt;&lt;/mrow&gt;&lt;/mfrac&gt;&lt;mtext&gt;&lt;/mtext&gt;&lt;mtext&gt;&lt;/mtext&gt;&lt;mtext&gt;&lt;/mtext&gt;&lt;mfrac&gt;&lt;mn&gt;25&lt;/mn&gt;&lt;mn&gt;30&lt;/mn&gt;&lt;/mfrac&gt;&lt;/math&gt;" id="1119" name="Google Shape;1119;p88" title="five sixths the fraction with numerator 5 times 5 and denominator 6 times 5 25 over 30"/>
          <p:cNvPicPr preferRelativeResize="0"/>
          <p:nvPr/>
        </p:nvPicPr>
        <p:blipFill rotWithShape="1">
          <a:blip r:embed="rId5">
            <a:alphaModFix/>
          </a:blip>
          <a:srcRect b="0" l="19836" r="30560" t="0"/>
          <a:stretch/>
        </p:blipFill>
        <p:spPr>
          <a:xfrm>
            <a:off x="3571844" y="3914850"/>
            <a:ext cx="8622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\times5}{6\times5}\ \ \ \frac{25}{30}&quot;&gt;&lt;mfrac&gt;&lt;mn&gt;5&lt;/mn&gt;&lt;mn&gt;6&lt;/mn&gt;&lt;/mfrac&gt;&lt;mtext&gt;&lt;/mtext&gt;&lt;mtext&gt;&lt;/mtext&gt;&lt;mtext&gt;&lt;/mtext&gt;&lt;mfrac&gt;&lt;mrow&gt;&lt;mn&gt;5&lt;/mn&gt;&lt;mo&gt;×&lt;/mo&gt;&lt;mn&gt;5&lt;/mn&gt;&lt;/mrow&gt;&lt;mrow&gt;&lt;mn&gt;6&lt;/mn&gt;&lt;mo&gt;×&lt;/mo&gt;&lt;mn&gt;5&lt;/mn&gt;&lt;/mrow&gt;&lt;/mfrac&gt;&lt;mtext&gt;&lt;/mtext&gt;&lt;mtext&gt;&lt;/mtext&gt;&lt;mtext&gt;&lt;/mtext&gt;&lt;mfrac&gt;&lt;mn&gt;25&lt;/mn&gt;&lt;mn&gt;30&lt;/mn&gt;&lt;/mfrac&gt;&lt;/math&gt;" id="1120" name="Google Shape;1120;p88" title="five sixths the fraction with numerator 5 times 5 and denominator 6 times 5 25 over 30"/>
          <p:cNvPicPr preferRelativeResize="0"/>
          <p:nvPr/>
        </p:nvPicPr>
        <p:blipFill rotWithShape="1">
          <a:blip r:embed="rId5">
            <a:alphaModFix/>
          </a:blip>
          <a:srcRect b="0" l="68963" r="-18566" t="0"/>
          <a:stretch/>
        </p:blipFill>
        <p:spPr>
          <a:xfrm>
            <a:off x="6768500" y="3893750"/>
            <a:ext cx="862225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126" name="Google Shape;1126;p89"/>
          <p:cNvSpPr txBox="1"/>
          <p:nvPr/>
        </p:nvSpPr>
        <p:spPr>
          <a:xfrm>
            <a:off x="324000" y="711925"/>
            <a:ext cx="839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Match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 fractions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27" name="Google Shape;1127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77596" l="0" r="54977" t="0"/>
          <a:stretch/>
        </p:blipFill>
        <p:spPr>
          <a:xfrm>
            <a:off x="2793525" y="1517363"/>
            <a:ext cx="512700" cy="7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28" name="Google Shape;1128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52349" l="0" r="59216" t="25247"/>
          <a:stretch/>
        </p:blipFill>
        <p:spPr>
          <a:xfrm>
            <a:off x="6440275" y="1709275"/>
            <a:ext cx="464425" cy="7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29" name="Google Shape;1129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25529" l="0" r="67438" t="51005"/>
          <a:stretch/>
        </p:blipFill>
        <p:spPr>
          <a:xfrm>
            <a:off x="1357600" y="3550225"/>
            <a:ext cx="370800" cy="76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30" name="Google Shape;1130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0" l="0" r="54977" t="76535"/>
          <a:stretch/>
        </p:blipFill>
        <p:spPr>
          <a:xfrm>
            <a:off x="7718325" y="3444388"/>
            <a:ext cx="512700" cy="76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31" name="Google Shape;1131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77596" l="55152" r="-175" t="0"/>
          <a:stretch/>
        </p:blipFill>
        <p:spPr>
          <a:xfrm>
            <a:off x="5862925" y="3461788"/>
            <a:ext cx="512700" cy="7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32" name="Google Shape;1132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25780" l="67438" r="0" t="50754"/>
          <a:stretch/>
        </p:blipFill>
        <p:spPr>
          <a:xfrm>
            <a:off x="1225800" y="1499963"/>
            <a:ext cx="370800" cy="76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33" name="Google Shape;1133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51968" l="64184" r="-4967" t="25627"/>
          <a:stretch/>
        </p:blipFill>
        <p:spPr>
          <a:xfrm>
            <a:off x="3439150" y="3461788"/>
            <a:ext cx="464425" cy="7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 \ \ \frac{4}{12}\\&amp;#13;&amp;#10;\frac{2}{5}\ \ \ \frac{10}{25}\\&amp;#13;&amp;#10;\frac{2}{9}\ \ \ \frac{12}{54}\\&amp;#13;&amp;#10;\frac{1}{2}\ \ \ \frac{20}{40}\end{array}&quot;&gt;&lt;mtable columnalign=&quot;left&quot; columnspacing=&quot;1em&quot; rowspacing=&quot;4pt&quot;&gt;&lt;mtr&gt;&lt;mtd&gt;&lt;mfrac&gt;&lt;mn&gt;1&lt;/mn&gt;&lt;mn&gt;3&lt;/mn&gt;&lt;/mfrac&gt;&lt;mtext&gt;&lt;/mtext&gt;&lt;mtext&gt;&lt;/mtext&gt;&lt;mtext&gt;&lt;/mtext&gt;&lt;mfrac&gt;&lt;mn&gt;4&lt;/mn&gt;&lt;mn&gt;12&lt;/mn&gt;&lt;/mfrac&gt;&lt;/mtd&gt;&lt;/mtr&gt;&lt;mtr&gt;&lt;mtd&gt;&lt;mfrac&gt;&lt;mn&gt;2&lt;/mn&gt;&lt;mn&gt;5&lt;/mn&gt;&lt;/mfrac&gt;&lt;mtext&gt;&lt;/mtext&gt;&lt;mtext&gt;&lt;/mtext&gt;&lt;mtext&gt;&lt;/mtext&gt;&lt;mfrac&gt;&lt;mn&gt;10&lt;/mn&gt;&lt;mn&gt;25&lt;/mn&gt;&lt;/mfrac&gt;&lt;/mtd&gt;&lt;/mtr&gt;&lt;mtr&gt;&lt;mtd&gt;&lt;mfrac&gt;&lt;mn&gt;2&lt;/mn&gt;&lt;mn&gt;9&lt;/mn&gt;&lt;/mfrac&gt;&lt;mtext&gt;&lt;/mtext&gt;&lt;mtext&gt;&lt;/mtext&gt;&lt;mtext&gt;&lt;/mtext&gt;&lt;mfrac&gt;&lt;mn&gt;12&lt;/mn&gt;&lt;mn&gt;54&lt;/mn&gt;&lt;/mfrac&gt;&lt;/mtd&gt;&lt;/mtr&gt;&lt;mtr&gt;&lt;mtd&gt;&lt;mfrac&gt;&lt;mn&gt;1&lt;/mn&gt;&lt;mn&gt;2&lt;/mn&gt;&lt;/mfrac&gt;&lt;mtext&gt;&lt;/mtext&gt;&lt;mtext&gt;&lt;/mtext&gt;&lt;mtext&gt;&lt;/mtext&gt;&lt;mfrac&gt;&lt;mn&gt;20&lt;/mn&gt;&lt;mn&gt;40&lt;/mn&gt;&lt;/mfrac&gt;&lt;/mtd&gt;&lt;/mtr&gt;&lt;/mtable&gt;&lt;/math&gt;" id="1134" name="Google Shape;1134;p89" title="4 lines Line 1: one third 4 over 12 Line 2: two fifths 10 over 25 Line 3: two ninths 12 over 54 Line 4: one half 20 over 40"/>
          <p:cNvPicPr preferRelativeResize="0"/>
          <p:nvPr/>
        </p:nvPicPr>
        <p:blipFill rotWithShape="1">
          <a:blip r:embed="rId3">
            <a:alphaModFix/>
          </a:blip>
          <a:srcRect b="0" l="61095" r="-6118" t="76535"/>
          <a:stretch/>
        </p:blipFill>
        <p:spPr>
          <a:xfrm>
            <a:off x="4503150" y="1517463"/>
            <a:ext cx="512700" cy="76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5" name="Google Shape;1135;p89"/>
          <p:cNvCxnSpPr>
            <a:stCxn id="1127" idx="3"/>
            <a:endCxn id="1131" idx="1"/>
          </p:cNvCxnSpPr>
          <p:nvPr/>
        </p:nvCxnSpPr>
        <p:spPr>
          <a:xfrm>
            <a:off x="3306225" y="1884850"/>
            <a:ext cx="2556600" cy="194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89"/>
          <p:cNvCxnSpPr/>
          <p:nvPr/>
        </p:nvCxnSpPr>
        <p:spPr>
          <a:xfrm>
            <a:off x="5015850" y="1982812"/>
            <a:ext cx="2546700" cy="16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89"/>
          <p:cNvCxnSpPr/>
          <p:nvPr/>
        </p:nvCxnSpPr>
        <p:spPr>
          <a:xfrm flipH="1">
            <a:off x="4151425" y="2118500"/>
            <a:ext cx="2163000" cy="167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89"/>
          <p:cNvCxnSpPr/>
          <p:nvPr/>
        </p:nvCxnSpPr>
        <p:spPr>
          <a:xfrm>
            <a:off x="1354850" y="2455150"/>
            <a:ext cx="77100" cy="108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90"/>
          <p:cNvSpPr txBox="1"/>
          <p:nvPr>
            <p:ph idx="1" type="body"/>
          </p:nvPr>
        </p:nvSpPr>
        <p:spPr>
          <a:xfrm>
            <a:off x="324000" y="759300"/>
            <a:ext cx="8237700" cy="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gap to show the fraction, working out and </a:t>
            </a:r>
            <a:r>
              <a:rPr b="1" lang="en-GB"/>
              <a:t>equivalent fraction</a:t>
            </a:r>
            <a:r>
              <a:rPr lang="en-GB"/>
              <a:t>.</a:t>
            </a:r>
            <a:endParaRPr/>
          </a:p>
        </p:txBody>
      </p:sp>
      <p:sp>
        <p:nvSpPr>
          <p:cNvPr id="1144" name="Google Shape;1144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Property of multiplication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145" name="Google Shape;1145;p90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76253" l="0" r="0" t="0"/>
          <a:stretch/>
        </p:blipFill>
        <p:spPr>
          <a:xfrm>
            <a:off x="1116825" y="1737150"/>
            <a:ext cx="2922575" cy="7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0"/>
          <p:cNvSpPr txBox="1"/>
          <p:nvPr/>
        </p:nvSpPr>
        <p:spPr>
          <a:xfrm>
            <a:off x="324000" y="1620000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147" name="Google Shape;1147;p90"/>
          <p:cNvSpPr txBox="1"/>
          <p:nvPr/>
        </p:nvSpPr>
        <p:spPr>
          <a:xfrm>
            <a:off x="324000" y="3346425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1148" name="Google Shape;1148;p90"/>
          <p:cNvSpPr txBox="1"/>
          <p:nvPr/>
        </p:nvSpPr>
        <p:spPr>
          <a:xfrm>
            <a:off x="4708775" y="1620000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1149" name="Google Shape;1149;p90"/>
          <p:cNvSpPr txBox="1"/>
          <p:nvPr/>
        </p:nvSpPr>
        <p:spPr>
          <a:xfrm>
            <a:off x="4708775" y="3346425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150" name="Google Shape;1150;p90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52320" l="0" r="0" t="23933"/>
          <a:stretch/>
        </p:blipFill>
        <p:spPr>
          <a:xfrm>
            <a:off x="944400" y="3346425"/>
            <a:ext cx="2922575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151" name="Google Shape;1151;p90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24508" l="0" r="0" t="51745"/>
          <a:stretch/>
        </p:blipFill>
        <p:spPr>
          <a:xfrm>
            <a:off x="5380100" y="1701750"/>
            <a:ext cx="2922575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152" name="Google Shape;1152;p90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0" l="0" r="0" t="76253"/>
          <a:stretch/>
        </p:blipFill>
        <p:spPr>
          <a:xfrm>
            <a:off x="5339050" y="3421350"/>
            <a:ext cx="2922575" cy="7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90"/>
          <p:cNvSpPr/>
          <p:nvPr/>
        </p:nvSpPr>
        <p:spPr>
          <a:xfrm>
            <a:off x="2100584" y="1654300"/>
            <a:ext cx="6102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90"/>
          <p:cNvSpPr/>
          <p:nvPr/>
        </p:nvSpPr>
        <p:spPr>
          <a:xfrm>
            <a:off x="2100584" y="2123250"/>
            <a:ext cx="6102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0"/>
          <p:cNvSpPr/>
          <p:nvPr/>
        </p:nvSpPr>
        <p:spPr>
          <a:xfrm>
            <a:off x="3486279" y="3346425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90"/>
          <p:cNvSpPr/>
          <p:nvPr/>
        </p:nvSpPr>
        <p:spPr>
          <a:xfrm>
            <a:off x="3486279" y="3780000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0"/>
          <p:cNvSpPr/>
          <p:nvPr/>
        </p:nvSpPr>
        <p:spPr>
          <a:xfrm>
            <a:off x="1957685" y="3346425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0"/>
          <p:cNvSpPr/>
          <p:nvPr/>
        </p:nvSpPr>
        <p:spPr>
          <a:xfrm>
            <a:off x="1957674" y="3780000"/>
            <a:ext cx="4734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0"/>
          <p:cNvSpPr/>
          <p:nvPr/>
        </p:nvSpPr>
        <p:spPr>
          <a:xfrm>
            <a:off x="5297354" y="1654300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0"/>
          <p:cNvSpPr/>
          <p:nvPr/>
        </p:nvSpPr>
        <p:spPr>
          <a:xfrm>
            <a:off x="6738879" y="2087850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0"/>
          <p:cNvSpPr/>
          <p:nvPr/>
        </p:nvSpPr>
        <p:spPr>
          <a:xfrm>
            <a:off x="6738879" y="1654300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0"/>
          <p:cNvSpPr/>
          <p:nvPr/>
        </p:nvSpPr>
        <p:spPr>
          <a:xfrm>
            <a:off x="7880929" y="3442425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90"/>
          <p:cNvSpPr/>
          <p:nvPr/>
        </p:nvSpPr>
        <p:spPr>
          <a:xfrm>
            <a:off x="6458375" y="3869625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90"/>
          <p:cNvSpPr/>
          <p:nvPr/>
        </p:nvSpPr>
        <p:spPr>
          <a:xfrm>
            <a:off x="7037450" y="3442425"/>
            <a:ext cx="311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0"/>
          <p:cNvSpPr/>
          <p:nvPr/>
        </p:nvSpPr>
        <p:spPr>
          <a:xfrm>
            <a:off x="5380100" y="3869625"/>
            <a:ext cx="3807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Property of multiplication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71" name="Google Shape;1171;p91"/>
          <p:cNvGraphicFramePr/>
          <p:nvPr/>
        </p:nvGraphicFramePr>
        <p:xfrm>
          <a:off x="2873225" y="6363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</a:tblGrid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172" name="Google Shape;1172;p91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5060" y="2200763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173" name="Google Shape;1173;p91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937" y="656174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174" name="Google Shape;1174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5925" y="656174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175" name="Google Shape;1175;p91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6535" y="641986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176" name="Google Shape;1176;p91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1856" y="1175326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177" name="Google Shape;1177;p91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0911" y="641974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178" name="Google Shape;1178;p91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1640" y="116650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179" name="Google Shape;1179;p91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5405" y="2211517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180" name="Google Shape;1180;p91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58146" y="1175324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181" name="Google Shape;1181;p91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66850" y="1679399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182" name="Google Shape;1182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19400" y="37892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83" name="Google Shape;1183;p91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245060" y="432000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184" name="Google Shape;1184;p91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5060" y="378000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185" name="Google Shape;1185;p91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702" y="656174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186" name="Google Shape;1186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8309" y="1690952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187" name="Google Shape;1187;p91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6535" y="272837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188" name="Google Shape;1188;p91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1856" y="3250623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189" name="Google Shape;1189;p91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8324" y="641974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190" name="Google Shape;1190;p91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325" y="327190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191" name="Google Shape;1191;p91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5800" y="1706011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192" name="Google Shape;1192;p91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1121" y="2246464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193" name="Google Shape;1193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7574" y="276209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94" name="Google Shape;1194;p91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054325" y="116552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195" name="Google Shape;1195;p91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325" y="656174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96" name="Google Shape;1196;p91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672601" y="641986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197" name="Google Shape;1197;p91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1121" y="3803998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198" name="Google Shape;1198;p91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2676" y="431888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199" name="Google Shape;1199;p91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1468" y="431178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200" name="Google Shape;1200;p91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380" y="431888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201" name="Google Shape;1201;p91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45233" y="4318888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02" name="Google Shape;1202;p91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88793" y="4318891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203" name="Google Shape;1203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7574" y="433256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204" name="Google Shape;1204;p91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4076" y="432547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05" name="Google Shape;1205;p91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091937" y="326890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206" name="Google Shape;1206;p91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380" y="326778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207" name="Google Shape;1207;p91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45233" y="326068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208" name="Google Shape;1208;p91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793" y="326778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209" name="Google Shape;1209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2042" y="276209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210" name="Google Shape;1210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5186" y="273546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211" name="Google Shape;1211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2042" y="1709127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212" name="Google Shape;1212;p91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5186" y="168871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13" name="Google Shape;1213;p91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72304" y="275846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214" name="Google Shape;1214;p91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5405" y="168909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15" name="Google Shape;1215;p91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66850" y="222658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16" name="Google Shape;1216;p91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58146" y="1666631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17" name="Google Shape;1217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94180" y="2222814"/>
            <a:ext cx="285965" cy="51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}{110}&quot;&gt;&lt;mfrac&gt;&lt;mn&gt;80&lt;/mn&gt;&lt;mn&gt;110&lt;/mn&gt;&lt;/mfrac&gt;&lt;/math&gt;" id="1218" name="Google Shape;1218;p91" title="80 over 1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543387" y="3265053"/>
            <a:ext cx="387550" cy="494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19" name="Google Shape;1219;p91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62379" y="275519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220" name="Google Shape;1220;p91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62379" y="3800818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21" name="Google Shape;1221;p91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66850" y="3765426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22" name="Google Shape;1222;p91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01171" y="2733917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23" name="Google Shape;1223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10904" y="2726175"/>
            <a:ext cx="269925" cy="486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24" name="Google Shape;1224;p91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1640" y="222548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225" name="Google Shape;1225;p91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88496" y="223676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26" name="Google Shape;1226;p91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68071" y="2226582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27" name="Google Shape;1227;p91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68071" y="1144956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28" name="Google Shape;1228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14075" y="1701149"/>
            <a:ext cx="266025" cy="479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29" name="Google Shape;1229;p91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72304" y="329176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30" name="Google Shape;1230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35592" y="38025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31" name="Google Shape;1231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38736" y="38066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232" name="Google Shape;1232;p91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71083" y="120149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33" name="Google Shape;1233;p91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84263" y="116610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34" name="Google Shape;1234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852501" y="1207374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235" name="Google Shape;1235;p91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852501" y="38061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9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1126" y="986800"/>
            <a:ext cx="2367399" cy="1491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113" y="3058775"/>
            <a:ext cx="4650498" cy="698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2" name="Google Shape;1242;p92"/>
          <p:cNvGraphicFramePr/>
          <p:nvPr/>
        </p:nvGraphicFramePr>
        <p:xfrm>
          <a:off x="437600" y="11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586400"/>
                <a:gridCol w="586400"/>
                <a:gridCol w="586400"/>
                <a:gridCol w="586400"/>
                <a:gridCol w="586400"/>
              </a:tblGrid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3" name="Google Shape;1243;p92"/>
          <p:cNvSpPr/>
          <p:nvPr/>
        </p:nvSpPr>
        <p:spPr>
          <a:xfrm>
            <a:off x="447250" y="1620075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2"/>
          <p:cNvSpPr/>
          <p:nvPr/>
        </p:nvSpPr>
        <p:spPr>
          <a:xfrm>
            <a:off x="447250" y="3045125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2"/>
          <p:cNvSpPr txBox="1"/>
          <p:nvPr/>
        </p:nvSpPr>
        <p:spPr>
          <a:xfrm>
            <a:off x="340529" y="612024"/>
            <a:ext cx="43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a 5 by 5 multiplication grid.</a:t>
            </a:r>
            <a:endParaRPr/>
          </a:p>
        </p:txBody>
      </p:sp>
      <p:sp>
        <p:nvSpPr>
          <p:cNvPr id="1246" name="Google Shape;1246;p92"/>
          <p:cNvSpPr/>
          <p:nvPr/>
        </p:nvSpPr>
        <p:spPr>
          <a:xfrm>
            <a:off x="1029600" y="16200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2"/>
          <p:cNvSpPr/>
          <p:nvPr/>
        </p:nvSpPr>
        <p:spPr>
          <a:xfrm>
            <a:off x="1029600" y="30456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2"/>
          <p:cNvSpPr/>
          <p:nvPr/>
        </p:nvSpPr>
        <p:spPr>
          <a:xfrm>
            <a:off x="1615150" y="16200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2"/>
          <p:cNvSpPr/>
          <p:nvPr/>
        </p:nvSpPr>
        <p:spPr>
          <a:xfrm>
            <a:off x="1615150" y="30456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1251" name="Google Shape;1251;p92" title="two fifths equals four tenths equals 6 over 15 8 over 20 10 over 25"/>
          <p:cNvPicPr preferRelativeResize="0"/>
          <p:nvPr/>
        </p:nvPicPr>
        <p:blipFill rotWithShape="1">
          <a:blip r:embed="rId4">
            <a:alphaModFix/>
          </a:blip>
          <a:srcRect b="0" l="0" r="37378" t="0"/>
          <a:stretch/>
        </p:blipFill>
        <p:spPr>
          <a:xfrm>
            <a:off x="5028275" y="2249725"/>
            <a:ext cx="1802274" cy="5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2"/>
          <p:cNvSpPr txBox="1"/>
          <p:nvPr/>
        </p:nvSpPr>
        <p:spPr>
          <a:xfrm>
            <a:off x="3563450" y="1933800"/>
            <a:ext cx="12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sees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3" name="Google Shape;125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8100" y="1108025"/>
            <a:ext cx="4688449" cy="8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250" y="3820900"/>
            <a:ext cx="5362823" cy="66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260" name="Google Shape;1260;p93"/>
          <p:cNvSpPr/>
          <p:nvPr/>
        </p:nvSpPr>
        <p:spPr>
          <a:xfrm rot="-5635024">
            <a:off x="4093744" y="1970914"/>
            <a:ext cx="1718514" cy="2067200"/>
          </a:xfrm>
          <a:prstGeom prst="cloud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1261" name="Google Shape;1261;p93" title="two thirds equals six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188" y="2538225"/>
            <a:ext cx="1229625" cy="93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2" name="Google Shape;1262;p93"/>
          <p:cNvCxnSpPr/>
          <p:nvPr/>
        </p:nvCxnSpPr>
        <p:spPr>
          <a:xfrm flipH="1" rot="10800000">
            <a:off x="5507925" y="2020300"/>
            <a:ext cx="293700" cy="327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93"/>
          <p:cNvCxnSpPr/>
          <p:nvPr/>
        </p:nvCxnSpPr>
        <p:spPr>
          <a:xfrm flipH="1">
            <a:off x="4304700" y="3742200"/>
            <a:ext cx="350400" cy="405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93"/>
          <p:cNvCxnSpPr/>
          <p:nvPr/>
        </p:nvCxnSpPr>
        <p:spPr>
          <a:xfrm>
            <a:off x="3919475" y="1992691"/>
            <a:ext cx="372000" cy="254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65" name="Google Shape;1265;p93"/>
          <p:cNvGraphicFramePr/>
          <p:nvPr/>
        </p:nvGraphicFramePr>
        <p:xfrm>
          <a:off x="771950" y="152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266" name="Google Shape;1266;p93"/>
          <p:cNvCxnSpPr/>
          <p:nvPr/>
        </p:nvCxnSpPr>
        <p:spPr>
          <a:xfrm>
            <a:off x="400200" y="16987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7" name="Google Shape;1267;p93"/>
          <p:cNvSpPr txBox="1"/>
          <p:nvPr/>
        </p:nvSpPr>
        <p:spPr>
          <a:xfrm>
            <a:off x="627900" y="180406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3"/>
          <p:cNvSpPr txBox="1"/>
          <p:nvPr/>
        </p:nvSpPr>
        <p:spPr>
          <a:xfrm>
            <a:off x="3266725" y="182741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9" name="Google Shape;126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919" y="1806137"/>
            <a:ext cx="2793499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795" y="1439350"/>
            <a:ext cx="2924524" cy="12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1" name="Google Shape;1271;p93"/>
          <p:cNvGraphicFramePr/>
          <p:nvPr/>
        </p:nvGraphicFramePr>
        <p:xfrm>
          <a:off x="779425" y="24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272" name="Google Shape;1272;p93"/>
          <p:cNvCxnSpPr/>
          <p:nvPr/>
        </p:nvCxnSpPr>
        <p:spPr>
          <a:xfrm>
            <a:off x="407675" y="263194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3" name="Google Shape;1273;p93"/>
          <p:cNvSpPr txBox="1"/>
          <p:nvPr/>
        </p:nvSpPr>
        <p:spPr>
          <a:xfrm>
            <a:off x="635375" y="273173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3"/>
          <p:cNvSpPr txBox="1"/>
          <p:nvPr/>
        </p:nvSpPr>
        <p:spPr>
          <a:xfrm>
            <a:off x="3274200" y="275508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5" name="Google Shape;127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394" y="2739312"/>
            <a:ext cx="2793499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270" y="2372525"/>
            <a:ext cx="2924524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=\frac{2\times3}{3\times3}=\frac{6}{9}&quot;&gt;&lt;mfrac&gt;&lt;mn&gt;2&lt;/mn&gt;&lt;mn&gt;3&lt;/mn&gt;&lt;/mfrac&gt;&lt;mo&gt;=&lt;/mo&gt;&lt;mfrac&gt;&lt;mrow&gt;&lt;mn&gt;2&lt;/mn&gt;&lt;mo&gt;×&lt;/mo&gt;&lt;mn&gt;3&lt;/mn&gt;&lt;/mrow&gt;&lt;mrow&gt;&lt;mn&gt;3&lt;/mn&gt;&lt;mo&gt;×&lt;/mo&gt;&lt;mn&gt;3&lt;/mn&gt;&lt;/mrow&gt;&lt;/mfrac&gt;&lt;mo&gt;=&lt;/mo&gt;&lt;mfrac&gt;&lt;mn&gt;6&lt;/mn&gt;&lt;mn&gt;9&lt;/mn&gt;&lt;/mfrac&gt;&lt;/math&gt;" id="1277" name="Google Shape;1277;p93" title="two thirds equals the fraction with numerator 2 times 3 and denominator 3 times 3 equals six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5550" y="1232399"/>
            <a:ext cx="2637450" cy="855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8" name="Google Shape;1278;p93"/>
          <p:cNvGraphicFramePr/>
          <p:nvPr/>
        </p:nvGraphicFramePr>
        <p:xfrm>
          <a:off x="627900" y="42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119800"/>
                <a:gridCol w="1119800"/>
                <a:gridCol w="111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9" name="Google Shape;1279;p93"/>
          <p:cNvGraphicFramePr/>
          <p:nvPr/>
        </p:nvGraphicFramePr>
        <p:xfrm>
          <a:off x="4524286" y="4255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119800"/>
                <a:gridCol w="1119800"/>
                <a:gridCol w="111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0" name="Google Shape;1280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8936" y="4386004"/>
            <a:ext cx="293700" cy="135102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93"/>
          <p:cNvSpPr txBox="1"/>
          <p:nvPr/>
        </p:nvSpPr>
        <p:spPr>
          <a:xfrm>
            <a:off x="377400" y="699900"/>
            <a:ext cx="82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Show          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1282" name="Google Shape;1282;p93" title="two thirds equals six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20" y="675995"/>
            <a:ext cx="737753" cy="5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93"/>
          <p:cNvSpPr/>
          <p:nvPr/>
        </p:nvSpPr>
        <p:spPr>
          <a:xfrm>
            <a:off x="6763870" y="1191550"/>
            <a:ext cx="9054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3"/>
          <p:cNvSpPr/>
          <p:nvPr/>
        </p:nvSpPr>
        <p:spPr>
          <a:xfrm>
            <a:off x="6771570" y="1800925"/>
            <a:ext cx="905400" cy="33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3"/>
          <p:cNvSpPr txBox="1"/>
          <p:nvPr/>
        </p:nvSpPr>
        <p:spPr>
          <a:xfrm>
            <a:off x="2375800" y="699900"/>
            <a:ext cx="63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numbers lines, bar models and multiplication of 1.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gap to show the fraction, working out and </a:t>
            </a:r>
            <a:r>
              <a:rPr b="1" lang="en-GB"/>
              <a:t>equivalent </a:t>
            </a:r>
            <a:r>
              <a:rPr b="1" lang="en-GB"/>
              <a:t>fraction</a:t>
            </a:r>
            <a:r>
              <a:rPr lang="en-GB"/>
              <a:t>.</a:t>
            </a:r>
            <a:endParaRPr/>
          </a:p>
        </p:txBody>
      </p:sp>
      <p:sp>
        <p:nvSpPr>
          <p:cNvPr id="1291" name="Google Shape;1291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292" name="Google Shape;1292;p94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76253" l="0" r="0" t="0"/>
          <a:stretch/>
        </p:blipFill>
        <p:spPr>
          <a:xfrm>
            <a:off x="1116825" y="1737150"/>
            <a:ext cx="2922575" cy="7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4"/>
          <p:cNvSpPr txBox="1"/>
          <p:nvPr/>
        </p:nvSpPr>
        <p:spPr>
          <a:xfrm>
            <a:off x="324000" y="1620000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294" name="Google Shape;1294;p94"/>
          <p:cNvSpPr txBox="1"/>
          <p:nvPr/>
        </p:nvSpPr>
        <p:spPr>
          <a:xfrm>
            <a:off x="324000" y="3346425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295" name="Google Shape;1295;p94"/>
          <p:cNvSpPr txBox="1"/>
          <p:nvPr/>
        </p:nvSpPr>
        <p:spPr>
          <a:xfrm>
            <a:off x="4708775" y="1620000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296" name="Google Shape;1296;p94"/>
          <p:cNvSpPr txBox="1"/>
          <p:nvPr/>
        </p:nvSpPr>
        <p:spPr>
          <a:xfrm>
            <a:off x="4708775" y="3346425"/>
            <a:ext cx="71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297" name="Google Shape;1297;p94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52320" l="0" r="0" t="23933"/>
          <a:stretch/>
        </p:blipFill>
        <p:spPr>
          <a:xfrm>
            <a:off x="944400" y="3346425"/>
            <a:ext cx="2922575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298" name="Google Shape;1298;p94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24508" l="0" r="0" t="51745"/>
          <a:stretch/>
        </p:blipFill>
        <p:spPr>
          <a:xfrm>
            <a:off x="5380100" y="1701750"/>
            <a:ext cx="2922575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1299" name="Google Shape;1299;p94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0" l="0" r="0" t="76253"/>
          <a:stretch/>
        </p:blipFill>
        <p:spPr>
          <a:xfrm>
            <a:off x="5339050" y="3421350"/>
            <a:ext cx="2922575" cy="7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94"/>
          <p:cNvSpPr/>
          <p:nvPr/>
        </p:nvSpPr>
        <p:spPr>
          <a:xfrm>
            <a:off x="2100584" y="1654300"/>
            <a:ext cx="6102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94"/>
          <p:cNvSpPr/>
          <p:nvPr/>
        </p:nvSpPr>
        <p:spPr>
          <a:xfrm>
            <a:off x="2100584" y="2123250"/>
            <a:ext cx="6102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4"/>
          <p:cNvSpPr/>
          <p:nvPr/>
        </p:nvSpPr>
        <p:spPr>
          <a:xfrm>
            <a:off x="3486279" y="3346425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4"/>
          <p:cNvSpPr/>
          <p:nvPr/>
        </p:nvSpPr>
        <p:spPr>
          <a:xfrm>
            <a:off x="3486279" y="3780000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4"/>
          <p:cNvSpPr/>
          <p:nvPr/>
        </p:nvSpPr>
        <p:spPr>
          <a:xfrm>
            <a:off x="1957685" y="3346425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94"/>
          <p:cNvSpPr/>
          <p:nvPr/>
        </p:nvSpPr>
        <p:spPr>
          <a:xfrm>
            <a:off x="1957674" y="3780000"/>
            <a:ext cx="4734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4"/>
          <p:cNvSpPr/>
          <p:nvPr/>
        </p:nvSpPr>
        <p:spPr>
          <a:xfrm>
            <a:off x="5297354" y="1654300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4"/>
          <p:cNvSpPr/>
          <p:nvPr/>
        </p:nvSpPr>
        <p:spPr>
          <a:xfrm>
            <a:off x="6738879" y="2087850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4"/>
          <p:cNvSpPr/>
          <p:nvPr/>
        </p:nvSpPr>
        <p:spPr>
          <a:xfrm>
            <a:off x="6738879" y="1654300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94"/>
          <p:cNvSpPr/>
          <p:nvPr/>
        </p:nvSpPr>
        <p:spPr>
          <a:xfrm>
            <a:off x="7880929" y="3442425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4"/>
          <p:cNvSpPr/>
          <p:nvPr/>
        </p:nvSpPr>
        <p:spPr>
          <a:xfrm>
            <a:off x="6458375" y="3869625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4"/>
          <p:cNvSpPr/>
          <p:nvPr/>
        </p:nvSpPr>
        <p:spPr>
          <a:xfrm>
            <a:off x="7037450" y="3442425"/>
            <a:ext cx="311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4"/>
          <p:cNvSpPr/>
          <p:nvPr/>
        </p:nvSpPr>
        <p:spPr>
          <a:xfrm>
            <a:off x="5380100" y="3869625"/>
            <a:ext cx="3807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Property of multiplication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18" name="Google Shape;1318;p95"/>
          <p:cNvGraphicFramePr/>
          <p:nvPr/>
        </p:nvGraphicFramePr>
        <p:xfrm>
          <a:off x="3254225" y="6363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</a:tblGrid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319" name="Google Shape;1319;p95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3324" y="2200763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320" name="Google Shape;1320;p95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0347" y="64197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21" name="Google Shape;1321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5833" y="64196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322" name="Google Shape;1322;p95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4805" y="63487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323" name="Google Shape;1323;p95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0123" y="1175326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324" name="Google Shape;1324;p95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6283" y="634875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25" name="Google Shape;1325;p95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28078" y="116650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326" name="Google Shape;1326;p95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44159" y="2211517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27" name="Google Shape;1327;p95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29162" y="1175324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28" name="Google Shape;1328;p95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9706" y="1679399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29" name="Google Shape;1329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26275" y="37892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30" name="Google Shape;1330;p95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33333" y="432000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331" name="Google Shape;1331;p95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3331" y="378000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332" name="Google Shape;1332;p95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4067" y="641971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33" name="Google Shape;1333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0265" y="1690952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334" name="Google Shape;1334;p95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4800" y="272837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335" name="Google Shape;1335;p95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0130" y="3250623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336" name="Google Shape;1336;p95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0940" y="641974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337" name="Google Shape;1337;p95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699" y="327190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338" name="Google Shape;1338;p95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3180" y="1706011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339" name="Google Shape;1339;p95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8498" y="2246464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40" name="Google Shape;1340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8640" y="276209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41" name="Google Shape;1341;p95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41708" y="116552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342" name="Google Shape;1342;p95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706" y="64195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43" name="Google Shape;1343;p95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08708" y="64197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1344" name="Google Shape;1344;p95" title="5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8505" y="3803998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345" name="Google Shape;1345;p95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5411" y="431888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346" name="Google Shape;1346;p95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31346" y="431178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347" name="Google Shape;1347;p95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9131" y="431888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348" name="Google Shape;1348;p95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6004" y="4318888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49" name="Google Shape;1349;p95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53771" y="4318891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50" name="Google Shape;1350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8508" y="433256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1351" name="Google Shape;1351;p95" title="1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7480" y="432547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52" name="Google Shape;1352;p95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23533" y="326890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353" name="Google Shape;1353;p95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5611" y="326778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1354" name="Google Shape;1354;p95" title="4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21546" y="326068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355" name="Google Shape;1355;p95" title="thre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331" y="326778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56" name="Google Shape;1356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0940" y="276209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57" name="Google Shape;1357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5053" y="273546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58" name="Google Shape;1358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5815" y="1709127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1359" name="Google Shape;1359;p95" title="30 over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3590" y="168871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60" name="Google Shape;1360;p95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51253" y="275846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361" name="Google Shape;1361;p95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42296" y="168909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62" name="Google Shape;1362;p95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69562" y="222658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63" name="Google Shape;1363;p95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29156" y="1666631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64" name="Google Shape;1364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93999" y="2222814"/>
            <a:ext cx="285965" cy="51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}{110}&quot;&gt;&lt;mfrac&gt;&lt;mn&gt;80&lt;/mn&gt;&lt;mn&gt;110&lt;/mn&gt;&lt;/mfrac&gt;&lt;/math&gt;" id="1365" name="Google Shape;1365;p95" title="80 over 1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924387" y="3265053"/>
            <a:ext cx="387550" cy="494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66" name="Google Shape;1366;p95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1378" y="275519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367" name="Google Shape;1367;p95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62209" y="3800818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68" name="Google Shape;1368;p95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78474" y="3765426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69" name="Google Shape;1369;p95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87931" y="2733917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70" name="Google Shape;1370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97525" y="2726175"/>
            <a:ext cx="269925" cy="486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71" name="Google Shape;1371;p95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91091" y="222548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372" name="Google Shape;1372;p95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52609" y="223676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73" name="Google Shape;1373;p95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52587" y="2226582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74" name="Google Shape;1374;p95" title="four seve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26104" y="1144956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75" name="Google Shape;1375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74525" y="1701149"/>
            <a:ext cx="266025" cy="479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76" name="Google Shape;1376;p95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70216" y="329176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77" name="Google Shape;1377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33487" y="38025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78" name="Google Shape;1378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21662" y="38066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1379" name="Google Shape;1379;p95" title="two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27009" y="120149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80" name="Google Shape;1380;p95" title="thre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43274" y="116610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81" name="Google Shape;1381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86462" y="1207374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82" name="Google Shape;1382;p95" title="8 over 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255987" y="38061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95"/>
          <p:cNvPicPr preferRelativeResize="0"/>
          <p:nvPr/>
        </p:nvPicPr>
        <p:blipFill rotWithShape="1">
          <a:blip r:embed="rId16">
            <a:alphaModFix/>
          </a:blip>
          <a:srcRect b="616" l="276" r="879" t="0"/>
          <a:stretch/>
        </p:blipFill>
        <p:spPr>
          <a:xfrm>
            <a:off x="3228000" y="614075"/>
            <a:ext cx="4780801" cy="419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95"/>
          <p:cNvSpPr txBox="1"/>
          <p:nvPr>
            <p:ph idx="1" type="body"/>
          </p:nvPr>
        </p:nvSpPr>
        <p:spPr>
          <a:xfrm>
            <a:off x="324000" y="1080000"/>
            <a:ext cx="25095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Shade in all of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85" name="Google Shape;1385;p95" title="one thir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81185" y="1788589"/>
            <a:ext cx="148972" cy="493023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95"/>
          <p:cNvSpPr txBox="1"/>
          <p:nvPr>
            <p:ph idx="1" type="body"/>
          </p:nvPr>
        </p:nvSpPr>
        <p:spPr>
          <a:xfrm>
            <a:off x="324000" y="1461000"/>
            <a:ext cx="25095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equivalent</a:t>
            </a:r>
            <a:endParaRPr/>
          </a:p>
        </p:txBody>
      </p:sp>
      <p:sp>
        <p:nvSpPr>
          <p:cNvPr id="1387" name="Google Shape;1387;p95"/>
          <p:cNvSpPr txBox="1"/>
          <p:nvPr>
            <p:ph idx="1" type="body"/>
          </p:nvPr>
        </p:nvSpPr>
        <p:spPr>
          <a:xfrm>
            <a:off x="324000" y="1842000"/>
            <a:ext cx="25095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fractions</a:t>
            </a:r>
            <a:endParaRPr/>
          </a:p>
        </p:txBody>
      </p:sp>
      <p:sp>
        <p:nvSpPr>
          <p:cNvPr id="1388" name="Google Shape;1388;p95"/>
          <p:cNvSpPr txBox="1"/>
          <p:nvPr>
            <p:ph idx="1" type="body"/>
          </p:nvPr>
        </p:nvSpPr>
        <p:spPr>
          <a:xfrm>
            <a:off x="324000" y="2223000"/>
            <a:ext cx="25095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reveal a picture.</a:t>
            </a:r>
            <a:endParaRPr/>
          </a:p>
        </p:txBody>
      </p:sp>
      <p:sp>
        <p:nvSpPr>
          <p:cNvPr id="1389" name="Google Shape;1389;p95"/>
          <p:cNvSpPr txBox="1"/>
          <p:nvPr>
            <p:ph idx="1" type="body"/>
          </p:nvPr>
        </p:nvSpPr>
        <p:spPr>
          <a:xfrm>
            <a:off x="1652200" y="1842000"/>
            <a:ext cx="13335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</a:t>
            </a:r>
            <a:endParaRPr/>
          </a:p>
        </p:txBody>
      </p:sp>
      <p:sp>
        <p:nvSpPr>
          <p:cNvPr id="1390" name="Google Shape;1390;p95"/>
          <p:cNvSpPr txBox="1"/>
          <p:nvPr>
            <p:ph idx="1" type="body"/>
          </p:nvPr>
        </p:nvSpPr>
        <p:spPr>
          <a:xfrm>
            <a:off x="2390575" y="1842000"/>
            <a:ext cx="7476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325" y="1157875"/>
            <a:ext cx="4677176" cy="8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graphicFrame>
        <p:nvGraphicFramePr>
          <p:cNvPr id="1397" name="Google Shape;1397;p96"/>
          <p:cNvGraphicFramePr/>
          <p:nvPr/>
        </p:nvGraphicFramePr>
        <p:xfrm>
          <a:off x="437600" y="11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586400"/>
                <a:gridCol w="586400"/>
                <a:gridCol w="586400"/>
                <a:gridCol w="586400"/>
                <a:gridCol w="586400"/>
              </a:tblGrid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1398" name="Google Shape;1398;p96" title="two fifths equals four tenths equals 6 over 15 8 over 20 10 over 25"/>
          <p:cNvPicPr preferRelativeResize="0"/>
          <p:nvPr/>
        </p:nvPicPr>
        <p:blipFill rotWithShape="1">
          <a:blip r:embed="rId4">
            <a:alphaModFix/>
          </a:blip>
          <a:srcRect b="0" l="63281" r="16673" t="0"/>
          <a:stretch/>
        </p:blipFill>
        <p:spPr>
          <a:xfrm>
            <a:off x="6924375" y="3932550"/>
            <a:ext cx="576900" cy="5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1399" name="Google Shape;1399;p96" title="two fifths equals four tenths equals 6 over 15 8 over 20 10 over 25"/>
          <p:cNvPicPr preferRelativeResize="0"/>
          <p:nvPr/>
        </p:nvPicPr>
        <p:blipFill rotWithShape="1">
          <a:blip r:embed="rId4">
            <a:alphaModFix/>
          </a:blip>
          <a:srcRect b="0" l="0" r="92248" t="0"/>
          <a:stretch/>
        </p:blipFill>
        <p:spPr>
          <a:xfrm>
            <a:off x="6375899" y="3932550"/>
            <a:ext cx="223074" cy="5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96"/>
          <p:cNvSpPr txBox="1"/>
          <p:nvPr/>
        </p:nvSpPr>
        <p:spPr>
          <a:xfrm>
            <a:off x="7347475" y="3999575"/>
            <a:ext cx="8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1401" name="Google Shape;1401;p96" title="two fifths equals four tenths equals 6 over 15 8 over 20 10 over 25"/>
          <p:cNvPicPr preferRelativeResize="0"/>
          <p:nvPr/>
        </p:nvPicPr>
        <p:blipFill rotWithShape="1">
          <a:blip r:embed="rId4">
            <a:alphaModFix/>
          </a:blip>
          <a:srcRect b="0" l="87744" r="-2195" t="0"/>
          <a:stretch/>
        </p:blipFill>
        <p:spPr>
          <a:xfrm>
            <a:off x="7881600" y="3932550"/>
            <a:ext cx="415901" cy="5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6"/>
          <p:cNvSpPr/>
          <p:nvPr/>
        </p:nvSpPr>
        <p:spPr>
          <a:xfrm>
            <a:off x="447250" y="1620075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6"/>
          <p:cNvSpPr/>
          <p:nvPr/>
        </p:nvSpPr>
        <p:spPr>
          <a:xfrm>
            <a:off x="447250" y="3045125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6"/>
          <p:cNvSpPr/>
          <p:nvPr/>
        </p:nvSpPr>
        <p:spPr>
          <a:xfrm>
            <a:off x="1029600" y="16200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6"/>
          <p:cNvSpPr/>
          <p:nvPr/>
        </p:nvSpPr>
        <p:spPr>
          <a:xfrm>
            <a:off x="1029600" y="30456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96"/>
          <p:cNvSpPr/>
          <p:nvPr/>
        </p:nvSpPr>
        <p:spPr>
          <a:xfrm>
            <a:off x="1615150" y="16200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6"/>
          <p:cNvSpPr/>
          <p:nvPr/>
        </p:nvSpPr>
        <p:spPr>
          <a:xfrm>
            <a:off x="1615150" y="3045600"/>
            <a:ext cx="576900" cy="480300"/>
          </a:xfrm>
          <a:prstGeom prst="rect">
            <a:avLst/>
          </a:prstGeom>
          <a:solidFill>
            <a:srgbClr val="808080">
              <a:alpha val="471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6"/>
          <p:cNvSpPr txBox="1"/>
          <p:nvPr/>
        </p:nvSpPr>
        <p:spPr>
          <a:xfrm>
            <a:off x="340529" y="612024"/>
            <a:ext cx="43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Here is a 5 by 5 multiplication grid.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1409" name="Google Shape;1409;p96" title="two fifths equals four tenths equals 6 over 15 8 over 20 10 over 25"/>
          <p:cNvPicPr preferRelativeResize="0"/>
          <p:nvPr/>
        </p:nvPicPr>
        <p:blipFill rotWithShape="1">
          <a:blip r:embed="rId4">
            <a:alphaModFix/>
          </a:blip>
          <a:srcRect b="0" l="0" r="37378" t="0"/>
          <a:stretch/>
        </p:blipFill>
        <p:spPr>
          <a:xfrm>
            <a:off x="5028275" y="2249725"/>
            <a:ext cx="1802274" cy="5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96"/>
          <p:cNvSpPr txBox="1"/>
          <p:nvPr/>
        </p:nvSpPr>
        <p:spPr>
          <a:xfrm>
            <a:off x="3563450" y="1933800"/>
            <a:ext cx="12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sees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1" name="Google Shape;141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250" y="3670050"/>
            <a:ext cx="5360100" cy="632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=\frac{2}{8}=\frac{3}{12}=\frac{4}{16}=\frac{5}{20}&quot;&gt;&lt;mfrac&gt;&lt;mn&gt;1&lt;/mn&gt;&lt;mn&gt;4&lt;/mn&gt;&lt;/mfrac&gt;&lt;mo&gt;=&lt;/mo&gt;&lt;mfrac&gt;&lt;mn&gt;2&lt;/mn&gt;&lt;mn&gt;8&lt;/mn&gt;&lt;/mfrac&gt;&lt;mo&gt;=&lt;/mo&gt;&lt;mfrac&gt;&lt;mn&gt;3&lt;/mn&gt;&lt;mn&gt;12&lt;/mn&gt;&lt;/mfrac&gt;&lt;mo&gt;=&lt;/mo&gt;&lt;mfrac&gt;&lt;mn&gt;4&lt;/mn&gt;&lt;mn&gt;16&lt;/mn&gt;&lt;/mfrac&gt;&lt;mo&gt;=&lt;/mo&gt;&lt;mfrac&gt;&lt;mn&gt;5&lt;/mn&gt;&lt;mn&gt;20&lt;/mn&gt;&lt;/mfrac&gt;&lt;/math&gt;" id="1412" name="Google Shape;1412;p96" title="one fourth equals two eighths equals 3 over 12 equals 4 over 16 equals 5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2450" y="4137925"/>
            <a:ext cx="3005829" cy="5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0825" y="2981137"/>
            <a:ext cx="4677176" cy="705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8" name="Google Shape;1418;p97"/>
          <p:cNvGraphicFramePr/>
          <p:nvPr/>
        </p:nvGraphicFramePr>
        <p:xfrm>
          <a:off x="779425" y="24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9" name="Google Shape;1419;p97"/>
          <p:cNvGraphicFramePr/>
          <p:nvPr/>
        </p:nvGraphicFramePr>
        <p:xfrm>
          <a:off x="763659" y="1521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20" name="Google Shape;1420;p97"/>
          <p:cNvCxnSpPr/>
          <p:nvPr/>
        </p:nvCxnSpPr>
        <p:spPr>
          <a:xfrm>
            <a:off x="391909" y="1697052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1" name="Google Shape;1421;p97"/>
          <p:cNvSpPr txBox="1"/>
          <p:nvPr/>
        </p:nvSpPr>
        <p:spPr>
          <a:xfrm>
            <a:off x="619609" y="1802351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7"/>
          <p:cNvSpPr txBox="1"/>
          <p:nvPr/>
        </p:nvSpPr>
        <p:spPr>
          <a:xfrm>
            <a:off x="3258434" y="1825701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Property of multiplication</a:t>
            </a:r>
            <a:endParaRPr/>
          </a:p>
        </p:txBody>
      </p:sp>
      <p:sp>
        <p:nvSpPr>
          <p:cNvPr id="1424" name="Google Shape;1424;p97"/>
          <p:cNvSpPr/>
          <p:nvPr/>
        </p:nvSpPr>
        <p:spPr>
          <a:xfrm rot="-5635024">
            <a:off x="4093744" y="1970914"/>
            <a:ext cx="1718514" cy="2067200"/>
          </a:xfrm>
          <a:prstGeom prst="cloud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1425" name="Google Shape;1425;p97" title="two thirds equals six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188" y="2538225"/>
            <a:ext cx="1229625" cy="93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6" name="Google Shape;1426;p97"/>
          <p:cNvCxnSpPr/>
          <p:nvPr/>
        </p:nvCxnSpPr>
        <p:spPr>
          <a:xfrm flipH="1" rot="10800000">
            <a:off x="5507925" y="2020300"/>
            <a:ext cx="293700" cy="327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97"/>
          <p:cNvCxnSpPr/>
          <p:nvPr/>
        </p:nvCxnSpPr>
        <p:spPr>
          <a:xfrm flipH="1">
            <a:off x="4304700" y="3742200"/>
            <a:ext cx="350400" cy="405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8" name="Google Shape;1428;p97"/>
          <p:cNvCxnSpPr/>
          <p:nvPr/>
        </p:nvCxnSpPr>
        <p:spPr>
          <a:xfrm>
            <a:off x="3919475" y="1992691"/>
            <a:ext cx="372000" cy="254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97"/>
          <p:cNvCxnSpPr/>
          <p:nvPr/>
        </p:nvCxnSpPr>
        <p:spPr>
          <a:xfrm>
            <a:off x="400200" y="16987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0" name="Google Shape;1430;p97"/>
          <p:cNvSpPr txBox="1"/>
          <p:nvPr/>
        </p:nvSpPr>
        <p:spPr>
          <a:xfrm>
            <a:off x="627900" y="180406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97"/>
          <p:cNvSpPr txBox="1"/>
          <p:nvPr/>
        </p:nvSpPr>
        <p:spPr>
          <a:xfrm>
            <a:off x="3266725" y="182741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2" name="Google Shape;1432;p97"/>
          <p:cNvCxnSpPr/>
          <p:nvPr/>
        </p:nvCxnSpPr>
        <p:spPr>
          <a:xfrm>
            <a:off x="407675" y="263194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3" name="Google Shape;1433;p97"/>
          <p:cNvSpPr txBox="1"/>
          <p:nvPr/>
        </p:nvSpPr>
        <p:spPr>
          <a:xfrm>
            <a:off x="635375" y="273173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7"/>
          <p:cNvSpPr txBox="1"/>
          <p:nvPr/>
        </p:nvSpPr>
        <p:spPr>
          <a:xfrm>
            <a:off x="3274200" y="2755084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2\times3}{3\times3}=\frac{6}{9}&quot;&gt;&lt;mfrac&gt;&lt;mn&gt;2&lt;/mn&gt;&lt;mn&gt;3&lt;/mn&gt;&lt;/mfrac&gt;&lt;mo&gt;=&lt;/mo&gt;&lt;mfrac&gt;&lt;mrow&gt;&lt;mn&gt;2&lt;/mn&gt;&lt;mo&gt;×&lt;/mo&gt;&lt;mn&gt;3&lt;/mn&gt;&lt;/mrow&gt;&lt;mrow&gt;&lt;mn&gt;3&lt;/mn&gt;&lt;mo&gt;×&lt;/mo&gt;&lt;mn&gt;3&lt;/mn&gt;&lt;/mrow&gt;&lt;/mfrac&gt;&lt;mo&gt;=&lt;/mo&gt;&lt;mfrac&gt;&lt;mn&gt;6&lt;/mn&gt;&lt;mn&gt;9&lt;/mn&gt;&lt;/mfrac&gt;&lt;/math&gt;" id="1435" name="Google Shape;1435;p97" title="two thirds equals the fraction with numerator 2 times 3 and denominator 3 times 3 equals six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550" y="1232399"/>
            <a:ext cx="2637450" cy="8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8936" y="4386004"/>
            <a:ext cx="293700" cy="1351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97"/>
          <p:cNvSpPr/>
          <p:nvPr/>
        </p:nvSpPr>
        <p:spPr>
          <a:xfrm>
            <a:off x="6763870" y="1191550"/>
            <a:ext cx="9054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97"/>
          <p:cNvSpPr/>
          <p:nvPr/>
        </p:nvSpPr>
        <p:spPr>
          <a:xfrm>
            <a:off x="6771570" y="1800925"/>
            <a:ext cx="905400" cy="331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39" name="Google Shape;1439;p97"/>
          <p:cNvGraphicFramePr/>
          <p:nvPr/>
        </p:nvGraphicFramePr>
        <p:xfrm>
          <a:off x="771950" y="152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40" name="Google Shape;1440;p97"/>
          <p:cNvCxnSpPr/>
          <p:nvPr/>
        </p:nvCxnSpPr>
        <p:spPr>
          <a:xfrm>
            <a:off x="400200" y="16987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441" name="Google Shape;1441;p97"/>
          <p:cNvGraphicFramePr/>
          <p:nvPr/>
        </p:nvGraphicFramePr>
        <p:xfrm>
          <a:off x="779425" y="24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42" name="Google Shape;1442;p97"/>
          <p:cNvCxnSpPr/>
          <p:nvPr/>
        </p:nvCxnSpPr>
        <p:spPr>
          <a:xfrm>
            <a:off x="407675" y="263194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443" name="Google Shape;1443;p97"/>
          <p:cNvGraphicFramePr/>
          <p:nvPr/>
        </p:nvGraphicFramePr>
        <p:xfrm>
          <a:off x="627900" y="42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119800"/>
                <a:gridCol w="1119800"/>
                <a:gridCol w="111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4" name="Google Shape;1444;p97"/>
          <p:cNvGraphicFramePr/>
          <p:nvPr/>
        </p:nvGraphicFramePr>
        <p:xfrm>
          <a:off x="4524286" y="4255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373275"/>
                <a:gridCol w="373275"/>
                <a:gridCol w="373275"/>
                <a:gridCol w="373275"/>
                <a:gridCol w="373275"/>
                <a:gridCol w="373275"/>
                <a:gridCol w="373275"/>
                <a:gridCol w="373275"/>
                <a:gridCol w="373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5" name="Google Shape;1445;p97"/>
          <p:cNvGraphicFramePr/>
          <p:nvPr/>
        </p:nvGraphicFramePr>
        <p:xfrm>
          <a:off x="627900" y="42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119800"/>
                <a:gridCol w="1119800"/>
                <a:gridCol w="111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6" name="Google Shape;1446;p97"/>
          <p:cNvGraphicFramePr/>
          <p:nvPr/>
        </p:nvGraphicFramePr>
        <p:xfrm>
          <a:off x="4524286" y="4255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{94C248E7-A1EC-461E-9D1D-4BF1A02AE78F}</a:tableStyleId>
              </a:tblPr>
              <a:tblGrid>
                <a:gridCol w="1119800"/>
                <a:gridCol w="1119800"/>
                <a:gridCol w="111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7" name="Google Shape;1447;p97"/>
          <p:cNvSpPr txBox="1"/>
          <p:nvPr/>
        </p:nvSpPr>
        <p:spPr>
          <a:xfrm>
            <a:off x="377400" y="699900"/>
            <a:ext cx="82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Show          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1448" name="Google Shape;1448;p97" title="two thirds equals six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20" y="675995"/>
            <a:ext cx="737753" cy="5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97"/>
          <p:cNvSpPr txBox="1"/>
          <p:nvPr/>
        </p:nvSpPr>
        <p:spPr>
          <a:xfrm>
            <a:off x="2375800" y="699900"/>
            <a:ext cx="63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numbers lines, bar models and multiplication of 1.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98"/>
          <p:cNvSpPr txBox="1"/>
          <p:nvPr>
            <p:ph idx="1" type="body"/>
          </p:nvPr>
        </p:nvSpPr>
        <p:spPr>
          <a:xfrm>
            <a:off x="324000" y="805950"/>
            <a:ext cx="8113800" cy="4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Two fractions are </a:t>
            </a:r>
            <a:r>
              <a:rPr b="1" lang="en-GB" sz="2000"/>
              <a:t>equivalent</a:t>
            </a:r>
            <a:r>
              <a:rPr lang="en-GB" sz="2000"/>
              <a:t> if they have the same value.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55" name="Google Shape;1455;p9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sp>
        <p:nvSpPr>
          <p:cNvPr id="1456" name="Google Shape;1456;p98"/>
          <p:cNvSpPr txBox="1"/>
          <p:nvPr>
            <p:ph idx="1" type="body"/>
          </p:nvPr>
        </p:nvSpPr>
        <p:spPr>
          <a:xfrm>
            <a:off x="369675" y="3079250"/>
            <a:ext cx="8113800" cy="4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different ways to show </a:t>
            </a:r>
            <a:r>
              <a:rPr b="1" lang="en-GB" sz="2000"/>
              <a:t>equivalent fractions</a:t>
            </a:r>
            <a:r>
              <a:rPr lang="en-GB" sz="2000"/>
              <a:t>. For example, number lines, bar models and multiplying by 1.</a:t>
            </a:r>
            <a:endParaRPr sz="2000"/>
          </a:p>
        </p:txBody>
      </p:sp>
      <p:sp>
        <p:nvSpPr>
          <p:cNvPr id="1457" name="Google Shape;1457;p98"/>
          <p:cNvSpPr txBox="1"/>
          <p:nvPr>
            <p:ph idx="1" type="body"/>
          </p:nvPr>
        </p:nvSpPr>
        <p:spPr>
          <a:xfrm>
            <a:off x="375566" y="4154400"/>
            <a:ext cx="8113800" cy="4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method of multiplying by 1 is most effective as it saves time.</a:t>
            </a:r>
            <a:endParaRPr sz="2000"/>
          </a:p>
        </p:txBody>
      </p:sp>
      <p:sp>
        <p:nvSpPr>
          <p:cNvPr id="1458" name="Google Shape;1458;p98"/>
          <p:cNvSpPr txBox="1"/>
          <p:nvPr>
            <p:ph idx="4294967295" type="subTitle"/>
          </p:nvPr>
        </p:nvSpPr>
        <p:spPr>
          <a:xfrm>
            <a:off x="1078439" y="142214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Example</a:t>
            </a:r>
            <a:endParaRPr b="0" sz="200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1459" name="Google Shape;1459;p98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0" l="0" r="70872" t="0"/>
          <a:stretch/>
        </p:blipFill>
        <p:spPr>
          <a:xfrm>
            <a:off x="1119625" y="1909075"/>
            <a:ext cx="1273871" cy="71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98"/>
          <p:cNvSpPr txBox="1"/>
          <p:nvPr>
            <p:ph idx="4294967295" type="subTitle"/>
          </p:nvPr>
        </p:nvSpPr>
        <p:spPr>
          <a:xfrm>
            <a:off x="3657001" y="142214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Example</a:t>
            </a:r>
            <a:endParaRPr b="0" sz="200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1461" name="Google Shape;1461;p98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753" l="34396" r="36476" t="-8273"/>
          <a:stretch/>
        </p:blipFill>
        <p:spPr>
          <a:xfrm>
            <a:off x="3597390" y="1848600"/>
            <a:ext cx="1273871" cy="8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98"/>
          <p:cNvSpPr txBox="1"/>
          <p:nvPr>
            <p:ph idx="4294967295" type="subTitle"/>
          </p:nvPr>
        </p:nvSpPr>
        <p:spPr>
          <a:xfrm>
            <a:off x="6434678" y="1422150"/>
            <a:ext cx="1733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Non e</a:t>
            </a:r>
            <a:r>
              <a:rPr b="0" lang="en-GB" sz="2000"/>
              <a:t>xample</a:t>
            </a:r>
            <a:endParaRPr b="0" sz="200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1463" name="Google Shape;1463;p98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507" l="73727" r="-2854" t="-8519"/>
          <a:stretch/>
        </p:blipFill>
        <p:spPr>
          <a:xfrm>
            <a:off x="6434679" y="1848600"/>
            <a:ext cx="1273871" cy="8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9" name="Google Shape;146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