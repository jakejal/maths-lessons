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BFA0D4-0A81-43A5-A531-3640CB6DD16A}">
  <a:tblStyle styleId="{82BFA0D4-0A81-43A5-A531-3640CB6DD1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9f668475b9_0_49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9f668475b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11.png"/><Relationship Id="rId13" Type="http://schemas.openxmlformats.org/officeDocument/2006/relationships/image" Target="../media/image25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Relationship Id="rId15" Type="http://schemas.openxmlformats.org/officeDocument/2006/relationships/image" Target="../media/image31.png"/><Relationship Id="rId14" Type="http://schemas.openxmlformats.org/officeDocument/2006/relationships/image" Target="../media/image27.png"/><Relationship Id="rId16" Type="http://schemas.openxmlformats.org/officeDocument/2006/relationships/image" Target="../media/image3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42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317" y="2116475"/>
            <a:ext cx="43815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05500" y="14387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Bar models and number lines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912275" y="2003200"/>
            <a:ext cx="1719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Lots of different ways as long as you have equal parts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6" name="Google Shape;176;p20"/>
          <p:cNvGraphicFramePr/>
          <p:nvPr/>
        </p:nvGraphicFramePr>
        <p:xfrm>
          <a:off x="475199" y="555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7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/>
          <p:nvPr/>
        </p:nvGraphicFramePr>
        <p:xfrm>
          <a:off x="467988" y="61586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784975"/>
                <a:gridCol w="784975"/>
                <a:gridCol w="784975"/>
                <a:gridCol w="784975"/>
                <a:gridCol w="784975"/>
                <a:gridCol w="784975"/>
                <a:gridCol w="784975"/>
              </a:tblGrid>
              <a:tr h="36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78" name="Google Shape;178;p20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9991" y="5558133"/>
            <a:ext cx="133377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179" name="Google Shape;179;p2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7672" y="6180720"/>
            <a:ext cx="133378" cy="43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4" y="7307850"/>
            <a:ext cx="6624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Incorrect. The bar that represents the whole must be the same length to compare fractions this way.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200" y="8552725"/>
            <a:ext cx="1203899" cy="14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1907287" y="8552725"/>
            <a:ext cx="51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is incorrect. Splitting the shape equally, there are 15 out of 25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907275" y="8971525"/>
            <a:ext cx="51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out of 25 shaded is not equivalent to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84" name="Google Shape;184;p20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2514" y="8943725"/>
            <a:ext cx="133375" cy="424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8">
            <a:alphaModFix/>
          </a:blip>
          <a:srcRect b="0" l="1054" r="423" t="960"/>
          <a:stretch/>
        </p:blipFill>
        <p:spPr>
          <a:xfrm>
            <a:off x="484041" y="8565007"/>
            <a:ext cx="1186217" cy="13892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0"/>
          <p:cNvCxnSpPr/>
          <p:nvPr/>
        </p:nvCxnSpPr>
        <p:spPr>
          <a:xfrm>
            <a:off x="466832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467175" y="1749900"/>
            <a:ext cx="330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88" name="Google Shape;188;p20" title="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80100" y="1622425"/>
            <a:ext cx="133375" cy="44140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772025" y="1749900"/>
            <a:ext cx="3306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012325" y="1749900"/>
            <a:ext cx="970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subdividing,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942050" y="1749900"/>
            <a:ext cx="5997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454350" y="1749900"/>
            <a:ext cx="8775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157525" y="1749900"/>
            <a:ext cx="483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513125" y="1749900"/>
            <a:ext cx="4584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805675" y="1749900"/>
            <a:ext cx="1105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94450" y="1749900"/>
            <a:ext cx="4833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4646550"/>
            <a:ext cx="760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67300" y="4646550"/>
            <a:ext cx="7785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044000" y="4646550"/>
            <a:ext cx="809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drew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435450" y="4646550"/>
            <a:ext cx="847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bar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861975" y="4646550"/>
            <a:ext cx="773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053500" y="4646550"/>
            <a:ext cx="75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53875" y="4875150"/>
            <a:ext cx="5879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 then drew another bar underneath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53875" y="5179950"/>
            <a:ext cx="11922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926425" y="5179950"/>
            <a:ext cx="12330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shows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06" name="Google Shape;206;p2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874" y="5179943"/>
            <a:ext cx="106200" cy="348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207" name="Google Shape;207;p20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3300" y="4663926"/>
            <a:ext cx="106191" cy="3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208" name="Google Shape;208;p20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675" y="6727700"/>
            <a:ext cx="157249" cy="50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209" name="Google Shape;209;p20" title="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4299" y="6722075"/>
            <a:ext cx="157250" cy="5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377675" y="6780150"/>
            <a:ext cx="7694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746400" y="6780150"/>
            <a:ext cx="717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138500" y="6780150"/>
            <a:ext cx="662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said,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549825" y="6780150"/>
            <a:ext cx="6065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“It shows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2295175" y="6780150"/>
            <a:ext cx="448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461950" y="6780150"/>
            <a:ext cx="439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729875" y="6780150"/>
            <a:ext cx="1192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323250" y="6780150"/>
            <a:ext cx="599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377675" y="7008750"/>
            <a:ext cx="76947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Sam correct? Explain why.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68000" y="7854625"/>
            <a:ext cx="6624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20" name="Google Shape;220;p20" title="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3750" y="7721425"/>
            <a:ext cx="133375" cy="42494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468000" y="8235625"/>
            <a:ext cx="6624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 can show your working out on the diagram.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33900" y="7854625"/>
            <a:ext cx="66105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1240900" y="7854625"/>
            <a:ext cx="61560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says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781250" y="7854625"/>
            <a:ext cx="5768100" cy="7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shaded. Is he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identity property of multiplication and division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1057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gap to show the fraction, working out and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Property of multiplication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32" name="Google Shape;232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76253" l="0" r="0" t="0"/>
          <a:stretch/>
        </p:blipFill>
        <p:spPr>
          <a:xfrm>
            <a:off x="1126214" y="1491659"/>
            <a:ext cx="2426359" cy="59551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468000" y="1394400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2827701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235" name="Google Shape;235;p21"/>
          <p:cNvSpPr txBox="1"/>
          <p:nvPr/>
        </p:nvSpPr>
        <p:spPr>
          <a:xfrm>
            <a:off x="4108297" y="1394400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/>
          </a:p>
        </p:txBody>
      </p:sp>
      <p:sp>
        <p:nvSpPr>
          <p:cNvPr id="236" name="Google Shape;236;p21"/>
          <p:cNvSpPr txBox="1"/>
          <p:nvPr/>
        </p:nvSpPr>
        <p:spPr>
          <a:xfrm>
            <a:off x="4108297" y="2827701"/>
            <a:ext cx="59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37" name="Google Shape;237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52320" l="0" r="0" t="23933"/>
          <a:stretch/>
        </p:blipFill>
        <p:spPr>
          <a:xfrm>
            <a:off x="983064" y="2827701"/>
            <a:ext cx="2426359" cy="595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38" name="Google Shape;238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24508" l="0" r="0" t="51745"/>
          <a:stretch/>
        </p:blipFill>
        <p:spPr>
          <a:xfrm>
            <a:off x="4665640" y="1462270"/>
            <a:ext cx="2426359" cy="595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9}=\ \frac{4\times2}{9\times2}=\frac{8}{18}\\&amp;#13;&amp;#10;\frac{7}{10}=\ \frac{7\times4}{10\times4}=\frac{28}{40}\\&amp;#13;&amp;#10;\frac{1}{3}=\ \frac{1\times8}{3\times8}=\frac{8}{24}\\&amp;#13;&amp;#10;\frac{12}{11}=\ \frac{12\times3}{11\times3}=\frac{36}{33}\end{array}\begin{array}{l}\\&amp;#13;&amp;#10;\end{array}&quot;&gt;&lt;mtable columnalign=&quot;left&quot; columnspacing=&quot;1em&quot; rowspacing=&quot;4pt&quot;&gt;&lt;mtr&gt;&lt;mtd&gt;&lt;mfrac&gt;&lt;mn&gt;4&lt;/mn&gt;&lt;mn&gt;9&lt;/mn&gt;&lt;/mfrac&gt;&lt;mo&gt;=&lt;/mo&gt;&lt;mtext&gt;&lt;/mtext&gt;&lt;mfrac&gt;&lt;mrow&gt;&lt;mn&gt;4&lt;/mn&gt;&lt;mo&gt;×&lt;/mo&gt;&lt;mn&gt;2&lt;/mn&gt;&lt;/mrow&gt;&lt;mrow&gt;&lt;mn&gt;9&lt;/mn&gt;&lt;mo&gt;×&lt;/mo&gt;&lt;mn&gt;2&lt;/mn&gt;&lt;/mrow&gt;&lt;/mfrac&gt;&lt;mo&gt;=&lt;/mo&gt;&lt;mfrac&gt;&lt;mn&gt;8&lt;/mn&gt;&lt;mn&gt;18&lt;/mn&gt;&lt;/mfrac&gt;&lt;/mtd&gt;&lt;/mtr&gt;&lt;mtr&gt;&lt;mtd&gt;&lt;mfrac&gt;&lt;mn&gt;7&lt;/mn&gt;&lt;mn&gt;10&lt;/mn&gt;&lt;/mfrac&gt;&lt;mo&gt;=&lt;/mo&gt;&lt;mtext&gt;&lt;/mtext&gt;&lt;mfrac&gt;&lt;mrow&gt;&lt;mn&gt;7&lt;/mn&gt;&lt;mo&gt;×&lt;/mo&gt;&lt;mn&gt;4&lt;/mn&gt;&lt;/mrow&gt;&lt;mrow&gt;&lt;mn&gt;10&lt;/mn&gt;&lt;mo&gt;×&lt;/mo&gt;&lt;mn&gt;4&lt;/mn&gt;&lt;/mrow&gt;&lt;/mfrac&gt;&lt;mo&gt;=&lt;/mo&gt;&lt;mfrac&gt;&lt;mn&gt;28&lt;/mn&gt;&lt;mn&gt;40&lt;/mn&gt;&lt;/mfrac&gt;&lt;/mtd&gt;&lt;/mtr&gt;&lt;mtr&gt;&lt;mtd&gt;&lt;mfrac&gt;&lt;mn&gt;1&lt;/mn&gt;&lt;mn&gt;3&lt;/mn&gt;&lt;/mfrac&gt;&lt;mo&gt;=&lt;/mo&gt;&lt;mtext&gt;&lt;/mtext&gt;&lt;mfrac&gt;&lt;mrow&gt;&lt;mn&gt;1&lt;/mn&gt;&lt;mo&gt;×&lt;/mo&gt;&lt;mn&gt;8&lt;/mn&gt;&lt;/mrow&gt;&lt;mrow&gt;&lt;mn&gt;3&lt;/mn&gt;&lt;mo&gt;×&lt;/mo&gt;&lt;mn&gt;8&lt;/mn&gt;&lt;/mrow&gt;&lt;/mfrac&gt;&lt;mo&gt;=&lt;/mo&gt;&lt;mfrac&gt;&lt;mn&gt;8&lt;/mn&gt;&lt;mn&gt;24&lt;/mn&gt;&lt;/mfrac&gt;&lt;/mtd&gt;&lt;/mtr&gt;&lt;mtr&gt;&lt;mtd&gt;&lt;mfrac&gt;&lt;mn&gt;12&lt;/mn&gt;&lt;mn&gt;11&lt;/mn&gt;&lt;/mfrac&gt;&lt;mo&gt;=&lt;/mo&gt;&lt;mtext&gt;&lt;/mtext&gt;&lt;mfrac&gt;&lt;mrow&gt;&lt;mn&gt;12&lt;/mn&gt;&lt;mo&gt;×&lt;/mo&gt;&lt;mn&gt;3&lt;/mn&gt;&lt;/mrow&gt;&lt;mrow&gt;&lt;mn&gt;11&lt;/mn&gt;&lt;mo&gt;×&lt;/mo&gt;&lt;mn&gt;3&lt;/mn&gt;&lt;/mrow&gt;&lt;/mfrac&gt;&lt;mo&gt;=&lt;/mo&gt;&lt;mfrac&gt;&lt;mn&gt;36&lt;/mn&gt;&lt;mn&gt;33&lt;/mn&gt;&lt;/mfrac&gt;&lt;/mtd&gt;&lt;/mtr&gt;&lt;/mtable&gt;&lt;mtable columnalign=&quot;left&quot; columnspacing=&quot;1em&quot; rowspacing=&quot;4pt&quot;&gt;&lt;mtr&gt;&lt;mtd/&gt;&lt;/mtr&gt;&lt;/mtable&gt;&lt;/math&gt;" id="239" name="Google Shape;239;p21" title="4 lines Line 1: four ninths equals the fraction with numerator 4 times 2 and denominator 9 times 2 equals 8 over 18 Line 2: seven tenths equals the fraction with numerator 7 times 4 and denominator 10 times 4 equals 28 over 40 Line 3: one third equals the fraction with numerator 1 times 8 and denominator 3 times 8 equals 8 over 24 Line 4: 12 over 11 equals the fraction with numerator 12 times 3 and denominator 11 times 3 equals 36 over 33 1 lines Line 1: blank"/>
          <p:cNvPicPr preferRelativeResize="0"/>
          <p:nvPr/>
        </p:nvPicPr>
        <p:blipFill rotWithShape="1">
          <a:blip r:embed="rId3">
            <a:alphaModFix/>
          </a:blip>
          <a:srcRect b="0" l="0" r="0" t="76253"/>
          <a:stretch/>
        </p:blipFill>
        <p:spPr>
          <a:xfrm>
            <a:off x="4631560" y="2889904"/>
            <a:ext cx="2426359" cy="595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21"/>
          <p:cNvGraphicFramePr/>
          <p:nvPr/>
        </p:nvGraphicFramePr>
        <p:xfrm>
          <a:off x="1398300" y="49824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  <a:gridCol w="595425"/>
              </a:tblGrid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  <a:tr h="52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41" name="Google Shape;241;p21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399" y="6546813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42" name="Google Shape;242;p21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4422" y="498802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43" name="Google Shape;243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908" y="498801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44" name="Google Shape;244;p21" title="10 over 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8880" y="498092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45" name="Google Shape;245;p21" title="5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4198" y="5521376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46" name="Google Shape;246;p21" title="4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30358" y="4980925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47" name="Google Shape;247;p21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2153" y="551255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48" name="Google Shape;248;p21" title="two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88234" y="6557567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49" name="Google Shape;249;p21" title="three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73237" y="5521374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50" name="Google Shape;250;p21" title="four seve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003781" y="6025449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51" name="Google Shape;251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70350" y="813529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52" name="Google Shape;252;p21" title="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7408" y="866605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53" name="Google Shape;253;p21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7406" y="8126052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54" name="Google Shape;254;p21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8142" y="4988021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55" name="Google Shape;255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4340" y="6037002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56" name="Google Shape;256;p21" title="10 over 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8875" y="707442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57" name="Google Shape;257;p21" title="5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24205" y="7596673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58" name="Google Shape;258;p21" title="4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65015" y="4988024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59" name="Google Shape;259;p21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774" y="761795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60" name="Google Shape;260;p21" title="10 over 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7255" y="6052061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61" name="Google Shape;261;p21" title="5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2573" y="6592514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62" name="Google Shape;262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2715" y="710814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63" name="Google Shape;263;p21" title="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85783" y="551157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6}&quot;&gt;&lt;mfrac&gt;&lt;mn&gt;2&lt;/mn&gt;&lt;mn&gt;6&lt;/mn&gt;&lt;/mfrac&gt;&lt;/math&gt;" id="264" name="Google Shape;264;p21" title="two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5781" y="4988000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65" name="Google Shape;265;p21" title="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252783" y="4988027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5}&quot;&gt;&lt;mfrac&gt;&lt;mn&gt;5&lt;/mn&gt;&lt;mn&gt;15&lt;/mn&gt;&lt;/mfrac&gt;&lt;/math&gt;" id="266" name="Google Shape;266;p21" title="5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32580" y="8150048"/>
            <a:ext cx="255381" cy="4681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67" name="Google Shape;267;p21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9486" y="866493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68" name="Google Shape;268;p21" title="4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5421" y="865783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69" name="Google Shape;269;p21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3206" y="866493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70" name="Google Shape;270;p21" title="4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410079" y="8664938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71" name="Google Shape;271;p21" title="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897846" y="8664941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2" name="Google Shape;272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32583" y="8678616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0}&quot;&gt;&lt;mfrac&gt;&lt;mn&gt;10&lt;/mn&gt;&lt;mn&gt;30&lt;/mn&gt;&lt;/mfrac&gt;&lt;/math&gt;" id="273" name="Google Shape;273;p21" title="10 over 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51555" y="8671523"/>
            <a:ext cx="26602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74" name="Google Shape;274;p21" title="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567608" y="7614952"/>
            <a:ext cx="148972" cy="493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75" name="Google Shape;275;p21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9686" y="7613836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2}&quot;&gt;&lt;mfrac&gt;&lt;mn&gt;4&lt;/mn&gt;&lt;mn&gt;12&lt;/mn&gt;&lt;/mfrac&gt;&lt;/math&gt;" id="276" name="Google Shape;276;p21" title="4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65621" y="7606739"/>
            <a:ext cx="269910" cy="493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9}&quot;&gt;&lt;mfrac&gt;&lt;mn&gt;3&lt;/mn&gt;&lt;mn&gt;9&lt;/mn&gt;&lt;/mfrac&gt;&lt;/math&gt;" id="277" name="Google Shape;277;p21" title="thre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3406" y="7613835"/>
            <a:ext cx="148972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8" name="Google Shape;278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65015" y="7108140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79" name="Google Shape;279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9128" y="708151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80" name="Google Shape;280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29890" y="6055177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90}&quot;&gt;&lt;mfrac&gt;&lt;mn&gt;30&lt;/mn&gt;&lt;mn&gt;90&lt;/mn&gt;&lt;/mfrac&gt;&lt;/math&gt;" id="281" name="Google Shape;281;p21" title="30 over 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7665" y="6034765"/>
            <a:ext cx="262475" cy="47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82" name="Google Shape;282;p21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95328" y="710451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83" name="Google Shape;283;p21" title="two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86371" y="603514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84" name="Google Shape;284;p21" title="three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13637" y="657263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85" name="Google Shape;285;p21" title="four seve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73231" y="6012681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86" name="Google Shape;286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38074" y="6568864"/>
            <a:ext cx="285965" cy="5154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}{110}&quot;&gt;&lt;mfrac&gt;&lt;mn&gt;80&lt;/mn&gt;&lt;mn&gt;110&lt;/mn&gt;&lt;/mfrac&gt;&lt;/math&gt;" id="287" name="Google Shape;287;p21" title="80 over 11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068462" y="7611103"/>
            <a:ext cx="387550" cy="494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88" name="Google Shape;288;p21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05453" y="7101246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89" name="Google Shape;289;p21" title="two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06284" y="8146868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90" name="Google Shape;290;p21" title="three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022549" y="8111476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91" name="Google Shape;291;p21" title="four seve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432006" y="7079967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2" name="Google Shape;292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941600" y="7072225"/>
            <a:ext cx="269925" cy="486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93" name="Google Shape;293;p21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35166" y="6571539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294" name="Google Shape;294;p21" title="two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96684" y="658281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95" name="Google Shape;295;p21" title="three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96662" y="6572632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296" name="Google Shape;296;p21" title="four seven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70179" y="5491006"/>
            <a:ext cx="158034" cy="523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7" name="Google Shape;297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118600" y="6047199"/>
            <a:ext cx="266025" cy="479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98" name="Google Shape;298;p21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214291" y="7637812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299" name="Google Shape;299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77562" y="81486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300" name="Google Shape;300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565737" y="8152749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4}&quot;&gt;&lt;mfrac&gt;&lt;mn&gt;2&lt;/mn&gt;&lt;mn&gt;4&lt;/mn&gt;&lt;/mfrac&gt;&lt;/math&gt;" id="301" name="Google Shape;301;p21" title="two four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71084" y="5547543"/>
            <a:ext cx="149566" cy="4765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302" name="Google Shape;302;p21" title="three fif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787349" y="5512151"/>
            <a:ext cx="158034" cy="5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303" name="Google Shape;303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30537" y="5553424"/>
            <a:ext cx="255375" cy="460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11}&quot;&gt;&lt;mfrac&gt;&lt;mn&gt;8&lt;/mn&gt;&lt;mn&gt;11&lt;/mn&gt;&lt;/mfrac&gt;&lt;/math&gt;" id="304" name="Google Shape;304;p21" title="8 over 1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00062" y="8152199"/>
            <a:ext cx="255375" cy="46031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468000" y="4288025"/>
            <a:ext cx="66240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307" name="Google Shape;307;p21" title="one third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270081" y="4141208"/>
            <a:ext cx="148975" cy="49302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 txBox="1"/>
          <p:nvPr/>
        </p:nvSpPr>
        <p:spPr>
          <a:xfrm>
            <a:off x="673775" y="4288025"/>
            <a:ext cx="65706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1182575" y="4288025"/>
            <a:ext cx="62142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1623275" y="4288025"/>
            <a:ext cx="5925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2449650" y="4288025"/>
            <a:ext cx="52518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3080300" y="4288025"/>
            <a:ext cx="4773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469650" y="4288025"/>
            <a:ext cx="45366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 reveal a picture.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 txBox="1"/>
          <p:nvPr/>
        </p:nvSpPr>
        <p:spPr>
          <a:xfrm>
            <a:off x="5645300" y="3229200"/>
            <a:ext cx="307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020650" y="3229200"/>
            <a:ext cx="116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4864700" y="3229200"/>
            <a:ext cx="96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3563450" y="2924400"/>
            <a:ext cx="515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grid, can you find two more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6116675" y="3229200"/>
            <a:ext cx="268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4" name="Google Shape;324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identity property of multiplication and division</a:t>
            </a:r>
            <a:endParaRPr/>
          </a:p>
        </p:txBody>
      </p:sp>
      <p:sp>
        <p:nvSpPr>
          <p:cNvPr id="325" name="Google Shape;325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graphicFrame>
        <p:nvGraphicFramePr>
          <p:cNvPr id="327" name="Google Shape;327;p22"/>
          <p:cNvGraphicFramePr/>
          <p:nvPr/>
        </p:nvGraphicFramePr>
        <p:xfrm>
          <a:off x="528200" y="1146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492450"/>
                <a:gridCol w="492450"/>
                <a:gridCol w="492450"/>
                <a:gridCol w="492450"/>
                <a:gridCol w="492450"/>
              </a:tblGrid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rgbClr val="808080">
                        <a:alpha val="4717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8" name="Google Shape;328;p22"/>
          <p:cNvSpPr txBox="1"/>
          <p:nvPr/>
        </p:nvSpPr>
        <p:spPr>
          <a:xfrm>
            <a:off x="468000" y="720000"/>
            <a:ext cx="4316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" spcFirstLastPara="1" rIns="91425" wrap="square" tIns="1800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Here is a 5 by 5 multiplication grid.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29" name="Google Shape;329;p22" title="two fifths equals four tenths equals 6 over 15 8 over 20 10 over 25"/>
          <p:cNvPicPr preferRelativeResize="0"/>
          <p:nvPr/>
        </p:nvPicPr>
        <p:blipFill rotWithShape="1">
          <a:blip r:embed="rId3">
            <a:alphaModFix/>
          </a:blip>
          <a:srcRect b="0" l="63281" r="16673" t="0"/>
          <a:stretch/>
        </p:blipFill>
        <p:spPr>
          <a:xfrm>
            <a:off x="5135050" y="3851925"/>
            <a:ext cx="484112" cy="499931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5490099" y="3908170"/>
            <a:ext cx="7263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31" name="Google Shape;331;p22" title="two fifths equals four tenths equals 6 over 15 8 over 20 10 over 25"/>
          <p:cNvPicPr preferRelativeResize="0"/>
          <p:nvPr/>
        </p:nvPicPr>
        <p:blipFill rotWithShape="1">
          <a:blip r:embed="rId3">
            <a:alphaModFix/>
          </a:blip>
          <a:srcRect b="0" l="87744" r="-2195" t="0"/>
          <a:stretch/>
        </p:blipFill>
        <p:spPr>
          <a:xfrm>
            <a:off x="5938317" y="3851925"/>
            <a:ext cx="349008" cy="499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=\frac{2}{8}=\frac{3}{12}=\frac{4}{16}=\frac{5}{20}&quot;&gt;&lt;mfrac&gt;&lt;mn&gt;1&lt;/mn&gt;&lt;mn&gt;4&lt;/mn&gt;&lt;/mfrac&gt;&lt;mo&gt;=&lt;/mo&gt;&lt;mfrac&gt;&lt;mn&gt;2&lt;/mn&gt;&lt;mn&gt;8&lt;/mn&gt;&lt;/mfrac&gt;&lt;mo&gt;=&lt;/mo&gt;&lt;mfrac&gt;&lt;mn&gt;3&lt;/mn&gt;&lt;mn&gt;12&lt;/mn&gt;&lt;/mfrac&gt;&lt;mo&gt;=&lt;/mo&gt;&lt;mfrac&gt;&lt;mn&gt;4&lt;/mn&gt;&lt;mn&gt;16&lt;/mn&gt;&lt;/mfrac&gt;&lt;mo&gt;=&lt;/mo&gt;&lt;mfrac&gt;&lt;mn&gt;5&lt;/mn&gt;&lt;mn&gt;20&lt;/mn&gt;&lt;/mfrac&gt;&lt;/math&gt;" id="332" name="Google Shape;332;p22" title="one fourth equals two eighths equals 3 over 12 equals 4 over 16 equals 5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625" y="4172225"/>
            <a:ext cx="2518501" cy="4991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22"/>
          <p:cNvGraphicFramePr/>
          <p:nvPr/>
        </p:nvGraphicFramePr>
        <p:xfrm>
          <a:off x="855525" y="659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4" name="Google Shape;334;p22"/>
          <p:cNvGraphicFramePr/>
          <p:nvPr/>
        </p:nvGraphicFramePr>
        <p:xfrm>
          <a:off x="839759" y="5664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35" name="Google Shape;335;p22"/>
          <p:cNvCxnSpPr/>
          <p:nvPr/>
        </p:nvCxnSpPr>
        <p:spPr>
          <a:xfrm>
            <a:off x="468009" y="5840477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6" name="Google Shape;336;p22"/>
          <p:cNvSpPr txBox="1"/>
          <p:nvPr/>
        </p:nvSpPr>
        <p:spPr>
          <a:xfrm>
            <a:off x="695709" y="5945776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3334534" y="5969126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2"/>
          <p:cNvSpPr/>
          <p:nvPr/>
        </p:nvSpPr>
        <p:spPr>
          <a:xfrm rot="-5635036">
            <a:off x="4114264" y="6369790"/>
            <a:ext cx="1196736" cy="1439442"/>
          </a:xfrm>
          <a:prstGeom prst="cloud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339" name="Google Shape;339;p22" title="two thirds equals six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396" y="6785900"/>
            <a:ext cx="815400" cy="6184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22"/>
          <p:cNvCxnSpPr/>
          <p:nvPr/>
        </p:nvCxnSpPr>
        <p:spPr>
          <a:xfrm flipH="1" rot="10800000">
            <a:off x="5118825" y="6280325"/>
            <a:ext cx="292800" cy="36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2"/>
          <p:cNvCxnSpPr/>
          <p:nvPr/>
        </p:nvCxnSpPr>
        <p:spPr>
          <a:xfrm flipH="1">
            <a:off x="3827400" y="7511000"/>
            <a:ext cx="350400" cy="40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2"/>
          <p:cNvCxnSpPr/>
          <p:nvPr/>
        </p:nvCxnSpPr>
        <p:spPr>
          <a:xfrm>
            <a:off x="4010075" y="6316566"/>
            <a:ext cx="372000" cy="254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2"/>
          <p:cNvCxnSpPr/>
          <p:nvPr/>
        </p:nvCxnSpPr>
        <p:spPr>
          <a:xfrm>
            <a:off x="476300" y="584219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4" name="Google Shape;344;p22"/>
          <p:cNvSpPr txBox="1"/>
          <p:nvPr/>
        </p:nvSpPr>
        <p:spPr>
          <a:xfrm>
            <a:off x="704000" y="5947489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3342825" y="5970839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" name="Google Shape;346;p22"/>
          <p:cNvCxnSpPr/>
          <p:nvPr/>
        </p:nvCxnSpPr>
        <p:spPr>
          <a:xfrm>
            <a:off x="483775" y="67753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47" name="Google Shape;347;p22"/>
          <p:cNvSpPr txBox="1"/>
          <p:nvPr/>
        </p:nvSpPr>
        <p:spPr>
          <a:xfrm>
            <a:off x="711475" y="6875159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3350300" y="6898509"/>
            <a:ext cx="291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=\frac{2\times3}{3\times3}=\frac{6}{9}&quot;&gt;&lt;mfrac&gt;&lt;mn&gt;2&lt;/mn&gt;&lt;mn&gt;3&lt;/mn&gt;&lt;/mfrac&gt;&lt;mo&gt;=&lt;/mo&gt;&lt;mfrac&gt;&lt;mrow&gt;&lt;mn&gt;2&lt;/mn&gt;&lt;mo&gt;×&lt;/mo&gt;&lt;mn&gt;3&lt;/mn&gt;&lt;/mrow&gt;&lt;mrow&gt;&lt;mn&gt;3&lt;/mn&gt;&lt;mo&gt;×&lt;/mo&gt;&lt;mn&gt;3&lt;/mn&gt;&lt;/mrow&gt;&lt;/mfrac&gt;&lt;mo&gt;=&lt;/mo&gt;&lt;mfrac&gt;&lt;mn&gt;6&lt;/mn&gt;&lt;mn&gt;9&lt;/mn&gt;&lt;/mfrac&gt;&lt;/math&gt;" id="349" name="Google Shape;349;p22" title="two thirds equals the fraction with numerator 2 times 3 and denominator 3 times 3 equals six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26825" y="5491950"/>
            <a:ext cx="2117783" cy="68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7074" y="8157367"/>
            <a:ext cx="293700" cy="1351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p22"/>
          <p:cNvGraphicFramePr/>
          <p:nvPr/>
        </p:nvGraphicFramePr>
        <p:xfrm>
          <a:off x="848050" y="566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879150"/>
                <a:gridCol w="879150"/>
                <a:gridCol w="87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52" name="Google Shape;352;p22"/>
          <p:cNvCxnSpPr/>
          <p:nvPr/>
        </p:nvCxnSpPr>
        <p:spPr>
          <a:xfrm>
            <a:off x="476300" y="5842190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353" name="Google Shape;353;p22"/>
          <p:cNvGraphicFramePr/>
          <p:nvPr/>
        </p:nvGraphicFramePr>
        <p:xfrm>
          <a:off x="855525" y="659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  <a:gridCol w="29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54" name="Google Shape;354;p22"/>
          <p:cNvCxnSpPr/>
          <p:nvPr/>
        </p:nvCxnSpPr>
        <p:spPr>
          <a:xfrm>
            <a:off x="483775" y="6775365"/>
            <a:ext cx="3359400" cy="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355" name="Google Shape;355;p22"/>
          <p:cNvGraphicFramePr/>
          <p:nvPr/>
        </p:nvGraphicFramePr>
        <p:xfrm>
          <a:off x="451436" y="865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8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6" name="Google Shape;356;p22"/>
          <p:cNvGraphicFramePr/>
          <p:nvPr/>
        </p:nvGraphicFramePr>
        <p:xfrm>
          <a:off x="451425" y="8006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1148550"/>
                <a:gridCol w="1148550"/>
                <a:gridCol w="1148550"/>
              </a:tblGrid>
              <a:tr h="327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57" name="Google Shape;357;p22"/>
          <p:cNvGraphicFramePr/>
          <p:nvPr/>
        </p:nvGraphicFramePr>
        <p:xfrm>
          <a:off x="451436" y="865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{82BFA0D4-0A81-43A5-A531-3640CB6DD16A}</a:tableStyleId>
              </a:tblPr>
              <a:tblGrid>
                <a:gridCol w="1148550"/>
                <a:gridCol w="1148550"/>
                <a:gridCol w="1148550"/>
              </a:tblGrid>
              <a:tr h="3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22"/>
          <p:cNvSpPr txBox="1"/>
          <p:nvPr/>
        </p:nvSpPr>
        <p:spPr>
          <a:xfrm>
            <a:off x="3563450" y="1095600"/>
            <a:ext cx="515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uses it to help write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377400" y="3743100"/>
            <a:ext cx="237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60" name="Google Shape;360;p22" title="two fifths equals four tenths equals 6 over 15 8 over 20 10 over 25"/>
          <p:cNvPicPr preferRelativeResize="0"/>
          <p:nvPr/>
        </p:nvPicPr>
        <p:blipFill rotWithShape="1">
          <a:blip r:embed="rId3">
            <a:alphaModFix/>
          </a:blip>
          <a:srcRect b="0" l="0" r="37378" t="0"/>
          <a:stretch/>
        </p:blipFill>
        <p:spPr>
          <a:xfrm>
            <a:off x="4418675" y="2249725"/>
            <a:ext cx="1802274" cy="5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61" name="Google Shape;361;p22" title="two fifths equals four tenths equals 6 over 15 8 over 20 10 over 25"/>
          <p:cNvPicPr preferRelativeResize="0"/>
          <p:nvPr/>
        </p:nvPicPr>
        <p:blipFill rotWithShape="1">
          <a:blip r:embed="rId3">
            <a:alphaModFix/>
          </a:blip>
          <a:srcRect b="0" l="0" r="92248" t="0"/>
          <a:stretch/>
        </p:blipFill>
        <p:spPr>
          <a:xfrm>
            <a:off x="4672762" y="1401625"/>
            <a:ext cx="172875" cy="461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=\frac{4}{10}=\frac{6}{15}\ \ \ \frac{8}{20}\ \ \ \frac{10}{25}&quot;&gt;&lt;mfrac&gt;&lt;mn&gt;2&lt;/mn&gt;&lt;mn&gt;5&lt;/mn&gt;&lt;/mfrac&gt;&lt;mo&gt;=&lt;/mo&gt;&lt;mfrac&gt;&lt;mn&gt;4&lt;/mn&gt;&lt;mn&gt;10&lt;/mn&gt;&lt;/mfrac&gt;&lt;mo&gt;=&lt;/mo&gt;&lt;mfrac&gt;&lt;mn&gt;6&lt;/mn&gt;&lt;mn&gt;15&lt;/mn&gt;&lt;/mfrac&gt;&lt;mtext&gt;&lt;/mtext&gt;&lt;mtext&gt;&lt;/mtext&gt;&lt;mtext&gt;&lt;/mtext&gt;&lt;mfrac&gt;&lt;mn&gt;8&lt;/mn&gt;&lt;mn&gt;20&lt;/mn&gt;&lt;/mfrac&gt;&lt;mtext&gt;&lt;/mtext&gt;&lt;mtext&gt;&lt;/mtext&gt;&lt;mtext&gt;&lt;/mtext&gt;&lt;mfrac&gt;&lt;mn&gt;10&lt;/mn&gt;&lt;mn&gt;25&lt;/mn&gt;&lt;/mfrac&gt;&lt;/math&gt;" id="362" name="Google Shape;362;p22" title="two fifths equals four tenths equals 6 over 15 8 over 20 10 over 25"/>
          <p:cNvPicPr preferRelativeResize="0"/>
          <p:nvPr/>
        </p:nvPicPr>
        <p:blipFill rotWithShape="1">
          <a:blip r:embed="rId3">
            <a:alphaModFix/>
          </a:blip>
          <a:srcRect b="0" l="0" r="92248" t="0"/>
          <a:stretch/>
        </p:blipFill>
        <p:spPr>
          <a:xfrm>
            <a:off x="5943797" y="3240000"/>
            <a:ext cx="172881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=\frac{2}{8}=\frac{3}{12}=\frac{4}{16}=\frac{5}{20}&quot;&gt;&lt;mfrac&gt;&lt;mn&gt;1&lt;/mn&gt;&lt;mn&gt;4&lt;/mn&gt;&lt;/mfrac&gt;&lt;mo&gt;=&lt;/mo&gt;&lt;mfrac&gt;&lt;mn&gt;2&lt;/mn&gt;&lt;mn&gt;8&lt;/mn&gt;&lt;/mfrac&gt;&lt;mo&gt;=&lt;/mo&gt;&lt;mfrac&gt;&lt;mn&gt;3&lt;/mn&gt;&lt;mn&gt;12&lt;/mn&gt;&lt;/mfrac&gt;&lt;mo&gt;=&lt;/mo&gt;&lt;mfrac&gt;&lt;mn&gt;4&lt;/mn&gt;&lt;mn&gt;16&lt;/mn&gt;&lt;/mfrac&gt;&lt;mo&gt;=&lt;/mo&gt;&lt;mfrac&gt;&lt;mn&gt;5&lt;/mn&gt;&lt;mn&gt;20&lt;/mn&gt;&lt;/mfrac&gt;&lt;/math&gt;" id="363" name="Google Shape;363;p22" title="one fourth equals two eighths equals 3 over 12 equals 4 over 16 equals 5 over 20"/>
          <p:cNvPicPr preferRelativeResize="0"/>
          <p:nvPr/>
        </p:nvPicPr>
        <p:blipFill rotWithShape="1">
          <a:blip r:embed="rId4">
            <a:alphaModFix/>
          </a:blip>
          <a:srcRect b="0" l="0" r="90505" t="0"/>
          <a:stretch/>
        </p:blipFill>
        <p:spPr>
          <a:xfrm>
            <a:off x="4010075" y="3683289"/>
            <a:ext cx="210912" cy="44026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2"/>
          <p:cNvSpPr txBox="1"/>
          <p:nvPr/>
        </p:nvSpPr>
        <p:spPr>
          <a:xfrm>
            <a:off x="3563450" y="1476600"/>
            <a:ext cx="12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3563450" y="1933800"/>
            <a:ext cx="126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sees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4352425" y="1476600"/>
            <a:ext cx="4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648000" y="3743100"/>
            <a:ext cx="88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1107225" y="3743100"/>
            <a:ext cx="66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1381950" y="3743100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grid,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1769150" y="3743100"/>
            <a:ext cx="59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2092025" y="3743100"/>
            <a:ext cx="110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equivalent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>
            <a:off x="2958425" y="3743100"/>
            <a:ext cx="88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3684900" y="3743100"/>
            <a:ext cx="4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468000" y="5023775"/>
            <a:ext cx="821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2}{3}=\frac{6}{9}&quot;&gt;&lt;mfrac&gt;&lt;mn&gt;2&lt;/mn&gt;&lt;mn&gt;3&lt;/mn&gt;&lt;/mfrac&gt;&lt;mo&gt;=&lt;/mo&gt;&lt;mfrac&gt;&lt;mn&gt;6&lt;/mn&gt;&lt;mn&gt;9&lt;/mn&gt;&lt;/mfrac&gt;&lt;/math&gt;" id="375" name="Google Shape;375;p22" title="two thirds equals six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785" y="5029525"/>
            <a:ext cx="484100" cy="367151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 txBox="1"/>
          <p:nvPr/>
        </p:nvSpPr>
        <p:spPr>
          <a:xfrm>
            <a:off x="648000" y="5023775"/>
            <a:ext cx="56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</a:t>
            </a:r>
            <a:endParaRPr sz="1200"/>
          </a:p>
        </p:txBody>
      </p:sp>
      <p:sp>
        <p:nvSpPr>
          <p:cNvPr id="377" name="Google Shape;377;p22"/>
          <p:cNvSpPr txBox="1"/>
          <p:nvPr/>
        </p:nvSpPr>
        <p:spPr>
          <a:xfrm>
            <a:off x="1708125" y="5023775"/>
            <a:ext cx="42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numbers lines, bar models and multiplication of 1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