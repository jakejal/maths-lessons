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63AC58-2901-4069-A5D4-97CA2CDC49E9}">
  <a:tblStyle styleId="{FB63AC58-2901-4069-A5D4-97CA2CDC49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a7c439123_0_1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a7c439123_0_1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a7c4391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a7c4391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9a7c439123_0_1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9a7c439123_0_1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9a7c439123_0_1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9a7c439123_0_1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29a7c439123_0_2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29a7c439123_0_2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9a7c439123_0_2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9a7c439123_0_2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9a7c439123_0_2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9a7c439123_0_2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9a7c43912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9a7c43912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9a7c439123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9a7c439123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29a7c43912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29a7c43912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29a7c439123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29a7c439123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29a7c439123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29a7c439123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29a7c439123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29a7c439123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9a7c439123_0_1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9a7c439123_0_1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9a7c43912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9a7c4391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9a7c43912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9a7c43912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9a7c43912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9a7c43912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29a7c43912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29a7c43912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9a7c43912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9a7c43912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29a7c439123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29a7c439123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9a7c439123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9a7c439123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29a7c439123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29a7c439123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9a7c43912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9a7c43912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29a7c439123_3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9a7c439123_3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9a7c439123_3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9a7c439123_3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9a7c439123_0_1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9a7c439123_0_1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9a7c439123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9a7c439123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29a7c439123_1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29a7c439123_1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9a7c439123_1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9a7c439123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9a7c439123_1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9a7c439123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9a7c439123_1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9a7c439123_1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9a7c439123_1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9a7c439123_1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9a7c439123_1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9a7c439123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9a7c439123_1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9a7c439123_1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9a7c439123_1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29a7c439123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9a7c439123_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9a7c439123_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9a7c439123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9a7c439123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94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4.png"/><Relationship Id="rId4" Type="http://schemas.openxmlformats.org/officeDocument/2006/relationships/image" Target="../media/image24.png"/><Relationship Id="rId9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4.png"/><Relationship Id="rId4" Type="http://schemas.openxmlformats.org/officeDocument/2006/relationships/image" Target="../media/image31.png"/><Relationship Id="rId11" Type="http://schemas.openxmlformats.org/officeDocument/2006/relationships/image" Target="../media/image19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7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9.png"/><Relationship Id="rId5" Type="http://schemas.openxmlformats.org/officeDocument/2006/relationships/image" Target="../media/image4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6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Relationship Id="rId8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52.png"/><Relationship Id="rId6" Type="http://schemas.openxmlformats.org/officeDocument/2006/relationships/image" Target="../media/image55.png"/><Relationship Id="rId7" Type="http://schemas.openxmlformats.org/officeDocument/2006/relationships/image" Target="../media/image6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7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5" Type="http://schemas.openxmlformats.org/officeDocument/2006/relationships/image" Target="../media/image67.png"/><Relationship Id="rId6" Type="http://schemas.openxmlformats.org/officeDocument/2006/relationships/image" Target="../media/image66.png"/><Relationship Id="rId7" Type="http://schemas.openxmlformats.org/officeDocument/2006/relationships/image" Target="../media/image6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8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5.png"/><Relationship Id="rId7" Type="http://schemas.openxmlformats.org/officeDocument/2006/relationships/image" Target="../media/image7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0.png"/><Relationship Id="rId4" Type="http://schemas.openxmlformats.org/officeDocument/2006/relationships/image" Target="../media/image8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6.png"/><Relationship Id="rId4" Type="http://schemas.openxmlformats.org/officeDocument/2006/relationships/image" Target="../media/image7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6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1.png"/><Relationship Id="rId7" Type="http://schemas.openxmlformats.org/officeDocument/2006/relationships/image" Target="../media/image83.png"/><Relationship Id="rId8" Type="http://schemas.openxmlformats.org/officeDocument/2006/relationships/image" Target="../media/image52.png"/><Relationship Id="rId10" Type="http://schemas.openxmlformats.org/officeDocument/2006/relationships/image" Target="../media/image8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6.png"/><Relationship Id="rId4" Type="http://schemas.openxmlformats.org/officeDocument/2006/relationships/image" Target="../media/image8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6.png"/><Relationship Id="rId4" Type="http://schemas.openxmlformats.org/officeDocument/2006/relationships/image" Target="../media/image52.png"/><Relationship Id="rId5" Type="http://schemas.openxmlformats.org/officeDocument/2006/relationships/image" Target="../media/image90.png"/><Relationship Id="rId6" Type="http://schemas.openxmlformats.org/officeDocument/2006/relationships/image" Target="../media/image8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6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4.png"/><Relationship Id="rId4" Type="http://schemas.openxmlformats.org/officeDocument/2006/relationships/image" Target="../media/image96.png"/><Relationship Id="rId5" Type="http://schemas.openxmlformats.org/officeDocument/2006/relationships/image" Target="../media/image100.png"/><Relationship Id="rId6" Type="http://schemas.openxmlformats.org/officeDocument/2006/relationships/image" Target="../media/image97.png"/><Relationship Id="rId7" Type="http://schemas.openxmlformats.org/officeDocument/2006/relationships/image" Target="../media/image9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2.png"/><Relationship Id="rId4" Type="http://schemas.openxmlformats.org/officeDocument/2006/relationships/image" Target="../media/image98.png"/><Relationship Id="rId5" Type="http://schemas.openxmlformats.org/officeDocument/2006/relationships/image" Target="../media/image103.png"/><Relationship Id="rId6" Type="http://schemas.openxmlformats.org/officeDocument/2006/relationships/image" Target="../media/image9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4.png"/><Relationship Id="rId4" Type="http://schemas.openxmlformats.org/officeDocument/2006/relationships/image" Target="../media/image96.png"/><Relationship Id="rId9" Type="http://schemas.openxmlformats.org/officeDocument/2006/relationships/image" Target="../media/image95.png"/><Relationship Id="rId5" Type="http://schemas.openxmlformats.org/officeDocument/2006/relationships/image" Target="../media/image105.png"/><Relationship Id="rId6" Type="http://schemas.openxmlformats.org/officeDocument/2006/relationships/image" Target="../media/image107.png"/><Relationship Id="rId7" Type="http://schemas.openxmlformats.org/officeDocument/2006/relationships/image" Target="../media/image100.png"/><Relationship Id="rId8" Type="http://schemas.openxmlformats.org/officeDocument/2006/relationships/image" Target="../media/image97.png"/><Relationship Id="rId10" Type="http://schemas.openxmlformats.org/officeDocument/2006/relationships/image" Target="../media/image10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2.png"/><Relationship Id="rId4" Type="http://schemas.openxmlformats.org/officeDocument/2006/relationships/image" Target="../media/image98.png"/><Relationship Id="rId5" Type="http://schemas.openxmlformats.org/officeDocument/2006/relationships/image" Target="../media/image103.png"/><Relationship Id="rId6" Type="http://schemas.openxmlformats.org/officeDocument/2006/relationships/image" Target="../media/image9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6.png"/><Relationship Id="rId4" Type="http://schemas.openxmlformats.org/officeDocument/2006/relationships/image" Target="../media/image89.png"/><Relationship Id="rId5" Type="http://schemas.openxmlformats.org/officeDocument/2006/relationships/image" Target="../media/image10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6.png"/><Relationship Id="rId4" Type="http://schemas.openxmlformats.org/officeDocument/2006/relationships/image" Target="../media/image110.png"/><Relationship Id="rId5" Type="http://schemas.openxmlformats.org/officeDocument/2006/relationships/image" Target="../media/image83.png"/><Relationship Id="rId6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6.png"/><Relationship Id="rId4" Type="http://schemas.openxmlformats.org/officeDocument/2006/relationships/image" Target="../media/image108.png"/><Relationship Id="rId9" Type="http://schemas.openxmlformats.org/officeDocument/2006/relationships/image" Target="../media/image121.png"/><Relationship Id="rId5" Type="http://schemas.openxmlformats.org/officeDocument/2006/relationships/image" Target="../media/image84.png"/><Relationship Id="rId6" Type="http://schemas.openxmlformats.org/officeDocument/2006/relationships/image" Target="../media/image120.png"/><Relationship Id="rId7" Type="http://schemas.openxmlformats.org/officeDocument/2006/relationships/image" Target="../media/image87.png"/><Relationship Id="rId8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2.png"/><Relationship Id="rId4" Type="http://schemas.openxmlformats.org/officeDocument/2006/relationships/image" Target="../media/image111.png"/><Relationship Id="rId5" Type="http://schemas.openxmlformats.org/officeDocument/2006/relationships/image" Target="../media/image113.png"/><Relationship Id="rId6" Type="http://schemas.openxmlformats.org/officeDocument/2006/relationships/image" Target="../media/image1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6.png"/><Relationship Id="rId4" Type="http://schemas.openxmlformats.org/officeDocument/2006/relationships/image" Target="../media/image116.png"/><Relationship Id="rId5" Type="http://schemas.openxmlformats.org/officeDocument/2006/relationships/image" Target="../media/image118.png"/><Relationship Id="rId6" Type="http://schemas.openxmlformats.org/officeDocument/2006/relationships/image" Target="../media/image1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7.png"/><Relationship Id="rId4" Type="http://schemas.openxmlformats.org/officeDocument/2006/relationships/image" Target="../media/image56.png"/><Relationship Id="rId9" Type="http://schemas.openxmlformats.org/officeDocument/2006/relationships/image" Target="../media/image122.png"/><Relationship Id="rId5" Type="http://schemas.openxmlformats.org/officeDocument/2006/relationships/image" Target="../media/image116.png"/><Relationship Id="rId6" Type="http://schemas.openxmlformats.org/officeDocument/2006/relationships/image" Target="../media/image118.png"/><Relationship Id="rId7" Type="http://schemas.openxmlformats.org/officeDocument/2006/relationships/image" Target="../media/image89.png"/><Relationship Id="rId8" Type="http://schemas.openxmlformats.org/officeDocument/2006/relationships/image" Target="../media/image119.png"/><Relationship Id="rId11" Type="http://schemas.openxmlformats.org/officeDocument/2006/relationships/image" Target="../media/image127.png"/><Relationship Id="rId10" Type="http://schemas.openxmlformats.org/officeDocument/2006/relationships/image" Target="../media/image1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0.png"/><Relationship Id="rId4" Type="http://schemas.openxmlformats.org/officeDocument/2006/relationships/image" Target="../media/image129.png"/><Relationship Id="rId5" Type="http://schemas.openxmlformats.org/officeDocument/2006/relationships/image" Target="../media/image1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8.png"/><Relationship Id="rId4" Type="http://schemas.openxmlformats.org/officeDocument/2006/relationships/image" Target="../media/image12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30.png"/><Relationship Id="rId4" Type="http://schemas.openxmlformats.org/officeDocument/2006/relationships/image" Target="../media/image129.png"/><Relationship Id="rId5" Type="http://schemas.openxmlformats.org/officeDocument/2006/relationships/image" Target="../media/image124.png"/><Relationship Id="rId6" Type="http://schemas.openxmlformats.org/officeDocument/2006/relationships/image" Target="../media/image1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8.png"/><Relationship Id="rId4" Type="http://schemas.openxmlformats.org/officeDocument/2006/relationships/image" Target="../media/image12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4.png"/><Relationship Id="rId4" Type="http://schemas.openxmlformats.org/officeDocument/2006/relationships/image" Target="../media/image1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with technology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convert from fractions to decimals and back again using the converter key on a calculator.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04951" y="685175"/>
            <a:ext cx="8030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 proper fraction is a fraction where the numerator is less than the denominator. </a:t>
            </a:r>
            <a:endParaRPr b="0"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1932150"/>
            <a:ext cx="8361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An improper fraction is a fraction where the numerator is greater than or equal to the denominator.</a:t>
            </a:r>
            <a:endParaRPr b="0"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331425"/>
            <a:ext cx="8220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A mixed number is an improper fraction written as its integer part plus the fractional part, where the fractional part is a proper fraction. </a:t>
            </a:r>
            <a:endParaRPr b="0" sz="1800"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5239076" y="1275313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770" name="Google Shape;770;p67" title="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9028" y="1026974"/>
            <a:ext cx="228960" cy="7577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5}&quot;&gt;&lt;mfrac&gt;&lt;mn&gt;7&lt;/mn&gt;&lt;mn&gt;5&lt;/mn&gt;&lt;/mfrac&gt;&lt;/math&gt;" id="771" name="Google Shape;771;p67" title="seven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9027" y="2478241"/>
            <a:ext cx="228960" cy="735956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67"/>
          <p:cNvSpPr txBox="1"/>
          <p:nvPr>
            <p:ph idx="1" type="subTitle"/>
          </p:nvPr>
        </p:nvSpPr>
        <p:spPr>
          <a:xfrm>
            <a:off x="5239076" y="2530738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sp>
        <p:nvSpPr>
          <p:cNvPr id="773" name="Google Shape;773;p67"/>
          <p:cNvSpPr txBox="1"/>
          <p:nvPr>
            <p:ph idx="1" type="subTitle"/>
          </p:nvPr>
        </p:nvSpPr>
        <p:spPr>
          <a:xfrm>
            <a:off x="5239076" y="4237038"/>
            <a:ext cx="13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1800"/>
              <a:t>Example</a:t>
            </a:r>
            <a:endParaRPr b="0" sz="1800"/>
          </a:p>
        </p:txBody>
      </p:sp>
      <p:pic>
        <p:nvPicPr>
          <p:cNvPr descr="&lt;math xmlns=&quot;http://www.w3.org/1998/Math/MathML&quot; display=&quot;block&quot; data-is-equatio=&quot;1&quot; data-latex=&quot;3\dfrac{1}{2}&quot;&gt;&lt;mn&gt;3&lt;/mn&gt;&lt;mstyle displaystyle=&quot;true&quot; scriptlevel=&quot;0&quot;&gt;&lt;mfrac&gt;&lt;mn&gt;1&lt;/mn&gt;&lt;mn&gt;2&lt;/mn&gt;&lt;/mfrac&gt;&lt;/mstyle&gt;&lt;/math&gt;" id="774" name="Google Shape;774;p67" title="3 and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6625" y="4054229"/>
            <a:ext cx="439700" cy="752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</p:txBody>
      </p:sp>
      <p:sp>
        <p:nvSpPr>
          <p:cNvPr id="780" name="Google Shape;780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sp>
        <p:nvSpPr>
          <p:cNvPr id="781" name="Google Shape;781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with technology</a:t>
            </a:r>
            <a:endParaRPr/>
          </a:p>
        </p:txBody>
      </p:sp>
      <p:sp>
        <p:nvSpPr>
          <p:cNvPr id="782" name="Google Shape;782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43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</p:txBody>
      </p:sp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324000" y="7593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Scientific calculators are fantastic tools.</a:t>
            </a:r>
            <a:endParaRPr/>
          </a:p>
        </p:txBody>
      </p:sp>
      <p:sp>
        <p:nvSpPr>
          <p:cNvPr id="790" name="Google Shape;790;p69"/>
          <p:cNvSpPr txBox="1"/>
          <p:nvPr>
            <p:ph idx="1" type="body"/>
          </p:nvPr>
        </p:nvSpPr>
        <p:spPr>
          <a:xfrm>
            <a:off x="4572000" y="1216500"/>
            <a:ext cx="3989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can do so much, including simplifying fractions effortlessly.</a:t>
            </a:r>
            <a:endParaRPr/>
          </a:p>
        </p:txBody>
      </p:sp>
      <p:pic>
        <p:nvPicPr>
          <p:cNvPr id="791" name="Google Shape;79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825" y="1216500"/>
            <a:ext cx="1975550" cy="3420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</p:txBody>
      </p:sp>
      <p:sp>
        <p:nvSpPr>
          <p:cNvPr id="797" name="Google Shape;797;p70"/>
          <p:cNvSpPr txBox="1"/>
          <p:nvPr>
            <p:ph idx="1" type="body"/>
          </p:nvPr>
        </p:nvSpPr>
        <p:spPr>
          <a:xfrm>
            <a:off x="324000" y="7593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Scientific calculators are fantastic tools.</a:t>
            </a:r>
            <a:endParaRPr/>
          </a:p>
        </p:txBody>
      </p:sp>
      <p:sp>
        <p:nvSpPr>
          <p:cNvPr id="798" name="Google Shape;798;p70"/>
          <p:cNvSpPr txBox="1"/>
          <p:nvPr>
            <p:ph idx="1" type="body"/>
          </p:nvPr>
        </p:nvSpPr>
        <p:spPr>
          <a:xfrm>
            <a:off x="4572000" y="1521300"/>
            <a:ext cx="3989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</a:t>
            </a:r>
            <a:r>
              <a:rPr lang="en-GB"/>
              <a:t>simplify</a:t>
            </a:r>
            <a:r>
              <a:rPr lang="en-GB"/>
              <a:t> </a:t>
            </a:r>
            <a:endParaRPr/>
          </a:p>
        </p:txBody>
      </p:sp>
      <p:pic>
        <p:nvPicPr>
          <p:cNvPr id="799" name="Google Shape;79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825" y="1216500"/>
            <a:ext cx="1975550" cy="34206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5}{1000}&quot;&gt;&lt;mfrac&gt;&lt;mn&gt;245&lt;/mn&gt;&lt;mn&gt;1000&lt;/mn&gt;&lt;/mfrac&gt;&lt;/math&gt;" id="800" name="Google Shape;800;p70" title="245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2250" y="2153400"/>
            <a:ext cx="895825" cy="8702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1" name="Google Shape;801;p70"/>
          <p:cNvGrpSpPr/>
          <p:nvPr/>
        </p:nvGrpSpPr>
        <p:grpSpPr>
          <a:xfrm>
            <a:off x="4572000" y="3295200"/>
            <a:ext cx="3411175" cy="571500"/>
            <a:chOff x="4572000" y="2761800"/>
            <a:chExt cx="3411175" cy="571500"/>
          </a:xfrm>
        </p:grpSpPr>
        <p:grpSp>
          <p:nvGrpSpPr>
            <p:cNvPr id="802" name="Google Shape;802;p70"/>
            <p:cNvGrpSpPr/>
            <p:nvPr/>
          </p:nvGrpSpPr>
          <p:grpSpPr>
            <a:xfrm>
              <a:off x="4572000" y="2761800"/>
              <a:ext cx="3000000" cy="571500"/>
              <a:chOff x="4706450" y="2752300"/>
              <a:chExt cx="3000000" cy="571500"/>
            </a:xfrm>
          </p:grpSpPr>
          <p:sp>
            <p:nvSpPr>
              <p:cNvPr id="803" name="Google Shape;803;p70"/>
              <p:cNvSpPr txBox="1"/>
              <p:nvPr/>
            </p:nvSpPr>
            <p:spPr>
              <a:xfrm>
                <a:off x="4706450" y="2776450"/>
                <a:ext cx="30000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Press 245</a:t>
                </a:r>
                <a:endParaRPr/>
              </a:p>
            </p:txBody>
          </p:sp>
          <p:pic>
            <p:nvPicPr>
              <p:cNvPr id="804" name="Google Shape;804;p7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151575" y="2752300"/>
                <a:ext cx="51435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05" name="Google Shape;805;p7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402150" y="2761800"/>
              <a:ext cx="581025" cy="571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6" name="Google Shape;806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5453" y="1360237"/>
            <a:ext cx="1739300" cy="7799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49}{200}&quot;&gt;&lt;mo&gt;=&lt;/mo&gt;&lt;mfrac&gt;&lt;mn&gt;49&lt;/mn&gt;&lt;mn&gt;200&lt;/mn&gt;&lt;/mfrac&gt;&lt;/math&gt;" id="807" name="Google Shape;807;p70" title="equals 49 over 2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06900" y="2153400"/>
            <a:ext cx="1112633" cy="8702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70"/>
          <p:cNvSpPr txBox="1"/>
          <p:nvPr/>
        </p:nvSpPr>
        <p:spPr>
          <a:xfrm>
            <a:off x="6561500" y="3319350"/>
            <a:ext cx="116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1000 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</p:txBody>
      </p:sp>
      <p:sp>
        <p:nvSpPr>
          <p:cNvPr id="814" name="Google Shape;814;p71"/>
          <p:cNvSpPr txBox="1"/>
          <p:nvPr>
            <p:ph idx="1" type="body"/>
          </p:nvPr>
        </p:nvSpPr>
        <p:spPr>
          <a:xfrm>
            <a:off x="324000" y="7593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Scientific calculators are fantastic tools.</a:t>
            </a:r>
            <a:endParaRPr/>
          </a:p>
        </p:txBody>
      </p:sp>
      <p:sp>
        <p:nvSpPr>
          <p:cNvPr id="815" name="Google Shape;815;p71"/>
          <p:cNvSpPr txBox="1"/>
          <p:nvPr>
            <p:ph idx="1" type="body"/>
          </p:nvPr>
        </p:nvSpPr>
        <p:spPr>
          <a:xfrm>
            <a:off x="4572000" y="1521300"/>
            <a:ext cx="3989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example,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let’s simplify </a:t>
            </a:r>
            <a:endParaRPr/>
          </a:p>
        </p:txBody>
      </p:sp>
      <p:pic>
        <p:nvPicPr>
          <p:cNvPr id="816" name="Google Shape;81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825" y="1216500"/>
            <a:ext cx="1975550" cy="3420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7" name="Google Shape;817;p71"/>
          <p:cNvGrpSpPr/>
          <p:nvPr/>
        </p:nvGrpSpPr>
        <p:grpSpPr>
          <a:xfrm>
            <a:off x="4572000" y="3295200"/>
            <a:ext cx="3106375" cy="571500"/>
            <a:chOff x="4572000" y="2761800"/>
            <a:chExt cx="3106375" cy="571500"/>
          </a:xfrm>
        </p:grpSpPr>
        <p:grpSp>
          <p:nvGrpSpPr>
            <p:cNvPr id="818" name="Google Shape;818;p71"/>
            <p:cNvGrpSpPr/>
            <p:nvPr/>
          </p:nvGrpSpPr>
          <p:grpSpPr>
            <a:xfrm>
              <a:off x="4572000" y="2761800"/>
              <a:ext cx="3000000" cy="571500"/>
              <a:chOff x="4706450" y="2752300"/>
              <a:chExt cx="3000000" cy="571500"/>
            </a:xfrm>
          </p:grpSpPr>
          <p:sp>
            <p:nvSpPr>
              <p:cNvPr id="819" name="Google Shape;819;p71"/>
              <p:cNvSpPr txBox="1"/>
              <p:nvPr/>
            </p:nvSpPr>
            <p:spPr>
              <a:xfrm>
                <a:off x="4706450" y="2776450"/>
                <a:ext cx="30000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None/>
                </a:pPr>
                <a:r>
                  <a:rPr lang="en-GB" sz="22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Press 455</a:t>
                </a:r>
                <a:endParaRPr/>
              </a:p>
            </p:txBody>
          </p:sp>
          <p:pic>
            <p:nvPicPr>
              <p:cNvPr id="820" name="Google Shape;820;p7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151575" y="2752300"/>
                <a:ext cx="51435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21" name="Google Shape;821;p7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97350" y="2761800"/>
              <a:ext cx="581025" cy="571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\frac{455}{50}\ =\ \frac{91}{10}&quot;&gt;&lt;mfrac&gt;&lt;mn&gt;455&lt;/mn&gt;&lt;mn&gt;50&lt;/mn&gt;&lt;/mfrac&gt;&lt;mtext&gt;&lt;/mtext&gt;&lt;mo&gt;=&lt;/mo&gt;&lt;mtext&gt;&lt;/mtext&gt;&lt;mfrac&gt;&lt;mn&gt;91&lt;/mn&gt;&lt;mn&gt;10&lt;/mn&gt;&lt;/mfrac&gt;&lt;/math&gt;" id="822" name="Google Shape;822;p71" title="455 over 50 equals 91 over 10"/>
          <p:cNvPicPr preferRelativeResize="0"/>
          <p:nvPr/>
        </p:nvPicPr>
        <p:blipFill rotWithShape="1">
          <a:blip r:embed="rId6">
            <a:alphaModFix/>
          </a:blip>
          <a:srcRect b="0" l="0" r="59609" t="0"/>
          <a:stretch/>
        </p:blipFill>
        <p:spPr>
          <a:xfrm>
            <a:off x="6469900" y="2140225"/>
            <a:ext cx="702525" cy="77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55}{50}\ =\ \frac{91}{10}&quot;&gt;&lt;mfrac&gt;&lt;mn&gt;455&lt;/mn&gt;&lt;mn&gt;50&lt;/mn&gt;&lt;/mfrac&gt;&lt;mtext&gt;&lt;/mtext&gt;&lt;mo&gt;=&lt;/mo&gt;&lt;mtext&gt;&lt;/mtext&gt;&lt;mfrac&gt;&lt;mn&gt;91&lt;/mn&gt;&lt;mn&gt;10&lt;/mn&gt;&lt;/mfrac&gt;&lt;/math&gt;" id="823" name="Google Shape;823;p71" title="455 over 50 equals 91 over 10"/>
          <p:cNvPicPr preferRelativeResize="0"/>
          <p:nvPr/>
        </p:nvPicPr>
        <p:blipFill rotWithShape="1">
          <a:blip r:embed="rId6">
            <a:alphaModFix/>
          </a:blip>
          <a:srcRect b="0" l="40940" r="0" t="0"/>
          <a:stretch/>
        </p:blipFill>
        <p:spPr>
          <a:xfrm>
            <a:off x="7172425" y="2140225"/>
            <a:ext cx="1027250" cy="77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25100" y="1345500"/>
            <a:ext cx="1680700" cy="79472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71"/>
          <p:cNvSpPr txBox="1"/>
          <p:nvPr/>
        </p:nvSpPr>
        <p:spPr>
          <a:xfrm>
            <a:off x="6561500" y="3319350"/>
            <a:ext cx="116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2"/>
          <p:cNvSpPr txBox="1"/>
          <p:nvPr>
            <p:ph idx="1" type="body"/>
          </p:nvPr>
        </p:nvSpPr>
        <p:spPr>
          <a:xfrm>
            <a:off x="266850" y="683100"/>
            <a:ext cx="8237700" cy="4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 wants to work out</a:t>
            </a:r>
            <a:endParaRPr/>
          </a:p>
        </p:txBody>
      </p:sp>
      <p:sp>
        <p:nvSpPr>
          <p:cNvPr id="831" name="Google Shape;83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</p:txBody>
      </p:sp>
      <p:grpSp>
        <p:nvGrpSpPr>
          <p:cNvPr id="832" name="Google Shape;832;p72"/>
          <p:cNvGrpSpPr/>
          <p:nvPr/>
        </p:nvGrpSpPr>
        <p:grpSpPr>
          <a:xfrm>
            <a:off x="4570124" y="653818"/>
            <a:ext cx="1776000" cy="1171500"/>
            <a:chOff x="3048000" y="1097100"/>
            <a:chExt cx="1776000" cy="1171500"/>
          </a:xfrm>
        </p:grpSpPr>
        <p:sp>
          <p:nvSpPr>
            <p:cNvPr id="833" name="Google Shape;833;p72"/>
            <p:cNvSpPr/>
            <p:nvPr/>
          </p:nvSpPr>
          <p:spPr>
            <a:xfrm>
              <a:off x="3048000" y="1097100"/>
              <a:ext cx="1776000" cy="11715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5}{30}\times45&quot;&gt;&lt;mfrac&gt;&lt;mn&gt;25&lt;/mn&gt;&lt;mn&gt;30&lt;/mn&gt;&lt;/mfrac&gt;&lt;mo&gt;×&lt;/mo&gt;&lt;mn&gt;45&lt;/mn&gt;&lt;/math&gt;" id="834" name="Google Shape;834;p72" title="25 over 30 times 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209925" y="1211977"/>
              <a:ext cx="1488778" cy="948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5" name="Google Shape;835;p72"/>
          <p:cNvSpPr txBox="1"/>
          <p:nvPr>
            <p:ph idx="1" type="body"/>
          </p:nvPr>
        </p:nvSpPr>
        <p:spPr>
          <a:xfrm>
            <a:off x="183500" y="1899525"/>
            <a:ext cx="4557300" cy="4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 gets this on the calculator.</a:t>
            </a:r>
            <a:endParaRPr/>
          </a:p>
        </p:txBody>
      </p:sp>
      <p:sp>
        <p:nvSpPr>
          <p:cNvPr id="836" name="Google Shape;836;p72"/>
          <p:cNvSpPr txBox="1"/>
          <p:nvPr>
            <p:ph idx="1" type="body"/>
          </p:nvPr>
        </p:nvSpPr>
        <p:spPr>
          <a:xfrm>
            <a:off x="266850" y="3820200"/>
            <a:ext cx="4557300" cy="4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did Sam do wrong?</a:t>
            </a:r>
            <a:endParaRPr/>
          </a:p>
        </p:txBody>
      </p:sp>
      <p:pic>
        <p:nvPicPr>
          <p:cNvPr id="837" name="Google Shape;83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6324" y="2364000"/>
            <a:ext cx="3171479" cy="1456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8" name="Google Shape;838;p72"/>
          <p:cNvGrpSpPr/>
          <p:nvPr/>
        </p:nvGrpSpPr>
        <p:grpSpPr>
          <a:xfrm>
            <a:off x="183500" y="4217100"/>
            <a:ext cx="7734300" cy="603300"/>
            <a:chOff x="183500" y="4217100"/>
            <a:chExt cx="7734300" cy="603300"/>
          </a:xfrm>
        </p:grpSpPr>
        <p:sp>
          <p:nvSpPr>
            <p:cNvPr id="839" name="Google Shape;839;p72"/>
            <p:cNvSpPr txBox="1"/>
            <p:nvPr/>
          </p:nvSpPr>
          <p:spPr>
            <a:xfrm>
              <a:off x="183500" y="4297200"/>
              <a:ext cx="7734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Sam needed to press       to exit the denominator.</a:t>
              </a: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 </a:t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id="840" name="Google Shape;840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80050" y="4217100"/>
              <a:ext cx="545175" cy="563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1" name="Google Shape;841;p72"/>
          <p:cNvSpPr txBox="1"/>
          <p:nvPr>
            <p:ph idx="1" type="body"/>
          </p:nvPr>
        </p:nvSpPr>
        <p:spPr>
          <a:xfrm>
            <a:off x="183500" y="2454488"/>
            <a:ext cx="4557300" cy="49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 should have pressed</a:t>
            </a:r>
            <a:endParaRPr/>
          </a:p>
        </p:txBody>
      </p:sp>
      <p:pic>
        <p:nvPicPr>
          <p:cNvPr id="842" name="Google Shape;842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9700" y="3009475"/>
            <a:ext cx="4914900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69238" y="2306288"/>
            <a:ext cx="338137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3"/>
          <p:cNvSpPr txBox="1"/>
          <p:nvPr>
            <p:ph idx="1" type="subTitle"/>
          </p:nvPr>
        </p:nvSpPr>
        <p:spPr>
          <a:xfrm>
            <a:off x="337813" y="927900"/>
            <a:ext cx="4185000" cy="144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calculator, work out the answers to the following, giving your answer as an improper fraction.</a:t>
            </a:r>
            <a:endParaRPr/>
          </a:p>
        </p:txBody>
      </p:sp>
      <p:sp>
        <p:nvSpPr>
          <p:cNvPr id="849" name="Google Shape;849;p73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4}{11}\times265=\ \frac{1060}{11}\\&amp;#13;&amp;#10;\frac{48}{65}\times\frac{40}{12}=\frac{32}{13}\end{array}&quot;&gt;&lt;mtable columnalign=&quot;left&quot; columnspacing=&quot;1em&quot; rowspacing=&quot;4pt&quot;&gt;&lt;mtr&gt;&lt;mtd&gt;&lt;mfrac&gt;&lt;mn&gt;4&lt;/mn&gt;&lt;mn&gt;11&lt;/mn&gt;&lt;/mfrac&gt;&lt;mo&gt;×&lt;/mo&gt;&lt;mn&gt;265&lt;/mn&gt;&lt;mo&gt;=&lt;/mo&gt;&lt;mtext&gt;&lt;/mtext&gt;&lt;mfrac&gt;&lt;mn&gt;1060&lt;/mn&gt;&lt;mn&gt;11&lt;/mn&gt;&lt;/mfrac&gt;&lt;/mtd&gt;&lt;/mtr&gt;&lt;mtr&gt;&lt;mtd&gt;&lt;mfrac&gt;&lt;mn&gt;48&lt;/mn&gt;&lt;mn&gt;65&lt;/mn&gt;&lt;/mfrac&gt;&lt;mo&gt;×&lt;/mo&gt;&lt;mfrac&gt;&lt;mn&gt;40&lt;/mn&gt;&lt;mn&gt;12&lt;/mn&gt;&lt;/mfrac&gt;&lt;mo&gt;=&lt;/mo&gt;&lt;mfrac&gt;&lt;mn&gt;32&lt;/mn&gt;&lt;mn&gt;13&lt;/mn&gt;&lt;/mfrac&gt;&lt;/mtd&gt;&lt;/mtr&gt;&lt;/mtable&gt;&lt;/math&gt;" id="850" name="Google Shape;850;p73" title="2 lines Line 1: 4 over 11 times 265 equals 1060 over 11 Line 2: 48 over 65 times 40 over 12 equals 32 over 13"/>
          <p:cNvPicPr preferRelativeResize="0"/>
          <p:nvPr/>
        </p:nvPicPr>
        <p:blipFill rotWithShape="1">
          <a:blip r:embed="rId3">
            <a:alphaModFix/>
          </a:blip>
          <a:srcRect b="47758" l="0" r="42624" t="0"/>
          <a:stretch/>
        </p:blipFill>
        <p:spPr>
          <a:xfrm>
            <a:off x="323988" y="2300625"/>
            <a:ext cx="1666725" cy="7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11}\times265=\ \frac{1060}{11}\\&amp;#13;&amp;#10;\frac{48}{65}\times\frac{40}{12}=\frac{32}{13}\end{array}&quot;&gt;&lt;mtable columnalign=&quot;left&quot; columnspacing=&quot;1em&quot; rowspacing=&quot;4pt&quot;&gt;&lt;mtr&gt;&lt;mtd&gt;&lt;mfrac&gt;&lt;mn&gt;4&lt;/mn&gt;&lt;mn&gt;11&lt;/mn&gt;&lt;/mfrac&gt;&lt;mo&gt;×&lt;/mo&gt;&lt;mn&gt;265&lt;/mn&gt;&lt;mo&gt;=&lt;/mo&gt;&lt;mtext&gt;&lt;/mtext&gt;&lt;mfrac&gt;&lt;mn&gt;1060&lt;/mn&gt;&lt;mn&gt;11&lt;/mn&gt;&lt;/mfrac&gt;&lt;/mtd&gt;&lt;/mtr&gt;&lt;mtr&gt;&lt;mtd&gt;&lt;mfrac&gt;&lt;mn&gt;48&lt;/mn&gt;&lt;mn&gt;65&lt;/mn&gt;&lt;/mfrac&gt;&lt;mo&gt;×&lt;/mo&gt;&lt;mfrac&gt;&lt;mn&gt;40&lt;/mn&gt;&lt;mn&gt;12&lt;/mn&gt;&lt;/mfrac&gt;&lt;mo&gt;=&lt;/mo&gt;&lt;mfrac&gt;&lt;mn&gt;32&lt;/mn&gt;&lt;mn&gt;13&lt;/mn&gt;&lt;/mfrac&gt;&lt;/mtd&gt;&lt;/mtr&gt;&lt;/mtable&gt;&lt;/math&gt;" id="851" name="Google Shape;851;p73" title="2 lines Line 1: 4 over 11 times 265 equals 1060 over 11 Line 2: 48 over 65 times 40 over 12 equals 32 over 13"/>
          <p:cNvPicPr preferRelativeResize="0"/>
          <p:nvPr/>
        </p:nvPicPr>
        <p:blipFill rotWithShape="1">
          <a:blip r:embed="rId3">
            <a:alphaModFix/>
          </a:blip>
          <a:srcRect b="-6012" l="0" r="51150" t="53771"/>
          <a:stretch/>
        </p:blipFill>
        <p:spPr>
          <a:xfrm>
            <a:off x="5108588" y="2124613"/>
            <a:ext cx="1419075" cy="7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088" y="3083250"/>
            <a:ext cx="4083500" cy="3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8525" y="3628725"/>
            <a:ext cx="2101075" cy="984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67437" y="3015225"/>
            <a:ext cx="236165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82157" y="3679225"/>
            <a:ext cx="2011328" cy="9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73"/>
          <p:cNvSpPr txBox="1"/>
          <p:nvPr>
            <p:ph idx="1" type="subTitle"/>
          </p:nvPr>
        </p:nvSpPr>
        <p:spPr>
          <a:xfrm>
            <a:off x="4787413" y="927900"/>
            <a:ext cx="4185000" cy="144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calculator, work out the answers to the following, giving your answer as an improper fraction.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4"/>
          <p:cNvSpPr txBox="1"/>
          <p:nvPr>
            <p:ph idx="1" type="body"/>
          </p:nvPr>
        </p:nvSpPr>
        <p:spPr>
          <a:xfrm>
            <a:off x="324000" y="759300"/>
            <a:ext cx="8237700" cy="5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calculator, write the simplified fractions 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74"/>
          <p:cNvSpPr txBox="1"/>
          <p:nvPr/>
        </p:nvSpPr>
        <p:spPr>
          <a:xfrm>
            <a:off x="324000" y="14088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4"/>
          <p:cNvSpPr txBox="1"/>
          <p:nvPr/>
        </p:nvSpPr>
        <p:spPr>
          <a:xfrm>
            <a:off x="324000" y="259441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4"/>
          <p:cNvSpPr txBox="1"/>
          <p:nvPr/>
        </p:nvSpPr>
        <p:spPr>
          <a:xfrm>
            <a:off x="324000" y="3780000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4"/>
          <p:cNvSpPr txBox="1"/>
          <p:nvPr/>
        </p:nvSpPr>
        <p:spPr>
          <a:xfrm>
            <a:off x="5895703" y="1419728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4"/>
          <p:cNvSpPr txBox="1"/>
          <p:nvPr/>
        </p:nvSpPr>
        <p:spPr>
          <a:xfrm>
            <a:off x="5895703" y="260531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4"/>
          <p:cNvSpPr txBox="1"/>
          <p:nvPr/>
        </p:nvSpPr>
        <p:spPr>
          <a:xfrm>
            <a:off x="5895703" y="379090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869" name="Google Shape;869;p74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86300" l="0" r="0" t="0"/>
          <a:stretch/>
        </p:blipFill>
        <p:spPr>
          <a:xfrm>
            <a:off x="906575" y="1419725"/>
            <a:ext cx="663450" cy="704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870" name="Google Shape;870;p74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71884" l="0" r="0" t="13309"/>
          <a:stretch/>
        </p:blipFill>
        <p:spPr>
          <a:xfrm>
            <a:off x="6373600" y="1455375"/>
            <a:ext cx="663450" cy="76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871" name="Google Shape;871;p74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58210" l="-11349" r="-11349" t="28090"/>
          <a:stretch/>
        </p:blipFill>
        <p:spPr>
          <a:xfrm>
            <a:off x="6298313" y="2651600"/>
            <a:ext cx="814025" cy="704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872" name="Google Shape;872;p74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41209" l="-18637" r="-45566" t="43122"/>
          <a:stretch/>
        </p:blipFill>
        <p:spPr>
          <a:xfrm>
            <a:off x="764525" y="3682700"/>
            <a:ext cx="1089450" cy="805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873" name="Google Shape;873;p74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26377" l="-41559" r="-22643" t="57954"/>
          <a:stretch/>
        </p:blipFill>
        <p:spPr>
          <a:xfrm>
            <a:off x="6160600" y="3790900"/>
            <a:ext cx="1089450" cy="805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874" name="Google Shape;874;p74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0" l="0" r="0" t="86300"/>
          <a:stretch/>
        </p:blipFill>
        <p:spPr>
          <a:xfrm>
            <a:off x="906575" y="2488200"/>
            <a:ext cx="663450" cy="70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5"/>
          <p:cNvSpPr txBox="1"/>
          <p:nvPr>
            <p:ph idx="1" type="body"/>
          </p:nvPr>
        </p:nvSpPr>
        <p:spPr>
          <a:xfrm>
            <a:off x="324000" y="759300"/>
            <a:ext cx="8237700" cy="5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Using a calculator, work out the answers to the following giving your answer as a proper or improper fraction.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75"/>
          <p:cNvSpPr txBox="1"/>
          <p:nvPr/>
        </p:nvSpPr>
        <p:spPr>
          <a:xfrm>
            <a:off x="3240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2" name="Google Shape;882;p75"/>
          <p:cNvSpPr txBox="1"/>
          <p:nvPr/>
        </p:nvSpPr>
        <p:spPr>
          <a:xfrm>
            <a:off x="324000" y="348615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162}\times\frac{12}{33}\\&amp;#13;&amp;#10;\frac{39}{20}\times389\\&amp;#13;&amp;#10;\frac{1}{2}\times\frac{1}{4}\times\frac{1}{8}\times145.2\end{array}&quot;&gt;&lt;mtable columnalign=&quot;left&quot; columnspacing=&quot;1em&quot; rowspacing=&quot;4pt&quot;&gt;&lt;mtr&gt;&lt;mtd&gt;&lt;mfrac&gt;&lt;mn&gt;3&lt;/mn&gt;&lt;mn&gt;162&lt;/mn&gt;&lt;/mfrac&gt;&lt;mo&gt;×&lt;/mo&gt;&lt;mfrac&gt;&lt;mn&gt;12&lt;/mn&gt;&lt;mn&gt;33&lt;/mn&gt;&lt;/mfrac&gt;&lt;/mtd&gt;&lt;/mtr&gt;&lt;mtr&gt;&lt;mtd&gt;&lt;mfrac&gt;&lt;mn&gt;39&lt;/mn&gt;&lt;mn&gt;20&lt;/mn&gt;&lt;/mfrac&gt;&lt;mo&gt;×&lt;/mo&gt;&lt;mn&gt;389&lt;/mn&gt;&lt;/mtd&gt;&lt;/mtr&gt;&lt;mtr&gt;&lt;mtd&gt;&lt;mfrac&gt;&lt;mn&gt;1&lt;/mn&gt;&lt;mn&gt;2&lt;/mn&gt;&lt;/mfrac&gt;&lt;mo&gt;×&lt;/mo&gt;&lt;mfrac&gt;&lt;mn&gt;1&lt;/mn&gt;&lt;mn&gt;4&lt;/mn&gt;&lt;/mfrac&gt;&lt;mo&gt;×&lt;/mo&gt;&lt;mfrac&gt;&lt;mn&gt;1&lt;/mn&gt;&lt;mn&gt;8&lt;/mn&gt;&lt;/mfrac&gt;&lt;mo&gt;×&lt;/mo&gt;&lt;mn&gt;145.2&lt;/mn&gt;&lt;/mtd&gt;&lt;/mtr&gt;&lt;/mtable&gt;&lt;/math&gt;" id="883" name="Google Shape;883;p75" title="3 lines Line 1: 3 over 162 times 12 over 33 Line 2: 39 over 20 times 389 Line 3: one half times one fourth times one eighth times 145.2"/>
          <p:cNvPicPr preferRelativeResize="0"/>
          <p:nvPr/>
        </p:nvPicPr>
        <p:blipFill rotWithShape="1">
          <a:blip r:embed="rId3">
            <a:alphaModFix/>
          </a:blip>
          <a:srcRect b="68388" l="0" r="49584" t="0"/>
          <a:stretch/>
        </p:blipFill>
        <p:spPr>
          <a:xfrm>
            <a:off x="1032275" y="1866025"/>
            <a:ext cx="1724151" cy="70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162}\times\frac{12}{33}\\&amp;#13;&amp;#10;\frac{39}{20}\times389\\&amp;#13;&amp;#10;\frac{1}{2}\times\frac{1}{4}\times\frac{1}{8}\times145.2\end{array}&quot;&gt;&lt;mtable columnalign=&quot;left&quot; columnspacing=&quot;1em&quot; rowspacing=&quot;4pt&quot;&gt;&lt;mtr&gt;&lt;mtd&gt;&lt;mfrac&gt;&lt;mn&gt;3&lt;/mn&gt;&lt;mn&gt;162&lt;/mn&gt;&lt;/mfrac&gt;&lt;mo&gt;×&lt;/mo&gt;&lt;mfrac&gt;&lt;mn&gt;12&lt;/mn&gt;&lt;mn&gt;33&lt;/mn&gt;&lt;/mfrac&gt;&lt;/mtd&gt;&lt;/mtr&gt;&lt;mtr&gt;&lt;mtd&gt;&lt;mfrac&gt;&lt;mn&gt;39&lt;/mn&gt;&lt;mn&gt;20&lt;/mn&gt;&lt;/mfrac&gt;&lt;mo&gt;×&lt;/mo&gt;&lt;mn&gt;389&lt;/mn&gt;&lt;/mtd&gt;&lt;/mtr&gt;&lt;mtr&gt;&lt;mtd&gt;&lt;mfrac&gt;&lt;mn&gt;1&lt;/mn&gt;&lt;mn&gt;2&lt;/mn&gt;&lt;/mfrac&gt;&lt;mo&gt;×&lt;/mo&gt;&lt;mfrac&gt;&lt;mn&gt;1&lt;/mn&gt;&lt;mn&gt;4&lt;/mn&gt;&lt;/mfrac&gt;&lt;mo&gt;×&lt;/mo&gt;&lt;mfrac&gt;&lt;mn&gt;1&lt;/mn&gt;&lt;mn&gt;8&lt;/mn&gt;&lt;/mfrac&gt;&lt;mo&gt;×&lt;/mo&gt;&lt;mn&gt;145.2&lt;/mn&gt;&lt;/mtd&gt;&lt;/mtr&gt;&lt;/mtable&gt;&lt;/math&gt;" id="884" name="Google Shape;884;p75" title="3 lines Line 1: 3 over 162 times 12 over 33 Line 2: 39 over 20 times 389 Line 3: one half times one fourth times one eighth times 145.2"/>
          <p:cNvPicPr preferRelativeResize="0"/>
          <p:nvPr/>
        </p:nvPicPr>
        <p:blipFill rotWithShape="1">
          <a:blip r:embed="rId3">
            <a:alphaModFix/>
          </a:blip>
          <a:srcRect b="34194" l="-2984" r="52568" t="34194"/>
          <a:stretch/>
        </p:blipFill>
        <p:spPr>
          <a:xfrm>
            <a:off x="1032275" y="3530700"/>
            <a:ext cx="1440202" cy="5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6"/>
          <p:cNvSpPr txBox="1"/>
          <p:nvPr>
            <p:ph idx="1" type="body"/>
          </p:nvPr>
        </p:nvSpPr>
        <p:spPr>
          <a:xfrm>
            <a:off x="324000" y="759300"/>
            <a:ext cx="8237700" cy="5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Figure out the missing digits on the calculator screen to make the calculation correct.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76"/>
          <p:cNvSpPr txBox="1"/>
          <p:nvPr/>
        </p:nvSpPr>
        <p:spPr>
          <a:xfrm>
            <a:off x="3240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6"/>
          <p:cNvSpPr txBox="1"/>
          <p:nvPr/>
        </p:nvSpPr>
        <p:spPr>
          <a:xfrm>
            <a:off x="324000" y="335641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6"/>
          <p:cNvSpPr txBox="1"/>
          <p:nvPr/>
        </p:nvSpPr>
        <p:spPr>
          <a:xfrm>
            <a:off x="4681853" y="1779978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6"/>
          <p:cNvSpPr txBox="1"/>
          <p:nvPr/>
        </p:nvSpPr>
        <p:spPr>
          <a:xfrm>
            <a:off x="4681853" y="327036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5" name="Google Shape;89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50" y="1705500"/>
            <a:ext cx="2572947" cy="1164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9611" y="1620008"/>
            <a:ext cx="2759184" cy="128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550" y="3285381"/>
            <a:ext cx="2572937" cy="1176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5002" y="3196088"/>
            <a:ext cx="2693973" cy="1281049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6"/>
          <p:cNvSpPr/>
          <p:nvPr/>
        </p:nvSpPr>
        <p:spPr>
          <a:xfrm>
            <a:off x="2969934" y="2521273"/>
            <a:ext cx="233100" cy="2076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6"/>
          <p:cNvSpPr/>
          <p:nvPr/>
        </p:nvSpPr>
        <p:spPr>
          <a:xfrm>
            <a:off x="2969934" y="2254584"/>
            <a:ext cx="233100" cy="2076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6"/>
          <p:cNvSpPr/>
          <p:nvPr/>
        </p:nvSpPr>
        <p:spPr>
          <a:xfrm>
            <a:off x="6133598" y="2120570"/>
            <a:ext cx="233100" cy="2076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6"/>
          <p:cNvSpPr/>
          <p:nvPr/>
        </p:nvSpPr>
        <p:spPr>
          <a:xfrm>
            <a:off x="1503523" y="3491895"/>
            <a:ext cx="233100" cy="2076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6"/>
          <p:cNvSpPr/>
          <p:nvPr/>
        </p:nvSpPr>
        <p:spPr>
          <a:xfrm>
            <a:off x="6151990" y="3434676"/>
            <a:ext cx="233100" cy="2076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6"/>
          <p:cNvSpPr/>
          <p:nvPr/>
        </p:nvSpPr>
        <p:spPr>
          <a:xfrm>
            <a:off x="6151990" y="3706172"/>
            <a:ext cx="233100" cy="2076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77"/>
          <p:cNvSpPr txBox="1"/>
          <p:nvPr>
            <p:ph idx="1" type="body"/>
          </p:nvPr>
        </p:nvSpPr>
        <p:spPr>
          <a:xfrm>
            <a:off x="324000" y="759300"/>
            <a:ext cx="8237700" cy="58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calculator, write the simplified fractions to: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77"/>
          <p:cNvSpPr txBox="1"/>
          <p:nvPr/>
        </p:nvSpPr>
        <p:spPr>
          <a:xfrm>
            <a:off x="324000" y="14088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7"/>
          <p:cNvSpPr txBox="1"/>
          <p:nvPr/>
        </p:nvSpPr>
        <p:spPr>
          <a:xfrm>
            <a:off x="324000" y="259441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7"/>
          <p:cNvSpPr txBox="1"/>
          <p:nvPr/>
        </p:nvSpPr>
        <p:spPr>
          <a:xfrm>
            <a:off x="324000" y="3780000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7"/>
          <p:cNvSpPr txBox="1"/>
          <p:nvPr/>
        </p:nvSpPr>
        <p:spPr>
          <a:xfrm>
            <a:off x="5895703" y="1419728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7"/>
          <p:cNvSpPr txBox="1"/>
          <p:nvPr/>
        </p:nvSpPr>
        <p:spPr>
          <a:xfrm>
            <a:off x="5895703" y="260531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7"/>
          <p:cNvSpPr txBox="1"/>
          <p:nvPr/>
        </p:nvSpPr>
        <p:spPr>
          <a:xfrm>
            <a:off x="5895703" y="379090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917" name="Google Shape;917;p77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86300" l="0" r="0" t="0"/>
          <a:stretch/>
        </p:blipFill>
        <p:spPr>
          <a:xfrm>
            <a:off x="906575" y="1419725"/>
            <a:ext cx="663450" cy="704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918" name="Google Shape;918;p77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71884" l="0" r="0" t="13309"/>
          <a:stretch/>
        </p:blipFill>
        <p:spPr>
          <a:xfrm>
            <a:off x="6373600" y="1455375"/>
            <a:ext cx="663450" cy="761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919" name="Google Shape;919;p77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58210" l="-11349" r="-11349" t="28090"/>
          <a:stretch/>
        </p:blipFill>
        <p:spPr>
          <a:xfrm>
            <a:off x="6298313" y="2651600"/>
            <a:ext cx="814025" cy="704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920" name="Google Shape;920;p77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41209" l="-18637" r="-45566" t="43122"/>
          <a:stretch/>
        </p:blipFill>
        <p:spPr>
          <a:xfrm>
            <a:off x="764525" y="3682700"/>
            <a:ext cx="1089450" cy="805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921" name="Google Shape;921;p77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26377" l="-41559" r="-22643" t="57954"/>
          <a:stretch/>
        </p:blipFill>
        <p:spPr>
          <a:xfrm>
            <a:off x="6160600" y="3790900"/>
            <a:ext cx="1089450" cy="805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3}{5}\ \ \ \ \ =\frac{11}{15}&quot;&gt;&lt;mo&gt;=&lt;/mo&gt;&lt;mfrac&gt;&lt;mn&gt;3&lt;/mn&gt;&lt;mn&gt;5&lt;/mn&gt;&lt;/mfrac&gt;&lt;mtext&gt;&lt;/mtext&gt;&lt;mtext&gt;&lt;/mtext&gt;&lt;mtext&gt;&lt;/mtext&gt;&lt;mtext&gt;&lt;/mtext&gt;&lt;mtext&gt;&lt;/mtext&gt;&lt;mo&gt;=&lt;/mo&gt;&lt;mfrac&gt;&lt;mn&gt;11&lt;/mn&gt;&lt;mn&gt;15&lt;/mn&gt;&lt;/mfrac&gt;&lt;/math&gt;" id="922" name="Google Shape;922;p77" title="equals three fifths equals 11 over 15"/>
          <p:cNvPicPr preferRelativeResize="0"/>
          <p:nvPr/>
        </p:nvPicPr>
        <p:blipFill rotWithShape="1">
          <a:blip r:embed="rId4">
            <a:alphaModFix/>
          </a:blip>
          <a:srcRect b="0" l="0" r="59685" t="0"/>
          <a:stretch/>
        </p:blipFill>
        <p:spPr>
          <a:xfrm>
            <a:off x="1499725" y="1419725"/>
            <a:ext cx="751200" cy="70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39}{500}&quot;&gt;&lt;mo&gt;=&lt;/mo&gt;&lt;mfrac&gt;&lt;mn&gt;39&lt;/mn&gt;&lt;mn&gt;500&lt;/mn&gt;&lt;/mfrac&gt;&lt;/math&gt;" id="923" name="Google Shape;923;p77" title="equals 39 over 5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2325" y="2672089"/>
            <a:ext cx="814000" cy="6352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3}{5}\ \ \ \ \ =\frac{11}{15}&quot;&gt;&lt;mo&gt;=&lt;/mo&gt;&lt;mfrac&gt;&lt;mn&gt;3&lt;/mn&gt;&lt;mn&gt;5&lt;/mn&gt;&lt;/mfrac&gt;&lt;mtext&gt;&lt;/mtext&gt;&lt;mtext&gt;&lt;/mtext&gt;&lt;mtext&gt;&lt;/mtext&gt;&lt;mtext&gt;&lt;/mtext&gt;&lt;mtext&gt;&lt;/mtext&gt;&lt;mo&gt;=&lt;/mo&gt;&lt;mfrac&gt;&lt;mn&gt;11&lt;/mn&gt;&lt;mn&gt;15&lt;/mn&gt;&lt;/mfrac&gt;&lt;/math&gt;" id="924" name="Google Shape;924;p77" title="equals three fifths equals 11 over 15"/>
          <p:cNvPicPr preferRelativeResize="0"/>
          <p:nvPr/>
        </p:nvPicPr>
        <p:blipFill rotWithShape="1">
          <a:blip r:embed="rId4">
            <a:alphaModFix/>
          </a:blip>
          <a:srcRect b="0" l="54379" r="0" t="0"/>
          <a:stretch/>
        </p:blipFill>
        <p:spPr>
          <a:xfrm>
            <a:off x="6967096" y="1483838"/>
            <a:ext cx="850050" cy="70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417}{2500}\ \ \ \ =\frac{19}{18}&quot;&gt;&lt;mo&gt;=&lt;/mo&gt;&lt;mfrac&gt;&lt;mn&gt;1417&lt;/mn&gt;&lt;mn&gt;2500&lt;/mn&gt;&lt;/mfrac&gt;&lt;mtext&gt;&lt;/mtext&gt;&lt;mtext&gt;&lt;/mtext&gt;&lt;mtext&gt;&lt;/mtext&gt;&lt;mtext&gt;&lt;/mtext&gt;&lt;mo&gt;=&lt;/mo&gt;&lt;mfrac&gt;&lt;mn&gt;19&lt;/mn&gt;&lt;mn&gt;18&lt;/mn&gt;&lt;/mfrac&gt;&lt;/math&gt;" id="925" name="Google Shape;925;p77" title="equals 1417 over 2500 equals 19 over 18"/>
          <p:cNvPicPr preferRelativeResize="0"/>
          <p:nvPr/>
        </p:nvPicPr>
        <p:blipFill rotWithShape="1">
          <a:blip r:embed="rId6">
            <a:alphaModFix/>
          </a:blip>
          <a:srcRect b="0" l="0" r="43509" t="0"/>
          <a:stretch/>
        </p:blipFill>
        <p:spPr>
          <a:xfrm>
            <a:off x="1570025" y="3733350"/>
            <a:ext cx="1290725" cy="70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417}{2500}\ \ \ \ =\frac{19}{18}&quot;&gt;&lt;mo&gt;=&lt;/mo&gt;&lt;mfrac&gt;&lt;mn&gt;1417&lt;/mn&gt;&lt;mn&gt;2500&lt;/mn&gt;&lt;/mfrac&gt;&lt;mtext&gt;&lt;/mtext&gt;&lt;mtext&gt;&lt;/mtext&gt;&lt;mtext&gt;&lt;/mtext&gt;&lt;mtext&gt;&lt;/mtext&gt;&lt;mo&gt;=&lt;/mo&gt;&lt;mfrac&gt;&lt;mn&gt;19&lt;/mn&gt;&lt;mn&gt;18&lt;/mn&gt;&lt;/mfrac&gt;&lt;/math&gt;" id="926" name="Google Shape;926;p77" title="equals 1417 over 2500 equals 19 over 18"/>
          <p:cNvPicPr preferRelativeResize="0"/>
          <p:nvPr/>
        </p:nvPicPr>
        <p:blipFill rotWithShape="1">
          <a:blip r:embed="rId6">
            <a:alphaModFix/>
          </a:blip>
          <a:srcRect b="0" l="64374" r="0" t="0"/>
          <a:stretch/>
        </p:blipFill>
        <p:spPr>
          <a:xfrm>
            <a:off x="6891233" y="3790900"/>
            <a:ext cx="814000" cy="70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24}{40}\\&amp;#13;&amp;#10;\frac{88}{120}\\&amp;#13;&amp;#10;\frac{78}{1000}\\&amp;#13;&amp;#10;\frac{2834}{5000}\\&amp;#13;&amp;#10;\frac{95}{90}\\&amp;#13;&amp;#10;\frac{3}{3333}\\&amp;#13;&amp;#10;\frac{88}{40}\end{array}&quot;&gt;&lt;mtable columnalign=&quot;left&quot; columnspacing=&quot;1em&quot; rowspacing=&quot;4pt&quot;&gt;&lt;mtr&gt;&lt;mtd&gt;&lt;mfrac&gt;&lt;mn&gt;24&lt;/mn&gt;&lt;mn&gt;40&lt;/mn&gt;&lt;/mfrac&gt;&lt;/mtd&gt;&lt;/mtr&gt;&lt;mtr&gt;&lt;mtd&gt;&lt;mfrac&gt;&lt;mn&gt;88&lt;/mn&gt;&lt;mn&gt;120&lt;/mn&gt;&lt;/mfrac&gt;&lt;/mtd&gt;&lt;/mtr&gt;&lt;mtr&gt;&lt;mtd&gt;&lt;mfrac&gt;&lt;mn&gt;78&lt;/mn&gt;&lt;mn&gt;1000&lt;/mn&gt;&lt;/mfrac&gt;&lt;/mtd&gt;&lt;/mtr&gt;&lt;mtr&gt;&lt;mtd&gt;&lt;mfrac&gt;&lt;mn&gt;2834&lt;/mn&gt;&lt;mn&gt;5000&lt;/mn&gt;&lt;/mfrac&gt;&lt;/mtd&gt;&lt;/mtr&gt;&lt;mtr&gt;&lt;mtd&gt;&lt;mfrac&gt;&lt;mn&gt;95&lt;/mn&gt;&lt;mn&gt;90&lt;/mn&gt;&lt;/mfrac&gt;&lt;/mtd&gt;&lt;/mtr&gt;&lt;mtr&gt;&lt;mtd&gt;&lt;mfrac&gt;&lt;mn&gt;3&lt;/mn&gt;&lt;mn&gt;3333&lt;/mn&gt;&lt;/mfrac&gt;&lt;/mtd&gt;&lt;/mtr&gt;&lt;mtr&gt;&lt;mtd&gt;&lt;mfrac&gt;&lt;mn&gt;88&lt;/mn&gt;&lt;mn&gt;40&lt;/mn&gt;&lt;/mfrac&gt;&lt;/mtd&gt;&lt;/mtr&gt;&lt;/mtable&gt;&lt;/math&gt;" id="927" name="Google Shape;927;p77" title="7 lines Line 1: 24 over 40 Line 2: 88 over 120 Line 3: 78 over 1000 Line 4: 2834 over 5000 Line 5: 95 over 90 Line 6: 3 over 3333 Line 7: 88 over 40"/>
          <p:cNvPicPr preferRelativeResize="0"/>
          <p:nvPr/>
        </p:nvPicPr>
        <p:blipFill rotWithShape="1">
          <a:blip r:embed="rId3">
            <a:alphaModFix/>
          </a:blip>
          <a:srcRect b="0" l="0" r="0" t="86300"/>
          <a:stretch/>
        </p:blipFill>
        <p:spPr>
          <a:xfrm>
            <a:off x="906575" y="2488200"/>
            <a:ext cx="663450" cy="704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1}{5}&quot;&gt;&lt;mo&gt;=&lt;/mo&gt;&lt;mfrac&gt;&lt;mn&gt;11&lt;/mn&gt;&lt;mn&gt;5&lt;/mn&gt;&lt;/mfrac&gt;&lt;/math&gt;" id="928" name="Google Shape;928;p77" title="equals eleven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98575" y="2614321"/>
            <a:ext cx="751200" cy="724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8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</a:t>
            </a:r>
            <a:r>
              <a:rPr lang="en-GB"/>
              <a:t>Using a calculator, work out the answers to the following giving your answer as a proper or improper fraction.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78"/>
          <p:cNvSpPr txBox="1"/>
          <p:nvPr/>
        </p:nvSpPr>
        <p:spPr>
          <a:xfrm>
            <a:off x="3240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8"/>
          <p:cNvSpPr txBox="1"/>
          <p:nvPr/>
        </p:nvSpPr>
        <p:spPr>
          <a:xfrm>
            <a:off x="324000" y="348615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162}\times\frac{12}{33}\\&amp;#13;&amp;#10;\frac{39}{20}\times389\\&amp;#13;&amp;#10;\frac{1}{2}\times\frac{1}{4}\times\frac{1}{8}\times145.2\end{array}&quot;&gt;&lt;mtable columnalign=&quot;left&quot; columnspacing=&quot;1em&quot; rowspacing=&quot;4pt&quot;&gt;&lt;mtr&gt;&lt;mtd&gt;&lt;mfrac&gt;&lt;mn&gt;3&lt;/mn&gt;&lt;mn&gt;162&lt;/mn&gt;&lt;/mfrac&gt;&lt;mo&gt;×&lt;/mo&gt;&lt;mfrac&gt;&lt;mn&gt;12&lt;/mn&gt;&lt;mn&gt;33&lt;/mn&gt;&lt;/mfrac&gt;&lt;/mtd&gt;&lt;/mtr&gt;&lt;mtr&gt;&lt;mtd&gt;&lt;mfrac&gt;&lt;mn&gt;39&lt;/mn&gt;&lt;mn&gt;20&lt;/mn&gt;&lt;/mfrac&gt;&lt;mo&gt;×&lt;/mo&gt;&lt;mn&gt;389&lt;/mn&gt;&lt;/mtd&gt;&lt;/mtr&gt;&lt;mtr&gt;&lt;mtd&gt;&lt;mfrac&gt;&lt;mn&gt;1&lt;/mn&gt;&lt;mn&gt;2&lt;/mn&gt;&lt;/mfrac&gt;&lt;mo&gt;×&lt;/mo&gt;&lt;mfrac&gt;&lt;mn&gt;1&lt;/mn&gt;&lt;mn&gt;4&lt;/mn&gt;&lt;/mfrac&gt;&lt;mo&gt;×&lt;/mo&gt;&lt;mfrac&gt;&lt;mn&gt;1&lt;/mn&gt;&lt;mn&gt;8&lt;/mn&gt;&lt;/mfrac&gt;&lt;mo&gt;×&lt;/mo&gt;&lt;mn&gt;145.2&lt;/mn&gt;&lt;/mtd&gt;&lt;/mtr&gt;&lt;/mtable&gt;&lt;/math&gt;" id="937" name="Google Shape;937;p78" title="3 lines Line 1: 3 over 162 times 12 over 33 Line 2: 39 over 20 times 389 Line 3: one half times one fourth times one eighth times 145.2"/>
          <p:cNvPicPr preferRelativeResize="0"/>
          <p:nvPr/>
        </p:nvPicPr>
        <p:blipFill rotWithShape="1">
          <a:blip r:embed="rId3">
            <a:alphaModFix/>
          </a:blip>
          <a:srcRect b="68388" l="0" r="49584" t="0"/>
          <a:stretch/>
        </p:blipFill>
        <p:spPr>
          <a:xfrm>
            <a:off x="1032275" y="1866025"/>
            <a:ext cx="1724151" cy="70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162}\times\frac{12}{33}\\&amp;#13;&amp;#10;\frac{39}{20}\times389\\&amp;#13;&amp;#10;\frac{1}{2}\times\frac{1}{4}\times\frac{1}{8}\times145.2\end{array}&quot;&gt;&lt;mtable columnalign=&quot;left&quot; columnspacing=&quot;1em&quot; rowspacing=&quot;4pt&quot;&gt;&lt;mtr&gt;&lt;mtd&gt;&lt;mfrac&gt;&lt;mn&gt;3&lt;/mn&gt;&lt;mn&gt;162&lt;/mn&gt;&lt;/mfrac&gt;&lt;mo&gt;×&lt;/mo&gt;&lt;mfrac&gt;&lt;mn&gt;12&lt;/mn&gt;&lt;mn&gt;33&lt;/mn&gt;&lt;/mfrac&gt;&lt;/mtd&gt;&lt;/mtr&gt;&lt;mtr&gt;&lt;mtd&gt;&lt;mfrac&gt;&lt;mn&gt;39&lt;/mn&gt;&lt;mn&gt;20&lt;/mn&gt;&lt;/mfrac&gt;&lt;mo&gt;×&lt;/mo&gt;&lt;mn&gt;389&lt;/mn&gt;&lt;/mtd&gt;&lt;/mtr&gt;&lt;mtr&gt;&lt;mtd&gt;&lt;mfrac&gt;&lt;mn&gt;1&lt;/mn&gt;&lt;mn&gt;2&lt;/mn&gt;&lt;/mfrac&gt;&lt;mo&gt;×&lt;/mo&gt;&lt;mfrac&gt;&lt;mn&gt;1&lt;/mn&gt;&lt;mn&gt;4&lt;/mn&gt;&lt;/mfrac&gt;&lt;mo&gt;×&lt;/mo&gt;&lt;mfrac&gt;&lt;mn&gt;1&lt;/mn&gt;&lt;mn&gt;8&lt;/mn&gt;&lt;/mfrac&gt;&lt;mo&gt;×&lt;/mo&gt;&lt;mn&gt;145.2&lt;/mn&gt;&lt;/mtd&gt;&lt;/mtr&gt;&lt;/mtable&gt;&lt;/math&gt;" id="938" name="Google Shape;938;p78" title="3 lines Line 1: 3 over 162 times 12 over 33 Line 2: 39 over 20 times 389 Line 3: one half times one fourth times one eighth times 145.2"/>
          <p:cNvPicPr preferRelativeResize="0"/>
          <p:nvPr/>
        </p:nvPicPr>
        <p:blipFill rotWithShape="1">
          <a:blip r:embed="rId3">
            <a:alphaModFix/>
          </a:blip>
          <a:srcRect b="34194" l="-2984" r="52568" t="34194"/>
          <a:stretch/>
        </p:blipFill>
        <p:spPr>
          <a:xfrm>
            <a:off x="1032275" y="3530700"/>
            <a:ext cx="1440202" cy="5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297}\ \ \ \ \ =\frac{15171}{20}\ \ \ \ &quot;&gt;&lt;mo&gt;=&lt;/mo&gt;&lt;mfrac&gt;&lt;mn&gt;2&lt;/mn&gt;&lt;mn&gt;297&lt;/mn&gt;&lt;/mfrac&gt;&lt;mtext&gt;&lt;/mtext&gt;&lt;mtext&gt;&lt;/mtext&gt;&lt;mtext&gt;&lt;/mtext&gt;&lt;mtext&gt;&lt;/mtext&gt;&lt;mtext&gt;&lt;/mtext&gt;&lt;mo&gt;=&lt;/mo&gt;&lt;mfrac&gt;&lt;mn&gt;15171&lt;/mn&gt;&lt;mn&gt;20&lt;/mn&gt;&lt;/mfrac&gt;&lt;mtext&gt;&lt;/mtext&gt;&lt;mtext&gt;&lt;/mtext&gt;&lt;mtext&gt;&lt;/mtext&gt;&lt;mtext&gt;&lt;/mtext&gt;&lt;/math&gt;" id="939" name="Google Shape;939;p78" title="equals 2 over 297 equals 15171 over 20"/>
          <p:cNvPicPr preferRelativeResize="0"/>
          <p:nvPr/>
        </p:nvPicPr>
        <p:blipFill rotWithShape="1">
          <a:blip r:embed="rId4">
            <a:alphaModFix/>
          </a:blip>
          <a:srcRect b="0" l="0" r="62566" t="0"/>
          <a:stretch/>
        </p:blipFill>
        <p:spPr>
          <a:xfrm>
            <a:off x="2750837" y="1729650"/>
            <a:ext cx="1237524" cy="860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}{297}\ \ \ \ \ =\frac{15171}{20}\ \ \ \ &quot;&gt;&lt;mo&gt;=&lt;/mo&gt;&lt;mfrac&gt;&lt;mn&gt;2&lt;/mn&gt;&lt;mn&gt;297&lt;/mn&gt;&lt;/mfrac&gt;&lt;mtext&gt;&lt;/mtext&gt;&lt;mtext&gt;&lt;/mtext&gt;&lt;mtext&gt;&lt;/mtext&gt;&lt;mtext&gt;&lt;/mtext&gt;&lt;mtext&gt;&lt;/mtext&gt;&lt;mo&gt;=&lt;/mo&gt;&lt;mfrac&gt;&lt;mn&gt;15171&lt;/mn&gt;&lt;mn&gt;20&lt;/mn&gt;&lt;/mfrac&gt;&lt;mtext&gt;&lt;/mtext&gt;&lt;mtext&gt;&lt;/mtext&gt;&lt;mtext&gt;&lt;/mtext&gt;&lt;mtext&gt;&lt;/mtext&gt;&lt;/math&gt;" id="940" name="Google Shape;940;p78" title="equals 2 over 297 equals 15171 over 20"/>
          <p:cNvPicPr preferRelativeResize="0"/>
          <p:nvPr/>
        </p:nvPicPr>
        <p:blipFill rotWithShape="1">
          <a:blip r:embed="rId4">
            <a:alphaModFix/>
          </a:blip>
          <a:srcRect b="0" l="51462" r="-7705" t="0"/>
          <a:stretch/>
        </p:blipFill>
        <p:spPr>
          <a:xfrm>
            <a:off x="2607324" y="3472575"/>
            <a:ext cx="1524520" cy="70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lang="en-GB"/>
              <a:t>Figure out the missing digits on the calculator screen to make the calculation correct.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 to simplify fractions</a:t>
            </a:r>
            <a:endParaRPr/>
          </a:p>
        </p:txBody>
      </p:sp>
      <p:sp>
        <p:nvSpPr>
          <p:cNvPr id="947" name="Google Shape;947;p79"/>
          <p:cNvSpPr txBox="1"/>
          <p:nvPr/>
        </p:nvSpPr>
        <p:spPr>
          <a:xfrm>
            <a:off x="3240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9"/>
          <p:cNvSpPr txBox="1"/>
          <p:nvPr/>
        </p:nvSpPr>
        <p:spPr>
          <a:xfrm>
            <a:off x="324000" y="335641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9"/>
          <p:cNvSpPr txBox="1"/>
          <p:nvPr/>
        </p:nvSpPr>
        <p:spPr>
          <a:xfrm>
            <a:off x="4681853" y="1779978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9"/>
          <p:cNvSpPr txBox="1"/>
          <p:nvPr/>
        </p:nvSpPr>
        <p:spPr>
          <a:xfrm>
            <a:off x="4681853" y="327036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1" name="Google Shape;95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50" y="1705500"/>
            <a:ext cx="2572947" cy="1164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9611" y="1620008"/>
            <a:ext cx="2759184" cy="128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550" y="3285381"/>
            <a:ext cx="2572937" cy="1176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5002" y="3196088"/>
            <a:ext cx="2693973" cy="1281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5" name="Google Shape;955;p79"/>
          <p:cNvGrpSpPr/>
          <p:nvPr/>
        </p:nvGrpSpPr>
        <p:grpSpPr>
          <a:xfrm>
            <a:off x="2969934" y="2254584"/>
            <a:ext cx="233100" cy="474289"/>
            <a:chOff x="2969934" y="2254584"/>
            <a:chExt cx="233100" cy="474289"/>
          </a:xfrm>
        </p:grpSpPr>
        <p:sp>
          <p:nvSpPr>
            <p:cNvPr id="956" name="Google Shape;956;p79"/>
            <p:cNvSpPr/>
            <p:nvPr/>
          </p:nvSpPr>
          <p:spPr>
            <a:xfrm>
              <a:off x="2969934" y="2521273"/>
              <a:ext cx="233100" cy="2076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7" name="Google Shape;957;p79"/>
            <p:cNvSpPr/>
            <p:nvPr/>
          </p:nvSpPr>
          <p:spPr>
            <a:xfrm>
              <a:off x="2969934" y="2254584"/>
              <a:ext cx="233100" cy="2076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8" name="Google Shape;958;p79"/>
          <p:cNvSpPr/>
          <p:nvPr/>
        </p:nvSpPr>
        <p:spPr>
          <a:xfrm>
            <a:off x="6133598" y="2120570"/>
            <a:ext cx="233100" cy="2076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9"/>
          <p:cNvSpPr/>
          <p:nvPr/>
        </p:nvSpPr>
        <p:spPr>
          <a:xfrm>
            <a:off x="1503523" y="3491895"/>
            <a:ext cx="233100" cy="2076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0" name="Google Shape;960;p79"/>
          <p:cNvGrpSpPr/>
          <p:nvPr/>
        </p:nvGrpSpPr>
        <p:grpSpPr>
          <a:xfrm>
            <a:off x="6151990" y="3434676"/>
            <a:ext cx="233100" cy="479096"/>
            <a:chOff x="6151990" y="3434676"/>
            <a:chExt cx="233100" cy="479096"/>
          </a:xfrm>
        </p:grpSpPr>
        <p:sp>
          <p:nvSpPr>
            <p:cNvPr id="961" name="Google Shape;961;p79"/>
            <p:cNvSpPr/>
            <p:nvPr/>
          </p:nvSpPr>
          <p:spPr>
            <a:xfrm>
              <a:off x="6151990" y="3434676"/>
              <a:ext cx="233100" cy="2076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2" name="Google Shape;962;p79"/>
            <p:cNvSpPr/>
            <p:nvPr/>
          </p:nvSpPr>
          <p:spPr>
            <a:xfrm>
              <a:off x="6151990" y="3706172"/>
              <a:ext cx="233100" cy="2076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</p:txBody>
      </p:sp>
      <p:sp>
        <p:nvSpPr>
          <p:cNvPr id="968" name="Google Shape;968;p8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sp>
        <p:nvSpPr>
          <p:cNvPr id="969" name="Google Shape;969;p8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with technology</a:t>
            </a:r>
            <a:endParaRPr/>
          </a:p>
        </p:txBody>
      </p:sp>
      <p:sp>
        <p:nvSpPr>
          <p:cNvPr id="970" name="Google Shape;970;p8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pic>
        <p:nvPicPr>
          <p:cNvPr id="971" name="Google Shape;97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250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1"/>
          <p:cNvSpPr txBox="1"/>
          <p:nvPr>
            <p:ph idx="1" type="body"/>
          </p:nvPr>
        </p:nvSpPr>
        <p:spPr>
          <a:xfrm>
            <a:off x="324000" y="6831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Converting from</a:t>
            </a:r>
            <a:r>
              <a:rPr lang="en-GB"/>
              <a:t> fractions to</a:t>
            </a:r>
            <a:r>
              <a:rPr lang="en-GB"/>
              <a:t> decimals is easy with the Casio fx 991 classwiz.</a:t>
            </a:r>
            <a:endParaRPr/>
          </a:p>
        </p:txBody>
      </p:sp>
      <p:sp>
        <p:nvSpPr>
          <p:cNvPr id="977" name="Google Shape;97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pic>
        <p:nvPicPr>
          <p:cNvPr id="978" name="Google Shape;97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81"/>
          <p:cNvSpPr txBox="1"/>
          <p:nvPr/>
        </p:nvSpPr>
        <p:spPr>
          <a:xfrm>
            <a:off x="4856525" y="2088300"/>
            <a:ext cx="3675300" cy="20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let’s input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fraction    and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it into decimal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form.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980" name="Google Shape;980;p81" title="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4163" y="2530944"/>
            <a:ext cx="200021" cy="6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2"/>
          <p:cNvSpPr txBox="1"/>
          <p:nvPr>
            <p:ph idx="1" type="body"/>
          </p:nvPr>
        </p:nvSpPr>
        <p:spPr>
          <a:xfrm>
            <a:off x="324000" y="8355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to change the format of a number.</a:t>
            </a:r>
            <a:endParaRPr/>
          </a:p>
        </p:txBody>
      </p:sp>
      <p:pic>
        <p:nvPicPr>
          <p:cNvPr id="986" name="Google Shape;98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7" name="Google Shape;987;p82"/>
          <p:cNvSpPr txBox="1"/>
          <p:nvPr/>
        </p:nvSpPr>
        <p:spPr>
          <a:xfrm>
            <a:off x="4885900" y="1526000"/>
            <a:ext cx="268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8" name="Google Shape;988;p82"/>
          <p:cNvPicPr preferRelativeResize="0"/>
          <p:nvPr/>
        </p:nvPicPr>
        <p:blipFill rotWithShape="1">
          <a:blip r:embed="rId4">
            <a:alphaModFix/>
          </a:blip>
          <a:srcRect b="-7545" l="-3550" r="3550" t="10430"/>
          <a:stretch/>
        </p:blipFill>
        <p:spPr>
          <a:xfrm>
            <a:off x="2381900" y="1738075"/>
            <a:ext cx="1570675" cy="71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2"/>
          <p:cNvSpPr txBox="1"/>
          <p:nvPr/>
        </p:nvSpPr>
        <p:spPr>
          <a:xfrm>
            <a:off x="4874916" y="2725713"/>
            <a:ext cx="394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to a decimal</a:t>
            </a:r>
            <a:endParaRPr/>
          </a:p>
        </p:txBody>
      </p:sp>
      <p:pic>
        <p:nvPicPr>
          <p:cNvPr id="990" name="Google Shape;990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3496" y="1671048"/>
            <a:ext cx="1570676" cy="7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82"/>
          <p:cNvPicPr preferRelativeResize="0"/>
          <p:nvPr/>
        </p:nvPicPr>
        <p:blipFill rotWithShape="1">
          <a:blip r:embed="rId6">
            <a:alphaModFix/>
          </a:blip>
          <a:srcRect b="1919" l="0" r="0" t="-1920"/>
          <a:stretch/>
        </p:blipFill>
        <p:spPr>
          <a:xfrm>
            <a:off x="2463494" y="1678152"/>
            <a:ext cx="1570700" cy="71782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pic>
        <p:nvPicPr>
          <p:cNvPr id="993" name="Google Shape;993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4963" y="2012838"/>
            <a:ext cx="5715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7300" y="2003313"/>
            <a:ext cx="5810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84326" y="3294477"/>
            <a:ext cx="571500" cy="5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85300" y="3350850"/>
            <a:ext cx="571500" cy="582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6275" y="3308225"/>
            <a:ext cx="5810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82"/>
          <p:cNvSpPr txBox="1"/>
          <p:nvPr/>
        </p:nvSpPr>
        <p:spPr>
          <a:xfrm>
            <a:off x="4885900" y="2059400"/>
            <a:ext cx="268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2"/>
          <p:cNvSpPr txBox="1"/>
          <p:nvPr/>
        </p:nvSpPr>
        <p:spPr>
          <a:xfrm>
            <a:off x="5816475" y="2059400"/>
            <a:ext cx="190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 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3"/>
          <p:cNvSpPr txBox="1"/>
          <p:nvPr>
            <p:ph idx="1" type="body"/>
          </p:nvPr>
        </p:nvSpPr>
        <p:spPr>
          <a:xfrm>
            <a:off x="324000" y="759300"/>
            <a:ext cx="8237700" cy="94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calculator, work out the equivalent decimals</a:t>
            </a:r>
            <a:r>
              <a:rPr lang="en-GB"/>
              <a:t> for these fractions.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		</a:t>
            </a:r>
            <a:r>
              <a:rPr lang="en-GB"/>
              <a:t>								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									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6}{5}=\ 1.2\ \ \ \ \ \ \ \ \frac{25}{30}=\ 0.8333...\ =\ 0.8\dot{3}&quot;&gt;&lt;mfrac&gt;&lt;mn&gt;6&lt;/mn&gt;&lt;mn&gt;5&lt;/mn&gt;&lt;/mfrac&gt;&lt;mo&gt;=&lt;/mo&gt;&lt;mtext&gt;&lt;/mtext&gt;&lt;mn&gt;1.2&lt;/mn&gt;&lt;mtext&gt;&lt;/mtext&gt;&lt;mtext&gt;&lt;/mtext&gt;&lt;mtext&gt;&lt;/mtext&gt;&lt;mtext&gt;&lt;/mtext&gt;&lt;mtext&gt;&lt;/mtext&gt;&lt;mtext&gt;&lt;/mtext&gt;&lt;mtext&gt;&lt;/mtext&gt;&lt;mtext&gt;&lt;/mtext&gt;&lt;mfrac&gt;&lt;mn&gt;25&lt;/mn&gt;&lt;mn&gt;30&lt;/mn&gt;&lt;/mfrac&gt;&lt;mo&gt;=&lt;/mo&gt;&lt;mtext&gt;&lt;/mtext&gt;&lt;mn&gt;0.8333&lt;/mn&gt;&lt;mo&gt;.&lt;/mo&gt;&lt;mo&gt;.&lt;/mo&gt;&lt;mo&gt;.&lt;/mo&gt;&lt;mtext&gt;&lt;/mtext&gt;&lt;mo&gt;=&lt;/mo&gt;&lt;mtext&gt;&lt;/mtext&gt;&lt;mn&gt;0.8&lt;/mn&gt;&lt;mrow data-mjx-texclass=&quot;ORD&quot;&gt;&lt;mover&gt;&lt;mn&gt;3&lt;/mn&gt;&lt;mo&gt;˙&lt;/mo&gt;&lt;/mover&gt;&lt;/mrow&gt;&lt;/math&gt;" id="1006" name="Google Shape;1006;p83" title="six fifths equals 1.2 25 over 30 equals 0.8333 period period period equals the repeating decimal 0.8 followed by repeating digit 3"/>
          <p:cNvPicPr preferRelativeResize="0"/>
          <p:nvPr/>
        </p:nvPicPr>
        <p:blipFill rotWithShape="1">
          <a:blip r:embed="rId3">
            <a:alphaModFix/>
          </a:blip>
          <a:srcRect b="0" l="0" r="93808" t="0"/>
          <a:stretch/>
        </p:blipFill>
        <p:spPr>
          <a:xfrm>
            <a:off x="814898" y="1942525"/>
            <a:ext cx="363924" cy="8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5}=\ 1.2\ \ \ \ \ \ \ \ \frac{25}{30}=\ 0.8333...\ =\ 0.8\dot{3}&quot;&gt;&lt;mfrac&gt;&lt;mn&gt;6&lt;/mn&gt;&lt;mn&gt;5&lt;/mn&gt;&lt;/mfrac&gt;&lt;mo&gt;=&lt;/mo&gt;&lt;mtext&gt;&lt;/mtext&gt;&lt;mn&gt;1.2&lt;/mn&gt;&lt;mtext&gt;&lt;/mtext&gt;&lt;mtext&gt;&lt;/mtext&gt;&lt;mtext&gt;&lt;/mtext&gt;&lt;mtext&gt;&lt;/mtext&gt;&lt;mtext&gt;&lt;/mtext&gt;&lt;mtext&gt;&lt;/mtext&gt;&lt;mtext&gt;&lt;/mtext&gt;&lt;mtext&gt;&lt;/mtext&gt;&lt;mfrac&gt;&lt;mn&gt;25&lt;/mn&gt;&lt;mn&gt;30&lt;/mn&gt;&lt;/mfrac&gt;&lt;mo&gt;=&lt;/mo&gt;&lt;mtext&gt;&lt;/mtext&gt;&lt;mn&gt;0.8333&lt;/mn&gt;&lt;mo&gt;.&lt;/mo&gt;&lt;mo&gt;.&lt;/mo&gt;&lt;mo&gt;.&lt;/mo&gt;&lt;mtext&gt;&lt;/mtext&gt;&lt;mo&gt;=&lt;/mo&gt;&lt;mtext&gt;&lt;/mtext&gt;&lt;mn&gt;0.8&lt;/mn&gt;&lt;mrow data-mjx-texclass=&quot;ORD&quot;&gt;&lt;mover&gt;&lt;mn&gt;3&lt;/mn&gt;&lt;mo&gt;˙&lt;/mo&gt;&lt;/mover&gt;&lt;/mrow&gt;&lt;/math&gt;" id="1007" name="Google Shape;1007;p83" title="six fifths equals 1.2 25 over 30 equals 0.8333 period period period equals the repeating decimal 0.8 followed by repeating digit 3"/>
          <p:cNvPicPr preferRelativeResize="0"/>
          <p:nvPr/>
        </p:nvPicPr>
        <p:blipFill rotWithShape="1">
          <a:blip r:embed="rId3">
            <a:alphaModFix/>
          </a:blip>
          <a:srcRect b="0" l="33678" r="54220" t="0"/>
          <a:stretch/>
        </p:blipFill>
        <p:spPr>
          <a:xfrm>
            <a:off x="5414723" y="1993850"/>
            <a:ext cx="620926" cy="70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8}{11}=8.909090...=8.\dot{9}\dot{0}&quot;&gt;&lt;mfrac&gt;&lt;mn&gt;98&lt;/mn&gt;&lt;mn&gt;11&lt;/mn&gt;&lt;/mfrac&gt;&lt;mo&gt;=&lt;/mo&gt;&lt;mn&gt;8.909090&lt;/mn&gt;&lt;mo&gt;.&lt;/mo&gt;&lt;mo&gt;.&lt;/mo&gt;&lt;mo&gt;.&lt;/mo&gt;&lt;mo&gt;=&lt;/mo&gt;&lt;mn&gt;8.&lt;/mn&gt;&lt;mrow data-mjx-texclass=&quot;ORD&quot;&gt;&lt;mover&gt;&lt;mn&gt;9&lt;/mn&gt;&lt;mo&gt;˙&lt;/mo&gt;&lt;/mover&gt;&lt;/mrow&gt;&lt;mrow data-mjx-texclass=&quot;ORD&quot;&gt;&lt;mover&gt;&lt;mn&gt;0&lt;/mn&gt;&lt;mo&gt;˙&lt;/mo&gt;&lt;/mover&gt;&lt;/mrow&gt;&lt;/math&gt;" id="1008" name="Google Shape;1008;p83" title="98 over 11 equals 8.909090 period period period equals the repeating decimal 8 point followed by repeating digits 9 0"/>
          <p:cNvPicPr preferRelativeResize="0"/>
          <p:nvPr/>
        </p:nvPicPr>
        <p:blipFill rotWithShape="1">
          <a:blip r:embed="rId4">
            <a:alphaModFix/>
          </a:blip>
          <a:srcRect b="0" l="0" r="85229" t="0"/>
          <a:stretch/>
        </p:blipFill>
        <p:spPr>
          <a:xfrm>
            <a:off x="814900" y="3557900"/>
            <a:ext cx="543126" cy="7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5}=\ 1.2\ \ \ \ \ \ \ \ \frac{25}{30}=\ 0.8333...\ =\ 0.8\dot{3}&quot;&gt;&lt;mfrac&gt;&lt;mn&gt;6&lt;/mn&gt;&lt;mn&gt;5&lt;/mn&gt;&lt;/mfrac&gt;&lt;mo&gt;=&lt;/mo&gt;&lt;mtext&gt;&lt;/mtext&gt;&lt;mn&gt;1.2&lt;/mn&gt;&lt;mtext&gt;&lt;/mtext&gt;&lt;mtext&gt;&lt;/mtext&gt;&lt;mtext&gt;&lt;/mtext&gt;&lt;mtext&gt;&lt;/mtext&gt;&lt;mtext&gt;&lt;/mtext&gt;&lt;mtext&gt;&lt;/mtext&gt;&lt;mtext&gt;&lt;/mtext&gt;&lt;mtext&gt;&lt;/mtext&gt;&lt;mfrac&gt;&lt;mn&gt;25&lt;/mn&gt;&lt;mn&gt;30&lt;/mn&gt;&lt;/mfrac&gt;&lt;mo&gt;=&lt;/mo&gt;&lt;mtext&gt;&lt;/mtext&gt;&lt;mn&gt;0.8333&lt;/mn&gt;&lt;mo&gt;.&lt;/mo&gt;&lt;mo&gt;.&lt;/mo&gt;&lt;mo&gt;.&lt;/mo&gt;&lt;mtext&gt;&lt;/mtext&gt;&lt;mo&gt;=&lt;/mo&gt;&lt;mtext&gt;&lt;/mtext&gt;&lt;mn&gt;0.8&lt;/mn&gt;&lt;mrow data-mjx-texclass=&quot;ORD&quot;&gt;&lt;mover&gt;&lt;mn&gt;3&lt;/mn&gt;&lt;mo&gt;˙&lt;/mo&gt;&lt;/mover&gt;&lt;/mrow&gt;&lt;/math&gt;" id="1009" name="Google Shape;1009;p83" title="six fifths equals 1.2 25 over 30 equals 0.8333 period period period equals the repeating decimal 0.8 followed by repeating digit 3"/>
          <p:cNvPicPr preferRelativeResize="0"/>
          <p:nvPr/>
        </p:nvPicPr>
        <p:blipFill rotWithShape="1">
          <a:blip r:embed="rId3">
            <a:alphaModFix/>
          </a:blip>
          <a:srcRect b="0" l="5525" r="75675" t="0"/>
          <a:stretch/>
        </p:blipFill>
        <p:spPr>
          <a:xfrm>
            <a:off x="1056250" y="1942525"/>
            <a:ext cx="1104900" cy="8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5}=\ 1.2\ \ \ \ \ \ \ \ \frac{25}{30}=\ 0.8333...\ =\ 0.8\dot{3}&quot;&gt;&lt;mfrac&gt;&lt;mn&gt;6&lt;/mn&gt;&lt;mn&gt;5&lt;/mn&gt;&lt;/mfrac&gt;&lt;mo&gt;=&lt;/mo&gt;&lt;mtext&gt;&lt;/mtext&gt;&lt;mn&gt;1.2&lt;/mn&gt;&lt;mtext&gt;&lt;/mtext&gt;&lt;mtext&gt;&lt;/mtext&gt;&lt;mtext&gt;&lt;/mtext&gt;&lt;mtext&gt;&lt;/mtext&gt;&lt;mtext&gt;&lt;/mtext&gt;&lt;mtext&gt;&lt;/mtext&gt;&lt;mtext&gt;&lt;/mtext&gt;&lt;mtext&gt;&lt;/mtext&gt;&lt;mfrac&gt;&lt;mn&gt;25&lt;/mn&gt;&lt;mn&gt;30&lt;/mn&gt;&lt;/mfrac&gt;&lt;mo&gt;=&lt;/mo&gt;&lt;mtext&gt;&lt;/mtext&gt;&lt;mn&gt;0.8333&lt;/mn&gt;&lt;mo&gt;.&lt;/mo&gt;&lt;mo&gt;.&lt;/mo&gt;&lt;mo&gt;.&lt;/mo&gt;&lt;mtext&gt;&lt;/mtext&gt;&lt;mo&gt;=&lt;/mo&gt;&lt;mtext&gt;&lt;/mtext&gt;&lt;mn&gt;0.8&lt;/mn&gt;&lt;mrow data-mjx-texclass=&quot;ORD&quot;&gt;&lt;mover&gt;&lt;mn&gt;3&lt;/mn&gt;&lt;mo&gt;˙&lt;/mo&gt;&lt;/mover&gt;&lt;/mrow&gt;&lt;/math&gt;" id="1010" name="Google Shape;1010;p83" title="six fifths equals 1.2 25 over 30 equals 0.8333 period period period equals the repeating decimal 0.8 followed by repeating digit 3"/>
          <p:cNvPicPr preferRelativeResize="0"/>
          <p:nvPr/>
        </p:nvPicPr>
        <p:blipFill rotWithShape="1">
          <a:blip r:embed="rId3">
            <a:alphaModFix/>
          </a:blip>
          <a:srcRect b="0" l="46512" r="20588" t="0"/>
          <a:stretch/>
        </p:blipFill>
        <p:spPr>
          <a:xfrm>
            <a:off x="6073375" y="1993850"/>
            <a:ext cx="1688076" cy="70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5}=\ 1.2\ \ \ \ \ \ \ \ \frac{25}{30}=\ 0.8333...\ =\ 0.8\dot{3}&quot;&gt;&lt;mfrac&gt;&lt;mn&gt;6&lt;/mn&gt;&lt;mn&gt;5&lt;/mn&gt;&lt;/mfrac&gt;&lt;mo&gt;=&lt;/mo&gt;&lt;mtext&gt;&lt;/mtext&gt;&lt;mn&gt;1.2&lt;/mn&gt;&lt;mtext&gt;&lt;/mtext&gt;&lt;mtext&gt;&lt;/mtext&gt;&lt;mtext&gt;&lt;/mtext&gt;&lt;mtext&gt;&lt;/mtext&gt;&lt;mtext&gt;&lt;/mtext&gt;&lt;mtext&gt;&lt;/mtext&gt;&lt;mtext&gt;&lt;/mtext&gt;&lt;mtext&gt;&lt;/mtext&gt;&lt;mfrac&gt;&lt;mn&gt;25&lt;/mn&gt;&lt;mn&gt;30&lt;/mn&gt;&lt;/mfrac&gt;&lt;mo&gt;=&lt;/mo&gt;&lt;mtext&gt;&lt;/mtext&gt;&lt;mn&gt;0.8333&lt;/mn&gt;&lt;mo&gt;.&lt;/mo&gt;&lt;mo&gt;.&lt;/mo&gt;&lt;mo&gt;.&lt;/mo&gt;&lt;mtext&gt;&lt;/mtext&gt;&lt;mo&gt;=&lt;/mo&gt;&lt;mtext&gt;&lt;/mtext&gt;&lt;mn&gt;0.8&lt;/mn&gt;&lt;mrow data-mjx-texclass=&quot;ORD&quot;&gt;&lt;mover&gt;&lt;mn&gt;3&lt;/mn&gt;&lt;mo&gt;˙&lt;/mo&gt;&lt;/mover&gt;&lt;/mrow&gt;&lt;/math&gt;" id="1011" name="Google Shape;1011;p83" title="six fifths equals 1.2 25 over 30 equals 0.8333 period period period equals the repeating decimal 0.8 followed by repeating digit 3"/>
          <p:cNvPicPr preferRelativeResize="0"/>
          <p:nvPr/>
        </p:nvPicPr>
        <p:blipFill rotWithShape="1">
          <a:blip r:embed="rId3">
            <a:alphaModFix/>
          </a:blip>
          <a:srcRect b="0" l="79416" r="-2391" t="0"/>
          <a:stretch/>
        </p:blipFill>
        <p:spPr>
          <a:xfrm>
            <a:off x="7609050" y="1993850"/>
            <a:ext cx="1178851" cy="705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8}{11}=8.909090...=8.\dot{9}\dot{0}&quot;&gt;&lt;mfrac&gt;&lt;mn&gt;98&lt;/mn&gt;&lt;mn&gt;11&lt;/mn&gt;&lt;/mfrac&gt;&lt;mo&gt;=&lt;/mo&gt;&lt;mn&gt;8.909090&lt;/mn&gt;&lt;mo&gt;.&lt;/mo&gt;&lt;mo&gt;.&lt;/mo&gt;&lt;mo&gt;.&lt;/mo&gt;&lt;mo&gt;=&lt;/mo&gt;&lt;mn&gt;8.&lt;/mn&gt;&lt;mrow data-mjx-texclass=&quot;ORD&quot;&gt;&lt;mover&gt;&lt;mn&gt;9&lt;/mn&gt;&lt;mo&gt;˙&lt;/mo&gt;&lt;/mover&gt;&lt;/mrow&gt;&lt;mrow data-mjx-texclass=&quot;ORD&quot;&gt;&lt;mover&gt;&lt;mn&gt;0&lt;/mn&gt;&lt;mo&gt;˙&lt;/mo&gt;&lt;/mover&gt;&lt;/mrow&gt;&lt;/math&gt;" id="1012" name="Google Shape;1012;p83" title="98 over 11 equals 8.909090 period period period equals the repeating decimal 8 point followed by repeating digits 9 0"/>
          <p:cNvPicPr preferRelativeResize="0"/>
          <p:nvPr/>
        </p:nvPicPr>
        <p:blipFill rotWithShape="1">
          <a:blip r:embed="rId4">
            <a:alphaModFix/>
          </a:blip>
          <a:srcRect b="0" l="12974" r="28292" t="0"/>
          <a:stretch/>
        </p:blipFill>
        <p:spPr>
          <a:xfrm>
            <a:off x="1292000" y="3557900"/>
            <a:ext cx="2159626" cy="7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8}{11}=8.909090...=8.\dot{9}\dot{0}&quot;&gt;&lt;mfrac&gt;&lt;mn&gt;98&lt;/mn&gt;&lt;mn&gt;11&lt;/mn&gt;&lt;/mfrac&gt;&lt;mo&gt;=&lt;/mo&gt;&lt;mn&gt;8.909090&lt;/mn&gt;&lt;mo&gt;.&lt;/mo&gt;&lt;mo&gt;.&lt;/mo&gt;&lt;mo&gt;.&lt;/mo&gt;&lt;mo&gt;=&lt;/mo&gt;&lt;mn&gt;8.&lt;/mn&gt;&lt;mrow data-mjx-texclass=&quot;ORD&quot;&gt;&lt;mover&gt;&lt;mn&gt;9&lt;/mn&gt;&lt;mo&gt;˙&lt;/mo&gt;&lt;/mover&gt;&lt;/mrow&gt;&lt;mrow data-mjx-texclass=&quot;ORD&quot;&gt;&lt;mover&gt;&lt;mn&gt;0&lt;/mn&gt;&lt;mo&gt;˙&lt;/mo&gt;&lt;/mover&gt;&lt;/mrow&gt;&lt;/math&gt;" id="1013" name="Google Shape;1013;p83" title="98 over 11 equals 8.909090 period period period equals the repeating decimal 8 point followed by repeating digits 9 0"/>
          <p:cNvPicPr preferRelativeResize="0"/>
          <p:nvPr/>
        </p:nvPicPr>
        <p:blipFill rotWithShape="1">
          <a:blip r:embed="rId4">
            <a:alphaModFix/>
          </a:blip>
          <a:srcRect b="0" l="69480" r="-3515" t="0"/>
          <a:stretch/>
        </p:blipFill>
        <p:spPr>
          <a:xfrm>
            <a:off x="3369600" y="3557900"/>
            <a:ext cx="1251450" cy="7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83"/>
          <p:cNvSpPr txBox="1"/>
          <p:nvPr>
            <p:ph idx="1" type="body"/>
          </p:nvPr>
        </p:nvSpPr>
        <p:spPr>
          <a:xfrm>
            <a:off x="5072100" y="2143663"/>
            <a:ext cx="702300" cy="4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84"/>
          <p:cNvSpPr txBox="1"/>
          <p:nvPr>
            <p:ph idx="1" type="body"/>
          </p:nvPr>
        </p:nvSpPr>
        <p:spPr>
          <a:xfrm>
            <a:off x="324000" y="683100"/>
            <a:ext cx="82377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to change a terminating decimal into a fraction easily.</a:t>
            </a:r>
            <a:endParaRPr/>
          </a:p>
        </p:txBody>
      </p:sp>
      <p:pic>
        <p:nvPicPr>
          <p:cNvPr id="1020" name="Google Shape;102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100" y="150885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84"/>
          <p:cNvSpPr txBox="1"/>
          <p:nvPr/>
        </p:nvSpPr>
        <p:spPr>
          <a:xfrm>
            <a:off x="4586300" y="1144500"/>
            <a:ext cx="4233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do you think we change 0.8392 into a fraction?</a:t>
            </a:r>
            <a:endParaRPr/>
          </a:p>
        </p:txBody>
      </p:sp>
      <p:sp>
        <p:nvSpPr>
          <p:cNvPr id="1022" name="Google Shape;1022;p84"/>
          <p:cNvSpPr txBox="1"/>
          <p:nvPr/>
        </p:nvSpPr>
        <p:spPr>
          <a:xfrm>
            <a:off x="4586300" y="2243700"/>
            <a:ext cx="3061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Insert 0.8392 into the calculator and press </a:t>
            </a:r>
            <a:endParaRPr/>
          </a:p>
        </p:txBody>
      </p:sp>
      <p:pic>
        <p:nvPicPr>
          <p:cNvPr id="1023" name="Google Shape;1023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7750" y="2588100"/>
            <a:ext cx="5810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524" y="1659250"/>
            <a:ext cx="1684800" cy="7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sp>
        <p:nvSpPr>
          <p:cNvPr id="1026" name="Google Shape;1026;p84"/>
          <p:cNvSpPr txBox="1"/>
          <p:nvPr/>
        </p:nvSpPr>
        <p:spPr>
          <a:xfrm>
            <a:off x="4690175" y="3198275"/>
            <a:ext cx="33852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it doesn’t convert it immediately, press </a:t>
            </a:r>
            <a:endParaRPr/>
          </a:p>
        </p:txBody>
      </p:sp>
      <p:pic>
        <p:nvPicPr>
          <p:cNvPr id="1027" name="Google Shape;1027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7822" y="3631425"/>
            <a:ext cx="5810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84"/>
          <p:cNvSpPr txBox="1"/>
          <p:nvPr/>
        </p:nvSpPr>
        <p:spPr>
          <a:xfrm>
            <a:off x="4781075" y="43894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Select ‘Standard’</a:t>
            </a:r>
            <a:endParaRPr/>
          </a:p>
        </p:txBody>
      </p:sp>
      <p:pic>
        <p:nvPicPr>
          <p:cNvPr id="1029" name="Google Shape;1029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87825" y="4389425"/>
            <a:ext cx="5810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5"/>
          <p:cNvSpPr txBox="1"/>
          <p:nvPr>
            <p:ph idx="4294967295" type="body"/>
          </p:nvPr>
        </p:nvSpPr>
        <p:spPr>
          <a:xfrm>
            <a:off x="324000" y="759300"/>
            <a:ext cx="8237700" cy="9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calculator, match the decimal to the fraction.</a:t>
            </a:r>
            <a:endParaRPr/>
          </a:p>
        </p:txBody>
      </p:sp>
      <p:sp>
        <p:nvSpPr>
          <p:cNvPr id="1035" name="Google Shape;103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0.78\ \ \frac{39}{50}\ \ \ \ \ 0.982\ \ \frac{491}{500}\ \ \ \ \ \ 3.568\ \ \ \frac{446}{125}\ \ \ \ \ 3.244\ \ \frac{811}{250}&quot;&gt;&lt;mn&gt;0.78&lt;/mn&gt;&lt;mtext&gt;&lt;/mtext&gt;&lt;mtext&gt;&lt;/mtext&gt;&lt;mfrac&gt;&lt;mn&gt;39&lt;/mn&gt;&lt;mn&gt;50&lt;/mn&gt;&lt;/mfrac&gt;&lt;mtext&gt;&lt;/mtext&gt;&lt;mtext&gt;&lt;/mtext&gt;&lt;mtext&gt;&lt;/mtext&gt;&lt;mtext&gt;&lt;/mtext&gt;&lt;mtext&gt;&lt;/mtext&gt;&lt;mn&gt;0.982&lt;/mn&gt;&lt;mtext&gt;&lt;/mtext&gt;&lt;mtext&gt;&lt;/mtext&gt;&lt;mfrac&gt;&lt;mn&gt;491&lt;/mn&gt;&lt;mn&gt;500&lt;/mn&gt;&lt;/mfrac&gt;&lt;mtext&gt;&lt;/mtext&gt;&lt;mtext&gt;&lt;/mtext&gt;&lt;mtext&gt;&lt;/mtext&gt;&lt;mtext&gt;&lt;/mtext&gt;&lt;mtext&gt;&lt;/mtext&gt;&lt;mtext&gt;&lt;/mtext&gt;&lt;mn&gt;3.568&lt;/mn&gt;&lt;mtext&gt;&lt;/mtext&gt;&lt;mtext&gt;&lt;/mtext&gt;&lt;mtext&gt;&lt;/mtext&gt;&lt;mfrac&gt;&lt;mn&gt;446&lt;/mn&gt;&lt;mn&gt;125&lt;/mn&gt;&lt;/mfrac&gt;&lt;mtext&gt;&lt;/mtext&gt;&lt;mtext&gt;&lt;/mtext&gt;&lt;mtext&gt;&lt;/mtext&gt;&lt;mtext&gt;&lt;/mtext&gt;&lt;mtext&gt;&lt;/mtext&gt;&lt;mn&gt;3.244&lt;/mn&gt;&lt;mtext&gt;&lt;/mtext&gt;&lt;mtext&gt;&lt;/mtext&gt;&lt;mfrac&gt;&lt;mn&gt;811&lt;/mn&gt;&lt;mn&gt;250&lt;/mn&gt;&lt;/mfrac&gt;&lt;/math&gt;" id="1036" name="Google Shape;1036;p85" title="0.78 39 over 50 0.982 491 over 500 3.568 446 over 125 3.244 811 over 250"/>
          <p:cNvPicPr preferRelativeResize="0"/>
          <p:nvPr/>
        </p:nvPicPr>
        <p:blipFill rotWithShape="1">
          <a:blip r:embed="rId3">
            <a:alphaModFix/>
          </a:blip>
          <a:srcRect b="0" l="0" r="90340" t="0"/>
          <a:stretch/>
        </p:blipFill>
        <p:spPr>
          <a:xfrm>
            <a:off x="831000" y="1620000"/>
            <a:ext cx="853799" cy="85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78\ \ \frac{39}{50}\ \ \ \ \ 0.982\ \ \frac{491}{500}\ \ \ \ \ \ 3.568\ \ \ \frac{446}{125}\ \ \ \ \ 3.244\ \ \frac{811}{250}&quot;&gt;&lt;mn&gt;0.78&lt;/mn&gt;&lt;mtext&gt;&lt;/mtext&gt;&lt;mtext&gt;&lt;/mtext&gt;&lt;mfrac&gt;&lt;mn&gt;39&lt;/mn&gt;&lt;mn&gt;50&lt;/mn&gt;&lt;/mfrac&gt;&lt;mtext&gt;&lt;/mtext&gt;&lt;mtext&gt;&lt;/mtext&gt;&lt;mtext&gt;&lt;/mtext&gt;&lt;mtext&gt;&lt;/mtext&gt;&lt;mtext&gt;&lt;/mtext&gt;&lt;mn&gt;0.982&lt;/mn&gt;&lt;mtext&gt;&lt;/mtext&gt;&lt;mtext&gt;&lt;/mtext&gt;&lt;mfrac&gt;&lt;mn&gt;491&lt;/mn&gt;&lt;mn&gt;500&lt;/mn&gt;&lt;/mfrac&gt;&lt;mtext&gt;&lt;/mtext&gt;&lt;mtext&gt;&lt;/mtext&gt;&lt;mtext&gt;&lt;/mtext&gt;&lt;mtext&gt;&lt;/mtext&gt;&lt;mtext&gt;&lt;/mtext&gt;&lt;mtext&gt;&lt;/mtext&gt;&lt;mn&gt;3.568&lt;/mn&gt;&lt;mtext&gt;&lt;/mtext&gt;&lt;mtext&gt;&lt;/mtext&gt;&lt;mtext&gt;&lt;/mtext&gt;&lt;mfrac&gt;&lt;mn&gt;446&lt;/mn&gt;&lt;mn&gt;125&lt;/mn&gt;&lt;/mfrac&gt;&lt;mtext&gt;&lt;/mtext&gt;&lt;mtext&gt;&lt;/mtext&gt;&lt;mtext&gt;&lt;/mtext&gt;&lt;mtext&gt;&lt;/mtext&gt;&lt;mtext&gt;&lt;/mtext&gt;&lt;mn&gt;3.244&lt;/mn&gt;&lt;mtext&gt;&lt;/mtext&gt;&lt;mtext&gt;&lt;/mtext&gt;&lt;mfrac&gt;&lt;mn&gt;811&lt;/mn&gt;&lt;mn&gt;250&lt;/mn&gt;&lt;/mfrac&gt;&lt;/math&gt;" id="1037" name="Google Shape;1037;p85" title="0.78 39 over 50 0.982 491 over 500 3.568 446 over 125 3.244 811 over 250"/>
          <p:cNvPicPr preferRelativeResize="0"/>
          <p:nvPr/>
        </p:nvPicPr>
        <p:blipFill rotWithShape="1">
          <a:blip r:embed="rId3">
            <a:alphaModFix/>
          </a:blip>
          <a:srcRect b="0" l="19881" r="66062" t="0"/>
          <a:stretch/>
        </p:blipFill>
        <p:spPr>
          <a:xfrm>
            <a:off x="2426388" y="1845600"/>
            <a:ext cx="1242399" cy="85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78\ \ \frac{39}{50}\ \ \ \ \ 0.982\ \ \frac{491}{500}\ \ \ \ \ \ 3.568\ \ \ \frac{446}{125}\ \ \ \ \ 3.244\ \ \frac{811}{250}&quot;&gt;&lt;mn&gt;0.78&lt;/mn&gt;&lt;mtext&gt;&lt;/mtext&gt;&lt;mtext&gt;&lt;/mtext&gt;&lt;mfrac&gt;&lt;mn&gt;39&lt;/mn&gt;&lt;mn&gt;50&lt;/mn&gt;&lt;/mfrac&gt;&lt;mtext&gt;&lt;/mtext&gt;&lt;mtext&gt;&lt;/mtext&gt;&lt;mtext&gt;&lt;/mtext&gt;&lt;mtext&gt;&lt;/mtext&gt;&lt;mtext&gt;&lt;/mtext&gt;&lt;mn&gt;0.982&lt;/mn&gt;&lt;mtext&gt;&lt;/mtext&gt;&lt;mtext&gt;&lt;/mtext&gt;&lt;mfrac&gt;&lt;mn&gt;491&lt;/mn&gt;&lt;mn&gt;500&lt;/mn&gt;&lt;/mfrac&gt;&lt;mtext&gt;&lt;/mtext&gt;&lt;mtext&gt;&lt;/mtext&gt;&lt;mtext&gt;&lt;/mtext&gt;&lt;mtext&gt;&lt;/mtext&gt;&lt;mtext&gt;&lt;/mtext&gt;&lt;mtext&gt;&lt;/mtext&gt;&lt;mn&gt;3.568&lt;/mn&gt;&lt;mtext&gt;&lt;/mtext&gt;&lt;mtext&gt;&lt;/mtext&gt;&lt;mtext&gt;&lt;/mtext&gt;&lt;mfrac&gt;&lt;mn&gt;446&lt;/mn&gt;&lt;mn&gt;125&lt;/mn&gt;&lt;/mfrac&gt;&lt;mtext&gt;&lt;/mtext&gt;&lt;mtext&gt;&lt;/mtext&gt;&lt;mtext&gt;&lt;/mtext&gt;&lt;mtext&gt;&lt;/mtext&gt;&lt;mtext&gt;&lt;/mtext&gt;&lt;mn&gt;3.244&lt;/mn&gt;&lt;mtext&gt;&lt;/mtext&gt;&lt;mtext&gt;&lt;/mtext&gt;&lt;mfrac&gt;&lt;mn&gt;811&lt;/mn&gt;&lt;mn&gt;250&lt;/mn&gt;&lt;/mfrac&gt;&lt;/math&gt;" id="1038" name="Google Shape;1038;p85" title="0.78 39 over 50 0.982 491 over 500 3.568 446 over 125 3.244 811 over 250"/>
          <p:cNvPicPr preferRelativeResize="0"/>
          <p:nvPr/>
        </p:nvPicPr>
        <p:blipFill rotWithShape="1">
          <a:blip r:embed="rId3">
            <a:alphaModFix/>
          </a:blip>
          <a:srcRect b="0" l="48171" r="37773" t="0"/>
          <a:stretch/>
        </p:blipFill>
        <p:spPr>
          <a:xfrm>
            <a:off x="4410375" y="1620000"/>
            <a:ext cx="1242399" cy="85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78\ \ \frac{39}{50}\ \ \ \ \ 0.982\ \ \frac{491}{500}\ \ \ \ \ \ 3.568\ \ \ \frac{446}{125}\ \ \ \ \ 3.244\ \ \frac{811}{250}&quot;&gt;&lt;mn&gt;0.78&lt;/mn&gt;&lt;mtext&gt;&lt;/mtext&gt;&lt;mtext&gt;&lt;/mtext&gt;&lt;mfrac&gt;&lt;mn&gt;39&lt;/mn&gt;&lt;mn&gt;50&lt;/mn&gt;&lt;/mfrac&gt;&lt;mtext&gt;&lt;/mtext&gt;&lt;mtext&gt;&lt;/mtext&gt;&lt;mtext&gt;&lt;/mtext&gt;&lt;mtext&gt;&lt;/mtext&gt;&lt;mtext&gt;&lt;/mtext&gt;&lt;mn&gt;0.982&lt;/mn&gt;&lt;mtext&gt;&lt;/mtext&gt;&lt;mtext&gt;&lt;/mtext&gt;&lt;mfrac&gt;&lt;mn&gt;491&lt;/mn&gt;&lt;mn&gt;500&lt;/mn&gt;&lt;/mfrac&gt;&lt;mtext&gt;&lt;/mtext&gt;&lt;mtext&gt;&lt;/mtext&gt;&lt;mtext&gt;&lt;/mtext&gt;&lt;mtext&gt;&lt;/mtext&gt;&lt;mtext&gt;&lt;/mtext&gt;&lt;mtext&gt;&lt;/mtext&gt;&lt;mn&gt;3.568&lt;/mn&gt;&lt;mtext&gt;&lt;/mtext&gt;&lt;mtext&gt;&lt;/mtext&gt;&lt;mtext&gt;&lt;/mtext&gt;&lt;mfrac&gt;&lt;mn&gt;446&lt;/mn&gt;&lt;mn&gt;125&lt;/mn&gt;&lt;/mfrac&gt;&lt;mtext&gt;&lt;/mtext&gt;&lt;mtext&gt;&lt;/mtext&gt;&lt;mtext&gt;&lt;/mtext&gt;&lt;mtext&gt;&lt;/mtext&gt;&lt;mtext&gt;&lt;/mtext&gt;&lt;mn&gt;3.244&lt;/mn&gt;&lt;mtext&gt;&lt;/mtext&gt;&lt;mtext&gt;&lt;/mtext&gt;&lt;mfrac&gt;&lt;mn&gt;811&lt;/mn&gt;&lt;mn&gt;250&lt;/mn&gt;&lt;/mfrac&gt;&lt;/math&gt;" id="1039" name="Google Shape;1039;p85" title="0.78 39 over 50 0.982 491 over 500 3.568 446 over 125 3.244 811 over 250"/>
          <p:cNvPicPr preferRelativeResize="0"/>
          <p:nvPr/>
        </p:nvPicPr>
        <p:blipFill rotWithShape="1">
          <a:blip r:embed="rId3">
            <a:alphaModFix/>
          </a:blip>
          <a:srcRect b="11389" l="77550" r="8394" t="-11389"/>
          <a:stretch/>
        </p:blipFill>
        <p:spPr>
          <a:xfrm>
            <a:off x="6838000" y="1732800"/>
            <a:ext cx="1242399" cy="85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78\ \ \frac{39}{50}\ \ \ \ \ 0.982\ \ \frac{491}{500}\ \ \ \ \ \ 3.568\ \ \ \frac{446}{125}\ \ \ \ \ 3.244\ \ \frac{811}{250}&quot;&gt;&lt;mn&gt;0.78&lt;/mn&gt;&lt;mtext&gt;&lt;/mtext&gt;&lt;mtext&gt;&lt;/mtext&gt;&lt;mfrac&gt;&lt;mn&gt;39&lt;/mn&gt;&lt;mn&gt;50&lt;/mn&gt;&lt;/mfrac&gt;&lt;mtext&gt;&lt;/mtext&gt;&lt;mtext&gt;&lt;/mtext&gt;&lt;mtext&gt;&lt;/mtext&gt;&lt;mtext&gt;&lt;/mtext&gt;&lt;mtext&gt;&lt;/mtext&gt;&lt;mn&gt;0.982&lt;/mn&gt;&lt;mtext&gt;&lt;/mtext&gt;&lt;mtext&gt;&lt;/mtext&gt;&lt;mfrac&gt;&lt;mn&gt;491&lt;/mn&gt;&lt;mn&gt;500&lt;/mn&gt;&lt;/mfrac&gt;&lt;mtext&gt;&lt;/mtext&gt;&lt;mtext&gt;&lt;/mtext&gt;&lt;mtext&gt;&lt;/mtext&gt;&lt;mtext&gt;&lt;/mtext&gt;&lt;mtext&gt;&lt;/mtext&gt;&lt;mtext&gt;&lt;/mtext&gt;&lt;mn&gt;3.568&lt;/mn&gt;&lt;mtext&gt;&lt;/mtext&gt;&lt;mtext&gt;&lt;/mtext&gt;&lt;mtext&gt;&lt;/mtext&gt;&lt;mfrac&gt;&lt;mn&gt;446&lt;/mn&gt;&lt;mn&gt;125&lt;/mn&gt;&lt;/mfrac&gt;&lt;mtext&gt;&lt;/mtext&gt;&lt;mtext&gt;&lt;/mtext&gt;&lt;mtext&gt;&lt;/mtext&gt;&lt;mtext&gt;&lt;/mtext&gt;&lt;mtext&gt;&lt;/mtext&gt;&lt;mn&gt;3.244&lt;/mn&gt;&lt;mtext&gt;&lt;/mtext&gt;&lt;mtext&gt;&lt;/mtext&gt;&lt;mfrac&gt;&lt;mn&gt;811&lt;/mn&gt;&lt;mn&gt;250&lt;/mn&gt;&lt;/mfrac&gt;&lt;/math&gt;" id="1040" name="Google Shape;1040;p85" title="0.78 39 over 50 0.982 491 over 500 3.568 446 over 125 3.244 811 over 250"/>
          <p:cNvPicPr preferRelativeResize="0"/>
          <p:nvPr/>
        </p:nvPicPr>
        <p:blipFill rotWithShape="1">
          <a:blip r:embed="rId3">
            <a:alphaModFix/>
          </a:blip>
          <a:srcRect b="-17865" l="9971" r="79565" t="-7416"/>
          <a:stretch/>
        </p:blipFill>
        <p:spPr>
          <a:xfrm>
            <a:off x="2907138" y="3050625"/>
            <a:ext cx="924927" cy="107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1" name="Google Shape;1041;p85"/>
          <p:cNvCxnSpPr>
            <a:stCxn id="1036" idx="3"/>
            <a:endCxn id="1040" idx="1"/>
          </p:cNvCxnSpPr>
          <p:nvPr/>
        </p:nvCxnSpPr>
        <p:spPr>
          <a:xfrm>
            <a:off x="1684799" y="2047200"/>
            <a:ext cx="1222200" cy="153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0.78\ \ \frac{39}{50}\ \ \ \ \ 0.982\ \ \frac{491}{500}\ \ \ \ \ \ 3.568\ \ \ \frac{446}{125}\ \ \ \ \ 3.244\ \ \frac{811}{250}&quot;&gt;&lt;mn&gt;0.78&lt;/mn&gt;&lt;mtext&gt;&lt;/mtext&gt;&lt;mtext&gt;&lt;/mtext&gt;&lt;mfrac&gt;&lt;mn&gt;39&lt;/mn&gt;&lt;mn&gt;50&lt;/mn&gt;&lt;/mfrac&gt;&lt;mtext&gt;&lt;/mtext&gt;&lt;mtext&gt;&lt;/mtext&gt;&lt;mtext&gt;&lt;/mtext&gt;&lt;mtext&gt;&lt;/mtext&gt;&lt;mtext&gt;&lt;/mtext&gt;&lt;mn&gt;0.982&lt;/mn&gt;&lt;mtext&gt;&lt;/mtext&gt;&lt;mtext&gt;&lt;/mtext&gt;&lt;mfrac&gt;&lt;mn&gt;491&lt;/mn&gt;&lt;mn&gt;500&lt;/mn&gt;&lt;/mfrac&gt;&lt;mtext&gt;&lt;/mtext&gt;&lt;mtext&gt;&lt;/mtext&gt;&lt;mtext&gt;&lt;/mtext&gt;&lt;mtext&gt;&lt;/mtext&gt;&lt;mtext&gt;&lt;/mtext&gt;&lt;mtext&gt;&lt;/mtext&gt;&lt;mn&gt;3.568&lt;/mn&gt;&lt;mtext&gt;&lt;/mtext&gt;&lt;mtext&gt;&lt;/mtext&gt;&lt;mtext&gt;&lt;/mtext&gt;&lt;mfrac&gt;&lt;mn&gt;446&lt;/mn&gt;&lt;mn&gt;125&lt;/mn&gt;&lt;/mfrac&gt;&lt;mtext&gt;&lt;/mtext&gt;&lt;mtext&gt;&lt;/mtext&gt;&lt;mtext&gt;&lt;/mtext&gt;&lt;mtext&gt;&lt;/mtext&gt;&lt;mtext&gt;&lt;/mtext&gt;&lt;mn&gt;3.244&lt;/mn&gt;&lt;mtext&gt;&lt;/mtext&gt;&lt;mtext&gt;&lt;/mtext&gt;&lt;mfrac&gt;&lt;mn&gt;811&lt;/mn&gt;&lt;mn&gt;250&lt;/mn&gt;&lt;/mfrac&gt;&lt;/math&gt;" id="1042" name="Google Shape;1042;p85" title="0.78 39 over 50 0.982 491 over 500 3.568 446 over 125 3.244 811 over 250"/>
          <p:cNvPicPr preferRelativeResize="0"/>
          <p:nvPr/>
        </p:nvPicPr>
        <p:blipFill rotWithShape="1">
          <a:blip r:embed="rId3">
            <a:alphaModFix/>
          </a:blip>
          <a:srcRect b="-25281" l="34761" r="50000" t="0"/>
          <a:stretch/>
        </p:blipFill>
        <p:spPr>
          <a:xfrm>
            <a:off x="4692750" y="3050625"/>
            <a:ext cx="1346974" cy="107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3" name="Google Shape;1043;p85"/>
          <p:cNvCxnSpPr/>
          <p:nvPr/>
        </p:nvCxnSpPr>
        <p:spPr>
          <a:xfrm>
            <a:off x="3708899" y="2470650"/>
            <a:ext cx="933000" cy="79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0.78\ \ \frac{39}{50}\ \ \ \ \ 0.982\ \ \frac{491}{500}\ \ \ \ \ \ 3.568\ \ \ \frac{446}{125}\ \ \ \ \ 3.244\ \ \frac{811}{250}&quot;&gt;&lt;mn&gt;0.78&lt;/mn&gt;&lt;mtext&gt;&lt;/mtext&gt;&lt;mtext&gt;&lt;/mtext&gt;&lt;mfrac&gt;&lt;mn&gt;39&lt;/mn&gt;&lt;mn&gt;50&lt;/mn&gt;&lt;/mfrac&gt;&lt;mtext&gt;&lt;/mtext&gt;&lt;mtext&gt;&lt;/mtext&gt;&lt;mtext&gt;&lt;/mtext&gt;&lt;mtext&gt;&lt;/mtext&gt;&lt;mtext&gt;&lt;/mtext&gt;&lt;mn&gt;0.982&lt;/mn&gt;&lt;mtext&gt;&lt;/mtext&gt;&lt;mtext&gt;&lt;/mtext&gt;&lt;mfrac&gt;&lt;mn&gt;491&lt;/mn&gt;&lt;mn&gt;500&lt;/mn&gt;&lt;/mfrac&gt;&lt;mtext&gt;&lt;/mtext&gt;&lt;mtext&gt;&lt;/mtext&gt;&lt;mtext&gt;&lt;/mtext&gt;&lt;mtext&gt;&lt;/mtext&gt;&lt;mtext&gt;&lt;/mtext&gt;&lt;mtext&gt;&lt;/mtext&gt;&lt;mn&gt;3.568&lt;/mn&gt;&lt;mtext&gt;&lt;/mtext&gt;&lt;mtext&gt;&lt;/mtext&gt;&lt;mtext&gt;&lt;/mtext&gt;&lt;mfrac&gt;&lt;mn&gt;446&lt;/mn&gt;&lt;mn&gt;125&lt;/mn&gt;&lt;/mfrac&gt;&lt;mtext&gt;&lt;/mtext&gt;&lt;mtext&gt;&lt;/mtext&gt;&lt;mtext&gt;&lt;/mtext&gt;&lt;mtext&gt;&lt;/mtext&gt;&lt;mtext&gt;&lt;/mtext&gt;&lt;mn&gt;3.244&lt;/mn&gt;&lt;mtext&gt;&lt;/mtext&gt;&lt;mtext&gt;&lt;/mtext&gt;&lt;mfrac&gt;&lt;mn&gt;811&lt;/mn&gt;&lt;mn&gt;250&lt;/mn&gt;&lt;/mfrac&gt;&lt;/math&gt;" id="1044" name="Google Shape;1044;p85" title="0.78 39 over 50 0.982 491 over 500 3.568 446 over 125 3.244 811 over 250"/>
          <p:cNvPicPr preferRelativeResize="0"/>
          <p:nvPr/>
        </p:nvPicPr>
        <p:blipFill rotWithShape="1">
          <a:blip r:embed="rId3">
            <a:alphaModFix/>
          </a:blip>
          <a:srcRect b="-12640" l="62838" r="21922" t="-12640"/>
          <a:stretch/>
        </p:blipFill>
        <p:spPr>
          <a:xfrm>
            <a:off x="830988" y="2934725"/>
            <a:ext cx="1346974" cy="107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78\ \ \frac{39}{50}\ \ \ \ \ 0.982\ \ \frac{491}{500}\ \ \ \ \ \ 3.568\ \ \ \frac{446}{125}\ \ \ \ \ 3.244\ \ \frac{811}{250}&quot;&gt;&lt;mn&gt;0.78&lt;/mn&gt;&lt;mtext&gt;&lt;/mtext&gt;&lt;mtext&gt;&lt;/mtext&gt;&lt;mfrac&gt;&lt;mn&gt;39&lt;/mn&gt;&lt;mn&gt;50&lt;/mn&gt;&lt;/mfrac&gt;&lt;mtext&gt;&lt;/mtext&gt;&lt;mtext&gt;&lt;/mtext&gt;&lt;mtext&gt;&lt;/mtext&gt;&lt;mtext&gt;&lt;/mtext&gt;&lt;mtext&gt;&lt;/mtext&gt;&lt;mn&gt;0.982&lt;/mn&gt;&lt;mtext&gt;&lt;/mtext&gt;&lt;mtext&gt;&lt;/mtext&gt;&lt;mfrac&gt;&lt;mn&gt;491&lt;/mn&gt;&lt;mn&gt;500&lt;/mn&gt;&lt;/mfrac&gt;&lt;mtext&gt;&lt;/mtext&gt;&lt;mtext&gt;&lt;/mtext&gt;&lt;mtext&gt;&lt;/mtext&gt;&lt;mtext&gt;&lt;/mtext&gt;&lt;mtext&gt;&lt;/mtext&gt;&lt;mtext&gt;&lt;/mtext&gt;&lt;mn&gt;3.568&lt;/mn&gt;&lt;mtext&gt;&lt;/mtext&gt;&lt;mtext&gt;&lt;/mtext&gt;&lt;mtext&gt;&lt;/mtext&gt;&lt;mfrac&gt;&lt;mn&gt;446&lt;/mn&gt;&lt;mn&gt;125&lt;/mn&gt;&lt;/mfrac&gt;&lt;mtext&gt;&lt;/mtext&gt;&lt;mtext&gt;&lt;/mtext&gt;&lt;mtext&gt;&lt;/mtext&gt;&lt;mtext&gt;&lt;/mtext&gt;&lt;mtext&gt;&lt;/mtext&gt;&lt;mn&gt;3.244&lt;/mn&gt;&lt;mtext&gt;&lt;/mtext&gt;&lt;mtext&gt;&lt;/mtext&gt;&lt;mfrac&gt;&lt;mn&gt;811&lt;/mn&gt;&lt;mn&gt;250&lt;/mn&gt;&lt;/mfrac&gt;&lt;/math&gt;" id="1045" name="Google Shape;1045;p85" title="0.78 39 over 50 0.982 491 over 500 3.568 446 over 125 3.244 811 over 250"/>
          <p:cNvPicPr preferRelativeResize="0"/>
          <p:nvPr/>
        </p:nvPicPr>
        <p:blipFill rotWithShape="1">
          <a:blip r:embed="rId3">
            <a:alphaModFix/>
          </a:blip>
          <a:srcRect b="-12640" l="89550" r="-4789" t="-12640"/>
          <a:stretch/>
        </p:blipFill>
        <p:spPr>
          <a:xfrm>
            <a:off x="6785713" y="3050625"/>
            <a:ext cx="1346974" cy="107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6" name="Google Shape;1046;p85"/>
          <p:cNvCxnSpPr/>
          <p:nvPr/>
        </p:nvCxnSpPr>
        <p:spPr>
          <a:xfrm flipH="1" rot="10800000">
            <a:off x="2052600" y="2296400"/>
            <a:ext cx="2602500" cy="831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85"/>
          <p:cNvCxnSpPr>
            <a:endCxn id="1045" idx="0"/>
          </p:cNvCxnSpPr>
          <p:nvPr/>
        </p:nvCxnSpPr>
        <p:spPr>
          <a:xfrm>
            <a:off x="7376100" y="2571825"/>
            <a:ext cx="83100" cy="47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6"/>
          <p:cNvSpPr txBox="1"/>
          <p:nvPr>
            <p:ph idx="1" type="body"/>
          </p:nvPr>
        </p:nvSpPr>
        <p:spPr>
          <a:xfrm>
            <a:off x="324000" y="688200"/>
            <a:ext cx="8115000" cy="39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Converting recurring decimals into fractions takes a little more </a:t>
            </a:r>
            <a:r>
              <a:rPr lang="en-GB"/>
              <a:t>inputting</a:t>
            </a:r>
            <a:r>
              <a:rPr lang="en-GB"/>
              <a:t>.</a:t>
            </a:r>
            <a:endParaRPr/>
          </a:p>
        </p:txBody>
      </p:sp>
      <p:pic>
        <p:nvPicPr>
          <p:cNvPr id="1053" name="Google Shape;105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sp>
        <p:nvSpPr>
          <p:cNvPr id="1055" name="Google Shape;1055;p86"/>
          <p:cNvSpPr txBox="1"/>
          <p:nvPr/>
        </p:nvSpPr>
        <p:spPr>
          <a:xfrm>
            <a:off x="4383175" y="1030500"/>
            <a:ext cx="42687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need to insert at least 18 decimal places when the number is less than 1.</a:t>
            </a:r>
            <a:endParaRPr/>
          </a:p>
        </p:txBody>
      </p:sp>
      <p:sp>
        <p:nvSpPr>
          <p:cNvPr id="1056" name="Google Shape;1056;p86"/>
          <p:cNvSpPr txBox="1"/>
          <p:nvPr/>
        </p:nvSpPr>
        <p:spPr>
          <a:xfrm>
            <a:off x="4383175" y="2288425"/>
            <a:ext cx="42687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 the equivalent fraction to the recurring decimal. 0.92929292….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\dot{9}\dot{2}=\frac{92}{99}&quot;&gt;&lt;mn&gt;0.&lt;/mn&gt;&lt;mrow data-mjx-texclass=&quot;ORD&quot;&gt;&lt;mover&gt;&lt;mn&gt;9&lt;/mn&gt;&lt;mo&gt;˙&lt;/mo&gt;&lt;/mover&gt;&lt;/mrow&gt;&lt;mrow data-mjx-texclass=&quot;ORD&quot;&gt;&lt;mover&gt;&lt;mn&gt;2&lt;/mn&gt;&lt;mo&gt;˙&lt;/mo&gt;&lt;/mover&gt;&lt;/mrow&gt;&lt;mo&gt;=&lt;/mo&gt;&lt;mfrac&gt;&lt;mn&gt;92&lt;/mn&gt;&lt;mn&gt;99&lt;/mn&gt;&lt;/mfrac&gt;&lt;/math&gt;" id="1057" name="Google Shape;1057;p86" title="the repeating decimal 0 point followed by repeating digits 9 2 equals 92 over 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800" y="4019313"/>
            <a:ext cx="1497303" cy="74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8001" y="1639800"/>
            <a:ext cx="1659100" cy="7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87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 needed to find the fractional equivalent to 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0.871871871…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She put this into her calculator.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Why did the calculator not give the decimal as a fraction?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Why is the last digit a 9?</a:t>
            </a:r>
            <a:endParaRPr/>
          </a:p>
        </p:txBody>
      </p:sp>
      <p:pic>
        <p:nvPicPr>
          <p:cNvPr id="1064" name="Google Shape;106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8350" y="2122650"/>
            <a:ext cx="3184750" cy="14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sp>
        <p:nvSpPr>
          <p:cNvPr id="1066" name="Google Shape;1066;p87"/>
          <p:cNvSpPr txBox="1"/>
          <p:nvPr/>
        </p:nvSpPr>
        <p:spPr>
          <a:xfrm>
            <a:off x="6314825" y="1911650"/>
            <a:ext cx="24585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She did not put in enough decimal places for the calculator to recognise it is a recurring decimal.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67" name="Google Shape;1067;p87"/>
          <p:cNvCxnSpPr/>
          <p:nvPr/>
        </p:nvCxnSpPr>
        <p:spPr>
          <a:xfrm flipH="1">
            <a:off x="5252925" y="2273750"/>
            <a:ext cx="1037400" cy="23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68" name="Google Shape;1068;p87"/>
          <p:cNvGrpSpPr/>
          <p:nvPr/>
        </p:nvGrpSpPr>
        <p:grpSpPr>
          <a:xfrm>
            <a:off x="3717225" y="2660425"/>
            <a:ext cx="4491900" cy="2203375"/>
            <a:chOff x="3717225" y="2736625"/>
            <a:chExt cx="4491900" cy="2203375"/>
          </a:xfrm>
        </p:grpSpPr>
        <p:cxnSp>
          <p:nvCxnSpPr>
            <p:cNvPr id="1069" name="Google Shape;1069;p87"/>
            <p:cNvCxnSpPr/>
            <p:nvPr/>
          </p:nvCxnSpPr>
          <p:spPr>
            <a:xfrm>
              <a:off x="4696525" y="2736625"/>
              <a:ext cx="27360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0" name="Google Shape;1070;p87"/>
            <p:cNvSpPr txBox="1"/>
            <p:nvPr/>
          </p:nvSpPr>
          <p:spPr>
            <a:xfrm>
              <a:off x="3717225" y="4159700"/>
              <a:ext cx="4491900" cy="7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The calculator has rounded the decimal to 10 decimal places.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76" name="Google Shape;1076;p88"/>
          <p:cNvGraphicFramePr/>
          <p:nvPr/>
        </p:nvGraphicFramePr>
        <p:xfrm>
          <a:off x="1954650" y="11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{FB63AC58-2901-4069-A5D4-97CA2CDC49E9}</a:tableStyleId>
              </a:tblPr>
              <a:tblGrid>
                <a:gridCol w="2617350"/>
                <a:gridCol w="2617350"/>
              </a:tblGrid>
              <a:tr h="33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Simplified fraction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91}{500}\ \ \ \ \frac{59}{9}\ \ \ \ &quot;&gt;&lt;mfrac&gt;&lt;mn&gt;491&lt;/mn&gt;&lt;mn&gt;500&lt;/mn&gt;&lt;/mfrac&gt;&lt;mtext&gt;&lt;/mtext&gt;&lt;mtext&gt;&lt;/mtext&gt;&lt;mtext&gt;&lt;/mtext&gt;&lt;mtext&gt;&lt;/mtext&gt;&lt;mfrac&gt;&lt;mn&gt;59&lt;/mn&gt;&lt;mn&gt;9&lt;/mn&gt;&lt;/mfrac&gt;&lt;mtext&gt;&lt;/mtext&gt;&lt;mtext&gt;&lt;/mtext&gt;&lt;mtext&gt;&lt;/mtext&gt;&lt;mtext&gt;&lt;/mtext&gt;&lt;/math&gt;" id="1077" name="Google Shape;1077;p88" title="491 over 500 59 over 9"/>
          <p:cNvPicPr preferRelativeResize="0"/>
          <p:nvPr/>
        </p:nvPicPr>
        <p:blipFill rotWithShape="1">
          <a:blip r:embed="rId3">
            <a:alphaModFix/>
          </a:blip>
          <a:srcRect b="10" l="63704" r="-4977" t="0"/>
          <a:stretch/>
        </p:blipFill>
        <p:spPr>
          <a:xfrm>
            <a:off x="5810388" y="3580988"/>
            <a:ext cx="382425" cy="48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98}{125}&quot;&gt;&lt;mfrac&gt;&lt;mn&gt;298&lt;/mn&gt;&lt;mn&gt;125&lt;/mn&gt;&lt;/mfrac&gt;&lt;/math&gt;" id="1078" name="Google Shape;1078;p88" title="298 over 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410" y="2337863"/>
            <a:ext cx="382423" cy="48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773}{990}\ =9.8\dot{7}\dot{1}&quot;&gt;&lt;mfrac&gt;&lt;mn&gt;9773&lt;/mn&gt;&lt;mn&gt;990&lt;/mn&gt;&lt;/mfrac&gt;&lt;mtext&gt;&lt;/mtext&gt;&lt;mo&gt;=&lt;/mo&gt;&lt;mn&gt;9.8&lt;/mn&gt;&lt;mrow data-mjx-texclass=&quot;ORD&quot;&gt;&lt;mover&gt;&lt;mn&gt;7&lt;/mn&gt;&lt;mo&gt;˙&lt;/mo&gt;&lt;/mover&gt;&lt;/mrow&gt;&lt;mrow data-mjx-texclass=&quot;ORD&quot;&gt;&lt;mover&gt;&lt;mn&gt;1&lt;/mn&gt;&lt;mo&gt;˙&lt;/mo&gt;&lt;/mover&gt;&lt;/mrow&gt;&lt;/math&gt;" id="1079" name="Google Shape;1079;p88" title="9773 over 990 equals the repeating decimal 9.8 followed by repeating digits 7 1"/>
          <p:cNvPicPr preferRelativeResize="0"/>
          <p:nvPr/>
        </p:nvPicPr>
        <p:blipFill rotWithShape="1">
          <a:blip r:embed="rId5">
            <a:alphaModFix/>
          </a:blip>
          <a:srcRect b="29768" l="63947" r="0" t="23159"/>
          <a:stretch/>
        </p:blipFill>
        <p:spPr>
          <a:xfrm>
            <a:off x="2715451" y="4276758"/>
            <a:ext cx="823150" cy="379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7}\dot{8}&quot;&gt;&lt;mn&gt;0.&lt;/mn&gt;&lt;mrow data-mjx-texclass=&quot;ORD&quot;&gt;&lt;mover&gt;&lt;mn&gt;7&lt;/mn&gt;&lt;mo&gt;˙&lt;/mo&gt;&lt;/mover&gt;&lt;/mrow&gt;&lt;mrow data-mjx-texclass=&quot;ORD&quot;&gt;&lt;mover&gt;&lt;mn&gt;8&lt;/mn&gt;&lt;mo&gt;˙&lt;/mo&gt;&lt;/mover&gt;&lt;/mrow&gt;&lt;/math&gt;" id="1080" name="Google Shape;1080;p88" title="the repeating decimal 0 point followed by repeating digits 7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23390" y="3034735"/>
            <a:ext cx="617200" cy="334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982&quot;&gt;&lt;mn&gt;0.982&lt;/mn&gt;&lt;/math&gt;" id="1081" name="Google Shape;1081;p88" title="0.9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20425" y="1788114"/>
            <a:ext cx="823155" cy="26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88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rabicParenR"/>
            </a:pPr>
            <a:r>
              <a:rPr lang="en-GB"/>
              <a:t>Using your calculator, fill in the table below.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89"/>
          <p:cNvSpPr txBox="1"/>
          <p:nvPr>
            <p:ph idx="1" type="body"/>
          </p:nvPr>
        </p:nvSpPr>
        <p:spPr>
          <a:xfrm>
            <a:off x="324000" y="759300"/>
            <a:ext cx="8237700" cy="5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missing values on the calculator displays.</a:t>
            </a:r>
            <a:endParaRPr/>
          </a:p>
        </p:txBody>
      </p:sp>
      <p:sp>
        <p:nvSpPr>
          <p:cNvPr id="1088" name="Google Shape;1088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pic>
        <p:nvPicPr>
          <p:cNvPr id="1089" name="Google Shape;108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925" y="1565125"/>
            <a:ext cx="3184277" cy="14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p89"/>
          <p:cNvSpPr txBox="1"/>
          <p:nvPr/>
        </p:nvSpPr>
        <p:spPr>
          <a:xfrm>
            <a:off x="3240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9"/>
          <p:cNvSpPr txBox="1"/>
          <p:nvPr/>
        </p:nvSpPr>
        <p:spPr>
          <a:xfrm>
            <a:off x="324000" y="348615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9"/>
          <p:cNvSpPr txBox="1"/>
          <p:nvPr/>
        </p:nvSpPr>
        <p:spPr>
          <a:xfrm>
            <a:off x="46422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9"/>
          <p:cNvSpPr txBox="1"/>
          <p:nvPr/>
        </p:nvSpPr>
        <p:spPr>
          <a:xfrm>
            <a:off x="4642200" y="348615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4" name="Google Shape;1094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925" y="3240000"/>
            <a:ext cx="3184275" cy="143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0175" y="1565125"/>
            <a:ext cx="3184275" cy="139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0175" y="3151350"/>
            <a:ext cx="3145368" cy="14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89"/>
          <p:cNvSpPr/>
          <p:nvPr/>
        </p:nvSpPr>
        <p:spPr>
          <a:xfrm>
            <a:off x="3489025" y="2571750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9"/>
          <p:cNvSpPr/>
          <p:nvPr/>
        </p:nvSpPr>
        <p:spPr>
          <a:xfrm>
            <a:off x="3693038" y="2571750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9"/>
          <p:cNvSpPr/>
          <p:nvPr/>
        </p:nvSpPr>
        <p:spPr>
          <a:xfrm>
            <a:off x="6256788" y="1824950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9"/>
          <p:cNvSpPr/>
          <p:nvPr/>
        </p:nvSpPr>
        <p:spPr>
          <a:xfrm>
            <a:off x="3279888" y="39575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9"/>
          <p:cNvSpPr/>
          <p:nvPr/>
        </p:nvSpPr>
        <p:spPr>
          <a:xfrm>
            <a:off x="1715848" y="3543775"/>
            <a:ext cx="1425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9"/>
          <p:cNvSpPr/>
          <p:nvPr/>
        </p:nvSpPr>
        <p:spPr>
          <a:xfrm>
            <a:off x="6077388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9"/>
          <p:cNvSpPr/>
          <p:nvPr/>
        </p:nvSpPr>
        <p:spPr>
          <a:xfrm>
            <a:off x="6249771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9"/>
          <p:cNvSpPr/>
          <p:nvPr/>
        </p:nvSpPr>
        <p:spPr>
          <a:xfrm>
            <a:off x="6425084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9"/>
          <p:cNvSpPr/>
          <p:nvPr/>
        </p:nvSpPr>
        <p:spPr>
          <a:xfrm>
            <a:off x="6604463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9"/>
          <p:cNvSpPr/>
          <p:nvPr/>
        </p:nvSpPr>
        <p:spPr>
          <a:xfrm>
            <a:off x="6776846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9"/>
          <p:cNvSpPr/>
          <p:nvPr/>
        </p:nvSpPr>
        <p:spPr>
          <a:xfrm>
            <a:off x="6952159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9"/>
          <p:cNvSpPr/>
          <p:nvPr/>
        </p:nvSpPr>
        <p:spPr>
          <a:xfrm>
            <a:off x="7128613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9"/>
          <p:cNvSpPr/>
          <p:nvPr/>
        </p:nvSpPr>
        <p:spPr>
          <a:xfrm>
            <a:off x="7300996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9"/>
          <p:cNvSpPr/>
          <p:nvPr/>
        </p:nvSpPr>
        <p:spPr>
          <a:xfrm>
            <a:off x="7476309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9"/>
          <p:cNvSpPr/>
          <p:nvPr/>
        </p:nvSpPr>
        <p:spPr>
          <a:xfrm>
            <a:off x="7636159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89"/>
          <p:cNvSpPr/>
          <p:nvPr/>
        </p:nvSpPr>
        <p:spPr>
          <a:xfrm>
            <a:off x="7817323" y="34861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89"/>
          <p:cNvSpPr/>
          <p:nvPr/>
        </p:nvSpPr>
        <p:spPr>
          <a:xfrm>
            <a:off x="7655698" y="3891859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19" name="Google Shape;1119;p90"/>
          <p:cNvGraphicFramePr/>
          <p:nvPr/>
        </p:nvGraphicFramePr>
        <p:xfrm>
          <a:off x="1954650" y="11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{FB63AC58-2901-4069-A5D4-97CA2CDC49E9}</a:tableStyleId>
              </a:tblPr>
              <a:tblGrid>
                <a:gridCol w="2617350"/>
                <a:gridCol w="2617350"/>
              </a:tblGrid>
              <a:tr h="332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Simplified fraction</a:t>
                      </a:r>
                      <a:endParaRPr b="1"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629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91}{500}\ \ \ \ \frac{59}{9}\ \ \ \ &quot;&gt;&lt;mfrac&gt;&lt;mn&gt;491&lt;/mn&gt;&lt;mn&gt;500&lt;/mn&gt;&lt;/mfrac&gt;&lt;mtext&gt;&lt;/mtext&gt;&lt;mtext&gt;&lt;/mtext&gt;&lt;mtext&gt;&lt;/mtext&gt;&lt;mtext&gt;&lt;/mtext&gt;&lt;mfrac&gt;&lt;mn&gt;59&lt;/mn&gt;&lt;mn&gt;9&lt;/mn&gt;&lt;/mfrac&gt;&lt;mtext&gt;&lt;/mtext&gt;&lt;mtext&gt;&lt;/mtext&gt;&lt;mtext&gt;&lt;/mtext&gt;&lt;mtext&gt;&lt;/mtext&gt;&lt;/math&gt;" id="1120" name="Google Shape;1120;p90" title="491 over 500 59 over 9"/>
          <p:cNvPicPr preferRelativeResize="0"/>
          <p:nvPr/>
        </p:nvPicPr>
        <p:blipFill rotWithShape="1">
          <a:blip r:embed="rId3">
            <a:alphaModFix/>
          </a:blip>
          <a:srcRect b="0" l="0" r="58727" t="0"/>
          <a:stretch/>
        </p:blipFill>
        <p:spPr>
          <a:xfrm>
            <a:off x="5810388" y="1722300"/>
            <a:ext cx="382425" cy="48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91}{500}\ \ \ \ \frac{59}{9}\ \ \ \ &quot;&gt;&lt;mfrac&gt;&lt;mn&gt;491&lt;/mn&gt;&lt;mn&gt;500&lt;/mn&gt;&lt;/mfrac&gt;&lt;mtext&gt;&lt;/mtext&gt;&lt;mtext&gt;&lt;/mtext&gt;&lt;mtext&gt;&lt;/mtext&gt;&lt;mtext&gt;&lt;/mtext&gt;&lt;mfrac&gt;&lt;mn&gt;59&lt;/mn&gt;&lt;mn&gt;9&lt;/mn&gt;&lt;/mfrac&gt;&lt;mtext&gt;&lt;/mtext&gt;&lt;mtext&gt;&lt;/mtext&gt;&lt;mtext&gt;&lt;/mtext&gt;&lt;mtext&gt;&lt;/mtext&gt;&lt;/math&gt;" id="1121" name="Google Shape;1121;p90" title="491 over 500 59 over 9"/>
          <p:cNvPicPr preferRelativeResize="0"/>
          <p:nvPr/>
        </p:nvPicPr>
        <p:blipFill rotWithShape="1">
          <a:blip r:embed="rId3">
            <a:alphaModFix/>
          </a:blip>
          <a:srcRect b="10" l="63704" r="-4977" t="0"/>
          <a:stretch/>
        </p:blipFill>
        <p:spPr>
          <a:xfrm>
            <a:off x="5810388" y="3580988"/>
            <a:ext cx="382425" cy="48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98}{125}&quot;&gt;&lt;mfrac&gt;&lt;mn&gt;298&lt;/mn&gt;&lt;mn&gt;125&lt;/mn&gt;&lt;/mfrac&gt;&lt;/math&gt;" id="1122" name="Google Shape;1122;p90" title="298 over 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410" y="2337863"/>
            <a:ext cx="382423" cy="48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6}{33}&quot;&gt;&lt;mfrac&gt;&lt;mn&gt;26&lt;/mn&gt;&lt;mn&gt;33&lt;/mn&gt;&lt;/mfrac&gt;&lt;/math&gt;" id="1123" name="Google Shape;1123;p90" title="26 over 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0209" y="2958213"/>
            <a:ext cx="262797" cy="48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.\dot{5}&quot;&gt;&lt;mn&gt;6.&lt;/mn&gt;&lt;mrow data-mjx-texclass=&quot;ORD&quot;&gt;&lt;mover&gt;&lt;mn&gt;5&lt;/mn&gt;&lt;mo&gt;˙&lt;/mo&gt;&lt;/mover&gt;&lt;/mrow&gt;&lt;/math&gt;" id="1124" name="Google Shape;1124;p90" title="the repeating decimal 6 point followed by repeating digit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22475" y="3667124"/>
            <a:ext cx="419056" cy="33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773}{990}\ =9.8\dot{7}\dot{1}&quot;&gt;&lt;mfrac&gt;&lt;mn&gt;9773&lt;/mn&gt;&lt;mn&gt;990&lt;/mn&gt;&lt;/mfrac&gt;&lt;mtext&gt;&lt;/mtext&gt;&lt;mo&gt;=&lt;/mo&gt;&lt;mn&gt;9.8&lt;/mn&gt;&lt;mrow data-mjx-texclass=&quot;ORD&quot;&gt;&lt;mover&gt;&lt;mn&gt;7&lt;/mn&gt;&lt;mo&gt;˙&lt;/mo&gt;&lt;/mover&gt;&lt;/mrow&gt;&lt;mrow data-mjx-texclass=&quot;ORD&quot;&gt;&lt;mover&gt;&lt;mn&gt;1&lt;/mn&gt;&lt;mo&gt;˙&lt;/mo&gt;&lt;/mover&gt;&lt;/mrow&gt;&lt;/math&gt;" id="1125" name="Google Shape;1125;p90" title="9773 over 990 equals the repeating decimal 9.8 followed by repeating digits 7 1"/>
          <p:cNvPicPr preferRelativeResize="0"/>
          <p:nvPr/>
        </p:nvPicPr>
        <p:blipFill rotWithShape="1">
          <a:blip r:embed="rId7">
            <a:alphaModFix/>
          </a:blip>
          <a:srcRect b="0" l="-4823" r="56879" t="0"/>
          <a:stretch/>
        </p:blipFill>
        <p:spPr>
          <a:xfrm>
            <a:off x="5711750" y="4223013"/>
            <a:ext cx="661050" cy="48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773}{990}\ =9.8\dot{7}\dot{1}&quot;&gt;&lt;mfrac&gt;&lt;mn&gt;9773&lt;/mn&gt;&lt;mn&gt;990&lt;/mn&gt;&lt;/mfrac&gt;&lt;mtext&gt;&lt;/mtext&gt;&lt;mo&gt;=&lt;/mo&gt;&lt;mn&gt;9.8&lt;/mn&gt;&lt;mrow data-mjx-texclass=&quot;ORD&quot;&gt;&lt;mover&gt;&lt;mn&gt;7&lt;/mn&gt;&lt;mo&gt;˙&lt;/mo&gt;&lt;/mover&gt;&lt;/mrow&gt;&lt;mrow data-mjx-texclass=&quot;ORD&quot;&gt;&lt;mover&gt;&lt;mn&gt;1&lt;/mn&gt;&lt;mo&gt;˙&lt;/mo&gt;&lt;/mover&gt;&lt;/mrow&gt;&lt;/math&gt;" id="1126" name="Google Shape;1126;p90" title="9773 over 990 equals the repeating decimal 9.8 followed by repeating digits 7 1"/>
          <p:cNvPicPr preferRelativeResize="0"/>
          <p:nvPr/>
        </p:nvPicPr>
        <p:blipFill rotWithShape="1">
          <a:blip r:embed="rId7">
            <a:alphaModFix/>
          </a:blip>
          <a:srcRect b="29768" l="63947" r="0" t="23159"/>
          <a:stretch/>
        </p:blipFill>
        <p:spPr>
          <a:xfrm>
            <a:off x="2715451" y="4276758"/>
            <a:ext cx="823150" cy="3796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\dot{7}\dot{8}&quot;&gt;&lt;mn&gt;0.&lt;/mn&gt;&lt;mrow data-mjx-texclass=&quot;ORD&quot;&gt;&lt;mover&gt;&lt;mn&gt;7&lt;/mn&gt;&lt;mo&gt;˙&lt;/mo&gt;&lt;/mover&gt;&lt;/mrow&gt;&lt;mrow data-mjx-texclass=&quot;ORD&quot;&gt;&lt;mover&gt;&lt;mn&gt;8&lt;/mn&gt;&lt;mo&gt;˙&lt;/mo&gt;&lt;/mover&gt;&lt;/mrow&gt;&lt;/math&gt;" id="1127" name="Google Shape;1127;p90" title="the repeating decimal 0 point followed by repeating digits 7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23390" y="3034735"/>
            <a:ext cx="617200" cy="334081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90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rabicParenR"/>
            </a:pPr>
            <a:r>
              <a:rPr lang="en-GB"/>
              <a:t>Using your calculator, fill in the table below.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0.982&quot;&gt;&lt;mn&gt;0.982&lt;/mn&gt;&lt;/math&gt;" id="1129" name="Google Shape;1129;p90" title="0.9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20425" y="1788114"/>
            <a:ext cx="823155" cy="265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.384\end{array}&quot;&gt;&lt;mtable columnalign=&quot;left&quot; columnspacing=&quot;1em&quot; rowspacing=&quot;4pt&quot;&gt;&lt;mtr&gt;&lt;mtd&gt;&lt;mn&gt;2.384&lt;/mn&gt;&lt;/mtd&gt;&lt;/mtr&gt;&lt;/mtable&gt;&lt;/math&gt;" id="1130" name="Google Shape;1130;p90" title="1 lines Line 1: 2.3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10475" y="2471344"/>
            <a:ext cx="833100" cy="265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Find the missing values on the calculator displays.</a:t>
            </a:r>
            <a:endParaRPr/>
          </a:p>
        </p:txBody>
      </p:sp>
      <p:sp>
        <p:nvSpPr>
          <p:cNvPr id="1136" name="Google Shape;1136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pic>
        <p:nvPicPr>
          <p:cNvPr id="1137" name="Google Shape;113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925" y="1565125"/>
            <a:ext cx="3184277" cy="147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91"/>
          <p:cNvSpPr txBox="1"/>
          <p:nvPr/>
        </p:nvSpPr>
        <p:spPr>
          <a:xfrm>
            <a:off x="3240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91"/>
          <p:cNvSpPr txBox="1"/>
          <p:nvPr/>
        </p:nvSpPr>
        <p:spPr>
          <a:xfrm>
            <a:off x="324000" y="348615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91"/>
          <p:cNvSpPr txBox="1"/>
          <p:nvPr/>
        </p:nvSpPr>
        <p:spPr>
          <a:xfrm>
            <a:off x="46422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91"/>
          <p:cNvSpPr txBox="1"/>
          <p:nvPr/>
        </p:nvSpPr>
        <p:spPr>
          <a:xfrm>
            <a:off x="4642200" y="348615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2" name="Google Shape;1142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925" y="3240000"/>
            <a:ext cx="3184275" cy="1432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0175" y="1565125"/>
            <a:ext cx="3184275" cy="1397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70175" y="3151350"/>
            <a:ext cx="3145368" cy="147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5" name="Google Shape;1145;p91"/>
          <p:cNvGrpSpPr/>
          <p:nvPr/>
        </p:nvGrpSpPr>
        <p:grpSpPr>
          <a:xfrm>
            <a:off x="3489025" y="2571750"/>
            <a:ext cx="383413" cy="197100"/>
            <a:chOff x="3489025" y="2571750"/>
            <a:chExt cx="383413" cy="197100"/>
          </a:xfrm>
        </p:grpSpPr>
        <p:sp>
          <p:nvSpPr>
            <p:cNvPr id="1146" name="Google Shape;1146;p91"/>
            <p:cNvSpPr/>
            <p:nvPr/>
          </p:nvSpPr>
          <p:spPr>
            <a:xfrm>
              <a:off x="3489025" y="2571750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91"/>
            <p:cNvSpPr/>
            <p:nvPr/>
          </p:nvSpPr>
          <p:spPr>
            <a:xfrm>
              <a:off x="3693038" y="2571750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8" name="Google Shape;1148;p91"/>
          <p:cNvSpPr/>
          <p:nvPr/>
        </p:nvSpPr>
        <p:spPr>
          <a:xfrm>
            <a:off x="6256788" y="1824950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91"/>
          <p:cNvSpPr/>
          <p:nvPr/>
        </p:nvSpPr>
        <p:spPr>
          <a:xfrm>
            <a:off x="3279888" y="3957538"/>
            <a:ext cx="1794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1"/>
          <p:cNvSpPr/>
          <p:nvPr/>
        </p:nvSpPr>
        <p:spPr>
          <a:xfrm>
            <a:off x="1715848" y="3543775"/>
            <a:ext cx="142500" cy="197100"/>
          </a:xfrm>
          <a:prstGeom prst="rect">
            <a:avLst/>
          </a:prstGeom>
          <a:solidFill>
            <a:srgbClr val="D6E3D6"/>
          </a:solidFill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1" name="Google Shape;1151;p91"/>
          <p:cNvGrpSpPr/>
          <p:nvPr/>
        </p:nvGrpSpPr>
        <p:grpSpPr>
          <a:xfrm>
            <a:off x="6077388" y="3486138"/>
            <a:ext cx="1919335" cy="602822"/>
            <a:chOff x="6077388" y="3486138"/>
            <a:chExt cx="1919335" cy="602822"/>
          </a:xfrm>
        </p:grpSpPr>
        <p:sp>
          <p:nvSpPr>
            <p:cNvPr id="1152" name="Google Shape;1152;p91"/>
            <p:cNvSpPr/>
            <p:nvPr/>
          </p:nvSpPr>
          <p:spPr>
            <a:xfrm>
              <a:off x="6077388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3" name="Google Shape;1153;p91"/>
            <p:cNvSpPr/>
            <p:nvPr/>
          </p:nvSpPr>
          <p:spPr>
            <a:xfrm>
              <a:off x="6249771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4" name="Google Shape;1154;p91"/>
            <p:cNvSpPr/>
            <p:nvPr/>
          </p:nvSpPr>
          <p:spPr>
            <a:xfrm>
              <a:off x="6425084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5" name="Google Shape;1155;p91"/>
            <p:cNvSpPr/>
            <p:nvPr/>
          </p:nvSpPr>
          <p:spPr>
            <a:xfrm>
              <a:off x="6604463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6" name="Google Shape;1156;p91"/>
            <p:cNvSpPr/>
            <p:nvPr/>
          </p:nvSpPr>
          <p:spPr>
            <a:xfrm>
              <a:off x="6776846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7" name="Google Shape;1157;p91"/>
            <p:cNvSpPr/>
            <p:nvPr/>
          </p:nvSpPr>
          <p:spPr>
            <a:xfrm>
              <a:off x="6952159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91"/>
            <p:cNvSpPr/>
            <p:nvPr/>
          </p:nvSpPr>
          <p:spPr>
            <a:xfrm>
              <a:off x="7128613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9" name="Google Shape;1159;p91"/>
            <p:cNvSpPr/>
            <p:nvPr/>
          </p:nvSpPr>
          <p:spPr>
            <a:xfrm>
              <a:off x="7300996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0" name="Google Shape;1160;p91"/>
            <p:cNvSpPr/>
            <p:nvPr/>
          </p:nvSpPr>
          <p:spPr>
            <a:xfrm>
              <a:off x="7476309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1" name="Google Shape;1161;p91"/>
            <p:cNvSpPr/>
            <p:nvPr/>
          </p:nvSpPr>
          <p:spPr>
            <a:xfrm>
              <a:off x="7636159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91"/>
            <p:cNvSpPr/>
            <p:nvPr/>
          </p:nvSpPr>
          <p:spPr>
            <a:xfrm>
              <a:off x="7817323" y="3486138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91"/>
            <p:cNvSpPr/>
            <p:nvPr/>
          </p:nvSpPr>
          <p:spPr>
            <a:xfrm>
              <a:off x="7655698" y="3891859"/>
              <a:ext cx="179400" cy="197100"/>
            </a:xfrm>
            <a:prstGeom prst="rect">
              <a:avLst/>
            </a:prstGeom>
            <a:solidFill>
              <a:srgbClr val="D6E3D6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calculator to simplify fractions</a:t>
            </a:r>
            <a:endParaRPr/>
          </a:p>
        </p:txBody>
      </p:sp>
      <p:sp>
        <p:nvSpPr>
          <p:cNvPr id="1169" name="Google Shape;1169;p9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 between fractions and decimals</a:t>
            </a:r>
            <a:endParaRPr/>
          </a:p>
        </p:txBody>
      </p:sp>
      <p:sp>
        <p:nvSpPr>
          <p:cNvPr id="1170" name="Google Shape;1170;p9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with technology</a:t>
            </a:r>
            <a:endParaRPr/>
          </a:p>
        </p:txBody>
      </p:sp>
      <p:sp>
        <p:nvSpPr>
          <p:cNvPr id="1171" name="Google Shape;1171;p9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pic>
        <p:nvPicPr>
          <p:cNvPr id="1172" name="Google Shape;117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25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93"/>
          <p:cNvSpPr txBox="1"/>
          <p:nvPr/>
        </p:nvSpPr>
        <p:spPr>
          <a:xfrm>
            <a:off x="4824000" y="1680175"/>
            <a:ext cx="3899400" cy="22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an answer is found,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pressing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allows you to change how you want to see your answer. </a:t>
            </a:r>
            <a:endParaRPr/>
          </a:p>
        </p:txBody>
      </p:sp>
      <p:sp>
        <p:nvSpPr>
          <p:cNvPr id="1178" name="Google Shape;1178;p93"/>
          <p:cNvSpPr txBox="1"/>
          <p:nvPr>
            <p:ph idx="1" type="body"/>
          </p:nvPr>
        </p:nvSpPr>
        <p:spPr>
          <a:xfrm>
            <a:off x="324000" y="759300"/>
            <a:ext cx="8237700" cy="7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to change the format of an answer too.</a:t>
            </a:r>
            <a:endParaRPr/>
          </a:p>
        </p:txBody>
      </p:sp>
      <p:pic>
        <p:nvPicPr>
          <p:cNvPr id="1179" name="Google Shape;117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pic>
        <p:nvPicPr>
          <p:cNvPr id="1181" name="Google Shape;118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684" y="2077938"/>
            <a:ext cx="58102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3918" y="1619868"/>
            <a:ext cx="1629700" cy="739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to change the format of an answer too.</a:t>
            </a:r>
            <a:endParaRPr/>
          </a:p>
        </p:txBody>
      </p:sp>
      <p:sp>
        <p:nvSpPr>
          <p:cNvPr id="1188" name="Google Shape;1188;p94"/>
          <p:cNvSpPr txBox="1"/>
          <p:nvPr/>
        </p:nvSpPr>
        <p:spPr>
          <a:xfrm>
            <a:off x="4662300" y="1463275"/>
            <a:ext cx="389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9" name="Google Shape;118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5}{3}&quot;&gt;&lt;mfrac&gt;&lt;mn&gt;25&lt;/mn&gt;&lt;mn&gt;3&lt;/mn&gt;&lt;/mfrac&gt;&lt;/math&gt;" id="1191" name="Google Shape;1191;p94" title="25 over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300" y="2431637"/>
            <a:ext cx="294200" cy="53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94"/>
          <p:cNvSpPr txBox="1"/>
          <p:nvPr/>
        </p:nvSpPr>
        <p:spPr>
          <a:xfrm>
            <a:off x="4658431" y="3283075"/>
            <a:ext cx="2686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93" name="Google Shape;119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1563" y="3769913"/>
            <a:ext cx="5715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5876" y="3760388"/>
            <a:ext cx="5810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94"/>
          <p:cNvSpPr txBox="1"/>
          <p:nvPr/>
        </p:nvSpPr>
        <p:spPr>
          <a:xfrm>
            <a:off x="4662300" y="1996675"/>
            <a:ext cx="389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change the improper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4"/>
          <p:cNvSpPr txBox="1"/>
          <p:nvPr/>
        </p:nvSpPr>
        <p:spPr>
          <a:xfrm>
            <a:off x="4662300" y="2377675"/>
            <a:ext cx="132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94"/>
          <p:cNvSpPr txBox="1"/>
          <p:nvPr/>
        </p:nvSpPr>
        <p:spPr>
          <a:xfrm>
            <a:off x="4662300" y="2758675"/>
            <a:ext cx="389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94"/>
          <p:cNvSpPr txBox="1"/>
          <p:nvPr/>
        </p:nvSpPr>
        <p:spPr>
          <a:xfrm>
            <a:off x="6326350" y="2377675"/>
            <a:ext cx="208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into a mixed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9" name="Google Shape;1199;p94"/>
          <p:cNvGrpSpPr/>
          <p:nvPr/>
        </p:nvGrpSpPr>
        <p:grpSpPr>
          <a:xfrm>
            <a:off x="4658429" y="3760400"/>
            <a:ext cx="1714500" cy="523200"/>
            <a:chOff x="4658429" y="3760400"/>
            <a:chExt cx="1714500" cy="523200"/>
          </a:xfrm>
        </p:grpSpPr>
        <p:sp>
          <p:nvSpPr>
            <p:cNvPr id="1200" name="Google Shape;1200;p94"/>
            <p:cNvSpPr txBox="1"/>
            <p:nvPr/>
          </p:nvSpPr>
          <p:spPr>
            <a:xfrm>
              <a:off x="4658429" y="3760400"/>
              <a:ext cx="633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25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1" name="Google Shape;1201;p94"/>
            <p:cNvSpPr txBox="1"/>
            <p:nvPr/>
          </p:nvSpPr>
          <p:spPr>
            <a:xfrm>
              <a:off x="5801430" y="3760400"/>
              <a:ext cx="571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    </a:t>
              </a:r>
              <a:endPara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95"/>
          <p:cNvSpPr txBox="1"/>
          <p:nvPr/>
        </p:nvSpPr>
        <p:spPr>
          <a:xfrm>
            <a:off x="4662300" y="1463275"/>
            <a:ext cx="3899400" cy="14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to a mixed number,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to change the format of an answer too.</a:t>
            </a:r>
            <a:endParaRPr/>
          </a:p>
        </p:txBody>
      </p:sp>
      <p:pic>
        <p:nvPicPr>
          <p:cNvPr id="1208" name="Google Shape;1208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pic>
        <p:nvPicPr>
          <p:cNvPr id="1210" name="Google Shape;121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6438" y="1673525"/>
            <a:ext cx="1643676" cy="7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7176" y="2355302"/>
            <a:ext cx="571500" cy="5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8950" y="1679088"/>
            <a:ext cx="1611174" cy="746969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95"/>
          <p:cNvSpPr txBox="1"/>
          <p:nvPr/>
        </p:nvSpPr>
        <p:spPr>
          <a:xfrm>
            <a:off x="4683531" y="3063175"/>
            <a:ext cx="30000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Scroll down using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press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4" name="Google Shape;1214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10631" y="3063175"/>
            <a:ext cx="571500" cy="582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53156" y="3587975"/>
            <a:ext cx="581025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68950" y="1675625"/>
            <a:ext cx="1611174" cy="753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96"/>
          <p:cNvSpPr txBox="1"/>
          <p:nvPr>
            <p:ph idx="1" type="body"/>
          </p:nvPr>
        </p:nvSpPr>
        <p:spPr>
          <a:xfrm>
            <a:off x="324000" y="759300"/>
            <a:ext cx="8237700" cy="5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 the following improper fractions to mixed numbers.</a:t>
            </a:r>
            <a:endParaRPr/>
          </a:p>
        </p:txBody>
      </p:sp>
      <p:sp>
        <p:nvSpPr>
          <p:cNvPr id="1222" name="Google Shape;122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84}{5}\\&amp;#13;&amp;#10;\frac{157}{12}\\&amp;#13;&amp;#10;\frac{98}{21}\end{array}&quot;&gt;&lt;mtable columnalign=&quot;left&quot; columnspacing=&quot;1em&quot; rowspacing=&quot;4pt&quot;&gt;&lt;mtr&gt;&lt;mtd&gt;&lt;mfrac&gt;&lt;mn&gt;84&lt;/mn&gt;&lt;mn&gt;5&lt;/mn&gt;&lt;/mfrac&gt;&lt;/mtd&gt;&lt;/mtr&gt;&lt;mtr&gt;&lt;mtd&gt;&lt;mfrac&gt;&lt;mn&gt;157&lt;/mn&gt;&lt;mn&gt;12&lt;/mn&gt;&lt;/mfrac&gt;&lt;/mtd&gt;&lt;/mtr&gt;&lt;mtr&gt;&lt;mtd&gt;&lt;mfrac&gt;&lt;mn&gt;98&lt;/mn&gt;&lt;mn&gt;21&lt;/mn&gt;&lt;/mfrac&gt;&lt;/mtd&gt;&lt;/mtr&gt;&lt;/mtable&gt;&lt;/math&gt;" id="1223" name="Google Shape;1223;p96" title="3 lines Line 1: 84 over 5 Line 2: 157 over 12 Line 3: 98 over 21"/>
          <p:cNvPicPr preferRelativeResize="0"/>
          <p:nvPr/>
        </p:nvPicPr>
        <p:blipFill rotWithShape="1">
          <a:blip r:embed="rId3">
            <a:alphaModFix/>
          </a:blip>
          <a:srcRect b="68459" l="0" r="0" t="0"/>
          <a:stretch/>
        </p:blipFill>
        <p:spPr>
          <a:xfrm>
            <a:off x="1150775" y="1344750"/>
            <a:ext cx="751975" cy="9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96"/>
          <p:cNvSpPr txBox="1"/>
          <p:nvPr/>
        </p:nvSpPr>
        <p:spPr>
          <a:xfrm>
            <a:off x="542075" y="1399325"/>
            <a:ext cx="532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6"/>
          <p:cNvSpPr txBox="1"/>
          <p:nvPr/>
        </p:nvSpPr>
        <p:spPr>
          <a:xfrm>
            <a:off x="542075" y="2694725"/>
            <a:ext cx="532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6"/>
          <p:cNvSpPr txBox="1"/>
          <p:nvPr/>
        </p:nvSpPr>
        <p:spPr>
          <a:xfrm>
            <a:off x="542075" y="3837725"/>
            <a:ext cx="532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84}{5}\\&amp;#13;&amp;#10;\frac{157}{12}\\&amp;#13;&amp;#10;\frac{98}{21}\end{array}&quot;&gt;&lt;mtable columnalign=&quot;left&quot; columnspacing=&quot;1em&quot; rowspacing=&quot;4pt&quot;&gt;&lt;mtr&gt;&lt;mtd&gt;&lt;mfrac&gt;&lt;mn&gt;84&lt;/mn&gt;&lt;mn&gt;5&lt;/mn&gt;&lt;/mfrac&gt;&lt;/mtd&gt;&lt;/mtr&gt;&lt;mtr&gt;&lt;mtd&gt;&lt;mfrac&gt;&lt;mn&gt;157&lt;/mn&gt;&lt;mn&gt;12&lt;/mn&gt;&lt;/mfrac&gt;&lt;/mtd&gt;&lt;/mtr&gt;&lt;mtr&gt;&lt;mtd&gt;&lt;mfrac&gt;&lt;mn&gt;98&lt;/mn&gt;&lt;mn&gt;21&lt;/mn&gt;&lt;/mfrac&gt;&lt;/mtd&gt;&lt;/mtr&gt;&lt;/mtable&gt;&lt;/math&gt;" id="1227" name="Google Shape;1227;p96" title="3 lines Line 1: 84 over 5 Line 2: 157 over 12 Line 3: 98 over 21"/>
          <p:cNvPicPr preferRelativeResize="0"/>
          <p:nvPr/>
        </p:nvPicPr>
        <p:blipFill rotWithShape="1">
          <a:blip r:embed="rId3">
            <a:alphaModFix/>
          </a:blip>
          <a:srcRect b="32432" l="0" r="0" t="34402"/>
          <a:stretch/>
        </p:blipFill>
        <p:spPr>
          <a:xfrm>
            <a:off x="1074575" y="2492650"/>
            <a:ext cx="751975" cy="1027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84}{5}\\&amp;#13;&amp;#10;\frac{157}{12}\\&amp;#13;&amp;#10;\frac{98}{21}\end{array}&quot;&gt;&lt;mtable columnalign=&quot;left&quot; columnspacing=&quot;1em&quot; rowspacing=&quot;4pt&quot;&gt;&lt;mtr&gt;&lt;mtd&gt;&lt;mfrac&gt;&lt;mn&gt;84&lt;/mn&gt;&lt;mn&gt;5&lt;/mn&gt;&lt;/mfrac&gt;&lt;/mtd&gt;&lt;/mtr&gt;&lt;mtr&gt;&lt;mtd&gt;&lt;mfrac&gt;&lt;mn&gt;157&lt;/mn&gt;&lt;mn&gt;12&lt;/mn&gt;&lt;/mfrac&gt;&lt;/mtd&gt;&lt;/mtr&gt;&lt;mtr&gt;&lt;mtd&gt;&lt;mfrac&gt;&lt;mn&gt;98&lt;/mn&gt;&lt;mn&gt;21&lt;/mn&gt;&lt;/mfrac&gt;&lt;/mtd&gt;&lt;/mtr&gt;&lt;/mtable&gt;&lt;/math&gt;" id="1228" name="Google Shape;1228;p96" title="3 lines Line 1: 84 over 5 Line 2: 157 over 12 Line 3: 98 over 21"/>
          <p:cNvPicPr preferRelativeResize="0"/>
          <p:nvPr/>
        </p:nvPicPr>
        <p:blipFill rotWithShape="1">
          <a:blip r:embed="rId3">
            <a:alphaModFix/>
          </a:blip>
          <a:srcRect b="11709" l="-6319" r="6319" t="68479"/>
          <a:stretch/>
        </p:blipFill>
        <p:spPr>
          <a:xfrm>
            <a:off x="1150775" y="3734150"/>
            <a:ext cx="7519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9800" y="1142175"/>
            <a:ext cx="2467220" cy="1163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4206" y="2391487"/>
            <a:ext cx="2458409" cy="1119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8931" y="3596742"/>
            <a:ext cx="2388958" cy="1164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84}{5}\\&amp;#13;&amp;#10;\frac{157}{12}\\&amp;#13;&amp;#10;\frac{98}{21}\end{array}&quot;&gt;&lt;mtable columnalign=&quot;left&quot; columnspacing=&quot;1em&quot; rowspacing=&quot;4pt&quot;&gt;&lt;mtr&gt;&lt;mtd&gt;&lt;mfrac&gt;&lt;mn&gt;84&lt;/mn&gt;&lt;mn&gt;5&lt;/mn&gt;&lt;/mfrac&gt;&lt;/mtd&gt;&lt;/mtr&gt;&lt;mtr&gt;&lt;mtd&gt;&lt;mfrac&gt;&lt;mn&gt;157&lt;/mn&gt;&lt;mn&gt;12&lt;/mn&gt;&lt;/mfrac&gt;&lt;/mtd&gt;&lt;/mtr&gt;&lt;mtr&gt;&lt;mtd&gt;&lt;mfrac&gt;&lt;mn&gt;98&lt;/mn&gt;&lt;mn&gt;21&lt;/mn&gt;&lt;/mfrac&gt;&lt;/mtd&gt;&lt;/mtr&gt;&lt;/mtable&gt;&lt;/math&gt;" id="1232" name="Google Shape;1232;p96" title="3 lines Line 1: 84 over 5 Line 2: 157 over 12 Line 3: 98 over 21"/>
          <p:cNvPicPr preferRelativeResize="0"/>
          <p:nvPr/>
        </p:nvPicPr>
        <p:blipFill rotWithShape="1">
          <a:blip r:embed="rId3">
            <a:alphaModFix/>
          </a:blip>
          <a:srcRect b="32432" l="0" r="0" t="52770"/>
          <a:stretch/>
        </p:blipFill>
        <p:spPr>
          <a:xfrm>
            <a:off x="1035974" y="4320000"/>
            <a:ext cx="751975" cy="4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97"/>
          <p:cNvSpPr txBox="1"/>
          <p:nvPr/>
        </p:nvSpPr>
        <p:spPr>
          <a:xfrm>
            <a:off x="4662300" y="1463275"/>
            <a:ext cx="38994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Now let’s change a mixed number into a decimal and improper fraction.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97"/>
          <p:cNvSpPr txBox="1"/>
          <p:nvPr>
            <p:ph idx="1" type="body"/>
          </p:nvPr>
        </p:nvSpPr>
        <p:spPr>
          <a:xfrm>
            <a:off x="324000" y="759300"/>
            <a:ext cx="8237700" cy="7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to change the format of an answer too.</a:t>
            </a:r>
            <a:endParaRPr/>
          </a:p>
        </p:txBody>
      </p:sp>
      <p:pic>
        <p:nvPicPr>
          <p:cNvPr id="1239" name="Google Shape;123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Casio fx 991 classwiz allows you to change the format of an answer too.</a:t>
            </a:r>
            <a:endParaRPr/>
          </a:p>
        </p:txBody>
      </p:sp>
      <p:sp>
        <p:nvSpPr>
          <p:cNvPr id="1246" name="Google Shape;1246;p98"/>
          <p:cNvSpPr txBox="1"/>
          <p:nvPr/>
        </p:nvSpPr>
        <p:spPr>
          <a:xfrm>
            <a:off x="4662300" y="1310875"/>
            <a:ext cx="38994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mixed number button is accessed by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pressing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7" name="Google Shape;124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grpSp>
        <p:nvGrpSpPr>
          <p:cNvPr id="1249" name="Google Shape;1249;p98"/>
          <p:cNvGrpSpPr/>
          <p:nvPr/>
        </p:nvGrpSpPr>
        <p:grpSpPr>
          <a:xfrm>
            <a:off x="5441564" y="2121400"/>
            <a:ext cx="1075200" cy="852400"/>
            <a:chOff x="547039" y="2582100"/>
            <a:chExt cx="1075200" cy="852400"/>
          </a:xfrm>
        </p:grpSpPr>
        <p:pic>
          <p:nvPicPr>
            <p:cNvPr id="1250" name="Google Shape;1250;p98"/>
            <p:cNvPicPr preferRelativeResize="0"/>
            <p:nvPr/>
          </p:nvPicPr>
          <p:blipFill rotWithShape="1">
            <a:blip r:embed="rId4">
              <a:alphaModFix/>
            </a:blip>
            <a:srcRect b="0" l="0" r="0" t="21996"/>
            <a:stretch/>
          </p:blipFill>
          <p:spPr>
            <a:xfrm>
              <a:off x="671625" y="2893675"/>
              <a:ext cx="596800" cy="540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1" name="Google Shape;1251;p98"/>
            <p:cNvSpPr txBox="1"/>
            <p:nvPr/>
          </p:nvSpPr>
          <p:spPr>
            <a:xfrm>
              <a:off x="547039" y="2582100"/>
              <a:ext cx="1075200" cy="2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SHIFT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52" name="Google Shape;1252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0550" y="2299550"/>
            <a:ext cx="688675" cy="7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9863" y="1633322"/>
            <a:ext cx="1636825" cy="7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98"/>
          <p:cNvSpPr txBox="1"/>
          <p:nvPr/>
        </p:nvSpPr>
        <p:spPr>
          <a:xfrm>
            <a:off x="5300925" y="3189075"/>
            <a:ext cx="30000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then insert the integer and proper fraction.</a:t>
            </a:r>
            <a:endParaRPr/>
          </a:p>
        </p:txBody>
      </p:sp>
      <p:cxnSp>
        <p:nvCxnSpPr>
          <p:cNvPr id="1255" name="Google Shape;1255;p98"/>
          <p:cNvCxnSpPr/>
          <p:nvPr/>
        </p:nvCxnSpPr>
        <p:spPr>
          <a:xfrm rot="10800000">
            <a:off x="2885650" y="2012150"/>
            <a:ext cx="2263500" cy="1848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6" name="Google Shape;1256;p98"/>
          <p:cNvSpPr txBox="1"/>
          <p:nvPr/>
        </p:nvSpPr>
        <p:spPr>
          <a:xfrm>
            <a:off x="6262500" y="2377675"/>
            <a:ext cx="101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7475" y="3255100"/>
            <a:ext cx="3899400" cy="664645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99"/>
          <p:cNvSpPr txBox="1"/>
          <p:nvPr/>
        </p:nvSpPr>
        <p:spPr>
          <a:xfrm>
            <a:off x="4519200" y="26548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</a:t>
            </a:r>
            <a:endParaRPr/>
          </a:p>
        </p:txBody>
      </p:sp>
      <p:sp>
        <p:nvSpPr>
          <p:cNvPr id="1263" name="Google Shape;1263;p99"/>
          <p:cNvSpPr txBox="1"/>
          <p:nvPr/>
        </p:nvSpPr>
        <p:spPr>
          <a:xfrm>
            <a:off x="4509900" y="1310875"/>
            <a:ext cx="389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9"/>
          <p:cNvSpPr txBox="1"/>
          <p:nvPr>
            <p:ph idx="1" type="body"/>
          </p:nvPr>
        </p:nvSpPr>
        <p:spPr>
          <a:xfrm>
            <a:off x="300750" y="750300"/>
            <a:ext cx="8237700" cy="63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convert the mixed number into a decimal.</a:t>
            </a:r>
            <a:endParaRPr/>
          </a:p>
        </p:txBody>
      </p:sp>
      <p:pic>
        <p:nvPicPr>
          <p:cNvPr id="1265" name="Google Shape;126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25450" y="1521300"/>
            <a:ext cx="1865647" cy="32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grpSp>
        <p:nvGrpSpPr>
          <p:cNvPr id="1267" name="Google Shape;1267;p99"/>
          <p:cNvGrpSpPr/>
          <p:nvPr/>
        </p:nvGrpSpPr>
        <p:grpSpPr>
          <a:xfrm>
            <a:off x="5363089" y="2490200"/>
            <a:ext cx="1075200" cy="852400"/>
            <a:chOff x="547039" y="2582100"/>
            <a:chExt cx="1075200" cy="852400"/>
          </a:xfrm>
        </p:grpSpPr>
        <p:pic>
          <p:nvPicPr>
            <p:cNvPr id="1268" name="Google Shape;1268;p99"/>
            <p:cNvPicPr preferRelativeResize="0"/>
            <p:nvPr/>
          </p:nvPicPr>
          <p:blipFill rotWithShape="1">
            <a:blip r:embed="rId5">
              <a:alphaModFix/>
            </a:blip>
            <a:srcRect b="0" l="0" r="0" t="21996"/>
            <a:stretch/>
          </p:blipFill>
          <p:spPr>
            <a:xfrm>
              <a:off x="671625" y="2893675"/>
              <a:ext cx="596800" cy="540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9" name="Google Shape;1269;p99"/>
            <p:cNvSpPr txBox="1"/>
            <p:nvPr/>
          </p:nvSpPr>
          <p:spPr>
            <a:xfrm>
              <a:off x="547039" y="2582100"/>
              <a:ext cx="1075200" cy="2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SHIFT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70" name="Google Shape;1270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91950" y="2637765"/>
            <a:ext cx="688675" cy="7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14872" y="3922613"/>
            <a:ext cx="581025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2" name="Google Shape;1272;p99"/>
          <p:cNvSpPr txBox="1"/>
          <p:nvPr/>
        </p:nvSpPr>
        <p:spPr>
          <a:xfrm>
            <a:off x="4500325" y="3942000"/>
            <a:ext cx="138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5\frac{7}{8}&quot;&gt;&lt;mn&gt;5&lt;/mn&gt;&lt;mfrac&gt;&lt;mn&gt;7&lt;/mn&gt;&lt;mn&gt;8&lt;/mn&gt;&lt;/mfrac&gt;&lt;/math&gt;" id="1273" name="Google Shape;1273;p99" title="5 and seven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74400" y="1799125"/>
            <a:ext cx="36192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9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12742" y="1620005"/>
            <a:ext cx="1691063" cy="7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9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64200" y="1626838"/>
            <a:ext cx="1666717" cy="76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9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52038" y="1673688"/>
            <a:ext cx="1691050" cy="74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99"/>
          <p:cNvSpPr txBox="1"/>
          <p:nvPr/>
        </p:nvSpPr>
        <p:spPr>
          <a:xfrm>
            <a:off x="4509900" y="1844275"/>
            <a:ext cx="1386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99"/>
          <p:cNvSpPr txBox="1"/>
          <p:nvPr/>
        </p:nvSpPr>
        <p:spPr>
          <a:xfrm>
            <a:off x="6159150" y="1844275"/>
            <a:ext cx="23262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into a decimal.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9"/>
          <p:cNvSpPr txBox="1"/>
          <p:nvPr/>
        </p:nvSpPr>
        <p:spPr>
          <a:xfrm>
            <a:off x="5871775" y="3942000"/>
            <a:ext cx="332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select ‘decimal’.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table below.</a:t>
            </a:r>
            <a:endParaRPr/>
          </a:p>
        </p:txBody>
      </p:sp>
      <p:sp>
        <p:nvSpPr>
          <p:cNvPr id="1285" name="Google Shape;128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graphicFrame>
        <p:nvGraphicFramePr>
          <p:cNvPr id="1286" name="Google Shape;1286;p100"/>
          <p:cNvGraphicFramePr/>
          <p:nvPr/>
        </p:nvGraphicFramePr>
        <p:xfrm>
          <a:off x="429575" y="131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{FB63AC58-2901-4069-A5D4-97CA2CDC49E9}</a:tableStyleId>
              </a:tblPr>
              <a:tblGrid>
                <a:gridCol w="2633350"/>
                <a:gridCol w="2633350"/>
                <a:gridCol w="2633350"/>
              </a:tblGrid>
              <a:tr h="36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Mixed number</a:t>
                      </a:r>
                      <a:endParaRPr b="1"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b="1"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b="1"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94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94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94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2\frac{12}{19}\ \ \ \ \ \frac{50}{19}&quot;&gt;&lt;mn&gt;2&lt;/mn&gt;&lt;mfrac&gt;&lt;mn&gt;12&lt;/mn&gt;&lt;mn&gt;19&lt;/mn&gt;&lt;/mfrac&gt;&lt;mtext&gt;&lt;/mtext&gt;&lt;mtext&gt;&lt;/mtext&gt;&lt;mtext&gt;&lt;/mtext&gt;&lt;mtext&gt;&lt;/mtext&gt;&lt;mtext&gt;&lt;/mtext&gt;&lt;mfrac&gt;&lt;mn&gt;50&lt;/mn&gt;&lt;mn&gt;19&lt;/mn&gt;&lt;/mfrac&gt;&lt;/math&gt;" id="1287" name="Google Shape;1287;p100" title="2 and 12 over 19 50 over 19"/>
          <p:cNvPicPr preferRelativeResize="0"/>
          <p:nvPr/>
        </p:nvPicPr>
        <p:blipFill rotWithShape="1">
          <a:blip r:embed="rId3">
            <a:alphaModFix/>
          </a:blip>
          <a:srcRect b="0" l="0" r="50512" t="0"/>
          <a:stretch/>
        </p:blipFill>
        <p:spPr>
          <a:xfrm>
            <a:off x="1344600" y="3780000"/>
            <a:ext cx="728025" cy="70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8}{9}\ \ 4\frac{2}{9}&quot;&gt;&lt;mfrac&gt;&lt;mn&gt;38&lt;/mn&gt;&lt;mn&gt;9&lt;/mn&gt;&lt;/mfrac&gt;&lt;mtext&gt;&lt;/mtext&gt;&lt;mtext&gt;&lt;/mtext&gt;&lt;mn&gt;4&lt;/mn&gt;&lt;mfrac&gt;&lt;mn&gt;2&lt;/mn&gt;&lt;mn&gt;9&lt;/mn&gt;&lt;/mfrac&gt;&lt;/math&gt;" id="1288" name="Google Shape;1288;p100" title="38 over 9 4 and two ninths"/>
          <p:cNvPicPr preferRelativeResize="0"/>
          <p:nvPr/>
        </p:nvPicPr>
        <p:blipFill rotWithShape="1">
          <a:blip r:embed="rId4">
            <a:alphaModFix/>
          </a:blip>
          <a:srcRect b="-7169" l="-5897" r="46088" t="0"/>
          <a:stretch/>
        </p:blipFill>
        <p:spPr>
          <a:xfrm>
            <a:off x="4136930" y="2782772"/>
            <a:ext cx="641400" cy="7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\frac{3}{8}\ \ \ \ \ \frac{195}{8}&quot;&gt;&lt;mn&gt;24&lt;/mn&gt;&lt;mfrac&gt;&lt;mn&gt;3&lt;/mn&gt;&lt;mn&gt;8&lt;/mn&gt;&lt;/mfrac&gt;&lt;mtext&gt;&lt;/mtext&gt;&lt;mtext&gt;&lt;/mtext&gt;&lt;mtext&gt;&lt;/mtext&gt;&lt;mtext&gt;&lt;/mtext&gt;&lt;mtext&gt;&lt;/mtext&gt;&lt;mfrac&gt;&lt;mn&gt;195&lt;/mn&gt;&lt;mn&gt;8&lt;/mn&gt;&lt;/mfrac&gt;&lt;/math&gt;" id="1289" name="Google Shape;1289;p100" title="24 and three eighths 195 over 8"/>
          <p:cNvPicPr preferRelativeResize="0"/>
          <p:nvPr/>
        </p:nvPicPr>
        <p:blipFill rotWithShape="1">
          <a:blip r:embed="rId5">
            <a:alphaModFix/>
          </a:blip>
          <a:srcRect b="0" l="0" r="51162" t="0"/>
          <a:stretch/>
        </p:blipFill>
        <p:spPr>
          <a:xfrm>
            <a:off x="1396522" y="1948175"/>
            <a:ext cx="728025" cy="6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101"/>
          <p:cNvSpPr txBox="1"/>
          <p:nvPr>
            <p:ph idx="1" type="body"/>
          </p:nvPr>
        </p:nvSpPr>
        <p:spPr>
          <a:xfrm>
            <a:off x="343150" y="810000"/>
            <a:ext cx="82377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Work out the following calculations using your calculator. Give your answer as a mixed number.</a:t>
            </a:r>
            <a:endParaRPr/>
          </a:p>
        </p:txBody>
      </p:sp>
      <p:sp>
        <p:nvSpPr>
          <p:cNvPr id="1295" name="Google Shape;1295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sp>
        <p:nvSpPr>
          <p:cNvPr id="1296" name="Google Shape;1296;p101"/>
          <p:cNvSpPr txBox="1"/>
          <p:nvPr/>
        </p:nvSpPr>
        <p:spPr>
          <a:xfrm>
            <a:off x="3240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101"/>
          <p:cNvSpPr txBox="1"/>
          <p:nvPr/>
        </p:nvSpPr>
        <p:spPr>
          <a:xfrm>
            <a:off x="324000" y="348615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101"/>
          <p:cNvSpPr txBox="1"/>
          <p:nvPr/>
        </p:nvSpPr>
        <p:spPr>
          <a:xfrm>
            <a:off x="4642200" y="1847590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1"/>
          <p:cNvSpPr txBox="1"/>
          <p:nvPr/>
        </p:nvSpPr>
        <p:spPr>
          <a:xfrm>
            <a:off x="4642200" y="3476932"/>
            <a:ext cx="4342200" cy="11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Create your own calculations where the answer is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00" name="Google Shape;1300;p101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3">
            <a:alphaModFix/>
          </a:blip>
          <a:srcRect b="69522" l="0" r="30006" t="0"/>
          <a:stretch/>
        </p:blipFill>
        <p:spPr>
          <a:xfrm>
            <a:off x="1010775" y="1866025"/>
            <a:ext cx="2411900" cy="64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\frac{1}{2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1&lt;/mn&gt;&lt;mn&gt;2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01" name="Google Shape;1301;p101" title="3 lines Line 1: 3 one half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4">
            <a:alphaModFix/>
          </a:blip>
          <a:srcRect b="70985" l="0" r="80780" t="0"/>
          <a:stretch/>
        </p:blipFill>
        <p:spPr>
          <a:xfrm>
            <a:off x="7258100" y="3878258"/>
            <a:ext cx="638755" cy="5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02" name="Google Shape;1302;p101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3">
            <a:alphaModFix/>
          </a:blip>
          <a:srcRect b="34759" l="0" r="30006" t="34762"/>
          <a:stretch/>
        </p:blipFill>
        <p:spPr>
          <a:xfrm>
            <a:off x="5058850" y="1838565"/>
            <a:ext cx="2411900" cy="64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03" name="Google Shape;1303;p101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3">
            <a:alphaModFix/>
          </a:blip>
          <a:srcRect b="0" l="-1882" r="31884" t="69522"/>
          <a:stretch/>
        </p:blipFill>
        <p:spPr>
          <a:xfrm>
            <a:off x="809325" y="3486150"/>
            <a:ext cx="2411900" cy="64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Fill in the table below.</a:t>
            </a:r>
            <a:endParaRPr/>
          </a:p>
        </p:txBody>
      </p:sp>
      <p:sp>
        <p:nvSpPr>
          <p:cNvPr id="1309" name="Google Shape;1309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graphicFrame>
        <p:nvGraphicFramePr>
          <p:cNvPr id="1310" name="Google Shape;1310;p102"/>
          <p:cNvGraphicFramePr/>
          <p:nvPr/>
        </p:nvGraphicFramePr>
        <p:xfrm>
          <a:off x="429575" y="131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{FB63AC58-2901-4069-A5D4-97CA2CDC49E9}</a:tableStyleId>
              </a:tblPr>
              <a:tblGrid>
                <a:gridCol w="2633350"/>
                <a:gridCol w="2633350"/>
                <a:gridCol w="2633350"/>
              </a:tblGrid>
              <a:tr h="36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Mixed number</a:t>
                      </a:r>
                      <a:endParaRPr b="1"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b="1"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9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b="1" sz="19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2"/>
                    </a:solidFill>
                  </a:tcPr>
                </a:tc>
              </a:tr>
              <a:tr h="94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94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94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11" name="Google Shape;1311;p102"/>
          <p:cNvSpPr txBox="1"/>
          <p:nvPr/>
        </p:nvSpPr>
        <p:spPr>
          <a:xfrm>
            <a:off x="5561700" y="37800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2.631578947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2\frac{12}{19}\ \ \ \ \ \frac{50}{19}&quot;&gt;&lt;mn&gt;2&lt;/mn&gt;&lt;mfrac&gt;&lt;mn&gt;12&lt;/mn&gt;&lt;mn&gt;19&lt;/mn&gt;&lt;/mfrac&gt;&lt;mtext&gt;&lt;/mtext&gt;&lt;mtext&gt;&lt;/mtext&gt;&lt;mtext&gt;&lt;/mtext&gt;&lt;mtext&gt;&lt;/mtext&gt;&lt;mtext&gt;&lt;/mtext&gt;&lt;mfrac&gt;&lt;mn&gt;50&lt;/mn&gt;&lt;mn&gt;19&lt;/mn&gt;&lt;/mfrac&gt;&lt;/math&gt;" id="1312" name="Google Shape;1312;p102" title="2 and 12 over 19 50 over 19"/>
          <p:cNvPicPr preferRelativeResize="0"/>
          <p:nvPr/>
        </p:nvPicPr>
        <p:blipFill rotWithShape="1">
          <a:blip r:embed="rId3">
            <a:alphaModFix/>
          </a:blip>
          <a:srcRect b="0" l="0" r="50512" t="0"/>
          <a:stretch/>
        </p:blipFill>
        <p:spPr>
          <a:xfrm>
            <a:off x="1344600" y="3780000"/>
            <a:ext cx="728025" cy="70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12}{19}\ \ \ \ \ \frac{50}{19}&quot;&gt;&lt;mn&gt;2&lt;/mn&gt;&lt;mfrac&gt;&lt;mn&gt;12&lt;/mn&gt;&lt;mn&gt;19&lt;/mn&gt;&lt;/mfrac&gt;&lt;mtext&gt;&lt;/mtext&gt;&lt;mtext&gt;&lt;/mtext&gt;&lt;mtext&gt;&lt;/mtext&gt;&lt;mtext&gt;&lt;/mtext&gt;&lt;mtext&gt;&lt;/mtext&gt;&lt;mfrac&gt;&lt;mn&gt;50&lt;/mn&gt;&lt;mn&gt;19&lt;/mn&gt;&lt;/mfrac&gt;&lt;/math&gt;" id="1313" name="Google Shape;1313;p102" title="2 and 12 over 19 50 over 19"/>
          <p:cNvPicPr preferRelativeResize="0"/>
          <p:nvPr/>
        </p:nvPicPr>
        <p:blipFill rotWithShape="1">
          <a:blip r:embed="rId3">
            <a:alphaModFix/>
          </a:blip>
          <a:srcRect b="0" l="60701" r="0" t="0"/>
          <a:stretch/>
        </p:blipFill>
        <p:spPr>
          <a:xfrm>
            <a:off x="4090537" y="3780000"/>
            <a:ext cx="578125" cy="70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8}{9}\ \ 4\frac{2}{9}&quot;&gt;&lt;mfrac&gt;&lt;mn&gt;38&lt;/mn&gt;&lt;mn&gt;9&lt;/mn&gt;&lt;/mfrac&gt;&lt;mtext&gt;&lt;/mtext&gt;&lt;mtext&gt;&lt;/mtext&gt;&lt;mn&gt;4&lt;/mn&gt;&lt;mfrac&gt;&lt;mn&gt;2&lt;/mn&gt;&lt;mn&gt;9&lt;/mn&gt;&lt;/mfrac&gt;&lt;/math&gt;" id="1314" name="Google Shape;1314;p102" title="38 over 9 4 and two ninths"/>
          <p:cNvPicPr preferRelativeResize="0"/>
          <p:nvPr/>
        </p:nvPicPr>
        <p:blipFill rotWithShape="1">
          <a:blip r:embed="rId4">
            <a:alphaModFix/>
          </a:blip>
          <a:srcRect b="0" l="46088" r="0" t="0"/>
          <a:stretch/>
        </p:blipFill>
        <p:spPr>
          <a:xfrm>
            <a:off x="1344600" y="2780875"/>
            <a:ext cx="578150" cy="74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102"/>
          <p:cNvSpPr txBox="1"/>
          <p:nvPr/>
        </p:nvSpPr>
        <p:spPr>
          <a:xfrm>
            <a:off x="6139713" y="2858075"/>
            <a:ext cx="202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4.2222222…</a:t>
            </a:r>
            <a:endParaRPr sz="2400"/>
          </a:p>
        </p:txBody>
      </p:sp>
      <p:pic>
        <p:nvPicPr>
          <p:cNvPr descr="&lt;math xmlns=&quot;http://www.w3.org/1998/Math/MathML&quot; display=&quot;block&quot; data-is-equatio=&quot;1&quot; data-latex=&quot;4.\dot{2}&quot;&gt;&lt;mn&gt;4.&lt;/mn&gt;&lt;mrow data-mjx-texclass=&quot;ORD&quot;&gt;&lt;mover&gt;&lt;mn&gt;2&lt;/mn&gt;&lt;mo&gt;˙&lt;/mo&gt;&lt;/mover&gt;&lt;/mrow&gt;&lt;/math&gt;" id="1316" name="Google Shape;1316;p102" title="the repeating decimal 4 point followed by repeating digit 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5225" y="2858075"/>
            <a:ext cx="613974" cy="45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8}{9}\ \ 4\frac{2}{9}&quot;&gt;&lt;mfrac&gt;&lt;mn&gt;38&lt;/mn&gt;&lt;mn&gt;9&lt;/mn&gt;&lt;/mfrac&gt;&lt;mtext&gt;&lt;/mtext&gt;&lt;mtext&gt;&lt;/mtext&gt;&lt;mn&gt;4&lt;/mn&gt;&lt;mfrac&gt;&lt;mn&gt;2&lt;/mn&gt;&lt;mn&gt;9&lt;/mn&gt;&lt;/mfrac&gt;&lt;/math&gt;" id="1317" name="Google Shape;1317;p102" title="38 over 9 4 and two ninths"/>
          <p:cNvPicPr preferRelativeResize="0"/>
          <p:nvPr/>
        </p:nvPicPr>
        <p:blipFill rotWithShape="1">
          <a:blip r:embed="rId4">
            <a:alphaModFix/>
          </a:blip>
          <a:srcRect b="-7169" l="-5897" r="46088" t="0"/>
          <a:stretch/>
        </p:blipFill>
        <p:spPr>
          <a:xfrm>
            <a:off x="4136930" y="2782772"/>
            <a:ext cx="641400" cy="79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\frac{3}{8}\ \ \ \ \ \frac{195}{8}&quot;&gt;&lt;mn&gt;24&lt;/mn&gt;&lt;mfrac&gt;&lt;mn&gt;3&lt;/mn&gt;&lt;mn&gt;8&lt;/mn&gt;&lt;/mfrac&gt;&lt;mtext&gt;&lt;/mtext&gt;&lt;mtext&gt;&lt;/mtext&gt;&lt;mtext&gt;&lt;/mtext&gt;&lt;mtext&gt;&lt;/mtext&gt;&lt;mtext&gt;&lt;/mtext&gt;&lt;mfrac&gt;&lt;mn&gt;195&lt;/mn&gt;&lt;mn&gt;8&lt;/mn&gt;&lt;/mfrac&gt;&lt;/math&gt;" id="1318" name="Google Shape;1318;p102" title="24 and three eighths 195 over 8"/>
          <p:cNvPicPr preferRelativeResize="0"/>
          <p:nvPr/>
        </p:nvPicPr>
        <p:blipFill rotWithShape="1">
          <a:blip r:embed="rId6">
            <a:alphaModFix/>
          </a:blip>
          <a:srcRect b="0" l="0" r="51162" t="0"/>
          <a:stretch/>
        </p:blipFill>
        <p:spPr>
          <a:xfrm>
            <a:off x="1396522" y="1948175"/>
            <a:ext cx="728025" cy="6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4\frac{3}{8}\ \ \ \ \ \frac{195}{8}&quot;&gt;&lt;mn&gt;24&lt;/mn&gt;&lt;mfrac&gt;&lt;mn&gt;3&lt;/mn&gt;&lt;mn&gt;8&lt;/mn&gt;&lt;/mfrac&gt;&lt;mtext&gt;&lt;/mtext&gt;&lt;mtext&gt;&lt;/mtext&gt;&lt;mtext&gt;&lt;/mtext&gt;&lt;mtext&gt;&lt;/mtext&gt;&lt;mtext&gt;&lt;/mtext&gt;&lt;mfrac&gt;&lt;mn&gt;195&lt;/mn&gt;&lt;mn&gt;8&lt;/mn&gt;&lt;/mfrac&gt;&lt;/math&gt;" id="1319" name="Google Shape;1319;p102" title="24 and three eighths 195 over 8"/>
          <p:cNvPicPr preferRelativeResize="0"/>
          <p:nvPr/>
        </p:nvPicPr>
        <p:blipFill rotWithShape="1">
          <a:blip r:embed="rId6">
            <a:alphaModFix/>
          </a:blip>
          <a:srcRect b="0" l="61216" r="0" t="0"/>
          <a:stretch/>
        </p:blipFill>
        <p:spPr>
          <a:xfrm>
            <a:off x="4090531" y="1938250"/>
            <a:ext cx="578150" cy="6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102"/>
          <p:cNvSpPr txBox="1"/>
          <p:nvPr/>
        </p:nvSpPr>
        <p:spPr>
          <a:xfrm>
            <a:off x="6049188" y="1936150"/>
            <a:ext cx="202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24.375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Mixed numbers on a calculator</a:t>
            </a:r>
            <a:endParaRPr/>
          </a:p>
        </p:txBody>
      </p:sp>
      <p:sp>
        <p:nvSpPr>
          <p:cNvPr id="1326" name="Google Shape;1326;p103"/>
          <p:cNvSpPr txBox="1"/>
          <p:nvPr/>
        </p:nvSpPr>
        <p:spPr>
          <a:xfrm>
            <a:off x="3240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103"/>
          <p:cNvSpPr txBox="1"/>
          <p:nvPr/>
        </p:nvSpPr>
        <p:spPr>
          <a:xfrm>
            <a:off x="324000" y="3486153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103"/>
          <p:cNvSpPr txBox="1"/>
          <p:nvPr/>
        </p:nvSpPr>
        <p:spPr>
          <a:xfrm>
            <a:off x="4642200" y="1866025"/>
            <a:ext cx="7512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103"/>
          <p:cNvSpPr txBox="1"/>
          <p:nvPr/>
        </p:nvSpPr>
        <p:spPr>
          <a:xfrm>
            <a:off x="4642200" y="3476932"/>
            <a:ext cx="4342200" cy="11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Create your own calculations where the answer is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30" name="Google Shape;1330;p103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3">
            <a:alphaModFix/>
          </a:blip>
          <a:srcRect b="69522" l="57029" r="0" t="0"/>
          <a:stretch/>
        </p:blipFill>
        <p:spPr>
          <a:xfrm>
            <a:off x="2975925" y="1866025"/>
            <a:ext cx="1480650" cy="64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\frac{1}{2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1&lt;/mn&gt;&lt;mn&gt;2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31" name="Google Shape;1331;p103" title="3 lines Line 1: 3 one half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4">
            <a:alphaModFix/>
          </a:blip>
          <a:srcRect b="70985" l="0" r="80780" t="0"/>
          <a:stretch/>
        </p:blipFill>
        <p:spPr>
          <a:xfrm>
            <a:off x="7258100" y="3887476"/>
            <a:ext cx="638755" cy="5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32" name="Google Shape;1332;p103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3">
            <a:alphaModFix/>
          </a:blip>
          <a:srcRect b="34759" l="59573" r="0" t="34762"/>
          <a:stretch/>
        </p:blipFill>
        <p:spPr>
          <a:xfrm>
            <a:off x="7111625" y="1857000"/>
            <a:ext cx="1393025" cy="64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33" name="Google Shape;1333;p103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3">
            <a:alphaModFix/>
          </a:blip>
          <a:srcRect b="0" l="57029" r="0" t="69522"/>
          <a:stretch/>
        </p:blipFill>
        <p:spPr>
          <a:xfrm>
            <a:off x="2839350" y="3486150"/>
            <a:ext cx="1480650" cy="64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34" name="Google Shape;1334;p103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3">
            <a:alphaModFix/>
          </a:blip>
          <a:srcRect b="69522" l="0" r="30006" t="0"/>
          <a:stretch/>
        </p:blipFill>
        <p:spPr>
          <a:xfrm>
            <a:off x="1010775" y="1866025"/>
            <a:ext cx="2411900" cy="64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35" name="Google Shape;1335;p103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3">
            <a:alphaModFix/>
          </a:blip>
          <a:srcRect b="34759" l="0" r="30006" t="34762"/>
          <a:stretch/>
        </p:blipFill>
        <p:spPr>
          <a:xfrm>
            <a:off x="5058850" y="1857000"/>
            <a:ext cx="2411900" cy="645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\frac{2}{3}+5\ \frac{1}{2}\ =\ 9\ \frac{1}{6}\\&amp;#13;&amp;#10;11\ \frac{3}{8}-6\ \frac{7}{9}=4\ \frac{43}{72}\\&amp;#13;&amp;#10;2\ \frac{3}{5}-5\ \frac{9}{10}=-3\ \frac{3}{10}\end{array}&quot;&gt;&lt;mtable columnalign=&quot;left&quot; columnspacing=&quot;1em&quot; rowspacing=&quot;4pt&quot;&gt;&lt;mtr&gt;&lt;mtd&gt;&lt;mn&gt;3&lt;/mn&gt;&lt;mtext&gt;&lt;/mtext&gt;&lt;mfrac&gt;&lt;mn&gt;2&lt;/mn&gt;&lt;mn&gt;3&lt;/mn&gt;&lt;/mfrac&gt;&lt;mo&gt;+&lt;/mo&gt;&lt;mn&gt;5&lt;/mn&gt;&lt;mtext&gt;&lt;/mtext&gt;&lt;mfrac&gt;&lt;mn&gt;1&lt;/mn&gt;&lt;mn&gt;2&lt;/mn&gt;&lt;/mfrac&gt;&lt;mtext&gt;&lt;/mtext&gt;&lt;mo&gt;=&lt;/mo&gt;&lt;mtext&gt;&lt;/mtext&gt;&lt;mn&gt;9&lt;/mn&gt;&lt;mtext&gt;&lt;/mtext&gt;&lt;mfrac&gt;&lt;mn&gt;1&lt;/mn&gt;&lt;mn&gt;6&lt;/mn&gt;&lt;/mfrac&gt;&lt;/mtd&gt;&lt;/mtr&gt;&lt;mtr&gt;&lt;mtd&gt;&lt;mn&gt;11&lt;/mn&gt;&lt;mtext&gt;&lt;/mtext&gt;&lt;mfrac&gt;&lt;mn&gt;3&lt;/mn&gt;&lt;mn&gt;8&lt;/mn&gt;&lt;/mfrac&gt;&lt;mo&gt;−&lt;/mo&gt;&lt;mn&gt;6&lt;/mn&gt;&lt;mtext&gt;&lt;/mtext&gt;&lt;mfrac&gt;&lt;mn&gt;7&lt;/mn&gt;&lt;mn&gt;9&lt;/mn&gt;&lt;/mfrac&gt;&lt;mo&gt;=&lt;/mo&gt;&lt;mn&gt;4&lt;/mn&gt;&lt;mtext&gt;&lt;/mtext&gt;&lt;mfrac&gt;&lt;mn&gt;43&lt;/mn&gt;&lt;mn&gt;72&lt;/mn&gt;&lt;/mfrac&gt;&lt;/mtd&gt;&lt;/mtr&gt;&lt;mtr&gt;&lt;mtd&gt;&lt;mn&gt;2&lt;/mn&gt;&lt;mtext&gt;&lt;/mtext&gt;&lt;mfrac&gt;&lt;mn&gt;3&lt;/mn&gt;&lt;mn&gt;5&lt;/mn&gt;&lt;/mfrac&gt;&lt;mo&gt;−&lt;/mo&gt;&lt;mn&gt;5&lt;/mn&gt;&lt;mtext&gt;&lt;/mtext&gt;&lt;mfrac&gt;&lt;mn&gt;9&lt;/mn&gt;&lt;mn&gt;10&lt;/mn&gt;&lt;/mfrac&gt;&lt;mo&gt;=&lt;/mo&gt;&lt;mo&gt;−&lt;/mo&gt;&lt;mn&gt;3&lt;/mn&gt;&lt;mtext&gt;&lt;/mtext&gt;&lt;mfrac&gt;&lt;mn&gt;3&lt;/mn&gt;&lt;mn&gt;10&lt;/mn&gt;&lt;/mfrac&gt;&lt;/mtd&gt;&lt;/mtr&gt;&lt;/mtable&gt;&lt;/math&gt;" id="1336" name="Google Shape;1336;p103" title="3 lines Line 1: 3 two thirds plus 5 one half equals 9 one sixth Line 2: 11 three eighths minus 6 seven ninths equals 4 43 over 72 Line 3: 2 three fifths minus 5 nine tenths equals negative 3 three tenths"/>
          <p:cNvPicPr preferRelativeResize="0"/>
          <p:nvPr/>
        </p:nvPicPr>
        <p:blipFill rotWithShape="1">
          <a:blip r:embed="rId3">
            <a:alphaModFix/>
          </a:blip>
          <a:srcRect b="0" l="-1882" r="31884" t="69522"/>
          <a:stretch/>
        </p:blipFill>
        <p:spPr>
          <a:xfrm>
            <a:off x="809325" y="3486150"/>
            <a:ext cx="2411900" cy="64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103"/>
          <p:cNvSpPr txBox="1"/>
          <p:nvPr>
            <p:ph idx="1" type="body"/>
          </p:nvPr>
        </p:nvSpPr>
        <p:spPr>
          <a:xfrm>
            <a:off x="343150" y="810000"/>
            <a:ext cx="82377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Work out the following calculations using your calculator. Give your answer as a mixed number.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04"/>
          <p:cNvSpPr txBox="1"/>
          <p:nvPr>
            <p:ph idx="1" type="body"/>
          </p:nvPr>
        </p:nvSpPr>
        <p:spPr>
          <a:xfrm>
            <a:off x="324000" y="810000"/>
            <a:ext cx="8113800" cy="4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Scientific</a:t>
            </a:r>
            <a:r>
              <a:rPr lang="en-GB"/>
              <a:t> calculators are excellent tools and allow us to</a:t>
            </a:r>
            <a:endParaRPr/>
          </a:p>
        </p:txBody>
      </p:sp>
      <p:sp>
        <p:nvSpPr>
          <p:cNvPr id="1343" name="Google Shape;1343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with technology</a:t>
            </a:r>
            <a:endParaRPr/>
          </a:p>
        </p:txBody>
      </p:sp>
      <p:pic>
        <p:nvPicPr>
          <p:cNvPr id="1344" name="Google Shape;134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500" y="1556575"/>
            <a:ext cx="482400" cy="505634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4"/>
          <p:cNvSpPr txBox="1"/>
          <p:nvPr>
            <p:ph idx="1" type="body"/>
          </p:nvPr>
        </p:nvSpPr>
        <p:spPr>
          <a:xfrm>
            <a:off x="324000" y="1191000"/>
            <a:ext cx="8113800" cy="4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successfully and easily convert between fractions and</a:t>
            </a:r>
            <a:endParaRPr/>
          </a:p>
        </p:txBody>
      </p:sp>
      <p:sp>
        <p:nvSpPr>
          <p:cNvPr id="1346" name="Google Shape;1346;p104"/>
          <p:cNvSpPr txBox="1"/>
          <p:nvPr>
            <p:ph idx="1" type="body"/>
          </p:nvPr>
        </p:nvSpPr>
        <p:spPr>
          <a:xfrm>
            <a:off x="324000" y="1572000"/>
            <a:ext cx="8113800" cy="4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decimals</a:t>
            </a:r>
            <a:endParaRPr/>
          </a:p>
        </p:txBody>
      </p:sp>
      <p:sp>
        <p:nvSpPr>
          <p:cNvPr id="1347" name="Google Shape;1347;p104"/>
          <p:cNvSpPr txBox="1"/>
          <p:nvPr>
            <p:ph idx="1" type="body"/>
          </p:nvPr>
        </p:nvSpPr>
        <p:spPr>
          <a:xfrm>
            <a:off x="1608050" y="1572000"/>
            <a:ext cx="8049000" cy="4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</a:t>
            </a:r>
            <a:endParaRPr/>
          </a:p>
        </p:txBody>
      </p:sp>
      <p:sp>
        <p:nvSpPr>
          <p:cNvPr id="1348" name="Google Shape;1348;p104"/>
          <p:cNvSpPr txBox="1"/>
          <p:nvPr>
            <p:ph idx="1" type="body"/>
          </p:nvPr>
        </p:nvSpPr>
        <p:spPr>
          <a:xfrm>
            <a:off x="2417950" y="1572000"/>
            <a:ext cx="7391400" cy="4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</a:t>
            </a:r>
            <a:endParaRPr/>
          </a:p>
        </p:txBody>
      </p:sp>
      <p:sp>
        <p:nvSpPr>
          <p:cNvPr id="1349" name="Google Shape;1349;p104"/>
          <p:cNvSpPr txBox="1"/>
          <p:nvPr>
            <p:ph idx="1" type="body"/>
          </p:nvPr>
        </p:nvSpPr>
        <p:spPr>
          <a:xfrm>
            <a:off x="3645875" y="1572000"/>
            <a:ext cx="6315900" cy="4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button. </a:t>
            </a:r>
            <a:endParaRPr/>
          </a:p>
        </p:txBody>
      </p:sp>
      <p:pic>
        <p:nvPicPr>
          <p:cNvPr id="1350" name="Google Shape;1350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775" y="2083325"/>
            <a:ext cx="8113799" cy="2312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56" name="Google Shape;1356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