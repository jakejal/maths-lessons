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5" r:id="rId4"/>
    <p:sldMasterId id="2147483666" r:id="rId5"/>
  </p:sldMasterIdLst>
  <p:notesMasterIdLst>
    <p:notesMasterId r:id="rId6"/>
  </p:notesMasterIdLst>
  <p:sldIdLst>
    <p:sldId id="256" r:id="rId7"/>
    <p:sldId id="257" r:id="rId8"/>
  </p:sldIdLst>
  <p:sldSz cy="10692000" cx="756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9956CD9-20AE-46EC-8AF2-4768DDF51A0F}">
  <a:tblStyle styleId="{59956CD9-20AE-46EC-8AF2-4768DDF51A0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3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27996905f60_0_125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27996905f60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27996905f60_0_130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27996905f60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COL 1">
  <p:cSld name="SECTION_HEADER_1_1_1_1_1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2"/>
          <p:cNvGrpSpPr/>
          <p:nvPr/>
        </p:nvGrpSpPr>
        <p:grpSpPr>
          <a:xfrm>
            <a:off x="466900" y="962525"/>
            <a:ext cx="2953057" cy="162000"/>
            <a:chOff x="466900" y="962525"/>
            <a:chExt cx="2953057" cy="162000"/>
          </a:xfrm>
        </p:grpSpPr>
        <p:sp>
          <p:nvSpPr>
            <p:cNvPr id="15" name="Google Shape;15;p2"/>
            <p:cNvSpPr txBox="1"/>
            <p:nvPr/>
          </p:nvSpPr>
          <p:spPr>
            <a:xfrm>
              <a:off x="466900" y="962525"/>
              <a:ext cx="2953057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" name="Google Shape;16;p2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  <p:extLst>
    <p:ext uri="{DCECCB84-F9BA-43D5-87BE-67443E8EF086}">
      <p15:sldGuideLst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COL 1 1">
  <p:cSld name="SECTION_HEADER_1_1_1_1_1_1_1_1_1_3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subTitle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2" type="subTitle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3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4" type="subTitle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5" type="subTitle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6" type="subTitle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7" type="subTitle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8" type="subTitle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7" name="Google Shape;27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" name="Google Shape;29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30" name="Google Shape;30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1" name="Google Shape;31;p3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2" name="Google Shape;32;p3"/>
          <p:cNvSpPr txBox="1"/>
          <p:nvPr>
            <p:ph idx="9" type="subTitle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1">
  <p:cSld name="SECTION_HEADER_1_1_1_1_1_1_1_1_1_1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"/>
          <p:cNvSpPr txBox="1"/>
          <p:nvPr>
            <p:ph idx="1" type="subTitle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2" type="subTitle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3" type="subTitle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7" name="Google Shape;37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4"/>
          <p:cNvSpPr txBox="1"/>
          <p:nvPr>
            <p:ph idx="4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2">
  <p:cSld name="SECTION_HEADER_1_1_1_1_1_1_1_1_1_1_1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5"/>
          <p:cNvSpPr txBox="1"/>
          <p:nvPr>
            <p:ph idx="1" type="subTitle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2" type="subTitle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3" type="subTitle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idx="4" type="subTitle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4" name="Google Shape;44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 txBox="1"/>
          <p:nvPr>
            <p:ph idx="5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3">
  <p:cSld name="SECTION_HEADER_1_1_1_1_1_1_1_1_1_1_1_2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6"/>
          <p:cNvSpPr txBox="1"/>
          <p:nvPr>
            <p:ph idx="1" type="subTitle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2" type="subTitle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3" type="subTitle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4" type="subTitle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5" type="subTitle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idx="6" type="subTitle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3" name="Google Shape;53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6"/>
          <p:cNvSpPr txBox="1"/>
          <p:nvPr>
            <p:ph idx="7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4">
  <p:cSld name="SECTION_HEADER_1_1_1_1_1_1_1_1_1_1_1_2_1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7"/>
          <p:cNvSpPr txBox="1"/>
          <p:nvPr>
            <p:ph idx="1" type="subTitle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7" name="Google Shape;57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7"/>
          <p:cNvSpPr txBox="1"/>
          <p:nvPr>
            <p:ph idx="2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lements to copy and paste">
  <p:cSld name="SECTION_HEADER_1_1_1_1_1_1_1_1_1_1_1_2_1_1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1" name="Google Shape;61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 Title page">
  <p:cSld name="SECTION_HEADER_1_1_1_1_1_1_1_1_1_1_1_2_1_1_1_1_1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9" name="Google Shape;69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0" name="Google Shape;70;p10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1" name="Google Shape;71;p10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72" name="Google Shape;72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8" name="Google Shape;78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9" name="Google Shape;79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1" name="Google Shape;81;p11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82" name="Google Shape;82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7" name="Google Shape;87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" name="Google Shape;88;p12"/>
          <p:cNvSpPr txBox="1"/>
          <p:nvPr>
            <p:ph idx="1" type="subTitle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3"/>
          <p:cNvSpPr txBox="1"/>
          <p:nvPr>
            <p:ph idx="1" type="subTitle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94" name="Google Shape;94;p13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95" name="Google Shape;95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 Single page worksheet">
  <p:cSld name="SECTION_HEADER_1_1_1_1_1_1_1_1_1_1_1_2_1_1_1_1_1_2"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0" name="Google Shape;100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1" name="Google Shape;10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3" name="Google Shape;103;p14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04" name="Google Shape;104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4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07" name="Google Shape;107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2" name="Google Shape;112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3" name="Google Shape;113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5" name="Google Shape;115;p15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16" name="Google Shape;116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" name="Google Shape;118;p15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19" name="Google Shape;119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4" name="Google Shape;124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25" name="Google Shape;12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7" name="Google Shape;127;p16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28" name="Google Shape;128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Landscape middle page">
  <p:cSld name="SECTION_HEADER_1_1_1_1_1_1_1_1_1_1_1_2_1_1_1_1_1_1_1_1_1_1_1">
    <p:bg>
      <p:bgPr>
        <a:solidFill>
          <a:schemeClr val="lt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3" name="Google Shape;133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" name="Google Shape;134;p17"/>
          <p:cNvSpPr txBox="1"/>
          <p:nvPr>
            <p:ph idx="1" type="subTitle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Landscape last page">
  <p:cSld name="SECTION_HEADER_1_1_1_1_1_1_1_1_1_1_1_2_1_1_1_1_1_1_1_1_1_1_1_1"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8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8" name="Google Shape;138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" name="Google Shape;13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0" name="Google Shape;14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1" name="Google Shape;14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2" name="Google Shape;142;p18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43" name="Google Shape;143;p18"/>
          <p:cNvSpPr txBox="1"/>
          <p:nvPr>
            <p:ph idx="2" type="subTitle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Google Shape;145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9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7" name="Google Shape;14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48" name="Google Shape;14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9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50" name="Google Shape;150;p19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51" name="Google Shape;151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" name="Google Shape;15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4" name="Google Shape;15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5" name="Google Shape;15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6" name="Google Shape;156;p19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3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slideLayout" Target="../slideLayouts/slideLayout9.xml"/><Relationship Id="rId3" Type="http://schemas.openxmlformats.org/officeDocument/2006/relationships/slideLayout" Target="../slideLayouts/slideLayout10.xml"/><Relationship Id="rId4" Type="http://schemas.openxmlformats.org/officeDocument/2006/relationships/slideLayout" Target="../slideLayouts/slideLayout11.xml"/><Relationship Id="rId11" Type="http://schemas.openxmlformats.org/officeDocument/2006/relationships/theme" Target="../theme/theme2.xml"/><Relationship Id="rId10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4.xml"/><Relationship Id="rId8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1" Type="http://schemas.openxmlformats.org/officeDocument/2006/relationships/image" Target="../media/image12.png"/><Relationship Id="rId10" Type="http://schemas.openxmlformats.org/officeDocument/2006/relationships/image" Target="../media/image17.png"/><Relationship Id="rId13" Type="http://schemas.openxmlformats.org/officeDocument/2006/relationships/image" Target="../media/image11.png"/><Relationship Id="rId12" Type="http://schemas.openxmlformats.org/officeDocument/2006/relationships/image" Target="../media/image16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Relationship Id="rId4" Type="http://schemas.openxmlformats.org/officeDocument/2006/relationships/image" Target="../media/image18.png"/><Relationship Id="rId9" Type="http://schemas.openxmlformats.org/officeDocument/2006/relationships/image" Target="../media/image10.png"/><Relationship Id="rId15" Type="http://schemas.openxmlformats.org/officeDocument/2006/relationships/image" Target="../media/image14.png"/><Relationship Id="rId14" Type="http://schemas.openxmlformats.org/officeDocument/2006/relationships/image" Target="../media/image15.png"/><Relationship Id="rId16" Type="http://schemas.openxmlformats.org/officeDocument/2006/relationships/image" Target="../media/image8.png"/><Relationship Id="rId5" Type="http://schemas.openxmlformats.org/officeDocument/2006/relationships/image" Target="../media/image19.png"/><Relationship Id="rId6" Type="http://schemas.openxmlformats.org/officeDocument/2006/relationships/image" Target="../media/image6.png"/><Relationship Id="rId7" Type="http://schemas.openxmlformats.org/officeDocument/2006/relationships/image" Target="../media/image13.png"/><Relationship Id="rId8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0" Type="http://schemas.openxmlformats.org/officeDocument/2006/relationships/image" Target="../media/image26.png"/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4.png"/><Relationship Id="rId4" Type="http://schemas.openxmlformats.org/officeDocument/2006/relationships/image" Target="../media/image21.png"/><Relationship Id="rId9" Type="http://schemas.openxmlformats.org/officeDocument/2006/relationships/image" Target="../media/image27.png"/><Relationship Id="rId5" Type="http://schemas.openxmlformats.org/officeDocument/2006/relationships/image" Target="../media/image25.png"/><Relationship Id="rId6" Type="http://schemas.openxmlformats.org/officeDocument/2006/relationships/image" Target="../media/image23.png"/><Relationship Id="rId7" Type="http://schemas.openxmlformats.org/officeDocument/2006/relationships/image" Target="../media/image22.png"/><Relationship Id="rId8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Ordering fractions by converting</a:t>
            </a:r>
            <a:endParaRPr/>
          </a:p>
        </p:txBody>
      </p:sp>
      <p:sp>
        <p:nvSpPr>
          <p:cNvPr id="162" name="Google Shape;162;p2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63" name="Google Shape;163;p20"/>
          <p:cNvSpPr txBox="1"/>
          <p:nvPr/>
        </p:nvSpPr>
        <p:spPr>
          <a:xfrm>
            <a:off x="468000" y="1422000"/>
            <a:ext cx="59691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Task A:  Reviewing converting fractions to decimals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" name="Google Shape;164;p20"/>
          <p:cNvSpPr txBox="1"/>
          <p:nvPr/>
        </p:nvSpPr>
        <p:spPr>
          <a:xfrm>
            <a:off x="476400" y="1826100"/>
            <a:ext cx="4370100" cy="39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Identify the mistakes in this puzzle and correct them.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Each fraction should meet up with its decimal equivalent.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65" name="Google Shape;165;p20"/>
          <p:cNvGraphicFramePr/>
          <p:nvPr/>
        </p:nvGraphicFramePr>
        <p:xfrm>
          <a:off x="495300" y="2334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{59956CD9-20AE-46EC-8AF2-4768DDF51A0F}</a:tableStyleId>
              </a:tblPr>
              <a:tblGrid>
                <a:gridCol w="2198900"/>
                <a:gridCol w="2198900"/>
                <a:gridCol w="2198900"/>
              </a:tblGrid>
              <a:tr h="774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74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74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74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/>
                    </a:p>
                  </a:txBody>
                  <a:tcPr marT="91425" marB="91425" marR="91425" marL="91425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descr="&lt;math xmlns=&quot;http://www.w3.org/1998/Math/MathML&quot; display=&quot;block&quot; data-is-equatio=&quot;1&quot; data-latex=&quot;\frac{4}{5}&quot;&gt;&lt;mfrac&gt;&lt;mn&gt;4&lt;/mn&gt;&lt;mn&gt;5&lt;/mn&gt;&lt;/mfrac&gt;&lt;/math&gt;" id="166" name="Google Shape;166;p20" title="four fifth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72400" y="2640566"/>
            <a:ext cx="132841" cy="43015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20}&quot;&gt;&lt;mfrac&gt;&lt;mn&gt;3&lt;/mn&gt;&lt;mn&gt;20&lt;/mn&gt;&lt;/mfrac&gt;&lt;/math&gt;" id="167" name="Google Shape;167;p20" title="3 over 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63242" y="2514946"/>
            <a:ext cx="215076" cy="39860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1}{50}&quot;&gt;&lt;mfrac&gt;&lt;mn&gt;11&lt;/mn&gt;&lt;mn&gt;50&lt;/mn&gt;&lt;/mfrac&gt;&lt;/math&gt;" id="168" name="Google Shape;168;p20" title="11 over 5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431288" y="4237988"/>
            <a:ext cx="215076" cy="39236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\frac{3}{25}\end{array}&quot;&gt;&lt;mtable columnalign=&quot;left&quot; columnspacing=&quot;1em&quot; rowspacing=&quot;4pt&quot;&gt;&lt;mtr&gt;&lt;mtd&gt;&lt;mfrac&gt;&lt;mn&gt;3&lt;/mn&gt;&lt;mn&gt;25&lt;/mn&gt;&lt;/mfrac&gt;&lt;/mtd&gt;&lt;/mtr&gt;&lt;/mtable&gt;&lt;/math&gt;" id="169" name="Google Shape;169;p20" title="1 lines Line 1: 3 over 2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463242" y="4067200"/>
            <a:ext cx="244472" cy="39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\frac{17}{25}\end{array}&quot;&gt;&lt;mtable columnalign=&quot;left&quot; columnspacing=&quot;1em&quot; rowspacing=&quot;4pt&quot;&gt;&lt;mtr&gt;&lt;mtd&gt;&lt;mfrac&gt;&lt;mn&gt;17&lt;/mn&gt;&lt;mn&gt;25&lt;/mn&gt;&lt;/mfrac&gt;&lt;/mtd&gt;&lt;/mtr&gt;&lt;/mtable&gt;&lt;/math&gt;" id="170" name="Google Shape;170;p20" title="1 lines Line 1: 17 over 2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841764" y="3137600"/>
            <a:ext cx="241255" cy="39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\frac{5}{8}\end{array}&quot;&gt;&lt;mtable columnalign=&quot;left&quot; columnspacing=&quot;1em&quot; rowspacing=&quot;4pt&quot;&gt;&lt;mtr&gt;&lt;mtd&gt;&lt;mfrac&gt;&lt;mn&gt;5&lt;/mn&gt;&lt;mn&gt;8&lt;/mn&gt;&lt;/mfrac&gt;&lt;/mtd&gt;&lt;/mtr&gt;&lt;/mtable&gt;&lt;/math&gt;" id="171" name="Google Shape;171;p20" title="1 lines Line 1: five eighths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687436" y="2487000"/>
            <a:ext cx="163599" cy="454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\frac{13}{20}\end{array}&quot;&gt;&lt;mtable columnalign=&quot;left&quot; columnspacing=&quot;1em&quot; rowspacing=&quot;4pt&quot;&gt;&lt;mtr&gt;&lt;mtd&gt;&lt;mfrac&gt;&lt;mn&gt;13&lt;/mn&gt;&lt;mn&gt;20&lt;/mn&gt;&lt;/mfrac&gt;&lt;/mtd&gt;&lt;/mtr&gt;&lt;/mtable&gt;&lt;/math&gt;" id="172" name="Google Shape;172;p20" title="1 lines Line 1: 13 over 20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840161" y="4693633"/>
            <a:ext cx="244472" cy="39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\frac{1}{20}\end{array}&quot;&gt;&lt;mtable columnalign=&quot;left&quot; columnspacing=&quot;1em&quot; rowspacing=&quot;4pt&quot;&gt;&lt;mtr&gt;&lt;mtd&gt;&lt;mfrac&gt;&lt;mn&gt;1&lt;/mn&gt;&lt;mn&gt;20&lt;/mn&gt;&lt;/mfrac&gt;&lt;/mtd&gt;&lt;/mtr&gt;&lt;/mtable&gt;&lt;/math&gt;" id="173" name="Google Shape;173;p20" title="1 lines Line 1: 1 over 20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4946325" y="4079475"/>
            <a:ext cx="226275" cy="37404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\frac{4}{16}\end{array}&quot;&gt;&lt;mtable columnalign=&quot;left&quot; columnspacing=&quot;1em&quot; rowspacing=&quot;4pt&quot;&gt;&lt;mtr&gt;&lt;mtd&gt;&lt;mfrac&gt;&lt;mn&gt;4&lt;/mn&gt;&lt;mn&gt;16&lt;/mn&gt;&lt;/mfrac&gt;&lt;/mtd&gt;&lt;/mtr&gt;&lt;/mtable&gt;&lt;/math&gt;" id="174" name="Google Shape;174;p20" title="1 lines Line 1: 4 over 16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4951833" y="3407497"/>
            <a:ext cx="221657" cy="3601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\frac{11}{20}\end{array}&quot;&gt;&lt;mtable columnalign=&quot;left&quot; columnspacing=&quot;1em&quot; rowspacing=&quot;4pt&quot;&gt;&lt;mtr&gt;&lt;mtd&gt;&lt;mfrac&gt;&lt;mn&gt;11&lt;/mn&gt;&lt;mn&gt;20&lt;/mn&gt;&lt;/mfrac&gt;&lt;/mtd&gt;&lt;/mtr&gt;&lt;/mtable&gt;&lt;/math&gt;" id="175" name="Google Shape;175;p20" title="1 lines Line 1: 11 over 20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6278400" y="4705908"/>
            <a:ext cx="226275" cy="37404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\frac{14}{20}\end{array}&quot;&gt;&lt;mtable columnalign=&quot;left&quot; columnspacing=&quot;1em&quot; rowspacing=&quot;4pt&quot;&gt;&lt;mtr&gt;&lt;mtd&gt;&lt;mfrac&gt;&lt;mn&gt;14&lt;/mn&gt;&lt;mn&gt;20&lt;/mn&gt;&lt;/mfrac&gt;&lt;/mtd&gt;&lt;/mtr&gt;&lt;/mtable&gt;&lt;/math&gt;" id="176" name="Google Shape;176;p20" title="1 lines Line 1: 14 over 20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2463242" y="4853150"/>
            <a:ext cx="230900" cy="3786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\frac{7}{20}\end{array}&quot;&gt;&lt;mtable columnalign=&quot;left&quot; columnspacing=&quot;1em&quot; rowspacing=&quot;4pt&quot;&gt;&lt;mtr&gt;&lt;mtd&gt;&lt;mfrac&gt;&lt;mn&gt;7&lt;/mn&gt;&lt;mn&gt;20&lt;/mn&gt;&lt;/mfrac&gt;&lt;/mtd&gt;&lt;/mtr&gt;&lt;/mtable&gt;&lt;/math&gt;" id="177" name="Google Shape;177;p20" title="1 lines Line 1: 7 over 20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2760000" y="3318450"/>
            <a:ext cx="226275" cy="3711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\frac{34}{50}\end{array}&quot;&gt;&lt;mtable columnalign=&quot;left&quot; columnspacing=&quot;1em&quot; rowspacing=&quot;4pt&quot;&gt;&lt;mtr&gt;&lt;mtd&gt;&lt;mfrac&gt;&lt;mn&gt;34&lt;/mn&gt;&lt;mn&gt;50&lt;/mn&gt;&lt;/mfrac&gt;&lt;/mtd&gt;&lt;/mtr&gt;&lt;/mtable&gt;&lt;/math&gt;" id="178" name="Google Shape;178;p20" title="1 lines Line 1: 34 over 50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4953988" y="4818875"/>
            <a:ext cx="226275" cy="37384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\frac{9}{25}\end{array}&quot;&gt;&lt;mtable columnalign=&quot;left&quot; columnspacing=&quot;1em&quot; rowspacing=&quot;4pt&quot;&gt;&lt;mtr&gt;&lt;mtd&gt;&lt;mfrac&gt;&lt;mn&gt;9&lt;/mn&gt;&lt;mn&gt;25&lt;/mn&gt;&lt;/mfrac&gt;&lt;/mtd&gt;&lt;/mtr&gt;&lt;/mtable&gt;&lt;/math&gt;" id="179" name="Google Shape;179;p20" title="1 lines Line 1: 9 over 25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6270913" y="2681491"/>
            <a:ext cx="241250" cy="393342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20"/>
          <p:cNvSpPr txBox="1"/>
          <p:nvPr/>
        </p:nvSpPr>
        <p:spPr>
          <a:xfrm>
            <a:off x="2222558" y="3351775"/>
            <a:ext cx="462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0.35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" name="Google Shape;181;p20"/>
          <p:cNvSpPr txBox="1"/>
          <p:nvPr/>
        </p:nvSpPr>
        <p:spPr>
          <a:xfrm>
            <a:off x="1307838" y="4674275"/>
            <a:ext cx="462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0.22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" name="Google Shape;182;p20"/>
          <p:cNvSpPr txBox="1"/>
          <p:nvPr/>
        </p:nvSpPr>
        <p:spPr>
          <a:xfrm>
            <a:off x="2785425" y="2575650"/>
            <a:ext cx="462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0.15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" name="Google Shape;183;p20"/>
          <p:cNvSpPr txBox="1"/>
          <p:nvPr/>
        </p:nvSpPr>
        <p:spPr>
          <a:xfrm>
            <a:off x="3731400" y="2845800"/>
            <a:ext cx="462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0.34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4" name="Google Shape;184;p20"/>
          <p:cNvSpPr txBox="1"/>
          <p:nvPr/>
        </p:nvSpPr>
        <p:spPr>
          <a:xfrm>
            <a:off x="4562489" y="3455497"/>
            <a:ext cx="334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0.2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20"/>
          <p:cNvSpPr txBox="1"/>
          <p:nvPr/>
        </p:nvSpPr>
        <p:spPr>
          <a:xfrm>
            <a:off x="2785425" y="4127900"/>
            <a:ext cx="666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0.012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6" name="Google Shape;186;p20"/>
          <p:cNvSpPr txBox="1"/>
          <p:nvPr/>
        </p:nvSpPr>
        <p:spPr>
          <a:xfrm>
            <a:off x="3752400" y="4379725"/>
            <a:ext cx="462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0.65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7" name="Google Shape;187;p20"/>
          <p:cNvSpPr txBox="1"/>
          <p:nvPr/>
        </p:nvSpPr>
        <p:spPr>
          <a:xfrm>
            <a:off x="2785425" y="4867200"/>
            <a:ext cx="462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0.7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8" name="Google Shape;188;p20"/>
          <p:cNvSpPr txBox="1"/>
          <p:nvPr/>
        </p:nvSpPr>
        <p:spPr>
          <a:xfrm>
            <a:off x="4968561" y="2575650"/>
            <a:ext cx="600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0.635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9" name="Google Shape;189;p20"/>
          <p:cNvSpPr txBox="1"/>
          <p:nvPr/>
        </p:nvSpPr>
        <p:spPr>
          <a:xfrm>
            <a:off x="5227450" y="4112888"/>
            <a:ext cx="462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0.05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0" name="Google Shape;190;p20"/>
          <p:cNvSpPr txBox="1"/>
          <p:nvPr/>
        </p:nvSpPr>
        <p:spPr>
          <a:xfrm>
            <a:off x="4413832" y="4867200"/>
            <a:ext cx="462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0.68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1" name="Google Shape;191;p20"/>
          <p:cNvSpPr txBox="1"/>
          <p:nvPr/>
        </p:nvSpPr>
        <p:spPr>
          <a:xfrm>
            <a:off x="6236738" y="4379725"/>
            <a:ext cx="462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0.5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" name="Google Shape;192;p20"/>
          <p:cNvSpPr txBox="1"/>
          <p:nvPr/>
        </p:nvSpPr>
        <p:spPr>
          <a:xfrm>
            <a:off x="6160538" y="3118950"/>
            <a:ext cx="462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0.36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3" name="Google Shape;193;p20"/>
          <p:cNvSpPr txBox="1"/>
          <p:nvPr/>
        </p:nvSpPr>
        <p:spPr>
          <a:xfrm>
            <a:off x="1378450" y="3118950"/>
            <a:ext cx="462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0.6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94" name="Google Shape;194;p20"/>
          <p:cNvCxnSpPr/>
          <p:nvPr/>
        </p:nvCxnSpPr>
        <p:spPr>
          <a:xfrm>
            <a:off x="474757" y="5983213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00" name="Google Shape;200;p21"/>
          <p:cNvSpPr txBox="1"/>
          <p:nvPr>
            <p:ph idx="1" type="subTitle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Ordering fractions by converting</a:t>
            </a:r>
            <a:endParaRPr/>
          </a:p>
        </p:txBody>
      </p:sp>
      <p:sp>
        <p:nvSpPr>
          <p:cNvPr id="201" name="Google Shape;201;p21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202" name="Google Shape;202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v2.1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3" name="Google Shape;203;p21"/>
          <p:cNvSpPr txBox="1"/>
          <p:nvPr/>
        </p:nvSpPr>
        <p:spPr>
          <a:xfrm>
            <a:off x="468000" y="911700"/>
            <a:ext cx="64446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Write the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following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in ascending order.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" name="Google Shape;204;p21"/>
          <p:cNvSpPr txBox="1"/>
          <p:nvPr/>
        </p:nvSpPr>
        <p:spPr>
          <a:xfrm>
            <a:off x="468000" y="660000"/>
            <a:ext cx="59691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Task B:  Ordering fractions by converting into decimals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05" name="Google Shape;205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12918" y="1382806"/>
            <a:ext cx="2284340" cy="53563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7\frac{1}{5}\ \ \ \ \ 7.28\ \ \ \ \ 7\frac{1}{4}\ \ \ \ \ 7.256\ \ &quot;&gt;&lt;mn&gt;7&lt;/mn&gt;&lt;mfrac&gt;&lt;mn&gt;1&lt;/mn&gt;&lt;mn&gt;5&lt;/mn&gt;&lt;/mfrac&gt;&lt;mtext&gt;&lt;/mtext&gt;&lt;mtext&gt;&lt;/mtext&gt;&lt;mtext&gt;&lt;/mtext&gt;&lt;mtext&gt;&lt;/mtext&gt;&lt;mtext&gt;&lt;/mtext&gt;&lt;mn&gt;7.28&lt;/mn&gt;&lt;mtext&gt;&lt;/mtext&gt;&lt;mtext&gt;&lt;/mtext&gt;&lt;mtext&gt;&lt;/mtext&gt;&lt;mtext&gt;&lt;/mtext&gt;&lt;mtext&gt;&lt;/mtext&gt;&lt;mn&gt;7&lt;/mn&gt;&lt;mfrac&gt;&lt;mn&gt;1&lt;/mn&gt;&lt;mn&gt;4&lt;/mn&gt;&lt;/mfrac&gt;&lt;mtext&gt;&lt;/mtext&gt;&lt;mtext&gt;&lt;/mtext&gt;&lt;mtext&gt;&lt;/mtext&gt;&lt;mtext&gt;&lt;/mtext&gt;&lt;mtext&gt;&lt;/mtext&gt;&lt;mn&gt;7.256&lt;/mn&gt;&lt;mtext&gt;&lt;/mtext&gt;&lt;mtext&gt;&lt;/mtext&gt;&lt;/math&gt;" id="206" name="Google Shape;206;p21" title="7 and one fifth 7.28 7 and one fourth 7.25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73223" y="2653661"/>
            <a:ext cx="2666376" cy="5317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}{5}\ \ \ \ \ 0.404\ \ \ \ \ \frac{1}{2}\ \ \ \ \ 0.483\ \ &quot;&gt;&lt;mfrac&gt;&lt;mn&gt;2&lt;/mn&gt;&lt;mn&gt;5&lt;/mn&gt;&lt;/mfrac&gt;&lt;mtext&gt;&lt;/mtext&gt;&lt;mtext&gt;&lt;/mtext&gt;&lt;mtext&gt;&lt;/mtext&gt;&lt;mtext&gt;&lt;/mtext&gt;&lt;mtext&gt;&lt;/mtext&gt;&lt;mn&gt;0.404&lt;/mn&gt;&lt;mtext&gt;&lt;/mtext&gt;&lt;mtext&gt;&lt;/mtext&gt;&lt;mtext&gt;&lt;/mtext&gt;&lt;mtext&gt;&lt;/mtext&gt;&lt;mtext&gt;&lt;/mtext&gt;&lt;mfrac&gt;&lt;mn&gt;1&lt;/mn&gt;&lt;mn&gt;2&lt;/mn&gt;&lt;/mfrac&gt;&lt;mtext&gt;&lt;/mtext&gt;&lt;mtext&gt;&lt;/mtext&gt;&lt;mtext&gt;&lt;/mtext&gt;&lt;mtext&gt;&lt;/mtext&gt;&lt;mtext&gt;&lt;/mtext&gt;&lt;mn&gt;0.483&lt;/mn&gt;&lt;mtext&gt;&lt;/mtext&gt;&lt;mtext&gt;&lt;/mtext&gt;&lt;/math&gt;" id="207" name="Google Shape;207;p21" title="two fifths 0.404 one half 0.48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69870" y="1382806"/>
            <a:ext cx="2500959" cy="5317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2\frac{3}{4}\ \ \ \ \ 2.753\ \ \ \ \ 2\frac{3}{5}\ \ \ \ \ 2.065\ \ &quot;&gt;&lt;mn&gt;2&lt;/mn&gt;&lt;mfrac&gt;&lt;mn&gt;3&lt;/mn&gt;&lt;mn&gt;4&lt;/mn&gt;&lt;/mfrac&gt;&lt;mtext&gt;&lt;/mtext&gt;&lt;mtext&gt;&lt;/mtext&gt;&lt;mtext&gt;&lt;/mtext&gt;&lt;mtext&gt;&lt;/mtext&gt;&lt;mtext&gt;&lt;/mtext&gt;&lt;mn&gt;2.753&lt;/mn&gt;&lt;mtext&gt;&lt;/mtext&gt;&lt;mtext&gt;&lt;/mtext&gt;&lt;mtext&gt;&lt;/mtext&gt;&lt;mtext&gt;&lt;/mtext&gt;&lt;mtext&gt;&lt;/mtext&gt;&lt;mn&gt;2&lt;/mn&gt;&lt;mfrac&gt;&lt;mn&gt;3&lt;/mn&gt;&lt;mn&gt;5&lt;/mn&gt;&lt;/mfrac&gt;&lt;mtext&gt;&lt;/mtext&gt;&lt;mtext&gt;&lt;/mtext&gt;&lt;mtext&gt;&lt;/mtext&gt;&lt;mtext&gt;&lt;/mtext&gt;&lt;mtext&gt;&lt;/mtext&gt;&lt;mn&gt;2.065&lt;/mn&gt;&lt;mtext&gt;&lt;/mtext&gt;&lt;mtext&gt;&lt;/mtext&gt;&lt;/math&gt;" id="208" name="Google Shape;208;p21" title="2 and three fourths 2.753 2 and three fifths 2.06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45046" y="2653661"/>
            <a:ext cx="2780593" cy="531701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21"/>
          <p:cNvSpPr txBox="1"/>
          <p:nvPr/>
        </p:nvSpPr>
        <p:spPr>
          <a:xfrm>
            <a:off x="466825" y="1344600"/>
            <a:ext cx="261300" cy="26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0" name="Google Shape;210;p21"/>
          <p:cNvSpPr txBox="1"/>
          <p:nvPr/>
        </p:nvSpPr>
        <p:spPr>
          <a:xfrm>
            <a:off x="466825" y="2615448"/>
            <a:ext cx="261300" cy="26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1" name="Google Shape;211;p21"/>
          <p:cNvSpPr txBox="1"/>
          <p:nvPr/>
        </p:nvSpPr>
        <p:spPr>
          <a:xfrm>
            <a:off x="3850177" y="1344600"/>
            <a:ext cx="261300" cy="26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2" name="Google Shape;212;p21"/>
          <p:cNvSpPr txBox="1"/>
          <p:nvPr/>
        </p:nvSpPr>
        <p:spPr>
          <a:xfrm>
            <a:off x="3850177" y="2615448"/>
            <a:ext cx="261300" cy="26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3" name="Google Shape;213;p21"/>
          <p:cNvSpPr txBox="1"/>
          <p:nvPr/>
        </p:nvSpPr>
        <p:spPr>
          <a:xfrm>
            <a:off x="466825" y="3688575"/>
            <a:ext cx="6621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 Convert the following into decimals and then write them in ascending order.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21}{40}\ \ \ \ \ \frac{74}{125}\ \ \ \ \ \frac{9}{16}\ \ \ \ \ \frac{13}{25}&quot;&gt;&lt;mfrac&gt;&lt;mn&gt;21&lt;/mn&gt;&lt;mn&gt;40&lt;/mn&gt;&lt;/mfrac&gt;&lt;mtext&gt;&lt;/mtext&gt;&lt;mtext&gt;&lt;/mtext&gt;&lt;mtext&gt;&lt;/mtext&gt;&lt;mtext&gt;&lt;/mtext&gt;&lt;mtext&gt;&lt;/mtext&gt;&lt;mfrac&gt;&lt;mn&gt;74&lt;/mn&gt;&lt;mn&gt;125&lt;/mn&gt;&lt;/mfrac&gt;&lt;mtext&gt;&lt;/mtext&gt;&lt;mtext&gt;&lt;/mtext&gt;&lt;mtext&gt;&lt;/mtext&gt;&lt;mtext&gt;&lt;/mtext&gt;&lt;mtext&gt;&lt;/mtext&gt;&lt;mfrac&gt;&lt;mn&gt;9&lt;/mn&gt;&lt;mn&gt;16&lt;/mn&gt;&lt;/mfrac&gt;&lt;mtext&gt;&lt;/mtext&gt;&lt;mtext&gt;&lt;/mtext&gt;&lt;mtext&gt;&lt;/mtext&gt;&lt;mtext&gt;&lt;/mtext&gt;&lt;mtext&gt;&lt;/mtext&gt;&lt;mfrac&gt;&lt;mn&gt;13&lt;/mn&gt;&lt;mn&gt;25&lt;/mn&gt;&lt;/mfrac&gt;&lt;/math&gt;" id="214" name="Google Shape;214;p21" title="21 over 40 74 over 125 9 over 16 13 over 2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371681" y="4159250"/>
            <a:ext cx="2324993" cy="512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7}{20}\ \ \ \ \ \frac{9}{25}\ \ \ \ \ \frac{5}{16}\ \ \ \ \ \frac{3}{8}&quot;&gt;&lt;mfrac&gt;&lt;mn&gt;7&lt;/mn&gt;&lt;mn&gt;20&lt;/mn&gt;&lt;/mfrac&gt;&lt;mtext&gt;&lt;/mtext&gt;&lt;mtext&gt;&lt;/mtext&gt;&lt;mtext&gt;&lt;/mtext&gt;&lt;mtext&gt;&lt;/mtext&gt;&lt;mtext&gt;&lt;/mtext&gt;&lt;mfrac&gt;&lt;mn&gt;9&lt;/mn&gt;&lt;mn&gt;25&lt;/mn&gt;&lt;/mfrac&gt;&lt;mtext&gt;&lt;/mtext&gt;&lt;mtext&gt;&lt;/mtext&gt;&lt;mtext&gt;&lt;/mtext&gt;&lt;mtext&gt;&lt;/mtext&gt;&lt;mtext&gt;&lt;/mtext&gt;&lt;mfrac&gt;&lt;mn&gt;5&lt;/mn&gt;&lt;mn&gt;16&lt;/mn&gt;&lt;/mfrac&gt;&lt;mtext&gt;&lt;/mtext&gt;&lt;mtext&gt;&lt;/mtext&gt;&lt;mtext&gt;&lt;/mtext&gt;&lt;mtext&gt;&lt;/mtext&gt;&lt;mtext&gt;&lt;/mtext&gt;&lt;mfrac&gt;&lt;mn&gt;3&lt;/mn&gt;&lt;mn&gt;8&lt;/mn&gt;&lt;/mfrac&gt;&lt;/math&gt;" id="215" name="Google Shape;215;p21" title="7 over 20 9 over 25 5 over 16 three eighths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356537" y="5394882"/>
            <a:ext cx="2019767" cy="5011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1}{16}\ \ \ \ \ \frac{5}{8}\ \ \ \ \ \frac{76}{125}\ \ \ \ \ \frac{27}{40}&quot;&gt;&lt;mfrac&gt;&lt;mn&gt;11&lt;/mn&gt;&lt;mn&gt;16&lt;/mn&gt;&lt;/mfrac&gt;&lt;mtext&gt;&lt;/mtext&gt;&lt;mtext&gt;&lt;/mtext&gt;&lt;mtext&gt;&lt;/mtext&gt;&lt;mtext&gt;&lt;/mtext&gt;&lt;mtext&gt;&lt;/mtext&gt;&lt;mfrac&gt;&lt;mn&gt;5&lt;/mn&gt;&lt;mn&gt;8&lt;/mn&gt;&lt;/mfrac&gt;&lt;mtext&gt;&lt;/mtext&gt;&lt;mtext&gt;&lt;/mtext&gt;&lt;mtext&gt;&lt;/mtext&gt;&lt;mtext&gt;&lt;/mtext&gt;&lt;mtext&gt;&lt;/mtext&gt;&lt;mfrac&gt;&lt;mn&gt;76&lt;/mn&gt;&lt;mn&gt;125&lt;/mn&gt;&lt;/mfrac&gt;&lt;mtext&gt;&lt;/mtext&gt;&lt;mtext&gt;&lt;/mtext&gt;&lt;mtext&gt;&lt;/mtext&gt;&lt;mtext&gt;&lt;/mtext&gt;&lt;mtext&gt;&lt;/mtext&gt;&lt;mfrac&gt;&lt;mn&gt;27&lt;/mn&gt;&lt;mn&gt;40&lt;/mn&gt;&lt;/mfrac&gt;&lt;/math&gt;" id="216" name="Google Shape;216;p21" title="11 over 16 five eighths 76 over 125 27 over 40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339332" y="6619210"/>
            <a:ext cx="2140350" cy="5011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7}{20}\ \ \ \ \ \frac{15}{16}\ \ \ \ \ \frac{7}{8}\ \ \ \ \ \frac{23}{25}&quot;&gt;&lt;mfrac&gt;&lt;mn&gt;17&lt;/mn&gt;&lt;mn&gt;20&lt;/mn&gt;&lt;/mfrac&gt;&lt;mtext&gt;&lt;/mtext&gt;&lt;mtext&gt;&lt;/mtext&gt;&lt;mtext&gt;&lt;/mtext&gt;&lt;mtext&gt;&lt;/mtext&gt;&lt;mtext&gt;&lt;/mtext&gt;&lt;mfrac&gt;&lt;mn&gt;15&lt;/mn&gt;&lt;mn&gt;16&lt;/mn&gt;&lt;/mfrac&gt;&lt;mtext&gt;&lt;/mtext&gt;&lt;mtext&gt;&lt;/mtext&gt;&lt;mtext&gt;&lt;/mtext&gt;&lt;mtext&gt;&lt;/mtext&gt;&lt;mtext&gt;&lt;/mtext&gt;&lt;mfrac&gt;&lt;mn&gt;7&lt;/mn&gt;&lt;mn&gt;8&lt;/mn&gt;&lt;/mfrac&gt;&lt;mtext&gt;&lt;/mtext&gt;&lt;mtext&gt;&lt;/mtext&gt;&lt;mtext&gt;&lt;/mtext&gt;&lt;mtext&gt;&lt;/mtext&gt;&lt;mtext&gt;&lt;/mtext&gt;&lt;mfrac&gt;&lt;mn&gt;23&lt;/mn&gt;&lt;mn&gt;25&lt;/mn&gt;&lt;/mfrac&gt;&lt;/math&gt;" id="217" name="Google Shape;217;p21" title="17 over 20 15 over 16 seven eighths 23 over 25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1384484" y="7816538"/>
            <a:ext cx="2019767" cy="501171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21"/>
          <p:cNvSpPr txBox="1"/>
          <p:nvPr/>
        </p:nvSpPr>
        <p:spPr>
          <a:xfrm>
            <a:off x="468000" y="4159250"/>
            <a:ext cx="287700" cy="29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9" name="Google Shape;219;p21"/>
          <p:cNvSpPr txBox="1"/>
          <p:nvPr/>
        </p:nvSpPr>
        <p:spPr>
          <a:xfrm>
            <a:off x="468000" y="5394882"/>
            <a:ext cx="287700" cy="29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" name="Google Shape;220;p21"/>
          <p:cNvSpPr txBox="1"/>
          <p:nvPr/>
        </p:nvSpPr>
        <p:spPr>
          <a:xfrm>
            <a:off x="467997" y="6619210"/>
            <a:ext cx="261300" cy="2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1" name="Google Shape;221;p21"/>
          <p:cNvSpPr txBox="1"/>
          <p:nvPr/>
        </p:nvSpPr>
        <p:spPr>
          <a:xfrm>
            <a:off x="467997" y="7816538"/>
            <a:ext cx="261300" cy="2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Worksheet September 2023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LD THEME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