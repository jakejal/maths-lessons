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D689497-3E43-44C1-AD14-5DB51BF8F12A}">
  <a:tblStyle styleId="{AD689497-3E43-44C1-AD14-5DB51BF8F12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slide" Target="slides/slide25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1ea6b33c8e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1ea6b33c8e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1ea6b33c8e0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1ea6b33c8e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1ea6b33c8e0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1ea6b33c8e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1ea6b33c8e0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0" name="Google Shape;810;g1ea6b33c8e0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29761cd59df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6" name="Google Shape;836;g29761cd59d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g1ea6b33c8e0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8" name="Google Shape;858;g1ea6b33c8e0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1ea6b33c8e0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6" name="Google Shape;896;g1ea6b33c8e0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1ea6b33c8e0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7" name="Google Shape;907;g1ea6b33c8e0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g29761cd59df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5" name="Google Shape;925;g29761cd59df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297b0de6e86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3" name="Google Shape;973;g297b0de6e86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29761cd59df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8" name="Google Shape;1008;g29761cd59df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1ea6b33c8e0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5" name="Google Shape;1055;g1ea6b33c8e0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g1ea6b33c8e0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3" name="Google Shape;1063;g1ea6b33c8e0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g1ea6b33c8e0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0" name="Google Shape;1090;g1ea6b33c8e0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1ea6b33c8e0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0" name="Google Shape;1110;g1ea6b33c8e0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g29761cd59df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0" name="Google Shape;1130;g29761cd59df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g29761cd59df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6" name="Google Shape;1186;g29761cd59df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g29761cd59df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0" name="Google Shape;1200;g29761cd59df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g29761cd59df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4" name="Google Shape;1214;g29761cd59df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g29761cd59df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0" name="Google Shape;1240;g29761cd59df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2" name="Google Shape;1282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4" name="Google Shape;1294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8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2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23.png"/><Relationship Id="rId6" Type="http://schemas.openxmlformats.org/officeDocument/2006/relationships/image" Target="../media/image11.png"/><Relationship Id="rId7" Type="http://schemas.openxmlformats.org/officeDocument/2006/relationships/image" Target="../media/image2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5.png"/><Relationship Id="rId4" Type="http://schemas.openxmlformats.org/officeDocument/2006/relationships/image" Target="../media/image100.png"/><Relationship Id="rId5" Type="http://schemas.openxmlformats.org/officeDocument/2006/relationships/image" Target="../media/image28.png"/><Relationship Id="rId6" Type="http://schemas.openxmlformats.org/officeDocument/2006/relationships/image" Target="../media/image27.png"/><Relationship Id="rId7" Type="http://schemas.openxmlformats.org/officeDocument/2006/relationships/image" Target="../media/image1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100.png"/><Relationship Id="rId4" Type="http://schemas.openxmlformats.org/officeDocument/2006/relationships/image" Target="../media/image20.png"/><Relationship Id="rId9" Type="http://schemas.openxmlformats.org/officeDocument/2006/relationships/image" Target="../media/image13.png"/><Relationship Id="rId5" Type="http://schemas.openxmlformats.org/officeDocument/2006/relationships/image" Target="../media/image25.png"/><Relationship Id="rId6" Type="http://schemas.openxmlformats.org/officeDocument/2006/relationships/image" Target="../media/image31.png"/><Relationship Id="rId7" Type="http://schemas.openxmlformats.org/officeDocument/2006/relationships/image" Target="../media/image28.png"/><Relationship Id="rId8" Type="http://schemas.openxmlformats.org/officeDocument/2006/relationships/image" Target="../media/image2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100.png"/><Relationship Id="rId4" Type="http://schemas.openxmlformats.org/officeDocument/2006/relationships/image" Target="../media/image33.png"/><Relationship Id="rId11" Type="http://schemas.openxmlformats.org/officeDocument/2006/relationships/image" Target="../media/image13.png"/><Relationship Id="rId10" Type="http://schemas.openxmlformats.org/officeDocument/2006/relationships/image" Target="../media/image41.png"/><Relationship Id="rId9" Type="http://schemas.openxmlformats.org/officeDocument/2006/relationships/image" Target="../media/image27.png"/><Relationship Id="rId5" Type="http://schemas.openxmlformats.org/officeDocument/2006/relationships/image" Target="../media/image20.png"/><Relationship Id="rId6" Type="http://schemas.openxmlformats.org/officeDocument/2006/relationships/image" Target="../media/image25.png"/><Relationship Id="rId7" Type="http://schemas.openxmlformats.org/officeDocument/2006/relationships/image" Target="../media/image31.png"/><Relationship Id="rId8" Type="http://schemas.openxmlformats.org/officeDocument/2006/relationships/image" Target="../media/image2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40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Relationship Id="rId4" Type="http://schemas.openxmlformats.org/officeDocument/2006/relationships/image" Target="../media/image40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Relationship Id="rId4" Type="http://schemas.openxmlformats.org/officeDocument/2006/relationships/image" Target="../media/image40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Relationship Id="rId4" Type="http://schemas.openxmlformats.org/officeDocument/2006/relationships/image" Target="../media/image40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4.png"/><Relationship Id="rId4" Type="http://schemas.openxmlformats.org/officeDocument/2006/relationships/image" Target="../media/image40.png"/><Relationship Id="rId5" Type="http://schemas.openxmlformats.org/officeDocument/2006/relationships/image" Target="../media/image4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0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4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4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4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7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7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7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7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6.png"/><Relationship Id="rId4" Type="http://schemas.openxmlformats.org/officeDocument/2006/relationships/image" Target="../media/image50.png"/><Relationship Id="rId5" Type="http://schemas.openxmlformats.org/officeDocument/2006/relationships/image" Target="../media/image48.png"/><Relationship Id="rId6" Type="http://schemas.openxmlformats.org/officeDocument/2006/relationships/image" Target="../media/image51.png"/><Relationship Id="rId7" Type="http://schemas.openxmlformats.org/officeDocument/2006/relationships/image" Target="../media/image4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0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2.png"/><Relationship Id="rId7" Type="http://schemas.openxmlformats.org/officeDocument/2006/relationships/image" Target="../media/image5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3.png"/><Relationship Id="rId4" Type="http://schemas.openxmlformats.org/officeDocument/2006/relationships/image" Target="../media/image53.png"/><Relationship Id="rId5" Type="http://schemas.openxmlformats.org/officeDocument/2006/relationships/image" Target="../media/image50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0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7.png"/><Relationship Id="rId7" Type="http://schemas.openxmlformats.org/officeDocument/2006/relationships/image" Target="../media/image5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5.png"/><Relationship Id="rId4" Type="http://schemas.openxmlformats.org/officeDocument/2006/relationships/image" Target="../media/image60.png"/><Relationship Id="rId5" Type="http://schemas.openxmlformats.org/officeDocument/2006/relationships/image" Target="../media/image62.png"/><Relationship Id="rId6" Type="http://schemas.openxmlformats.org/officeDocument/2006/relationships/image" Target="../media/image59.png"/><Relationship Id="rId7" Type="http://schemas.openxmlformats.org/officeDocument/2006/relationships/image" Target="../media/image5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1.png"/><Relationship Id="rId4" Type="http://schemas.openxmlformats.org/officeDocument/2006/relationships/image" Target="../media/image64.png"/><Relationship Id="rId5" Type="http://schemas.openxmlformats.org/officeDocument/2006/relationships/image" Target="../media/image66.png"/><Relationship Id="rId6" Type="http://schemas.openxmlformats.org/officeDocument/2006/relationships/image" Target="../media/image6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2.png"/><Relationship Id="rId4" Type="http://schemas.openxmlformats.org/officeDocument/2006/relationships/image" Target="../media/image74.png"/><Relationship Id="rId9" Type="http://schemas.openxmlformats.org/officeDocument/2006/relationships/image" Target="../media/image73.png"/><Relationship Id="rId5" Type="http://schemas.openxmlformats.org/officeDocument/2006/relationships/image" Target="../media/image68.png"/><Relationship Id="rId6" Type="http://schemas.openxmlformats.org/officeDocument/2006/relationships/image" Target="../media/image72.png"/><Relationship Id="rId7" Type="http://schemas.openxmlformats.org/officeDocument/2006/relationships/image" Target="../media/image75.png"/><Relationship Id="rId8" Type="http://schemas.openxmlformats.org/officeDocument/2006/relationships/image" Target="../media/image71.png"/><Relationship Id="rId11" Type="http://schemas.openxmlformats.org/officeDocument/2006/relationships/image" Target="../media/image77.png"/><Relationship Id="rId10" Type="http://schemas.openxmlformats.org/officeDocument/2006/relationships/image" Target="../media/image79.png"/><Relationship Id="rId13" Type="http://schemas.openxmlformats.org/officeDocument/2006/relationships/image" Target="../media/image76.png"/><Relationship Id="rId12" Type="http://schemas.openxmlformats.org/officeDocument/2006/relationships/image" Target="../media/image82.png"/><Relationship Id="rId15" Type="http://schemas.openxmlformats.org/officeDocument/2006/relationships/image" Target="../media/image78.png"/><Relationship Id="rId14" Type="http://schemas.openxmlformats.org/officeDocument/2006/relationships/image" Target="../media/image81.png"/><Relationship Id="rId16" Type="http://schemas.openxmlformats.org/officeDocument/2006/relationships/image" Target="../media/image8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2.png"/><Relationship Id="rId4" Type="http://schemas.openxmlformats.org/officeDocument/2006/relationships/image" Target="../media/image74.png"/><Relationship Id="rId9" Type="http://schemas.openxmlformats.org/officeDocument/2006/relationships/image" Target="../media/image73.png"/><Relationship Id="rId5" Type="http://schemas.openxmlformats.org/officeDocument/2006/relationships/image" Target="../media/image68.png"/><Relationship Id="rId6" Type="http://schemas.openxmlformats.org/officeDocument/2006/relationships/image" Target="../media/image72.png"/><Relationship Id="rId7" Type="http://schemas.openxmlformats.org/officeDocument/2006/relationships/image" Target="../media/image75.png"/><Relationship Id="rId8" Type="http://schemas.openxmlformats.org/officeDocument/2006/relationships/image" Target="../media/image71.png"/><Relationship Id="rId11" Type="http://schemas.openxmlformats.org/officeDocument/2006/relationships/image" Target="../media/image77.png"/><Relationship Id="rId10" Type="http://schemas.openxmlformats.org/officeDocument/2006/relationships/image" Target="../media/image79.png"/><Relationship Id="rId13" Type="http://schemas.openxmlformats.org/officeDocument/2006/relationships/image" Target="../media/image76.png"/><Relationship Id="rId12" Type="http://schemas.openxmlformats.org/officeDocument/2006/relationships/image" Target="../media/image82.png"/><Relationship Id="rId15" Type="http://schemas.openxmlformats.org/officeDocument/2006/relationships/image" Target="../media/image78.png"/><Relationship Id="rId14" Type="http://schemas.openxmlformats.org/officeDocument/2006/relationships/image" Target="../media/image81.png"/><Relationship Id="rId16" Type="http://schemas.openxmlformats.org/officeDocument/2006/relationships/image" Target="../media/image8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3.png"/><Relationship Id="rId4" Type="http://schemas.openxmlformats.org/officeDocument/2006/relationships/image" Target="../media/image50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7.png"/><Relationship Id="rId4" Type="http://schemas.openxmlformats.org/officeDocument/2006/relationships/image" Target="../media/image67.png"/><Relationship Id="rId5" Type="http://schemas.openxmlformats.org/officeDocument/2006/relationships/image" Target="../media/image92.png"/><Relationship Id="rId6" Type="http://schemas.openxmlformats.org/officeDocument/2006/relationships/image" Target="../media/image9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5.png"/><Relationship Id="rId4" Type="http://schemas.openxmlformats.org/officeDocument/2006/relationships/image" Target="../media/image93.png"/><Relationship Id="rId5" Type="http://schemas.openxmlformats.org/officeDocument/2006/relationships/image" Target="../media/image89.png"/><Relationship Id="rId6" Type="http://schemas.openxmlformats.org/officeDocument/2006/relationships/image" Target="../media/image9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8.png"/><Relationship Id="rId4" Type="http://schemas.openxmlformats.org/officeDocument/2006/relationships/image" Target="../media/image90.png"/><Relationship Id="rId5" Type="http://schemas.openxmlformats.org/officeDocument/2006/relationships/image" Target="../media/image96.png"/><Relationship Id="rId6" Type="http://schemas.openxmlformats.org/officeDocument/2006/relationships/image" Target="../media/image9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5.png"/><Relationship Id="rId4" Type="http://schemas.openxmlformats.org/officeDocument/2006/relationships/image" Target="../media/image93.png"/><Relationship Id="rId5" Type="http://schemas.openxmlformats.org/officeDocument/2006/relationships/image" Target="../media/image89.png"/><Relationship Id="rId6" Type="http://schemas.openxmlformats.org/officeDocument/2006/relationships/image" Target="../media/image9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8.png"/><Relationship Id="rId4" Type="http://schemas.openxmlformats.org/officeDocument/2006/relationships/image" Target="../media/image90.png"/><Relationship Id="rId5" Type="http://schemas.openxmlformats.org/officeDocument/2006/relationships/image" Target="../media/image96.png"/><Relationship Id="rId6" Type="http://schemas.openxmlformats.org/officeDocument/2006/relationships/image" Target="../media/image9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3.png"/><Relationship Id="rId4" Type="http://schemas.openxmlformats.org/officeDocument/2006/relationships/image" Target="../media/image9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9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fractions by converting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Comparing and ordering fractions and decimals (positive and negative)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compare and order fractions by converting to decimals.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Numerator − The expression in a fraction that is written above the fraction line. It is the dividend.</a:t>
            </a:r>
            <a:endParaRPr b="0"/>
          </a:p>
        </p:txBody>
      </p:sp>
      <p:sp>
        <p:nvSpPr>
          <p:cNvPr id="767" name="Google Shape;767;p67"/>
          <p:cNvSpPr txBox="1"/>
          <p:nvPr>
            <p:ph idx="1" type="subTitle"/>
          </p:nvPr>
        </p:nvSpPr>
        <p:spPr>
          <a:xfrm>
            <a:off x="324001" y="993650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A number is in decimal form when the decimal point is shown and there are digits to the right of the decimal point. </a:t>
            </a:r>
            <a:endParaRPr b="0"/>
          </a:p>
        </p:txBody>
      </p:sp>
      <p:sp>
        <p:nvSpPr>
          <p:cNvPr id="768" name="Google Shape;768;p67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Denominator − The expression in a fraction that is written below the fraction line. It is the divisor.</a:t>
            </a:r>
            <a:endParaRPr b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converting fractions to decimals</a:t>
            </a:r>
            <a:endParaRPr/>
          </a:p>
        </p:txBody>
      </p:sp>
      <p:sp>
        <p:nvSpPr>
          <p:cNvPr id="774" name="Google Shape;774;p6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fractions by converting into decimals</a:t>
            </a:r>
            <a:endParaRPr/>
          </a:p>
        </p:txBody>
      </p:sp>
      <p:sp>
        <p:nvSpPr>
          <p:cNvPr id="775" name="Google Shape;775;p6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fractions by converting</a:t>
            </a:r>
            <a:endParaRPr/>
          </a:p>
        </p:txBody>
      </p:sp>
      <p:pic>
        <p:nvPicPr>
          <p:cNvPr id="776" name="Google Shape;776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500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1" name="Google Shape;781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275" y="633846"/>
            <a:ext cx="6117173" cy="720861"/>
          </a:xfrm>
          <a:prstGeom prst="rect">
            <a:avLst/>
          </a:prstGeom>
          <a:noFill/>
          <a:ln>
            <a:noFill/>
          </a:ln>
        </p:spPr>
      </p:pic>
      <p:sp>
        <p:nvSpPr>
          <p:cNvPr id="782" name="Google Shape;782;p69"/>
          <p:cNvSpPr txBox="1"/>
          <p:nvPr>
            <p:ph idx="1" type="body"/>
          </p:nvPr>
        </p:nvSpPr>
        <p:spPr>
          <a:xfrm>
            <a:off x="6528601" y="1572450"/>
            <a:ext cx="9744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2 .</a:t>
            </a:r>
            <a:endParaRPr/>
          </a:p>
        </p:txBody>
      </p:sp>
      <p:sp>
        <p:nvSpPr>
          <p:cNvPr id="783" name="Google Shape;783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converting fractions to decimals</a:t>
            </a:r>
            <a:endParaRPr/>
          </a:p>
        </p:txBody>
      </p:sp>
      <p:pic>
        <p:nvPicPr>
          <p:cNvPr id="784" name="Google Shape;784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0887" y="3621012"/>
            <a:ext cx="727174" cy="9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785" name="Google Shape;785;p69"/>
          <p:cNvSpPr txBox="1"/>
          <p:nvPr/>
        </p:nvSpPr>
        <p:spPr>
          <a:xfrm>
            <a:off x="323988" y="4379398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6" name="Google Shape;786;p69"/>
          <p:cNvSpPr txBox="1"/>
          <p:nvPr/>
        </p:nvSpPr>
        <p:spPr>
          <a:xfrm>
            <a:off x="6833034" y="4425523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87" name="Google Shape;787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330733" y="3524277"/>
            <a:ext cx="804119" cy="10579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2}{5}=\frac{2\ \times\ 2}{5\ \times\ 2}=\frac{4}{10}=0.4\end{array}&quot;&gt;&lt;mtable columnalign=&quot;left&quot; columnspacing=&quot;1em&quot; rowspacing=&quot;4pt&quot;&gt;&lt;mtr&gt;&lt;mtd&gt;&lt;mfrac&gt;&lt;mn&gt;2&lt;/mn&gt;&lt;mn&gt;5&lt;/mn&gt;&lt;/mfrac&gt;&lt;mo&gt;=&lt;/mo&gt;&lt;mfrac&gt;&lt;mrow&gt;&lt;mn&gt;2&lt;/mn&gt;&lt;mtext&gt;&lt;/mtext&gt;&lt;mo&gt;×&lt;/mo&gt;&lt;mtext&gt;&lt;/mtext&gt;&lt;mn&gt;2&lt;/mn&gt;&lt;/mrow&gt;&lt;mrow&gt;&lt;mn&gt;5&lt;/mn&gt;&lt;mtext&gt;&lt;/mtext&gt;&lt;mo&gt;×&lt;/mo&gt;&lt;mtext&gt;&lt;/mtext&gt;&lt;mn&gt;2&lt;/mn&gt;&lt;/mrow&gt;&lt;/mfrac&gt;&lt;mo&gt;=&lt;/mo&gt;&lt;mfrac&gt;&lt;mn&gt;4&lt;/mn&gt;&lt;mn&gt;10&lt;/mn&gt;&lt;/mfrac&gt;&lt;mo&gt;=&lt;/mo&gt;&lt;mn&gt;0.4&lt;/mn&gt;&lt;/mtd&gt;&lt;/mtr&gt;&lt;/mtable&gt;&lt;/math&gt;" id="788" name="Google Shape;788;p69" title="1 lines Line 1: two fifths equals the fraction with numerator 2 times 2 and denominator 5 times 2 equals four tenths equals 0.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4825" y="1448700"/>
            <a:ext cx="3218427" cy="520425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69"/>
          <p:cNvSpPr txBox="1"/>
          <p:nvPr>
            <p:ph idx="1" type="body"/>
          </p:nvPr>
        </p:nvSpPr>
        <p:spPr>
          <a:xfrm>
            <a:off x="6218559" y="1572450"/>
            <a:ext cx="1131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</a:t>
            </a:r>
            <a:endParaRPr/>
          </a:p>
        </p:txBody>
      </p:sp>
      <p:cxnSp>
        <p:nvCxnSpPr>
          <p:cNvPr id="790" name="Google Shape;790;p69"/>
          <p:cNvCxnSpPr/>
          <p:nvPr/>
        </p:nvCxnSpPr>
        <p:spPr>
          <a:xfrm rot="10800000">
            <a:off x="6452450" y="1564125"/>
            <a:ext cx="0" cy="405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1" name="Google Shape;791;p69"/>
          <p:cNvCxnSpPr/>
          <p:nvPr/>
        </p:nvCxnSpPr>
        <p:spPr>
          <a:xfrm rot="10800000">
            <a:off x="6433450" y="1556725"/>
            <a:ext cx="7782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2" name="Google Shape;792;p69"/>
          <p:cNvSpPr txBox="1"/>
          <p:nvPr>
            <p:ph idx="1" type="body"/>
          </p:nvPr>
        </p:nvSpPr>
        <p:spPr>
          <a:xfrm>
            <a:off x="6528603" y="1159625"/>
            <a:ext cx="6831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0 . 4</a:t>
            </a:r>
            <a:endParaRPr/>
          </a:p>
        </p:txBody>
      </p:sp>
      <p:sp>
        <p:nvSpPr>
          <p:cNvPr id="793" name="Google Shape;793;p69"/>
          <p:cNvSpPr txBox="1"/>
          <p:nvPr>
            <p:ph idx="1" type="body"/>
          </p:nvPr>
        </p:nvSpPr>
        <p:spPr>
          <a:xfrm>
            <a:off x="6792000" y="1538875"/>
            <a:ext cx="156300" cy="25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</a:t>
            </a:r>
            <a:endParaRPr sz="1600"/>
          </a:p>
        </p:txBody>
      </p:sp>
      <p:cxnSp>
        <p:nvCxnSpPr>
          <p:cNvPr id="794" name="Google Shape;794;p69"/>
          <p:cNvCxnSpPr/>
          <p:nvPr/>
        </p:nvCxnSpPr>
        <p:spPr>
          <a:xfrm rot="10800000">
            <a:off x="2175700" y="2057650"/>
            <a:ext cx="499800" cy="493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5" name="Google Shape;795;p69"/>
          <p:cNvSpPr txBox="1"/>
          <p:nvPr>
            <p:ph idx="1" type="body"/>
          </p:nvPr>
        </p:nvSpPr>
        <p:spPr>
          <a:xfrm>
            <a:off x="2783818" y="2374900"/>
            <a:ext cx="24792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Remember this is equivalent to 1</a:t>
            </a:r>
            <a:endParaRPr sz="1800"/>
          </a:p>
        </p:txBody>
      </p:sp>
      <p:sp>
        <p:nvSpPr>
          <p:cNvPr id="796" name="Google Shape;796;p69"/>
          <p:cNvSpPr/>
          <p:nvPr/>
        </p:nvSpPr>
        <p:spPr>
          <a:xfrm>
            <a:off x="1998550" y="1361775"/>
            <a:ext cx="240300" cy="65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7" name="Google Shape;797;p69"/>
          <p:cNvPicPr preferRelativeResize="0"/>
          <p:nvPr/>
        </p:nvPicPr>
        <p:blipFill rotWithShape="1">
          <a:blip r:embed="rId7">
            <a:alphaModFix/>
          </a:blip>
          <a:srcRect b="43690" l="0" r="57905" t="0"/>
          <a:stretch/>
        </p:blipFill>
        <p:spPr>
          <a:xfrm>
            <a:off x="4572000" y="2833700"/>
            <a:ext cx="2662052" cy="1402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98" name="Google Shape;798;p69"/>
          <p:cNvPicPr preferRelativeResize="0"/>
          <p:nvPr/>
        </p:nvPicPr>
        <p:blipFill rotWithShape="1">
          <a:blip r:embed="rId7">
            <a:alphaModFix/>
          </a:blip>
          <a:srcRect b="43690" l="0" r="57905" t="0"/>
          <a:stretch/>
        </p:blipFill>
        <p:spPr>
          <a:xfrm flipH="1">
            <a:off x="1684809" y="3066450"/>
            <a:ext cx="2662052" cy="1695301"/>
          </a:xfrm>
          <a:prstGeom prst="rect">
            <a:avLst/>
          </a:prstGeom>
          <a:noFill/>
          <a:ln>
            <a:noFill/>
          </a:ln>
        </p:spPr>
      </p:pic>
      <p:sp>
        <p:nvSpPr>
          <p:cNvPr id="799" name="Google Shape;799;p69"/>
          <p:cNvSpPr txBox="1"/>
          <p:nvPr>
            <p:ph idx="1" type="body"/>
          </p:nvPr>
        </p:nvSpPr>
        <p:spPr>
          <a:xfrm>
            <a:off x="4660200" y="2913225"/>
            <a:ext cx="22101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Why did you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begin{array}{l}\frac{2}{5}=\frac{2\ \times\ 2}{5\ \times\ 2}=\frac{4}{10}=0.4\end{array}&quot;&gt;&lt;mtable columnalign=&quot;left&quot; columnspacing=&quot;1em&quot; rowspacing=&quot;4pt&quot;&gt;&lt;mtr&gt;&lt;mtd&gt;&lt;mfrac&gt;&lt;mn&gt;2&lt;/mn&gt;&lt;mn&gt;5&lt;/mn&gt;&lt;/mfrac&gt;&lt;mo&gt;=&lt;/mo&gt;&lt;mfrac&gt;&lt;mrow&gt;&lt;mn&gt;2&lt;/mn&gt;&lt;mtext&gt;&lt;/mtext&gt;&lt;mo&gt;×&lt;/mo&gt;&lt;mtext&gt;&lt;/mtext&gt;&lt;mn&gt;2&lt;/mn&gt;&lt;/mrow&gt;&lt;mrow&gt;&lt;mn&gt;5&lt;/mn&gt;&lt;mtext&gt;&lt;/mtext&gt;&lt;mo&gt;×&lt;/mo&gt;&lt;mtext&gt;&lt;/mtext&gt;&lt;mn&gt;2&lt;/mn&gt;&lt;/mrow&gt;&lt;/mfrac&gt;&lt;mo&gt;=&lt;/mo&gt;&lt;mfrac&gt;&lt;mn&gt;4&lt;/mn&gt;&lt;mn&gt;10&lt;/mn&gt;&lt;/mfrac&gt;&lt;mo&gt;=&lt;/mo&gt;&lt;mn&gt;0.4&lt;/mn&gt;&lt;/mtd&gt;&lt;/mtr&gt;&lt;/mtable&gt;&lt;/math&gt;" id="800" name="Google Shape;800;p69" title="1 lines Line 1: two fifths equals the fraction with numerator 2 times 2 and denominator 5 times 2 equals four tenths equals 0.4"/>
          <p:cNvPicPr preferRelativeResize="0"/>
          <p:nvPr/>
        </p:nvPicPr>
        <p:blipFill rotWithShape="1">
          <a:blip r:embed="rId6">
            <a:alphaModFix/>
          </a:blip>
          <a:srcRect b="0" l="37390" r="56679" t="0"/>
          <a:stretch/>
        </p:blipFill>
        <p:spPr>
          <a:xfrm>
            <a:off x="5985694" y="3272325"/>
            <a:ext cx="190851" cy="520425"/>
          </a:xfrm>
          <a:prstGeom prst="rect">
            <a:avLst/>
          </a:prstGeom>
          <a:noFill/>
          <a:ln>
            <a:noFill/>
          </a:ln>
        </p:spPr>
      </p:pic>
      <p:sp>
        <p:nvSpPr>
          <p:cNvPr id="801" name="Google Shape;801;p69"/>
          <p:cNvSpPr txBox="1"/>
          <p:nvPr>
            <p:ph idx="1" type="body"/>
          </p:nvPr>
        </p:nvSpPr>
        <p:spPr>
          <a:xfrm>
            <a:off x="1867650" y="3170375"/>
            <a:ext cx="2479200" cy="98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 needed to make the denominator 10, 100 or 1000 to use the place value chart.</a:t>
            </a:r>
            <a:endParaRPr sz="1800"/>
          </a:p>
        </p:txBody>
      </p:sp>
      <p:pic>
        <p:nvPicPr>
          <p:cNvPr id="802" name="Google Shape;802;p69"/>
          <p:cNvPicPr preferRelativeResize="0"/>
          <p:nvPr/>
        </p:nvPicPr>
        <p:blipFill rotWithShape="1">
          <a:blip r:embed="rId7">
            <a:alphaModFix/>
          </a:blip>
          <a:srcRect b="43690" l="0" r="57905" t="0"/>
          <a:stretch/>
        </p:blipFill>
        <p:spPr>
          <a:xfrm>
            <a:off x="4580400" y="3147750"/>
            <a:ext cx="2662052" cy="909351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69"/>
          <p:cNvSpPr txBox="1"/>
          <p:nvPr>
            <p:ph idx="1" type="body"/>
          </p:nvPr>
        </p:nvSpPr>
        <p:spPr>
          <a:xfrm>
            <a:off x="4607600" y="3263550"/>
            <a:ext cx="2479200" cy="5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 am going to try your method next time.</a:t>
            </a:r>
            <a:endParaRPr sz="1800"/>
          </a:p>
        </p:txBody>
      </p:sp>
      <p:sp>
        <p:nvSpPr>
          <p:cNvPr id="804" name="Google Shape;804;p69"/>
          <p:cNvSpPr txBox="1"/>
          <p:nvPr>
            <p:ph idx="1" type="body"/>
          </p:nvPr>
        </p:nvSpPr>
        <p:spPr>
          <a:xfrm>
            <a:off x="6906725" y="1572450"/>
            <a:ext cx="7488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</a:t>
            </a:r>
            <a:endParaRPr/>
          </a:p>
        </p:txBody>
      </p:sp>
      <p:sp>
        <p:nvSpPr>
          <p:cNvPr id="805" name="Google Shape;805;p69"/>
          <p:cNvSpPr txBox="1"/>
          <p:nvPr>
            <p:ph idx="1" type="body"/>
          </p:nvPr>
        </p:nvSpPr>
        <p:spPr>
          <a:xfrm>
            <a:off x="4660200" y="3370425"/>
            <a:ext cx="22101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multiply</a:t>
            </a:r>
            <a:endParaRPr sz="1800"/>
          </a:p>
        </p:txBody>
      </p:sp>
      <p:sp>
        <p:nvSpPr>
          <p:cNvPr id="806" name="Google Shape;806;p69"/>
          <p:cNvSpPr txBox="1"/>
          <p:nvPr>
            <p:ph idx="1" type="body"/>
          </p:nvPr>
        </p:nvSpPr>
        <p:spPr>
          <a:xfrm>
            <a:off x="5614800" y="3370425"/>
            <a:ext cx="1407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by</a:t>
            </a:r>
            <a:endParaRPr sz="1800"/>
          </a:p>
        </p:txBody>
      </p:sp>
      <p:sp>
        <p:nvSpPr>
          <p:cNvPr id="807" name="Google Shape;807;p69"/>
          <p:cNvSpPr txBox="1"/>
          <p:nvPr>
            <p:ph idx="1" type="body"/>
          </p:nvPr>
        </p:nvSpPr>
        <p:spPr>
          <a:xfrm>
            <a:off x="6276900" y="3370425"/>
            <a:ext cx="9744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?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converting fractions to decimals</a:t>
            </a:r>
            <a:endParaRPr/>
          </a:p>
        </p:txBody>
      </p:sp>
      <p:sp>
        <p:nvSpPr>
          <p:cNvPr id="813" name="Google Shape;813;p70"/>
          <p:cNvSpPr txBox="1"/>
          <p:nvPr>
            <p:ph idx="1" type="body"/>
          </p:nvPr>
        </p:nvSpPr>
        <p:spPr>
          <a:xfrm>
            <a:off x="324000" y="759300"/>
            <a:ext cx="1354200" cy="71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Convert</a:t>
            </a:r>
            <a:endParaRPr/>
          </a:p>
        </p:txBody>
      </p:sp>
      <p:pic>
        <p:nvPicPr>
          <p:cNvPr id="814" name="Google Shape;814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887" y="3621012"/>
            <a:ext cx="727174" cy="9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70"/>
          <p:cNvSpPr txBox="1"/>
          <p:nvPr/>
        </p:nvSpPr>
        <p:spPr>
          <a:xfrm>
            <a:off x="323988" y="4379398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6" name="Google Shape;816;p70"/>
          <p:cNvSpPr txBox="1"/>
          <p:nvPr/>
        </p:nvSpPr>
        <p:spPr>
          <a:xfrm>
            <a:off x="6833034" y="4425523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7" name="Google Shape;817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330733" y="3524277"/>
            <a:ext cx="804119" cy="1057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8" name="Google Shape;818;p70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>
            <a:off x="4800600" y="2192467"/>
            <a:ext cx="2662052" cy="1986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19" name="Google Shape;819;p70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>
            <a:off x="1532409" y="2304450"/>
            <a:ext cx="2662052" cy="1695301"/>
          </a:xfrm>
          <a:prstGeom prst="rect">
            <a:avLst/>
          </a:prstGeom>
          <a:noFill/>
          <a:ln>
            <a:noFill/>
          </a:ln>
        </p:spPr>
      </p:pic>
      <p:sp>
        <p:nvSpPr>
          <p:cNvPr id="820" name="Google Shape;820;p70"/>
          <p:cNvSpPr txBox="1"/>
          <p:nvPr>
            <p:ph idx="1" type="body"/>
          </p:nvPr>
        </p:nvSpPr>
        <p:spPr>
          <a:xfrm>
            <a:off x="1715250" y="2408375"/>
            <a:ext cx="2479200" cy="98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Remember I said, make the denominator 10, 100 or 1000.</a:t>
            </a:r>
            <a:endParaRPr sz="1800"/>
          </a:p>
        </p:txBody>
      </p:sp>
      <p:sp>
        <p:nvSpPr>
          <p:cNvPr id="821" name="Google Shape;821;p70"/>
          <p:cNvSpPr txBox="1"/>
          <p:nvPr>
            <p:ph idx="1" type="body"/>
          </p:nvPr>
        </p:nvSpPr>
        <p:spPr>
          <a:xfrm>
            <a:off x="4827800" y="2257650"/>
            <a:ext cx="2436900" cy="98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do I do here?  I can’t make the denominator 10 as that would give a decimal numerator.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17}{20}&quot;&gt;&lt;mfrac&gt;&lt;mn&gt;17&lt;/mn&gt;&lt;mn&gt;20&lt;/mn&gt;&lt;/mfrac&gt;&lt;/math&gt;" id="822" name="Google Shape;822;p70" title="17 over 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14936" y="677625"/>
            <a:ext cx="333045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3" name="Google Shape;823;p70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>
            <a:off x="4758213" y="3025333"/>
            <a:ext cx="2662052" cy="1110225"/>
          </a:xfrm>
          <a:prstGeom prst="rect">
            <a:avLst/>
          </a:prstGeom>
          <a:noFill/>
          <a:ln>
            <a:noFill/>
          </a:ln>
        </p:spPr>
      </p:pic>
      <p:sp>
        <p:nvSpPr>
          <p:cNvPr id="824" name="Google Shape;824;p70"/>
          <p:cNvSpPr txBox="1"/>
          <p:nvPr>
            <p:ph idx="1" type="body"/>
          </p:nvPr>
        </p:nvSpPr>
        <p:spPr>
          <a:xfrm>
            <a:off x="4785400" y="3039627"/>
            <a:ext cx="2479200" cy="98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Oh, yes. I can make the denominator 100 or 1000.  </a:t>
            </a:r>
            <a:endParaRPr sz="1800"/>
          </a:p>
        </p:txBody>
      </p:sp>
      <p:pic>
        <p:nvPicPr>
          <p:cNvPr id="825" name="Google Shape;825;p70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>
            <a:off x="1495461" y="2693200"/>
            <a:ext cx="2662052" cy="1307750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70"/>
          <p:cNvSpPr txBox="1"/>
          <p:nvPr>
            <p:ph idx="1" type="body"/>
          </p:nvPr>
        </p:nvSpPr>
        <p:spPr>
          <a:xfrm>
            <a:off x="1678313" y="2797125"/>
            <a:ext cx="2479200" cy="98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 recommend 100 but only because I think it is easier.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begin{array}{l}\frac{17}{20}=\frac{17\ \times\ 5}{20\ \times\ 5}=\frac{85}{100}=0.85\end{array}&quot;&gt;&lt;mtable columnalign=&quot;left&quot; columnspacing=&quot;1em&quot; rowspacing=&quot;4pt&quot;&gt;&lt;mtr&gt;&lt;mtd&gt;&lt;mfrac&gt;&lt;mn&gt;17&lt;/mn&gt;&lt;mn&gt;20&lt;/mn&gt;&lt;/mfrac&gt;&lt;mo&gt;=&lt;/mo&gt;&lt;mfrac&gt;&lt;mrow&gt;&lt;mn&gt;17&lt;/mn&gt;&lt;mtext&gt;&lt;/mtext&gt;&lt;mo&gt;×&lt;/mo&gt;&lt;mtext&gt;&lt;/mtext&gt;&lt;mn&gt;5&lt;/mn&gt;&lt;/mrow&gt;&lt;mrow&gt;&lt;mn&gt;20&lt;/mn&gt;&lt;mtext&gt;&lt;/mtext&gt;&lt;mo&gt;×&lt;/mo&gt;&lt;mtext&gt;&lt;/mtext&gt;&lt;mn&gt;5&lt;/mn&gt;&lt;/mrow&gt;&lt;/mfrac&gt;&lt;mo&gt;=&lt;/mo&gt;&lt;mfrac&gt;&lt;mn&gt;85&lt;/mn&gt;&lt;mn&gt;100&lt;/mn&gt;&lt;/mfrac&gt;&lt;mo&gt;=&lt;/mo&gt;&lt;mn&gt;0.85&lt;/mn&gt;&lt;/mtd&gt;&lt;/mtr&gt;&lt;/mtable&gt;&lt;/math&gt;" id="827" name="Google Shape;827;p70" title="1 lines Line 1: 17 over 20 equals the fraction with numerator 17 times 5 and denominator 20 times 5 equals 85 over 100 equals 0.8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1622" y="1452022"/>
            <a:ext cx="4129725" cy="575025"/>
          </a:xfrm>
          <a:prstGeom prst="rect">
            <a:avLst/>
          </a:prstGeom>
          <a:noFill/>
          <a:ln>
            <a:noFill/>
          </a:ln>
        </p:spPr>
      </p:pic>
      <p:sp>
        <p:nvSpPr>
          <p:cNvPr id="828" name="Google Shape;828;p70"/>
          <p:cNvSpPr/>
          <p:nvPr/>
        </p:nvSpPr>
        <p:spPr>
          <a:xfrm>
            <a:off x="2732450" y="1652725"/>
            <a:ext cx="991200" cy="374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9" name="Google Shape;829;p70"/>
          <p:cNvSpPr/>
          <p:nvPr/>
        </p:nvSpPr>
        <p:spPr>
          <a:xfrm>
            <a:off x="1684800" y="1691125"/>
            <a:ext cx="895800" cy="374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0" name="Google Shape;830;p70"/>
          <p:cNvSpPr/>
          <p:nvPr/>
        </p:nvSpPr>
        <p:spPr>
          <a:xfrm>
            <a:off x="1684800" y="1401975"/>
            <a:ext cx="895800" cy="291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1" name="Google Shape;831;p70"/>
          <p:cNvSpPr/>
          <p:nvPr/>
        </p:nvSpPr>
        <p:spPr>
          <a:xfrm>
            <a:off x="3124700" y="1401900"/>
            <a:ext cx="599100" cy="291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2" name="Google Shape;832;p70"/>
          <p:cNvSpPr/>
          <p:nvPr/>
        </p:nvSpPr>
        <p:spPr>
          <a:xfrm>
            <a:off x="3783225" y="1474200"/>
            <a:ext cx="1163400" cy="460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3" name="Google Shape;833;p70"/>
          <p:cNvSpPr txBox="1"/>
          <p:nvPr>
            <p:ph idx="1" type="body"/>
          </p:nvPr>
        </p:nvSpPr>
        <p:spPr>
          <a:xfrm>
            <a:off x="2068675" y="759300"/>
            <a:ext cx="6721500" cy="71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to a decimal. 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frac{3}{8}=\frac{3\times125}{8\times125}=\frac{375}{1000}=0.375&quot;&gt;&lt;mfrac&gt;&lt;mn&gt;3&lt;/mn&gt;&lt;mn&gt;8&lt;/mn&gt;&lt;/mfrac&gt;&lt;mo&gt;=&lt;/mo&gt;&lt;mfrac&gt;&lt;mrow&gt;&lt;mn&gt;3&lt;/mn&gt;&lt;mo&gt;×&lt;/mo&gt;&lt;mn&gt;125&lt;/mn&gt;&lt;/mrow&gt;&lt;mrow&gt;&lt;mn&gt;8&lt;/mn&gt;&lt;mo&gt;×&lt;/mo&gt;&lt;mn&gt;125&lt;/mn&gt;&lt;/mrow&gt;&lt;/mfrac&gt;&lt;mo&gt;=&lt;/mo&gt;&lt;mfrac&gt;&lt;mn&gt;375&lt;/mn&gt;&lt;mn&gt;1000&lt;/mn&gt;&lt;/mfrac&gt;&lt;mo&gt;=&lt;/mo&gt;&lt;mn&gt;0.375&lt;/mn&gt;&lt;/math&gt;" id="838" name="Google Shape;838;p71" title="three eighths equals the fraction with numerator 3 times 125 and denominator 8 times 125 equals 375 over 1000 equals 0.3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600" y="1785950"/>
            <a:ext cx="3757541" cy="6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839" name="Google Shape;839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converting fractions to decimals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8}&quot;&gt;&lt;mfrac&gt;&lt;mn&gt;3&lt;/mn&gt;&lt;mn&gt;8&lt;/mn&gt;&lt;/mfrac&gt;&lt;/math&gt;" id="840" name="Google Shape;840;p71" title="three eigh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18950" y="667050"/>
            <a:ext cx="204875" cy="67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887" y="3621012"/>
            <a:ext cx="727174" cy="9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842" name="Google Shape;842;p71"/>
          <p:cNvSpPr txBox="1"/>
          <p:nvPr/>
        </p:nvSpPr>
        <p:spPr>
          <a:xfrm>
            <a:off x="323988" y="4379398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3" name="Google Shape;843;p71"/>
          <p:cNvSpPr txBox="1"/>
          <p:nvPr/>
        </p:nvSpPr>
        <p:spPr>
          <a:xfrm>
            <a:off x="6833034" y="4425523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4" name="Google Shape;844;p7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7330733" y="3524277"/>
            <a:ext cx="804119" cy="1057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5" name="Google Shape;845;p71"/>
          <p:cNvPicPr preferRelativeResize="0"/>
          <p:nvPr/>
        </p:nvPicPr>
        <p:blipFill rotWithShape="1">
          <a:blip r:embed="rId7">
            <a:alphaModFix/>
          </a:blip>
          <a:srcRect b="43690" l="0" r="57905" t="0"/>
          <a:stretch/>
        </p:blipFill>
        <p:spPr>
          <a:xfrm>
            <a:off x="4572000" y="2833700"/>
            <a:ext cx="2662052" cy="1389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6" name="Google Shape;846;p71"/>
          <p:cNvPicPr preferRelativeResize="0"/>
          <p:nvPr/>
        </p:nvPicPr>
        <p:blipFill rotWithShape="1">
          <a:blip r:embed="rId7">
            <a:alphaModFix/>
          </a:blip>
          <a:srcRect b="43690" l="0" r="57905" t="0"/>
          <a:stretch/>
        </p:blipFill>
        <p:spPr>
          <a:xfrm flipH="1">
            <a:off x="1684798" y="3066450"/>
            <a:ext cx="2662052" cy="981301"/>
          </a:xfrm>
          <a:prstGeom prst="rect">
            <a:avLst/>
          </a:prstGeom>
          <a:noFill/>
          <a:ln>
            <a:noFill/>
          </a:ln>
        </p:spPr>
      </p:pic>
      <p:sp>
        <p:nvSpPr>
          <p:cNvPr id="847" name="Google Shape;847;p71"/>
          <p:cNvSpPr txBox="1"/>
          <p:nvPr>
            <p:ph idx="1" type="body"/>
          </p:nvPr>
        </p:nvSpPr>
        <p:spPr>
          <a:xfrm>
            <a:off x="1867650" y="3170375"/>
            <a:ext cx="2479200" cy="98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denominator will we use here?</a:t>
            </a:r>
            <a:endParaRPr sz="1800"/>
          </a:p>
        </p:txBody>
      </p:sp>
      <p:sp>
        <p:nvSpPr>
          <p:cNvPr id="848" name="Google Shape;848;p71"/>
          <p:cNvSpPr txBox="1"/>
          <p:nvPr>
            <p:ph idx="1" type="body"/>
          </p:nvPr>
        </p:nvSpPr>
        <p:spPr>
          <a:xfrm>
            <a:off x="4599188" y="2949500"/>
            <a:ext cx="2479200" cy="98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8 is not a factor of 10 or 100 so it will have to be 1000.</a:t>
            </a:r>
            <a:endParaRPr sz="1800"/>
          </a:p>
        </p:txBody>
      </p:sp>
      <p:sp>
        <p:nvSpPr>
          <p:cNvPr id="849" name="Google Shape;849;p71"/>
          <p:cNvSpPr/>
          <p:nvPr/>
        </p:nvSpPr>
        <p:spPr>
          <a:xfrm>
            <a:off x="2182925" y="2039700"/>
            <a:ext cx="1069200" cy="44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0" name="Google Shape;850;p71"/>
          <p:cNvSpPr/>
          <p:nvPr/>
        </p:nvSpPr>
        <p:spPr>
          <a:xfrm>
            <a:off x="1117538" y="2062575"/>
            <a:ext cx="1007700" cy="417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1" name="Google Shape;851;p71"/>
          <p:cNvSpPr/>
          <p:nvPr/>
        </p:nvSpPr>
        <p:spPr>
          <a:xfrm>
            <a:off x="1102525" y="1747950"/>
            <a:ext cx="1022700" cy="314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2" name="Google Shape;852;p71"/>
          <p:cNvSpPr/>
          <p:nvPr/>
        </p:nvSpPr>
        <p:spPr>
          <a:xfrm>
            <a:off x="2572650" y="1717350"/>
            <a:ext cx="564600" cy="314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3" name="Google Shape;853;p71"/>
          <p:cNvSpPr/>
          <p:nvPr/>
        </p:nvSpPr>
        <p:spPr>
          <a:xfrm>
            <a:off x="3309800" y="1945300"/>
            <a:ext cx="1007700" cy="314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4" name="Google Shape;854;p71"/>
          <p:cNvSpPr txBox="1"/>
          <p:nvPr>
            <p:ph idx="1" type="body"/>
          </p:nvPr>
        </p:nvSpPr>
        <p:spPr>
          <a:xfrm>
            <a:off x="324000" y="759300"/>
            <a:ext cx="1354200" cy="71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Convert</a:t>
            </a:r>
            <a:endParaRPr/>
          </a:p>
        </p:txBody>
      </p:sp>
      <p:sp>
        <p:nvSpPr>
          <p:cNvPr id="855" name="Google Shape;855;p71"/>
          <p:cNvSpPr txBox="1"/>
          <p:nvPr>
            <p:ph idx="1" type="body"/>
          </p:nvPr>
        </p:nvSpPr>
        <p:spPr>
          <a:xfrm>
            <a:off x="1916275" y="759300"/>
            <a:ext cx="6721500" cy="71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to a decimal. 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converting fractions to decimals</a:t>
            </a:r>
            <a:endParaRPr/>
          </a:p>
        </p:txBody>
      </p:sp>
      <p:pic>
        <p:nvPicPr>
          <p:cNvPr id="861" name="Google Shape;861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887" y="3621012"/>
            <a:ext cx="727174" cy="9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p72"/>
          <p:cNvSpPr txBox="1"/>
          <p:nvPr/>
        </p:nvSpPr>
        <p:spPr>
          <a:xfrm>
            <a:off x="323988" y="4379398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3" name="Google Shape;863;p72"/>
          <p:cNvSpPr txBox="1"/>
          <p:nvPr/>
        </p:nvSpPr>
        <p:spPr>
          <a:xfrm>
            <a:off x="6833034" y="4425523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64" name="Google Shape;864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330733" y="3524277"/>
            <a:ext cx="804119" cy="1057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5" name="Google Shape;865;p72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>
            <a:off x="4572000" y="3062300"/>
            <a:ext cx="2662052" cy="1057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66" name="Google Shape;866;p72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>
            <a:off x="1684809" y="2456850"/>
            <a:ext cx="2662052" cy="1695301"/>
          </a:xfrm>
          <a:prstGeom prst="rect">
            <a:avLst/>
          </a:prstGeom>
          <a:noFill/>
          <a:ln>
            <a:noFill/>
          </a:ln>
        </p:spPr>
      </p:pic>
      <p:sp>
        <p:nvSpPr>
          <p:cNvPr id="867" name="Google Shape;867;p72"/>
          <p:cNvSpPr txBox="1"/>
          <p:nvPr>
            <p:ph idx="1" type="body"/>
          </p:nvPr>
        </p:nvSpPr>
        <p:spPr>
          <a:xfrm>
            <a:off x="1867650" y="2560775"/>
            <a:ext cx="2479200" cy="98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can’t make the denominator 10, 100 or 1000.  What do we do now?</a:t>
            </a:r>
            <a:endParaRPr sz="1800"/>
          </a:p>
        </p:txBody>
      </p:sp>
      <p:sp>
        <p:nvSpPr>
          <p:cNvPr id="868" name="Google Shape;868;p72"/>
          <p:cNvSpPr txBox="1"/>
          <p:nvPr>
            <p:ph idx="1" type="body"/>
          </p:nvPr>
        </p:nvSpPr>
        <p:spPr>
          <a:xfrm>
            <a:off x="4599200" y="3178100"/>
            <a:ext cx="2479200" cy="56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Now we need to use my original method.</a:t>
            </a:r>
            <a:endParaRPr sz="1800"/>
          </a:p>
        </p:txBody>
      </p:sp>
      <p:sp>
        <p:nvSpPr>
          <p:cNvPr id="869" name="Google Shape;869;p72"/>
          <p:cNvSpPr txBox="1"/>
          <p:nvPr>
            <p:ph idx="1" type="body"/>
          </p:nvPr>
        </p:nvSpPr>
        <p:spPr>
          <a:xfrm>
            <a:off x="351159" y="1877250"/>
            <a:ext cx="1131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16</a:t>
            </a:r>
            <a:endParaRPr/>
          </a:p>
        </p:txBody>
      </p:sp>
      <p:cxnSp>
        <p:nvCxnSpPr>
          <p:cNvPr id="870" name="Google Shape;870;p72"/>
          <p:cNvCxnSpPr/>
          <p:nvPr/>
        </p:nvCxnSpPr>
        <p:spPr>
          <a:xfrm rot="10800000">
            <a:off x="737450" y="1868925"/>
            <a:ext cx="0" cy="405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1" name="Google Shape;871;p72"/>
          <p:cNvCxnSpPr/>
          <p:nvPr/>
        </p:nvCxnSpPr>
        <p:spPr>
          <a:xfrm rot="10800000">
            <a:off x="718500" y="1861275"/>
            <a:ext cx="7794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2" name="Google Shape;872;p72"/>
          <p:cNvSpPr txBox="1"/>
          <p:nvPr>
            <p:ph idx="1" type="body"/>
          </p:nvPr>
        </p:nvSpPr>
        <p:spPr>
          <a:xfrm>
            <a:off x="813600" y="1464425"/>
            <a:ext cx="4047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0 .</a:t>
            </a:r>
            <a:endParaRPr/>
          </a:p>
        </p:txBody>
      </p:sp>
      <p:sp>
        <p:nvSpPr>
          <p:cNvPr id="873" name="Google Shape;873;p72"/>
          <p:cNvSpPr txBox="1"/>
          <p:nvPr>
            <p:ph idx="1" type="body"/>
          </p:nvPr>
        </p:nvSpPr>
        <p:spPr>
          <a:xfrm>
            <a:off x="1067707" y="1830675"/>
            <a:ext cx="144600" cy="2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5</a:t>
            </a:r>
            <a:endParaRPr sz="1800"/>
          </a:p>
        </p:txBody>
      </p:sp>
      <p:sp>
        <p:nvSpPr>
          <p:cNvPr id="874" name="Google Shape;874;p72"/>
          <p:cNvSpPr txBox="1"/>
          <p:nvPr>
            <p:ph idx="1" type="body"/>
          </p:nvPr>
        </p:nvSpPr>
        <p:spPr>
          <a:xfrm>
            <a:off x="1218300" y="1464425"/>
            <a:ext cx="1446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</a:t>
            </a:r>
            <a:endParaRPr/>
          </a:p>
        </p:txBody>
      </p:sp>
      <p:sp>
        <p:nvSpPr>
          <p:cNvPr id="875" name="Google Shape;875;p72"/>
          <p:cNvSpPr txBox="1"/>
          <p:nvPr>
            <p:ph idx="1" type="body"/>
          </p:nvPr>
        </p:nvSpPr>
        <p:spPr>
          <a:xfrm>
            <a:off x="1471125" y="1876575"/>
            <a:ext cx="1761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</a:t>
            </a:r>
            <a:endParaRPr/>
          </a:p>
        </p:txBody>
      </p:sp>
      <p:sp>
        <p:nvSpPr>
          <p:cNvPr id="876" name="Google Shape;876;p72"/>
          <p:cNvSpPr txBox="1"/>
          <p:nvPr>
            <p:ph idx="1" type="body"/>
          </p:nvPr>
        </p:nvSpPr>
        <p:spPr>
          <a:xfrm>
            <a:off x="1362889" y="1830684"/>
            <a:ext cx="144600" cy="2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</a:t>
            </a:r>
            <a:endParaRPr sz="1800"/>
          </a:p>
        </p:txBody>
      </p:sp>
      <p:sp>
        <p:nvSpPr>
          <p:cNvPr id="877" name="Google Shape;877;p72"/>
          <p:cNvSpPr txBox="1"/>
          <p:nvPr>
            <p:ph idx="1" type="body"/>
          </p:nvPr>
        </p:nvSpPr>
        <p:spPr>
          <a:xfrm>
            <a:off x="1523100" y="1464425"/>
            <a:ext cx="1446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</a:t>
            </a:r>
            <a:endParaRPr/>
          </a:p>
        </p:txBody>
      </p:sp>
      <p:sp>
        <p:nvSpPr>
          <p:cNvPr id="878" name="Google Shape;878;p72"/>
          <p:cNvSpPr txBox="1"/>
          <p:nvPr>
            <p:ph idx="1" type="body"/>
          </p:nvPr>
        </p:nvSpPr>
        <p:spPr>
          <a:xfrm>
            <a:off x="1775925" y="1876575"/>
            <a:ext cx="1761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</a:t>
            </a:r>
            <a:endParaRPr/>
          </a:p>
        </p:txBody>
      </p:sp>
      <p:sp>
        <p:nvSpPr>
          <p:cNvPr id="879" name="Google Shape;879;p72"/>
          <p:cNvSpPr txBox="1"/>
          <p:nvPr>
            <p:ph idx="1" type="body"/>
          </p:nvPr>
        </p:nvSpPr>
        <p:spPr>
          <a:xfrm>
            <a:off x="1667689" y="1830684"/>
            <a:ext cx="144600" cy="2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4</a:t>
            </a:r>
            <a:endParaRPr sz="1800"/>
          </a:p>
        </p:txBody>
      </p:sp>
      <p:sp>
        <p:nvSpPr>
          <p:cNvPr id="880" name="Google Shape;880;p72"/>
          <p:cNvSpPr txBox="1"/>
          <p:nvPr>
            <p:ph idx="1" type="body"/>
          </p:nvPr>
        </p:nvSpPr>
        <p:spPr>
          <a:xfrm>
            <a:off x="1775925" y="1464425"/>
            <a:ext cx="1446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5}{16}&quot;&gt;&lt;mfrac&gt;&lt;mn&gt;5&lt;/mn&gt;&lt;mn&gt;16&lt;/mn&gt;&lt;/mfrac&gt;&lt;/math&gt;" id="881" name="Google Shape;881;p72" title="5 over 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71125" y="683650"/>
            <a:ext cx="307875" cy="560150"/>
          </a:xfrm>
          <a:prstGeom prst="rect">
            <a:avLst/>
          </a:prstGeom>
          <a:noFill/>
          <a:ln>
            <a:noFill/>
          </a:ln>
        </p:spPr>
      </p:pic>
      <p:sp>
        <p:nvSpPr>
          <p:cNvPr id="882" name="Google Shape;882;p72"/>
          <p:cNvSpPr txBox="1"/>
          <p:nvPr>
            <p:ph idx="1" type="body"/>
          </p:nvPr>
        </p:nvSpPr>
        <p:spPr>
          <a:xfrm>
            <a:off x="4617425" y="724150"/>
            <a:ext cx="1407900" cy="199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 × 16 = 16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2</a:t>
            </a:r>
            <a:r>
              <a:rPr lang="en-GB" sz="1800"/>
              <a:t> × 16 = 32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3 × 16 = 48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4 × 16 = 64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5 × 16 = 80</a:t>
            </a:r>
            <a:endParaRPr sz="1800"/>
          </a:p>
        </p:txBody>
      </p:sp>
      <p:sp>
        <p:nvSpPr>
          <p:cNvPr id="883" name="Google Shape;883;p72"/>
          <p:cNvSpPr txBox="1"/>
          <p:nvPr>
            <p:ph idx="1" type="body"/>
          </p:nvPr>
        </p:nvSpPr>
        <p:spPr>
          <a:xfrm>
            <a:off x="2080725" y="1876575"/>
            <a:ext cx="1923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</a:t>
            </a:r>
            <a:endParaRPr/>
          </a:p>
        </p:txBody>
      </p:sp>
      <p:sp>
        <p:nvSpPr>
          <p:cNvPr id="884" name="Google Shape;884;p72"/>
          <p:cNvSpPr txBox="1"/>
          <p:nvPr>
            <p:ph idx="1" type="body"/>
          </p:nvPr>
        </p:nvSpPr>
        <p:spPr>
          <a:xfrm>
            <a:off x="1972489" y="1830684"/>
            <a:ext cx="144600" cy="2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8</a:t>
            </a:r>
            <a:endParaRPr sz="1800"/>
          </a:p>
        </p:txBody>
      </p:sp>
      <p:sp>
        <p:nvSpPr>
          <p:cNvPr id="885" name="Google Shape;885;p72"/>
          <p:cNvSpPr txBox="1"/>
          <p:nvPr>
            <p:ph idx="1" type="body"/>
          </p:nvPr>
        </p:nvSpPr>
        <p:spPr>
          <a:xfrm>
            <a:off x="2080725" y="1464425"/>
            <a:ext cx="1446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5}{16}=0.3125&quot;&gt;&lt;mfrac&gt;&lt;mn&gt;5&lt;/mn&gt;&lt;mn&gt;16&lt;/mn&gt;&lt;/mfrac&gt;&lt;mo&gt;=&lt;/mo&gt;&lt;mn&gt;0.3125&lt;/mn&gt;&lt;/math&gt;" id="886" name="Google Shape;886;p72" title="5 over 16 equals 0.31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20450" y="680850"/>
            <a:ext cx="1407900" cy="5657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87" name="Google Shape;887;p72"/>
          <p:cNvCxnSpPr/>
          <p:nvPr/>
        </p:nvCxnSpPr>
        <p:spPr>
          <a:xfrm rot="10800000">
            <a:off x="1496500" y="1861275"/>
            <a:ext cx="176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8" name="Google Shape;888;p72"/>
          <p:cNvCxnSpPr/>
          <p:nvPr/>
        </p:nvCxnSpPr>
        <p:spPr>
          <a:xfrm rot="10800000">
            <a:off x="1667775" y="1861275"/>
            <a:ext cx="309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9" name="Google Shape;889;p72"/>
          <p:cNvCxnSpPr/>
          <p:nvPr/>
        </p:nvCxnSpPr>
        <p:spPr>
          <a:xfrm rot="10800000">
            <a:off x="1972425" y="1861275"/>
            <a:ext cx="3084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0" name="Google Shape;890;p72"/>
          <p:cNvSpPr txBox="1"/>
          <p:nvPr>
            <p:ph idx="1" type="body"/>
          </p:nvPr>
        </p:nvSpPr>
        <p:spPr>
          <a:xfrm>
            <a:off x="324000" y="759300"/>
            <a:ext cx="1354200" cy="71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Convert</a:t>
            </a:r>
            <a:endParaRPr/>
          </a:p>
        </p:txBody>
      </p:sp>
      <p:sp>
        <p:nvSpPr>
          <p:cNvPr id="891" name="Google Shape;891;p72"/>
          <p:cNvSpPr txBox="1"/>
          <p:nvPr>
            <p:ph idx="1" type="body"/>
          </p:nvPr>
        </p:nvSpPr>
        <p:spPr>
          <a:xfrm>
            <a:off x="1916275" y="759300"/>
            <a:ext cx="2092800" cy="71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to a decimal.  </a:t>
            </a:r>
            <a:endParaRPr/>
          </a:p>
        </p:txBody>
      </p:sp>
      <p:sp>
        <p:nvSpPr>
          <p:cNvPr id="892" name="Google Shape;892;p72"/>
          <p:cNvSpPr txBox="1"/>
          <p:nvPr>
            <p:ph idx="1" type="body"/>
          </p:nvPr>
        </p:nvSpPr>
        <p:spPr>
          <a:xfrm>
            <a:off x="813601" y="1877250"/>
            <a:ext cx="4296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5 .</a:t>
            </a:r>
            <a:endParaRPr/>
          </a:p>
        </p:txBody>
      </p:sp>
      <p:sp>
        <p:nvSpPr>
          <p:cNvPr id="893" name="Google Shape;893;p72"/>
          <p:cNvSpPr txBox="1"/>
          <p:nvPr>
            <p:ph idx="1" type="body"/>
          </p:nvPr>
        </p:nvSpPr>
        <p:spPr>
          <a:xfrm>
            <a:off x="1167025" y="1877250"/>
            <a:ext cx="3093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7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converting fractions to decimals</a:t>
            </a:r>
            <a:endParaRPr/>
          </a:p>
        </p:txBody>
      </p:sp>
      <p:sp>
        <p:nvSpPr>
          <p:cNvPr id="899" name="Google Shape;899;p73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of the following would you use the short division method on to convert to a decimal?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7}{20}&quot;&gt;&lt;mfrac&gt;&lt;mn&gt;7&lt;/mn&gt;&lt;mn&gt;20&lt;/mn&gt;&lt;/mfrac&gt;&lt;/math&gt;" id="900" name="Google Shape;900;p73" title="7 over 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0775" y="1619993"/>
            <a:ext cx="298175" cy="545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7}{32}&quot;&gt;&lt;mfrac&gt;&lt;mn&gt;17&lt;/mn&gt;&lt;mn&gt;32&lt;/mn&gt;&lt;/mfrac&gt;&lt;/math&gt;" id="901" name="Google Shape;901;p73" title="17 over 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0775" y="2425363"/>
            <a:ext cx="298175" cy="5492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&quot;&gt;&lt;mfrac&gt;&lt;mn&gt;4&lt;/mn&gt;&lt;mn&gt;5&lt;/mn&gt;&lt;/mfrac&gt;&lt;/math&gt;" id="902" name="Google Shape;902;p73" title="four fif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8738" y="3234650"/>
            <a:ext cx="162253" cy="5253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8}&quot;&gt;&lt;mfrac&gt;&lt;mn&gt;7&lt;/mn&gt;&lt;mn&gt;8&lt;/mn&gt;&lt;/mfrac&gt;&lt;/math&gt;" id="903" name="Google Shape;903;p73" title="seven eigh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18750" y="4020071"/>
            <a:ext cx="162253" cy="537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4" name="Google Shape;904;p7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46308" y="24904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7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converting fractions to decimals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7}{25}&quot;&gt;&lt;mfrac&gt;&lt;mn&gt;17&lt;/mn&gt;&lt;mn&gt;25&lt;/mn&gt;&lt;/mfrac&gt;&lt;/math&gt;" id="910" name="Google Shape;910;p74" title="17 over 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5209" y="717555"/>
            <a:ext cx="282140" cy="5115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20}&quot;&gt;&lt;mfrac&gt;&lt;mn&gt;9&lt;/mn&gt;&lt;mn&gt;20&lt;/mn&gt;&lt;/mfrac&gt;&lt;/math&gt;" id="911" name="Google Shape;911;p74" title="9 over 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5449" y="711911"/>
            <a:ext cx="282140" cy="5228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7}{25}=\frac{17\times4}{25\times4}=\frac{68}{100}=0.68&quot;&gt;&lt;mfrac&gt;&lt;mn&gt;17&lt;/mn&gt;&lt;mn&gt;25&lt;/mn&gt;&lt;/mfrac&gt;&lt;mo&gt;=&lt;/mo&gt;&lt;mfrac&gt;&lt;mrow&gt;&lt;mn&gt;17&lt;/mn&gt;&lt;mo&gt;×&lt;/mo&gt;&lt;mn&gt;4&lt;/mn&gt;&lt;/mrow&gt;&lt;mrow&gt;&lt;mn&gt;25&lt;/mn&gt;&lt;mo&gt;×&lt;/mo&gt;&lt;mn&gt;4&lt;/mn&gt;&lt;/mrow&gt;&lt;/mfrac&gt;&lt;mo&gt;=&lt;/mo&gt;&lt;mfrac&gt;&lt;mn&gt;68&lt;/mn&gt;&lt;mn&gt;100&lt;/mn&gt;&lt;/mfrac&gt;&lt;mo&gt;=&lt;/mo&gt;&lt;mn&gt;0.68&lt;/mn&gt;&lt;/math&gt;" id="912" name="Google Shape;912;p74" title="17 over 25 equals the fraction with numerator 17 times 4 and denominator 25 times 4 equals 68 over 100 equals 0.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7825" y="1620000"/>
            <a:ext cx="3919350" cy="716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20}=\frac{9\times5}{20\times5}=\frac{45}{100}=0.45&quot;&gt;&lt;mfrac&gt;&lt;mn&gt;9&lt;/mn&gt;&lt;mn&gt;20&lt;/mn&gt;&lt;/mfrac&gt;&lt;mo&gt;=&lt;/mo&gt;&lt;mfrac&gt;&lt;mrow&gt;&lt;mn&gt;9&lt;/mn&gt;&lt;mo&gt;×&lt;/mo&gt;&lt;mn&gt;5&lt;/mn&gt;&lt;/mrow&gt;&lt;mrow&gt;&lt;mn&gt;20&lt;/mn&gt;&lt;mo&gt;×&lt;/mo&gt;&lt;mn&gt;5&lt;/mn&gt;&lt;/mrow&gt;&lt;/mfrac&gt;&lt;mo&gt;=&lt;/mo&gt;&lt;mfrac&gt;&lt;mn&gt;45&lt;/mn&gt;&lt;mn&gt;100&lt;/mn&gt;&lt;/mfrac&gt;&lt;mo&gt;=&lt;/mo&gt;&lt;mn&gt;0.45&lt;/mn&gt;&lt;/math&gt;" id="913" name="Google Shape;913;p74" title="9 over 20 equals the fraction with numerator 9 times 5 and denominator 20 times 5 equals 45 over 100 equals 0.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42809" y="1620000"/>
            <a:ext cx="4177301" cy="765250"/>
          </a:xfrm>
          <a:prstGeom prst="rect">
            <a:avLst/>
          </a:prstGeom>
          <a:noFill/>
          <a:ln>
            <a:noFill/>
          </a:ln>
        </p:spPr>
      </p:pic>
      <p:sp>
        <p:nvSpPr>
          <p:cNvPr id="914" name="Google Shape;914;p74"/>
          <p:cNvSpPr/>
          <p:nvPr/>
        </p:nvSpPr>
        <p:spPr>
          <a:xfrm>
            <a:off x="2257975" y="1901775"/>
            <a:ext cx="967800" cy="48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5" name="Google Shape;915;p74"/>
          <p:cNvSpPr/>
          <p:nvPr/>
        </p:nvSpPr>
        <p:spPr>
          <a:xfrm>
            <a:off x="1200900" y="1946700"/>
            <a:ext cx="967800" cy="426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6" name="Google Shape;916;p74"/>
          <p:cNvSpPr/>
          <p:nvPr/>
        </p:nvSpPr>
        <p:spPr>
          <a:xfrm>
            <a:off x="1245750" y="1520100"/>
            <a:ext cx="967800" cy="426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7" name="Google Shape;917;p74"/>
          <p:cNvSpPr/>
          <p:nvPr/>
        </p:nvSpPr>
        <p:spPr>
          <a:xfrm>
            <a:off x="2745125" y="1449338"/>
            <a:ext cx="417600" cy="426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8" name="Google Shape;918;p74"/>
          <p:cNvSpPr/>
          <p:nvPr/>
        </p:nvSpPr>
        <p:spPr>
          <a:xfrm>
            <a:off x="3315050" y="1765125"/>
            <a:ext cx="967800" cy="426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9" name="Google Shape;919;p74"/>
          <p:cNvSpPr txBox="1"/>
          <p:nvPr>
            <p:ph idx="4294967295" type="body"/>
          </p:nvPr>
        </p:nvSpPr>
        <p:spPr>
          <a:xfrm>
            <a:off x="324000" y="759300"/>
            <a:ext cx="1354200" cy="71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Convert</a:t>
            </a:r>
            <a:endParaRPr sz="1800"/>
          </a:p>
        </p:txBody>
      </p:sp>
      <p:sp>
        <p:nvSpPr>
          <p:cNvPr id="920" name="Google Shape;920;p74"/>
          <p:cNvSpPr txBox="1"/>
          <p:nvPr>
            <p:ph idx="4294967295" type="body"/>
          </p:nvPr>
        </p:nvSpPr>
        <p:spPr>
          <a:xfrm>
            <a:off x="1687675" y="759300"/>
            <a:ext cx="2224800" cy="71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to a decimal.  </a:t>
            </a:r>
            <a:endParaRPr sz="1800"/>
          </a:p>
        </p:txBody>
      </p:sp>
      <p:sp>
        <p:nvSpPr>
          <p:cNvPr id="921" name="Google Shape;921;p74"/>
          <p:cNvSpPr txBox="1"/>
          <p:nvPr>
            <p:ph idx="4294967295" type="body"/>
          </p:nvPr>
        </p:nvSpPr>
        <p:spPr>
          <a:xfrm>
            <a:off x="4819800" y="759300"/>
            <a:ext cx="1354200" cy="71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Convert</a:t>
            </a:r>
            <a:endParaRPr sz="1800"/>
          </a:p>
        </p:txBody>
      </p:sp>
      <p:sp>
        <p:nvSpPr>
          <p:cNvPr id="922" name="Google Shape;922;p74"/>
          <p:cNvSpPr txBox="1"/>
          <p:nvPr>
            <p:ph idx="4294967295" type="body"/>
          </p:nvPr>
        </p:nvSpPr>
        <p:spPr>
          <a:xfrm>
            <a:off x="6259675" y="759300"/>
            <a:ext cx="6721500" cy="71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to a decimal.  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75"/>
          <p:cNvSpPr txBox="1"/>
          <p:nvPr>
            <p:ph idx="4294967295" type="body"/>
          </p:nvPr>
        </p:nvSpPr>
        <p:spPr>
          <a:xfrm>
            <a:off x="4769016" y="1856275"/>
            <a:ext cx="11688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16 9 . 0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28" name="Google Shape;928;p75"/>
          <p:cNvSpPr txBox="1"/>
          <p:nvPr>
            <p:ph idx="4294967295" type="body"/>
          </p:nvPr>
        </p:nvSpPr>
        <p:spPr>
          <a:xfrm>
            <a:off x="387375" y="1856272"/>
            <a:ext cx="1011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32</a:t>
            </a:r>
            <a:endParaRPr/>
          </a:p>
        </p:txBody>
      </p:sp>
      <p:sp>
        <p:nvSpPr>
          <p:cNvPr id="929" name="Google Shape;929;p75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converting fractions to decimals</a:t>
            </a:r>
            <a:endParaRPr/>
          </a:p>
        </p:txBody>
      </p:sp>
      <p:cxnSp>
        <p:nvCxnSpPr>
          <p:cNvPr id="930" name="Google Shape;930;p75"/>
          <p:cNvCxnSpPr/>
          <p:nvPr/>
        </p:nvCxnSpPr>
        <p:spPr>
          <a:xfrm rot="10800000">
            <a:off x="737450" y="1868925"/>
            <a:ext cx="0" cy="405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1" name="Google Shape;931;p75"/>
          <p:cNvCxnSpPr/>
          <p:nvPr/>
        </p:nvCxnSpPr>
        <p:spPr>
          <a:xfrm rot="10800000">
            <a:off x="718450" y="1861525"/>
            <a:ext cx="7782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2" name="Google Shape;932;p75"/>
          <p:cNvSpPr txBox="1"/>
          <p:nvPr>
            <p:ph idx="4294967295" type="body"/>
          </p:nvPr>
        </p:nvSpPr>
        <p:spPr>
          <a:xfrm>
            <a:off x="813600" y="1456100"/>
            <a:ext cx="4047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0 .</a:t>
            </a:r>
            <a:endParaRPr/>
          </a:p>
        </p:txBody>
      </p:sp>
      <p:sp>
        <p:nvSpPr>
          <p:cNvPr id="933" name="Google Shape;933;p75"/>
          <p:cNvSpPr txBox="1"/>
          <p:nvPr>
            <p:ph idx="4294967295" type="body"/>
          </p:nvPr>
        </p:nvSpPr>
        <p:spPr>
          <a:xfrm>
            <a:off x="1131254" y="1830675"/>
            <a:ext cx="144600" cy="2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400"/>
              <a:t>7</a:t>
            </a:r>
            <a:endParaRPr sz="1200"/>
          </a:p>
        </p:txBody>
      </p:sp>
      <p:sp>
        <p:nvSpPr>
          <p:cNvPr id="934" name="Google Shape;934;p75"/>
          <p:cNvSpPr txBox="1"/>
          <p:nvPr>
            <p:ph idx="4294967295" type="body"/>
          </p:nvPr>
        </p:nvSpPr>
        <p:spPr>
          <a:xfrm>
            <a:off x="1218300" y="1456100"/>
            <a:ext cx="1446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endParaRPr/>
          </a:p>
        </p:txBody>
      </p:sp>
      <p:sp>
        <p:nvSpPr>
          <p:cNvPr id="935" name="Google Shape;935;p75"/>
          <p:cNvSpPr txBox="1"/>
          <p:nvPr>
            <p:ph idx="4294967295" type="body"/>
          </p:nvPr>
        </p:nvSpPr>
        <p:spPr>
          <a:xfrm>
            <a:off x="1471125" y="1861525"/>
            <a:ext cx="1446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</a:t>
            </a:r>
            <a:endParaRPr/>
          </a:p>
        </p:txBody>
      </p:sp>
      <p:sp>
        <p:nvSpPr>
          <p:cNvPr id="936" name="Google Shape;936;p75"/>
          <p:cNvSpPr txBox="1"/>
          <p:nvPr>
            <p:ph idx="4294967295" type="body"/>
          </p:nvPr>
        </p:nvSpPr>
        <p:spPr>
          <a:xfrm>
            <a:off x="1381869" y="1830684"/>
            <a:ext cx="144600" cy="2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400"/>
              <a:t>6</a:t>
            </a:r>
            <a:endParaRPr sz="1400"/>
          </a:p>
        </p:txBody>
      </p:sp>
      <p:sp>
        <p:nvSpPr>
          <p:cNvPr id="937" name="Google Shape;937;p75"/>
          <p:cNvSpPr txBox="1"/>
          <p:nvPr>
            <p:ph idx="4294967295" type="body"/>
          </p:nvPr>
        </p:nvSpPr>
        <p:spPr>
          <a:xfrm>
            <a:off x="1523100" y="1456100"/>
            <a:ext cx="1446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</a:t>
            </a:r>
            <a:endParaRPr/>
          </a:p>
        </p:txBody>
      </p:sp>
      <p:sp>
        <p:nvSpPr>
          <p:cNvPr id="938" name="Google Shape;938;p75"/>
          <p:cNvSpPr txBox="1"/>
          <p:nvPr>
            <p:ph idx="4294967295" type="body"/>
          </p:nvPr>
        </p:nvSpPr>
        <p:spPr>
          <a:xfrm>
            <a:off x="1788578" y="1861525"/>
            <a:ext cx="1446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</a:t>
            </a:r>
            <a:endParaRPr/>
          </a:p>
        </p:txBody>
      </p:sp>
      <p:sp>
        <p:nvSpPr>
          <p:cNvPr id="939" name="Google Shape;939;p75"/>
          <p:cNvSpPr txBox="1"/>
          <p:nvPr>
            <p:ph idx="4294967295" type="body"/>
          </p:nvPr>
        </p:nvSpPr>
        <p:spPr>
          <a:xfrm>
            <a:off x="1615722" y="1830675"/>
            <a:ext cx="304800" cy="2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400"/>
              <a:t>28</a:t>
            </a:r>
            <a:endParaRPr sz="1400"/>
          </a:p>
        </p:txBody>
      </p:sp>
      <p:sp>
        <p:nvSpPr>
          <p:cNvPr id="940" name="Google Shape;940;p75"/>
          <p:cNvSpPr txBox="1"/>
          <p:nvPr>
            <p:ph idx="4294967295" type="body"/>
          </p:nvPr>
        </p:nvSpPr>
        <p:spPr>
          <a:xfrm>
            <a:off x="1775925" y="1456100"/>
            <a:ext cx="1446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8</a:t>
            </a:r>
            <a:endParaRPr/>
          </a:p>
        </p:txBody>
      </p:sp>
      <p:sp>
        <p:nvSpPr>
          <p:cNvPr id="941" name="Google Shape;941;p75"/>
          <p:cNvSpPr txBox="1"/>
          <p:nvPr>
            <p:ph idx="4294967295" type="body"/>
          </p:nvPr>
        </p:nvSpPr>
        <p:spPr>
          <a:xfrm>
            <a:off x="2906775" y="1969800"/>
            <a:ext cx="1407900" cy="280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 × 32 = 32</a:t>
            </a:r>
            <a:endParaRPr sz="1800"/>
          </a:p>
          <a:p>
            <a:pPr indent="0" lvl="0" marL="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2 × 32 = 64</a:t>
            </a:r>
            <a:endParaRPr sz="1800"/>
          </a:p>
          <a:p>
            <a:pPr indent="0" lvl="0" marL="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3 × 32 = 96</a:t>
            </a:r>
            <a:endParaRPr sz="1800"/>
          </a:p>
          <a:p>
            <a:pPr indent="0" lvl="0" marL="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4 × 32 = 128</a:t>
            </a:r>
            <a:endParaRPr sz="1800"/>
          </a:p>
          <a:p>
            <a:pPr indent="0" lvl="0" marL="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5 × 32 = 160</a:t>
            </a:r>
            <a:endParaRPr sz="1800"/>
          </a:p>
          <a:p>
            <a:pPr indent="0" lvl="0" marL="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6</a:t>
            </a:r>
            <a:r>
              <a:rPr lang="en-GB" sz="1800"/>
              <a:t> × 32 = 192</a:t>
            </a:r>
            <a:endParaRPr sz="1800"/>
          </a:p>
          <a:p>
            <a:pPr indent="0" lvl="0" marL="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7 × 32 = 224</a:t>
            </a:r>
            <a:endParaRPr sz="1800"/>
          </a:p>
          <a:p>
            <a:pPr indent="0" lvl="0" marL="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8 × 32 = 256</a:t>
            </a:r>
            <a:endParaRPr sz="1800"/>
          </a:p>
          <a:p>
            <a:pPr indent="0" lvl="0" marL="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9 × 32 = 288</a:t>
            </a:r>
            <a:endParaRPr sz="1800"/>
          </a:p>
          <a:p>
            <a:pPr indent="0" lvl="0" marL="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10 × 32 = 320</a:t>
            </a:r>
            <a:endParaRPr sz="1800"/>
          </a:p>
          <a:p>
            <a:pPr indent="0" lvl="0" marL="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6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42" name="Google Shape;942;p75"/>
          <p:cNvSpPr txBox="1"/>
          <p:nvPr>
            <p:ph idx="4294967295" type="body"/>
          </p:nvPr>
        </p:nvSpPr>
        <p:spPr>
          <a:xfrm>
            <a:off x="2080725" y="1861525"/>
            <a:ext cx="1446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</a:t>
            </a:r>
            <a:endParaRPr/>
          </a:p>
        </p:txBody>
      </p:sp>
      <p:sp>
        <p:nvSpPr>
          <p:cNvPr id="943" name="Google Shape;943;p75"/>
          <p:cNvSpPr txBox="1"/>
          <p:nvPr>
            <p:ph idx="4294967295" type="body"/>
          </p:nvPr>
        </p:nvSpPr>
        <p:spPr>
          <a:xfrm>
            <a:off x="1912509" y="1830675"/>
            <a:ext cx="276000" cy="2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400"/>
              <a:t>24</a:t>
            </a:r>
            <a:endParaRPr sz="1400"/>
          </a:p>
        </p:txBody>
      </p:sp>
      <p:sp>
        <p:nvSpPr>
          <p:cNvPr id="944" name="Google Shape;944;p75"/>
          <p:cNvSpPr txBox="1"/>
          <p:nvPr>
            <p:ph idx="4294967295" type="body"/>
          </p:nvPr>
        </p:nvSpPr>
        <p:spPr>
          <a:xfrm>
            <a:off x="2080725" y="1456100"/>
            <a:ext cx="1446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7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7}{32}&quot;&gt;&lt;mfrac&gt;&lt;mn&gt;7&lt;/mn&gt;&lt;mn&gt;32&lt;/mn&gt;&lt;/mfrac&gt;&lt;/math&gt;" id="945" name="Google Shape;945;p75" title="7 over 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7100" y="726692"/>
            <a:ext cx="276000" cy="504790"/>
          </a:xfrm>
          <a:prstGeom prst="rect">
            <a:avLst/>
          </a:prstGeom>
          <a:noFill/>
          <a:ln>
            <a:noFill/>
          </a:ln>
        </p:spPr>
      </p:pic>
      <p:sp>
        <p:nvSpPr>
          <p:cNvPr id="946" name="Google Shape;946;p75"/>
          <p:cNvSpPr txBox="1"/>
          <p:nvPr>
            <p:ph idx="4294967295" type="body"/>
          </p:nvPr>
        </p:nvSpPr>
        <p:spPr>
          <a:xfrm>
            <a:off x="2385525" y="1861525"/>
            <a:ext cx="1446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</a:t>
            </a:r>
            <a:endParaRPr/>
          </a:p>
        </p:txBody>
      </p:sp>
      <p:sp>
        <p:nvSpPr>
          <p:cNvPr id="947" name="Google Shape;947;p75"/>
          <p:cNvSpPr txBox="1"/>
          <p:nvPr>
            <p:ph idx="4294967295" type="body"/>
          </p:nvPr>
        </p:nvSpPr>
        <p:spPr>
          <a:xfrm>
            <a:off x="2217309" y="1830675"/>
            <a:ext cx="276000" cy="2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400"/>
              <a:t>16</a:t>
            </a:r>
            <a:endParaRPr sz="1400"/>
          </a:p>
        </p:txBody>
      </p:sp>
      <p:sp>
        <p:nvSpPr>
          <p:cNvPr id="948" name="Google Shape;948;p75"/>
          <p:cNvSpPr txBox="1"/>
          <p:nvPr>
            <p:ph idx="4294967295" type="body"/>
          </p:nvPr>
        </p:nvSpPr>
        <p:spPr>
          <a:xfrm>
            <a:off x="2385525" y="1456100"/>
            <a:ext cx="1446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9}{16}&quot;&gt;&lt;mfrac&gt;&lt;mn&gt;9&lt;/mn&gt;&lt;mn&gt;16&lt;/mn&gt;&lt;/mfrac&gt;&lt;/math&gt;" id="949" name="Google Shape;949;p75" title="9 over 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0300" y="727325"/>
            <a:ext cx="276000" cy="503514"/>
          </a:xfrm>
          <a:prstGeom prst="rect">
            <a:avLst/>
          </a:prstGeom>
          <a:noFill/>
          <a:ln>
            <a:noFill/>
          </a:ln>
        </p:spPr>
      </p:pic>
      <p:sp>
        <p:nvSpPr>
          <p:cNvPr id="950" name="Google Shape;950;p75"/>
          <p:cNvSpPr txBox="1"/>
          <p:nvPr>
            <p:ph idx="4294967295" type="body"/>
          </p:nvPr>
        </p:nvSpPr>
        <p:spPr>
          <a:xfrm>
            <a:off x="7021575" y="1969800"/>
            <a:ext cx="1722300" cy="286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 × 16 = 16</a:t>
            </a:r>
            <a:endParaRPr sz="1800"/>
          </a:p>
          <a:p>
            <a:pPr indent="0" lvl="0" marL="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2 × 16 = 32</a:t>
            </a:r>
            <a:endParaRPr sz="1800"/>
          </a:p>
          <a:p>
            <a:pPr indent="0" lvl="0" marL="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3 × 16 = 48</a:t>
            </a:r>
            <a:endParaRPr sz="1800"/>
          </a:p>
          <a:p>
            <a:pPr indent="0" lvl="0" marL="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4 × 16 = 64</a:t>
            </a:r>
            <a:endParaRPr sz="1800"/>
          </a:p>
          <a:p>
            <a:pPr indent="0" lvl="0" marL="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5 × 16 = 80</a:t>
            </a:r>
            <a:endParaRPr sz="1800"/>
          </a:p>
          <a:p>
            <a:pPr indent="0" lvl="0" marL="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6 × 16 = 96</a:t>
            </a:r>
            <a:endParaRPr sz="1800"/>
          </a:p>
          <a:p>
            <a:pPr indent="0" lvl="0" marL="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7 × 16 = 112</a:t>
            </a:r>
            <a:endParaRPr sz="1800"/>
          </a:p>
          <a:p>
            <a:pPr indent="0" lvl="0" marL="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8 × 16 = 128</a:t>
            </a:r>
            <a:endParaRPr sz="1800"/>
          </a:p>
          <a:p>
            <a:pPr indent="0" lvl="0" marL="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9 × 16 = 144</a:t>
            </a:r>
            <a:endParaRPr sz="1800"/>
          </a:p>
          <a:p>
            <a:pPr indent="0" lvl="0" marL="0" rtl="0" algn="l">
              <a:lnSpc>
                <a:spcPct val="6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10 × 16 = 160</a:t>
            </a:r>
            <a:endParaRPr sz="1800"/>
          </a:p>
        </p:txBody>
      </p:sp>
      <p:cxnSp>
        <p:nvCxnSpPr>
          <p:cNvPr id="951" name="Google Shape;951;p75"/>
          <p:cNvCxnSpPr/>
          <p:nvPr/>
        </p:nvCxnSpPr>
        <p:spPr>
          <a:xfrm rot="10800000">
            <a:off x="5080850" y="1868925"/>
            <a:ext cx="0" cy="405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2" name="Google Shape;952;p75"/>
          <p:cNvCxnSpPr/>
          <p:nvPr/>
        </p:nvCxnSpPr>
        <p:spPr>
          <a:xfrm rot="10800000">
            <a:off x="5061850" y="1861525"/>
            <a:ext cx="7782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3" name="Google Shape;953;p75"/>
          <p:cNvSpPr txBox="1"/>
          <p:nvPr>
            <p:ph idx="4294967295" type="body"/>
          </p:nvPr>
        </p:nvSpPr>
        <p:spPr>
          <a:xfrm>
            <a:off x="5157000" y="1464425"/>
            <a:ext cx="4047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0 .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54" name="Google Shape;954;p75"/>
          <p:cNvSpPr txBox="1"/>
          <p:nvPr>
            <p:ph idx="4294967295" type="body"/>
          </p:nvPr>
        </p:nvSpPr>
        <p:spPr>
          <a:xfrm>
            <a:off x="5411107" y="1830675"/>
            <a:ext cx="144600" cy="2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9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55" name="Google Shape;955;p75"/>
          <p:cNvSpPr txBox="1"/>
          <p:nvPr>
            <p:ph idx="4294967295" type="body"/>
          </p:nvPr>
        </p:nvSpPr>
        <p:spPr>
          <a:xfrm>
            <a:off x="5561700" y="1456100"/>
            <a:ext cx="1446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56" name="Google Shape;956;p75"/>
          <p:cNvSpPr txBox="1"/>
          <p:nvPr>
            <p:ph idx="4294967295" type="body"/>
          </p:nvPr>
        </p:nvSpPr>
        <p:spPr>
          <a:xfrm>
            <a:off x="5833505" y="1861525"/>
            <a:ext cx="1446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57" name="Google Shape;957;p75"/>
          <p:cNvSpPr txBox="1"/>
          <p:nvPr>
            <p:ph idx="4294967295" type="body"/>
          </p:nvPr>
        </p:nvSpPr>
        <p:spPr>
          <a:xfrm>
            <a:off x="5678611" y="1830675"/>
            <a:ext cx="197700" cy="2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10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58" name="Google Shape;958;p75"/>
          <p:cNvSpPr txBox="1"/>
          <p:nvPr>
            <p:ph idx="4294967295" type="body"/>
          </p:nvPr>
        </p:nvSpPr>
        <p:spPr>
          <a:xfrm>
            <a:off x="5866500" y="1456100"/>
            <a:ext cx="1446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6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59" name="Google Shape;959;p75"/>
          <p:cNvSpPr txBox="1"/>
          <p:nvPr>
            <p:ph idx="4294967295" type="body"/>
          </p:nvPr>
        </p:nvSpPr>
        <p:spPr>
          <a:xfrm>
            <a:off x="6119325" y="1861525"/>
            <a:ext cx="1446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0" name="Google Shape;960;p75"/>
          <p:cNvSpPr txBox="1"/>
          <p:nvPr>
            <p:ph idx="4294967295" type="body"/>
          </p:nvPr>
        </p:nvSpPr>
        <p:spPr>
          <a:xfrm>
            <a:off x="5984428" y="1830675"/>
            <a:ext cx="304800" cy="2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4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1" name="Google Shape;961;p75"/>
          <p:cNvSpPr txBox="1"/>
          <p:nvPr>
            <p:ph idx="4294967295" type="body"/>
          </p:nvPr>
        </p:nvSpPr>
        <p:spPr>
          <a:xfrm>
            <a:off x="6119325" y="1464425"/>
            <a:ext cx="1446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2" name="Google Shape;962;p75"/>
          <p:cNvSpPr txBox="1"/>
          <p:nvPr>
            <p:ph idx="4294967295" type="body"/>
          </p:nvPr>
        </p:nvSpPr>
        <p:spPr>
          <a:xfrm>
            <a:off x="6424125" y="1861525"/>
            <a:ext cx="1446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3" name="Google Shape;963;p75"/>
          <p:cNvSpPr txBox="1"/>
          <p:nvPr>
            <p:ph idx="4294967295" type="body"/>
          </p:nvPr>
        </p:nvSpPr>
        <p:spPr>
          <a:xfrm>
            <a:off x="6274888" y="1830675"/>
            <a:ext cx="276000" cy="2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8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4" name="Google Shape;964;p75"/>
          <p:cNvSpPr txBox="1"/>
          <p:nvPr>
            <p:ph idx="4294967295" type="body"/>
          </p:nvPr>
        </p:nvSpPr>
        <p:spPr>
          <a:xfrm>
            <a:off x="6424125" y="1464425"/>
            <a:ext cx="1446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5" name="Google Shape;965;p75"/>
          <p:cNvSpPr txBox="1"/>
          <p:nvPr>
            <p:ph idx="4294967295" type="body"/>
          </p:nvPr>
        </p:nvSpPr>
        <p:spPr>
          <a:xfrm>
            <a:off x="324000" y="759300"/>
            <a:ext cx="1354200" cy="71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Convert</a:t>
            </a:r>
            <a:endParaRPr sz="1800"/>
          </a:p>
        </p:txBody>
      </p:sp>
      <p:sp>
        <p:nvSpPr>
          <p:cNvPr id="966" name="Google Shape;966;p75"/>
          <p:cNvSpPr txBox="1"/>
          <p:nvPr>
            <p:ph idx="4294967295" type="body"/>
          </p:nvPr>
        </p:nvSpPr>
        <p:spPr>
          <a:xfrm>
            <a:off x="1687675" y="759300"/>
            <a:ext cx="2224800" cy="71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to a decimal.  </a:t>
            </a:r>
            <a:endParaRPr sz="1800"/>
          </a:p>
        </p:txBody>
      </p:sp>
      <p:sp>
        <p:nvSpPr>
          <p:cNvPr id="967" name="Google Shape;967;p75"/>
          <p:cNvSpPr txBox="1"/>
          <p:nvPr>
            <p:ph idx="4294967295" type="body"/>
          </p:nvPr>
        </p:nvSpPr>
        <p:spPr>
          <a:xfrm>
            <a:off x="4819800" y="759300"/>
            <a:ext cx="1354200" cy="71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Convert</a:t>
            </a:r>
            <a:endParaRPr sz="1800"/>
          </a:p>
        </p:txBody>
      </p:sp>
      <p:sp>
        <p:nvSpPr>
          <p:cNvPr id="968" name="Google Shape;968;p75"/>
          <p:cNvSpPr txBox="1"/>
          <p:nvPr>
            <p:ph idx="4294967295" type="body"/>
          </p:nvPr>
        </p:nvSpPr>
        <p:spPr>
          <a:xfrm>
            <a:off x="6183475" y="759300"/>
            <a:ext cx="2224800" cy="71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to a decimal.  </a:t>
            </a:r>
            <a:endParaRPr sz="1800"/>
          </a:p>
        </p:txBody>
      </p:sp>
      <p:sp>
        <p:nvSpPr>
          <p:cNvPr id="969" name="Google Shape;969;p75"/>
          <p:cNvSpPr txBox="1"/>
          <p:nvPr>
            <p:ph idx="4294967295" type="body"/>
          </p:nvPr>
        </p:nvSpPr>
        <p:spPr>
          <a:xfrm>
            <a:off x="844625" y="1856275"/>
            <a:ext cx="7071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7 .</a:t>
            </a:r>
            <a:endParaRPr/>
          </a:p>
        </p:txBody>
      </p:sp>
      <p:sp>
        <p:nvSpPr>
          <p:cNvPr id="970" name="Google Shape;970;p75"/>
          <p:cNvSpPr txBox="1"/>
          <p:nvPr>
            <p:ph idx="4294967295" type="body"/>
          </p:nvPr>
        </p:nvSpPr>
        <p:spPr>
          <a:xfrm>
            <a:off x="1218300" y="1856275"/>
            <a:ext cx="4857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7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Reviewing converting fractions to decimals</a:t>
            </a:r>
            <a:endParaRPr/>
          </a:p>
        </p:txBody>
      </p:sp>
      <p:sp>
        <p:nvSpPr>
          <p:cNvPr id="976" name="Google Shape;976;p76"/>
          <p:cNvSpPr txBox="1"/>
          <p:nvPr>
            <p:ph idx="1" type="body"/>
          </p:nvPr>
        </p:nvSpPr>
        <p:spPr>
          <a:xfrm>
            <a:off x="324000" y="759300"/>
            <a:ext cx="8237700" cy="77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 the mistakes in this puzzle and correct them.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Each fraction should meet up with its decimal equivalent.</a:t>
            </a:r>
            <a:endParaRPr/>
          </a:p>
        </p:txBody>
      </p:sp>
      <p:graphicFrame>
        <p:nvGraphicFramePr>
          <p:cNvPr id="977" name="Google Shape;977;p76"/>
          <p:cNvGraphicFramePr/>
          <p:nvPr/>
        </p:nvGraphicFramePr>
        <p:xfrm>
          <a:off x="952500" y="164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{AD689497-3E43-44C1-AD14-5DB51BF8F12A}</a:tableStyleId>
              </a:tblPr>
              <a:tblGrid>
                <a:gridCol w="2413000"/>
                <a:gridCol w="2413000"/>
                <a:gridCol w="2413000"/>
              </a:tblGrid>
              <a:tr h="774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4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4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4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4}{5}&quot;&gt;&lt;mfrac&gt;&lt;mn&gt;4&lt;/mn&gt;&lt;mn&gt;5&lt;/mn&gt;&lt;/mfrac&gt;&lt;/math&gt;" id="978" name="Google Shape;978;p76" title="four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2000" y="1954766"/>
            <a:ext cx="132841" cy="4301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20}&quot;&gt;&lt;mfrac&gt;&lt;mn&gt;3&lt;/mn&gt;&lt;mn&gt;20&lt;/mn&gt;&lt;/mfrac&gt;&lt;/math&gt;" id="979" name="Google Shape;979;p76" title="3 over 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2842" y="1829146"/>
            <a:ext cx="215076" cy="3986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}{50}&quot;&gt;&lt;mfrac&gt;&lt;mn&gt;11&lt;/mn&gt;&lt;mn&gt;50&lt;/mn&gt;&lt;/mfrac&gt;&lt;/math&gt;" id="980" name="Google Shape;980;p76" title="11 over 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40888" y="3552188"/>
            <a:ext cx="215076" cy="3923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3}{25}\end{array}&quot;&gt;&lt;mtable columnalign=&quot;left&quot; columnspacing=&quot;1em&quot; rowspacing=&quot;4pt&quot;&gt;&lt;mtr&gt;&lt;mtd&gt;&lt;mfrac&gt;&lt;mn&gt;3&lt;/mn&gt;&lt;mn&gt;25&lt;/mn&gt;&lt;/mfrac&gt;&lt;/mtd&gt;&lt;/mtr&gt;&lt;/mtable&gt;&lt;/math&gt;" id="981" name="Google Shape;981;p76" title="1 lines Line 1: 3 over 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72842" y="3381400"/>
            <a:ext cx="244472" cy="39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7}{25}\end{array}&quot;&gt;&lt;mtable columnalign=&quot;left&quot; columnspacing=&quot;1em&quot; rowspacing=&quot;4pt&quot;&gt;&lt;mtr&gt;&lt;mtd&gt;&lt;mfrac&gt;&lt;mn&gt;17&lt;/mn&gt;&lt;mn&gt;25&lt;/mn&gt;&lt;/mfrac&gt;&lt;/mtd&gt;&lt;/mtr&gt;&lt;/mtable&gt;&lt;/math&gt;" id="982" name="Google Shape;982;p76" title="1 lines Line 1: 17 over 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51364" y="2451800"/>
            <a:ext cx="241255" cy="39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5}{8}\end{array}&quot;&gt;&lt;mtable columnalign=&quot;left&quot; columnspacing=&quot;1em&quot; rowspacing=&quot;4pt&quot;&gt;&lt;mtr&gt;&lt;mtd&gt;&lt;mfrac&gt;&lt;mn&gt;5&lt;/mn&gt;&lt;mn&gt;8&lt;/mn&gt;&lt;/mfrac&gt;&lt;/mtd&gt;&lt;/mtr&gt;&lt;/mtable&gt;&lt;/math&gt;" id="983" name="Google Shape;983;p76" title="1 lines Line 1: five eigh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555925" y="1801200"/>
            <a:ext cx="163599" cy="45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3}{20}\end{array}&quot;&gt;&lt;mtable columnalign=&quot;left&quot; columnspacing=&quot;1em&quot; rowspacing=&quot;4pt&quot;&gt;&lt;mtr&gt;&lt;mtd&gt;&lt;mfrac&gt;&lt;mn&gt;13&lt;/mn&gt;&lt;mn&gt;20&lt;/mn&gt;&lt;/mfrac&gt;&lt;/mtd&gt;&lt;/mtr&gt;&lt;/mtable&gt;&lt;/math&gt;" id="984" name="Google Shape;984;p76" title="1 lines Line 1: 13 over 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449761" y="4007833"/>
            <a:ext cx="244472" cy="39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20}\end{array}&quot;&gt;&lt;mtable columnalign=&quot;left&quot; columnspacing=&quot;1em&quot; rowspacing=&quot;4pt&quot;&gt;&lt;mtr&gt;&lt;mtd&gt;&lt;mfrac&gt;&lt;mn&gt;1&lt;/mn&gt;&lt;mn&gt;20&lt;/mn&gt;&lt;/mfrac&gt;&lt;/mtd&gt;&lt;/mtr&gt;&lt;/mtable&gt;&lt;/math&gt;" id="985" name="Google Shape;985;p76" title="1 lines Line 1: 1 over 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555925" y="3393675"/>
            <a:ext cx="226275" cy="3740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4}{16}\end{array}&quot;&gt;&lt;mtable columnalign=&quot;left&quot; columnspacing=&quot;1em&quot; rowspacing=&quot;4pt&quot;&gt;&lt;mtr&gt;&lt;mtd&gt;&lt;mfrac&gt;&lt;mn&gt;4&lt;/mn&gt;&lt;mn&gt;16&lt;/mn&gt;&lt;/mfrac&gt;&lt;/mtd&gt;&lt;/mtr&gt;&lt;/mtable&gt;&lt;/math&gt;" id="986" name="Google Shape;986;p76" title="1 lines Line 1: 4 over 1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803794" y="2638100"/>
            <a:ext cx="221657" cy="3601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1}{20}\end{array}&quot;&gt;&lt;mtable columnalign=&quot;left&quot; columnspacing=&quot;1em&quot; rowspacing=&quot;4pt&quot;&gt;&lt;mtr&gt;&lt;mtd&gt;&lt;mfrac&gt;&lt;mn&gt;11&lt;/mn&gt;&lt;mn&gt;20&lt;/mn&gt;&lt;/mfrac&gt;&lt;/mtd&gt;&lt;/mtr&gt;&lt;/mtable&gt;&lt;/math&gt;" id="987" name="Google Shape;987;p76" title="1 lines Line 1: 11 over 2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888000" y="4020108"/>
            <a:ext cx="226275" cy="3740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4}{20}\end{array}&quot;&gt;&lt;mtable columnalign=&quot;left&quot; columnspacing=&quot;1em&quot; rowspacing=&quot;4pt&quot;&gt;&lt;mtr&gt;&lt;mtd&gt;&lt;mfrac&gt;&lt;mn&gt;14&lt;/mn&gt;&lt;mn&gt;20&lt;/mn&gt;&lt;/mfrac&gt;&lt;/mtd&gt;&lt;/mtr&gt;&lt;/mtable&gt;&lt;/math&gt;" id="988" name="Google Shape;988;p76" title="1 lines Line 1: 14 over 2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072842" y="4167350"/>
            <a:ext cx="230900" cy="3786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7}{20}\end{array}&quot;&gt;&lt;mtable columnalign=&quot;left&quot; columnspacing=&quot;1em&quot; rowspacing=&quot;4pt&quot;&gt;&lt;mtr&gt;&lt;mtd&gt;&lt;mfrac&gt;&lt;mn&gt;7&lt;/mn&gt;&lt;mn&gt;20&lt;/mn&gt;&lt;/mfrac&gt;&lt;/mtd&gt;&lt;/mtr&gt;&lt;/mtable&gt;&lt;/math&gt;" id="989" name="Google Shape;989;p76" title="1 lines Line 1: 7 over 2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369600" y="2632650"/>
            <a:ext cx="226275" cy="3711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34}{50}\end{array}&quot;&gt;&lt;mtable columnalign=&quot;left&quot; columnspacing=&quot;1em&quot; rowspacing=&quot;4pt&quot;&gt;&lt;mtr&gt;&lt;mtd&gt;&lt;mfrac&gt;&lt;mn&gt;34&lt;/mn&gt;&lt;mn&gt;50&lt;/mn&gt;&lt;/mfrac&gt;&lt;/mtd&gt;&lt;/mtr&gt;&lt;/mtable&gt;&lt;/math&gt;" id="990" name="Google Shape;990;p76" title="1 lines Line 1: 34 over 50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827106" y="4133075"/>
            <a:ext cx="226275" cy="3738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9}{25}\end{array}&quot;&gt;&lt;mtable columnalign=&quot;left&quot; columnspacing=&quot;1em&quot; rowspacing=&quot;4pt&quot;&gt;&lt;mtr&gt;&lt;mtd&gt;&lt;mfrac&gt;&lt;mn&gt;9&lt;/mn&gt;&lt;mn&gt;25&lt;/mn&gt;&lt;/mfrac&gt;&lt;/mtd&gt;&lt;/mtr&gt;&lt;/mtable&gt;&lt;/math&gt;" id="991" name="Google Shape;991;p76" title="1 lines Line 1: 9 over 25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6880513" y="1995691"/>
            <a:ext cx="241250" cy="393342"/>
          </a:xfrm>
          <a:prstGeom prst="rect">
            <a:avLst/>
          </a:prstGeom>
          <a:noFill/>
          <a:ln>
            <a:noFill/>
          </a:ln>
        </p:spPr>
      </p:pic>
      <p:sp>
        <p:nvSpPr>
          <p:cNvPr id="992" name="Google Shape;992;p76"/>
          <p:cNvSpPr txBox="1"/>
          <p:nvPr/>
        </p:nvSpPr>
        <p:spPr>
          <a:xfrm>
            <a:off x="2887200" y="2665975"/>
            <a:ext cx="46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0.35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3" name="Google Shape;993;p76"/>
          <p:cNvSpPr txBox="1"/>
          <p:nvPr/>
        </p:nvSpPr>
        <p:spPr>
          <a:xfrm>
            <a:off x="1917438" y="3988475"/>
            <a:ext cx="46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0.22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4" name="Google Shape;994;p76"/>
          <p:cNvSpPr txBox="1"/>
          <p:nvPr/>
        </p:nvSpPr>
        <p:spPr>
          <a:xfrm>
            <a:off x="3395025" y="1889850"/>
            <a:ext cx="46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0.15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5" name="Google Shape;995;p76"/>
          <p:cNvSpPr txBox="1"/>
          <p:nvPr/>
        </p:nvSpPr>
        <p:spPr>
          <a:xfrm>
            <a:off x="4341000" y="2160000"/>
            <a:ext cx="46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0.34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6" name="Google Shape;996;p76"/>
          <p:cNvSpPr txBox="1"/>
          <p:nvPr/>
        </p:nvSpPr>
        <p:spPr>
          <a:xfrm>
            <a:off x="5414450" y="2686100"/>
            <a:ext cx="334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7" name="Google Shape;997;p76"/>
          <p:cNvSpPr txBox="1"/>
          <p:nvPr/>
        </p:nvSpPr>
        <p:spPr>
          <a:xfrm>
            <a:off x="3395025" y="3442100"/>
            <a:ext cx="66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0.012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8" name="Google Shape;998;p76"/>
          <p:cNvSpPr txBox="1"/>
          <p:nvPr/>
        </p:nvSpPr>
        <p:spPr>
          <a:xfrm>
            <a:off x="4362000" y="3693925"/>
            <a:ext cx="46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0.65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9" name="Google Shape;999;p76"/>
          <p:cNvSpPr txBox="1"/>
          <p:nvPr/>
        </p:nvSpPr>
        <p:spPr>
          <a:xfrm>
            <a:off x="3395025" y="4181400"/>
            <a:ext cx="46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0" name="Google Shape;1000;p76"/>
          <p:cNvSpPr txBox="1"/>
          <p:nvPr/>
        </p:nvSpPr>
        <p:spPr>
          <a:xfrm>
            <a:off x="5837050" y="1889850"/>
            <a:ext cx="600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0.635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1" name="Google Shape;1001;p76"/>
          <p:cNvSpPr txBox="1"/>
          <p:nvPr/>
        </p:nvSpPr>
        <p:spPr>
          <a:xfrm>
            <a:off x="5837050" y="3427088"/>
            <a:ext cx="46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0.05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2" name="Google Shape;1002;p76"/>
          <p:cNvSpPr txBox="1"/>
          <p:nvPr/>
        </p:nvSpPr>
        <p:spPr>
          <a:xfrm>
            <a:off x="5286950" y="4181400"/>
            <a:ext cx="46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0.68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3" name="Google Shape;1003;p76"/>
          <p:cNvSpPr txBox="1"/>
          <p:nvPr/>
        </p:nvSpPr>
        <p:spPr>
          <a:xfrm>
            <a:off x="6846338" y="3693925"/>
            <a:ext cx="46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4" name="Google Shape;1004;p76"/>
          <p:cNvSpPr txBox="1"/>
          <p:nvPr/>
        </p:nvSpPr>
        <p:spPr>
          <a:xfrm>
            <a:off x="6770138" y="2433150"/>
            <a:ext cx="46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0.36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5" name="Google Shape;1005;p76"/>
          <p:cNvSpPr txBox="1"/>
          <p:nvPr/>
        </p:nvSpPr>
        <p:spPr>
          <a:xfrm>
            <a:off x="1988050" y="2433150"/>
            <a:ext cx="46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7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Reviewing converting fractions to decimals</a:t>
            </a:r>
            <a:endParaRPr/>
          </a:p>
        </p:txBody>
      </p:sp>
      <p:sp>
        <p:nvSpPr>
          <p:cNvPr id="1011" name="Google Shape;1011;p77"/>
          <p:cNvSpPr txBox="1"/>
          <p:nvPr>
            <p:ph idx="1" type="body"/>
          </p:nvPr>
        </p:nvSpPr>
        <p:spPr>
          <a:xfrm>
            <a:off x="324000" y="759300"/>
            <a:ext cx="8237700" cy="88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 the mistakes in this puzzle and correct them.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Each fraction should meet up with its decimal equivalent.</a:t>
            </a:r>
            <a:endParaRPr/>
          </a:p>
        </p:txBody>
      </p:sp>
      <p:graphicFrame>
        <p:nvGraphicFramePr>
          <p:cNvPr id="1012" name="Google Shape;1012;p77"/>
          <p:cNvGraphicFramePr/>
          <p:nvPr/>
        </p:nvGraphicFramePr>
        <p:xfrm>
          <a:off x="952500" y="164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{AD689497-3E43-44C1-AD14-5DB51BF8F12A}</a:tableStyleId>
              </a:tblPr>
              <a:tblGrid>
                <a:gridCol w="2413000"/>
                <a:gridCol w="2413000"/>
                <a:gridCol w="2413000"/>
              </a:tblGrid>
              <a:tr h="774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4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4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4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4}{5}&quot;&gt;&lt;mfrac&gt;&lt;mn&gt;4&lt;/mn&gt;&lt;mn&gt;5&lt;/mn&gt;&lt;/mfrac&gt;&lt;/math&gt;" id="1013" name="Google Shape;1013;p77" title="four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2000" y="1954766"/>
            <a:ext cx="132841" cy="4301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20}&quot;&gt;&lt;mfrac&gt;&lt;mn&gt;3&lt;/mn&gt;&lt;mn&gt;20&lt;/mn&gt;&lt;/mfrac&gt;&lt;/math&gt;" id="1014" name="Google Shape;1014;p77" title="3 over 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2842" y="1829146"/>
            <a:ext cx="215076" cy="3986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}{50}&quot;&gt;&lt;mfrac&gt;&lt;mn&gt;11&lt;/mn&gt;&lt;mn&gt;50&lt;/mn&gt;&lt;/mfrac&gt;&lt;/math&gt;" id="1015" name="Google Shape;1015;p77" title="11 over 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40888" y="3552188"/>
            <a:ext cx="215076" cy="3923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3}{25}\end{array}&quot;&gt;&lt;mtable columnalign=&quot;left&quot; columnspacing=&quot;1em&quot; rowspacing=&quot;4pt&quot;&gt;&lt;mtr&gt;&lt;mtd&gt;&lt;mfrac&gt;&lt;mn&gt;3&lt;/mn&gt;&lt;mn&gt;25&lt;/mn&gt;&lt;/mfrac&gt;&lt;/mtd&gt;&lt;/mtr&gt;&lt;/mtable&gt;&lt;/math&gt;" id="1016" name="Google Shape;1016;p77" title="1 lines Line 1: 3 over 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72842" y="3381400"/>
            <a:ext cx="244472" cy="39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7}{25}\end{array}&quot;&gt;&lt;mtable columnalign=&quot;left&quot; columnspacing=&quot;1em&quot; rowspacing=&quot;4pt&quot;&gt;&lt;mtr&gt;&lt;mtd&gt;&lt;mfrac&gt;&lt;mn&gt;17&lt;/mn&gt;&lt;mn&gt;25&lt;/mn&gt;&lt;/mfrac&gt;&lt;/mtd&gt;&lt;/mtr&gt;&lt;/mtable&gt;&lt;/math&gt;" id="1017" name="Google Shape;1017;p77" title="1 lines Line 1: 17 over 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51364" y="2451800"/>
            <a:ext cx="241255" cy="39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5}{8}\end{array}&quot;&gt;&lt;mtable columnalign=&quot;left&quot; columnspacing=&quot;1em&quot; rowspacing=&quot;4pt&quot;&gt;&lt;mtr&gt;&lt;mtd&gt;&lt;mfrac&gt;&lt;mn&gt;5&lt;/mn&gt;&lt;mn&gt;8&lt;/mn&gt;&lt;/mfrac&gt;&lt;/mtd&gt;&lt;/mtr&gt;&lt;/mtable&gt;&lt;/math&gt;" id="1018" name="Google Shape;1018;p77" title="1 lines Line 1: five eigh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555925" y="1801200"/>
            <a:ext cx="163599" cy="45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3}{20}\end{array}&quot;&gt;&lt;mtable columnalign=&quot;left&quot; columnspacing=&quot;1em&quot; rowspacing=&quot;4pt&quot;&gt;&lt;mtr&gt;&lt;mtd&gt;&lt;mfrac&gt;&lt;mn&gt;13&lt;/mn&gt;&lt;mn&gt;20&lt;/mn&gt;&lt;/mfrac&gt;&lt;/mtd&gt;&lt;/mtr&gt;&lt;/mtable&gt;&lt;/math&gt;" id="1019" name="Google Shape;1019;p77" title="1 lines Line 1: 13 over 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449761" y="4007833"/>
            <a:ext cx="244472" cy="39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20}\end{array}&quot;&gt;&lt;mtable columnalign=&quot;left&quot; columnspacing=&quot;1em&quot; rowspacing=&quot;4pt&quot;&gt;&lt;mtr&gt;&lt;mtd&gt;&lt;mfrac&gt;&lt;mn&gt;1&lt;/mn&gt;&lt;mn&gt;20&lt;/mn&gt;&lt;/mfrac&gt;&lt;/mtd&gt;&lt;/mtr&gt;&lt;/mtable&gt;&lt;/math&gt;" id="1020" name="Google Shape;1020;p77" title="1 lines Line 1: 1 over 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555925" y="3393675"/>
            <a:ext cx="226275" cy="3740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4}{16}\end{array}&quot;&gt;&lt;mtable columnalign=&quot;left&quot; columnspacing=&quot;1em&quot; rowspacing=&quot;4pt&quot;&gt;&lt;mtr&gt;&lt;mtd&gt;&lt;mfrac&gt;&lt;mn&gt;4&lt;/mn&gt;&lt;mn&gt;16&lt;/mn&gt;&lt;/mfrac&gt;&lt;/mtd&gt;&lt;/mtr&gt;&lt;/mtable&gt;&lt;/math&gt;" id="1021" name="Google Shape;1021;p77" title="1 lines Line 1: 4 over 1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803794" y="2638100"/>
            <a:ext cx="221657" cy="3601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1}{20}\end{array}&quot;&gt;&lt;mtable columnalign=&quot;left&quot; columnspacing=&quot;1em&quot; rowspacing=&quot;4pt&quot;&gt;&lt;mtr&gt;&lt;mtd&gt;&lt;mfrac&gt;&lt;mn&gt;11&lt;/mn&gt;&lt;mn&gt;20&lt;/mn&gt;&lt;/mfrac&gt;&lt;/mtd&gt;&lt;/mtr&gt;&lt;/mtable&gt;&lt;/math&gt;" id="1022" name="Google Shape;1022;p77" title="1 lines Line 1: 11 over 2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888000" y="4020108"/>
            <a:ext cx="226275" cy="3740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4}{20}\end{array}&quot;&gt;&lt;mtable columnalign=&quot;left&quot; columnspacing=&quot;1em&quot; rowspacing=&quot;4pt&quot;&gt;&lt;mtr&gt;&lt;mtd&gt;&lt;mfrac&gt;&lt;mn&gt;14&lt;/mn&gt;&lt;mn&gt;20&lt;/mn&gt;&lt;/mfrac&gt;&lt;/mtd&gt;&lt;/mtr&gt;&lt;/mtable&gt;&lt;/math&gt;" id="1023" name="Google Shape;1023;p77" title="1 lines Line 1: 14 over 2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072842" y="4167350"/>
            <a:ext cx="230900" cy="3786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7}{20}\end{array}&quot;&gt;&lt;mtable columnalign=&quot;left&quot; columnspacing=&quot;1em&quot; rowspacing=&quot;4pt&quot;&gt;&lt;mtr&gt;&lt;mtd&gt;&lt;mfrac&gt;&lt;mn&gt;7&lt;/mn&gt;&lt;mn&gt;20&lt;/mn&gt;&lt;/mfrac&gt;&lt;/mtd&gt;&lt;/mtr&gt;&lt;/mtable&gt;&lt;/math&gt;" id="1024" name="Google Shape;1024;p77" title="1 lines Line 1: 7 over 2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369600" y="2632650"/>
            <a:ext cx="226275" cy="3711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34}{50}\end{array}&quot;&gt;&lt;mtable columnalign=&quot;left&quot; columnspacing=&quot;1em&quot; rowspacing=&quot;4pt&quot;&gt;&lt;mtr&gt;&lt;mtd&gt;&lt;mfrac&gt;&lt;mn&gt;34&lt;/mn&gt;&lt;mn&gt;50&lt;/mn&gt;&lt;/mfrac&gt;&lt;/mtd&gt;&lt;/mtr&gt;&lt;/mtable&gt;&lt;/math&gt;" id="1025" name="Google Shape;1025;p77" title="1 lines Line 1: 34 over 50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827106" y="4133075"/>
            <a:ext cx="226275" cy="3738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9}{25}\end{array}&quot;&gt;&lt;mtable columnalign=&quot;left&quot; columnspacing=&quot;1em&quot; rowspacing=&quot;4pt&quot;&gt;&lt;mtr&gt;&lt;mtd&gt;&lt;mfrac&gt;&lt;mn&gt;9&lt;/mn&gt;&lt;mn&gt;25&lt;/mn&gt;&lt;/mfrac&gt;&lt;/mtd&gt;&lt;/mtr&gt;&lt;/mtable&gt;&lt;/math&gt;" id="1026" name="Google Shape;1026;p77" title="1 lines Line 1: 9 over 25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6880513" y="1995691"/>
            <a:ext cx="241250" cy="393342"/>
          </a:xfrm>
          <a:prstGeom prst="rect">
            <a:avLst/>
          </a:prstGeom>
          <a:noFill/>
          <a:ln>
            <a:noFill/>
          </a:ln>
        </p:spPr>
      </p:pic>
      <p:sp>
        <p:nvSpPr>
          <p:cNvPr id="1027" name="Google Shape;1027;p77"/>
          <p:cNvSpPr txBox="1"/>
          <p:nvPr/>
        </p:nvSpPr>
        <p:spPr>
          <a:xfrm>
            <a:off x="2887200" y="2665975"/>
            <a:ext cx="46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0.35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8" name="Google Shape;1028;p77"/>
          <p:cNvSpPr txBox="1"/>
          <p:nvPr/>
        </p:nvSpPr>
        <p:spPr>
          <a:xfrm>
            <a:off x="1917438" y="3988475"/>
            <a:ext cx="46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0.22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9" name="Google Shape;1029;p77"/>
          <p:cNvSpPr txBox="1"/>
          <p:nvPr/>
        </p:nvSpPr>
        <p:spPr>
          <a:xfrm>
            <a:off x="3395025" y="1889850"/>
            <a:ext cx="46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0.15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0" name="Google Shape;1030;p77"/>
          <p:cNvSpPr txBox="1"/>
          <p:nvPr/>
        </p:nvSpPr>
        <p:spPr>
          <a:xfrm>
            <a:off x="4341000" y="2160000"/>
            <a:ext cx="46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0.34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1" name="Google Shape;1031;p77"/>
          <p:cNvSpPr txBox="1"/>
          <p:nvPr/>
        </p:nvSpPr>
        <p:spPr>
          <a:xfrm>
            <a:off x="5414450" y="2686100"/>
            <a:ext cx="334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2" name="Google Shape;1032;p77"/>
          <p:cNvSpPr txBox="1"/>
          <p:nvPr/>
        </p:nvSpPr>
        <p:spPr>
          <a:xfrm>
            <a:off x="3395025" y="3442100"/>
            <a:ext cx="66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0.012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3" name="Google Shape;1033;p77"/>
          <p:cNvSpPr txBox="1"/>
          <p:nvPr/>
        </p:nvSpPr>
        <p:spPr>
          <a:xfrm>
            <a:off x="4362000" y="3693925"/>
            <a:ext cx="46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0.65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4" name="Google Shape;1034;p77"/>
          <p:cNvSpPr txBox="1"/>
          <p:nvPr/>
        </p:nvSpPr>
        <p:spPr>
          <a:xfrm>
            <a:off x="3395025" y="4181400"/>
            <a:ext cx="46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5" name="Google Shape;1035;p77"/>
          <p:cNvSpPr txBox="1"/>
          <p:nvPr/>
        </p:nvSpPr>
        <p:spPr>
          <a:xfrm>
            <a:off x="5837050" y="1889850"/>
            <a:ext cx="600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0.635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6" name="Google Shape;1036;p77"/>
          <p:cNvSpPr txBox="1"/>
          <p:nvPr/>
        </p:nvSpPr>
        <p:spPr>
          <a:xfrm>
            <a:off x="5837050" y="3427088"/>
            <a:ext cx="46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0.05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7" name="Google Shape;1037;p77"/>
          <p:cNvSpPr txBox="1"/>
          <p:nvPr/>
        </p:nvSpPr>
        <p:spPr>
          <a:xfrm>
            <a:off x="5286950" y="4181400"/>
            <a:ext cx="46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0.68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8" name="Google Shape;1038;p77"/>
          <p:cNvSpPr txBox="1"/>
          <p:nvPr/>
        </p:nvSpPr>
        <p:spPr>
          <a:xfrm>
            <a:off x="6846338" y="3693925"/>
            <a:ext cx="46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9" name="Google Shape;1039;p77"/>
          <p:cNvSpPr txBox="1"/>
          <p:nvPr/>
        </p:nvSpPr>
        <p:spPr>
          <a:xfrm>
            <a:off x="6770138" y="2433150"/>
            <a:ext cx="46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0.36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0" name="Google Shape;1040;p77"/>
          <p:cNvSpPr txBox="1"/>
          <p:nvPr/>
        </p:nvSpPr>
        <p:spPr>
          <a:xfrm>
            <a:off x="1988050" y="2433150"/>
            <a:ext cx="46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1" name="Google Shape;1041;p77"/>
          <p:cNvSpPr/>
          <p:nvPr/>
        </p:nvSpPr>
        <p:spPr>
          <a:xfrm>
            <a:off x="1935325" y="1901775"/>
            <a:ext cx="411300" cy="798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2" name="Google Shape;1042;p77"/>
          <p:cNvSpPr/>
          <p:nvPr/>
        </p:nvSpPr>
        <p:spPr>
          <a:xfrm>
            <a:off x="2998742" y="3334775"/>
            <a:ext cx="1030500" cy="518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3" name="Google Shape;1043;p77"/>
          <p:cNvSpPr/>
          <p:nvPr/>
        </p:nvSpPr>
        <p:spPr>
          <a:xfrm>
            <a:off x="4299525" y="2160000"/>
            <a:ext cx="524400" cy="729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4" name="Google Shape;1044;p77"/>
          <p:cNvSpPr/>
          <p:nvPr/>
        </p:nvSpPr>
        <p:spPr>
          <a:xfrm>
            <a:off x="5433892" y="1769100"/>
            <a:ext cx="1030500" cy="518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5" name="Google Shape;1045;p77"/>
          <p:cNvSpPr/>
          <p:nvPr/>
        </p:nvSpPr>
        <p:spPr>
          <a:xfrm>
            <a:off x="5355087" y="2565350"/>
            <a:ext cx="750600" cy="518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6" name="Google Shape;1046;p77"/>
          <p:cNvSpPr/>
          <p:nvPr/>
        </p:nvSpPr>
        <p:spPr>
          <a:xfrm>
            <a:off x="6738938" y="3719300"/>
            <a:ext cx="524400" cy="729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7" name="Google Shape;1047;p77"/>
          <p:cNvSpPr txBox="1"/>
          <p:nvPr/>
        </p:nvSpPr>
        <p:spPr>
          <a:xfrm>
            <a:off x="2424013" y="2417850"/>
            <a:ext cx="385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0.8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48" name="Google Shape;1048;p77"/>
          <p:cNvSpPr txBox="1"/>
          <p:nvPr/>
        </p:nvSpPr>
        <p:spPr>
          <a:xfrm>
            <a:off x="4853370" y="2144491"/>
            <a:ext cx="524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0.68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49" name="Google Shape;1049;p77"/>
          <p:cNvSpPr txBox="1"/>
          <p:nvPr/>
        </p:nvSpPr>
        <p:spPr>
          <a:xfrm>
            <a:off x="6505176" y="1696500"/>
            <a:ext cx="66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0.625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50" name="Google Shape;1050;p77"/>
          <p:cNvSpPr txBox="1"/>
          <p:nvPr/>
        </p:nvSpPr>
        <p:spPr>
          <a:xfrm>
            <a:off x="4851439" y="2676927"/>
            <a:ext cx="524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0.25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51" name="Google Shape;1051;p77"/>
          <p:cNvSpPr txBox="1"/>
          <p:nvPr/>
        </p:nvSpPr>
        <p:spPr>
          <a:xfrm>
            <a:off x="7366145" y="3626091"/>
            <a:ext cx="524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0.55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52" name="Google Shape;1052;p77"/>
          <p:cNvSpPr txBox="1"/>
          <p:nvPr/>
        </p:nvSpPr>
        <p:spPr>
          <a:xfrm>
            <a:off x="3395020" y="3086091"/>
            <a:ext cx="524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0.12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7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converting fractions to decimals</a:t>
            </a:r>
            <a:endParaRPr/>
          </a:p>
        </p:txBody>
      </p:sp>
      <p:sp>
        <p:nvSpPr>
          <p:cNvPr id="1058" name="Google Shape;1058;p7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fractions by converting into decimals</a:t>
            </a:r>
            <a:endParaRPr/>
          </a:p>
        </p:txBody>
      </p:sp>
      <p:sp>
        <p:nvSpPr>
          <p:cNvPr id="1059" name="Google Shape;1059;p7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fractions by converting</a:t>
            </a:r>
            <a:endParaRPr/>
          </a:p>
        </p:txBody>
      </p:sp>
      <p:pic>
        <p:nvPicPr>
          <p:cNvPr id="1060" name="Google Shape;1060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875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fractions by converting into decimals</a:t>
            </a:r>
            <a:endParaRPr/>
          </a:p>
        </p:txBody>
      </p:sp>
      <p:sp>
        <p:nvSpPr>
          <p:cNvPr id="1066" name="Google Shape;1066;p79"/>
          <p:cNvSpPr txBox="1"/>
          <p:nvPr>
            <p:ph idx="1" type="body"/>
          </p:nvPr>
        </p:nvSpPr>
        <p:spPr>
          <a:xfrm>
            <a:off x="324000" y="6069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Write </a:t>
            </a:r>
            <a:r>
              <a:rPr lang="en-GB" sz="1800"/>
              <a:t>these fractions and decimals in ascending order.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3}{4}\ 0.125\ \ \frac{1}{2}\ \ 0.48\ \ \ &quot;&gt;&lt;mfrac&gt;&lt;mn&gt;3&lt;/mn&gt;&lt;mn&gt;4&lt;/mn&gt;&lt;/mfrac&gt;&lt;mtext&gt;&lt;/mtext&gt;&lt;mn&gt;0.125&lt;/mn&gt;&lt;mtext&gt;&lt;/mtext&gt;&lt;mtext&gt;&lt;/mtext&gt;&lt;mfrac&gt;&lt;mn&gt;1&lt;/mn&gt;&lt;mn&gt;2&lt;/mn&gt;&lt;/mfrac&gt;&lt;mtext&gt;&lt;/mtext&gt;&lt;mtext&gt;&lt;/mtext&gt;&lt;mn&gt;0.48&lt;/mn&gt;&lt;mtext&gt;&lt;/mtext&gt;&lt;mtext&gt;&lt;/mtext&gt;&lt;mtext&gt;&lt;/mtext&gt;&lt;/math&gt;" id="1067" name="Google Shape;1067;p79" title="three fourths 0.125 one half 0.48"/>
          <p:cNvPicPr preferRelativeResize="0"/>
          <p:nvPr/>
        </p:nvPicPr>
        <p:blipFill rotWithShape="1">
          <a:blip r:embed="rId3">
            <a:alphaModFix/>
          </a:blip>
          <a:srcRect b="0" l="73474" r="0" t="0"/>
          <a:stretch/>
        </p:blipFill>
        <p:spPr>
          <a:xfrm>
            <a:off x="7227557" y="1061888"/>
            <a:ext cx="463279" cy="5293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\ 0.125\ \ \frac{1}{2}\ \ 0.48\ \ \ &quot;&gt;&lt;mfrac&gt;&lt;mn&gt;3&lt;/mn&gt;&lt;mn&gt;4&lt;/mn&gt;&lt;/mfrac&gt;&lt;mtext&gt;&lt;/mtext&gt;&lt;mn&gt;0.125&lt;/mn&gt;&lt;mtext&gt;&lt;/mtext&gt;&lt;mtext&gt;&lt;/mtext&gt;&lt;mfrac&gt;&lt;mn&gt;1&lt;/mn&gt;&lt;mn&gt;2&lt;/mn&gt;&lt;/mfrac&gt;&lt;mtext&gt;&lt;/mtext&gt;&lt;mtext&gt;&lt;/mtext&gt;&lt;mn&gt;0.48&lt;/mn&gt;&lt;mtext&gt;&lt;/mtext&gt;&lt;mtext&gt;&lt;/mtext&gt;&lt;mtext&gt;&lt;/mtext&gt;&lt;/math&gt;" id="1068" name="Google Shape;1068;p79" title="three fourths 0.125 one half 0.48"/>
          <p:cNvPicPr preferRelativeResize="0"/>
          <p:nvPr/>
        </p:nvPicPr>
        <p:blipFill rotWithShape="1">
          <a:blip r:embed="rId3">
            <a:alphaModFix/>
          </a:blip>
          <a:srcRect b="0" l="12786" r="50183" t="0"/>
          <a:stretch/>
        </p:blipFill>
        <p:spPr>
          <a:xfrm>
            <a:off x="3300736" y="1052500"/>
            <a:ext cx="646767" cy="5293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\ 0.125\ \ \frac{1}{2}\ \ 0.48\ \ \ &quot;&gt;&lt;mfrac&gt;&lt;mn&gt;3&lt;/mn&gt;&lt;mn&gt;4&lt;/mn&gt;&lt;/mfrac&gt;&lt;mtext&gt;&lt;/mtext&gt;&lt;mn&gt;0.125&lt;/mn&gt;&lt;mtext&gt;&lt;/mtext&gt;&lt;mtext&gt;&lt;/mtext&gt;&lt;mfrac&gt;&lt;mn&gt;1&lt;/mn&gt;&lt;mn&gt;2&lt;/mn&gt;&lt;/mfrac&gt;&lt;mtext&gt;&lt;/mtext&gt;&lt;mtext&gt;&lt;/mtext&gt;&lt;mn&gt;0.48&lt;/mn&gt;&lt;mtext&gt;&lt;/mtext&gt;&lt;mtext&gt;&lt;/mtext&gt;&lt;mtext&gt;&lt;/mtext&gt;&lt;/math&gt;" id="1069" name="Google Shape;1069;p79" title="three fourths 0.125 one half 0.48"/>
          <p:cNvPicPr preferRelativeResize="0"/>
          <p:nvPr/>
        </p:nvPicPr>
        <p:blipFill rotWithShape="1">
          <a:blip r:embed="rId3">
            <a:alphaModFix/>
          </a:blip>
          <a:srcRect b="0" l="54519" r="31824" t="0"/>
          <a:stretch/>
        </p:blipFill>
        <p:spPr>
          <a:xfrm>
            <a:off x="5468271" y="1061894"/>
            <a:ext cx="238518" cy="5293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\ 0.125\ \ \frac{1}{2}\ \ 0.48\ \ \ &quot;&gt;&lt;mfrac&gt;&lt;mn&gt;3&lt;/mn&gt;&lt;mn&gt;4&lt;/mn&gt;&lt;/mfrac&gt;&lt;mtext&gt;&lt;/mtext&gt;&lt;mn&gt;0.125&lt;/mn&gt;&lt;mtext&gt;&lt;/mtext&gt;&lt;mtext&gt;&lt;/mtext&gt;&lt;mfrac&gt;&lt;mn&gt;1&lt;/mn&gt;&lt;mn&gt;2&lt;/mn&gt;&lt;/mfrac&gt;&lt;mtext&gt;&lt;/mtext&gt;&lt;mtext&gt;&lt;/mtext&gt;&lt;mn&gt;0.48&lt;/mn&gt;&lt;mtext&gt;&lt;/mtext&gt;&lt;mtext&gt;&lt;/mtext&gt;&lt;mtext&gt;&lt;/mtext&gt;&lt;/math&gt;" id="1070" name="Google Shape;1070;p79" title="three fourths 0.125 one half 0.48"/>
          <p:cNvPicPr preferRelativeResize="0"/>
          <p:nvPr/>
        </p:nvPicPr>
        <p:blipFill rotWithShape="1">
          <a:blip r:embed="rId3">
            <a:alphaModFix/>
          </a:blip>
          <a:srcRect b="0" l="0" r="89102" t="0"/>
          <a:stretch/>
        </p:blipFill>
        <p:spPr>
          <a:xfrm>
            <a:off x="1589648" y="1052507"/>
            <a:ext cx="190320" cy="529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1" name="Google Shape;1071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4328" y="3621012"/>
            <a:ext cx="727174" cy="9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2" name="Google Shape;1072;p79"/>
          <p:cNvSpPr txBox="1"/>
          <p:nvPr/>
        </p:nvSpPr>
        <p:spPr>
          <a:xfrm>
            <a:off x="57428" y="4379398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3" name="Google Shape;1073;p79"/>
          <p:cNvSpPr txBox="1"/>
          <p:nvPr/>
        </p:nvSpPr>
        <p:spPr>
          <a:xfrm>
            <a:off x="6833034" y="4425523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74" name="Google Shape;1074;p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330733" y="3524277"/>
            <a:ext cx="804119" cy="1057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5" name="Google Shape;1075;p79"/>
          <p:cNvPicPr preferRelativeResize="0"/>
          <p:nvPr/>
        </p:nvPicPr>
        <p:blipFill rotWithShape="1">
          <a:blip r:embed="rId6">
            <a:alphaModFix/>
          </a:blip>
          <a:srcRect b="43690" l="0" r="57905" t="0"/>
          <a:stretch/>
        </p:blipFill>
        <p:spPr>
          <a:xfrm>
            <a:off x="4572000" y="2833700"/>
            <a:ext cx="2662052" cy="883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6" name="Google Shape;1076;p79"/>
          <p:cNvPicPr preferRelativeResize="0"/>
          <p:nvPr/>
        </p:nvPicPr>
        <p:blipFill rotWithShape="1">
          <a:blip r:embed="rId6">
            <a:alphaModFix/>
          </a:blip>
          <a:srcRect b="43690" l="0" r="57905" t="0"/>
          <a:stretch/>
        </p:blipFill>
        <p:spPr>
          <a:xfrm flipH="1">
            <a:off x="1227598" y="2761650"/>
            <a:ext cx="2662052" cy="1944974"/>
          </a:xfrm>
          <a:prstGeom prst="rect">
            <a:avLst/>
          </a:prstGeom>
          <a:noFill/>
          <a:ln>
            <a:noFill/>
          </a:ln>
        </p:spPr>
      </p:pic>
      <p:sp>
        <p:nvSpPr>
          <p:cNvPr id="1077" name="Google Shape;1077;p79"/>
          <p:cNvSpPr txBox="1"/>
          <p:nvPr>
            <p:ph idx="1" type="body"/>
          </p:nvPr>
        </p:nvSpPr>
        <p:spPr>
          <a:xfrm>
            <a:off x="1410450" y="2814681"/>
            <a:ext cx="2479200" cy="98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 can do this.  I am going to change the fractions into decimals to make it easier.</a:t>
            </a:r>
            <a:endParaRPr sz="1800"/>
          </a:p>
        </p:txBody>
      </p:sp>
      <p:sp>
        <p:nvSpPr>
          <p:cNvPr id="1078" name="Google Shape;1078;p79"/>
          <p:cNvSpPr txBox="1"/>
          <p:nvPr>
            <p:ph idx="1" type="body"/>
          </p:nvPr>
        </p:nvSpPr>
        <p:spPr>
          <a:xfrm>
            <a:off x="4599200" y="2949500"/>
            <a:ext cx="24792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 don’t think you need to.</a:t>
            </a:r>
            <a:endParaRPr sz="1800"/>
          </a:p>
        </p:txBody>
      </p:sp>
      <p:pic>
        <p:nvPicPr>
          <p:cNvPr id="1079" name="Google Shape;1079;p79"/>
          <p:cNvPicPr preferRelativeResize="0"/>
          <p:nvPr/>
        </p:nvPicPr>
        <p:blipFill rotWithShape="1">
          <a:blip r:embed="rId6">
            <a:alphaModFix/>
          </a:blip>
          <a:srcRect b="43690" l="0" r="57905" t="0"/>
          <a:stretch/>
        </p:blipFill>
        <p:spPr>
          <a:xfrm>
            <a:off x="4627100" y="2438525"/>
            <a:ext cx="2662052" cy="1989524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Google Shape;1080;p79"/>
          <p:cNvSpPr txBox="1"/>
          <p:nvPr>
            <p:ph idx="1" type="body"/>
          </p:nvPr>
        </p:nvSpPr>
        <p:spPr>
          <a:xfrm>
            <a:off x="4654288" y="2554313"/>
            <a:ext cx="2479200" cy="98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know that     is bigger than       and 0.48 is smaller than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3}{4}\ 0.125\ \ \frac{1}{2}\ \ 0.48\ \ \ &quot;&gt;&lt;mfrac&gt;&lt;mn&gt;3&lt;/mn&gt;&lt;mn&gt;4&lt;/mn&gt;&lt;/mfrac&gt;&lt;mtext&gt;&lt;/mtext&gt;&lt;mn&gt;0.125&lt;/mn&gt;&lt;mtext&gt;&lt;/mtext&gt;&lt;mtext&gt;&lt;/mtext&gt;&lt;mfrac&gt;&lt;mn&gt;1&lt;/mn&gt;&lt;mn&gt;2&lt;/mn&gt;&lt;/mfrac&gt;&lt;mtext&gt;&lt;/mtext&gt;&lt;mtext&gt;&lt;/mtext&gt;&lt;mn&gt;0.48&lt;/mn&gt;&lt;mtext&gt;&lt;/mtext&gt;&lt;mtext&gt;&lt;/mtext&gt;&lt;mtext&gt;&lt;/mtext&gt;&lt;/math&gt;" id="1081" name="Google Shape;1081;p79" title="three fourths 0.125 one half 0.48"/>
          <p:cNvPicPr preferRelativeResize="0"/>
          <p:nvPr/>
        </p:nvPicPr>
        <p:blipFill rotWithShape="1">
          <a:blip r:embed="rId3">
            <a:alphaModFix/>
          </a:blip>
          <a:srcRect b="0" l="0" r="89102" t="0"/>
          <a:stretch/>
        </p:blipFill>
        <p:spPr>
          <a:xfrm>
            <a:off x="6233675" y="2518475"/>
            <a:ext cx="161852" cy="4501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\ 0.125\ \ \frac{1}{2}\ \ 0.48\ \ \ &quot;&gt;&lt;mfrac&gt;&lt;mn&gt;3&lt;/mn&gt;&lt;mn&gt;4&lt;/mn&gt;&lt;/mfrac&gt;&lt;mtext&gt;&lt;/mtext&gt;&lt;mn&gt;0.125&lt;/mn&gt;&lt;mtext&gt;&lt;/mtext&gt;&lt;mtext&gt;&lt;/mtext&gt;&lt;mfrac&gt;&lt;mn&gt;1&lt;/mn&gt;&lt;mn&gt;2&lt;/mn&gt;&lt;/mfrac&gt;&lt;mtext&gt;&lt;/mtext&gt;&lt;mtext&gt;&lt;/mtext&gt;&lt;mn&gt;0.48&lt;/mn&gt;&lt;mtext&gt;&lt;/mtext&gt;&lt;mtext&gt;&lt;/mtext&gt;&lt;mtext&gt;&lt;/mtext&gt;&lt;/math&gt;" id="1082" name="Google Shape;1082;p79" title="three fourths 0.125 one half 0.48"/>
          <p:cNvPicPr preferRelativeResize="0"/>
          <p:nvPr/>
        </p:nvPicPr>
        <p:blipFill rotWithShape="1">
          <a:blip r:embed="rId3">
            <a:alphaModFix/>
          </a:blip>
          <a:srcRect b="0" l="54519" r="31824" t="0"/>
          <a:stretch/>
        </p:blipFill>
        <p:spPr>
          <a:xfrm>
            <a:off x="6070536" y="3008313"/>
            <a:ext cx="202840" cy="4501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\ 0.125\ \ \frac{1}{2}\ \ 0.48\ \ \ &quot;&gt;&lt;mfrac&gt;&lt;mn&gt;3&lt;/mn&gt;&lt;mn&gt;4&lt;/mn&gt;&lt;/mfrac&gt;&lt;mtext&gt;&lt;/mtext&gt;&lt;mn&gt;0.125&lt;/mn&gt;&lt;mtext&gt;&lt;/mtext&gt;&lt;mtext&gt;&lt;/mtext&gt;&lt;mfrac&gt;&lt;mn&gt;1&lt;/mn&gt;&lt;mn&gt;2&lt;/mn&gt;&lt;/mfrac&gt;&lt;mtext&gt;&lt;/mtext&gt;&lt;mtext&gt;&lt;/mtext&gt;&lt;mn&gt;0.48&lt;/mn&gt;&lt;mtext&gt;&lt;/mtext&gt;&lt;mtext&gt;&lt;/mtext&gt;&lt;mtext&gt;&lt;/mtext&gt;&lt;/math&gt;" id="1083" name="Google Shape;1083;p79" title="three fourths 0.125 one half 0.48"/>
          <p:cNvPicPr preferRelativeResize="0"/>
          <p:nvPr/>
        </p:nvPicPr>
        <p:blipFill rotWithShape="1">
          <a:blip r:embed="rId3">
            <a:alphaModFix/>
          </a:blip>
          <a:srcRect b="0" l="54519" r="31824" t="0"/>
          <a:stretch/>
        </p:blipFill>
        <p:spPr>
          <a:xfrm>
            <a:off x="6842361" y="3599850"/>
            <a:ext cx="202840" cy="4501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\ 0.125\ \ \frac{1}{2}\ \ 0.48\ \ \ &quot;&gt;&lt;mfrac&gt;&lt;mn&gt;3&lt;/mn&gt;&lt;mn&gt;4&lt;/mn&gt;&lt;/mfrac&gt;&lt;mtext&gt;&lt;/mtext&gt;&lt;mn&gt;0.125&lt;/mn&gt;&lt;mtext&gt;&lt;/mtext&gt;&lt;mtext&gt;&lt;/mtext&gt;&lt;mfrac&gt;&lt;mn&gt;1&lt;/mn&gt;&lt;mn&gt;2&lt;/mn&gt;&lt;/mfrac&gt;&lt;mtext&gt;&lt;/mtext&gt;&lt;mtext&gt;&lt;/mtext&gt;&lt;mn&gt;0.48&lt;/mn&gt;&lt;mtext&gt;&lt;/mtext&gt;&lt;mtext&gt;&lt;/mtext&gt;&lt;mtext&gt;&lt;/mtext&gt;&lt;/math&gt;" id="1084" name="Google Shape;1084;p79" title="three fourths 0.125 one half 0.48"/>
          <p:cNvPicPr preferRelativeResize="0"/>
          <p:nvPr/>
        </p:nvPicPr>
        <p:blipFill rotWithShape="1">
          <a:blip r:embed="rId3">
            <a:alphaModFix/>
          </a:blip>
          <a:srcRect b="0" l="12786" r="50183" t="0"/>
          <a:stretch/>
        </p:blipFill>
        <p:spPr>
          <a:xfrm>
            <a:off x="684600" y="1909163"/>
            <a:ext cx="646767" cy="5293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\ 0.125\ \ \frac{1}{2}\ \ 0.48\ \ \ &quot;&gt;&lt;mfrac&gt;&lt;mn&gt;3&lt;/mn&gt;&lt;mn&gt;4&lt;/mn&gt;&lt;/mfrac&gt;&lt;mtext&gt;&lt;/mtext&gt;&lt;mn&gt;0.125&lt;/mn&gt;&lt;mtext&gt;&lt;/mtext&gt;&lt;mtext&gt;&lt;/mtext&gt;&lt;mfrac&gt;&lt;mn&gt;1&lt;/mn&gt;&lt;mn&gt;2&lt;/mn&gt;&lt;/mfrac&gt;&lt;mtext&gt;&lt;/mtext&gt;&lt;mtext&gt;&lt;/mtext&gt;&lt;mn&gt;0.48&lt;/mn&gt;&lt;mtext&gt;&lt;/mtext&gt;&lt;mtext&gt;&lt;/mtext&gt;&lt;mtext&gt;&lt;/mtext&gt;&lt;/math&gt;" id="1085" name="Google Shape;1085;p79" title="three fourths 0.125 one half 0.48"/>
          <p:cNvPicPr preferRelativeResize="0"/>
          <p:nvPr/>
        </p:nvPicPr>
        <p:blipFill rotWithShape="1">
          <a:blip r:embed="rId3">
            <a:alphaModFix/>
          </a:blip>
          <a:srcRect b="0" l="73474" r="0" t="0"/>
          <a:stretch/>
        </p:blipFill>
        <p:spPr>
          <a:xfrm>
            <a:off x="1969478" y="1909163"/>
            <a:ext cx="463279" cy="5293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\ 0.125\ \ \frac{1}{2}\ \ 0.48\ \ \ &quot;&gt;&lt;mfrac&gt;&lt;mn&gt;3&lt;/mn&gt;&lt;mn&gt;4&lt;/mn&gt;&lt;/mfrac&gt;&lt;mtext&gt;&lt;/mtext&gt;&lt;mn&gt;0.125&lt;/mn&gt;&lt;mtext&gt;&lt;/mtext&gt;&lt;mtext&gt;&lt;/mtext&gt;&lt;mfrac&gt;&lt;mn&gt;1&lt;/mn&gt;&lt;mn&gt;2&lt;/mn&gt;&lt;/mfrac&gt;&lt;mtext&gt;&lt;/mtext&gt;&lt;mtext&gt;&lt;/mtext&gt;&lt;mn&gt;0.48&lt;/mn&gt;&lt;mtext&gt;&lt;/mtext&gt;&lt;mtext&gt;&lt;/mtext&gt;&lt;mtext&gt;&lt;/mtext&gt;&lt;/math&gt;" id="1086" name="Google Shape;1086;p79" title="three fourths 0.125 one half 0.48"/>
          <p:cNvPicPr preferRelativeResize="0"/>
          <p:nvPr/>
        </p:nvPicPr>
        <p:blipFill rotWithShape="1">
          <a:blip r:embed="rId3">
            <a:alphaModFix/>
          </a:blip>
          <a:srcRect b="0" l="54519" r="31824" t="0"/>
          <a:stretch/>
        </p:blipFill>
        <p:spPr>
          <a:xfrm>
            <a:off x="3070868" y="1895322"/>
            <a:ext cx="238518" cy="5293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\ 0.125\ \ \frac{1}{2}\ \ 0.48\ \ \ &quot;&gt;&lt;mfrac&gt;&lt;mn&gt;3&lt;/mn&gt;&lt;mn&gt;4&lt;/mn&gt;&lt;/mfrac&gt;&lt;mtext&gt;&lt;/mtext&gt;&lt;mn&gt;0.125&lt;/mn&gt;&lt;mtext&gt;&lt;/mtext&gt;&lt;mtext&gt;&lt;/mtext&gt;&lt;mfrac&gt;&lt;mn&gt;1&lt;/mn&gt;&lt;mn&gt;2&lt;/mn&gt;&lt;/mfrac&gt;&lt;mtext&gt;&lt;/mtext&gt;&lt;mtext&gt;&lt;/mtext&gt;&lt;mn&gt;0.48&lt;/mn&gt;&lt;mtext&gt;&lt;/mtext&gt;&lt;mtext&gt;&lt;/mtext&gt;&lt;mtext&gt;&lt;/mtext&gt;&lt;/math&gt;" id="1087" name="Google Shape;1087;p79" title="three fourths 0.125 one half 0.48"/>
          <p:cNvPicPr preferRelativeResize="0"/>
          <p:nvPr/>
        </p:nvPicPr>
        <p:blipFill rotWithShape="1">
          <a:blip r:embed="rId3">
            <a:alphaModFix/>
          </a:blip>
          <a:srcRect b="0" l="0" r="89102" t="0"/>
          <a:stretch/>
        </p:blipFill>
        <p:spPr>
          <a:xfrm>
            <a:off x="3947498" y="1909172"/>
            <a:ext cx="190320" cy="529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fractions by converting into decimals</a:t>
            </a:r>
            <a:endParaRPr/>
          </a:p>
        </p:txBody>
      </p:sp>
      <p:sp>
        <p:nvSpPr>
          <p:cNvPr id="1093" name="Google Shape;1093;p80"/>
          <p:cNvSpPr txBox="1"/>
          <p:nvPr>
            <p:ph idx="1" type="body"/>
          </p:nvPr>
        </p:nvSpPr>
        <p:spPr>
          <a:xfrm>
            <a:off x="324000" y="759300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Write </a:t>
            </a:r>
            <a:r>
              <a:rPr lang="en-GB" sz="2100"/>
              <a:t>these fractions and decimals in ascending order.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100"/>
          </a:p>
        </p:txBody>
      </p:sp>
      <p:pic>
        <p:nvPicPr>
          <p:cNvPr descr="&lt;math xmlns=&quot;http://www.w3.org/1998/Math/MathML&quot; display=&quot;block&quot; data-is-equatio=&quot;1&quot; data-latex=&quot;2\frac{1}{2}\ 2.4\ \ 2\frac{3}{4}\ \ 2.9\ \ \ &quot;&gt;&lt;mn&gt;2&lt;/mn&gt;&lt;mfrac&gt;&lt;mn&gt;1&lt;/mn&gt;&lt;mn&gt;2&lt;/mn&gt;&lt;/mfrac&gt;&lt;mtext&gt;&lt;/mtext&gt;&lt;mn&gt;2.4&lt;/mn&gt;&lt;mtext&gt;&lt;/mtext&gt;&lt;mtext&gt;&lt;/mtext&gt;&lt;mn&gt;2&lt;/mn&gt;&lt;mfrac&gt;&lt;mn&gt;3&lt;/mn&gt;&lt;mn&gt;4&lt;/mn&gt;&lt;/mfrac&gt;&lt;mtext&gt;&lt;/mtext&gt;&lt;mtext&gt;&lt;/mtext&gt;&lt;mn&gt;2.9&lt;/mn&gt;&lt;mtext&gt;&lt;/mtext&gt;&lt;mtext&gt;&lt;/mtext&gt;&lt;mtext&gt;&lt;/mtext&gt;&lt;/math&gt;" id="1094" name="Google Shape;1094;p80" title="2 and one half 2.4 2 and three fourths 2.9"/>
          <p:cNvPicPr preferRelativeResize="0"/>
          <p:nvPr/>
        </p:nvPicPr>
        <p:blipFill rotWithShape="1">
          <a:blip r:embed="rId3">
            <a:alphaModFix/>
          </a:blip>
          <a:srcRect b="0" l="79549" r="0" t="0"/>
          <a:stretch/>
        </p:blipFill>
        <p:spPr>
          <a:xfrm>
            <a:off x="1416588" y="1391400"/>
            <a:ext cx="536425" cy="843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frac{1}{2}\ 2.4\ \ 2\frac{3}{4}\ \ 2.9\ \ \ &quot;&gt;&lt;mn&gt;2&lt;/mn&gt;&lt;mfrac&gt;&lt;mn&gt;1&lt;/mn&gt;&lt;mn&gt;2&lt;/mn&gt;&lt;/mfrac&gt;&lt;mtext&gt;&lt;/mtext&gt;&lt;mn&gt;2.4&lt;/mn&gt;&lt;mtext&gt;&lt;/mtext&gt;&lt;mtext&gt;&lt;/mtext&gt;&lt;mn&gt;2&lt;/mn&gt;&lt;mfrac&gt;&lt;mn&gt;3&lt;/mn&gt;&lt;mn&gt;4&lt;/mn&gt;&lt;/mfrac&gt;&lt;mtext&gt;&lt;/mtext&gt;&lt;mtext&gt;&lt;/mtext&gt;&lt;mn&gt;2.9&lt;/mn&gt;&lt;mtext&gt;&lt;/mtext&gt;&lt;mtext&gt;&lt;/mtext&gt;&lt;mtext&gt;&lt;/mtext&gt;&lt;/math&gt;" id="1095" name="Google Shape;1095;p80" title="2 and one half 2.4 2 and three fourths 2.9"/>
          <p:cNvPicPr preferRelativeResize="0"/>
          <p:nvPr/>
        </p:nvPicPr>
        <p:blipFill rotWithShape="1">
          <a:blip r:embed="rId3">
            <a:alphaModFix/>
          </a:blip>
          <a:srcRect b="0" l="49864" r="25774" t="0"/>
          <a:stretch/>
        </p:blipFill>
        <p:spPr>
          <a:xfrm>
            <a:off x="3027687" y="1391400"/>
            <a:ext cx="638976" cy="843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frac{1}{2}\ 2.4\ \ 2\frac{3}{4}\ \ 2.9\ \ \ &quot;&gt;&lt;mn&gt;2&lt;/mn&gt;&lt;mfrac&gt;&lt;mn&gt;1&lt;/mn&gt;&lt;mn&gt;2&lt;/mn&gt;&lt;/mfrac&gt;&lt;mtext&gt;&lt;/mtext&gt;&lt;mn&gt;2.4&lt;/mn&gt;&lt;mtext&gt;&lt;/mtext&gt;&lt;mtext&gt;&lt;/mtext&gt;&lt;mn&gt;2&lt;/mn&gt;&lt;mfrac&gt;&lt;mn&gt;3&lt;/mn&gt;&lt;mn&gt;4&lt;/mn&gt;&lt;/mfrac&gt;&lt;mtext&gt;&lt;/mtext&gt;&lt;mtext&gt;&lt;/mtext&gt;&lt;mn&gt;2.9&lt;/mn&gt;&lt;mtext&gt;&lt;/mtext&gt;&lt;mtext&gt;&lt;/mtext&gt;&lt;mtext&gt;&lt;/mtext&gt;&lt;/math&gt;" id="1096" name="Google Shape;1096;p80" title="2 and one half 2.4 2 and three fourths 2.9"/>
          <p:cNvPicPr preferRelativeResize="0"/>
          <p:nvPr/>
        </p:nvPicPr>
        <p:blipFill rotWithShape="1">
          <a:blip r:embed="rId3">
            <a:alphaModFix/>
          </a:blip>
          <a:srcRect b="0" l="23296" r="52342" t="0"/>
          <a:stretch/>
        </p:blipFill>
        <p:spPr>
          <a:xfrm>
            <a:off x="4741337" y="1391400"/>
            <a:ext cx="638976" cy="843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frac{1}{2}\ 2.4\ \ 2\frac{3}{4}\ \ 2.9\ \ \ &quot;&gt;&lt;mn&gt;2&lt;/mn&gt;&lt;mfrac&gt;&lt;mn&gt;1&lt;/mn&gt;&lt;mn&gt;2&lt;/mn&gt;&lt;/mfrac&gt;&lt;mtext&gt;&lt;/mtext&gt;&lt;mn&gt;2.4&lt;/mn&gt;&lt;mtext&gt;&lt;/mtext&gt;&lt;mtext&gt;&lt;/mtext&gt;&lt;mn&gt;2&lt;/mn&gt;&lt;mfrac&gt;&lt;mn&gt;3&lt;/mn&gt;&lt;mn&gt;4&lt;/mn&gt;&lt;/mfrac&gt;&lt;mtext&gt;&lt;/mtext&gt;&lt;mtext&gt;&lt;/mtext&gt;&lt;mn&gt;2.9&lt;/mn&gt;&lt;mtext&gt;&lt;/mtext&gt;&lt;mtext&gt;&lt;/mtext&gt;&lt;mtext&gt;&lt;/mtext&gt;&lt;/math&gt;" id="1097" name="Google Shape;1097;p80" title="2 and one half 2.4 2 and three fourths 2.9"/>
          <p:cNvPicPr preferRelativeResize="0"/>
          <p:nvPr/>
        </p:nvPicPr>
        <p:blipFill rotWithShape="1">
          <a:blip r:embed="rId3">
            <a:alphaModFix/>
          </a:blip>
          <a:srcRect b="0" l="0" r="77919" t="0"/>
          <a:stretch/>
        </p:blipFill>
        <p:spPr>
          <a:xfrm>
            <a:off x="6454988" y="1391400"/>
            <a:ext cx="579175" cy="843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frac{1}{2}\ 2.4\ \ 2\frac{3}{4}\ \ 2.9\ \ \ &quot;&gt;&lt;mn&gt;2&lt;/mn&gt;&lt;mfrac&gt;&lt;mn&gt;1&lt;/mn&gt;&lt;mn&gt;2&lt;/mn&gt;&lt;/mfrac&gt;&lt;mtext&gt;&lt;/mtext&gt;&lt;mn&gt;2.4&lt;/mn&gt;&lt;mtext&gt;&lt;/mtext&gt;&lt;mtext&gt;&lt;/mtext&gt;&lt;mn&gt;2&lt;/mn&gt;&lt;mfrac&gt;&lt;mn&gt;3&lt;/mn&gt;&lt;mn&gt;4&lt;/mn&gt;&lt;/mfrac&gt;&lt;mtext&gt;&lt;/mtext&gt;&lt;mtext&gt;&lt;/mtext&gt;&lt;mn&gt;2.9&lt;/mn&gt;&lt;mtext&gt;&lt;/mtext&gt;&lt;mtext&gt;&lt;/mtext&gt;&lt;mtext&gt;&lt;/mtext&gt;&lt;/math&gt;" id="1098" name="Google Shape;1098;p80" title="2 and one half 2.4 2 and three fourths 2.9"/>
          <p:cNvPicPr preferRelativeResize="0"/>
          <p:nvPr/>
        </p:nvPicPr>
        <p:blipFill rotWithShape="1">
          <a:blip r:embed="rId3">
            <a:alphaModFix/>
          </a:blip>
          <a:srcRect b="0" l="79549" r="0" t="0"/>
          <a:stretch/>
        </p:blipFill>
        <p:spPr>
          <a:xfrm>
            <a:off x="6476363" y="3358225"/>
            <a:ext cx="536425" cy="843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frac{1}{2}\ 2.4\ \ 2\frac{3}{4}\ \ 2.9\ \ \ &quot;&gt;&lt;mn&gt;2&lt;/mn&gt;&lt;mfrac&gt;&lt;mn&gt;1&lt;/mn&gt;&lt;mn&gt;2&lt;/mn&gt;&lt;/mfrac&gt;&lt;mtext&gt;&lt;/mtext&gt;&lt;mn&gt;2.4&lt;/mn&gt;&lt;mtext&gt;&lt;/mtext&gt;&lt;mtext&gt;&lt;/mtext&gt;&lt;mn&gt;2&lt;/mn&gt;&lt;mfrac&gt;&lt;mn&gt;3&lt;/mn&gt;&lt;mn&gt;4&lt;/mn&gt;&lt;/mfrac&gt;&lt;mtext&gt;&lt;/mtext&gt;&lt;mtext&gt;&lt;/mtext&gt;&lt;mn&gt;2.9&lt;/mn&gt;&lt;mtext&gt;&lt;/mtext&gt;&lt;mtext&gt;&lt;/mtext&gt;&lt;mtext&gt;&lt;/mtext&gt;&lt;/math&gt;" id="1099" name="Google Shape;1099;p80" title="2 and one half 2.4 2 and three fourths 2.9"/>
          <p:cNvPicPr preferRelativeResize="0"/>
          <p:nvPr/>
        </p:nvPicPr>
        <p:blipFill rotWithShape="1">
          <a:blip r:embed="rId3">
            <a:alphaModFix/>
          </a:blip>
          <a:srcRect b="0" l="49864" r="25774" t="0"/>
          <a:stretch/>
        </p:blipFill>
        <p:spPr>
          <a:xfrm>
            <a:off x="4824012" y="3358225"/>
            <a:ext cx="638976" cy="843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frac{1}{2}\ 2.4\ \ 2\frac{3}{4}\ \ 2.9\ \ \ &quot;&gt;&lt;mn&gt;2&lt;/mn&gt;&lt;mfrac&gt;&lt;mn&gt;1&lt;/mn&gt;&lt;mn&gt;2&lt;/mn&gt;&lt;/mfrac&gt;&lt;mtext&gt;&lt;/mtext&gt;&lt;mn&gt;2.4&lt;/mn&gt;&lt;mtext&gt;&lt;/mtext&gt;&lt;mtext&gt;&lt;/mtext&gt;&lt;mn&gt;2&lt;/mn&gt;&lt;mfrac&gt;&lt;mn&gt;3&lt;/mn&gt;&lt;mn&gt;4&lt;/mn&gt;&lt;/mfrac&gt;&lt;mtext&gt;&lt;/mtext&gt;&lt;mtext&gt;&lt;/mtext&gt;&lt;mn&gt;2.9&lt;/mn&gt;&lt;mtext&gt;&lt;/mtext&gt;&lt;mtext&gt;&lt;/mtext&gt;&lt;mtext&gt;&lt;/mtext&gt;&lt;/math&gt;" id="1100" name="Google Shape;1100;p80" title="2 and one half 2.4 2 and three fourths 2.9"/>
          <p:cNvPicPr preferRelativeResize="0"/>
          <p:nvPr/>
        </p:nvPicPr>
        <p:blipFill rotWithShape="1">
          <a:blip r:embed="rId3">
            <a:alphaModFix/>
          </a:blip>
          <a:srcRect b="0" l="23296" r="52342" t="0"/>
          <a:stretch/>
        </p:blipFill>
        <p:spPr>
          <a:xfrm>
            <a:off x="1365312" y="3358225"/>
            <a:ext cx="638976" cy="843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frac{1}{2}\ 2.4\ \ 2\frac{3}{4}\ \ 2.9\ \ \ &quot;&gt;&lt;mn&gt;2&lt;/mn&gt;&lt;mfrac&gt;&lt;mn&gt;1&lt;/mn&gt;&lt;mn&gt;2&lt;/mn&gt;&lt;/mfrac&gt;&lt;mtext&gt;&lt;/mtext&gt;&lt;mn&gt;2.4&lt;/mn&gt;&lt;mtext&gt;&lt;/mtext&gt;&lt;mtext&gt;&lt;/mtext&gt;&lt;mn&gt;2&lt;/mn&gt;&lt;mfrac&gt;&lt;mn&gt;3&lt;/mn&gt;&lt;mn&gt;4&lt;/mn&gt;&lt;/mfrac&gt;&lt;mtext&gt;&lt;/mtext&gt;&lt;mtext&gt;&lt;/mtext&gt;&lt;mn&gt;2.9&lt;/mn&gt;&lt;mtext&gt;&lt;/mtext&gt;&lt;mtext&gt;&lt;/mtext&gt;&lt;mtext&gt;&lt;/mtext&gt;&lt;/math&gt;" id="1101" name="Google Shape;1101;p80" title="2 and one half 2.4 2 and three fourths 2.9"/>
          <p:cNvPicPr preferRelativeResize="0"/>
          <p:nvPr/>
        </p:nvPicPr>
        <p:blipFill rotWithShape="1">
          <a:blip r:embed="rId3">
            <a:alphaModFix/>
          </a:blip>
          <a:srcRect b="0" l="0" r="77919" t="0"/>
          <a:stretch/>
        </p:blipFill>
        <p:spPr>
          <a:xfrm>
            <a:off x="3080013" y="3358225"/>
            <a:ext cx="579175" cy="843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02" name="Google Shape;1102;p80"/>
          <p:cNvCxnSpPr/>
          <p:nvPr/>
        </p:nvCxnSpPr>
        <p:spPr>
          <a:xfrm rot="10800000">
            <a:off x="5013525" y="2125950"/>
            <a:ext cx="430200" cy="398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3" name="Google Shape;1103;p80"/>
          <p:cNvSpPr txBox="1"/>
          <p:nvPr/>
        </p:nvSpPr>
        <p:spPr>
          <a:xfrm>
            <a:off x="4783125" y="2602600"/>
            <a:ext cx="1372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 than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2\frac{1}{2}\ 2.4\ \ 2\frac{3}{4}\ \ 2.9\ \ \ &quot;&gt;&lt;mn&gt;2&lt;/mn&gt;&lt;mfrac&gt;&lt;mn&gt;1&lt;/mn&gt;&lt;mn&gt;2&lt;/mn&gt;&lt;/mfrac&gt;&lt;mtext&gt;&lt;/mtext&gt;&lt;mn&gt;2.4&lt;/mn&gt;&lt;mtext&gt;&lt;/mtext&gt;&lt;mtext&gt;&lt;/mtext&gt;&lt;mn&gt;2&lt;/mn&gt;&lt;mfrac&gt;&lt;mn&gt;3&lt;/mn&gt;&lt;mn&gt;4&lt;/mn&gt;&lt;/mfrac&gt;&lt;mtext&gt;&lt;/mtext&gt;&lt;mtext&gt;&lt;/mtext&gt;&lt;mn&gt;2.9&lt;/mn&gt;&lt;mtext&gt;&lt;/mtext&gt;&lt;mtext&gt;&lt;/mtext&gt;&lt;mtext&gt;&lt;/mtext&gt;&lt;/math&gt;" id="1104" name="Google Shape;1104;p80" title="2 and one half 2.4 2 and three fourths 2.9"/>
          <p:cNvPicPr preferRelativeResize="0"/>
          <p:nvPr/>
        </p:nvPicPr>
        <p:blipFill rotWithShape="1">
          <a:blip r:embed="rId3">
            <a:alphaModFix/>
          </a:blip>
          <a:srcRect b="0" l="0" r="77919" t="0"/>
          <a:stretch/>
        </p:blipFill>
        <p:spPr>
          <a:xfrm>
            <a:off x="6155325" y="2559272"/>
            <a:ext cx="305600" cy="445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frac{1}{2}\ 2.4\ \ 2\frac{3}{4}\ \ 2.9\ \ \ &quot;&gt;&lt;mn&gt;2&lt;/mn&gt;&lt;mfrac&gt;&lt;mn&gt;1&lt;/mn&gt;&lt;mn&gt;2&lt;/mn&gt;&lt;/mfrac&gt;&lt;mtext&gt;&lt;/mtext&gt;&lt;mn&gt;2.4&lt;/mn&gt;&lt;mtext&gt;&lt;/mtext&gt;&lt;mtext&gt;&lt;/mtext&gt;&lt;mn&gt;2&lt;/mn&gt;&lt;mfrac&gt;&lt;mn&gt;3&lt;/mn&gt;&lt;mn&gt;4&lt;/mn&gt;&lt;/mfrac&gt;&lt;mtext&gt;&lt;/mtext&gt;&lt;mtext&gt;&lt;/mtext&gt;&lt;mn&gt;2.9&lt;/mn&gt;&lt;mtext&gt;&lt;/mtext&gt;&lt;mtext&gt;&lt;/mtext&gt;&lt;mtext&gt;&lt;/mtext&gt;&lt;/math&gt;" id="1105" name="Google Shape;1105;p80" title="2 and one half 2.4 2 and three fourths 2.9"/>
          <p:cNvPicPr preferRelativeResize="0"/>
          <p:nvPr/>
        </p:nvPicPr>
        <p:blipFill rotWithShape="1">
          <a:blip r:embed="rId3">
            <a:alphaModFix/>
          </a:blip>
          <a:srcRect b="0" l="49864" r="25774" t="0"/>
          <a:stretch/>
        </p:blipFill>
        <p:spPr>
          <a:xfrm>
            <a:off x="2914356" y="2594863"/>
            <a:ext cx="305600" cy="4034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06" name="Google Shape;1106;p80"/>
          <p:cNvCxnSpPr/>
          <p:nvPr/>
        </p:nvCxnSpPr>
        <p:spPr>
          <a:xfrm rot="10800000">
            <a:off x="1736400" y="2204200"/>
            <a:ext cx="430200" cy="398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7" name="Google Shape;1107;p80"/>
          <p:cNvSpPr txBox="1"/>
          <p:nvPr/>
        </p:nvSpPr>
        <p:spPr>
          <a:xfrm>
            <a:off x="1074900" y="2665700"/>
            <a:ext cx="1753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Greater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than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fractions by converting into decimals</a:t>
            </a:r>
            <a:endParaRPr/>
          </a:p>
        </p:txBody>
      </p:sp>
      <p:sp>
        <p:nvSpPr>
          <p:cNvPr id="1113" name="Google Shape;1113;p81"/>
          <p:cNvSpPr txBox="1"/>
          <p:nvPr>
            <p:ph idx="1" type="body"/>
          </p:nvPr>
        </p:nvSpPr>
        <p:spPr>
          <a:xfrm>
            <a:off x="324000" y="759300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Write </a:t>
            </a:r>
            <a:r>
              <a:rPr lang="en-GB"/>
              <a:t>these fractions and decimals in ascending order.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5\frac{1}{2}\ 5.2\ \ 5\frac{1}{4}\ \ 5.55\ \ \ &quot;&gt;&lt;mn&gt;5&lt;/mn&gt;&lt;mfrac&gt;&lt;mn&gt;1&lt;/mn&gt;&lt;mn&gt;2&lt;/mn&gt;&lt;/mfrac&gt;&lt;mtext&gt;&lt;/mtext&gt;&lt;mn&gt;5.2&lt;/mn&gt;&lt;mtext&gt;&lt;/mtext&gt;&lt;mtext&gt;&lt;/mtext&gt;&lt;mn&gt;5&lt;/mn&gt;&lt;mfrac&gt;&lt;mn&gt;1&lt;/mn&gt;&lt;mn&gt;4&lt;/mn&gt;&lt;/mfrac&gt;&lt;mtext&gt;&lt;/mtext&gt;&lt;mtext&gt;&lt;/mtext&gt;&lt;mn&gt;5.55&lt;/mn&gt;&lt;mtext&gt;&lt;/mtext&gt;&lt;mtext&gt;&lt;/mtext&gt;&lt;mtext&gt;&lt;/mtext&gt;&lt;/math&gt;" id="1114" name="Google Shape;1114;p81" title="5 and one half 5.2 5 and one fourth 5.55"/>
          <p:cNvPicPr preferRelativeResize="0"/>
          <p:nvPr/>
        </p:nvPicPr>
        <p:blipFill rotWithShape="1">
          <a:blip r:embed="rId3">
            <a:alphaModFix/>
          </a:blip>
          <a:srcRect b="0" l="73016" r="0" t="0"/>
          <a:stretch/>
        </p:blipFill>
        <p:spPr>
          <a:xfrm>
            <a:off x="5182105" y="1225800"/>
            <a:ext cx="721225" cy="801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\frac{1}{2}\ 5.2\ \ 5\frac{1}{4}\ \ 5.55\ \ \ &quot;&gt;&lt;mn&gt;5&lt;/mn&gt;&lt;mfrac&gt;&lt;mn&gt;1&lt;/mn&gt;&lt;mn&gt;2&lt;/mn&gt;&lt;/mfrac&gt;&lt;mtext&gt;&lt;/mtext&gt;&lt;mn&gt;5.2&lt;/mn&gt;&lt;mtext&gt;&lt;/mtext&gt;&lt;mtext&gt;&lt;/mtext&gt;&lt;mn&gt;5&lt;/mn&gt;&lt;mfrac&gt;&lt;mn&gt;1&lt;/mn&gt;&lt;mn&gt;4&lt;/mn&gt;&lt;/mfrac&gt;&lt;mtext&gt;&lt;/mtext&gt;&lt;mtext&gt;&lt;/mtext&gt;&lt;mn&gt;5.55&lt;/mn&gt;&lt;mtext&gt;&lt;/mtext&gt;&lt;mtext&gt;&lt;/mtext&gt;&lt;mtext&gt;&lt;/mtext&gt;&lt;/math&gt;" id="1115" name="Google Shape;1115;p81" title="5 and one half 5.2 5 and one fourth 5.55"/>
          <p:cNvPicPr preferRelativeResize="0"/>
          <p:nvPr/>
        </p:nvPicPr>
        <p:blipFill rotWithShape="1">
          <a:blip r:embed="rId3">
            <a:alphaModFix/>
          </a:blip>
          <a:srcRect b="0" l="47432" r="29134" t="0"/>
          <a:stretch/>
        </p:blipFill>
        <p:spPr>
          <a:xfrm>
            <a:off x="7204925" y="1219363"/>
            <a:ext cx="626325" cy="801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\frac{1}{2}\ 5.2\ \ 5\frac{1}{4}\ \ 5.55\ \ \ &quot;&gt;&lt;mn&gt;5&lt;/mn&gt;&lt;mfrac&gt;&lt;mn&gt;1&lt;/mn&gt;&lt;mn&gt;2&lt;/mn&gt;&lt;/mfrac&gt;&lt;mtext&gt;&lt;/mtext&gt;&lt;mn&gt;5.2&lt;/mn&gt;&lt;mtext&gt;&lt;/mtext&gt;&lt;mtext&gt;&lt;/mtext&gt;&lt;mn&gt;5&lt;/mn&gt;&lt;mfrac&gt;&lt;mn&gt;1&lt;/mn&gt;&lt;mn&gt;4&lt;/mn&gt;&lt;/mfrac&gt;&lt;mtext&gt;&lt;/mtext&gt;&lt;mtext&gt;&lt;/mtext&gt;&lt;mn&gt;5.55&lt;/mn&gt;&lt;mtext&gt;&lt;/mtext&gt;&lt;mtext&gt;&lt;/mtext&gt;&lt;mtext&gt;&lt;/mtext&gt;&lt;/math&gt;" id="1116" name="Google Shape;1116;p81" title="5 and one half 5.2 5 and one fourth 5.55"/>
          <p:cNvPicPr preferRelativeResize="0"/>
          <p:nvPr/>
        </p:nvPicPr>
        <p:blipFill rotWithShape="1">
          <a:blip r:embed="rId3">
            <a:alphaModFix/>
          </a:blip>
          <a:srcRect b="0" l="21066" r="56632" t="0"/>
          <a:stretch/>
        </p:blipFill>
        <p:spPr>
          <a:xfrm>
            <a:off x="3284434" y="1225800"/>
            <a:ext cx="596075" cy="801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\frac{1}{2}\ 5.2\ \ 5\frac{1}{4}\ \ 5.55\ \ \ &quot;&gt;&lt;mn&gt;5&lt;/mn&gt;&lt;mfrac&gt;&lt;mn&gt;1&lt;/mn&gt;&lt;mn&gt;2&lt;/mn&gt;&lt;/mfrac&gt;&lt;mtext&gt;&lt;/mtext&gt;&lt;mn&gt;5.2&lt;/mn&gt;&lt;mtext&gt;&lt;/mtext&gt;&lt;mtext&gt;&lt;/mtext&gt;&lt;mn&gt;5&lt;/mn&gt;&lt;mfrac&gt;&lt;mn&gt;1&lt;/mn&gt;&lt;mn&gt;4&lt;/mn&gt;&lt;/mfrac&gt;&lt;mtext&gt;&lt;/mtext&gt;&lt;mtext&gt;&lt;/mtext&gt;&lt;mn&gt;5.55&lt;/mn&gt;&lt;mtext&gt;&lt;/mtext&gt;&lt;mtext&gt;&lt;/mtext&gt;&lt;mtext&gt;&lt;/mtext&gt;&lt;/math&gt;" id="1117" name="Google Shape;1117;p81" title="5 and one half 5.2 5 and one fourth 5.55"/>
          <p:cNvPicPr preferRelativeResize="0"/>
          <p:nvPr/>
        </p:nvPicPr>
        <p:blipFill rotWithShape="1">
          <a:blip r:embed="rId3">
            <a:alphaModFix/>
          </a:blip>
          <a:srcRect b="0" l="0" r="77698" t="0"/>
          <a:stretch/>
        </p:blipFill>
        <p:spPr>
          <a:xfrm>
            <a:off x="1386763" y="1225800"/>
            <a:ext cx="596075" cy="801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\frac{1}{2}\ 5.2\ \ 5\frac{1}{4}\ \ 5.55\ \ \ &quot;&gt;&lt;mn&gt;5&lt;/mn&gt;&lt;mfrac&gt;&lt;mn&gt;1&lt;/mn&gt;&lt;mn&gt;2&lt;/mn&gt;&lt;/mfrac&gt;&lt;mtext&gt;&lt;/mtext&gt;&lt;mn&gt;5.2&lt;/mn&gt;&lt;mtext&gt;&lt;/mtext&gt;&lt;mtext&gt;&lt;/mtext&gt;&lt;mn&gt;5&lt;/mn&gt;&lt;mfrac&gt;&lt;mn&gt;1&lt;/mn&gt;&lt;mn&gt;4&lt;/mn&gt;&lt;/mfrac&gt;&lt;mtext&gt;&lt;/mtext&gt;&lt;mtext&gt;&lt;/mtext&gt;&lt;mn&gt;5.55&lt;/mn&gt;&lt;mtext&gt;&lt;/mtext&gt;&lt;mtext&gt;&lt;/mtext&gt;&lt;mtext&gt;&lt;/mtext&gt;&lt;/math&gt;" id="1118" name="Google Shape;1118;p81" title="5 and one half 5.2 5 and one fourth 5.55"/>
          <p:cNvPicPr preferRelativeResize="0"/>
          <p:nvPr/>
        </p:nvPicPr>
        <p:blipFill rotWithShape="1">
          <a:blip r:embed="rId3">
            <a:alphaModFix/>
          </a:blip>
          <a:srcRect b="0" l="21066" r="56632" t="0"/>
          <a:stretch/>
        </p:blipFill>
        <p:spPr>
          <a:xfrm>
            <a:off x="1386771" y="3379363"/>
            <a:ext cx="596075" cy="801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\frac{1}{2}\ 5.2\ \ 5\frac{1}{4}\ \ 5.55\ \ \ &quot;&gt;&lt;mn&gt;5&lt;/mn&gt;&lt;mfrac&gt;&lt;mn&gt;1&lt;/mn&gt;&lt;mn&gt;2&lt;/mn&gt;&lt;/mfrac&gt;&lt;mtext&gt;&lt;/mtext&gt;&lt;mn&gt;5.2&lt;/mn&gt;&lt;mtext&gt;&lt;/mtext&gt;&lt;mtext&gt;&lt;/mtext&gt;&lt;mn&gt;5&lt;/mn&gt;&lt;mfrac&gt;&lt;mn&gt;1&lt;/mn&gt;&lt;mn&gt;4&lt;/mn&gt;&lt;/mfrac&gt;&lt;mtext&gt;&lt;/mtext&gt;&lt;mtext&gt;&lt;/mtext&gt;&lt;mn&gt;5.55&lt;/mn&gt;&lt;mtext&gt;&lt;/mtext&gt;&lt;mtext&gt;&lt;/mtext&gt;&lt;mtext&gt;&lt;/mtext&gt;&lt;/math&gt;" id="1119" name="Google Shape;1119;p81" title="5 and one half 5.2 5 and one fourth 5.55"/>
          <p:cNvPicPr preferRelativeResize="0"/>
          <p:nvPr/>
        </p:nvPicPr>
        <p:blipFill rotWithShape="1">
          <a:blip r:embed="rId3">
            <a:alphaModFix/>
          </a:blip>
          <a:srcRect b="0" l="47432" r="29134" t="0"/>
          <a:stretch/>
        </p:blipFill>
        <p:spPr>
          <a:xfrm>
            <a:off x="3269300" y="3379363"/>
            <a:ext cx="626325" cy="801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\frac{1}{2}\ 5.2\ \ 5\frac{1}{4}\ \ 5.55\ \ \ &quot;&gt;&lt;mn&gt;5&lt;/mn&gt;&lt;mfrac&gt;&lt;mn&gt;1&lt;/mn&gt;&lt;mn&gt;2&lt;/mn&gt;&lt;/mfrac&gt;&lt;mtext&gt;&lt;/mtext&gt;&lt;mn&gt;5.2&lt;/mn&gt;&lt;mtext&gt;&lt;/mtext&gt;&lt;mtext&gt;&lt;/mtext&gt;&lt;mn&gt;5&lt;/mn&gt;&lt;mfrac&gt;&lt;mn&gt;1&lt;/mn&gt;&lt;mn&gt;4&lt;/mn&gt;&lt;/mfrac&gt;&lt;mtext&gt;&lt;/mtext&gt;&lt;mtext&gt;&lt;/mtext&gt;&lt;mn&gt;5.55&lt;/mn&gt;&lt;mtext&gt;&lt;/mtext&gt;&lt;mtext&gt;&lt;/mtext&gt;&lt;mtext&gt;&lt;/mtext&gt;&lt;/math&gt;" id="1120" name="Google Shape;1120;p81" title="5 and one half 5.2 5 and one fourth 5.55"/>
          <p:cNvPicPr preferRelativeResize="0"/>
          <p:nvPr/>
        </p:nvPicPr>
        <p:blipFill rotWithShape="1">
          <a:blip r:embed="rId3">
            <a:alphaModFix/>
          </a:blip>
          <a:srcRect b="0" l="0" r="77698" t="0"/>
          <a:stretch/>
        </p:blipFill>
        <p:spPr>
          <a:xfrm>
            <a:off x="5244663" y="3379363"/>
            <a:ext cx="596075" cy="801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\frac{1}{2}\ 5.2\ \ 5\frac{1}{4}\ \ 5.55\ \ \ &quot;&gt;&lt;mn&gt;5&lt;/mn&gt;&lt;mfrac&gt;&lt;mn&gt;1&lt;/mn&gt;&lt;mn&gt;2&lt;/mn&gt;&lt;/mfrac&gt;&lt;mtext&gt;&lt;/mtext&gt;&lt;mn&gt;5.2&lt;/mn&gt;&lt;mtext&gt;&lt;/mtext&gt;&lt;mtext&gt;&lt;/mtext&gt;&lt;mn&gt;5&lt;/mn&gt;&lt;mfrac&gt;&lt;mn&gt;1&lt;/mn&gt;&lt;mn&gt;4&lt;/mn&gt;&lt;/mfrac&gt;&lt;mtext&gt;&lt;/mtext&gt;&lt;mtext&gt;&lt;/mtext&gt;&lt;mn&gt;5.55&lt;/mn&gt;&lt;mtext&gt;&lt;/mtext&gt;&lt;mtext&gt;&lt;/mtext&gt;&lt;mtext&gt;&lt;/mtext&gt;&lt;/math&gt;" id="1121" name="Google Shape;1121;p81" title="5 and one half 5.2 5 and one fourth 5.55"/>
          <p:cNvPicPr preferRelativeResize="0"/>
          <p:nvPr/>
        </p:nvPicPr>
        <p:blipFill rotWithShape="1">
          <a:blip r:embed="rId3">
            <a:alphaModFix/>
          </a:blip>
          <a:srcRect b="0" l="73016" r="0" t="0"/>
          <a:stretch/>
        </p:blipFill>
        <p:spPr>
          <a:xfrm>
            <a:off x="7098592" y="3379363"/>
            <a:ext cx="721225" cy="801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22" name="Google Shape;1122;p81"/>
          <p:cNvCxnSpPr/>
          <p:nvPr/>
        </p:nvCxnSpPr>
        <p:spPr>
          <a:xfrm rot="10800000">
            <a:off x="3658800" y="1942475"/>
            <a:ext cx="430200" cy="398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23" name="Google Shape;1123;p81"/>
          <p:cNvSpPr txBox="1"/>
          <p:nvPr/>
        </p:nvSpPr>
        <p:spPr>
          <a:xfrm>
            <a:off x="3428400" y="2419125"/>
            <a:ext cx="1372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 than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5\frac{1}{2}\ 5.2\ \ 5\frac{1}{4}\ \ 5.55\ \ \ &quot;&gt;&lt;mn&gt;5&lt;/mn&gt;&lt;mfrac&gt;&lt;mn&gt;1&lt;/mn&gt;&lt;mn&gt;2&lt;/mn&gt;&lt;/mfrac&gt;&lt;mtext&gt;&lt;/mtext&gt;&lt;mn&gt;5.2&lt;/mn&gt;&lt;mtext&gt;&lt;/mtext&gt;&lt;mtext&gt;&lt;/mtext&gt;&lt;mn&gt;5&lt;/mn&gt;&lt;mfrac&gt;&lt;mn&gt;1&lt;/mn&gt;&lt;mn&gt;4&lt;/mn&gt;&lt;/mfrac&gt;&lt;mtext&gt;&lt;/mtext&gt;&lt;mtext&gt;&lt;/mtext&gt;&lt;mn&gt;5.55&lt;/mn&gt;&lt;mtext&gt;&lt;/mtext&gt;&lt;mtext&gt;&lt;/mtext&gt;&lt;mtext&gt;&lt;/mtext&gt;&lt;/math&gt;" id="1124" name="Google Shape;1124;p81" title="5 and one half 5.2 5 and one fourth 5.55"/>
          <p:cNvPicPr preferRelativeResize="0"/>
          <p:nvPr/>
        </p:nvPicPr>
        <p:blipFill rotWithShape="1">
          <a:blip r:embed="rId3">
            <a:alphaModFix/>
          </a:blip>
          <a:srcRect b="0" l="47432" r="29134" t="0"/>
          <a:stretch/>
        </p:blipFill>
        <p:spPr>
          <a:xfrm>
            <a:off x="4824000" y="2359426"/>
            <a:ext cx="358099" cy="45811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25" name="Google Shape;1125;p81"/>
          <p:cNvCxnSpPr/>
          <p:nvPr/>
        </p:nvCxnSpPr>
        <p:spPr>
          <a:xfrm rot="10800000">
            <a:off x="5693527" y="1922891"/>
            <a:ext cx="430200" cy="398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26" name="Google Shape;1126;p81"/>
          <p:cNvSpPr txBox="1"/>
          <p:nvPr/>
        </p:nvSpPr>
        <p:spPr>
          <a:xfrm>
            <a:off x="5463124" y="2399550"/>
            <a:ext cx="1893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Greater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than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5\frac{1}{2}\ 5.2\ \ 5\frac{1}{4}\ \ 5.55\ \ \ &quot;&gt;&lt;mn&gt;5&lt;/mn&gt;&lt;mfrac&gt;&lt;mn&gt;1&lt;/mn&gt;&lt;mn&gt;2&lt;/mn&gt;&lt;/mfrac&gt;&lt;mtext&gt;&lt;/mtext&gt;&lt;mn&gt;5.2&lt;/mn&gt;&lt;mtext&gt;&lt;/mtext&gt;&lt;mtext&gt;&lt;/mtext&gt;&lt;mn&gt;5&lt;/mn&gt;&lt;mfrac&gt;&lt;mn&gt;1&lt;/mn&gt;&lt;mn&gt;4&lt;/mn&gt;&lt;/mfrac&gt;&lt;mtext&gt;&lt;/mtext&gt;&lt;mtext&gt;&lt;/mtext&gt;&lt;mn&gt;5.55&lt;/mn&gt;&lt;mtext&gt;&lt;/mtext&gt;&lt;mtext&gt;&lt;/mtext&gt;&lt;mtext&gt;&lt;/mtext&gt;&lt;/math&gt;" id="1127" name="Google Shape;1127;p81" title="5 and one half 5.2 5 and one fourth 5.55"/>
          <p:cNvPicPr preferRelativeResize="0"/>
          <p:nvPr/>
        </p:nvPicPr>
        <p:blipFill rotWithShape="1">
          <a:blip r:embed="rId3">
            <a:alphaModFix/>
          </a:blip>
          <a:srcRect b="0" l="0" r="77698" t="0"/>
          <a:stretch/>
        </p:blipFill>
        <p:spPr>
          <a:xfrm>
            <a:off x="7280150" y="2347800"/>
            <a:ext cx="340803" cy="45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82"/>
          <p:cNvSpPr txBox="1"/>
          <p:nvPr>
            <p:ph idx="1" type="body"/>
          </p:nvPr>
        </p:nvSpPr>
        <p:spPr>
          <a:xfrm>
            <a:off x="3361550" y="3629050"/>
            <a:ext cx="3440400" cy="4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0.4375,</a:t>
            </a:r>
            <a:endParaRPr/>
          </a:p>
        </p:txBody>
      </p:sp>
      <p:sp>
        <p:nvSpPr>
          <p:cNvPr id="1133" name="Google Shape;1133;p82"/>
          <p:cNvSpPr txBox="1"/>
          <p:nvPr>
            <p:ph idx="1" type="body"/>
          </p:nvPr>
        </p:nvSpPr>
        <p:spPr>
          <a:xfrm>
            <a:off x="4377075" y="3629050"/>
            <a:ext cx="2577300" cy="4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0.44,</a:t>
            </a:r>
            <a:endParaRPr/>
          </a:p>
        </p:txBody>
      </p:sp>
      <p:sp>
        <p:nvSpPr>
          <p:cNvPr id="1134" name="Google Shape;1134;p82"/>
          <p:cNvSpPr txBox="1"/>
          <p:nvPr>
            <p:ph idx="1" type="body"/>
          </p:nvPr>
        </p:nvSpPr>
        <p:spPr>
          <a:xfrm>
            <a:off x="5113800" y="3629050"/>
            <a:ext cx="1992900" cy="4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0.45,</a:t>
            </a:r>
            <a:endParaRPr/>
          </a:p>
        </p:txBody>
      </p:sp>
      <p:sp>
        <p:nvSpPr>
          <p:cNvPr id="1135" name="Google Shape;1135;p82"/>
          <p:cNvSpPr txBox="1"/>
          <p:nvPr>
            <p:ph idx="1" type="body"/>
          </p:nvPr>
        </p:nvSpPr>
        <p:spPr>
          <a:xfrm>
            <a:off x="5830975" y="3629050"/>
            <a:ext cx="1428000" cy="4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0.48</a:t>
            </a:r>
            <a:endParaRPr/>
          </a:p>
        </p:txBody>
      </p:sp>
      <p:sp>
        <p:nvSpPr>
          <p:cNvPr id="1136" name="Google Shape;1136;p82"/>
          <p:cNvSpPr txBox="1"/>
          <p:nvPr>
            <p:ph idx="1" type="body"/>
          </p:nvPr>
        </p:nvSpPr>
        <p:spPr>
          <a:xfrm>
            <a:off x="387375" y="4370872"/>
            <a:ext cx="1011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16</a:t>
            </a:r>
            <a:r>
              <a:rPr lang="en-GB"/>
              <a:t>  7 . 0</a:t>
            </a:r>
            <a:endParaRPr/>
          </a:p>
        </p:txBody>
      </p:sp>
      <p:cxnSp>
        <p:nvCxnSpPr>
          <p:cNvPr id="1137" name="Google Shape;1137;p82"/>
          <p:cNvCxnSpPr/>
          <p:nvPr/>
        </p:nvCxnSpPr>
        <p:spPr>
          <a:xfrm rot="10800000">
            <a:off x="718450" y="4376125"/>
            <a:ext cx="7782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8" name="Google Shape;1138;p82"/>
          <p:cNvSpPr txBox="1"/>
          <p:nvPr>
            <p:ph idx="1" type="body"/>
          </p:nvPr>
        </p:nvSpPr>
        <p:spPr>
          <a:xfrm>
            <a:off x="1362889" y="4345284"/>
            <a:ext cx="144600" cy="2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</a:t>
            </a:r>
            <a:endParaRPr sz="1600"/>
          </a:p>
        </p:txBody>
      </p:sp>
      <p:cxnSp>
        <p:nvCxnSpPr>
          <p:cNvPr id="1139" name="Google Shape;1139;p82"/>
          <p:cNvCxnSpPr/>
          <p:nvPr/>
        </p:nvCxnSpPr>
        <p:spPr>
          <a:xfrm rot="10800000">
            <a:off x="737450" y="4383525"/>
            <a:ext cx="0" cy="405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0" name="Google Shape;1140;p82"/>
          <p:cNvSpPr txBox="1"/>
          <p:nvPr>
            <p:ph idx="1" type="body"/>
          </p:nvPr>
        </p:nvSpPr>
        <p:spPr>
          <a:xfrm>
            <a:off x="1067707" y="4345275"/>
            <a:ext cx="144600" cy="2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7</a:t>
            </a:r>
            <a:endParaRPr sz="1600"/>
          </a:p>
        </p:txBody>
      </p:sp>
      <p:sp>
        <p:nvSpPr>
          <p:cNvPr id="1141" name="Google Shape;1141;p82"/>
          <p:cNvSpPr txBox="1"/>
          <p:nvPr>
            <p:ph idx="1" type="body"/>
          </p:nvPr>
        </p:nvSpPr>
        <p:spPr>
          <a:xfrm>
            <a:off x="1218300" y="3970700"/>
            <a:ext cx="1446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</a:t>
            </a:r>
            <a:endParaRPr/>
          </a:p>
        </p:txBody>
      </p:sp>
      <p:sp>
        <p:nvSpPr>
          <p:cNvPr id="1142" name="Google Shape;1142;p82"/>
          <p:cNvSpPr txBox="1"/>
          <p:nvPr>
            <p:ph idx="1" type="body"/>
          </p:nvPr>
        </p:nvSpPr>
        <p:spPr>
          <a:xfrm>
            <a:off x="1471125" y="4376125"/>
            <a:ext cx="1446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</a:t>
            </a:r>
            <a:endParaRPr/>
          </a:p>
        </p:txBody>
      </p:sp>
      <p:sp>
        <p:nvSpPr>
          <p:cNvPr id="1143" name="Google Shape;1143;p82"/>
          <p:cNvSpPr txBox="1"/>
          <p:nvPr>
            <p:ph idx="1" type="body"/>
          </p:nvPr>
        </p:nvSpPr>
        <p:spPr>
          <a:xfrm>
            <a:off x="1505775" y="3970700"/>
            <a:ext cx="1446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</a:t>
            </a:r>
            <a:endParaRPr/>
          </a:p>
        </p:txBody>
      </p:sp>
      <p:sp>
        <p:nvSpPr>
          <p:cNvPr id="1144" name="Google Shape;1144;p82"/>
          <p:cNvSpPr txBox="1"/>
          <p:nvPr>
            <p:ph idx="1" type="body"/>
          </p:nvPr>
        </p:nvSpPr>
        <p:spPr>
          <a:xfrm>
            <a:off x="1807558" y="4376125"/>
            <a:ext cx="1446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</a:t>
            </a:r>
            <a:endParaRPr/>
          </a:p>
        </p:txBody>
      </p:sp>
      <p:sp>
        <p:nvSpPr>
          <p:cNvPr id="1145" name="Google Shape;1145;p82"/>
          <p:cNvSpPr txBox="1"/>
          <p:nvPr>
            <p:ph idx="1" type="body"/>
          </p:nvPr>
        </p:nvSpPr>
        <p:spPr>
          <a:xfrm>
            <a:off x="1615722" y="4345275"/>
            <a:ext cx="304800" cy="2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</a:t>
            </a:r>
            <a:endParaRPr sz="1600"/>
          </a:p>
        </p:txBody>
      </p:sp>
      <p:sp>
        <p:nvSpPr>
          <p:cNvPr id="1146" name="Google Shape;1146;p82"/>
          <p:cNvSpPr txBox="1"/>
          <p:nvPr>
            <p:ph idx="1" type="body"/>
          </p:nvPr>
        </p:nvSpPr>
        <p:spPr>
          <a:xfrm>
            <a:off x="1793250" y="3979025"/>
            <a:ext cx="1446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7</a:t>
            </a:r>
            <a:endParaRPr/>
          </a:p>
        </p:txBody>
      </p:sp>
      <p:sp>
        <p:nvSpPr>
          <p:cNvPr id="1147" name="Google Shape;1147;p82"/>
          <p:cNvSpPr txBox="1"/>
          <p:nvPr>
            <p:ph idx="1" type="body"/>
          </p:nvPr>
        </p:nvSpPr>
        <p:spPr>
          <a:xfrm>
            <a:off x="7277400" y="1469700"/>
            <a:ext cx="1407900" cy="280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 × 16 = 16</a:t>
            </a:r>
            <a:endParaRPr sz="1800"/>
          </a:p>
          <a:p>
            <a:pPr indent="0" lvl="0" marL="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2 × 16 = 32</a:t>
            </a:r>
            <a:endParaRPr sz="1800"/>
          </a:p>
          <a:p>
            <a:pPr indent="0" lvl="0" marL="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3 × 16 = 48</a:t>
            </a:r>
            <a:endParaRPr sz="1800"/>
          </a:p>
          <a:p>
            <a:pPr indent="0" lvl="0" marL="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4 × 16 = 64</a:t>
            </a:r>
            <a:endParaRPr sz="1800"/>
          </a:p>
          <a:p>
            <a:pPr indent="0" lvl="0" marL="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5 × 16 = 80</a:t>
            </a:r>
            <a:endParaRPr sz="1800"/>
          </a:p>
          <a:p>
            <a:pPr indent="0" lvl="0" marL="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6 × 16 = 96</a:t>
            </a:r>
            <a:endParaRPr sz="1800"/>
          </a:p>
          <a:p>
            <a:pPr indent="0" lvl="0" marL="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7 × 16 = 112</a:t>
            </a:r>
            <a:endParaRPr sz="1800"/>
          </a:p>
          <a:p>
            <a:pPr indent="0" lvl="0" marL="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8 × 16 = 128</a:t>
            </a:r>
            <a:endParaRPr sz="1800"/>
          </a:p>
          <a:p>
            <a:pPr indent="0" lvl="0" marL="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9 × 16 = 144</a:t>
            </a:r>
            <a:endParaRPr sz="1800"/>
          </a:p>
          <a:p>
            <a:pPr indent="0" lvl="0" marL="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10 × 16 = 160</a:t>
            </a:r>
            <a:endParaRPr sz="1800"/>
          </a:p>
          <a:p>
            <a:pPr indent="0" lvl="0" marL="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6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48" name="Google Shape;1148;p82"/>
          <p:cNvSpPr txBox="1"/>
          <p:nvPr>
            <p:ph idx="1" type="body"/>
          </p:nvPr>
        </p:nvSpPr>
        <p:spPr>
          <a:xfrm>
            <a:off x="2080725" y="4376125"/>
            <a:ext cx="1446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</a:t>
            </a:r>
            <a:endParaRPr/>
          </a:p>
        </p:txBody>
      </p:sp>
      <p:sp>
        <p:nvSpPr>
          <p:cNvPr id="1149" name="Google Shape;1149;p82"/>
          <p:cNvSpPr txBox="1"/>
          <p:nvPr>
            <p:ph idx="1" type="body"/>
          </p:nvPr>
        </p:nvSpPr>
        <p:spPr>
          <a:xfrm>
            <a:off x="1982663" y="4345275"/>
            <a:ext cx="276000" cy="2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</a:t>
            </a:r>
            <a:endParaRPr sz="1600"/>
          </a:p>
        </p:txBody>
      </p:sp>
      <p:sp>
        <p:nvSpPr>
          <p:cNvPr id="1150" name="Google Shape;1150;p82"/>
          <p:cNvSpPr txBox="1"/>
          <p:nvPr>
            <p:ph idx="1" type="body"/>
          </p:nvPr>
        </p:nvSpPr>
        <p:spPr>
          <a:xfrm>
            <a:off x="2080725" y="3979025"/>
            <a:ext cx="1446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</a:t>
            </a:r>
            <a:endParaRPr/>
          </a:p>
        </p:txBody>
      </p:sp>
      <p:sp>
        <p:nvSpPr>
          <p:cNvPr id="1151" name="Google Shape;1151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fractions by converting into decimals</a:t>
            </a:r>
            <a:endParaRPr/>
          </a:p>
        </p:txBody>
      </p:sp>
      <p:sp>
        <p:nvSpPr>
          <p:cNvPr id="1152" name="Google Shape;1152;p82"/>
          <p:cNvSpPr txBox="1"/>
          <p:nvPr>
            <p:ph idx="1" type="body"/>
          </p:nvPr>
        </p:nvSpPr>
        <p:spPr>
          <a:xfrm>
            <a:off x="324000" y="759300"/>
            <a:ext cx="84960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If it is not obvious, you may need to convert the fractions into decimals.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frac{9}{20}\ \ \ \ \ \frac{11}{25}\ \ \ \ \ \frac{7}{16}\ \ \ \ \ \frac{60}{125}&quot;&gt;&lt;mfrac&gt;&lt;mn&gt;9&lt;/mn&gt;&lt;mn&gt;20&lt;/mn&gt;&lt;/mfrac&gt;&lt;mtext&gt;&lt;/mtext&gt;&lt;mtext&gt;&lt;/mtext&gt;&lt;mtext&gt;&lt;/mtext&gt;&lt;mtext&gt;&lt;/mtext&gt;&lt;mtext&gt;&lt;/mtext&gt;&lt;mfrac&gt;&lt;mn&gt;11&lt;/mn&gt;&lt;mn&gt;25&lt;/mn&gt;&lt;/mfrac&gt;&lt;mtext&gt;&lt;/mtext&gt;&lt;mtext&gt;&lt;/mtext&gt;&lt;mtext&gt;&lt;/mtext&gt;&lt;mtext&gt;&lt;/mtext&gt;&lt;mtext&gt;&lt;/mtext&gt;&lt;mfrac&gt;&lt;mn&gt;7&lt;/mn&gt;&lt;mn&gt;16&lt;/mn&gt;&lt;/mfrac&gt;&lt;mtext&gt;&lt;/mtext&gt;&lt;mtext&gt;&lt;/mtext&gt;&lt;mtext&gt;&lt;/mtext&gt;&lt;mtext&gt;&lt;/mtext&gt;&lt;mtext&gt;&lt;/mtext&gt;&lt;mfrac&gt;&lt;mn&gt;60&lt;/mn&gt;&lt;mn&gt;125&lt;/mn&gt;&lt;/mfrac&gt;&lt;/math&gt;" id="1153" name="Google Shape;1153;p82" title="9 over 20 11 over 25 7 over 16 60 over 1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9600" y="1469700"/>
            <a:ext cx="3136800" cy="690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20}=\frac{9\times5}{20\times5}=\frac{45}{100}=0.45&quot;&gt;&lt;mfrac&gt;&lt;mn&gt;9&lt;/mn&gt;&lt;mn&gt;20&lt;/mn&gt;&lt;/mfrac&gt;&lt;mo&gt;=&lt;/mo&gt;&lt;mfrac&gt;&lt;mrow&gt;&lt;mn&gt;9&lt;/mn&gt;&lt;mo&gt;×&lt;/mo&gt;&lt;mn&gt;5&lt;/mn&gt;&lt;/mrow&gt;&lt;mrow&gt;&lt;mn&gt;20&lt;/mn&gt;&lt;mo&gt;×&lt;/mo&gt;&lt;mn&gt;5&lt;/mn&gt;&lt;/mrow&gt;&lt;/mfrac&gt;&lt;mo&gt;=&lt;/mo&gt;&lt;mfrac&gt;&lt;mn&gt;45&lt;/mn&gt;&lt;mn&gt;100&lt;/mn&gt;&lt;/mfrac&gt;&lt;mo&gt;=&lt;/mo&gt;&lt;mn&gt;0.45&lt;/mn&gt;&lt;/math&gt;" id="1154" name="Google Shape;1154;p82" title="9 over 20 equals the fraction with numerator 9 times 5 and denominator 20 times 5 equals 45 over 100 equals 0.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3" y="2354998"/>
            <a:ext cx="2613600" cy="4787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}{25}=\frac{11\times4}{25\times4}=\frac{44}{100}=0.44&quot;&gt;&lt;mfrac&gt;&lt;mn&gt;11&lt;/mn&gt;&lt;mn&gt;25&lt;/mn&gt;&lt;/mfrac&gt;&lt;mo&gt;=&lt;/mo&gt;&lt;mfrac&gt;&lt;mrow&gt;&lt;mn&gt;11&lt;/mn&gt;&lt;mo&gt;×&lt;/mo&gt;&lt;mn&gt;4&lt;/mn&gt;&lt;/mrow&gt;&lt;mrow&gt;&lt;mn&gt;25&lt;/mn&gt;&lt;mo&gt;×&lt;/mo&gt;&lt;mn&gt;4&lt;/mn&gt;&lt;/mrow&gt;&lt;/mfrac&gt;&lt;mo&gt;=&lt;/mo&gt;&lt;mfrac&gt;&lt;mn&gt;44&lt;/mn&gt;&lt;mn&gt;100&lt;/mn&gt;&lt;/mfrac&gt;&lt;mo&gt;=&lt;/mo&gt;&lt;mn&gt;0.44&lt;/mn&gt;&lt;/math&gt;" id="1155" name="Google Shape;1155;p82" title="11 over 25 equals the fraction with numerator 11 times 4 and denominator 25 times 4 equals 44 over 100 equals 0.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3798" y="3266221"/>
            <a:ext cx="2700000" cy="4931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0}{125}=\frac{60\times8}{125\times8}=\frac{480}{1000}=0.48&quot;&gt;&lt;mfrac&gt;&lt;mn&gt;60&lt;/mn&gt;&lt;mn&gt;125&lt;/mn&gt;&lt;/mfrac&gt;&lt;mo&gt;=&lt;/mo&gt;&lt;mfrac&gt;&lt;mrow&gt;&lt;mn&gt;60&lt;/mn&gt;&lt;mo&gt;×&lt;/mo&gt;&lt;mn&gt;8&lt;/mn&gt;&lt;/mrow&gt;&lt;mrow&gt;&lt;mn&gt;125&lt;/mn&gt;&lt;mo&gt;×&lt;/mo&gt;&lt;mn&gt;8&lt;/mn&gt;&lt;/mrow&gt;&lt;/mfrac&gt;&lt;mo&gt;=&lt;/mo&gt;&lt;mfrac&gt;&lt;mn&gt;480&lt;/mn&gt;&lt;mn&gt;1000&lt;/mn&gt;&lt;/mfrac&gt;&lt;mo&gt;=&lt;/mo&gt;&lt;mn&gt;0.48&lt;/mn&gt;&lt;/math&gt;" id="1156" name="Google Shape;1156;p82" title="60 over 125 equals the fraction with numerator 60 times 8 and denominator 125 times 8 equals 480 over 1000 equals 0.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69598" y="2354989"/>
            <a:ext cx="3045600" cy="493196"/>
          </a:xfrm>
          <a:prstGeom prst="rect">
            <a:avLst/>
          </a:prstGeom>
          <a:noFill/>
          <a:ln>
            <a:noFill/>
          </a:ln>
        </p:spPr>
      </p:pic>
      <p:sp>
        <p:nvSpPr>
          <p:cNvPr id="1157" name="Google Shape;1157;p82"/>
          <p:cNvSpPr txBox="1"/>
          <p:nvPr>
            <p:ph idx="1" type="body"/>
          </p:nvPr>
        </p:nvSpPr>
        <p:spPr>
          <a:xfrm>
            <a:off x="3361550" y="3248050"/>
            <a:ext cx="3440400" cy="4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In order as decimals:  </a:t>
            </a:r>
            <a:endParaRPr/>
          </a:p>
        </p:txBody>
      </p:sp>
      <p:sp>
        <p:nvSpPr>
          <p:cNvPr id="1158" name="Google Shape;1158;p82"/>
          <p:cNvSpPr txBox="1"/>
          <p:nvPr>
            <p:ph idx="1" type="body"/>
          </p:nvPr>
        </p:nvSpPr>
        <p:spPr>
          <a:xfrm>
            <a:off x="830275" y="3979025"/>
            <a:ext cx="4245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0 .</a:t>
            </a:r>
            <a:endParaRPr/>
          </a:p>
        </p:txBody>
      </p:sp>
      <p:sp>
        <p:nvSpPr>
          <p:cNvPr id="1159" name="Google Shape;1159;p82"/>
          <p:cNvSpPr txBox="1"/>
          <p:nvPr>
            <p:ph idx="1" type="body"/>
          </p:nvPr>
        </p:nvSpPr>
        <p:spPr>
          <a:xfrm>
            <a:off x="323997" y="1615500"/>
            <a:ext cx="28392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Order the following:</a:t>
            </a:r>
            <a:endParaRPr sz="2000"/>
          </a:p>
        </p:txBody>
      </p:sp>
      <p:sp>
        <p:nvSpPr>
          <p:cNvPr id="1160" name="Google Shape;1160;p82"/>
          <p:cNvSpPr/>
          <p:nvPr/>
        </p:nvSpPr>
        <p:spPr>
          <a:xfrm>
            <a:off x="1591500" y="2559725"/>
            <a:ext cx="667200" cy="28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1" name="Google Shape;1161;p82"/>
          <p:cNvSpPr/>
          <p:nvPr/>
        </p:nvSpPr>
        <p:spPr>
          <a:xfrm>
            <a:off x="632450" y="2580075"/>
            <a:ext cx="959100" cy="28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2" name="Google Shape;1162;p82"/>
          <p:cNvSpPr/>
          <p:nvPr/>
        </p:nvSpPr>
        <p:spPr>
          <a:xfrm>
            <a:off x="889800" y="2291475"/>
            <a:ext cx="667200" cy="28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3" name="Google Shape;1163;p82"/>
          <p:cNvSpPr/>
          <p:nvPr/>
        </p:nvSpPr>
        <p:spPr>
          <a:xfrm>
            <a:off x="1663125" y="2291475"/>
            <a:ext cx="667200" cy="246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4" name="Google Shape;1164;p82"/>
          <p:cNvSpPr/>
          <p:nvPr/>
        </p:nvSpPr>
        <p:spPr>
          <a:xfrm>
            <a:off x="2325700" y="2450100"/>
            <a:ext cx="667200" cy="28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5" name="Google Shape;1165;p82"/>
          <p:cNvSpPr/>
          <p:nvPr/>
        </p:nvSpPr>
        <p:spPr>
          <a:xfrm>
            <a:off x="1663125" y="3467925"/>
            <a:ext cx="667200" cy="28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6" name="Google Shape;1166;p82"/>
          <p:cNvSpPr/>
          <p:nvPr/>
        </p:nvSpPr>
        <p:spPr>
          <a:xfrm>
            <a:off x="632450" y="3462675"/>
            <a:ext cx="995400" cy="317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7" name="Google Shape;1167;p82"/>
          <p:cNvSpPr/>
          <p:nvPr/>
        </p:nvSpPr>
        <p:spPr>
          <a:xfrm>
            <a:off x="614300" y="3183600"/>
            <a:ext cx="995400" cy="317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8" name="Google Shape;1168;p82"/>
          <p:cNvSpPr/>
          <p:nvPr/>
        </p:nvSpPr>
        <p:spPr>
          <a:xfrm>
            <a:off x="1883925" y="3183600"/>
            <a:ext cx="374700" cy="317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9" name="Google Shape;1169;p82"/>
          <p:cNvSpPr/>
          <p:nvPr/>
        </p:nvSpPr>
        <p:spPr>
          <a:xfrm>
            <a:off x="2365600" y="3383300"/>
            <a:ext cx="778200" cy="317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0" name="Google Shape;1170;p82"/>
          <p:cNvSpPr/>
          <p:nvPr/>
        </p:nvSpPr>
        <p:spPr>
          <a:xfrm>
            <a:off x="4902875" y="2559725"/>
            <a:ext cx="871500" cy="28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1" name="Google Shape;1171;p82"/>
          <p:cNvSpPr/>
          <p:nvPr/>
        </p:nvSpPr>
        <p:spPr>
          <a:xfrm>
            <a:off x="3830850" y="2555700"/>
            <a:ext cx="1071900" cy="28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2" name="Google Shape;1172;p82"/>
          <p:cNvSpPr/>
          <p:nvPr/>
        </p:nvSpPr>
        <p:spPr>
          <a:xfrm>
            <a:off x="3951600" y="2270175"/>
            <a:ext cx="1071900" cy="28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3" name="Google Shape;1173;p82"/>
          <p:cNvSpPr/>
          <p:nvPr/>
        </p:nvSpPr>
        <p:spPr>
          <a:xfrm>
            <a:off x="5184900" y="2270175"/>
            <a:ext cx="451500" cy="28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4" name="Google Shape;1174;p82"/>
          <p:cNvSpPr/>
          <p:nvPr/>
        </p:nvSpPr>
        <p:spPr>
          <a:xfrm>
            <a:off x="5740700" y="2450100"/>
            <a:ext cx="778200" cy="28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5" name="Google Shape;1175;p82"/>
          <p:cNvSpPr/>
          <p:nvPr/>
        </p:nvSpPr>
        <p:spPr>
          <a:xfrm>
            <a:off x="3361550" y="3635700"/>
            <a:ext cx="959100" cy="34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6" name="Google Shape;1176;p82"/>
          <p:cNvSpPr/>
          <p:nvPr/>
        </p:nvSpPr>
        <p:spPr>
          <a:xfrm>
            <a:off x="4344450" y="3608400"/>
            <a:ext cx="703500" cy="34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7" name="Google Shape;1177;p82"/>
          <p:cNvSpPr/>
          <p:nvPr/>
        </p:nvSpPr>
        <p:spPr>
          <a:xfrm>
            <a:off x="5074188" y="3635700"/>
            <a:ext cx="703500" cy="34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8" name="Google Shape;1178;p82"/>
          <p:cNvSpPr/>
          <p:nvPr/>
        </p:nvSpPr>
        <p:spPr>
          <a:xfrm>
            <a:off x="5774400" y="3608400"/>
            <a:ext cx="730500" cy="34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9" name="Google Shape;1179;p82"/>
          <p:cNvSpPr txBox="1"/>
          <p:nvPr>
            <p:ph idx="1" type="body"/>
          </p:nvPr>
        </p:nvSpPr>
        <p:spPr>
          <a:xfrm>
            <a:off x="3361550" y="3931341"/>
            <a:ext cx="34404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In order as fractions: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9}{20}\ \ \ \ \ \frac{11}{25}\ \ \ \ \ \frac{7}{16}\ \ \ \ \ \frac{60}{125}&quot;&gt;&lt;mfrac&gt;&lt;mn&gt;9&lt;/mn&gt;&lt;mn&gt;20&lt;/mn&gt;&lt;/mfrac&gt;&lt;mtext&gt;&lt;/mtext&gt;&lt;mtext&gt;&lt;/mtext&gt;&lt;mtext&gt;&lt;/mtext&gt;&lt;mtext&gt;&lt;/mtext&gt;&lt;mtext&gt;&lt;/mtext&gt;&lt;mfrac&gt;&lt;mn&gt;11&lt;/mn&gt;&lt;mn&gt;25&lt;/mn&gt;&lt;/mfrac&gt;&lt;mtext&gt;&lt;/mtext&gt;&lt;mtext&gt;&lt;/mtext&gt;&lt;mtext&gt;&lt;/mtext&gt;&lt;mtext&gt;&lt;/mtext&gt;&lt;mtext&gt;&lt;/mtext&gt;&lt;mfrac&gt;&lt;mn&gt;7&lt;/mn&gt;&lt;mn&gt;16&lt;/mn&gt;&lt;/mfrac&gt;&lt;mtext&gt;&lt;/mtext&gt;&lt;mtext&gt;&lt;/mtext&gt;&lt;mtext&gt;&lt;/mtext&gt;&lt;mtext&gt;&lt;/mtext&gt;&lt;mtext&gt;&lt;/mtext&gt;&lt;mfrac&gt;&lt;mn&gt;60&lt;/mn&gt;&lt;mn&gt;125&lt;/mn&gt;&lt;/mfrac&gt;&lt;/math&gt;" id="1180" name="Google Shape;1180;p82" title="9 over 20 11 over 25 7 over 16 60 over 125"/>
          <p:cNvPicPr preferRelativeResize="0"/>
          <p:nvPr/>
        </p:nvPicPr>
        <p:blipFill rotWithShape="1">
          <a:blip r:embed="rId3">
            <a:alphaModFix/>
          </a:blip>
          <a:srcRect b="0" l="0" r="84604" t="0"/>
          <a:stretch/>
        </p:blipFill>
        <p:spPr>
          <a:xfrm>
            <a:off x="4984241" y="4324800"/>
            <a:ext cx="334975" cy="47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20}\ \ \ \ \ \frac{11}{25}\ \ \ \ \ \frac{7}{16}\ \ \ \ \ \frac{60}{125}&quot;&gt;&lt;mfrac&gt;&lt;mn&gt;9&lt;/mn&gt;&lt;mn&gt;20&lt;/mn&gt;&lt;/mfrac&gt;&lt;mtext&gt;&lt;/mtext&gt;&lt;mtext&gt;&lt;/mtext&gt;&lt;mtext&gt;&lt;/mtext&gt;&lt;mtext&gt;&lt;/mtext&gt;&lt;mtext&gt;&lt;/mtext&gt;&lt;mfrac&gt;&lt;mn&gt;11&lt;/mn&gt;&lt;mn&gt;25&lt;/mn&gt;&lt;/mfrac&gt;&lt;mtext&gt;&lt;/mtext&gt;&lt;mtext&gt;&lt;/mtext&gt;&lt;mtext&gt;&lt;/mtext&gt;&lt;mtext&gt;&lt;/mtext&gt;&lt;mtext&gt;&lt;/mtext&gt;&lt;mfrac&gt;&lt;mn&gt;7&lt;/mn&gt;&lt;mn&gt;16&lt;/mn&gt;&lt;/mfrac&gt;&lt;mtext&gt;&lt;/mtext&gt;&lt;mtext&gt;&lt;/mtext&gt;&lt;mtext&gt;&lt;/mtext&gt;&lt;mtext&gt;&lt;/mtext&gt;&lt;mtext&gt;&lt;/mtext&gt;&lt;mfrac&gt;&lt;mn&gt;60&lt;/mn&gt;&lt;mn&gt;125&lt;/mn&gt;&lt;/mfrac&gt;&lt;/math&gt;" id="1181" name="Google Shape;1181;p82" title="9 over 20 11 over 25 7 over 16 60 over 125"/>
          <p:cNvPicPr preferRelativeResize="0"/>
          <p:nvPr/>
        </p:nvPicPr>
        <p:blipFill rotWithShape="1">
          <a:blip r:embed="rId3">
            <a:alphaModFix/>
          </a:blip>
          <a:srcRect b="0" l="52560" r="30217" t="0"/>
          <a:stretch/>
        </p:blipFill>
        <p:spPr>
          <a:xfrm>
            <a:off x="3427774" y="4324800"/>
            <a:ext cx="374700" cy="47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20}\ \ \ \ \ \frac{11}{25}\ \ \ \ \ \frac{7}{16}\ \ \ \ \ \frac{60}{125}&quot;&gt;&lt;mfrac&gt;&lt;mn&gt;9&lt;/mn&gt;&lt;mn&gt;20&lt;/mn&gt;&lt;/mfrac&gt;&lt;mtext&gt;&lt;/mtext&gt;&lt;mtext&gt;&lt;/mtext&gt;&lt;mtext&gt;&lt;/mtext&gt;&lt;mtext&gt;&lt;/mtext&gt;&lt;mtext&gt;&lt;/mtext&gt;&lt;mfrac&gt;&lt;mn&gt;11&lt;/mn&gt;&lt;mn&gt;25&lt;/mn&gt;&lt;/mfrac&gt;&lt;mtext&gt;&lt;/mtext&gt;&lt;mtext&gt;&lt;/mtext&gt;&lt;mtext&gt;&lt;/mtext&gt;&lt;mtext&gt;&lt;/mtext&gt;&lt;mtext&gt;&lt;/mtext&gt;&lt;mfrac&gt;&lt;mn&gt;7&lt;/mn&gt;&lt;mn&gt;16&lt;/mn&gt;&lt;/mfrac&gt;&lt;mtext&gt;&lt;/mtext&gt;&lt;mtext&gt;&lt;/mtext&gt;&lt;mtext&gt;&lt;/mtext&gt;&lt;mtext&gt;&lt;/mtext&gt;&lt;mtext&gt;&lt;/mtext&gt;&lt;mfrac&gt;&lt;mn&gt;60&lt;/mn&gt;&lt;mn&gt;125&lt;/mn&gt;&lt;/mfrac&gt;&lt;/math&gt;" id="1182" name="Google Shape;1182;p82" title="9 over 20 11 over 25 7 over 16 60 over 125"/>
          <p:cNvPicPr preferRelativeResize="0"/>
          <p:nvPr/>
        </p:nvPicPr>
        <p:blipFill rotWithShape="1">
          <a:blip r:embed="rId3">
            <a:alphaModFix/>
          </a:blip>
          <a:srcRect b="0" l="80489" r="0" t="0"/>
          <a:stretch/>
        </p:blipFill>
        <p:spPr>
          <a:xfrm>
            <a:off x="5722750" y="4324800"/>
            <a:ext cx="424500" cy="47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20}\ \ \ \ \ \frac{11}{25}\ \ \ \ \ \frac{7}{16}\ \ \ \ \ \frac{60}{125}&quot;&gt;&lt;mfrac&gt;&lt;mn&gt;9&lt;/mn&gt;&lt;mn&gt;20&lt;/mn&gt;&lt;/mfrac&gt;&lt;mtext&gt;&lt;/mtext&gt;&lt;mtext&gt;&lt;/mtext&gt;&lt;mtext&gt;&lt;/mtext&gt;&lt;mtext&gt;&lt;/mtext&gt;&lt;mtext&gt;&lt;/mtext&gt;&lt;mfrac&gt;&lt;mn&gt;11&lt;/mn&gt;&lt;mn&gt;25&lt;/mn&gt;&lt;/mfrac&gt;&lt;mtext&gt;&lt;/mtext&gt;&lt;mtext&gt;&lt;/mtext&gt;&lt;mtext&gt;&lt;/mtext&gt;&lt;mtext&gt;&lt;/mtext&gt;&lt;mtext&gt;&lt;/mtext&gt;&lt;mfrac&gt;&lt;mn&gt;7&lt;/mn&gt;&lt;mn&gt;16&lt;/mn&gt;&lt;/mfrac&gt;&lt;mtext&gt;&lt;/mtext&gt;&lt;mtext&gt;&lt;/mtext&gt;&lt;mtext&gt;&lt;/mtext&gt;&lt;mtext&gt;&lt;/mtext&gt;&lt;mtext&gt;&lt;/mtext&gt;&lt;mfrac&gt;&lt;mn&gt;60&lt;/mn&gt;&lt;mn&gt;125&lt;/mn&gt;&lt;/mfrac&gt;&lt;/math&gt;" id="1183" name="Google Shape;1183;p82" title="9 over 20 11 over 25 7 over 16 60 over 125"/>
          <p:cNvPicPr preferRelativeResize="0"/>
          <p:nvPr/>
        </p:nvPicPr>
        <p:blipFill rotWithShape="1">
          <a:blip r:embed="rId3">
            <a:alphaModFix/>
          </a:blip>
          <a:srcRect b="0" l="25000" r="57777" t="0"/>
          <a:stretch/>
        </p:blipFill>
        <p:spPr>
          <a:xfrm>
            <a:off x="4206008" y="4324800"/>
            <a:ext cx="374700" cy="47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8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Write</a:t>
            </a:r>
            <a:r>
              <a:rPr lang="en-GB"/>
              <a:t> the following in ascending order.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8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Ordering fractions by converting into decimals</a:t>
            </a:r>
            <a:endParaRPr/>
          </a:p>
        </p:txBody>
      </p:sp>
      <p:pic>
        <p:nvPicPr>
          <p:cNvPr id="1190" name="Google Shape;1190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1050" y="1668703"/>
            <a:ext cx="2911947" cy="682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7\frac{1}{5}\ \ \ \ \ 7.28\ \ \ \ \ 7\frac{1}{4}\ \ \ \ \ 7.256\ \ &quot;&gt;&lt;mn&gt;7&lt;/mn&gt;&lt;mfrac&gt;&lt;mn&gt;1&lt;/mn&gt;&lt;mn&gt;5&lt;/mn&gt;&lt;/mfrac&gt;&lt;mtext&gt;&lt;/mtext&gt;&lt;mtext&gt;&lt;/mtext&gt;&lt;mtext&gt;&lt;/mtext&gt;&lt;mtext&gt;&lt;/mtext&gt;&lt;mtext&gt;&lt;/mtext&gt;&lt;mn&gt;7.28&lt;/mn&gt;&lt;mtext&gt;&lt;/mtext&gt;&lt;mtext&gt;&lt;/mtext&gt;&lt;mtext&gt;&lt;/mtext&gt;&lt;mtext&gt;&lt;/mtext&gt;&lt;mtext&gt;&lt;/mtext&gt;&lt;mn&gt;7&lt;/mn&gt;&lt;mfrac&gt;&lt;mn&gt;1&lt;/mn&gt;&lt;mn&gt;4&lt;/mn&gt;&lt;/mfrac&gt;&lt;mtext&gt;&lt;/mtext&gt;&lt;mtext&gt;&lt;/mtext&gt;&lt;mtext&gt;&lt;/mtext&gt;&lt;mtext&gt;&lt;/mtext&gt;&lt;mtext&gt;&lt;/mtext&gt;&lt;mn&gt;7.256&lt;/mn&gt;&lt;mtext&gt;&lt;/mtext&gt;&lt;mtext&gt;&lt;/mtext&gt;&lt;/math&gt;" id="1191" name="Google Shape;1191;p83" title="7 and one fifth 7.28 7 and one fourth 7.2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70450" y="3288712"/>
            <a:ext cx="3398945" cy="6777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\ \ \ \ \ 0.404\ \ \ \ \ \frac{1}{2}\ \ \ \ \ 0.483\ \ &quot;&gt;&lt;mfrac&gt;&lt;mn&gt;2&lt;/mn&gt;&lt;mn&gt;5&lt;/mn&gt;&lt;/mfrac&gt;&lt;mtext&gt;&lt;/mtext&gt;&lt;mtext&gt;&lt;/mtext&gt;&lt;mtext&gt;&lt;/mtext&gt;&lt;mtext&gt;&lt;/mtext&gt;&lt;mtext&gt;&lt;/mtext&gt;&lt;mn&gt;0.404&lt;/mn&gt;&lt;mtext&gt;&lt;/mtext&gt;&lt;mtext&gt;&lt;/mtext&gt;&lt;mtext&gt;&lt;/mtext&gt;&lt;mtext&gt;&lt;/mtext&gt;&lt;mtext&gt;&lt;/mtext&gt;&lt;mfrac&gt;&lt;mn&gt;1&lt;/mn&gt;&lt;mn&gt;2&lt;/mn&gt;&lt;/mfrac&gt;&lt;mtext&gt;&lt;/mtext&gt;&lt;mtext&gt;&lt;/mtext&gt;&lt;mtext&gt;&lt;/mtext&gt;&lt;mtext&gt;&lt;/mtext&gt;&lt;mtext&gt;&lt;/mtext&gt;&lt;mn&gt;0.483&lt;/mn&gt;&lt;mtext&gt;&lt;/mtext&gt;&lt;mtext&gt;&lt;/mtext&gt;&lt;/math&gt;" id="1192" name="Google Shape;1192;p83" title="two fifths 0.404 one half 0.4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5253" y="1668703"/>
            <a:ext cx="3188079" cy="6777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frac{3}{4}\ \ \ \ \ 2.753\ \ \ \ \ 2\frac{3}{5}\ \ \ \ \ 2.065\ \ &quot;&gt;&lt;mn&gt;2&lt;/mn&gt;&lt;mfrac&gt;&lt;mn&gt;3&lt;/mn&gt;&lt;mn&gt;4&lt;/mn&gt;&lt;/mfrac&gt;&lt;mtext&gt;&lt;/mtext&gt;&lt;mtext&gt;&lt;/mtext&gt;&lt;mtext&gt;&lt;/mtext&gt;&lt;mtext&gt;&lt;/mtext&gt;&lt;mtext&gt;&lt;/mtext&gt;&lt;mn&gt;2.753&lt;/mn&gt;&lt;mtext&gt;&lt;/mtext&gt;&lt;mtext&gt;&lt;/mtext&gt;&lt;mtext&gt;&lt;/mtext&gt;&lt;mtext&gt;&lt;/mtext&gt;&lt;mtext&gt;&lt;/mtext&gt;&lt;mn&gt;2&lt;/mn&gt;&lt;mfrac&gt;&lt;mn&gt;3&lt;/mn&gt;&lt;mn&gt;5&lt;/mn&gt;&lt;/mfrac&gt;&lt;mtext&gt;&lt;/mtext&gt;&lt;mtext&gt;&lt;/mtext&gt;&lt;mtext&gt;&lt;/mtext&gt;&lt;mtext&gt;&lt;/mtext&gt;&lt;mtext&gt;&lt;/mtext&gt;&lt;mn&gt;2.065&lt;/mn&gt;&lt;mtext&gt;&lt;/mtext&gt;&lt;mtext&gt;&lt;/mtext&gt;&lt;/math&gt;" id="1193" name="Google Shape;1193;p83" title="2 and three fourths 2.753 2 and three fifths 2.06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3608" y="3288712"/>
            <a:ext cx="3544542" cy="677780"/>
          </a:xfrm>
          <a:prstGeom prst="rect">
            <a:avLst/>
          </a:prstGeom>
          <a:noFill/>
          <a:ln>
            <a:noFill/>
          </a:ln>
        </p:spPr>
      </p:pic>
      <p:sp>
        <p:nvSpPr>
          <p:cNvPr id="1194" name="Google Shape;1194;p83"/>
          <p:cNvSpPr txBox="1"/>
          <p:nvPr>
            <p:ph idx="4294967295" type="body"/>
          </p:nvPr>
        </p:nvSpPr>
        <p:spPr>
          <a:xfrm>
            <a:off x="324000" y="1620000"/>
            <a:ext cx="333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endParaRPr/>
          </a:p>
        </p:txBody>
      </p:sp>
      <p:sp>
        <p:nvSpPr>
          <p:cNvPr id="1195" name="Google Shape;1195;p83"/>
          <p:cNvSpPr txBox="1"/>
          <p:nvPr>
            <p:ph idx="4294967295" type="body"/>
          </p:nvPr>
        </p:nvSpPr>
        <p:spPr>
          <a:xfrm>
            <a:off x="324000" y="3240000"/>
            <a:ext cx="333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</a:t>
            </a:r>
            <a:endParaRPr/>
          </a:p>
        </p:txBody>
      </p:sp>
      <p:sp>
        <p:nvSpPr>
          <p:cNvPr id="1196" name="Google Shape;1196;p83"/>
          <p:cNvSpPr txBox="1"/>
          <p:nvPr>
            <p:ph idx="4294967295" type="body"/>
          </p:nvPr>
        </p:nvSpPr>
        <p:spPr>
          <a:xfrm>
            <a:off x="4831175" y="1620000"/>
            <a:ext cx="333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c)</a:t>
            </a:r>
            <a:endParaRPr/>
          </a:p>
        </p:txBody>
      </p:sp>
      <p:sp>
        <p:nvSpPr>
          <p:cNvPr id="1197" name="Google Shape;1197;p83"/>
          <p:cNvSpPr txBox="1"/>
          <p:nvPr>
            <p:ph idx="4294967295" type="body"/>
          </p:nvPr>
        </p:nvSpPr>
        <p:spPr>
          <a:xfrm>
            <a:off x="4831175" y="3240000"/>
            <a:ext cx="333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d)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8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 </a:t>
            </a:r>
            <a:r>
              <a:rPr lang="en-GB"/>
              <a:t>Convert the following into decimals and then write them in ascending order.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03" name="Google Shape;1203;p8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Ordering fractions by converting into decimals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1}{40}\ \ \ \ \ \frac{74}{125}\ \ \ \ \ \frac{9}{16}\ \ \ \ \ \frac{13}{25}&quot;&gt;&lt;mfrac&gt;&lt;mn&gt;21&lt;/mn&gt;&lt;mn&gt;40&lt;/mn&gt;&lt;/mfrac&gt;&lt;mtext&gt;&lt;/mtext&gt;&lt;mtext&gt;&lt;/mtext&gt;&lt;mtext&gt;&lt;/mtext&gt;&lt;mtext&gt;&lt;/mtext&gt;&lt;mtext&gt;&lt;/mtext&gt;&lt;mfrac&gt;&lt;mn&gt;74&lt;/mn&gt;&lt;mn&gt;125&lt;/mn&gt;&lt;/mfrac&gt;&lt;mtext&gt;&lt;/mtext&gt;&lt;mtext&gt;&lt;/mtext&gt;&lt;mtext&gt;&lt;/mtext&gt;&lt;mtext&gt;&lt;/mtext&gt;&lt;mtext&gt;&lt;/mtext&gt;&lt;mfrac&gt;&lt;mn&gt;9&lt;/mn&gt;&lt;mn&gt;16&lt;/mn&gt;&lt;/mfrac&gt;&lt;mtext&gt;&lt;/mtext&gt;&lt;mtext&gt;&lt;/mtext&gt;&lt;mtext&gt;&lt;/mtext&gt;&lt;mtext&gt;&lt;/mtext&gt;&lt;mtext&gt;&lt;/mtext&gt;&lt;mfrac&gt;&lt;mn&gt;13&lt;/mn&gt;&lt;mn&gt;25&lt;/mn&gt;&lt;/mfrac&gt;&lt;/math&gt;" id="1204" name="Google Shape;1204;p84" title="21 over 40 74 over 125 9 over 16 13 over 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500" y="1689488"/>
            <a:ext cx="2964176" cy="6533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20}\ \ \ \ \ \frac{9}{25}\ \ \ \ \ \frac{5}{16}\ \ \ \ \ \frac{3}{8}&quot;&gt;&lt;mfrac&gt;&lt;mn&gt;7&lt;/mn&gt;&lt;mn&gt;20&lt;/mn&gt;&lt;/mfrac&gt;&lt;mtext&gt;&lt;/mtext&gt;&lt;mtext&gt;&lt;/mtext&gt;&lt;mtext&gt;&lt;/mtext&gt;&lt;mtext&gt;&lt;/mtext&gt;&lt;mtext&gt;&lt;/mtext&gt;&lt;mfrac&gt;&lt;mn&gt;9&lt;/mn&gt;&lt;mn&gt;25&lt;/mn&gt;&lt;/mfrac&gt;&lt;mtext&gt;&lt;/mtext&gt;&lt;mtext&gt;&lt;/mtext&gt;&lt;mtext&gt;&lt;/mtext&gt;&lt;mtext&gt;&lt;/mtext&gt;&lt;mtext&gt;&lt;/mtext&gt;&lt;mfrac&gt;&lt;mn&gt;5&lt;/mn&gt;&lt;mn&gt;16&lt;/mn&gt;&lt;/mfrac&gt;&lt;mtext&gt;&lt;/mtext&gt;&lt;mtext&gt;&lt;/mtext&gt;&lt;mtext&gt;&lt;/mtext&gt;&lt;mtext&gt;&lt;/mtext&gt;&lt;mtext&gt;&lt;/mtext&gt;&lt;mfrac&gt;&lt;mn&gt;3&lt;/mn&gt;&lt;mn&gt;8&lt;/mn&gt;&lt;/mfrac&gt;&lt;/math&gt;" id="1205" name="Google Shape;1205;p84" title="7 over 20 9 over 25 5 over 16 three eigh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6500" y="3360669"/>
            <a:ext cx="2575038" cy="6389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}{16}\ \ \ \ \ \frac{5}{8}\ \ \ \ \ \frac{76}{125}\ \ \ \ \ \frac{27}{40}&quot;&gt;&lt;mfrac&gt;&lt;mn&gt;11&lt;/mn&gt;&lt;mn&gt;16&lt;/mn&gt;&lt;/mfrac&gt;&lt;mtext&gt;&lt;/mtext&gt;&lt;mtext&gt;&lt;/mtext&gt;&lt;mtext&gt;&lt;/mtext&gt;&lt;mtext&gt;&lt;/mtext&gt;&lt;mtext&gt;&lt;/mtext&gt;&lt;mfrac&gt;&lt;mn&gt;5&lt;/mn&gt;&lt;mn&gt;8&lt;/mn&gt;&lt;/mfrac&gt;&lt;mtext&gt;&lt;/mtext&gt;&lt;mtext&gt;&lt;/mtext&gt;&lt;mtext&gt;&lt;/mtext&gt;&lt;mtext&gt;&lt;/mtext&gt;&lt;mtext&gt;&lt;/mtext&gt;&lt;mfrac&gt;&lt;mn&gt;76&lt;/mn&gt;&lt;mn&gt;125&lt;/mn&gt;&lt;/mfrac&gt;&lt;mtext&gt;&lt;/mtext&gt;&lt;mtext&gt;&lt;/mtext&gt;&lt;mtext&gt;&lt;/mtext&gt;&lt;mtext&gt;&lt;/mtext&gt;&lt;mtext&gt;&lt;/mtext&gt;&lt;mfrac&gt;&lt;mn&gt;27&lt;/mn&gt;&lt;mn&gt;40&lt;/mn&gt;&lt;/mfrac&gt;&lt;/math&gt;" id="1206" name="Google Shape;1206;p84" title="11 over 16 five eighths 76 over 125 27 over 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62014" y="1696698"/>
            <a:ext cx="2728771" cy="6389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7}{20}\ \ \ \ \ \frac{15}{16}\ \ \ \ \ \frac{7}{8}\ \ \ \ \ \frac{23}{25}&quot;&gt;&lt;mfrac&gt;&lt;mn&gt;17&lt;/mn&gt;&lt;mn&gt;20&lt;/mn&gt;&lt;/mfrac&gt;&lt;mtext&gt;&lt;/mtext&gt;&lt;mtext&gt;&lt;/mtext&gt;&lt;mtext&gt;&lt;/mtext&gt;&lt;mtext&gt;&lt;/mtext&gt;&lt;mtext&gt;&lt;/mtext&gt;&lt;mfrac&gt;&lt;mn&gt;15&lt;/mn&gt;&lt;mn&gt;16&lt;/mn&gt;&lt;/mfrac&gt;&lt;mtext&gt;&lt;/mtext&gt;&lt;mtext&gt;&lt;/mtext&gt;&lt;mtext&gt;&lt;/mtext&gt;&lt;mtext&gt;&lt;/mtext&gt;&lt;mtext&gt;&lt;/mtext&gt;&lt;mfrac&gt;&lt;mn&gt;7&lt;/mn&gt;&lt;mn&gt;8&lt;/mn&gt;&lt;/mfrac&gt;&lt;mtext&gt;&lt;/mtext&gt;&lt;mtext&gt;&lt;/mtext&gt;&lt;mtext&gt;&lt;/mtext&gt;&lt;mtext&gt;&lt;/mtext&gt;&lt;mtext&gt;&lt;/mtext&gt;&lt;mfrac&gt;&lt;mn&gt;23&lt;/mn&gt;&lt;mn&gt;25&lt;/mn&gt;&lt;/mfrac&gt;&lt;/math&gt;" id="1207" name="Google Shape;1207;p84" title="17 over 20 15 over 16 seven eighths 23 over 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38887" y="3681054"/>
            <a:ext cx="2575038" cy="638956"/>
          </a:xfrm>
          <a:prstGeom prst="rect">
            <a:avLst/>
          </a:prstGeom>
          <a:noFill/>
          <a:ln>
            <a:noFill/>
          </a:ln>
        </p:spPr>
      </p:pic>
      <p:sp>
        <p:nvSpPr>
          <p:cNvPr id="1208" name="Google Shape;1208;p84"/>
          <p:cNvSpPr txBox="1"/>
          <p:nvPr>
            <p:ph idx="4294967295" type="body"/>
          </p:nvPr>
        </p:nvSpPr>
        <p:spPr>
          <a:xfrm>
            <a:off x="324000" y="1620000"/>
            <a:ext cx="333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endParaRPr/>
          </a:p>
        </p:txBody>
      </p:sp>
      <p:sp>
        <p:nvSpPr>
          <p:cNvPr id="1209" name="Google Shape;1209;p84"/>
          <p:cNvSpPr txBox="1"/>
          <p:nvPr>
            <p:ph idx="4294967295" type="body"/>
          </p:nvPr>
        </p:nvSpPr>
        <p:spPr>
          <a:xfrm>
            <a:off x="324000" y="3240000"/>
            <a:ext cx="333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</a:t>
            </a:r>
            <a:endParaRPr/>
          </a:p>
        </p:txBody>
      </p:sp>
      <p:sp>
        <p:nvSpPr>
          <p:cNvPr id="1210" name="Google Shape;1210;p84"/>
          <p:cNvSpPr txBox="1"/>
          <p:nvPr>
            <p:ph idx="4294967295" type="body"/>
          </p:nvPr>
        </p:nvSpPr>
        <p:spPr>
          <a:xfrm>
            <a:off x="4831175" y="1620000"/>
            <a:ext cx="333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c)</a:t>
            </a:r>
            <a:endParaRPr/>
          </a:p>
        </p:txBody>
      </p:sp>
      <p:sp>
        <p:nvSpPr>
          <p:cNvPr id="1211" name="Google Shape;1211;p84"/>
          <p:cNvSpPr txBox="1"/>
          <p:nvPr>
            <p:ph idx="4294967295" type="body"/>
          </p:nvPr>
        </p:nvSpPr>
        <p:spPr>
          <a:xfrm>
            <a:off x="4831175" y="3240000"/>
            <a:ext cx="333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d)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85"/>
          <p:cNvSpPr txBox="1"/>
          <p:nvPr>
            <p:ph idx="1" type="body"/>
          </p:nvPr>
        </p:nvSpPr>
        <p:spPr>
          <a:xfrm>
            <a:off x="324000" y="759300"/>
            <a:ext cx="8237700" cy="7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Write the following in ascending order.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8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Ordering fractions by converting into decimals</a:t>
            </a:r>
            <a:endParaRPr/>
          </a:p>
        </p:txBody>
      </p:sp>
      <p:pic>
        <p:nvPicPr>
          <p:cNvPr id="1218" name="Google Shape;1218;p85"/>
          <p:cNvPicPr preferRelativeResize="0"/>
          <p:nvPr/>
        </p:nvPicPr>
        <p:blipFill rotWithShape="1">
          <a:blip r:embed="rId3">
            <a:alphaModFix/>
          </a:blip>
          <a:srcRect b="0" l="86042" r="0" t="0"/>
          <a:stretch/>
        </p:blipFill>
        <p:spPr>
          <a:xfrm>
            <a:off x="5433222" y="1617487"/>
            <a:ext cx="406425" cy="68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7\frac{1}{5}\ \ \ \ \ 7.28\ \ \ \ \ 7\frac{1}{4}\ \ \ \ \ 7.256\ \ &quot;&gt;&lt;mn&gt;7&lt;/mn&gt;&lt;mfrac&gt;&lt;mn&gt;1&lt;/mn&gt;&lt;mn&gt;5&lt;/mn&gt;&lt;/mfrac&gt;&lt;mtext&gt;&lt;/mtext&gt;&lt;mtext&gt;&lt;/mtext&gt;&lt;mtext&gt;&lt;/mtext&gt;&lt;mtext&gt;&lt;/mtext&gt;&lt;mtext&gt;&lt;/mtext&gt;&lt;mn&gt;7.28&lt;/mn&gt;&lt;mtext&gt;&lt;/mtext&gt;&lt;mtext&gt;&lt;/mtext&gt;&lt;mtext&gt;&lt;/mtext&gt;&lt;mtext&gt;&lt;/mtext&gt;&lt;mtext&gt;&lt;/mtext&gt;&lt;mn&gt;7&lt;/mn&gt;&lt;mfrac&gt;&lt;mn&gt;1&lt;/mn&gt;&lt;mn&gt;4&lt;/mn&gt;&lt;/mfrac&gt;&lt;mtext&gt;&lt;/mtext&gt;&lt;mtext&gt;&lt;/mtext&gt;&lt;mtext&gt;&lt;/mtext&gt;&lt;mtext&gt;&lt;/mtext&gt;&lt;mtext&gt;&lt;/mtext&gt;&lt;mn&gt;7.256&lt;/mn&gt;&lt;mtext&gt;&lt;/mtext&gt;&lt;mtext&gt;&lt;/mtext&gt;&lt;/math&gt;" id="1219" name="Google Shape;1219;p85" title="7 and one fifth 7.28 7 and one fourth 7.256"/>
          <p:cNvPicPr preferRelativeResize="0"/>
          <p:nvPr/>
        </p:nvPicPr>
        <p:blipFill rotWithShape="1">
          <a:blip r:embed="rId4">
            <a:alphaModFix/>
          </a:blip>
          <a:srcRect b="0" l="78048" r="0" t="0"/>
          <a:stretch/>
        </p:blipFill>
        <p:spPr>
          <a:xfrm>
            <a:off x="7069358" y="3240000"/>
            <a:ext cx="746100" cy="677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\ \ \ \ \ 0.404\ \ \ \ \ \frac{1}{2}\ \ \ \ \ 0.483\ \ &quot;&gt;&lt;mfrac&gt;&lt;mn&gt;2&lt;/mn&gt;&lt;mn&gt;5&lt;/mn&gt;&lt;/mfrac&gt;&lt;mtext&gt;&lt;/mtext&gt;&lt;mtext&gt;&lt;/mtext&gt;&lt;mtext&gt;&lt;/mtext&gt;&lt;mtext&gt;&lt;/mtext&gt;&lt;mtext&gt;&lt;/mtext&gt;&lt;mn&gt;0.404&lt;/mn&gt;&lt;mtext&gt;&lt;/mtext&gt;&lt;mtext&gt;&lt;/mtext&gt;&lt;mtext&gt;&lt;/mtext&gt;&lt;mtext&gt;&lt;/mtext&gt;&lt;mtext&gt;&lt;/mtext&gt;&lt;mfrac&gt;&lt;mn&gt;1&lt;/mn&gt;&lt;mn&gt;2&lt;/mn&gt;&lt;/mfrac&gt;&lt;mtext&gt;&lt;/mtext&gt;&lt;mtext&gt;&lt;/mtext&gt;&lt;mtext&gt;&lt;/mtext&gt;&lt;mtext&gt;&lt;/mtext&gt;&lt;mtext&gt;&lt;/mtext&gt;&lt;mn&gt;0.483&lt;/mn&gt;&lt;mtext&gt;&lt;/mtext&gt;&lt;mtext&gt;&lt;/mtext&gt;&lt;/math&gt;" id="1220" name="Google Shape;1220;p85" title="two fifths 0.404 one half 0.483"/>
          <p:cNvPicPr preferRelativeResize="0"/>
          <p:nvPr/>
        </p:nvPicPr>
        <p:blipFill rotWithShape="1">
          <a:blip r:embed="rId5">
            <a:alphaModFix/>
          </a:blip>
          <a:srcRect b="0" l="75417" r="0" t="0"/>
          <a:stretch/>
        </p:blipFill>
        <p:spPr>
          <a:xfrm>
            <a:off x="2653245" y="1620000"/>
            <a:ext cx="783725" cy="677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frac{3}{4}\ \ \ \ \ 2.753\ \ \ \ \ 2\frac{3}{5}\ \ \ \ \ 2.065\ \ &quot;&gt;&lt;mn&gt;2&lt;/mn&gt;&lt;mfrac&gt;&lt;mn&gt;3&lt;/mn&gt;&lt;mn&gt;4&lt;/mn&gt;&lt;/mfrac&gt;&lt;mtext&gt;&lt;/mtext&gt;&lt;mtext&gt;&lt;/mtext&gt;&lt;mtext&gt;&lt;/mtext&gt;&lt;mtext&gt;&lt;/mtext&gt;&lt;mtext&gt;&lt;/mtext&gt;&lt;mn&gt;2.753&lt;/mn&gt;&lt;mtext&gt;&lt;/mtext&gt;&lt;mtext&gt;&lt;/mtext&gt;&lt;mtext&gt;&lt;/mtext&gt;&lt;mtext&gt;&lt;/mtext&gt;&lt;mtext&gt;&lt;/mtext&gt;&lt;mn&gt;2&lt;/mn&gt;&lt;mfrac&gt;&lt;mn&gt;3&lt;/mn&gt;&lt;mn&gt;5&lt;/mn&gt;&lt;/mfrac&gt;&lt;mtext&gt;&lt;/mtext&gt;&lt;mtext&gt;&lt;/mtext&gt;&lt;mtext&gt;&lt;/mtext&gt;&lt;mtext&gt;&lt;/mtext&gt;&lt;mtext&gt;&lt;/mtext&gt;&lt;mn&gt;2.065&lt;/mn&gt;&lt;mtext&gt;&lt;/mtext&gt;&lt;mtext&gt;&lt;/mtext&gt;&lt;/math&gt;" id="1221" name="Google Shape;1221;p85" title="2 and three fourths 2.753 2 and three fifths 2.065"/>
          <p:cNvPicPr preferRelativeResize="0"/>
          <p:nvPr/>
        </p:nvPicPr>
        <p:blipFill rotWithShape="1">
          <a:blip r:embed="rId6">
            <a:alphaModFix/>
          </a:blip>
          <a:srcRect b="0" l="78950" r="0" t="0"/>
          <a:stretch/>
        </p:blipFill>
        <p:spPr>
          <a:xfrm>
            <a:off x="720600" y="3240000"/>
            <a:ext cx="746101" cy="67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2" name="Google Shape;1222;p85"/>
          <p:cNvSpPr txBox="1"/>
          <p:nvPr>
            <p:ph idx="4294967295" type="body"/>
          </p:nvPr>
        </p:nvSpPr>
        <p:spPr>
          <a:xfrm>
            <a:off x="324000" y="1620000"/>
            <a:ext cx="333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endParaRPr/>
          </a:p>
        </p:txBody>
      </p:sp>
      <p:sp>
        <p:nvSpPr>
          <p:cNvPr id="1223" name="Google Shape;1223;p85"/>
          <p:cNvSpPr txBox="1"/>
          <p:nvPr>
            <p:ph idx="4294967295" type="body"/>
          </p:nvPr>
        </p:nvSpPr>
        <p:spPr>
          <a:xfrm>
            <a:off x="324000" y="3240000"/>
            <a:ext cx="333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</a:t>
            </a:r>
            <a:endParaRPr/>
          </a:p>
        </p:txBody>
      </p:sp>
      <p:sp>
        <p:nvSpPr>
          <p:cNvPr id="1224" name="Google Shape;1224;p85"/>
          <p:cNvSpPr txBox="1"/>
          <p:nvPr>
            <p:ph idx="4294967295" type="body"/>
          </p:nvPr>
        </p:nvSpPr>
        <p:spPr>
          <a:xfrm>
            <a:off x="4831175" y="1620000"/>
            <a:ext cx="333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c)</a:t>
            </a:r>
            <a:endParaRPr/>
          </a:p>
        </p:txBody>
      </p:sp>
      <p:sp>
        <p:nvSpPr>
          <p:cNvPr id="1225" name="Google Shape;1225;p85"/>
          <p:cNvSpPr txBox="1"/>
          <p:nvPr>
            <p:ph idx="4294967295" type="body"/>
          </p:nvPr>
        </p:nvSpPr>
        <p:spPr>
          <a:xfrm>
            <a:off x="4831175" y="3240000"/>
            <a:ext cx="333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}{5}\ \ \ \ \ 0.404\ \ \ \ \ \frac{1}{2}\ \ \ \ \ 0.483\ \ &quot;&gt;&lt;mfrac&gt;&lt;mn&gt;2&lt;/mn&gt;&lt;mn&gt;5&lt;/mn&gt;&lt;/mfrac&gt;&lt;mtext&gt;&lt;/mtext&gt;&lt;mtext&gt;&lt;/mtext&gt;&lt;mtext&gt;&lt;/mtext&gt;&lt;mtext&gt;&lt;/mtext&gt;&lt;mtext&gt;&lt;/mtext&gt;&lt;mn&gt;0.404&lt;/mn&gt;&lt;mtext&gt;&lt;/mtext&gt;&lt;mtext&gt;&lt;/mtext&gt;&lt;mtext&gt;&lt;/mtext&gt;&lt;mtext&gt;&lt;/mtext&gt;&lt;mtext&gt;&lt;/mtext&gt;&lt;mfrac&gt;&lt;mn&gt;1&lt;/mn&gt;&lt;mn&gt;2&lt;/mn&gt;&lt;/mfrac&gt;&lt;mtext&gt;&lt;/mtext&gt;&lt;mtext&gt;&lt;/mtext&gt;&lt;mtext&gt;&lt;/mtext&gt;&lt;mtext&gt;&lt;/mtext&gt;&lt;mtext&gt;&lt;/mtext&gt;&lt;mn&gt;0.483&lt;/mn&gt;&lt;mtext&gt;&lt;/mtext&gt;&lt;mtext&gt;&lt;/mtext&gt;&lt;/math&gt;" id="1226" name="Google Shape;1226;p85" title="two fifths 0.404 one half 0.483"/>
          <p:cNvPicPr preferRelativeResize="0"/>
          <p:nvPr/>
        </p:nvPicPr>
        <p:blipFill rotWithShape="1">
          <a:blip r:embed="rId5">
            <a:alphaModFix/>
          </a:blip>
          <a:srcRect b="0" l="54622" r="34470" t="0"/>
          <a:stretch/>
        </p:blipFill>
        <p:spPr>
          <a:xfrm>
            <a:off x="3668803" y="1620000"/>
            <a:ext cx="347750" cy="677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\ \ \ \ \ 0.404\ \ \ \ \ \frac{1}{2}\ \ \ \ \ 0.483\ \ &quot;&gt;&lt;mfrac&gt;&lt;mn&gt;2&lt;/mn&gt;&lt;mn&gt;5&lt;/mn&gt;&lt;/mfrac&gt;&lt;mtext&gt;&lt;/mtext&gt;&lt;mtext&gt;&lt;/mtext&gt;&lt;mtext&gt;&lt;/mtext&gt;&lt;mtext&gt;&lt;/mtext&gt;&lt;mtext&gt;&lt;/mtext&gt;&lt;mn&gt;0.404&lt;/mn&gt;&lt;mtext&gt;&lt;/mtext&gt;&lt;mtext&gt;&lt;/mtext&gt;&lt;mtext&gt;&lt;/mtext&gt;&lt;mtext&gt;&lt;/mtext&gt;&lt;mtext&gt;&lt;/mtext&gt;&lt;mfrac&gt;&lt;mn&gt;1&lt;/mn&gt;&lt;mn&gt;2&lt;/mn&gt;&lt;/mfrac&gt;&lt;mtext&gt;&lt;/mtext&gt;&lt;mtext&gt;&lt;/mtext&gt;&lt;mtext&gt;&lt;/mtext&gt;&lt;mtext&gt;&lt;/mtext&gt;&lt;mtext&gt;&lt;/mtext&gt;&lt;mn&gt;0.483&lt;/mn&gt;&lt;mtext&gt;&lt;/mtext&gt;&lt;mtext&gt;&lt;/mtext&gt;&lt;/math&gt;" id="1227" name="Google Shape;1227;p85" title="two fifths 0.404 one half 0.483"/>
          <p:cNvPicPr preferRelativeResize="0"/>
          <p:nvPr/>
        </p:nvPicPr>
        <p:blipFill rotWithShape="1">
          <a:blip r:embed="rId5">
            <a:alphaModFix/>
          </a:blip>
          <a:srcRect b="0" l="18611" r="54507" t="0"/>
          <a:stretch/>
        </p:blipFill>
        <p:spPr>
          <a:xfrm>
            <a:off x="1564436" y="1620000"/>
            <a:ext cx="856975" cy="677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\ \ \ \ \ 0.404\ \ \ \ \ \frac{1}{2}\ \ \ \ \ 0.483\ \ &quot;&gt;&lt;mfrac&gt;&lt;mn&gt;2&lt;/mn&gt;&lt;mn&gt;5&lt;/mn&gt;&lt;/mfrac&gt;&lt;mtext&gt;&lt;/mtext&gt;&lt;mtext&gt;&lt;/mtext&gt;&lt;mtext&gt;&lt;/mtext&gt;&lt;mtext&gt;&lt;/mtext&gt;&lt;mtext&gt;&lt;/mtext&gt;&lt;mn&gt;0.404&lt;/mn&gt;&lt;mtext&gt;&lt;/mtext&gt;&lt;mtext&gt;&lt;/mtext&gt;&lt;mtext&gt;&lt;/mtext&gt;&lt;mtext&gt;&lt;/mtext&gt;&lt;mtext&gt;&lt;/mtext&gt;&lt;mfrac&gt;&lt;mn&gt;1&lt;/mn&gt;&lt;mn&gt;2&lt;/mn&gt;&lt;/mfrac&gt;&lt;mtext&gt;&lt;/mtext&gt;&lt;mtext&gt;&lt;/mtext&gt;&lt;mtext&gt;&lt;/mtext&gt;&lt;mtext&gt;&lt;/mtext&gt;&lt;mtext&gt;&lt;/mtext&gt;&lt;mn&gt;0.483&lt;/mn&gt;&lt;mtext&gt;&lt;/mtext&gt;&lt;mtext&gt;&lt;/mtext&gt;&lt;/math&gt;" id="1228" name="Google Shape;1228;p85" title="two fifths 0.404 one half 0.483"/>
          <p:cNvPicPr preferRelativeResize="0"/>
          <p:nvPr/>
        </p:nvPicPr>
        <p:blipFill rotWithShape="1">
          <a:blip r:embed="rId5">
            <a:alphaModFix/>
          </a:blip>
          <a:srcRect b="0" l="0" r="89554" t="0"/>
          <a:stretch/>
        </p:blipFill>
        <p:spPr>
          <a:xfrm>
            <a:off x="999602" y="1620000"/>
            <a:ext cx="333000" cy="677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frac{3}{4}\ \ \ \ \ 2.753\ \ \ \ \ 2\frac{3}{5}\ \ \ \ \ 2.065\ \ &quot;&gt;&lt;mn&gt;2&lt;/mn&gt;&lt;mfrac&gt;&lt;mn&gt;3&lt;/mn&gt;&lt;mn&gt;4&lt;/mn&gt;&lt;/mfrac&gt;&lt;mtext&gt;&lt;/mtext&gt;&lt;mtext&gt;&lt;/mtext&gt;&lt;mtext&gt;&lt;/mtext&gt;&lt;mtext&gt;&lt;/mtext&gt;&lt;mtext&gt;&lt;/mtext&gt;&lt;mn&gt;2.753&lt;/mn&gt;&lt;mtext&gt;&lt;/mtext&gt;&lt;mtext&gt;&lt;/mtext&gt;&lt;mtext&gt;&lt;/mtext&gt;&lt;mtext&gt;&lt;/mtext&gt;&lt;mtext&gt;&lt;/mtext&gt;&lt;mn&gt;2&lt;/mn&gt;&lt;mfrac&gt;&lt;mn&gt;3&lt;/mn&gt;&lt;mn&gt;5&lt;/mn&gt;&lt;/mfrac&gt;&lt;mtext&gt;&lt;/mtext&gt;&lt;mtext&gt;&lt;/mtext&gt;&lt;mtext&gt;&lt;/mtext&gt;&lt;mtext&gt;&lt;/mtext&gt;&lt;mtext&gt;&lt;/mtext&gt;&lt;mn&gt;2.065&lt;/mn&gt;&lt;mtext&gt;&lt;/mtext&gt;&lt;mtext&gt;&lt;/mtext&gt;&lt;/math&gt;" id="1229" name="Google Shape;1229;p85" title="2 and three fourths 2.753 2 and three fifths 2.065"/>
          <p:cNvPicPr preferRelativeResize="0"/>
          <p:nvPr/>
        </p:nvPicPr>
        <p:blipFill rotWithShape="1">
          <a:blip r:embed="rId6">
            <a:alphaModFix/>
          </a:blip>
          <a:srcRect b="0" l="55731" r="30704" t="0"/>
          <a:stretch/>
        </p:blipFill>
        <p:spPr>
          <a:xfrm>
            <a:off x="1715551" y="3240000"/>
            <a:ext cx="480825" cy="677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frac{3}{4}\ \ \ \ \ 2.753\ \ \ \ \ 2\frac{3}{5}\ \ \ \ \ 2.065\ \ &quot;&gt;&lt;mn&gt;2&lt;/mn&gt;&lt;mfrac&gt;&lt;mn&gt;3&lt;/mn&gt;&lt;mn&gt;4&lt;/mn&gt;&lt;/mfrac&gt;&lt;mtext&gt;&lt;/mtext&gt;&lt;mtext&gt;&lt;/mtext&gt;&lt;mtext&gt;&lt;/mtext&gt;&lt;mtext&gt;&lt;/mtext&gt;&lt;mtext&gt;&lt;/mtext&gt;&lt;mn&gt;2.753&lt;/mn&gt;&lt;mtext&gt;&lt;/mtext&gt;&lt;mtext&gt;&lt;/mtext&gt;&lt;mtext&gt;&lt;/mtext&gt;&lt;mtext&gt;&lt;/mtext&gt;&lt;mtext&gt;&lt;/mtext&gt;&lt;mn&gt;2&lt;/mn&gt;&lt;mfrac&gt;&lt;mn&gt;3&lt;/mn&gt;&lt;mn&gt;5&lt;/mn&gt;&lt;/mfrac&gt;&lt;mtext&gt;&lt;/mtext&gt;&lt;mtext&gt;&lt;/mtext&gt;&lt;mtext&gt;&lt;/mtext&gt;&lt;mtext&gt;&lt;/mtext&gt;&lt;mtext&gt;&lt;/mtext&gt;&lt;mn&gt;2.065&lt;/mn&gt;&lt;mtext&gt;&lt;/mtext&gt;&lt;mtext&gt;&lt;/mtext&gt;&lt;/math&gt;" id="1230" name="Google Shape;1230;p85" title="2 and three fourths 2.753 2 and three fifths 2.065"/>
          <p:cNvPicPr preferRelativeResize="0"/>
          <p:nvPr/>
        </p:nvPicPr>
        <p:blipFill rotWithShape="1">
          <a:blip r:embed="rId6">
            <a:alphaModFix/>
          </a:blip>
          <a:srcRect b="0" l="23409" r="53484" t="0"/>
          <a:stretch/>
        </p:blipFill>
        <p:spPr>
          <a:xfrm>
            <a:off x="3244927" y="3240000"/>
            <a:ext cx="819025" cy="677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frac{3}{4}\ \ \ \ \ 2.753\ \ \ \ \ 2\frac{3}{5}\ \ \ \ \ 2.065\ \ &quot;&gt;&lt;mn&gt;2&lt;/mn&gt;&lt;mfrac&gt;&lt;mn&gt;3&lt;/mn&gt;&lt;mn&gt;4&lt;/mn&gt;&lt;/mfrac&gt;&lt;mtext&gt;&lt;/mtext&gt;&lt;mtext&gt;&lt;/mtext&gt;&lt;mtext&gt;&lt;/mtext&gt;&lt;mtext&gt;&lt;/mtext&gt;&lt;mtext&gt;&lt;/mtext&gt;&lt;mn&gt;2.753&lt;/mn&gt;&lt;mtext&gt;&lt;/mtext&gt;&lt;mtext&gt;&lt;/mtext&gt;&lt;mtext&gt;&lt;/mtext&gt;&lt;mtext&gt;&lt;/mtext&gt;&lt;mtext&gt;&lt;/mtext&gt;&lt;mn&gt;2&lt;/mn&gt;&lt;mfrac&gt;&lt;mn&gt;3&lt;/mn&gt;&lt;mn&gt;5&lt;/mn&gt;&lt;/mfrac&gt;&lt;mtext&gt;&lt;/mtext&gt;&lt;mtext&gt;&lt;/mtext&gt;&lt;mtext&gt;&lt;/mtext&gt;&lt;mtext&gt;&lt;/mtext&gt;&lt;mtext&gt;&lt;/mtext&gt;&lt;mn&gt;2.065&lt;/mn&gt;&lt;mtext&gt;&lt;/mtext&gt;&lt;mtext&gt;&lt;/mtext&gt;&lt;/math&gt;" id="1231" name="Google Shape;1231;p85" title="2 and three fourths 2.753 2 and three fifths 2.065"/>
          <p:cNvPicPr preferRelativeResize="0"/>
          <p:nvPr/>
        </p:nvPicPr>
        <p:blipFill rotWithShape="1">
          <a:blip r:embed="rId6">
            <a:alphaModFix/>
          </a:blip>
          <a:srcRect b="0" l="0" r="84459" t="0"/>
          <a:stretch/>
        </p:blipFill>
        <p:spPr>
          <a:xfrm>
            <a:off x="2445227" y="3240000"/>
            <a:ext cx="550849" cy="67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2" name="Google Shape;1232;p85"/>
          <p:cNvPicPr preferRelativeResize="0"/>
          <p:nvPr/>
        </p:nvPicPr>
        <p:blipFill rotWithShape="1">
          <a:blip r:embed="rId3">
            <a:alphaModFix/>
          </a:blip>
          <a:srcRect b="0" l="56042" r="26359" t="0"/>
          <a:stretch/>
        </p:blipFill>
        <p:spPr>
          <a:xfrm>
            <a:off x="7141449" y="1617487"/>
            <a:ext cx="512450" cy="68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3" name="Google Shape;1233;p85"/>
          <p:cNvPicPr preferRelativeResize="0"/>
          <p:nvPr/>
        </p:nvPicPr>
        <p:blipFill rotWithShape="1">
          <a:blip r:embed="rId3">
            <a:alphaModFix/>
          </a:blip>
          <a:srcRect b="0" l="26691" r="54391" t="0"/>
          <a:stretch/>
        </p:blipFill>
        <p:spPr>
          <a:xfrm>
            <a:off x="6215123" y="1617487"/>
            <a:ext cx="550851" cy="68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4" name="Google Shape;1234;p85"/>
          <p:cNvPicPr preferRelativeResize="0"/>
          <p:nvPr/>
        </p:nvPicPr>
        <p:blipFill rotWithShape="1">
          <a:blip r:embed="rId3">
            <a:alphaModFix/>
          </a:blip>
          <a:srcRect b="0" l="0" r="83487" t="0"/>
          <a:stretch/>
        </p:blipFill>
        <p:spPr>
          <a:xfrm>
            <a:off x="8029375" y="1617487"/>
            <a:ext cx="480824" cy="68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7\frac{1}{5}\ \ \ \ \ 7.28\ \ \ \ \ 7\frac{1}{4}\ \ \ \ \ 7.256\ \ &quot;&gt;&lt;mn&gt;7&lt;/mn&gt;&lt;mfrac&gt;&lt;mn&gt;1&lt;/mn&gt;&lt;mn&gt;5&lt;/mn&gt;&lt;/mfrac&gt;&lt;mtext&gt;&lt;/mtext&gt;&lt;mtext&gt;&lt;/mtext&gt;&lt;mtext&gt;&lt;/mtext&gt;&lt;mtext&gt;&lt;/mtext&gt;&lt;mtext&gt;&lt;/mtext&gt;&lt;mn&gt;7.28&lt;/mn&gt;&lt;mtext&gt;&lt;/mtext&gt;&lt;mtext&gt;&lt;/mtext&gt;&lt;mtext&gt;&lt;/mtext&gt;&lt;mtext&gt;&lt;/mtext&gt;&lt;mtext&gt;&lt;/mtext&gt;&lt;mn&gt;7&lt;/mn&gt;&lt;mfrac&gt;&lt;mn&gt;1&lt;/mn&gt;&lt;mn&gt;4&lt;/mn&gt;&lt;/mfrac&gt;&lt;mtext&gt;&lt;/mtext&gt;&lt;mtext&gt;&lt;/mtext&gt;&lt;mtext&gt;&lt;/mtext&gt;&lt;mtext&gt;&lt;/mtext&gt;&lt;mtext&gt;&lt;/mtext&gt;&lt;mn&gt;7.256&lt;/mn&gt;&lt;mtext&gt;&lt;/mtext&gt;&lt;mtext&gt;&lt;/mtext&gt;&lt;/math&gt;" id="1235" name="Google Shape;1235;p85" title="7 and one fifth 7.28 7 and one fourth 7.256"/>
          <p:cNvPicPr preferRelativeResize="0"/>
          <p:nvPr/>
        </p:nvPicPr>
        <p:blipFill rotWithShape="1">
          <a:blip r:embed="rId4">
            <a:alphaModFix/>
          </a:blip>
          <a:srcRect b="0" l="51920" r="31873" t="0"/>
          <a:stretch/>
        </p:blipFill>
        <p:spPr>
          <a:xfrm>
            <a:off x="6232092" y="3240000"/>
            <a:ext cx="550850" cy="677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7\frac{1}{5}\ \ \ \ \ 7.28\ \ \ \ \ 7\frac{1}{4}\ \ \ \ \ 7.256\ \ &quot;&gt;&lt;mn&gt;7&lt;/mn&gt;&lt;mfrac&gt;&lt;mn&gt;1&lt;/mn&gt;&lt;mn&gt;5&lt;/mn&gt;&lt;/mfrac&gt;&lt;mtext&gt;&lt;/mtext&gt;&lt;mtext&gt;&lt;/mtext&gt;&lt;mtext&gt;&lt;/mtext&gt;&lt;mtext&gt;&lt;/mtext&gt;&lt;mtext&gt;&lt;/mtext&gt;&lt;mn&gt;7.28&lt;/mn&gt;&lt;mtext&gt;&lt;/mtext&gt;&lt;mtext&gt;&lt;/mtext&gt;&lt;mtext&gt;&lt;/mtext&gt;&lt;mtext&gt;&lt;/mtext&gt;&lt;mtext&gt;&lt;/mtext&gt;&lt;mn&gt;7&lt;/mn&gt;&lt;mfrac&gt;&lt;mn&gt;1&lt;/mn&gt;&lt;mn&gt;4&lt;/mn&gt;&lt;/mfrac&gt;&lt;mtext&gt;&lt;/mtext&gt;&lt;mtext&gt;&lt;/mtext&gt;&lt;mtext&gt;&lt;/mtext&gt;&lt;mtext&gt;&lt;/mtext&gt;&lt;mtext&gt;&lt;/mtext&gt;&lt;mn&gt;7.256&lt;/mn&gt;&lt;mtext&gt;&lt;/mtext&gt;&lt;mtext&gt;&lt;/mtext&gt;&lt;/math&gt;" id="1236" name="Google Shape;1236;p85" title="7 and one fifth 7.28 7 and one fourth 7.256"/>
          <p:cNvPicPr preferRelativeResize="0"/>
          <p:nvPr/>
        </p:nvPicPr>
        <p:blipFill rotWithShape="1">
          <a:blip r:embed="rId4">
            <a:alphaModFix/>
          </a:blip>
          <a:srcRect b="0" l="22870" r="56860" t="0"/>
          <a:stretch/>
        </p:blipFill>
        <p:spPr>
          <a:xfrm>
            <a:off x="8101874" y="3240000"/>
            <a:ext cx="688974" cy="677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7\frac{1}{5}\ \ \ \ \ 7.28\ \ \ \ \ 7\frac{1}{4}\ \ \ \ \ 7.256\ \ &quot;&gt;&lt;mn&gt;7&lt;/mn&gt;&lt;mfrac&gt;&lt;mn&gt;1&lt;/mn&gt;&lt;mn&gt;5&lt;/mn&gt;&lt;/mfrac&gt;&lt;mtext&gt;&lt;/mtext&gt;&lt;mtext&gt;&lt;/mtext&gt;&lt;mtext&gt;&lt;/mtext&gt;&lt;mtext&gt;&lt;/mtext&gt;&lt;mtext&gt;&lt;/mtext&gt;&lt;mn&gt;7.28&lt;/mn&gt;&lt;mtext&gt;&lt;/mtext&gt;&lt;mtext&gt;&lt;/mtext&gt;&lt;mtext&gt;&lt;/mtext&gt;&lt;mtext&gt;&lt;/mtext&gt;&lt;mtext&gt;&lt;/mtext&gt;&lt;mn&gt;7&lt;/mn&gt;&lt;mfrac&gt;&lt;mn&gt;1&lt;/mn&gt;&lt;mn&gt;4&lt;/mn&gt;&lt;/mfrac&gt;&lt;mtext&gt;&lt;/mtext&gt;&lt;mtext&gt;&lt;/mtext&gt;&lt;mtext&gt;&lt;/mtext&gt;&lt;mtext&gt;&lt;/mtext&gt;&lt;mtext&gt;&lt;/mtext&gt;&lt;mn&gt;7.256&lt;/mn&gt;&lt;mtext&gt;&lt;/mtext&gt;&lt;mtext&gt;&lt;/mtext&gt;&lt;/math&gt;" id="1237" name="Google Shape;1237;p85" title="7 and one fifth 7.28 7 and one fourth 7.256"/>
          <p:cNvPicPr preferRelativeResize="0"/>
          <p:nvPr/>
        </p:nvPicPr>
        <p:blipFill rotWithShape="1">
          <a:blip r:embed="rId4">
            <a:alphaModFix/>
          </a:blip>
          <a:srcRect b="0" l="0" r="84923" t="0"/>
          <a:stretch/>
        </p:blipFill>
        <p:spPr>
          <a:xfrm>
            <a:off x="5433225" y="3240000"/>
            <a:ext cx="512450" cy="67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86"/>
          <p:cNvSpPr txBox="1"/>
          <p:nvPr>
            <p:ph idx="1" type="body"/>
          </p:nvPr>
        </p:nvSpPr>
        <p:spPr>
          <a:xfrm>
            <a:off x="324000" y="759300"/>
            <a:ext cx="8237700" cy="81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2)  Convert the following into decimals and then</a:t>
            </a:r>
            <a:r>
              <a:rPr lang="en-GB"/>
              <a:t> write them in ascending order.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8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Ordering fractions by converting into decimals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1}{40}\ \ \ \ \ \frac{74}{125}\ \ \ \ \ \frac{9}{16}\ \ \ \ \ \frac{13}{25}&quot;&gt;&lt;mfrac&gt;&lt;mn&gt;21&lt;/mn&gt;&lt;mn&gt;40&lt;/mn&gt;&lt;/mfrac&gt;&lt;mtext&gt;&lt;/mtext&gt;&lt;mtext&gt;&lt;/mtext&gt;&lt;mtext&gt;&lt;/mtext&gt;&lt;mtext&gt;&lt;/mtext&gt;&lt;mtext&gt;&lt;/mtext&gt;&lt;mfrac&gt;&lt;mn&gt;74&lt;/mn&gt;&lt;mn&gt;125&lt;/mn&gt;&lt;/mfrac&gt;&lt;mtext&gt;&lt;/mtext&gt;&lt;mtext&gt;&lt;/mtext&gt;&lt;mtext&gt;&lt;/mtext&gt;&lt;mtext&gt;&lt;/mtext&gt;&lt;mtext&gt;&lt;/mtext&gt;&lt;mfrac&gt;&lt;mn&gt;9&lt;/mn&gt;&lt;mn&gt;16&lt;/mn&gt;&lt;/mfrac&gt;&lt;mtext&gt;&lt;/mtext&gt;&lt;mtext&gt;&lt;/mtext&gt;&lt;mtext&gt;&lt;/mtext&gt;&lt;mtext&gt;&lt;/mtext&gt;&lt;mtext&gt;&lt;/mtext&gt;&lt;mfrac&gt;&lt;mn&gt;13&lt;/mn&gt;&lt;mn&gt;25&lt;/mn&gt;&lt;/mfrac&gt;&lt;/math&gt;" id="1244" name="Google Shape;1244;p86" title="21 over 40 74 over 125 9 over 16 13 over 25"/>
          <p:cNvPicPr preferRelativeResize="0"/>
          <p:nvPr/>
        </p:nvPicPr>
        <p:blipFill rotWithShape="1">
          <a:blip r:embed="rId3">
            <a:alphaModFix/>
          </a:blip>
          <a:srcRect b="0" l="85954" r="0" t="0"/>
          <a:stretch/>
        </p:blipFill>
        <p:spPr>
          <a:xfrm>
            <a:off x="658585" y="1631314"/>
            <a:ext cx="333058" cy="5226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20}\ \ \ \ \ \frac{9}{25}\ \ \ \ \ \frac{5}{16}\ \ \ \ \ \frac{3}{8}&quot;&gt;&lt;mfrac&gt;&lt;mn&gt;7&lt;/mn&gt;&lt;mn&gt;20&lt;/mn&gt;&lt;/mfrac&gt;&lt;mtext&gt;&lt;/mtext&gt;&lt;mtext&gt;&lt;/mtext&gt;&lt;mtext&gt;&lt;/mtext&gt;&lt;mtext&gt;&lt;/mtext&gt;&lt;mtext&gt;&lt;/mtext&gt;&lt;mfrac&gt;&lt;mn&gt;9&lt;/mn&gt;&lt;mn&gt;25&lt;/mn&gt;&lt;/mfrac&gt;&lt;mtext&gt;&lt;/mtext&gt;&lt;mtext&gt;&lt;/mtext&gt;&lt;mtext&gt;&lt;/mtext&gt;&lt;mtext&gt;&lt;/mtext&gt;&lt;mtext&gt;&lt;/mtext&gt;&lt;mfrac&gt;&lt;mn&gt;5&lt;/mn&gt;&lt;mn&gt;16&lt;/mn&gt;&lt;/mfrac&gt;&lt;mtext&gt;&lt;/mtext&gt;&lt;mtext&gt;&lt;/mtext&gt;&lt;mtext&gt;&lt;/mtext&gt;&lt;mtext&gt;&lt;/mtext&gt;&lt;mtext&gt;&lt;/mtext&gt;&lt;mfrac&gt;&lt;mn&gt;3&lt;/mn&gt;&lt;mn&gt;8&lt;/mn&gt;&lt;/mfrac&gt;&lt;/math&gt;" id="1245" name="Google Shape;1245;p86" title="7 over 20 9 over 25 5 over 16 three eighths"/>
          <p:cNvPicPr preferRelativeResize="0"/>
          <p:nvPr/>
        </p:nvPicPr>
        <p:blipFill rotWithShape="1">
          <a:blip r:embed="rId4">
            <a:alphaModFix/>
          </a:blip>
          <a:srcRect b="0" l="89316" r="0" t="0"/>
          <a:stretch/>
        </p:blipFill>
        <p:spPr>
          <a:xfrm>
            <a:off x="6022283" y="2544763"/>
            <a:ext cx="220075" cy="511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}{16}\ \ \ \ \ \frac{5}{8}\ \ \ \ \ \frac{76}{125}\ \ \ \ \ \frac{27}{40}&quot;&gt;&lt;mfrac&gt;&lt;mn&gt;11&lt;/mn&gt;&lt;mn&gt;16&lt;/mn&gt;&lt;/mfrac&gt;&lt;mtext&gt;&lt;/mtext&gt;&lt;mtext&gt;&lt;/mtext&gt;&lt;mtext&gt;&lt;/mtext&gt;&lt;mtext&gt;&lt;/mtext&gt;&lt;mtext&gt;&lt;/mtext&gt;&lt;mfrac&gt;&lt;mn&gt;5&lt;/mn&gt;&lt;mn&gt;8&lt;/mn&gt;&lt;/mfrac&gt;&lt;mtext&gt;&lt;/mtext&gt;&lt;mtext&gt;&lt;/mtext&gt;&lt;mtext&gt;&lt;/mtext&gt;&lt;mtext&gt;&lt;/mtext&gt;&lt;mtext&gt;&lt;/mtext&gt;&lt;mfrac&gt;&lt;mn&gt;76&lt;/mn&gt;&lt;mn&gt;125&lt;/mn&gt;&lt;/mfrac&gt;&lt;mtext&gt;&lt;/mtext&gt;&lt;mtext&gt;&lt;/mtext&gt;&lt;mtext&gt;&lt;/mtext&gt;&lt;mtext&gt;&lt;/mtext&gt;&lt;mtext&gt;&lt;/mtext&gt;&lt;mfrac&gt;&lt;mn&gt;27&lt;/mn&gt;&lt;mn&gt;40&lt;/mn&gt;&lt;/mfrac&gt;&lt;/math&gt;" id="1246" name="Google Shape;1246;p86" title="11 over 16 five eighths 76 over 125 27 over 40"/>
          <p:cNvPicPr preferRelativeResize="0"/>
          <p:nvPr/>
        </p:nvPicPr>
        <p:blipFill rotWithShape="1">
          <a:blip r:embed="rId5">
            <a:alphaModFix/>
          </a:blip>
          <a:srcRect b="0" l="84742" r="0" t="0"/>
          <a:stretch/>
        </p:blipFill>
        <p:spPr>
          <a:xfrm>
            <a:off x="4082782" y="3469725"/>
            <a:ext cx="333075" cy="511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7}{20}\ \ \ \ \ \frac{15}{16}\ \ \ \ \ \frac{7}{8}\ \ \ \ \ \frac{23}{25}&quot;&gt;&lt;mfrac&gt;&lt;mn&gt;17&lt;/mn&gt;&lt;mn&gt;20&lt;/mn&gt;&lt;/mfrac&gt;&lt;mtext&gt;&lt;/mtext&gt;&lt;mtext&gt;&lt;/mtext&gt;&lt;mtext&gt;&lt;/mtext&gt;&lt;mtext&gt;&lt;/mtext&gt;&lt;mtext&gt;&lt;/mtext&gt;&lt;mfrac&gt;&lt;mn&gt;15&lt;/mn&gt;&lt;mn&gt;16&lt;/mn&gt;&lt;/mfrac&gt;&lt;mtext&gt;&lt;/mtext&gt;&lt;mtext&gt;&lt;/mtext&gt;&lt;mtext&gt;&lt;/mtext&gt;&lt;mtext&gt;&lt;/mtext&gt;&lt;mtext&gt;&lt;/mtext&gt;&lt;mfrac&gt;&lt;mn&gt;7&lt;/mn&gt;&lt;mn&gt;8&lt;/mn&gt;&lt;/mfrac&gt;&lt;mtext&gt;&lt;/mtext&gt;&lt;mtext&gt;&lt;/mtext&gt;&lt;mtext&gt;&lt;/mtext&gt;&lt;mtext&gt;&lt;/mtext&gt;&lt;mtext&gt;&lt;/mtext&gt;&lt;mfrac&gt;&lt;mn&gt;23&lt;/mn&gt;&lt;mn&gt;25&lt;/mn&gt;&lt;/mfrac&gt;&lt;/math&gt;" id="1247" name="Google Shape;1247;p86" title="17 over 20 15 over 16 seven eighths 23 over 25"/>
          <p:cNvPicPr preferRelativeResize="0"/>
          <p:nvPr/>
        </p:nvPicPr>
        <p:blipFill rotWithShape="1">
          <a:blip r:embed="rId6">
            <a:alphaModFix/>
          </a:blip>
          <a:srcRect b="0" l="85108" r="0" t="0"/>
          <a:stretch/>
        </p:blipFill>
        <p:spPr>
          <a:xfrm>
            <a:off x="4129071" y="4309475"/>
            <a:ext cx="306776" cy="511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8" name="Google Shape;1248;p86"/>
          <p:cNvSpPr txBox="1"/>
          <p:nvPr>
            <p:ph idx="4294967295" type="body"/>
          </p:nvPr>
        </p:nvSpPr>
        <p:spPr>
          <a:xfrm>
            <a:off x="324000" y="1696200"/>
            <a:ext cx="333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endParaRPr/>
          </a:p>
        </p:txBody>
      </p:sp>
      <p:sp>
        <p:nvSpPr>
          <p:cNvPr id="1249" name="Google Shape;1249;p86"/>
          <p:cNvSpPr txBox="1"/>
          <p:nvPr>
            <p:ph idx="4294967295" type="body"/>
          </p:nvPr>
        </p:nvSpPr>
        <p:spPr>
          <a:xfrm>
            <a:off x="324000" y="2567292"/>
            <a:ext cx="333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r>
              <a:rPr lang="en-GB"/>
              <a:t>)</a:t>
            </a:r>
            <a:endParaRPr/>
          </a:p>
        </p:txBody>
      </p:sp>
      <p:sp>
        <p:nvSpPr>
          <p:cNvPr id="1250" name="Google Shape;1250;p86"/>
          <p:cNvSpPr txBox="1"/>
          <p:nvPr>
            <p:ph idx="4294967295" type="body"/>
          </p:nvPr>
        </p:nvSpPr>
        <p:spPr>
          <a:xfrm>
            <a:off x="324000" y="3438383"/>
            <a:ext cx="333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</a:t>
            </a:r>
            <a:r>
              <a:rPr lang="en-GB"/>
              <a:t>)</a:t>
            </a:r>
            <a:endParaRPr/>
          </a:p>
        </p:txBody>
      </p:sp>
      <p:sp>
        <p:nvSpPr>
          <p:cNvPr id="1251" name="Google Shape;1251;p86"/>
          <p:cNvSpPr txBox="1"/>
          <p:nvPr>
            <p:ph idx="4294967295" type="body"/>
          </p:nvPr>
        </p:nvSpPr>
        <p:spPr>
          <a:xfrm>
            <a:off x="324000" y="4309475"/>
            <a:ext cx="333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</a:t>
            </a:r>
            <a:r>
              <a:rPr lang="en-GB"/>
              <a:t>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1}{40}\ \ \ \ \ \frac{74}{125}\ \ \ \ \ \frac{9}{16}\ \ \ \ \ \frac{13}{25}&quot;&gt;&lt;mfrac&gt;&lt;mn&gt;21&lt;/mn&gt;&lt;mn&gt;40&lt;/mn&gt;&lt;/mfrac&gt;&lt;mtext&gt;&lt;/mtext&gt;&lt;mtext&gt;&lt;/mtext&gt;&lt;mtext&gt;&lt;/mtext&gt;&lt;mtext&gt;&lt;/mtext&gt;&lt;mtext&gt;&lt;/mtext&gt;&lt;mfrac&gt;&lt;mn&gt;74&lt;/mn&gt;&lt;mn&gt;125&lt;/mn&gt;&lt;/mfrac&gt;&lt;mtext&gt;&lt;/mtext&gt;&lt;mtext&gt;&lt;/mtext&gt;&lt;mtext&gt;&lt;/mtext&gt;&lt;mtext&gt;&lt;/mtext&gt;&lt;mtext&gt;&lt;/mtext&gt;&lt;mfrac&gt;&lt;mn&gt;9&lt;/mn&gt;&lt;mn&gt;16&lt;/mn&gt;&lt;/mfrac&gt;&lt;mtext&gt;&lt;/mtext&gt;&lt;mtext&gt;&lt;/mtext&gt;&lt;mtext&gt;&lt;/mtext&gt;&lt;mtext&gt;&lt;/mtext&gt;&lt;mtext&gt;&lt;/mtext&gt;&lt;mfrac&gt;&lt;mn&gt;13&lt;/mn&gt;&lt;mn&gt;25&lt;/mn&gt;&lt;/mfrac&gt;&lt;/math&gt;" id="1252" name="Google Shape;1252;p86" title="21 over 40 74 over 125 9 over 16 13 over 25"/>
          <p:cNvPicPr preferRelativeResize="0"/>
          <p:nvPr/>
        </p:nvPicPr>
        <p:blipFill rotWithShape="1">
          <a:blip r:embed="rId3">
            <a:alphaModFix/>
          </a:blip>
          <a:srcRect b="0" l="57142" r="25448" t="0"/>
          <a:stretch/>
        </p:blipFill>
        <p:spPr>
          <a:xfrm>
            <a:off x="3737044" y="1594750"/>
            <a:ext cx="412836" cy="5226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1}{40}\ \ \ \ \ \frac{74}{125}\ \ \ \ \ \frac{9}{16}\ \ \ \ \ \frac{13}{25}&quot;&gt;&lt;mfrac&gt;&lt;mn&gt;21&lt;/mn&gt;&lt;mn&gt;40&lt;/mn&gt;&lt;/mfrac&gt;&lt;mtext&gt;&lt;/mtext&gt;&lt;mtext&gt;&lt;/mtext&gt;&lt;mtext&gt;&lt;/mtext&gt;&lt;mtext&gt;&lt;/mtext&gt;&lt;mtext&gt;&lt;/mtext&gt;&lt;mfrac&gt;&lt;mn&gt;74&lt;/mn&gt;&lt;mn&gt;125&lt;/mn&gt;&lt;/mfrac&gt;&lt;mtext&gt;&lt;/mtext&gt;&lt;mtext&gt;&lt;/mtext&gt;&lt;mtext&gt;&lt;/mtext&gt;&lt;mtext&gt;&lt;/mtext&gt;&lt;mtext&gt;&lt;/mtext&gt;&lt;mfrac&gt;&lt;mn&gt;9&lt;/mn&gt;&lt;mn&gt;16&lt;/mn&gt;&lt;/mfrac&gt;&lt;mtext&gt;&lt;/mtext&gt;&lt;mtext&gt;&lt;/mtext&gt;&lt;mtext&gt;&lt;/mtext&gt;&lt;mtext&gt;&lt;/mtext&gt;&lt;mtext&gt;&lt;/mtext&gt;&lt;mfrac&gt;&lt;mn&gt;13&lt;/mn&gt;&lt;mn&gt;25&lt;/mn&gt;&lt;/mfrac&gt;&lt;/math&gt;" id="1253" name="Google Shape;1253;p86" title="21 over 40 74 over 125 9 over 16 13 over 25"/>
          <p:cNvPicPr preferRelativeResize="0"/>
          <p:nvPr/>
        </p:nvPicPr>
        <p:blipFill rotWithShape="1">
          <a:blip r:embed="rId3">
            <a:alphaModFix/>
          </a:blip>
          <a:srcRect b="0" l="21291" r="52268" t="0"/>
          <a:stretch/>
        </p:blipFill>
        <p:spPr>
          <a:xfrm>
            <a:off x="5599175" y="1576489"/>
            <a:ext cx="626957" cy="5226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1}{40}\ \ \ \ \ \frac{74}{125}\ \ \ \ \ \frac{9}{16}\ \ \ \ \ \frac{13}{25}&quot;&gt;&lt;mfrac&gt;&lt;mn&gt;21&lt;/mn&gt;&lt;mn&gt;40&lt;/mn&gt;&lt;/mfrac&gt;&lt;mtext&gt;&lt;/mtext&gt;&lt;mtext&gt;&lt;/mtext&gt;&lt;mtext&gt;&lt;/mtext&gt;&lt;mtext&gt;&lt;/mtext&gt;&lt;mtext&gt;&lt;/mtext&gt;&lt;mfrac&gt;&lt;mn&gt;74&lt;/mn&gt;&lt;mn&gt;125&lt;/mn&gt;&lt;/mfrac&gt;&lt;mtext&gt;&lt;/mtext&gt;&lt;mtext&gt;&lt;/mtext&gt;&lt;mtext&gt;&lt;/mtext&gt;&lt;mtext&gt;&lt;/mtext&gt;&lt;mtext&gt;&lt;/mtext&gt;&lt;mfrac&gt;&lt;mn&gt;9&lt;/mn&gt;&lt;mn&gt;16&lt;/mn&gt;&lt;/mfrac&gt;&lt;mtext&gt;&lt;/mtext&gt;&lt;mtext&gt;&lt;/mtext&gt;&lt;mtext&gt;&lt;/mtext&gt;&lt;mtext&gt;&lt;/mtext&gt;&lt;mtext&gt;&lt;/mtext&gt;&lt;mfrac&gt;&lt;mn&gt;13&lt;/mn&gt;&lt;mn&gt;25&lt;/mn&gt;&lt;/mfrac&gt;&lt;/math&gt;" id="1254" name="Google Shape;1254;p86" title="21 over 40 74 over 125 9 over 16 13 over 25"/>
          <p:cNvPicPr preferRelativeResize="0"/>
          <p:nvPr/>
        </p:nvPicPr>
        <p:blipFill rotWithShape="1">
          <a:blip r:embed="rId3">
            <a:alphaModFix/>
          </a:blip>
          <a:srcRect b="0" l="0" r="85954" t="0"/>
          <a:stretch/>
        </p:blipFill>
        <p:spPr>
          <a:xfrm>
            <a:off x="2139055" y="1609750"/>
            <a:ext cx="333058" cy="522678"/>
          </a:xfrm>
          <a:prstGeom prst="rect">
            <a:avLst/>
          </a:prstGeom>
          <a:noFill/>
          <a:ln>
            <a:noFill/>
          </a:ln>
        </p:spPr>
      </p:pic>
      <p:sp>
        <p:nvSpPr>
          <p:cNvPr id="1255" name="Google Shape;1255;p86"/>
          <p:cNvSpPr txBox="1"/>
          <p:nvPr>
            <p:ph idx="4294967295" type="body"/>
          </p:nvPr>
        </p:nvSpPr>
        <p:spPr>
          <a:xfrm>
            <a:off x="1057500" y="1682876"/>
            <a:ext cx="7626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0.52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56" name="Google Shape;1256;p86"/>
          <p:cNvSpPr txBox="1"/>
          <p:nvPr>
            <p:ph idx="4294967295" type="body"/>
          </p:nvPr>
        </p:nvSpPr>
        <p:spPr>
          <a:xfrm>
            <a:off x="4163471" y="1669225"/>
            <a:ext cx="10734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0.5625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57" name="Google Shape;1257;p86"/>
          <p:cNvSpPr txBox="1"/>
          <p:nvPr>
            <p:ph idx="4294967295" type="body"/>
          </p:nvPr>
        </p:nvSpPr>
        <p:spPr>
          <a:xfrm>
            <a:off x="2458872" y="1702512"/>
            <a:ext cx="9156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0.525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58" name="Google Shape;1258;p86"/>
          <p:cNvSpPr txBox="1"/>
          <p:nvPr>
            <p:ph idx="4294967295" type="body"/>
          </p:nvPr>
        </p:nvSpPr>
        <p:spPr>
          <a:xfrm>
            <a:off x="6319786" y="1669238"/>
            <a:ext cx="12591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0.592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7}{20}\ \ \ \ \ \frac{9}{25}\ \ \ \ \ \frac{5}{16}\ \ \ \ \ \frac{3}{8}&quot;&gt;&lt;mfrac&gt;&lt;mn&gt;7&lt;/mn&gt;&lt;mn&gt;20&lt;/mn&gt;&lt;/mfrac&gt;&lt;mtext&gt;&lt;/mtext&gt;&lt;mtext&gt;&lt;/mtext&gt;&lt;mtext&gt;&lt;/mtext&gt;&lt;mtext&gt;&lt;/mtext&gt;&lt;mtext&gt;&lt;/mtext&gt;&lt;mfrac&gt;&lt;mn&gt;9&lt;/mn&gt;&lt;mn&gt;25&lt;/mn&gt;&lt;/mfrac&gt;&lt;mtext&gt;&lt;/mtext&gt;&lt;mtext&gt;&lt;/mtext&gt;&lt;mtext&gt;&lt;/mtext&gt;&lt;mtext&gt;&lt;/mtext&gt;&lt;mtext&gt;&lt;/mtext&gt;&lt;mfrac&gt;&lt;mn&gt;5&lt;/mn&gt;&lt;mn&gt;16&lt;/mn&gt;&lt;/mfrac&gt;&lt;mtext&gt;&lt;/mtext&gt;&lt;mtext&gt;&lt;/mtext&gt;&lt;mtext&gt;&lt;/mtext&gt;&lt;mtext&gt;&lt;/mtext&gt;&lt;mtext&gt;&lt;/mtext&gt;&lt;mfrac&gt;&lt;mn&gt;3&lt;/mn&gt;&lt;mn&gt;8&lt;/mn&gt;&lt;/mfrac&gt;&lt;/math&gt;" id="1259" name="Google Shape;1259;p86" title="7 over 20 9 over 25 5 over 16 three eighths"/>
          <p:cNvPicPr preferRelativeResize="0"/>
          <p:nvPr/>
        </p:nvPicPr>
        <p:blipFill rotWithShape="1">
          <a:blip r:embed="rId4">
            <a:alphaModFix/>
          </a:blip>
          <a:srcRect b="-2249" l="57576" r="22383" t="0"/>
          <a:stretch/>
        </p:blipFill>
        <p:spPr>
          <a:xfrm>
            <a:off x="676348" y="2539013"/>
            <a:ext cx="412825" cy="522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20}\ \ \ \ \ \frac{9}{25}\ \ \ \ \ \frac{5}{16}\ \ \ \ \ \frac{3}{8}&quot;&gt;&lt;mfrac&gt;&lt;mn&gt;7&lt;/mn&gt;&lt;mn&gt;20&lt;/mn&gt;&lt;/mfrac&gt;&lt;mtext&gt;&lt;/mtext&gt;&lt;mtext&gt;&lt;/mtext&gt;&lt;mtext&gt;&lt;/mtext&gt;&lt;mtext&gt;&lt;/mtext&gt;&lt;mtext&gt;&lt;/mtext&gt;&lt;mfrac&gt;&lt;mn&gt;9&lt;/mn&gt;&lt;mn&gt;25&lt;/mn&gt;&lt;/mfrac&gt;&lt;mtext&gt;&lt;/mtext&gt;&lt;mtext&gt;&lt;/mtext&gt;&lt;mtext&gt;&lt;/mtext&gt;&lt;mtext&gt;&lt;/mtext&gt;&lt;mtext&gt;&lt;/mtext&gt;&lt;mfrac&gt;&lt;mn&gt;5&lt;/mn&gt;&lt;mn&gt;16&lt;/mn&gt;&lt;/mfrac&gt;&lt;mtext&gt;&lt;/mtext&gt;&lt;mtext&gt;&lt;/mtext&gt;&lt;mtext&gt;&lt;/mtext&gt;&lt;mtext&gt;&lt;/mtext&gt;&lt;mtext&gt;&lt;/mtext&gt;&lt;mfrac&gt;&lt;mn&gt;3&lt;/mn&gt;&lt;mn&gt;8&lt;/mn&gt;&lt;/mfrac&gt;&lt;/math&gt;" id="1260" name="Google Shape;1260;p86" title="7 over 20 9 over 25 5 over 16 three eighths"/>
          <p:cNvPicPr preferRelativeResize="0"/>
          <p:nvPr/>
        </p:nvPicPr>
        <p:blipFill rotWithShape="1">
          <a:blip r:embed="rId4">
            <a:alphaModFix/>
          </a:blip>
          <a:srcRect b="0" l="29990" r="52198" t="0"/>
          <a:stretch/>
        </p:blipFill>
        <p:spPr>
          <a:xfrm>
            <a:off x="4182485" y="2544763"/>
            <a:ext cx="366925" cy="511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20}\ \ \ \ \ \frac{9}{25}\ \ \ \ \ \frac{5}{16}\ \ \ \ \ \frac{3}{8}&quot;&gt;&lt;mfrac&gt;&lt;mn&gt;7&lt;/mn&gt;&lt;mn&gt;20&lt;/mn&gt;&lt;/mfrac&gt;&lt;mtext&gt;&lt;/mtext&gt;&lt;mtext&gt;&lt;/mtext&gt;&lt;mtext&gt;&lt;/mtext&gt;&lt;mtext&gt;&lt;/mtext&gt;&lt;mtext&gt;&lt;/mtext&gt;&lt;mfrac&gt;&lt;mn&gt;9&lt;/mn&gt;&lt;mn&gt;25&lt;/mn&gt;&lt;/mfrac&gt;&lt;mtext&gt;&lt;/mtext&gt;&lt;mtext&gt;&lt;/mtext&gt;&lt;mtext&gt;&lt;/mtext&gt;&lt;mtext&gt;&lt;/mtext&gt;&lt;mtext&gt;&lt;/mtext&gt;&lt;mfrac&gt;&lt;mn&gt;5&lt;/mn&gt;&lt;mn&gt;16&lt;/mn&gt;&lt;/mfrac&gt;&lt;mtext&gt;&lt;/mtext&gt;&lt;mtext&gt;&lt;/mtext&gt;&lt;mtext&gt;&lt;/mtext&gt;&lt;mtext&gt;&lt;/mtext&gt;&lt;mtext&gt;&lt;/mtext&gt;&lt;mfrac&gt;&lt;mn&gt;3&lt;/mn&gt;&lt;mn&gt;8&lt;/mn&gt;&lt;/mfrac&gt;&lt;/math&gt;" id="1261" name="Google Shape;1261;p86" title="7 over 20 9 over 25 5 over 16 three eighths"/>
          <p:cNvPicPr preferRelativeResize="0"/>
          <p:nvPr/>
        </p:nvPicPr>
        <p:blipFill rotWithShape="1">
          <a:blip r:embed="rId4">
            <a:alphaModFix/>
          </a:blip>
          <a:srcRect b="0" l="0" r="83831" t="0"/>
          <a:stretch/>
        </p:blipFill>
        <p:spPr>
          <a:xfrm>
            <a:off x="2593606" y="2499125"/>
            <a:ext cx="333074" cy="511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62" name="Google Shape;1262;p86"/>
          <p:cNvSpPr txBox="1"/>
          <p:nvPr>
            <p:ph idx="4294967295" type="body"/>
          </p:nvPr>
        </p:nvSpPr>
        <p:spPr>
          <a:xfrm>
            <a:off x="2935900" y="2586106"/>
            <a:ext cx="10734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0.35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63" name="Google Shape;1263;p86"/>
          <p:cNvSpPr txBox="1"/>
          <p:nvPr>
            <p:ph idx="4294967295" type="body"/>
          </p:nvPr>
        </p:nvSpPr>
        <p:spPr>
          <a:xfrm>
            <a:off x="4606091" y="2631743"/>
            <a:ext cx="10734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0.36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64" name="Google Shape;1264;p86"/>
          <p:cNvSpPr txBox="1"/>
          <p:nvPr>
            <p:ph idx="4294967295" type="body"/>
          </p:nvPr>
        </p:nvSpPr>
        <p:spPr>
          <a:xfrm>
            <a:off x="1155182" y="2595006"/>
            <a:ext cx="10734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0.3125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65" name="Google Shape;1265;p86"/>
          <p:cNvSpPr txBox="1"/>
          <p:nvPr>
            <p:ph idx="4294967295" type="body"/>
          </p:nvPr>
        </p:nvSpPr>
        <p:spPr>
          <a:xfrm>
            <a:off x="6474273" y="2631743"/>
            <a:ext cx="10734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0.375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1}{16}\ \ \ \ \ \frac{5}{8}\ \ \ \ \ \frac{76}{125}\ \ \ \ \ \frac{27}{40}&quot;&gt;&lt;mfrac&gt;&lt;mn&gt;11&lt;/mn&gt;&lt;mn&gt;16&lt;/mn&gt;&lt;/mfrac&gt;&lt;mtext&gt;&lt;/mtext&gt;&lt;mtext&gt;&lt;/mtext&gt;&lt;mtext&gt;&lt;/mtext&gt;&lt;mtext&gt;&lt;/mtext&gt;&lt;mtext&gt;&lt;/mtext&gt;&lt;mfrac&gt;&lt;mn&gt;5&lt;/mn&gt;&lt;mn&gt;8&lt;/mn&gt;&lt;/mfrac&gt;&lt;mtext&gt;&lt;/mtext&gt;&lt;mtext&gt;&lt;/mtext&gt;&lt;mtext&gt;&lt;/mtext&gt;&lt;mtext&gt;&lt;/mtext&gt;&lt;mtext&gt;&lt;/mtext&gt;&lt;mfrac&gt;&lt;mn&gt;76&lt;/mn&gt;&lt;mn&gt;125&lt;/mn&gt;&lt;/mfrac&gt;&lt;mtext&gt;&lt;/mtext&gt;&lt;mtext&gt;&lt;/mtext&gt;&lt;mtext&gt;&lt;/mtext&gt;&lt;mtext&gt;&lt;/mtext&gt;&lt;mtext&gt;&lt;/mtext&gt;&lt;mfrac&gt;&lt;mn&gt;27&lt;/mn&gt;&lt;mn&gt;40&lt;/mn&gt;&lt;/mfrac&gt;&lt;/math&gt;" id="1266" name="Google Shape;1266;p86" title="11 over 16 five eighths 76 over 125 27 over 40"/>
          <p:cNvPicPr preferRelativeResize="0"/>
          <p:nvPr/>
        </p:nvPicPr>
        <p:blipFill rotWithShape="1">
          <a:blip r:embed="rId5">
            <a:alphaModFix/>
          </a:blip>
          <a:srcRect b="0" l="48257" r="23413" t="0"/>
          <a:stretch/>
        </p:blipFill>
        <p:spPr>
          <a:xfrm>
            <a:off x="676352" y="3397163"/>
            <a:ext cx="618426" cy="511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}{16}\ \ \ \ \ \frac{5}{8}\ \ \ \ \ \frac{76}{125}\ \ \ \ \ \frac{27}{40}&quot;&gt;&lt;mfrac&gt;&lt;mn&gt;11&lt;/mn&gt;&lt;mn&gt;16&lt;/mn&gt;&lt;/mfrac&gt;&lt;mtext&gt;&lt;/mtext&gt;&lt;mtext&gt;&lt;/mtext&gt;&lt;mtext&gt;&lt;/mtext&gt;&lt;mtext&gt;&lt;/mtext&gt;&lt;mtext&gt;&lt;/mtext&gt;&lt;mfrac&gt;&lt;mn&gt;5&lt;/mn&gt;&lt;mn&gt;8&lt;/mn&gt;&lt;/mfrac&gt;&lt;mtext&gt;&lt;/mtext&gt;&lt;mtext&gt;&lt;/mtext&gt;&lt;mtext&gt;&lt;/mtext&gt;&lt;mtext&gt;&lt;/mtext&gt;&lt;mtext&gt;&lt;/mtext&gt;&lt;mfrac&gt;&lt;mn&gt;76&lt;/mn&gt;&lt;mn&gt;125&lt;/mn&gt;&lt;/mfrac&gt;&lt;mtext&gt;&lt;/mtext&gt;&lt;mtext&gt;&lt;/mtext&gt;&lt;mtext&gt;&lt;/mtext&gt;&lt;mtext&gt;&lt;/mtext&gt;&lt;mtext&gt;&lt;/mtext&gt;&lt;mfrac&gt;&lt;mn&gt;27&lt;/mn&gt;&lt;mn&gt;40&lt;/mn&gt;&lt;/mfrac&gt;&lt;/math&gt;" id="1267" name="Google Shape;1267;p86" title="11 over 16 five eighths 76 over 125 27 over 40"/>
          <p:cNvPicPr preferRelativeResize="0"/>
          <p:nvPr/>
        </p:nvPicPr>
        <p:blipFill rotWithShape="1">
          <a:blip r:embed="rId5">
            <a:alphaModFix/>
          </a:blip>
          <a:srcRect b="0" l="24941" r="59804" t="0"/>
          <a:stretch/>
        </p:blipFill>
        <p:spPr>
          <a:xfrm>
            <a:off x="2472127" y="3469725"/>
            <a:ext cx="333000" cy="511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}{16}\ \ \ \ \ \frac{5}{8}\ \ \ \ \ \frac{76}{125}\ \ \ \ \ \frac{27}{40}&quot;&gt;&lt;mfrac&gt;&lt;mn&gt;11&lt;/mn&gt;&lt;mn&gt;16&lt;/mn&gt;&lt;/mfrac&gt;&lt;mtext&gt;&lt;/mtext&gt;&lt;mtext&gt;&lt;/mtext&gt;&lt;mtext&gt;&lt;/mtext&gt;&lt;mtext&gt;&lt;/mtext&gt;&lt;mtext&gt;&lt;/mtext&gt;&lt;mfrac&gt;&lt;mn&gt;5&lt;/mn&gt;&lt;mn&gt;8&lt;/mn&gt;&lt;/mfrac&gt;&lt;mtext&gt;&lt;/mtext&gt;&lt;mtext&gt;&lt;/mtext&gt;&lt;mtext&gt;&lt;/mtext&gt;&lt;mtext&gt;&lt;/mtext&gt;&lt;mtext&gt;&lt;/mtext&gt;&lt;mfrac&gt;&lt;mn&gt;76&lt;/mn&gt;&lt;mn&gt;125&lt;/mn&gt;&lt;/mfrac&gt;&lt;mtext&gt;&lt;/mtext&gt;&lt;mtext&gt;&lt;/mtext&gt;&lt;mtext&gt;&lt;/mtext&gt;&lt;mtext&gt;&lt;/mtext&gt;&lt;mtext&gt;&lt;/mtext&gt;&lt;mfrac&gt;&lt;mn&gt;27&lt;/mn&gt;&lt;mn&gt;40&lt;/mn&gt;&lt;/mfrac&gt;&lt;/math&gt;" id="1268" name="Google Shape;1268;p86" title="11 over 16 five eighths 76 over 125 27 over 40"/>
          <p:cNvPicPr preferRelativeResize="0"/>
          <p:nvPr/>
        </p:nvPicPr>
        <p:blipFill rotWithShape="1">
          <a:blip r:embed="rId5">
            <a:alphaModFix/>
          </a:blip>
          <a:srcRect b="0" l="0" r="84742" t="0"/>
          <a:stretch/>
        </p:blipFill>
        <p:spPr>
          <a:xfrm>
            <a:off x="6187217" y="3397163"/>
            <a:ext cx="333075" cy="511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69" name="Google Shape;1269;p86"/>
          <p:cNvSpPr txBox="1"/>
          <p:nvPr>
            <p:ph idx="4294967295" type="body"/>
          </p:nvPr>
        </p:nvSpPr>
        <p:spPr>
          <a:xfrm>
            <a:off x="4606106" y="3556699"/>
            <a:ext cx="10734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0.675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70" name="Google Shape;1270;p86"/>
          <p:cNvSpPr txBox="1"/>
          <p:nvPr>
            <p:ph idx="4294967295" type="body"/>
          </p:nvPr>
        </p:nvSpPr>
        <p:spPr>
          <a:xfrm>
            <a:off x="1229933" y="3484137"/>
            <a:ext cx="10734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0.608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71" name="Google Shape;1271;p86"/>
          <p:cNvSpPr txBox="1"/>
          <p:nvPr>
            <p:ph idx="4294967295" type="body"/>
          </p:nvPr>
        </p:nvSpPr>
        <p:spPr>
          <a:xfrm>
            <a:off x="2766391" y="3556699"/>
            <a:ext cx="10734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0.625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72" name="Google Shape;1272;p86"/>
          <p:cNvSpPr txBox="1"/>
          <p:nvPr>
            <p:ph idx="4294967295" type="body"/>
          </p:nvPr>
        </p:nvSpPr>
        <p:spPr>
          <a:xfrm>
            <a:off x="6666165" y="3464795"/>
            <a:ext cx="10734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0.6875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7}{20}\ \ \ \ \ \frac{15}{16}\ \ \ \ \ \frac{7}{8}\ \ \ \ \ \frac{23}{25}&quot;&gt;&lt;mfrac&gt;&lt;mn&gt;17&lt;/mn&gt;&lt;mn&gt;20&lt;/mn&gt;&lt;/mfrac&gt;&lt;mtext&gt;&lt;/mtext&gt;&lt;mtext&gt;&lt;/mtext&gt;&lt;mtext&gt;&lt;/mtext&gt;&lt;mtext&gt;&lt;/mtext&gt;&lt;mtext&gt;&lt;/mtext&gt;&lt;mfrac&gt;&lt;mn&gt;15&lt;/mn&gt;&lt;mn&gt;16&lt;/mn&gt;&lt;/mfrac&gt;&lt;mtext&gt;&lt;/mtext&gt;&lt;mtext&gt;&lt;/mtext&gt;&lt;mtext&gt;&lt;/mtext&gt;&lt;mtext&gt;&lt;/mtext&gt;&lt;mtext&gt;&lt;/mtext&gt;&lt;mfrac&gt;&lt;mn&gt;7&lt;/mn&gt;&lt;mn&gt;8&lt;/mn&gt;&lt;/mfrac&gt;&lt;mtext&gt;&lt;/mtext&gt;&lt;mtext&gt;&lt;/mtext&gt;&lt;mtext&gt;&lt;/mtext&gt;&lt;mtext&gt;&lt;/mtext&gt;&lt;mtext&gt;&lt;/mtext&gt;&lt;mfrac&gt;&lt;mn&gt;23&lt;/mn&gt;&lt;mn&gt;25&lt;/mn&gt;&lt;/mfrac&gt;&lt;/math&gt;" id="1273" name="Google Shape;1273;p86" title="17 over 20 15 over 16 seven eighths 23 over 25"/>
          <p:cNvPicPr preferRelativeResize="0"/>
          <p:nvPr/>
        </p:nvPicPr>
        <p:blipFill rotWithShape="1">
          <a:blip r:embed="rId6">
            <a:alphaModFix/>
          </a:blip>
          <a:srcRect b="0" l="59591" r="27559" t="0"/>
          <a:stretch/>
        </p:blipFill>
        <p:spPr>
          <a:xfrm>
            <a:off x="2371848" y="4309463"/>
            <a:ext cx="264675" cy="511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7}{20}\ \ \ \ \ \frac{15}{16}\ \ \ \ \ \frac{7}{8}\ \ \ \ \ \frac{23}{25}&quot;&gt;&lt;mfrac&gt;&lt;mn&gt;17&lt;/mn&gt;&lt;mn&gt;20&lt;/mn&gt;&lt;/mfrac&gt;&lt;mtext&gt;&lt;/mtext&gt;&lt;mtext&gt;&lt;/mtext&gt;&lt;mtext&gt;&lt;/mtext&gt;&lt;mtext&gt;&lt;/mtext&gt;&lt;mtext&gt;&lt;/mtext&gt;&lt;mfrac&gt;&lt;mn&gt;15&lt;/mn&gt;&lt;mn&gt;16&lt;/mn&gt;&lt;/mfrac&gt;&lt;mtext&gt;&lt;/mtext&gt;&lt;mtext&gt;&lt;/mtext&gt;&lt;mtext&gt;&lt;/mtext&gt;&lt;mtext&gt;&lt;/mtext&gt;&lt;mtext&gt;&lt;/mtext&gt;&lt;mfrac&gt;&lt;mn&gt;7&lt;/mn&gt;&lt;mn&gt;8&lt;/mn&gt;&lt;/mfrac&gt;&lt;mtext&gt;&lt;/mtext&gt;&lt;mtext&gt;&lt;/mtext&gt;&lt;mtext&gt;&lt;/mtext&gt;&lt;mtext&gt;&lt;/mtext&gt;&lt;mtext&gt;&lt;/mtext&gt;&lt;mfrac&gt;&lt;mn&gt;23&lt;/mn&gt;&lt;mn&gt;25&lt;/mn&gt;&lt;/mfrac&gt;&lt;/math&gt;" id="1274" name="Google Shape;1274;p86" title="17 over 20 15 over 16 seven eighths 23 over 25"/>
          <p:cNvPicPr preferRelativeResize="0"/>
          <p:nvPr/>
        </p:nvPicPr>
        <p:blipFill rotWithShape="1">
          <a:blip r:embed="rId6">
            <a:alphaModFix/>
          </a:blip>
          <a:srcRect b="0" l="28850" r="53337" t="0"/>
          <a:stretch/>
        </p:blipFill>
        <p:spPr>
          <a:xfrm>
            <a:off x="6022274" y="4297850"/>
            <a:ext cx="366925" cy="511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7}{20}\ \ \ \ \ \frac{15}{16}\ \ \ \ \ \frac{7}{8}\ \ \ \ \ \frac{23}{25}&quot;&gt;&lt;mfrac&gt;&lt;mn&gt;17&lt;/mn&gt;&lt;mn&gt;20&lt;/mn&gt;&lt;/mfrac&gt;&lt;mtext&gt;&lt;/mtext&gt;&lt;mtext&gt;&lt;/mtext&gt;&lt;mtext&gt;&lt;/mtext&gt;&lt;mtext&gt;&lt;/mtext&gt;&lt;mtext&gt;&lt;/mtext&gt;&lt;mfrac&gt;&lt;mn&gt;15&lt;/mn&gt;&lt;mn&gt;16&lt;/mn&gt;&lt;/mfrac&gt;&lt;mtext&gt;&lt;/mtext&gt;&lt;mtext&gt;&lt;/mtext&gt;&lt;mtext&gt;&lt;/mtext&gt;&lt;mtext&gt;&lt;/mtext&gt;&lt;mtext&gt;&lt;/mtext&gt;&lt;mfrac&gt;&lt;mn&gt;7&lt;/mn&gt;&lt;mn&gt;8&lt;/mn&gt;&lt;/mfrac&gt;&lt;mtext&gt;&lt;/mtext&gt;&lt;mtext&gt;&lt;/mtext&gt;&lt;mtext&gt;&lt;/mtext&gt;&lt;mtext&gt;&lt;/mtext&gt;&lt;mtext&gt;&lt;/mtext&gt;&lt;mfrac&gt;&lt;mn&gt;23&lt;/mn&gt;&lt;mn&gt;25&lt;/mn&gt;&lt;/mfrac&gt;&lt;/math&gt;" id="1275" name="Google Shape;1275;p86" title="17 over 20 15 over 16 seven eighths 23 over 25"/>
          <p:cNvPicPr preferRelativeResize="0"/>
          <p:nvPr/>
        </p:nvPicPr>
        <p:blipFill rotWithShape="1">
          <a:blip r:embed="rId6">
            <a:alphaModFix/>
          </a:blip>
          <a:srcRect b="0" l="0" r="82188" t="0"/>
          <a:stretch/>
        </p:blipFill>
        <p:spPr>
          <a:xfrm>
            <a:off x="724728" y="4309475"/>
            <a:ext cx="366925" cy="511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76" name="Google Shape;1276;p86"/>
          <p:cNvSpPr txBox="1"/>
          <p:nvPr>
            <p:ph idx="4294967295" type="body"/>
          </p:nvPr>
        </p:nvSpPr>
        <p:spPr>
          <a:xfrm>
            <a:off x="1130163" y="4396450"/>
            <a:ext cx="10734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0.85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77" name="Google Shape;1277;p86"/>
          <p:cNvSpPr txBox="1"/>
          <p:nvPr>
            <p:ph idx="4294967295" type="body"/>
          </p:nvPr>
        </p:nvSpPr>
        <p:spPr>
          <a:xfrm>
            <a:off x="4606091" y="4350013"/>
            <a:ext cx="10734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0.92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78" name="Google Shape;1278;p86"/>
          <p:cNvSpPr txBox="1"/>
          <p:nvPr>
            <p:ph idx="4294967295" type="body"/>
          </p:nvPr>
        </p:nvSpPr>
        <p:spPr>
          <a:xfrm>
            <a:off x="2636807" y="4396438"/>
            <a:ext cx="10734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0.875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79" name="Google Shape;1279;p86"/>
          <p:cNvSpPr txBox="1"/>
          <p:nvPr>
            <p:ph idx="4294967295" type="body"/>
          </p:nvPr>
        </p:nvSpPr>
        <p:spPr>
          <a:xfrm>
            <a:off x="6557653" y="4328238"/>
            <a:ext cx="10734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0.9375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p87"/>
          <p:cNvSpPr txBox="1"/>
          <p:nvPr>
            <p:ph idx="1" type="body"/>
          </p:nvPr>
        </p:nvSpPr>
        <p:spPr>
          <a:xfrm>
            <a:off x="324000" y="693400"/>
            <a:ext cx="8113800" cy="81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Fractions with a denominator which is a factor of 10, 100 and 1000 can be converted to decimals by using </a:t>
            </a:r>
            <a:r>
              <a:rPr lang="en-GB" sz="2000"/>
              <a:t>equivalent</a:t>
            </a:r>
            <a:r>
              <a:rPr lang="en-GB" sz="2000"/>
              <a:t> fractions. </a:t>
            </a:r>
            <a:endParaRPr sz="2000"/>
          </a:p>
        </p:txBody>
      </p:sp>
      <p:sp>
        <p:nvSpPr>
          <p:cNvPr id="1285" name="Google Shape;1285;p87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fractions by converting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8}=\frac{3\times125}{8\times125}=\frac{375}{1000}=0.375&quot;&gt;&lt;mfrac&gt;&lt;mn&gt;3&lt;/mn&gt;&lt;mn&gt;8&lt;/mn&gt;&lt;/mfrac&gt;&lt;mo&gt;=&lt;/mo&gt;&lt;mfrac&gt;&lt;mrow&gt;&lt;mn&gt;3&lt;/mn&gt;&lt;mo&gt;×&lt;/mo&gt;&lt;mn&gt;125&lt;/mn&gt;&lt;/mrow&gt;&lt;mrow&gt;&lt;mn&gt;8&lt;/mn&gt;&lt;mo&gt;×&lt;/mo&gt;&lt;mn&gt;125&lt;/mn&gt;&lt;/mrow&gt;&lt;/mfrac&gt;&lt;mo&gt;=&lt;/mo&gt;&lt;mfrac&gt;&lt;mn&gt;375&lt;/mn&gt;&lt;mn&gt;1000&lt;/mn&gt;&lt;/mfrac&gt;&lt;mo&gt;=&lt;/mo&gt;&lt;mn&gt;0.375&lt;/mn&gt;&lt;/math&gt;" id="1286" name="Google Shape;1286;p87" title="three eighths equals the fraction with numerator 3 times 125 and denominator 8 times 125 equals 375 over 1000 equals 0.3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6275" y="1546225"/>
            <a:ext cx="2925476" cy="49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7" name="Google Shape;1287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6124" y="2856149"/>
            <a:ext cx="1426950" cy="60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8" name="Google Shape;1288;p87"/>
          <p:cNvSpPr txBox="1"/>
          <p:nvPr>
            <p:ph idx="1" type="body"/>
          </p:nvPr>
        </p:nvSpPr>
        <p:spPr>
          <a:xfrm>
            <a:off x="324000" y="3665200"/>
            <a:ext cx="8113800" cy="13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It is not always necessary to convert fractions to decimals to order them.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Writing a fraction as a decimal can help with ordering fractions.</a:t>
            </a:r>
            <a:endParaRPr sz="2000"/>
          </a:p>
        </p:txBody>
      </p:sp>
      <p:sp>
        <p:nvSpPr>
          <p:cNvPr id="1289" name="Google Shape;1289;p87"/>
          <p:cNvSpPr txBox="1"/>
          <p:nvPr/>
        </p:nvSpPr>
        <p:spPr>
          <a:xfrm>
            <a:off x="293400" y="26415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E.g.</a:t>
            </a:r>
            <a:endParaRPr/>
          </a:p>
        </p:txBody>
      </p:sp>
      <p:sp>
        <p:nvSpPr>
          <p:cNvPr id="1290" name="Google Shape;1290;p87"/>
          <p:cNvSpPr txBox="1"/>
          <p:nvPr>
            <p:ph idx="1" type="body"/>
          </p:nvPr>
        </p:nvSpPr>
        <p:spPr>
          <a:xfrm>
            <a:off x="324000" y="2217400"/>
            <a:ext cx="8113800" cy="49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Other fractions can be converted to decimals using short division.</a:t>
            </a:r>
            <a:endParaRPr sz="2000"/>
          </a:p>
        </p:txBody>
      </p:sp>
      <p:sp>
        <p:nvSpPr>
          <p:cNvPr id="1291" name="Google Shape;1291;p87"/>
          <p:cNvSpPr txBox="1"/>
          <p:nvPr/>
        </p:nvSpPr>
        <p:spPr>
          <a:xfrm>
            <a:off x="293400" y="13461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E.g.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p88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Industry.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297" name="Google Shape;1297;p8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