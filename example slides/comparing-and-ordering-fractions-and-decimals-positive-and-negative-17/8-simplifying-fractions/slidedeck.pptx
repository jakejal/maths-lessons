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6">
          <p15:clr>
            <a:srgbClr val="747775"/>
          </p15:clr>
        </p15:guide>
        <p15:guide id="2" pos="268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776096-0775-4DA8-89EA-AE61684651AC}">
  <a:tblStyle styleId="{C3776096-0775-4DA8-89EA-AE61684651A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6" orient="horz"/>
        <p:guide pos="2687"/>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1ea68fe23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1ea68fe23e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1ea68fe23e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1ea68fe23e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1ea68fe23e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1ea68fe23e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1ea68fe23e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1ea68fe23e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1ea68fe23e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1ea68fe23e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1ea68fe23e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1ea68fe23e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1ea68fe23e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1ea68fe23e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1ea68fe23e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1ea68fe23e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1ea68fe23e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1ea68fe23e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29613e6016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29613e6016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1ea68fe23e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1ea68fe23e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1ea68fe23ef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1ea68fe23ef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29b027f39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29b027f393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988d79bdc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2988d79bdc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988d79bdc5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988d79bdc5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1ea68fe23ef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1ea68fe23ef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1ea68fe23ef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1ea68fe23ef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1ea68fe23e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4" name="Google Shape;1334;g1ea68fe23e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1ea68fe23e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g1ea68fe23e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1ea68fe23ef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1ea68fe23ef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1ea68fe23ef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1" name="Google Shape;1371;g1ea68fe23ef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1ea68fe23ef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1ea68fe23ef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1ea68fe23ef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1ea68fe23ef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1ea68fe23ef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1ea68fe23ef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1ea68fe23ef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1ea68fe23ef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29baf464f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1" name="Google Shape;1461;g29baf464f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2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2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image" Target="../media/image76.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1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76.png"/><Relationship Id="rId4" Type="http://schemas.openxmlformats.org/officeDocument/2006/relationships/image" Target="../media/image23.png"/><Relationship Id="rId9"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76.png"/><Relationship Id="rId4" Type="http://schemas.openxmlformats.org/officeDocument/2006/relationships/image" Target="../media/image27.png"/><Relationship Id="rId11" Type="http://schemas.openxmlformats.org/officeDocument/2006/relationships/image" Target="../media/image17.png"/><Relationship Id="rId10" Type="http://schemas.openxmlformats.org/officeDocument/2006/relationships/image" Target="../media/image35.png"/><Relationship Id="rId9"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3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4.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4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53.png"/><Relationship Id="rId6"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48.png"/><Relationship Id="rId6" Type="http://schemas.openxmlformats.org/officeDocument/2006/relationships/image" Target="../media/image5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52.png"/><Relationship Id="rId6"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0.png"/><Relationship Id="rId4" Type="http://schemas.openxmlformats.org/officeDocument/2006/relationships/image" Target="../media/image52.png"/><Relationship Id="rId5" Type="http://schemas.openxmlformats.org/officeDocument/2006/relationships/image" Target="../media/image49.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56.png"/><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56.png"/><Relationship Id="rId4" Type="http://schemas.openxmlformats.org/officeDocument/2006/relationships/image" Target="../media/image60.png"/><Relationship Id="rId5" Type="http://schemas.openxmlformats.org/officeDocument/2006/relationships/image" Target="../media/image5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62.png"/><Relationship Id="rId4" Type="http://schemas.openxmlformats.org/officeDocument/2006/relationships/image" Target="../media/image61.png"/><Relationship Id="rId5" Type="http://schemas.openxmlformats.org/officeDocument/2006/relationships/image" Target="../media/image5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 Id="rId3" Type="http://schemas.openxmlformats.org/officeDocument/2006/relationships/image" Target="../media/image59.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66.png"/><Relationship Id="rId4" Type="http://schemas.openxmlformats.org/officeDocument/2006/relationships/image" Target="../media/image65.png"/><Relationship Id="rId5"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 Id="rId3" Type="http://schemas.openxmlformats.org/officeDocument/2006/relationships/image" Target="../media/image64.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1.png"/><Relationship Id="rId7" Type="http://schemas.openxmlformats.org/officeDocument/2006/relationships/image" Target="../media/image7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7.xml"/><Relationship Id="rId3" Type="http://schemas.openxmlformats.org/officeDocument/2006/relationships/image" Target="../media/image71.png"/><Relationship Id="rId4" Type="http://schemas.openxmlformats.org/officeDocument/2006/relationships/image" Target="../media/image68.png"/><Relationship Id="rId9" Type="http://schemas.openxmlformats.org/officeDocument/2006/relationships/image" Target="../media/image75.png"/><Relationship Id="rId5" Type="http://schemas.openxmlformats.org/officeDocument/2006/relationships/image" Target="../media/image72.png"/><Relationship Id="rId6" Type="http://schemas.openxmlformats.org/officeDocument/2006/relationships/image" Target="../media/image69.png"/><Relationship Id="rId7" Type="http://schemas.openxmlformats.org/officeDocument/2006/relationships/image" Target="../media/image73.png"/><Relationship Id="rId8" Type="http://schemas.openxmlformats.org/officeDocument/2006/relationships/image" Target="../media/image74.png"/><Relationship Id="rId10" Type="http://schemas.openxmlformats.org/officeDocument/2006/relationships/image" Target="../media/image8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8.xml"/><Relationship Id="rId3" Type="http://schemas.openxmlformats.org/officeDocument/2006/relationships/image" Target="../media/image77.png"/><Relationship Id="rId4" Type="http://schemas.openxmlformats.org/officeDocument/2006/relationships/image" Target="../media/image78.png"/><Relationship Id="rId9" Type="http://schemas.openxmlformats.org/officeDocument/2006/relationships/image" Target="../media/image82.png"/><Relationship Id="rId5" Type="http://schemas.openxmlformats.org/officeDocument/2006/relationships/image" Target="../media/image86.png"/><Relationship Id="rId6" Type="http://schemas.openxmlformats.org/officeDocument/2006/relationships/image" Target="../media/image81.png"/><Relationship Id="rId7" Type="http://schemas.openxmlformats.org/officeDocument/2006/relationships/image" Target="../media/image84.png"/><Relationship Id="rId8" Type="http://schemas.openxmlformats.org/officeDocument/2006/relationships/image" Target="../media/image95.png"/><Relationship Id="rId31" Type="http://schemas.openxmlformats.org/officeDocument/2006/relationships/image" Target="../media/image103.png"/><Relationship Id="rId30" Type="http://schemas.openxmlformats.org/officeDocument/2006/relationships/image" Target="../media/image102.png"/><Relationship Id="rId32" Type="http://schemas.openxmlformats.org/officeDocument/2006/relationships/image" Target="../media/image106.png"/><Relationship Id="rId20" Type="http://schemas.openxmlformats.org/officeDocument/2006/relationships/image" Target="../media/image91.png"/><Relationship Id="rId22" Type="http://schemas.openxmlformats.org/officeDocument/2006/relationships/image" Target="../media/image96.png"/><Relationship Id="rId21" Type="http://schemas.openxmlformats.org/officeDocument/2006/relationships/image" Target="../media/image97.png"/><Relationship Id="rId24" Type="http://schemas.openxmlformats.org/officeDocument/2006/relationships/image" Target="../media/image100.png"/><Relationship Id="rId23" Type="http://schemas.openxmlformats.org/officeDocument/2006/relationships/image" Target="../media/image105.png"/><Relationship Id="rId26" Type="http://schemas.openxmlformats.org/officeDocument/2006/relationships/image" Target="../media/image104.png"/><Relationship Id="rId25" Type="http://schemas.openxmlformats.org/officeDocument/2006/relationships/image" Target="../media/image101.png"/><Relationship Id="rId28" Type="http://schemas.openxmlformats.org/officeDocument/2006/relationships/image" Target="../media/image107.png"/><Relationship Id="rId27" Type="http://schemas.openxmlformats.org/officeDocument/2006/relationships/image" Target="../media/image98.png"/><Relationship Id="rId29" Type="http://schemas.openxmlformats.org/officeDocument/2006/relationships/image" Target="../media/image99.png"/><Relationship Id="rId11" Type="http://schemas.openxmlformats.org/officeDocument/2006/relationships/image" Target="../media/image85.png"/><Relationship Id="rId10" Type="http://schemas.openxmlformats.org/officeDocument/2006/relationships/image" Target="../media/image83.png"/><Relationship Id="rId13" Type="http://schemas.openxmlformats.org/officeDocument/2006/relationships/image" Target="../media/image90.png"/><Relationship Id="rId12" Type="http://schemas.openxmlformats.org/officeDocument/2006/relationships/image" Target="../media/image89.png"/><Relationship Id="rId15" Type="http://schemas.openxmlformats.org/officeDocument/2006/relationships/image" Target="../media/image94.png"/><Relationship Id="rId14" Type="http://schemas.openxmlformats.org/officeDocument/2006/relationships/image" Target="../media/image80.png"/><Relationship Id="rId17" Type="http://schemas.openxmlformats.org/officeDocument/2006/relationships/image" Target="../media/image87.png"/><Relationship Id="rId16" Type="http://schemas.openxmlformats.org/officeDocument/2006/relationships/image" Target="../media/image79.png"/><Relationship Id="rId19" Type="http://schemas.openxmlformats.org/officeDocument/2006/relationships/image" Target="../media/image93.png"/><Relationship Id="rId18" Type="http://schemas.openxmlformats.org/officeDocument/2006/relationships/image" Target="../media/image9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9.xml"/><Relationship Id="rId3" Type="http://schemas.openxmlformats.org/officeDocument/2006/relationships/image" Target="../media/image71.png"/><Relationship Id="rId4" Type="http://schemas.openxmlformats.org/officeDocument/2006/relationships/image" Target="../media/image68.png"/><Relationship Id="rId9" Type="http://schemas.openxmlformats.org/officeDocument/2006/relationships/image" Target="../media/image75.png"/><Relationship Id="rId5" Type="http://schemas.openxmlformats.org/officeDocument/2006/relationships/image" Target="../media/image72.png"/><Relationship Id="rId6" Type="http://schemas.openxmlformats.org/officeDocument/2006/relationships/image" Target="../media/image69.png"/><Relationship Id="rId7" Type="http://schemas.openxmlformats.org/officeDocument/2006/relationships/image" Target="../media/image73.png"/><Relationship Id="rId8" Type="http://schemas.openxmlformats.org/officeDocument/2006/relationships/image" Target="../media/image74.png"/><Relationship Id="rId10" Type="http://schemas.openxmlformats.org/officeDocument/2006/relationships/image" Target="../media/image8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0.xml"/><Relationship Id="rId3" Type="http://schemas.openxmlformats.org/officeDocument/2006/relationships/image" Target="../media/image77.png"/><Relationship Id="rId4" Type="http://schemas.openxmlformats.org/officeDocument/2006/relationships/image" Target="../media/image78.png"/><Relationship Id="rId9" Type="http://schemas.openxmlformats.org/officeDocument/2006/relationships/image" Target="../media/image82.png"/><Relationship Id="rId5" Type="http://schemas.openxmlformats.org/officeDocument/2006/relationships/image" Target="../media/image86.png"/><Relationship Id="rId6" Type="http://schemas.openxmlformats.org/officeDocument/2006/relationships/image" Target="../media/image81.png"/><Relationship Id="rId7" Type="http://schemas.openxmlformats.org/officeDocument/2006/relationships/image" Target="../media/image84.png"/><Relationship Id="rId8" Type="http://schemas.openxmlformats.org/officeDocument/2006/relationships/image" Target="../media/image95.png"/><Relationship Id="rId31" Type="http://schemas.openxmlformats.org/officeDocument/2006/relationships/image" Target="../media/image103.png"/><Relationship Id="rId30" Type="http://schemas.openxmlformats.org/officeDocument/2006/relationships/image" Target="../media/image102.png"/><Relationship Id="rId32" Type="http://schemas.openxmlformats.org/officeDocument/2006/relationships/image" Target="../media/image106.png"/><Relationship Id="rId20" Type="http://schemas.openxmlformats.org/officeDocument/2006/relationships/image" Target="../media/image91.png"/><Relationship Id="rId22" Type="http://schemas.openxmlformats.org/officeDocument/2006/relationships/image" Target="../media/image96.png"/><Relationship Id="rId21" Type="http://schemas.openxmlformats.org/officeDocument/2006/relationships/image" Target="../media/image97.png"/><Relationship Id="rId24" Type="http://schemas.openxmlformats.org/officeDocument/2006/relationships/image" Target="../media/image100.png"/><Relationship Id="rId23" Type="http://schemas.openxmlformats.org/officeDocument/2006/relationships/image" Target="../media/image105.png"/><Relationship Id="rId26" Type="http://schemas.openxmlformats.org/officeDocument/2006/relationships/image" Target="../media/image104.png"/><Relationship Id="rId25" Type="http://schemas.openxmlformats.org/officeDocument/2006/relationships/image" Target="../media/image101.png"/><Relationship Id="rId28" Type="http://schemas.openxmlformats.org/officeDocument/2006/relationships/image" Target="../media/image107.png"/><Relationship Id="rId27" Type="http://schemas.openxmlformats.org/officeDocument/2006/relationships/image" Target="../media/image98.png"/><Relationship Id="rId29" Type="http://schemas.openxmlformats.org/officeDocument/2006/relationships/image" Target="../media/image99.png"/><Relationship Id="rId11" Type="http://schemas.openxmlformats.org/officeDocument/2006/relationships/image" Target="../media/image85.png"/><Relationship Id="rId10" Type="http://schemas.openxmlformats.org/officeDocument/2006/relationships/image" Target="../media/image83.png"/><Relationship Id="rId13" Type="http://schemas.openxmlformats.org/officeDocument/2006/relationships/image" Target="../media/image90.png"/><Relationship Id="rId12" Type="http://schemas.openxmlformats.org/officeDocument/2006/relationships/image" Target="../media/image89.png"/><Relationship Id="rId15" Type="http://schemas.openxmlformats.org/officeDocument/2006/relationships/image" Target="../media/image94.png"/><Relationship Id="rId14" Type="http://schemas.openxmlformats.org/officeDocument/2006/relationships/image" Target="../media/image80.png"/><Relationship Id="rId17" Type="http://schemas.openxmlformats.org/officeDocument/2006/relationships/image" Target="../media/image87.png"/><Relationship Id="rId16" Type="http://schemas.openxmlformats.org/officeDocument/2006/relationships/image" Target="../media/image79.png"/><Relationship Id="rId19" Type="http://schemas.openxmlformats.org/officeDocument/2006/relationships/image" Target="../media/image93.png"/><Relationship Id="rId18" Type="http://schemas.openxmlformats.org/officeDocument/2006/relationships/image" Target="../media/image9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49.png"/><Relationship Id="rId4" Type="http://schemas.openxmlformats.org/officeDocument/2006/relationships/image" Target="../media/image47.png"/><Relationship Id="rId5" Type="http://schemas.openxmlformats.org/officeDocument/2006/relationships/image" Target="../media/image4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109.png"/><Relationship Id="rId4" Type="http://schemas.openxmlformats.org/officeDocument/2006/relationships/image" Target="../media/image1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1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1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108.png"/><Relationship Id="rId4" Type="http://schemas.openxmlformats.org/officeDocument/2006/relationships/image" Target="../media/image119.png"/><Relationship Id="rId5" Type="http://schemas.openxmlformats.org/officeDocument/2006/relationships/image" Target="../media/image115.png"/><Relationship Id="rId6" Type="http://schemas.openxmlformats.org/officeDocument/2006/relationships/image" Target="../media/image1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2.png"/><Relationship Id="rId6" Type="http://schemas.openxmlformats.org/officeDocument/2006/relationships/image" Target="../media/image118.png"/><Relationship Id="rId7" Type="http://schemas.openxmlformats.org/officeDocument/2006/relationships/image" Target="../media/image1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8.xml"/><Relationship Id="rId3" Type="http://schemas.openxmlformats.org/officeDocument/2006/relationships/image" Target="../media/image125.png"/><Relationship Id="rId4" Type="http://schemas.openxmlformats.org/officeDocument/2006/relationships/image" Target="../media/image122.png"/><Relationship Id="rId5" Type="http://schemas.openxmlformats.org/officeDocument/2006/relationships/image" Target="../media/image126.png"/><Relationship Id="rId6" Type="http://schemas.openxmlformats.org/officeDocument/2006/relationships/image" Target="../media/image123.png"/><Relationship Id="rId7" Type="http://schemas.openxmlformats.org/officeDocument/2006/relationships/image" Target="../media/image1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9.xml"/><Relationship Id="rId3" Type="http://schemas.openxmlformats.org/officeDocument/2006/relationships/image" Target="../media/image122.png"/><Relationship Id="rId4" Type="http://schemas.openxmlformats.org/officeDocument/2006/relationships/image" Target="../media/image126.png"/><Relationship Id="rId9" Type="http://schemas.openxmlformats.org/officeDocument/2006/relationships/image" Target="../media/image130.png"/><Relationship Id="rId5" Type="http://schemas.openxmlformats.org/officeDocument/2006/relationships/image" Target="../media/image128.png"/><Relationship Id="rId6" Type="http://schemas.openxmlformats.org/officeDocument/2006/relationships/image" Target="../media/image127.png"/><Relationship Id="rId7" Type="http://schemas.openxmlformats.org/officeDocument/2006/relationships/image" Target="../media/image136.png"/><Relationship Id="rId8" Type="http://schemas.openxmlformats.org/officeDocument/2006/relationships/image" Target="../media/image131.png"/><Relationship Id="rId11" Type="http://schemas.openxmlformats.org/officeDocument/2006/relationships/image" Target="../media/image133.png"/><Relationship Id="rId10" Type="http://schemas.openxmlformats.org/officeDocument/2006/relationships/image" Target="../media/image137.png"/><Relationship Id="rId13" Type="http://schemas.openxmlformats.org/officeDocument/2006/relationships/image" Target="../media/image129.png"/><Relationship Id="rId12" Type="http://schemas.openxmlformats.org/officeDocument/2006/relationships/image" Target="../media/image123.png"/><Relationship Id="rId15" Type="http://schemas.openxmlformats.org/officeDocument/2006/relationships/image" Target="../media/image124.png"/><Relationship Id="rId14" Type="http://schemas.openxmlformats.org/officeDocument/2006/relationships/image" Target="../media/image1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30.xml"/><Relationship Id="rId3" Type="http://schemas.openxmlformats.org/officeDocument/2006/relationships/image" Target="../media/image134.png"/><Relationship Id="rId4" Type="http://schemas.openxmlformats.org/officeDocument/2006/relationships/image" Target="../media/image1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1.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Simplifying fractions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Comparing and ordering fractions and decimals (positive and negative)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simplify fractions by dividing both the numerator and denominator by common factors and know why this works.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2" type="subTitle"/>
          </p:nvPr>
        </p:nvSpPr>
        <p:spPr>
          <a:xfrm>
            <a:off x="324001" y="2060572"/>
            <a:ext cx="7830900" cy="48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0" lang="en-GB"/>
              <a:t>The highest common factor is the common factor which can be divided by all other possible common factors.</a:t>
            </a:r>
            <a:endParaRPr b="0"/>
          </a:p>
        </p:txBody>
      </p:sp>
      <p:sp>
        <p:nvSpPr>
          <p:cNvPr id="767" name="Google Shape;767;p67"/>
          <p:cNvSpPr txBox="1"/>
          <p:nvPr>
            <p:ph idx="1" type="subTitle"/>
          </p:nvPr>
        </p:nvSpPr>
        <p:spPr>
          <a:xfrm>
            <a:off x="324001" y="993650"/>
            <a:ext cx="78309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A factor is a term which exactly divides another term.  </a:t>
            </a:r>
            <a:endParaRPr b="0"/>
          </a:p>
        </p:txBody>
      </p:sp>
      <p:sp>
        <p:nvSpPr>
          <p:cNvPr id="768" name="Google Shape;768;p67"/>
          <p:cNvSpPr txBox="1"/>
          <p:nvPr>
            <p:ph idx="3" type="subTitle"/>
          </p:nvPr>
        </p:nvSpPr>
        <p:spPr>
          <a:xfrm>
            <a:off x="324001" y="3483826"/>
            <a:ext cx="7830900" cy="48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0" lang="en-GB"/>
              <a:t>Expressing a number as a product of primes means writing it uniquely as a product of its factors that are prime numbers.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774" name="Google Shape;774;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prime factors</a:t>
            </a:r>
            <a:endParaRPr/>
          </a:p>
        </p:txBody>
      </p:sp>
      <p:sp>
        <p:nvSpPr>
          <p:cNvPr id="775" name="Google Shape;775;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Simplifying fractions</a:t>
            </a:r>
            <a:endParaRPr/>
          </a:p>
        </p:txBody>
      </p:sp>
      <p:pic>
        <p:nvPicPr>
          <p:cNvPr id="776" name="Google Shape;776;p68"/>
          <p:cNvPicPr preferRelativeResize="0"/>
          <p:nvPr/>
        </p:nvPicPr>
        <p:blipFill>
          <a:blip r:embed="rId3">
            <a:alphaModFix/>
          </a:blip>
          <a:stretch>
            <a:fillRect/>
          </a:stretch>
        </p:blipFill>
        <p:spPr>
          <a:xfrm>
            <a:off x="416200"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pic>
        <p:nvPicPr>
          <p:cNvPr id="782" name="Google Shape;782;p69"/>
          <p:cNvPicPr preferRelativeResize="0"/>
          <p:nvPr/>
        </p:nvPicPr>
        <p:blipFill>
          <a:blip r:embed="rId3">
            <a:alphaModFix/>
          </a:blip>
          <a:stretch>
            <a:fillRect/>
          </a:stretch>
        </p:blipFill>
        <p:spPr>
          <a:xfrm>
            <a:off x="7019937" y="2756069"/>
            <a:ext cx="1700389" cy="1645537"/>
          </a:xfrm>
          <a:prstGeom prst="rect">
            <a:avLst/>
          </a:prstGeom>
          <a:noFill/>
          <a:ln>
            <a:noFill/>
          </a:ln>
        </p:spPr>
      </p:pic>
      <p:grpSp>
        <p:nvGrpSpPr>
          <p:cNvPr id="783" name="Google Shape;783;p69"/>
          <p:cNvGrpSpPr/>
          <p:nvPr/>
        </p:nvGrpSpPr>
        <p:grpSpPr>
          <a:xfrm>
            <a:off x="1394902" y="1349550"/>
            <a:ext cx="2867748" cy="2278051"/>
            <a:chOff x="1623502" y="1806750"/>
            <a:chExt cx="2867748" cy="2278051"/>
          </a:xfrm>
        </p:grpSpPr>
        <p:pic>
          <p:nvPicPr>
            <p:cNvPr id="784" name="Google Shape;784;p69"/>
            <p:cNvPicPr preferRelativeResize="0"/>
            <p:nvPr/>
          </p:nvPicPr>
          <p:blipFill rotWithShape="1">
            <a:blip r:embed="rId4">
              <a:alphaModFix/>
            </a:blip>
            <a:srcRect b="43690" l="0" r="57905" t="0"/>
            <a:stretch/>
          </p:blipFill>
          <p:spPr>
            <a:xfrm flipH="1">
              <a:off x="1623502" y="1806750"/>
              <a:ext cx="2867748" cy="2278051"/>
            </a:xfrm>
            <a:prstGeom prst="rect">
              <a:avLst/>
            </a:prstGeom>
            <a:noFill/>
            <a:ln>
              <a:noFill/>
            </a:ln>
          </p:spPr>
        </p:pic>
        <p:sp>
          <p:nvSpPr>
            <p:cNvPr id="785" name="Google Shape;785;p69"/>
            <p:cNvSpPr txBox="1"/>
            <p:nvPr/>
          </p:nvSpPr>
          <p:spPr>
            <a:xfrm>
              <a:off x="1878375" y="1939750"/>
              <a:ext cx="2524800" cy="169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When you multiply two positive </a:t>
              </a:r>
              <a:r>
                <a:rPr lang="en-GB" sz="2200">
                  <a:latin typeface="Lexend"/>
                  <a:ea typeface="Lexend"/>
                  <a:cs typeface="Lexend"/>
                  <a:sym typeface="Lexend"/>
                </a:rPr>
                <a:t>integers</a:t>
              </a:r>
              <a:r>
                <a:rPr lang="en-GB" sz="2200">
                  <a:latin typeface="Lexend"/>
                  <a:ea typeface="Lexend"/>
                  <a:cs typeface="Lexend"/>
                  <a:sym typeface="Lexend"/>
                </a:rPr>
                <a:t> your answer will always get bigger.</a:t>
              </a:r>
              <a:endParaRPr sz="2200">
                <a:latin typeface="Lexend"/>
                <a:ea typeface="Lexend"/>
                <a:cs typeface="Lexend"/>
                <a:sym typeface="Lexend"/>
              </a:endParaRPr>
            </a:p>
          </p:txBody>
        </p:sp>
      </p:grpSp>
      <p:grpSp>
        <p:nvGrpSpPr>
          <p:cNvPr id="786" name="Google Shape;786;p69"/>
          <p:cNvGrpSpPr/>
          <p:nvPr/>
        </p:nvGrpSpPr>
        <p:grpSpPr>
          <a:xfrm>
            <a:off x="4700025" y="2260975"/>
            <a:ext cx="2592276" cy="1179774"/>
            <a:chOff x="4700025" y="2260975"/>
            <a:chExt cx="2592276" cy="1179774"/>
          </a:xfrm>
        </p:grpSpPr>
        <p:pic>
          <p:nvPicPr>
            <p:cNvPr id="787" name="Google Shape;787;p69"/>
            <p:cNvPicPr preferRelativeResize="0"/>
            <p:nvPr/>
          </p:nvPicPr>
          <p:blipFill rotWithShape="1">
            <a:blip r:embed="rId4">
              <a:alphaModFix/>
            </a:blip>
            <a:srcRect b="43690" l="0" r="57905" t="0"/>
            <a:stretch/>
          </p:blipFill>
          <p:spPr>
            <a:xfrm>
              <a:off x="4700025" y="2260975"/>
              <a:ext cx="2592276" cy="1179774"/>
            </a:xfrm>
            <a:prstGeom prst="rect">
              <a:avLst/>
            </a:prstGeom>
            <a:noFill/>
            <a:ln>
              <a:noFill/>
            </a:ln>
          </p:spPr>
        </p:pic>
        <p:sp>
          <p:nvSpPr>
            <p:cNvPr id="788" name="Google Shape;788;p69"/>
            <p:cNvSpPr txBox="1"/>
            <p:nvPr/>
          </p:nvSpPr>
          <p:spPr>
            <a:xfrm>
              <a:off x="4797000" y="2397800"/>
              <a:ext cx="22230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I don’t think that is true.</a:t>
              </a:r>
              <a:endParaRPr sz="2200">
                <a:latin typeface="Lexend"/>
                <a:ea typeface="Lexend"/>
                <a:cs typeface="Lexend"/>
                <a:sym typeface="Lexend"/>
              </a:endParaRPr>
            </a:p>
          </p:txBody>
        </p:sp>
      </p:grpSp>
      <p:sp>
        <p:nvSpPr>
          <p:cNvPr id="789" name="Google Shape;789;p69"/>
          <p:cNvSpPr txBox="1"/>
          <p:nvPr/>
        </p:nvSpPr>
        <p:spPr>
          <a:xfrm>
            <a:off x="7094894" y="43106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nvGrpSpPr>
          <p:cNvPr id="790" name="Google Shape;790;p69"/>
          <p:cNvGrpSpPr/>
          <p:nvPr/>
        </p:nvGrpSpPr>
        <p:grpSpPr>
          <a:xfrm>
            <a:off x="1438594" y="1501950"/>
            <a:ext cx="2867748" cy="1909350"/>
            <a:chOff x="1757594" y="3688800"/>
            <a:chExt cx="2867748" cy="1909350"/>
          </a:xfrm>
        </p:grpSpPr>
        <p:pic>
          <p:nvPicPr>
            <p:cNvPr id="791" name="Google Shape;791;p69"/>
            <p:cNvPicPr preferRelativeResize="0"/>
            <p:nvPr/>
          </p:nvPicPr>
          <p:blipFill rotWithShape="1">
            <a:blip r:embed="rId4">
              <a:alphaModFix/>
            </a:blip>
            <a:srcRect b="43690" l="0" r="57905" t="0"/>
            <a:stretch/>
          </p:blipFill>
          <p:spPr>
            <a:xfrm flipH="1">
              <a:off x="1757594" y="3688800"/>
              <a:ext cx="2867748" cy="1909350"/>
            </a:xfrm>
            <a:prstGeom prst="rect">
              <a:avLst/>
            </a:prstGeom>
            <a:noFill/>
            <a:ln>
              <a:noFill/>
            </a:ln>
          </p:spPr>
        </p:pic>
        <p:sp>
          <p:nvSpPr>
            <p:cNvPr id="792" name="Google Shape;792;p69"/>
            <p:cNvSpPr txBox="1"/>
            <p:nvPr/>
          </p:nvSpPr>
          <p:spPr>
            <a:xfrm>
              <a:off x="1992600" y="3772275"/>
              <a:ext cx="2592300" cy="13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Oh Izzy, you are </a:t>
              </a:r>
              <a:r>
                <a:rPr lang="en-GB" sz="2200">
                  <a:latin typeface="Lexend"/>
                  <a:ea typeface="Lexend"/>
                  <a:cs typeface="Lexend"/>
                  <a:sym typeface="Lexend"/>
                </a:rPr>
                <a:t>r</a:t>
              </a:r>
              <a:r>
                <a:rPr lang="en-GB" sz="2200">
                  <a:latin typeface="Lexend"/>
                  <a:ea typeface="Lexend"/>
                  <a:cs typeface="Lexend"/>
                  <a:sym typeface="Lexend"/>
                </a:rPr>
                <a:t>ight. I </a:t>
              </a:r>
              <a:r>
                <a:rPr lang="en-GB" sz="2200">
                  <a:latin typeface="Lexend"/>
                  <a:ea typeface="Lexend"/>
                  <a:cs typeface="Lexend"/>
                  <a:sym typeface="Lexend"/>
                </a:rPr>
                <a:t>forgot</a:t>
              </a:r>
              <a:r>
                <a:rPr lang="en-GB" sz="2200">
                  <a:latin typeface="Lexend"/>
                  <a:ea typeface="Lexend"/>
                  <a:cs typeface="Lexend"/>
                  <a:sym typeface="Lexend"/>
                </a:rPr>
                <a:t> about multiplying by one.</a:t>
              </a:r>
              <a:endParaRPr sz="2200">
                <a:latin typeface="Lexend"/>
                <a:ea typeface="Lexend"/>
                <a:cs typeface="Lexend"/>
                <a:sym typeface="Lexend"/>
              </a:endParaRPr>
            </a:p>
          </p:txBody>
        </p:sp>
      </p:grpSp>
      <p:grpSp>
        <p:nvGrpSpPr>
          <p:cNvPr id="793" name="Google Shape;793;p69"/>
          <p:cNvGrpSpPr/>
          <p:nvPr/>
        </p:nvGrpSpPr>
        <p:grpSpPr>
          <a:xfrm>
            <a:off x="4444150" y="1835550"/>
            <a:ext cx="3003049" cy="1694950"/>
            <a:chOff x="5206150" y="692550"/>
            <a:chExt cx="3003049" cy="1694950"/>
          </a:xfrm>
        </p:grpSpPr>
        <p:pic>
          <p:nvPicPr>
            <p:cNvPr id="794" name="Google Shape;794;p69"/>
            <p:cNvPicPr preferRelativeResize="0"/>
            <p:nvPr/>
          </p:nvPicPr>
          <p:blipFill rotWithShape="1">
            <a:blip r:embed="rId4">
              <a:alphaModFix/>
            </a:blip>
            <a:srcRect b="43690" l="0" r="57905" t="0"/>
            <a:stretch/>
          </p:blipFill>
          <p:spPr>
            <a:xfrm>
              <a:off x="5206150" y="692550"/>
              <a:ext cx="3003049" cy="1694950"/>
            </a:xfrm>
            <a:prstGeom prst="rect">
              <a:avLst/>
            </a:prstGeom>
            <a:noFill/>
            <a:ln>
              <a:noFill/>
            </a:ln>
          </p:spPr>
        </p:pic>
        <p:sp>
          <p:nvSpPr>
            <p:cNvPr id="795" name="Google Shape;795;p69"/>
            <p:cNvSpPr txBox="1"/>
            <p:nvPr/>
          </p:nvSpPr>
          <p:spPr>
            <a:xfrm>
              <a:off x="5321250" y="733800"/>
              <a:ext cx="2592300" cy="13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Yes, if you multiply anything by one the answer remains the same.</a:t>
              </a:r>
              <a:endParaRPr sz="2200">
                <a:latin typeface="Lexend"/>
                <a:ea typeface="Lexend"/>
                <a:cs typeface="Lexend"/>
                <a:sym typeface="Lexend"/>
              </a:endParaRPr>
            </a:p>
          </p:txBody>
        </p:sp>
      </p:grpSp>
      <p:pic>
        <p:nvPicPr>
          <p:cNvPr id="796" name="Google Shape;796;p69"/>
          <p:cNvPicPr preferRelativeResize="0"/>
          <p:nvPr/>
        </p:nvPicPr>
        <p:blipFill>
          <a:blip r:embed="rId5">
            <a:alphaModFix/>
          </a:blip>
          <a:stretch>
            <a:fillRect/>
          </a:stretch>
        </p:blipFill>
        <p:spPr>
          <a:xfrm flipH="1">
            <a:off x="351925" y="3161305"/>
            <a:ext cx="1180471" cy="1367485"/>
          </a:xfrm>
          <a:prstGeom prst="rect">
            <a:avLst/>
          </a:prstGeom>
          <a:noFill/>
          <a:ln>
            <a:noFill/>
          </a:ln>
        </p:spPr>
      </p:pic>
      <p:sp>
        <p:nvSpPr>
          <p:cNvPr id="797" name="Google Shape;797;p69"/>
          <p:cNvSpPr txBox="1"/>
          <p:nvPr/>
        </p:nvSpPr>
        <p:spPr>
          <a:xfrm>
            <a:off x="627901" y="4380573"/>
            <a:ext cx="9807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7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78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803" name="Google Shape;803;p70"/>
          <p:cNvSpPr txBox="1"/>
          <p:nvPr>
            <p:ph idx="1" type="body"/>
          </p:nvPr>
        </p:nvSpPr>
        <p:spPr>
          <a:xfrm>
            <a:off x="324000" y="759300"/>
            <a:ext cx="8496000" cy="40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Can you think of any other ways of writing the number one?</a:t>
            </a:r>
            <a:endParaRPr/>
          </a:p>
        </p:txBody>
      </p:sp>
      <p:pic>
        <p:nvPicPr>
          <p:cNvPr id="804" name="Google Shape;804;p70"/>
          <p:cNvPicPr preferRelativeResize="0"/>
          <p:nvPr/>
        </p:nvPicPr>
        <p:blipFill>
          <a:blip r:embed="rId3">
            <a:alphaModFix/>
          </a:blip>
          <a:stretch>
            <a:fillRect/>
          </a:stretch>
        </p:blipFill>
        <p:spPr>
          <a:xfrm>
            <a:off x="7019937" y="2756069"/>
            <a:ext cx="1700389" cy="1645537"/>
          </a:xfrm>
          <a:prstGeom prst="rect">
            <a:avLst/>
          </a:prstGeom>
          <a:noFill/>
          <a:ln>
            <a:noFill/>
          </a:ln>
        </p:spPr>
      </p:pic>
      <p:sp>
        <p:nvSpPr>
          <p:cNvPr id="805" name="Google Shape;805;p70"/>
          <p:cNvSpPr txBox="1"/>
          <p:nvPr/>
        </p:nvSpPr>
        <p:spPr>
          <a:xfrm>
            <a:off x="7094894" y="43106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nvGrpSpPr>
          <p:cNvPr id="806" name="Google Shape;806;p70"/>
          <p:cNvGrpSpPr/>
          <p:nvPr/>
        </p:nvGrpSpPr>
        <p:grpSpPr>
          <a:xfrm>
            <a:off x="4520348" y="1378354"/>
            <a:ext cx="3003049" cy="2111399"/>
            <a:chOff x="4520350" y="1759350"/>
            <a:chExt cx="3003049" cy="1694950"/>
          </a:xfrm>
        </p:grpSpPr>
        <p:pic>
          <p:nvPicPr>
            <p:cNvPr id="807" name="Google Shape;807;p70"/>
            <p:cNvPicPr preferRelativeResize="0"/>
            <p:nvPr/>
          </p:nvPicPr>
          <p:blipFill rotWithShape="1">
            <a:blip r:embed="rId4">
              <a:alphaModFix/>
            </a:blip>
            <a:srcRect b="43690" l="0" r="57905" t="0"/>
            <a:stretch/>
          </p:blipFill>
          <p:spPr>
            <a:xfrm>
              <a:off x="4520350" y="1759350"/>
              <a:ext cx="3003049" cy="1694950"/>
            </a:xfrm>
            <a:prstGeom prst="rect">
              <a:avLst/>
            </a:prstGeom>
            <a:noFill/>
            <a:ln>
              <a:noFill/>
            </a:ln>
          </p:spPr>
        </p:pic>
        <p:sp>
          <p:nvSpPr>
            <p:cNvPr id="808" name="Google Shape;808;p70"/>
            <p:cNvSpPr txBox="1"/>
            <p:nvPr/>
          </p:nvSpPr>
          <p:spPr>
            <a:xfrm>
              <a:off x="4635450" y="1800600"/>
              <a:ext cx="2592300" cy="135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It can. Any fraction with the </a:t>
              </a:r>
              <a:r>
                <a:rPr lang="en-GB" sz="2200">
                  <a:solidFill>
                    <a:schemeClr val="accent4"/>
                  </a:solidFill>
                  <a:latin typeface="Lexend"/>
                  <a:ea typeface="Lexend"/>
                  <a:cs typeface="Lexend"/>
                  <a:sym typeface="Lexend"/>
                </a:rPr>
                <a:t>same</a:t>
              </a:r>
              <a:r>
                <a:rPr lang="en-GB" sz="2200">
                  <a:latin typeface="Lexend"/>
                  <a:ea typeface="Lexend"/>
                  <a:cs typeface="Lexend"/>
                  <a:sym typeface="Lexend"/>
                </a:rPr>
                <a:t> numerator and denominator is one.</a:t>
              </a:r>
              <a:endParaRPr sz="2200">
                <a:latin typeface="Lexend"/>
                <a:ea typeface="Lexend"/>
                <a:cs typeface="Lexend"/>
                <a:sym typeface="Lexend"/>
              </a:endParaRPr>
            </a:p>
          </p:txBody>
        </p:sp>
      </p:grpSp>
      <p:grpSp>
        <p:nvGrpSpPr>
          <p:cNvPr id="809" name="Google Shape;809;p70"/>
          <p:cNvGrpSpPr/>
          <p:nvPr/>
        </p:nvGrpSpPr>
        <p:grpSpPr>
          <a:xfrm>
            <a:off x="1394902" y="1920750"/>
            <a:ext cx="2917073" cy="1490551"/>
            <a:chOff x="1623502" y="2225550"/>
            <a:chExt cx="2917073" cy="1490551"/>
          </a:xfrm>
        </p:grpSpPr>
        <p:pic>
          <p:nvPicPr>
            <p:cNvPr id="810" name="Google Shape;810;p70"/>
            <p:cNvPicPr preferRelativeResize="0"/>
            <p:nvPr/>
          </p:nvPicPr>
          <p:blipFill rotWithShape="1">
            <a:blip r:embed="rId4">
              <a:alphaModFix/>
            </a:blip>
            <a:srcRect b="43690" l="0" r="57905" t="0"/>
            <a:stretch/>
          </p:blipFill>
          <p:spPr>
            <a:xfrm flipH="1">
              <a:off x="1623502" y="2225550"/>
              <a:ext cx="2867748" cy="1490551"/>
            </a:xfrm>
            <a:prstGeom prst="rect">
              <a:avLst/>
            </a:prstGeom>
            <a:noFill/>
            <a:ln>
              <a:noFill/>
            </a:ln>
          </p:spPr>
        </p:pic>
        <p:sp>
          <p:nvSpPr>
            <p:cNvPr id="811" name="Google Shape;811;p70"/>
            <p:cNvSpPr txBox="1"/>
            <p:nvPr/>
          </p:nvSpPr>
          <p:spPr>
            <a:xfrm>
              <a:off x="1878375" y="2320750"/>
              <a:ext cx="2662200" cy="1015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One can be written in lots of different ways.</a:t>
              </a:r>
              <a:endParaRPr sz="2200">
                <a:latin typeface="Lexend"/>
                <a:ea typeface="Lexend"/>
                <a:cs typeface="Lexend"/>
                <a:sym typeface="Lexend"/>
              </a:endParaRPr>
            </a:p>
          </p:txBody>
        </p:sp>
      </p:grpSp>
      <p:grpSp>
        <p:nvGrpSpPr>
          <p:cNvPr id="812" name="Google Shape;812;p70"/>
          <p:cNvGrpSpPr/>
          <p:nvPr/>
        </p:nvGrpSpPr>
        <p:grpSpPr>
          <a:xfrm>
            <a:off x="1344977" y="1637325"/>
            <a:ext cx="2917073" cy="1808825"/>
            <a:chOff x="3021377" y="3161325"/>
            <a:chExt cx="2917073" cy="1808825"/>
          </a:xfrm>
        </p:grpSpPr>
        <p:grpSp>
          <p:nvGrpSpPr>
            <p:cNvPr id="813" name="Google Shape;813;p70"/>
            <p:cNvGrpSpPr/>
            <p:nvPr/>
          </p:nvGrpSpPr>
          <p:grpSpPr>
            <a:xfrm>
              <a:off x="3021377" y="3161325"/>
              <a:ext cx="2917073" cy="1808825"/>
              <a:chOff x="1623502" y="2225550"/>
              <a:chExt cx="2917073" cy="1808825"/>
            </a:xfrm>
          </p:grpSpPr>
          <p:pic>
            <p:nvPicPr>
              <p:cNvPr id="814" name="Google Shape;814;p70"/>
              <p:cNvPicPr preferRelativeResize="0"/>
              <p:nvPr/>
            </p:nvPicPr>
            <p:blipFill rotWithShape="1">
              <a:blip r:embed="rId4">
                <a:alphaModFix/>
              </a:blip>
              <a:srcRect b="43690" l="0" r="57905" t="0"/>
              <a:stretch/>
            </p:blipFill>
            <p:spPr>
              <a:xfrm flipH="1">
                <a:off x="1623502" y="2225550"/>
                <a:ext cx="2867748" cy="1808825"/>
              </a:xfrm>
              <a:prstGeom prst="rect">
                <a:avLst/>
              </a:prstGeom>
              <a:noFill/>
              <a:ln>
                <a:noFill/>
              </a:ln>
            </p:spPr>
          </p:pic>
          <p:sp>
            <p:nvSpPr>
              <p:cNvPr id="815" name="Google Shape;815;p70"/>
              <p:cNvSpPr txBox="1"/>
              <p:nvPr/>
            </p:nvSpPr>
            <p:spPr>
              <a:xfrm>
                <a:off x="1878375" y="2320750"/>
                <a:ext cx="2662200" cy="13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Yes,</a:t>
                </a:r>
                <a:endParaRPr sz="2200">
                  <a:latin typeface="Lexend"/>
                  <a:ea typeface="Lexend"/>
                  <a:cs typeface="Lexend"/>
                  <a:sym typeface="Lexend"/>
                </a:endParaRPr>
              </a:p>
              <a:p>
                <a:pPr indent="0" lvl="0" marL="0" rtl="0" algn="l">
                  <a:spcBef>
                    <a:spcPts val="0"/>
                  </a:spcBef>
                  <a:spcAft>
                    <a:spcPts val="0"/>
                  </a:spcAft>
                  <a:buNone/>
                </a:pPr>
                <a:r>
                  <a:t/>
                </a:r>
                <a:endParaRPr sz="2200">
                  <a:latin typeface="Lexend"/>
                  <a:ea typeface="Lexend"/>
                  <a:cs typeface="Lexend"/>
                  <a:sym typeface="Lexend"/>
                </a:endParaRPr>
              </a:p>
              <a:p>
                <a:pPr indent="0" lvl="0" marL="0" rtl="0" algn="l">
                  <a:spcBef>
                    <a:spcPts val="0"/>
                  </a:spcBef>
                  <a:spcAft>
                    <a:spcPts val="0"/>
                  </a:spcAft>
                  <a:buNone/>
                </a:pPr>
                <a:r>
                  <a:rPr lang="en-GB" sz="2200">
                    <a:latin typeface="Lexend"/>
                    <a:ea typeface="Lexend"/>
                    <a:cs typeface="Lexend"/>
                    <a:sym typeface="Lexend"/>
                  </a:rPr>
                  <a:t>and an </a:t>
                </a:r>
                <a:r>
                  <a:rPr lang="en-GB" sz="2200">
                    <a:solidFill>
                      <a:schemeClr val="accent4"/>
                    </a:solidFill>
                    <a:latin typeface="Lexend"/>
                    <a:ea typeface="Lexend"/>
                    <a:cs typeface="Lexend"/>
                    <a:sym typeface="Lexend"/>
                  </a:rPr>
                  <a:t>infinite</a:t>
                </a:r>
                <a:r>
                  <a:rPr lang="en-GB" sz="2200">
                    <a:latin typeface="Lexend"/>
                    <a:ea typeface="Lexend"/>
                    <a:cs typeface="Lexend"/>
                    <a:sym typeface="Lexend"/>
                  </a:rPr>
                  <a:t> number of others. </a:t>
                </a:r>
                <a:endParaRPr sz="2200">
                  <a:latin typeface="Lexend"/>
                  <a:ea typeface="Lexend"/>
                  <a:cs typeface="Lexend"/>
                  <a:sym typeface="Lexend"/>
                </a:endParaRPr>
              </a:p>
            </p:txBody>
          </p:sp>
        </p:grpSp>
        <p:pic>
          <p:nvPicPr>
            <p:cNvPr descr="&lt;math xmlns=&quot;http://www.w3.org/1998/Math/MathML&quot; display=&quot;block&quot; data-is-equatio=&quot;1&quot; data-latex=&quot;\begin{array}{l}\frac{2}{2},\frac{5}{5},\frac{11}{11},\frac{24}{24}\ \end{array}&quot;&gt;&lt;mtable columnalign=&quot;left&quot; columnspacing=&quot;1em&quot; rowspacing=&quot;4pt&quot;&gt;&lt;mtr&gt;&lt;mtd&gt;&lt;mfrac&gt;&lt;mn&gt;2&lt;/mn&gt;&lt;mn&gt;2&lt;/mn&gt;&lt;/mfrac&gt;&lt;mo&gt;,&lt;/mo&gt;&lt;mfrac&gt;&lt;mn&gt;5&lt;/mn&gt;&lt;mn&gt;5&lt;/mn&gt;&lt;/mfrac&gt;&lt;mo&gt;,&lt;/mo&gt;&lt;mfrac&gt;&lt;mn&gt;11&lt;/mn&gt;&lt;mn&gt;11&lt;/mn&gt;&lt;/mfrac&gt;&lt;mo&gt;,&lt;/mo&gt;&lt;mfrac&gt;&lt;mn&gt;24&lt;/mn&gt;&lt;mn&gt;24&lt;/mn&gt;&lt;/mfrac&gt;&lt;mtext&gt;&lt;/mtext&gt;&lt;/mtd&gt;&lt;/mtr&gt;&lt;/mtable&gt;&lt;/math&gt;" id="816" name="Google Shape;816;p70" title="1 lines Line 1: two halves comma five fifths comma 11 over 11 comma 24 over 24"/>
            <p:cNvPicPr preferRelativeResize="0"/>
            <p:nvPr/>
          </p:nvPicPr>
          <p:blipFill>
            <a:blip r:embed="rId5">
              <a:alphaModFix/>
            </a:blip>
            <a:stretch>
              <a:fillRect/>
            </a:stretch>
          </p:blipFill>
          <p:spPr>
            <a:xfrm>
              <a:off x="3935675" y="3276025"/>
              <a:ext cx="1757325" cy="536375"/>
            </a:xfrm>
            <a:prstGeom prst="rect">
              <a:avLst/>
            </a:prstGeom>
            <a:noFill/>
            <a:ln>
              <a:noFill/>
            </a:ln>
          </p:spPr>
        </p:pic>
      </p:grpSp>
      <p:pic>
        <p:nvPicPr>
          <p:cNvPr id="817" name="Google Shape;817;p70"/>
          <p:cNvPicPr preferRelativeResize="0"/>
          <p:nvPr/>
        </p:nvPicPr>
        <p:blipFill>
          <a:blip r:embed="rId6">
            <a:alphaModFix/>
          </a:blip>
          <a:stretch>
            <a:fillRect/>
          </a:stretch>
        </p:blipFill>
        <p:spPr>
          <a:xfrm flipH="1">
            <a:off x="351925" y="3161305"/>
            <a:ext cx="1180471" cy="1367485"/>
          </a:xfrm>
          <a:prstGeom prst="rect">
            <a:avLst/>
          </a:prstGeom>
          <a:noFill/>
          <a:ln>
            <a:noFill/>
          </a:ln>
        </p:spPr>
      </p:pic>
      <p:sp>
        <p:nvSpPr>
          <p:cNvPr id="818" name="Google Shape;818;p70"/>
          <p:cNvSpPr txBox="1"/>
          <p:nvPr/>
        </p:nvSpPr>
        <p:spPr>
          <a:xfrm>
            <a:off x="627901" y="4380573"/>
            <a:ext cx="9807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pic>
        <p:nvPicPr>
          <p:cNvPr id="824" name="Google Shape;824;p71"/>
          <p:cNvPicPr preferRelativeResize="0"/>
          <p:nvPr/>
        </p:nvPicPr>
        <p:blipFill>
          <a:blip r:embed="rId3">
            <a:alphaModFix/>
          </a:blip>
          <a:stretch>
            <a:fillRect/>
          </a:stretch>
        </p:blipFill>
        <p:spPr>
          <a:xfrm flipH="1">
            <a:off x="351925" y="3161305"/>
            <a:ext cx="1180471" cy="1367485"/>
          </a:xfrm>
          <a:prstGeom prst="rect">
            <a:avLst/>
          </a:prstGeom>
          <a:noFill/>
          <a:ln>
            <a:noFill/>
          </a:ln>
        </p:spPr>
      </p:pic>
      <p:sp>
        <p:nvSpPr>
          <p:cNvPr id="825" name="Google Shape;825;p71"/>
          <p:cNvSpPr txBox="1"/>
          <p:nvPr/>
        </p:nvSpPr>
        <p:spPr>
          <a:xfrm>
            <a:off x="627901" y="4380573"/>
            <a:ext cx="9807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sp>
        <p:nvSpPr>
          <p:cNvPr id="826" name="Google Shape;826;p71"/>
          <p:cNvSpPr txBox="1"/>
          <p:nvPr/>
        </p:nvSpPr>
        <p:spPr>
          <a:xfrm>
            <a:off x="1647100" y="2819975"/>
            <a:ext cx="467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Whose method do you prefer?</a:t>
            </a:r>
            <a:endParaRPr sz="2200">
              <a:latin typeface="Lexend"/>
              <a:ea typeface="Lexend"/>
              <a:cs typeface="Lexend"/>
              <a:sym typeface="Lexend"/>
            </a:endParaRPr>
          </a:p>
        </p:txBody>
      </p:sp>
      <p:sp>
        <p:nvSpPr>
          <p:cNvPr id="827" name="Google Shape;827;p71"/>
          <p:cNvSpPr txBox="1"/>
          <p:nvPr/>
        </p:nvSpPr>
        <p:spPr>
          <a:xfrm>
            <a:off x="1647100" y="3278725"/>
            <a:ext cx="4051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I </a:t>
            </a:r>
            <a:r>
              <a:rPr lang="en-GB" sz="2200">
                <a:latin typeface="Kalam"/>
                <a:ea typeface="Kalam"/>
                <a:cs typeface="Kalam"/>
                <a:sym typeface="Kalam"/>
              </a:rPr>
              <a:t>preferred</a:t>
            </a:r>
            <a:r>
              <a:rPr lang="en-GB" sz="2200">
                <a:latin typeface="Kalam"/>
                <a:ea typeface="Kalam"/>
                <a:cs typeface="Kalam"/>
                <a:sym typeface="Kalam"/>
              </a:rPr>
              <a:t> Alex’s method.</a:t>
            </a:r>
            <a:endParaRPr sz="2200">
              <a:latin typeface="Kalam"/>
              <a:ea typeface="Kalam"/>
              <a:cs typeface="Kalam"/>
              <a:sym typeface="Kalam"/>
            </a:endParaRPr>
          </a:p>
        </p:txBody>
      </p:sp>
      <p:sp>
        <p:nvSpPr>
          <p:cNvPr id="828" name="Google Shape;828;p71"/>
          <p:cNvSpPr txBox="1"/>
          <p:nvPr/>
        </p:nvSpPr>
        <p:spPr>
          <a:xfrm>
            <a:off x="1647100" y="3737500"/>
            <a:ext cx="5874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Why do you think I prefer that method</a:t>
            </a:r>
            <a:r>
              <a:rPr lang="en-GB" sz="2200">
                <a:latin typeface="Lexend"/>
                <a:ea typeface="Lexend"/>
                <a:cs typeface="Lexend"/>
                <a:sym typeface="Lexend"/>
              </a:rPr>
              <a:t>?</a:t>
            </a:r>
            <a:endParaRPr sz="2200">
              <a:latin typeface="Lexend"/>
              <a:ea typeface="Lexend"/>
              <a:cs typeface="Lexend"/>
              <a:sym typeface="Lexend"/>
            </a:endParaRPr>
          </a:p>
        </p:txBody>
      </p:sp>
      <p:sp>
        <p:nvSpPr>
          <p:cNvPr id="829" name="Google Shape;829;p71"/>
          <p:cNvSpPr txBox="1"/>
          <p:nvPr/>
        </p:nvSpPr>
        <p:spPr>
          <a:xfrm>
            <a:off x="1647100" y="4196275"/>
            <a:ext cx="56979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I preferred Alex’s method, because it is more efficient.</a:t>
            </a:r>
            <a:endParaRPr sz="2200">
              <a:latin typeface="Kalam"/>
              <a:ea typeface="Kalam"/>
              <a:cs typeface="Kalam"/>
              <a:sym typeface="Kalam"/>
            </a:endParaRPr>
          </a:p>
        </p:txBody>
      </p:sp>
      <p:pic>
        <p:nvPicPr>
          <p:cNvPr descr="&lt;math xmlns=&quot;http://www.w3.org/1998/Math/MathML&quot; display=&quot;block&quot; data-is-equatio=&quot;1&quot; data-latex=&quot;\begin{array}{l}\frac{12}{18}=\frac{6\ \times\ 2}{6\ \times\ 3}=\frac{2}{3}\ \ \ \ \ \ \frac{12}{18}=\frac{2\ \times\ 6}{2\ \times\ 9}=\frac{6}{9}=\frac{3\ \times\ 2}{3\ \times\ 3}=\frac{2}{3}\end{array}&quot;&gt;&lt;mtable columnalign=&quot;left&quot; columnspacing=&quot;1em&quot; rowspacing=&quot;4pt&quot;&gt;&lt;mtr&gt;&lt;mtd&gt;&lt;mfrac&gt;&lt;mn&gt;12&lt;/mn&gt;&lt;mn&gt;18&lt;/mn&gt;&lt;/mfrac&gt;&lt;mo&gt;=&lt;/mo&gt;&lt;mfrac&gt;&lt;mrow&gt;&lt;mn&gt;6&lt;/mn&gt;&lt;mtext&gt;&lt;/mtext&gt;&lt;mo&gt;×&lt;/mo&gt;&lt;mtext&gt;&lt;/mtext&gt;&lt;mn&gt;2&lt;/mn&gt;&lt;/mrow&gt;&lt;mrow&gt;&lt;mn&gt;6&lt;/mn&gt;&lt;mtext&gt;&lt;/mtext&gt;&lt;mo&gt;×&lt;/mo&gt;&lt;mtext&gt;&lt;/mtext&gt;&lt;mn&gt;3&lt;/mn&gt;&lt;/mrow&gt;&lt;/mfrac&gt;&lt;mo&gt;=&lt;/mo&gt;&lt;mfrac&gt;&lt;mn&gt;2&lt;/mn&gt;&lt;mn&gt;3&lt;/mn&gt;&lt;/mfrac&gt;&lt;mtext&gt;&lt;/mtext&gt;&lt;mtext&gt;&lt;/mtext&gt;&lt;mtext&gt;&lt;/mtext&gt;&lt;mtext&gt;&lt;/mtext&gt;&lt;mtext&gt;&lt;/mtext&gt;&lt;mtext&gt;&lt;/mtext&gt;&lt;mfrac&gt;&lt;mn&gt;12&lt;/mn&gt;&lt;mn&gt;18&lt;/mn&gt;&lt;/mfrac&gt;&lt;mo&gt;=&lt;/mo&gt;&lt;mfrac&gt;&lt;mrow&gt;&lt;mn&gt;2&lt;/mn&gt;&lt;mtext&gt;&lt;/mtext&gt;&lt;mo&gt;×&lt;/mo&gt;&lt;mtext&gt;&lt;/mtext&gt;&lt;mn&gt;6&lt;/mn&gt;&lt;/mrow&gt;&lt;mrow&gt;&lt;mn&gt;2&lt;/mn&gt;&lt;mtext&gt;&lt;/mtext&gt;&lt;mo&gt;×&lt;/mo&gt;&lt;mtext&gt;&lt;/mtext&gt;&lt;mn&gt;9&lt;/mn&gt;&lt;/mrow&gt;&lt;/mfrac&gt;&lt;mo&gt;=&lt;/mo&gt;&lt;mfrac&gt;&lt;mn&gt;6&lt;/mn&gt;&lt;mn&gt;9&lt;/mn&gt;&lt;/mfrac&gt;&lt;mo&gt;=&lt;/mo&gt;&lt;mfrac&gt;&lt;mrow&gt;&lt;mn&gt;3&lt;/mn&gt;&lt;mtext&gt;&lt;/mtext&gt;&lt;mo&gt;×&lt;/mo&gt;&lt;mtext&gt;&lt;/mtext&gt;&lt;mn&gt;2&lt;/mn&gt;&lt;/mrow&gt;&lt;mrow&gt;&lt;mn&gt;3&lt;/mn&gt;&lt;mtext&gt;&lt;/mtext&gt;&lt;mo&gt;×&lt;/mo&gt;&lt;mtext&gt;&lt;/mtext&gt;&lt;mn&gt;3&lt;/mn&gt;&lt;/mrow&gt;&lt;/mfrac&gt;&lt;mo&gt;=&lt;/mo&gt;&lt;mfrac&gt;&lt;mn&gt;2&lt;/mn&gt;&lt;mn&gt;3&lt;/mn&gt;&lt;/mfrac&gt;&lt;/mtd&gt;&lt;/mtr&gt;&lt;/mtable&gt;&lt;/math&gt;" id="830" name="Google Shape;830;p71" title="1 lines Line 1: 12 over 18 equals the fraction with numerator 6 times 2 and denominator 6 times 3 equals two thirds 12 over 18 equals the fraction with numerator 2 times 6 and denominator 2 times 9 equals six ninths equals the fraction with numerator 3 times 2 and denominator 3 times 3 equals two thirds"/>
          <p:cNvPicPr preferRelativeResize="0"/>
          <p:nvPr/>
        </p:nvPicPr>
        <p:blipFill rotWithShape="1">
          <a:blip r:embed="rId4">
            <a:alphaModFix/>
          </a:blip>
          <a:srcRect b="0" l="0" r="67631" t="0"/>
          <a:stretch/>
        </p:blipFill>
        <p:spPr>
          <a:xfrm>
            <a:off x="361975" y="1876900"/>
            <a:ext cx="2591925" cy="585900"/>
          </a:xfrm>
          <a:prstGeom prst="rect">
            <a:avLst/>
          </a:prstGeom>
          <a:noFill/>
          <a:ln>
            <a:noFill/>
          </a:ln>
        </p:spPr>
      </p:pic>
      <p:pic>
        <p:nvPicPr>
          <p:cNvPr descr="&lt;math xmlns=&quot;http://www.w3.org/1998/Math/MathML&quot; display=&quot;block&quot; data-is-equatio=&quot;1&quot; data-latex=&quot;\begin{array}{l}\frac{12}{18}=\frac{6\ \times\ 2}{6\ \times\ 3}=\frac{2}{3}\ \ \ \ \ \ \frac{12}{18}=\frac{2\ \times\ 6}{2\ \times\ 9}=\frac{6}{9}=\frac{3\ \times\ 2}{3\ \times\ 3}=\frac{2}{3}\end{array}&quot;&gt;&lt;mtable columnalign=&quot;left&quot; columnspacing=&quot;1em&quot; rowspacing=&quot;4pt&quot;&gt;&lt;mtr&gt;&lt;mtd&gt;&lt;mfrac&gt;&lt;mn&gt;12&lt;/mn&gt;&lt;mn&gt;18&lt;/mn&gt;&lt;/mfrac&gt;&lt;mo&gt;=&lt;/mo&gt;&lt;mfrac&gt;&lt;mrow&gt;&lt;mn&gt;6&lt;/mn&gt;&lt;mtext&gt;&lt;/mtext&gt;&lt;mo&gt;×&lt;/mo&gt;&lt;mtext&gt;&lt;/mtext&gt;&lt;mn&gt;2&lt;/mn&gt;&lt;/mrow&gt;&lt;mrow&gt;&lt;mn&gt;6&lt;/mn&gt;&lt;mtext&gt;&lt;/mtext&gt;&lt;mo&gt;×&lt;/mo&gt;&lt;mtext&gt;&lt;/mtext&gt;&lt;mn&gt;3&lt;/mn&gt;&lt;/mrow&gt;&lt;/mfrac&gt;&lt;mo&gt;=&lt;/mo&gt;&lt;mfrac&gt;&lt;mn&gt;2&lt;/mn&gt;&lt;mn&gt;3&lt;/mn&gt;&lt;/mfrac&gt;&lt;mtext&gt;&lt;/mtext&gt;&lt;mtext&gt;&lt;/mtext&gt;&lt;mtext&gt;&lt;/mtext&gt;&lt;mtext&gt;&lt;/mtext&gt;&lt;mtext&gt;&lt;/mtext&gt;&lt;mtext&gt;&lt;/mtext&gt;&lt;mfrac&gt;&lt;mn&gt;12&lt;/mn&gt;&lt;mn&gt;18&lt;/mn&gt;&lt;/mfrac&gt;&lt;mo&gt;=&lt;/mo&gt;&lt;mfrac&gt;&lt;mrow&gt;&lt;mn&gt;2&lt;/mn&gt;&lt;mtext&gt;&lt;/mtext&gt;&lt;mo&gt;×&lt;/mo&gt;&lt;mtext&gt;&lt;/mtext&gt;&lt;mn&gt;6&lt;/mn&gt;&lt;/mrow&gt;&lt;mrow&gt;&lt;mn&gt;2&lt;/mn&gt;&lt;mtext&gt;&lt;/mtext&gt;&lt;mo&gt;×&lt;/mo&gt;&lt;mtext&gt;&lt;/mtext&gt;&lt;mn&gt;9&lt;/mn&gt;&lt;/mrow&gt;&lt;/mfrac&gt;&lt;mo&gt;=&lt;/mo&gt;&lt;mfrac&gt;&lt;mn&gt;6&lt;/mn&gt;&lt;mn&gt;9&lt;/mn&gt;&lt;/mfrac&gt;&lt;mo&gt;=&lt;/mo&gt;&lt;mfrac&gt;&lt;mrow&gt;&lt;mn&gt;3&lt;/mn&gt;&lt;mtext&gt;&lt;/mtext&gt;&lt;mo&gt;×&lt;/mo&gt;&lt;mtext&gt;&lt;/mtext&gt;&lt;mn&gt;2&lt;/mn&gt;&lt;/mrow&gt;&lt;mrow&gt;&lt;mn&gt;3&lt;/mn&gt;&lt;mtext&gt;&lt;/mtext&gt;&lt;mo&gt;×&lt;/mo&gt;&lt;mtext&gt;&lt;/mtext&gt;&lt;mn&gt;3&lt;/mn&gt;&lt;/mrow&gt;&lt;/mfrac&gt;&lt;mo&gt;=&lt;/mo&gt;&lt;mfrac&gt;&lt;mn&gt;2&lt;/mn&gt;&lt;mn&gt;3&lt;/mn&gt;&lt;/mfrac&gt;&lt;/mtd&gt;&lt;/mtr&gt;&lt;/mtable&gt;&lt;/math&gt;" id="831" name="Google Shape;831;p71" title="1 lines Line 1: 12 over 18 equals the fraction with numerator 6 times 2 and denominator 6 times 3 equals two thirds 12 over 18 equals the fraction with numerator 2 times 6 and denominator 2 times 9 equals six ninths equals the fraction with numerator 3 times 2 and denominator 3 times 3 equals two thirds"/>
          <p:cNvPicPr preferRelativeResize="0"/>
          <p:nvPr/>
        </p:nvPicPr>
        <p:blipFill rotWithShape="1">
          <a:blip r:embed="rId4">
            <a:alphaModFix/>
          </a:blip>
          <a:srcRect b="0" l="40536" r="0" t="0"/>
          <a:stretch/>
        </p:blipFill>
        <p:spPr>
          <a:xfrm>
            <a:off x="3826971" y="1865838"/>
            <a:ext cx="4761499" cy="585900"/>
          </a:xfrm>
          <a:prstGeom prst="rect">
            <a:avLst/>
          </a:prstGeom>
          <a:noFill/>
          <a:ln>
            <a:noFill/>
          </a:ln>
        </p:spPr>
      </p:pic>
      <p:sp>
        <p:nvSpPr>
          <p:cNvPr id="832" name="Google Shape;832;p71"/>
          <p:cNvSpPr/>
          <p:nvPr/>
        </p:nvSpPr>
        <p:spPr>
          <a:xfrm>
            <a:off x="828175" y="1875900"/>
            <a:ext cx="1278000" cy="58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3" name="Google Shape;833;p71"/>
          <p:cNvSpPr/>
          <p:nvPr/>
        </p:nvSpPr>
        <p:spPr>
          <a:xfrm>
            <a:off x="2188925" y="1881000"/>
            <a:ext cx="765000" cy="58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4" name="Google Shape;834;p71"/>
          <p:cNvSpPr/>
          <p:nvPr/>
        </p:nvSpPr>
        <p:spPr>
          <a:xfrm>
            <a:off x="4352650" y="1835627"/>
            <a:ext cx="1278000" cy="67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5" name="Google Shape;835;p71"/>
          <p:cNvSpPr/>
          <p:nvPr/>
        </p:nvSpPr>
        <p:spPr>
          <a:xfrm>
            <a:off x="5698200" y="1846125"/>
            <a:ext cx="861900" cy="67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6" name="Google Shape;836;p71"/>
          <p:cNvSpPr/>
          <p:nvPr/>
        </p:nvSpPr>
        <p:spPr>
          <a:xfrm>
            <a:off x="6571553" y="1820100"/>
            <a:ext cx="1278000" cy="67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7" name="Google Shape;837;p71"/>
          <p:cNvSpPr/>
          <p:nvPr/>
        </p:nvSpPr>
        <p:spPr>
          <a:xfrm>
            <a:off x="7913919" y="1835625"/>
            <a:ext cx="906000" cy="67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838" name="Google Shape;838;p71"/>
          <p:cNvPicPr preferRelativeResize="0"/>
          <p:nvPr/>
        </p:nvPicPr>
        <p:blipFill>
          <a:blip r:embed="rId5">
            <a:alphaModFix/>
          </a:blip>
          <a:stretch>
            <a:fillRect/>
          </a:stretch>
        </p:blipFill>
        <p:spPr>
          <a:xfrm>
            <a:off x="7019937" y="2756069"/>
            <a:ext cx="1700389" cy="1645537"/>
          </a:xfrm>
          <a:prstGeom prst="rect">
            <a:avLst/>
          </a:prstGeom>
          <a:noFill/>
          <a:ln>
            <a:noFill/>
          </a:ln>
        </p:spPr>
      </p:pic>
      <p:sp>
        <p:nvSpPr>
          <p:cNvPr id="839" name="Google Shape;839;p71"/>
          <p:cNvSpPr txBox="1"/>
          <p:nvPr/>
        </p:nvSpPr>
        <p:spPr>
          <a:xfrm>
            <a:off x="7094894" y="43106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pic>
        <p:nvPicPr>
          <p:cNvPr id="840" name="Google Shape;840;p71"/>
          <p:cNvPicPr preferRelativeResize="0"/>
          <p:nvPr/>
        </p:nvPicPr>
        <p:blipFill>
          <a:blip r:embed="rId6">
            <a:alphaModFix/>
          </a:blip>
          <a:stretch>
            <a:fillRect/>
          </a:stretch>
        </p:blipFill>
        <p:spPr>
          <a:xfrm>
            <a:off x="306325" y="842100"/>
            <a:ext cx="8513601" cy="7798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grpSp>
        <p:nvGrpSpPr>
          <p:cNvPr id="845" name="Google Shape;845;p72"/>
          <p:cNvGrpSpPr/>
          <p:nvPr/>
        </p:nvGrpSpPr>
        <p:grpSpPr>
          <a:xfrm>
            <a:off x="4509875" y="1464925"/>
            <a:ext cx="3003049" cy="2145575"/>
            <a:chOff x="5282350" y="692550"/>
            <a:chExt cx="3003049" cy="2145575"/>
          </a:xfrm>
        </p:grpSpPr>
        <p:pic>
          <p:nvPicPr>
            <p:cNvPr id="846" name="Google Shape;846;p72"/>
            <p:cNvPicPr preferRelativeResize="0"/>
            <p:nvPr/>
          </p:nvPicPr>
          <p:blipFill rotWithShape="1">
            <a:blip r:embed="rId3">
              <a:alphaModFix/>
            </a:blip>
            <a:srcRect b="43690" l="0" r="57905" t="0"/>
            <a:stretch/>
          </p:blipFill>
          <p:spPr>
            <a:xfrm>
              <a:off x="5282350" y="692550"/>
              <a:ext cx="3003049" cy="2145575"/>
            </a:xfrm>
            <a:prstGeom prst="rect">
              <a:avLst/>
            </a:prstGeom>
            <a:noFill/>
            <a:ln>
              <a:noFill/>
            </a:ln>
          </p:spPr>
        </p:pic>
        <p:sp>
          <p:nvSpPr>
            <p:cNvPr id="847" name="Google Shape;847;p72"/>
            <p:cNvSpPr txBox="1"/>
            <p:nvPr/>
          </p:nvSpPr>
          <p:spPr>
            <a:xfrm>
              <a:off x="5321250" y="733800"/>
              <a:ext cx="2747100" cy="169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True, but I am going to try and use your method from now on because it is more efficient.</a:t>
              </a:r>
              <a:endParaRPr sz="2200">
                <a:latin typeface="Lexend"/>
                <a:ea typeface="Lexend"/>
                <a:cs typeface="Lexend"/>
                <a:sym typeface="Lexend"/>
              </a:endParaRPr>
            </a:p>
          </p:txBody>
        </p:sp>
      </p:grpSp>
      <p:sp>
        <p:nvSpPr>
          <p:cNvPr id="848" name="Google Shape;848;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849" name="Google Shape;849;p72"/>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What is special about Alex’s method?</a:t>
            </a:r>
            <a:endParaRPr/>
          </a:p>
          <a:p>
            <a:pPr indent="0" lvl="0" marL="0" rtl="0" algn="l">
              <a:spcBef>
                <a:spcPts val="1000"/>
              </a:spcBef>
              <a:spcAft>
                <a:spcPts val="1000"/>
              </a:spcAft>
              <a:buNone/>
            </a:pPr>
            <a:r>
              <a:rPr lang="en-GB"/>
              <a:t>What makes it more efficient?</a:t>
            </a:r>
            <a:endParaRPr/>
          </a:p>
        </p:txBody>
      </p:sp>
      <p:pic>
        <p:nvPicPr>
          <p:cNvPr id="850" name="Google Shape;850;p72"/>
          <p:cNvPicPr preferRelativeResize="0"/>
          <p:nvPr/>
        </p:nvPicPr>
        <p:blipFill>
          <a:blip r:embed="rId4">
            <a:alphaModFix/>
          </a:blip>
          <a:stretch>
            <a:fillRect/>
          </a:stretch>
        </p:blipFill>
        <p:spPr>
          <a:xfrm flipH="1">
            <a:off x="351925" y="3161305"/>
            <a:ext cx="1180471" cy="1367485"/>
          </a:xfrm>
          <a:prstGeom prst="rect">
            <a:avLst/>
          </a:prstGeom>
          <a:noFill/>
          <a:ln>
            <a:noFill/>
          </a:ln>
        </p:spPr>
      </p:pic>
      <p:sp>
        <p:nvSpPr>
          <p:cNvPr id="851" name="Google Shape;851;p72"/>
          <p:cNvSpPr txBox="1"/>
          <p:nvPr/>
        </p:nvSpPr>
        <p:spPr>
          <a:xfrm>
            <a:off x="627901" y="4380573"/>
            <a:ext cx="9807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pic>
        <p:nvPicPr>
          <p:cNvPr descr="&lt;math xmlns=&quot;http://www.w3.org/1998/Math/MathML&quot; display=&quot;block&quot; data-is-equatio=&quot;1&quot; data-latex=&quot;\begin{array}{l}\frac{12}{18}=\frac{6\ \times\ 2}{6\ \times\ 3}=\frac{2}{3}\ \ \ \ \ \ \frac{12}{18}=\frac{2\ \times\ 6}{2\ \times\ 9}=\frac{6}{9}=\frac{3\ \times\ 2}{3\ \times\ 3}=\frac{2}{3}\end{array}&quot;&gt;&lt;mtable columnalign=&quot;left&quot; columnspacing=&quot;1em&quot; rowspacing=&quot;4pt&quot;&gt;&lt;mtr&gt;&lt;mtd&gt;&lt;mfrac&gt;&lt;mn&gt;12&lt;/mn&gt;&lt;mn&gt;18&lt;/mn&gt;&lt;/mfrac&gt;&lt;mo&gt;=&lt;/mo&gt;&lt;mfrac&gt;&lt;mrow&gt;&lt;mn&gt;6&lt;/mn&gt;&lt;mtext&gt;&lt;/mtext&gt;&lt;mo&gt;×&lt;/mo&gt;&lt;mtext&gt;&lt;/mtext&gt;&lt;mn&gt;2&lt;/mn&gt;&lt;/mrow&gt;&lt;mrow&gt;&lt;mn&gt;6&lt;/mn&gt;&lt;mtext&gt;&lt;/mtext&gt;&lt;mo&gt;×&lt;/mo&gt;&lt;mtext&gt;&lt;/mtext&gt;&lt;mn&gt;3&lt;/mn&gt;&lt;/mrow&gt;&lt;/mfrac&gt;&lt;mo&gt;=&lt;/mo&gt;&lt;mfrac&gt;&lt;mn&gt;2&lt;/mn&gt;&lt;mn&gt;3&lt;/mn&gt;&lt;/mfrac&gt;&lt;mtext&gt;&lt;/mtext&gt;&lt;mtext&gt;&lt;/mtext&gt;&lt;mtext&gt;&lt;/mtext&gt;&lt;mtext&gt;&lt;/mtext&gt;&lt;mtext&gt;&lt;/mtext&gt;&lt;mtext&gt;&lt;/mtext&gt;&lt;mfrac&gt;&lt;mn&gt;12&lt;/mn&gt;&lt;mn&gt;18&lt;/mn&gt;&lt;/mfrac&gt;&lt;mo&gt;=&lt;/mo&gt;&lt;mfrac&gt;&lt;mrow&gt;&lt;mn&gt;2&lt;/mn&gt;&lt;mtext&gt;&lt;/mtext&gt;&lt;mo&gt;×&lt;/mo&gt;&lt;mtext&gt;&lt;/mtext&gt;&lt;mn&gt;6&lt;/mn&gt;&lt;/mrow&gt;&lt;mrow&gt;&lt;mn&gt;2&lt;/mn&gt;&lt;mtext&gt;&lt;/mtext&gt;&lt;mo&gt;×&lt;/mo&gt;&lt;mtext&gt;&lt;/mtext&gt;&lt;mn&gt;9&lt;/mn&gt;&lt;/mrow&gt;&lt;/mfrac&gt;&lt;mo&gt;=&lt;/mo&gt;&lt;mfrac&gt;&lt;mn&gt;6&lt;/mn&gt;&lt;mn&gt;9&lt;/mn&gt;&lt;/mfrac&gt;&lt;mo&gt;=&lt;/mo&gt;&lt;mfrac&gt;&lt;mrow&gt;&lt;mn&gt;3&lt;/mn&gt;&lt;mtext&gt;&lt;/mtext&gt;&lt;mo&gt;×&lt;/mo&gt;&lt;mtext&gt;&lt;/mtext&gt;&lt;mn&gt;2&lt;/mn&gt;&lt;/mrow&gt;&lt;mrow&gt;&lt;mn&gt;3&lt;/mn&gt;&lt;mtext&gt;&lt;/mtext&gt;&lt;mo&gt;×&lt;/mo&gt;&lt;mtext&gt;&lt;/mtext&gt;&lt;mn&gt;3&lt;/mn&gt;&lt;/mrow&gt;&lt;/mfrac&gt;&lt;mo&gt;=&lt;/mo&gt;&lt;mfrac&gt;&lt;mn&gt;2&lt;/mn&gt;&lt;mn&gt;3&lt;/mn&gt;&lt;/mfrac&gt;&lt;/mtd&gt;&lt;/mtr&gt;&lt;/mtable&gt;&lt;/math&gt;" id="852" name="Google Shape;852;p72" title="1 lines Line 1: 12 over 18 equals the fraction with numerator 6 times 2 and denominator 6 times 3 equals two thirds 12 over 18 equals the fraction with numerator 2 times 6 and denominator 2 times 9 equals six ninths equals the fraction with numerator 3 times 2 and denominator 3 times 3 equals two thirds"/>
          <p:cNvPicPr preferRelativeResize="0"/>
          <p:nvPr/>
        </p:nvPicPr>
        <p:blipFill rotWithShape="1">
          <a:blip r:embed="rId5">
            <a:alphaModFix/>
          </a:blip>
          <a:srcRect b="0" l="0" r="67631" t="0"/>
          <a:stretch/>
        </p:blipFill>
        <p:spPr>
          <a:xfrm>
            <a:off x="361975" y="1724500"/>
            <a:ext cx="2591925" cy="585900"/>
          </a:xfrm>
          <a:prstGeom prst="rect">
            <a:avLst/>
          </a:prstGeom>
          <a:noFill/>
          <a:ln>
            <a:noFill/>
          </a:ln>
        </p:spPr>
      </p:pic>
      <p:grpSp>
        <p:nvGrpSpPr>
          <p:cNvPr id="853" name="Google Shape;853;p72"/>
          <p:cNvGrpSpPr/>
          <p:nvPr/>
        </p:nvGrpSpPr>
        <p:grpSpPr>
          <a:xfrm>
            <a:off x="1471143" y="2454171"/>
            <a:ext cx="3003126" cy="1763172"/>
            <a:chOff x="1623502" y="2225550"/>
            <a:chExt cx="2917073" cy="1490551"/>
          </a:xfrm>
        </p:grpSpPr>
        <p:pic>
          <p:nvPicPr>
            <p:cNvPr id="854" name="Google Shape;854;p72"/>
            <p:cNvPicPr preferRelativeResize="0"/>
            <p:nvPr/>
          </p:nvPicPr>
          <p:blipFill rotWithShape="1">
            <a:blip r:embed="rId3">
              <a:alphaModFix/>
            </a:blip>
            <a:srcRect b="43690" l="0" r="57905" t="0"/>
            <a:stretch/>
          </p:blipFill>
          <p:spPr>
            <a:xfrm flipH="1">
              <a:off x="1623502" y="2225550"/>
              <a:ext cx="2867748" cy="1490551"/>
            </a:xfrm>
            <a:prstGeom prst="rect">
              <a:avLst/>
            </a:prstGeom>
            <a:noFill/>
            <a:ln>
              <a:noFill/>
            </a:ln>
          </p:spPr>
        </p:pic>
        <p:sp>
          <p:nvSpPr>
            <p:cNvPr id="855" name="Google Shape;855;p72"/>
            <p:cNvSpPr txBox="1"/>
            <p:nvPr/>
          </p:nvSpPr>
          <p:spPr>
            <a:xfrm>
              <a:off x="1878375" y="2320750"/>
              <a:ext cx="2662200" cy="1145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I managed to do it in one step, you took two.  Why was that? </a:t>
              </a:r>
              <a:endParaRPr sz="2200">
                <a:latin typeface="Lexend"/>
                <a:ea typeface="Lexend"/>
                <a:cs typeface="Lexend"/>
                <a:sym typeface="Lexend"/>
              </a:endParaRPr>
            </a:p>
          </p:txBody>
        </p:sp>
      </p:grpSp>
      <p:pic>
        <p:nvPicPr>
          <p:cNvPr id="856" name="Google Shape;856;p72"/>
          <p:cNvPicPr preferRelativeResize="0"/>
          <p:nvPr/>
        </p:nvPicPr>
        <p:blipFill>
          <a:blip r:embed="rId6">
            <a:alphaModFix/>
          </a:blip>
          <a:stretch>
            <a:fillRect/>
          </a:stretch>
        </p:blipFill>
        <p:spPr>
          <a:xfrm>
            <a:off x="7019937" y="2756069"/>
            <a:ext cx="1700389" cy="1645537"/>
          </a:xfrm>
          <a:prstGeom prst="rect">
            <a:avLst/>
          </a:prstGeom>
          <a:noFill/>
          <a:ln>
            <a:noFill/>
          </a:ln>
        </p:spPr>
      </p:pic>
      <p:sp>
        <p:nvSpPr>
          <p:cNvPr id="857" name="Google Shape;857;p72"/>
          <p:cNvSpPr txBox="1"/>
          <p:nvPr/>
        </p:nvSpPr>
        <p:spPr>
          <a:xfrm>
            <a:off x="7094894" y="43106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nvGrpSpPr>
          <p:cNvPr id="858" name="Google Shape;858;p72"/>
          <p:cNvGrpSpPr/>
          <p:nvPr/>
        </p:nvGrpSpPr>
        <p:grpSpPr>
          <a:xfrm>
            <a:off x="4520350" y="1149749"/>
            <a:ext cx="3003049" cy="2459351"/>
            <a:chOff x="4520352" y="1575835"/>
            <a:chExt cx="3003049" cy="1974273"/>
          </a:xfrm>
        </p:grpSpPr>
        <p:pic>
          <p:nvPicPr>
            <p:cNvPr id="859" name="Google Shape;859;p72"/>
            <p:cNvPicPr preferRelativeResize="0"/>
            <p:nvPr/>
          </p:nvPicPr>
          <p:blipFill rotWithShape="1">
            <a:blip r:embed="rId3">
              <a:alphaModFix/>
            </a:blip>
            <a:srcRect b="43690" l="0" r="57905" t="0"/>
            <a:stretch/>
          </p:blipFill>
          <p:spPr>
            <a:xfrm>
              <a:off x="4520352" y="1575835"/>
              <a:ext cx="3003049" cy="1974273"/>
            </a:xfrm>
            <a:prstGeom prst="rect">
              <a:avLst/>
            </a:prstGeom>
            <a:noFill/>
            <a:ln>
              <a:noFill/>
            </a:ln>
          </p:spPr>
        </p:pic>
        <p:sp>
          <p:nvSpPr>
            <p:cNvPr id="860" name="Google Shape;860;p72"/>
            <p:cNvSpPr txBox="1"/>
            <p:nvPr/>
          </p:nvSpPr>
          <p:spPr>
            <a:xfrm>
              <a:off x="4635450" y="1617089"/>
              <a:ext cx="2592300" cy="16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I can see why. It’s because you chose your first factor pair to include the highest common factor. </a:t>
              </a:r>
              <a:endParaRPr sz="2200">
                <a:latin typeface="Lexend"/>
                <a:ea typeface="Lexend"/>
                <a:cs typeface="Lexend"/>
                <a:sym typeface="Lexend"/>
              </a:endParaRPr>
            </a:p>
          </p:txBody>
        </p:sp>
      </p:grpSp>
      <p:grpSp>
        <p:nvGrpSpPr>
          <p:cNvPr id="861" name="Google Shape;861;p72"/>
          <p:cNvGrpSpPr/>
          <p:nvPr/>
        </p:nvGrpSpPr>
        <p:grpSpPr>
          <a:xfrm>
            <a:off x="1508624" y="2447634"/>
            <a:ext cx="2917073" cy="1763172"/>
            <a:chOff x="-52898" y="2289968"/>
            <a:chExt cx="2917073" cy="1490551"/>
          </a:xfrm>
        </p:grpSpPr>
        <p:pic>
          <p:nvPicPr>
            <p:cNvPr id="862" name="Google Shape;862;p72"/>
            <p:cNvPicPr preferRelativeResize="0"/>
            <p:nvPr/>
          </p:nvPicPr>
          <p:blipFill rotWithShape="1">
            <a:blip r:embed="rId3">
              <a:alphaModFix/>
            </a:blip>
            <a:srcRect b="43690" l="0" r="57905" t="0"/>
            <a:stretch/>
          </p:blipFill>
          <p:spPr>
            <a:xfrm flipH="1">
              <a:off x="-52898" y="2289968"/>
              <a:ext cx="2867748" cy="1490551"/>
            </a:xfrm>
            <a:prstGeom prst="rect">
              <a:avLst/>
            </a:prstGeom>
            <a:noFill/>
            <a:ln>
              <a:noFill/>
            </a:ln>
          </p:spPr>
        </p:pic>
        <p:sp>
          <p:nvSpPr>
            <p:cNvPr id="863" name="Google Shape;863;p72"/>
            <p:cNvSpPr txBox="1"/>
            <p:nvPr/>
          </p:nvSpPr>
          <p:spPr>
            <a:xfrm>
              <a:off x="201975" y="2385168"/>
              <a:ext cx="2662200" cy="1145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It doesn’t matter though because you </a:t>
              </a:r>
              <a:r>
                <a:rPr lang="en-GB" sz="2200">
                  <a:latin typeface="Lexend"/>
                  <a:ea typeface="Lexend"/>
                  <a:cs typeface="Lexend"/>
                  <a:sym typeface="Lexend"/>
                </a:rPr>
                <a:t>g</a:t>
              </a:r>
              <a:r>
                <a:rPr lang="en-GB" sz="2200">
                  <a:latin typeface="Lexend"/>
                  <a:ea typeface="Lexend"/>
                  <a:cs typeface="Lexend"/>
                  <a:sym typeface="Lexend"/>
                </a:rPr>
                <a:t>ot the right answer anyway.</a:t>
              </a:r>
              <a:endParaRPr sz="22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5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pic>
        <p:nvPicPr>
          <p:cNvPr id="868" name="Google Shape;868;p73"/>
          <p:cNvPicPr preferRelativeResize="0"/>
          <p:nvPr/>
        </p:nvPicPr>
        <p:blipFill>
          <a:blip r:embed="rId3">
            <a:alphaModFix/>
          </a:blip>
          <a:stretch>
            <a:fillRect/>
          </a:stretch>
        </p:blipFill>
        <p:spPr>
          <a:xfrm>
            <a:off x="4680137" y="1141050"/>
            <a:ext cx="2884444" cy="2145574"/>
          </a:xfrm>
          <a:prstGeom prst="rect">
            <a:avLst/>
          </a:prstGeom>
          <a:noFill/>
          <a:ln>
            <a:noFill/>
          </a:ln>
        </p:spPr>
      </p:pic>
      <p:sp>
        <p:nvSpPr>
          <p:cNvPr id="869" name="Google Shape;869;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870" name="Google Shape;870;p73"/>
          <p:cNvSpPr txBox="1"/>
          <p:nvPr>
            <p:ph idx="1" type="body"/>
          </p:nvPr>
        </p:nvSpPr>
        <p:spPr>
          <a:xfrm>
            <a:off x="401150" y="759300"/>
            <a:ext cx="3350100" cy="64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Why does</a:t>
            </a:r>
            <a:endParaRPr/>
          </a:p>
        </p:txBody>
      </p:sp>
      <p:pic>
        <p:nvPicPr>
          <p:cNvPr descr="&lt;math xmlns=&quot;http://www.w3.org/1998/Math/MathML&quot; display=&quot;block&quot; data-is-equatio=&quot;1&quot; data-latex=&quot;\begin{array}{l}\frac{12}{18}=\frac{6\ \times\ 2}{6\ \times\ 3}=\frac{2}{3}\ \ \ \ \ \ \frac{12}{18}=\frac{2\ \times\ 6}{2\ \times\ 9}=\frac{6}{9}=\frac{3\ \times\ 2}{3\ \times\ 3}=\frac{2}{3}\end{array}&quot;&gt;&lt;mtable columnalign=&quot;left&quot; columnspacing=&quot;1em&quot; rowspacing=&quot;4pt&quot;&gt;&lt;mtr&gt;&lt;mtd&gt;&lt;mfrac&gt;&lt;mn&gt;12&lt;/mn&gt;&lt;mn&gt;18&lt;/mn&gt;&lt;/mfrac&gt;&lt;mo&gt;=&lt;/mo&gt;&lt;mfrac&gt;&lt;mrow&gt;&lt;mn&gt;6&lt;/mn&gt;&lt;mtext&gt;&lt;/mtext&gt;&lt;mo&gt;×&lt;/mo&gt;&lt;mtext&gt;&lt;/mtext&gt;&lt;mn&gt;2&lt;/mn&gt;&lt;/mrow&gt;&lt;mrow&gt;&lt;mn&gt;6&lt;/mn&gt;&lt;mtext&gt;&lt;/mtext&gt;&lt;mo&gt;×&lt;/mo&gt;&lt;mtext&gt;&lt;/mtext&gt;&lt;mn&gt;3&lt;/mn&gt;&lt;/mrow&gt;&lt;/mfrac&gt;&lt;mo&gt;=&lt;/mo&gt;&lt;mfrac&gt;&lt;mn&gt;2&lt;/mn&gt;&lt;mn&gt;3&lt;/mn&gt;&lt;/mfrac&gt;&lt;mtext&gt;&lt;/mtext&gt;&lt;mtext&gt;&lt;/mtext&gt;&lt;mtext&gt;&lt;/mtext&gt;&lt;mtext&gt;&lt;/mtext&gt;&lt;mtext&gt;&lt;/mtext&gt;&lt;mtext&gt;&lt;/mtext&gt;&lt;mfrac&gt;&lt;mn&gt;12&lt;/mn&gt;&lt;mn&gt;18&lt;/mn&gt;&lt;/mfrac&gt;&lt;mo&gt;=&lt;/mo&gt;&lt;mfrac&gt;&lt;mrow&gt;&lt;mn&gt;2&lt;/mn&gt;&lt;mtext&gt;&lt;/mtext&gt;&lt;mo&gt;×&lt;/mo&gt;&lt;mtext&gt;&lt;/mtext&gt;&lt;mn&gt;6&lt;/mn&gt;&lt;/mrow&gt;&lt;mrow&gt;&lt;mn&gt;2&lt;/mn&gt;&lt;mtext&gt;&lt;/mtext&gt;&lt;mo&gt;×&lt;/mo&gt;&lt;mtext&gt;&lt;/mtext&gt;&lt;mn&gt;9&lt;/mn&gt;&lt;/mrow&gt;&lt;/mfrac&gt;&lt;mo&gt;=&lt;/mo&gt;&lt;mfrac&gt;&lt;mn&gt;6&lt;/mn&gt;&lt;mn&gt;9&lt;/mn&gt;&lt;/mfrac&gt;&lt;mo&gt;=&lt;/mo&gt;&lt;mfrac&gt;&lt;mrow&gt;&lt;mn&gt;3&lt;/mn&gt;&lt;mtext&gt;&lt;/mtext&gt;&lt;mo&gt;×&lt;/mo&gt;&lt;mtext&gt;&lt;/mtext&gt;&lt;mn&gt;2&lt;/mn&gt;&lt;/mrow&gt;&lt;mrow&gt;&lt;mn&gt;3&lt;/mn&gt;&lt;mtext&gt;&lt;/mtext&gt;&lt;mo&gt;×&lt;/mo&gt;&lt;mtext&gt;&lt;/mtext&gt;&lt;mn&gt;3&lt;/mn&gt;&lt;/mrow&gt;&lt;/mfrac&gt;&lt;mo&gt;=&lt;/mo&gt;&lt;mfrac&gt;&lt;mn&gt;2&lt;/mn&gt;&lt;mn&gt;3&lt;/mn&gt;&lt;/mfrac&gt;&lt;/mtd&gt;&lt;/mtr&gt;&lt;/mtable&gt;&lt;/math&gt;" id="871" name="Google Shape;871;p73" title="1 lines Line 1: 12 over 18 equals the fraction with numerator 6 times 2 and denominator 6 times 3 equals two thirds 12 over 18 equals the fraction with numerator 2 times 6 and denominator 2 times 9 equals six ninths equals the fraction with numerator 3 times 2 and denominator 3 times 3 equals two thirds"/>
          <p:cNvPicPr preferRelativeResize="0"/>
          <p:nvPr/>
        </p:nvPicPr>
        <p:blipFill rotWithShape="1">
          <a:blip r:embed="rId4">
            <a:alphaModFix/>
          </a:blip>
          <a:srcRect b="0" l="11346" r="67630" t="0"/>
          <a:stretch/>
        </p:blipFill>
        <p:spPr>
          <a:xfrm>
            <a:off x="1751825" y="689725"/>
            <a:ext cx="1683450" cy="585900"/>
          </a:xfrm>
          <a:prstGeom prst="rect">
            <a:avLst/>
          </a:prstGeom>
          <a:noFill/>
          <a:ln>
            <a:noFill/>
          </a:ln>
        </p:spPr>
      </p:pic>
      <p:pic>
        <p:nvPicPr>
          <p:cNvPr id="872" name="Google Shape;872;p73"/>
          <p:cNvPicPr preferRelativeResize="0"/>
          <p:nvPr/>
        </p:nvPicPr>
        <p:blipFill>
          <a:blip r:embed="rId5">
            <a:alphaModFix/>
          </a:blip>
          <a:stretch>
            <a:fillRect/>
          </a:stretch>
        </p:blipFill>
        <p:spPr>
          <a:xfrm flipH="1">
            <a:off x="351925" y="3161305"/>
            <a:ext cx="1180471" cy="1367485"/>
          </a:xfrm>
          <a:prstGeom prst="rect">
            <a:avLst/>
          </a:prstGeom>
          <a:noFill/>
          <a:ln>
            <a:noFill/>
          </a:ln>
        </p:spPr>
      </p:pic>
      <p:sp>
        <p:nvSpPr>
          <p:cNvPr id="873" name="Google Shape;873;p73"/>
          <p:cNvSpPr txBox="1"/>
          <p:nvPr/>
        </p:nvSpPr>
        <p:spPr>
          <a:xfrm>
            <a:off x="627901" y="4380573"/>
            <a:ext cx="9807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grpSp>
        <p:nvGrpSpPr>
          <p:cNvPr id="874" name="Google Shape;874;p73"/>
          <p:cNvGrpSpPr/>
          <p:nvPr/>
        </p:nvGrpSpPr>
        <p:grpSpPr>
          <a:xfrm>
            <a:off x="1372250" y="2454175"/>
            <a:ext cx="2966600" cy="1105150"/>
            <a:chOff x="1524654" y="2225543"/>
            <a:chExt cx="2966600" cy="934272"/>
          </a:xfrm>
        </p:grpSpPr>
        <p:pic>
          <p:nvPicPr>
            <p:cNvPr id="875" name="Google Shape;875;p73"/>
            <p:cNvPicPr preferRelativeResize="0"/>
            <p:nvPr/>
          </p:nvPicPr>
          <p:blipFill rotWithShape="1">
            <a:blip r:embed="rId6">
              <a:alphaModFix/>
            </a:blip>
            <a:srcRect b="43690" l="0" r="57905" t="0"/>
            <a:stretch/>
          </p:blipFill>
          <p:spPr>
            <a:xfrm flipH="1">
              <a:off x="1524654" y="2225543"/>
              <a:ext cx="2966600" cy="934272"/>
            </a:xfrm>
            <a:prstGeom prst="rect">
              <a:avLst/>
            </a:prstGeom>
            <a:noFill/>
            <a:ln>
              <a:noFill/>
            </a:ln>
          </p:spPr>
        </p:pic>
        <p:sp>
          <p:nvSpPr>
            <p:cNvPr id="876" name="Google Shape;876;p73"/>
            <p:cNvSpPr txBox="1"/>
            <p:nvPr/>
          </p:nvSpPr>
          <p:spPr>
            <a:xfrm>
              <a:off x="1802175" y="2320750"/>
              <a:ext cx="2662200" cy="572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Why can we just get rid of the sixes?</a:t>
              </a:r>
              <a:r>
                <a:rPr lang="en-GB" sz="2200">
                  <a:latin typeface="Lexend"/>
                  <a:ea typeface="Lexend"/>
                  <a:cs typeface="Lexend"/>
                  <a:sym typeface="Lexend"/>
                </a:rPr>
                <a:t> </a:t>
              </a:r>
              <a:endParaRPr sz="2200">
                <a:latin typeface="Lexend"/>
                <a:ea typeface="Lexend"/>
                <a:cs typeface="Lexend"/>
                <a:sym typeface="Lexend"/>
              </a:endParaRPr>
            </a:p>
          </p:txBody>
        </p:sp>
      </p:grpSp>
      <p:pic>
        <p:nvPicPr>
          <p:cNvPr id="877" name="Google Shape;877;p73"/>
          <p:cNvPicPr preferRelativeResize="0"/>
          <p:nvPr/>
        </p:nvPicPr>
        <p:blipFill>
          <a:blip r:embed="rId7">
            <a:alphaModFix/>
          </a:blip>
          <a:stretch>
            <a:fillRect/>
          </a:stretch>
        </p:blipFill>
        <p:spPr>
          <a:xfrm>
            <a:off x="7400937" y="2756069"/>
            <a:ext cx="1700389" cy="1645537"/>
          </a:xfrm>
          <a:prstGeom prst="rect">
            <a:avLst/>
          </a:prstGeom>
          <a:noFill/>
          <a:ln>
            <a:noFill/>
          </a:ln>
        </p:spPr>
      </p:pic>
      <p:sp>
        <p:nvSpPr>
          <p:cNvPr id="878" name="Google Shape;878;p73"/>
          <p:cNvSpPr txBox="1"/>
          <p:nvPr/>
        </p:nvSpPr>
        <p:spPr>
          <a:xfrm>
            <a:off x="7094894" y="43106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nvGrpSpPr>
          <p:cNvPr id="879" name="Google Shape;879;p73"/>
          <p:cNvGrpSpPr/>
          <p:nvPr/>
        </p:nvGrpSpPr>
        <p:grpSpPr>
          <a:xfrm>
            <a:off x="1373252" y="2029280"/>
            <a:ext cx="2917071" cy="1545075"/>
            <a:chOff x="1623505" y="2409921"/>
            <a:chExt cx="2917071" cy="1306176"/>
          </a:xfrm>
        </p:grpSpPr>
        <p:pic>
          <p:nvPicPr>
            <p:cNvPr id="880" name="Google Shape;880;p73"/>
            <p:cNvPicPr preferRelativeResize="0"/>
            <p:nvPr/>
          </p:nvPicPr>
          <p:blipFill rotWithShape="1">
            <a:blip r:embed="rId6">
              <a:alphaModFix/>
            </a:blip>
            <a:srcRect b="43690" l="0" r="57905" t="0"/>
            <a:stretch/>
          </p:blipFill>
          <p:spPr>
            <a:xfrm flipH="1">
              <a:off x="1623505" y="2409921"/>
              <a:ext cx="2867748" cy="1306176"/>
            </a:xfrm>
            <a:prstGeom prst="rect">
              <a:avLst/>
            </a:prstGeom>
            <a:noFill/>
            <a:ln>
              <a:noFill/>
            </a:ln>
          </p:spPr>
        </p:pic>
        <p:sp>
          <p:nvSpPr>
            <p:cNvPr id="881" name="Google Shape;881;p73"/>
            <p:cNvSpPr txBox="1"/>
            <p:nvPr/>
          </p:nvSpPr>
          <p:spPr>
            <a:xfrm>
              <a:off x="1878376" y="2533858"/>
              <a:ext cx="2662200" cy="85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Yes, and anything multiplied by one stays the same.</a:t>
              </a:r>
              <a:r>
                <a:rPr lang="en-GB" sz="2200">
                  <a:latin typeface="Lexend"/>
                  <a:ea typeface="Lexend"/>
                  <a:cs typeface="Lexend"/>
                  <a:sym typeface="Lexend"/>
                </a:rPr>
                <a:t> </a:t>
              </a:r>
              <a:endParaRPr sz="2200">
                <a:latin typeface="Lexend"/>
                <a:ea typeface="Lexend"/>
                <a:cs typeface="Lexend"/>
                <a:sym typeface="Lexend"/>
              </a:endParaRPr>
            </a:p>
          </p:txBody>
        </p:sp>
      </p:grpSp>
      <p:sp>
        <p:nvSpPr>
          <p:cNvPr id="882" name="Google Shape;882;p73"/>
          <p:cNvSpPr txBox="1"/>
          <p:nvPr>
            <p:ph idx="1" type="body"/>
          </p:nvPr>
        </p:nvSpPr>
        <p:spPr>
          <a:xfrm>
            <a:off x="3524400" y="759300"/>
            <a:ext cx="464100" cy="64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a:t>
            </a:r>
            <a:endParaRPr/>
          </a:p>
        </p:txBody>
      </p:sp>
      <p:pic>
        <p:nvPicPr>
          <p:cNvPr id="883" name="Google Shape;883;p73"/>
          <p:cNvPicPr preferRelativeResize="0"/>
          <p:nvPr/>
        </p:nvPicPr>
        <p:blipFill>
          <a:blip r:embed="rId8">
            <a:alphaModFix/>
          </a:blip>
          <a:stretch>
            <a:fillRect/>
          </a:stretch>
        </p:blipFill>
        <p:spPr>
          <a:xfrm>
            <a:off x="4711588" y="1161863"/>
            <a:ext cx="2821525" cy="2301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889" name="Google Shape;889;p74"/>
          <p:cNvSpPr txBox="1"/>
          <p:nvPr>
            <p:ph idx="1" type="body"/>
          </p:nvPr>
        </p:nvSpPr>
        <p:spPr>
          <a:xfrm>
            <a:off x="324000" y="683100"/>
            <a:ext cx="8237700" cy="78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HCF of two integers is the greatest number which is a factor of both integers.</a:t>
            </a:r>
            <a:endParaRPr sz="2000"/>
          </a:p>
        </p:txBody>
      </p:sp>
      <p:sp>
        <p:nvSpPr>
          <p:cNvPr id="890" name="Google Shape;890;p74"/>
          <p:cNvSpPr txBox="1"/>
          <p:nvPr>
            <p:ph idx="1" type="body"/>
          </p:nvPr>
        </p:nvSpPr>
        <p:spPr>
          <a:xfrm>
            <a:off x="324000" y="1569100"/>
            <a:ext cx="11559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Simplify</a:t>
            </a:r>
            <a:endParaRPr sz="2000"/>
          </a:p>
        </p:txBody>
      </p:sp>
      <p:sp>
        <p:nvSpPr>
          <p:cNvPr id="891" name="Google Shape;891;p74"/>
          <p:cNvSpPr txBox="1"/>
          <p:nvPr>
            <p:ph idx="1" type="body"/>
          </p:nvPr>
        </p:nvSpPr>
        <p:spPr>
          <a:xfrm>
            <a:off x="1913400" y="1885950"/>
            <a:ext cx="1851300" cy="389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t>Factors of 18</a:t>
            </a:r>
            <a:endParaRPr sz="2000"/>
          </a:p>
        </p:txBody>
      </p:sp>
      <p:sp>
        <p:nvSpPr>
          <p:cNvPr id="892" name="Google Shape;892;p74"/>
          <p:cNvSpPr txBox="1"/>
          <p:nvPr>
            <p:ph idx="1" type="body"/>
          </p:nvPr>
        </p:nvSpPr>
        <p:spPr>
          <a:xfrm>
            <a:off x="5102550" y="1885950"/>
            <a:ext cx="1851300" cy="389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t>Factors of 24</a:t>
            </a:r>
            <a:endParaRPr sz="2000"/>
          </a:p>
        </p:txBody>
      </p:sp>
      <p:sp>
        <p:nvSpPr>
          <p:cNvPr id="893" name="Google Shape;893;p74"/>
          <p:cNvSpPr txBox="1"/>
          <p:nvPr>
            <p:ph idx="1" type="body"/>
          </p:nvPr>
        </p:nvSpPr>
        <p:spPr>
          <a:xfrm>
            <a:off x="1913400" y="2280900"/>
            <a:ext cx="1851300" cy="12276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t>1 × 18</a:t>
            </a:r>
            <a:endParaRPr sz="2000"/>
          </a:p>
          <a:p>
            <a:pPr indent="0" lvl="0" marL="0" rtl="0" algn="ctr">
              <a:lnSpc>
                <a:spcPct val="100000"/>
              </a:lnSpc>
              <a:spcBef>
                <a:spcPts val="1000"/>
              </a:spcBef>
              <a:spcAft>
                <a:spcPts val="0"/>
              </a:spcAft>
              <a:buNone/>
            </a:pPr>
            <a:r>
              <a:rPr lang="en-GB" sz="2000"/>
              <a:t>2</a:t>
            </a:r>
            <a:r>
              <a:rPr lang="en-GB" sz="2000"/>
              <a:t> × 9</a:t>
            </a:r>
            <a:endParaRPr sz="2000"/>
          </a:p>
          <a:p>
            <a:pPr indent="0" lvl="0" marL="0" rtl="0" algn="ctr">
              <a:lnSpc>
                <a:spcPct val="100000"/>
              </a:lnSpc>
              <a:spcBef>
                <a:spcPts val="1000"/>
              </a:spcBef>
              <a:spcAft>
                <a:spcPts val="1000"/>
              </a:spcAft>
              <a:buClr>
                <a:schemeClr val="dk1"/>
              </a:buClr>
              <a:buSzPts val="1100"/>
              <a:buFont typeface="Arial"/>
              <a:buNone/>
            </a:pPr>
            <a:r>
              <a:rPr lang="en-GB" sz="2000"/>
              <a:t>3 × 6</a:t>
            </a:r>
            <a:endParaRPr sz="2000"/>
          </a:p>
        </p:txBody>
      </p:sp>
      <p:sp>
        <p:nvSpPr>
          <p:cNvPr id="894" name="Google Shape;894;p74"/>
          <p:cNvSpPr txBox="1"/>
          <p:nvPr>
            <p:ph idx="1" type="body"/>
          </p:nvPr>
        </p:nvSpPr>
        <p:spPr>
          <a:xfrm>
            <a:off x="5102550" y="2280900"/>
            <a:ext cx="1851300" cy="15921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t>1 × 24</a:t>
            </a:r>
            <a:endParaRPr sz="2000"/>
          </a:p>
          <a:p>
            <a:pPr indent="0" lvl="0" marL="0" rtl="0" algn="ctr">
              <a:lnSpc>
                <a:spcPct val="100000"/>
              </a:lnSpc>
              <a:spcBef>
                <a:spcPts val="1000"/>
              </a:spcBef>
              <a:spcAft>
                <a:spcPts val="0"/>
              </a:spcAft>
              <a:buNone/>
            </a:pPr>
            <a:r>
              <a:rPr lang="en-GB" sz="2000"/>
              <a:t>2 × 12</a:t>
            </a:r>
            <a:endParaRPr sz="2000"/>
          </a:p>
          <a:p>
            <a:pPr indent="0" lvl="0" marL="0" rtl="0" algn="ctr">
              <a:lnSpc>
                <a:spcPct val="100000"/>
              </a:lnSpc>
              <a:spcBef>
                <a:spcPts val="1000"/>
              </a:spcBef>
              <a:spcAft>
                <a:spcPts val="0"/>
              </a:spcAft>
              <a:buNone/>
            </a:pPr>
            <a:r>
              <a:rPr lang="en-GB" sz="2000"/>
              <a:t>3 × 8</a:t>
            </a:r>
            <a:endParaRPr sz="2000"/>
          </a:p>
          <a:p>
            <a:pPr indent="0" lvl="0" marL="0" rtl="0" algn="ctr">
              <a:lnSpc>
                <a:spcPct val="100000"/>
              </a:lnSpc>
              <a:spcBef>
                <a:spcPts val="1000"/>
              </a:spcBef>
              <a:spcAft>
                <a:spcPts val="1000"/>
              </a:spcAft>
              <a:buNone/>
            </a:pPr>
            <a:r>
              <a:rPr lang="en-GB" sz="2000"/>
              <a:t>4</a:t>
            </a:r>
            <a:r>
              <a:rPr lang="en-GB" sz="2000"/>
              <a:t> × 6</a:t>
            </a:r>
            <a:endParaRPr sz="2000"/>
          </a:p>
        </p:txBody>
      </p:sp>
      <p:sp>
        <p:nvSpPr>
          <p:cNvPr id="895" name="Google Shape;895;p74"/>
          <p:cNvSpPr/>
          <p:nvPr/>
        </p:nvSpPr>
        <p:spPr>
          <a:xfrm>
            <a:off x="2448603" y="2274475"/>
            <a:ext cx="2403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6" name="Google Shape;896;p74"/>
          <p:cNvSpPr/>
          <p:nvPr/>
        </p:nvSpPr>
        <p:spPr>
          <a:xfrm>
            <a:off x="5623428" y="2274475"/>
            <a:ext cx="2403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7" name="Google Shape;897;p74"/>
          <p:cNvSpPr/>
          <p:nvPr/>
        </p:nvSpPr>
        <p:spPr>
          <a:xfrm>
            <a:off x="2525628" y="2733300"/>
            <a:ext cx="2403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8" name="Google Shape;898;p74"/>
          <p:cNvSpPr/>
          <p:nvPr/>
        </p:nvSpPr>
        <p:spPr>
          <a:xfrm>
            <a:off x="5623428" y="2733300"/>
            <a:ext cx="2403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9" name="Google Shape;899;p74"/>
          <p:cNvSpPr/>
          <p:nvPr/>
        </p:nvSpPr>
        <p:spPr>
          <a:xfrm>
            <a:off x="2525628" y="3145650"/>
            <a:ext cx="2403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0" name="Google Shape;900;p74"/>
          <p:cNvSpPr/>
          <p:nvPr/>
        </p:nvSpPr>
        <p:spPr>
          <a:xfrm>
            <a:off x="5694103" y="3145650"/>
            <a:ext cx="2403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1" name="Google Shape;901;p74"/>
          <p:cNvSpPr/>
          <p:nvPr/>
        </p:nvSpPr>
        <p:spPr>
          <a:xfrm>
            <a:off x="2918978" y="3145650"/>
            <a:ext cx="2403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2" name="Google Shape;902;p74"/>
          <p:cNvSpPr/>
          <p:nvPr/>
        </p:nvSpPr>
        <p:spPr>
          <a:xfrm>
            <a:off x="6131753" y="3550200"/>
            <a:ext cx="2403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3" name="Google Shape;903;p74"/>
          <p:cNvSpPr txBox="1"/>
          <p:nvPr>
            <p:ph idx="1" type="body"/>
          </p:nvPr>
        </p:nvSpPr>
        <p:spPr>
          <a:xfrm>
            <a:off x="324000" y="4526480"/>
            <a:ext cx="43572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Which would be the most efficient?</a:t>
            </a:r>
            <a:endParaRPr sz="2000"/>
          </a:p>
        </p:txBody>
      </p:sp>
      <p:sp>
        <p:nvSpPr>
          <p:cNvPr id="904" name="Google Shape;904;p74"/>
          <p:cNvSpPr txBox="1"/>
          <p:nvPr>
            <p:ph idx="1" type="body"/>
          </p:nvPr>
        </p:nvSpPr>
        <p:spPr>
          <a:xfrm>
            <a:off x="4943625" y="4526480"/>
            <a:ext cx="27741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 because it is the HCF.</a:t>
            </a:r>
            <a:endParaRPr sz="2000">
              <a:latin typeface="Kalam"/>
              <a:ea typeface="Kalam"/>
              <a:cs typeface="Kalam"/>
              <a:sym typeface="Kalam"/>
            </a:endParaRPr>
          </a:p>
        </p:txBody>
      </p:sp>
      <p:pic>
        <p:nvPicPr>
          <p:cNvPr descr="&lt;math xmlns=&quot;http://www.w3.org/1998/Math/MathML&quot; display=&quot;block&quot; data-is-equatio=&quot;1&quot; data-latex=&quot;\frac{18}{24}=\frac{6\ \times\ 3}{6\ \times\ 4}=\frac{3}{4}&quot;&gt;&lt;mfrac&gt;&lt;mn&gt;18&lt;/mn&gt;&lt;mn&gt;24&lt;/mn&gt;&lt;/mfrac&gt;&lt;mo&gt;=&lt;/mo&gt;&lt;mfrac&gt;&lt;mrow&gt;&lt;mn&gt;6&lt;/mn&gt;&lt;mtext&gt;&lt;/mtext&gt;&lt;mo&gt;×&lt;/mo&gt;&lt;mtext&gt;&lt;/mtext&gt;&lt;mn&gt;3&lt;/mn&gt;&lt;/mrow&gt;&lt;mrow&gt;&lt;mn&gt;6&lt;/mn&gt;&lt;mtext&gt;&lt;/mtext&gt;&lt;mo&gt;×&lt;/mo&gt;&lt;mtext&gt;&lt;/mtext&gt;&lt;mn&gt;4&lt;/mn&gt;&lt;/mrow&gt;&lt;/mfrac&gt;&lt;mo&gt;=&lt;/mo&gt;&lt;mfrac&gt;&lt;mn&gt;3&lt;/mn&gt;&lt;mn&gt;4&lt;/mn&gt;&lt;/mfrac&gt;&lt;/math&gt;" id="905" name="Google Shape;905;p74" title="18 over 24 equals the fraction with numerator 6 times 3 and denominator 6 times 4 equals three fourths"/>
          <p:cNvPicPr preferRelativeResize="0"/>
          <p:nvPr/>
        </p:nvPicPr>
        <p:blipFill rotWithShape="1">
          <a:blip r:embed="rId3">
            <a:alphaModFix/>
          </a:blip>
          <a:srcRect b="0" l="0" r="83390" t="0"/>
          <a:stretch/>
        </p:blipFill>
        <p:spPr>
          <a:xfrm>
            <a:off x="1444000" y="1458683"/>
            <a:ext cx="307500" cy="524550"/>
          </a:xfrm>
          <a:prstGeom prst="rect">
            <a:avLst/>
          </a:prstGeom>
          <a:noFill/>
          <a:ln>
            <a:noFill/>
          </a:ln>
        </p:spPr>
      </p:pic>
      <p:pic>
        <p:nvPicPr>
          <p:cNvPr id="906" name="Google Shape;906;p74"/>
          <p:cNvPicPr preferRelativeResize="0"/>
          <p:nvPr/>
        </p:nvPicPr>
        <p:blipFill>
          <a:blip r:embed="rId4">
            <a:alphaModFix/>
          </a:blip>
          <a:stretch>
            <a:fillRect/>
          </a:stretch>
        </p:blipFill>
        <p:spPr>
          <a:xfrm>
            <a:off x="324000" y="3861000"/>
            <a:ext cx="5160952" cy="552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912" name="Google Shape;912;p75"/>
          <p:cNvSpPr txBox="1"/>
          <p:nvPr>
            <p:ph idx="1" type="body"/>
          </p:nvPr>
        </p:nvSpPr>
        <p:spPr>
          <a:xfrm>
            <a:off x="324000" y="1264300"/>
            <a:ext cx="11559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Simplify</a:t>
            </a:r>
            <a:endParaRPr sz="2000"/>
          </a:p>
        </p:txBody>
      </p:sp>
      <p:pic>
        <p:nvPicPr>
          <p:cNvPr descr="&lt;math xmlns=&quot;http://www.w3.org/1998/Math/MathML&quot; display=&quot;block&quot; data-is-equatio=&quot;1&quot; data-latex=&quot;\frac{18}{24}=\frac{6\ \times\ 3}{6\ \times\ 4}=\frac{3}{4}&quot;&gt;&lt;mfrac&gt;&lt;mn&gt;18&lt;/mn&gt;&lt;mn&gt;24&lt;/mn&gt;&lt;/mfrac&gt;&lt;mo&gt;=&lt;/mo&gt;&lt;mfrac&gt;&lt;mrow&gt;&lt;mn&gt;6&lt;/mn&gt;&lt;mtext&gt;&lt;/mtext&gt;&lt;mo&gt;×&lt;/mo&gt;&lt;mtext&gt;&lt;/mtext&gt;&lt;mn&gt;3&lt;/mn&gt;&lt;/mrow&gt;&lt;mrow&gt;&lt;mn&gt;6&lt;/mn&gt;&lt;mtext&gt;&lt;/mtext&gt;&lt;mo&gt;×&lt;/mo&gt;&lt;mtext&gt;&lt;/mtext&gt;&lt;mn&gt;4&lt;/mn&gt;&lt;/mrow&gt;&lt;/mfrac&gt;&lt;mo&gt;=&lt;/mo&gt;&lt;mfrac&gt;&lt;mn&gt;3&lt;/mn&gt;&lt;mn&gt;4&lt;/mn&gt;&lt;/mfrac&gt;&lt;/math&gt;" id="913" name="Google Shape;913;p75" title="18 over 24 equals the fraction with numerator 6 times 3 and denominator 6 times 4 equals three fourths"/>
          <p:cNvPicPr preferRelativeResize="0"/>
          <p:nvPr/>
        </p:nvPicPr>
        <p:blipFill rotWithShape="1">
          <a:blip r:embed="rId3">
            <a:alphaModFix/>
          </a:blip>
          <a:srcRect b="0" l="76030" r="0" t="0"/>
          <a:stretch/>
        </p:blipFill>
        <p:spPr>
          <a:xfrm>
            <a:off x="3959825" y="1196575"/>
            <a:ext cx="443750" cy="524550"/>
          </a:xfrm>
          <a:prstGeom prst="rect">
            <a:avLst/>
          </a:prstGeom>
          <a:noFill/>
          <a:ln>
            <a:noFill/>
          </a:ln>
        </p:spPr>
      </p:pic>
      <p:pic>
        <p:nvPicPr>
          <p:cNvPr descr="&lt;math xmlns=&quot;http://www.w3.org/1998/Math/MathML&quot; display=&quot;block&quot; data-is-equatio=&quot;1&quot; data-latex=&quot;\frac{18}{24}=\frac{6\ \times\ 3}{6\ \times\ 4}=\frac{3}{4}&quot;&gt;&lt;mfrac&gt;&lt;mn&gt;18&lt;/mn&gt;&lt;mn&gt;24&lt;/mn&gt;&lt;/mfrac&gt;&lt;mo&gt;=&lt;/mo&gt;&lt;mfrac&gt;&lt;mrow&gt;&lt;mn&gt;6&lt;/mn&gt;&lt;mtext&gt;&lt;/mtext&gt;&lt;mo&gt;×&lt;/mo&gt;&lt;mtext&gt;&lt;/mtext&gt;&lt;mn&gt;3&lt;/mn&gt;&lt;/mrow&gt;&lt;mrow&gt;&lt;mn&gt;6&lt;/mn&gt;&lt;mtext&gt;&lt;/mtext&gt;&lt;mo&gt;×&lt;/mo&gt;&lt;mtext&gt;&lt;/mtext&gt;&lt;mn&gt;4&lt;/mn&gt;&lt;/mrow&gt;&lt;/mfrac&gt;&lt;mo&gt;=&lt;/mo&gt;&lt;mfrac&gt;&lt;mn&gt;3&lt;/mn&gt;&lt;mn&gt;4&lt;/mn&gt;&lt;/mfrac&gt;&lt;/math&gt;" id="914" name="Google Shape;914;p75" title="18 over 24 equals the fraction with numerator 6 times 3 and denominator 6 times 4 equals three fourths"/>
          <p:cNvPicPr preferRelativeResize="0"/>
          <p:nvPr/>
        </p:nvPicPr>
        <p:blipFill rotWithShape="1">
          <a:blip r:embed="rId3">
            <a:alphaModFix/>
          </a:blip>
          <a:srcRect b="0" l="0" r="26329" t="0"/>
          <a:stretch/>
        </p:blipFill>
        <p:spPr>
          <a:xfrm>
            <a:off x="1556100" y="1198450"/>
            <a:ext cx="1363825" cy="524550"/>
          </a:xfrm>
          <a:prstGeom prst="rect">
            <a:avLst/>
          </a:prstGeom>
          <a:noFill/>
          <a:ln>
            <a:noFill/>
          </a:ln>
        </p:spPr>
      </p:pic>
      <p:pic>
        <p:nvPicPr>
          <p:cNvPr descr="&lt;math xmlns=&quot;http://www.w3.org/1998/Math/MathML&quot; display=&quot;block&quot; data-is-equatio=&quot;1&quot; data-latex=&quot;=1\ \times\frac{3}{4}&quot;&gt;&lt;mo&gt;=&lt;/mo&gt;&lt;mn&gt;1&lt;/mn&gt;&lt;mtext&gt;&lt;/mtext&gt;&lt;mo&gt;×&lt;/mo&gt;&lt;mfrac&gt;&lt;mn&gt;3&lt;/mn&gt;&lt;mn&gt;4&lt;/mn&gt;&lt;/mfrac&gt;&lt;/math&gt;" id="915" name="Google Shape;915;p75" title="equals 1 times three fourths"/>
          <p:cNvPicPr preferRelativeResize="0"/>
          <p:nvPr/>
        </p:nvPicPr>
        <p:blipFill>
          <a:blip r:embed="rId4">
            <a:alphaModFix/>
          </a:blip>
          <a:stretch>
            <a:fillRect/>
          </a:stretch>
        </p:blipFill>
        <p:spPr>
          <a:xfrm>
            <a:off x="3037325" y="1228913"/>
            <a:ext cx="781725" cy="463625"/>
          </a:xfrm>
          <a:prstGeom prst="rect">
            <a:avLst/>
          </a:prstGeom>
          <a:noFill/>
          <a:ln>
            <a:noFill/>
          </a:ln>
        </p:spPr>
      </p:pic>
      <p:sp>
        <p:nvSpPr>
          <p:cNvPr id="916" name="Google Shape;916;p75"/>
          <p:cNvSpPr/>
          <p:nvPr/>
        </p:nvSpPr>
        <p:spPr>
          <a:xfrm>
            <a:off x="2156742" y="1125302"/>
            <a:ext cx="272100" cy="6453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17" name="Google Shape;917;p75"/>
          <p:cNvCxnSpPr/>
          <p:nvPr/>
        </p:nvCxnSpPr>
        <p:spPr>
          <a:xfrm rot="10800000">
            <a:off x="2491975" y="1846400"/>
            <a:ext cx="341700" cy="398700"/>
          </a:xfrm>
          <a:prstGeom prst="straightConnector1">
            <a:avLst/>
          </a:prstGeom>
          <a:noFill/>
          <a:ln cap="flat" cmpd="sng" w="38100">
            <a:solidFill>
              <a:schemeClr val="dk2"/>
            </a:solidFill>
            <a:prstDash val="solid"/>
            <a:round/>
            <a:headEnd len="med" w="med" type="none"/>
            <a:tailEnd len="med" w="med" type="triangle"/>
          </a:ln>
        </p:spPr>
      </p:cxnSp>
      <p:sp>
        <p:nvSpPr>
          <p:cNvPr id="918" name="Google Shape;918;p75"/>
          <p:cNvSpPr txBox="1"/>
          <p:nvPr>
            <p:ph idx="1" type="body"/>
          </p:nvPr>
        </p:nvSpPr>
        <p:spPr>
          <a:xfrm>
            <a:off x="1992250" y="2308725"/>
            <a:ext cx="19044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equivalent to 1</a:t>
            </a:r>
            <a:endParaRPr sz="2000"/>
          </a:p>
        </p:txBody>
      </p:sp>
      <p:sp>
        <p:nvSpPr>
          <p:cNvPr id="919" name="Google Shape;919;p75"/>
          <p:cNvSpPr txBox="1"/>
          <p:nvPr>
            <p:ph idx="1" type="body"/>
          </p:nvPr>
        </p:nvSpPr>
        <p:spPr>
          <a:xfrm>
            <a:off x="4969350" y="1253400"/>
            <a:ext cx="2879700" cy="389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t>HCF of 18 and 24 is 6.</a:t>
            </a:r>
            <a:endParaRPr sz="2000"/>
          </a:p>
        </p:txBody>
      </p:sp>
      <p:sp>
        <p:nvSpPr>
          <p:cNvPr id="920" name="Google Shape;920;p75"/>
          <p:cNvSpPr/>
          <p:nvPr/>
        </p:nvSpPr>
        <p:spPr>
          <a:xfrm>
            <a:off x="1926075" y="1083800"/>
            <a:ext cx="1040400" cy="73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1" name="Google Shape;921;p75"/>
          <p:cNvSpPr/>
          <p:nvPr/>
        </p:nvSpPr>
        <p:spPr>
          <a:xfrm>
            <a:off x="2996125" y="1091675"/>
            <a:ext cx="900600" cy="73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2" name="Google Shape;922;p75"/>
          <p:cNvSpPr/>
          <p:nvPr/>
        </p:nvSpPr>
        <p:spPr>
          <a:xfrm>
            <a:off x="3943900" y="1091675"/>
            <a:ext cx="628200" cy="73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923" name="Google Shape;923;p75"/>
          <p:cNvPicPr preferRelativeResize="0"/>
          <p:nvPr/>
        </p:nvPicPr>
        <p:blipFill>
          <a:blip r:embed="rId5">
            <a:alphaModFix/>
          </a:blip>
          <a:stretch>
            <a:fillRect/>
          </a:stretch>
        </p:blipFill>
        <p:spPr>
          <a:xfrm>
            <a:off x="4823999" y="1125300"/>
            <a:ext cx="3307926" cy="58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1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1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929" name="Google Shape;929;p76"/>
          <p:cNvSpPr txBox="1"/>
          <p:nvPr>
            <p:ph idx="1" type="body"/>
          </p:nvPr>
        </p:nvSpPr>
        <p:spPr>
          <a:xfrm>
            <a:off x="324000" y="1197920"/>
            <a:ext cx="11559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Simplify</a:t>
            </a:r>
            <a:endParaRPr sz="2000"/>
          </a:p>
        </p:txBody>
      </p:sp>
      <p:sp>
        <p:nvSpPr>
          <p:cNvPr id="930" name="Google Shape;930;p76"/>
          <p:cNvSpPr/>
          <p:nvPr/>
        </p:nvSpPr>
        <p:spPr>
          <a:xfrm>
            <a:off x="2156742" y="1058921"/>
            <a:ext cx="272100" cy="6453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31" name="Google Shape;931;p76"/>
          <p:cNvCxnSpPr/>
          <p:nvPr/>
        </p:nvCxnSpPr>
        <p:spPr>
          <a:xfrm rot="10800000">
            <a:off x="2491975" y="1792196"/>
            <a:ext cx="341700" cy="398700"/>
          </a:xfrm>
          <a:prstGeom prst="straightConnector1">
            <a:avLst/>
          </a:prstGeom>
          <a:noFill/>
          <a:ln cap="flat" cmpd="sng" w="38100">
            <a:solidFill>
              <a:schemeClr val="dk2"/>
            </a:solidFill>
            <a:prstDash val="solid"/>
            <a:round/>
            <a:headEnd len="med" w="med" type="none"/>
            <a:tailEnd len="med" w="med" type="triangle"/>
          </a:ln>
        </p:spPr>
      </p:cxnSp>
      <p:sp>
        <p:nvSpPr>
          <p:cNvPr id="932" name="Google Shape;932;p76"/>
          <p:cNvSpPr txBox="1"/>
          <p:nvPr>
            <p:ph idx="1" type="body"/>
          </p:nvPr>
        </p:nvSpPr>
        <p:spPr>
          <a:xfrm>
            <a:off x="1992250" y="2234882"/>
            <a:ext cx="19044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equivalent to 1</a:t>
            </a:r>
            <a:endParaRPr sz="2000"/>
          </a:p>
        </p:txBody>
      </p:sp>
      <p:pic>
        <p:nvPicPr>
          <p:cNvPr descr="&lt;math xmlns=&quot;http://www.w3.org/1998/Math/MathML&quot; display=&quot;block&quot; data-is-equatio=&quot;1&quot; data-latex=&quot;\frac{16}{48}=\frac{16\ \times\ 1}{16\ \times\ 3}=\frac{1}{3}&quot;&gt;&lt;mfrac&gt;&lt;mn&gt;16&lt;/mn&gt;&lt;mn&gt;48&lt;/mn&gt;&lt;/mfrac&gt;&lt;mo&gt;=&lt;/mo&gt;&lt;mfrac&gt;&lt;mrow&gt;&lt;mn&gt;16&lt;/mn&gt;&lt;mtext&gt;&lt;/mtext&gt;&lt;mo&gt;×&lt;/mo&gt;&lt;mtext&gt;&lt;/mtext&gt;&lt;mn&gt;1&lt;/mn&gt;&lt;/mrow&gt;&lt;mrow&gt;&lt;mn&gt;16&lt;/mn&gt;&lt;mtext&gt;&lt;/mtext&gt;&lt;mo&gt;×&lt;/mo&gt;&lt;mtext&gt;&lt;/mtext&gt;&lt;mn&gt;3&lt;/mn&gt;&lt;/mrow&gt;&lt;/mfrac&gt;&lt;mo&gt;=&lt;/mo&gt;&lt;mfrac&gt;&lt;mn&gt;1&lt;/mn&gt;&lt;mn&gt;3&lt;/mn&gt;&lt;/mfrac&gt;&lt;/math&gt;" id="933" name="Google Shape;933;p76" title="16 over 48 equals the fraction with numerator 16 times 1 and denominator 16 times 3 equals one third"/>
          <p:cNvPicPr preferRelativeResize="0"/>
          <p:nvPr/>
        </p:nvPicPr>
        <p:blipFill rotWithShape="1">
          <a:blip r:embed="rId3">
            <a:alphaModFix/>
          </a:blip>
          <a:srcRect b="0" l="0" r="10706" t="0"/>
          <a:stretch/>
        </p:blipFill>
        <p:spPr>
          <a:xfrm>
            <a:off x="1556100" y="1129260"/>
            <a:ext cx="1619226" cy="524550"/>
          </a:xfrm>
          <a:prstGeom prst="rect">
            <a:avLst/>
          </a:prstGeom>
          <a:noFill/>
          <a:ln>
            <a:noFill/>
          </a:ln>
        </p:spPr>
      </p:pic>
      <p:sp>
        <p:nvSpPr>
          <p:cNvPr id="934" name="Google Shape;934;p76"/>
          <p:cNvSpPr txBox="1"/>
          <p:nvPr>
            <p:ph idx="1" type="body"/>
          </p:nvPr>
        </p:nvSpPr>
        <p:spPr>
          <a:xfrm>
            <a:off x="321150" y="2723159"/>
            <a:ext cx="1851300" cy="389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t>Factors of 16</a:t>
            </a:r>
            <a:endParaRPr sz="2000"/>
          </a:p>
        </p:txBody>
      </p:sp>
      <p:sp>
        <p:nvSpPr>
          <p:cNvPr id="935" name="Google Shape;935;p76"/>
          <p:cNvSpPr txBox="1"/>
          <p:nvPr>
            <p:ph idx="1" type="body"/>
          </p:nvPr>
        </p:nvSpPr>
        <p:spPr>
          <a:xfrm>
            <a:off x="2215350" y="2723159"/>
            <a:ext cx="1851300" cy="389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t>Factors of 48</a:t>
            </a:r>
            <a:endParaRPr sz="2000"/>
          </a:p>
        </p:txBody>
      </p:sp>
      <p:sp>
        <p:nvSpPr>
          <p:cNvPr id="936" name="Google Shape;936;p76"/>
          <p:cNvSpPr txBox="1"/>
          <p:nvPr>
            <p:ph idx="1" type="body"/>
          </p:nvPr>
        </p:nvSpPr>
        <p:spPr>
          <a:xfrm>
            <a:off x="321150" y="3194309"/>
            <a:ext cx="1851300" cy="12276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lang="en-GB" sz="2000"/>
              <a:t>1 × 16</a:t>
            </a:r>
            <a:endParaRPr sz="2000"/>
          </a:p>
          <a:p>
            <a:pPr indent="0" lvl="0" marL="0" rtl="0" algn="ctr">
              <a:lnSpc>
                <a:spcPct val="80000"/>
              </a:lnSpc>
              <a:spcBef>
                <a:spcPts val="1000"/>
              </a:spcBef>
              <a:spcAft>
                <a:spcPts val="0"/>
              </a:spcAft>
              <a:buNone/>
            </a:pPr>
            <a:r>
              <a:rPr lang="en-GB" sz="2000"/>
              <a:t>2 × 8</a:t>
            </a:r>
            <a:endParaRPr sz="2000"/>
          </a:p>
          <a:p>
            <a:pPr indent="0" lvl="0" marL="0" rtl="0" algn="ctr">
              <a:lnSpc>
                <a:spcPct val="80000"/>
              </a:lnSpc>
              <a:spcBef>
                <a:spcPts val="1000"/>
              </a:spcBef>
              <a:spcAft>
                <a:spcPts val="1000"/>
              </a:spcAft>
              <a:buNone/>
            </a:pPr>
            <a:r>
              <a:rPr lang="en-GB" sz="2000"/>
              <a:t>4 × 4</a:t>
            </a:r>
            <a:endParaRPr sz="2000"/>
          </a:p>
        </p:txBody>
      </p:sp>
      <p:sp>
        <p:nvSpPr>
          <p:cNvPr id="937" name="Google Shape;937;p76"/>
          <p:cNvSpPr txBox="1"/>
          <p:nvPr>
            <p:ph idx="1" type="body"/>
          </p:nvPr>
        </p:nvSpPr>
        <p:spPr>
          <a:xfrm>
            <a:off x="2215350" y="3118109"/>
            <a:ext cx="1851300" cy="15921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lang="en-GB" sz="2000"/>
              <a:t>1 × 48</a:t>
            </a:r>
            <a:endParaRPr sz="2000"/>
          </a:p>
          <a:p>
            <a:pPr indent="0" lvl="0" marL="0" rtl="0" algn="ctr">
              <a:lnSpc>
                <a:spcPct val="80000"/>
              </a:lnSpc>
              <a:spcBef>
                <a:spcPts val="1000"/>
              </a:spcBef>
              <a:spcAft>
                <a:spcPts val="0"/>
              </a:spcAft>
              <a:buNone/>
            </a:pPr>
            <a:r>
              <a:rPr lang="en-GB" sz="2000"/>
              <a:t>2 × 24</a:t>
            </a:r>
            <a:endParaRPr sz="2000"/>
          </a:p>
          <a:p>
            <a:pPr indent="0" lvl="0" marL="0" rtl="0" algn="ctr">
              <a:lnSpc>
                <a:spcPct val="80000"/>
              </a:lnSpc>
              <a:spcBef>
                <a:spcPts val="1000"/>
              </a:spcBef>
              <a:spcAft>
                <a:spcPts val="0"/>
              </a:spcAft>
              <a:buNone/>
            </a:pPr>
            <a:r>
              <a:rPr lang="en-GB" sz="2000"/>
              <a:t>3 × 16</a:t>
            </a:r>
            <a:endParaRPr sz="2000"/>
          </a:p>
          <a:p>
            <a:pPr indent="0" lvl="0" marL="0" rtl="0" algn="ctr">
              <a:lnSpc>
                <a:spcPct val="80000"/>
              </a:lnSpc>
              <a:spcBef>
                <a:spcPts val="1000"/>
              </a:spcBef>
              <a:spcAft>
                <a:spcPts val="0"/>
              </a:spcAft>
              <a:buNone/>
            </a:pPr>
            <a:r>
              <a:rPr lang="en-GB" sz="2000"/>
              <a:t>4 × 12</a:t>
            </a:r>
            <a:endParaRPr sz="2000"/>
          </a:p>
          <a:p>
            <a:pPr indent="0" lvl="0" marL="0" rtl="0" algn="ctr">
              <a:lnSpc>
                <a:spcPct val="80000"/>
              </a:lnSpc>
              <a:spcBef>
                <a:spcPts val="1000"/>
              </a:spcBef>
              <a:spcAft>
                <a:spcPts val="0"/>
              </a:spcAft>
              <a:buNone/>
            </a:pPr>
            <a:r>
              <a:rPr lang="en-GB" sz="2000"/>
              <a:t>6 × 8</a:t>
            </a:r>
            <a:endParaRPr sz="2000"/>
          </a:p>
          <a:p>
            <a:pPr indent="0" lvl="0" marL="0" rtl="0" algn="ctr">
              <a:lnSpc>
                <a:spcPct val="80000"/>
              </a:lnSpc>
              <a:spcBef>
                <a:spcPts val="1000"/>
              </a:spcBef>
              <a:spcAft>
                <a:spcPts val="1000"/>
              </a:spcAft>
              <a:buNone/>
            </a:pPr>
            <a:r>
              <a:t/>
            </a:r>
            <a:endParaRPr sz="2000"/>
          </a:p>
        </p:txBody>
      </p:sp>
      <p:sp>
        <p:nvSpPr>
          <p:cNvPr id="938" name="Google Shape;938;p76"/>
          <p:cNvSpPr txBox="1"/>
          <p:nvPr>
            <p:ph idx="1" type="body"/>
          </p:nvPr>
        </p:nvSpPr>
        <p:spPr>
          <a:xfrm>
            <a:off x="4969350" y="1187020"/>
            <a:ext cx="2879700" cy="389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t>HCF of 16 and 48 is 16.</a:t>
            </a:r>
            <a:endParaRPr sz="2000"/>
          </a:p>
        </p:txBody>
      </p:sp>
      <p:pic>
        <p:nvPicPr>
          <p:cNvPr descr="&lt;math xmlns=&quot;http://www.w3.org/1998/Math/MathML&quot; display=&quot;block&quot; data-is-equatio=&quot;1&quot; data-latex=&quot;1\times\frac{1}{3}&quot;&gt;&lt;mn&gt;1&lt;/mn&gt;&lt;mo&gt;×&lt;/mo&gt;&lt;mfrac&gt;&lt;mn&gt;1&lt;/mn&gt;&lt;mn&gt;3&lt;/mn&gt;&lt;/mfrac&gt;&lt;/math&gt;" id="939" name="Google Shape;939;p76" title="1 times one third"/>
          <p:cNvPicPr preferRelativeResize="0"/>
          <p:nvPr/>
        </p:nvPicPr>
        <p:blipFill>
          <a:blip r:embed="rId4">
            <a:alphaModFix/>
          </a:blip>
          <a:stretch>
            <a:fillRect/>
          </a:stretch>
        </p:blipFill>
        <p:spPr>
          <a:xfrm>
            <a:off x="3251525" y="1131685"/>
            <a:ext cx="562287" cy="524550"/>
          </a:xfrm>
          <a:prstGeom prst="rect">
            <a:avLst/>
          </a:prstGeom>
          <a:noFill/>
          <a:ln>
            <a:noFill/>
          </a:ln>
        </p:spPr>
      </p:pic>
      <p:pic>
        <p:nvPicPr>
          <p:cNvPr descr="&lt;math xmlns=&quot;http://www.w3.org/1998/Math/MathML&quot; display=&quot;block&quot; data-is-equatio=&quot;1&quot; data-latex=&quot;\frac{16}{48}=\frac{16\ \times\ 1}{16\ \times\ 3}=\frac{1}{3}&quot;&gt;&lt;mfrac&gt;&lt;mn&gt;16&lt;/mn&gt;&lt;mn&gt;48&lt;/mn&gt;&lt;/mfrac&gt;&lt;mo&gt;=&lt;/mo&gt;&lt;mfrac&gt;&lt;mrow&gt;&lt;mn&gt;16&lt;/mn&gt;&lt;mtext&gt;&lt;/mtext&gt;&lt;mo&gt;×&lt;/mo&gt;&lt;mtext&gt;&lt;/mtext&gt;&lt;mn&gt;1&lt;/mn&gt;&lt;/mrow&gt;&lt;mrow&gt;&lt;mn&gt;16&lt;/mn&gt;&lt;mtext&gt;&lt;/mtext&gt;&lt;mo&gt;×&lt;/mo&gt;&lt;mtext&gt;&lt;/mtext&gt;&lt;mn&gt;3&lt;/mn&gt;&lt;/mrow&gt;&lt;/mfrac&gt;&lt;mo&gt;=&lt;/mo&gt;&lt;mfrac&gt;&lt;mn&gt;1&lt;/mn&gt;&lt;mn&gt;3&lt;/mn&gt;&lt;/mfrac&gt;&lt;/math&gt;" id="940" name="Google Shape;940;p76" title="16 over 48 equals the fraction with numerator 16 times 1 and denominator 16 times 3 equals one third"/>
          <p:cNvPicPr preferRelativeResize="0"/>
          <p:nvPr/>
        </p:nvPicPr>
        <p:blipFill rotWithShape="1">
          <a:blip r:embed="rId3">
            <a:alphaModFix/>
          </a:blip>
          <a:srcRect b="0" l="78106" r="-9112" t="0"/>
          <a:stretch/>
        </p:blipFill>
        <p:spPr>
          <a:xfrm>
            <a:off x="3953082" y="1108060"/>
            <a:ext cx="562275" cy="524550"/>
          </a:xfrm>
          <a:prstGeom prst="rect">
            <a:avLst/>
          </a:prstGeom>
          <a:noFill/>
          <a:ln>
            <a:noFill/>
          </a:ln>
        </p:spPr>
      </p:pic>
      <p:sp>
        <p:nvSpPr>
          <p:cNvPr id="941" name="Google Shape;941;p76"/>
          <p:cNvSpPr/>
          <p:nvPr/>
        </p:nvSpPr>
        <p:spPr>
          <a:xfrm>
            <a:off x="1907100" y="1017420"/>
            <a:ext cx="1089000" cy="73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2" name="Google Shape;942;p76"/>
          <p:cNvSpPr/>
          <p:nvPr/>
        </p:nvSpPr>
        <p:spPr>
          <a:xfrm>
            <a:off x="2955450" y="1025295"/>
            <a:ext cx="941400" cy="73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3" name="Google Shape;943;p76"/>
          <p:cNvSpPr/>
          <p:nvPr/>
        </p:nvSpPr>
        <p:spPr>
          <a:xfrm>
            <a:off x="3943900" y="1025295"/>
            <a:ext cx="628200" cy="73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4" name="Google Shape;944;p76"/>
          <p:cNvSpPr/>
          <p:nvPr/>
        </p:nvSpPr>
        <p:spPr>
          <a:xfrm>
            <a:off x="1297925" y="3137075"/>
            <a:ext cx="302700" cy="31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5" name="Google Shape;945;p76"/>
          <p:cNvSpPr/>
          <p:nvPr/>
        </p:nvSpPr>
        <p:spPr>
          <a:xfrm>
            <a:off x="3201750" y="3814575"/>
            <a:ext cx="302700" cy="31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946" name="Google Shape;946;p76"/>
          <p:cNvPicPr preferRelativeResize="0"/>
          <p:nvPr/>
        </p:nvPicPr>
        <p:blipFill>
          <a:blip r:embed="rId5">
            <a:alphaModFix/>
          </a:blip>
          <a:stretch>
            <a:fillRect/>
          </a:stretch>
        </p:blipFill>
        <p:spPr>
          <a:xfrm>
            <a:off x="4783450" y="1092088"/>
            <a:ext cx="3251499" cy="55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3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3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pic>
        <p:nvPicPr>
          <p:cNvPr id="951" name="Google Shape;951;p77"/>
          <p:cNvPicPr preferRelativeResize="0"/>
          <p:nvPr/>
        </p:nvPicPr>
        <p:blipFill>
          <a:blip r:embed="rId3">
            <a:alphaModFix/>
          </a:blip>
          <a:stretch>
            <a:fillRect/>
          </a:stretch>
        </p:blipFill>
        <p:spPr>
          <a:xfrm>
            <a:off x="324000" y="775923"/>
            <a:ext cx="7283363" cy="933550"/>
          </a:xfrm>
          <a:prstGeom prst="rect">
            <a:avLst/>
          </a:prstGeom>
          <a:noFill/>
          <a:ln>
            <a:noFill/>
          </a:ln>
        </p:spPr>
      </p:pic>
      <p:sp>
        <p:nvSpPr>
          <p:cNvPr id="952" name="Google Shape;952;p77"/>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953" name="Google Shape;953;p7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a:t>
            </a:r>
            <a:endParaRPr/>
          </a:p>
        </p:txBody>
      </p:sp>
      <p:sp>
        <p:nvSpPr>
          <p:cNvPr id="954" name="Google Shape;954;p7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8</a:t>
            </a:r>
            <a:endParaRPr/>
          </a:p>
        </p:txBody>
      </p:sp>
      <p:sp>
        <p:nvSpPr>
          <p:cNvPr id="955" name="Google Shape;955;p7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14</a:t>
            </a:r>
            <a:endParaRPr/>
          </a:p>
        </p:txBody>
      </p:sp>
      <p:pic>
        <p:nvPicPr>
          <p:cNvPr id="956" name="Google Shape;956;p77"/>
          <p:cNvPicPr preferRelativeResize="0"/>
          <p:nvPr/>
        </p:nvPicPr>
        <p:blipFill>
          <a:blip r:embed="rId4">
            <a:alphaModFix/>
          </a:blip>
          <a:stretch>
            <a:fillRect/>
          </a:stretch>
        </p:blipFill>
        <p:spPr>
          <a:xfrm>
            <a:off x="1546308" y="2794250"/>
            <a:ext cx="396000" cy="419100"/>
          </a:xfrm>
          <a:prstGeom prst="rect">
            <a:avLst/>
          </a:prstGeom>
          <a:noFill/>
          <a:ln>
            <a:noFill/>
          </a:ln>
        </p:spPr>
      </p:pic>
      <p:sp>
        <p:nvSpPr>
          <p:cNvPr id="957" name="Google Shape;957;p77"/>
          <p:cNvSpPr txBox="1"/>
          <p:nvPr>
            <p:ph idx="4294967295" type="body"/>
          </p:nvPr>
        </p:nvSpPr>
        <p:spPr>
          <a:xfrm>
            <a:off x="1731300" y="1743300"/>
            <a:ext cx="70887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4 is a common factor but not the HCF, you will get the right answer but it is not the most </a:t>
            </a:r>
            <a:r>
              <a:rPr lang="en-GB">
                <a:latin typeface="Kalam"/>
                <a:ea typeface="Kalam"/>
                <a:cs typeface="Kalam"/>
                <a:sym typeface="Kalam"/>
              </a:rPr>
              <a:t>efficient</a:t>
            </a:r>
            <a:r>
              <a:rPr lang="en-GB">
                <a:latin typeface="Kalam"/>
                <a:ea typeface="Kalam"/>
                <a:cs typeface="Kalam"/>
                <a:sym typeface="Kalam"/>
              </a:rPr>
              <a:t> method.</a:t>
            </a:r>
            <a:endParaRPr>
              <a:latin typeface="Kalam"/>
              <a:ea typeface="Kalam"/>
              <a:cs typeface="Kalam"/>
              <a:sym typeface="Kalam"/>
            </a:endParaRPr>
          </a:p>
        </p:txBody>
      </p:sp>
      <p:sp>
        <p:nvSpPr>
          <p:cNvPr id="958" name="Google Shape;958;p77"/>
          <p:cNvSpPr txBox="1"/>
          <p:nvPr>
            <p:ph idx="4294967295" type="body"/>
          </p:nvPr>
        </p:nvSpPr>
        <p:spPr>
          <a:xfrm>
            <a:off x="2107575" y="2809250"/>
            <a:ext cx="40887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8 is the HCF of 40 and 56.</a:t>
            </a:r>
            <a:endParaRPr>
              <a:latin typeface="Kalam"/>
              <a:ea typeface="Kalam"/>
              <a:cs typeface="Kalam"/>
              <a:sym typeface="Kalam"/>
            </a:endParaRPr>
          </a:p>
        </p:txBody>
      </p:sp>
      <p:sp>
        <p:nvSpPr>
          <p:cNvPr id="959" name="Google Shape;959;p77"/>
          <p:cNvSpPr txBox="1"/>
          <p:nvPr>
            <p:ph idx="4294967295" type="body"/>
          </p:nvPr>
        </p:nvSpPr>
        <p:spPr>
          <a:xfrm>
            <a:off x="1987925" y="3582325"/>
            <a:ext cx="68322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14 is a factor of 56 but it is not a factor of 40. The factor you choose must be common to both the numerator and denominator.</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78"/>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965" name="Google Shape;965;p78"/>
          <p:cNvSpPr txBox="1"/>
          <p:nvPr>
            <p:ph idx="1" type="subTitle"/>
          </p:nvPr>
        </p:nvSpPr>
        <p:spPr>
          <a:xfrm>
            <a:off x="337825" y="810000"/>
            <a:ext cx="1122900" cy="68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200"/>
              <a:t>Simplify </a:t>
            </a:r>
            <a:endParaRPr sz="2200"/>
          </a:p>
        </p:txBody>
      </p:sp>
      <p:pic>
        <p:nvPicPr>
          <p:cNvPr descr="&lt;math xmlns=&quot;http://www.w3.org/1998/Math/MathML&quot; display=&quot;block&quot; data-is-equatio=&quot;1&quot; data-latex=&quot;\frac{40}{56}&quot;&gt;&lt;mfrac&gt;&lt;mn&gt;40&lt;/mn&gt;&lt;mn&gt;56&lt;/mn&gt;&lt;/mfrac&gt;&lt;/math&gt;" id="966" name="Google Shape;966;p78" title="40 over 56"/>
          <p:cNvPicPr preferRelativeResize="0"/>
          <p:nvPr/>
        </p:nvPicPr>
        <p:blipFill>
          <a:blip r:embed="rId3">
            <a:alphaModFix/>
          </a:blip>
          <a:stretch>
            <a:fillRect/>
          </a:stretch>
        </p:blipFill>
        <p:spPr>
          <a:xfrm>
            <a:off x="1621363" y="740126"/>
            <a:ext cx="338323" cy="613500"/>
          </a:xfrm>
          <a:prstGeom prst="rect">
            <a:avLst/>
          </a:prstGeom>
          <a:noFill/>
          <a:ln>
            <a:noFill/>
          </a:ln>
        </p:spPr>
      </p:pic>
      <p:pic>
        <p:nvPicPr>
          <p:cNvPr descr="&lt;math xmlns=&quot;http://www.w3.org/1998/Math/MathML&quot; display=&quot;block&quot; data-is-equatio=&quot;1&quot; data-latex=&quot;\frac{40}{56}=\frac{8\ \times5}{8\ \times7}=1\times\frac{5}{7}\ =\frac{5}{7}&quot;&gt;&lt;mfrac&gt;&lt;mn&gt;40&lt;/mn&gt;&lt;mn&gt;56&lt;/mn&gt;&lt;/mfrac&gt;&lt;mo&gt;=&lt;/mo&gt;&lt;mfrac&gt;&lt;mrow&gt;&lt;mn&gt;8&lt;/mn&gt;&lt;mtext&gt;&lt;/mtext&gt;&lt;mo&gt;×&lt;/mo&gt;&lt;mn&gt;5&lt;/mn&gt;&lt;/mrow&gt;&lt;mrow&gt;&lt;mn&gt;8&lt;/mn&gt;&lt;mtext&gt;&lt;/mtext&gt;&lt;mo&gt;×&lt;/mo&gt;&lt;mn&gt;7&lt;/mn&gt;&lt;/mrow&gt;&lt;/mfrac&gt;&lt;mo&gt;=&lt;/mo&gt;&lt;mn&gt;1&lt;/mn&gt;&lt;mo&gt;×&lt;/mo&gt;&lt;mfrac&gt;&lt;mn&gt;5&lt;/mn&gt;&lt;mn&gt;7&lt;/mn&gt;&lt;/mfrac&gt;&lt;mtext&gt;&lt;/mtext&gt;&lt;mo&gt;=&lt;/mo&gt;&lt;mfrac&gt;&lt;mn&gt;5&lt;/mn&gt;&lt;mn&gt;7&lt;/mn&gt;&lt;/mfrac&gt;&lt;/math&gt;" id="967" name="Google Shape;967;p78" title="40 over 56 equals the fraction with numerator 8 times 5 and denominator 8 times 7 equals 1 times five sevenths equals five sevenths"/>
          <p:cNvPicPr preferRelativeResize="0"/>
          <p:nvPr/>
        </p:nvPicPr>
        <p:blipFill>
          <a:blip r:embed="rId4">
            <a:alphaModFix/>
          </a:blip>
          <a:stretch>
            <a:fillRect/>
          </a:stretch>
        </p:blipFill>
        <p:spPr>
          <a:xfrm>
            <a:off x="337827" y="1620002"/>
            <a:ext cx="4025851" cy="761650"/>
          </a:xfrm>
          <a:prstGeom prst="rect">
            <a:avLst/>
          </a:prstGeom>
          <a:noFill/>
          <a:ln>
            <a:noFill/>
          </a:ln>
        </p:spPr>
      </p:pic>
      <p:cxnSp>
        <p:nvCxnSpPr>
          <p:cNvPr id="968" name="Google Shape;968;p78"/>
          <p:cNvCxnSpPr/>
          <p:nvPr/>
        </p:nvCxnSpPr>
        <p:spPr>
          <a:xfrm flipH="1" rot="10800000">
            <a:off x="2725800" y="2601000"/>
            <a:ext cx="322800" cy="639000"/>
          </a:xfrm>
          <a:prstGeom prst="straightConnector1">
            <a:avLst/>
          </a:prstGeom>
          <a:noFill/>
          <a:ln cap="flat" cmpd="sng" w="38100">
            <a:solidFill>
              <a:schemeClr val="dk2"/>
            </a:solidFill>
            <a:prstDash val="solid"/>
            <a:round/>
            <a:headEnd len="med" w="med" type="none"/>
            <a:tailEnd len="med" w="med" type="triangle"/>
          </a:ln>
        </p:spPr>
      </p:cxnSp>
      <p:sp>
        <p:nvSpPr>
          <p:cNvPr id="969" name="Google Shape;969;p78"/>
          <p:cNvSpPr/>
          <p:nvPr/>
        </p:nvSpPr>
        <p:spPr>
          <a:xfrm>
            <a:off x="2615125" y="1561850"/>
            <a:ext cx="990300" cy="9030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0" name="Google Shape;970;p78"/>
          <p:cNvSpPr txBox="1"/>
          <p:nvPr>
            <p:ph idx="1" type="subTitle"/>
          </p:nvPr>
        </p:nvSpPr>
        <p:spPr>
          <a:xfrm>
            <a:off x="1460725" y="3277925"/>
            <a:ext cx="2682900" cy="68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200"/>
              <a:t>Would it matter if we left out this step?</a:t>
            </a:r>
            <a:endParaRPr sz="2200"/>
          </a:p>
        </p:txBody>
      </p:sp>
      <p:sp>
        <p:nvSpPr>
          <p:cNvPr id="971" name="Google Shape;971;p78"/>
          <p:cNvSpPr txBox="1"/>
          <p:nvPr>
            <p:ph idx="1" type="subTitle"/>
          </p:nvPr>
        </p:nvSpPr>
        <p:spPr>
          <a:xfrm>
            <a:off x="4824000" y="810000"/>
            <a:ext cx="1122900" cy="68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200"/>
              <a:t>Simplify </a:t>
            </a:r>
            <a:endParaRPr sz="2200"/>
          </a:p>
        </p:txBody>
      </p:sp>
      <p:pic>
        <p:nvPicPr>
          <p:cNvPr descr="&lt;math xmlns=&quot;http://www.w3.org/1998/Math/MathML&quot; display=&quot;block&quot; data-is-equatio=&quot;1&quot; data-latex=&quot;\frac{24}{60}=\frac{12\ \times2}{12\ \times5}=1\times\frac{2}{5}\ =\frac{2}{5}&quot;&gt;&lt;mfrac&gt;&lt;mn&gt;24&lt;/mn&gt;&lt;mn&gt;60&lt;/mn&gt;&lt;/mfrac&gt;&lt;mo&gt;=&lt;/mo&gt;&lt;mfrac&gt;&lt;mrow&gt;&lt;mn&gt;12&lt;/mn&gt;&lt;mtext&gt;&lt;/mtext&gt;&lt;mo&gt;×&lt;/mo&gt;&lt;mn&gt;2&lt;/mn&gt;&lt;/mrow&gt;&lt;mrow&gt;&lt;mn&gt;12&lt;/mn&gt;&lt;mtext&gt;&lt;/mtext&gt;&lt;mo&gt;×&lt;/mo&gt;&lt;mn&gt;5&lt;/mn&gt;&lt;/mrow&gt;&lt;/mfrac&gt;&lt;mo&gt;=&lt;/mo&gt;&lt;mn&gt;1&lt;/mn&gt;&lt;mo&gt;×&lt;/mo&gt;&lt;mfrac&gt;&lt;mn&gt;2&lt;/mn&gt;&lt;mn&gt;5&lt;/mn&gt;&lt;/mfrac&gt;&lt;mtext&gt;&lt;/mtext&gt;&lt;mo&gt;=&lt;/mo&gt;&lt;mfrac&gt;&lt;mn&gt;2&lt;/mn&gt;&lt;mn&gt;5&lt;/mn&gt;&lt;/mfrac&gt;&lt;/math&gt;" id="972" name="Google Shape;972;p78" title="24 over 60 equals the fraction with numerator 12 times 2 and denominator 12 times 5 equals 1 times two fifths equals two fifths"/>
          <p:cNvPicPr preferRelativeResize="0"/>
          <p:nvPr/>
        </p:nvPicPr>
        <p:blipFill>
          <a:blip r:embed="rId5">
            <a:alphaModFix/>
          </a:blip>
          <a:stretch>
            <a:fillRect/>
          </a:stretch>
        </p:blipFill>
        <p:spPr>
          <a:xfrm>
            <a:off x="4786041" y="1614550"/>
            <a:ext cx="4025851" cy="728589"/>
          </a:xfrm>
          <a:prstGeom prst="rect">
            <a:avLst/>
          </a:prstGeom>
          <a:noFill/>
          <a:ln>
            <a:noFill/>
          </a:ln>
        </p:spPr>
      </p:pic>
      <p:pic>
        <p:nvPicPr>
          <p:cNvPr descr="&lt;math xmlns=&quot;http://www.w3.org/1998/Math/MathML&quot; display=&quot;block&quot; data-is-equatio=&quot;1&quot; data-latex=&quot;\frac{24}{60}=\frac{12\ \times2}{12\ \times5}=1\times\frac{2}{5}\ =\frac{2}{5}&quot;&gt;&lt;mfrac&gt;&lt;mn&gt;24&lt;/mn&gt;&lt;mn&gt;60&lt;/mn&gt;&lt;/mfrac&gt;&lt;mo&gt;=&lt;/mo&gt;&lt;mfrac&gt;&lt;mrow&gt;&lt;mn&gt;12&lt;/mn&gt;&lt;mtext&gt;&lt;/mtext&gt;&lt;mo&gt;×&lt;/mo&gt;&lt;mn&gt;2&lt;/mn&gt;&lt;/mrow&gt;&lt;mrow&gt;&lt;mn&gt;12&lt;/mn&gt;&lt;mtext&gt;&lt;/mtext&gt;&lt;mo&gt;×&lt;/mo&gt;&lt;mn&gt;5&lt;/mn&gt;&lt;/mrow&gt;&lt;/mfrac&gt;&lt;mo&gt;=&lt;/mo&gt;&lt;mn&gt;1&lt;/mn&gt;&lt;mo&gt;×&lt;/mo&gt;&lt;mfrac&gt;&lt;mn&gt;2&lt;/mn&gt;&lt;mn&gt;5&lt;/mn&gt;&lt;/mfrac&gt;&lt;mtext&gt;&lt;/mtext&gt;&lt;mo&gt;=&lt;/mo&gt;&lt;mfrac&gt;&lt;mn&gt;2&lt;/mn&gt;&lt;mn&gt;5&lt;/mn&gt;&lt;/mfrac&gt;&lt;/math&gt;" id="973" name="Google Shape;973;p78" title="24 over 60 equals the fraction with numerator 12 times 2 and denominator 12 times 5 equals 1 times two fifths equals two fifths"/>
          <p:cNvPicPr preferRelativeResize="0"/>
          <p:nvPr/>
        </p:nvPicPr>
        <p:blipFill rotWithShape="1">
          <a:blip r:embed="rId5">
            <a:alphaModFix/>
          </a:blip>
          <a:srcRect b="0" l="0" r="88321" t="0"/>
          <a:stretch/>
        </p:blipFill>
        <p:spPr>
          <a:xfrm>
            <a:off x="6127825" y="741520"/>
            <a:ext cx="412342" cy="639000"/>
          </a:xfrm>
          <a:prstGeom prst="rect">
            <a:avLst/>
          </a:prstGeom>
          <a:noFill/>
          <a:ln>
            <a:noFill/>
          </a:ln>
        </p:spPr>
      </p:pic>
      <p:sp>
        <p:nvSpPr>
          <p:cNvPr id="974" name="Google Shape;974;p78"/>
          <p:cNvSpPr/>
          <p:nvPr/>
        </p:nvSpPr>
        <p:spPr>
          <a:xfrm>
            <a:off x="809175" y="1515850"/>
            <a:ext cx="1442400" cy="94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5" name="Google Shape;975;p78"/>
          <p:cNvSpPr/>
          <p:nvPr/>
        </p:nvSpPr>
        <p:spPr>
          <a:xfrm>
            <a:off x="2277500" y="1550575"/>
            <a:ext cx="1442400" cy="94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6" name="Google Shape;976;p78"/>
          <p:cNvSpPr/>
          <p:nvPr/>
        </p:nvSpPr>
        <p:spPr>
          <a:xfrm>
            <a:off x="3719900" y="1580050"/>
            <a:ext cx="852000" cy="94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79"/>
          <p:cNvSpPr txBox="1"/>
          <p:nvPr>
            <p:ph idx="1" type="body"/>
          </p:nvPr>
        </p:nvSpPr>
        <p:spPr>
          <a:xfrm>
            <a:off x="324000" y="721475"/>
            <a:ext cx="8237700" cy="69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Here is a section of a maze where you find the path by simplifying fractions.</a:t>
            </a:r>
            <a:endParaRPr sz="1900"/>
          </a:p>
        </p:txBody>
      </p:sp>
      <p:sp>
        <p:nvSpPr>
          <p:cNvPr id="982" name="Google Shape;982;p7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Simplifying fractions using factor pairs</a:t>
            </a:r>
            <a:endParaRPr sz="1800"/>
          </a:p>
        </p:txBody>
      </p:sp>
      <p:pic>
        <p:nvPicPr>
          <p:cNvPr id="983" name="Google Shape;983;p79"/>
          <p:cNvPicPr preferRelativeResize="0"/>
          <p:nvPr/>
        </p:nvPicPr>
        <p:blipFill rotWithShape="1">
          <a:blip r:embed="rId3">
            <a:alphaModFix/>
          </a:blip>
          <a:srcRect b="17233" l="0" r="26019" t="1166"/>
          <a:stretch/>
        </p:blipFill>
        <p:spPr>
          <a:xfrm>
            <a:off x="3754450" y="1491950"/>
            <a:ext cx="2681275" cy="1832275"/>
          </a:xfrm>
          <a:prstGeom prst="rect">
            <a:avLst/>
          </a:prstGeom>
          <a:noFill/>
          <a:ln>
            <a:noFill/>
          </a:ln>
        </p:spPr>
      </p:pic>
      <p:sp>
        <p:nvSpPr>
          <p:cNvPr id="984" name="Google Shape;984;p79"/>
          <p:cNvSpPr txBox="1"/>
          <p:nvPr/>
        </p:nvSpPr>
        <p:spPr>
          <a:xfrm>
            <a:off x="324000" y="2458200"/>
            <a:ext cx="3331200" cy="47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Does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985" name="Google Shape;985;p79"/>
          <p:cNvSpPr/>
          <p:nvPr/>
        </p:nvSpPr>
        <p:spPr>
          <a:xfrm>
            <a:off x="3729075" y="2397025"/>
            <a:ext cx="307800" cy="6954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6" name="Google Shape;986;p79"/>
          <p:cNvSpPr/>
          <p:nvPr/>
        </p:nvSpPr>
        <p:spPr>
          <a:xfrm>
            <a:off x="4623300" y="1491950"/>
            <a:ext cx="307800" cy="6954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987" name="Google Shape;987;p79"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0" r="96783" t="0"/>
          <a:stretch/>
        </p:blipFill>
        <p:spPr>
          <a:xfrm>
            <a:off x="2515855" y="2383342"/>
            <a:ext cx="152400" cy="47660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988" name="Google Shape;988;p79" title="three fifths 10 over 12 36 over 60 three fifths 18 over 36 one half 33 over 55 two thirds 45 over 135 one third 21 over 49 four sevenths 21 over 42 one half 20 over 30"/>
          <p:cNvPicPr preferRelativeResize="0"/>
          <p:nvPr/>
        </p:nvPicPr>
        <p:blipFill rotWithShape="1">
          <a:blip r:embed="rId5">
            <a:alphaModFix/>
          </a:blip>
          <a:srcRect b="0" l="0" r="95278" t="0"/>
          <a:stretch/>
        </p:blipFill>
        <p:spPr>
          <a:xfrm>
            <a:off x="3033300" y="2369775"/>
            <a:ext cx="221437" cy="476500"/>
          </a:xfrm>
          <a:prstGeom prst="rect">
            <a:avLst/>
          </a:prstGeom>
          <a:noFill/>
          <a:ln>
            <a:noFill/>
          </a:ln>
        </p:spPr>
      </p:pic>
      <p:pic>
        <p:nvPicPr>
          <p:cNvPr descr="&lt;math xmlns=&quot;http://www.w3.org/1998/Math/MathML&quot; display=&quot;block&quot; data-is-equatio=&quot;1&quot; data-latex=&quot;\frac{12}{30}&quot;&gt;&lt;mfrac&gt;&lt;mn&gt;12&lt;/mn&gt;&lt;mn&gt;30&lt;/mn&gt;&lt;/mfrac&gt;&lt;/math&gt;" id="989" name="Google Shape;989;p79" title="12 over 30"/>
          <p:cNvPicPr preferRelativeResize="0"/>
          <p:nvPr/>
        </p:nvPicPr>
        <p:blipFill>
          <a:blip r:embed="rId6">
            <a:alphaModFix/>
          </a:blip>
          <a:stretch>
            <a:fillRect/>
          </a:stretch>
        </p:blipFill>
        <p:spPr>
          <a:xfrm>
            <a:off x="940425" y="2397026"/>
            <a:ext cx="242400" cy="449250"/>
          </a:xfrm>
          <a:prstGeom prst="rect">
            <a:avLst/>
          </a:prstGeom>
          <a:noFill/>
          <a:ln>
            <a:noFill/>
          </a:ln>
        </p:spPr>
      </p:pic>
      <p:sp>
        <p:nvSpPr>
          <p:cNvPr id="990" name="Google Shape;990;p79"/>
          <p:cNvSpPr txBox="1"/>
          <p:nvPr/>
        </p:nvSpPr>
        <p:spPr>
          <a:xfrm>
            <a:off x="324000" y="3203250"/>
            <a:ext cx="3331200" cy="60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This means we go to this space next.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991" name="Google Shape;991;p79"/>
          <p:cNvSpPr txBox="1"/>
          <p:nvPr/>
        </p:nvSpPr>
        <p:spPr>
          <a:xfrm>
            <a:off x="324000" y="3884000"/>
            <a:ext cx="43524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Then we simplify the fraction in the bottom right of this space to see where to go next.</a:t>
            </a:r>
            <a:endParaRPr/>
          </a:p>
        </p:txBody>
      </p:sp>
      <p:pic>
        <p:nvPicPr>
          <p:cNvPr descr="&lt;math xmlns=&quot;http://www.w3.org/1998/Math/MathML&quot; display=&quot;block&quot; data-is-equatio=&quot;1&quot; data-latex=&quot;\frac{12}{30}=\frac{6\times2}{6\times5}=\frac{2}{5}&quot;&gt;&lt;mfrac&gt;&lt;mn&gt;12&lt;/mn&gt;&lt;mn&gt;30&lt;/mn&gt;&lt;/mfrac&gt;&lt;mo&gt;=&lt;/mo&gt;&lt;mfrac&gt;&lt;mrow&gt;&lt;mn&gt;6&lt;/mn&gt;&lt;mo&gt;×&lt;/mo&gt;&lt;mn&gt;2&lt;/mn&gt;&lt;/mrow&gt;&lt;mrow&gt;&lt;mn&gt;6&lt;/mn&gt;&lt;mo&gt;×&lt;/mo&gt;&lt;mn&gt;5&lt;/mn&gt;&lt;/mrow&gt;&lt;/mfrac&gt;&lt;mo&gt;=&lt;/mo&gt;&lt;mfrac&gt;&lt;mn&gt;2&lt;/mn&gt;&lt;mn&gt;5&lt;/mn&gt;&lt;/mfrac&gt;&lt;/math&gt;" id="992" name="Google Shape;992;p79" title="12 over 30 equals the fraction with numerator 6 times 2 and denominator 6 times 5 equals two fifths"/>
          <p:cNvPicPr preferRelativeResize="0"/>
          <p:nvPr/>
        </p:nvPicPr>
        <p:blipFill>
          <a:blip r:embed="rId7">
            <a:alphaModFix/>
          </a:blip>
          <a:stretch>
            <a:fillRect/>
          </a:stretch>
        </p:blipFill>
        <p:spPr>
          <a:xfrm>
            <a:off x="6618950" y="2057275"/>
            <a:ext cx="2002169" cy="607800"/>
          </a:xfrm>
          <a:prstGeom prst="rect">
            <a:avLst/>
          </a:prstGeom>
          <a:noFill/>
          <a:ln>
            <a:noFill/>
          </a:ln>
        </p:spPr>
      </p:pic>
      <p:sp>
        <p:nvSpPr>
          <p:cNvPr id="993" name="Google Shape;993;p79"/>
          <p:cNvSpPr/>
          <p:nvPr/>
        </p:nvSpPr>
        <p:spPr>
          <a:xfrm>
            <a:off x="4676400" y="1491950"/>
            <a:ext cx="869700" cy="9198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4" name="Google Shape;994;p79"/>
          <p:cNvSpPr/>
          <p:nvPr/>
        </p:nvSpPr>
        <p:spPr>
          <a:xfrm>
            <a:off x="5135825" y="1755200"/>
            <a:ext cx="375300" cy="6954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5" name="Google Shape;995;p79"/>
          <p:cNvSpPr txBox="1"/>
          <p:nvPr/>
        </p:nvSpPr>
        <p:spPr>
          <a:xfrm>
            <a:off x="324000" y="1560650"/>
            <a:ext cx="300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Starting with the START square.</a:t>
            </a:r>
            <a:endParaRPr/>
          </a:p>
        </p:txBody>
      </p:sp>
      <p:sp>
        <p:nvSpPr>
          <p:cNvPr id="996" name="Google Shape;996;p79"/>
          <p:cNvSpPr/>
          <p:nvPr/>
        </p:nvSpPr>
        <p:spPr>
          <a:xfrm>
            <a:off x="3795063" y="1491950"/>
            <a:ext cx="869700" cy="9198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7" name="Google Shape;997;p79"/>
          <p:cNvSpPr/>
          <p:nvPr/>
        </p:nvSpPr>
        <p:spPr>
          <a:xfrm>
            <a:off x="3795050" y="1491950"/>
            <a:ext cx="869700" cy="919800"/>
          </a:xfrm>
          <a:prstGeom prst="rect">
            <a:avLst/>
          </a:prstGeom>
          <a:solidFill>
            <a:srgbClr val="845AD9">
              <a:alpha val="19380"/>
            </a:srgbClr>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8" name="Google Shape;998;p79"/>
          <p:cNvSpPr txBox="1"/>
          <p:nvPr/>
        </p:nvSpPr>
        <p:spPr>
          <a:xfrm>
            <a:off x="1286800" y="2458200"/>
            <a:ext cx="1272300" cy="40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a:t>
            </a:r>
            <a:r>
              <a:rPr lang="en-GB" sz="1800">
                <a:solidFill>
                  <a:schemeClr val="dk1"/>
                </a:solidFill>
                <a:latin typeface="Lexend"/>
                <a:ea typeface="Lexend"/>
                <a:cs typeface="Lexend"/>
                <a:sym typeface="Lexend"/>
              </a:rPr>
              <a:t>implify to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999" name="Google Shape;999;p79"/>
          <p:cNvSpPr txBox="1"/>
          <p:nvPr/>
        </p:nvSpPr>
        <p:spPr>
          <a:xfrm>
            <a:off x="2768050" y="2458200"/>
            <a:ext cx="2944800" cy="40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or</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1000" name="Google Shape;1000;p79"/>
          <p:cNvSpPr txBox="1"/>
          <p:nvPr/>
        </p:nvSpPr>
        <p:spPr>
          <a:xfrm>
            <a:off x="3254725" y="2458200"/>
            <a:ext cx="2610600" cy="40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graphicFrame>
        <p:nvGraphicFramePr>
          <p:cNvPr id="1005" name="Google Shape;1005;p80"/>
          <p:cNvGraphicFramePr/>
          <p:nvPr/>
        </p:nvGraphicFramePr>
        <p:xfrm>
          <a:off x="893050" y="1080000"/>
          <a:ext cx="3000000" cy="3000000"/>
        </p:xfrm>
        <a:graphic>
          <a:graphicData uri="http://schemas.openxmlformats.org/drawingml/2006/table">
            <a:tbl>
              <a:tblPr>
                <a:noFill/>
                <a:tableStyleId>{C3776096-0775-4DA8-89EA-AE61684651AC}</a:tableStyleId>
              </a:tblPr>
              <a:tblGrid>
                <a:gridCol w="722225"/>
                <a:gridCol w="722225"/>
                <a:gridCol w="722225"/>
                <a:gridCol w="722225"/>
                <a:gridCol w="722225"/>
                <a:gridCol w="722225"/>
                <a:gridCol w="722225"/>
                <a:gridCol w="722225"/>
                <a:gridCol w="722225"/>
                <a:gridCol w="722225"/>
              </a:tblGrid>
              <a:tr h="748075">
                <a:tc>
                  <a:txBody>
                    <a:bodyPr/>
                    <a:lstStyle/>
                    <a:p>
                      <a:pPr indent="0" lvl="0" marL="0" rtl="0" algn="l">
                        <a:spcBef>
                          <a:spcPts val="0"/>
                        </a:spcBef>
                        <a:spcAft>
                          <a:spcPts val="0"/>
                        </a:spcAft>
                        <a:buNone/>
                      </a:pPr>
                      <a:r>
                        <a:rPr lang="en-GB" sz="1800">
                          <a:latin typeface="Lexend"/>
                          <a:ea typeface="Lexend"/>
                          <a:cs typeface="Lexend"/>
                          <a:sym typeface="Lexend"/>
                        </a:rPr>
                        <a:t>START</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480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480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480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480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006" name="Google Shape;1006;p8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t>Simplifying fractions using factor pairs</a:t>
            </a:r>
            <a:endParaRPr sz="1800"/>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
        <p:nvSpPr>
          <p:cNvPr id="1007" name="Google Shape;1007;p80"/>
          <p:cNvSpPr txBox="1"/>
          <p:nvPr>
            <p:ph idx="1" type="body"/>
          </p:nvPr>
        </p:nvSpPr>
        <p:spPr>
          <a:xfrm>
            <a:off x="324000" y="689720"/>
            <a:ext cx="8496000" cy="508200"/>
          </a:xfrm>
          <a:prstGeom prst="rect">
            <a:avLst/>
          </a:prstGeom>
        </p:spPr>
        <p:txBody>
          <a:bodyPr anchorCtr="0" anchor="t" bIns="0" lIns="0" spcFirstLastPara="1" rIns="0" wrap="square" tIns="0">
            <a:noAutofit/>
          </a:bodyPr>
          <a:lstStyle/>
          <a:p>
            <a:pPr indent="-342900" lvl="0" marL="457200" rtl="0" algn="l">
              <a:lnSpc>
                <a:spcPct val="40000"/>
              </a:lnSpc>
              <a:spcBef>
                <a:spcPts val="0"/>
              </a:spcBef>
              <a:spcAft>
                <a:spcPts val="0"/>
              </a:spcAft>
              <a:buSzPts val="1800"/>
              <a:buAutoNum type="arabicParenR"/>
            </a:pPr>
            <a:r>
              <a:rPr lang="en-GB" sz="1800"/>
              <a:t>Find your way through the maze by simplifying the fractions.</a:t>
            </a:r>
            <a:endParaRPr sz="1800"/>
          </a:p>
          <a:p>
            <a:pPr indent="457200" lvl="0" marL="0" rtl="0" algn="l">
              <a:lnSpc>
                <a:spcPct val="40000"/>
              </a:lnSpc>
              <a:spcBef>
                <a:spcPts val="1000"/>
              </a:spcBef>
              <a:spcAft>
                <a:spcPts val="1000"/>
              </a:spcAft>
              <a:buClr>
                <a:schemeClr val="dk1"/>
              </a:buClr>
              <a:buSzPts val="1100"/>
              <a:buFont typeface="Arial"/>
              <a:buNone/>
            </a:pPr>
            <a:r>
              <a:rPr lang="en-GB" sz="1800"/>
              <a:t>What simplified fraction should go in the end box?</a:t>
            </a:r>
            <a:endParaRPr sz="1800"/>
          </a:p>
        </p:txBody>
      </p:sp>
      <p:pic>
        <p:nvPicPr>
          <p:cNvPr descr="&lt;math xmlns=&quot;http://www.w3.org/1998/Math/MathML&quot; display=&quot;block&quot; data-is-equatio=&quot;1&quot; data-latex=&quot;\frac{12}{30}&quot;&gt;&lt;mfrac&gt;&lt;mn&gt;12&lt;/mn&gt;&lt;mn&gt;30&lt;/mn&gt;&lt;/mfrac&gt;&lt;/math&gt;" id="1008" name="Google Shape;1008;p80" title="12 over 30"/>
          <p:cNvPicPr preferRelativeResize="0"/>
          <p:nvPr/>
        </p:nvPicPr>
        <p:blipFill>
          <a:blip r:embed="rId3">
            <a:alphaModFix/>
          </a:blip>
          <a:stretch>
            <a:fillRect/>
          </a:stretch>
        </p:blipFill>
        <p:spPr>
          <a:xfrm>
            <a:off x="1107150" y="1358726"/>
            <a:ext cx="242400" cy="44925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09" name="Google Shape;1009;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66269" r="29323" t="0"/>
          <a:stretch/>
        </p:blipFill>
        <p:spPr>
          <a:xfrm>
            <a:off x="1644658" y="1883560"/>
            <a:ext cx="194374" cy="443734"/>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0" name="Google Shape;1010;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10" l="77228" r="16008" t="0"/>
          <a:stretch/>
        </p:blipFill>
        <p:spPr>
          <a:xfrm>
            <a:off x="6347125" y="1321334"/>
            <a:ext cx="320311" cy="476481"/>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1" name="Google Shape;1011;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70612" r="22624" t="0"/>
          <a:stretch/>
        </p:blipFill>
        <p:spPr>
          <a:xfrm>
            <a:off x="5943601" y="1100092"/>
            <a:ext cx="320373"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2" name="Google Shape;1012;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66144" r="29448" t="0"/>
          <a:stretch/>
        </p:blipFill>
        <p:spPr>
          <a:xfrm>
            <a:off x="5734824" y="1328943"/>
            <a:ext cx="208774"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3" name="Google Shape;1013;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59534" r="33976" t="0"/>
          <a:stretch/>
        </p:blipFill>
        <p:spPr>
          <a:xfrm>
            <a:off x="5219701" y="1100092"/>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4" name="Google Shape;1014;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53243" r="39993" t="0"/>
          <a:stretch/>
        </p:blipFill>
        <p:spPr>
          <a:xfrm>
            <a:off x="4899321" y="1328930"/>
            <a:ext cx="320373" cy="476625"/>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5" name="Google Shape;1015;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46994" r="46515" t="0"/>
          <a:stretch/>
        </p:blipFill>
        <p:spPr>
          <a:xfrm>
            <a:off x="4495800" y="1100092"/>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6" name="Google Shape;1016;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40726" r="52784" t="0"/>
          <a:stretch/>
        </p:blipFill>
        <p:spPr>
          <a:xfrm>
            <a:off x="4205663" y="1328930"/>
            <a:ext cx="307451" cy="476625"/>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7" name="Google Shape;1017;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35711" r="59171" t="0"/>
          <a:stretch/>
        </p:blipFill>
        <p:spPr>
          <a:xfrm>
            <a:off x="3781675" y="1100092"/>
            <a:ext cx="242399"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8" name="Google Shape;1018;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29750" r="63759" t="0"/>
          <a:stretch/>
        </p:blipFill>
        <p:spPr>
          <a:xfrm>
            <a:off x="3464450" y="1328943"/>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19" name="Google Shape;1019;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23400" r="70109" t="0"/>
          <a:stretch/>
        </p:blipFill>
        <p:spPr>
          <a:xfrm>
            <a:off x="3048000" y="1100092"/>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20" name="Google Shape;1020;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16638" r="76871" t="0"/>
          <a:stretch/>
        </p:blipFill>
        <p:spPr>
          <a:xfrm>
            <a:off x="2697975" y="1328943"/>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21" name="Google Shape;1021;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0" r="96783" t="0"/>
          <a:stretch/>
        </p:blipFill>
        <p:spPr>
          <a:xfrm>
            <a:off x="1648230" y="1100092"/>
            <a:ext cx="152400"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22" name="Google Shape;1022;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4105" r="90197" t="0"/>
          <a:stretch/>
        </p:blipFill>
        <p:spPr>
          <a:xfrm>
            <a:off x="2020050" y="1328943"/>
            <a:ext cx="269876"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23" name="Google Shape;1023;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10081" r="83428" t="0"/>
          <a:stretch/>
        </p:blipFill>
        <p:spPr>
          <a:xfrm>
            <a:off x="2314325" y="1100092"/>
            <a:ext cx="307451" cy="47660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024" name="Google Shape;1024;p80" title="one third 24 over 70 12 over 35 17 over 34"/>
          <p:cNvPicPr preferRelativeResize="0"/>
          <p:nvPr/>
        </p:nvPicPr>
        <p:blipFill rotWithShape="1">
          <a:blip r:embed="rId5">
            <a:alphaModFix/>
          </a:blip>
          <a:srcRect b="0" l="76893" r="0" t="0"/>
          <a:stretch/>
        </p:blipFill>
        <p:spPr>
          <a:xfrm>
            <a:off x="7818756" y="1354081"/>
            <a:ext cx="269875" cy="446199"/>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025" name="Google Shape;1025;p80" title="one third 24 over 70 12 over 35 17 over 34"/>
          <p:cNvPicPr preferRelativeResize="0"/>
          <p:nvPr/>
        </p:nvPicPr>
        <p:blipFill rotWithShape="1">
          <a:blip r:embed="rId5">
            <a:alphaModFix/>
          </a:blip>
          <a:srcRect b="0" l="49069" r="27823" t="0"/>
          <a:stretch/>
        </p:blipFill>
        <p:spPr>
          <a:xfrm>
            <a:off x="7404325" y="1100092"/>
            <a:ext cx="307450" cy="50830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026" name="Google Shape;1026;p80" title="one third 24 over 70 12 over 35 17 over 34"/>
          <p:cNvPicPr preferRelativeResize="0"/>
          <p:nvPr/>
        </p:nvPicPr>
        <p:blipFill rotWithShape="1">
          <a:blip r:embed="rId5">
            <a:alphaModFix/>
          </a:blip>
          <a:srcRect b="0" l="17148" r="54350" t="0"/>
          <a:stretch/>
        </p:blipFill>
        <p:spPr>
          <a:xfrm>
            <a:off x="7023730" y="1336478"/>
            <a:ext cx="351000" cy="47050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027" name="Google Shape;1027;p80" title="one third 24 over 70 12 over 35 17 over 34"/>
          <p:cNvPicPr preferRelativeResize="0"/>
          <p:nvPr/>
        </p:nvPicPr>
        <p:blipFill rotWithShape="1">
          <a:blip r:embed="rId5">
            <a:alphaModFix/>
          </a:blip>
          <a:srcRect b="0" l="0" r="84309" t="0"/>
          <a:stretch/>
        </p:blipFill>
        <p:spPr>
          <a:xfrm>
            <a:off x="6680425" y="1100092"/>
            <a:ext cx="208775" cy="50830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28" name="Google Shape;1028;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5855" r="88040" t="0"/>
          <a:stretch/>
        </p:blipFill>
        <p:spPr>
          <a:xfrm>
            <a:off x="1325751" y="2093655"/>
            <a:ext cx="269877"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29" name="Google Shape;1029;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12679" r="80074" t="0"/>
          <a:stretch/>
        </p:blipFill>
        <p:spPr>
          <a:xfrm>
            <a:off x="1942614" y="2093655"/>
            <a:ext cx="320374"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0" name="Google Shape;1030;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20159" r="74358" t="0"/>
          <a:stretch/>
        </p:blipFill>
        <p:spPr>
          <a:xfrm>
            <a:off x="2346852" y="1881850"/>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1" name="Google Shape;1031;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25634" r="67120" t="0"/>
          <a:stretch/>
        </p:blipFill>
        <p:spPr>
          <a:xfrm>
            <a:off x="2662165" y="2093655"/>
            <a:ext cx="320374"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2" name="Google Shape;1032;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32409" r="61486" t="0"/>
          <a:stretch/>
        </p:blipFill>
        <p:spPr>
          <a:xfrm>
            <a:off x="3052278" y="1881850"/>
            <a:ext cx="269877"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3" name="Google Shape;1033;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38721" r="54032" t="0"/>
          <a:stretch/>
        </p:blipFill>
        <p:spPr>
          <a:xfrm>
            <a:off x="3405804" y="2093655"/>
            <a:ext cx="320374"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4" name="Google Shape;1034;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46085" r="48432" t="0"/>
          <a:stretch/>
        </p:blipFill>
        <p:spPr>
          <a:xfrm>
            <a:off x="3783167" y="1881850"/>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5" name="Google Shape;1035;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51716" r="38601" t="0"/>
          <a:stretch/>
        </p:blipFill>
        <p:spPr>
          <a:xfrm>
            <a:off x="5432392" y="2093655"/>
            <a:ext cx="428125"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6" name="Google Shape;1036;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62240" r="33038" t="0"/>
          <a:stretch/>
        </p:blipFill>
        <p:spPr>
          <a:xfrm>
            <a:off x="5943606" y="1881850"/>
            <a:ext cx="208776"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7" name="Google Shape;1037;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87550" r="6967" t="0"/>
          <a:stretch/>
        </p:blipFill>
        <p:spPr>
          <a:xfrm>
            <a:off x="7379676" y="1881850"/>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8" name="Google Shape;1038;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93896" r="0" t="0"/>
          <a:stretch/>
        </p:blipFill>
        <p:spPr>
          <a:xfrm>
            <a:off x="7788898" y="2093655"/>
            <a:ext cx="269877"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39" name="Google Shape;1039;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0" r="95278" t="0"/>
          <a:stretch/>
        </p:blipFill>
        <p:spPr>
          <a:xfrm>
            <a:off x="909836" y="1881850"/>
            <a:ext cx="208776"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40" name="Google Shape;1040;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80650" r="12103" t="0"/>
          <a:stretch/>
        </p:blipFill>
        <p:spPr>
          <a:xfrm>
            <a:off x="7010439" y="2093655"/>
            <a:ext cx="320374"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41" name="Google Shape;1041;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75233" r="20044" t="0"/>
          <a:stretch/>
        </p:blipFill>
        <p:spPr>
          <a:xfrm>
            <a:off x="6661639" y="1881850"/>
            <a:ext cx="208776"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42" name="Google Shape;1042;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67643" r="25110" t="0"/>
          <a:stretch/>
        </p:blipFill>
        <p:spPr>
          <a:xfrm>
            <a:off x="6288224" y="2093655"/>
            <a:ext cx="320374"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43" name="Google Shape;1043;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0" r="95239" t="0"/>
          <a:stretch/>
        </p:blipFill>
        <p:spPr>
          <a:xfrm>
            <a:off x="4126363" y="2093655"/>
            <a:ext cx="307450" cy="44925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44" name="Google Shape;1044;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35711" r="59171" t="0"/>
          <a:stretch/>
        </p:blipFill>
        <p:spPr>
          <a:xfrm>
            <a:off x="3072700" y="2599900"/>
            <a:ext cx="242375" cy="476536"/>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045" name="Google Shape;1045;p80"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66144" r="29448" t="0"/>
          <a:stretch/>
        </p:blipFill>
        <p:spPr>
          <a:xfrm>
            <a:off x="909838" y="3366303"/>
            <a:ext cx="208774" cy="47660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46" name="Google Shape;1046;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32409" r="61486" t="0"/>
          <a:stretch/>
        </p:blipFill>
        <p:spPr>
          <a:xfrm>
            <a:off x="1608603" y="3357116"/>
            <a:ext cx="269877"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47" name="Google Shape;1047;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46085" r="48432" t="0"/>
          <a:stretch/>
        </p:blipFill>
        <p:spPr>
          <a:xfrm>
            <a:off x="5241405" y="3358428"/>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48" name="Google Shape;1048;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46085" r="48432" t="0"/>
          <a:stretch/>
        </p:blipFill>
        <p:spPr>
          <a:xfrm>
            <a:off x="3041414" y="4111913"/>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49" name="Google Shape;1049;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46085" r="48432" t="0"/>
          <a:stretch/>
        </p:blipFill>
        <p:spPr>
          <a:xfrm>
            <a:off x="7398239" y="2607147"/>
            <a:ext cx="242401" cy="44925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050" name="Google Shape;1050;p80" title="one third 24 over 70 12 over 35 17 over 34"/>
          <p:cNvPicPr preferRelativeResize="0"/>
          <p:nvPr/>
        </p:nvPicPr>
        <p:blipFill rotWithShape="1">
          <a:blip r:embed="rId5">
            <a:alphaModFix/>
          </a:blip>
          <a:srcRect b="0" l="0" r="84309" t="0"/>
          <a:stretch/>
        </p:blipFill>
        <p:spPr>
          <a:xfrm>
            <a:off x="5950297" y="4111563"/>
            <a:ext cx="208775" cy="50830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1" name="Google Shape;1051;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4241" r="91579" t="0"/>
          <a:stretch/>
        </p:blipFill>
        <p:spPr>
          <a:xfrm>
            <a:off x="4487600" y="1881850"/>
            <a:ext cx="269874"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2" name="Google Shape;1052;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8282" r="86757" t="0"/>
          <a:stretch/>
        </p:blipFill>
        <p:spPr>
          <a:xfrm>
            <a:off x="4847012" y="2093655"/>
            <a:ext cx="320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3" name="Google Shape;1053;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17313" r="78932" t="0"/>
          <a:stretch/>
        </p:blipFill>
        <p:spPr>
          <a:xfrm>
            <a:off x="882911" y="2607147"/>
            <a:ext cx="242399"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4" name="Google Shape;1054;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20886" r="74153" t="0"/>
          <a:stretch/>
        </p:blipFill>
        <p:spPr>
          <a:xfrm>
            <a:off x="1615297" y="2607147"/>
            <a:ext cx="320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5" name="Google Shape;1055;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94565" r="0" t="0"/>
          <a:stretch/>
        </p:blipFill>
        <p:spPr>
          <a:xfrm>
            <a:off x="7773150" y="2853750"/>
            <a:ext cx="35100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6" name="Google Shape;1056;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89153" r="6085" t="0"/>
          <a:stretch/>
        </p:blipFill>
        <p:spPr>
          <a:xfrm>
            <a:off x="7082399" y="2853750"/>
            <a:ext cx="30745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7" name="Google Shape;1057;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85002" r="11245" t="0"/>
          <a:stretch/>
        </p:blipFill>
        <p:spPr>
          <a:xfrm>
            <a:off x="6674424" y="2607147"/>
            <a:ext cx="242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8" name="Google Shape;1058;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76328" r="20439" t="0"/>
          <a:stretch/>
        </p:blipFill>
        <p:spPr>
          <a:xfrm>
            <a:off x="5949999" y="2607147"/>
            <a:ext cx="208776"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59" name="Google Shape;1059;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79416" r="15148" t="0"/>
          <a:stretch/>
        </p:blipFill>
        <p:spPr>
          <a:xfrm>
            <a:off x="6334987" y="2853750"/>
            <a:ext cx="35100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0" name="Google Shape;1060;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63555" r="31483" t="0"/>
          <a:stretch/>
        </p:blipFill>
        <p:spPr>
          <a:xfrm>
            <a:off x="5259458" y="2607147"/>
            <a:ext cx="320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1" name="Google Shape;1061;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56940" r="36431" t="0"/>
          <a:stretch/>
        </p:blipFill>
        <p:spPr>
          <a:xfrm>
            <a:off x="4786623" y="2853750"/>
            <a:ext cx="42812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2" name="Google Shape;1062;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69249" r="24122" t="0"/>
          <a:stretch/>
        </p:blipFill>
        <p:spPr>
          <a:xfrm>
            <a:off x="5510451" y="2853750"/>
            <a:ext cx="42812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3" name="Google Shape;1063;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52804" r="43016" t="0"/>
          <a:stretch/>
        </p:blipFill>
        <p:spPr>
          <a:xfrm>
            <a:off x="4510530" y="2607147"/>
            <a:ext cx="269874"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4" name="Google Shape;1064;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48132" r="47106" t="0"/>
          <a:stretch/>
        </p:blipFill>
        <p:spPr>
          <a:xfrm>
            <a:off x="4212925" y="2853750"/>
            <a:ext cx="30745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5" name="Google Shape;1065;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42325" r="52714" t="0"/>
          <a:stretch/>
        </p:blipFill>
        <p:spPr>
          <a:xfrm>
            <a:off x="3752623" y="2607147"/>
            <a:ext cx="320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6" name="Google Shape;1066;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37327" r="57912" t="0"/>
          <a:stretch/>
        </p:blipFill>
        <p:spPr>
          <a:xfrm>
            <a:off x="3437137" y="2853750"/>
            <a:ext cx="30745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7" name="Google Shape;1067;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31422" r="63142" t="0"/>
          <a:stretch/>
        </p:blipFill>
        <p:spPr>
          <a:xfrm>
            <a:off x="2328676" y="2607147"/>
            <a:ext cx="351024"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68" name="Google Shape;1068;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25711" r="68417" t="0"/>
          <a:stretch/>
        </p:blipFill>
        <p:spPr>
          <a:xfrm>
            <a:off x="1940250" y="2853750"/>
            <a:ext cx="379202"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69" name="Google Shape;1069;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0" r="94549" t="0"/>
          <a:stretch/>
        </p:blipFill>
        <p:spPr>
          <a:xfrm>
            <a:off x="1296020" y="2853750"/>
            <a:ext cx="30745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70" name="Google Shape;1070;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75233" r="20044" t="0"/>
          <a:stretch/>
        </p:blipFill>
        <p:spPr>
          <a:xfrm>
            <a:off x="5943289" y="3363041"/>
            <a:ext cx="20877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1" name="Google Shape;1071;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5535" r="88784" t="0"/>
          <a:stretch/>
        </p:blipFill>
        <p:spPr>
          <a:xfrm>
            <a:off x="1289563" y="3605918"/>
            <a:ext cx="320377"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2" name="Google Shape;1072;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11878" r="82441" t="0"/>
          <a:stretch/>
        </p:blipFill>
        <p:spPr>
          <a:xfrm>
            <a:off x="1994801" y="3605918"/>
            <a:ext cx="320377"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3" name="Google Shape;1073;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17876" r="77826" t="0"/>
          <a:stretch/>
        </p:blipFill>
        <p:spPr>
          <a:xfrm>
            <a:off x="2342052" y="3357116"/>
            <a:ext cx="242375"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4" name="Google Shape;1074;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21648" r="72129" t="0"/>
          <a:stretch/>
        </p:blipFill>
        <p:spPr>
          <a:xfrm>
            <a:off x="2700027" y="3603768"/>
            <a:ext cx="351001"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5" name="Google Shape;1075;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34413" r="60136" t="0"/>
          <a:stretch/>
        </p:blipFill>
        <p:spPr>
          <a:xfrm>
            <a:off x="3464465" y="3594791"/>
            <a:ext cx="307451"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6" name="Google Shape;1076;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39620" r="55594" t="0"/>
          <a:stretch/>
        </p:blipFill>
        <p:spPr>
          <a:xfrm>
            <a:off x="3775953" y="3376491"/>
            <a:ext cx="26987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7" name="Google Shape;1077;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322090" l="6069" r="-6069" t="322090"/>
          <a:stretch/>
        </p:blipFill>
        <p:spPr>
          <a:xfrm>
            <a:off x="1243675" y="5766963"/>
            <a:ext cx="5640834"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8" name="Google Shape;1078;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50042" r="43235" t="0"/>
          <a:stretch/>
        </p:blipFill>
        <p:spPr>
          <a:xfrm>
            <a:off x="4495654" y="3379978"/>
            <a:ext cx="379199"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79" name="Google Shape;1079;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56347" r="37973" t="0"/>
          <a:stretch/>
        </p:blipFill>
        <p:spPr>
          <a:xfrm>
            <a:off x="4886973" y="3590518"/>
            <a:ext cx="320377"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80" name="Google Shape;1080;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62826" r="29583" t="0"/>
          <a:stretch/>
        </p:blipFill>
        <p:spPr>
          <a:xfrm>
            <a:off x="5506598" y="3586393"/>
            <a:ext cx="428125"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81" name="Google Shape;1081;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82604" r="11172" t="0"/>
          <a:stretch/>
        </p:blipFill>
        <p:spPr>
          <a:xfrm>
            <a:off x="7043298" y="3583831"/>
            <a:ext cx="35102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82" name="Google Shape;1082;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44413" r="49364" t="0"/>
          <a:stretch/>
        </p:blipFill>
        <p:spPr>
          <a:xfrm>
            <a:off x="4147841" y="3586381"/>
            <a:ext cx="351001"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83" name="Google Shape;1083;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95215" r="0" t="0"/>
          <a:stretch/>
        </p:blipFill>
        <p:spPr>
          <a:xfrm>
            <a:off x="7841084" y="3605918"/>
            <a:ext cx="26987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84" name="Google Shape;1084;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88842" r="4934" t="0"/>
          <a:stretch/>
        </p:blipFill>
        <p:spPr>
          <a:xfrm>
            <a:off x="7390954" y="3357978"/>
            <a:ext cx="35102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085" name="Google Shape;1085;p80"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77001" r="17547" t="0"/>
          <a:stretch/>
        </p:blipFill>
        <p:spPr>
          <a:xfrm>
            <a:off x="6667130" y="3357291"/>
            <a:ext cx="30745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086" name="Google Shape;1086;p80"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75233" r="20044" t="0"/>
          <a:stretch/>
        </p:blipFill>
        <p:spPr>
          <a:xfrm>
            <a:off x="1615286" y="4111913"/>
            <a:ext cx="208776"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087" name="Google Shape;1087;p80"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52804" r="43016" t="0"/>
          <a:stretch/>
        </p:blipFill>
        <p:spPr>
          <a:xfrm>
            <a:off x="3782655" y="4111900"/>
            <a:ext cx="269874" cy="4492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88" name="Google Shape;1088;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0" r="96298" t="0"/>
          <a:stretch/>
        </p:blipFill>
        <p:spPr>
          <a:xfrm>
            <a:off x="916533" y="4105263"/>
            <a:ext cx="208776"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89" name="Google Shape;1089;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3915" r="90634" t="0"/>
          <a:stretch/>
        </p:blipFill>
        <p:spPr>
          <a:xfrm>
            <a:off x="1289576" y="4332593"/>
            <a:ext cx="307450"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0" name="Google Shape;1090;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15512" r="79703" t="0"/>
          <a:stretch/>
        </p:blipFill>
        <p:spPr>
          <a:xfrm>
            <a:off x="2340295" y="4111913"/>
            <a:ext cx="269876"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1" name="Google Shape;1091;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9689" r="84087" t="0"/>
          <a:stretch/>
        </p:blipFill>
        <p:spPr>
          <a:xfrm>
            <a:off x="1954343" y="4332593"/>
            <a:ext cx="351025"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2" name="Google Shape;1092;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19999" r="73277" t="0"/>
          <a:stretch/>
        </p:blipFill>
        <p:spPr>
          <a:xfrm>
            <a:off x="2662698" y="4332593"/>
            <a:ext cx="379199"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3" name="Google Shape;1093;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41544" r="51733" t="0"/>
          <a:stretch/>
        </p:blipFill>
        <p:spPr>
          <a:xfrm>
            <a:off x="4107571" y="4314018"/>
            <a:ext cx="379199"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4" name="Google Shape;1094;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31384" r="62935" t="0"/>
          <a:stretch/>
        </p:blipFill>
        <p:spPr>
          <a:xfrm>
            <a:off x="3458009" y="4336768"/>
            <a:ext cx="320373"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5" name="Google Shape;1095;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54170" r="39607" t="0"/>
          <a:stretch/>
        </p:blipFill>
        <p:spPr>
          <a:xfrm>
            <a:off x="4886944" y="4331495"/>
            <a:ext cx="351001"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6" name="Google Shape;1096;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61935" r="32613" t="0"/>
          <a:stretch/>
        </p:blipFill>
        <p:spPr>
          <a:xfrm>
            <a:off x="5611324" y="4325379"/>
            <a:ext cx="307450"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7" name="Google Shape;1097;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10" l="68147" r="24262" t="0"/>
          <a:stretch/>
        </p:blipFill>
        <p:spPr>
          <a:xfrm>
            <a:off x="6224744" y="4311908"/>
            <a:ext cx="428127" cy="462525"/>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8" name="Google Shape;1098;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95215" r="0" t="0"/>
          <a:stretch/>
        </p:blipFill>
        <p:spPr>
          <a:xfrm>
            <a:off x="6389275" y="3577193"/>
            <a:ext cx="269876"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099" name="Google Shape;1099;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10" l="82311" r="11465" t="0"/>
          <a:stretch/>
        </p:blipFill>
        <p:spPr>
          <a:xfrm>
            <a:off x="7014462" y="4315068"/>
            <a:ext cx="351025" cy="462525"/>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100" name="Google Shape;1100;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47870" r="45906" t="0"/>
          <a:stretch/>
        </p:blipFill>
        <p:spPr>
          <a:xfrm>
            <a:off x="4518055" y="4116625"/>
            <a:ext cx="351025"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101" name="Google Shape;1101;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37727" r="58571" t="0"/>
          <a:stretch/>
        </p:blipFill>
        <p:spPr>
          <a:xfrm>
            <a:off x="5236803" y="4111913"/>
            <a:ext cx="208776"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102" name="Google Shape;1102;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76026" r="18294" t="0"/>
          <a:stretch/>
        </p:blipFill>
        <p:spPr>
          <a:xfrm>
            <a:off x="6674423" y="4118013"/>
            <a:ext cx="320373"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103" name="Google Shape;1103;p80"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10" l="88330" r="5446" t="0"/>
          <a:stretch/>
        </p:blipFill>
        <p:spPr>
          <a:xfrm>
            <a:off x="2685001" y="2853750"/>
            <a:ext cx="351001" cy="462525"/>
          </a:xfrm>
          <a:prstGeom prst="rect">
            <a:avLst/>
          </a:prstGeom>
          <a:noFill/>
          <a:ln>
            <a:noFill/>
          </a:ln>
        </p:spPr>
      </p:pic>
      <p:sp>
        <p:nvSpPr>
          <p:cNvPr id="1104" name="Google Shape;1104;p80"/>
          <p:cNvSpPr txBox="1"/>
          <p:nvPr/>
        </p:nvSpPr>
        <p:spPr>
          <a:xfrm>
            <a:off x="7444550" y="4454609"/>
            <a:ext cx="68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END</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frac{3}{20}\\&amp;#13;&amp;#10;\frac{8}{10}\end{array}\begin{array}{l}\\&amp;#13;&amp;#10;\end{array}&quot;&gt;&lt;mtable columnalign=&quot;left&quot; columnspacing=&quot;1em&quot; rowspacing=&quot;4pt&quot;&gt;&lt;mtr&gt;&lt;mtd&gt;&lt;mfrac&gt;&lt;mn&gt;3&lt;/mn&gt;&lt;mn&gt;20&lt;/mn&gt;&lt;/mfrac&gt;&lt;/mtd&gt;&lt;/mtr&gt;&lt;mtr&gt;&lt;mtd&gt;&lt;mfrac&gt;&lt;mn&gt;8&lt;/mn&gt;&lt;mn&gt;10&lt;/mn&gt;&lt;/mfrac&gt;&lt;/mtd&gt;&lt;/mtr&gt;&lt;/mtable&gt;&lt;mtable columnalign=&quot;left&quot; columnspacing=&quot;1em&quot; rowspacing=&quot;4pt&quot;&gt;&lt;mtr&gt;&lt;mtd/&gt;&lt;/mtr&gt;&lt;/mtable&gt;&lt;/math&gt;" id="1105" name="Google Shape;1105;p80" title="2 lines Line 1: 3 over 20 Line 2: eight tenths 1 lines Line 1: blank"/>
          <p:cNvPicPr preferRelativeResize="0"/>
          <p:nvPr/>
        </p:nvPicPr>
        <p:blipFill rotWithShape="1">
          <a:blip r:embed="rId10">
            <a:alphaModFix/>
          </a:blip>
          <a:srcRect b="48948" l="0" r="0" t="0"/>
          <a:stretch/>
        </p:blipFill>
        <p:spPr>
          <a:xfrm>
            <a:off x="5230875" y="1869400"/>
            <a:ext cx="242400" cy="461700"/>
          </a:xfrm>
          <a:prstGeom prst="rect">
            <a:avLst/>
          </a:prstGeom>
          <a:noFill/>
          <a:ln>
            <a:noFill/>
          </a:ln>
        </p:spPr>
      </p:pic>
      <p:pic>
        <p:nvPicPr>
          <p:cNvPr descr="&lt;math xmlns=&quot;http://www.w3.org/1998/Math/MathML&quot; display=&quot;block&quot; data-is-equatio=&quot;1&quot; data-latex=&quot;\begin{array}{l}\frac{3}{20}\\&amp;#13;&amp;#10;\frac{8}{10}\end{array}\begin{array}{l}\\&amp;#13;&amp;#10;\end{array}&quot;&gt;&lt;mtable columnalign=&quot;left&quot; columnspacing=&quot;1em&quot; rowspacing=&quot;4pt&quot;&gt;&lt;mtr&gt;&lt;mtd&gt;&lt;mfrac&gt;&lt;mn&gt;3&lt;/mn&gt;&lt;mn&gt;20&lt;/mn&gt;&lt;/mfrac&gt;&lt;/mtd&gt;&lt;/mtr&gt;&lt;mtr&gt;&lt;mtd&gt;&lt;mfrac&gt;&lt;mn&gt;8&lt;/mn&gt;&lt;mn&gt;10&lt;/mn&gt;&lt;/mfrac&gt;&lt;/mtd&gt;&lt;/mtr&gt;&lt;/mtable&gt;&lt;mtable columnalign=&quot;left&quot; columnspacing=&quot;1em&quot; rowspacing=&quot;4pt&quot;&gt;&lt;mtr&gt;&lt;mtd/&gt;&lt;/mtr&gt;&lt;/mtable&gt;&lt;/math&gt;" id="1106" name="Google Shape;1106;p80" title="2 lines Line 1: 3 over 20 Line 2: eight tenths 1 lines Line 1: blank"/>
          <p:cNvPicPr preferRelativeResize="0"/>
          <p:nvPr/>
        </p:nvPicPr>
        <p:blipFill rotWithShape="1">
          <a:blip r:embed="rId10">
            <a:alphaModFix/>
          </a:blip>
          <a:srcRect b="0" l="0" r="0" t="48854"/>
          <a:stretch/>
        </p:blipFill>
        <p:spPr>
          <a:xfrm>
            <a:off x="3065674" y="3312098"/>
            <a:ext cx="269875" cy="514978"/>
          </a:xfrm>
          <a:prstGeom prst="rect">
            <a:avLst/>
          </a:prstGeom>
          <a:noFill/>
          <a:ln>
            <a:noFill/>
          </a:ln>
        </p:spPr>
      </p:pic>
      <p:sp>
        <p:nvSpPr>
          <p:cNvPr id="1107" name="Google Shape;1107;p80"/>
          <p:cNvSpPr/>
          <p:nvPr/>
        </p:nvSpPr>
        <p:spPr>
          <a:xfrm>
            <a:off x="882900" y="1079775"/>
            <a:ext cx="732300" cy="745800"/>
          </a:xfrm>
          <a:prstGeom prst="rect">
            <a:avLst/>
          </a:prstGeom>
          <a:solidFill>
            <a:srgbClr val="845AD9">
              <a:alpha val="19380"/>
            </a:srgbClr>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8" name="Google Shape;1108;p80"/>
          <p:cNvSpPr/>
          <p:nvPr/>
        </p:nvSpPr>
        <p:spPr>
          <a:xfrm>
            <a:off x="1626425" y="1079750"/>
            <a:ext cx="710100" cy="7458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8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Which fraction in each row does not simplify to the fraction in the first column?</a:t>
            </a:r>
            <a:endParaRPr/>
          </a:p>
          <a:p>
            <a:pPr indent="0" lvl="0" marL="0" rtl="0" algn="l">
              <a:lnSpc>
                <a:spcPct val="150000"/>
              </a:lnSpc>
              <a:spcBef>
                <a:spcPts val="1000"/>
              </a:spcBef>
              <a:spcAft>
                <a:spcPts val="0"/>
              </a:spcAft>
              <a:buNone/>
            </a:pPr>
            <a:r>
              <a:rPr lang="en-GB"/>
              <a:t>a)</a:t>
            </a:r>
            <a:endParaRPr/>
          </a:p>
          <a:p>
            <a:pPr indent="0" lvl="0" marL="0" rtl="0" algn="l">
              <a:lnSpc>
                <a:spcPct val="150000"/>
              </a:lnSpc>
              <a:spcBef>
                <a:spcPts val="1000"/>
              </a:spcBef>
              <a:spcAft>
                <a:spcPts val="0"/>
              </a:spcAft>
              <a:buNone/>
            </a:pPr>
            <a:r>
              <a:rPr lang="en-GB"/>
              <a:t>b)</a:t>
            </a:r>
            <a:endParaRPr/>
          </a:p>
          <a:p>
            <a:pPr indent="0" lvl="0" marL="0" rtl="0" algn="l">
              <a:lnSpc>
                <a:spcPct val="150000"/>
              </a:lnSpc>
              <a:spcBef>
                <a:spcPts val="1000"/>
              </a:spcBef>
              <a:spcAft>
                <a:spcPts val="0"/>
              </a:spcAft>
              <a:buNone/>
            </a:pPr>
            <a:r>
              <a:rPr lang="en-GB"/>
              <a:t>c)</a:t>
            </a:r>
            <a:endParaRPr/>
          </a:p>
          <a:p>
            <a:pPr indent="0" lvl="0" marL="0" rtl="0" algn="l">
              <a:lnSpc>
                <a:spcPct val="150000"/>
              </a:lnSpc>
              <a:spcBef>
                <a:spcPts val="1000"/>
              </a:spcBef>
              <a:spcAft>
                <a:spcPts val="0"/>
              </a:spcAft>
              <a:buNone/>
            </a:pPr>
            <a:r>
              <a:rPr lang="en-GB"/>
              <a:t>d)</a:t>
            </a:r>
            <a:endParaRPr/>
          </a:p>
          <a:p>
            <a:pPr indent="0" lvl="0" marL="0" rtl="0" algn="l">
              <a:lnSpc>
                <a:spcPct val="150000"/>
              </a:lnSpc>
              <a:spcBef>
                <a:spcPts val="1000"/>
              </a:spcBef>
              <a:spcAft>
                <a:spcPts val="1000"/>
              </a:spcAft>
              <a:buNone/>
            </a:pPr>
            <a:r>
              <a:rPr lang="en-GB"/>
              <a:t>e)</a:t>
            </a:r>
            <a:endParaRPr/>
          </a:p>
        </p:txBody>
      </p:sp>
      <p:sp>
        <p:nvSpPr>
          <p:cNvPr id="1114" name="Google Shape;1114;p8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Simplifying fractions using factor pairs</a:t>
            </a:r>
            <a:endParaRPr sz="1800"/>
          </a:p>
        </p:txBody>
      </p:sp>
      <p:graphicFrame>
        <p:nvGraphicFramePr>
          <p:cNvPr id="1115" name="Google Shape;1115;p81"/>
          <p:cNvGraphicFramePr/>
          <p:nvPr/>
        </p:nvGraphicFramePr>
        <p:xfrm>
          <a:off x="952500" y="1564207"/>
          <a:ext cx="3000000" cy="3000000"/>
        </p:xfrm>
        <a:graphic>
          <a:graphicData uri="http://schemas.openxmlformats.org/drawingml/2006/table">
            <a:tbl>
              <a:tblPr>
                <a:noFill/>
                <a:tableStyleId>{C3776096-0775-4DA8-89EA-AE61684651AC}</a:tableStyleId>
              </a:tblPr>
              <a:tblGrid>
                <a:gridCol w="1206500"/>
                <a:gridCol w="1206500"/>
                <a:gridCol w="1206500"/>
                <a:gridCol w="1206500"/>
                <a:gridCol w="1206500"/>
                <a:gridCol w="1206500"/>
              </a:tblGrid>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quot;&gt;&lt;mfrac&gt;&lt;mn&gt;1&lt;/mn&gt;&lt;mn&gt;4&lt;/mn&gt;&lt;/mfrac&gt;&lt;/math&gt;" id="1116" name="Google Shape;1116;p81" title="one fourth"/>
          <p:cNvPicPr preferRelativeResize="0"/>
          <p:nvPr/>
        </p:nvPicPr>
        <p:blipFill>
          <a:blip r:embed="rId3">
            <a:alphaModFix/>
          </a:blip>
          <a:stretch>
            <a:fillRect/>
          </a:stretch>
        </p:blipFill>
        <p:spPr>
          <a:xfrm>
            <a:off x="1487775" y="1586675"/>
            <a:ext cx="181345" cy="577770"/>
          </a:xfrm>
          <a:prstGeom prst="rect">
            <a:avLst/>
          </a:prstGeom>
          <a:noFill/>
          <a:ln>
            <a:noFill/>
          </a:ln>
        </p:spPr>
      </p:pic>
      <p:pic>
        <p:nvPicPr>
          <p:cNvPr descr="&lt;math xmlns=&quot;http://www.w3.org/1998/Math/MathML&quot; display=&quot;block&quot; data-is-equatio=&quot;1&quot; data-latex=&quot;\frac{3}{5}&quot;&gt;&lt;mfrac&gt;&lt;mn&gt;3&lt;/mn&gt;&lt;mn&gt;5&lt;/mn&gt;&lt;/mfrac&gt;&lt;/math&gt;" id="1117" name="Google Shape;1117;p81" title="three fifths"/>
          <p:cNvPicPr preferRelativeResize="0"/>
          <p:nvPr/>
        </p:nvPicPr>
        <p:blipFill>
          <a:blip r:embed="rId4">
            <a:alphaModFix/>
          </a:blip>
          <a:stretch>
            <a:fillRect/>
          </a:stretch>
        </p:blipFill>
        <p:spPr>
          <a:xfrm>
            <a:off x="1489885" y="2243025"/>
            <a:ext cx="177128" cy="569336"/>
          </a:xfrm>
          <a:prstGeom prst="rect">
            <a:avLst/>
          </a:prstGeom>
          <a:noFill/>
          <a:ln>
            <a:noFill/>
          </a:ln>
        </p:spPr>
      </p:pic>
      <p:pic>
        <p:nvPicPr>
          <p:cNvPr descr="&lt;math xmlns=&quot;http://www.w3.org/1998/Math/MathML&quot; display=&quot;block&quot; data-is-equatio=&quot;1&quot; data-latex=&quot;\frac{4}{9}&quot;&gt;&lt;mfrac&gt;&lt;mn&gt;4&lt;/mn&gt;&lt;mn&gt;9&lt;/mn&gt;&lt;/mfrac&gt;&lt;/math&gt;" id="1118" name="Google Shape;1118;p81" title="four ninths"/>
          <p:cNvPicPr preferRelativeResize="0"/>
          <p:nvPr/>
        </p:nvPicPr>
        <p:blipFill>
          <a:blip r:embed="rId5">
            <a:alphaModFix/>
          </a:blip>
          <a:stretch>
            <a:fillRect/>
          </a:stretch>
        </p:blipFill>
        <p:spPr>
          <a:xfrm>
            <a:off x="1489897" y="2872237"/>
            <a:ext cx="177128" cy="573553"/>
          </a:xfrm>
          <a:prstGeom prst="rect">
            <a:avLst/>
          </a:prstGeom>
          <a:noFill/>
          <a:ln>
            <a:noFill/>
          </a:ln>
        </p:spPr>
      </p:pic>
      <p:pic>
        <p:nvPicPr>
          <p:cNvPr descr="&lt;math xmlns=&quot;http://www.w3.org/1998/Math/MathML&quot; display=&quot;block&quot; data-is-equatio=&quot;1&quot; data-latex=&quot;\frac{7}{15}&quot;&gt;&lt;mfrac&gt;&lt;mn&gt;7&lt;/mn&gt;&lt;mn&gt;15&lt;/mn&gt;&lt;/mfrac&gt;&lt;/math&gt;" id="1119" name="Google Shape;1119;p81" title="7 over 15"/>
          <p:cNvPicPr preferRelativeResize="0"/>
          <p:nvPr/>
        </p:nvPicPr>
        <p:blipFill>
          <a:blip r:embed="rId6">
            <a:alphaModFix/>
          </a:blip>
          <a:stretch>
            <a:fillRect/>
          </a:stretch>
        </p:blipFill>
        <p:spPr>
          <a:xfrm>
            <a:off x="1420299" y="4165689"/>
            <a:ext cx="316299" cy="569336"/>
          </a:xfrm>
          <a:prstGeom prst="rect">
            <a:avLst/>
          </a:prstGeom>
          <a:noFill/>
          <a:ln>
            <a:noFill/>
          </a:ln>
        </p:spPr>
      </p:pic>
      <p:pic>
        <p:nvPicPr>
          <p:cNvPr descr="&lt;math xmlns=&quot;http://www.w3.org/1998/Math/MathML&quot; display=&quot;block&quot; data-is-equatio=&quot;1&quot; data-latex=&quot;\frac{5}{20}&quot;&gt;&lt;mfrac&gt;&lt;mn&gt;5&lt;/mn&gt;&lt;mn&gt;20&lt;/mn&gt;&lt;/mfrac&gt;&lt;/math&gt;" id="1120" name="Google Shape;1120;p81" title="5 over 20"/>
          <p:cNvPicPr preferRelativeResize="0"/>
          <p:nvPr/>
        </p:nvPicPr>
        <p:blipFill>
          <a:blip r:embed="rId7">
            <a:alphaModFix/>
          </a:blip>
          <a:stretch>
            <a:fillRect/>
          </a:stretch>
        </p:blipFill>
        <p:spPr>
          <a:xfrm>
            <a:off x="2614925" y="1627213"/>
            <a:ext cx="272270" cy="496707"/>
          </a:xfrm>
          <a:prstGeom prst="rect">
            <a:avLst/>
          </a:prstGeom>
          <a:noFill/>
          <a:ln>
            <a:noFill/>
          </a:ln>
        </p:spPr>
      </p:pic>
      <p:pic>
        <p:nvPicPr>
          <p:cNvPr descr="&lt;math xmlns=&quot;http://www.w3.org/1998/Math/MathML&quot; display=&quot;block&quot; data-is-equatio=&quot;1&quot; data-latex=&quot;\frac{12}{48}&quot;&gt;&lt;mfrac&gt;&lt;mn&gt;12&lt;/mn&gt;&lt;mn&gt;48&lt;/mn&gt;&lt;/mfrac&gt;&lt;/math&gt;" id="1121" name="Google Shape;1121;p81" title="12 over 48"/>
          <p:cNvPicPr preferRelativeResize="0"/>
          <p:nvPr/>
        </p:nvPicPr>
        <p:blipFill>
          <a:blip r:embed="rId8">
            <a:alphaModFix/>
          </a:blip>
          <a:stretch>
            <a:fillRect/>
          </a:stretch>
        </p:blipFill>
        <p:spPr>
          <a:xfrm>
            <a:off x="3833776" y="1623275"/>
            <a:ext cx="272270" cy="504605"/>
          </a:xfrm>
          <a:prstGeom prst="rect">
            <a:avLst/>
          </a:prstGeom>
          <a:noFill/>
          <a:ln>
            <a:noFill/>
          </a:ln>
        </p:spPr>
      </p:pic>
      <p:pic>
        <p:nvPicPr>
          <p:cNvPr descr="&lt;math xmlns=&quot;http://www.w3.org/1998/Math/MathML&quot; display=&quot;block&quot; data-is-equatio=&quot;1&quot; data-latex=&quot;\frac{8}{32}&quot;&gt;&lt;mfrac&gt;&lt;mn&gt;8&lt;/mn&gt;&lt;mn&gt;32&lt;/mn&gt;&lt;/mfrac&gt;&lt;/math&gt;" id="1122" name="Google Shape;1122;p81" title="8 over 32"/>
          <p:cNvPicPr preferRelativeResize="0"/>
          <p:nvPr/>
        </p:nvPicPr>
        <p:blipFill>
          <a:blip r:embed="rId9">
            <a:alphaModFix/>
          </a:blip>
          <a:stretch>
            <a:fillRect/>
          </a:stretch>
        </p:blipFill>
        <p:spPr>
          <a:xfrm>
            <a:off x="6256800" y="1616782"/>
            <a:ext cx="272270" cy="504605"/>
          </a:xfrm>
          <a:prstGeom prst="rect">
            <a:avLst/>
          </a:prstGeom>
          <a:noFill/>
          <a:ln>
            <a:noFill/>
          </a:ln>
        </p:spPr>
      </p:pic>
      <p:pic>
        <p:nvPicPr>
          <p:cNvPr descr="&lt;math xmlns=&quot;http://www.w3.org/1998/Math/MathML&quot; display=&quot;block&quot; data-is-equatio=&quot;1&quot; data-latex=&quot;\frac{15}{60}&quot;&gt;&lt;mfrac&gt;&lt;mn&gt;15&lt;/mn&gt;&lt;mn&gt;60&lt;/mn&gt;&lt;/mfrac&gt;&lt;/math&gt;" id="1123" name="Google Shape;1123;p81" title="15 over 60"/>
          <p:cNvPicPr preferRelativeResize="0"/>
          <p:nvPr/>
        </p:nvPicPr>
        <p:blipFill>
          <a:blip r:embed="rId10">
            <a:alphaModFix/>
          </a:blip>
          <a:stretch>
            <a:fillRect/>
          </a:stretch>
        </p:blipFill>
        <p:spPr>
          <a:xfrm>
            <a:off x="7432939" y="1627881"/>
            <a:ext cx="272270" cy="495378"/>
          </a:xfrm>
          <a:prstGeom prst="rect">
            <a:avLst/>
          </a:prstGeom>
          <a:noFill/>
          <a:ln>
            <a:noFill/>
          </a:ln>
        </p:spPr>
      </p:pic>
      <p:pic>
        <p:nvPicPr>
          <p:cNvPr descr="&lt;math xmlns=&quot;http://www.w3.org/1998/Math/MathML&quot; display=&quot;block&quot; data-is-equatio=&quot;1&quot; data-latex=&quot;\frac{4}{12}&quot;&gt;&lt;mfrac&gt;&lt;mn&gt;4&lt;/mn&gt;&lt;mn&gt;12&lt;/mn&gt;&lt;/mfrac&gt;&lt;/math&gt;" id="1124" name="Google Shape;1124;p81" title="4 over 12"/>
          <p:cNvPicPr preferRelativeResize="0"/>
          <p:nvPr/>
        </p:nvPicPr>
        <p:blipFill>
          <a:blip r:embed="rId11">
            <a:alphaModFix/>
          </a:blip>
          <a:stretch>
            <a:fillRect/>
          </a:stretch>
        </p:blipFill>
        <p:spPr>
          <a:xfrm>
            <a:off x="5052618" y="1599295"/>
            <a:ext cx="300298" cy="552545"/>
          </a:xfrm>
          <a:prstGeom prst="rect">
            <a:avLst/>
          </a:prstGeom>
          <a:noFill/>
          <a:ln>
            <a:noFill/>
          </a:ln>
        </p:spPr>
      </p:pic>
      <p:pic>
        <p:nvPicPr>
          <p:cNvPr descr="&lt;math xmlns=&quot;http://www.w3.org/1998/Math/MathML&quot; display=&quot;block&quot; data-is-equatio=&quot;1&quot; data-latex=&quot;\frac{9}{15}&quot;&gt;&lt;mfrac&gt;&lt;mn&gt;9&lt;/mn&gt;&lt;mn&gt;15&lt;/mn&gt;&lt;/mfrac&gt;&lt;/math&gt;" id="1125" name="Google Shape;1125;p81" title="9 over 15"/>
          <p:cNvPicPr preferRelativeResize="0"/>
          <p:nvPr/>
        </p:nvPicPr>
        <p:blipFill>
          <a:blip r:embed="rId12">
            <a:alphaModFix/>
          </a:blip>
          <a:stretch>
            <a:fillRect/>
          </a:stretch>
        </p:blipFill>
        <p:spPr>
          <a:xfrm>
            <a:off x="5097025" y="2284138"/>
            <a:ext cx="267019" cy="487133"/>
          </a:xfrm>
          <a:prstGeom prst="rect">
            <a:avLst/>
          </a:prstGeom>
          <a:noFill/>
          <a:ln>
            <a:noFill/>
          </a:ln>
        </p:spPr>
      </p:pic>
      <p:pic>
        <p:nvPicPr>
          <p:cNvPr descr="&lt;math xmlns=&quot;http://www.w3.org/1998/Math/MathML&quot; display=&quot;block&quot; data-is-equatio=&quot;1&quot; data-latex=&quot;\frac{15}{25}&quot;&gt;&lt;mfrac&gt;&lt;mn&gt;15&lt;/mn&gt;&lt;mn&gt;25&lt;/mn&gt;&lt;/mfrac&gt;&lt;/math&gt;" id="1126" name="Google Shape;1126;p81" title="15 over 25"/>
          <p:cNvPicPr preferRelativeResize="0"/>
          <p:nvPr/>
        </p:nvPicPr>
        <p:blipFill>
          <a:blip r:embed="rId13">
            <a:alphaModFix/>
          </a:blip>
          <a:stretch>
            <a:fillRect/>
          </a:stretch>
        </p:blipFill>
        <p:spPr>
          <a:xfrm>
            <a:off x="2617551" y="2326975"/>
            <a:ext cx="267019" cy="489539"/>
          </a:xfrm>
          <a:prstGeom prst="rect">
            <a:avLst/>
          </a:prstGeom>
          <a:noFill/>
          <a:ln>
            <a:noFill/>
          </a:ln>
        </p:spPr>
      </p:pic>
      <p:pic>
        <p:nvPicPr>
          <p:cNvPr descr="&lt;math xmlns=&quot;http://www.w3.org/1998/Math/MathML&quot; display=&quot;block&quot; data-is-equatio=&quot;1&quot; data-latex=&quot;\frac{27}{45}&quot;&gt;&lt;mfrac&gt;&lt;mn&gt;27&lt;/mn&gt;&lt;mn&gt;45&lt;/mn&gt;&lt;/mfrac&gt;&lt;/math&gt;" id="1127" name="Google Shape;1127;p81" title="27 over 45"/>
          <p:cNvPicPr preferRelativeResize="0"/>
          <p:nvPr/>
        </p:nvPicPr>
        <p:blipFill>
          <a:blip r:embed="rId14">
            <a:alphaModFix/>
          </a:blip>
          <a:stretch>
            <a:fillRect/>
          </a:stretch>
        </p:blipFill>
        <p:spPr>
          <a:xfrm>
            <a:off x="3829713" y="2285599"/>
            <a:ext cx="267019" cy="484198"/>
          </a:xfrm>
          <a:prstGeom prst="rect">
            <a:avLst/>
          </a:prstGeom>
          <a:noFill/>
          <a:ln>
            <a:noFill/>
          </a:ln>
        </p:spPr>
      </p:pic>
      <p:pic>
        <p:nvPicPr>
          <p:cNvPr descr="&lt;math xmlns=&quot;http://www.w3.org/1998/Math/MathML&quot; display=&quot;block&quot; data-is-equatio=&quot;1&quot; data-latex=&quot;\frac{21}{35}&quot;&gt;&lt;mfrac&gt;&lt;mn&gt;21&lt;/mn&gt;&lt;mn&gt;35&lt;/mn&gt;&lt;/mfrac&gt;&lt;/math&gt;" id="1128" name="Google Shape;1128;p81" title="21 over 35"/>
          <p:cNvPicPr preferRelativeResize="0"/>
          <p:nvPr/>
        </p:nvPicPr>
        <p:blipFill>
          <a:blip r:embed="rId15">
            <a:alphaModFix/>
          </a:blip>
          <a:stretch>
            <a:fillRect/>
          </a:stretch>
        </p:blipFill>
        <p:spPr>
          <a:xfrm>
            <a:off x="6259426" y="2328180"/>
            <a:ext cx="267019" cy="487133"/>
          </a:xfrm>
          <a:prstGeom prst="rect">
            <a:avLst/>
          </a:prstGeom>
          <a:noFill/>
          <a:ln>
            <a:noFill/>
          </a:ln>
        </p:spPr>
      </p:pic>
      <p:pic>
        <p:nvPicPr>
          <p:cNvPr descr="&lt;math xmlns=&quot;http://www.w3.org/1998/Math/MathML&quot; display=&quot;block&quot; data-is-equatio=&quot;1&quot; data-latex=&quot;\frac{18}{20}&quot;&gt;&lt;mfrac&gt;&lt;mn&gt;18&lt;/mn&gt;&lt;mn&gt;20&lt;/mn&gt;&lt;/mfrac&gt;&lt;/math&gt;" id="1129" name="Google Shape;1129;p81" title="18 over 20"/>
          <p:cNvPicPr preferRelativeResize="0"/>
          <p:nvPr/>
        </p:nvPicPr>
        <p:blipFill>
          <a:blip r:embed="rId16">
            <a:alphaModFix/>
          </a:blip>
          <a:stretch>
            <a:fillRect/>
          </a:stretch>
        </p:blipFill>
        <p:spPr>
          <a:xfrm>
            <a:off x="7421819" y="2243036"/>
            <a:ext cx="294506" cy="545822"/>
          </a:xfrm>
          <a:prstGeom prst="rect">
            <a:avLst/>
          </a:prstGeom>
          <a:noFill/>
          <a:ln>
            <a:noFill/>
          </a:ln>
        </p:spPr>
      </p:pic>
      <p:pic>
        <p:nvPicPr>
          <p:cNvPr descr="&lt;math xmlns=&quot;http://www.w3.org/1998/Math/MathML&quot; display=&quot;block&quot; data-is-equatio=&quot;1&quot; data-latex=&quot;\frac{8}{18}&quot;&gt;&lt;mfrac&gt;&lt;mn&gt;8&lt;/mn&gt;&lt;mn&gt;18&lt;/mn&gt;&lt;/mfrac&gt;&lt;/math&gt;" id="1130" name="Google Shape;1130;p81" title="8 over 18"/>
          <p:cNvPicPr preferRelativeResize="0"/>
          <p:nvPr/>
        </p:nvPicPr>
        <p:blipFill>
          <a:blip r:embed="rId17">
            <a:alphaModFix/>
          </a:blip>
          <a:stretch>
            <a:fillRect/>
          </a:stretch>
        </p:blipFill>
        <p:spPr>
          <a:xfrm>
            <a:off x="2614600" y="2906088"/>
            <a:ext cx="272937" cy="505848"/>
          </a:xfrm>
          <a:prstGeom prst="rect">
            <a:avLst/>
          </a:prstGeom>
          <a:noFill/>
          <a:ln>
            <a:noFill/>
          </a:ln>
        </p:spPr>
      </p:pic>
      <p:pic>
        <p:nvPicPr>
          <p:cNvPr descr="&lt;math xmlns=&quot;http://www.w3.org/1998/Math/MathML&quot; display=&quot;block&quot; data-is-equatio=&quot;1&quot; data-latex=&quot;\frac{44}{99}&quot;&gt;&lt;mfrac&gt;&lt;mn&gt;44&lt;/mn&gt;&lt;mn&gt;99&lt;/mn&gt;&lt;/mfrac&gt;&lt;/math&gt;" id="1131" name="Google Shape;1131;p81" title="44 over 99"/>
          <p:cNvPicPr preferRelativeResize="0"/>
          <p:nvPr/>
        </p:nvPicPr>
        <p:blipFill>
          <a:blip r:embed="rId18">
            <a:alphaModFix/>
          </a:blip>
          <a:stretch>
            <a:fillRect/>
          </a:stretch>
        </p:blipFill>
        <p:spPr>
          <a:xfrm>
            <a:off x="7432609" y="2949375"/>
            <a:ext cx="272937" cy="494931"/>
          </a:xfrm>
          <a:prstGeom prst="rect">
            <a:avLst/>
          </a:prstGeom>
          <a:noFill/>
          <a:ln>
            <a:noFill/>
          </a:ln>
        </p:spPr>
      </p:pic>
      <p:pic>
        <p:nvPicPr>
          <p:cNvPr descr="&lt;math xmlns=&quot;http://www.w3.org/1998/Math/MathML&quot; display=&quot;block&quot; data-is-equatio=&quot;1&quot; data-latex=&quot;\frac{28}{63}&quot;&gt;&lt;mfrac&gt;&lt;mn&gt;28&lt;/mn&gt;&lt;mn&gt;63&lt;/mn&gt;&lt;/mfrac&gt;&lt;/math&gt;" id="1132" name="Google Shape;1132;p81" title="28 over 63"/>
          <p:cNvPicPr preferRelativeResize="0"/>
          <p:nvPr/>
        </p:nvPicPr>
        <p:blipFill>
          <a:blip r:embed="rId19">
            <a:alphaModFix/>
          </a:blip>
          <a:stretch>
            <a:fillRect/>
          </a:stretch>
        </p:blipFill>
        <p:spPr>
          <a:xfrm>
            <a:off x="5055596" y="2947877"/>
            <a:ext cx="272937" cy="497931"/>
          </a:xfrm>
          <a:prstGeom prst="rect">
            <a:avLst/>
          </a:prstGeom>
          <a:noFill/>
          <a:ln>
            <a:noFill/>
          </a:ln>
        </p:spPr>
      </p:pic>
      <p:pic>
        <p:nvPicPr>
          <p:cNvPr descr="&lt;math xmlns=&quot;http://www.w3.org/1998/Math/MathML&quot; display=&quot;block&quot; data-is-equatio=&quot;1&quot; data-latex=&quot;\frac{48}{108}&quot;&gt;&lt;mfrac&gt;&lt;mn&gt;48&lt;/mn&gt;&lt;mn&gt;108&lt;/mn&gt;&lt;/mfrac&gt;&lt;/math&gt;" id="1133" name="Google Shape;1133;p81" title="48 over 108"/>
          <p:cNvPicPr preferRelativeResize="0"/>
          <p:nvPr/>
        </p:nvPicPr>
        <p:blipFill>
          <a:blip r:embed="rId20">
            <a:alphaModFix/>
          </a:blip>
          <a:stretch>
            <a:fillRect/>
          </a:stretch>
        </p:blipFill>
        <p:spPr>
          <a:xfrm>
            <a:off x="6196250" y="2920599"/>
            <a:ext cx="402550" cy="517039"/>
          </a:xfrm>
          <a:prstGeom prst="rect">
            <a:avLst/>
          </a:prstGeom>
          <a:noFill/>
          <a:ln>
            <a:noFill/>
          </a:ln>
        </p:spPr>
      </p:pic>
      <p:pic>
        <p:nvPicPr>
          <p:cNvPr descr="&lt;math xmlns=&quot;http://www.w3.org/1998/Math/MathML&quot; display=&quot;block&quot; data-is-equatio=&quot;1&quot; data-latex=&quot;\frac{6}{13}&quot;&gt;&lt;mfrac&gt;&lt;mn&gt;6&lt;/mn&gt;&lt;mn&gt;13&lt;/mn&gt;&lt;/mfrac&gt;&lt;/math&gt;" id="1134" name="Google Shape;1134;p81" title="6 over 13"/>
          <p:cNvPicPr preferRelativeResize="0"/>
          <p:nvPr/>
        </p:nvPicPr>
        <p:blipFill>
          <a:blip r:embed="rId21">
            <a:alphaModFix/>
          </a:blip>
          <a:stretch>
            <a:fillRect/>
          </a:stretch>
        </p:blipFill>
        <p:spPr>
          <a:xfrm>
            <a:off x="1443525" y="3555688"/>
            <a:ext cx="269853" cy="500130"/>
          </a:xfrm>
          <a:prstGeom prst="rect">
            <a:avLst/>
          </a:prstGeom>
          <a:noFill/>
          <a:ln>
            <a:noFill/>
          </a:ln>
        </p:spPr>
      </p:pic>
      <p:pic>
        <p:nvPicPr>
          <p:cNvPr descr="&lt;math xmlns=&quot;http://www.w3.org/1998/Math/MathML&quot; display=&quot;block&quot; data-is-equatio=&quot;1&quot; data-latex=&quot;\frac{36}{78}&quot;&gt;&lt;mfrac&gt;&lt;mn&gt;36&lt;/mn&gt;&lt;mn&gt;78&lt;/mn&gt;&lt;/mfrac&gt;&lt;/math&gt;" id="1135" name="Google Shape;1135;p81" title="36 over 78"/>
          <p:cNvPicPr preferRelativeResize="0"/>
          <p:nvPr/>
        </p:nvPicPr>
        <p:blipFill>
          <a:blip r:embed="rId22">
            <a:alphaModFix/>
          </a:blip>
          <a:stretch>
            <a:fillRect/>
          </a:stretch>
        </p:blipFill>
        <p:spPr>
          <a:xfrm>
            <a:off x="6258009" y="3578350"/>
            <a:ext cx="269853" cy="500130"/>
          </a:xfrm>
          <a:prstGeom prst="rect">
            <a:avLst/>
          </a:prstGeom>
          <a:noFill/>
          <a:ln>
            <a:noFill/>
          </a:ln>
        </p:spPr>
      </p:pic>
      <p:pic>
        <p:nvPicPr>
          <p:cNvPr descr="&lt;math xmlns=&quot;http://www.w3.org/1998/Math/MathML&quot; display=&quot;block&quot; data-is-equatio=&quot;1&quot; data-latex=&quot;\frac{30}{65}&quot;&gt;&lt;mfrac&gt;&lt;mn&gt;30&lt;/mn&gt;&lt;mn&gt;65&lt;/mn&gt;&lt;/mfrac&gt;&lt;/math&gt;" id="1136" name="Google Shape;1136;p81" title="30 over 65"/>
          <p:cNvPicPr preferRelativeResize="0"/>
          <p:nvPr/>
        </p:nvPicPr>
        <p:blipFill>
          <a:blip r:embed="rId23">
            <a:alphaModFix/>
          </a:blip>
          <a:stretch>
            <a:fillRect/>
          </a:stretch>
        </p:blipFill>
        <p:spPr>
          <a:xfrm>
            <a:off x="2616138" y="3559612"/>
            <a:ext cx="269853" cy="492301"/>
          </a:xfrm>
          <a:prstGeom prst="rect">
            <a:avLst/>
          </a:prstGeom>
          <a:noFill/>
          <a:ln>
            <a:noFill/>
          </a:ln>
        </p:spPr>
      </p:pic>
      <p:pic>
        <p:nvPicPr>
          <p:cNvPr descr="&lt;math xmlns=&quot;http://www.w3.org/1998/Math/MathML&quot; display=&quot;block&quot; data-is-equatio=&quot;1&quot; data-latex=&quot;\frac{54}{117}&quot;&gt;&lt;mfrac&gt;&lt;mn&gt;54&lt;/mn&gt;&lt;mn&gt;117&lt;/mn&gt;&lt;/mfrac&gt;&lt;/math&gt;" id="1137" name="Google Shape;1137;p81" title="54 over 117"/>
          <p:cNvPicPr preferRelativeResize="0"/>
          <p:nvPr/>
        </p:nvPicPr>
        <p:blipFill>
          <a:blip r:embed="rId24">
            <a:alphaModFix/>
          </a:blip>
          <a:stretch>
            <a:fillRect/>
          </a:stretch>
        </p:blipFill>
        <p:spPr>
          <a:xfrm>
            <a:off x="4990464" y="3547329"/>
            <a:ext cx="424622" cy="539708"/>
          </a:xfrm>
          <a:prstGeom prst="rect">
            <a:avLst/>
          </a:prstGeom>
          <a:noFill/>
          <a:ln>
            <a:noFill/>
          </a:ln>
        </p:spPr>
      </p:pic>
      <p:pic>
        <p:nvPicPr>
          <p:cNvPr descr="&lt;math xmlns=&quot;http://www.w3.org/1998/Math/MathML&quot; display=&quot;block&quot; data-is-equatio=&quot;1&quot; data-latex=&quot;\frac{12}{26}&quot;&gt;&lt;mfrac&gt;&lt;mn&gt;12&lt;/mn&gt;&lt;mn&gt;26&lt;/mn&gt;&lt;/mfrac&gt;&lt;/math&gt;" id="1138" name="Google Shape;1138;p81" title="12 over 26"/>
          <p:cNvPicPr preferRelativeResize="0"/>
          <p:nvPr/>
        </p:nvPicPr>
        <p:blipFill>
          <a:blip r:embed="rId25">
            <a:alphaModFix/>
          </a:blip>
          <a:stretch>
            <a:fillRect/>
          </a:stretch>
        </p:blipFill>
        <p:spPr>
          <a:xfrm>
            <a:off x="7434147" y="3571025"/>
            <a:ext cx="269853" cy="492301"/>
          </a:xfrm>
          <a:prstGeom prst="rect">
            <a:avLst/>
          </a:prstGeom>
          <a:noFill/>
          <a:ln>
            <a:noFill/>
          </a:ln>
        </p:spPr>
      </p:pic>
      <p:pic>
        <p:nvPicPr>
          <p:cNvPr descr="&lt;math xmlns=&quot;http://www.w3.org/1998/Math/MathML&quot; display=&quot;block&quot; data-is-equatio=&quot;1&quot; data-latex=&quot;\frac{42}{104}&quot;&gt;&lt;mfrac&gt;&lt;mn&gt;42&lt;/mn&gt;&lt;mn&gt;104&lt;/mn&gt;&lt;/mfrac&gt;&lt;/math&gt;" id="1139" name="Google Shape;1139;p81" title="42 over 104"/>
          <p:cNvPicPr preferRelativeResize="0"/>
          <p:nvPr/>
        </p:nvPicPr>
        <p:blipFill>
          <a:blip r:embed="rId26">
            <a:alphaModFix/>
          </a:blip>
          <a:stretch>
            <a:fillRect/>
          </a:stretch>
        </p:blipFill>
        <p:spPr>
          <a:xfrm>
            <a:off x="3746939" y="3547310"/>
            <a:ext cx="432559" cy="555582"/>
          </a:xfrm>
          <a:prstGeom prst="rect">
            <a:avLst/>
          </a:prstGeom>
          <a:noFill/>
          <a:ln>
            <a:noFill/>
          </a:ln>
        </p:spPr>
      </p:pic>
      <p:pic>
        <p:nvPicPr>
          <p:cNvPr descr="&lt;math xmlns=&quot;http://www.w3.org/1998/Math/MathML&quot; display=&quot;block&quot; data-is-equatio=&quot;1&quot; data-latex=&quot;\frac{21}{45}&quot;&gt;&lt;mfrac&gt;&lt;mn&gt;21&lt;/mn&gt;&lt;mn&gt;45&lt;/mn&gt;&lt;/mfrac&gt;&lt;/math&gt;" id="1140" name="Google Shape;1140;p81" title="21 over 45"/>
          <p:cNvPicPr preferRelativeResize="0"/>
          <p:nvPr/>
        </p:nvPicPr>
        <p:blipFill>
          <a:blip r:embed="rId27">
            <a:alphaModFix/>
          </a:blip>
          <a:stretch>
            <a:fillRect/>
          </a:stretch>
        </p:blipFill>
        <p:spPr>
          <a:xfrm>
            <a:off x="5101413" y="4241819"/>
            <a:ext cx="258249" cy="471130"/>
          </a:xfrm>
          <a:prstGeom prst="rect">
            <a:avLst/>
          </a:prstGeom>
          <a:noFill/>
          <a:ln>
            <a:noFill/>
          </a:ln>
        </p:spPr>
      </p:pic>
      <p:pic>
        <p:nvPicPr>
          <p:cNvPr descr="&lt;math xmlns=&quot;http://www.w3.org/1998/Math/MathML&quot; display=&quot;block&quot; data-is-equatio=&quot;1&quot; data-latex=&quot;\frac{49}{105}&quot;&gt;&lt;mfrac&gt;&lt;mn&gt;49&lt;/mn&gt;&lt;mn&gt;105&lt;/mn&gt;&lt;/mfrac&gt;&lt;/math&gt;" id="1141" name="Google Shape;1141;p81" title="49 over 105"/>
          <p:cNvPicPr preferRelativeResize="0"/>
          <p:nvPr/>
        </p:nvPicPr>
        <p:blipFill>
          <a:blip r:embed="rId28">
            <a:alphaModFix/>
          </a:blip>
          <a:stretch>
            <a:fillRect/>
          </a:stretch>
        </p:blipFill>
        <p:spPr>
          <a:xfrm>
            <a:off x="2547888" y="4171817"/>
            <a:ext cx="406362" cy="516499"/>
          </a:xfrm>
          <a:prstGeom prst="rect">
            <a:avLst/>
          </a:prstGeom>
          <a:noFill/>
          <a:ln>
            <a:noFill/>
          </a:ln>
        </p:spPr>
      </p:pic>
      <p:pic>
        <p:nvPicPr>
          <p:cNvPr descr="&lt;math xmlns=&quot;http://www.w3.org/1998/Math/MathML&quot; display=&quot;block&quot; data-is-equatio=&quot;1&quot; data-latex=&quot;\frac{35}{75}&quot;&gt;&lt;mfrac&gt;&lt;mn&gt;35&lt;/mn&gt;&lt;mn&gt;75&lt;/mn&gt;&lt;/mfrac&gt;&lt;/math&gt;" id="1142" name="Google Shape;1142;p81" title="35 over 75"/>
          <p:cNvPicPr preferRelativeResize="0"/>
          <p:nvPr/>
        </p:nvPicPr>
        <p:blipFill>
          <a:blip r:embed="rId29">
            <a:alphaModFix/>
          </a:blip>
          <a:stretch>
            <a:fillRect/>
          </a:stretch>
        </p:blipFill>
        <p:spPr>
          <a:xfrm>
            <a:off x="3834849" y="4208250"/>
            <a:ext cx="273440" cy="501308"/>
          </a:xfrm>
          <a:prstGeom prst="rect">
            <a:avLst/>
          </a:prstGeom>
          <a:noFill/>
          <a:ln>
            <a:noFill/>
          </a:ln>
        </p:spPr>
      </p:pic>
      <p:pic>
        <p:nvPicPr>
          <p:cNvPr descr="&lt;math xmlns=&quot;http://www.w3.org/1998/Math/MathML&quot; display=&quot;block&quot; data-is-equatio=&quot;1&quot; data-latex=&quot;\frac{63}{153}&quot;&gt;&lt;mfrac&gt;&lt;mn&gt;63&lt;/mn&gt;&lt;mn&gt;153&lt;/mn&gt;&lt;/mfrac&gt;&lt;/math&gt;" id="1143" name="Google Shape;1143;p81" title="63 over 153"/>
          <p:cNvPicPr preferRelativeResize="0"/>
          <p:nvPr/>
        </p:nvPicPr>
        <p:blipFill>
          <a:blip r:embed="rId30">
            <a:alphaModFix/>
          </a:blip>
          <a:stretch>
            <a:fillRect/>
          </a:stretch>
        </p:blipFill>
        <p:spPr>
          <a:xfrm>
            <a:off x="6162447" y="4173720"/>
            <a:ext cx="402564" cy="512701"/>
          </a:xfrm>
          <a:prstGeom prst="rect">
            <a:avLst/>
          </a:prstGeom>
          <a:noFill/>
          <a:ln>
            <a:noFill/>
          </a:ln>
        </p:spPr>
      </p:pic>
      <p:pic>
        <p:nvPicPr>
          <p:cNvPr descr="&lt;math xmlns=&quot;http://www.w3.org/1998/Math/MathML&quot; display=&quot;block&quot; data-is-equatio=&quot;1&quot; data-latex=&quot;\frac{84}{180}&quot;&gt;&lt;mfrac&gt;&lt;mn&gt;84&lt;/mn&gt;&lt;mn&gt;180&lt;/mn&gt;&lt;/mfrac&gt;&lt;/math&gt;" id="1144" name="Google Shape;1144;p81" title="84 over 180"/>
          <p:cNvPicPr preferRelativeResize="0"/>
          <p:nvPr/>
        </p:nvPicPr>
        <p:blipFill>
          <a:blip r:embed="rId31">
            <a:alphaModFix/>
          </a:blip>
          <a:stretch>
            <a:fillRect/>
          </a:stretch>
        </p:blipFill>
        <p:spPr>
          <a:xfrm>
            <a:off x="7367792" y="4218875"/>
            <a:ext cx="402550" cy="517037"/>
          </a:xfrm>
          <a:prstGeom prst="rect">
            <a:avLst/>
          </a:prstGeom>
          <a:noFill/>
          <a:ln>
            <a:noFill/>
          </a:ln>
        </p:spPr>
      </p:pic>
      <p:sp>
        <p:nvSpPr>
          <p:cNvPr id="1145" name="Google Shape;1145;p81"/>
          <p:cNvSpPr/>
          <p:nvPr/>
        </p:nvSpPr>
        <p:spPr>
          <a:xfrm>
            <a:off x="952500" y="1558050"/>
            <a:ext cx="1193400" cy="32010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60}{126}&quot;&gt;&lt;mfrac&gt;&lt;mn&gt;60&lt;/mn&gt;&lt;mn&gt;126&lt;/mn&gt;&lt;/mfrac&gt;&lt;/math&gt;" id="1146" name="Google Shape;1146;p81" title="60 over 126"/>
          <p:cNvPicPr preferRelativeResize="0"/>
          <p:nvPr/>
        </p:nvPicPr>
        <p:blipFill>
          <a:blip r:embed="rId32">
            <a:alphaModFix/>
          </a:blip>
          <a:stretch>
            <a:fillRect/>
          </a:stretch>
        </p:blipFill>
        <p:spPr>
          <a:xfrm>
            <a:off x="3781463" y="2916448"/>
            <a:ext cx="380194" cy="484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graphicFrame>
        <p:nvGraphicFramePr>
          <p:cNvPr id="1151" name="Google Shape;1151;p82"/>
          <p:cNvGraphicFramePr/>
          <p:nvPr/>
        </p:nvGraphicFramePr>
        <p:xfrm>
          <a:off x="952500" y="1080000"/>
          <a:ext cx="3000000" cy="3000000"/>
        </p:xfrm>
        <a:graphic>
          <a:graphicData uri="http://schemas.openxmlformats.org/drawingml/2006/table">
            <a:tbl>
              <a:tblPr>
                <a:noFill/>
                <a:tableStyleId>{C3776096-0775-4DA8-89EA-AE61684651AC}</a:tableStyleId>
              </a:tblPr>
              <a:tblGrid>
                <a:gridCol w="723900"/>
                <a:gridCol w="723900"/>
                <a:gridCol w="723900"/>
                <a:gridCol w="723900"/>
                <a:gridCol w="723900"/>
                <a:gridCol w="723900"/>
                <a:gridCol w="723900"/>
                <a:gridCol w="723900"/>
                <a:gridCol w="723900"/>
                <a:gridCol w="723900"/>
              </a:tblGrid>
              <a:tr h="748075">
                <a:tc>
                  <a:txBody>
                    <a:bodyPr/>
                    <a:lstStyle/>
                    <a:p>
                      <a:pPr indent="0" lvl="0" marL="0" rtl="0" algn="l">
                        <a:spcBef>
                          <a:spcPts val="0"/>
                        </a:spcBef>
                        <a:spcAft>
                          <a:spcPts val="0"/>
                        </a:spcAft>
                        <a:buNone/>
                      </a:pPr>
                      <a:r>
                        <a:rPr lang="en-GB" sz="1800">
                          <a:latin typeface="Lexend"/>
                          <a:ea typeface="Lexend"/>
                          <a:cs typeface="Lexend"/>
                          <a:sym typeface="Lexend"/>
                        </a:rPr>
                        <a:t>START</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r>
              <a:tr h="7480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r>
              <a:tr h="7480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r>
              <a:tr h="7480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r>
              <a:tr h="7480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tc>
              </a:tr>
            </a:tbl>
          </a:graphicData>
        </a:graphic>
      </p:graphicFrame>
      <p:sp>
        <p:nvSpPr>
          <p:cNvPr id="1152" name="Google Shape;1152;p82"/>
          <p:cNvSpPr/>
          <p:nvPr/>
        </p:nvSpPr>
        <p:spPr>
          <a:xfrm>
            <a:off x="7468050" y="4075005"/>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3" name="Google Shape;1153;p82"/>
          <p:cNvSpPr/>
          <p:nvPr/>
        </p:nvSpPr>
        <p:spPr>
          <a:xfrm>
            <a:off x="1681275" y="1082350"/>
            <a:ext cx="719100" cy="745800"/>
          </a:xfrm>
          <a:prstGeom prst="rect">
            <a:avLst/>
          </a:prstGeom>
          <a:solidFill>
            <a:srgbClr val="845AD9">
              <a:alpha val="19380"/>
            </a:srgbClr>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4" name="Google Shape;1154;p82"/>
          <p:cNvSpPr/>
          <p:nvPr/>
        </p:nvSpPr>
        <p:spPr>
          <a:xfrm>
            <a:off x="1681275" y="1828075"/>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5" name="Google Shape;1155;p82"/>
          <p:cNvSpPr/>
          <p:nvPr/>
        </p:nvSpPr>
        <p:spPr>
          <a:xfrm>
            <a:off x="2400375" y="1828075"/>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6" name="Google Shape;1156;p82"/>
          <p:cNvSpPr/>
          <p:nvPr/>
        </p:nvSpPr>
        <p:spPr>
          <a:xfrm>
            <a:off x="3124200" y="1828075"/>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7" name="Google Shape;1157;p82"/>
          <p:cNvSpPr/>
          <p:nvPr/>
        </p:nvSpPr>
        <p:spPr>
          <a:xfrm>
            <a:off x="3124200" y="2573088"/>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8" name="Google Shape;1158;p82"/>
          <p:cNvSpPr/>
          <p:nvPr/>
        </p:nvSpPr>
        <p:spPr>
          <a:xfrm>
            <a:off x="3848025" y="2573088"/>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9" name="Google Shape;1159;p82"/>
          <p:cNvSpPr/>
          <p:nvPr/>
        </p:nvSpPr>
        <p:spPr>
          <a:xfrm>
            <a:off x="4571850" y="2573100"/>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0" name="Google Shape;1160;p82"/>
          <p:cNvSpPr/>
          <p:nvPr/>
        </p:nvSpPr>
        <p:spPr>
          <a:xfrm>
            <a:off x="5295675" y="2573100"/>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1" name="Google Shape;1161;p82"/>
          <p:cNvSpPr/>
          <p:nvPr/>
        </p:nvSpPr>
        <p:spPr>
          <a:xfrm>
            <a:off x="5295675" y="1828075"/>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2" name="Google Shape;1162;p82"/>
          <p:cNvSpPr/>
          <p:nvPr/>
        </p:nvSpPr>
        <p:spPr>
          <a:xfrm>
            <a:off x="6019800" y="1828075"/>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3" name="Google Shape;1163;p82"/>
          <p:cNvSpPr/>
          <p:nvPr/>
        </p:nvSpPr>
        <p:spPr>
          <a:xfrm>
            <a:off x="6019500" y="2573100"/>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4" name="Google Shape;1164;p8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t>Simplifying fractions using factor pairs</a:t>
            </a:r>
            <a:endParaRPr sz="1800"/>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frac{12}{30}&quot;&gt;&lt;mfrac&gt;&lt;mn&gt;12&lt;/mn&gt;&lt;mn&gt;30&lt;/mn&gt;&lt;/mfrac&gt;&lt;/math&gt;" id="1165" name="Google Shape;1165;p82" title="12 over 30"/>
          <p:cNvPicPr preferRelativeResize="0"/>
          <p:nvPr/>
        </p:nvPicPr>
        <p:blipFill>
          <a:blip r:embed="rId3">
            <a:alphaModFix/>
          </a:blip>
          <a:stretch>
            <a:fillRect/>
          </a:stretch>
        </p:blipFill>
        <p:spPr>
          <a:xfrm>
            <a:off x="1183350" y="1378818"/>
            <a:ext cx="242400" cy="44925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66" name="Google Shape;1166;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66269" r="29323" t="0"/>
          <a:stretch/>
        </p:blipFill>
        <p:spPr>
          <a:xfrm>
            <a:off x="1684801" y="1854500"/>
            <a:ext cx="208774"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67" name="Google Shape;1167;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10" l="77228" r="16008" t="0"/>
          <a:stretch/>
        </p:blipFill>
        <p:spPr>
          <a:xfrm>
            <a:off x="6423326" y="1334725"/>
            <a:ext cx="320373" cy="476575"/>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68" name="Google Shape;1168;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70612" r="22624" t="0"/>
          <a:stretch/>
        </p:blipFill>
        <p:spPr>
          <a:xfrm>
            <a:off x="6019801" y="1080000"/>
            <a:ext cx="320373"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69" name="Google Shape;1169;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66144" r="29448" t="0"/>
          <a:stretch/>
        </p:blipFill>
        <p:spPr>
          <a:xfrm>
            <a:off x="5811024" y="1342338"/>
            <a:ext cx="208774"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0" name="Google Shape;1170;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59534" r="33976" t="0"/>
          <a:stretch/>
        </p:blipFill>
        <p:spPr>
          <a:xfrm>
            <a:off x="5295901" y="1080000"/>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1" name="Google Shape;1171;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53243" r="39993" t="0"/>
          <a:stretch/>
        </p:blipFill>
        <p:spPr>
          <a:xfrm>
            <a:off x="4975521" y="1342325"/>
            <a:ext cx="320373" cy="476625"/>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2" name="Google Shape;1172;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46994" r="46515" t="0"/>
          <a:stretch/>
        </p:blipFill>
        <p:spPr>
          <a:xfrm>
            <a:off x="4572000" y="1080000"/>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3" name="Google Shape;1173;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40726" r="52784" t="0"/>
          <a:stretch/>
        </p:blipFill>
        <p:spPr>
          <a:xfrm>
            <a:off x="4281863" y="1342325"/>
            <a:ext cx="307451" cy="476625"/>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4" name="Google Shape;1174;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35711" r="59171" t="0"/>
          <a:stretch/>
        </p:blipFill>
        <p:spPr>
          <a:xfrm>
            <a:off x="3857875" y="1080000"/>
            <a:ext cx="242399"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5" name="Google Shape;1175;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29750" r="63759" t="0"/>
          <a:stretch/>
        </p:blipFill>
        <p:spPr>
          <a:xfrm>
            <a:off x="3540650" y="1342338"/>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6" name="Google Shape;1176;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23400" r="70109" t="0"/>
          <a:stretch/>
        </p:blipFill>
        <p:spPr>
          <a:xfrm>
            <a:off x="3124200" y="1080000"/>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7" name="Google Shape;1177;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16638" r="76871" t="0"/>
          <a:stretch/>
        </p:blipFill>
        <p:spPr>
          <a:xfrm>
            <a:off x="2774175" y="1342338"/>
            <a:ext cx="307451"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8" name="Google Shape;1178;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0" r="96783" t="0"/>
          <a:stretch/>
        </p:blipFill>
        <p:spPr>
          <a:xfrm>
            <a:off x="1684800" y="1080000"/>
            <a:ext cx="152400"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79" name="Google Shape;1179;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4105" r="90197" t="0"/>
          <a:stretch/>
        </p:blipFill>
        <p:spPr>
          <a:xfrm>
            <a:off x="2096250" y="1342338"/>
            <a:ext cx="269876" cy="476600"/>
          </a:xfrm>
          <a:prstGeom prst="rect">
            <a:avLst/>
          </a:prstGeom>
          <a:noFill/>
          <a:ln>
            <a:noFill/>
          </a:ln>
        </p:spPr>
      </p:pic>
      <p:sp>
        <p:nvSpPr>
          <p:cNvPr id="1180" name="Google Shape;1180;p82"/>
          <p:cNvSpPr/>
          <p:nvPr/>
        </p:nvSpPr>
        <p:spPr>
          <a:xfrm>
            <a:off x="6019500" y="3318100"/>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1" name="Google Shape;1181;p82"/>
          <p:cNvSpPr/>
          <p:nvPr/>
        </p:nvSpPr>
        <p:spPr>
          <a:xfrm>
            <a:off x="5295675" y="3318100"/>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2" name="Google Shape;1182;p82"/>
          <p:cNvSpPr/>
          <p:nvPr/>
        </p:nvSpPr>
        <p:spPr>
          <a:xfrm>
            <a:off x="5295675" y="4066175"/>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3" name="Google Shape;1183;p82"/>
          <p:cNvSpPr/>
          <p:nvPr/>
        </p:nvSpPr>
        <p:spPr>
          <a:xfrm>
            <a:off x="6019800" y="4068880"/>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4" name="Google Shape;1184;p82"/>
          <p:cNvSpPr/>
          <p:nvPr/>
        </p:nvSpPr>
        <p:spPr>
          <a:xfrm>
            <a:off x="6743925" y="4072300"/>
            <a:ext cx="719100" cy="7542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185" name="Google Shape;1185;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10081" r="83428" t="0"/>
          <a:stretch/>
        </p:blipFill>
        <p:spPr>
          <a:xfrm>
            <a:off x="2390525" y="1080000"/>
            <a:ext cx="307451" cy="47660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186" name="Google Shape;1186;p82" title="one third 24 over 70 12 over 35 17 over 34"/>
          <p:cNvPicPr preferRelativeResize="0"/>
          <p:nvPr/>
        </p:nvPicPr>
        <p:blipFill rotWithShape="1">
          <a:blip r:embed="rId5">
            <a:alphaModFix/>
          </a:blip>
          <a:srcRect b="0" l="76893" r="0" t="0"/>
          <a:stretch/>
        </p:blipFill>
        <p:spPr>
          <a:xfrm>
            <a:off x="7871122" y="1318863"/>
            <a:ext cx="307450" cy="50830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187" name="Google Shape;1187;p82" title="one third 24 over 70 12 over 35 17 over 34"/>
          <p:cNvPicPr preferRelativeResize="0"/>
          <p:nvPr/>
        </p:nvPicPr>
        <p:blipFill rotWithShape="1">
          <a:blip r:embed="rId5">
            <a:alphaModFix/>
          </a:blip>
          <a:srcRect b="0" l="49069" r="27823" t="0"/>
          <a:stretch/>
        </p:blipFill>
        <p:spPr>
          <a:xfrm>
            <a:off x="7480525" y="1080000"/>
            <a:ext cx="307450" cy="50830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188" name="Google Shape;1188;p82" title="one third 24 over 70 12 over 35 17 over 34"/>
          <p:cNvPicPr preferRelativeResize="0"/>
          <p:nvPr/>
        </p:nvPicPr>
        <p:blipFill rotWithShape="1">
          <a:blip r:embed="rId5">
            <a:alphaModFix/>
          </a:blip>
          <a:srcRect b="0" l="17148" r="54350" t="0"/>
          <a:stretch/>
        </p:blipFill>
        <p:spPr>
          <a:xfrm>
            <a:off x="7085324" y="1318863"/>
            <a:ext cx="379200" cy="50830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189" name="Google Shape;1189;p82" title="one third 24 over 70 12 over 35 17 over 34"/>
          <p:cNvPicPr preferRelativeResize="0"/>
          <p:nvPr/>
        </p:nvPicPr>
        <p:blipFill rotWithShape="1">
          <a:blip r:embed="rId5">
            <a:alphaModFix/>
          </a:blip>
          <a:srcRect b="0" l="0" r="84309" t="0"/>
          <a:stretch/>
        </p:blipFill>
        <p:spPr>
          <a:xfrm>
            <a:off x="6756625" y="1080000"/>
            <a:ext cx="208775" cy="50830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0" name="Google Shape;1190;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5855" r="88040" t="0"/>
          <a:stretch/>
        </p:blipFill>
        <p:spPr>
          <a:xfrm>
            <a:off x="1401951" y="2132950"/>
            <a:ext cx="269877"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1" name="Google Shape;1191;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12679" r="80074" t="0"/>
          <a:stretch/>
        </p:blipFill>
        <p:spPr>
          <a:xfrm>
            <a:off x="2071001" y="2132950"/>
            <a:ext cx="320374"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2" name="Google Shape;1192;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20159" r="74358" t="0"/>
          <a:stretch/>
        </p:blipFill>
        <p:spPr>
          <a:xfrm>
            <a:off x="2423052" y="1827175"/>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3" name="Google Shape;1193;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25634" r="67120" t="0"/>
          <a:stretch/>
        </p:blipFill>
        <p:spPr>
          <a:xfrm>
            <a:off x="2790553" y="2113675"/>
            <a:ext cx="320374"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4" name="Google Shape;1194;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32409" r="61486" t="0"/>
          <a:stretch/>
        </p:blipFill>
        <p:spPr>
          <a:xfrm>
            <a:off x="3128478" y="1840225"/>
            <a:ext cx="269877"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5" name="Google Shape;1195;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38721" r="54032" t="0"/>
          <a:stretch/>
        </p:blipFill>
        <p:spPr>
          <a:xfrm>
            <a:off x="3534191" y="2113675"/>
            <a:ext cx="320374"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6" name="Google Shape;1196;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46085" r="48432" t="0"/>
          <a:stretch/>
        </p:blipFill>
        <p:spPr>
          <a:xfrm>
            <a:off x="3859367" y="1840225"/>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7" name="Google Shape;1197;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51716" r="38601" t="0"/>
          <a:stretch/>
        </p:blipFill>
        <p:spPr>
          <a:xfrm>
            <a:off x="5560780" y="2113675"/>
            <a:ext cx="428125"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8" name="Google Shape;1198;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62240" r="33038" t="0"/>
          <a:stretch/>
        </p:blipFill>
        <p:spPr>
          <a:xfrm>
            <a:off x="6019806" y="1840225"/>
            <a:ext cx="208776"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199" name="Google Shape;1199;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87550" r="6967" t="0"/>
          <a:stretch/>
        </p:blipFill>
        <p:spPr>
          <a:xfrm>
            <a:off x="7455876" y="1827175"/>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00" name="Google Shape;1200;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93896" r="0" t="0"/>
          <a:stretch/>
        </p:blipFill>
        <p:spPr>
          <a:xfrm>
            <a:off x="7917286" y="2132950"/>
            <a:ext cx="269877"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01" name="Google Shape;1201;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0" r="95278" t="0"/>
          <a:stretch/>
        </p:blipFill>
        <p:spPr>
          <a:xfrm>
            <a:off x="969225" y="1827175"/>
            <a:ext cx="208776"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02" name="Google Shape;1202;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80650" r="12103" t="0"/>
          <a:stretch/>
        </p:blipFill>
        <p:spPr>
          <a:xfrm>
            <a:off x="7138826" y="2132950"/>
            <a:ext cx="320374"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03" name="Google Shape;1203;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75233" r="20044" t="0"/>
          <a:stretch/>
        </p:blipFill>
        <p:spPr>
          <a:xfrm>
            <a:off x="6737839" y="1827175"/>
            <a:ext cx="208776"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04" name="Google Shape;1204;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67643" r="25110" t="0"/>
          <a:stretch/>
        </p:blipFill>
        <p:spPr>
          <a:xfrm>
            <a:off x="6416612" y="2132950"/>
            <a:ext cx="320374"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05" name="Google Shape;1205;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0" r="95239" t="0"/>
          <a:stretch/>
        </p:blipFill>
        <p:spPr>
          <a:xfrm>
            <a:off x="4254751" y="2107050"/>
            <a:ext cx="307450" cy="44925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206" name="Google Shape;1206;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35711" r="59171" t="0"/>
          <a:stretch/>
        </p:blipFill>
        <p:spPr>
          <a:xfrm>
            <a:off x="3142212" y="2573100"/>
            <a:ext cx="242399" cy="476600"/>
          </a:xfrm>
          <a:prstGeom prst="rect">
            <a:avLst/>
          </a:prstGeom>
          <a:noFill/>
          <a:ln>
            <a:noFill/>
          </a:ln>
        </p:spPr>
      </p:pic>
      <p:pic>
        <p:nvPicPr>
          <p:cNvPr descr="&lt;math xmlns=&quot;http://www.w3.org/1998/Math/MathML&quot; display=&quot;block&quot; data-is-equatio=&quot;1&quot; data-latex=&quot;\frac{2}{5}\frac{36}{48}\frac{10}{25}\frac{18}{42}\frac{9}{21}\frac{15}{25}\frac{3}{5}\frac{24}{36}\frac{12}{18}\frac{6}{15}\frac{9}{12}\frac{3}{4}\frac{12}{36}\frac{6}{18}\frac{4}{12}\frac{1}{3}\frac{24}{72}&quot;&gt;&lt;mfrac&gt;&lt;mn&gt;2&lt;/mn&gt;&lt;mn&gt;5&lt;/mn&gt;&lt;/mfrac&gt;&lt;mfrac&gt;&lt;mn&gt;36&lt;/mn&gt;&lt;mn&gt;48&lt;/mn&gt;&lt;/mfrac&gt;&lt;mfrac&gt;&lt;mn&gt;10&lt;/mn&gt;&lt;mn&gt;25&lt;/mn&gt;&lt;/mfrac&gt;&lt;mfrac&gt;&lt;mn&gt;18&lt;/mn&gt;&lt;mn&gt;42&lt;/mn&gt;&lt;/mfrac&gt;&lt;mfrac&gt;&lt;mn&gt;9&lt;/mn&gt;&lt;mn&gt;21&lt;/mn&gt;&lt;/mfrac&gt;&lt;mfrac&gt;&lt;mn&gt;15&lt;/mn&gt;&lt;mn&gt;25&lt;/mn&gt;&lt;/mfrac&gt;&lt;mfrac&gt;&lt;mn&gt;3&lt;/mn&gt;&lt;mn&gt;5&lt;/mn&gt;&lt;/mfrac&gt;&lt;mfrac&gt;&lt;mn&gt;24&lt;/mn&gt;&lt;mn&gt;36&lt;/mn&gt;&lt;/mfrac&gt;&lt;mfrac&gt;&lt;mn&gt;12&lt;/mn&gt;&lt;mn&gt;18&lt;/mn&gt;&lt;/mfrac&gt;&lt;mfrac&gt;&lt;mn&gt;6&lt;/mn&gt;&lt;mn&gt;15&lt;/mn&gt;&lt;/mfrac&gt;&lt;mfrac&gt;&lt;mn&gt;9&lt;/mn&gt;&lt;mn&gt;12&lt;/mn&gt;&lt;/mfrac&gt;&lt;mfrac&gt;&lt;mn&gt;3&lt;/mn&gt;&lt;mn&gt;4&lt;/mn&gt;&lt;/mfrac&gt;&lt;mfrac&gt;&lt;mn&gt;12&lt;/mn&gt;&lt;mn&gt;36&lt;/mn&gt;&lt;/mfrac&gt;&lt;mfrac&gt;&lt;mn&gt;6&lt;/mn&gt;&lt;mn&gt;18&lt;/mn&gt;&lt;/mfrac&gt;&lt;mfrac&gt;&lt;mn&gt;4&lt;/mn&gt;&lt;mn&gt;12&lt;/mn&gt;&lt;/mfrac&gt;&lt;mfrac&gt;&lt;mn&gt;1&lt;/mn&gt;&lt;mn&gt;3&lt;/mn&gt;&lt;/mfrac&gt;&lt;mfrac&gt;&lt;mn&gt;24&lt;/mn&gt;&lt;mn&gt;72&lt;/mn&gt;&lt;/mfrac&gt;&lt;/math&gt;" id="1207" name="Google Shape;1207;p82" title="two fifths 36 over 48 10 over 25 18 over 42 9 over 21 15 over 25 three fifths 24 over 36 12 over 18 6 over 15 9 over 12 three fourths 12 over 36 6 over 18 4 over 12 one third 24 over 72"/>
          <p:cNvPicPr preferRelativeResize="0"/>
          <p:nvPr/>
        </p:nvPicPr>
        <p:blipFill rotWithShape="1">
          <a:blip r:embed="rId4">
            <a:alphaModFix/>
          </a:blip>
          <a:srcRect b="0" l="66144" r="29448" t="0"/>
          <a:stretch/>
        </p:blipFill>
        <p:spPr>
          <a:xfrm>
            <a:off x="952499" y="3327288"/>
            <a:ext cx="208774" cy="47660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08" name="Google Shape;1208;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32409" r="61486" t="0"/>
          <a:stretch/>
        </p:blipFill>
        <p:spPr>
          <a:xfrm>
            <a:off x="1684803" y="3318100"/>
            <a:ext cx="269877"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09" name="Google Shape;1209;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46085" r="48432" t="0"/>
          <a:stretch/>
        </p:blipFill>
        <p:spPr>
          <a:xfrm>
            <a:off x="5317605" y="3319413"/>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10" name="Google Shape;1210;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46085" r="48432" t="0"/>
          <a:stretch/>
        </p:blipFill>
        <p:spPr>
          <a:xfrm>
            <a:off x="3110917" y="4066200"/>
            <a:ext cx="24240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11" name="Google Shape;1211;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46085" r="48432" t="0"/>
          <a:stretch/>
        </p:blipFill>
        <p:spPr>
          <a:xfrm>
            <a:off x="7467742" y="2562925"/>
            <a:ext cx="242401" cy="449250"/>
          </a:xfrm>
          <a:prstGeom prst="rect">
            <a:avLst/>
          </a:prstGeom>
          <a:noFill/>
          <a:ln>
            <a:noFill/>
          </a:ln>
        </p:spPr>
      </p:pic>
      <p:pic>
        <p:nvPicPr>
          <p:cNvPr descr="&lt;math xmlns=&quot;http://www.w3.org/1998/Math/MathML&quot; display=&quot;block&quot; data-is-equatio=&quot;1&quot; data-latex=&quot;\frac{1}{3}\ \frac{24}{70}\ \frac{12}{35}\ \frac{17}{34}\ &quot;&gt;&lt;mfrac&gt;&lt;mn&gt;1&lt;/mn&gt;&lt;mn&gt;3&lt;/mn&gt;&lt;/mfrac&gt;&lt;mtext&gt;&lt;/mtext&gt;&lt;mfrac&gt;&lt;mn&gt;24&lt;/mn&gt;&lt;mn&gt;70&lt;/mn&gt;&lt;/mfrac&gt;&lt;mtext&gt;&lt;/mtext&gt;&lt;mfrac&gt;&lt;mn&gt;12&lt;/mn&gt;&lt;mn&gt;35&lt;/mn&gt;&lt;/mfrac&gt;&lt;mtext&gt;&lt;/mtext&gt;&lt;mfrac&gt;&lt;mn&gt;17&lt;/mn&gt;&lt;mn&gt;34&lt;/mn&gt;&lt;/mfrac&gt;&lt;mtext&gt;&lt;/mtext&gt;&lt;/math&gt;" id="1212" name="Google Shape;1212;p82" title="one third 24 over 70 12 over 35 17 over 34"/>
          <p:cNvPicPr preferRelativeResize="0"/>
          <p:nvPr/>
        </p:nvPicPr>
        <p:blipFill rotWithShape="1">
          <a:blip r:embed="rId5">
            <a:alphaModFix/>
          </a:blip>
          <a:srcRect b="0" l="0" r="84309" t="0"/>
          <a:stretch/>
        </p:blipFill>
        <p:spPr>
          <a:xfrm>
            <a:off x="6019800" y="4065850"/>
            <a:ext cx="208775" cy="50830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13" name="Google Shape;1213;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4241" r="91579" t="0"/>
          <a:stretch/>
        </p:blipFill>
        <p:spPr>
          <a:xfrm>
            <a:off x="4563800" y="1840225"/>
            <a:ext cx="269874"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14" name="Google Shape;1214;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8282" r="86757" t="0"/>
          <a:stretch/>
        </p:blipFill>
        <p:spPr>
          <a:xfrm>
            <a:off x="4975400" y="2107050"/>
            <a:ext cx="320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15" name="Google Shape;1215;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17313" r="78932" t="0"/>
          <a:stretch/>
        </p:blipFill>
        <p:spPr>
          <a:xfrm>
            <a:off x="952413" y="2577238"/>
            <a:ext cx="242399"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16" name="Google Shape;1216;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20886" r="74153" t="0"/>
          <a:stretch/>
        </p:blipFill>
        <p:spPr>
          <a:xfrm>
            <a:off x="1684800" y="2599975"/>
            <a:ext cx="320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17" name="Google Shape;1217;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94565" r="0" t="0"/>
          <a:stretch/>
        </p:blipFill>
        <p:spPr>
          <a:xfrm>
            <a:off x="7849350" y="2868850"/>
            <a:ext cx="35100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18" name="Google Shape;1218;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89153" r="6085" t="0"/>
          <a:stretch/>
        </p:blipFill>
        <p:spPr>
          <a:xfrm>
            <a:off x="7158599" y="2877838"/>
            <a:ext cx="30745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19" name="Google Shape;1219;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85002" r="11245" t="0"/>
          <a:stretch/>
        </p:blipFill>
        <p:spPr>
          <a:xfrm>
            <a:off x="6743926" y="2564250"/>
            <a:ext cx="242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0" name="Google Shape;1220;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76328" r="20439" t="0"/>
          <a:stretch/>
        </p:blipFill>
        <p:spPr>
          <a:xfrm>
            <a:off x="6019502" y="2579163"/>
            <a:ext cx="208776"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1" name="Google Shape;1221;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79416" r="15148" t="0"/>
          <a:stretch/>
        </p:blipFill>
        <p:spPr>
          <a:xfrm>
            <a:off x="6411187" y="2877850"/>
            <a:ext cx="35100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2" name="Google Shape;1222;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63555" r="31483" t="0"/>
          <a:stretch/>
        </p:blipFill>
        <p:spPr>
          <a:xfrm>
            <a:off x="5328961" y="2572638"/>
            <a:ext cx="320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3" name="Google Shape;1223;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56940" r="36431" t="0"/>
          <a:stretch/>
        </p:blipFill>
        <p:spPr>
          <a:xfrm>
            <a:off x="4862823" y="2883988"/>
            <a:ext cx="42812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4" name="Google Shape;1224;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69249" r="24122" t="0"/>
          <a:stretch/>
        </p:blipFill>
        <p:spPr>
          <a:xfrm>
            <a:off x="5586651" y="2894950"/>
            <a:ext cx="42812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5" name="Google Shape;1225;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52804" r="43016" t="0"/>
          <a:stretch/>
        </p:blipFill>
        <p:spPr>
          <a:xfrm>
            <a:off x="4580033" y="2574513"/>
            <a:ext cx="269874"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6" name="Google Shape;1226;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48132" r="47106" t="0"/>
          <a:stretch/>
        </p:blipFill>
        <p:spPr>
          <a:xfrm>
            <a:off x="4289125" y="2883988"/>
            <a:ext cx="30745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7" name="Google Shape;1227;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42325" r="52714" t="0"/>
          <a:stretch/>
        </p:blipFill>
        <p:spPr>
          <a:xfrm>
            <a:off x="3822125" y="2574513"/>
            <a:ext cx="320375"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8" name="Google Shape;1228;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37327" r="57912" t="0"/>
          <a:stretch/>
        </p:blipFill>
        <p:spPr>
          <a:xfrm>
            <a:off x="3513337" y="2857675"/>
            <a:ext cx="307450"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29" name="Google Shape;1229;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31422" r="63142" t="0"/>
          <a:stretch/>
        </p:blipFill>
        <p:spPr>
          <a:xfrm>
            <a:off x="2398179" y="2586775"/>
            <a:ext cx="351024"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30" name="Google Shape;1230;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25711" r="68417" t="0"/>
          <a:stretch/>
        </p:blipFill>
        <p:spPr>
          <a:xfrm>
            <a:off x="2016450" y="2853750"/>
            <a:ext cx="379202"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31" name="Google Shape;1231;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0" r="94549" t="0"/>
          <a:stretch/>
        </p:blipFill>
        <p:spPr>
          <a:xfrm>
            <a:off x="1372220" y="2882050"/>
            <a:ext cx="30745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32" name="Google Shape;1232;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75233" r="20044" t="0"/>
          <a:stretch/>
        </p:blipFill>
        <p:spPr>
          <a:xfrm>
            <a:off x="6019489" y="3324025"/>
            <a:ext cx="20877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33" name="Google Shape;1233;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5535" r="88784" t="0"/>
          <a:stretch/>
        </p:blipFill>
        <p:spPr>
          <a:xfrm>
            <a:off x="1365763" y="3631150"/>
            <a:ext cx="320377"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34" name="Google Shape;1234;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11878" r="82441" t="0"/>
          <a:stretch/>
        </p:blipFill>
        <p:spPr>
          <a:xfrm>
            <a:off x="2071001" y="3631150"/>
            <a:ext cx="320377"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35" name="Google Shape;1235;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17876" r="77826" t="0"/>
          <a:stretch/>
        </p:blipFill>
        <p:spPr>
          <a:xfrm>
            <a:off x="2418252" y="3318100"/>
            <a:ext cx="242375"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36" name="Google Shape;1236;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21648" r="72129" t="0"/>
          <a:stretch/>
        </p:blipFill>
        <p:spPr>
          <a:xfrm>
            <a:off x="2776227" y="3629000"/>
            <a:ext cx="351001"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37" name="Google Shape;1237;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34413" r="60136" t="0"/>
          <a:stretch/>
        </p:blipFill>
        <p:spPr>
          <a:xfrm>
            <a:off x="3540665" y="3620023"/>
            <a:ext cx="307451"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38" name="Google Shape;1238;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39620" r="55594" t="0"/>
          <a:stretch/>
        </p:blipFill>
        <p:spPr>
          <a:xfrm>
            <a:off x="3852153" y="3337475"/>
            <a:ext cx="26987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39" name="Google Shape;1239;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322090" l="6069" r="-6069" t="322090"/>
          <a:stretch/>
        </p:blipFill>
        <p:spPr>
          <a:xfrm>
            <a:off x="1243675" y="5766963"/>
            <a:ext cx="5640834"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40" name="Google Shape;1240;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50042" r="43235" t="0"/>
          <a:stretch/>
        </p:blipFill>
        <p:spPr>
          <a:xfrm>
            <a:off x="4571854" y="3340963"/>
            <a:ext cx="379199"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41" name="Google Shape;1241;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56347" r="37973" t="0"/>
          <a:stretch/>
        </p:blipFill>
        <p:spPr>
          <a:xfrm>
            <a:off x="4963173" y="3615750"/>
            <a:ext cx="320377"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42" name="Google Shape;1242;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62826" r="29583" t="0"/>
          <a:stretch/>
        </p:blipFill>
        <p:spPr>
          <a:xfrm>
            <a:off x="5582798" y="3611625"/>
            <a:ext cx="428125"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43" name="Google Shape;1243;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82604" r="11172" t="0"/>
          <a:stretch/>
        </p:blipFill>
        <p:spPr>
          <a:xfrm>
            <a:off x="7119498" y="3609063"/>
            <a:ext cx="35102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44" name="Google Shape;1244;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44413" r="49364" t="0"/>
          <a:stretch/>
        </p:blipFill>
        <p:spPr>
          <a:xfrm>
            <a:off x="4224041" y="3611613"/>
            <a:ext cx="351001"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45" name="Google Shape;1245;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95215" r="0" t="0"/>
          <a:stretch/>
        </p:blipFill>
        <p:spPr>
          <a:xfrm>
            <a:off x="7917284" y="3631150"/>
            <a:ext cx="26987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46" name="Google Shape;1246;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88842" r="4934" t="0"/>
          <a:stretch/>
        </p:blipFill>
        <p:spPr>
          <a:xfrm>
            <a:off x="7467154" y="3318963"/>
            <a:ext cx="351026" cy="449250"/>
          </a:xfrm>
          <a:prstGeom prst="rect">
            <a:avLst/>
          </a:prstGeom>
          <a:noFill/>
          <a:ln>
            <a:noFill/>
          </a:ln>
        </p:spPr>
      </p:pic>
      <p:pic>
        <p:nvPicPr>
          <p:cNvPr descr="&lt;math xmlns=&quot;http://www.w3.org/1998/Math/MathML&quot; display=&quot;block&quot; data-is-equatio=&quot;1&quot; data-latex=&quot;\frac{18}{24}\ \frac{12}{36}\ \frac{28}{35}\ \frac{7}{5}\ \frac{22}{30}\ \frac{9}{10}\ \frac{18}{27}\ \frac{6}{9}\ \frac{36}{42}\ \frac{18}{21}\ \frac{15}{36}\ \frac{90}{105}\ \frac{32}{48}\ \frac{42}{48}\ \frac{45}{60}\ \frac{9}{12}\ \frac{15}{21}&quot;&gt;&lt;mfrac&gt;&lt;mn&gt;18&lt;/mn&gt;&lt;mn&gt;24&lt;/mn&gt;&lt;/mfrac&gt;&lt;mtext&gt;&lt;/mtext&gt;&lt;mfrac&gt;&lt;mn&gt;12&lt;/mn&gt;&lt;mn&gt;36&lt;/mn&gt;&lt;/mfrac&gt;&lt;mtext&gt;&lt;/mtext&gt;&lt;mfrac&gt;&lt;mn&gt;28&lt;/mn&gt;&lt;mn&gt;35&lt;/mn&gt;&lt;/mfrac&gt;&lt;mtext&gt;&lt;/mtext&gt;&lt;mfrac&gt;&lt;mn&gt;7&lt;/mn&gt;&lt;mn&gt;5&lt;/mn&gt;&lt;/mfrac&gt;&lt;mtext&gt;&lt;/mtext&gt;&lt;mfrac&gt;&lt;mn&gt;22&lt;/mn&gt;&lt;mn&gt;30&lt;/mn&gt;&lt;/mfrac&gt;&lt;mtext&gt;&lt;/mtext&gt;&lt;mfrac&gt;&lt;mn&gt;9&lt;/mn&gt;&lt;mn&gt;10&lt;/mn&gt;&lt;/mfrac&gt;&lt;mtext&gt;&lt;/mtext&gt;&lt;mfrac&gt;&lt;mn&gt;18&lt;/mn&gt;&lt;mn&gt;27&lt;/mn&gt;&lt;/mfrac&gt;&lt;mtext&gt;&lt;/mtext&gt;&lt;mfrac&gt;&lt;mn&gt;6&lt;/mn&gt;&lt;mn&gt;9&lt;/mn&gt;&lt;/mfrac&gt;&lt;mtext&gt;&lt;/mtext&gt;&lt;mfrac&gt;&lt;mn&gt;36&lt;/mn&gt;&lt;mn&gt;42&lt;/mn&gt;&lt;/mfrac&gt;&lt;mtext&gt;&lt;/mtext&gt;&lt;mfrac&gt;&lt;mn&gt;18&lt;/mn&gt;&lt;mn&gt;21&lt;/mn&gt;&lt;/mfrac&gt;&lt;mtext&gt;&lt;/mtext&gt;&lt;mfrac&gt;&lt;mn&gt;15&lt;/mn&gt;&lt;mn&gt;36&lt;/mn&gt;&lt;/mfrac&gt;&lt;mtext&gt;&lt;/mtext&gt;&lt;mfrac&gt;&lt;mn&gt;90&lt;/mn&gt;&lt;mn&gt;105&lt;/mn&gt;&lt;/mfrac&gt;&lt;mtext&gt;&lt;/mtext&gt;&lt;mfrac&gt;&lt;mn&gt;32&lt;/mn&gt;&lt;mn&gt;48&lt;/mn&gt;&lt;/mfrac&gt;&lt;mtext&gt;&lt;/mtext&gt;&lt;mfrac&gt;&lt;mn&gt;42&lt;/mn&gt;&lt;mn&gt;48&lt;/mn&gt;&lt;/mfrac&gt;&lt;mtext&gt;&lt;/mtext&gt;&lt;mfrac&gt;&lt;mn&gt;45&lt;/mn&gt;&lt;mn&gt;60&lt;/mn&gt;&lt;/mfrac&gt;&lt;mtext&gt;&lt;/mtext&gt;&lt;mfrac&gt;&lt;mn&gt;9&lt;/mn&gt;&lt;mn&gt;12&lt;/mn&gt;&lt;/mfrac&gt;&lt;mtext&gt;&lt;/mtext&gt;&lt;mfrac&gt;&lt;mn&gt;15&lt;/mn&gt;&lt;mn&gt;21&lt;/mn&gt;&lt;/mfrac&gt;&lt;/math&gt;" id="1247" name="Google Shape;1247;p82" title="18 over 24 12 over 36 28 over 35 seven fifths 22 over 30 nine tenths 18 over 27 six ninths 36 over 42 18 over 21 15 over 36 90 over 105 32 over 48 42 over 48 45 over 60 9 over 12 15 over 21"/>
          <p:cNvPicPr preferRelativeResize="0"/>
          <p:nvPr/>
        </p:nvPicPr>
        <p:blipFill rotWithShape="1">
          <a:blip r:embed="rId8">
            <a:alphaModFix/>
          </a:blip>
          <a:srcRect b="0" l="77001" r="17547" t="0"/>
          <a:stretch/>
        </p:blipFill>
        <p:spPr>
          <a:xfrm>
            <a:off x="6743330" y="3318275"/>
            <a:ext cx="307451" cy="449250"/>
          </a:xfrm>
          <a:prstGeom prst="rect">
            <a:avLst/>
          </a:prstGeom>
          <a:noFill/>
          <a:ln>
            <a:noFill/>
          </a:ln>
        </p:spPr>
      </p:pic>
      <p:pic>
        <p:nvPicPr>
          <p:cNvPr descr="&lt;math xmlns=&quot;http://www.w3.org/1998/Math/MathML&quot; display=&quot;block&quot; data-is-equatio=&quot;1&quot; data-latex=&quot;\frac{3}{5}\ \frac{10}{12}\ \frac{36}{60}\ \frac{3}{5}\ \frac{18}{36}\ \frac{1}{2}\ \frac{33}{55}\ \frac{2}{3}\ \frac{45}{135}\ \frac{1}{3}\ \frac{21}{49}\ \frac{4}{7}\ \frac{21}{42}\ \frac{1}{2}\ \frac{20}{30}\ &quot;&gt;&lt;mfrac&gt;&lt;mn&gt;3&lt;/mn&gt;&lt;mn&gt;5&lt;/mn&gt;&lt;/mfrac&gt;&lt;mtext&gt;&lt;/mtext&gt;&lt;mfrac&gt;&lt;mn&gt;10&lt;/mn&gt;&lt;mn&gt;12&lt;/mn&gt;&lt;/mfrac&gt;&lt;mtext&gt;&lt;/mtext&gt;&lt;mfrac&gt;&lt;mn&gt;36&lt;/mn&gt;&lt;mn&gt;60&lt;/mn&gt;&lt;/mfrac&gt;&lt;mtext&gt;&lt;/mtext&gt;&lt;mfrac&gt;&lt;mn&gt;3&lt;/mn&gt;&lt;mn&gt;5&lt;/mn&gt;&lt;/mfrac&gt;&lt;mtext&gt;&lt;/mtext&gt;&lt;mfrac&gt;&lt;mn&gt;18&lt;/mn&gt;&lt;mn&gt;36&lt;/mn&gt;&lt;/mfrac&gt;&lt;mtext&gt;&lt;/mtext&gt;&lt;mfrac&gt;&lt;mn&gt;1&lt;/mn&gt;&lt;mn&gt;2&lt;/mn&gt;&lt;/mfrac&gt;&lt;mtext&gt;&lt;/mtext&gt;&lt;mfrac&gt;&lt;mn&gt;33&lt;/mn&gt;&lt;mn&gt;55&lt;/mn&gt;&lt;/mfrac&gt;&lt;mtext&gt;&lt;/mtext&gt;&lt;mfrac&gt;&lt;mn&gt;2&lt;/mn&gt;&lt;mn&gt;3&lt;/mn&gt;&lt;/mfrac&gt;&lt;mtext&gt;&lt;/mtext&gt;&lt;mfrac&gt;&lt;mn&gt;45&lt;/mn&gt;&lt;mn&gt;135&lt;/mn&gt;&lt;/mfrac&gt;&lt;mtext&gt;&lt;/mtext&gt;&lt;mfrac&gt;&lt;mn&gt;1&lt;/mn&gt;&lt;mn&gt;3&lt;/mn&gt;&lt;/mfrac&gt;&lt;mtext&gt;&lt;/mtext&gt;&lt;mfrac&gt;&lt;mn&gt;21&lt;/mn&gt;&lt;mn&gt;49&lt;/mn&gt;&lt;/mfrac&gt;&lt;mtext&gt;&lt;/mtext&gt;&lt;mfrac&gt;&lt;mn&gt;4&lt;/mn&gt;&lt;mn&gt;7&lt;/mn&gt;&lt;/mfrac&gt;&lt;mtext&gt;&lt;/mtext&gt;&lt;mfrac&gt;&lt;mn&gt;21&lt;/mn&gt;&lt;mn&gt;42&lt;/mn&gt;&lt;/mfrac&gt;&lt;mtext&gt;&lt;/mtext&gt;&lt;mfrac&gt;&lt;mn&gt;1&lt;/mn&gt;&lt;mn&gt;2&lt;/mn&gt;&lt;/mfrac&gt;&lt;mtext&gt;&lt;/mtext&gt;&lt;mfrac&gt;&lt;mn&gt;20&lt;/mn&gt;&lt;mn&gt;30&lt;/mn&gt;&lt;/mfrac&gt;&lt;mtext&gt;&lt;/mtext&gt;&lt;/math&gt;" id="1248" name="Google Shape;1248;p82" title="three fifths 10 over 12 36 over 60 three fifths 18 over 36 one half 33 over 55 two thirds 45 over 135 one third 21 over 49 four sevenths 21 over 42 one half 20 over 30"/>
          <p:cNvPicPr preferRelativeResize="0"/>
          <p:nvPr/>
        </p:nvPicPr>
        <p:blipFill rotWithShape="1">
          <a:blip r:embed="rId6">
            <a:alphaModFix/>
          </a:blip>
          <a:srcRect b="0" l="75233" r="20044" t="0"/>
          <a:stretch/>
        </p:blipFill>
        <p:spPr>
          <a:xfrm>
            <a:off x="1684789" y="4066200"/>
            <a:ext cx="208776" cy="449250"/>
          </a:xfrm>
          <a:prstGeom prst="rect">
            <a:avLst/>
          </a:prstGeom>
          <a:noFill/>
          <a:ln>
            <a:noFill/>
          </a:ln>
        </p:spPr>
      </p:pic>
      <p:pic>
        <p:nvPicPr>
          <p:cNvPr descr="&lt;math xmlns=&quot;http://www.w3.org/1998/Math/MathML&quot; display=&quot;block&quot; data-is-equatio=&quot;1&quot; data-latex=&quot;\frac{18}{63}\ \frac{2}{7}\ \frac{18}{27}\ \frac{2}{3}\ \frac{5}{6}\ \frac{9}{15}\ \frac{36}{72}\ \frac{9}{18}\ \frac{18}{20}\ \frac{9}{10}\ \frac{42}{49}\ \frac{6}{7}\ \frac{65}{100}\ \frac{13}{20}\ \frac{18}{120}\ \frac{3}{7}\ \frac{32}{56}\ \frac{3}{6}\ \frac{12}{18}\ \frac{90}{120}&quot;&gt;&lt;mfrac&gt;&lt;mn&gt;18&lt;/mn&gt;&lt;mn&gt;63&lt;/mn&gt;&lt;/mfrac&gt;&lt;mtext&gt;&lt;/mtext&gt;&lt;mfrac&gt;&lt;mn&gt;2&lt;/mn&gt;&lt;mn&gt;7&lt;/mn&gt;&lt;/mfrac&gt;&lt;mtext&gt;&lt;/mtext&gt;&lt;mfrac&gt;&lt;mn&gt;18&lt;/mn&gt;&lt;mn&gt;27&lt;/mn&gt;&lt;/mfrac&gt;&lt;mtext&gt;&lt;/mtext&gt;&lt;mfrac&gt;&lt;mn&gt;2&lt;/mn&gt;&lt;mn&gt;3&lt;/mn&gt;&lt;/mfrac&gt;&lt;mtext&gt;&lt;/mtext&gt;&lt;mfrac&gt;&lt;mn&gt;5&lt;/mn&gt;&lt;mn&gt;6&lt;/mn&gt;&lt;/mfrac&gt;&lt;mtext&gt;&lt;/mtext&gt;&lt;mfrac&gt;&lt;mn&gt;9&lt;/mn&gt;&lt;mn&gt;15&lt;/mn&gt;&lt;/mfrac&gt;&lt;mtext&gt;&lt;/mtext&gt;&lt;mfrac&gt;&lt;mn&gt;36&lt;/mn&gt;&lt;mn&gt;72&lt;/mn&gt;&lt;/mfrac&gt;&lt;mtext&gt;&lt;/mtext&gt;&lt;mfrac&gt;&lt;mn&gt;9&lt;/mn&gt;&lt;mn&gt;18&lt;/mn&gt;&lt;/mfrac&gt;&lt;mtext&gt;&lt;/mtext&gt;&lt;mfrac&gt;&lt;mn&gt;18&lt;/mn&gt;&lt;mn&gt;20&lt;/mn&gt;&lt;/mfrac&gt;&lt;mtext&gt;&lt;/mtext&gt;&lt;mfrac&gt;&lt;mn&gt;9&lt;/mn&gt;&lt;mn&gt;10&lt;/mn&gt;&lt;/mfrac&gt;&lt;mtext&gt;&lt;/mtext&gt;&lt;mfrac&gt;&lt;mn&gt;42&lt;/mn&gt;&lt;mn&gt;49&lt;/mn&gt;&lt;/mfrac&gt;&lt;mtext&gt;&lt;/mtext&gt;&lt;mfrac&gt;&lt;mn&gt;6&lt;/mn&gt;&lt;mn&gt;7&lt;/mn&gt;&lt;/mfrac&gt;&lt;mtext&gt;&lt;/mtext&gt;&lt;mfrac&gt;&lt;mn&gt;65&lt;/mn&gt;&lt;mn&gt;100&lt;/mn&gt;&lt;/mfrac&gt;&lt;mtext&gt;&lt;/mtext&gt;&lt;mfrac&gt;&lt;mn&gt;13&lt;/mn&gt;&lt;mn&gt;20&lt;/mn&gt;&lt;/mfrac&gt;&lt;mtext&gt;&lt;/mtext&gt;&lt;mfrac&gt;&lt;mn&gt;18&lt;/mn&gt;&lt;mn&gt;120&lt;/mn&gt;&lt;/mfrac&gt;&lt;mtext&gt;&lt;/mtext&gt;&lt;mfrac&gt;&lt;mn&gt;3&lt;/mn&gt;&lt;mn&gt;7&lt;/mn&gt;&lt;/mfrac&gt;&lt;mtext&gt;&lt;/mtext&gt;&lt;mfrac&gt;&lt;mn&gt;32&lt;/mn&gt;&lt;mn&gt;56&lt;/mn&gt;&lt;/mfrac&gt;&lt;mtext&gt;&lt;/mtext&gt;&lt;mfrac&gt;&lt;mn&gt;3&lt;/mn&gt;&lt;mn&gt;6&lt;/mn&gt;&lt;/mfrac&gt;&lt;mtext&gt;&lt;/mtext&gt;&lt;mfrac&gt;&lt;mn&gt;12&lt;/mn&gt;&lt;mn&gt;18&lt;/mn&gt;&lt;/mfrac&gt;&lt;mtext&gt;&lt;/mtext&gt;&lt;mfrac&gt;&lt;mn&gt;90&lt;/mn&gt;&lt;mn&gt;120&lt;/mn&gt;&lt;/mfrac&gt;&lt;/math&gt;" id="1249" name="Google Shape;1249;p82" title="18 over 63 two sevenths 18 over 27 two thirds five sixths 9 over 15 36 over 72 9 over 18 18 over 20 nine tenths 42 over 49 six sevenths 65 over 100 13 over 20 18 over 120 three sevenths 32 over 56 three sixths 12 over 18 90 over 120"/>
          <p:cNvPicPr preferRelativeResize="0"/>
          <p:nvPr/>
        </p:nvPicPr>
        <p:blipFill rotWithShape="1">
          <a:blip r:embed="rId7">
            <a:alphaModFix/>
          </a:blip>
          <a:srcRect b="0" l="52804" r="43016" t="0"/>
          <a:stretch/>
        </p:blipFill>
        <p:spPr>
          <a:xfrm>
            <a:off x="3852158" y="4066188"/>
            <a:ext cx="269874" cy="4492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0" name="Google Shape;1250;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0" r="96298" t="0"/>
          <a:stretch/>
        </p:blipFill>
        <p:spPr>
          <a:xfrm>
            <a:off x="959787" y="4059550"/>
            <a:ext cx="208776"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1" name="Google Shape;1251;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3915" r="90634" t="0"/>
          <a:stretch/>
        </p:blipFill>
        <p:spPr>
          <a:xfrm>
            <a:off x="1365776" y="4357825"/>
            <a:ext cx="307450"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2" name="Google Shape;1252;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15512" r="79703" t="0"/>
          <a:stretch/>
        </p:blipFill>
        <p:spPr>
          <a:xfrm>
            <a:off x="2409798" y="4066200"/>
            <a:ext cx="269876"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3" name="Google Shape;1253;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9689" r="84087" t="0"/>
          <a:stretch/>
        </p:blipFill>
        <p:spPr>
          <a:xfrm>
            <a:off x="2030543" y="4357825"/>
            <a:ext cx="351025"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4" name="Google Shape;1254;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19999" r="73277" t="0"/>
          <a:stretch/>
        </p:blipFill>
        <p:spPr>
          <a:xfrm>
            <a:off x="2738898" y="4357825"/>
            <a:ext cx="379199"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5" name="Google Shape;1255;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41544" r="51733" t="0"/>
          <a:stretch/>
        </p:blipFill>
        <p:spPr>
          <a:xfrm>
            <a:off x="4183771" y="4339250"/>
            <a:ext cx="379199"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6" name="Google Shape;1256;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31384" r="62935" t="0"/>
          <a:stretch/>
        </p:blipFill>
        <p:spPr>
          <a:xfrm>
            <a:off x="3534209" y="4362000"/>
            <a:ext cx="320373"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7" name="Google Shape;1257;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54170" r="39607" t="0"/>
          <a:stretch/>
        </p:blipFill>
        <p:spPr>
          <a:xfrm>
            <a:off x="4963144" y="4356727"/>
            <a:ext cx="351001"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8" name="Google Shape;1258;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61935" r="32613" t="0"/>
          <a:stretch/>
        </p:blipFill>
        <p:spPr>
          <a:xfrm>
            <a:off x="5687524" y="4350611"/>
            <a:ext cx="307450"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59" name="Google Shape;1259;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10" l="68147" r="24262" t="0"/>
          <a:stretch/>
        </p:blipFill>
        <p:spPr>
          <a:xfrm>
            <a:off x="6300944" y="4374988"/>
            <a:ext cx="428127" cy="462525"/>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60" name="Google Shape;1260;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95215" r="0" t="0"/>
          <a:stretch/>
        </p:blipFill>
        <p:spPr>
          <a:xfrm>
            <a:off x="6465475" y="3602425"/>
            <a:ext cx="269876"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61" name="Google Shape;1261;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10" l="82311" r="11465" t="0"/>
          <a:stretch/>
        </p:blipFill>
        <p:spPr>
          <a:xfrm>
            <a:off x="7090662" y="4340300"/>
            <a:ext cx="351025" cy="462525"/>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62" name="Google Shape;1262;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47870" r="45906" t="0"/>
          <a:stretch/>
        </p:blipFill>
        <p:spPr>
          <a:xfrm>
            <a:off x="4587557" y="4070913"/>
            <a:ext cx="351025"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63" name="Google Shape;1263;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37727" r="58571" t="0"/>
          <a:stretch/>
        </p:blipFill>
        <p:spPr>
          <a:xfrm>
            <a:off x="5306306" y="4066200"/>
            <a:ext cx="208776"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64" name="Google Shape;1264;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76026" r="18294" t="0"/>
          <a:stretch/>
        </p:blipFill>
        <p:spPr>
          <a:xfrm>
            <a:off x="6743926" y="4072300"/>
            <a:ext cx="320373" cy="462550"/>
          </a:xfrm>
          <a:prstGeom prst="rect">
            <a:avLst/>
          </a:prstGeom>
          <a:noFill/>
          <a:ln>
            <a:noFill/>
          </a:ln>
        </p:spPr>
      </p:pic>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65" name="Google Shape;1265;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10" l="88330" r="5446" t="0"/>
          <a:stretch/>
        </p:blipFill>
        <p:spPr>
          <a:xfrm>
            <a:off x="2761201" y="2864700"/>
            <a:ext cx="351001" cy="462525"/>
          </a:xfrm>
          <a:prstGeom prst="rect">
            <a:avLst/>
          </a:prstGeom>
          <a:noFill/>
          <a:ln>
            <a:noFill/>
          </a:ln>
        </p:spPr>
      </p:pic>
      <p:sp>
        <p:nvSpPr>
          <p:cNvPr id="1266" name="Google Shape;1266;p82"/>
          <p:cNvSpPr txBox="1"/>
          <p:nvPr/>
        </p:nvSpPr>
        <p:spPr>
          <a:xfrm>
            <a:off x="7520750" y="4454609"/>
            <a:ext cx="68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END</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frac{3}{20}\\&amp;#13;&amp;#10;\frac{8}{10}\end{array}\begin{array}{l}\\&amp;#13;&amp;#10;\end{array}&quot;&gt;&lt;mtable columnalign=&quot;left&quot; columnspacing=&quot;1em&quot; rowspacing=&quot;4pt&quot;&gt;&lt;mtr&gt;&lt;mtd&gt;&lt;mfrac&gt;&lt;mn&gt;3&lt;/mn&gt;&lt;mn&gt;20&lt;/mn&gt;&lt;/mfrac&gt;&lt;/mtd&gt;&lt;/mtr&gt;&lt;mtr&gt;&lt;mtd&gt;&lt;mfrac&gt;&lt;mn&gt;8&lt;/mn&gt;&lt;mn&gt;10&lt;/mn&gt;&lt;/mfrac&gt;&lt;/mtd&gt;&lt;/mtr&gt;&lt;/mtable&gt;&lt;mtable columnalign=&quot;left&quot; columnspacing=&quot;1em&quot; rowspacing=&quot;4pt&quot;&gt;&lt;mtr&gt;&lt;mtd/&gt;&lt;/mtr&gt;&lt;/mtable&gt;&lt;/math&gt;" id="1267" name="Google Shape;1267;p82" title="2 lines Line 1: 3 over 20 Line 2: eight tenths 1 lines Line 1: blank"/>
          <p:cNvPicPr preferRelativeResize="0"/>
          <p:nvPr/>
        </p:nvPicPr>
        <p:blipFill rotWithShape="1">
          <a:blip r:embed="rId10">
            <a:alphaModFix/>
          </a:blip>
          <a:srcRect b="48948" l="0" r="0" t="0"/>
          <a:stretch/>
        </p:blipFill>
        <p:spPr>
          <a:xfrm>
            <a:off x="5307075" y="1834000"/>
            <a:ext cx="242400" cy="461700"/>
          </a:xfrm>
          <a:prstGeom prst="rect">
            <a:avLst/>
          </a:prstGeom>
          <a:noFill/>
          <a:ln>
            <a:noFill/>
          </a:ln>
        </p:spPr>
      </p:pic>
      <p:pic>
        <p:nvPicPr>
          <p:cNvPr descr="&lt;math xmlns=&quot;http://www.w3.org/1998/Math/MathML&quot; display=&quot;block&quot; data-is-equatio=&quot;1&quot; data-latex=&quot;\begin{array}{l}\frac{3}{20}\\&amp;#13;&amp;#10;\frac{8}{10}\end{array}\begin{array}{l}\\&amp;#13;&amp;#10;\end{array}&quot;&gt;&lt;mtable columnalign=&quot;left&quot; columnspacing=&quot;1em&quot; rowspacing=&quot;4pt&quot;&gt;&lt;mtr&gt;&lt;mtd&gt;&lt;mfrac&gt;&lt;mn&gt;3&lt;/mn&gt;&lt;mn&gt;20&lt;/mn&gt;&lt;/mfrac&gt;&lt;/mtd&gt;&lt;/mtr&gt;&lt;mtr&gt;&lt;mtd&gt;&lt;mfrac&gt;&lt;mn&gt;8&lt;/mn&gt;&lt;mn&gt;10&lt;/mn&gt;&lt;/mfrac&gt;&lt;/mtd&gt;&lt;/mtr&gt;&lt;/mtable&gt;&lt;mtable columnalign=&quot;left&quot; columnspacing=&quot;1em&quot; rowspacing=&quot;4pt&quot;&gt;&lt;mtr&gt;&lt;mtd/&gt;&lt;/mtr&gt;&lt;/mtable&gt;&lt;/math&gt;" id="1268" name="Google Shape;1268;p82" title="2 lines Line 1: 3 over 20 Line 2: eight tenths 1 lines Line 1: blank"/>
          <p:cNvPicPr preferRelativeResize="0"/>
          <p:nvPr/>
        </p:nvPicPr>
        <p:blipFill rotWithShape="1">
          <a:blip r:embed="rId10">
            <a:alphaModFix/>
          </a:blip>
          <a:srcRect b="0" l="0" r="0" t="48854"/>
          <a:stretch/>
        </p:blipFill>
        <p:spPr>
          <a:xfrm>
            <a:off x="3135188" y="3326672"/>
            <a:ext cx="242400" cy="462550"/>
          </a:xfrm>
          <a:prstGeom prst="rect">
            <a:avLst/>
          </a:prstGeom>
          <a:noFill/>
          <a:ln>
            <a:noFill/>
          </a:ln>
        </p:spPr>
      </p:pic>
      <p:sp>
        <p:nvSpPr>
          <p:cNvPr id="1269" name="Google Shape;1269;p82"/>
          <p:cNvSpPr/>
          <p:nvPr/>
        </p:nvSpPr>
        <p:spPr>
          <a:xfrm>
            <a:off x="1942443" y="1737988"/>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0" name="Google Shape;1270;p82"/>
          <p:cNvSpPr/>
          <p:nvPr/>
        </p:nvSpPr>
        <p:spPr>
          <a:xfrm rot="-5400000">
            <a:off x="2193175" y="1839475"/>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1" name="Google Shape;1271;p82"/>
          <p:cNvSpPr/>
          <p:nvPr/>
        </p:nvSpPr>
        <p:spPr>
          <a:xfrm rot="-5400000">
            <a:off x="2914820" y="1810300"/>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2" name="Google Shape;1272;p82"/>
          <p:cNvSpPr/>
          <p:nvPr/>
        </p:nvSpPr>
        <p:spPr>
          <a:xfrm>
            <a:off x="3401243" y="2432300"/>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3" name="Google Shape;1273;p82"/>
          <p:cNvSpPr/>
          <p:nvPr/>
        </p:nvSpPr>
        <p:spPr>
          <a:xfrm rot="-5400000">
            <a:off x="3656395" y="2554300"/>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4" name="Google Shape;1274;p82"/>
          <p:cNvSpPr/>
          <p:nvPr/>
        </p:nvSpPr>
        <p:spPr>
          <a:xfrm rot="-5400000">
            <a:off x="4393495" y="2607625"/>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5" name="Google Shape;1275;p82"/>
          <p:cNvSpPr/>
          <p:nvPr/>
        </p:nvSpPr>
        <p:spPr>
          <a:xfrm rot="-5400000">
            <a:off x="5130595" y="2577138"/>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6" name="Google Shape;1276;p82"/>
          <p:cNvSpPr/>
          <p:nvPr/>
        </p:nvSpPr>
        <p:spPr>
          <a:xfrm rot="10800000">
            <a:off x="5409358" y="2288288"/>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7" name="Google Shape;1277;p82"/>
          <p:cNvSpPr/>
          <p:nvPr/>
        </p:nvSpPr>
        <p:spPr>
          <a:xfrm rot="-5400000">
            <a:off x="5862995" y="1839463"/>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8" name="Google Shape;1278;p82"/>
          <p:cNvSpPr/>
          <p:nvPr/>
        </p:nvSpPr>
        <p:spPr>
          <a:xfrm>
            <a:off x="6274081" y="2408700"/>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9" name="Google Shape;1279;p82"/>
          <p:cNvSpPr/>
          <p:nvPr/>
        </p:nvSpPr>
        <p:spPr>
          <a:xfrm>
            <a:off x="6296543" y="3169538"/>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0" name="Google Shape;1280;p82"/>
          <p:cNvSpPr/>
          <p:nvPr/>
        </p:nvSpPr>
        <p:spPr>
          <a:xfrm rot="5400000">
            <a:off x="5845768" y="3367825"/>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1" name="Google Shape;1281;p82"/>
          <p:cNvSpPr/>
          <p:nvPr/>
        </p:nvSpPr>
        <p:spPr>
          <a:xfrm>
            <a:off x="5538256" y="3903638"/>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2" name="Google Shape;1282;p82"/>
          <p:cNvSpPr/>
          <p:nvPr/>
        </p:nvSpPr>
        <p:spPr>
          <a:xfrm rot="-5400000">
            <a:off x="5832908" y="4055438"/>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3" name="Google Shape;1283;p82"/>
          <p:cNvSpPr/>
          <p:nvPr/>
        </p:nvSpPr>
        <p:spPr>
          <a:xfrm rot="-5400000">
            <a:off x="6566333" y="4100738"/>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4" name="Google Shape;1284;p82"/>
          <p:cNvSpPr/>
          <p:nvPr/>
        </p:nvSpPr>
        <p:spPr>
          <a:xfrm rot="-5400000">
            <a:off x="7299758" y="4100450"/>
            <a:ext cx="165000" cy="3120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1}{4}\ \frac{8}{14}\ \frac{25}{45}\ \frac{5}{9}\ \frac{16}{24}\ \frac{2}{3}\ \frac{12}{14}\ \frac{6}{7}\ \frac{30}{72}\ \frac{5}{12}\ \frac{60}{70}\ \ \frac{13}{39}\ \frac{25}{375}\ \frac{1}{15}\ \frac{84}{98}\ \frac{14}{10}\ \frac{32}{48}&quot;&gt;&lt;mfrac&gt;&lt;mn&gt;1&lt;/mn&gt;&lt;mn&gt;4&lt;/mn&gt;&lt;/mfrac&gt;&lt;mtext&gt;&lt;/mtext&gt;&lt;mfrac&gt;&lt;mn&gt;8&lt;/mn&gt;&lt;mn&gt;14&lt;/mn&gt;&lt;/mfrac&gt;&lt;mtext&gt;&lt;/mtext&gt;&lt;mfrac&gt;&lt;mn&gt;25&lt;/mn&gt;&lt;mn&gt;45&lt;/mn&gt;&lt;/mfrac&gt;&lt;mtext&gt;&lt;/mtext&gt;&lt;mfrac&gt;&lt;mn&gt;5&lt;/mn&gt;&lt;mn&gt;9&lt;/mn&gt;&lt;/mfrac&gt;&lt;mtext&gt;&lt;/mtext&gt;&lt;mfrac&gt;&lt;mn&gt;16&lt;/mn&gt;&lt;mn&gt;24&lt;/mn&gt;&lt;/mfrac&gt;&lt;mtext&gt;&lt;/mtext&gt;&lt;mfrac&gt;&lt;mn&gt;2&lt;/mn&gt;&lt;mn&gt;3&lt;/mn&gt;&lt;/mfrac&gt;&lt;mtext&gt;&lt;/mtext&gt;&lt;mfrac&gt;&lt;mn&gt;12&lt;/mn&gt;&lt;mn&gt;14&lt;/mn&gt;&lt;/mfrac&gt;&lt;mtext&gt;&lt;/mtext&gt;&lt;mfrac&gt;&lt;mn&gt;6&lt;/mn&gt;&lt;mn&gt;7&lt;/mn&gt;&lt;/mfrac&gt;&lt;mtext&gt;&lt;/mtext&gt;&lt;mfrac&gt;&lt;mn&gt;30&lt;/mn&gt;&lt;mn&gt;72&lt;/mn&gt;&lt;/mfrac&gt;&lt;mtext&gt;&lt;/mtext&gt;&lt;mfrac&gt;&lt;mn&gt;5&lt;/mn&gt;&lt;mn&gt;12&lt;/mn&gt;&lt;/mfrac&gt;&lt;mtext&gt;&lt;/mtext&gt;&lt;mfrac&gt;&lt;mn&gt;60&lt;/mn&gt;&lt;mn&gt;70&lt;/mn&gt;&lt;/mfrac&gt;&lt;mtext&gt;&lt;/mtext&gt;&lt;mtext&gt;&lt;/mtext&gt;&lt;mfrac&gt;&lt;mn&gt;13&lt;/mn&gt;&lt;mn&gt;39&lt;/mn&gt;&lt;/mfrac&gt;&lt;mtext&gt;&lt;/mtext&gt;&lt;mfrac&gt;&lt;mn&gt;25&lt;/mn&gt;&lt;mn&gt;375&lt;/mn&gt;&lt;/mfrac&gt;&lt;mtext&gt;&lt;/mtext&gt;&lt;mfrac&gt;&lt;mn&gt;1&lt;/mn&gt;&lt;mn&gt;15&lt;/mn&gt;&lt;/mfrac&gt;&lt;mtext&gt;&lt;/mtext&gt;&lt;mfrac&gt;&lt;mn&gt;84&lt;/mn&gt;&lt;mn&gt;98&lt;/mn&gt;&lt;/mfrac&gt;&lt;mtext&gt;&lt;/mtext&gt;&lt;mfrac&gt;&lt;mn&gt;14&lt;/mn&gt;&lt;mn&gt;10&lt;/mn&gt;&lt;/mfrac&gt;&lt;mtext&gt;&lt;/mtext&gt;&lt;mfrac&gt;&lt;mn&gt;32&lt;/mn&gt;&lt;mn&gt;48&lt;/mn&gt;&lt;/mfrac&gt;&lt;/math&gt;" id="1285" name="Google Shape;1285;p82" title="one fourth 8 over 14 25 over 45 five ninths 16 over 24 two thirds 12 over 14 six sevenths 30 over 72 5 over 12 60 over 70 13 over 39 25 over 375 1 over 15 84 over 98 fourteen tenths 32 over 48"/>
          <p:cNvPicPr preferRelativeResize="0"/>
          <p:nvPr/>
        </p:nvPicPr>
        <p:blipFill rotWithShape="1">
          <a:blip r:embed="rId9">
            <a:alphaModFix/>
          </a:blip>
          <a:srcRect b="0" l="37727" r="58571" t="0"/>
          <a:stretch/>
        </p:blipFill>
        <p:spPr>
          <a:xfrm>
            <a:off x="7700206" y="4075025"/>
            <a:ext cx="208776" cy="462550"/>
          </a:xfrm>
          <a:prstGeom prst="rect">
            <a:avLst/>
          </a:prstGeom>
          <a:noFill/>
          <a:ln>
            <a:noFill/>
          </a:ln>
        </p:spPr>
      </p:pic>
      <p:sp>
        <p:nvSpPr>
          <p:cNvPr id="1286" name="Google Shape;1286;p82"/>
          <p:cNvSpPr/>
          <p:nvPr/>
        </p:nvSpPr>
        <p:spPr>
          <a:xfrm>
            <a:off x="7693225" y="4070775"/>
            <a:ext cx="242400" cy="476700"/>
          </a:xfrm>
          <a:prstGeom prst="rect">
            <a:avLst/>
          </a:prstGeom>
          <a:no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7" name="Google Shape;1287;p82"/>
          <p:cNvSpPr txBox="1"/>
          <p:nvPr>
            <p:ph idx="1" type="body"/>
          </p:nvPr>
        </p:nvSpPr>
        <p:spPr>
          <a:xfrm>
            <a:off x="324000" y="679796"/>
            <a:ext cx="8237700" cy="200400"/>
          </a:xfrm>
          <a:prstGeom prst="rect">
            <a:avLst/>
          </a:prstGeom>
        </p:spPr>
        <p:txBody>
          <a:bodyPr anchorCtr="0" anchor="t" bIns="0" lIns="0" spcFirstLastPara="1" rIns="0" wrap="square" tIns="0">
            <a:noAutofit/>
          </a:bodyPr>
          <a:lstStyle/>
          <a:p>
            <a:pPr indent="-342900" lvl="0" marL="457200" rtl="0" algn="l">
              <a:lnSpc>
                <a:spcPct val="40000"/>
              </a:lnSpc>
              <a:spcBef>
                <a:spcPts val="0"/>
              </a:spcBef>
              <a:spcAft>
                <a:spcPts val="0"/>
              </a:spcAft>
              <a:buSzPts val="1800"/>
              <a:buAutoNum type="arabicParenR"/>
            </a:pPr>
            <a:r>
              <a:rPr lang="en-GB" sz="1800"/>
              <a:t>Find your way through the maze by simplifying the fractions.</a:t>
            </a:r>
            <a:endParaRPr sz="1800"/>
          </a:p>
          <a:p>
            <a:pPr indent="457200" lvl="0" marL="0" rtl="0" algn="l">
              <a:lnSpc>
                <a:spcPct val="40000"/>
              </a:lnSpc>
              <a:spcBef>
                <a:spcPts val="1000"/>
              </a:spcBef>
              <a:spcAft>
                <a:spcPts val="1000"/>
              </a:spcAft>
              <a:buClr>
                <a:schemeClr val="dk1"/>
              </a:buClr>
              <a:buSzPts val="1100"/>
              <a:buFont typeface="Arial"/>
              <a:buNone/>
            </a:pPr>
            <a:r>
              <a:rPr lang="en-GB" sz="1800"/>
              <a:t>What simplified fraction should go in the end box?</a:t>
            </a:r>
            <a:endParaRPr sz="1800"/>
          </a:p>
        </p:txBody>
      </p:sp>
      <p:sp>
        <p:nvSpPr>
          <p:cNvPr id="1288" name="Google Shape;1288;p82"/>
          <p:cNvSpPr/>
          <p:nvPr/>
        </p:nvSpPr>
        <p:spPr>
          <a:xfrm>
            <a:off x="955900" y="1082350"/>
            <a:ext cx="732300" cy="745800"/>
          </a:xfrm>
          <a:prstGeom prst="rect">
            <a:avLst/>
          </a:prstGeom>
          <a:solidFill>
            <a:srgbClr val="845AD9">
              <a:alpha val="19380"/>
            </a:srgbClr>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83"/>
          <p:cNvSpPr txBox="1"/>
          <p:nvPr>
            <p:ph idx="1" type="body"/>
          </p:nvPr>
        </p:nvSpPr>
        <p:spPr>
          <a:xfrm>
            <a:off x="324000" y="759300"/>
            <a:ext cx="8237700" cy="74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Which fraction in each row does not simplify to the fraction in the first column?</a:t>
            </a:r>
            <a:endParaRPr/>
          </a:p>
          <a:p>
            <a:pPr indent="0" lvl="0" marL="0" rtl="0" algn="l">
              <a:lnSpc>
                <a:spcPct val="150000"/>
              </a:lnSpc>
              <a:spcBef>
                <a:spcPts val="1000"/>
              </a:spcBef>
              <a:spcAft>
                <a:spcPts val="0"/>
              </a:spcAft>
              <a:buClr>
                <a:schemeClr val="dk1"/>
              </a:buClr>
              <a:buSzPts val="1100"/>
              <a:buFont typeface="Arial"/>
              <a:buNone/>
            </a:pPr>
            <a:r>
              <a:rPr lang="en-GB"/>
              <a:t>a)</a:t>
            </a:r>
            <a:endParaRPr/>
          </a:p>
          <a:p>
            <a:pPr indent="0" lvl="0" marL="0" rtl="0" algn="l">
              <a:lnSpc>
                <a:spcPct val="150000"/>
              </a:lnSpc>
              <a:spcBef>
                <a:spcPts val="1000"/>
              </a:spcBef>
              <a:spcAft>
                <a:spcPts val="0"/>
              </a:spcAft>
              <a:buClr>
                <a:schemeClr val="dk1"/>
              </a:buClr>
              <a:buSzPts val="1100"/>
              <a:buFont typeface="Arial"/>
              <a:buNone/>
            </a:pPr>
            <a:r>
              <a:rPr lang="en-GB"/>
              <a:t>b)</a:t>
            </a:r>
            <a:endParaRPr/>
          </a:p>
          <a:p>
            <a:pPr indent="0" lvl="0" marL="0" rtl="0" algn="l">
              <a:lnSpc>
                <a:spcPct val="150000"/>
              </a:lnSpc>
              <a:spcBef>
                <a:spcPts val="1000"/>
              </a:spcBef>
              <a:spcAft>
                <a:spcPts val="0"/>
              </a:spcAft>
              <a:buClr>
                <a:schemeClr val="dk1"/>
              </a:buClr>
              <a:buSzPts val="1100"/>
              <a:buFont typeface="Arial"/>
              <a:buNone/>
            </a:pPr>
            <a:r>
              <a:rPr lang="en-GB"/>
              <a:t>c)</a:t>
            </a:r>
            <a:endParaRPr/>
          </a:p>
          <a:p>
            <a:pPr indent="0" lvl="0" marL="0" rtl="0" algn="l">
              <a:lnSpc>
                <a:spcPct val="150000"/>
              </a:lnSpc>
              <a:spcBef>
                <a:spcPts val="1000"/>
              </a:spcBef>
              <a:spcAft>
                <a:spcPts val="0"/>
              </a:spcAft>
              <a:buClr>
                <a:schemeClr val="dk1"/>
              </a:buClr>
              <a:buSzPts val="1100"/>
              <a:buFont typeface="Arial"/>
              <a:buNone/>
            </a:pPr>
            <a:r>
              <a:rPr lang="en-GB"/>
              <a:t>d)</a:t>
            </a:r>
            <a:endParaRPr/>
          </a:p>
          <a:p>
            <a:pPr indent="0" lvl="0" marL="0" rtl="0" algn="l">
              <a:lnSpc>
                <a:spcPct val="150000"/>
              </a:lnSpc>
              <a:spcBef>
                <a:spcPts val="1000"/>
              </a:spcBef>
              <a:spcAft>
                <a:spcPts val="1000"/>
              </a:spcAft>
              <a:buClr>
                <a:schemeClr val="dk1"/>
              </a:buClr>
              <a:buSzPts val="1100"/>
              <a:buFont typeface="Arial"/>
              <a:buNone/>
            </a:pPr>
            <a:r>
              <a:rPr lang="en-GB"/>
              <a:t>e)</a:t>
            </a:r>
            <a:endParaRPr/>
          </a:p>
        </p:txBody>
      </p:sp>
      <p:sp>
        <p:nvSpPr>
          <p:cNvPr id="1294" name="Google Shape;1294;p8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Simplifying fractions using factor pairs</a:t>
            </a:r>
            <a:endParaRPr sz="1800"/>
          </a:p>
        </p:txBody>
      </p:sp>
      <p:graphicFrame>
        <p:nvGraphicFramePr>
          <p:cNvPr id="1295" name="Google Shape;1295;p83"/>
          <p:cNvGraphicFramePr/>
          <p:nvPr/>
        </p:nvGraphicFramePr>
        <p:xfrm>
          <a:off x="952500" y="1564207"/>
          <a:ext cx="3000000" cy="3000000"/>
        </p:xfrm>
        <a:graphic>
          <a:graphicData uri="http://schemas.openxmlformats.org/drawingml/2006/table">
            <a:tbl>
              <a:tblPr>
                <a:noFill/>
                <a:tableStyleId>{C3776096-0775-4DA8-89EA-AE61684651AC}</a:tableStyleId>
              </a:tblPr>
              <a:tblGrid>
                <a:gridCol w="1206500"/>
                <a:gridCol w="1206500"/>
                <a:gridCol w="1206500"/>
                <a:gridCol w="1206500"/>
                <a:gridCol w="1206500"/>
                <a:gridCol w="1206500"/>
              </a:tblGrid>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2"/>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4022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quot;&gt;&lt;mfrac&gt;&lt;mn&gt;1&lt;/mn&gt;&lt;mn&gt;4&lt;/mn&gt;&lt;/mfrac&gt;&lt;/math&gt;" id="1296" name="Google Shape;1296;p83" title="one fourth"/>
          <p:cNvPicPr preferRelativeResize="0"/>
          <p:nvPr/>
        </p:nvPicPr>
        <p:blipFill>
          <a:blip r:embed="rId3">
            <a:alphaModFix/>
          </a:blip>
          <a:stretch>
            <a:fillRect/>
          </a:stretch>
        </p:blipFill>
        <p:spPr>
          <a:xfrm>
            <a:off x="1487775" y="1586675"/>
            <a:ext cx="181345" cy="577770"/>
          </a:xfrm>
          <a:prstGeom prst="rect">
            <a:avLst/>
          </a:prstGeom>
          <a:noFill/>
          <a:ln>
            <a:noFill/>
          </a:ln>
        </p:spPr>
      </p:pic>
      <p:pic>
        <p:nvPicPr>
          <p:cNvPr descr="&lt;math xmlns=&quot;http://www.w3.org/1998/Math/MathML&quot; display=&quot;block&quot; data-is-equatio=&quot;1&quot; data-latex=&quot;\frac{3}{5}&quot;&gt;&lt;mfrac&gt;&lt;mn&gt;3&lt;/mn&gt;&lt;mn&gt;5&lt;/mn&gt;&lt;/mfrac&gt;&lt;/math&gt;" id="1297" name="Google Shape;1297;p83" title="three fifths"/>
          <p:cNvPicPr preferRelativeResize="0"/>
          <p:nvPr/>
        </p:nvPicPr>
        <p:blipFill>
          <a:blip r:embed="rId4">
            <a:alphaModFix/>
          </a:blip>
          <a:stretch>
            <a:fillRect/>
          </a:stretch>
        </p:blipFill>
        <p:spPr>
          <a:xfrm>
            <a:off x="1489885" y="2243025"/>
            <a:ext cx="177128" cy="569336"/>
          </a:xfrm>
          <a:prstGeom prst="rect">
            <a:avLst/>
          </a:prstGeom>
          <a:noFill/>
          <a:ln>
            <a:noFill/>
          </a:ln>
        </p:spPr>
      </p:pic>
      <p:pic>
        <p:nvPicPr>
          <p:cNvPr descr="&lt;math xmlns=&quot;http://www.w3.org/1998/Math/MathML&quot; display=&quot;block&quot; data-is-equatio=&quot;1&quot; data-latex=&quot;\frac{4}{9}&quot;&gt;&lt;mfrac&gt;&lt;mn&gt;4&lt;/mn&gt;&lt;mn&gt;9&lt;/mn&gt;&lt;/mfrac&gt;&lt;/math&gt;" id="1298" name="Google Shape;1298;p83" title="four ninths"/>
          <p:cNvPicPr preferRelativeResize="0"/>
          <p:nvPr/>
        </p:nvPicPr>
        <p:blipFill>
          <a:blip r:embed="rId5">
            <a:alphaModFix/>
          </a:blip>
          <a:stretch>
            <a:fillRect/>
          </a:stretch>
        </p:blipFill>
        <p:spPr>
          <a:xfrm>
            <a:off x="1489897" y="2872237"/>
            <a:ext cx="177128" cy="573553"/>
          </a:xfrm>
          <a:prstGeom prst="rect">
            <a:avLst/>
          </a:prstGeom>
          <a:noFill/>
          <a:ln>
            <a:noFill/>
          </a:ln>
        </p:spPr>
      </p:pic>
      <p:pic>
        <p:nvPicPr>
          <p:cNvPr descr="&lt;math xmlns=&quot;http://www.w3.org/1998/Math/MathML&quot; display=&quot;block&quot; data-is-equatio=&quot;1&quot; data-latex=&quot;\frac{7}{15}&quot;&gt;&lt;mfrac&gt;&lt;mn&gt;7&lt;/mn&gt;&lt;mn&gt;15&lt;/mn&gt;&lt;/mfrac&gt;&lt;/math&gt;" id="1299" name="Google Shape;1299;p83" title="7 over 15"/>
          <p:cNvPicPr preferRelativeResize="0"/>
          <p:nvPr/>
        </p:nvPicPr>
        <p:blipFill>
          <a:blip r:embed="rId6">
            <a:alphaModFix/>
          </a:blip>
          <a:stretch>
            <a:fillRect/>
          </a:stretch>
        </p:blipFill>
        <p:spPr>
          <a:xfrm>
            <a:off x="1420299" y="4165689"/>
            <a:ext cx="316299" cy="569336"/>
          </a:xfrm>
          <a:prstGeom prst="rect">
            <a:avLst/>
          </a:prstGeom>
          <a:noFill/>
          <a:ln>
            <a:noFill/>
          </a:ln>
        </p:spPr>
      </p:pic>
      <p:pic>
        <p:nvPicPr>
          <p:cNvPr descr="&lt;math xmlns=&quot;http://www.w3.org/1998/Math/MathML&quot; display=&quot;block&quot; data-is-equatio=&quot;1&quot; data-latex=&quot;\frac{5}{20}&quot;&gt;&lt;mfrac&gt;&lt;mn&gt;5&lt;/mn&gt;&lt;mn&gt;20&lt;/mn&gt;&lt;/mfrac&gt;&lt;/math&gt;" id="1300" name="Google Shape;1300;p83" title="5 over 20"/>
          <p:cNvPicPr preferRelativeResize="0"/>
          <p:nvPr/>
        </p:nvPicPr>
        <p:blipFill>
          <a:blip r:embed="rId7">
            <a:alphaModFix/>
          </a:blip>
          <a:stretch>
            <a:fillRect/>
          </a:stretch>
        </p:blipFill>
        <p:spPr>
          <a:xfrm>
            <a:off x="2614925" y="1627213"/>
            <a:ext cx="272270" cy="496707"/>
          </a:xfrm>
          <a:prstGeom prst="rect">
            <a:avLst/>
          </a:prstGeom>
          <a:noFill/>
          <a:ln>
            <a:noFill/>
          </a:ln>
        </p:spPr>
      </p:pic>
      <p:pic>
        <p:nvPicPr>
          <p:cNvPr descr="&lt;math xmlns=&quot;http://www.w3.org/1998/Math/MathML&quot; display=&quot;block&quot; data-is-equatio=&quot;1&quot; data-latex=&quot;\frac{12}{48}&quot;&gt;&lt;mfrac&gt;&lt;mn&gt;12&lt;/mn&gt;&lt;mn&gt;48&lt;/mn&gt;&lt;/mfrac&gt;&lt;/math&gt;" id="1301" name="Google Shape;1301;p83" title="12 over 48"/>
          <p:cNvPicPr preferRelativeResize="0"/>
          <p:nvPr/>
        </p:nvPicPr>
        <p:blipFill>
          <a:blip r:embed="rId8">
            <a:alphaModFix/>
          </a:blip>
          <a:stretch>
            <a:fillRect/>
          </a:stretch>
        </p:blipFill>
        <p:spPr>
          <a:xfrm>
            <a:off x="3833776" y="1623275"/>
            <a:ext cx="272270" cy="504605"/>
          </a:xfrm>
          <a:prstGeom prst="rect">
            <a:avLst/>
          </a:prstGeom>
          <a:noFill/>
          <a:ln>
            <a:noFill/>
          </a:ln>
        </p:spPr>
      </p:pic>
      <p:pic>
        <p:nvPicPr>
          <p:cNvPr descr="&lt;math xmlns=&quot;http://www.w3.org/1998/Math/MathML&quot; display=&quot;block&quot; data-is-equatio=&quot;1&quot; data-latex=&quot;\frac{8}{32}&quot;&gt;&lt;mfrac&gt;&lt;mn&gt;8&lt;/mn&gt;&lt;mn&gt;32&lt;/mn&gt;&lt;/mfrac&gt;&lt;/math&gt;" id="1302" name="Google Shape;1302;p83" title="8 over 32"/>
          <p:cNvPicPr preferRelativeResize="0"/>
          <p:nvPr/>
        </p:nvPicPr>
        <p:blipFill>
          <a:blip r:embed="rId9">
            <a:alphaModFix/>
          </a:blip>
          <a:stretch>
            <a:fillRect/>
          </a:stretch>
        </p:blipFill>
        <p:spPr>
          <a:xfrm>
            <a:off x="6256800" y="1602000"/>
            <a:ext cx="272270" cy="504605"/>
          </a:xfrm>
          <a:prstGeom prst="rect">
            <a:avLst/>
          </a:prstGeom>
          <a:noFill/>
          <a:ln>
            <a:noFill/>
          </a:ln>
        </p:spPr>
      </p:pic>
      <p:pic>
        <p:nvPicPr>
          <p:cNvPr descr="&lt;math xmlns=&quot;http://www.w3.org/1998/Math/MathML&quot; display=&quot;block&quot; data-is-equatio=&quot;1&quot; data-latex=&quot;\frac{15}{60}&quot;&gt;&lt;mfrac&gt;&lt;mn&gt;15&lt;/mn&gt;&lt;mn&gt;60&lt;/mn&gt;&lt;/mfrac&gt;&lt;/math&gt;" id="1303" name="Google Shape;1303;p83" title="15 over 60"/>
          <p:cNvPicPr preferRelativeResize="0"/>
          <p:nvPr/>
        </p:nvPicPr>
        <p:blipFill>
          <a:blip r:embed="rId10">
            <a:alphaModFix/>
          </a:blip>
          <a:stretch>
            <a:fillRect/>
          </a:stretch>
        </p:blipFill>
        <p:spPr>
          <a:xfrm>
            <a:off x="7432939" y="1627881"/>
            <a:ext cx="272270" cy="495378"/>
          </a:xfrm>
          <a:prstGeom prst="rect">
            <a:avLst/>
          </a:prstGeom>
          <a:noFill/>
          <a:ln>
            <a:noFill/>
          </a:ln>
        </p:spPr>
      </p:pic>
      <p:pic>
        <p:nvPicPr>
          <p:cNvPr descr="&lt;math xmlns=&quot;http://www.w3.org/1998/Math/MathML&quot; display=&quot;block&quot; data-is-equatio=&quot;1&quot; data-latex=&quot;\frac{4}{12}&quot;&gt;&lt;mfrac&gt;&lt;mn&gt;4&lt;/mn&gt;&lt;mn&gt;12&lt;/mn&gt;&lt;/mfrac&gt;&lt;/math&gt;" id="1304" name="Google Shape;1304;p83" title="4 over 12"/>
          <p:cNvPicPr preferRelativeResize="0"/>
          <p:nvPr/>
        </p:nvPicPr>
        <p:blipFill>
          <a:blip r:embed="rId11">
            <a:alphaModFix/>
          </a:blip>
          <a:stretch>
            <a:fillRect/>
          </a:stretch>
        </p:blipFill>
        <p:spPr>
          <a:xfrm>
            <a:off x="5052618" y="1599295"/>
            <a:ext cx="300298" cy="552545"/>
          </a:xfrm>
          <a:prstGeom prst="rect">
            <a:avLst/>
          </a:prstGeom>
          <a:noFill/>
          <a:ln>
            <a:noFill/>
          </a:ln>
        </p:spPr>
      </p:pic>
      <p:pic>
        <p:nvPicPr>
          <p:cNvPr descr="&lt;math xmlns=&quot;http://www.w3.org/1998/Math/MathML&quot; display=&quot;block&quot; data-is-equatio=&quot;1&quot; data-latex=&quot;\frac{9}{15}&quot;&gt;&lt;mfrac&gt;&lt;mn&gt;9&lt;/mn&gt;&lt;mn&gt;15&lt;/mn&gt;&lt;/mfrac&gt;&lt;/math&gt;" id="1305" name="Google Shape;1305;p83" title="9 over 15"/>
          <p:cNvPicPr preferRelativeResize="0"/>
          <p:nvPr/>
        </p:nvPicPr>
        <p:blipFill>
          <a:blip r:embed="rId12">
            <a:alphaModFix/>
          </a:blip>
          <a:stretch>
            <a:fillRect/>
          </a:stretch>
        </p:blipFill>
        <p:spPr>
          <a:xfrm>
            <a:off x="5097025" y="2284138"/>
            <a:ext cx="267019" cy="487133"/>
          </a:xfrm>
          <a:prstGeom prst="rect">
            <a:avLst/>
          </a:prstGeom>
          <a:noFill/>
          <a:ln>
            <a:noFill/>
          </a:ln>
        </p:spPr>
      </p:pic>
      <p:pic>
        <p:nvPicPr>
          <p:cNvPr descr="&lt;math xmlns=&quot;http://www.w3.org/1998/Math/MathML&quot; display=&quot;block&quot; data-is-equatio=&quot;1&quot; data-latex=&quot;\frac{15}{25}&quot;&gt;&lt;mfrac&gt;&lt;mn&gt;15&lt;/mn&gt;&lt;mn&gt;25&lt;/mn&gt;&lt;/mfrac&gt;&lt;/math&gt;" id="1306" name="Google Shape;1306;p83" title="15 over 25"/>
          <p:cNvPicPr preferRelativeResize="0"/>
          <p:nvPr/>
        </p:nvPicPr>
        <p:blipFill>
          <a:blip r:embed="rId13">
            <a:alphaModFix/>
          </a:blip>
          <a:stretch>
            <a:fillRect/>
          </a:stretch>
        </p:blipFill>
        <p:spPr>
          <a:xfrm>
            <a:off x="2617551" y="2326975"/>
            <a:ext cx="267019" cy="489539"/>
          </a:xfrm>
          <a:prstGeom prst="rect">
            <a:avLst/>
          </a:prstGeom>
          <a:noFill/>
          <a:ln>
            <a:noFill/>
          </a:ln>
        </p:spPr>
      </p:pic>
      <p:pic>
        <p:nvPicPr>
          <p:cNvPr descr="&lt;math xmlns=&quot;http://www.w3.org/1998/Math/MathML&quot; display=&quot;block&quot; data-is-equatio=&quot;1&quot; data-latex=&quot;\frac{27}{45}&quot;&gt;&lt;mfrac&gt;&lt;mn&gt;27&lt;/mn&gt;&lt;mn&gt;45&lt;/mn&gt;&lt;/mfrac&gt;&lt;/math&gt;" id="1307" name="Google Shape;1307;p83" title="27 over 45"/>
          <p:cNvPicPr preferRelativeResize="0"/>
          <p:nvPr/>
        </p:nvPicPr>
        <p:blipFill>
          <a:blip r:embed="rId14">
            <a:alphaModFix/>
          </a:blip>
          <a:stretch>
            <a:fillRect/>
          </a:stretch>
        </p:blipFill>
        <p:spPr>
          <a:xfrm>
            <a:off x="3829713" y="2285599"/>
            <a:ext cx="267019" cy="484198"/>
          </a:xfrm>
          <a:prstGeom prst="rect">
            <a:avLst/>
          </a:prstGeom>
          <a:noFill/>
          <a:ln>
            <a:noFill/>
          </a:ln>
        </p:spPr>
      </p:pic>
      <p:pic>
        <p:nvPicPr>
          <p:cNvPr descr="&lt;math xmlns=&quot;http://www.w3.org/1998/Math/MathML&quot; display=&quot;block&quot; data-is-equatio=&quot;1&quot; data-latex=&quot;\frac{21}{35}&quot;&gt;&lt;mfrac&gt;&lt;mn&gt;21&lt;/mn&gt;&lt;mn&gt;35&lt;/mn&gt;&lt;/mfrac&gt;&lt;/math&gt;" id="1308" name="Google Shape;1308;p83" title="21 over 35"/>
          <p:cNvPicPr preferRelativeResize="0"/>
          <p:nvPr/>
        </p:nvPicPr>
        <p:blipFill>
          <a:blip r:embed="rId15">
            <a:alphaModFix/>
          </a:blip>
          <a:stretch>
            <a:fillRect/>
          </a:stretch>
        </p:blipFill>
        <p:spPr>
          <a:xfrm>
            <a:off x="6259426" y="2328180"/>
            <a:ext cx="267019" cy="487133"/>
          </a:xfrm>
          <a:prstGeom prst="rect">
            <a:avLst/>
          </a:prstGeom>
          <a:noFill/>
          <a:ln>
            <a:noFill/>
          </a:ln>
        </p:spPr>
      </p:pic>
      <p:pic>
        <p:nvPicPr>
          <p:cNvPr descr="&lt;math xmlns=&quot;http://www.w3.org/1998/Math/MathML&quot; display=&quot;block&quot; data-is-equatio=&quot;1&quot; data-latex=&quot;\frac{18}{20}&quot;&gt;&lt;mfrac&gt;&lt;mn&gt;18&lt;/mn&gt;&lt;mn&gt;20&lt;/mn&gt;&lt;/mfrac&gt;&lt;/math&gt;" id="1309" name="Google Shape;1309;p83" title="18 over 20"/>
          <p:cNvPicPr preferRelativeResize="0"/>
          <p:nvPr/>
        </p:nvPicPr>
        <p:blipFill>
          <a:blip r:embed="rId16">
            <a:alphaModFix/>
          </a:blip>
          <a:stretch>
            <a:fillRect/>
          </a:stretch>
        </p:blipFill>
        <p:spPr>
          <a:xfrm>
            <a:off x="7421819" y="2243036"/>
            <a:ext cx="294506" cy="545822"/>
          </a:xfrm>
          <a:prstGeom prst="rect">
            <a:avLst/>
          </a:prstGeom>
          <a:noFill/>
          <a:ln>
            <a:noFill/>
          </a:ln>
        </p:spPr>
      </p:pic>
      <p:pic>
        <p:nvPicPr>
          <p:cNvPr descr="&lt;math xmlns=&quot;http://www.w3.org/1998/Math/MathML&quot; display=&quot;block&quot; data-is-equatio=&quot;1&quot; data-latex=&quot;\frac{8}{18}&quot;&gt;&lt;mfrac&gt;&lt;mn&gt;8&lt;/mn&gt;&lt;mn&gt;18&lt;/mn&gt;&lt;/mfrac&gt;&lt;/math&gt;" id="1310" name="Google Shape;1310;p83" title="8 over 18"/>
          <p:cNvPicPr preferRelativeResize="0"/>
          <p:nvPr/>
        </p:nvPicPr>
        <p:blipFill>
          <a:blip r:embed="rId17">
            <a:alphaModFix/>
          </a:blip>
          <a:stretch>
            <a:fillRect/>
          </a:stretch>
        </p:blipFill>
        <p:spPr>
          <a:xfrm>
            <a:off x="2614600" y="2906088"/>
            <a:ext cx="272937" cy="505848"/>
          </a:xfrm>
          <a:prstGeom prst="rect">
            <a:avLst/>
          </a:prstGeom>
          <a:noFill/>
          <a:ln>
            <a:noFill/>
          </a:ln>
        </p:spPr>
      </p:pic>
      <p:pic>
        <p:nvPicPr>
          <p:cNvPr descr="&lt;math xmlns=&quot;http://www.w3.org/1998/Math/MathML&quot; display=&quot;block&quot; data-is-equatio=&quot;1&quot; data-latex=&quot;\frac{44}{99}&quot;&gt;&lt;mfrac&gt;&lt;mn&gt;44&lt;/mn&gt;&lt;mn&gt;99&lt;/mn&gt;&lt;/mfrac&gt;&lt;/math&gt;" id="1311" name="Google Shape;1311;p83" title="44 over 99"/>
          <p:cNvPicPr preferRelativeResize="0"/>
          <p:nvPr/>
        </p:nvPicPr>
        <p:blipFill>
          <a:blip r:embed="rId18">
            <a:alphaModFix/>
          </a:blip>
          <a:stretch>
            <a:fillRect/>
          </a:stretch>
        </p:blipFill>
        <p:spPr>
          <a:xfrm>
            <a:off x="7432609" y="2949375"/>
            <a:ext cx="272937" cy="494931"/>
          </a:xfrm>
          <a:prstGeom prst="rect">
            <a:avLst/>
          </a:prstGeom>
          <a:noFill/>
          <a:ln>
            <a:noFill/>
          </a:ln>
        </p:spPr>
      </p:pic>
      <p:pic>
        <p:nvPicPr>
          <p:cNvPr descr="&lt;math xmlns=&quot;http://www.w3.org/1998/Math/MathML&quot; display=&quot;block&quot; data-is-equatio=&quot;1&quot; data-latex=&quot;\frac{28}{63}&quot;&gt;&lt;mfrac&gt;&lt;mn&gt;28&lt;/mn&gt;&lt;mn&gt;63&lt;/mn&gt;&lt;/mfrac&gt;&lt;/math&gt;" id="1312" name="Google Shape;1312;p83" title="28 over 63"/>
          <p:cNvPicPr preferRelativeResize="0"/>
          <p:nvPr/>
        </p:nvPicPr>
        <p:blipFill>
          <a:blip r:embed="rId19">
            <a:alphaModFix/>
          </a:blip>
          <a:stretch>
            <a:fillRect/>
          </a:stretch>
        </p:blipFill>
        <p:spPr>
          <a:xfrm>
            <a:off x="5055596" y="2947877"/>
            <a:ext cx="272937" cy="497931"/>
          </a:xfrm>
          <a:prstGeom prst="rect">
            <a:avLst/>
          </a:prstGeom>
          <a:noFill/>
          <a:ln>
            <a:noFill/>
          </a:ln>
        </p:spPr>
      </p:pic>
      <p:pic>
        <p:nvPicPr>
          <p:cNvPr descr="&lt;math xmlns=&quot;http://www.w3.org/1998/Math/MathML&quot; display=&quot;block&quot; data-is-equatio=&quot;1&quot; data-latex=&quot;\frac{48}{108}&quot;&gt;&lt;mfrac&gt;&lt;mn&gt;48&lt;/mn&gt;&lt;mn&gt;108&lt;/mn&gt;&lt;/mfrac&gt;&lt;/math&gt;" id="1313" name="Google Shape;1313;p83" title="48 over 108"/>
          <p:cNvPicPr preferRelativeResize="0"/>
          <p:nvPr/>
        </p:nvPicPr>
        <p:blipFill>
          <a:blip r:embed="rId20">
            <a:alphaModFix/>
          </a:blip>
          <a:stretch>
            <a:fillRect/>
          </a:stretch>
        </p:blipFill>
        <p:spPr>
          <a:xfrm>
            <a:off x="6196250" y="2920599"/>
            <a:ext cx="402550" cy="517039"/>
          </a:xfrm>
          <a:prstGeom prst="rect">
            <a:avLst/>
          </a:prstGeom>
          <a:noFill/>
          <a:ln>
            <a:noFill/>
          </a:ln>
        </p:spPr>
      </p:pic>
      <p:pic>
        <p:nvPicPr>
          <p:cNvPr descr="&lt;math xmlns=&quot;http://www.w3.org/1998/Math/MathML&quot; display=&quot;block&quot; data-is-equatio=&quot;1&quot; data-latex=&quot;\frac{6}{13}&quot;&gt;&lt;mfrac&gt;&lt;mn&gt;6&lt;/mn&gt;&lt;mn&gt;13&lt;/mn&gt;&lt;/mfrac&gt;&lt;/math&gt;" id="1314" name="Google Shape;1314;p83" title="6 over 13"/>
          <p:cNvPicPr preferRelativeResize="0"/>
          <p:nvPr/>
        </p:nvPicPr>
        <p:blipFill>
          <a:blip r:embed="rId21">
            <a:alphaModFix/>
          </a:blip>
          <a:stretch>
            <a:fillRect/>
          </a:stretch>
        </p:blipFill>
        <p:spPr>
          <a:xfrm>
            <a:off x="1443525" y="3555688"/>
            <a:ext cx="269853" cy="500130"/>
          </a:xfrm>
          <a:prstGeom prst="rect">
            <a:avLst/>
          </a:prstGeom>
          <a:noFill/>
          <a:ln>
            <a:noFill/>
          </a:ln>
        </p:spPr>
      </p:pic>
      <p:pic>
        <p:nvPicPr>
          <p:cNvPr descr="&lt;math xmlns=&quot;http://www.w3.org/1998/Math/MathML&quot; display=&quot;block&quot; data-is-equatio=&quot;1&quot; data-latex=&quot;\frac{36}{78}&quot;&gt;&lt;mfrac&gt;&lt;mn&gt;36&lt;/mn&gt;&lt;mn&gt;78&lt;/mn&gt;&lt;/mfrac&gt;&lt;/math&gt;" id="1315" name="Google Shape;1315;p83" title="36 over 78"/>
          <p:cNvPicPr preferRelativeResize="0"/>
          <p:nvPr/>
        </p:nvPicPr>
        <p:blipFill>
          <a:blip r:embed="rId22">
            <a:alphaModFix/>
          </a:blip>
          <a:stretch>
            <a:fillRect/>
          </a:stretch>
        </p:blipFill>
        <p:spPr>
          <a:xfrm>
            <a:off x="6258009" y="3578350"/>
            <a:ext cx="269853" cy="500130"/>
          </a:xfrm>
          <a:prstGeom prst="rect">
            <a:avLst/>
          </a:prstGeom>
          <a:noFill/>
          <a:ln>
            <a:noFill/>
          </a:ln>
        </p:spPr>
      </p:pic>
      <p:pic>
        <p:nvPicPr>
          <p:cNvPr descr="&lt;math xmlns=&quot;http://www.w3.org/1998/Math/MathML&quot; display=&quot;block&quot; data-is-equatio=&quot;1&quot; data-latex=&quot;\frac{30}{65}&quot;&gt;&lt;mfrac&gt;&lt;mn&gt;30&lt;/mn&gt;&lt;mn&gt;65&lt;/mn&gt;&lt;/mfrac&gt;&lt;/math&gt;" id="1316" name="Google Shape;1316;p83" title="30 over 65"/>
          <p:cNvPicPr preferRelativeResize="0"/>
          <p:nvPr/>
        </p:nvPicPr>
        <p:blipFill>
          <a:blip r:embed="rId23">
            <a:alphaModFix/>
          </a:blip>
          <a:stretch>
            <a:fillRect/>
          </a:stretch>
        </p:blipFill>
        <p:spPr>
          <a:xfrm>
            <a:off x="2616138" y="3559612"/>
            <a:ext cx="269853" cy="492301"/>
          </a:xfrm>
          <a:prstGeom prst="rect">
            <a:avLst/>
          </a:prstGeom>
          <a:noFill/>
          <a:ln>
            <a:noFill/>
          </a:ln>
        </p:spPr>
      </p:pic>
      <p:pic>
        <p:nvPicPr>
          <p:cNvPr descr="&lt;math xmlns=&quot;http://www.w3.org/1998/Math/MathML&quot; display=&quot;block&quot; data-is-equatio=&quot;1&quot; data-latex=&quot;\frac{54}{117}&quot;&gt;&lt;mfrac&gt;&lt;mn&gt;54&lt;/mn&gt;&lt;mn&gt;117&lt;/mn&gt;&lt;/mfrac&gt;&lt;/math&gt;" id="1317" name="Google Shape;1317;p83" title="54 over 117"/>
          <p:cNvPicPr preferRelativeResize="0"/>
          <p:nvPr/>
        </p:nvPicPr>
        <p:blipFill>
          <a:blip r:embed="rId24">
            <a:alphaModFix/>
          </a:blip>
          <a:stretch>
            <a:fillRect/>
          </a:stretch>
        </p:blipFill>
        <p:spPr>
          <a:xfrm>
            <a:off x="4990464" y="3547329"/>
            <a:ext cx="424622" cy="539708"/>
          </a:xfrm>
          <a:prstGeom prst="rect">
            <a:avLst/>
          </a:prstGeom>
          <a:noFill/>
          <a:ln>
            <a:noFill/>
          </a:ln>
        </p:spPr>
      </p:pic>
      <p:pic>
        <p:nvPicPr>
          <p:cNvPr descr="&lt;math xmlns=&quot;http://www.w3.org/1998/Math/MathML&quot; display=&quot;block&quot; data-is-equatio=&quot;1&quot; data-latex=&quot;\frac{12}{26}&quot;&gt;&lt;mfrac&gt;&lt;mn&gt;12&lt;/mn&gt;&lt;mn&gt;26&lt;/mn&gt;&lt;/mfrac&gt;&lt;/math&gt;" id="1318" name="Google Shape;1318;p83" title="12 over 26"/>
          <p:cNvPicPr preferRelativeResize="0"/>
          <p:nvPr/>
        </p:nvPicPr>
        <p:blipFill>
          <a:blip r:embed="rId25">
            <a:alphaModFix/>
          </a:blip>
          <a:stretch>
            <a:fillRect/>
          </a:stretch>
        </p:blipFill>
        <p:spPr>
          <a:xfrm>
            <a:off x="7434147" y="3571025"/>
            <a:ext cx="269853" cy="492301"/>
          </a:xfrm>
          <a:prstGeom prst="rect">
            <a:avLst/>
          </a:prstGeom>
          <a:noFill/>
          <a:ln>
            <a:noFill/>
          </a:ln>
        </p:spPr>
      </p:pic>
      <p:pic>
        <p:nvPicPr>
          <p:cNvPr descr="&lt;math xmlns=&quot;http://www.w3.org/1998/Math/MathML&quot; display=&quot;block&quot; data-is-equatio=&quot;1&quot; data-latex=&quot;\frac{42}{104}&quot;&gt;&lt;mfrac&gt;&lt;mn&gt;42&lt;/mn&gt;&lt;mn&gt;104&lt;/mn&gt;&lt;/mfrac&gt;&lt;/math&gt;" id="1319" name="Google Shape;1319;p83" title="42 over 104"/>
          <p:cNvPicPr preferRelativeResize="0"/>
          <p:nvPr/>
        </p:nvPicPr>
        <p:blipFill>
          <a:blip r:embed="rId26">
            <a:alphaModFix/>
          </a:blip>
          <a:stretch>
            <a:fillRect/>
          </a:stretch>
        </p:blipFill>
        <p:spPr>
          <a:xfrm>
            <a:off x="3746939" y="3547310"/>
            <a:ext cx="432559" cy="555582"/>
          </a:xfrm>
          <a:prstGeom prst="rect">
            <a:avLst/>
          </a:prstGeom>
          <a:noFill/>
          <a:ln>
            <a:noFill/>
          </a:ln>
        </p:spPr>
      </p:pic>
      <p:pic>
        <p:nvPicPr>
          <p:cNvPr descr="&lt;math xmlns=&quot;http://www.w3.org/1998/Math/MathML&quot; display=&quot;block&quot; data-is-equatio=&quot;1&quot; data-latex=&quot;\frac{21}{45}&quot;&gt;&lt;mfrac&gt;&lt;mn&gt;21&lt;/mn&gt;&lt;mn&gt;45&lt;/mn&gt;&lt;/mfrac&gt;&lt;/math&gt;" id="1320" name="Google Shape;1320;p83" title="21 over 45"/>
          <p:cNvPicPr preferRelativeResize="0"/>
          <p:nvPr/>
        </p:nvPicPr>
        <p:blipFill>
          <a:blip r:embed="rId27">
            <a:alphaModFix/>
          </a:blip>
          <a:stretch>
            <a:fillRect/>
          </a:stretch>
        </p:blipFill>
        <p:spPr>
          <a:xfrm>
            <a:off x="5101413" y="4241819"/>
            <a:ext cx="258249" cy="471130"/>
          </a:xfrm>
          <a:prstGeom prst="rect">
            <a:avLst/>
          </a:prstGeom>
          <a:noFill/>
          <a:ln>
            <a:noFill/>
          </a:ln>
        </p:spPr>
      </p:pic>
      <p:pic>
        <p:nvPicPr>
          <p:cNvPr descr="&lt;math xmlns=&quot;http://www.w3.org/1998/Math/MathML&quot; display=&quot;block&quot; data-is-equatio=&quot;1&quot; data-latex=&quot;\frac{49}{105}&quot;&gt;&lt;mfrac&gt;&lt;mn&gt;49&lt;/mn&gt;&lt;mn&gt;105&lt;/mn&gt;&lt;/mfrac&gt;&lt;/math&gt;" id="1321" name="Google Shape;1321;p83" title="49 over 105"/>
          <p:cNvPicPr preferRelativeResize="0"/>
          <p:nvPr/>
        </p:nvPicPr>
        <p:blipFill>
          <a:blip r:embed="rId28">
            <a:alphaModFix/>
          </a:blip>
          <a:stretch>
            <a:fillRect/>
          </a:stretch>
        </p:blipFill>
        <p:spPr>
          <a:xfrm>
            <a:off x="2547888" y="4171817"/>
            <a:ext cx="406362" cy="516499"/>
          </a:xfrm>
          <a:prstGeom prst="rect">
            <a:avLst/>
          </a:prstGeom>
          <a:noFill/>
          <a:ln>
            <a:noFill/>
          </a:ln>
        </p:spPr>
      </p:pic>
      <p:pic>
        <p:nvPicPr>
          <p:cNvPr descr="&lt;math xmlns=&quot;http://www.w3.org/1998/Math/MathML&quot; display=&quot;block&quot; data-is-equatio=&quot;1&quot; data-latex=&quot;\frac{35}{75}&quot;&gt;&lt;mfrac&gt;&lt;mn&gt;35&lt;/mn&gt;&lt;mn&gt;75&lt;/mn&gt;&lt;/mfrac&gt;&lt;/math&gt;" id="1322" name="Google Shape;1322;p83" title="35 over 75"/>
          <p:cNvPicPr preferRelativeResize="0"/>
          <p:nvPr/>
        </p:nvPicPr>
        <p:blipFill>
          <a:blip r:embed="rId29">
            <a:alphaModFix/>
          </a:blip>
          <a:stretch>
            <a:fillRect/>
          </a:stretch>
        </p:blipFill>
        <p:spPr>
          <a:xfrm>
            <a:off x="3834849" y="4208250"/>
            <a:ext cx="273440" cy="501308"/>
          </a:xfrm>
          <a:prstGeom prst="rect">
            <a:avLst/>
          </a:prstGeom>
          <a:noFill/>
          <a:ln>
            <a:noFill/>
          </a:ln>
        </p:spPr>
      </p:pic>
      <p:pic>
        <p:nvPicPr>
          <p:cNvPr descr="&lt;math xmlns=&quot;http://www.w3.org/1998/Math/MathML&quot; display=&quot;block&quot; data-is-equatio=&quot;1&quot; data-latex=&quot;\frac{63}{153}&quot;&gt;&lt;mfrac&gt;&lt;mn&gt;63&lt;/mn&gt;&lt;mn&gt;153&lt;/mn&gt;&lt;/mfrac&gt;&lt;/math&gt;" id="1323" name="Google Shape;1323;p83" title="63 over 153"/>
          <p:cNvPicPr preferRelativeResize="0"/>
          <p:nvPr/>
        </p:nvPicPr>
        <p:blipFill>
          <a:blip r:embed="rId30">
            <a:alphaModFix/>
          </a:blip>
          <a:stretch>
            <a:fillRect/>
          </a:stretch>
        </p:blipFill>
        <p:spPr>
          <a:xfrm>
            <a:off x="6162447" y="4173720"/>
            <a:ext cx="402564" cy="512701"/>
          </a:xfrm>
          <a:prstGeom prst="rect">
            <a:avLst/>
          </a:prstGeom>
          <a:noFill/>
          <a:ln>
            <a:noFill/>
          </a:ln>
        </p:spPr>
      </p:pic>
      <p:pic>
        <p:nvPicPr>
          <p:cNvPr descr="&lt;math xmlns=&quot;http://www.w3.org/1998/Math/MathML&quot; display=&quot;block&quot; data-is-equatio=&quot;1&quot; data-latex=&quot;\frac{84}{180}&quot;&gt;&lt;mfrac&gt;&lt;mn&gt;84&lt;/mn&gt;&lt;mn&gt;180&lt;/mn&gt;&lt;/mfrac&gt;&lt;/math&gt;" id="1324" name="Google Shape;1324;p83" title="84 over 180"/>
          <p:cNvPicPr preferRelativeResize="0"/>
          <p:nvPr/>
        </p:nvPicPr>
        <p:blipFill>
          <a:blip r:embed="rId31">
            <a:alphaModFix/>
          </a:blip>
          <a:stretch>
            <a:fillRect/>
          </a:stretch>
        </p:blipFill>
        <p:spPr>
          <a:xfrm>
            <a:off x="7367792" y="4218875"/>
            <a:ext cx="402550" cy="517037"/>
          </a:xfrm>
          <a:prstGeom prst="rect">
            <a:avLst/>
          </a:prstGeom>
          <a:noFill/>
          <a:ln>
            <a:noFill/>
          </a:ln>
        </p:spPr>
      </p:pic>
      <p:sp>
        <p:nvSpPr>
          <p:cNvPr id="1325" name="Google Shape;1325;p83"/>
          <p:cNvSpPr/>
          <p:nvPr/>
        </p:nvSpPr>
        <p:spPr>
          <a:xfrm>
            <a:off x="965725" y="1563225"/>
            <a:ext cx="1193400" cy="32010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6" name="Google Shape;1326;p83"/>
          <p:cNvSpPr/>
          <p:nvPr/>
        </p:nvSpPr>
        <p:spPr>
          <a:xfrm>
            <a:off x="4572005" y="1586675"/>
            <a:ext cx="1193400" cy="6177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7" name="Google Shape;1327;p83"/>
          <p:cNvSpPr/>
          <p:nvPr/>
        </p:nvSpPr>
        <p:spPr>
          <a:xfrm>
            <a:off x="6972375" y="2204950"/>
            <a:ext cx="1193400" cy="6177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8" name="Google Shape;1328;p83"/>
          <p:cNvSpPr/>
          <p:nvPr/>
        </p:nvSpPr>
        <p:spPr>
          <a:xfrm>
            <a:off x="3381137" y="2849700"/>
            <a:ext cx="1182000" cy="6177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9" name="Google Shape;1329;p83"/>
          <p:cNvSpPr/>
          <p:nvPr/>
        </p:nvSpPr>
        <p:spPr>
          <a:xfrm>
            <a:off x="3369600" y="3495603"/>
            <a:ext cx="1182000" cy="6177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0" name="Google Shape;1330;p83"/>
          <p:cNvSpPr/>
          <p:nvPr/>
        </p:nvSpPr>
        <p:spPr>
          <a:xfrm>
            <a:off x="5778500" y="4121225"/>
            <a:ext cx="1193400" cy="617700"/>
          </a:xfrm>
          <a:prstGeom prst="rect">
            <a:avLst/>
          </a:prstGeom>
          <a:solidFill>
            <a:srgbClr val="845AD9">
              <a:alpha val="193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60}{126}&quot;&gt;&lt;mfrac&gt;&lt;mn&gt;60&lt;/mn&gt;&lt;mn&gt;126&lt;/mn&gt;&lt;/mfrac&gt;&lt;/math&gt;" id="1331" name="Google Shape;1331;p83" title="60 over 126"/>
          <p:cNvPicPr preferRelativeResize="0"/>
          <p:nvPr/>
        </p:nvPicPr>
        <p:blipFill>
          <a:blip r:embed="rId32">
            <a:alphaModFix/>
          </a:blip>
          <a:stretch>
            <a:fillRect/>
          </a:stretch>
        </p:blipFill>
        <p:spPr>
          <a:xfrm>
            <a:off x="3781463" y="2916448"/>
            <a:ext cx="380194" cy="484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84"/>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factor pairs</a:t>
            </a:r>
            <a:endParaRPr/>
          </a:p>
        </p:txBody>
      </p:sp>
      <p:sp>
        <p:nvSpPr>
          <p:cNvPr id="1337" name="Google Shape;1337;p84"/>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prime factors</a:t>
            </a:r>
            <a:endParaRPr/>
          </a:p>
        </p:txBody>
      </p:sp>
      <p:sp>
        <p:nvSpPr>
          <p:cNvPr id="1338" name="Google Shape;1338;p84"/>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Simplifying fractions</a:t>
            </a:r>
            <a:endParaRPr/>
          </a:p>
        </p:txBody>
      </p:sp>
      <p:pic>
        <p:nvPicPr>
          <p:cNvPr id="1339" name="Google Shape;1339;p84"/>
          <p:cNvPicPr preferRelativeResize="0"/>
          <p:nvPr/>
        </p:nvPicPr>
        <p:blipFill>
          <a:blip r:embed="rId3">
            <a:alphaModFix/>
          </a:blip>
          <a:stretch>
            <a:fillRect/>
          </a:stretch>
        </p:blipFill>
        <p:spPr>
          <a:xfrm>
            <a:off x="422525" y="2988375"/>
            <a:ext cx="450575" cy="446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prime factors</a:t>
            </a:r>
            <a:endParaRPr/>
          </a:p>
        </p:txBody>
      </p:sp>
      <p:pic>
        <p:nvPicPr>
          <p:cNvPr id="1345" name="Google Shape;1345;p85"/>
          <p:cNvPicPr preferRelativeResize="0"/>
          <p:nvPr/>
        </p:nvPicPr>
        <p:blipFill>
          <a:blip r:embed="rId3">
            <a:alphaModFix/>
          </a:blip>
          <a:stretch>
            <a:fillRect/>
          </a:stretch>
        </p:blipFill>
        <p:spPr>
          <a:xfrm flipH="1">
            <a:off x="428125" y="3091431"/>
            <a:ext cx="1180471" cy="1367485"/>
          </a:xfrm>
          <a:prstGeom prst="rect">
            <a:avLst/>
          </a:prstGeom>
          <a:noFill/>
          <a:ln>
            <a:noFill/>
          </a:ln>
        </p:spPr>
      </p:pic>
      <p:grpSp>
        <p:nvGrpSpPr>
          <p:cNvPr id="1346" name="Google Shape;1346;p85"/>
          <p:cNvGrpSpPr/>
          <p:nvPr/>
        </p:nvGrpSpPr>
        <p:grpSpPr>
          <a:xfrm>
            <a:off x="1428597" y="1079954"/>
            <a:ext cx="2999951" cy="2330178"/>
            <a:chOff x="1623502" y="2225550"/>
            <a:chExt cx="2867748" cy="1490551"/>
          </a:xfrm>
        </p:grpSpPr>
        <p:pic>
          <p:nvPicPr>
            <p:cNvPr id="1347" name="Google Shape;1347;p85"/>
            <p:cNvPicPr preferRelativeResize="0"/>
            <p:nvPr/>
          </p:nvPicPr>
          <p:blipFill rotWithShape="1">
            <a:blip r:embed="rId4">
              <a:alphaModFix/>
            </a:blip>
            <a:srcRect b="43690" l="0" r="57905" t="0"/>
            <a:stretch/>
          </p:blipFill>
          <p:spPr>
            <a:xfrm flipH="1">
              <a:off x="1623502" y="2225550"/>
              <a:ext cx="2867748" cy="1490551"/>
            </a:xfrm>
            <a:prstGeom prst="rect">
              <a:avLst/>
            </a:prstGeom>
            <a:noFill/>
            <a:ln>
              <a:noFill/>
            </a:ln>
          </p:spPr>
        </p:pic>
        <p:sp>
          <p:nvSpPr>
            <p:cNvPr id="1348" name="Google Shape;1348;p85"/>
            <p:cNvSpPr txBox="1"/>
            <p:nvPr/>
          </p:nvSpPr>
          <p:spPr>
            <a:xfrm>
              <a:off x="1820870" y="2320746"/>
              <a:ext cx="2635800" cy="108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I have just realised. We can find the HCF of two integers using the product of prime factors.</a:t>
              </a:r>
              <a:endParaRPr sz="2200">
                <a:latin typeface="Lexend"/>
                <a:ea typeface="Lexend"/>
                <a:cs typeface="Lexend"/>
                <a:sym typeface="Lexend"/>
              </a:endParaRPr>
            </a:p>
          </p:txBody>
        </p:sp>
      </p:grpSp>
      <p:sp>
        <p:nvSpPr>
          <p:cNvPr id="1349" name="Google Shape;1349;p85"/>
          <p:cNvSpPr txBox="1"/>
          <p:nvPr/>
        </p:nvSpPr>
        <p:spPr>
          <a:xfrm>
            <a:off x="704101" y="4310700"/>
            <a:ext cx="9807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pic>
        <p:nvPicPr>
          <p:cNvPr id="1350" name="Google Shape;1350;p85"/>
          <p:cNvPicPr preferRelativeResize="0"/>
          <p:nvPr/>
        </p:nvPicPr>
        <p:blipFill>
          <a:blip r:embed="rId5">
            <a:alphaModFix/>
          </a:blip>
          <a:stretch>
            <a:fillRect/>
          </a:stretch>
        </p:blipFill>
        <p:spPr>
          <a:xfrm>
            <a:off x="7096137" y="2832269"/>
            <a:ext cx="1700389" cy="1645537"/>
          </a:xfrm>
          <a:prstGeom prst="rect">
            <a:avLst/>
          </a:prstGeom>
          <a:noFill/>
          <a:ln>
            <a:noFill/>
          </a:ln>
        </p:spPr>
      </p:pic>
      <p:sp>
        <p:nvSpPr>
          <p:cNvPr id="1351" name="Google Shape;1351;p85"/>
          <p:cNvSpPr txBox="1"/>
          <p:nvPr/>
        </p:nvSpPr>
        <p:spPr>
          <a:xfrm>
            <a:off x="7094894" y="43106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nvGrpSpPr>
          <p:cNvPr id="1352" name="Google Shape;1352;p85"/>
          <p:cNvGrpSpPr/>
          <p:nvPr/>
        </p:nvGrpSpPr>
        <p:grpSpPr>
          <a:xfrm>
            <a:off x="4520350" y="692526"/>
            <a:ext cx="3003049" cy="3230074"/>
            <a:chOff x="4520347" y="1759355"/>
            <a:chExt cx="3003049" cy="1812408"/>
          </a:xfrm>
        </p:grpSpPr>
        <p:pic>
          <p:nvPicPr>
            <p:cNvPr id="1353" name="Google Shape;1353;p85"/>
            <p:cNvPicPr preferRelativeResize="0"/>
            <p:nvPr/>
          </p:nvPicPr>
          <p:blipFill rotWithShape="1">
            <a:blip r:embed="rId4">
              <a:alphaModFix/>
            </a:blip>
            <a:srcRect b="43690" l="0" r="57905" t="0"/>
            <a:stretch/>
          </p:blipFill>
          <p:spPr>
            <a:xfrm>
              <a:off x="4520347" y="1759355"/>
              <a:ext cx="3003049" cy="1812408"/>
            </a:xfrm>
            <a:prstGeom prst="rect">
              <a:avLst/>
            </a:prstGeom>
            <a:noFill/>
            <a:ln>
              <a:noFill/>
            </a:ln>
          </p:spPr>
        </p:pic>
        <p:sp>
          <p:nvSpPr>
            <p:cNvPr id="1354" name="Google Shape;1354;p85"/>
            <p:cNvSpPr txBox="1"/>
            <p:nvPr/>
          </p:nvSpPr>
          <p:spPr>
            <a:xfrm>
              <a:off x="4635447" y="1800610"/>
              <a:ext cx="2685300" cy="1330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Oh, yes you’re right.  That will be really useful if we need to simplify fractions with larger numerators and denominators.</a:t>
              </a:r>
              <a:endParaRPr sz="22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prime factors</a:t>
            </a:r>
            <a:endParaRPr/>
          </a:p>
        </p:txBody>
      </p:sp>
      <p:sp>
        <p:nvSpPr>
          <p:cNvPr id="1360" name="Google Shape;1360;p86"/>
          <p:cNvSpPr txBox="1"/>
          <p:nvPr>
            <p:ph idx="1" type="body"/>
          </p:nvPr>
        </p:nvSpPr>
        <p:spPr>
          <a:xfrm>
            <a:off x="324000" y="759300"/>
            <a:ext cx="1149600" cy="37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 </a:t>
            </a:r>
            <a:endParaRPr/>
          </a:p>
        </p:txBody>
      </p:sp>
      <p:pic>
        <p:nvPicPr>
          <p:cNvPr descr="&lt;math xmlns=&quot;http://www.w3.org/1998/Math/MathML&quot; display=&quot;block&quot; data-is-equatio=&quot;1&quot; data-latex=&quot;=\frac{5}{7}&quot;&gt;&lt;mo&gt;=&lt;/mo&gt;&lt;mfrac&gt;&lt;mn&gt;5&lt;/mn&gt;&lt;mn&gt;7&lt;/mn&gt;&lt;/mfrac&gt;&lt;/math&gt;" id="1361" name="Google Shape;1361;p86" title="equals five sevenths"/>
          <p:cNvPicPr preferRelativeResize="0"/>
          <p:nvPr/>
        </p:nvPicPr>
        <p:blipFill>
          <a:blip r:embed="rId3">
            <a:alphaModFix/>
          </a:blip>
          <a:stretch>
            <a:fillRect/>
          </a:stretch>
        </p:blipFill>
        <p:spPr>
          <a:xfrm>
            <a:off x="2841981" y="2198124"/>
            <a:ext cx="654019" cy="799824"/>
          </a:xfrm>
          <a:prstGeom prst="rect">
            <a:avLst/>
          </a:prstGeom>
          <a:noFill/>
          <a:ln>
            <a:noFill/>
          </a:ln>
        </p:spPr>
      </p:pic>
      <p:sp>
        <p:nvSpPr>
          <p:cNvPr id="1362" name="Google Shape;1362;p86"/>
          <p:cNvSpPr/>
          <p:nvPr/>
        </p:nvSpPr>
        <p:spPr>
          <a:xfrm>
            <a:off x="1113150" y="2117425"/>
            <a:ext cx="1056600" cy="9990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63" name="Google Shape;1363;p86"/>
          <p:cNvCxnSpPr/>
          <p:nvPr/>
        </p:nvCxnSpPr>
        <p:spPr>
          <a:xfrm rot="10800000">
            <a:off x="1612875" y="3208375"/>
            <a:ext cx="341700" cy="398700"/>
          </a:xfrm>
          <a:prstGeom prst="straightConnector1">
            <a:avLst/>
          </a:prstGeom>
          <a:noFill/>
          <a:ln cap="flat" cmpd="sng" w="38100">
            <a:solidFill>
              <a:schemeClr val="dk2"/>
            </a:solidFill>
            <a:prstDash val="solid"/>
            <a:round/>
            <a:headEnd len="med" w="med" type="none"/>
            <a:tailEnd len="med" w="med" type="triangle"/>
          </a:ln>
        </p:spPr>
      </p:cxnSp>
      <p:sp>
        <p:nvSpPr>
          <p:cNvPr id="1364" name="Google Shape;1364;p86"/>
          <p:cNvSpPr txBox="1"/>
          <p:nvPr>
            <p:ph idx="1" type="body"/>
          </p:nvPr>
        </p:nvSpPr>
        <p:spPr>
          <a:xfrm>
            <a:off x="1113150" y="3670700"/>
            <a:ext cx="19044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equivalent to 1</a:t>
            </a:r>
            <a:endParaRPr sz="2000"/>
          </a:p>
        </p:txBody>
      </p:sp>
      <p:pic>
        <p:nvPicPr>
          <p:cNvPr descr="&lt;math xmlns=&quot;http://www.w3.org/1998/Math/MathML&quot; display=&quot;block&quot; data-is-equatio=&quot;1&quot; data-latex=&quot;\frac{30}{42}=\frac{2\ \times3\ \times5}{2\ \times3\ \times7}&quot;&gt;&lt;mfrac&gt;&lt;mn&gt;30&lt;/mn&gt;&lt;mn&gt;42&lt;/mn&gt;&lt;/mfrac&gt;&lt;mo&gt;=&lt;/mo&gt;&lt;mfrac&gt;&lt;mrow&gt;&lt;mn&gt;2&lt;/mn&gt;&lt;mtext&gt;&lt;/mtext&gt;&lt;mo&gt;×&lt;/mo&gt;&lt;mn&gt;3&lt;/mn&gt;&lt;mtext&gt;&lt;/mtext&gt;&lt;mo&gt;×&lt;/mo&gt;&lt;mn&gt;5&lt;/mn&gt;&lt;/mrow&gt;&lt;mrow&gt;&lt;mn&gt;2&lt;/mn&gt;&lt;mtext&gt;&lt;/mtext&gt;&lt;mo&gt;×&lt;/mo&gt;&lt;mn&gt;3&lt;/mn&gt;&lt;mtext&gt;&lt;/mtext&gt;&lt;mo&gt;×&lt;/mo&gt;&lt;mn&gt;7&lt;/mn&gt;&lt;/mrow&gt;&lt;/mfrac&gt;&lt;/math&gt;" id="1365" name="Google Shape;1365;p86" title="30 over 42 equals the fraction with numerator 2 times 3 times 5 and denominator 2 times 3 times 7"/>
          <p:cNvPicPr preferRelativeResize="0"/>
          <p:nvPr/>
        </p:nvPicPr>
        <p:blipFill rotWithShape="1">
          <a:blip r:embed="rId4">
            <a:alphaModFix/>
          </a:blip>
          <a:srcRect b="0" l="0" r="81497" t="0"/>
          <a:stretch/>
        </p:blipFill>
        <p:spPr>
          <a:xfrm>
            <a:off x="1612875" y="680050"/>
            <a:ext cx="442575" cy="727500"/>
          </a:xfrm>
          <a:prstGeom prst="rect">
            <a:avLst/>
          </a:prstGeom>
          <a:noFill/>
          <a:ln>
            <a:noFill/>
          </a:ln>
        </p:spPr>
      </p:pic>
      <p:pic>
        <p:nvPicPr>
          <p:cNvPr descr="&lt;math xmlns=&quot;http://www.w3.org/1998/Math/MathML&quot; display=&quot;block&quot; data-is-equatio=&quot;1&quot; data-latex=&quot;\frac{30}{42}=\frac{2\ \times3\ \times5}{2\ \times3\ \times7}&quot;&gt;&lt;mfrac&gt;&lt;mn&gt;30&lt;/mn&gt;&lt;mn&gt;42&lt;/mn&gt;&lt;/mfrac&gt;&lt;mo&gt;=&lt;/mo&gt;&lt;mfrac&gt;&lt;mrow&gt;&lt;mn&gt;2&lt;/mn&gt;&lt;mtext&gt;&lt;/mtext&gt;&lt;mo&gt;×&lt;/mo&gt;&lt;mn&gt;3&lt;/mn&gt;&lt;mtext&gt;&lt;/mtext&gt;&lt;mo&gt;×&lt;/mo&gt;&lt;mn&gt;5&lt;/mn&gt;&lt;/mrow&gt;&lt;mrow&gt;&lt;mn&gt;2&lt;/mn&gt;&lt;mtext&gt;&lt;/mtext&gt;&lt;mo&gt;×&lt;/mo&gt;&lt;mn&gt;3&lt;/mn&gt;&lt;mtext&gt;&lt;/mtext&gt;&lt;mo&gt;×&lt;/mo&gt;&lt;mn&gt;7&lt;/mn&gt;&lt;/mrow&gt;&lt;/mfrac&gt;&lt;/math&gt;" id="1366" name="Google Shape;1366;p86" title="30 over 42 equals the fraction with numerator 2 times 3 times 5 and denominator 2 times 3 times 7"/>
          <p:cNvPicPr preferRelativeResize="0"/>
          <p:nvPr/>
        </p:nvPicPr>
        <p:blipFill>
          <a:blip r:embed="rId4">
            <a:alphaModFix/>
          </a:blip>
          <a:stretch>
            <a:fillRect/>
          </a:stretch>
        </p:blipFill>
        <p:spPr>
          <a:xfrm>
            <a:off x="324000" y="2253175"/>
            <a:ext cx="2391929" cy="727500"/>
          </a:xfrm>
          <a:prstGeom prst="rect">
            <a:avLst/>
          </a:prstGeom>
          <a:noFill/>
          <a:ln>
            <a:noFill/>
          </a:ln>
        </p:spPr>
      </p:pic>
      <p:sp>
        <p:nvSpPr>
          <p:cNvPr id="1367" name="Google Shape;1367;p86"/>
          <p:cNvSpPr/>
          <p:nvPr/>
        </p:nvSpPr>
        <p:spPr>
          <a:xfrm>
            <a:off x="806700" y="2174825"/>
            <a:ext cx="1904400" cy="37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8" name="Google Shape;1368;p86"/>
          <p:cNvSpPr/>
          <p:nvPr/>
        </p:nvSpPr>
        <p:spPr>
          <a:xfrm>
            <a:off x="831525" y="2579268"/>
            <a:ext cx="1904400" cy="389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prime factors</a:t>
            </a:r>
            <a:endParaRPr/>
          </a:p>
        </p:txBody>
      </p:sp>
      <p:sp>
        <p:nvSpPr>
          <p:cNvPr id="1374" name="Google Shape;1374;p87"/>
          <p:cNvSpPr txBox="1"/>
          <p:nvPr>
            <p:ph idx="1" type="body"/>
          </p:nvPr>
        </p:nvSpPr>
        <p:spPr>
          <a:xfrm>
            <a:off x="324000" y="759300"/>
            <a:ext cx="1149600" cy="37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 </a:t>
            </a:r>
            <a:endParaRPr/>
          </a:p>
        </p:txBody>
      </p:sp>
      <p:pic>
        <p:nvPicPr>
          <p:cNvPr descr="&lt;math xmlns=&quot;http://www.w3.org/1998/Math/MathML&quot; display=&quot;block&quot; data-is-equatio=&quot;1&quot; data-latex=&quot;\frac{294}{546}=\frac{2\ \times3\ \times7\ \times7}{2\ \times3\ \times7\ \times\ 13}=\frac{7}{13}\ &quot;&gt;&lt;mfrac&gt;&lt;mn&gt;294&lt;/mn&gt;&lt;mn&gt;546&lt;/mn&gt;&lt;/mfrac&gt;&lt;mo&gt;=&lt;/mo&gt;&lt;mfrac&gt;&lt;mrow&gt;&lt;mn&gt;2&lt;/mn&gt;&lt;mtext&gt;&lt;/mtext&gt;&lt;mo&gt;×&lt;/mo&gt;&lt;mn&gt;3&lt;/mn&gt;&lt;mtext&gt;&lt;/mtext&gt;&lt;mo&gt;×&lt;/mo&gt;&lt;mn&gt;7&lt;/mn&gt;&lt;mtext&gt;&lt;/mtext&gt;&lt;mo&gt;×&lt;/mo&gt;&lt;mn&gt;7&lt;/mn&gt;&lt;/mrow&gt;&lt;mrow&gt;&lt;mn&gt;2&lt;/mn&gt;&lt;mtext&gt;&lt;/mtext&gt;&lt;mo&gt;×&lt;/mo&gt;&lt;mn&gt;3&lt;/mn&gt;&lt;mtext&gt;&lt;/mtext&gt;&lt;mo&gt;×&lt;/mo&gt;&lt;mn&gt;7&lt;/mn&gt;&lt;mtext&gt;&lt;/mtext&gt;&lt;mo&gt;×&lt;/mo&gt;&lt;mtext&gt;&lt;/mtext&gt;&lt;mn&gt;13&lt;/mn&gt;&lt;/mrow&gt;&lt;/mfrac&gt;&lt;mo&gt;=&lt;/mo&gt;&lt;mfrac&gt;&lt;mn&gt;7&lt;/mn&gt;&lt;mn&gt;13&lt;/mn&gt;&lt;/mfrac&gt;&lt;mtext&gt;&lt;/mtext&gt;&lt;/math&gt;" id="1375" name="Google Shape;1375;p87" title="294 over 546 equals the fraction with numerator 2 times 3 times 7 times 7 and denominator 2 times 3 times 7 times 13 equals 7 over 13"/>
          <p:cNvPicPr preferRelativeResize="0"/>
          <p:nvPr/>
        </p:nvPicPr>
        <p:blipFill>
          <a:blip r:embed="rId3">
            <a:alphaModFix/>
          </a:blip>
          <a:stretch>
            <a:fillRect/>
          </a:stretch>
        </p:blipFill>
        <p:spPr>
          <a:xfrm>
            <a:off x="328688" y="2092875"/>
            <a:ext cx="5117024" cy="847650"/>
          </a:xfrm>
          <a:prstGeom prst="rect">
            <a:avLst/>
          </a:prstGeom>
          <a:noFill/>
          <a:ln>
            <a:noFill/>
          </a:ln>
        </p:spPr>
      </p:pic>
      <p:sp>
        <p:nvSpPr>
          <p:cNvPr id="1376" name="Google Shape;1376;p87"/>
          <p:cNvSpPr/>
          <p:nvPr/>
        </p:nvSpPr>
        <p:spPr>
          <a:xfrm>
            <a:off x="1543075" y="1947300"/>
            <a:ext cx="1948500" cy="11388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294}{546}=\frac{2\ \times3\ \times7\ \times7}{2\ \times3\ \times7\ \times\ 13}=\frac{7}{13}\ &quot;&gt;&lt;mfrac&gt;&lt;mn&gt;294&lt;/mn&gt;&lt;mn&gt;546&lt;/mn&gt;&lt;/mfrac&gt;&lt;mo&gt;=&lt;/mo&gt;&lt;mfrac&gt;&lt;mrow&gt;&lt;mn&gt;2&lt;/mn&gt;&lt;mtext&gt;&lt;/mtext&gt;&lt;mo&gt;×&lt;/mo&gt;&lt;mn&gt;3&lt;/mn&gt;&lt;mtext&gt;&lt;/mtext&gt;&lt;mo&gt;×&lt;/mo&gt;&lt;mn&gt;7&lt;/mn&gt;&lt;mtext&gt;&lt;/mtext&gt;&lt;mo&gt;×&lt;/mo&gt;&lt;mn&gt;7&lt;/mn&gt;&lt;/mrow&gt;&lt;mrow&gt;&lt;mn&gt;2&lt;/mn&gt;&lt;mtext&gt;&lt;/mtext&gt;&lt;mo&gt;×&lt;/mo&gt;&lt;mn&gt;3&lt;/mn&gt;&lt;mtext&gt;&lt;/mtext&gt;&lt;mo&gt;×&lt;/mo&gt;&lt;mn&gt;7&lt;/mn&gt;&lt;mtext&gt;&lt;/mtext&gt;&lt;mo&gt;×&lt;/mo&gt;&lt;mtext&gt;&lt;/mtext&gt;&lt;mn&gt;13&lt;/mn&gt;&lt;/mrow&gt;&lt;/mfrac&gt;&lt;mo&gt;=&lt;/mo&gt;&lt;mfrac&gt;&lt;mn&gt;7&lt;/mn&gt;&lt;mn&gt;13&lt;/mn&gt;&lt;/mfrac&gt;&lt;mtext&gt;&lt;/mtext&gt;&lt;/math&gt;" id="1377" name="Google Shape;1377;p87" title="294 over 546 equals the fraction with numerator 2 times 3 times 7 times 7 and denominator 2 times 3 times 7 times 13 equals 7 over 13"/>
          <p:cNvPicPr preferRelativeResize="0"/>
          <p:nvPr/>
        </p:nvPicPr>
        <p:blipFill rotWithShape="1">
          <a:blip r:embed="rId3">
            <a:alphaModFix/>
          </a:blip>
          <a:srcRect b="-4788" l="-1190" r="85484" t="-5029"/>
          <a:stretch/>
        </p:blipFill>
        <p:spPr>
          <a:xfrm>
            <a:off x="1653575" y="613500"/>
            <a:ext cx="803675" cy="930900"/>
          </a:xfrm>
          <a:prstGeom prst="rect">
            <a:avLst/>
          </a:prstGeom>
          <a:noFill/>
          <a:ln>
            <a:noFill/>
          </a:ln>
        </p:spPr>
      </p:pic>
      <p:sp>
        <p:nvSpPr>
          <p:cNvPr id="1378" name="Google Shape;1378;p87"/>
          <p:cNvSpPr/>
          <p:nvPr/>
        </p:nvSpPr>
        <p:spPr>
          <a:xfrm>
            <a:off x="1543075" y="1972993"/>
            <a:ext cx="2719200" cy="417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9" name="Google Shape;1379;p87"/>
          <p:cNvSpPr/>
          <p:nvPr/>
        </p:nvSpPr>
        <p:spPr>
          <a:xfrm>
            <a:off x="1120575" y="2449550"/>
            <a:ext cx="3300600" cy="54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0" name="Google Shape;1380;p87"/>
          <p:cNvSpPr/>
          <p:nvPr/>
        </p:nvSpPr>
        <p:spPr>
          <a:xfrm>
            <a:off x="4496075" y="2026950"/>
            <a:ext cx="1026000" cy="1004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8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pic>
        <p:nvPicPr>
          <p:cNvPr descr="&lt;math xmlns=&quot;http://www.w3.org/1998/Math/MathML&quot; display=&quot;block&quot; data-is-equatio=&quot;1&quot; data-latex=&quot;\frac{70}{462}=\frac{2\ \times5\ \times7\ }{2\ \times3\ \times7\ \times\ 11}=\frac{5}{33}\ &quot;&gt;&lt;mfrac&gt;&lt;mn&gt;70&lt;/mn&gt;&lt;mn&gt;462&lt;/mn&gt;&lt;/mfrac&gt;&lt;mo&gt;=&lt;/mo&gt;&lt;mfrac&gt;&lt;mrow&gt;&lt;mn&gt;2&lt;/mn&gt;&lt;mtext&gt;&lt;/mtext&gt;&lt;mo&gt;×&lt;/mo&gt;&lt;mn&gt;5&lt;/mn&gt;&lt;mtext&gt;&lt;/mtext&gt;&lt;mo&gt;×&lt;/mo&gt;&lt;mn&gt;7&lt;/mn&gt;&lt;mtext&gt;&lt;/mtext&gt;&lt;/mrow&gt;&lt;mrow&gt;&lt;mn&gt;2&lt;/mn&gt;&lt;mtext&gt;&lt;/mtext&gt;&lt;mo&gt;×&lt;/mo&gt;&lt;mn&gt;3&lt;/mn&gt;&lt;mtext&gt;&lt;/mtext&gt;&lt;mo&gt;×&lt;/mo&gt;&lt;mn&gt;7&lt;/mn&gt;&lt;mtext&gt;&lt;/mtext&gt;&lt;mo&gt;×&lt;/mo&gt;&lt;mtext&gt;&lt;/mtext&gt;&lt;mn&gt;11&lt;/mn&gt;&lt;/mrow&gt;&lt;/mfrac&gt;&lt;mo&gt;=&lt;/mo&gt;&lt;mfrac&gt;&lt;mn&gt;5&lt;/mn&gt;&lt;mn&gt;33&lt;/mn&gt;&lt;/mfrac&gt;&lt;mtext&gt;&lt;/mtext&gt;&lt;/math&gt;" id="1385" name="Google Shape;1385;p88" title="70 over 462 equals the fraction with numerator 2 times 5 times 7 and denominator 2 times 3 times 7 times 11 equals 5 over 33"/>
          <p:cNvPicPr preferRelativeResize="0"/>
          <p:nvPr/>
        </p:nvPicPr>
        <p:blipFill>
          <a:blip r:embed="rId3">
            <a:alphaModFix/>
          </a:blip>
          <a:stretch>
            <a:fillRect/>
          </a:stretch>
        </p:blipFill>
        <p:spPr>
          <a:xfrm>
            <a:off x="734425" y="2109275"/>
            <a:ext cx="4882924" cy="814850"/>
          </a:xfrm>
          <a:prstGeom prst="rect">
            <a:avLst/>
          </a:prstGeom>
          <a:noFill/>
          <a:ln>
            <a:noFill/>
          </a:ln>
        </p:spPr>
      </p:pic>
      <p:sp>
        <p:nvSpPr>
          <p:cNvPr id="1386" name="Google Shape;1386;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prime factors</a:t>
            </a:r>
            <a:endParaRPr/>
          </a:p>
        </p:txBody>
      </p:sp>
      <p:sp>
        <p:nvSpPr>
          <p:cNvPr id="1387" name="Google Shape;1387;p88"/>
          <p:cNvSpPr txBox="1"/>
          <p:nvPr>
            <p:ph idx="1" type="body"/>
          </p:nvPr>
        </p:nvSpPr>
        <p:spPr>
          <a:xfrm>
            <a:off x="324000" y="759300"/>
            <a:ext cx="1149600" cy="37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 </a:t>
            </a:r>
            <a:endParaRPr/>
          </a:p>
        </p:txBody>
      </p:sp>
      <p:sp>
        <p:nvSpPr>
          <p:cNvPr id="1388" name="Google Shape;1388;p88"/>
          <p:cNvSpPr/>
          <p:nvPr/>
        </p:nvSpPr>
        <p:spPr>
          <a:xfrm>
            <a:off x="2352875" y="2054850"/>
            <a:ext cx="366900" cy="3771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70}{462}=\frac{2\ \times5\ \times7\ }{2\ \times3\ \times7\ \times\ 11}=\frac{5}{33}\ &quot;&gt;&lt;mfrac&gt;&lt;mn&gt;70&lt;/mn&gt;&lt;mn&gt;462&lt;/mn&gt;&lt;/mfrac&gt;&lt;mo&gt;=&lt;/mo&gt;&lt;mfrac&gt;&lt;mrow&gt;&lt;mn&gt;2&lt;/mn&gt;&lt;mtext&gt;&lt;/mtext&gt;&lt;mo&gt;×&lt;/mo&gt;&lt;mn&gt;5&lt;/mn&gt;&lt;mtext&gt;&lt;/mtext&gt;&lt;mo&gt;×&lt;/mo&gt;&lt;mn&gt;7&lt;/mn&gt;&lt;mtext&gt;&lt;/mtext&gt;&lt;/mrow&gt;&lt;mrow&gt;&lt;mn&gt;2&lt;/mn&gt;&lt;mtext&gt;&lt;/mtext&gt;&lt;mo&gt;×&lt;/mo&gt;&lt;mn&gt;3&lt;/mn&gt;&lt;mtext&gt;&lt;/mtext&gt;&lt;mo&gt;×&lt;/mo&gt;&lt;mn&gt;7&lt;/mn&gt;&lt;mtext&gt;&lt;/mtext&gt;&lt;mo&gt;×&lt;/mo&gt;&lt;mtext&gt;&lt;/mtext&gt;&lt;mn&gt;11&lt;/mn&gt;&lt;/mrow&gt;&lt;/mfrac&gt;&lt;mo&gt;=&lt;/mo&gt;&lt;mfrac&gt;&lt;mn&gt;5&lt;/mn&gt;&lt;mn&gt;33&lt;/mn&gt;&lt;/mfrac&gt;&lt;mtext&gt;&lt;/mtext&gt;&lt;/math&gt;" id="1389" name="Google Shape;1389;p88" title="70 over 462 equals the fraction with numerator 2 times 5 times 7 and denominator 2 times 3 times 7 times 11 equals 5 over 33"/>
          <p:cNvPicPr preferRelativeResize="0"/>
          <p:nvPr/>
        </p:nvPicPr>
        <p:blipFill rotWithShape="1">
          <a:blip r:embed="rId3">
            <a:alphaModFix/>
          </a:blip>
          <a:srcRect b="0" l="0" r="85653" t="0"/>
          <a:stretch/>
        </p:blipFill>
        <p:spPr>
          <a:xfrm>
            <a:off x="1684800" y="672575"/>
            <a:ext cx="700525" cy="814850"/>
          </a:xfrm>
          <a:prstGeom prst="rect">
            <a:avLst/>
          </a:prstGeom>
          <a:noFill/>
          <a:ln>
            <a:noFill/>
          </a:ln>
        </p:spPr>
      </p:pic>
      <p:sp>
        <p:nvSpPr>
          <p:cNvPr id="1390" name="Google Shape;1390;p88"/>
          <p:cNvSpPr/>
          <p:nvPr/>
        </p:nvSpPr>
        <p:spPr>
          <a:xfrm>
            <a:off x="1904250" y="2599475"/>
            <a:ext cx="366900" cy="3771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1" name="Google Shape;1391;p88"/>
          <p:cNvSpPr/>
          <p:nvPr/>
        </p:nvSpPr>
        <p:spPr>
          <a:xfrm>
            <a:off x="3442175" y="2081250"/>
            <a:ext cx="669600" cy="3771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2" name="Google Shape;1392;p88"/>
          <p:cNvSpPr/>
          <p:nvPr/>
        </p:nvSpPr>
        <p:spPr>
          <a:xfrm>
            <a:off x="2955600" y="2599475"/>
            <a:ext cx="669600" cy="3771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3" name="Google Shape;1393;p88"/>
          <p:cNvSpPr/>
          <p:nvPr/>
        </p:nvSpPr>
        <p:spPr>
          <a:xfrm>
            <a:off x="1904250" y="1984793"/>
            <a:ext cx="2719200" cy="417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4" name="Google Shape;1394;p88"/>
          <p:cNvSpPr/>
          <p:nvPr/>
        </p:nvSpPr>
        <p:spPr>
          <a:xfrm>
            <a:off x="1473600" y="2471454"/>
            <a:ext cx="3150000" cy="54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5" name="Google Shape;1395;p88"/>
          <p:cNvSpPr/>
          <p:nvPr/>
        </p:nvSpPr>
        <p:spPr>
          <a:xfrm>
            <a:off x="4681800" y="2081250"/>
            <a:ext cx="975000" cy="89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prime factors</a:t>
            </a:r>
            <a:endParaRPr/>
          </a:p>
        </p:txBody>
      </p:sp>
      <p:sp>
        <p:nvSpPr>
          <p:cNvPr id="1401" name="Google Shape;1401;p89"/>
          <p:cNvSpPr txBox="1"/>
          <p:nvPr>
            <p:ph idx="1" type="body"/>
          </p:nvPr>
        </p:nvSpPr>
        <p:spPr>
          <a:xfrm>
            <a:off x="324000" y="911700"/>
            <a:ext cx="1149600" cy="37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 </a:t>
            </a:r>
            <a:endParaRPr/>
          </a:p>
        </p:txBody>
      </p:sp>
      <p:pic>
        <p:nvPicPr>
          <p:cNvPr descr="&lt;math xmlns=&quot;http://www.w3.org/1998/Math/MathML&quot; display=&quot;block&quot; data-is-equatio=&quot;1&quot; data-latex=&quot;\frac{300}{2250}=\frac{2^2\ \times3\ \times5^2}{2\ \times3^2\ \times5^3\ }=\frac{2}{15}\ &quot;&gt;&lt;mfrac&gt;&lt;mn&gt;300&lt;/mn&gt;&lt;mn&gt;2250&lt;/mn&gt;&lt;/mfrac&gt;&lt;mo&gt;=&lt;/mo&gt;&lt;mfrac&gt;&lt;mrow&gt;&lt;msup&gt;&lt;mn&gt;2&lt;/mn&gt;&lt;mn&gt;2&lt;/mn&gt;&lt;/msup&gt;&lt;mtext&gt;&lt;/mtext&gt;&lt;mo&gt;×&lt;/mo&gt;&lt;mn&gt;3&lt;/mn&gt;&lt;mtext&gt;&lt;/mtext&gt;&lt;mo&gt;×&lt;/mo&gt;&lt;msup&gt;&lt;mn&gt;5&lt;/mn&gt;&lt;mn&gt;2&lt;/mn&gt;&lt;/msup&gt;&lt;/mrow&gt;&lt;mrow&gt;&lt;mn&gt;2&lt;/mn&gt;&lt;mtext&gt;&lt;/mtext&gt;&lt;mo&gt;×&lt;/mo&gt;&lt;msup&gt;&lt;mn&gt;3&lt;/mn&gt;&lt;mn&gt;2&lt;/mn&gt;&lt;/msup&gt;&lt;mtext&gt;&lt;/mtext&gt;&lt;mo&gt;×&lt;/mo&gt;&lt;msup&gt;&lt;mn&gt;5&lt;/mn&gt;&lt;mn&gt;3&lt;/mn&gt;&lt;/msup&gt;&lt;mtext&gt;&lt;/mtext&gt;&lt;/mrow&gt;&lt;/mfrac&gt;&lt;mo&gt;=&lt;/mo&gt;&lt;mfrac&gt;&lt;mn&gt;2&lt;/mn&gt;&lt;mn&gt;15&lt;/mn&gt;&lt;/mfrac&gt;&lt;mtext&gt;&lt;/mtext&gt;&lt;/math&gt;" id="1402" name="Google Shape;1402;p89" title="300 over 2250 equals the fraction with numerator 2 squared times 3 times 5 squared and denominator 2 times 3 squared times 5 cubed equals 2 over 15"/>
          <p:cNvPicPr preferRelativeResize="0"/>
          <p:nvPr/>
        </p:nvPicPr>
        <p:blipFill rotWithShape="1">
          <a:blip r:embed="rId3">
            <a:alphaModFix/>
          </a:blip>
          <a:srcRect b="0" l="0" r="80011" t="0"/>
          <a:stretch/>
        </p:blipFill>
        <p:spPr>
          <a:xfrm>
            <a:off x="1475091" y="657125"/>
            <a:ext cx="849147" cy="916349"/>
          </a:xfrm>
          <a:prstGeom prst="rect">
            <a:avLst/>
          </a:prstGeom>
          <a:noFill/>
          <a:ln>
            <a:noFill/>
          </a:ln>
        </p:spPr>
      </p:pic>
      <p:pic>
        <p:nvPicPr>
          <p:cNvPr descr="&lt;math xmlns=&quot;http://www.w3.org/1998/Math/MathML&quot; display=&quot;block&quot; data-is-equatio=&quot;1&quot; data-latex=&quot;\frac{2\times2\times3\times5\times5\ }{2\times3\times3\times5\times5\times5}\ &quot;&gt;&lt;mfrac&gt;&lt;mrow&gt;&lt;mn&gt;2&lt;/mn&gt;&lt;mo&gt;×&lt;/mo&gt;&lt;mn&gt;2&lt;/mn&gt;&lt;mo&gt;×&lt;/mo&gt;&lt;mn&gt;3&lt;/mn&gt;&lt;mo&gt;×&lt;/mo&gt;&lt;mn&gt;5&lt;/mn&gt;&lt;mo&gt;×&lt;/mo&gt;&lt;mn&gt;5&lt;/mn&gt;&lt;mtext&gt;&lt;/mtext&gt;&lt;/mrow&gt;&lt;mrow&gt;&lt;mn&gt;2&lt;/mn&gt;&lt;mo&gt;×&lt;/mo&gt;&lt;mn&gt;3&lt;/mn&gt;&lt;mo&gt;×&lt;/mo&gt;&lt;mn&gt;3&lt;/mn&gt;&lt;mo&gt;×&lt;/mo&gt;&lt;mn&gt;5&lt;/mn&gt;&lt;mo&gt;×&lt;/mo&gt;&lt;mn&gt;5&lt;/mn&gt;&lt;mo&gt;×&lt;/mo&gt;&lt;mn&gt;5&lt;/mn&gt;&lt;/mrow&gt;&lt;/mfrac&gt;&lt;mtext&gt;&lt;/mtext&gt;&lt;/math&gt;" id="1403" name="Google Shape;1403;p89" title="the fraction with numerator 2 times 2 times 3 times 5 times 5 and denominator 2 times 3 times 3 times 5 times 5 times 5"/>
          <p:cNvPicPr preferRelativeResize="0"/>
          <p:nvPr/>
        </p:nvPicPr>
        <p:blipFill>
          <a:blip r:embed="rId4">
            <a:alphaModFix/>
          </a:blip>
          <a:stretch>
            <a:fillRect/>
          </a:stretch>
        </p:blipFill>
        <p:spPr>
          <a:xfrm>
            <a:off x="4129200" y="2029574"/>
            <a:ext cx="3209088" cy="787350"/>
          </a:xfrm>
          <a:prstGeom prst="rect">
            <a:avLst/>
          </a:prstGeom>
          <a:noFill/>
          <a:ln>
            <a:noFill/>
          </a:ln>
        </p:spPr>
      </p:pic>
      <p:pic>
        <p:nvPicPr>
          <p:cNvPr descr="&lt;math xmlns=&quot;http://www.w3.org/1998/Math/MathML&quot; display=&quot;block&quot; data-is-equatio=&quot;1&quot; data-latex=&quot;\frac{300}{2250}=\frac{2^2\ \times3\ \times5^2}{2\ \times3^2\ \times5^3\ }=\frac{2}{15}\ &quot;&gt;&lt;mfrac&gt;&lt;mn&gt;300&lt;/mn&gt;&lt;mn&gt;2250&lt;/mn&gt;&lt;/mfrac&gt;&lt;mo&gt;=&lt;/mo&gt;&lt;mfrac&gt;&lt;mrow&gt;&lt;msup&gt;&lt;mn&gt;2&lt;/mn&gt;&lt;mn&gt;2&lt;/mn&gt;&lt;/msup&gt;&lt;mtext&gt;&lt;/mtext&gt;&lt;mo&gt;×&lt;/mo&gt;&lt;mn&gt;3&lt;/mn&gt;&lt;mtext&gt;&lt;/mtext&gt;&lt;mo&gt;×&lt;/mo&gt;&lt;msup&gt;&lt;mn&gt;5&lt;/mn&gt;&lt;mn&gt;2&lt;/mn&gt;&lt;/msup&gt;&lt;/mrow&gt;&lt;mrow&gt;&lt;mn&gt;2&lt;/mn&gt;&lt;mtext&gt;&lt;/mtext&gt;&lt;mo&gt;×&lt;/mo&gt;&lt;msup&gt;&lt;mn&gt;3&lt;/mn&gt;&lt;mn&gt;2&lt;/mn&gt;&lt;/msup&gt;&lt;mtext&gt;&lt;/mtext&gt;&lt;mo&gt;×&lt;/mo&gt;&lt;msup&gt;&lt;mn&gt;5&lt;/mn&gt;&lt;mn&gt;3&lt;/mn&gt;&lt;/msup&gt;&lt;mtext&gt;&lt;/mtext&gt;&lt;/mrow&gt;&lt;/mfrac&gt;&lt;mo&gt;=&lt;/mo&gt;&lt;mfrac&gt;&lt;mn&gt;2&lt;/mn&gt;&lt;mn&gt;15&lt;/mn&gt;&lt;/mfrac&gt;&lt;mtext&gt;&lt;/mtext&gt;&lt;/math&gt;" id="1404" name="Google Shape;1404;p89" title="300 over 2250 equals the fraction with numerator 2 squared times 3 times 5 squared and denominator 2 times 3 squared times 5 cubed equals 2 over 15"/>
          <p:cNvPicPr preferRelativeResize="0"/>
          <p:nvPr/>
        </p:nvPicPr>
        <p:blipFill rotWithShape="1">
          <a:blip r:embed="rId3">
            <a:alphaModFix/>
          </a:blip>
          <a:srcRect b="0" l="0" r="22057" t="0"/>
          <a:stretch/>
        </p:blipFill>
        <p:spPr>
          <a:xfrm>
            <a:off x="324000" y="1976075"/>
            <a:ext cx="3310949" cy="916350"/>
          </a:xfrm>
          <a:prstGeom prst="rect">
            <a:avLst/>
          </a:prstGeom>
          <a:noFill/>
          <a:ln>
            <a:noFill/>
          </a:ln>
        </p:spPr>
      </p:pic>
      <p:pic>
        <p:nvPicPr>
          <p:cNvPr descr="&lt;math xmlns=&quot;http://www.w3.org/1998/Math/MathML&quot; display=&quot;block&quot; data-is-equatio=&quot;1&quot; data-latex=&quot;\frac{300}{2250}=\frac{2^2\ \times3\ \times5^2}{2\ \times3^2\ \times5^3\ }=\frac{2}{15}\ &quot;&gt;&lt;mfrac&gt;&lt;mn&gt;300&lt;/mn&gt;&lt;mn&gt;2250&lt;/mn&gt;&lt;/mfrac&gt;&lt;mo&gt;=&lt;/mo&gt;&lt;mfrac&gt;&lt;mrow&gt;&lt;msup&gt;&lt;mn&gt;2&lt;/mn&gt;&lt;mn&gt;2&lt;/mn&gt;&lt;/msup&gt;&lt;mtext&gt;&lt;/mtext&gt;&lt;mo&gt;×&lt;/mo&gt;&lt;mn&gt;3&lt;/mn&gt;&lt;mtext&gt;&lt;/mtext&gt;&lt;mo&gt;×&lt;/mo&gt;&lt;msup&gt;&lt;mn&gt;5&lt;/mn&gt;&lt;mn&gt;2&lt;/mn&gt;&lt;/msup&gt;&lt;/mrow&gt;&lt;mrow&gt;&lt;mn&gt;2&lt;/mn&gt;&lt;mtext&gt;&lt;/mtext&gt;&lt;mo&gt;×&lt;/mo&gt;&lt;msup&gt;&lt;mn&gt;3&lt;/mn&gt;&lt;mn&gt;2&lt;/mn&gt;&lt;/msup&gt;&lt;mtext&gt;&lt;/mtext&gt;&lt;mo&gt;×&lt;/mo&gt;&lt;msup&gt;&lt;mn&gt;5&lt;/mn&gt;&lt;mn&gt;3&lt;/mn&gt;&lt;/msup&gt;&lt;mtext&gt;&lt;/mtext&gt;&lt;/mrow&gt;&lt;/mfrac&gt;&lt;mo&gt;=&lt;/mo&gt;&lt;mfrac&gt;&lt;mn&gt;2&lt;/mn&gt;&lt;mn&gt;15&lt;/mn&gt;&lt;/mfrac&gt;&lt;mtext&gt;&lt;/mtext&gt;&lt;/math&gt;" id="1405" name="Google Shape;1405;p89" title="300 over 2250 equals the fraction with numerator 2 squared times 3 times 5 squared and denominator 2 times 3 squared times 5 cubed equals 2 over 15"/>
          <p:cNvPicPr preferRelativeResize="0"/>
          <p:nvPr/>
        </p:nvPicPr>
        <p:blipFill rotWithShape="1">
          <a:blip r:embed="rId3">
            <a:alphaModFix/>
          </a:blip>
          <a:srcRect b="34030" l="21087" r="71615" t="43557"/>
          <a:stretch/>
        </p:blipFill>
        <p:spPr>
          <a:xfrm>
            <a:off x="3763950" y="2360541"/>
            <a:ext cx="310000" cy="205375"/>
          </a:xfrm>
          <a:prstGeom prst="rect">
            <a:avLst/>
          </a:prstGeom>
          <a:noFill/>
          <a:ln>
            <a:noFill/>
          </a:ln>
        </p:spPr>
      </p:pic>
      <p:pic>
        <p:nvPicPr>
          <p:cNvPr descr="&lt;math xmlns=&quot;http://www.w3.org/1998/Math/MathML&quot; display=&quot;block&quot; data-is-equatio=&quot;1&quot; data-latex=&quot;\frac{2\times3\times5\times5\times2\ }{2\times3\times5\times5\times3\times5}\ &quot;&gt;&lt;mfrac&gt;&lt;mrow&gt;&lt;mn&gt;2&lt;/mn&gt;&lt;mo&gt;×&lt;/mo&gt;&lt;mn&gt;3&lt;/mn&gt;&lt;mo&gt;×&lt;/mo&gt;&lt;mn&gt;5&lt;/mn&gt;&lt;mo&gt;×&lt;/mo&gt;&lt;mn&gt;5&lt;/mn&gt;&lt;mo&gt;×&lt;/mo&gt;&lt;mn&gt;2&lt;/mn&gt;&lt;mtext&gt;&lt;/mtext&gt;&lt;/mrow&gt;&lt;mrow&gt;&lt;mn&gt;2&lt;/mn&gt;&lt;mo&gt;×&lt;/mo&gt;&lt;mn&gt;3&lt;/mn&gt;&lt;mo&gt;×&lt;/mo&gt;&lt;mn&gt;5&lt;/mn&gt;&lt;mo&gt;×&lt;/mo&gt;&lt;mn&gt;5&lt;/mn&gt;&lt;mo&gt;×&lt;/mo&gt;&lt;mn&gt;3&lt;/mn&gt;&lt;mo&gt;×&lt;/mo&gt;&lt;mn&gt;5&lt;/mn&gt;&lt;/mrow&gt;&lt;/mfrac&gt;&lt;mtext&gt;&lt;/mtext&gt;&lt;/math&gt;" id="1406" name="Google Shape;1406;p89" title="the fraction with numerator 2 times 3 times 5 times 5 times 2 and denominator 2 times 3 times 5 times 5 times 3 times 5"/>
          <p:cNvPicPr preferRelativeResize="0"/>
          <p:nvPr/>
        </p:nvPicPr>
        <p:blipFill>
          <a:blip r:embed="rId5">
            <a:alphaModFix/>
          </a:blip>
          <a:stretch>
            <a:fillRect/>
          </a:stretch>
        </p:blipFill>
        <p:spPr>
          <a:xfrm>
            <a:off x="4073950" y="3333750"/>
            <a:ext cx="3209077" cy="787350"/>
          </a:xfrm>
          <a:prstGeom prst="rect">
            <a:avLst/>
          </a:prstGeom>
          <a:noFill/>
          <a:ln>
            <a:noFill/>
          </a:ln>
        </p:spPr>
      </p:pic>
      <p:pic>
        <p:nvPicPr>
          <p:cNvPr descr="&lt;math xmlns=&quot;http://www.w3.org/1998/Math/MathML&quot; display=&quot;block&quot; data-is-equatio=&quot;1&quot; data-latex=&quot;\frac{2}{15}&quot;&gt;&lt;mfrac&gt;&lt;mn&gt;2&lt;/mn&gt;&lt;mn&gt;15&lt;/mn&gt;&lt;/mfrac&gt;&lt;/math&gt;" id="1407" name="Google Shape;1407;p89" title="2 over 15"/>
          <p:cNvPicPr preferRelativeResize="0"/>
          <p:nvPr/>
        </p:nvPicPr>
        <p:blipFill>
          <a:blip r:embed="rId6">
            <a:alphaModFix/>
          </a:blip>
          <a:stretch>
            <a:fillRect/>
          </a:stretch>
        </p:blipFill>
        <p:spPr>
          <a:xfrm>
            <a:off x="7788575" y="3365762"/>
            <a:ext cx="383525" cy="699675"/>
          </a:xfrm>
          <a:prstGeom prst="rect">
            <a:avLst/>
          </a:prstGeom>
          <a:noFill/>
          <a:ln>
            <a:noFill/>
          </a:ln>
        </p:spPr>
      </p:pic>
      <p:sp>
        <p:nvSpPr>
          <p:cNvPr id="1408" name="Google Shape;1408;p89"/>
          <p:cNvSpPr/>
          <p:nvPr/>
        </p:nvSpPr>
        <p:spPr>
          <a:xfrm>
            <a:off x="4061050" y="3257350"/>
            <a:ext cx="2283900" cy="9165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300}{2250}=\frac{2^2\ \times3\ \times5^2}{2\ \times3^2\ \times5^3\ }=\frac{2}{15}\ &quot;&gt;&lt;mfrac&gt;&lt;mn&gt;300&lt;/mn&gt;&lt;mn&gt;2250&lt;/mn&gt;&lt;/mfrac&gt;&lt;mo&gt;=&lt;/mo&gt;&lt;mfrac&gt;&lt;mrow&gt;&lt;msup&gt;&lt;mn&gt;2&lt;/mn&gt;&lt;mn&gt;2&lt;/mn&gt;&lt;/msup&gt;&lt;mtext&gt;&lt;/mtext&gt;&lt;mo&gt;×&lt;/mo&gt;&lt;mn&gt;3&lt;/mn&gt;&lt;mtext&gt;&lt;/mtext&gt;&lt;mo&gt;×&lt;/mo&gt;&lt;msup&gt;&lt;mn&gt;5&lt;/mn&gt;&lt;mn&gt;2&lt;/mn&gt;&lt;/msup&gt;&lt;/mrow&gt;&lt;mrow&gt;&lt;mn&gt;2&lt;/mn&gt;&lt;mtext&gt;&lt;/mtext&gt;&lt;mo&gt;×&lt;/mo&gt;&lt;msup&gt;&lt;mn&gt;3&lt;/mn&gt;&lt;mn&gt;2&lt;/mn&gt;&lt;/msup&gt;&lt;mtext&gt;&lt;/mtext&gt;&lt;mo&gt;×&lt;/mo&gt;&lt;msup&gt;&lt;mn&gt;5&lt;/mn&gt;&lt;mn&gt;3&lt;/mn&gt;&lt;/msup&gt;&lt;mtext&gt;&lt;/mtext&gt;&lt;/mrow&gt;&lt;/mfrac&gt;&lt;mo&gt;=&lt;/mo&gt;&lt;mfrac&gt;&lt;mn&gt;2&lt;/mn&gt;&lt;mn&gt;15&lt;/mn&gt;&lt;/mfrac&gt;&lt;mtext&gt;&lt;/mtext&gt;&lt;/math&gt;" id="1409" name="Google Shape;1409;p89" title="300 over 2250 equals the fraction with numerator 2 squared times 3 times 5 squared and denominator 2 times 3 squared times 5 cubed equals 2 over 15"/>
          <p:cNvPicPr preferRelativeResize="0"/>
          <p:nvPr/>
        </p:nvPicPr>
        <p:blipFill rotWithShape="1">
          <a:blip r:embed="rId3">
            <a:alphaModFix/>
          </a:blip>
          <a:srcRect b="34030" l="21087" r="71615" t="43557"/>
          <a:stretch/>
        </p:blipFill>
        <p:spPr>
          <a:xfrm>
            <a:off x="7420775" y="3624737"/>
            <a:ext cx="310000" cy="205375"/>
          </a:xfrm>
          <a:prstGeom prst="rect">
            <a:avLst/>
          </a:prstGeom>
          <a:noFill/>
          <a:ln>
            <a:noFill/>
          </a:ln>
        </p:spPr>
      </p:pic>
      <p:sp>
        <p:nvSpPr>
          <p:cNvPr id="1410" name="Google Shape;1410;p89"/>
          <p:cNvSpPr/>
          <p:nvPr/>
        </p:nvSpPr>
        <p:spPr>
          <a:xfrm>
            <a:off x="1647375" y="1932850"/>
            <a:ext cx="1905300" cy="417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1" name="Google Shape;1411;p89"/>
          <p:cNvSpPr/>
          <p:nvPr/>
        </p:nvSpPr>
        <p:spPr>
          <a:xfrm>
            <a:off x="1218750" y="2362950"/>
            <a:ext cx="2444100" cy="576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12" name="Google Shape;1412;p89"/>
          <p:cNvCxnSpPr/>
          <p:nvPr/>
        </p:nvCxnSpPr>
        <p:spPr>
          <a:xfrm flipH="1" rot="10800000">
            <a:off x="2849425" y="3740450"/>
            <a:ext cx="996900" cy="171300"/>
          </a:xfrm>
          <a:prstGeom prst="straightConnector1">
            <a:avLst/>
          </a:prstGeom>
          <a:noFill/>
          <a:ln cap="flat" cmpd="sng" w="38100">
            <a:solidFill>
              <a:schemeClr val="dk2"/>
            </a:solidFill>
            <a:prstDash val="solid"/>
            <a:round/>
            <a:headEnd len="med" w="med" type="none"/>
            <a:tailEnd len="med" w="med" type="triangle"/>
          </a:ln>
        </p:spPr>
      </p:cxnSp>
      <p:sp>
        <p:nvSpPr>
          <p:cNvPr id="1413" name="Google Shape;1413;p89"/>
          <p:cNvSpPr txBox="1"/>
          <p:nvPr>
            <p:ph idx="1" type="body"/>
          </p:nvPr>
        </p:nvSpPr>
        <p:spPr>
          <a:xfrm>
            <a:off x="316800" y="3669800"/>
            <a:ext cx="2444100" cy="110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Move all of the common factors to the front</a:t>
            </a:r>
            <a:r>
              <a:rPr lang="en-GB"/>
              <a:t> </a:t>
            </a:r>
            <a:endParaRPr/>
          </a:p>
        </p:txBody>
      </p:sp>
      <p:cxnSp>
        <p:nvCxnSpPr>
          <p:cNvPr id="1414" name="Google Shape;1414;p89"/>
          <p:cNvCxnSpPr/>
          <p:nvPr/>
        </p:nvCxnSpPr>
        <p:spPr>
          <a:xfrm flipH="1">
            <a:off x="5895225" y="1412950"/>
            <a:ext cx="636000" cy="519900"/>
          </a:xfrm>
          <a:prstGeom prst="straightConnector1">
            <a:avLst/>
          </a:prstGeom>
          <a:noFill/>
          <a:ln cap="flat" cmpd="sng" w="38100">
            <a:solidFill>
              <a:schemeClr val="dk2"/>
            </a:solidFill>
            <a:prstDash val="solid"/>
            <a:round/>
            <a:headEnd len="med" w="med" type="none"/>
            <a:tailEnd len="med" w="med" type="triangle"/>
          </a:ln>
        </p:spPr>
      </p:cxnSp>
      <p:sp>
        <p:nvSpPr>
          <p:cNvPr id="1415" name="Google Shape;1415;p89"/>
          <p:cNvSpPr txBox="1"/>
          <p:nvPr>
            <p:ph idx="1" type="body"/>
          </p:nvPr>
        </p:nvSpPr>
        <p:spPr>
          <a:xfrm>
            <a:off x="5895225" y="657600"/>
            <a:ext cx="2444100" cy="655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Take out of exponent form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1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1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1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1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pic>
        <p:nvPicPr>
          <p:cNvPr descr="&lt;math xmlns=&quot;http://www.w3.org/1998/Math/MathML&quot; display=&quot;block&quot; data-is-equatio=&quot;1&quot; data-latex=&quot;\begin{array}{l}\frac{2\times3\times5^2}{2^3\times3\times5\times7}=\frac{2\times3\times5\times5}{2\times2\times2\times3\times5\times7}=\frac{2\times3\times5\times5}{2\times3\times5\times2\times2\times7}=\frac{5}{28}\end{array}&quot;&gt;&lt;mtable columnalign=&quot;left&quot; columnspacing=&quot;1em&quot; rowspacing=&quot;4pt&quot;&gt;&lt;mtr&gt;&lt;mtd&gt;&lt;mfrac&gt;&lt;mrow&gt;&lt;mn&gt;2&lt;/mn&gt;&lt;mo&gt;×&lt;/mo&gt;&lt;mn&gt;3&lt;/mn&gt;&lt;mo&gt;×&lt;/mo&gt;&lt;msup&gt;&lt;mn&gt;5&lt;/mn&gt;&lt;mn&gt;2&lt;/mn&gt;&lt;/msup&gt;&lt;/mrow&gt;&lt;mrow&gt;&lt;msup&gt;&lt;mn&gt;2&lt;/mn&gt;&lt;mn&gt;3&lt;/mn&gt;&lt;/msup&gt;&lt;mo&gt;×&lt;/mo&gt;&lt;mn&gt;3&lt;/mn&gt;&lt;mo&gt;×&lt;/mo&gt;&lt;mn&gt;5&lt;/mn&gt;&lt;mo&gt;×&lt;/mo&gt;&lt;mn&gt;7&lt;/mn&gt;&lt;/mrow&gt;&lt;/mfrac&gt;&lt;mo&gt;=&lt;/mo&gt;&lt;mfrac&gt;&lt;mrow&gt;&lt;mn&gt;2&lt;/mn&gt;&lt;mo&gt;×&lt;/mo&gt;&lt;mn&gt;3&lt;/mn&gt;&lt;mo&gt;×&lt;/mo&gt;&lt;mn&gt;5&lt;/mn&gt;&lt;mo&gt;×&lt;/mo&gt;&lt;mn&gt;5&lt;/mn&gt;&lt;/mrow&gt;&lt;mrow&gt;&lt;mn&gt;2&lt;/mn&gt;&lt;mo&gt;×&lt;/mo&gt;&lt;mn&gt;2&lt;/mn&gt;&lt;mo&gt;×&lt;/mo&gt;&lt;mn&gt;2&lt;/mn&gt;&lt;mo&gt;×&lt;/mo&gt;&lt;mn&gt;3&lt;/mn&gt;&lt;mo&gt;×&lt;/mo&gt;&lt;mn&gt;5&lt;/mn&gt;&lt;mo&gt;×&lt;/mo&gt;&lt;mn&gt;7&lt;/mn&gt;&lt;/mrow&gt;&lt;/mfrac&gt;&lt;mo&gt;=&lt;/mo&gt;&lt;mfrac&gt;&lt;mrow&gt;&lt;mn&gt;2&lt;/mn&gt;&lt;mo&gt;×&lt;/mo&gt;&lt;mn&gt;3&lt;/mn&gt;&lt;mo&gt;×&lt;/mo&gt;&lt;mn&gt;5&lt;/mn&gt;&lt;mo&gt;×&lt;/mo&gt;&lt;mn&gt;5&lt;/mn&gt;&lt;/mrow&gt;&lt;mrow&gt;&lt;mn&gt;2&lt;/mn&gt;&lt;mo&gt;×&lt;/mo&gt;&lt;mn&gt;3&lt;/mn&gt;&lt;mo&gt;×&lt;/mo&gt;&lt;mn&gt;5&lt;/mn&gt;&lt;mo&gt;×&lt;/mo&gt;&lt;mn&gt;2&lt;/mn&gt;&lt;mo&gt;×&lt;/mo&gt;&lt;mn&gt;2&lt;/mn&gt;&lt;mo&gt;×&lt;/mo&gt;&lt;mn&gt;7&lt;/mn&gt;&lt;/mrow&gt;&lt;/mfrac&gt;&lt;mo&gt;=&lt;/mo&gt;&lt;mfrac&gt;&lt;mn&gt;5&lt;/mn&gt;&lt;mn&gt;28&lt;/mn&gt;&lt;/mfrac&gt;&lt;/mtd&gt;&lt;/mtr&gt;&lt;/mtable&gt;&lt;/math&gt;" id="1420" name="Google Shape;1420;p90" title="1 lines Line 1: the fraction with numerator 2 times 3 times 5 squared and denominator 2 cubed times 3 times 5 times 7 equals the fraction with numerator 2 times 3 times 5 times 5 and denominator 2 times 2 times 2 times 3 times 5 times 7 equals the fraction with numerator 2 times 3 times 5 times 5 and denominator 2 times 3 times 5 times 2 times 2 times 7 equals 5 over 28"/>
          <p:cNvPicPr preferRelativeResize="0"/>
          <p:nvPr/>
        </p:nvPicPr>
        <p:blipFill rotWithShape="1">
          <a:blip r:embed="rId3">
            <a:alphaModFix/>
          </a:blip>
          <a:srcRect b="0" l="0" r="79475" t="0"/>
          <a:stretch/>
        </p:blipFill>
        <p:spPr>
          <a:xfrm>
            <a:off x="4845856" y="2255558"/>
            <a:ext cx="1407526" cy="682746"/>
          </a:xfrm>
          <a:prstGeom prst="rect">
            <a:avLst/>
          </a:prstGeom>
          <a:noFill/>
          <a:ln>
            <a:noFill/>
          </a:ln>
        </p:spPr>
      </p:pic>
      <p:sp>
        <p:nvSpPr>
          <p:cNvPr id="1421" name="Google Shape;1421;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fractions using prime factors</a:t>
            </a:r>
            <a:endParaRPr/>
          </a:p>
        </p:txBody>
      </p:sp>
      <p:sp>
        <p:nvSpPr>
          <p:cNvPr id="1422" name="Google Shape;1422;p90"/>
          <p:cNvSpPr txBox="1"/>
          <p:nvPr>
            <p:ph idx="1" type="subTitle"/>
          </p:nvPr>
        </p:nvSpPr>
        <p:spPr>
          <a:xfrm>
            <a:off x="337825" y="810000"/>
            <a:ext cx="9243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a:t>
            </a:r>
            <a:endParaRPr/>
          </a:p>
        </p:txBody>
      </p:sp>
      <p:sp>
        <p:nvSpPr>
          <p:cNvPr id="1423" name="Google Shape;1423;p90"/>
          <p:cNvSpPr txBox="1"/>
          <p:nvPr>
            <p:ph idx="2" type="subTitle"/>
          </p:nvPr>
        </p:nvSpPr>
        <p:spPr>
          <a:xfrm>
            <a:off x="4824000" y="810000"/>
            <a:ext cx="3982200" cy="337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Simplify</a:t>
            </a:r>
            <a:endParaRPr/>
          </a:p>
        </p:txBody>
      </p:sp>
      <p:pic>
        <p:nvPicPr>
          <p:cNvPr descr="&lt;math xmlns=&quot;http://www.w3.org/1998/Math/MathML&quot; display=&quot;block&quot; data-is-equatio=&quot;1&quot; data-latex=&quot;\frac{150}{840}&quot;&gt;&lt;mfrac&gt;&lt;mn&gt;150&lt;/mn&gt;&lt;mn&gt;840&lt;/mn&gt;&lt;/mfrac&gt;&lt;/math&gt;" id="1424" name="Google Shape;1424;p90" title="150 over 840"/>
          <p:cNvPicPr preferRelativeResize="0"/>
          <p:nvPr/>
        </p:nvPicPr>
        <p:blipFill>
          <a:blip r:embed="rId4">
            <a:alphaModFix/>
          </a:blip>
          <a:stretch>
            <a:fillRect/>
          </a:stretch>
        </p:blipFill>
        <p:spPr>
          <a:xfrm>
            <a:off x="4865675" y="1320548"/>
            <a:ext cx="386992" cy="492402"/>
          </a:xfrm>
          <a:prstGeom prst="rect">
            <a:avLst/>
          </a:prstGeom>
          <a:noFill/>
          <a:ln>
            <a:noFill/>
          </a:ln>
        </p:spPr>
      </p:pic>
      <p:pic>
        <p:nvPicPr>
          <p:cNvPr id="1425" name="Google Shape;1425;p90"/>
          <p:cNvPicPr preferRelativeResize="0"/>
          <p:nvPr/>
        </p:nvPicPr>
        <p:blipFill>
          <a:blip r:embed="rId5">
            <a:alphaModFix/>
          </a:blip>
          <a:stretch>
            <a:fillRect/>
          </a:stretch>
        </p:blipFill>
        <p:spPr>
          <a:xfrm>
            <a:off x="544415" y="1215075"/>
            <a:ext cx="511122" cy="496049"/>
          </a:xfrm>
          <a:prstGeom prst="rect">
            <a:avLst/>
          </a:prstGeom>
          <a:noFill/>
          <a:ln>
            <a:noFill/>
          </a:ln>
        </p:spPr>
      </p:pic>
      <p:pic>
        <p:nvPicPr>
          <p:cNvPr descr="&lt;math xmlns=&quot;http://www.w3.org/1998/Math/MathML&quot; display=&quot;block&quot; data-is-equatio=&quot;1&quot; data-latex=&quot;\begin{array}{l}\frac{2^2\times5\times7}{2^2\times3^2\times5\ \times7}=\frac{2\times2\times5\times7}{2\times2\times3\times3\times5\times7}=\frac{2\times2\times5\times7}{2\times2\times5\times7\times3\times3}=\frac{1}{9}\end{array}&quot;&gt;&lt;mtable columnalign=&quot;left&quot; columnspacing=&quot;1em&quot; rowspacing=&quot;4pt&quot;&gt;&lt;mtr&gt;&lt;mtd&gt;&lt;mfrac&gt;&lt;mrow&gt;&lt;msup&gt;&lt;mn&gt;2&lt;/mn&gt;&lt;mn&gt;2&lt;/mn&gt;&lt;/msup&gt;&lt;mo&gt;×&lt;/mo&gt;&lt;mn&gt;5&lt;/mn&gt;&lt;mo&gt;×&lt;/mo&gt;&lt;mn&gt;7&lt;/mn&gt;&lt;/mrow&gt;&lt;mrow&gt;&lt;msup&gt;&lt;mn&gt;2&lt;/mn&gt;&lt;mn&gt;2&lt;/mn&gt;&lt;/msup&gt;&lt;mo&gt;×&lt;/mo&gt;&lt;msup&gt;&lt;mn&gt;3&lt;/mn&gt;&lt;mn&gt;2&lt;/mn&gt;&lt;/msup&gt;&lt;mo&gt;×&lt;/mo&gt;&lt;mn&gt;5&lt;/mn&gt;&lt;mtext&gt;&lt;/mtext&gt;&lt;mo&gt;×&lt;/mo&gt;&lt;mn&gt;7&lt;/mn&gt;&lt;/mrow&gt;&lt;/mfrac&gt;&lt;mo&gt;=&lt;/mo&gt;&lt;mfrac&gt;&lt;mrow&gt;&lt;mn&gt;2&lt;/mn&gt;&lt;mo&gt;×&lt;/mo&gt;&lt;mn&gt;2&lt;/mn&gt;&lt;mo&gt;×&lt;/mo&gt;&lt;mn&gt;5&lt;/mn&gt;&lt;mo&gt;×&lt;/mo&gt;&lt;mn&gt;7&lt;/mn&gt;&lt;/mrow&gt;&lt;mrow&gt;&lt;mn&gt;2&lt;/mn&gt;&lt;mo&gt;×&lt;/mo&gt;&lt;mn&gt;2&lt;/mn&gt;&lt;mo&gt;×&lt;/mo&gt;&lt;mn&gt;3&lt;/mn&gt;&lt;mo&gt;×&lt;/mo&gt;&lt;mn&gt;3&lt;/mn&gt;&lt;mo&gt;×&lt;/mo&gt;&lt;mn&gt;5&lt;/mn&gt;&lt;mo&gt;×&lt;/mo&gt;&lt;mn&gt;7&lt;/mn&gt;&lt;/mrow&gt;&lt;/mfrac&gt;&lt;mo&gt;=&lt;/mo&gt;&lt;mfrac&gt;&lt;mrow&gt;&lt;mn&gt;2&lt;/mn&gt;&lt;mo&gt;×&lt;/mo&gt;&lt;mn&gt;2&lt;/mn&gt;&lt;mo&gt;×&lt;/mo&gt;&lt;mn&gt;5&lt;/mn&gt;&lt;mo&gt;×&lt;/mo&gt;&lt;mn&gt;7&lt;/mn&gt;&lt;/mrow&gt;&lt;mrow&gt;&lt;mn&gt;2&lt;/mn&gt;&lt;mo&gt;×&lt;/mo&gt;&lt;mn&gt;2&lt;/mn&gt;&lt;mo&gt;×&lt;/mo&gt;&lt;mn&gt;5&lt;/mn&gt;&lt;mo&gt;×&lt;/mo&gt;&lt;mn&gt;7&lt;/mn&gt;&lt;mo&gt;×&lt;/mo&gt;&lt;mn&gt;3&lt;/mn&gt;&lt;mo&gt;×&lt;/mo&gt;&lt;mn&gt;3&lt;/mn&gt;&lt;/mrow&gt;&lt;/mfrac&gt;&lt;mo&gt;=&lt;/mo&gt;&lt;mfrac&gt;&lt;mn&gt;1&lt;/mn&gt;&lt;mn&gt;9&lt;/mn&gt;&lt;/mfrac&gt;&lt;/mtd&gt;&lt;/mtr&gt;&lt;/mtable&gt;&lt;/math&gt;" id="1426" name="Google Shape;1426;p90" title="1 lines Line 1: the fraction with numerator 2 squared times 5 times 7 and denominator 2 squared times 3 squared times 5 times 7 equals the fraction with numerator 2 times 2 times 5 times 7 and denominator 2 times 2 times 3 times 3 times 5 times 7 equals the fraction with numerator 2 times 2 times 5 times 7 and denominator 2 times 2 times 5 times 7 times 3 times 3 equals one ninth"/>
          <p:cNvPicPr preferRelativeResize="0"/>
          <p:nvPr/>
        </p:nvPicPr>
        <p:blipFill rotWithShape="1">
          <a:blip r:embed="rId6">
            <a:alphaModFix/>
          </a:blip>
          <a:srcRect b="0" l="0" r="43397" t="0"/>
          <a:stretch/>
        </p:blipFill>
        <p:spPr>
          <a:xfrm>
            <a:off x="337825" y="2267250"/>
            <a:ext cx="3747025" cy="649725"/>
          </a:xfrm>
          <a:prstGeom prst="rect">
            <a:avLst/>
          </a:prstGeom>
          <a:noFill/>
          <a:ln>
            <a:noFill/>
          </a:ln>
        </p:spPr>
      </p:pic>
      <p:pic>
        <p:nvPicPr>
          <p:cNvPr descr="&lt;math xmlns=&quot;http://www.w3.org/1998/Math/MathML&quot; display=&quot;block&quot; data-is-equatio=&quot;1&quot; data-latex=&quot;\begin{array}{l}\frac{2^2\times5\times7}{2^2\times3^2\times5\ \times7}=\frac{2\times2\times5\times7}{2\times2\times3\times3\times5\times7}=\frac{2\times2\times5\times7}{2\times2\times5\times7\times3\times3}=\frac{1}{9}\end{array}&quot;&gt;&lt;mtable columnalign=&quot;left&quot; columnspacing=&quot;1em&quot; rowspacing=&quot;4pt&quot;&gt;&lt;mtr&gt;&lt;mtd&gt;&lt;mfrac&gt;&lt;mrow&gt;&lt;msup&gt;&lt;mn&gt;2&lt;/mn&gt;&lt;mn&gt;2&lt;/mn&gt;&lt;/msup&gt;&lt;mo&gt;×&lt;/mo&gt;&lt;mn&gt;5&lt;/mn&gt;&lt;mo&gt;×&lt;/mo&gt;&lt;mn&gt;7&lt;/mn&gt;&lt;/mrow&gt;&lt;mrow&gt;&lt;msup&gt;&lt;mn&gt;2&lt;/mn&gt;&lt;mn&gt;2&lt;/mn&gt;&lt;/msup&gt;&lt;mo&gt;×&lt;/mo&gt;&lt;msup&gt;&lt;mn&gt;3&lt;/mn&gt;&lt;mn&gt;2&lt;/mn&gt;&lt;/msup&gt;&lt;mo&gt;×&lt;/mo&gt;&lt;mn&gt;5&lt;/mn&gt;&lt;mtext&gt;&lt;/mtext&gt;&lt;mo&gt;×&lt;/mo&gt;&lt;mn&gt;7&lt;/mn&gt;&lt;/mrow&gt;&lt;/mfrac&gt;&lt;mo&gt;=&lt;/mo&gt;&lt;mfrac&gt;&lt;mrow&gt;&lt;mn&gt;2&lt;/mn&gt;&lt;mo&gt;×&lt;/mo&gt;&lt;mn&gt;2&lt;/mn&gt;&lt;mo&gt;×&lt;/mo&gt;&lt;mn&gt;5&lt;/mn&gt;&lt;mo&gt;×&lt;/mo&gt;&lt;mn&gt;7&lt;/mn&gt;&lt;/mrow&gt;&lt;mrow&gt;&lt;mn&gt;2&lt;/mn&gt;&lt;mo&gt;×&lt;/mo&gt;&lt;mn&gt;2&lt;/mn&gt;&lt;mo&gt;×&lt;/mo&gt;&lt;mn&gt;3&lt;/mn&gt;&lt;mo&gt;×&lt;/mo&gt;&lt;mn&gt;3&lt;/mn&gt;&lt;mo&gt;×&lt;/mo&gt;&lt;mn&gt;5&lt;/mn&gt;&lt;mo&gt;×&lt;/mo&gt;&lt;mn&gt;7&lt;/mn&gt;&lt;/mrow&gt;&lt;/mfrac&gt;&lt;mo&gt;=&lt;/mo&gt;&lt;mfrac&gt;&lt;mrow&gt;&lt;mn&gt;2&lt;/mn&gt;&lt;mo&gt;×&lt;/mo&gt;&lt;mn&gt;2&lt;/mn&gt;&lt;mo&gt;×&lt;/mo&gt;&lt;mn&gt;5&lt;/mn&gt;&lt;mo&gt;×&lt;/mo&gt;&lt;mn&gt;7&lt;/mn&gt;&lt;/mrow&gt;&lt;mrow&gt;&lt;mn&gt;2&lt;/mn&gt;&lt;mo&gt;×&lt;/mo&gt;&lt;mn&gt;2&lt;/mn&gt;&lt;mo&gt;×&lt;/mo&gt;&lt;mn&gt;5&lt;/mn&gt;&lt;mo&gt;×&lt;/mo&gt;&lt;mn&gt;7&lt;/mn&gt;&lt;mo&gt;×&lt;/mo&gt;&lt;mn&gt;3&lt;/mn&gt;&lt;mo&gt;×&lt;/mo&gt;&lt;mn&gt;3&lt;/mn&gt;&lt;/mrow&gt;&lt;/mfrac&gt;&lt;mo&gt;=&lt;/mo&gt;&lt;mfrac&gt;&lt;mn&gt;1&lt;/mn&gt;&lt;mn&gt;9&lt;/mn&gt;&lt;/mfrac&gt;&lt;/mtd&gt;&lt;/mtr&gt;&lt;/mtable&gt;&lt;/math&gt;" id="1427" name="Google Shape;1427;p90" title="1 lines Line 1: the fraction with numerator 2 squared times 5 times 7 and denominator 2 squared times 3 squared times 5 times 7 equals the fraction with numerator 2 times 2 times 5 times 7 and denominator 2 times 2 times 3 times 3 times 5 times 7 equals the fraction with numerator 2 times 2 times 5 times 7 and denominator 2 times 2 times 5 times 7 times 3 times 3 equals one ninth"/>
          <p:cNvPicPr preferRelativeResize="0"/>
          <p:nvPr/>
        </p:nvPicPr>
        <p:blipFill rotWithShape="1">
          <a:blip r:embed="rId6">
            <a:alphaModFix/>
          </a:blip>
          <a:srcRect b="0" l="56516" r="0" t="0"/>
          <a:stretch/>
        </p:blipFill>
        <p:spPr>
          <a:xfrm>
            <a:off x="324000" y="3320700"/>
            <a:ext cx="2878575" cy="649725"/>
          </a:xfrm>
          <a:prstGeom prst="rect">
            <a:avLst/>
          </a:prstGeom>
          <a:noFill/>
          <a:ln>
            <a:noFill/>
          </a:ln>
        </p:spPr>
      </p:pic>
      <p:pic>
        <p:nvPicPr>
          <p:cNvPr descr="&lt;math xmlns=&quot;http://www.w3.org/1998/Math/MathML&quot; display=&quot;block&quot; data-is-equatio=&quot;1&quot; data-latex=&quot;\begin{array}{l}\frac{2\times3\times5^2}{2^3\times3\times5\ \times7}=\frac{2\times3\times5\times5}{2\times2\times2\times3\times5\times7}=\frac{2\times3\times5\times5}{2\times3\times5\times2\times2\times7}=\frac{5}{28}\end{array}&quot;&gt;&lt;mtable columnalign=&quot;left&quot; columnspacing=&quot;1em&quot; rowspacing=&quot;4pt&quot;&gt;&lt;mtr&gt;&lt;mtd&gt;&lt;mfrac&gt;&lt;mrow&gt;&lt;mn&gt;2&lt;/mn&gt;&lt;mo&gt;×&lt;/mo&gt;&lt;mn&gt;3&lt;/mn&gt;&lt;mo&gt;×&lt;/mo&gt;&lt;msup&gt;&lt;mn&gt;5&lt;/mn&gt;&lt;mn&gt;2&lt;/mn&gt;&lt;/msup&gt;&lt;/mrow&gt;&lt;mrow&gt;&lt;msup&gt;&lt;mn&gt;2&lt;/mn&gt;&lt;mn&gt;3&lt;/mn&gt;&lt;/msup&gt;&lt;mo&gt;×&lt;/mo&gt;&lt;mn&gt;3&lt;/mn&gt;&lt;mo&gt;×&lt;/mo&gt;&lt;mn&gt;5&lt;/mn&gt;&lt;mtext&gt;&lt;/mtext&gt;&lt;mo&gt;×&lt;/mo&gt;&lt;mn&gt;7&lt;/mn&gt;&lt;/mrow&gt;&lt;/mfrac&gt;&lt;mo&gt;=&lt;/mo&gt;&lt;mfrac&gt;&lt;mrow&gt;&lt;mn&gt;2&lt;/mn&gt;&lt;mo&gt;×&lt;/mo&gt;&lt;mn&gt;3&lt;/mn&gt;&lt;mo&gt;×&lt;/mo&gt;&lt;mn&gt;5&lt;/mn&gt;&lt;mo&gt;×&lt;/mo&gt;&lt;mn&gt;5&lt;/mn&gt;&lt;/mrow&gt;&lt;mrow&gt;&lt;mn&gt;2&lt;/mn&gt;&lt;mo&gt;×&lt;/mo&gt;&lt;mn&gt;2&lt;/mn&gt;&lt;mo&gt;×&lt;/mo&gt;&lt;mn&gt;2&lt;/mn&gt;&lt;mo&gt;×&lt;/mo&gt;&lt;mn&gt;3&lt;/mn&gt;&lt;mo&gt;×&lt;/mo&gt;&lt;mn&gt;5&lt;/mn&gt;&lt;mo&gt;×&lt;/mo&gt;&lt;mn&gt;7&lt;/mn&gt;&lt;/mrow&gt;&lt;/mfrac&gt;&lt;mo&gt;=&lt;/mo&gt;&lt;mfrac&gt;&lt;mrow&gt;&lt;mn&gt;2&lt;/mn&gt;&lt;mo&gt;×&lt;/mo&gt;&lt;mn&gt;3&lt;/mn&gt;&lt;mo&gt;×&lt;/mo&gt;&lt;mn&gt;5&lt;/mn&gt;&lt;mo&gt;×&lt;/mo&gt;&lt;mn&gt;5&lt;/mn&gt;&lt;/mrow&gt;&lt;mrow&gt;&lt;mn&gt;2&lt;/mn&gt;&lt;mo&gt;×&lt;/mo&gt;&lt;mn&gt;3&lt;/mn&gt;&lt;mo&gt;×&lt;/mo&gt;&lt;mn&gt;5&lt;/mn&gt;&lt;mo&gt;×&lt;/mo&gt;&lt;mn&gt;2&lt;/mn&gt;&lt;mo&gt;×&lt;/mo&gt;&lt;mn&gt;2&lt;/mn&gt;&lt;mo&gt;×&lt;/mo&gt;&lt;mn&gt;7&lt;/mn&gt;&lt;/mrow&gt;&lt;/mfrac&gt;&lt;mo&gt;=&lt;/mo&gt;&lt;mfrac&gt;&lt;mn&gt;5&lt;/mn&gt;&lt;mn&gt;28&lt;/mn&gt;&lt;/mfrac&gt;&lt;/mtd&gt;&lt;/mtr&gt;&lt;/mtable&gt;&lt;/math&gt;" id="1428" name="Google Shape;1428;p90" title="1 lines Line 1: the fraction with numerator 2 times 3 times 5 squared and denominator 2 cubed times 3 times 5 times 7 equals the fraction with numerator 2 times 3 times 5 times 5 and denominator 2 times 2 times 2 times 3 times 5 times 7 equals the fraction with numerator 2 times 3 times 5 times 5 and denominator 2 times 3 times 5 times 2 times 2 times 7 equals 5 over 28"/>
          <p:cNvPicPr preferRelativeResize="0"/>
          <p:nvPr/>
        </p:nvPicPr>
        <p:blipFill rotWithShape="1">
          <a:blip r:embed="rId7">
            <a:alphaModFix/>
          </a:blip>
          <a:srcRect b="0" l="55285" r="0" t="0"/>
          <a:stretch/>
        </p:blipFill>
        <p:spPr>
          <a:xfrm>
            <a:off x="4824000" y="3320688"/>
            <a:ext cx="2960200" cy="649725"/>
          </a:xfrm>
          <a:prstGeom prst="rect">
            <a:avLst/>
          </a:prstGeom>
          <a:noFill/>
          <a:ln>
            <a:noFill/>
          </a:ln>
        </p:spPr>
      </p:pic>
      <p:pic>
        <p:nvPicPr>
          <p:cNvPr descr="&lt;math xmlns=&quot;http://www.w3.org/1998/Math/MathML&quot; display=&quot;block&quot; data-is-equatio=&quot;1&quot; data-latex=&quot;\begin{array}{l}\frac{2\times3\times5^2}{2^3\times3\times5\ \times7}=\frac{2\times3\times5\times5}{2\times2\times2\times3\times5\times7}=\frac{2\times3\times5\times5}{2\times3\times5\times2\times2\times7}=\frac{5}{28}\end{array}&quot;&gt;&lt;mtable columnalign=&quot;left&quot; columnspacing=&quot;1em&quot; rowspacing=&quot;4pt&quot;&gt;&lt;mtr&gt;&lt;mtd&gt;&lt;mfrac&gt;&lt;mrow&gt;&lt;mn&gt;2&lt;/mn&gt;&lt;mo&gt;×&lt;/mo&gt;&lt;mn&gt;3&lt;/mn&gt;&lt;mo&gt;×&lt;/mo&gt;&lt;msup&gt;&lt;mn&gt;5&lt;/mn&gt;&lt;mn&gt;2&lt;/mn&gt;&lt;/msup&gt;&lt;/mrow&gt;&lt;mrow&gt;&lt;msup&gt;&lt;mn&gt;2&lt;/mn&gt;&lt;mn&gt;3&lt;/mn&gt;&lt;/msup&gt;&lt;mo&gt;×&lt;/mo&gt;&lt;mn&gt;3&lt;/mn&gt;&lt;mo&gt;×&lt;/mo&gt;&lt;mn&gt;5&lt;/mn&gt;&lt;mtext&gt;&lt;/mtext&gt;&lt;mo&gt;×&lt;/mo&gt;&lt;mn&gt;7&lt;/mn&gt;&lt;/mrow&gt;&lt;/mfrac&gt;&lt;mo&gt;=&lt;/mo&gt;&lt;mfrac&gt;&lt;mrow&gt;&lt;mn&gt;2&lt;/mn&gt;&lt;mo&gt;×&lt;/mo&gt;&lt;mn&gt;3&lt;/mn&gt;&lt;mo&gt;×&lt;/mo&gt;&lt;mn&gt;5&lt;/mn&gt;&lt;mo&gt;×&lt;/mo&gt;&lt;mn&gt;5&lt;/mn&gt;&lt;/mrow&gt;&lt;mrow&gt;&lt;mn&gt;2&lt;/mn&gt;&lt;mo&gt;×&lt;/mo&gt;&lt;mn&gt;2&lt;/mn&gt;&lt;mo&gt;×&lt;/mo&gt;&lt;mn&gt;2&lt;/mn&gt;&lt;mo&gt;×&lt;/mo&gt;&lt;mn&gt;3&lt;/mn&gt;&lt;mo&gt;×&lt;/mo&gt;&lt;mn&gt;5&lt;/mn&gt;&lt;mo&gt;×&lt;/mo&gt;&lt;mn&gt;7&lt;/mn&gt;&lt;/mrow&gt;&lt;/mfrac&gt;&lt;mo&gt;=&lt;/mo&gt;&lt;mfrac&gt;&lt;mrow&gt;&lt;mn&gt;2&lt;/mn&gt;&lt;mo&gt;×&lt;/mo&gt;&lt;mn&gt;3&lt;/mn&gt;&lt;mo&gt;×&lt;/mo&gt;&lt;mn&gt;5&lt;/mn&gt;&lt;mo&gt;×&lt;/mo&gt;&lt;mn&gt;5&lt;/mn&gt;&lt;/mrow&gt;&lt;mrow&gt;&lt;mn&gt;2&lt;/mn&gt;&lt;mo&gt;×&lt;/mo&gt;&lt;mn&gt;3&lt;/mn&gt;&lt;mo&gt;×&lt;/mo&gt;&lt;mn&gt;5&lt;/mn&gt;&lt;mo&gt;×&lt;/mo&gt;&lt;mn&gt;2&lt;/mn&gt;&lt;mo&gt;×&lt;/mo&gt;&lt;mn&gt;2&lt;/mn&gt;&lt;mo&gt;×&lt;/mo&gt;&lt;mn&gt;7&lt;/mn&gt;&lt;/mrow&gt;&lt;/mfrac&gt;&lt;mo&gt;=&lt;/mo&gt;&lt;mfrac&gt;&lt;mn&gt;5&lt;/mn&gt;&lt;mn&gt;28&lt;/mn&gt;&lt;/mfrac&gt;&lt;/mtd&gt;&lt;/mtr&gt;&lt;/mtable&gt;&lt;/math&gt;" id="1429" name="Google Shape;1429;p90" title="1 lines Line 1: the fraction with numerator 2 times 3 times 5 squared and denominator 2 cubed times 3 times 5 times 7 equals the fraction with numerator 2 times 3 times 5 times 5 and denominator 2 times 2 times 2 times 3 times 5 times 7 equals the fraction with numerator 2 times 3 times 5 times 5 and denominator 2 times 3 times 5 times 2 times 2 times 7 equals 5 over 28"/>
          <p:cNvPicPr preferRelativeResize="0"/>
          <p:nvPr/>
        </p:nvPicPr>
        <p:blipFill rotWithShape="1">
          <a:blip r:embed="rId7">
            <a:alphaModFix/>
          </a:blip>
          <a:srcRect b="0" l="21076" r="46175" t="0"/>
          <a:stretch/>
        </p:blipFill>
        <p:spPr>
          <a:xfrm>
            <a:off x="6231525" y="2270275"/>
            <a:ext cx="2167976" cy="649725"/>
          </a:xfrm>
          <a:prstGeom prst="rect">
            <a:avLst/>
          </a:prstGeom>
          <a:noFill/>
          <a:ln>
            <a:noFill/>
          </a:ln>
        </p:spPr>
      </p:pic>
      <p:sp>
        <p:nvSpPr>
          <p:cNvPr id="1430" name="Google Shape;1430;p90"/>
          <p:cNvSpPr/>
          <p:nvPr/>
        </p:nvSpPr>
        <p:spPr>
          <a:xfrm>
            <a:off x="1901850" y="2237375"/>
            <a:ext cx="2140200" cy="71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1" name="Google Shape;1431;p90"/>
          <p:cNvSpPr/>
          <p:nvPr/>
        </p:nvSpPr>
        <p:spPr>
          <a:xfrm rot="-1754">
            <a:off x="1040314" y="3321028"/>
            <a:ext cx="1176000" cy="2928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2" name="Google Shape;1432;p90"/>
          <p:cNvSpPr/>
          <p:nvPr/>
        </p:nvSpPr>
        <p:spPr>
          <a:xfrm rot="-1885">
            <a:off x="770724" y="3689644"/>
            <a:ext cx="1094100" cy="2928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3" name="Google Shape;1433;p90"/>
          <p:cNvSpPr/>
          <p:nvPr/>
        </p:nvSpPr>
        <p:spPr>
          <a:xfrm>
            <a:off x="2561875" y="3320725"/>
            <a:ext cx="1003200" cy="71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9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Use these prime factorisations to simplify the fractions.</a:t>
            </a:r>
            <a:endParaRPr sz="1800"/>
          </a:p>
        </p:txBody>
      </p:sp>
      <p:sp>
        <p:nvSpPr>
          <p:cNvPr id="1439" name="Google Shape;1439;p9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Simplifying fractions using prime factors</a:t>
            </a:r>
            <a:endParaRPr sz="1800"/>
          </a:p>
        </p:txBody>
      </p:sp>
      <p:pic>
        <p:nvPicPr>
          <p:cNvPr descr="&lt;math xmlns=&quot;http://www.w3.org/1998/Math/MathML&quot; display=&quot;block&quot; data-is-equatio=&quot;1&quot; data-latex=&quot;\begin{array}{l}150=2\times3\times5^{2\ }\\&amp;#13;&amp;#10;540\ =2^2\times3^3\times5\\&amp;#13;&amp;#10;315=3^{^2}\times5\times7\\&amp;#13;&amp;#10;945\ =3^3\times5^2\times11\\&amp;#13;&amp;#10;360\ =2^3\times3^2\times5\\&amp;#13;&amp;#10;8400\ =2^4\times3\times5^2\times7\end{array}&quot;&gt;&lt;mtable columnalign=&quot;left&quot; columnspacing=&quot;1em&quot; rowspacing=&quot;4pt&quot;&gt;&lt;mtr&gt;&lt;mtd&gt;&lt;mn&gt;150&lt;/mn&gt;&lt;mo&gt;=&lt;/mo&gt;&lt;mn&gt;2&lt;/mn&gt;&lt;mo&gt;×&lt;/mo&gt;&lt;mn&gt;3&lt;/mn&gt;&lt;mo&gt;×&lt;/mo&gt;&lt;msup&gt;&lt;mn&gt;5&lt;/mn&gt;&lt;mrow data-mjx-texclass=&quot;ORD&quot;&gt;&lt;mn&gt;2&lt;/mn&gt;&lt;mtext&gt;&lt;/mtext&gt;&lt;/mrow&gt;&lt;/msup&gt;&lt;/mtd&gt;&lt;/mtr&gt;&lt;mtr&gt;&lt;mtd&gt;&lt;mn&gt;540&lt;/mn&gt;&lt;mtext&gt;&lt;/mtext&gt;&lt;mo&gt;=&lt;/mo&gt;&lt;msup&gt;&lt;mn&gt;2&lt;/mn&gt;&lt;mn&gt;2&lt;/mn&gt;&lt;/msup&gt;&lt;mo&gt;×&lt;/mo&gt;&lt;msup&gt;&lt;mn&gt;3&lt;/mn&gt;&lt;mn&gt;3&lt;/mn&gt;&lt;/msup&gt;&lt;mo&gt;×&lt;/mo&gt;&lt;mn&gt;5&lt;/mn&gt;&lt;/mtd&gt;&lt;/mtr&gt;&lt;mtr&gt;&lt;mtd&gt;&lt;mn&gt;315&lt;/mn&gt;&lt;mo&gt;=&lt;/mo&gt;&lt;msup&gt;&lt;mn&gt;3&lt;/mn&gt;&lt;mrow data-mjx-texclass=&quot;ORD&quot;&gt;&lt;msup&gt;&lt;mi/&gt;&lt;mn&gt;2&lt;/mn&gt;&lt;/msup&gt;&lt;/mrow&gt;&lt;/msup&gt;&lt;mo&gt;×&lt;/mo&gt;&lt;mn&gt;5&lt;/mn&gt;&lt;mo&gt;×&lt;/mo&gt;&lt;mn&gt;7&lt;/mn&gt;&lt;/mtd&gt;&lt;/mtr&gt;&lt;mtr&gt;&lt;mtd&gt;&lt;mn&gt;945&lt;/mn&gt;&lt;mtext&gt;&lt;/mtext&gt;&lt;mo&gt;=&lt;/mo&gt;&lt;msup&gt;&lt;mn&gt;3&lt;/mn&gt;&lt;mn&gt;3&lt;/mn&gt;&lt;/msup&gt;&lt;mo&gt;×&lt;/mo&gt;&lt;msup&gt;&lt;mn&gt;5&lt;/mn&gt;&lt;mn&gt;2&lt;/mn&gt;&lt;/msup&gt;&lt;mo&gt;×&lt;/mo&gt;&lt;mn&gt;11&lt;/mn&gt;&lt;/mtd&gt;&lt;/mtr&gt;&lt;mtr&gt;&lt;mtd&gt;&lt;mn&gt;360&lt;/mn&gt;&lt;mtext&gt;&lt;/mtext&gt;&lt;mo&gt;=&lt;/mo&gt;&lt;msup&gt;&lt;mn&gt;2&lt;/mn&gt;&lt;mn&gt;3&lt;/mn&gt;&lt;/msup&gt;&lt;mo&gt;×&lt;/mo&gt;&lt;msup&gt;&lt;mn&gt;3&lt;/mn&gt;&lt;mn&gt;2&lt;/mn&gt;&lt;/msup&gt;&lt;mo&gt;×&lt;/mo&gt;&lt;mn&gt;5&lt;/mn&gt;&lt;/mtd&gt;&lt;/mtr&gt;&lt;mtr&gt;&lt;mtd&gt;&lt;mn&gt;8400&lt;/mn&gt;&lt;mtext&gt;&lt;/mtext&gt;&lt;mo&gt;=&lt;/mo&gt;&lt;msup&gt;&lt;mn&gt;2&lt;/mn&gt;&lt;mn&gt;4&lt;/mn&gt;&lt;/msup&gt;&lt;mo&gt;×&lt;/mo&gt;&lt;mn&gt;3&lt;/mn&gt;&lt;mo&gt;×&lt;/mo&gt;&lt;msup&gt;&lt;mn&gt;5&lt;/mn&gt;&lt;mn&gt;2&lt;/mn&gt;&lt;/msup&gt;&lt;mo&gt;×&lt;/mo&gt;&lt;mn&gt;7&lt;/mn&gt;&lt;/mtd&gt;&lt;/mtr&gt;&lt;/mtable&gt;&lt;/math&gt;" id="1440" name="Google Shape;1440;p91" title="6 lines Line 1: 150 equals 2 times 3 times 5 raised to the 2 power Line 2: 540 equals 2 squared times 3 cubed times 5 Line 3: 315 equals 3 raised to the exponent squared end exponent times 5 times 7 Line 4: 945 equals 3 cubed times 5 squared times 11 Line 5: 360 equals 2 cubed times 3 squared times 5 Line 6: 8400 equals 2 to the fourth power times 3 times 5 squared times 7"/>
          <p:cNvPicPr preferRelativeResize="0"/>
          <p:nvPr/>
        </p:nvPicPr>
        <p:blipFill rotWithShape="1">
          <a:blip r:embed="rId3">
            <a:alphaModFix/>
          </a:blip>
          <a:srcRect b="69237" l="0" r="17904" t="0"/>
          <a:stretch/>
        </p:blipFill>
        <p:spPr>
          <a:xfrm>
            <a:off x="579725" y="1215875"/>
            <a:ext cx="1698418" cy="566232"/>
          </a:xfrm>
          <a:prstGeom prst="rect">
            <a:avLst/>
          </a:prstGeom>
          <a:noFill/>
          <a:ln>
            <a:noFill/>
          </a:ln>
        </p:spPr>
      </p:pic>
      <p:pic>
        <p:nvPicPr>
          <p:cNvPr descr="&lt;math xmlns=&quot;http://www.w3.org/1998/Math/MathML&quot; display=&quot;block&quot; data-is-equatio=&quot;1&quot; data-latex=&quot;\begin{array}{l}150=2\times3\times5^{2\ }\\&amp;#13;&amp;#10;540\ =2^2\times3^3\times5\\&amp;#13;&amp;#10;315=3^{^2}\times5\times7\\&amp;#13;&amp;#10;945\ =3^3\times5^2\times11\\&amp;#13;&amp;#10;360\ =2^3\times3^2\times5\\&amp;#13;&amp;#10;8400\ =2^4\times3\times5^2\times7\end{array}&quot;&gt;&lt;mtable columnalign=&quot;left&quot; columnspacing=&quot;1em&quot; rowspacing=&quot;4pt&quot;&gt;&lt;mtr&gt;&lt;mtd&gt;&lt;mn&gt;150&lt;/mn&gt;&lt;mo&gt;=&lt;/mo&gt;&lt;mn&gt;2&lt;/mn&gt;&lt;mo&gt;×&lt;/mo&gt;&lt;mn&gt;3&lt;/mn&gt;&lt;mo&gt;×&lt;/mo&gt;&lt;msup&gt;&lt;mn&gt;5&lt;/mn&gt;&lt;mrow data-mjx-texclass=&quot;ORD&quot;&gt;&lt;mn&gt;2&lt;/mn&gt;&lt;mtext&gt;&lt;/mtext&gt;&lt;/mrow&gt;&lt;/msup&gt;&lt;/mtd&gt;&lt;/mtr&gt;&lt;mtr&gt;&lt;mtd&gt;&lt;mn&gt;540&lt;/mn&gt;&lt;mtext&gt;&lt;/mtext&gt;&lt;mo&gt;=&lt;/mo&gt;&lt;msup&gt;&lt;mn&gt;2&lt;/mn&gt;&lt;mn&gt;2&lt;/mn&gt;&lt;/msup&gt;&lt;mo&gt;×&lt;/mo&gt;&lt;msup&gt;&lt;mn&gt;3&lt;/mn&gt;&lt;mn&gt;3&lt;/mn&gt;&lt;/msup&gt;&lt;mo&gt;×&lt;/mo&gt;&lt;mn&gt;5&lt;/mn&gt;&lt;/mtd&gt;&lt;/mtr&gt;&lt;mtr&gt;&lt;mtd&gt;&lt;mn&gt;315&lt;/mn&gt;&lt;mo&gt;=&lt;/mo&gt;&lt;msup&gt;&lt;mn&gt;3&lt;/mn&gt;&lt;mrow data-mjx-texclass=&quot;ORD&quot;&gt;&lt;msup&gt;&lt;mi/&gt;&lt;mn&gt;2&lt;/mn&gt;&lt;/msup&gt;&lt;/mrow&gt;&lt;/msup&gt;&lt;mo&gt;×&lt;/mo&gt;&lt;mn&gt;5&lt;/mn&gt;&lt;mo&gt;×&lt;/mo&gt;&lt;mn&gt;7&lt;/mn&gt;&lt;/mtd&gt;&lt;/mtr&gt;&lt;mtr&gt;&lt;mtd&gt;&lt;mn&gt;945&lt;/mn&gt;&lt;mtext&gt;&lt;/mtext&gt;&lt;mo&gt;=&lt;/mo&gt;&lt;msup&gt;&lt;mn&gt;3&lt;/mn&gt;&lt;mn&gt;3&lt;/mn&gt;&lt;/msup&gt;&lt;mo&gt;×&lt;/mo&gt;&lt;msup&gt;&lt;mn&gt;5&lt;/mn&gt;&lt;mn&gt;2&lt;/mn&gt;&lt;/msup&gt;&lt;mo&gt;×&lt;/mo&gt;&lt;mn&gt;11&lt;/mn&gt;&lt;/mtd&gt;&lt;/mtr&gt;&lt;mtr&gt;&lt;mtd&gt;&lt;mn&gt;360&lt;/mn&gt;&lt;mtext&gt;&lt;/mtext&gt;&lt;mo&gt;=&lt;/mo&gt;&lt;msup&gt;&lt;mn&gt;2&lt;/mn&gt;&lt;mn&gt;3&lt;/mn&gt;&lt;/msup&gt;&lt;mo&gt;×&lt;/mo&gt;&lt;msup&gt;&lt;mn&gt;3&lt;/mn&gt;&lt;mn&gt;2&lt;/mn&gt;&lt;/msup&gt;&lt;mo&gt;×&lt;/mo&gt;&lt;mn&gt;5&lt;/mn&gt;&lt;/mtd&gt;&lt;/mtr&gt;&lt;mtr&gt;&lt;mtd&gt;&lt;mn&gt;8400&lt;/mn&gt;&lt;mtext&gt;&lt;/mtext&gt;&lt;mo&gt;=&lt;/mo&gt;&lt;msup&gt;&lt;mn&gt;2&lt;/mn&gt;&lt;mn&gt;4&lt;/mn&gt;&lt;/msup&gt;&lt;mo&gt;×&lt;/mo&gt;&lt;mn&gt;3&lt;/mn&gt;&lt;mo&gt;×&lt;/mo&gt;&lt;msup&gt;&lt;mn&gt;5&lt;/mn&gt;&lt;mn&gt;2&lt;/mn&gt;&lt;/msup&gt;&lt;mo&gt;×&lt;/mo&gt;&lt;mn&gt;7&lt;/mn&gt;&lt;/mtd&gt;&lt;/mtr&gt;&lt;/mtable&gt;&lt;/math&gt;" id="1441" name="Google Shape;1441;p91" title="6 lines Line 1: 150 equals 2 times 3 times 5 raised to the 2 power Line 2: 540 equals 2 squared times 3 cubed times 5 Line 3: 315 equals 3 raised to the exponent squared end exponent times 5 times 7 Line 4: 945 equals 3 cubed times 5 squared times 11 Line 5: 360 equals 2 cubed times 3 squared times 5 Line 6: 8400 equals 2 to the fourth power times 3 times 5 squared times 7"/>
          <p:cNvPicPr preferRelativeResize="0"/>
          <p:nvPr/>
        </p:nvPicPr>
        <p:blipFill rotWithShape="1">
          <a:blip r:embed="rId3">
            <a:alphaModFix/>
          </a:blip>
          <a:srcRect b="0" l="0" r="0" t="69237"/>
          <a:stretch/>
        </p:blipFill>
        <p:spPr>
          <a:xfrm>
            <a:off x="6738826" y="1171575"/>
            <a:ext cx="2068774" cy="566232"/>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42" name="Google Shape;1442;p91"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4">
            <a:alphaModFix/>
          </a:blip>
          <a:srcRect b="89689" l="0" r="0" t="0"/>
          <a:stretch/>
        </p:blipFill>
        <p:spPr>
          <a:xfrm>
            <a:off x="930750" y="2083800"/>
            <a:ext cx="427304" cy="472453"/>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43" name="Google Shape;1443;p91"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4">
            <a:alphaModFix/>
          </a:blip>
          <a:srcRect b="78160" l="0" r="0" t="9691"/>
          <a:stretch/>
        </p:blipFill>
        <p:spPr>
          <a:xfrm>
            <a:off x="930750" y="2808103"/>
            <a:ext cx="427304" cy="556706"/>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44" name="Google Shape;1444;p91"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4">
            <a:alphaModFix/>
          </a:blip>
          <a:srcRect b="67458" l="0" r="0" t="21513"/>
          <a:stretch/>
        </p:blipFill>
        <p:spPr>
          <a:xfrm>
            <a:off x="930750" y="4265673"/>
            <a:ext cx="427304" cy="505333"/>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45" name="Google Shape;1445;p91"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4">
            <a:alphaModFix/>
          </a:blip>
          <a:srcRect b="55977" l="0" r="0" t="32994"/>
          <a:stretch/>
        </p:blipFill>
        <p:spPr>
          <a:xfrm>
            <a:off x="5764946" y="2050920"/>
            <a:ext cx="427304" cy="505333"/>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46" name="Google Shape;1446;p91"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4">
            <a:alphaModFix/>
          </a:blip>
          <a:srcRect b="32863" l="0" r="10193" t="56109"/>
          <a:stretch/>
        </p:blipFill>
        <p:spPr>
          <a:xfrm>
            <a:off x="5808489" y="2817468"/>
            <a:ext cx="383761" cy="505333"/>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47" name="Google Shape;1447;p91"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4">
            <a:alphaModFix/>
          </a:blip>
          <a:srcRect b="0" l="0" r="0" t="89689"/>
          <a:stretch/>
        </p:blipFill>
        <p:spPr>
          <a:xfrm>
            <a:off x="5764946" y="4260313"/>
            <a:ext cx="427304" cy="472453"/>
          </a:xfrm>
          <a:prstGeom prst="rect">
            <a:avLst/>
          </a:prstGeom>
          <a:noFill/>
          <a:ln>
            <a:noFill/>
          </a:ln>
        </p:spPr>
      </p:pic>
      <p:pic>
        <p:nvPicPr>
          <p:cNvPr descr="&lt;math xmlns=&quot;http://www.w3.org/1998/Math/MathML&quot; display=&quot;block&quot; data-is-equatio=&quot;1&quot; data-latex=&quot;\begin{array}{l}\frac{150}{8400}\\&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8400&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48" name="Google Shape;1448;p91" title="9 lines Line 1: 150 over 8400 Line 2: 315 over 945 Line 3: 315 over 360 Line 4: 945 over 8400 Line 5: 150 over 8400 Line 6: 540 over 945 Line 7: 150 over 360 Line 8: 150 over 315 Line 9: 360 over 150"/>
          <p:cNvPicPr preferRelativeResize="0"/>
          <p:nvPr/>
        </p:nvPicPr>
        <p:blipFill rotWithShape="1">
          <a:blip r:embed="rId5">
            <a:alphaModFix/>
          </a:blip>
          <a:srcRect b="90814" l="0" r="0" t="0"/>
          <a:stretch/>
        </p:blipFill>
        <p:spPr>
          <a:xfrm>
            <a:off x="930750" y="3616661"/>
            <a:ext cx="427300" cy="397162"/>
          </a:xfrm>
          <a:prstGeom prst="rect">
            <a:avLst/>
          </a:prstGeom>
          <a:noFill/>
          <a:ln>
            <a:noFill/>
          </a:ln>
        </p:spPr>
      </p:pic>
      <p:pic>
        <p:nvPicPr>
          <p:cNvPr descr="&lt;math xmlns=&quot;http://www.w3.org/1998/Math/MathML&quot; display=&quot;block&quot; data-is-equatio=&quot;1&quot; data-latex=&quot;\frac{540}{8400}&quot;&gt;&lt;mfrac&gt;&lt;mn&gt;540&lt;/mn&gt;&lt;mn&gt;8400&lt;/mn&gt;&lt;/mfrac&gt;&lt;/math&gt;" id="1449" name="Google Shape;1449;p91" title="540 over 8400"/>
          <p:cNvPicPr preferRelativeResize="0"/>
          <p:nvPr/>
        </p:nvPicPr>
        <p:blipFill>
          <a:blip r:embed="rId6">
            <a:alphaModFix/>
          </a:blip>
          <a:stretch>
            <a:fillRect/>
          </a:stretch>
        </p:blipFill>
        <p:spPr>
          <a:xfrm>
            <a:off x="5764950" y="3584016"/>
            <a:ext cx="427300" cy="415082"/>
          </a:xfrm>
          <a:prstGeom prst="rect">
            <a:avLst/>
          </a:prstGeom>
          <a:noFill/>
          <a:ln>
            <a:noFill/>
          </a:ln>
        </p:spPr>
      </p:pic>
      <p:sp>
        <p:nvSpPr>
          <p:cNvPr id="1450" name="Google Shape;1450;p91"/>
          <p:cNvSpPr txBox="1"/>
          <p:nvPr>
            <p:ph idx="4294967295" type="subTitle"/>
          </p:nvPr>
        </p:nvSpPr>
        <p:spPr>
          <a:xfrm>
            <a:off x="324000" y="2842700"/>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a:t>
            </a:r>
            <a:endParaRPr sz="1800"/>
          </a:p>
        </p:txBody>
      </p:sp>
      <p:sp>
        <p:nvSpPr>
          <p:cNvPr id="1451" name="Google Shape;1451;p91"/>
          <p:cNvSpPr txBox="1"/>
          <p:nvPr>
            <p:ph idx="4294967295" type="subTitle"/>
          </p:nvPr>
        </p:nvSpPr>
        <p:spPr>
          <a:xfrm>
            <a:off x="324000" y="3586850"/>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a:t>
            </a:r>
            <a:endParaRPr sz="1800"/>
          </a:p>
        </p:txBody>
      </p:sp>
      <p:sp>
        <p:nvSpPr>
          <p:cNvPr id="1452" name="Google Shape;1452;p91"/>
          <p:cNvSpPr txBox="1"/>
          <p:nvPr>
            <p:ph idx="4294967295" type="subTitle"/>
          </p:nvPr>
        </p:nvSpPr>
        <p:spPr>
          <a:xfrm>
            <a:off x="324000" y="4260325"/>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a:t>
            </a:r>
            <a:endParaRPr sz="1800"/>
          </a:p>
        </p:txBody>
      </p:sp>
      <p:sp>
        <p:nvSpPr>
          <p:cNvPr id="1453" name="Google Shape;1453;p91"/>
          <p:cNvSpPr txBox="1"/>
          <p:nvPr>
            <p:ph idx="4294967295" type="subTitle"/>
          </p:nvPr>
        </p:nvSpPr>
        <p:spPr>
          <a:xfrm>
            <a:off x="5244550" y="2100275"/>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t>
            </a:r>
            <a:r>
              <a:rPr lang="en-GB" sz="1800"/>
              <a:t>)</a:t>
            </a:r>
            <a:endParaRPr sz="1800"/>
          </a:p>
        </p:txBody>
      </p:sp>
      <p:sp>
        <p:nvSpPr>
          <p:cNvPr id="1454" name="Google Shape;1454;p91"/>
          <p:cNvSpPr txBox="1"/>
          <p:nvPr>
            <p:ph idx="4294967295" type="subTitle"/>
          </p:nvPr>
        </p:nvSpPr>
        <p:spPr>
          <a:xfrm>
            <a:off x="5244550" y="2943775"/>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a:t>
            </a:r>
            <a:r>
              <a:rPr lang="en-GB" sz="1800"/>
              <a:t>)</a:t>
            </a:r>
            <a:endParaRPr sz="1800"/>
          </a:p>
        </p:txBody>
      </p:sp>
      <p:sp>
        <p:nvSpPr>
          <p:cNvPr id="1455" name="Google Shape;1455;p91"/>
          <p:cNvSpPr txBox="1"/>
          <p:nvPr>
            <p:ph idx="4294967295" type="subTitle"/>
          </p:nvPr>
        </p:nvSpPr>
        <p:spPr>
          <a:xfrm>
            <a:off x="5244550" y="3687925"/>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a:t>
            </a:r>
            <a:r>
              <a:rPr lang="en-GB" sz="1800"/>
              <a:t>)</a:t>
            </a:r>
            <a:endParaRPr sz="1800"/>
          </a:p>
        </p:txBody>
      </p:sp>
      <p:sp>
        <p:nvSpPr>
          <p:cNvPr id="1456" name="Google Shape;1456;p91"/>
          <p:cNvSpPr txBox="1"/>
          <p:nvPr>
            <p:ph idx="4294967295" type="subTitle"/>
          </p:nvPr>
        </p:nvSpPr>
        <p:spPr>
          <a:xfrm>
            <a:off x="5244550" y="4361400"/>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a:t>
            </a:r>
            <a:r>
              <a:rPr lang="en-GB" sz="1800"/>
              <a:t>)</a:t>
            </a:r>
            <a:endParaRPr sz="1800"/>
          </a:p>
        </p:txBody>
      </p:sp>
      <p:pic>
        <p:nvPicPr>
          <p:cNvPr id="1457" name="Google Shape;1457;p91"/>
          <p:cNvPicPr preferRelativeResize="0"/>
          <p:nvPr/>
        </p:nvPicPr>
        <p:blipFill rotWithShape="1">
          <a:blip r:embed="rId7">
            <a:alphaModFix/>
          </a:blip>
          <a:srcRect b="30780" l="0" r="0" t="32148"/>
          <a:stretch/>
        </p:blipFill>
        <p:spPr>
          <a:xfrm>
            <a:off x="3458251" y="1113513"/>
            <a:ext cx="2068775" cy="682349"/>
          </a:xfrm>
          <a:prstGeom prst="rect">
            <a:avLst/>
          </a:prstGeom>
          <a:noFill/>
          <a:ln>
            <a:noFill/>
          </a:ln>
        </p:spPr>
      </p:pic>
      <p:sp>
        <p:nvSpPr>
          <p:cNvPr id="1458" name="Google Shape;1458;p91"/>
          <p:cNvSpPr txBox="1"/>
          <p:nvPr>
            <p:ph idx="4294967295" type="subTitle"/>
          </p:nvPr>
        </p:nvSpPr>
        <p:spPr>
          <a:xfrm>
            <a:off x="324000" y="2141780"/>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92"/>
          <p:cNvSpPr txBox="1"/>
          <p:nvPr>
            <p:ph idx="1" type="body"/>
          </p:nvPr>
        </p:nvSpPr>
        <p:spPr>
          <a:xfrm>
            <a:off x="324000" y="759300"/>
            <a:ext cx="62298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Use these prime factorisations to simplify the fractions:</a:t>
            </a:r>
            <a:endParaRPr sz="1800"/>
          </a:p>
        </p:txBody>
      </p:sp>
      <p:sp>
        <p:nvSpPr>
          <p:cNvPr id="1464" name="Google Shape;1464;p9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Simplifying fractions using prime factors</a:t>
            </a:r>
            <a:endParaRPr sz="1800"/>
          </a:p>
        </p:txBody>
      </p:sp>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65" name="Google Shape;1465;p92"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3">
            <a:alphaModFix/>
          </a:blip>
          <a:srcRect b="89689" l="0" r="0" t="0"/>
          <a:stretch/>
        </p:blipFill>
        <p:spPr>
          <a:xfrm>
            <a:off x="930750" y="2083800"/>
            <a:ext cx="427304" cy="472453"/>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66" name="Google Shape;1466;p92"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3">
            <a:alphaModFix/>
          </a:blip>
          <a:srcRect b="78160" l="0" r="0" t="9691"/>
          <a:stretch/>
        </p:blipFill>
        <p:spPr>
          <a:xfrm>
            <a:off x="930750" y="2808103"/>
            <a:ext cx="427304" cy="556706"/>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67" name="Google Shape;1467;p92"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3">
            <a:alphaModFix/>
          </a:blip>
          <a:srcRect b="67458" l="0" r="0" t="21513"/>
          <a:stretch/>
        </p:blipFill>
        <p:spPr>
          <a:xfrm>
            <a:off x="930750" y="4265673"/>
            <a:ext cx="427304" cy="505333"/>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68" name="Google Shape;1468;p92"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3">
            <a:alphaModFix/>
          </a:blip>
          <a:srcRect b="55977" l="0" r="0" t="32994"/>
          <a:stretch/>
        </p:blipFill>
        <p:spPr>
          <a:xfrm>
            <a:off x="5764946" y="2050920"/>
            <a:ext cx="427304" cy="505333"/>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69" name="Google Shape;1469;p92"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3">
            <a:alphaModFix/>
          </a:blip>
          <a:srcRect b="32863" l="0" r="10193" t="56109"/>
          <a:stretch/>
        </p:blipFill>
        <p:spPr>
          <a:xfrm>
            <a:off x="5808489" y="2817468"/>
            <a:ext cx="383761" cy="505333"/>
          </a:xfrm>
          <a:prstGeom prst="rect">
            <a:avLst/>
          </a:prstGeom>
          <a:noFill/>
          <a:ln>
            <a:noFill/>
          </a:ln>
        </p:spPr>
      </p:pic>
      <p:pic>
        <p:nvPicPr>
          <p:cNvPr descr="&lt;math xmlns=&quot;http://www.w3.org/1998/Math/MathML&quot; display=&quot;block&quot; data-is-equatio=&quot;1&quot; data-latex=&quot;\begin{array}{l}\frac{150}{315}\\&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315&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70" name="Google Shape;1470;p92" title="9 lines Line 1: 150 over 315 Line 2: 315 over 945 Line 3: 315 over 360 Line 4: 945 over 8400 Line 5: 150 over 8400 Line 6: 540 over 945 Line 7: 150 over 360 Line 8: 150 over 315 Line 9: 360 over 150"/>
          <p:cNvPicPr preferRelativeResize="0"/>
          <p:nvPr/>
        </p:nvPicPr>
        <p:blipFill rotWithShape="1">
          <a:blip r:embed="rId3">
            <a:alphaModFix/>
          </a:blip>
          <a:srcRect b="0" l="0" r="0" t="89689"/>
          <a:stretch/>
        </p:blipFill>
        <p:spPr>
          <a:xfrm>
            <a:off x="5764946" y="4260313"/>
            <a:ext cx="427304" cy="472453"/>
          </a:xfrm>
          <a:prstGeom prst="rect">
            <a:avLst/>
          </a:prstGeom>
          <a:noFill/>
          <a:ln>
            <a:noFill/>
          </a:ln>
        </p:spPr>
      </p:pic>
      <p:pic>
        <p:nvPicPr>
          <p:cNvPr descr="&lt;math xmlns=&quot;http://www.w3.org/1998/Math/MathML&quot; display=&quot;block&quot; data-is-equatio=&quot;1&quot; data-latex=&quot;\begin{array}{l}\frac{150}{8400}\\&amp;#13;&amp;#10;\frac{315}{945}\\&amp;#13;&amp;#10;\frac{315}{360}\\&amp;#13;&amp;#10;\frac{945}{8400}\\&amp;#13;&amp;#10;\frac{150}{8400}\\&amp;#13;&amp;#10;\frac{540}{945}\\&amp;#13;&amp;#10;\frac{150}{360}\\&amp;#13;&amp;#10;\frac{150}{315}\\&amp;#13;&amp;#10;\frac{360}{150}\end{array}&quot;&gt;&lt;mtable columnalign=&quot;left&quot; columnspacing=&quot;1em&quot; rowspacing=&quot;4pt&quot;&gt;&lt;mtr&gt;&lt;mtd&gt;&lt;mfrac&gt;&lt;mn&gt;150&lt;/mn&gt;&lt;mn&gt;8400&lt;/mn&gt;&lt;/mfrac&gt;&lt;/mtd&gt;&lt;/mtr&gt;&lt;mtr&gt;&lt;mtd&gt;&lt;mfrac&gt;&lt;mn&gt;315&lt;/mn&gt;&lt;mn&gt;945&lt;/mn&gt;&lt;/mfrac&gt;&lt;/mtd&gt;&lt;/mtr&gt;&lt;mtr&gt;&lt;mtd&gt;&lt;mfrac&gt;&lt;mn&gt;315&lt;/mn&gt;&lt;mn&gt;360&lt;/mn&gt;&lt;/mfrac&gt;&lt;/mtd&gt;&lt;/mtr&gt;&lt;mtr&gt;&lt;mtd&gt;&lt;mfrac&gt;&lt;mn&gt;945&lt;/mn&gt;&lt;mn&gt;8400&lt;/mn&gt;&lt;/mfrac&gt;&lt;/mtd&gt;&lt;/mtr&gt;&lt;mtr&gt;&lt;mtd&gt;&lt;mfrac&gt;&lt;mn&gt;150&lt;/mn&gt;&lt;mn&gt;8400&lt;/mn&gt;&lt;/mfrac&gt;&lt;/mtd&gt;&lt;/mtr&gt;&lt;mtr&gt;&lt;mtd&gt;&lt;mfrac&gt;&lt;mn&gt;540&lt;/mn&gt;&lt;mn&gt;945&lt;/mn&gt;&lt;/mfrac&gt;&lt;/mtd&gt;&lt;/mtr&gt;&lt;mtr&gt;&lt;mtd&gt;&lt;mfrac&gt;&lt;mn&gt;150&lt;/mn&gt;&lt;mn&gt;360&lt;/mn&gt;&lt;/mfrac&gt;&lt;/mtd&gt;&lt;/mtr&gt;&lt;mtr&gt;&lt;mtd&gt;&lt;mfrac&gt;&lt;mn&gt;150&lt;/mn&gt;&lt;mn&gt;315&lt;/mn&gt;&lt;/mfrac&gt;&lt;/mtd&gt;&lt;/mtr&gt;&lt;mtr&gt;&lt;mtd&gt;&lt;mfrac&gt;&lt;mn&gt;360&lt;/mn&gt;&lt;mn&gt;150&lt;/mn&gt;&lt;/mfrac&gt;&lt;/mtd&gt;&lt;/mtr&gt;&lt;/mtable&gt;&lt;/math&gt;" id="1471" name="Google Shape;1471;p92" title="9 lines Line 1: 150 over 8400 Line 2: 315 over 945 Line 3: 315 over 360 Line 4: 945 over 8400 Line 5: 150 over 8400 Line 6: 540 over 945 Line 7: 150 over 360 Line 8: 150 over 315 Line 9: 360 over 150"/>
          <p:cNvPicPr preferRelativeResize="0"/>
          <p:nvPr/>
        </p:nvPicPr>
        <p:blipFill rotWithShape="1">
          <a:blip r:embed="rId4">
            <a:alphaModFix/>
          </a:blip>
          <a:srcRect b="90814" l="0" r="0" t="0"/>
          <a:stretch/>
        </p:blipFill>
        <p:spPr>
          <a:xfrm>
            <a:off x="930750" y="3616661"/>
            <a:ext cx="427300" cy="397162"/>
          </a:xfrm>
          <a:prstGeom prst="rect">
            <a:avLst/>
          </a:prstGeom>
          <a:noFill/>
          <a:ln>
            <a:noFill/>
          </a:ln>
        </p:spPr>
      </p:pic>
      <p:pic>
        <p:nvPicPr>
          <p:cNvPr descr="&lt;math xmlns=&quot;http://www.w3.org/1998/Math/MathML&quot; display=&quot;block&quot; data-is-equatio=&quot;1&quot; data-latex=&quot;=\ \frac{10}{21}&quot;&gt;&lt;mo&gt;=&lt;/mo&gt;&lt;mtext&gt;&lt;/mtext&gt;&lt;mfrac&gt;&lt;mn&gt;10&lt;/mn&gt;&lt;mn&gt;21&lt;/mn&gt;&lt;/mfrac&gt;&lt;/math&gt;" id="1472" name="Google Shape;1472;p92" title="equals 10 over 21"/>
          <p:cNvPicPr preferRelativeResize="0"/>
          <p:nvPr/>
        </p:nvPicPr>
        <p:blipFill>
          <a:blip r:embed="rId5">
            <a:alphaModFix/>
          </a:blip>
          <a:stretch>
            <a:fillRect/>
          </a:stretch>
        </p:blipFill>
        <p:spPr>
          <a:xfrm>
            <a:off x="1534475" y="2100281"/>
            <a:ext cx="474853" cy="406600"/>
          </a:xfrm>
          <a:prstGeom prst="rect">
            <a:avLst/>
          </a:prstGeom>
          <a:noFill/>
          <a:ln>
            <a:noFill/>
          </a:ln>
        </p:spPr>
      </p:pic>
      <p:pic>
        <p:nvPicPr>
          <p:cNvPr descr="&lt;math xmlns=&quot;http://www.w3.org/1998/Math/MathML&quot; display=&quot;block&quot; data-is-equatio=&quot;1&quot; data-latex=&quot;=\ \frac{1}{3}&quot;&gt;&lt;mo&gt;=&lt;/mo&gt;&lt;mtext&gt;&lt;/mtext&gt;&lt;mfrac&gt;&lt;mn&gt;1&lt;/mn&gt;&lt;mn&gt;3&lt;/mn&gt;&lt;/mfrac&gt;&lt;/math&gt;" id="1473" name="Google Shape;1473;p92" title="equals one third"/>
          <p:cNvPicPr preferRelativeResize="0"/>
          <p:nvPr/>
        </p:nvPicPr>
        <p:blipFill>
          <a:blip r:embed="rId6">
            <a:alphaModFix/>
          </a:blip>
          <a:stretch>
            <a:fillRect/>
          </a:stretch>
        </p:blipFill>
        <p:spPr>
          <a:xfrm>
            <a:off x="1534475" y="2901250"/>
            <a:ext cx="379882" cy="412535"/>
          </a:xfrm>
          <a:prstGeom prst="rect">
            <a:avLst/>
          </a:prstGeom>
          <a:noFill/>
          <a:ln>
            <a:noFill/>
          </a:ln>
        </p:spPr>
      </p:pic>
      <p:pic>
        <p:nvPicPr>
          <p:cNvPr descr="&lt;math xmlns=&quot;http://www.w3.org/1998/Math/MathML&quot; display=&quot;block&quot; data-is-equatio=&quot;1&quot; data-latex=&quot;=\ \frac{1}{56}&quot;&gt;&lt;mo&gt;=&lt;/mo&gt;&lt;mtext&gt;&lt;/mtext&gt;&lt;mfrac&gt;&lt;mn&gt;1&lt;/mn&gt;&lt;mn&gt;56&lt;/mn&gt;&lt;/mfrac&gt;&lt;/math&gt;" id="1474" name="Google Shape;1474;p92" title="equals 1 over 56"/>
          <p:cNvPicPr preferRelativeResize="0"/>
          <p:nvPr/>
        </p:nvPicPr>
        <p:blipFill>
          <a:blip r:embed="rId7">
            <a:alphaModFix/>
          </a:blip>
          <a:stretch>
            <a:fillRect/>
          </a:stretch>
        </p:blipFill>
        <p:spPr>
          <a:xfrm>
            <a:off x="1534475" y="3586861"/>
            <a:ext cx="465949" cy="400664"/>
          </a:xfrm>
          <a:prstGeom prst="rect">
            <a:avLst/>
          </a:prstGeom>
          <a:noFill/>
          <a:ln>
            <a:noFill/>
          </a:ln>
        </p:spPr>
      </p:pic>
      <p:pic>
        <p:nvPicPr>
          <p:cNvPr descr="&lt;math xmlns=&quot;http://www.w3.org/1998/Math/MathML&quot; display=&quot;block&quot; data-is-equatio=&quot;1&quot; data-latex=&quot;=\ \frac{7}{8}&quot;&gt;&lt;mo&gt;=&lt;/mo&gt;&lt;mtext&gt;&lt;/mtext&gt;&lt;mfrac&gt;&lt;mn&gt;7&lt;/mn&gt;&lt;mn&gt;8&lt;/mn&gt;&lt;/mfrac&gt;&lt;/math&gt;" id="1475" name="Google Shape;1475;p92" title="equals seven eighths"/>
          <p:cNvPicPr preferRelativeResize="0"/>
          <p:nvPr/>
        </p:nvPicPr>
        <p:blipFill>
          <a:blip r:embed="rId8">
            <a:alphaModFix/>
          </a:blip>
          <a:stretch>
            <a:fillRect/>
          </a:stretch>
        </p:blipFill>
        <p:spPr>
          <a:xfrm>
            <a:off x="1534475" y="4328513"/>
            <a:ext cx="382850" cy="412535"/>
          </a:xfrm>
          <a:prstGeom prst="rect">
            <a:avLst/>
          </a:prstGeom>
          <a:noFill/>
          <a:ln>
            <a:noFill/>
          </a:ln>
        </p:spPr>
      </p:pic>
      <p:pic>
        <p:nvPicPr>
          <p:cNvPr descr="&lt;math xmlns=&quot;http://www.w3.org/1998/Math/MathML&quot; display=&quot;block&quot; data-is-equatio=&quot;1&quot; data-latex=&quot;=\ \frac{9}{80}&quot;&gt;&lt;mo&gt;=&lt;/mo&gt;&lt;mtext&gt;&lt;/mtext&gt;&lt;mfrac&gt;&lt;mn&gt;9&lt;/mn&gt;&lt;mn&gt;80&lt;/mn&gt;&lt;/mfrac&gt;&lt;/math&gt;" id="1476" name="Google Shape;1476;p92" title="equals 9 over 80"/>
          <p:cNvPicPr preferRelativeResize="0"/>
          <p:nvPr/>
        </p:nvPicPr>
        <p:blipFill>
          <a:blip r:embed="rId9">
            <a:alphaModFix/>
          </a:blip>
          <a:stretch>
            <a:fillRect/>
          </a:stretch>
        </p:blipFill>
        <p:spPr>
          <a:xfrm>
            <a:off x="6432211" y="2143717"/>
            <a:ext cx="477821" cy="412535"/>
          </a:xfrm>
          <a:prstGeom prst="rect">
            <a:avLst/>
          </a:prstGeom>
          <a:noFill/>
          <a:ln>
            <a:noFill/>
          </a:ln>
        </p:spPr>
      </p:pic>
      <p:pic>
        <p:nvPicPr>
          <p:cNvPr descr="&lt;math xmlns=&quot;http://www.w3.org/1998/Math/MathML&quot; display=&quot;block&quot; data-is-equatio=&quot;1&quot; data-latex=&quot;=\ \frac{9}{140}&quot;&gt;&lt;mo&gt;=&lt;/mo&gt;&lt;mtext&gt;&lt;/mtext&gt;&lt;mfrac&gt;&lt;mn&gt;9&lt;/mn&gt;&lt;mn&gt;140&lt;/mn&gt;&lt;/mfrac&gt;&lt;/math&gt;" id="1477" name="Google Shape;1477;p92" title="equals 9 over 140"/>
          <p:cNvPicPr preferRelativeResize="0"/>
          <p:nvPr/>
        </p:nvPicPr>
        <p:blipFill>
          <a:blip r:embed="rId10">
            <a:alphaModFix/>
          </a:blip>
          <a:stretch>
            <a:fillRect/>
          </a:stretch>
        </p:blipFill>
        <p:spPr>
          <a:xfrm>
            <a:off x="6432211" y="3610776"/>
            <a:ext cx="578727" cy="412535"/>
          </a:xfrm>
          <a:prstGeom prst="rect">
            <a:avLst/>
          </a:prstGeom>
          <a:noFill/>
          <a:ln>
            <a:noFill/>
          </a:ln>
        </p:spPr>
      </p:pic>
      <p:pic>
        <p:nvPicPr>
          <p:cNvPr descr="&lt;math xmlns=&quot;http://www.w3.org/1998/Math/MathML&quot; display=&quot;block&quot; data-is-equatio=&quot;1&quot; data-latex=&quot;=\ \frac{12}{5}&quot;&gt;&lt;mo&gt;=&lt;/mo&gt;&lt;mtext&gt;&lt;/mtext&gt;&lt;mfrac&gt;&lt;mn&gt;12&lt;/mn&gt;&lt;mn&gt;5&lt;/mn&gt;&lt;/mfrac&gt;&lt;/math&gt;" id="1478" name="Google Shape;1478;p92" title="equals twelve fifths"/>
          <p:cNvPicPr preferRelativeResize="0"/>
          <p:nvPr/>
        </p:nvPicPr>
        <p:blipFill>
          <a:blip r:embed="rId11">
            <a:alphaModFix/>
          </a:blip>
          <a:stretch>
            <a:fillRect/>
          </a:stretch>
        </p:blipFill>
        <p:spPr>
          <a:xfrm>
            <a:off x="6432211" y="4332102"/>
            <a:ext cx="465949" cy="400664"/>
          </a:xfrm>
          <a:prstGeom prst="rect">
            <a:avLst/>
          </a:prstGeom>
          <a:noFill/>
          <a:ln>
            <a:noFill/>
          </a:ln>
        </p:spPr>
      </p:pic>
      <p:pic>
        <p:nvPicPr>
          <p:cNvPr descr="&lt;math xmlns=&quot;http://www.w3.org/1998/Math/MathML&quot; display=&quot;block&quot; data-is-equatio=&quot;1&quot; data-latex=&quot;\frac{540}{8400}&quot;&gt;&lt;mfrac&gt;&lt;mn&gt;540&lt;/mn&gt;&lt;mn&gt;8400&lt;/mn&gt;&lt;/mfrac&gt;&lt;/math&gt;" id="1479" name="Google Shape;1479;p92" title="540 over 8400"/>
          <p:cNvPicPr preferRelativeResize="0"/>
          <p:nvPr/>
        </p:nvPicPr>
        <p:blipFill>
          <a:blip r:embed="rId12">
            <a:alphaModFix/>
          </a:blip>
          <a:stretch>
            <a:fillRect/>
          </a:stretch>
        </p:blipFill>
        <p:spPr>
          <a:xfrm>
            <a:off x="5764950" y="3584016"/>
            <a:ext cx="427300" cy="415082"/>
          </a:xfrm>
          <a:prstGeom prst="rect">
            <a:avLst/>
          </a:prstGeom>
          <a:noFill/>
          <a:ln>
            <a:noFill/>
          </a:ln>
        </p:spPr>
      </p:pic>
      <p:sp>
        <p:nvSpPr>
          <p:cNvPr id="1480" name="Google Shape;1480;p92"/>
          <p:cNvSpPr txBox="1"/>
          <p:nvPr>
            <p:ph idx="4294967295" type="subTitle"/>
          </p:nvPr>
        </p:nvSpPr>
        <p:spPr>
          <a:xfrm>
            <a:off x="324000" y="2141780"/>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481" name="Google Shape;1481;p92"/>
          <p:cNvSpPr txBox="1"/>
          <p:nvPr>
            <p:ph idx="4294967295" type="subTitle"/>
          </p:nvPr>
        </p:nvSpPr>
        <p:spPr>
          <a:xfrm>
            <a:off x="324000" y="2842700"/>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sp>
        <p:nvSpPr>
          <p:cNvPr id="1482" name="Google Shape;1482;p92"/>
          <p:cNvSpPr txBox="1"/>
          <p:nvPr>
            <p:ph idx="4294967295" type="subTitle"/>
          </p:nvPr>
        </p:nvSpPr>
        <p:spPr>
          <a:xfrm>
            <a:off x="324000" y="3586850"/>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endParaRPr sz="1800"/>
          </a:p>
        </p:txBody>
      </p:sp>
      <p:sp>
        <p:nvSpPr>
          <p:cNvPr id="1483" name="Google Shape;1483;p92"/>
          <p:cNvSpPr txBox="1"/>
          <p:nvPr>
            <p:ph idx="4294967295" type="subTitle"/>
          </p:nvPr>
        </p:nvSpPr>
        <p:spPr>
          <a:xfrm>
            <a:off x="324000" y="4260325"/>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endParaRPr sz="1800"/>
          </a:p>
        </p:txBody>
      </p:sp>
      <p:sp>
        <p:nvSpPr>
          <p:cNvPr id="1484" name="Google Shape;1484;p92"/>
          <p:cNvSpPr txBox="1"/>
          <p:nvPr>
            <p:ph idx="4294967295" type="subTitle"/>
          </p:nvPr>
        </p:nvSpPr>
        <p:spPr>
          <a:xfrm>
            <a:off x="5244550" y="2100275"/>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t>
            </a:r>
            <a:endParaRPr sz="1800"/>
          </a:p>
        </p:txBody>
      </p:sp>
      <p:sp>
        <p:nvSpPr>
          <p:cNvPr id="1485" name="Google Shape;1485;p92"/>
          <p:cNvSpPr txBox="1"/>
          <p:nvPr>
            <p:ph idx="4294967295" type="subTitle"/>
          </p:nvPr>
        </p:nvSpPr>
        <p:spPr>
          <a:xfrm>
            <a:off x="5244550" y="2943775"/>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a:t>
            </a:r>
            <a:endParaRPr sz="1800"/>
          </a:p>
        </p:txBody>
      </p:sp>
      <p:sp>
        <p:nvSpPr>
          <p:cNvPr id="1486" name="Google Shape;1486;p92"/>
          <p:cNvSpPr txBox="1"/>
          <p:nvPr>
            <p:ph idx="4294967295" type="subTitle"/>
          </p:nvPr>
        </p:nvSpPr>
        <p:spPr>
          <a:xfrm>
            <a:off x="5244550" y="3687925"/>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a:t>
            </a:r>
            <a:endParaRPr sz="1800"/>
          </a:p>
        </p:txBody>
      </p:sp>
      <p:sp>
        <p:nvSpPr>
          <p:cNvPr id="1487" name="Google Shape;1487;p92"/>
          <p:cNvSpPr txBox="1"/>
          <p:nvPr>
            <p:ph idx="4294967295" type="subTitle"/>
          </p:nvPr>
        </p:nvSpPr>
        <p:spPr>
          <a:xfrm>
            <a:off x="5244550" y="4361400"/>
            <a:ext cx="324000" cy="32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a:t>
            </a:r>
            <a:endParaRPr sz="1800"/>
          </a:p>
        </p:txBody>
      </p:sp>
      <p:pic>
        <p:nvPicPr>
          <p:cNvPr descr="&lt;math xmlns=&quot;http://www.w3.org/1998/Math/MathML&quot; display=&quot;block&quot; data-is-equatio=&quot;1&quot; data-latex=&quot;=\ \frac{4}{7}&quot;&gt;&lt;mo&gt;=&lt;/mo&gt;&lt;mtext&gt;&lt;/mtext&gt;&lt;mfrac&gt;&lt;mn&gt;4&lt;/mn&gt;&lt;mn&gt;7&lt;/mn&gt;&lt;/mfrac&gt;&lt;/math&gt;" id="1488" name="Google Shape;1488;p92" title="equals four sevenths"/>
          <p:cNvPicPr preferRelativeResize="0"/>
          <p:nvPr/>
        </p:nvPicPr>
        <p:blipFill>
          <a:blip r:embed="rId13">
            <a:alphaModFix/>
          </a:blip>
          <a:stretch>
            <a:fillRect/>
          </a:stretch>
        </p:blipFill>
        <p:spPr>
          <a:xfrm>
            <a:off x="6432202" y="2876764"/>
            <a:ext cx="383750" cy="413498"/>
          </a:xfrm>
          <a:prstGeom prst="rect">
            <a:avLst/>
          </a:prstGeom>
          <a:noFill/>
          <a:ln>
            <a:noFill/>
          </a:ln>
        </p:spPr>
      </p:pic>
      <p:pic>
        <p:nvPicPr>
          <p:cNvPr descr="&lt;math xmlns=&quot;http://www.w3.org/1998/Math/MathML&quot; display=&quot;block&quot; data-is-equatio=&quot;1&quot; data-latex=&quot;\begin{array}{l}150=2\times3\times5^{2\ }\\&amp;#13;&amp;#10;540\ =2^2\times3^3\times5\\&amp;#13;&amp;#10;315=3^{^2}\times5\times7\\&amp;#13;&amp;#10;945\ =3^3\times5^2\times11\\&amp;#13;&amp;#10;360\ =2^3\times3^2\times5\\&amp;#13;&amp;#10;8400\ =2^4\times3\times5^2\times7\end{array}&quot;&gt;&lt;mtable columnalign=&quot;left&quot; columnspacing=&quot;1em&quot; rowspacing=&quot;4pt&quot;&gt;&lt;mtr&gt;&lt;mtd&gt;&lt;mn&gt;150&lt;/mn&gt;&lt;mo&gt;=&lt;/mo&gt;&lt;mn&gt;2&lt;/mn&gt;&lt;mo&gt;×&lt;/mo&gt;&lt;mn&gt;3&lt;/mn&gt;&lt;mo&gt;×&lt;/mo&gt;&lt;msup&gt;&lt;mn&gt;5&lt;/mn&gt;&lt;mrow data-mjx-texclass=&quot;ORD&quot;&gt;&lt;mn&gt;2&lt;/mn&gt;&lt;mtext&gt;&lt;/mtext&gt;&lt;/mrow&gt;&lt;/msup&gt;&lt;/mtd&gt;&lt;/mtr&gt;&lt;mtr&gt;&lt;mtd&gt;&lt;mn&gt;540&lt;/mn&gt;&lt;mtext&gt;&lt;/mtext&gt;&lt;mo&gt;=&lt;/mo&gt;&lt;msup&gt;&lt;mn&gt;2&lt;/mn&gt;&lt;mn&gt;2&lt;/mn&gt;&lt;/msup&gt;&lt;mo&gt;×&lt;/mo&gt;&lt;msup&gt;&lt;mn&gt;3&lt;/mn&gt;&lt;mn&gt;3&lt;/mn&gt;&lt;/msup&gt;&lt;mo&gt;×&lt;/mo&gt;&lt;mn&gt;5&lt;/mn&gt;&lt;/mtd&gt;&lt;/mtr&gt;&lt;mtr&gt;&lt;mtd&gt;&lt;mn&gt;315&lt;/mn&gt;&lt;mo&gt;=&lt;/mo&gt;&lt;msup&gt;&lt;mn&gt;3&lt;/mn&gt;&lt;mrow data-mjx-texclass=&quot;ORD&quot;&gt;&lt;msup&gt;&lt;mi/&gt;&lt;mn&gt;2&lt;/mn&gt;&lt;/msup&gt;&lt;/mrow&gt;&lt;/msup&gt;&lt;mo&gt;×&lt;/mo&gt;&lt;mn&gt;5&lt;/mn&gt;&lt;mo&gt;×&lt;/mo&gt;&lt;mn&gt;7&lt;/mn&gt;&lt;/mtd&gt;&lt;/mtr&gt;&lt;mtr&gt;&lt;mtd&gt;&lt;mn&gt;945&lt;/mn&gt;&lt;mtext&gt;&lt;/mtext&gt;&lt;mo&gt;=&lt;/mo&gt;&lt;msup&gt;&lt;mn&gt;3&lt;/mn&gt;&lt;mn&gt;3&lt;/mn&gt;&lt;/msup&gt;&lt;mo&gt;×&lt;/mo&gt;&lt;msup&gt;&lt;mn&gt;5&lt;/mn&gt;&lt;mn&gt;2&lt;/mn&gt;&lt;/msup&gt;&lt;mo&gt;×&lt;/mo&gt;&lt;mn&gt;11&lt;/mn&gt;&lt;/mtd&gt;&lt;/mtr&gt;&lt;mtr&gt;&lt;mtd&gt;&lt;mn&gt;360&lt;/mn&gt;&lt;mtext&gt;&lt;/mtext&gt;&lt;mo&gt;=&lt;/mo&gt;&lt;msup&gt;&lt;mn&gt;2&lt;/mn&gt;&lt;mn&gt;3&lt;/mn&gt;&lt;/msup&gt;&lt;mo&gt;×&lt;/mo&gt;&lt;msup&gt;&lt;mn&gt;3&lt;/mn&gt;&lt;mn&gt;2&lt;/mn&gt;&lt;/msup&gt;&lt;mo&gt;×&lt;/mo&gt;&lt;mn&gt;5&lt;/mn&gt;&lt;/mtd&gt;&lt;/mtr&gt;&lt;mtr&gt;&lt;mtd&gt;&lt;mn&gt;8400&lt;/mn&gt;&lt;mtext&gt;&lt;/mtext&gt;&lt;mo&gt;=&lt;/mo&gt;&lt;msup&gt;&lt;mn&gt;2&lt;/mn&gt;&lt;mn&gt;4&lt;/mn&gt;&lt;/msup&gt;&lt;mo&gt;×&lt;/mo&gt;&lt;mn&gt;3&lt;/mn&gt;&lt;mo&gt;×&lt;/mo&gt;&lt;msup&gt;&lt;mn&gt;5&lt;/mn&gt;&lt;mn&gt;2&lt;/mn&gt;&lt;/msup&gt;&lt;mo&gt;×&lt;/mo&gt;&lt;mn&gt;7&lt;/mn&gt;&lt;/mtd&gt;&lt;/mtr&gt;&lt;/mtable&gt;&lt;/math&gt;" id="1489" name="Google Shape;1489;p92" title="6 lines Line 1: 150 equals 2 times 3 times 5 raised to the 2 power Line 2: 540 equals 2 squared times 3 cubed times 5 Line 3: 315 equals 3 raised to the exponent squared end exponent times 5 times 7 Line 4: 945 equals 3 cubed times 5 squared times 11 Line 5: 360 equals 2 cubed times 3 squared times 5 Line 6: 8400 equals 2 to the fourth power times 3 times 5 squared times 7"/>
          <p:cNvPicPr preferRelativeResize="0"/>
          <p:nvPr/>
        </p:nvPicPr>
        <p:blipFill rotWithShape="1">
          <a:blip r:embed="rId14">
            <a:alphaModFix/>
          </a:blip>
          <a:srcRect b="69237" l="0" r="17904" t="0"/>
          <a:stretch/>
        </p:blipFill>
        <p:spPr>
          <a:xfrm>
            <a:off x="579725" y="1215875"/>
            <a:ext cx="1698418" cy="566232"/>
          </a:xfrm>
          <a:prstGeom prst="rect">
            <a:avLst/>
          </a:prstGeom>
          <a:noFill/>
          <a:ln>
            <a:noFill/>
          </a:ln>
        </p:spPr>
      </p:pic>
      <p:pic>
        <p:nvPicPr>
          <p:cNvPr descr="&lt;math xmlns=&quot;http://www.w3.org/1998/Math/MathML&quot; display=&quot;block&quot; data-is-equatio=&quot;1&quot; data-latex=&quot;\begin{array}{l}150=2\times3\times5^{2\ }\\&amp;#13;&amp;#10;540\ =2^2\times3^3\times5\\&amp;#13;&amp;#10;315=3^{^2}\times5\times7\\&amp;#13;&amp;#10;945\ =3^3\times5^2\times11\\&amp;#13;&amp;#10;360\ =2^3\times3^2\times5\\&amp;#13;&amp;#10;8400\ =2^4\times3\times5^2\times7\end{array}&quot;&gt;&lt;mtable columnalign=&quot;left&quot; columnspacing=&quot;1em&quot; rowspacing=&quot;4pt&quot;&gt;&lt;mtr&gt;&lt;mtd&gt;&lt;mn&gt;150&lt;/mn&gt;&lt;mo&gt;=&lt;/mo&gt;&lt;mn&gt;2&lt;/mn&gt;&lt;mo&gt;×&lt;/mo&gt;&lt;mn&gt;3&lt;/mn&gt;&lt;mo&gt;×&lt;/mo&gt;&lt;msup&gt;&lt;mn&gt;5&lt;/mn&gt;&lt;mrow data-mjx-texclass=&quot;ORD&quot;&gt;&lt;mn&gt;2&lt;/mn&gt;&lt;mtext&gt;&lt;/mtext&gt;&lt;/mrow&gt;&lt;/msup&gt;&lt;/mtd&gt;&lt;/mtr&gt;&lt;mtr&gt;&lt;mtd&gt;&lt;mn&gt;540&lt;/mn&gt;&lt;mtext&gt;&lt;/mtext&gt;&lt;mo&gt;=&lt;/mo&gt;&lt;msup&gt;&lt;mn&gt;2&lt;/mn&gt;&lt;mn&gt;2&lt;/mn&gt;&lt;/msup&gt;&lt;mo&gt;×&lt;/mo&gt;&lt;msup&gt;&lt;mn&gt;3&lt;/mn&gt;&lt;mn&gt;3&lt;/mn&gt;&lt;/msup&gt;&lt;mo&gt;×&lt;/mo&gt;&lt;mn&gt;5&lt;/mn&gt;&lt;/mtd&gt;&lt;/mtr&gt;&lt;mtr&gt;&lt;mtd&gt;&lt;mn&gt;315&lt;/mn&gt;&lt;mo&gt;=&lt;/mo&gt;&lt;msup&gt;&lt;mn&gt;3&lt;/mn&gt;&lt;mrow data-mjx-texclass=&quot;ORD&quot;&gt;&lt;msup&gt;&lt;mi/&gt;&lt;mn&gt;2&lt;/mn&gt;&lt;/msup&gt;&lt;/mrow&gt;&lt;/msup&gt;&lt;mo&gt;×&lt;/mo&gt;&lt;mn&gt;5&lt;/mn&gt;&lt;mo&gt;×&lt;/mo&gt;&lt;mn&gt;7&lt;/mn&gt;&lt;/mtd&gt;&lt;/mtr&gt;&lt;mtr&gt;&lt;mtd&gt;&lt;mn&gt;945&lt;/mn&gt;&lt;mtext&gt;&lt;/mtext&gt;&lt;mo&gt;=&lt;/mo&gt;&lt;msup&gt;&lt;mn&gt;3&lt;/mn&gt;&lt;mn&gt;3&lt;/mn&gt;&lt;/msup&gt;&lt;mo&gt;×&lt;/mo&gt;&lt;msup&gt;&lt;mn&gt;5&lt;/mn&gt;&lt;mn&gt;2&lt;/mn&gt;&lt;/msup&gt;&lt;mo&gt;×&lt;/mo&gt;&lt;mn&gt;11&lt;/mn&gt;&lt;/mtd&gt;&lt;/mtr&gt;&lt;mtr&gt;&lt;mtd&gt;&lt;mn&gt;360&lt;/mn&gt;&lt;mtext&gt;&lt;/mtext&gt;&lt;mo&gt;=&lt;/mo&gt;&lt;msup&gt;&lt;mn&gt;2&lt;/mn&gt;&lt;mn&gt;3&lt;/mn&gt;&lt;/msup&gt;&lt;mo&gt;×&lt;/mo&gt;&lt;msup&gt;&lt;mn&gt;3&lt;/mn&gt;&lt;mn&gt;2&lt;/mn&gt;&lt;/msup&gt;&lt;mo&gt;×&lt;/mo&gt;&lt;mn&gt;5&lt;/mn&gt;&lt;/mtd&gt;&lt;/mtr&gt;&lt;mtr&gt;&lt;mtd&gt;&lt;mn&gt;8400&lt;/mn&gt;&lt;mtext&gt;&lt;/mtext&gt;&lt;mo&gt;=&lt;/mo&gt;&lt;msup&gt;&lt;mn&gt;2&lt;/mn&gt;&lt;mn&gt;4&lt;/mn&gt;&lt;/msup&gt;&lt;mo&gt;×&lt;/mo&gt;&lt;mn&gt;3&lt;/mn&gt;&lt;mo&gt;×&lt;/mo&gt;&lt;msup&gt;&lt;mn&gt;5&lt;/mn&gt;&lt;mn&gt;2&lt;/mn&gt;&lt;/msup&gt;&lt;mo&gt;×&lt;/mo&gt;&lt;mn&gt;7&lt;/mn&gt;&lt;/mtd&gt;&lt;/mtr&gt;&lt;/mtable&gt;&lt;/math&gt;" id="1490" name="Google Shape;1490;p92" title="6 lines Line 1: 150 equals 2 times 3 times 5 raised to the 2 power Line 2: 540 equals 2 squared times 3 cubed times 5 Line 3: 315 equals 3 raised to the exponent squared end exponent times 5 times 7 Line 4: 945 equals 3 cubed times 5 squared times 11 Line 5: 360 equals 2 cubed times 3 squared times 5 Line 6: 8400 equals 2 to the fourth power times 3 times 5 squared times 7"/>
          <p:cNvPicPr preferRelativeResize="0"/>
          <p:nvPr/>
        </p:nvPicPr>
        <p:blipFill rotWithShape="1">
          <a:blip r:embed="rId14">
            <a:alphaModFix/>
          </a:blip>
          <a:srcRect b="0" l="0" r="0" t="69237"/>
          <a:stretch/>
        </p:blipFill>
        <p:spPr>
          <a:xfrm>
            <a:off x="6738826" y="1171575"/>
            <a:ext cx="2068774" cy="566232"/>
          </a:xfrm>
          <a:prstGeom prst="rect">
            <a:avLst/>
          </a:prstGeom>
          <a:noFill/>
          <a:ln>
            <a:noFill/>
          </a:ln>
        </p:spPr>
      </p:pic>
      <p:pic>
        <p:nvPicPr>
          <p:cNvPr id="1491" name="Google Shape;1491;p92"/>
          <p:cNvPicPr preferRelativeResize="0"/>
          <p:nvPr/>
        </p:nvPicPr>
        <p:blipFill rotWithShape="1">
          <a:blip r:embed="rId15">
            <a:alphaModFix/>
          </a:blip>
          <a:srcRect b="30780" l="0" r="0" t="32148"/>
          <a:stretch/>
        </p:blipFill>
        <p:spPr>
          <a:xfrm>
            <a:off x="3458251" y="1113513"/>
            <a:ext cx="2068775" cy="6823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93"/>
          <p:cNvSpPr txBox="1"/>
          <p:nvPr>
            <p:ph idx="1" type="body"/>
          </p:nvPr>
        </p:nvSpPr>
        <p:spPr>
          <a:xfrm>
            <a:off x="324000" y="651975"/>
            <a:ext cx="8113800" cy="4168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Fractions can be simplified using factor pairs.</a:t>
            </a:r>
            <a:endParaRPr/>
          </a:p>
          <a:p>
            <a:pPr indent="0" lvl="0" marL="0" rtl="0" algn="l">
              <a:spcBef>
                <a:spcPts val="1000"/>
              </a:spcBef>
              <a:spcAft>
                <a:spcPts val="0"/>
              </a:spcAft>
              <a:buNone/>
            </a:pPr>
            <a:r>
              <a:rPr lang="en-GB"/>
              <a:t>The most efficient way to do this is using the HCF.</a:t>
            </a:r>
            <a:endParaRPr/>
          </a:p>
          <a:p>
            <a:pPr indent="0" lvl="0" marL="0" rtl="0" algn="l">
              <a:spcBef>
                <a:spcPts val="1000"/>
              </a:spcBef>
              <a:spcAft>
                <a:spcPts val="0"/>
              </a:spcAft>
              <a:buNone/>
            </a:pPr>
            <a:r>
              <a:rPr lang="en-GB"/>
              <a:t>E.g.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Products of prime factors can also be used to simplify a fraction.  E.g.</a:t>
            </a:r>
            <a:endParaRPr/>
          </a:p>
        </p:txBody>
      </p:sp>
      <p:sp>
        <p:nvSpPr>
          <p:cNvPr id="1497" name="Google Shape;1497;p93"/>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Simplifying fractions</a:t>
            </a:r>
            <a:endParaRPr/>
          </a:p>
        </p:txBody>
      </p:sp>
      <p:pic>
        <p:nvPicPr>
          <p:cNvPr id="1498" name="Google Shape;1498;p93"/>
          <p:cNvPicPr preferRelativeResize="0"/>
          <p:nvPr/>
        </p:nvPicPr>
        <p:blipFill>
          <a:blip r:embed="rId3">
            <a:alphaModFix/>
          </a:blip>
          <a:stretch>
            <a:fillRect/>
          </a:stretch>
        </p:blipFill>
        <p:spPr>
          <a:xfrm>
            <a:off x="1067525" y="1540194"/>
            <a:ext cx="2815501" cy="1112350"/>
          </a:xfrm>
          <a:prstGeom prst="rect">
            <a:avLst/>
          </a:prstGeom>
          <a:noFill/>
          <a:ln>
            <a:noFill/>
          </a:ln>
        </p:spPr>
      </p:pic>
      <p:pic>
        <p:nvPicPr>
          <p:cNvPr id="1499" name="Google Shape;1499;p93"/>
          <p:cNvPicPr preferRelativeResize="0"/>
          <p:nvPr/>
        </p:nvPicPr>
        <p:blipFill>
          <a:blip r:embed="rId4">
            <a:alphaModFix/>
          </a:blip>
          <a:stretch>
            <a:fillRect/>
          </a:stretch>
        </p:blipFill>
        <p:spPr>
          <a:xfrm>
            <a:off x="2264343" y="3080025"/>
            <a:ext cx="2055650" cy="17403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sp>
        <p:nvSpPr>
          <p:cNvPr id="1504" name="Google Shape;1504;p94"/>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505" name="Google Shape;1505;p94"/>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