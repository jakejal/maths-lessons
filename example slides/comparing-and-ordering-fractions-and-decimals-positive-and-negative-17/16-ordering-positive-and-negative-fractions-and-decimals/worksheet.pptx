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22000"/>
            <a:ext cx="498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Ordering positive and negative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467307" y="5620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 txBox="1"/>
          <p:nvPr/>
        </p:nvSpPr>
        <p:spPr>
          <a:xfrm>
            <a:off x="476400" y="63219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smallest to largest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5837988"/>
            <a:ext cx="498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Ordering positive and negative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1749900"/>
            <a:ext cx="6610500" cy="3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smallest to the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(−35.075), 37.05, 35.705, (−37.505), (−30.705), 35.057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(−356.9), 354.6, 305.6, (−306.5), (−35.096), 369.5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(−0.203), 2.003, 0.032, (−3.002), (−0.0023), 0.0302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\frac{7}{10}\right),\ \left(-\frac{3}{4}\right),\ \left(-\frac{3}{5}\right),\ \left(-\frac{11}{20}\right)&quot;&gt;&lt;mrow data-mjx-texclass=&quot;INNER&quot;&gt;&lt;mo data-mjx-texclass=&quot;OPEN&quot;&gt;(&lt;/mo&gt;&lt;mo&gt;−&lt;/mo&gt;&lt;mfrac&gt;&lt;mn&gt;7&lt;/mn&gt;&lt;mn&gt;1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1&lt;/mn&gt;&lt;mn&gt;20&lt;/mn&gt;&lt;/mfrac&gt;&lt;mo data-mjx-texclass=&quot;CLOSE&quot;&gt;)&lt;/mo&gt;&lt;/mrow&gt;&lt;/math&gt;" id="168" name="Google Shape;168;p20" title="negative seven tenths comma negative three fourths comma negative three fifths comma open paren negative 11 over 20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396" y="6619703"/>
            <a:ext cx="2295199" cy="359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4}{25}\right),\ \left(-\frac{1}{5}\right),\ \left(-\frac{7}{50}\right),\ \left(-\frac{3}{10}\right)&quot;&gt;&lt;mrow data-mjx-texclass=&quot;INNER&quot;&gt;&lt;mo data-mjx-texclass=&quot;OPEN&quot;&gt;(&lt;/mo&gt;&lt;mo&gt;−&lt;/mo&gt;&lt;mfrac&gt;&lt;mn&gt;4&lt;/mn&gt;&lt;mn&gt;2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7&lt;/mn&gt;&lt;mn&gt;5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/math&gt;" id="169" name="Google Shape;169;p20" title="open paren negative 4 over 25 close paren comma negative one fifth comma open paren negative 7 over 50 close paren comma negative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396" y="8893763"/>
            <a:ext cx="2295200" cy="348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7}{15}\right),\ \left(-\frac{1}{2}\right),\ \left(-\frac{5}{6}\right),\ \left(-\frac{3}{5}\right)&quot;&gt;&lt;mrow data-mjx-texclass=&quot;INNER&quot;&gt;&lt;mo data-mjx-texclass=&quot;OPEN&quot;&gt;(&lt;/mo&gt;&lt;mo&gt;−&lt;/mo&gt;&lt;mfrac&gt;&lt;mn&gt;7&lt;/mn&gt;&lt;mn&gt;1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2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5&lt;/mn&gt;&lt;mn&gt;6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5&lt;/mn&gt;&lt;/mfrac&gt;&lt;mo data-mjx-texclass=&quot;CLOSE&quot;&gt;)&lt;/mo&gt;&lt;/mrow&gt;&lt;/math&gt;" id="170" name="Google Shape;170;p20" title="open paren negative 7 over 15 close paren comma negative one half comma negative five sixths comma negative 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396" y="7731800"/>
            <a:ext cx="2295198" cy="3711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0"/>
          <p:cNvCxnSpPr/>
          <p:nvPr/>
        </p:nvCxnSpPr>
        <p:spPr>
          <a:xfrm>
            <a:off x="467307" y="99364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0"/>
          <p:cNvSpPr txBox="1"/>
          <p:nvPr/>
        </p:nvSpPr>
        <p:spPr>
          <a:xfrm>
            <a:off x="476400" y="67029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78459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89889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/>
        </p:nvSpPr>
        <p:spPr>
          <a:xfrm>
            <a:off x="476400" y="1064100"/>
            <a:ext cx="6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1\frac{2}{5}\right),\ \left(-1.5\right),\ 1\ \frac{3}{4},\ \left(-1.405\right),\ 1.74,\ \left(-1\frac{7}{10}\right)&quot;&gt;&lt;mrow data-mjx-texclass=&quot;INNER&quot;&gt;&lt;mo data-mjx-texclass=&quot;OPEN&quot;&gt;(&lt;/mo&gt;&lt;mo&gt;−&lt;/mo&gt;&lt;mn&gt;1&lt;/mn&gt;&lt;mfrac&gt;&lt;mn&gt;2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n&gt;1.5&lt;/mn&gt;&lt;mo data-mjx-texclass=&quot;CLOSE&quot;&gt;)&lt;/mo&gt;&lt;/mrow&gt;&lt;mo&gt;,&lt;/mo&gt;&lt;mtext&gt;&lt;/mtext&gt;&lt;mn&gt;1&lt;/mn&gt;&lt;mtext&gt;&lt;/mtext&gt;&lt;mfrac&gt;&lt;mn&gt;3&lt;/mn&gt;&lt;mn&gt;4&lt;/mn&gt;&lt;/mfrac&gt;&lt;mo&gt;,&lt;/mo&gt;&lt;mtext&gt;&lt;/mtext&gt;&lt;mrow data-mjx-texclass=&quot;INNER&quot;&gt;&lt;mo data-mjx-texclass=&quot;OPEN&quot;&gt;(&lt;/mo&gt;&lt;mo&gt;−&lt;/mo&gt;&lt;mn&gt;1.405&lt;/mn&gt;&lt;mo data-mjx-texclass=&quot;CLOSE&quot;&gt;)&lt;/mo&gt;&lt;/mrow&gt;&lt;mo&gt;,&lt;/mo&gt;&lt;mtext&gt;&lt;/mtext&gt;&lt;mn&gt;1.74&lt;/mn&gt;&lt;mo&gt;,&lt;/mo&gt;&lt;mtext&gt;&lt;/mtext&gt;&lt;mrow data-mjx-texclass=&quot;INNER&quot;&gt;&lt;mo data-mjx-texclass=&quot;OPEN&quot;&gt;(&lt;/mo&gt;&lt;mo&gt;−&lt;/mo&gt;&lt;mn&gt;1&lt;/mn&gt;&lt;mfrac&gt;&lt;mn&gt;7&lt;/mn&gt;&lt;mn&gt;10&lt;/mn&gt;&lt;/mfrac&gt;&lt;mo data-mjx-texclass=&quot;CLOSE&quot;&gt;)&lt;/mo&gt;&lt;/mrow&gt;&lt;/math&gt;" id="180" name="Google Shape;180;p21" title="open paren negative 1 and two fifths close paren comma negative 1.5 comma 1 three fourths comma negative 1.405 comma 1.74 comma open paren negative 1 and seven tenths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940" y="1306500"/>
            <a:ext cx="2935478" cy="344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1}{32}\right),\ 0.125,\ \left(-0.375\right),\ \left(-\frac{21}{64}\right),\ \frac{1}{4},\ \frac{3}{16}&quot;&gt;&lt;mrow data-mjx-texclass=&quot;INNER&quot;&gt;&lt;mo data-mjx-texclass=&quot;OPEN&quot;&gt;(&lt;/mo&gt;&lt;mo&gt;−&lt;/mo&gt;&lt;mfrac&gt;&lt;mn&gt;11&lt;/mn&gt;&lt;mn&gt;32&lt;/mn&gt;&lt;/mfrac&gt;&lt;mo data-mjx-texclass=&quot;CLOSE&quot;&gt;)&lt;/mo&gt;&lt;/mrow&gt;&lt;mo&gt;,&lt;/mo&gt;&lt;mtext&gt;&lt;/mtext&gt;&lt;mn&gt;0.125&lt;/mn&gt;&lt;mo&gt;,&lt;/mo&gt;&lt;mtext&gt;&lt;/mtext&gt;&lt;mrow data-mjx-texclass=&quot;INNER&quot;&gt;&lt;mo data-mjx-texclass=&quot;OPEN&quot;&gt;(&lt;/mo&gt;&lt;mo&gt;−&lt;/mo&gt;&lt;mn&gt;0.375&lt;/mn&gt;&lt;mo data-mjx-texclass=&quot;CLOSE&quot;&gt;)&lt;/mo&gt;&lt;/mrow&gt;&lt;mo&gt;,&lt;/mo&gt;&lt;mtext&gt;&lt;/mtext&gt;&lt;mrow data-mjx-texclass=&quot;INNER&quot;&gt;&lt;mo data-mjx-texclass=&quot;OPEN&quot;&gt;(&lt;/mo&gt;&lt;mo&gt;−&lt;/mo&gt;&lt;mfrac&gt;&lt;mn&gt;21&lt;/mn&gt;&lt;mn&gt;64&lt;/mn&gt;&lt;/mfrac&gt;&lt;mo data-mjx-texclass=&quot;CLOSE&quot;&gt;)&lt;/mo&gt;&lt;/mrow&gt;&lt;mo&gt;,&lt;/mo&gt;&lt;mtext&gt;&lt;/mtext&gt;&lt;mfrac&gt;&lt;mn&gt;1&lt;/mn&gt;&lt;mn&gt;4&lt;/mn&gt;&lt;/mfrac&gt;&lt;mo&gt;,&lt;/mo&gt;&lt;mtext&gt;&lt;/mtext&gt;&lt;mfrac&gt;&lt;mn&gt;3&lt;/mn&gt;&lt;mn&gt;16&lt;/mn&gt;&lt;/mfrac&gt;&lt;/math&gt;" id="181" name="Google Shape;181;p21" title="open paren negative 11 over 32 close paren comma 0.125 comma negative 0.375 comma open paren negative 21 over 64 close paren comma one fourth comma 3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25" y="1904096"/>
            <a:ext cx="2784880" cy="362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8}\right),\ \left(-\frac{19}{50}\right),\ 0.38,\ \left(-0.371\right),\ \frac{6}{25},\ \frac{7}{20},\ \left(-0.37\right)&quot;&gt;&lt;mrow data-mjx-texclass=&quot;INNER&quot;&gt;&lt;mo data-mjx-texclass=&quot;OPEN&quot;&gt;(&lt;/mo&gt;&lt;mo&gt;−&lt;/mo&gt;&lt;mfrac&gt;&lt;mn&gt;3&lt;/mn&gt;&lt;mn&gt;8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9&lt;/mn&gt;&lt;mn&gt;50&lt;/mn&gt;&lt;/mfrac&gt;&lt;mo data-mjx-texclass=&quot;CLOSE&quot;&gt;)&lt;/mo&gt;&lt;/mrow&gt;&lt;mo&gt;,&lt;/mo&gt;&lt;mtext&gt;&lt;/mtext&gt;&lt;mn&gt;0.38&lt;/mn&gt;&lt;mo&gt;,&lt;/mo&gt;&lt;mtext&gt;&lt;/mtext&gt;&lt;mrow data-mjx-texclass=&quot;INNER&quot;&gt;&lt;mo data-mjx-texclass=&quot;OPEN&quot;&gt;(&lt;/mo&gt;&lt;mo&gt;−&lt;/mo&gt;&lt;mn&gt;0.371&lt;/mn&gt;&lt;mo data-mjx-texclass=&quot;CLOSE&quot;&gt;)&lt;/mo&gt;&lt;/mrow&gt;&lt;mo&gt;,&lt;/mo&gt;&lt;mtext&gt;&lt;/mtext&gt;&lt;mfrac&gt;&lt;mn&gt;6&lt;/mn&gt;&lt;mn&gt;25&lt;/mn&gt;&lt;/mfrac&gt;&lt;mo&gt;,&lt;/mo&gt;&lt;mtext&gt;&lt;/mtext&gt;&lt;mfrac&gt;&lt;mn&gt;7&lt;/mn&gt;&lt;mn&gt;20&lt;/mn&gt;&lt;/mfrac&gt;&lt;mo&gt;,&lt;/mo&gt;&lt;mtext&gt;&lt;/mtext&gt;&lt;mrow data-mjx-texclass=&quot;INNER&quot;&gt;&lt;mo data-mjx-texclass=&quot;OPEN&quot;&gt;(&lt;/mo&gt;&lt;mo&gt;−&lt;/mo&gt;&lt;mn&gt;0.37&lt;/mn&gt;&lt;mo data-mjx-texclass=&quot;CLOSE&quot;&gt;)&lt;/mo&gt;&lt;/mrow&gt;&lt;/math&gt;" id="182" name="Google Shape;182;p21" title="negative three eighths comma open paren negative 19 over 50 close paren comma 0.38 comma negative 0.371 comma 6 over 25 comma 7 over 20 comma negative 0.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940" y="2489414"/>
            <a:ext cx="3296060" cy="36227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  <p:sp>
        <p:nvSpPr>
          <p:cNvPr id="185" name="Google Shape;18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1"/>
          <p:cNvCxnSpPr/>
          <p:nvPr/>
        </p:nvCxnSpPr>
        <p:spPr>
          <a:xfrm>
            <a:off x="474757" y="30345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1"/>
          <p:cNvSpPr txBox="1"/>
          <p:nvPr/>
        </p:nvSpPr>
        <p:spPr>
          <a:xfrm>
            <a:off x="468000" y="660000"/>
            <a:ext cx="592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 Order positive and negative decimals and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76400" y="13689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76400" y="19785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76400" y="2511900"/>
            <a:ext cx="66240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