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6" Type="http://schemas.openxmlformats.org/officeDocument/2006/relationships/slide" Target="slides/slide32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6b37bdd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6b37bdd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ea6b37bdd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ea6b37bdd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8e2827bf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8e2827bf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1ea6b37bdd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1ea6b37bdd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991c97223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991c97223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1ea6b37bdd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1ea6b37bdd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1ea6b37bdd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1ea6b37bdd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1ea6b37bdd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1ea6b37bdd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991c97223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991c97223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2991c972237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2991c972237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1ea6b37bdd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1ea6b37bdd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1ea6b37bdd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1ea6b37bdd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99a869b4c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299a869b4c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99a869b4c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99a869b4c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1ea6b37bdd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1ea6b37bdd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1ea6b37bdd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1ea6b37bdd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299a869b4c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299a869b4c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9a6bf1bc5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9a6bf1bc5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1ea6b37bdd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1ea6b37bd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1ea6b37bdd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1ea6b37bdd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1ea6b37bdd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1ea6b37bdd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1ea6b37bdd0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1ea6b37bdd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1ea6b37bdd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1ea6b37bdd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1ea6b37bdd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1ea6b37bdd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ea6b37bdd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ea6b37bdd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1ea6b37bdd0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1ea6b37bdd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29a6bf1bc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29a6bf1bc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79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9.png"/><Relationship Id="rId4" Type="http://schemas.openxmlformats.org/officeDocument/2006/relationships/image" Target="../media/image20.png"/><Relationship Id="rId9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9.png"/><Relationship Id="rId4" Type="http://schemas.openxmlformats.org/officeDocument/2006/relationships/image" Target="../media/image31.png"/><Relationship Id="rId11" Type="http://schemas.openxmlformats.org/officeDocument/2006/relationships/image" Target="../media/image21.png"/><Relationship Id="rId10" Type="http://schemas.openxmlformats.org/officeDocument/2006/relationships/image" Target="../media/image38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4.png"/><Relationship Id="rId4" Type="http://schemas.openxmlformats.org/officeDocument/2006/relationships/image" Target="../media/image49.png"/><Relationship Id="rId5" Type="http://schemas.openxmlformats.org/officeDocument/2006/relationships/image" Target="../media/image48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Relationship Id="rId6" Type="http://schemas.openxmlformats.org/officeDocument/2006/relationships/image" Target="../media/image54.png"/><Relationship Id="rId7" Type="http://schemas.openxmlformats.org/officeDocument/2006/relationships/image" Target="../media/image56.png"/><Relationship Id="rId8" Type="http://schemas.openxmlformats.org/officeDocument/2006/relationships/image" Target="../media/image5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Relationship Id="rId5" Type="http://schemas.openxmlformats.org/officeDocument/2006/relationships/image" Target="../media/image57.png"/><Relationship Id="rId6" Type="http://schemas.openxmlformats.org/officeDocument/2006/relationships/image" Target="../media/image54.png"/><Relationship Id="rId7" Type="http://schemas.openxmlformats.org/officeDocument/2006/relationships/image" Target="../media/image56.png"/><Relationship Id="rId8" Type="http://schemas.openxmlformats.org/officeDocument/2006/relationships/image" Target="../media/image5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Relationship Id="rId5" Type="http://schemas.openxmlformats.org/officeDocument/2006/relationships/image" Target="../media/image53.png"/><Relationship Id="rId6" Type="http://schemas.openxmlformats.org/officeDocument/2006/relationships/image" Target="../media/image63.png"/><Relationship Id="rId7" Type="http://schemas.openxmlformats.org/officeDocument/2006/relationships/image" Target="../media/image61.png"/><Relationship Id="rId8" Type="http://schemas.openxmlformats.org/officeDocument/2006/relationships/image" Target="../media/image66.png"/><Relationship Id="rId10" Type="http://schemas.openxmlformats.org/officeDocument/2006/relationships/image" Target="../media/image6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Relationship Id="rId5" Type="http://schemas.openxmlformats.org/officeDocument/2006/relationships/image" Target="../media/image67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1.png"/><Relationship Id="rId4" Type="http://schemas.openxmlformats.org/officeDocument/2006/relationships/image" Target="../media/image74.png"/><Relationship Id="rId5" Type="http://schemas.openxmlformats.org/officeDocument/2006/relationships/image" Target="../media/image78.png"/><Relationship Id="rId6" Type="http://schemas.openxmlformats.org/officeDocument/2006/relationships/image" Target="../media/image7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5.png"/><Relationship Id="rId4" Type="http://schemas.openxmlformats.org/officeDocument/2006/relationships/image" Target="../media/image77.png"/><Relationship Id="rId5" Type="http://schemas.openxmlformats.org/officeDocument/2006/relationships/image" Target="../media/image82.png"/><Relationship Id="rId6" Type="http://schemas.openxmlformats.org/officeDocument/2006/relationships/image" Target="../media/image8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6.png"/><Relationship Id="rId4" Type="http://schemas.openxmlformats.org/officeDocument/2006/relationships/image" Target="../media/image90.png"/><Relationship Id="rId9" Type="http://schemas.openxmlformats.org/officeDocument/2006/relationships/image" Target="../media/image94.png"/><Relationship Id="rId5" Type="http://schemas.openxmlformats.org/officeDocument/2006/relationships/image" Target="../media/image89.png"/><Relationship Id="rId6" Type="http://schemas.openxmlformats.org/officeDocument/2006/relationships/image" Target="../media/image95.png"/><Relationship Id="rId7" Type="http://schemas.openxmlformats.org/officeDocument/2006/relationships/image" Target="../media/image93.png"/><Relationship Id="rId8" Type="http://schemas.openxmlformats.org/officeDocument/2006/relationships/image" Target="../media/image91.png"/><Relationship Id="rId11" Type="http://schemas.openxmlformats.org/officeDocument/2006/relationships/image" Target="../media/image62.png"/><Relationship Id="rId10" Type="http://schemas.openxmlformats.org/officeDocument/2006/relationships/image" Target="../media/image92.png"/><Relationship Id="rId13" Type="http://schemas.openxmlformats.org/officeDocument/2006/relationships/image" Target="../media/image96.png"/><Relationship Id="rId12" Type="http://schemas.openxmlformats.org/officeDocument/2006/relationships/image" Target="../media/image8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1.png"/><Relationship Id="rId4" Type="http://schemas.openxmlformats.org/officeDocument/2006/relationships/image" Target="../media/image94.png"/><Relationship Id="rId5" Type="http://schemas.openxmlformats.org/officeDocument/2006/relationships/image" Target="../media/image9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6.png"/><Relationship Id="rId4" Type="http://schemas.openxmlformats.org/officeDocument/2006/relationships/image" Target="../media/image90.png"/><Relationship Id="rId9" Type="http://schemas.openxmlformats.org/officeDocument/2006/relationships/image" Target="../media/image99.png"/><Relationship Id="rId5" Type="http://schemas.openxmlformats.org/officeDocument/2006/relationships/image" Target="../media/image89.png"/><Relationship Id="rId6" Type="http://schemas.openxmlformats.org/officeDocument/2006/relationships/image" Target="../media/image95.png"/><Relationship Id="rId7" Type="http://schemas.openxmlformats.org/officeDocument/2006/relationships/image" Target="../media/image93.png"/><Relationship Id="rId8" Type="http://schemas.openxmlformats.org/officeDocument/2006/relationships/image" Target="../media/image10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2.png"/><Relationship Id="rId4" Type="http://schemas.openxmlformats.org/officeDocument/2006/relationships/image" Target="../media/image88.png"/><Relationship Id="rId9" Type="http://schemas.openxmlformats.org/officeDocument/2006/relationships/image" Target="../media/image98.png"/><Relationship Id="rId5" Type="http://schemas.openxmlformats.org/officeDocument/2006/relationships/image" Target="../media/image104.png"/><Relationship Id="rId6" Type="http://schemas.openxmlformats.org/officeDocument/2006/relationships/image" Target="../media/image96.png"/><Relationship Id="rId7" Type="http://schemas.openxmlformats.org/officeDocument/2006/relationships/image" Target="../media/image105.png"/><Relationship Id="rId8" Type="http://schemas.openxmlformats.org/officeDocument/2006/relationships/image" Target="../media/image101.png"/><Relationship Id="rId10" Type="http://schemas.openxmlformats.org/officeDocument/2006/relationships/image" Target="../media/image10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0.png"/><Relationship Id="rId4" Type="http://schemas.openxmlformats.org/officeDocument/2006/relationships/image" Target="../media/image55.png"/><Relationship Id="rId5" Type="http://schemas.openxmlformats.org/officeDocument/2006/relationships/image" Target="../media/image103.png"/><Relationship Id="rId6" Type="http://schemas.openxmlformats.org/officeDocument/2006/relationships/image" Target="../media/image112.png"/><Relationship Id="rId7" Type="http://schemas.openxmlformats.org/officeDocument/2006/relationships/image" Target="../media/image108.png"/><Relationship Id="rId8" Type="http://schemas.openxmlformats.org/officeDocument/2006/relationships/image" Target="../media/image10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0.png"/><Relationship Id="rId4" Type="http://schemas.openxmlformats.org/officeDocument/2006/relationships/image" Target="../media/image109.png"/><Relationship Id="rId5" Type="http://schemas.openxmlformats.org/officeDocument/2006/relationships/image" Target="../media/image113.png"/><Relationship Id="rId6" Type="http://schemas.openxmlformats.org/officeDocument/2006/relationships/image" Target="../media/image1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7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 and decimals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order a variety of positive and negative fractions and decimals using appropriate methods of conversion and recognising when conversion to a common format is not required.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absolute value of a number is its distance from zero. E.g. 5 and (-5) are both 5 away from zero and so both have an absolute value of 5.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</a:t>
            </a:r>
            <a:r>
              <a:rPr lang="en-GB"/>
              <a:t>positive</a:t>
            </a:r>
            <a:r>
              <a:rPr lang="en-GB"/>
              <a:t> and negative decimals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positive and negative fractions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 positive and negative decimals and fractions</a:t>
            </a:r>
            <a:endParaRPr/>
          </a:p>
        </p:txBody>
      </p:sp>
      <p:sp>
        <p:nvSpPr>
          <p:cNvPr id="774" name="Google Shape;774;p68"/>
          <p:cNvSpPr txBox="1"/>
          <p:nvPr>
            <p:ph idx="4" type="title"/>
          </p:nvPr>
        </p:nvSpPr>
        <p:spPr>
          <a:xfrm>
            <a:off x="324000" y="810000"/>
            <a:ext cx="6432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 and decimals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97" y="174809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decimals</a:t>
            </a:r>
            <a:endParaRPr/>
          </a:p>
        </p:txBody>
      </p:sp>
      <p:sp>
        <p:nvSpPr>
          <p:cNvPr id="781" name="Google Shape;781;p69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Sam, Jun, Andeep, Izzy and Alex all have a negative balance on their canteen accounts.</a:t>
            </a:r>
            <a:endParaRPr/>
          </a:p>
        </p:txBody>
      </p:sp>
      <p:pic>
        <p:nvPicPr>
          <p:cNvPr id="782" name="Google Shape;78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6250" y="2436612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512" y="3534274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4987" y="317131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69"/>
          <p:cNvSpPr txBox="1"/>
          <p:nvPr/>
        </p:nvSpPr>
        <p:spPr>
          <a:xfrm>
            <a:off x="918088" y="392969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9"/>
          <p:cNvSpPr txBox="1"/>
          <p:nvPr/>
        </p:nvSpPr>
        <p:spPr>
          <a:xfrm>
            <a:off x="5787394" y="33200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9"/>
          <p:cNvSpPr txBox="1"/>
          <p:nvPr/>
        </p:nvSpPr>
        <p:spPr>
          <a:xfrm>
            <a:off x="4548609" y="43868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9"/>
          <p:cNvSpPr txBox="1"/>
          <p:nvPr/>
        </p:nvSpPr>
        <p:spPr>
          <a:xfrm>
            <a:off x="-133206" y="278669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/>
        </p:nvSpPr>
        <p:spPr>
          <a:xfrm>
            <a:off x="7484628" y="236115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3459" y="1574167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7182" y="1923500"/>
            <a:ext cx="705943" cy="1016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2" name="Google Shape;792;p69"/>
          <p:cNvGrpSpPr/>
          <p:nvPr/>
        </p:nvGrpSpPr>
        <p:grpSpPr>
          <a:xfrm>
            <a:off x="1011949" y="1571951"/>
            <a:ext cx="1955326" cy="896101"/>
            <a:chOff x="631953" y="2259150"/>
            <a:chExt cx="1797340" cy="850110"/>
          </a:xfrm>
        </p:grpSpPr>
        <p:pic>
          <p:nvPicPr>
            <p:cNvPr id="793" name="Google Shape;793;p69"/>
            <p:cNvPicPr preferRelativeResize="0"/>
            <p:nvPr/>
          </p:nvPicPr>
          <p:blipFill rotWithShape="1">
            <a:blip r:embed="rId8">
              <a:alphaModFix/>
            </a:blip>
            <a:srcRect b="0" l="0" r="69082" t="56280"/>
            <a:stretch/>
          </p:blipFill>
          <p:spPr>
            <a:xfrm flipH="1">
              <a:off x="631953" y="2259150"/>
              <a:ext cx="1797340" cy="8501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69"/>
            <p:cNvSpPr txBox="1"/>
            <p:nvPr/>
          </p:nvSpPr>
          <p:spPr>
            <a:xfrm flipH="1">
              <a:off x="782681" y="2429180"/>
              <a:ext cx="16038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balance is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(−£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.13)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5" name="Google Shape;795;p69"/>
          <p:cNvGrpSpPr/>
          <p:nvPr/>
        </p:nvGrpSpPr>
        <p:grpSpPr>
          <a:xfrm>
            <a:off x="3182102" y="3513468"/>
            <a:ext cx="1709476" cy="790047"/>
            <a:chOff x="4401257" y="2365554"/>
            <a:chExt cx="1709476" cy="1276741"/>
          </a:xfrm>
        </p:grpSpPr>
        <p:pic>
          <p:nvPicPr>
            <p:cNvPr id="796" name="Google Shape;796;p69"/>
            <p:cNvPicPr preferRelativeResize="0"/>
            <p:nvPr/>
          </p:nvPicPr>
          <p:blipFill rotWithShape="1">
            <a:blip r:embed="rId8">
              <a:alphaModFix/>
            </a:blip>
            <a:srcRect b="0" l="0" r="70143" t="56280"/>
            <a:stretch/>
          </p:blipFill>
          <p:spPr>
            <a:xfrm>
              <a:off x="4401257" y="2365554"/>
              <a:ext cx="1709476" cy="127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69"/>
            <p:cNvSpPr txBox="1"/>
            <p:nvPr/>
          </p:nvSpPr>
          <p:spPr>
            <a:xfrm flipH="1">
              <a:off x="4506932" y="2422870"/>
              <a:ext cx="16038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balance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(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−£2.31)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8" name="Google Shape;798;p69"/>
          <p:cNvGrpSpPr/>
          <p:nvPr/>
        </p:nvGrpSpPr>
        <p:grpSpPr>
          <a:xfrm>
            <a:off x="1845724" y="2571751"/>
            <a:ext cx="1955326" cy="896101"/>
            <a:chOff x="912126" y="2331439"/>
            <a:chExt cx="1797340" cy="850110"/>
          </a:xfrm>
        </p:grpSpPr>
        <p:pic>
          <p:nvPicPr>
            <p:cNvPr id="799" name="Google Shape;799;p69"/>
            <p:cNvPicPr preferRelativeResize="0"/>
            <p:nvPr/>
          </p:nvPicPr>
          <p:blipFill rotWithShape="1">
            <a:blip r:embed="rId8">
              <a:alphaModFix/>
            </a:blip>
            <a:srcRect b="0" l="0" r="69082" t="56280"/>
            <a:stretch/>
          </p:blipFill>
          <p:spPr>
            <a:xfrm flipH="1">
              <a:off x="912126" y="2331439"/>
              <a:ext cx="1797340" cy="8501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0" name="Google Shape;800;p69"/>
            <p:cNvSpPr txBox="1"/>
            <p:nvPr/>
          </p:nvSpPr>
          <p:spPr>
            <a:xfrm flipH="1">
              <a:off x="1062854" y="2501469"/>
              <a:ext cx="16038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balance is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(−£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1.23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)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1" name="Google Shape;801;p69"/>
          <p:cNvGrpSpPr/>
          <p:nvPr/>
        </p:nvGrpSpPr>
        <p:grpSpPr>
          <a:xfrm>
            <a:off x="4522465" y="1805018"/>
            <a:ext cx="1709476" cy="790047"/>
            <a:chOff x="4401257" y="2365554"/>
            <a:chExt cx="1709476" cy="1276741"/>
          </a:xfrm>
        </p:grpSpPr>
        <p:pic>
          <p:nvPicPr>
            <p:cNvPr id="802" name="Google Shape;802;p69"/>
            <p:cNvPicPr preferRelativeResize="0"/>
            <p:nvPr/>
          </p:nvPicPr>
          <p:blipFill rotWithShape="1">
            <a:blip r:embed="rId8">
              <a:alphaModFix/>
            </a:blip>
            <a:srcRect b="0" l="0" r="70143" t="56280"/>
            <a:stretch/>
          </p:blipFill>
          <p:spPr>
            <a:xfrm>
              <a:off x="4401257" y="2365554"/>
              <a:ext cx="1709476" cy="127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3" name="Google Shape;803;p69"/>
            <p:cNvSpPr txBox="1"/>
            <p:nvPr/>
          </p:nvSpPr>
          <p:spPr>
            <a:xfrm flipH="1">
              <a:off x="4506932" y="2422870"/>
              <a:ext cx="16038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balance is (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−£1.32)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4" name="Google Shape;804;p69"/>
          <p:cNvGrpSpPr/>
          <p:nvPr/>
        </p:nvGrpSpPr>
        <p:grpSpPr>
          <a:xfrm>
            <a:off x="6256790" y="1130018"/>
            <a:ext cx="1709476" cy="790047"/>
            <a:chOff x="4401257" y="2365554"/>
            <a:chExt cx="1709476" cy="1276741"/>
          </a:xfrm>
        </p:grpSpPr>
        <p:pic>
          <p:nvPicPr>
            <p:cNvPr id="805" name="Google Shape;805;p69"/>
            <p:cNvPicPr preferRelativeResize="0"/>
            <p:nvPr/>
          </p:nvPicPr>
          <p:blipFill rotWithShape="1">
            <a:blip r:embed="rId8">
              <a:alphaModFix/>
            </a:blip>
            <a:srcRect b="0" l="0" r="70143" t="56280"/>
            <a:stretch/>
          </p:blipFill>
          <p:spPr>
            <a:xfrm>
              <a:off x="4401257" y="2365554"/>
              <a:ext cx="1709476" cy="127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9"/>
            <p:cNvSpPr txBox="1"/>
            <p:nvPr/>
          </p:nvSpPr>
          <p:spPr>
            <a:xfrm flipH="1">
              <a:off x="4506932" y="2422870"/>
              <a:ext cx="16038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balance is (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−£1.35)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70"/>
          <p:cNvSpPr/>
          <p:nvPr/>
        </p:nvSpPr>
        <p:spPr>
          <a:xfrm>
            <a:off x="5474325" y="1927675"/>
            <a:ext cx="1212300" cy="71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70"/>
          <p:cNvSpPr/>
          <p:nvPr/>
        </p:nvSpPr>
        <p:spPr>
          <a:xfrm>
            <a:off x="6906650" y="1927675"/>
            <a:ext cx="1212300" cy="71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/>
          <p:nvPr/>
        </p:nvSpPr>
        <p:spPr>
          <a:xfrm>
            <a:off x="3938075" y="1930200"/>
            <a:ext cx="1212300" cy="71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70"/>
          <p:cNvSpPr/>
          <p:nvPr/>
        </p:nvSpPr>
        <p:spPr>
          <a:xfrm>
            <a:off x="2453788" y="1927675"/>
            <a:ext cx="1212300" cy="71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0"/>
          <p:cNvSpPr/>
          <p:nvPr/>
        </p:nvSpPr>
        <p:spPr>
          <a:xfrm>
            <a:off x="1021400" y="1927675"/>
            <a:ext cx="1212300" cy="71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decimals</a:t>
            </a:r>
            <a:endParaRPr/>
          </a:p>
        </p:txBody>
      </p:sp>
      <p:sp>
        <p:nvSpPr>
          <p:cNvPr id="817" name="Google Shape;817;p70"/>
          <p:cNvSpPr txBox="1"/>
          <p:nvPr>
            <p:ph idx="1" type="body"/>
          </p:nvPr>
        </p:nvSpPr>
        <p:spPr>
          <a:xfrm>
            <a:off x="324000" y="1521300"/>
            <a:ext cx="82377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are the balances: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818" name="Google Shape;818;p70"/>
          <p:cNvSpPr txBox="1"/>
          <p:nvPr>
            <p:ph idx="1" type="body"/>
          </p:nvPr>
        </p:nvSpPr>
        <p:spPr>
          <a:xfrm>
            <a:off x="324000" y="700125"/>
            <a:ext cx="8496000" cy="7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are going to list them in order from who owes the most to who owes the least.</a:t>
            </a:r>
            <a:endParaRPr/>
          </a:p>
        </p:txBody>
      </p:sp>
      <p:sp>
        <p:nvSpPr>
          <p:cNvPr id="819" name="Google Shape;819;p70"/>
          <p:cNvSpPr txBox="1"/>
          <p:nvPr>
            <p:ph idx="1" type="body"/>
          </p:nvPr>
        </p:nvSpPr>
        <p:spPr>
          <a:xfrm>
            <a:off x="2557606" y="1927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(−£1.23)</a:t>
            </a:r>
            <a:endParaRPr/>
          </a:p>
        </p:txBody>
      </p:sp>
      <p:grpSp>
        <p:nvGrpSpPr>
          <p:cNvPr id="820" name="Google Shape;820;p70"/>
          <p:cNvGrpSpPr/>
          <p:nvPr/>
        </p:nvGrpSpPr>
        <p:grpSpPr>
          <a:xfrm>
            <a:off x="692000" y="3155225"/>
            <a:ext cx="7698442" cy="1226125"/>
            <a:chOff x="692000" y="2774225"/>
            <a:chExt cx="7698442" cy="1226125"/>
          </a:xfrm>
        </p:grpSpPr>
        <p:grpSp>
          <p:nvGrpSpPr>
            <p:cNvPr id="821" name="Google Shape;821;p70"/>
            <p:cNvGrpSpPr/>
            <p:nvPr/>
          </p:nvGrpSpPr>
          <p:grpSpPr>
            <a:xfrm>
              <a:off x="851424" y="3518656"/>
              <a:ext cx="7539018" cy="204490"/>
              <a:chOff x="683270" y="2982982"/>
              <a:chExt cx="4148700" cy="204490"/>
            </a:xfrm>
          </p:grpSpPr>
          <p:cxnSp>
            <p:nvCxnSpPr>
              <p:cNvPr id="822" name="Google Shape;822;p70"/>
              <p:cNvCxnSpPr/>
              <p:nvPr/>
            </p:nvCxnSpPr>
            <p:spPr>
              <a:xfrm>
                <a:off x="1028883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3" name="Google Shape;823;p70"/>
              <p:cNvCxnSpPr/>
              <p:nvPr/>
            </p:nvCxnSpPr>
            <p:spPr>
              <a:xfrm>
                <a:off x="1420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" name="Google Shape;824;p70"/>
              <p:cNvCxnSpPr/>
              <p:nvPr/>
            </p:nvCxnSpPr>
            <p:spPr>
              <a:xfrm>
                <a:off x="683270" y="2996610"/>
                <a:ext cx="41487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" name="Google Shape;825;p70"/>
              <p:cNvCxnSpPr/>
              <p:nvPr/>
            </p:nvCxnSpPr>
            <p:spPr>
              <a:xfrm>
                <a:off x="1801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6" name="Google Shape;826;p70"/>
              <p:cNvCxnSpPr/>
              <p:nvPr/>
            </p:nvCxnSpPr>
            <p:spPr>
              <a:xfrm>
                <a:off x="2182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7" name="Google Shape;827;p70"/>
              <p:cNvCxnSpPr/>
              <p:nvPr/>
            </p:nvCxnSpPr>
            <p:spPr>
              <a:xfrm>
                <a:off x="2563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8" name="Google Shape;828;p70"/>
              <p:cNvCxnSpPr/>
              <p:nvPr/>
            </p:nvCxnSpPr>
            <p:spPr>
              <a:xfrm>
                <a:off x="2944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9" name="Google Shape;829;p70"/>
              <p:cNvCxnSpPr/>
              <p:nvPr/>
            </p:nvCxnSpPr>
            <p:spPr>
              <a:xfrm>
                <a:off x="3325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0" name="Google Shape;830;p70"/>
              <p:cNvCxnSpPr/>
              <p:nvPr/>
            </p:nvCxnSpPr>
            <p:spPr>
              <a:xfrm>
                <a:off x="3717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1" name="Google Shape;831;p70"/>
              <p:cNvCxnSpPr/>
              <p:nvPr/>
            </p:nvCxnSpPr>
            <p:spPr>
              <a:xfrm>
                <a:off x="4098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2" name="Google Shape;832;p70"/>
              <p:cNvCxnSpPr/>
              <p:nvPr/>
            </p:nvCxnSpPr>
            <p:spPr>
              <a:xfrm>
                <a:off x="4479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33" name="Google Shape;833;p70"/>
              <p:cNvCxnSpPr/>
              <p:nvPr/>
            </p:nvCxnSpPr>
            <p:spPr>
              <a:xfrm>
                <a:off x="688211" y="298298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34" name="Google Shape;834;p70"/>
            <p:cNvSpPr txBox="1"/>
            <p:nvPr/>
          </p:nvSpPr>
          <p:spPr>
            <a:xfrm>
              <a:off x="4199052" y="3723150"/>
              <a:ext cx="196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5" name="Google Shape;835;p70"/>
            <p:cNvSpPr/>
            <p:nvPr/>
          </p:nvSpPr>
          <p:spPr>
            <a:xfrm>
              <a:off x="692000" y="30591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6" name="Google Shape;836;p70"/>
            <p:cNvSpPr/>
            <p:nvPr/>
          </p:nvSpPr>
          <p:spPr>
            <a:xfrm rot="10800000">
              <a:off x="4489750" y="30591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7" name="Google Shape;837;p70"/>
            <p:cNvSpPr txBox="1"/>
            <p:nvPr/>
          </p:nvSpPr>
          <p:spPr>
            <a:xfrm>
              <a:off x="1212300" y="277422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8" name="Google Shape;838;p70"/>
            <p:cNvSpPr txBox="1"/>
            <p:nvPr/>
          </p:nvSpPr>
          <p:spPr>
            <a:xfrm>
              <a:off x="4519200" y="277422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9" name="Google Shape;839;p70"/>
          <p:cNvSpPr txBox="1"/>
          <p:nvPr>
            <p:ph idx="1" type="body"/>
          </p:nvPr>
        </p:nvSpPr>
        <p:spPr>
          <a:xfrm>
            <a:off x="5526219" y="1927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(−£1.32)</a:t>
            </a:r>
            <a:endParaRPr/>
          </a:p>
        </p:txBody>
      </p:sp>
      <p:sp>
        <p:nvSpPr>
          <p:cNvPr id="840" name="Google Shape;840;p70"/>
          <p:cNvSpPr txBox="1"/>
          <p:nvPr>
            <p:ph idx="1" type="body"/>
          </p:nvPr>
        </p:nvSpPr>
        <p:spPr>
          <a:xfrm>
            <a:off x="4041913" y="1927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(−£2.31)</a:t>
            </a:r>
            <a:endParaRPr/>
          </a:p>
        </p:txBody>
      </p:sp>
      <p:sp>
        <p:nvSpPr>
          <p:cNvPr id="841" name="Google Shape;841;p70"/>
          <p:cNvSpPr txBox="1"/>
          <p:nvPr>
            <p:ph idx="1" type="body"/>
          </p:nvPr>
        </p:nvSpPr>
        <p:spPr>
          <a:xfrm>
            <a:off x="7010525" y="1927825"/>
            <a:ext cx="10836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(−£1.35)</a:t>
            </a:r>
            <a:endParaRPr/>
          </a:p>
        </p:txBody>
      </p:sp>
      <p:sp>
        <p:nvSpPr>
          <p:cNvPr id="842" name="Google Shape;842;p70"/>
          <p:cNvSpPr txBox="1"/>
          <p:nvPr>
            <p:ph idx="1" type="body"/>
          </p:nvPr>
        </p:nvSpPr>
        <p:spPr>
          <a:xfrm>
            <a:off x="1073300" y="1927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(−£2.13)</a:t>
            </a:r>
            <a:endParaRPr/>
          </a:p>
        </p:txBody>
      </p:sp>
      <p:sp>
        <p:nvSpPr>
          <p:cNvPr id="843" name="Google Shape;843;p70"/>
          <p:cNvSpPr txBox="1"/>
          <p:nvPr>
            <p:ph idx="1" type="body"/>
          </p:nvPr>
        </p:nvSpPr>
        <p:spPr>
          <a:xfrm>
            <a:off x="2847194" y="2331475"/>
            <a:ext cx="7134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£1.23</a:t>
            </a:r>
            <a:endParaRPr/>
          </a:p>
        </p:txBody>
      </p:sp>
      <p:sp>
        <p:nvSpPr>
          <p:cNvPr id="844" name="Google Shape;844;p70"/>
          <p:cNvSpPr txBox="1"/>
          <p:nvPr>
            <p:ph idx="1" type="body"/>
          </p:nvPr>
        </p:nvSpPr>
        <p:spPr>
          <a:xfrm>
            <a:off x="5820518" y="2331475"/>
            <a:ext cx="676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£1.32</a:t>
            </a:r>
            <a:endParaRPr/>
          </a:p>
        </p:txBody>
      </p:sp>
      <p:sp>
        <p:nvSpPr>
          <p:cNvPr id="845" name="Google Shape;845;p70"/>
          <p:cNvSpPr txBox="1"/>
          <p:nvPr>
            <p:ph idx="1" type="body"/>
          </p:nvPr>
        </p:nvSpPr>
        <p:spPr>
          <a:xfrm>
            <a:off x="4352456" y="2331475"/>
            <a:ext cx="676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£2.31</a:t>
            </a:r>
            <a:endParaRPr/>
          </a:p>
        </p:txBody>
      </p:sp>
      <p:sp>
        <p:nvSpPr>
          <p:cNvPr id="846" name="Google Shape;846;p70"/>
          <p:cNvSpPr txBox="1"/>
          <p:nvPr>
            <p:ph idx="1" type="body"/>
          </p:nvPr>
        </p:nvSpPr>
        <p:spPr>
          <a:xfrm>
            <a:off x="7288574" y="2331475"/>
            <a:ext cx="8304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£1.35</a:t>
            </a:r>
            <a:endParaRPr/>
          </a:p>
        </p:txBody>
      </p:sp>
      <p:sp>
        <p:nvSpPr>
          <p:cNvPr id="847" name="Google Shape;847;p70"/>
          <p:cNvSpPr txBox="1"/>
          <p:nvPr>
            <p:ph idx="1" type="body"/>
          </p:nvPr>
        </p:nvSpPr>
        <p:spPr>
          <a:xfrm>
            <a:off x="1341932" y="2331475"/>
            <a:ext cx="7134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£2.13</a:t>
            </a:r>
            <a:endParaRPr/>
          </a:p>
        </p:txBody>
      </p:sp>
      <p:sp>
        <p:nvSpPr>
          <p:cNvPr id="848" name="Google Shape;848;p70"/>
          <p:cNvSpPr txBox="1"/>
          <p:nvPr>
            <p:ph idx="1" type="body"/>
          </p:nvPr>
        </p:nvSpPr>
        <p:spPr>
          <a:xfrm>
            <a:off x="1021403" y="4381350"/>
            <a:ext cx="13344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(−£2.31)</a:t>
            </a:r>
            <a:endParaRPr/>
          </a:p>
        </p:txBody>
      </p:sp>
      <p:sp>
        <p:nvSpPr>
          <p:cNvPr id="849" name="Google Shape;849;p70"/>
          <p:cNvSpPr txBox="1"/>
          <p:nvPr>
            <p:ph idx="1" type="body"/>
          </p:nvPr>
        </p:nvSpPr>
        <p:spPr>
          <a:xfrm>
            <a:off x="2540375" y="4381350"/>
            <a:ext cx="12798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(−£2.13)</a:t>
            </a:r>
            <a:endParaRPr/>
          </a:p>
        </p:txBody>
      </p:sp>
      <p:sp>
        <p:nvSpPr>
          <p:cNvPr id="850" name="Google Shape;850;p70"/>
          <p:cNvSpPr txBox="1"/>
          <p:nvPr>
            <p:ph idx="1" type="body"/>
          </p:nvPr>
        </p:nvSpPr>
        <p:spPr>
          <a:xfrm>
            <a:off x="4059349" y="4381350"/>
            <a:ext cx="12123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(−£1.35)</a:t>
            </a:r>
            <a:endParaRPr/>
          </a:p>
        </p:txBody>
      </p:sp>
      <p:sp>
        <p:nvSpPr>
          <p:cNvPr id="851" name="Google Shape;851;p70"/>
          <p:cNvSpPr txBox="1"/>
          <p:nvPr>
            <p:ph idx="1" type="body"/>
          </p:nvPr>
        </p:nvSpPr>
        <p:spPr>
          <a:xfrm>
            <a:off x="5553451" y="4381350"/>
            <a:ext cx="12798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(−£1.32)</a:t>
            </a:r>
            <a:endParaRPr/>
          </a:p>
        </p:txBody>
      </p:sp>
      <p:sp>
        <p:nvSpPr>
          <p:cNvPr id="852" name="Google Shape;852;p70"/>
          <p:cNvSpPr txBox="1"/>
          <p:nvPr>
            <p:ph idx="1" type="body"/>
          </p:nvPr>
        </p:nvSpPr>
        <p:spPr>
          <a:xfrm>
            <a:off x="7072424" y="4381350"/>
            <a:ext cx="12798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(−£1.23)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1"/>
          <p:cNvSpPr/>
          <p:nvPr/>
        </p:nvSpPr>
        <p:spPr>
          <a:xfrm>
            <a:off x="5433809" y="3070675"/>
            <a:ext cx="1212300" cy="71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1"/>
          <p:cNvSpPr/>
          <p:nvPr/>
        </p:nvSpPr>
        <p:spPr>
          <a:xfrm>
            <a:off x="6912766" y="3070675"/>
            <a:ext cx="1212300" cy="71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1"/>
          <p:cNvSpPr/>
          <p:nvPr/>
        </p:nvSpPr>
        <p:spPr>
          <a:xfrm>
            <a:off x="3954851" y="3073200"/>
            <a:ext cx="1212300" cy="71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1"/>
          <p:cNvSpPr/>
          <p:nvPr/>
        </p:nvSpPr>
        <p:spPr>
          <a:xfrm>
            <a:off x="2475894" y="3070675"/>
            <a:ext cx="1212300" cy="71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1"/>
          <p:cNvSpPr/>
          <p:nvPr/>
        </p:nvSpPr>
        <p:spPr>
          <a:xfrm>
            <a:off x="996936" y="3070675"/>
            <a:ext cx="1212300" cy="713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decimals</a:t>
            </a:r>
            <a:endParaRPr/>
          </a:p>
        </p:txBody>
      </p:sp>
      <p:sp>
        <p:nvSpPr>
          <p:cNvPr id="863" name="Google Shape;863;p71"/>
          <p:cNvSpPr txBox="1"/>
          <p:nvPr>
            <p:ph idx="1" type="body"/>
          </p:nvPr>
        </p:nvSpPr>
        <p:spPr>
          <a:xfrm>
            <a:off x="324000" y="700125"/>
            <a:ext cx="84960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Write the following in order from smallest to largest.</a:t>
            </a:r>
            <a:endParaRPr/>
          </a:p>
        </p:txBody>
      </p:sp>
      <p:sp>
        <p:nvSpPr>
          <p:cNvPr id="864" name="Google Shape;864;p71"/>
          <p:cNvSpPr txBox="1"/>
          <p:nvPr>
            <p:ph idx="1" type="body"/>
          </p:nvPr>
        </p:nvSpPr>
        <p:spPr>
          <a:xfrm>
            <a:off x="2557606" y="1165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(−0.057)</a:t>
            </a:r>
            <a:endParaRPr/>
          </a:p>
        </p:txBody>
      </p:sp>
      <p:sp>
        <p:nvSpPr>
          <p:cNvPr id="865" name="Google Shape;865;p71"/>
          <p:cNvSpPr txBox="1"/>
          <p:nvPr>
            <p:ph idx="1" type="body"/>
          </p:nvPr>
        </p:nvSpPr>
        <p:spPr>
          <a:xfrm>
            <a:off x="5526219" y="1165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(−0.51)</a:t>
            </a:r>
            <a:endParaRPr/>
          </a:p>
        </p:txBody>
      </p:sp>
      <p:sp>
        <p:nvSpPr>
          <p:cNvPr id="866" name="Google Shape;866;p71"/>
          <p:cNvSpPr txBox="1"/>
          <p:nvPr>
            <p:ph idx="1" type="body"/>
          </p:nvPr>
        </p:nvSpPr>
        <p:spPr>
          <a:xfrm>
            <a:off x="4041913" y="1165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(−0.571)</a:t>
            </a:r>
            <a:endParaRPr/>
          </a:p>
        </p:txBody>
      </p:sp>
      <p:sp>
        <p:nvSpPr>
          <p:cNvPr id="867" name="Google Shape;867;p71"/>
          <p:cNvSpPr txBox="1"/>
          <p:nvPr>
            <p:ph idx="1" type="body"/>
          </p:nvPr>
        </p:nvSpPr>
        <p:spPr>
          <a:xfrm>
            <a:off x="7010525" y="1165825"/>
            <a:ext cx="10836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(−0.517)</a:t>
            </a:r>
            <a:endParaRPr/>
          </a:p>
        </p:txBody>
      </p:sp>
      <p:sp>
        <p:nvSpPr>
          <p:cNvPr id="868" name="Google Shape;868;p71"/>
          <p:cNvSpPr txBox="1"/>
          <p:nvPr>
            <p:ph idx="1" type="body"/>
          </p:nvPr>
        </p:nvSpPr>
        <p:spPr>
          <a:xfrm>
            <a:off x="1073300" y="1165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(−0.57)</a:t>
            </a:r>
            <a:endParaRPr/>
          </a:p>
        </p:txBody>
      </p:sp>
      <p:sp>
        <p:nvSpPr>
          <p:cNvPr id="869" name="Google Shape;869;p71"/>
          <p:cNvSpPr txBox="1"/>
          <p:nvPr>
            <p:ph idx="1" type="body"/>
          </p:nvPr>
        </p:nvSpPr>
        <p:spPr>
          <a:xfrm>
            <a:off x="2807690" y="3474475"/>
            <a:ext cx="7134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0.057</a:t>
            </a:r>
            <a:endParaRPr/>
          </a:p>
        </p:txBody>
      </p:sp>
      <p:sp>
        <p:nvSpPr>
          <p:cNvPr id="870" name="Google Shape;870;p71"/>
          <p:cNvSpPr txBox="1"/>
          <p:nvPr>
            <p:ph idx="1" type="body"/>
          </p:nvPr>
        </p:nvSpPr>
        <p:spPr>
          <a:xfrm>
            <a:off x="5844981" y="3474475"/>
            <a:ext cx="676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0.51</a:t>
            </a:r>
            <a:endParaRPr/>
          </a:p>
        </p:txBody>
      </p:sp>
      <p:sp>
        <p:nvSpPr>
          <p:cNvPr id="871" name="Google Shape;871;p71"/>
          <p:cNvSpPr txBox="1"/>
          <p:nvPr>
            <p:ph idx="1" type="body"/>
          </p:nvPr>
        </p:nvSpPr>
        <p:spPr>
          <a:xfrm>
            <a:off x="4303521" y="3474475"/>
            <a:ext cx="7980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0.571</a:t>
            </a:r>
            <a:endParaRPr/>
          </a:p>
        </p:txBody>
      </p:sp>
      <p:sp>
        <p:nvSpPr>
          <p:cNvPr id="872" name="Google Shape;872;p71"/>
          <p:cNvSpPr txBox="1"/>
          <p:nvPr>
            <p:ph idx="1" type="body"/>
          </p:nvPr>
        </p:nvSpPr>
        <p:spPr>
          <a:xfrm>
            <a:off x="7361467" y="3474475"/>
            <a:ext cx="7980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0.57</a:t>
            </a:r>
            <a:endParaRPr/>
          </a:p>
        </p:txBody>
      </p:sp>
      <p:sp>
        <p:nvSpPr>
          <p:cNvPr id="873" name="Google Shape;873;p71"/>
          <p:cNvSpPr txBox="1"/>
          <p:nvPr>
            <p:ph idx="1" type="body"/>
          </p:nvPr>
        </p:nvSpPr>
        <p:spPr>
          <a:xfrm>
            <a:off x="1341932" y="3474475"/>
            <a:ext cx="7134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0.517</a:t>
            </a:r>
            <a:endParaRPr/>
          </a:p>
        </p:txBody>
      </p:sp>
      <p:sp>
        <p:nvSpPr>
          <p:cNvPr id="874" name="Google Shape;874;p71"/>
          <p:cNvSpPr txBox="1"/>
          <p:nvPr>
            <p:ph idx="1" type="body"/>
          </p:nvPr>
        </p:nvSpPr>
        <p:spPr>
          <a:xfrm>
            <a:off x="324000" y="1690725"/>
            <a:ext cx="8496000" cy="7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Will we need to do </a:t>
            </a:r>
            <a:r>
              <a:rPr lang="en-GB"/>
              <a:t>anything</a:t>
            </a:r>
            <a:r>
              <a:rPr lang="en-GB"/>
              <a:t> differently because these are not amounts of money?</a:t>
            </a:r>
            <a:endParaRPr/>
          </a:p>
        </p:txBody>
      </p:sp>
      <p:sp>
        <p:nvSpPr>
          <p:cNvPr id="875" name="Google Shape;875;p71"/>
          <p:cNvSpPr txBox="1"/>
          <p:nvPr>
            <p:ph idx="1" type="body"/>
          </p:nvPr>
        </p:nvSpPr>
        <p:spPr>
          <a:xfrm>
            <a:off x="323989" y="2552750"/>
            <a:ext cx="31056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the same applies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6" name="Google Shape;876;p71"/>
          <p:cNvSpPr txBox="1"/>
          <p:nvPr>
            <p:ph idx="1" type="body"/>
          </p:nvPr>
        </p:nvSpPr>
        <p:spPr>
          <a:xfrm>
            <a:off x="2536450" y="3070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(−0.057)</a:t>
            </a:r>
            <a:endParaRPr/>
          </a:p>
        </p:txBody>
      </p:sp>
      <p:sp>
        <p:nvSpPr>
          <p:cNvPr id="877" name="Google Shape;877;p71"/>
          <p:cNvSpPr txBox="1"/>
          <p:nvPr>
            <p:ph idx="1" type="body"/>
          </p:nvPr>
        </p:nvSpPr>
        <p:spPr>
          <a:xfrm>
            <a:off x="5569030" y="3070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(−0.51)</a:t>
            </a:r>
            <a:endParaRPr/>
          </a:p>
        </p:txBody>
      </p:sp>
      <p:sp>
        <p:nvSpPr>
          <p:cNvPr id="878" name="Google Shape;878;p71"/>
          <p:cNvSpPr txBox="1"/>
          <p:nvPr>
            <p:ph idx="1" type="body"/>
          </p:nvPr>
        </p:nvSpPr>
        <p:spPr>
          <a:xfrm>
            <a:off x="4035797" y="3070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(−0.571)</a:t>
            </a:r>
            <a:endParaRPr/>
          </a:p>
        </p:txBody>
      </p:sp>
      <p:sp>
        <p:nvSpPr>
          <p:cNvPr id="879" name="Google Shape;879;p71"/>
          <p:cNvSpPr txBox="1"/>
          <p:nvPr>
            <p:ph idx="1" type="body"/>
          </p:nvPr>
        </p:nvSpPr>
        <p:spPr>
          <a:xfrm>
            <a:off x="7089534" y="3070825"/>
            <a:ext cx="10836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(−0.57)</a:t>
            </a:r>
            <a:endParaRPr/>
          </a:p>
        </p:txBody>
      </p:sp>
      <p:sp>
        <p:nvSpPr>
          <p:cNvPr id="880" name="Google Shape;880;p71"/>
          <p:cNvSpPr txBox="1"/>
          <p:nvPr>
            <p:ph idx="1" type="body"/>
          </p:nvPr>
        </p:nvSpPr>
        <p:spPr>
          <a:xfrm>
            <a:off x="1073300" y="30708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(−0.517)</a:t>
            </a:r>
            <a:endParaRPr/>
          </a:p>
        </p:txBody>
      </p:sp>
      <p:sp>
        <p:nvSpPr>
          <p:cNvPr id="881" name="Google Shape;881;p71"/>
          <p:cNvSpPr txBox="1"/>
          <p:nvPr>
            <p:ph idx="1" type="body"/>
          </p:nvPr>
        </p:nvSpPr>
        <p:spPr>
          <a:xfrm>
            <a:off x="891708" y="4287600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(−0.571)</a:t>
            </a:r>
            <a:endParaRPr/>
          </a:p>
        </p:txBody>
      </p:sp>
      <p:sp>
        <p:nvSpPr>
          <p:cNvPr id="882" name="Google Shape;882;p71"/>
          <p:cNvSpPr txBox="1"/>
          <p:nvPr>
            <p:ph idx="1" type="body"/>
          </p:nvPr>
        </p:nvSpPr>
        <p:spPr>
          <a:xfrm>
            <a:off x="2444275" y="4287600"/>
            <a:ext cx="10836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(−0.57)</a:t>
            </a:r>
            <a:endParaRPr/>
          </a:p>
        </p:txBody>
      </p:sp>
      <p:sp>
        <p:nvSpPr>
          <p:cNvPr id="883" name="Google Shape;883;p71"/>
          <p:cNvSpPr txBox="1"/>
          <p:nvPr>
            <p:ph idx="1" type="body"/>
          </p:nvPr>
        </p:nvSpPr>
        <p:spPr>
          <a:xfrm>
            <a:off x="3971941" y="4287600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(−0.517)</a:t>
            </a:r>
            <a:endParaRPr/>
          </a:p>
        </p:txBody>
      </p:sp>
      <p:sp>
        <p:nvSpPr>
          <p:cNvPr id="884" name="Google Shape;884;p71"/>
          <p:cNvSpPr txBox="1"/>
          <p:nvPr>
            <p:ph idx="1" type="body"/>
          </p:nvPr>
        </p:nvSpPr>
        <p:spPr>
          <a:xfrm>
            <a:off x="5524508" y="4287600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(−0.51)</a:t>
            </a:r>
            <a:endParaRPr/>
          </a:p>
        </p:txBody>
      </p:sp>
      <p:sp>
        <p:nvSpPr>
          <p:cNvPr id="885" name="Google Shape;885;p71"/>
          <p:cNvSpPr txBox="1"/>
          <p:nvPr>
            <p:ph idx="1" type="body"/>
          </p:nvPr>
        </p:nvSpPr>
        <p:spPr>
          <a:xfrm>
            <a:off x="7077075" y="4287600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(−0.057)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decimals</a:t>
            </a:r>
            <a:endParaRPr/>
          </a:p>
        </p:txBody>
      </p:sp>
      <p:sp>
        <p:nvSpPr>
          <p:cNvPr id="891" name="Google Shape;891;p72"/>
          <p:cNvSpPr txBox="1"/>
          <p:nvPr>
            <p:ph idx="1" type="body"/>
          </p:nvPr>
        </p:nvSpPr>
        <p:spPr>
          <a:xfrm>
            <a:off x="324000" y="759300"/>
            <a:ext cx="82377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in order from smallest to largest.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72"/>
          <p:cNvSpPr txBox="1"/>
          <p:nvPr>
            <p:ph idx="1" type="body"/>
          </p:nvPr>
        </p:nvSpPr>
        <p:spPr>
          <a:xfrm>
            <a:off x="2461400" y="1620000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(−35.75)</a:t>
            </a:r>
            <a:endParaRPr/>
          </a:p>
        </p:txBody>
      </p:sp>
      <p:sp>
        <p:nvSpPr>
          <p:cNvPr id="893" name="Google Shape;893;p72"/>
          <p:cNvSpPr txBox="1"/>
          <p:nvPr>
            <p:ph idx="1" type="body"/>
          </p:nvPr>
        </p:nvSpPr>
        <p:spPr>
          <a:xfrm>
            <a:off x="4020275" y="1620000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(−37.75)</a:t>
            </a:r>
            <a:endParaRPr/>
          </a:p>
        </p:txBody>
      </p:sp>
      <p:sp>
        <p:nvSpPr>
          <p:cNvPr id="894" name="Google Shape;894;p72"/>
          <p:cNvSpPr txBox="1"/>
          <p:nvPr>
            <p:ph idx="1" type="body"/>
          </p:nvPr>
        </p:nvSpPr>
        <p:spPr>
          <a:xfrm>
            <a:off x="5579150" y="1620000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(−35.57)</a:t>
            </a:r>
            <a:endParaRPr/>
          </a:p>
        </p:txBody>
      </p:sp>
      <p:sp>
        <p:nvSpPr>
          <p:cNvPr id="895" name="Google Shape;895;p72"/>
          <p:cNvSpPr txBox="1"/>
          <p:nvPr>
            <p:ph idx="1" type="body"/>
          </p:nvPr>
        </p:nvSpPr>
        <p:spPr>
          <a:xfrm>
            <a:off x="7138025" y="1620000"/>
            <a:ext cx="12357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(−37.757)</a:t>
            </a:r>
            <a:endParaRPr/>
          </a:p>
        </p:txBody>
      </p:sp>
      <p:sp>
        <p:nvSpPr>
          <p:cNvPr id="896" name="Google Shape;896;p72"/>
          <p:cNvSpPr txBox="1"/>
          <p:nvPr>
            <p:ph idx="1" type="body"/>
          </p:nvPr>
        </p:nvSpPr>
        <p:spPr>
          <a:xfrm>
            <a:off x="775325" y="1620000"/>
            <a:ext cx="12357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(−35.075)</a:t>
            </a:r>
            <a:endParaRPr/>
          </a:p>
        </p:txBody>
      </p:sp>
      <p:sp>
        <p:nvSpPr>
          <p:cNvPr id="897" name="Google Shape;897;p72"/>
          <p:cNvSpPr txBox="1"/>
          <p:nvPr>
            <p:ph idx="1" type="body"/>
          </p:nvPr>
        </p:nvSpPr>
        <p:spPr>
          <a:xfrm>
            <a:off x="2507538" y="2571750"/>
            <a:ext cx="11190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(−37.75)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8" name="Google Shape;898;p72"/>
          <p:cNvSpPr txBox="1"/>
          <p:nvPr>
            <p:ph idx="1" type="body"/>
          </p:nvPr>
        </p:nvSpPr>
        <p:spPr>
          <a:xfrm>
            <a:off x="4081241" y="2571750"/>
            <a:ext cx="11190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(−35.75)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9" name="Google Shape;899;p72"/>
          <p:cNvSpPr txBox="1"/>
          <p:nvPr>
            <p:ph idx="1" type="body"/>
          </p:nvPr>
        </p:nvSpPr>
        <p:spPr>
          <a:xfrm>
            <a:off x="5654943" y="2571750"/>
            <a:ext cx="11190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(−35.57)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0" name="Google Shape;900;p72"/>
          <p:cNvSpPr txBox="1"/>
          <p:nvPr>
            <p:ph idx="1" type="body"/>
          </p:nvPr>
        </p:nvSpPr>
        <p:spPr>
          <a:xfrm>
            <a:off x="7228646" y="2571750"/>
            <a:ext cx="12474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(−35.075)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1" name="Google Shape;901;p72"/>
          <p:cNvSpPr txBox="1"/>
          <p:nvPr>
            <p:ph idx="1" type="body"/>
          </p:nvPr>
        </p:nvSpPr>
        <p:spPr>
          <a:xfrm>
            <a:off x="805425" y="2571750"/>
            <a:ext cx="12474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(−37.757)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decimals</a:t>
            </a:r>
            <a:endParaRPr/>
          </a:p>
        </p:txBody>
      </p:sp>
      <p:sp>
        <p:nvSpPr>
          <p:cNvPr id="907" name="Google Shape;907;p73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 these numbers from smallest to largest.</a:t>
            </a:r>
            <a:endParaRPr/>
          </a:p>
        </p:txBody>
      </p:sp>
      <p:sp>
        <p:nvSpPr>
          <p:cNvPr id="908" name="Google Shape;908;p73"/>
          <p:cNvSpPr txBox="1"/>
          <p:nvPr>
            <p:ph idx="1" type="body"/>
          </p:nvPr>
        </p:nvSpPr>
        <p:spPr>
          <a:xfrm>
            <a:off x="3508710" y="13944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(−0.084)</a:t>
            </a:r>
            <a:endParaRPr/>
          </a:p>
        </p:txBody>
      </p:sp>
      <p:sp>
        <p:nvSpPr>
          <p:cNvPr id="909" name="Google Shape;909;p73"/>
          <p:cNvSpPr txBox="1"/>
          <p:nvPr>
            <p:ph idx="1" type="body"/>
          </p:nvPr>
        </p:nvSpPr>
        <p:spPr>
          <a:xfrm>
            <a:off x="6251520" y="1394425"/>
            <a:ext cx="784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0.084</a:t>
            </a:r>
            <a:endParaRPr/>
          </a:p>
        </p:txBody>
      </p:sp>
      <p:sp>
        <p:nvSpPr>
          <p:cNvPr id="910" name="Google Shape;910;p73"/>
          <p:cNvSpPr txBox="1"/>
          <p:nvPr>
            <p:ph idx="1" type="body"/>
          </p:nvPr>
        </p:nvSpPr>
        <p:spPr>
          <a:xfrm>
            <a:off x="5127165" y="1394425"/>
            <a:ext cx="6144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0.84</a:t>
            </a:r>
            <a:endParaRPr/>
          </a:p>
        </p:txBody>
      </p:sp>
      <p:sp>
        <p:nvSpPr>
          <p:cNvPr id="911" name="Google Shape;911;p73"/>
          <p:cNvSpPr txBox="1"/>
          <p:nvPr>
            <p:ph idx="1" type="body"/>
          </p:nvPr>
        </p:nvSpPr>
        <p:spPr>
          <a:xfrm>
            <a:off x="7545975" y="1394425"/>
            <a:ext cx="9909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(−0.84)</a:t>
            </a:r>
            <a:endParaRPr/>
          </a:p>
        </p:txBody>
      </p:sp>
      <p:sp>
        <p:nvSpPr>
          <p:cNvPr id="912" name="Google Shape;912;p73"/>
          <p:cNvSpPr txBox="1"/>
          <p:nvPr>
            <p:ph idx="1" type="body"/>
          </p:nvPr>
        </p:nvSpPr>
        <p:spPr>
          <a:xfrm>
            <a:off x="2247255" y="1394425"/>
            <a:ext cx="751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0.804</a:t>
            </a:r>
            <a:endParaRPr/>
          </a:p>
        </p:txBody>
      </p:sp>
      <p:sp>
        <p:nvSpPr>
          <p:cNvPr id="913" name="Google Shape;913;p73"/>
          <p:cNvSpPr txBox="1"/>
          <p:nvPr>
            <p:ph idx="1" type="body"/>
          </p:nvPr>
        </p:nvSpPr>
        <p:spPr>
          <a:xfrm>
            <a:off x="628800" y="13944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(−0.804)</a:t>
            </a:r>
            <a:endParaRPr/>
          </a:p>
        </p:txBody>
      </p:sp>
      <p:sp>
        <p:nvSpPr>
          <p:cNvPr id="914" name="Google Shape;914;p73"/>
          <p:cNvSpPr txBox="1"/>
          <p:nvPr/>
        </p:nvSpPr>
        <p:spPr>
          <a:xfrm>
            <a:off x="-57006" y="383040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5" name="Google Shape;91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182" y="2914100"/>
            <a:ext cx="705943" cy="1016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6" name="Google Shape;916;p73"/>
          <p:cNvGrpSpPr/>
          <p:nvPr/>
        </p:nvGrpSpPr>
        <p:grpSpPr>
          <a:xfrm>
            <a:off x="707124" y="1697064"/>
            <a:ext cx="3426573" cy="1542886"/>
            <a:chOff x="631955" y="2259144"/>
            <a:chExt cx="2869586" cy="850122"/>
          </a:xfrm>
        </p:grpSpPr>
        <p:pic>
          <p:nvPicPr>
            <p:cNvPr id="917" name="Google Shape;917;p73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631955" y="2259144"/>
              <a:ext cx="2869586" cy="8501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73"/>
            <p:cNvSpPr txBox="1"/>
            <p:nvPr/>
          </p:nvSpPr>
          <p:spPr>
            <a:xfrm flipH="1">
              <a:off x="838624" y="2429173"/>
              <a:ext cx="2536800" cy="4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If I have a mixture of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positive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and negative numbers, I like to deal with them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separately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first.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9" name="Google Shape;919;p73"/>
          <p:cNvSpPr txBox="1"/>
          <p:nvPr>
            <p:ph idx="1" type="body"/>
          </p:nvPr>
        </p:nvSpPr>
        <p:spPr>
          <a:xfrm>
            <a:off x="4322550" y="232272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(−0.084)</a:t>
            </a:r>
            <a:endParaRPr/>
          </a:p>
        </p:txBody>
      </p:sp>
      <p:sp>
        <p:nvSpPr>
          <p:cNvPr id="920" name="Google Shape;920;p73"/>
          <p:cNvSpPr txBox="1"/>
          <p:nvPr>
            <p:ph idx="1" type="body"/>
          </p:nvPr>
        </p:nvSpPr>
        <p:spPr>
          <a:xfrm>
            <a:off x="7420672" y="2766375"/>
            <a:ext cx="784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0.084</a:t>
            </a:r>
            <a:endParaRPr/>
          </a:p>
        </p:txBody>
      </p:sp>
      <p:sp>
        <p:nvSpPr>
          <p:cNvPr id="921" name="Google Shape;921;p73"/>
          <p:cNvSpPr txBox="1"/>
          <p:nvPr>
            <p:ph idx="1" type="body"/>
          </p:nvPr>
        </p:nvSpPr>
        <p:spPr>
          <a:xfrm>
            <a:off x="7413978" y="2322725"/>
            <a:ext cx="6144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0.84</a:t>
            </a:r>
            <a:endParaRPr/>
          </a:p>
        </p:txBody>
      </p:sp>
      <p:sp>
        <p:nvSpPr>
          <p:cNvPr id="922" name="Google Shape;922;p73"/>
          <p:cNvSpPr txBox="1"/>
          <p:nvPr>
            <p:ph idx="1" type="body"/>
          </p:nvPr>
        </p:nvSpPr>
        <p:spPr>
          <a:xfrm>
            <a:off x="4322550" y="2766375"/>
            <a:ext cx="9909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(−0.84)</a:t>
            </a:r>
            <a:endParaRPr/>
          </a:p>
        </p:txBody>
      </p:sp>
      <p:sp>
        <p:nvSpPr>
          <p:cNvPr id="923" name="Google Shape;923;p73"/>
          <p:cNvSpPr txBox="1"/>
          <p:nvPr>
            <p:ph idx="1" type="body"/>
          </p:nvPr>
        </p:nvSpPr>
        <p:spPr>
          <a:xfrm>
            <a:off x="7413730" y="1879075"/>
            <a:ext cx="751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0.804</a:t>
            </a:r>
            <a:endParaRPr/>
          </a:p>
        </p:txBody>
      </p:sp>
      <p:sp>
        <p:nvSpPr>
          <p:cNvPr id="924" name="Google Shape;924;p73"/>
          <p:cNvSpPr txBox="1"/>
          <p:nvPr>
            <p:ph idx="1" type="body"/>
          </p:nvPr>
        </p:nvSpPr>
        <p:spPr>
          <a:xfrm>
            <a:off x="4322550" y="1879075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(−0.804)</a:t>
            </a:r>
            <a:endParaRPr/>
          </a:p>
        </p:txBody>
      </p:sp>
      <p:sp>
        <p:nvSpPr>
          <p:cNvPr id="925" name="Google Shape;925;p73"/>
          <p:cNvSpPr txBox="1"/>
          <p:nvPr>
            <p:ph idx="1" type="body"/>
          </p:nvPr>
        </p:nvSpPr>
        <p:spPr>
          <a:xfrm>
            <a:off x="1745145" y="3220800"/>
            <a:ext cx="9909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(−0.84)</a:t>
            </a:r>
            <a:endParaRPr/>
          </a:p>
        </p:txBody>
      </p:sp>
      <p:sp>
        <p:nvSpPr>
          <p:cNvPr id="926" name="Google Shape;926;p73"/>
          <p:cNvSpPr txBox="1"/>
          <p:nvPr>
            <p:ph idx="1" type="body"/>
          </p:nvPr>
        </p:nvSpPr>
        <p:spPr>
          <a:xfrm>
            <a:off x="2957197" y="3220800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(−0.804)</a:t>
            </a:r>
            <a:endParaRPr/>
          </a:p>
        </p:txBody>
      </p:sp>
      <p:sp>
        <p:nvSpPr>
          <p:cNvPr id="927" name="Google Shape;927;p73"/>
          <p:cNvSpPr txBox="1"/>
          <p:nvPr>
            <p:ph idx="1" type="body"/>
          </p:nvPr>
        </p:nvSpPr>
        <p:spPr>
          <a:xfrm>
            <a:off x="4286849" y="3220800"/>
            <a:ext cx="1108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(−0.084)</a:t>
            </a:r>
            <a:endParaRPr/>
          </a:p>
        </p:txBody>
      </p:sp>
      <p:sp>
        <p:nvSpPr>
          <p:cNvPr id="928" name="Google Shape;928;p73"/>
          <p:cNvSpPr txBox="1"/>
          <p:nvPr>
            <p:ph idx="1" type="body"/>
          </p:nvPr>
        </p:nvSpPr>
        <p:spPr>
          <a:xfrm>
            <a:off x="5616500" y="3220800"/>
            <a:ext cx="784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0.084</a:t>
            </a:r>
            <a:endParaRPr/>
          </a:p>
        </p:txBody>
      </p:sp>
      <p:sp>
        <p:nvSpPr>
          <p:cNvPr id="929" name="Google Shape;929;p73"/>
          <p:cNvSpPr txBox="1"/>
          <p:nvPr>
            <p:ph idx="1" type="body"/>
          </p:nvPr>
        </p:nvSpPr>
        <p:spPr>
          <a:xfrm>
            <a:off x="6622152" y="3220800"/>
            <a:ext cx="751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0.804</a:t>
            </a:r>
            <a:endParaRPr/>
          </a:p>
        </p:txBody>
      </p:sp>
      <p:sp>
        <p:nvSpPr>
          <p:cNvPr id="930" name="Google Shape;930;p73"/>
          <p:cNvSpPr txBox="1"/>
          <p:nvPr>
            <p:ph idx="1" type="body"/>
          </p:nvPr>
        </p:nvSpPr>
        <p:spPr>
          <a:xfrm>
            <a:off x="7594803" y="3220800"/>
            <a:ext cx="6144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0.84</a:t>
            </a:r>
            <a:endParaRPr/>
          </a:p>
        </p:txBody>
      </p:sp>
      <p:sp>
        <p:nvSpPr>
          <p:cNvPr id="931" name="Google Shape;931;p73"/>
          <p:cNvSpPr txBox="1"/>
          <p:nvPr>
            <p:ph idx="1" type="body"/>
          </p:nvPr>
        </p:nvSpPr>
        <p:spPr>
          <a:xfrm>
            <a:off x="1684822" y="3678000"/>
            <a:ext cx="2887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you notice?</a:t>
            </a:r>
            <a:endParaRPr/>
          </a:p>
        </p:txBody>
      </p:sp>
      <p:sp>
        <p:nvSpPr>
          <p:cNvPr id="932" name="Google Shape;932;p73"/>
          <p:cNvSpPr txBox="1"/>
          <p:nvPr>
            <p:ph idx="1" type="body"/>
          </p:nvPr>
        </p:nvSpPr>
        <p:spPr>
          <a:xfrm>
            <a:off x="1684825" y="4146000"/>
            <a:ext cx="68520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absolute values decrease as you get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closer to zero and increase when you go past zero.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decimals</a:t>
            </a:r>
            <a:endParaRPr/>
          </a:p>
        </p:txBody>
      </p:sp>
      <p:sp>
        <p:nvSpPr>
          <p:cNvPr id="938" name="Google Shape;938;p74"/>
          <p:cNvSpPr txBox="1"/>
          <p:nvPr>
            <p:ph idx="1" type="body"/>
          </p:nvPr>
        </p:nvSpPr>
        <p:spPr>
          <a:xfrm>
            <a:off x="324000" y="606900"/>
            <a:ext cx="82377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Order these numbers: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9" name="Google Shape;939;p74"/>
          <p:cNvSpPr txBox="1"/>
          <p:nvPr>
            <p:ph idx="1" type="body"/>
          </p:nvPr>
        </p:nvSpPr>
        <p:spPr>
          <a:xfrm>
            <a:off x="2361160" y="937009"/>
            <a:ext cx="5067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13.2</a:t>
            </a:r>
            <a:endParaRPr sz="1800"/>
          </a:p>
        </p:txBody>
      </p:sp>
      <p:sp>
        <p:nvSpPr>
          <p:cNvPr id="940" name="Google Shape;940;p74"/>
          <p:cNvSpPr txBox="1"/>
          <p:nvPr>
            <p:ph idx="1" type="body"/>
          </p:nvPr>
        </p:nvSpPr>
        <p:spPr>
          <a:xfrm>
            <a:off x="3400995" y="937009"/>
            <a:ext cx="919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(−12.3)</a:t>
            </a:r>
            <a:endParaRPr sz="1800"/>
          </a:p>
        </p:txBody>
      </p:sp>
      <p:sp>
        <p:nvSpPr>
          <p:cNvPr id="941" name="Google Shape;941;p74"/>
          <p:cNvSpPr txBox="1"/>
          <p:nvPr>
            <p:ph idx="1" type="body"/>
          </p:nvPr>
        </p:nvSpPr>
        <p:spPr>
          <a:xfrm>
            <a:off x="4853630" y="937009"/>
            <a:ext cx="7389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13.02</a:t>
            </a:r>
            <a:endParaRPr sz="1800"/>
          </a:p>
        </p:txBody>
      </p:sp>
      <p:sp>
        <p:nvSpPr>
          <p:cNvPr id="942" name="Google Shape;942;p74"/>
          <p:cNvSpPr txBox="1"/>
          <p:nvPr>
            <p:ph idx="1" type="body"/>
          </p:nvPr>
        </p:nvSpPr>
        <p:spPr>
          <a:xfrm>
            <a:off x="6125665" y="937009"/>
            <a:ext cx="10527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(−12.03)</a:t>
            </a:r>
            <a:endParaRPr sz="1800"/>
          </a:p>
        </p:txBody>
      </p:sp>
      <p:sp>
        <p:nvSpPr>
          <p:cNvPr id="943" name="Google Shape;943;p74"/>
          <p:cNvSpPr txBox="1"/>
          <p:nvPr>
            <p:ph idx="1" type="body"/>
          </p:nvPr>
        </p:nvSpPr>
        <p:spPr>
          <a:xfrm>
            <a:off x="775325" y="937009"/>
            <a:ext cx="10527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(−13.02)</a:t>
            </a:r>
            <a:endParaRPr sz="1800"/>
          </a:p>
        </p:txBody>
      </p:sp>
      <p:sp>
        <p:nvSpPr>
          <p:cNvPr id="944" name="Google Shape;944;p74"/>
          <p:cNvSpPr txBox="1"/>
          <p:nvPr>
            <p:ph idx="1" type="body"/>
          </p:nvPr>
        </p:nvSpPr>
        <p:spPr>
          <a:xfrm>
            <a:off x="7711500" y="937009"/>
            <a:ext cx="697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12.03</a:t>
            </a:r>
            <a:endParaRPr sz="1800"/>
          </a:p>
        </p:txBody>
      </p:sp>
      <p:sp>
        <p:nvSpPr>
          <p:cNvPr id="945" name="Google Shape;945;p74"/>
          <p:cNvSpPr txBox="1"/>
          <p:nvPr/>
        </p:nvSpPr>
        <p:spPr>
          <a:xfrm>
            <a:off x="7257010" y="254775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6" name="Google Shape;94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5859" y="1815817"/>
            <a:ext cx="777007" cy="8960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7" name="Google Shape;947;p74"/>
          <p:cNvGrpSpPr/>
          <p:nvPr/>
        </p:nvGrpSpPr>
        <p:grpSpPr>
          <a:xfrm>
            <a:off x="6332838" y="1434820"/>
            <a:ext cx="1353563" cy="790047"/>
            <a:chOff x="4401257" y="2365554"/>
            <a:chExt cx="1709476" cy="1276741"/>
          </a:xfrm>
        </p:grpSpPr>
        <p:pic>
          <p:nvPicPr>
            <p:cNvPr id="948" name="Google Shape;948;p74"/>
            <p:cNvPicPr preferRelativeResize="0"/>
            <p:nvPr/>
          </p:nvPicPr>
          <p:blipFill rotWithShape="1">
            <a:blip r:embed="rId4">
              <a:alphaModFix/>
            </a:blip>
            <a:srcRect b="0" l="0" r="70143" t="56280"/>
            <a:stretch/>
          </p:blipFill>
          <p:spPr>
            <a:xfrm>
              <a:off x="4401257" y="2365554"/>
              <a:ext cx="1709476" cy="127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9" name="Google Shape;949;p74"/>
            <p:cNvSpPr txBox="1"/>
            <p:nvPr/>
          </p:nvSpPr>
          <p:spPr>
            <a:xfrm flipH="1">
              <a:off x="4506932" y="2422870"/>
              <a:ext cx="16038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Here is my order.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0" name="Google Shape;950;p74"/>
          <p:cNvSpPr txBox="1"/>
          <p:nvPr>
            <p:ph idx="1" type="body"/>
          </p:nvPr>
        </p:nvSpPr>
        <p:spPr>
          <a:xfrm>
            <a:off x="324000" y="1317198"/>
            <a:ext cx="5801700" cy="12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Alex has ordered the above numbers.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Has he done it correctly?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If you think he hasn’t, what is his mistake?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1" name="Google Shape;951;p74"/>
          <p:cNvSpPr txBox="1"/>
          <p:nvPr>
            <p:ph idx="1" type="body"/>
          </p:nvPr>
        </p:nvSpPr>
        <p:spPr>
          <a:xfrm>
            <a:off x="4588809" y="2486073"/>
            <a:ext cx="5067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13.2</a:t>
            </a:r>
            <a:endParaRPr sz="1800"/>
          </a:p>
        </p:txBody>
      </p:sp>
      <p:sp>
        <p:nvSpPr>
          <p:cNvPr id="952" name="Google Shape;952;p74"/>
          <p:cNvSpPr txBox="1"/>
          <p:nvPr>
            <p:ph idx="1" type="body"/>
          </p:nvPr>
        </p:nvSpPr>
        <p:spPr>
          <a:xfrm>
            <a:off x="1790004" y="2486073"/>
            <a:ext cx="9195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(−12.3)</a:t>
            </a:r>
            <a:endParaRPr sz="1800"/>
          </a:p>
        </p:txBody>
      </p:sp>
      <p:sp>
        <p:nvSpPr>
          <p:cNvPr id="953" name="Google Shape;953;p74"/>
          <p:cNvSpPr txBox="1"/>
          <p:nvPr>
            <p:ph idx="1" type="body"/>
          </p:nvPr>
        </p:nvSpPr>
        <p:spPr>
          <a:xfrm>
            <a:off x="5508811" y="2486073"/>
            <a:ext cx="7389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13.02</a:t>
            </a:r>
            <a:endParaRPr sz="1800"/>
          </a:p>
        </p:txBody>
      </p:sp>
      <p:sp>
        <p:nvSpPr>
          <p:cNvPr id="954" name="Google Shape;954;p74"/>
          <p:cNvSpPr txBox="1"/>
          <p:nvPr>
            <p:ph idx="1" type="body"/>
          </p:nvPr>
        </p:nvSpPr>
        <p:spPr>
          <a:xfrm>
            <a:off x="324002" y="2486073"/>
            <a:ext cx="10527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(−12.03)</a:t>
            </a:r>
            <a:endParaRPr sz="1800"/>
          </a:p>
        </p:txBody>
      </p:sp>
      <p:sp>
        <p:nvSpPr>
          <p:cNvPr id="955" name="Google Shape;955;p74"/>
          <p:cNvSpPr txBox="1"/>
          <p:nvPr>
            <p:ph idx="1" type="body"/>
          </p:nvPr>
        </p:nvSpPr>
        <p:spPr>
          <a:xfrm>
            <a:off x="3122807" y="2486073"/>
            <a:ext cx="10527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(−13.02)</a:t>
            </a:r>
            <a:endParaRPr sz="1800"/>
          </a:p>
        </p:txBody>
      </p:sp>
      <p:sp>
        <p:nvSpPr>
          <p:cNvPr id="956" name="Google Shape;956;p74"/>
          <p:cNvSpPr txBox="1"/>
          <p:nvPr>
            <p:ph idx="1" type="body"/>
          </p:nvPr>
        </p:nvSpPr>
        <p:spPr>
          <a:xfrm>
            <a:off x="6661013" y="2486073"/>
            <a:ext cx="697200" cy="3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12.03</a:t>
            </a:r>
            <a:endParaRPr sz="1800"/>
          </a:p>
        </p:txBody>
      </p:sp>
      <p:sp>
        <p:nvSpPr>
          <p:cNvPr id="957" name="Google Shape;957;p74"/>
          <p:cNvSpPr txBox="1"/>
          <p:nvPr>
            <p:ph idx="1" type="body"/>
          </p:nvPr>
        </p:nvSpPr>
        <p:spPr>
          <a:xfrm>
            <a:off x="354875" y="2840250"/>
            <a:ext cx="7448400" cy="10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he is not right.  Going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towards zero he has listed from the smallest to the largest absolute value and away from zero he has listed them from the largest to smallest absolute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58" name="Google Shape;958;p74"/>
          <p:cNvGrpSpPr/>
          <p:nvPr/>
        </p:nvGrpSpPr>
        <p:grpSpPr>
          <a:xfrm>
            <a:off x="692000" y="3871605"/>
            <a:ext cx="7698442" cy="966945"/>
            <a:chOff x="692000" y="3033405"/>
            <a:chExt cx="7698442" cy="966945"/>
          </a:xfrm>
        </p:grpSpPr>
        <p:grpSp>
          <p:nvGrpSpPr>
            <p:cNvPr id="959" name="Google Shape;959;p74"/>
            <p:cNvGrpSpPr/>
            <p:nvPr/>
          </p:nvGrpSpPr>
          <p:grpSpPr>
            <a:xfrm>
              <a:off x="851424" y="3518656"/>
              <a:ext cx="7539018" cy="204490"/>
              <a:chOff x="683270" y="2982982"/>
              <a:chExt cx="4148700" cy="204490"/>
            </a:xfrm>
          </p:grpSpPr>
          <p:cxnSp>
            <p:nvCxnSpPr>
              <p:cNvPr id="960" name="Google Shape;960;p74"/>
              <p:cNvCxnSpPr/>
              <p:nvPr/>
            </p:nvCxnSpPr>
            <p:spPr>
              <a:xfrm>
                <a:off x="1028883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1" name="Google Shape;961;p74"/>
              <p:cNvCxnSpPr/>
              <p:nvPr/>
            </p:nvCxnSpPr>
            <p:spPr>
              <a:xfrm>
                <a:off x="1420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2" name="Google Shape;962;p74"/>
              <p:cNvCxnSpPr/>
              <p:nvPr/>
            </p:nvCxnSpPr>
            <p:spPr>
              <a:xfrm>
                <a:off x="683270" y="2996610"/>
                <a:ext cx="41487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3" name="Google Shape;963;p74"/>
              <p:cNvCxnSpPr/>
              <p:nvPr/>
            </p:nvCxnSpPr>
            <p:spPr>
              <a:xfrm>
                <a:off x="1801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4" name="Google Shape;964;p74"/>
              <p:cNvCxnSpPr/>
              <p:nvPr/>
            </p:nvCxnSpPr>
            <p:spPr>
              <a:xfrm>
                <a:off x="2182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5" name="Google Shape;965;p74"/>
              <p:cNvCxnSpPr/>
              <p:nvPr/>
            </p:nvCxnSpPr>
            <p:spPr>
              <a:xfrm>
                <a:off x="2563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6" name="Google Shape;966;p74"/>
              <p:cNvCxnSpPr/>
              <p:nvPr/>
            </p:nvCxnSpPr>
            <p:spPr>
              <a:xfrm>
                <a:off x="2944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7" name="Google Shape;967;p74"/>
              <p:cNvCxnSpPr/>
              <p:nvPr/>
            </p:nvCxnSpPr>
            <p:spPr>
              <a:xfrm>
                <a:off x="3325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8" name="Google Shape;968;p74"/>
              <p:cNvCxnSpPr/>
              <p:nvPr/>
            </p:nvCxnSpPr>
            <p:spPr>
              <a:xfrm>
                <a:off x="3717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69" name="Google Shape;969;p74"/>
              <p:cNvCxnSpPr/>
              <p:nvPr/>
            </p:nvCxnSpPr>
            <p:spPr>
              <a:xfrm>
                <a:off x="4098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0" name="Google Shape;970;p74"/>
              <p:cNvCxnSpPr/>
              <p:nvPr/>
            </p:nvCxnSpPr>
            <p:spPr>
              <a:xfrm>
                <a:off x="4479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1" name="Google Shape;971;p74"/>
              <p:cNvCxnSpPr/>
              <p:nvPr/>
            </p:nvCxnSpPr>
            <p:spPr>
              <a:xfrm>
                <a:off x="688211" y="298298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72" name="Google Shape;972;p74"/>
            <p:cNvSpPr txBox="1"/>
            <p:nvPr/>
          </p:nvSpPr>
          <p:spPr>
            <a:xfrm>
              <a:off x="4199052" y="3723150"/>
              <a:ext cx="196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3" name="Google Shape;973;p74"/>
            <p:cNvSpPr/>
            <p:nvPr/>
          </p:nvSpPr>
          <p:spPr>
            <a:xfrm>
              <a:off x="692000" y="32115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4" name="Google Shape;974;p74"/>
            <p:cNvSpPr/>
            <p:nvPr/>
          </p:nvSpPr>
          <p:spPr>
            <a:xfrm rot="10800000">
              <a:off x="4489750" y="32115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5" name="Google Shape;975;p74"/>
            <p:cNvSpPr txBox="1"/>
            <p:nvPr/>
          </p:nvSpPr>
          <p:spPr>
            <a:xfrm>
              <a:off x="1212300" y="303340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6" name="Google Shape;976;p74"/>
            <p:cNvSpPr txBox="1"/>
            <p:nvPr/>
          </p:nvSpPr>
          <p:spPr>
            <a:xfrm>
              <a:off x="4519200" y="303340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75"/>
          <p:cNvSpPr txBox="1"/>
          <p:nvPr>
            <p:ph idx="1" type="body"/>
          </p:nvPr>
        </p:nvSpPr>
        <p:spPr>
          <a:xfrm>
            <a:off x="324000" y="759300"/>
            <a:ext cx="8237700" cy="373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in order from the smallest to the largest.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(−35.075), 37.05, 35.705, (−37.505), (−30.705), 35.057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(−356.9), 354.6, 305.6, (−306.5), (−35.096), 369.5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(−0.203), 2.003, 0.032, (−3.002), (−0.0023), 0.0302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positive and negative decimals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76"/>
          <p:cNvSpPr txBox="1"/>
          <p:nvPr>
            <p:ph idx="1" type="body"/>
          </p:nvPr>
        </p:nvSpPr>
        <p:spPr>
          <a:xfrm>
            <a:off x="360871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in order from the smallest to the largest.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(−35.075), 37.05, 35.705, (−37.505), (−30.705), 35.057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(−37.505), (−35.075), (−30.705), 35.057, 35.705, 37.05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positive and negative decimals</a:t>
            </a:r>
            <a:endParaRPr/>
          </a:p>
        </p:txBody>
      </p:sp>
      <p:sp>
        <p:nvSpPr>
          <p:cNvPr id="989" name="Google Shape;989;p76"/>
          <p:cNvSpPr txBox="1"/>
          <p:nvPr>
            <p:ph idx="1" type="body"/>
          </p:nvPr>
        </p:nvSpPr>
        <p:spPr>
          <a:xfrm>
            <a:off x="360875" y="2467660"/>
            <a:ext cx="8237700" cy="9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 startAt="2"/>
            </a:pPr>
            <a:r>
              <a:rPr lang="en-GB"/>
              <a:t>(−356.9), 354.6, 305.6, (−306.5), (−35.096), 369.5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(−356.9), (−306.5), (−35.096), 305.6, 354.6, 369.5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0" name="Google Shape;990;p76"/>
          <p:cNvSpPr txBox="1"/>
          <p:nvPr>
            <p:ph idx="1" type="body"/>
          </p:nvPr>
        </p:nvSpPr>
        <p:spPr>
          <a:xfrm>
            <a:off x="342435" y="3684400"/>
            <a:ext cx="8237700" cy="55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 startAt="3"/>
            </a:pPr>
            <a:r>
              <a:rPr lang="en-GB"/>
              <a:t>(−0.203), 2.003, 0.032, (−3.002), (−0.0023), 0.0302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(−3.002), (−0.203), (−0.0023), 0.0302, 0.032, 2.003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7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decimals</a:t>
            </a:r>
            <a:endParaRPr/>
          </a:p>
        </p:txBody>
      </p:sp>
      <p:sp>
        <p:nvSpPr>
          <p:cNvPr id="996" name="Google Shape;996;p7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</a:t>
            </a:r>
            <a:endParaRPr/>
          </a:p>
        </p:txBody>
      </p:sp>
      <p:sp>
        <p:nvSpPr>
          <p:cNvPr id="997" name="Google Shape;997;p7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positive and negative decimals and fractions</a:t>
            </a:r>
            <a:endParaRPr/>
          </a:p>
        </p:txBody>
      </p:sp>
      <p:pic>
        <p:nvPicPr>
          <p:cNvPr id="998" name="Google Shape;99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22" y="2766067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77"/>
          <p:cNvSpPr txBox="1"/>
          <p:nvPr>
            <p:ph idx="4" type="title"/>
          </p:nvPr>
        </p:nvSpPr>
        <p:spPr>
          <a:xfrm>
            <a:off x="324000" y="810000"/>
            <a:ext cx="6432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 and decimals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</a:t>
            </a:r>
            <a:endParaRPr/>
          </a:p>
        </p:txBody>
      </p:sp>
      <p:sp>
        <p:nvSpPr>
          <p:cNvPr id="1005" name="Google Shape;1005;p78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Write these fractions in order from smallest to largest.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left(-\frac{3}{4}\right)&quot;&gt;&lt;mrow data-mjx-texclass=&quot;INNER&quot;&gt;&lt;mo data-mjx-texclass=&quot;OPEN&quot;&gt;(&lt;/mo&gt;&lt;mo&gt;−&lt;/mo&gt;&lt;mfrac&gt;&lt;mn&gt;3&lt;/mn&gt;&lt;mn&gt;4&lt;/mn&gt;&lt;/mfrac&gt;&lt;mo data-mjx-texclass=&quot;CLOSE&quot;&gt;)&lt;/mo&gt;&lt;/mrow&gt;&lt;/math&gt;" id="1006" name="Google Shape;1006;p78" title="negative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821" y="1362220"/>
            <a:ext cx="66994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}{2}\right)&quot;&gt;&lt;mrow data-mjx-texclass=&quot;INNER&quot;&gt;&lt;mo data-mjx-texclass=&quot;OPEN&quot;&gt;(&lt;/mo&gt;&lt;mo&gt;−&lt;/mo&gt;&lt;mfrac&gt;&lt;mn&gt;1&lt;/mn&gt;&lt;mn&gt;2&lt;/mn&gt;&lt;/mfrac&gt;&lt;mo data-mjx-texclass=&quot;CLOSE&quot;&gt;)&lt;/mo&gt;&lt;/mrow&gt;&lt;/math&gt;" id="1007" name="Google Shape;1007;p78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012" y="1362220"/>
            <a:ext cx="66994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1\frac{1}{4}\right)&quot;&gt;&lt;mrow data-mjx-texclass=&quot;INNER&quot;&gt;&lt;mo data-mjx-texclass=&quot;OPEN&quot;&gt;(&lt;/mo&gt;&lt;mo&gt;−&lt;/mo&gt;&lt;mn&gt;1&lt;/mn&gt;&lt;mfrac&gt;&lt;mn&gt;1&lt;/mn&gt;&lt;mn&gt;4&lt;/mn&gt;&lt;/mfrac&gt;&lt;mo data-mjx-texclass=&quot;CLOSE&quot;&gt;)&lt;/mo&gt;&lt;/mrow&gt;&lt;/math&gt;" id="1008" name="Google Shape;1008;p78" title="open paren negative 1 and one fourth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0077" y="1362220"/>
            <a:ext cx="79414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009" name="Google Shape;1009;p78" title="one four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3630" y="1362220"/>
            <a:ext cx="161820" cy="515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010" name="Google Shape;1010;p78" title="one fif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97089" y="1362220"/>
            <a:ext cx="158056" cy="508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&quot;&gt;&lt;mn&gt;2&lt;/mn&gt;&lt;mfrac&gt;&lt;mn&gt;1&lt;/mn&gt;&lt;mn&gt;2&lt;/mn&gt;&lt;/mfrac&gt;&lt;/math&gt;" id="1011" name="Google Shape;1011;p78" title="2 and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32388" y="1362220"/>
            <a:ext cx="304823" cy="515567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78"/>
          <p:cNvSpPr txBox="1"/>
          <p:nvPr>
            <p:ph idx="1" type="body"/>
          </p:nvPr>
        </p:nvSpPr>
        <p:spPr>
          <a:xfrm>
            <a:off x="324000" y="2257950"/>
            <a:ext cx="8237700" cy="7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Is it necessary to convert these fractions to be able to order them?</a:t>
            </a:r>
            <a:endParaRPr sz="2100"/>
          </a:p>
        </p:txBody>
      </p:sp>
      <p:sp>
        <p:nvSpPr>
          <p:cNvPr id="1013" name="Google Shape;1013;p78"/>
          <p:cNvSpPr txBox="1"/>
          <p:nvPr>
            <p:ph idx="1" type="body"/>
          </p:nvPr>
        </p:nvSpPr>
        <p:spPr>
          <a:xfrm>
            <a:off x="324000" y="3011400"/>
            <a:ext cx="8237700" cy="7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should know enough about these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fractions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to not have to convert them to be able to order them.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14" name="Google Shape;1014;p78"/>
          <p:cNvGrpSpPr/>
          <p:nvPr/>
        </p:nvGrpSpPr>
        <p:grpSpPr>
          <a:xfrm>
            <a:off x="692000" y="3871605"/>
            <a:ext cx="7698442" cy="966945"/>
            <a:chOff x="692000" y="3033405"/>
            <a:chExt cx="7698442" cy="966945"/>
          </a:xfrm>
        </p:grpSpPr>
        <p:grpSp>
          <p:nvGrpSpPr>
            <p:cNvPr id="1015" name="Google Shape;1015;p78"/>
            <p:cNvGrpSpPr/>
            <p:nvPr/>
          </p:nvGrpSpPr>
          <p:grpSpPr>
            <a:xfrm>
              <a:off x="851424" y="3518656"/>
              <a:ext cx="7539018" cy="204490"/>
              <a:chOff x="683270" y="2982982"/>
              <a:chExt cx="4148700" cy="204490"/>
            </a:xfrm>
          </p:grpSpPr>
          <p:cxnSp>
            <p:nvCxnSpPr>
              <p:cNvPr id="1016" name="Google Shape;1016;p78"/>
              <p:cNvCxnSpPr/>
              <p:nvPr/>
            </p:nvCxnSpPr>
            <p:spPr>
              <a:xfrm>
                <a:off x="1028883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7" name="Google Shape;1017;p78"/>
              <p:cNvCxnSpPr/>
              <p:nvPr/>
            </p:nvCxnSpPr>
            <p:spPr>
              <a:xfrm>
                <a:off x="1420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8" name="Google Shape;1018;p78"/>
              <p:cNvCxnSpPr/>
              <p:nvPr/>
            </p:nvCxnSpPr>
            <p:spPr>
              <a:xfrm>
                <a:off x="683270" y="2996610"/>
                <a:ext cx="41487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9" name="Google Shape;1019;p78"/>
              <p:cNvCxnSpPr/>
              <p:nvPr/>
            </p:nvCxnSpPr>
            <p:spPr>
              <a:xfrm>
                <a:off x="1801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0" name="Google Shape;1020;p78"/>
              <p:cNvCxnSpPr/>
              <p:nvPr/>
            </p:nvCxnSpPr>
            <p:spPr>
              <a:xfrm>
                <a:off x="2182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1" name="Google Shape;1021;p78"/>
              <p:cNvCxnSpPr/>
              <p:nvPr/>
            </p:nvCxnSpPr>
            <p:spPr>
              <a:xfrm>
                <a:off x="2563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2" name="Google Shape;1022;p78"/>
              <p:cNvCxnSpPr/>
              <p:nvPr/>
            </p:nvCxnSpPr>
            <p:spPr>
              <a:xfrm>
                <a:off x="2944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3" name="Google Shape;1023;p78"/>
              <p:cNvCxnSpPr/>
              <p:nvPr/>
            </p:nvCxnSpPr>
            <p:spPr>
              <a:xfrm>
                <a:off x="3325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4" name="Google Shape;1024;p78"/>
              <p:cNvCxnSpPr/>
              <p:nvPr/>
            </p:nvCxnSpPr>
            <p:spPr>
              <a:xfrm>
                <a:off x="3717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5" name="Google Shape;1025;p78"/>
              <p:cNvCxnSpPr/>
              <p:nvPr/>
            </p:nvCxnSpPr>
            <p:spPr>
              <a:xfrm>
                <a:off x="4098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6" name="Google Shape;1026;p78"/>
              <p:cNvCxnSpPr/>
              <p:nvPr/>
            </p:nvCxnSpPr>
            <p:spPr>
              <a:xfrm>
                <a:off x="4479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7" name="Google Shape;1027;p78"/>
              <p:cNvCxnSpPr/>
              <p:nvPr/>
            </p:nvCxnSpPr>
            <p:spPr>
              <a:xfrm>
                <a:off x="688211" y="298298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28" name="Google Shape;1028;p78"/>
            <p:cNvSpPr txBox="1"/>
            <p:nvPr/>
          </p:nvSpPr>
          <p:spPr>
            <a:xfrm>
              <a:off x="4199052" y="3723150"/>
              <a:ext cx="196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9" name="Google Shape;1029;p78"/>
            <p:cNvSpPr/>
            <p:nvPr/>
          </p:nvSpPr>
          <p:spPr>
            <a:xfrm>
              <a:off x="692000" y="32115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0" name="Google Shape;1030;p78"/>
            <p:cNvSpPr/>
            <p:nvPr/>
          </p:nvSpPr>
          <p:spPr>
            <a:xfrm rot="10800000">
              <a:off x="4489750" y="32115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1" name="Google Shape;1031;p78"/>
            <p:cNvSpPr txBox="1"/>
            <p:nvPr/>
          </p:nvSpPr>
          <p:spPr>
            <a:xfrm>
              <a:off x="1212300" y="303340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2" name="Google Shape;1032;p78"/>
            <p:cNvSpPr txBox="1"/>
            <p:nvPr/>
          </p:nvSpPr>
          <p:spPr>
            <a:xfrm>
              <a:off x="4519200" y="303340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</a:t>
            </a:r>
            <a:endParaRPr/>
          </a:p>
        </p:txBody>
      </p:sp>
      <p:sp>
        <p:nvSpPr>
          <p:cNvPr id="1038" name="Google Shape;1038;p79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Write these fractions in order from smallest to largest.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left(-\frac{3}{4}\right)&quot;&gt;&lt;mrow data-mjx-texclass=&quot;INNER&quot;&gt;&lt;mo data-mjx-texclass=&quot;OPEN&quot;&gt;(&lt;/mo&gt;&lt;mo&gt;−&lt;/mo&gt;&lt;mfrac&gt;&lt;mn&gt;3&lt;/mn&gt;&lt;mn&gt;4&lt;/mn&gt;&lt;/mfrac&gt;&lt;mo data-mjx-texclass=&quot;CLOSE&quot;&gt;)&lt;/mo&gt;&lt;/mrow&gt;&lt;/math&gt;" id="1039" name="Google Shape;1039;p79" title="negative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821" y="1362220"/>
            <a:ext cx="66994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}{2}\right)&quot;&gt;&lt;mrow data-mjx-texclass=&quot;INNER&quot;&gt;&lt;mo data-mjx-texclass=&quot;OPEN&quot;&gt;(&lt;/mo&gt;&lt;mo&gt;−&lt;/mo&gt;&lt;mfrac&gt;&lt;mn&gt;1&lt;/mn&gt;&lt;mn&gt;2&lt;/mn&gt;&lt;/mfrac&gt;&lt;mo data-mjx-texclass=&quot;CLOSE&quot;&gt;)&lt;/mo&gt;&lt;/mrow&gt;&lt;/math&gt;" id="1040" name="Google Shape;1040;p79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012" y="1362220"/>
            <a:ext cx="66994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1\frac{1}{4}\right)&quot;&gt;&lt;mrow data-mjx-texclass=&quot;INNER&quot;&gt;&lt;mo data-mjx-texclass=&quot;OPEN&quot;&gt;(&lt;/mo&gt;&lt;mo&gt;−&lt;/mo&gt;&lt;mn&gt;1&lt;/mn&gt;&lt;mfrac&gt;&lt;mn&gt;1&lt;/mn&gt;&lt;mn&gt;4&lt;/mn&gt;&lt;/mfrac&gt;&lt;mo data-mjx-texclass=&quot;CLOSE&quot;&gt;)&lt;/mo&gt;&lt;/mrow&gt;&lt;/math&gt;" id="1041" name="Google Shape;1041;p79" title="open paren negative 1 and one fourth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0077" y="1362220"/>
            <a:ext cx="79414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042" name="Google Shape;1042;p79" title="one four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3630" y="1362220"/>
            <a:ext cx="161820" cy="515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043" name="Google Shape;1043;p79" title="one fif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97089" y="1362220"/>
            <a:ext cx="158056" cy="508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&quot;&gt;&lt;mn&gt;2&lt;/mn&gt;&lt;mfrac&gt;&lt;mn&gt;1&lt;/mn&gt;&lt;mn&gt;2&lt;/mn&gt;&lt;/mfrac&gt;&lt;/math&gt;" id="1044" name="Google Shape;1044;p79" title="2 and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32388" y="1362220"/>
            <a:ext cx="304823" cy="5155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5" name="Google Shape;1045;p79"/>
          <p:cNvGrpSpPr/>
          <p:nvPr/>
        </p:nvGrpSpPr>
        <p:grpSpPr>
          <a:xfrm>
            <a:off x="692000" y="2119005"/>
            <a:ext cx="7698442" cy="966945"/>
            <a:chOff x="692000" y="3033405"/>
            <a:chExt cx="7698442" cy="966945"/>
          </a:xfrm>
        </p:grpSpPr>
        <p:grpSp>
          <p:nvGrpSpPr>
            <p:cNvPr id="1046" name="Google Shape;1046;p79"/>
            <p:cNvGrpSpPr/>
            <p:nvPr/>
          </p:nvGrpSpPr>
          <p:grpSpPr>
            <a:xfrm>
              <a:off x="851424" y="3518656"/>
              <a:ext cx="7539018" cy="204490"/>
              <a:chOff x="683270" y="2982982"/>
              <a:chExt cx="4148700" cy="204490"/>
            </a:xfrm>
          </p:grpSpPr>
          <p:cxnSp>
            <p:nvCxnSpPr>
              <p:cNvPr id="1047" name="Google Shape;1047;p79"/>
              <p:cNvCxnSpPr/>
              <p:nvPr/>
            </p:nvCxnSpPr>
            <p:spPr>
              <a:xfrm>
                <a:off x="1028883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8" name="Google Shape;1048;p79"/>
              <p:cNvCxnSpPr/>
              <p:nvPr/>
            </p:nvCxnSpPr>
            <p:spPr>
              <a:xfrm>
                <a:off x="1420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9" name="Google Shape;1049;p79"/>
              <p:cNvCxnSpPr/>
              <p:nvPr/>
            </p:nvCxnSpPr>
            <p:spPr>
              <a:xfrm>
                <a:off x="683270" y="2996610"/>
                <a:ext cx="41487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0" name="Google Shape;1050;p79"/>
              <p:cNvCxnSpPr/>
              <p:nvPr/>
            </p:nvCxnSpPr>
            <p:spPr>
              <a:xfrm>
                <a:off x="1801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1" name="Google Shape;1051;p79"/>
              <p:cNvCxnSpPr/>
              <p:nvPr/>
            </p:nvCxnSpPr>
            <p:spPr>
              <a:xfrm>
                <a:off x="2182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2" name="Google Shape;1052;p79"/>
              <p:cNvCxnSpPr/>
              <p:nvPr/>
            </p:nvCxnSpPr>
            <p:spPr>
              <a:xfrm>
                <a:off x="2563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3" name="Google Shape;1053;p79"/>
              <p:cNvCxnSpPr/>
              <p:nvPr/>
            </p:nvCxnSpPr>
            <p:spPr>
              <a:xfrm>
                <a:off x="2944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4" name="Google Shape;1054;p79"/>
              <p:cNvCxnSpPr/>
              <p:nvPr/>
            </p:nvCxnSpPr>
            <p:spPr>
              <a:xfrm>
                <a:off x="3325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5" name="Google Shape;1055;p79"/>
              <p:cNvCxnSpPr/>
              <p:nvPr/>
            </p:nvCxnSpPr>
            <p:spPr>
              <a:xfrm>
                <a:off x="3717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6" name="Google Shape;1056;p79"/>
              <p:cNvCxnSpPr/>
              <p:nvPr/>
            </p:nvCxnSpPr>
            <p:spPr>
              <a:xfrm>
                <a:off x="4098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7" name="Google Shape;1057;p79"/>
              <p:cNvCxnSpPr/>
              <p:nvPr/>
            </p:nvCxnSpPr>
            <p:spPr>
              <a:xfrm>
                <a:off x="4479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8" name="Google Shape;1058;p79"/>
              <p:cNvCxnSpPr/>
              <p:nvPr/>
            </p:nvCxnSpPr>
            <p:spPr>
              <a:xfrm>
                <a:off x="688211" y="298298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59" name="Google Shape;1059;p79"/>
            <p:cNvSpPr txBox="1"/>
            <p:nvPr/>
          </p:nvSpPr>
          <p:spPr>
            <a:xfrm>
              <a:off x="4199052" y="3723150"/>
              <a:ext cx="196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0" name="Google Shape;1060;p79"/>
            <p:cNvSpPr/>
            <p:nvPr/>
          </p:nvSpPr>
          <p:spPr>
            <a:xfrm>
              <a:off x="692000" y="32115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1" name="Google Shape;1061;p79"/>
            <p:cNvSpPr/>
            <p:nvPr/>
          </p:nvSpPr>
          <p:spPr>
            <a:xfrm rot="10800000">
              <a:off x="4489750" y="32115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2" name="Google Shape;1062;p79"/>
            <p:cNvSpPr txBox="1"/>
            <p:nvPr/>
          </p:nvSpPr>
          <p:spPr>
            <a:xfrm>
              <a:off x="1212300" y="303340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79"/>
            <p:cNvSpPr txBox="1"/>
            <p:nvPr/>
          </p:nvSpPr>
          <p:spPr>
            <a:xfrm>
              <a:off x="4519200" y="303340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left(-1\frac{1}{4}\right)&quot;&gt;&lt;mrow data-mjx-texclass=&quot;INNER&quot;&gt;&lt;mo data-mjx-texclass=&quot;OPEN&quot;&gt;(&lt;/mo&gt;&lt;mo&gt;−&lt;/mo&gt;&lt;mn&gt;1&lt;/mn&gt;&lt;mfrac&gt;&lt;mn&gt;1&lt;/mn&gt;&lt;mn&gt;4&lt;/mn&gt;&lt;/mfrac&gt;&lt;mo data-mjx-texclass=&quot;CLOSE&quot;&gt;)&lt;/mo&gt;&lt;/mrow&gt;&lt;/math&gt;" id="1064" name="Google Shape;1064;p79" title="open paren negative 1 and one fourth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7477" y="3473245"/>
            <a:ext cx="79414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}{4}\right)&quot;&gt;&lt;mrow data-mjx-texclass=&quot;INNER&quot;&gt;&lt;mo data-mjx-texclass=&quot;OPEN&quot;&gt;(&lt;/mo&gt;&lt;mo&gt;−&lt;/mo&gt;&lt;mfrac&gt;&lt;mn&gt;3&lt;/mn&gt;&lt;mn&gt;4&lt;/mn&gt;&lt;/mfrac&gt;&lt;mo data-mjx-texclass=&quot;CLOSE&quot;&gt;)&lt;/mo&gt;&lt;/mrow&gt;&lt;/math&gt;" id="1065" name="Google Shape;1065;p79" title="negative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123" y="3473245"/>
            <a:ext cx="66994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}{2}\right)&quot;&gt;&lt;mrow data-mjx-texclass=&quot;INNER&quot;&gt;&lt;mo data-mjx-texclass=&quot;OPEN&quot;&gt;(&lt;/mo&gt;&lt;mo&gt;−&lt;/mo&gt;&lt;mfrac&gt;&lt;mn&gt;1&lt;/mn&gt;&lt;mn&gt;2&lt;/mn&gt;&lt;/mfrac&gt;&lt;mo data-mjx-texclass=&quot;CLOSE&quot;&gt;)&lt;/mo&gt;&lt;/mrow&gt;&lt;/math&gt;" id="1066" name="Google Shape;1066;p79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0566" y="3473245"/>
            <a:ext cx="66994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067" name="Google Shape;1067;p79" title="one fif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0010" y="3525983"/>
            <a:ext cx="158056" cy="508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068" name="Google Shape;1068;p79" title="one four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7567" y="3522220"/>
            <a:ext cx="161820" cy="515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}{2}&quot;&gt;&lt;mn&gt;2&lt;/mn&gt;&lt;mfrac&gt;&lt;mn&gt;1&lt;/mn&gt;&lt;mn&gt;2&lt;/mn&gt;&lt;/mfrac&gt;&lt;/math&gt;" id="1069" name="Google Shape;1069;p79" title="2 and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98888" y="3571195"/>
            <a:ext cx="304823" cy="515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</a:t>
            </a:r>
            <a:endParaRPr/>
          </a:p>
        </p:txBody>
      </p:sp>
      <p:sp>
        <p:nvSpPr>
          <p:cNvPr id="1075" name="Google Shape;1075;p80"/>
          <p:cNvSpPr txBox="1"/>
          <p:nvPr>
            <p:ph idx="1" type="body"/>
          </p:nvPr>
        </p:nvSpPr>
        <p:spPr>
          <a:xfrm>
            <a:off x="324000" y="609709"/>
            <a:ext cx="82377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Write these fractions in order from smallest to largest.</a:t>
            </a:r>
            <a:endParaRPr sz="1800"/>
          </a:p>
        </p:txBody>
      </p:sp>
      <p:sp>
        <p:nvSpPr>
          <p:cNvPr id="1076" name="Google Shape;1076;p80"/>
          <p:cNvSpPr txBox="1"/>
          <p:nvPr>
            <p:ph idx="1" type="body"/>
          </p:nvPr>
        </p:nvSpPr>
        <p:spPr>
          <a:xfrm>
            <a:off x="324000" y="1611654"/>
            <a:ext cx="62316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is not quite so obvious with these fractions.</a:t>
            </a:r>
            <a:endParaRPr sz="1800"/>
          </a:p>
        </p:txBody>
      </p:sp>
      <p:sp>
        <p:nvSpPr>
          <p:cNvPr id="1077" name="Google Shape;1077;p80"/>
          <p:cNvSpPr txBox="1"/>
          <p:nvPr>
            <p:ph idx="1" type="body"/>
          </p:nvPr>
        </p:nvSpPr>
        <p:spPr>
          <a:xfrm>
            <a:off x="324000" y="1920754"/>
            <a:ext cx="60237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convert them all into decimals</a:t>
            </a:r>
            <a:r>
              <a:rPr lang="en-GB" sz="1800"/>
              <a:t>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left(-\frac{5}{8}\right)&quot;&gt;&lt;mrow data-mjx-texclass=&quot;INNER&quot;&gt;&lt;mo data-mjx-texclass=&quot;OPEN&quot;&gt;(&lt;/mo&gt;&lt;mo&gt;−&lt;/mo&gt;&lt;mfrac&gt;&lt;mn&gt;5&lt;/mn&gt;&lt;mn&gt;8&lt;/mn&gt;&lt;/mfrac&gt;&lt;mo data-mjx-texclass=&quot;CLOSE&quot;&gt;)&lt;/mo&gt;&lt;/mrow&gt;&lt;/math&gt;" id="1078" name="Google Shape;1078;p80" title="negative fiv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1612" y="918622"/>
            <a:ext cx="686383" cy="628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1}{20}\right)&quot;&gt;&lt;mrow data-mjx-texclass=&quot;INNER&quot;&gt;&lt;mo data-mjx-texclass=&quot;OPEN&quot;&gt;(&lt;/mo&gt;&lt;mo&gt;−&lt;/mo&gt;&lt;mfrac&gt;&lt;mn&gt;11&lt;/mn&gt;&lt;mn&gt;20&lt;/mn&gt;&lt;/mfrac&gt;&lt;mo data-mjx-texclass=&quot;CLOSE&quot;&gt;)&lt;/mo&gt;&lt;/mrow&gt;&lt;/math&gt;" id="1079" name="Google Shape;1079;p80" title="open paren negative 11 over 20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6373" y="918622"/>
            <a:ext cx="813634" cy="628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}{4}\right)&quot;&gt;&lt;mrow data-mjx-texclass=&quot;INNER&quot;&gt;&lt;mo data-mjx-texclass=&quot;OPEN&quot;&gt;(&lt;/mo&gt;&lt;mo&gt;−&lt;/mo&gt;&lt;mfrac&gt;&lt;mn&gt;3&lt;/mn&gt;&lt;mn&gt;4&lt;/mn&gt;&lt;/mfrac&gt;&lt;mo data-mjx-texclass=&quot;CLOSE&quot;&gt;)&lt;/mo&gt;&lt;/mrow&gt;&lt;/math&gt;" id="1080" name="Google Shape;1080;p80" title="negative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3993" y="918622"/>
            <a:ext cx="686383" cy="628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}{5}\right)&quot;&gt;&lt;mrow data-mjx-texclass=&quot;INNER&quot;&gt;&lt;mo data-mjx-texclass=&quot;OPEN&quot;&gt;(&lt;/mo&gt;&lt;mo&gt;−&lt;/mo&gt;&lt;mfrac&gt;&lt;mn&gt;3&lt;/mn&gt;&lt;mn&gt;5&lt;/mn&gt;&lt;/mfrac&gt;&lt;mo data-mjx-texclass=&quot;CLOSE&quot;&gt;)&lt;/mo&gt;&lt;/mrow&gt;&lt;/math&gt;" id="1081" name="Google Shape;1081;p80" title="negative 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5" y="918622"/>
            <a:ext cx="686383" cy="628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5}{8}\right)=\left(-\frac{5\times125}{8\times125}\right)=\left(-\frac{625}{1000}\right)=0.625&quot;&gt;&lt;mrow data-mjx-texclass=&quot;INNER&quot;&gt;&lt;mo data-mjx-texclass=&quot;OPEN&quot;&gt;(&lt;/mo&gt;&lt;mo&gt;−&lt;/mo&gt;&lt;mfrac&gt;&lt;mn&gt;5&lt;/mn&gt;&lt;mn&gt;8&lt;/mn&gt;&lt;/mfrac&gt;&lt;mo data-mjx-texclass=&quot;CLOSE&quot;&gt;)&lt;/mo&gt;&lt;/mrow&gt;&lt;mo&gt;=&lt;/mo&gt;&lt;mrow data-mjx-texclass=&quot;INNER&quot;&gt;&lt;mo data-mjx-texclass=&quot;OPEN&quot;&gt;(&lt;/mo&gt;&lt;mo&gt;−&lt;/mo&gt;&lt;mfrac&gt;&lt;mrow&gt;&lt;mn&gt;5&lt;/mn&gt;&lt;mo&gt;×&lt;/mo&gt;&lt;mn&gt;125&lt;/mn&gt;&lt;/mrow&gt;&lt;mrow&gt;&lt;mn&gt;8&lt;/mn&gt;&lt;mo&gt;×&lt;/mo&gt;&lt;mn&gt;125&lt;/mn&gt;&lt;/mrow&gt;&lt;/mfrac&gt;&lt;mo data-mjx-texclass=&quot;CLOSE&quot;&gt;)&lt;/mo&gt;&lt;/mrow&gt;&lt;mo&gt;=&lt;/mo&gt;&lt;mrow data-mjx-texclass=&quot;INNER&quot;&gt;&lt;mo data-mjx-texclass=&quot;OPEN&quot;&gt;(&lt;/mo&gt;&lt;mo&gt;−&lt;/mo&gt;&lt;mfrac&gt;&lt;mn&gt;625&lt;/mn&gt;&lt;mn&gt;1000&lt;/mn&gt;&lt;/mfrac&gt;&lt;mo data-mjx-texclass=&quot;CLOSE&quot;&gt;)&lt;/mo&gt;&lt;/mrow&gt;&lt;mo&gt;=&lt;/mo&gt;&lt;mn&gt;0.625&lt;/mn&gt;&lt;/math&gt;" id="1082" name="Google Shape;1082;p80" title="negative five eighths equals open paren negative the fraction with numerator 5 times 125 and denominator 8 times 125 close paren equals open paren negative 625 over 1000 close paren equals 0.625"/>
          <p:cNvPicPr preferRelativeResize="0"/>
          <p:nvPr/>
        </p:nvPicPr>
        <p:blipFill rotWithShape="1">
          <a:blip r:embed="rId7">
            <a:alphaModFix/>
          </a:blip>
          <a:srcRect b="0" l="0" r="18287" t="0"/>
          <a:stretch/>
        </p:blipFill>
        <p:spPr>
          <a:xfrm>
            <a:off x="324011" y="2230426"/>
            <a:ext cx="3414875" cy="546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}{4}\right)=\left(-\frac{3\times25}{4\times25}\right)=\left(-\frac{75}{100}\right)=0.75&quot;&gt;&lt;mrow data-mjx-texclass=&quot;INNER&quot;&gt;&lt;mo data-mjx-texclass=&quot;OPEN&quot;&gt;(&lt;/mo&gt;&lt;mo&gt;−&lt;/mo&gt;&lt;mfrac&gt;&lt;mn&gt;3&lt;/mn&gt;&lt;mn&gt;4&lt;/mn&gt;&lt;/mfrac&gt;&lt;mo data-mjx-texclass=&quot;CLOSE&quot;&gt;)&lt;/mo&gt;&lt;/mrow&gt;&lt;mo&gt;=&lt;/mo&gt;&lt;mrow data-mjx-texclass=&quot;INNER&quot;&gt;&lt;mo data-mjx-texclass=&quot;OPEN&quot;&gt;(&lt;/mo&gt;&lt;mo&gt;−&lt;/mo&gt;&lt;mfrac&gt;&lt;mrow&gt;&lt;mn&gt;3&lt;/mn&gt;&lt;mo&gt;×&lt;/mo&gt;&lt;mn&gt;25&lt;/mn&gt;&lt;/mrow&gt;&lt;mrow&gt;&lt;mn&gt;4&lt;/mn&gt;&lt;mo&gt;×&lt;/mo&gt;&lt;mn&gt;25&lt;/mn&gt;&lt;/mrow&gt;&lt;/mfrac&gt;&lt;mo data-mjx-texclass=&quot;CLOSE&quot;&gt;)&lt;/mo&gt;&lt;/mrow&gt;&lt;mo&gt;=&lt;/mo&gt;&lt;mrow data-mjx-texclass=&quot;INNER&quot;&gt;&lt;mo data-mjx-texclass=&quot;OPEN&quot;&gt;(&lt;/mo&gt;&lt;mo&gt;−&lt;/mo&gt;&lt;mfrac&gt;&lt;mn&gt;75&lt;/mn&gt;&lt;mn&gt;100&lt;/mn&gt;&lt;/mfrac&gt;&lt;mo data-mjx-texclass=&quot;CLOSE&quot;&gt;)&lt;/mo&gt;&lt;/mrow&gt;&lt;mo&gt;=&lt;/mo&gt;&lt;mn&gt;0.75&lt;/mn&gt;&lt;/math&gt;" id="1083" name="Google Shape;1083;p80" title="negative three fourths equals open paren negative the fraction with numerator 3 times 25 and denominator 4 times 25 close paren equals open paren negative 75 over 100 close paren equals 0.75"/>
          <p:cNvPicPr preferRelativeResize="0"/>
          <p:nvPr/>
        </p:nvPicPr>
        <p:blipFill rotWithShape="1">
          <a:blip r:embed="rId8">
            <a:alphaModFix/>
          </a:blip>
          <a:srcRect b="0" l="0" r="16464" t="0"/>
          <a:stretch/>
        </p:blipFill>
        <p:spPr>
          <a:xfrm>
            <a:off x="323999" y="3239485"/>
            <a:ext cx="3611261" cy="61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1}{20}\right)=\left(-\frac{11\times5}{20\times5}\right)=\left(-\frac{55}{100}\right)=0.55&quot;&gt;&lt;mrow data-mjx-texclass=&quot;INNER&quot;&gt;&lt;mo data-mjx-texclass=&quot;OPEN&quot;&gt;(&lt;/mo&gt;&lt;mo&gt;−&lt;/mo&gt;&lt;mfrac&gt;&lt;mn&gt;11&lt;/mn&gt;&lt;mn&gt;20&lt;/mn&gt;&lt;/mfrac&gt;&lt;mo data-mjx-texclass=&quot;CLOSE&quot;&gt;)&lt;/mo&gt;&lt;/mrow&gt;&lt;mo&gt;=&lt;/mo&gt;&lt;mrow data-mjx-texclass=&quot;INNER&quot;&gt;&lt;mo data-mjx-texclass=&quot;OPEN&quot;&gt;(&lt;/mo&gt;&lt;mo&gt;−&lt;/mo&gt;&lt;mfrac&gt;&lt;mrow&gt;&lt;mn&gt;11&lt;/mn&gt;&lt;mo&gt;×&lt;/mo&gt;&lt;mn&gt;5&lt;/mn&gt;&lt;/mrow&gt;&lt;mrow&gt;&lt;mn&gt;20&lt;/mn&gt;&lt;mo&gt;×&lt;/mo&gt;&lt;mn&gt;5&lt;/mn&gt;&lt;/mrow&gt;&lt;/mfrac&gt;&lt;mo data-mjx-texclass=&quot;CLOSE&quot;&gt;)&lt;/mo&gt;&lt;/mrow&gt;&lt;mo&gt;=&lt;/mo&gt;&lt;mrow data-mjx-texclass=&quot;INNER&quot;&gt;&lt;mo data-mjx-texclass=&quot;OPEN&quot;&gt;(&lt;/mo&gt;&lt;mo&gt;−&lt;/mo&gt;&lt;mfrac&gt;&lt;mn&gt;55&lt;/mn&gt;&lt;mn&gt;100&lt;/mn&gt;&lt;/mfrac&gt;&lt;mo data-mjx-texclass=&quot;CLOSE&quot;&gt;)&lt;/mo&gt;&lt;/mrow&gt;&lt;mo&gt;=&lt;/mo&gt;&lt;mn&gt;0.55&lt;/mn&gt;&lt;/math&gt;" id="1084" name="Google Shape;1084;p80" title="open paren negative 11 over 20 close paren equals open paren negative the fraction with numerator 11 times 5 and denominator 20 times 5 close paren equals open paren negative 55 over 100 close paren equals 0.55"/>
          <p:cNvPicPr preferRelativeResize="0"/>
          <p:nvPr/>
        </p:nvPicPr>
        <p:blipFill rotWithShape="1">
          <a:blip r:embed="rId9">
            <a:alphaModFix/>
          </a:blip>
          <a:srcRect b="0" l="0" r="16198" t="0"/>
          <a:stretch/>
        </p:blipFill>
        <p:spPr>
          <a:xfrm>
            <a:off x="4684317" y="2180002"/>
            <a:ext cx="3622833" cy="596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}{5}\right)=\left(-\frac{3\times20}{5\times20}\right)=\left(-\frac{60}{100}\right)&quot;&gt;&lt;mrow data-mjx-texclass=&quot;INNER&quot;&gt;&lt;mo data-mjx-texclass=&quot;OPEN&quot;&gt;(&lt;/mo&gt;&lt;mo&gt;−&lt;/mo&gt;&lt;mfrac&gt;&lt;mn&gt;3&lt;/mn&gt;&lt;mn&gt;5&lt;/mn&gt;&lt;/mfrac&gt;&lt;mo data-mjx-texclass=&quot;CLOSE&quot;&gt;)&lt;/mo&gt;&lt;/mrow&gt;&lt;mo&gt;=&lt;/mo&gt;&lt;mrow data-mjx-texclass=&quot;INNER&quot;&gt;&lt;mo data-mjx-texclass=&quot;OPEN&quot;&gt;(&lt;/mo&gt;&lt;mo&gt;−&lt;/mo&gt;&lt;mfrac&gt;&lt;mrow&gt;&lt;mn&gt;3&lt;/mn&gt;&lt;mo&gt;×&lt;/mo&gt;&lt;mn&gt;20&lt;/mn&gt;&lt;/mrow&gt;&lt;mrow&gt;&lt;mn&gt;5&lt;/mn&gt;&lt;mo&gt;×&lt;/mo&gt;&lt;mn&gt;20&lt;/mn&gt;&lt;/mrow&gt;&lt;/mfrac&gt;&lt;mo data-mjx-texclass=&quot;CLOSE&quot;&gt;)&lt;/mo&gt;&lt;/mrow&gt;&lt;mo&gt;=&lt;/mo&gt;&lt;mrow data-mjx-texclass=&quot;INNER&quot;&gt;&lt;mo data-mjx-texclass=&quot;OPEN&quot;&gt;(&lt;/mo&gt;&lt;mo&gt;−&lt;/mo&gt;&lt;mfrac&gt;&lt;mn&gt;60&lt;/mn&gt;&lt;mn&gt;100&lt;/mn&gt;&lt;/mfrac&gt;&lt;mo data-mjx-texclass=&quot;CLOSE&quot;&gt;)&lt;/mo&gt;&lt;/mrow&gt;&lt;/math&gt;" id="1085" name="Google Shape;1085;p80" title="negative three fifths equals open paren negative the fraction with numerator 3 times 20 and denominator 5 times 20 close paren equals open paren negative 60 over 100 close pare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84317" y="3290020"/>
            <a:ext cx="3262313" cy="563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80"/>
          <p:cNvSpPr/>
          <p:nvPr/>
        </p:nvSpPr>
        <p:spPr>
          <a:xfrm>
            <a:off x="2543625" y="2442127"/>
            <a:ext cx="1195500" cy="440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0"/>
          <p:cNvSpPr/>
          <p:nvPr/>
        </p:nvSpPr>
        <p:spPr>
          <a:xfrm>
            <a:off x="1231875" y="2180927"/>
            <a:ext cx="482400" cy="64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0"/>
          <p:cNvSpPr/>
          <p:nvPr/>
        </p:nvSpPr>
        <p:spPr>
          <a:xfrm>
            <a:off x="1687600" y="2437177"/>
            <a:ext cx="778200" cy="46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0"/>
          <p:cNvSpPr/>
          <p:nvPr/>
        </p:nvSpPr>
        <p:spPr>
          <a:xfrm>
            <a:off x="1714275" y="2205401"/>
            <a:ext cx="734400" cy="23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0"/>
          <p:cNvSpPr/>
          <p:nvPr/>
        </p:nvSpPr>
        <p:spPr>
          <a:xfrm>
            <a:off x="2740775" y="2180927"/>
            <a:ext cx="998100" cy="25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0"/>
          <p:cNvSpPr/>
          <p:nvPr/>
        </p:nvSpPr>
        <p:spPr>
          <a:xfrm>
            <a:off x="2570963" y="3470560"/>
            <a:ext cx="1337700" cy="39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0"/>
          <p:cNvSpPr/>
          <p:nvPr/>
        </p:nvSpPr>
        <p:spPr>
          <a:xfrm>
            <a:off x="1355800" y="3221498"/>
            <a:ext cx="544800" cy="64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0"/>
          <p:cNvSpPr/>
          <p:nvPr/>
        </p:nvSpPr>
        <p:spPr>
          <a:xfrm>
            <a:off x="1900600" y="3515035"/>
            <a:ext cx="686400" cy="39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0"/>
          <p:cNvSpPr/>
          <p:nvPr/>
        </p:nvSpPr>
        <p:spPr>
          <a:xfrm>
            <a:off x="1900600" y="3151710"/>
            <a:ext cx="686400" cy="39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0"/>
          <p:cNvSpPr/>
          <p:nvPr/>
        </p:nvSpPr>
        <p:spPr>
          <a:xfrm>
            <a:off x="2787438" y="3070498"/>
            <a:ext cx="1096800" cy="39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0"/>
          <p:cNvSpPr/>
          <p:nvPr/>
        </p:nvSpPr>
        <p:spPr>
          <a:xfrm>
            <a:off x="7069199" y="2397658"/>
            <a:ext cx="1237800" cy="39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0"/>
          <p:cNvSpPr/>
          <p:nvPr/>
        </p:nvSpPr>
        <p:spPr>
          <a:xfrm>
            <a:off x="5774400" y="2148052"/>
            <a:ext cx="686400" cy="64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0"/>
          <p:cNvSpPr/>
          <p:nvPr/>
        </p:nvSpPr>
        <p:spPr>
          <a:xfrm>
            <a:off x="6460800" y="2454802"/>
            <a:ext cx="608400" cy="39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0"/>
          <p:cNvSpPr/>
          <p:nvPr/>
        </p:nvSpPr>
        <p:spPr>
          <a:xfrm>
            <a:off x="6460800" y="2099577"/>
            <a:ext cx="608400" cy="36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0"/>
          <p:cNvSpPr/>
          <p:nvPr/>
        </p:nvSpPr>
        <p:spPr>
          <a:xfrm>
            <a:off x="7069211" y="2006152"/>
            <a:ext cx="1237800" cy="39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0"/>
          <p:cNvSpPr/>
          <p:nvPr/>
        </p:nvSpPr>
        <p:spPr>
          <a:xfrm>
            <a:off x="6840050" y="3515035"/>
            <a:ext cx="1152900" cy="39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0"/>
          <p:cNvSpPr/>
          <p:nvPr/>
        </p:nvSpPr>
        <p:spPr>
          <a:xfrm>
            <a:off x="5606650" y="3246760"/>
            <a:ext cx="544800" cy="64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0"/>
          <p:cNvSpPr/>
          <p:nvPr/>
        </p:nvSpPr>
        <p:spPr>
          <a:xfrm>
            <a:off x="6152538" y="3515035"/>
            <a:ext cx="686400" cy="39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0"/>
          <p:cNvSpPr/>
          <p:nvPr/>
        </p:nvSpPr>
        <p:spPr>
          <a:xfrm>
            <a:off x="6152550" y="3221512"/>
            <a:ext cx="686400" cy="29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0"/>
          <p:cNvSpPr/>
          <p:nvPr/>
        </p:nvSpPr>
        <p:spPr>
          <a:xfrm>
            <a:off x="7002125" y="3123535"/>
            <a:ext cx="998100" cy="391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0"/>
          <p:cNvSpPr txBox="1"/>
          <p:nvPr/>
        </p:nvSpPr>
        <p:spPr>
          <a:xfrm>
            <a:off x="2537699" y="2817927"/>
            <a:ext cx="175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(−0.625)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0"/>
          <p:cNvSpPr txBox="1"/>
          <p:nvPr/>
        </p:nvSpPr>
        <p:spPr>
          <a:xfrm>
            <a:off x="2697605" y="3853310"/>
            <a:ext cx="13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0.75)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0"/>
          <p:cNvSpPr txBox="1"/>
          <p:nvPr/>
        </p:nvSpPr>
        <p:spPr>
          <a:xfrm>
            <a:off x="7116000" y="2817927"/>
            <a:ext cx="119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(−0.55)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0"/>
          <p:cNvSpPr txBox="1"/>
          <p:nvPr/>
        </p:nvSpPr>
        <p:spPr>
          <a:xfrm>
            <a:off x="6840051" y="3823860"/>
            <a:ext cx="99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(−0.6)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-\frac{3}{4}\right)&quot;&gt;&lt;mrow data-mjx-texclass=&quot;INNER&quot;&gt;&lt;mo data-mjx-texclass=&quot;OPEN&quot;&gt;(&lt;/mo&gt;&lt;mo&gt;−&lt;/mo&gt;&lt;mfrac&gt;&lt;mn&gt;3&lt;/mn&gt;&lt;mn&gt;4&lt;/mn&gt;&lt;/mfrac&gt;&lt;mo data-mjx-texclass=&quot;CLOSE&quot;&gt;)&lt;/mo&gt;&lt;/mrow&gt;&lt;/math&gt;" id="1110" name="Google Shape;1110;p80" title="negative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5288" y="4241919"/>
            <a:ext cx="639020" cy="585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5}{8}\right)&quot;&gt;&lt;mrow data-mjx-texclass=&quot;INNER&quot;&gt;&lt;mo data-mjx-texclass=&quot;OPEN&quot;&gt;(&lt;/mo&gt;&lt;mo&gt;−&lt;/mo&gt;&lt;mfrac&gt;&lt;mn&gt;5&lt;/mn&gt;&lt;mn&gt;8&lt;/mn&gt;&lt;/mfrac&gt;&lt;mo data-mjx-texclass=&quot;CLOSE&quot;&gt;)&lt;/mo&gt;&lt;/mrow&gt;&lt;/math&gt;" id="1111" name="Google Shape;1111;p80" title="negative fiv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112" y="4241919"/>
            <a:ext cx="639020" cy="585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}{5}\right)&quot;&gt;&lt;mrow data-mjx-texclass=&quot;INNER&quot;&gt;&lt;mo data-mjx-texclass=&quot;OPEN&quot;&gt;(&lt;/mo&gt;&lt;mo&gt;−&lt;/mo&gt;&lt;mfrac&gt;&lt;mn&gt;3&lt;/mn&gt;&lt;mn&gt;5&lt;/mn&gt;&lt;/mfrac&gt;&lt;mo data-mjx-texclass=&quot;CLOSE&quot;&gt;)&lt;/mo&gt;&lt;/mrow&gt;&lt;/math&gt;" id="1112" name="Google Shape;1112;p80" title="negative 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6936" y="4241919"/>
            <a:ext cx="639020" cy="585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1}{20}\right)&quot;&gt;&lt;mrow data-mjx-texclass=&quot;INNER&quot;&gt;&lt;mo data-mjx-texclass=&quot;OPEN&quot;&gt;(&lt;/mo&gt;&lt;mo&gt;−&lt;/mo&gt;&lt;mfrac&gt;&lt;mn&gt;11&lt;/mn&gt;&lt;mn&gt;20&lt;/mn&gt;&lt;/mfrac&gt;&lt;mo data-mjx-texclass=&quot;CLOSE&quot;&gt;)&lt;/mo&gt;&lt;/mrow&gt;&lt;/math&gt;" id="1113" name="Google Shape;1113;p80" title="open paren negative 11 over 20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7760" y="4241919"/>
            <a:ext cx="757491" cy="585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</a:t>
            </a:r>
            <a:endParaRPr/>
          </a:p>
        </p:txBody>
      </p:sp>
      <p:sp>
        <p:nvSpPr>
          <p:cNvPr id="1119" name="Google Shape;1119;p81"/>
          <p:cNvSpPr txBox="1"/>
          <p:nvPr>
            <p:ph idx="1" type="body"/>
          </p:nvPr>
        </p:nvSpPr>
        <p:spPr>
          <a:xfrm>
            <a:off x="324000" y="606900"/>
            <a:ext cx="82377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Write these fractions in order from smallest to largest.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left(-\frac{2}{3}\right)&quot;&gt;&lt;mrow data-mjx-texclass=&quot;INNER&quot;&gt;&lt;mo data-mjx-texclass=&quot;OPEN&quot;&gt;(&lt;/mo&gt;&lt;mo&gt;−&lt;/mo&gt;&lt;mfrac&gt;&lt;mn&gt;2&lt;/mn&gt;&lt;mn&gt;3&lt;/mn&gt;&lt;/mfrac&gt;&lt;mo data-mjx-texclass=&quot;CLOSE&quot;&gt;)&lt;/mo&gt;&lt;/mrow&gt;&lt;/math&gt;" id="1120" name="Google Shape;1120;p81" title="negative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788" y="867483"/>
            <a:ext cx="611038" cy="5595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8}{9}\right)&quot;&gt;&lt;mrow data-mjx-texclass=&quot;INNER&quot;&gt;&lt;mo data-mjx-texclass=&quot;OPEN&quot;&gt;(&lt;/mo&gt;&lt;mo&gt;−&lt;/mo&gt;&lt;mfrac&gt;&lt;mn&gt;8&lt;/mn&gt;&lt;mn&gt;9&lt;/mn&gt;&lt;/mfrac&gt;&lt;mo data-mjx-texclass=&quot;CLOSE&quot;&gt;)&lt;/mo&gt;&lt;/mrow&gt;&lt;/math&gt;" id="1121" name="Google Shape;1121;p81" title="negative eight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8155" y="867483"/>
            <a:ext cx="611038" cy="5595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5}{6}\right)&quot;&gt;&lt;mrow data-mjx-texclass=&quot;INNER&quot;&gt;&lt;mo data-mjx-texclass=&quot;OPEN&quot;&gt;(&lt;/mo&gt;&lt;mo&gt;−&lt;/mo&gt;&lt;mfrac&gt;&lt;mn&gt;5&lt;/mn&gt;&lt;mn&gt;6&lt;/mn&gt;&lt;/mfrac&gt;&lt;mo data-mjx-texclass=&quot;CLOSE&quot;&gt;)&lt;/mo&gt;&lt;/mrow&gt;&lt;/math&gt;" id="1122" name="Google Shape;1122;p81" title="negative 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7444" y="867483"/>
            <a:ext cx="611038" cy="5595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1}{18}\right)&quot;&gt;&lt;mrow data-mjx-texclass=&quot;INNER&quot;&gt;&lt;mo data-mjx-texclass=&quot;OPEN&quot;&gt;(&lt;/mo&gt;&lt;mo&gt;−&lt;/mo&gt;&lt;mfrac&gt;&lt;mn&gt;11&lt;/mn&gt;&lt;mn&gt;18&lt;/mn&gt;&lt;/mfrac&gt;&lt;mo data-mjx-texclass=&quot;CLOSE&quot;&gt;)&lt;/mo&gt;&lt;/mrow&gt;&lt;/math&gt;" id="1123" name="Google Shape;1123;p81" title="open paren negative 11 over 18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1521" y="867483"/>
            <a:ext cx="724320" cy="559542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81"/>
          <p:cNvSpPr txBox="1"/>
          <p:nvPr>
            <p:ph idx="1" type="body"/>
          </p:nvPr>
        </p:nvSpPr>
        <p:spPr>
          <a:xfrm>
            <a:off x="324000" y="1444214"/>
            <a:ext cx="68067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Will </a:t>
            </a:r>
            <a:r>
              <a:rPr lang="en-GB" sz="1800"/>
              <a:t>changing them into decimals be helpful here?</a:t>
            </a:r>
            <a:endParaRPr sz="1800"/>
          </a:p>
        </p:txBody>
      </p:sp>
      <p:sp>
        <p:nvSpPr>
          <p:cNvPr id="1125" name="Google Shape;1125;p81"/>
          <p:cNvSpPr txBox="1"/>
          <p:nvPr>
            <p:ph idx="1" type="body"/>
          </p:nvPr>
        </p:nvSpPr>
        <p:spPr>
          <a:xfrm>
            <a:off x="324000" y="1790914"/>
            <a:ext cx="8496000" cy="70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would end up with some recurring decimals, so not such a good method for these fractions.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6" name="Google Shape;1126;p81"/>
          <p:cNvSpPr txBox="1"/>
          <p:nvPr>
            <p:ph idx="1" type="body"/>
          </p:nvPr>
        </p:nvSpPr>
        <p:spPr>
          <a:xfrm>
            <a:off x="324000" y="2481114"/>
            <a:ext cx="41277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LCM of 3, 9, 18 and 6 is 18.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left(-\frac{2}{3}\right)=\left(-\frac{2\times6}{3\times6}\right)=\left(-\frac{12}{18}\right)&quot;&gt;&lt;mrow data-mjx-texclass=&quot;INNER&quot;&gt;&lt;mo data-mjx-texclass=&quot;OPEN&quot;&gt;(&lt;/mo&gt;&lt;mo&gt;−&lt;/mo&gt;&lt;mfrac&gt;&lt;mn&gt;2&lt;/mn&gt;&lt;mn&gt;3&lt;/mn&gt;&lt;/mfrac&gt;&lt;mo data-mjx-texclass=&quot;CLOSE&quot;&gt;)&lt;/mo&gt;&lt;/mrow&gt;&lt;mo&gt;=&lt;/mo&gt;&lt;mrow data-mjx-texclass=&quot;INNER&quot;&gt;&lt;mo data-mjx-texclass=&quot;OPEN&quot;&gt;(&lt;/mo&gt;&lt;mo&gt;−&lt;/mo&gt;&lt;mfrac&gt;&lt;mrow&gt;&lt;mn&gt;2&lt;/mn&gt;&lt;mo&gt;×&lt;/mo&gt;&lt;mn&gt;6&lt;/mn&gt;&lt;/mrow&gt;&lt;mrow&gt;&lt;mn&gt;3&lt;/mn&gt;&lt;mo&gt;×&lt;/mo&gt;&lt;mn&gt;6&lt;/mn&gt;&lt;/mrow&gt;&lt;/mfrac&gt;&lt;mo data-mjx-texclass=&quot;CLOSE&quot;&gt;)&lt;/mo&gt;&lt;/mrow&gt;&lt;mo&gt;=&lt;/mo&gt;&lt;mrow data-mjx-texclass=&quot;INNER&quot;&gt;&lt;mo data-mjx-texclass=&quot;OPEN&quot;&gt;(&lt;/mo&gt;&lt;mo&gt;−&lt;/mo&gt;&lt;mfrac&gt;&lt;mn&gt;12&lt;/mn&gt;&lt;mn&gt;18&lt;/mn&gt;&lt;/mfrac&gt;&lt;mo data-mjx-texclass=&quot;CLOSE&quot;&gt;)&lt;/mo&gt;&lt;/mrow&gt;&lt;/math&gt;" id="1127" name="Google Shape;1127;p81" title="negative two thirds equals open paren negative the fraction with numerator 2 times 6 and denominator 3 times 6 close paren equals open paren negative 12 over 18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8800" y="3600290"/>
            <a:ext cx="3098087" cy="575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8}{9}\right)=\left(-\frac{8\times2}{9\times2}\right)=\left(-\frac{16}{18}\right)&quot;&gt;&lt;mrow data-mjx-texclass=&quot;INNER&quot;&gt;&lt;mo data-mjx-texclass=&quot;OPEN&quot;&gt;(&lt;/mo&gt;&lt;mo&gt;−&lt;/mo&gt;&lt;mfrac&gt;&lt;mn&gt;8&lt;/mn&gt;&lt;mn&gt;9&lt;/mn&gt;&lt;/mfrac&gt;&lt;mo data-mjx-texclass=&quot;CLOSE&quot;&gt;)&lt;/mo&gt;&lt;/mrow&gt;&lt;mo&gt;=&lt;/mo&gt;&lt;mrow data-mjx-texclass=&quot;INNER&quot;&gt;&lt;mo data-mjx-texclass=&quot;OPEN&quot;&gt;(&lt;/mo&gt;&lt;mo&gt;−&lt;/mo&gt;&lt;mfrac&gt;&lt;mrow&gt;&lt;mn&gt;8&lt;/mn&gt;&lt;mo&gt;×&lt;/mo&gt;&lt;mn&gt;2&lt;/mn&gt;&lt;/mrow&gt;&lt;mrow&gt;&lt;mn&gt;9&lt;/mn&gt;&lt;mo&gt;×&lt;/mo&gt;&lt;mn&gt;2&lt;/mn&gt;&lt;/mrow&gt;&lt;/mfrac&gt;&lt;mo data-mjx-texclass=&quot;CLOSE&quot;&gt;)&lt;/mo&gt;&lt;/mrow&gt;&lt;mo&gt;=&lt;/mo&gt;&lt;mrow data-mjx-texclass=&quot;INNER&quot;&gt;&lt;mo data-mjx-texclass=&quot;OPEN&quot;&gt;(&lt;/mo&gt;&lt;mo&gt;−&lt;/mo&gt;&lt;mfrac&gt;&lt;mn&gt;16&lt;/mn&gt;&lt;mn&gt;18&lt;/mn&gt;&lt;/mfrac&gt;&lt;mo data-mjx-texclass=&quot;CLOSE&quot;&gt;)&lt;/mo&gt;&lt;/mrow&gt;&lt;/math&gt;" id="1128" name="Google Shape;1128;p81" title="negative eight ninths equals open paren negative the fraction with numerator 8 times 2 and denominator 9 times 2 close paren equals open paren negative 16 over 18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2214" y="3600288"/>
            <a:ext cx="3098087" cy="575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5}{6}\right)=\left(-\frac{5\times3}{6\times3}\right)=\left(-\frac{15}{18}\right)&quot;&gt;&lt;mrow data-mjx-texclass=&quot;INNER&quot;&gt;&lt;mo data-mjx-texclass=&quot;OPEN&quot;&gt;(&lt;/mo&gt;&lt;mo&gt;−&lt;/mo&gt;&lt;mfrac&gt;&lt;mn&gt;5&lt;/mn&gt;&lt;mn&gt;6&lt;/mn&gt;&lt;/mfrac&gt;&lt;mo data-mjx-texclass=&quot;CLOSE&quot;&gt;)&lt;/mo&gt;&lt;/mrow&gt;&lt;mo&gt;=&lt;/mo&gt;&lt;mrow data-mjx-texclass=&quot;INNER&quot;&gt;&lt;mo data-mjx-texclass=&quot;OPEN&quot;&gt;(&lt;/mo&gt;&lt;mo&gt;−&lt;/mo&gt;&lt;mfrac&gt;&lt;mrow&gt;&lt;mn&gt;5&lt;/mn&gt;&lt;mo&gt;×&lt;/mo&gt;&lt;mn&gt;3&lt;/mn&gt;&lt;/mrow&gt;&lt;mrow&gt;&lt;mn&gt;6&lt;/mn&gt;&lt;mo&gt;×&lt;/mo&gt;&lt;mn&gt;3&lt;/mn&gt;&lt;/mrow&gt;&lt;/mfrac&gt;&lt;mo data-mjx-texclass=&quot;CLOSE&quot;&gt;)&lt;/mo&gt;&lt;/mrow&gt;&lt;mo&gt;=&lt;/mo&gt;&lt;mrow data-mjx-texclass=&quot;INNER&quot;&gt;&lt;mo data-mjx-texclass=&quot;OPEN&quot;&gt;(&lt;/mo&gt;&lt;mo&gt;−&lt;/mo&gt;&lt;mfrac&gt;&lt;mn&gt;15&lt;/mn&gt;&lt;mn&gt;18&lt;/mn&gt;&lt;/mfrac&gt;&lt;mo data-mjx-texclass=&quot;CLOSE&quot;&gt;)&lt;/mo&gt;&lt;/mrow&gt;&lt;/math&gt;" id="1129" name="Google Shape;1129;p81" title="negative five sixths equals open paren negative the fraction with numerator 5 times 3 and denominator 6 times 3 close paren equals open paren negative 15 over 18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4370" y="2840125"/>
            <a:ext cx="3098087" cy="575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1}{18}\right)&quot;&gt;&lt;mrow data-mjx-texclass=&quot;INNER&quot;&gt;&lt;mo data-mjx-texclass=&quot;OPEN&quot;&gt;(&lt;/mo&gt;&lt;mo&gt;−&lt;/mo&gt;&lt;mfrac&gt;&lt;mn&gt;11&lt;/mn&gt;&lt;mn&gt;18&lt;/mn&gt;&lt;/mfrac&gt;&lt;mo data-mjx-texclass=&quot;CLOSE&quot;&gt;)&lt;/mo&gt;&lt;/mrow&gt;&lt;/math&gt;" id="1130" name="Google Shape;1130;p81" title="open paren negative 11 over 18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3746" y="2807822"/>
            <a:ext cx="724320" cy="5595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8}{9}\right)&quot;&gt;&lt;mrow data-mjx-texclass=&quot;INNER&quot;&gt;&lt;mo data-mjx-texclass=&quot;OPEN&quot;&gt;(&lt;/mo&gt;&lt;mo&gt;−&lt;/mo&gt;&lt;mfrac&gt;&lt;mn&gt;8&lt;/mn&gt;&lt;mn&gt;9&lt;/mn&gt;&lt;/mfrac&gt;&lt;mo data-mjx-texclass=&quot;CLOSE&quot;&gt;)&lt;/mo&gt;&lt;/mrow&gt;&lt;/math&gt;" id="1131" name="Google Shape;1131;p81" title="negative eight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0505" y="4260847"/>
            <a:ext cx="611038" cy="5595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5}{6}\right)&quot;&gt;&lt;mrow data-mjx-texclass=&quot;INNER&quot;&gt;&lt;mo data-mjx-texclass=&quot;OPEN&quot;&gt;(&lt;/mo&gt;&lt;mo&gt;−&lt;/mo&gt;&lt;mfrac&gt;&lt;mn&gt;5&lt;/mn&gt;&lt;mn&gt;6&lt;/mn&gt;&lt;/mfrac&gt;&lt;mo data-mjx-texclass=&quot;CLOSE&quot;&gt;)&lt;/mo&gt;&lt;/mrow&gt;&lt;/math&gt;" id="1132" name="Google Shape;1132;p81" title="negative fiv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4657" y="4260847"/>
            <a:ext cx="611038" cy="5595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2}{3}\right)&quot;&gt;&lt;mrow data-mjx-texclass=&quot;INNER&quot;&gt;&lt;mo data-mjx-texclass=&quot;OPEN&quot;&gt;(&lt;/mo&gt;&lt;mo&gt;−&lt;/mo&gt;&lt;mfrac&gt;&lt;mn&gt;2&lt;/mn&gt;&lt;mn&gt;3&lt;/mn&gt;&lt;/mfrac&gt;&lt;mo data-mjx-texclass=&quot;CLOSE&quot;&gt;)&lt;/mo&gt;&lt;/mrow&gt;&lt;/math&gt;" id="1133" name="Google Shape;1133;p81" title="negative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8788" y="4260847"/>
            <a:ext cx="611038" cy="5595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1}{18}\right)&quot;&gt;&lt;mrow data-mjx-texclass=&quot;INNER&quot;&gt;&lt;mo data-mjx-texclass=&quot;OPEN&quot;&gt;(&lt;/mo&gt;&lt;mo&gt;−&lt;/mo&gt;&lt;mfrac&gt;&lt;mn&gt;11&lt;/mn&gt;&lt;mn&gt;18&lt;/mn&gt;&lt;/mfrac&gt;&lt;mo data-mjx-texclass=&quot;CLOSE&quot;&gt;)&lt;/mo&gt;&lt;/mrow&gt;&lt;/math&gt;" id="1134" name="Google Shape;1134;p81" title="open paren negative 11 over 18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6371" y="4260847"/>
            <a:ext cx="724320" cy="559542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81"/>
          <p:cNvSpPr/>
          <p:nvPr/>
        </p:nvSpPr>
        <p:spPr>
          <a:xfrm>
            <a:off x="2745450" y="3502000"/>
            <a:ext cx="779100" cy="707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1"/>
          <p:cNvSpPr/>
          <p:nvPr/>
        </p:nvSpPr>
        <p:spPr>
          <a:xfrm>
            <a:off x="2701698" y="2774150"/>
            <a:ext cx="779100" cy="707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1"/>
          <p:cNvSpPr/>
          <p:nvPr/>
        </p:nvSpPr>
        <p:spPr>
          <a:xfrm>
            <a:off x="7346123" y="3534325"/>
            <a:ext cx="779100" cy="707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</a:t>
            </a:r>
            <a:endParaRPr/>
          </a:p>
        </p:txBody>
      </p:sp>
      <p:sp>
        <p:nvSpPr>
          <p:cNvPr id="1143" name="Google Shape;1143;p8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        </a:t>
            </a:r>
            <a:endParaRPr/>
          </a:p>
        </p:txBody>
      </p:sp>
      <p:sp>
        <p:nvSpPr>
          <p:cNvPr id="1144" name="Google Shape;1144;p82"/>
          <p:cNvSpPr txBox="1"/>
          <p:nvPr>
            <p:ph idx="1" type="subTitle"/>
          </p:nvPr>
        </p:nvSpPr>
        <p:spPr>
          <a:xfrm>
            <a:off x="324000" y="964296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These </a:t>
            </a:r>
            <a:r>
              <a:rPr lang="en-GB" sz="2100"/>
              <a:t>fractions</a:t>
            </a:r>
            <a:r>
              <a:rPr lang="en-GB" sz="2100"/>
              <a:t> are in the correct order, from smallest to largest.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left(-\frac{1}{5}\right),\ \left(-\frac{1}{4}\right),\ \left(-\frac{1}{2}\right),\ \frac{1}{10},\frac{1}{5},\ \frac{1}{2}\ &quot;&gt;&lt;mrow data-mjx-texclass=&quot;INNER&quot;&gt;&lt;mo data-mjx-texclass=&quot;OPEN&quot;&gt;(&lt;/mo&gt;&lt;mo&gt;−&lt;/mo&gt;&lt;mfrac&gt;&lt;mn&gt;1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&lt;/mn&gt;&lt;mn&gt;4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&lt;/mn&gt;&lt;mn&gt;2&lt;/mn&gt;&lt;/mfrac&gt;&lt;mo data-mjx-texclass=&quot;CLOSE&quot;&gt;)&lt;/mo&gt;&lt;/mrow&gt;&lt;mo&gt;,&lt;/mo&gt;&lt;mtext&gt;&lt;/mtext&gt;&lt;mfrac&gt;&lt;mn&gt;1&lt;/mn&gt;&lt;mn&gt;10&lt;/mn&gt;&lt;/mfrac&gt;&lt;mo&gt;,&lt;/mo&gt;&lt;mfrac&gt;&lt;mn&gt;1&lt;/mn&gt;&lt;mn&gt;5&lt;/mn&gt;&lt;/mfrac&gt;&lt;mo&gt;,&lt;/mo&gt;&lt;mtext&gt;&lt;/mtext&gt;&lt;mfrac&gt;&lt;mn&gt;1&lt;/mn&gt;&lt;mn&gt;2&lt;/mn&gt;&lt;/mfrac&gt;&lt;mtext&gt;&lt;/mtext&gt;&lt;/math&gt;" id="1145" name="Google Shape;1145;p82" title="negative one fifth comma negative one fourth comma negative one half comma one tenth comma one fifth comma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332246"/>
            <a:ext cx="2898500" cy="45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2233" y="1740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8333" y="39269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4900" y="3128675"/>
            <a:ext cx="6019098" cy="5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0575" y="3905250"/>
            <a:ext cx="7188873" cy="7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3"/>
          <p:cNvSpPr txBox="1"/>
          <p:nvPr>
            <p:ph idx="1" type="body"/>
          </p:nvPr>
        </p:nvSpPr>
        <p:spPr>
          <a:xfrm>
            <a:off x="492275" y="759300"/>
            <a:ext cx="8069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following in order from smallest to largest.</a:t>
            </a:r>
            <a:endParaRPr/>
          </a:p>
        </p:txBody>
      </p:sp>
      <p:sp>
        <p:nvSpPr>
          <p:cNvPr id="1155" name="Google Shape;1155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positive and negative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-\frac{7}{10}\right),\ \left(-\frac{3}{4}\right),\ \left(-\frac{3}{5}\right),\ \left(-\frac{11}{20}\right)&quot;&gt;&lt;mrow data-mjx-texclass=&quot;INNER&quot;&gt;&lt;mo data-mjx-texclass=&quot;OPEN&quot;&gt;(&lt;/mo&gt;&lt;mo&gt;−&lt;/mo&gt;&lt;mfrac&gt;&lt;mn&gt;7&lt;/mn&gt;&lt;mn&gt;1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4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1&lt;/mn&gt;&lt;mn&gt;20&lt;/mn&gt;&lt;/mfrac&gt;&lt;mo data-mjx-texclass=&quot;CLOSE&quot;&gt;)&lt;/mo&gt;&lt;/mrow&gt;&lt;/math&gt;" id="1156" name="Google Shape;1156;p83" title="negative seven tenths comma negative three fourths comma negative three fifths comma open paren negative 11 over 20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500" y="1547362"/>
            <a:ext cx="3188674" cy="499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4}{25}\right),\ \left(-\frac{1}{5}\right),\ \left(-\frac{7}{50}\right),\ \left(-\frac{3}{10}\right)&quot;&gt;&lt;mrow data-mjx-texclass=&quot;INNER&quot;&gt;&lt;mo data-mjx-texclass=&quot;OPEN&quot;&gt;(&lt;/mo&gt;&lt;mo&gt;−&lt;/mo&gt;&lt;mfrac&gt;&lt;mn&gt;4&lt;/mn&gt;&lt;mn&gt;2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7&lt;/mn&gt;&lt;mn&gt;5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10&lt;/mn&gt;&lt;/mfrac&gt;&lt;mo data-mjx-texclass=&quot;CLOSE&quot;&gt;)&lt;/mo&gt;&lt;/mrow&gt;&lt;/math&gt;" id="1157" name="Google Shape;1157;p83" title="open paren negative 4 over 25 close paren comma negative one fifth comma open paren negative 7 over 50 close paren comma negative 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1363" y="3316196"/>
            <a:ext cx="3188674" cy="483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7}{15}\right),\ \left(-\frac{1}{2}\right),\ \left(-\frac{5}{6}\right),\ \left(-\frac{3}{5}\right)&quot;&gt;&lt;mrow data-mjx-texclass=&quot;INNER&quot;&gt;&lt;mo data-mjx-texclass=&quot;OPEN&quot;&gt;(&lt;/mo&gt;&lt;mo&gt;−&lt;/mo&gt;&lt;mfrac&gt;&lt;mn&gt;7&lt;/mn&gt;&lt;mn&gt;1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&lt;/mn&gt;&lt;mn&gt;2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5&lt;/mn&gt;&lt;mn&gt;6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5&lt;/mn&gt;&lt;/mfrac&gt;&lt;mo data-mjx-texclass=&quot;CLOSE&quot;&gt;)&lt;/mo&gt;&lt;/mrow&gt;&lt;/math&gt;" id="1158" name="Google Shape;1158;p83" title="open paren negative 7 over 15 close paren comma negative one half comma negative five sixths comma negative 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6325" y="2437602"/>
            <a:ext cx="3188674" cy="5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900" y="1645600"/>
            <a:ext cx="308700" cy="205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following in order from smallest to largest.</a:t>
            </a:r>
            <a:endParaRPr/>
          </a:p>
          <a:p>
            <a:pPr indent="0" lvl="0" marL="0" rtl="0" algn="l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lnSpc>
                <a:spcPct val="2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165" name="Google Shape;1165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positive and negative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 \ \left(-\frac{3}{4}\right),\ \left(-\frac{7}{10}\right),\ \left(-\frac{3}{5}\right),\ \left(-\frac{11}{20}\right)&quot;&gt;&lt;mtext&gt;&lt;/mtext&gt;&lt;mtext&gt;&lt;/mtext&gt;&lt;mrow data-mjx-texclass=&quot;INNER&quot;&gt;&lt;mo data-mjx-texclass=&quot;OPEN&quot;&gt;(&lt;/mo&gt;&lt;mo&gt;−&lt;/mo&gt;&lt;mfrac&gt;&lt;mn&gt;3&lt;/mn&gt;&lt;mn&gt;4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7&lt;/mn&gt;&lt;mn&gt;1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1&lt;/mn&gt;&lt;mn&gt;20&lt;/mn&gt;&lt;/mfrac&gt;&lt;mo data-mjx-texclass=&quot;CLOSE&quot;&gt;)&lt;/mo&gt;&lt;/mrow&gt;&lt;/math&gt;" id="1166" name="Google Shape;1166;p84" title="negative three fourths comma negative seven tenths comma negative three fifths comma open paren negative 11 over 20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575" y="1238449"/>
            <a:ext cx="4580093" cy="717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5}{6}\right),\ \left(-\frac{3}{5}\right),\ \left(-\frac{1}{2}\right),\ \left(-\frac{7}{15}\right)\ &quot;&gt;&lt;mrow data-mjx-texclass=&quot;INNER&quot;&gt;&lt;mo data-mjx-texclass=&quot;OPEN&quot;&gt;(&lt;/mo&gt;&lt;mo&gt;−&lt;/mo&gt;&lt;mfrac&gt;&lt;mn&gt;5&lt;/mn&gt;&lt;mn&gt;6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&lt;/mn&gt;&lt;mn&gt;2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7&lt;/mn&gt;&lt;mn&gt;15&lt;/mn&gt;&lt;/mfrac&gt;&lt;mo data-mjx-texclass=&quot;CLOSE&quot;&gt;)&lt;/mo&gt;&lt;/mrow&gt;&lt;mtext&gt;&lt;/mtext&gt;&lt;/math&gt;" id="1167" name="Google Shape;1167;p84" title="negative five sixths comma negative three fifths comma negative one half comma open paren negative 7 over 15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832" y="2201442"/>
            <a:ext cx="4580092" cy="74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}{10}\right),\ \left(-\frac{1}{5}\right),\ \left(-\frac{4}{25}\right),\ \left(-\frac{7}{50}\right)\ &quot;&gt;&lt;mrow data-mjx-texclass=&quot;INNER&quot;&gt;&lt;mo data-mjx-texclass=&quot;OPEN&quot;&gt;(&lt;/mo&gt;&lt;mo&gt;−&lt;/mo&gt;&lt;mfrac&gt;&lt;mn&gt;3&lt;/mn&gt;&lt;mn&gt;1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4&lt;/mn&gt;&lt;mn&gt;2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7&lt;/mn&gt;&lt;mn&gt;50&lt;/mn&gt;&lt;/mfrac&gt;&lt;mo data-mjx-texclass=&quot;CLOSE&quot;&gt;)&lt;/mo&gt;&lt;/mrow&gt;&lt;mtext&gt;&lt;/mtext&gt;&lt;/math&gt;" id="1168" name="Google Shape;1168;p84" title="negative three tenths comma negative one fifth comma open paren negative 4 over 25 close paren comma open paren negative 7 over 50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575" y="3252648"/>
            <a:ext cx="4580094" cy="695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8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decimals</a:t>
            </a:r>
            <a:endParaRPr/>
          </a:p>
        </p:txBody>
      </p:sp>
      <p:sp>
        <p:nvSpPr>
          <p:cNvPr id="1174" name="Google Shape;1174;p8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</a:t>
            </a:r>
            <a:endParaRPr/>
          </a:p>
        </p:txBody>
      </p:sp>
      <p:sp>
        <p:nvSpPr>
          <p:cNvPr id="1175" name="Google Shape;1175;p8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positive and negative decimals and fractions</a:t>
            </a:r>
            <a:endParaRPr/>
          </a:p>
        </p:txBody>
      </p:sp>
      <p:pic>
        <p:nvPicPr>
          <p:cNvPr id="1176" name="Google Shape;117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72" y="3700467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85"/>
          <p:cNvSpPr txBox="1"/>
          <p:nvPr>
            <p:ph idx="4" type="title"/>
          </p:nvPr>
        </p:nvSpPr>
        <p:spPr>
          <a:xfrm>
            <a:off x="324000" y="810000"/>
            <a:ext cx="6432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 and decimals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positive and negative decimals and fractions</a:t>
            </a:r>
            <a:endParaRPr/>
          </a:p>
        </p:txBody>
      </p:sp>
      <p:sp>
        <p:nvSpPr>
          <p:cNvPr id="1183" name="Google Shape;1183;p86"/>
          <p:cNvSpPr txBox="1"/>
          <p:nvPr>
            <p:ph idx="1" type="body"/>
          </p:nvPr>
        </p:nvSpPr>
        <p:spPr>
          <a:xfrm>
            <a:off x="324000" y="759300"/>
            <a:ext cx="8496000" cy="69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Now that we can order positive and negative decimals and fractions we are able to order a mixture of them.</a:t>
            </a:r>
            <a:endParaRPr sz="2000"/>
          </a:p>
        </p:txBody>
      </p:sp>
      <p:sp>
        <p:nvSpPr>
          <p:cNvPr id="1184" name="Google Shape;1184;p86"/>
          <p:cNvSpPr txBox="1"/>
          <p:nvPr>
            <p:ph idx="1" type="body"/>
          </p:nvPr>
        </p:nvSpPr>
        <p:spPr>
          <a:xfrm>
            <a:off x="324000" y="1700675"/>
            <a:ext cx="8237700" cy="3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Considering the most suitable method is useful in these situations.</a:t>
            </a:r>
            <a:endParaRPr sz="2000"/>
          </a:p>
        </p:txBody>
      </p:sp>
      <p:sp>
        <p:nvSpPr>
          <p:cNvPr id="1185" name="Google Shape;1185;p86"/>
          <p:cNvSpPr txBox="1"/>
          <p:nvPr>
            <p:ph idx="1" type="body"/>
          </p:nvPr>
        </p:nvSpPr>
        <p:spPr>
          <a:xfrm>
            <a:off x="324000" y="2270450"/>
            <a:ext cx="8237700" cy="20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Methods: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Number sense − using what we already know about the numbers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Converting to decimals - (when all denominators are factors of 10, 100 or 1000)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Converting to fractions with the same denominator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 combination of the above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positive and negative decimals and fractions</a:t>
            </a:r>
            <a:endParaRPr/>
          </a:p>
        </p:txBody>
      </p:sp>
      <p:sp>
        <p:nvSpPr>
          <p:cNvPr id="1191" name="Google Shape;1191;p87"/>
          <p:cNvSpPr txBox="1"/>
          <p:nvPr>
            <p:ph idx="1" type="body"/>
          </p:nvPr>
        </p:nvSpPr>
        <p:spPr>
          <a:xfrm>
            <a:off x="324000" y="759300"/>
            <a:ext cx="2146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method?</a:t>
            </a:r>
            <a:endParaRPr/>
          </a:p>
        </p:txBody>
      </p:sp>
      <p:sp>
        <p:nvSpPr>
          <p:cNvPr id="1192" name="Google Shape;1192;p87"/>
          <p:cNvSpPr txBox="1"/>
          <p:nvPr>
            <p:ph idx="1" type="body"/>
          </p:nvPr>
        </p:nvSpPr>
        <p:spPr>
          <a:xfrm>
            <a:off x="705000" y="1305900"/>
            <a:ext cx="69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0.26</a:t>
            </a:r>
            <a:endParaRPr/>
          </a:p>
        </p:txBody>
      </p:sp>
      <p:sp>
        <p:nvSpPr>
          <p:cNvPr id="1193" name="Google Shape;1193;p87"/>
          <p:cNvSpPr txBox="1"/>
          <p:nvPr>
            <p:ph idx="1" type="body"/>
          </p:nvPr>
        </p:nvSpPr>
        <p:spPr>
          <a:xfrm>
            <a:off x="4961148" y="1305913"/>
            <a:ext cx="984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(−0.33)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-\frac{3}{10}\right)&quot;&gt;&lt;mrow data-mjx-texclass=&quot;INNER&quot;&gt;&lt;mo data-mjx-texclass=&quot;OPEN&quot;&gt;(&lt;/mo&gt;&lt;mo&gt;−&lt;/mo&gt;&lt;mfrac&gt;&lt;mn&gt;3&lt;/mn&gt;&lt;mn&gt;10&lt;/mn&gt;&lt;/mfrac&gt;&lt;mo data-mjx-texclass=&quot;CLOSE&quot;&gt;)&lt;/mo&gt;&lt;/mrow&gt;&lt;/math&gt;" id="1194" name="Google Shape;1194;p87" title="negative 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2890" y="1160250"/>
            <a:ext cx="792198" cy="611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5}{100}\right)&quot;&gt;&lt;mrow data-mjx-texclass=&quot;INNER&quot;&gt;&lt;mo data-mjx-texclass=&quot;OPEN&quot;&gt;(&lt;/mo&gt;&lt;mo&gt;−&lt;/mo&gt;&lt;mfrac&gt;&lt;mn&gt;15&lt;/mn&gt;&lt;mn&gt;100&lt;/mn&gt;&lt;/mfrac&gt;&lt;mo data-mjx-texclass=&quot;CLOSE&quot;&gt;)&lt;/mo&gt;&lt;/mrow&gt;&lt;/math&gt;" id="1195" name="Google Shape;1195;p87" title="open paren negative 15 over 100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1527" y="1160250"/>
            <a:ext cx="916096" cy="611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8}{100}&quot;&gt;&lt;mfrac&gt;&lt;mn&gt;28&lt;/mn&gt;&lt;mn&gt;100&lt;/mn&gt;&lt;/mfrac&gt;&lt;/math&gt;" id="1196" name="Google Shape;1196;p87" title="28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4766" y="1160250"/>
            <a:ext cx="409240" cy="521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&quot;&gt;&lt;mfrac&gt;&lt;mn&gt;7&lt;/mn&gt;&lt;mn&gt;20&lt;/mn&gt;&lt;/mfrac&gt;&lt;/math&gt;" id="1197" name="Google Shape;1197;p87" title="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9043" y="1160250"/>
            <a:ext cx="285341" cy="521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8}{25}\right)&quot;&gt;&lt;mrow data-mjx-texclass=&quot;INNER&quot;&gt;&lt;mo data-mjx-texclass=&quot;OPEN&quot;&gt;(&lt;/mo&gt;&lt;mo&gt;−&lt;/mo&gt;&lt;mfrac&gt;&lt;mn&gt;8&lt;/mn&gt;&lt;mn&gt;25&lt;/mn&gt;&lt;/mfrac&gt;&lt;mo data-mjx-texclass=&quot;CLOSE&quot;&gt;)&lt;/mo&gt;&lt;/mrow&gt;&lt;/math&gt;" id="1198" name="Google Shape;1198;p87" title="open paren negative 8 over 25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12231" y="1160250"/>
            <a:ext cx="792198" cy="611989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87"/>
          <p:cNvSpPr txBox="1"/>
          <p:nvPr>
            <p:ph idx="1" type="body"/>
          </p:nvPr>
        </p:nvSpPr>
        <p:spPr>
          <a:xfrm>
            <a:off x="324000" y="1793400"/>
            <a:ext cx="387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Convert them all to decimals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-2\frac{1}{4}\right)&quot;&gt;&lt;mrow data-mjx-texclass=&quot;INNER&quot;&gt;&lt;mo data-mjx-texclass=&quot;OPEN&quot;&gt;(&lt;/mo&gt;&lt;mo&gt;−&lt;/mo&gt;&lt;mn&gt;2&lt;/mn&gt;&lt;mfrac&gt;&lt;mn&gt;1&lt;/mn&gt;&lt;mn&gt;4&lt;/mn&gt;&lt;/mfrac&gt;&lt;mo data-mjx-texclass=&quot;CLOSE&quot;&gt;)&lt;/mo&gt;&lt;/mrow&gt;&lt;/math&gt;" id="1200" name="Google Shape;1200;p87" title="open paren negative 2 and one fourth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89321" y="2384400"/>
            <a:ext cx="792229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1\frac{3}{5}\right)&quot;&gt;&lt;mrow data-mjx-texclass=&quot;INNER&quot;&gt;&lt;mo data-mjx-texclass=&quot;OPEN&quot;&gt;(&lt;/mo&gt;&lt;mo&gt;−&lt;/mo&gt;&lt;mn&gt;1&lt;/mn&gt;&lt;mfrac&gt;&lt;mn&gt;3&lt;/mn&gt;&lt;mn&gt;5&lt;/mn&gt;&lt;/mfrac&gt;&lt;mo data-mjx-texclass=&quot;CLOSE&quot;&gt;)&lt;/mo&gt;&lt;/mrow&gt;&lt;/math&gt;" id="1201" name="Google Shape;1201;p87" title="open paren negative 1 and three fifths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39510" y="2343150"/>
            <a:ext cx="792229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2}{5}&quot;&gt;&lt;mn&gt;3&lt;/mn&gt;&lt;mfrac&gt;&lt;mn&gt;2&lt;/mn&gt;&lt;mn&gt;5&lt;/mn&gt;&lt;/mfrac&gt;&lt;/math&gt;" id="1202" name="Google Shape;1202;p87" title="3 and two fif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82496" y="2427135"/>
            <a:ext cx="341904" cy="5842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87"/>
          <p:cNvSpPr txBox="1"/>
          <p:nvPr>
            <p:ph idx="1" type="body"/>
          </p:nvPr>
        </p:nvSpPr>
        <p:spPr>
          <a:xfrm>
            <a:off x="2282361" y="2530050"/>
            <a:ext cx="84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(−1.9)</a:t>
            </a:r>
            <a:endParaRPr/>
          </a:p>
        </p:txBody>
      </p:sp>
      <p:sp>
        <p:nvSpPr>
          <p:cNvPr id="1204" name="Google Shape;1204;p87"/>
          <p:cNvSpPr txBox="1"/>
          <p:nvPr>
            <p:ph idx="1" type="body"/>
          </p:nvPr>
        </p:nvSpPr>
        <p:spPr>
          <a:xfrm>
            <a:off x="7889699" y="2530050"/>
            <a:ext cx="549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2.78</a:t>
            </a:r>
            <a:endParaRPr/>
          </a:p>
        </p:txBody>
      </p:sp>
      <p:sp>
        <p:nvSpPr>
          <p:cNvPr id="1205" name="Google Shape;1205;p87"/>
          <p:cNvSpPr txBox="1"/>
          <p:nvPr>
            <p:ph idx="1" type="body"/>
          </p:nvPr>
        </p:nvSpPr>
        <p:spPr>
          <a:xfrm>
            <a:off x="324000" y="3146550"/>
            <a:ext cx="1822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Number sense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-\frac{5}{8}\right)&quot;&gt;&lt;mrow data-mjx-texclass=&quot;INNER&quot;&gt;&lt;mo data-mjx-texclass=&quot;OPEN&quot;&gt;(&lt;/mo&gt;&lt;mo&gt;−&lt;/mo&gt;&lt;mfrac&gt;&lt;mn&gt;5&lt;/mn&gt;&lt;mn&gt;8&lt;/mn&gt;&lt;/mfrac&gt;&lt;mo data-mjx-texclass=&quot;CLOSE&quot;&gt;)&lt;/mo&gt;&lt;/mrow&gt;&lt;/math&gt;" id="1206" name="Google Shape;1206;p87" title="negative five eigh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8838" y="3838278"/>
            <a:ext cx="649223" cy="594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32}&quot;&gt;&lt;mfrac&gt;&lt;mn&gt;17&lt;/mn&gt;&lt;mn&gt;32&lt;/mn&gt;&lt;/mfrac&gt;&lt;/math&gt;" id="1207" name="Google Shape;1207;p87" title="17 over 3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941805" y="3828787"/>
            <a:ext cx="333038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87"/>
          <p:cNvSpPr txBox="1"/>
          <p:nvPr>
            <p:ph idx="1" type="body"/>
          </p:nvPr>
        </p:nvSpPr>
        <p:spPr>
          <a:xfrm>
            <a:off x="4271776" y="3975175"/>
            <a:ext cx="84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0.375</a:t>
            </a:r>
            <a:endParaRPr/>
          </a:p>
        </p:txBody>
      </p:sp>
      <p:sp>
        <p:nvSpPr>
          <p:cNvPr id="1209" name="Google Shape;1209;p87"/>
          <p:cNvSpPr txBox="1"/>
          <p:nvPr>
            <p:ph idx="1" type="body"/>
          </p:nvPr>
        </p:nvSpPr>
        <p:spPr>
          <a:xfrm>
            <a:off x="6182840" y="3975188"/>
            <a:ext cx="69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0.25</a:t>
            </a:r>
            <a:endParaRPr/>
          </a:p>
        </p:txBody>
      </p:sp>
      <p:sp>
        <p:nvSpPr>
          <p:cNvPr id="1210" name="Google Shape;1210;p87"/>
          <p:cNvSpPr txBox="1"/>
          <p:nvPr>
            <p:ph idx="1" type="body"/>
          </p:nvPr>
        </p:nvSpPr>
        <p:spPr>
          <a:xfrm>
            <a:off x="324000" y="4499700"/>
            <a:ext cx="354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Convert them all to fractions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-\frac{13}{16}\right)&quot;&gt;&lt;mrow data-mjx-texclass=&quot;INNER&quot;&gt;&lt;mo data-mjx-texclass=&quot;OPEN&quot;&gt;(&lt;/mo&gt;&lt;mo&gt;−&lt;/mo&gt;&lt;mfrac&gt;&lt;mn&gt;13&lt;/mn&gt;&lt;mn&gt;16&lt;/mn&gt;&lt;/mfrac&gt;&lt;mo data-mjx-texclass=&quot;CLOSE&quot;&gt;)&lt;/mo&gt;&lt;/mrow&gt;&lt;/math&gt;" id="1211" name="Google Shape;1211;p87" title="open paren negative 13 over 16 close paren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491100" y="3829530"/>
            <a:ext cx="792200" cy="611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positive and negative decimals and fractions</a:t>
            </a:r>
            <a:endParaRPr/>
          </a:p>
        </p:txBody>
      </p:sp>
      <p:sp>
        <p:nvSpPr>
          <p:cNvPr id="1217" name="Google Shape;1217;p88"/>
          <p:cNvSpPr txBox="1"/>
          <p:nvPr>
            <p:ph idx="1" type="body"/>
          </p:nvPr>
        </p:nvSpPr>
        <p:spPr>
          <a:xfrm>
            <a:off x="360675" y="810000"/>
            <a:ext cx="8237700" cy="4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</a:t>
            </a:r>
            <a:r>
              <a:rPr lang="en-GB"/>
              <a:t>following</a:t>
            </a:r>
            <a:r>
              <a:rPr lang="en-GB"/>
              <a:t> in order from smallest to largest: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-2\frac{1}{4}\right)&quot;&gt;&lt;mrow data-mjx-texclass=&quot;INNER&quot;&gt;&lt;mo data-mjx-texclass=&quot;OPEN&quot;&gt;(&lt;/mo&gt;&lt;mo&gt;−&lt;/mo&gt;&lt;mn&gt;2&lt;/mn&gt;&lt;mfrac&gt;&lt;mn&gt;1&lt;/mn&gt;&lt;mn&gt;4&lt;/mn&gt;&lt;/mfrac&gt;&lt;mo data-mjx-texclass=&quot;CLOSE&quot;&gt;)&lt;/mo&gt;&lt;/mrow&gt;&lt;/math&gt;" id="1218" name="Google Shape;1218;p88" title="open paren negative 2 and one fourth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321" y="1393800"/>
            <a:ext cx="792229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1\frac{3}{5}\right)&quot;&gt;&lt;mrow data-mjx-texclass=&quot;INNER&quot;&gt;&lt;mo data-mjx-texclass=&quot;OPEN&quot;&gt;(&lt;/mo&gt;&lt;mo&gt;−&lt;/mo&gt;&lt;mn&gt;1&lt;/mn&gt;&lt;mfrac&gt;&lt;mn&gt;3&lt;/mn&gt;&lt;mn&gt;5&lt;/mn&gt;&lt;/mfrac&gt;&lt;mo data-mjx-texclass=&quot;CLOSE&quot;&gt;)&lt;/mo&gt;&lt;/mrow&gt;&lt;/math&gt;" id="1219" name="Google Shape;1219;p88" title="open paren negative 1 and three fifths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9510" y="1352550"/>
            <a:ext cx="792229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2}{5}&quot;&gt;&lt;mn&gt;3&lt;/mn&gt;&lt;mfrac&gt;&lt;mn&gt;2&lt;/mn&gt;&lt;mn&gt;5&lt;/mn&gt;&lt;/mfrac&gt;&lt;/math&gt;" id="1220" name="Google Shape;1220;p88" title="3 and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2496" y="1436535"/>
            <a:ext cx="341904" cy="5842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88"/>
          <p:cNvSpPr txBox="1"/>
          <p:nvPr>
            <p:ph idx="1" type="body"/>
          </p:nvPr>
        </p:nvSpPr>
        <p:spPr>
          <a:xfrm>
            <a:off x="2282361" y="1539450"/>
            <a:ext cx="84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(−1.9)</a:t>
            </a:r>
            <a:endParaRPr/>
          </a:p>
        </p:txBody>
      </p:sp>
      <p:sp>
        <p:nvSpPr>
          <p:cNvPr id="1222" name="Google Shape;1222;p88"/>
          <p:cNvSpPr txBox="1"/>
          <p:nvPr>
            <p:ph idx="1" type="body"/>
          </p:nvPr>
        </p:nvSpPr>
        <p:spPr>
          <a:xfrm>
            <a:off x="7889699" y="1539450"/>
            <a:ext cx="549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2.78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-2\frac{1}{4}\right)&quot;&gt;&lt;mrow data-mjx-texclass=&quot;INNER&quot;&gt;&lt;mo data-mjx-texclass=&quot;OPEN&quot;&gt;(&lt;/mo&gt;&lt;mo&gt;−&lt;/mo&gt;&lt;mn&gt;2&lt;/mn&gt;&lt;mfrac&gt;&lt;mn&gt;1&lt;/mn&gt;&lt;mn&gt;4&lt;/mn&gt;&lt;/mfrac&gt;&lt;mo data-mjx-texclass=&quot;CLOSE&quot;&gt;)&lt;/mo&gt;&lt;/mrow&gt;&lt;/math&gt;" id="1223" name="Google Shape;1223;p88" title="open paren negative 2 and one fourth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771" y="2700000"/>
            <a:ext cx="792229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1\frac{3}{5}\right)&quot;&gt;&lt;mrow data-mjx-texclass=&quot;INNER&quot;&gt;&lt;mo data-mjx-texclass=&quot;OPEN&quot;&gt;(&lt;/mo&gt;&lt;mo&gt;−&lt;/mo&gt;&lt;mn&gt;1&lt;/mn&gt;&lt;mfrac&gt;&lt;mn&gt;3&lt;/mn&gt;&lt;mn&gt;5&lt;/mn&gt;&lt;/mfrac&gt;&lt;mo data-mjx-texclass=&quot;CLOSE&quot;&gt;)&lt;/mo&gt;&lt;/mrow&gt;&lt;/math&gt;" id="1224" name="Google Shape;1224;p88" title="open paren negative 1 and three fifths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2734" y="2640450"/>
            <a:ext cx="792229" cy="61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frac{2}{5}&quot;&gt;&lt;mn&gt;3&lt;/mn&gt;&lt;mfrac&gt;&lt;mn&gt;2&lt;/mn&gt;&lt;mn&gt;5&lt;/mn&gt;&lt;/mfrac&gt;&lt;/math&gt;" id="1225" name="Google Shape;1225;p88" title="3 and 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7296" y="2654322"/>
            <a:ext cx="341904" cy="5842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88"/>
          <p:cNvSpPr txBox="1"/>
          <p:nvPr>
            <p:ph idx="1" type="body"/>
          </p:nvPr>
        </p:nvSpPr>
        <p:spPr>
          <a:xfrm>
            <a:off x="2552367" y="2786100"/>
            <a:ext cx="84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(−1.9)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7" name="Google Shape;1227;p88"/>
          <p:cNvSpPr txBox="1"/>
          <p:nvPr>
            <p:ph idx="1" type="body"/>
          </p:nvPr>
        </p:nvSpPr>
        <p:spPr>
          <a:xfrm>
            <a:off x="6276329" y="2786100"/>
            <a:ext cx="549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2.78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89"/>
          <p:cNvSpPr/>
          <p:nvPr/>
        </p:nvSpPr>
        <p:spPr>
          <a:xfrm>
            <a:off x="408900" y="3593725"/>
            <a:ext cx="8062500" cy="103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positive and negative decimals and fractions</a:t>
            </a:r>
            <a:endParaRPr/>
          </a:p>
        </p:txBody>
      </p:sp>
      <p:sp>
        <p:nvSpPr>
          <p:cNvPr id="1234" name="Google Shape;1234;p89"/>
          <p:cNvSpPr txBox="1"/>
          <p:nvPr>
            <p:ph idx="1" type="body"/>
          </p:nvPr>
        </p:nvSpPr>
        <p:spPr>
          <a:xfrm>
            <a:off x="324000" y="6069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these numbers from smallest to largest.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them all to decimals</a:t>
            </a:r>
            <a:endParaRPr/>
          </a:p>
        </p:txBody>
      </p:sp>
      <p:sp>
        <p:nvSpPr>
          <p:cNvPr id="1235" name="Google Shape;1235;p89"/>
          <p:cNvSpPr txBox="1"/>
          <p:nvPr>
            <p:ph idx="1" type="body"/>
          </p:nvPr>
        </p:nvSpPr>
        <p:spPr>
          <a:xfrm>
            <a:off x="705000" y="1686900"/>
            <a:ext cx="69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0.26</a:t>
            </a:r>
            <a:endParaRPr/>
          </a:p>
        </p:txBody>
      </p:sp>
      <p:sp>
        <p:nvSpPr>
          <p:cNvPr id="1236" name="Google Shape;1236;p89"/>
          <p:cNvSpPr txBox="1"/>
          <p:nvPr>
            <p:ph idx="1" type="body"/>
          </p:nvPr>
        </p:nvSpPr>
        <p:spPr>
          <a:xfrm>
            <a:off x="4961148" y="1686913"/>
            <a:ext cx="984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(−0.33)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-\frac{3}{10}\right)&quot;&gt;&lt;mrow data-mjx-texclass=&quot;INNER&quot;&gt;&lt;mo data-mjx-texclass=&quot;OPEN&quot;&gt;(&lt;/mo&gt;&lt;mo&gt;−&lt;/mo&gt;&lt;mfrac&gt;&lt;mn&gt;3&lt;/mn&gt;&lt;mn&gt;10&lt;/mn&gt;&lt;/mfrac&gt;&lt;mo data-mjx-texclass=&quot;CLOSE&quot;&gt;)&lt;/mo&gt;&lt;/mrow&gt;&lt;/math&gt;" id="1237" name="Google Shape;1237;p89" title="negative 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2890" y="1541250"/>
            <a:ext cx="792198" cy="611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5}{100}\right)&quot;&gt;&lt;mrow data-mjx-texclass=&quot;INNER&quot;&gt;&lt;mo data-mjx-texclass=&quot;OPEN&quot;&gt;(&lt;/mo&gt;&lt;mo&gt;−&lt;/mo&gt;&lt;mfrac&gt;&lt;mn&gt;15&lt;/mn&gt;&lt;mn&gt;100&lt;/mn&gt;&lt;/mfrac&gt;&lt;mo data-mjx-texclass=&quot;CLOSE&quot;&gt;)&lt;/mo&gt;&lt;/mrow&gt;&lt;/math&gt;" id="1238" name="Google Shape;1238;p89" title="open paren negative 15 over 100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1527" y="1541250"/>
            <a:ext cx="916096" cy="611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8}{100}&quot;&gt;&lt;mfrac&gt;&lt;mn&gt;28&lt;/mn&gt;&lt;mn&gt;100&lt;/mn&gt;&lt;/mfrac&gt;&lt;/math&gt;" id="1239" name="Google Shape;1239;p89" title="28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4766" y="1541250"/>
            <a:ext cx="409240" cy="521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&quot;&gt;&lt;mfrac&gt;&lt;mn&gt;7&lt;/mn&gt;&lt;mn&gt;20&lt;/mn&gt;&lt;/mfrac&gt;&lt;/math&gt;" id="1240" name="Google Shape;1240;p89" title="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9043" y="1541250"/>
            <a:ext cx="285341" cy="521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8}{25}\right)&quot;&gt;&lt;mrow data-mjx-texclass=&quot;INNER&quot;&gt;&lt;mo data-mjx-texclass=&quot;OPEN&quot;&gt;(&lt;/mo&gt;&lt;mo&gt;−&lt;/mo&gt;&lt;mfrac&gt;&lt;mn&gt;8&lt;/mn&gt;&lt;mn&gt;25&lt;/mn&gt;&lt;/mfrac&gt;&lt;mo data-mjx-texclass=&quot;CLOSE&quot;&gt;)&lt;/mo&gt;&lt;/mrow&gt;&lt;/math&gt;" id="1241" name="Google Shape;1241;p89" title="open paren negative 8 over 25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12231" y="1541250"/>
            <a:ext cx="792198" cy="6119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2" name="Google Shape;1242;p89"/>
          <p:cNvCxnSpPr/>
          <p:nvPr/>
        </p:nvCxnSpPr>
        <p:spPr>
          <a:xfrm>
            <a:off x="2029900" y="2154170"/>
            <a:ext cx="0" cy="39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35}{100}&quot;&gt;&lt;mfrac&gt;&lt;mn&gt;35&lt;/mn&gt;&lt;mn&gt;100&lt;/mn&gt;&lt;/mfrac&gt;&lt;/math&gt;" id="1243" name="Google Shape;1243;p89" title="35 over 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46475" y="2568034"/>
            <a:ext cx="366850" cy="4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89"/>
          <p:cNvSpPr txBox="1"/>
          <p:nvPr>
            <p:ph idx="1" type="body"/>
          </p:nvPr>
        </p:nvSpPr>
        <p:spPr>
          <a:xfrm>
            <a:off x="1795950" y="3126620"/>
            <a:ext cx="561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0.35</a:t>
            </a:r>
            <a:endParaRPr/>
          </a:p>
        </p:txBody>
      </p:sp>
      <p:sp>
        <p:nvSpPr>
          <p:cNvPr id="1245" name="Google Shape;1245;p89"/>
          <p:cNvSpPr txBox="1"/>
          <p:nvPr>
            <p:ph idx="1" type="body"/>
          </p:nvPr>
        </p:nvSpPr>
        <p:spPr>
          <a:xfrm>
            <a:off x="2875965" y="3126620"/>
            <a:ext cx="984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(−0.15)</a:t>
            </a:r>
            <a:endParaRPr/>
          </a:p>
        </p:txBody>
      </p:sp>
      <p:sp>
        <p:nvSpPr>
          <p:cNvPr id="1246" name="Google Shape;1246;p89"/>
          <p:cNvSpPr txBox="1"/>
          <p:nvPr>
            <p:ph idx="1" type="body"/>
          </p:nvPr>
        </p:nvSpPr>
        <p:spPr>
          <a:xfrm>
            <a:off x="628800" y="3126620"/>
            <a:ext cx="69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0.26</a:t>
            </a:r>
            <a:endParaRPr/>
          </a:p>
        </p:txBody>
      </p:sp>
      <p:cxnSp>
        <p:nvCxnSpPr>
          <p:cNvPr id="1247" name="Google Shape;1247;p89"/>
          <p:cNvCxnSpPr/>
          <p:nvPr/>
        </p:nvCxnSpPr>
        <p:spPr>
          <a:xfrm>
            <a:off x="3119573" y="2219196"/>
            <a:ext cx="0" cy="780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89"/>
          <p:cNvCxnSpPr/>
          <p:nvPr/>
        </p:nvCxnSpPr>
        <p:spPr>
          <a:xfrm>
            <a:off x="4266598" y="2219196"/>
            <a:ext cx="0" cy="780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9" name="Google Shape;1249;p89"/>
          <p:cNvSpPr txBox="1"/>
          <p:nvPr>
            <p:ph idx="1" type="body"/>
          </p:nvPr>
        </p:nvSpPr>
        <p:spPr>
          <a:xfrm>
            <a:off x="4250212" y="3126620"/>
            <a:ext cx="598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0.28</a:t>
            </a:r>
            <a:endParaRPr/>
          </a:p>
        </p:txBody>
      </p:sp>
      <p:sp>
        <p:nvSpPr>
          <p:cNvPr id="1250" name="Google Shape;1250;p89"/>
          <p:cNvSpPr txBox="1"/>
          <p:nvPr>
            <p:ph idx="1" type="body"/>
          </p:nvPr>
        </p:nvSpPr>
        <p:spPr>
          <a:xfrm>
            <a:off x="5312829" y="3126620"/>
            <a:ext cx="984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(−0.33)</a:t>
            </a:r>
            <a:endParaRPr/>
          </a:p>
        </p:txBody>
      </p:sp>
      <p:cxnSp>
        <p:nvCxnSpPr>
          <p:cNvPr id="1251" name="Google Shape;1251;p89"/>
          <p:cNvCxnSpPr/>
          <p:nvPr/>
        </p:nvCxnSpPr>
        <p:spPr>
          <a:xfrm>
            <a:off x="6828998" y="2219196"/>
            <a:ext cx="0" cy="780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2" name="Google Shape;1252;p89"/>
          <p:cNvSpPr txBox="1"/>
          <p:nvPr>
            <p:ph idx="1" type="body"/>
          </p:nvPr>
        </p:nvSpPr>
        <p:spPr>
          <a:xfrm>
            <a:off x="6574723" y="3126620"/>
            <a:ext cx="792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(−0.3)</a:t>
            </a:r>
            <a:endParaRPr/>
          </a:p>
        </p:txBody>
      </p:sp>
      <p:cxnSp>
        <p:nvCxnSpPr>
          <p:cNvPr id="1253" name="Google Shape;1253;p89"/>
          <p:cNvCxnSpPr/>
          <p:nvPr/>
        </p:nvCxnSpPr>
        <p:spPr>
          <a:xfrm>
            <a:off x="8163700" y="2154170"/>
            <a:ext cx="0" cy="39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left(-\frac{32}{100}\right)&quot;&gt;&lt;mrow data-mjx-texclass=&quot;INNER&quot;&gt;&lt;mo data-mjx-texclass=&quot;OPEN&quot;&gt;(&lt;/mo&gt;&lt;mo&gt;−&lt;/mo&gt;&lt;mfrac&gt;&lt;mn&gt;32&lt;/mn&gt;&lt;mn&gt;100&lt;/mn&gt;&lt;/mfrac&gt;&lt;mo data-mjx-texclass=&quot;CLOSE&quot;&gt;)&lt;/mo&gt;&lt;/mrow&gt;&lt;/math&gt;" id="1254" name="Google Shape;1254;p89" title="open paren negative 32 over 100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87325" y="2583769"/>
            <a:ext cx="652055" cy="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89"/>
          <p:cNvSpPr txBox="1"/>
          <p:nvPr>
            <p:ph idx="1" type="body"/>
          </p:nvPr>
        </p:nvSpPr>
        <p:spPr>
          <a:xfrm>
            <a:off x="7712225" y="3126620"/>
            <a:ext cx="984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(−0.32)</a:t>
            </a:r>
            <a:endParaRPr/>
          </a:p>
        </p:txBody>
      </p:sp>
      <p:grpSp>
        <p:nvGrpSpPr>
          <p:cNvPr id="1256" name="Google Shape;1256;p89"/>
          <p:cNvGrpSpPr/>
          <p:nvPr/>
        </p:nvGrpSpPr>
        <p:grpSpPr>
          <a:xfrm>
            <a:off x="692000" y="3719205"/>
            <a:ext cx="7698442" cy="966945"/>
            <a:chOff x="692000" y="3033405"/>
            <a:chExt cx="7698442" cy="966945"/>
          </a:xfrm>
        </p:grpSpPr>
        <p:grpSp>
          <p:nvGrpSpPr>
            <p:cNvPr id="1257" name="Google Shape;1257;p89"/>
            <p:cNvGrpSpPr/>
            <p:nvPr/>
          </p:nvGrpSpPr>
          <p:grpSpPr>
            <a:xfrm>
              <a:off x="851424" y="3518656"/>
              <a:ext cx="7539018" cy="204490"/>
              <a:chOff x="683270" y="2982982"/>
              <a:chExt cx="4148700" cy="204490"/>
            </a:xfrm>
          </p:grpSpPr>
          <p:cxnSp>
            <p:nvCxnSpPr>
              <p:cNvPr id="1258" name="Google Shape;1258;p89"/>
              <p:cNvCxnSpPr/>
              <p:nvPr/>
            </p:nvCxnSpPr>
            <p:spPr>
              <a:xfrm>
                <a:off x="1028883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9" name="Google Shape;1259;p89"/>
              <p:cNvCxnSpPr/>
              <p:nvPr/>
            </p:nvCxnSpPr>
            <p:spPr>
              <a:xfrm>
                <a:off x="1420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0" name="Google Shape;1260;p89"/>
              <p:cNvCxnSpPr/>
              <p:nvPr/>
            </p:nvCxnSpPr>
            <p:spPr>
              <a:xfrm>
                <a:off x="683270" y="2996610"/>
                <a:ext cx="41487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1" name="Google Shape;1261;p89"/>
              <p:cNvCxnSpPr/>
              <p:nvPr/>
            </p:nvCxnSpPr>
            <p:spPr>
              <a:xfrm>
                <a:off x="1801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2" name="Google Shape;1262;p89"/>
              <p:cNvCxnSpPr/>
              <p:nvPr/>
            </p:nvCxnSpPr>
            <p:spPr>
              <a:xfrm>
                <a:off x="2182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3" name="Google Shape;1263;p89"/>
              <p:cNvCxnSpPr/>
              <p:nvPr/>
            </p:nvCxnSpPr>
            <p:spPr>
              <a:xfrm>
                <a:off x="2563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4" name="Google Shape;1264;p89"/>
              <p:cNvCxnSpPr/>
              <p:nvPr/>
            </p:nvCxnSpPr>
            <p:spPr>
              <a:xfrm>
                <a:off x="2944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5" name="Google Shape;1265;p89"/>
              <p:cNvCxnSpPr/>
              <p:nvPr/>
            </p:nvCxnSpPr>
            <p:spPr>
              <a:xfrm>
                <a:off x="3325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6" name="Google Shape;1266;p89"/>
              <p:cNvCxnSpPr/>
              <p:nvPr/>
            </p:nvCxnSpPr>
            <p:spPr>
              <a:xfrm>
                <a:off x="3717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7" name="Google Shape;1267;p89"/>
              <p:cNvCxnSpPr/>
              <p:nvPr/>
            </p:nvCxnSpPr>
            <p:spPr>
              <a:xfrm>
                <a:off x="4098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8" name="Google Shape;1268;p89"/>
              <p:cNvCxnSpPr/>
              <p:nvPr/>
            </p:nvCxnSpPr>
            <p:spPr>
              <a:xfrm>
                <a:off x="4479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69" name="Google Shape;1269;p89"/>
              <p:cNvCxnSpPr/>
              <p:nvPr/>
            </p:nvCxnSpPr>
            <p:spPr>
              <a:xfrm>
                <a:off x="688211" y="298298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270" name="Google Shape;1270;p89"/>
            <p:cNvSpPr txBox="1"/>
            <p:nvPr/>
          </p:nvSpPr>
          <p:spPr>
            <a:xfrm>
              <a:off x="4199052" y="3723150"/>
              <a:ext cx="196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1" name="Google Shape;1271;p89"/>
            <p:cNvSpPr/>
            <p:nvPr/>
          </p:nvSpPr>
          <p:spPr>
            <a:xfrm>
              <a:off x="692000" y="32115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2" name="Google Shape;1272;p89"/>
            <p:cNvSpPr/>
            <p:nvPr/>
          </p:nvSpPr>
          <p:spPr>
            <a:xfrm rot="10800000">
              <a:off x="4489750" y="32115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3" name="Google Shape;1273;p89"/>
            <p:cNvSpPr txBox="1"/>
            <p:nvPr/>
          </p:nvSpPr>
          <p:spPr>
            <a:xfrm>
              <a:off x="1212300" y="303340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4" name="Google Shape;1274;p89"/>
            <p:cNvSpPr txBox="1"/>
            <p:nvPr/>
          </p:nvSpPr>
          <p:spPr>
            <a:xfrm>
              <a:off x="4519200" y="303340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5" name="Google Shape;1275;p89"/>
          <p:cNvSpPr txBox="1"/>
          <p:nvPr>
            <p:ph idx="1" type="body"/>
          </p:nvPr>
        </p:nvSpPr>
        <p:spPr>
          <a:xfrm>
            <a:off x="513573" y="3931038"/>
            <a:ext cx="984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(−0.33)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-\frac{8}{25}\right)&quot;&gt;&lt;mrow data-mjx-texclass=&quot;INNER&quot;&gt;&lt;mo data-mjx-texclass=&quot;OPEN&quot;&gt;(&lt;/mo&gt;&lt;mo&gt;−&lt;/mo&gt;&lt;mfrac&gt;&lt;mn&gt;8&lt;/mn&gt;&lt;mn&gt;25&lt;/mn&gt;&lt;/mfrac&gt;&lt;mo data-mjx-texclass=&quot;CLOSE&quot;&gt;)&lt;/mo&gt;&lt;/mrow&gt;&lt;/math&gt;" id="1276" name="Google Shape;1276;p89" title="open paren negative 8 over 25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74981" y="3675000"/>
            <a:ext cx="792198" cy="611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}{10}\right)&quot;&gt;&lt;mrow data-mjx-texclass=&quot;INNER&quot;&gt;&lt;mo data-mjx-texclass=&quot;OPEN&quot;&gt;(&lt;/mo&gt;&lt;mo&gt;−&lt;/mo&gt;&lt;mfrac&gt;&lt;mn&gt;3&lt;/mn&gt;&lt;mn&gt;10&lt;/mn&gt;&lt;/mfrac&gt;&lt;mo data-mjx-texclass=&quot;CLOSE&quot;&gt;)&lt;/mo&gt;&lt;/mrow&gt;&lt;/math&gt;" id="1277" name="Google Shape;1277;p89" title="negative 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988" y="3675000"/>
            <a:ext cx="792198" cy="611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5}{100}\right)&quot;&gt;&lt;mrow data-mjx-texclass=&quot;INNER&quot;&gt;&lt;mo data-mjx-texclass=&quot;OPEN&quot;&gt;(&lt;/mo&gt;&lt;mo&gt;−&lt;/mo&gt;&lt;mfrac&gt;&lt;mn&gt;15&lt;/mn&gt;&lt;mn&gt;100&lt;/mn&gt;&lt;/mfrac&gt;&lt;mo data-mjx-texclass=&quot;CLOSE&quot;&gt;)&lt;/mo&gt;&lt;/mrow&gt;&lt;/math&gt;" id="1278" name="Google Shape;1278;p89" title="open paren negative 15 over 100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2994" y="3675000"/>
            <a:ext cx="916096" cy="611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p89"/>
          <p:cNvSpPr txBox="1"/>
          <p:nvPr>
            <p:ph idx="1" type="body"/>
          </p:nvPr>
        </p:nvSpPr>
        <p:spPr>
          <a:xfrm>
            <a:off x="5905899" y="3820650"/>
            <a:ext cx="69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0.26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8}{100}&quot;&gt;&lt;mfrac&gt;&lt;mn&gt;28&lt;/mn&gt;&lt;mn&gt;100&lt;/mn&gt;&lt;/mfrac&gt;&lt;/math&gt;" id="1280" name="Google Shape;1280;p89" title="28 over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9607" y="3765125"/>
            <a:ext cx="409240" cy="521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&quot;&gt;&lt;mfrac&gt;&lt;mn&gt;7&lt;/mn&gt;&lt;mn&gt;20&lt;/mn&gt;&lt;/mfrac&gt;&lt;/math&gt;" id="1281" name="Google Shape;1281;p89" title="7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65655" y="3765125"/>
            <a:ext cx="285341" cy="521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89"/>
          <p:cNvSpPr txBox="1"/>
          <p:nvPr/>
        </p:nvSpPr>
        <p:spPr>
          <a:xfrm>
            <a:off x="505950" y="3820650"/>
            <a:ext cx="7628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3" name="Google Shape;1283;p89"/>
          <p:cNvCxnSpPr/>
          <p:nvPr/>
        </p:nvCxnSpPr>
        <p:spPr>
          <a:xfrm flipH="1" rot="10800000">
            <a:off x="505950" y="1564311"/>
            <a:ext cx="977700" cy="542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89"/>
          <p:cNvCxnSpPr/>
          <p:nvPr/>
        </p:nvCxnSpPr>
        <p:spPr>
          <a:xfrm flipH="1" rot="10800000">
            <a:off x="1511400" y="1564311"/>
            <a:ext cx="977700" cy="542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89"/>
          <p:cNvCxnSpPr/>
          <p:nvPr/>
        </p:nvCxnSpPr>
        <p:spPr>
          <a:xfrm flipH="1" rot="10800000">
            <a:off x="2630725" y="1564311"/>
            <a:ext cx="977700" cy="542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89"/>
          <p:cNvCxnSpPr/>
          <p:nvPr/>
        </p:nvCxnSpPr>
        <p:spPr>
          <a:xfrm flipH="1" rot="10800000">
            <a:off x="3831150" y="1564311"/>
            <a:ext cx="977700" cy="542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89"/>
          <p:cNvCxnSpPr/>
          <p:nvPr/>
        </p:nvCxnSpPr>
        <p:spPr>
          <a:xfrm flipH="1" rot="10800000">
            <a:off x="4964600" y="1564311"/>
            <a:ext cx="977700" cy="542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89"/>
          <p:cNvCxnSpPr/>
          <p:nvPr/>
        </p:nvCxnSpPr>
        <p:spPr>
          <a:xfrm flipH="1" rot="10800000">
            <a:off x="6364400" y="1564311"/>
            <a:ext cx="977700" cy="542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89"/>
          <p:cNvCxnSpPr/>
          <p:nvPr/>
        </p:nvCxnSpPr>
        <p:spPr>
          <a:xfrm flipH="1" rot="10800000">
            <a:off x="7674850" y="1564311"/>
            <a:ext cx="977700" cy="542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0" name="Google Shape;1290;p89"/>
          <p:cNvSpPr/>
          <p:nvPr/>
        </p:nvSpPr>
        <p:spPr>
          <a:xfrm>
            <a:off x="7611300" y="3065405"/>
            <a:ext cx="1085400" cy="43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9"/>
          <p:cNvSpPr/>
          <p:nvPr/>
        </p:nvSpPr>
        <p:spPr>
          <a:xfrm>
            <a:off x="6407523" y="3065405"/>
            <a:ext cx="1085400" cy="43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9"/>
          <p:cNvSpPr/>
          <p:nvPr/>
        </p:nvSpPr>
        <p:spPr>
          <a:xfrm>
            <a:off x="3999969" y="3065405"/>
            <a:ext cx="1085400" cy="43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89"/>
          <p:cNvSpPr/>
          <p:nvPr/>
        </p:nvSpPr>
        <p:spPr>
          <a:xfrm>
            <a:off x="5203746" y="3065405"/>
            <a:ext cx="1085400" cy="43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89"/>
          <p:cNvSpPr/>
          <p:nvPr/>
        </p:nvSpPr>
        <p:spPr>
          <a:xfrm>
            <a:off x="1592415" y="3065405"/>
            <a:ext cx="1085400" cy="43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89"/>
          <p:cNvSpPr/>
          <p:nvPr/>
        </p:nvSpPr>
        <p:spPr>
          <a:xfrm>
            <a:off x="2796192" y="3065405"/>
            <a:ext cx="1085400" cy="43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9"/>
          <p:cNvSpPr/>
          <p:nvPr/>
        </p:nvSpPr>
        <p:spPr>
          <a:xfrm>
            <a:off x="388638" y="3065405"/>
            <a:ext cx="1085400" cy="435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90"/>
          <p:cNvSpPr/>
          <p:nvPr/>
        </p:nvSpPr>
        <p:spPr>
          <a:xfrm>
            <a:off x="628950" y="3640650"/>
            <a:ext cx="7822200" cy="1078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90"/>
          <p:cNvSpPr/>
          <p:nvPr/>
        </p:nvSpPr>
        <p:spPr>
          <a:xfrm>
            <a:off x="2415200" y="2780300"/>
            <a:ext cx="849000" cy="70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positive and negative decimals and fractions</a:t>
            </a:r>
            <a:endParaRPr/>
          </a:p>
        </p:txBody>
      </p:sp>
      <p:sp>
        <p:nvSpPr>
          <p:cNvPr id="1304" name="Google Shape;1304;p90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 these numbers from smallest to largest.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them all to fractions with a common denominator.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-\frac{5}{8}\right)&quot;&gt;&lt;mrow data-mjx-texclass=&quot;INNER&quot;&gt;&lt;mo data-mjx-texclass=&quot;OPEN&quot;&gt;(&lt;/mo&gt;&lt;mo&gt;−&lt;/mo&gt;&lt;mfrac&gt;&lt;mn&gt;5&lt;/mn&gt;&lt;mn&gt;8&lt;/mn&gt;&lt;/mfrac&gt;&lt;mo data-mjx-texclass=&quot;CLOSE&quot;&gt;)&lt;/mo&gt;&lt;/mrow&gt;&lt;/math&gt;" id="1305" name="Google Shape;1305;p90" title="negative fiv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838" y="1704678"/>
            <a:ext cx="649223" cy="5945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32}&quot;&gt;&lt;mfrac&gt;&lt;mn&gt;17&lt;/mn&gt;&lt;mn&gt;32&lt;/mn&gt;&lt;/mfrac&gt;&lt;/math&gt;" id="1306" name="Google Shape;1306;p90" title="17 over 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1805" y="1695187"/>
            <a:ext cx="333038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90"/>
          <p:cNvSpPr txBox="1"/>
          <p:nvPr>
            <p:ph idx="1" type="body"/>
          </p:nvPr>
        </p:nvSpPr>
        <p:spPr>
          <a:xfrm>
            <a:off x="4283083" y="1841575"/>
            <a:ext cx="84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0.375</a:t>
            </a:r>
            <a:endParaRPr/>
          </a:p>
        </p:txBody>
      </p:sp>
      <p:sp>
        <p:nvSpPr>
          <p:cNvPr id="1308" name="Google Shape;1308;p90"/>
          <p:cNvSpPr txBox="1"/>
          <p:nvPr>
            <p:ph idx="1" type="body"/>
          </p:nvPr>
        </p:nvSpPr>
        <p:spPr>
          <a:xfrm>
            <a:off x="6188494" y="1841588"/>
            <a:ext cx="69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0.25</a:t>
            </a:r>
            <a:endParaRPr/>
          </a:p>
        </p:txBody>
      </p:sp>
      <p:cxnSp>
        <p:nvCxnSpPr>
          <p:cNvPr id="1309" name="Google Shape;1309;p90"/>
          <p:cNvCxnSpPr/>
          <p:nvPr/>
        </p:nvCxnSpPr>
        <p:spPr>
          <a:xfrm>
            <a:off x="1053450" y="2384870"/>
            <a:ext cx="0" cy="39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left(-\frac{40}{64}\right)&quot;&gt;&lt;mrow data-mjx-texclass=&quot;INNER&quot;&gt;&lt;mo data-mjx-texclass=&quot;OPEN&quot;&gt;(&lt;/mo&gt;&lt;mo&gt;−&lt;/mo&gt;&lt;mfrac&gt;&lt;mn&gt;40&lt;/mn&gt;&lt;mn&gt;64&lt;/mn&gt;&lt;/mfrac&gt;&lt;mo data-mjx-texclass=&quot;CLOSE&quot;&gt;)&lt;/mo&gt;&lt;/mrow&gt;&lt;/math&gt;" id="1310" name="Google Shape;1310;p90" title="open paren negative 40 over 64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650" y="2836850"/>
            <a:ext cx="76959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3}{16}\right)&quot;&gt;&lt;mrow data-mjx-texclass=&quot;INNER&quot;&gt;&lt;mo data-mjx-texclass=&quot;OPEN&quot;&gt;(&lt;/mo&gt;&lt;mo&gt;−&lt;/mo&gt;&lt;mfrac&gt;&lt;mn&gt;13&lt;/mn&gt;&lt;mn&gt;16&lt;/mn&gt;&lt;/mfrac&gt;&lt;mo data-mjx-texclass=&quot;CLOSE&quot;&gt;)&lt;/mo&gt;&lt;/mrow&gt;&lt;/math&gt;" id="1311" name="Google Shape;1311;p90" title="open paren negative 13 over 16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4472" y="1658380"/>
            <a:ext cx="792200" cy="6119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52}{64}\right)&quot;&gt;&lt;mrow data-mjx-texclass=&quot;INNER&quot;&gt;&lt;mo data-mjx-texclass=&quot;OPEN&quot;&gt;(&lt;/mo&gt;&lt;mo&gt;−&lt;/mo&gt;&lt;mfrac&gt;&lt;mn&gt;52&lt;/mn&gt;&lt;mn&gt;64&lt;/mn&gt;&lt;/mfrac&gt;&lt;mo data-mjx-texclass=&quot;CLOSE&quot;&gt;)&lt;/mo&gt;&lt;/mrow&gt;&lt;/math&gt;" id="1312" name="Google Shape;1312;p90" title="open paren negative 52 over 64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45782" y="2836850"/>
            <a:ext cx="76959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75}{1000}=\frac{3}{8}=\frac{24}{64}&quot;&gt;&lt;mfrac&gt;&lt;mn&gt;375&lt;/mn&gt;&lt;mn&gt;1000&lt;/mn&gt;&lt;/mfrac&gt;&lt;mo&gt;=&lt;/mo&gt;&lt;mfrac&gt;&lt;mn&gt;3&lt;/mn&gt;&lt;mn&gt;8&lt;/mn&gt;&lt;/mfrac&gt;&lt;mo&gt;=&lt;/mo&gt;&lt;mfrac&gt;&lt;mn&gt;24&lt;/mn&gt;&lt;mn&gt;64&lt;/mn&gt;&lt;/mfrac&gt;&lt;/math&gt;" id="1313" name="Google Shape;1313;p90" title="375 over 1000 equals three eighths equals 24 over 6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89250" y="2854163"/>
            <a:ext cx="1836650" cy="55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4}=\frac{16}{64}\end{array}&quot;&gt;&lt;mtable columnalign=&quot;left&quot; columnspacing=&quot;1em&quot; rowspacing=&quot;4pt&quot;&gt;&lt;mtr&gt;&lt;mtd&gt;&lt;mfrac&gt;&lt;mn&gt;1&lt;/mn&gt;&lt;mn&gt;4&lt;/mn&gt;&lt;/mfrac&gt;&lt;mo&gt;=&lt;/mo&gt;&lt;mfrac&gt;&lt;mn&gt;16&lt;/mn&gt;&lt;mn&gt;64&lt;/mn&gt;&lt;/mfrac&gt;&lt;/mtd&gt;&lt;/mtr&gt;&lt;/mtable&gt;&lt;/math&gt;" id="1314" name="Google Shape;1314;p90" title="1 lines Line 1: one fourth equals 16 over 6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15438" y="2928779"/>
            <a:ext cx="970575" cy="485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5" name="Google Shape;1315;p90"/>
          <p:cNvCxnSpPr/>
          <p:nvPr/>
        </p:nvCxnSpPr>
        <p:spPr>
          <a:xfrm>
            <a:off x="2887200" y="2384870"/>
            <a:ext cx="0" cy="39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6" name="Google Shape;1316;p90"/>
          <p:cNvCxnSpPr/>
          <p:nvPr/>
        </p:nvCxnSpPr>
        <p:spPr>
          <a:xfrm>
            <a:off x="4605275" y="2384870"/>
            <a:ext cx="0" cy="39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7" name="Google Shape;1317;p90"/>
          <p:cNvCxnSpPr/>
          <p:nvPr/>
        </p:nvCxnSpPr>
        <p:spPr>
          <a:xfrm>
            <a:off x="6500725" y="2384870"/>
            <a:ext cx="0" cy="39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frac{17}{32}=\frac{34}{64}&quot;&gt;&lt;mfrac&gt;&lt;mn&gt;17&lt;/mn&gt;&lt;mn&gt;32&lt;/mn&gt;&lt;/mfrac&gt;&lt;mo&gt;=&lt;/mo&gt;&lt;mfrac&gt;&lt;mn&gt;34&lt;/mn&gt;&lt;mn&gt;64&lt;/mn&gt;&lt;/mfrac&gt;&lt;/math&gt;" id="1318" name="Google Shape;1318;p90" title="17 over 32 equals 34 over 6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40500" y="2909600"/>
            <a:ext cx="935650" cy="523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9" name="Google Shape;1319;p90"/>
          <p:cNvCxnSpPr/>
          <p:nvPr/>
        </p:nvCxnSpPr>
        <p:spPr>
          <a:xfrm>
            <a:off x="8108325" y="2384870"/>
            <a:ext cx="0" cy="39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20" name="Google Shape;1320;p90"/>
          <p:cNvGrpSpPr/>
          <p:nvPr/>
        </p:nvGrpSpPr>
        <p:grpSpPr>
          <a:xfrm>
            <a:off x="692000" y="3719205"/>
            <a:ext cx="7698442" cy="966945"/>
            <a:chOff x="692000" y="3033405"/>
            <a:chExt cx="7698442" cy="966945"/>
          </a:xfrm>
        </p:grpSpPr>
        <p:grpSp>
          <p:nvGrpSpPr>
            <p:cNvPr id="1321" name="Google Shape;1321;p90"/>
            <p:cNvGrpSpPr/>
            <p:nvPr/>
          </p:nvGrpSpPr>
          <p:grpSpPr>
            <a:xfrm>
              <a:off x="851424" y="3518656"/>
              <a:ext cx="7539018" cy="204490"/>
              <a:chOff x="683270" y="2982982"/>
              <a:chExt cx="4148700" cy="204490"/>
            </a:xfrm>
          </p:grpSpPr>
          <p:cxnSp>
            <p:nvCxnSpPr>
              <p:cNvPr id="1322" name="Google Shape;1322;p90"/>
              <p:cNvCxnSpPr/>
              <p:nvPr/>
            </p:nvCxnSpPr>
            <p:spPr>
              <a:xfrm>
                <a:off x="1028883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3" name="Google Shape;1323;p90"/>
              <p:cNvCxnSpPr/>
              <p:nvPr/>
            </p:nvCxnSpPr>
            <p:spPr>
              <a:xfrm>
                <a:off x="1420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4" name="Google Shape;1324;p90"/>
              <p:cNvCxnSpPr/>
              <p:nvPr/>
            </p:nvCxnSpPr>
            <p:spPr>
              <a:xfrm>
                <a:off x="683270" y="2996610"/>
                <a:ext cx="41487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5" name="Google Shape;1325;p90"/>
              <p:cNvCxnSpPr/>
              <p:nvPr/>
            </p:nvCxnSpPr>
            <p:spPr>
              <a:xfrm>
                <a:off x="1801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6" name="Google Shape;1326;p90"/>
              <p:cNvCxnSpPr/>
              <p:nvPr/>
            </p:nvCxnSpPr>
            <p:spPr>
              <a:xfrm>
                <a:off x="2182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7" name="Google Shape;1327;p90"/>
              <p:cNvCxnSpPr/>
              <p:nvPr/>
            </p:nvCxnSpPr>
            <p:spPr>
              <a:xfrm>
                <a:off x="2563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8" name="Google Shape;1328;p90"/>
              <p:cNvCxnSpPr/>
              <p:nvPr/>
            </p:nvCxnSpPr>
            <p:spPr>
              <a:xfrm>
                <a:off x="2944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29" name="Google Shape;1329;p90"/>
              <p:cNvCxnSpPr/>
              <p:nvPr/>
            </p:nvCxnSpPr>
            <p:spPr>
              <a:xfrm>
                <a:off x="3325467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0" name="Google Shape;1330;p90"/>
              <p:cNvCxnSpPr/>
              <p:nvPr/>
            </p:nvCxnSpPr>
            <p:spPr>
              <a:xfrm>
                <a:off x="3717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1" name="Google Shape;1331;p90"/>
              <p:cNvCxnSpPr/>
              <p:nvPr/>
            </p:nvCxnSpPr>
            <p:spPr>
              <a:xfrm>
                <a:off x="4098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2" name="Google Shape;1332;p90"/>
              <p:cNvCxnSpPr/>
              <p:nvPr/>
            </p:nvCxnSpPr>
            <p:spPr>
              <a:xfrm>
                <a:off x="4479050" y="299457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33" name="Google Shape;1333;p90"/>
              <p:cNvCxnSpPr/>
              <p:nvPr/>
            </p:nvCxnSpPr>
            <p:spPr>
              <a:xfrm>
                <a:off x="688211" y="2982982"/>
                <a:ext cx="0" cy="192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334" name="Google Shape;1334;p90"/>
            <p:cNvSpPr txBox="1"/>
            <p:nvPr/>
          </p:nvSpPr>
          <p:spPr>
            <a:xfrm>
              <a:off x="4199052" y="3723150"/>
              <a:ext cx="196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90"/>
            <p:cNvSpPr/>
            <p:nvPr/>
          </p:nvSpPr>
          <p:spPr>
            <a:xfrm>
              <a:off x="692000" y="32115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6" name="Google Shape;1336;p90"/>
            <p:cNvSpPr/>
            <p:nvPr/>
          </p:nvSpPr>
          <p:spPr>
            <a:xfrm rot="10800000">
              <a:off x="4489750" y="3211550"/>
              <a:ext cx="3412800" cy="3120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7" name="Google Shape;1337;p90"/>
            <p:cNvSpPr txBox="1"/>
            <p:nvPr/>
          </p:nvSpPr>
          <p:spPr>
            <a:xfrm>
              <a:off x="1212300" y="303340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8" name="Google Shape;1338;p90"/>
            <p:cNvSpPr txBox="1"/>
            <p:nvPr/>
          </p:nvSpPr>
          <p:spPr>
            <a:xfrm>
              <a:off x="4519200" y="3033405"/>
              <a:ext cx="2802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Absolute values increase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left(-\frac{13}{16}\right)&quot;&gt;&lt;mrow data-mjx-texclass=&quot;INNER&quot;&gt;&lt;mo data-mjx-texclass=&quot;OPEN&quot;&gt;(&lt;/mo&gt;&lt;mo&gt;−&lt;/mo&gt;&lt;mfrac&gt;&lt;mn&gt;13&lt;/mn&gt;&lt;mn&gt;16&lt;/mn&gt;&lt;/mfrac&gt;&lt;mo data-mjx-texclass=&quot;CLOSE&quot;&gt;)&lt;/mo&gt;&lt;/mrow&gt;&lt;/math&gt;" id="1339" name="Google Shape;1339;p90" title="open paren negative 13 over 16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2597" y="3751205"/>
            <a:ext cx="792200" cy="611984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90"/>
          <p:cNvSpPr/>
          <p:nvPr/>
        </p:nvSpPr>
        <p:spPr>
          <a:xfrm>
            <a:off x="628950" y="2782375"/>
            <a:ext cx="849000" cy="70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-\frac{5}{8}\right)&quot;&gt;&lt;mrow data-mjx-texclass=&quot;INNER&quot;&gt;&lt;mo data-mjx-texclass=&quot;OPEN&quot;&gt;(&lt;/mo&gt;&lt;mo&gt;−&lt;/mo&gt;&lt;mfrac&gt;&lt;mn&gt;5&lt;/mn&gt;&lt;mn&gt;8&lt;/mn&gt;&lt;/mfrac&gt;&lt;mo data-mjx-texclass=&quot;CLOSE&quot;&gt;)&lt;/mo&gt;&lt;/mrow&gt;&lt;/math&gt;" id="1341" name="Google Shape;1341;p90" title="negative fiv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581" y="3759940"/>
            <a:ext cx="649223" cy="594522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90"/>
          <p:cNvSpPr/>
          <p:nvPr/>
        </p:nvSpPr>
        <p:spPr>
          <a:xfrm>
            <a:off x="6653043" y="2819675"/>
            <a:ext cx="379800" cy="70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90"/>
          <p:cNvSpPr txBox="1"/>
          <p:nvPr>
            <p:ph idx="1" type="body"/>
          </p:nvPr>
        </p:nvSpPr>
        <p:spPr>
          <a:xfrm>
            <a:off x="4239588" y="4033738"/>
            <a:ext cx="696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0.25</a:t>
            </a:r>
            <a:endParaRPr/>
          </a:p>
        </p:txBody>
      </p:sp>
      <p:sp>
        <p:nvSpPr>
          <p:cNvPr id="1344" name="Google Shape;1344;p90"/>
          <p:cNvSpPr/>
          <p:nvPr/>
        </p:nvSpPr>
        <p:spPr>
          <a:xfrm>
            <a:off x="5295624" y="2780300"/>
            <a:ext cx="379800" cy="70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0"/>
          <p:cNvSpPr txBox="1"/>
          <p:nvPr>
            <p:ph idx="1" type="body"/>
          </p:nvPr>
        </p:nvSpPr>
        <p:spPr>
          <a:xfrm>
            <a:off x="5889272" y="4033750"/>
            <a:ext cx="849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0.375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7}{32}&quot;&gt;&lt;mfrac&gt;&lt;mn&gt;17&lt;/mn&gt;&lt;mn&gt;32&lt;/mn&gt;&lt;/mfrac&gt;&lt;/math&gt;" id="1346" name="Google Shape;1346;p90" title="17 over 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1055" y="3750462"/>
            <a:ext cx="333038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7" name="Google Shape;1347;p90"/>
          <p:cNvCxnSpPr/>
          <p:nvPr/>
        </p:nvCxnSpPr>
        <p:spPr>
          <a:xfrm flipH="1" rot="10800000">
            <a:off x="494850" y="1678450"/>
            <a:ext cx="1091700" cy="709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8" name="Google Shape;1348;p90"/>
          <p:cNvCxnSpPr/>
          <p:nvPr/>
        </p:nvCxnSpPr>
        <p:spPr>
          <a:xfrm flipH="1" rot="10800000">
            <a:off x="4074600" y="1647538"/>
            <a:ext cx="1091700" cy="709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9" name="Google Shape;1349;p90"/>
          <p:cNvCxnSpPr/>
          <p:nvPr/>
        </p:nvCxnSpPr>
        <p:spPr>
          <a:xfrm flipH="1" rot="10800000">
            <a:off x="2341350" y="1609475"/>
            <a:ext cx="1091700" cy="709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0" name="Google Shape;1350;p90"/>
          <p:cNvCxnSpPr/>
          <p:nvPr/>
        </p:nvCxnSpPr>
        <p:spPr>
          <a:xfrm flipH="1" rot="10800000">
            <a:off x="5889275" y="1647538"/>
            <a:ext cx="1091700" cy="709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1" name="Google Shape;1351;p90"/>
          <p:cNvCxnSpPr/>
          <p:nvPr/>
        </p:nvCxnSpPr>
        <p:spPr>
          <a:xfrm flipH="1" rot="10800000">
            <a:off x="7527125" y="1609475"/>
            <a:ext cx="1091700" cy="7098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p90"/>
          <p:cNvSpPr txBox="1"/>
          <p:nvPr/>
        </p:nvSpPr>
        <p:spPr>
          <a:xfrm>
            <a:off x="722550" y="3995000"/>
            <a:ext cx="7628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91"/>
          <p:cNvSpPr/>
          <p:nvPr/>
        </p:nvSpPr>
        <p:spPr>
          <a:xfrm>
            <a:off x="324000" y="3291000"/>
            <a:ext cx="8496000" cy="935700"/>
          </a:xfrm>
          <a:prstGeom prst="roundRect">
            <a:avLst>
              <a:gd fmla="val 16667" name="adj"/>
            </a:avLst>
          </a:prstGeom>
          <a:solidFill>
            <a:srgbClr val="EBEDFE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 positive and negative decimals and fractions</a:t>
            </a:r>
            <a:endParaRPr/>
          </a:p>
        </p:txBody>
      </p:sp>
      <p:sp>
        <p:nvSpPr>
          <p:cNvPr id="1359" name="Google Shape;1359;p91"/>
          <p:cNvSpPr txBox="1"/>
          <p:nvPr>
            <p:ph idx="1" type="body"/>
          </p:nvPr>
        </p:nvSpPr>
        <p:spPr>
          <a:xfrm>
            <a:off x="324000" y="759300"/>
            <a:ext cx="8237700" cy="3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</a:t>
            </a:r>
            <a:r>
              <a:rPr lang="en-GB"/>
              <a:t>following</a:t>
            </a:r>
            <a:r>
              <a:rPr lang="en-GB"/>
              <a:t> in order from smallest to largest.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-\frac{13}{25}\right)&quot;&gt;&lt;mrow data-mjx-texclass=&quot;INNER&quot;&gt;&lt;mo data-mjx-texclass=&quot;OPEN&quot;&gt;(&lt;/mo&gt;&lt;mo&gt;−&lt;/mo&gt;&lt;mfrac&gt;&lt;mn&gt;13&lt;/mn&gt;&lt;mn&gt;25&lt;/mn&gt;&lt;/mfrac&gt;&lt;mo data-mjx-texclass=&quot;CLOSE&quot;&gt;)&lt;/mo&gt;&lt;/mrow&gt;&lt;/math&gt;" id="1360" name="Google Shape;1360;p91" title="open paren negative 13 over 25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713" y="1275600"/>
            <a:ext cx="816187" cy="630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}{2}\right)&quot;&gt;&lt;mrow data-mjx-texclass=&quot;INNER&quot;&gt;&lt;mo data-mjx-texclass=&quot;OPEN&quot;&gt;(&lt;/mo&gt;&lt;mo&gt;−&lt;/mo&gt;&lt;mfrac&gt;&lt;mn&gt;1&lt;/mn&gt;&lt;mn&gt;2&lt;/mn&gt;&lt;/mfrac&gt;&lt;mo data-mjx-texclass=&quot;CLOSE&quot;&gt;)&lt;/mo&gt;&lt;/mrow&gt;&lt;/math&gt;" id="1361" name="Google Shape;1361;p91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0219" y="1241500"/>
            <a:ext cx="688536" cy="630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9}{20}\right)&quot;&gt;&lt;mrow data-mjx-texclass=&quot;INNER&quot;&gt;&lt;mo data-mjx-texclass=&quot;OPEN&quot;&gt;(&lt;/mo&gt;&lt;mo&gt;−&lt;/mo&gt;&lt;mfrac&gt;&lt;mn&gt;9&lt;/mn&gt;&lt;mn&gt;20&lt;/mn&gt;&lt;/mfrac&gt;&lt;mo data-mjx-texclass=&quot;CLOSE&quot;&gt;)&lt;/mo&gt;&lt;/mrow&gt;&lt;/math&gt;" id="1362" name="Google Shape;1362;p91" title="open paren negative 9 over 20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1075" y="1304746"/>
            <a:ext cx="816187" cy="630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3}{25}\right)=\left(-\frac{52}{100}\right)\ =\ \left(-0.52\right)&quot;&gt;&lt;mrow data-mjx-texclass=&quot;INNER&quot;&gt;&lt;mo data-mjx-texclass=&quot;OPEN&quot;&gt;(&lt;/mo&gt;&lt;mo&gt;−&lt;/mo&gt;&lt;mfrac&gt;&lt;mn&gt;13&lt;/mn&gt;&lt;mn&gt;25&lt;/mn&gt;&lt;/mfrac&gt;&lt;mo data-mjx-texclass=&quot;CLOSE&quot;&gt;)&lt;/mo&gt;&lt;/mrow&gt;&lt;mo&gt;=&lt;/mo&gt;&lt;mrow data-mjx-texclass=&quot;INNER&quot;&gt;&lt;mo data-mjx-texclass=&quot;OPEN&quot;&gt;(&lt;/mo&gt;&lt;mo&gt;−&lt;/mo&gt;&lt;mfrac&gt;&lt;mn&gt;52&lt;/mn&gt;&lt;mn&gt;100&lt;/mn&gt;&lt;/mfrac&gt;&lt;mo data-mjx-texclass=&quot;CLOSE&quot;&gt;)&lt;/mo&gt;&lt;/mrow&gt;&lt;mtext&gt;&lt;/mtext&gt;&lt;mo&gt;=&lt;/mo&gt;&lt;mtext&gt;&lt;/mtext&gt;&lt;mrow data-mjx-texclass=&quot;INNER&quot;&gt;&lt;mo data-mjx-texclass=&quot;OPEN&quot;&gt;(&lt;/mo&gt;&lt;mo&gt;−&lt;/mo&gt;&lt;mn&gt;0.52&lt;/mn&gt;&lt;mo data-mjx-texclass=&quot;CLOSE&quot;&gt;)&lt;/mo&gt;&lt;/mrow&gt;&lt;/math&gt;" id="1363" name="Google Shape;1363;p91" title="open paren negative 13 over 25 close paren equals open paren negative 52 over 100 close paren equals negative 0.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2" y="2336650"/>
            <a:ext cx="2616235" cy="470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}{2}\right)=\left(-\frac{5}{10}\right)\ =\ \left(-0.5\right)&quot;&gt;&lt;mrow data-mjx-texclass=&quot;INNER&quot;&gt;&lt;mo data-mjx-texclass=&quot;OPEN&quot;&gt;(&lt;/mo&gt;&lt;mo&gt;−&lt;/mo&gt;&lt;mfrac&gt;&lt;mn&gt;1&lt;/mn&gt;&lt;mn&gt;2&lt;/mn&gt;&lt;/mfrac&gt;&lt;mo data-mjx-texclass=&quot;CLOSE&quot;&gt;)&lt;/mo&gt;&lt;/mrow&gt;&lt;mo&gt;=&lt;/mo&gt;&lt;mrow data-mjx-texclass=&quot;INNER&quot;&gt;&lt;mo data-mjx-texclass=&quot;OPEN&quot;&gt;(&lt;/mo&gt;&lt;mo&gt;−&lt;/mo&gt;&lt;mfrac&gt;&lt;mn&gt;5&lt;/mn&gt;&lt;mn&gt;10&lt;/mn&gt;&lt;/mfrac&gt;&lt;mo data-mjx-texclass=&quot;CLOSE&quot;&gt;)&lt;/mo&gt;&lt;/mrow&gt;&lt;mtext&gt;&lt;/mtext&gt;&lt;mo&gt;=&lt;/mo&gt;&lt;mtext&gt;&lt;/mtext&gt;&lt;mrow data-mjx-texclass=&quot;INNER&quot;&gt;&lt;mo data-mjx-texclass=&quot;OPEN&quot;&gt;(&lt;/mo&gt;&lt;mo&gt;−&lt;/mo&gt;&lt;mn&gt;0.5&lt;/mn&gt;&lt;mo data-mjx-texclass=&quot;CLOSE&quot;&gt;)&lt;/mo&gt;&lt;/mrow&gt;&lt;/math&gt;" id="1364" name="Google Shape;1364;p91" title="negative one half equals negative five tenths equals negative 0.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16290" y="2336660"/>
            <a:ext cx="2330670" cy="470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9}{20}\right)=\left(-\frac{45}{100}\right)\ =\ \left(-0.45\right)&quot;&gt;&lt;mrow data-mjx-texclass=&quot;INNER&quot;&gt;&lt;mo data-mjx-texclass=&quot;OPEN&quot;&gt;(&lt;/mo&gt;&lt;mo&gt;−&lt;/mo&gt;&lt;mfrac&gt;&lt;mn&gt;9&lt;/mn&gt;&lt;mn&gt;20&lt;/mn&gt;&lt;/mfrac&gt;&lt;mo data-mjx-texclass=&quot;CLOSE&quot;&gt;)&lt;/mo&gt;&lt;/mrow&gt;&lt;mo&gt;=&lt;/mo&gt;&lt;mrow data-mjx-texclass=&quot;INNER&quot;&gt;&lt;mo data-mjx-texclass=&quot;OPEN&quot;&gt;(&lt;/mo&gt;&lt;mo&gt;−&lt;/mo&gt;&lt;mfrac&gt;&lt;mn&gt;45&lt;/mn&gt;&lt;mn&gt;100&lt;/mn&gt;&lt;/mfrac&gt;&lt;mo data-mjx-texclass=&quot;CLOSE&quot;&gt;)&lt;/mo&gt;&lt;/mrow&gt;&lt;mtext&gt;&lt;/mtext&gt;&lt;mo&gt;=&lt;/mo&gt;&lt;mtext&gt;&lt;/mtext&gt;&lt;mrow data-mjx-texclass=&quot;INNER&quot;&gt;&lt;mo data-mjx-texclass=&quot;OPEN&quot;&gt;(&lt;/mo&gt;&lt;mo&gt;−&lt;/mo&gt;&lt;mn&gt;0.45&lt;/mn&gt;&lt;mo data-mjx-texclass=&quot;CLOSE&quot;&gt;)&lt;/mo&gt;&lt;/mrow&gt;&lt;/math&gt;" id="1365" name="Google Shape;1365;p91" title="open paren negative 9 over 20 close paren equals open paren negative 45 over 100 close paren equals negative 0.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03769" y="2336669"/>
            <a:ext cx="2616235" cy="470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91"/>
          <p:cNvSpPr txBox="1"/>
          <p:nvPr/>
        </p:nvSpPr>
        <p:spPr>
          <a:xfrm>
            <a:off x="2489059" y="1329275"/>
            <a:ext cx="139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(−0.525)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91"/>
          <p:cNvSpPr txBox="1"/>
          <p:nvPr/>
        </p:nvSpPr>
        <p:spPr>
          <a:xfrm>
            <a:off x="5364915" y="1295175"/>
            <a:ext cx="129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0.405)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91"/>
          <p:cNvSpPr txBox="1"/>
          <p:nvPr/>
        </p:nvSpPr>
        <p:spPr>
          <a:xfrm>
            <a:off x="324009" y="3496350"/>
            <a:ext cx="139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(−0.525)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-\frac{13}{25}\right)&quot;&gt;&lt;mrow data-mjx-texclass=&quot;INNER&quot;&gt;&lt;mo data-mjx-texclass=&quot;OPEN&quot;&gt;(&lt;/mo&gt;&lt;mo&gt;−&lt;/mo&gt;&lt;mfrac&gt;&lt;mn&gt;13&lt;/mn&gt;&lt;mn&gt;25&lt;/mn&gt;&lt;/mfrac&gt;&lt;mo data-mjx-texclass=&quot;CLOSE&quot;&gt;)&lt;/mo&gt;&lt;/mrow&gt;&lt;/math&gt;" id="1369" name="Google Shape;1369;p91" title="open paren negative 13 over 25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1527" y="3442688"/>
            <a:ext cx="816187" cy="630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}{2}\right)&quot;&gt;&lt;mrow data-mjx-texclass=&quot;INNER&quot;&gt;&lt;mo data-mjx-texclass=&quot;OPEN&quot;&gt;(&lt;/mo&gt;&lt;mo&gt;−&lt;/mo&gt;&lt;mfrac&gt;&lt;mn&gt;1&lt;/mn&gt;&lt;mn&gt;2&lt;/mn&gt;&lt;/mfrac&gt;&lt;mo data-mjx-texclass=&quot;CLOSE&quot;&gt;)&lt;/mo&gt;&lt;/mrow&gt;&lt;/math&gt;" id="1370" name="Google Shape;1370;p91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0231" y="3442688"/>
            <a:ext cx="688536" cy="630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9}{20}\right)&quot;&gt;&lt;mrow data-mjx-texclass=&quot;INNER&quot;&gt;&lt;mo data-mjx-texclass=&quot;OPEN&quot;&gt;(&lt;/mo&gt;&lt;mo&gt;−&lt;/mo&gt;&lt;mfrac&gt;&lt;mn&gt;9&lt;/mn&gt;&lt;mn&gt;20&lt;/mn&gt;&lt;/mfrac&gt;&lt;mo data-mjx-texclass=&quot;CLOSE&quot;&gt;)&lt;/mo&gt;&lt;/mrow&gt;&lt;/math&gt;" id="1371" name="Google Shape;1371;p91" title="open paren negative 9 over 20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1286" y="3442683"/>
            <a:ext cx="816187" cy="630517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91"/>
          <p:cNvSpPr txBox="1"/>
          <p:nvPr/>
        </p:nvSpPr>
        <p:spPr>
          <a:xfrm>
            <a:off x="7529990" y="3496350"/>
            <a:ext cx="129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(−0.405)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91"/>
          <p:cNvSpPr txBox="1"/>
          <p:nvPr/>
        </p:nvSpPr>
        <p:spPr>
          <a:xfrm>
            <a:off x="715850" y="3613275"/>
            <a:ext cx="76281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in order from smallest to largest.</a:t>
            </a:r>
            <a:endParaRPr/>
          </a:p>
          <a:p>
            <a:pPr indent="0" lvl="0" marL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 positive and negative decimals and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-1\frac{2}{5}\right),\ \left(-1.5\right),\ 1\ \frac{3}{4},\ \left(-1.405\right),\ 1.74,\ \left(-1\frac{7}{10}\right)&quot;&gt;&lt;mrow data-mjx-texclass=&quot;INNER&quot;&gt;&lt;mo data-mjx-texclass=&quot;OPEN&quot;&gt;(&lt;/mo&gt;&lt;mo&gt;−&lt;/mo&gt;&lt;mn&gt;1&lt;/mn&gt;&lt;mfrac&gt;&lt;mn&gt;2&lt;/mn&gt;&lt;mn&gt;5&lt;/mn&gt;&lt;/mfrac&gt;&lt;mo data-mjx-texclass=&quot;CLOSE&quot;&gt;)&lt;/mo&gt;&lt;/mrow&gt;&lt;mo&gt;,&lt;/mo&gt;&lt;mtext&gt;&lt;/mtext&gt;&lt;mrow data-mjx-texclass=&quot;INNER&quot;&gt;&lt;mo data-mjx-texclass=&quot;OPEN&quot;&gt;(&lt;/mo&gt;&lt;mo&gt;−&lt;/mo&gt;&lt;mn&gt;1.5&lt;/mn&gt;&lt;mo data-mjx-texclass=&quot;CLOSE&quot;&gt;)&lt;/mo&gt;&lt;/mrow&gt;&lt;mo&gt;,&lt;/mo&gt;&lt;mtext&gt;&lt;/mtext&gt;&lt;mn&gt;1&lt;/mn&gt;&lt;mtext&gt;&lt;/mtext&gt;&lt;mfrac&gt;&lt;mn&gt;3&lt;/mn&gt;&lt;mn&gt;4&lt;/mn&gt;&lt;/mfrac&gt;&lt;mo&gt;,&lt;/mo&gt;&lt;mtext&gt;&lt;/mtext&gt;&lt;mrow data-mjx-texclass=&quot;INNER&quot;&gt;&lt;mo data-mjx-texclass=&quot;OPEN&quot;&gt;(&lt;/mo&gt;&lt;mo&gt;−&lt;/mo&gt;&lt;mn&gt;1.405&lt;/mn&gt;&lt;mo data-mjx-texclass=&quot;CLOSE&quot;&gt;)&lt;/mo&gt;&lt;/mrow&gt;&lt;mo&gt;,&lt;/mo&gt;&lt;mtext&gt;&lt;/mtext&gt;&lt;mn&gt;1.74&lt;/mn&gt;&lt;mo&gt;,&lt;/mo&gt;&lt;mtext&gt;&lt;/mtext&gt;&lt;mrow data-mjx-texclass=&quot;INNER&quot;&gt;&lt;mo data-mjx-texclass=&quot;OPEN&quot;&gt;(&lt;/mo&gt;&lt;mo&gt;−&lt;/mo&gt;&lt;mn&gt;1&lt;/mn&gt;&lt;mfrac&gt;&lt;mn&gt;7&lt;/mn&gt;&lt;mn&gt;10&lt;/mn&gt;&lt;/mfrac&gt;&lt;mo data-mjx-texclass=&quot;CLOSE&quot;&gt;)&lt;/mo&gt;&lt;/mrow&gt;&lt;/math&gt;" id="1380" name="Google Shape;1380;p92" title="open paren negative 1 and two fifths close paren comma negative 1.5 comma 1 three fourths comma negative 1.405 comma 1.74 comma open paren negative 1 and seven tenths close pare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250" y="1289133"/>
            <a:ext cx="4674542" cy="548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1}{32}\right),\ 0.125,\ \left(-0.375\right),\ \left(-\frac{21}{64}\right),\ \frac{1}{4},\ \frac{3}{16}&quot;&gt;&lt;mrow data-mjx-texclass=&quot;INNER&quot;&gt;&lt;mo data-mjx-texclass=&quot;OPEN&quot;&gt;(&lt;/mo&gt;&lt;mo&gt;−&lt;/mo&gt;&lt;mfrac&gt;&lt;mn&gt;11&lt;/mn&gt;&lt;mn&gt;32&lt;/mn&gt;&lt;/mfrac&gt;&lt;mo data-mjx-texclass=&quot;CLOSE&quot;&gt;)&lt;/mo&gt;&lt;/mrow&gt;&lt;mo&gt;,&lt;/mo&gt;&lt;mtext&gt;&lt;/mtext&gt;&lt;mn&gt;0.125&lt;/mn&gt;&lt;mo&gt;,&lt;/mo&gt;&lt;mtext&gt;&lt;/mtext&gt;&lt;mrow data-mjx-texclass=&quot;INNER&quot;&gt;&lt;mo data-mjx-texclass=&quot;OPEN&quot;&gt;(&lt;/mo&gt;&lt;mo&gt;−&lt;/mo&gt;&lt;mn&gt;0.375&lt;/mn&gt;&lt;mo data-mjx-texclass=&quot;CLOSE&quot;&gt;)&lt;/mo&gt;&lt;/mrow&gt;&lt;mo&gt;,&lt;/mo&gt;&lt;mtext&gt;&lt;/mtext&gt;&lt;mrow data-mjx-texclass=&quot;INNER&quot;&gt;&lt;mo data-mjx-texclass=&quot;OPEN&quot;&gt;(&lt;/mo&gt;&lt;mo&gt;−&lt;/mo&gt;&lt;mfrac&gt;&lt;mn&gt;21&lt;/mn&gt;&lt;mn&gt;64&lt;/mn&gt;&lt;/mfrac&gt;&lt;mo data-mjx-texclass=&quot;CLOSE&quot;&gt;)&lt;/mo&gt;&lt;/mrow&gt;&lt;mo&gt;,&lt;/mo&gt;&lt;mtext&gt;&lt;/mtext&gt;&lt;mfrac&gt;&lt;mn&gt;1&lt;/mn&gt;&lt;mn&gt;4&lt;/mn&gt;&lt;/mfrac&gt;&lt;mo&gt;,&lt;/mo&gt;&lt;mtext&gt;&lt;/mtext&gt;&lt;mfrac&gt;&lt;mn&gt;3&lt;/mn&gt;&lt;mn&gt;16&lt;/mn&gt;&lt;/mfrac&gt;&lt;/math&gt;" id="1381" name="Google Shape;1381;p92" title="open paren negative 11 over 32 close paren comma 0.125 comma negative 0.375 comma open paren negative 21 over 64 close paren comma one fourth comma 3 over 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950" y="2261025"/>
            <a:ext cx="4434724" cy="57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3}{8}\right),\ \left(-\frac{19}{50}\right),\ 0.38,\ \left(-0.371\right),\ \frac{6}{25},\ \frac{7}{20},\ \left(-0.37\right)&quot;&gt;&lt;mrow data-mjx-texclass=&quot;INNER&quot;&gt;&lt;mo data-mjx-texclass=&quot;OPEN&quot;&gt;(&lt;/mo&gt;&lt;mo&gt;−&lt;/mo&gt;&lt;mfrac&gt;&lt;mn&gt;3&lt;/mn&gt;&lt;mn&gt;8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19&lt;/mn&gt;&lt;mn&gt;50&lt;/mn&gt;&lt;/mfrac&gt;&lt;mo data-mjx-texclass=&quot;CLOSE&quot;&gt;)&lt;/mo&gt;&lt;/mrow&gt;&lt;mo&gt;,&lt;/mo&gt;&lt;mtext&gt;&lt;/mtext&gt;&lt;mn&gt;0.38&lt;/mn&gt;&lt;mo&gt;,&lt;/mo&gt;&lt;mtext&gt;&lt;/mtext&gt;&lt;mrow data-mjx-texclass=&quot;INNER&quot;&gt;&lt;mo data-mjx-texclass=&quot;OPEN&quot;&gt;(&lt;/mo&gt;&lt;mo&gt;−&lt;/mo&gt;&lt;mn&gt;0.371&lt;/mn&gt;&lt;mo data-mjx-texclass=&quot;CLOSE&quot;&gt;)&lt;/mo&gt;&lt;/mrow&gt;&lt;mo&gt;,&lt;/mo&gt;&lt;mtext&gt;&lt;/mtext&gt;&lt;mfrac&gt;&lt;mn&gt;6&lt;/mn&gt;&lt;mn&gt;25&lt;/mn&gt;&lt;/mfrac&gt;&lt;mo&gt;,&lt;/mo&gt;&lt;mtext&gt;&lt;/mtext&gt;&lt;mfrac&gt;&lt;mn&gt;7&lt;/mn&gt;&lt;mn&gt;20&lt;/mn&gt;&lt;/mfrac&gt;&lt;mo&gt;,&lt;/mo&gt;&lt;mtext&gt;&lt;/mtext&gt;&lt;mrow data-mjx-texclass=&quot;INNER&quot;&gt;&lt;mo data-mjx-texclass=&quot;OPEN&quot;&gt;(&lt;/mo&gt;&lt;mo&gt;−&lt;/mo&gt;&lt;mn&gt;0.37&lt;/mn&gt;&lt;mo data-mjx-texclass=&quot;CLOSE&quot;&gt;)&lt;/mo&gt;&lt;/mrow&gt;&lt;/math&gt;" id="1382" name="Google Shape;1382;p92" title="negative three eighths comma open paren negative 19 over 50 close paren comma 0.38 comma negative 0.371 comma 6 over 25 comma 7 over 20 comma negative 0.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250" y="3265450"/>
            <a:ext cx="5248749" cy="5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3" name="Google Shape;1383;p92"/>
          <p:cNvPicPr preferRelativeResize="0"/>
          <p:nvPr/>
        </p:nvPicPr>
        <p:blipFill rotWithShape="1">
          <a:blip r:embed="rId6">
            <a:alphaModFix/>
          </a:blip>
          <a:srcRect b="82522" l="0" r="0" t="0"/>
          <a:stretch/>
        </p:blipFill>
        <p:spPr>
          <a:xfrm>
            <a:off x="304800" y="1441525"/>
            <a:ext cx="274450" cy="33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92"/>
          <p:cNvPicPr preferRelativeResize="0"/>
          <p:nvPr/>
        </p:nvPicPr>
        <p:blipFill rotWithShape="1">
          <a:blip r:embed="rId6">
            <a:alphaModFix/>
          </a:blip>
          <a:srcRect b="0" l="0" r="0" t="82522"/>
          <a:stretch/>
        </p:blipFill>
        <p:spPr>
          <a:xfrm>
            <a:off x="304800" y="3338450"/>
            <a:ext cx="274450" cy="33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92"/>
          <p:cNvPicPr preferRelativeResize="0"/>
          <p:nvPr/>
        </p:nvPicPr>
        <p:blipFill rotWithShape="1">
          <a:blip r:embed="rId6">
            <a:alphaModFix/>
          </a:blip>
          <a:srcRect b="40596" l="0" r="0" t="41926"/>
          <a:stretch/>
        </p:blipFill>
        <p:spPr>
          <a:xfrm>
            <a:off x="324000" y="2393721"/>
            <a:ext cx="274450" cy="33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the following in order from smallest to largest.</a:t>
            </a:r>
            <a:endParaRPr/>
          </a:p>
          <a:p>
            <a:pPr indent="0" lvl="0" marL="0" rtl="0" algn="l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 positive and negative decimals and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left(-1\frac{7}{10}\right),\ \left(-1.5\right),\ \left(-1.405\right),\ \left(-1\frac{2}{5}\right),\ 1.74,\ 1\frac{3}{4}\ &quot;&gt;&lt;mrow data-mjx-texclass=&quot;INNER&quot;&gt;&lt;mo data-mjx-texclass=&quot;OPEN&quot;&gt;(&lt;/mo&gt;&lt;mo&gt;−&lt;/mo&gt;&lt;mn&gt;1&lt;/mn&gt;&lt;mfrac&gt;&lt;mn&gt;7&lt;/mn&gt;&lt;mn&gt;1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n&gt;1.5&lt;/mn&gt;&lt;mo data-mjx-texclass=&quot;CLOSE&quot;&gt;)&lt;/mo&gt;&lt;/mrow&gt;&lt;mo&gt;,&lt;/mo&gt;&lt;mtext&gt;&lt;/mtext&gt;&lt;mrow data-mjx-texclass=&quot;INNER&quot;&gt;&lt;mo data-mjx-texclass=&quot;OPEN&quot;&gt;(&lt;/mo&gt;&lt;mo&gt;−&lt;/mo&gt;&lt;mn&gt;1.405&lt;/mn&gt;&lt;mo data-mjx-texclass=&quot;CLOSE&quot;&gt;)&lt;/mo&gt;&lt;/mrow&gt;&lt;mo&gt;,&lt;/mo&gt;&lt;mtext&gt;&lt;/mtext&gt;&lt;mrow data-mjx-texclass=&quot;INNER&quot;&gt;&lt;mo data-mjx-texclass=&quot;OPEN&quot;&gt;(&lt;/mo&gt;&lt;mo&gt;−&lt;/mo&gt;&lt;mn&gt;1&lt;/mn&gt;&lt;mfrac&gt;&lt;mn&gt;2&lt;/mn&gt;&lt;mn&gt;5&lt;/mn&gt;&lt;/mfrac&gt;&lt;mo data-mjx-texclass=&quot;CLOSE&quot;&gt;)&lt;/mo&gt;&lt;/mrow&gt;&lt;mo&gt;,&lt;/mo&gt;&lt;mtext&gt;&lt;/mtext&gt;&lt;mn&gt;1.74&lt;/mn&gt;&lt;mo&gt;,&lt;/mo&gt;&lt;mtext&gt;&lt;/mtext&gt;&lt;mn&gt;1&lt;/mn&gt;&lt;mfrac&gt;&lt;mn&gt;3&lt;/mn&gt;&lt;mn&gt;4&lt;/mn&gt;&lt;/mfrac&gt;&lt;mtext&gt;&lt;/mtext&gt;&lt;/math&gt;" id="1392" name="Google Shape;1392;p93" title="open paren negative 1 and seven tenths close paren comma negative 1.5 comma negative 1.405 comma open paren negative 1 and two fifths close paren comma 1.74 comma 1 and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675" y="1271600"/>
            <a:ext cx="3905326" cy="45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\frac{19}{50}\right),\ \left(-\frac{3}{8}\right),\ \left(-0.371\right),\ \left(-0.37\right),\ \frac{6}{25},\ \frac{7}{20},\ 0.38&quot;&gt;&lt;mrow data-mjx-texclass=&quot;INNER&quot;&gt;&lt;mo data-mjx-texclass=&quot;OPEN&quot;&gt;(&lt;/mo&gt;&lt;mo&gt;−&lt;/mo&gt;&lt;mfrac&gt;&lt;mn&gt;19&lt;/mn&gt;&lt;mn&gt;50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3&lt;/mn&gt;&lt;mn&gt;8&lt;/mn&gt;&lt;/mfrac&gt;&lt;mo data-mjx-texclass=&quot;CLOSE&quot;&gt;)&lt;/mo&gt;&lt;/mrow&gt;&lt;mo&gt;,&lt;/mo&gt;&lt;mtext&gt;&lt;/mtext&gt;&lt;mrow data-mjx-texclass=&quot;INNER&quot;&gt;&lt;mo data-mjx-texclass=&quot;OPEN&quot;&gt;(&lt;/mo&gt;&lt;mo&gt;−&lt;/mo&gt;&lt;mn&gt;0.371&lt;/mn&gt;&lt;mo data-mjx-texclass=&quot;CLOSE&quot;&gt;)&lt;/mo&gt;&lt;/mrow&gt;&lt;mo&gt;,&lt;/mo&gt;&lt;mtext&gt;&lt;/mtext&gt;&lt;mrow data-mjx-texclass=&quot;INNER&quot;&gt;&lt;mo data-mjx-texclass=&quot;OPEN&quot;&gt;(&lt;/mo&gt;&lt;mo&gt;−&lt;/mo&gt;&lt;mn&gt;0.37&lt;/mn&gt;&lt;mo data-mjx-texclass=&quot;CLOSE&quot;&gt;)&lt;/mo&gt;&lt;/mrow&gt;&lt;mo&gt;,&lt;/mo&gt;&lt;mtext&gt;&lt;/mtext&gt;&lt;mfrac&gt;&lt;mn&gt;6&lt;/mn&gt;&lt;mn&gt;25&lt;/mn&gt;&lt;/mfrac&gt;&lt;mo&gt;,&lt;/mo&gt;&lt;mtext&gt;&lt;/mtext&gt;&lt;mfrac&gt;&lt;mn&gt;7&lt;/mn&gt;&lt;mn&gt;20&lt;/mn&gt;&lt;/mfrac&gt;&lt;mo&gt;,&lt;/mo&gt;&lt;mtext&gt;&lt;/mtext&gt;&lt;mn&gt;0.38&lt;/mn&gt;&lt;/math&gt;" id="1393" name="Google Shape;1393;p93" title="open paren negative 19 over 50 close paren comma negative three eighths comma negative 0.371 comma negative 0.37 comma 6 over 25 comma 7 over 20 comma 0.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850" y="3240002"/>
            <a:ext cx="5202425" cy="56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-0.375\right),\ \left(-\frac{11}{32}\right),\ \left(-\frac{21}{64}\right)0.125,\ \frac{3}{16},\frac{1}{4}&quot;&gt;&lt;mrow data-mjx-texclass=&quot;INNER&quot;&gt;&lt;mo data-mjx-texclass=&quot;OPEN&quot;&gt;(&lt;/mo&gt;&lt;mo&gt;−&lt;/mo&gt;&lt;mn&gt;0.375&lt;/mn&gt;&lt;mo data-mjx-texclass=&quot;CLOSE&quot;&gt;)&lt;/mo&gt;&lt;/mrow&gt;&lt;mo&gt;,&lt;/mo&gt;&lt;mtext&gt;&lt;/mtext&gt;&lt;mrow data-mjx-texclass=&quot;INNER&quot;&gt;&lt;mo data-mjx-texclass=&quot;OPEN&quot;&gt;(&lt;/mo&gt;&lt;mo&gt;−&lt;/mo&gt;&lt;mfrac&gt;&lt;mn&gt;11&lt;/mn&gt;&lt;mn&gt;32&lt;/mn&gt;&lt;/mfrac&gt;&lt;mo data-mjx-texclass=&quot;CLOSE&quot;&gt;)&lt;/mo&gt;&lt;/mrow&gt;&lt;mo&gt;,&lt;/mo&gt;&lt;mtext&gt;&lt;/mtext&gt;&lt;mrow data-mjx-texclass=&quot;INNER&quot;&gt;&lt;mo data-mjx-texclass=&quot;OPEN&quot;&gt;(&lt;/mo&gt;&lt;mo&gt;−&lt;/mo&gt;&lt;mfrac&gt;&lt;mn&gt;21&lt;/mn&gt;&lt;mn&gt;64&lt;/mn&gt;&lt;/mfrac&gt;&lt;mo data-mjx-texclass=&quot;CLOSE&quot;&gt;)&lt;/mo&gt;&lt;/mrow&gt;&lt;mn&gt;0.125&lt;/mn&gt;&lt;mo&gt;,&lt;/mo&gt;&lt;mtext&gt;&lt;/mtext&gt;&lt;mfrac&gt;&lt;mn&gt;3&lt;/mn&gt;&lt;mn&gt;16&lt;/mn&gt;&lt;/mfrac&gt;&lt;mo&gt;,&lt;/mo&gt;&lt;mfrac&gt;&lt;mn&gt;1&lt;/mn&gt;&lt;mn&gt;4&lt;/mn&gt;&lt;/mfrac&gt;&lt;/math&gt;" id="1394" name="Google Shape;1394;p93" title="negative 0.375 comma open paren negative 11 over 32 close paren comma open paren negative 21 over 64 close paren times 0.125 comma 3 over 16 comma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575" y="2201825"/>
            <a:ext cx="4873074" cy="6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93"/>
          <p:cNvPicPr preferRelativeResize="0"/>
          <p:nvPr/>
        </p:nvPicPr>
        <p:blipFill rotWithShape="1">
          <a:blip r:embed="rId6">
            <a:alphaModFix/>
          </a:blip>
          <a:srcRect b="84688" l="0" r="0" t="0"/>
          <a:stretch/>
        </p:blipFill>
        <p:spPr>
          <a:xfrm>
            <a:off x="324000" y="1302575"/>
            <a:ext cx="289550" cy="33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93"/>
          <p:cNvPicPr preferRelativeResize="0"/>
          <p:nvPr/>
        </p:nvPicPr>
        <p:blipFill rotWithShape="1">
          <a:blip r:embed="rId6">
            <a:alphaModFix/>
          </a:blip>
          <a:srcRect b="42014" l="0" r="0" t="41845"/>
          <a:stretch/>
        </p:blipFill>
        <p:spPr>
          <a:xfrm>
            <a:off x="295050" y="2344550"/>
            <a:ext cx="289550" cy="35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93"/>
          <p:cNvPicPr preferRelativeResize="0"/>
          <p:nvPr/>
        </p:nvPicPr>
        <p:blipFill rotWithShape="1">
          <a:blip r:embed="rId6">
            <a:alphaModFix/>
          </a:blip>
          <a:srcRect b="0" l="0" r="0" t="87174"/>
          <a:stretch/>
        </p:blipFill>
        <p:spPr>
          <a:xfrm>
            <a:off x="295050" y="3404775"/>
            <a:ext cx="289550" cy="2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94"/>
          <p:cNvSpPr txBox="1"/>
          <p:nvPr>
            <p:ph idx="1" type="body"/>
          </p:nvPr>
        </p:nvSpPr>
        <p:spPr>
          <a:xfrm>
            <a:off x="324000" y="7752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three main ways of ordering fractions and decimals.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Number sense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Converting all to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Converting all to fractions with a common denominator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</a:t>
            </a:r>
            <a:endParaRPr/>
          </a:p>
        </p:txBody>
      </p:sp>
      <p:sp>
        <p:nvSpPr>
          <p:cNvPr id="1403" name="Google Shape;1403;p94"/>
          <p:cNvSpPr txBox="1"/>
          <p:nvPr>
            <p:ph type="title"/>
          </p:nvPr>
        </p:nvSpPr>
        <p:spPr>
          <a:xfrm>
            <a:off x="1684800" y="157525"/>
            <a:ext cx="6656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positive and negative fractions and decimals</a:t>
            </a:r>
            <a:endParaRPr/>
          </a:p>
        </p:txBody>
      </p:sp>
      <p:pic>
        <p:nvPicPr>
          <p:cNvPr id="1404" name="Google Shape;1404;p94"/>
          <p:cNvPicPr preferRelativeResize="0"/>
          <p:nvPr/>
        </p:nvPicPr>
        <p:blipFill rotWithShape="1">
          <a:blip r:embed="rId3">
            <a:alphaModFix/>
          </a:blip>
          <a:srcRect b="0" l="0" r="0" t="74477"/>
          <a:stretch/>
        </p:blipFill>
        <p:spPr>
          <a:xfrm>
            <a:off x="1053400" y="3803697"/>
            <a:ext cx="4457276" cy="50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94"/>
          <p:cNvPicPr preferRelativeResize="0"/>
          <p:nvPr/>
        </p:nvPicPr>
        <p:blipFill rotWithShape="1">
          <a:blip r:embed="rId3">
            <a:alphaModFix/>
          </a:blip>
          <a:srcRect b="43941" l="0" r="0" t="36577"/>
          <a:stretch/>
        </p:blipFill>
        <p:spPr>
          <a:xfrm>
            <a:off x="799625" y="1777049"/>
            <a:ext cx="4457276" cy="38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94"/>
          <p:cNvPicPr preferRelativeResize="0"/>
          <p:nvPr/>
        </p:nvPicPr>
        <p:blipFill rotWithShape="1">
          <a:blip r:embed="rId3">
            <a:alphaModFix/>
          </a:blip>
          <a:srcRect b="77650" l="0" r="0" t="0"/>
          <a:stretch/>
        </p:blipFill>
        <p:spPr>
          <a:xfrm>
            <a:off x="911325" y="2738772"/>
            <a:ext cx="4457276" cy="43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9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12" name="Google Shape;141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