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C22427-E5FD-4A5D-B151-404026B64B14}">
  <a:tblStyle styleId="{36C22427-E5FD-4A5D-B151-404026B64B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52e9b3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52e9b3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652e9b3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652e9b3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652e9b3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652e9b3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92fb88b9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92fb88b9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9652e9b38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652e9b38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9652e9b38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9652e9b3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992fb88b9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92fb88b9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992fb88b9e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992fb88b9e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992fb88b9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992fb88b9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92fb88b9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92fb88b9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992fb88b9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992fb88b9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92fb88b9e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92fb88b9e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9652e9b38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9652e9b38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92fb88b9e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92fb88b9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92fb88b9e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92fb88b9e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9652e9b38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9652e9b38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eb2e43bfa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eb2e43bfa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eb2e43bf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eb2e43bf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1eb2e43bfaf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1eb2e43bfaf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eb2e43bfaf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1eb2e43bfaf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9652e9b3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9652e9b3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9652e9b38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652e9b38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9652e9b38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9652e9b38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9652e9b38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9652e9b38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1eb2e43bfa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1eb2e43bfa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b2e43bfa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b2e43bfa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1eb2e43bfa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1eb2e43bfa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9652e9b38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9652e9b38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9652e9b38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9652e9b38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1eb2e43bfaf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1eb2e43bfaf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1eb2e43bfaf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1eb2e43bfaf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eb2e43bfaf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eb2e43bfaf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1eb2e43bfaf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1eb2e43bfaf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23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3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3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56.png"/><Relationship Id="rId6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9" Type="http://schemas.openxmlformats.org/officeDocument/2006/relationships/image" Target="../media/image52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9" Type="http://schemas.openxmlformats.org/officeDocument/2006/relationships/image" Target="../media/image52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0.png"/><Relationship Id="rId4" Type="http://schemas.openxmlformats.org/officeDocument/2006/relationships/image" Target="../media/image52.png"/><Relationship Id="rId9" Type="http://schemas.openxmlformats.org/officeDocument/2006/relationships/image" Target="../media/image61.png"/><Relationship Id="rId5" Type="http://schemas.openxmlformats.org/officeDocument/2006/relationships/image" Target="../media/image50.png"/><Relationship Id="rId6" Type="http://schemas.openxmlformats.org/officeDocument/2006/relationships/image" Target="../media/image62.png"/><Relationship Id="rId7" Type="http://schemas.openxmlformats.org/officeDocument/2006/relationships/image" Target="../media/image47.png"/><Relationship Id="rId8" Type="http://schemas.openxmlformats.org/officeDocument/2006/relationships/image" Target="../media/image63.png"/><Relationship Id="rId11" Type="http://schemas.openxmlformats.org/officeDocument/2006/relationships/image" Target="../media/image64.png"/><Relationship Id="rId10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9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48.png"/><Relationship Id="rId7" Type="http://schemas.openxmlformats.org/officeDocument/2006/relationships/image" Target="../media/image47.png"/><Relationship Id="rId8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48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66.png"/><Relationship Id="rId5" Type="http://schemas.openxmlformats.org/officeDocument/2006/relationships/image" Target="../media/image65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70.png"/><Relationship Id="rId11" Type="http://schemas.openxmlformats.org/officeDocument/2006/relationships/image" Target="../media/image72.png"/><Relationship Id="rId10" Type="http://schemas.openxmlformats.org/officeDocument/2006/relationships/image" Target="../media/image67.png"/><Relationship Id="rId12" Type="http://schemas.openxmlformats.org/officeDocument/2006/relationships/image" Target="../media/image7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png"/><Relationship Id="rId4" Type="http://schemas.openxmlformats.org/officeDocument/2006/relationships/image" Target="../media/image75.png"/><Relationship Id="rId5" Type="http://schemas.openxmlformats.org/officeDocument/2006/relationships/image" Target="../media/image79.png"/><Relationship Id="rId6" Type="http://schemas.openxmlformats.org/officeDocument/2006/relationships/image" Target="../media/image57.png"/><Relationship Id="rId7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0.png"/><Relationship Id="rId4" Type="http://schemas.openxmlformats.org/officeDocument/2006/relationships/image" Target="../media/image77.png"/><Relationship Id="rId5" Type="http://schemas.openxmlformats.org/officeDocument/2006/relationships/image" Target="../media/image76.png"/><Relationship Id="rId6" Type="http://schemas.openxmlformats.org/officeDocument/2006/relationships/image" Target="../media/image81.png"/><Relationship Id="rId7" Type="http://schemas.openxmlformats.org/officeDocument/2006/relationships/image" Target="../media/image78.png"/><Relationship Id="rId8" Type="http://schemas.openxmlformats.org/officeDocument/2006/relationships/image" Target="../media/image8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84.png"/><Relationship Id="rId5" Type="http://schemas.openxmlformats.org/officeDocument/2006/relationships/image" Target="../media/image83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0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5" Type="http://schemas.openxmlformats.org/officeDocument/2006/relationships/image" Target="../media/image91.png"/><Relationship Id="rId6" Type="http://schemas.openxmlformats.org/officeDocument/2006/relationships/image" Target="../media/image89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3" Type="http://schemas.openxmlformats.org/officeDocument/2006/relationships/image" Target="../media/image110.png"/><Relationship Id="rId12" Type="http://schemas.openxmlformats.org/officeDocument/2006/relationships/image" Target="../media/image98.png"/><Relationship Id="rId14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Relationship Id="rId4" Type="http://schemas.openxmlformats.org/officeDocument/2006/relationships/image" Target="../media/image101.png"/><Relationship Id="rId9" Type="http://schemas.openxmlformats.org/officeDocument/2006/relationships/image" Target="../media/image105.png"/><Relationship Id="rId5" Type="http://schemas.openxmlformats.org/officeDocument/2006/relationships/image" Target="../media/image102.png"/><Relationship Id="rId6" Type="http://schemas.openxmlformats.org/officeDocument/2006/relationships/image" Target="../media/image65.png"/><Relationship Id="rId7" Type="http://schemas.openxmlformats.org/officeDocument/2006/relationships/image" Target="../media/image63.png"/><Relationship Id="rId8" Type="http://schemas.openxmlformats.org/officeDocument/2006/relationships/image" Target="../media/image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101.png"/><Relationship Id="rId9" Type="http://schemas.openxmlformats.org/officeDocument/2006/relationships/image" Target="../media/image66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61.png"/><Relationship Id="rId11" Type="http://schemas.openxmlformats.org/officeDocument/2006/relationships/image" Target="../media/image121.png"/><Relationship Id="rId10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Relationship Id="rId4" Type="http://schemas.openxmlformats.org/officeDocument/2006/relationships/image" Target="../media/image101.png"/><Relationship Id="rId9" Type="http://schemas.openxmlformats.org/officeDocument/2006/relationships/image" Target="../media/image105.png"/><Relationship Id="rId5" Type="http://schemas.openxmlformats.org/officeDocument/2006/relationships/image" Target="../media/image102.png"/><Relationship Id="rId6" Type="http://schemas.openxmlformats.org/officeDocument/2006/relationships/image" Target="../media/image65.png"/><Relationship Id="rId7" Type="http://schemas.openxmlformats.org/officeDocument/2006/relationships/image" Target="../media/image63.png"/><Relationship Id="rId8" Type="http://schemas.openxmlformats.org/officeDocument/2006/relationships/image" Target="../media/image61.png"/><Relationship Id="rId11" Type="http://schemas.openxmlformats.org/officeDocument/2006/relationships/image" Target="../media/image119.png"/><Relationship Id="rId10" Type="http://schemas.openxmlformats.org/officeDocument/2006/relationships/image" Target="../media/image118.png"/><Relationship Id="rId13" Type="http://schemas.openxmlformats.org/officeDocument/2006/relationships/image" Target="../media/image122.png"/><Relationship Id="rId12" Type="http://schemas.openxmlformats.org/officeDocument/2006/relationships/image" Target="../media/image120.png"/><Relationship Id="rId14" Type="http://schemas.openxmlformats.org/officeDocument/2006/relationships/image" Target="../media/image1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2.png"/><Relationship Id="rId4" Type="http://schemas.openxmlformats.org/officeDocument/2006/relationships/image" Target="../media/image127.png"/><Relationship Id="rId9" Type="http://schemas.openxmlformats.org/officeDocument/2006/relationships/image" Target="../media/image101.png"/><Relationship Id="rId5" Type="http://schemas.openxmlformats.org/officeDocument/2006/relationships/image" Target="../media/image128.png"/><Relationship Id="rId6" Type="http://schemas.openxmlformats.org/officeDocument/2006/relationships/image" Target="../media/image126.png"/><Relationship Id="rId7" Type="http://schemas.openxmlformats.org/officeDocument/2006/relationships/image" Target="../media/image131.png"/><Relationship Id="rId8" Type="http://schemas.openxmlformats.org/officeDocument/2006/relationships/image" Target="../media/image48.png"/><Relationship Id="rId11" Type="http://schemas.openxmlformats.org/officeDocument/2006/relationships/image" Target="../media/image113.png"/><Relationship Id="rId10" Type="http://schemas.openxmlformats.org/officeDocument/2006/relationships/image" Target="../media/image112.png"/><Relationship Id="rId13" Type="http://schemas.openxmlformats.org/officeDocument/2006/relationships/image" Target="../media/image61.png"/><Relationship Id="rId12" Type="http://schemas.openxmlformats.org/officeDocument/2006/relationships/image" Target="../media/image114.png"/><Relationship Id="rId15" Type="http://schemas.openxmlformats.org/officeDocument/2006/relationships/image" Target="../media/image59.png"/><Relationship Id="rId14" Type="http://schemas.openxmlformats.org/officeDocument/2006/relationships/image" Target="../media/image66.png"/><Relationship Id="rId16" Type="http://schemas.openxmlformats.org/officeDocument/2006/relationships/image" Target="../media/image1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that, for any two numbers, there is always another number in between them.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306279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proper fraction is a fraction where the numerator is less than the denominator.  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Two fractions are equivalent if they have the same value.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-GB"/>
              <a:t>E.g.  </a:t>
            </a:r>
            <a:endParaRPr b="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483826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lowest common multiple is the lowest number that is a multiple of two or more numbers. 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769" name="Google Shape;769;p67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609" y="1428075"/>
            <a:ext cx="174666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times40}{5\times40}=\frac{80}{200}&quot;&gt;&lt;mfrac&gt;&lt;mrow&gt;&lt;mn&gt;2&lt;/mn&gt;&lt;mo&gt;×&lt;/mo&gt;&lt;mn&gt;40&lt;/mn&gt;&lt;/mrow&gt;&lt;mrow&gt;&lt;mn&gt;5&lt;/mn&gt;&lt;mo&gt;×&lt;/mo&gt;&lt;mn&gt;40&lt;/mn&gt;&lt;/mrow&gt;&lt;/mfrac&gt;&lt;mo&gt;=&lt;/mo&gt;&lt;mfrac&gt;&lt;mn&gt;80&lt;/mn&gt;&lt;mn&gt;200&lt;/mn&gt;&lt;/mfrac&gt;&lt;/math&gt;" id="770" name="Google Shape;770;p67" title="the fraction with numerator 2 times 40 and denominator 5 times 40 equals 80 over 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7875" y="1422338"/>
            <a:ext cx="1584891" cy="572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776" name="Google Shape;77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784" name="Google Shape;784;p69"/>
          <p:cNvSpPr txBox="1"/>
          <p:nvPr/>
        </p:nvSpPr>
        <p:spPr>
          <a:xfrm>
            <a:off x="324000" y="647575"/>
            <a:ext cx="8496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and Sofia 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playing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 game. They have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down an integer between the two numbers on the number line.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winner is the person who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highest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5" name="Google Shape;785;p69"/>
          <p:cNvGrpSpPr/>
          <p:nvPr/>
        </p:nvGrpSpPr>
        <p:grpSpPr>
          <a:xfrm>
            <a:off x="2335088" y="1778032"/>
            <a:ext cx="4511212" cy="556220"/>
            <a:chOff x="2335088" y="1778032"/>
            <a:chExt cx="4511212" cy="556220"/>
          </a:xfrm>
        </p:grpSpPr>
        <p:grpSp>
          <p:nvGrpSpPr>
            <p:cNvPr id="786" name="Google Shape;786;p69"/>
            <p:cNvGrpSpPr/>
            <p:nvPr/>
          </p:nvGrpSpPr>
          <p:grpSpPr>
            <a:xfrm>
              <a:off x="2406388" y="2156952"/>
              <a:ext cx="4093200" cy="177300"/>
              <a:chOff x="2525400" y="1458920"/>
              <a:chExt cx="4093200" cy="177300"/>
            </a:xfrm>
          </p:grpSpPr>
          <p:cxnSp>
            <p:nvCxnSpPr>
              <p:cNvPr id="787" name="Google Shape;787;p69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69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" name="Google Shape;789;p69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90" name="Google Shape;790;p69"/>
            <p:cNvSpPr txBox="1"/>
            <p:nvPr/>
          </p:nvSpPr>
          <p:spPr>
            <a:xfrm>
              <a:off x="2335088" y="1778032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9"/>
            <p:cNvSpPr txBox="1"/>
            <p:nvPr/>
          </p:nvSpPr>
          <p:spPr>
            <a:xfrm>
              <a:off x="6381600" y="1778032"/>
              <a:ext cx="464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2" name="Google Shape;792;p69"/>
          <p:cNvGrpSpPr/>
          <p:nvPr/>
        </p:nvGrpSpPr>
        <p:grpSpPr>
          <a:xfrm>
            <a:off x="1204256" y="2416648"/>
            <a:ext cx="2464635" cy="811474"/>
            <a:chOff x="1394902" y="2375077"/>
            <a:chExt cx="2917073" cy="1909350"/>
          </a:xfrm>
        </p:grpSpPr>
        <p:pic>
          <p:nvPicPr>
            <p:cNvPr id="793" name="Google Shape;793;p6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394902" y="2375077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69"/>
            <p:cNvSpPr txBox="1"/>
            <p:nvPr/>
          </p:nvSpPr>
          <p:spPr>
            <a:xfrm>
              <a:off x="1649775" y="2431877"/>
              <a:ext cx="2662200" cy="14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I’ve written mine down.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5" name="Google Shape;795;p69"/>
          <p:cNvGrpSpPr/>
          <p:nvPr/>
        </p:nvGrpSpPr>
        <p:grpSpPr>
          <a:xfrm>
            <a:off x="5891650" y="2830600"/>
            <a:ext cx="2028500" cy="343949"/>
            <a:chOff x="5206152" y="684984"/>
            <a:chExt cx="2028500" cy="495319"/>
          </a:xfrm>
        </p:grpSpPr>
        <p:pic>
          <p:nvPicPr>
            <p:cNvPr id="796" name="Google Shape;796;p6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206152" y="692545"/>
              <a:ext cx="1116600" cy="487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 txBox="1"/>
            <p:nvPr/>
          </p:nvSpPr>
          <p:spPr>
            <a:xfrm>
              <a:off x="5321251" y="684984"/>
              <a:ext cx="19134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Me too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98" name="Google Shape;79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6239" y="3228163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 txBox="1"/>
          <p:nvPr/>
        </p:nvSpPr>
        <p:spPr>
          <a:xfrm>
            <a:off x="-20241" y="40913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2125200" y="3433650"/>
            <a:ext cx="355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either of them win?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2125200" y="3776625"/>
            <a:ext cx="503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because they both will have written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2125200" y="411945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Why will they both have written 1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2125200" y="4462425"/>
            <a:ext cx="538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it is the only integer between 0 and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4" name="Google Shape;804;p69"/>
          <p:cNvSpPr txBox="1"/>
          <p:nvPr/>
        </p:nvSpPr>
        <p:spPr>
          <a:xfrm>
            <a:off x="7234713" y="3861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5" name="Google Shape;80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4790" y="3100313"/>
            <a:ext cx="807760" cy="89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811" name="Google Shape;811;p70"/>
          <p:cNvSpPr txBox="1"/>
          <p:nvPr/>
        </p:nvSpPr>
        <p:spPr>
          <a:xfrm>
            <a:off x="324000" y="647575"/>
            <a:ext cx="8496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have decided to change the game. This time they have to write down any number between the two numbers on the number line.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winner is still the person who writes the highest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2" name="Google Shape;812;p70"/>
          <p:cNvGrpSpPr/>
          <p:nvPr/>
        </p:nvGrpSpPr>
        <p:grpSpPr>
          <a:xfrm>
            <a:off x="2335088" y="1625632"/>
            <a:ext cx="4511212" cy="556220"/>
            <a:chOff x="2335088" y="1778032"/>
            <a:chExt cx="4511212" cy="556220"/>
          </a:xfrm>
        </p:grpSpPr>
        <p:grpSp>
          <p:nvGrpSpPr>
            <p:cNvPr id="813" name="Google Shape;813;p70"/>
            <p:cNvGrpSpPr/>
            <p:nvPr/>
          </p:nvGrpSpPr>
          <p:grpSpPr>
            <a:xfrm>
              <a:off x="2406388" y="2156952"/>
              <a:ext cx="4093200" cy="177300"/>
              <a:chOff x="2525400" y="1458920"/>
              <a:chExt cx="4093200" cy="177300"/>
            </a:xfrm>
          </p:grpSpPr>
          <p:cxnSp>
            <p:nvCxnSpPr>
              <p:cNvPr id="814" name="Google Shape;814;p7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5" name="Google Shape;815;p7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6" name="Google Shape;816;p7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17" name="Google Shape;817;p70"/>
            <p:cNvSpPr txBox="1"/>
            <p:nvPr/>
          </p:nvSpPr>
          <p:spPr>
            <a:xfrm>
              <a:off x="2335088" y="1778032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70"/>
            <p:cNvSpPr txBox="1"/>
            <p:nvPr/>
          </p:nvSpPr>
          <p:spPr>
            <a:xfrm>
              <a:off x="6381600" y="1778032"/>
              <a:ext cx="464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9" name="Google Shape;819;p70"/>
          <p:cNvGrpSpPr/>
          <p:nvPr/>
        </p:nvGrpSpPr>
        <p:grpSpPr>
          <a:xfrm>
            <a:off x="1051844" y="2264214"/>
            <a:ext cx="2464637" cy="1243849"/>
            <a:chOff x="1394899" y="2375073"/>
            <a:chExt cx="2917076" cy="1637074"/>
          </a:xfrm>
        </p:grpSpPr>
        <p:pic>
          <p:nvPicPr>
            <p:cNvPr id="820" name="Google Shape;820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394899" y="2375073"/>
              <a:ext cx="2867763" cy="163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0"/>
            <p:cNvSpPr txBox="1"/>
            <p:nvPr/>
          </p:nvSpPr>
          <p:spPr>
            <a:xfrm>
              <a:off x="1649775" y="2431877"/>
              <a:ext cx="2662200" cy="13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written mine down.  I know I’m definitely going to win.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2" name="Google Shape;822;p70"/>
          <p:cNvGrpSpPr/>
          <p:nvPr/>
        </p:nvGrpSpPr>
        <p:grpSpPr>
          <a:xfrm>
            <a:off x="5358175" y="2268912"/>
            <a:ext cx="2230076" cy="1200574"/>
            <a:chOff x="5264278" y="661588"/>
            <a:chExt cx="1701309" cy="487761"/>
          </a:xfrm>
        </p:grpSpPr>
        <p:pic>
          <p:nvPicPr>
            <p:cNvPr id="823" name="Google Shape;823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264278" y="661588"/>
              <a:ext cx="1701309" cy="4877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70"/>
            <p:cNvSpPr txBox="1"/>
            <p:nvPr/>
          </p:nvSpPr>
          <p:spPr>
            <a:xfrm>
              <a:off x="5321247" y="684984"/>
              <a:ext cx="1545900" cy="3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Me too, but not certain I am going to win.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5" name="Google Shape;82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6239" y="3228163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0"/>
          <p:cNvSpPr txBox="1"/>
          <p:nvPr/>
        </p:nvSpPr>
        <p:spPr>
          <a:xfrm>
            <a:off x="-20241" y="40913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7234713" y="3861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8" name="Google Shape;82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4790" y="31003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0"/>
          <p:cNvSpPr txBox="1"/>
          <p:nvPr/>
        </p:nvSpPr>
        <p:spPr>
          <a:xfrm>
            <a:off x="1702950" y="3433650"/>
            <a:ext cx="552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number do you think Andeep has written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2125200" y="3776625"/>
            <a:ext cx="503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1702950" y="3845113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you think Andeep has won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1663700" y="4514100"/>
            <a:ext cx="331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0.9991, 0.9999 0.99999999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33" name="Google Shape;833;p70"/>
          <p:cNvGrpSpPr/>
          <p:nvPr/>
        </p:nvGrpSpPr>
        <p:grpSpPr>
          <a:xfrm>
            <a:off x="1059170" y="2669687"/>
            <a:ext cx="2464635" cy="811474"/>
            <a:chOff x="1394902" y="2375077"/>
            <a:chExt cx="2917073" cy="1909350"/>
          </a:xfrm>
        </p:grpSpPr>
        <p:pic>
          <p:nvPicPr>
            <p:cNvPr id="834" name="Google Shape;834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394902" y="2375077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70"/>
            <p:cNvSpPr txBox="1"/>
            <p:nvPr/>
          </p:nvSpPr>
          <p:spPr>
            <a:xfrm>
              <a:off x="1649775" y="2431877"/>
              <a:ext cx="2662200" cy="14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I’ve written down 0.99, so I win.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6" name="Google Shape;836;p70"/>
          <p:cNvGrpSpPr/>
          <p:nvPr/>
        </p:nvGrpSpPr>
        <p:grpSpPr>
          <a:xfrm>
            <a:off x="5345328" y="2272183"/>
            <a:ext cx="2230076" cy="1200574"/>
            <a:chOff x="4392291" y="661588"/>
            <a:chExt cx="1701309" cy="487761"/>
          </a:xfrm>
        </p:grpSpPr>
        <p:pic>
          <p:nvPicPr>
            <p:cNvPr id="837" name="Google Shape;837;p7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392291" y="661588"/>
              <a:ext cx="1701309" cy="4877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0"/>
            <p:cNvSpPr txBox="1"/>
            <p:nvPr/>
          </p:nvSpPr>
          <p:spPr>
            <a:xfrm>
              <a:off x="4450425" y="688082"/>
              <a:ext cx="1469700" cy="33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Actually I win, I wrote down 0.999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9" name="Google Shape;839;p70"/>
          <p:cNvSpPr txBox="1"/>
          <p:nvPr/>
        </p:nvSpPr>
        <p:spPr>
          <a:xfrm>
            <a:off x="1684800" y="4256575"/>
            <a:ext cx="53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number that would beat Sofia’s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845" name="Google Shape;845;p71"/>
          <p:cNvSpPr txBox="1"/>
          <p:nvPr>
            <p:ph idx="1" type="body"/>
          </p:nvPr>
        </p:nvSpPr>
        <p:spPr>
          <a:xfrm>
            <a:off x="324000" y="759300"/>
            <a:ext cx="849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play with the same rules here. Write down a number between 0 and 0.5. The highest number wins.</a:t>
            </a:r>
            <a:endParaRPr/>
          </a:p>
        </p:txBody>
      </p:sp>
      <p:grpSp>
        <p:nvGrpSpPr>
          <p:cNvPr id="846" name="Google Shape;846;p71"/>
          <p:cNvGrpSpPr/>
          <p:nvPr/>
        </p:nvGrpSpPr>
        <p:grpSpPr>
          <a:xfrm>
            <a:off x="2335088" y="1778032"/>
            <a:ext cx="4410548" cy="556220"/>
            <a:chOff x="2335088" y="1778032"/>
            <a:chExt cx="4410548" cy="556220"/>
          </a:xfrm>
        </p:grpSpPr>
        <p:grpSp>
          <p:nvGrpSpPr>
            <p:cNvPr id="847" name="Google Shape;847;p71"/>
            <p:cNvGrpSpPr/>
            <p:nvPr/>
          </p:nvGrpSpPr>
          <p:grpSpPr>
            <a:xfrm>
              <a:off x="2406388" y="2156952"/>
              <a:ext cx="4093200" cy="177300"/>
              <a:chOff x="2525400" y="1458920"/>
              <a:chExt cx="4093200" cy="177300"/>
            </a:xfrm>
          </p:grpSpPr>
          <p:cxnSp>
            <p:nvCxnSpPr>
              <p:cNvPr id="848" name="Google Shape;848;p71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" name="Google Shape;849;p71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0" name="Google Shape;850;p71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51" name="Google Shape;851;p71"/>
            <p:cNvSpPr txBox="1"/>
            <p:nvPr/>
          </p:nvSpPr>
          <p:spPr>
            <a:xfrm>
              <a:off x="2335088" y="1778032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71"/>
            <p:cNvSpPr txBox="1"/>
            <p:nvPr/>
          </p:nvSpPr>
          <p:spPr>
            <a:xfrm>
              <a:off x="6280937" y="1778032"/>
              <a:ext cx="464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3" name="Google Shape;85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3532963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1"/>
          <p:cNvSpPr txBox="1"/>
          <p:nvPr/>
        </p:nvSpPr>
        <p:spPr>
          <a:xfrm>
            <a:off x="-20241" y="43947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7234713" y="4394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6" name="Google Shape;85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790" y="36337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1"/>
          <p:cNvSpPr/>
          <p:nvPr/>
        </p:nvSpPr>
        <p:spPr>
          <a:xfrm>
            <a:off x="1681275" y="3455375"/>
            <a:ext cx="1724700" cy="55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0.49999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/>
          <p:nvPr/>
        </p:nvSpPr>
        <p:spPr>
          <a:xfrm>
            <a:off x="5668350" y="3452400"/>
            <a:ext cx="1724700" cy="55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0.499991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324000" y="2499668"/>
            <a:ext cx="84960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that beats Andeep’s and Sofia’s.</a:t>
            </a:r>
            <a:endParaRPr/>
          </a:p>
        </p:txBody>
      </p: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324000" y="2977525"/>
            <a:ext cx="42072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0.499999, 0.499998, 0.4999912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866" name="Google Shape;866;p72"/>
          <p:cNvSpPr txBox="1"/>
          <p:nvPr>
            <p:ph idx="1" type="body"/>
          </p:nvPr>
        </p:nvSpPr>
        <p:spPr>
          <a:xfrm>
            <a:off x="335750" y="691759"/>
            <a:ext cx="7123500" cy="12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 and Sofia are now playing a different game.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take it in turns to roll a dice and place that digit into one box on the card.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aim of the game is still to get the highest number. </a:t>
            </a:r>
            <a:endParaRPr sz="1800"/>
          </a:p>
        </p:txBody>
      </p:sp>
      <p:graphicFrame>
        <p:nvGraphicFramePr>
          <p:cNvPr id="867" name="Google Shape;867;p72"/>
          <p:cNvGraphicFramePr/>
          <p:nvPr/>
        </p:nvGraphicFramePr>
        <p:xfrm>
          <a:off x="1492000" y="1970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8" name="Google Shape;868;p72"/>
          <p:cNvGraphicFramePr/>
          <p:nvPr/>
        </p:nvGraphicFramePr>
        <p:xfrm>
          <a:off x="4827707" y="1970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9" name="Google Shape;869;p72"/>
          <p:cNvSpPr/>
          <p:nvPr/>
        </p:nvSpPr>
        <p:spPr>
          <a:xfrm>
            <a:off x="2337000" y="2326145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/>
          <p:nvPr/>
        </p:nvSpPr>
        <p:spPr>
          <a:xfrm>
            <a:off x="5678782" y="2326145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1" name="Google Shape;8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2161097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2"/>
          <p:cNvSpPr txBox="1"/>
          <p:nvPr/>
        </p:nvSpPr>
        <p:spPr>
          <a:xfrm>
            <a:off x="-20241" y="3024332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7539513" y="3056271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4" name="Google Shape;87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590" y="2295235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5196" y="2981034"/>
            <a:ext cx="441626" cy="43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5758" y="2980800"/>
            <a:ext cx="463843" cy="450308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2832850" y="2243509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7090432" y="22428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pic>
        <p:nvPicPr>
          <p:cNvPr id="879" name="Google Shape;879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00668" y="2981034"/>
            <a:ext cx="437476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3808350" y="2243509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pic>
        <p:nvPicPr>
          <p:cNvPr id="881" name="Google Shape;881;p72"/>
          <p:cNvPicPr preferRelativeResize="0"/>
          <p:nvPr/>
        </p:nvPicPr>
        <p:blipFill rotWithShape="1">
          <a:blip r:embed="rId8">
            <a:alphaModFix/>
          </a:blip>
          <a:srcRect b="2162" l="0" r="0" t="0"/>
          <a:stretch/>
        </p:blipFill>
        <p:spPr>
          <a:xfrm>
            <a:off x="6449152" y="2980800"/>
            <a:ext cx="463842" cy="450314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6141469" y="2243509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id="883" name="Google Shape;883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4081" y="2981034"/>
            <a:ext cx="437476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2"/>
          <p:cNvSpPr txBox="1"/>
          <p:nvPr>
            <p:ph idx="1" type="body"/>
          </p:nvPr>
        </p:nvSpPr>
        <p:spPr>
          <a:xfrm>
            <a:off x="1829314" y="2243509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85" name="Google Shape;885;p72"/>
          <p:cNvSpPr txBox="1"/>
          <p:nvPr>
            <p:ph idx="1" type="body"/>
          </p:nvPr>
        </p:nvSpPr>
        <p:spPr>
          <a:xfrm>
            <a:off x="324000" y="3554834"/>
            <a:ext cx="20916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Can Sofia win?</a:t>
            </a:r>
            <a:endParaRPr sz="2100"/>
          </a:p>
        </p:txBody>
      </p:sp>
      <p:sp>
        <p:nvSpPr>
          <p:cNvPr id="886" name="Google Shape;886;p72"/>
          <p:cNvSpPr txBox="1"/>
          <p:nvPr>
            <p:ph idx="1" type="body"/>
          </p:nvPr>
        </p:nvSpPr>
        <p:spPr>
          <a:xfrm>
            <a:off x="335748" y="4097359"/>
            <a:ext cx="20916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Yes, she can.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72"/>
          <p:cNvSpPr txBox="1"/>
          <p:nvPr>
            <p:ph idx="1" type="body"/>
          </p:nvPr>
        </p:nvSpPr>
        <p:spPr>
          <a:xfrm>
            <a:off x="324000" y="3554834"/>
            <a:ext cx="53205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numbers </a:t>
            </a:r>
            <a:r>
              <a:rPr lang="en-GB" sz="2100"/>
              <a:t>could she roll to win</a:t>
            </a:r>
            <a:r>
              <a:rPr lang="en-GB" sz="2100"/>
              <a:t>?</a:t>
            </a:r>
            <a:endParaRPr sz="2100"/>
          </a:p>
        </p:txBody>
      </p:sp>
      <p:sp>
        <p:nvSpPr>
          <p:cNvPr id="888" name="Google Shape;888;p72"/>
          <p:cNvSpPr txBox="1"/>
          <p:nvPr>
            <p:ph idx="1" type="body"/>
          </p:nvPr>
        </p:nvSpPr>
        <p:spPr>
          <a:xfrm>
            <a:off x="335748" y="4097359"/>
            <a:ext cx="267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She can roll a 5 or 6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9" name="Google Shape;889;p72"/>
          <p:cNvSpPr txBox="1"/>
          <p:nvPr>
            <p:ph idx="1" type="body"/>
          </p:nvPr>
        </p:nvSpPr>
        <p:spPr>
          <a:xfrm>
            <a:off x="324000" y="3554834"/>
            <a:ext cx="44910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Why can’t she roll a 4?</a:t>
            </a:r>
            <a:endParaRPr sz="2100"/>
          </a:p>
        </p:txBody>
      </p:sp>
      <p:sp>
        <p:nvSpPr>
          <p:cNvPr id="890" name="Google Shape;890;p72"/>
          <p:cNvSpPr txBox="1"/>
          <p:nvPr>
            <p:ph idx="1" type="body"/>
          </p:nvPr>
        </p:nvSpPr>
        <p:spPr>
          <a:xfrm>
            <a:off x="335748" y="4097359"/>
            <a:ext cx="68667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Because Andeep already has a 3 in the tenths column.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1" name="Google Shape;89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3671" y="2980800"/>
            <a:ext cx="441626" cy="43421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324000" y="4539634"/>
            <a:ext cx="69900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will let Sofia roll the dice and see if she did win.</a:t>
            </a:r>
            <a:endParaRPr sz="2100"/>
          </a:p>
        </p:txBody>
      </p:sp>
      <p:sp>
        <p:nvSpPr>
          <p:cNvPr id="893" name="Google Shape;893;p72"/>
          <p:cNvSpPr txBox="1"/>
          <p:nvPr>
            <p:ph idx="1" type="body"/>
          </p:nvPr>
        </p:nvSpPr>
        <p:spPr>
          <a:xfrm>
            <a:off x="5179775" y="22428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94" name="Google Shape;894;p72"/>
          <p:cNvSpPr txBox="1"/>
          <p:nvPr>
            <p:ph idx="1" type="body"/>
          </p:nvPr>
        </p:nvSpPr>
        <p:spPr>
          <a:xfrm>
            <a:off x="7054318" y="4544266"/>
            <a:ext cx="14556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She didn’t.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900" name="Google Shape;900;p73"/>
          <p:cNvSpPr txBox="1"/>
          <p:nvPr>
            <p:ph idx="1" type="body"/>
          </p:nvPr>
        </p:nvSpPr>
        <p:spPr>
          <a:xfrm>
            <a:off x="324000" y="702000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 1 and 4.</a:t>
            </a:r>
            <a:endParaRPr sz="1800"/>
          </a:p>
        </p:txBody>
      </p:sp>
      <p:graphicFrame>
        <p:nvGraphicFramePr>
          <p:cNvPr id="901" name="Google Shape;901;p73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2" name="Google Shape;902;p73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3" name="Google Shape;903;p73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3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2381038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3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3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8" name="Google Shape;90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3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3"/>
          <p:cNvSpPr txBox="1"/>
          <p:nvPr>
            <p:ph idx="1" type="body"/>
          </p:nvPr>
        </p:nvSpPr>
        <p:spPr>
          <a:xfrm>
            <a:off x="6162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13" name="Google Shape;913;p73"/>
          <p:cNvSpPr txBox="1"/>
          <p:nvPr/>
        </p:nvSpPr>
        <p:spPr>
          <a:xfrm>
            <a:off x="324000" y="3828534"/>
            <a:ext cx="5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Sofia put the 6 in the ones box?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324000" y="4203425"/>
            <a:ext cx="8323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can’t put it in the ones box as the number has to be less than 4.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920" name="Google Shape;920;p74"/>
          <p:cNvSpPr txBox="1"/>
          <p:nvPr>
            <p:ph idx="1" type="body"/>
          </p:nvPr>
        </p:nvSpPr>
        <p:spPr>
          <a:xfrm>
            <a:off x="324000" y="702000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 1 and 4.</a:t>
            </a:r>
            <a:endParaRPr sz="1800"/>
          </a:p>
        </p:txBody>
      </p:sp>
      <p:graphicFrame>
        <p:nvGraphicFramePr>
          <p:cNvPr id="921" name="Google Shape;921;p74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2" name="Google Shape;922;p74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3" name="Google Shape;923;p74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5" name="Google Shape;92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2381038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4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8" name="Google Shape;92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4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4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1" name="Google Shape;931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4"/>
          <p:cNvSpPr txBox="1"/>
          <p:nvPr>
            <p:ph idx="1" type="body"/>
          </p:nvPr>
        </p:nvSpPr>
        <p:spPr>
          <a:xfrm>
            <a:off x="6162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33" name="Google Shape;933;p74"/>
          <p:cNvSpPr txBox="1"/>
          <p:nvPr/>
        </p:nvSpPr>
        <p:spPr>
          <a:xfrm>
            <a:off x="324000" y="3828525"/>
            <a:ext cx="535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Andeep put the 5 in the ones box?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324000" y="4203425"/>
            <a:ext cx="83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for the same reason as Sofia.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5" name="Google Shape;935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4766" y="2286000"/>
            <a:ext cx="43257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4"/>
          <p:cNvSpPr txBox="1"/>
          <p:nvPr>
            <p:ph idx="1" type="body"/>
          </p:nvPr>
        </p:nvSpPr>
        <p:spPr>
          <a:xfrm>
            <a:off x="27925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942" name="Google Shape;942;p75"/>
          <p:cNvSpPr txBox="1"/>
          <p:nvPr>
            <p:ph idx="1" type="body"/>
          </p:nvPr>
        </p:nvSpPr>
        <p:spPr>
          <a:xfrm>
            <a:off x="324000" y="700418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</a:t>
            </a:r>
            <a:r>
              <a:rPr lang="en-GB" sz="1800"/>
              <a:t> 1 and 4.</a:t>
            </a:r>
            <a:endParaRPr sz="1800"/>
          </a:p>
        </p:txBody>
      </p:sp>
      <p:graphicFrame>
        <p:nvGraphicFramePr>
          <p:cNvPr id="943" name="Google Shape;943;p75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4" name="Google Shape;944;p75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5" name="Google Shape;945;p75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9" name="Google Shape;94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5"/>
          <p:cNvSpPr txBox="1"/>
          <p:nvPr>
            <p:ph idx="1" type="body"/>
          </p:nvPr>
        </p:nvSpPr>
        <p:spPr>
          <a:xfrm>
            <a:off x="6162150" y="1549568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pic>
        <p:nvPicPr>
          <p:cNvPr id="951" name="Google Shape;95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766" y="2286000"/>
            <a:ext cx="43257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5"/>
          <p:cNvSpPr txBox="1"/>
          <p:nvPr>
            <p:ph idx="1" type="body"/>
          </p:nvPr>
        </p:nvSpPr>
        <p:spPr>
          <a:xfrm>
            <a:off x="2792550" y="1549568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id="953" name="Google Shape;953;p75"/>
          <p:cNvPicPr preferRelativeResize="0"/>
          <p:nvPr/>
        </p:nvPicPr>
        <p:blipFill rotWithShape="1">
          <a:blip r:embed="rId5">
            <a:alphaModFix/>
          </a:blip>
          <a:srcRect b="2162" l="0" r="0" t="0"/>
          <a:stretch/>
        </p:blipFill>
        <p:spPr>
          <a:xfrm>
            <a:off x="5678764" y="2286000"/>
            <a:ext cx="463842" cy="45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75"/>
          <p:cNvSpPr txBox="1"/>
          <p:nvPr>
            <p:ph idx="1" type="body"/>
          </p:nvPr>
        </p:nvSpPr>
        <p:spPr>
          <a:xfrm>
            <a:off x="7066800" y="1549568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55" name="Google Shape;955;p75"/>
          <p:cNvSpPr txBox="1"/>
          <p:nvPr/>
        </p:nvSpPr>
        <p:spPr>
          <a:xfrm>
            <a:off x="336250" y="3769943"/>
            <a:ext cx="759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do you think that Sofia puts the 2 in the hundredths column?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 txBox="1"/>
          <p:nvPr/>
        </p:nvSpPr>
        <p:spPr>
          <a:xfrm>
            <a:off x="324000" y="4363006"/>
            <a:ext cx="50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Probably because 2.6 is still quite far from 4.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57" name="Google Shape;957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6239" y="2381038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5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5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0" name="Google Shape;960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graphicFrame>
        <p:nvGraphicFramePr>
          <p:cNvPr id="966" name="Google Shape;966;p76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7" name="Google Shape;967;p76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8" name="Google Shape;968;p76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6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2" name="Google Shape;97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6"/>
          <p:cNvSpPr txBox="1"/>
          <p:nvPr>
            <p:ph idx="1" type="body"/>
          </p:nvPr>
        </p:nvSpPr>
        <p:spPr>
          <a:xfrm>
            <a:off x="6162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pic>
        <p:nvPicPr>
          <p:cNvPr id="974" name="Google Shape;97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766" y="2286000"/>
            <a:ext cx="43257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76"/>
          <p:cNvSpPr txBox="1"/>
          <p:nvPr>
            <p:ph idx="1" type="body"/>
          </p:nvPr>
        </p:nvSpPr>
        <p:spPr>
          <a:xfrm>
            <a:off x="27925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id="976" name="Google Shape;976;p76"/>
          <p:cNvPicPr preferRelativeResize="0"/>
          <p:nvPr/>
        </p:nvPicPr>
        <p:blipFill rotWithShape="1">
          <a:blip r:embed="rId5">
            <a:alphaModFix/>
          </a:blip>
          <a:srcRect b="2162" l="0" r="0" t="0"/>
          <a:stretch/>
        </p:blipFill>
        <p:spPr>
          <a:xfrm>
            <a:off x="5678764" y="2286000"/>
            <a:ext cx="463842" cy="45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6"/>
          <p:cNvSpPr txBox="1"/>
          <p:nvPr>
            <p:ph idx="1" type="body"/>
          </p:nvPr>
        </p:nvSpPr>
        <p:spPr>
          <a:xfrm>
            <a:off x="706680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id="978" name="Google Shape;97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7008" y="2286000"/>
            <a:ext cx="441626" cy="434219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6"/>
          <p:cNvSpPr txBox="1"/>
          <p:nvPr>
            <p:ph idx="1" type="body"/>
          </p:nvPr>
        </p:nvSpPr>
        <p:spPr>
          <a:xfrm>
            <a:off x="1845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80" name="Google Shape;980;p76"/>
          <p:cNvSpPr txBox="1"/>
          <p:nvPr/>
        </p:nvSpPr>
        <p:spPr>
          <a:xfrm>
            <a:off x="336250" y="3785788"/>
            <a:ext cx="75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decides to put the 3 in the ones common.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do you think that is?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6"/>
          <p:cNvSpPr txBox="1"/>
          <p:nvPr/>
        </p:nvSpPr>
        <p:spPr>
          <a:xfrm>
            <a:off x="336250" y="4370213"/>
            <a:ext cx="5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knows he’ll be fairly close to 4.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6"/>
          <p:cNvSpPr txBox="1"/>
          <p:nvPr/>
        </p:nvSpPr>
        <p:spPr>
          <a:xfrm>
            <a:off x="1837450" y="5805000"/>
            <a:ext cx="50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because her number is over 4.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6"/>
          <p:cNvSpPr txBox="1"/>
          <p:nvPr/>
        </p:nvSpPr>
        <p:spPr>
          <a:xfrm>
            <a:off x="5190250" y="5957400"/>
            <a:ext cx="50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because he has already won.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76"/>
          <p:cNvSpPr txBox="1"/>
          <p:nvPr>
            <p:ph idx="1" type="body"/>
          </p:nvPr>
        </p:nvSpPr>
        <p:spPr>
          <a:xfrm>
            <a:off x="324000" y="700418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 1 and 4.</a:t>
            </a:r>
            <a:endParaRPr sz="1800"/>
          </a:p>
        </p:txBody>
      </p:sp>
      <p:pic>
        <p:nvPicPr>
          <p:cNvPr id="985" name="Google Shape;985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36239" y="2381038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6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6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8" name="Google Shape;988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graphicFrame>
        <p:nvGraphicFramePr>
          <p:cNvPr id="994" name="Google Shape;994;p77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5" name="Google Shape;995;p77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6" name="Google Shape;996;p77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7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7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7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6162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pic>
        <p:nvPicPr>
          <p:cNvPr id="1002" name="Google Shape;100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766" y="2286000"/>
            <a:ext cx="43257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7"/>
          <p:cNvSpPr txBox="1"/>
          <p:nvPr>
            <p:ph idx="1" type="body"/>
          </p:nvPr>
        </p:nvSpPr>
        <p:spPr>
          <a:xfrm>
            <a:off x="27925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id="1004" name="Google Shape;1004;p77"/>
          <p:cNvPicPr preferRelativeResize="0"/>
          <p:nvPr/>
        </p:nvPicPr>
        <p:blipFill rotWithShape="1">
          <a:blip r:embed="rId5">
            <a:alphaModFix/>
          </a:blip>
          <a:srcRect b="2162" l="0" r="0" t="0"/>
          <a:stretch/>
        </p:blipFill>
        <p:spPr>
          <a:xfrm>
            <a:off x="5678764" y="2286000"/>
            <a:ext cx="463842" cy="450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77"/>
          <p:cNvSpPr txBox="1"/>
          <p:nvPr>
            <p:ph idx="1" type="body"/>
          </p:nvPr>
        </p:nvSpPr>
        <p:spPr>
          <a:xfrm>
            <a:off x="706680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id="1006" name="Google Shape;100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7008" y="2286000"/>
            <a:ext cx="441626" cy="434219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7"/>
          <p:cNvSpPr txBox="1"/>
          <p:nvPr>
            <p:ph idx="1" type="body"/>
          </p:nvPr>
        </p:nvSpPr>
        <p:spPr>
          <a:xfrm>
            <a:off x="1845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008" name="Google Shape;1008;p77"/>
          <p:cNvSpPr txBox="1"/>
          <p:nvPr>
            <p:ph idx="1" type="body"/>
          </p:nvPr>
        </p:nvSpPr>
        <p:spPr>
          <a:xfrm>
            <a:off x="515910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pic>
        <p:nvPicPr>
          <p:cNvPr id="1009" name="Google Shape;1009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793" y="2286000"/>
            <a:ext cx="437477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77"/>
          <p:cNvSpPr txBox="1"/>
          <p:nvPr/>
        </p:nvSpPr>
        <p:spPr>
          <a:xfrm>
            <a:off x="324000" y="3663825"/>
            <a:ext cx="362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Sofia win the game?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7"/>
          <p:cNvSpPr txBox="1"/>
          <p:nvPr/>
        </p:nvSpPr>
        <p:spPr>
          <a:xfrm>
            <a:off x="324000" y="4172050"/>
            <a:ext cx="535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because her number is greater than 4.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77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3" name="Google Shape;1013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336239" y="2379600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7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7"/>
          <p:cNvSpPr txBox="1"/>
          <p:nvPr>
            <p:ph idx="1" type="body"/>
          </p:nvPr>
        </p:nvSpPr>
        <p:spPr>
          <a:xfrm>
            <a:off x="324000" y="700418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 1 and 4.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graphicFrame>
        <p:nvGraphicFramePr>
          <p:cNvPr id="1022" name="Google Shape;1022;p78"/>
          <p:cNvGraphicFramePr/>
          <p:nvPr/>
        </p:nvGraphicFramePr>
        <p:xfrm>
          <a:off x="1512000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9325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3" name="Google Shape;1023;p78"/>
          <p:cNvGraphicFramePr/>
          <p:nvPr/>
        </p:nvGraphicFramePr>
        <p:xfrm>
          <a:off x="4827707" y="13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{36C22427-E5FD-4A5D-B151-404026B64B14}</a:tableStyleId>
              </a:tblPr>
              <a:tblGrid>
                <a:gridCol w="928750"/>
                <a:gridCol w="928750"/>
                <a:gridCol w="953200"/>
              </a:tblGrid>
              <a:tr h="85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4" name="Google Shape;1024;p78"/>
          <p:cNvSpPr/>
          <p:nvPr/>
        </p:nvSpPr>
        <p:spPr>
          <a:xfrm>
            <a:off x="2358000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8"/>
          <p:cNvSpPr/>
          <p:nvPr/>
        </p:nvSpPr>
        <p:spPr>
          <a:xfrm>
            <a:off x="5678782" y="1674000"/>
            <a:ext cx="153000" cy="153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8"/>
          <p:cNvSpPr/>
          <p:nvPr/>
        </p:nvSpPr>
        <p:spPr>
          <a:xfrm>
            <a:off x="977950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8"/>
          <p:cNvSpPr/>
          <p:nvPr/>
        </p:nvSpPr>
        <p:spPr>
          <a:xfrm>
            <a:off x="7711791" y="1332000"/>
            <a:ext cx="441600" cy="7830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530" y="2286000"/>
            <a:ext cx="42931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78"/>
          <p:cNvSpPr txBox="1"/>
          <p:nvPr>
            <p:ph idx="1" type="body"/>
          </p:nvPr>
        </p:nvSpPr>
        <p:spPr>
          <a:xfrm>
            <a:off x="6162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pic>
        <p:nvPicPr>
          <p:cNvPr id="1030" name="Google Shape;103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4766" y="2286000"/>
            <a:ext cx="432579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78"/>
          <p:cNvSpPr txBox="1"/>
          <p:nvPr>
            <p:ph idx="1" type="body"/>
          </p:nvPr>
        </p:nvSpPr>
        <p:spPr>
          <a:xfrm>
            <a:off x="27925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pic>
        <p:nvPicPr>
          <p:cNvPr id="1032" name="Google Shape;1032;p78"/>
          <p:cNvPicPr preferRelativeResize="0"/>
          <p:nvPr/>
        </p:nvPicPr>
        <p:blipFill rotWithShape="1">
          <a:blip r:embed="rId5">
            <a:alphaModFix/>
          </a:blip>
          <a:srcRect b="2162" l="0" r="0" t="0"/>
          <a:stretch/>
        </p:blipFill>
        <p:spPr>
          <a:xfrm>
            <a:off x="5678764" y="2286000"/>
            <a:ext cx="463842" cy="450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8"/>
          <p:cNvSpPr txBox="1"/>
          <p:nvPr>
            <p:ph idx="1" type="body"/>
          </p:nvPr>
        </p:nvSpPr>
        <p:spPr>
          <a:xfrm>
            <a:off x="706680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pic>
        <p:nvPicPr>
          <p:cNvPr id="1034" name="Google Shape;1034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7008" y="2286000"/>
            <a:ext cx="441626" cy="4342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184515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036" name="Google Shape;1036;p78"/>
          <p:cNvSpPr txBox="1"/>
          <p:nvPr>
            <p:ph idx="1" type="body"/>
          </p:nvPr>
        </p:nvSpPr>
        <p:spPr>
          <a:xfrm>
            <a:off x="5159100" y="1548000"/>
            <a:ext cx="189300" cy="3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pic>
        <p:nvPicPr>
          <p:cNvPr id="1037" name="Google Shape;1037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793" y="2286000"/>
            <a:ext cx="437477" cy="434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8"/>
          <p:cNvSpPr txBox="1"/>
          <p:nvPr/>
        </p:nvSpPr>
        <p:spPr>
          <a:xfrm>
            <a:off x="324000" y="3867450"/>
            <a:ext cx="61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Andeep need to throw the last die?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8"/>
          <p:cNvSpPr txBox="1"/>
          <p:nvPr/>
        </p:nvSpPr>
        <p:spPr>
          <a:xfrm>
            <a:off x="324000" y="4320000"/>
            <a:ext cx="5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because he has already won.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78"/>
          <p:cNvSpPr txBox="1"/>
          <p:nvPr/>
        </p:nvSpPr>
        <p:spPr>
          <a:xfrm>
            <a:off x="7539513" y="3276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39590" y="2515176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8"/>
          <p:cNvSpPr txBox="1"/>
          <p:nvPr/>
        </p:nvSpPr>
        <p:spPr>
          <a:xfrm>
            <a:off x="-20241" y="324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8"/>
          <p:cNvSpPr txBox="1"/>
          <p:nvPr>
            <p:ph idx="1" type="body"/>
          </p:nvPr>
        </p:nvSpPr>
        <p:spPr>
          <a:xfrm>
            <a:off x="324000" y="700418"/>
            <a:ext cx="8496000" cy="3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play the same game but this time their numbers must also be between  1 and 4.</a:t>
            </a:r>
            <a:endParaRPr sz="1800"/>
          </a:p>
        </p:txBody>
      </p:sp>
      <p:pic>
        <p:nvPicPr>
          <p:cNvPr id="1044" name="Google Shape;1044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336239" y="2379600"/>
            <a:ext cx="788356" cy="101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1050" name="Google Shape;1050;p7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2.451</a:t>
            </a:r>
            <a:endParaRPr/>
          </a:p>
        </p:txBody>
      </p:sp>
      <p:sp>
        <p:nvSpPr>
          <p:cNvPr id="1051" name="Google Shape;1051;p7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between 2.346 and 2.351?</a:t>
            </a:r>
            <a:endParaRPr/>
          </a:p>
        </p:txBody>
      </p:sp>
      <p:sp>
        <p:nvSpPr>
          <p:cNvPr id="1052" name="Google Shape;1052;p7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2.35</a:t>
            </a:r>
            <a:endParaRPr/>
          </a:p>
        </p:txBody>
      </p:sp>
      <p:sp>
        <p:nvSpPr>
          <p:cNvPr id="1053" name="Google Shape;1053;p7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2.345</a:t>
            </a:r>
            <a:endParaRPr/>
          </a:p>
        </p:txBody>
      </p:sp>
      <p:sp>
        <p:nvSpPr>
          <p:cNvPr id="1054" name="Google Shape;1054;p7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2.34608</a:t>
            </a:r>
            <a:endParaRPr/>
          </a:p>
        </p:txBody>
      </p:sp>
      <p:pic>
        <p:nvPicPr>
          <p:cNvPr id="1055" name="Google Shape;105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083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433" y="4074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0"/>
          <p:cNvSpPr txBox="1"/>
          <p:nvPr/>
        </p:nvSpPr>
        <p:spPr>
          <a:xfrm>
            <a:off x="421400" y="1322425"/>
            <a:ext cx="8311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Halfway will be half a unit larger than 2 and half a unit smaller than 3.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1063" name="Google Shape;1063;p80"/>
          <p:cNvSpPr txBox="1"/>
          <p:nvPr>
            <p:ph idx="1" type="body"/>
          </p:nvPr>
        </p:nvSpPr>
        <p:spPr>
          <a:xfrm>
            <a:off x="324000" y="759300"/>
            <a:ext cx="823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decimal is exactly halfway between 2 and 3?</a:t>
            </a:r>
            <a:endParaRPr/>
          </a:p>
        </p:txBody>
      </p:sp>
      <p:sp>
        <p:nvSpPr>
          <p:cNvPr id="1064" name="Google Shape;1064;p80"/>
          <p:cNvSpPr txBox="1"/>
          <p:nvPr/>
        </p:nvSpPr>
        <p:spPr>
          <a:xfrm>
            <a:off x="2454100" y="2527800"/>
            <a:ext cx="16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0"/>
          <p:cNvSpPr txBox="1"/>
          <p:nvPr/>
        </p:nvSpPr>
        <p:spPr>
          <a:xfrm>
            <a:off x="6503675" y="2527800"/>
            <a:ext cx="16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6" name="Google Shape;1066;p80"/>
          <p:cNvCxnSpPr/>
          <p:nvPr/>
        </p:nvCxnSpPr>
        <p:spPr>
          <a:xfrm>
            <a:off x="2513852" y="2527800"/>
            <a:ext cx="4073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7" name="Google Shape;1067;p80"/>
          <p:cNvSpPr txBox="1"/>
          <p:nvPr/>
        </p:nvSpPr>
        <p:spPr>
          <a:xfrm>
            <a:off x="4173757" y="2042125"/>
            <a:ext cx="78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unit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8" name="Google Shape;1068;p80"/>
          <p:cNvGrpSpPr/>
          <p:nvPr/>
        </p:nvGrpSpPr>
        <p:grpSpPr>
          <a:xfrm>
            <a:off x="2525400" y="2906720"/>
            <a:ext cx="4093200" cy="177300"/>
            <a:chOff x="2525400" y="2906720"/>
            <a:chExt cx="4093200" cy="177300"/>
          </a:xfrm>
        </p:grpSpPr>
        <p:grpSp>
          <p:nvGrpSpPr>
            <p:cNvPr id="1069" name="Google Shape;1069;p80"/>
            <p:cNvGrpSpPr/>
            <p:nvPr/>
          </p:nvGrpSpPr>
          <p:grpSpPr>
            <a:xfrm>
              <a:off x="2525400" y="2906720"/>
              <a:ext cx="4093200" cy="177300"/>
              <a:chOff x="2525400" y="1458920"/>
              <a:chExt cx="4093200" cy="177300"/>
            </a:xfrm>
          </p:grpSpPr>
          <p:cxnSp>
            <p:nvCxnSpPr>
              <p:cNvPr id="1070" name="Google Shape;1070;p8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" name="Google Shape;1071;p8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" name="Google Shape;1072;p8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73" name="Google Shape;1073;p80"/>
            <p:cNvCxnSpPr/>
            <p:nvPr/>
          </p:nvCxnSpPr>
          <p:spPr>
            <a:xfrm>
              <a:off x="4572000" y="2937275"/>
              <a:ext cx="0" cy="134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4" name="Google Shape;1074;p80"/>
          <p:cNvSpPr/>
          <p:nvPr/>
        </p:nvSpPr>
        <p:spPr>
          <a:xfrm>
            <a:off x="4478888" y="2509200"/>
            <a:ext cx="168900" cy="37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0"/>
          <p:cNvSpPr txBox="1"/>
          <p:nvPr/>
        </p:nvSpPr>
        <p:spPr>
          <a:xfrm>
            <a:off x="4378236" y="2099075"/>
            <a:ext cx="39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6" name="Google Shape;10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3521229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0"/>
          <p:cNvSpPr txBox="1"/>
          <p:nvPr/>
        </p:nvSpPr>
        <p:spPr>
          <a:xfrm>
            <a:off x="-20241" y="4384464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8" name="Google Shape;1078;p80"/>
          <p:cNvGrpSpPr/>
          <p:nvPr/>
        </p:nvGrpSpPr>
        <p:grpSpPr>
          <a:xfrm>
            <a:off x="1204244" y="3252005"/>
            <a:ext cx="2464637" cy="1243849"/>
            <a:chOff x="1394899" y="2375073"/>
            <a:chExt cx="2917076" cy="1637074"/>
          </a:xfrm>
        </p:grpSpPr>
        <p:pic>
          <p:nvPicPr>
            <p:cNvPr id="1079" name="Google Shape;1079;p8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394899" y="2375073"/>
              <a:ext cx="2867763" cy="163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0" name="Google Shape;1080;p80"/>
            <p:cNvSpPr txBox="1"/>
            <p:nvPr/>
          </p:nvSpPr>
          <p:spPr>
            <a:xfrm>
              <a:off x="1649775" y="2431877"/>
              <a:ext cx="2662200" cy="13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noticed that halfway is half the sum 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two numbers.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1086" name="Google Shape;1086;p81"/>
          <p:cNvSpPr txBox="1"/>
          <p:nvPr>
            <p:ph idx="1" type="body"/>
          </p:nvPr>
        </p:nvSpPr>
        <p:spPr>
          <a:xfrm>
            <a:off x="324000" y="759300"/>
            <a:ext cx="823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decimal is exactly halfway between </a:t>
            </a:r>
            <a:r>
              <a:rPr lang="en-GB"/>
              <a:t>1.24 and 1.38</a:t>
            </a:r>
            <a:r>
              <a:rPr lang="en-GB"/>
              <a:t>?</a:t>
            </a:r>
            <a:endParaRPr/>
          </a:p>
        </p:txBody>
      </p:sp>
      <p:sp>
        <p:nvSpPr>
          <p:cNvPr id="1087" name="Google Shape;1087;p81"/>
          <p:cNvSpPr txBox="1"/>
          <p:nvPr/>
        </p:nvSpPr>
        <p:spPr>
          <a:xfrm>
            <a:off x="2252375" y="1994400"/>
            <a:ext cx="59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1"/>
          <p:cNvSpPr txBox="1"/>
          <p:nvPr/>
        </p:nvSpPr>
        <p:spPr>
          <a:xfrm>
            <a:off x="6256800" y="1994400"/>
            <a:ext cx="59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9" name="Google Shape;1089;p81"/>
          <p:cNvCxnSpPr/>
          <p:nvPr/>
        </p:nvCxnSpPr>
        <p:spPr>
          <a:xfrm>
            <a:off x="2513852" y="1994400"/>
            <a:ext cx="4073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1090" name="Google Shape;1090;p81"/>
          <p:cNvSpPr txBox="1"/>
          <p:nvPr/>
        </p:nvSpPr>
        <p:spPr>
          <a:xfrm>
            <a:off x="4311112" y="1661125"/>
            <a:ext cx="54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1" name="Google Shape;1091;p81"/>
          <p:cNvGrpSpPr/>
          <p:nvPr/>
        </p:nvGrpSpPr>
        <p:grpSpPr>
          <a:xfrm>
            <a:off x="2525400" y="2373320"/>
            <a:ext cx="4093200" cy="177300"/>
            <a:chOff x="2525400" y="2906720"/>
            <a:chExt cx="4093200" cy="177300"/>
          </a:xfrm>
        </p:grpSpPr>
        <p:grpSp>
          <p:nvGrpSpPr>
            <p:cNvPr id="1092" name="Google Shape;1092;p81"/>
            <p:cNvGrpSpPr/>
            <p:nvPr/>
          </p:nvGrpSpPr>
          <p:grpSpPr>
            <a:xfrm>
              <a:off x="2525400" y="2906720"/>
              <a:ext cx="4093200" cy="177300"/>
              <a:chOff x="2525400" y="1458920"/>
              <a:chExt cx="4093200" cy="177300"/>
            </a:xfrm>
          </p:grpSpPr>
          <p:cxnSp>
            <p:nvCxnSpPr>
              <p:cNvPr id="1093" name="Google Shape;1093;p81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4" name="Google Shape;1094;p81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" name="Google Shape;1095;p81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096" name="Google Shape;1096;p81"/>
            <p:cNvCxnSpPr/>
            <p:nvPr/>
          </p:nvCxnSpPr>
          <p:spPr>
            <a:xfrm>
              <a:off x="4572000" y="2937275"/>
              <a:ext cx="0" cy="134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7" name="Google Shape;1097;p81"/>
          <p:cNvSpPr/>
          <p:nvPr/>
        </p:nvSpPr>
        <p:spPr>
          <a:xfrm>
            <a:off x="4478888" y="1594800"/>
            <a:ext cx="168900" cy="37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1"/>
          <p:cNvSpPr txBox="1"/>
          <p:nvPr/>
        </p:nvSpPr>
        <p:spPr>
          <a:xfrm>
            <a:off x="3881050" y="1276775"/>
            <a:ext cx="14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1.24 + 0.07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9" name="Google Shape;10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3064029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1"/>
          <p:cNvSpPr txBox="1"/>
          <p:nvPr/>
        </p:nvSpPr>
        <p:spPr>
          <a:xfrm>
            <a:off x="-20241" y="3927264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1" name="Google Shape;1101;p81"/>
          <p:cNvGrpSpPr/>
          <p:nvPr/>
        </p:nvGrpSpPr>
        <p:grpSpPr>
          <a:xfrm>
            <a:off x="1204256" y="2794726"/>
            <a:ext cx="2464637" cy="752235"/>
            <a:chOff x="1394899" y="2375073"/>
            <a:chExt cx="2917076" cy="1637074"/>
          </a:xfrm>
        </p:grpSpPr>
        <p:pic>
          <p:nvPicPr>
            <p:cNvPr id="1102" name="Google Shape;1102;p81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394899" y="2375073"/>
              <a:ext cx="2867763" cy="1637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81"/>
            <p:cNvSpPr txBox="1"/>
            <p:nvPr/>
          </p:nvSpPr>
          <p:spPr>
            <a:xfrm>
              <a:off x="1649775" y="2431877"/>
              <a:ext cx="26622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Does what I’ve noticed work here?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4" name="Google Shape;1104;p81"/>
          <p:cNvSpPr txBox="1"/>
          <p:nvPr/>
        </p:nvSpPr>
        <p:spPr>
          <a:xfrm>
            <a:off x="4929150" y="1661125"/>
            <a:ext cx="42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÷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1"/>
          <p:cNvSpPr txBox="1"/>
          <p:nvPr/>
        </p:nvSpPr>
        <p:spPr>
          <a:xfrm>
            <a:off x="5421800" y="1661125"/>
            <a:ext cx="83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0.07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6" name="Google Shape;1106;p81"/>
          <p:cNvCxnSpPr/>
          <p:nvPr/>
        </p:nvCxnSpPr>
        <p:spPr>
          <a:xfrm>
            <a:off x="2525400" y="2000025"/>
            <a:ext cx="204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triangle"/>
            <a:tailEnd len="sm" w="sm" type="triangle"/>
          </a:ln>
        </p:spPr>
      </p:cxnSp>
      <p:sp>
        <p:nvSpPr>
          <p:cNvPr id="1107" name="Google Shape;1107;p81"/>
          <p:cNvSpPr txBox="1"/>
          <p:nvPr/>
        </p:nvSpPr>
        <p:spPr>
          <a:xfrm>
            <a:off x="3314618" y="1674000"/>
            <a:ext cx="51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1"/>
          <p:cNvSpPr txBox="1"/>
          <p:nvPr/>
        </p:nvSpPr>
        <p:spPr>
          <a:xfrm>
            <a:off x="4316700" y="1259100"/>
            <a:ext cx="51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1.31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1"/>
          <p:cNvSpPr txBox="1"/>
          <p:nvPr>
            <p:ph idx="1" type="body"/>
          </p:nvPr>
        </p:nvSpPr>
        <p:spPr>
          <a:xfrm>
            <a:off x="1516100" y="3522450"/>
            <a:ext cx="6693000" cy="11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think Andeep has noticed something that always works?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check it out.</a:t>
            </a:r>
            <a:endParaRPr/>
          </a:p>
        </p:txBody>
      </p:sp>
      <p:sp>
        <p:nvSpPr>
          <p:cNvPr id="1110" name="Google Shape;1110;p81"/>
          <p:cNvSpPr txBox="1"/>
          <p:nvPr/>
        </p:nvSpPr>
        <p:spPr>
          <a:xfrm>
            <a:off x="4824000" y="3920150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1.24 + 1.38 = 2.62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1"/>
          <p:cNvSpPr txBox="1"/>
          <p:nvPr/>
        </p:nvSpPr>
        <p:spPr>
          <a:xfrm>
            <a:off x="4824000" y="4204750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2.62 ÷ 2 = 1.31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1"/>
          <p:cNvSpPr txBox="1"/>
          <p:nvPr/>
        </p:nvSpPr>
        <p:spPr>
          <a:xfrm>
            <a:off x="4824000" y="4489350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Yes, it works.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1118" name="Google Shape;1118;p82"/>
          <p:cNvSpPr txBox="1"/>
          <p:nvPr>
            <p:ph idx="1" type="body"/>
          </p:nvPr>
        </p:nvSpPr>
        <p:spPr>
          <a:xfrm>
            <a:off x="324000" y="759300"/>
            <a:ext cx="82377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decimal is exactly halfway between 3.56 and 3.94?</a:t>
            </a:r>
            <a:endParaRPr/>
          </a:p>
        </p:txBody>
      </p:sp>
      <p:grpSp>
        <p:nvGrpSpPr>
          <p:cNvPr id="1119" name="Google Shape;1119;p82"/>
          <p:cNvGrpSpPr/>
          <p:nvPr/>
        </p:nvGrpSpPr>
        <p:grpSpPr>
          <a:xfrm>
            <a:off x="2525400" y="2373320"/>
            <a:ext cx="4093200" cy="177300"/>
            <a:chOff x="2525400" y="1458920"/>
            <a:chExt cx="4093200" cy="177300"/>
          </a:xfrm>
        </p:grpSpPr>
        <p:cxnSp>
          <p:nvCxnSpPr>
            <p:cNvPr id="1120" name="Google Shape;1120;p82"/>
            <p:cNvCxnSpPr/>
            <p:nvPr/>
          </p:nvCxnSpPr>
          <p:spPr>
            <a:xfrm flipH="1" rot="10800000">
              <a:off x="2525400" y="1616850"/>
              <a:ext cx="4093200" cy="6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82"/>
            <p:cNvCxnSpPr/>
            <p:nvPr/>
          </p:nvCxnSpPr>
          <p:spPr>
            <a:xfrm>
              <a:off x="2542619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82"/>
            <p:cNvCxnSpPr/>
            <p:nvPr/>
          </p:nvCxnSpPr>
          <p:spPr>
            <a:xfrm>
              <a:off x="6604848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3" name="Google Shape;1123;p82"/>
          <p:cNvSpPr txBox="1"/>
          <p:nvPr/>
        </p:nvSpPr>
        <p:spPr>
          <a:xfrm>
            <a:off x="2301700" y="1994400"/>
            <a:ext cx="55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2"/>
          <p:cNvSpPr txBox="1"/>
          <p:nvPr/>
        </p:nvSpPr>
        <p:spPr>
          <a:xfrm>
            <a:off x="6351275" y="1994400"/>
            <a:ext cx="55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3.94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2"/>
          <p:cNvSpPr/>
          <p:nvPr/>
        </p:nvSpPr>
        <p:spPr>
          <a:xfrm>
            <a:off x="4478888" y="2128200"/>
            <a:ext cx="168900" cy="37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2"/>
          <p:cNvSpPr txBox="1"/>
          <p:nvPr/>
        </p:nvSpPr>
        <p:spPr>
          <a:xfrm>
            <a:off x="3232462" y="3070650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3.56 + 3.94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= 7.5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2"/>
          <p:cNvSpPr txBox="1"/>
          <p:nvPr/>
        </p:nvSpPr>
        <p:spPr>
          <a:xfrm>
            <a:off x="3768795" y="3565875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7.5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÷ 2 = 3.75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3"/>
          <p:cNvSpPr txBox="1"/>
          <p:nvPr>
            <p:ph idx="1" type="body"/>
          </p:nvPr>
        </p:nvSpPr>
        <p:spPr>
          <a:xfrm>
            <a:off x="400200" y="759300"/>
            <a:ext cx="8419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down at least 3 decimals between the following pairs of numbers.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7 and 10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 and 5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 and 11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12.3 and 12.4</a:t>
            </a:r>
            <a:endParaRPr/>
          </a:p>
        </p:txBody>
      </p:sp>
      <p:sp>
        <p:nvSpPr>
          <p:cNvPr id="1133" name="Google Shape;113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4"/>
          <p:cNvSpPr txBox="1"/>
          <p:nvPr/>
        </p:nvSpPr>
        <p:spPr>
          <a:xfrm>
            <a:off x="5297200" y="3985100"/>
            <a:ext cx="91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84"/>
          <p:cNvGrpSpPr/>
          <p:nvPr/>
        </p:nvGrpSpPr>
        <p:grpSpPr>
          <a:xfrm>
            <a:off x="4752000" y="3985100"/>
            <a:ext cx="3886420" cy="517212"/>
            <a:chOff x="1873174" y="2033409"/>
            <a:chExt cx="5597609" cy="517212"/>
          </a:xfrm>
        </p:grpSpPr>
        <p:grpSp>
          <p:nvGrpSpPr>
            <p:cNvPr id="1140" name="Google Shape;1140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141" name="Google Shape;1141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44" name="Google Shape;1144;p84"/>
            <p:cNvSpPr txBox="1"/>
            <p:nvPr/>
          </p:nvSpPr>
          <p:spPr>
            <a:xfrm>
              <a:off x="1873174" y="2033409"/>
              <a:ext cx="132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84"/>
            <p:cNvSpPr txBox="1"/>
            <p:nvPr/>
          </p:nvSpPr>
          <p:spPr>
            <a:xfrm>
              <a:off x="6256083" y="2033434"/>
              <a:ext cx="1214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0.068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84"/>
            <p:cNvSpPr txBox="1"/>
            <p:nvPr/>
          </p:nvSpPr>
          <p:spPr>
            <a:xfrm>
              <a:off x="3647702" y="2033409"/>
              <a:ext cx="169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0.0367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84"/>
          <p:cNvSpPr txBox="1"/>
          <p:nvPr/>
        </p:nvSpPr>
        <p:spPr>
          <a:xfrm>
            <a:off x="2319126" y="1440000"/>
            <a:ext cx="7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4"/>
          <p:cNvSpPr txBox="1"/>
          <p:nvPr/>
        </p:nvSpPr>
        <p:spPr>
          <a:xfrm>
            <a:off x="2166726" y="1440000"/>
            <a:ext cx="7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4"/>
          <p:cNvSpPr txBox="1"/>
          <p:nvPr/>
        </p:nvSpPr>
        <p:spPr>
          <a:xfrm>
            <a:off x="7952100" y="3113425"/>
            <a:ext cx="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4"/>
          <p:cNvSpPr txBox="1"/>
          <p:nvPr/>
        </p:nvSpPr>
        <p:spPr>
          <a:xfrm>
            <a:off x="8028300" y="3113425"/>
            <a:ext cx="7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4"/>
          <p:cNvSpPr txBox="1"/>
          <p:nvPr/>
        </p:nvSpPr>
        <p:spPr>
          <a:xfrm>
            <a:off x="4980600" y="3985100"/>
            <a:ext cx="92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4"/>
          <p:cNvSpPr txBox="1"/>
          <p:nvPr/>
        </p:nvSpPr>
        <p:spPr>
          <a:xfrm>
            <a:off x="5144800" y="3985100"/>
            <a:ext cx="91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4"/>
          <p:cNvSpPr txBox="1"/>
          <p:nvPr/>
        </p:nvSpPr>
        <p:spPr>
          <a:xfrm>
            <a:off x="5196600" y="2294176"/>
            <a:ext cx="7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4"/>
          <p:cNvSpPr txBox="1"/>
          <p:nvPr/>
        </p:nvSpPr>
        <p:spPr>
          <a:xfrm>
            <a:off x="6406141" y="1440012"/>
            <a:ext cx="7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4"/>
          <p:cNvSpPr txBox="1"/>
          <p:nvPr>
            <p:ph idx="1" type="body"/>
          </p:nvPr>
        </p:nvSpPr>
        <p:spPr>
          <a:xfrm>
            <a:off x="324000" y="606900"/>
            <a:ext cx="8237700" cy="6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What digit is covered in each of the following?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arrow is pointing to the </a:t>
            </a:r>
            <a:r>
              <a:rPr lang="en-GB" sz="1800">
                <a:solidFill>
                  <a:schemeClr val="accent4"/>
                </a:solidFill>
              </a:rPr>
              <a:t>halfway point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57" name="Google Shape;1157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grpSp>
        <p:nvGrpSpPr>
          <p:cNvPr id="1158" name="Google Shape;1158;p84"/>
          <p:cNvGrpSpPr/>
          <p:nvPr/>
        </p:nvGrpSpPr>
        <p:grpSpPr>
          <a:xfrm>
            <a:off x="655200" y="1440000"/>
            <a:ext cx="3287030" cy="523316"/>
            <a:chOff x="2254574" y="2027304"/>
            <a:chExt cx="4734308" cy="523316"/>
          </a:xfrm>
        </p:grpSpPr>
        <p:grpSp>
          <p:nvGrpSpPr>
            <p:cNvPr id="1159" name="Google Shape;115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160" name="Google Shape;116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" name="Google Shape;116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" name="Google Shape;116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63" name="Google Shape;1163;p84"/>
            <p:cNvSpPr txBox="1"/>
            <p:nvPr/>
          </p:nvSpPr>
          <p:spPr>
            <a:xfrm>
              <a:off x="2254574" y="2027304"/>
              <a:ext cx="67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4"/>
            <p:cNvSpPr txBox="1"/>
            <p:nvPr/>
          </p:nvSpPr>
          <p:spPr>
            <a:xfrm>
              <a:off x="6312981" y="2027304"/>
              <a:ext cx="67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4"/>
            <p:cNvSpPr txBox="1"/>
            <p:nvPr/>
          </p:nvSpPr>
          <p:spPr>
            <a:xfrm>
              <a:off x="4102371" y="2027304"/>
              <a:ext cx="112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7" name="Google Shape;1167;p84"/>
          <p:cNvSpPr/>
          <p:nvPr/>
        </p:nvSpPr>
        <p:spPr>
          <a:xfrm>
            <a:off x="2295825" y="1476000"/>
            <a:ext cx="250776" cy="267300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8" name="Google Shape;1168;p84"/>
          <p:cNvGrpSpPr/>
          <p:nvPr/>
        </p:nvGrpSpPr>
        <p:grpSpPr>
          <a:xfrm>
            <a:off x="655855" y="2282400"/>
            <a:ext cx="3471807" cy="517200"/>
            <a:chOff x="2202439" y="2033420"/>
            <a:chExt cx="5000443" cy="517200"/>
          </a:xfrm>
        </p:grpSpPr>
        <p:grpSp>
          <p:nvGrpSpPr>
            <p:cNvPr id="1169" name="Google Shape;116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170" name="Google Shape;117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1" name="Google Shape;117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" name="Google Shape;117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73" name="Google Shape;1173;p84"/>
            <p:cNvSpPr txBox="1"/>
            <p:nvPr/>
          </p:nvSpPr>
          <p:spPr>
            <a:xfrm>
              <a:off x="2202439" y="2033420"/>
              <a:ext cx="758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2.78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4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2.98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84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2.88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7" name="Google Shape;1177;p84"/>
          <p:cNvSpPr/>
          <p:nvPr/>
        </p:nvSpPr>
        <p:spPr>
          <a:xfrm>
            <a:off x="2257102" y="2340000"/>
            <a:ext cx="169128" cy="242136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8" name="Google Shape;1178;p84"/>
          <p:cNvGrpSpPr/>
          <p:nvPr/>
        </p:nvGrpSpPr>
        <p:grpSpPr>
          <a:xfrm>
            <a:off x="655855" y="3114000"/>
            <a:ext cx="3471807" cy="517200"/>
            <a:chOff x="2202439" y="2033420"/>
            <a:chExt cx="5000443" cy="517200"/>
          </a:xfrm>
        </p:grpSpPr>
        <p:grpSp>
          <p:nvGrpSpPr>
            <p:cNvPr id="1179" name="Google Shape;117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180" name="Google Shape;118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83" name="Google Shape;1183;p84"/>
            <p:cNvSpPr txBox="1"/>
            <p:nvPr/>
          </p:nvSpPr>
          <p:spPr>
            <a:xfrm>
              <a:off x="2202439" y="2033420"/>
              <a:ext cx="758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5.23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84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5.87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84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5.55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7" name="Google Shape;1187;p84"/>
          <p:cNvSpPr/>
          <p:nvPr/>
        </p:nvSpPr>
        <p:spPr>
          <a:xfrm>
            <a:off x="2269323" y="3174746"/>
            <a:ext cx="156924" cy="242136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8" name="Google Shape;1188;p84"/>
          <p:cNvGrpSpPr/>
          <p:nvPr/>
        </p:nvGrpSpPr>
        <p:grpSpPr>
          <a:xfrm>
            <a:off x="655200" y="3985200"/>
            <a:ext cx="3471813" cy="517212"/>
            <a:chOff x="2202430" y="2033409"/>
            <a:chExt cx="5000451" cy="517212"/>
          </a:xfrm>
        </p:grpSpPr>
        <p:grpSp>
          <p:nvGrpSpPr>
            <p:cNvPr id="1189" name="Google Shape;118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190" name="Google Shape;119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" name="Google Shape;119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93" name="Google Shape;1193;p84"/>
            <p:cNvSpPr txBox="1"/>
            <p:nvPr/>
          </p:nvSpPr>
          <p:spPr>
            <a:xfrm>
              <a:off x="2202430" y="2033409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6.02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4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6.37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4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6.195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7" name="Google Shape;1197;p84"/>
          <p:cNvSpPr/>
          <p:nvPr/>
        </p:nvSpPr>
        <p:spPr>
          <a:xfrm>
            <a:off x="2257200" y="4032000"/>
            <a:ext cx="156924" cy="242136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8" name="Google Shape;1198;p84"/>
          <p:cNvGrpSpPr/>
          <p:nvPr/>
        </p:nvGrpSpPr>
        <p:grpSpPr>
          <a:xfrm>
            <a:off x="4968000" y="1440000"/>
            <a:ext cx="3661359" cy="517212"/>
            <a:chOff x="2202429" y="2033409"/>
            <a:chExt cx="5273454" cy="517212"/>
          </a:xfrm>
        </p:grpSpPr>
        <p:grpSp>
          <p:nvGrpSpPr>
            <p:cNvPr id="1199" name="Google Shape;119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00" name="Google Shape;120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" name="Google Shape;120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" name="Google Shape;120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03" name="Google Shape;1203;p84"/>
            <p:cNvSpPr txBox="1"/>
            <p:nvPr/>
          </p:nvSpPr>
          <p:spPr>
            <a:xfrm>
              <a:off x="2202429" y="2033409"/>
              <a:ext cx="1054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9.25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4"/>
            <p:cNvSpPr txBox="1"/>
            <p:nvPr/>
          </p:nvSpPr>
          <p:spPr>
            <a:xfrm>
              <a:off x="6256083" y="2033434"/>
              <a:ext cx="121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12.65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84"/>
            <p:cNvSpPr txBox="1"/>
            <p:nvPr/>
          </p:nvSpPr>
          <p:spPr>
            <a:xfrm>
              <a:off x="405428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7" name="Google Shape;1207;p84"/>
          <p:cNvSpPr/>
          <p:nvPr/>
        </p:nvSpPr>
        <p:spPr>
          <a:xfrm>
            <a:off x="6385176" y="1476000"/>
            <a:ext cx="206280" cy="267300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8" name="Google Shape;1208;p84"/>
          <p:cNvGrpSpPr/>
          <p:nvPr/>
        </p:nvGrpSpPr>
        <p:grpSpPr>
          <a:xfrm>
            <a:off x="4968000" y="2282400"/>
            <a:ext cx="3471814" cy="528988"/>
            <a:chOff x="2202429" y="2021633"/>
            <a:chExt cx="5000452" cy="528988"/>
          </a:xfrm>
        </p:grpSpPr>
        <p:grpSp>
          <p:nvGrpSpPr>
            <p:cNvPr id="1209" name="Google Shape;120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10" name="Google Shape;121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13" name="Google Shape;1213;p84"/>
            <p:cNvSpPr txBox="1"/>
            <p:nvPr/>
          </p:nvSpPr>
          <p:spPr>
            <a:xfrm>
              <a:off x="2202429" y="2033409"/>
              <a:ext cx="1093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4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.86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4"/>
            <p:cNvSpPr txBox="1"/>
            <p:nvPr/>
          </p:nvSpPr>
          <p:spPr>
            <a:xfrm>
              <a:off x="4138649" y="2021633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4.74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7" name="Google Shape;1217;p84"/>
          <p:cNvSpPr/>
          <p:nvPr/>
        </p:nvSpPr>
        <p:spPr>
          <a:xfrm>
            <a:off x="5335200" y="2340000"/>
            <a:ext cx="220212" cy="242136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8" name="Google Shape;1218;p84"/>
          <p:cNvGrpSpPr/>
          <p:nvPr/>
        </p:nvGrpSpPr>
        <p:grpSpPr>
          <a:xfrm>
            <a:off x="4968000" y="3113425"/>
            <a:ext cx="3471768" cy="517199"/>
            <a:chOff x="2202427" y="2033421"/>
            <a:chExt cx="5000386" cy="517199"/>
          </a:xfrm>
        </p:grpSpPr>
        <p:grpSp>
          <p:nvGrpSpPr>
            <p:cNvPr id="1219" name="Google Shape;1219;p84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20" name="Google Shape;1220;p84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1" name="Google Shape;1221;p84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2" name="Google Shape;1222;p84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23" name="Google Shape;1223;p84"/>
            <p:cNvSpPr txBox="1"/>
            <p:nvPr/>
          </p:nvSpPr>
          <p:spPr>
            <a:xfrm>
              <a:off x="2202427" y="2033421"/>
              <a:ext cx="129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11.08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4"/>
            <p:cNvSpPr txBox="1"/>
            <p:nvPr/>
          </p:nvSpPr>
          <p:spPr>
            <a:xfrm>
              <a:off x="6055013" y="2033421"/>
              <a:ext cx="1147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4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4"/>
            <p:cNvSpPr txBox="1"/>
            <p:nvPr/>
          </p:nvSpPr>
          <p:spPr>
            <a:xfrm>
              <a:off x="3930954" y="2033421"/>
              <a:ext cx="129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.665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7" name="Google Shape;1227;p84"/>
          <p:cNvSpPr/>
          <p:nvPr/>
        </p:nvSpPr>
        <p:spPr>
          <a:xfrm>
            <a:off x="8006300" y="3152377"/>
            <a:ext cx="192672" cy="282960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4"/>
          <p:cNvSpPr/>
          <p:nvPr/>
        </p:nvSpPr>
        <p:spPr>
          <a:xfrm>
            <a:off x="5300225" y="4032000"/>
            <a:ext cx="169128" cy="282960"/>
          </a:xfrm>
          <a:prstGeom prst="cloud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85"/>
          <p:cNvSpPr txBox="1"/>
          <p:nvPr>
            <p:ph idx="1" type="body"/>
          </p:nvPr>
        </p:nvSpPr>
        <p:spPr>
          <a:xfrm>
            <a:off x="400200" y="759300"/>
            <a:ext cx="8419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down at least 3 decimals between the following pairs of numbers.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7 and 10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 and 5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 and 11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12.3 and 12.4</a:t>
            </a:r>
            <a:endParaRPr/>
          </a:p>
        </p:txBody>
      </p:sp>
      <p:sp>
        <p:nvSpPr>
          <p:cNvPr id="1234" name="Google Shape;1234;p85"/>
          <p:cNvSpPr txBox="1"/>
          <p:nvPr>
            <p:ph idx="1" type="body"/>
          </p:nvPr>
        </p:nvSpPr>
        <p:spPr>
          <a:xfrm>
            <a:off x="2999500" y="1768175"/>
            <a:ext cx="4964700" cy="21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8.25, 9.68, 7.0012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e.g. 3.845, 4.021, 4.998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e.g. 10.0098, 10.9895, 10.87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e.g. 12.354, 12.30009, 12.38764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grpSp>
        <p:nvGrpSpPr>
          <p:cNvPr id="1241" name="Google Shape;1241;p86"/>
          <p:cNvGrpSpPr/>
          <p:nvPr/>
        </p:nvGrpSpPr>
        <p:grpSpPr>
          <a:xfrm>
            <a:off x="655200" y="1440000"/>
            <a:ext cx="3287030" cy="523316"/>
            <a:chOff x="2254574" y="2027304"/>
            <a:chExt cx="4734308" cy="523316"/>
          </a:xfrm>
        </p:grpSpPr>
        <p:grpSp>
          <p:nvGrpSpPr>
            <p:cNvPr id="1242" name="Google Shape;1242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43" name="Google Shape;1243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46" name="Google Shape;1246;p86"/>
            <p:cNvSpPr txBox="1"/>
            <p:nvPr/>
          </p:nvSpPr>
          <p:spPr>
            <a:xfrm>
              <a:off x="2254574" y="2027304"/>
              <a:ext cx="67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6"/>
            <p:cNvSpPr txBox="1"/>
            <p:nvPr/>
          </p:nvSpPr>
          <p:spPr>
            <a:xfrm>
              <a:off x="6312981" y="2027304"/>
              <a:ext cx="67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86"/>
            <p:cNvSpPr txBox="1"/>
            <p:nvPr/>
          </p:nvSpPr>
          <p:spPr>
            <a:xfrm>
              <a:off x="4102371" y="2027304"/>
              <a:ext cx="112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250" name="Google Shape;1250;p86"/>
          <p:cNvGrpSpPr/>
          <p:nvPr/>
        </p:nvGrpSpPr>
        <p:grpSpPr>
          <a:xfrm>
            <a:off x="655855" y="2282400"/>
            <a:ext cx="3471807" cy="517200"/>
            <a:chOff x="2202439" y="2033420"/>
            <a:chExt cx="5000443" cy="517200"/>
          </a:xfrm>
        </p:grpSpPr>
        <p:grpSp>
          <p:nvGrpSpPr>
            <p:cNvPr id="1251" name="Google Shape;1251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52" name="Google Shape;1252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" name="Google Shape;1254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55" name="Google Shape;1255;p86"/>
            <p:cNvSpPr txBox="1"/>
            <p:nvPr/>
          </p:nvSpPr>
          <p:spPr>
            <a:xfrm>
              <a:off x="2202439" y="2033420"/>
              <a:ext cx="758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2.78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6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2.98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86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2.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8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86"/>
          <p:cNvGrpSpPr/>
          <p:nvPr/>
        </p:nvGrpSpPr>
        <p:grpSpPr>
          <a:xfrm>
            <a:off x="655855" y="3114000"/>
            <a:ext cx="3471807" cy="517200"/>
            <a:chOff x="2202439" y="2033420"/>
            <a:chExt cx="5000443" cy="517200"/>
          </a:xfrm>
        </p:grpSpPr>
        <p:grpSp>
          <p:nvGrpSpPr>
            <p:cNvPr id="1260" name="Google Shape;1260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61" name="Google Shape;1261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3" name="Google Shape;1263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64" name="Google Shape;1264;p86"/>
            <p:cNvSpPr txBox="1"/>
            <p:nvPr/>
          </p:nvSpPr>
          <p:spPr>
            <a:xfrm>
              <a:off x="2202439" y="2033420"/>
              <a:ext cx="758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5.23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6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5.87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6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5.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5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86"/>
          <p:cNvGrpSpPr/>
          <p:nvPr/>
        </p:nvGrpSpPr>
        <p:grpSpPr>
          <a:xfrm>
            <a:off x="655200" y="3985200"/>
            <a:ext cx="3471813" cy="517212"/>
            <a:chOff x="2202430" y="2033409"/>
            <a:chExt cx="5000451" cy="517212"/>
          </a:xfrm>
        </p:grpSpPr>
        <p:grpSp>
          <p:nvGrpSpPr>
            <p:cNvPr id="1269" name="Google Shape;1269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70" name="Google Shape;1270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" name="Google Shape;1272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73" name="Google Shape;1273;p86"/>
            <p:cNvSpPr txBox="1"/>
            <p:nvPr/>
          </p:nvSpPr>
          <p:spPr>
            <a:xfrm>
              <a:off x="2202430" y="2033409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6.02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6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6.37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86"/>
            <p:cNvSpPr txBox="1"/>
            <p:nvPr/>
          </p:nvSpPr>
          <p:spPr>
            <a:xfrm>
              <a:off x="421212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6.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1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86"/>
          <p:cNvGrpSpPr/>
          <p:nvPr/>
        </p:nvGrpSpPr>
        <p:grpSpPr>
          <a:xfrm>
            <a:off x="4968000" y="1440000"/>
            <a:ext cx="3661359" cy="517212"/>
            <a:chOff x="2202429" y="2033409"/>
            <a:chExt cx="5273454" cy="517212"/>
          </a:xfrm>
        </p:grpSpPr>
        <p:grpSp>
          <p:nvGrpSpPr>
            <p:cNvPr id="1278" name="Google Shape;1278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79" name="Google Shape;1279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" name="Google Shape;1280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1" name="Google Shape;1281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82" name="Google Shape;1282;p86"/>
            <p:cNvSpPr txBox="1"/>
            <p:nvPr/>
          </p:nvSpPr>
          <p:spPr>
            <a:xfrm>
              <a:off x="2202429" y="2033409"/>
              <a:ext cx="1054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9.25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6"/>
            <p:cNvSpPr txBox="1"/>
            <p:nvPr/>
          </p:nvSpPr>
          <p:spPr>
            <a:xfrm>
              <a:off x="6256083" y="2033434"/>
              <a:ext cx="121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12.65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6"/>
            <p:cNvSpPr txBox="1"/>
            <p:nvPr/>
          </p:nvSpPr>
          <p:spPr>
            <a:xfrm>
              <a:off x="4054282" y="2033420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0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.95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86"/>
          <p:cNvGrpSpPr/>
          <p:nvPr/>
        </p:nvGrpSpPr>
        <p:grpSpPr>
          <a:xfrm>
            <a:off x="4968000" y="2282400"/>
            <a:ext cx="3471814" cy="528988"/>
            <a:chOff x="2202429" y="2021633"/>
            <a:chExt cx="5000452" cy="528988"/>
          </a:xfrm>
        </p:grpSpPr>
        <p:grpSp>
          <p:nvGrpSpPr>
            <p:cNvPr id="1287" name="Google Shape;1287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88" name="Google Shape;1288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" name="Google Shape;1289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0" name="Google Shape;1290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91" name="Google Shape;1291;p86"/>
            <p:cNvSpPr txBox="1"/>
            <p:nvPr/>
          </p:nvSpPr>
          <p:spPr>
            <a:xfrm>
              <a:off x="2202429" y="2033409"/>
              <a:ext cx="1093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4.6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92" name="Google Shape;1292;p86"/>
            <p:cNvSpPr txBox="1"/>
            <p:nvPr/>
          </p:nvSpPr>
          <p:spPr>
            <a:xfrm>
              <a:off x="6256081" y="2033427"/>
              <a:ext cx="94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4.86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6"/>
            <p:cNvSpPr txBox="1"/>
            <p:nvPr/>
          </p:nvSpPr>
          <p:spPr>
            <a:xfrm>
              <a:off x="4138649" y="2021633"/>
              <a:ext cx="112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4.74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86"/>
          <p:cNvGrpSpPr/>
          <p:nvPr/>
        </p:nvGrpSpPr>
        <p:grpSpPr>
          <a:xfrm>
            <a:off x="4968000" y="3114000"/>
            <a:ext cx="3471768" cy="517199"/>
            <a:chOff x="2202427" y="2033421"/>
            <a:chExt cx="5000386" cy="517199"/>
          </a:xfrm>
        </p:grpSpPr>
        <p:grpSp>
          <p:nvGrpSpPr>
            <p:cNvPr id="1296" name="Google Shape;1296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297" name="Google Shape;1297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" name="Google Shape;1299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00" name="Google Shape;1300;p86"/>
            <p:cNvSpPr txBox="1"/>
            <p:nvPr/>
          </p:nvSpPr>
          <p:spPr>
            <a:xfrm>
              <a:off x="2202427" y="2033421"/>
              <a:ext cx="129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11.08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6"/>
            <p:cNvSpPr txBox="1"/>
            <p:nvPr/>
          </p:nvSpPr>
          <p:spPr>
            <a:xfrm>
              <a:off x="6055013" y="2033421"/>
              <a:ext cx="1147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14.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2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6"/>
            <p:cNvSpPr txBox="1"/>
            <p:nvPr/>
          </p:nvSpPr>
          <p:spPr>
            <a:xfrm>
              <a:off x="3930954" y="2033421"/>
              <a:ext cx="1294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12.665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4" name="Google Shape;1304;p86"/>
          <p:cNvGrpSpPr/>
          <p:nvPr/>
        </p:nvGrpSpPr>
        <p:grpSpPr>
          <a:xfrm>
            <a:off x="4752000" y="3985100"/>
            <a:ext cx="3810220" cy="517212"/>
            <a:chOff x="1873174" y="2033409"/>
            <a:chExt cx="5487859" cy="517212"/>
          </a:xfrm>
        </p:grpSpPr>
        <p:grpSp>
          <p:nvGrpSpPr>
            <p:cNvPr id="1305" name="Google Shape;1305;p86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306" name="Google Shape;1306;p86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" name="Google Shape;1307;p86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" name="Google Shape;1308;p86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09" name="Google Shape;1309;p86"/>
            <p:cNvSpPr txBox="1"/>
            <p:nvPr/>
          </p:nvSpPr>
          <p:spPr>
            <a:xfrm>
              <a:off x="1873174" y="2033409"/>
              <a:ext cx="132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0.00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5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0" name="Google Shape;1310;p86"/>
            <p:cNvSpPr txBox="1"/>
            <p:nvPr/>
          </p:nvSpPr>
          <p:spPr>
            <a:xfrm>
              <a:off x="6146333" y="2033434"/>
              <a:ext cx="1214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0.068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6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6"/>
            <p:cNvSpPr txBox="1"/>
            <p:nvPr/>
          </p:nvSpPr>
          <p:spPr>
            <a:xfrm>
              <a:off x="3867203" y="2033409"/>
              <a:ext cx="169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0.0367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3" name="Google Shape;1313;p86"/>
          <p:cNvSpPr txBox="1"/>
          <p:nvPr>
            <p:ph idx="1" type="body"/>
          </p:nvPr>
        </p:nvSpPr>
        <p:spPr>
          <a:xfrm>
            <a:off x="324000" y="606900"/>
            <a:ext cx="8237700" cy="6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What digit is covered in each of the following?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arrow is pointing to the </a:t>
            </a:r>
            <a:r>
              <a:rPr lang="en-GB" sz="1800">
                <a:solidFill>
                  <a:schemeClr val="accent4"/>
                </a:solidFill>
              </a:rPr>
              <a:t>halfway point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integers or decimals</a:t>
            </a:r>
            <a:endParaRPr/>
          </a:p>
        </p:txBody>
      </p:sp>
      <p:sp>
        <p:nvSpPr>
          <p:cNvPr id="1319" name="Google Shape;1319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320" name="Google Shape;1320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pic>
        <p:nvPicPr>
          <p:cNvPr id="1321" name="Google Shape;132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Google Shape;1326;p88"/>
          <p:cNvPicPr preferRelativeResize="0"/>
          <p:nvPr/>
        </p:nvPicPr>
        <p:blipFill rotWithShape="1">
          <a:blip r:embed="rId3">
            <a:alphaModFix/>
          </a:blip>
          <a:srcRect b="0" l="0" r="0" t="2477"/>
          <a:stretch/>
        </p:blipFill>
        <p:spPr>
          <a:xfrm>
            <a:off x="345100" y="1243900"/>
            <a:ext cx="8195499" cy="5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pic>
        <p:nvPicPr>
          <p:cNvPr id="1328" name="Google Shape;132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6239" y="3517922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88"/>
          <p:cNvSpPr txBox="1"/>
          <p:nvPr/>
        </p:nvSpPr>
        <p:spPr>
          <a:xfrm>
            <a:off x="-20241" y="438115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8"/>
          <p:cNvSpPr txBox="1"/>
          <p:nvPr/>
        </p:nvSpPr>
        <p:spPr>
          <a:xfrm>
            <a:off x="7234713" y="4419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1" name="Google Shape;1331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4790" y="3658176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2" name="Google Shape;1332;p88"/>
          <p:cNvGrpSpPr/>
          <p:nvPr/>
        </p:nvGrpSpPr>
        <p:grpSpPr>
          <a:xfrm>
            <a:off x="1167548" y="3019484"/>
            <a:ext cx="1551776" cy="753401"/>
            <a:chOff x="1167548" y="2263600"/>
            <a:chExt cx="1551776" cy="753401"/>
          </a:xfrm>
        </p:grpSpPr>
        <p:pic>
          <p:nvPicPr>
            <p:cNvPr descr="&lt;math xmlns=&quot;http://www.w3.org/1998/Math/MathML&quot; display=&quot;block&quot; data-is-equatio=&quot;1&quot; data-latex=&quot;\frac{2}{4}&quot;&gt;&lt;mfrac&gt;&lt;mn&gt;2&lt;/mn&gt;&lt;mn&gt;4&lt;/mn&gt;&lt;/mfrac&gt;&lt;/math&gt;" id="1333" name="Google Shape;1333;p88" title="two four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101050" y="2289171"/>
              <a:ext cx="177388" cy="5651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34" name="Google Shape;1334;p88"/>
            <p:cNvGrpSpPr/>
            <p:nvPr/>
          </p:nvGrpSpPr>
          <p:grpSpPr>
            <a:xfrm>
              <a:off x="1167548" y="2263600"/>
              <a:ext cx="1551776" cy="753401"/>
              <a:chOff x="1619541" y="2374317"/>
              <a:chExt cx="2556047" cy="991577"/>
            </a:xfrm>
          </p:grpSpPr>
          <p:pic>
            <p:nvPicPr>
              <p:cNvPr id="1335" name="Google Shape;1335;p88"/>
              <p:cNvPicPr preferRelativeResize="0"/>
              <p:nvPr/>
            </p:nvPicPr>
            <p:blipFill rotWithShape="1">
              <a:blip r:embed="rId7">
                <a:alphaModFix/>
              </a:blip>
              <a:srcRect b="43690" l="0" r="57905" t="0"/>
              <a:stretch/>
            </p:blipFill>
            <p:spPr>
              <a:xfrm flipH="1">
                <a:off x="1619541" y="2374317"/>
                <a:ext cx="2556047" cy="9915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6" name="Google Shape;1336;p88"/>
              <p:cNvSpPr txBox="1"/>
              <p:nvPr/>
            </p:nvSpPr>
            <p:spPr>
              <a:xfrm>
                <a:off x="1833185" y="2632466"/>
                <a:ext cx="23190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37" name="Google Shape;1337;p88"/>
          <p:cNvGrpSpPr/>
          <p:nvPr/>
        </p:nvGrpSpPr>
        <p:grpSpPr>
          <a:xfrm>
            <a:off x="5040525" y="3110375"/>
            <a:ext cx="2427450" cy="896098"/>
            <a:chOff x="5345325" y="2195975"/>
            <a:chExt cx="2427450" cy="89609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338" name="Google Shape;1338;p88" title="one half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14146" y="2289171"/>
              <a:ext cx="177388" cy="5651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39" name="Google Shape;1339;p88"/>
            <p:cNvGrpSpPr/>
            <p:nvPr/>
          </p:nvGrpSpPr>
          <p:grpSpPr>
            <a:xfrm>
              <a:off x="5345325" y="2195975"/>
              <a:ext cx="2427450" cy="896098"/>
              <a:chOff x="5264271" y="630630"/>
              <a:chExt cx="1701325" cy="364060"/>
            </a:xfrm>
          </p:grpSpPr>
          <p:pic>
            <p:nvPicPr>
              <p:cNvPr id="1340" name="Google Shape;1340;p88"/>
              <p:cNvPicPr preferRelativeResize="0"/>
              <p:nvPr/>
            </p:nvPicPr>
            <p:blipFill rotWithShape="1">
              <a:blip r:embed="rId7">
                <a:alphaModFix/>
              </a:blip>
              <a:srcRect b="43690" l="0" r="57905" t="0"/>
              <a:stretch/>
            </p:blipFill>
            <p:spPr>
              <a:xfrm>
                <a:off x="5264271" y="630630"/>
                <a:ext cx="1701325" cy="3640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1" name="Google Shape;1341;p88"/>
              <p:cNvSpPr txBox="1"/>
              <p:nvPr/>
            </p:nvSpPr>
            <p:spPr>
              <a:xfrm>
                <a:off x="5300975" y="719035"/>
                <a:ext cx="1557600" cy="1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I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42" name="Google Shape;1342;p88"/>
          <p:cNvSpPr txBox="1"/>
          <p:nvPr>
            <p:ph idx="1" type="body"/>
          </p:nvPr>
        </p:nvSpPr>
        <p:spPr>
          <a:xfrm>
            <a:off x="324000" y="1963775"/>
            <a:ext cx="82377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have both chosen a fraction between   and   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343" name="Google Shape;1343;p88" title="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89067" y="1908150"/>
            <a:ext cx="177388" cy="565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344" name="Google Shape;1344;p88" title="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5608" y="1908158"/>
            <a:ext cx="177388" cy="5651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88"/>
          <p:cNvSpPr txBox="1"/>
          <p:nvPr>
            <p:ph idx="1" type="body"/>
          </p:nvPr>
        </p:nvSpPr>
        <p:spPr>
          <a:xfrm>
            <a:off x="336250" y="2534300"/>
            <a:ext cx="62379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have chosen equivalents of the same fraction.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46" name="Google Shape;1346;p88"/>
          <p:cNvGrpSpPr/>
          <p:nvPr/>
        </p:nvGrpSpPr>
        <p:grpSpPr>
          <a:xfrm>
            <a:off x="1479825" y="3215625"/>
            <a:ext cx="1530100" cy="249300"/>
            <a:chOff x="1479825" y="3215625"/>
            <a:chExt cx="1530100" cy="249300"/>
          </a:xfrm>
        </p:grpSpPr>
        <p:sp>
          <p:nvSpPr>
            <p:cNvPr id="1347" name="Google Shape;1347;p88"/>
            <p:cNvSpPr txBox="1"/>
            <p:nvPr/>
          </p:nvSpPr>
          <p:spPr>
            <a:xfrm>
              <a:off x="1479825" y="3215625"/>
              <a:ext cx="13776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think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8"/>
            <p:cNvSpPr txBox="1"/>
            <p:nvPr/>
          </p:nvSpPr>
          <p:spPr>
            <a:xfrm>
              <a:off x="2353825" y="3215625"/>
              <a:ext cx="6561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88"/>
          <p:cNvGrpSpPr/>
          <p:nvPr/>
        </p:nvGrpSpPr>
        <p:grpSpPr>
          <a:xfrm>
            <a:off x="5284575" y="3327975"/>
            <a:ext cx="2487850" cy="277200"/>
            <a:chOff x="5284575" y="3327975"/>
            <a:chExt cx="2487850" cy="277200"/>
          </a:xfrm>
        </p:grpSpPr>
        <p:sp>
          <p:nvSpPr>
            <p:cNvPr id="1350" name="Google Shape;1350;p88"/>
            <p:cNvSpPr txBox="1"/>
            <p:nvPr/>
          </p:nvSpPr>
          <p:spPr>
            <a:xfrm>
              <a:off x="5284575" y="3327975"/>
              <a:ext cx="2183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am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8"/>
            <p:cNvSpPr txBox="1"/>
            <p:nvPr/>
          </p:nvSpPr>
          <p:spPr>
            <a:xfrm>
              <a:off x="5750375" y="3327975"/>
              <a:ext cx="1869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choosing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88"/>
            <p:cNvSpPr txBox="1"/>
            <p:nvPr/>
          </p:nvSpPr>
          <p:spPr>
            <a:xfrm>
              <a:off x="7163425" y="3327975"/>
              <a:ext cx="60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53" name="Google Shape;1353;p8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4000" y="706600"/>
            <a:ext cx="4434077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359" name="Google Shape;1359;p89"/>
          <p:cNvSpPr txBox="1"/>
          <p:nvPr>
            <p:ph idx="1" type="body"/>
          </p:nvPr>
        </p:nvSpPr>
        <p:spPr>
          <a:xfrm>
            <a:off x="324000" y="606900"/>
            <a:ext cx="8237700" cy="10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Sofia are now trying to find a fraction between</a:t>
            </a:r>
            <a:endParaRPr/>
          </a:p>
        </p:txBody>
      </p:sp>
      <p:pic>
        <p:nvPicPr>
          <p:cNvPr id="1360" name="Google Shape;136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39" y="3517922"/>
            <a:ext cx="788356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89"/>
          <p:cNvSpPr txBox="1"/>
          <p:nvPr/>
        </p:nvSpPr>
        <p:spPr>
          <a:xfrm>
            <a:off x="-20241" y="4381157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9"/>
          <p:cNvSpPr txBox="1"/>
          <p:nvPr/>
        </p:nvSpPr>
        <p:spPr>
          <a:xfrm>
            <a:off x="7234713" y="4419212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3" name="Google Shape;136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790" y="3658176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64" name="Google Shape;1364;p89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58" y="1015575"/>
            <a:ext cx="174666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65" name="Google Shape;1365;p89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7709" y="1015575"/>
            <a:ext cx="174666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89"/>
          <p:cNvSpPr txBox="1"/>
          <p:nvPr>
            <p:ph idx="1" type="body"/>
          </p:nvPr>
        </p:nvSpPr>
        <p:spPr>
          <a:xfrm>
            <a:off x="324000" y="1755335"/>
            <a:ext cx="6426000" cy="10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not so obvious here to see if they are right.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could we do to check?</a:t>
            </a:r>
            <a:endParaRPr/>
          </a:p>
        </p:txBody>
      </p:sp>
      <p:grpSp>
        <p:nvGrpSpPr>
          <p:cNvPr id="1367" name="Google Shape;1367;p89"/>
          <p:cNvGrpSpPr/>
          <p:nvPr/>
        </p:nvGrpSpPr>
        <p:grpSpPr>
          <a:xfrm>
            <a:off x="1127575" y="3019475"/>
            <a:ext cx="1785906" cy="753401"/>
            <a:chOff x="1127575" y="3019475"/>
            <a:chExt cx="1785906" cy="753401"/>
          </a:xfrm>
        </p:grpSpPr>
        <p:grpSp>
          <p:nvGrpSpPr>
            <p:cNvPr id="1368" name="Google Shape;1368;p89"/>
            <p:cNvGrpSpPr/>
            <p:nvPr/>
          </p:nvGrpSpPr>
          <p:grpSpPr>
            <a:xfrm>
              <a:off x="1127575" y="3019475"/>
              <a:ext cx="1785906" cy="753401"/>
              <a:chOff x="1553699" y="2374306"/>
              <a:chExt cx="2941700" cy="991577"/>
            </a:xfrm>
          </p:grpSpPr>
          <p:pic>
            <p:nvPicPr>
              <p:cNvPr id="1369" name="Google Shape;1369;p89"/>
              <p:cNvPicPr preferRelativeResize="0"/>
              <p:nvPr/>
            </p:nvPicPr>
            <p:blipFill rotWithShape="1">
              <a:blip r:embed="rId7">
                <a:alphaModFix/>
              </a:blip>
              <a:srcRect b="43690" l="0" r="57905" t="0"/>
              <a:stretch/>
            </p:blipFill>
            <p:spPr>
              <a:xfrm flipH="1">
                <a:off x="1553699" y="2374306"/>
                <a:ext cx="2662205" cy="9915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0" name="Google Shape;1370;p89"/>
              <p:cNvSpPr txBox="1"/>
              <p:nvPr/>
            </p:nvSpPr>
            <p:spPr>
              <a:xfrm>
                <a:off x="1833199" y="2632456"/>
                <a:ext cx="26622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371" name="Google Shape;1371;p8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130730" y="3114593"/>
              <a:ext cx="149243" cy="493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2" name="Google Shape;1372;p89"/>
          <p:cNvGrpSpPr/>
          <p:nvPr/>
        </p:nvGrpSpPr>
        <p:grpSpPr>
          <a:xfrm>
            <a:off x="4983500" y="3110375"/>
            <a:ext cx="2611922" cy="896098"/>
            <a:chOff x="4983500" y="3110375"/>
            <a:chExt cx="2611922" cy="896098"/>
          </a:xfrm>
        </p:grpSpPr>
        <p:grpSp>
          <p:nvGrpSpPr>
            <p:cNvPr id="1373" name="Google Shape;1373;p89"/>
            <p:cNvGrpSpPr/>
            <p:nvPr/>
          </p:nvGrpSpPr>
          <p:grpSpPr>
            <a:xfrm>
              <a:off x="4983500" y="3110375"/>
              <a:ext cx="2611922" cy="896098"/>
              <a:chOff x="5226288" y="599674"/>
              <a:chExt cx="1739310" cy="364060"/>
            </a:xfrm>
          </p:grpSpPr>
          <p:pic>
            <p:nvPicPr>
              <p:cNvPr id="1374" name="Google Shape;1374;p89"/>
              <p:cNvPicPr preferRelativeResize="0"/>
              <p:nvPr/>
            </p:nvPicPr>
            <p:blipFill rotWithShape="1">
              <a:blip r:embed="rId7">
                <a:alphaModFix/>
              </a:blip>
              <a:srcRect b="43690" l="0" r="57905" t="0"/>
              <a:stretch/>
            </p:blipFill>
            <p:spPr>
              <a:xfrm>
                <a:off x="5226288" y="599674"/>
                <a:ext cx="1739310" cy="3640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5" name="Google Shape;1375;p89"/>
              <p:cNvSpPr txBox="1"/>
              <p:nvPr/>
            </p:nvSpPr>
            <p:spPr>
              <a:xfrm>
                <a:off x="5300975" y="719035"/>
                <a:ext cx="1557600" cy="1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I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11}{25}&quot;&gt;&lt;mfrac&gt;&lt;mn&gt;11&lt;/mn&gt;&lt;mn&gt;25&lt;/mn&gt;&lt;/mfrac&gt;&lt;/math&gt;" id="1376" name="Google Shape;1376;p89" title="11 over 2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914199" y="3240005"/>
              <a:ext cx="270743" cy="493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7" name="Google Shape;1377;p89"/>
          <p:cNvGrpSpPr/>
          <p:nvPr/>
        </p:nvGrpSpPr>
        <p:grpSpPr>
          <a:xfrm>
            <a:off x="1479825" y="3215625"/>
            <a:ext cx="1530100" cy="249300"/>
            <a:chOff x="1479825" y="3215625"/>
            <a:chExt cx="1530100" cy="249300"/>
          </a:xfrm>
        </p:grpSpPr>
        <p:sp>
          <p:nvSpPr>
            <p:cNvPr id="1378" name="Google Shape;1378;p89"/>
            <p:cNvSpPr txBox="1"/>
            <p:nvPr/>
          </p:nvSpPr>
          <p:spPr>
            <a:xfrm>
              <a:off x="1479825" y="3215625"/>
              <a:ext cx="13776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think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89"/>
            <p:cNvSpPr txBox="1"/>
            <p:nvPr/>
          </p:nvSpPr>
          <p:spPr>
            <a:xfrm>
              <a:off x="2353825" y="3215625"/>
              <a:ext cx="6561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0" name="Google Shape;1380;p89"/>
          <p:cNvGrpSpPr/>
          <p:nvPr/>
        </p:nvGrpSpPr>
        <p:grpSpPr>
          <a:xfrm>
            <a:off x="5284575" y="3404175"/>
            <a:ext cx="2487700" cy="277200"/>
            <a:chOff x="5284575" y="3404175"/>
            <a:chExt cx="2487700" cy="277200"/>
          </a:xfrm>
        </p:grpSpPr>
        <p:sp>
          <p:nvSpPr>
            <p:cNvPr id="1381" name="Google Shape;1381;p89"/>
            <p:cNvSpPr txBox="1"/>
            <p:nvPr/>
          </p:nvSpPr>
          <p:spPr>
            <a:xfrm>
              <a:off x="5284575" y="3404175"/>
              <a:ext cx="2183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am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9"/>
            <p:cNvSpPr txBox="1"/>
            <p:nvPr/>
          </p:nvSpPr>
          <p:spPr>
            <a:xfrm>
              <a:off x="5750375" y="3404175"/>
              <a:ext cx="1869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choosing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9"/>
            <p:cNvSpPr txBox="1"/>
            <p:nvPr/>
          </p:nvSpPr>
          <p:spPr>
            <a:xfrm>
              <a:off x="7205275" y="3404175"/>
              <a:ext cx="56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4" name="Google Shape;1384;p89"/>
          <p:cNvSpPr txBox="1"/>
          <p:nvPr>
            <p:ph idx="1" type="body"/>
          </p:nvPr>
        </p:nvSpPr>
        <p:spPr>
          <a:xfrm>
            <a:off x="692475" y="1140300"/>
            <a:ext cx="81741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</a:t>
            </a:r>
            <a:endParaRPr/>
          </a:p>
        </p:txBody>
      </p:sp>
      <p:sp>
        <p:nvSpPr>
          <p:cNvPr id="1385" name="Google Shape;1385;p89"/>
          <p:cNvSpPr txBox="1"/>
          <p:nvPr>
            <p:ph idx="1" type="body"/>
          </p:nvPr>
        </p:nvSpPr>
        <p:spPr>
          <a:xfrm>
            <a:off x="1687475" y="1140300"/>
            <a:ext cx="74838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391" name="Google Shape;1391;p90"/>
          <p:cNvSpPr txBox="1"/>
          <p:nvPr>
            <p:ph idx="1" type="body"/>
          </p:nvPr>
        </p:nvSpPr>
        <p:spPr>
          <a:xfrm>
            <a:off x="324000" y="606900"/>
            <a:ext cx="84525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equivalent fractions and a common denominator.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92" name="Google Shape;1392;p9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883" y="1776500"/>
            <a:ext cx="174666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93" name="Google Shape;1393;p90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84" y="2571750"/>
            <a:ext cx="174666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90"/>
          <p:cNvSpPr txBox="1"/>
          <p:nvPr>
            <p:ph idx="1" type="body"/>
          </p:nvPr>
        </p:nvSpPr>
        <p:spPr>
          <a:xfrm>
            <a:off x="2854825" y="1704600"/>
            <a:ext cx="4807800" cy="19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Prime factors of the denominators: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395" name="Google Shape;1395;p90"/>
          <p:cNvSpPr txBox="1"/>
          <p:nvPr>
            <p:ph idx="1" type="body"/>
          </p:nvPr>
        </p:nvSpPr>
        <p:spPr>
          <a:xfrm>
            <a:off x="3369600" y="2275650"/>
            <a:ext cx="3523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already as prime factors</a:t>
            </a:r>
            <a:endParaRPr/>
          </a:p>
        </p:txBody>
      </p:sp>
      <p:sp>
        <p:nvSpPr>
          <p:cNvPr id="1396" name="Google Shape;1396;p90"/>
          <p:cNvSpPr txBox="1"/>
          <p:nvPr>
            <p:ph idx="1" type="body"/>
          </p:nvPr>
        </p:nvSpPr>
        <p:spPr>
          <a:xfrm>
            <a:off x="3369600" y="2758300"/>
            <a:ext cx="6603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× 5</a:t>
            </a:r>
            <a:endParaRPr/>
          </a:p>
        </p:txBody>
      </p:sp>
      <p:sp>
        <p:nvSpPr>
          <p:cNvPr id="1397" name="Google Shape;1397;p90"/>
          <p:cNvSpPr txBox="1"/>
          <p:nvPr>
            <p:ph idx="1" type="body"/>
          </p:nvPr>
        </p:nvSpPr>
        <p:spPr>
          <a:xfrm>
            <a:off x="3369600" y="3240950"/>
            <a:ext cx="10893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× 2 × 2</a:t>
            </a:r>
            <a:endParaRPr/>
          </a:p>
        </p:txBody>
      </p:sp>
      <p:sp>
        <p:nvSpPr>
          <p:cNvPr id="1398" name="Google Shape;1398;p90"/>
          <p:cNvSpPr txBox="1"/>
          <p:nvPr>
            <p:ph idx="1" type="body"/>
          </p:nvPr>
        </p:nvSpPr>
        <p:spPr>
          <a:xfrm>
            <a:off x="2931025" y="3932400"/>
            <a:ext cx="3523200" cy="9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LCM of 5, 25 and 8: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2 × 2 × 5 × 5 = 200</a:t>
            </a:r>
            <a:endParaRPr/>
          </a:p>
        </p:txBody>
      </p:sp>
      <p:pic>
        <p:nvPicPr>
          <p:cNvPr id="1399" name="Google Shape;139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876" y="3391661"/>
            <a:ext cx="174675" cy="57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5}&quot;&gt;&lt;mfrac&gt;&lt;mn&gt;11&lt;/mn&gt;&lt;mn&gt;25&lt;/mn&gt;&lt;/mfrac&gt;&lt;/math&gt;" id="1400" name="Google Shape;1400;p90" title="11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350" y="4198796"/>
            <a:ext cx="307725" cy="561378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90"/>
          <p:cNvSpPr txBox="1"/>
          <p:nvPr>
            <p:ph idx="1" type="body"/>
          </p:nvPr>
        </p:nvSpPr>
        <p:spPr>
          <a:xfrm>
            <a:off x="324000" y="963900"/>
            <a:ext cx="84960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need to find a common denominator for all 4 of the fractions.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\times25}{8\times25}=\frac{75}{200}&quot;&gt;&lt;mfrac&gt;&lt;mrow&gt;&lt;mn&gt;3&lt;/mn&gt;&lt;mo&gt;×&lt;/mo&gt;&lt;mn&gt;25&lt;/mn&gt;&lt;/mrow&gt;&lt;mrow&gt;&lt;mn&gt;8&lt;/mn&gt;&lt;mo&gt;×&lt;/mo&gt;&lt;mn&gt;25&lt;/mn&gt;&lt;/mrow&gt;&lt;/mfrac&gt;&lt;mo&gt;=&lt;/mo&gt;&lt;mfrac&gt;&lt;mn&gt;75&lt;/mn&gt;&lt;mn&gt;200&lt;/mn&gt;&lt;/mfrac&gt;&lt;/math&gt;" id="1406" name="Google Shape;1406;p91" title="the fraction with numerator 3 times 25 and denominator 8 times 25 equals 75 over 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025" y="3424852"/>
            <a:ext cx="1526350" cy="550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\times8}{25\times8}=\frac{88}{200}&quot;&gt;&lt;mfrac&gt;&lt;mrow&gt;&lt;mn&gt;11&lt;/mn&gt;&lt;mo&gt;×&lt;/mo&gt;&lt;mn&gt;8&lt;/mn&gt;&lt;/mrow&gt;&lt;mrow&gt;&lt;mn&gt;25&lt;/mn&gt;&lt;mo&gt;×&lt;/mo&gt;&lt;mn&gt;8&lt;/mn&gt;&lt;/mrow&gt;&lt;/mfrac&gt;&lt;mo&gt;=&lt;/mo&gt;&lt;mfrac&gt;&lt;mn&gt;88&lt;/mn&gt;&lt;mn&gt;200&lt;/mn&gt;&lt;/mfrac&gt;&lt;/math&gt;" id="1407" name="Google Shape;1407;p91" title="the fraction with numerator 11 times 8 and denominator 25 times 8 equals 88 over 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0750" y="4197433"/>
            <a:ext cx="1556140" cy="5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409" name="Google Shape;1409;p91"/>
          <p:cNvSpPr txBox="1"/>
          <p:nvPr>
            <p:ph idx="1" type="body"/>
          </p:nvPr>
        </p:nvSpPr>
        <p:spPr>
          <a:xfrm>
            <a:off x="324000" y="606900"/>
            <a:ext cx="84960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equivalent fractions and a common denominator.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410" name="Google Shape;1410;p91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883" y="1776500"/>
            <a:ext cx="174666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411" name="Google Shape;1411;p91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884" y="2571750"/>
            <a:ext cx="174666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91"/>
          <p:cNvSpPr txBox="1"/>
          <p:nvPr>
            <p:ph idx="1" type="body"/>
          </p:nvPr>
        </p:nvSpPr>
        <p:spPr>
          <a:xfrm>
            <a:off x="324000" y="963900"/>
            <a:ext cx="84960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need to find a common denominator for all 4 of the fractions.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\times40}{5\times40}=\frac{80}{200}&quot;&gt;&lt;mfrac&gt;&lt;mrow&gt;&lt;mn&gt;2&lt;/mn&gt;&lt;mo&gt;×&lt;/mo&gt;&lt;mn&gt;40&lt;/mn&gt;&lt;/mrow&gt;&lt;mrow&gt;&lt;mn&gt;5&lt;/mn&gt;&lt;mo&gt;×&lt;/mo&gt;&lt;mn&gt;40&lt;/mn&gt;&lt;/mrow&gt;&lt;/mfrac&gt;&lt;mo&gt;=&lt;/mo&gt;&lt;mfrac&gt;&lt;mn&gt;80&lt;/mn&gt;&lt;mn&gt;200&lt;/mn&gt;&lt;/mfrac&gt;&lt;/math&gt;" id="1413" name="Google Shape;1413;p91" title="the fraction with numerator 2 times 40 and denominator 5 times 40 equals 80 over 2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3150" y="2566013"/>
            <a:ext cx="1584891" cy="572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\times40}{5\times40}=\frac{40}{200}&quot;&gt;&lt;mfrac&gt;&lt;mrow&gt;&lt;mn&gt;1&lt;/mn&gt;&lt;mo&gt;×&lt;/mo&gt;&lt;mn&gt;40&lt;/mn&gt;&lt;/mrow&gt;&lt;mrow&gt;&lt;mn&gt;5&lt;/mn&gt;&lt;mo&gt;×&lt;/mo&gt;&lt;mn&gt;40&lt;/mn&gt;&lt;/mrow&gt;&lt;/mfrac&gt;&lt;mo&gt;=&lt;/mo&gt;&lt;mfrac&gt;&lt;mn&gt;40&lt;/mn&gt;&lt;mn&gt;200&lt;/mn&gt;&lt;/mfrac&gt;&lt;/math&gt;" id="1414" name="Google Shape;1414;p91" title="the fraction with numerator 1 times 40 and denominator 5 times 40 equals 40 over 2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63150" y="1786880"/>
            <a:ext cx="1584891" cy="572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91"/>
          <p:cNvSpPr txBox="1"/>
          <p:nvPr/>
        </p:nvSpPr>
        <p:spPr>
          <a:xfrm>
            <a:off x="995303" y="1887863"/>
            <a:ext cx="2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1"/>
          <p:cNvSpPr txBox="1"/>
          <p:nvPr/>
        </p:nvSpPr>
        <p:spPr>
          <a:xfrm>
            <a:off x="995303" y="2683113"/>
            <a:ext cx="2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1"/>
          <p:cNvSpPr txBox="1"/>
          <p:nvPr/>
        </p:nvSpPr>
        <p:spPr>
          <a:xfrm>
            <a:off x="1030653" y="3460150"/>
            <a:ext cx="2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1"/>
          <p:cNvSpPr txBox="1"/>
          <p:nvPr/>
        </p:nvSpPr>
        <p:spPr>
          <a:xfrm>
            <a:off x="995303" y="4311563"/>
            <a:ext cx="2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1"/>
          <p:cNvSpPr/>
          <p:nvPr/>
        </p:nvSpPr>
        <p:spPr>
          <a:xfrm>
            <a:off x="2458000" y="1758950"/>
            <a:ext cx="5628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91"/>
          <p:cNvSpPr/>
          <p:nvPr/>
        </p:nvSpPr>
        <p:spPr>
          <a:xfrm>
            <a:off x="1803075" y="2110250"/>
            <a:ext cx="2820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1"/>
          <p:cNvSpPr/>
          <p:nvPr/>
        </p:nvSpPr>
        <p:spPr>
          <a:xfrm>
            <a:off x="1803075" y="1730550"/>
            <a:ext cx="2820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2475859" y="2483934"/>
            <a:ext cx="562800" cy="3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1"/>
          <p:cNvSpPr/>
          <p:nvPr/>
        </p:nvSpPr>
        <p:spPr>
          <a:xfrm>
            <a:off x="1795200" y="2911425"/>
            <a:ext cx="3570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1"/>
          <p:cNvSpPr/>
          <p:nvPr/>
        </p:nvSpPr>
        <p:spPr>
          <a:xfrm>
            <a:off x="1795199" y="2531725"/>
            <a:ext cx="3078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1"/>
          <p:cNvSpPr/>
          <p:nvPr/>
        </p:nvSpPr>
        <p:spPr>
          <a:xfrm>
            <a:off x="2472559" y="3316209"/>
            <a:ext cx="562800" cy="3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1"/>
          <p:cNvSpPr/>
          <p:nvPr/>
        </p:nvSpPr>
        <p:spPr>
          <a:xfrm>
            <a:off x="1740975" y="3740082"/>
            <a:ext cx="3570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91"/>
          <p:cNvSpPr/>
          <p:nvPr/>
        </p:nvSpPr>
        <p:spPr>
          <a:xfrm>
            <a:off x="1734047" y="3364000"/>
            <a:ext cx="3078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91"/>
          <p:cNvSpPr/>
          <p:nvPr/>
        </p:nvSpPr>
        <p:spPr>
          <a:xfrm>
            <a:off x="2432059" y="4120109"/>
            <a:ext cx="562800" cy="35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91"/>
          <p:cNvSpPr/>
          <p:nvPr/>
        </p:nvSpPr>
        <p:spPr>
          <a:xfrm>
            <a:off x="1751400" y="4547600"/>
            <a:ext cx="3570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91"/>
          <p:cNvSpPr/>
          <p:nvPr/>
        </p:nvSpPr>
        <p:spPr>
          <a:xfrm>
            <a:off x="1751399" y="4167900"/>
            <a:ext cx="307800" cy="29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1" name="Google Shape;1431;p9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876" y="3391661"/>
            <a:ext cx="174675" cy="57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5}&quot;&gt;&lt;mfrac&gt;&lt;mn&gt;11&lt;/mn&gt;&lt;mn&gt;25&lt;/mn&gt;&lt;/mfrac&gt;&lt;/math&gt;" id="1432" name="Google Shape;1432;p91" title="11 over 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350" y="4198796"/>
            <a:ext cx="307725" cy="561378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91"/>
          <p:cNvSpPr/>
          <p:nvPr/>
        </p:nvSpPr>
        <p:spPr>
          <a:xfrm>
            <a:off x="2354050" y="3409425"/>
            <a:ext cx="5940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1"/>
          <p:cNvSpPr/>
          <p:nvPr/>
        </p:nvSpPr>
        <p:spPr>
          <a:xfrm>
            <a:off x="2274850" y="4167899"/>
            <a:ext cx="594000" cy="63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5" name="Google Shape;1435;p9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04125" y="3307748"/>
            <a:ext cx="501192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9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79659" y="4154105"/>
            <a:ext cx="5244317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42" name="Google Shape;1442;p92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652" y="2700003"/>
            <a:ext cx="198670" cy="63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443" name="Google Shape;1443;p92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650" y="3676650"/>
            <a:ext cx="198675" cy="643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2}&quot;&gt;&lt;mfrac&gt;&lt;mn&gt;9&lt;/mn&gt;&lt;mn&gt;12&lt;/mn&gt;&lt;/mfrac&gt;&lt;/math&gt;" id="1444" name="Google Shape;1444;p92" title="9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425" y="1699831"/>
            <a:ext cx="351137" cy="63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1108" y="2764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6808" y="3712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0" y="775201"/>
            <a:ext cx="7328850" cy="673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2" name="Google Shape;145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61" y="715775"/>
            <a:ext cx="6105091" cy="6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454" name="Google Shape;1454;p93"/>
          <p:cNvSpPr txBox="1"/>
          <p:nvPr>
            <p:ph idx="1" type="body"/>
          </p:nvPr>
        </p:nvSpPr>
        <p:spPr>
          <a:xfrm>
            <a:off x="324000" y="2190750"/>
            <a:ext cx="69411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can we not just find the middle of 4 and 5?</a:t>
            </a:r>
            <a:endParaRPr/>
          </a:p>
        </p:txBody>
      </p:sp>
      <p:sp>
        <p:nvSpPr>
          <p:cNvPr id="1455" name="Google Shape;1455;p93"/>
          <p:cNvSpPr txBox="1"/>
          <p:nvPr>
            <p:ph idx="1" type="body"/>
          </p:nvPr>
        </p:nvSpPr>
        <p:spPr>
          <a:xfrm>
            <a:off x="324000" y="2592415"/>
            <a:ext cx="61461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That would give us a decimal numerator.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6" name="Google Shape;1456;p93"/>
          <p:cNvSpPr txBox="1"/>
          <p:nvPr>
            <p:ph idx="1" type="body"/>
          </p:nvPr>
        </p:nvSpPr>
        <p:spPr>
          <a:xfrm>
            <a:off x="324000" y="2994080"/>
            <a:ext cx="61461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use </a:t>
            </a:r>
            <a:r>
              <a:rPr lang="en-GB"/>
              <a:t>equivalent</a:t>
            </a:r>
            <a:r>
              <a:rPr lang="en-GB"/>
              <a:t> fractions.</a:t>
            </a:r>
            <a:endParaRPr/>
          </a:p>
        </p:txBody>
      </p:sp>
      <p:grpSp>
        <p:nvGrpSpPr>
          <p:cNvPr id="1457" name="Google Shape;1457;p93"/>
          <p:cNvGrpSpPr/>
          <p:nvPr/>
        </p:nvGrpSpPr>
        <p:grpSpPr>
          <a:xfrm>
            <a:off x="2384511" y="1311250"/>
            <a:ext cx="4394467" cy="782170"/>
            <a:chOff x="2384511" y="1311250"/>
            <a:chExt cx="4394467" cy="782170"/>
          </a:xfrm>
        </p:grpSpPr>
        <p:grpSp>
          <p:nvGrpSpPr>
            <p:cNvPr id="1458" name="Google Shape;1458;p93"/>
            <p:cNvGrpSpPr/>
            <p:nvPr/>
          </p:nvGrpSpPr>
          <p:grpSpPr>
            <a:xfrm>
              <a:off x="2525400" y="1916120"/>
              <a:ext cx="4093200" cy="177300"/>
              <a:chOff x="2525400" y="2906720"/>
              <a:chExt cx="4093200" cy="177300"/>
            </a:xfrm>
          </p:grpSpPr>
          <p:grpSp>
            <p:nvGrpSpPr>
              <p:cNvPr id="1459" name="Google Shape;1459;p93"/>
              <p:cNvGrpSpPr/>
              <p:nvPr/>
            </p:nvGrpSpPr>
            <p:grpSpPr>
              <a:xfrm>
                <a:off x="2525400" y="2906720"/>
                <a:ext cx="4093200" cy="177300"/>
                <a:chOff x="2525400" y="1458920"/>
                <a:chExt cx="4093200" cy="177300"/>
              </a:xfrm>
            </p:grpSpPr>
            <p:cxnSp>
              <p:nvCxnSpPr>
                <p:cNvPr id="1460" name="Google Shape;1460;p93"/>
                <p:cNvCxnSpPr/>
                <p:nvPr/>
              </p:nvCxnSpPr>
              <p:spPr>
                <a:xfrm flipH="1" rot="10800000">
                  <a:off x="2525400" y="1616850"/>
                  <a:ext cx="4093200" cy="6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61" name="Google Shape;1461;p93"/>
                <p:cNvCxnSpPr/>
                <p:nvPr/>
              </p:nvCxnSpPr>
              <p:spPr>
                <a:xfrm>
                  <a:off x="2542619" y="1458920"/>
                  <a:ext cx="0" cy="177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62" name="Google Shape;1462;p93"/>
                <p:cNvCxnSpPr/>
                <p:nvPr/>
              </p:nvCxnSpPr>
              <p:spPr>
                <a:xfrm>
                  <a:off x="6604848" y="1458920"/>
                  <a:ext cx="0" cy="177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463" name="Google Shape;1463;p93"/>
              <p:cNvCxnSpPr/>
              <p:nvPr/>
            </p:nvCxnSpPr>
            <p:spPr>
              <a:xfrm>
                <a:off x="4572000" y="2937275"/>
                <a:ext cx="0" cy="134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&lt;math xmlns=&quot;http://www.w3.org/1998/Math/MathML&quot; display=&quot;block&quot; data-is-equatio=&quot;1&quot; data-latex=&quot;\frac{5}{11}&quot;&gt;&lt;mfrac&gt;&lt;mn&gt;5&lt;/mn&gt;&lt;mn&gt;11&lt;/mn&gt;&lt;/mfrac&gt;&lt;/math&gt;" id="1464" name="Google Shape;1464;p93" title="5 over 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0099" y="1311250"/>
              <a:ext cx="308879" cy="562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11}&quot;&gt;&lt;mfrac&gt;&lt;mn&gt;4&lt;/mn&gt;&lt;mn&gt;11&lt;/mn&gt;&lt;/mfrac&gt;&lt;/math&gt;" id="1465" name="Google Shape;1465;p93" title="4 over 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84511" y="1331563"/>
              <a:ext cx="308875" cy="5683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4}{11}=\frac{4\times2}{11\times2}=\frac{8}{22}&quot;&gt;&lt;mfrac&gt;&lt;mn&gt;4&lt;/mn&gt;&lt;mn&gt;11&lt;/mn&gt;&lt;/mfrac&gt;&lt;mo&gt;=&lt;/mo&gt;&lt;mfrac&gt;&lt;mrow&gt;&lt;mn&gt;4&lt;/mn&gt;&lt;mo&gt;×&lt;/mo&gt;&lt;mn&gt;2&lt;/mn&gt;&lt;/mrow&gt;&lt;mrow&gt;&lt;mn&gt;11&lt;/mn&gt;&lt;mo&gt;×&lt;/mo&gt;&lt;mn&gt;2&lt;/mn&gt;&lt;/mrow&gt;&lt;/mfrac&gt;&lt;mo&gt;=&lt;/mo&gt;&lt;mfrac&gt;&lt;mn&gt;8&lt;/mn&gt;&lt;mn&gt;22&lt;/mn&gt;&lt;/mfrac&gt;&lt;/math&gt;" id="1466" name="Google Shape;1466;p93" title="4 over 11 equals the fraction with numerator 4 times 2 and denominator 11 times 2 equals 8 over 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3378296"/>
            <a:ext cx="2300750" cy="606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1}=\frac{5\times2}{11\times2}=\frac{10}{22}&quot;&gt;&lt;mfrac&gt;&lt;mn&gt;5&lt;/mn&gt;&lt;mn&gt;11&lt;/mn&gt;&lt;/mfrac&gt;&lt;mo&gt;=&lt;/mo&gt;&lt;mfrac&gt;&lt;mrow&gt;&lt;mn&gt;5&lt;/mn&gt;&lt;mo&gt;×&lt;/mo&gt;&lt;mn&gt;2&lt;/mn&gt;&lt;/mrow&gt;&lt;mrow&gt;&lt;mn&gt;11&lt;/mn&gt;&lt;mo&gt;×&lt;/mo&gt;&lt;mn&gt;2&lt;/mn&gt;&lt;/mrow&gt;&lt;/mfrac&gt;&lt;mo&gt;=&lt;/mo&gt;&lt;mfrac&gt;&lt;mn&gt;10&lt;/mn&gt;&lt;mn&gt;22&lt;/mn&gt;&lt;/mfrac&gt;&lt;/math&gt;" id="1467" name="Google Shape;1467;p93" title="5 over 11 equals the fraction with numerator 5 times 2 and denominator 11 times 2 equals 10 over 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993" y="4206806"/>
            <a:ext cx="2219864" cy="58866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93"/>
          <p:cNvSpPr/>
          <p:nvPr/>
        </p:nvSpPr>
        <p:spPr>
          <a:xfrm>
            <a:off x="1069700" y="3374871"/>
            <a:ext cx="8625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3"/>
          <p:cNvSpPr/>
          <p:nvPr/>
        </p:nvSpPr>
        <p:spPr>
          <a:xfrm>
            <a:off x="1002675" y="4194383"/>
            <a:ext cx="8625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3"/>
          <p:cNvSpPr/>
          <p:nvPr/>
        </p:nvSpPr>
        <p:spPr>
          <a:xfrm>
            <a:off x="1932200" y="3374858"/>
            <a:ext cx="8625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93"/>
          <p:cNvSpPr/>
          <p:nvPr/>
        </p:nvSpPr>
        <p:spPr>
          <a:xfrm>
            <a:off x="1865175" y="4194383"/>
            <a:ext cx="8625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22}&quot;&gt;&lt;mfrac&gt;&lt;mn&gt;9&lt;/mn&gt;&lt;mn&gt;22&lt;/mn&gt;&lt;/mfrac&gt;&lt;/math&gt;" id="1472" name="Google Shape;1472;p93" title="9 over 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17575" y="1311250"/>
            <a:ext cx="308875" cy="55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grpSp>
        <p:nvGrpSpPr>
          <p:cNvPr id="1478" name="Google Shape;1478;p94"/>
          <p:cNvGrpSpPr/>
          <p:nvPr/>
        </p:nvGrpSpPr>
        <p:grpSpPr>
          <a:xfrm>
            <a:off x="2467480" y="1767350"/>
            <a:ext cx="4243176" cy="783270"/>
            <a:chOff x="2467481" y="1767350"/>
            <a:chExt cx="4243176" cy="783270"/>
          </a:xfrm>
        </p:grpSpPr>
        <p:grpSp>
          <p:nvGrpSpPr>
            <p:cNvPr id="1479" name="Google Shape;1479;p94"/>
            <p:cNvGrpSpPr/>
            <p:nvPr/>
          </p:nvGrpSpPr>
          <p:grpSpPr>
            <a:xfrm>
              <a:off x="2525400" y="2373320"/>
              <a:ext cx="4093200" cy="177300"/>
              <a:chOff x="2525400" y="2906720"/>
              <a:chExt cx="4093200" cy="177300"/>
            </a:xfrm>
          </p:grpSpPr>
          <p:grpSp>
            <p:nvGrpSpPr>
              <p:cNvPr id="1480" name="Google Shape;1480;p94"/>
              <p:cNvGrpSpPr/>
              <p:nvPr/>
            </p:nvGrpSpPr>
            <p:grpSpPr>
              <a:xfrm>
                <a:off x="2525400" y="2906720"/>
                <a:ext cx="4093200" cy="177300"/>
                <a:chOff x="2525400" y="1458920"/>
                <a:chExt cx="4093200" cy="177300"/>
              </a:xfrm>
            </p:grpSpPr>
            <p:cxnSp>
              <p:nvCxnSpPr>
                <p:cNvPr id="1481" name="Google Shape;1481;p94"/>
                <p:cNvCxnSpPr/>
                <p:nvPr/>
              </p:nvCxnSpPr>
              <p:spPr>
                <a:xfrm flipH="1" rot="10800000">
                  <a:off x="2525400" y="1616850"/>
                  <a:ext cx="4093200" cy="6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82" name="Google Shape;1482;p94"/>
                <p:cNvCxnSpPr/>
                <p:nvPr/>
              </p:nvCxnSpPr>
              <p:spPr>
                <a:xfrm>
                  <a:off x="2542619" y="1458920"/>
                  <a:ext cx="0" cy="177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83" name="Google Shape;1483;p94"/>
                <p:cNvCxnSpPr/>
                <p:nvPr/>
              </p:nvCxnSpPr>
              <p:spPr>
                <a:xfrm>
                  <a:off x="6604848" y="1458920"/>
                  <a:ext cx="0" cy="177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484" name="Google Shape;1484;p94"/>
              <p:cNvCxnSpPr/>
              <p:nvPr/>
            </p:nvCxnSpPr>
            <p:spPr>
              <a:xfrm>
                <a:off x="4572000" y="2937275"/>
                <a:ext cx="0" cy="134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&lt;math xmlns=&quot;http://www.w3.org/1998/Math/MathML&quot; display=&quot;block&quot; data-is-equatio=&quot;1&quot; data-latex=&quot;\frac{2}{3}&quot;&gt;&lt;mfrac&gt;&lt;mn&gt;2&lt;/mn&gt;&lt;mn&gt;3&lt;/mn&gt;&lt;/mfrac&gt;&lt;/math&gt;" id="1485" name="Google Shape;1485;p94" title="two third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42763" y="1767350"/>
              <a:ext cx="167894" cy="55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7}&quot;&gt;&lt;mfrac&gt;&lt;mn&gt;4&lt;/mn&gt;&lt;mn&gt;7&lt;/mn&gt;&lt;/mfrac&gt;&lt;/math&gt;" id="1486" name="Google Shape;1486;p94" title="four seve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67481" y="1767350"/>
              <a:ext cx="167894" cy="555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4}{7}=\frac{4\times3}{7\times3}=\frac{12}{21}&quot;&gt;&lt;mfrac&gt;&lt;mn&gt;4&lt;/mn&gt;&lt;mn&gt;7&lt;/mn&gt;&lt;/mfrac&gt;&lt;mo&gt;=&lt;/mo&gt;&lt;mfrac&gt;&lt;mrow&gt;&lt;mn&gt;4&lt;/mn&gt;&lt;mo&gt;×&lt;/mo&gt;&lt;mn&gt;3&lt;/mn&gt;&lt;/mrow&gt;&lt;mrow&gt;&lt;mn&gt;7&lt;/mn&gt;&lt;mo&gt;×&lt;/mo&gt;&lt;mn&gt;3&lt;/mn&gt;&lt;/mrow&gt;&lt;/mfrac&gt;&lt;mo&gt;=&lt;/mo&gt;&lt;mfrac&gt;&lt;mn&gt;12&lt;/mn&gt;&lt;mn&gt;21&lt;/mn&gt;&lt;/mfrac&gt;&lt;/math&gt;" id="1487" name="Google Shape;1487;p94" title="four sevenths equals the fraction with numerator 4 times 3 and denominator 7 times 3 equals 12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158434"/>
            <a:ext cx="1926949" cy="581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=\frac{2\times7}{3\times7}=\frac{14}{21}&quot;&gt;&lt;mfrac&gt;&lt;mn&gt;2&lt;/mn&gt;&lt;mn&gt;3&lt;/mn&gt;&lt;/mfrac&gt;&lt;mo&gt;=&lt;/mo&gt;&lt;mfrac&gt;&lt;mrow&gt;&lt;mn&gt;2&lt;/mn&gt;&lt;mo&gt;×&lt;/mo&gt;&lt;mn&gt;7&lt;/mn&gt;&lt;/mrow&gt;&lt;mrow&gt;&lt;mn&gt;3&lt;/mn&gt;&lt;mo&gt;×&lt;/mo&gt;&lt;mn&gt;7&lt;/mn&gt;&lt;/mrow&gt;&lt;/mfrac&gt;&lt;mo&gt;=&lt;/mo&gt;&lt;mfrac&gt;&lt;mn&gt;14&lt;/mn&gt;&lt;mn&gt;21&lt;/mn&gt;&lt;/mfrac&gt;&lt;/math&gt;" id="1488" name="Google Shape;1488;p94" title="two thirds equals the fraction with numerator 2 times 7 and denominator 3 times 7 equals 14 over 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4029463"/>
            <a:ext cx="1926949" cy="581072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94"/>
          <p:cNvSpPr/>
          <p:nvPr/>
        </p:nvSpPr>
        <p:spPr>
          <a:xfrm>
            <a:off x="883450" y="3142213"/>
            <a:ext cx="7122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4"/>
          <p:cNvSpPr/>
          <p:nvPr/>
        </p:nvSpPr>
        <p:spPr>
          <a:xfrm>
            <a:off x="1595650" y="3142225"/>
            <a:ext cx="7122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4"/>
          <p:cNvSpPr/>
          <p:nvPr/>
        </p:nvSpPr>
        <p:spPr>
          <a:xfrm>
            <a:off x="883450" y="4013238"/>
            <a:ext cx="7122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4"/>
          <p:cNvSpPr/>
          <p:nvPr/>
        </p:nvSpPr>
        <p:spPr>
          <a:xfrm>
            <a:off x="1595650" y="4013250"/>
            <a:ext cx="7122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21}&quot;&gt;&lt;mfrac&gt;&lt;mn&gt;13&lt;/mn&gt;&lt;mn&gt;21&lt;/mn&gt;&lt;/mfrac&gt;&lt;/math&gt;" id="1493" name="Google Shape;1493;p94" title="13 over 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17875" y="1736772"/>
            <a:ext cx="308244" cy="5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000" y="809900"/>
            <a:ext cx="5932800" cy="6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3}=\frac{3\times2}{13\times2}=\frac{6}{26}&quot;&gt;&lt;mfrac&gt;&lt;mn&gt;3&lt;/mn&gt;&lt;mn&gt;13&lt;/mn&gt;&lt;/mfrac&gt;&lt;mo&gt;=&lt;/mo&gt;&lt;mfrac&gt;&lt;mrow&gt;&lt;mn&gt;3&lt;/mn&gt;&lt;mo&gt;×&lt;/mo&gt;&lt;mn&gt;2&lt;/mn&gt;&lt;/mrow&gt;&lt;mrow&gt;&lt;mn&gt;13&lt;/mn&gt;&lt;mo&gt;×&lt;/mo&gt;&lt;mn&gt;2&lt;/mn&gt;&lt;/mrow&gt;&lt;/mfrac&gt;&lt;mo&gt;=&lt;/mo&gt;&lt;mfrac&gt;&lt;mn&gt;6&lt;/mn&gt;&lt;mn&gt;26&lt;/mn&gt;&lt;/mfrac&gt;&lt;/math&gt;" id="1500" name="Google Shape;1500;p95" title="3 over 13 equals the fraction with numerator 3 times 2 and denominator 13 times 2 equals 6 over 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7" y="1876261"/>
            <a:ext cx="2156428" cy="567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3}=\frac{4\times2}{13\times2}=\frac{8}{26}&quot;&gt;&lt;mfrac&gt;&lt;mn&gt;4&lt;/mn&gt;&lt;mn&gt;13&lt;/mn&gt;&lt;/mfrac&gt;&lt;mo&gt;=&lt;/mo&gt;&lt;mfrac&gt;&lt;mrow&gt;&lt;mn&gt;4&lt;/mn&gt;&lt;mo&gt;×&lt;/mo&gt;&lt;mn&gt;2&lt;/mn&gt;&lt;/mrow&gt;&lt;mrow&gt;&lt;mn&gt;13&lt;/mn&gt;&lt;mo&gt;×&lt;/mo&gt;&lt;mn&gt;2&lt;/mn&gt;&lt;/mrow&gt;&lt;/mfrac&gt;&lt;mo&gt;=&lt;/mo&gt;&lt;mfrac&gt;&lt;mn&gt;8&lt;/mn&gt;&lt;mn&gt;26&lt;/mn&gt;&lt;/mfrac&gt;&lt;/math&gt;" id="1501" name="Google Shape;1501;p95" title="4 over 13 equals the fraction with numerator 4 times 2 and denominator 13 times 2 equals 8 over 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88" y="2916504"/>
            <a:ext cx="2169038" cy="5716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95"/>
          <p:cNvSpPr/>
          <p:nvPr/>
        </p:nvSpPr>
        <p:spPr>
          <a:xfrm>
            <a:off x="972600" y="1863250"/>
            <a:ext cx="8187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5"/>
          <p:cNvSpPr/>
          <p:nvPr/>
        </p:nvSpPr>
        <p:spPr>
          <a:xfrm>
            <a:off x="1865025" y="1863250"/>
            <a:ext cx="8187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5"/>
          <p:cNvSpPr/>
          <p:nvPr/>
        </p:nvSpPr>
        <p:spPr>
          <a:xfrm>
            <a:off x="972600" y="2896475"/>
            <a:ext cx="8187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5"/>
          <p:cNvSpPr/>
          <p:nvPr/>
        </p:nvSpPr>
        <p:spPr>
          <a:xfrm>
            <a:off x="1865025" y="2896475"/>
            <a:ext cx="8187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1}=\frac{8\times2}{11\times2}=\frac{16}{22}&quot;&gt;&lt;mfrac&gt;&lt;mn&gt;8&lt;/mn&gt;&lt;mn&gt;11&lt;/mn&gt;&lt;/mfrac&gt;&lt;mo&gt;=&lt;/mo&gt;&lt;mfrac&gt;&lt;mrow&gt;&lt;mn&gt;8&lt;/mn&gt;&lt;mo&gt;×&lt;/mo&gt;&lt;mn&gt;2&lt;/mn&gt;&lt;/mrow&gt;&lt;mrow&gt;&lt;mn&gt;11&lt;/mn&gt;&lt;mo&gt;×&lt;/mo&gt;&lt;mn&gt;2&lt;/mn&gt;&lt;/mrow&gt;&lt;/mfrac&gt;&lt;mo&gt;=&lt;/mo&gt;&lt;mfrac&gt;&lt;mn&gt;16&lt;/mn&gt;&lt;mn&gt;22&lt;/mn&gt;&lt;/mfrac&gt;&lt;/math&gt;" id="1506" name="Google Shape;1506;p95" title="8 over 11 equals the fraction with numerator 8 times 2 and denominator 11 times 2 equals 16 over 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1966" y="1885075"/>
            <a:ext cx="2088508" cy="549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=\frac{9\times2}{11\times2}=\frac{18}{22}&quot;&gt;&lt;mfrac&gt;&lt;mn&gt;9&lt;/mn&gt;&lt;mn&gt;11&lt;/mn&gt;&lt;/mfrac&gt;&lt;mo&gt;=&lt;/mo&gt;&lt;mfrac&gt;&lt;mrow&gt;&lt;mn&gt;9&lt;/mn&gt;&lt;mo&gt;×&lt;/mo&gt;&lt;mn&gt;2&lt;/mn&gt;&lt;/mrow&gt;&lt;mrow&gt;&lt;mn&gt;11&lt;/mn&gt;&lt;mo&gt;×&lt;/mo&gt;&lt;mn&gt;2&lt;/mn&gt;&lt;/mrow&gt;&lt;/mfrac&gt;&lt;mo&gt;=&lt;/mo&gt;&lt;mfrac&gt;&lt;mn&gt;18&lt;/mn&gt;&lt;mn&gt;22&lt;/mn&gt;&lt;/mfrac&gt;&lt;/math&gt;" id="1507" name="Google Shape;1507;p95" title="9 over 11 equals the fraction with numerator 9 times 2 and denominator 11 times 2 equals 18 over 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1975" y="2927423"/>
            <a:ext cx="2088508" cy="54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95"/>
          <p:cNvSpPr txBox="1"/>
          <p:nvPr>
            <p:ph idx="1" type="subTitle"/>
          </p:nvPr>
        </p:nvSpPr>
        <p:spPr>
          <a:xfrm>
            <a:off x="907575" y="3726500"/>
            <a:ext cx="34956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26}&quot;&gt;&lt;mfrac&gt;&lt;mn&gt;7&lt;/mn&gt;&lt;mn&gt;26&lt;/mn&gt;&lt;/mfrac&gt;&lt;/math&gt;" id="1509" name="Google Shape;1509;p95" title="7 over 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775" y="3656175"/>
            <a:ext cx="230075" cy="414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3}&quot;&gt;&lt;mfrac&gt;&lt;mn&gt;4&lt;/mn&gt;&lt;mn&gt;13&lt;/mn&gt;&lt;/mfrac&gt;&lt;/math&gt;" id="1510" name="Google Shape;1510;p95" title="4 over 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51713" y="3656175"/>
            <a:ext cx="225137" cy="4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3}&quot;&gt;&lt;mfrac&gt;&lt;mn&gt;3&lt;/mn&gt;&lt;mn&gt;13&lt;/mn&gt;&lt;/mfrac&gt;&lt;/math&gt;" id="1511" name="Google Shape;1511;p95" title="3 over 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73150" y="3656175"/>
            <a:ext cx="223773" cy="4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95"/>
          <p:cNvSpPr txBox="1"/>
          <p:nvPr>
            <p:ph idx="1" type="subTitle"/>
          </p:nvPr>
        </p:nvSpPr>
        <p:spPr>
          <a:xfrm>
            <a:off x="5323688" y="3726500"/>
            <a:ext cx="2787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7}{22}&quot;&gt;&lt;mfrac&gt;&lt;mn&gt;17&lt;/mn&gt;&lt;mn&gt;22&lt;/mn&gt;&lt;/mfrac&gt;&lt;/math&gt;" id="1513" name="Google Shape;1513;p95" title="17 over 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00175" y="3627888"/>
            <a:ext cx="223775" cy="40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&quot;&gt;&lt;mfrac&gt;&lt;mn&gt;9&lt;/mn&gt;&lt;mn&gt;11&lt;/mn&gt;&lt;/mfrac&gt;&lt;/math&gt;" id="1514" name="Google Shape;1514;p95" title="9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14482" y="3627888"/>
            <a:ext cx="230071" cy="4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1515" name="Google Shape;1515;p95" title="8 over 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77129" y="3627888"/>
            <a:ext cx="230071" cy="4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95"/>
          <p:cNvSpPr txBox="1"/>
          <p:nvPr>
            <p:ph idx="1" type="subTitle"/>
          </p:nvPr>
        </p:nvSpPr>
        <p:spPr>
          <a:xfrm>
            <a:off x="1147000" y="3726500"/>
            <a:ext cx="34086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halfway</a:t>
            </a:r>
            <a:endParaRPr/>
          </a:p>
        </p:txBody>
      </p:sp>
      <p:sp>
        <p:nvSpPr>
          <p:cNvPr id="1517" name="Google Shape;1517;p95"/>
          <p:cNvSpPr txBox="1"/>
          <p:nvPr>
            <p:ph idx="1" type="subTitle"/>
          </p:nvPr>
        </p:nvSpPr>
        <p:spPr>
          <a:xfrm>
            <a:off x="2088925" y="3726500"/>
            <a:ext cx="26190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between</a:t>
            </a:r>
            <a:endParaRPr/>
          </a:p>
        </p:txBody>
      </p:sp>
      <p:sp>
        <p:nvSpPr>
          <p:cNvPr id="1518" name="Google Shape;1518;p95"/>
          <p:cNvSpPr txBox="1"/>
          <p:nvPr>
            <p:ph idx="1" type="subTitle"/>
          </p:nvPr>
        </p:nvSpPr>
        <p:spPr>
          <a:xfrm>
            <a:off x="3346225" y="3726500"/>
            <a:ext cx="14379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</a:t>
            </a:r>
            <a:endParaRPr/>
          </a:p>
        </p:txBody>
      </p:sp>
      <p:sp>
        <p:nvSpPr>
          <p:cNvPr id="1519" name="Google Shape;1519;p95"/>
          <p:cNvSpPr txBox="1"/>
          <p:nvPr>
            <p:ph idx="1" type="subTitle"/>
          </p:nvPr>
        </p:nvSpPr>
        <p:spPr>
          <a:xfrm>
            <a:off x="4242625" y="3726500"/>
            <a:ext cx="7701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520" name="Google Shape;1520;p95"/>
          <p:cNvSpPr txBox="1"/>
          <p:nvPr>
            <p:ph idx="1" type="subTitle"/>
          </p:nvPr>
        </p:nvSpPr>
        <p:spPr>
          <a:xfrm>
            <a:off x="5566600" y="3726500"/>
            <a:ext cx="34086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halfway</a:t>
            </a:r>
            <a:endParaRPr/>
          </a:p>
        </p:txBody>
      </p:sp>
      <p:sp>
        <p:nvSpPr>
          <p:cNvPr id="1521" name="Google Shape;1521;p95"/>
          <p:cNvSpPr txBox="1"/>
          <p:nvPr>
            <p:ph idx="1" type="subTitle"/>
          </p:nvPr>
        </p:nvSpPr>
        <p:spPr>
          <a:xfrm>
            <a:off x="6508525" y="3726500"/>
            <a:ext cx="26190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between</a:t>
            </a:r>
            <a:endParaRPr/>
          </a:p>
        </p:txBody>
      </p:sp>
      <p:sp>
        <p:nvSpPr>
          <p:cNvPr id="1522" name="Google Shape;1522;p95"/>
          <p:cNvSpPr txBox="1"/>
          <p:nvPr>
            <p:ph idx="1" type="subTitle"/>
          </p:nvPr>
        </p:nvSpPr>
        <p:spPr>
          <a:xfrm>
            <a:off x="7765825" y="3726500"/>
            <a:ext cx="14379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</a:t>
            </a:r>
            <a:endParaRPr/>
          </a:p>
        </p:txBody>
      </p:sp>
      <p:sp>
        <p:nvSpPr>
          <p:cNvPr id="1523" name="Google Shape;1523;p95"/>
          <p:cNvSpPr txBox="1"/>
          <p:nvPr>
            <p:ph idx="1" type="subTitle"/>
          </p:nvPr>
        </p:nvSpPr>
        <p:spPr>
          <a:xfrm>
            <a:off x="8662225" y="3726500"/>
            <a:ext cx="770100" cy="3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.</a:t>
            </a:r>
            <a:endParaRPr/>
          </a:p>
        </p:txBody>
      </p:sp>
      <p:pic>
        <p:nvPicPr>
          <p:cNvPr id="1524" name="Google Shape;1524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7700" y="783200"/>
            <a:ext cx="4138526" cy="7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9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51775" y="810000"/>
            <a:ext cx="4121135" cy="7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531" name="Google Shape;1531;p96"/>
          <p:cNvSpPr txBox="1"/>
          <p:nvPr>
            <p:ph idx="1" type="body"/>
          </p:nvPr>
        </p:nvSpPr>
        <p:spPr>
          <a:xfrm>
            <a:off x="384700" y="759300"/>
            <a:ext cx="8177100" cy="39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Choose a fraction that is between: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		</a:t>
            </a:r>
            <a:br>
              <a:rPr lang="en-GB"/>
            </a:b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		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32" name="Google Shape;1532;p96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499" y="1323375"/>
            <a:ext cx="162125" cy="52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533" name="Google Shape;1533;p96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9799" y="1323375"/>
            <a:ext cx="162125" cy="525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34" name="Google Shape;1534;p96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100" y="4099575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35" name="Google Shape;1535;p96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601" y="2019500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36" name="Google Shape;1536;p96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9599" y="2740575"/>
            <a:ext cx="162125" cy="516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537" name="Google Shape;1537;p96" title="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5524" y="2740575"/>
            <a:ext cx="162125" cy="516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538" name="Google Shape;1538;p96" title="thre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344" y="3381975"/>
            <a:ext cx="288825" cy="535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39" name="Google Shape;1539;p96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800" y="3381975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40" name="Google Shape;1540;p96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" y="4099575"/>
            <a:ext cx="162125" cy="52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sp>
        <p:nvSpPr>
          <p:cNvPr id="1546" name="Google Shape;1546;p97"/>
          <p:cNvSpPr txBox="1"/>
          <p:nvPr>
            <p:ph idx="1" type="body"/>
          </p:nvPr>
        </p:nvSpPr>
        <p:spPr>
          <a:xfrm>
            <a:off x="372475" y="759300"/>
            <a:ext cx="818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fraction that is halfway between: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47" name="Google Shape;1547;p97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75" y="1180825"/>
            <a:ext cx="157475" cy="506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548" name="Google Shape;1548;p97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675" y="1178725"/>
            <a:ext cx="157475" cy="509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0}&quot;&gt;&lt;mfrac&gt;&lt;mn&gt;11&lt;/mn&gt;&lt;mn&gt;20&lt;/mn&gt;&lt;/mfrac&gt;&lt;/math&gt;" id="1549" name="Google Shape;1549;p97" title="11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844" y="1864975"/>
            <a:ext cx="295175" cy="54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20}&quot;&gt;&lt;mfrac&gt;&lt;mn&gt;15&lt;/mn&gt;&lt;mn&gt;20&lt;/mn&gt;&lt;/mfrac&gt;&lt;/math&gt;" id="1550" name="Google Shape;1550;p97" title="15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6675" y="1869035"/>
            <a:ext cx="295175" cy="538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51" name="Google Shape;1551;p97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6675" y="3228999"/>
            <a:ext cx="157475" cy="521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552" name="Google Shape;1552;p97" title="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149" y="3240001"/>
            <a:ext cx="157475" cy="50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53" name="Google Shape;1553;p97" title="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125" y="2566000"/>
            <a:ext cx="157475" cy="521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554" name="Google Shape;1554;p97" title="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24574" y="2570249"/>
            <a:ext cx="157475" cy="501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55" name="Google Shape;1555;p97" title="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149" y="3968049"/>
            <a:ext cx="157475" cy="52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1556" name="Google Shape;1556;p97" title="9 over 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55726" y="3925736"/>
            <a:ext cx="295175" cy="547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98"/>
          <p:cNvSpPr txBox="1"/>
          <p:nvPr>
            <p:ph idx="1" type="body"/>
          </p:nvPr>
        </p:nvSpPr>
        <p:spPr>
          <a:xfrm>
            <a:off x="384700" y="759300"/>
            <a:ext cx="8177100" cy="39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Choose a fraction that is between: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		</a:t>
            </a:r>
            <a:br>
              <a:rPr lang="en-GB"/>
            </a:b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		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		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62" name="Google Shape;1562;p98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499" y="1323375"/>
            <a:ext cx="162125" cy="52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563" name="Google Shape;1563;p98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9799" y="1323375"/>
            <a:ext cx="162125" cy="525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64" name="Google Shape;1564;p98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100" y="4099575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65" name="Google Shape;1565;p98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601" y="2019500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66" name="Google Shape;1566;p98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9599" y="2740575"/>
            <a:ext cx="162125" cy="516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567" name="Google Shape;1567;p98" title="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5524" y="2740575"/>
            <a:ext cx="162125" cy="516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568" name="Google Shape;1568;p98" title="thre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344" y="3381975"/>
            <a:ext cx="288825" cy="535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69" name="Google Shape;1569;p98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101" y="3381975"/>
            <a:ext cx="162125" cy="521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70" name="Google Shape;1570;p98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" y="4099575"/>
            <a:ext cx="162125" cy="521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,\ \frac{43}{100},\ \frac{3}{4}&quot;&gt;&lt;mfrac&gt;&lt;mn&gt;3&lt;/mn&gt;&lt;mn&gt;5&lt;/mn&gt;&lt;/mfrac&gt;&lt;mo&gt;,&lt;/mo&gt;&lt;mtext&gt;&lt;/mtext&gt;&lt;mfrac&gt;&lt;mn&gt;43&lt;/mn&gt;&lt;mn&gt;100&lt;/mn&gt;&lt;/mfrac&gt;&lt;mo&gt;,&lt;/mo&gt;&lt;mtext&gt;&lt;/mtext&gt;&lt;mfrac&gt;&lt;mn&gt;3&lt;/mn&gt;&lt;mn&gt;4&lt;/mn&gt;&lt;/mfrac&gt;&lt;/math&gt;" id="1572" name="Google Shape;1572;p98" title="three fifths comma 43 over 100 comma 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78626" y="1320374"/>
            <a:ext cx="1194125" cy="532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,\ \frac{1}{9},\ \frac{2}{25}\ &quot;&gt;&lt;mfrac&gt;&lt;mn&gt;1&lt;/mn&gt;&lt;mn&gt;8&lt;/mn&gt;&lt;/mfrac&gt;&lt;mo&gt;,&lt;/mo&gt;&lt;mtext&gt;&lt;/mtext&gt;&lt;mfrac&gt;&lt;mn&gt;1&lt;/mn&gt;&lt;mn&gt;9&lt;/mn&gt;&lt;/mfrac&gt;&lt;mo&gt;,&lt;/mo&gt;&lt;mtext&gt;&lt;/mtext&gt;&lt;mfrac&gt;&lt;mn&gt;2&lt;/mn&gt;&lt;mn&gt;25&lt;/mn&gt;&lt;/mfrac&gt;&lt;mtext&gt;&lt;/mtext&gt;&lt;/math&gt;" id="1573" name="Google Shape;1573;p98" title="one eighth comma one ninth comma 2 over 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78626" y="2028137"/>
            <a:ext cx="1053125" cy="524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 \frac{2}{5},\ \frac{3}{8}&quot;&gt;&lt;mfrac&gt;&lt;mn&gt;1&lt;/mn&gt;&lt;mn&gt;3&lt;/mn&gt;&lt;/mfrac&gt;&lt;mo&gt;,&lt;/mo&gt;&lt;mtext&gt;&lt;/mtext&gt;&lt;mfrac&gt;&lt;mn&gt;2&lt;/mn&gt;&lt;mn&gt;5&lt;/mn&gt;&lt;/mfrac&gt;&lt;mo&gt;,&lt;/mo&gt;&lt;mtext&gt;&lt;/mtext&gt;&lt;mfrac&gt;&lt;mn&gt;3&lt;/mn&gt;&lt;mn&gt;8&lt;/mn&gt;&lt;/mfrac&gt;&lt;/math&gt;" id="1574" name="Google Shape;1574;p98" title="one third comma two fifths comma three eigh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78625" y="2728050"/>
            <a:ext cx="947697" cy="53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 \frac{4}{7},\ \frac{59}{100}&quot;&gt;&lt;mfrac&gt;&lt;mn&gt;1&lt;/mn&gt;&lt;mn&gt;2&lt;/mn&gt;&lt;/mfrac&gt;&lt;mo&gt;,&lt;/mo&gt;&lt;mtext&gt;&lt;/mtext&gt;&lt;mfrac&gt;&lt;mn&gt;4&lt;/mn&gt;&lt;mn&gt;7&lt;/mn&gt;&lt;/mfrac&gt;&lt;mo&gt;,&lt;/mo&gt;&lt;mtext&gt;&lt;/mtext&gt;&lt;mfrac&gt;&lt;mn&gt;59&lt;/mn&gt;&lt;mn&gt;100&lt;/mn&gt;&lt;/mfrac&gt;&lt;/math&gt;" id="1575" name="Google Shape;1575;p98" title="one half comma four sevenths comma 59 over 1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25875" y="4083383"/>
            <a:ext cx="1194125" cy="532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 \frac{9}{20},\ \frac{14}{25}&quot;&gt;&lt;mfrac&gt;&lt;mn&gt;1&lt;/mn&gt;&lt;mn&gt;2&lt;/mn&gt;&lt;/mfrac&gt;&lt;mo&gt;,&lt;/mo&gt;&lt;mtext&gt;&lt;/mtext&gt;&lt;mfrac&gt;&lt;mn&gt;9&lt;/mn&gt;&lt;mn&gt;20&lt;/mn&gt;&lt;/mfrac&gt;&lt;mo&gt;,&lt;/mo&gt;&lt;mtext&gt;&lt;/mtext&gt;&lt;mfrac&gt;&lt;mn&gt;14&lt;/mn&gt;&lt;mn&gt;25&lt;/mn&gt;&lt;/mfrac&gt;&lt;/math&gt;" id="1576" name="Google Shape;1576;p98" title="one half comma 9 over 20 comma 14 over 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078625" y="3407132"/>
            <a:ext cx="1194125" cy="532467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98"/>
          <p:cNvSpPr txBox="1"/>
          <p:nvPr>
            <p:ph idx="1" type="body"/>
          </p:nvPr>
        </p:nvSpPr>
        <p:spPr>
          <a:xfrm>
            <a:off x="2457875" y="1424100"/>
            <a:ext cx="6045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8" name="Google Shape;1578;p98"/>
          <p:cNvSpPr txBox="1"/>
          <p:nvPr>
            <p:ph idx="1" type="body"/>
          </p:nvPr>
        </p:nvSpPr>
        <p:spPr>
          <a:xfrm>
            <a:off x="2438649" y="2084150"/>
            <a:ext cx="6045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9" name="Google Shape;1579;p98"/>
          <p:cNvSpPr txBox="1"/>
          <p:nvPr>
            <p:ph idx="1" type="body"/>
          </p:nvPr>
        </p:nvSpPr>
        <p:spPr>
          <a:xfrm>
            <a:off x="2438649" y="2802950"/>
            <a:ext cx="6045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0" name="Google Shape;1580;p98"/>
          <p:cNvSpPr txBox="1"/>
          <p:nvPr>
            <p:ph idx="1" type="body"/>
          </p:nvPr>
        </p:nvSpPr>
        <p:spPr>
          <a:xfrm>
            <a:off x="2407749" y="3470264"/>
            <a:ext cx="6045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98"/>
          <p:cNvSpPr txBox="1"/>
          <p:nvPr>
            <p:ph idx="1" type="body"/>
          </p:nvPr>
        </p:nvSpPr>
        <p:spPr>
          <a:xfrm>
            <a:off x="2407749" y="4131350"/>
            <a:ext cx="6045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9"/>
          <p:cNvSpPr txBox="1"/>
          <p:nvPr>
            <p:ph idx="1" type="body"/>
          </p:nvPr>
        </p:nvSpPr>
        <p:spPr>
          <a:xfrm>
            <a:off x="372475" y="759300"/>
            <a:ext cx="8189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Find the fraction that is halfway between: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and </a:t>
            </a:r>
            <a:endParaRPr/>
          </a:p>
        </p:txBody>
      </p:sp>
      <p:sp>
        <p:nvSpPr>
          <p:cNvPr id="1587" name="Google Shape;158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numbers between two 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588" name="Google Shape;1588;p99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178" y="1167109"/>
            <a:ext cx="166041" cy="533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&quot;&gt;&lt;mfrac&gt;&lt;mn&gt;13&lt;/mn&gt;&lt;mn&gt;20&lt;/mn&gt;&lt;/mfrac&gt;&lt;/math&gt;" id="1589" name="Google Shape;1589;p99" title="1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5369" y="1875382"/>
            <a:ext cx="283680" cy="525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1590" name="Google Shape;1590;p99" title="9 over 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7263" y="2567119"/>
            <a:ext cx="279897" cy="510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4}&quot;&gt;&lt;mfrac&gt;&lt;mn&gt;7&lt;/mn&gt;&lt;mn&gt;24&lt;/mn&gt;&lt;/mfrac&gt;&lt;/math&gt;" id="1591" name="Google Shape;1591;p99" title="7 over 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5365" y="3243729"/>
            <a:ext cx="283680" cy="5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80}&quot;&gt;&lt;mfrac&gt;&lt;mn&gt;33&lt;/mn&gt;&lt;mn&gt;80&lt;/mn&gt;&lt;/mfrac&gt;&lt;/math&gt;" id="1592" name="Google Shape;1592;p99" title="33 over 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5363" y="3924113"/>
            <a:ext cx="283675" cy="52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93" name="Google Shape;1593;p99" title="two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8975" y="1180825"/>
            <a:ext cx="157475" cy="506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594" name="Google Shape;1594;p99" title="four fif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6675" y="1178725"/>
            <a:ext cx="157475" cy="509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0}&quot;&gt;&lt;mfrac&gt;&lt;mn&gt;11&lt;/mn&gt;&lt;mn&gt;20&lt;/mn&gt;&lt;/mfrac&gt;&lt;/math&gt;" id="1595" name="Google Shape;1595;p99" title="11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3844" y="1864975"/>
            <a:ext cx="295175" cy="54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20}&quot;&gt;&lt;mfrac&gt;&lt;mn&gt;15&lt;/mn&gt;&lt;mn&gt;20&lt;/mn&gt;&lt;/mfrac&gt;&lt;/math&gt;" id="1596" name="Google Shape;1596;p99" title="15 over 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26675" y="1869035"/>
            <a:ext cx="295175" cy="538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97" name="Google Shape;1597;p99" title="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26675" y="3228999"/>
            <a:ext cx="157475" cy="521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598" name="Google Shape;1598;p99" title="one fourth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8149" y="3240001"/>
            <a:ext cx="157475" cy="50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599" name="Google Shape;1599;p99" title="three eigh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8125" y="2566000"/>
            <a:ext cx="157475" cy="521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600" name="Google Shape;1600;p99" title="three four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724574" y="2570249"/>
            <a:ext cx="157475" cy="501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01" name="Google Shape;1601;p99" title="three eigh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8149" y="3968049"/>
            <a:ext cx="157475" cy="52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1602" name="Google Shape;1602;p99" title="9 over 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55726" y="3925736"/>
            <a:ext cx="295175" cy="547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0"/>
          <p:cNvSpPr txBox="1"/>
          <p:nvPr>
            <p:ph idx="1" type="body"/>
          </p:nvPr>
        </p:nvSpPr>
        <p:spPr>
          <a:xfrm>
            <a:off x="324000" y="670300"/>
            <a:ext cx="8113800" cy="41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It is always possible to find a number between 2 numbers.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To find halfway between two numbers you find the sum and the numbers and halve this.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</a:t>
            </a:r>
            <a:r>
              <a:rPr lang="en-GB" sz="2000"/>
              <a:t>halfway</a:t>
            </a:r>
            <a:r>
              <a:rPr lang="en-GB" sz="2000"/>
              <a:t> between 0.26 and 0.37 = (0.26 + 0.37) ÷ 2 = 0.315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Often, when finding fractions between two fractions or halfway between two fractions, it may be helpful to find </a:t>
            </a:r>
            <a:r>
              <a:rPr lang="en-GB" sz="2000"/>
              <a:t>equivalent</a:t>
            </a:r>
            <a:r>
              <a:rPr lang="en-GB" sz="2000"/>
              <a:t> fractions.  E.g. </a:t>
            </a:r>
            <a:endParaRPr sz="2000"/>
          </a:p>
        </p:txBody>
      </p:sp>
      <p:sp>
        <p:nvSpPr>
          <p:cNvPr id="1608" name="Google Shape;1608;p10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pic>
        <p:nvPicPr>
          <p:cNvPr id="1609" name="Google Shape;160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025" y="3165125"/>
            <a:ext cx="2784246" cy="16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15" name="Google Shape;1615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