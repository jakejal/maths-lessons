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98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98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a614328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a614328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9a6143286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29a6143286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9a61432862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29a61432862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29a61432862_0_1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29a61432862_0_1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29a61432862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29a61432862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29a61432862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29a61432862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29a61432862_0_1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29a61432862_0_1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9a61432862_0_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9a61432862_0_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29f1593a344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29f1593a34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29a61432862_0_2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29a61432862_0_2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29f1593a34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29f1593a34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29a61432862_0_2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29a61432862_0_2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29a61432862_0_2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29a61432862_0_2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29f1593a34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29f1593a34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29a6143286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29a6143286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29a61432862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29a61432862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29a61432862_0_1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29a61432862_0_1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29a61432862_0_1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0" name="Google Shape;1140;g29a61432862_0_1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29a61432862_0_18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5" name="Google Shape;1155;g29a61432862_0_18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29a61432862_0_1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5" name="Google Shape;1185;g29a61432862_0_1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29a61432862_0_18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3" name="Google Shape;1193;g29a61432862_0_1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29a61432862_0_19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29a61432862_0_1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29a61432862_0_19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29a61432862_0_19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29a61432862_0_19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g29a61432862_0_19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29a61432862_0_19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2" name="Google Shape;1242;g29a61432862_0_19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29a61432862_0_20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29a61432862_0_20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29a61432862_0_20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29a61432862_0_2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g29a61432862_0_19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8" name="Google Shape;1288;g29a61432862_0_19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g29a61432862_0_2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2" name="Google Shape;1312;g29a61432862_0_2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29a61432862_0_20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29a61432862_0_2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6" name="Google Shape;1346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1" name="Google Shape;1361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5" Type="http://schemas.openxmlformats.org/officeDocument/2006/relationships/image" Target="../media/image23.png"/><Relationship Id="rId6" Type="http://schemas.openxmlformats.org/officeDocument/2006/relationships/image" Target="../media/image16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87.png"/><Relationship Id="rId5" Type="http://schemas.openxmlformats.org/officeDocument/2006/relationships/image" Target="../media/image31.png"/><Relationship Id="rId6" Type="http://schemas.openxmlformats.org/officeDocument/2006/relationships/image" Target="../media/image29.png"/><Relationship Id="rId7" Type="http://schemas.openxmlformats.org/officeDocument/2006/relationships/image" Target="../media/image2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87.png"/><Relationship Id="rId4" Type="http://schemas.openxmlformats.org/officeDocument/2006/relationships/image" Target="../media/image24.png"/><Relationship Id="rId9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2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87.png"/><Relationship Id="rId4" Type="http://schemas.openxmlformats.org/officeDocument/2006/relationships/image" Target="../media/image28.png"/><Relationship Id="rId11" Type="http://schemas.openxmlformats.org/officeDocument/2006/relationships/image" Target="../media/image20.png"/><Relationship Id="rId10" Type="http://schemas.openxmlformats.org/officeDocument/2006/relationships/image" Target="../media/image37.png"/><Relationship Id="rId9" Type="http://schemas.openxmlformats.org/officeDocument/2006/relationships/image" Target="../media/image29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2.png"/><Relationship Id="rId8" Type="http://schemas.openxmlformats.org/officeDocument/2006/relationships/image" Target="../media/image3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74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8.png"/><Relationship Id="rId4" Type="http://schemas.openxmlformats.org/officeDocument/2006/relationships/image" Target="../media/image5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2.png"/><Relationship Id="rId4" Type="http://schemas.openxmlformats.org/officeDocument/2006/relationships/image" Target="../media/image50.png"/><Relationship Id="rId5" Type="http://schemas.openxmlformats.org/officeDocument/2006/relationships/image" Target="../media/image4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2.png"/><Relationship Id="rId4" Type="http://schemas.openxmlformats.org/officeDocument/2006/relationships/image" Target="../media/image6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5.png"/><Relationship Id="rId4" Type="http://schemas.openxmlformats.org/officeDocument/2006/relationships/image" Target="../media/image59.png"/><Relationship Id="rId5" Type="http://schemas.openxmlformats.org/officeDocument/2006/relationships/image" Target="../media/image57.png"/><Relationship Id="rId6" Type="http://schemas.openxmlformats.org/officeDocument/2006/relationships/image" Target="../media/image61.png"/><Relationship Id="rId7" Type="http://schemas.openxmlformats.org/officeDocument/2006/relationships/image" Target="../media/image4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7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2.png"/><Relationship Id="rId4" Type="http://schemas.openxmlformats.org/officeDocument/2006/relationships/image" Target="../media/image7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7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7.png"/><Relationship Id="rId4" Type="http://schemas.openxmlformats.org/officeDocument/2006/relationships/image" Target="../media/image79.png"/><Relationship Id="rId5" Type="http://schemas.openxmlformats.org/officeDocument/2006/relationships/image" Target="../media/image75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8.png"/><Relationship Id="rId4" Type="http://schemas.openxmlformats.org/officeDocument/2006/relationships/image" Target="../media/image76.png"/><Relationship Id="rId5" Type="http://schemas.openxmlformats.org/officeDocument/2006/relationships/image" Target="../media/image7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4.png"/><Relationship Id="rId4" Type="http://schemas.openxmlformats.org/officeDocument/2006/relationships/image" Target="../media/image82.png"/><Relationship Id="rId5" Type="http://schemas.openxmlformats.org/officeDocument/2006/relationships/image" Target="../media/image80.png"/><Relationship Id="rId6" Type="http://schemas.openxmlformats.org/officeDocument/2006/relationships/image" Target="../media/image76.png"/><Relationship Id="rId7" Type="http://schemas.openxmlformats.org/officeDocument/2006/relationships/image" Target="../media/image7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5.png"/><Relationship Id="rId4" Type="http://schemas.openxmlformats.org/officeDocument/2006/relationships/image" Target="../media/image80.png"/><Relationship Id="rId5" Type="http://schemas.openxmlformats.org/officeDocument/2006/relationships/image" Target="../media/image8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4.png"/><Relationship Id="rId4" Type="http://schemas.openxmlformats.org/officeDocument/2006/relationships/image" Target="../media/image8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8.png"/><Relationship Id="rId4" Type="http://schemas.openxmlformats.org/officeDocument/2006/relationships/image" Target="../media/image8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3.png"/><Relationship Id="rId4" Type="http://schemas.openxmlformats.org/officeDocument/2006/relationships/image" Target="../media/image90.png"/><Relationship Id="rId5" Type="http://schemas.openxmlformats.org/officeDocument/2006/relationships/image" Target="../media/image95.png"/><Relationship Id="rId6" Type="http://schemas.openxmlformats.org/officeDocument/2006/relationships/image" Target="../media/image4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9.png"/><Relationship Id="rId6" Type="http://schemas.openxmlformats.org/officeDocument/2006/relationships/image" Target="../media/image94.png"/><Relationship Id="rId7" Type="http://schemas.openxmlformats.org/officeDocument/2006/relationships/image" Target="../media/image9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6.png"/><Relationship Id="rId4" Type="http://schemas.openxmlformats.org/officeDocument/2006/relationships/image" Target="../media/image9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0.png"/><Relationship Id="rId4" Type="http://schemas.openxmlformats.org/officeDocument/2006/relationships/image" Target="../media/image105.png"/><Relationship Id="rId5" Type="http://schemas.openxmlformats.org/officeDocument/2006/relationships/image" Target="../media/image103.png"/><Relationship Id="rId6" Type="http://schemas.openxmlformats.org/officeDocument/2006/relationships/image" Target="../media/image102.png"/><Relationship Id="rId7" Type="http://schemas.openxmlformats.org/officeDocument/2006/relationships/image" Target="../media/image108.png"/><Relationship Id="rId8" Type="http://schemas.openxmlformats.org/officeDocument/2006/relationships/image" Target="../media/image10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7.png"/><Relationship Id="rId4" Type="http://schemas.openxmlformats.org/officeDocument/2006/relationships/image" Target="../media/image74.png"/><Relationship Id="rId5" Type="http://schemas.openxmlformats.org/officeDocument/2006/relationships/image" Target="../media/image50.png"/><Relationship Id="rId6" Type="http://schemas.openxmlformats.org/officeDocument/2006/relationships/image" Target="../media/image8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9.png"/><Relationship Id="rId4" Type="http://schemas.openxmlformats.org/officeDocument/2006/relationships/image" Target="../media/image111.png"/><Relationship Id="rId5" Type="http://schemas.openxmlformats.org/officeDocument/2006/relationships/image" Target="../media/image115.png"/><Relationship Id="rId6" Type="http://schemas.openxmlformats.org/officeDocument/2006/relationships/image" Target="../media/image1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0.png"/><Relationship Id="rId4" Type="http://schemas.openxmlformats.org/officeDocument/2006/relationships/image" Target="../media/image105.png"/><Relationship Id="rId5" Type="http://schemas.openxmlformats.org/officeDocument/2006/relationships/image" Target="../media/image103.png"/><Relationship Id="rId6" Type="http://schemas.openxmlformats.org/officeDocument/2006/relationships/image" Target="../media/image102.png"/><Relationship Id="rId7" Type="http://schemas.openxmlformats.org/officeDocument/2006/relationships/image" Target="../media/image108.png"/><Relationship Id="rId8" Type="http://schemas.openxmlformats.org/officeDocument/2006/relationships/image" Target="../media/image10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7.png"/><Relationship Id="rId4" Type="http://schemas.openxmlformats.org/officeDocument/2006/relationships/image" Target="../media/image86.png"/><Relationship Id="rId5" Type="http://schemas.openxmlformats.org/officeDocument/2006/relationships/image" Target="../media/image1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9.png"/><Relationship Id="rId4" Type="http://schemas.openxmlformats.org/officeDocument/2006/relationships/image" Target="../media/image111.png"/><Relationship Id="rId5" Type="http://schemas.openxmlformats.org/officeDocument/2006/relationships/image" Target="../media/image115.png"/><Relationship Id="rId6" Type="http://schemas.openxmlformats.org/officeDocument/2006/relationships/image" Target="../media/image117.png"/><Relationship Id="rId7" Type="http://schemas.openxmlformats.org/officeDocument/2006/relationships/image" Target="../media/image112.png"/><Relationship Id="rId8" Type="http://schemas.openxmlformats.org/officeDocument/2006/relationships/image" Target="../media/image11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6.png"/><Relationship Id="rId4" Type="http://schemas.openxmlformats.org/officeDocument/2006/relationships/image" Target="../media/image48.png"/><Relationship Id="rId5" Type="http://schemas.openxmlformats.org/officeDocument/2006/relationships/image" Target="../media/image5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fractions in different ways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282828"/>
                </a:solidFill>
              </a:rPr>
              <a:t>Comparing and ordering fractions and decimals (positive and negative)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compare and order fractions using a range of techniques.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2" type="subTitle"/>
          </p:nvPr>
        </p:nvSpPr>
        <p:spPr>
          <a:xfrm>
            <a:off x="324001" y="2238738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/>
              <a:t>A numerator is the expression in a fraction that is written above the fraction line. It is the dividend. </a:t>
            </a:r>
            <a:endParaRPr b="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0"/>
          </a:p>
        </p:txBody>
      </p:sp>
      <p:sp>
        <p:nvSpPr>
          <p:cNvPr id="767" name="Google Shape;767;p67"/>
          <p:cNvSpPr txBox="1"/>
          <p:nvPr>
            <p:ph idx="1" type="subTitle"/>
          </p:nvPr>
        </p:nvSpPr>
        <p:spPr>
          <a:xfrm>
            <a:off x="324001" y="993650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/>
              <a:t>A denominator is the expression in a fraction that is written below the fraction line. It is the divisor.</a:t>
            </a:r>
            <a:endParaRPr b="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0"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1" y="4093426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A proper fraction is a fraction where the numerator is less than the denominator.  </a:t>
            </a:r>
            <a:endParaRPr b="0"/>
          </a:p>
        </p:txBody>
      </p: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769" name="Google Shape;769;p67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0800" y="2942842"/>
            <a:ext cx="292900" cy="969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0" name="Google Shape;770;p67"/>
          <p:cNvCxnSpPr/>
          <p:nvPr/>
        </p:nvCxnSpPr>
        <p:spPr>
          <a:xfrm flipH="1">
            <a:off x="6331075" y="2981217"/>
            <a:ext cx="605100" cy="1560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1" name="Google Shape;771;p67"/>
          <p:cNvCxnSpPr/>
          <p:nvPr/>
        </p:nvCxnSpPr>
        <p:spPr>
          <a:xfrm rot="10800000">
            <a:off x="6330950" y="3741342"/>
            <a:ext cx="614400" cy="1659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2" name="Google Shape;772;p67"/>
          <p:cNvSpPr txBox="1"/>
          <p:nvPr/>
        </p:nvSpPr>
        <p:spPr>
          <a:xfrm>
            <a:off x="6915600" y="2706767"/>
            <a:ext cx="177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numerator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3" name="Google Shape;773;p67"/>
          <p:cNvSpPr txBox="1"/>
          <p:nvPr/>
        </p:nvSpPr>
        <p:spPr>
          <a:xfrm>
            <a:off x="6940200" y="3608534"/>
            <a:ext cx="219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denominator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fractions using a common numerator</a:t>
            </a:r>
            <a:endParaRPr/>
          </a:p>
        </p:txBody>
      </p:sp>
      <p:sp>
        <p:nvSpPr>
          <p:cNvPr id="779" name="Google Shape;779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by comparing to one</a:t>
            </a:r>
            <a:endParaRPr/>
          </a:p>
        </p:txBody>
      </p:sp>
      <p:sp>
        <p:nvSpPr>
          <p:cNvPr id="780" name="Google Shape;780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fractions in different ways</a:t>
            </a:r>
            <a:endParaRPr/>
          </a:p>
        </p:txBody>
      </p:sp>
      <p:pic>
        <p:nvPicPr>
          <p:cNvPr id="781" name="Google Shape;78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37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fractions using a common numerator </a:t>
            </a:r>
            <a:endParaRPr/>
          </a:p>
        </p:txBody>
      </p:sp>
      <p:sp>
        <p:nvSpPr>
          <p:cNvPr id="787" name="Google Shape;787;p69"/>
          <p:cNvSpPr txBox="1"/>
          <p:nvPr>
            <p:ph idx="1" type="body"/>
          </p:nvPr>
        </p:nvSpPr>
        <p:spPr>
          <a:xfrm>
            <a:off x="324000" y="759300"/>
            <a:ext cx="82377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is greater?</a:t>
            </a:r>
            <a:endParaRPr/>
          </a:p>
        </p:txBody>
      </p:sp>
      <p:sp>
        <p:nvSpPr>
          <p:cNvPr id="788" name="Google Shape;788;p69"/>
          <p:cNvSpPr/>
          <p:nvPr/>
        </p:nvSpPr>
        <p:spPr>
          <a:xfrm>
            <a:off x="2294250" y="1467600"/>
            <a:ext cx="1185900" cy="1014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9"/>
          <p:cNvSpPr/>
          <p:nvPr/>
        </p:nvSpPr>
        <p:spPr>
          <a:xfrm>
            <a:off x="5663850" y="1467600"/>
            <a:ext cx="1185900" cy="1014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0" name="Google Shape;790;p69"/>
          <p:cNvSpPr txBox="1"/>
          <p:nvPr/>
        </p:nvSpPr>
        <p:spPr>
          <a:xfrm>
            <a:off x="4470750" y="1833000"/>
            <a:ext cx="2025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1}{19}\ \ \frac{11}{17}\\&amp;#13;&amp;#10;\end{array}&quot;&gt;&lt;mtable columnalign=&quot;left&quot; columnspacing=&quot;1em&quot; rowspacing=&quot;4pt&quot;&gt;&lt;mtr&gt;&lt;mtd&gt;&lt;mfrac&gt;&lt;mn&gt;11&lt;/mn&gt;&lt;mn&gt;19&lt;/mn&gt;&lt;/mfrac&gt;&lt;mtext&gt;&lt;/mtext&gt;&lt;mtext&gt;&lt;/mtext&gt;&lt;mfrac&gt;&lt;mn&gt;11&lt;/mn&gt;&lt;mn&gt;17&lt;/mn&gt;&lt;/mfrac&gt;&lt;/mtd&gt;&lt;/mtr&gt;&lt;/mtable&gt;&lt;/math&gt;" id="791" name="Google Shape;791;p69" title="1 lines Line 1: 11 over 19 11 over 17"/>
          <p:cNvPicPr preferRelativeResize="0"/>
          <p:nvPr/>
        </p:nvPicPr>
        <p:blipFill rotWithShape="1">
          <a:blip r:embed="rId3">
            <a:alphaModFix/>
          </a:blip>
          <a:srcRect b="0" l="0" r="62909" t="0"/>
          <a:stretch/>
        </p:blipFill>
        <p:spPr>
          <a:xfrm>
            <a:off x="2646963" y="1595438"/>
            <a:ext cx="480475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1}{19}\ \ \frac{11}{17}\\&amp;#13;&amp;#10;\end{array}&quot;&gt;&lt;mtable columnalign=&quot;left&quot; columnspacing=&quot;1em&quot; rowspacing=&quot;4pt&quot;&gt;&lt;mtr&gt;&lt;mtd&gt;&lt;mfrac&gt;&lt;mn&gt;11&lt;/mn&gt;&lt;mn&gt;19&lt;/mn&gt;&lt;/mfrac&gt;&lt;mtext&gt;&lt;/mtext&gt;&lt;mtext&gt;&lt;/mtext&gt;&lt;mfrac&gt;&lt;mn&gt;11&lt;/mn&gt;&lt;mn&gt;17&lt;/mn&gt;&lt;/mfrac&gt;&lt;/mtd&gt;&lt;/mtr&gt;&lt;/mtable&gt;&lt;/math&gt;" id="792" name="Google Shape;792;p69" title="1 lines Line 1: 11 over 19 11 over 17"/>
          <p:cNvPicPr preferRelativeResize="0"/>
          <p:nvPr/>
        </p:nvPicPr>
        <p:blipFill rotWithShape="1">
          <a:blip r:embed="rId3">
            <a:alphaModFix/>
          </a:blip>
          <a:srcRect b="0" l="59063" r="0" t="0"/>
          <a:stretch/>
        </p:blipFill>
        <p:spPr>
          <a:xfrm>
            <a:off x="5991650" y="1595438"/>
            <a:ext cx="530300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69"/>
          <p:cNvSpPr txBox="1"/>
          <p:nvPr>
            <p:ph idx="1" type="body"/>
          </p:nvPr>
        </p:nvSpPr>
        <p:spPr>
          <a:xfrm>
            <a:off x="324000" y="3018000"/>
            <a:ext cx="82377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 Is it always necessary to find a common denominator?</a:t>
            </a:r>
            <a:endParaRPr/>
          </a:p>
        </p:txBody>
      </p:sp>
      <p:sp>
        <p:nvSpPr>
          <p:cNvPr id="794" name="Google Shape;794;p69"/>
          <p:cNvSpPr txBox="1"/>
          <p:nvPr/>
        </p:nvSpPr>
        <p:spPr>
          <a:xfrm>
            <a:off x="4464298" y="1843146"/>
            <a:ext cx="2025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&lt;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3-11-2023/b103ca75-6908-4323-831d-3293b7e442b0&quot; data-equatio-type=&quot;image&quot;&gt;&lt;mglyph src=&quot;https://equatio-api.texthelp.com/desmos/get/13-11-2023/b103ca75-6908-4323-831d-3293b7e442b0&quot; alt=&quot;Equatio Image&quot;/&gt;&lt;/math&gt;" id="795" name="Google Shape;795;p69" title="Equatio Image"/>
          <p:cNvPicPr preferRelativeResize="0"/>
          <p:nvPr/>
        </p:nvPicPr>
        <p:blipFill rotWithShape="1">
          <a:blip r:embed="rId4">
            <a:alphaModFix/>
          </a:blip>
          <a:srcRect b="0" l="0" r="0" t="56480"/>
          <a:stretch/>
        </p:blipFill>
        <p:spPr>
          <a:xfrm>
            <a:off x="1204913" y="4115725"/>
            <a:ext cx="6734175" cy="54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3-11-2023/b103ca75-6908-4323-831d-3293b7e442b0&quot; data-equatio-type=&quot;image&quot;&gt;&lt;mglyph src=&quot;https://equatio-api.texthelp.com/desmos/get/13-11-2023/b103ca75-6908-4323-831d-3293b7e442b0&quot; alt=&quot;Equatio Image&quot;/&gt;&lt;/math&gt;" id="796" name="Google Shape;796;p69" title="Equatio Image"/>
          <p:cNvPicPr preferRelativeResize="0"/>
          <p:nvPr/>
        </p:nvPicPr>
        <p:blipFill rotWithShape="1">
          <a:blip r:embed="rId4">
            <a:alphaModFix/>
          </a:blip>
          <a:srcRect b="56480" l="0" r="0" t="0"/>
          <a:stretch/>
        </p:blipFill>
        <p:spPr>
          <a:xfrm>
            <a:off x="1204900" y="3426600"/>
            <a:ext cx="6734175" cy="54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7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‘parts’ are larger in </a:t>
            </a:r>
            <a:endParaRPr/>
          </a:p>
        </p:txBody>
      </p:sp>
      <p:sp>
        <p:nvSpPr>
          <p:cNvPr id="802" name="Google Shape;802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fractions using a common numerator</a:t>
            </a:r>
            <a:endParaRPr/>
          </a:p>
        </p:txBody>
      </p:sp>
      <p:sp>
        <p:nvSpPr>
          <p:cNvPr id="803" name="Google Shape;803;p70"/>
          <p:cNvSpPr txBox="1"/>
          <p:nvPr>
            <p:ph idx="2" type="subTitle"/>
          </p:nvPr>
        </p:nvSpPr>
        <p:spPr>
          <a:xfrm>
            <a:off x="789625" y="1156200"/>
            <a:ext cx="62568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</a:t>
            </a:r>
            <a:endParaRPr/>
          </a:p>
        </p:txBody>
      </p:sp>
      <p:sp>
        <p:nvSpPr>
          <p:cNvPr id="804" name="Google Shape;804;p7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‘parts’ are larger in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2}{23}&quot;&gt;&lt;mfrac&gt;&lt;mn&gt;22&lt;/mn&gt;&lt;mn&gt;23&lt;/mn&gt;&lt;/mfrac&gt;&lt;/math&gt;" id="805" name="Google Shape;805;p70" title="22 over 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058757"/>
            <a:ext cx="365342" cy="677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2}{25}&quot;&gt;&lt;mfrac&gt;&lt;mn&gt;22&lt;/mn&gt;&lt;mn&gt;25&lt;/mn&gt;&lt;/mfrac&gt;&lt;/math&gt;" id="806" name="Google Shape;806;p70" title="22 over 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9991" y="3889642"/>
            <a:ext cx="360470" cy="657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24983" y="1797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2}{23}&quot;&gt;&lt;mfrac&gt;&lt;mn&gt;22&lt;/mn&gt;&lt;mn&gt;23&lt;/mn&gt;&lt;/mfrac&gt;&lt;/math&gt;" id="808" name="Google Shape;808;p70" title="22 over 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4600" y="3061782"/>
            <a:ext cx="365342" cy="67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78408" y="31277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2}{25}&quot;&gt;&lt;mfrac&gt;&lt;mn&gt;22&lt;/mn&gt;&lt;mn&gt;25&lt;/mn&gt;&lt;/mfrac&gt;&lt;/math&gt;" id="810" name="Google Shape;810;p70" title="22 over 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7191" y="1068492"/>
            <a:ext cx="360470" cy="657615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0"/>
          <p:cNvSpPr txBox="1"/>
          <p:nvPr>
            <p:ph idx="2" type="subTitle"/>
          </p:nvPr>
        </p:nvSpPr>
        <p:spPr>
          <a:xfrm>
            <a:off x="1080175" y="1156200"/>
            <a:ext cx="61185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greater</a:t>
            </a:r>
            <a:endParaRPr/>
          </a:p>
        </p:txBody>
      </p:sp>
      <p:sp>
        <p:nvSpPr>
          <p:cNvPr id="812" name="Google Shape;812;p70"/>
          <p:cNvSpPr txBox="1"/>
          <p:nvPr>
            <p:ph idx="2" type="subTitle"/>
          </p:nvPr>
        </p:nvSpPr>
        <p:spPr>
          <a:xfrm>
            <a:off x="2166850" y="1156200"/>
            <a:ext cx="51843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than</a:t>
            </a:r>
            <a:endParaRPr/>
          </a:p>
        </p:txBody>
      </p:sp>
      <p:sp>
        <p:nvSpPr>
          <p:cNvPr id="813" name="Google Shape;813;p70"/>
          <p:cNvSpPr txBox="1"/>
          <p:nvPr>
            <p:ph idx="2" type="subTitle"/>
          </p:nvPr>
        </p:nvSpPr>
        <p:spPr>
          <a:xfrm>
            <a:off x="3331125" y="1156200"/>
            <a:ext cx="417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1"/>
          <p:cNvSpPr/>
          <p:nvPr/>
        </p:nvSpPr>
        <p:spPr>
          <a:xfrm>
            <a:off x="2294250" y="1162800"/>
            <a:ext cx="1185900" cy="1014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1"/>
          <p:cNvSpPr/>
          <p:nvPr/>
        </p:nvSpPr>
        <p:spPr>
          <a:xfrm>
            <a:off x="5663850" y="1162800"/>
            <a:ext cx="1185900" cy="1014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omparing fractions using a common numerator</a:t>
            </a:r>
            <a:endParaRPr/>
          </a:p>
        </p:txBody>
      </p:sp>
      <p:sp>
        <p:nvSpPr>
          <p:cNvPr id="821" name="Google Shape;821;p71"/>
          <p:cNvSpPr txBox="1"/>
          <p:nvPr>
            <p:ph idx="1" type="body"/>
          </p:nvPr>
        </p:nvSpPr>
        <p:spPr>
          <a:xfrm>
            <a:off x="324000" y="759300"/>
            <a:ext cx="8237700" cy="30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is greater?</a:t>
            </a:r>
            <a:endParaRPr sz="1800"/>
          </a:p>
        </p:txBody>
      </p:sp>
      <p:sp>
        <p:nvSpPr>
          <p:cNvPr id="822" name="Google Shape;822;p71"/>
          <p:cNvSpPr txBox="1"/>
          <p:nvPr/>
        </p:nvSpPr>
        <p:spPr>
          <a:xfrm>
            <a:off x="4470750" y="1452000"/>
            <a:ext cx="2025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1}{44}\ \ \frac{101}{400}\\&amp;#13;&amp;#10;\end{array}&quot;&gt;&lt;mtable columnalign=&quot;left&quot; columnspacing=&quot;1em&quot; rowspacing=&quot;4pt&quot;&gt;&lt;mtr&gt;&lt;mtd&gt;&lt;mfrac&gt;&lt;mn&gt;11&lt;/mn&gt;&lt;mn&gt;44&lt;/mn&gt;&lt;/mfrac&gt;&lt;mtext&gt;&lt;/mtext&gt;&lt;mtext&gt;&lt;/mtext&gt;&lt;mfrac&gt;&lt;mn&gt;101&lt;/mn&gt;&lt;mn&gt;400&lt;/mn&gt;&lt;/mfrac&gt;&lt;/mtd&gt;&lt;/mtr&gt;&lt;/mtable&gt;&lt;/math&gt;" id="823" name="Google Shape;823;p71" title="1 lines Line 1: 11 over 44 101 over 400"/>
          <p:cNvPicPr preferRelativeResize="0"/>
          <p:nvPr/>
        </p:nvPicPr>
        <p:blipFill rotWithShape="1">
          <a:blip r:embed="rId3">
            <a:alphaModFix/>
          </a:blip>
          <a:srcRect b="0" l="0" r="64463" t="0"/>
          <a:stretch/>
        </p:blipFill>
        <p:spPr>
          <a:xfrm>
            <a:off x="2635025" y="1309163"/>
            <a:ext cx="50435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1}{44}\ \ \frac{101}{400}\\&amp;#13;&amp;#10;\end{array}&quot;&gt;&lt;mtable columnalign=&quot;left&quot; columnspacing=&quot;1em&quot; rowspacing=&quot;4pt&quot;&gt;&lt;mtr&gt;&lt;mtd&gt;&lt;mfrac&gt;&lt;mn&gt;11&lt;/mn&gt;&lt;mn&gt;44&lt;/mn&gt;&lt;/mfrac&gt;&lt;mtext&gt;&lt;/mtext&gt;&lt;mtext&gt;&lt;/mtext&gt;&lt;mfrac&gt;&lt;mn&gt;101&lt;/mn&gt;&lt;mn&gt;400&lt;/mn&gt;&lt;/mfrac&gt;&lt;/mtd&gt;&lt;/mtr&gt;&lt;/mtable&gt;&lt;/math&gt;" id="824" name="Google Shape;824;p71" title="1 lines Line 1: 11 over 44 101 over 400"/>
          <p:cNvPicPr preferRelativeResize="0"/>
          <p:nvPr/>
        </p:nvPicPr>
        <p:blipFill rotWithShape="1">
          <a:blip r:embed="rId3">
            <a:alphaModFix/>
          </a:blip>
          <a:srcRect b="0" l="51625" r="0" t="0"/>
          <a:stretch/>
        </p:blipFill>
        <p:spPr>
          <a:xfrm>
            <a:off x="5913525" y="1309175"/>
            <a:ext cx="68655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71"/>
          <p:cNvSpPr txBox="1"/>
          <p:nvPr>
            <p:ph idx="1" type="body"/>
          </p:nvPr>
        </p:nvSpPr>
        <p:spPr>
          <a:xfrm>
            <a:off x="324000" y="2304550"/>
            <a:ext cx="32961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could we do here?</a:t>
            </a:r>
            <a:endParaRPr sz="1800"/>
          </a:p>
        </p:txBody>
      </p:sp>
      <p:sp>
        <p:nvSpPr>
          <p:cNvPr id="826" name="Google Shape;826;p71"/>
          <p:cNvSpPr txBox="1"/>
          <p:nvPr>
            <p:ph idx="1" type="body"/>
          </p:nvPr>
        </p:nvSpPr>
        <p:spPr>
          <a:xfrm>
            <a:off x="324000" y="2763375"/>
            <a:ext cx="22041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simplify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begin{array}{l}\frac{11}{44}\ \ \frac{101}{400}\\&amp;#13;&amp;#10;\end{array}&quot;&gt;&lt;mtable columnalign=&quot;left&quot; columnspacing=&quot;1em&quot; rowspacing=&quot;4pt&quot;&gt;&lt;mtr&gt;&lt;mtd&gt;&lt;mfrac&gt;&lt;mn&gt;11&lt;/mn&gt;&lt;mn&gt;44&lt;/mn&gt;&lt;/mfrac&gt;&lt;mtext&gt;&lt;/mtext&gt;&lt;mtext&gt;&lt;/mtext&gt;&lt;mfrac&gt;&lt;mn&gt;101&lt;/mn&gt;&lt;mn&gt;400&lt;/mn&gt;&lt;/mfrac&gt;&lt;/mtd&gt;&lt;/mtr&gt;&lt;/mtable&gt;&lt;/math&gt;" id="827" name="Google Shape;827;p71" title="1 lines Line 1: 11 over 44 101 over 400"/>
          <p:cNvPicPr preferRelativeResize="0"/>
          <p:nvPr/>
        </p:nvPicPr>
        <p:blipFill rotWithShape="1">
          <a:blip r:embed="rId3">
            <a:alphaModFix/>
          </a:blip>
          <a:srcRect b="0" l="0" r="64463" t="0"/>
          <a:stretch/>
        </p:blipFill>
        <p:spPr>
          <a:xfrm>
            <a:off x="2153320" y="2713150"/>
            <a:ext cx="343595" cy="4866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1}{44}=\frac{1\times11}{4\times11}=\frac{1}{4}\\&amp;#13;&amp;#10;\end{array}&quot;&gt;&lt;mtable columnalign=&quot;left&quot; columnspacing=&quot;1em&quot; rowspacing=&quot;4pt&quot;&gt;&lt;mtr&gt;&lt;mtd&gt;&lt;mfrac&gt;&lt;mn&gt;11&lt;/mn&gt;&lt;mn&gt;44&lt;/mn&gt;&lt;/mfrac&gt;&lt;mo&gt;=&lt;/mo&gt;&lt;mfrac&gt;&lt;mrow&gt;&lt;mn&gt;1&lt;/mn&gt;&lt;mo&gt;×&lt;/mo&gt;&lt;mn&gt;11&lt;/mn&gt;&lt;/mrow&gt;&lt;mrow&gt;&lt;mn&gt;4&lt;/mn&gt;&lt;mo&gt;×&lt;/mo&gt;&lt;mn&gt;11&lt;/mn&gt;&lt;/mrow&gt;&lt;/mfrac&gt;&lt;mo&gt;=&lt;/mo&gt;&lt;mfrac&gt;&lt;mn&gt;1&lt;/mn&gt;&lt;mn&gt;4&lt;/mn&gt;&lt;/mfrac&gt;&lt;/mtd&gt;&lt;/mtr&gt;&lt;/mtable&gt;&lt;/math&gt;" id="828" name="Google Shape;828;p71" title="1 lines Line 1: 11 over 44 equals the fraction with numerator 1 times 11 and denominator 4 times 11 equals one four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975" y="3278651"/>
            <a:ext cx="1919045" cy="450833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1"/>
          <p:cNvSpPr/>
          <p:nvPr/>
        </p:nvSpPr>
        <p:spPr>
          <a:xfrm>
            <a:off x="1386025" y="3267184"/>
            <a:ext cx="317700" cy="6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1"/>
          <p:cNvSpPr/>
          <p:nvPr/>
        </p:nvSpPr>
        <p:spPr>
          <a:xfrm>
            <a:off x="1015437" y="3237484"/>
            <a:ext cx="369600" cy="6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1"/>
          <p:cNvSpPr/>
          <p:nvPr/>
        </p:nvSpPr>
        <p:spPr>
          <a:xfrm>
            <a:off x="1779925" y="3216784"/>
            <a:ext cx="628500" cy="714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1"/>
          <p:cNvSpPr txBox="1"/>
          <p:nvPr>
            <p:ph idx="1" type="body"/>
          </p:nvPr>
        </p:nvSpPr>
        <p:spPr>
          <a:xfrm>
            <a:off x="324000" y="3882646"/>
            <a:ext cx="8088900" cy="5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Now we can create an equivalent fraction with a denominator of 400 so that we can compare them. 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begin{array}{l}\frac{1}{4}=\frac{1\times100}{4\times100}=\frac{100}{400}\\&amp;#13;&amp;#10;\end{array}&quot;&gt;&lt;mtable columnalign=&quot;left&quot; columnspacing=&quot;1em&quot; rowspacing=&quot;4pt&quot;&gt;&lt;mtr&gt;&lt;mtd&gt;&lt;mfrac&gt;&lt;mn&gt;1&lt;/mn&gt;&lt;mn&gt;4&lt;/mn&gt;&lt;/mfrac&gt;&lt;mo&gt;=&lt;/mo&gt;&lt;mfrac&gt;&lt;mrow&gt;&lt;mn&gt;1&lt;/mn&gt;&lt;mo&gt;×&lt;/mo&gt;&lt;mn&gt;100&lt;/mn&gt;&lt;/mrow&gt;&lt;mrow&gt;&lt;mn&gt;4&lt;/mn&gt;&lt;mo&gt;×&lt;/mo&gt;&lt;mn&gt;100&lt;/mn&gt;&lt;/mrow&gt;&lt;/mfrac&gt;&lt;mo&gt;=&lt;/mo&gt;&lt;mfrac&gt;&lt;mn&gt;100&lt;/mn&gt;&lt;mn&gt;400&lt;/mn&gt;&lt;/mfrac&gt;&lt;/mtd&gt;&lt;/mtr&gt;&lt;/mtable&gt;&lt;/math&gt;" id="833" name="Google Shape;833;p71" title="1 lines Line 1: one fourth equals the fraction with numerator 1 times 100 and denominator 4 times 100 equals 100 over 4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98180" y="3278651"/>
            <a:ext cx="2139920" cy="450832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71"/>
          <p:cNvSpPr/>
          <p:nvPr/>
        </p:nvSpPr>
        <p:spPr>
          <a:xfrm>
            <a:off x="6301300" y="3468484"/>
            <a:ext cx="504300" cy="30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1"/>
          <p:cNvSpPr/>
          <p:nvPr/>
        </p:nvSpPr>
        <p:spPr>
          <a:xfrm>
            <a:off x="5189350" y="3267184"/>
            <a:ext cx="343500" cy="50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1"/>
          <p:cNvSpPr/>
          <p:nvPr/>
        </p:nvSpPr>
        <p:spPr>
          <a:xfrm>
            <a:off x="5532850" y="3475200"/>
            <a:ext cx="343500" cy="30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1"/>
          <p:cNvSpPr/>
          <p:nvPr/>
        </p:nvSpPr>
        <p:spPr>
          <a:xfrm>
            <a:off x="5532850" y="3160075"/>
            <a:ext cx="343500" cy="30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1"/>
          <p:cNvSpPr/>
          <p:nvPr/>
        </p:nvSpPr>
        <p:spPr>
          <a:xfrm>
            <a:off x="6381700" y="3160075"/>
            <a:ext cx="343500" cy="30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71"/>
          <p:cNvSpPr txBox="1"/>
          <p:nvPr>
            <p:ph idx="1" type="body"/>
          </p:nvPr>
        </p:nvSpPr>
        <p:spPr>
          <a:xfrm>
            <a:off x="324000" y="4545050"/>
            <a:ext cx="3719700" cy="30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now see which is greater.</a:t>
            </a:r>
            <a:endParaRPr sz="1800"/>
          </a:p>
        </p:txBody>
      </p:sp>
      <p:sp>
        <p:nvSpPr>
          <p:cNvPr id="840" name="Google Shape;840;p71"/>
          <p:cNvSpPr txBox="1"/>
          <p:nvPr/>
        </p:nvSpPr>
        <p:spPr>
          <a:xfrm>
            <a:off x="4458298" y="1414650"/>
            <a:ext cx="2025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&lt;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2"/>
          <p:cNvSpPr/>
          <p:nvPr/>
        </p:nvSpPr>
        <p:spPr>
          <a:xfrm>
            <a:off x="2294250" y="1162800"/>
            <a:ext cx="1185900" cy="1014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72"/>
          <p:cNvSpPr/>
          <p:nvPr/>
        </p:nvSpPr>
        <p:spPr>
          <a:xfrm>
            <a:off x="5663850" y="1162800"/>
            <a:ext cx="1185900" cy="1014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fractions using a common numerator</a:t>
            </a:r>
            <a:r>
              <a:rPr lang="en-GB"/>
              <a:t> </a:t>
            </a:r>
            <a:endParaRPr/>
          </a:p>
        </p:txBody>
      </p:sp>
      <p:sp>
        <p:nvSpPr>
          <p:cNvPr id="848" name="Google Shape;848;p72"/>
          <p:cNvSpPr txBox="1"/>
          <p:nvPr>
            <p:ph idx="1" type="body"/>
          </p:nvPr>
        </p:nvSpPr>
        <p:spPr>
          <a:xfrm>
            <a:off x="324000" y="759300"/>
            <a:ext cx="82377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is greater?</a:t>
            </a:r>
            <a:endParaRPr/>
          </a:p>
        </p:txBody>
      </p:sp>
      <p:sp>
        <p:nvSpPr>
          <p:cNvPr id="849" name="Google Shape;849;p72"/>
          <p:cNvSpPr txBox="1"/>
          <p:nvPr/>
        </p:nvSpPr>
        <p:spPr>
          <a:xfrm>
            <a:off x="4470750" y="1452000"/>
            <a:ext cx="2025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1}{37238}\ \ \frac{1}{5}\\&amp;#13;&amp;#10;\end{array}&quot;&gt;&lt;mtable columnalign=&quot;left&quot; columnspacing=&quot;1em&quot; rowspacing=&quot;4pt&quot;&gt;&lt;mtr&gt;&lt;mtd&gt;&lt;mfrac&gt;&lt;mn&gt;11&lt;/mn&gt;&lt;mn&gt;37238&lt;/mn&gt;&lt;/mfrac&gt;&lt;mtext&gt;&lt;/mtext&gt;&lt;mtext&gt;&lt;/mtext&gt;&lt;mfrac&gt;&lt;mn&gt;1&lt;/mn&gt;&lt;mn&gt;5&lt;/mn&gt;&lt;/mfrac&gt;&lt;/mtd&gt;&lt;/mtr&gt;&lt;/mtable&gt;&lt;/math&gt;" id="850" name="Google Shape;850;p72" title="1 lines Line 1: 11 over 37238 one fifth"/>
          <p:cNvPicPr preferRelativeResize="0"/>
          <p:nvPr/>
        </p:nvPicPr>
        <p:blipFill rotWithShape="1">
          <a:blip r:embed="rId3">
            <a:alphaModFix/>
          </a:blip>
          <a:srcRect b="0" l="0" r="37213" t="0"/>
          <a:stretch/>
        </p:blipFill>
        <p:spPr>
          <a:xfrm>
            <a:off x="5754438" y="1309163"/>
            <a:ext cx="100472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1}{37238}\ \ \frac{1}{5}\\&amp;#13;&amp;#10;\end{array}&quot;&gt;&lt;mtable columnalign=&quot;left&quot; columnspacing=&quot;1em&quot; rowspacing=&quot;4pt&quot;&gt;&lt;mtr&gt;&lt;mtd&gt;&lt;mfrac&gt;&lt;mn&gt;11&lt;/mn&gt;&lt;mn&gt;37238&lt;/mn&gt;&lt;/mfrac&gt;&lt;mtext&gt;&lt;/mtext&gt;&lt;mtext&gt;&lt;/mtext&gt;&lt;mfrac&gt;&lt;mn&gt;1&lt;/mn&gt;&lt;mn&gt;5&lt;/mn&gt;&lt;/mfrac&gt;&lt;/mtd&gt;&lt;/mtr&gt;&lt;/mtable&gt;&lt;/math&gt;" id="851" name="Google Shape;851;p72" title="1 lines Line 1: 11 over 37238 one fifth"/>
          <p:cNvPicPr preferRelativeResize="0"/>
          <p:nvPr/>
        </p:nvPicPr>
        <p:blipFill rotWithShape="1">
          <a:blip r:embed="rId3">
            <a:alphaModFix/>
          </a:blip>
          <a:srcRect b="0" l="81496" r="0" t="0"/>
          <a:stretch/>
        </p:blipFill>
        <p:spPr>
          <a:xfrm>
            <a:off x="2739150" y="1309175"/>
            <a:ext cx="29610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72"/>
          <p:cNvSpPr txBox="1"/>
          <p:nvPr>
            <p:ph idx="1" type="body"/>
          </p:nvPr>
        </p:nvSpPr>
        <p:spPr>
          <a:xfrm>
            <a:off x="324000" y="2559000"/>
            <a:ext cx="82377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Would it be sensible to try and find the LCM of 5 and 37 238?</a:t>
            </a:r>
            <a:endParaRPr/>
          </a:p>
        </p:txBody>
      </p:sp>
      <p:sp>
        <p:nvSpPr>
          <p:cNvPr id="853" name="Google Shape;853;p72"/>
          <p:cNvSpPr txBox="1"/>
          <p:nvPr>
            <p:ph idx="1" type="body"/>
          </p:nvPr>
        </p:nvSpPr>
        <p:spPr>
          <a:xfrm>
            <a:off x="324000" y="3240000"/>
            <a:ext cx="8237700" cy="45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this situation it would be much more efficient to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11}{37238}\ \ \frac{1}{5}\\&amp;#13;&amp;#10;\end{array}&quot;&gt;&lt;mtable columnalign=&quot;left&quot; columnspacing=&quot;1em&quot; rowspacing=&quot;4pt&quot;&gt;&lt;mtr&gt;&lt;mtd&gt;&lt;mfrac&gt;&lt;mn&gt;11&lt;/mn&gt;&lt;mn&gt;37238&lt;/mn&gt;&lt;/mfrac&gt;&lt;mtext&gt;&lt;/mtext&gt;&lt;mtext&gt;&lt;/mtext&gt;&lt;mfrac&gt;&lt;mn&gt;1&lt;/mn&gt;&lt;mn&gt;5&lt;/mn&gt;&lt;/mfrac&gt;&lt;/mtd&gt;&lt;/mtr&gt;&lt;/mtable&gt;&lt;/math&gt;" id="854" name="Google Shape;854;p72" title="1 lines Line 1: 11 over 37238 one fifth"/>
          <p:cNvPicPr preferRelativeResize="0"/>
          <p:nvPr/>
        </p:nvPicPr>
        <p:blipFill rotWithShape="1">
          <a:blip r:embed="rId3">
            <a:alphaModFix/>
          </a:blip>
          <a:srcRect b="0" l="81496" r="0" t="0"/>
          <a:stretch/>
        </p:blipFill>
        <p:spPr>
          <a:xfrm>
            <a:off x="1468775" y="3669513"/>
            <a:ext cx="202500" cy="488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=\frac{1\times11}{5\times11}=\frac{11}{55}&quot;&gt;&lt;mfrac&gt;&lt;mn&gt;1&lt;/mn&gt;&lt;mn&gt;5&lt;/mn&gt;&lt;/mfrac&gt;&lt;mo&gt;=&lt;/mo&gt;&lt;mfrac&gt;&lt;mrow&gt;&lt;mn&gt;1&lt;/mn&gt;&lt;mo&gt;×&lt;/mo&gt;&lt;mn&gt;11&lt;/mn&gt;&lt;/mrow&gt;&lt;mrow&gt;&lt;mn&gt;5&lt;/mn&gt;&lt;mo&gt;×&lt;/mo&gt;&lt;mn&gt;11&lt;/mn&gt;&lt;/mrow&gt;&lt;/mfrac&gt;&lt;mo&gt;=&lt;/mo&gt;&lt;mfrac&gt;&lt;mn&gt;11&lt;/mn&gt;&lt;mn&gt;55&lt;/mn&gt;&lt;/mfrac&gt;&lt;/math&gt;" id="855" name="Google Shape;855;p72" title="one fifth equals the fraction with numerator 1 times 11 and denominator 5 times 11 equals 11 over 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7100" y="4098900"/>
            <a:ext cx="2169797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72"/>
          <p:cNvSpPr/>
          <p:nvPr/>
        </p:nvSpPr>
        <p:spPr>
          <a:xfrm>
            <a:off x="4018402" y="4071850"/>
            <a:ext cx="296100" cy="714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72"/>
          <p:cNvSpPr/>
          <p:nvPr/>
        </p:nvSpPr>
        <p:spPr>
          <a:xfrm>
            <a:off x="5010375" y="4039500"/>
            <a:ext cx="717900" cy="45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72"/>
          <p:cNvSpPr/>
          <p:nvPr/>
        </p:nvSpPr>
        <p:spPr>
          <a:xfrm>
            <a:off x="4319996" y="4039500"/>
            <a:ext cx="584400" cy="40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72"/>
          <p:cNvSpPr/>
          <p:nvPr/>
        </p:nvSpPr>
        <p:spPr>
          <a:xfrm>
            <a:off x="4319996" y="4448100"/>
            <a:ext cx="584400" cy="40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2"/>
          <p:cNvSpPr/>
          <p:nvPr/>
        </p:nvSpPr>
        <p:spPr>
          <a:xfrm>
            <a:off x="5220846" y="4448100"/>
            <a:ext cx="584400" cy="40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1" name="Google Shape;861;p72"/>
          <p:cNvSpPr txBox="1"/>
          <p:nvPr/>
        </p:nvSpPr>
        <p:spPr>
          <a:xfrm>
            <a:off x="4470750" y="1452000"/>
            <a:ext cx="2025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&gt;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72"/>
          <p:cNvSpPr txBox="1"/>
          <p:nvPr>
            <p:ph idx="1" type="body"/>
          </p:nvPr>
        </p:nvSpPr>
        <p:spPr>
          <a:xfrm>
            <a:off x="324000" y="3697200"/>
            <a:ext cx="8237700" cy="43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</a:t>
            </a:r>
            <a:endParaRPr/>
          </a:p>
        </p:txBody>
      </p:sp>
      <p:sp>
        <p:nvSpPr>
          <p:cNvPr id="863" name="Google Shape;863;p72"/>
          <p:cNvSpPr txBox="1"/>
          <p:nvPr>
            <p:ph idx="1" type="body"/>
          </p:nvPr>
        </p:nvSpPr>
        <p:spPr>
          <a:xfrm>
            <a:off x="1743900" y="3697200"/>
            <a:ext cx="6970200" cy="43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into an equivalent fraction with a numerator of 11.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fractions using a common numerator</a:t>
            </a:r>
            <a:endParaRPr/>
          </a:p>
        </p:txBody>
      </p:sp>
      <p:sp>
        <p:nvSpPr>
          <p:cNvPr id="869" name="Google Shape;869;p73"/>
          <p:cNvSpPr txBox="1"/>
          <p:nvPr>
            <p:ph idx="4294967295" type="subTitle"/>
          </p:nvPr>
        </p:nvSpPr>
        <p:spPr>
          <a:xfrm>
            <a:off x="1034425" y="1685375"/>
            <a:ext cx="2567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is greater?</a:t>
            </a:r>
            <a:endParaRPr/>
          </a:p>
        </p:txBody>
      </p:sp>
      <p:sp>
        <p:nvSpPr>
          <p:cNvPr id="870" name="Google Shape;870;p73"/>
          <p:cNvSpPr txBox="1"/>
          <p:nvPr>
            <p:ph idx="4294967295"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In which</a:t>
            </a:r>
            <a:r>
              <a:rPr b="0" lang="en-GB"/>
              <a:t> of the following would it be easier to compare the numerators?</a:t>
            </a:r>
            <a:endParaRPr b="0"/>
          </a:p>
        </p:txBody>
      </p:sp>
      <p:sp>
        <p:nvSpPr>
          <p:cNvPr id="871" name="Google Shape;871;p73"/>
          <p:cNvSpPr txBox="1"/>
          <p:nvPr>
            <p:ph idx="4294967295" type="subTitle"/>
          </p:nvPr>
        </p:nvSpPr>
        <p:spPr>
          <a:xfrm>
            <a:off x="1034425" y="2489443"/>
            <a:ext cx="2567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Which is greater?</a:t>
            </a:r>
            <a:endParaRPr/>
          </a:p>
        </p:txBody>
      </p:sp>
      <p:sp>
        <p:nvSpPr>
          <p:cNvPr id="872" name="Google Shape;872;p73"/>
          <p:cNvSpPr txBox="1"/>
          <p:nvPr>
            <p:ph idx="4294967295" type="subTitle"/>
          </p:nvPr>
        </p:nvSpPr>
        <p:spPr>
          <a:xfrm>
            <a:off x="1034425" y="3309758"/>
            <a:ext cx="2553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Which is greater?</a:t>
            </a:r>
            <a:endParaRPr/>
          </a:p>
        </p:txBody>
      </p:sp>
      <p:sp>
        <p:nvSpPr>
          <p:cNvPr id="873" name="Google Shape;873;p73"/>
          <p:cNvSpPr txBox="1"/>
          <p:nvPr>
            <p:ph idx="4294967295" type="subTitle"/>
          </p:nvPr>
        </p:nvSpPr>
        <p:spPr>
          <a:xfrm>
            <a:off x="1034425" y="4113827"/>
            <a:ext cx="25674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Which is greater?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8}\&amp;amp;\frac{25}{64}&quot;&gt;&lt;mfrac&gt;&lt;mn&gt;3&lt;/mn&gt;&lt;mn&gt;8&lt;/mn&gt;&lt;/mfrac&gt;&lt;mi mathvariant=&quot;normal&quot;&gt;&amp;amp;&lt;/mi&gt;&lt;mfrac&gt;&lt;mn&gt;25&lt;/mn&gt;&lt;mn&gt;64&lt;/mn&gt;&lt;/mfrac&gt;&lt;/math&gt;" id="874" name="Google Shape;874;p73" title="three eighths ampersand 25 over 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4313" y="3198139"/>
            <a:ext cx="771729" cy="577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\&amp;amp;\frac{12}{2468}&quot;&gt;&lt;mfrac&gt;&lt;mn&gt;3&lt;/mn&gt;&lt;mn&gt;8&lt;/mn&gt;&lt;/mfrac&gt;&lt;mi mathvariant=&quot;normal&quot;&gt;&amp;amp;&lt;/mi&gt;&lt;mfrac&gt;&lt;mn&gt;12&lt;/mn&gt;&lt;mn&gt;2468&lt;/mn&gt;&lt;/mfrac&gt;&lt;/math&gt;" id="875" name="Google Shape;875;p73" title="three eighths ampersand 12 over 24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4313" y="2402338"/>
            <a:ext cx="1076010" cy="5953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5}{27}\&amp;amp;\frac{7}{9}&quot;&gt;&lt;mfrac&gt;&lt;mn&gt;15&lt;/mn&gt;&lt;mn&gt;27&lt;/mn&gt;&lt;/mfrac&gt;&lt;mi mathvariant=&quot;normal&quot;&gt;&amp;amp;&lt;/mi&gt;&lt;mfrac&gt;&lt;mn&gt;7&lt;/mn&gt;&lt;mn&gt;9&lt;/mn&gt;&lt;/mfrac&gt;&lt;/math&gt;" id="876" name="Google Shape;876;p73" title="15 over 27 ampersand seven ni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44313" y="4002919"/>
            <a:ext cx="776138" cy="5821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55}{1200}\&amp;amp;\frac{395}{8400}&quot;&gt;&lt;mfrac&gt;&lt;mn&gt;155&lt;/mn&gt;&lt;mn&gt;1200&lt;/mn&gt;&lt;/mfrac&gt;&lt;mi mathvariant=&quot;normal&quot;&gt;&amp;amp;&lt;/mi&gt;&lt;mfrac&gt;&lt;mn&gt;395&lt;/mn&gt;&lt;mn&gt;8400&lt;/mn&gt;&lt;/mfrac&gt;&lt;/math&gt;" id="877" name="Google Shape;877;p73" title="155 over 1200 ampersand 395 over 84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44313" y="1496095"/>
            <a:ext cx="1503768" cy="595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83633" y="24023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73"/>
          <p:cNvSpPr txBox="1"/>
          <p:nvPr/>
        </p:nvSpPr>
        <p:spPr>
          <a:xfrm>
            <a:off x="5702250" y="1620000"/>
            <a:ext cx="296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1200 is a factor of 8400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0" name="Google Shape;880;p73"/>
          <p:cNvSpPr txBox="1"/>
          <p:nvPr/>
        </p:nvSpPr>
        <p:spPr>
          <a:xfrm>
            <a:off x="5702250" y="2402400"/>
            <a:ext cx="225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is a factor of 12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1" name="Google Shape;881;p73"/>
          <p:cNvSpPr txBox="1"/>
          <p:nvPr/>
        </p:nvSpPr>
        <p:spPr>
          <a:xfrm>
            <a:off x="5702250" y="3240000"/>
            <a:ext cx="234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 is a factor of 64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2" name="Google Shape;882;p73"/>
          <p:cNvSpPr txBox="1"/>
          <p:nvPr/>
        </p:nvSpPr>
        <p:spPr>
          <a:xfrm>
            <a:off x="5702250" y="4124625"/>
            <a:ext cx="229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 is a factor of 27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8}{15}\ &amp;gt;\ \frac{8}{19}&quot;&gt;&lt;mfrac&gt;&lt;mn&gt;8&lt;/mn&gt;&lt;mn&gt;15&lt;/mn&gt;&lt;/mfrac&gt;&lt;mtext&gt;&lt;/mtext&gt;&lt;mo&gt;&amp;gt;&lt;/mo&gt;&lt;mtext&gt;&lt;/mtext&gt;&lt;mfrac&gt;&lt;mn&gt;8&lt;/mn&gt;&lt;mn&gt;19&lt;/mn&gt;&lt;/mfrac&gt;&lt;/math&gt;" id="887" name="Google Shape;887;p74" title="8 over 15 is greater than 8 over 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388" y="2328837"/>
            <a:ext cx="1052886" cy="5187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1}\ &amp;lt;\ \frac{7}{9}&quot;&gt;&lt;mfrac&gt;&lt;mn&gt;7&lt;/mn&gt;&lt;mn&gt;11&lt;/mn&gt;&lt;/mfrac&gt;&lt;mtext&gt;&lt;/mtext&gt;&lt;mo&gt;&amp;lt;&lt;/mo&gt;&lt;mtext&gt;&lt;/mtext&gt;&lt;mfrac&gt;&lt;mn&gt;7&lt;/mn&gt;&lt;mn&gt;9&lt;/mn&gt;&lt;/mfrac&gt;&lt;/math&gt;" id="888" name="Google Shape;888;p74" title="7 over 11 is less than seven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2227" y="1159903"/>
            <a:ext cx="1023057" cy="5660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315}\ &amp;lt;\ \frac{11}{311}&quot;&gt;&lt;mfrac&gt;&lt;mn&gt;11&lt;/mn&gt;&lt;mn&gt;315&lt;/mn&gt;&lt;/mfrac&gt;&lt;mtext&gt;&lt;/mtext&gt;&lt;mo&gt;&amp;lt;&lt;/mo&gt;&lt;mtext&gt;&lt;/mtext&gt;&lt;mfrac&gt;&lt;mn&gt;11&lt;/mn&gt;&lt;mn&gt;311&lt;/mn&gt;&lt;/mfrac&gt;&lt;/math&gt;" id="889" name="Google Shape;889;p74" title="11 over 315 is less than 11 over 3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2225" y="2408972"/>
            <a:ext cx="1421350" cy="566025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7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 fractions using a common numerator</a:t>
            </a:r>
            <a:endParaRPr/>
          </a:p>
        </p:txBody>
      </p:sp>
      <p:sp>
        <p:nvSpPr>
          <p:cNvPr id="891" name="Google Shape;891;p74"/>
          <p:cNvSpPr txBox="1"/>
          <p:nvPr>
            <p:ph idx="1" type="body"/>
          </p:nvPr>
        </p:nvSpPr>
        <p:spPr>
          <a:xfrm>
            <a:off x="324000" y="684892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Insert either &lt; or &gt; to make the statement true.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begin{array}{l}\frac{13}{21}\ &amp;lt;\ \frac{13}{15}\\&amp;#13;&amp;#10;\end{array}&quot;&gt;&lt;mtable columnalign=&quot;left&quot; columnspacing=&quot;1em&quot; rowspacing=&quot;4pt&quot;&gt;&lt;mtr&gt;&lt;mtd&gt;&lt;mfrac&gt;&lt;mn&gt;13&lt;/mn&gt;&lt;mn&gt;21&lt;/mn&gt;&lt;/mfrac&gt;&lt;mtext&gt;&lt;/mtext&gt;&lt;mo&gt;&amp;lt;&lt;/mo&gt;&lt;mtext&gt;&lt;/mtext&gt;&lt;mfrac&gt;&lt;mn&gt;13&lt;/mn&gt;&lt;mn&gt;15&lt;/mn&gt;&lt;/mfrac&gt;&lt;/mtd&gt;&lt;/mtr&gt;&lt;/mtable&gt;&lt;/math&gt;" id="892" name="Google Shape;892;p74" title="1 lines Line 1: 13 over 21 is less than 13 over 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3496" y="1157741"/>
            <a:ext cx="1325895" cy="507354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74"/>
          <p:cNvSpPr txBox="1"/>
          <p:nvPr/>
        </p:nvSpPr>
        <p:spPr>
          <a:xfrm>
            <a:off x="324000" y="1121366"/>
            <a:ext cx="32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4"/>
          <p:cNvSpPr txBox="1"/>
          <p:nvPr/>
        </p:nvSpPr>
        <p:spPr>
          <a:xfrm>
            <a:off x="324000" y="2269479"/>
            <a:ext cx="32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74"/>
          <p:cNvSpPr txBox="1"/>
          <p:nvPr/>
        </p:nvSpPr>
        <p:spPr>
          <a:xfrm>
            <a:off x="4826025" y="1078916"/>
            <a:ext cx="32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74"/>
          <p:cNvSpPr txBox="1"/>
          <p:nvPr/>
        </p:nvSpPr>
        <p:spPr>
          <a:xfrm>
            <a:off x="4826025" y="2330839"/>
            <a:ext cx="32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74"/>
          <p:cNvSpPr/>
          <p:nvPr/>
        </p:nvSpPr>
        <p:spPr>
          <a:xfrm>
            <a:off x="1304400" y="1215216"/>
            <a:ext cx="397500" cy="405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8" name="Google Shape;898;p74"/>
          <p:cNvSpPr/>
          <p:nvPr/>
        </p:nvSpPr>
        <p:spPr>
          <a:xfrm>
            <a:off x="1140628" y="2385553"/>
            <a:ext cx="397500" cy="405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4"/>
          <p:cNvSpPr/>
          <p:nvPr/>
        </p:nvSpPr>
        <p:spPr>
          <a:xfrm>
            <a:off x="5683472" y="1237428"/>
            <a:ext cx="397500" cy="405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74"/>
          <p:cNvSpPr/>
          <p:nvPr/>
        </p:nvSpPr>
        <p:spPr>
          <a:xfrm>
            <a:off x="5814161" y="2504204"/>
            <a:ext cx="397500" cy="405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4"/>
          <p:cNvSpPr txBox="1"/>
          <p:nvPr/>
        </p:nvSpPr>
        <p:spPr>
          <a:xfrm>
            <a:off x="324000" y="3613015"/>
            <a:ext cx="849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Place the words ‘larger’ and ‘smaller’ in the sentence: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20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denominator the </a:t>
            </a:r>
            <a:r>
              <a:rPr lang="en-GB" sz="20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‘parts’.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 fractions using a common numerator</a:t>
            </a:r>
            <a:endParaRPr/>
          </a:p>
        </p:txBody>
      </p:sp>
      <p:sp>
        <p:nvSpPr>
          <p:cNvPr id="907" name="Google Shape;907;p75"/>
          <p:cNvSpPr txBox="1"/>
          <p:nvPr/>
        </p:nvSpPr>
        <p:spPr>
          <a:xfrm>
            <a:off x="324000" y="755466"/>
            <a:ext cx="84960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Write the following in order from smallest to largest.</a:t>
            </a:r>
            <a:b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0}{21},\ \frac{10}{18},\ \frac{10}{35},\ \frac{10}{15}&quot;&gt;&lt;mfrac&gt;&lt;mn&gt;10&lt;/mn&gt;&lt;mn&gt;21&lt;/mn&gt;&lt;/mfrac&gt;&lt;mo&gt;,&lt;/mo&gt;&lt;mtext&gt;&lt;/mtext&gt;&lt;mfrac&gt;&lt;mn&gt;10&lt;/mn&gt;&lt;mn&gt;18&lt;/mn&gt;&lt;/mfrac&gt;&lt;mo&gt;,&lt;/mo&gt;&lt;mtext&gt;&lt;/mtext&gt;&lt;mfrac&gt;&lt;mn&gt;10&lt;/mn&gt;&lt;mn&gt;35&lt;/mn&gt;&lt;/mfrac&gt;&lt;mo&gt;,&lt;/mo&gt;&lt;mtext&gt;&lt;/mtext&gt;&lt;mfrac&gt;&lt;mn&gt;10&lt;/mn&gt;&lt;mn&gt;15&lt;/mn&gt;&lt;/mfrac&gt;&lt;/math&gt;" id="908" name="Google Shape;908;p75" title="10 over 21 comma 10 over 18 comma 10 over 35 comma 10 over 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225" y="1360616"/>
            <a:ext cx="1794483" cy="51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34}{512},\ \frac{234}{518},\ \frac{234}{500},\ \frac{234}{511}&quot;&gt;&lt;mfrac&gt;&lt;mn&gt;234&lt;/mn&gt;&lt;mn&gt;512&lt;/mn&gt;&lt;/mfrac&gt;&lt;mo&gt;,&lt;/mo&gt;&lt;mtext&gt;&lt;/mtext&gt;&lt;mfrac&gt;&lt;mn&gt;234&lt;/mn&gt;&lt;mn&gt;518&lt;/mn&gt;&lt;/mfrac&gt;&lt;mo&gt;,&lt;/mo&gt;&lt;mtext&gt;&lt;/mtext&gt;&lt;mfrac&gt;&lt;mn&gt;234&lt;/mn&gt;&lt;mn&gt;500&lt;/mn&gt;&lt;/mfrac&gt;&lt;mo&gt;,&lt;/mo&gt;&lt;mtext&gt;&lt;/mtext&gt;&lt;mfrac&gt;&lt;mn&gt;234&lt;/mn&gt;&lt;mn&gt;511&lt;/mn&gt;&lt;/mfrac&gt;&lt;/math&gt;" id="909" name="Google Shape;909;p75" title="234 over 512 comma 234 over 518 comma 234 over 500 comma 234 over 5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525" y="2440635"/>
            <a:ext cx="2292391" cy="51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76"/>
          <p:cNvSpPr txBox="1"/>
          <p:nvPr>
            <p:ph idx="4294967295" type="body"/>
          </p:nvPr>
        </p:nvSpPr>
        <p:spPr>
          <a:xfrm>
            <a:off x="359950" y="3638050"/>
            <a:ext cx="29535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 startAt="4"/>
            </a:pPr>
            <a:r>
              <a:rPr lang="en-GB" sz="2000"/>
              <a:t> </a:t>
            </a:r>
            <a:endParaRPr sz="2000"/>
          </a:p>
        </p:txBody>
      </p:sp>
      <p:sp>
        <p:nvSpPr>
          <p:cNvPr id="915" name="Google Shape;915;p76"/>
          <p:cNvSpPr txBox="1"/>
          <p:nvPr>
            <p:ph idx="4294967295" type="body"/>
          </p:nvPr>
        </p:nvSpPr>
        <p:spPr>
          <a:xfrm>
            <a:off x="825250" y="3638050"/>
            <a:ext cx="78546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Find</a:t>
            </a:r>
            <a:endParaRPr sz="2000"/>
          </a:p>
        </p:txBody>
      </p:sp>
      <p:sp>
        <p:nvSpPr>
          <p:cNvPr id="916" name="Google Shape;916;p76"/>
          <p:cNvSpPr txBox="1"/>
          <p:nvPr>
            <p:ph idx="4294967295" type="body"/>
          </p:nvPr>
        </p:nvSpPr>
        <p:spPr>
          <a:xfrm>
            <a:off x="1424950" y="3638050"/>
            <a:ext cx="74073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endParaRPr sz="2000"/>
          </a:p>
        </p:txBody>
      </p:sp>
      <p:sp>
        <p:nvSpPr>
          <p:cNvPr id="917" name="Google Shape;917;p76"/>
          <p:cNvSpPr txBox="1"/>
          <p:nvPr>
            <p:ph idx="4294967295" type="body"/>
          </p:nvPr>
        </p:nvSpPr>
        <p:spPr>
          <a:xfrm>
            <a:off x="1652200" y="3638050"/>
            <a:ext cx="73326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fraction</a:t>
            </a:r>
            <a:endParaRPr sz="2000"/>
          </a:p>
        </p:txBody>
      </p:sp>
      <p:sp>
        <p:nvSpPr>
          <p:cNvPr id="918" name="Google Shape;918;p76"/>
          <p:cNvSpPr txBox="1"/>
          <p:nvPr>
            <p:ph idx="4294967295" type="body"/>
          </p:nvPr>
        </p:nvSpPr>
        <p:spPr>
          <a:xfrm>
            <a:off x="2683800" y="3638050"/>
            <a:ext cx="64533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that</a:t>
            </a:r>
            <a:endParaRPr sz="2000"/>
          </a:p>
        </p:txBody>
      </p:sp>
      <p:sp>
        <p:nvSpPr>
          <p:cNvPr id="919" name="Google Shape;919;p76"/>
          <p:cNvSpPr txBox="1"/>
          <p:nvPr>
            <p:ph idx="4294967295" type="body"/>
          </p:nvPr>
        </p:nvSpPr>
        <p:spPr>
          <a:xfrm>
            <a:off x="3273925" y="3638050"/>
            <a:ext cx="60156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is</a:t>
            </a:r>
            <a:endParaRPr sz="2000"/>
          </a:p>
        </p:txBody>
      </p:sp>
      <p:sp>
        <p:nvSpPr>
          <p:cNvPr id="920" name="Google Shape;920;p76"/>
          <p:cNvSpPr txBox="1"/>
          <p:nvPr>
            <p:ph idx="4294967295" type="body"/>
          </p:nvPr>
        </p:nvSpPr>
        <p:spPr>
          <a:xfrm>
            <a:off x="3517250" y="3638050"/>
            <a:ext cx="59247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closer</a:t>
            </a:r>
            <a:endParaRPr sz="2000"/>
          </a:p>
        </p:txBody>
      </p:sp>
      <p:sp>
        <p:nvSpPr>
          <p:cNvPr id="921" name="Google Shape;921;p76"/>
          <p:cNvSpPr txBox="1"/>
          <p:nvPr>
            <p:ph idx="4294967295" type="body"/>
          </p:nvPr>
        </p:nvSpPr>
        <p:spPr>
          <a:xfrm>
            <a:off x="4320000" y="3638050"/>
            <a:ext cx="52743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to </a:t>
            </a:r>
            <a:endParaRPr sz="2000"/>
          </a:p>
        </p:txBody>
      </p:sp>
      <p:sp>
        <p:nvSpPr>
          <p:cNvPr id="922" name="Google Shape;922;p76"/>
          <p:cNvSpPr txBox="1"/>
          <p:nvPr>
            <p:ph idx="4294967295" type="body"/>
          </p:nvPr>
        </p:nvSpPr>
        <p:spPr>
          <a:xfrm>
            <a:off x="2307825" y="4476250"/>
            <a:ext cx="624000" cy="5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and</a:t>
            </a:r>
            <a:endParaRPr sz="2000"/>
          </a:p>
        </p:txBody>
      </p:sp>
      <p:sp>
        <p:nvSpPr>
          <p:cNvPr id="923" name="Google Shape;923;p76"/>
          <p:cNvSpPr txBox="1"/>
          <p:nvPr>
            <p:ph idx="4294967295" type="body"/>
          </p:nvPr>
        </p:nvSpPr>
        <p:spPr>
          <a:xfrm>
            <a:off x="817150" y="4476250"/>
            <a:ext cx="1200300" cy="5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between</a:t>
            </a:r>
            <a:endParaRPr sz="2000"/>
          </a:p>
        </p:txBody>
      </p:sp>
      <p:sp>
        <p:nvSpPr>
          <p:cNvPr id="924" name="Google Shape;924;p76"/>
          <p:cNvSpPr txBox="1"/>
          <p:nvPr>
            <p:ph idx="4294967295" type="body"/>
          </p:nvPr>
        </p:nvSpPr>
        <p:spPr>
          <a:xfrm>
            <a:off x="359950" y="742451"/>
            <a:ext cx="81675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3a) </a:t>
            </a:r>
            <a:r>
              <a:rPr lang="en-GB" sz="2000"/>
              <a:t>Place the words ‘larger’ and ‘smaller’ in the sentence:</a:t>
            </a:r>
            <a:endParaRPr sz="2000"/>
          </a:p>
        </p:txBody>
      </p:sp>
      <p:pic>
        <p:nvPicPr>
          <p:cNvPr id="925" name="Google Shape;92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8970" y="1919713"/>
            <a:ext cx="287953" cy="523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926" name="Google Shape;926;p76" title="three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8181" y="1919713"/>
            <a:ext cx="280076" cy="523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2}&quot;&gt;&lt;mfrac&gt;&lt;mn&gt;3&lt;/mn&gt;&lt;mn&gt;12&lt;/mn&gt;&lt;/mfrac&gt;&lt;/math&gt;" id="927" name="Google Shape;927;p76" title="3 over 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3513" y="1919713"/>
            <a:ext cx="287953" cy="52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272" y="1167564"/>
            <a:ext cx="287953" cy="523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929" name="Google Shape;929;p76" title="three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3238" y="1167585"/>
            <a:ext cx="280076" cy="523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2}&quot;&gt;&lt;mfrac&gt;&lt;mn&gt;3&lt;/mn&gt;&lt;mn&gt;12&lt;/mn&gt;&lt;/mfrac&gt;&lt;/math&gt;" id="930" name="Google Shape;930;p76" title="3 over 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96462" y="1167564"/>
            <a:ext cx="287953" cy="523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931" name="Google Shape;931;p76" title="three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8711" y="2922363"/>
            <a:ext cx="270111" cy="5049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2}&quot;&gt;&lt;mfrac&gt;&lt;mn&gt;3&lt;/mn&gt;&lt;mn&gt;12&lt;/mn&gt;&lt;/mfrac&gt;&lt;/math&gt;" id="932" name="Google Shape;932;p76" title="3 over 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2975" y="2930853"/>
            <a:ext cx="277708" cy="5049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933" name="Google Shape;933;p76" title="three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833" y="3543333"/>
            <a:ext cx="270111" cy="5049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934" name="Google Shape;934;p76" title="three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6676" y="4418030"/>
            <a:ext cx="270111" cy="5049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2}&quot;&gt;&lt;mfrac&gt;&lt;mn&gt;3&lt;/mn&gt;&lt;mn&gt;12&lt;/mn&gt;&lt;/mfrac&gt;&lt;/math&gt;" id="935" name="Google Shape;935;p76" title="3 over 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00740" y="4418017"/>
            <a:ext cx="277708" cy="504923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 fractions using a common numerator</a:t>
            </a:r>
            <a:endParaRPr/>
          </a:p>
        </p:txBody>
      </p:sp>
      <p:sp>
        <p:nvSpPr>
          <p:cNvPr id="937" name="Google Shape;937;p76"/>
          <p:cNvSpPr txBox="1"/>
          <p:nvPr>
            <p:ph idx="4294967295" type="body"/>
          </p:nvPr>
        </p:nvSpPr>
        <p:spPr>
          <a:xfrm>
            <a:off x="825225" y="1275850"/>
            <a:ext cx="270000" cy="5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is</a:t>
            </a:r>
            <a:endParaRPr sz="2000"/>
          </a:p>
        </p:txBody>
      </p:sp>
      <p:sp>
        <p:nvSpPr>
          <p:cNvPr id="938" name="Google Shape;938;p76"/>
          <p:cNvSpPr txBox="1"/>
          <p:nvPr>
            <p:ph idx="4294967295" type="body"/>
          </p:nvPr>
        </p:nvSpPr>
        <p:spPr>
          <a:xfrm>
            <a:off x="359950" y="2037850"/>
            <a:ext cx="513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 startAt="2"/>
            </a:pPr>
            <a:r>
              <a:rPr lang="en-GB" sz="2000"/>
              <a:t> </a:t>
            </a:r>
            <a:endParaRPr sz="2000"/>
          </a:p>
        </p:txBody>
      </p:sp>
      <p:sp>
        <p:nvSpPr>
          <p:cNvPr id="939" name="Google Shape;939;p76"/>
          <p:cNvSpPr txBox="1"/>
          <p:nvPr>
            <p:ph idx="4294967295" type="body"/>
          </p:nvPr>
        </p:nvSpPr>
        <p:spPr>
          <a:xfrm>
            <a:off x="359950" y="2495050"/>
            <a:ext cx="81675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Is he correct?</a:t>
            </a:r>
            <a:endParaRPr sz="2000"/>
          </a:p>
        </p:txBody>
      </p:sp>
      <p:sp>
        <p:nvSpPr>
          <p:cNvPr id="940" name="Google Shape;940;p76"/>
          <p:cNvSpPr txBox="1"/>
          <p:nvPr>
            <p:ph idx="4294967295" type="body"/>
          </p:nvPr>
        </p:nvSpPr>
        <p:spPr>
          <a:xfrm>
            <a:off x="359950" y="3028450"/>
            <a:ext cx="545700" cy="5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 startAt="3"/>
            </a:pPr>
            <a:r>
              <a:rPr lang="en-GB" sz="2000"/>
              <a:t> </a:t>
            </a:r>
            <a:endParaRPr sz="2000"/>
          </a:p>
        </p:txBody>
      </p:sp>
      <p:sp>
        <p:nvSpPr>
          <p:cNvPr id="941" name="Google Shape;941;p76"/>
          <p:cNvSpPr txBox="1"/>
          <p:nvPr>
            <p:ph idx="4294967295" type="body"/>
          </p:nvPr>
        </p:nvSpPr>
        <p:spPr>
          <a:xfrm>
            <a:off x="359950" y="4095250"/>
            <a:ext cx="5414400" cy="5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 startAt="5"/>
            </a:pPr>
            <a:r>
              <a:rPr lang="en-GB" sz="2000"/>
              <a:t>Find the fraction that is exactly halfway</a:t>
            </a:r>
            <a:endParaRPr sz="2000"/>
          </a:p>
        </p:txBody>
      </p:sp>
      <p:sp>
        <p:nvSpPr>
          <p:cNvPr id="942" name="Google Shape;942;p76"/>
          <p:cNvSpPr txBox="1"/>
          <p:nvPr>
            <p:ph idx="4294967295" type="body"/>
          </p:nvPr>
        </p:nvSpPr>
        <p:spPr>
          <a:xfrm>
            <a:off x="1083650" y="1275850"/>
            <a:ext cx="1447800" cy="5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/>
              <a:t>____</a:t>
            </a:r>
            <a:endParaRPr sz="2000"/>
          </a:p>
        </p:txBody>
      </p:sp>
      <p:sp>
        <p:nvSpPr>
          <p:cNvPr id="943" name="Google Shape;943;p76"/>
          <p:cNvSpPr txBox="1"/>
          <p:nvPr>
            <p:ph idx="4294967295" type="body"/>
          </p:nvPr>
        </p:nvSpPr>
        <p:spPr>
          <a:xfrm>
            <a:off x="2855750" y="1275850"/>
            <a:ext cx="513900" cy="5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but</a:t>
            </a:r>
            <a:endParaRPr sz="2000"/>
          </a:p>
        </p:txBody>
      </p:sp>
      <p:sp>
        <p:nvSpPr>
          <p:cNvPr id="944" name="Google Shape;944;p76"/>
          <p:cNvSpPr txBox="1"/>
          <p:nvPr>
            <p:ph idx="4294967295" type="body"/>
          </p:nvPr>
        </p:nvSpPr>
        <p:spPr>
          <a:xfrm>
            <a:off x="3313525" y="1275850"/>
            <a:ext cx="1447800" cy="5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/>
              <a:t>____</a:t>
            </a:r>
            <a:endParaRPr sz="2000"/>
          </a:p>
        </p:txBody>
      </p:sp>
      <p:sp>
        <p:nvSpPr>
          <p:cNvPr id="945" name="Google Shape;945;p76"/>
          <p:cNvSpPr txBox="1"/>
          <p:nvPr>
            <p:ph idx="4294967295" type="body"/>
          </p:nvPr>
        </p:nvSpPr>
        <p:spPr>
          <a:xfrm>
            <a:off x="5130175" y="1275850"/>
            <a:ext cx="4311600" cy="5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.</a:t>
            </a:r>
            <a:endParaRPr sz="2000"/>
          </a:p>
        </p:txBody>
      </p:sp>
      <p:sp>
        <p:nvSpPr>
          <p:cNvPr id="946" name="Google Shape;946;p76"/>
          <p:cNvSpPr txBox="1"/>
          <p:nvPr>
            <p:ph idx="4294967295" type="body"/>
          </p:nvPr>
        </p:nvSpPr>
        <p:spPr>
          <a:xfrm>
            <a:off x="1829400" y="1275850"/>
            <a:ext cx="854400" cy="5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than</a:t>
            </a:r>
            <a:endParaRPr sz="2000"/>
          </a:p>
        </p:txBody>
      </p:sp>
      <p:sp>
        <p:nvSpPr>
          <p:cNvPr id="947" name="Google Shape;947;p76"/>
          <p:cNvSpPr txBox="1"/>
          <p:nvPr>
            <p:ph idx="4294967295" type="body"/>
          </p:nvPr>
        </p:nvSpPr>
        <p:spPr>
          <a:xfrm>
            <a:off x="4098813" y="1275850"/>
            <a:ext cx="674400" cy="5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than</a:t>
            </a:r>
            <a:endParaRPr sz="2000"/>
          </a:p>
        </p:txBody>
      </p:sp>
      <p:sp>
        <p:nvSpPr>
          <p:cNvPr id="948" name="Google Shape;948;p76"/>
          <p:cNvSpPr txBox="1"/>
          <p:nvPr>
            <p:ph idx="4294967295" type="body"/>
          </p:nvPr>
        </p:nvSpPr>
        <p:spPr>
          <a:xfrm>
            <a:off x="825225" y="2037850"/>
            <a:ext cx="14478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Jacob says</a:t>
            </a:r>
            <a:endParaRPr sz="2000"/>
          </a:p>
        </p:txBody>
      </p:sp>
      <p:sp>
        <p:nvSpPr>
          <p:cNvPr id="949" name="Google Shape;949;p76"/>
          <p:cNvSpPr txBox="1"/>
          <p:nvPr>
            <p:ph idx="4294967295" type="body"/>
          </p:nvPr>
        </p:nvSpPr>
        <p:spPr>
          <a:xfrm>
            <a:off x="2683800" y="2037850"/>
            <a:ext cx="12837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is</a:t>
            </a:r>
            <a:endParaRPr sz="2000"/>
          </a:p>
        </p:txBody>
      </p:sp>
      <p:sp>
        <p:nvSpPr>
          <p:cNvPr id="950" name="Google Shape;950;p76"/>
          <p:cNvSpPr txBox="1"/>
          <p:nvPr>
            <p:ph idx="4294967295" type="body"/>
          </p:nvPr>
        </p:nvSpPr>
        <p:spPr>
          <a:xfrm>
            <a:off x="3926375" y="2037850"/>
            <a:ext cx="12003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halfway</a:t>
            </a:r>
            <a:endParaRPr sz="2000"/>
          </a:p>
        </p:txBody>
      </p:sp>
      <p:sp>
        <p:nvSpPr>
          <p:cNvPr id="951" name="Google Shape;951;p76"/>
          <p:cNvSpPr txBox="1"/>
          <p:nvPr>
            <p:ph idx="4294967295" type="body"/>
          </p:nvPr>
        </p:nvSpPr>
        <p:spPr>
          <a:xfrm>
            <a:off x="4945475" y="2037850"/>
            <a:ext cx="12003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between</a:t>
            </a:r>
            <a:endParaRPr sz="2000"/>
          </a:p>
        </p:txBody>
      </p:sp>
      <p:sp>
        <p:nvSpPr>
          <p:cNvPr id="952" name="Google Shape;952;p76"/>
          <p:cNvSpPr txBox="1"/>
          <p:nvPr>
            <p:ph idx="4294967295" type="body"/>
          </p:nvPr>
        </p:nvSpPr>
        <p:spPr>
          <a:xfrm>
            <a:off x="6501700" y="2037850"/>
            <a:ext cx="5745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and</a:t>
            </a:r>
            <a:endParaRPr sz="2000"/>
          </a:p>
        </p:txBody>
      </p:sp>
      <p:sp>
        <p:nvSpPr>
          <p:cNvPr id="953" name="Google Shape;953;p76"/>
          <p:cNvSpPr txBox="1"/>
          <p:nvPr>
            <p:ph idx="4294967295" type="body"/>
          </p:nvPr>
        </p:nvSpPr>
        <p:spPr>
          <a:xfrm>
            <a:off x="7506400" y="2037850"/>
            <a:ext cx="1815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.’</a:t>
            </a:r>
            <a:endParaRPr sz="2000"/>
          </a:p>
        </p:txBody>
      </p:sp>
      <p:sp>
        <p:nvSpPr>
          <p:cNvPr id="954" name="Google Shape;954;p76"/>
          <p:cNvSpPr txBox="1"/>
          <p:nvPr>
            <p:ph idx="4294967295" type="body"/>
          </p:nvPr>
        </p:nvSpPr>
        <p:spPr>
          <a:xfrm>
            <a:off x="825125" y="3028450"/>
            <a:ext cx="7854600" cy="5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Find</a:t>
            </a:r>
            <a:endParaRPr sz="2000"/>
          </a:p>
        </p:txBody>
      </p:sp>
      <p:sp>
        <p:nvSpPr>
          <p:cNvPr id="955" name="Google Shape;955;p76"/>
          <p:cNvSpPr txBox="1"/>
          <p:nvPr>
            <p:ph idx="4294967295" type="body"/>
          </p:nvPr>
        </p:nvSpPr>
        <p:spPr>
          <a:xfrm>
            <a:off x="1424875" y="3028450"/>
            <a:ext cx="7407300" cy="5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another</a:t>
            </a:r>
            <a:endParaRPr sz="2000"/>
          </a:p>
        </p:txBody>
      </p:sp>
      <p:sp>
        <p:nvSpPr>
          <p:cNvPr id="956" name="Google Shape;956;p76"/>
          <p:cNvSpPr txBox="1"/>
          <p:nvPr>
            <p:ph idx="4294967295" type="body"/>
          </p:nvPr>
        </p:nvSpPr>
        <p:spPr>
          <a:xfrm>
            <a:off x="2465850" y="3028450"/>
            <a:ext cx="6518700" cy="5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fraction</a:t>
            </a:r>
            <a:endParaRPr sz="2000"/>
          </a:p>
        </p:txBody>
      </p:sp>
      <p:sp>
        <p:nvSpPr>
          <p:cNvPr id="957" name="Google Shape;957;p76"/>
          <p:cNvSpPr txBox="1"/>
          <p:nvPr>
            <p:ph idx="4294967295" type="body"/>
          </p:nvPr>
        </p:nvSpPr>
        <p:spPr>
          <a:xfrm>
            <a:off x="3517250" y="3028450"/>
            <a:ext cx="1256100" cy="5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between</a:t>
            </a:r>
            <a:endParaRPr sz="2000"/>
          </a:p>
        </p:txBody>
      </p:sp>
      <p:sp>
        <p:nvSpPr>
          <p:cNvPr id="958" name="Google Shape;958;p76"/>
          <p:cNvSpPr txBox="1"/>
          <p:nvPr>
            <p:ph idx="4294967295" type="body"/>
          </p:nvPr>
        </p:nvSpPr>
        <p:spPr>
          <a:xfrm>
            <a:off x="5056350" y="3028450"/>
            <a:ext cx="674400" cy="5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and</a:t>
            </a:r>
            <a:endParaRPr sz="2000"/>
          </a:p>
        </p:txBody>
      </p:sp>
      <p:sp>
        <p:nvSpPr>
          <p:cNvPr id="959" name="Google Shape;959;p76"/>
          <p:cNvSpPr txBox="1"/>
          <p:nvPr>
            <p:ph idx="4294967295" type="body"/>
          </p:nvPr>
        </p:nvSpPr>
        <p:spPr>
          <a:xfrm>
            <a:off x="6056250" y="3028450"/>
            <a:ext cx="270000" cy="5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.</a:t>
            </a:r>
            <a:endParaRPr sz="2000"/>
          </a:p>
        </p:txBody>
      </p:sp>
      <p:sp>
        <p:nvSpPr>
          <p:cNvPr id="960" name="Google Shape;960;p76"/>
          <p:cNvSpPr txBox="1"/>
          <p:nvPr>
            <p:ph idx="4294967295" type="body"/>
          </p:nvPr>
        </p:nvSpPr>
        <p:spPr>
          <a:xfrm>
            <a:off x="4980150" y="3638050"/>
            <a:ext cx="4842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.</a:t>
            </a:r>
            <a:endParaRPr sz="2000"/>
          </a:p>
        </p:txBody>
      </p:sp>
      <p:sp>
        <p:nvSpPr>
          <p:cNvPr id="961" name="Google Shape;961;p76"/>
          <p:cNvSpPr txBox="1"/>
          <p:nvPr>
            <p:ph idx="4294967295" type="body"/>
          </p:nvPr>
        </p:nvSpPr>
        <p:spPr>
          <a:xfrm>
            <a:off x="3287800" y="4476250"/>
            <a:ext cx="1110900" cy="5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.</a:t>
            </a:r>
            <a:endParaRPr sz="2000"/>
          </a:p>
        </p:txBody>
      </p:sp>
      <p:sp>
        <p:nvSpPr>
          <p:cNvPr id="962" name="Google Shape;962;p76"/>
          <p:cNvSpPr txBox="1"/>
          <p:nvPr>
            <p:ph idx="4294967295" type="body"/>
          </p:nvPr>
        </p:nvSpPr>
        <p:spPr>
          <a:xfrm>
            <a:off x="2248600" y="1961650"/>
            <a:ext cx="1815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‘</a:t>
            </a:r>
            <a:endParaRPr sz="2000"/>
          </a:p>
        </p:txBody>
      </p:sp>
      <p:sp>
        <p:nvSpPr>
          <p:cNvPr id="963" name="Google Shape;963;p76"/>
          <p:cNvSpPr txBox="1"/>
          <p:nvPr>
            <p:ph idx="4294967295" type="body"/>
          </p:nvPr>
        </p:nvSpPr>
        <p:spPr>
          <a:xfrm>
            <a:off x="2984425" y="2037850"/>
            <a:ext cx="11355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exactly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77"/>
          <p:cNvSpPr txBox="1"/>
          <p:nvPr>
            <p:ph idx="1" type="body"/>
          </p:nvPr>
        </p:nvSpPr>
        <p:spPr>
          <a:xfrm>
            <a:off x="324000" y="684891"/>
            <a:ext cx="82377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Insert either &lt; or &gt; to make the statement true.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8}{15}\ &amp;gt;\ \frac{8}{19}&quot;&gt;&lt;mfrac&gt;&lt;mn&gt;8&lt;/mn&gt;&lt;mn&gt;15&lt;/mn&gt;&lt;/mfrac&gt;&lt;mtext&gt;&lt;/mtext&gt;&lt;mo&gt;&amp;gt;&lt;/mo&gt;&lt;mtext&gt;&lt;/mtext&gt;&lt;mfrac&gt;&lt;mn&gt;8&lt;/mn&gt;&lt;mn&gt;19&lt;/mn&gt;&lt;/mfrac&gt;&lt;/math&gt;" id="969" name="Google Shape;969;p77" title="8 over 15 is greater than 8 over 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401" y="2383526"/>
            <a:ext cx="1111478" cy="5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1}\ &amp;lt;\ \frac{7}{9}&quot;&gt;&lt;mfrac&gt;&lt;mn&gt;7&lt;/mn&gt;&lt;mn&gt;11&lt;/mn&gt;&lt;/mfrac&gt;&lt;mtext&gt;&lt;/mtext&gt;&lt;mo&gt;&amp;lt;&lt;/mo&gt;&lt;mtext&gt;&lt;/mtext&gt;&lt;mfrac&gt;&lt;mn&gt;7&lt;/mn&gt;&lt;mn&gt;9&lt;/mn&gt;&lt;/mfrac&gt;&lt;/math&gt;" id="970" name="Google Shape;970;p77" title="7 over 11 is less than seven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2227" y="1171579"/>
            <a:ext cx="1023057" cy="5660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315}\ &amp;lt;\ \frac{11}{311}&quot;&gt;&lt;mfrac&gt;&lt;mn&gt;11&lt;/mn&gt;&lt;mn&gt;315&lt;/mn&gt;&lt;/mfrac&gt;&lt;mtext&gt;&lt;/mtext&gt;&lt;mo&gt;&amp;lt;&lt;/mo&gt;&lt;mtext&gt;&lt;/mtext&gt;&lt;mfrac&gt;&lt;mn&gt;11&lt;/mn&gt;&lt;mn&gt;311&lt;/mn&gt;&lt;/mfrac&gt;&lt;/math&gt;" id="971" name="Google Shape;971;p77" title="11 over 315 is less than 11 over 3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2225" y="2495467"/>
            <a:ext cx="1421350" cy="566025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 fractions using a common numerator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13}{21}\ &amp;lt;\ \frac{13}{15}\\&amp;#13;&amp;#10;\end{array}&quot;&gt;&lt;mtable columnalign=&quot;left&quot; columnspacing=&quot;1em&quot; rowspacing=&quot;4pt&quot;&gt;&lt;mtr&gt;&lt;mtd&gt;&lt;mfrac&gt;&lt;mn&gt;13&lt;/mn&gt;&lt;mn&gt;21&lt;/mn&gt;&lt;/mfrac&gt;&lt;mtext&gt;&lt;/mtext&gt;&lt;mo&gt;&amp;lt;&lt;/mo&gt;&lt;mtext&gt;&lt;/mtext&gt;&lt;mfrac&gt;&lt;mn&gt;13&lt;/mn&gt;&lt;mn&gt;15&lt;/mn&gt;&lt;/mfrac&gt;&lt;/mtd&gt;&lt;/mtr&gt;&lt;/mtable&gt;&lt;/math&gt;" id="973" name="Google Shape;973;p77" title="1 lines Line 1: 13 over 21 is less than 13 over 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3496" y="1153440"/>
            <a:ext cx="1325895" cy="507354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77"/>
          <p:cNvSpPr txBox="1"/>
          <p:nvPr/>
        </p:nvSpPr>
        <p:spPr>
          <a:xfrm>
            <a:off x="4826025" y="1138220"/>
            <a:ext cx="32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77"/>
          <p:cNvSpPr txBox="1"/>
          <p:nvPr/>
        </p:nvSpPr>
        <p:spPr>
          <a:xfrm>
            <a:off x="4826025" y="2446824"/>
            <a:ext cx="32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77"/>
          <p:cNvSpPr/>
          <p:nvPr/>
        </p:nvSpPr>
        <p:spPr>
          <a:xfrm>
            <a:off x="1304400" y="1169127"/>
            <a:ext cx="397500" cy="4053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77"/>
          <p:cNvSpPr/>
          <p:nvPr/>
        </p:nvSpPr>
        <p:spPr>
          <a:xfrm>
            <a:off x="1149846" y="2470971"/>
            <a:ext cx="397500" cy="4053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77"/>
          <p:cNvSpPr/>
          <p:nvPr/>
        </p:nvSpPr>
        <p:spPr>
          <a:xfrm>
            <a:off x="5711125" y="1267539"/>
            <a:ext cx="397500" cy="4053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77"/>
          <p:cNvSpPr/>
          <p:nvPr/>
        </p:nvSpPr>
        <p:spPr>
          <a:xfrm>
            <a:off x="5814161" y="2582862"/>
            <a:ext cx="397500" cy="4053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77"/>
          <p:cNvSpPr txBox="1"/>
          <p:nvPr/>
        </p:nvSpPr>
        <p:spPr>
          <a:xfrm>
            <a:off x="324000" y="2481481"/>
            <a:ext cx="32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77"/>
          <p:cNvSpPr txBox="1"/>
          <p:nvPr/>
        </p:nvSpPr>
        <p:spPr>
          <a:xfrm>
            <a:off x="324000" y="3613015"/>
            <a:ext cx="8496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 Place the words ‘larger’ and ‘smaller’ in the sentence: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 </a:t>
            </a:r>
            <a:r>
              <a:rPr lang="en-GB" sz="23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larger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denominator the  </a:t>
            </a:r>
            <a:r>
              <a:rPr lang="en-GB" sz="23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smaller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the ‘parts’.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77"/>
          <p:cNvSpPr txBox="1"/>
          <p:nvPr/>
        </p:nvSpPr>
        <p:spPr>
          <a:xfrm>
            <a:off x="324000" y="1121366"/>
            <a:ext cx="32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 fractions using a common numerator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0}{35},\ \frac{10}{21},\ \frac{10}{18},\ \frac{10}{15}&quot;&gt;&lt;mfrac&gt;&lt;mn&gt;10&lt;/mn&gt;&lt;mn&gt;35&lt;/mn&gt;&lt;/mfrac&gt;&lt;mo&gt;,&lt;/mo&gt;&lt;mtext&gt;&lt;/mtext&gt;&lt;mfrac&gt;&lt;mn&gt;10&lt;/mn&gt;&lt;mn&gt;21&lt;/mn&gt;&lt;/mfrac&gt;&lt;mo&gt;,&lt;/mo&gt;&lt;mtext&gt;&lt;/mtext&gt;&lt;mfrac&gt;&lt;mn&gt;10&lt;/mn&gt;&lt;mn&gt;18&lt;/mn&gt;&lt;/mfrac&gt;&lt;mo&gt;,&lt;/mo&gt;&lt;mtext&gt;&lt;/mtext&gt;&lt;mfrac&gt;&lt;mn&gt;10&lt;/mn&gt;&lt;mn&gt;15&lt;/mn&gt;&lt;/mfrac&gt;&lt;/math&gt;" id="988" name="Google Shape;988;p78" title="10 over 35 comma 10 over 21 comma 10 over 18 comma 10 over 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497" y="1437200"/>
            <a:ext cx="1880597" cy="543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34}{518},\ \frac{234}{512},\ \frac{234}{511},\ \frac{234}{500}&quot;&gt;&lt;mfrac&gt;&lt;mn&gt;234&lt;/mn&gt;&lt;mn&gt;518&lt;/mn&gt;&lt;/mfrac&gt;&lt;mo&gt;,&lt;/mo&gt;&lt;mtext&gt;&lt;/mtext&gt;&lt;mfrac&gt;&lt;mn&gt;234&lt;/mn&gt;&lt;mn&gt;512&lt;/mn&gt;&lt;/mfrac&gt;&lt;mo&gt;,&lt;/mo&gt;&lt;mtext&gt;&lt;/mtext&gt;&lt;mfrac&gt;&lt;mn&gt;234&lt;/mn&gt;&lt;mn&gt;511&lt;/mn&gt;&lt;/mfrac&gt;&lt;mo&gt;,&lt;/mo&gt;&lt;mtext&gt;&lt;/mtext&gt;&lt;mfrac&gt;&lt;mn&gt;234&lt;/mn&gt;&lt;mn&gt;500&lt;/mn&gt;&lt;/mfrac&gt;&lt;/math&gt;" id="989" name="Google Shape;989;p78" title="234 over 518 comma 234 over 512 comma 234 over 511 comma 234 over 5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050" y="2495592"/>
            <a:ext cx="2420212" cy="547667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78"/>
          <p:cNvSpPr txBox="1"/>
          <p:nvPr/>
        </p:nvSpPr>
        <p:spPr>
          <a:xfrm>
            <a:off x="324000" y="809991"/>
            <a:ext cx="84960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Write the following in order from smallest to largest.</a:t>
            </a:r>
            <a:b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b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 fractions using a common numerator</a:t>
            </a:r>
            <a:endParaRPr/>
          </a:p>
        </p:txBody>
      </p:sp>
      <p:sp>
        <p:nvSpPr>
          <p:cNvPr id="996" name="Google Shape;996;p79"/>
          <p:cNvSpPr txBox="1"/>
          <p:nvPr>
            <p:ph idx="4294967295" type="body"/>
          </p:nvPr>
        </p:nvSpPr>
        <p:spPr>
          <a:xfrm>
            <a:off x="359950" y="742451"/>
            <a:ext cx="81675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3a) Place the words ‘larger’ and ‘smaller’ in the sentence:</a:t>
            </a:r>
            <a:endParaRPr sz="2000"/>
          </a:p>
        </p:txBody>
      </p:sp>
      <p:pic>
        <p:nvPicPr>
          <p:cNvPr id="997" name="Google Shape;997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272" y="1167564"/>
            <a:ext cx="287953" cy="523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998" name="Google Shape;998;p79" title="three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9438" y="1167585"/>
            <a:ext cx="280076" cy="523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2}&quot;&gt;&lt;mfrac&gt;&lt;mn&gt;3&lt;/mn&gt;&lt;mn&gt;12&lt;/mn&gt;&lt;/mfrac&gt;&lt;/math&gt;" id="999" name="Google Shape;999;p79" title="3 over 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96462" y="1167564"/>
            <a:ext cx="287953" cy="523549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79"/>
          <p:cNvSpPr txBox="1"/>
          <p:nvPr>
            <p:ph idx="4294967295" type="body"/>
          </p:nvPr>
        </p:nvSpPr>
        <p:spPr>
          <a:xfrm>
            <a:off x="825225" y="1275850"/>
            <a:ext cx="270000" cy="5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is</a:t>
            </a:r>
            <a:endParaRPr sz="2000"/>
          </a:p>
        </p:txBody>
      </p:sp>
      <p:sp>
        <p:nvSpPr>
          <p:cNvPr id="1001" name="Google Shape;1001;p79"/>
          <p:cNvSpPr txBox="1"/>
          <p:nvPr>
            <p:ph idx="4294967295" type="body"/>
          </p:nvPr>
        </p:nvSpPr>
        <p:spPr>
          <a:xfrm>
            <a:off x="1150050" y="1275850"/>
            <a:ext cx="1381500" cy="5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larger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2" name="Google Shape;1002;p79"/>
          <p:cNvSpPr txBox="1"/>
          <p:nvPr>
            <p:ph idx="4294967295" type="body"/>
          </p:nvPr>
        </p:nvSpPr>
        <p:spPr>
          <a:xfrm>
            <a:off x="2855750" y="1275850"/>
            <a:ext cx="513900" cy="5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but</a:t>
            </a:r>
            <a:endParaRPr sz="2000"/>
          </a:p>
        </p:txBody>
      </p:sp>
      <p:sp>
        <p:nvSpPr>
          <p:cNvPr id="1003" name="Google Shape;1003;p79"/>
          <p:cNvSpPr txBox="1"/>
          <p:nvPr>
            <p:ph idx="4294967295" type="body"/>
          </p:nvPr>
        </p:nvSpPr>
        <p:spPr>
          <a:xfrm>
            <a:off x="3313525" y="1275850"/>
            <a:ext cx="1447800" cy="5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smaller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4" name="Google Shape;1004;p79"/>
          <p:cNvSpPr txBox="1"/>
          <p:nvPr>
            <p:ph idx="4294967295" type="body"/>
          </p:nvPr>
        </p:nvSpPr>
        <p:spPr>
          <a:xfrm>
            <a:off x="5206375" y="1275850"/>
            <a:ext cx="4311600" cy="5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.</a:t>
            </a:r>
            <a:endParaRPr sz="2000"/>
          </a:p>
        </p:txBody>
      </p:sp>
      <p:sp>
        <p:nvSpPr>
          <p:cNvPr id="1005" name="Google Shape;1005;p79"/>
          <p:cNvSpPr txBox="1"/>
          <p:nvPr>
            <p:ph idx="4294967295" type="body"/>
          </p:nvPr>
        </p:nvSpPr>
        <p:spPr>
          <a:xfrm>
            <a:off x="1829400" y="1275850"/>
            <a:ext cx="854400" cy="5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than</a:t>
            </a:r>
            <a:endParaRPr sz="2000"/>
          </a:p>
        </p:txBody>
      </p:sp>
      <p:sp>
        <p:nvSpPr>
          <p:cNvPr id="1006" name="Google Shape;1006;p79"/>
          <p:cNvSpPr txBox="1"/>
          <p:nvPr>
            <p:ph idx="4294967295" type="body"/>
          </p:nvPr>
        </p:nvSpPr>
        <p:spPr>
          <a:xfrm>
            <a:off x="4175013" y="1275850"/>
            <a:ext cx="674400" cy="5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than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3}{12}&quot;&gt;&lt;mfrac&gt;&lt;mn&gt;3&lt;/mn&gt;&lt;mn&gt;12&lt;/mn&gt;&lt;/mfrac&gt;&lt;/math&gt;" id="1007" name="Google Shape;1007;p79" title="3 over 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50788" y="3565688"/>
            <a:ext cx="287953" cy="523549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79"/>
          <p:cNvSpPr txBox="1"/>
          <p:nvPr/>
        </p:nvSpPr>
        <p:spPr>
          <a:xfrm>
            <a:off x="730225" y="3492500"/>
            <a:ext cx="4813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Jacob is not correct, it is closer to</a:t>
            </a:r>
            <a:endParaRPr/>
          </a:p>
        </p:txBody>
      </p:sp>
      <p:pic>
        <p:nvPicPr>
          <p:cNvPr id="1009" name="Google Shape;1009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8970" y="2453113"/>
            <a:ext cx="287953" cy="523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010" name="Google Shape;1010;p79" title="three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8181" y="2453113"/>
            <a:ext cx="280076" cy="523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2}&quot;&gt;&lt;mfrac&gt;&lt;mn&gt;3&lt;/mn&gt;&lt;mn&gt;12&lt;/mn&gt;&lt;/mfrac&gt;&lt;/math&gt;" id="1011" name="Google Shape;1011;p79" title="3 over 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3513" y="2453113"/>
            <a:ext cx="287953" cy="523549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79"/>
          <p:cNvSpPr txBox="1"/>
          <p:nvPr>
            <p:ph idx="4294967295" type="body"/>
          </p:nvPr>
        </p:nvSpPr>
        <p:spPr>
          <a:xfrm>
            <a:off x="359950" y="2571250"/>
            <a:ext cx="513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 startAt="2"/>
            </a:pPr>
            <a:r>
              <a:rPr lang="en-GB" sz="2000"/>
              <a:t> </a:t>
            </a:r>
            <a:endParaRPr sz="2000"/>
          </a:p>
        </p:txBody>
      </p:sp>
      <p:sp>
        <p:nvSpPr>
          <p:cNvPr id="1013" name="Google Shape;1013;p79"/>
          <p:cNvSpPr txBox="1"/>
          <p:nvPr>
            <p:ph idx="4294967295" type="body"/>
          </p:nvPr>
        </p:nvSpPr>
        <p:spPr>
          <a:xfrm>
            <a:off x="359950" y="3028450"/>
            <a:ext cx="81675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Is he correct?</a:t>
            </a:r>
            <a:endParaRPr sz="2000"/>
          </a:p>
        </p:txBody>
      </p:sp>
      <p:sp>
        <p:nvSpPr>
          <p:cNvPr id="1014" name="Google Shape;1014;p79"/>
          <p:cNvSpPr txBox="1"/>
          <p:nvPr>
            <p:ph idx="4294967295" type="body"/>
          </p:nvPr>
        </p:nvSpPr>
        <p:spPr>
          <a:xfrm>
            <a:off x="825225" y="2571250"/>
            <a:ext cx="14478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Jacob says</a:t>
            </a:r>
            <a:endParaRPr sz="2000"/>
          </a:p>
        </p:txBody>
      </p:sp>
      <p:sp>
        <p:nvSpPr>
          <p:cNvPr id="1015" name="Google Shape;1015;p79"/>
          <p:cNvSpPr txBox="1"/>
          <p:nvPr>
            <p:ph idx="4294967295" type="body"/>
          </p:nvPr>
        </p:nvSpPr>
        <p:spPr>
          <a:xfrm>
            <a:off x="2683800" y="2571250"/>
            <a:ext cx="12837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is</a:t>
            </a:r>
            <a:endParaRPr sz="2000"/>
          </a:p>
        </p:txBody>
      </p:sp>
      <p:sp>
        <p:nvSpPr>
          <p:cNvPr id="1016" name="Google Shape;1016;p79"/>
          <p:cNvSpPr txBox="1"/>
          <p:nvPr>
            <p:ph idx="4294967295" type="body"/>
          </p:nvPr>
        </p:nvSpPr>
        <p:spPr>
          <a:xfrm>
            <a:off x="3926375" y="2571250"/>
            <a:ext cx="12003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halfway</a:t>
            </a:r>
            <a:endParaRPr sz="2000"/>
          </a:p>
        </p:txBody>
      </p:sp>
      <p:sp>
        <p:nvSpPr>
          <p:cNvPr id="1017" name="Google Shape;1017;p79"/>
          <p:cNvSpPr txBox="1"/>
          <p:nvPr>
            <p:ph idx="4294967295" type="body"/>
          </p:nvPr>
        </p:nvSpPr>
        <p:spPr>
          <a:xfrm>
            <a:off x="4945475" y="2571250"/>
            <a:ext cx="12003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between</a:t>
            </a:r>
            <a:endParaRPr sz="2000"/>
          </a:p>
        </p:txBody>
      </p:sp>
      <p:sp>
        <p:nvSpPr>
          <p:cNvPr id="1018" name="Google Shape;1018;p79"/>
          <p:cNvSpPr txBox="1"/>
          <p:nvPr>
            <p:ph idx="4294967295" type="body"/>
          </p:nvPr>
        </p:nvSpPr>
        <p:spPr>
          <a:xfrm>
            <a:off x="6501700" y="2571250"/>
            <a:ext cx="5745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and</a:t>
            </a:r>
            <a:endParaRPr sz="2000"/>
          </a:p>
        </p:txBody>
      </p:sp>
      <p:sp>
        <p:nvSpPr>
          <p:cNvPr id="1019" name="Google Shape;1019;p79"/>
          <p:cNvSpPr txBox="1"/>
          <p:nvPr>
            <p:ph idx="4294967295" type="body"/>
          </p:nvPr>
        </p:nvSpPr>
        <p:spPr>
          <a:xfrm>
            <a:off x="7506400" y="2571250"/>
            <a:ext cx="1815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.’</a:t>
            </a:r>
            <a:endParaRPr sz="2000"/>
          </a:p>
        </p:txBody>
      </p:sp>
      <p:sp>
        <p:nvSpPr>
          <p:cNvPr id="1020" name="Google Shape;1020;p79"/>
          <p:cNvSpPr txBox="1"/>
          <p:nvPr>
            <p:ph idx="4294967295" type="body"/>
          </p:nvPr>
        </p:nvSpPr>
        <p:spPr>
          <a:xfrm>
            <a:off x="2248600" y="2495050"/>
            <a:ext cx="1815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‘</a:t>
            </a:r>
            <a:endParaRPr sz="2000"/>
          </a:p>
        </p:txBody>
      </p:sp>
      <p:sp>
        <p:nvSpPr>
          <p:cNvPr id="1021" name="Google Shape;1021;p79"/>
          <p:cNvSpPr txBox="1"/>
          <p:nvPr>
            <p:ph idx="4294967295" type="body"/>
          </p:nvPr>
        </p:nvSpPr>
        <p:spPr>
          <a:xfrm>
            <a:off x="2984425" y="2571250"/>
            <a:ext cx="11355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exactly</a:t>
            </a: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 fractions using a common numerator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6}{23},\ \frac{9}{35}...&quot;&gt;&lt;mfrac&gt;&lt;mn&gt;6&lt;/mn&gt;&lt;mn&gt;23&lt;/mn&gt;&lt;/mfrac&gt;&lt;mo&gt;,&lt;/mo&gt;&lt;mtext&gt;&lt;/mtext&gt;&lt;mfrac&gt;&lt;mn&gt;9&lt;/mn&gt;&lt;mn&gt;35&lt;/mn&gt;&lt;/mfrac&gt;&lt;mo&gt;.&lt;/mo&gt;&lt;mo&gt;.&lt;/mo&gt;&lt;mo&gt;.&lt;/mo&gt;&lt;/math&gt;" id="1027" name="Google Shape;1027;p80" title="6 over 23 comma 9 over 35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3379" y="1247537"/>
            <a:ext cx="1086033" cy="525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4396" y="2312439"/>
            <a:ext cx="1147599" cy="5254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40}&quot;&gt;&lt;mfrac&gt;&lt;mn&gt;11&lt;/mn&gt;&lt;mn&gt;40&lt;/mn&gt;&lt;/mfrac&gt;&lt;/math&gt;" id="1029" name="Google Shape;1029;p80" title="11 over 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68000" y="4066317"/>
            <a:ext cx="283543" cy="525483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80"/>
          <p:cNvSpPr txBox="1"/>
          <p:nvPr/>
        </p:nvSpPr>
        <p:spPr>
          <a:xfrm>
            <a:off x="6919100" y="1340925"/>
            <a:ext cx="47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1" name="Google Shape;1031;p80"/>
          <p:cNvSpPr txBox="1"/>
          <p:nvPr/>
        </p:nvSpPr>
        <p:spPr>
          <a:xfrm>
            <a:off x="6026725" y="2405825"/>
            <a:ext cx="47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2" name="Google Shape;1032;p80"/>
          <p:cNvSpPr txBox="1"/>
          <p:nvPr>
            <p:ph idx="4294967295" type="body"/>
          </p:nvPr>
        </p:nvSpPr>
        <p:spPr>
          <a:xfrm>
            <a:off x="2612625" y="3638050"/>
            <a:ext cx="624000" cy="5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and</a:t>
            </a:r>
            <a:endParaRPr sz="2000"/>
          </a:p>
        </p:txBody>
      </p:sp>
      <p:sp>
        <p:nvSpPr>
          <p:cNvPr id="1033" name="Google Shape;1033;p80"/>
          <p:cNvSpPr txBox="1"/>
          <p:nvPr>
            <p:ph idx="4294967295" type="body"/>
          </p:nvPr>
        </p:nvSpPr>
        <p:spPr>
          <a:xfrm>
            <a:off x="1121950" y="3638050"/>
            <a:ext cx="1200300" cy="5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between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034" name="Google Shape;1034;p80" title="three t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31476" y="3579830"/>
            <a:ext cx="270111" cy="5049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2}&quot;&gt;&lt;mfrac&gt;&lt;mn&gt;3&lt;/mn&gt;&lt;mn&gt;12&lt;/mn&gt;&lt;/mfrac&gt;&lt;/math&gt;" id="1035" name="Google Shape;1035;p80" title="3 over 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05540" y="3579817"/>
            <a:ext cx="277708" cy="504923"/>
          </a:xfrm>
          <a:prstGeom prst="rect">
            <a:avLst/>
          </a:prstGeom>
          <a:noFill/>
          <a:ln>
            <a:noFill/>
          </a:ln>
        </p:spPr>
      </p:pic>
      <p:sp>
        <p:nvSpPr>
          <p:cNvPr id="1036" name="Google Shape;1036;p80"/>
          <p:cNvSpPr txBox="1"/>
          <p:nvPr>
            <p:ph idx="4294967295" type="body"/>
          </p:nvPr>
        </p:nvSpPr>
        <p:spPr>
          <a:xfrm>
            <a:off x="664750" y="3257050"/>
            <a:ext cx="5414400" cy="5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 startAt="5"/>
            </a:pPr>
            <a:r>
              <a:rPr lang="en-GB" sz="2000"/>
              <a:t>Find the fraction that is exactly halfway</a:t>
            </a:r>
            <a:endParaRPr sz="2000"/>
          </a:p>
        </p:txBody>
      </p:sp>
      <p:sp>
        <p:nvSpPr>
          <p:cNvPr id="1037" name="Google Shape;1037;p80"/>
          <p:cNvSpPr txBox="1"/>
          <p:nvPr>
            <p:ph idx="4294967295" type="body"/>
          </p:nvPr>
        </p:nvSpPr>
        <p:spPr>
          <a:xfrm>
            <a:off x="3592600" y="3638050"/>
            <a:ext cx="1110900" cy="5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.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038" name="Google Shape;1038;p80" title="three t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73511" y="1093563"/>
            <a:ext cx="270111" cy="5049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2}&quot;&gt;&lt;mfrac&gt;&lt;mn&gt;3&lt;/mn&gt;&lt;mn&gt;12&lt;/mn&gt;&lt;/mfrac&gt;&lt;/math&gt;" id="1039" name="Google Shape;1039;p80" title="3 over 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67775" y="1102053"/>
            <a:ext cx="277708" cy="504923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0"/>
          <p:cNvSpPr txBox="1"/>
          <p:nvPr>
            <p:ph idx="4294967295" type="body"/>
          </p:nvPr>
        </p:nvSpPr>
        <p:spPr>
          <a:xfrm>
            <a:off x="664750" y="1199650"/>
            <a:ext cx="545700" cy="5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 startAt="3"/>
            </a:pPr>
            <a:r>
              <a:rPr lang="en-GB" sz="2000"/>
              <a:t> </a:t>
            </a:r>
            <a:endParaRPr sz="2000"/>
          </a:p>
        </p:txBody>
      </p:sp>
      <p:sp>
        <p:nvSpPr>
          <p:cNvPr id="1041" name="Google Shape;1041;p80"/>
          <p:cNvSpPr txBox="1"/>
          <p:nvPr>
            <p:ph idx="4294967295" type="body"/>
          </p:nvPr>
        </p:nvSpPr>
        <p:spPr>
          <a:xfrm>
            <a:off x="1129925" y="1199650"/>
            <a:ext cx="7854600" cy="5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Find</a:t>
            </a:r>
            <a:endParaRPr sz="2000"/>
          </a:p>
        </p:txBody>
      </p:sp>
      <p:sp>
        <p:nvSpPr>
          <p:cNvPr id="1042" name="Google Shape;1042;p80"/>
          <p:cNvSpPr txBox="1"/>
          <p:nvPr>
            <p:ph idx="4294967295" type="body"/>
          </p:nvPr>
        </p:nvSpPr>
        <p:spPr>
          <a:xfrm>
            <a:off x="1729675" y="1199650"/>
            <a:ext cx="7407300" cy="5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another</a:t>
            </a:r>
            <a:endParaRPr sz="2000"/>
          </a:p>
        </p:txBody>
      </p:sp>
      <p:sp>
        <p:nvSpPr>
          <p:cNvPr id="1043" name="Google Shape;1043;p80"/>
          <p:cNvSpPr txBox="1"/>
          <p:nvPr>
            <p:ph idx="4294967295" type="body"/>
          </p:nvPr>
        </p:nvSpPr>
        <p:spPr>
          <a:xfrm>
            <a:off x="2770650" y="1199650"/>
            <a:ext cx="6518700" cy="5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fraction</a:t>
            </a:r>
            <a:endParaRPr sz="2000"/>
          </a:p>
        </p:txBody>
      </p:sp>
      <p:sp>
        <p:nvSpPr>
          <p:cNvPr id="1044" name="Google Shape;1044;p80"/>
          <p:cNvSpPr txBox="1"/>
          <p:nvPr>
            <p:ph idx="4294967295" type="body"/>
          </p:nvPr>
        </p:nvSpPr>
        <p:spPr>
          <a:xfrm>
            <a:off x="3822050" y="1199650"/>
            <a:ext cx="1256100" cy="5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between</a:t>
            </a:r>
            <a:endParaRPr sz="2000"/>
          </a:p>
        </p:txBody>
      </p:sp>
      <p:sp>
        <p:nvSpPr>
          <p:cNvPr id="1045" name="Google Shape;1045;p80"/>
          <p:cNvSpPr txBox="1"/>
          <p:nvPr>
            <p:ph idx="4294967295" type="body"/>
          </p:nvPr>
        </p:nvSpPr>
        <p:spPr>
          <a:xfrm>
            <a:off x="5361150" y="1199650"/>
            <a:ext cx="674400" cy="5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and</a:t>
            </a:r>
            <a:endParaRPr sz="2000"/>
          </a:p>
        </p:txBody>
      </p:sp>
      <p:sp>
        <p:nvSpPr>
          <p:cNvPr id="1046" name="Google Shape;1046;p80"/>
          <p:cNvSpPr txBox="1"/>
          <p:nvPr>
            <p:ph idx="4294967295" type="body"/>
          </p:nvPr>
        </p:nvSpPr>
        <p:spPr>
          <a:xfrm>
            <a:off x="6361050" y="1199650"/>
            <a:ext cx="270000" cy="57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.</a:t>
            </a:r>
            <a:endParaRPr sz="2000"/>
          </a:p>
        </p:txBody>
      </p:sp>
      <p:sp>
        <p:nvSpPr>
          <p:cNvPr id="1047" name="Google Shape;1047;p80"/>
          <p:cNvSpPr txBox="1"/>
          <p:nvPr>
            <p:ph idx="4294967295" type="body"/>
          </p:nvPr>
        </p:nvSpPr>
        <p:spPr>
          <a:xfrm>
            <a:off x="664750" y="2342650"/>
            <a:ext cx="29535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 startAt="4"/>
            </a:pPr>
            <a:r>
              <a:rPr lang="en-GB" sz="2000"/>
              <a:t> </a:t>
            </a:r>
            <a:endParaRPr sz="2000"/>
          </a:p>
        </p:txBody>
      </p:sp>
      <p:sp>
        <p:nvSpPr>
          <p:cNvPr id="1048" name="Google Shape;1048;p80"/>
          <p:cNvSpPr txBox="1"/>
          <p:nvPr>
            <p:ph idx="4294967295" type="body"/>
          </p:nvPr>
        </p:nvSpPr>
        <p:spPr>
          <a:xfrm>
            <a:off x="1130050" y="2342650"/>
            <a:ext cx="78546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Find</a:t>
            </a:r>
            <a:endParaRPr sz="2000"/>
          </a:p>
        </p:txBody>
      </p:sp>
      <p:sp>
        <p:nvSpPr>
          <p:cNvPr id="1049" name="Google Shape;1049;p80"/>
          <p:cNvSpPr txBox="1"/>
          <p:nvPr>
            <p:ph idx="4294967295" type="body"/>
          </p:nvPr>
        </p:nvSpPr>
        <p:spPr>
          <a:xfrm>
            <a:off x="1729750" y="2342650"/>
            <a:ext cx="74073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endParaRPr sz="2000"/>
          </a:p>
        </p:txBody>
      </p:sp>
      <p:sp>
        <p:nvSpPr>
          <p:cNvPr id="1050" name="Google Shape;1050;p80"/>
          <p:cNvSpPr txBox="1"/>
          <p:nvPr>
            <p:ph idx="4294967295" type="body"/>
          </p:nvPr>
        </p:nvSpPr>
        <p:spPr>
          <a:xfrm>
            <a:off x="1957000" y="2342650"/>
            <a:ext cx="73326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fraction</a:t>
            </a:r>
            <a:endParaRPr sz="2000"/>
          </a:p>
        </p:txBody>
      </p:sp>
      <p:sp>
        <p:nvSpPr>
          <p:cNvPr id="1051" name="Google Shape;1051;p80"/>
          <p:cNvSpPr txBox="1"/>
          <p:nvPr>
            <p:ph idx="4294967295" type="body"/>
          </p:nvPr>
        </p:nvSpPr>
        <p:spPr>
          <a:xfrm>
            <a:off x="2988600" y="2342650"/>
            <a:ext cx="64533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that</a:t>
            </a:r>
            <a:endParaRPr sz="2000"/>
          </a:p>
        </p:txBody>
      </p:sp>
      <p:sp>
        <p:nvSpPr>
          <p:cNvPr id="1052" name="Google Shape;1052;p80"/>
          <p:cNvSpPr txBox="1"/>
          <p:nvPr>
            <p:ph idx="4294967295" type="body"/>
          </p:nvPr>
        </p:nvSpPr>
        <p:spPr>
          <a:xfrm>
            <a:off x="3578725" y="2342650"/>
            <a:ext cx="60156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is</a:t>
            </a:r>
            <a:endParaRPr sz="2000"/>
          </a:p>
        </p:txBody>
      </p:sp>
      <p:sp>
        <p:nvSpPr>
          <p:cNvPr id="1053" name="Google Shape;1053;p80"/>
          <p:cNvSpPr txBox="1"/>
          <p:nvPr>
            <p:ph idx="4294967295" type="body"/>
          </p:nvPr>
        </p:nvSpPr>
        <p:spPr>
          <a:xfrm>
            <a:off x="3822050" y="2342650"/>
            <a:ext cx="59247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closer</a:t>
            </a:r>
            <a:endParaRPr sz="2000"/>
          </a:p>
        </p:txBody>
      </p:sp>
      <p:sp>
        <p:nvSpPr>
          <p:cNvPr id="1054" name="Google Shape;1054;p80"/>
          <p:cNvSpPr txBox="1"/>
          <p:nvPr>
            <p:ph idx="4294967295" type="body"/>
          </p:nvPr>
        </p:nvSpPr>
        <p:spPr>
          <a:xfrm>
            <a:off x="4624800" y="2342650"/>
            <a:ext cx="52743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to 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055" name="Google Shape;1055;p80" title="three t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38633" y="2247933"/>
            <a:ext cx="270111" cy="504923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80"/>
          <p:cNvSpPr txBox="1"/>
          <p:nvPr>
            <p:ph idx="4294967295" type="body"/>
          </p:nvPr>
        </p:nvSpPr>
        <p:spPr>
          <a:xfrm>
            <a:off x="5284950" y="2342650"/>
            <a:ext cx="4842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.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8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fractions using a common numerator</a:t>
            </a:r>
            <a:endParaRPr/>
          </a:p>
        </p:txBody>
      </p:sp>
      <p:sp>
        <p:nvSpPr>
          <p:cNvPr id="1062" name="Google Shape;1062;p8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by comparing to one</a:t>
            </a:r>
            <a:endParaRPr/>
          </a:p>
        </p:txBody>
      </p:sp>
      <p:sp>
        <p:nvSpPr>
          <p:cNvPr id="1063" name="Google Shape;1063;p81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fractions in different ways</a:t>
            </a:r>
            <a:endParaRPr/>
          </a:p>
        </p:txBody>
      </p:sp>
      <p:pic>
        <p:nvPicPr>
          <p:cNvPr id="1064" name="Google Shape;1064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500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by comparing to one</a:t>
            </a:r>
            <a:endParaRPr/>
          </a:p>
        </p:txBody>
      </p:sp>
      <p:sp>
        <p:nvSpPr>
          <p:cNvPr id="1070" name="Google Shape;1070;p82"/>
          <p:cNvSpPr txBox="1"/>
          <p:nvPr>
            <p:ph idx="1" type="body"/>
          </p:nvPr>
        </p:nvSpPr>
        <p:spPr>
          <a:xfrm>
            <a:off x="324000" y="683100"/>
            <a:ext cx="8237700" cy="96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Sam and Andeep took part in a maths competition.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They both entered different rounds.</a:t>
            </a:r>
            <a:endParaRPr/>
          </a:p>
        </p:txBody>
      </p:sp>
      <p:pic>
        <p:nvPicPr>
          <p:cNvPr id="1071" name="Google Shape;1071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8687" y="2543674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82"/>
          <p:cNvSpPr txBox="1"/>
          <p:nvPr/>
        </p:nvSpPr>
        <p:spPr>
          <a:xfrm>
            <a:off x="6819184" y="3336022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82"/>
          <p:cNvSpPr txBox="1"/>
          <p:nvPr/>
        </p:nvSpPr>
        <p:spPr>
          <a:xfrm>
            <a:off x="19194" y="3362097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74" name="Google Shape;1074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582" y="2482975"/>
            <a:ext cx="705943" cy="1016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5" name="Google Shape;1075;p82"/>
          <p:cNvGrpSpPr/>
          <p:nvPr/>
        </p:nvGrpSpPr>
        <p:grpSpPr>
          <a:xfrm>
            <a:off x="5145275" y="1964300"/>
            <a:ext cx="1955251" cy="960899"/>
            <a:chOff x="5219600" y="2909125"/>
            <a:chExt cx="1955251" cy="960899"/>
          </a:xfrm>
        </p:grpSpPr>
        <p:pic>
          <p:nvPicPr>
            <p:cNvPr id="1076" name="Google Shape;1076;p82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219600" y="2909125"/>
              <a:ext cx="1955251" cy="9608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7" name="Google Shape;1077;p82"/>
            <p:cNvSpPr txBox="1"/>
            <p:nvPr/>
          </p:nvSpPr>
          <p:spPr>
            <a:xfrm>
              <a:off x="5334125" y="2960875"/>
              <a:ext cx="16173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I scored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5 out of 6.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8" name="Google Shape;1078;p82"/>
          <p:cNvGrpSpPr/>
          <p:nvPr/>
        </p:nvGrpSpPr>
        <p:grpSpPr>
          <a:xfrm>
            <a:off x="1348199" y="2038350"/>
            <a:ext cx="1955251" cy="1039126"/>
            <a:chOff x="1729199" y="2800350"/>
            <a:chExt cx="1955251" cy="1039126"/>
          </a:xfrm>
        </p:grpSpPr>
        <p:pic>
          <p:nvPicPr>
            <p:cNvPr id="1079" name="Google Shape;1079;p82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729199" y="2800350"/>
              <a:ext cx="1955251" cy="10391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0" name="Google Shape;1080;p82"/>
            <p:cNvSpPr txBox="1"/>
            <p:nvPr/>
          </p:nvSpPr>
          <p:spPr>
            <a:xfrm>
              <a:off x="1927125" y="2854125"/>
              <a:ext cx="16173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I scored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7 out of 8.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1" name="Google Shape;1081;p82"/>
          <p:cNvGrpSpPr/>
          <p:nvPr/>
        </p:nvGrpSpPr>
        <p:grpSpPr>
          <a:xfrm>
            <a:off x="1223823" y="1501200"/>
            <a:ext cx="2662452" cy="1560475"/>
            <a:chOff x="1653006" y="2752718"/>
            <a:chExt cx="1955241" cy="858158"/>
          </a:xfrm>
        </p:grpSpPr>
        <p:pic>
          <p:nvPicPr>
            <p:cNvPr id="1082" name="Google Shape;1082;p82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653006" y="2752718"/>
              <a:ext cx="1955241" cy="8581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3" name="Google Shape;1083;p82"/>
            <p:cNvSpPr txBox="1"/>
            <p:nvPr/>
          </p:nvSpPr>
          <p:spPr>
            <a:xfrm>
              <a:off x="1739003" y="2810653"/>
              <a:ext cx="18270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That means we both did as well as each other as we only got 1 wrong.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4" name="Google Shape;1084;p82"/>
          <p:cNvGrpSpPr/>
          <p:nvPr/>
        </p:nvGrpSpPr>
        <p:grpSpPr>
          <a:xfrm>
            <a:off x="4825575" y="1650325"/>
            <a:ext cx="2344428" cy="1290974"/>
            <a:chOff x="5219606" y="2909122"/>
            <a:chExt cx="1721692" cy="960904"/>
          </a:xfrm>
        </p:grpSpPr>
        <p:pic>
          <p:nvPicPr>
            <p:cNvPr id="1085" name="Google Shape;1085;p82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219606" y="2909122"/>
              <a:ext cx="1721692" cy="9609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82"/>
            <p:cNvSpPr txBox="1"/>
            <p:nvPr/>
          </p:nvSpPr>
          <p:spPr>
            <a:xfrm>
              <a:off x="5274267" y="2980630"/>
              <a:ext cx="16173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you did better as you had more questions.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87" name="Google Shape;1087;p82"/>
          <p:cNvSpPr txBox="1"/>
          <p:nvPr>
            <p:ph idx="1" type="body"/>
          </p:nvPr>
        </p:nvSpPr>
        <p:spPr>
          <a:xfrm>
            <a:off x="324000" y="4074325"/>
            <a:ext cx="50304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Do you agree with Sam or Andeep?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Ordering by comparing to one</a:t>
            </a:r>
            <a:endParaRPr/>
          </a:p>
        </p:txBody>
      </p:sp>
      <p:grpSp>
        <p:nvGrpSpPr>
          <p:cNvPr id="1093" name="Google Shape;1093;p83"/>
          <p:cNvGrpSpPr/>
          <p:nvPr/>
        </p:nvGrpSpPr>
        <p:grpSpPr>
          <a:xfrm>
            <a:off x="4825575" y="1726525"/>
            <a:ext cx="2344428" cy="1290974"/>
            <a:chOff x="4825575" y="2564725"/>
            <a:chExt cx="2344428" cy="1290974"/>
          </a:xfrm>
        </p:grpSpPr>
        <p:grpSp>
          <p:nvGrpSpPr>
            <p:cNvPr id="1094" name="Google Shape;1094;p83"/>
            <p:cNvGrpSpPr/>
            <p:nvPr/>
          </p:nvGrpSpPr>
          <p:grpSpPr>
            <a:xfrm>
              <a:off x="4825575" y="2564725"/>
              <a:ext cx="2344428" cy="1290974"/>
              <a:chOff x="5219606" y="2909122"/>
              <a:chExt cx="1721692" cy="960904"/>
            </a:xfrm>
          </p:grpSpPr>
          <p:pic>
            <p:nvPicPr>
              <p:cNvPr id="1095" name="Google Shape;1095;p8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69082" t="56280"/>
              <a:stretch/>
            </p:blipFill>
            <p:spPr>
              <a:xfrm>
                <a:off x="5219606" y="2909122"/>
                <a:ext cx="1721692" cy="96090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96" name="Google Shape;1096;p83"/>
              <p:cNvSpPr txBox="1"/>
              <p:nvPr/>
            </p:nvSpPr>
            <p:spPr>
              <a:xfrm>
                <a:off x="5274261" y="2980633"/>
                <a:ext cx="711000" cy="77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Mine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descr="&lt;math xmlns=&quot;http://www.w3.org/1998/Math/MathML&quot; display=&quot;block&quot; data-is-equatio=&quot;1&quot; data-latex=&quot;\frac{5}{6}&quot;&gt;&lt;mfrac&gt;&lt;mn&gt;5&lt;/mn&gt;&lt;mn&gt;6&lt;/mn&gt;&lt;/mfrac&gt;&lt;/math&gt;" id="1097" name="Google Shape;1097;p83" title="five six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674614" y="2890275"/>
              <a:ext cx="177040" cy="5797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8" name="Google Shape;1098;p83"/>
          <p:cNvGrpSpPr/>
          <p:nvPr/>
        </p:nvGrpSpPr>
        <p:grpSpPr>
          <a:xfrm>
            <a:off x="1223823" y="1388650"/>
            <a:ext cx="2662452" cy="1816399"/>
            <a:chOff x="1223823" y="2226850"/>
            <a:chExt cx="2662452" cy="1816399"/>
          </a:xfrm>
        </p:grpSpPr>
        <p:grpSp>
          <p:nvGrpSpPr>
            <p:cNvPr id="1099" name="Google Shape;1099;p83"/>
            <p:cNvGrpSpPr/>
            <p:nvPr/>
          </p:nvGrpSpPr>
          <p:grpSpPr>
            <a:xfrm>
              <a:off x="1223823" y="2226850"/>
              <a:ext cx="2662452" cy="1816399"/>
              <a:chOff x="1653006" y="2648918"/>
              <a:chExt cx="1955241" cy="998900"/>
            </a:xfrm>
          </p:grpSpPr>
          <p:pic>
            <p:nvPicPr>
              <p:cNvPr id="1100" name="Google Shape;1100;p8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69082" t="56280"/>
              <a:stretch/>
            </p:blipFill>
            <p:spPr>
              <a:xfrm flipH="1">
                <a:off x="1653006" y="2648918"/>
                <a:ext cx="1955241" cy="998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01" name="Google Shape;1101;p83"/>
              <p:cNvSpPr txBox="1"/>
              <p:nvPr/>
            </p:nvSpPr>
            <p:spPr>
              <a:xfrm>
                <a:off x="1739003" y="2768748"/>
                <a:ext cx="1827000" cy="20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I could write my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descr="&lt;math xmlns=&quot;http://www.w3.org/1998/Math/MathML&quot; display=&quot;block&quot; data-is-equatio=&quot;1&quot; data-latex=&quot;\frac{7}{8}&quot;&gt;&lt;mfrac&gt;&lt;mn&gt;7&lt;/mn&gt;&lt;mn&gt;8&lt;/mn&gt;&lt;/mfrac&gt;&lt;/math&gt;" id="1102" name="Google Shape;1102;p83" title="seven eighths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798675" y="3130675"/>
              <a:ext cx="177040" cy="585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3" name="Google Shape;1103;p83"/>
          <p:cNvGrpSpPr/>
          <p:nvPr/>
        </p:nvGrpSpPr>
        <p:grpSpPr>
          <a:xfrm>
            <a:off x="1244001" y="1267713"/>
            <a:ext cx="2662452" cy="1860230"/>
            <a:chOff x="2390051" y="3239938"/>
            <a:chExt cx="2662452" cy="1860230"/>
          </a:xfrm>
        </p:grpSpPr>
        <p:grpSp>
          <p:nvGrpSpPr>
            <p:cNvPr id="1104" name="Google Shape;1104;p83"/>
            <p:cNvGrpSpPr/>
            <p:nvPr/>
          </p:nvGrpSpPr>
          <p:grpSpPr>
            <a:xfrm>
              <a:off x="2390051" y="3239938"/>
              <a:ext cx="2662452" cy="1860230"/>
              <a:chOff x="1653006" y="2752718"/>
              <a:chExt cx="1955241" cy="858158"/>
            </a:xfrm>
          </p:grpSpPr>
          <p:pic>
            <p:nvPicPr>
              <p:cNvPr id="1105" name="Google Shape;1105;p8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69082" t="56280"/>
              <a:stretch/>
            </p:blipFill>
            <p:spPr>
              <a:xfrm flipH="1">
                <a:off x="1653006" y="2752718"/>
                <a:ext cx="1955241" cy="85815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06" name="Google Shape;1106;p83"/>
              <p:cNvSpPr txBox="1"/>
              <p:nvPr/>
            </p:nvSpPr>
            <p:spPr>
              <a:xfrm>
                <a:off x="1739001" y="2810653"/>
                <a:ext cx="1827000" cy="20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So, if I was right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descr="&lt;math xmlns=&quot;http://www.w3.org/1998/Math/MathML&quot; display=&quot;block&quot; data-is-equatio=&quot;1&quot; data-latex=&quot;\frac{7}{8}&quot;&gt;&lt;mfrac&gt;&lt;mn&gt;7&lt;/mn&gt;&lt;mn&gt;8&lt;/mn&gt;&lt;/mfrac&gt;&lt;/math&gt;" id="1107" name="Google Shape;1107;p83" title="seven eighths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545450" y="3780000"/>
              <a:ext cx="177040" cy="585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5}{6}&quot;&gt;&lt;mfrac&gt;&lt;mn&gt;5&lt;/mn&gt;&lt;mn&gt;6&lt;/mn&gt;&lt;/mfrac&gt;&lt;/math&gt;" id="1108" name="Google Shape;1108;p83" title="five six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095439" y="4194625"/>
              <a:ext cx="177040" cy="5797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9" name="Google Shape;1109;p83"/>
          <p:cNvGrpSpPr/>
          <p:nvPr/>
        </p:nvGrpSpPr>
        <p:grpSpPr>
          <a:xfrm>
            <a:off x="4764260" y="1641743"/>
            <a:ext cx="2344428" cy="1369715"/>
            <a:chOff x="5219606" y="2677828"/>
            <a:chExt cx="1721692" cy="1192197"/>
          </a:xfrm>
        </p:grpSpPr>
        <p:pic>
          <p:nvPicPr>
            <p:cNvPr id="1110" name="Google Shape;1110;p83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>
              <a:off x="5219606" y="2909122"/>
              <a:ext cx="1721692" cy="9609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1" name="Google Shape;1111;p83"/>
            <p:cNvSpPr txBox="1"/>
            <p:nvPr/>
          </p:nvSpPr>
          <p:spPr>
            <a:xfrm>
              <a:off x="5274267" y="2677828"/>
              <a:ext cx="16173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Yes, and we know that they are not equal.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2" name="Google Shape;1112;p83"/>
          <p:cNvGrpSpPr/>
          <p:nvPr/>
        </p:nvGrpSpPr>
        <p:grpSpPr>
          <a:xfrm>
            <a:off x="1251601" y="1291964"/>
            <a:ext cx="2662452" cy="1923562"/>
            <a:chOff x="1653006" y="2752718"/>
            <a:chExt cx="1955241" cy="858158"/>
          </a:xfrm>
        </p:grpSpPr>
        <p:pic>
          <p:nvPicPr>
            <p:cNvPr id="1113" name="Google Shape;1113;p83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1653006" y="2752718"/>
              <a:ext cx="1955241" cy="8581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4" name="Google Shape;1114;p83"/>
            <p:cNvSpPr txBox="1"/>
            <p:nvPr/>
          </p:nvSpPr>
          <p:spPr>
            <a:xfrm>
              <a:off x="1739003" y="2810653"/>
              <a:ext cx="18270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 can write each of our fractions with a common denominator to see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which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is larger.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5" name="Google Shape;1115;p83"/>
          <p:cNvGrpSpPr/>
          <p:nvPr/>
        </p:nvGrpSpPr>
        <p:grpSpPr>
          <a:xfrm>
            <a:off x="4973259" y="1520593"/>
            <a:ext cx="2129045" cy="1663032"/>
            <a:chOff x="5219606" y="2761707"/>
            <a:chExt cx="1721692" cy="1108319"/>
          </a:xfrm>
        </p:grpSpPr>
        <p:pic>
          <p:nvPicPr>
            <p:cNvPr id="1116" name="Google Shape;1116;p83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>
              <a:off x="5219606" y="2909122"/>
              <a:ext cx="1721692" cy="9609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7" name="Google Shape;1117;p83"/>
            <p:cNvSpPr txBox="1"/>
            <p:nvPr/>
          </p:nvSpPr>
          <p:spPr>
            <a:xfrm>
              <a:off x="5274267" y="2761707"/>
              <a:ext cx="16173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 could, but your fraction is larger as it is closer to one.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18" name="Google Shape;1118;p83"/>
          <p:cNvSpPr txBox="1"/>
          <p:nvPr/>
        </p:nvSpPr>
        <p:spPr>
          <a:xfrm>
            <a:off x="19194" y="3362097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9" name="Google Shape;1119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9582" y="2482975"/>
            <a:ext cx="705943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0" name="Google Shape;1120;p8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18687" y="2543674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83"/>
          <p:cNvSpPr txBox="1"/>
          <p:nvPr/>
        </p:nvSpPr>
        <p:spPr>
          <a:xfrm>
            <a:off x="6819184" y="3336022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2" name="Google Shape;1122;p83"/>
          <p:cNvGrpSpPr/>
          <p:nvPr/>
        </p:nvGrpSpPr>
        <p:grpSpPr>
          <a:xfrm>
            <a:off x="1340925" y="1911350"/>
            <a:ext cx="2487900" cy="850800"/>
            <a:chOff x="1340925" y="1911350"/>
            <a:chExt cx="2487900" cy="850800"/>
          </a:xfrm>
        </p:grpSpPr>
        <p:sp>
          <p:nvSpPr>
            <p:cNvPr id="1123" name="Google Shape;1123;p83"/>
            <p:cNvSpPr txBox="1"/>
            <p:nvPr/>
          </p:nvSpPr>
          <p:spPr>
            <a:xfrm>
              <a:off x="1340925" y="1911350"/>
              <a:ext cx="2487900" cy="41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score as a fraction.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4" name="Google Shape;1124;p83"/>
            <p:cNvSpPr txBox="1"/>
            <p:nvPr/>
          </p:nvSpPr>
          <p:spPr>
            <a:xfrm>
              <a:off x="1340925" y="2292350"/>
              <a:ext cx="466200" cy="4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It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5" name="Google Shape;1125;p83"/>
            <p:cNvSpPr txBox="1"/>
            <p:nvPr/>
          </p:nvSpPr>
          <p:spPr>
            <a:xfrm>
              <a:off x="1600475" y="2292350"/>
              <a:ext cx="991200" cy="4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would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6" name="Google Shape;1126;p83"/>
            <p:cNvSpPr txBox="1"/>
            <p:nvPr/>
          </p:nvSpPr>
          <p:spPr>
            <a:xfrm>
              <a:off x="2316700" y="2292350"/>
              <a:ext cx="570600" cy="4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7" name="Google Shape;1127;p83"/>
            <p:cNvSpPr txBox="1"/>
            <p:nvPr/>
          </p:nvSpPr>
          <p:spPr>
            <a:xfrm>
              <a:off x="2966475" y="2292350"/>
              <a:ext cx="310200" cy="4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8" name="Google Shape;1128;p83"/>
          <p:cNvGrpSpPr/>
          <p:nvPr/>
        </p:nvGrpSpPr>
        <p:grpSpPr>
          <a:xfrm>
            <a:off x="5476925" y="1822600"/>
            <a:ext cx="1631750" cy="1038300"/>
            <a:chOff x="5476925" y="1822600"/>
            <a:chExt cx="1631750" cy="1038300"/>
          </a:xfrm>
        </p:grpSpPr>
        <p:sp>
          <p:nvSpPr>
            <p:cNvPr id="1129" name="Google Shape;1129;p83"/>
            <p:cNvSpPr txBox="1"/>
            <p:nvPr/>
          </p:nvSpPr>
          <p:spPr>
            <a:xfrm>
              <a:off x="5476925" y="1822600"/>
              <a:ext cx="856500" cy="10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would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0" name="Google Shape;1130;p83"/>
            <p:cNvSpPr txBox="1"/>
            <p:nvPr/>
          </p:nvSpPr>
          <p:spPr>
            <a:xfrm>
              <a:off x="6193150" y="1822600"/>
              <a:ext cx="516000" cy="10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1" name="Google Shape;1131;p83"/>
            <p:cNvSpPr txBox="1"/>
            <p:nvPr/>
          </p:nvSpPr>
          <p:spPr>
            <a:xfrm>
              <a:off x="6819175" y="1822600"/>
              <a:ext cx="289500" cy="10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2" name="Google Shape;1132;p83"/>
          <p:cNvGrpSpPr/>
          <p:nvPr/>
        </p:nvGrpSpPr>
        <p:grpSpPr>
          <a:xfrm>
            <a:off x="1361100" y="1774300"/>
            <a:ext cx="2640250" cy="926400"/>
            <a:chOff x="1361100" y="3755500"/>
            <a:chExt cx="2640250" cy="926400"/>
          </a:xfrm>
        </p:grpSpPr>
        <p:sp>
          <p:nvSpPr>
            <p:cNvPr id="1133" name="Google Shape;1133;p83"/>
            <p:cNvSpPr txBox="1"/>
            <p:nvPr/>
          </p:nvSpPr>
          <p:spPr>
            <a:xfrm>
              <a:off x="1361100" y="3755500"/>
              <a:ext cx="705900" cy="48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that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4" name="Google Shape;1134;p83"/>
            <p:cNvSpPr txBox="1"/>
            <p:nvPr/>
          </p:nvSpPr>
          <p:spPr>
            <a:xfrm>
              <a:off x="1361100" y="4136500"/>
              <a:ext cx="2487900" cy="54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and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5" name="Google Shape;1135;p83"/>
            <p:cNvSpPr txBox="1"/>
            <p:nvPr/>
          </p:nvSpPr>
          <p:spPr>
            <a:xfrm>
              <a:off x="1872350" y="3755500"/>
              <a:ext cx="894900" cy="48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would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6" name="Google Shape;1136;p83"/>
            <p:cNvSpPr txBox="1"/>
            <p:nvPr/>
          </p:nvSpPr>
          <p:spPr>
            <a:xfrm>
              <a:off x="2612050" y="3755500"/>
              <a:ext cx="894900" cy="48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mean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7" name="Google Shape;1137;p83"/>
            <p:cNvSpPr txBox="1"/>
            <p:nvPr/>
          </p:nvSpPr>
          <p:spPr>
            <a:xfrm>
              <a:off x="2117350" y="4136500"/>
              <a:ext cx="1884000" cy="54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are equal. 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Ordering by comparing to one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3-11-2023/570e4489-fb87-496f-bba4-27a5fa73c67b&quot; data-equatio-type=&quot;image&quot;&gt;&lt;mglyph src=&quot;https://equatio-api.texthelp.com/desmos/get/13-11-2023/570e4489-fb87-496f-bba4-27a5fa73c67b&quot; alt=&quot;Equatio Image&quot;/&gt;&lt;/math&gt;" id="1143" name="Google Shape;1143;p84" title="Equatio Image"/>
          <p:cNvPicPr preferRelativeResize="0"/>
          <p:nvPr/>
        </p:nvPicPr>
        <p:blipFill rotWithShape="1">
          <a:blip r:embed="rId3">
            <a:alphaModFix/>
          </a:blip>
          <a:srcRect b="64316" l="0" r="0" t="0"/>
          <a:stretch/>
        </p:blipFill>
        <p:spPr>
          <a:xfrm>
            <a:off x="2141988" y="1390825"/>
            <a:ext cx="5743575" cy="523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3-11-2023/570e4489-fb87-496f-bba4-27a5fa73c67b&quot; data-equatio-type=&quot;image&quot;&gt;&lt;mglyph src=&quot;https://equatio-api.texthelp.com/desmos/get/13-11-2023/570e4489-fb87-496f-bba4-27a5fa73c67b&quot; alt=&quot;Equatio Image&quot;/&gt;&lt;/math&gt;" id="1144" name="Google Shape;1144;p84" title="Equatio Image"/>
          <p:cNvPicPr preferRelativeResize="0"/>
          <p:nvPr/>
        </p:nvPicPr>
        <p:blipFill rotWithShape="1">
          <a:blip r:embed="rId3">
            <a:alphaModFix/>
          </a:blip>
          <a:srcRect b="0" l="0" r="0" t="60057"/>
          <a:stretch/>
        </p:blipFill>
        <p:spPr>
          <a:xfrm>
            <a:off x="2157413" y="2314450"/>
            <a:ext cx="5743575" cy="5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84"/>
          <p:cNvSpPr txBox="1"/>
          <p:nvPr>
            <p:ph idx="1" type="body"/>
          </p:nvPr>
        </p:nvSpPr>
        <p:spPr>
          <a:xfrm>
            <a:off x="324000" y="759300"/>
            <a:ext cx="8237700" cy="3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will look at the fraction bars to see if Andeep is right.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7}{8}&quot;&gt;&lt;mfrac&gt;&lt;mn&gt;7&lt;/mn&gt;&lt;mn&gt;8&lt;/mn&gt;&lt;/mfrac&gt;&lt;/math&gt;" id="1146" name="Google Shape;1146;p84" title="seven eigh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8525" y="1268500"/>
            <a:ext cx="212418" cy="70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147" name="Google Shape;1147;p84" title="five six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8532" y="2292000"/>
            <a:ext cx="212418" cy="6956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8" name="Google Shape;1148;p84"/>
          <p:cNvCxnSpPr/>
          <p:nvPr/>
        </p:nvCxnSpPr>
        <p:spPr>
          <a:xfrm flipH="1" rot="10800000">
            <a:off x="7159975" y="1996075"/>
            <a:ext cx="716700" cy="5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149" name="Google Shape;1149;p84"/>
          <p:cNvCxnSpPr/>
          <p:nvPr/>
        </p:nvCxnSpPr>
        <p:spPr>
          <a:xfrm>
            <a:off x="6924900" y="2993075"/>
            <a:ext cx="957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150" name="Google Shape;1150;p84"/>
          <p:cNvSpPr txBox="1"/>
          <p:nvPr>
            <p:ph idx="1" type="body"/>
          </p:nvPr>
        </p:nvSpPr>
        <p:spPr>
          <a:xfrm>
            <a:off x="324000" y="3583500"/>
            <a:ext cx="8237700" cy="3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see that both fractions are less than one but Andeep’s fractions is further away from one.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That means Sam actually did better in the </a:t>
            </a:r>
            <a:r>
              <a:rPr lang="en-GB"/>
              <a:t>competition</a:t>
            </a:r>
            <a:r>
              <a:rPr lang="en-GB"/>
              <a:t>.</a:t>
            </a:r>
            <a:endParaRPr/>
          </a:p>
        </p:txBody>
      </p:sp>
      <p:sp>
        <p:nvSpPr>
          <p:cNvPr id="1151" name="Google Shape;1151;p84"/>
          <p:cNvSpPr txBox="1"/>
          <p:nvPr/>
        </p:nvSpPr>
        <p:spPr>
          <a:xfrm>
            <a:off x="324000" y="1450650"/>
            <a:ext cx="63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84"/>
          <p:cNvSpPr txBox="1"/>
          <p:nvPr/>
        </p:nvSpPr>
        <p:spPr>
          <a:xfrm>
            <a:off x="324000" y="2470500"/>
            <a:ext cx="106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Andeep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85"/>
          <p:cNvSpPr txBox="1"/>
          <p:nvPr>
            <p:ph idx="1" type="body"/>
          </p:nvPr>
        </p:nvSpPr>
        <p:spPr>
          <a:xfrm>
            <a:off x="324000" y="683100"/>
            <a:ext cx="6847500" cy="7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Is it possible to to decide </a:t>
            </a:r>
            <a:r>
              <a:rPr lang="en-GB" sz="1800"/>
              <a:t>which</a:t>
            </a:r>
            <a:r>
              <a:rPr lang="en-GB" sz="1800"/>
              <a:t> proper fraction is </a:t>
            </a:r>
            <a:r>
              <a:rPr lang="en-GB" sz="1800"/>
              <a:t>the</a:t>
            </a:r>
            <a:r>
              <a:rPr lang="en-GB" sz="1800"/>
              <a:t> greater fraction by comparing it to one </a:t>
            </a:r>
            <a:r>
              <a:rPr lang="en-GB" sz="1800"/>
              <a:t>without</a:t>
            </a:r>
            <a:r>
              <a:rPr lang="en-GB" sz="1800"/>
              <a:t> a fraction bar?</a:t>
            </a:r>
            <a:endParaRPr sz="1800"/>
          </a:p>
        </p:txBody>
      </p:sp>
      <p:sp>
        <p:nvSpPr>
          <p:cNvPr id="1158" name="Google Shape;1158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Ordering by comparing to one</a:t>
            </a:r>
            <a:endParaRPr/>
          </a:p>
        </p:txBody>
      </p:sp>
      <p:sp>
        <p:nvSpPr>
          <p:cNvPr id="1159" name="Google Shape;1159;p85"/>
          <p:cNvSpPr txBox="1"/>
          <p:nvPr>
            <p:ph idx="1" type="body"/>
          </p:nvPr>
        </p:nvSpPr>
        <p:spPr>
          <a:xfrm>
            <a:off x="324000" y="1334613"/>
            <a:ext cx="2445600" cy="4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is greater?</a:t>
            </a:r>
            <a:endParaRPr sz="1800"/>
          </a:p>
        </p:txBody>
      </p:sp>
      <p:sp>
        <p:nvSpPr>
          <p:cNvPr id="1160" name="Google Shape;1160;p85"/>
          <p:cNvSpPr txBox="1"/>
          <p:nvPr/>
        </p:nvSpPr>
        <p:spPr>
          <a:xfrm>
            <a:off x="4470750" y="1971175"/>
            <a:ext cx="2025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85"/>
          <p:cNvSpPr txBox="1"/>
          <p:nvPr/>
        </p:nvSpPr>
        <p:spPr>
          <a:xfrm>
            <a:off x="4464298" y="1919158"/>
            <a:ext cx="2025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&lt;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62" name="Google Shape;1162;p85"/>
          <p:cNvGrpSpPr/>
          <p:nvPr/>
        </p:nvGrpSpPr>
        <p:grpSpPr>
          <a:xfrm>
            <a:off x="2294250" y="1605775"/>
            <a:ext cx="1185900" cy="1014900"/>
            <a:chOff x="2294250" y="2458200"/>
            <a:chExt cx="1185900" cy="1014900"/>
          </a:xfrm>
        </p:grpSpPr>
        <p:sp>
          <p:nvSpPr>
            <p:cNvPr id="1163" name="Google Shape;1163;p85"/>
            <p:cNvSpPr/>
            <p:nvPr/>
          </p:nvSpPr>
          <p:spPr>
            <a:xfrm>
              <a:off x="2294250" y="2458200"/>
              <a:ext cx="1185900" cy="10149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7}{20}&quot;&gt;&lt;mfrac&gt;&lt;mn&gt;17&lt;/mn&gt;&lt;mn&gt;20&lt;/mn&gt;&lt;/mfrac&gt;&lt;/math&gt;" id="1164" name="Google Shape;1164;p85" title="17 over 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77288" y="2578970"/>
              <a:ext cx="419820" cy="773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5" name="Google Shape;1165;p85"/>
          <p:cNvGrpSpPr/>
          <p:nvPr/>
        </p:nvGrpSpPr>
        <p:grpSpPr>
          <a:xfrm>
            <a:off x="5663850" y="1605775"/>
            <a:ext cx="1185900" cy="1014900"/>
            <a:chOff x="5663850" y="2458200"/>
            <a:chExt cx="1185900" cy="1014900"/>
          </a:xfrm>
        </p:grpSpPr>
        <p:sp>
          <p:nvSpPr>
            <p:cNvPr id="1166" name="Google Shape;1166;p85"/>
            <p:cNvSpPr/>
            <p:nvPr/>
          </p:nvSpPr>
          <p:spPr>
            <a:xfrm>
              <a:off x="5663850" y="2458200"/>
              <a:ext cx="1185900" cy="10149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9}{22}&quot;&gt;&lt;mfrac&gt;&lt;mn&gt;19&lt;/mn&gt;&lt;mn&gt;22&lt;/mn&gt;&lt;/mfrac&gt;&lt;/math&gt;" id="1167" name="Google Shape;1167;p85" title="19 over 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046905" y="2587261"/>
              <a:ext cx="419820" cy="75677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8" name="Google Shape;1168;p85"/>
          <p:cNvSpPr txBox="1"/>
          <p:nvPr>
            <p:ph idx="1" type="body"/>
          </p:nvPr>
        </p:nvSpPr>
        <p:spPr>
          <a:xfrm>
            <a:off x="324000" y="2740937"/>
            <a:ext cx="5030400" cy="4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These are both 3 ‘parts’ away from 1.</a:t>
            </a:r>
            <a:endParaRPr sz="1800"/>
          </a:p>
        </p:txBody>
      </p:sp>
      <p:sp>
        <p:nvSpPr>
          <p:cNvPr id="1169" name="Google Shape;1169;p85"/>
          <p:cNvSpPr txBox="1"/>
          <p:nvPr>
            <p:ph idx="1" type="body"/>
          </p:nvPr>
        </p:nvSpPr>
        <p:spPr>
          <a:xfrm>
            <a:off x="324000" y="3064506"/>
            <a:ext cx="5667600" cy="4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fraction will have the larger parts?</a:t>
            </a:r>
            <a:endParaRPr sz="1800"/>
          </a:p>
        </p:txBody>
      </p:sp>
      <p:sp>
        <p:nvSpPr>
          <p:cNvPr id="1170" name="Google Shape;1170;p85"/>
          <p:cNvSpPr txBox="1"/>
          <p:nvPr>
            <p:ph idx="1" type="body"/>
          </p:nvPr>
        </p:nvSpPr>
        <p:spPr>
          <a:xfrm>
            <a:off x="692275" y="3436425"/>
            <a:ext cx="7397700" cy="4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will have the larger parts as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the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unit is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split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into fewer parts.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7}{20}&quot;&gt;&lt;mfrac&gt;&lt;mn&gt;17&lt;/mn&gt;&lt;mn&gt;20&lt;/mn&gt;&lt;/mfrac&gt;&lt;/math&gt;" id="1171" name="Google Shape;1171;p85" title="17 over 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1" y="3379506"/>
            <a:ext cx="255913" cy="4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2" name="Google Shape;1172;p85"/>
          <p:cNvSpPr txBox="1"/>
          <p:nvPr>
            <p:ph idx="1" type="body"/>
          </p:nvPr>
        </p:nvSpPr>
        <p:spPr>
          <a:xfrm>
            <a:off x="324000" y="4043826"/>
            <a:ext cx="8157000" cy="40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This means that although they are both 3 ‘parts’ away from one,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9}{22}&quot;&gt;&lt;mfrac&gt;&lt;mn&gt;19&lt;/mn&gt;&lt;mn&gt;22&lt;/mn&gt;&lt;/mfrac&gt;&lt;/math&gt;" id="1173" name="Google Shape;1173;p85" title="19 over 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9003" y="4379625"/>
            <a:ext cx="224074" cy="403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9}{22}&quot;&gt;&lt;mfrac&gt;&lt;mn&gt;19&lt;/mn&gt;&lt;mn&gt;22&lt;/mn&gt;&lt;/mfrac&gt;&lt;/math&gt;" id="1174" name="Google Shape;1174;p85" title="19 over 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001" y="4379636"/>
            <a:ext cx="224074" cy="403924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85"/>
          <p:cNvSpPr txBox="1"/>
          <p:nvPr>
            <p:ph idx="1" type="body"/>
          </p:nvPr>
        </p:nvSpPr>
        <p:spPr>
          <a:xfrm>
            <a:off x="705000" y="4348625"/>
            <a:ext cx="2559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is </a:t>
            </a:r>
            <a:endParaRPr sz="1800"/>
          </a:p>
        </p:txBody>
      </p:sp>
      <p:sp>
        <p:nvSpPr>
          <p:cNvPr id="1176" name="Google Shape;1176;p85"/>
          <p:cNvSpPr txBox="1"/>
          <p:nvPr>
            <p:ph idx="1" type="body"/>
          </p:nvPr>
        </p:nvSpPr>
        <p:spPr>
          <a:xfrm>
            <a:off x="950700" y="4348625"/>
            <a:ext cx="7341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closer</a:t>
            </a:r>
            <a:endParaRPr sz="1800"/>
          </a:p>
        </p:txBody>
      </p:sp>
      <p:sp>
        <p:nvSpPr>
          <p:cNvPr id="1177" name="Google Shape;1177;p85"/>
          <p:cNvSpPr txBox="1"/>
          <p:nvPr>
            <p:ph idx="1" type="body"/>
          </p:nvPr>
        </p:nvSpPr>
        <p:spPr>
          <a:xfrm>
            <a:off x="1652175" y="4348625"/>
            <a:ext cx="4800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to</a:t>
            </a:r>
            <a:endParaRPr sz="1800"/>
          </a:p>
        </p:txBody>
      </p:sp>
      <p:sp>
        <p:nvSpPr>
          <p:cNvPr id="1178" name="Google Shape;1178;p85"/>
          <p:cNvSpPr txBox="1"/>
          <p:nvPr>
            <p:ph idx="1" type="body"/>
          </p:nvPr>
        </p:nvSpPr>
        <p:spPr>
          <a:xfrm>
            <a:off x="2132100" y="4348625"/>
            <a:ext cx="7551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as the</a:t>
            </a:r>
            <a:endParaRPr sz="1800"/>
          </a:p>
        </p:txBody>
      </p:sp>
      <p:sp>
        <p:nvSpPr>
          <p:cNvPr id="1179" name="Google Shape;1179;p85"/>
          <p:cNvSpPr txBox="1"/>
          <p:nvPr>
            <p:ph idx="1" type="body"/>
          </p:nvPr>
        </p:nvSpPr>
        <p:spPr>
          <a:xfrm>
            <a:off x="2855700" y="4348625"/>
            <a:ext cx="7551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‘parts’</a:t>
            </a:r>
            <a:endParaRPr sz="1800"/>
          </a:p>
        </p:txBody>
      </p:sp>
      <p:sp>
        <p:nvSpPr>
          <p:cNvPr id="1180" name="Google Shape;1180;p85"/>
          <p:cNvSpPr txBox="1"/>
          <p:nvPr>
            <p:ph idx="1" type="body"/>
          </p:nvPr>
        </p:nvSpPr>
        <p:spPr>
          <a:xfrm>
            <a:off x="3601475" y="4348625"/>
            <a:ext cx="3375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in      </a:t>
            </a:r>
            <a:endParaRPr sz="1800"/>
          </a:p>
        </p:txBody>
      </p:sp>
      <p:sp>
        <p:nvSpPr>
          <p:cNvPr id="1181" name="Google Shape;1181;p85"/>
          <p:cNvSpPr txBox="1"/>
          <p:nvPr>
            <p:ph idx="1" type="body"/>
          </p:nvPr>
        </p:nvSpPr>
        <p:spPr>
          <a:xfrm>
            <a:off x="4312675" y="4348625"/>
            <a:ext cx="13659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are smaller.</a:t>
            </a:r>
            <a:endParaRPr sz="1800"/>
          </a:p>
        </p:txBody>
      </p:sp>
      <p:sp>
        <p:nvSpPr>
          <p:cNvPr id="1182" name="Google Shape;1182;p85"/>
          <p:cNvSpPr txBox="1"/>
          <p:nvPr>
            <p:ph idx="1" type="body"/>
          </p:nvPr>
        </p:nvSpPr>
        <p:spPr>
          <a:xfrm>
            <a:off x="1956975" y="4348625"/>
            <a:ext cx="4800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86"/>
          <p:cNvSpPr txBox="1"/>
          <p:nvPr>
            <p:ph idx="1" type="body"/>
          </p:nvPr>
        </p:nvSpPr>
        <p:spPr>
          <a:xfrm>
            <a:off x="324000" y="759300"/>
            <a:ext cx="8237700" cy="76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List the </a:t>
            </a:r>
            <a:r>
              <a:rPr lang="en-GB"/>
              <a:t>following</a:t>
            </a:r>
            <a:r>
              <a:rPr lang="en-GB"/>
              <a:t> in order from which has the smallest ‘parts’ to largest ‘parts’.</a:t>
            </a:r>
            <a:endParaRPr/>
          </a:p>
        </p:txBody>
      </p:sp>
      <p:sp>
        <p:nvSpPr>
          <p:cNvPr id="1188" name="Google Shape;1188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Ordering by comparing to one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3},\ \frac{1}{9},\ \frac{1}{85},\ \frac{1}{28},\ \frac{1}{312}&quot;&gt;&lt;mfrac&gt;&lt;mn&gt;1&lt;/mn&gt;&lt;mn&gt;3&lt;/mn&gt;&lt;/mfrac&gt;&lt;mo&gt;,&lt;/mo&gt;&lt;mtext&gt;&lt;/mtext&gt;&lt;mfrac&gt;&lt;mn&gt;1&lt;/mn&gt;&lt;mn&gt;9&lt;/mn&gt;&lt;/mfrac&gt;&lt;mo&gt;,&lt;/mo&gt;&lt;mtext&gt;&lt;/mtext&gt;&lt;mfrac&gt;&lt;mn&gt;1&lt;/mn&gt;&lt;mn&gt;85&lt;/mn&gt;&lt;/mfrac&gt;&lt;mo&gt;,&lt;/mo&gt;&lt;mtext&gt;&lt;/mtext&gt;&lt;mfrac&gt;&lt;mn&gt;1&lt;/mn&gt;&lt;mn&gt;28&lt;/mn&gt;&lt;/mfrac&gt;&lt;mo&gt;,&lt;/mo&gt;&lt;mtext&gt;&lt;/mtext&gt;&lt;mfrac&gt;&lt;mn&gt;1&lt;/mn&gt;&lt;mn&gt;312&lt;/mn&gt;&lt;/mfrac&gt;&lt;/math&gt;" id="1189" name="Google Shape;1189;p86" title="one third comma one ninth comma 1 over 85 comma 1 over 28 comma 1 over 3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6588" y="1620000"/>
            <a:ext cx="3610825" cy="86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12},\ \frac{1}{85},\ \frac{1}{28},\ \frac{1}{9},\ \frac{1}{3}&quot;&gt;&lt;mfrac&gt;&lt;mn&gt;1&lt;/mn&gt;&lt;mn&gt;312&lt;/mn&gt;&lt;/mfrac&gt;&lt;mo&gt;,&lt;/mo&gt;&lt;mtext&gt;&lt;/mtext&gt;&lt;mfrac&gt;&lt;mn&gt;1&lt;/mn&gt;&lt;mn&gt;85&lt;/mn&gt;&lt;/mfrac&gt;&lt;mo&gt;,&lt;/mo&gt;&lt;mtext&gt;&lt;/mtext&gt;&lt;mfrac&gt;&lt;mn&gt;1&lt;/mn&gt;&lt;mn&gt;28&lt;/mn&gt;&lt;/mfrac&gt;&lt;mo&gt;,&lt;/mo&gt;&lt;mtext&gt;&lt;/mtext&gt;&lt;mfrac&gt;&lt;mn&gt;1&lt;/mn&gt;&lt;mn&gt;9&lt;/mn&gt;&lt;/mfrac&gt;&lt;mo&gt;,&lt;/mo&gt;&lt;mtext&gt;&lt;/mtext&gt;&lt;mfrac&gt;&lt;mn&gt;1&lt;/mn&gt;&lt;mn&gt;3&lt;/mn&gt;&lt;/mfrac&gt;&lt;/math&gt;" id="1190" name="Google Shape;1190;p86" title="1 over 312 comma 1 over 85 comma 1 over 28 comma one ninth comma 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8525" y="2893750"/>
            <a:ext cx="3826954" cy="9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8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Ordering by comparing to one</a:t>
            </a:r>
            <a:endParaRPr/>
          </a:p>
        </p:txBody>
      </p:sp>
      <p:sp>
        <p:nvSpPr>
          <p:cNvPr id="1196" name="Google Shape;1196;p8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 following is in the correct order? (smallest to largest)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3}{15},\ \frac{17}{19},\ \frac{11}{13}&quot;&gt;&lt;mfrac&gt;&lt;mn&gt;13&lt;/mn&gt;&lt;mn&gt;15&lt;/mn&gt;&lt;/mfrac&gt;&lt;mo&gt;,&lt;/mo&gt;&lt;mtext&gt;&lt;/mtext&gt;&lt;mfrac&gt;&lt;mn&gt;17&lt;/mn&gt;&lt;mn&gt;19&lt;/mn&gt;&lt;/mfrac&gt;&lt;mo&gt;,&lt;/mo&gt;&lt;mtext&gt;&lt;/mtext&gt;&lt;mfrac&gt;&lt;mn&gt;11&lt;/mn&gt;&lt;mn&gt;13&lt;/mn&gt;&lt;/mfrac&gt;&lt;/math&gt;" id="1197" name="Google Shape;1197;p87" title="13 over 15 comma 17 over 19 comma 11 over 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199" y="1758970"/>
            <a:ext cx="1738699" cy="6975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8}{51},\ \frac{44}{47},\ \frac{35}{38}&quot;&gt;&lt;mfrac&gt;&lt;mn&gt;48&lt;/mn&gt;&lt;mn&gt;51&lt;/mn&gt;&lt;/mfrac&gt;&lt;mo&gt;,&lt;/mo&gt;&lt;mtext&gt;&lt;/mtext&gt;&lt;mfrac&gt;&lt;mn&gt;44&lt;/mn&gt;&lt;mn&gt;47&lt;/mn&gt;&lt;/mfrac&gt;&lt;mo&gt;,&lt;/mo&gt;&lt;mtext&gt;&lt;/mtext&gt;&lt;mfrac&gt;&lt;mn&gt;35&lt;/mn&gt;&lt;mn&gt;38&lt;/mn&gt;&lt;/mfrac&gt;&lt;/math&gt;" id="1198" name="Google Shape;1198;p87" title="48 over 51 comma 44 over 47 comma 35 over 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7190" y="2688153"/>
            <a:ext cx="1687410" cy="6821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3}{28},\ \frac{27}{32},\ \frac{36}{41}&quot;&gt;&lt;mfrac&gt;&lt;mn&gt;23&lt;/mn&gt;&lt;mn&gt;28&lt;/mn&gt;&lt;/mfrac&gt;&lt;mo&gt;,&lt;/mo&gt;&lt;mtext&gt;&lt;/mtext&gt;&lt;mfrac&gt;&lt;mn&gt;27&lt;/mn&gt;&lt;mn&gt;32&lt;/mn&gt;&lt;/mfrac&gt;&lt;mo&gt;,&lt;/mo&gt;&lt;mtext&gt;&lt;/mtext&gt;&lt;mfrac&gt;&lt;mn&gt;36&lt;/mn&gt;&lt;mn&gt;41&lt;/mn&gt;&lt;/mfrac&gt;&lt;/math&gt;" id="1199" name="Google Shape;1199;p87" title="23 over 28 comma 27 over 32 comma 36 over 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7200" y="3601949"/>
            <a:ext cx="1789988" cy="718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0" name="Google Shape;1200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73608" y="37514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Ordering by comparing to one</a:t>
            </a:r>
            <a:endParaRPr/>
          </a:p>
        </p:txBody>
      </p:sp>
      <p:sp>
        <p:nvSpPr>
          <p:cNvPr id="1206" name="Google Shape;1206;p88"/>
          <p:cNvSpPr txBox="1"/>
          <p:nvPr>
            <p:ph idx="1" type="body"/>
          </p:nvPr>
        </p:nvSpPr>
        <p:spPr>
          <a:xfrm>
            <a:off x="324000" y="759300"/>
            <a:ext cx="8237700" cy="16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now </a:t>
            </a:r>
            <a:r>
              <a:rPr lang="en-GB"/>
              <a:t>have</a:t>
            </a:r>
            <a:r>
              <a:rPr lang="en-GB"/>
              <a:t> 4 different methods for comparing fractions: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</a:t>
            </a:r>
            <a:r>
              <a:rPr lang="en-GB"/>
              <a:t>ommon denominator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comparing numerators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simplifying and comparing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1000"/>
              </a:spcAft>
              <a:buSzPts val="2200"/>
              <a:buChar char="●"/>
            </a:pPr>
            <a:r>
              <a:rPr lang="en-GB"/>
              <a:t>comparing proper fractions to 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89"/>
          <p:cNvSpPr txBox="1"/>
          <p:nvPr>
            <p:ph idx="1" type="body"/>
          </p:nvPr>
        </p:nvSpPr>
        <p:spPr>
          <a:xfrm>
            <a:off x="324000" y="759300"/>
            <a:ext cx="8237700" cy="4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method?</a:t>
            </a:r>
            <a:endParaRPr/>
          </a:p>
        </p:txBody>
      </p:sp>
      <p:sp>
        <p:nvSpPr>
          <p:cNvPr id="1212" name="Google Shape;1212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Ordering by comparing to one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1}{18}\ \ \&amp;amp;\ \ \frac{11}{23}&quot;&gt;&lt;mfrac&gt;&lt;mn&gt;11&lt;/mn&gt;&lt;mn&gt;18&lt;/mn&gt;&lt;/mfrac&gt;&lt;mtext&gt;&lt;/mtext&gt;&lt;mtext&gt;&lt;/mtext&gt;&lt;mi mathvariant=&quot;normal&quot;&gt;&amp;amp;&lt;/mi&gt;&lt;mtext&gt;&lt;/mtext&gt;&lt;mtext&gt;&lt;/mtext&gt;&lt;mfrac&gt;&lt;mn&gt;11&lt;/mn&gt;&lt;mn&gt;23&lt;/mn&gt;&lt;/mfrac&gt;&lt;/math&gt;" id="1213" name="Google Shape;1213;p89" title="11 over 18 ampersand 11 over 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715" y="2604766"/>
            <a:ext cx="1184341" cy="575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&amp;amp;\ \ \frac{11}{15}&quot;&gt;&lt;mfrac&gt;&lt;mn&gt;2&lt;/mn&gt;&lt;mn&gt;3&lt;/mn&gt;&lt;/mfrac&gt;&lt;mtext&gt;&lt;/mtext&gt;&lt;mtext&gt;&lt;/mtext&gt;&lt;mi mathvariant=&quot;normal&quot;&gt;&amp;amp;&lt;/mi&gt;&lt;mtext&gt;&lt;/mtext&gt;&lt;mtext&gt;&lt;/mtext&gt;&lt;mfrac&gt;&lt;mn&gt;11&lt;/mn&gt;&lt;mn&gt;15&lt;/mn&gt;&lt;/mfrac&gt;&lt;/math&gt;" id="1214" name="Google Shape;1214;p89" title="two thirds ampersand 11 over 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0795" y="3939318"/>
            <a:ext cx="1072164" cy="5932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\ \ \&amp;amp;\ \ \frac{16}{19}&quot;&gt;&lt;mfrac&gt;&lt;mn&gt;8&lt;/mn&gt;&lt;mn&gt;11&lt;/mn&gt;&lt;/mfrac&gt;&lt;mtext&gt;&lt;/mtext&gt;&lt;mtext&gt;&lt;/mtext&gt;&lt;mi mathvariant=&quot;normal&quot;&gt;&amp;amp;&lt;/mi&gt;&lt;mtext&gt;&lt;/mtext&gt;&lt;mtext&gt;&lt;/mtext&gt;&lt;mfrac&gt;&lt;mn&gt;16&lt;/mn&gt;&lt;mn&gt;19&lt;/mn&gt;&lt;/mfrac&gt;&lt;/math&gt;" id="1215" name="Google Shape;1215;p89" title="8 over 11 ampersand 16 over 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7810" y="1772739"/>
            <a:ext cx="1187524" cy="5808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25}\ \ \&amp;amp;\ \ \frac{7886}{9860}&quot;&gt;&lt;mfrac&gt;&lt;mn&gt;20&lt;/mn&gt;&lt;mn&gt;25&lt;/mn&gt;&lt;/mfrac&gt;&lt;mtext&gt;&lt;/mtext&gt;&lt;mtext&gt;&lt;/mtext&gt;&lt;mi mathvariant=&quot;normal&quot;&gt;&amp;amp;&lt;/mi&gt;&lt;mtext&gt;&lt;/mtext&gt;&lt;mtext&gt;&lt;/mtext&gt;&lt;mfrac&gt;&lt;mn&gt;7886&lt;/mn&gt;&lt;mn&gt;9860&lt;/mn&gt;&lt;/mfrac&gt;&lt;/math&gt;" id="1216" name="Google Shape;1216;p89" title="20 over 25 ampersand 7886 over 98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8909" y="1252608"/>
            <a:ext cx="1493916" cy="59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7}\ \ \&amp;amp;\ \ \frac{2}{5}&quot;&gt;&lt;mfrac&gt;&lt;mn&gt;3&lt;/mn&gt;&lt;mn&gt;7&lt;/mn&gt;&lt;/mfrac&gt;&lt;mtext&gt;&lt;/mtext&gt;&lt;mtext&gt;&lt;/mtext&gt;&lt;mi mathvariant=&quot;normal&quot;&gt;&amp;amp;&lt;/mi&gt;&lt;mtext&gt;&lt;/mtext&gt;&lt;mtext&gt;&lt;/mtext&gt;&lt;mfrac&gt;&lt;mn&gt;2&lt;/mn&gt;&lt;mn&gt;5&lt;/mn&gt;&lt;/mfrac&gt;&lt;/math&gt;" id="1217" name="Google Shape;1217;p89" title="three sevenths ampersand two fif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47450" y="3118700"/>
            <a:ext cx="908216" cy="57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89"/>
          <p:cNvSpPr txBox="1"/>
          <p:nvPr/>
        </p:nvSpPr>
        <p:spPr>
          <a:xfrm>
            <a:off x="2658600" y="1080000"/>
            <a:ext cx="1225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simplify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compare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89"/>
          <p:cNvSpPr txBox="1"/>
          <p:nvPr/>
        </p:nvSpPr>
        <p:spPr>
          <a:xfrm>
            <a:off x="2440350" y="2553875"/>
            <a:ext cx="1662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compare numerators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89"/>
          <p:cNvSpPr txBox="1"/>
          <p:nvPr/>
        </p:nvSpPr>
        <p:spPr>
          <a:xfrm>
            <a:off x="2440350" y="3906025"/>
            <a:ext cx="18258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common denominator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1" name="Google Shape;1221;p89"/>
          <p:cNvSpPr txBox="1"/>
          <p:nvPr/>
        </p:nvSpPr>
        <p:spPr>
          <a:xfrm>
            <a:off x="6570000" y="1724475"/>
            <a:ext cx="1662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ompare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one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89"/>
          <p:cNvSpPr txBox="1"/>
          <p:nvPr/>
        </p:nvSpPr>
        <p:spPr>
          <a:xfrm>
            <a:off x="6540400" y="3076625"/>
            <a:ext cx="18258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compare denominator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90"/>
          <p:cNvSpPr txBox="1"/>
          <p:nvPr>
            <p:ph idx="1" type="body"/>
          </p:nvPr>
        </p:nvSpPr>
        <p:spPr>
          <a:xfrm>
            <a:off x="324000" y="759300"/>
            <a:ext cx="8237700" cy="4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is greater?</a:t>
            </a:r>
            <a:endParaRPr/>
          </a:p>
        </p:txBody>
      </p:sp>
      <p:sp>
        <p:nvSpPr>
          <p:cNvPr id="1228" name="Google Shape;1228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Ordering by comparing to one</a:t>
            </a:r>
            <a:endParaRPr/>
          </a:p>
        </p:txBody>
      </p:sp>
      <p:sp>
        <p:nvSpPr>
          <p:cNvPr id="1229" name="Google Shape;1229;p90"/>
          <p:cNvSpPr txBox="1"/>
          <p:nvPr/>
        </p:nvSpPr>
        <p:spPr>
          <a:xfrm>
            <a:off x="4470750" y="2047563"/>
            <a:ext cx="2025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90"/>
          <p:cNvSpPr txBox="1"/>
          <p:nvPr/>
        </p:nvSpPr>
        <p:spPr>
          <a:xfrm>
            <a:off x="4464298" y="1995546"/>
            <a:ext cx="2025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&lt;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31" name="Google Shape;1231;p90"/>
          <p:cNvGrpSpPr/>
          <p:nvPr/>
        </p:nvGrpSpPr>
        <p:grpSpPr>
          <a:xfrm>
            <a:off x="2294250" y="1682163"/>
            <a:ext cx="1185900" cy="1014900"/>
            <a:chOff x="2294250" y="1682163"/>
            <a:chExt cx="1185900" cy="1014900"/>
          </a:xfrm>
        </p:grpSpPr>
        <p:sp>
          <p:nvSpPr>
            <p:cNvPr id="1232" name="Google Shape;1232;p90"/>
            <p:cNvSpPr/>
            <p:nvPr/>
          </p:nvSpPr>
          <p:spPr>
            <a:xfrm>
              <a:off x="2294250" y="1682163"/>
              <a:ext cx="1185900" cy="10149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9}{11}&quot;&gt;&lt;mfrac&gt;&lt;mn&gt;9&lt;/mn&gt;&lt;mn&gt;11&lt;/mn&gt;&lt;/mfrac&gt;&lt;/math&gt;" id="1233" name="Google Shape;1233;p90" title="9 over 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75950" y="1841274"/>
              <a:ext cx="386513" cy="6967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34" name="Google Shape;1234;p90"/>
          <p:cNvGrpSpPr/>
          <p:nvPr/>
        </p:nvGrpSpPr>
        <p:grpSpPr>
          <a:xfrm>
            <a:off x="5663850" y="1682163"/>
            <a:ext cx="1185900" cy="1014900"/>
            <a:chOff x="5663850" y="1682163"/>
            <a:chExt cx="1185900" cy="1014900"/>
          </a:xfrm>
        </p:grpSpPr>
        <p:sp>
          <p:nvSpPr>
            <p:cNvPr id="1235" name="Google Shape;1235;p90"/>
            <p:cNvSpPr/>
            <p:nvPr/>
          </p:nvSpPr>
          <p:spPr>
            <a:xfrm>
              <a:off x="5663850" y="1682163"/>
              <a:ext cx="1185900" cy="10149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3}{15}&quot;&gt;&lt;mfrac&gt;&lt;mn&gt;13&lt;/mn&gt;&lt;mn&gt;15&lt;/mn&gt;&lt;/mfrac&gt;&lt;/math&gt;" id="1236" name="Google Shape;1236;p90" title="13 over 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068634" y="1816724"/>
              <a:ext cx="376341" cy="68655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37" name="Google Shape;1237;p90"/>
          <p:cNvSpPr txBox="1"/>
          <p:nvPr/>
        </p:nvSpPr>
        <p:spPr>
          <a:xfrm>
            <a:off x="324000" y="3240000"/>
            <a:ext cx="45000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Both are 2 ‘parts’ away from 1.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8" name="Google Shape;1238;p90"/>
          <p:cNvSpPr txBox="1"/>
          <p:nvPr/>
        </p:nvSpPr>
        <p:spPr>
          <a:xfrm>
            <a:off x="932950" y="4120975"/>
            <a:ext cx="248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is 2 smaller ‘parts’.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3}{15}&quot;&gt;&lt;mfrac&gt;&lt;mn&gt;13&lt;/mn&gt;&lt;mn&gt;15&lt;/mn&gt;&lt;/mfrac&gt;&lt;/math&gt;" id="1239" name="Google Shape;1239;p90" title="13 over 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002" y="4062600"/>
            <a:ext cx="282201" cy="5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91"/>
          <p:cNvSpPr txBox="1"/>
          <p:nvPr>
            <p:ph idx="1" type="body"/>
          </p:nvPr>
        </p:nvSpPr>
        <p:spPr>
          <a:xfrm>
            <a:off x="324000" y="759300"/>
            <a:ext cx="8237700" cy="8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Choose the most appropriate method to decide which of the </a:t>
            </a:r>
            <a:r>
              <a:rPr lang="en-GB"/>
              <a:t>following</a:t>
            </a:r>
            <a:r>
              <a:rPr lang="en-GB"/>
              <a:t> statements are true.</a:t>
            </a:r>
            <a:endParaRPr/>
          </a:p>
        </p:txBody>
      </p:sp>
      <p:sp>
        <p:nvSpPr>
          <p:cNvPr id="1245" name="Google Shape;1245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Ordering by comparing to one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3}{25}\ &amp;lt;\ \frac{25}{27}&quot;&gt;&lt;mfrac&gt;&lt;mn&gt;23&lt;/mn&gt;&lt;mn&gt;25&lt;/mn&gt;&lt;/mfrac&gt;&lt;mtext&gt;&lt;/mtext&gt;&lt;mo&gt;&amp;lt;&lt;/mo&gt;&lt;mtext&gt;&lt;/mtext&gt;&lt;mfrac&gt;&lt;mn&gt;25&lt;/mn&gt;&lt;mn&gt;27&lt;/mn&gt;&lt;/mfrac&gt;&lt;/math&gt;" id="1246" name="Google Shape;1246;p91" title="23 over 25 is less than 25 over 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5713" y="1609950"/>
            <a:ext cx="1298167" cy="641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3}{32}\ &amp;gt;\ \frac{23}{31}&quot;&gt;&lt;mfrac&gt;&lt;mn&gt;23&lt;/mn&gt;&lt;mn&gt;32&lt;/mn&gt;&lt;/mfrac&gt;&lt;mtext&gt;&lt;/mtext&gt;&lt;mo&gt;&amp;gt;&lt;/mo&gt;&lt;mtext&gt;&lt;/mtext&gt;&lt;mfrac&gt;&lt;mn&gt;23&lt;/mn&gt;&lt;mn&gt;31&lt;/mn&gt;&lt;/mfrac&gt;&lt;/math&gt;" id="1247" name="Google Shape;1247;p91" title="23 over 32 is greater than 23 over 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6825" y="2839860"/>
            <a:ext cx="1375959" cy="6758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1}\ &amp;gt;\ \frac{258}{771}&quot;&gt;&lt;mfrac&gt;&lt;mn&gt;7&lt;/mn&gt;&lt;mn&gt;21&lt;/mn&gt;&lt;/mfrac&gt;&lt;mtext&gt;&lt;/mtext&gt;&lt;mo&gt;&amp;gt;&lt;/mo&gt;&lt;mtext&gt;&lt;/mtext&gt;&lt;mfrac&gt;&lt;mn&gt;258&lt;/mn&gt;&lt;mn&gt;771&lt;/mn&gt;&lt;/mfrac&gt;&lt;/math&gt;" id="1248" name="Google Shape;1248;p91" title="7 over 21 is greater than 258 over 7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3614" y="4103805"/>
            <a:ext cx="1502373" cy="6612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3}\ &amp;gt;\ \frac{7}{11}&quot;&gt;&lt;mfrac&gt;&lt;mn&gt;9&lt;/mn&gt;&lt;mn&gt;13&lt;/mn&gt;&lt;/mfrac&gt;&lt;mtext&gt;&lt;/mtext&gt;&lt;mo&gt;&amp;gt;&lt;/mo&gt;&lt;mtext&gt;&lt;/mtext&gt;&lt;mfrac&gt;&lt;mn&gt;7&lt;/mn&gt;&lt;mn&gt;11&lt;/mn&gt;&lt;/mfrac&gt;&lt;/math&gt;" id="1249" name="Google Shape;1249;p91" title="9 over 13 is greater than 7 over 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63954" y="1609950"/>
            <a:ext cx="1385684" cy="6806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3}{321}\ &amp;lt;\ \frac{123}{231}&quot;&gt;&lt;mfrac&gt;&lt;mn&gt;123&lt;/mn&gt;&lt;mn&gt;321&lt;/mn&gt;&lt;/mfrac&gt;&lt;mtext&gt;&lt;/mtext&gt;&lt;mo&gt;&amp;lt;&lt;/mo&gt;&lt;mtext&gt;&lt;/mtext&gt;&lt;mfrac&gt;&lt;mn&gt;123&lt;/mn&gt;&lt;mn&gt;231&lt;/mn&gt;&lt;/mfrac&gt;&lt;/math&gt;" id="1250" name="Google Shape;1250;p91" title="123 over 321 is less than 123 over 2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63954" y="2859308"/>
            <a:ext cx="1701717" cy="6758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32}\ &amp;gt;\ \frac{137}{540}&quot;&gt;&lt;mfrac&gt;&lt;mn&gt;8&lt;/mn&gt;&lt;mn&gt;32&lt;/mn&gt;&lt;/mfrac&gt;&lt;mtext&gt;&lt;/mtext&gt;&lt;mo&gt;&amp;gt;&lt;/mo&gt;&lt;mtext&gt;&lt;/mtext&gt;&lt;mfrac&gt;&lt;mn&gt;137&lt;/mn&gt;&lt;mn&gt;540&lt;/mn&gt;&lt;/mfrac&gt;&lt;/math&gt;" id="1251" name="Google Shape;1251;p91" title="8 over 32 is greater than 137 over 5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63954" y="4103805"/>
            <a:ext cx="1502373" cy="661239"/>
          </a:xfrm>
          <a:prstGeom prst="rect">
            <a:avLst/>
          </a:prstGeom>
          <a:noFill/>
          <a:ln>
            <a:noFill/>
          </a:ln>
        </p:spPr>
      </p:pic>
      <p:sp>
        <p:nvSpPr>
          <p:cNvPr id="1252" name="Google Shape;1252;p91"/>
          <p:cNvSpPr txBox="1"/>
          <p:nvPr/>
        </p:nvSpPr>
        <p:spPr>
          <a:xfrm>
            <a:off x="628800" y="1543800"/>
            <a:ext cx="28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91"/>
          <p:cNvSpPr txBox="1"/>
          <p:nvPr/>
        </p:nvSpPr>
        <p:spPr>
          <a:xfrm>
            <a:off x="628800" y="2782072"/>
            <a:ext cx="28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91"/>
          <p:cNvSpPr txBox="1"/>
          <p:nvPr/>
        </p:nvSpPr>
        <p:spPr>
          <a:xfrm>
            <a:off x="628800" y="4020344"/>
            <a:ext cx="28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91"/>
          <p:cNvSpPr txBox="1"/>
          <p:nvPr/>
        </p:nvSpPr>
        <p:spPr>
          <a:xfrm>
            <a:off x="5155025" y="1620000"/>
            <a:ext cx="28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6" name="Google Shape;1256;p91"/>
          <p:cNvSpPr txBox="1"/>
          <p:nvPr/>
        </p:nvSpPr>
        <p:spPr>
          <a:xfrm>
            <a:off x="5155025" y="2858272"/>
            <a:ext cx="28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91"/>
          <p:cNvSpPr txBox="1"/>
          <p:nvPr/>
        </p:nvSpPr>
        <p:spPr>
          <a:xfrm>
            <a:off x="5155025" y="4096544"/>
            <a:ext cx="28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92"/>
          <p:cNvSpPr txBox="1"/>
          <p:nvPr>
            <p:ph idx="1" type="body"/>
          </p:nvPr>
        </p:nvSpPr>
        <p:spPr>
          <a:xfrm>
            <a:off x="324000" y="759300"/>
            <a:ext cx="4248000" cy="38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 Explain why Aisha is wrong. </a:t>
            </a:r>
            <a:endParaRPr/>
          </a:p>
        </p:txBody>
      </p:sp>
      <p:sp>
        <p:nvSpPr>
          <p:cNvPr id="1263" name="Google Shape;1263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Ordering by comparing to one</a:t>
            </a:r>
            <a:endParaRPr/>
          </a:p>
        </p:txBody>
      </p:sp>
      <p:pic>
        <p:nvPicPr>
          <p:cNvPr id="1264" name="Google Shape;1264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025" y="1578743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p92"/>
          <p:cNvSpPr txBox="1"/>
          <p:nvPr/>
        </p:nvSpPr>
        <p:spPr>
          <a:xfrm>
            <a:off x="324000" y="269959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66" name="Google Shape;1266;p92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 flipH="1">
            <a:off x="1570023" y="1262425"/>
            <a:ext cx="2462802" cy="81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p92"/>
          <p:cNvSpPr txBox="1"/>
          <p:nvPr/>
        </p:nvSpPr>
        <p:spPr>
          <a:xfrm>
            <a:off x="2031525" y="1428625"/>
            <a:ext cx="160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is larger than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2}{25}&quot;&gt;&lt;mfrac&gt;&lt;mn&gt;22&lt;/mn&gt;&lt;mn&gt;25&lt;/mn&gt;&lt;/mfrac&gt;&lt;/math&gt;" id="1268" name="Google Shape;1268;p92" title="22 over 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43075" y="1442761"/>
            <a:ext cx="248143" cy="4526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9}{22}&quot;&gt;&lt;mfrac&gt;&lt;mn&gt;19&lt;/mn&gt;&lt;mn&gt;22&lt;/mn&gt;&lt;/mfrac&gt;&lt;/math&gt;" id="1269" name="Google Shape;1269;p92" title="19 over 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32400" y="1439400"/>
            <a:ext cx="254849" cy="45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93"/>
          <p:cNvSpPr txBox="1"/>
          <p:nvPr>
            <p:ph idx="1" type="body"/>
          </p:nvPr>
        </p:nvSpPr>
        <p:spPr>
          <a:xfrm>
            <a:off x="391275" y="759300"/>
            <a:ext cx="8428800" cy="38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</a:t>
            </a:r>
            <a:r>
              <a:rPr lang="en-GB"/>
              <a:t>)  Use these numbers to complete the following proper fractions. 	10, 11, 12, 13, 14 and 15</a:t>
            </a:r>
            <a:r>
              <a:rPr lang="en-GB"/>
              <a:t>.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The fraction closest to one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The fraction closest to zero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t/>
            </a:r>
            <a:endParaRPr/>
          </a:p>
        </p:txBody>
      </p:sp>
      <p:sp>
        <p:nvSpPr>
          <p:cNvPr id="1275" name="Google Shape;1275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Ordering by comparing to one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2}{15}\ &amp;lt;\ \frac{ }{15}&quot;&gt;&lt;mfrac&gt;&lt;mn&gt;12&lt;/mn&gt;&lt;mn&gt;15&lt;/mn&gt;&lt;/mfrac&gt;&lt;mtext&gt;&lt;/mtext&gt;&lt;mo&gt;&amp;lt;&lt;/mo&gt;&lt;mtext&gt;&lt;/mtext&gt;&lt;mfrac&gt;&lt;mrow/&gt;&lt;mn&gt;15&lt;/mn&gt;&lt;/mfrac&gt;&lt;/math&gt;" id="1276" name="Google Shape;1276;p93" title="12 over 15 is less than the fraction with numerator and denominator 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25" y="3721201"/>
            <a:ext cx="1207363" cy="5948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13}\ &amp;lt;\ \frac{10}{ }&quot;&gt;&lt;mfrac&gt;&lt;mn&gt;10&lt;/mn&gt;&lt;mn&gt;13&lt;/mn&gt;&lt;/mfrac&gt;&lt;mtext&gt;&lt;/mtext&gt;&lt;mo&gt;&amp;lt;&lt;/mo&gt;&lt;mtext&gt;&lt;/mtext&gt;&lt;mfrac&gt;&lt;mn&gt;10&lt;/mn&gt;&lt;mrow/&gt;&lt;/mfrac&gt;&lt;/math&gt;" id="1277" name="Google Shape;1277;p93" title="10 over 13 is less than the fraction with numerator 10 and denominator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725" y="2698563"/>
            <a:ext cx="1247021" cy="6124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11}\ &amp;lt;\ \frac{13}{ }&quot;&gt;&lt;mfrac&gt;&lt;mn&gt;10&lt;/mn&gt;&lt;mn&gt;11&lt;/mn&gt;&lt;/mfrac&gt;&lt;mtext&gt;&lt;/mtext&gt;&lt;mo&gt;&amp;lt;&lt;/mo&gt;&lt;mtext&gt;&lt;/mtext&gt;&lt;mfrac&gt;&lt;mn&gt;13&lt;/mn&gt;&lt;mrow/&gt;&lt;/mfrac&gt;&lt;/math&gt;" id="1278" name="Google Shape;1278;p93" title="10 over 11 is less than the fraction with numerator 13 and denominator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5653" y="2702962"/>
            <a:ext cx="1242615" cy="603674"/>
          </a:xfrm>
          <a:prstGeom prst="rect">
            <a:avLst/>
          </a:prstGeom>
          <a:noFill/>
          <a:ln>
            <a:noFill/>
          </a:ln>
        </p:spPr>
      </p:pic>
      <p:sp>
        <p:nvSpPr>
          <p:cNvPr id="1279" name="Google Shape;1279;p93"/>
          <p:cNvSpPr txBox="1"/>
          <p:nvPr/>
        </p:nvSpPr>
        <p:spPr>
          <a:xfrm>
            <a:off x="5149925" y="2715528"/>
            <a:ext cx="28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93"/>
          <p:cNvSpPr txBox="1"/>
          <p:nvPr/>
        </p:nvSpPr>
        <p:spPr>
          <a:xfrm>
            <a:off x="5149925" y="3953800"/>
            <a:ext cx="28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1" name="Google Shape;1281;p93"/>
          <p:cNvSpPr/>
          <p:nvPr/>
        </p:nvSpPr>
        <p:spPr>
          <a:xfrm>
            <a:off x="1670775" y="3062925"/>
            <a:ext cx="392400" cy="382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p93"/>
          <p:cNvSpPr/>
          <p:nvPr/>
        </p:nvSpPr>
        <p:spPr>
          <a:xfrm>
            <a:off x="1670775" y="3628225"/>
            <a:ext cx="392400" cy="382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3" name="Google Shape;1283;p93"/>
          <p:cNvSpPr/>
          <p:nvPr/>
        </p:nvSpPr>
        <p:spPr>
          <a:xfrm>
            <a:off x="6644318" y="3062925"/>
            <a:ext cx="392400" cy="382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4" name="Google Shape;1284;p93"/>
          <p:cNvSpPr/>
          <p:nvPr/>
        </p:nvSpPr>
        <p:spPr>
          <a:xfrm>
            <a:off x="6624064" y="3721200"/>
            <a:ext cx="392400" cy="382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2}{13}\ &amp;gt;\ \frac{ }{11}&quot;&gt;&lt;mfrac&gt;&lt;mn&gt;12&lt;/mn&gt;&lt;mn&gt;13&lt;/mn&gt;&lt;/mfrac&gt;&lt;mtext&gt;&lt;/mtext&gt;&lt;mo&gt;&amp;gt;&lt;/mo&gt;&lt;mtext&gt;&lt;/mtext&gt;&lt;mfrac&gt;&lt;mrow/&gt;&lt;mn&gt;11&lt;/mn&gt;&lt;/mfrac&gt;&lt;/math&gt;" id="1285" name="Google Shape;1285;p93" title="12 over 13 is greater than the fraction with numerator and denominator 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81424" y="3825725"/>
            <a:ext cx="1211084" cy="59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9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Choose the most appropriate method to decide which of the following statements are true.</a:t>
            </a:r>
            <a:endParaRPr/>
          </a:p>
        </p:txBody>
      </p:sp>
      <p:sp>
        <p:nvSpPr>
          <p:cNvPr id="1291" name="Google Shape;1291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Ordering by comparing to one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3}{25}\ &amp;lt;\ \frac{25}{27}&quot;&gt;&lt;mfrac&gt;&lt;mn&gt;23&lt;/mn&gt;&lt;mn&gt;25&lt;/mn&gt;&lt;/mfrac&gt;&lt;mtext&gt;&lt;/mtext&gt;&lt;mo&gt;&amp;lt;&lt;/mo&gt;&lt;mtext&gt;&lt;/mtext&gt;&lt;mfrac&gt;&lt;mn&gt;25&lt;/mn&gt;&lt;mn&gt;27&lt;/mn&gt;&lt;/mfrac&gt;&lt;/math&gt;" id="1292" name="Google Shape;1292;p94" title="23 over 25 is less than 25 over 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5713" y="1609950"/>
            <a:ext cx="1298167" cy="641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3}{32}\ &amp;gt;\ \frac{23}{31}&quot;&gt;&lt;mfrac&gt;&lt;mn&gt;23&lt;/mn&gt;&lt;mn&gt;32&lt;/mn&gt;&lt;/mfrac&gt;&lt;mtext&gt;&lt;/mtext&gt;&lt;mo&gt;&amp;gt;&lt;/mo&gt;&lt;mtext&gt;&lt;/mtext&gt;&lt;mfrac&gt;&lt;mn&gt;23&lt;/mn&gt;&lt;mn&gt;31&lt;/mn&gt;&lt;/mfrac&gt;&lt;/math&gt;" id="1293" name="Google Shape;1293;p94" title="23 over 32 is greater than 23 over 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6825" y="2839860"/>
            <a:ext cx="1375959" cy="6758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1}\ &amp;gt;\ \frac{258}{771}&quot;&gt;&lt;mfrac&gt;&lt;mn&gt;7&lt;/mn&gt;&lt;mn&gt;21&lt;/mn&gt;&lt;/mfrac&gt;&lt;mtext&gt;&lt;/mtext&gt;&lt;mo&gt;&amp;gt;&lt;/mo&gt;&lt;mtext&gt;&lt;/mtext&gt;&lt;mfrac&gt;&lt;mn&gt;258&lt;/mn&gt;&lt;mn&gt;771&lt;/mn&gt;&lt;/mfrac&gt;&lt;/math&gt;" id="1294" name="Google Shape;1294;p94" title="7 over 21 is greater than 258 over 7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3614" y="4103805"/>
            <a:ext cx="1502373" cy="6612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3}\ &amp;gt;\ \frac{7}{11}&quot;&gt;&lt;mfrac&gt;&lt;mn&gt;9&lt;/mn&gt;&lt;mn&gt;13&lt;/mn&gt;&lt;/mfrac&gt;&lt;mtext&gt;&lt;/mtext&gt;&lt;mo&gt;&amp;gt;&lt;/mo&gt;&lt;mtext&gt;&lt;/mtext&gt;&lt;mfrac&gt;&lt;mn&gt;7&lt;/mn&gt;&lt;mn&gt;11&lt;/mn&gt;&lt;/mfrac&gt;&lt;/math&gt;" id="1295" name="Google Shape;1295;p94" title="9 over 13 is greater than 7 over 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63954" y="1609950"/>
            <a:ext cx="1385684" cy="6806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3}{321}\ &amp;lt;\ \frac{123}{231}&quot;&gt;&lt;mfrac&gt;&lt;mn&gt;123&lt;/mn&gt;&lt;mn&gt;321&lt;/mn&gt;&lt;/mfrac&gt;&lt;mtext&gt;&lt;/mtext&gt;&lt;mo&gt;&amp;lt;&lt;/mo&gt;&lt;mtext&gt;&lt;/mtext&gt;&lt;mfrac&gt;&lt;mn&gt;123&lt;/mn&gt;&lt;mn&gt;231&lt;/mn&gt;&lt;/mfrac&gt;&lt;/math&gt;" id="1296" name="Google Shape;1296;p94" title="123 over 321 is less than 123 over 2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63954" y="2859308"/>
            <a:ext cx="1701717" cy="6758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32}\ &amp;gt;\ \frac{137}{540}&quot;&gt;&lt;mfrac&gt;&lt;mn&gt;8&lt;/mn&gt;&lt;mn&gt;32&lt;/mn&gt;&lt;/mfrac&gt;&lt;mtext&gt;&lt;/mtext&gt;&lt;mo&gt;&amp;gt;&lt;/mo&gt;&lt;mtext&gt;&lt;/mtext&gt;&lt;mfrac&gt;&lt;mn&gt;137&lt;/mn&gt;&lt;mn&gt;540&lt;/mn&gt;&lt;/mfrac&gt;&lt;/math&gt;" id="1297" name="Google Shape;1297;p94" title="8 over 32 is greater than 137 over 5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63954" y="4103805"/>
            <a:ext cx="1502373" cy="661239"/>
          </a:xfrm>
          <a:prstGeom prst="rect">
            <a:avLst/>
          </a:prstGeom>
          <a:noFill/>
          <a:ln>
            <a:noFill/>
          </a:ln>
        </p:spPr>
      </p:pic>
      <p:sp>
        <p:nvSpPr>
          <p:cNvPr id="1298" name="Google Shape;1298;p94"/>
          <p:cNvSpPr txBox="1"/>
          <p:nvPr/>
        </p:nvSpPr>
        <p:spPr>
          <a:xfrm>
            <a:off x="628800" y="1543800"/>
            <a:ext cx="28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94"/>
          <p:cNvSpPr txBox="1"/>
          <p:nvPr/>
        </p:nvSpPr>
        <p:spPr>
          <a:xfrm>
            <a:off x="628800" y="2782072"/>
            <a:ext cx="28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0" name="Google Shape;1300;p94"/>
          <p:cNvSpPr txBox="1"/>
          <p:nvPr/>
        </p:nvSpPr>
        <p:spPr>
          <a:xfrm>
            <a:off x="628800" y="4020344"/>
            <a:ext cx="28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1" name="Google Shape;1301;p94"/>
          <p:cNvSpPr txBox="1"/>
          <p:nvPr/>
        </p:nvSpPr>
        <p:spPr>
          <a:xfrm>
            <a:off x="5155025" y="1620000"/>
            <a:ext cx="28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2" name="Google Shape;1302;p94"/>
          <p:cNvSpPr txBox="1"/>
          <p:nvPr/>
        </p:nvSpPr>
        <p:spPr>
          <a:xfrm>
            <a:off x="5155025" y="2858272"/>
            <a:ext cx="28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94"/>
          <p:cNvSpPr txBox="1"/>
          <p:nvPr/>
        </p:nvSpPr>
        <p:spPr>
          <a:xfrm>
            <a:off x="5155025" y="4096544"/>
            <a:ext cx="28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94"/>
          <p:cNvSpPr txBox="1"/>
          <p:nvPr/>
        </p:nvSpPr>
        <p:spPr>
          <a:xfrm>
            <a:off x="2872725" y="1735375"/>
            <a:ext cx="73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True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5" name="Google Shape;1305;p94"/>
          <p:cNvSpPr txBox="1"/>
          <p:nvPr/>
        </p:nvSpPr>
        <p:spPr>
          <a:xfrm>
            <a:off x="2872725" y="2965631"/>
            <a:ext cx="73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False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6" name="Google Shape;1306;p94"/>
          <p:cNvSpPr txBox="1"/>
          <p:nvPr/>
        </p:nvSpPr>
        <p:spPr>
          <a:xfrm>
            <a:off x="2872725" y="4195888"/>
            <a:ext cx="73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False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7" name="Google Shape;1307;p94"/>
          <p:cNvSpPr txBox="1"/>
          <p:nvPr/>
        </p:nvSpPr>
        <p:spPr>
          <a:xfrm>
            <a:off x="7688225" y="1761500"/>
            <a:ext cx="73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True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8" name="Google Shape;1308;p94"/>
          <p:cNvSpPr txBox="1"/>
          <p:nvPr/>
        </p:nvSpPr>
        <p:spPr>
          <a:xfrm>
            <a:off x="7688225" y="2914306"/>
            <a:ext cx="73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True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9" name="Google Shape;1309;p94"/>
          <p:cNvSpPr txBox="1"/>
          <p:nvPr/>
        </p:nvSpPr>
        <p:spPr>
          <a:xfrm>
            <a:off x="7688225" y="4067113"/>
            <a:ext cx="73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False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9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 Explain why Aisha is wrong. </a:t>
            </a:r>
            <a:endParaRPr/>
          </a:p>
        </p:txBody>
      </p:sp>
      <p:sp>
        <p:nvSpPr>
          <p:cNvPr id="1315" name="Google Shape;1315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Ordering by comparing to one</a:t>
            </a:r>
            <a:endParaRPr/>
          </a:p>
        </p:txBody>
      </p:sp>
      <p:pic>
        <p:nvPicPr>
          <p:cNvPr id="1316" name="Google Shape;1316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025" y="1578743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p95"/>
          <p:cNvSpPr txBox="1"/>
          <p:nvPr/>
        </p:nvSpPr>
        <p:spPr>
          <a:xfrm>
            <a:off x="324000" y="269959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95"/>
          <p:cNvSpPr txBox="1"/>
          <p:nvPr/>
        </p:nvSpPr>
        <p:spPr>
          <a:xfrm>
            <a:off x="324000" y="3640025"/>
            <a:ext cx="8279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Although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they are both 3 ‘parts’ away from 1, the ‘parts’ are larger in    so it further from 1.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9}{22}&quot;&gt;&lt;mfrac&gt;&lt;mn&gt;19&lt;/mn&gt;&lt;mn&gt;22&lt;/mn&gt;&lt;/mfrac&gt;&lt;/math&gt;" id="1319" name="Google Shape;1319;p95" title="19 over 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9950" y="4067125"/>
            <a:ext cx="254849" cy="45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0" name="Google Shape;1320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4275" y="1389975"/>
            <a:ext cx="2452020" cy="81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Ordering by comparing to one</a:t>
            </a:r>
            <a:endParaRPr/>
          </a:p>
        </p:txBody>
      </p:sp>
      <p:sp>
        <p:nvSpPr>
          <p:cNvPr id="1326" name="Google Shape;1326;p96"/>
          <p:cNvSpPr txBox="1"/>
          <p:nvPr>
            <p:ph idx="1" type="body"/>
          </p:nvPr>
        </p:nvSpPr>
        <p:spPr>
          <a:xfrm>
            <a:off x="391275" y="759300"/>
            <a:ext cx="8428800" cy="38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 Use these numbers to complete the following proper fractions. 	10, 11, 12, 13, 14 and 15.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The fraction closest to one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The fraction </a:t>
            </a:r>
            <a:r>
              <a:rPr lang="en-GB"/>
              <a:t>closest</a:t>
            </a:r>
            <a:r>
              <a:rPr lang="en-GB"/>
              <a:t> to zero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 startAt="3"/>
            </a:pPr>
            <a:r>
              <a:rPr lang="en-GB"/>
              <a:t>  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2}{15}\ &amp;lt;\ \frac{ }{15}&quot;&gt;&lt;mfrac&gt;&lt;mn&gt;12&lt;/mn&gt;&lt;mn&gt;15&lt;/mn&gt;&lt;/mfrac&gt;&lt;mtext&gt;&lt;/mtext&gt;&lt;mo&gt;&amp;lt;&lt;/mo&gt;&lt;mtext&gt;&lt;/mtext&gt;&lt;mfrac&gt;&lt;mrow/&gt;&lt;mn&gt;15&lt;/mn&gt;&lt;/mfrac&gt;&lt;/math&gt;" id="1327" name="Google Shape;1327;p96" title="12 over 15 is less than the fraction with numerator and denominator 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25" y="4102201"/>
            <a:ext cx="1207363" cy="5948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13}\ &amp;lt;\ \frac{10}{ }&quot;&gt;&lt;mfrac&gt;&lt;mn&gt;10&lt;/mn&gt;&lt;mn&gt;13&lt;/mn&gt;&lt;/mfrac&gt;&lt;mtext&gt;&lt;/mtext&gt;&lt;mo&gt;&amp;lt;&lt;/mo&gt;&lt;mtext&gt;&lt;/mtext&gt;&lt;mfrac&gt;&lt;mn&gt;10&lt;/mn&gt;&lt;mrow/&gt;&lt;/mfrac&gt;&lt;/math&gt;" id="1328" name="Google Shape;1328;p96" title="10 over 13 is less than the fraction with numerator 10 and denominator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725" y="3079563"/>
            <a:ext cx="1247021" cy="6124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11}\ &amp;lt;\ \frac{13}{ }&quot;&gt;&lt;mfrac&gt;&lt;mn&gt;10&lt;/mn&gt;&lt;mn&gt;11&lt;/mn&gt;&lt;/mfrac&gt;&lt;mtext&gt;&lt;/mtext&gt;&lt;mo&gt;&amp;lt;&lt;/mo&gt;&lt;mtext&gt;&lt;/mtext&gt;&lt;mfrac&gt;&lt;mn&gt;13&lt;/mn&gt;&lt;mrow/&gt;&lt;/mfrac&gt;&lt;/math&gt;" id="1329" name="Google Shape;1329;p96" title="10 over 11 is less than the fraction with numerator 13 and denominator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5653" y="3083962"/>
            <a:ext cx="1242615" cy="603674"/>
          </a:xfrm>
          <a:prstGeom prst="rect">
            <a:avLst/>
          </a:prstGeom>
          <a:noFill/>
          <a:ln>
            <a:noFill/>
          </a:ln>
        </p:spPr>
      </p:pic>
      <p:sp>
        <p:nvSpPr>
          <p:cNvPr id="1330" name="Google Shape;1330;p96"/>
          <p:cNvSpPr txBox="1"/>
          <p:nvPr/>
        </p:nvSpPr>
        <p:spPr>
          <a:xfrm>
            <a:off x="5149925" y="3096528"/>
            <a:ext cx="28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1" name="Google Shape;1331;p96"/>
          <p:cNvSpPr txBox="1"/>
          <p:nvPr/>
        </p:nvSpPr>
        <p:spPr>
          <a:xfrm>
            <a:off x="5149925" y="4334800"/>
            <a:ext cx="28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2" name="Google Shape;1332;p96"/>
          <p:cNvSpPr/>
          <p:nvPr/>
        </p:nvSpPr>
        <p:spPr>
          <a:xfrm>
            <a:off x="1670775" y="3443925"/>
            <a:ext cx="392400" cy="382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96"/>
          <p:cNvSpPr/>
          <p:nvPr/>
        </p:nvSpPr>
        <p:spPr>
          <a:xfrm>
            <a:off x="1670775" y="4009225"/>
            <a:ext cx="392400" cy="382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4" name="Google Shape;1334;p96"/>
          <p:cNvSpPr/>
          <p:nvPr/>
        </p:nvSpPr>
        <p:spPr>
          <a:xfrm>
            <a:off x="6649415" y="3443925"/>
            <a:ext cx="392400" cy="382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5" name="Google Shape;1335;p96"/>
          <p:cNvSpPr/>
          <p:nvPr/>
        </p:nvSpPr>
        <p:spPr>
          <a:xfrm>
            <a:off x="6624064" y="4102200"/>
            <a:ext cx="392400" cy="382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4}{15}&quot;&gt;&lt;mfrac&gt;&lt;mn&gt;14&lt;/mn&gt;&lt;mn&gt;15&lt;/mn&gt;&lt;/mfrac&gt;&lt;/math&gt;" id="1336" name="Google Shape;1336;p96" title="14 over 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1551186"/>
            <a:ext cx="294398" cy="5338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15}&quot;&gt;&lt;mfrac&gt;&lt;mn&gt;10&lt;/mn&gt;&lt;mn&gt;15&lt;/mn&gt;&lt;/mfrac&gt;&lt;/math&gt;" id="1337" name="Google Shape;1337;p96" title="10 over 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27540" y="2273850"/>
            <a:ext cx="290473" cy="529928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p96"/>
          <p:cNvSpPr txBox="1"/>
          <p:nvPr/>
        </p:nvSpPr>
        <p:spPr>
          <a:xfrm>
            <a:off x="2119375" y="3465675"/>
            <a:ext cx="92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11 or 12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9" name="Google Shape;1339;p96"/>
          <p:cNvSpPr txBox="1"/>
          <p:nvPr/>
        </p:nvSpPr>
        <p:spPr>
          <a:xfrm>
            <a:off x="2154525" y="4030975"/>
            <a:ext cx="145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13 or 14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0" name="Google Shape;1340;p96"/>
          <p:cNvSpPr txBox="1"/>
          <p:nvPr/>
        </p:nvSpPr>
        <p:spPr>
          <a:xfrm>
            <a:off x="7144575" y="3465675"/>
            <a:ext cx="1675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14 or 15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1" name="Google Shape;1341;p96"/>
          <p:cNvSpPr txBox="1"/>
          <p:nvPr/>
        </p:nvSpPr>
        <p:spPr>
          <a:xfrm>
            <a:off x="6675375" y="4123950"/>
            <a:ext cx="28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2}{13}\ &amp;gt;\ \frac{ }{11}&quot;&gt;&lt;mfrac&gt;&lt;mn&gt;12&lt;/mn&gt;&lt;mn&gt;13&lt;/mn&gt;&lt;/mfrac&gt;&lt;mtext&gt;&lt;/mtext&gt;&lt;mo&gt;&amp;gt;&lt;/mo&gt;&lt;mtext&gt;&lt;/mtext&gt;&lt;mfrac&gt;&lt;mrow/&gt;&lt;mn&gt;11&lt;/mn&gt;&lt;/mfrac&gt;&lt;/math&gt;" id="1342" name="Google Shape;1342;p96" title="12 over 13 is greater than the fraction with numerator and denominator 1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81424" y="4206725"/>
            <a:ext cx="1211084" cy="59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3" name="Google Shape;1343;p96"/>
          <p:cNvSpPr txBox="1"/>
          <p:nvPr/>
        </p:nvSpPr>
        <p:spPr>
          <a:xfrm>
            <a:off x="352500" y="4123953"/>
            <a:ext cx="28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97"/>
          <p:cNvSpPr txBox="1"/>
          <p:nvPr>
            <p:ph idx="1" type="body"/>
          </p:nvPr>
        </p:nvSpPr>
        <p:spPr>
          <a:xfrm>
            <a:off x="324000" y="1080000"/>
            <a:ext cx="8496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fractions, t</a:t>
            </a:r>
            <a:r>
              <a:rPr lang="en-GB"/>
              <a:t>he larger the denominator the smaller the ‘parts’.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Fractions can be compared using the numerator.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E.g.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Fractions can be compared by considering their distance from one.  E.g.								is larger as it is closer to 1. </a:t>
            </a:r>
            <a:endParaRPr/>
          </a:p>
        </p:txBody>
      </p:sp>
      <p:sp>
        <p:nvSpPr>
          <p:cNvPr id="1349" name="Google Shape;1349;p97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fractions in different ways</a:t>
            </a:r>
            <a:endParaRPr/>
          </a:p>
        </p:txBody>
      </p:sp>
      <p:pic>
        <p:nvPicPr>
          <p:cNvPr id="1350" name="Google Shape;1350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6750" y="3553475"/>
            <a:ext cx="2776949" cy="81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1" name="Google Shape;1351;p97"/>
          <p:cNvPicPr preferRelativeResize="0"/>
          <p:nvPr/>
        </p:nvPicPr>
        <p:blipFill rotWithShape="1">
          <a:blip r:embed="rId3">
            <a:alphaModFix/>
          </a:blip>
          <a:srcRect b="53240" l="0" r="92244" t="0"/>
          <a:stretch/>
        </p:blipFill>
        <p:spPr>
          <a:xfrm>
            <a:off x="4597475" y="3512438"/>
            <a:ext cx="301075" cy="535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1}{19}\ \ \frac{11}{17}\\&amp;#13;&amp;#10;\end{array}&quot;&gt;&lt;mtable columnalign=&quot;left&quot; columnspacing=&quot;1em&quot; rowspacing=&quot;4pt&quot;&gt;&lt;mtr&gt;&lt;mtd&gt;&lt;mfrac&gt;&lt;mn&gt;11&lt;/mn&gt;&lt;mn&gt;19&lt;/mn&gt;&lt;/mfrac&gt;&lt;mtext&gt;&lt;/mtext&gt;&lt;mtext&gt;&lt;/mtext&gt;&lt;mfrac&gt;&lt;mn&gt;11&lt;/mn&gt;&lt;mn&gt;17&lt;/mn&gt;&lt;/mfrac&gt;&lt;/mtd&gt;&lt;/mtr&gt;&lt;/mtable&gt;&lt;/math&gt;" id="1352" name="Google Shape;1352;p97" title="1 lines Line 1: 11 over 19 11 over 17"/>
          <p:cNvPicPr preferRelativeResize="0"/>
          <p:nvPr/>
        </p:nvPicPr>
        <p:blipFill rotWithShape="1">
          <a:blip r:embed="rId4">
            <a:alphaModFix/>
          </a:blip>
          <a:srcRect b="0" l="0" r="62909" t="0"/>
          <a:stretch/>
        </p:blipFill>
        <p:spPr>
          <a:xfrm>
            <a:off x="876792" y="2121937"/>
            <a:ext cx="230370" cy="3516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1}{19}\ \ \frac{11}{17}\\&amp;#13;&amp;#10;\end{array}&quot;&gt;&lt;mtable columnalign=&quot;left&quot; columnspacing=&quot;1em&quot; rowspacing=&quot;4pt&quot;&gt;&lt;mtr&gt;&lt;mtd&gt;&lt;mfrac&gt;&lt;mn&gt;11&lt;/mn&gt;&lt;mn&gt;19&lt;/mn&gt;&lt;/mfrac&gt;&lt;mtext&gt;&lt;/mtext&gt;&lt;mtext&gt;&lt;/mtext&gt;&lt;mfrac&gt;&lt;mn&gt;11&lt;/mn&gt;&lt;mn&gt;17&lt;/mn&gt;&lt;/mfrac&gt;&lt;/mtd&gt;&lt;/mtr&gt;&lt;/mtable&gt;&lt;/math&gt;" id="1353" name="Google Shape;1353;p97" title="1 lines Line 1: 11 over 19 11 over 17"/>
          <p:cNvPicPr preferRelativeResize="0"/>
          <p:nvPr/>
        </p:nvPicPr>
        <p:blipFill rotWithShape="1">
          <a:blip r:embed="rId4">
            <a:alphaModFix/>
          </a:blip>
          <a:srcRect b="0" l="59063" r="0" t="0"/>
          <a:stretch/>
        </p:blipFill>
        <p:spPr>
          <a:xfrm>
            <a:off x="839361" y="2530774"/>
            <a:ext cx="254260" cy="3516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3-11-2023/b103ca75-6908-4323-831d-3293b7e442b0&quot; data-equatio-type=&quot;image&quot;&gt;&lt;mglyph src=&quot;https://equatio-api.texthelp.com/desmos/get/13-11-2023/b103ca75-6908-4323-831d-3293b7e442b0&quot; alt=&quot;Equatio Image&quot;/&gt;&lt;/math&gt;" id="1354" name="Google Shape;1354;p97" title="Equatio Image"/>
          <p:cNvPicPr preferRelativeResize="0"/>
          <p:nvPr/>
        </p:nvPicPr>
        <p:blipFill rotWithShape="1">
          <a:blip r:embed="rId5">
            <a:alphaModFix/>
          </a:blip>
          <a:srcRect b="0" l="0" r="0" t="56480"/>
          <a:stretch/>
        </p:blipFill>
        <p:spPr>
          <a:xfrm>
            <a:off x="1159031" y="2575433"/>
            <a:ext cx="3228795" cy="26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3-11-2023/b103ca75-6908-4323-831d-3293b7e442b0&quot; data-equatio-type=&quot;image&quot;&gt;&lt;mglyph src=&quot;https://equatio-api.texthelp.com/desmos/get/13-11-2023/b103ca75-6908-4323-831d-3293b7e442b0&quot; alt=&quot;Equatio Image&quot;/&gt;&lt;/math&gt;" id="1355" name="Google Shape;1355;p97" title="Equatio Image"/>
          <p:cNvPicPr preferRelativeResize="0"/>
          <p:nvPr/>
        </p:nvPicPr>
        <p:blipFill rotWithShape="1">
          <a:blip r:embed="rId5">
            <a:alphaModFix/>
          </a:blip>
          <a:srcRect b="56480" l="0" r="0" t="0"/>
          <a:stretch/>
        </p:blipFill>
        <p:spPr>
          <a:xfrm>
            <a:off x="1159025" y="2166589"/>
            <a:ext cx="3228795" cy="26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1}{19}\ \ \frac{11}{17}\\&amp;#13;&amp;#10;\end{array}&quot;&gt;&lt;mtable columnalign=&quot;left&quot; columnspacing=&quot;1em&quot; rowspacing=&quot;4pt&quot;&gt;&lt;mtr&gt;&lt;mtd&gt;&lt;mfrac&gt;&lt;mn&gt;11&lt;/mn&gt;&lt;mn&gt;19&lt;/mn&gt;&lt;/mfrac&gt;&lt;mtext&gt;&lt;/mtext&gt;&lt;mtext&gt;&lt;/mtext&gt;&lt;mfrac&gt;&lt;mn&gt;11&lt;/mn&gt;&lt;mn&gt;17&lt;/mn&gt;&lt;/mfrac&gt;&lt;/mtd&gt;&lt;/mtr&gt;&lt;/mtable&gt;&lt;/math&gt;" id="1356" name="Google Shape;1356;p97" title="1 lines Line 1: 11 over 19 11 over 17"/>
          <p:cNvPicPr preferRelativeResize="0"/>
          <p:nvPr/>
        </p:nvPicPr>
        <p:blipFill rotWithShape="1">
          <a:blip r:embed="rId4">
            <a:alphaModFix/>
          </a:blip>
          <a:srcRect b="0" l="0" r="62909" t="0"/>
          <a:stretch/>
        </p:blipFill>
        <p:spPr>
          <a:xfrm>
            <a:off x="5428417" y="2401687"/>
            <a:ext cx="230370" cy="3516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1}{19}\ \ \frac{11}{17}\\&amp;#13;&amp;#10;\end{array}&quot;&gt;&lt;mtable columnalign=&quot;left&quot; columnspacing=&quot;1em&quot; rowspacing=&quot;4pt&quot;&gt;&lt;mtr&gt;&lt;mtd&gt;&lt;mfrac&gt;&lt;mn&gt;11&lt;/mn&gt;&lt;mn&gt;19&lt;/mn&gt;&lt;/mfrac&gt;&lt;mtext&gt;&lt;/mtext&gt;&lt;mtext&gt;&lt;/mtext&gt;&lt;mfrac&gt;&lt;mn&gt;11&lt;/mn&gt;&lt;mn&gt;17&lt;/mn&gt;&lt;/mfrac&gt;&lt;/mtd&gt;&lt;/mtr&gt;&lt;/mtable&gt;&lt;/math&gt;" id="1357" name="Google Shape;1357;p97" title="1 lines Line 1: 11 over 19 11 over 17"/>
          <p:cNvPicPr preferRelativeResize="0"/>
          <p:nvPr/>
        </p:nvPicPr>
        <p:blipFill rotWithShape="1">
          <a:blip r:embed="rId4">
            <a:alphaModFix/>
          </a:blip>
          <a:srcRect b="0" l="59063" r="0" t="0"/>
          <a:stretch/>
        </p:blipFill>
        <p:spPr>
          <a:xfrm>
            <a:off x="4667136" y="2401674"/>
            <a:ext cx="254260" cy="351646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Google Shape;1358;p97"/>
          <p:cNvSpPr txBox="1"/>
          <p:nvPr/>
        </p:nvSpPr>
        <p:spPr>
          <a:xfrm>
            <a:off x="5024313" y="2293100"/>
            <a:ext cx="3012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&gt;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p98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64" name="Google Shape;1364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