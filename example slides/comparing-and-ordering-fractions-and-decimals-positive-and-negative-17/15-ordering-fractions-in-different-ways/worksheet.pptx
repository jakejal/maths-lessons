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11" Type="http://schemas.openxmlformats.org/officeDocument/2006/relationships/image" Target="../media/image13.png"/><Relationship Id="rId10" Type="http://schemas.openxmlformats.org/officeDocument/2006/relationships/image" Target="../media/image17.png"/><Relationship Id="rId9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7.png"/><Relationship Id="rId7" Type="http://schemas.openxmlformats.org/officeDocument/2006/relationships/image" Target="../media/image15.png"/><Relationship Id="rId8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28.png"/><Relationship Id="rId10" Type="http://schemas.openxmlformats.org/officeDocument/2006/relationships/image" Target="../media/image18.png"/><Relationship Id="rId13" Type="http://schemas.openxmlformats.org/officeDocument/2006/relationships/image" Target="../media/image27.png"/><Relationship Id="rId12" Type="http://schemas.openxmlformats.org/officeDocument/2006/relationships/image" Target="../media/image22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Relationship Id="rId15" Type="http://schemas.openxmlformats.org/officeDocument/2006/relationships/image" Target="../media/image24.png"/><Relationship Id="rId14" Type="http://schemas.openxmlformats.org/officeDocument/2006/relationships/image" Target="../media/image26.png"/><Relationship Id="rId16" Type="http://schemas.openxmlformats.org/officeDocument/2006/relationships/image" Target="../media/image23.png"/><Relationship Id="rId5" Type="http://schemas.openxmlformats.org/officeDocument/2006/relationships/image" Target="../media/image14.png"/><Relationship Id="rId6" Type="http://schemas.openxmlformats.org/officeDocument/2006/relationships/image" Target="../media/image25.png"/><Relationship Id="rId7" Type="http://schemas.openxmlformats.org/officeDocument/2006/relationships/image" Target="../media/image19.png"/><Relationship Id="rId8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fractions in different ways</a:t>
            </a:r>
            <a:endParaRPr/>
          </a:p>
        </p:txBody>
      </p:sp>
      <p:sp>
        <p:nvSpPr>
          <p:cNvPr id="162" name="Google Shape;16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787025"/>
            <a:ext cx="6624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Insert either &lt; or &gt; to make the statement true.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8}{15}\ &amp;gt;\ \frac{8}{19}&quot;&gt;&lt;mfrac&gt;&lt;mn&gt;8&lt;/mn&gt;&lt;mn&gt;15&lt;/mn&gt;&lt;/mfrac&gt;&lt;mtext&gt;&lt;/mtext&gt;&lt;mo&gt;&amp;gt;&lt;/mo&gt;&lt;mtext&gt;&lt;/mtext&gt;&lt;mfrac&gt;&lt;mn&gt;8&lt;/mn&gt;&lt;mn&gt;19&lt;/mn&gt;&lt;/mfrac&gt;&lt;/math&gt;" id="164" name="Google Shape;164;p20" title="8 over 15 is greater than 8 over 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6448" y="3207555"/>
            <a:ext cx="866576" cy="4269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11}\ &amp;lt;\ \frac{7}{9}&quot;&gt;&lt;mfrac&gt;&lt;mn&gt;7&lt;/mn&gt;&lt;mn&gt;11&lt;/mn&gt;&lt;/mfrac&gt;&lt;mtext&gt;&lt;/mtext&gt;&lt;mo&gt;&amp;lt;&lt;/mo&gt;&lt;mtext&gt;&lt;/mtext&gt;&lt;mfrac&gt;&lt;mn&gt;7&lt;/mn&gt;&lt;mn&gt;9&lt;/mn&gt;&lt;/mfrac&gt;&lt;/math&gt;" id="165" name="Google Shape;165;p20" title="7 over 11 is less than seven ni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9329" y="2262647"/>
            <a:ext cx="797638" cy="4413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}{315}\ &amp;lt;\ \frac{11}{311}&quot;&gt;&lt;mfrac&gt;&lt;mn&gt;11&lt;/mn&gt;&lt;mn&gt;315&lt;/mn&gt;&lt;/mfrac&gt;&lt;mtext&gt;&lt;/mtext&gt;&lt;mo&gt;&amp;lt;&lt;/mo&gt;&lt;mtext&gt;&lt;/mtext&gt;&lt;mfrac&gt;&lt;mn&gt;11&lt;/mn&gt;&lt;mn&gt;311&lt;/mn&gt;&lt;/mfrac&gt;&lt;/math&gt;" id="166" name="Google Shape;166;p20" title="11 over 315 is less than 11 over 3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49328" y="3294831"/>
            <a:ext cx="1108172" cy="441308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0"/>
          <p:cNvSpPr txBox="1"/>
          <p:nvPr/>
        </p:nvSpPr>
        <p:spPr>
          <a:xfrm>
            <a:off x="468000" y="14498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Comparing fractions using a common numerator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13}{21}\ &amp;lt;\ \frac{13}{15}\\&amp;#13;&amp;#10;\end{array}&quot;&gt;&lt;mtable columnalign=&quot;left&quot; columnspacing=&quot;1em&quot; rowspacing=&quot;4pt&quot;&gt;&lt;mtr&gt;&lt;mtd&gt;&lt;mfrac&gt;&lt;mn&gt;13&lt;/mn&gt;&lt;mn&gt;21&lt;/mn&gt;&lt;/mfrac&gt;&lt;mtext&gt;&lt;/mtext&gt;&lt;mo&gt;&amp;lt;&lt;/mo&gt;&lt;mtext&gt;&lt;/mtext&gt;&lt;mfrac&gt;&lt;mn&gt;13&lt;/mn&gt;&lt;mn&gt;15&lt;/mn&gt;&lt;/mfrac&gt;&lt;/mtd&gt;&lt;/mtr&gt;&lt;/mtable&gt;&lt;/math&gt;" id="168" name="Google Shape;168;p20" title="1 lines Line 1: 13 over 21 is less than 13 over 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9641" y="2248504"/>
            <a:ext cx="1033749" cy="395564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0"/>
          <p:cNvSpPr txBox="1"/>
          <p:nvPr/>
        </p:nvSpPr>
        <p:spPr>
          <a:xfrm>
            <a:off x="3978053" y="2236638"/>
            <a:ext cx="252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3978053" y="3256906"/>
            <a:ext cx="252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1232380" y="2260736"/>
            <a:ext cx="309900" cy="315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1111880" y="3275732"/>
            <a:ext cx="309900" cy="315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4668131" y="2337463"/>
            <a:ext cx="309900" cy="315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4748465" y="3362970"/>
            <a:ext cx="309900" cy="315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8000" y="3283927"/>
            <a:ext cx="252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68000" y="4166140"/>
            <a:ext cx="662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 Place the words ‘larger’ and ‘smaller’ in the sentence: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 </a:t>
            </a:r>
            <a:r>
              <a:rPr lang="en-GB" sz="1200" u="sng">
                <a:latin typeface="Kalam"/>
                <a:ea typeface="Kalam"/>
                <a:cs typeface="Kalam"/>
                <a:sym typeface="Kalam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denominator the  </a:t>
            </a:r>
            <a:r>
              <a:rPr lang="en-GB" sz="1200" u="sng">
                <a:latin typeface="Kalam"/>
                <a:ea typeface="Kalam"/>
                <a:cs typeface="Kalam"/>
                <a:sym typeface="Kalam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‘parts’.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68000" y="2223498"/>
            <a:ext cx="252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68000" y="4747250"/>
            <a:ext cx="66240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Write the following in order from smallest to largest.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0}{21},\ \frac{10}{18},\ \frac{10}{35},\ \frac{10}{15}&quot;&gt;&lt;mfrac&gt;&lt;mn&gt;10&lt;/mn&gt;&lt;mn&gt;21&lt;/mn&gt;&lt;/mfrac&gt;&lt;mo&gt;,&lt;/mo&gt;&lt;mtext&gt;&lt;/mtext&gt;&lt;mfrac&gt;&lt;mn&gt;10&lt;/mn&gt;&lt;mn&gt;18&lt;/mn&gt;&lt;/mfrac&gt;&lt;mo&gt;,&lt;/mo&gt;&lt;mtext&gt;&lt;/mtext&gt;&lt;mfrac&gt;&lt;mn&gt;10&lt;/mn&gt;&lt;mn&gt;35&lt;/mn&gt;&lt;/mfrac&gt;&lt;mo&gt;,&lt;/mo&gt;&lt;mtext&gt;&lt;/mtext&gt;&lt;mfrac&gt;&lt;mn&gt;10&lt;/mn&gt;&lt;mn&gt;15&lt;/mn&gt;&lt;/mfrac&gt;&lt;/math&gt;" id="179" name="Google Shape;179;p20" title="10 over 21 comma 10 over 18 comma 10 over 35 comma 10 over 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8575" y="5109972"/>
            <a:ext cx="1277494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34}{512},\ \frac{234}{518},\ \frac{234}{500},\ \frac{234}{511}&quot;&gt;&lt;mfrac&gt;&lt;mn&gt;234&lt;/mn&gt;&lt;mn&gt;512&lt;/mn&gt;&lt;/mfrac&gt;&lt;mo&gt;,&lt;/mo&gt;&lt;mtext&gt;&lt;/mtext&gt;&lt;mfrac&gt;&lt;mn&gt;234&lt;/mn&gt;&lt;mn&gt;518&lt;/mn&gt;&lt;/mfrac&gt;&lt;mo&gt;,&lt;/mo&gt;&lt;mtext&gt;&lt;/mtext&gt;&lt;mfrac&gt;&lt;mn&gt;234&lt;/mn&gt;&lt;mn&gt;500&lt;/mn&gt;&lt;/mfrac&gt;&lt;mo&gt;,&lt;/mo&gt;&lt;mtext&gt;&lt;/mtext&gt;&lt;mfrac&gt;&lt;mn&gt;234&lt;/mn&gt;&lt;mn&gt;511&lt;/mn&gt;&lt;/mfrac&gt;&lt;/math&gt;" id="180" name="Google Shape;180;p20" title="234 over 512 comma 234 over 518 comma 234 over 500 comma 234 over 51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8575" y="5726152"/>
            <a:ext cx="1748079" cy="39557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468000" y="6344100"/>
            <a:ext cx="6624000" cy="35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3a) Place the words ‘larger’ and ‘smaller’ in the sentence: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is </a:t>
            </a:r>
            <a:r>
              <a:rPr lang="en-GB" sz="1200" u="sng">
                <a:latin typeface="Kalam"/>
                <a:ea typeface="Kalam"/>
                <a:cs typeface="Kalam"/>
                <a:sym typeface="Kalam"/>
              </a:rPr>
              <a:t>     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than      but </a:t>
            </a:r>
            <a:r>
              <a:rPr lang="en-GB" sz="1200" u="sng">
                <a:latin typeface="Kalam"/>
                <a:ea typeface="Kalam"/>
                <a:cs typeface="Kalam"/>
                <a:sym typeface="Kalam"/>
              </a:rPr>
              <a:t>      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than      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Jacob says ‘      is exactly halfway between         and      .  ’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Is he correct?       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2" name="Google Shape;182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861963" y="7318737"/>
            <a:ext cx="214100" cy="3892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0}&quot;&gt;&lt;mfrac&gt;&lt;mn&gt;3&lt;/mn&gt;&lt;mn&gt;10&lt;/mn&gt;&lt;/mfrac&gt;&lt;/math&gt;" id="183" name="Google Shape;183;p20" title="three tenth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175903" y="7312424"/>
            <a:ext cx="208243" cy="3892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2}&quot;&gt;&lt;mfrac&gt;&lt;mn&gt;3&lt;/mn&gt;&lt;mn&gt;12&lt;/mn&gt;&lt;/mfrac&gt;&lt;/math&gt;" id="184" name="Google Shape;184;p20" title="3 over 1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839299" y="7312427"/>
            <a:ext cx="214100" cy="389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34439" y="6605972"/>
            <a:ext cx="213207" cy="3876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0}&quot;&gt;&lt;mfrac&gt;&lt;mn&gt;3&lt;/mn&gt;&lt;mn&gt;10&lt;/mn&gt;&lt;/mfrac&gt;&lt;/math&gt;" id="186" name="Google Shape;186;p20" title="three tenth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552291" y="6613877"/>
            <a:ext cx="207374" cy="3876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2}&quot;&gt;&lt;mfrac&gt;&lt;mn&gt;3&lt;/mn&gt;&lt;mn&gt;12&lt;/mn&gt;&lt;/mfrac&gt;&lt;/math&gt;" id="187" name="Google Shape;187;p20" title="3 over 1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145038" y="6612251"/>
            <a:ext cx="213207" cy="38764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468000" y="8440773"/>
            <a:ext cx="6624000" cy="15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Find another fraction between      and     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 startAt="4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a fraction that is closer to      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 startAt="4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the fraction that is exactly halfway between       and     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10}&quot;&gt;&lt;mfrac&gt;&lt;mn&gt;3&lt;/mn&gt;&lt;mn&gt;10&lt;/mn&gt;&lt;/mfrac&gt;&lt;/math&gt;" id="189" name="Google Shape;189;p20" title="three tenth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910672" y="8339575"/>
            <a:ext cx="202518" cy="3785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2}&quot;&gt;&lt;mfrac&gt;&lt;mn&gt;3&lt;/mn&gt;&lt;mn&gt;12&lt;/mn&gt;&lt;/mfrac&gt;&lt;/math&gt;" id="190" name="Google Shape;190;p20" title="3 over 1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478166" y="8339563"/>
            <a:ext cx="208214" cy="3785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0}&quot;&gt;&lt;mfrac&gt;&lt;mn&gt;3&lt;/mn&gt;&lt;mn&gt;10&lt;/mn&gt;&lt;/mfrac&gt;&lt;/math&gt;" id="191" name="Google Shape;191;p20" title="three tenth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221765" y="9070211"/>
            <a:ext cx="214100" cy="4001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0}&quot;&gt;&lt;mfrac&gt;&lt;mn&gt;3&lt;/mn&gt;&lt;mn&gt;10&lt;/mn&gt;&lt;/mfrac&gt;&lt;/math&gt;" id="192" name="Google Shape;192;p20" title="three tenth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550599" y="9552326"/>
            <a:ext cx="212854" cy="3978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2}&quot;&gt;&lt;mfrac&gt;&lt;mn&gt;3&lt;/mn&gt;&lt;mn&gt;12&lt;/mn&gt;&lt;/mfrac&gt;&lt;/math&gt;" id="193" name="Google Shape;193;p20" title="3 over 1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198334" y="9539524"/>
            <a:ext cx="218840" cy="3978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4" name="Google Shape;194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0" name="Google Shape;200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</a:t>
            </a:r>
            <a:r>
              <a:rPr lang="en-GB"/>
              <a:t> fractions in different ways</a:t>
            </a:r>
            <a:endParaRPr/>
          </a:p>
        </p:txBody>
      </p:sp>
      <p:sp>
        <p:nvSpPr>
          <p:cNvPr id="201" name="Google Shape;201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2}{13}\ &amp;gt;\ \frac{ }{11}&quot;&gt;&lt;mfrac&gt;&lt;mn&gt;12&lt;/mn&gt;&lt;mn&gt;13&lt;/mn&gt;&lt;/mfrac&gt;&lt;mtext&gt;&lt;/mtext&gt;&lt;mo&gt;&amp;gt;&lt;/mo&gt;&lt;mtext&gt;&lt;/mtext&gt;&lt;mfrac&gt;&lt;mrow/&gt;&lt;mn&gt;11&lt;/mn&gt;&lt;/mfrac&gt;&lt;/math&gt;" id="203" name="Google Shape;203;p21" title="12 over 13 is greater than the fraction with numerator and denominator 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5010" y="9194053"/>
            <a:ext cx="949572" cy="466394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 txBox="1"/>
          <p:nvPr/>
        </p:nvSpPr>
        <p:spPr>
          <a:xfrm>
            <a:off x="468000" y="1064175"/>
            <a:ext cx="66255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Choose the most appropriate method to decide which of the following statements are true.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468000" y="725475"/>
            <a:ext cx="6625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Ordering by comparing to one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3}{25}\ &amp;lt;\ \frac{25}{27}&quot;&gt;&lt;mfrac&gt;&lt;mn&gt;23&lt;/mn&gt;&lt;mn&gt;25&lt;/mn&gt;&lt;/mfrac&gt;&lt;mtext&gt;&lt;/mtext&gt;&lt;mo&gt;&amp;lt;&lt;/mo&gt;&lt;mtext&gt;&lt;/mtext&gt;&lt;mfrac&gt;&lt;mn&gt;25&lt;/mn&gt;&lt;mn&gt;27&lt;/mn&gt;&lt;/mfrac&gt;&lt;/math&gt;" id="206" name="Google Shape;206;p21" title="23 over 25 is less than 25 over 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5111" y="1701100"/>
            <a:ext cx="979773" cy="4843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3}{32}\ &amp;gt;\ \frac{23}{31}&quot;&gt;&lt;mfrac&gt;&lt;mn&gt;23&lt;/mn&gt;&lt;mn&gt;32&lt;/mn&gt;&lt;/mfrac&gt;&lt;mtext&gt;&lt;/mtext&gt;&lt;mo&gt;&amp;gt;&lt;/mo&gt;&lt;mtext&gt;&lt;/mtext&gt;&lt;mfrac&gt;&lt;mn&gt;23&lt;/mn&gt;&lt;mn&gt;31&lt;/mn&gt;&lt;/mfrac&gt;&lt;/math&gt;" id="207" name="Google Shape;207;p21" title="23 over 32 is greater than 23 over 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5762" y="2629353"/>
            <a:ext cx="1038485" cy="510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21}\ &amp;gt;\ \frac{258}{771}&quot;&gt;&lt;mfrac&gt;&lt;mn&gt;7&lt;/mn&gt;&lt;mn&gt;21&lt;/mn&gt;&lt;/mfrac&gt;&lt;mtext&gt;&lt;/mtext&gt;&lt;mo&gt;&amp;gt;&lt;/mo&gt;&lt;mtext&gt;&lt;/mtext&gt;&lt;mfrac&gt;&lt;mn&gt;258&lt;/mn&gt;&lt;mn&gt;771&lt;/mn&gt;&lt;/mfrac&gt;&lt;/math&gt;" id="208" name="Google Shape;208;p21" title="7 over 21 is greater than 258 over 77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8054" y="3583292"/>
            <a:ext cx="1133894" cy="4990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13}\ &amp;gt;\ \frac{7}{11}&quot;&gt;&lt;mfrac&gt;&lt;mn&gt;9&lt;/mn&gt;&lt;mn&gt;13&lt;/mn&gt;&lt;/mfrac&gt;&lt;mtext&gt;&lt;/mtext&gt;&lt;mo&gt;&amp;gt;&lt;/mo&gt;&lt;mtext&gt;&lt;/mtext&gt;&lt;mfrac&gt;&lt;mn&gt;7&lt;/mn&gt;&lt;mn&gt;11&lt;/mn&gt;&lt;/mfrac&gt;&lt;/math&gt;" id="209" name="Google Shape;209;p21" title="9 over 13 is greater than 7 over 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92737" y="1701100"/>
            <a:ext cx="1045825" cy="5137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3}{321}\ &amp;lt;\ \frac{123}{231}&quot;&gt;&lt;mfrac&gt;&lt;mn&gt;123&lt;/mn&gt;&lt;mn&gt;321&lt;/mn&gt;&lt;/mfrac&gt;&lt;mtext&gt;&lt;/mtext&gt;&lt;mo&gt;&amp;lt;&lt;/mo&gt;&lt;mtext&gt;&lt;/mtext&gt;&lt;mfrac&gt;&lt;mn&gt;123&lt;/mn&gt;&lt;mn&gt;231&lt;/mn&gt;&lt;/mfrac&gt;&lt;/math&gt;" id="210" name="Google Shape;210;p21" title="123 over 321 is less than 123 over 23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192737" y="2644031"/>
            <a:ext cx="1284346" cy="510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32}\ &amp;gt;\ \frac{137}{540}&quot;&gt;&lt;mfrac&gt;&lt;mn&gt;8&lt;/mn&gt;&lt;mn&gt;32&lt;/mn&gt;&lt;/mfrac&gt;&lt;mtext&gt;&lt;/mtext&gt;&lt;mo&gt;&amp;gt;&lt;/mo&gt;&lt;mtext&gt;&lt;/mtext&gt;&lt;mfrac&gt;&lt;mn&gt;137&lt;/mn&gt;&lt;mn&gt;540&lt;/mn&gt;&lt;/mfrac&gt;&lt;/math&gt;" id="211" name="Google Shape;211;p21" title="8 over 32 is greater than 137 over 54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192737" y="3583292"/>
            <a:ext cx="1133894" cy="499058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1"/>
          <p:cNvSpPr txBox="1"/>
          <p:nvPr/>
        </p:nvSpPr>
        <p:spPr>
          <a:xfrm>
            <a:off x="468000" y="1651175"/>
            <a:ext cx="218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468000" y="2585738"/>
            <a:ext cx="218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468000" y="3520301"/>
            <a:ext cx="218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3884103" y="1708685"/>
            <a:ext cx="218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3884103" y="2643248"/>
            <a:ext cx="218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3884103" y="3577812"/>
            <a:ext cx="218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468000" y="4487675"/>
            <a:ext cx="662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Explain why Aisha is wrong.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9" name="Google Shape;219;p21"/>
          <p:cNvPicPr preferRelativeResize="0"/>
          <p:nvPr/>
        </p:nvPicPr>
        <p:blipFill rotWithShape="1">
          <a:blip r:embed="rId10">
            <a:alphaModFix/>
          </a:blip>
          <a:srcRect b="0" l="0" r="69082" t="56280"/>
          <a:stretch/>
        </p:blipFill>
        <p:spPr>
          <a:xfrm flipH="1">
            <a:off x="1291178" y="4717525"/>
            <a:ext cx="1980027" cy="81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1"/>
          <p:cNvSpPr txBox="1"/>
          <p:nvPr/>
        </p:nvSpPr>
        <p:spPr>
          <a:xfrm>
            <a:off x="1752680" y="4883725"/>
            <a:ext cx="160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is larger than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1" name="Google Shape;221;p2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47225" y="5033840"/>
            <a:ext cx="375525" cy="709074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 txBox="1"/>
          <p:nvPr/>
        </p:nvSpPr>
        <p:spPr>
          <a:xfrm>
            <a:off x="467988" y="5931965"/>
            <a:ext cx="11340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2}{25}&quot;&gt;&lt;mfrac&gt;&lt;mn&gt;22&lt;/mn&gt;&lt;mn&gt;25&lt;/mn&gt;&lt;/mfrac&gt;&lt;/math&gt;" id="223" name="Google Shape;223;p21" title="22 over 2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871880" y="4825973"/>
            <a:ext cx="248143" cy="4526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9}{22}&quot;&gt;&lt;mfrac&gt;&lt;mn&gt;19&lt;/mn&gt;&lt;mn&gt;22&lt;/mn&gt;&lt;/mfrac&gt;&lt;/math&gt;" id="224" name="Google Shape;224;p21" title="19 over 22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497830" y="4822625"/>
            <a:ext cx="254849" cy="459399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1"/>
          <p:cNvSpPr txBox="1"/>
          <p:nvPr/>
        </p:nvSpPr>
        <p:spPr>
          <a:xfrm>
            <a:off x="468000" y="6951600"/>
            <a:ext cx="66255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 Use these numbers to complete the following proper fractions. 10, 11, 12, 13, 14 and 15.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fraction closest to one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Lexend"/>
              <a:buAutoNum type="alphaL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fraction closest to zero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Lexend"/>
              <a:buAutoNum type="alphaLcParenR" startAt="3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5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2}{15}\ &amp;lt;\ \frac{ }{15}&quot;&gt;&lt;mfrac&gt;&lt;mn&gt;12&lt;/mn&gt;&lt;mn&gt;15&lt;/mn&gt;&lt;/mfrac&gt;&lt;mtext&gt;&lt;/mtext&gt;&lt;mo&gt;&amp;lt;&lt;/mo&gt;&lt;mtext&gt;&lt;/mtext&gt;&lt;mfrac&gt;&lt;mrow/&gt;&lt;mn&gt;15&lt;/mn&gt;&lt;/mfrac&gt;&lt;/math&gt;" id="226" name="Google Shape;226;p21" title="12 over 15 is less than the fraction with numerator and denominator 15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75100" y="9112101"/>
            <a:ext cx="946654" cy="4664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}{13}\ &amp;lt;\ \frac{10}{ }&quot;&gt;&lt;mfrac&gt;&lt;mn&gt;10&lt;/mn&gt;&lt;mn&gt;13&lt;/mn&gt;&lt;/mfrac&gt;&lt;mtext&gt;&lt;/mtext&gt;&lt;mo&gt;&amp;lt;&lt;/mo&gt;&lt;mtext&gt;&lt;/mtext&gt;&lt;mfrac&gt;&lt;mn&gt;10&lt;/mn&gt;&lt;mrow/&gt;&lt;/mfrac&gt;&lt;/math&gt;" id="227" name="Google Shape;227;p21" title="10 over 13 is less than the fraction with numerator 10 and denominator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775100" y="8310297"/>
            <a:ext cx="977749" cy="4802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}{11}\ &amp;lt;\ \frac{13}{ }&quot;&gt;&lt;mfrac&gt;&lt;mn&gt;10&lt;/mn&gt;&lt;mn&gt;11&lt;/mn&gt;&lt;/mfrac&gt;&lt;mtext&gt;&lt;/mtext&gt;&lt;mo&gt;&amp;lt;&lt;/mo&gt;&lt;mtext&gt;&lt;/mtext&gt;&lt;mfrac&gt;&lt;mn&gt;13&lt;/mn&gt;&lt;mrow/&gt;&lt;/mfrac&gt;&lt;/math&gt;" id="228" name="Google Shape;228;p21" title="10 over 11 is less than the fraction with numerator 13 and denominator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4672644" y="8313747"/>
            <a:ext cx="974294" cy="47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1"/>
          <p:cNvSpPr txBox="1"/>
          <p:nvPr/>
        </p:nvSpPr>
        <p:spPr>
          <a:xfrm>
            <a:off x="4189877" y="8323600"/>
            <a:ext cx="375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4189872" y="9294471"/>
            <a:ext cx="227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1461983" y="8595977"/>
            <a:ext cx="307800" cy="2997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1461983" y="9039202"/>
            <a:ext cx="307800" cy="2997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5365574" y="8595977"/>
            <a:ext cx="307800" cy="2997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5345697" y="9112100"/>
            <a:ext cx="307800" cy="2997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432627" y="9096650"/>
            <a:ext cx="375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