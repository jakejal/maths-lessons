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C5209C-1589-4023-9E60-B47E19182506}">
  <a:tblStyle styleId="{15C5209C-1589-4023-9E60-B47E191825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slide" Target="slides/slide4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9fcac2e930_0_48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9fcac2e93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9fcac2e930_0_8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9fcac2e93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22.png"/><Relationship Id="rId13" Type="http://schemas.openxmlformats.org/officeDocument/2006/relationships/image" Target="../media/image15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1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21.png"/><Relationship Id="rId8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26.png"/><Relationship Id="rId10" Type="http://schemas.openxmlformats.org/officeDocument/2006/relationships/image" Target="../media/image27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9.png"/><Relationship Id="rId9" Type="http://schemas.openxmlformats.org/officeDocument/2006/relationships/image" Target="../media/image28.png"/><Relationship Id="rId5" Type="http://schemas.openxmlformats.org/officeDocument/2006/relationships/image" Target="../media/image8.png"/><Relationship Id="rId6" Type="http://schemas.openxmlformats.org/officeDocument/2006/relationships/image" Target="../media/image34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terminating decimals to fractions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74600"/>
            <a:ext cx="381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Fractions less than 1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3379121" y="2231065"/>
            <a:ext cx="998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0.34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3379121" y="2849549"/>
            <a:ext cx="14121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0.542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3379121" y="3545881"/>
            <a:ext cx="1288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   0.1248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=\frac{3}{25}&quot;&gt;&lt;mo&gt;=&lt;/mo&gt;&lt;mfrac&gt;&lt;mn&gt;3&lt;/mn&gt;&lt;mn&gt;25&lt;/mn&gt;&lt;/mfrac&gt;&lt;/math&gt;" id="177" name="Google Shape;177;p20" title="equals 3 over 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2664" y="2713776"/>
            <a:ext cx="544337" cy="524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3}{20}&quot;&gt;&lt;mo&gt;=&lt;/mo&gt;&lt;mfrac&gt;&lt;mn&gt;13&lt;/mn&gt;&lt;mn&gt;20&lt;/mn&gt;&lt;/mfrac&gt;&lt;/math&gt;" id="178" name="Google Shape;178;p20" title="equals 13 over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9448" y="2095300"/>
            <a:ext cx="547554" cy="524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08}{125}&quot;&gt;&lt;mo&gt;=&lt;/mo&gt;&lt;mfrac&gt;&lt;mn&gt;108&lt;/mn&gt;&lt;mn&gt;125&lt;/mn&gt;&lt;/mfrac&gt;&lt;/math&gt;" id="179" name="Google Shape;179;p20" title="equals 108 over 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7681" y="3429360"/>
            <a:ext cx="672645" cy="524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17}{50}&quot;&gt;&lt;mo&gt;=&lt;/mo&gt;&lt;mfrac&gt;&lt;mn&gt;17&lt;/mn&gt;&lt;mn&gt;50&lt;/mn&gt;&lt;/mfrac&gt;&lt;/math&gt;" id="180" name="Google Shape;180;p20" title="equals 17 over 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0022" y="2130378"/>
            <a:ext cx="471457" cy="4547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271}{500}&quot;&gt;&lt;mo&gt;=&lt;/mo&gt;&lt;mfrac&gt;&lt;mn&gt;271&lt;/mn&gt;&lt;mn&gt;500&lt;/mn&gt;&lt;/mfrac&gt;&lt;/math&gt;" id="181" name="Google Shape;181;p20" title="equals 271 over 5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10029" y="2768399"/>
            <a:ext cx="615379" cy="4809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\frac{78}{625}&quot;&gt;&lt;mo&gt;=&lt;/mo&gt;&lt;mfrac&gt;&lt;mn&gt;78&lt;/mn&gt;&lt;mn&gt;625&lt;/mn&gt;&lt;/mfrac&gt;&lt;/math&gt;" id="182" name="Google Shape;182;p20" title="equals 78 over 6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42871" y="3427877"/>
            <a:ext cx="615379" cy="480984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468000" y="18181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Convert the following into simplified fractions: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46900" y="2231075"/>
            <a:ext cx="21024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0.65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474250" y="2849549"/>
            <a:ext cx="928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0.12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68000" y="3545881"/>
            <a:ext cx="998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 0.864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4475" y="4059200"/>
            <a:ext cx="66240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Laura and Jacob are given 0.56 and 0.560 to convert into a fraction.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Who is correct and work out the fractional equivalent to the decimal(s)?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8" name="Google Shape;188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39900" y="4308175"/>
            <a:ext cx="1708498" cy="106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931934" y="5178778"/>
            <a:ext cx="7986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says</a:t>
            </a:r>
            <a:endParaRPr sz="1200"/>
          </a:p>
        </p:txBody>
      </p:sp>
      <p:sp>
        <p:nvSpPr>
          <p:cNvPr id="190" name="Google Shape;190;p20"/>
          <p:cNvSpPr txBox="1"/>
          <p:nvPr/>
        </p:nvSpPr>
        <p:spPr>
          <a:xfrm>
            <a:off x="4006284" y="5212635"/>
            <a:ext cx="7338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says</a:t>
            </a:r>
            <a:endParaRPr sz="1200"/>
          </a:p>
        </p:txBody>
      </p:sp>
      <p:pic>
        <p:nvPicPr>
          <p:cNvPr id="191" name="Google Shape;191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84725" y="4342050"/>
            <a:ext cx="2180024" cy="112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31935" y="4425544"/>
            <a:ext cx="564744" cy="739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006284" y="4513356"/>
            <a:ext cx="564745" cy="69566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1762350" y="4319050"/>
            <a:ext cx="2102400" cy="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answers will be different as 0.56 is two decimals places and 0.560 is 3 decimal places.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4829775" y="4419374"/>
            <a:ext cx="1708500" cy="7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It is the same decimal so it will be the same fraction.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64475" y="65990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3a) Write the fraction which is halfway between 0.96 and 0.88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64475" y="7111276"/>
            <a:ext cx="6624266" cy="16705"/>
          </a:xfrm>
          <a:custGeom>
            <a:rect b="b" l="l" r="r" t="t"/>
            <a:pathLst>
              <a:path extrusionOk="0" h="762" w="302133">
                <a:moveTo>
                  <a:pt x="0" y="0"/>
                </a:moveTo>
                <a:cubicBezTo>
                  <a:pt x="100711" y="0"/>
                  <a:pt x="201422" y="762"/>
                  <a:pt x="302133" y="762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sp>
      <p:grpSp>
        <p:nvGrpSpPr>
          <p:cNvPr id="198" name="Google Shape;198;p20"/>
          <p:cNvGrpSpPr/>
          <p:nvPr/>
        </p:nvGrpSpPr>
        <p:grpSpPr>
          <a:xfrm>
            <a:off x="464463" y="5999588"/>
            <a:ext cx="5887630" cy="394183"/>
            <a:chOff x="324000" y="2471150"/>
            <a:chExt cx="7928400" cy="530815"/>
          </a:xfrm>
        </p:grpSpPr>
        <p:sp>
          <p:nvSpPr>
            <p:cNvPr id="199" name="Google Shape;199;p20"/>
            <p:cNvSpPr txBox="1"/>
            <p:nvPr/>
          </p:nvSpPr>
          <p:spPr>
            <a:xfrm>
              <a:off x="324000" y="2471150"/>
              <a:ext cx="79284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Both 0.56 and 0.560 are equal. They both are equivalent to</a:t>
              </a:r>
              <a:r>
                <a:rPr lang="en-GB" sz="1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1200"/>
            </a:p>
          </p:txBody>
        </p:sp>
        <p:pic>
          <p:nvPicPr>
            <p:cNvPr descr="&lt;math xmlns=&quot;http://www.w3.org/1998/Math/MathML&quot; display=&quot;block&quot; data-is-equatio=&quot;1&quot; data-latex=&quot;\frac{14}{25}&quot;&gt;&lt;mfrac&gt;&lt;mn&gt;14&lt;/mn&gt;&lt;mn&gt;25&lt;/mn&gt;&lt;/mfrac&gt;&lt;/math&gt;" id="200" name="Google Shape;200;p20" title="14 over 25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5787025" y="2477290"/>
              <a:ext cx="289355" cy="524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1" name="Google Shape;201;p20"/>
          <p:cNvSpPr txBox="1"/>
          <p:nvPr/>
        </p:nvSpPr>
        <p:spPr>
          <a:xfrm>
            <a:off x="6409175" y="7251826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0.96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" name="Google Shape;202;p20"/>
          <p:cNvCxnSpPr/>
          <p:nvPr/>
        </p:nvCxnSpPr>
        <p:spPr>
          <a:xfrm>
            <a:off x="921834" y="6915348"/>
            <a:ext cx="0" cy="40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20"/>
          <p:cNvCxnSpPr/>
          <p:nvPr/>
        </p:nvCxnSpPr>
        <p:spPr>
          <a:xfrm>
            <a:off x="3805196" y="6915348"/>
            <a:ext cx="0" cy="40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0"/>
          <p:cNvCxnSpPr/>
          <p:nvPr/>
        </p:nvCxnSpPr>
        <p:spPr>
          <a:xfrm>
            <a:off x="6688557" y="6915348"/>
            <a:ext cx="0" cy="40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20"/>
          <p:cNvSpPr txBox="1"/>
          <p:nvPr/>
        </p:nvSpPr>
        <p:spPr>
          <a:xfrm>
            <a:off x="671625" y="7251826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0.88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64475" y="80104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3b) Write the fraction which is a quarter of the way between 0.42 and 0.84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464475" y="8553812"/>
            <a:ext cx="6624266" cy="16320"/>
          </a:xfrm>
          <a:custGeom>
            <a:rect b="b" l="l" r="r" t="t"/>
            <a:pathLst>
              <a:path extrusionOk="0" h="762" w="302133">
                <a:moveTo>
                  <a:pt x="0" y="0"/>
                </a:moveTo>
                <a:cubicBezTo>
                  <a:pt x="100711" y="0"/>
                  <a:pt x="201422" y="762"/>
                  <a:pt x="302133" y="762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208" name="Google Shape;208;p20"/>
          <p:cNvSpPr txBox="1"/>
          <p:nvPr/>
        </p:nvSpPr>
        <p:spPr>
          <a:xfrm>
            <a:off x="6424330" y="8714866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0.84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9" name="Google Shape;209;p20"/>
          <p:cNvCxnSpPr/>
          <p:nvPr/>
        </p:nvCxnSpPr>
        <p:spPr>
          <a:xfrm>
            <a:off x="921831" y="8362414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0"/>
          <p:cNvCxnSpPr/>
          <p:nvPr/>
        </p:nvCxnSpPr>
        <p:spPr>
          <a:xfrm>
            <a:off x="3805176" y="8362414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0"/>
          <p:cNvCxnSpPr/>
          <p:nvPr/>
        </p:nvCxnSpPr>
        <p:spPr>
          <a:xfrm>
            <a:off x="6688521" y="8362414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20"/>
          <p:cNvSpPr txBox="1"/>
          <p:nvPr/>
        </p:nvSpPr>
        <p:spPr>
          <a:xfrm>
            <a:off x="671635" y="8714866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0.42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3" name="Google Shape;213;p20"/>
          <p:cNvCxnSpPr/>
          <p:nvPr/>
        </p:nvCxnSpPr>
        <p:spPr>
          <a:xfrm>
            <a:off x="2363515" y="6925341"/>
            <a:ext cx="0" cy="40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0"/>
          <p:cNvCxnSpPr/>
          <p:nvPr/>
        </p:nvCxnSpPr>
        <p:spPr>
          <a:xfrm>
            <a:off x="5246876" y="6925330"/>
            <a:ext cx="0" cy="408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20"/>
          <p:cNvCxnSpPr/>
          <p:nvPr/>
        </p:nvCxnSpPr>
        <p:spPr>
          <a:xfrm>
            <a:off x="920606" y="8357525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20"/>
          <p:cNvCxnSpPr/>
          <p:nvPr/>
        </p:nvCxnSpPr>
        <p:spPr>
          <a:xfrm>
            <a:off x="3803951" y="8357525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0"/>
          <p:cNvCxnSpPr/>
          <p:nvPr/>
        </p:nvCxnSpPr>
        <p:spPr>
          <a:xfrm>
            <a:off x="6687295" y="8357525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20"/>
          <p:cNvCxnSpPr/>
          <p:nvPr/>
        </p:nvCxnSpPr>
        <p:spPr>
          <a:xfrm>
            <a:off x="2362278" y="8367286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0"/>
          <p:cNvCxnSpPr/>
          <p:nvPr/>
        </p:nvCxnSpPr>
        <p:spPr>
          <a:xfrm>
            <a:off x="5245623" y="8367276"/>
            <a:ext cx="0" cy="39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23}{25}&quot;&gt;&lt;mfrac&gt;&lt;mn&gt;23&lt;/mn&gt;&lt;mn&gt;25&lt;/mn&gt;&lt;/mfrac&gt;&lt;/math&gt;" id="220" name="Google Shape;220;p20" title="23 over 2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676764" y="7377502"/>
            <a:ext cx="249256" cy="45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1}{40}&quot;&gt;&lt;mfrac&gt;&lt;mn&gt;21&lt;/mn&gt;&lt;mn&gt;40&lt;/mn&gt;&lt;/mfrac&gt;&lt;/math&gt;" id="221" name="Google Shape;221;p20" title="21 over 4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230651" y="8820697"/>
            <a:ext cx="249250" cy="4619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Converting terminating decimals to fractions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468000" y="720000"/>
            <a:ext cx="66240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Three students created their own method to find the middle fraction.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3c) Do all three methods work? Explain.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468000" y="1196167"/>
            <a:ext cx="6624266" cy="15996"/>
          </a:xfrm>
          <a:custGeom>
            <a:rect b="b" l="l" r="r" t="t"/>
            <a:pathLst>
              <a:path extrusionOk="0" h="762" w="302133">
                <a:moveTo>
                  <a:pt x="0" y="0"/>
                </a:moveTo>
                <a:cubicBezTo>
                  <a:pt x="100711" y="0"/>
                  <a:pt x="201422" y="762"/>
                  <a:pt x="302133" y="762"/>
                </a:cubicBez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229" name="Google Shape;229;p21"/>
          <p:cNvSpPr txBox="1"/>
          <p:nvPr/>
        </p:nvSpPr>
        <p:spPr>
          <a:xfrm>
            <a:off x="6433336" y="1347156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0.36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0" name="Google Shape;230;p21"/>
          <p:cNvCxnSpPr/>
          <p:nvPr/>
        </p:nvCxnSpPr>
        <p:spPr>
          <a:xfrm>
            <a:off x="925359" y="1008550"/>
            <a:ext cx="0" cy="39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1"/>
          <p:cNvCxnSpPr/>
          <p:nvPr/>
        </p:nvCxnSpPr>
        <p:spPr>
          <a:xfrm>
            <a:off x="3808721" y="1008550"/>
            <a:ext cx="0" cy="39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1"/>
          <p:cNvCxnSpPr/>
          <p:nvPr/>
        </p:nvCxnSpPr>
        <p:spPr>
          <a:xfrm>
            <a:off x="6692082" y="1008550"/>
            <a:ext cx="0" cy="39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p21"/>
          <p:cNvSpPr txBox="1"/>
          <p:nvPr/>
        </p:nvSpPr>
        <p:spPr>
          <a:xfrm>
            <a:off x="649875" y="1347156"/>
            <a:ext cx="7812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0.12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4" name="Google Shape;234;p21"/>
          <p:cNvCxnSpPr/>
          <p:nvPr/>
        </p:nvCxnSpPr>
        <p:spPr>
          <a:xfrm>
            <a:off x="2367040" y="1018119"/>
            <a:ext cx="0" cy="39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1"/>
          <p:cNvCxnSpPr/>
          <p:nvPr/>
        </p:nvCxnSpPr>
        <p:spPr>
          <a:xfrm>
            <a:off x="5250401" y="1018108"/>
            <a:ext cx="0" cy="39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0.36=\frac{9}{25}\ \ \ \ \ 0.12=\frac{3}{25}\ \ \ \ \ \frac{6}{25}&quot;&gt;&lt;mn&gt;0.36&lt;/mn&gt;&lt;mo&gt;=&lt;/mo&gt;&lt;mfrac&gt;&lt;mn&gt;9&lt;/mn&gt;&lt;mn&gt;25&lt;/mn&gt;&lt;/mfrac&gt;&lt;mtext&gt;&lt;/mtext&gt;&lt;mtext&gt;&lt;/mtext&gt;&lt;mtext&gt;&lt;/mtext&gt;&lt;mtext&gt;&lt;/mtext&gt;&lt;mtext&gt;&lt;/mtext&gt;&lt;mn&gt;0.12&lt;/mn&gt;&lt;mo&gt;=&lt;/mo&gt;&lt;mfrac&gt;&lt;mn&gt;3&lt;/mn&gt;&lt;mn&gt;25&lt;/mn&gt;&lt;/mfrac&gt;&lt;mtext&gt;&lt;/mtext&gt;&lt;mtext&gt;&lt;/mtext&gt;&lt;mtext&gt;&lt;/mtext&gt;&lt;mtext&gt;&lt;/mtext&gt;&lt;mtext&gt;&lt;/mtext&gt;&lt;mfrac&gt;&lt;mn&gt;6&lt;/mn&gt;&lt;mn&gt;25&lt;/mn&gt;&lt;/mfrac&gt;&lt;/math&gt;" id="236" name="Google Shape;236;p21" title="0.36 equals 9 over 25 0.12 equals 3 over 25 6 over 25"/>
          <p:cNvPicPr preferRelativeResize="0"/>
          <p:nvPr/>
        </p:nvPicPr>
        <p:blipFill rotWithShape="1">
          <a:blip r:embed="rId3">
            <a:alphaModFix/>
          </a:blip>
          <a:srcRect b="0" l="0" r="62834" t="0"/>
          <a:stretch/>
        </p:blipFill>
        <p:spPr>
          <a:xfrm>
            <a:off x="1604353" y="2742760"/>
            <a:ext cx="812230" cy="366027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1"/>
          <p:cNvSpPr txBox="1"/>
          <p:nvPr/>
        </p:nvSpPr>
        <p:spPr>
          <a:xfrm>
            <a:off x="2411996" y="2757175"/>
            <a:ext cx="4680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and                 so the middle fraction is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0.36=\frac{9}{25}\ \ \ \ \ 0.12=\frac{3}{25}\ \ \ \ \ \frac{6}{25}&quot;&gt;&lt;mn&gt;0.36&lt;/mn&gt;&lt;mo&gt;=&lt;/mo&gt;&lt;mfrac&gt;&lt;mn&gt;9&lt;/mn&gt;&lt;mn&gt;25&lt;/mn&gt;&lt;/mfrac&gt;&lt;mtext&gt;&lt;/mtext&gt;&lt;mtext&gt;&lt;/mtext&gt;&lt;mtext&gt;&lt;/mtext&gt;&lt;mtext&gt;&lt;/mtext&gt;&lt;mtext&gt;&lt;/mtext&gt;&lt;mn&gt;0.12&lt;/mn&gt;&lt;mo&gt;=&lt;/mo&gt;&lt;mfrac&gt;&lt;mn&gt;3&lt;/mn&gt;&lt;mn&gt;25&lt;/mn&gt;&lt;/mfrac&gt;&lt;mtext&gt;&lt;/mtext&gt;&lt;mtext&gt;&lt;/mtext&gt;&lt;mtext&gt;&lt;/mtext&gt;&lt;mtext&gt;&lt;/mtext&gt;&lt;mtext&gt;&lt;/mtext&gt;&lt;mfrac&gt;&lt;mn&gt;6&lt;/mn&gt;&lt;mn&gt;25&lt;/mn&gt;&lt;/mfrac&gt;&lt;/math&gt;" id="238" name="Google Shape;238;p21" title="0.36 equals 9 over 25 0.12 equals 3 over 25 6 over 25"/>
          <p:cNvPicPr preferRelativeResize="0"/>
          <p:nvPr/>
        </p:nvPicPr>
        <p:blipFill rotWithShape="1">
          <a:blip r:embed="rId3">
            <a:alphaModFix/>
          </a:blip>
          <a:srcRect b="0" l="42089" r="20745" t="-9505"/>
          <a:stretch/>
        </p:blipFill>
        <p:spPr>
          <a:xfrm>
            <a:off x="2856791" y="2725373"/>
            <a:ext cx="812230" cy="40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0.36=\frac{9}{25}\ \ \ \ \ 0.12=\frac{3}{25}\ \ \ \ \ \frac{6}{25}&quot;&gt;&lt;mn&gt;0.36&lt;/mn&gt;&lt;mo&gt;=&lt;/mo&gt;&lt;mfrac&gt;&lt;mn&gt;9&lt;/mn&gt;&lt;mn&gt;25&lt;/mn&gt;&lt;/mfrac&gt;&lt;mtext&gt;&lt;/mtext&gt;&lt;mtext&gt;&lt;/mtext&gt;&lt;mtext&gt;&lt;/mtext&gt;&lt;mtext&gt;&lt;/mtext&gt;&lt;mtext&gt;&lt;/mtext&gt;&lt;mn&gt;0.12&lt;/mn&gt;&lt;mo&gt;=&lt;/mo&gt;&lt;mfrac&gt;&lt;mn&gt;3&lt;/mn&gt;&lt;mn&gt;25&lt;/mn&gt;&lt;/mfrac&gt;&lt;mtext&gt;&lt;/mtext&gt;&lt;mtext&gt;&lt;/mtext&gt;&lt;mtext&gt;&lt;/mtext&gt;&lt;mtext&gt;&lt;/mtext&gt;&lt;mtext&gt;&lt;/mtext&gt;&lt;mfrac&gt;&lt;mn&gt;6&lt;/mn&gt;&lt;mn&gt;25&lt;/mn&gt;&lt;/mfrac&gt;&lt;/math&gt;" id="239" name="Google Shape;239;p21" title="0.36 equals 9 over 25 0.12 equals 3 over 25 6 over 25"/>
          <p:cNvPicPr preferRelativeResize="0"/>
          <p:nvPr/>
        </p:nvPicPr>
        <p:blipFill rotWithShape="1">
          <a:blip r:embed="rId3">
            <a:alphaModFix/>
          </a:blip>
          <a:srcRect b="-4752" l="86520" r="-23685" t="-4752"/>
          <a:stretch/>
        </p:blipFill>
        <p:spPr>
          <a:xfrm>
            <a:off x="5433777" y="2725373"/>
            <a:ext cx="812230" cy="4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3373" y="2129822"/>
            <a:ext cx="985976" cy="9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483373" y="3038024"/>
            <a:ext cx="11142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2" name="Google Shape;242;p21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431076" y="1994850"/>
            <a:ext cx="2156524" cy="75371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 txBox="1"/>
          <p:nvPr/>
        </p:nvSpPr>
        <p:spPr>
          <a:xfrm>
            <a:off x="1617175" y="2056950"/>
            <a:ext cx="1943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 converted 0.12 and 0.36 into fractions. You can see the middle easily.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4" name="Google Shape;244;p21"/>
          <p:cNvGrpSpPr/>
          <p:nvPr/>
        </p:nvGrpSpPr>
        <p:grpSpPr>
          <a:xfrm>
            <a:off x="1824900" y="4213628"/>
            <a:ext cx="6257400" cy="400800"/>
            <a:chOff x="1657600" y="2983978"/>
            <a:chExt cx="6257400" cy="400800"/>
          </a:xfrm>
        </p:grpSpPr>
        <p:sp>
          <p:nvSpPr>
            <p:cNvPr id="245" name="Google Shape;245;p21"/>
            <p:cNvSpPr txBox="1"/>
            <p:nvPr/>
          </p:nvSpPr>
          <p:spPr>
            <a:xfrm>
              <a:off x="1657600" y="3015150"/>
              <a:ext cx="6257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0.36 + 0.12 = 0.48  then 0.48 ÷ 2 = 0.24 =</a:t>
              </a:r>
              <a:endParaRPr sz="1200"/>
            </a:p>
          </p:txBody>
        </p:sp>
        <p:pic>
          <p:nvPicPr>
            <p:cNvPr descr="&lt;math xmlns=&quot;http://www.w3.org/1998/Math/MathML&quot; display=&quot;block&quot; data-is-equatio=&quot;1&quot; data-latex=&quot;0.36=\frac{9}{25}\ \ \ \ \ 0.12=\frac{3}{25}\ \ \ \ \ \frac{6}{25}&quot;&gt;&lt;mn&gt;0.36&lt;/mn&gt;&lt;mo&gt;=&lt;/mo&gt;&lt;mfrac&gt;&lt;mn&gt;9&lt;/mn&gt;&lt;mn&gt;25&lt;/mn&gt;&lt;/mfrac&gt;&lt;mtext&gt;&lt;/mtext&gt;&lt;mtext&gt;&lt;/mtext&gt;&lt;mtext&gt;&lt;/mtext&gt;&lt;mtext&gt;&lt;/mtext&gt;&lt;mtext&gt;&lt;/mtext&gt;&lt;mn&gt;0.12&lt;/mn&gt;&lt;mo&gt;=&lt;/mo&gt;&lt;mfrac&gt;&lt;mn&gt;3&lt;/mn&gt;&lt;mn&gt;25&lt;/mn&gt;&lt;/mfrac&gt;&lt;mtext&gt;&lt;/mtext&gt;&lt;mtext&gt;&lt;/mtext&gt;&lt;mtext&gt;&lt;/mtext&gt;&lt;mtext&gt;&lt;/mtext&gt;&lt;mtext&gt;&lt;/mtext&gt;&lt;mfrac&gt;&lt;mn&gt;6&lt;/mn&gt;&lt;mn&gt;25&lt;/mn&gt;&lt;/mfrac&gt;&lt;/math&gt;" id="246" name="Google Shape;246;p21" title="0.36 equals 9 over 25 0.12 equals 3 over 25 6 over 25"/>
            <p:cNvPicPr preferRelativeResize="0"/>
            <p:nvPr/>
          </p:nvPicPr>
          <p:blipFill rotWithShape="1">
            <a:blip r:embed="rId3">
              <a:alphaModFix/>
            </a:blip>
            <a:srcRect b="-4752" l="86520" r="-23685" t="-4752"/>
            <a:stretch/>
          </p:blipFill>
          <p:spPr>
            <a:xfrm>
              <a:off x="4771425" y="2983978"/>
              <a:ext cx="812228" cy="4008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47" name="Google Shape;247;p21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1326450" y="3302625"/>
            <a:ext cx="2682476" cy="9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1582525" y="3316775"/>
            <a:ext cx="24264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Add 0.36 with 0.12, then hal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 answer. Then find the fraction of the decimal.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9" name="Google Shape;24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0563" y="3487550"/>
            <a:ext cx="551585" cy="1041507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468000" y="4515975"/>
            <a:ext cx="12621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1" name="Google Shape;251;p21"/>
          <p:cNvGrpSpPr/>
          <p:nvPr/>
        </p:nvGrpSpPr>
        <p:grpSpPr>
          <a:xfrm>
            <a:off x="1431075" y="5869597"/>
            <a:ext cx="5661300" cy="406658"/>
            <a:chOff x="1689500" y="1709447"/>
            <a:chExt cx="5661300" cy="406658"/>
          </a:xfrm>
        </p:grpSpPr>
        <p:sp>
          <p:nvSpPr>
            <p:cNvPr id="252" name="Google Shape;252;p21"/>
            <p:cNvSpPr txBox="1"/>
            <p:nvPr/>
          </p:nvSpPr>
          <p:spPr>
            <a:xfrm>
              <a:off x="1689500" y="1728125"/>
              <a:ext cx="5661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0.36 - 0.12 = 0.24  then  0.24 ÷ 2 = 0.12  then 0.12 + 0.12 = 0.24 =</a:t>
              </a:r>
              <a:endParaRPr sz="1200"/>
            </a:p>
          </p:txBody>
        </p:sp>
        <p:pic>
          <p:nvPicPr>
            <p:cNvPr descr="&lt;math xmlns=&quot;http://www.w3.org/1998/Math/MathML&quot; display=&quot;block&quot; data-is-equatio=&quot;1&quot; data-latex=&quot;0.36=\frac{9}{25}\ \ \ \ \ 0.12=\frac{3}{25}\ \ \ \ \ \frac{6}{25}&quot;&gt;&lt;mn&gt;0.36&lt;/mn&gt;&lt;mo&gt;=&lt;/mo&gt;&lt;mfrac&gt;&lt;mn&gt;9&lt;/mn&gt;&lt;mn&gt;25&lt;/mn&gt;&lt;/mfrac&gt;&lt;mtext&gt;&lt;/mtext&gt;&lt;mtext&gt;&lt;/mtext&gt;&lt;mtext&gt;&lt;/mtext&gt;&lt;mtext&gt;&lt;/mtext&gt;&lt;mtext&gt;&lt;/mtext&gt;&lt;mn&gt;0.12&lt;/mn&gt;&lt;mo&gt;=&lt;/mo&gt;&lt;mfrac&gt;&lt;mn&gt;3&lt;/mn&gt;&lt;mn&gt;25&lt;/mn&gt;&lt;/mfrac&gt;&lt;mtext&gt;&lt;/mtext&gt;&lt;mtext&gt;&lt;/mtext&gt;&lt;mtext&gt;&lt;/mtext&gt;&lt;mtext&gt;&lt;/mtext&gt;&lt;mtext&gt;&lt;/mtext&gt;&lt;mfrac&gt;&lt;mn&gt;6&lt;/mn&gt;&lt;mn&gt;25&lt;/mn&gt;&lt;/mfrac&gt;&lt;/math&gt;" id="253" name="Google Shape;253;p21" title="0.36 equals 9 over 25 0.12 equals 3 over 25 6 over 25"/>
            <p:cNvPicPr preferRelativeResize="0"/>
            <p:nvPr/>
          </p:nvPicPr>
          <p:blipFill rotWithShape="1">
            <a:blip r:embed="rId3">
              <a:alphaModFix/>
            </a:blip>
            <a:srcRect b="-4752" l="86520" r="-23685" t="-4752"/>
            <a:stretch/>
          </p:blipFill>
          <p:spPr>
            <a:xfrm>
              <a:off x="6477872" y="1709447"/>
              <a:ext cx="824101" cy="4066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4" name="Google Shape;254;p21"/>
          <p:cNvSpPr txBox="1"/>
          <p:nvPr/>
        </p:nvSpPr>
        <p:spPr>
          <a:xfrm>
            <a:off x="513300" y="5826225"/>
            <a:ext cx="8241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5" name="Google Shape;25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581568" y="5027272"/>
            <a:ext cx="687557" cy="792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/>
          <p:cNvPicPr preferRelativeResize="0"/>
          <p:nvPr/>
        </p:nvPicPr>
        <p:blipFill rotWithShape="1">
          <a:blip r:embed="rId5">
            <a:alphaModFix/>
          </a:blip>
          <a:srcRect b="4760" l="40550" r="0" t="13015"/>
          <a:stretch/>
        </p:blipFill>
        <p:spPr>
          <a:xfrm>
            <a:off x="1252150" y="4916775"/>
            <a:ext cx="3607148" cy="10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1582525" y="5075100"/>
            <a:ext cx="32259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difference between 0.36 and 0.12, then hal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ve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it and add it to 0.12. Convert this to a fraction.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8" name="Google Shape;258;p21"/>
          <p:cNvCxnSpPr/>
          <p:nvPr/>
        </p:nvCxnSpPr>
        <p:spPr>
          <a:xfrm>
            <a:off x="474757" y="637186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59" name="Google Shape;259;p21"/>
          <p:cNvGraphicFramePr/>
          <p:nvPr/>
        </p:nvGraphicFramePr>
        <p:xfrm>
          <a:off x="468000" y="714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{15C5209C-1589-4023-9E60-B47E19182506}</a:tableStyleId>
              </a:tblPr>
              <a:tblGrid>
                <a:gridCol w="1926000"/>
                <a:gridCol w="1926000"/>
                <a:gridCol w="1926000"/>
              </a:tblGrid>
              <a:tr h="414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Decimal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Mixed number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Improper fraction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04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3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8.125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3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8.288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31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9.72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65}{8}\ 8\frac{1}{8}&quot;&gt;&lt;mfrac&gt;&lt;mn&gt;65&lt;/mn&gt;&lt;mn&gt;8&lt;/mn&gt;&lt;/mfrac&gt;&lt;mtext&gt;&lt;/mtext&gt;&lt;mn&gt;8&lt;/mn&gt;&lt;mfrac&gt;&lt;mn&gt;1&lt;/mn&gt;&lt;mn&gt;8&lt;/mn&gt;&lt;/mfrac&gt;&lt;/math&gt;" id="260" name="Google Shape;260;p21" title="65 over 8 8 and one eighth"/>
          <p:cNvPicPr preferRelativeResize="0"/>
          <p:nvPr/>
        </p:nvPicPr>
        <p:blipFill rotWithShape="1">
          <a:blip r:embed="rId8">
            <a:alphaModFix/>
          </a:blip>
          <a:srcRect b="0" l="0" r="52337" t="0"/>
          <a:stretch/>
        </p:blipFill>
        <p:spPr>
          <a:xfrm>
            <a:off x="5126607" y="8103409"/>
            <a:ext cx="284305" cy="45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9}{20}\ \ \ 2\frac{9}{20}&quot;&gt;&lt;mfrac&gt;&lt;mn&gt;49&lt;/mn&gt;&lt;mn&gt;20&lt;/mn&gt;&lt;/mfrac&gt;&lt;mtext&gt;&lt;/mtext&gt;&lt;mtext&gt;&lt;/mtext&gt;&lt;mtext&gt;&lt;/mtext&gt;&lt;mn&gt;2&lt;/mn&gt;&lt;mfrac&gt;&lt;mn&gt;9&lt;/mn&gt;&lt;mn&gt;20&lt;/mn&gt;&lt;/mfrac&gt;&lt;/math&gt;" id="261" name="Google Shape;261;p21" title="49 over 20 2 and 9 over 20"/>
          <p:cNvPicPr preferRelativeResize="0"/>
          <p:nvPr/>
        </p:nvPicPr>
        <p:blipFill rotWithShape="1">
          <a:blip r:embed="rId9">
            <a:alphaModFix/>
          </a:blip>
          <a:srcRect b="0" l="47041" r="-6206" t="0"/>
          <a:stretch/>
        </p:blipFill>
        <p:spPr>
          <a:xfrm>
            <a:off x="3180794" y="7584275"/>
            <a:ext cx="486171" cy="42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1}{8}\ 8\frac{1}{8}&quot;&gt;&lt;mfrac&gt;&lt;mn&gt;81&lt;/mn&gt;&lt;mn&gt;8&lt;/mn&gt;&lt;/mfrac&gt;&lt;mtext&gt;&lt;/mtext&gt;&lt;mn&gt;8&lt;/mn&gt;&lt;mfrac&gt;&lt;mn&gt;1&lt;/mn&gt;&lt;mn&gt;8&lt;/mn&gt;&lt;/mfrac&gt;&lt;/math&gt;" id="262" name="Google Shape;262;p21" title="81 over 8 8 and one eighth"/>
          <p:cNvPicPr preferRelativeResize="0"/>
          <p:nvPr/>
        </p:nvPicPr>
        <p:blipFill rotWithShape="1">
          <a:blip r:embed="rId10">
            <a:alphaModFix/>
          </a:blip>
          <a:srcRect b="0" l="52658" r="0" t="0"/>
          <a:stretch/>
        </p:blipFill>
        <p:spPr>
          <a:xfrm>
            <a:off x="3281727" y="8092930"/>
            <a:ext cx="284305" cy="45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3}{25}\ 9\frac{18}{25}&quot;&gt;&lt;mfrac&gt;&lt;mn&gt;243&lt;/mn&gt;&lt;mn&gt;25&lt;/mn&gt;&lt;/mfrac&gt;&lt;mtext&gt;&lt;/mtext&gt;&lt;mn&gt;9&lt;/mn&gt;&lt;mfrac&gt;&lt;mn&gt;18&lt;/mn&gt;&lt;mn&gt;25&lt;/mn&gt;&lt;/mfrac&gt;&lt;/math&gt;" id="263" name="Google Shape;263;p21" title="243 over 25 9 and 18 over 25"/>
          <p:cNvPicPr preferRelativeResize="0"/>
          <p:nvPr/>
        </p:nvPicPr>
        <p:blipFill rotWithShape="1">
          <a:blip r:embed="rId11">
            <a:alphaModFix/>
          </a:blip>
          <a:srcRect b="0" l="46213" r="5" t="0"/>
          <a:stretch/>
        </p:blipFill>
        <p:spPr>
          <a:xfrm>
            <a:off x="3202906" y="9163121"/>
            <a:ext cx="441948" cy="45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36}{125}\ 8\frac{36}{125}&quot;&gt;&lt;mfrac&gt;&lt;mn&gt;1036&lt;/mn&gt;&lt;mn&gt;125&lt;/mn&gt;&lt;/mfrac&gt;&lt;mtext&gt;&lt;/mtext&gt;&lt;mn&gt;8&lt;/mn&gt;&lt;mfrac&gt;&lt;mn&gt;36&lt;/mn&gt;&lt;mn&gt;125&lt;/mn&gt;&lt;/mfrac&gt;&lt;/math&gt;" id="264" name="Google Shape;264;p21" title="1036 over 125 8 and 36 over 125"/>
          <p:cNvPicPr preferRelativeResize="0"/>
          <p:nvPr/>
        </p:nvPicPr>
        <p:blipFill rotWithShape="1">
          <a:blip r:embed="rId12">
            <a:alphaModFix/>
          </a:blip>
          <a:srcRect b="0" l="45097" r="0" t="0"/>
          <a:stretch/>
        </p:blipFill>
        <p:spPr>
          <a:xfrm>
            <a:off x="3155760" y="8648212"/>
            <a:ext cx="536241" cy="42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9}{20}\ \ \ 2\frac{9}{20}&quot;&gt;&lt;mfrac&gt;&lt;mn&gt;49&lt;/mn&gt;&lt;mn&gt;20&lt;/mn&gt;&lt;/mfrac&gt;&lt;mtext&gt;&lt;/mtext&gt;&lt;mtext&gt;&lt;/mtext&gt;&lt;mtext&gt;&lt;/mtext&gt;&lt;mn&gt;2&lt;/mn&gt;&lt;mfrac&gt;&lt;mn&gt;9&lt;/mn&gt;&lt;mn&gt;20&lt;/mn&gt;&lt;/mfrac&gt;&lt;/math&gt;" id="265" name="Google Shape;265;p21" title="49 over 20 2 and 9 over 20"/>
          <p:cNvPicPr preferRelativeResize="0"/>
          <p:nvPr/>
        </p:nvPicPr>
        <p:blipFill rotWithShape="1">
          <a:blip r:embed="rId9">
            <a:alphaModFix/>
          </a:blip>
          <a:srcRect b="0" l="0" r="63225" t="0"/>
          <a:stretch/>
        </p:blipFill>
        <p:spPr>
          <a:xfrm>
            <a:off x="5126607" y="7604141"/>
            <a:ext cx="284305" cy="42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3}{25}\ 9\frac{18}{25}&quot;&gt;&lt;mfrac&gt;&lt;mn&gt;243&lt;/mn&gt;&lt;mn&gt;25&lt;/mn&gt;&lt;/mfrac&gt;&lt;mtext&gt;&lt;/mtext&gt;&lt;mn&gt;9&lt;/mn&gt;&lt;mfrac&gt;&lt;mn&gt;18&lt;/mn&gt;&lt;mn&gt;25&lt;/mn&gt;&lt;/mfrac&gt;&lt;/math&gt;" id="266" name="Google Shape;266;p21" title="243 over 25 9 and 18 over 25"/>
          <p:cNvPicPr preferRelativeResize="0"/>
          <p:nvPr/>
        </p:nvPicPr>
        <p:blipFill rotWithShape="1">
          <a:blip r:embed="rId11">
            <a:alphaModFix/>
          </a:blip>
          <a:srcRect b="0" l="-16092" r="50835" t="0"/>
          <a:stretch/>
        </p:blipFill>
        <p:spPr>
          <a:xfrm>
            <a:off x="5000639" y="9177522"/>
            <a:ext cx="536241" cy="45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36}{125}\ 8\frac{36}{125}&quot;&gt;&lt;mfrac&gt;&lt;mn&gt;1036&lt;/mn&gt;&lt;mn&gt;125&lt;/mn&gt;&lt;/mfrac&gt;&lt;mtext&gt;&lt;/mtext&gt;&lt;mn&gt;8&lt;/mn&gt;&lt;mfrac&gt;&lt;mn&gt;36&lt;/mn&gt;&lt;mn&gt;125&lt;/mn&gt;&lt;/mfrac&gt;&lt;/math&gt;" id="267" name="Google Shape;267;p21" title="1036 over 125 8 and 36 over 125"/>
          <p:cNvPicPr preferRelativeResize="0"/>
          <p:nvPr/>
        </p:nvPicPr>
        <p:blipFill rotWithShape="1">
          <a:blip r:embed="rId12">
            <a:alphaModFix/>
          </a:blip>
          <a:srcRect b="0" l="-5127" r="50227" t="0"/>
          <a:stretch/>
        </p:blipFill>
        <p:spPr>
          <a:xfrm>
            <a:off x="5000639" y="8651081"/>
            <a:ext cx="536241" cy="42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1"/>
          <p:cNvSpPr txBox="1"/>
          <p:nvPr/>
        </p:nvSpPr>
        <p:spPr>
          <a:xfrm>
            <a:off x="468000" y="64675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Fractions greater than 1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468000" y="6785475"/>
            <a:ext cx="66240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Convert the following decimals into mixed numbers and improper fractions.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Converting terminating decimals to fractions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468000" y="1832400"/>
            <a:ext cx="8080200" cy="8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Work out the mixed number equivalent to: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3.141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3.1415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3.141592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1776550" y="754675"/>
            <a:ext cx="4002600" cy="580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468000" y="720000"/>
            <a:ext cx="1425000" cy="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=3\frac{17699}{125\ 000}&quot;&gt;&lt;mo&gt;=&lt;/mo&gt;&lt;mn&gt;3&lt;/mn&gt;&lt;mfrac&gt;&lt;mn&gt;17699&lt;/mn&gt;&lt;mrow&gt;&lt;mn&gt;125&lt;/mn&gt;&lt;mtext&gt;&lt;/mtext&gt;&lt;mn&gt;000&lt;/mn&gt;&lt;/mrow&gt;&lt;/mfrac&gt;&lt;/math&gt;" id="279" name="Google Shape;279;p22" title="equals 3 the fraction with numerator 17699 and denominator 125 0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5840" y="2885483"/>
            <a:ext cx="765085" cy="324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3\frac{283}{2000}&quot;&gt;&lt;mo&gt;=&lt;/mo&gt;&lt;mn&gt;3&lt;/mn&gt;&lt;mfrac&gt;&lt;mn&gt;283&lt;/mn&gt;&lt;mn&gt;2000&lt;/mn&gt;&lt;/mfrac&gt;&lt;/math&gt;" id="280" name="Google Shape;280;p22" title="equals 3 and 283 over 2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8666" y="2517004"/>
            <a:ext cx="571877" cy="3244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=3\frac{141}{1000}&quot;&gt;&lt;mo&gt;=&lt;/mo&gt;&lt;mn&gt;3&lt;/mn&gt;&lt;mfrac&gt;&lt;mn&gt;141&lt;/mn&gt;&lt;mn&gt;1000&lt;/mn&gt;&lt;/mfrac&gt;&lt;/math&gt;" id="281" name="Google Shape;281;p22" title="equals 3 and 141 over 10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6400" y="2155164"/>
            <a:ext cx="571885" cy="32414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2"/>
          <p:cNvSpPr txBox="1"/>
          <p:nvPr/>
        </p:nvSpPr>
        <p:spPr>
          <a:xfrm>
            <a:off x="468000" y="1490700"/>
            <a:ext cx="66240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is no fractional equivalent  to the exact value of 𝝅.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3" name="Google Shape;283;p22"/>
          <p:cNvCxnSpPr/>
          <p:nvPr/>
        </p:nvCxnSpPr>
        <p:spPr>
          <a:xfrm>
            <a:off x="474757" y="33581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2"/>
          <p:cNvSpPr txBox="1"/>
          <p:nvPr/>
        </p:nvSpPr>
        <p:spPr>
          <a:xfrm>
            <a:off x="468000" y="34252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C: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Writing the denominator in exponential form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468000" y="3762475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Work out the power of the exponent.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492259" y="4717644"/>
            <a:ext cx="14796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2"/>
          <p:cNvSpPr txBox="1"/>
          <p:nvPr/>
        </p:nvSpPr>
        <p:spPr>
          <a:xfrm>
            <a:off x="514008" y="5280262"/>
            <a:ext cx="13752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0.4567\ =\ \frac{4567}{10^4}\\&amp;#13;&amp;#10;0.00017\ =\ \frac{17}{10^5}\\&amp;#13;&amp;#10;3.001=\frac{3001}{10^3}\end{array}&quot;&gt;&lt;mtable columnalign=&quot;left&quot; columnspacing=&quot;1em&quot; rowspacing=&quot;4pt&quot;&gt;&lt;mtr&gt;&lt;mtd&gt;&lt;mn&gt;0.4567&lt;/mn&gt;&lt;mtext&gt;&lt;/mtext&gt;&lt;mo&gt;=&lt;/mo&gt;&lt;mtext&gt;&lt;/mtext&gt;&lt;mfrac&gt;&lt;mn&gt;4567&lt;/mn&gt;&lt;msup&gt;&lt;mn&gt;10&lt;/mn&gt;&lt;mn&gt;4&lt;/mn&gt;&lt;/msup&gt;&lt;/mfrac&gt;&lt;/mtd&gt;&lt;/mtr&gt;&lt;mtr&gt;&lt;mtd&gt;&lt;mn&gt;0.00017&lt;/mn&gt;&lt;mtext&gt;&lt;/mtext&gt;&lt;mo&gt;=&lt;/mo&gt;&lt;mtext&gt;&lt;/mtext&gt;&lt;mfrac&gt;&lt;mn&gt;17&lt;/mn&gt;&lt;msup&gt;&lt;mn&gt;10&lt;/mn&gt;&lt;mn&gt;5&lt;/mn&gt;&lt;/msup&gt;&lt;/mfrac&gt;&lt;/mtd&gt;&lt;/mtr&gt;&lt;mtr&gt;&lt;mtd&gt;&lt;mn&gt;3.001&lt;/mn&gt;&lt;mo&gt;=&lt;/mo&gt;&lt;mfrac&gt;&lt;mn&gt;3001&lt;/mn&gt;&lt;msup&gt;&lt;mn&gt;10&lt;/mn&gt;&lt;mn&gt;3&lt;/mn&gt;&lt;/msup&gt;&lt;/mfrac&gt;&lt;/mtd&gt;&lt;/mtr&gt;&lt;/mtable&gt;&lt;/math&gt;" id="288" name="Google Shape;288;p22" title="3 lines Line 1: 0.4567 equals the fraction with numerator 4567 and denominator 10 to the fourth power Line 2: 0.00017 equals the fraction with numerator 17 and denominator 10 to the fifth power Line 3: 3.001 equals the fraction with numerator 3001 and denominator 10 cubed"/>
          <p:cNvPicPr preferRelativeResize="0"/>
          <p:nvPr/>
        </p:nvPicPr>
        <p:blipFill rotWithShape="1">
          <a:blip r:embed="rId6">
            <a:alphaModFix/>
          </a:blip>
          <a:srcRect b="0" l="0" r="47440" t="0"/>
          <a:stretch/>
        </p:blipFill>
        <p:spPr>
          <a:xfrm>
            <a:off x="784825" y="4165050"/>
            <a:ext cx="944150" cy="15470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4567\ =\ \frac{4567}{10^4}\\&amp;#13;&amp;#10;0.00017\ =\ \frac{17}{10^5}\\&amp;#13;&amp;#10;3.001=\frac{3001}{10^3}\end{array}&quot;&gt;&lt;mtable columnalign=&quot;left&quot; columnspacing=&quot;1em&quot; rowspacing=&quot;4pt&quot;&gt;&lt;mtr&gt;&lt;mtd&gt;&lt;mn&gt;0.4567&lt;/mn&gt;&lt;mtext&gt;&lt;/mtext&gt;&lt;mo&gt;=&lt;/mo&gt;&lt;mtext&gt;&lt;/mtext&gt;&lt;mfrac&gt;&lt;mn&gt;4567&lt;/mn&gt;&lt;msup&gt;&lt;mn&gt;10&lt;/mn&gt;&lt;mn&gt;4&lt;/mn&gt;&lt;/msup&gt;&lt;/mfrac&gt;&lt;/mtd&gt;&lt;/mtr&gt;&lt;mtr&gt;&lt;mtd&gt;&lt;mn&gt;0.00017&lt;/mn&gt;&lt;mtext&gt;&lt;/mtext&gt;&lt;mo&gt;=&lt;/mo&gt;&lt;mtext&gt;&lt;/mtext&gt;&lt;mfrac&gt;&lt;mn&gt;17&lt;/mn&gt;&lt;msup&gt;&lt;mn&gt;10&lt;/mn&gt;&lt;mn&gt;5&lt;/mn&gt;&lt;/msup&gt;&lt;/mfrac&gt;&lt;/mtd&gt;&lt;/mtr&gt;&lt;mtr&gt;&lt;mtd&gt;&lt;mn&gt;3.001&lt;/mn&gt;&lt;mo&gt;=&lt;/mo&gt;&lt;mfrac&gt;&lt;mn&gt;3001&lt;/mn&gt;&lt;msup&gt;&lt;mn&gt;10&lt;/mn&gt;&lt;mn&gt;3&lt;/mn&gt;&lt;/msup&gt;&lt;/mfrac&gt;&lt;/mtd&gt;&lt;/mtr&gt;&lt;/mtable&gt;&lt;/math&gt;" id="289" name="Google Shape;289;p22" title="3 lines Line 1: 0.4567 equals the fraction with numerator 4567 and denominator 10 to the fourth power Line 2: 0.00017 equals the fraction with numerator 17 and denominator 10 to the fifth power Line 3: 3.001 equals the fraction with numerator 3001 and denominator 10 cubed"/>
          <p:cNvPicPr preferRelativeResize="0"/>
          <p:nvPr/>
        </p:nvPicPr>
        <p:blipFill rotWithShape="1">
          <a:blip r:embed="rId6">
            <a:alphaModFix/>
          </a:blip>
          <a:srcRect b="67714" l="51155" r="0" t="0"/>
          <a:stretch/>
        </p:blipFill>
        <p:spPr>
          <a:xfrm>
            <a:off x="1595621" y="4165050"/>
            <a:ext cx="877425" cy="499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4567\ =\ \frac{4567}{10^4}\\&amp;#13;&amp;#10;0.00017\ =\ \frac{17}{10^5}\\&amp;#13;&amp;#10;3.001=\frac{3001}{10^3}\end{array}&quot;&gt;&lt;mtable columnalign=&quot;left&quot; columnspacing=&quot;1em&quot; rowspacing=&quot;4pt&quot;&gt;&lt;mtr&gt;&lt;mtd&gt;&lt;mn&gt;0.4567&lt;/mn&gt;&lt;mtext&gt;&lt;/mtext&gt;&lt;mo&gt;=&lt;/mo&gt;&lt;mtext&gt;&lt;/mtext&gt;&lt;mfrac&gt;&lt;mn&gt;4567&lt;/mn&gt;&lt;msup&gt;&lt;mn&gt;10&lt;/mn&gt;&lt;mn&gt;4&lt;/mn&gt;&lt;/msup&gt;&lt;/mfrac&gt;&lt;/mtd&gt;&lt;/mtr&gt;&lt;mtr&gt;&lt;mtd&gt;&lt;mn&gt;0.00017&lt;/mn&gt;&lt;mtext&gt;&lt;/mtext&gt;&lt;mo&gt;=&lt;/mo&gt;&lt;mtext&gt;&lt;/mtext&gt;&lt;mfrac&gt;&lt;mn&gt;17&lt;/mn&gt;&lt;msup&gt;&lt;mn&gt;10&lt;/mn&gt;&lt;mn&gt;5&lt;/mn&gt;&lt;/msup&gt;&lt;/mfrac&gt;&lt;/mtd&gt;&lt;/mtr&gt;&lt;mtr&gt;&lt;mtd&gt;&lt;mn&gt;3.001&lt;/mn&gt;&lt;mo&gt;=&lt;/mo&gt;&lt;mfrac&gt;&lt;mn&gt;3001&lt;/mn&gt;&lt;msup&gt;&lt;mn&gt;10&lt;/mn&gt;&lt;mn&gt;3&lt;/mn&gt;&lt;/msup&gt;&lt;/mfrac&gt;&lt;/mtd&gt;&lt;/mtr&gt;&lt;/mtable&gt;&lt;/math&gt;" id="290" name="Google Shape;290;p22" title="3 lines Line 1: 0.4567 equals the fraction with numerator 4567 and denominator 10 to the fourth power Line 2: 0.00017 equals the fraction with numerator 17 and denominator 10 to the fifth power Line 3: 3.001 equals the fraction with numerator 3001 and denominator 10 cubed"/>
          <p:cNvPicPr preferRelativeResize="0"/>
          <p:nvPr/>
        </p:nvPicPr>
        <p:blipFill rotWithShape="1">
          <a:blip r:embed="rId6">
            <a:alphaModFix/>
          </a:blip>
          <a:srcRect b="33857" l="54974" r="-3819" t="33857"/>
          <a:stretch/>
        </p:blipFill>
        <p:spPr>
          <a:xfrm>
            <a:off x="1728975" y="4688827"/>
            <a:ext cx="877425" cy="499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4567\ =\ \frac{4567}{10^4}\\&amp;#13;&amp;#10;0.00017\ =\ \frac{17}{10^5}\\&amp;#13;&amp;#10;3.001=\frac{3001}{10^3}\end{array}&quot;&gt;&lt;mtable columnalign=&quot;left&quot; columnspacing=&quot;1em&quot; rowspacing=&quot;4pt&quot;&gt;&lt;mtr&gt;&lt;mtd&gt;&lt;mn&gt;0.4567&lt;/mn&gt;&lt;mtext&gt;&lt;/mtext&gt;&lt;mo&gt;=&lt;/mo&gt;&lt;mtext&gt;&lt;/mtext&gt;&lt;mfrac&gt;&lt;mn&gt;4567&lt;/mn&gt;&lt;msup&gt;&lt;mn&gt;10&lt;/mn&gt;&lt;mn&gt;4&lt;/mn&gt;&lt;/msup&gt;&lt;/mfrac&gt;&lt;/mtd&gt;&lt;/mtr&gt;&lt;mtr&gt;&lt;mtd&gt;&lt;mn&gt;0.00017&lt;/mn&gt;&lt;mtext&gt;&lt;/mtext&gt;&lt;mo&gt;=&lt;/mo&gt;&lt;mtext&gt;&lt;/mtext&gt;&lt;mfrac&gt;&lt;mn&gt;17&lt;/mn&gt;&lt;msup&gt;&lt;mn&gt;10&lt;/mn&gt;&lt;mn&gt;5&lt;/mn&gt;&lt;/msup&gt;&lt;/mfrac&gt;&lt;/mtd&gt;&lt;/mtr&gt;&lt;mtr&gt;&lt;mtd&gt;&lt;mn&gt;3.001&lt;/mn&gt;&lt;mo&gt;=&lt;/mo&gt;&lt;mfrac&gt;&lt;mn&gt;3001&lt;/mn&gt;&lt;msup&gt;&lt;mn&gt;10&lt;/mn&gt;&lt;mn&gt;3&lt;/mn&gt;&lt;/msup&gt;&lt;/mfrac&gt;&lt;/mtd&gt;&lt;/mtr&gt;&lt;/mtable&gt;&lt;/math&gt;" id="291" name="Google Shape;291;p22" title="3 lines Line 1: 0.4567 equals the fraction with numerator 4567 and denominator 10 to the fourth power Line 2: 0.00017 equals the fraction with numerator 17 and denominator 10 to the fifth power Line 3: 3.001 equals the fraction with numerator 3001 and denominator 10 cubed"/>
          <p:cNvPicPr preferRelativeResize="0"/>
          <p:nvPr/>
        </p:nvPicPr>
        <p:blipFill rotWithShape="1">
          <a:blip r:embed="rId6">
            <a:alphaModFix/>
          </a:blip>
          <a:srcRect b="-3636" l="51945" r="10311" t="68399"/>
          <a:stretch/>
        </p:blipFill>
        <p:spPr>
          <a:xfrm>
            <a:off x="1695332" y="5212620"/>
            <a:ext cx="678003" cy="54512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2"/>
          <p:cNvSpPr txBox="1"/>
          <p:nvPr/>
        </p:nvSpPr>
        <p:spPr>
          <a:xfrm>
            <a:off x="468000" y="4158717"/>
            <a:ext cx="14796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>
            <a:off x="456522" y="5995250"/>
            <a:ext cx="6635400" cy="24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Write the following decimals as a fraction where the denominator is in exponential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0.1257\ =\ \frac{1257}{10^4}\\&amp;#13;&amp;#10;3.567=\frac{3567}{10^3}\\&amp;#13;&amp;#10;0.00023\ =\ \frac{23}{10^5}\end{array}&quot;&gt;&lt;mtable columnalign=&quot;left&quot; columnspacing=&quot;1em&quot; rowspacing=&quot;4pt&quot;&gt;&lt;mtr&gt;&lt;mtd&gt;&lt;mn&gt;0.1257&lt;/mn&gt;&lt;mtext&gt;&lt;/mtext&gt;&lt;mo&gt;=&lt;/mo&gt;&lt;mtext&gt;&lt;/mtext&gt;&lt;mfrac&gt;&lt;mn&gt;1257&lt;/mn&gt;&lt;msup&gt;&lt;mn&gt;10&lt;/mn&gt;&lt;mn&gt;4&lt;/mn&gt;&lt;/msup&gt;&lt;/mfrac&gt;&lt;/mtd&gt;&lt;/mtr&gt;&lt;mtr&gt;&lt;mtd&gt;&lt;mn&gt;3.567&lt;/mn&gt;&lt;mo&gt;=&lt;/mo&gt;&lt;mfrac&gt;&lt;mn&gt;3567&lt;/mn&gt;&lt;msup&gt;&lt;mn&gt;10&lt;/mn&gt;&lt;mn&gt;3&lt;/mn&gt;&lt;/msup&gt;&lt;/mfrac&gt;&lt;/mtd&gt;&lt;/mtr&gt;&lt;mtr&gt;&lt;mtd&gt;&lt;mn&gt;0.00023&lt;/mn&gt;&lt;mtext&gt;&lt;/mtext&gt;&lt;mo&gt;=&lt;/mo&gt;&lt;mtext&gt;&lt;/mtext&gt;&lt;mfrac&gt;&lt;mn&gt;23&lt;/mn&gt;&lt;msup&gt;&lt;mn&gt;10&lt;/mn&gt;&lt;mn&gt;5&lt;/mn&gt;&lt;/msup&gt;&lt;/mfrac&gt;&lt;/mtd&gt;&lt;/mtr&gt;&lt;/mtable&gt;&lt;/math&gt;" id="294" name="Google Shape;294;p22" title="3 lines Line 1: 0.1257 equals the fraction with numerator 1257 and denominator 10 to the fourth power Line 2: 3.567 equals the fraction with numerator 3567 and denominator 10 cubed Line 3: 0.00023 equals the fraction with numerator 23 and denominator 10 to the fifth power"/>
          <p:cNvPicPr preferRelativeResize="0"/>
          <p:nvPr/>
        </p:nvPicPr>
        <p:blipFill rotWithShape="1">
          <a:blip r:embed="rId7">
            <a:alphaModFix/>
          </a:blip>
          <a:srcRect b="0" l="0" r="47946" t="0"/>
          <a:stretch/>
        </p:blipFill>
        <p:spPr>
          <a:xfrm>
            <a:off x="772937" y="6536200"/>
            <a:ext cx="823996" cy="16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1257\ =\ \frac{1257}{10^4}\\&amp;#13;&amp;#10;3.567=\frac{3567}{10^3}\\&amp;#13;&amp;#10;0.00023\ =\ \frac{23}{10^5}\end{array}&quot;&gt;&lt;mtable columnalign=&quot;left&quot; columnspacing=&quot;1em&quot; rowspacing=&quot;4pt&quot;&gt;&lt;mtr&gt;&lt;mtd&gt;&lt;mn&gt;0.1257&lt;/mn&gt;&lt;mtext&gt;&lt;/mtext&gt;&lt;mo&gt;=&lt;/mo&gt;&lt;mtext&gt;&lt;/mtext&gt;&lt;mfrac&gt;&lt;mn&gt;1257&lt;/mn&gt;&lt;msup&gt;&lt;mn&gt;10&lt;/mn&gt;&lt;mn&gt;4&lt;/mn&gt;&lt;/msup&gt;&lt;/mfrac&gt;&lt;/mtd&gt;&lt;/mtr&gt;&lt;mtr&gt;&lt;mtd&gt;&lt;mn&gt;3.567&lt;/mn&gt;&lt;mo&gt;=&lt;/mo&gt;&lt;mfrac&gt;&lt;mn&gt;3567&lt;/mn&gt;&lt;msup&gt;&lt;mn&gt;10&lt;/mn&gt;&lt;mn&gt;3&lt;/mn&gt;&lt;/msup&gt;&lt;/mfrac&gt;&lt;/mtd&gt;&lt;/mtr&gt;&lt;mtr&gt;&lt;mtd&gt;&lt;mn&gt;0.00023&lt;/mn&gt;&lt;mtext&gt;&lt;/mtext&gt;&lt;mo&gt;=&lt;/mo&gt;&lt;mtext&gt;&lt;/mtext&gt;&lt;mfrac&gt;&lt;mn&gt;23&lt;/mn&gt;&lt;msup&gt;&lt;mn&gt;10&lt;/mn&gt;&lt;mn&gt;5&lt;/mn&gt;&lt;/msup&gt;&lt;/mfrac&gt;&lt;/mtd&gt;&lt;/mtr&gt;&lt;/mtable&gt;&lt;/math&gt;" id="295" name="Google Shape;295;p22" title="3 lines Line 1: 0.1257 equals the fraction with numerator 1257 and denominator 10 to the fourth power Line 2: 3.567 equals the fraction with numerator 3567 and denominator 10 cubed Line 3: 0.00023 equals the fraction with numerator 23 and denominator 10 to the fifth power"/>
          <p:cNvPicPr preferRelativeResize="0"/>
          <p:nvPr/>
        </p:nvPicPr>
        <p:blipFill rotWithShape="1">
          <a:blip r:embed="rId7">
            <a:alphaModFix/>
          </a:blip>
          <a:srcRect b="70267" l="50642" r="-2696" t="-2890"/>
          <a:stretch/>
        </p:blipFill>
        <p:spPr>
          <a:xfrm>
            <a:off x="1707741" y="6536200"/>
            <a:ext cx="823996" cy="5423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1257\ =\ \frac{1257}{10^4}\\&amp;#13;&amp;#10;3.567=\frac{3567}{10^3}\\&amp;#13;&amp;#10;0.00023\ =\ \frac{23}{10^5}\end{array}&quot;&gt;&lt;mtable columnalign=&quot;left&quot; columnspacing=&quot;1em&quot; rowspacing=&quot;4pt&quot;&gt;&lt;mtr&gt;&lt;mtd&gt;&lt;mn&gt;0.1257&lt;/mn&gt;&lt;mtext&gt;&lt;/mtext&gt;&lt;mo&gt;=&lt;/mo&gt;&lt;mtext&gt;&lt;/mtext&gt;&lt;mfrac&gt;&lt;mn&gt;1257&lt;/mn&gt;&lt;msup&gt;&lt;mn&gt;10&lt;/mn&gt;&lt;mn&gt;4&lt;/mn&gt;&lt;/msup&gt;&lt;/mfrac&gt;&lt;/mtd&gt;&lt;/mtr&gt;&lt;mtr&gt;&lt;mtd&gt;&lt;mn&gt;3.567&lt;/mn&gt;&lt;mo&gt;=&lt;/mo&gt;&lt;mfrac&gt;&lt;mn&gt;3567&lt;/mn&gt;&lt;msup&gt;&lt;mn&gt;10&lt;/mn&gt;&lt;mn&gt;3&lt;/mn&gt;&lt;/msup&gt;&lt;/mfrac&gt;&lt;/mtd&gt;&lt;/mtr&gt;&lt;mtr&gt;&lt;mtd&gt;&lt;mn&gt;0.00023&lt;/mn&gt;&lt;mtext&gt;&lt;/mtext&gt;&lt;mo&gt;=&lt;/mo&gt;&lt;mtext&gt;&lt;/mtext&gt;&lt;mfrac&gt;&lt;mn&gt;23&lt;/mn&gt;&lt;msup&gt;&lt;mn&gt;10&lt;/mn&gt;&lt;mn&gt;5&lt;/mn&gt;&lt;/msup&gt;&lt;/mfrac&gt;&lt;/mtd&gt;&lt;/mtr&gt;&lt;/mtable&gt;&lt;/math&gt;" id="296" name="Google Shape;296;p22" title="3 lines Line 1: 0.1257 equals the fraction with numerator 1257 and denominator 10 to the fourth power Line 2: 3.567 equals the fraction with numerator 3567 and denominator 10 cubed Line 3: 0.00023 equals the fraction with numerator 23 and denominator 10 to the fifth power"/>
          <p:cNvPicPr preferRelativeResize="0"/>
          <p:nvPr/>
        </p:nvPicPr>
        <p:blipFill rotWithShape="1">
          <a:blip r:embed="rId7">
            <a:alphaModFix/>
          </a:blip>
          <a:srcRect b="29565" l="50642" r="-2696" t="33688"/>
          <a:stretch/>
        </p:blipFill>
        <p:spPr>
          <a:xfrm>
            <a:off x="1596935" y="7109956"/>
            <a:ext cx="823996" cy="6108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1257\ =\ \frac{1257}{10^4}\\&amp;#13;&amp;#10;3.567=\frac{3567}{10^3}\\&amp;#13;&amp;#10;0.00023\ =\ \frac{23}{10^5}\end{array}&quot;&gt;&lt;mtable columnalign=&quot;left&quot; columnspacing=&quot;1em&quot; rowspacing=&quot;4pt&quot;&gt;&lt;mtr&gt;&lt;mtd&gt;&lt;mn&gt;0.1257&lt;/mn&gt;&lt;mtext&gt;&lt;/mtext&gt;&lt;mo&gt;=&lt;/mo&gt;&lt;mtext&gt;&lt;/mtext&gt;&lt;mfrac&gt;&lt;mn&gt;1257&lt;/mn&gt;&lt;msup&gt;&lt;mn&gt;10&lt;/mn&gt;&lt;mn&gt;4&lt;/mn&gt;&lt;/msup&gt;&lt;/mfrac&gt;&lt;/mtd&gt;&lt;/mtr&gt;&lt;mtr&gt;&lt;mtd&gt;&lt;mn&gt;3.567&lt;/mn&gt;&lt;mo&gt;=&lt;/mo&gt;&lt;mfrac&gt;&lt;mn&gt;3567&lt;/mn&gt;&lt;msup&gt;&lt;mn&gt;10&lt;/mn&gt;&lt;mn&gt;3&lt;/mn&gt;&lt;/msup&gt;&lt;/mfrac&gt;&lt;/mtd&gt;&lt;/mtr&gt;&lt;mtr&gt;&lt;mtd&gt;&lt;mn&gt;0.00023&lt;/mn&gt;&lt;mtext&gt;&lt;/mtext&gt;&lt;mo&gt;=&lt;/mo&gt;&lt;mtext&gt;&lt;/mtext&gt;&lt;mfrac&gt;&lt;mn&gt;23&lt;/mn&gt;&lt;msup&gt;&lt;mn&gt;10&lt;/mn&gt;&lt;mn&gt;5&lt;/mn&gt;&lt;/msup&gt;&lt;/mfrac&gt;&lt;/mtd&gt;&lt;/mtr&gt;&lt;/mtable&gt;&lt;/math&gt;" id="297" name="Google Shape;297;p22" title="3 lines Line 1: 0.1257 equals the fraction with numerator 1257 and denominator 10 to the fourth power Line 2: 3.567 equals the fraction with numerator 3567 and denominator 10 cubed Line 3: 0.00023 equals the fraction with numerator 23 and denominator 10 to the fifth power"/>
          <p:cNvPicPr preferRelativeResize="0"/>
          <p:nvPr/>
        </p:nvPicPr>
        <p:blipFill rotWithShape="1">
          <a:blip r:embed="rId7">
            <a:alphaModFix/>
          </a:blip>
          <a:srcRect b="-2223" l="59341" r="-11394" t="65477"/>
          <a:stretch/>
        </p:blipFill>
        <p:spPr>
          <a:xfrm>
            <a:off x="1634540" y="7587677"/>
            <a:ext cx="823996" cy="61082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2"/>
          <p:cNvSpPr txBox="1"/>
          <p:nvPr/>
        </p:nvSpPr>
        <p:spPr>
          <a:xfrm>
            <a:off x="452175" y="6543150"/>
            <a:ext cx="12150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300" name="Google Shape;300;p22"/>
          <p:cNvSpPr txBox="1"/>
          <p:nvPr/>
        </p:nvSpPr>
        <p:spPr>
          <a:xfrm>
            <a:off x="1933950" y="720000"/>
            <a:ext cx="37428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𝝅 is a special symbol and represents the non-terminating decimal 3.141592654…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begin{array}{l}3.167\ =\ \frac{3167}{1000}=\frac{3167}{10^3}\\&amp;#13;&amp;#10;0.0357=\frac{357}{10000}=\frac{357}{10^4}\\&amp;#13;&amp;#10;0.15=\frac{3}{20}=\frac{15}{100}=\frac{15}{10^2}\\&amp;#13;&amp;#10;0.784=\frac{98}{125}=\frac{784}{1000}=\frac{784}{10^3}\end{array}&quot;&gt;&lt;mtable columnalign=&quot;left&quot; columnspacing=&quot;1em&quot; rowspacing=&quot;4pt&quot;&gt;&lt;mtr&gt;&lt;mtd&gt;&lt;mn&gt;3.167&lt;/mn&gt;&lt;mtext&gt;&lt;/mtext&gt;&lt;mo&gt;=&lt;/mo&gt;&lt;mtext&gt;&lt;/mtext&gt;&lt;mfrac&gt;&lt;mn&gt;3167&lt;/mn&gt;&lt;mn&gt;1000&lt;/mn&gt;&lt;/mfrac&gt;&lt;mo&gt;=&lt;/mo&gt;&lt;mfrac&gt;&lt;mn&gt;3167&lt;/mn&gt;&lt;msup&gt;&lt;mn&gt;10&lt;/mn&gt;&lt;mn&gt;3&lt;/mn&gt;&lt;/msup&gt;&lt;/mfrac&gt;&lt;/mtd&gt;&lt;/mtr&gt;&lt;mtr&gt;&lt;mtd&gt;&lt;mn&gt;0.0357&lt;/mn&gt;&lt;mo&gt;=&lt;/mo&gt;&lt;mfrac&gt;&lt;mn&gt;357&lt;/mn&gt;&lt;mn&gt;10000&lt;/mn&gt;&lt;/mfrac&gt;&lt;mo&gt;=&lt;/mo&gt;&lt;mfrac&gt;&lt;mn&gt;357&lt;/mn&gt;&lt;msup&gt;&lt;mn&gt;10&lt;/mn&gt;&lt;mn&gt;4&lt;/mn&gt;&lt;/msup&gt;&lt;/mfrac&gt;&lt;/mtd&gt;&lt;/mtr&gt;&lt;mtr&gt;&lt;mtd&gt;&lt;mn&gt;0.15&lt;/mn&gt;&lt;mo&gt;=&lt;/mo&gt;&lt;mfrac&gt;&lt;mn&gt;3&lt;/mn&gt;&lt;mn&gt;20&lt;/mn&gt;&lt;/mfrac&gt;&lt;mo&gt;=&lt;/mo&gt;&lt;mfrac&gt;&lt;mn&gt;15&lt;/mn&gt;&lt;mn&gt;100&lt;/mn&gt;&lt;/mfrac&gt;&lt;mo&gt;=&lt;/mo&gt;&lt;mfrac&gt;&lt;mn&gt;15&lt;/mn&gt;&lt;msup&gt;&lt;mn&gt;10&lt;/mn&gt;&lt;mn&gt;2&lt;/mn&gt;&lt;/msup&gt;&lt;/mfrac&gt;&lt;/mtd&gt;&lt;/mtr&gt;&lt;mtr&gt;&lt;mtd&gt;&lt;mn&gt;0.784&lt;/mn&gt;&lt;mo&gt;=&lt;/mo&gt;&lt;mfrac&gt;&lt;mn&gt;98&lt;/mn&gt;&lt;mn&gt;125&lt;/mn&gt;&lt;/mfrac&gt;&lt;mo&gt;=&lt;/mo&gt;&lt;mfrac&gt;&lt;mn&gt;784&lt;/mn&gt;&lt;mn&gt;1000&lt;/mn&gt;&lt;/mfrac&gt;&lt;mo&gt;=&lt;/mo&gt;&lt;mfrac&gt;&lt;mn&gt;784&lt;/mn&gt;&lt;msup&gt;&lt;mn&gt;10&lt;/mn&gt;&lt;mn&gt;3&lt;/mn&gt;&lt;/msup&gt;&lt;/mfrac&gt;&lt;/mtd&gt;&lt;/mtr&gt;&lt;/mtable&gt;&lt;/math&gt;" id="305" name="Google Shape;305;p23" title="4 lines Line 1: 3.167 equals 3167 over 1000 equals the fraction with numerator 3167 and denominator 10 cubed Line 2: 0.0357 equals 357 over 10000 equals the fraction with numerator 357 and denominator 10 to the fourth power Line 3: 0.15 equals 3 over 20 equals 15 over 100 equals the fraction with numerator 15 and denominator 10 squared Line 4: 0.784 equals 98 over 125 equals 784 over 1000 equals the fraction with numerator 784 and denominator 10 cubed"/>
          <p:cNvPicPr preferRelativeResize="0"/>
          <p:nvPr/>
        </p:nvPicPr>
        <p:blipFill rotWithShape="1">
          <a:blip r:embed="rId3">
            <a:alphaModFix/>
          </a:blip>
          <a:srcRect b="-4224" l="-3573" r="0" t="74618"/>
          <a:stretch/>
        </p:blipFill>
        <p:spPr>
          <a:xfrm>
            <a:off x="4140501" y="2562885"/>
            <a:ext cx="2874513" cy="579671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7" name="Google Shape;307;p2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terminating decimals to fractions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468000" y="720000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Fill in the gaps.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3"/>
          <p:cNvSpPr txBox="1"/>
          <p:nvPr/>
        </p:nvSpPr>
        <p:spPr>
          <a:xfrm>
            <a:off x="3705900" y="1090025"/>
            <a:ext cx="5787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3"/>
          <p:cNvSpPr txBox="1"/>
          <p:nvPr/>
        </p:nvSpPr>
        <p:spPr>
          <a:xfrm>
            <a:off x="468000" y="2622008"/>
            <a:ext cx="13689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3"/>
          <p:cNvSpPr txBox="1"/>
          <p:nvPr/>
        </p:nvSpPr>
        <p:spPr>
          <a:xfrm>
            <a:off x="3705900" y="2622000"/>
            <a:ext cx="6528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3.167\ =\ \frac{3167}{1000}=\frac{3167}{10^3}\\&amp;#13;&amp;#10;0.0357=\frac{357}{10000}=\frac{357}{10^4}\\&amp;#13;&amp;#10;0.15=\frac{3}{20}=\frac{15}{100}=\frac{15}{10^2}\\&amp;#13;&amp;#10;0.784=\frac{98}{125}=\frac{784}{1000}=\frac{784}{10^3}\end{array}&quot;&gt;&lt;mtable columnalign=&quot;left&quot; columnspacing=&quot;1em&quot; rowspacing=&quot;4pt&quot;&gt;&lt;mtr&gt;&lt;mtd&gt;&lt;mn&gt;3.167&lt;/mn&gt;&lt;mtext&gt;&lt;/mtext&gt;&lt;mo&gt;=&lt;/mo&gt;&lt;mtext&gt;&lt;/mtext&gt;&lt;mfrac&gt;&lt;mn&gt;3167&lt;/mn&gt;&lt;mn&gt;1000&lt;/mn&gt;&lt;/mfrac&gt;&lt;mo&gt;=&lt;/mo&gt;&lt;mfrac&gt;&lt;mn&gt;3167&lt;/mn&gt;&lt;msup&gt;&lt;mn&gt;10&lt;/mn&gt;&lt;mn&gt;3&lt;/mn&gt;&lt;/msup&gt;&lt;/mfrac&gt;&lt;/mtd&gt;&lt;/mtr&gt;&lt;mtr&gt;&lt;mtd&gt;&lt;mn&gt;0.0357&lt;/mn&gt;&lt;mo&gt;=&lt;/mo&gt;&lt;mfrac&gt;&lt;mn&gt;357&lt;/mn&gt;&lt;mn&gt;10000&lt;/mn&gt;&lt;/mfrac&gt;&lt;mo&gt;=&lt;/mo&gt;&lt;mfrac&gt;&lt;mn&gt;357&lt;/mn&gt;&lt;msup&gt;&lt;mn&gt;10&lt;/mn&gt;&lt;mn&gt;4&lt;/mn&gt;&lt;/msup&gt;&lt;/mfrac&gt;&lt;/mtd&gt;&lt;/mtr&gt;&lt;mtr&gt;&lt;mtd&gt;&lt;mn&gt;0.15&lt;/mn&gt;&lt;mo&gt;=&lt;/mo&gt;&lt;mfrac&gt;&lt;mn&gt;3&lt;/mn&gt;&lt;mn&gt;20&lt;/mn&gt;&lt;/mfrac&gt;&lt;mo&gt;=&lt;/mo&gt;&lt;mfrac&gt;&lt;mn&gt;15&lt;/mn&gt;&lt;mn&gt;100&lt;/mn&gt;&lt;/mfrac&gt;&lt;mo&gt;=&lt;/mo&gt;&lt;mfrac&gt;&lt;mn&gt;15&lt;/mn&gt;&lt;msup&gt;&lt;mn&gt;10&lt;/mn&gt;&lt;mn&gt;2&lt;/mn&gt;&lt;/msup&gt;&lt;/mfrac&gt;&lt;/mtd&gt;&lt;/mtr&gt;&lt;mtr&gt;&lt;mtd&gt;&lt;mn&gt;0.784&lt;/mn&gt;&lt;mo&gt;=&lt;/mo&gt;&lt;mfrac&gt;&lt;mn&gt;98&lt;/mn&gt;&lt;mn&gt;125&lt;/mn&gt;&lt;/mfrac&gt;&lt;mo&gt;=&lt;/mo&gt;&lt;mfrac&gt;&lt;mn&gt;784&lt;/mn&gt;&lt;mn&gt;1000&lt;/mn&gt;&lt;/mfrac&gt;&lt;mo&gt;=&lt;/mo&gt;&lt;mfrac&gt;&lt;mn&gt;784&lt;/mn&gt;&lt;msup&gt;&lt;mn&gt;10&lt;/mn&gt;&lt;mn&gt;3&lt;/mn&gt;&lt;/msup&gt;&lt;/mfrac&gt;&lt;/mtd&gt;&lt;/mtr&gt;&lt;/mtable&gt;&lt;/math&gt;" id="314" name="Google Shape;314;p23" title="4 lines Line 1: 3.167 equals 3167 over 1000 equals the fraction with numerator 3167 and denominator 10 cubed Line 2: 0.0357 equals 357 over 10000 equals the fraction with numerator 357 and denominator 10 to the fourth power Line 3: 0.15 equals 3 over 20 equals 15 over 100 equals the fraction with numerator 15 and denominator 10 squared Line 4: 0.784 equals 98 over 125 equals 784 over 1000 equals the fraction with numerator 784 and denominator 10 cubed"/>
          <p:cNvPicPr preferRelativeResize="0"/>
          <p:nvPr/>
        </p:nvPicPr>
        <p:blipFill rotWithShape="1">
          <a:blip r:embed="rId3">
            <a:alphaModFix/>
          </a:blip>
          <a:srcRect b="75029" l="0" r="12503" t="0"/>
          <a:stretch/>
        </p:blipFill>
        <p:spPr>
          <a:xfrm>
            <a:off x="913035" y="1148214"/>
            <a:ext cx="2428343" cy="488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.167\ =\ \frac{3167}{1000}=\frac{3167}{10^3}\\&amp;#13;&amp;#10;0.0357=\frac{357}{10000}=\frac{357}{10^4}\\&amp;#13;&amp;#10;0.15=\frac{3}{20}=\frac{15}{100}=\frac{15}{10^2}\\&amp;#13;&amp;#10;0.784=\frac{98}{125}=\frac{784}{1000}=\frac{784}{10^3}\end{array}&quot;&gt;&lt;mtable columnalign=&quot;left&quot; columnspacing=&quot;1em&quot; rowspacing=&quot;4pt&quot;&gt;&lt;mtr&gt;&lt;mtd&gt;&lt;mn&gt;3.167&lt;/mn&gt;&lt;mtext&gt;&lt;/mtext&gt;&lt;mo&gt;=&lt;/mo&gt;&lt;mtext&gt;&lt;/mtext&gt;&lt;mfrac&gt;&lt;mn&gt;3167&lt;/mn&gt;&lt;mn&gt;1000&lt;/mn&gt;&lt;/mfrac&gt;&lt;mo&gt;=&lt;/mo&gt;&lt;mfrac&gt;&lt;mn&gt;3167&lt;/mn&gt;&lt;msup&gt;&lt;mn&gt;10&lt;/mn&gt;&lt;mn&gt;3&lt;/mn&gt;&lt;/msup&gt;&lt;/mfrac&gt;&lt;/mtd&gt;&lt;/mtr&gt;&lt;mtr&gt;&lt;mtd&gt;&lt;mn&gt;0.0357&lt;/mn&gt;&lt;mo&gt;=&lt;/mo&gt;&lt;mfrac&gt;&lt;mn&gt;357&lt;/mn&gt;&lt;mn&gt;10000&lt;/mn&gt;&lt;/mfrac&gt;&lt;mo&gt;=&lt;/mo&gt;&lt;mfrac&gt;&lt;mn&gt;357&lt;/mn&gt;&lt;msup&gt;&lt;mn&gt;10&lt;/mn&gt;&lt;mn&gt;4&lt;/mn&gt;&lt;/msup&gt;&lt;/mfrac&gt;&lt;/mtd&gt;&lt;/mtr&gt;&lt;mtr&gt;&lt;mtd&gt;&lt;mn&gt;0.15&lt;/mn&gt;&lt;mo&gt;=&lt;/mo&gt;&lt;mfrac&gt;&lt;mn&gt;3&lt;/mn&gt;&lt;mn&gt;20&lt;/mn&gt;&lt;/mfrac&gt;&lt;mo&gt;=&lt;/mo&gt;&lt;mfrac&gt;&lt;mn&gt;15&lt;/mn&gt;&lt;mn&gt;100&lt;/mn&gt;&lt;/mfrac&gt;&lt;mo&gt;=&lt;/mo&gt;&lt;mfrac&gt;&lt;mn&gt;15&lt;/mn&gt;&lt;msup&gt;&lt;mn&gt;10&lt;/mn&gt;&lt;mn&gt;2&lt;/mn&gt;&lt;/msup&gt;&lt;/mfrac&gt;&lt;/mtd&gt;&lt;/mtr&gt;&lt;mtr&gt;&lt;mtd&gt;&lt;mn&gt;0.784&lt;/mn&gt;&lt;mo&gt;=&lt;/mo&gt;&lt;mfrac&gt;&lt;mn&gt;98&lt;/mn&gt;&lt;mn&gt;125&lt;/mn&gt;&lt;/mfrac&gt;&lt;mo&gt;=&lt;/mo&gt;&lt;mfrac&gt;&lt;mn&gt;784&lt;/mn&gt;&lt;mn&gt;1000&lt;/mn&gt;&lt;/mfrac&gt;&lt;mo&gt;=&lt;/mo&gt;&lt;mfrac&gt;&lt;mn&gt;784&lt;/mn&gt;&lt;msup&gt;&lt;mn&gt;10&lt;/mn&gt;&lt;mn&gt;3&lt;/mn&gt;&lt;/msup&gt;&lt;/mfrac&gt;&lt;/mtd&gt;&lt;/mtr&gt;&lt;/mtable&gt;&lt;/math&gt;" id="315" name="Google Shape;315;p23" title="4 lines Line 1: 3.167 equals 3167 over 1000 equals the fraction with numerator 3167 and denominator 10 cubed Line 2: 0.0357 equals 357 over 10000 equals the fraction with numerator 357 and denominator 10 to the fourth power Line 3: 0.15 equals 3 over 20 equals 15 over 100 equals the fraction with numerator 15 and denominator 10 squared Line 4: 0.784 equals 98 over 125 equals 784 over 1000 equals the fraction with numerator 784 and denominator 10 cubed"/>
          <p:cNvPicPr preferRelativeResize="0"/>
          <p:nvPr/>
        </p:nvPicPr>
        <p:blipFill rotWithShape="1">
          <a:blip r:embed="rId3">
            <a:alphaModFix/>
          </a:blip>
          <a:srcRect b="51211" l="-1732" r="14235" t="23818"/>
          <a:stretch/>
        </p:blipFill>
        <p:spPr>
          <a:xfrm>
            <a:off x="4071450" y="1094472"/>
            <a:ext cx="2428343" cy="4888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3.167\ =\ \frac{3167}{1000}=\frac{3167}{10^3}\\&amp;#13;&amp;#10;0.0357=\frac{357}{10000}=\frac{357}{10^4}\\&amp;#13;&amp;#10;0.15=\frac{3}{20}=\frac{15}{100}=\frac{15}{10^2}\\&amp;#13;&amp;#10;0.784=\frac{98}{125}=\frac{784}{1000}=\frac{784}{10^3}\end{array}&quot;&gt;&lt;mtable columnalign=&quot;left&quot; columnspacing=&quot;1em&quot; rowspacing=&quot;4pt&quot;&gt;&lt;mtr&gt;&lt;mtd&gt;&lt;mn&gt;3.167&lt;/mn&gt;&lt;mtext&gt;&lt;/mtext&gt;&lt;mo&gt;=&lt;/mo&gt;&lt;mtext&gt;&lt;/mtext&gt;&lt;mfrac&gt;&lt;mn&gt;3167&lt;/mn&gt;&lt;mn&gt;1000&lt;/mn&gt;&lt;/mfrac&gt;&lt;mo&gt;=&lt;/mo&gt;&lt;mfrac&gt;&lt;mn&gt;3167&lt;/mn&gt;&lt;msup&gt;&lt;mn&gt;10&lt;/mn&gt;&lt;mn&gt;3&lt;/mn&gt;&lt;/msup&gt;&lt;/mfrac&gt;&lt;/mtd&gt;&lt;/mtr&gt;&lt;mtr&gt;&lt;mtd&gt;&lt;mn&gt;0.0357&lt;/mn&gt;&lt;mo&gt;=&lt;/mo&gt;&lt;mfrac&gt;&lt;mn&gt;357&lt;/mn&gt;&lt;mn&gt;10000&lt;/mn&gt;&lt;/mfrac&gt;&lt;mo&gt;=&lt;/mo&gt;&lt;mfrac&gt;&lt;mn&gt;357&lt;/mn&gt;&lt;msup&gt;&lt;mn&gt;10&lt;/mn&gt;&lt;mn&gt;4&lt;/mn&gt;&lt;/msup&gt;&lt;/mfrac&gt;&lt;/mtd&gt;&lt;/mtr&gt;&lt;mtr&gt;&lt;mtd&gt;&lt;mn&gt;0.15&lt;/mn&gt;&lt;mo&gt;=&lt;/mo&gt;&lt;mfrac&gt;&lt;mn&gt;3&lt;/mn&gt;&lt;mn&gt;20&lt;/mn&gt;&lt;/mfrac&gt;&lt;mo&gt;=&lt;/mo&gt;&lt;mfrac&gt;&lt;mn&gt;15&lt;/mn&gt;&lt;mn&gt;100&lt;/mn&gt;&lt;/mfrac&gt;&lt;mo&gt;=&lt;/mo&gt;&lt;mfrac&gt;&lt;mn&gt;15&lt;/mn&gt;&lt;msup&gt;&lt;mn&gt;10&lt;/mn&gt;&lt;mn&gt;2&lt;/mn&gt;&lt;/msup&gt;&lt;/mfrac&gt;&lt;/mtd&gt;&lt;/mtr&gt;&lt;mtr&gt;&lt;mtd&gt;&lt;mn&gt;0.784&lt;/mn&gt;&lt;mo&gt;=&lt;/mo&gt;&lt;mfrac&gt;&lt;mn&gt;98&lt;/mn&gt;&lt;mn&gt;125&lt;/mn&gt;&lt;/mfrac&gt;&lt;mo&gt;=&lt;/mo&gt;&lt;mfrac&gt;&lt;mn&gt;784&lt;/mn&gt;&lt;mn&gt;1000&lt;/mn&gt;&lt;/mfrac&gt;&lt;mo&gt;=&lt;/mo&gt;&lt;mfrac&gt;&lt;mn&gt;784&lt;/mn&gt;&lt;msup&gt;&lt;mn&gt;10&lt;/mn&gt;&lt;mn&gt;3&lt;/mn&gt;&lt;/msup&gt;&lt;/mfrac&gt;&lt;/mtd&gt;&lt;/mtr&gt;&lt;/mtable&gt;&lt;/math&gt;" id="316" name="Google Shape;316;p23" title="4 lines Line 1: 3.167 equals 3167 over 1000 equals the fraction with numerator 3167 and denominator 10 cubed Line 2: 0.0357 equals 357 over 10000 equals the fraction with numerator 357 and denominator 10 to the fourth power Line 3: 0.15 equals 3 over 20 equals 15 over 100 equals the fraction with numerator 15 and denominator 10 squared Line 4: 0.784 equals 98 over 125 equals 784 over 1000 equals the fraction with numerator 784 and denominator 10 cubed"/>
          <p:cNvPicPr preferRelativeResize="0"/>
          <p:nvPr/>
        </p:nvPicPr>
        <p:blipFill rotWithShape="1">
          <a:blip r:embed="rId3">
            <a:alphaModFix/>
          </a:blip>
          <a:srcRect b="22329" l="-2960" r="9555" t="48063"/>
          <a:stretch/>
        </p:blipFill>
        <p:spPr>
          <a:xfrm>
            <a:off x="830978" y="2562875"/>
            <a:ext cx="2592452" cy="57969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3"/>
          <p:cNvSpPr txBox="1"/>
          <p:nvPr/>
        </p:nvSpPr>
        <p:spPr>
          <a:xfrm>
            <a:off x="468000" y="1089300"/>
            <a:ext cx="3885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