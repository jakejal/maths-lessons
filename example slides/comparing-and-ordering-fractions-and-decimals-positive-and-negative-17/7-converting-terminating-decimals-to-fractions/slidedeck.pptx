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A7F99D-FD11-48AA-9AF6-4EBAAD449341}">
  <a:tblStyle styleId="{75A7F99D-FD11-48AA-9AF6-4EBAAD4493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9a6df5d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9a6df5d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9a6df5da5_1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9a6df5da5_1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99a6df5da5_1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99a6df5da5_1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99a6df5da5_1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99a6df5da5_1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99a6df5da5_1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99a6df5da5_1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99a6df5da5_1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99a6df5da5_1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99a6df5da5_1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99a6df5da5_1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99a6df5da5_1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99a6df5da5_1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99a6df5da5_1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99a6df5da5_1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99a6df5da5_1_1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99a6df5da5_1_1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99bb615ae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99bb615ae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99bb615ae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99bb615ae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9e9ec70ac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9e9ec70ac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eb3df5aad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eb3df5aad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eb3df5aad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eb3df5aad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1eb3df5aad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1eb3df5aad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1eb3df5aad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1eb3df5aad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8e35aeb0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8e35aeb0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8e35aeb04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8e35aeb04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99bb615ae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99bb615ae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99bb615ae5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99bb615ae5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1eb3df5aad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1eb3df5aad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1eb3df5aad9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1eb3df5aad9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1eb3df5aad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1eb3df5aad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99bb615ae5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99bb615ae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1eb3df5aad9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1eb3df5aad9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1eb3df5aad9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1eb3df5aad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1eb3df5aad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1eb3df5aad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99bb615ae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99bb615ae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1eb3df5aad9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1eb3df5aad9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1eb3df5aad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1eb3df5aad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1eb3df5aad9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1eb3df5aad9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1eb3df5aad9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1eb3df5aad9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1eb3df5aad9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1eb3df5aad9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1eb3df5aad9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1eb3df5aad9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1eb3df5aad9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1eb3df5aad9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1eb3df5aad9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1eb3df5aad9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1eb3df5aad9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1eb3df5aad9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10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5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5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11" Type="http://schemas.openxmlformats.org/officeDocument/2006/relationships/image" Target="../media/image54.png"/><Relationship Id="rId10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11" Type="http://schemas.openxmlformats.org/officeDocument/2006/relationships/image" Target="../media/image54.png"/><Relationship Id="rId10" Type="http://schemas.openxmlformats.org/officeDocument/2006/relationships/image" Target="../media/image56.png"/><Relationship Id="rId12" Type="http://schemas.openxmlformats.org/officeDocument/2006/relationships/image" Target="../media/image5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11" Type="http://schemas.openxmlformats.org/officeDocument/2006/relationships/image" Target="../media/image54.png"/><Relationship Id="rId10" Type="http://schemas.openxmlformats.org/officeDocument/2006/relationships/image" Target="../media/image56.png"/><Relationship Id="rId12" Type="http://schemas.openxmlformats.org/officeDocument/2006/relationships/image" Target="../media/image5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11" Type="http://schemas.openxmlformats.org/officeDocument/2006/relationships/image" Target="../media/image54.png"/><Relationship Id="rId10" Type="http://schemas.openxmlformats.org/officeDocument/2006/relationships/image" Target="../media/image56.png"/><Relationship Id="rId12" Type="http://schemas.openxmlformats.org/officeDocument/2006/relationships/image" Target="../media/image5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11" Type="http://schemas.openxmlformats.org/officeDocument/2006/relationships/image" Target="../media/image54.png"/><Relationship Id="rId10" Type="http://schemas.openxmlformats.org/officeDocument/2006/relationships/image" Target="../media/image56.png"/><Relationship Id="rId13" Type="http://schemas.openxmlformats.org/officeDocument/2006/relationships/image" Target="../media/image60.png"/><Relationship Id="rId12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11" Type="http://schemas.openxmlformats.org/officeDocument/2006/relationships/image" Target="../media/image54.png"/><Relationship Id="rId10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Relationship Id="rId4" Type="http://schemas.openxmlformats.org/officeDocument/2006/relationships/image" Target="../media/image71.png"/><Relationship Id="rId5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7.png"/><Relationship Id="rId4" Type="http://schemas.openxmlformats.org/officeDocument/2006/relationships/image" Target="../media/image64.png"/><Relationship Id="rId5" Type="http://schemas.openxmlformats.org/officeDocument/2006/relationships/image" Target="../media/image72.png"/><Relationship Id="rId6" Type="http://schemas.openxmlformats.org/officeDocument/2006/relationships/image" Target="../media/image6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5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Relationship Id="rId4" Type="http://schemas.openxmlformats.org/officeDocument/2006/relationships/image" Target="../media/image71.png"/><Relationship Id="rId5" Type="http://schemas.openxmlformats.org/officeDocument/2006/relationships/image" Target="../media/image65.png"/><Relationship Id="rId6" Type="http://schemas.openxmlformats.org/officeDocument/2006/relationships/image" Target="../media/image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Relationship Id="rId4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0.png"/><Relationship Id="rId4" Type="http://schemas.openxmlformats.org/officeDocument/2006/relationships/image" Target="../media/image64.png"/><Relationship Id="rId5" Type="http://schemas.openxmlformats.org/officeDocument/2006/relationships/image" Target="../media/image6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0.png"/><Relationship Id="rId4" Type="http://schemas.openxmlformats.org/officeDocument/2006/relationships/image" Target="../media/image67.png"/><Relationship Id="rId5" Type="http://schemas.openxmlformats.org/officeDocument/2006/relationships/image" Target="../media/image7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0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3.png"/><Relationship Id="rId8" Type="http://schemas.openxmlformats.org/officeDocument/2006/relationships/image" Target="../media/image8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5.png"/><Relationship Id="rId4" Type="http://schemas.openxmlformats.org/officeDocument/2006/relationships/image" Target="../media/image98.png"/><Relationship Id="rId5" Type="http://schemas.openxmlformats.org/officeDocument/2006/relationships/image" Target="../media/image9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7.png"/><Relationship Id="rId4" Type="http://schemas.openxmlformats.org/officeDocument/2006/relationships/image" Target="../media/image54.png"/><Relationship Id="rId9" Type="http://schemas.openxmlformats.org/officeDocument/2006/relationships/image" Target="../media/image51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Relationship Id="rId11" Type="http://schemas.openxmlformats.org/officeDocument/2006/relationships/image" Target="../media/image50.png"/><Relationship Id="rId10" Type="http://schemas.openxmlformats.org/officeDocument/2006/relationships/image" Target="../media/image52.png"/><Relationship Id="rId12" Type="http://schemas.openxmlformats.org/officeDocument/2006/relationships/image" Target="../media/image5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7.png"/><Relationship Id="rId4" Type="http://schemas.openxmlformats.org/officeDocument/2006/relationships/image" Target="../media/image54.png"/><Relationship Id="rId9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Relationship Id="rId10" Type="http://schemas.openxmlformats.org/officeDocument/2006/relationships/image" Target="../media/image9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7.png"/><Relationship Id="rId4" Type="http://schemas.openxmlformats.org/officeDocument/2006/relationships/image" Target="../media/image54.png"/><Relationship Id="rId9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Relationship Id="rId10" Type="http://schemas.openxmlformats.org/officeDocument/2006/relationships/image" Target="../media/image10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any terminating decimal can be written as a fraction with a denominator of the form 10</a:t>
            </a:r>
            <a:r>
              <a:rPr baseline="30000"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7822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</a:t>
            </a:r>
            <a:r>
              <a:rPr lang="en-GB"/>
              <a:t> </a:t>
            </a:r>
            <a:r>
              <a:rPr b="0" lang="en-GB"/>
              <a:t>terminating decimal is one that has a finite number of digits after the decimal point.</a:t>
            </a:r>
            <a:endParaRPr b="0"/>
          </a:p>
        </p:txBody>
      </p:sp>
      <p:sp>
        <p:nvSpPr>
          <p:cNvPr id="767" name="Google Shape;767;p67"/>
          <p:cNvSpPr txBox="1"/>
          <p:nvPr/>
        </p:nvSpPr>
        <p:spPr>
          <a:xfrm>
            <a:off x="324000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68" name="Google Shape;768;p67"/>
          <p:cNvSpPr txBox="1"/>
          <p:nvPr/>
        </p:nvSpPr>
        <p:spPr>
          <a:xfrm>
            <a:off x="2478775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69" name="Google Shape;769;p67"/>
          <p:cNvSpPr txBox="1"/>
          <p:nvPr/>
        </p:nvSpPr>
        <p:spPr>
          <a:xfrm>
            <a:off x="4535725" y="2319175"/>
            <a:ext cx="250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0" name="Google Shape;770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0" l="0" r="78771" t="0"/>
          <a:stretch/>
        </p:blipFill>
        <p:spPr>
          <a:xfrm>
            <a:off x="683400" y="2885825"/>
            <a:ext cx="1001400" cy="4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7"/>
          <p:cNvSpPr txBox="1"/>
          <p:nvPr/>
        </p:nvSpPr>
        <p:spPr>
          <a:xfrm>
            <a:off x="6918225" y="2319163"/>
            <a:ext cx="25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2" name="Google Shape;772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15689" l="19284" r="38462" t="15690"/>
          <a:stretch/>
        </p:blipFill>
        <p:spPr>
          <a:xfrm>
            <a:off x="2196350" y="2962025"/>
            <a:ext cx="1993200" cy="42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3" name="Google Shape;773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7763" l="73510" r="10058" t="-7763"/>
          <a:stretch/>
        </p:blipFill>
        <p:spPr>
          <a:xfrm>
            <a:off x="5141418" y="2885825"/>
            <a:ext cx="775150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774" name="Google Shape;774;p67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27437" l="91624" r="-8056" t="11910"/>
          <a:stretch/>
        </p:blipFill>
        <p:spPr>
          <a:xfrm>
            <a:off x="7597968" y="2962025"/>
            <a:ext cx="775150" cy="4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781" name="Google Shape;781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</p:txBody>
      </p:sp>
      <p:sp>
        <p:nvSpPr>
          <p:cNvPr id="782" name="Google Shape;782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43" y="175050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324000" y="759300"/>
            <a:ext cx="7548000" cy="12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Given terminating decimals</a:t>
            </a:r>
            <a:r>
              <a:rPr lang="en-GB">
                <a:solidFill>
                  <a:srgbClr val="282828"/>
                </a:solidFill>
              </a:rPr>
              <a:t> have</a:t>
            </a:r>
            <a:r>
              <a:rPr lang="en-GB">
                <a:solidFill>
                  <a:srgbClr val="282828"/>
                </a:solidFill>
              </a:rPr>
              <a:t> a finite number of digits after the decimal point, we can use a place value chart to help us identify the decimal as a fraction.</a:t>
            </a:r>
            <a:endParaRPr/>
          </a:p>
        </p:txBody>
      </p:sp>
      <p:sp>
        <p:nvSpPr>
          <p:cNvPr id="789" name="Google Shape;78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graphicFrame>
        <p:nvGraphicFramePr>
          <p:cNvPr id="790" name="Google Shape;790;p69"/>
          <p:cNvGraphicFramePr/>
          <p:nvPr/>
        </p:nvGraphicFramePr>
        <p:xfrm>
          <a:off x="690235" y="2426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1" name="Google Shape;791;p69"/>
          <p:cNvSpPr/>
          <p:nvPr/>
        </p:nvSpPr>
        <p:spPr>
          <a:xfrm>
            <a:off x="4533478" y="31812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2" name="Google Shape;792;p69"/>
          <p:cNvGrpSpPr/>
          <p:nvPr/>
        </p:nvGrpSpPr>
        <p:grpSpPr>
          <a:xfrm>
            <a:off x="878630" y="2492104"/>
            <a:ext cx="6773120" cy="438600"/>
            <a:chOff x="878630" y="2263504"/>
            <a:chExt cx="6773120" cy="438600"/>
          </a:xfrm>
        </p:grpSpPr>
        <p:grpSp>
          <p:nvGrpSpPr>
            <p:cNvPr id="793" name="Google Shape;793;p69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794" name="Google Shape;794;p69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795" name="Google Shape;795;p69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796" name="Google Shape;796;p69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797" name="Google Shape;797;p69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798" name="Google Shape;798;p69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799" name="Google Shape;799;p69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800" name="Google Shape;800;p69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801" name="Google Shape;801;p69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02" name="Google Shape;802;p69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graphicFrame>
        <p:nvGraphicFramePr>
          <p:cNvPr id="808" name="Google Shape;808;p70"/>
          <p:cNvGraphicFramePr/>
          <p:nvPr/>
        </p:nvGraphicFramePr>
        <p:xfrm>
          <a:off x="690235" y="2426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9" name="Google Shape;809;p70"/>
          <p:cNvSpPr txBox="1"/>
          <p:nvPr/>
        </p:nvSpPr>
        <p:spPr>
          <a:xfrm>
            <a:off x="324000" y="760450"/>
            <a:ext cx="7135200" cy="12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decimal is a number that has parts that are not whole. The place value chart splits whole numbers into tenths, hundredths, thousandths, and so on.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/>
          <p:nvPr/>
        </p:nvSpPr>
        <p:spPr>
          <a:xfrm>
            <a:off x="4533478" y="31812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1" name="Google Shape;811;p70"/>
          <p:cNvGrpSpPr/>
          <p:nvPr/>
        </p:nvGrpSpPr>
        <p:grpSpPr>
          <a:xfrm>
            <a:off x="878630" y="2492104"/>
            <a:ext cx="6773120" cy="438600"/>
            <a:chOff x="878630" y="2263504"/>
            <a:chExt cx="6773120" cy="438600"/>
          </a:xfrm>
        </p:grpSpPr>
        <p:grpSp>
          <p:nvGrpSpPr>
            <p:cNvPr id="812" name="Google Shape;812;p70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813" name="Google Shape;813;p70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814" name="Google Shape;814;p70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815" name="Google Shape;815;p70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16" name="Google Shape;816;p70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817" name="Google Shape;817;p70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818" name="Google Shape;818;p70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819" name="Google Shape;819;p70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820" name="Google Shape;820;p70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21" name="Google Shape;821;p70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2" name="Google Shape;822;p70"/>
          <p:cNvGrpSpPr/>
          <p:nvPr/>
        </p:nvGrpSpPr>
        <p:grpSpPr>
          <a:xfrm>
            <a:off x="2527291" y="2982487"/>
            <a:ext cx="4493700" cy="521209"/>
            <a:chOff x="2527291" y="2753887"/>
            <a:chExt cx="4493700" cy="521209"/>
          </a:xfrm>
        </p:grpSpPr>
        <p:sp>
          <p:nvSpPr>
            <p:cNvPr id="823" name="Google Shape;823;p70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24" name="Google Shape;824;p70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825" name="Google Shape;825;p70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826" name="Google Shape;826;p70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27" name="Google Shape;827;p70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828" name="Google Shape;828;p70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829" name="Google Shape;829;p70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830" name="Google Shape;830;p70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831" name="Google Shape;831;p70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32" name="Google Shape;832;p70"/>
          <p:cNvSpPr txBox="1"/>
          <p:nvPr/>
        </p:nvSpPr>
        <p:spPr>
          <a:xfrm>
            <a:off x="309225" y="4194725"/>
            <a:ext cx="5571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Write the decimal 0.257 as a fraction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/>
          <p:nvPr/>
        </p:nvSpPr>
        <p:spPr>
          <a:xfrm>
            <a:off x="6450875" y="3048750"/>
            <a:ext cx="301800" cy="41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/>
          <p:nvPr/>
        </p:nvSpPr>
        <p:spPr>
          <a:xfrm>
            <a:off x="5939400" y="3955600"/>
            <a:ext cx="185100" cy="40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5758992" y="3955600"/>
            <a:ext cx="185100" cy="40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0"/>
          <p:cNvSpPr/>
          <p:nvPr/>
        </p:nvSpPr>
        <p:spPr>
          <a:xfrm>
            <a:off x="5573892" y="3955600"/>
            <a:ext cx="185100" cy="40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0"/>
          <p:cNvSpPr/>
          <p:nvPr/>
        </p:nvSpPr>
        <p:spPr>
          <a:xfrm>
            <a:off x="5623513" y="3048750"/>
            <a:ext cx="301800" cy="41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0"/>
          <p:cNvSpPr/>
          <p:nvPr/>
        </p:nvSpPr>
        <p:spPr>
          <a:xfrm>
            <a:off x="4855350" y="3048750"/>
            <a:ext cx="301800" cy="41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57}{1000}&quot;&gt;&lt;mfrac&gt;&lt;mn&gt;257&lt;/mn&gt;&lt;mn&gt;1000&lt;/mn&gt;&lt;/mfrac&gt;&lt;/math&gt;" id="839" name="Google Shape;839;p70" title="257 over 1000"/>
          <p:cNvPicPr preferRelativeResize="0"/>
          <p:nvPr/>
        </p:nvPicPr>
        <p:blipFill rotWithShape="1">
          <a:blip r:embed="rId12">
            <a:alphaModFix/>
          </a:blip>
          <a:srcRect b="0" l="0" r="0" t="39766"/>
          <a:stretch/>
        </p:blipFill>
        <p:spPr>
          <a:xfrm>
            <a:off x="5474829" y="4280200"/>
            <a:ext cx="715225" cy="41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7}{1000}&quot;&gt;&lt;mfrac&gt;&lt;mn&gt;257&lt;/mn&gt;&lt;mn&gt;1000&lt;/mn&gt;&lt;/mfrac&gt;&lt;/math&gt;" id="840" name="Google Shape;840;p70" title="257 over 1000"/>
          <p:cNvPicPr preferRelativeResize="0"/>
          <p:nvPr/>
        </p:nvPicPr>
        <p:blipFill rotWithShape="1">
          <a:blip r:embed="rId12">
            <a:alphaModFix/>
          </a:blip>
          <a:srcRect b="55293" l="61354" r="0" t="0"/>
          <a:stretch/>
        </p:blipFill>
        <p:spPr>
          <a:xfrm>
            <a:off x="5927730" y="4008592"/>
            <a:ext cx="276400" cy="31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7}{1000}&quot;&gt;&lt;mfrac&gt;&lt;mn&gt;257&lt;/mn&gt;&lt;mn&gt;1000&lt;/mn&gt;&lt;/mfrac&gt;&lt;/math&gt;" id="841" name="Google Shape;841;p70" title="257 over 1000"/>
          <p:cNvPicPr preferRelativeResize="0"/>
          <p:nvPr/>
        </p:nvPicPr>
        <p:blipFill rotWithShape="1">
          <a:blip r:embed="rId12">
            <a:alphaModFix/>
          </a:blip>
          <a:srcRect b="55293" l="36839" r="38908" t="0"/>
          <a:stretch/>
        </p:blipFill>
        <p:spPr>
          <a:xfrm>
            <a:off x="5739450" y="4011800"/>
            <a:ext cx="173450" cy="31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7}{1000}&quot;&gt;&lt;mfrac&gt;&lt;mn&gt;257&lt;/mn&gt;&lt;mn&gt;1000&lt;/mn&gt;&lt;/mfrac&gt;&lt;/math&gt;" id="842" name="Google Shape;842;p70" title="257 over 1000"/>
          <p:cNvPicPr preferRelativeResize="0"/>
          <p:nvPr/>
        </p:nvPicPr>
        <p:blipFill rotWithShape="1">
          <a:blip r:embed="rId12">
            <a:alphaModFix/>
          </a:blip>
          <a:srcRect b="55293" l="11681" r="61346" t="0"/>
          <a:stretch/>
        </p:blipFill>
        <p:spPr>
          <a:xfrm>
            <a:off x="5546549" y="4013275"/>
            <a:ext cx="192900" cy="3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less than 1</a:t>
            </a:r>
            <a:endParaRPr/>
          </a:p>
        </p:txBody>
      </p:sp>
      <p:graphicFrame>
        <p:nvGraphicFramePr>
          <p:cNvPr id="848" name="Google Shape;848;p71"/>
          <p:cNvGraphicFramePr/>
          <p:nvPr/>
        </p:nvGraphicFramePr>
        <p:xfrm>
          <a:off x="690235" y="2197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9" name="Google Shape;849;p71"/>
          <p:cNvSpPr txBox="1"/>
          <p:nvPr/>
        </p:nvSpPr>
        <p:spPr>
          <a:xfrm>
            <a:off x="325650" y="1063225"/>
            <a:ext cx="798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do you think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0.4891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is as a fraction?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/>
          <p:nvPr/>
        </p:nvSpPr>
        <p:spPr>
          <a:xfrm>
            <a:off x="4533478" y="29526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1" name="Google Shape;851;p71"/>
          <p:cNvGrpSpPr/>
          <p:nvPr/>
        </p:nvGrpSpPr>
        <p:grpSpPr>
          <a:xfrm>
            <a:off x="878630" y="2263504"/>
            <a:ext cx="6773120" cy="438600"/>
            <a:chOff x="878630" y="2263504"/>
            <a:chExt cx="6773120" cy="438600"/>
          </a:xfrm>
        </p:grpSpPr>
        <p:grpSp>
          <p:nvGrpSpPr>
            <p:cNvPr id="852" name="Google Shape;852;p71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853" name="Google Shape;853;p71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854" name="Google Shape;854;p71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855" name="Google Shape;855;p71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56" name="Google Shape;856;p71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857" name="Google Shape;857;p71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858" name="Google Shape;858;p71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859" name="Google Shape;859;p71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860" name="Google Shape;860;p71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61" name="Google Shape;861;p7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2" name="Google Shape;862;p71"/>
          <p:cNvGrpSpPr/>
          <p:nvPr/>
        </p:nvGrpSpPr>
        <p:grpSpPr>
          <a:xfrm>
            <a:off x="2527291" y="2753887"/>
            <a:ext cx="4493700" cy="521209"/>
            <a:chOff x="2527291" y="2753887"/>
            <a:chExt cx="4493700" cy="521209"/>
          </a:xfrm>
        </p:grpSpPr>
        <p:sp>
          <p:nvSpPr>
            <p:cNvPr id="863" name="Google Shape;863;p71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64" name="Google Shape;864;p71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865" name="Google Shape;865;p71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866" name="Google Shape;866;p71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67" name="Google Shape;867;p71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4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868" name="Google Shape;868;p71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869" name="Google Shape;869;p71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870" name="Google Shape;870;p71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871" name="Google Shape;871;p71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72" name="Google Shape;872;p71"/>
          <p:cNvSpPr txBox="1"/>
          <p:nvPr/>
        </p:nvSpPr>
        <p:spPr>
          <a:xfrm>
            <a:off x="324000" y="1630375"/>
            <a:ext cx="798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 can use a place value chart if it helps.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1"/>
          <p:cNvSpPr txBox="1"/>
          <p:nvPr/>
        </p:nvSpPr>
        <p:spPr>
          <a:xfrm>
            <a:off x="7116988" y="2762785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1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891}{10\ 000}&quot;&gt;&lt;mfrac&gt;&lt;mn&gt;4891&lt;/mn&gt;&lt;mrow&gt;&lt;mn&gt;10&lt;/mn&gt;&lt;mtext&gt;&lt;/mtext&gt;&lt;mn&gt;000&lt;/mn&gt;&lt;/mrow&gt;&lt;/mfrac&gt;&lt;/math&gt;" id="874" name="Google Shape;874;p71" title="the fraction with numerator 4891 and denominator 10 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12000" y="3834650"/>
            <a:ext cx="992525" cy="7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1"/>
          <p:cNvSpPr txBox="1"/>
          <p:nvPr/>
        </p:nvSpPr>
        <p:spPr>
          <a:xfrm>
            <a:off x="343175" y="4024550"/>
            <a:ext cx="5571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decimal can be written as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less than 1</a:t>
            </a:r>
            <a:endParaRPr/>
          </a:p>
        </p:txBody>
      </p:sp>
      <p:graphicFrame>
        <p:nvGraphicFramePr>
          <p:cNvPr id="881" name="Google Shape;881;p72"/>
          <p:cNvGraphicFramePr/>
          <p:nvPr/>
        </p:nvGraphicFramePr>
        <p:xfrm>
          <a:off x="690235" y="2197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2" name="Google Shape;882;p72"/>
          <p:cNvSpPr txBox="1"/>
          <p:nvPr/>
        </p:nvSpPr>
        <p:spPr>
          <a:xfrm>
            <a:off x="325650" y="1063225"/>
            <a:ext cx="798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do you think 0.32 is as a fraction?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2"/>
          <p:cNvSpPr/>
          <p:nvPr/>
        </p:nvSpPr>
        <p:spPr>
          <a:xfrm>
            <a:off x="4533478" y="29526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4" name="Google Shape;884;p72"/>
          <p:cNvGrpSpPr/>
          <p:nvPr/>
        </p:nvGrpSpPr>
        <p:grpSpPr>
          <a:xfrm>
            <a:off x="878630" y="2263504"/>
            <a:ext cx="6773120" cy="438600"/>
            <a:chOff x="878630" y="2263504"/>
            <a:chExt cx="6773120" cy="438600"/>
          </a:xfrm>
        </p:grpSpPr>
        <p:grpSp>
          <p:nvGrpSpPr>
            <p:cNvPr id="885" name="Google Shape;885;p72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886" name="Google Shape;886;p72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887" name="Google Shape;887;p72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888" name="Google Shape;888;p72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89" name="Google Shape;889;p72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890" name="Google Shape;890;p72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891" name="Google Shape;891;p72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892" name="Google Shape;892;p72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893" name="Google Shape;893;p72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94" name="Google Shape;894;p7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5" name="Google Shape;895;p72"/>
          <p:cNvGrpSpPr/>
          <p:nvPr/>
        </p:nvGrpSpPr>
        <p:grpSpPr>
          <a:xfrm>
            <a:off x="2527291" y="2753887"/>
            <a:ext cx="4493700" cy="521209"/>
            <a:chOff x="2527291" y="2753887"/>
            <a:chExt cx="4493700" cy="521209"/>
          </a:xfrm>
        </p:grpSpPr>
        <p:sp>
          <p:nvSpPr>
            <p:cNvPr id="896" name="Google Shape;896;p72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7" name="Google Shape;897;p72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898" name="Google Shape;898;p72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899" name="Google Shape;899;p72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00" name="Google Shape;900;p72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3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901" name="Google Shape;901;p72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902" name="Google Shape;902;p72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903" name="Google Shape;903;p72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904" name="Google Shape;904;p72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05" name="Google Shape;905;p72"/>
          <p:cNvSpPr txBox="1"/>
          <p:nvPr/>
        </p:nvSpPr>
        <p:spPr>
          <a:xfrm>
            <a:off x="343175" y="4024550"/>
            <a:ext cx="5571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decimal can be written as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2"/>
          <p:cNvSpPr txBox="1"/>
          <p:nvPr/>
        </p:nvSpPr>
        <p:spPr>
          <a:xfrm>
            <a:off x="324000" y="1630375"/>
            <a:ext cx="798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 can use a place value chart if it helps.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2"/>
          <p:cNvSpPr txBox="1"/>
          <p:nvPr/>
        </p:nvSpPr>
        <p:spPr>
          <a:xfrm>
            <a:off x="7116988" y="2762785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2}{100}&quot;&gt;&lt;mfrac&gt;&lt;mn&gt;32&lt;/mn&gt;&lt;mn&gt;100&lt;/mn&gt;&lt;/mfrac&gt;&lt;/math&gt;" id="908" name="Google Shape;908;p72" title="32 over 1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69975" y="3880800"/>
            <a:ext cx="599100" cy="7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less than 1</a:t>
            </a:r>
            <a:endParaRPr/>
          </a:p>
        </p:txBody>
      </p:sp>
      <p:graphicFrame>
        <p:nvGraphicFramePr>
          <p:cNvPr id="914" name="Google Shape;914;p73"/>
          <p:cNvGraphicFramePr/>
          <p:nvPr/>
        </p:nvGraphicFramePr>
        <p:xfrm>
          <a:off x="690235" y="2197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5" name="Google Shape;915;p73"/>
          <p:cNvSpPr txBox="1"/>
          <p:nvPr/>
        </p:nvSpPr>
        <p:spPr>
          <a:xfrm>
            <a:off x="325650" y="1063225"/>
            <a:ext cx="798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do you think 0.32 is as a fraction?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3"/>
          <p:cNvSpPr/>
          <p:nvPr/>
        </p:nvSpPr>
        <p:spPr>
          <a:xfrm>
            <a:off x="4533478" y="29526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7" name="Google Shape;917;p73"/>
          <p:cNvGrpSpPr/>
          <p:nvPr/>
        </p:nvGrpSpPr>
        <p:grpSpPr>
          <a:xfrm>
            <a:off x="878630" y="2263504"/>
            <a:ext cx="6773120" cy="438600"/>
            <a:chOff x="878630" y="2263504"/>
            <a:chExt cx="6773120" cy="438600"/>
          </a:xfrm>
        </p:grpSpPr>
        <p:grpSp>
          <p:nvGrpSpPr>
            <p:cNvPr id="918" name="Google Shape;918;p73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919" name="Google Shape;919;p73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920" name="Google Shape;920;p73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921" name="Google Shape;921;p73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22" name="Google Shape;922;p73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923" name="Google Shape;923;p73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924" name="Google Shape;924;p73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925" name="Google Shape;925;p73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926" name="Google Shape;926;p73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27" name="Google Shape;927;p7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8" name="Google Shape;928;p73"/>
          <p:cNvGrpSpPr/>
          <p:nvPr/>
        </p:nvGrpSpPr>
        <p:grpSpPr>
          <a:xfrm>
            <a:off x="2527291" y="2753887"/>
            <a:ext cx="4493700" cy="521209"/>
            <a:chOff x="2527291" y="2753887"/>
            <a:chExt cx="4493700" cy="521209"/>
          </a:xfrm>
        </p:grpSpPr>
        <p:sp>
          <p:nvSpPr>
            <p:cNvPr id="929" name="Google Shape;929;p73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30" name="Google Shape;930;p73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931" name="Google Shape;931;p73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932" name="Google Shape;932;p73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33" name="Google Shape;933;p73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3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934" name="Google Shape;934;p73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935" name="Google Shape;935;p73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936" name="Google Shape;936;p73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937" name="Google Shape;937;p73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38" name="Google Shape;938;p73"/>
          <p:cNvSpPr txBox="1"/>
          <p:nvPr/>
        </p:nvSpPr>
        <p:spPr>
          <a:xfrm>
            <a:off x="343175" y="4024550"/>
            <a:ext cx="5571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can be simplified further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3"/>
          <p:cNvSpPr txBox="1"/>
          <p:nvPr/>
        </p:nvSpPr>
        <p:spPr>
          <a:xfrm>
            <a:off x="324000" y="1630375"/>
            <a:ext cx="798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You can use a place value chart if it helps.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3"/>
          <p:cNvSpPr txBox="1"/>
          <p:nvPr/>
        </p:nvSpPr>
        <p:spPr>
          <a:xfrm>
            <a:off x="7116988" y="2762785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2}{100}&quot;&gt;&lt;mfrac&gt;&lt;mn&gt;32&lt;/mn&gt;&lt;mn&gt;100&lt;/mn&gt;&lt;/mfrac&gt;&lt;/math&gt;" id="941" name="Google Shape;941;p73" title="32 over 1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69975" y="3880800"/>
            <a:ext cx="599100" cy="76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\times4}{25\times4}=\frac{8}{25}\times\frac{4}{4}=\frac{8}{25}\times1=\frac{8}{25}&quot;&gt;&lt;mfrac&gt;&lt;mrow&gt;&lt;mn&gt;8&lt;/mn&gt;&lt;mo&gt;×&lt;/mo&gt;&lt;mn&gt;4&lt;/mn&gt;&lt;/mrow&gt;&lt;mrow&gt;&lt;mn&gt;25&lt;/mn&gt;&lt;mo&gt;×&lt;/mo&gt;&lt;mn&gt;4&lt;/mn&gt;&lt;/mrow&gt;&lt;/mfrac&gt;&lt;mo&gt;=&lt;/mo&gt;&lt;mfrac&gt;&lt;mn&gt;8&lt;/mn&gt;&lt;mn&gt;25&lt;/mn&gt;&lt;/mfrac&gt;&lt;mo&gt;×&lt;/mo&gt;&lt;mfrac&gt;&lt;mn&gt;4&lt;/mn&gt;&lt;mn&gt;4&lt;/mn&gt;&lt;/mfrac&gt;&lt;mo&gt;=&lt;/mo&gt;&lt;mfrac&gt;&lt;mn&gt;8&lt;/mn&gt;&lt;mn&gt;25&lt;/mn&gt;&lt;/mfrac&gt;&lt;mo&gt;×&lt;/mo&gt;&lt;mn&gt;1&lt;/mn&gt;&lt;mo&gt;=&lt;/mo&gt;&lt;mfrac&gt;&lt;mn&gt;8&lt;/mn&gt;&lt;mn&gt;25&lt;/mn&gt;&lt;/mfrac&gt;&lt;/math&gt;" id="942" name="Google Shape;942;p73" title="the fraction with numerator 8 times 4 and denominator 25 times 4 equals 8 over 25 times four fourths equals 8 over 25 times 1 equals 8 over 25"/>
          <p:cNvPicPr preferRelativeResize="0"/>
          <p:nvPr/>
        </p:nvPicPr>
        <p:blipFill rotWithShape="1">
          <a:blip r:embed="rId13">
            <a:alphaModFix/>
          </a:blip>
          <a:srcRect b="0" l="0" r="78841" t="0"/>
          <a:stretch/>
        </p:blipFill>
        <p:spPr>
          <a:xfrm>
            <a:off x="5743412" y="3916900"/>
            <a:ext cx="1026774" cy="72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\times4}{25\times4}=\frac{8}{25}\times\frac{4}{4}=\frac{8}{25}\times1=\frac{8}{25}&quot;&gt;&lt;mfrac&gt;&lt;mrow&gt;&lt;mn&gt;8&lt;/mn&gt;&lt;mo&gt;×&lt;/mo&gt;&lt;mn&gt;4&lt;/mn&gt;&lt;/mrow&gt;&lt;mrow&gt;&lt;mn&gt;25&lt;/mn&gt;&lt;mo&gt;×&lt;/mo&gt;&lt;mn&gt;4&lt;/mn&gt;&lt;/mrow&gt;&lt;/mfrac&gt;&lt;mo&gt;=&lt;/mo&gt;&lt;mfrac&gt;&lt;mn&gt;8&lt;/mn&gt;&lt;mn&gt;25&lt;/mn&gt;&lt;/mfrac&gt;&lt;mo&gt;×&lt;/mo&gt;&lt;mfrac&gt;&lt;mn&gt;4&lt;/mn&gt;&lt;mn&gt;4&lt;/mn&gt;&lt;/mfrac&gt;&lt;mo&gt;=&lt;/mo&gt;&lt;mfrac&gt;&lt;mn&gt;8&lt;/mn&gt;&lt;mn&gt;25&lt;/mn&gt;&lt;/mfrac&gt;&lt;mo&gt;×&lt;/mo&gt;&lt;mn&gt;1&lt;/mn&gt;&lt;mo&gt;=&lt;/mo&gt;&lt;mfrac&gt;&lt;mn&gt;8&lt;/mn&gt;&lt;mn&gt;25&lt;/mn&gt;&lt;/mfrac&gt;&lt;/math&gt;" id="943" name="Google Shape;943;p73" title="the fraction with numerator 8 times 4 and denominator 25 times 4 equals 8 over 25 times four fourths equals 8 over 25 times 1 equals 8 over 25"/>
          <p:cNvPicPr preferRelativeResize="0"/>
          <p:nvPr/>
        </p:nvPicPr>
        <p:blipFill rotWithShape="1">
          <a:blip r:embed="rId13">
            <a:alphaModFix/>
          </a:blip>
          <a:srcRect b="0" l="27368" r="47116" t="0"/>
          <a:stretch/>
        </p:blipFill>
        <p:spPr>
          <a:xfrm>
            <a:off x="5637713" y="3915223"/>
            <a:ext cx="1238150" cy="72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\times4}{25\times4}=\frac{8}{25}\times\frac{4}{4}=\frac{8}{25}\times1=\frac{8}{25}&quot;&gt;&lt;mfrac&gt;&lt;mrow&gt;&lt;mn&gt;8&lt;/mn&gt;&lt;mo&gt;×&lt;/mo&gt;&lt;mn&gt;4&lt;/mn&gt;&lt;/mrow&gt;&lt;mrow&gt;&lt;mn&gt;25&lt;/mn&gt;&lt;mo&gt;×&lt;/mo&gt;&lt;mn&gt;4&lt;/mn&gt;&lt;/mrow&gt;&lt;/mfrac&gt;&lt;mo&gt;=&lt;/mo&gt;&lt;mfrac&gt;&lt;mn&gt;8&lt;/mn&gt;&lt;mn&gt;25&lt;/mn&gt;&lt;/mfrac&gt;&lt;mo&gt;×&lt;/mo&gt;&lt;mfrac&gt;&lt;mn&gt;4&lt;/mn&gt;&lt;mn&gt;4&lt;/mn&gt;&lt;/mfrac&gt;&lt;mo&gt;=&lt;/mo&gt;&lt;mfrac&gt;&lt;mn&gt;8&lt;/mn&gt;&lt;mn&gt;25&lt;/mn&gt;&lt;/mfrac&gt;&lt;mo&gt;×&lt;/mo&gt;&lt;mn&gt;1&lt;/mn&gt;&lt;mo&gt;=&lt;/mo&gt;&lt;mfrac&gt;&lt;mn&gt;8&lt;/mn&gt;&lt;mn&gt;25&lt;/mn&gt;&lt;/mfrac&gt;&lt;/math&gt;" id="944" name="Google Shape;944;p73" title="the fraction with numerator 8 times 4 and denominator 25 times 4 equals 8 over 25 times four fourths equals 8 over 25 times 1 equals 8 over 25"/>
          <p:cNvPicPr preferRelativeResize="0"/>
          <p:nvPr/>
        </p:nvPicPr>
        <p:blipFill rotWithShape="1">
          <a:blip r:embed="rId13">
            <a:alphaModFix/>
          </a:blip>
          <a:srcRect b="-3948" l="82460" r="9727" t="-3937"/>
          <a:stretch/>
        </p:blipFill>
        <p:spPr>
          <a:xfrm>
            <a:off x="5246175" y="3877500"/>
            <a:ext cx="344851" cy="78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\times4}{25\times4}=\frac{8}{25}\times\frac{4}{4}=\frac{8}{25}\times1=\frac{8}{25}&quot;&gt;&lt;mfrac&gt;&lt;mrow&gt;&lt;mn&gt;8&lt;/mn&gt;&lt;mo&gt;×&lt;/mo&gt;&lt;mn&gt;4&lt;/mn&gt;&lt;/mrow&gt;&lt;mrow&gt;&lt;mn&gt;25&lt;/mn&gt;&lt;mo&gt;×&lt;/mo&gt;&lt;mn&gt;4&lt;/mn&gt;&lt;/mrow&gt;&lt;/mfrac&gt;&lt;mo&gt;=&lt;/mo&gt;&lt;mfrac&gt;&lt;mn&gt;8&lt;/mn&gt;&lt;mn&gt;25&lt;/mn&gt;&lt;/mfrac&gt;&lt;mo&gt;×&lt;/mo&gt;&lt;mfrac&gt;&lt;mn&gt;4&lt;/mn&gt;&lt;mn&gt;4&lt;/mn&gt;&lt;/mfrac&gt;&lt;mo&gt;=&lt;/mo&gt;&lt;mfrac&gt;&lt;mn&gt;8&lt;/mn&gt;&lt;mn&gt;25&lt;/mn&gt;&lt;/mfrac&gt;&lt;mo&gt;×&lt;/mo&gt;&lt;mn&gt;1&lt;/mn&gt;&lt;mo&gt;=&lt;/mo&gt;&lt;mfrac&gt;&lt;mn&gt;8&lt;/mn&gt;&lt;mn&gt;25&lt;/mn&gt;&lt;/mfrac&gt;&lt;/math&gt;" id="945" name="Google Shape;945;p73" title="the fraction with numerator 8 times 4 and denominator 25 times 4 equals 8 over 25 times four fourths equals 8 over 25 times 1 equals 8 over 25"/>
          <p:cNvPicPr preferRelativeResize="0"/>
          <p:nvPr/>
        </p:nvPicPr>
        <p:blipFill rotWithShape="1">
          <a:blip r:embed="rId13">
            <a:alphaModFix/>
          </a:blip>
          <a:srcRect b="-3948" l="84132" r="-7741" t="-3937"/>
          <a:stretch/>
        </p:blipFill>
        <p:spPr>
          <a:xfrm>
            <a:off x="5343359" y="3879182"/>
            <a:ext cx="1145701" cy="78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\times4}{25\times4}=\frac{8}{25}\times\frac{4}{4}=\frac{8}{25}\times1=\frac{8}{25}&quot;&gt;&lt;mfrac&gt;&lt;mrow&gt;&lt;mn&gt;8&lt;/mn&gt;&lt;mo&gt;×&lt;/mo&gt;&lt;mn&gt;4&lt;/mn&gt;&lt;/mrow&gt;&lt;mrow&gt;&lt;mn&gt;25&lt;/mn&gt;&lt;mo&gt;×&lt;/mo&gt;&lt;mn&gt;4&lt;/mn&gt;&lt;/mrow&gt;&lt;/mfrac&gt;&lt;mo&gt;=&lt;/mo&gt;&lt;mfrac&gt;&lt;mn&gt;8&lt;/mn&gt;&lt;mn&gt;25&lt;/mn&gt;&lt;/mfrac&gt;&lt;mo&gt;×&lt;/mo&gt;&lt;mfrac&gt;&lt;mn&gt;4&lt;/mn&gt;&lt;mn&gt;4&lt;/mn&gt;&lt;/mfrac&gt;&lt;mo&gt;=&lt;/mo&gt;&lt;mfrac&gt;&lt;mn&gt;8&lt;/mn&gt;&lt;mn&gt;25&lt;/mn&gt;&lt;/mfrac&gt;&lt;mo&gt;×&lt;/mo&gt;&lt;mn&gt;1&lt;/mn&gt;&lt;mo&gt;=&lt;/mo&gt;&lt;mfrac&gt;&lt;mn&gt;8&lt;/mn&gt;&lt;mn&gt;25&lt;/mn&gt;&lt;/mfrac&gt;&lt;/math&gt;" id="946" name="Google Shape;946;p73" title="the fraction with numerator 8 times 4 and denominator 25 times 4 equals 8 over 25 times four fourths equals 8 over 25 times 1 equals 8 over 25"/>
          <p:cNvPicPr preferRelativeResize="0"/>
          <p:nvPr/>
        </p:nvPicPr>
        <p:blipFill rotWithShape="1">
          <a:blip r:embed="rId13">
            <a:alphaModFix/>
          </a:blip>
          <a:srcRect b="0" l="60821" r="15570" t="-7886"/>
          <a:stretch/>
        </p:blipFill>
        <p:spPr>
          <a:xfrm>
            <a:off x="5667200" y="3856200"/>
            <a:ext cx="1145701" cy="7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952" name="Google Shape;952;p74"/>
          <p:cNvSpPr txBox="1"/>
          <p:nvPr/>
        </p:nvSpPr>
        <p:spPr>
          <a:xfrm>
            <a:off x="325650" y="758425"/>
            <a:ext cx="837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can be written as a fraction with a power of 10 denominator.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3" name="Google Shape;953;p74"/>
          <p:cNvGraphicFramePr/>
          <p:nvPr/>
        </p:nvGraphicFramePr>
        <p:xfrm>
          <a:off x="690235" y="2807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4" name="Google Shape;954;p74"/>
          <p:cNvSpPr/>
          <p:nvPr/>
        </p:nvSpPr>
        <p:spPr>
          <a:xfrm>
            <a:off x="4533478" y="35622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5" name="Google Shape;955;p74"/>
          <p:cNvGrpSpPr/>
          <p:nvPr/>
        </p:nvGrpSpPr>
        <p:grpSpPr>
          <a:xfrm>
            <a:off x="878630" y="2873104"/>
            <a:ext cx="6773120" cy="438600"/>
            <a:chOff x="878630" y="2263504"/>
            <a:chExt cx="6773120" cy="438600"/>
          </a:xfrm>
        </p:grpSpPr>
        <p:grpSp>
          <p:nvGrpSpPr>
            <p:cNvPr id="956" name="Google Shape;956;p74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957" name="Google Shape;957;p74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958" name="Google Shape;958;p74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959" name="Google Shape;959;p74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60" name="Google Shape;960;p74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961" name="Google Shape;961;p74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962" name="Google Shape;962;p74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963" name="Google Shape;963;p74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964" name="Google Shape;964;p74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65" name="Google Shape;965;p7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6" name="Google Shape;966;p74"/>
          <p:cNvSpPr txBox="1"/>
          <p:nvPr/>
        </p:nvSpPr>
        <p:spPr>
          <a:xfrm>
            <a:off x="7116988" y="3372385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4"/>
          <p:cNvSpPr txBox="1"/>
          <p:nvPr/>
        </p:nvSpPr>
        <p:spPr>
          <a:xfrm>
            <a:off x="325650" y="1596625"/>
            <a:ext cx="837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number of decimal places will help you select an appropriate power of 10 for the fraction which can then be simplified.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5"/>
          <p:cNvSpPr txBox="1"/>
          <p:nvPr>
            <p:ph idx="1" type="subTitle"/>
          </p:nvPr>
        </p:nvSpPr>
        <p:spPr>
          <a:xfrm>
            <a:off x="337581" y="883306"/>
            <a:ext cx="4126500" cy="27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the following terminating decimals to simplified fractions. You can use a place value chart to help.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3" name="Google Shape;973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less than 1</a:t>
            </a:r>
            <a:endParaRPr/>
          </a:p>
        </p:txBody>
      </p:sp>
      <p:pic>
        <p:nvPicPr>
          <p:cNvPr id="974" name="Google Shape;97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811" y="2017026"/>
            <a:ext cx="5744426" cy="95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5" name="Google Shape;975;p75"/>
          <p:cNvGrpSpPr/>
          <p:nvPr/>
        </p:nvGrpSpPr>
        <p:grpSpPr>
          <a:xfrm>
            <a:off x="2842305" y="2453714"/>
            <a:ext cx="4493700" cy="515546"/>
            <a:chOff x="2527291" y="2759550"/>
            <a:chExt cx="4493700" cy="515546"/>
          </a:xfrm>
        </p:grpSpPr>
        <p:sp>
          <p:nvSpPr>
            <p:cNvPr id="976" name="Google Shape;976;p75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77" name="Google Shape;977;p75"/>
            <p:cNvGrpSpPr/>
            <p:nvPr/>
          </p:nvGrpSpPr>
          <p:grpSpPr>
            <a:xfrm>
              <a:off x="2527291" y="2759550"/>
              <a:ext cx="3491550" cy="515546"/>
              <a:chOff x="2979053" y="2735475"/>
              <a:chExt cx="3491550" cy="515546"/>
            </a:xfrm>
          </p:grpSpPr>
          <p:grpSp>
            <p:nvGrpSpPr>
              <p:cNvPr id="978" name="Google Shape;978;p75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979" name="Google Shape;979;p75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80" name="Google Shape;980;p75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7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981" name="Google Shape;981;p75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982" name="Google Shape;982;p75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983" name="Google Shape;983;p75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984" name="Google Shape;984;p75"/>
              <p:cNvSpPr txBox="1"/>
              <p:nvPr/>
            </p:nvSpPr>
            <p:spPr>
              <a:xfrm>
                <a:off x="5871503" y="27407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descr="&lt;math xmlns=&quot;http://www.w3.org/1998/Math/MathML&quot; display=&quot;block&quot; data-is-equatio=&quot;1&quot; data-latex=&quot;\frac{78}{100}=\frac{39\ \times2}{50\times2}=\frac{39}{50}\times\frac{2}{2}=\frac{39}{50}\times1=\frac{39}{50}&quot;&gt;&lt;mfrac&gt;&lt;mn&gt;78&lt;/mn&gt;&lt;mn&gt;100&lt;/mn&gt;&lt;/mfrac&gt;&lt;mo&gt;=&lt;/mo&gt;&lt;mfrac&gt;&lt;mrow&gt;&lt;mn&gt;39&lt;/mn&gt;&lt;mtext&gt;&lt;/mtext&gt;&lt;mo&gt;×&lt;/mo&gt;&lt;mn&gt;2&lt;/mn&gt;&lt;/mrow&gt;&lt;mrow&gt;&lt;mn&gt;50&lt;/mn&gt;&lt;mo&gt;×&lt;/mo&gt;&lt;mn&gt;2&lt;/mn&gt;&lt;/mrow&gt;&lt;/mfrac&gt;&lt;mo&gt;=&lt;/mo&gt;&lt;mfrac&gt;&lt;mn&gt;39&lt;/mn&gt;&lt;mn&gt;50&lt;/mn&gt;&lt;/mfrac&gt;&lt;mo&gt;×&lt;/mo&gt;&lt;mfrac&gt;&lt;mn&gt;2&lt;/mn&gt;&lt;mn&gt;2&lt;/mn&gt;&lt;/mfrac&gt;&lt;mo&gt;=&lt;/mo&gt;&lt;mfrac&gt;&lt;mn&gt;39&lt;/mn&gt;&lt;mn&gt;50&lt;/mn&gt;&lt;/mfrac&gt;&lt;mo&gt;×&lt;/mo&gt;&lt;mn&gt;1&lt;/mn&gt;&lt;mo&gt;=&lt;/mo&gt;&lt;mfrac&gt;&lt;mn&gt;39&lt;/mn&gt;&lt;mn&gt;50&lt;/mn&gt;&lt;/mfrac&gt;&lt;/math&gt;" id="985" name="Google Shape;985;p75" title="78 over 100 equals the fraction with numerator 39 times 2 and denominator 50 times 2 equals 39 over 50 times two halves equals 39 over 50 times 1 equals 39 over 50"/>
          <p:cNvPicPr preferRelativeResize="0"/>
          <p:nvPr/>
        </p:nvPicPr>
        <p:blipFill rotWithShape="1">
          <a:blip r:embed="rId4">
            <a:alphaModFix/>
          </a:blip>
          <a:srcRect b="0" l="0" r="89269" t="0"/>
          <a:stretch/>
        </p:blipFill>
        <p:spPr>
          <a:xfrm>
            <a:off x="1618135" y="3130650"/>
            <a:ext cx="447766" cy="503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1000}=\frac{2\ \times8}{125\times8}=\frac{2}{125}\times\frac{8}{8}=\frac{2}{125}\times1=\frac{2}{125}&quot;&gt;&lt;mfrac&gt;&lt;mn&gt;16&lt;/mn&gt;&lt;mn&gt;1000&lt;/mn&gt;&lt;/mfrac&gt;&lt;mo&gt;=&lt;/mo&gt;&lt;mfrac&gt;&lt;mrow&gt;&lt;mn&gt;2&lt;/mn&gt;&lt;mtext&gt;&lt;/mtext&gt;&lt;mo&gt;×&lt;/mo&gt;&lt;mn&gt;8&lt;/mn&gt;&lt;/mrow&gt;&lt;mrow&gt;&lt;mn&gt;125&lt;/mn&gt;&lt;mo&gt;×&lt;/mo&gt;&lt;mn&gt;8&lt;/mn&gt;&lt;/mrow&gt;&lt;/mfrac&gt;&lt;mo&gt;=&lt;/mo&gt;&lt;mfrac&gt;&lt;mn&gt;2&lt;/mn&gt;&lt;mn&gt;125&lt;/mn&gt;&lt;/mfrac&gt;&lt;mo&gt;×&lt;/mo&gt;&lt;mfrac&gt;&lt;mn&gt;8&lt;/mn&gt;&lt;mn&gt;8&lt;/mn&gt;&lt;/mfrac&gt;&lt;mo&gt;=&lt;/mo&gt;&lt;mfrac&gt;&lt;mn&gt;2&lt;/mn&gt;&lt;mn&gt;125&lt;/mn&gt;&lt;/mfrac&gt;&lt;mo&gt;×&lt;/mo&gt;&lt;mn&gt;1&lt;/mn&gt;&lt;mo&gt;=&lt;/mo&gt;&lt;mfrac&gt;&lt;mn&gt;2&lt;/mn&gt;&lt;mn&gt;125&lt;/mn&gt;&lt;/mfrac&gt;&lt;/math&gt;" id="986" name="Google Shape;986;p75" title="16 over 1000 equals the fraction with numerator 2 times 8 and denominator 125 times 8 equals 2 over 125 times eight eighths equals 2 over 125 times 1 equals 2 over 125"/>
          <p:cNvPicPr preferRelativeResize="0"/>
          <p:nvPr/>
        </p:nvPicPr>
        <p:blipFill rotWithShape="1">
          <a:blip r:embed="rId5">
            <a:alphaModFix/>
          </a:blip>
          <a:srcRect b="0" l="0" r="87071" t="0"/>
          <a:stretch/>
        </p:blipFill>
        <p:spPr>
          <a:xfrm>
            <a:off x="6095174" y="3049586"/>
            <a:ext cx="609000" cy="5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75"/>
          <p:cNvSpPr txBox="1"/>
          <p:nvPr/>
        </p:nvSpPr>
        <p:spPr>
          <a:xfrm>
            <a:off x="4995026" y="3102375"/>
            <a:ext cx="115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0.016</a:t>
            </a:r>
            <a:endParaRPr sz="1700"/>
          </a:p>
        </p:txBody>
      </p:sp>
      <p:sp>
        <p:nvSpPr>
          <p:cNvPr id="988" name="Google Shape;988;p75"/>
          <p:cNvSpPr txBox="1"/>
          <p:nvPr>
            <p:ph idx="1" type="subTitle"/>
          </p:nvPr>
        </p:nvSpPr>
        <p:spPr>
          <a:xfrm>
            <a:off x="4699461" y="883293"/>
            <a:ext cx="4126500" cy="1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 the following terminating decimals to simplified fractions. You can use a place value chart to help.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8}{100}=\frac{39\ \times2}{50\times2}=\frac{39}{50}\times\frac{2}{2}=\frac{39}{50}\times1=\frac{39}{50}&quot;&gt;&lt;mfrac&gt;&lt;mn&gt;78&lt;/mn&gt;&lt;mn&gt;100&lt;/mn&gt;&lt;/mfrac&gt;&lt;mo&gt;=&lt;/mo&gt;&lt;mfrac&gt;&lt;mrow&gt;&lt;mn&gt;39&lt;/mn&gt;&lt;mtext&gt;&lt;/mtext&gt;&lt;mo&gt;×&lt;/mo&gt;&lt;mn&gt;2&lt;/mn&gt;&lt;/mrow&gt;&lt;mrow&gt;&lt;mn&gt;50&lt;/mn&gt;&lt;mo&gt;×&lt;/mo&gt;&lt;mn&gt;2&lt;/mn&gt;&lt;/mrow&gt;&lt;/mfrac&gt;&lt;mo&gt;=&lt;/mo&gt;&lt;mfrac&gt;&lt;mn&gt;39&lt;/mn&gt;&lt;mn&gt;50&lt;/mn&gt;&lt;/mfrac&gt;&lt;mo&gt;×&lt;/mo&gt;&lt;mfrac&gt;&lt;mn&gt;2&lt;/mn&gt;&lt;mn&gt;2&lt;/mn&gt;&lt;/mfrac&gt;&lt;mo&gt;=&lt;/mo&gt;&lt;mfrac&gt;&lt;mn&gt;39&lt;/mn&gt;&lt;mn&gt;50&lt;/mn&gt;&lt;/mfrac&gt;&lt;mo&gt;×&lt;/mo&gt;&lt;mn&gt;1&lt;/mn&gt;&lt;mo&gt;=&lt;/mo&gt;&lt;mfrac&gt;&lt;mn&gt;39&lt;/mn&gt;&lt;mn&gt;50&lt;/mn&gt;&lt;/mfrac&gt;&lt;/math&gt;" id="989" name="Google Shape;989;p75" title="78 over 100 equals the fraction with numerator 39 times 2 and denominator 50 times 2 equals 39 over 50 times two halves equals 39 over 50 times 1 equals 39 over 50"/>
          <p:cNvPicPr preferRelativeResize="0"/>
          <p:nvPr/>
        </p:nvPicPr>
        <p:blipFill rotWithShape="1">
          <a:blip r:embed="rId4">
            <a:alphaModFix/>
          </a:blip>
          <a:srcRect b="0" l="10730" r="84129" t="0"/>
          <a:stretch/>
        </p:blipFill>
        <p:spPr>
          <a:xfrm>
            <a:off x="1371808" y="3130650"/>
            <a:ext cx="214480" cy="503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8}{100}=\frac{39\ \times2}{50\times2}=\frac{39}{50}\times\frac{2}{2}=\frac{39}{50}\times1=\frac{39}{50}&quot;&gt;&lt;mfrac&gt;&lt;mn&gt;78&lt;/mn&gt;&lt;mn&gt;100&lt;/mn&gt;&lt;/mfrac&gt;&lt;mo&gt;=&lt;/mo&gt;&lt;mfrac&gt;&lt;mrow&gt;&lt;mn&gt;39&lt;/mn&gt;&lt;mtext&gt;&lt;/mtext&gt;&lt;mo&gt;×&lt;/mo&gt;&lt;mn&gt;2&lt;/mn&gt;&lt;/mrow&gt;&lt;mrow&gt;&lt;mn&gt;50&lt;/mn&gt;&lt;mo&gt;×&lt;/mo&gt;&lt;mn&gt;2&lt;/mn&gt;&lt;/mrow&gt;&lt;/mfrac&gt;&lt;mo&gt;=&lt;/mo&gt;&lt;mfrac&gt;&lt;mn&gt;39&lt;/mn&gt;&lt;mn&gt;50&lt;/mn&gt;&lt;/mfrac&gt;&lt;mo&gt;×&lt;/mo&gt;&lt;mfrac&gt;&lt;mn&gt;2&lt;/mn&gt;&lt;mn&gt;2&lt;/mn&gt;&lt;/mfrac&gt;&lt;mo&gt;=&lt;/mo&gt;&lt;mfrac&gt;&lt;mn&gt;39&lt;/mn&gt;&lt;mn&gt;50&lt;/mn&gt;&lt;/mfrac&gt;&lt;mo&gt;×&lt;/mo&gt;&lt;mn&gt;1&lt;/mn&gt;&lt;mo&gt;=&lt;/mo&gt;&lt;mfrac&gt;&lt;mn&gt;39&lt;/mn&gt;&lt;mn&gt;50&lt;/mn&gt;&lt;/mfrac&gt;&lt;/math&gt;" id="990" name="Google Shape;990;p75" title="78 over 100 equals the fraction with numerator 39 times 2 and denominator 50 times 2 equals 39 over 50 times two halves equals 39 over 50 times 1 equals 39 over 50"/>
          <p:cNvPicPr preferRelativeResize="0"/>
          <p:nvPr/>
        </p:nvPicPr>
        <p:blipFill rotWithShape="1">
          <a:blip r:embed="rId4">
            <a:alphaModFix/>
          </a:blip>
          <a:srcRect b="0" l="11116" r="64809" t="0"/>
          <a:stretch/>
        </p:blipFill>
        <p:spPr>
          <a:xfrm>
            <a:off x="2107830" y="3130650"/>
            <a:ext cx="1004522" cy="503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8}{100}=\frac{39\ \times2}{50\times2}=\frac{39}{50}\times\frac{2}{2}=\frac{39}{50}\times1=\frac{39}{50}&quot;&gt;&lt;mfrac&gt;&lt;mn&gt;78&lt;/mn&gt;&lt;mn&gt;100&lt;/mn&gt;&lt;/mfrac&gt;&lt;mo&gt;=&lt;/mo&gt;&lt;mfrac&gt;&lt;mrow&gt;&lt;mn&gt;39&lt;/mn&gt;&lt;mtext&gt;&lt;/mtext&gt;&lt;mo&gt;×&lt;/mo&gt;&lt;mn&gt;2&lt;/mn&gt;&lt;/mrow&gt;&lt;mrow&gt;&lt;mn&gt;50&lt;/mn&gt;&lt;mo&gt;×&lt;/mo&gt;&lt;mn&gt;2&lt;/mn&gt;&lt;/mrow&gt;&lt;/mfrac&gt;&lt;mo&gt;=&lt;/mo&gt;&lt;mfrac&gt;&lt;mn&gt;39&lt;/mn&gt;&lt;mn&gt;50&lt;/mn&gt;&lt;/mfrac&gt;&lt;mo&gt;×&lt;/mo&gt;&lt;mfrac&gt;&lt;mn&gt;2&lt;/mn&gt;&lt;mn&gt;2&lt;/mn&gt;&lt;/mfrac&gt;&lt;mo&gt;=&lt;/mo&gt;&lt;mfrac&gt;&lt;mn&gt;39&lt;/mn&gt;&lt;mn&gt;50&lt;/mn&gt;&lt;/mfrac&gt;&lt;mo&gt;×&lt;/mo&gt;&lt;mn&gt;1&lt;/mn&gt;&lt;mo&gt;=&lt;/mo&gt;&lt;mfrac&gt;&lt;mn&gt;39&lt;/mn&gt;&lt;mn&gt;50&lt;/mn&gt;&lt;/mfrac&gt;&lt;/math&gt;" id="991" name="Google Shape;991;p75" title="78 over 100 equals the fraction with numerator 39 times 2 and denominator 50 times 2 equals 39 over 50 times two halves equals 39 over 50 times 1 equals 39 over 50"/>
          <p:cNvPicPr preferRelativeResize="0"/>
          <p:nvPr/>
        </p:nvPicPr>
        <p:blipFill rotWithShape="1">
          <a:blip r:embed="rId4">
            <a:alphaModFix/>
          </a:blip>
          <a:srcRect b="0" l="36572" r="37736" t="0"/>
          <a:stretch/>
        </p:blipFill>
        <p:spPr>
          <a:xfrm>
            <a:off x="2107829" y="3742262"/>
            <a:ext cx="1072009" cy="503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8}{100}=\frac{39\ \times2}{50\times2}=\frac{39}{50}\times\frac{2}{2}=\frac{39}{50}\times1=\frac{39}{50}&quot;&gt;&lt;mfrac&gt;&lt;mn&gt;78&lt;/mn&gt;&lt;mn&gt;100&lt;/mn&gt;&lt;/mfrac&gt;&lt;mo&gt;=&lt;/mo&gt;&lt;mfrac&gt;&lt;mrow&gt;&lt;mn&gt;39&lt;/mn&gt;&lt;mtext&gt;&lt;/mtext&gt;&lt;mo&gt;×&lt;/mo&gt;&lt;mn&gt;2&lt;/mn&gt;&lt;/mrow&gt;&lt;mrow&gt;&lt;mn&gt;50&lt;/mn&gt;&lt;mo&gt;×&lt;/mo&gt;&lt;mn&gt;2&lt;/mn&gt;&lt;/mrow&gt;&lt;/mfrac&gt;&lt;mo&gt;=&lt;/mo&gt;&lt;mfrac&gt;&lt;mn&gt;39&lt;/mn&gt;&lt;mn&gt;50&lt;/mn&gt;&lt;/mfrac&gt;&lt;mo&gt;×&lt;/mo&gt;&lt;mfrac&gt;&lt;mn&gt;2&lt;/mn&gt;&lt;mn&gt;2&lt;/mn&gt;&lt;/mfrac&gt;&lt;mo&gt;=&lt;/mo&gt;&lt;mfrac&gt;&lt;mn&gt;39&lt;/mn&gt;&lt;mn&gt;50&lt;/mn&gt;&lt;/mfrac&gt;&lt;mo&gt;×&lt;/mo&gt;&lt;mn&gt;1&lt;/mn&gt;&lt;mo&gt;=&lt;/mo&gt;&lt;mfrac&gt;&lt;mn&gt;39&lt;/mn&gt;&lt;mn&gt;50&lt;/mn&gt;&lt;/mfrac&gt;&lt;/math&gt;" id="992" name="Google Shape;992;p75" title="78 over 100 equals the fraction with numerator 39 times 2 and denominator 50 times 2 equals 39 over 50 times two halves equals 39 over 50 times 1 equals 39 over 50"/>
          <p:cNvPicPr preferRelativeResize="0"/>
          <p:nvPr/>
        </p:nvPicPr>
        <p:blipFill rotWithShape="1">
          <a:blip r:embed="rId4">
            <a:alphaModFix/>
          </a:blip>
          <a:srcRect b="0" l="62036" r="13519" t="0"/>
          <a:stretch/>
        </p:blipFill>
        <p:spPr>
          <a:xfrm>
            <a:off x="2092366" y="4317166"/>
            <a:ext cx="1019983" cy="503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8}{100}=\frac{39\ \times2}{50\times2}=\frac{39}{50}\times\frac{2}{2}=\frac{39}{50}\times1=\frac{39}{50}&quot;&gt;&lt;mfrac&gt;&lt;mn&gt;78&lt;/mn&gt;&lt;mn&gt;100&lt;/mn&gt;&lt;/mfrac&gt;&lt;mo&gt;=&lt;/mo&gt;&lt;mfrac&gt;&lt;mrow&gt;&lt;mn&gt;39&lt;/mn&gt;&lt;mtext&gt;&lt;/mtext&gt;&lt;mo&gt;×&lt;/mo&gt;&lt;mn&gt;2&lt;/mn&gt;&lt;/mrow&gt;&lt;mrow&gt;&lt;mn&gt;50&lt;/mn&gt;&lt;mo&gt;×&lt;/mo&gt;&lt;mn&gt;2&lt;/mn&gt;&lt;/mrow&gt;&lt;/mfrac&gt;&lt;mo&gt;=&lt;/mo&gt;&lt;mfrac&gt;&lt;mn&gt;39&lt;/mn&gt;&lt;mn&gt;50&lt;/mn&gt;&lt;/mfrac&gt;&lt;mo&gt;×&lt;/mo&gt;&lt;mfrac&gt;&lt;mn&gt;2&lt;/mn&gt;&lt;mn&gt;2&lt;/mn&gt;&lt;/mfrac&gt;&lt;mo&gt;=&lt;/mo&gt;&lt;mfrac&gt;&lt;mn&gt;39&lt;/mn&gt;&lt;mn&gt;50&lt;/mn&gt;&lt;/mfrac&gt;&lt;mo&gt;×&lt;/mo&gt;&lt;mn&gt;1&lt;/mn&gt;&lt;mo&gt;=&lt;/mo&gt;&lt;mfrac&gt;&lt;mn&gt;39&lt;/mn&gt;&lt;mn&gt;50&lt;/mn&gt;&lt;/mfrac&gt;&lt;/math&gt;" id="993" name="Google Shape;993;p75" title="78 over 100 equals the fraction with numerator 39 times 2 and denominator 50 times 2 equals 39 over 50 times two halves equals 39 over 50 times 1 equals 39 over 50"/>
          <p:cNvPicPr preferRelativeResize="0"/>
          <p:nvPr/>
        </p:nvPicPr>
        <p:blipFill rotWithShape="1">
          <a:blip r:embed="rId4">
            <a:alphaModFix/>
          </a:blip>
          <a:srcRect b="0" l="86478" r="-1072" t="0"/>
          <a:stretch/>
        </p:blipFill>
        <p:spPr>
          <a:xfrm>
            <a:off x="3179840" y="4317166"/>
            <a:ext cx="608987" cy="5032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4" name="Google Shape;994;p75"/>
          <p:cNvGrpSpPr/>
          <p:nvPr/>
        </p:nvGrpSpPr>
        <p:grpSpPr>
          <a:xfrm>
            <a:off x="2858592" y="2452978"/>
            <a:ext cx="3960300" cy="515546"/>
            <a:chOff x="2527291" y="2759550"/>
            <a:chExt cx="3960300" cy="515546"/>
          </a:xfrm>
        </p:grpSpPr>
        <p:sp>
          <p:nvSpPr>
            <p:cNvPr id="995" name="Google Shape;995;p75"/>
            <p:cNvSpPr txBox="1"/>
            <p:nvPr/>
          </p:nvSpPr>
          <p:spPr>
            <a:xfrm>
              <a:off x="58884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 6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96" name="Google Shape;996;p75"/>
            <p:cNvGrpSpPr/>
            <p:nvPr/>
          </p:nvGrpSpPr>
          <p:grpSpPr>
            <a:xfrm>
              <a:off x="2527291" y="2759550"/>
              <a:ext cx="3491550" cy="515546"/>
              <a:chOff x="2979053" y="2735475"/>
              <a:chExt cx="3491550" cy="515546"/>
            </a:xfrm>
          </p:grpSpPr>
          <p:grpSp>
            <p:nvGrpSpPr>
              <p:cNvPr id="997" name="Google Shape;997;p75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998" name="Google Shape;998;p75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99" name="Google Shape;999;p75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000" name="Google Shape;1000;p75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1001" name="Google Shape;1001;p75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002" name="Google Shape;1002;p75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003" name="Google Shape;1003;p75"/>
              <p:cNvSpPr txBox="1"/>
              <p:nvPr/>
            </p:nvSpPr>
            <p:spPr>
              <a:xfrm>
                <a:off x="5871503" y="27407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descr="&lt;math xmlns=&quot;http://www.w3.org/1998/Math/MathML&quot; display=&quot;block&quot; data-is-equatio=&quot;1&quot; data-latex=&quot;\frac{78}{100}=\frac{39\ \times2}{50\times2}=\frac{39}{50}\times\frac{2}{2}=\frac{39}{50}\times1=\frac{39}{50}&quot;&gt;&lt;mfrac&gt;&lt;mn&gt;78&lt;/mn&gt;&lt;mn&gt;100&lt;/mn&gt;&lt;/mfrac&gt;&lt;mo&gt;=&lt;/mo&gt;&lt;mfrac&gt;&lt;mrow&gt;&lt;mn&gt;39&lt;/mn&gt;&lt;mtext&gt;&lt;/mtext&gt;&lt;mo&gt;×&lt;/mo&gt;&lt;mn&gt;2&lt;/mn&gt;&lt;/mrow&gt;&lt;mrow&gt;&lt;mn&gt;50&lt;/mn&gt;&lt;mo&gt;×&lt;/mo&gt;&lt;mn&gt;2&lt;/mn&gt;&lt;/mrow&gt;&lt;/mfrac&gt;&lt;mo&gt;=&lt;/mo&gt;&lt;mfrac&gt;&lt;mn&gt;39&lt;/mn&gt;&lt;mn&gt;50&lt;/mn&gt;&lt;/mfrac&gt;&lt;mo&gt;×&lt;/mo&gt;&lt;mfrac&gt;&lt;mn&gt;2&lt;/mn&gt;&lt;mn&gt;2&lt;/mn&gt;&lt;/mfrac&gt;&lt;mo&gt;=&lt;/mo&gt;&lt;mfrac&gt;&lt;mn&gt;39&lt;/mn&gt;&lt;mn&gt;50&lt;/mn&gt;&lt;/mfrac&gt;&lt;mo&gt;×&lt;/mo&gt;&lt;mn&gt;1&lt;/mn&gt;&lt;mo&gt;=&lt;/mo&gt;&lt;mfrac&gt;&lt;mn&gt;39&lt;/mn&gt;&lt;mn&gt;50&lt;/mn&gt;&lt;/mfrac&gt;&lt;/math&gt;" id="1004" name="Google Shape;1004;p75" title="78 over 100 equals the fraction with numerator 39 times 2 and denominator 50 times 2 equals 39 over 50 times two halves equals 39 over 50 times 1 equals 39 over 50"/>
          <p:cNvPicPr preferRelativeResize="0"/>
          <p:nvPr/>
        </p:nvPicPr>
        <p:blipFill rotWithShape="1">
          <a:blip r:embed="rId4">
            <a:alphaModFix/>
          </a:blip>
          <a:srcRect b="0" l="10730" r="84129" t="0"/>
          <a:stretch/>
        </p:blipFill>
        <p:spPr>
          <a:xfrm>
            <a:off x="5806875" y="3104724"/>
            <a:ext cx="214480" cy="503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1000}=\frac{2\ \times8}{125\times8}=\frac{2}{125}\times\frac{8}{8}=\frac{2}{125}\times1=\frac{2}{125}&quot;&gt;&lt;mfrac&gt;&lt;mn&gt;16&lt;/mn&gt;&lt;mn&gt;1000&lt;/mn&gt;&lt;/mfrac&gt;&lt;mo&gt;=&lt;/mo&gt;&lt;mfrac&gt;&lt;mrow&gt;&lt;mn&gt;2&lt;/mn&gt;&lt;mtext&gt;&lt;/mtext&gt;&lt;mo&gt;×&lt;/mo&gt;&lt;mn&gt;8&lt;/mn&gt;&lt;/mrow&gt;&lt;mrow&gt;&lt;mn&gt;125&lt;/mn&gt;&lt;mo&gt;×&lt;/mo&gt;&lt;mn&gt;8&lt;/mn&gt;&lt;/mrow&gt;&lt;/mfrac&gt;&lt;mo&gt;=&lt;/mo&gt;&lt;mfrac&gt;&lt;mn&gt;2&lt;/mn&gt;&lt;mn&gt;125&lt;/mn&gt;&lt;/mfrac&gt;&lt;mo&gt;×&lt;/mo&gt;&lt;mfrac&gt;&lt;mn&gt;8&lt;/mn&gt;&lt;mn&gt;8&lt;/mn&gt;&lt;/mfrac&gt;&lt;mo&gt;=&lt;/mo&gt;&lt;mfrac&gt;&lt;mn&gt;2&lt;/mn&gt;&lt;mn&gt;125&lt;/mn&gt;&lt;/mfrac&gt;&lt;mo&gt;×&lt;/mo&gt;&lt;mn&gt;1&lt;/mn&gt;&lt;mo&gt;=&lt;/mo&gt;&lt;mfrac&gt;&lt;mn&gt;2&lt;/mn&gt;&lt;mn&gt;125&lt;/mn&gt;&lt;/mfrac&gt;&lt;/math&gt;" id="1005" name="Google Shape;1005;p75" title="16 over 1000 equals the fraction with numerator 2 times 8 and denominator 125 times 8 equals 2 over 125 times eight eighths equals 2 over 125 times 1 equals 2 over 125"/>
          <p:cNvPicPr preferRelativeResize="0"/>
          <p:nvPr/>
        </p:nvPicPr>
        <p:blipFill rotWithShape="1">
          <a:blip r:embed="rId5">
            <a:alphaModFix/>
          </a:blip>
          <a:srcRect b="0" l="12597" r="64305" t="0"/>
          <a:stretch/>
        </p:blipFill>
        <p:spPr>
          <a:xfrm>
            <a:off x="6687975" y="3049586"/>
            <a:ext cx="1087976" cy="50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1000}=\frac{2\ \times8}{125\times8}=\frac{2}{125}\times\frac{8}{8}=\frac{2}{125}\times1=\frac{2}{125}&quot;&gt;&lt;mfrac&gt;&lt;mn&gt;16&lt;/mn&gt;&lt;mn&gt;1000&lt;/mn&gt;&lt;/mfrac&gt;&lt;mo&gt;=&lt;/mo&gt;&lt;mfrac&gt;&lt;mrow&gt;&lt;mn&gt;2&lt;/mn&gt;&lt;mtext&gt;&lt;/mtext&gt;&lt;mo&gt;×&lt;/mo&gt;&lt;mn&gt;8&lt;/mn&gt;&lt;/mrow&gt;&lt;mrow&gt;&lt;mn&gt;125&lt;/mn&gt;&lt;mo&gt;×&lt;/mo&gt;&lt;mn&gt;8&lt;/mn&gt;&lt;/mrow&gt;&lt;/mfrac&gt;&lt;mo&gt;=&lt;/mo&gt;&lt;mfrac&gt;&lt;mn&gt;2&lt;/mn&gt;&lt;mn&gt;125&lt;/mn&gt;&lt;/mfrac&gt;&lt;mo&gt;×&lt;/mo&gt;&lt;mfrac&gt;&lt;mn&gt;8&lt;/mn&gt;&lt;mn&gt;8&lt;/mn&gt;&lt;/mfrac&gt;&lt;mo&gt;=&lt;/mo&gt;&lt;mfrac&gt;&lt;mn&gt;2&lt;/mn&gt;&lt;mn&gt;125&lt;/mn&gt;&lt;/mfrac&gt;&lt;mo&gt;×&lt;/mo&gt;&lt;mn&gt;1&lt;/mn&gt;&lt;mo&gt;=&lt;/mo&gt;&lt;mfrac&gt;&lt;mn&gt;2&lt;/mn&gt;&lt;mn&gt;125&lt;/mn&gt;&lt;/mfrac&gt;&lt;/math&gt;" id="1006" name="Google Shape;1006;p75" title="16 over 1000 equals the fraction with numerator 2 times 8 and denominator 125 times 8 equals 2 over 125 times eight eighths equals 2 over 125 times 1 equals 2 over 125"/>
          <p:cNvPicPr preferRelativeResize="0"/>
          <p:nvPr/>
        </p:nvPicPr>
        <p:blipFill rotWithShape="1">
          <a:blip r:embed="rId5">
            <a:alphaModFix/>
          </a:blip>
          <a:srcRect b="0" l="36849" r="38616" t="0"/>
          <a:stretch/>
        </p:blipFill>
        <p:spPr>
          <a:xfrm>
            <a:off x="6687975" y="3683811"/>
            <a:ext cx="1155648" cy="50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1000}=\frac{2\ \times8}{125\times8}=\frac{2}{125}\times\frac{8}{8}=\frac{2}{125}\times1=\frac{2}{125}&quot;&gt;&lt;mfrac&gt;&lt;mn&gt;16&lt;/mn&gt;&lt;mn&gt;1000&lt;/mn&gt;&lt;/mfrac&gt;&lt;mo&gt;=&lt;/mo&gt;&lt;mfrac&gt;&lt;mrow&gt;&lt;mn&gt;2&lt;/mn&gt;&lt;mtext&gt;&lt;/mtext&gt;&lt;mo&gt;×&lt;/mo&gt;&lt;mn&gt;8&lt;/mn&gt;&lt;/mrow&gt;&lt;mrow&gt;&lt;mn&gt;125&lt;/mn&gt;&lt;mo&gt;×&lt;/mo&gt;&lt;mn&gt;8&lt;/mn&gt;&lt;/mrow&gt;&lt;/mfrac&gt;&lt;mo&gt;=&lt;/mo&gt;&lt;mfrac&gt;&lt;mn&gt;2&lt;/mn&gt;&lt;mn&gt;125&lt;/mn&gt;&lt;/mfrac&gt;&lt;mo&gt;×&lt;/mo&gt;&lt;mfrac&gt;&lt;mn&gt;8&lt;/mn&gt;&lt;mn&gt;8&lt;/mn&gt;&lt;/mfrac&gt;&lt;mo&gt;=&lt;/mo&gt;&lt;mfrac&gt;&lt;mn&gt;2&lt;/mn&gt;&lt;mn&gt;125&lt;/mn&gt;&lt;/mfrac&gt;&lt;mo&gt;×&lt;/mo&gt;&lt;mn&gt;1&lt;/mn&gt;&lt;mo&gt;=&lt;/mo&gt;&lt;mfrac&gt;&lt;mn&gt;2&lt;/mn&gt;&lt;mn&gt;125&lt;/mn&gt;&lt;/mfrac&gt;&lt;/math&gt;" id="1007" name="Google Shape;1007;p75" title="16 over 1000 equals the fraction with numerator 2 times 8 and denominator 125 times 8 equals 2 over 125 times eight eighths equals 2 over 125 times 1 equals 2 over 125"/>
          <p:cNvPicPr preferRelativeResize="0"/>
          <p:nvPr/>
        </p:nvPicPr>
        <p:blipFill rotWithShape="1">
          <a:blip r:embed="rId5">
            <a:alphaModFix/>
          </a:blip>
          <a:srcRect b="0" l="62718" r="14524" t="0"/>
          <a:stretch/>
        </p:blipFill>
        <p:spPr>
          <a:xfrm>
            <a:off x="6697482" y="4293411"/>
            <a:ext cx="1072000" cy="50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1000}=\frac{2\ \times8}{125\times8}=\frac{2}{125}\times\frac{8}{8}=\frac{2}{125}\times1=\frac{2}{125}&quot;&gt;&lt;mfrac&gt;&lt;mn&gt;16&lt;/mn&gt;&lt;mn&gt;1000&lt;/mn&gt;&lt;/mfrac&gt;&lt;mo&gt;=&lt;/mo&gt;&lt;mfrac&gt;&lt;mrow&gt;&lt;mn&gt;2&lt;/mn&gt;&lt;mtext&gt;&lt;/mtext&gt;&lt;mo&gt;×&lt;/mo&gt;&lt;mn&gt;8&lt;/mn&gt;&lt;/mrow&gt;&lt;mrow&gt;&lt;mn&gt;125&lt;/mn&gt;&lt;mo&gt;×&lt;/mo&gt;&lt;mn&gt;8&lt;/mn&gt;&lt;/mrow&gt;&lt;/mfrac&gt;&lt;mo&gt;=&lt;/mo&gt;&lt;mfrac&gt;&lt;mn&gt;2&lt;/mn&gt;&lt;mn&gt;125&lt;/mn&gt;&lt;/mfrac&gt;&lt;mo&gt;×&lt;/mo&gt;&lt;mfrac&gt;&lt;mn&gt;8&lt;/mn&gt;&lt;mn&gt;8&lt;/mn&gt;&lt;/mfrac&gt;&lt;mo&gt;=&lt;/mo&gt;&lt;mfrac&gt;&lt;mn&gt;2&lt;/mn&gt;&lt;mn&gt;125&lt;/mn&gt;&lt;/mfrac&gt;&lt;mo&gt;×&lt;/mo&gt;&lt;mn&gt;1&lt;/mn&gt;&lt;mo&gt;=&lt;/mo&gt;&lt;mfrac&gt;&lt;mn&gt;2&lt;/mn&gt;&lt;mn&gt;125&lt;/mn&gt;&lt;/mfrac&gt;&lt;/math&gt;" id="1008" name="Google Shape;1008;p75" title="16 over 1000 equals the fraction with numerator 2 times 8 and denominator 125 times 8 equals 2 over 125 times eight eighths equals 2 over 125 times 1 equals 2 over 125"/>
          <p:cNvPicPr preferRelativeResize="0"/>
          <p:nvPr/>
        </p:nvPicPr>
        <p:blipFill rotWithShape="1">
          <a:blip r:embed="rId5">
            <a:alphaModFix/>
          </a:blip>
          <a:srcRect b="0" l="85371" r="-8129" t="0"/>
          <a:stretch/>
        </p:blipFill>
        <p:spPr>
          <a:xfrm>
            <a:off x="7688082" y="4293411"/>
            <a:ext cx="1072000" cy="5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75"/>
          <p:cNvSpPr txBox="1"/>
          <p:nvPr/>
        </p:nvSpPr>
        <p:spPr>
          <a:xfrm>
            <a:off x="727826" y="3102375"/>
            <a:ext cx="115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0.78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6"/>
          <p:cNvSpPr txBox="1"/>
          <p:nvPr>
            <p:ph idx="1" type="body"/>
          </p:nvPr>
        </p:nvSpPr>
        <p:spPr>
          <a:xfrm>
            <a:off x="324000" y="759300"/>
            <a:ext cx="8237700" cy="5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Convert the follo</a:t>
            </a:r>
            <a:r>
              <a:rPr lang="en-GB"/>
              <a:t>wing into simplified fractions:</a:t>
            </a:r>
            <a:endParaRPr/>
          </a:p>
        </p:txBody>
      </p:sp>
      <p:sp>
        <p:nvSpPr>
          <p:cNvPr id="1015" name="Google Shape;1015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016" name="Google Shape;1016;p76"/>
          <p:cNvSpPr txBox="1"/>
          <p:nvPr/>
        </p:nvSpPr>
        <p:spPr>
          <a:xfrm>
            <a:off x="780490" y="1620000"/>
            <a:ext cx="3042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6"/>
          <p:cNvSpPr txBox="1"/>
          <p:nvPr/>
        </p:nvSpPr>
        <p:spPr>
          <a:xfrm>
            <a:off x="762054" y="2532250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 0.12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6"/>
          <p:cNvSpPr txBox="1"/>
          <p:nvPr/>
        </p:nvSpPr>
        <p:spPr>
          <a:xfrm>
            <a:off x="752836" y="3559325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0.864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6"/>
          <p:cNvSpPr txBox="1"/>
          <p:nvPr/>
        </p:nvSpPr>
        <p:spPr>
          <a:xfrm>
            <a:off x="5046625" y="1620000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0.34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6"/>
          <p:cNvSpPr txBox="1"/>
          <p:nvPr/>
        </p:nvSpPr>
        <p:spPr>
          <a:xfrm>
            <a:off x="5046625" y="2532250"/>
            <a:ext cx="2083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0.542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6"/>
          <p:cNvSpPr txBox="1"/>
          <p:nvPr/>
        </p:nvSpPr>
        <p:spPr>
          <a:xfrm>
            <a:off x="5046625" y="3559325"/>
            <a:ext cx="1900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  0.1248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7"/>
          <p:cNvSpPr txBox="1"/>
          <p:nvPr>
            <p:ph idx="1" type="body"/>
          </p:nvPr>
        </p:nvSpPr>
        <p:spPr>
          <a:xfrm>
            <a:off x="324000" y="759300"/>
            <a:ext cx="8496000" cy="10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Laura and Jacob are given 0.56 and 0.560 to convert into a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is correct? Work out the fractional equivalent to the decimal(s).</a:t>
            </a:r>
            <a:endParaRPr/>
          </a:p>
        </p:txBody>
      </p:sp>
      <p:sp>
        <p:nvSpPr>
          <p:cNvPr id="1027" name="Google Shape;1027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pic>
        <p:nvPicPr>
          <p:cNvPr id="1028" name="Google Shape;102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225" y="1372050"/>
            <a:ext cx="2700600" cy="198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400" y="1418325"/>
            <a:ext cx="2700600" cy="19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77"/>
          <p:cNvSpPr txBox="1"/>
          <p:nvPr/>
        </p:nvSpPr>
        <p:spPr>
          <a:xfrm>
            <a:off x="1730425" y="1494400"/>
            <a:ext cx="24435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answers will be different as 0.56 is two decimals places and 0.560 is 3 decimal places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7"/>
          <p:cNvSpPr txBox="1"/>
          <p:nvPr/>
        </p:nvSpPr>
        <p:spPr>
          <a:xfrm>
            <a:off x="6117775" y="1703550"/>
            <a:ext cx="2443500" cy="1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the same decimal so it will be the same 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02" y="14944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7"/>
          <p:cNvSpPr txBox="1"/>
          <p:nvPr/>
        </p:nvSpPr>
        <p:spPr>
          <a:xfrm>
            <a:off x="542700" y="2571750"/>
            <a:ext cx="114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says</a:t>
            </a:r>
            <a:endParaRPr sz="1800"/>
          </a:p>
        </p:txBody>
      </p:sp>
      <p:sp>
        <p:nvSpPr>
          <p:cNvPr id="1034" name="Google Shape;1034;p77"/>
          <p:cNvSpPr txBox="1"/>
          <p:nvPr/>
        </p:nvSpPr>
        <p:spPr>
          <a:xfrm>
            <a:off x="4939925" y="2620175"/>
            <a:ext cx="114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says</a:t>
            </a:r>
            <a:endParaRPr sz="1800"/>
          </a:p>
        </p:txBody>
      </p:sp>
      <p:pic>
        <p:nvPicPr>
          <p:cNvPr id="1035" name="Google Shape;103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9925" y="1620000"/>
            <a:ext cx="807751" cy="99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8"/>
          <p:cNvSpPr txBox="1"/>
          <p:nvPr>
            <p:ph idx="1" type="body"/>
          </p:nvPr>
        </p:nvSpPr>
        <p:spPr>
          <a:xfrm>
            <a:off x="354489" y="759300"/>
            <a:ext cx="8175600" cy="10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a) </a:t>
            </a:r>
            <a:r>
              <a:rPr lang="en-GB" sz="1800"/>
              <a:t>Write the fraction which is halfway </a:t>
            </a:r>
            <a:r>
              <a:rPr lang="en-GB" sz="1800"/>
              <a:t>between 0.96 and 0.88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1" name="Google Shape;1041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042" name="Google Shape;1042;p78"/>
          <p:cNvSpPr/>
          <p:nvPr/>
        </p:nvSpPr>
        <p:spPr>
          <a:xfrm>
            <a:off x="752500" y="1640025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043" name="Google Shape;1043;p78"/>
          <p:cNvSpPr txBox="1"/>
          <p:nvPr/>
        </p:nvSpPr>
        <p:spPr>
          <a:xfrm>
            <a:off x="7459200" y="185910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4" name="Google Shape;1044;p78"/>
          <p:cNvCxnSpPr/>
          <p:nvPr/>
        </p:nvCxnSpPr>
        <p:spPr>
          <a:xfrm>
            <a:off x="1274025" y="141660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78"/>
          <p:cNvCxnSpPr/>
          <p:nvPr/>
        </p:nvCxnSpPr>
        <p:spPr>
          <a:xfrm>
            <a:off x="4561913" y="141660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78"/>
          <p:cNvCxnSpPr/>
          <p:nvPr/>
        </p:nvCxnSpPr>
        <p:spPr>
          <a:xfrm>
            <a:off x="7849800" y="141660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78"/>
          <p:cNvSpPr txBox="1"/>
          <p:nvPr/>
        </p:nvSpPr>
        <p:spPr>
          <a:xfrm>
            <a:off x="883450" y="185910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8"/>
          <p:cNvSpPr txBox="1"/>
          <p:nvPr>
            <p:ph idx="1" type="body"/>
          </p:nvPr>
        </p:nvSpPr>
        <p:spPr>
          <a:xfrm>
            <a:off x="342825" y="2697300"/>
            <a:ext cx="8477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b) Write the fraction which is a quarter of the way between 0.42 and 0.84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9" name="Google Shape;1049;p78"/>
          <p:cNvSpPr/>
          <p:nvPr/>
        </p:nvSpPr>
        <p:spPr>
          <a:xfrm>
            <a:off x="753910" y="3619482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050" name="Google Shape;1050;p78"/>
          <p:cNvSpPr txBox="1"/>
          <p:nvPr/>
        </p:nvSpPr>
        <p:spPr>
          <a:xfrm>
            <a:off x="7460610" y="3838557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1" name="Google Shape;1051;p78"/>
          <p:cNvCxnSpPr/>
          <p:nvPr/>
        </p:nvCxnSpPr>
        <p:spPr>
          <a:xfrm>
            <a:off x="1275435" y="3396057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78"/>
          <p:cNvCxnSpPr/>
          <p:nvPr/>
        </p:nvCxnSpPr>
        <p:spPr>
          <a:xfrm>
            <a:off x="4563323" y="3396057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78"/>
          <p:cNvCxnSpPr/>
          <p:nvPr/>
        </p:nvCxnSpPr>
        <p:spPr>
          <a:xfrm>
            <a:off x="7851210" y="3396057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78"/>
          <p:cNvSpPr txBox="1"/>
          <p:nvPr/>
        </p:nvSpPr>
        <p:spPr>
          <a:xfrm>
            <a:off x="884860" y="3838557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5" name="Google Shape;1055;p78"/>
          <p:cNvCxnSpPr/>
          <p:nvPr/>
        </p:nvCxnSpPr>
        <p:spPr>
          <a:xfrm>
            <a:off x="2917969" y="1427995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78"/>
          <p:cNvCxnSpPr/>
          <p:nvPr/>
        </p:nvCxnSpPr>
        <p:spPr>
          <a:xfrm>
            <a:off x="6205856" y="1427982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78"/>
          <p:cNvCxnSpPr/>
          <p:nvPr/>
        </p:nvCxnSpPr>
        <p:spPr>
          <a:xfrm>
            <a:off x="1274038" y="33903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78"/>
          <p:cNvCxnSpPr/>
          <p:nvPr/>
        </p:nvCxnSpPr>
        <p:spPr>
          <a:xfrm>
            <a:off x="4561925" y="33903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78"/>
          <p:cNvCxnSpPr/>
          <p:nvPr/>
        </p:nvCxnSpPr>
        <p:spPr>
          <a:xfrm>
            <a:off x="7849813" y="33903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78"/>
          <p:cNvCxnSpPr/>
          <p:nvPr/>
        </p:nvCxnSpPr>
        <p:spPr>
          <a:xfrm>
            <a:off x="2917981" y="3401745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78"/>
          <p:cNvCxnSpPr/>
          <p:nvPr/>
        </p:nvCxnSpPr>
        <p:spPr>
          <a:xfrm>
            <a:off x="6205869" y="3401732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Google Shape;1066;p7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445148" y="1844375"/>
            <a:ext cx="5063101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79"/>
          <p:cNvSpPr txBox="1"/>
          <p:nvPr>
            <p:ph idx="1" type="body"/>
          </p:nvPr>
        </p:nvSpPr>
        <p:spPr>
          <a:xfrm>
            <a:off x="308400" y="814605"/>
            <a:ext cx="8448000" cy="7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3c)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8" name="Google Shape;1068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069" name="Google Shape;1069;p79"/>
          <p:cNvSpPr/>
          <p:nvPr/>
        </p:nvSpPr>
        <p:spPr>
          <a:xfrm>
            <a:off x="795338" y="968475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070" name="Google Shape;1070;p79"/>
          <p:cNvSpPr txBox="1"/>
          <p:nvPr/>
        </p:nvSpPr>
        <p:spPr>
          <a:xfrm>
            <a:off x="7502038" y="1064469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1" name="Google Shape;1071;p79"/>
          <p:cNvCxnSpPr/>
          <p:nvPr/>
        </p:nvCxnSpPr>
        <p:spPr>
          <a:xfrm>
            <a:off x="1316875" y="968474"/>
            <a:ext cx="0" cy="18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79"/>
          <p:cNvCxnSpPr/>
          <p:nvPr/>
        </p:nvCxnSpPr>
        <p:spPr>
          <a:xfrm>
            <a:off x="4604763" y="968474"/>
            <a:ext cx="0" cy="18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79"/>
          <p:cNvCxnSpPr/>
          <p:nvPr/>
        </p:nvCxnSpPr>
        <p:spPr>
          <a:xfrm>
            <a:off x="7892650" y="968474"/>
            <a:ext cx="0" cy="18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p79"/>
          <p:cNvSpPr txBox="1"/>
          <p:nvPr/>
        </p:nvSpPr>
        <p:spPr>
          <a:xfrm>
            <a:off x="926288" y="1064469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5" name="Google Shape;1075;p79"/>
          <p:cNvCxnSpPr/>
          <p:nvPr/>
        </p:nvCxnSpPr>
        <p:spPr>
          <a:xfrm>
            <a:off x="2960819" y="972908"/>
            <a:ext cx="0" cy="18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79"/>
          <p:cNvCxnSpPr/>
          <p:nvPr/>
        </p:nvCxnSpPr>
        <p:spPr>
          <a:xfrm>
            <a:off x="6248706" y="972904"/>
            <a:ext cx="0" cy="18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77" name="Google Shape;107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00626" y="3150947"/>
            <a:ext cx="985976" cy="95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3313" y="2699938"/>
            <a:ext cx="551585" cy="1041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79"/>
          <p:cNvSpPr txBox="1"/>
          <p:nvPr/>
        </p:nvSpPr>
        <p:spPr>
          <a:xfrm>
            <a:off x="236510" y="4059149"/>
            <a:ext cx="1114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9"/>
          <p:cNvSpPr txBox="1"/>
          <p:nvPr/>
        </p:nvSpPr>
        <p:spPr>
          <a:xfrm>
            <a:off x="3131575" y="360022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9"/>
          <p:cNvSpPr txBox="1"/>
          <p:nvPr/>
        </p:nvSpPr>
        <p:spPr>
          <a:xfrm>
            <a:off x="7654800" y="4501775"/>
            <a:ext cx="8241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2" name="Google Shape;1082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3068" y="3702822"/>
            <a:ext cx="687557" cy="79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7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64577" y="1987650"/>
            <a:ext cx="2156524" cy="186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79"/>
          <p:cNvSpPr txBox="1"/>
          <p:nvPr/>
        </p:nvSpPr>
        <p:spPr>
          <a:xfrm>
            <a:off x="1350700" y="2049750"/>
            <a:ext cx="19434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converted 0.12 and 0.36 into fractions. You can see the middle easily.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9"/>
          <p:cNvSpPr txBox="1"/>
          <p:nvPr/>
        </p:nvSpPr>
        <p:spPr>
          <a:xfrm>
            <a:off x="324000" y="4501775"/>
            <a:ext cx="50631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all three methods work? Explain.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9"/>
          <p:cNvSpPr txBox="1"/>
          <p:nvPr/>
        </p:nvSpPr>
        <p:spPr>
          <a:xfrm>
            <a:off x="300625" y="1538800"/>
            <a:ext cx="8519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students created their own method to find the middle fraction.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9"/>
          <p:cNvSpPr txBox="1"/>
          <p:nvPr/>
        </p:nvSpPr>
        <p:spPr>
          <a:xfrm>
            <a:off x="3701225" y="1858513"/>
            <a:ext cx="47757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0.36 with 0.12, then halve the answer. Then find the fraction of the decimal.</a:t>
            </a:r>
            <a:endParaRPr sz="2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8" name="Google Shape;1088;p79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285502" y="2930725"/>
            <a:ext cx="3607148" cy="16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79"/>
          <p:cNvSpPr txBox="1"/>
          <p:nvPr/>
        </p:nvSpPr>
        <p:spPr>
          <a:xfrm>
            <a:off x="4397125" y="3058425"/>
            <a:ext cx="33390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difference between 0.36 and 0.12, then halve it and add it to 0.12. Convert this to a fraction.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095" name="Google Shape;1095;p80"/>
          <p:cNvSpPr txBox="1"/>
          <p:nvPr/>
        </p:nvSpPr>
        <p:spPr>
          <a:xfrm>
            <a:off x="5046625" y="1620000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0.34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0"/>
          <p:cNvSpPr txBox="1"/>
          <p:nvPr/>
        </p:nvSpPr>
        <p:spPr>
          <a:xfrm>
            <a:off x="5046625" y="2532250"/>
            <a:ext cx="2083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0.542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0"/>
          <p:cNvSpPr txBox="1"/>
          <p:nvPr/>
        </p:nvSpPr>
        <p:spPr>
          <a:xfrm>
            <a:off x="5046625" y="3559325"/>
            <a:ext cx="1900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  0.1248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=\frac{3}{25}&quot;&gt;&lt;mo&gt;=&lt;/mo&gt;&lt;mfrac&gt;&lt;mn&gt;3&lt;/mn&gt;&lt;mn&gt;25&lt;/mn&gt;&lt;/mfrac&gt;&lt;/math&gt;" id="1098" name="Google Shape;1098;p80" title="equals 3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424" y="2331988"/>
            <a:ext cx="802876" cy="774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3}{20}&quot;&gt;&lt;mo&gt;=&lt;/mo&gt;&lt;mfrac&gt;&lt;mn&gt;13&lt;/mn&gt;&lt;mn&gt;20&lt;/mn&gt;&lt;/mfrac&gt;&lt;/math&gt;" id="1099" name="Google Shape;1099;p80" title="equals 13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3680" y="1419749"/>
            <a:ext cx="807621" cy="774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08}{125}&quot;&gt;&lt;mo&gt;=&lt;/mo&gt;&lt;mfrac&gt;&lt;mn&gt;108&lt;/mn&gt;&lt;mn&gt;125&lt;/mn&gt;&lt;/mfrac&gt;&lt;/math&gt;" id="1100" name="Google Shape;1100;p80" title="equals 108 over 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1575" y="3387460"/>
            <a:ext cx="992125" cy="774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7}{50}&quot;&gt;&lt;mo&gt;=&lt;/mo&gt;&lt;mfrac&gt;&lt;mn&gt;17&lt;/mn&gt;&lt;mn&gt;50&lt;/mn&gt;&lt;/mfrac&gt;&lt;/math&gt;" id="1101" name="Google Shape;1101;p80" title="equals 17 over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7163" y="1471488"/>
            <a:ext cx="695381" cy="670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71}{500}&quot;&gt;&lt;mo&gt;=&lt;/mo&gt;&lt;mfrac&gt;&lt;mn&gt;271&lt;/mn&gt;&lt;mn&gt;500&lt;/mn&gt;&lt;/mfrac&gt;&lt;/math&gt;" id="1102" name="Google Shape;1102;p80" title="equals 271 over 5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7173" y="2412556"/>
            <a:ext cx="907660" cy="709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78}{625}&quot;&gt;&lt;mo&gt;=&lt;/mo&gt;&lt;mfrac&gt;&lt;mn&gt;78&lt;/mn&gt;&lt;mn&gt;625&lt;/mn&gt;&lt;/mfrac&gt;&lt;/math&gt;" id="1103" name="Google Shape;1103;p80" title="equals 78 over 6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5613" y="3385272"/>
            <a:ext cx="907660" cy="70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80"/>
          <p:cNvSpPr txBox="1"/>
          <p:nvPr>
            <p:ph idx="1" type="body"/>
          </p:nvPr>
        </p:nvSpPr>
        <p:spPr>
          <a:xfrm>
            <a:off x="324000" y="759300"/>
            <a:ext cx="8237700" cy="5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Convert the following into simplified fractions:</a:t>
            </a:r>
            <a:endParaRPr/>
          </a:p>
        </p:txBody>
      </p:sp>
      <p:sp>
        <p:nvSpPr>
          <p:cNvPr id="1105" name="Google Shape;1105;p80"/>
          <p:cNvSpPr txBox="1"/>
          <p:nvPr/>
        </p:nvSpPr>
        <p:spPr>
          <a:xfrm>
            <a:off x="780490" y="1620000"/>
            <a:ext cx="3042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0"/>
          <p:cNvSpPr txBox="1"/>
          <p:nvPr/>
        </p:nvSpPr>
        <p:spPr>
          <a:xfrm>
            <a:off x="762054" y="2532250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0.12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0"/>
          <p:cNvSpPr txBox="1"/>
          <p:nvPr/>
        </p:nvSpPr>
        <p:spPr>
          <a:xfrm>
            <a:off x="752836" y="3559325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 0.864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1"/>
          <p:cNvSpPr txBox="1"/>
          <p:nvPr>
            <p:ph idx="1" type="body"/>
          </p:nvPr>
        </p:nvSpPr>
        <p:spPr>
          <a:xfrm>
            <a:off x="324000" y="759300"/>
            <a:ext cx="8496000" cy="10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Laura and Jacob are given 0.56 and 0.560 to convert into a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is correct? Work out the fractional equivalent to the decimal(s).</a:t>
            </a:r>
            <a:endParaRPr/>
          </a:p>
        </p:txBody>
      </p:sp>
      <p:sp>
        <p:nvSpPr>
          <p:cNvPr id="1113" name="Google Shape;111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pic>
        <p:nvPicPr>
          <p:cNvPr id="1114" name="Google Shape;111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225" y="1372050"/>
            <a:ext cx="2700600" cy="19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81"/>
          <p:cNvSpPr txBox="1"/>
          <p:nvPr/>
        </p:nvSpPr>
        <p:spPr>
          <a:xfrm>
            <a:off x="542700" y="2571750"/>
            <a:ext cx="114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says</a:t>
            </a:r>
            <a:endParaRPr sz="1800"/>
          </a:p>
        </p:txBody>
      </p:sp>
      <p:sp>
        <p:nvSpPr>
          <p:cNvPr id="1116" name="Google Shape;1116;p81"/>
          <p:cNvSpPr txBox="1"/>
          <p:nvPr/>
        </p:nvSpPr>
        <p:spPr>
          <a:xfrm>
            <a:off x="4939925" y="2620175"/>
            <a:ext cx="1049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says</a:t>
            </a:r>
            <a:endParaRPr sz="1800"/>
          </a:p>
        </p:txBody>
      </p:sp>
      <p:pic>
        <p:nvPicPr>
          <p:cNvPr id="1117" name="Google Shape;111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400" y="1418325"/>
            <a:ext cx="2700600" cy="198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02" y="14944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9925" y="1620000"/>
            <a:ext cx="807751" cy="995005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81"/>
          <p:cNvSpPr txBox="1"/>
          <p:nvPr/>
        </p:nvSpPr>
        <p:spPr>
          <a:xfrm>
            <a:off x="1730425" y="1494400"/>
            <a:ext cx="24435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answers will be different as 0.56 is two decimals places and 0.560 is 3 decimal places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1"/>
          <p:cNvSpPr txBox="1"/>
          <p:nvPr/>
        </p:nvSpPr>
        <p:spPr>
          <a:xfrm>
            <a:off x="6117775" y="1703550"/>
            <a:ext cx="2443500" cy="1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the same decimal so it will be the same 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2" name="Google Shape;1122;p81"/>
          <p:cNvGrpSpPr/>
          <p:nvPr/>
        </p:nvGrpSpPr>
        <p:grpSpPr>
          <a:xfrm>
            <a:off x="247800" y="4286507"/>
            <a:ext cx="7928400" cy="574093"/>
            <a:chOff x="324000" y="4057907"/>
            <a:chExt cx="7928400" cy="574093"/>
          </a:xfrm>
        </p:grpSpPr>
        <p:sp>
          <p:nvSpPr>
            <p:cNvPr id="1123" name="Google Shape;1123;p81"/>
            <p:cNvSpPr txBox="1"/>
            <p:nvPr/>
          </p:nvSpPr>
          <p:spPr>
            <a:xfrm>
              <a:off x="324000" y="4155000"/>
              <a:ext cx="79284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Both 0.56 and 0.560 are equal. They both are equivalent to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frac{14}{25}&quot;&gt;&lt;mfrac&gt;&lt;mn&gt;14&lt;/mn&gt;&lt;mn&gt;25&lt;/mn&gt;&lt;/mfrac&gt;&lt;/math&gt;" id="1124" name="Google Shape;1124;p81" title="14 over 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07925" y="4057907"/>
              <a:ext cx="289355" cy="524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a) Write the fraction which is halfway between 0.96 and 0.88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30" name="Google Shape;1130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131" name="Google Shape;1131;p82"/>
          <p:cNvSpPr/>
          <p:nvPr/>
        </p:nvSpPr>
        <p:spPr>
          <a:xfrm>
            <a:off x="752500" y="1640025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32" name="Google Shape;1132;p82"/>
          <p:cNvSpPr txBox="1"/>
          <p:nvPr/>
        </p:nvSpPr>
        <p:spPr>
          <a:xfrm>
            <a:off x="7459200" y="185910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3" name="Google Shape;1133;p82"/>
          <p:cNvCxnSpPr/>
          <p:nvPr/>
        </p:nvCxnSpPr>
        <p:spPr>
          <a:xfrm>
            <a:off x="1274025" y="141660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82"/>
          <p:cNvCxnSpPr/>
          <p:nvPr/>
        </p:nvCxnSpPr>
        <p:spPr>
          <a:xfrm>
            <a:off x="4561913" y="141660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82"/>
          <p:cNvCxnSpPr/>
          <p:nvPr/>
        </p:nvCxnSpPr>
        <p:spPr>
          <a:xfrm>
            <a:off x="7849800" y="141660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82"/>
          <p:cNvSpPr txBox="1"/>
          <p:nvPr/>
        </p:nvSpPr>
        <p:spPr>
          <a:xfrm>
            <a:off x="883450" y="185910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2"/>
          <p:cNvSpPr txBox="1"/>
          <p:nvPr>
            <p:ph idx="1" type="body"/>
          </p:nvPr>
        </p:nvSpPr>
        <p:spPr>
          <a:xfrm>
            <a:off x="305942" y="2697300"/>
            <a:ext cx="872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b) Write the fraction which is a quarter of the way between 0.42 and 0.84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38" name="Google Shape;1138;p82"/>
          <p:cNvSpPr/>
          <p:nvPr/>
        </p:nvSpPr>
        <p:spPr>
          <a:xfrm>
            <a:off x="753910" y="3619482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39" name="Google Shape;1139;p82"/>
          <p:cNvSpPr txBox="1"/>
          <p:nvPr/>
        </p:nvSpPr>
        <p:spPr>
          <a:xfrm>
            <a:off x="7460610" y="3838557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0" name="Google Shape;1140;p82"/>
          <p:cNvCxnSpPr/>
          <p:nvPr/>
        </p:nvCxnSpPr>
        <p:spPr>
          <a:xfrm>
            <a:off x="1275435" y="3396057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1" name="Google Shape;1141;p82"/>
          <p:cNvCxnSpPr/>
          <p:nvPr/>
        </p:nvCxnSpPr>
        <p:spPr>
          <a:xfrm>
            <a:off x="4563323" y="3396057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82"/>
          <p:cNvCxnSpPr/>
          <p:nvPr/>
        </p:nvCxnSpPr>
        <p:spPr>
          <a:xfrm>
            <a:off x="7851210" y="3396057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3" name="Google Shape;1143;p82"/>
          <p:cNvSpPr txBox="1"/>
          <p:nvPr/>
        </p:nvSpPr>
        <p:spPr>
          <a:xfrm>
            <a:off x="884860" y="3838557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4" name="Google Shape;1144;p82"/>
          <p:cNvCxnSpPr/>
          <p:nvPr/>
        </p:nvCxnSpPr>
        <p:spPr>
          <a:xfrm>
            <a:off x="2917969" y="1427995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82"/>
          <p:cNvCxnSpPr/>
          <p:nvPr/>
        </p:nvCxnSpPr>
        <p:spPr>
          <a:xfrm>
            <a:off x="6205856" y="1427982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82"/>
          <p:cNvCxnSpPr/>
          <p:nvPr/>
        </p:nvCxnSpPr>
        <p:spPr>
          <a:xfrm>
            <a:off x="1274038" y="33903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82"/>
          <p:cNvCxnSpPr/>
          <p:nvPr/>
        </p:nvCxnSpPr>
        <p:spPr>
          <a:xfrm>
            <a:off x="4561925" y="33903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82"/>
          <p:cNvCxnSpPr/>
          <p:nvPr/>
        </p:nvCxnSpPr>
        <p:spPr>
          <a:xfrm>
            <a:off x="7849813" y="33903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82"/>
          <p:cNvCxnSpPr/>
          <p:nvPr/>
        </p:nvCxnSpPr>
        <p:spPr>
          <a:xfrm>
            <a:off x="2917981" y="3401745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82"/>
          <p:cNvCxnSpPr/>
          <p:nvPr/>
        </p:nvCxnSpPr>
        <p:spPr>
          <a:xfrm>
            <a:off x="6205869" y="3401732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3}{25}&quot;&gt;&lt;mfrac&gt;&lt;mn&gt;23&lt;/mn&gt;&lt;mn&gt;25&lt;/mn&gt;&lt;/mfrac&gt;&lt;/math&gt;" id="1151" name="Google Shape;1151;p82" title="23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217" y="1893900"/>
            <a:ext cx="341413" cy="622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40}&quot;&gt;&lt;mfrac&gt;&lt;mn&gt;21&lt;/mn&gt;&lt;mn&gt;40&lt;/mn&gt;&lt;/mfrac&gt;&lt;/math&gt;" id="1152" name="Google Shape;1152;p82" title="21 over 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679" y="3914100"/>
            <a:ext cx="341400" cy="63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3"/>
          <p:cNvSpPr txBox="1"/>
          <p:nvPr>
            <p:ph idx="1" type="body"/>
          </p:nvPr>
        </p:nvSpPr>
        <p:spPr>
          <a:xfrm>
            <a:off x="324000" y="759300"/>
            <a:ext cx="8237700" cy="132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</a:t>
            </a:r>
            <a:r>
              <a:rPr lang="en-GB" sz="1900"/>
              <a:t>c)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Three students created their own method to find the middle fraction.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8" name="Google Shape;1158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159" name="Google Shape;1159;p83"/>
          <p:cNvSpPr/>
          <p:nvPr/>
        </p:nvSpPr>
        <p:spPr>
          <a:xfrm>
            <a:off x="795338" y="968475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60" name="Google Shape;1160;p83"/>
          <p:cNvSpPr txBox="1"/>
          <p:nvPr/>
        </p:nvSpPr>
        <p:spPr>
          <a:xfrm>
            <a:off x="7502038" y="118755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1" name="Google Shape;1161;p83"/>
          <p:cNvCxnSpPr/>
          <p:nvPr/>
        </p:nvCxnSpPr>
        <p:spPr>
          <a:xfrm>
            <a:off x="1316863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83"/>
          <p:cNvCxnSpPr/>
          <p:nvPr/>
        </p:nvCxnSpPr>
        <p:spPr>
          <a:xfrm>
            <a:off x="4604750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83"/>
          <p:cNvCxnSpPr/>
          <p:nvPr/>
        </p:nvCxnSpPr>
        <p:spPr>
          <a:xfrm>
            <a:off x="7892638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4" name="Google Shape;1164;p83"/>
          <p:cNvSpPr txBox="1"/>
          <p:nvPr/>
        </p:nvSpPr>
        <p:spPr>
          <a:xfrm>
            <a:off x="926288" y="118755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83"/>
          <p:cNvCxnSpPr/>
          <p:nvPr/>
        </p:nvCxnSpPr>
        <p:spPr>
          <a:xfrm>
            <a:off x="2960806" y="756445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83"/>
          <p:cNvCxnSpPr/>
          <p:nvPr/>
        </p:nvCxnSpPr>
        <p:spPr>
          <a:xfrm>
            <a:off x="6248694" y="756432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67" name="Google Shape;1167;p83"/>
          <p:cNvGrpSpPr/>
          <p:nvPr/>
        </p:nvGrpSpPr>
        <p:grpSpPr>
          <a:xfrm>
            <a:off x="1916896" y="3673988"/>
            <a:ext cx="7635329" cy="547775"/>
            <a:chOff x="926296" y="2378588"/>
            <a:chExt cx="7635329" cy="547775"/>
          </a:xfrm>
        </p:grpSpPr>
        <p:pic>
          <p:nvPicPr>
  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1168" name="Google Shape;1168;p83" title="0.36 equals 9 over 25 0.12 equals 3 over 25 6 over 25"/>
            <p:cNvPicPr preferRelativeResize="0"/>
            <p:nvPr/>
          </p:nvPicPr>
          <p:blipFill rotWithShape="1">
            <a:blip r:embed="rId3">
              <a:alphaModFix/>
            </a:blip>
            <a:srcRect b="0" l="0" r="62834" t="0"/>
            <a:stretch/>
          </p:blipFill>
          <p:spPr>
            <a:xfrm>
              <a:off x="926296" y="2402350"/>
              <a:ext cx="1110025" cy="50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9" name="Google Shape;1169;p83"/>
            <p:cNvSpPr txBox="1"/>
            <p:nvPr/>
          </p:nvSpPr>
          <p:spPr>
            <a:xfrm>
              <a:off x="2036325" y="2403150"/>
              <a:ext cx="65253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and            so the middle fraction is 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1170" name="Google Shape;1170;p83" title="0.36 equals 9 over 25 0.12 equals 3 over 25 6 over 25"/>
            <p:cNvPicPr preferRelativeResize="0"/>
            <p:nvPr/>
          </p:nvPicPr>
          <p:blipFill rotWithShape="1">
            <a:blip r:embed="rId3">
              <a:alphaModFix/>
            </a:blip>
            <a:srcRect b="0" l="42089" r="20745" t="-9505"/>
            <a:stretch/>
          </p:blipFill>
          <p:spPr>
            <a:xfrm>
              <a:off x="2637925" y="2378588"/>
              <a:ext cx="1110025" cy="547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1171" name="Google Shape;1171;p83" title="0.36 equals 9 over 25 0.12 equals 3 over 25 6 over 25"/>
            <p:cNvPicPr preferRelativeResize="0"/>
            <p:nvPr/>
          </p:nvPicPr>
          <p:blipFill rotWithShape="1">
            <a:blip r:embed="rId3">
              <a:alphaModFix/>
            </a:blip>
            <a:srcRect b="-4752" l="86520" r="-23685" t="-4752"/>
            <a:stretch/>
          </p:blipFill>
          <p:spPr>
            <a:xfrm>
              <a:off x="6904175" y="2378588"/>
              <a:ext cx="1110025" cy="5477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2" name="Google Shape;117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00626" y="3227147"/>
            <a:ext cx="985976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83"/>
          <p:cNvSpPr txBox="1"/>
          <p:nvPr/>
        </p:nvSpPr>
        <p:spPr>
          <a:xfrm>
            <a:off x="236510" y="4135349"/>
            <a:ext cx="1114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4" name="Google Shape;1174;p8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164577" y="2063850"/>
            <a:ext cx="2156524" cy="186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3"/>
          <p:cNvSpPr txBox="1"/>
          <p:nvPr/>
        </p:nvSpPr>
        <p:spPr>
          <a:xfrm>
            <a:off x="1350700" y="2125950"/>
            <a:ext cx="19434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converted 0.12 and 0.36 into fractions. You can see the middle easily.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4"/>
          <p:cNvSpPr txBox="1"/>
          <p:nvPr>
            <p:ph idx="1" type="body"/>
          </p:nvPr>
        </p:nvSpPr>
        <p:spPr>
          <a:xfrm>
            <a:off x="324000" y="759300"/>
            <a:ext cx="8237700" cy="122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</a:t>
            </a:r>
            <a:r>
              <a:rPr lang="en-GB" sz="1900"/>
              <a:t>c)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Three students created their own method to find the middle fraction.</a:t>
            </a:r>
            <a:endParaRPr sz="1800"/>
          </a:p>
        </p:txBody>
      </p:sp>
      <p:sp>
        <p:nvSpPr>
          <p:cNvPr id="1181" name="Google Shape;1181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182" name="Google Shape;1182;p84"/>
          <p:cNvSpPr/>
          <p:nvPr/>
        </p:nvSpPr>
        <p:spPr>
          <a:xfrm>
            <a:off x="795338" y="968475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83" name="Google Shape;1183;p84"/>
          <p:cNvSpPr txBox="1"/>
          <p:nvPr/>
        </p:nvSpPr>
        <p:spPr>
          <a:xfrm>
            <a:off x="7502038" y="118755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4" name="Google Shape;1184;p84"/>
          <p:cNvCxnSpPr/>
          <p:nvPr/>
        </p:nvCxnSpPr>
        <p:spPr>
          <a:xfrm>
            <a:off x="1316863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84"/>
          <p:cNvCxnSpPr/>
          <p:nvPr/>
        </p:nvCxnSpPr>
        <p:spPr>
          <a:xfrm>
            <a:off x="4604750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84"/>
          <p:cNvCxnSpPr/>
          <p:nvPr/>
        </p:nvCxnSpPr>
        <p:spPr>
          <a:xfrm>
            <a:off x="7892638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7" name="Google Shape;1187;p84"/>
          <p:cNvSpPr txBox="1"/>
          <p:nvPr/>
        </p:nvSpPr>
        <p:spPr>
          <a:xfrm>
            <a:off x="926288" y="118755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84"/>
          <p:cNvCxnSpPr/>
          <p:nvPr/>
        </p:nvCxnSpPr>
        <p:spPr>
          <a:xfrm>
            <a:off x="2960806" y="756445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84"/>
          <p:cNvCxnSpPr/>
          <p:nvPr/>
        </p:nvCxnSpPr>
        <p:spPr>
          <a:xfrm>
            <a:off x="6248694" y="756432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0" name="Google Shape;1190;p84"/>
          <p:cNvGrpSpPr/>
          <p:nvPr/>
        </p:nvGrpSpPr>
        <p:grpSpPr>
          <a:xfrm>
            <a:off x="1900200" y="3456313"/>
            <a:ext cx="6724450" cy="547775"/>
            <a:chOff x="1595400" y="3684913"/>
            <a:chExt cx="6724450" cy="547775"/>
          </a:xfrm>
        </p:grpSpPr>
        <p:sp>
          <p:nvSpPr>
            <p:cNvPr id="1191" name="Google Shape;1191;p84"/>
            <p:cNvSpPr txBox="1"/>
            <p:nvPr/>
          </p:nvSpPr>
          <p:spPr>
            <a:xfrm>
              <a:off x="1595400" y="3697200"/>
              <a:ext cx="6257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0.36 + 0.12 = 0.48  then 0.48 ÷ 2 = 0.24 =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1192" name="Google Shape;1192;p84" title="0.36 equals 9 over 25 0.12 equals 3 over 25 6 over 25"/>
            <p:cNvPicPr preferRelativeResize="0"/>
            <p:nvPr/>
          </p:nvPicPr>
          <p:blipFill rotWithShape="1">
            <a:blip r:embed="rId3">
              <a:alphaModFix/>
            </a:blip>
            <a:srcRect b="-4752" l="86520" r="-23685" t="-4752"/>
            <a:stretch/>
          </p:blipFill>
          <p:spPr>
            <a:xfrm>
              <a:off x="7209825" y="3684913"/>
              <a:ext cx="1110025" cy="5477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3" name="Google Shape;1193;p8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854348" y="2072975"/>
            <a:ext cx="5031777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84"/>
          <p:cNvSpPr txBox="1"/>
          <p:nvPr/>
        </p:nvSpPr>
        <p:spPr>
          <a:xfrm>
            <a:off x="1110425" y="2087113"/>
            <a:ext cx="47757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0.36 with 0.12, then halve the answer. Then find the fraction of the decimal.</a:t>
            </a:r>
            <a:endParaRPr sz="2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5" name="Google Shape;119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2613" y="3036900"/>
            <a:ext cx="551585" cy="1041507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84"/>
          <p:cNvSpPr txBox="1"/>
          <p:nvPr/>
        </p:nvSpPr>
        <p:spPr>
          <a:xfrm>
            <a:off x="620875" y="393718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85"/>
          <p:cNvSpPr txBox="1"/>
          <p:nvPr>
            <p:ph idx="1" type="body"/>
          </p:nvPr>
        </p:nvSpPr>
        <p:spPr>
          <a:xfrm>
            <a:off x="324000" y="759300"/>
            <a:ext cx="8237700" cy="12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</a:t>
            </a:r>
            <a:r>
              <a:rPr lang="en-GB" sz="1900"/>
              <a:t>c)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Three students created their own method to find the middle fraction.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2" name="Google Shape;120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203" name="Google Shape;1203;p85"/>
          <p:cNvSpPr/>
          <p:nvPr/>
        </p:nvSpPr>
        <p:spPr>
          <a:xfrm>
            <a:off x="795338" y="968475"/>
            <a:ext cx="7553325" cy="1905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204" name="Google Shape;1204;p85"/>
          <p:cNvSpPr txBox="1"/>
          <p:nvPr/>
        </p:nvSpPr>
        <p:spPr>
          <a:xfrm>
            <a:off x="7502038" y="118755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5" name="Google Shape;1205;p85"/>
          <p:cNvCxnSpPr/>
          <p:nvPr/>
        </p:nvCxnSpPr>
        <p:spPr>
          <a:xfrm>
            <a:off x="1316863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85"/>
          <p:cNvCxnSpPr/>
          <p:nvPr/>
        </p:nvCxnSpPr>
        <p:spPr>
          <a:xfrm>
            <a:off x="4604750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85"/>
          <p:cNvCxnSpPr/>
          <p:nvPr/>
        </p:nvCxnSpPr>
        <p:spPr>
          <a:xfrm>
            <a:off x="7892638" y="745050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8" name="Google Shape;1208;p85"/>
          <p:cNvSpPr txBox="1"/>
          <p:nvPr/>
        </p:nvSpPr>
        <p:spPr>
          <a:xfrm>
            <a:off x="926288" y="1187550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9" name="Google Shape;1209;p85"/>
          <p:cNvCxnSpPr/>
          <p:nvPr/>
        </p:nvCxnSpPr>
        <p:spPr>
          <a:xfrm>
            <a:off x="2960806" y="756445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85"/>
          <p:cNvCxnSpPr/>
          <p:nvPr/>
        </p:nvCxnSpPr>
        <p:spPr>
          <a:xfrm>
            <a:off x="6248694" y="756432"/>
            <a:ext cx="0" cy="4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11" name="Google Shape;1211;p85"/>
          <p:cNvGrpSpPr/>
          <p:nvPr/>
        </p:nvGrpSpPr>
        <p:grpSpPr>
          <a:xfrm>
            <a:off x="313475" y="4088813"/>
            <a:ext cx="8887525" cy="558363"/>
            <a:chOff x="465875" y="3555413"/>
            <a:chExt cx="8887525" cy="558363"/>
          </a:xfrm>
        </p:grpSpPr>
        <p:sp>
          <p:nvSpPr>
            <p:cNvPr id="1212" name="Google Shape;1212;p85"/>
            <p:cNvSpPr txBox="1"/>
            <p:nvPr/>
          </p:nvSpPr>
          <p:spPr>
            <a:xfrm>
              <a:off x="465875" y="3621175"/>
              <a:ext cx="814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0.36 - 0.12 = 0.24  then  0.24 ÷ 2 = 0.12  then 0.12 + 0.12 = 0.24 =</a:t>
              </a:r>
              <a:endParaRPr sz="2000"/>
            </a:p>
          </p:txBody>
        </p:sp>
        <p:pic>
          <p:nvPicPr>
  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1213" name="Google Shape;1213;p85" title="0.36 equals 9 over 25 0.12 equals 3 over 25 6 over 25"/>
            <p:cNvPicPr preferRelativeResize="0"/>
            <p:nvPr/>
          </p:nvPicPr>
          <p:blipFill rotWithShape="1">
            <a:blip r:embed="rId3">
              <a:alphaModFix/>
            </a:blip>
            <a:srcRect b="-4752" l="86520" r="-23685" t="-4752"/>
            <a:stretch/>
          </p:blipFill>
          <p:spPr>
            <a:xfrm>
              <a:off x="8243375" y="3555413"/>
              <a:ext cx="1110025" cy="547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4" name="Google Shape;1214;p85"/>
          <p:cNvSpPr txBox="1"/>
          <p:nvPr/>
        </p:nvSpPr>
        <p:spPr>
          <a:xfrm>
            <a:off x="7654800" y="3663575"/>
            <a:ext cx="8241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5" name="Google Shape;1215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3068" y="2864622"/>
            <a:ext cx="687557" cy="79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85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4285502" y="2092525"/>
            <a:ext cx="3607148" cy="16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85"/>
          <p:cNvSpPr txBox="1"/>
          <p:nvPr/>
        </p:nvSpPr>
        <p:spPr>
          <a:xfrm>
            <a:off x="4397125" y="2144025"/>
            <a:ext cx="33390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difference between 0.36 and 0.12, then halve it and add it to 0.12. Convert this to a fraction.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223" name="Google Shape;1223;p8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224" name="Google Shape;1224;p8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</p:txBody>
      </p:sp>
      <p:sp>
        <p:nvSpPr>
          <p:cNvPr id="1225" name="Google Shape;1225;p8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pic>
        <p:nvPicPr>
          <p:cNvPr id="1226" name="Google Shape;122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218" y="27660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87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we know how to convert decimals which are less than 1 into a fraction, we need to use these skills with decimals greater than 1.</a:t>
            </a:r>
            <a:endParaRPr/>
          </a:p>
        </p:txBody>
      </p:sp>
      <p:sp>
        <p:nvSpPr>
          <p:cNvPr id="1232" name="Google Shape;123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233" name="Google Shape;1233;p87"/>
          <p:cNvSpPr txBox="1"/>
          <p:nvPr/>
        </p:nvSpPr>
        <p:spPr>
          <a:xfrm>
            <a:off x="217200" y="1948200"/>
            <a:ext cx="54048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3.14 into a fraction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7"/>
          <p:cNvSpPr txBox="1"/>
          <p:nvPr/>
        </p:nvSpPr>
        <p:spPr>
          <a:xfrm>
            <a:off x="5774400" y="2305800"/>
            <a:ext cx="27036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think you can see how to do this?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8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we know how to convert decimals which are less than 1 into a fraction, we need to use these skills with decimals greater than 1.</a:t>
            </a:r>
            <a:endParaRPr/>
          </a:p>
        </p:txBody>
      </p:sp>
      <p:sp>
        <p:nvSpPr>
          <p:cNvPr id="1240" name="Google Shape;124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241" name="Google Shape;1241;p88"/>
          <p:cNvSpPr txBox="1"/>
          <p:nvPr/>
        </p:nvSpPr>
        <p:spPr>
          <a:xfrm>
            <a:off x="217200" y="1948200"/>
            <a:ext cx="54048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3.14 into a fraction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8"/>
          <p:cNvSpPr txBox="1"/>
          <p:nvPr/>
        </p:nvSpPr>
        <p:spPr>
          <a:xfrm>
            <a:off x="6208350" y="2305800"/>
            <a:ext cx="2269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partition the decimal from the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8"/>
          <p:cNvSpPr txBox="1"/>
          <p:nvPr/>
        </p:nvSpPr>
        <p:spPr>
          <a:xfrm>
            <a:off x="1007800" y="3662400"/>
            <a:ext cx="4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244" name="Google Shape;1244;p88"/>
          <p:cNvSpPr txBox="1"/>
          <p:nvPr/>
        </p:nvSpPr>
        <p:spPr>
          <a:xfrm>
            <a:off x="1730625" y="3662400"/>
            <a:ext cx="103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0.14</a:t>
            </a:r>
            <a:endParaRPr/>
          </a:p>
        </p:txBody>
      </p:sp>
      <p:cxnSp>
        <p:nvCxnSpPr>
          <p:cNvPr id="1245" name="Google Shape;1245;p88"/>
          <p:cNvCxnSpPr/>
          <p:nvPr/>
        </p:nvCxnSpPr>
        <p:spPr>
          <a:xfrm flipH="1">
            <a:off x="1255100" y="2890200"/>
            <a:ext cx="237600" cy="74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6" name="Google Shape;1246;p88"/>
          <p:cNvCxnSpPr/>
          <p:nvPr/>
        </p:nvCxnSpPr>
        <p:spPr>
          <a:xfrm>
            <a:off x="1844750" y="2890200"/>
            <a:ext cx="228000" cy="77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89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we know how to convert decimals which are less than 1 into a fraction, we need to use these skills with decimals greater than 1.</a:t>
            </a:r>
            <a:endParaRPr/>
          </a:p>
        </p:txBody>
      </p:sp>
      <p:sp>
        <p:nvSpPr>
          <p:cNvPr id="1252" name="Google Shape;125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253" name="Google Shape;1253;p89"/>
          <p:cNvSpPr txBox="1"/>
          <p:nvPr/>
        </p:nvSpPr>
        <p:spPr>
          <a:xfrm>
            <a:off x="217200" y="1948200"/>
            <a:ext cx="54048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3.14 into a fraction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9"/>
          <p:cNvSpPr txBox="1"/>
          <p:nvPr/>
        </p:nvSpPr>
        <p:spPr>
          <a:xfrm>
            <a:off x="905518" y="4010158"/>
            <a:ext cx="4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255" name="Google Shape;1255;p89"/>
          <p:cNvSpPr txBox="1"/>
          <p:nvPr/>
        </p:nvSpPr>
        <p:spPr>
          <a:xfrm>
            <a:off x="1628343" y="4010158"/>
            <a:ext cx="103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0.14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\frac{14}{100}=\frac{7\times2}{50\times2}=\frac{7}{50}\times1=\frac{7}{50}&quot;&gt;&lt;mo&gt;=&lt;/mo&gt;&lt;mfrac&gt;&lt;mn&gt;14&lt;/mn&gt;&lt;mn&gt;100&lt;/mn&gt;&lt;/mfrac&gt;&lt;mo&gt;=&lt;/mo&gt;&lt;mfrac&gt;&lt;mrow&gt;&lt;mn&gt;7&lt;/mn&gt;&lt;mo&gt;×&lt;/mo&gt;&lt;mn&gt;2&lt;/mn&gt;&lt;/mrow&gt;&lt;mrow&gt;&lt;mn&gt;50&lt;/mn&gt;&lt;mo&gt;×&lt;/mo&gt;&lt;mn&gt;2&lt;/mn&gt;&lt;/mrow&gt;&lt;/mfrac&gt;&lt;mo&gt;=&lt;/mo&gt;&lt;mfrac&gt;&lt;mn&gt;7&lt;/mn&gt;&lt;mn&gt;50&lt;/mn&gt;&lt;/mfrac&gt;&lt;mo&gt;×&lt;/mo&gt;&lt;mn&gt;1&lt;/mn&gt;&lt;mo&gt;=&lt;/mo&gt;&lt;mfrac&gt;&lt;mn&gt;7&lt;/mn&gt;&lt;mn&gt;50&lt;/mn&gt;&lt;/mfrac&gt;&lt;/math&gt;" id="1256" name="Google Shape;1256;p89" title="equals 14 over 100 equals the fraction with numerator 7 times 2 and denominator 50 times 2 equals 7 over 50 times 1 equals 7 over 50"/>
          <p:cNvPicPr preferRelativeResize="0"/>
          <p:nvPr/>
        </p:nvPicPr>
        <p:blipFill rotWithShape="1">
          <a:blip r:embed="rId3">
            <a:alphaModFix/>
          </a:blip>
          <a:srcRect b="0" l="0" r="78201" t="0"/>
          <a:stretch/>
        </p:blipFill>
        <p:spPr>
          <a:xfrm>
            <a:off x="2398518" y="3965008"/>
            <a:ext cx="8688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4}{100}=\frac{7\times2}{50\times2}=\frac{7}{50}\times1=\frac{7}{50}&quot;&gt;&lt;mo&gt;=&lt;/mo&gt;&lt;mfrac&gt;&lt;mn&gt;14&lt;/mn&gt;&lt;mn&gt;100&lt;/mn&gt;&lt;/mfrac&gt;&lt;mo&gt;=&lt;/mo&gt;&lt;mfrac&gt;&lt;mrow&gt;&lt;mn&gt;7&lt;/mn&gt;&lt;mo&gt;×&lt;/mo&gt;&lt;mn&gt;2&lt;/mn&gt;&lt;/mrow&gt;&lt;mrow&gt;&lt;mn&gt;50&lt;/mn&gt;&lt;mo&gt;×&lt;/mo&gt;&lt;mn&gt;2&lt;/mn&gt;&lt;/mrow&gt;&lt;/mfrac&gt;&lt;mo&gt;=&lt;/mo&gt;&lt;mfrac&gt;&lt;mn&gt;7&lt;/mn&gt;&lt;mn&gt;50&lt;/mn&gt;&lt;/mfrac&gt;&lt;mo&gt;×&lt;/mo&gt;&lt;mn&gt;1&lt;/mn&gt;&lt;mo&gt;=&lt;/mo&gt;&lt;mfrac&gt;&lt;mn&gt;7&lt;/mn&gt;&lt;mn&gt;50&lt;/mn&gt;&lt;/mfrac&gt;&lt;/math&gt;" id="1257" name="Google Shape;1257;p89" title="equals 14 over 100 equals the fraction with numerator 7 times 2 and denominator 50 times 2 equals 7 over 50 times 1 equals 7 over 50"/>
          <p:cNvPicPr preferRelativeResize="0"/>
          <p:nvPr/>
        </p:nvPicPr>
        <p:blipFill rotWithShape="1">
          <a:blip r:embed="rId3">
            <a:alphaModFix/>
          </a:blip>
          <a:srcRect b="0" l="21799" r="41709" t="0"/>
          <a:stretch/>
        </p:blipFill>
        <p:spPr>
          <a:xfrm>
            <a:off x="3267318" y="3969333"/>
            <a:ext cx="1454400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8" name="Google Shape;1258;p89"/>
          <p:cNvCxnSpPr>
            <a:endCxn id="1254" idx="0"/>
          </p:cNvCxnSpPr>
          <p:nvPr/>
        </p:nvCxnSpPr>
        <p:spPr>
          <a:xfrm flipH="1">
            <a:off x="1109968" y="2890258"/>
            <a:ext cx="382800" cy="111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89"/>
          <p:cNvCxnSpPr>
            <a:endCxn id="1255" idx="0"/>
          </p:cNvCxnSpPr>
          <p:nvPr/>
        </p:nvCxnSpPr>
        <p:spPr>
          <a:xfrm>
            <a:off x="1844643" y="2890258"/>
            <a:ext cx="301800" cy="111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=\frac{14}{100}=\frac{7\times2}{50\times2}=\frac{7}{50}\times1=\frac{7}{50}&quot;&gt;&lt;mo&gt;=&lt;/mo&gt;&lt;mfrac&gt;&lt;mn&gt;14&lt;/mn&gt;&lt;mn&gt;100&lt;/mn&gt;&lt;/mfrac&gt;&lt;mo&gt;=&lt;/mo&gt;&lt;mfrac&gt;&lt;mrow&gt;&lt;mn&gt;7&lt;/mn&gt;&lt;mo&gt;×&lt;/mo&gt;&lt;mn&gt;2&lt;/mn&gt;&lt;/mrow&gt;&lt;mrow&gt;&lt;mn&gt;50&lt;/mn&gt;&lt;mo&gt;×&lt;/mo&gt;&lt;mn&gt;2&lt;/mn&gt;&lt;/mrow&gt;&lt;/mfrac&gt;&lt;mo&gt;=&lt;/mo&gt;&lt;mfrac&gt;&lt;mn&gt;7&lt;/mn&gt;&lt;mn&gt;50&lt;/mn&gt;&lt;/mfrac&gt;&lt;mo&gt;×&lt;/mo&gt;&lt;mn&gt;1&lt;/mn&gt;&lt;mo&gt;=&lt;/mo&gt;&lt;mfrac&gt;&lt;mn&gt;7&lt;/mn&gt;&lt;mn&gt;50&lt;/mn&gt;&lt;/mfrac&gt;&lt;/math&gt;" id="1260" name="Google Shape;1260;p89" title="equals 14 over 100 equals the fraction with numerator 7 times 2 and denominator 50 times 2 equals 7 over 50 times 1 equals 7 over 50"/>
          <p:cNvPicPr preferRelativeResize="0"/>
          <p:nvPr/>
        </p:nvPicPr>
        <p:blipFill rotWithShape="1">
          <a:blip r:embed="rId3">
            <a:alphaModFix/>
          </a:blip>
          <a:srcRect b="0" l="52852" r="17859" t="0"/>
          <a:stretch/>
        </p:blipFill>
        <p:spPr>
          <a:xfrm>
            <a:off x="5800268" y="3965008"/>
            <a:ext cx="116725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4}{100}=\frac{7\times2}{50\times2}=\frac{7}{50}\times1=\frac{7}{50}&quot;&gt;&lt;mo&gt;=&lt;/mo&gt;&lt;mfrac&gt;&lt;mn&gt;14&lt;/mn&gt;&lt;mn&gt;100&lt;/mn&gt;&lt;/mfrac&gt;&lt;mo&gt;=&lt;/mo&gt;&lt;mfrac&gt;&lt;mrow&gt;&lt;mn&gt;7&lt;/mn&gt;&lt;mo&gt;×&lt;/mo&gt;&lt;mn&gt;2&lt;/mn&gt;&lt;/mrow&gt;&lt;mrow&gt;&lt;mn&gt;50&lt;/mn&gt;&lt;mo&gt;×&lt;/mo&gt;&lt;mn&gt;2&lt;/mn&gt;&lt;/mrow&gt;&lt;/mfrac&gt;&lt;mo&gt;=&lt;/mo&gt;&lt;mfrac&gt;&lt;mn&gt;7&lt;/mn&gt;&lt;mn&gt;50&lt;/mn&gt;&lt;/mfrac&gt;&lt;mo&gt;×&lt;/mo&gt;&lt;mn&gt;1&lt;/mn&gt;&lt;mo&gt;=&lt;/mo&gt;&lt;mfrac&gt;&lt;mn&gt;7&lt;/mn&gt;&lt;mn&gt;50&lt;/mn&gt;&lt;/mfrac&gt;&lt;/math&gt;" id="1261" name="Google Shape;1261;p89" title="equals 14 over 100 equals the fraction with numerator 7 times 2 and denominator 50 times 2 equals 7 over 50 times 1 equals 7 over 50"/>
          <p:cNvPicPr preferRelativeResize="0"/>
          <p:nvPr/>
        </p:nvPicPr>
        <p:blipFill rotWithShape="1">
          <a:blip r:embed="rId3">
            <a:alphaModFix/>
          </a:blip>
          <a:srcRect b="0" l="82041" r="-1225" t="0"/>
          <a:stretch/>
        </p:blipFill>
        <p:spPr>
          <a:xfrm>
            <a:off x="6967518" y="3969233"/>
            <a:ext cx="7645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50}\times\frac{2}{2}=&quot;&gt;&lt;mfrac&gt;&lt;mn&gt;7&lt;/mn&gt;&lt;mn&gt;50&lt;/mn&gt;&lt;/mfrac&gt;&lt;mo&gt;×&lt;/mo&gt;&lt;mfrac&gt;&lt;mn&gt;2&lt;/mn&gt;&lt;mn&gt;2&lt;/mn&gt;&lt;/mfrac&gt;&lt;mo&gt;=&lt;/mo&gt;&lt;/math&gt;" id="1262" name="Google Shape;1262;p89" title="7 over 50 times two halves equals"/>
          <p:cNvPicPr preferRelativeResize="0"/>
          <p:nvPr/>
        </p:nvPicPr>
        <p:blipFill rotWithShape="1">
          <a:blip r:embed="rId4">
            <a:alphaModFix/>
          </a:blip>
          <a:srcRect b="0" l="0" r="23277" t="0"/>
          <a:stretch/>
        </p:blipFill>
        <p:spPr>
          <a:xfrm>
            <a:off x="4776543" y="3979933"/>
            <a:ext cx="895575" cy="5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89"/>
          <p:cNvSpPr txBox="1"/>
          <p:nvPr/>
        </p:nvSpPr>
        <p:spPr>
          <a:xfrm>
            <a:off x="5172225" y="2919125"/>
            <a:ext cx="324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means 3.14 =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frac{7}{50}&quot;&gt;&lt;mn&gt;3&lt;/mn&gt;&lt;mfrac&gt;&lt;mn&gt;7&lt;/mn&gt;&lt;mn&gt;50&lt;/mn&gt;&lt;/mfrac&gt;&lt;/math&gt;" id="1264" name="Google Shape;1264;p89" title="3 and 7 over 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5425" y="2852025"/>
            <a:ext cx="545400" cy="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89"/>
          <p:cNvSpPr/>
          <p:nvPr/>
        </p:nvSpPr>
        <p:spPr>
          <a:xfrm>
            <a:off x="4991100" y="2679650"/>
            <a:ext cx="3699900" cy="104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9"/>
          <p:cNvSpPr txBox="1"/>
          <p:nvPr/>
        </p:nvSpPr>
        <p:spPr>
          <a:xfrm>
            <a:off x="4858394" y="1603162"/>
            <a:ext cx="4201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use your skills to convert 0.14 into a fraction.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Convert 12.35 into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</a:t>
            </a:r>
            <a:r>
              <a:rPr lang="en-GB" sz="2000"/>
              <a:t> mixed number</a:t>
            </a:r>
            <a:br>
              <a:rPr lang="en-GB" sz="2000"/>
            </a:br>
            <a:br>
              <a:rPr lang="en-GB" sz="2000"/>
            </a:b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An improper fraction</a:t>
            </a:r>
            <a:endParaRPr sz="2000"/>
          </a:p>
        </p:txBody>
      </p:sp>
      <p:sp>
        <p:nvSpPr>
          <p:cNvPr id="1272" name="Google Shape;1272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Convert 5.68 into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 mixed number</a:t>
            </a:r>
            <a:br>
              <a:rPr lang="en-GB" sz="2000"/>
            </a:br>
            <a:br>
              <a:rPr lang="en-GB" sz="2000"/>
            </a:b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An improper fraction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274" name="Google Shape;1274;p90"/>
          <p:cNvSpPr txBox="1"/>
          <p:nvPr/>
        </p:nvSpPr>
        <p:spPr>
          <a:xfrm>
            <a:off x="561975" y="1659075"/>
            <a:ext cx="2771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12.35 = 12 + 0.35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5" name="Google Shape;1275;p90"/>
          <p:cNvGrpSpPr/>
          <p:nvPr/>
        </p:nvGrpSpPr>
        <p:grpSpPr>
          <a:xfrm>
            <a:off x="676375" y="2181300"/>
            <a:ext cx="3743227" cy="477992"/>
            <a:chOff x="828775" y="2181300"/>
            <a:chExt cx="3743227" cy="477992"/>
          </a:xfrm>
        </p:grpSpPr>
        <p:sp>
          <p:nvSpPr>
            <p:cNvPr id="1276" name="Google Shape;1276;p90"/>
            <p:cNvSpPr txBox="1"/>
            <p:nvPr/>
          </p:nvSpPr>
          <p:spPr>
            <a:xfrm>
              <a:off x="828775" y="2181300"/>
              <a:ext cx="27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0.35 =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5}{100}=\frac{7\times5}{20\times5}=\frac{7}{20}\times1=\frac{7}{20}&quot;&gt;&lt;mfrac&gt;&lt;mn&gt;35&lt;/mn&gt;&lt;mn&gt;100&lt;/mn&gt;&lt;/mfrac&gt;&lt;mo&gt;=&lt;/mo&gt;&lt;mfrac&gt;&lt;mrow&gt;&lt;mn&gt;7&lt;/mn&gt;&lt;mo&gt;×&lt;/mo&gt;&lt;mn&gt;5&lt;/mn&gt;&lt;/mrow&gt;&lt;mrow&gt;&lt;mn&gt;20&lt;/mn&gt;&lt;mo&gt;×&lt;/mo&gt;&lt;mn&gt;5&lt;/mn&gt;&lt;/mrow&gt;&lt;/mfrac&gt;&lt;mo&gt;=&lt;/mo&gt;&lt;mfrac&gt;&lt;mn&gt;7&lt;/mn&gt;&lt;mn&gt;20&lt;/mn&gt;&lt;/mfrac&gt;&lt;mo&gt;×&lt;/mo&gt;&lt;mn&gt;1&lt;/mn&gt;&lt;mo&gt;=&lt;/mo&gt;&lt;mfrac&gt;&lt;mn&gt;7&lt;/mn&gt;&lt;mn&gt;20&lt;/mn&gt;&lt;/mfrac&gt;&lt;/math&gt;" id="1277" name="Google Shape;1277;p90" title="35 over 100 equals the fraction with numerator 7 times 5 and denominator 20 times 5 equals 7 over 20 times 1 equals 7 over 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1001" y="2190801"/>
              <a:ext cx="2811001" cy="4684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8" name="Google Shape;1278;p90"/>
          <p:cNvGrpSpPr/>
          <p:nvPr/>
        </p:nvGrpSpPr>
        <p:grpSpPr>
          <a:xfrm>
            <a:off x="552475" y="2728574"/>
            <a:ext cx="3248100" cy="544201"/>
            <a:chOff x="704875" y="2728574"/>
            <a:chExt cx="3248100" cy="544201"/>
          </a:xfrm>
        </p:grpSpPr>
        <p:sp>
          <p:nvSpPr>
            <p:cNvPr id="1279" name="Google Shape;1279;p90"/>
            <p:cNvSpPr txBox="1"/>
            <p:nvPr/>
          </p:nvSpPr>
          <p:spPr>
            <a:xfrm>
              <a:off x="704875" y="2728575"/>
              <a:ext cx="3248100" cy="5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12.35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2\frac{7}{20}&quot;&gt;&lt;mn&gt;12&lt;/mn&gt;&lt;mfrac&gt;&lt;mn&gt;7&lt;/mn&gt;&lt;mn&gt;20&lt;/mn&gt;&lt;/mfrac&gt;&lt;/math&gt;" id="1280" name="Google Shape;1280;p90" title="12 and 7 over 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18325" y="2728574"/>
              <a:ext cx="563779" cy="544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12\frac{7}{20}=\frac{240}{20}+\frac{7}{20}=\frac{247}{20}&quot;&gt;&lt;mn&gt;12&lt;/mn&gt;&lt;mfrac&gt;&lt;mn&gt;7&lt;/mn&gt;&lt;mn&gt;20&lt;/mn&gt;&lt;/mfrac&gt;&lt;mo&gt;=&lt;/mo&gt;&lt;mfrac&gt;&lt;mn&gt;240&lt;/mn&gt;&lt;mn&gt;20&lt;/mn&gt;&lt;/mfrac&gt;&lt;mo&gt;+&lt;/mo&gt;&lt;mfrac&gt;&lt;mn&gt;7&lt;/mn&gt;&lt;mn&gt;20&lt;/mn&gt;&lt;/mfrac&gt;&lt;mo&gt;=&lt;/mo&gt;&lt;mfrac&gt;&lt;mn&gt;247&lt;/mn&gt;&lt;mn&gt;20&lt;/mn&gt;&lt;/mfrac&gt;&lt;/math&gt;" id="1281" name="Google Shape;1281;p90" title="12 and 7 over 20 equals 240 over 20 plus 7 over 20 equals 247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375" y="4039525"/>
            <a:ext cx="2837599" cy="5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0"/>
          <p:cNvSpPr txBox="1"/>
          <p:nvPr/>
        </p:nvSpPr>
        <p:spPr>
          <a:xfrm>
            <a:off x="4752975" y="1659075"/>
            <a:ext cx="2771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5.68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5 + 0.68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90"/>
          <p:cNvSpPr txBox="1"/>
          <p:nvPr/>
        </p:nvSpPr>
        <p:spPr>
          <a:xfrm>
            <a:off x="4743475" y="2804775"/>
            <a:ext cx="32481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5.68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4" name="Google Shape;1284;p90"/>
          <p:cNvSpPr txBox="1"/>
          <p:nvPr/>
        </p:nvSpPr>
        <p:spPr>
          <a:xfrm>
            <a:off x="4714975" y="2181300"/>
            <a:ext cx="2771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0.68 =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8}{100}=\frac{17\times4}{25\times4}=\frac{17}{25}\times1=\frac{17}{25}&quot;&gt;&lt;mfrac&gt;&lt;mn&gt;68&lt;/mn&gt;&lt;mn&gt;100&lt;/mn&gt;&lt;/mfrac&gt;&lt;mo&gt;=&lt;/mo&gt;&lt;mfrac&gt;&lt;mrow&gt;&lt;mn&gt;17&lt;/mn&gt;&lt;mo&gt;×&lt;/mo&gt;&lt;mn&gt;4&lt;/mn&gt;&lt;/mrow&gt;&lt;mrow&gt;&lt;mn&gt;25&lt;/mn&gt;&lt;mo&gt;×&lt;/mo&gt;&lt;mn&gt;4&lt;/mn&gt;&lt;/mrow&gt;&lt;/mfrac&gt;&lt;mo&gt;=&lt;/mo&gt;&lt;mfrac&gt;&lt;mn&gt;17&lt;/mn&gt;&lt;mn&gt;25&lt;/mn&gt;&lt;/mfrac&gt;&lt;mo&gt;×&lt;/mo&gt;&lt;mn&gt;1&lt;/mn&gt;&lt;mo&gt;=&lt;/mo&gt;&lt;mfrac&gt;&lt;mn&gt;17&lt;/mn&gt;&lt;mn&gt;25&lt;/mn&gt;&lt;/mfrac&gt;&lt;/math&gt;" id="1285" name="Google Shape;1285;p90" title="68 over 100 equals the fraction with numerator 17 times 4 and denominator 25 times 4 equals 17 over 25 times 1 equals 17 over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5175" y="2192435"/>
            <a:ext cx="3248100" cy="54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7}{25}&quot;&gt;&lt;mn&gt;5&lt;/mn&gt;&lt;mfrac&gt;&lt;mn&gt;17&lt;/mn&gt;&lt;mn&gt;25&lt;/mn&gt;&lt;/mfrac&gt;&lt;/math&gt;" id="1286" name="Google Shape;1286;p90" title="5 and 17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87276" y="2826375"/>
            <a:ext cx="448178" cy="54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7}{25}=\frac{125}{25}+\frac{17}{25}=\frac{142}{25}&quot;&gt;&lt;mn&gt;5&lt;/mn&gt;&lt;mfrac&gt;&lt;mn&gt;17&lt;/mn&gt;&lt;mn&gt;25&lt;/mn&gt;&lt;/mfrac&gt;&lt;mo&gt;=&lt;/mo&gt;&lt;mfrac&gt;&lt;mn&gt;125&lt;/mn&gt;&lt;mn&gt;25&lt;/mn&gt;&lt;/mfrac&gt;&lt;mo&gt;+&lt;/mo&gt;&lt;mfrac&gt;&lt;mn&gt;17&lt;/mn&gt;&lt;mn&gt;25&lt;/mn&gt;&lt;/mfrac&gt;&lt;mo&gt;=&lt;/mo&gt;&lt;mfrac&gt;&lt;mn&gt;142&lt;/mn&gt;&lt;mn&gt;25&lt;/mn&gt;&lt;/mfrac&gt;&lt;/math&gt;" id="1287" name="Google Shape;1287;p90" title="5 and 17 over 25 equals 125 over 25 plus 17 over 25 equals 142 over 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00843" y="4004868"/>
            <a:ext cx="3039824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91"/>
          <p:cNvSpPr txBox="1"/>
          <p:nvPr>
            <p:ph idx="4294967295" type="body"/>
          </p:nvPr>
        </p:nvSpPr>
        <p:spPr>
          <a:xfrm>
            <a:off x="324000" y="683100"/>
            <a:ext cx="84960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Convert the following decimals into mixed numbers and improper fractions.</a:t>
            </a:r>
            <a:endParaRPr sz="800"/>
          </a:p>
        </p:txBody>
      </p:sp>
      <p:graphicFrame>
        <p:nvGraphicFramePr>
          <p:cNvPr id="1293" name="Google Shape;1293;p91"/>
          <p:cNvGraphicFramePr/>
          <p:nvPr/>
        </p:nvGraphicFramePr>
        <p:xfrm>
          <a:off x="390600" y="138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2670400"/>
                <a:gridCol w="2670400"/>
                <a:gridCol w="2670400"/>
              </a:tblGrid>
              <a:tr h="45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2.45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3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8.125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3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8.288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3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9.72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4" name="Google Shape;1294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92"/>
          <p:cNvSpPr/>
          <p:nvPr/>
        </p:nvSpPr>
        <p:spPr>
          <a:xfrm>
            <a:off x="2568550" y="652225"/>
            <a:ext cx="4002600" cy="172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92"/>
          <p:cNvSpPr txBox="1"/>
          <p:nvPr>
            <p:ph idx="4294967295" type="body"/>
          </p:nvPr>
        </p:nvSpPr>
        <p:spPr>
          <a:xfrm>
            <a:off x="324000" y="759300"/>
            <a:ext cx="82377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endParaRPr sz="1200"/>
          </a:p>
        </p:txBody>
      </p:sp>
      <p:sp>
        <p:nvSpPr>
          <p:cNvPr id="1301" name="Google Shape;1301;p92"/>
          <p:cNvSpPr txBox="1"/>
          <p:nvPr/>
        </p:nvSpPr>
        <p:spPr>
          <a:xfrm>
            <a:off x="2637725" y="769950"/>
            <a:ext cx="38913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𝝅 is a special symbol and represents the non-terminating decimal 3.141592654…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2"/>
          <p:cNvSpPr txBox="1"/>
          <p:nvPr/>
        </p:nvSpPr>
        <p:spPr>
          <a:xfrm>
            <a:off x="481600" y="2372725"/>
            <a:ext cx="80802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no fractional equivalent to the exact value of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𝝅.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2"/>
          <p:cNvSpPr txBox="1"/>
          <p:nvPr/>
        </p:nvSpPr>
        <p:spPr>
          <a:xfrm>
            <a:off x="481600" y="2753725"/>
            <a:ext cx="80802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mixed number equivalent to: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AutoNum type="alphaLcParenR"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3.141</a:t>
            </a:r>
            <a:b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AutoNum type="alphaLcParenR"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3.1415</a:t>
            </a:r>
            <a:b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AutoNum type="alphaLcParenR"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3.141592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9" name="Google Shape;1309;p93"/>
          <p:cNvGraphicFramePr/>
          <p:nvPr/>
        </p:nvGraphicFramePr>
        <p:xfrm>
          <a:off x="390600" y="138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2670400"/>
                <a:gridCol w="2670400"/>
                <a:gridCol w="2670400"/>
              </a:tblGrid>
              <a:tr h="45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2.45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3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.125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3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8.288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3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9.72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65}{8}\ 8\frac{1}{8}&quot;&gt;&lt;mfrac&gt;&lt;mn&gt;65&lt;/mn&gt;&lt;mn&gt;8&lt;/mn&gt;&lt;/mfrac&gt;&lt;mtext&gt;&lt;/mtext&gt;&lt;mn&gt;8&lt;/mn&gt;&lt;mfrac&gt;&lt;mn&gt;1&lt;/mn&gt;&lt;mn&gt;8&lt;/mn&gt;&lt;/mfrac&gt;&lt;/math&gt;" id="1310" name="Google Shape;1310;p93" title="65 over 8 8 and one eighth"/>
          <p:cNvPicPr preferRelativeResize="0"/>
          <p:nvPr/>
        </p:nvPicPr>
        <p:blipFill rotWithShape="1">
          <a:blip r:embed="rId3">
            <a:alphaModFix/>
          </a:blip>
          <a:srcRect b="0" l="0" r="52337" t="0"/>
          <a:stretch/>
        </p:blipFill>
        <p:spPr>
          <a:xfrm>
            <a:off x="6930203" y="2595594"/>
            <a:ext cx="393925" cy="63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9}{20}\ \ \ 2\frac{9}{20}&quot;&gt;&lt;mfrac&gt;&lt;mn&gt;49&lt;/mn&gt;&lt;mn&gt;20&lt;/mn&gt;&lt;/mfrac&gt;&lt;mtext&gt;&lt;/mtext&gt;&lt;mtext&gt;&lt;/mtext&gt;&lt;mtext&gt;&lt;/mtext&gt;&lt;mn&gt;2&lt;/mn&gt;&lt;mfrac&gt;&lt;mn&gt;9&lt;/mn&gt;&lt;mn&gt;20&lt;/mn&gt;&lt;/mfrac&gt;&lt;/math&gt;" id="1311" name="Google Shape;1311;p93" title="49 over 20 2 and 9 over 20"/>
          <p:cNvPicPr preferRelativeResize="0"/>
          <p:nvPr/>
        </p:nvPicPr>
        <p:blipFill rotWithShape="1">
          <a:blip r:embed="rId4">
            <a:alphaModFix/>
          </a:blip>
          <a:srcRect b="0" l="47041" r="-6206" t="0"/>
          <a:stretch/>
        </p:blipFill>
        <p:spPr>
          <a:xfrm>
            <a:off x="4249401" y="1876300"/>
            <a:ext cx="673625" cy="59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1}{8}\ 8\frac{1}{8}&quot;&gt;&lt;mfrac&gt;&lt;mn&gt;81&lt;/mn&gt;&lt;mn&gt;8&lt;/mn&gt;&lt;/mfrac&gt;&lt;mtext&gt;&lt;/mtext&gt;&lt;mn&gt;8&lt;/mn&gt;&lt;mfrac&gt;&lt;mn&gt;1&lt;/mn&gt;&lt;mn&gt;8&lt;/mn&gt;&lt;/mfrac&gt;&lt;/math&gt;" id="1312" name="Google Shape;1312;p93" title="81 over 8 8 and one eighth"/>
          <p:cNvPicPr preferRelativeResize="0"/>
          <p:nvPr/>
        </p:nvPicPr>
        <p:blipFill rotWithShape="1">
          <a:blip r:embed="rId5">
            <a:alphaModFix/>
          </a:blip>
          <a:srcRect b="0" l="52658" r="0" t="0"/>
          <a:stretch/>
        </p:blipFill>
        <p:spPr>
          <a:xfrm>
            <a:off x="4306573" y="2581075"/>
            <a:ext cx="393925" cy="63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3}{25}\ 9\frac{18}{25}&quot;&gt;&lt;mfrac&gt;&lt;mn&gt;243&lt;/mn&gt;&lt;mn&gt;25&lt;/mn&gt;&lt;/mfrac&gt;&lt;mtext&gt;&lt;/mtext&gt;&lt;mn&gt;9&lt;/mn&gt;&lt;mfrac&gt;&lt;mn&gt;18&lt;/mn&gt;&lt;mn&gt;25&lt;/mn&gt;&lt;/mfrac&gt;&lt;/math&gt;" id="1313" name="Google Shape;1313;p93" title="243 over 25 9 and 18 over 25"/>
          <p:cNvPicPr preferRelativeResize="0"/>
          <p:nvPr/>
        </p:nvPicPr>
        <p:blipFill rotWithShape="1">
          <a:blip r:embed="rId6">
            <a:alphaModFix/>
          </a:blip>
          <a:srcRect b="0" l="46213" r="5" t="0"/>
          <a:stretch/>
        </p:blipFill>
        <p:spPr>
          <a:xfrm>
            <a:off x="4191003" y="4063894"/>
            <a:ext cx="612350" cy="63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36}{125}\ 8\frac{36}{125}&quot;&gt;&lt;mfrac&gt;&lt;mn&gt;1036&lt;/mn&gt;&lt;mn&gt;125&lt;/mn&gt;&lt;/mfrac&gt;&lt;mtext&gt;&lt;/mtext&gt;&lt;mn&gt;8&lt;/mn&gt;&lt;mfrac&gt;&lt;mn&gt;36&lt;/mn&gt;&lt;mn&gt;125&lt;/mn&gt;&lt;/mfrac&gt;&lt;/math&gt;" id="1314" name="Google Shape;1314;p93" title="1036 over 125 8 and 36 over 125"/>
          <p:cNvPicPr preferRelativeResize="0"/>
          <p:nvPr/>
        </p:nvPicPr>
        <p:blipFill rotWithShape="1">
          <a:blip r:embed="rId7">
            <a:alphaModFix/>
          </a:blip>
          <a:srcRect b="0" l="45097" r="0" t="0"/>
          <a:stretch/>
        </p:blipFill>
        <p:spPr>
          <a:xfrm>
            <a:off x="4069849" y="3350453"/>
            <a:ext cx="743000" cy="59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9}{20}\ \ \ 2\frac{9}{20}&quot;&gt;&lt;mfrac&gt;&lt;mn&gt;49&lt;/mn&gt;&lt;mn&gt;20&lt;/mn&gt;&lt;/mfrac&gt;&lt;mtext&gt;&lt;/mtext&gt;&lt;mtext&gt;&lt;/mtext&gt;&lt;mtext&gt;&lt;/mtext&gt;&lt;mn&gt;2&lt;/mn&gt;&lt;mfrac&gt;&lt;mn&gt;9&lt;/mn&gt;&lt;mn&gt;20&lt;/mn&gt;&lt;/mfrac&gt;&lt;/math&gt;" id="1315" name="Google Shape;1315;p93" title="49 over 20 2 and 9 over 20"/>
          <p:cNvPicPr preferRelativeResize="0"/>
          <p:nvPr/>
        </p:nvPicPr>
        <p:blipFill rotWithShape="1">
          <a:blip r:embed="rId4">
            <a:alphaModFix/>
          </a:blip>
          <a:srcRect b="0" l="0" r="63225" t="0"/>
          <a:stretch/>
        </p:blipFill>
        <p:spPr>
          <a:xfrm>
            <a:off x="6935000" y="1903825"/>
            <a:ext cx="393925" cy="59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3}{25}\ 9\frac{18}{25}&quot;&gt;&lt;mfrac&gt;&lt;mn&gt;243&lt;/mn&gt;&lt;mn&gt;25&lt;/mn&gt;&lt;/mfrac&gt;&lt;mtext&gt;&lt;/mtext&gt;&lt;mn&gt;9&lt;/mn&gt;&lt;mfrac&gt;&lt;mn&gt;18&lt;/mn&gt;&lt;mn&gt;25&lt;/mn&gt;&lt;/mfrac&gt;&lt;/math&gt;" id="1316" name="Google Shape;1316;p93" title="243 over 25 9 and 18 over 25"/>
          <p:cNvPicPr preferRelativeResize="0"/>
          <p:nvPr/>
        </p:nvPicPr>
        <p:blipFill rotWithShape="1">
          <a:blip r:embed="rId6">
            <a:alphaModFix/>
          </a:blip>
          <a:srcRect b="0" l="-16092" r="50835" t="0"/>
          <a:stretch/>
        </p:blipFill>
        <p:spPr>
          <a:xfrm>
            <a:off x="6688799" y="4083847"/>
            <a:ext cx="743000" cy="63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36}{125}\ 8\frac{36}{125}&quot;&gt;&lt;mfrac&gt;&lt;mn&gt;1036&lt;/mn&gt;&lt;mn&gt;125&lt;/mn&gt;&lt;/mfrac&gt;&lt;mtext&gt;&lt;/mtext&gt;&lt;mn&gt;8&lt;/mn&gt;&lt;mfrac&gt;&lt;mn&gt;36&lt;/mn&gt;&lt;mn&gt;125&lt;/mn&gt;&lt;/mfrac&gt;&lt;/math&gt;" id="1317" name="Google Shape;1317;p93" title="1036 over 125 8 and 36 over 125"/>
          <p:cNvPicPr preferRelativeResize="0"/>
          <p:nvPr/>
        </p:nvPicPr>
        <p:blipFill rotWithShape="1">
          <a:blip r:embed="rId7">
            <a:alphaModFix/>
          </a:blip>
          <a:srcRect b="0" l="-5127" r="50227" t="0"/>
          <a:stretch/>
        </p:blipFill>
        <p:spPr>
          <a:xfrm>
            <a:off x="6673501" y="3354429"/>
            <a:ext cx="743000" cy="5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319" name="Google Shape;1319;p93"/>
          <p:cNvSpPr txBox="1"/>
          <p:nvPr>
            <p:ph idx="4294967295" type="body"/>
          </p:nvPr>
        </p:nvSpPr>
        <p:spPr>
          <a:xfrm>
            <a:off x="324000" y="683100"/>
            <a:ext cx="84960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Convert the following decimals into mixed numbers and improper fractions.</a:t>
            </a:r>
            <a:endParaRPr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=3\frac{17\ 699}{125\ 000}&quot;&gt;&lt;mo&gt;=&lt;/mo&gt;&lt;mn&gt;3&lt;/mn&gt;&lt;mfrac&gt;&lt;mrow&gt;&lt;mn&gt;17&lt;/mn&gt;&lt;mtext&gt;&lt;/mtext&gt;&lt;mn&gt;699&lt;/mn&gt;&lt;/mrow&gt;&lt;mrow&gt;&lt;mn&gt;125&lt;/mn&gt;&lt;mtext&gt;&lt;/mtext&gt;&lt;mn&gt;000&lt;/mn&gt;&lt;/mrow&gt;&lt;/mfrac&gt;&lt;/math&gt;" id="1324" name="Google Shape;1324;p94" title="equals 3 the fraction with numerator 17 699 and denominator 125 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031" y="4149575"/>
            <a:ext cx="1117375" cy="475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94"/>
          <p:cNvSpPr txBox="1"/>
          <p:nvPr/>
        </p:nvSpPr>
        <p:spPr>
          <a:xfrm>
            <a:off x="481600" y="2571750"/>
            <a:ext cx="80802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mixed number equivalent to: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AutoNum type="alphaLcParenR"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3.141</a:t>
            </a:r>
            <a:b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AutoNum type="alphaLcParenR"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3.1415</a:t>
            </a:r>
            <a:b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AutoNum type="alphaLcParenR"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3.141592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4"/>
          <p:cNvSpPr/>
          <p:nvPr/>
        </p:nvSpPr>
        <p:spPr>
          <a:xfrm>
            <a:off x="2568550" y="652225"/>
            <a:ext cx="4002600" cy="150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4"/>
          <p:cNvSpPr txBox="1"/>
          <p:nvPr>
            <p:ph idx="4294967295" type="body"/>
          </p:nvPr>
        </p:nvSpPr>
        <p:spPr>
          <a:xfrm>
            <a:off x="324000" y="759300"/>
            <a:ext cx="82377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=3\frac{283}{2000}&quot;&gt;&lt;mo&gt;=&lt;/mo&gt;&lt;mn&gt;3&lt;/mn&gt;&lt;mfrac&gt;&lt;mn&gt;283&lt;/mn&gt;&lt;mn&gt;2000&lt;/mn&gt;&lt;/mfrac&gt;&lt;/math&gt;" id="1328" name="Google Shape;1328;p94" title="equals 3 and 283 over 2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550" y="3567191"/>
            <a:ext cx="835200" cy="473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3\frac{141}{1000}&quot;&gt;&lt;mo&gt;=&lt;/mo&gt;&lt;mn&gt;3&lt;/mn&gt;&lt;mfrac&gt;&lt;mn&gt;141&lt;/mn&gt;&lt;mn&gt;1000&lt;/mn&gt;&lt;/mfrac&gt;&lt;/math&gt;" id="1329" name="Google Shape;1329;p94" title="equals 3 and 14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800" y="3016625"/>
            <a:ext cx="835212" cy="4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331" name="Google Shape;1331;p94"/>
          <p:cNvSpPr txBox="1"/>
          <p:nvPr/>
        </p:nvSpPr>
        <p:spPr>
          <a:xfrm>
            <a:off x="481600" y="2144125"/>
            <a:ext cx="80802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no fractional equivalent to the exact value of 𝝅.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4"/>
          <p:cNvSpPr txBox="1"/>
          <p:nvPr/>
        </p:nvSpPr>
        <p:spPr>
          <a:xfrm>
            <a:off x="2637725" y="617550"/>
            <a:ext cx="38913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𝝅 is a special symbol and represents the non-terminating decimal 3.141592654…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9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less than 1</a:t>
            </a:r>
            <a:endParaRPr/>
          </a:p>
        </p:txBody>
      </p:sp>
      <p:sp>
        <p:nvSpPr>
          <p:cNvPr id="1338" name="Google Shape;1338;p9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339" name="Google Shape;1339;p9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</p:txBody>
      </p:sp>
      <p:sp>
        <p:nvSpPr>
          <p:cNvPr id="1340" name="Google Shape;1340;p9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pic>
        <p:nvPicPr>
          <p:cNvPr id="1341" name="Google Shape;134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18" y="37004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</p:txBody>
      </p:sp>
      <p:sp>
        <p:nvSpPr>
          <p:cNvPr id="1347" name="Google Shape;1347;p96"/>
          <p:cNvSpPr txBox="1"/>
          <p:nvPr/>
        </p:nvSpPr>
        <p:spPr>
          <a:xfrm>
            <a:off x="315501" y="729700"/>
            <a:ext cx="71436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also write the terminating decimal as a fraction where the denominator is given in exponential form.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6"/>
          <p:cNvSpPr txBox="1"/>
          <p:nvPr/>
        </p:nvSpPr>
        <p:spPr>
          <a:xfrm>
            <a:off x="324728" y="1948900"/>
            <a:ext cx="80589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place value chart is useful here in showing how we write the denominator in exponential form.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49" name="Google Shape;1349;p96"/>
          <p:cNvGraphicFramePr/>
          <p:nvPr/>
        </p:nvGraphicFramePr>
        <p:xfrm>
          <a:off x="842635" y="2883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0" name="Google Shape;1350;p96"/>
          <p:cNvSpPr/>
          <p:nvPr/>
        </p:nvSpPr>
        <p:spPr>
          <a:xfrm>
            <a:off x="4685878" y="36384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351" name="Google Shape;1351;p96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0" l="17748" r="54266" t="0"/>
          <a:stretch/>
        </p:blipFill>
        <p:spPr>
          <a:xfrm>
            <a:off x="5708444" y="2911188"/>
            <a:ext cx="513725" cy="50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352" name="Google Shape;1352;p96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-21654" l="46897" r="25116" t="-23483"/>
          <a:stretch/>
        </p:blipFill>
        <p:spPr>
          <a:xfrm>
            <a:off x="6524591" y="2806116"/>
            <a:ext cx="513725" cy="7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353" name="Google Shape;1353;p96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-22568" l="75465" r="-3450" t="-22568"/>
          <a:stretch/>
        </p:blipFill>
        <p:spPr>
          <a:xfrm>
            <a:off x="7241166" y="2809776"/>
            <a:ext cx="513725" cy="7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608" y="2978781"/>
            <a:ext cx="413050" cy="308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355" name="Google Shape;1355;p96" title="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3000" y="2980190"/>
            <a:ext cx="434700" cy="31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356" name="Google Shape;1356;p96" title="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9475" y="2985251"/>
            <a:ext cx="434700" cy="33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357" name="Google Shape;1357;p96" title="10 to the fourth power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1030" y="2982689"/>
            <a:ext cx="434700" cy="31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358" name="Google Shape;1358;p96" title="10 raised to the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19475" y="3054028"/>
            <a:ext cx="300900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359" name="Google Shape;1359;p96" title="1 over 1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9553" y="2953610"/>
            <a:ext cx="427043" cy="434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360" name="Google Shape;1360;p96" title="the fraction with numerator 1 and denominator 10 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51751" y="2961399"/>
            <a:ext cx="552399" cy="415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361" name="Google Shape;1361;p96" title="one tent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35400" y="2965663"/>
            <a:ext cx="216982" cy="415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362" name="Google Shape;1362;p96" title="1 over 1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84880" y="2949304"/>
            <a:ext cx="328714" cy="43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</p:txBody>
      </p:sp>
      <p:sp>
        <p:nvSpPr>
          <p:cNvPr id="1368" name="Google Shape;1368;p97"/>
          <p:cNvSpPr txBox="1"/>
          <p:nvPr/>
        </p:nvSpPr>
        <p:spPr>
          <a:xfrm>
            <a:off x="297075" y="729700"/>
            <a:ext cx="7162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think the decimal 0.671 is as a fraction where the denominator is in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exponential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form?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69" name="Google Shape;1369;p97"/>
          <p:cNvGraphicFramePr/>
          <p:nvPr/>
        </p:nvGraphicFramePr>
        <p:xfrm>
          <a:off x="842635" y="2883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0" name="Google Shape;1370;p97"/>
          <p:cNvSpPr/>
          <p:nvPr/>
        </p:nvSpPr>
        <p:spPr>
          <a:xfrm>
            <a:off x="4685878" y="36384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371" name="Google Shape;1371;p97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0" l="17748" r="54266" t="0"/>
          <a:stretch/>
        </p:blipFill>
        <p:spPr>
          <a:xfrm>
            <a:off x="5708444" y="2911188"/>
            <a:ext cx="513725" cy="50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372" name="Google Shape;1372;p97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-21654" l="46897" r="25116" t="-23483"/>
          <a:stretch/>
        </p:blipFill>
        <p:spPr>
          <a:xfrm>
            <a:off x="6524591" y="2806116"/>
            <a:ext cx="513725" cy="7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373" name="Google Shape;1373;p97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-22568" l="75465" r="-3450" t="-22568"/>
          <a:stretch/>
        </p:blipFill>
        <p:spPr>
          <a:xfrm>
            <a:off x="7241166" y="2809776"/>
            <a:ext cx="513725" cy="7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608" y="2978781"/>
            <a:ext cx="413050" cy="308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375" name="Google Shape;1375;p97" title="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3000" y="2980190"/>
            <a:ext cx="434700" cy="31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376" name="Google Shape;1376;p97" title="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9475" y="2985251"/>
            <a:ext cx="434700" cy="33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377" name="Google Shape;1377;p97" title="10 to the fourth power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1030" y="2982689"/>
            <a:ext cx="434700" cy="31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378" name="Google Shape;1378;p97" title="10 raised to the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19475" y="3054028"/>
            <a:ext cx="300900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379" name="Google Shape;1379;p97" title="one ten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35400" y="2965663"/>
            <a:ext cx="216982" cy="4155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0" name="Google Shape;1380;p97"/>
          <p:cNvGrpSpPr/>
          <p:nvPr/>
        </p:nvGrpSpPr>
        <p:grpSpPr>
          <a:xfrm>
            <a:off x="2632991" y="3415537"/>
            <a:ext cx="4493700" cy="521209"/>
            <a:chOff x="2527291" y="2753887"/>
            <a:chExt cx="4493700" cy="521209"/>
          </a:xfrm>
        </p:grpSpPr>
        <p:sp>
          <p:nvSpPr>
            <p:cNvPr id="1381" name="Google Shape;1381;p97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82" name="Google Shape;1382;p97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1383" name="Google Shape;1383;p97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1384" name="Google Shape;1384;p97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85" name="Google Shape;1385;p97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6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386" name="Google Shape;1386;p97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1387" name="Google Shape;1387;p97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388" name="Google Shape;1388;p97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389" name="Google Shape;1389;p97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descr="&lt;math xmlns=&quot;http://www.w3.org/1998/Math/MathML&quot; display=&quot;block&quot; data-is-equatio=&quot;1&quot; data-latex=&quot;0.671\ =\ \frac{671}{1000}=\frac{671}{10^3}&quot;&gt;&lt;mn&gt;0.671&lt;/mn&gt;&lt;mtext&gt;&lt;/mtext&gt;&lt;mo&gt;=&lt;/mo&gt;&lt;mtext&gt;&lt;/mtext&gt;&lt;mfrac&gt;&lt;mn&gt;671&lt;/mn&gt;&lt;mn&gt;1000&lt;/mn&gt;&lt;/mfrac&gt;&lt;mo&gt;=&lt;/mo&gt;&lt;mfrac&gt;&lt;mn&gt;671&lt;/mn&gt;&lt;msup&gt;&lt;mn&gt;10&lt;/mn&gt;&lt;mn&gt;3&lt;/mn&gt;&lt;/msup&gt;&lt;/mfrac&gt;&lt;/math&gt;" id="1390" name="Google Shape;1390;p97" title="0.671 equals 671 over 1000 equals the fraction with numerator 671 and denominator 10 cubed"/>
          <p:cNvPicPr preferRelativeResize="0"/>
          <p:nvPr/>
        </p:nvPicPr>
        <p:blipFill rotWithShape="1">
          <a:blip r:embed="rId10">
            <a:alphaModFix/>
          </a:blip>
          <a:srcRect b="0" l="0" r="31356" t="0"/>
          <a:stretch/>
        </p:blipFill>
        <p:spPr>
          <a:xfrm>
            <a:off x="3097798" y="1810950"/>
            <a:ext cx="2187825" cy="78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671\ =\ \frac{671}{1000}=\frac{671}{10^3}&quot;&gt;&lt;mn&gt;0.671&lt;/mn&gt;&lt;mtext&gt;&lt;/mtext&gt;&lt;mo&gt;=&lt;/mo&gt;&lt;mtext&gt;&lt;/mtext&gt;&lt;mfrac&gt;&lt;mn&gt;671&lt;/mn&gt;&lt;mn&gt;1000&lt;/mn&gt;&lt;/mfrac&gt;&lt;mo&gt;=&lt;/mo&gt;&lt;mfrac&gt;&lt;mn&gt;671&lt;/mn&gt;&lt;msup&gt;&lt;mn&gt;10&lt;/mn&gt;&lt;mn&gt;3&lt;/mn&gt;&lt;/msup&gt;&lt;/mfrac&gt;&lt;/math&gt;" id="1391" name="Google Shape;1391;p97" title="0.671 equals 671 over 1000 equals the fraction with numerator 671 and denominator 10 cubed"/>
          <p:cNvPicPr preferRelativeResize="0"/>
          <p:nvPr/>
        </p:nvPicPr>
        <p:blipFill rotWithShape="1">
          <a:blip r:embed="rId10">
            <a:alphaModFix/>
          </a:blip>
          <a:srcRect b="0" l="69157" r="-8110" t="0"/>
          <a:stretch/>
        </p:blipFill>
        <p:spPr>
          <a:xfrm>
            <a:off x="5285621" y="1812500"/>
            <a:ext cx="1241450" cy="7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9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Write the d</a:t>
            </a:r>
            <a:r>
              <a:rPr lang="en-GB" sz="2000"/>
              <a:t>ecimal 2.457 as a fraction where the denominator is in exponential form.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You can use a place value chart if it helps.</a:t>
            </a:r>
            <a:endParaRPr sz="2000"/>
          </a:p>
        </p:txBody>
      </p:sp>
      <p:sp>
        <p:nvSpPr>
          <p:cNvPr id="1397" name="Google Shape;139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</p:txBody>
      </p:sp>
      <p:graphicFrame>
        <p:nvGraphicFramePr>
          <p:cNvPr id="1398" name="Google Shape;1398;p98"/>
          <p:cNvGraphicFramePr/>
          <p:nvPr/>
        </p:nvGraphicFramePr>
        <p:xfrm>
          <a:off x="781548" y="20151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{75A7F99D-FD11-48AA-9AF6-4EBAAD449341}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9" name="Google Shape;1399;p98"/>
          <p:cNvSpPr/>
          <p:nvPr/>
        </p:nvSpPr>
        <p:spPr>
          <a:xfrm>
            <a:off x="4624791" y="277033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400" name="Google Shape;1400;p98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0" l="17748" r="54266" t="0"/>
          <a:stretch/>
        </p:blipFill>
        <p:spPr>
          <a:xfrm>
            <a:off x="5647356" y="2043038"/>
            <a:ext cx="513725" cy="50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401" name="Google Shape;1401;p98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-21654" l="46897" r="25116" t="-23483"/>
          <a:stretch/>
        </p:blipFill>
        <p:spPr>
          <a:xfrm>
            <a:off x="6463504" y="1937966"/>
            <a:ext cx="513725" cy="7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frac{1}{10^2}\ \ \frac{1}{10^3}\ \ \ \frac{1}{10^4}&quot;&gt;&lt;mfrac&gt;&lt;mn&gt;1&lt;/mn&gt;&lt;mn&gt;10&lt;/mn&gt;&lt;/mfrac&gt;&lt;mtext&gt;&lt;/mtext&gt;&lt;mtext&gt;&lt;/mtext&gt;&lt;mfrac&gt;&lt;mn&gt;1&lt;/mn&gt;&lt;msup&gt;&lt;mn&gt;10&lt;/mn&gt;&lt;mn&gt;2&lt;/mn&gt;&lt;/msup&gt;&lt;/mfrac&gt;&lt;mtext&gt;&lt;/mtext&gt;&lt;mtext&gt;&lt;/mtext&gt;&lt;mfrac&gt;&lt;mn&gt;1&lt;/mn&gt;&lt;msup&gt;&lt;mn&gt;10&lt;/mn&gt;&lt;mn&gt;3&lt;/mn&gt;&lt;/msup&gt;&lt;/mfrac&gt;&lt;mtext&gt;&lt;/mtext&gt;&lt;mtext&gt;&lt;/mtext&gt;&lt;mtext&gt;&lt;/mtext&gt;&lt;mfrac&gt;&lt;mn&gt;1&lt;/mn&gt;&lt;msup&gt;&lt;mn&gt;10&lt;/mn&gt;&lt;mn&gt;4&lt;/mn&gt;&lt;/msup&gt;&lt;/mfrac&gt;&lt;/math&gt;" id="1402" name="Google Shape;1402;p98" title="one tenth the fraction with numerator 1 and denominator 10 squared the fraction with numerator 1 and denominator 10 cubed the fraction with numerator 1 and denominator 10 to the fourth power"/>
          <p:cNvPicPr preferRelativeResize="0"/>
          <p:nvPr/>
        </p:nvPicPr>
        <p:blipFill rotWithShape="1">
          <a:blip r:embed="rId3">
            <a:alphaModFix/>
          </a:blip>
          <a:srcRect b="-22568" l="75465" r="-3450" t="-22568"/>
          <a:stretch/>
        </p:blipFill>
        <p:spPr>
          <a:xfrm>
            <a:off x="7180079" y="1941626"/>
            <a:ext cx="513725" cy="7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521" y="2110631"/>
            <a:ext cx="413050" cy="308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404" name="Google Shape;1404;p98" title="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1913" y="2112040"/>
            <a:ext cx="434700" cy="316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405" name="Google Shape;1405;p98" title="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8388" y="2117101"/>
            <a:ext cx="434700" cy="33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406" name="Google Shape;1406;p98" title="10 to the fourth power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942" y="2114539"/>
            <a:ext cx="434700" cy="31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407" name="Google Shape;1407;p98" title="10 raised to the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58388" y="2185878"/>
            <a:ext cx="300900" cy="2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408" name="Google Shape;1408;p98" title="one ten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74313" y="2097513"/>
            <a:ext cx="216982" cy="4155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9" name="Google Shape;1409;p98"/>
          <p:cNvGrpSpPr/>
          <p:nvPr/>
        </p:nvGrpSpPr>
        <p:grpSpPr>
          <a:xfrm>
            <a:off x="2571903" y="2547387"/>
            <a:ext cx="4493700" cy="521209"/>
            <a:chOff x="2527291" y="2753887"/>
            <a:chExt cx="4493700" cy="521209"/>
          </a:xfrm>
        </p:grpSpPr>
        <p:sp>
          <p:nvSpPr>
            <p:cNvPr id="1410" name="Google Shape;1410;p98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11" name="Google Shape;1411;p98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1412" name="Google Shape;1412;p98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1413" name="Google Shape;1413;p98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2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414" name="Google Shape;1414;p98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4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415" name="Google Shape;1415;p98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1416" name="Google Shape;1416;p98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417" name="Google Shape;1417;p98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418" name="Google Shape;1418;p98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descr="&lt;math xmlns=&quot;http://www.w3.org/1998/Math/MathML&quot; display=&quot;block&quot; data-is-equatio=&quot;1&quot; data-latex=&quot;\begin{array}{l}2.457\ =\ 2+0.457\\&amp;#13;&amp;#10;0.457\ =\ \frac{457}{1000}=\frac{457}{10^3}\\&amp;#13;&amp;#10;2.457\ =\ 2\frac{457}{10^3}\end{array}&quot;&gt;&lt;mtable columnalign=&quot;left&quot; columnspacing=&quot;1em&quot; rowspacing=&quot;4pt&quot;&gt;&lt;mtr&gt;&lt;mtd&gt;&lt;mn&gt;2.457&lt;/mn&gt;&lt;mtext&gt;&lt;/mtext&gt;&lt;mo&gt;=&lt;/mo&gt;&lt;mtext&gt;&lt;/mtext&gt;&lt;mn&gt;2&lt;/mn&gt;&lt;mo&gt;+&lt;/mo&gt;&lt;mn&gt;0.457&lt;/mn&gt;&lt;/mtd&gt;&lt;/mtr&gt;&lt;mtr&gt;&lt;mtd&gt;&lt;mn&gt;0.457&lt;/mn&gt;&lt;mtext&gt;&lt;/mtext&gt;&lt;mo&gt;=&lt;/mo&gt;&lt;mtext&gt;&lt;/mtext&gt;&lt;mfrac&gt;&lt;mn&gt;457&lt;/mn&gt;&lt;mn&gt;1000&lt;/mn&gt;&lt;/mfrac&gt;&lt;mo&gt;=&lt;/mo&gt;&lt;mfrac&gt;&lt;mn&gt;457&lt;/mn&gt;&lt;msup&gt;&lt;mn&gt;10&lt;/mn&gt;&lt;mn&gt;3&lt;/mn&gt;&lt;/msup&gt;&lt;/mfrac&gt;&lt;/mtd&gt;&lt;/mtr&gt;&lt;mtr&gt;&lt;mtd&gt;&lt;mn&gt;2.457&lt;/mn&gt;&lt;mtext&gt;&lt;/mtext&gt;&lt;mo&gt;=&lt;/mo&gt;&lt;mtext&gt;&lt;/mtext&gt;&lt;mn&gt;2&lt;/mn&gt;&lt;mfrac&gt;&lt;mn&gt;457&lt;/mn&gt;&lt;msup&gt;&lt;mn&gt;10&lt;/mn&gt;&lt;mn&gt;3&lt;/mn&gt;&lt;/msup&gt;&lt;/mfrac&gt;&lt;/mtd&gt;&lt;/mtr&gt;&lt;/mtable&gt;&lt;/math&gt;" id="1419" name="Google Shape;1419;p98" title="3 lines Line 1: 2.457 equals 2 plus 0.457 Line 2: 0.457 equals 457 over 1000 equals the fraction with numerator 457 and denominator 10 cubed Line 3: 2.457 equals 2 the fraction with numerator 457 and denominator 10 cubed"/>
          <p:cNvPicPr preferRelativeResize="0"/>
          <p:nvPr/>
        </p:nvPicPr>
        <p:blipFill rotWithShape="1">
          <a:blip r:embed="rId10">
            <a:alphaModFix/>
          </a:blip>
          <a:srcRect b="79361" l="0" r="0" t="0"/>
          <a:stretch/>
        </p:blipFill>
        <p:spPr>
          <a:xfrm>
            <a:off x="2952600" y="3242731"/>
            <a:ext cx="2780875" cy="33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.457\ =\ 2+0.457\\&amp;#13;&amp;#10;0.457\ =\ \frac{457}{1000}=\frac{457}{10^3}\\&amp;#13;&amp;#10;2.457\ =\ 2\frac{457}{10^3}\end{array}&quot;&gt;&lt;mtable columnalign=&quot;left&quot; columnspacing=&quot;1em&quot; rowspacing=&quot;4pt&quot;&gt;&lt;mtr&gt;&lt;mtd&gt;&lt;mn&gt;2.457&lt;/mn&gt;&lt;mtext&gt;&lt;/mtext&gt;&lt;mo&gt;=&lt;/mo&gt;&lt;mtext&gt;&lt;/mtext&gt;&lt;mn&gt;2&lt;/mn&gt;&lt;mo&gt;+&lt;/mo&gt;&lt;mn&gt;0.457&lt;/mn&gt;&lt;/mtd&gt;&lt;/mtr&gt;&lt;mtr&gt;&lt;mtd&gt;&lt;mn&gt;0.457&lt;/mn&gt;&lt;mtext&gt;&lt;/mtext&gt;&lt;mo&gt;=&lt;/mo&gt;&lt;mtext&gt;&lt;/mtext&gt;&lt;mfrac&gt;&lt;mn&gt;457&lt;/mn&gt;&lt;mn&gt;1000&lt;/mn&gt;&lt;/mfrac&gt;&lt;mo&gt;=&lt;/mo&gt;&lt;mfrac&gt;&lt;mn&gt;457&lt;/mn&gt;&lt;msup&gt;&lt;mn&gt;10&lt;/mn&gt;&lt;mn&gt;3&lt;/mn&gt;&lt;/msup&gt;&lt;/mfrac&gt;&lt;/mtd&gt;&lt;/mtr&gt;&lt;mtr&gt;&lt;mtd&gt;&lt;mn&gt;2.457&lt;/mn&gt;&lt;mtext&gt;&lt;/mtext&gt;&lt;mo&gt;=&lt;/mo&gt;&lt;mtext&gt;&lt;/mtext&gt;&lt;mn&gt;2&lt;/mn&gt;&lt;mfrac&gt;&lt;mn&gt;457&lt;/mn&gt;&lt;msup&gt;&lt;mn&gt;10&lt;/mn&gt;&lt;mn&gt;3&lt;/mn&gt;&lt;/msup&gt;&lt;/mfrac&gt;&lt;/mtd&gt;&lt;/mtr&gt;&lt;/mtable&gt;&lt;/math&gt;" id="1420" name="Google Shape;1420;p98" title="3 lines Line 1: 2.457 equals 2 plus 0.457 Line 2: 0.457 equals 457 over 1000 equals the fraction with numerator 457 and denominator 10 cubed Line 3: 2.457 equals 2 the fraction with numerator 457 and denominator 10 cubed"/>
          <p:cNvPicPr preferRelativeResize="0"/>
          <p:nvPr/>
        </p:nvPicPr>
        <p:blipFill rotWithShape="1">
          <a:blip r:embed="rId10">
            <a:alphaModFix/>
          </a:blip>
          <a:srcRect b="39259" l="0" r="0" t="22457"/>
          <a:stretch/>
        </p:blipFill>
        <p:spPr>
          <a:xfrm>
            <a:off x="2952625" y="3575431"/>
            <a:ext cx="27808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.457\ =\ 2+0.457\\&amp;#13;&amp;#10;0.457\ =\ \frac{457}{1000}=\frac{457}{10^3}\\&amp;#13;&amp;#10;2.457\ =\ 2\frac{457}{10^3}\end{array}&quot;&gt;&lt;mtable columnalign=&quot;left&quot; columnspacing=&quot;1em&quot; rowspacing=&quot;4pt&quot;&gt;&lt;mtr&gt;&lt;mtd&gt;&lt;mn&gt;2.457&lt;/mn&gt;&lt;mtext&gt;&lt;/mtext&gt;&lt;mo&gt;=&lt;/mo&gt;&lt;mtext&gt;&lt;/mtext&gt;&lt;mn&gt;2&lt;/mn&gt;&lt;mo&gt;+&lt;/mo&gt;&lt;mn&gt;0.457&lt;/mn&gt;&lt;/mtd&gt;&lt;/mtr&gt;&lt;mtr&gt;&lt;mtd&gt;&lt;mn&gt;0.457&lt;/mn&gt;&lt;mtext&gt;&lt;/mtext&gt;&lt;mo&gt;=&lt;/mo&gt;&lt;mtext&gt;&lt;/mtext&gt;&lt;mfrac&gt;&lt;mn&gt;457&lt;/mn&gt;&lt;mn&gt;1000&lt;/mn&gt;&lt;/mfrac&gt;&lt;mo&gt;=&lt;/mo&gt;&lt;mfrac&gt;&lt;mn&gt;457&lt;/mn&gt;&lt;msup&gt;&lt;mn&gt;10&lt;/mn&gt;&lt;mn&gt;3&lt;/mn&gt;&lt;/msup&gt;&lt;/mfrac&gt;&lt;/mtd&gt;&lt;/mtr&gt;&lt;mtr&gt;&lt;mtd&gt;&lt;mn&gt;2.457&lt;/mn&gt;&lt;mtext&gt;&lt;/mtext&gt;&lt;mo&gt;=&lt;/mo&gt;&lt;mtext&gt;&lt;/mtext&gt;&lt;mn&gt;2&lt;/mn&gt;&lt;mfrac&gt;&lt;mn&gt;457&lt;/mn&gt;&lt;msup&gt;&lt;mn&gt;10&lt;/mn&gt;&lt;mn&gt;3&lt;/mn&gt;&lt;/msup&gt;&lt;/mfrac&gt;&lt;/mtd&gt;&lt;/mtr&gt;&lt;/mtable&gt;&lt;/math&gt;" id="1421" name="Google Shape;1421;p98" title="3 lines Line 1: 2.457 equals 2 plus 0.457 Line 2: 0.457 equals 457 over 1000 equals the fraction with numerator 457 and denominator 10 cubed Line 3: 2.457 equals 2 the fraction with numerator 457 and denominator 10 cubed"/>
          <p:cNvPicPr preferRelativeResize="0"/>
          <p:nvPr/>
        </p:nvPicPr>
        <p:blipFill rotWithShape="1">
          <a:blip r:embed="rId10">
            <a:alphaModFix/>
          </a:blip>
          <a:srcRect b="-995" l="-1470" r="1470" t="62711"/>
          <a:stretch/>
        </p:blipFill>
        <p:spPr>
          <a:xfrm>
            <a:off x="2952625" y="4190881"/>
            <a:ext cx="278085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99"/>
          <p:cNvSpPr txBox="1"/>
          <p:nvPr/>
        </p:nvSpPr>
        <p:spPr>
          <a:xfrm>
            <a:off x="382025" y="810000"/>
            <a:ext cx="80433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Work out the power of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exponent.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99"/>
          <p:cNvSpPr txBox="1"/>
          <p:nvPr/>
        </p:nvSpPr>
        <p:spPr>
          <a:xfrm>
            <a:off x="454800" y="2447725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99"/>
          <p:cNvSpPr txBox="1"/>
          <p:nvPr/>
        </p:nvSpPr>
        <p:spPr>
          <a:xfrm>
            <a:off x="476451" y="3361050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1430" name="Google Shape;1430;p99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900" y="1534400"/>
            <a:ext cx="2802600" cy="24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99"/>
          <p:cNvSpPr/>
          <p:nvPr/>
        </p:nvSpPr>
        <p:spPr>
          <a:xfrm>
            <a:off x="3713750" y="1912300"/>
            <a:ext cx="188400" cy="21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99"/>
          <p:cNvSpPr/>
          <p:nvPr/>
        </p:nvSpPr>
        <p:spPr>
          <a:xfrm>
            <a:off x="3861100" y="2760350"/>
            <a:ext cx="188400" cy="21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99"/>
          <p:cNvSpPr/>
          <p:nvPr/>
        </p:nvSpPr>
        <p:spPr>
          <a:xfrm>
            <a:off x="3275400" y="3635850"/>
            <a:ext cx="188400" cy="21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9"/>
          <p:cNvSpPr txBox="1"/>
          <p:nvPr/>
        </p:nvSpPr>
        <p:spPr>
          <a:xfrm>
            <a:off x="430650" y="1620000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00"/>
          <p:cNvSpPr txBox="1"/>
          <p:nvPr/>
        </p:nvSpPr>
        <p:spPr>
          <a:xfrm>
            <a:off x="341493" y="810000"/>
            <a:ext cx="80433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Write the following decimals as a fraction where the denominator is in exponential form.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1441" name="Google Shape;1441;p100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3">
            <a:alphaModFix/>
          </a:blip>
          <a:srcRect b="0" l="0" r="47946" t="0"/>
          <a:stretch/>
        </p:blipFill>
        <p:spPr>
          <a:xfrm>
            <a:off x="953524" y="1967500"/>
            <a:ext cx="1445625" cy="24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100"/>
          <p:cNvSpPr txBox="1"/>
          <p:nvPr/>
        </p:nvSpPr>
        <p:spPr>
          <a:xfrm>
            <a:off x="336224" y="1967500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00"/>
          <p:cNvSpPr/>
          <p:nvPr/>
        </p:nvSpPr>
        <p:spPr>
          <a:xfrm>
            <a:off x="2018050" y="2979725"/>
            <a:ext cx="524700" cy="33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01"/>
          <p:cNvSpPr txBox="1"/>
          <p:nvPr/>
        </p:nvSpPr>
        <p:spPr>
          <a:xfrm>
            <a:off x="382025" y="810000"/>
            <a:ext cx="80433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Fill in the gaps.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01"/>
          <p:cNvSpPr txBox="1"/>
          <p:nvPr/>
        </p:nvSpPr>
        <p:spPr>
          <a:xfrm>
            <a:off x="4602150" y="1534400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01"/>
          <p:cNvSpPr txBox="1"/>
          <p:nvPr/>
        </p:nvSpPr>
        <p:spPr>
          <a:xfrm>
            <a:off x="461049" y="3411715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101"/>
          <p:cNvSpPr txBox="1"/>
          <p:nvPr/>
        </p:nvSpPr>
        <p:spPr>
          <a:xfrm>
            <a:off x="4602150" y="3361050"/>
            <a:ext cx="2083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453" name="Google Shape;1453;p101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75029" l="0" r="12503" t="0"/>
          <a:stretch/>
        </p:blipFill>
        <p:spPr>
          <a:xfrm>
            <a:off x="1011425" y="1604638"/>
            <a:ext cx="3099133" cy="62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454" name="Google Shape;1454;p101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51211" l="-1732" r="14235" t="23818"/>
          <a:stretch/>
        </p:blipFill>
        <p:spPr>
          <a:xfrm>
            <a:off x="5042300" y="1536050"/>
            <a:ext cx="3099133" cy="62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455" name="Google Shape;1455;p101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22329" l="-2960" r="9555" t="48063"/>
          <a:stretch/>
        </p:blipFill>
        <p:spPr>
          <a:xfrm>
            <a:off x="906700" y="3410088"/>
            <a:ext cx="3308575" cy="73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456" name="Google Shape;1456;p101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-4224" l="-3573" r="0" t="74618"/>
          <a:stretch/>
        </p:blipFill>
        <p:spPr>
          <a:xfrm>
            <a:off x="5130425" y="3410100"/>
            <a:ext cx="3668551" cy="7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01"/>
          <p:cNvSpPr/>
          <p:nvPr/>
        </p:nvSpPr>
        <p:spPr>
          <a:xfrm>
            <a:off x="3735150" y="1885550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01"/>
          <p:cNvSpPr/>
          <p:nvPr/>
        </p:nvSpPr>
        <p:spPr>
          <a:xfrm>
            <a:off x="3807299" y="1604650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01"/>
          <p:cNvSpPr/>
          <p:nvPr/>
        </p:nvSpPr>
        <p:spPr>
          <a:xfrm>
            <a:off x="2654000" y="1604650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01"/>
          <p:cNvSpPr/>
          <p:nvPr/>
        </p:nvSpPr>
        <p:spPr>
          <a:xfrm>
            <a:off x="939225" y="1659454"/>
            <a:ext cx="221100" cy="28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01"/>
          <p:cNvSpPr/>
          <p:nvPr/>
        </p:nvSpPr>
        <p:spPr>
          <a:xfrm>
            <a:off x="5087000" y="1654850"/>
            <a:ext cx="176400" cy="28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01"/>
          <p:cNvSpPr/>
          <p:nvPr/>
        </p:nvSpPr>
        <p:spPr>
          <a:xfrm>
            <a:off x="5347100" y="1654850"/>
            <a:ext cx="176400" cy="28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01"/>
          <p:cNvSpPr/>
          <p:nvPr/>
        </p:nvSpPr>
        <p:spPr>
          <a:xfrm>
            <a:off x="7901515" y="1885550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01"/>
          <p:cNvSpPr/>
          <p:nvPr/>
        </p:nvSpPr>
        <p:spPr>
          <a:xfrm>
            <a:off x="2127250" y="3535769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01"/>
          <p:cNvSpPr/>
          <p:nvPr/>
        </p:nvSpPr>
        <p:spPr>
          <a:xfrm>
            <a:off x="2051050" y="3825450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01"/>
          <p:cNvSpPr/>
          <p:nvPr/>
        </p:nvSpPr>
        <p:spPr>
          <a:xfrm>
            <a:off x="2211614" y="3825450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01"/>
          <p:cNvSpPr/>
          <p:nvPr/>
        </p:nvSpPr>
        <p:spPr>
          <a:xfrm>
            <a:off x="3992769" y="3795119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01"/>
          <p:cNvSpPr/>
          <p:nvPr/>
        </p:nvSpPr>
        <p:spPr>
          <a:xfrm>
            <a:off x="5250450" y="3568350"/>
            <a:ext cx="176400" cy="28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01"/>
          <p:cNvSpPr/>
          <p:nvPr/>
        </p:nvSpPr>
        <p:spPr>
          <a:xfrm>
            <a:off x="5500821" y="3568350"/>
            <a:ext cx="176400" cy="28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01"/>
          <p:cNvSpPr/>
          <p:nvPr/>
        </p:nvSpPr>
        <p:spPr>
          <a:xfrm>
            <a:off x="5663521" y="3568350"/>
            <a:ext cx="176400" cy="28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01"/>
          <p:cNvSpPr/>
          <p:nvPr/>
        </p:nvSpPr>
        <p:spPr>
          <a:xfrm>
            <a:off x="5839921" y="3568350"/>
            <a:ext cx="176400" cy="28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01"/>
          <p:cNvSpPr/>
          <p:nvPr/>
        </p:nvSpPr>
        <p:spPr>
          <a:xfrm>
            <a:off x="7443137" y="3520650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01"/>
          <p:cNvSpPr/>
          <p:nvPr/>
        </p:nvSpPr>
        <p:spPr>
          <a:xfrm>
            <a:off x="7579484" y="3526001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01"/>
          <p:cNvSpPr/>
          <p:nvPr/>
        </p:nvSpPr>
        <p:spPr>
          <a:xfrm>
            <a:off x="7711764" y="3526001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01"/>
          <p:cNvSpPr/>
          <p:nvPr/>
        </p:nvSpPr>
        <p:spPr>
          <a:xfrm>
            <a:off x="8384293" y="3526001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01"/>
          <p:cNvSpPr/>
          <p:nvPr/>
        </p:nvSpPr>
        <p:spPr>
          <a:xfrm>
            <a:off x="8520639" y="3526001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01"/>
          <p:cNvSpPr/>
          <p:nvPr/>
        </p:nvSpPr>
        <p:spPr>
          <a:xfrm>
            <a:off x="8652919" y="3526001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01"/>
          <p:cNvSpPr/>
          <p:nvPr/>
        </p:nvSpPr>
        <p:spPr>
          <a:xfrm>
            <a:off x="8667688" y="3804046"/>
            <a:ext cx="132900" cy="1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01"/>
          <p:cNvSpPr txBox="1"/>
          <p:nvPr/>
        </p:nvSpPr>
        <p:spPr>
          <a:xfrm>
            <a:off x="430650" y="1533667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02"/>
          <p:cNvSpPr txBox="1"/>
          <p:nvPr/>
        </p:nvSpPr>
        <p:spPr>
          <a:xfrm>
            <a:off x="382025" y="810000"/>
            <a:ext cx="80433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Work out the power of the exponent.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02"/>
          <p:cNvSpPr txBox="1"/>
          <p:nvPr/>
        </p:nvSpPr>
        <p:spPr>
          <a:xfrm>
            <a:off x="454800" y="2447725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02"/>
          <p:cNvSpPr txBox="1"/>
          <p:nvPr/>
        </p:nvSpPr>
        <p:spPr>
          <a:xfrm>
            <a:off x="476451" y="3361050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1488" name="Google Shape;1488;p10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33858" l="0" r="47440" t="0"/>
          <a:stretch/>
        </p:blipFill>
        <p:spPr>
          <a:xfrm>
            <a:off x="1246900" y="1534400"/>
            <a:ext cx="1473000" cy="159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1489" name="Google Shape;1489;p10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67714" l="51155" r="0" t="0"/>
          <a:stretch/>
        </p:blipFill>
        <p:spPr>
          <a:xfrm>
            <a:off x="2511850" y="1534400"/>
            <a:ext cx="1368900" cy="77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1490" name="Google Shape;1490;p10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33857" l="54974" r="-3819" t="33857"/>
          <a:stretch/>
        </p:blipFill>
        <p:spPr>
          <a:xfrm>
            <a:off x="2719900" y="2351563"/>
            <a:ext cx="1368900" cy="77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1491" name="Google Shape;1491;p10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-3636" l="39197" r="10310" t="68399"/>
          <a:stretch/>
        </p:blipFill>
        <p:spPr>
          <a:xfrm>
            <a:off x="2310121" y="3168750"/>
            <a:ext cx="1415050" cy="85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102"/>
          <p:cNvSpPr txBox="1"/>
          <p:nvPr/>
        </p:nvSpPr>
        <p:spPr>
          <a:xfrm>
            <a:off x="430650" y="1569335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1493" name="Google Shape;1493;p10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0" l="0" r="62062" t="69368"/>
          <a:stretch/>
        </p:blipFill>
        <p:spPr>
          <a:xfrm>
            <a:off x="1246900" y="3208650"/>
            <a:ext cx="1063225" cy="7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03"/>
          <p:cNvSpPr txBox="1"/>
          <p:nvPr/>
        </p:nvSpPr>
        <p:spPr>
          <a:xfrm>
            <a:off x="341493" y="810000"/>
            <a:ext cx="80433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the following decimals as a fraction where the denominator is in exponential form.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1500" name="Google Shape;1500;p103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3">
            <a:alphaModFix/>
          </a:blip>
          <a:srcRect b="71807" l="0" r="47946" t="0"/>
          <a:stretch/>
        </p:blipFill>
        <p:spPr>
          <a:xfrm>
            <a:off x="953525" y="1967500"/>
            <a:ext cx="1445625" cy="67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1501" name="Google Shape;1501;p103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3">
            <a:alphaModFix/>
          </a:blip>
          <a:srcRect b="70267" l="50642" r="-2696" t="-2890"/>
          <a:stretch/>
        </p:blipFill>
        <p:spPr>
          <a:xfrm>
            <a:off x="2593550" y="1967500"/>
            <a:ext cx="1445625" cy="78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1502" name="Google Shape;1502;p103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3">
            <a:alphaModFix/>
          </a:blip>
          <a:srcRect b="29565" l="38196" r="-2696" t="33688"/>
          <a:stretch/>
        </p:blipFill>
        <p:spPr>
          <a:xfrm>
            <a:off x="2053450" y="2797950"/>
            <a:ext cx="1791325" cy="88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1503" name="Google Shape;1503;p103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3">
            <a:alphaModFix/>
          </a:blip>
          <a:srcRect b="-2223" l="59341" r="-11394" t="65477"/>
          <a:stretch/>
        </p:blipFill>
        <p:spPr>
          <a:xfrm>
            <a:off x="2465125" y="3489400"/>
            <a:ext cx="1445625" cy="8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103"/>
          <p:cNvSpPr txBox="1"/>
          <p:nvPr/>
        </p:nvSpPr>
        <p:spPr>
          <a:xfrm>
            <a:off x="336224" y="1967500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1505" name="Google Shape;1505;p103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3">
            <a:alphaModFix/>
          </a:blip>
          <a:srcRect b="32810" l="0" r="62034" t="30443"/>
          <a:stretch/>
        </p:blipFill>
        <p:spPr>
          <a:xfrm>
            <a:off x="953525" y="2700000"/>
            <a:ext cx="1054375" cy="88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1506" name="Google Shape;1506;p103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3">
            <a:alphaModFix/>
          </a:blip>
          <a:srcRect b="0" l="0" r="47946" t="63254"/>
          <a:stretch/>
        </p:blipFill>
        <p:spPr>
          <a:xfrm>
            <a:off x="877325" y="3489400"/>
            <a:ext cx="1445625" cy="8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the denominator in exponential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104"/>
          <p:cNvSpPr txBox="1"/>
          <p:nvPr/>
        </p:nvSpPr>
        <p:spPr>
          <a:xfrm>
            <a:off x="382025" y="810000"/>
            <a:ext cx="80433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Fill in the gaps.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04"/>
          <p:cNvSpPr txBox="1"/>
          <p:nvPr/>
        </p:nvSpPr>
        <p:spPr>
          <a:xfrm>
            <a:off x="4602150" y="1534400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104"/>
          <p:cNvSpPr txBox="1"/>
          <p:nvPr/>
        </p:nvSpPr>
        <p:spPr>
          <a:xfrm>
            <a:off x="506850" y="3447383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04"/>
          <p:cNvSpPr txBox="1"/>
          <p:nvPr/>
        </p:nvSpPr>
        <p:spPr>
          <a:xfrm>
            <a:off x="4602150" y="3361050"/>
            <a:ext cx="2083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516" name="Google Shape;1516;p104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75029" l="0" r="12503" t="0"/>
          <a:stretch/>
        </p:blipFill>
        <p:spPr>
          <a:xfrm>
            <a:off x="1011425" y="1604638"/>
            <a:ext cx="3099133" cy="62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517" name="Google Shape;1517;p104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51211" l="-1732" r="14235" t="23818"/>
          <a:stretch/>
        </p:blipFill>
        <p:spPr>
          <a:xfrm>
            <a:off x="5042300" y="1536050"/>
            <a:ext cx="3099133" cy="62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518" name="Google Shape;1518;p104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22329" l="-2960" r="9555" t="48063"/>
          <a:stretch/>
        </p:blipFill>
        <p:spPr>
          <a:xfrm>
            <a:off x="906700" y="3410088"/>
            <a:ext cx="3308575" cy="73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1519" name="Google Shape;1519;p104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-4224" l="-3573" r="0" t="74618"/>
          <a:stretch/>
        </p:blipFill>
        <p:spPr>
          <a:xfrm>
            <a:off x="5130425" y="3410100"/>
            <a:ext cx="3668551" cy="73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0" name="Google Shape;1520;p104"/>
          <p:cNvGrpSpPr/>
          <p:nvPr/>
        </p:nvGrpSpPr>
        <p:grpSpPr>
          <a:xfrm>
            <a:off x="939225" y="1604650"/>
            <a:ext cx="3000974" cy="449500"/>
            <a:chOff x="939225" y="1604650"/>
            <a:chExt cx="3000974" cy="449500"/>
          </a:xfrm>
        </p:grpSpPr>
        <p:sp>
          <p:nvSpPr>
            <p:cNvPr id="1521" name="Google Shape;1521;p104"/>
            <p:cNvSpPr/>
            <p:nvPr/>
          </p:nvSpPr>
          <p:spPr>
            <a:xfrm>
              <a:off x="3735150" y="1885550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2" name="Google Shape;1522;p104"/>
            <p:cNvSpPr/>
            <p:nvPr/>
          </p:nvSpPr>
          <p:spPr>
            <a:xfrm>
              <a:off x="3807299" y="1604650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3" name="Google Shape;1523;p104"/>
            <p:cNvSpPr/>
            <p:nvPr/>
          </p:nvSpPr>
          <p:spPr>
            <a:xfrm>
              <a:off x="2654000" y="1604650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104"/>
            <p:cNvSpPr/>
            <p:nvPr/>
          </p:nvSpPr>
          <p:spPr>
            <a:xfrm>
              <a:off x="939225" y="1659454"/>
              <a:ext cx="221100" cy="280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5" name="Google Shape;1525;p104"/>
          <p:cNvGrpSpPr/>
          <p:nvPr/>
        </p:nvGrpSpPr>
        <p:grpSpPr>
          <a:xfrm>
            <a:off x="5087000" y="1654850"/>
            <a:ext cx="2947415" cy="399300"/>
            <a:chOff x="5087000" y="1654850"/>
            <a:chExt cx="2947415" cy="399300"/>
          </a:xfrm>
        </p:grpSpPr>
        <p:sp>
          <p:nvSpPr>
            <p:cNvPr id="1526" name="Google Shape;1526;p104"/>
            <p:cNvSpPr/>
            <p:nvPr/>
          </p:nvSpPr>
          <p:spPr>
            <a:xfrm>
              <a:off x="5087000" y="1654850"/>
              <a:ext cx="176400" cy="280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7" name="Google Shape;1527;p104"/>
            <p:cNvSpPr/>
            <p:nvPr/>
          </p:nvSpPr>
          <p:spPr>
            <a:xfrm>
              <a:off x="5347100" y="1654850"/>
              <a:ext cx="176400" cy="280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104"/>
            <p:cNvSpPr/>
            <p:nvPr/>
          </p:nvSpPr>
          <p:spPr>
            <a:xfrm>
              <a:off x="7901515" y="1885550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9" name="Google Shape;1529;p104"/>
          <p:cNvGrpSpPr/>
          <p:nvPr/>
        </p:nvGrpSpPr>
        <p:grpSpPr>
          <a:xfrm>
            <a:off x="2051050" y="3535769"/>
            <a:ext cx="2074619" cy="458281"/>
            <a:chOff x="2051050" y="3535769"/>
            <a:chExt cx="2074619" cy="458281"/>
          </a:xfrm>
        </p:grpSpPr>
        <p:sp>
          <p:nvSpPr>
            <p:cNvPr id="1530" name="Google Shape;1530;p104"/>
            <p:cNvSpPr/>
            <p:nvPr/>
          </p:nvSpPr>
          <p:spPr>
            <a:xfrm>
              <a:off x="2127250" y="3535769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104"/>
            <p:cNvSpPr/>
            <p:nvPr/>
          </p:nvSpPr>
          <p:spPr>
            <a:xfrm>
              <a:off x="2051050" y="3825450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2" name="Google Shape;1532;p104"/>
            <p:cNvSpPr/>
            <p:nvPr/>
          </p:nvSpPr>
          <p:spPr>
            <a:xfrm>
              <a:off x="2211614" y="3825450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3" name="Google Shape;1533;p104"/>
            <p:cNvSpPr/>
            <p:nvPr/>
          </p:nvSpPr>
          <p:spPr>
            <a:xfrm>
              <a:off x="3992769" y="3795119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4" name="Google Shape;1534;p104"/>
          <p:cNvGrpSpPr/>
          <p:nvPr/>
        </p:nvGrpSpPr>
        <p:grpSpPr>
          <a:xfrm>
            <a:off x="5250450" y="3520650"/>
            <a:ext cx="3550138" cy="451996"/>
            <a:chOff x="5250450" y="3520650"/>
            <a:chExt cx="3550138" cy="451996"/>
          </a:xfrm>
        </p:grpSpPr>
        <p:sp>
          <p:nvSpPr>
            <p:cNvPr id="1535" name="Google Shape;1535;p104"/>
            <p:cNvSpPr/>
            <p:nvPr/>
          </p:nvSpPr>
          <p:spPr>
            <a:xfrm>
              <a:off x="5250450" y="3568350"/>
              <a:ext cx="176400" cy="280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104"/>
            <p:cNvSpPr/>
            <p:nvPr/>
          </p:nvSpPr>
          <p:spPr>
            <a:xfrm>
              <a:off x="5500821" y="3568350"/>
              <a:ext cx="176400" cy="280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104"/>
            <p:cNvSpPr/>
            <p:nvPr/>
          </p:nvSpPr>
          <p:spPr>
            <a:xfrm>
              <a:off x="5663521" y="3568350"/>
              <a:ext cx="176400" cy="280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8" name="Google Shape;1538;p104"/>
            <p:cNvSpPr/>
            <p:nvPr/>
          </p:nvSpPr>
          <p:spPr>
            <a:xfrm>
              <a:off x="5839921" y="3568350"/>
              <a:ext cx="176400" cy="280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104"/>
            <p:cNvSpPr/>
            <p:nvPr/>
          </p:nvSpPr>
          <p:spPr>
            <a:xfrm>
              <a:off x="7443137" y="3520650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0" name="Google Shape;1540;p104"/>
            <p:cNvSpPr/>
            <p:nvPr/>
          </p:nvSpPr>
          <p:spPr>
            <a:xfrm>
              <a:off x="7579484" y="3526001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1" name="Google Shape;1541;p104"/>
            <p:cNvSpPr/>
            <p:nvPr/>
          </p:nvSpPr>
          <p:spPr>
            <a:xfrm>
              <a:off x="7711764" y="3526001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2" name="Google Shape;1542;p104"/>
            <p:cNvSpPr/>
            <p:nvPr/>
          </p:nvSpPr>
          <p:spPr>
            <a:xfrm>
              <a:off x="8384293" y="3526001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3" name="Google Shape;1543;p104"/>
            <p:cNvSpPr/>
            <p:nvPr/>
          </p:nvSpPr>
          <p:spPr>
            <a:xfrm>
              <a:off x="8520639" y="3526001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4" name="Google Shape;1544;p104"/>
            <p:cNvSpPr/>
            <p:nvPr/>
          </p:nvSpPr>
          <p:spPr>
            <a:xfrm>
              <a:off x="8652919" y="3526001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5" name="Google Shape;1545;p104"/>
            <p:cNvSpPr/>
            <p:nvPr/>
          </p:nvSpPr>
          <p:spPr>
            <a:xfrm>
              <a:off x="8667688" y="3804046"/>
              <a:ext cx="132900" cy="16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6" name="Google Shape;1546;p104"/>
          <p:cNvSpPr txBox="1"/>
          <p:nvPr/>
        </p:nvSpPr>
        <p:spPr>
          <a:xfrm>
            <a:off x="430650" y="1533667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sp>
        <p:nvSpPr>
          <p:cNvPr id="1552" name="Google Shape;1552;p105"/>
          <p:cNvSpPr txBox="1"/>
          <p:nvPr/>
        </p:nvSpPr>
        <p:spPr>
          <a:xfrm>
            <a:off x="353561" y="917450"/>
            <a:ext cx="7822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terminating decimal is one that has a finite number of digits after the decimal point.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105"/>
          <p:cNvSpPr txBox="1"/>
          <p:nvPr/>
        </p:nvSpPr>
        <p:spPr>
          <a:xfrm>
            <a:off x="353561" y="1946425"/>
            <a:ext cx="83712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 terminating decimal can be written as a fraction with a power of 10 denominator. This can be seen from the place value chart.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05"/>
          <p:cNvSpPr txBox="1"/>
          <p:nvPr/>
        </p:nvSpPr>
        <p:spPr>
          <a:xfrm>
            <a:off x="353561" y="3230325"/>
            <a:ext cx="82524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Given terminating decimals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have a finite number of digits after the decimal point, we can use a place value chart to help us identify the decimal as a fraction.</a:t>
            </a:r>
            <a:endParaRPr sz="2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60" name="Google Shape;1560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