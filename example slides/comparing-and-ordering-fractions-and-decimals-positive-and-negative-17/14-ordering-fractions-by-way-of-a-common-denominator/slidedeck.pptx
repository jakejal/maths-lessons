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636ae20a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636ae20a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96a1378ee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96a1378ee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96a1378ee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96a1378ee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96a1378ee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96a1378ee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97901214c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97901214c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97901214c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97901214c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97901214c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97901214c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981d2181c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981d2181c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983eb102f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983eb102f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97901214cc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97901214c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97901214c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97901214c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96a1378ee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296a1378ee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296a1378ee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296a1378ee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96a1378ee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96a1378ee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96a1378ee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96a1378ee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97901214cc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97901214cc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989b68659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989b68659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989b68659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989b68659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989b68659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989b68659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9b195134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9b195134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296a1378ee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296a1378ee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296a1378ee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296a1378ee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296a1378ee3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296a1378ee3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9df9273b0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9df9273b0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29df9273b0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29df9273b0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296a1378ee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296a1378ee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29df9273b0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29df9273b0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296a1378ee3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296a1378ee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2981d2181cf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2981d2181cf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981d2181cf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981d2181cf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34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116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Relationship Id="rId7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16.png"/><Relationship Id="rId4" Type="http://schemas.openxmlformats.org/officeDocument/2006/relationships/image" Target="../media/image23.png"/><Relationship Id="rId9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16.png"/><Relationship Id="rId4" Type="http://schemas.openxmlformats.org/officeDocument/2006/relationships/image" Target="../media/image28.png"/><Relationship Id="rId11" Type="http://schemas.openxmlformats.org/officeDocument/2006/relationships/image" Target="../media/image14.png"/><Relationship Id="rId10" Type="http://schemas.openxmlformats.org/officeDocument/2006/relationships/image" Target="../media/image36.png"/><Relationship Id="rId9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3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46.png"/><Relationship Id="rId5" Type="http://schemas.openxmlformats.org/officeDocument/2006/relationships/image" Target="../media/image62.png"/><Relationship Id="rId6" Type="http://schemas.openxmlformats.org/officeDocument/2006/relationships/image" Target="../media/image51.png"/><Relationship Id="rId7" Type="http://schemas.openxmlformats.org/officeDocument/2006/relationships/image" Target="../media/image50.png"/><Relationship Id="rId8" Type="http://schemas.openxmlformats.org/officeDocument/2006/relationships/image" Target="../media/image5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9" Type="http://schemas.openxmlformats.org/officeDocument/2006/relationships/image" Target="../media/image59.png"/><Relationship Id="rId5" Type="http://schemas.openxmlformats.org/officeDocument/2006/relationships/image" Target="../media/image54.png"/><Relationship Id="rId6" Type="http://schemas.openxmlformats.org/officeDocument/2006/relationships/image" Target="../media/image56.png"/><Relationship Id="rId7" Type="http://schemas.openxmlformats.org/officeDocument/2006/relationships/image" Target="../media/image61.png"/><Relationship Id="rId8" Type="http://schemas.openxmlformats.org/officeDocument/2006/relationships/image" Target="../media/image60.png"/><Relationship Id="rId11" Type="http://schemas.openxmlformats.org/officeDocument/2006/relationships/image" Target="../media/image64.png"/><Relationship Id="rId10" Type="http://schemas.openxmlformats.org/officeDocument/2006/relationships/image" Target="../media/image6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5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5" Type="http://schemas.openxmlformats.org/officeDocument/2006/relationships/image" Target="../media/image73.png"/><Relationship Id="rId6" Type="http://schemas.openxmlformats.org/officeDocument/2006/relationships/image" Target="../media/image72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10" Type="http://schemas.openxmlformats.org/officeDocument/2006/relationships/image" Target="../media/image7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7.png"/><Relationship Id="rId4" Type="http://schemas.openxmlformats.org/officeDocument/2006/relationships/image" Target="../media/image79.png"/><Relationship Id="rId5" Type="http://schemas.openxmlformats.org/officeDocument/2006/relationships/image" Target="../media/image82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5" Type="http://schemas.openxmlformats.org/officeDocument/2006/relationships/image" Target="../media/image73.png"/><Relationship Id="rId6" Type="http://schemas.openxmlformats.org/officeDocument/2006/relationships/image" Target="../media/image72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10" Type="http://schemas.openxmlformats.org/officeDocument/2006/relationships/image" Target="../media/image7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7.png"/><Relationship Id="rId4" Type="http://schemas.openxmlformats.org/officeDocument/2006/relationships/image" Target="../media/image79.png"/><Relationship Id="rId5" Type="http://schemas.openxmlformats.org/officeDocument/2006/relationships/image" Target="../media/image82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4.png"/><Relationship Id="rId4" Type="http://schemas.openxmlformats.org/officeDocument/2006/relationships/image" Target="../media/image8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6.png"/><Relationship Id="rId4" Type="http://schemas.openxmlformats.org/officeDocument/2006/relationships/image" Target="../media/image62.png"/><Relationship Id="rId5" Type="http://schemas.openxmlformats.org/officeDocument/2006/relationships/image" Target="../media/image50.png"/><Relationship Id="rId6" Type="http://schemas.openxmlformats.org/officeDocument/2006/relationships/image" Target="../media/image8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6.png"/><Relationship Id="rId4" Type="http://schemas.openxmlformats.org/officeDocument/2006/relationships/image" Target="../media/image62.png"/><Relationship Id="rId5" Type="http://schemas.openxmlformats.org/officeDocument/2006/relationships/image" Target="../media/image50.png"/><Relationship Id="rId6" Type="http://schemas.openxmlformats.org/officeDocument/2006/relationships/image" Target="../media/image8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Relationship Id="rId4" Type="http://schemas.openxmlformats.org/officeDocument/2006/relationships/image" Target="../media/image62.png"/><Relationship Id="rId5" Type="http://schemas.openxmlformats.org/officeDocument/2006/relationships/image" Target="../media/image87.png"/><Relationship Id="rId6" Type="http://schemas.openxmlformats.org/officeDocument/2006/relationships/image" Target="../media/image89.png"/><Relationship Id="rId7" Type="http://schemas.openxmlformats.org/officeDocument/2006/relationships/image" Target="../media/image50.png"/><Relationship Id="rId8" Type="http://schemas.openxmlformats.org/officeDocument/2006/relationships/image" Target="../media/image8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9" Type="http://schemas.openxmlformats.org/officeDocument/2006/relationships/image" Target="../media/image95.png"/><Relationship Id="rId5" Type="http://schemas.openxmlformats.org/officeDocument/2006/relationships/image" Target="../media/image92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10" Type="http://schemas.openxmlformats.org/officeDocument/2006/relationships/image" Target="../media/image9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9.png"/><Relationship Id="rId4" Type="http://schemas.openxmlformats.org/officeDocument/2006/relationships/image" Target="../media/image94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9" Type="http://schemas.openxmlformats.org/officeDocument/2006/relationships/image" Target="../media/image93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95.png"/><Relationship Id="rId10" Type="http://schemas.openxmlformats.org/officeDocument/2006/relationships/image" Target="../media/image9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3.png"/><Relationship Id="rId4" Type="http://schemas.openxmlformats.org/officeDocument/2006/relationships/image" Target="../media/image99.png"/><Relationship Id="rId5" Type="http://schemas.openxmlformats.org/officeDocument/2006/relationships/image" Target="../media/image94.png"/><Relationship Id="rId6" Type="http://schemas.openxmlformats.org/officeDocument/2006/relationships/image" Target="../media/image100.png"/><Relationship Id="rId7" Type="http://schemas.openxmlformats.org/officeDocument/2006/relationships/image" Target="../media/image10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0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5" Type="http://schemas.openxmlformats.org/officeDocument/2006/relationships/image" Target="../media/image46.png"/><Relationship Id="rId6" Type="http://schemas.openxmlformats.org/officeDocument/2006/relationships/image" Target="../media/image62.png"/><Relationship Id="rId7" Type="http://schemas.openxmlformats.org/officeDocument/2006/relationships/image" Target="../media/image104.png"/><Relationship Id="rId8" Type="http://schemas.openxmlformats.org/officeDocument/2006/relationships/image" Target="../media/image107.png"/><Relationship Id="rId11" Type="http://schemas.openxmlformats.org/officeDocument/2006/relationships/image" Target="../media/image108.png"/><Relationship Id="rId10" Type="http://schemas.openxmlformats.org/officeDocument/2006/relationships/image" Target="../media/image109.png"/><Relationship Id="rId12" Type="http://schemas.openxmlformats.org/officeDocument/2006/relationships/image" Target="../media/image10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9.png"/><Relationship Id="rId4" Type="http://schemas.openxmlformats.org/officeDocument/2006/relationships/image" Target="../media/image106.png"/><Relationship Id="rId5" Type="http://schemas.openxmlformats.org/officeDocument/2006/relationships/image" Target="../media/image105.png"/><Relationship Id="rId6" Type="http://schemas.openxmlformats.org/officeDocument/2006/relationships/image" Target="../media/image10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9.png"/><Relationship Id="rId4" Type="http://schemas.openxmlformats.org/officeDocument/2006/relationships/image" Target="../media/image106.png"/><Relationship Id="rId5" Type="http://schemas.openxmlformats.org/officeDocument/2006/relationships/image" Target="../media/image105.png"/><Relationship Id="rId6" Type="http://schemas.openxmlformats.org/officeDocument/2006/relationships/image" Target="../media/image10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9.png"/><Relationship Id="rId4" Type="http://schemas.openxmlformats.org/officeDocument/2006/relationships/image" Target="../media/image106.png"/><Relationship Id="rId5" Type="http://schemas.openxmlformats.org/officeDocument/2006/relationships/image" Target="../media/image105.png"/><Relationship Id="rId6" Type="http://schemas.openxmlformats.org/officeDocument/2006/relationships/image" Target="../media/image10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3.png"/><Relationship Id="rId4" Type="http://schemas.openxmlformats.org/officeDocument/2006/relationships/image" Target="../media/image111.png"/><Relationship Id="rId5" Type="http://schemas.openxmlformats.org/officeDocument/2006/relationships/image" Target="../media/image115.png"/><Relationship Id="rId6" Type="http://schemas.openxmlformats.org/officeDocument/2006/relationships/image" Target="../media/image1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3.png"/><Relationship Id="rId4" Type="http://schemas.openxmlformats.org/officeDocument/2006/relationships/image" Target="../media/image111.png"/><Relationship Id="rId5" Type="http://schemas.openxmlformats.org/officeDocument/2006/relationships/image" Target="../media/image115.png"/><Relationship Id="rId6" Type="http://schemas.openxmlformats.org/officeDocument/2006/relationships/image" Target="../media/image1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4.png"/><Relationship Id="rId4" Type="http://schemas.openxmlformats.org/officeDocument/2006/relationships/image" Target="../media/image120.png"/><Relationship Id="rId5" Type="http://schemas.openxmlformats.org/officeDocument/2006/relationships/image" Target="../media/image117.png"/><Relationship Id="rId6" Type="http://schemas.openxmlformats.org/officeDocument/2006/relationships/image" Target="../media/image1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3.png"/><Relationship Id="rId4" Type="http://schemas.openxmlformats.org/officeDocument/2006/relationships/image" Target="../media/image119.png"/><Relationship Id="rId5" Type="http://schemas.openxmlformats.org/officeDocument/2006/relationships/image" Target="../media/image126.png"/><Relationship Id="rId6" Type="http://schemas.openxmlformats.org/officeDocument/2006/relationships/image" Target="../media/image1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Relationship Id="rId5" Type="http://schemas.openxmlformats.org/officeDocument/2006/relationships/image" Target="../media/image126.png"/><Relationship Id="rId6" Type="http://schemas.openxmlformats.org/officeDocument/2006/relationships/image" Target="../media/image118.png"/><Relationship Id="rId7" Type="http://schemas.openxmlformats.org/officeDocument/2006/relationships/image" Target="../media/image124.png"/><Relationship Id="rId8" Type="http://schemas.openxmlformats.org/officeDocument/2006/relationships/image" Target="../media/image127.png"/><Relationship Id="rId10" Type="http://schemas.openxmlformats.org/officeDocument/2006/relationships/image" Target="../media/image11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way of a common denominator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compare and order fractions by converting to fractions with a common denominator.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Denominator − </a:t>
            </a:r>
            <a:r>
              <a:rPr lang="en-GB"/>
              <a:t>The expression in a fraction that is written below the fraction line. It is the divisor.</a:t>
            </a:r>
            <a:endParaRPr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Numerator − </a:t>
            </a:r>
            <a:r>
              <a:rPr lang="en-GB"/>
              <a:t>The expression in a fraction that is written above the fraction line. It is the dividend. </a:t>
            </a:r>
            <a:endParaRPr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1" y="40172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lowest common multiple is the lowest number that is a multiple of two or more numbers.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769" name="Google Shape;769;p67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0800" y="2870025"/>
            <a:ext cx="292900" cy="969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0" name="Google Shape;770;p67"/>
          <p:cNvCxnSpPr/>
          <p:nvPr/>
        </p:nvCxnSpPr>
        <p:spPr>
          <a:xfrm flipH="1">
            <a:off x="6331075" y="2908400"/>
            <a:ext cx="605100" cy="1560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1" name="Google Shape;771;p67"/>
          <p:cNvCxnSpPr/>
          <p:nvPr/>
        </p:nvCxnSpPr>
        <p:spPr>
          <a:xfrm rot="10800000">
            <a:off x="6330950" y="3668525"/>
            <a:ext cx="614400" cy="1659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2" name="Google Shape;772;p67"/>
          <p:cNvSpPr txBox="1"/>
          <p:nvPr/>
        </p:nvSpPr>
        <p:spPr>
          <a:xfrm>
            <a:off x="6915600" y="2633950"/>
            <a:ext cx="177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numerator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67"/>
          <p:cNvSpPr txBox="1"/>
          <p:nvPr/>
        </p:nvSpPr>
        <p:spPr>
          <a:xfrm>
            <a:off x="6940200" y="3535717"/>
            <a:ext cx="219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denominator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 writing equivalent fractions</a:t>
            </a:r>
            <a:endParaRPr/>
          </a:p>
        </p:txBody>
      </p:sp>
      <p:sp>
        <p:nvSpPr>
          <p:cNvPr id="779" name="Google Shape;779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fractions </a:t>
            </a:r>
            <a:endParaRPr/>
          </a:p>
        </p:txBody>
      </p:sp>
      <p:sp>
        <p:nvSpPr>
          <p:cNvPr id="780" name="Google Shape;780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fractions using equivalent fractions</a:t>
            </a:r>
            <a:endParaRPr/>
          </a:p>
        </p:txBody>
      </p:sp>
      <p:sp>
        <p:nvSpPr>
          <p:cNvPr id="781" name="Google Shape;781;p68"/>
          <p:cNvSpPr txBox="1"/>
          <p:nvPr>
            <p:ph idx="4" type="title"/>
          </p:nvPr>
        </p:nvSpPr>
        <p:spPr>
          <a:xfrm>
            <a:off x="324000" y="657600"/>
            <a:ext cx="66921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way of a common denominator</a:t>
            </a:r>
            <a:endParaRPr/>
          </a:p>
        </p:txBody>
      </p:sp>
      <p:pic>
        <p:nvPicPr>
          <p:cNvPr id="782" name="Google Shape;78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175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 writing equivalent fractions</a:t>
            </a:r>
            <a:endParaRPr sz="2200"/>
          </a:p>
        </p:txBody>
      </p:sp>
      <p:sp>
        <p:nvSpPr>
          <p:cNvPr id="788" name="Google Shape;788;p69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are familiar with simplifying fractions using the </a:t>
            </a:r>
            <a:r>
              <a:rPr lang="en-GB">
                <a:solidFill>
                  <a:schemeClr val="accent4"/>
                </a:solidFill>
              </a:rPr>
              <a:t>highest common factor</a:t>
            </a:r>
            <a:r>
              <a:rPr lang="en-GB"/>
              <a:t>.</a:t>
            </a:r>
            <a:endParaRPr/>
          </a:p>
        </p:txBody>
      </p:sp>
      <p:sp>
        <p:nvSpPr>
          <p:cNvPr id="789" name="Google Shape;789;p69"/>
          <p:cNvSpPr txBox="1"/>
          <p:nvPr>
            <p:ph idx="1" type="body"/>
          </p:nvPr>
        </p:nvSpPr>
        <p:spPr>
          <a:xfrm>
            <a:off x="324000" y="2263970"/>
            <a:ext cx="8237700" cy="210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also create </a:t>
            </a:r>
            <a:r>
              <a:rPr lang="en-GB">
                <a:solidFill>
                  <a:schemeClr val="accent4"/>
                </a:solidFill>
              </a:rPr>
              <a:t>equivalent</a:t>
            </a:r>
            <a:r>
              <a:rPr lang="en-GB"/>
              <a:t> fractions using factors.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most useful purpose for this is to create fractions which share a </a:t>
            </a:r>
            <a:r>
              <a:rPr lang="en-GB">
                <a:solidFill>
                  <a:schemeClr val="accent4"/>
                </a:solidFill>
              </a:rPr>
              <a:t>common denominator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4" name="Google Shape;79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800" y="614075"/>
            <a:ext cx="609765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 writing equivalent fractions</a:t>
            </a:r>
            <a:endParaRPr sz="2200"/>
          </a:p>
        </p:txBody>
      </p:sp>
      <p:pic>
        <p:nvPicPr>
          <p:cNvPr id="796" name="Google Shape;79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6250" y="3498075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200" y="33574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70"/>
          <p:cNvSpPr txBox="1"/>
          <p:nvPr/>
        </p:nvSpPr>
        <p:spPr>
          <a:xfrm>
            <a:off x="44175" y="440207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70"/>
          <p:cNvSpPr txBox="1"/>
          <p:nvPr/>
        </p:nvSpPr>
        <p:spPr>
          <a:xfrm>
            <a:off x="7234528" y="44020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70"/>
          <p:cNvSpPr txBox="1"/>
          <p:nvPr>
            <p:ph idx="1" type="body"/>
          </p:nvPr>
        </p:nvSpPr>
        <p:spPr>
          <a:xfrm>
            <a:off x="325800" y="1266450"/>
            <a:ext cx="7664100" cy="8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do you think?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could they check using factor pairs?</a:t>
            </a:r>
            <a:r>
              <a:rPr lang="en-GB" sz="2000"/>
              <a:t>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3}{8}=\frac{3\times7}{8\times6}=\frac{21}{48}&quot;&gt;&lt;mfrac&gt;&lt;mn&gt;3&lt;/mn&gt;&lt;mn&gt;8&lt;/mn&gt;&lt;/mfrac&gt;&lt;mo&gt;=&lt;/mo&gt;&lt;mfrac&gt;&lt;mrow&gt;&lt;mn&gt;3&lt;/mn&gt;&lt;mo&gt;×&lt;/mo&gt;&lt;mn&gt;7&lt;/mn&gt;&lt;/mrow&gt;&lt;mrow&gt;&lt;mn&gt;8&lt;/mn&gt;&lt;mo&gt;×&lt;/mo&gt;&lt;mn&gt;6&lt;/mn&gt;&lt;/mrow&gt;&lt;/mfrac&gt;&lt;mo&gt;=&lt;/mo&gt;&lt;mfrac&gt;&lt;mn&gt;21&lt;/mn&gt;&lt;mn&gt;48&lt;/mn&gt;&lt;/mfrac&gt;&lt;/math&gt;" id="801" name="Google Shape;801;p70" title="three eighths equals the fraction with numerator 3 times 7 and denominator 8 times 6 equals 21 over 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43037" y="2114550"/>
            <a:ext cx="2286320" cy="692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2" name="Google Shape;802;p70"/>
          <p:cNvGrpSpPr/>
          <p:nvPr/>
        </p:nvGrpSpPr>
        <p:grpSpPr>
          <a:xfrm>
            <a:off x="1303798" y="3142650"/>
            <a:ext cx="2662052" cy="1085225"/>
            <a:chOff x="1684798" y="2990250"/>
            <a:chExt cx="2662052" cy="1085225"/>
          </a:xfrm>
        </p:grpSpPr>
        <p:pic>
          <p:nvPicPr>
            <p:cNvPr id="803" name="Google Shape;803;p70"/>
            <p:cNvPicPr preferRelativeResize="0"/>
            <p:nvPr/>
          </p:nvPicPr>
          <p:blipFill rotWithShape="1">
            <a:blip r:embed="rId7">
              <a:alphaModFix/>
            </a:blip>
            <a:srcRect b="43690" l="0" r="57905" t="0"/>
            <a:stretch/>
          </p:blipFill>
          <p:spPr>
            <a:xfrm flipH="1">
              <a:off x="1684798" y="2990250"/>
              <a:ext cx="2662052" cy="981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4" name="Google Shape;804;p70"/>
            <p:cNvSpPr txBox="1"/>
            <p:nvPr/>
          </p:nvSpPr>
          <p:spPr>
            <a:xfrm>
              <a:off x="1867650" y="3094175"/>
              <a:ext cx="2479200" cy="9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don’t think they are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equivalent.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5" name="Google Shape;805;p70"/>
          <p:cNvGrpSpPr/>
          <p:nvPr/>
        </p:nvGrpSpPr>
        <p:grpSpPr>
          <a:xfrm>
            <a:off x="5105400" y="2909900"/>
            <a:ext cx="2662052" cy="1214901"/>
            <a:chOff x="4572000" y="3976700"/>
            <a:chExt cx="2662052" cy="1214901"/>
          </a:xfrm>
        </p:grpSpPr>
        <p:pic>
          <p:nvPicPr>
            <p:cNvPr id="806" name="Google Shape;806;p70"/>
            <p:cNvPicPr preferRelativeResize="0"/>
            <p:nvPr/>
          </p:nvPicPr>
          <p:blipFill rotWithShape="1">
            <a:blip r:embed="rId7">
              <a:alphaModFix/>
            </a:blip>
            <a:srcRect b="43690" l="0" r="57905" t="0"/>
            <a:stretch/>
          </p:blipFill>
          <p:spPr>
            <a:xfrm>
              <a:off x="4572000" y="3976700"/>
              <a:ext cx="2662052" cy="12149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7" name="Google Shape;807;p70"/>
            <p:cNvSpPr txBox="1"/>
            <p:nvPr/>
          </p:nvSpPr>
          <p:spPr>
            <a:xfrm>
              <a:off x="4599188" y="4016300"/>
              <a:ext cx="2479200" cy="9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agree.  To be equivalent you have to multiply by one.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8" name="Google Shape;808;p70"/>
          <p:cNvGrpSpPr/>
          <p:nvPr/>
        </p:nvGrpSpPr>
        <p:grpSpPr>
          <a:xfrm>
            <a:off x="1371598" y="3106524"/>
            <a:ext cx="2662052" cy="998500"/>
            <a:chOff x="-2" y="3003846"/>
            <a:chExt cx="2662052" cy="998500"/>
          </a:xfrm>
        </p:grpSpPr>
        <p:pic>
          <p:nvPicPr>
            <p:cNvPr id="809" name="Google Shape;809;p70"/>
            <p:cNvPicPr preferRelativeResize="0"/>
            <p:nvPr/>
          </p:nvPicPr>
          <p:blipFill rotWithShape="1">
            <a:blip r:embed="rId7">
              <a:alphaModFix/>
            </a:blip>
            <a:srcRect b="43690" l="0" r="57905" t="0"/>
            <a:stretch/>
          </p:blipFill>
          <p:spPr>
            <a:xfrm flipH="1">
              <a:off x="-2" y="3003846"/>
              <a:ext cx="2662052" cy="998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0" name="Google Shape;810;p70"/>
            <p:cNvSpPr txBox="1"/>
            <p:nvPr/>
          </p:nvSpPr>
          <p:spPr>
            <a:xfrm>
              <a:off x="259050" y="3154171"/>
              <a:ext cx="5418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Yes,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7}{6}&quot;&gt;&lt;mfrac&gt;&lt;mn&gt;7&lt;/mn&gt;&lt;mn&gt;6&lt;/mn&gt;&lt;/mfrac&gt;&lt;/math&gt;" id="811" name="Google Shape;811;p70" title="seven sixths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295011" y="3077977"/>
              <a:ext cx="124875" cy="401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2" name="Google Shape;812;p70"/>
          <p:cNvSpPr/>
          <p:nvPr/>
        </p:nvSpPr>
        <p:spPr>
          <a:xfrm>
            <a:off x="3953875" y="2042400"/>
            <a:ext cx="264900" cy="40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/>
          <p:nvPr/>
        </p:nvSpPr>
        <p:spPr>
          <a:xfrm>
            <a:off x="3953875" y="2519175"/>
            <a:ext cx="264900" cy="40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70"/>
          <p:cNvSpPr/>
          <p:nvPr/>
        </p:nvSpPr>
        <p:spPr>
          <a:xfrm>
            <a:off x="4258525" y="2118600"/>
            <a:ext cx="830100" cy="78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5" name="Google Shape;815;p70"/>
          <p:cNvCxnSpPr/>
          <p:nvPr/>
        </p:nvCxnSpPr>
        <p:spPr>
          <a:xfrm flipH="1">
            <a:off x="4361959" y="2350579"/>
            <a:ext cx="105600" cy="24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6" name="Google Shape;816;p70"/>
          <p:cNvSpPr txBox="1"/>
          <p:nvPr/>
        </p:nvSpPr>
        <p:spPr>
          <a:xfrm>
            <a:off x="1630650" y="3589250"/>
            <a:ext cx="2479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equivalent to one.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7" name="Google Shape;817;p70"/>
          <p:cNvGrpSpPr/>
          <p:nvPr/>
        </p:nvGrpSpPr>
        <p:grpSpPr>
          <a:xfrm>
            <a:off x="2130575" y="3256850"/>
            <a:ext cx="2283925" cy="613500"/>
            <a:chOff x="2130575" y="4171250"/>
            <a:chExt cx="2283925" cy="613500"/>
          </a:xfrm>
        </p:grpSpPr>
        <p:sp>
          <p:nvSpPr>
            <p:cNvPr id="818" name="Google Shape;818;p70"/>
            <p:cNvSpPr txBox="1"/>
            <p:nvPr/>
          </p:nvSpPr>
          <p:spPr>
            <a:xfrm>
              <a:off x="2130575" y="4171250"/>
              <a:ext cx="21315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9" name="Google Shape;819;p70"/>
            <p:cNvSpPr txBox="1"/>
            <p:nvPr/>
          </p:nvSpPr>
          <p:spPr>
            <a:xfrm>
              <a:off x="2887200" y="4171250"/>
              <a:ext cx="15273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is not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71"/>
          <p:cNvPicPr preferRelativeResize="0"/>
          <p:nvPr/>
        </p:nvPicPr>
        <p:blipFill rotWithShape="1">
          <a:blip r:embed="rId3">
            <a:alphaModFix/>
          </a:blip>
          <a:srcRect b="0" l="0" r="0" t="5749"/>
          <a:stretch/>
        </p:blipFill>
        <p:spPr>
          <a:xfrm>
            <a:off x="324000" y="646576"/>
            <a:ext cx="7299975" cy="6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1"/>
          <p:cNvSpPr/>
          <p:nvPr/>
        </p:nvSpPr>
        <p:spPr>
          <a:xfrm>
            <a:off x="4593325" y="1831000"/>
            <a:ext cx="411600" cy="106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 writing equivalent fractions</a:t>
            </a:r>
            <a:endParaRPr sz="2200"/>
          </a:p>
        </p:txBody>
      </p:sp>
      <p:pic>
        <p:nvPicPr>
          <p:cNvPr descr="&lt;math xmlns=&quot;http://www.w3.org/1998/Math/MathML&quot; display=&quot;block&quot; data-is-equatio=&quot;1&quot; data-latex=&quot;\frac{3}{8}=\frac{3\times6}{8\times6}=\frac{18}{48}&quot;&gt;&lt;mfrac&gt;&lt;mn&gt;3&lt;/mn&gt;&lt;mn&gt;8&lt;/mn&gt;&lt;/mfrac&gt;&lt;mo&gt;=&lt;/mo&gt;&lt;mfrac&gt;&lt;mrow&gt;&lt;mn&gt;3&lt;/mn&gt;&lt;mo&gt;×&lt;/mo&gt;&lt;mn&gt;6&lt;/mn&gt;&lt;/mrow&gt;&lt;mrow&gt;&lt;mn&gt;8&lt;/mn&gt;&lt;mo&gt;×&lt;/mo&gt;&lt;mn&gt;6&lt;/mn&gt;&lt;/mrow&gt;&lt;/mfrac&gt;&lt;mo&gt;=&lt;/mo&gt;&lt;mfrac&gt;&lt;mn&gt;18&lt;/mn&gt;&lt;mn&gt;48&lt;/mn&gt;&lt;/mfrac&gt;&lt;/math&gt;" id="827" name="Google Shape;827;p71" title="three eighths equals the fraction with numerator 3 times 6 and denominator 8 times 6 equals 18 over 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9838" y="1968350"/>
            <a:ext cx="2624325" cy="796675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71"/>
          <p:cNvSpPr/>
          <p:nvPr/>
        </p:nvSpPr>
        <p:spPr>
          <a:xfrm>
            <a:off x="4643075" y="1882800"/>
            <a:ext cx="2973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1"/>
          <p:cNvSpPr/>
          <p:nvPr/>
        </p:nvSpPr>
        <p:spPr>
          <a:xfrm>
            <a:off x="5477100" y="1882800"/>
            <a:ext cx="4071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1"/>
          <p:cNvSpPr/>
          <p:nvPr/>
        </p:nvSpPr>
        <p:spPr>
          <a:xfrm>
            <a:off x="4643075" y="2325600"/>
            <a:ext cx="329700" cy="53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1"/>
          <p:cNvSpPr/>
          <p:nvPr/>
        </p:nvSpPr>
        <p:spPr>
          <a:xfrm>
            <a:off x="4022700" y="1938600"/>
            <a:ext cx="620400" cy="88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1"/>
          <p:cNvSpPr/>
          <p:nvPr/>
        </p:nvSpPr>
        <p:spPr>
          <a:xfrm>
            <a:off x="5004900" y="1938600"/>
            <a:ext cx="932100" cy="88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3" name="Google Shape;833;p71"/>
          <p:cNvCxnSpPr/>
          <p:nvPr/>
        </p:nvCxnSpPr>
        <p:spPr>
          <a:xfrm rot="10800000">
            <a:off x="4824900" y="2982750"/>
            <a:ext cx="264900" cy="476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4" name="Google Shape;834;p71"/>
          <p:cNvSpPr txBox="1"/>
          <p:nvPr>
            <p:ph idx="1" type="body"/>
          </p:nvPr>
        </p:nvSpPr>
        <p:spPr>
          <a:xfrm>
            <a:off x="3422175" y="3511550"/>
            <a:ext cx="4269300" cy="11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Remember this needs to be equivalent to one.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So as not to change the value of the </a:t>
            </a:r>
            <a:r>
              <a:rPr lang="en-GB" sz="1800"/>
              <a:t>original</a:t>
            </a:r>
            <a:r>
              <a:rPr lang="en-GB" sz="1800"/>
              <a:t> fraction.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35" name="Google Shape;835;p71"/>
          <p:cNvSpPr txBox="1"/>
          <p:nvPr>
            <p:ph idx="1" type="body"/>
          </p:nvPr>
        </p:nvSpPr>
        <p:spPr>
          <a:xfrm>
            <a:off x="324000" y="1292700"/>
            <a:ext cx="8237700" cy="14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denominator of 48 what would the numerator be?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824073"/>
            <a:ext cx="7332075" cy="9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 writing equivalent fractions</a:t>
            </a:r>
            <a:endParaRPr sz="2200"/>
          </a:p>
        </p:txBody>
      </p:sp>
      <p:sp>
        <p:nvSpPr>
          <p:cNvPr id="842" name="Google Shape;842;p72"/>
          <p:cNvSpPr/>
          <p:nvPr/>
        </p:nvSpPr>
        <p:spPr>
          <a:xfrm>
            <a:off x="1701225" y="2576250"/>
            <a:ext cx="2618700" cy="2244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Examples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2"/>
          <p:cNvSpPr/>
          <p:nvPr/>
        </p:nvSpPr>
        <p:spPr>
          <a:xfrm>
            <a:off x="4824000" y="2576250"/>
            <a:ext cx="2618700" cy="2244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Non-e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xamples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5}&quot;&gt;&lt;mfrac&gt;&lt;mn&gt;10&lt;/mn&gt;&lt;mn&gt;25&lt;/mn&gt;&lt;/mfrac&gt;&lt;/math&gt;" id="844" name="Google Shape;844;p72" title="10 over 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1836" y="1795038"/>
            <a:ext cx="340329" cy="620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30}&quot;&gt;&lt;mfrac&gt;&lt;mn&gt;12&lt;/mn&gt;&lt;mn&gt;30&lt;/mn&gt;&lt;/mfrac&gt;&lt;/math&gt;" id="845" name="Google Shape;845;p72" title="12 over 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9536" y="1795038"/>
            <a:ext cx="344928" cy="6392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2}{55}&quot;&gt;&lt;mfrac&gt;&lt;mn&gt;22&lt;/mn&gt;&lt;mn&gt;55&lt;/mn&gt;&lt;/mfrac&gt;&lt;/math&gt;" id="846" name="Google Shape;846;p72" title="22 over 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1836" y="1795038"/>
            <a:ext cx="340329" cy="620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0}{125}&quot;&gt;&lt;mfrac&gt;&lt;mn&gt;50&lt;/mn&gt;&lt;mn&gt;125&lt;/mn&gt;&lt;/mfrac&gt;&lt;/math&gt;" id="847" name="Google Shape;847;p72" title="50 over 1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35150" y="1795038"/>
            <a:ext cx="473701" cy="607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5}&quot;&gt;&lt;mfrac&gt;&lt;mn&gt;8&lt;/mn&gt;&lt;mn&gt;15&lt;/mn&gt;&lt;/mfrac&gt;&lt;/math&gt;" id="848" name="Google Shape;848;p72" title="8 over 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98090" y="1795038"/>
            <a:ext cx="347820" cy="6345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45}&quot;&gt;&lt;mfrac&gt;&lt;mn&gt;20&lt;/mn&gt;&lt;mn&gt;45&lt;/mn&gt;&lt;/mfrac&gt;&lt;/math&gt;" id="849" name="Google Shape;849;p72" title="20 over 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98090" y="1795038"/>
            <a:ext cx="347820" cy="6345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60}&quot;&gt;&lt;mfrac&gt;&lt;mn&gt;26&lt;/mn&gt;&lt;mn&gt;60&lt;/mn&gt;&lt;/mfrac&gt;&lt;/math&gt;" id="850" name="Google Shape;850;p72" title="26 over 6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01186" y="1795038"/>
            <a:ext cx="341628" cy="623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0}{160}&quot;&gt;&lt;mfrac&gt;&lt;mn&gt;60&lt;/mn&gt;&lt;mn&gt;160&lt;/mn&gt;&lt;/mfrac&gt;&lt;/math&gt;" id="851" name="Google Shape;851;p72" title="60 over 16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28251" y="1795038"/>
            <a:ext cx="487498" cy="620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30}&quot;&gt;&lt;mfrac&gt;&lt;mn&gt;12&lt;/mn&gt;&lt;mn&gt;30&lt;/mn&gt;&lt;/mfrac&gt;&lt;/math&gt;" id="852" name="Google Shape;852;p72" title="12 over 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4025" y="3239988"/>
            <a:ext cx="344928" cy="6392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2}{55}&quot;&gt;&lt;mfrac&gt;&lt;mn&gt;22&lt;/mn&gt;&lt;mn&gt;55&lt;/mn&gt;&lt;/mfrac&gt;&lt;/math&gt;" id="853" name="Google Shape;853;p72" title="22 over 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18146" y="4054688"/>
            <a:ext cx="340329" cy="620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0}{160}&quot;&gt;&lt;mfrac&gt;&lt;mn&gt;60&lt;/mn&gt;&lt;mn&gt;160&lt;/mn&gt;&lt;/mfrac&gt;&lt;/math&gt;" id="854" name="Google Shape;854;p72" title="60 over 16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75096" y="3249188"/>
            <a:ext cx="487498" cy="620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0}{125}&quot;&gt;&lt;mfrac&gt;&lt;mn&gt;50&lt;/mn&gt;&lt;mn&gt;125&lt;/mn&gt;&lt;/mfrac&gt;&lt;/math&gt;" id="855" name="Google Shape;855;p72" title="50 over 1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34036" y="4016450"/>
            <a:ext cx="473701" cy="607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45}&quot;&gt;&lt;mfrac&gt;&lt;mn&gt;20&lt;/mn&gt;&lt;mn&gt;45&lt;/mn&gt;&lt;/mfrac&gt;&lt;/math&gt;" id="856" name="Google Shape;856;p72" title="20 over 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44943" y="4047863"/>
            <a:ext cx="347820" cy="6345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25}&quot;&gt;&lt;mfrac&gt;&lt;mn&gt;10&lt;/mn&gt;&lt;mn&gt;25&lt;/mn&gt;&lt;/mfrac&gt;&lt;/math&gt;" id="857" name="Google Shape;857;p72" title="10 over 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8143" y="3249188"/>
            <a:ext cx="340329" cy="620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5}&quot;&gt;&lt;mfrac&gt;&lt;mn&gt;8&lt;/mn&gt;&lt;mn&gt;15&lt;/mn&gt;&lt;/mfrac&gt;&lt;/math&gt;" id="858" name="Google Shape;858;p72" title="8 over 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79237" y="3242363"/>
            <a:ext cx="347820" cy="6345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60}&quot;&gt;&lt;mfrac&gt;&lt;mn&gt;26&lt;/mn&gt;&lt;mn&gt;60&lt;/mn&gt;&lt;/mfrac&gt;&lt;/math&gt;" id="859" name="Google Shape;859;p72" title="26 over 6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48875" y="4084575"/>
            <a:ext cx="341628" cy="623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 writing equivalent fractions</a:t>
            </a:r>
            <a:endParaRPr sz="2200"/>
          </a:p>
        </p:txBody>
      </p:sp>
      <p:pic>
        <p:nvPicPr>
          <p:cNvPr descr="&lt;math xmlns=&quot;http://www.w3.org/1998/Math/MathML&quot; display=&quot;block&quot; data-is-equatio=&quot;1&quot; data-latex=&quot;\frac{4}{7}=\frac{12}{21}&quot;&gt;&lt;mfrac&gt;&lt;mn&gt;4&lt;/mn&gt;&lt;mn&gt;7&lt;/mn&gt;&lt;/mfrac&gt;&lt;mo&gt;=&lt;/mo&gt;&lt;mfrac&gt;&lt;mn&gt;12&lt;/mn&gt;&lt;mn&gt;21&lt;/mn&gt;&lt;/mfrac&gt;&lt;/math&gt;" id="865" name="Google Shape;865;p73" title="four sevenths equals 12 over 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080000"/>
            <a:ext cx="95776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=\frac{4\times3}{7\times3}=\frac{12}{21}&quot;&gt;&lt;mfrac&gt;&lt;mn&gt;4&lt;/mn&gt;&lt;mn&gt;7&lt;/mn&gt;&lt;/mfrac&gt;&lt;mo&gt;=&lt;/mo&gt;&lt;mfrac&gt;&lt;mrow&gt;&lt;mn&gt;4&lt;/mn&gt;&lt;mo&gt;×&lt;/mo&gt;&lt;mn&gt;3&lt;/mn&gt;&lt;/mrow&gt;&lt;mrow&gt;&lt;mn&gt;7&lt;/mn&gt;&lt;mo&gt;×&lt;/mo&gt;&lt;mn&gt;3&lt;/mn&gt;&lt;/mrow&gt;&lt;/mfrac&gt;&lt;mo&gt;=&lt;/mo&gt;&lt;mfrac&gt;&lt;mn&gt;12&lt;/mn&gt;&lt;mn&gt;21&lt;/mn&gt;&lt;/mfrac&gt;&lt;/math&gt;" id="866" name="Google Shape;866;p73" title="four sevenths equals the fraction with numerator 4 times 3 and denominator 7 times 3 equals 12 over 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0581" y="4043250"/>
            <a:ext cx="20344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=\frac{4\times3}{7\times3}=\frac{12}{21}&quot;&gt;&lt;mfrac&gt;&lt;mn&gt;4&lt;/mn&gt;&lt;mn&gt;7&lt;/mn&gt;&lt;/mfrac&gt;&lt;mo&gt;=&lt;/mo&gt;&lt;mfrac&gt;&lt;mrow&gt;&lt;mn&gt;4&lt;/mn&gt;&lt;mo&gt;×&lt;/mo&gt;&lt;mn&gt;3&lt;/mn&gt;&lt;/mrow&gt;&lt;mrow&gt;&lt;mn&gt;7&lt;/mn&gt;&lt;mo&gt;×&lt;/mo&gt;&lt;mn&gt;3&lt;/mn&gt;&lt;/mrow&gt;&lt;/mfrac&gt;&lt;mo&gt;=&lt;/mo&gt;&lt;mfrac&gt;&lt;mn&gt;12&lt;/mn&gt;&lt;mn&gt;21&lt;/mn&gt;&lt;/mfrac&gt;&lt;/math&gt;" id="867" name="Google Shape;867;p73" title="four sevenths equals the fraction with numerator 4 times 3 and denominator 7 times 3 equals 12 over 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0581" y="3101175"/>
            <a:ext cx="20344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5908" y="17966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5208" y="40432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7500" y="3852775"/>
            <a:ext cx="4394001" cy="82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7500" y="3007550"/>
            <a:ext cx="5105273" cy="7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4"/>
          <p:cNvSpPr txBox="1"/>
          <p:nvPr>
            <p:ph idx="1" type="body"/>
          </p:nvPr>
        </p:nvSpPr>
        <p:spPr>
          <a:xfrm>
            <a:off x="324000" y="759300"/>
            <a:ext cx="82377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missing numerator or denominator.</a:t>
            </a:r>
            <a:endParaRPr/>
          </a:p>
        </p:txBody>
      </p:sp>
      <p:sp>
        <p:nvSpPr>
          <p:cNvPr id="877" name="Google Shape;877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 writing equivalent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=\frac{15}{25}&quot;&gt;&lt;mfrac&gt;&lt;mn&gt;3&lt;/mn&gt;&lt;mn&gt;5&lt;/mn&gt;&lt;/mfrac&gt;&lt;mo&gt;=&lt;/mo&gt;&lt;mfrac&gt;&lt;mn&gt;15&lt;/mn&gt;&lt;mn&gt;25&lt;/mn&gt;&lt;/mfrac&gt;&lt;/math&gt;" id="878" name="Google Shape;878;p74" title="three fifths equals 15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443" y="2284807"/>
            <a:ext cx="1040448" cy="673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=\frac{40}{64}&quot;&gt;&lt;mfrac&gt;&lt;mn&gt;5&lt;/mn&gt;&lt;mn&gt;8&lt;/mn&gt;&lt;/mfrac&gt;&lt;mo&gt;=&lt;/mo&gt;&lt;mfrac&gt;&lt;mn&gt;40&lt;/mn&gt;&lt;mn&gt;64&lt;/mn&gt;&lt;/mfrac&gt;&lt;/math&gt;" id="879" name="Google Shape;879;p74" title="five eighths equals 40 over 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4613" y="1366572"/>
            <a:ext cx="1045548" cy="673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5}=\frac{44}{60}&quot;&gt;&lt;mfrac&gt;&lt;mn&gt;11&lt;/mn&gt;&lt;mn&gt;15&lt;/mn&gt;&lt;/mfrac&gt;&lt;mo&gt;=&lt;/mo&gt;&lt;mfrac&gt;&lt;mn&gt;44&lt;/mn&gt;&lt;mn&gt;60&lt;/mn&gt;&lt;/mfrac&gt;&lt;/math&gt;" id="880" name="Google Shape;880;p74" title="11 over 15 equals 44 over 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4613" y="2261006"/>
            <a:ext cx="1239357" cy="693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36}=\frac{2}{3}&quot;&gt;&lt;mfrac&gt;&lt;mn&gt;24&lt;/mn&gt;&lt;mn&gt;36&lt;/mn&gt;&lt;/mfrac&gt;&lt;mo&gt;=&lt;/mo&gt;&lt;mfrac&gt;&lt;mn&gt;2&lt;/mn&gt;&lt;mn&gt;3&lt;/mn&gt;&lt;/mfrac&gt;&lt;/math&gt;" id="881" name="Google Shape;881;p74" title="24 over 36 equals 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1443" y="4090675"/>
            <a:ext cx="1076150" cy="693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=\frac{90}{110}&quot;&gt;&lt;mfrac&gt;&lt;mn&gt;9&lt;/mn&gt;&lt;mn&gt;11&lt;/mn&gt;&lt;/mfrac&gt;&lt;mo&gt;=&lt;/mo&gt;&lt;mfrac&gt;&lt;mn&gt;90&lt;/mn&gt;&lt;mn&gt;110&lt;/mn&gt;&lt;/mfrac&gt;&lt;/math&gt;" id="882" name="Google Shape;882;p74" title="9 over 11 equals 90 over 1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1443" y="1366572"/>
            <a:ext cx="1443367" cy="708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8}{32}=\frac{7}{8}&quot;&gt;&lt;mfrac&gt;&lt;mn&gt;28&lt;/mn&gt;&lt;mn&gt;32&lt;/mn&gt;&lt;/mfrac&gt;&lt;mo&gt;=&lt;/mo&gt;&lt;mfrac&gt;&lt;mn&gt;7&lt;/mn&gt;&lt;mn&gt;8&lt;/mn&gt;&lt;/mfrac&gt;&lt;/math&gt;" id="883" name="Google Shape;883;p74" title="28 over 32 equals seven eigh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443" y="3167340"/>
            <a:ext cx="1106751" cy="714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1}{156}=\frac{7}{12}&quot;&gt;&lt;mfrac&gt;&lt;mn&gt;91&lt;/mn&gt;&lt;mn&gt;156&lt;/mn&gt;&lt;/mfrac&gt;&lt;mo&gt;=&lt;/mo&gt;&lt;mfrac&gt;&lt;mn&gt;7&lt;/mn&gt;&lt;mn&gt;12&lt;/mn&gt;&lt;/mfrac&gt;&lt;/math&gt;" id="884" name="Google Shape;884;p74" title="91 over 156 equals 7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24613" y="3175840"/>
            <a:ext cx="1412765" cy="693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40}{51}=\frac{20}{3}&quot;&gt;&lt;mfrac&gt;&lt;mn&gt;340&lt;/mn&gt;&lt;mn&gt;51&lt;/mn&gt;&lt;/mfrac&gt;&lt;mo&gt;=&lt;/mo&gt;&lt;mfrac&gt;&lt;mn&gt;20&lt;/mn&gt;&lt;mn&gt;3&lt;/mn&gt;&lt;/mfrac&gt;&lt;/math&gt;" id="885" name="Google Shape;885;p74" title="340 over 51 equals 20 over 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24613" y="4090675"/>
            <a:ext cx="1412765" cy="693631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4"/>
          <p:cNvSpPr txBox="1"/>
          <p:nvPr/>
        </p:nvSpPr>
        <p:spPr>
          <a:xfrm>
            <a:off x="654650" y="1281300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4"/>
          <p:cNvSpPr txBox="1"/>
          <p:nvPr/>
        </p:nvSpPr>
        <p:spPr>
          <a:xfrm>
            <a:off x="654650" y="2156850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4"/>
          <p:cNvSpPr txBox="1"/>
          <p:nvPr/>
        </p:nvSpPr>
        <p:spPr>
          <a:xfrm>
            <a:off x="651248" y="3093745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4"/>
          <p:cNvSpPr txBox="1"/>
          <p:nvPr/>
        </p:nvSpPr>
        <p:spPr>
          <a:xfrm>
            <a:off x="651248" y="4080595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4"/>
          <p:cNvSpPr txBox="1"/>
          <p:nvPr/>
        </p:nvSpPr>
        <p:spPr>
          <a:xfrm>
            <a:off x="5209141" y="1297284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4"/>
          <p:cNvSpPr txBox="1"/>
          <p:nvPr/>
        </p:nvSpPr>
        <p:spPr>
          <a:xfrm>
            <a:off x="5209141" y="2172834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4"/>
          <p:cNvSpPr txBox="1"/>
          <p:nvPr/>
        </p:nvSpPr>
        <p:spPr>
          <a:xfrm>
            <a:off x="5205739" y="3109729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4"/>
          <p:cNvSpPr txBox="1"/>
          <p:nvPr/>
        </p:nvSpPr>
        <p:spPr>
          <a:xfrm>
            <a:off x="5205739" y="4096579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4"/>
          <p:cNvSpPr/>
          <p:nvPr/>
        </p:nvSpPr>
        <p:spPr>
          <a:xfrm>
            <a:off x="2051375" y="1281300"/>
            <a:ext cx="489900" cy="430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4"/>
          <p:cNvSpPr/>
          <p:nvPr/>
        </p:nvSpPr>
        <p:spPr>
          <a:xfrm>
            <a:off x="1793191" y="2676189"/>
            <a:ext cx="394500" cy="338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4"/>
          <p:cNvSpPr/>
          <p:nvPr/>
        </p:nvSpPr>
        <p:spPr>
          <a:xfrm>
            <a:off x="1131441" y="3139714"/>
            <a:ext cx="394500" cy="338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4"/>
          <p:cNvSpPr/>
          <p:nvPr/>
        </p:nvSpPr>
        <p:spPr>
          <a:xfrm>
            <a:off x="1131441" y="4481689"/>
            <a:ext cx="394500" cy="338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4"/>
          <p:cNvSpPr/>
          <p:nvPr/>
        </p:nvSpPr>
        <p:spPr>
          <a:xfrm>
            <a:off x="6275641" y="1769739"/>
            <a:ext cx="394500" cy="338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4"/>
          <p:cNvSpPr/>
          <p:nvPr/>
        </p:nvSpPr>
        <p:spPr>
          <a:xfrm>
            <a:off x="6480582" y="2676189"/>
            <a:ext cx="394500" cy="338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4"/>
          <p:cNvSpPr/>
          <p:nvPr/>
        </p:nvSpPr>
        <p:spPr>
          <a:xfrm>
            <a:off x="5624629" y="3583850"/>
            <a:ext cx="583800" cy="338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4"/>
          <p:cNvSpPr/>
          <p:nvPr/>
        </p:nvSpPr>
        <p:spPr>
          <a:xfrm>
            <a:off x="6642882" y="4481689"/>
            <a:ext cx="394500" cy="338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Which of the following are </a:t>
            </a:r>
            <a:r>
              <a:rPr lang="en-GB">
                <a:solidFill>
                  <a:schemeClr val="accent4"/>
                </a:solidFill>
              </a:rPr>
              <a:t>true</a:t>
            </a:r>
            <a:r>
              <a:rPr lang="en-GB"/>
              <a:t>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907" name="Google Shape;907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 writing equivalent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=\frac{30}{48}&quot;&gt;&lt;mfrac&gt;&lt;mn&gt;2&lt;/mn&gt;&lt;mn&gt;3&lt;/mn&gt;&lt;/mfrac&gt;&lt;mo&gt;=&lt;/mo&gt;&lt;mfrac&gt;&lt;mn&gt;30&lt;/mn&gt;&lt;mn&gt;48&lt;/mn&gt;&lt;/mfrac&gt;&lt;/math&gt;" id="908" name="Google Shape;908;p75" title="two thirds equals 30 over 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038" y="1211550"/>
            <a:ext cx="934773" cy="601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8}=\frac{21}{24}&quot;&gt;&lt;mfrac&gt;&lt;mn&gt;7&lt;/mn&gt;&lt;mn&gt;8&lt;/mn&gt;&lt;/mfrac&gt;&lt;mo&gt;=&lt;/mo&gt;&lt;mfrac&gt;&lt;mn&gt;21&lt;/mn&gt;&lt;mn&gt;24&lt;/mn&gt;&lt;/mfrac&gt;&lt;/math&gt;" id="909" name="Google Shape;909;p75" title="seven eighths equals 21 over 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691" y="3174125"/>
            <a:ext cx="939101" cy="6058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9}=\frac{16}{36}&quot;&gt;&lt;mfrac&gt;&lt;mn&gt;4&lt;/mn&gt;&lt;mn&gt;9&lt;/mn&gt;&lt;/mfrac&gt;&lt;mo&gt;=&lt;/mo&gt;&lt;mfrac&gt;&lt;mn&gt;16&lt;/mn&gt;&lt;mn&gt;36&lt;/mn&gt;&lt;/mfrac&gt;&lt;/math&gt;" id="910" name="Google Shape;910;p75" title="four ninths equals 16 over 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663" y="2247510"/>
            <a:ext cx="913135" cy="588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=\frac{56}{66}&quot;&gt;&lt;mfrac&gt;&lt;mn&gt;8&lt;/mn&gt;&lt;mn&gt;11&lt;/mn&gt;&lt;/mfrac&gt;&lt;mo&gt;=&lt;/mo&gt;&lt;mfrac&gt;&lt;mn&gt;56&lt;/mn&gt;&lt;mn&gt;66&lt;/mn&gt;&lt;/mfrac&gt;&lt;/math&gt;" id="911" name="Google Shape;911;p75" title="8 over 11 equals 56 over 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5897" y="1228863"/>
            <a:ext cx="1016999" cy="566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6}{144}=\frac{2}{3}&quot;&gt;&lt;mfrac&gt;&lt;mn&gt;96&lt;/mn&gt;&lt;mn&gt;144&lt;/mn&gt;&lt;/mfrac&gt;&lt;mo&gt;=&lt;/mo&gt;&lt;mfrac&gt;&lt;mn&gt;2&lt;/mn&gt;&lt;mn&gt;3&lt;/mn&gt;&lt;/mfrac&gt;&lt;/math&gt;" id="912" name="Google Shape;912;p75" title="96 over 144 equals two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65890" y="2254885"/>
            <a:ext cx="1081914" cy="601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6}{75}=\frac{16}{5}&quot;&gt;&lt;mfrac&gt;&lt;mn&gt;256&lt;/mn&gt;&lt;mn&gt;75&lt;/mn&gt;&lt;/mfrac&gt;&lt;mo&gt;=&lt;/mo&gt;&lt;mfrac&gt;&lt;mn&gt;16&lt;/mn&gt;&lt;mn&gt;5&lt;/mn&gt;&lt;/mfrac&gt;&lt;/math&gt;" id="913" name="Google Shape;913;p75" title="256 over 75 equals sixteen fif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65896" y="3315536"/>
            <a:ext cx="1155484" cy="571247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75"/>
          <p:cNvSpPr txBox="1"/>
          <p:nvPr/>
        </p:nvSpPr>
        <p:spPr>
          <a:xfrm>
            <a:off x="4823991" y="1264290"/>
            <a:ext cx="3045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6"/>
          <p:cNvSpPr txBox="1"/>
          <p:nvPr>
            <p:ph idx="1" type="body"/>
          </p:nvPr>
        </p:nvSpPr>
        <p:spPr>
          <a:xfrm>
            <a:off x="324000" y="759300"/>
            <a:ext cx="82377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missing numerator or denominator.</a:t>
            </a:r>
            <a:endParaRPr/>
          </a:p>
        </p:txBody>
      </p:sp>
      <p:sp>
        <p:nvSpPr>
          <p:cNvPr id="920" name="Google Shape;920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 writing equivalent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=\frac{15}{25}&quot;&gt;&lt;mfrac&gt;&lt;mn&gt;3&lt;/mn&gt;&lt;mn&gt;5&lt;/mn&gt;&lt;/mfrac&gt;&lt;mo&gt;=&lt;/mo&gt;&lt;mfrac&gt;&lt;mn&gt;15&lt;/mn&gt;&lt;mn&gt;25&lt;/mn&gt;&lt;/mfrac&gt;&lt;/math&gt;" id="921" name="Google Shape;921;p76" title="three fifths equals 15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443" y="2284807"/>
            <a:ext cx="1040448" cy="673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=\frac{40}{64}&quot;&gt;&lt;mfrac&gt;&lt;mn&gt;5&lt;/mn&gt;&lt;mn&gt;8&lt;/mn&gt;&lt;/mfrac&gt;&lt;mo&gt;=&lt;/mo&gt;&lt;mfrac&gt;&lt;mn&gt;40&lt;/mn&gt;&lt;mn&gt;64&lt;/mn&gt;&lt;/mfrac&gt;&lt;/math&gt;" id="922" name="Google Shape;922;p76" title="five eighths equals 40 over 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4613" y="1366572"/>
            <a:ext cx="1045548" cy="673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5}=\frac{44}{60}&quot;&gt;&lt;mfrac&gt;&lt;mn&gt;11&lt;/mn&gt;&lt;mn&gt;15&lt;/mn&gt;&lt;/mfrac&gt;&lt;mo&gt;=&lt;/mo&gt;&lt;mfrac&gt;&lt;mn&gt;44&lt;/mn&gt;&lt;mn&gt;60&lt;/mn&gt;&lt;/mfrac&gt;&lt;/math&gt;" id="923" name="Google Shape;923;p76" title="11 over 15 equals 44 over 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4613" y="2261006"/>
            <a:ext cx="1239357" cy="693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36}=\frac{2}{3}&quot;&gt;&lt;mfrac&gt;&lt;mn&gt;24&lt;/mn&gt;&lt;mn&gt;36&lt;/mn&gt;&lt;/mfrac&gt;&lt;mo&gt;=&lt;/mo&gt;&lt;mfrac&gt;&lt;mn&gt;2&lt;/mn&gt;&lt;mn&gt;3&lt;/mn&gt;&lt;/mfrac&gt;&lt;/math&gt;" id="924" name="Google Shape;924;p76" title="24 over 36 equals 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1443" y="4090675"/>
            <a:ext cx="1076150" cy="693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=\frac{90}{110}&quot;&gt;&lt;mfrac&gt;&lt;mn&gt;9&lt;/mn&gt;&lt;mn&gt;11&lt;/mn&gt;&lt;/mfrac&gt;&lt;mo&gt;=&lt;/mo&gt;&lt;mfrac&gt;&lt;mn&gt;90&lt;/mn&gt;&lt;mn&gt;110&lt;/mn&gt;&lt;/mfrac&gt;&lt;/math&gt;" id="925" name="Google Shape;925;p76" title="9 over 11 equals 90 over 1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1443" y="1366572"/>
            <a:ext cx="1443367" cy="708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8}{32}=\frac{7}{8}&quot;&gt;&lt;mfrac&gt;&lt;mn&gt;28&lt;/mn&gt;&lt;mn&gt;32&lt;/mn&gt;&lt;/mfrac&gt;&lt;mo&gt;=&lt;/mo&gt;&lt;mfrac&gt;&lt;mn&gt;7&lt;/mn&gt;&lt;mn&gt;8&lt;/mn&gt;&lt;/mfrac&gt;&lt;/math&gt;" id="926" name="Google Shape;926;p76" title="28 over 32 equals seven eigh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443" y="3167340"/>
            <a:ext cx="1106751" cy="714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1}{156}=\frac{7}{12}&quot;&gt;&lt;mfrac&gt;&lt;mn&gt;91&lt;/mn&gt;&lt;mn&gt;156&lt;/mn&gt;&lt;/mfrac&gt;&lt;mo&gt;=&lt;/mo&gt;&lt;mfrac&gt;&lt;mn&gt;7&lt;/mn&gt;&lt;mn&gt;12&lt;/mn&gt;&lt;/mfrac&gt;&lt;/math&gt;" id="927" name="Google Shape;927;p76" title="91 over 156 equals 7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24613" y="3175840"/>
            <a:ext cx="1412765" cy="693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40}{51}=\frac{20}{3}&quot;&gt;&lt;mfrac&gt;&lt;mn&gt;340&lt;/mn&gt;&lt;mn&gt;51&lt;/mn&gt;&lt;/mfrac&gt;&lt;mo&gt;=&lt;/mo&gt;&lt;mfrac&gt;&lt;mn&gt;20&lt;/mn&gt;&lt;mn&gt;3&lt;/mn&gt;&lt;/mfrac&gt;&lt;/math&gt;" id="928" name="Google Shape;928;p76" title="340 over 51 equals 20 over 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24613" y="4090675"/>
            <a:ext cx="1412765" cy="693631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76"/>
          <p:cNvSpPr txBox="1"/>
          <p:nvPr/>
        </p:nvSpPr>
        <p:spPr>
          <a:xfrm>
            <a:off x="654650" y="1281300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6"/>
          <p:cNvSpPr txBox="1"/>
          <p:nvPr/>
        </p:nvSpPr>
        <p:spPr>
          <a:xfrm>
            <a:off x="654650" y="2156850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6"/>
          <p:cNvSpPr txBox="1"/>
          <p:nvPr/>
        </p:nvSpPr>
        <p:spPr>
          <a:xfrm>
            <a:off x="651248" y="3093745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6"/>
          <p:cNvSpPr txBox="1"/>
          <p:nvPr/>
        </p:nvSpPr>
        <p:spPr>
          <a:xfrm>
            <a:off x="651248" y="4080595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6"/>
          <p:cNvSpPr txBox="1"/>
          <p:nvPr/>
        </p:nvSpPr>
        <p:spPr>
          <a:xfrm>
            <a:off x="5209141" y="1297284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6"/>
          <p:cNvSpPr txBox="1"/>
          <p:nvPr/>
        </p:nvSpPr>
        <p:spPr>
          <a:xfrm>
            <a:off x="5209141" y="2172834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6"/>
          <p:cNvSpPr txBox="1"/>
          <p:nvPr/>
        </p:nvSpPr>
        <p:spPr>
          <a:xfrm>
            <a:off x="5205739" y="3109729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6"/>
          <p:cNvSpPr txBox="1"/>
          <p:nvPr/>
        </p:nvSpPr>
        <p:spPr>
          <a:xfrm>
            <a:off x="5205739" y="4096579"/>
            <a:ext cx="30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6"/>
          <p:cNvSpPr/>
          <p:nvPr/>
        </p:nvSpPr>
        <p:spPr>
          <a:xfrm>
            <a:off x="2051375" y="1281300"/>
            <a:ext cx="489900" cy="430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6"/>
          <p:cNvSpPr/>
          <p:nvPr/>
        </p:nvSpPr>
        <p:spPr>
          <a:xfrm>
            <a:off x="1793191" y="2676189"/>
            <a:ext cx="394500" cy="338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6"/>
          <p:cNvSpPr/>
          <p:nvPr/>
        </p:nvSpPr>
        <p:spPr>
          <a:xfrm>
            <a:off x="1131441" y="3139714"/>
            <a:ext cx="394500" cy="338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6"/>
          <p:cNvSpPr/>
          <p:nvPr/>
        </p:nvSpPr>
        <p:spPr>
          <a:xfrm>
            <a:off x="1131441" y="4481689"/>
            <a:ext cx="394500" cy="338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6"/>
          <p:cNvSpPr/>
          <p:nvPr/>
        </p:nvSpPr>
        <p:spPr>
          <a:xfrm>
            <a:off x="6275641" y="1769739"/>
            <a:ext cx="394500" cy="338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6"/>
          <p:cNvSpPr/>
          <p:nvPr/>
        </p:nvSpPr>
        <p:spPr>
          <a:xfrm>
            <a:off x="6480582" y="2676189"/>
            <a:ext cx="394500" cy="338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6"/>
          <p:cNvSpPr/>
          <p:nvPr/>
        </p:nvSpPr>
        <p:spPr>
          <a:xfrm>
            <a:off x="5624629" y="3583850"/>
            <a:ext cx="583800" cy="338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6"/>
          <p:cNvSpPr/>
          <p:nvPr/>
        </p:nvSpPr>
        <p:spPr>
          <a:xfrm>
            <a:off x="6642882" y="4481689"/>
            <a:ext cx="394500" cy="338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77"/>
          <p:cNvSpPr txBox="1"/>
          <p:nvPr>
            <p:ph idx="1" type="body"/>
          </p:nvPr>
        </p:nvSpPr>
        <p:spPr>
          <a:xfrm>
            <a:off x="324000" y="759300"/>
            <a:ext cx="8237700" cy="29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Which of the </a:t>
            </a:r>
            <a:r>
              <a:rPr lang="en-GB"/>
              <a:t>following</a:t>
            </a:r>
            <a:r>
              <a:rPr lang="en-GB"/>
              <a:t> are </a:t>
            </a:r>
            <a:r>
              <a:rPr lang="en-GB">
                <a:solidFill>
                  <a:schemeClr val="accent4"/>
                </a:solidFill>
              </a:rPr>
              <a:t>true</a:t>
            </a:r>
            <a:r>
              <a:rPr lang="en-GB"/>
              <a:t>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950" name="Google Shape;950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 writing equivalent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=\frac{30}{48}&quot;&gt;&lt;mfrac&gt;&lt;mn&gt;2&lt;/mn&gt;&lt;mn&gt;3&lt;/mn&gt;&lt;/mfrac&gt;&lt;mo&gt;=&lt;/mo&gt;&lt;mfrac&gt;&lt;mn&gt;30&lt;/mn&gt;&lt;mn&gt;48&lt;/mn&gt;&lt;/mfrac&gt;&lt;/math&gt;" id="951" name="Google Shape;951;p77" title="two thirds equals 30 over 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038" y="1211550"/>
            <a:ext cx="934773" cy="601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8}=\frac{21}{24}&quot;&gt;&lt;mfrac&gt;&lt;mn&gt;7&lt;/mn&gt;&lt;mn&gt;8&lt;/mn&gt;&lt;/mfrac&gt;&lt;mo&gt;=&lt;/mo&gt;&lt;mfrac&gt;&lt;mn&gt;21&lt;/mn&gt;&lt;mn&gt;24&lt;/mn&gt;&lt;/mfrac&gt;&lt;/math&gt;" id="952" name="Google Shape;952;p77" title="seven eighths equals 21 over 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691" y="3174125"/>
            <a:ext cx="939101" cy="6058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9}=\frac{16}{36}&quot;&gt;&lt;mfrac&gt;&lt;mn&gt;4&lt;/mn&gt;&lt;mn&gt;9&lt;/mn&gt;&lt;/mfrac&gt;&lt;mo&gt;=&lt;/mo&gt;&lt;mfrac&gt;&lt;mn&gt;16&lt;/mn&gt;&lt;mn&gt;36&lt;/mn&gt;&lt;/mfrac&gt;&lt;/math&gt;" id="953" name="Google Shape;953;p77" title="four ninths equals 16 over 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663" y="2247510"/>
            <a:ext cx="913135" cy="588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=\frac{56}{66}&quot;&gt;&lt;mfrac&gt;&lt;mn&gt;8&lt;/mn&gt;&lt;mn&gt;11&lt;/mn&gt;&lt;/mfrac&gt;&lt;mo&gt;=&lt;/mo&gt;&lt;mfrac&gt;&lt;mn&gt;56&lt;/mn&gt;&lt;mn&gt;66&lt;/mn&gt;&lt;/mfrac&gt;&lt;/math&gt;" id="954" name="Google Shape;954;p77" title="8 over 11 equals 56 over 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5897" y="1228863"/>
            <a:ext cx="1016999" cy="566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6}{144}=\frac{2}{3}&quot;&gt;&lt;mfrac&gt;&lt;mn&gt;96&lt;/mn&gt;&lt;mn&gt;144&lt;/mn&gt;&lt;/mfrac&gt;&lt;mo&gt;=&lt;/mo&gt;&lt;mfrac&gt;&lt;mn&gt;2&lt;/mn&gt;&lt;mn&gt;3&lt;/mn&gt;&lt;/mfrac&gt;&lt;/math&gt;" id="955" name="Google Shape;955;p77" title="96 over 144 equals two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65890" y="2254885"/>
            <a:ext cx="1081914" cy="601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6}{75}=\frac{16}{5}&quot;&gt;&lt;mfrac&gt;&lt;mn&gt;256&lt;/mn&gt;&lt;mn&gt;75&lt;/mn&gt;&lt;/mfrac&gt;&lt;mo&gt;=&lt;/mo&gt;&lt;mfrac&gt;&lt;mn&gt;16&lt;/mn&gt;&lt;mn&gt;5&lt;/mn&gt;&lt;/mfrac&gt;&lt;/math&gt;" id="956" name="Google Shape;956;p77" title="256 over 75 equals sixteen fif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65896" y="3315536"/>
            <a:ext cx="1155484" cy="571247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77"/>
          <p:cNvSpPr txBox="1"/>
          <p:nvPr/>
        </p:nvSpPr>
        <p:spPr>
          <a:xfrm>
            <a:off x="4823991" y="1264290"/>
            <a:ext cx="3045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7"/>
          <p:cNvSpPr txBox="1"/>
          <p:nvPr/>
        </p:nvSpPr>
        <p:spPr>
          <a:xfrm flipH="1">
            <a:off x="2206050" y="1228875"/>
            <a:ext cx="5196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15</a:t>
            </a:r>
            <a:endParaRPr sz="2200" u="sng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16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9" name="Google Shape;959;p77"/>
          <p:cNvSpPr txBox="1"/>
          <p:nvPr/>
        </p:nvSpPr>
        <p:spPr>
          <a:xfrm flipH="1">
            <a:off x="2206050" y="2274707"/>
            <a:ext cx="5196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4</a:t>
            </a:r>
            <a:endParaRPr sz="2200" u="sng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0" name="Google Shape;960;p77"/>
          <p:cNvSpPr txBox="1"/>
          <p:nvPr/>
        </p:nvSpPr>
        <p:spPr>
          <a:xfrm flipH="1">
            <a:off x="2206050" y="3198700"/>
            <a:ext cx="5196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endParaRPr sz="2200" u="sng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1" name="Google Shape;961;p77"/>
          <p:cNvSpPr txBox="1"/>
          <p:nvPr/>
        </p:nvSpPr>
        <p:spPr>
          <a:xfrm flipH="1">
            <a:off x="6816975" y="1228875"/>
            <a:ext cx="5196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7</a:t>
            </a:r>
            <a:endParaRPr sz="2200" u="sng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6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2" name="Google Shape;962;p77"/>
          <p:cNvSpPr txBox="1"/>
          <p:nvPr/>
        </p:nvSpPr>
        <p:spPr>
          <a:xfrm flipH="1">
            <a:off x="6816975" y="2274700"/>
            <a:ext cx="9132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</a:t>
            </a:r>
            <a:r>
              <a:rPr lang="en-GB" sz="2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48</a:t>
            </a:r>
            <a:endParaRPr sz="2200" u="sng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48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3" name="Google Shape;963;p77"/>
          <p:cNvSpPr txBox="1"/>
          <p:nvPr/>
        </p:nvSpPr>
        <p:spPr>
          <a:xfrm flipH="1">
            <a:off x="6816950" y="3293250"/>
            <a:ext cx="686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</a:t>
            </a:r>
            <a:r>
              <a:rPr lang="en-GB" sz="2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16</a:t>
            </a:r>
            <a:endParaRPr sz="2200" u="sng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4" name="Google Shape;964;p77"/>
          <p:cNvSpPr txBox="1"/>
          <p:nvPr/>
        </p:nvSpPr>
        <p:spPr>
          <a:xfrm flipH="1">
            <a:off x="2982175" y="1314600"/>
            <a:ext cx="6501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False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5" name="Google Shape;965;p77"/>
          <p:cNvSpPr txBox="1"/>
          <p:nvPr/>
        </p:nvSpPr>
        <p:spPr>
          <a:xfrm flipH="1">
            <a:off x="3018375" y="2247500"/>
            <a:ext cx="6501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6" name="Google Shape;966;p77"/>
          <p:cNvSpPr txBox="1"/>
          <p:nvPr/>
        </p:nvSpPr>
        <p:spPr>
          <a:xfrm flipH="1">
            <a:off x="2982175" y="3240000"/>
            <a:ext cx="6501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7" name="Google Shape;967;p77"/>
          <p:cNvSpPr txBox="1"/>
          <p:nvPr/>
        </p:nvSpPr>
        <p:spPr>
          <a:xfrm flipH="1">
            <a:off x="7678725" y="1359625"/>
            <a:ext cx="6501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False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8" name="Google Shape;968;p77"/>
          <p:cNvSpPr txBox="1"/>
          <p:nvPr/>
        </p:nvSpPr>
        <p:spPr>
          <a:xfrm flipH="1">
            <a:off x="7730175" y="2419050"/>
            <a:ext cx="6501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9" name="Google Shape;969;p77"/>
          <p:cNvSpPr txBox="1"/>
          <p:nvPr/>
        </p:nvSpPr>
        <p:spPr>
          <a:xfrm flipH="1">
            <a:off x="7730175" y="3371950"/>
            <a:ext cx="6501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False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7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 writing equivalent fractions</a:t>
            </a:r>
            <a:endParaRPr/>
          </a:p>
        </p:txBody>
      </p:sp>
      <p:sp>
        <p:nvSpPr>
          <p:cNvPr id="975" name="Google Shape;975;p7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fractions </a:t>
            </a:r>
            <a:endParaRPr/>
          </a:p>
        </p:txBody>
      </p:sp>
      <p:sp>
        <p:nvSpPr>
          <p:cNvPr id="976" name="Google Shape;976;p7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fractions using equivalent fractions</a:t>
            </a:r>
            <a:endParaRPr/>
          </a:p>
        </p:txBody>
      </p:sp>
      <p:sp>
        <p:nvSpPr>
          <p:cNvPr id="977" name="Google Shape;977;p78"/>
          <p:cNvSpPr txBox="1"/>
          <p:nvPr>
            <p:ph idx="4" type="title"/>
          </p:nvPr>
        </p:nvSpPr>
        <p:spPr>
          <a:xfrm>
            <a:off x="324000" y="657600"/>
            <a:ext cx="7307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rdering fractions by way of a common denominator</a:t>
            </a:r>
            <a:endParaRPr/>
          </a:p>
        </p:txBody>
      </p:sp>
      <p:pic>
        <p:nvPicPr>
          <p:cNvPr id="978" name="Google Shape;97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200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fractions </a:t>
            </a:r>
            <a:endParaRPr/>
          </a:p>
        </p:txBody>
      </p:sp>
      <p:sp>
        <p:nvSpPr>
          <p:cNvPr id="984" name="Google Shape;984;p79"/>
          <p:cNvSpPr txBox="1"/>
          <p:nvPr>
            <p:ph idx="1" type="body"/>
          </p:nvPr>
        </p:nvSpPr>
        <p:spPr>
          <a:xfrm>
            <a:off x="324000" y="759300"/>
            <a:ext cx="82377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is greater?</a:t>
            </a:r>
            <a:endParaRPr/>
          </a:p>
        </p:txBody>
      </p:sp>
      <p:sp>
        <p:nvSpPr>
          <p:cNvPr id="985" name="Google Shape;985;p79"/>
          <p:cNvSpPr/>
          <p:nvPr/>
        </p:nvSpPr>
        <p:spPr>
          <a:xfrm>
            <a:off x="2294250" y="1772400"/>
            <a:ext cx="1185900" cy="1616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9"/>
          <p:cNvSpPr/>
          <p:nvPr/>
        </p:nvSpPr>
        <p:spPr>
          <a:xfrm>
            <a:off x="5663850" y="1772400"/>
            <a:ext cx="1185900" cy="1616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1}{17}\ \ \frac{13}{17}\\&amp;#13;&amp;#10;\end{array}&quot;&gt;&lt;mtable columnalign=&quot;left&quot; columnspacing=&quot;1em&quot; rowspacing=&quot;4pt&quot;&gt;&lt;mtr&gt;&lt;mtd&gt;&lt;mfrac&gt;&lt;mn&gt;11&lt;/mn&gt;&lt;mn&gt;17&lt;/mn&gt;&lt;/mfrac&gt;&lt;mtext&gt;&lt;/mtext&gt;&lt;mtext&gt;&lt;/mtext&gt;&lt;mfrac&gt;&lt;mn&gt;13&lt;/mn&gt;&lt;mn&gt;17&lt;/mn&gt;&lt;/mfrac&gt;&lt;/mtd&gt;&lt;/mtr&gt;&lt;/mtable&gt;&lt;/math&gt;" id="987" name="Google Shape;987;p79" title="1 lines Line 1: 11 over 17 13 over 17"/>
          <p:cNvPicPr preferRelativeResize="0"/>
          <p:nvPr/>
        </p:nvPicPr>
        <p:blipFill rotWithShape="1">
          <a:blip r:embed="rId3">
            <a:alphaModFix/>
          </a:blip>
          <a:srcRect b="0" l="0" r="59063" t="0"/>
          <a:stretch/>
        </p:blipFill>
        <p:spPr>
          <a:xfrm>
            <a:off x="2622050" y="2245900"/>
            <a:ext cx="5303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17}\ \ \frac{13}{17}\\&amp;#13;&amp;#10;\end{array}&quot;&gt;&lt;mtable columnalign=&quot;left&quot; columnspacing=&quot;1em&quot; rowspacing=&quot;4pt&quot;&gt;&lt;mtr&gt;&lt;mtd&gt;&lt;mfrac&gt;&lt;mn&gt;11&lt;/mn&gt;&lt;mn&gt;17&lt;/mn&gt;&lt;/mfrac&gt;&lt;mtext&gt;&lt;/mtext&gt;&lt;mtext&gt;&lt;/mtext&gt;&lt;mfrac&gt;&lt;mn&gt;13&lt;/mn&gt;&lt;mn&gt;17&lt;/mn&gt;&lt;/mfrac&gt;&lt;/mtd&gt;&lt;/mtr&gt;&lt;/mtable&gt;&lt;/math&gt;" id="988" name="Google Shape;988;p79" title="1 lines Line 1: 11 over 17 13 over 17"/>
          <p:cNvPicPr preferRelativeResize="0"/>
          <p:nvPr/>
        </p:nvPicPr>
        <p:blipFill rotWithShape="1">
          <a:blip r:embed="rId3">
            <a:alphaModFix/>
          </a:blip>
          <a:srcRect b="0" l="62909" r="0" t="0"/>
          <a:stretch/>
        </p:blipFill>
        <p:spPr>
          <a:xfrm>
            <a:off x="6016563" y="2245900"/>
            <a:ext cx="48047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79"/>
          <p:cNvSpPr txBox="1"/>
          <p:nvPr/>
        </p:nvSpPr>
        <p:spPr>
          <a:xfrm>
            <a:off x="4470750" y="2366400"/>
            <a:ext cx="202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&lt;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8-11-2023/1e847afd-9ca9-4fcb-9227-f7a694a5d148&quot; data-equatio-type=&quot;image&quot;&gt;&lt;mglyph src=&quot;https://equatio-api.texthelp.com/desmos/get/08-11-2023/1e847afd-9ca9-4fcb-9227-f7a694a5d148&quot; alt=&quot;Equatio Image&quot;/&gt;&lt;/math&gt;" id="990" name="Google Shape;990;p79" title="Equatio Image"/>
          <p:cNvPicPr preferRelativeResize="0"/>
          <p:nvPr/>
        </p:nvPicPr>
        <p:blipFill rotWithShape="1">
          <a:blip r:embed="rId4">
            <a:alphaModFix/>
          </a:blip>
          <a:srcRect b="0" l="0" r="0" t="57625"/>
          <a:stretch/>
        </p:blipFill>
        <p:spPr>
          <a:xfrm>
            <a:off x="1690688" y="3501200"/>
            <a:ext cx="576262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8-11-2023/1e847afd-9ca9-4fcb-9227-f7a694a5d148&quot; data-equatio-type=&quot;image&quot;&gt;&lt;mglyph src=&quot;https://equatio-api.texthelp.com/desmos/get/08-11-2023/1e847afd-9ca9-4fcb-9227-f7a694a5d148&quot; alt=&quot;Equatio Image&quot;/&gt;&lt;/math&gt;" id="991" name="Google Shape;991;p79" title="Equatio Image"/>
          <p:cNvPicPr preferRelativeResize="0"/>
          <p:nvPr/>
        </p:nvPicPr>
        <p:blipFill rotWithShape="1">
          <a:blip r:embed="rId4">
            <a:alphaModFix/>
          </a:blip>
          <a:srcRect b="62563" l="0" r="0" t="0"/>
          <a:stretch/>
        </p:blipFill>
        <p:spPr>
          <a:xfrm>
            <a:off x="1690700" y="4278400"/>
            <a:ext cx="5762625" cy="5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fractions</a:t>
            </a:r>
            <a:endParaRPr/>
          </a:p>
        </p:txBody>
      </p:sp>
      <p:sp>
        <p:nvSpPr>
          <p:cNvPr id="997" name="Google Shape;997;p80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and Jacob love practising their penalty shooting skills.</a:t>
            </a:r>
            <a:endParaRPr/>
          </a:p>
        </p:txBody>
      </p:sp>
      <p:pic>
        <p:nvPicPr>
          <p:cNvPr id="998" name="Google Shape;99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6250" y="3421875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00" y="32812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80"/>
          <p:cNvSpPr txBox="1"/>
          <p:nvPr/>
        </p:nvSpPr>
        <p:spPr>
          <a:xfrm>
            <a:off x="44175" y="440207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80"/>
          <p:cNvSpPr txBox="1"/>
          <p:nvPr/>
        </p:nvSpPr>
        <p:spPr>
          <a:xfrm>
            <a:off x="7234528" y="44020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0"/>
          <p:cNvSpPr txBox="1"/>
          <p:nvPr>
            <p:ph idx="1" type="body"/>
          </p:nvPr>
        </p:nvSpPr>
        <p:spPr>
          <a:xfrm>
            <a:off x="324000" y="1549950"/>
            <a:ext cx="82377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want to know who had the greatest success rate.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Unfortunately they did not shoot the same number of penalties.</a:t>
            </a:r>
            <a:endParaRPr/>
          </a:p>
        </p:txBody>
      </p:sp>
      <p:grpSp>
        <p:nvGrpSpPr>
          <p:cNvPr id="1003" name="Google Shape;1003;p80"/>
          <p:cNvGrpSpPr/>
          <p:nvPr/>
        </p:nvGrpSpPr>
        <p:grpSpPr>
          <a:xfrm>
            <a:off x="998998" y="2952160"/>
            <a:ext cx="2662057" cy="862838"/>
            <a:chOff x="1684798" y="2952160"/>
            <a:chExt cx="2662057" cy="862838"/>
          </a:xfrm>
        </p:grpSpPr>
        <p:pic>
          <p:nvPicPr>
            <p:cNvPr id="1004" name="Google Shape;1004;p80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 flipH="1">
              <a:off x="1684798" y="2952160"/>
              <a:ext cx="2662057" cy="8628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5" name="Google Shape;1005;p80"/>
            <p:cNvSpPr txBox="1"/>
            <p:nvPr/>
          </p:nvSpPr>
          <p:spPr>
            <a:xfrm>
              <a:off x="1867650" y="3017975"/>
              <a:ext cx="24792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shot 8 penalties and scored 5.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6" name="Google Shape;1006;p80"/>
          <p:cNvGrpSpPr/>
          <p:nvPr/>
        </p:nvGrpSpPr>
        <p:grpSpPr>
          <a:xfrm>
            <a:off x="4511175" y="2833700"/>
            <a:ext cx="2722877" cy="658849"/>
            <a:chOff x="4511175" y="2833700"/>
            <a:chExt cx="2722877" cy="658849"/>
          </a:xfrm>
        </p:grpSpPr>
        <p:pic>
          <p:nvPicPr>
            <p:cNvPr id="1007" name="Google Shape;1007;p80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>
              <a:off x="4511175" y="2833700"/>
              <a:ext cx="2722877" cy="658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0"/>
            <p:cNvSpPr txBox="1"/>
            <p:nvPr/>
          </p:nvSpPr>
          <p:spPr>
            <a:xfrm>
              <a:off x="4599200" y="2949500"/>
              <a:ext cx="2479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shot 12 and scored 7.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9" name="Google Shape;1009;p80"/>
          <p:cNvGrpSpPr/>
          <p:nvPr/>
        </p:nvGrpSpPr>
        <p:grpSpPr>
          <a:xfrm>
            <a:off x="1652173" y="2763477"/>
            <a:ext cx="2662052" cy="1562650"/>
            <a:chOff x="2064973" y="4095277"/>
            <a:chExt cx="2662052" cy="1562650"/>
          </a:xfrm>
        </p:grpSpPr>
        <p:pic>
          <p:nvPicPr>
            <p:cNvPr id="1010" name="Google Shape;1010;p80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 flipH="1">
              <a:off x="2064973" y="4095277"/>
              <a:ext cx="2662052" cy="1562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80"/>
            <p:cNvSpPr txBox="1"/>
            <p:nvPr/>
          </p:nvSpPr>
          <p:spPr>
            <a:xfrm>
              <a:off x="2247825" y="4161088"/>
              <a:ext cx="2479200" cy="9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both got one more than a half so we had the same success rate.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2" name="Google Shape;1012;p80"/>
          <p:cNvSpPr txBox="1"/>
          <p:nvPr/>
        </p:nvSpPr>
        <p:spPr>
          <a:xfrm>
            <a:off x="1488700" y="4372500"/>
            <a:ext cx="37035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Do you agree with Aisha?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3" name="Google Shape;1013;p80"/>
          <p:cNvPicPr preferRelativeResize="0"/>
          <p:nvPr/>
        </p:nvPicPr>
        <p:blipFill rotWithShape="1">
          <a:blip r:embed="rId6">
            <a:alphaModFix/>
          </a:blip>
          <a:srcRect b="0" l="0" r="50763" t="0"/>
          <a:stretch/>
        </p:blipFill>
        <p:spPr>
          <a:xfrm>
            <a:off x="7940299" y="1080000"/>
            <a:ext cx="879702" cy="89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fractions </a:t>
            </a:r>
            <a:endParaRPr/>
          </a:p>
        </p:txBody>
      </p:sp>
      <p:sp>
        <p:nvSpPr>
          <p:cNvPr id="1019" name="Google Shape;1019;p81"/>
          <p:cNvSpPr txBox="1"/>
          <p:nvPr>
            <p:ph idx="1" type="body"/>
          </p:nvPr>
        </p:nvSpPr>
        <p:spPr>
          <a:xfrm>
            <a:off x="324000" y="759300"/>
            <a:ext cx="8237700" cy="77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will use our knowledge of </a:t>
            </a:r>
            <a:r>
              <a:rPr lang="en-GB"/>
              <a:t>equivalent fractions to see if this is true.</a:t>
            </a:r>
            <a:endParaRPr/>
          </a:p>
        </p:txBody>
      </p:sp>
      <p:pic>
        <p:nvPicPr>
          <p:cNvPr id="1020" name="Google Shape;102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6250" y="3421875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00" y="32812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81"/>
          <p:cNvSpPr txBox="1"/>
          <p:nvPr/>
        </p:nvSpPr>
        <p:spPr>
          <a:xfrm>
            <a:off x="44175" y="440207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1"/>
          <p:cNvSpPr txBox="1"/>
          <p:nvPr/>
        </p:nvSpPr>
        <p:spPr>
          <a:xfrm>
            <a:off x="7234528" y="44020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4" name="Google Shape;1024;p81"/>
          <p:cNvGrpSpPr/>
          <p:nvPr/>
        </p:nvGrpSpPr>
        <p:grpSpPr>
          <a:xfrm>
            <a:off x="1124502" y="3028350"/>
            <a:ext cx="3030748" cy="1199525"/>
            <a:chOff x="1581702" y="2952150"/>
            <a:chExt cx="3030748" cy="1199525"/>
          </a:xfrm>
        </p:grpSpPr>
        <p:pic>
          <p:nvPicPr>
            <p:cNvPr id="1025" name="Google Shape;1025;p81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 flipH="1">
              <a:off x="1581702" y="2952150"/>
              <a:ext cx="3030748" cy="86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6" name="Google Shape;1026;p81"/>
            <p:cNvSpPr txBox="1"/>
            <p:nvPr/>
          </p:nvSpPr>
          <p:spPr>
            <a:xfrm>
              <a:off x="1867650" y="3170375"/>
              <a:ext cx="2479200" cy="9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5}{8}\ \ \frac{7}{12}&quot;&gt;&lt;mfrac&gt;&lt;mn&gt;5&lt;/mn&gt;&lt;mn&gt;8&lt;/mn&gt;&lt;/mfrac&gt;&lt;mtext&gt;&lt;/mtext&gt;&lt;mtext&gt;&lt;/mtext&gt;&lt;mfrac&gt;&lt;mn&gt;7&lt;/mn&gt;&lt;mn&gt;12&lt;/mn&gt;&lt;/mfrac&gt;&lt;/math&gt;" id="1027" name="Google Shape;1027;p81" title="five eighths 7 over 12"/>
            <p:cNvPicPr preferRelativeResize="0"/>
            <p:nvPr/>
          </p:nvPicPr>
          <p:blipFill rotWithShape="1">
            <a:blip r:embed="rId6">
              <a:alphaModFix/>
            </a:blip>
            <a:srcRect b="0" l="0" r="58667" t="0"/>
            <a:stretch/>
          </p:blipFill>
          <p:spPr>
            <a:xfrm>
              <a:off x="2736825" y="3055875"/>
              <a:ext cx="257650" cy="523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8" name="Google Shape;1028;p81"/>
          <p:cNvGrpSpPr/>
          <p:nvPr/>
        </p:nvGrpSpPr>
        <p:grpSpPr>
          <a:xfrm>
            <a:off x="4920075" y="3062300"/>
            <a:ext cx="2971327" cy="1173300"/>
            <a:chOff x="4466142" y="2833700"/>
            <a:chExt cx="2886185" cy="1173300"/>
          </a:xfrm>
        </p:grpSpPr>
        <p:pic>
          <p:nvPicPr>
            <p:cNvPr id="1029" name="Google Shape;1029;p81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>
              <a:off x="4466142" y="2833700"/>
              <a:ext cx="2886185" cy="86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0" name="Google Shape;1030;p81"/>
            <p:cNvSpPr txBox="1"/>
            <p:nvPr/>
          </p:nvSpPr>
          <p:spPr>
            <a:xfrm>
              <a:off x="4599200" y="3025700"/>
              <a:ext cx="2561700" cy="9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5}{8}\ \ \frac{7}{12}&quot;&gt;&lt;mfrac&gt;&lt;mn&gt;5&lt;/mn&gt;&lt;mn&gt;8&lt;/mn&gt;&lt;/mfrac&gt;&lt;mtext&gt;&lt;/mtext&gt;&lt;mtext&gt;&lt;/mtext&gt;&lt;mfrac&gt;&lt;mn&gt;7&lt;/mn&gt;&lt;mn&gt;12&lt;/mn&gt;&lt;/mfrac&gt;&lt;/math&gt;" id="1031" name="Google Shape;1031;p81" title="five eighths 7 over 12"/>
            <p:cNvPicPr preferRelativeResize="0"/>
            <p:nvPr/>
          </p:nvPicPr>
          <p:blipFill rotWithShape="1">
            <a:blip r:embed="rId6">
              <a:alphaModFix/>
            </a:blip>
            <a:srcRect b="0" l="49543" r="0" t="0"/>
            <a:stretch/>
          </p:blipFill>
          <p:spPr>
            <a:xfrm>
              <a:off x="5376975" y="2909900"/>
              <a:ext cx="314525" cy="523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2" name="Google Shape;1032;p81"/>
          <p:cNvSpPr txBox="1"/>
          <p:nvPr/>
        </p:nvSpPr>
        <p:spPr>
          <a:xfrm>
            <a:off x="324000" y="1620000"/>
            <a:ext cx="8496000" cy="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We need to find the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lowest common multiple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8 and 12.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This will allow us to create two fractions with a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common denominator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so that we can compare them.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3" name="Google Shape;1033;p81"/>
          <p:cNvGrpSpPr/>
          <p:nvPr/>
        </p:nvGrpSpPr>
        <p:grpSpPr>
          <a:xfrm>
            <a:off x="1607875" y="3246575"/>
            <a:ext cx="2429100" cy="981300"/>
            <a:chOff x="1607875" y="3246575"/>
            <a:chExt cx="2429100" cy="981300"/>
          </a:xfrm>
        </p:grpSpPr>
        <p:sp>
          <p:nvSpPr>
            <p:cNvPr id="1034" name="Google Shape;1034;p81"/>
            <p:cNvSpPr txBox="1"/>
            <p:nvPr/>
          </p:nvSpPr>
          <p:spPr>
            <a:xfrm>
              <a:off x="1607875" y="3246575"/>
              <a:ext cx="2429100" cy="9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score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5" name="Google Shape;1035;p81"/>
            <p:cNvSpPr txBox="1"/>
            <p:nvPr/>
          </p:nvSpPr>
          <p:spPr>
            <a:xfrm>
              <a:off x="2537275" y="3246575"/>
              <a:ext cx="1499700" cy="9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of my shots.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6" name="Google Shape;1036;p81"/>
          <p:cNvGrpSpPr/>
          <p:nvPr/>
        </p:nvGrpSpPr>
        <p:grpSpPr>
          <a:xfrm>
            <a:off x="5221925" y="3246575"/>
            <a:ext cx="2429100" cy="981300"/>
            <a:chOff x="1607875" y="3246575"/>
            <a:chExt cx="2429100" cy="981300"/>
          </a:xfrm>
        </p:grpSpPr>
        <p:sp>
          <p:nvSpPr>
            <p:cNvPr id="1037" name="Google Shape;1037;p81"/>
            <p:cNvSpPr txBox="1"/>
            <p:nvPr/>
          </p:nvSpPr>
          <p:spPr>
            <a:xfrm>
              <a:off x="1607875" y="3246575"/>
              <a:ext cx="2429100" cy="9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score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8" name="Google Shape;1038;p81"/>
            <p:cNvSpPr txBox="1"/>
            <p:nvPr/>
          </p:nvSpPr>
          <p:spPr>
            <a:xfrm>
              <a:off x="2613475" y="3246575"/>
              <a:ext cx="1379400" cy="9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of my shots.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fractions </a:t>
            </a:r>
            <a:endParaRPr/>
          </a:p>
        </p:txBody>
      </p:sp>
      <p:pic>
        <p:nvPicPr>
          <p:cNvPr id="1044" name="Google Shape;104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6250" y="3193275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00" y="30526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82"/>
          <p:cNvSpPr txBox="1"/>
          <p:nvPr/>
        </p:nvSpPr>
        <p:spPr>
          <a:xfrm>
            <a:off x="44175" y="417347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2"/>
          <p:cNvSpPr txBox="1"/>
          <p:nvPr/>
        </p:nvSpPr>
        <p:spPr>
          <a:xfrm>
            <a:off x="7234528" y="41734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2"/>
          <p:cNvSpPr txBox="1"/>
          <p:nvPr/>
        </p:nvSpPr>
        <p:spPr>
          <a:xfrm>
            <a:off x="324000" y="810000"/>
            <a:ext cx="19359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Multiples of 8: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2"/>
          <p:cNvSpPr txBox="1"/>
          <p:nvPr/>
        </p:nvSpPr>
        <p:spPr>
          <a:xfrm>
            <a:off x="4346850" y="956075"/>
            <a:ext cx="3567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8 and 12 is 24.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8}=\frac{5\times3}{8\times3}=\frac{15}{24}&quot;&gt;&lt;mfrac&gt;&lt;mn&gt;5&lt;/mn&gt;&lt;mn&gt;8&lt;/mn&gt;&lt;/mfrac&gt;&lt;mo&gt;=&lt;/mo&gt;&lt;mfrac&gt;&lt;mrow&gt;&lt;mn&gt;5&lt;/mn&gt;&lt;mo&gt;×&lt;/mo&gt;&lt;mn&gt;3&lt;/mn&gt;&lt;/mrow&gt;&lt;mrow&gt;&lt;mn&gt;8&lt;/mn&gt;&lt;mo&gt;×&lt;/mo&gt;&lt;mn&gt;3&lt;/mn&gt;&lt;/mrow&gt;&lt;/mfrac&gt;&lt;mo&gt;=&lt;/mo&gt;&lt;mfrac&gt;&lt;mn&gt;15&lt;/mn&gt;&lt;mn&gt;24&lt;/mn&gt;&lt;/mfrac&gt;&lt;/math&gt;" id="1050" name="Google Shape;1050;p82" title="five eighths equals the fraction with numerator 5 times 3 and denominator 8 times 3 equals 15 over 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977" y="1914789"/>
            <a:ext cx="2192059" cy="665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2}=\frac{7\times2}{12\times2}=\frac{14}{24}&quot;&gt;&lt;mfrac&gt;&lt;mn&gt;7&lt;/mn&gt;&lt;mn&gt;12&lt;/mn&gt;&lt;/mfrac&gt;&lt;mo&gt;=&lt;/mo&gt;&lt;mfrac&gt;&lt;mrow&gt;&lt;mn&gt;7&lt;/mn&gt;&lt;mo&gt;×&lt;/mo&gt;&lt;mn&gt;2&lt;/mn&gt;&lt;/mrow&gt;&lt;mrow&gt;&lt;mn&gt;12&lt;/mn&gt;&lt;mo&gt;×&lt;/mo&gt;&lt;mn&gt;2&lt;/mn&gt;&lt;/mrow&gt;&lt;/mfrac&gt;&lt;mo&gt;=&lt;/mo&gt;&lt;mfrac&gt;&lt;mn&gt;14&lt;/mn&gt;&lt;mn&gt;24&lt;/mn&gt;&lt;/mfrac&gt;&lt;/math&gt;" id="1051" name="Google Shape;1051;p82" title="7 over 12 equals the fraction with numerator 7 times 2 and denominator 12 times 2 equals 14 over 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05400" y="1927852"/>
            <a:ext cx="2405485" cy="634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82"/>
          <p:cNvSpPr txBox="1"/>
          <p:nvPr/>
        </p:nvSpPr>
        <p:spPr>
          <a:xfrm>
            <a:off x="1391225" y="3514441"/>
            <a:ext cx="60450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Aisha had a better success rate.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How did we know that is true?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2"/>
          <p:cNvSpPr/>
          <p:nvPr/>
        </p:nvSpPr>
        <p:spPr>
          <a:xfrm>
            <a:off x="3084036" y="791725"/>
            <a:ext cx="370500" cy="38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2"/>
          <p:cNvSpPr/>
          <p:nvPr/>
        </p:nvSpPr>
        <p:spPr>
          <a:xfrm>
            <a:off x="2887200" y="1308225"/>
            <a:ext cx="370500" cy="38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2"/>
          <p:cNvSpPr/>
          <p:nvPr/>
        </p:nvSpPr>
        <p:spPr>
          <a:xfrm>
            <a:off x="6804325" y="2190450"/>
            <a:ext cx="7812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2"/>
          <p:cNvSpPr/>
          <p:nvPr/>
        </p:nvSpPr>
        <p:spPr>
          <a:xfrm>
            <a:off x="1488850" y="1864250"/>
            <a:ext cx="489600" cy="77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2"/>
          <p:cNvSpPr/>
          <p:nvPr/>
        </p:nvSpPr>
        <p:spPr>
          <a:xfrm>
            <a:off x="1945600" y="2213450"/>
            <a:ext cx="3144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2"/>
          <p:cNvSpPr/>
          <p:nvPr/>
        </p:nvSpPr>
        <p:spPr>
          <a:xfrm>
            <a:off x="1945600" y="1815300"/>
            <a:ext cx="314400" cy="38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2"/>
          <p:cNvSpPr/>
          <p:nvPr/>
        </p:nvSpPr>
        <p:spPr>
          <a:xfrm>
            <a:off x="2634050" y="1813600"/>
            <a:ext cx="4500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82"/>
          <p:cNvSpPr/>
          <p:nvPr/>
        </p:nvSpPr>
        <p:spPr>
          <a:xfrm>
            <a:off x="5885550" y="1858150"/>
            <a:ext cx="587700" cy="77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82"/>
          <p:cNvSpPr/>
          <p:nvPr/>
        </p:nvSpPr>
        <p:spPr>
          <a:xfrm>
            <a:off x="6473250" y="2238100"/>
            <a:ext cx="3144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2"/>
          <p:cNvSpPr/>
          <p:nvPr/>
        </p:nvSpPr>
        <p:spPr>
          <a:xfrm>
            <a:off x="6413825" y="1795050"/>
            <a:ext cx="3144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2"/>
          <p:cNvSpPr/>
          <p:nvPr/>
        </p:nvSpPr>
        <p:spPr>
          <a:xfrm>
            <a:off x="7196475" y="1795050"/>
            <a:ext cx="3144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82"/>
          <p:cNvSpPr/>
          <p:nvPr/>
        </p:nvSpPr>
        <p:spPr>
          <a:xfrm>
            <a:off x="2289825" y="2190450"/>
            <a:ext cx="7812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2"/>
          <p:cNvSpPr txBox="1"/>
          <p:nvPr/>
        </p:nvSpPr>
        <p:spPr>
          <a:xfrm>
            <a:off x="1788625" y="4375375"/>
            <a:ext cx="180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s larger than 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8}=\frac{5\times3}{8\times3}=\frac{15}{24}&quot;&gt;&lt;mfrac&gt;&lt;mn&gt;5&lt;/mn&gt;&lt;mn&gt;8&lt;/mn&gt;&lt;/mfrac&gt;&lt;mo&gt;=&lt;/mo&gt;&lt;mfrac&gt;&lt;mrow&gt;&lt;mn&gt;5&lt;/mn&gt;&lt;mo&gt;×&lt;/mo&gt;&lt;mn&gt;3&lt;/mn&gt;&lt;/mrow&gt;&lt;mrow&gt;&lt;mn&gt;8&lt;/mn&gt;&lt;mo&gt;×&lt;/mo&gt;&lt;mn&gt;3&lt;/mn&gt;&lt;/mrow&gt;&lt;/mfrac&gt;&lt;mo&gt;=&lt;/mo&gt;&lt;mfrac&gt;&lt;mn&gt;15&lt;/mn&gt;&lt;mn&gt;24&lt;/mn&gt;&lt;/mfrac&gt;&lt;/math&gt;" id="1066" name="Google Shape;1066;p82" title="five eighths equals the fraction with numerator 5 times 3 and denominator 8 times 3 equals 15 over 24"/>
          <p:cNvPicPr preferRelativeResize="0"/>
          <p:nvPr/>
        </p:nvPicPr>
        <p:blipFill rotWithShape="1">
          <a:blip r:embed="rId5">
            <a:alphaModFix/>
          </a:blip>
          <a:srcRect b="0" l="81763" r="0" t="0"/>
          <a:stretch/>
        </p:blipFill>
        <p:spPr>
          <a:xfrm>
            <a:off x="1384975" y="4290600"/>
            <a:ext cx="304594" cy="5068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2}=\frac{7\times2}{12\times2}=\frac{14}{24}&quot;&gt;&lt;mfrac&gt;&lt;mn&gt;7&lt;/mn&gt;&lt;mn&gt;12&lt;/mn&gt;&lt;/mfrac&gt;&lt;mo&gt;=&lt;/mo&gt;&lt;mfrac&gt;&lt;mrow&gt;&lt;mn&gt;7&lt;/mn&gt;&lt;mo&gt;×&lt;/mo&gt;&lt;mn&gt;2&lt;/mn&gt;&lt;/mrow&gt;&lt;mrow&gt;&lt;mn&gt;12&lt;/mn&gt;&lt;mo&gt;×&lt;/mo&gt;&lt;mn&gt;2&lt;/mn&gt;&lt;/mrow&gt;&lt;/mfrac&gt;&lt;mo&gt;=&lt;/mo&gt;&lt;mfrac&gt;&lt;mn&gt;14&lt;/mn&gt;&lt;mn&gt;24&lt;/mn&gt;&lt;/mfrac&gt;&lt;/math&gt;" id="1067" name="Google Shape;1067;p82" title="7 over 12 equals the fraction with numerator 7 times 2 and denominator 12 times 2 equals 14 over 24"/>
          <p:cNvPicPr preferRelativeResize="0"/>
          <p:nvPr/>
        </p:nvPicPr>
        <p:blipFill rotWithShape="1">
          <a:blip r:embed="rId6">
            <a:alphaModFix/>
          </a:blip>
          <a:srcRect b="0" l="83381" r="0" t="0"/>
          <a:stretch/>
        </p:blipFill>
        <p:spPr>
          <a:xfrm>
            <a:off x="3406669" y="4330603"/>
            <a:ext cx="304594" cy="4832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8" name="Google Shape;1068;p82"/>
          <p:cNvGrpSpPr/>
          <p:nvPr/>
        </p:nvGrpSpPr>
        <p:grpSpPr>
          <a:xfrm>
            <a:off x="1143749" y="2647350"/>
            <a:ext cx="3129626" cy="1199525"/>
            <a:chOff x="1600949" y="2952150"/>
            <a:chExt cx="3129626" cy="1199525"/>
          </a:xfrm>
        </p:grpSpPr>
        <p:pic>
          <p:nvPicPr>
            <p:cNvPr id="1069" name="Google Shape;1069;p82"/>
            <p:cNvPicPr preferRelativeResize="0"/>
            <p:nvPr/>
          </p:nvPicPr>
          <p:blipFill rotWithShape="1">
            <a:blip r:embed="rId7">
              <a:alphaModFix/>
            </a:blip>
            <a:srcRect b="43690" l="0" r="57905" t="0"/>
            <a:stretch/>
          </p:blipFill>
          <p:spPr>
            <a:xfrm flipH="1">
              <a:off x="1600949" y="2952150"/>
              <a:ext cx="3129626" cy="86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0" name="Google Shape;1070;p82"/>
            <p:cNvSpPr txBox="1"/>
            <p:nvPr/>
          </p:nvSpPr>
          <p:spPr>
            <a:xfrm>
              <a:off x="1867650" y="3170375"/>
              <a:ext cx="2479200" cy="9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5}{8}\ \ \frac{7}{12}&quot;&gt;&lt;mfrac&gt;&lt;mn&gt;5&lt;/mn&gt;&lt;mn&gt;8&lt;/mn&gt;&lt;/mfrac&gt;&lt;mtext&gt;&lt;/mtext&gt;&lt;mtext&gt;&lt;/mtext&gt;&lt;mfrac&gt;&lt;mn&gt;7&lt;/mn&gt;&lt;mn&gt;12&lt;/mn&gt;&lt;/mfrac&gt;&lt;/math&gt;" id="1071" name="Google Shape;1071;p82" title="five eighths 7 over 12"/>
            <p:cNvPicPr preferRelativeResize="0"/>
            <p:nvPr/>
          </p:nvPicPr>
          <p:blipFill rotWithShape="1">
            <a:blip r:embed="rId8">
              <a:alphaModFix/>
            </a:blip>
            <a:srcRect b="0" l="0" r="58667" t="0"/>
            <a:stretch/>
          </p:blipFill>
          <p:spPr>
            <a:xfrm>
              <a:off x="2736825" y="3055875"/>
              <a:ext cx="257650" cy="523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2" name="Google Shape;1072;p82"/>
          <p:cNvGrpSpPr/>
          <p:nvPr/>
        </p:nvGrpSpPr>
        <p:grpSpPr>
          <a:xfrm>
            <a:off x="1607875" y="2865575"/>
            <a:ext cx="2586600" cy="981300"/>
            <a:chOff x="1607875" y="3246575"/>
            <a:chExt cx="2586600" cy="981300"/>
          </a:xfrm>
        </p:grpSpPr>
        <p:sp>
          <p:nvSpPr>
            <p:cNvPr id="1073" name="Google Shape;1073;p82"/>
            <p:cNvSpPr txBox="1"/>
            <p:nvPr/>
          </p:nvSpPr>
          <p:spPr>
            <a:xfrm>
              <a:off x="1607875" y="3246575"/>
              <a:ext cx="2429100" cy="9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score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4" name="Google Shape;1074;p82"/>
            <p:cNvSpPr txBox="1"/>
            <p:nvPr/>
          </p:nvSpPr>
          <p:spPr>
            <a:xfrm>
              <a:off x="2537275" y="3246575"/>
              <a:ext cx="1657200" cy="9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 my shots.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5" name="Google Shape;1075;p82"/>
          <p:cNvGrpSpPr/>
          <p:nvPr/>
        </p:nvGrpSpPr>
        <p:grpSpPr>
          <a:xfrm>
            <a:off x="4934500" y="2681300"/>
            <a:ext cx="2927377" cy="1173300"/>
            <a:chOff x="4480154" y="2833700"/>
            <a:chExt cx="2843494" cy="1173300"/>
          </a:xfrm>
        </p:grpSpPr>
        <p:pic>
          <p:nvPicPr>
            <p:cNvPr id="1076" name="Google Shape;1076;p82"/>
            <p:cNvPicPr preferRelativeResize="0"/>
            <p:nvPr/>
          </p:nvPicPr>
          <p:blipFill rotWithShape="1">
            <a:blip r:embed="rId7">
              <a:alphaModFix/>
            </a:blip>
            <a:srcRect b="43690" l="0" r="57905" t="0"/>
            <a:stretch/>
          </p:blipFill>
          <p:spPr>
            <a:xfrm>
              <a:off x="4480154" y="2833700"/>
              <a:ext cx="2843494" cy="86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7" name="Google Shape;1077;p82"/>
            <p:cNvSpPr txBox="1"/>
            <p:nvPr/>
          </p:nvSpPr>
          <p:spPr>
            <a:xfrm>
              <a:off x="4599200" y="3025700"/>
              <a:ext cx="2561700" cy="9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5}{8}\ \ \frac{7}{12}&quot;&gt;&lt;mfrac&gt;&lt;mn&gt;5&lt;/mn&gt;&lt;mn&gt;8&lt;/mn&gt;&lt;/mfrac&gt;&lt;mtext&gt;&lt;/mtext&gt;&lt;mtext&gt;&lt;/mtext&gt;&lt;mfrac&gt;&lt;mn&gt;7&lt;/mn&gt;&lt;mn&gt;12&lt;/mn&gt;&lt;/mfrac&gt;&lt;/math&gt;" id="1078" name="Google Shape;1078;p82" title="five eighths 7 over 12"/>
            <p:cNvPicPr preferRelativeResize="0"/>
            <p:nvPr/>
          </p:nvPicPr>
          <p:blipFill rotWithShape="1">
            <a:blip r:embed="rId8">
              <a:alphaModFix/>
            </a:blip>
            <a:srcRect b="0" l="49543" r="0" t="0"/>
            <a:stretch/>
          </p:blipFill>
          <p:spPr>
            <a:xfrm>
              <a:off x="5376975" y="2909900"/>
              <a:ext cx="314525" cy="523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9" name="Google Shape;1079;p82"/>
          <p:cNvGrpSpPr/>
          <p:nvPr/>
        </p:nvGrpSpPr>
        <p:grpSpPr>
          <a:xfrm>
            <a:off x="5221925" y="2865575"/>
            <a:ext cx="2429100" cy="981300"/>
            <a:chOff x="1607875" y="3246575"/>
            <a:chExt cx="2429100" cy="981300"/>
          </a:xfrm>
        </p:grpSpPr>
        <p:sp>
          <p:nvSpPr>
            <p:cNvPr id="1080" name="Google Shape;1080;p82"/>
            <p:cNvSpPr txBox="1"/>
            <p:nvPr/>
          </p:nvSpPr>
          <p:spPr>
            <a:xfrm>
              <a:off x="1607875" y="3246575"/>
              <a:ext cx="2429100" cy="9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score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1" name="Google Shape;1081;p82"/>
            <p:cNvSpPr txBox="1"/>
            <p:nvPr/>
          </p:nvSpPr>
          <p:spPr>
            <a:xfrm>
              <a:off x="2613475" y="3246575"/>
              <a:ext cx="1379400" cy="9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of my shots.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2" name="Google Shape;1082;p82"/>
          <p:cNvGrpSpPr/>
          <p:nvPr/>
        </p:nvGrpSpPr>
        <p:grpSpPr>
          <a:xfrm>
            <a:off x="324000" y="810000"/>
            <a:ext cx="3783550" cy="957900"/>
            <a:chOff x="324000" y="810000"/>
            <a:chExt cx="3783550" cy="957900"/>
          </a:xfrm>
        </p:grpSpPr>
        <p:sp>
          <p:nvSpPr>
            <p:cNvPr id="1083" name="Google Shape;1083;p82"/>
            <p:cNvSpPr txBox="1"/>
            <p:nvPr/>
          </p:nvSpPr>
          <p:spPr>
            <a:xfrm>
              <a:off x="324000" y="1343400"/>
              <a:ext cx="3174000" cy="4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Multiples of 12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4" name="Google Shape;1084;p82"/>
            <p:cNvSpPr txBox="1"/>
            <p:nvPr/>
          </p:nvSpPr>
          <p:spPr>
            <a:xfrm>
              <a:off x="2338850" y="810000"/>
              <a:ext cx="1311600" cy="4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8,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5" name="Google Shape;1085;p82"/>
            <p:cNvSpPr txBox="1"/>
            <p:nvPr/>
          </p:nvSpPr>
          <p:spPr>
            <a:xfrm>
              <a:off x="2665350" y="810000"/>
              <a:ext cx="1137600" cy="4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16,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6" name="Google Shape;1086;p82"/>
            <p:cNvSpPr txBox="1"/>
            <p:nvPr/>
          </p:nvSpPr>
          <p:spPr>
            <a:xfrm>
              <a:off x="3106675" y="810000"/>
              <a:ext cx="848700" cy="4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7" name="Google Shape;1087;p82"/>
            <p:cNvSpPr txBox="1"/>
            <p:nvPr/>
          </p:nvSpPr>
          <p:spPr>
            <a:xfrm>
              <a:off x="2469525" y="1343400"/>
              <a:ext cx="1485600" cy="4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12,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8" name="Google Shape;1088;p82"/>
            <p:cNvSpPr txBox="1"/>
            <p:nvPr/>
          </p:nvSpPr>
          <p:spPr>
            <a:xfrm>
              <a:off x="2910850" y="1343400"/>
              <a:ext cx="1196700" cy="4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begin{array}{l}\frac{8}{21}\ &amp;gt;\ \frac{5}{14}\\&amp;#13;&amp;#10;\end{array}&quot;&gt;&lt;mtable columnalign=&quot;left&quot; columnspacing=&quot;1em&quot; rowspacing=&quot;4pt&quot;&gt;&lt;mtr&gt;&lt;mtd&gt;&lt;mfrac&gt;&lt;mn&gt;8&lt;/mn&gt;&lt;mn&gt;21&lt;/mn&gt;&lt;/mfrac&gt;&lt;mtext&gt;&lt;/mtext&gt;&lt;mo&gt;&amp;gt;&lt;/mo&gt;&lt;mtext&gt;&lt;/mtext&gt;&lt;mfrac&gt;&lt;mn&gt;5&lt;/mn&gt;&lt;mn&gt;14&lt;/mn&gt;&lt;/mfrac&gt;&lt;/mtd&gt;&lt;/mtr&gt;&lt;/mtable&gt;&lt;/math&gt;" id="1093" name="Google Shape;1093;p83" title="1 lines Line 1: 8 over 21 is greater than 5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925" y="3474250"/>
            <a:ext cx="1336958" cy="50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fractions</a:t>
            </a:r>
            <a:endParaRPr/>
          </a:p>
        </p:txBody>
      </p:sp>
      <p:sp>
        <p:nvSpPr>
          <p:cNvPr id="1095" name="Google Shape;1095;p83"/>
          <p:cNvSpPr txBox="1"/>
          <p:nvPr>
            <p:ph idx="1" type="body"/>
          </p:nvPr>
        </p:nvSpPr>
        <p:spPr>
          <a:xfrm>
            <a:off x="324000" y="606900"/>
            <a:ext cx="8237700" cy="11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equivalent fractions to decide which fraction is greater.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Insert either &lt; or &gt; to make the statement true.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8}\ &amp;lt;\ \frac{10}{24}&quot;&gt;&lt;mfrac&gt;&lt;mn&gt;3&lt;/mn&gt;&lt;mn&gt;8&lt;/mn&gt;&lt;/mfrac&gt;&lt;mtext&gt;&lt;/mtext&gt;&lt;mo&gt;&amp;lt;&lt;/mo&gt;&lt;mtext&gt;&lt;/mtext&gt;&lt;mfrac&gt;&lt;mn&gt;10&lt;/mn&gt;&lt;mn&gt;24&lt;/mn&gt;&lt;/mfrac&gt;&lt;/math&gt;" id="1096" name="Google Shape;1096;p83" title="three eighths is less than 10 over 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613" y="1861236"/>
            <a:ext cx="1070411" cy="5975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1}\ &amp;lt;\ \frac{2}{3}&quot;&gt;&lt;mfrac&gt;&lt;mn&gt;7&lt;/mn&gt;&lt;mn&gt;11&lt;/mn&gt;&lt;/mfrac&gt;&lt;mtext&gt;&lt;/mtext&gt;&lt;mo&gt;&amp;lt;&lt;/mo&gt;&lt;mtext&gt;&lt;/mtext&gt;&lt;mfrac&gt;&lt;mn&gt;2&lt;/mn&gt;&lt;mn&gt;3&lt;/mn&gt;&lt;/mfrac&gt;&lt;/math&gt;" id="1097" name="Google Shape;1097;p83" title="7 over 11 is less than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329" y="4194880"/>
            <a:ext cx="1079008" cy="601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9}\ &amp;lt;\ \frac{5}{6}&quot;&gt;&lt;mfrac&gt;&lt;mn&gt;5&lt;/mn&gt;&lt;mn&gt;9&lt;/mn&gt;&lt;/mfrac&gt;&lt;mtext&gt;&lt;/mtext&gt;&lt;mo&gt;&amp;lt;&lt;/mo&gt;&lt;mtext&gt;&lt;/mtext&gt;&lt;mfrac&gt;&lt;mn&gt;5&lt;/mn&gt;&lt;mn&gt;6&lt;/mn&gt;&lt;/mfrac&gt;&lt;/math&gt;" id="1098" name="Google Shape;1098;p83" title="five ninths is less than five six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37596" y="1878434"/>
            <a:ext cx="876963" cy="563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2}\ &amp;lt;\ \frac{7}{15}&quot;&gt;&lt;mfrac&gt;&lt;mn&gt;5&lt;/mn&gt;&lt;mn&gt;12&lt;/mn&gt;&lt;/mfrac&gt;&lt;mtext&gt;&lt;/mtext&gt;&lt;mo&gt;&amp;lt;&lt;/mo&gt;&lt;mtext&gt;&lt;/mtext&gt;&lt;mfrac&gt;&lt;mn&gt;7&lt;/mn&gt;&lt;mn&gt;15&lt;/mn&gt;&lt;/mfrac&gt;&lt;/math&gt;" id="1099" name="Google Shape;1099;p83" title="5 over 12 is less than 7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37612" y="2672044"/>
            <a:ext cx="1152088" cy="5717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}{75}\ &amp;gt;\ \frac{589}{1800}&quot;&gt;&lt;mfrac&gt;&lt;mn&gt;25&lt;/mn&gt;&lt;mn&gt;75&lt;/mn&gt;&lt;/mfrac&gt;&lt;mtext&gt;&lt;/mtext&gt;&lt;mo&gt;&amp;gt;&lt;/mo&gt;&lt;mtext&gt;&lt;/mtext&gt;&lt;mfrac&gt;&lt;mn&gt;589&lt;/mn&gt;&lt;mn&gt;1800&lt;/mn&gt;&lt;/mfrac&gt;&lt;/math&gt;" id="1100" name="Google Shape;1100;p83" title="25 over 75 is greater than 589 over 18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37590" y="4212070"/>
            <a:ext cx="1418616" cy="567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\ &amp;gt;\ \frac{24}{49}&quot;&gt;&lt;mfrac&gt;&lt;mn&gt;4&lt;/mn&gt;&lt;mn&gt;7&lt;/mn&gt;&lt;/mfrac&gt;&lt;mtext&gt;&lt;/mtext&gt;&lt;mo&gt;&amp;gt;&lt;/mo&gt;&lt;mtext&gt;&lt;/mtext&gt;&lt;mfrac&gt;&lt;mn&gt;24&lt;/mn&gt;&lt;mn&gt;49&lt;/mn&gt;&lt;/mfrac&gt;&lt;/math&gt;" id="1101" name="Google Shape;1101;p83" title="four sevenths is greater than 24 over 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3509" y="2634987"/>
            <a:ext cx="1044618" cy="584635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83"/>
          <p:cNvSpPr txBox="1"/>
          <p:nvPr/>
        </p:nvSpPr>
        <p:spPr>
          <a:xfrm>
            <a:off x="324000" y="1973700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3"/>
          <p:cNvSpPr txBox="1"/>
          <p:nvPr/>
        </p:nvSpPr>
        <p:spPr>
          <a:xfrm>
            <a:off x="324000" y="2757950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3"/>
          <p:cNvSpPr txBox="1"/>
          <p:nvPr/>
        </p:nvSpPr>
        <p:spPr>
          <a:xfrm>
            <a:off x="324000" y="3542200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3"/>
          <p:cNvSpPr txBox="1"/>
          <p:nvPr/>
        </p:nvSpPr>
        <p:spPr>
          <a:xfrm>
            <a:off x="324000" y="4440800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3"/>
          <p:cNvSpPr txBox="1"/>
          <p:nvPr/>
        </p:nvSpPr>
        <p:spPr>
          <a:xfrm>
            <a:off x="4572000" y="1973700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3"/>
          <p:cNvSpPr txBox="1"/>
          <p:nvPr/>
        </p:nvSpPr>
        <p:spPr>
          <a:xfrm>
            <a:off x="4572000" y="2796067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3"/>
          <p:cNvSpPr txBox="1"/>
          <p:nvPr/>
        </p:nvSpPr>
        <p:spPr>
          <a:xfrm>
            <a:off x="4572000" y="3618433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3"/>
          <p:cNvSpPr txBox="1"/>
          <p:nvPr/>
        </p:nvSpPr>
        <p:spPr>
          <a:xfrm>
            <a:off x="4572000" y="4440800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7}\ &amp;gt;\ \frac{3}{31}\\&amp;#13;&amp;#10;\end{array}&quot;&gt;&lt;mtable columnalign=&quot;left&quot; columnspacing=&quot;1em&quot; rowspacing=&quot;4pt&quot;&gt;&lt;mtr&gt;&lt;mtd&gt;&lt;mfrac&gt;&lt;mn&gt;1&lt;/mn&gt;&lt;mn&gt;7&lt;/mn&gt;&lt;/mfrac&gt;&lt;mtext&gt;&lt;/mtext&gt;&lt;mo&gt;&amp;gt;&lt;/mo&gt;&lt;mtext&gt;&lt;/mtext&gt;&lt;mfrac&gt;&lt;mn&gt;3&lt;/mn&gt;&lt;mn&gt;31&lt;/mn&gt;&lt;/mfrac&gt;&lt;/mtd&gt;&lt;/mtr&gt;&lt;/mtable&gt;&lt;/math&gt;" id="1110" name="Google Shape;1110;p83" title="1 lines Line 1: one seventh is greater than 3 over 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37600" y="3474251"/>
            <a:ext cx="1204137" cy="50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83"/>
          <p:cNvSpPr/>
          <p:nvPr/>
        </p:nvSpPr>
        <p:spPr>
          <a:xfrm>
            <a:off x="1075800" y="1991350"/>
            <a:ext cx="397500" cy="40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83"/>
          <p:cNvSpPr/>
          <p:nvPr/>
        </p:nvSpPr>
        <p:spPr>
          <a:xfrm>
            <a:off x="1075800" y="2724613"/>
            <a:ext cx="397500" cy="40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83"/>
          <p:cNvSpPr/>
          <p:nvPr/>
        </p:nvSpPr>
        <p:spPr>
          <a:xfrm>
            <a:off x="1277700" y="3504588"/>
            <a:ext cx="397500" cy="40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3"/>
          <p:cNvSpPr/>
          <p:nvPr/>
        </p:nvSpPr>
        <p:spPr>
          <a:xfrm>
            <a:off x="1227686" y="4293163"/>
            <a:ext cx="397500" cy="40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3"/>
          <p:cNvSpPr/>
          <p:nvPr/>
        </p:nvSpPr>
        <p:spPr>
          <a:xfrm>
            <a:off x="5313625" y="1957350"/>
            <a:ext cx="397500" cy="40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83"/>
          <p:cNvSpPr/>
          <p:nvPr/>
        </p:nvSpPr>
        <p:spPr>
          <a:xfrm>
            <a:off x="5414900" y="2755250"/>
            <a:ext cx="397500" cy="40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83"/>
          <p:cNvSpPr/>
          <p:nvPr/>
        </p:nvSpPr>
        <p:spPr>
          <a:xfrm>
            <a:off x="5376900" y="3525263"/>
            <a:ext cx="397500" cy="40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83"/>
          <p:cNvSpPr/>
          <p:nvPr/>
        </p:nvSpPr>
        <p:spPr>
          <a:xfrm>
            <a:off x="5419723" y="4295288"/>
            <a:ext cx="397500" cy="40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84"/>
          <p:cNvSpPr txBox="1"/>
          <p:nvPr>
            <p:ph idx="1" type="body"/>
          </p:nvPr>
        </p:nvSpPr>
        <p:spPr>
          <a:xfrm>
            <a:off x="372550" y="759300"/>
            <a:ext cx="8237700" cy="9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Place the words ‘greater’ and ‘less’ in the sentence:</a:t>
            </a:r>
            <a:endParaRPr/>
          </a:p>
        </p:txBody>
      </p:sp>
      <p:sp>
        <p:nvSpPr>
          <p:cNvPr id="1124" name="Google Shape;1124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11}&quot;&gt;&lt;mfrac&gt;&lt;mn&gt;3&lt;/mn&gt;&lt;mn&gt;11&lt;/mn&gt;&lt;/mfrac&gt;&lt;/math&gt;" id="1125" name="Google Shape;1125;p84" title="3 ove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475" y="1675825"/>
            <a:ext cx="331155" cy="59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1}&quot;&gt;&lt;mfrac&gt;&lt;mn&gt;4&lt;/mn&gt;&lt;mn&gt;11&lt;/mn&gt;&lt;/mfrac&gt;&lt;/math&gt;" id="1126" name="Google Shape;1126;p84" title="4 over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9674" y="1675825"/>
            <a:ext cx="324429" cy="59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1}&quot;&gt;&lt;mfrac&gt;&lt;mn&gt;2&lt;/mn&gt;&lt;mn&gt;11&lt;/mn&gt;&lt;/mfrac&gt;&lt;/math&gt;" id="1127" name="Google Shape;1127;p84" title="2 over 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8020" y="1675825"/>
            <a:ext cx="331155" cy="5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84"/>
          <p:cNvSpPr txBox="1"/>
          <p:nvPr>
            <p:ph idx="1" type="body"/>
          </p:nvPr>
        </p:nvSpPr>
        <p:spPr>
          <a:xfrm>
            <a:off x="1414050" y="1826100"/>
            <a:ext cx="20319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</a:t>
            </a:r>
            <a:endParaRPr/>
          </a:p>
        </p:txBody>
      </p:sp>
      <p:sp>
        <p:nvSpPr>
          <p:cNvPr id="1129" name="Google Shape;1129;p84"/>
          <p:cNvSpPr txBox="1"/>
          <p:nvPr>
            <p:ph idx="1" type="body"/>
          </p:nvPr>
        </p:nvSpPr>
        <p:spPr>
          <a:xfrm>
            <a:off x="3971175" y="1826100"/>
            <a:ext cx="23619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but</a:t>
            </a:r>
            <a:endParaRPr/>
          </a:p>
        </p:txBody>
      </p:sp>
      <p:sp>
        <p:nvSpPr>
          <p:cNvPr id="1130" name="Google Shape;1130;p84"/>
          <p:cNvSpPr txBox="1"/>
          <p:nvPr>
            <p:ph idx="1" type="body"/>
          </p:nvPr>
        </p:nvSpPr>
        <p:spPr>
          <a:xfrm>
            <a:off x="6826000" y="1826100"/>
            <a:ext cx="24699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84"/>
          <p:cNvSpPr txBox="1"/>
          <p:nvPr>
            <p:ph idx="1" type="body"/>
          </p:nvPr>
        </p:nvSpPr>
        <p:spPr>
          <a:xfrm>
            <a:off x="1704375" y="1826100"/>
            <a:ext cx="18939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             </a:t>
            </a:r>
            <a:r>
              <a:rPr lang="en-GB"/>
              <a:t> than 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84"/>
          <p:cNvSpPr txBox="1"/>
          <p:nvPr>
            <p:ph idx="1" type="body"/>
          </p:nvPr>
        </p:nvSpPr>
        <p:spPr>
          <a:xfrm>
            <a:off x="4512550" y="1826100"/>
            <a:ext cx="19728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u="sng"/>
              <a:t>             </a:t>
            </a:r>
            <a:r>
              <a:rPr lang="en-GB"/>
              <a:t> than</a:t>
            </a:r>
            <a:endParaRPr/>
          </a:p>
        </p:txBody>
      </p:sp>
      <p:sp>
        <p:nvSpPr>
          <p:cNvPr id="1133" name="Google Shape;1133;p84"/>
          <p:cNvSpPr txBox="1"/>
          <p:nvPr>
            <p:ph idx="1" type="body"/>
          </p:nvPr>
        </p:nvSpPr>
        <p:spPr>
          <a:xfrm>
            <a:off x="366250" y="3534025"/>
            <a:ext cx="8237700" cy="7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he correct?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134" name="Google Shape;1134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250" y="2771475"/>
            <a:ext cx="7935750" cy="62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fractions</a:t>
            </a:r>
            <a:endParaRPr/>
          </a:p>
        </p:txBody>
      </p:sp>
      <p:sp>
        <p:nvSpPr>
          <p:cNvPr id="1140" name="Google Shape;1140;p85"/>
          <p:cNvSpPr txBox="1"/>
          <p:nvPr>
            <p:ph idx="1" type="body"/>
          </p:nvPr>
        </p:nvSpPr>
        <p:spPr>
          <a:xfrm>
            <a:off x="324000" y="6831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equivalent fractions to decide </a:t>
            </a:r>
            <a:r>
              <a:rPr lang="en-GB"/>
              <a:t>which</a:t>
            </a:r>
            <a:r>
              <a:rPr lang="en-GB"/>
              <a:t> fraction is greater.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Insert either &lt; or &gt; to make the statement true.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8}\ &amp;lt;\ \frac{10}{24}&quot;&gt;&lt;mfrac&gt;&lt;mn&gt;3&lt;/mn&gt;&lt;mn&gt;8&lt;/mn&gt;&lt;/mfrac&gt;&lt;mtext&gt;&lt;/mtext&gt;&lt;mo&gt;&amp;lt;&lt;/mo&gt;&lt;mtext&gt;&lt;/mtext&gt;&lt;mfrac&gt;&lt;mn&gt;10&lt;/mn&gt;&lt;mn&gt;24&lt;/mn&gt;&lt;/mfrac&gt;&lt;/math&gt;" id="1141" name="Google Shape;1141;p85" title="three eighths is less than 10 over 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613" y="1861236"/>
            <a:ext cx="1070411" cy="5975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1}\ &amp;lt;\ \frac{2}{3}&quot;&gt;&lt;mfrac&gt;&lt;mn&gt;7&lt;/mn&gt;&lt;mn&gt;11&lt;/mn&gt;&lt;/mfrac&gt;&lt;mtext&gt;&lt;/mtext&gt;&lt;mo&gt;&amp;lt;&lt;/mo&gt;&lt;mtext&gt;&lt;/mtext&gt;&lt;mfrac&gt;&lt;mn&gt;2&lt;/mn&gt;&lt;mn&gt;3&lt;/mn&gt;&lt;/mfrac&gt;&lt;/math&gt;" id="1142" name="Google Shape;1142;p85" title="7 over 11 is less than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329" y="4194880"/>
            <a:ext cx="1079008" cy="601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9}\ &amp;lt;\ \frac{5}{6}&quot;&gt;&lt;mfrac&gt;&lt;mn&gt;5&lt;/mn&gt;&lt;mn&gt;9&lt;/mn&gt;&lt;/mfrac&gt;&lt;mtext&gt;&lt;/mtext&gt;&lt;mo&gt;&amp;lt;&lt;/mo&gt;&lt;mtext&gt;&lt;/mtext&gt;&lt;mfrac&gt;&lt;mn&gt;5&lt;/mn&gt;&lt;mn&gt;6&lt;/mn&gt;&lt;/mfrac&gt;&lt;/math&gt;" id="1143" name="Google Shape;1143;p85" title="five ninths is less than fiv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7596" y="1878434"/>
            <a:ext cx="876963" cy="563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2}\ &amp;lt;\ \frac{7}{15}&quot;&gt;&lt;mfrac&gt;&lt;mn&gt;5&lt;/mn&gt;&lt;mn&gt;12&lt;/mn&gt;&lt;/mfrac&gt;&lt;mtext&gt;&lt;/mtext&gt;&lt;mo&gt;&amp;lt;&lt;/mo&gt;&lt;mtext&gt;&lt;/mtext&gt;&lt;mfrac&gt;&lt;mn&gt;7&lt;/mn&gt;&lt;mn&gt;15&lt;/mn&gt;&lt;/mfrac&gt;&lt;/math&gt;" id="1144" name="Google Shape;1144;p85" title="5 over 12 is less than 7 over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37612" y="2672044"/>
            <a:ext cx="1152088" cy="5717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}{75}\ &amp;gt;\ \frac{589}{1800}&quot;&gt;&lt;mfrac&gt;&lt;mn&gt;25&lt;/mn&gt;&lt;mn&gt;75&lt;/mn&gt;&lt;/mfrac&gt;&lt;mtext&gt;&lt;/mtext&gt;&lt;mo&gt;&amp;gt;&lt;/mo&gt;&lt;mtext&gt;&lt;/mtext&gt;&lt;mfrac&gt;&lt;mn&gt;589&lt;/mn&gt;&lt;mn&gt;1800&lt;/mn&gt;&lt;/mfrac&gt;&lt;/math&gt;" id="1145" name="Google Shape;1145;p85" title="25 over 75 is greater than 589 over 18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37590" y="4212070"/>
            <a:ext cx="1418616" cy="567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\ &amp;gt;\ \frac{24}{49}&quot;&gt;&lt;mfrac&gt;&lt;mn&gt;4&lt;/mn&gt;&lt;mn&gt;7&lt;/mn&gt;&lt;/mfrac&gt;&lt;mtext&gt;&lt;/mtext&gt;&lt;mo&gt;&amp;gt;&lt;/mo&gt;&lt;mtext&gt;&lt;/mtext&gt;&lt;mfrac&gt;&lt;mn&gt;24&lt;/mn&gt;&lt;mn&gt;49&lt;/mn&gt;&lt;/mfrac&gt;&lt;/math&gt;" id="1146" name="Google Shape;1146;p85" title="four sevenths is greater than 24 over 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3509" y="2634987"/>
            <a:ext cx="1044618" cy="584635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85"/>
          <p:cNvSpPr txBox="1"/>
          <p:nvPr/>
        </p:nvSpPr>
        <p:spPr>
          <a:xfrm>
            <a:off x="324000" y="1973700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85"/>
          <p:cNvSpPr txBox="1"/>
          <p:nvPr/>
        </p:nvSpPr>
        <p:spPr>
          <a:xfrm>
            <a:off x="324000" y="2757950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5"/>
          <p:cNvSpPr txBox="1"/>
          <p:nvPr/>
        </p:nvSpPr>
        <p:spPr>
          <a:xfrm>
            <a:off x="324000" y="3542200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5"/>
          <p:cNvSpPr txBox="1"/>
          <p:nvPr/>
        </p:nvSpPr>
        <p:spPr>
          <a:xfrm>
            <a:off x="324000" y="4440800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85"/>
          <p:cNvSpPr txBox="1"/>
          <p:nvPr/>
        </p:nvSpPr>
        <p:spPr>
          <a:xfrm>
            <a:off x="4572000" y="1973700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5"/>
          <p:cNvSpPr txBox="1"/>
          <p:nvPr/>
        </p:nvSpPr>
        <p:spPr>
          <a:xfrm>
            <a:off x="4572000" y="2796067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85"/>
          <p:cNvSpPr txBox="1"/>
          <p:nvPr/>
        </p:nvSpPr>
        <p:spPr>
          <a:xfrm>
            <a:off x="4572000" y="3618433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85"/>
          <p:cNvSpPr txBox="1"/>
          <p:nvPr/>
        </p:nvSpPr>
        <p:spPr>
          <a:xfrm>
            <a:off x="4572000" y="4440800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7}\ &amp;gt;\ \frac{3}{31}\\&amp;#13;&amp;#10;\end{array}&quot;&gt;&lt;mtable columnalign=&quot;left&quot; columnspacing=&quot;1em&quot; rowspacing=&quot;4pt&quot;&gt;&lt;mtr&gt;&lt;mtd&gt;&lt;mfrac&gt;&lt;mn&gt;1&lt;/mn&gt;&lt;mn&gt;7&lt;/mn&gt;&lt;/mfrac&gt;&lt;mtext&gt;&lt;/mtext&gt;&lt;mo&gt;&amp;gt;&lt;/mo&gt;&lt;mtext&gt;&lt;/mtext&gt;&lt;mfrac&gt;&lt;mn&gt;3&lt;/mn&gt;&lt;mn&gt;31&lt;/mn&gt;&lt;/mfrac&gt;&lt;/mtd&gt;&lt;/mtr&gt;&lt;/mtable&gt;&lt;/math&gt;" id="1155" name="Google Shape;1155;p85" title="1 lines Line 1: one seventh is greater than 3 over 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37600" y="3474251"/>
            <a:ext cx="1204137" cy="50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8}{21}\ &amp;gt;\ \frac{5}{14}\\&amp;#13;&amp;#10;\end{array}&quot;&gt;&lt;mtable columnalign=&quot;left&quot; columnspacing=&quot;1em&quot; rowspacing=&quot;4pt&quot;&gt;&lt;mtr&gt;&lt;mtd&gt;&lt;mfrac&gt;&lt;mn&gt;8&lt;/mn&gt;&lt;mn&gt;21&lt;/mn&gt;&lt;/mfrac&gt;&lt;mtext&gt;&lt;/mtext&gt;&lt;mo&gt;&amp;gt;&lt;/mo&gt;&lt;mtext&gt;&lt;/mtext&gt;&lt;mfrac&gt;&lt;mn&gt;5&lt;/mn&gt;&lt;mn&gt;14&lt;/mn&gt;&lt;/mfrac&gt;&lt;/mtd&gt;&lt;/mtr&gt;&lt;/mtable&gt;&lt;/math&gt;" id="1156" name="Google Shape;1156;p85" title="1 lines Line 1: 8 over 21 is greater than 5 over 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9925" y="3474250"/>
            <a:ext cx="1336958" cy="50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85"/>
          <p:cNvSpPr/>
          <p:nvPr/>
        </p:nvSpPr>
        <p:spPr>
          <a:xfrm>
            <a:off x="1075800" y="1991350"/>
            <a:ext cx="397500" cy="4053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85"/>
          <p:cNvSpPr/>
          <p:nvPr/>
        </p:nvSpPr>
        <p:spPr>
          <a:xfrm>
            <a:off x="1075800" y="2724613"/>
            <a:ext cx="397500" cy="4053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85"/>
          <p:cNvSpPr/>
          <p:nvPr/>
        </p:nvSpPr>
        <p:spPr>
          <a:xfrm>
            <a:off x="1277700" y="3504588"/>
            <a:ext cx="397500" cy="4053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5"/>
          <p:cNvSpPr/>
          <p:nvPr/>
        </p:nvSpPr>
        <p:spPr>
          <a:xfrm>
            <a:off x="1227686" y="4293163"/>
            <a:ext cx="397500" cy="4053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5"/>
          <p:cNvSpPr/>
          <p:nvPr/>
        </p:nvSpPr>
        <p:spPr>
          <a:xfrm>
            <a:off x="5313625" y="1957350"/>
            <a:ext cx="397500" cy="4053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5"/>
          <p:cNvSpPr/>
          <p:nvPr/>
        </p:nvSpPr>
        <p:spPr>
          <a:xfrm>
            <a:off x="5414900" y="2755250"/>
            <a:ext cx="397500" cy="4053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5"/>
          <p:cNvSpPr/>
          <p:nvPr/>
        </p:nvSpPr>
        <p:spPr>
          <a:xfrm>
            <a:off x="5376900" y="3525263"/>
            <a:ext cx="397500" cy="4053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5"/>
          <p:cNvSpPr/>
          <p:nvPr/>
        </p:nvSpPr>
        <p:spPr>
          <a:xfrm>
            <a:off x="5419723" y="4295288"/>
            <a:ext cx="397500" cy="4053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86"/>
          <p:cNvSpPr txBox="1"/>
          <p:nvPr>
            <p:ph idx="1" type="body"/>
          </p:nvPr>
        </p:nvSpPr>
        <p:spPr>
          <a:xfrm>
            <a:off x="1414050" y="1826100"/>
            <a:ext cx="20319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</a:t>
            </a:r>
            <a:endParaRPr/>
          </a:p>
        </p:txBody>
      </p:sp>
      <p:sp>
        <p:nvSpPr>
          <p:cNvPr id="1170" name="Google Shape;1170;p86"/>
          <p:cNvSpPr txBox="1"/>
          <p:nvPr>
            <p:ph idx="1" type="body"/>
          </p:nvPr>
        </p:nvSpPr>
        <p:spPr>
          <a:xfrm>
            <a:off x="1704375" y="1826100"/>
            <a:ext cx="18939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             </a:t>
            </a:r>
            <a:r>
              <a:rPr lang="en-GB"/>
              <a:t> than 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86"/>
          <p:cNvSpPr txBox="1"/>
          <p:nvPr>
            <p:ph idx="1" type="body"/>
          </p:nvPr>
        </p:nvSpPr>
        <p:spPr>
          <a:xfrm>
            <a:off x="3971175" y="1826100"/>
            <a:ext cx="23619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but</a:t>
            </a:r>
            <a:endParaRPr/>
          </a:p>
        </p:txBody>
      </p:sp>
      <p:sp>
        <p:nvSpPr>
          <p:cNvPr id="1172" name="Google Shape;1172;p86"/>
          <p:cNvSpPr txBox="1"/>
          <p:nvPr>
            <p:ph idx="1" type="body"/>
          </p:nvPr>
        </p:nvSpPr>
        <p:spPr>
          <a:xfrm>
            <a:off x="4512550" y="1826100"/>
            <a:ext cx="19728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u="sng"/>
              <a:t>             </a:t>
            </a:r>
            <a:r>
              <a:rPr lang="en-GB"/>
              <a:t> than</a:t>
            </a:r>
            <a:endParaRPr/>
          </a:p>
        </p:txBody>
      </p:sp>
      <p:sp>
        <p:nvSpPr>
          <p:cNvPr id="1173" name="Google Shape;1173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fractions</a:t>
            </a:r>
            <a:endParaRPr/>
          </a:p>
        </p:txBody>
      </p:sp>
      <p:sp>
        <p:nvSpPr>
          <p:cNvPr id="1174" name="Google Shape;1174;p86"/>
          <p:cNvSpPr txBox="1"/>
          <p:nvPr/>
        </p:nvSpPr>
        <p:spPr>
          <a:xfrm>
            <a:off x="4472400" y="1679225"/>
            <a:ext cx="1138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greater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5" name="Google Shape;1175;p86"/>
          <p:cNvSpPr txBox="1"/>
          <p:nvPr/>
        </p:nvSpPr>
        <p:spPr>
          <a:xfrm>
            <a:off x="1847175" y="1696200"/>
            <a:ext cx="686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less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1}&quot;&gt;&lt;mfrac&gt;&lt;mn&gt;1&lt;/mn&gt;&lt;mn&gt;11&lt;/mn&gt;&lt;/mfrac&gt;&lt;/math&gt;" id="1176" name="Google Shape;1176;p86" title="1 ove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225" y="3653550"/>
            <a:ext cx="280725" cy="5060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1}&quot;&gt;&lt;mfrac&gt;&lt;mn&gt;3&lt;/mn&gt;&lt;mn&gt;11&lt;/mn&gt;&lt;/mfrac&gt;&lt;/math&gt;" id="1177" name="Google Shape;1177;p86" title="3 over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1575" y="3653550"/>
            <a:ext cx="294149" cy="530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1}&quot;&gt;&lt;mfrac&gt;&lt;mn&gt;4&lt;/mn&gt;&lt;mn&gt;11&lt;/mn&gt;&lt;/mfrac&gt;&lt;/math&gt;" id="1178" name="Google Shape;1178;p86" title="4 over 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4825" y="3653550"/>
            <a:ext cx="288175" cy="530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1}&quot;&gt;&lt;mfrac&gt;&lt;mn&gt;2&lt;/mn&gt;&lt;mn&gt;11&lt;/mn&gt;&lt;/mfrac&gt;&lt;/math&gt;" id="1179" name="Google Shape;1179;p86" title="2 over 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20200" y="4259364"/>
            <a:ext cx="294150" cy="53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1}&quot;&gt;&lt;mfrac&gt;&lt;mn&gt;3&lt;/mn&gt;&lt;mn&gt;11&lt;/mn&gt;&lt;/mfrac&gt;&lt;/math&gt;" id="1180" name="Google Shape;1180;p86" title="3 over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0050" y="4275773"/>
            <a:ext cx="294149" cy="530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86"/>
          <p:cNvSpPr txBox="1"/>
          <p:nvPr>
            <p:ph idx="1" type="body"/>
          </p:nvPr>
        </p:nvSpPr>
        <p:spPr>
          <a:xfrm>
            <a:off x="446300" y="3787800"/>
            <a:ext cx="8237700" cy="17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Jacob is correct as there is    between    and    , as well as between    and    . </a:t>
            </a:r>
            <a:endParaRPr/>
          </a:p>
        </p:txBody>
      </p:sp>
      <p:sp>
        <p:nvSpPr>
          <p:cNvPr id="1182" name="Google Shape;1182;p86"/>
          <p:cNvSpPr txBox="1"/>
          <p:nvPr>
            <p:ph idx="1" type="body"/>
          </p:nvPr>
        </p:nvSpPr>
        <p:spPr>
          <a:xfrm>
            <a:off x="372550" y="759300"/>
            <a:ext cx="8237700" cy="9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Place the words ‘greater’ and ‘less’ in the sentence: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11}&quot;&gt;&lt;mfrac&gt;&lt;mn&gt;3&lt;/mn&gt;&lt;mn&gt;11&lt;/mn&gt;&lt;/mfrac&gt;&lt;/math&gt;" id="1183" name="Google Shape;1183;p86" title="3 over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0475" y="1675825"/>
            <a:ext cx="331155" cy="59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1}&quot;&gt;&lt;mfrac&gt;&lt;mn&gt;4&lt;/mn&gt;&lt;mn&gt;11&lt;/mn&gt;&lt;/mfrac&gt;&lt;/math&gt;" id="1184" name="Google Shape;1184;p86" title="4 over 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9674" y="1675825"/>
            <a:ext cx="324429" cy="59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1}&quot;&gt;&lt;mfrac&gt;&lt;mn&gt;2&lt;/mn&gt;&lt;mn&gt;11&lt;/mn&gt;&lt;/mfrac&gt;&lt;/math&gt;" id="1185" name="Google Shape;1185;p86" title="2 over 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98020" y="1675825"/>
            <a:ext cx="331155" cy="5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86"/>
          <p:cNvSpPr txBox="1"/>
          <p:nvPr>
            <p:ph idx="1" type="body"/>
          </p:nvPr>
        </p:nvSpPr>
        <p:spPr>
          <a:xfrm>
            <a:off x="6826000" y="1826100"/>
            <a:ext cx="24699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86"/>
          <p:cNvSpPr txBox="1"/>
          <p:nvPr>
            <p:ph idx="1" type="body"/>
          </p:nvPr>
        </p:nvSpPr>
        <p:spPr>
          <a:xfrm>
            <a:off x="366250" y="3381625"/>
            <a:ext cx="8237700" cy="7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he correct?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188" name="Google Shape;1188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000" y="2657400"/>
            <a:ext cx="7925774" cy="61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8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 writing equivalent fractions</a:t>
            </a:r>
            <a:endParaRPr/>
          </a:p>
        </p:txBody>
      </p:sp>
      <p:sp>
        <p:nvSpPr>
          <p:cNvPr id="1194" name="Google Shape;1194;p87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fractions</a:t>
            </a:r>
            <a:endParaRPr/>
          </a:p>
        </p:txBody>
      </p:sp>
      <p:sp>
        <p:nvSpPr>
          <p:cNvPr id="1195" name="Google Shape;1195;p87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fractions using equivalent fractions</a:t>
            </a:r>
            <a:endParaRPr/>
          </a:p>
        </p:txBody>
      </p:sp>
      <p:sp>
        <p:nvSpPr>
          <p:cNvPr id="1196" name="Google Shape;1196;p87"/>
          <p:cNvSpPr txBox="1"/>
          <p:nvPr>
            <p:ph idx="4" type="title"/>
          </p:nvPr>
        </p:nvSpPr>
        <p:spPr>
          <a:xfrm>
            <a:off x="324000" y="657600"/>
            <a:ext cx="66558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fractions by way of a common denominator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7" name="Google Shape;119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850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2" name="Google Shape;1202;p88"/>
          <p:cNvGrpSpPr/>
          <p:nvPr/>
        </p:nvGrpSpPr>
        <p:grpSpPr>
          <a:xfrm>
            <a:off x="3556975" y="1893900"/>
            <a:ext cx="1522202" cy="1050899"/>
            <a:chOff x="3556975" y="1512900"/>
            <a:chExt cx="1522202" cy="1050899"/>
          </a:xfrm>
        </p:grpSpPr>
        <p:pic>
          <p:nvPicPr>
            <p:cNvPr id="1203" name="Google Shape;1203;p88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3556975" y="1512900"/>
              <a:ext cx="1522202" cy="1050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4" name="Google Shape;1204;p88"/>
            <p:cNvSpPr txBox="1"/>
            <p:nvPr/>
          </p:nvSpPr>
          <p:spPr>
            <a:xfrm>
              <a:off x="3623613" y="1617500"/>
              <a:ext cx="1379400" cy="7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scored    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of my shots.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begin{array}{l}\frac{9}{16}\end{array}&quot;&gt;&lt;mtable columnalign=&quot;left&quot; columnspacing=&quot;1em&quot; rowspacing=&quot;4pt&quot;&gt;&lt;mtr&gt;&lt;mtd&gt;&lt;mfrac&gt;&lt;mn&gt;9&lt;/mn&gt;&lt;mn&gt;16&lt;/mn&gt;&lt;/mfrac&gt;&lt;/mtd&gt;&lt;/mtr&gt;&lt;/mtable&gt;&lt;/math&gt;" id="1205" name="Google Shape;1205;p88" title="1 lines Line 1: 9 over 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05216" y="1556350"/>
              <a:ext cx="286710" cy="4674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6" name="Google Shape;1206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fractions using equivalent fractions</a:t>
            </a:r>
            <a:endParaRPr/>
          </a:p>
        </p:txBody>
      </p:sp>
      <p:sp>
        <p:nvSpPr>
          <p:cNvPr id="1207" name="Google Shape;1207;p88"/>
          <p:cNvSpPr txBox="1"/>
          <p:nvPr>
            <p:ph idx="1" type="body"/>
          </p:nvPr>
        </p:nvSpPr>
        <p:spPr>
          <a:xfrm>
            <a:off x="324000" y="759300"/>
            <a:ext cx="82377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Aisha, Lucas, Laura and Jacob have been practicing their basketball shooting skills.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Write them in order of performance.   </a:t>
            </a:r>
            <a:endParaRPr sz="1800"/>
          </a:p>
        </p:txBody>
      </p:sp>
      <p:pic>
        <p:nvPicPr>
          <p:cNvPr id="1208" name="Google Shape;1208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2450" y="3562493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200" y="27478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88"/>
          <p:cNvSpPr txBox="1"/>
          <p:nvPr/>
        </p:nvSpPr>
        <p:spPr>
          <a:xfrm>
            <a:off x="44175" y="386867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8"/>
          <p:cNvSpPr txBox="1"/>
          <p:nvPr/>
        </p:nvSpPr>
        <p:spPr>
          <a:xfrm>
            <a:off x="7310728" y="44020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88"/>
          <p:cNvSpPr txBox="1"/>
          <p:nvPr/>
        </p:nvSpPr>
        <p:spPr>
          <a:xfrm>
            <a:off x="4926613" y="3335273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3" name="Google Shape;1213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67115" y="249535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88"/>
          <p:cNvSpPr txBox="1"/>
          <p:nvPr/>
        </p:nvSpPr>
        <p:spPr>
          <a:xfrm>
            <a:off x="1533000" y="440207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5" name="Google Shape;1215;p8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23546" y="3562136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8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59200" y="810000"/>
            <a:ext cx="1522202" cy="15222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7" name="Google Shape;1217;p88"/>
          <p:cNvGrpSpPr/>
          <p:nvPr/>
        </p:nvGrpSpPr>
        <p:grpSpPr>
          <a:xfrm>
            <a:off x="975300" y="1949600"/>
            <a:ext cx="1718175" cy="1050901"/>
            <a:chOff x="492075" y="1737925"/>
            <a:chExt cx="1718175" cy="1161344"/>
          </a:xfrm>
        </p:grpSpPr>
        <p:pic>
          <p:nvPicPr>
            <p:cNvPr id="1218" name="Google Shape;1218;p88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492075" y="1737925"/>
              <a:ext cx="1718175" cy="11613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9" name="Google Shape;1219;p88"/>
            <p:cNvSpPr txBox="1"/>
            <p:nvPr/>
          </p:nvSpPr>
          <p:spPr>
            <a:xfrm>
              <a:off x="728325" y="1847463"/>
              <a:ext cx="1379400" cy="7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scored    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of my shots.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begin{array}{l}\frac{7}{12}\end{array}&quot;&gt;&lt;mtable columnalign=&quot;left&quot; columnspacing=&quot;1em&quot; rowspacing=&quot;4pt&quot;&gt;&lt;mtr&gt;&lt;mtd&gt;&lt;mfrac&gt;&lt;mn&gt;7&lt;/mn&gt;&lt;mn&gt;12&lt;/mn&gt;&lt;/mfrac&gt;&lt;/mtd&gt;&lt;/mtr&gt;&lt;/mtable&gt;&lt;/math&gt;" id="1220" name="Google Shape;1220;p88" title="1 lines Line 1: 7 over 12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743104" y="1811333"/>
              <a:ext cx="286710" cy="4680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1" name="Google Shape;1221;p88"/>
          <p:cNvGrpSpPr/>
          <p:nvPr/>
        </p:nvGrpSpPr>
        <p:grpSpPr>
          <a:xfrm>
            <a:off x="6409200" y="2749257"/>
            <a:ext cx="1522202" cy="1050899"/>
            <a:chOff x="6256800" y="2596857"/>
            <a:chExt cx="1522202" cy="1050899"/>
          </a:xfrm>
        </p:grpSpPr>
        <p:pic>
          <p:nvPicPr>
            <p:cNvPr id="1222" name="Google Shape;1222;p88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6256800" y="2596857"/>
              <a:ext cx="1522202" cy="1050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3" name="Google Shape;1223;p88"/>
            <p:cNvSpPr txBox="1"/>
            <p:nvPr/>
          </p:nvSpPr>
          <p:spPr>
            <a:xfrm>
              <a:off x="6323438" y="2701457"/>
              <a:ext cx="1379400" cy="7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scored    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of my shots.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begin{array}{l}\frac{13}{24}\end{array}&quot;&gt;&lt;mtable columnalign=&quot;left&quot; columnspacing=&quot;1em&quot; rowspacing=&quot;4pt&quot;&gt;&lt;mtr&gt;&lt;mtd&gt;&lt;mfrac&gt;&lt;mn&gt;13&lt;/mn&gt;&lt;mn&gt;24&lt;/mn&gt;&lt;/mfrac&gt;&lt;/mtd&gt;&lt;/mtr&gt;&lt;/mtable&gt;&lt;/math&gt;" id="1224" name="Google Shape;1224;p88" title="1 lines Line 1: 13 over 24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7283434" y="2707096"/>
              <a:ext cx="286710" cy="4680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5" name="Google Shape;1225;p88"/>
          <p:cNvGrpSpPr/>
          <p:nvPr/>
        </p:nvGrpSpPr>
        <p:grpSpPr>
          <a:xfrm>
            <a:off x="2709450" y="3175686"/>
            <a:ext cx="1718175" cy="1050937"/>
            <a:chOff x="2028112" y="2080563"/>
            <a:chExt cx="1718175" cy="1238874"/>
          </a:xfrm>
        </p:grpSpPr>
        <p:pic>
          <p:nvPicPr>
            <p:cNvPr id="1226" name="Google Shape;1226;p88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2028112" y="2080563"/>
              <a:ext cx="1718175" cy="12388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88"/>
            <p:cNvSpPr txBox="1"/>
            <p:nvPr/>
          </p:nvSpPr>
          <p:spPr>
            <a:xfrm>
              <a:off x="2264363" y="2190100"/>
              <a:ext cx="1379400" cy="7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scored    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of my shots.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begin{array}{l}\frac{5}{8}\end{array}&quot;&gt;&lt;mtable columnalign=&quot;left&quot; columnspacing=&quot;1em&quot; rowspacing=&quot;4pt&quot;&gt;&lt;mtr&gt;&lt;mtd&gt;&lt;mfrac&gt;&lt;mn&gt;5&lt;/mn&gt;&lt;mn&gt;8&lt;/mn&gt;&lt;/mfrac&gt;&lt;/mtd&gt;&lt;/mtr&gt;&lt;/mtable&gt;&lt;/math&gt;" id="1228" name="Google Shape;1228;p88" title="1 lines Line 1: five eighths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326860" y="2142908"/>
              <a:ext cx="168515" cy="46808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fractions using equivalent fractions</a:t>
            </a:r>
            <a:endParaRPr/>
          </a:p>
        </p:txBody>
      </p:sp>
      <p:sp>
        <p:nvSpPr>
          <p:cNvPr id="1234" name="Google Shape;1234;p89"/>
          <p:cNvSpPr txBox="1"/>
          <p:nvPr>
            <p:ph idx="1" type="body"/>
          </p:nvPr>
        </p:nvSpPr>
        <p:spPr>
          <a:xfrm>
            <a:off x="324000" y="698750"/>
            <a:ext cx="8237700" cy="22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Aisha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Lucas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Sofia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Jacob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7}{12}\end{array}&quot;&gt;&lt;mtable columnalign=&quot;left&quot; columnspacing=&quot;1em&quot; rowspacing=&quot;4pt&quot;&gt;&lt;mtr&gt;&lt;mtd&gt;&lt;mfrac&gt;&lt;mn&gt;7&lt;/mn&gt;&lt;mn&gt;12&lt;/mn&gt;&lt;/mfrac&gt;&lt;/mtd&gt;&lt;/mtr&gt;&lt;/mtable&gt;&lt;/math&gt;" id="1235" name="Google Shape;1235;p89" title="1 lines Line 1: 7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1451" y="711500"/>
            <a:ext cx="242646" cy="358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8}\end{array}&quot;&gt;&lt;mtable columnalign=&quot;left&quot; columnspacing=&quot;1em&quot; rowspacing=&quot;4pt&quot;&gt;&lt;mtr&gt;&lt;mtd&gt;&lt;mfrac&gt;&lt;mn&gt;5&lt;/mn&gt;&lt;mn&gt;8&lt;/mn&gt;&lt;/mfrac&gt;&lt;/mtd&gt;&lt;/mtr&gt;&lt;/mtable&gt;&lt;/math&gt;" id="1236" name="Google Shape;1236;p89" title="1 lines Line 1: fiv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8823" y="1297740"/>
            <a:ext cx="167902" cy="395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9}{16}\end{array}&quot;&gt;&lt;mtable columnalign=&quot;left&quot; columnspacing=&quot;1em&quot; rowspacing=&quot;4pt&quot;&gt;&lt;mtr&gt;&lt;mtd&gt;&lt;mfrac&gt;&lt;mn&gt;9&lt;/mn&gt;&lt;mn&gt;16&lt;/mn&gt;&lt;/mfrac&gt;&lt;/mtd&gt;&lt;/mtr&gt;&lt;/mtable&gt;&lt;/math&gt;" id="1237" name="Google Shape;1237;p89" title="1 lines Line 1: 9 over 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41450" y="1921121"/>
            <a:ext cx="242646" cy="395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4}\end{array}&quot;&gt;&lt;mtable columnalign=&quot;left&quot; columnspacing=&quot;1em&quot; rowspacing=&quot;4pt&quot;&gt;&lt;mtr&gt;&lt;mtd&gt;&lt;mfrac&gt;&lt;mn&gt;13&lt;/mn&gt;&lt;mn&gt;24&lt;/mn&gt;&lt;/mfrac&gt;&lt;/mtd&gt;&lt;/mtr&gt;&lt;/mtable&gt;&lt;/math&gt;" id="1238" name="Google Shape;1238;p89" title="1 lines Line 1: 13 over 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41455" y="2544499"/>
            <a:ext cx="242646" cy="396173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89"/>
          <p:cNvSpPr txBox="1"/>
          <p:nvPr/>
        </p:nvSpPr>
        <p:spPr>
          <a:xfrm>
            <a:off x="324000" y="3035175"/>
            <a:ext cx="682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need to find the LCM of 12, 8, 16 and 24.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89"/>
          <p:cNvSpPr txBox="1"/>
          <p:nvPr/>
        </p:nvSpPr>
        <p:spPr>
          <a:xfrm>
            <a:off x="324000" y="3525675"/>
            <a:ext cx="84960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will not list the multiples this time.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go through the multiples of 24 and consider if they are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the other 3 numbers.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fractions using equivalent fractions</a:t>
            </a:r>
            <a:endParaRPr/>
          </a:p>
        </p:txBody>
      </p:sp>
      <p:sp>
        <p:nvSpPr>
          <p:cNvPr id="1246" name="Google Shape;1246;p90"/>
          <p:cNvSpPr txBox="1"/>
          <p:nvPr>
            <p:ph idx="1" type="body"/>
          </p:nvPr>
        </p:nvSpPr>
        <p:spPr>
          <a:xfrm>
            <a:off x="324000" y="698750"/>
            <a:ext cx="8237700" cy="22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Aisha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Lucas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Sofia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Jacob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7}{12}\end{array}&quot;&gt;&lt;mtable columnalign=&quot;left&quot; columnspacing=&quot;1em&quot; rowspacing=&quot;4pt&quot;&gt;&lt;mtr&gt;&lt;mtd&gt;&lt;mfrac&gt;&lt;mn&gt;7&lt;/mn&gt;&lt;mn&gt;12&lt;/mn&gt;&lt;/mfrac&gt;&lt;/mtd&gt;&lt;/mtr&gt;&lt;/mtable&gt;&lt;/math&gt;" id="1247" name="Google Shape;1247;p90" title="1 lines Line 1: 7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1451" y="711500"/>
            <a:ext cx="242646" cy="358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8}\end{array}&quot;&gt;&lt;mtable columnalign=&quot;left&quot; columnspacing=&quot;1em&quot; rowspacing=&quot;4pt&quot;&gt;&lt;mtr&gt;&lt;mtd&gt;&lt;mfrac&gt;&lt;mn&gt;5&lt;/mn&gt;&lt;mn&gt;8&lt;/mn&gt;&lt;/mfrac&gt;&lt;/mtd&gt;&lt;/mtr&gt;&lt;/mtable&gt;&lt;/math&gt;" id="1248" name="Google Shape;1248;p90" title="1 lines Line 1: fiv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8823" y="1297740"/>
            <a:ext cx="167902" cy="395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9}{16}\end{array}&quot;&gt;&lt;mtable columnalign=&quot;left&quot; columnspacing=&quot;1em&quot; rowspacing=&quot;4pt&quot;&gt;&lt;mtr&gt;&lt;mtd&gt;&lt;mfrac&gt;&lt;mn&gt;9&lt;/mn&gt;&lt;mn&gt;16&lt;/mn&gt;&lt;/mfrac&gt;&lt;/mtd&gt;&lt;/mtr&gt;&lt;/mtable&gt;&lt;/math&gt;" id="1249" name="Google Shape;1249;p90" title="1 lines Line 1: 9 over 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41450" y="1921121"/>
            <a:ext cx="242646" cy="395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4}\end{array}&quot;&gt;&lt;mtable columnalign=&quot;left&quot; columnspacing=&quot;1em&quot; rowspacing=&quot;4pt&quot;&gt;&lt;mtr&gt;&lt;mtd&gt;&lt;mfrac&gt;&lt;mn&gt;13&lt;/mn&gt;&lt;mn&gt;24&lt;/mn&gt;&lt;/mfrac&gt;&lt;/mtd&gt;&lt;/mtr&gt;&lt;/mtable&gt;&lt;/math&gt;" id="1250" name="Google Shape;1250;p90" title="1 lines Line 1: 13 over 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41455" y="2544499"/>
            <a:ext cx="242646" cy="396173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90"/>
          <p:cNvSpPr txBox="1"/>
          <p:nvPr/>
        </p:nvSpPr>
        <p:spPr>
          <a:xfrm>
            <a:off x="2157150" y="3746824"/>
            <a:ext cx="5932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 is not a multiple of 16.  Therefore, we can move onto the next multiple of 24.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90"/>
          <p:cNvSpPr txBox="1"/>
          <p:nvPr/>
        </p:nvSpPr>
        <p:spPr>
          <a:xfrm>
            <a:off x="324000" y="3750835"/>
            <a:ext cx="1460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Start with 24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fractions using equivalent fractions</a:t>
            </a:r>
            <a:endParaRPr/>
          </a:p>
        </p:txBody>
      </p:sp>
      <p:sp>
        <p:nvSpPr>
          <p:cNvPr id="1258" name="Google Shape;1258;p91"/>
          <p:cNvSpPr txBox="1"/>
          <p:nvPr>
            <p:ph idx="1" type="body"/>
          </p:nvPr>
        </p:nvSpPr>
        <p:spPr>
          <a:xfrm>
            <a:off x="324000" y="698750"/>
            <a:ext cx="8237700" cy="22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Aisha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Lucas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Sofia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Jacob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7}{12}\end{array}&quot;&gt;&lt;mtable columnalign=&quot;left&quot; columnspacing=&quot;1em&quot; rowspacing=&quot;4pt&quot;&gt;&lt;mtr&gt;&lt;mtd&gt;&lt;mfrac&gt;&lt;mn&gt;7&lt;/mn&gt;&lt;mn&gt;12&lt;/mn&gt;&lt;/mfrac&gt;&lt;/mtd&gt;&lt;/mtr&gt;&lt;/mtable&gt;&lt;/math&gt;" id="1259" name="Google Shape;1259;p91" title="1 lines Line 1: 7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1451" y="711500"/>
            <a:ext cx="242646" cy="358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8}\end{array}&quot;&gt;&lt;mtable columnalign=&quot;left&quot; columnspacing=&quot;1em&quot; rowspacing=&quot;4pt&quot;&gt;&lt;mtr&gt;&lt;mtd&gt;&lt;mfrac&gt;&lt;mn&gt;5&lt;/mn&gt;&lt;mn&gt;8&lt;/mn&gt;&lt;/mfrac&gt;&lt;/mtd&gt;&lt;/mtr&gt;&lt;/mtable&gt;&lt;/math&gt;" id="1260" name="Google Shape;1260;p91" title="1 lines Line 1: fiv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8823" y="1297740"/>
            <a:ext cx="167902" cy="395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9}{16}\end{array}&quot;&gt;&lt;mtable columnalign=&quot;left&quot; columnspacing=&quot;1em&quot; rowspacing=&quot;4pt&quot;&gt;&lt;mtr&gt;&lt;mtd&gt;&lt;mfrac&gt;&lt;mn&gt;9&lt;/mn&gt;&lt;mn&gt;16&lt;/mn&gt;&lt;/mfrac&gt;&lt;/mtd&gt;&lt;/mtr&gt;&lt;/mtable&gt;&lt;/math&gt;" id="1261" name="Google Shape;1261;p91" title="1 lines Line 1: 9 over 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41450" y="1921121"/>
            <a:ext cx="242646" cy="395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4}\end{array}&quot;&gt;&lt;mtable columnalign=&quot;left&quot; columnspacing=&quot;1em&quot; rowspacing=&quot;4pt&quot;&gt;&lt;mtr&gt;&lt;mtd&gt;&lt;mfrac&gt;&lt;mn&gt;13&lt;/mn&gt;&lt;mn&gt;24&lt;/mn&gt;&lt;/mfrac&gt;&lt;/mtd&gt;&lt;/mtr&gt;&lt;/mtable&gt;&lt;/math&gt;" id="1262" name="Google Shape;1262;p91" title="1 lines Line 1: 13 over 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41455" y="2544499"/>
            <a:ext cx="242646" cy="396173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91"/>
          <p:cNvSpPr txBox="1"/>
          <p:nvPr/>
        </p:nvSpPr>
        <p:spPr>
          <a:xfrm>
            <a:off x="324000" y="3723900"/>
            <a:ext cx="1680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 check 48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91"/>
          <p:cNvSpPr txBox="1"/>
          <p:nvPr/>
        </p:nvSpPr>
        <p:spPr>
          <a:xfrm>
            <a:off x="2157000" y="3723900"/>
            <a:ext cx="6663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48 is a multiple of 16, 8 and 12, therefore this is the LCM of all 4 denominators.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fractions using equivalent fractions</a:t>
            </a:r>
            <a:endParaRPr/>
          </a:p>
        </p:txBody>
      </p:sp>
      <p:sp>
        <p:nvSpPr>
          <p:cNvPr id="1270" name="Google Shape;1270;p92"/>
          <p:cNvSpPr txBox="1"/>
          <p:nvPr>
            <p:ph idx="1" type="body"/>
          </p:nvPr>
        </p:nvSpPr>
        <p:spPr>
          <a:xfrm>
            <a:off x="324000" y="705300"/>
            <a:ext cx="1032300" cy="23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Aisha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Lucas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Sofia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Jacob</a:t>
            </a:r>
            <a:endParaRPr/>
          </a:p>
        </p:txBody>
      </p:sp>
      <p:sp>
        <p:nvSpPr>
          <p:cNvPr id="1271" name="Google Shape;1271;p92"/>
          <p:cNvSpPr txBox="1"/>
          <p:nvPr/>
        </p:nvSpPr>
        <p:spPr>
          <a:xfrm>
            <a:off x="324000" y="3684988"/>
            <a:ext cx="59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LCM of 12, 8, 16 and 24 is 48.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2" name="Google Shape;127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801" y="681702"/>
            <a:ext cx="2339640" cy="48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8}=\frac{5\ \times\ 6}{8\ \times\ 6}=\frac{30}{48}\end{array}&quot;&gt;&lt;mtable columnalign=&quot;left&quot; columnspacing=&quot;1em&quot; rowspacing=&quot;4pt&quot;&gt;&lt;mtr&gt;&lt;mtd&gt;&lt;mfrac&gt;&lt;mn&gt;5&lt;/mn&gt;&lt;mn&gt;8&lt;/mn&gt;&lt;/mfrac&gt;&lt;mo&gt;=&lt;/mo&gt;&lt;mfrac&gt;&lt;mrow&gt;&lt;mn&gt;5&lt;/mn&gt;&lt;mtext&gt;&lt;/mtext&gt;&lt;mo&gt;×&lt;/mo&gt;&lt;mtext&gt;&lt;/mtext&gt;&lt;mn&gt;6&lt;/mn&gt;&lt;/mrow&gt;&lt;mrow&gt;&lt;mn&gt;8&lt;/mn&gt;&lt;mtext&gt;&lt;/mtext&gt;&lt;mo&gt;×&lt;/mo&gt;&lt;mtext&gt;&lt;/mtext&gt;&lt;mn&gt;6&lt;/mn&gt;&lt;/mrow&gt;&lt;/mfrac&gt;&lt;mo&gt;=&lt;/mo&gt;&lt;mfrac&gt;&lt;mn&gt;30&lt;/mn&gt;&lt;mn&gt;48&lt;/mn&gt;&lt;/mfrac&gt;&lt;/mtd&gt;&lt;/mtr&gt;&lt;/mtable&gt;&lt;/math&gt;" id="1273" name="Google Shape;1273;p92" title="1 lines Line 1: five eighths equals the fraction with numerator 5 times 6 and denominator 8 times 6 equals 30 over 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4800" y="1471083"/>
            <a:ext cx="2072616" cy="48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9}{16}=\frac{9\ \times\ 3}{16\ \times\ 3}=\frac{27}{48}\end{array}&quot;&gt;&lt;mtable columnalign=&quot;left&quot; columnspacing=&quot;1em&quot; rowspacing=&quot;4pt&quot;&gt;&lt;mtr&gt;&lt;mtd&gt;&lt;mfrac&gt;&lt;mn&gt;9&lt;/mn&gt;&lt;mn&gt;16&lt;/mn&gt;&lt;/mfrac&gt;&lt;mo&gt;=&lt;/mo&gt;&lt;mfrac&gt;&lt;mrow&gt;&lt;mn&gt;9&lt;/mn&gt;&lt;mtext&gt;&lt;/mtext&gt;&lt;mo&gt;×&lt;/mo&gt;&lt;mtext&gt;&lt;/mtext&gt;&lt;mn&gt;3&lt;/mn&gt;&lt;/mrow&gt;&lt;mrow&gt;&lt;mn&gt;16&lt;/mn&gt;&lt;mtext&gt;&lt;/mtext&gt;&lt;mo&gt;×&lt;/mo&gt;&lt;mtext&gt;&lt;/mtext&gt;&lt;mn&gt;3&lt;/mn&gt;&lt;/mrow&gt;&lt;/mfrac&gt;&lt;mo&gt;=&lt;/mo&gt;&lt;mfrac&gt;&lt;mn&gt;27&lt;/mn&gt;&lt;mn&gt;48&lt;/mn&gt;&lt;/mfrac&gt;&lt;/mtd&gt;&lt;/mtr&gt;&lt;/mtable&gt;&lt;/math&gt;" id="1274" name="Google Shape;1274;p92" title="1 lines Line 1: 9 over 16 equals the fraction with numerator 9 times 3 and denominator 16 times 3 equals 27 over 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4800" y="2260464"/>
            <a:ext cx="2339640" cy="48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4}=\frac{13\ \times\ 2}{24\ \times\ 2}=\frac{26}{48}\end{array}&quot;&gt;&lt;mtable columnalign=&quot;left&quot; columnspacing=&quot;1em&quot; rowspacing=&quot;4pt&quot;&gt;&lt;mtr&gt;&lt;mtd&gt;&lt;mfrac&gt;&lt;mn&gt;13&lt;/mn&gt;&lt;mn&gt;24&lt;/mn&gt;&lt;/mfrac&gt;&lt;mo&gt;=&lt;/mo&gt;&lt;mfrac&gt;&lt;mrow&gt;&lt;mn&gt;13&lt;/mn&gt;&lt;mtext&gt;&lt;/mtext&gt;&lt;mo&gt;×&lt;/mo&gt;&lt;mtext&gt;&lt;/mtext&gt;&lt;mn&gt;2&lt;/mn&gt;&lt;/mrow&gt;&lt;mrow&gt;&lt;mn&gt;24&lt;/mn&gt;&lt;mtext&gt;&lt;/mtext&gt;&lt;mo&gt;×&lt;/mo&gt;&lt;mtext&gt;&lt;/mtext&gt;&lt;mn&gt;2&lt;/mn&gt;&lt;/mrow&gt;&lt;/mfrac&gt;&lt;mo&gt;=&lt;/mo&gt;&lt;mfrac&gt;&lt;mn&gt;26&lt;/mn&gt;&lt;mn&gt;48&lt;/mn&gt;&lt;/mfrac&gt;&lt;/mtd&gt;&lt;/mtr&gt;&lt;/mtable&gt;&lt;/math&gt;" id="1275" name="Google Shape;1275;p92" title="1 lines Line 1: 13 over 24 equals the fraction with numerator 13 times 2 and denominator 24 times 2 equals 26 over 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4791" y="3049845"/>
            <a:ext cx="2314209" cy="476834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92"/>
          <p:cNvSpPr/>
          <p:nvPr/>
        </p:nvSpPr>
        <p:spPr>
          <a:xfrm>
            <a:off x="3315725" y="856779"/>
            <a:ext cx="754800" cy="30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92"/>
          <p:cNvSpPr/>
          <p:nvPr/>
        </p:nvSpPr>
        <p:spPr>
          <a:xfrm>
            <a:off x="2054625" y="646775"/>
            <a:ext cx="804300" cy="51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92"/>
          <p:cNvSpPr/>
          <p:nvPr/>
        </p:nvSpPr>
        <p:spPr>
          <a:xfrm>
            <a:off x="2766225" y="889875"/>
            <a:ext cx="516300" cy="37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92"/>
          <p:cNvSpPr/>
          <p:nvPr/>
        </p:nvSpPr>
        <p:spPr>
          <a:xfrm>
            <a:off x="2766225" y="646775"/>
            <a:ext cx="552000" cy="24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92"/>
          <p:cNvSpPr/>
          <p:nvPr/>
        </p:nvSpPr>
        <p:spPr>
          <a:xfrm>
            <a:off x="3640175" y="646775"/>
            <a:ext cx="552000" cy="24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92"/>
          <p:cNvSpPr/>
          <p:nvPr/>
        </p:nvSpPr>
        <p:spPr>
          <a:xfrm>
            <a:off x="3084200" y="1657770"/>
            <a:ext cx="754800" cy="30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92"/>
          <p:cNvSpPr/>
          <p:nvPr/>
        </p:nvSpPr>
        <p:spPr>
          <a:xfrm>
            <a:off x="1932500" y="1432850"/>
            <a:ext cx="552000" cy="51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92"/>
          <p:cNvSpPr/>
          <p:nvPr/>
        </p:nvSpPr>
        <p:spPr>
          <a:xfrm>
            <a:off x="2484600" y="1677625"/>
            <a:ext cx="552000" cy="30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92"/>
          <p:cNvSpPr/>
          <p:nvPr/>
        </p:nvSpPr>
        <p:spPr>
          <a:xfrm>
            <a:off x="2565900" y="1414775"/>
            <a:ext cx="424500" cy="24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92"/>
          <p:cNvSpPr/>
          <p:nvPr/>
        </p:nvSpPr>
        <p:spPr>
          <a:xfrm>
            <a:off x="3437375" y="1382225"/>
            <a:ext cx="320100" cy="30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92"/>
          <p:cNvSpPr/>
          <p:nvPr/>
        </p:nvSpPr>
        <p:spPr>
          <a:xfrm>
            <a:off x="3318225" y="2450793"/>
            <a:ext cx="754800" cy="30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92"/>
          <p:cNvSpPr/>
          <p:nvPr/>
        </p:nvSpPr>
        <p:spPr>
          <a:xfrm>
            <a:off x="2054625" y="2199750"/>
            <a:ext cx="711600" cy="55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92"/>
          <p:cNvSpPr/>
          <p:nvPr/>
        </p:nvSpPr>
        <p:spPr>
          <a:xfrm>
            <a:off x="2766225" y="2458750"/>
            <a:ext cx="5163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92"/>
          <p:cNvSpPr/>
          <p:nvPr/>
        </p:nvSpPr>
        <p:spPr>
          <a:xfrm>
            <a:off x="2766225" y="2118038"/>
            <a:ext cx="5163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92"/>
          <p:cNvSpPr/>
          <p:nvPr/>
        </p:nvSpPr>
        <p:spPr>
          <a:xfrm>
            <a:off x="3600450" y="2182776"/>
            <a:ext cx="516300" cy="30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92"/>
          <p:cNvSpPr/>
          <p:nvPr/>
        </p:nvSpPr>
        <p:spPr>
          <a:xfrm>
            <a:off x="3339275" y="3237200"/>
            <a:ext cx="8043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92"/>
          <p:cNvSpPr/>
          <p:nvPr/>
        </p:nvSpPr>
        <p:spPr>
          <a:xfrm>
            <a:off x="2091075" y="2972975"/>
            <a:ext cx="711600" cy="55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92"/>
          <p:cNvSpPr/>
          <p:nvPr/>
        </p:nvSpPr>
        <p:spPr>
          <a:xfrm>
            <a:off x="2766225" y="3243825"/>
            <a:ext cx="6054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92"/>
          <p:cNvSpPr/>
          <p:nvPr/>
        </p:nvSpPr>
        <p:spPr>
          <a:xfrm>
            <a:off x="2766225" y="2917025"/>
            <a:ext cx="6054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92"/>
          <p:cNvSpPr/>
          <p:nvPr/>
        </p:nvSpPr>
        <p:spPr>
          <a:xfrm>
            <a:off x="3586775" y="2917025"/>
            <a:ext cx="6588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92"/>
          <p:cNvSpPr txBox="1"/>
          <p:nvPr/>
        </p:nvSpPr>
        <p:spPr>
          <a:xfrm>
            <a:off x="324000" y="4169813"/>
            <a:ext cx="59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will be our common denominator.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fractions using equivalent fractions</a:t>
            </a:r>
            <a:endParaRPr/>
          </a:p>
        </p:txBody>
      </p:sp>
      <p:sp>
        <p:nvSpPr>
          <p:cNvPr id="1302" name="Google Shape;1302;p93"/>
          <p:cNvSpPr txBox="1"/>
          <p:nvPr>
            <p:ph idx="1" type="body"/>
          </p:nvPr>
        </p:nvSpPr>
        <p:spPr>
          <a:xfrm>
            <a:off x="324000" y="705300"/>
            <a:ext cx="1032300" cy="23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Aisha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Lucas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Sofia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Jacob</a:t>
            </a:r>
            <a:endParaRPr/>
          </a:p>
        </p:txBody>
      </p:sp>
      <p:pic>
        <p:nvPicPr>
          <p:cNvPr id="1303" name="Google Shape;130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801" y="681702"/>
            <a:ext cx="2339640" cy="48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8}=\frac{5\ \times\ 6}{8\ \times\ 6}=\frac{30}{48}\end{array}&quot;&gt;&lt;mtable columnalign=&quot;left&quot; columnspacing=&quot;1em&quot; rowspacing=&quot;4pt&quot;&gt;&lt;mtr&gt;&lt;mtd&gt;&lt;mfrac&gt;&lt;mn&gt;5&lt;/mn&gt;&lt;mn&gt;8&lt;/mn&gt;&lt;/mfrac&gt;&lt;mo&gt;=&lt;/mo&gt;&lt;mfrac&gt;&lt;mrow&gt;&lt;mn&gt;5&lt;/mn&gt;&lt;mtext&gt;&lt;/mtext&gt;&lt;mo&gt;×&lt;/mo&gt;&lt;mtext&gt;&lt;/mtext&gt;&lt;mn&gt;6&lt;/mn&gt;&lt;/mrow&gt;&lt;mrow&gt;&lt;mn&gt;8&lt;/mn&gt;&lt;mtext&gt;&lt;/mtext&gt;&lt;mo&gt;×&lt;/mo&gt;&lt;mtext&gt;&lt;/mtext&gt;&lt;mn&gt;6&lt;/mn&gt;&lt;/mrow&gt;&lt;/mfrac&gt;&lt;mo&gt;=&lt;/mo&gt;&lt;mfrac&gt;&lt;mn&gt;30&lt;/mn&gt;&lt;mn&gt;48&lt;/mn&gt;&lt;/mfrac&gt;&lt;/mtd&gt;&lt;/mtr&gt;&lt;/mtable&gt;&lt;/math&gt;" id="1304" name="Google Shape;1304;p93" title="1 lines Line 1: five eighths equals the fraction with numerator 5 times 6 and denominator 8 times 6 equals 30 over 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4800" y="1471083"/>
            <a:ext cx="2072616" cy="48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9}{16}=\frac{9\ \times\ 3}{16\ \times\ 3}=\frac{27}{48}\end{array}&quot;&gt;&lt;mtable columnalign=&quot;left&quot; columnspacing=&quot;1em&quot; rowspacing=&quot;4pt&quot;&gt;&lt;mtr&gt;&lt;mtd&gt;&lt;mfrac&gt;&lt;mn&gt;9&lt;/mn&gt;&lt;mn&gt;16&lt;/mn&gt;&lt;/mfrac&gt;&lt;mo&gt;=&lt;/mo&gt;&lt;mfrac&gt;&lt;mrow&gt;&lt;mn&gt;9&lt;/mn&gt;&lt;mtext&gt;&lt;/mtext&gt;&lt;mo&gt;×&lt;/mo&gt;&lt;mtext&gt;&lt;/mtext&gt;&lt;mn&gt;3&lt;/mn&gt;&lt;/mrow&gt;&lt;mrow&gt;&lt;mn&gt;16&lt;/mn&gt;&lt;mtext&gt;&lt;/mtext&gt;&lt;mo&gt;×&lt;/mo&gt;&lt;mtext&gt;&lt;/mtext&gt;&lt;mn&gt;3&lt;/mn&gt;&lt;/mrow&gt;&lt;/mfrac&gt;&lt;mo&gt;=&lt;/mo&gt;&lt;mfrac&gt;&lt;mn&gt;27&lt;/mn&gt;&lt;mn&gt;48&lt;/mn&gt;&lt;/mfrac&gt;&lt;/mtd&gt;&lt;/mtr&gt;&lt;/mtable&gt;&lt;/math&gt;" id="1305" name="Google Shape;1305;p93" title="1 lines Line 1: 9 over 16 equals the fraction with numerator 9 times 3 and denominator 16 times 3 equals 27 over 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4800" y="2260464"/>
            <a:ext cx="2339640" cy="48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4}=\frac{13\ \times\ 2}{24\ \times\ 2}=\frac{26}{48}\end{array}&quot;&gt;&lt;mtable columnalign=&quot;left&quot; columnspacing=&quot;1em&quot; rowspacing=&quot;4pt&quot;&gt;&lt;mtr&gt;&lt;mtd&gt;&lt;mfrac&gt;&lt;mn&gt;13&lt;/mn&gt;&lt;mn&gt;24&lt;/mn&gt;&lt;/mfrac&gt;&lt;mo&gt;=&lt;/mo&gt;&lt;mfrac&gt;&lt;mrow&gt;&lt;mn&gt;13&lt;/mn&gt;&lt;mtext&gt;&lt;/mtext&gt;&lt;mo&gt;×&lt;/mo&gt;&lt;mtext&gt;&lt;/mtext&gt;&lt;mn&gt;2&lt;/mn&gt;&lt;/mrow&gt;&lt;mrow&gt;&lt;mn&gt;24&lt;/mn&gt;&lt;mtext&gt;&lt;/mtext&gt;&lt;mo&gt;×&lt;/mo&gt;&lt;mtext&gt;&lt;/mtext&gt;&lt;mn&gt;2&lt;/mn&gt;&lt;/mrow&gt;&lt;/mfrac&gt;&lt;mo&gt;=&lt;/mo&gt;&lt;mfrac&gt;&lt;mn&gt;26&lt;/mn&gt;&lt;mn&gt;48&lt;/mn&gt;&lt;/mfrac&gt;&lt;/mtd&gt;&lt;/mtr&gt;&lt;/mtable&gt;&lt;/math&gt;" id="1306" name="Google Shape;1306;p93" title="1 lines Line 1: 13 over 24 equals the fraction with numerator 13 times 2 and denominator 24 times 2 equals 26 over 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4791" y="3049845"/>
            <a:ext cx="2314209" cy="476834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93"/>
          <p:cNvSpPr txBox="1"/>
          <p:nvPr/>
        </p:nvSpPr>
        <p:spPr>
          <a:xfrm>
            <a:off x="324000" y="3707688"/>
            <a:ext cx="59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order from most to least successful:	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93"/>
          <p:cNvSpPr txBox="1"/>
          <p:nvPr/>
        </p:nvSpPr>
        <p:spPr>
          <a:xfrm>
            <a:off x="322875" y="4221925"/>
            <a:ext cx="426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Lucas, Aisha, Sofia and Jacob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fractions using equivalent fractions</a:t>
            </a:r>
            <a:endParaRPr/>
          </a:p>
        </p:txBody>
      </p:sp>
      <p:sp>
        <p:nvSpPr>
          <p:cNvPr id="1314" name="Google Shape;1314;p94"/>
          <p:cNvSpPr txBox="1"/>
          <p:nvPr>
            <p:ph idx="1" type="body"/>
          </p:nvPr>
        </p:nvSpPr>
        <p:spPr>
          <a:xfrm>
            <a:off x="324000" y="759300"/>
            <a:ext cx="8237700" cy="3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common denominator, write these fractions in order from smallest to largest.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7}{10}\ \ \ \ \ \frac{3}{4}\ \ \ \ \ \frac{4}{5}\ \ \ \ \ \frac{17}{20}\end{array}&quot;&gt;&lt;mtable columnalign=&quot;left&quot; columnspacing=&quot;1em&quot; rowspacing=&quot;4pt&quot;&gt;&lt;mtr&gt;&lt;mtd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frac&gt;&lt;mn&gt;17&lt;/mn&gt;&lt;mn&gt;20&lt;/mn&gt;&lt;/mfrac&gt;&lt;/mtd&gt;&lt;/mtr&gt;&lt;/mtable&gt;&lt;/math&gt;" id="1315" name="Google Shape;1315;p94" title="1 lines Line 1: seven tenths three fourths four fifths 17 over 20"/>
          <p:cNvPicPr preferRelativeResize="0"/>
          <p:nvPr/>
        </p:nvPicPr>
        <p:blipFill rotWithShape="1">
          <a:blip r:embed="rId3">
            <a:alphaModFix/>
          </a:blip>
          <a:srcRect b="0" l="86532" r="0" t="0"/>
          <a:stretch/>
        </p:blipFill>
        <p:spPr>
          <a:xfrm>
            <a:off x="751425" y="1712400"/>
            <a:ext cx="4951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}{10}\ \ \ \ \ \frac{3}{4}\ \ \ \ \ \frac{4}{5}\ \ \ \ \ \frac{17}{20}\end{array}&quot;&gt;&lt;mtable columnalign=&quot;left&quot; columnspacing=&quot;1em&quot; rowspacing=&quot;4pt&quot;&gt;&lt;mtr&gt;&lt;mtd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frac&gt;&lt;mn&gt;17&lt;/mn&gt;&lt;mn&gt;20&lt;/mn&gt;&lt;/mfrac&gt;&lt;/mtd&gt;&lt;/mtr&gt;&lt;/mtable&gt;&lt;/math&gt;" id="1316" name="Google Shape;1316;p94" title="1 lines Line 1: seven tenths three fourths four fifths 17 over 20"/>
          <p:cNvPicPr preferRelativeResize="0"/>
          <p:nvPr/>
        </p:nvPicPr>
        <p:blipFill rotWithShape="1">
          <a:blip r:embed="rId3">
            <a:alphaModFix/>
          </a:blip>
          <a:srcRect b="0" l="57948" r="29627" t="0"/>
          <a:stretch/>
        </p:blipFill>
        <p:spPr>
          <a:xfrm>
            <a:off x="7611825" y="1712400"/>
            <a:ext cx="4567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}{10}\ \ \ \ \ \frac{3}{4}\ \ \ \ \ \frac{4}{5}\ \ \ \ \ \frac{17}{20}\end{array}&quot;&gt;&lt;mtable columnalign=&quot;left&quot; columnspacing=&quot;1em&quot; rowspacing=&quot;4pt&quot;&gt;&lt;mtr&gt;&lt;mtd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frac&gt;&lt;mn&gt;17&lt;/mn&gt;&lt;mn&gt;20&lt;/mn&gt;&lt;/mfrac&gt;&lt;/mtd&gt;&lt;/mtr&gt;&lt;/mtable&gt;&lt;/math&gt;" id="1317" name="Google Shape;1317;p94" title="1 lines Line 1: seven tenths three fourths four fifths 17 over 20"/>
          <p:cNvPicPr preferRelativeResize="0"/>
          <p:nvPr/>
        </p:nvPicPr>
        <p:blipFill rotWithShape="1">
          <a:blip r:embed="rId3">
            <a:alphaModFix/>
          </a:blip>
          <a:srcRect b="0" l="30757" r="58259" t="0"/>
          <a:stretch/>
        </p:blipFill>
        <p:spPr>
          <a:xfrm>
            <a:off x="3068675" y="1712400"/>
            <a:ext cx="4038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}{10}\ \ \ \ \ \frac{3}{4}\ \ \ \ \ \frac{4}{5}\ \ \ \ \ \frac{17}{20}\end{array}&quot;&gt;&lt;mtable columnalign=&quot;left&quot; columnspacing=&quot;1em&quot; rowspacing=&quot;4pt&quot;&gt;&lt;mtr&gt;&lt;mtd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frac&gt;&lt;mn&gt;17&lt;/mn&gt;&lt;mn&gt;20&lt;/mn&gt;&lt;/mfrac&gt;&lt;/mtd&gt;&lt;/mtr&gt;&lt;/mtable&gt;&lt;/math&gt;" id="1318" name="Google Shape;1318;p94" title="1 lines Line 1: seven tenths three fourths four fifths 17 over 20"/>
          <p:cNvPicPr preferRelativeResize="0"/>
          <p:nvPr/>
        </p:nvPicPr>
        <p:blipFill rotWithShape="1">
          <a:blip r:embed="rId3">
            <a:alphaModFix/>
          </a:blip>
          <a:srcRect b="0" l="0" r="86532" t="0"/>
          <a:stretch/>
        </p:blipFill>
        <p:spPr>
          <a:xfrm>
            <a:off x="5294575" y="1712400"/>
            <a:ext cx="4951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4}=\frac{3\times5}{4\times5}=\frac{15}{20}\end{array}&quot;&gt;&lt;mtable columnalign=&quot;left&quot; columnspacing=&quot;1em&quot; rowspacing=&quot;4pt&quot;&gt;&lt;mtr&gt;&lt;mtd&gt;&lt;mfrac&gt;&lt;mn&gt;3&lt;/mn&gt;&lt;mn&gt;4&lt;/mn&gt;&lt;/mfrac&gt;&lt;mo&gt;=&lt;/mo&gt;&lt;mfrac&gt;&lt;mrow&gt;&lt;mn&gt;3&lt;/mn&gt;&lt;mo&gt;×&lt;/mo&gt;&lt;mn&gt;5&lt;/mn&gt;&lt;/mrow&gt;&lt;mrow&gt;&lt;mn&gt;4&lt;/mn&gt;&lt;mo&gt;×&lt;/mo&gt;&lt;mn&gt;5&lt;/mn&gt;&lt;/mrow&gt;&lt;/mfrac&gt;&lt;mo&gt;=&lt;/mo&gt;&lt;mfrac&gt;&lt;mn&gt;15&lt;/mn&gt;&lt;mn&gt;20&lt;/mn&gt;&lt;/mfrac&gt;&lt;/mtd&gt;&lt;/mtr&gt;&lt;/mtable&gt;&lt;/math&gt;" id="1319" name="Google Shape;1319;p94" title="1 lines Line 1: three fourths equals the fraction with numerator 3 times 5 and denominator 4 times 5 equals 15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9350" y="2571751"/>
            <a:ext cx="1765643" cy="448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}{10}=\frac{7\times2}{10\times2}=\frac{14}{20}\end{array}&quot;&gt;&lt;mtable columnalign=&quot;left&quot; columnspacing=&quot;1em&quot; rowspacing=&quot;4pt&quot;&gt;&lt;mtr&gt;&lt;mtd&gt;&lt;mfrac&gt;&lt;mn&gt;7&lt;/mn&gt;&lt;mn&gt;10&lt;/mn&gt;&lt;/mfrac&gt;&lt;mo&gt;=&lt;/mo&gt;&lt;mfrac&gt;&lt;mrow&gt;&lt;mn&gt;7&lt;/mn&gt;&lt;mo&gt;×&lt;/mo&gt;&lt;mn&gt;2&lt;/mn&gt;&lt;/mrow&gt;&lt;mrow&gt;&lt;mn&gt;10&lt;/mn&gt;&lt;mo&gt;×&lt;/mo&gt;&lt;mn&gt;2&lt;/mn&gt;&lt;/mrow&gt;&lt;/mfrac&gt;&lt;mo&gt;=&lt;/mo&gt;&lt;mfrac&gt;&lt;mn&gt;14&lt;/mn&gt;&lt;mn&gt;20&lt;/mn&gt;&lt;/mfrac&gt;&lt;/mtd&gt;&lt;/mtr&gt;&lt;/mtable&gt;&lt;/math&gt;" id="1320" name="Google Shape;1320;p94" title="1 lines Line 1: seven tenths equals the fraction with numerator 7 times 2 and denominator 10 times 2 equals 14 over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9925" y="2571755"/>
            <a:ext cx="2013660" cy="448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5}=\frac{4\times4}{5\times4}=\frac{16}{20}\end{array}&quot;&gt;&lt;mtable columnalign=&quot;left&quot; columnspacing=&quot;1em&quot; rowspacing=&quot;4pt&quot;&gt;&lt;mtr&gt;&lt;mtd&gt;&lt;mfrac&gt;&lt;mn&gt;4&lt;/mn&gt;&lt;mn&gt;5&lt;/mn&gt;&lt;/mfrac&gt;&lt;mo&gt;=&lt;/mo&gt;&lt;mfrac&gt;&lt;mrow&gt;&lt;mn&gt;4&lt;/mn&gt;&lt;mo&gt;×&lt;/mo&gt;&lt;mn&gt;4&lt;/mn&gt;&lt;/mrow&gt;&lt;mrow&gt;&lt;mn&gt;5&lt;/mn&gt;&lt;mo&gt;×&lt;/mo&gt;&lt;mn&gt;4&lt;/mn&gt;&lt;/mrow&gt;&lt;/mfrac&gt;&lt;mo&gt;=&lt;/mo&gt;&lt;mfrac&gt;&lt;mn&gt;16&lt;/mn&gt;&lt;mn&gt;20&lt;/mn&gt;&lt;/mfrac&gt;&lt;/mtd&gt;&lt;/mtr&gt;&lt;/mtable&gt;&lt;/math&gt;" id="1321" name="Google Shape;1321;p94" title="1 lines Line 1: four fifths equals the fraction with numerator 4 times 4 and denominator 5 times 4 equals 16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3865" y="2571755"/>
            <a:ext cx="1783358" cy="448796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94"/>
          <p:cNvSpPr txBox="1"/>
          <p:nvPr/>
        </p:nvSpPr>
        <p:spPr>
          <a:xfrm>
            <a:off x="324000" y="3669900"/>
            <a:ext cx="129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order: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7}{10}\ \ \ \ \ \frac{3}{4}\ \ \ \ \ \frac{4}{5}\ \ \ \ \ \frac{17}{20}\end{array}&quot;&gt;&lt;mtable columnalign=&quot;left&quot; columnspacing=&quot;1em&quot; rowspacing=&quot;4pt&quot;&gt;&lt;mtr&gt;&lt;mtd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frac&gt;&lt;mn&gt;17&lt;/mn&gt;&lt;mn&gt;20&lt;/mn&gt;&lt;/mfrac&gt;&lt;/mtd&gt;&lt;/mtr&gt;&lt;/mtable&gt;&lt;/math&gt;" id="1323" name="Google Shape;1323;p94" title="1 lines Line 1: seven tenths three fourths four fifths 17 over 20"/>
          <p:cNvPicPr preferRelativeResize="0"/>
          <p:nvPr/>
        </p:nvPicPr>
        <p:blipFill rotWithShape="1">
          <a:blip r:embed="rId3">
            <a:alphaModFix/>
          </a:blip>
          <a:srcRect b="0" l="0" r="86532" t="0"/>
          <a:stretch/>
        </p:blipFill>
        <p:spPr>
          <a:xfrm>
            <a:off x="1892200" y="3477300"/>
            <a:ext cx="4951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}{10}\ \ \ \ \ \frac{3}{4}\ \ \ \ \ \frac{4}{5}\ \ \ \ \ \frac{17}{20}\end{array}&quot;&gt;&lt;mtable columnalign=&quot;left&quot; columnspacing=&quot;1em&quot; rowspacing=&quot;4pt&quot;&gt;&lt;mtr&gt;&lt;mtd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frac&gt;&lt;mn&gt;17&lt;/mn&gt;&lt;mn&gt;20&lt;/mn&gt;&lt;/mfrac&gt;&lt;/mtd&gt;&lt;/mtr&gt;&lt;/mtable&gt;&lt;/math&gt;" id="1324" name="Google Shape;1324;p94" title="1 lines Line 1: seven tenths three fourths four fifths 17 over 20"/>
          <p:cNvPicPr preferRelativeResize="0"/>
          <p:nvPr/>
        </p:nvPicPr>
        <p:blipFill rotWithShape="1">
          <a:blip r:embed="rId3">
            <a:alphaModFix/>
          </a:blip>
          <a:srcRect b="0" l="30757" r="58259" t="0"/>
          <a:stretch/>
        </p:blipFill>
        <p:spPr>
          <a:xfrm>
            <a:off x="3106458" y="3477300"/>
            <a:ext cx="4038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}{10}\ \ \ \ \ \frac{3}{4}\ \ \ \ \ \frac{4}{5}\ \ \ \ \ \frac{17}{20}\end{array}&quot;&gt;&lt;mtable columnalign=&quot;left&quot; columnspacing=&quot;1em&quot; rowspacing=&quot;4pt&quot;&gt;&lt;mtr&gt;&lt;mtd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frac&gt;&lt;mn&gt;17&lt;/mn&gt;&lt;mn&gt;20&lt;/mn&gt;&lt;/mfrac&gt;&lt;/mtd&gt;&lt;/mtr&gt;&lt;/mtable&gt;&lt;/math&gt;" id="1325" name="Google Shape;1325;p94" title="1 lines Line 1: seven tenths three fourths four fifths 17 over 20"/>
          <p:cNvPicPr preferRelativeResize="0"/>
          <p:nvPr/>
        </p:nvPicPr>
        <p:blipFill rotWithShape="1">
          <a:blip r:embed="rId3">
            <a:alphaModFix/>
          </a:blip>
          <a:srcRect b="0" l="57948" r="29627" t="0"/>
          <a:stretch/>
        </p:blipFill>
        <p:spPr>
          <a:xfrm>
            <a:off x="4229367" y="3477300"/>
            <a:ext cx="4567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}{10}\ \ \ \ \ \frac{3}{4}\ \ \ \ \ \frac{4}{5}\ \ \ \ \ \frac{17}{20}\end{array}&quot;&gt;&lt;mtable columnalign=&quot;left&quot; columnspacing=&quot;1em&quot; rowspacing=&quot;4pt&quot;&gt;&lt;mtr&gt;&lt;mtd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frac&gt;&lt;mn&gt;17&lt;/mn&gt;&lt;mn&gt;20&lt;/mn&gt;&lt;/mfrac&gt;&lt;/mtd&gt;&lt;/mtr&gt;&lt;/mtable&gt;&lt;/math&gt;" id="1326" name="Google Shape;1326;p94" title="1 lines Line 1: seven tenths three fourths four fifths 17 over 20"/>
          <p:cNvPicPr preferRelativeResize="0"/>
          <p:nvPr/>
        </p:nvPicPr>
        <p:blipFill rotWithShape="1">
          <a:blip r:embed="rId3">
            <a:alphaModFix/>
          </a:blip>
          <a:srcRect b="0" l="86532" r="0" t="0"/>
          <a:stretch/>
        </p:blipFill>
        <p:spPr>
          <a:xfrm>
            <a:off x="5405225" y="3477300"/>
            <a:ext cx="49515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 fractions using equivalent fractions</a:t>
            </a:r>
            <a:endParaRPr/>
          </a:p>
        </p:txBody>
      </p:sp>
      <p:sp>
        <p:nvSpPr>
          <p:cNvPr id="1332" name="Google Shape;1332;p95"/>
          <p:cNvSpPr txBox="1"/>
          <p:nvPr>
            <p:ph idx="4294967295" type="body"/>
          </p:nvPr>
        </p:nvSpPr>
        <p:spPr>
          <a:xfrm>
            <a:off x="324000" y="759300"/>
            <a:ext cx="8237700" cy="28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following fractions with a common denominator and order from smallest to largest.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95"/>
          <p:cNvSpPr txBox="1"/>
          <p:nvPr>
            <p:ph idx="4294967295" type="body"/>
          </p:nvPr>
        </p:nvSpPr>
        <p:spPr>
          <a:xfrm>
            <a:off x="4585750" y="1658100"/>
            <a:ext cx="443100" cy="18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7}{10}\ \ \ \ \ \frac{3}{4}\ \ \ \ \ \frac{3}{5}\ \ \ \ \ \frac{11}{20}\end{array}&quot;&gt;&lt;mtable columnalign=&quot;left&quot; columnspacing=&quot;1em&quot; rowspacing=&quot;4pt&quot;&gt;&lt;mtr&gt;&lt;mtd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mfrac&gt;&lt;mn&gt;3&lt;/mn&gt;&lt;mn&gt;5&lt;/mn&gt;&lt;/mfrac&gt;&lt;mtext&gt;&lt;/mtext&gt;&lt;mtext&gt;&lt;/mtext&gt;&lt;mtext&gt;&lt;/mtext&gt;&lt;mtext&gt;&lt;/mtext&gt;&lt;mtext&gt;&lt;/mtext&gt;&lt;mfrac&gt;&lt;mn&gt;11&lt;/mn&gt;&lt;mn&gt;20&lt;/mn&gt;&lt;/mfrac&gt;&lt;/mtd&gt;&lt;/mtr&gt;&lt;/mtable&gt;&lt;/math&gt;" id="1334" name="Google Shape;1334;p95" title="1 lines Line 1: seven tenths three fourths three fifths 11 over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75" y="1619992"/>
            <a:ext cx="2572197" cy="5077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4}\ \ \ \ \ \frac{9}{16}\ \ \ \ \ \frac{5}{8}\ \ \ \ \ \frac{1}{2}\end{array}&quot;&gt;&lt;mtable columnalign=&quot;left&quot; columnspacing=&quot;1em&quot; rowspacing=&quot;4pt&quot;&gt;&lt;mtr&gt;&lt;mtd&gt;&lt;mfrac&gt;&lt;mn&gt;3&lt;/mn&gt;&lt;mn&gt;4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1&lt;/mn&gt;&lt;mn&gt;2&lt;/mn&gt;&lt;/mfrac&gt;&lt;/mtd&gt;&lt;/mtr&gt;&lt;/mtable&gt;&lt;/math&gt;" id="1335" name="Google Shape;1335;p95" title="1 lines Line 1: three fourths 9 over 16 five eighths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168" y="3239992"/>
            <a:ext cx="2418533" cy="501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0}\ \ \ \ \ \frac{17}{25}\ \ \ \ \ \frac{7}{10}\ \ \ \ \ \frac{3}{5}\ \ \ \ \ \frac{3}{4}\end{array}&quot;&gt;&lt;mtable columnalign=&quot;left&quot; columnspacing=&quot;1em&quot; rowspacing=&quot;4pt&quot;&gt;&lt;mtr&gt;&lt;mtd&gt;&lt;mfrac&gt;&lt;mn&gt;13&lt;/mn&gt;&lt;mn&gt;20&lt;/mn&gt;&lt;/mfrac&gt;&lt;mtext&gt;&lt;/mtext&gt;&lt;mtext&gt;&lt;/mtext&gt;&lt;mtext&gt;&lt;/mtext&gt;&lt;mtext&gt;&lt;/mtext&gt;&lt;mtext&gt;&lt;/mtext&gt;&lt;mfrac&gt;&lt;mn&gt;17&lt;/mn&gt;&lt;mn&gt;25&lt;/mn&gt;&lt;/mfrac&gt;&lt;mtext&gt;&lt;/mtext&gt;&lt;mtext&gt;&lt;/mtext&gt;&lt;mtext&gt;&lt;/mtext&gt;&lt;mtext&gt;&lt;/mtext&gt;&lt;mtext&gt;&lt;/mtext&gt;&lt;mfrac&gt;&lt;mn&gt;7&lt;/mn&gt;&lt;mn&gt;10&lt;/mn&gt;&lt;/mfrac&gt;&lt;mtext&gt;&lt;/mtext&gt;&lt;mtext&gt;&lt;/mtext&gt;&lt;mtext&gt;&lt;/mtext&gt;&lt;mtext&gt;&lt;/mtext&gt;&lt;mtext&gt;&lt;/mtext&gt;&lt;mfrac&gt;&lt;mn&gt;3&lt;/mn&gt;&lt;mn&gt;5&lt;/mn&gt;&lt;/mfrac&gt;&lt;mtext&gt;&lt;/mtext&gt;&lt;mtext&gt;&lt;/mtext&gt;&lt;mtext&gt;&lt;/mtext&gt;&lt;mtext&gt;&lt;/mtext&gt;&lt;mtext&gt;&lt;/mtext&gt;&lt;mfrac&gt;&lt;mn&gt;3&lt;/mn&gt;&lt;mn&gt;4&lt;/mn&gt;&lt;/mfrac&gt;&lt;/mtd&gt;&lt;/mtr&gt;&lt;/mtable&gt;&lt;/math&gt;" id="1336" name="Google Shape;1336;p95" title="1 lines Line 1: 13 over 20 17 over 25 seven tenths three fifths three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7695" y="1658100"/>
            <a:ext cx="3414006" cy="50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7" name="Google Shape;1337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7709" y="3236658"/>
            <a:ext cx="3287067" cy="507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96"/>
          <p:cNvSpPr/>
          <p:nvPr/>
        </p:nvSpPr>
        <p:spPr>
          <a:xfrm>
            <a:off x="488250" y="3965100"/>
            <a:ext cx="3201300" cy="70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2}\ \ \ \ \ \frac{9}{16}\ \ \ \ \ \frac{5}{8}\ \ \ \ \ \frac{3}{4}\end{array}&quot;&gt;&lt;mtable columnalign=&quot;left&quot; columnspacing=&quot;1em&quot; rowspacing=&quot;4pt&quot;&gt;&lt;mtr&gt;&lt;mtd&gt;&lt;mfrac&gt;&lt;mn&gt;1&lt;/mn&gt;&lt;mn&gt;2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3&lt;/mn&gt;&lt;mn&gt;4&lt;/mn&gt;&lt;/mfrac&gt;&lt;/mtd&gt;&lt;/mtr&gt;&lt;/mtable&gt;&lt;/math&gt;" id="1343" name="Google Shape;1343;p96" title="1 lines Line 1: one half 9 over 16 five eighths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775" y="4032375"/>
            <a:ext cx="2498437" cy="5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96"/>
          <p:cNvSpPr/>
          <p:nvPr/>
        </p:nvSpPr>
        <p:spPr>
          <a:xfrm>
            <a:off x="4983900" y="3934525"/>
            <a:ext cx="3517500" cy="70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96"/>
          <p:cNvSpPr/>
          <p:nvPr/>
        </p:nvSpPr>
        <p:spPr>
          <a:xfrm>
            <a:off x="4983900" y="2254300"/>
            <a:ext cx="3654900" cy="70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96"/>
          <p:cNvSpPr/>
          <p:nvPr/>
        </p:nvSpPr>
        <p:spPr>
          <a:xfrm>
            <a:off x="488250" y="2254300"/>
            <a:ext cx="3201300" cy="70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 fractions using equivalent fractions</a:t>
            </a:r>
            <a:endParaRPr/>
          </a:p>
        </p:txBody>
      </p:sp>
      <p:sp>
        <p:nvSpPr>
          <p:cNvPr id="1348" name="Google Shape;1348;p96"/>
          <p:cNvSpPr txBox="1"/>
          <p:nvPr>
            <p:ph idx="4294967295" type="body"/>
          </p:nvPr>
        </p:nvSpPr>
        <p:spPr>
          <a:xfrm>
            <a:off x="324000" y="759300"/>
            <a:ext cx="8237700" cy="8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following fractions with a common denominator and order from smallest to largest.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96"/>
          <p:cNvSpPr txBox="1"/>
          <p:nvPr>
            <p:ph idx="4294967295" type="body"/>
          </p:nvPr>
        </p:nvSpPr>
        <p:spPr>
          <a:xfrm>
            <a:off x="4585750" y="1658100"/>
            <a:ext cx="443100" cy="18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7}{10}\ \ \ \ \ \frac{3}{4}\ \ \ \ \ \frac{3}{5}\ \ \ \ \ \frac{11}{20}\end{array}&quot;&gt;&lt;mtable columnalign=&quot;left&quot; columnspacing=&quot;1em&quot; rowspacing=&quot;4pt&quot;&gt;&lt;mtr&gt;&lt;mtd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mfrac&gt;&lt;mn&gt;3&lt;/mn&gt;&lt;mn&gt;5&lt;/mn&gt;&lt;/mfrac&gt;&lt;mtext&gt;&lt;/mtext&gt;&lt;mtext&gt;&lt;/mtext&gt;&lt;mtext&gt;&lt;/mtext&gt;&lt;mtext&gt;&lt;/mtext&gt;&lt;mtext&gt;&lt;/mtext&gt;&lt;mfrac&gt;&lt;mn&gt;11&lt;/mn&gt;&lt;mn&gt;20&lt;/mn&gt;&lt;/mfrac&gt;&lt;/mtd&gt;&lt;/mtr&gt;&lt;/mtable&gt;&lt;/math&gt;" id="1350" name="Google Shape;1350;p96" title="1 lines Line 1: seven tenths three fourths three fifths 11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175" y="1619992"/>
            <a:ext cx="2572197" cy="5077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0}\ \ \ \ \ \frac{17}{25}\ \ \ \ \ \frac{7}{10}\ \ \ \ \ \frac{3}{5}\ \ \ \ \ \frac{3}{4}\end{array}&quot;&gt;&lt;mtable columnalign=&quot;left&quot; columnspacing=&quot;1em&quot; rowspacing=&quot;4pt&quot;&gt;&lt;mtr&gt;&lt;mtd&gt;&lt;mfrac&gt;&lt;mn&gt;13&lt;/mn&gt;&lt;mn&gt;20&lt;/mn&gt;&lt;/mfrac&gt;&lt;mtext&gt;&lt;/mtext&gt;&lt;mtext&gt;&lt;/mtext&gt;&lt;mtext&gt;&lt;/mtext&gt;&lt;mtext&gt;&lt;/mtext&gt;&lt;mtext&gt;&lt;/mtext&gt;&lt;mfrac&gt;&lt;mn&gt;17&lt;/mn&gt;&lt;mn&gt;25&lt;/mn&gt;&lt;/mfrac&gt;&lt;mtext&gt;&lt;/mtext&gt;&lt;mtext&gt;&lt;/mtext&gt;&lt;mtext&gt;&lt;/mtext&gt;&lt;mtext&gt;&lt;/mtext&gt;&lt;mtext&gt;&lt;/mtext&gt;&lt;mfrac&gt;&lt;mn&gt;7&lt;/mn&gt;&lt;mn&gt;10&lt;/mn&gt;&lt;/mfrac&gt;&lt;mtext&gt;&lt;/mtext&gt;&lt;mtext&gt;&lt;/mtext&gt;&lt;mtext&gt;&lt;/mtext&gt;&lt;mtext&gt;&lt;/mtext&gt;&lt;mtext&gt;&lt;/mtext&gt;&lt;mfrac&gt;&lt;mn&gt;3&lt;/mn&gt;&lt;mn&gt;5&lt;/mn&gt;&lt;/mfrac&gt;&lt;mtext&gt;&lt;/mtext&gt;&lt;mtext&gt;&lt;/mtext&gt;&lt;mtext&gt;&lt;/mtext&gt;&lt;mtext&gt;&lt;/mtext&gt;&lt;mtext&gt;&lt;/mtext&gt;&lt;mfrac&gt;&lt;mn&gt;3&lt;/mn&gt;&lt;mn&gt;4&lt;/mn&gt;&lt;/mfrac&gt;&lt;/mtd&gt;&lt;/mtr&gt;&lt;/mtable&gt;&lt;/math&gt;" id="1351" name="Google Shape;1351;p96" title="1 lines Line 1: 13 over 20 17 over 25 seven tenths three fifths three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7695" y="1658100"/>
            <a:ext cx="3414006" cy="50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2" name="Google Shape;1352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7709" y="3236658"/>
            <a:ext cx="3287067" cy="5077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20}\ \ \ \ \ \frac{3}{5}\ \ \ \ \ \frac{7}{10}\ \ \ \ \ \frac{3}{4}\end{array}&quot;&gt;&lt;mtable columnalign=&quot;left&quot; columnspacing=&quot;1em&quot; rowspacing=&quot;4pt&quot;&gt;&lt;mtr&gt;&lt;mtd&gt;&lt;mfrac&gt;&lt;mn&gt;11&lt;/mn&gt;&lt;mn&gt;20&lt;/mn&gt;&lt;/mfrac&gt;&lt;mtext&gt;&lt;/mtext&gt;&lt;mtext&gt;&lt;/mtext&gt;&lt;mtext&gt;&lt;/mtext&gt;&lt;mtext&gt;&lt;/mtext&gt;&lt;mtext&gt;&lt;/mtext&gt;&lt;mfrac&gt;&lt;mn&gt;3&lt;/mn&gt;&lt;mn&gt;5&lt;/mn&gt;&lt;/mfrac&gt;&lt;mtext&gt;&lt;/mtext&gt;&lt;mtext&gt;&lt;/mtext&gt;&lt;mtext&gt;&lt;/mtext&gt;&lt;mtext&gt;&lt;/mtext&gt;&lt;mtext&gt;&lt;/mtext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/mtd&gt;&lt;/mtr&gt;&lt;/mtable&gt;&lt;/math&gt;" id="1353" name="Google Shape;1353;p96" title="1 lines Line 1: 11 over 20 three fifths seven tenths three four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8175" y="2314706"/>
            <a:ext cx="2604220" cy="514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5}\ \ \ \ \ \frac{13}{20}\ \ \ \ \ \frac{17}{25}\ \ \ \ \ \frac{7}{10}\ \ \ \ \ \frac{3}{4}\end{array}&quot;&gt;&lt;mtable columnalign=&quot;left&quot; columnspacing=&quot;1em&quot; rowspacing=&quot;4pt&quot;&gt;&lt;mtr&gt;&lt;mtd&gt;&lt;mfrac&gt;&lt;mn&gt;3&lt;/mn&gt;&lt;mn&gt;5&lt;/mn&gt;&lt;/mfrac&gt;&lt;mtext&gt;&lt;/mtext&gt;&lt;mtext&gt;&lt;/mtext&gt;&lt;mtext&gt;&lt;/mtext&gt;&lt;mtext&gt;&lt;/mtext&gt;&lt;mtext&gt;&lt;/mtext&gt;&lt;mfrac&gt;&lt;mn&gt;13&lt;/mn&gt;&lt;mn&gt;20&lt;/mn&gt;&lt;/mfrac&gt;&lt;mtext&gt;&lt;/mtext&gt;&lt;mtext&gt;&lt;/mtext&gt;&lt;mtext&gt;&lt;/mtext&gt;&lt;mtext&gt;&lt;/mtext&gt;&lt;mtext&gt;&lt;/mtext&gt;&lt;mfrac&gt;&lt;mn&gt;17&lt;/mn&gt;&lt;mn&gt;25&lt;/mn&gt;&lt;/mfrac&gt;&lt;mtext&gt;&lt;/mtext&gt;&lt;mtext&gt;&lt;/mtext&gt;&lt;mtext&gt;&lt;/mtext&gt;&lt;mtext&gt;&lt;/mtext&gt;&lt;mtext&gt;&lt;/mtext&gt;&lt;mfrac&gt;&lt;mn&gt;7&lt;/mn&gt;&lt;mn&gt;10&lt;/mn&gt;&lt;/mfrac&gt;&lt;mtext&gt;&lt;/mtext&gt;&lt;mtext&gt;&lt;/mtext&gt;&lt;mtext&gt;&lt;/mtext&gt;&lt;mtext&gt;&lt;/mtext&gt;&lt;mtext&gt;&lt;/mtext&gt;&lt;mfrac&gt;&lt;mn&gt;3&lt;/mn&gt;&lt;mn&gt;4&lt;/mn&gt;&lt;/mfrac&gt;&lt;/mtd&gt;&lt;/mtr&gt;&lt;/mtable&gt;&lt;/math&gt;" id="1354" name="Google Shape;1354;p96" title="1 lines Line 1: three fifths 13 over 20 17 over 25 seven tenths three four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27623" y="2341400"/>
            <a:ext cx="3456510" cy="514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}{3}\ \ \ \ \ \frac{11}{15}\ \ \ \ \ \frac{9}{12}\ \ \ \ \ \frac{4}{5}\ \ \ \ \ \frac{5}{6}\end{array}&quot;&gt;&lt;mtable columnalign=&quot;left&quot; columnspacing=&quot;1em&quot; rowspacing=&quot;4pt&quot;&gt;&lt;mtr&gt;&lt;mtd&gt;&lt;mfrac&gt;&lt;mn&gt;2&lt;/mn&gt;&lt;mn&gt;3&lt;/mn&gt;&lt;/mfrac&gt;&lt;mtext&gt;&lt;/mtext&gt;&lt;mtext&gt;&lt;/mtext&gt;&lt;mtext&gt;&lt;/mtext&gt;&lt;mtext&gt;&lt;/mtext&gt;&lt;mtext&gt;&lt;/mtext&gt;&lt;mfrac&gt;&lt;mn&gt;11&lt;/mn&gt;&lt;mn&gt;15&lt;/mn&gt;&lt;/mfrac&gt;&lt;mtext&gt;&lt;/mtext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frac&gt;&lt;mn&gt;5&lt;/mn&gt;&lt;mn&gt;6&lt;/mn&gt;&lt;/mfrac&gt;&lt;/mtd&gt;&lt;/mtr&gt;&lt;/mtable&gt;&lt;/math&gt;" id="1355" name="Google Shape;1355;p96" title="1 lines Line 1: two thirds 11 over 15 9 over 12 four fifths five six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73535" y="4032373"/>
            <a:ext cx="3327990" cy="514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4}\ \ \ \ \ \frac{9}{16}\ \ \ \ \ \frac{5}{8}\ \ \ \ \ \frac{1}{2}\end{array}&quot;&gt;&lt;mtable columnalign=&quot;left&quot; columnspacing=&quot;1em&quot; rowspacing=&quot;4pt&quot;&gt;&lt;mtr&gt;&lt;mtd&gt;&lt;mfrac&gt;&lt;mn&gt;3&lt;/mn&gt;&lt;mn&gt;4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1&lt;/mn&gt;&lt;mn&gt;2&lt;/mn&gt;&lt;/mfrac&gt;&lt;/mtd&gt;&lt;/mtr&gt;&lt;/mtable&gt;&lt;/math&gt;" id="1356" name="Google Shape;1356;p96" title="1 lines Line 1: three fourths 9 over 16 five eighths one hal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8168" y="3239992"/>
            <a:ext cx="2418533" cy="501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97"/>
          <p:cNvSpPr txBox="1"/>
          <p:nvPr>
            <p:ph idx="1" type="body"/>
          </p:nvPr>
        </p:nvSpPr>
        <p:spPr>
          <a:xfrm>
            <a:off x="324000" y="675750"/>
            <a:ext cx="8113800" cy="41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Any fraction can be written as an equivalent fraction by multiplication of 1.  E.g.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Fractions can be ordered by converting to fractions with a common denominator.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efficient way of doing this is by finding the LCM of the denominators.  </a:t>
            </a:r>
            <a:endParaRPr sz="2000"/>
          </a:p>
        </p:txBody>
      </p:sp>
      <p:sp>
        <p:nvSpPr>
          <p:cNvPr id="1362" name="Google Shape;1362;p97"/>
          <p:cNvSpPr txBox="1"/>
          <p:nvPr>
            <p:ph type="title"/>
          </p:nvPr>
        </p:nvSpPr>
        <p:spPr>
          <a:xfrm>
            <a:off x="1684800" y="157525"/>
            <a:ext cx="6753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way of a common denominator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4}{7}=\frac{4\times3}{7\times3}=\frac{12}{21}&quot;&gt;&lt;mfrac&gt;&lt;mn&gt;4&lt;/mn&gt;&lt;mn&gt;7&lt;/mn&gt;&lt;/mfrac&gt;&lt;mo&gt;=&lt;/mo&gt;&lt;mfrac&gt;&lt;mrow&gt;&lt;mn&gt;4&lt;/mn&gt;&lt;mo&gt;×&lt;/mo&gt;&lt;mn&gt;3&lt;/mn&gt;&lt;/mrow&gt;&lt;mrow&gt;&lt;mn&gt;7&lt;/mn&gt;&lt;mo&gt;×&lt;/mo&gt;&lt;mn&gt;3&lt;/mn&gt;&lt;/mrow&gt;&lt;/mfrac&gt;&lt;mo&gt;=&lt;/mo&gt;&lt;mfrac&gt;&lt;mn&gt;12&lt;/mn&gt;&lt;mn&gt;21&lt;/mn&gt;&lt;/mfrac&gt;&lt;/math&gt;" id="1363" name="Google Shape;1363;p97" title="four sevenths equals the fraction with numerator 4 times 3 and denominator 7 times 3 equals 12 over 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3406" y="1030700"/>
            <a:ext cx="2034475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9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69" name="Google Shape;1369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