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1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7CC2746-61C6-44BA-9070-86C15AEFFE48}">
  <a:tblStyle styleId="{A7CC2746-61C6-44BA-9070-86C15AEFFE4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g279955a40ae_0_8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8" name="Google Shape;748;g279955a40ae_0_8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g279955a40ae_0_8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4" name="Google Shape;754;g279955a40ae_0_8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g279955a40ae_0_8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9" name="Google Shape;759;g279955a40ae_0_8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g2964887ca51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4" name="Google Shape;764;g2964887ca51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8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g29a796e0130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0" name="Google Shape;770;g29a796e0130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g29a796e0130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9" name="Google Shape;779;g29a796e0130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0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g29af8b07ba5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2" name="Google Shape;812;g29af8b07ba5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2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Google Shape;843;g29af8b07ba5_0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4" name="Google Shape;844;g29af8b07ba5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6" name="Shape 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Google Shape;877;g29af8b07ba5_0_1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8" name="Google Shape;878;g29af8b07ba5_0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2" name="Shape 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3" name="Google Shape;913;g29af8b07ba5_0_1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4" name="Google Shape;914;g29af8b07ba5_0_1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1" name="Shape 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" name="Google Shape;942;g29af8b07ba5_0_4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3" name="Google Shape;943;g29af8b07ba5_0_4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3" name="Shape 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Google Shape;954;g29af8b07ba5_0_2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5" name="Google Shape;955;g29af8b07ba5_0_2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4" name="Shape 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5" name="Google Shape;985;g29af8b07ba5_0_3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6" name="Google Shape;986;g29af8b07ba5_0_3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4" name="Shape 10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5" name="Google Shape;1005;g29af8b07ba5_0_4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6" name="Google Shape;1006;g29af8b07ba5_0_4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8" name="Shape 10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9" name="Google Shape;1019;g29a796e0130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0" name="Google Shape;1020;g29a796e0130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4" name="Shape 10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5" name="Google Shape;1045;g29a796e013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6" name="Google Shape;1046;g29a796e013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6" name="Shape 10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7" name="Google Shape;1087;g29af8b07ba5_0_3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8" name="Google Shape;1088;g29af8b07ba5_0_3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7" name="Shape 10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8" name="Google Shape;1098;g29af8b07ba5_0_7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9" name="Google Shape;1099;g29af8b07ba5_0_7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5" name="Shape 1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" name="Google Shape;1136;g29af8b07ba5_0_8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7" name="Google Shape;1137;g29af8b07ba5_0_8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7" name="Shape 1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" name="Google Shape;1198;g29af8b07ba5_0_8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9" name="Google Shape;1199;g29af8b07ba5_0_8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9" name="Shape 1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0" name="Google Shape;1210;g29af8b07ba5_0_5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1" name="Google Shape;1211;g29af8b07ba5_0_5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8" name="Shape 1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9" name="Google Shape;1219;g29a796e0130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0" name="Google Shape;1220;g29a796e0130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2" name="Shape 1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3" name="Google Shape;1253;g29af8b07ba5_0_4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4" name="Google Shape;1254;g29af8b07ba5_0_4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0" name="Shape 1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1" name="Google Shape;1281;g29af8b07ba5_0_4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2" name="Google Shape;1282;g29af8b07ba5_0_4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0" name="Shape 1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1" name="Google Shape;1311;g29af8b07ba5_0_5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2" name="Google Shape;1312;g29af8b07ba5_0_5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8" name="Shape 1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9" name="Google Shape;1339;g29af8b07ba5_0_8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0" name="Google Shape;1340;g29af8b07ba5_0_8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2" name="Shape 1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3" name="Google Shape;1373;g29af8b07ba5_0_5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4" name="Google Shape;1374;g29af8b07ba5_0_5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1" name="Shape 1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" name="Google Shape;1382;g29af8b07ba5_0_5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3" name="Google Shape;1383;g29af8b07ba5_0_5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7" name="Shape 1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8" name="Google Shape;1408;g29af8b07ba5_0_5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9" name="Google Shape;1409;g29af8b07ba5_0_5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6" name="Shape 1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7" name="Google Shape;1437;g29af8b07ba5_0_6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8" name="Google Shape;1438;g29af8b07ba5_0_6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1" name="Shape 1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2" name="Google Shape;1452;g29af8b07ba5_0_6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3" name="Google Shape;1453;g29af8b07ba5_0_6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3" name="Shape 1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" name="Google Shape;1464;g29af8b07ba5_0_6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5" name="Google Shape;1465;g29af8b07ba5_0_6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4" name="Shape 1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" name="Google Shape;1525;g29af8b07ba5_0_8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6" name="Google Shape;1526;g29af8b07ba5_0_8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6" name="Shape 1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7" name="Google Shape;1537;g29e5c1627b3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8" name="Google Shape;1538;g29e5c1627b3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2" name="Shape 1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3" name="Google Shape;1603;g29af8b07ba5_0_9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4" name="Google Shape;1604;g29af8b07ba5_0_9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2" name="Shape 1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3" name="Google Shape;1613;g279955a40ae_0_8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4" name="Google Shape;1614;g279955a40ae_0_8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8" name="Shape 1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9" name="Google Shape;1619;g279955a40ae_0_8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0" name="Google Shape;1620;g279955a40ae_0_8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9.png"/><Relationship Id="rId5" Type="http://schemas.openxmlformats.org/officeDocument/2006/relationships/image" Target="../media/image7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3.png"/><Relationship Id="rId4" Type="http://schemas.openxmlformats.org/officeDocument/2006/relationships/image" Target="../media/image4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12.png"/><Relationship Id="rId5" Type="http://schemas.openxmlformats.org/officeDocument/2006/relationships/image" Target="../media/image16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0.png"/><Relationship Id="rId4" Type="http://schemas.openxmlformats.org/officeDocument/2006/relationships/image" Target="../media/image4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15.png"/><Relationship Id="rId4" Type="http://schemas.openxmlformats.org/officeDocument/2006/relationships/image" Target="../media/image18.png"/><Relationship Id="rId5" Type="http://schemas.openxmlformats.org/officeDocument/2006/relationships/image" Target="../media/image21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95.png"/><Relationship Id="rId5" Type="http://schemas.openxmlformats.org/officeDocument/2006/relationships/image" Target="../media/image26.png"/><Relationship Id="rId6" Type="http://schemas.openxmlformats.org/officeDocument/2006/relationships/image" Target="../media/image28.png"/><Relationship Id="rId7" Type="http://schemas.openxmlformats.org/officeDocument/2006/relationships/image" Target="../media/image19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0.png"/><Relationship Id="rId3" Type="http://schemas.openxmlformats.org/officeDocument/2006/relationships/image" Target="../media/image95.png"/><Relationship Id="rId4" Type="http://schemas.openxmlformats.org/officeDocument/2006/relationships/image" Target="../media/image24.png"/><Relationship Id="rId9" Type="http://schemas.openxmlformats.org/officeDocument/2006/relationships/image" Target="../media/image19.png"/><Relationship Id="rId5" Type="http://schemas.openxmlformats.org/officeDocument/2006/relationships/image" Target="../media/image25.png"/><Relationship Id="rId6" Type="http://schemas.openxmlformats.org/officeDocument/2006/relationships/image" Target="../media/image27.png"/><Relationship Id="rId7" Type="http://schemas.openxmlformats.org/officeDocument/2006/relationships/image" Target="../media/image26.png"/><Relationship Id="rId8" Type="http://schemas.openxmlformats.org/officeDocument/2006/relationships/image" Target="../media/image28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0.png"/><Relationship Id="rId3" Type="http://schemas.openxmlformats.org/officeDocument/2006/relationships/image" Target="../media/image95.png"/><Relationship Id="rId4" Type="http://schemas.openxmlformats.org/officeDocument/2006/relationships/image" Target="../media/image29.png"/><Relationship Id="rId11" Type="http://schemas.openxmlformats.org/officeDocument/2006/relationships/image" Target="../media/image19.png"/><Relationship Id="rId10" Type="http://schemas.openxmlformats.org/officeDocument/2006/relationships/image" Target="../media/image37.png"/><Relationship Id="rId9" Type="http://schemas.openxmlformats.org/officeDocument/2006/relationships/image" Target="../media/image28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Relationship Id="rId7" Type="http://schemas.openxmlformats.org/officeDocument/2006/relationships/image" Target="../media/image27.png"/><Relationship Id="rId8" Type="http://schemas.openxmlformats.org/officeDocument/2006/relationships/image" Target="../media/image26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5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5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5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Relationship Id="rId4" Type="http://schemas.openxmlformats.org/officeDocument/2006/relationships/image" Target="../media/image41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5.png"/><Relationship Id="rId4" Type="http://schemas.openxmlformats.org/officeDocument/2006/relationships/image" Target="../media/image41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5.png"/><Relationship Id="rId4" Type="http://schemas.openxmlformats.org/officeDocument/2006/relationships/image" Target="../media/image41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5.png"/><Relationship Id="rId4" Type="http://schemas.openxmlformats.org/officeDocument/2006/relationships/image" Target="../media/image41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34.png"/><Relationship Id="rId4" Type="http://schemas.openxmlformats.org/officeDocument/2006/relationships/image" Target="../media/image41.png"/><Relationship Id="rId5" Type="http://schemas.openxmlformats.org/officeDocument/2006/relationships/image" Target="../media/image43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1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5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5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5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5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6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6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6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6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"/>
          <p:cNvSpPr txBox="1"/>
          <p:nvPr/>
        </p:nvSpPr>
        <p:spPr>
          <a:xfrm>
            <a:off x="177375" y="7248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177375" y="248475"/>
            <a:ext cx="424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825725" y="248475"/>
            <a:ext cx="401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177375" y="30535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" name="Google Shape;99;p12"/>
          <p:cNvSpPr txBox="1"/>
          <p:nvPr/>
        </p:nvSpPr>
        <p:spPr>
          <a:xfrm>
            <a:off x="4825725" y="7248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on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                                  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to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0" name="Google Shape;100;p12"/>
          <p:cNvGrpSpPr/>
          <p:nvPr/>
        </p:nvGrpSpPr>
        <p:grpSpPr>
          <a:xfrm>
            <a:off x="2498516" y="1415817"/>
            <a:ext cx="1745270" cy="1430724"/>
            <a:chOff x="2642961" y="1644312"/>
            <a:chExt cx="1454634" cy="1195657"/>
          </a:xfrm>
        </p:grpSpPr>
        <p:pic>
          <p:nvPicPr>
            <p:cNvPr id="101" name="Google Shape;101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4" name="Google Shape;104;p1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5" name="Google Shape;105;p12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252313" y="34173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46350" y="15494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9" name="Google Shape;109;p1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3"/>
          <p:cNvSpPr txBox="1"/>
          <p:nvPr>
            <p:ph idx="1" type="subTitle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2" name="Google Shape;112;p13"/>
          <p:cNvSpPr txBox="1"/>
          <p:nvPr>
            <p:ph idx="2" type="subTitle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idx="3" type="subTitle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.1 Keywords definitions (3)">
  <p:cSld name="CUSTOM_3_1_1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6" name="Google Shape;116;p1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4"/>
          <p:cNvSpPr txBox="1"/>
          <p:nvPr>
            <p:ph idx="1" type="subTitle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9" name="Google Shape;119;p14"/>
          <p:cNvSpPr txBox="1"/>
          <p:nvPr>
            <p:ph idx="2" type="subTitle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0" name="Google Shape;120;p14"/>
          <p:cNvSpPr txBox="1"/>
          <p:nvPr>
            <p:ph idx="3" type="subTitle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 Keyword (4)">
  <p:cSld name="CUSTOM_27_1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3" name="Google Shape;123;p1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/>
          <p:nvPr>
            <p:ph idx="1" type="subTitle"/>
          </p:nvPr>
        </p:nvSpPr>
        <p:spPr>
          <a:xfrm>
            <a:off x="324000" y="9084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5"/>
          <p:cNvSpPr txBox="1"/>
          <p:nvPr>
            <p:ph idx="2" type="subTitle"/>
          </p:nvPr>
        </p:nvSpPr>
        <p:spPr>
          <a:xfrm>
            <a:off x="324000" y="190562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5"/>
          <p:cNvSpPr txBox="1"/>
          <p:nvPr>
            <p:ph idx="3" type="subTitle"/>
          </p:nvPr>
        </p:nvSpPr>
        <p:spPr>
          <a:xfrm>
            <a:off x="324000" y="28976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5"/>
          <p:cNvSpPr txBox="1"/>
          <p:nvPr>
            <p:ph idx="4" type="subTitle"/>
          </p:nvPr>
        </p:nvSpPr>
        <p:spPr>
          <a:xfrm>
            <a:off x="324000" y="3887250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.1 Keyword definitions (4)">
  <p:cSld name="CUSTOM_27_1_2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1" name="Google Shape;131;p1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>
            <p:ph idx="1" type="subTitle"/>
          </p:nvPr>
        </p:nvSpPr>
        <p:spPr>
          <a:xfrm>
            <a:off x="324000" y="9084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3" name="Google Shape;133;p16"/>
          <p:cNvSpPr txBox="1"/>
          <p:nvPr>
            <p:ph idx="2" type="subTitle"/>
          </p:nvPr>
        </p:nvSpPr>
        <p:spPr>
          <a:xfrm>
            <a:off x="324000" y="190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4" name="Google Shape;134;p16"/>
          <p:cNvSpPr txBox="1"/>
          <p:nvPr>
            <p:ph idx="3" type="subTitle"/>
          </p:nvPr>
        </p:nvSpPr>
        <p:spPr>
          <a:xfrm>
            <a:off x="324000" y="28976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6"/>
          <p:cNvSpPr txBox="1"/>
          <p:nvPr>
            <p:ph idx="4" type="subTitle"/>
          </p:nvPr>
        </p:nvSpPr>
        <p:spPr>
          <a:xfrm>
            <a:off x="324000" y="38872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 Keywords (5)">
  <p:cSld name="CUSTOM_27_1_1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9" name="Google Shape;139;p1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7"/>
          <p:cNvSpPr txBox="1"/>
          <p:nvPr>
            <p:ph idx="1" type="subTitle"/>
          </p:nvPr>
        </p:nvSpPr>
        <p:spPr>
          <a:xfrm>
            <a:off x="324000" y="74403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7"/>
          <p:cNvSpPr txBox="1"/>
          <p:nvPr>
            <p:ph idx="2" type="subTitle"/>
          </p:nvPr>
        </p:nvSpPr>
        <p:spPr>
          <a:xfrm>
            <a:off x="324000" y="158878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7"/>
          <p:cNvSpPr txBox="1"/>
          <p:nvPr>
            <p:ph idx="3" type="subTitle"/>
          </p:nvPr>
        </p:nvSpPr>
        <p:spPr>
          <a:xfrm>
            <a:off x="324000" y="2428437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" name="Google Shape;143;p17"/>
          <p:cNvSpPr txBox="1"/>
          <p:nvPr>
            <p:ph idx="4" type="subTitle"/>
          </p:nvPr>
        </p:nvSpPr>
        <p:spPr>
          <a:xfrm>
            <a:off x="324000" y="32656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4" name="Google Shape;144;p17"/>
          <p:cNvSpPr txBox="1"/>
          <p:nvPr>
            <p:ph idx="5" type="subTitle"/>
          </p:nvPr>
        </p:nvSpPr>
        <p:spPr>
          <a:xfrm>
            <a:off x="324000" y="41038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5" name="Google Shape;145;p17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.1 Keywords definitions (5)">
  <p:cSld name="CUSTOM_27_1_1_1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8" name="Google Shape;148;p1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8"/>
          <p:cNvSpPr txBox="1"/>
          <p:nvPr>
            <p:ph idx="1" type="subTitle"/>
          </p:nvPr>
        </p:nvSpPr>
        <p:spPr>
          <a:xfrm>
            <a:off x="324000" y="7440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8"/>
          <p:cNvSpPr txBox="1"/>
          <p:nvPr>
            <p:ph idx="2" type="subTitle"/>
          </p:nvPr>
        </p:nvSpPr>
        <p:spPr>
          <a:xfrm>
            <a:off x="324000" y="158880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1" name="Google Shape;151;p18"/>
          <p:cNvSpPr txBox="1"/>
          <p:nvPr>
            <p:ph idx="3" type="subTitle"/>
          </p:nvPr>
        </p:nvSpPr>
        <p:spPr>
          <a:xfrm>
            <a:off x="324000" y="24284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2" name="Google Shape;152;p18"/>
          <p:cNvSpPr txBox="1"/>
          <p:nvPr>
            <p:ph idx="4" type="subTitle"/>
          </p:nvPr>
        </p:nvSpPr>
        <p:spPr>
          <a:xfrm>
            <a:off x="324000" y="326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3" name="Google Shape;153;p18"/>
          <p:cNvSpPr txBox="1"/>
          <p:nvPr>
            <p:ph idx="5" type="subTitle"/>
          </p:nvPr>
        </p:nvSpPr>
        <p:spPr>
          <a:xfrm>
            <a:off x="324000" y="41038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4" name="Google Shape;154;p18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7" name="Google Shape;157;p19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9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0" name="Google Shape;160;p19"/>
          <p:cNvCxnSpPr>
            <a:endCxn id="161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62" name="Google Shape;162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9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4" name="Google Shape;164;p19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61" name="Google Shape;161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9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19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20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0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0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5" name="Google Shape;175;p20"/>
          <p:cNvCxnSpPr>
            <a:endCxn id="176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6" name="Google Shape;176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0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9" name="Google Shape;179;p20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80" name="Google Shape;180;p20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81" name="Google Shape;181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0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3" name="Google Shape;183;p20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0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21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1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1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1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5" name="Google Shape;195;p21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96" name="Google Shape;196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1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0" name="Google Shape;200;p21"/>
          <p:cNvSpPr txBox="1"/>
          <p:nvPr>
            <p:ph idx="2" type="title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1" name="Google Shape;201;p21"/>
          <p:cNvSpPr txBox="1"/>
          <p:nvPr>
            <p:ph idx="3" type="title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2" name="Google Shape;202;p21"/>
          <p:cNvSpPr txBox="1"/>
          <p:nvPr>
            <p:ph idx="4" type="title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03" name="Google Shape;203;p2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1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5" name="Google Shape;205;p21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1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1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2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2" name="Google Shape;212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3" name="Google Shape;21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2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9" name="Google Shape;219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1" name="Google Shape;22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2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6" name="Google Shape;226;p24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8" name="Google Shape;22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2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3" name="Google Shape;233;p25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5" name="Google Shape;23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6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8" name="Google Shape;238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2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1" name="Google Shape;241;p2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2" name="Google Shape;242;p26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43" name="Google Shape;243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4" name="Google Shape;244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5" name="Google Shape;245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6" name="Google Shape;246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7" name="Google Shape;247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8" name="Google Shape;248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1" name="Google Shape;251;p2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2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4" name="Google Shape;254;p2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5" name="Google Shape;255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6" name="Google Shape;256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7" name="Google Shape;257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8" name="Google Shape;258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9" name="Google Shape;259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60" name="Google Shape;260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1" name="Google Shape;261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8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4" name="Google Shape;264;p2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28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7" name="Google Shape;267;p28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8" name="Google Shape;268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9" name="Google Shape;269;p28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70" name="Google Shape;270;p2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1" name="Google Shape;271;p28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72" name="Google Shape;272;p28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73" name="Google Shape;273;p2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4" name="Google Shape;274;p28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9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7" name="Google Shape;277;p2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9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0" name="Google Shape;280;p29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1" name="Google Shape;281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82" name="Google Shape;282;p29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83" name="Google Shape;283;p2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4" name="Google Shape;284;p29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5" name="Google Shape;285;p29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6" name="Google Shape;286;p2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7" name="Google Shape;287;p29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" name="Google Shape;289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4" name="Google Shape;294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5" name="Google Shape;295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6" name="Google Shape;296;p30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7" name="Google Shape;297;p30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8" name="Google Shape;298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9" name="Google Shape;299;p30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00" name="Google Shape;300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02" name="Google Shape;302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4" name="Google Shape;304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5" name="Google Shape;305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6" name="Google Shape;306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7" name="Google Shape;307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8" name="Google Shape;308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9" name="Google Shape;309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0" name="Google Shape;310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2" name="Google Shape;312;p3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3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5" name="Google Shape;315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6" name="Google Shape;316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31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8" name="Google Shape;318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9" name="Google Shape;319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1" name="Google Shape;321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2" name="Google Shape;322;p31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23" name="Google Shape;323;p3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4" name="Google Shape;324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5" name="Google Shape;325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6" name="Google Shape;326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7" name="Google Shape;327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8" name="Google Shape;328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9" name="Google Shape;329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30" name="Google Shape;330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3" name="Google Shape;333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5" name="Google Shape;335;p3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32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8" name="Google Shape;338;p32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9" name="Google Shape;339;p32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" name="Google Shape;340;p32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1" name="Google Shape;341;p32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42" name="Google Shape;342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4" name="Google Shape;344;p3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5" name="Google Shape;345;p32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6" name="Google Shape;346;p32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7" name="Google Shape;347;p32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8" name="Google Shape;348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9" name="Google Shape;349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50" name="Google Shape;350;p32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51" name="Google Shape;351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2" name="Google Shape;352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53" name="Google Shape;353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2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6" name="Google Shape;356;p32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" name="Google Shape;358;p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3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33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1" name="Google Shape;361;p33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2" name="Google Shape;362;p33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3" name="Google Shape;363;p33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4" name="Google Shape;364;p33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5" name="Google Shape;365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7" name="Google Shape;367;p3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8" name="Google Shape;368;p33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9" name="Google Shape;369;p33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70" name="Google Shape;370;p33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71" name="Google Shape;371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2" name="Google Shape;372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73" name="Google Shape;373;p33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4" name="Google Shape;374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5" name="Google Shape;375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6" name="Google Shape;376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33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9" name="Google Shape;379;p33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1" name="Google Shape;381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4" name="Google Shape;384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6" name="Google Shape;386;p3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7" name="Google Shape;387;p3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8" name="Google Shape;388;p3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9" name="Google Shape;389;p3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90" name="Google Shape;390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91" name="Google Shape;391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2" name="Google Shape;392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3" name="Google Shape;393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4" name="Google Shape;394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5" name="Google Shape;395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6" name="Google Shape;396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7" name="Google Shape;397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8" name="Google Shape;398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0" name="Google Shape;400;p3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03" name="Google Shape;403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5" name="Google Shape;405;p3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6" name="Google Shape;406;p3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7" name="Google Shape;407;p3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8" name="Google Shape;408;p3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9" name="Google Shape;409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10" name="Google Shape;410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1" name="Google Shape;411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2" name="Google Shape;412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13" name="Google Shape;413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4" name="Google Shape;414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5" name="Google Shape;415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6" name="Google Shape;416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7" name="Google Shape;417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" name="Google Shape;419;p3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3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22" name="Google Shape;422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4" name="Google Shape;424;p3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5" name="Google Shape;425;p36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6" name="Google Shape;426;p36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7" name="Google Shape;427;p36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8" name="Google Shape;428;p36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9" name="Google Shape;429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0" name="Google Shape;430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1" name="Google Shape;431;p36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32" name="Google Shape;432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3" name="Google Shape;433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4" name="Google Shape;434;p36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5" name="Google Shape;435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6" name="Google Shape;436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8" name="Google Shape;438;p3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37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41" name="Google Shape;441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3" name="Google Shape;443;p3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4" name="Google Shape;444;p37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5" name="Google Shape;445;p37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6" name="Google Shape;446;p37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7" name="Google Shape;447;p37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8" name="Google Shape;448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9" name="Google Shape;449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0" name="Google Shape;450;p37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51" name="Google Shape;451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2" name="Google Shape;452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3" name="Google Shape;453;p37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4" name="Google Shape;454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5" name="Google Shape;455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7" name="Google Shape;457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60" name="Google Shape;460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2" name="Google Shape;462;p3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3" name="Google Shape;463;p3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4" name="Google Shape;464;p38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5" name="Google Shape;465;p38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6" name="Google Shape;466;p38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7" name="Google Shape;467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8" name="Google Shape;468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9" name="Google Shape;469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0" name="Google Shape;470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71" name="Google Shape;471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2" name="Google Shape;472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3" name="Google Shape;473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4" name="Google Shape;474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5" name="Google Shape;475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6" name="Google Shape;476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7" name="Google Shape;477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8" name="Google Shape;478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0" name="Google Shape;480;p3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3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83" name="Google Shape;483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5" name="Google Shape;485;p3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6" name="Google Shape;486;p3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7" name="Google Shape;487;p3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8" name="Google Shape;488;p3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9" name="Google Shape;489;p3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90" name="Google Shape;490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91" name="Google Shape;491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2" name="Google Shape;492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3" name="Google Shape;493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4" name="Google Shape;494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5" name="Google Shape;495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6" name="Google Shape;496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7" name="Google Shape;497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8" name="Google Shape;498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9" name="Google Shape;499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00" name="Google Shape;500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1" name="Google Shape;501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3" name="Google Shape;503;p4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40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6" name="Google Shape;506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8" name="Google Shape;508;p4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9" name="Google Shape;509;p40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0" name="Google Shape;510;p40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1" name="Google Shape;511;p40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2" name="Google Shape;512;p40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13" name="Google Shape;513;p40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4" name="Google Shape;514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5" name="Google Shape;515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6" name="Google Shape;516;p40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7" name="Google Shape;517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8" name="Google Shape;518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9" name="Google Shape;519;p40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20" name="Google Shape;520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1" name="Google Shape;521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22" name="Google Shape;522;p40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23" name="Google Shape;523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4" name="Google Shape;524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6" name="Google Shape;526;p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4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41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9" name="Google Shape;529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530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1" name="Google Shape;531;p4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32" name="Google Shape;532;p41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3" name="Google Shape;533;p41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4" name="Google Shape;534;p41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5" name="Google Shape;535;p41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6" name="Google Shape;536;p41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7" name="Google Shape;537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8" name="Google Shape;538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9" name="Google Shape;539;p41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40" name="Google Shape;540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1" name="Google Shape;541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2" name="Google Shape;542;p41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43" name="Google Shape;543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4" name="Google Shape;544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5" name="Google Shape;545;p41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6" name="Google Shape;546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7" name="Google Shape;547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9" name="Google Shape;549;p4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52" name="Google Shape;552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3" name="Google Shape;553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4" name="Google Shape;554;p4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5" name="Google Shape;555;p42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6" name="Google Shape;556;p42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7" name="Google Shape;557;p42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58" name="Google Shape;558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9" name="Google Shape;559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0" name="Google Shape;560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1" name="Google Shape;561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62" name="Google Shape;562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3" name="Google Shape;563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4" name="Google Shape;564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5" name="Google Shape;565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6" name="Google Shape;566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8" name="Google Shape;568;p4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4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71" name="Google Shape;571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72" name="Google Shape;572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3" name="Google Shape;573;p4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4" name="Google Shape;574;p4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5" name="Google Shape;575;p4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6" name="Google Shape;576;p4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77" name="Google Shape;577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8" name="Google Shape;578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9" name="Google Shape;579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0" name="Google Shape;580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81" name="Google Shape;581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2" name="Google Shape;582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3" name="Google Shape;583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4" name="Google Shape;584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5" name="Google Shape;585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7" name="Google Shape;587;p4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4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90" name="Google Shape;590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Google Shape;591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92" name="Google Shape;592;p4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3" name="Google Shape;593;p44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4" name="Google Shape;594;p44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5" name="Google Shape;595;p44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96" name="Google Shape;596;p44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7" name="Google Shape;597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8" name="Google Shape;598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9" name="Google Shape;599;p44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00" name="Google Shape;600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1" name="Google Shape;601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02" name="Google Shape;602;p44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03" name="Google Shape;603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4" name="Google Shape;604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6" name="Google Shape;606;p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4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4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9" name="Google Shape;609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10" name="Google Shape;610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11" name="Google Shape;611;p4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2" name="Google Shape;612;p45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3" name="Google Shape;613;p45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4" name="Google Shape;614;p45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15" name="Google Shape;615;p45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6" name="Google Shape;616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7" name="Google Shape;617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8" name="Google Shape;618;p45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9" name="Google Shape;619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0" name="Google Shape;620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21" name="Google Shape;621;p45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22" name="Google Shape;622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3" name="Google Shape;623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5" name="Google Shape;625;p4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4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8" name="Google Shape;628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0" name="Google Shape;630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2" name="Google Shape;632;p4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4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4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5" name="Google Shape;635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7" name="Google Shape;637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9" name="Google Shape;639;p4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p4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2" name="Google Shape;642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3" name="Google Shape;643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4" name="Google Shape;644;p4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6" name="Google Shape;646;p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4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p4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9" name="Google Shape;649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1" name="Google Shape;651;p4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3" name="Google Shape;653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5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56" name="Google Shape;656;p50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7" name="Google Shape;657;p5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58" name="Google Shape;658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1" name="Google Shape;661;p5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5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5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4" name="Google Shape;664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5" name="Google Shape;665;p51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6" name="Google Shape;666;p5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67" name="Google Shape;667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9" name="Google Shape;669;p5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0" name="Google Shape;670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5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2" name="Google Shape;672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3" name="Google Shape;673;p52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4" name="Google Shape;674;p5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75" name="Google Shape;675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7" name="Google Shape;677;p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8" name="Google Shape;678;p5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p5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0" name="Google Shape;680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1" name="Google Shape;681;p53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2" name="Google Shape;682;p5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83" name="Google Shape;683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5" name="Google Shape;685;p5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6" name="Google Shape;686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7" name="Google Shape;687;p5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8" name="Google Shape;688;p54"/>
          <p:cNvSpPr txBox="1"/>
          <p:nvPr/>
        </p:nvSpPr>
        <p:spPr>
          <a:xfrm>
            <a:off x="324000" y="45525"/>
            <a:ext cx="1092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9" name="Google Shape;689;p5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90" name="Google Shape;690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3" name="Google Shape;693;p5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p5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" name="Google Shape;695;p5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6" name="Google Shape;696;p55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97" name="Google Shape;697;p5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8" name="Google Shape;698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9" name="Google Shape;699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1" name="Google Shape;701;p5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2" name="Google Shape;702;p5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p5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4" name="Google Shape;704;p56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05" name="Google Shape;705;p5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6" name="Google Shape;706;p5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7" name="Google Shape;707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9" name="Google Shape;709;p5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0" name="Google Shape;710;p5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1" name="Google Shape;711;p5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2" name="Google Shape;712;p57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3" name="Google Shape;713;p5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4" name="Google Shape;714;p5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15" name="Google Shape;715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"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58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8" name="Google Shape;718;p5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9" name="Google Shape;719;p58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0" name="Google Shape;720;p58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1" name="Google Shape;721;p58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59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4" name="Google Shape;724;p59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5" name="Google Shape;725;p59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6" name="Google Shape;726;p59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7" name="Google Shape;727;p59"/>
          <p:cNvSpPr txBox="1"/>
          <p:nvPr>
            <p:ph type="title"/>
          </p:nvPr>
        </p:nvSpPr>
        <p:spPr>
          <a:xfrm>
            <a:off x="1684800" y="157525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9" name="Google Shape;729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30" name="Google Shape;730;p60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61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61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61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61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61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7" name="Google Shape;737;p61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8" name="Google Shape;738;p61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9" name="Google Shape;739;p61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0" name="Google Shape;740;p61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2" name="Google Shape;742;p6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43" name="Google Shape;743;p62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63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slideLayout" Target="../slideLayouts/slideLayout61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64" Type="http://schemas.openxmlformats.org/officeDocument/2006/relationships/theme" Target="../theme/theme1.xml"/><Relationship Id="rId63" Type="http://schemas.openxmlformats.org/officeDocument/2006/relationships/slideLayout" Target="../slideLayouts/slideLayout62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  <p:sldLayoutId id="2147483708" r:id="rId62"/>
    <p:sldLayoutId id="2147483709" r:id="rId6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7.png"/><Relationship Id="rId4" Type="http://schemas.openxmlformats.org/officeDocument/2006/relationships/image" Target="../media/image50.png"/><Relationship Id="rId5" Type="http://schemas.openxmlformats.org/officeDocument/2006/relationships/image" Target="../media/image4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7.png"/><Relationship Id="rId4" Type="http://schemas.openxmlformats.org/officeDocument/2006/relationships/image" Target="../media/image50.png"/><Relationship Id="rId5" Type="http://schemas.openxmlformats.org/officeDocument/2006/relationships/image" Target="../media/image4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7.png"/><Relationship Id="rId4" Type="http://schemas.openxmlformats.org/officeDocument/2006/relationships/image" Target="../media/image50.png"/><Relationship Id="rId5" Type="http://schemas.openxmlformats.org/officeDocument/2006/relationships/image" Target="../media/image51.png"/><Relationship Id="rId6" Type="http://schemas.openxmlformats.org/officeDocument/2006/relationships/image" Target="../media/image49.png"/><Relationship Id="rId7" Type="http://schemas.openxmlformats.org/officeDocument/2006/relationships/image" Target="../media/image4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7.png"/><Relationship Id="rId4" Type="http://schemas.openxmlformats.org/officeDocument/2006/relationships/image" Target="../media/image50.png"/><Relationship Id="rId5" Type="http://schemas.openxmlformats.org/officeDocument/2006/relationships/image" Target="../media/image48.png"/><Relationship Id="rId6" Type="http://schemas.openxmlformats.org/officeDocument/2006/relationships/image" Target="../media/image54.png"/><Relationship Id="rId7" Type="http://schemas.openxmlformats.org/officeDocument/2006/relationships/image" Target="../media/image5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7.png"/><Relationship Id="rId4" Type="http://schemas.openxmlformats.org/officeDocument/2006/relationships/image" Target="../media/image50.png"/><Relationship Id="rId5" Type="http://schemas.openxmlformats.org/officeDocument/2006/relationships/image" Target="../media/image48.png"/><Relationship Id="rId6" Type="http://schemas.openxmlformats.org/officeDocument/2006/relationships/image" Target="../media/image5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6.png"/><Relationship Id="rId4" Type="http://schemas.openxmlformats.org/officeDocument/2006/relationships/image" Target="../media/image53.png"/><Relationship Id="rId5" Type="http://schemas.openxmlformats.org/officeDocument/2006/relationships/image" Target="../media/image5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9.png"/><Relationship Id="rId4" Type="http://schemas.openxmlformats.org/officeDocument/2006/relationships/image" Target="../media/image62.png"/><Relationship Id="rId9" Type="http://schemas.openxmlformats.org/officeDocument/2006/relationships/image" Target="../media/image64.png"/><Relationship Id="rId5" Type="http://schemas.openxmlformats.org/officeDocument/2006/relationships/image" Target="../media/image58.png"/><Relationship Id="rId6" Type="http://schemas.openxmlformats.org/officeDocument/2006/relationships/image" Target="../media/image61.png"/><Relationship Id="rId7" Type="http://schemas.openxmlformats.org/officeDocument/2006/relationships/image" Target="../media/image60.png"/><Relationship Id="rId8" Type="http://schemas.openxmlformats.org/officeDocument/2006/relationships/image" Target="../media/image48.png"/><Relationship Id="rId10" Type="http://schemas.openxmlformats.org/officeDocument/2006/relationships/image" Target="../media/image6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9.png"/><Relationship Id="rId4" Type="http://schemas.openxmlformats.org/officeDocument/2006/relationships/image" Target="../media/image62.png"/><Relationship Id="rId9" Type="http://schemas.openxmlformats.org/officeDocument/2006/relationships/image" Target="../media/image71.png"/><Relationship Id="rId5" Type="http://schemas.openxmlformats.org/officeDocument/2006/relationships/image" Target="../media/image58.png"/><Relationship Id="rId6" Type="http://schemas.openxmlformats.org/officeDocument/2006/relationships/image" Target="../media/image61.png"/><Relationship Id="rId7" Type="http://schemas.openxmlformats.org/officeDocument/2006/relationships/image" Target="../media/image72.png"/><Relationship Id="rId8" Type="http://schemas.openxmlformats.org/officeDocument/2006/relationships/image" Target="../media/image6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8.png"/><Relationship Id="rId4" Type="http://schemas.openxmlformats.org/officeDocument/2006/relationships/image" Target="../media/image5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70.png"/><Relationship Id="rId4" Type="http://schemas.openxmlformats.org/officeDocument/2006/relationships/image" Target="../media/image66.png"/><Relationship Id="rId5" Type="http://schemas.openxmlformats.org/officeDocument/2006/relationships/image" Target="../media/image67.png"/><Relationship Id="rId6" Type="http://schemas.openxmlformats.org/officeDocument/2006/relationships/image" Target="../media/image69.png"/><Relationship Id="rId7" Type="http://schemas.openxmlformats.org/officeDocument/2006/relationships/image" Target="../media/image7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70.png"/><Relationship Id="rId4" Type="http://schemas.openxmlformats.org/officeDocument/2006/relationships/image" Target="../media/image66.png"/><Relationship Id="rId5" Type="http://schemas.openxmlformats.org/officeDocument/2006/relationships/image" Target="../media/image67.png"/><Relationship Id="rId6" Type="http://schemas.openxmlformats.org/officeDocument/2006/relationships/image" Target="../media/image69.png"/><Relationship Id="rId7" Type="http://schemas.openxmlformats.org/officeDocument/2006/relationships/image" Target="../media/image7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74.png"/><Relationship Id="rId4" Type="http://schemas.openxmlformats.org/officeDocument/2006/relationships/image" Target="../media/image79.png"/><Relationship Id="rId9" Type="http://schemas.openxmlformats.org/officeDocument/2006/relationships/image" Target="../media/image75.png"/><Relationship Id="rId5" Type="http://schemas.openxmlformats.org/officeDocument/2006/relationships/image" Target="../media/image76.png"/><Relationship Id="rId6" Type="http://schemas.openxmlformats.org/officeDocument/2006/relationships/image" Target="../media/image78.png"/><Relationship Id="rId7" Type="http://schemas.openxmlformats.org/officeDocument/2006/relationships/image" Target="../media/image80.png"/><Relationship Id="rId8" Type="http://schemas.openxmlformats.org/officeDocument/2006/relationships/image" Target="../media/image77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74.png"/><Relationship Id="rId4" Type="http://schemas.openxmlformats.org/officeDocument/2006/relationships/image" Target="../media/image79.png"/><Relationship Id="rId9" Type="http://schemas.openxmlformats.org/officeDocument/2006/relationships/image" Target="../media/image75.png"/><Relationship Id="rId5" Type="http://schemas.openxmlformats.org/officeDocument/2006/relationships/image" Target="../media/image76.png"/><Relationship Id="rId6" Type="http://schemas.openxmlformats.org/officeDocument/2006/relationships/image" Target="../media/image78.png"/><Relationship Id="rId7" Type="http://schemas.openxmlformats.org/officeDocument/2006/relationships/image" Target="../media/image80.png"/><Relationship Id="rId8" Type="http://schemas.openxmlformats.org/officeDocument/2006/relationships/image" Target="../media/image77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74.png"/><Relationship Id="rId4" Type="http://schemas.openxmlformats.org/officeDocument/2006/relationships/image" Target="../media/image79.png"/><Relationship Id="rId9" Type="http://schemas.openxmlformats.org/officeDocument/2006/relationships/image" Target="../media/image75.png"/><Relationship Id="rId5" Type="http://schemas.openxmlformats.org/officeDocument/2006/relationships/image" Target="../media/image76.png"/><Relationship Id="rId6" Type="http://schemas.openxmlformats.org/officeDocument/2006/relationships/image" Target="../media/image78.png"/><Relationship Id="rId7" Type="http://schemas.openxmlformats.org/officeDocument/2006/relationships/image" Target="../media/image80.png"/><Relationship Id="rId8" Type="http://schemas.openxmlformats.org/officeDocument/2006/relationships/image" Target="../media/image77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74.png"/><Relationship Id="rId4" Type="http://schemas.openxmlformats.org/officeDocument/2006/relationships/image" Target="../media/image79.png"/><Relationship Id="rId9" Type="http://schemas.openxmlformats.org/officeDocument/2006/relationships/image" Target="../media/image75.png"/><Relationship Id="rId5" Type="http://schemas.openxmlformats.org/officeDocument/2006/relationships/image" Target="../media/image76.png"/><Relationship Id="rId6" Type="http://schemas.openxmlformats.org/officeDocument/2006/relationships/image" Target="../media/image78.png"/><Relationship Id="rId7" Type="http://schemas.openxmlformats.org/officeDocument/2006/relationships/image" Target="../media/image80.png"/><Relationship Id="rId8" Type="http://schemas.openxmlformats.org/officeDocument/2006/relationships/image" Target="../media/image77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74.png"/><Relationship Id="rId4" Type="http://schemas.openxmlformats.org/officeDocument/2006/relationships/image" Target="../media/image79.png"/><Relationship Id="rId9" Type="http://schemas.openxmlformats.org/officeDocument/2006/relationships/image" Target="../media/image75.png"/><Relationship Id="rId5" Type="http://schemas.openxmlformats.org/officeDocument/2006/relationships/image" Target="../media/image76.png"/><Relationship Id="rId6" Type="http://schemas.openxmlformats.org/officeDocument/2006/relationships/image" Target="../media/image78.png"/><Relationship Id="rId7" Type="http://schemas.openxmlformats.org/officeDocument/2006/relationships/image" Target="../media/image80.png"/><Relationship Id="rId8" Type="http://schemas.openxmlformats.org/officeDocument/2006/relationships/image" Target="../media/image77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44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50.png"/><Relationship Id="rId4" Type="http://schemas.openxmlformats.org/officeDocument/2006/relationships/image" Target="../media/image86.png"/><Relationship Id="rId5" Type="http://schemas.openxmlformats.org/officeDocument/2006/relationships/image" Target="../media/image83.png"/><Relationship Id="rId6" Type="http://schemas.openxmlformats.org/officeDocument/2006/relationships/image" Target="../media/image84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50.png"/><Relationship Id="rId4" Type="http://schemas.openxmlformats.org/officeDocument/2006/relationships/image" Target="../media/image86.png"/><Relationship Id="rId5" Type="http://schemas.openxmlformats.org/officeDocument/2006/relationships/image" Target="../media/image81.png"/><Relationship Id="rId6" Type="http://schemas.openxmlformats.org/officeDocument/2006/relationships/image" Target="../media/image82.png"/><Relationship Id="rId7" Type="http://schemas.openxmlformats.org/officeDocument/2006/relationships/image" Target="../media/image83.png"/><Relationship Id="rId8" Type="http://schemas.openxmlformats.org/officeDocument/2006/relationships/image" Target="../media/image84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86.png"/><Relationship Id="rId4" Type="http://schemas.openxmlformats.org/officeDocument/2006/relationships/image" Target="../media/image66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87.png"/><Relationship Id="rId4" Type="http://schemas.openxmlformats.org/officeDocument/2006/relationships/image" Target="../media/image90.png"/><Relationship Id="rId5" Type="http://schemas.openxmlformats.org/officeDocument/2006/relationships/image" Target="../media/image91.png"/><Relationship Id="rId6" Type="http://schemas.openxmlformats.org/officeDocument/2006/relationships/image" Target="../media/image89.png"/><Relationship Id="rId7" Type="http://schemas.openxmlformats.org/officeDocument/2006/relationships/image" Target="../media/image92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93.png"/><Relationship Id="rId4" Type="http://schemas.openxmlformats.org/officeDocument/2006/relationships/image" Target="../media/image94.png"/><Relationship Id="rId5" Type="http://schemas.openxmlformats.org/officeDocument/2006/relationships/image" Target="../media/image98.png"/><Relationship Id="rId6" Type="http://schemas.openxmlformats.org/officeDocument/2006/relationships/image" Target="../media/image100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87.png"/><Relationship Id="rId4" Type="http://schemas.openxmlformats.org/officeDocument/2006/relationships/image" Target="../media/image90.png"/><Relationship Id="rId5" Type="http://schemas.openxmlformats.org/officeDocument/2006/relationships/image" Target="../media/image91.png"/><Relationship Id="rId6" Type="http://schemas.openxmlformats.org/officeDocument/2006/relationships/image" Target="../media/image89.png"/><Relationship Id="rId7" Type="http://schemas.openxmlformats.org/officeDocument/2006/relationships/image" Target="../media/image92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94.png"/><Relationship Id="rId4" Type="http://schemas.openxmlformats.org/officeDocument/2006/relationships/image" Target="../media/image103.png"/><Relationship Id="rId5" Type="http://schemas.openxmlformats.org/officeDocument/2006/relationships/image" Target="../media/image102.png"/><Relationship Id="rId6" Type="http://schemas.openxmlformats.org/officeDocument/2006/relationships/image" Target="../media/image104.png"/><Relationship Id="rId7" Type="http://schemas.openxmlformats.org/officeDocument/2006/relationships/image" Target="../media/image96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01.png"/><Relationship Id="rId4" Type="http://schemas.openxmlformats.org/officeDocument/2006/relationships/image" Target="../media/image105.png"/><Relationship Id="rId5" Type="http://schemas.openxmlformats.org/officeDocument/2006/relationships/image" Target="../media/image99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7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37.xml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Relationship Id="rId5" Type="http://schemas.openxmlformats.org/officeDocument/2006/relationships/image" Target="../media/image9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6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Problem solving with fractions and decimals</a:t>
            </a:r>
            <a:endParaRPr/>
          </a:p>
        </p:txBody>
      </p:sp>
      <p:sp>
        <p:nvSpPr>
          <p:cNvPr id="751" name="Google Shape;751;p64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Comparing and ordering fractions and decimals (positive and negative)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p65"/>
          <p:cNvSpPr txBox="1"/>
          <p:nvPr/>
        </p:nvSpPr>
        <p:spPr>
          <a:xfrm>
            <a:off x="5578975" y="724425"/>
            <a:ext cx="1928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to use Oak lessons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66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 can use my knowledge of fractions and decimals to solve problems.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67"/>
          <p:cNvSpPr txBox="1"/>
          <p:nvPr>
            <p:ph idx="2" type="subTitle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Proportion is a part to whole (sometimes part to part) comparison. </a:t>
            </a:r>
            <a:endParaRPr/>
          </a:p>
        </p:txBody>
      </p:sp>
      <p:sp>
        <p:nvSpPr>
          <p:cNvPr id="767" name="Google Shape;767;p67"/>
          <p:cNvSpPr txBox="1"/>
          <p:nvPr>
            <p:ph idx="1" type="subTitle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An improper fraction is a fraction where the numerator is greater than or equal to the denominator.  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p68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Solving</a:t>
            </a:r>
            <a:r>
              <a:rPr lang="en-GB"/>
              <a:t> problems with fractions</a:t>
            </a:r>
            <a:endParaRPr/>
          </a:p>
        </p:txBody>
      </p:sp>
      <p:sp>
        <p:nvSpPr>
          <p:cNvPr id="773" name="Google Shape;773;p68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Solving problems with decimals</a:t>
            </a:r>
            <a:endParaRPr/>
          </a:p>
        </p:txBody>
      </p:sp>
      <p:sp>
        <p:nvSpPr>
          <p:cNvPr id="774" name="Google Shape;774;p68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Problem solving with fractions and decimals</a:t>
            </a:r>
            <a:endParaRPr/>
          </a:p>
        </p:txBody>
      </p:sp>
      <p:sp>
        <p:nvSpPr>
          <p:cNvPr id="775" name="Google Shape;775;p68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Solving problems with fractions and decimals</a:t>
            </a:r>
            <a:endParaRPr/>
          </a:p>
        </p:txBody>
      </p:sp>
      <p:pic>
        <p:nvPicPr>
          <p:cNvPr id="776" name="Google Shape;776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6825" y="1741000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0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p69"/>
          <p:cNvSpPr txBox="1"/>
          <p:nvPr>
            <p:ph idx="4294967295" type="body"/>
          </p:nvPr>
        </p:nvSpPr>
        <p:spPr>
          <a:xfrm>
            <a:off x="324000" y="606900"/>
            <a:ext cx="82377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Arrange five different digits into this inequality.</a:t>
            </a:r>
            <a:endParaRPr sz="2000"/>
          </a:p>
        </p:txBody>
      </p:sp>
      <p:grpSp>
        <p:nvGrpSpPr>
          <p:cNvPr id="782" name="Google Shape;782;p69"/>
          <p:cNvGrpSpPr/>
          <p:nvPr/>
        </p:nvGrpSpPr>
        <p:grpSpPr>
          <a:xfrm>
            <a:off x="1081900" y="1010400"/>
            <a:ext cx="2177925" cy="1080000"/>
            <a:chOff x="1081900" y="1620000"/>
            <a:chExt cx="2177925" cy="1080000"/>
          </a:xfrm>
        </p:grpSpPr>
        <p:sp>
          <p:nvSpPr>
            <p:cNvPr id="783" name="Google Shape;783;p69"/>
            <p:cNvSpPr/>
            <p:nvPr/>
          </p:nvSpPr>
          <p:spPr>
            <a:xfrm>
              <a:off x="1081900" y="1939800"/>
              <a:ext cx="440400" cy="440400"/>
            </a:xfrm>
            <a:prstGeom prst="rect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784" name="Google Shape;784;p69"/>
            <p:cNvSpPr/>
            <p:nvPr/>
          </p:nvSpPr>
          <p:spPr>
            <a:xfrm>
              <a:off x="1949875" y="1620000"/>
              <a:ext cx="440400" cy="440400"/>
            </a:xfrm>
            <a:prstGeom prst="rect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785" name="Google Shape;785;p69"/>
            <p:cNvSpPr/>
            <p:nvPr/>
          </p:nvSpPr>
          <p:spPr>
            <a:xfrm>
              <a:off x="2750517" y="1620000"/>
              <a:ext cx="440400" cy="440400"/>
            </a:xfrm>
            <a:prstGeom prst="rect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786" name="Google Shape;786;p69"/>
            <p:cNvSpPr/>
            <p:nvPr/>
          </p:nvSpPr>
          <p:spPr>
            <a:xfrm>
              <a:off x="1948438" y="2259600"/>
              <a:ext cx="440400" cy="440400"/>
            </a:xfrm>
            <a:prstGeom prst="rect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787" name="Google Shape;787;p69"/>
            <p:cNvSpPr/>
            <p:nvPr/>
          </p:nvSpPr>
          <p:spPr>
            <a:xfrm>
              <a:off x="2749079" y="2259600"/>
              <a:ext cx="440400" cy="440400"/>
            </a:xfrm>
            <a:prstGeom prst="rect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788" name="Google Shape;788;p69"/>
            <p:cNvCxnSpPr/>
            <p:nvPr/>
          </p:nvCxnSpPr>
          <p:spPr>
            <a:xfrm>
              <a:off x="1864750" y="2174825"/>
              <a:ext cx="581100" cy="0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89" name="Google Shape;789;p69"/>
            <p:cNvCxnSpPr/>
            <p:nvPr/>
          </p:nvCxnSpPr>
          <p:spPr>
            <a:xfrm>
              <a:off x="2678725" y="2160000"/>
              <a:ext cx="581100" cy="0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790" name="Google Shape;790;p69"/>
            <p:cNvSpPr txBox="1"/>
            <p:nvPr/>
          </p:nvSpPr>
          <p:spPr>
            <a:xfrm>
              <a:off x="1601725" y="1968779"/>
              <a:ext cx="1836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&gt;</a:t>
              </a:r>
              <a:endPara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791" name="Google Shape;791;p69"/>
            <p:cNvSpPr txBox="1"/>
            <p:nvPr/>
          </p:nvSpPr>
          <p:spPr>
            <a:xfrm>
              <a:off x="2488835" y="1968779"/>
              <a:ext cx="1836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&gt;</a:t>
              </a:r>
              <a:endPara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792" name="Google Shape;792;p6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Solving problems with fractions</a:t>
            </a:r>
            <a:endParaRPr/>
          </a:p>
        </p:txBody>
      </p:sp>
      <p:pic>
        <p:nvPicPr>
          <p:cNvPr id="793" name="Google Shape;793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73463" y="3663600"/>
            <a:ext cx="727175" cy="895749"/>
          </a:xfrm>
          <a:prstGeom prst="rect">
            <a:avLst/>
          </a:prstGeom>
          <a:noFill/>
          <a:ln>
            <a:noFill/>
          </a:ln>
        </p:spPr>
      </p:pic>
      <p:sp>
        <p:nvSpPr>
          <p:cNvPr id="794" name="Google Shape;794;p69"/>
          <p:cNvSpPr txBox="1"/>
          <p:nvPr/>
        </p:nvSpPr>
        <p:spPr>
          <a:xfrm>
            <a:off x="7208453" y="4396210"/>
            <a:ext cx="16572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Jacob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5" name="Google Shape;795;p69"/>
          <p:cNvSpPr txBox="1"/>
          <p:nvPr/>
        </p:nvSpPr>
        <p:spPr>
          <a:xfrm>
            <a:off x="-83091" y="4386898"/>
            <a:ext cx="16572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Laura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96" name="Google Shape;796;p6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1627" y="3582502"/>
            <a:ext cx="807750" cy="1057915"/>
          </a:xfrm>
          <a:prstGeom prst="rect">
            <a:avLst/>
          </a:prstGeom>
          <a:noFill/>
          <a:ln>
            <a:noFill/>
          </a:ln>
        </p:spPr>
      </p:pic>
      <p:sp>
        <p:nvSpPr>
          <p:cNvPr id="797" name="Google Shape;797;p69"/>
          <p:cNvSpPr txBox="1"/>
          <p:nvPr>
            <p:ph idx="4294967295" type="body"/>
          </p:nvPr>
        </p:nvSpPr>
        <p:spPr>
          <a:xfrm>
            <a:off x="324000" y="2196750"/>
            <a:ext cx="8237700" cy="77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Laura puts these digits into the </a:t>
            </a:r>
            <a:r>
              <a:rPr lang="en-GB" sz="2000"/>
              <a:t>inequality</a:t>
            </a:r>
            <a:r>
              <a:rPr lang="en-GB" sz="2000"/>
              <a:t> and asks Jacob to check if she is right.</a:t>
            </a:r>
            <a:endParaRPr sz="2000"/>
          </a:p>
        </p:txBody>
      </p:sp>
      <p:sp>
        <p:nvSpPr>
          <p:cNvPr id="798" name="Google Shape;798;p69"/>
          <p:cNvSpPr txBox="1"/>
          <p:nvPr>
            <p:ph idx="4294967295" type="body"/>
          </p:nvPr>
        </p:nvSpPr>
        <p:spPr>
          <a:xfrm>
            <a:off x="324000" y="3040800"/>
            <a:ext cx="45459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How can Jacob check if she is right?</a:t>
            </a:r>
            <a:endParaRPr sz="2000"/>
          </a:p>
        </p:txBody>
      </p:sp>
      <p:sp>
        <p:nvSpPr>
          <p:cNvPr id="799" name="Google Shape;799;p69"/>
          <p:cNvSpPr txBox="1"/>
          <p:nvPr/>
        </p:nvSpPr>
        <p:spPr>
          <a:xfrm>
            <a:off x="1225575" y="1381050"/>
            <a:ext cx="247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0" name="Google Shape;800;p69"/>
          <p:cNvSpPr txBox="1"/>
          <p:nvPr/>
        </p:nvSpPr>
        <p:spPr>
          <a:xfrm>
            <a:off x="2086639" y="1086600"/>
            <a:ext cx="247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1" name="Google Shape;801;p69"/>
          <p:cNvSpPr txBox="1"/>
          <p:nvPr/>
        </p:nvSpPr>
        <p:spPr>
          <a:xfrm>
            <a:off x="2064824" y="1719750"/>
            <a:ext cx="247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2" name="Google Shape;802;p69"/>
          <p:cNvSpPr txBox="1"/>
          <p:nvPr/>
        </p:nvSpPr>
        <p:spPr>
          <a:xfrm>
            <a:off x="2868852" y="1049926"/>
            <a:ext cx="247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3" name="Google Shape;803;p69"/>
          <p:cNvSpPr txBox="1"/>
          <p:nvPr/>
        </p:nvSpPr>
        <p:spPr>
          <a:xfrm>
            <a:off x="2883738" y="1719751"/>
            <a:ext cx="247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04" name="Google Shape;804;p69"/>
          <p:cNvGrpSpPr/>
          <p:nvPr/>
        </p:nvGrpSpPr>
        <p:grpSpPr>
          <a:xfrm>
            <a:off x="4914600" y="2652900"/>
            <a:ext cx="2924851" cy="1906449"/>
            <a:chOff x="4914600" y="2652900"/>
            <a:chExt cx="2924851" cy="1906449"/>
          </a:xfrm>
        </p:grpSpPr>
        <p:pic>
          <p:nvPicPr>
            <p:cNvPr id="805" name="Google Shape;805;p69"/>
            <p:cNvPicPr preferRelativeResize="0"/>
            <p:nvPr/>
          </p:nvPicPr>
          <p:blipFill rotWithShape="1">
            <a:blip r:embed="rId5">
              <a:alphaModFix/>
            </a:blip>
            <a:srcRect b="0" l="0" r="69082" t="56280"/>
            <a:stretch/>
          </p:blipFill>
          <p:spPr>
            <a:xfrm>
              <a:off x="4914600" y="2652900"/>
              <a:ext cx="2924851" cy="190644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6" name="Google Shape;806;p69"/>
            <p:cNvSpPr txBox="1"/>
            <p:nvPr/>
          </p:nvSpPr>
          <p:spPr>
            <a:xfrm>
              <a:off x="5015325" y="2769450"/>
              <a:ext cx="2658000" cy="77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That can’t be right.  You have 2 improper fractions and said they are less than one.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807" name="Google Shape;807;p69"/>
          <p:cNvGrpSpPr/>
          <p:nvPr/>
        </p:nvGrpSpPr>
        <p:grpSpPr>
          <a:xfrm>
            <a:off x="1574098" y="3265450"/>
            <a:ext cx="2745902" cy="1474751"/>
            <a:chOff x="1574098" y="3265450"/>
            <a:chExt cx="2745902" cy="1474751"/>
          </a:xfrm>
        </p:grpSpPr>
        <p:pic>
          <p:nvPicPr>
            <p:cNvPr id="808" name="Google Shape;808;p69"/>
            <p:cNvPicPr preferRelativeResize="0"/>
            <p:nvPr/>
          </p:nvPicPr>
          <p:blipFill rotWithShape="1">
            <a:blip r:embed="rId5">
              <a:alphaModFix/>
            </a:blip>
            <a:srcRect b="0" l="0" r="69082" t="56280"/>
            <a:stretch/>
          </p:blipFill>
          <p:spPr>
            <a:xfrm flipH="1">
              <a:off x="1574098" y="3265450"/>
              <a:ext cx="2745902" cy="147475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9" name="Google Shape;809;p69"/>
            <p:cNvSpPr txBox="1"/>
            <p:nvPr/>
          </p:nvSpPr>
          <p:spPr>
            <a:xfrm>
              <a:off x="1737350" y="3329400"/>
              <a:ext cx="2489100" cy="77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Oh yes, improper fractions are greater than or equal to one.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3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p70"/>
          <p:cNvSpPr txBox="1"/>
          <p:nvPr>
            <p:ph idx="4294967295" type="body"/>
          </p:nvPr>
        </p:nvSpPr>
        <p:spPr>
          <a:xfrm>
            <a:off x="324000" y="606900"/>
            <a:ext cx="82377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Arrange five different digits into this </a:t>
            </a:r>
            <a:r>
              <a:rPr lang="en-GB" sz="2000"/>
              <a:t>inequality</a:t>
            </a:r>
            <a:r>
              <a:rPr lang="en-GB" sz="2000"/>
              <a:t>.</a:t>
            </a:r>
            <a:endParaRPr sz="2000"/>
          </a:p>
        </p:txBody>
      </p:sp>
      <p:grpSp>
        <p:nvGrpSpPr>
          <p:cNvPr id="815" name="Google Shape;815;p70"/>
          <p:cNvGrpSpPr/>
          <p:nvPr/>
        </p:nvGrpSpPr>
        <p:grpSpPr>
          <a:xfrm>
            <a:off x="1081900" y="1010400"/>
            <a:ext cx="2177925" cy="1080000"/>
            <a:chOff x="1081900" y="1620000"/>
            <a:chExt cx="2177925" cy="1080000"/>
          </a:xfrm>
        </p:grpSpPr>
        <p:sp>
          <p:nvSpPr>
            <p:cNvPr id="816" name="Google Shape;816;p70"/>
            <p:cNvSpPr/>
            <p:nvPr/>
          </p:nvSpPr>
          <p:spPr>
            <a:xfrm>
              <a:off x="1081900" y="1939800"/>
              <a:ext cx="440400" cy="440400"/>
            </a:xfrm>
            <a:prstGeom prst="rect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17" name="Google Shape;817;p70"/>
            <p:cNvSpPr/>
            <p:nvPr/>
          </p:nvSpPr>
          <p:spPr>
            <a:xfrm>
              <a:off x="1949875" y="1620000"/>
              <a:ext cx="440400" cy="440400"/>
            </a:xfrm>
            <a:prstGeom prst="rect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18" name="Google Shape;818;p70"/>
            <p:cNvSpPr/>
            <p:nvPr/>
          </p:nvSpPr>
          <p:spPr>
            <a:xfrm>
              <a:off x="2750517" y="1620000"/>
              <a:ext cx="440400" cy="440400"/>
            </a:xfrm>
            <a:prstGeom prst="rect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19" name="Google Shape;819;p70"/>
            <p:cNvSpPr/>
            <p:nvPr/>
          </p:nvSpPr>
          <p:spPr>
            <a:xfrm>
              <a:off x="1948438" y="2259600"/>
              <a:ext cx="440400" cy="440400"/>
            </a:xfrm>
            <a:prstGeom prst="rect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20" name="Google Shape;820;p70"/>
            <p:cNvSpPr/>
            <p:nvPr/>
          </p:nvSpPr>
          <p:spPr>
            <a:xfrm>
              <a:off x="2749079" y="2259600"/>
              <a:ext cx="440400" cy="440400"/>
            </a:xfrm>
            <a:prstGeom prst="rect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821" name="Google Shape;821;p70"/>
            <p:cNvCxnSpPr/>
            <p:nvPr/>
          </p:nvCxnSpPr>
          <p:spPr>
            <a:xfrm>
              <a:off x="1864750" y="2174825"/>
              <a:ext cx="581100" cy="0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22" name="Google Shape;822;p70"/>
            <p:cNvCxnSpPr/>
            <p:nvPr/>
          </p:nvCxnSpPr>
          <p:spPr>
            <a:xfrm>
              <a:off x="2678725" y="2160000"/>
              <a:ext cx="581100" cy="0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823" name="Google Shape;823;p70"/>
            <p:cNvSpPr txBox="1"/>
            <p:nvPr/>
          </p:nvSpPr>
          <p:spPr>
            <a:xfrm>
              <a:off x="1601725" y="1968779"/>
              <a:ext cx="1836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&gt;</a:t>
              </a:r>
              <a:endPara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24" name="Google Shape;824;p70"/>
            <p:cNvSpPr txBox="1"/>
            <p:nvPr/>
          </p:nvSpPr>
          <p:spPr>
            <a:xfrm>
              <a:off x="2488835" y="1968779"/>
              <a:ext cx="1836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&gt;</a:t>
              </a:r>
              <a:endPara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825" name="Google Shape;825;p7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Solving problems with fractions</a:t>
            </a:r>
            <a:endParaRPr/>
          </a:p>
        </p:txBody>
      </p:sp>
      <p:pic>
        <p:nvPicPr>
          <p:cNvPr id="826" name="Google Shape;826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73463" y="3663600"/>
            <a:ext cx="727175" cy="895749"/>
          </a:xfrm>
          <a:prstGeom prst="rect">
            <a:avLst/>
          </a:prstGeom>
          <a:noFill/>
          <a:ln>
            <a:noFill/>
          </a:ln>
        </p:spPr>
      </p:pic>
      <p:sp>
        <p:nvSpPr>
          <p:cNvPr id="827" name="Google Shape;827;p70"/>
          <p:cNvSpPr txBox="1"/>
          <p:nvPr/>
        </p:nvSpPr>
        <p:spPr>
          <a:xfrm>
            <a:off x="7208453" y="4396210"/>
            <a:ext cx="16572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Jacob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8" name="Google Shape;828;p70"/>
          <p:cNvSpPr txBox="1"/>
          <p:nvPr/>
        </p:nvSpPr>
        <p:spPr>
          <a:xfrm>
            <a:off x="-83091" y="4386898"/>
            <a:ext cx="16572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Laura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29" name="Google Shape;829;p7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1627" y="3582502"/>
            <a:ext cx="807750" cy="1057915"/>
          </a:xfrm>
          <a:prstGeom prst="rect">
            <a:avLst/>
          </a:prstGeom>
          <a:noFill/>
          <a:ln>
            <a:noFill/>
          </a:ln>
        </p:spPr>
      </p:pic>
      <p:sp>
        <p:nvSpPr>
          <p:cNvPr id="830" name="Google Shape;830;p70"/>
          <p:cNvSpPr txBox="1"/>
          <p:nvPr>
            <p:ph idx="4294967295" type="body"/>
          </p:nvPr>
        </p:nvSpPr>
        <p:spPr>
          <a:xfrm>
            <a:off x="324000" y="2278800"/>
            <a:ext cx="45459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How can Laura check if he is right?</a:t>
            </a:r>
            <a:endParaRPr sz="2000"/>
          </a:p>
        </p:txBody>
      </p:sp>
      <p:sp>
        <p:nvSpPr>
          <p:cNvPr id="831" name="Google Shape;831;p70"/>
          <p:cNvSpPr txBox="1"/>
          <p:nvPr/>
        </p:nvSpPr>
        <p:spPr>
          <a:xfrm>
            <a:off x="1225575" y="1381050"/>
            <a:ext cx="247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2" name="Google Shape;832;p70"/>
          <p:cNvSpPr txBox="1"/>
          <p:nvPr/>
        </p:nvSpPr>
        <p:spPr>
          <a:xfrm>
            <a:off x="2086639" y="1086600"/>
            <a:ext cx="247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3" name="Google Shape;833;p70"/>
          <p:cNvSpPr txBox="1"/>
          <p:nvPr/>
        </p:nvSpPr>
        <p:spPr>
          <a:xfrm>
            <a:off x="2064824" y="1719750"/>
            <a:ext cx="247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4" name="Google Shape;834;p70"/>
          <p:cNvSpPr txBox="1"/>
          <p:nvPr/>
        </p:nvSpPr>
        <p:spPr>
          <a:xfrm>
            <a:off x="2868852" y="1049926"/>
            <a:ext cx="247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5" name="Google Shape;835;p70"/>
          <p:cNvSpPr txBox="1"/>
          <p:nvPr/>
        </p:nvSpPr>
        <p:spPr>
          <a:xfrm>
            <a:off x="2883738" y="1719751"/>
            <a:ext cx="247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36" name="Google Shape;836;p70"/>
          <p:cNvGrpSpPr/>
          <p:nvPr/>
        </p:nvGrpSpPr>
        <p:grpSpPr>
          <a:xfrm>
            <a:off x="5905200" y="3033900"/>
            <a:ext cx="1729178" cy="1127100"/>
            <a:chOff x="5905200" y="3033900"/>
            <a:chExt cx="1729178" cy="1127100"/>
          </a:xfrm>
        </p:grpSpPr>
        <p:pic>
          <p:nvPicPr>
            <p:cNvPr id="837" name="Google Shape;837;p70"/>
            <p:cNvPicPr preferRelativeResize="0"/>
            <p:nvPr/>
          </p:nvPicPr>
          <p:blipFill rotWithShape="1">
            <a:blip r:embed="rId5">
              <a:alphaModFix/>
            </a:blip>
            <a:srcRect b="0" l="0" r="69082" t="56280"/>
            <a:stretch/>
          </p:blipFill>
          <p:spPr>
            <a:xfrm>
              <a:off x="5905200" y="3033900"/>
              <a:ext cx="1729178" cy="1127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38" name="Google Shape;838;p70"/>
            <p:cNvSpPr txBox="1"/>
            <p:nvPr/>
          </p:nvSpPr>
          <p:spPr>
            <a:xfrm>
              <a:off x="6005925" y="3150450"/>
              <a:ext cx="1349100" cy="42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Let me try.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839" name="Google Shape;839;p70"/>
          <p:cNvGrpSpPr/>
          <p:nvPr/>
        </p:nvGrpSpPr>
        <p:grpSpPr>
          <a:xfrm>
            <a:off x="1197303" y="2769900"/>
            <a:ext cx="3374528" cy="1316250"/>
            <a:chOff x="1574102" y="3379500"/>
            <a:chExt cx="2703299" cy="1316250"/>
          </a:xfrm>
        </p:grpSpPr>
        <p:pic>
          <p:nvPicPr>
            <p:cNvPr id="840" name="Google Shape;840;p70"/>
            <p:cNvPicPr preferRelativeResize="0"/>
            <p:nvPr/>
          </p:nvPicPr>
          <p:blipFill rotWithShape="1">
            <a:blip r:embed="rId5">
              <a:alphaModFix/>
            </a:blip>
            <a:srcRect b="0" l="0" r="69082" t="56280"/>
            <a:stretch/>
          </p:blipFill>
          <p:spPr>
            <a:xfrm flipH="1">
              <a:off x="1574102" y="3379500"/>
              <a:ext cx="2703299" cy="1316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41" name="Google Shape;841;p70"/>
            <p:cNvSpPr txBox="1"/>
            <p:nvPr/>
          </p:nvSpPr>
          <p:spPr>
            <a:xfrm>
              <a:off x="1718775" y="3538050"/>
              <a:ext cx="2304900" cy="77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I can change them into decimals to check if you are right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.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5" name="Shape 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Google Shape;846;p71"/>
          <p:cNvSpPr txBox="1"/>
          <p:nvPr>
            <p:ph idx="4294967295" type="body"/>
          </p:nvPr>
        </p:nvSpPr>
        <p:spPr>
          <a:xfrm>
            <a:off x="324000" y="606900"/>
            <a:ext cx="82377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Arrange five different digits into this </a:t>
            </a:r>
            <a:r>
              <a:rPr lang="en-GB" sz="2000"/>
              <a:t>inequality</a:t>
            </a:r>
            <a:r>
              <a:rPr lang="en-GB" sz="2000"/>
              <a:t>.</a:t>
            </a:r>
            <a:endParaRPr sz="2000"/>
          </a:p>
        </p:txBody>
      </p:sp>
      <p:grpSp>
        <p:nvGrpSpPr>
          <p:cNvPr id="847" name="Google Shape;847;p71"/>
          <p:cNvGrpSpPr/>
          <p:nvPr/>
        </p:nvGrpSpPr>
        <p:grpSpPr>
          <a:xfrm>
            <a:off x="1081900" y="1010400"/>
            <a:ext cx="2177925" cy="1080000"/>
            <a:chOff x="1081900" y="1620000"/>
            <a:chExt cx="2177925" cy="1080000"/>
          </a:xfrm>
        </p:grpSpPr>
        <p:sp>
          <p:nvSpPr>
            <p:cNvPr id="848" name="Google Shape;848;p71"/>
            <p:cNvSpPr/>
            <p:nvPr/>
          </p:nvSpPr>
          <p:spPr>
            <a:xfrm>
              <a:off x="1081900" y="1939800"/>
              <a:ext cx="440400" cy="440400"/>
            </a:xfrm>
            <a:prstGeom prst="rect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49" name="Google Shape;849;p71"/>
            <p:cNvSpPr/>
            <p:nvPr/>
          </p:nvSpPr>
          <p:spPr>
            <a:xfrm>
              <a:off x="1949875" y="1620000"/>
              <a:ext cx="440400" cy="440400"/>
            </a:xfrm>
            <a:prstGeom prst="rect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50" name="Google Shape;850;p71"/>
            <p:cNvSpPr/>
            <p:nvPr/>
          </p:nvSpPr>
          <p:spPr>
            <a:xfrm>
              <a:off x="2750517" y="1620000"/>
              <a:ext cx="440400" cy="440400"/>
            </a:xfrm>
            <a:prstGeom prst="rect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51" name="Google Shape;851;p71"/>
            <p:cNvSpPr/>
            <p:nvPr/>
          </p:nvSpPr>
          <p:spPr>
            <a:xfrm>
              <a:off x="1948438" y="2259600"/>
              <a:ext cx="440400" cy="440400"/>
            </a:xfrm>
            <a:prstGeom prst="rect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52" name="Google Shape;852;p71"/>
            <p:cNvSpPr/>
            <p:nvPr/>
          </p:nvSpPr>
          <p:spPr>
            <a:xfrm>
              <a:off x="2749079" y="2259600"/>
              <a:ext cx="440400" cy="440400"/>
            </a:xfrm>
            <a:prstGeom prst="rect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853" name="Google Shape;853;p71"/>
            <p:cNvCxnSpPr/>
            <p:nvPr/>
          </p:nvCxnSpPr>
          <p:spPr>
            <a:xfrm>
              <a:off x="1864750" y="2174825"/>
              <a:ext cx="581100" cy="0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54" name="Google Shape;854;p71"/>
            <p:cNvCxnSpPr/>
            <p:nvPr/>
          </p:nvCxnSpPr>
          <p:spPr>
            <a:xfrm>
              <a:off x="2678725" y="2160000"/>
              <a:ext cx="581100" cy="0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855" name="Google Shape;855;p71"/>
            <p:cNvSpPr txBox="1"/>
            <p:nvPr/>
          </p:nvSpPr>
          <p:spPr>
            <a:xfrm>
              <a:off x="1601725" y="1968779"/>
              <a:ext cx="1836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&gt;</a:t>
              </a:r>
              <a:endPara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56" name="Google Shape;856;p71"/>
            <p:cNvSpPr txBox="1"/>
            <p:nvPr/>
          </p:nvSpPr>
          <p:spPr>
            <a:xfrm>
              <a:off x="2488835" y="1968779"/>
              <a:ext cx="1836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&gt;</a:t>
              </a:r>
              <a:endPara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857" name="Google Shape;857;p7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Solving problems with fractions</a:t>
            </a:r>
            <a:endParaRPr/>
          </a:p>
        </p:txBody>
      </p:sp>
      <p:pic>
        <p:nvPicPr>
          <p:cNvPr id="858" name="Google Shape;858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73463" y="3663600"/>
            <a:ext cx="727175" cy="895749"/>
          </a:xfrm>
          <a:prstGeom prst="rect">
            <a:avLst/>
          </a:prstGeom>
          <a:noFill/>
          <a:ln>
            <a:noFill/>
          </a:ln>
        </p:spPr>
      </p:pic>
      <p:sp>
        <p:nvSpPr>
          <p:cNvPr id="859" name="Google Shape;859;p71"/>
          <p:cNvSpPr txBox="1"/>
          <p:nvPr/>
        </p:nvSpPr>
        <p:spPr>
          <a:xfrm>
            <a:off x="7208453" y="4396210"/>
            <a:ext cx="16572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Jacob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0" name="Google Shape;860;p71"/>
          <p:cNvSpPr txBox="1"/>
          <p:nvPr/>
        </p:nvSpPr>
        <p:spPr>
          <a:xfrm>
            <a:off x="-83091" y="4386898"/>
            <a:ext cx="16572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Laura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61" name="Google Shape;861;p7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1627" y="3582502"/>
            <a:ext cx="807750" cy="1057915"/>
          </a:xfrm>
          <a:prstGeom prst="rect">
            <a:avLst/>
          </a:prstGeom>
          <a:noFill/>
          <a:ln>
            <a:noFill/>
          </a:ln>
        </p:spPr>
      </p:pic>
      <p:sp>
        <p:nvSpPr>
          <p:cNvPr id="862" name="Google Shape;862;p71"/>
          <p:cNvSpPr txBox="1"/>
          <p:nvPr/>
        </p:nvSpPr>
        <p:spPr>
          <a:xfrm>
            <a:off x="1225575" y="1381050"/>
            <a:ext cx="247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3" name="Google Shape;863;p71"/>
          <p:cNvSpPr txBox="1"/>
          <p:nvPr/>
        </p:nvSpPr>
        <p:spPr>
          <a:xfrm>
            <a:off x="2086639" y="1086600"/>
            <a:ext cx="247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4" name="Google Shape;864;p71"/>
          <p:cNvSpPr txBox="1"/>
          <p:nvPr/>
        </p:nvSpPr>
        <p:spPr>
          <a:xfrm>
            <a:off x="2064824" y="1719750"/>
            <a:ext cx="247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5" name="Google Shape;865;p71"/>
          <p:cNvSpPr txBox="1"/>
          <p:nvPr/>
        </p:nvSpPr>
        <p:spPr>
          <a:xfrm>
            <a:off x="2868852" y="1049926"/>
            <a:ext cx="247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6" name="Google Shape;866;p71"/>
          <p:cNvSpPr txBox="1"/>
          <p:nvPr/>
        </p:nvSpPr>
        <p:spPr>
          <a:xfrm>
            <a:off x="2883738" y="1719751"/>
            <a:ext cx="247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3}{4}=\frac{3\times25}{4\times25}=\frac{75}{100}=0.75&quot;&gt;&lt;mfrac&gt;&lt;mn&gt;3&lt;/mn&gt;&lt;mn&gt;4&lt;/mn&gt;&lt;/mfrac&gt;&lt;mo&gt;=&lt;/mo&gt;&lt;mfrac&gt;&lt;mrow&gt;&lt;mn&gt;3&lt;/mn&gt;&lt;mo&gt;×&lt;/mo&gt;&lt;mn&gt;25&lt;/mn&gt;&lt;/mrow&gt;&lt;mrow&gt;&lt;mn&gt;4&lt;/mn&gt;&lt;mo&gt;×&lt;/mo&gt;&lt;mn&gt;25&lt;/mn&gt;&lt;/mrow&gt;&lt;/mfrac&gt;&lt;mo&gt;=&lt;/mo&gt;&lt;mfrac&gt;&lt;mn&gt;75&lt;/mn&gt;&lt;mn&gt;100&lt;/mn&gt;&lt;/mfrac&gt;&lt;mo&gt;=&lt;/mo&gt;&lt;mn&gt;0.75&lt;/mn&gt;&lt;/math&gt;" id="867" name="Google Shape;867;p71" title="three fourths equals the fraction with numerator 3 times 25 and denominator 4 times 25 equals 75 over 100 equals 0.7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81750" y="1020120"/>
            <a:ext cx="3713176" cy="7116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5}=\frac{2\times20}{5\times20}=\frac{40}{100}=0.4&quot;&gt;&lt;mfrac&gt;&lt;mn&gt;2&lt;/mn&gt;&lt;mn&gt;5&lt;/mn&gt;&lt;/mfrac&gt;&lt;mo&gt;=&lt;/mo&gt;&lt;mfrac&gt;&lt;mrow&gt;&lt;mn&gt;2&lt;/mn&gt;&lt;mo&gt;×&lt;/mo&gt;&lt;mn&gt;20&lt;/mn&gt;&lt;/mrow&gt;&lt;mrow&gt;&lt;mn&gt;5&lt;/mn&gt;&lt;mo&gt;×&lt;/mo&gt;&lt;mn&gt;20&lt;/mn&gt;&lt;/mrow&gt;&lt;/mfrac&gt;&lt;mo&gt;=&lt;/mo&gt;&lt;mfrac&gt;&lt;mn&gt;40&lt;/mn&gt;&lt;mn&gt;100&lt;/mn&gt;&lt;/mfrac&gt;&lt;mo&gt;=&lt;/mo&gt;&lt;mn&gt;0.4&lt;/mn&gt;&lt;/math&gt;" id="868" name="Google Shape;868;p71" title="two fifths equals the fraction with numerator 2 times 20 and denominator 5 times 20 equals 40 over 100 equals 0.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781747" y="2138339"/>
            <a:ext cx="3665022" cy="73300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69" name="Google Shape;869;p71"/>
          <p:cNvGrpSpPr/>
          <p:nvPr/>
        </p:nvGrpSpPr>
        <p:grpSpPr>
          <a:xfrm>
            <a:off x="1197303" y="2769900"/>
            <a:ext cx="3374528" cy="1316250"/>
            <a:chOff x="1574102" y="3379500"/>
            <a:chExt cx="2703299" cy="1316250"/>
          </a:xfrm>
        </p:grpSpPr>
        <p:pic>
          <p:nvPicPr>
            <p:cNvPr id="870" name="Google Shape;870;p71"/>
            <p:cNvPicPr preferRelativeResize="0"/>
            <p:nvPr/>
          </p:nvPicPr>
          <p:blipFill rotWithShape="1">
            <a:blip r:embed="rId7">
              <a:alphaModFix/>
            </a:blip>
            <a:srcRect b="0" l="0" r="69082" t="56280"/>
            <a:stretch/>
          </p:blipFill>
          <p:spPr>
            <a:xfrm flipH="1">
              <a:off x="1574102" y="3379500"/>
              <a:ext cx="2703299" cy="1316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71" name="Google Shape;871;p71"/>
            <p:cNvSpPr txBox="1"/>
            <p:nvPr/>
          </p:nvSpPr>
          <p:spPr>
            <a:xfrm>
              <a:off x="1718775" y="3538050"/>
              <a:ext cx="2304900" cy="77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I can change them into decimals to check if you are right.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872" name="Google Shape;872;p71"/>
          <p:cNvSpPr txBox="1"/>
          <p:nvPr/>
        </p:nvSpPr>
        <p:spPr>
          <a:xfrm>
            <a:off x="5454801" y="3240000"/>
            <a:ext cx="1725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 &gt; 0.75 &gt; 0.4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73" name="Google Shape;873;p71"/>
          <p:cNvGrpSpPr/>
          <p:nvPr/>
        </p:nvGrpSpPr>
        <p:grpSpPr>
          <a:xfrm>
            <a:off x="1474295" y="2998507"/>
            <a:ext cx="2365116" cy="1079983"/>
            <a:chOff x="1574102" y="3379500"/>
            <a:chExt cx="2703299" cy="1316250"/>
          </a:xfrm>
        </p:grpSpPr>
        <p:pic>
          <p:nvPicPr>
            <p:cNvPr id="874" name="Google Shape;874;p71"/>
            <p:cNvPicPr preferRelativeResize="0"/>
            <p:nvPr/>
          </p:nvPicPr>
          <p:blipFill rotWithShape="1">
            <a:blip r:embed="rId7">
              <a:alphaModFix/>
            </a:blip>
            <a:srcRect b="0" l="0" r="69082" t="56280"/>
            <a:stretch/>
          </p:blipFill>
          <p:spPr>
            <a:xfrm flipH="1">
              <a:off x="1574102" y="3379500"/>
              <a:ext cx="2703299" cy="1316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75" name="Google Shape;875;p71"/>
            <p:cNvSpPr txBox="1"/>
            <p:nvPr/>
          </p:nvSpPr>
          <p:spPr>
            <a:xfrm>
              <a:off x="1718779" y="3538050"/>
              <a:ext cx="2359800" cy="77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You were right.  Well done!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9" name="Shape 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" name="Google Shape;880;p72"/>
          <p:cNvSpPr txBox="1"/>
          <p:nvPr>
            <p:ph idx="4294967295" type="body"/>
          </p:nvPr>
        </p:nvSpPr>
        <p:spPr>
          <a:xfrm>
            <a:off x="324000" y="606900"/>
            <a:ext cx="82377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Arrange five different digits into this </a:t>
            </a:r>
            <a:r>
              <a:rPr lang="en-GB" sz="2000"/>
              <a:t>inequality</a:t>
            </a:r>
            <a:r>
              <a:rPr lang="en-GB" sz="2000"/>
              <a:t>.</a:t>
            </a:r>
            <a:endParaRPr sz="2000"/>
          </a:p>
        </p:txBody>
      </p:sp>
      <p:grpSp>
        <p:nvGrpSpPr>
          <p:cNvPr id="881" name="Google Shape;881;p72"/>
          <p:cNvGrpSpPr/>
          <p:nvPr/>
        </p:nvGrpSpPr>
        <p:grpSpPr>
          <a:xfrm>
            <a:off x="1081900" y="1010400"/>
            <a:ext cx="2177925" cy="1080000"/>
            <a:chOff x="1081900" y="1620000"/>
            <a:chExt cx="2177925" cy="1080000"/>
          </a:xfrm>
        </p:grpSpPr>
        <p:sp>
          <p:nvSpPr>
            <p:cNvPr id="882" name="Google Shape;882;p72"/>
            <p:cNvSpPr/>
            <p:nvPr/>
          </p:nvSpPr>
          <p:spPr>
            <a:xfrm>
              <a:off x="1081900" y="1939800"/>
              <a:ext cx="440400" cy="440400"/>
            </a:xfrm>
            <a:prstGeom prst="rect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83" name="Google Shape;883;p72"/>
            <p:cNvSpPr/>
            <p:nvPr/>
          </p:nvSpPr>
          <p:spPr>
            <a:xfrm>
              <a:off x="1949875" y="1620000"/>
              <a:ext cx="440400" cy="440400"/>
            </a:xfrm>
            <a:prstGeom prst="rect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84" name="Google Shape;884;p72"/>
            <p:cNvSpPr/>
            <p:nvPr/>
          </p:nvSpPr>
          <p:spPr>
            <a:xfrm>
              <a:off x="2750517" y="1620000"/>
              <a:ext cx="440400" cy="440400"/>
            </a:xfrm>
            <a:prstGeom prst="rect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85" name="Google Shape;885;p72"/>
            <p:cNvSpPr/>
            <p:nvPr/>
          </p:nvSpPr>
          <p:spPr>
            <a:xfrm>
              <a:off x="1948438" y="2259600"/>
              <a:ext cx="440400" cy="440400"/>
            </a:xfrm>
            <a:prstGeom prst="rect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86" name="Google Shape;886;p72"/>
            <p:cNvSpPr/>
            <p:nvPr/>
          </p:nvSpPr>
          <p:spPr>
            <a:xfrm>
              <a:off x="2749079" y="2259600"/>
              <a:ext cx="440400" cy="440400"/>
            </a:xfrm>
            <a:prstGeom prst="rect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887" name="Google Shape;887;p72"/>
            <p:cNvCxnSpPr/>
            <p:nvPr/>
          </p:nvCxnSpPr>
          <p:spPr>
            <a:xfrm>
              <a:off x="1864750" y="2174825"/>
              <a:ext cx="581100" cy="0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88" name="Google Shape;888;p72"/>
            <p:cNvCxnSpPr/>
            <p:nvPr/>
          </p:nvCxnSpPr>
          <p:spPr>
            <a:xfrm>
              <a:off x="2678725" y="2160000"/>
              <a:ext cx="581100" cy="0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889" name="Google Shape;889;p72"/>
            <p:cNvSpPr txBox="1"/>
            <p:nvPr/>
          </p:nvSpPr>
          <p:spPr>
            <a:xfrm>
              <a:off x="1601725" y="1968779"/>
              <a:ext cx="1836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&gt;</a:t>
              </a:r>
              <a:endPara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90" name="Google Shape;890;p72"/>
            <p:cNvSpPr txBox="1"/>
            <p:nvPr/>
          </p:nvSpPr>
          <p:spPr>
            <a:xfrm>
              <a:off x="2488835" y="1968779"/>
              <a:ext cx="1836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&gt;</a:t>
              </a:r>
              <a:endPara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891" name="Google Shape;891;p7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Solving problems with fractions</a:t>
            </a:r>
            <a:endParaRPr/>
          </a:p>
        </p:txBody>
      </p:sp>
      <p:pic>
        <p:nvPicPr>
          <p:cNvPr id="892" name="Google Shape;892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73463" y="3663600"/>
            <a:ext cx="727175" cy="895749"/>
          </a:xfrm>
          <a:prstGeom prst="rect">
            <a:avLst/>
          </a:prstGeom>
          <a:noFill/>
          <a:ln>
            <a:noFill/>
          </a:ln>
        </p:spPr>
      </p:pic>
      <p:sp>
        <p:nvSpPr>
          <p:cNvPr id="893" name="Google Shape;893;p72"/>
          <p:cNvSpPr txBox="1"/>
          <p:nvPr/>
        </p:nvSpPr>
        <p:spPr>
          <a:xfrm>
            <a:off x="7208453" y="4396210"/>
            <a:ext cx="16572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Jacob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4" name="Google Shape;894;p72"/>
          <p:cNvSpPr txBox="1"/>
          <p:nvPr/>
        </p:nvSpPr>
        <p:spPr>
          <a:xfrm>
            <a:off x="-83091" y="4386898"/>
            <a:ext cx="16572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Laura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95" name="Google Shape;895;p7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1627" y="3582502"/>
            <a:ext cx="807750" cy="1057915"/>
          </a:xfrm>
          <a:prstGeom prst="rect">
            <a:avLst/>
          </a:prstGeom>
          <a:noFill/>
          <a:ln>
            <a:noFill/>
          </a:ln>
        </p:spPr>
      </p:pic>
      <p:sp>
        <p:nvSpPr>
          <p:cNvPr id="896" name="Google Shape;896;p72"/>
          <p:cNvSpPr txBox="1"/>
          <p:nvPr/>
        </p:nvSpPr>
        <p:spPr>
          <a:xfrm>
            <a:off x="1225575" y="1381050"/>
            <a:ext cx="247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7" name="Google Shape;897;p72"/>
          <p:cNvSpPr txBox="1"/>
          <p:nvPr/>
        </p:nvSpPr>
        <p:spPr>
          <a:xfrm>
            <a:off x="2086639" y="1086600"/>
            <a:ext cx="247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8" name="Google Shape;898;p72"/>
          <p:cNvSpPr txBox="1"/>
          <p:nvPr/>
        </p:nvSpPr>
        <p:spPr>
          <a:xfrm>
            <a:off x="2064824" y="1719750"/>
            <a:ext cx="247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9" name="Google Shape;899;p72"/>
          <p:cNvSpPr txBox="1"/>
          <p:nvPr/>
        </p:nvSpPr>
        <p:spPr>
          <a:xfrm>
            <a:off x="2868852" y="1049926"/>
            <a:ext cx="247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0" name="Google Shape;900;p72"/>
          <p:cNvSpPr txBox="1"/>
          <p:nvPr/>
        </p:nvSpPr>
        <p:spPr>
          <a:xfrm>
            <a:off x="2883738" y="1719751"/>
            <a:ext cx="247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01" name="Google Shape;901;p72"/>
          <p:cNvGrpSpPr/>
          <p:nvPr/>
        </p:nvGrpSpPr>
        <p:grpSpPr>
          <a:xfrm>
            <a:off x="968702" y="2465250"/>
            <a:ext cx="3374528" cy="1626359"/>
            <a:chOff x="1574102" y="3379500"/>
            <a:chExt cx="2703299" cy="1316250"/>
          </a:xfrm>
        </p:grpSpPr>
        <p:pic>
          <p:nvPicPr>
            <p:cNvPr id="902" name="Google Shape;902;p72"/>
            <p:cNvPicPr preferRelativeResize="0"/>
            <p:nvPr/>
          </p:nvPicPr>
          <p:blipFill rotWithShape="1">
            <a:blip r:embed="rId5">
              <a:alphaModFix/>
            </a:blip>
            <a:srcRect b="0" l="0" r="69082" t="56280"/>
            <a:stretch/>
          </p:blipFill>
          <p:spPr>
            <a:xfrm flipH="1">
              <a:off x="1574102" y="3379500"/>
              <a:ext cx="2703299" cy="1316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03" name="Google Shape;903;p72"/>
            <p:cNvSpPr txBox="1"/>
            <p:nvPr/>
          </p:nvSpPr>
          <p:spPr>
            <a:xfrm>
              <a:off x="1718775" y="3476380"/>
              <a:ext cx="2304900" cy="77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Yes we could. Let’s check using that method. The LCM of 4 and 5 is 20.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04" name="Google Shape;904;p72"/>
          <p:cNvGrpSpPr/>
          <p:nvPr/>
        </p:nvGrpSpPr>
        <p:grpSpPr>
          <a:xfrm>
            <a:off x="4360099" y="2652775"/>
            <a:ext cx="3447249" cy="1786450"/>
            <a:chOff x="5905196" y="3033900"/>
            <a:chExt cx="1909304" cy="1127098"/>
          </a:xfrm>
        </p:grpSpPr>
        <p:pic>
          <p:nvPicPr>
            <p:cNvPr id="905" name="Google Shape;905;p72"/>
            <p:cNvPicPr preferRelativeResize="0"/>
            <p:nvPr/>
          </p:nvPicPr>
          <p:blipFill rotWithShape="1">
            <a:blip r:embed="rId5">
              <a:alphaModFix/>
            </a:blip>
            <a:srcRect b="0" l="0" r="69082" t="56280"/>
            <a:stretch/>
          </p:blipFill>
          <p:spPr>
            <a:xfrm>
              <a:off x="5905196" y="3033900"/>
              <a:ext cx="1909304" cy="112709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06" name="Google Shape;906;p72"/>
            <p:cNvSpPr txBox="1"/>
            <p:nvPr/>
          </p:nvSpPr>
          <p:spPr>
            <a:xfrm>
              <a:off x="6005930" y="3150446"/>
              <a:ext cx="1783200" cy="42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We could have converted the 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fractions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 so that they had a common denominator.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descr="&lt;math xmlns=&quot;http://www.w3.org/1998/Math/MathML&quot; display=&quot;block&quot; data-is-equatio=&quot;1&quot; data-latex=&quot;\frac{2}{5}=\frac{2\times4}{5\times4}=\frac{8}{20}&quot;&gt;&lt;mfrac&gt;&lt;mn&gt;2&lt;/mn&gt;&lt;mn&gt;5&lt;/mn&gt;&lt;/mfrac&gt;&lt;mo&gt;=&lt;/mo&gt;&lt;mfrac&gt;&lt;mrow&gt;&lt;mn&gt;2&lt;/mn&gt;&lt;mo&gt;×&lt;/mo&gt;&lt;mn&gt;4&lt;/mn&gt;&lt;/mrow&gt;&lt;mrow&gt;&lt;mn&gt;5&lt;/mn&gt;&lt;mo&gt;×&lt;/mo&gt;&lt;mn&gt;4&lt;/mn&gt;&lt;/mrow&gt;&lt;/mfrac&gt;&lt;mo&gt;=&lt;/mo&gt;&lt;mfrac&gt;&lt;mn&gt;8&lt;/mn&gt;&lt;mn&gt;20&lt;/mn&gt;&lt;/mfrac&gt;&lt;/math&gt;" id="907" name="Google Shape;907;p72" title="two fifths equals the fraction with numerator 2 times 4 and denominator 5 times 4 equals 8 over 20"/>
          <p:cNvPicPr preferRelativeResize="0"/>
          <p:nvPr/>
        </p:nvPicPr>
        <p:blipFill rotWithShape="1">
          <a:blip r:embed="rId6">
            <a:alphaModFix/>
          </a:blip>
          <a:srcRect b="-5843" l="0" r="0" t="-4836"/>
          <a:stretch/>
        </p:blipFill>
        <p:spPr>
          <a:xfrm>
            <a:off x="4910975" y="1858810"/>
            <a:ext cx="2497900" cy="839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4}=\frac{3\times5}{4\times5}=\frac{15}{20}&quot;&gt;&lt;mfrac&gt;&lt;mn&gt;3&lt;/mn&gt;&lt;mn&gt;4&lt;/mn&gt;&lt;/mfrac&gt;&lt;mo&gt;=&lt;/mo&gt;&lt;mfrac&gt;&lt;mrow&gt;&lt;mn&gt;3&lt;/mn&gt;&lt;mo&gt;×&lt;/mo&gt;&lt;mn&gt;5&lt;/mn&gt;&lt;/mrow&gt;&lt;mrow&gt;&lt;mn&gt;4&lt;/mn&gt;&lt;mo&gt;×&lt;/mo&gt;&lt;mn&gt;5&lt;/mn&gt;&lt;/mrow&gt;&lt;/mfrac&gt;&lt;mo&gt;=&lt;/mo&gt;&lt;mfrac&gt;&lt;mn&gt;15&lt;/mn&gt;&lt;mn&gt;20&lt;/mn&gt;&lt;/mfrac&gt;&lt;/math&gt;" id="908" name="Google Shape;908;p72" title="three fourths equals the fraction with numerator 3 times 5 and denominator 4 times 5 equals 15 over 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910984" y="1010021"/>
            <a:ext cx="2409282" cy="731090"/>
          </a:xfrm>
          <a:prstGeom prst="rect">
            <a:avLst/>
          </a:prstGeom>
          <a:noFill/>
          <a:ln>
            <a:noFill/>
          </a:ln>
        </p:spPr>
      </p:pic>
      <p:sp>
        <p:nvSpPr>
          <p:cNvPr id="909" name="Google Shape;909;p72"/>
          <p:cNvSpPr txBox="1"/>
          <p:nvPr/>
        </p:nvSpPr>
        <p:spPr>
          <a:xfrm>
            <a:off x="3709501" y="4386900"/>
            <a:ext cx="1725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 &gt;       &gt; 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2}{5}=\frac{2\times4}{5\times4}=\frac{8}{20}&quot;&gt;&lt;mfrac&gt;&lt;mn&gt;2&lt;/mn&gt;&lt;mn&gt;5&lt;/mn&gt;&lt;/mfrac&gt;&lt;mo&gt;=&lt;/mo&gt;&lt;mfrac&gt;&lt;mrow&gt;&lt;mn&gt;2&lt;/mn&gt;&lt;mo&gt;×&lt;/mo&gt;&lt;mn&gt;4&lt;/mn&gt;&lt;/mrow&gt;&lt;mrow&gt;&lt;mn&gt;5&lt;/mn&gt;&lt;mo&gt;×&lt;/mo&gt;&lt;mn&gt;4&lt;/mn&gt;&lt;/mrow&gt;&lt;/mfrac&gt;&lt;mo&gt;=&lt;/mo&gt;&lt;mfrac&gt;&lt;mn&gt;8&lt;/mn&gt;&lt;mn&gt;20&lt;/mn&gt;&lt;/mfrac&gt;&lt;/math&gt;" id="910" name="Google Shape;910;p72" title="two fifths equals the fraction with numerator 2 times 4 and denominator 5 times 4 equals 8 over 20"/>
          <p:cNvPicPr preferRelativeResize="0"/>
          <p:nvPr/>
        </p:nvPicPr>
        <p:blipFill rotWithShape="1">
          <a:blip r:embed="rId6">
            <a:alphaModFix/>
          </a:blip>
          <a:srcRect b="-5843" l="81101" r="0" t="-4836"/>
          <a:stretch/>
        </p:blipFill>
        <p:spPr>
          <a:xfrm>
            <a:off x="4902159" y="4243574"/>
            <a:ext cx="344866" cy="61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4}=\frac{3\times5}{4\times5}=\frac{15}{20}&quot;&gt;&lt;mfrac&gt;&lt;mn&gt;3&lt;/mn&gt;&lt;mn&gt;4&lt;/mn&gt;&lt;/mfrac&gt;&lt;mo&gt;=&lt;/mo&gt;&lt;mfrac&gt;&lt;mrow&gt;&lt;mn&gt;3&lt;/mn&gt;&lt;mo&gt;×&lt;/mo&gt;&lt;mn&gt;5&lt;/mn&gt;&lt;/mrow&gt;&lt;mrow&gt;&lt;mn&gt;4&lt;/mn&gt;&lt;mo&gt;×&lt;/mo&gt;&lt;mn&gt;5&lt;/mn&gt;&lt;/mrow&gt;&lt;/mfrac&gt;&lt;mo&gt;=&lt;/mo&gt;&lt;mfrac&gt;&lt;mn&gt;15&lt;/mn&gt;&lt;mn&gt;20&lt;/mn&gt;&lt;/mfrac&gt;&lt;/math&gt;" id="911" name="Google Shape;911;p72" title="three fourths equals the fraction with numerator 3 times 5 and denominator 4 times 5 equals 15 over 20"/>
          <p:cNvPicPr preferRelativeResize="0"/>
          <p:nvPr/>
        </p:nvPicPr>
        <p:blipFill rotWithShape="1">
          <a:blip r:embed="rId7">
            <a:alphaModFix/>
          </a:blip>
          <a:srcRect b="0" l="80405" r="0" t="0"/>
          <a:stretch/>
        </p:blipFill>
        <p:spPr>
          <a:xfrm>
            <a:off x="4147563" y="4289204"/>
            <a:ext cx="344866" cy="5340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5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p73"/>
          <p:cNvSpPr txBox="1"/>
          <p:nvPr>
            <p:ph idx="4294967295" type="body"/>
          </p:nvPr>
        </p:nvSpPr>
        <p:spPr>
          <a:xfrm>
            <a:off x="324000" y="606900"/>
            <a:ext cx="82377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Arrange five different digits into this </a:t>
            </a:r>
            <a:r>
              <a:rPr lang="en-GB" sz="2000"/>
              <a:t>inequality</a:t>
            </a:r>
            <a:r>
              <a:rPr lang="en-GB" sz="2000"/>
              <a:t>.</a:t>
            </a:r>
            <a:endParaRPr sz="2000"/>
          </a:p>
        </p:txBody>
      </p:sp>
      <p:grpSp>
        <p:nvGrpSpPr>
          <p:cNvPr id="917" name="Google Shape;917;p73"/>
          <p:cNvGrpSpPr/>
          <p:nvPr/>
        </p:nvGrpSpPr>
        <p:grpSpPr>
          <a:xfrm>
            <a:off x="1081900" y="1010400"/>
            <a:ext cx="2177925" cy="1080000"/>
            <a:chOff x="1081900" y="1620000"/>
            <a:chExt cx="2177925" cy="1080000"/>
          </a:xfrm>
        </p:grpSpPr>
        <p:sp>
          <p:nvSpPr>
            <p:cNvPr id="918" name="Google Shape;918;p73"/>
            <p:cNvSpPr/>
            <p:nvPr/>
          </p:nvSpPr>
          <p:spPr>
            <a:xfrm>
              <a:off x="1081900" y="1939800"/>
              <a:ext cx="440400" cy="440400"/>
            </a:xfrm>
            <a:prstGeom prst="rect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19" name="Google Shape;919;p73"/>
            <p:cNvSpPr/>
            <p:nvPr/>
          </p:nvSpPr>
          <p:spPr>
            <a:xfrm>
              <a:off x="1949875" y="1620000"/>
              <a:ext cx="440400" cy="440400"/>
            </a:xfrm>
            <a:prstGeom prst="rect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20" name="Google Shape;920;p73"/>
            <p:cNvSpPr/>
            <p:nvPr/>
          </p:nvSpPr>
          <p:spPr>
            <a:xfrm>
              <a:off x="2750517" y="1620000"/>
              <a:ext cx="440400" cy="440400"/>
            </a:xfrm>
            <a:prstGeom prst="rect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21" name="Google Shape;921;p73"/>
            <p:cNvSpPr/>
            <p:nvPr/>
          </p:nvSpPr>
          <p:spPr>
            <a:xfrm>
              <a:off x="1948438" y="2259600"/>
              <a:ext cx="440400" cy="440400"/>
            </a:xfrm>
            <a:prstGeom prst="rect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22" name="Google Shape;922;p73"/>
            <p:cNvSpPr/>
            <p:nvPr/>
          </p:nvSpPr>
          <p:spPr>
            <a:xfrm>
              <a:off x="2749079" y="2259600"/>
              <a:ext cx="440400" cy="440400"/>
            </a:xfrm>
            <a:prstGeom prst="rect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923" name="Google Shape;923;p73"/>
            <p:cNvCxnSpPr/>
            <p:nvPr/>
          </p:nvCxnSpPr>
          <p:spPr>
            <a:xfrm>
              <a:off x="1864750" y="2174825"/>
              <a:ext cx="581100" cy="0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24" name="Google Shape;924;p73"/>
            <p:cNvCxnSpPr/>
            <p:nvPr/>
          </p:nvCxnSpPr>
          <p:spPr>
            <a:xfrm>
              <a:off x="2678725" y="2160000"/>
              <a:ext cx="581100" cy="0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925" name="Google Shape;925;p73"/>
            <p:cNvSpPr txBox="1"/>
            <p:nvPr/>
          </p:nvSpPr>
          <p:spPr>
            <a:xfrm>
              <a:off x="1601725" y="1968779"/>
              <a:ext cx="1836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&gt;</a:t>
              </a:r>
              <a:endPara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26" name="Google Shape;926;p73"/>
            <p:cNvSpPr txBox="1"/>
            <p:nvPr/>
          </p:nvSpPr>
          <p:spPr>
            <a:xfrm>
              <a:off x="2488835" y="1968779"/>
              <a:ext cx="1836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&gt;</a:t>
              </a:r>
              <a:endPara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927" name="Google Shape;927;p7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Solving problems with fractions</a:t>
            </a:r>
            <a:endParaRPr/>
          </a:p>
        </p:txBody>
      </p:sp>
      <p:pic>
        <p:nvPicPr>
          <p:cNvPr id="928" name="Google Shape;928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73463" y="3663600"/>
            <a:ext cx="727175" cy="895749"/>
          </a:xfrm>
          <a:prstGeom prst="rect">
            <a:avLst/>
          </a:prstGeom>
          <a:noFill/>
          <a:ln>
            <a:noFill/>
          </a:ln>
        </p:spPr>
      </p:pic>
      <p:sp>
        <p:nvSpPr>
          <p:cNvPr id="929" name="Google Shape;929;p73"/>
          <p:cNvSpPr txBox="1"/>
          <p:nvPr/>
        </p:nvSpPr>
        <p:spPr>
          <a:xfrm>
            <a:off x="-83091" y="4386898"/>
            <a:ext cx="16572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Laura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30" name="Google Shape;930;p7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1627" y="3582502"/>
            <a:ext cx="807750" cy="1057915"/>
          </a:xfrm>
          <a:prstGeom prst="rect">
            <a:avLst/>
          </a:prstGeom>
          <a:noFill/>
          <a:ln>
            <a:noFill/>
          </a:ln>
        </p:spPr>
      </p:pic>
      <p:sp>
        <p:nvSpPr>
          <p:cNvPr id="931" name="Google Shape;931;p73"/>
          <p:cNvSpPr txBox="1"/>
          <p:nvPr/>
        </p:nvSpPr>
        <p:spPr>
          <a:xfrm>
            <a:off x="1225575" y="1381050"/>
            <a:ext cx="247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2" name="Google Shape;932;p73"/>
          <p:cNvSpPr txBox="1"/>
          <p:nvPr/>
        </p:nvSpPr>
        <p:spPr>
          <a:xfrm>
            <a:off x="2086639" y="1086600"/>
            <a:ext cx="247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3" name="Google Shape;933;p73"/>
          <p:cNvSpPr txBox="1"/>
          <p:nvPr/>
        </p:nvSpPr>
        <p:spPr>
          <a:xfrm>
            <a:off x="2064824" y="1719750"/>
            <a:ext cx="247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4" name="Google Shape;934;p73"/>
          <p:cNvSpPr txBox="1"/>
          <p:nvPr/>
        </p:nvSpPr>
        <p:spPr>
          <a:xfrm>
            <a:off x="2868852" y="1049926"/>
            <a:ext cx="247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5" name="Google Shape;935;p73"/>
          <p:cNvSpPr txBox="1"/>
          <p:nvPr/>
        </p:nvSpPr>
        <p:spPr>
          <a:xfrm>
            <a:off x="2883738" y="1719751"/>
            <a:ext cx="247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36" name="Google Shape;936;p73"/>
          <p:cNvGrpSpPr/>
          <p:nvPr/>
        </p:nvGrpSpPr>
        <p:grpSpPr>
          <a:xfrm>
            <a:off x="968702" y="2465250"/>
            <a:ext cx="3374528" cy="1626359"/>
            <a:chOff x="1574102" y="3379500"/>
            <a:chExt cx="2703299" cy="1316250"/>
          </a:xfrm>
        </p:grpSpPr>
        <p:pic>
          <p:nvPicPr>
            <p:cNvPr id="937" name="Google Shape;937;p73"/>
            <p:cNvPicPr preferRelativeResize="0"/>
            <p:nvPr/>
          </p:nvPicPr>
          <p:blipFill rotWithShape="1">
            <a:blip r:embed="rId5">
              <a:alphaModFix/>
            </a:blip>
            <a:srcRect b="0" l="0" r="69082" t="56280"/>
            <a:stretch/>
          </p:blipFill>
          <p:spPr>
            <a:xfrm flipH="1">
              <a:off x="1574102" y="3379500"/>
              <a:ext cx="2703299" cy="1316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38" name="Google Shape;938;p73"/>
            <p:cNvSpPr txBox="1"/>
            <p:nvPr/>
          </p:nvSpPr>
          <p:spPr>
            <a:xfrm>
              <a:off x="1718777" y="3476375"/>
              <a:ext cx="2304900" cy="96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I’ve just realised that there was a much easier way to check this!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939" name="Google Shape;939;p7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449124" y="2024325"/>
            <a:ext cx="3224350" cy="2405468"/>
          </a:xfrm>
          <a:prstGeom prst="rect">
            <a:avLst/>
          </a:prstGeom>
          <a:noFill/>
          <a:ln>
            <a:noFill/>
          </a:ln>
        </p:spPr>
      </p:pic>
      <p:sp>
        <p:nvSpPr>
          <p:cNvPr id="940" name="Google Shape;940;p73"/>
          <p:cNvSpPr txBox="1"/>
          <p:nvPr/>
        </p:nvSpPr>
        <p:spPr>
          <a:xfrm>
            <a:off x="7208453" y="4396210"/>
            <a:ext cx="16572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Jacob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4" name="Shape 9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5" name="Google Shape;945;p7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Solving problems with fractions</a:t>
            </a:r>
            <a:endParaRPr/>
          </a:p>
        </p:txBody>
      </p:sp>
      <p:sp>
        <p:nvSpPr>
          <p:cNvPr id="946" name="Google Shape;946;p74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2.3 is less than 3.5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2}{3}&amp;lt;\ \frac{3}{5}&quot;&gt;&lt;mfrac&gt;&lt;mn&gt;2&lt;/mn&gt;&lt;mn&gt;3&lt;/mn&gt;&lt;/mfrac&gt;&lt;mo&gt;&amp;lt;&lt;/mo&gt;&lt;mtext&gt;&lt;/mtext&gt;&lt;mfrac&gt;&lt;mn&gt;3&lt;/mn&gt;&lt;mn&gt;5&lt;/mn&gt;&lt;/mfrac&gt;&lt;/math&gt;" id="947" name="Google Shape;947;p74" title="two thirds is less than three fif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8375" y="1082700"/>
            <a:ext cx="881622" cy="61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8" name="Google Shape;948;p7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77733" y="1786200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3}=\frac{10}{15}\&amp;amp;\ \frac{3}{5}=\frac{9}{15}&quot;&gt;&lt;mfrac&gt;&lt;mn&gt;2&lt;/mn&gt;&lt;mn&gt;3&lt;/mn&gt;&lt;/mfrac&gt;&lt;mo&gt;=&lt;/mo&gt;&lt;mfrac&gt;&lt;mn&gt;10&lt;/mn&gt;&lt;mn&gt;15&lt;/mn&gt;&lt;/mfrac&gt;&lt;mi mathvariant=&quot;normal&quot;&gt;&amp;amp;&lt;/mi&gt;&lt;mtext&gt;&lt;/mtext&gt;&lt;mfrac&gt;&lt;mn&gt;3&lt;/mn&gt;&lt;mn&gt;5&lt;/mn&gt;&lt;/mfrac&gt;&lt;mo&gt;=&lt;/mo&gt;&lt;mfrac&gt;&lt;mn&gt;9&lt;/mn&gt;&lt;mn&gt;15&lt;/mn&gt;&lt;/mfrac&gt;&lt;/math&gt;" id="949" name="Google Shape;949;p74" title="two thirds equals 10 over 15 ampersand three fifths equals 9 over 15"/>
          <p:cNvPicPr preferRelativeResize="0"/>
          <p:nvPr/>
        </p:nvPicPr>
        <p:blipFill rotWithShape="1">
          <a:blip r:embed="rId5">
            <a:alphaModFix/>
          </a:blip>
          <a:srcRect b="0" l="0" r="56349" t="0"/>
          <a:stretch/>
        </p:blipFill>
        <p:spPr>
          <a:xfrm>
            <a:off x="980574" y="3022300"/>
            <a:ext cx="1181475" cy="73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0" name="Google Shape;950;p7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42508" y="3178150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3}=\frac{10}{15}\&amp;amp;\ \frac{3}{5}=\frac{9}{15}&quot;&gt;&lt;mfrac&gt;&lt;mn&gt;2&lt;/mn&gt;&lt;mn&gt;3&lt;/mn&gt;&lt;/mfrac&gt;&lt;mo&gt;=&lt;/mo&gt;&lt;mfrac&gt;&lt;mn&gt;10&lt;/mn&gt;&lt;mn&gt;15&lt;/mn&gt;&lt;/mfrac&gt;&lt;mi mathvariant=&quot;normal&quot;&gt;&amp;amp;&lt;/mi&gt;&lt;mtext&gt;&lt;/mtext&gt;&lt;mfrac&gt;&lt;mn&gt;3&lt;/mn&gt;&lt;mn&gt;5&lt;/mn&gt;&lt;/mfrac&gt;&lt;mo&gt;=&lt;/mo&gt;&lt;mfrac&gt;&lt;mn&gt;9&lt;/mn&gt;&lt;mn&gt;15&lt;/mn&gt;&lt;/mfrac&gt;&lt;/math&gt;" id="951" name="Google Shape;951;p74" title="two thirds equals 10 over 15 ampersand three fifths equals 9 over 15"/>
          <p:cNvPicPr preferRelativeResize="0"/>
          <p:nvPr/>
        </p:nvPicPr>
        <p:blipFill rotWithShape="1">
          <a:blip r:embed="rId5">
            <a:alphaModFix/>
          </a:blip>
          <a:srcRect b="0" l="56349" r="0" t="0"/>
          <a:stretch/>
        </p:blipFill>
        <p:spPr>
          <a:xfrm>
            <a:off x="2886747" y="3022300"/>
            <a:ext cx="1181475" cy="730800"/>
          </a:xfrm>
          <a:prstGeom prst="rect">
            <a:avLst/>
          </a:prstGeom>
          <a:noFill/>
          <a:ln>
            <a:noFill/>
          </a:ln>
        </p:spPr>
      </p:pic>
      <p:sp>
        <p:nvSpPr>
          <p:cNvPr id="952" name="Google Shape;952;p74"/>
          <p:cNvSpPr txBox="1"/>
          <p:nvPr>
            <p:ph idx="3" type="subTitle"/>
          </p:nvPr>
        </p:nvSpPr>
        <p:spPr>
          <a:xfrm>
            <a:off x="2275975" y="3202150"/>
            <a:ext cx="8817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and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6" name="Shape 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" name="Google Shape;957;p75"/>
          <p:cNvSpPr txBox="1"/>
          <p:nvPr>
            <p:ph idx="1" type="body"/>
          </p:nvPr>
        </p:nvSpPr>
        <p:spPr>
          <a:xfrm>
            <a:off x="324000" y="759300"/>
            <a:ext cx="8237700" cy="90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Aisha, Jun and Sofia each have a tub of sweets.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They count what fraction of their tubs are red sweets.</a:t>
            </a:r>
            <a:endParaRPr/>
          </a:p>
        </p:txBody>
      </p:sp>
      <p:sp>
        <p:nvSpPr>
          <p:cNvPr id="958" name="Google Shape;958;p7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Solving problems with fractions</a:t>
            </a:r>
            <a:endParaRPr/>
          </a:p>
        </p:txBody>
      </p:sp>
      <p:pic>
        <p:nvPicPr>
          <p:cNvPr id="959" name="Google Shape;959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17624" y="2827087"/>
            <a:ext cx="727174" cy="909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60" name="Google Shape;960;p7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7225" y="2580243"/>
            <a:ext cx="623346" cy="1177024"/>
          </a:xfrm>
          <a:prstGeom prst="rect">
            <a:avLst/>
          </a:prstGeom>
          <a:noFill/>
          <a:ln>
            <a:noFill/>
          </a:ln>
        </p:spPr>
      </p:pic>
      <p:sp>
        <p:nvSpPr>
          <p:cNvPr id="961" name="Google Shape;961;p75"/>
          <p:cNvSpPr txBox="1"/>
          <p:nvPr/>
        </p:nvSpPr>
        <p:spPr>
          <a:xfrm>
            <a:off x="2430725" y="3585473"/>
            <a:ext cx="14079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Jun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2" name="Google Shape;962;p75"/>
          <p:cNvSpPr txBox="1"/>
          <p:nvPr/>
        </p:nvSpPr>
        <p:spPr>
          <a:xfrm>
            <a:off x="19200" y="3585473"/>
            <a:ext cx="13794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Aisha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3" name="Google Shape;963;p75"/>
          <p:cNvSpPr txBox="1"/>
          <p:nvPr/>
        </p:nvSpPr>
        <p:spPr>
          <a:xfrm>
            <a:off x="7310913" y="3585473"/>
            <a:ext cx="14079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Sofia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64" name="Google Shape;964;p7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610990" y="2835039"/>
            <a:ext cx="807760" cy="89609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5" name="Google Shape;965;p75"/>
          <p:cNvPicPr preferRelativeResize="0"/>
          <p:nvPr/>
        </p:nvPicPr>
        <p:blipFill rotWithShape="1">
          <a:blip r:embed="rId6">
            <a:alphaModFix/>
          </a:blip>
          <a:srcRect b="34538" l="0" r="76954" t="38338"/>
          <a:stretch/>
        </p:blipFill>
        <p:spPr>
          <a:xfrm>
            <a:off x="7582750" y="613500"/>
            <a:ext cx="1161050" cy="13124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66" name="Google Shape;966;p75"/>
          <p:cNvGrpSpPr/>
          <p:nvPr/>
        </p:nvGrpSpPr>
        <p:grpSpPr>
          <a:xfrm>
            <a:off x="6147275" y="1662175"/>
            <a:ext cx="1638094" cy="1786450"/>
            <a:chOff x="6147275" y="1662175"/>
            <a:chExt cx="1638094" cy="1786450"/>
          </a:xfrm>
        </p:grpSpPr>
        <p:pic>
          <p:nvPicPr>
            <p:cNvPr descr="&lt;math xmlns=&quot;http://www.w3.org/1998/Math/MathML&quot; display=&quot;block&quot; data-is-equatio=&quot;1&quot; data-latex=&quot;\frac{2}{5}&quot;&gt;&lt;mfrac&gt;&lt;mn&gt;2&lt;/mn&gt;&lt;mn&gt;5&lt;/mn&gt;&lt;/mfrac&gt;&lt;/math&gt;" id="967" name="Google Shape;967;p75" title="two fifths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6867773" y="1935626"/>
              <a:ext cx="159900" cy="51395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968" name="Google Shape;968;p75"/>
            <p:cNvGrpSpPr/>
            <p:nvPr/>
          </p:nvGrpSpPr>
          <p:grpSpPr>
            <a:xfrm>
              <a:off x="6147275" y="1662175"/>
              <a:ext cx="1638094" cy="1786450"/>
              <a:chOff x="5905200" y="3033901"/>
              <a:chExt cx="1883949" cy="1127098"/>
            </a:xfrm>
          </p:grpSpPr>
          <p:pic>
            <p:nvPicPr>
              <p:cNvPr id="969" name="Google Shape;969;p75"/>
              <p:cNvPicPr preferRelativeResize="0"/>
              <p:nvPr/>
            </p:nvPicPr>
            <p:blipFill rotWithShape="1">
              <a:blip r:embed="rId8">
                <a:alphaModFix/>
              </a:blip>
              <a:srcRect b="0" l="0" r="69082" t="56280"/>
              <a:stretch/>
            </p:blipFill>
            <p:spPr>
              <a:xfrm>
                <a:off x="5905200" y="3033901"/>
                <a:ext cx="1708308" cy="112709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970" name="Google Shape;970;p75"/>
              <p:cNvSpPr txBox="1"/>
              <p:nvPr/>
            </p:nvSpPr>
            <p:spPr>
              <a:xfrm>
                <a:off x="5978950" y="3198522"/>
                <a:ext cx="1810200" cy="424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latin typeface="Lexend"/>
                    <a:ea typeface="Lexend"/>
                    <a:cs typeface="Lexend"/>
                    <a:sym typeface="Lexend"/>
                  </a:rPr>
                  <a:t>And</a:t>
                </a:r>
                <a:endParaRPr sz="20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grpSp>
        <p:nvGrpSpPr>
          <p:cNvPr id="971" name="Google Shape;971;p75"/>
          <p:cNvGrpSpPr/>
          <p:nvPr/>
        </p:nvGrpSpPr>
        <p:grpSpPr>
          <a:xfrm>
            <a:off x="663923" y="1479165"/>
            <a:ext cx="2844450" cy="1168743"/>
            <a:chOff x="663923" y="1479165"/>
            <a:chExt cx="2844450" cy="1168743"/>
          </a:xfrm>
        </p:grpSpPr>
        <p:grpSp>
          <p:nvGrpSpPr>
            <p:cNvPr id="972" name="Google Shape;972;p75"/>
            <p:cNvGrpSpPr/>
            <p:nvPr/>
          </p:nvGrpSpPr>
          <p:grpSpPr>
            <a:xfrm>
              <a:off x="663923" y="1479165"/>
              <a:ext cx="2844450" cy="1168743"/>
              <a:chOff x="1574099" y="3293531"/>
              <a:chExt cx="2449578" cy="1402211"/>
            </a:xfrm>
          </p:grpSpPr>
          <p:pic>
            <p:nvPicPr>
              <p:cNvPr id="973" name="Google Shape;973;p75"/>
              <p:cNvPicPr preferRelativeResize="0"/>
              <p:nvPr/>
            </p:nvPicPr>
            <p:blipFill rotWithShape="1">
              <a:blip r:embed="rId8">
                <a:alphaModFix/>
              </a:blip>
              <a:srcRect b="0" l="0" r="69082" t="56280"/>
              <a:stretch/>
            </p:blipFill>
            <p:spPr>
              <a:xfrm flipH="1">
                <a:off x="1574099" y="3379500"/>
                <a:ext cx="2420173" cy="1316243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974" name="Google Shape;974;p75"/>
              <p:cNvSpPr txBox="1"/>
              <p:nvPr/>
            </p:nvSpPr>
            <p:spPr>
              <a:xfrm>
                <a:off x="1718777" y="3293531"/>
                <a:ext cx="2304900" cy="96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200">
                    <a:latin typeface="Lexend"/>
                    <a:ea typeface="Lexend"/>
                    <a:cs typeface="Lexend"/>
                    <a:sym typeface="Lexend"/>
                  </a:rPr>
                  <a:t>       </a:t>
                </a:r>
                <a:endParaRPr sz="2200">
                  <a:latin typeface="Lexend"/>
                  <a:ea typeface="Lexend"/>
                  <a:cs typeface="Lexend"/>
                  <a:sym typeface="Lexend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200">
                    <a:latin typeface="Lexend"/>
                    <a:ea typeface="Lexend"/>
                    <a:cs typeface="Lexend"/>
                    <a:sym typeface="Lexend"/>
                  </a:rPr>
                  <a:t>    </a:t>
                </a:r>
                <a:r>
                  <a:rPr lang="en-GB" sz="2000">
                    <a:latin typeface="Lexend"/>
                    <a:ea typeface="Lexend"/>
                    <a:cs typeface="Lexend"/>
                    <a:sym typeface="Lexend"/>
                  </a:rPr>
                  <a:t>of mine are red.</a:t>
                </a:r>
                <a:endParaRPr sz="20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pic>
          <p:nvPicPr>
            <p:cNvPr descr="&lt;math xmlns=&quot;http://www.w3.org/1998/Math/MathML&quot; display=&quot;block&quot; data-is-equatio=&quot;1&quot; data-latex=&quot;\frac{1}{3}&quot;&gt;&lt;mfrac&gt;&lt;mn&gt;1&lt;/mn&gt;&lt;mn&gt;3&lt;/mn&gt;&lt;/mfrac&gt;&lt;/math&gt;" id="975" name="Google Shape;975;p75" title="one third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912475" y="1763725"/>
              <a:ext cx="195898" cy="6483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76" name="Google Shape;976;p75"/>
          <p:cNvGrpSpPr/>
          <p:nvPr/>
        </p:nvGrpSpPr>
        <p:grpSpPr>
          <a:xfrm>
            <a:off x="3347075" y="1836347"/>
            <a:ext cx="2886496" cy="1253352"/>
            <a:chOff x="3347075" y="1836347"/>
            <a:chExt cx="2886496" cy="1253352"/>
          </a:xfrm>
        </p:grpSpPr>
        <p:pic>
          <p:nvPicPr>
            <p:cNvPr id="977" name="Google Shape;977;p75"/>
            <p:cNvPicPr preferRelativeResize="0"/>
            <p:nvPr/>
          </p:nvPicPr>
          <p:blipFill rotWithShape="1">
            <a:blip r:embed="rId8">
              <a:alphaModFix/>
            </a:blip>
            <a:srcRect b="0" l="0" r="69082" t="56280"/>
            <a:stretch/>
          </p:blipFill>
          <p:spPr>
            <a:xfrm flipH="1">
              <a:off x="3347075" y="1894625"/>
              <a:ext cx="2810225" cy="11950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78" name="Google Shape;978;p75"/>
            <p:cNvPicPr preferRelativeResize="0"/>
            <p:nvPr/>
          </p:nvPicPr>
          <p:blipFill>
            <a:blip r:embed="rId10">
              <a:alphaModFix/>
            </a:blip>
            <a:stretch>
              <a:fillRect/>
            </a:stretch>
          </p:blipFill>
          <p:spPr>
            <a:xfrm>
              <a:off x="3623534" y="2199210"/>
              <a:ext cx="294069" cy="5859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79" name="Google Shape;979;p75"/>
            <p:cNvSpPr txBox="1"/>
            <p:nvPr/>
          </p:nvSpPr>
          <p:spPr>
            <a:xfrm>
              <a:off x="3784072" y="1836347"/>
              <a:ext cx="2449500" cy="119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       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  </a:t>
              </a: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of mine are red.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980" name="Google Shape;980;p75"/>
          <p:cNvSpPr txBox="1"/>
          <p:nvPr>
            <p:ph idx="4294967295" type="body"/>
          </p:nvPr>
        </p:nvSpPr>
        <p:spPr>
          <a:xfrm>
            <a:off x="324000" y="4264500"/>
            <a:ext cx="82377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Who has the greatest proportion of red sweets?</a:t>
            </a:r>
            <a:endParaRPr/>
          </a:p>
        </p:txBody>
      </p:sp>
      <p:grpSp>
        <p:nvGrpSpPr>
          <p:cNvPr id="981" name="Google Shape;981;p75"/>
          <p:cNvGrpSpPr/>
          <p:nvPr/>
        </p:nvGrpSpPr>
        <p:grpSpPr>
          <a:xfrm>
            <a:off x="6234859" y="1923100"/>
            <a:ext cx="1702641" cy="1282499"/>
            <a:chOff x="6234859" y="1923100"/>
            <a:chExt cx="1702641" cy="1282499"/>
          </a:xfrm>
        </p:grpSpPr>
        <p:sp>
          <p:nvSpPr>
            <p:cNvPr id="982" name="Google Shape;982;p75"/>
            <p:cNvSpPr txBox="1"/>
            <p:nvPr/>
          </p:nvSpPr>
          <p:spPr>
            <a:xfrm>
              <a:off x="6234859" y="2532699"/>
              <a:ext cx="1550400" cy="67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mine.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83" name="Google Shape;983;p75"/>
            <p:cNvSpPr txBox="1"/>
            <p:nvPr/>
          </p:nvSpPr>
          <p:spPr>
            <a:xfrm>
              <a:off x="7021300" y="1923100"/>
              <a:ext cx="916200" cy="67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of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7" name="Shape 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8" name="Google Shape;988;p7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Solving problems with fractions</a:t>
            </a:r>
            <a:endParaRPr/>
          </a:p>
        </p:txBody>
      </p:sp>
      <p:pic>
        <p:nvPicPr>
          <p:cNvPr id="989" name="Google Shape;989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2099" y="2660247"/>
            <a:ext cx="727174" cy="909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90" name="Google Shape;990;p7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2100" y="1180843"/>
            <a:ext cx="623346" cy="1177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991" name="Google Shape;991;p7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2090" y="3871951"/>
            <a:ext cx="807760" cy="89609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2" name="Google Shape;992;p76"/>
          <p:cNvPicPr preferRelativeResize="0"/>
          <p:nvPr/>
        </p:nvPicPr>
        <p:blipFill rotWithShape="1">
          <a:blip r:embed="rId6">
            <a:alphaModFix/>
          </a:blip>
          <a:srcRect b="34538" l="0" r="76954" t="38338"/>
          <a:stretch/>
        </p:blipFill>
        <p:spPr>
          <a:xfrm>
            <a:off x="7582750" y="613500"/>
            <a:ext cx="1161050" cy="1312400"/>
          </a:xfrm>
          <a:prstGeom prst="rect">
            <a:avLst/>
          </a:prstGeom>
          <a:noFill/>
          <a:ln>
            <a:noFill/>
          </a:ln>
        </p:spPr>
      </p:pic>
      <p:sp>
        <p:nvSpPr>
          <p:cNvPr id="993" name="Google Shape;993;p76"/>
          <p:cNvSpPr txBox="1"/>
          <p:nvPr>
            <p:ph idx="4294967295" type="body"/>
          </p:nvPr>
        </p:nvSpPr>
        <p:spPr>
          <a:xfrm>
            <a:off x="324000" y="640650"/>
            <a:ext cx="82377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Who has the greatest proportion of red sweets?</a:t>
            </a:r>
            <a:endParaRPr/>
          </a:p>
        </p:txBody>
      </p:sp>
      <p:sp>
        <p:nvSpPr>
          <p:cNvPr id="994" name="Google Shape;994;p76"/>
          <p:cNvSpPr txBox="1"/>
          <p:nvPr>
            <p:ph idx="4294967295" type="body"/>
          </p:nvPr>
        </p:nvSpPr>
        <p:spPr>
          <a:xfrm>
            <a:off x="3888050" y="1922325"/>
            <a:ext cx="4958100" cy="90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What is the lowest common multiple of 3, 10 and 5?</a:t>
            </a:r>
            <a:endParaRPr/>
          </a:p>
        </p:txBody>
      </p:sp>
      <p:sp>
        <p:nvSpPr>
          <p:cNvPr id="995" name="Google Shape;995;p76"/>
          <p:cNvSpPr txBox="1"/>
          <p:nvPr>
            <p:ph idx="4294967295" type="body"/>
          </p:nvPr>
        </p:nvSpPr>
        <p:spPr>
          <a:xfrm>
            <a:off x="3888050" y="2912925"/>
            <a:ext cx="4958100" cy="39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The LCM of 3, 10 and 5 is 30.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3}{10}=\frac{3\times3}{10\times3}=\frac{9}{30}&quot;&gt;&lt;mfrac&gt;&lt;mn&gt;3&lt;/mn&gt;&lt;mn&gt;10&lt;/mn&gt;&lt;/mfrac&gt;&lt;mo&gt;=&lt;/mo&gt;&lt;mfrac&gt;&lt;mrow&gt;&lt;mn&gt;3&lt;/mn&gt;&lt;mo&gt;×&lt;/mo&gt;&lt;mn&gt;3&lt;/mn&gt;&lt;/mrow&gt;&lt;mrow&gt;&lt;mn&gt;10&lt;/mn&gt;&lt;mo&gt;×&lt;/mo&gt;&lt;mn&gt;3&lt;/mn&gt;&lt;/mrow&gt;&lt;/mfrac&gt;&lt;mo&gt;=&lt;/mo&gt;&lt;mfrac&gt;&lt;mn&gt;9&lt;/mn&gt;&lt;mn&gt;30&lt;/mn&gt;&lt;/mfrac&gt;&lt;/math&gt;" id="996" name="Google Shape;996;p76" title="three tenths equals the fraction with numerator 3 times 3 and denominator 10 times 3 equals 9 over 3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206009" y="2795214"/>
            <a:ext cx="2627680" cy="69149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3}=\frac{1\times10}{3\times10}=\frac{10}{30}&quot;&gt;&lt;mfrac&gt;&lt;mn&gt;1&lt;/mn&gt;&lt;mn&gt;3&lt;/mn&gt;&lt;/mfrac&gt;&lt;mo&gt;=&lt;/mo&gt;&lt;mfrac&gt;&lt;mrow&gt;&lt;mn&gt;1&lt;/mn&gt;&lt;mo&gt;×&lt;/mo&gt;&lt;mn&gt;10&lt;/mn&gt;&lt;/mrow&gt;&lt;mrow&gt;&lt;mn&gt;3&lt;/mn&gt;&lt;mo&gt;×&lt;/mo&gt;&lt;mn&gt;10&lt;/mn&gt;&lt;/mrow&gt;&lt;/mfrac&gt;&lt;mo&gt;=&lt;/mo&gt;&lt;mfrac&gt;&lt;mn&gt;10&lt;/mn&gt;&lt;mn&gt;30&lt;/mn&gt;&lt;/mfrac&gt;&lt;/math&gt;" id="997" name="Google Shape;997;p76" title="one third equals the fraction with numerator 1 times 10 and denominator 3 times 10 equals 10 over 3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373184" y="1424849"/>
            <a:ext cx="2463770" cy="69149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5}=\frac{2\times6}{5\times6}=\frac{12}{30}&quot;&gt;&lt;mfrac&gt;&lt;mn&gt;2&lt;/mn&gt;&lt;mn&gt;5&lt;/mn&gt;&lt;/mfrac&gt;&lt;mo&gt;=&lt;/mo&gt;&lt;mfrac&gt;&lt;mrow&gt;&lt;mn&gt;2&lt;/mn&gt;&lt;mo&gt;×&lt;/mo&gt;&lt;mn&gt;6&lt;/mn&gt;&lt;/mrow&gt;&lt;mrow&gt;&lt;mn&gt;5&lt;/mn&gt;&lt;mo&gt;×&lt;/mo&gt;&lt;mn&gt;6&lt;/mn&gt;&lt;/mrow&gt;&lt;/mfrac&gt;&lt;mo&gt;=&lt;/mo&gt;&lt;mfrac&gt;&lt;mn&gt;12&lt;/mn&gt;&lt;mn&gt;30&lt;/mn&gt;&lt;/mfrac&gt;&lt;/math&gt;" id="998" name="Google Shape;998;p76" title="two fifths equals the fraction with numerator 2 times 6 and denominator 5 times 6 equals 12 over 3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375031" y="3971688"/>
            <a:ext cx="2294738" cy="696618"/>
          </a:xfrm>
          <a:prstGeom prst="rect">
            <a:avLst/>
          </a:prstGeom>
          <a:noFill/>
          <a:ln>
            <a:noFill/>
          </a:ln>
        </p:spPr>
      </p:pic>
      <p:sp>
        <p:nvSpPr>
          <p:cNvPr id="999" name="Google Shape;999;p76"/>
          <p:cNvSpPr/>
          <p:nvPr/>
        </p:nvSpPr>
        <p:spPr>
          <a:xfrm>
            <a:off x="1647150" y="1422300"/>
            <a:ext cx="2181600" cy="696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0" name="Google Shape;1000;p76"/>
          <p:cNvSpPr/>
          <p:nvPr/>
        </p:nvSpPr>
        <p:spPr>
          <a:xfrm>
            <a:off x="1686850" y="2697000"/>
            <a:ext cx="2181600" cy="872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1" name="Google Shape;1001;p76"/>
          <p:cNvSpPr/>
          <p:nvPr/>
        </p:nvSpPr>
        <p:spPr>
          <a:xfrm>
            <a:off x="1686850" y="3883650"/>
            <a:ext cx="2181600" cy="872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2" name="Google Shape;1002;p76"/>
          <p:cNvSpPr txBox="1"/>
          <p:nvPr>
            <p:ph idx="4294967295" type="body"/>
          </p:nvPr>
        </p:nvSpPr>
        <p:spPr>
          <a:xfrm>
            <a:off x="3871425" y="3399000"/>
            <a:ext cx="4872300" cy="8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 order from the smallest to the largest proportion of red sweets:</a:t>
            </a:r>
            <a:endParaRPr/>
          </a:p>
        </p:txBody>
      </p:sp>
      <p:sp>
        <p:nvSpPr>
          <p:cNvPr id="1003" name="Google Shape;1003;p76"/>
          <p:cNvSpPr txBox="1"/>
          <p:nvPr>
            <p:ph idx="4294967295" type="body"/>
          </p:nvPr>
        </p:nvSpPr>
        <p:spPr>
          <a:xfrm>
            <a:off x="3876804" y="4152675"/>
            <a:ext cx="2840700" cy="39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Jun, Aisha and Sofia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7" name="Shape 1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8" name="Google Shape;1008;p77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6</a:t>
            </a:r>
            <a:endParaRPr/>
          </a:p>
        </p:txBody>
      </p:sp>
      <p:sp>
        <p:nvSpPr>
          <p:cNvPr id="1009" name="Google Shape;1009;p7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Solving problems with fractions</a:t>
            </a:r>
            <a:endParaRPr/>
          </a:p>
        </p:txBody>
      </p:sp>
      <p:sp>
        <p:nvSpPr>
          <p:cNvPr id="1010" name="Google Shape;1010;p77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To compare                      </a:t>
            </a:r>
            <a:endParaRPr/>
          </a:p>
        </p:txBody>
      </p:sp>
      <p:sp>
        <p:nvSpPr>
          <p:cNvPr id="1011" name="Google Shape;1011;p77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12</a:t>
            </a:r>
            <a:endParaRPr/>
          </a:p>
        </p:txBody>
      </p:sp>
      <p:sp>
        <p:nvSpPr>
          <p:cNvPr id="1012" name="Google Shape;1012;p77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18</a:t>
            </a:r>
            <a:endParaRPr/>
          </a:p>
        </p:txBody>
      </p:sp>
      <p:sp>
        <p:nvSpPr>
          <p:cNvPr id="1013" name="Google Shape;1013;p77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27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4}{9},\ \frac{5}{6},\ \frac{1}{2}\ \&amp;amp;\ \frac{2}{3}&quot;&gt;&lt;mfrac&gt;&lt;mn&gt;4&lt;/mn&gt;&lt;mn&gt;9&lt;/mn&gt;&lt;/mfrac&gt;&lt;mo&gt;,&lt;/mo&gt;&lt;mtext&gt;&lt;/mtext&gt;&lt;mfrac&gt;&lt;mn&gt;5&lt;/mn&gt;&lt;mn&gt;6&lt;/mn&gt;&lt;/mfrac&gt;&lt;mo&gt;,&lt;/mo&gt;&lt;mtext&gt;&lt;/mtext&gt;&lt;mfrac&gt;&lt;mn&gt;1&lt;/mn&gt;&lt;mn&gt;2&lt;/mn&gt;&lt;/mfrac&gt;&lt;mtext&gt;&lt;/mtext&gt;&lt;mi mathvariant=&quot;normal&quot;&gt;&amp;amp;&lt;/mi&gt;&lt;mtext&gt;&lt;/mtext&gt;&lt;mfrac&gt;&lt;mn&gt;2&lt;/mn&gt;&lt;mn&gt;3&lt;/mn&gt;&lt;/mfrac&gt;&lt;/math&gt;" id="1014" name="Google Shape;1014;p77" title="four ninths comma five sixths comma one half ampersand two third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28975" y="689700"/>
            <a:ext cx="1531375" cy="547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5" name="Google Shape;1015;p7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84808" y="3286638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6" name="Google Shape;1016;p77"/>
          <p:cNvSpPr txBox="1"/>
          <p:nvPr>
            <p:ph type="title"/>
          </p:nvPr>
        </p:nvSpPr>
        <p:spPr>
          <a:xfrm>
            <a:off x="324000" y="1190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denominator?</a:t>
            </a:r>
            <a:endParaRPr/>
          </a:p>
        </p:txBody>
      </p:sp>
      <p:sp>
        <p:nvSpPr>
          <p:cNvPr id="1017" name="Google Shape;1017;p77"/>
          <p:cNvSpPr txBox="1"/>
          <p:nvPr>
            <p:ph type="title"/>
          </p:nvPr>
        </p:nvSpPr>
        <p:spPr>
          <a:xfrm>
            <a:off x="3750375" y="810000"/>
            <a:ext cx="49053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you would use which common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1" name="Shape 10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2" name="Google Shape;1022;p78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Solving problems with fractions</a:t>
            </a:r>
            <a:endParaRPr/>
          </a:p>
        </p:txBody>
      </p:sp>
      <p:sp>
        <p:nvSpPr>
          <p:cNvPr id="1023" name="Google Shape;1023;p78"/>
          <p:cNvSpPr txBox="1"/>
          <p:nvPr>
            <p:ph idx="1" type="body"/>
          </p:nvPr>
        </p:nvSpPr>
        <p:spPr>
          <a:xfrm>
            <a:off x="324000" y="759300"/>
            <a:ext cx="82377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/>
            </a:pPr>
            <a:r>
              <a:rPr lang="en-GB"/>
              <a:t>Arrange five different digits into these inequalities.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a)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b)</a:t>
            </a:r>
            <a:endParaRPr/>
          </a:p>
        </p:txBody>
      </p:sp>
      <p:grpSp>
        <p:nvGrpSpPr>
          <p:cNvPr id="1024" name="Google Shape;1024;p78"/>
          <p:cNvGrpSpPr/>
          <p:nvPr/>
        </p:nvGrpSpPr>
        <p:grpSpPr>
          <a:xfrm>
            <a:off x="709275" y="1461325"/>
            <a:ext cx="2177925" cy="1080000"/>
            <a:chOff x="1081900" y="1620000"/>
            <a:chExt cx="2177925" cy="1080000"/>
          </a:xfrm>
        </p:grpSpPr>
        <p:sp>
          <p:nvSpPr>
            <p:cNvPr id="1025" name="Google Shape;1025;p78"/>
            <p:cNvSpPr/>
            <p:nvPr/>
          </p:nvSpPr>
          <p:spPr>
            <a:xfrm>
              <a:off x="1081900" y="1939800"/>
              <a:ext cx="440400" cy="440400"/>
            </a:xfrm>
            <a:prstGeom prst="rect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26" name="Google Shape;1026;p78"/>
            <p:cNvSpPr/>
            <p:nvPr/>
          </p:nvSpPr>
          <p:spPr>
            <a:xfrm>
              <a:off x="1949875" y="1620000"/>
              <a:ext cx="440400" cy="440400"/>
            </a:xfrm>
            <a:prstGeom prst="rect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27" name="Google Shape;1027;p78"/>
            <p:cNvSpPr/>
            <p:nvPr/>
          </p:nvSpPr>
          <p:spPr>
            <a:xfrm>
              <a:off x="2750517" y="1620000"/>
              <a:ext cx="440400" cy="440400"/>
            </a:xfrm>
            <a:prstGeom prst="rect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28" name="Google Shape;1028;p78"/>
            <p:cNvSpPr/>
            <p:nvPr/>
          </p:nvSpPr>
          <p:spPr>
            <a:xfrm>
              <a:off x="1948438" y="2259600"/>
              <a:ext cx="440400" cy="440400"/>
            </a:xfrm>
            <a:prstGeom prst="rect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29" name="Google Shape;1029;p78"/>
            <p:cNvSpPr/>
            <p:nvPr/>
          </p:nvSpPr>
          <p:spPr>
            <a:xfrm>
              <a:off x="2749079" y="2259600"/>
              <a:ext cx="440400" cy="440400"/>
            </a:xfrm>
            <a:prstGeom prst="rect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030" name="Google Shape;1030;p78"/>
            <p:cNvCxnSpPr/>
            <p:nvPr/>
          </p:nvCxnSpPr>
          <p:spPr>
            <a:xfrm>
              <a:off x="1864750" y="2174825"/>
              <a:ext cx="581100" cy="0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31" name="Google Shape;1031;p78"/>
            <p:cNvCxnSpPr/>
            <p:nvPr/>
          </p:nvCxnSpPr>
          <p:spPr>
            <a:xfrm>
              <a:off x="2678725" y="2160000"/>
              <a:ext cx="581100" cy="0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032" name="Google Shape;1032;p78"/>
            <p:cNvSpPr txBox="1"/>
            <p:nvPr/>
          </p:nvSpPr>
          <p:spPr>
            <a:xfrm>
              <a:off x="1601725" y="1968779"/>
              <a:ext cx="1836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&gt;</a:t>
              </a:r>
              <a:endPara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33" name="Google Shape;1033;p78"/>
            <p:cNvSpPr txBox="1"/>
            <p:nvPr/>
          </p:nvSpPr>
          <p:spPr>
            <a:xfrm>
              <a:off x="2488835" y="1968779"/>
              <a:ext cx="1836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&gt;</a:t>
              </a:r>
              <a:endPara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34" name="Google Shape;1034;p78"/>
          <p:cNvGrpSpPr/>
          <p:nvPr/>
        </p:nvGrpSpPr>
        <p:grpSpPr>
          <a:xfrm>
            <a:off x="707050" y="3517367"/>
            <a:ext cx="2182375" cy="1080000"/>
            <a:chOff x="3574800" y="3211950"/>
            <a:chExt cx="2182375" cy="1080000"/>
          </a:xfrm>
        </p:grpSpPr>
        <p:sp>
          <p:nvSpPr>
            <p:cNvPr id="1035" name="Google Shape;1035;p78"/>
            <p:cNvSpPr/>
            <p:nvPr/>
          </p:nvSpPr>
          <p:spPr>
            <a:xfrm>
              <a:off x="3634858" y="3211950"/>
              <a:ext cx="440400" cy="440400"/>
            </a:xfrm>
            <a:prstGeom prst="rect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36" name="Google Shape;1036;p78"/>
            <p:cNvSpPr/>
            <p:nvPr/>
          </p:nvSpPr>
          <p:spPr>
            <a:xfrm>
              <a:off x="4435500" y="3211950"/>
              <a:ext cx="440400" cy="440400"/>
            </a:xfrm>
            <a:prstGeom prst="rect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37" name="Google Shape;1037;p78"/>
            <p:cNvSpPr/>
            <p:nvPr/>
          </p:nvSpPr>
          <p:spPr>
            <a:xfrm>
              <a:off x="3633421" y="3851550"/>
              <a:ext cx="440400" cy="440400"/>
            </a:xfrm>
            <a:prstGeom prst="rect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38" name="Google Shape;1038;p78"/>
            <p:cNvSpPr/>
            <p:nvPr/>
          </p:nvSpPr>
          <p:spPr>
            <a:xfrm>
              <a:off x="4434063" y="3851550"/>
              <a:ext cx="440400" cy="440400"/>
            </a:xfrm>
            <a:prstGeom prst="rect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039" name="Google Shape;1039;p78"/>
            <p:cNvCxnSpPr/>
            <p:nvPr/>
          </p:nvCxnSpPr>
          <p:spPr>
            <a:xfrm>
              <a:off x="3574800" y="3759363"/>
              <a:ext cx="581100" cy="0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40" name="Google Shape;1040;p78"/>
            <p:cNvCxnSpPr/>
            <p:nvPr/>
          </p:nvCxnSpPr>
          <p:spPr>
            <a:xfrm>
              <a:off x="4388775" y="3744538"/>
              <a:ext cx="581100" cy="0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041" name="Google Shape;1041;p78"/>
            <p:cNvSpPr txBox="1"/>
            <p:nvPr/>
          </p:nvSpPr>
          <p:spPr>
            <a:xfrm>
              <a:off x="4203898" y="3560729"/>
              <a:ext cx="1836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&gt;</a:t>
              </a:r>
              <a:endPara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42" name="Google Shape;1042;p78"/>
            <p:cNvSpPr/>
            <p:nvPr/>
          </p:nvSpPr>
          <p:spPr>
            <a:xfrm>
              <a:off x="5316775" y="3531750"/>
              <a:ext cx="440400" cy="440400"/>
            </a:xfrm>
            <a:prstGeom prst="rect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43" name="Google Shape;1043;p78"/>
            <p:cNvSpPr txBox="1"/>
            <p:nvPr/>
          </p:nvSpPr>
          <p:spPr>
            <a:xfrm>
              <a:off x="5051523" y="3560729"/>
              <a:ext cx="1836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&gt;</a:t>
              </a:r>
              <a:endPara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7" name="Shape 10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" name="Google Shape;1048;p79"/>
          <p:cNvSpPr txBox="1"/>
          <p:nvPr>
            <p:ph idx="1" type="body"/>
          </p:nvPr>
        </p:nvSpPr>
        <p:spPr>
          <a:xfrm>
            <a:off x="324000" y="759300"/>
            <a:ext cx="8237700" cy="36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2)  Arrange the digits 1 to 9 to make these ineq</a:t>
            </a:r>
            <a:r>
              <a:rPr lang="en-GB"/>
              <a:t>ualities</a:t>
            </a:r>
            <a:r>
              <a:rPr lang="en-GB"/>
              <a:t> true.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a)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b)</a:t>
            </a:r>
            <a:endParaRPr/>
          </a:p>
        </p:txBody>
      </p:sp>
      <p:sp>
        <p:nvSpPr>
          <p:cNvPr id="1049" name="Google Shape;1049;p79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Solving problems with fractions</a:t>
            </a:r>
            <a:endParaRPr/>
          </a:p>
        </p:txBody>
      </p:sp>
      <p:grpSp>
        <p:nvGrpSpPr>
          <p:cNvPr id="1050" name="Google Shape;1050;p79"/>
          <p:cNvGrpSpPr/>
          <p:nvPr/>
        </p:nvGrpSpPr>
        <p:grpSpPr>
          <a:xfrm>
            <a:off x="767725" y="1410025"/>
            <a:ext cx="3804275" cy="1080000"/>
            <a:chOff x="1081900" y="1620000"/>
            <a:chExt cx="3804275" cy="1080000"/>
          </a:xfrm>
        </p:grpSpPr>
        <p:sp>
          <p:nvSpPr>
            <p:cNvPr id="1051" name="Google Shape;1051;p79"/>
            <p:cNvSpPr/>
            <p:nvPr/>
          </p:nvSpPr>
          <p:spPr>
            <a:xfrm>
              <a:off x="1081900" y="1939800"/>
              <a:ext cx="440400" cy="440400"/>
            </a:xfrm>
            <a:prstGeom prst="rect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52" name="Google Shape;1052;p79"/>
            <p:cNvSpPr/>
            <p:nvPr/>
          </p:nvSpPr>
          <p:spPr>
            <a:xfrm>
              <a:off x="1949875" y="1620000"/>
              <a:ext cx="440400" cy="440400"/>
            </a:xfrm>
            <a:prstGeom prst="rect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53" name="Google Shape;1053;p79"/>
            <p:cNvSpPr/>
            <p:nvPr/>
          </p:nvSpPr>
          <p:spPr>
            <a:xfrm>
              <a:off x="2750517" y="1620000"/>
              <a:ext cx="440400" cy="440400"/>
            </a:xfrm>
            <a:prstGeom prst="rect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54" name="Google Shape;1054;p79"/>
            <p:cNvSpPr/>
            <p:nvPr/>
          </p:nvSpPr>
          <p:spPr>
            <a:xfrm>
              <a:off x="3551158" y="1620000"/>
              <a:ext cx="440400" cy="440400"/>
            </a:xfrm>
            <a:prstGeom prst="rect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55" name="Google Shape;1055;p79"/>
            <p:cNvSpPr/>
            <p:nvPr/>
          </p:nvSpPr>
          <p:spPr>
            <a:xfrm>
              <a:off x="4351800" y="1620000"/>
              <a:ext cx="440400" cy="440400"/>
            </a:xfrm>
            <a:prstGeom prst="rect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56" name="Google Shape;1056;p79"/>
            <p:cNvSpPr/>
            <p:nvPr/>
          </p:nvSpPr>
          <p:spPr>
            <a:xfrm>
              <a:off x="1948438" y="2259600"/>
              <a:ext cx="440400" cy="440400"/>
            </a:xfrm>
            <a:prstGeom prst="rect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57" name="Google Shape;1057;p79"/>
            <p:cNvSpPr/>
            <p:nvPr/>
          </p:nvSpPr>
          <p:spPr>
            <a:xfrm>
              <a:off x="2749079" y="2259600"/>
              <a:ext cx="440400" cy="440400"/>
            </a:xfrm>
            <a:prstGeom prst="rect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58" name="Google Shape;1058;p79"/>
            <p:cNvSpPr/>
            <p:nvPr/>
          </p:nvSpPr>
          <p:spPr>
            <a:xfrm>
              <a:off x="3549721" y="2259600"/>
              <a:ext cx="440400" cy="440400"/>
            </a:xfrm>
            <a:prstGeom prst="rect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59" name="Google Shape;1059;p79"/>
            <p:cNvSpPr/>
            <p:nvPr/>
          </p:nvSpPr>
          <p:spPr>
            <a:xfrm>
              <a:off x="4350363" y="2259600"/>
              <a:ext cx="440400" cy="440400"/>
            </a:xfrm>
            <a:prstGeom prst="rect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060" name="Google Shape;1060;p79"/>
            <p:cNvCxnSpPr/>
            <p:nvPr/>
          </p:nvCxnSpPr>
          <p:spPr>
            <a:xfrm>
              <a:off x="1864750" y="2174825"/>
              <a:ext cx="581100" cy="0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61" name="Google Shape;1061;p79"/>
            <p:cNvCxnSpPr/>
            <p:nvPr/>
          </p:nvCxnSpPr>
          <p:spPr>
            <a:xfrm>
              <a:off x="2678725" y="2160000"/>
              <a:ext cx="581100" cy="0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62" name="Google Shape;1062;p79"/>
            <p:cNvCxnSpPr/>
            <p:nvPr/>
          </p:nvCxnSpPr>
          <p:spPr>
            <a:xfrm>
              <a:off x="3491100" y="2167413"/>
              <a:ext cx="581100" cy="0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63" name="Google Shape;1063;p79"/>
            <p:cNvCxnSpPr/>
            <p:nvPr/>
          </p:nvCxnSpPr>
          <p:spPr>
            <a:xfrm>
              <a:off x="4305075" y="2152588"/>
              <a:ext cx="581100" cy="0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064" name="Google Shape;1064;p79"/>
            <p:cNvSpPr txBox="1"/>
            <p:nvPr/>
          </p:nvSpPr>
          <p:spPr>
            <a:xfrm>
              <a:off x="1601725" y="1968779"/>
              <a:ext cx="1836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&gt;</a:t>
              </a:r>
              <a:endPara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65" name="Google Shape;1065;p79"/>
            <p:cNvSpPr txBox="1"/>
            <p:nvPr/>
          </p:nvSpPr>
          <p:spPr>
            <a:xfrm>
              <a:off x="2488835" y="1968779"/>
              <a:ext cx="1836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&gt;</a:t>
              </a:r>
              <a:endPara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66" name="Google Shape;1066;p79"/>
            <p:cNvSpPr txBox="1"/>
            <p:nvPr/>
          </p:nvSpPr>
          <p:spPr>
            <a:xfrm>
              <a:off x="3313698" y="1968779"/>
              <a:ext cx="1836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&gt;</a:t>
              </a:r>
              <a:endPara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67" name="Google Shape;1067;p79"/>
            <p:cNvSpPr txBox="1"/>
            <p:nvPr/>
          </p:nvSpPr>
          <p:spPr>
            <a:xfrm>
              <a:off x="4120198" y="1968779"/>
              <a:ext cx="1836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&gt;</a:t>
              </a:r>
              <a:endPara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68" name="Google Shape;1068;p79"/>
          <p:cNvGrpSpPr/>
          <p:nvPr/>
        </p:nvGrpSpPr>
        <p:grpSpPr>
          <a:xfrm>
            <a:off x="710700" y="2946050"/>
            <a:ext cx="3808725" cy="1080000"/>
            <a:chOff x="1948450" y="3211950"/>
            <a:chExt cx="3808725" cy="1080000"/>
          </a:xfrm>
        </p:grpSpPr>
        <p:sp>
          <p:nvSpPr>
            <p:cNvPr id="1069" name="Google Shape;1069;p79"/>
            <p:cNvSpPr/>
            <p:nvPr/>
          </p:nvSpPr>
          <p:spPr>
            <a:xfrm>
              <a:off x="2033575" y="3211950"/>
              <a:ext cx="440400" cy="440400"/>
            </a:xfrm>
            <a:prstGeom prst="rect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70" name="Google Shape;1070;p79"/>
            <p:cNvSpPr/>
            <p:nvPr/>
          </p:nvSpPr>
          <p:spPr>
            <a:xfrm>
              <a:off x="2834217" y="3211950"/>
              <a:ext cx="440400" cy="440400"/>
            </a:xfrm>
            <a:prstGeom prst="rect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71" name="Google Shape;1071;p79"/>
            <p:cNvSpPr/>
            <p:nvPr/>
          </p:nvSpPr>
          <p:spPr>
            <a:xfrm>
              <a:off x="3634858" y="3211950"/>
              <a:ext cx="440400" cy="440400"/>
            </a:xfrm>
            <a:prstGeom prst="rect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72" name="Google Shape;1072;p79"/>
            <p:cNvSpPr/>
            <p:nvPr/>
          </p:nvSpPr>
          <p:spPr>
            <a:xfrm>
              <a:off x="4435500" y="3211950"/>
              <a:ext cx="440400" cy="440400"/>
            </a:xfrm>
            <a:prstGeom prst="rect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73" name="Google Shape;1073;p79"/>
            <p:cNvSpPr/>
            <p:nvPr/>
          </p:nvSpPr>
          <p:spPr>
            <a:xfrm>
              <a:off x="2032138" y="3851550"/>
              <a:ext cx="440400" cy="440400"/>
            </a:xfrm>
            <a:prstGeom prst="rect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74" name="Google Shape;1074;p79"/>
            <p:cNvSpPr/>
            <p:nvPr/>
          </p:nvSpPr>
          <p:spPr>
            <a:xfrm>
              <a:off x="2832779" y="3851550"/>
              <a:ext cx="440400" cy="440400"/>
            </a:xfrm>
            <a:prstGeom prst="rect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75" name="Google Shape;1075;p79"/>
            <p:cNvSpPr/>
            <p:nvPr/>
          </p:nvSpPr>
          <p:spPr>
            <a:xfrm>
              <a:off x="3633421" y="3851550"/>
              <a:ext cx="440400" cy="440400"/>
            </a:xfrm>
            <a:prstGeom prst="rect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76" name="Google Shape;1076;p79"/>
            <p:cNvSpPr/>
            <p:nvPr/>
          </p:nvSpPr>
          <p:spPr>
            <a:xfrm>
              <a:off x="4434063" y="3851550"/>
              <a:ext cx="440400" cy="440400"/>
            </a:xfrm>
            <a:prstGeom prst="rect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077" name="Google Shape;1077;p79"/>
            <p:cNvCxnSpPr/>
            <p:nvPr/>
          </p:nvCxnSpPr>
          <p:spPr>
            <a:xfrm>
              <a:off x="1948450" y="3766775"/>
              <a:ext cx="581100" cy="0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78" name="Google Shape;1078;p79"/>
            <p:cNvCxnSpPr/>
            <p:nvPr/>
          </p:nvCxnSpPr>
          <p:spPr>
            <a:xfrm>
              <a:off x="2762425" y="3751950"/>
              <a:ext cx="581100" cy="0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79" name="Google Shape;1079;p79"/>
            <p:cNvCxnSpPr/>
            <p:nvPr/>
          </p:nvCxnSpPr>
          <p:spPr>
            <a:xfrm>
              <a:off x="3574800" y="3759363"/>
              <a:ext cx="581100" cy="0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80" name="Google Shape;1080;p79"/>
            <p:cNvCxnSpPr/>
            <p:nvPr/>
          </p:nvCxnSpPr>
          <p:spPr>
            <a:xfrm>
              <a:off x="4388775" y="3744538"/>
              <a:ext cx="581100" cy="0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081" name="Google Shape;1081;p79"/>
            <p:cNvSpPr txBox="1"/>
            <p:nvPr/>
          </p:nvSpPr>
          <p:spPr>
            <a:xfrm>
              <a:off x="2572535" y="3560729"/>
              <a:ext cx="1836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&gt;</a:t>
              </a:r>
              <a:endPara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82" name="Google Shape;1082;p79"/>
            <p:cNvSpPr txBox="1"/>
            <p:nvPr/>
          </p:nvSpPr>
          <p:spPr>
            <a:xfrm>
              <a:off x="3397398" y="3560729"/>
              <a:ext cx="1836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&gt;</a:t>
              </a:r>
              <a:endPara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83" name="Google Shape;1083;p79"/>
            <p:cNvSpPr txBox="1"/>
            <p:nvPr/>
          </p:nvSpPr>
          <p:spPr>
            <a:xfrm>
              <a:off x="4203898" y="3560729"/>
              <a:ext cx="1836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&gt;</a:t>
              </a:r>
              <a:endPara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84" name="Google Shape;1084;p79"/>
            <p:cNvSpPr/>
            <p:nvPr/>
          </p:nvSpPr>
          <p:spPr>
            <a:xfrm>
              <a:off x="5316775" y="3531750"/>
              <a:ext cx="440400" cy="440400"/>
            </a:xfrm>
            <a:prstGeom prst="rect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85" name="Google Shape;1085;p79"/>
            <p:cNvSpPr txBox="1"/>
            <p:nvPr/>
          </p:nvSpPr>
          <p:spPr>
            <a:xfrm>
              <a:off x="5051523" y="3560729"/>
              <a:ext cx="1836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&gt;</a:t>
              </a:r>
              <a:endPara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9" name="Shape 10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0" name="Google Shape;1090;p80"/>
          <p:cNvSpPr txBox="1"/>
          <p:nvPr>
            <p:ph idx="1" type="body"/>
          </p:nvPr>
        </p:nvSpPr>
        <p:spPr>
          <a:xfrm>
            <a:off x="324000" y="701437"/>
            <a:ext cx="8496000" cy="131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/>
              <a:t>3)  Izzy, Andeep, Lucas, Alex and Sam record their scores for a spelling competition. </a:t>
            </a:r>
            <a:endParaRPr sz="21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100"/>
              <a:t>Rank them from worst to best.</a:t>
            </a:r>
            <a:endParaRPr sz="2100"/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100"/>
              <a:t>Izzy</a:t>
            </a:r>
            <a:endParaRPr sz="2100"/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100"/>
              <a:t>Andeep</a:t>
            </a:r>
            <a:endParaRPr sz="2100"/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100"/>
              <a:t>Lucas</a:t>
            </a:r>
            <a:endParaRPr sz="2100"/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100"/>
              <a:t>Alex </a:t>
            </a:r>
            <a:endParaRPr sz="2100"/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100"/>
              <a:t>Sam</a:t>
            </a:r>
            <a:endParaRPr sz="2100"/>
          </a:p>
        </p:txBody>
      </p:sp>
      <p:sp>
        <p:nvSpPr>
          <p:cNvPr id="1091" name="Google Shape;1091;p8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Solving problems with fractions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11}{12}&quot;&gt;&lt;mfrac&gt;&lt;mn&gt;11&lt;/mn&gt;&lt;mn&gt;12&lt;/mn&gt;&lt;/mfrac&gt;&lt;/math&gt;" id="1092" name="Google Shape;1092;p80" title="11 over 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84800" y="2071619"/>
            <a:ext cx="233075" cy="42013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}{5}&quot;&gt;&lt;mfrac&gt;&lt;mn&gt;4&lt;/mn&gt;&lt;mn&gt;5&lt;/mn&gt;&lt;/mfrac&gt;&lt;/math&gt;" id="1093" name="Google Shape;1093;p80" title="four fif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14912" y="2641350"/>
            <a:ext cx="130000" cy="42092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5}{6}&quot;&gt;&lt;mfrac&gt;&lt;mn&gt;5&lt;/mn&gt;&lt;mn&gt;6&lt;/mn&gt;&lt;/mfrac&gt;&lt;/math&gt;" id="1094" name="Google Shape;1094;p80" title="five sixth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13214" y="3188436"/>
            <a:ext cx="130000" cy="42569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8}{20}&quot;&gt;&lt;mfrac&gt;&lt;mn&gt;18&lt;/mn&gt;&lt;mn&gt;20&lt;/mn&gt;&lt;/mfrac&gt;&lt;/math&gt;" id="1095" name="Google Shape;1095;p80" title="18 over 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656225" y="3763871"/>
            <a:ext cx="233075" cy="4319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6}{30}&quot;&gt;&lt;mfrac&gt;&lt;mn&gt;26&lt;/mn&gt;&lt;mn&gt;30&lt;/mn&gt;&lt;/mfrac&gt;&lt;/math&gt;" id="1096" name="Google Shape;1096;p80" title="26 over 30"/>
          <p:cNvPicPr preferRelativeResize="0"/>
          <p:nvPr/>
        </p:nvPicPr>
        <p:blipFill rotWithShape="1">
          <a:blip r:embed="rId7">
            <a:alphaModFix/>
          </a:blip>
          <a:srcRect b="0" l="0" r="0" t="-3103"/>
          <a:stretch/>
        </p:blipFill>
        <p:spPr>
          <a:xfrm>
            <a:off x="1656225" y="4284575"/>
            <a:ext cx="233063" cy="507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0" name="Shape 1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1" name="Google Shape;1101;p8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Solving problems with fractions</a:t>
            </a:r>
            <a:endParaRPr/>
          </a:p>
        </p:txBody>
      </p:sp>
      <p:sp>
        <p:nvSpPr>
          <p:cNvPr id="1102" name="Google Shape;1102;p8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/>
            </a:pPr>
            <a:r>
              <a:rPr lang="en-GB"/>
              <a:t>Arrange five different digits into these inequalities.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a)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b)</a:t>
            </a:r>
            <a:endParaRPr/>
          </a:p>
        </p:txBody>
      </p:sp>
      <p:grpSp>
        <p:nvGrpSpPr>
          <p:cNvPr id="1103" name="Google Shape;1103;p81"/>
          <p:cNvGrpSpPr/>
          <p:nvPr/>
        </p:nvGrpSpPr>
        <p:grpSpPr>
          <a:xfrm>
            <a:off x="709275" y="1461325"/>
            <a:ext cx="2177925" cy="1080000"/>
            <a:chOff x="1081900" y="1620000"/>
            <a:chExt cx="2177925" cy="1080000"/>
          </a:xfrm>
        </p:grpSpPr>
        <p:sp>
          <p:nvSpPr>
            <p:cNvPr id="1104" name="Google Shape;1104;p81"/>
            <p:cNvSpPr/>
            <p:nvPr/>
          </p:nvSpPr>
          <p:spPr>
            <a:xfrm>
              <a:off x="1081900" y="1939800"/>
              <a:ext cx="440400" cy="440400"/>
            </a:xfrm>
            <a:prstGeom prst="rect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05" name="Google Shape;1105;p81"/>
            <p:cNvSpPr/>
            <p:nvPr/>
          </p:nvSpPr>
          <p:spPr>
            <a:xfrm>
              <a:off x="1949875" y="1620000"/>
              <a:ext cx="440400" cy="440400"/>
            </a:xfrm>
            <a:prstGeom prst="rect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06" name="Google Shape;1106;p81"/>
            <p:cNvSpPr/>
            <p:nvPr/>
          </p:nvSpPr>
          <p:spPr>
            <a:xfrm>
              <a:off x="2750517" y="1620000"/>
              <a:ext cx="440400" cy="440400"/>
            </a:xfrm>
            <a:prstGeom prst="rect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07" name="Google Shape;1107;p81"/>
            <p:cNvSpPr/>
            <p:nvPr/>
          </p:nvSpPr>
          <p:spPr>
            <a:xfrm>
              <a:off x="1948438" y="2259600"/>
              <a:ext cx="440400" cy="440400"/>
            </a:xfrm>
            <a:prstGeom prst="rect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08" name="Google Shape;1108;p81"/>
            <p:cNvSpPr/>
            <p:nvPr/>
          </p:nvSpPr>
          <p:spPr>
            <a:xfrm>
              <a:off x="2749079" y="2259600"/>
              <a:ext cx="440400" cy="440400"/>
            </a:xfrm>
            <a:prstGeom prst="rect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109" name="Google Shape;1109;p81"/>
            <p:cNvCxnSpPr/>
            <p:nvPr/>
          </p:nvCxnSpPr>
          <p:spPr>
            <a:xfrm>
              <a:off x="1864750" y="2174825"/>
              <a:ext cx="581100" cy="0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10" name="Google Shape;1110;p81"/>
            <p:cNvCxnSpPr/>
            <p:nvPr/>
          </p:nvCxnSpPr>
          <p:spPr>
            <a:xfrm>
              <a:off x="2678725" y="2160000"/>
              <a:ext cx="581100" cy="0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111" name="Google Shape;1111;p81"/>
            <p:cNvSpPr txBox="1"/>
            <p:nvPr/>
          </p:nvSpPr>
          <p:spPr>
            <a:xfrm>
              <a:off x="1601725" y="1968779"/>
              <a:ext cx="1836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&gt;</a:t>
              </a:r>
              <a:endPara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12" name="Google Shape;1112;p81"/>
            <p:cNvSpPr txBox="1"/>
            <p:nvPr/>
          </p:nvSpPr>
          <p:spPr>
            <a:xfrm>
              <a:off x="2488835" y="1968779"/>
              <a:ext cx="1836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&gt;</a:t>
              </a:r>
              <a:endPara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13" name="Google Shape;1113;p81"/>
          <p:cNvGrpSpPr/>
          <p:nvPr/>
        </p:nvGrpSpPr>
        <p:grpSpPr>
          <a:xfrm>
            <a:off x="707050" y="3517367"/>
            <a:ext cx="2182375" cy="1080000"/>
            <a:chOff x="3574800" y="3211950"/>
            <a:chExt cx="2182375" cy="1080000"/>
          </a:xfrm>
        </p:grpSpPr>
        <p:sp>
          <p:nvSpPr>
            <p:cNvPr id="1114" name="Google Shape;1114;p81"/>
            <p:cNvSpPr/>
            <p:nvPr/>
          </p:nvSpPr>
          <p:spPr>
            <a:xfrm>
              <a:off x="3634858" y="3211950"/>
              <a:ext cx="440400" cy="440400"/>
            </a:xfrm>
            <a:prstGeom prst="rect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15" name="Google Shape;1115;p81"/>
            <p:cNvSpPr/>
            <p:nvPr/>
          </p:nvSpPr>
          <p:spPr>
            <a:xfrm>
              <a:off x="4435500" y="3211950"/>
              <a:ext cx="440400" cy="440400"/>
            </a:xfrm>
            <a:prstGeom prst="rect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16" name="Google Shape;1116;p81"/>
            <p:cNvSpPr/>
            <p:nvPr/>
          </p:nvSpPr>
          <p:spPr>
            <a:xfrm>
              <a:off x="3633421" y="3851550"/>
              <a:ext cx="440400" cy="440400"/>
            </a:xfrm>
            <a:prstGeom prst="rect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17" name="Google Shape;1117;p81"/>
            <p:cNvSpPr/>
            <p:nvPr/>
          </p:nvSpPr>
          <p:spPr>
            <a:xfrm>
              <a:off x="4434063" y="3851550"/>
              <a:ext cx="440400" cy="440400"/>
            </a:xfrm>
            <a:prstGeom prst="rect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118" name="Google Shape;1118;p81"/>
            <p:cNvCxnSpPr/>
            <p:nvPr/>
          </p:nvCxnSpPr>
          <p:spPr>
            <a:xfrm>
              <a:off x="3574800" y="3759363"/>
              <a:ext cx="581100" cy="0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19" name="Google Shape;1119;p81"/>
            <p:cNvCxnSpPr/>
            <p:nvPr/>
          </p:nvCxnSpPr>
          <p:spPr>
            <a:xfrm>
              <a:off x="4388775" y="3744538"/>
              <a:ext cx="581100" cy="0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120" name="Google Shape;1120;p81"/>
            <p:cNvSpPr txBox="1"/>
            <p:nvPr/>
          </p:nvSpPr>
          <p:spPr>
            <a:xfrm>
              <a:off x="4203898" y="3560729"/>
              <a:ext cx="1836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&gt;</a:t>
              </a:r>
              <a:endPara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21" name="Google Shape;1121;p81"/>
            <p:cNvSpPr/>
            <p:nvPr/>
          </p:nvSpPr>
          <p:spPr>
            <a:xfrm>
              <a:off x="5316775" y="3531750"/>
              <a:ext cx="440400" cy="440400"/>
            </a:xfrm>
            <a:prstGeom prst="rect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22" name="Google Shape;1122;p81"/>
            <p:cNvSpPr txBox="1"/>
            <p:nvPr/>
          </p:nvSpPr>
          <p:spPr>
            <a:xfrm>
              <a:off x="5051523" y="3560729"/>
              <a:ext cx="1836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&gt;</a:t>
              </a:r>
              <a:endPara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123" name="Google Shape;1123;p81"/>
          <p:cNvSpPr txBox="1"/>
          <p:nvPr/>
        </p:nvSpPr>
        <p:spPr>
          <a:xfrm>
            <a:off x="345025" y="1210900"/>
            <a:ext cx="660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E.g. 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24" name="Google Shape;1124;p81"/>
          <p:cNvSpPr txBox="1"/>
          <p:nvPr/>
        </p:nvSpPr>
        <p:spPr>
          <a:xfrm>
            <a:off x="349400" y="2978400"/>
            <a:ext cx="660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E.g. 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25" name="Google Shape;1125;p81"/>
          <p:cNvSpPr txBox="1"/>
          <p:nvPr/>
        </p:nvSpPr>
        <p:spPr>
          <a:xfrm>
            <a:off x="709275" y="1739725"/>
            <a:ext cx="372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5 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26" name="Google Shape;1126;p81"/>
          <p:cNvSpPr txBox="1"/>
          <p:nvPr/>
        </p:nvSpPr>
        <p:spPr>
          <a:xfrm>
            <a:off x="1651050" y="1448625"/>
            <a:ext cx="372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7 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27" name="Google Shape;1127;p81"/>
          <p:cNvSpPr txBox="1"/>
          <p:nvPr/>
        </p:nvSpPr>
        <p:spPr>
          <a:xfrm>
            <a:off x="1612088" y="2071488"/>
            <a:ext cx="372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 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28" name="Google Shape;1128;p81"/>
          <p:cNvSpPr txBox="1"/>
          <p:nvPr/>
        </p:nvSpPr>
        <p:spPr>
          <a:xfrm>
            <a:off x="2425750" y="1448625"/>
            <a:ext cx="372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9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29" name="Google Shape;1129;p81"/>
          <p:cNvSpPr txBox="1"/>
          <p:nvPr/>
        </p:nvSpPr>
        <p:spPr>
          <a:xfrm>
            <a:off x="2399488" y="2071488"/>
            <a:ext cx="372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3 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30" name="Google Shape;1130;p81"/>
          <p:cNvSpPr txBox="1"/>
          <p:nvPr/>
        </p:nvSpPr>
        <p:spPr>
          <a:xfrm>
            <a:off x="824700" y="3517400"/>
            <a:ext cx="372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5 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31" name="Google Shape;1131;p81"/>
          <p:cNvSpPr txBox="1"/>
          <p:nvPr/>
        </p:nvSpPr>
        <p:spPr>
          <a:xfrm>
            <a:off x="785738" y="4140263"/>
            <a:ext cx="372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 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32" name="Google Shape;1132;p81"/>
          <p:cNvSpPr txBox="1"/>
          <p:nvPr/>
        </p:nvSpPr>
        <p:spPr>
          <a:xfrm>
            <a:off x="1599400" y="3517400"/>
            <a:ext cx="372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4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33" name="Google Shape;1133;p81"/>
          <p:cNvSpPr txBox="1"/>
          <p:nvPr/>
        </p:nvSpPr>
        <p:spPr>
          <a:xfrm>
            <a:off x="1573138" y="4140263"/>
            <a:ext cx="372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3 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34" name="Google Shape;1134;p81"/>
          <p:cNvSpPr txBox="1"/>
          <p:nvPr/>
        </p:nvSpPr>
        <p:spPr>
          <a:xfrm>
            <a:off x="2540050" y="3795775"/>
            <a:ext cx="372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8" name="Shape 1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9" name="Google Shape;1139;p8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2)  Arrange the digits 1 to 9 to make these inequalities true.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a)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b)</a:t>
            </a:r>
            <a:endParaRPr/>
          </a:p>
        </p:txBody>
      </p:sp>
      <p:sp>
        <p:nvSpPr>
          <p:cNvPr id="1140" name="Google Shape;1140;p8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Solving problems with fractions</a:t>
            </a:r>
            <a:endParaRPr/>
          </a:p>
        </p:txBody>
      </p:sp>
      <p:grpSp>
        <p:nvGrpSpPr>
          <p:cNvPr id="1141" name="Google Shape;1141;p82"/>
          <p:cNvGrpSpPr/>
          <p:nvPr/>
        </p:nvGrpSpPr>
        <p:grpSpPr>
          <a:xfrm>
            <a:off x="767725" y="1410025"/>
            <a:ext cx="3804275" cy="1080000"/>
            <a:chOff x="1081900" y="1620000"/>
            <a:chExt cx="3804275" cy="1080000"/>
          </a:xfrm>
        </p:grpSpPr>
        <p:sp>
          <p:nvSpPr>
            <p:cNvPr id="1142" name="Google Shape;1142;p82"/>
            <p:cNvSpPr/>
            <p:nvPr/>
          </p:nvSpPr>
          <p:spPr>
            <a:xfrm>
              <a:off x="1081900" y="1939800"/>
              <a:ext cx="440400" cy="440400"/>
            </a:xfrm>
            <a:prstGeom prst="rect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43" name="Google Shape;1143;p82"/>
            <p:cNvSpPr/>
            <p:nvPr/>
          </p:nvSpPr>
          <p:spPr>
            <a:xfrm>
              <a:off x="1949875" y="1620000"/>
              <a:ext cx="440400" cy="440400"/>
            </a:xfrm>
            <a:prstGeom prst="rect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44" name="Google Shape;1144;p82"/>
            <p:cNvSpPr/>
            <p:nvPr/>
          </p:nvSpPr>
          <p:spPr>
            <a:xfrm>
              <a:off x="2750517" y="1620000"/>
              <a:ext cx="440400" cy="440400"/>
            </a:xfrm>
            <a:prstGeom prst="rect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45" name="Google Shape;1145;p82"/>
            <p:cNvSpPr/>
            <p:nvPr/>
          </p:nvSpPr>
          <p:spPr>
            <a:xfrm>
              <a:off x="3551158" y="1620000"/>
              <a:ext cx="440400" cy="440400"/>
            </a:xfrm>
            <a:prstGeom prst="rect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46" name="Google Shape;1146;p82"/>
            <p:cNvSpPr/>
            <p:nvPr/>
          </p:nvSpPr>
          <p:spPr>
            <a:xfrm>
              <a:off x="4351800" y="1620000"/>
              <a:ext cx="440400" cy="440400"/>
            </a:xfrm>
            <a:prstGeom prst="rect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47" name="Google Shape;1147;p82"/>
            <p:cNvSpPr/>
            <p:nvPr/>
          </p:nvSpPr>
          <p:spPr>
            <a:xfrm>
              <a:off x="1948438" y="2259600"/>
              <a:ext cx="440400" cy="440400"/>
            </a:xfrm>
            <a:prstGeom prst="rect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48" name="Google Shape;1148;p82"/>
            <p:cNvSpPr/>
            <p:nvPr/>
          </p:nvSpPr>
          <p:spPr>
            <a:xfrm>
              <a:off x="2749079" y="2259600"/>
              <a:ext cx="440400" cy="440400"/>
            </a:xfrm>
            <a:prstGeom prst="rect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49" name="Google Shape;1149;p82"/>
            <p:cNvSpPr/>
            <p:nvPr/>
          </p:nvSpPr>
          <p:spPr>
            <a:xfrm>
              <a:off x="3549721" y="2259600"/>
              <a:ext cx="440400" cy="440400"/>
            </a:xfrm>
            <a:prstGeom prst="rect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50" name="Google Shape;1150;p82"/>
            <p:cNvSpPr/>
            <p:nvPr/>
          </p:nvSpPr>
          <p:spPr>
            <a:xfrm>
              <a:off x="4350363" y="2259600"/>
              <a:ext cx="440400" cy="440400"/>
            </a:xfrm>
            <a:prstGeom prst="rect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151" name="Google Shape;1151;p82"/>
            <p:cNvCxnSpPr/>
            <p:nvPr/>
          </p:nvCxnSpPr>
          <p:spPr>
            <a:xfrm>
              <a:off x="1864750" y="2174825"/>
              <a:ext cx="581100" cy="0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52" name="Google Shape;1152;p82"/>
            <p:cNvCxnSpPr/>
            <p:nvPr/>
          </p:nvCxnSpPr>
          <p:spPr>
            <a:xfrm>
              <a:off x="2678725" y="2160000"/>
              <a:ext cx="581100" cy="0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53" name="Google Shape;1153;p82"/>
            <p:cNvCxnSpPr/>
            <p:nvPr/>
          </p:nvCxnSpPr>
          <p:spPr>
            <a:xfrm>
              <a:off x="3491100" y="2167413"/>
              <a:ext cx="581100" cy="0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54" name="Google Shape;1154;p82"/>
            <p:cNvCxnSpPr/>
            <p:nvPr/>
          </p:nvCxnSpPr>
          <p:spPr>
            <a:xfrm>
              <a:off x="4305075" y="2152588"/>
              <a:ext cx="581100" cy="0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155" name="Google Shape;1155;p82"/>
            <p:cNvSpPr txBox="1"/>
            <p:nvPr/>
          </p:nvSpPr>
          <p:spPr>
            <a:xfrm>
              <a:off x="1601725" y="1968779"/>
              <a:ext cx="1836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&gt;</a:t>
              </a:r>
              <a:endPara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56" name="Google Shape;1156;p82"/>
            <p:cNvSpPr txBox="1"/>
            <p:nvPr/>
          </p:nvSpPr>
          <p:spPr>
            <a:xfrm>
              <a:off x="2488835" y="1968779"/>
              <a:ext cx="1836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&gt;</a:t>
              </a:r>
              <a:endPara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57" name="Google Shape;1157;p82"/>
            <p:cNvSpPr txBox="1"/>
            <p:nvPr/>
          </p:nvSpPr>
          <p:spPr>
            <a:xfrm>
              <a:off x="3313698" y="1968779"/>
              <a:ext cx="1836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&gt;</a:t>
              </a:r>
              <a:endPara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58" name="Google Shape;1158;p82"/>
            <p:cNvSpPr txBox="1"/>
            <p:nvPr/>
          </p:nvSpPr>
          <p:spPr>
            <a:xfrm>
              <a:off x="4120198" y="1968779"/>
              <a:ext cx="1836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&gt;</a:t>
              </a:r>
              <a:endPara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59" name="Google Shape;1159;p82"/>
          <p:cNvGrpSpPr/>
          <p:nvPr/>
        </p:nvGrpSpPr>
        <p:grpSpPr>
          <a:xfrm>
            <a:off x="710700" y="3327050"/>
            <a:ext cx="3808725" cy="1080000"/>
            <a:chOff x="1948450" y="3211950"/>
            <a:chExt cx="3808725" cy="1080000"/>
          </a:xfrm>
        </p:grpSpPr>
        <p:sp>
          <p:nvSpPr>
            <p:cNvPr id="1160" name="Google Shape;1160;p82"/>
            <p:cNvSpPr/>
            <p:nvPr/>
          </p:nvSpPr>
          <p:spPr>
            <a:xfrm>
              <a:off x="2033575" y="3211950"/>
              <a:ext cx="440400" cy="440400"/>
            </a:xfrm>
            <a:prstGeom prst="rect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61" name="Google Shape;1161;p82"/>
            <p:cNvSpPr/>
            <p:nvPr/>
          </p:nvSpPr>
          <p:spPr>
            <a:xfrm>
              <a:off x="2834217" y="3211950"/>
              <a:ext cx="440400" cy="440400"/>
            </a:xfrm>
            <a:prstGeom prst="rect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62" name="Google Shape;1162;p82"/>
            <p:cNvSpPr/>
            <p:nvPr/>
          </p:nvSpPr>
          <p:spPr>
            <a:xfrm>
              <a:off x="3634858" y="3211950"/>
              <a:ext cx="440400" cy="440400"/>
            </a:xfrm>
            <a:prstGeom prst="rect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63" name="Google Shape;1163;p82"/>
            <p:cNvSpPr/>
            <p:nvPr/>
          </p:nvSpPr>
          <p:spPr>
            <a:xfrm>
              <a:off x="4435500" y="3211950"/>
              <a:ext cx="440400" cy="440400"/>
            </a:xfrm>
            <a:prstGeom prst="rect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64" name="Google Shape;1164;p82"/>
            <p:cNvSpPr/>
            <p:nvPr/>
          </p:nvSpPr>
          <p:spPr>
            <a:xfrm>
              <a:off x="2032138" y="3851550"/>
              <a:ext cx="440400" cy="440400"/>
            </a:xfrm>
            <a:prstGeom prst="rect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65" name="Google Shape;1165;p82"/>
            <p:cNvSpPr/>
            <p:nvPr/>
          </p:nvSpPr>
          <p:spPr>
            <a:xfrm>
              <a:off x="2832779" y="3851550"/>
              <a:ext cx="440400" cy="440400"/>
            </a:xfrm>
            <a:prstGeom prst="rect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66" name="Google Shape;1166;p82"/>
            <p:cNvSpPr/>
            <p:nvPr/>
          </p:nvSpPr>
          <p:spPr>
            <a:xfrm>
              <a:off x="3633421" y="3851550"/>
              <a:ext cx="440400" cy="440400"/>
            </a:xfrm>
            <a:prstGeom prst="rect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67" name="Google Shape;1167;p82"/>
            <p:cNvSpPr/>
            <p:nvPr/>
          </p:nvSpPr>
          <p:spPr>
            <a:xfrm>
              <a:off x="4434063" y="3851550"/>
              <a:ext cx="440400" cy="440400"/>
            </a:xfrm>
            <a:prstGeom prst="rect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168" name="Google Shape;1168;p82"/>
            <p:cNvCxnSpPr/>
            <p:nvPr/>
          </p:nvCxnSpPr>
          <p:spPr>
            <a:xfrm>
              <a:off x="1948450" y="3766775"/>
              <a:ext cx="581100" cy="0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69" name="Google Shape;1169;p82"/>
            <p:cNvCxnSpPr/>
            <p:nvPr/>
          </p:nvCxnSpPr>
          <p:spPr>
            <a:xfrm>
              <a:off x="2762425" y="3751950"/>
              <a:ext cx="581100" cy="0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70" name="Google Shape;1170;p82"/>
            <p:cNvCxnSpPr/>
            <p:nvPr/>
          </p:nvCxnSpPr>
          <p:spPr>
            <a:xfrm>
              <a:off x="3574800" y="3759363"/>
              <a:ext cx="581100" cy="0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71" name="Google Shape;1171;p82"/>
            <p:cNvCxnSpPr/>
            <p:nvPr/>
          </p:nvCxnSpPr>
          <p:spPr>
            <a:xfrm>
              <a:off x="4388775" y="3744538"/>
              <a:ext cx="581100" cy="0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172" name="Google Shape;1172;p82"/>
            <p:cNvSpPr txBox="1"/>
            <p:nvPr/>
          </p:nvSpPr>
          <p:spPr>
            <a:xfrm>
              <a:off x="2572535" y="3560729"/>
              <a:ext cx="1836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&gt;</a:t>
              </a:r>
              <a:endPara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73" name="Google Shape;1173;p82"/>
            <p:cNvSpPr txBox="1"/>
            <p:nvPr/>
          </p:nvSpPr>
          <p:spPr>
            <a:xfrm>
              <a:off x="3397398" y="3560729"/>
              <a:ext cx="1836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&gt;</a:t>
              </a:r>
              <a:endPara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74" name="Google Shape;1174;p82"/>
            <p:cNvSpPr txBox="1"/>
            <p:nvPr/>
          </p:nvSpPr>
          <p:spPr>
            <a:xfrm>
              <a:off x="4203898" y="3560729"/>
              <a:ext cx="1836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&gt;</a:t>
              </a:r>
              <a:endPara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75" name="Google Shape;1175;p82"/>
            <p:cNvSpPr/>
            <p:nvPr/>
          </p:nvSpPr>
          <p:spPr>
            <a:xfrm>
              <a:off x="5316775" y="3531750"/>
              <a:ext cx="440400" cy="440400"/>
            </a:xfrm>
            <a:prstGeom prst="rect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76" name="Google Shape;1176;p82"/>
            <p:cNvSpPr txBox="1"/>
            <p:nvPr/>
          </p:nvSpPr>
          <p:spPr>
            <a:xfrm>
              <a:off x="5051523" y="3560729"/>
              <a:ext cx="1836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&gt;</a:t>
              </a:r>
              <a:endPara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177" name="Google Shape;1177;p82"/>
          <p:cNvSpPr txBox="1"/>
          <p:nvPr/>
        </p:nvSpPr>
        <p:spPr>
          <a:xfrm>
            <a:off x="345025" y="1210900"/>
            <a:ext cx="660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E.g. 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78" name="Google Shape;1178;p82"/>
          <p:cNvSpPr txBox="1"/>
          <p:nvPr/>
        </p:nvSpPr>
        <p:spPr>
          <a:xfrm>
            <a:off x="349400" y="2902200"/>
            <a:ext cx="660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E.g. 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79" name="Google Shape;1179;p82"/>
          <p:cNvSpPr txBox="1"/>
          <p:nvPr/>
        </p:nvSpPr>
        <p:spPr>
          <a:xfrm>
            <a:off x="1643700" y="3269738"/>
            <a:ext cx="372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5 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80" name="Google Shape;1180;p82"/>
          <p:cNvSpPr txBox="1"/>
          <p:nvPr/>
        </p:nvSpPr>
        <p:spPr>
          <a:xfrm>
            <a:off x="785738" y="3911663"/>
            <a:ext cx="372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 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81" name="Google Shape;1181;p82"/>
          <p:cNvSpPr txBox="1"/>
          <p:nvPr/>
        </p:nvSpPr>
        <p:spPr>
          <a:xfrm>
            <a:off x="1637500" y="3923800"/>
            <a:ext cx="372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4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82" name="Google Shape;1182;p82"/>
          <p:cNvSpPr txBox="1"/>
          <p:nvPr/>
        </p:nvSpPr>
        <p:spPr>
          <a:xfrm>
            <a:off x="859288" y="3250863"/>
            <a:ext cx="372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3 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83" name="Google Shape;1183;p82"/>
          <p:cNvSpPr txBox="1"/>
          <p:nvPr/>
        </p:nvSpPr>
        <p:spPr>
          <a:xfrm>
            <a:off x="1672950" y="1376988"/>
            <a:ext cx="372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8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84" name="Google Shape;1184;p82"/>
          <p:cNvSpPr txBox="1"/>
          <p:nvPr/>
        </p:nvSpPr>
        <p:spPr>
          <a:xfrm>
            <a:off x="1633988" y="1999850"/>
            <a:ext cx="372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9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85" name="Google Shape;1185;p82"/>
          <p:cNvSpPr txBox="1"/>
          <p:nvPr/>
        </p:nvSpPr>
        <p:spPr>
          <a:xfrm>
            <a:off x="2447650" y="1376988"/>
            <a:ext cx="372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6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86" name="Google Shape;1186;p82"/>
          <p:cNvSpPr txBox="1"/>
          <p:nvPr/>
        </p:nvSpPr>
        <p:spPr>
          <a:xfrm>
            <a:off x="2421388" y="1999850"/>
            <a:ext cx="372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7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87" name="Google Shape;1187;p82"/>
          <p:cNvSpPr txBox="1"/>
          <p:nvPr/>
        </p:nvSpPr>
        <p:spPr>
          <a:xfrm>
            <a:off x="3273150" y="1376988"/>
            <a:ext cx="372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4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88" name="Google Shape;1188;p82"/>
          <p:cNvSpPr txBox="1"/>
          <p:nvPr/>
        </p:nvSpPr>
        <p:spPr>
          <a:xfrm>
            <a:off x="3234188" y="1999850"/>
            <a:ext cx="372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5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89" name="Google Shape;1189;p82"/>
          <p:cNvSpPr txBox="1"/>
          <p:nvPr/>
        </p:nvSpPr>
        <p:spPr>
          <a:xfrm>
            <a:off x="4047850" y="1376988"/>
            <a:ext cx="372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90" name="Google Shape;1190;p82"/>
          <p:cNvSpPr txBox="1"/>
          <p:nvPr/>
        </p:nvSpPr>
        <p:spPr>
          <a:xfrm>
            <a:off x="4021588" y="1999850"/>
            <a:ext cx="372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3 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91" name="Google Shape;1191;p82"/>
          <p:cNvSpPr txBox="1"/>
          <p:nvPr/>
        </p:nvSpPr>
        <p:spPr>
          <a:xfrm>
            <a:off x="859288" y="1688425"/>
            <a:ext cx="372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92" name="Google Shape;1192;p82"/>
          <p:cNvSpPr txBox="1"/>
          <p:nvPr/>
        </p:nvSpPr>
        <p:spPr>
          <a:xfrm>
            <a:off x="2456650" y="3911663"/>
            <a:ext cx="372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6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93" name="Google Shape;1193;p82"/>
          <p:cNvSpPr txBox="1"/>
          <p:nvPr/>
        </p:nvSpPr>
        <p:spPr>
          <a:xfrm>
            <a:off x="2453813" y="3288975"/>
            <a:ext cx="372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7 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94" name="Google Shape;1194;p82"/>
          <p:cNvSpPr txBox="1"/>
          <p:nvPr/>
        </p:nvSpPr>
        <p:spPr>
          <a:xfrm>
            <a:off x="3263950" y="3294013"/>
            <a:ext cx="372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9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95" name="Google Shape;1195;p82"/>
          <p:cNvSpPr txBox="1"/>
          <p:nvPr/>
        </p:nvSpPr>
        <p:spPr>
          <a:xfrm>
            <a:off x="3224988" y="3916875"/>
            <a:ext cx="372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8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96" name="Google Shape;1196;p82"/>
          <p:cNvSpPr txBox="1"/>
          <p:nvPr/>
        </p:nvSpPr>
        <p:spPr>
          <a:xfrm>
            <a:off x="4178338" y="3605450"/>
            <a:ext cx="372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 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0" name="Shape 1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1" name="Google Shape;1201;p8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Solving problems with fractions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202" name="Google Shape;1202;p83"/>
          <p:cNvSpPr txBox="1"/>
          <p:nvPr/>
        </p:nvSpPr>
        <p:spPr>
          <a:xfrm>
            <a:off x="3838500" y="2700000"/>
            <a:ext cx="48366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Ranked: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Andeep, Lucas, Sam, Alex, Izzy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03" name="Google Shape;1203;p83"/>
          <p:cNvSpPr txBox="1"/>
          <p:nvPr>
            <p:ph idx="1" type="body"/>
          </p:nvPr>
        </p:nvSpPr>
        <p:spPr>
          <a:xfrm>
            <a:off x="324000" y="701437"/>
            <a:ext cx="8496000" cy="131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/>
              <a:t>3)  Izzy, Andeep, Lucas, Alex and Sam record their scores for a spelling competition. </a:t>
            </a:r>
            <a:endParaRPr sz="21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100"/>
              <a:t>Rank them from worst to best.</a:t>
            </a:r>
            <a:endParaRPr sz="2100"/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100"/>
              <a:t>Izzy</a:t>
            </a:r>
            <a:endParaRPr sz="2100"/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100"/>
              <a:t>Andeep</a:t>
            </a:r>
            <a:endParaRPr sz="2100"/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100"/>
              <a:t>Lucas</a:t>
            </a:r>
            <a:endParaRPr sz="2100"/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100"/>
              <a:t>Alex </a:t>
            </a:r>
            <a:endParaRPr sz="2100"/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100"/>
              <a:t>Sam</a:t>
            </a:r>
            <a:endParaRPr sz="2100"/>
          </a:p>
        </p:txBody>
      </p:sp>
      <p:pic>
        <p:nvPicPr>
          <p:cNvPr descr="&lt;math xmlns=&quot;http://www.w3.org/1998/Math/MathML&quot; display=&quot;block&quot; data-is-equatio=&quot;1&quot; data-latex=&quot;\frac{11}{12}&quot;&gt;&lt;mfrac&gt;&lt;mn&gt;11&lt;/mn&gt;&lt;mn&gt;12&lt;/mn&gt;&lt;/mfrac&gt;&lt;/math&gt;" id="1204" name="Google Shape;1204;p83" title="11 over 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84800" y="2071619"/>
            <a:ext cx="233075" cy="42013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}{5}&quot;&gt;&lt;mfrac&gt;&lt;mn&gt;4&lt;/mn&gt;&lt;mn&gt;5&lt;/mn&gt;&lt;/mfrac&gt;&lt;/math&gt;" id="1205" name="Google Shape;1205;p83" title="four fif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14912" y="2641350"/>
            <a:ext cx="130000" cy="42092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5}{6}&quot;&gt;&lt;mfrac&gt;&lt;mn&gt;5&lt;/mn&gt;&lt;mn&gt;6&lt;/mn&gt;&lt;/mfrac&gt;&lt;/math&gt;" id="1206" name="Google Shape;1206;p83" title="five sixth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13214" y="3188436"/>
            <a:ext cx="130000" cy="42569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8}{20}&quot;&gt;&lt;mfrac&gt;&lt;mn&gt;18&lt;/mn&gt;&lt;mn&gt;20&lt;/mn&gt;&lt;/mfrac&gt;&lt;/math&gt;" id="1207" name="Google Shape;1207;p83" title="18 over 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656225" y="3763871"/>
            <a:ext cx="233075" cy="4319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6}{30}&quot;&gt;&lt;mfrac&gt;&lt;mn&gt;26&lt;/mn&gt;&lt;mn&gt;30&lt;/mn&gt;&lt;/mfrac&gt;&lt;/math&gt;" id="1208" name="Google Shape;1208;p83" title="26 over 30"/>
          <p:cNvPicPr preferRelativeResize="0"/>
          <p:nvPr/>
        </p:nvPicPr>
        <p:blipFill rotWithShape="1">
          <a:blip r:embed="rId7">
            <a:alphaModFix/>
          </a:blip>
          <a:srcRect b="0" l="0" r="0" t="-3103"/>
          <a:stretch/>
        </p:blipFill>
        <p:spPr>
          <a:xfrm>
            <a:off x="1656225" y="4284575"/>
            <a:ext cx="233063" cy="507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2" name="Shape 1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3" name="Google Shape;1213;p84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Solving problems with fractions</a:t>
            </a:r>
            <a:endParaRPr/>
          </a:p>
        </p:txBody>
      </p:sp>
      <p:sp>
        <p:nvSpPr>
          <p:cNvPr id="1214" name="Google Shape;1214;p84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Solving problems with decimals</a:t>
            </a:r>
            <a:endParaRPr/>
          </a:p>
        </p:txBody>
      </p:sp>
      <p:sp>
        <p:nvSpPr>
          <p:cNvPr id="1215" name="Google Shape;1215;p84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Problem solving with fractions and decimals</a:t>
            </a:r>
            <a:endParaRPr/>
          </a:p>
        </p:txBody>
      </p:sp>
      <p:sp>
        <p:nvSpPr>
          <p:cNvPr id="1216" name="Google Shape;1216;p84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Solving problems with fractions and decimals</a:t>
            </a:r>
            <a:endParaRPr/>
          </a:p>
        </p:txBody>
      </p:sp>
      <p:pic>
        <p:nvPicPr>
          <p:cNvPr id="1217" name="Google Shape;1217;p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8300" y="2766075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1" name="Shape 1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2" name="Google Shape;1222;p85"/>
          <p:cNvSpPr txBox="1"/>
          <p:nvPr>
            <p:ph idx="4294967295" type="body"/>
          </p:nvPr>
        </p:nvSpPr>
        <p:spPr>
          <a:xfrm>
            <a:off x="324000" y="759300"/>
            <a:ext cx="7109100" cy="76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Write the items in order from the cheapest to the most expensive. </a:t>
            </a:r>
            <a:endParaRPr/>
          </a:p>
        </p:txBody>
      </p:sp>
      <p:pic>
        <p:nvPicPr>
          <p:cNvPr id="1223" name="Google Shape;1223;p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44225" y="1940905"/>
            <a:ext cx="753904" cy="5986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4" name="Google Shape;1224;p8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43208" y="1589265"/>
            <a:ext cx="454951" cy="9711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5" name="Google Shape;1225;p8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837256" y="1466991"/>
            <a:ext cx="467232" cy="10924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6" name="Google Shape;1226;p8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320688" y="1674307"/>
            <a:ext cx="484409" cy="872620"/>
          </a:xfrm>
          <a:prstGeom prst="rect">
            <a:avLst/>
          </a:prstGeom>
          <a:noFill/>
          <a:ln>
            <a:noFill/>
          </a:ln>
        </p:spPr>
      </p:pic>
      <p:sp>
        <p:nvSpPr>
          <p:cNvPr id="1227" name="Google Shape;1227;p8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Solving problems with decimals</a:t>
            </a:r>
            <a:endParaRPr/>
          </a:p>
        </p:txBody>
      </p:sp>
      <p:pic>
        <p:nvPicPr>
          <p:cNvPr id="1228" name="Google Shape;1228;p85"/>
          <p:cNvPicPr preferRelativeResize="0"/>
          <p:nvPr/>
        </p:nvPicPr>
        <p:blipFill rotWithShape="1">
          <a:blip r:embed="rId7">
            <a:alphaModFix/>
          </a:blip>
          <a:srcRect b="49904" l="42030" r="41996" t="8432"/>
          <a:stretch/>
        </p:blipFill>
        <p:spPr>
          <a:xfrm>
            <a:off x="268137" y="1908700"/>
            <a:ext cx="504509" cy="6630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9" name="Google Shape;1229;p85"/>
          <p:cNvPicPr preferRelativeResize="0"/>
          <p:nvPr/>
        </p:nvPicPr>
        <p:blipFill rotWithShape="1">
          <a:blip r:embed="rId8">
            <a:alphaModFix/>
          </a:blip>
          <a:srcRect b="57667" l="2212" r="66924" t="-5457"/>
          <a:stretch/>
        </p:blipFill>
        <p:spPr>
          <a:xfrm>
            <a:off x="1411774" y="1674307"/>
            <a:ext cx="692306" cy="8851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0" name="Google Shape;1230;p85"/>
          <p:cNvPicPr preferRelativeResize="0"/>
          <p:nvPr/>
        </p:nvPicPr>
        <p:blipFill rotWithShape="1">
          <a:blip r:embed="rId9">
            <a:alphaModFix/>
          </a:blip>
          <a:srcRect b="13152" l="15915" r="22420" t="16961"/>
          <a:stretch/>
        </p:blipFill>
        <p:spPr>
          <a:xfrm>
            <a:off x="3837285" y="1596387"/>
            <a:ext cx="844276" cy="956899"/>
          </a:xfrm>
          <a:prstGeom prst="rect">
            <a:avLst/>
          </a:prstGeom>
          <a:noFill/>
          <a:ln>
            <a:noFill/>
          </a:ln>
        </p:spPr>
      </p:pic>
      <p:sp>
        <p:nvSpPr>
          <p:cNvPr id="1231" name="Google Shape;1231;p85"/>
          <p:cNvSpPr/>
          <p:nvPr/>
        </p:nvSpPr>
        <p:spPr>
          <a:xfrm rot="6517997">
            <a:off x="724213" y="2365825"/>
            <a:ext cx="302550" cy="933625"/>
          </a:xfrm>
          <a:prstGeom prst="flowChartOffpageConnector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2" name="Google Shape;1232;p85"/>
          <p:cNvSpPr txBox="1"/>
          <p:nvPr/>
        </p:nvSpPr>
        <p:spPr>
          <a:xfrm rot="1076249">
            <a:off x="643894" y="2721584"/>
            <a:ext cx="753947" cy="2771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£1.24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3" name="Google Shape;1233;p85"/>
          <p:cNvSpPr/>
          <p:nvPr/>
        </p:nvSpPr>
        <p:spPr>
          <a:xfrm rot="6517997">
            <a:off x="1913288" y="2261500"/>
            <a:ext cx="302550" cy="933625"/>
          </a:xfrm>
          <a:prstGeom prst="flowChartOffpageConnector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4" name="Google Shape;1234;p85"/>
          <p:cNvSpPr txBox="1"/>
          <p:nvPr/>
        </p:nvSpPr>
        <p:spPr>
          <a:xfrm rot="1076249">
            <a:off x="1832969" y="2617259"/>
            <a:ext cx="753947" cy="2771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£0.56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5" name="Google Shape;1235;p85"/>
          <p:cNvSpPr/>
          <p:nvPr/>
        </p:nvSpPr>
        <p:spPr>
          <a:xfrm rot="6517997">
            <a:off x="3102363" y="2393338"/>
            <a:ext cx="302550" cy="933625"/>
          </a:xfrm>
          <a:prstGeom prst="flowChartOffpageConnector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6" name="Google Shape;1236;p85"/>
          <p:cNvSpPr txBox="1"/>
          <p:nvPr/>
        </p:nvSpPr>
        <p:spPr>
          <a:xfrm rot="1076249">
            <a:off x="3022044" y="2749096"/>
            <a:ext cx="753947" cy="2771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£2.19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7" name="Google Shape;1237;p85"/>
          <p:cNvSpPr/>
          <p:nvPr/>
        </p:nvSpPr>
        <p:spPr>
          <a:xfrm rot="6517997">
            <a:off x="4429788" y="2329150"/>
            <a:ext cx="302550" cy="933625"/>
          </a:xfrm>
          <a:prstGeom prst="flowChartOffpageConnector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8" name="Google Shape;1238;p85"/>
          <p:cNvSpPr txBox="1"/>
          <p:nvPr/>
        </p:nvSpPr>
        <p:spPr>
          <a:xfrm rot="1076249">
            <a:off x="4349469" y="2684909"/>
            <a:ext cx="753947" cy="2771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£0.75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9" name="Google Shape;1239;p85"/>
          <p:cNvSpPr/>
          <p:nvPr/>
        </p:nvSpPr>
        <p:spPr>
          <a:xfrm rot="6517997">
            <a:off x="5777463" y="2405350"/>
            <a:ext cx="302550" cy="933625"/>
          </a:xfrm>
          <a:prstGeom prst="flowChartOffpageConnector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0" name="Google Shape;1240;p85"/>
          <p:cNvSpPr txBox="1"/>
          <p:nvPr/>
        </p:nvSpPr>
        <p:spPr>
          <a:xfrm rot="1076249">
            <a:off x="5697144" y="2761109"/>
            <a:ext cx="753947" cy="2771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£1.26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1" name="Google Shape;1241;p85"/>
          <p:cNvSpPr/>
          <p:nvPr/>
        </p:nvSpPr>
        <p:spPr>
          <a:xfrm rot="6517997">
            <a:off x="6938963" y="2405350"/>
            <a:ext cx="302550" cy="933625"/>
          </a:xfrm>
          <a:prstGeom prst="flowChartOffpageConnector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2" name="Google Shape;1242;p85"/>
          <p:cNvSpPr txBox="1"/>
          <p:nvPr/>
        </p:nvSpPr>
        <p:spPr>
          <a:xfrm rot="1076249">
            <a:off x="6858644" y="2761109"/>
            <a:ext cx="753947" cy="2771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£2.75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3" name="Google Shape;1243;p85"/>
          <p:cNvSpPr/>
          <p:nvPr/>
        </p:nvSpPr>
        <p:spPr>
          <a:xfrm rot="6517997">
            <a:off x="8120713" y="2432863"/>
            <a:ext cx="302550" cy="933625"/>
          </a:xfrm>
          <a:prstGeom prst="flowChartOffpageConnector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4" name="Google Shape;1244;p85"/>
          <p:cNvSpPr txBox="1"/>
          <p:nvPr/>
        </p:nvSpPr>
        <p:spPr>
          <a:xfrm rot="1076249">
            <a:off x="8040394" y="2788621"/>
            <a:ext cx="753947" cy="2771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£1.84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45" name="Google Shape;1245;p85"/>
          <p:cNvPicPr preferRelativeResize="0"/>
          <p:nvPr/>
        </p:nvPicPr>
        <p:blipFill rotWithShape="1">
          <a:blip r:embed="rId8">
            <a:alphaModFix/>
          </a:blip>
          <a:srcRect b="57667" l="2212" r="66924" t="-5457"/>
          <a:stretch/>
        </p:blipFill>
        <p:spPr>
          <a:xfrm>
            <a:off x="781199" y="3604779"/>
            <a:ext cx="692306" cy="8851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6" name="Google Shape;1246;p85"/>
          <p:cNvPicPr preferRelativeResize="0"/>
          <p:nvPr/>
        </p:nvPicPr>
        <p:blipFill rotWithShape="1">
          <a:blip r:embed="rId9">
            <a:alphaModFix/>
          </a:blip>
          <a:srcRect b="13152" l="15915" r="22420" t="16961"/>
          <a:stretch/>
        </p:blipFill>
        <p:spPr>
          <a:xfrm>
            <a:off x="2007525" y="3568913"/>
            <a:ext cx="844276" cy="956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7" name="Google Shape;1247;p85"/>
          <p:cNvPicPr preferRelativeResize="0"/>
          <p:nvPr/>
        </p:nvPicPr>
        <p:blipFill rotWithShape="1">
          <a:blip r:embed="rId7">
            <a:alphaModFix/>
          </a:blip>
          <a:srcRect b="49904" l="42030" r="41996" t="8432"/>
          <a:stretch/>
        </p:blipFill>
        <p:spPr>
          <a:xfrm>
            <a:off x="3385820" y="3715831"/>
            <a:ext cx="504509" cy="6630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8" name="Google Shape;1248;p8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424350" y="3611052"/>
            <a:ext cx="484409" cy="8726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9" name="Google Shape;1249;p8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42778" y="3501116"/>
            <a:ext cx="467232" cy="10924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0" name="Google Shape;1250;p8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44030" y="3561792"/>
            <a:ext cx="454951" cy="9711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1" name="Google Shape;1251;p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33000" y="3748051"/>
            <a:ext cx="753904" cy="5986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5" name="Shape 1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6" name="Google Shape;1256;p8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Solving problems with decimals</a:t>
            </a:r>
            <a:endParaRPr/>
          </a:p>
        </p:txBody>
      </p:sp>
      <p:sp>
        <p:nvSpPr>
          <p:cNvPr id="1257" name="Google Shape;1257;p86"/>
          <p:cNvSpPr txBox="1"/>
          <p:nvPr>
            <p:ph idx="4294967295" type="body"/>
          </p:nvPr>
        </p:nvSpPr>
        <p:spPr>
          <a:xfrm>
            <a:off x="324000" y="759300"/>
            <a:ext cx="7745700" cy="37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What can you buy that would be closest to spending £5?</a:t>
            </a:r>
            <a:endParaRPr/>
          </a:p>
        </p:txBody>
      </p:sp>
      <p:pic>
        <p:nvPicPr>
          <p:cNvPr id="1258" name="Google Shape;1258;p8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44225" y="1940905"/>
            <a:ext cx="753904" cy="5986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9" name="Google Shape;1259;p8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43208" y="1589265"/>
            <a:ext cx="454951" cy="9711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0" name="Google Shape;1260;p8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837256" y="1466991"/>
            <a:ext cx="467232" cy="10924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1" name="Google Shape;1261;p8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320688" y="1674307"/>
            <a:ext cx="484409" cy="8726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2" name="Google Shape;1262;p86"/>
          <p:cNvPicPr preferRelativeResize="0"/>
          <p:nvPr/>
        </p:nvPicPr>
        <p:blipFill rotWithShape="1">
          <a:blip r:embed="rId7">
            <a:alphaModFix/>
          </a:blip>
          <a:srcRect b="49904" l="42030" r="41996" t="8432"/>
          <a:stretch/>
        </p:blipFill>
        <p:spPr>
          <a:xfrm>
            <a:off x="268137" y="1908700"/>
            <a:ext cx="504509" cy="6630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3" name="Google Shape;1263;p86"/>
          <p:cNvPicPr preferRelativeResize="0"/>
          <p:nvPr/>
        </p:nvPicPr>
        <p:blipFill rotWithShape="1">
          <a:blip r:embed="rId8">
            <a:alphaModFix/>
          </a:blip>
          <a:srcRect b="57667" l="2212" r="66924" t="-5457"/>
          <a:stretch/>
        </p:blipFill>
        <p:spPr>
          <a:xfrm>
            <a:off x="1411774" y="1674307"/>
            <a:ext cx="692306" cy="8851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4" name="Google Shape;1264;p86"/>
          <p:cNvPicPr preferRelativeResize="0"/>
          <p:nvPr/>
        </p:nvPicPr>
        <p:blipFill rotWithShape="1">
          <a:blip r:embed="rId9">
            <a:alphaModFix/>
          </a:blip>
          <a:srcRect b="13152" l="15915" r="22420" t="16961"/>
          <a:stretch/>
        </p:blipFill>
        <p:spPr>
          <a:xfrm>
            <a:off x="3837285" y="1596387"/>
            <a:ext cx="844276" cy="956899"/>
          </a:xfrm>
          <a:prstGeom prst="rect">
            <a:avLst/>
          </a:prstGeom>
          <a:noFill/>
          <a:ln>
            <a:noFill/>
          </a:ln>
        </p:spPr>
      </p:pic>
      <p:sp>
        <p:nvSpPr>
          <p:cNvPr id="1265" name="Google Shape;1265;p86"/>
          <p:cNvSpPr/>
          <p:nvPr/>
        </p:nvSpPr>
        <p:spPr>
          <a:xfrm rot="6517997">
            <a:off x="724213" y="2365825"/>
            <a:ext cx="302550" cy="933625"/>
          </a:xfrm>
          <a:prstGeom prst="flowChartOffpageConnector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6" name="Google Shape;1266;p86"/>
          <p:cNvSpPr txBox="1"/>
          <p:nvPr/>
        </p:nvSpPr>
        <p:spPr>
          <a:xfrm rot="1076249">
            <a:off x="643894" y="2721584"/>
            <a:ext cx="753947" cy="2771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£1.24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7" name="Google Shape;1267;p86"/>
          <p:cNvSpPr/>
          <p:nvPr/>
        </p:nvSpPr>
        <p:spPr>
          <a:xfrm rot="6517997">
            <a:off x="1913288" y="2261500"/>
            <a:ext cx="302550" cy="933625"/>
          </a:xfrm>
          <a:prstGeom prst="flowChartOffpageConnector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8" name="Google Shape;1268;p86"/>
          <p:cNvSpPr txBox="1"/>
          <p:nvPr/>
        </p:nvSpPr>
        <p:spPr>
          <a:xfrm rot="1076249">
            <a:off x="1832969" y="2617259"/>
            <a:ext cx="753947" cy="2771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£0.56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9" name="Google Shape;1269;p86"/>
          <p:cNvSpPr/>
          <p:nvPr/>
        </p:nvSpPr>
        <p:spPr>
          <a:xfrm rot="6517997">
            <a:off x="3102363" y="2393338"/>
            <a:ext cx="302550" cy="933625"/>
          </a:xfrm>
          <a:prstGeom prst="flowChartOffpageConnector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0" name="Google Shape;1270;p86"/>
          <p:cNvSpPr txBox="1"/>
          <p:nvPr/>
        </p:nvSpPr>
        <p:spPr>
          <a:xfrm rot="1076249">
            <a:off x="3022044" y="2749096"/>
            <a:ext cx="753947" cy="2771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£2.19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1" name="Google Shape;1271;p86"/>
          <p:cNvSpPr/>
          <p:nvPr/>
        </p:nvSpPr>
        <p:spPr>
          <a:xfrm rot="6517997">
            <a:off x="4429788" y="2329150"/>
            <a:ext cx="302550" cy="933625"/>
          </a:xfrm>
          <a:prstGeom prst="flowChartOffpageConnector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2" name="Google Shape;1272;p86"/>
          <p:cNvSpPr txBox="1"/>
          <p:nvPr/>
        </p:nvSpPr>
        <p:spPr>
          <a:xfrm rot="1076249">
            <a:off x="4349469" y="2684909"/>
            <a:ext cx="753947" cy="2771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£0.75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3" name="Google Shape;1273;p86"/>
          <p:cNvSpPr/>
          <p:nvPr/>
        </p:nvSpPr>
        <p:spPr>
          <a:xfrm rot="6517997">
            <a:off x="5777463" y="2405350"/>
            <a:ext cx="302550" cy="933625"/>
          </a:xfrm>
          <a:prstGeom prst="flowChartOffpageConnector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4" name="Google Shape;1274;p86"/>
          <p:cNvSpPr txBox="1"/>
          <p:nvPr/>
        </p:nvSpPr>
        <p:spPr>
          <a:xfrm rot="1076249">
            <a:off x="5697144" y="2761109"/>
            <a:ext cx="753947" cy="2771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£1.26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5" name="Google Shape;1275;p86"/>
          <p:cNvSpPr/>
          <p:nvPr/>
        </p:nvSpPr>
        <p:spPr>
          <a:xfrm rot="6517997">
            <a:off x="6938963" y="2405350"/>
            <a:ext cx="302550" cy="933625"/>
          </a:xfrm>
          <a:prstGeom prst="flowChartOffpageConnector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6" name="Google Shape;1276;p86"/>
          <p:cNvSpPr txBox="1"/>
          <p:nvPr/>
        </p:nvSpPr>
        <p:spPr>
          <a:xfrm rot="1076249">
            <a:off x="6858644" y="2761109"/>
            <a:ext cx="753947" cy="2771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£2.75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7" name="Google Shape;1277;p86"/>
          <p:cNvSpPr/>
          <p:nvPr/>
        </p:nvSpPr>
        <p:spPr>
          <a:xfrm rot="6517997">
            <a:off x="8120713" y="2432863"/>
            <a:ext cx="302550" cy="933625"/>
          </a:xfrm>
          <a:prstGeom prst="flowChartOffpageConnector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8" name="Google Shape;1278;p86"/>
          <p:cNvSpPr txBox="1"/>
          <p:nvPr/>
        </p:nvSpPr>
        <p:spPr>
          <a:xfrm rot="1076249">
            <a:off x="8040394" y="2788621"/>
            <a:ext cx="753947" cy="2771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£1.84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9" name="Google Shape;1279;p86"/>
          <p:cNvSpPr txBox="1"/>
          <p:nvPr/>
        </p:nvSpPr>
        <p:spPr>
          <a:xfrm>
            <a:off x="330225" y="3620275"/>
            <a:ext cx="52809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A 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sandwich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and an ice-cream.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Total cost = £2.75 + £2.19 = £4.94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3" name="Shape 1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4" name="Google Shape;1284;p87"/>
          <p:cNvSpPr txBox="1"/>
          <p:nvPr>
            <p:ph idx="1" type="body"/>
          </p:nvPr>
        </p:nvSpPr>
        <p:spPr>
          <a:xfrm>
            <a:off x="324000" y="759300"/>
            <a:ext cx="8237700" cy="957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Can you buy an apple, a cupcake</a:t>
            </a:r>
            <a:r>
              <a:rPr lang="en-GB"/>
              <a:t>, and </a:t>
            </a:r>
            <a:r>
              <a:rPr lang="en-GB"/>
              <a:t>a sandwich with £5.00?</a:t>
            </a:r>
            <a:endParaRPr/>
          </a:p>
        </p:txBody>
      </p:sp>
      <p:sp>
        <p:nvSpPr>
          <p:cNvPr id="1285" name="Google Shape;1285;p8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Solving problems with decimals</a:t>
            </a:r>
            <a:endParaRPr/>
          </a:p>
        </p:txBody>
      </p:sp>
      <p:pic>
        <p:nvPicPr>
          <p:cNvPr id="1286" name="Google Shape;1286;p8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44225" y="1940905"/>
            <a:ext cx="753904" cy="5986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7" name="Google Shape;1287;p8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43208" y="1589265"/>
            <a:ext cx="454951" cy="9711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8" name="Google Shape;1288;p8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837256" y="1466991"/>
            <a:ext cx="467232" cy="10924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9" name="Google Shape;1289;p8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320688" y="1674307"/>
            <a:ext cx="484409" cy="8726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0" name="Google Shape;1290;p87"/>
          <p:cNvPicPr preferRelativeResize="0"/>
          <p:nvPr/>
        </p:nvPicPr>
        <p:blipFill rotWithShape="1">
          <a:blip r:embed="rId7">
            <a:alphaModFix/>
          </a:blip>
          <a:srcRect b="49904" l="42030" r="41996" t="8432"/>
          <a:stretch/>
        </p:blipFill>
        <p:spPr>
          <a:xfrm>
            <a:off x="268137" y="1908700"/>
            <a:ext cx="504509" cy="6630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1" name="Google Shape;1291;p87"/>
          <p:cNvPicPr preferRelativeResize="0"/>
          <p:nvPr/>
        </p:nvPicPr>
        <p:blipFill rotWithShape="1">
          <a:blip r:embed="rId8">
            <a:alphaModFix/>
          </a:blip>
          <a:srcRect b="57667" l="2212" r="66924" t="-5457"/>
          <a:stretch/>
        </p:blipFill>
        <p:spPr>
          <a:xfrm>
            <a:off x="1411774" y="1674307"/>
            <a:ext cx="692306" cy="8851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2" name="Google Shape;1292;p87"/>
          <p:cNvPicPr preferRelativeResize="0"/>
          <p:nvPr/>
        </p:nvPicPr>
        <p:blipFill rotWithShape="1">
          <a:blip r:embed="rId9">
            <a:alphaModFix/>
          </a:blip>
          <a:srcRect b="13152" l="15915" r="22420" t="16961"/>
          <a:stretch/>
        </p:blipFill>
        <p:spPr>
          <a:xfrm>
            <a:off x="3837285" y="1596387"/>
            <a:ext cx="844276" cy="956899"/>
          </a:xfrm>
          <a:prstGeom prst="rect">
            <a:avLst/>
          </a:prstGeom>
          <a:noFill/>
          <a:ln>
            <a:noFill/>
          </a:ln>
        </p:spPr>
      </p:pic>
      <p:sp>
        <p:nvSpPr>
          <p:cNvPr id="1293" name="Google Shape;1293;p87"/>
          <p:cNvSpPr/>
          <p:nvPr/>
        </p:nvSpPr>
        <p:spPr>
          <a:xfrm rot="6517997">
            <a:off x="724213" y="2365825"/>
            <a:ext cx="302550" cy="933625"/>
          </a:xfrm>
          <a:prstGeom prst="flowChartOffpageConnector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4" name="Google Shape;1294;p87"/>
          <p:cNvSpPr txBox="1"/>
          <p:nvPr/>
        </p:nvSpPr>
        <p:spPr>
          <a:xfrm rot="1076249">
            <a:off x="643894" y="2721584"/>
            <a:ext cx="753947" cy="2771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£1.24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5" name="Google Shape;1295;p87"/>
          <p:cNvSpPr/>
          <p:nvPr/>
        </p:nvSpPr>
        <p:spPr>
          <a:xfrm rot="6517997">
            <a:off x="1913288" y="2261500"/>
            <a:ext cx="302550" cy="933625"/>
          </a:xfrm>
          <a:prstGeom prst="flowChartOffpageConnector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6" name="Google Shape;1296;p87"/>
          <p:cNvSpPr txBox="1"/>
          <p:nvPr/>
        </p:nvSpPr>
        <p:spPr>
          <a:xfrm rot="1076249">
            <a:off x="1832969" y="2617259"/>
            <a:ext cx="753947" cy="2771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£0.56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7" name="Google Shape;1297;p87"/>
          <p:cNvSpPr/>
          <p:nvPr/>
        </p:nvSpPr>
        <p:spPr>
          <a:xfrm rot="6517997">
            <a:off x="3102363" y="2393338"/>
            <a:ext cx="302550" cy="933625"/>
          </a:xfrm>
          <a:prstGeom prst="flowChartOffpageConnector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8" name="Google Shape;1298;p87"/>
          <p:cNvSpPr txBox="1"/>
          <p:nvPr/>
        </p:nvSpPr>
        <p:spPr>
          <a:xfrm rot="1076249">
            <a:off x="3022044" y="2749096"/>
            <a:ext cx="753947" cy="2771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£2.19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9" name="Google Shape;1299;p87"/>
          <p:cNvSpPr/>
          <p:nvPr/>
        </p:nvSpPr>
        <p:spPr>
          <a:xfrm rot="6517997">
            <a:off x="4429788" y="2329150"/>
            <a:ext cx="302550" cy="933625"/>
          </a:xfrm>
          <a:prstGeom prst="flowChartOffpageConnector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0" name="Google Shape;1300;p87"/>
          <p:cNvSpPr txBox="1"/>
          <p:nvPr/>
        </p:nvSpPr>
        <p:spPr>
          <a:xfrm rot="1076249">
            <a:off x="4349469" y="2684909"/>
            <a:ext cx="753947" cy="2771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£0.75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1" name="Google Shape;1301;p87"/>
          <p:cNvSpPr/>
          <p:nvPr/>
        </p:nvSpPr>
        <p:spPr>
          <a:xfrm rot="6517997">
            <a:off x="5777463" y="2405350"/>
            <a:ext cx="302550" cy="933625"/>
          </a:xfrm>
          <a:prstGeom prst="flowChartOffpageConnector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2" name="Google Shape;1302;p87"/>
          <p:cNvSpPr txBox="1"/>
          <p:nvPr/>
        </p:nvSpPr>
        <p:spPr>
          <a:xfrm rot="1076249">
            <a:off x="5697144" y="2761109"/>
            <a:ext cx="753947" cy="2771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£1.26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3" name="Google Shape;1303;p87"/>
          <p:cNvSpPr/>
          <p:nvPr/>
        </p:nvSpPr>
        <p:spPr>
          <a:xfrm rot="6517997">
            <a:off x="6938963" y="2405350"/>
            <a:ext cx="302550" cy="933625"/>
          </a:xfrm>
          <a:prstGeom prst="flowChartOffpageConnector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4" name="Google Shape;1304;p87"/>
          <p:cNvSpPr txBox="1"/>
          <p:nvPr/>
        </p:nvSpPr>
        <p:spPr>
          <a:xfrm rot="1076249">
            <a:off x="6858644" y="2761109"/>
            <a:ext cx="753947" cy="2771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£2.75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5" name="Google Shape;1305;p87"/>
          <p:cNvSpPr/>
          <p:nvPr/>
        </p:nvSpPr>
        <p:spPr>
          <a:xfrm rot="6517997">
            <a:off x="8120713" y="2432863"/>
            <a:ext cx="302550" cy="933625"/>
          </a:xfrm>
          <a:prstGeom prst="flowChartOffpageConnector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6" name="Google Shape;1306;p87"/>
          <p:cNvSpPr txBox="1"/>
          <p:nvPr/>
        </p:nvSpPr>
        <p:spPr>
          <a:xfrm rot="1076249">
            <a:off x="8040394" y="2788621"/>
            <a:ext cx="753947" cy="2771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£1.84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7" name="Google Shape;1307;p87"/>
          <p:cNvSpPr txBox="1"/>
          <p:nvPr>
            <p:ph idx="1" type="body"/>
          </p:nvPr>
        </p:nvSpPr>
        <p:spPr>
          <a:xfrm>
            <a:off x="324000" y="3307575"/>
            <a:ext cx="2231400" cy="128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Apple		£0.56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Cupcake	£1.24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Sandwich	£2.75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08" name="Google Shape;1308;p87"/>
          <p:cNvSpPr/>
          <p:nvPr/>
        </p:nvSpPr>
        <p:spPr>
          <a:xfrm>
            <a:off x="2529425" y="3319100"/>
            <a:ext cx="753900" cy="12573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9" name="Google Shape;1309;p87"/>
          <p:cNvSpPr txBox="1"/>
          <p:nvPr>
            <p:ph idx="1" type="body"/>
          </p:nvPr>
        </p:nvSpPr>
        <p:spPr>
          <a:xfrm>
            <a:off x="3394850" y="3531525"/>
            <a:ext cx="2347800" cy="88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Total cost = £4.55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So, yes you can.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3" name="Shape 1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4" name="Google Shape;1314;p88"/>
          <p:cNvSpPr txBox="1"/>
          <p:nvPr>
            <p:ph idx="1" type="body"/>
          </p:nvPr>
        </p:nvSpPr>
        <p:spPr>
          <a:xfrm>
            <a:off x="324000" y="2746656"/>
            <a:ext cx="8521200" cy="197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lphaLcParenR"/>
            </a:pPr>
            <a:r>
              <a:rPr lang="en-GB" sz="1800"/>
              <a:t>Write them in order from cheapest to most expensive.</a:t>
            </a:r>
            <a:endParaRPr sz="1800">
              <a:latin typeface="Kalam"/>
              <a:ea typeface="Kalam"/>
              <a:cs typeface="Kalam"/>
              <a:sym typeface="Kalam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lphaLcParenR"/>
            </a:pPr>
            <a:r>
              <a:rPr lang="en-GB" sz="1800"/>
              <a:t>You have a £5.00 gift voucher but you won’t get any change.</a:t>
            </a:r>
            <a:endParaRPr sz="1800"/>
          </a:p>
          <a:p>
            <a:pPr indent="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You therefore want to spend as close to £5.00 as possible.</a:t>
            </a:r>
            <a:endParaRPr sz="1800"/>
          </a:p>
          <a:p>
            <a:pPr indent="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What can you buy?</a:t>
            </a:r>
            <a:endParaRPr sz="18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lphaLcParenR" startAt="3"/>
            </a:pPr>
            <a:r>
              <a:rPr lang="en-GB" sz="1800"/>
              <a:t>What is the largest number of items you can buy with £5.00 and what are they?</a:t>
            </a:r>
            <a:endParaRPr sz="1800"/>
          </a:p>
        </p:txBody>
      </p:sp>
      <p:sp>
        <p:nvSpPr>
          <p:cNvPr id="1315" name="Google Shape;1315;p88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Solving problems with decimals</a:t>
            </a:r>
            <a:endParaRPr/>
          </a:p>
        </p:txBody>
      </p:sp>
      <p:pic>
        <p:nvPicPr>
          <p:cNvPr id="1316" name="Google Shape;1316;p8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44225" y="1416722"/>
            <a:ext cx="753904" cy="5986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7" name="Google Shape;1317;p8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43208" y="1065082"/>
            <a:ext cx="454951" cy="9711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8" name="Google Shape;1318;p8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837256" y="942809"/>
            <a:ext cx="467232" cy="10924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9" name="Google Shape;1319;p8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320688" y="1150125"/>
            <a:ext cx="484409" cy="8726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0" name="Google Shape;1320;p88"/>
          <p:cNvPicPr preferRelativeResize="0"/>
          <p:nvPr/>
        </p:nvPicPr>
        <p:blipFill rotWithShape="1">
          <a:blip r:embed="rId7">
            <a:alphaModFix/>
          </a:blip>
          <a:srcRect b="49904" l="42030" r="41996" t="8432"/>
          <a:stretch/>
        </p:blipFill>
        <p:spPr>
          <a:xfrm>
            <a:off x="268137" y="1308317"/>
            <a:ext cx="504509" cy="6630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1" name="Google Shape;1321;p88"/>
          <p:cNvPicPr preferRelativeResize="0"/>
          <p:nvPr/>
        </p:nvPicPr>
        <p:blipFill rotWithShape="1">
          <a:blip r:embed="rId8">
            <a:alphaModFix/>
          </a:blip>
          <a:srcRect b="57667" l="2212" r="66924" t="-5457"/>
          <a:stretch/>
        </p:blipFill>
        <p:spPr>
          <a:xfrm>
            <a:off x="1411774" y="1226325"/>
            <a:ext cx="692306" cy="8851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2" name="Google Shape;1322;p88"/>
          <p:cNvPicPr preferRelativeResize="0"/>
          <p:nvPr/>
        </p:nvPicPr>
        <p:blipFill rotWithShape="1">
          <a:blip r:embed="rId9">
            <a:alphaModFix/>
          </a:blip>
          <a:srcRect b="13152" l="15915" r="22420" t="16961"/>
          <a:stretch/>
        </p:blipFill>
        <p:spPr>
          <a:xfrm>
            <a:off x="3837285" y="1148405"/>
            <a:ext cx="844276" cy="956899"/>
          </a:xfrm>
          <a:prstGeom prst="rect">
            <a:avLst/>
          </a:prstGeom>
          <a:noFill/>
          <a:ln>
            <a:noFill/>
          </a:ln>
        </p:spPr>
      </p:pic>
      <p:sp>
        <p:nvSpPr>
          <p:cNvPr id="1323" name="Google Shape;1323;p88"/>
          <p:cNvSpPr/>
          <p:nvPr/>
        </p:nvSpPr>
        <p:spPr>
          <a:xfrm rot="6517997">
            <a:off x="724213" y="1765443"/>
            <a:ext cx="302550" cy="933625"/>
          </a:xfrm>
          <a:prstGeom prst="flowChartOffpageConnector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4" name="Google Shape;1324;p88"/>
          <p:cNvSpPr txBox="1"/>
          <p:nvPr/>
        </p:nvSpPr>
        <p:spPr>
          <a:xfrm rot="1076249">
            <a:off x="643894" y="2121202"/>
            <a:ext cx="753947" cy="2771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£1.58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5" name="Google Shape;1325;p88"/>
          <p:cNvSpPr/>
          <p:nvPr/>
        </p:nvSpPr>
        <p:spPr>
          <a:xfrm rot="6517997">
            <a:off x="1913288" y="1813518"/>
            <a:ext cx="302550" cy="933625"/>
          </a:xfrm>
          <a:prstGeom prst="flowChartOffpageConnector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6" name="Google Shape;1326;p88"/>
          <p:cNvSpPr txBox="1"/>
          <p:nvPr/>
        </p:nvSpPr>
        <p:spPr>
          <a:xfrm rot="1076249">
            <a:off x="1832969" y="2169277"/>
            <a:ext cx="753947" cy="2771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£0.77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7" name="Google Shape;1327;p88"/>
          <p:cNvSpPr/>
          <p:nvPr/>
        </p:nvSpPr>
        <p:spPr>
          <a:xfrm rot="6517997">
            <a:off x="3102363" y="1869155"/>
            <a:ext cx="302550" cy="933625"/>
          </a:xfrm>
          <a:prstGeom prst="flowChartOffpageConnector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8" name="Google Shape;1328;p88"/>
          <p:cNvSpPr txBox="1"/>
          <p:nvPr/>
        </p:nvSpPr>
        <p:spPr>
          <a:xfrm rot="1076249">
            <a:off x="3022044" y="2224914"/>
            <a:ext cx="753947" cy="2771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£1.95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9" name="Google Shape;1329;p88"/>
          <p:cNvSpPr/>
          <p:nvPr/>
        </p:nvSpPr>
        <p:spPr>
          <a:xfrm rot="6517997">
            <a:off x="4429788" y="1881168"/>
            <a:ext cx="302550" cy="933625"/>
          </a:xfrm>
          <a:prstGeom prst="flowChartOffpageConnector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0" name="Google Shape;1330;p88"/>
          <p:cNvSpPr txBox="1"/>
          <p:nvPr/>
        </p:nvSpPr>
        <p:spPr>
          <a:xfrm rot="1076249">
            <a:off x="4349469" y="2236927"/>
            <a:ext cx="753947" cy="2771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£0.76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1" name="Google Shape;1331;p88"/>
          <p:cNvSpPr/>
          <p:nvPr/>
        </p:nvSpPr>
        <p:spPr>
          <a:xfrm rot="6517997">
            <a:off x="5777463" y="1881168"/>
            <a:ext cx="302550" cy="933625"/>
          </a:xfrm>
          <a:prstGeom prst="flowChartOffpageConnector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2" name="Google Shape;1332;p88"/>
          <p:cNvSpPr txBox="1"/>
          <p:nvPr/>
        </p:nvSpPr>
        <p:spPr>
          <a:xfrm rot="1076249">
            <a:off x="5697144" y="2236927"/>
            <a:ext cx="753947" cy="2771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£1.54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3" name="Google Shape;1333;p88"/>
          <p:cNvSpPr/>
          <p:nvPr/>
        </p:nvSpPr>
        <p:spPr>
          <a:xfrm rot="6517997">
            <a:off x="6938963" y="1881168"/>
            <a:ext cx="302550" cy="933625"/>
          </a:xfrm>
          <a:prstGeom prst="flowChartOffpageConnector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4" name="Google Shape;1334;p88"/>
          <p:cNvSpPr txBox="1"/>
          <p:nvPr/>
        </p:nvSpPr>
        <p:spPr>
          <a:xfrm rot="1076249">
            <a:off x="6858644" y="2236927"/>
            <a:ext cx="753947" cy="2771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£2.95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5" name="Google Shape;1335;p88"/>
          <p:cNvSpPr/>
          <p:nvPr/>
        </p:nvSpPr>
        <p:spPr>
          <a:xfrm rot="6517997">
            <a:off x="8120713" y="1908680"/>
            <a:ext cx="302550" cy="933625"/>
          </a:xfrm>
          <a:prstGeom prst="flowChartOffpageConnector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6" name="Google Shape;1336;p88"/>
          <p:cNvSpPr txBox="1"/>
          <p:nvPr/>
        </p:nvSpPr>
        <p:spPr>
          <a:xfrm rot="1076249">
            <a:off x="8040394" y="2264439"/>
            <a:ext cx="753947" cy="2771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£1.98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7" name="Google Shape;1337;p88"/>
          <p:cNvSpPr txBox="1"/>
          <p:nvPr>
            <p:ph idx="1" type="body"/>
          </p:nvPr>
        </p:nvSpPr>
        <p:spPr>
          <a:xfrm>
            <a:off x="324000" y="649150"/>
            <a:ext cx="85212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AutoNum type="arabicParenR"/>
            </a:pPr>
            <a:r>
              <a:rPr lang="en-GB" sz="1900"/>
              <a:t>Here are the prices of some items in a cafe.</a:t>
            </a:r>
            <a:endParaRPr sz="19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1" name="Shape 1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2" name="Google Shape;1342;p89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Solving problems with decimals</a:t>
            </a:r>
            <a:endParaRPr/>
          </a:p>
        </p:txBody>
      </p:sp>
      <p:pic>
        <p:nvPicPr>
          <p:cNvPr id="1343" name="Google Shape;1343;p8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44225" y="1102705"/>
            <a:ext cx="753904" cy="5986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4" name="Google Shape;1344;p8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43208" y="751065"/>
            <a:ext cx="454951" cy="9711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5" name="Google Shape;1345;p8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837256" y="628791"/>
            <a:ext cx="467232" cy="10924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6" name="Google Shape;1346;p8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320688" y="836107"/>
            <a:ext cx="484409" cy="8726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7" name="Google Shape;1347;p89"/>
          <p:cNvPicPr preferRelativeResize="0"/>
          <p:nvPr/>
        </p:nvPicPr>
        <p:blipFill rotWithShape="1">
          <a:blip r:embed="rId7">
            <a:alphaModFix/>
          </a:blip>
          <a:srcRect b="49904" l="42030" r="41996" t="8432"/>
          <a:stretch/>
        </p:blipFill>
        <p:spPr>
          <a:xfrm>
            <a:off x="268137" y="1070500"/>
            <a:ext cx="504509" cy="6630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8" name="Google Shape;1348;p89"/>
          <p:cNvPicPr preferRelativeResize="0"/>
          <p:nvPr/>
        </p:nvPicPr>
        <p:blipFill rotWithShape="1">
          <a:blip r:embed="rId8">
            <a:alphaModFix/>
          </a:blip>
          <a:srcRect b="57667" l="2212" r="66924" t="-5457"/>
          <a:stretch/>
        </p:blipFill>
        <p:spPr>
          <a:xfrm>
            <a:off x="1411774" y="836107"/>
            <a:ext cx="692306" cy="8851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9" name="Google Shape;1349;p89"/>
          <p:cNvPicPr preferRelativeResize="0"/>
          <p:nvPr/>
        </p:nvPicPr>
        <p:blipFill rotWithShape="1">
          <a:blip r:embed="rId9">
            <a:alphaModFix/>
          </a:blip>
          <a:srcRect b="13152" l="15915" r="22420" t="16961"/>
          <a:stretch/>
        </p:blipFill>
        <p:spPr>
          <a:xfrm>
            <a:off x="3837285" y="758187"/>
            <a:ext cx="844276" cy="956899"/>
          </a:xfrm>
          <a:prstGeom prst="rect">
            <a:avLst/>
          </a:prstGeom>
          <a:noFill/>
          <a:ln>
            <a:noFill/>
          </a:ln>
        </p:spPr>
      </p:pic>
      <p:sp>
        <p:nvSpPr>
          <p:cNvPr id="1350" name="Google Shape;1350;p89"/>
          <p:cNvSpPr/>
          <p:nvPr/>
        </p:nvSpPr>
        <p:spPr>
          <a:xfrm rot="6517997">
            <a:off x="724213" y="1527625"/>
            <a:ext cx="302550" cy="933625"/>
          </a:xfrm>
          <a:prstGeom prst="flowChartOffpageConnector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1" name="Google Shape;1351;p89"/>
          <p:cNvSpPr txBox="1"/>
          <p:nvPr/>
        </p:nvSpPr>
        <p:spPr>
          <a:xfrm rot="1076249">
            <a:off x="643894" y="1883384"/>
            <a:ext cx="753947" cy="2771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£1.58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2" name="Google Shape;1352;p89"/>
          <p:cNvSpPr/>
          <p:nvPr/>
        </p:nvSpPr>
        <p:spPr>
          <a:xfrm rot="6517997">
            <a:off x="1913288" y="1423300"/>
            <a:ext cx="302550" cy="933625"/>
          </a:xfrm>
          <a:prstGeom prst="flowChartOffpageConnector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3" name="Google Shape;1353;p89"/>
          <p:cNvSpPr txBox="1"/>
          <p:nvPr/>
        </p:nvSpPr>
        <p:spPr>
          <a:xfrm rot="1076249">
            <a:off x="1832969" y="1779059"/>
            <a:ext cx="753947" cy="2771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£0.77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4" name="Google Shape;1354;p89"/>
          <p:cNvSpPr/>
          <p:nvPr/>
        </p:nvSpPr>
        <p:spPr>
          <a:xfrm rot="6517997">
            <a:off x="3102363" y="1555138"/>
            <a:ext cx="302550" cy="933625"/>
          </a:xfrm>
          <a:prstGeom prst="flowChartOffpageConnector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5" name="Google Shape;1355;p89"/>
          <p:cNvSpPr txBox="1"/>
          <p:nvPr/>
        </p:nvSpPr>
        <p:spPr>
          <a:xfrm rot="1076249">
            <a:off x="3022044" y="1910896"/>
            <a:ext cx="753947" cy="2771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£1.95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6" name="Google Shape;1356;p89"/>
          <p:cNvSpPr/>
          <p:nvPr/>
        </p:nvSpPr>
        <p:spPr>
          <a:xfrm rot="6517997">
            <a:off x="4429788" y="1490950"/>
            <a:ext cx="302550" cy="933625"/>
          </a:xfrm>
          <a:prstGeom prst="flowChartOffpageConnector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7" name="Google Shape;1357;p89"/>
          <p:cNvSpPr txBox="1"/>
          <p:nvPr/>
        </p:nvSpPr>
        <p:spPr>
          <a:xfrm rot="1076249">
            <a:off x="4349469" y="1846709"/>
            <a:ext cx="753947" cy="2771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£0.76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8" name="Google Shape;1358;p89"/>
          <p:cNvSpPr/>
          <p:nvPr/>
        </p:nvSpPr>
        <p:spPr>
          <a:xfrm rot="6517997">
            <a:off x="5777463" y="1567150"/>
            <a:ext cx="302550" cy="933625"/>
          </a:xfrm>
          <a:prstGeom prst="flowChartOffpageConnector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9" name="Google Shape;1359;p89"/>
          <p:cNvSpPr txBox="1"/>
          <p:nvPr/>
        </p:nvSpPr>
        <p:spPr>
          <a:xfrm rot="1076249">
            <a:off x="5697144" y="1922909"/>
            <a:ext cx="753947" cy="2771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£1.54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0" name="Google Shape;1360;p89"/>
          <p:cNvSpPr/>
          <p:nvPr/>
        </p:nvSpPr>
        <p:spPr>
          <a:xfrm rot="6517997">
            <a:off x="6938963" y="1567150"/>
            <a:ext cx="302550" cy="933625"/>
          </a:xfrm>
          <a:prstGeom prst="flowChartOffpageConnector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1" name="Google Shape;1361;p89"/>
          <p:cNvSpPr txBox="1"/>
          <p:nvPr/>
        </p:nvSpPr>
        <p:spPr>
          <a:xfrm rot="1076249">
            <a:off x="6858644" y="1922909"/>
            <a:ext cx="753947" cy="2771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£2.95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2" name="Google Shape;1362;p89"/>
          <p:cNvSpPr/>
          <p:nvPr/>
        </p:nvSpPr>
        <p:spPr>
          <a:xfrm rot="6517997">
            <a:off x="8120713" y="1594663"/>
            <a:ext cx="302550" cy="933625"/>
          </a:xfrm>
          <a:prstGeom prst="flowChartOffpageConnector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3" name="Google Shape;1363;p89"/>
          <p:cNvSpPr txBox="1"/>
          <p:nvPr/>
        </p:nvSpPr>
        <p:spPr>
          <a:xfrm rot="1076249">
            <a:off x="8040394" y="1950421"/>
            <a:ext cx="753947" cy="2771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£1.98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4" name="Google Shape;1364;p89"/>
          <p:cNvSpPr txBox="1"/>
          <p:nvPr/>
        </p:nvSpPr>
        <p:spPr>
          <a:xfrm>
            <a:off x="324000" y="2852400"/>
            <a:ext cx="84960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a)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b)  A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sandwich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and a milkshake.  Total cost = £2.95 + £1.98 = £4.93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c)  An apple, a banana, a juice and a cupcake. 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Total cost =£0.77 + £0.76 + £1.54 + £1.58 = £4.65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365" name="Google Shape;1365;p89"/>
          <p:cNvPicPr preferRelativeResize="0"/>
          <p:nvPr/>
        </p:nvPicPr>
        <p:blipFill rotWithShape="1">
          <a:blip r:embed="rId9">
            <a:alphaModFix/>
          </a:blip>
          <a:srcRect b="13152" l="15915" r="22420" t="16961"/>
          <a:stretch/>
        </p:blipFill>
        <p:spPr>
          <a:xfrm>
            <a:off x="801960" y="2700012"/>
            <a:ext cx="844276" cy="956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6" name="Google Shape;1366;p89"/>
          <p:cNvPicPr preferRelativeResize="0"/>
          <p:nvPr/>
        </p:nvPicPr>
        <p:blipFill rotWithShape="1">
          <a:blip r:embed="rId8">
            <a:alphaModFix/>
          </a:blip>
          <a:srcRect b="57667" l="2212" r="66924" t="-5457"/>
          <a:stretch/>
        </p:blipFill>
        <p:spPr>
          <a:xfrm>
            <a:off x="2005650" y="2735870"/>
            <a:ext cx="692306" cy="8851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7" name="Google Shape;1367;p8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057370" y="2803695"/>
            <a:ext cx="484409" cy="8726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8" name="Google Shape;1368;p89"/>
          <p:cNvPicPr preferRelativeResize="0"/>
          <p:nvPr/>
        </p:nvPicPr>
        <p:blipFill rotWithShape="1">
          <a:blip r:embed="rId7">
            <a:alphaModFix/>
          </a:blip>
          <a:srcRect b="49904" l="42030" r="41996" t="8432"/>
          <a:stretch/>
        </p:blipFill>
        <p:spPr>
          <a:xfrm>
            <a:off x="3901193" y="2908487"/>
            <a:ext cx="504509" cy="6630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9" name="Google Shape;1369;p8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65116" y="2754440"/>
            <a:ext cx="454951" cy="9711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0" name="Google Shape;1370;p8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79480" y="2693766"/>
            <a:ext cx="467232" cy="10924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1" name="Google Shape;1371;p8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06125" y="2940705"/>
            <a:ext cx="753904" cy="5986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5" name="Shape 1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6" name="Google Shape;1376;p90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Solving problems with fractions</a:t>
            </a:r>
            <a:endParaRPr/>
          </a:p>
        </p:txBody>
      </p:sp>
      <p:sp>
        <p:nvSpPr>
          <p:cNvPr id="1377" name="Google Shape;1377;p90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Solving problems with decimals</a:t>
            </a:r>
            <a:endParaRPr/>
          </a:p>
        </p:txBody>
      </p:sp>
      <p:sp>
        <p:nvSpPr>
          <p:cNvPr id="1378" name="Google Shape;1378;p90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Problem solving with fractions and decimals</a:t>
            </a:r>
            <a:endParaRPr/>
          </a:p>
        </p:txBody>
      </p:sp>
      <p:sp>
        <p:nvSpPr>
          <p:cNvPr id="1379" name="Google Shape;1379;p90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Solving problems with fractions and decimals</a:t>
            </a:r>
            <a:endParaRPr/>
          </a:p>
        </p:txBody>
      </p:sp>
      <p:pic>
        <p:nvPicPr>
          <p:cNvPr id="1380" name="Google Shape;1380;p9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8300" y="3700475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4" name="Shape 1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5" name="Google Shape;1385;p9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Solving problems with fractions and decimals</a:t>
            </a:r>
            <a:endParaRPr/>
          </a:p>
        </p:txBody>
      </p:sp>
      <p:sp>
        <p:nvSpPr>
          <p:cNvPr id="1386" name="Google Shape;1386;p91"/>
          <p:cNvSpPr txBox="1"/>
          <p:nvPr>
            <p:ph idx="1" type="body"/>
          </p:nvPr>
        </p:nvSpPr>
        <p:spPr>
          <a:xfrm>
            <a:off x="324000" y="759300"/>
            <a:ext cx="8496000" cy="158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Laura is buying some ribbon to go around the edge of a cushion.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She gets to the shop and realises that she must have written a </a:t>
            </a:r>
            <a:r>
              <a:rPr lang="en-GB" sz="1800"/>
              <a:t>measurement down incorrectly.</a:t>
            </a:r>
            <a:endParaRPr sz="1800"/>
          </a:p>
        </p:txBody>
      </p:sp>
      <p:sp>
        <p:nvSpPr>
          <p:cNvPr id="1387" name="Google Shape;1387;p91"/>
          <p:cNvSpPr txBox="1"/>
          <p:nvPr/>
        </p:nvSpPr>
        <p:spPr>
          <a:xfrm>
            <a:off x="-113591" y="4396198"/>
            <a:ext cx="16572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Laura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88" name="Google Shape;1388;p9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02" y="3251040"/>
            <a:ext cx="807750" cy="10579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9" name="Google Shape;1389;p9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0575" y="1779563"/>
            <a:ext cx="2617250" cy="7608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90" name="Google Shape;1390;p91"/>
          <p:cNvGrpSpPr/>
          <p:nvPr/>
        </p:nvGrpSpPr>
        <p:grpSpPr>
          <a:xfrm>
            <a:off x="991664" y="1904000"/>
            <a:ext cx="2893425" cy="1762675"/>
            <a:chOff x="1448798" y="2056400"/>
            <a:chExt cx="2825334" cy="1762675"/>
          </a:xfrm>
        </p:grpSpPr>
        <p:grpSp>
          <p:nvGrpSpPr>
            <p:cNvPr id="1391" name="Google Shape;1391;p91"/>
            <p:cNvGrpSpPr/>
            <p:nvPr/>
          </p:nvGrpSpPr>
          <p:grpSpPr>
            <a:xfrm>
              <a:off x="1448798" y="2056400"/>
              <a:ext cx="2825334" cy="1762675"/>
              <a:chOff x="3390643" y="2740691"/>
              <a:chExt cx="1687875" cy="1762675"/>
            </a:xfrm>
          </p:grpSpPr>
          <p:cxnSp>
            <p:nvCxnSpPr>
              <p:cNvPr id="1392" name="Google Shape;1392;p91"/>
              <p:cNvCxnSpPr/>
              <p:nvPr/>
            </p:nvCxnSpPr>
            <p:spPr>
              <a:xfrm>
                <a:off x="3515650" y="3036475"/>
                <a:ext cx="1488900" cy="9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93" name="Google Shape;1393;p91"/>
              <p:cNvCxnSpPr/>
              <p:nvPr/>
            </p:nvCxnSpPr>
            <p:spPr>
              <a:xfrm>
                <a:off x="3464146" y="3462767"/>
                <a:ext cx="1488900" cy="9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94" name="Google Shape;1394;p91"/>
              <p:cNvCxnSpPr/>
              <p:nvPr/>
            </p:nvCxnSpPr>
            <p:spPr>
              <a:xfrm>
                <a:off x="3515650" y="3889058"/>
                <a:ext cx="1488900" cy="9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95" name="Google Shape;1395;p91"/>
              <p:cNvCxnSpPr/>
              <p:nvPr/>
            </p:nvCxnSpPr>
            <p:spPr>
              <a:xfrm>
                <a:off x="3522150" y="4315350"/>
                <a:ext cx="1488900" cy="9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396" name="Google Shape;1396;p91"/>
              <p:cNvSpPr/>
              <p:nvPr/>
            </p:nvSpPr>
            <p:spPr>
              <a:xfrm>
                <a:off x="3390643" y="2740691"/>
                <a:ext cx="1687875" cy="1762675"/>
              </a:xfrm>
              <a:custGeom>
                <a:rect b="b" l="l" r="r" t="t"/>
                <a:pathLst>
                  <a:path extrusionOk="0" h="70507" w="67515">
                    <a:moveTo>
                      <a:pt x="4630" y="4063"/>
                    </a:moveTo>
                    <a:cubicBezTo>
                      <a:pt x="4223" y="9349"/>
                      <a:pt x="5670" y="14770"/>
                      <a:pt x="4630" y="19969"/>
                    </a:cubicBezTo>
                    <a:cubicBezTo>
                      <a:pt x="3893" y="23652"/>
                      <a:pt x="657" y="26599"/>
                      <a:pt x="191" y="30326"/>
                    </a:cubicBezTo>
                    <a:cubicBezTo>
                      <a:pt x="-574" y="36445"/>
                      <a:pt x="2680" y="42405"/>
                      <a:pt x="3890" y="48452"/>
                    </a:cubicBezTo>
                    <a:cubicBezTo>
                      <a:pt x="5126" y="54629"/>
                      <a:pt x="1065" y="62398"/>
                      <a:pt x="5000" y="67317"/>
                    </a:cubicBezTo>
                    <a:cubicBezTo>
                      <a:pt x="7465" y="70398"/>
                      <a:pt x="12922" y="67807"/>
                      <a:pt x="16837" y="67317"/>
                    </a:cubicBezTo>
                    <a:cubicBezTo>
                      <a:pt x="22221" y="66644"/>
                      <a:pt x="27686" y="67687"/>
                      <a:pt x="33112" y="67687"/>
                    </a:cubicBezTo>
                    <a:cubicBezTo>
                      <a:pt x="43719" y="67687"/>
                      <a:pt x="57424" y="74447"/>
                      <a:pt x="64924" y="66947"/>
                    </a:cubicBezTo>
                    <a:cubicBezTo>
                      <a:pt x="71124" y="60747"/>
                      <a:pt x="64172" y="49422"/>
                      <a:pt x="63444" y="40684"/>
                    </a:cubicBezTo>
                    <a:cubicBezTo>
                      <a:pt x="62348" y="27531"/>
                      <a:pt x="68238" y="12909"/>
                      <a:pt x="62335" y="1104"/>
                    </a:cubicBezTo>
                    <a:cubicBezTo>
                      <a:pt x="60939" y="-1688"/>
                      <a:pt x="56116" y="1828"/>
                      <a:pt x="53087" y="2584"/>
                    </a:cubicBezTo>
                    <a:cubicBezTo>
                      <a:pt x="45527" y="4472"/>
                      <a:pt x="37343" y="2542"/>
                      <a:pt x="29783" y="4433"/>
                    </a:cubicBezTo>
                    <a:cubicBezTo>
                      <a:pt x="21769" y="6437"/>
                      <a:pt x="5000" y="-3828"/>
                      <a:pt x="5000" y="4433"/>
                    </a:cubicBezTo>
                  </a:path>
                </a:pathLst>
              </a:custGeom>
              <a:noFill/>
              <a:ln cap="flat" cmpd="sng" w="38100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</p:grpSp>
        <p:pic>
          <p:nvPicPr>
            <p:cNvPr descr="&lt;math xmlns=&quot;http://www.w3.org/1998/Math/MathML&quot; display=&quot;block&quot; data-is-equatio=&quot;1&quot; data-latex=&quot;\begin{array}{l}\frac{3}{4}\end{array}&quot;&gt;&lt;mtable columnalign=&quot;left&quot; columnspacing=&quot;1em&quot; rowspacing=&quot;4pt&quot;&gt;&lt;mtr&gt;&lt;mtd&gt;&lt;mfrac&gt;&lt;mn&gt;3&lt;/mn&gt;&lt;mn&gt;4&lt;/mn&gt;&lt;/mfrac&gt;&lt;/mtd&gt;&lt;/mtr&gt;&lt;/mtable&gt;&lt;/math&gt;" id="1397" name="Google Shape;1397;p91" title="1 lines Line 1: three fourths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458083" y="2352175"/>
              <a:ext cx="167358" cy="4617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12\ \frac{2}{5}&quot;&gt;&lt;mn&gt;12&lt;/mn&gt;&lt;mtext&gt;&lt;/mtext&gt;&lt;mfrac&gt;&lt;mn&gt;2&lt;/mn&gt;&lt;mn&gt;5&lt;/mn&gt;&lt;/mfrac&gt;&lt;/math&gt;" id="1398" name="Google Shape;1398;p91" title="12 two fifths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2531038" y="2820742"/>
              <a:ext cx="441850" cy="48495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99" name="Google Shape;1399;p91"/>
            <p:cNvSpPr txBox="1"/>
            <p:nvPr/>
          </p:nvSpPr>
          <p:spPr>
            <a:xfrm>
              <a:off x="1575899" y="2437600"/>
              <a:ext cx="8613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Width 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00" name="Google Shape;1400;p91"/>
            <p:cNvSpPr txBox="1"/>
            <p:nvPr/>
          </p:nvSpPr>
          <p:spPr>
            <a:xfrm>
              <a:off x="1602502" y="2831475"/>
              <a:ext cx="10437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Length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401" name="Google Shape;1401;p91"/>
          <p:cNvSpPr txBox="1"/>
          <p:nvPr/>
        </p:nvSpPr>
        <p:spPr>
          <a:xfrm>
            <a:off x="4652375" y="2647950"/>
            <a:ext cx="40026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Which measurement do you think she has incorrectly recorded?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2" name="Google Shape;1402;p91"/>
          <p:cNvSpPr txBox="1"/>
          <p:nvPr/>
        </p:nvSpPr>
        <p:spPr>
          <a:xfrm>
            <a:off x="4652375" y="3714750"/>
            <a:ext cx="40026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The length     m.  This is roughly the height of the Statue of Zeus! 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12\ \frac{2}{5}&quot;&gt;&lt;mn&gt;12&lt;/mn&gt;&lt;mtext&gt;&lt;/mtext&gt;&lt;mfrac&gt;&lt;mn&gt;2&lt;/mn&gt;&lt;mn&gt;5&lt;/mn&gt;&lt;/mfrac&gt;&lt;/math&gt;" id="1403" name="Google Shape;1403;p91" title="12 two fifths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986875" y="3611498"/>
            <a:ext cx="441850" cy="4849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04" name="Google Shape;1404;p91"/>
          <p:cNvGrpSpPr/>
          <p:nvPr/>
        </p:nvGrpSpPr>
        <p:grpSpPr>
          <a:xfrm>
            <a:off x="2218075" y="2285200"/>
            <a:ext cx="1697000" cy="855575"/>
            <a:chOff x="2218075" y="2285200"/>
            <a:chExt cx="1697000" cy="855575"/>
          </a:xfrm>
        </p:grpSpPr>
        <p:sp>
          <p:nvSpPr>
            <p:cNvPr id="1405" name="Google Shape;1405;p91"/>
            <p:cNvSpPr txBox="1"/>
            <p:nvPr/>
          </p:nvSpPr>
          <p:spPr>
            <a:xfrm>
              <a:off x="2552475" y="2679075"/>
              <a:ext cx="13626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of  metre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06" name="Google Shape;1406;p91"/>
            <p:cNvSpPr txBox="1"/>
            <p:nvPr/>
          </p:nvSpPr>
          <p:spPr>
            <a:xfrm>
              <a:off x="2218075" y="2285200"/>
              <a:ext cx="15291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of a metre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0" name="Shape 1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1" name="Google Shape;1411;p9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Solving problems with fractions and decimals</a:t>
            </a:r>
            <a:endParaRPr/>
          </a:p>
        </p:txBody>
      </p:sp>
      <p:sp>
        <p:nvSpPr>
          <p:cNvPr id="1412" name="Google Shape;1412;p92"/>
          <p:cNvSpPr txBox="1"/>
          <p:nvPr>
            <p:ph idx="1" type="body"/>
          </p:nvPr>
        </p:nvSpPr>
        <p:spPr>
          <a:xfrm>
            <a:off x="324000" y="759300"/>
            <a:ext cx="8496000" cy="76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She texts her mum to get the correct measurement.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Her mum says it is 0.85 m.</a:t>
            </a:r>
            <a:endParaRPr/>
          </a:p>
        </p:txBody>
      </p:sp>
      <p:sp>
        <p:nvSpPr>
          <p:cNvPr id="1413" name="Google Shape;1413;p92"/>
          <p:cNvSpPr txBox="1"/>
          <p:nvPr/>
        </p:nvSpPr>
        <p:spPr>
          <a:xfrm>
            <a:off x="-113591" y="4396198"/>
            <a:ext cx="16572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Laura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14" name="Google Shape;1414;p9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02" y="3251040"/>
            <a:ext cx="807750" cy="10579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5" name="Google Shape;1415;p9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0575" y="1169963"/>
            <a:ext cx="2617250" cy="760875"/>
          </a:xfrm>
          <a:prstGeom prst="rect">
            <a:avLst/>
          </a:prstGeom>
          <a:noFill/>
          <a:ln>
            <a:noFill/>
          </a:ln>
        </p:spPr>
      </p:pic>
      <p:sp>
        <p:nvSpPr>
          <p:cNvPr id="1416" name="Google Shape;1416;p92"/>
          <p:cNvSpPr txBox="1"/>
          <p:nvPr/>
        </p:nvSpPr>
        <p:spPr>
          <a:xfrm>
            <a:off x="4652375" y="2038350"/>
            <a:ext cx="4002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How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many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metres of ribbon does Laura need?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7" name="Google Shape;1417;p92"/>
          <p:cNvSpPr txBox="1"/>
          <p:nvPr/>
        </p:nvSpPr>
        <p:spPr>
          <a:xfrm>
            <a:off x="4652375" y="2858115"/>
            <a:ext cx="4002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  is 0.75 m.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418" name="Google Shape;1418;p9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84913" y="2647942"/>
            <a:ext cx="396000" cy="419760"/>
          </a:xfrm>
          <a:prstGeom prst="rect">
            <a:avLst/>
          </a:prstGeom>
          <a:noFill/>
          <a:ln>
            <a:noFill/>
          </a:ln>
        </p:spPr>
      </p:pic>
      <p:sp>
        <p:nvSpPr>
          <p:cNvPr id="1419" name="Google Shape;1419;p92"/>
          <p:cNvSpPr txBox="1"/>
          <p:nvPr/>
        </p:nvSpPr>
        <p:spPr>
          <a:xfrm>
            <a:off x="1946463" y="3067700"/>
            <a:ext cx="915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0.85m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3}{4}&quot;&gt;&lt;mfrac&gt;&lt;mn&gt;3&lt;/mn&gt;&lt;mn&gt;4&lt;/mn&gt;&lt;/mfrac&gt;&lt;/math&gt;" id="1420" name="Google Shape;1420;p92" title="three fourths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732049" y="2758565"/>
            <a:ext cx="183902" cy="5859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1" name="Google Shape;1421;p92"/>
          <p:cNvSpPr txBox="1"/>
          <p:nvPr/>
        </p:nvSpPr>
        <p:spPr>
          <a:xfrm>
            <a:off x="4685812" y="3480029"/>
            <a:ext cx="2710500" cy="13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So, she needs 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2(0.75 + 0.85) m 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3.2 metres of ribbon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1422" name="Google Shape;1422;p92"/>
          <p:cNvGrpSpPr/>
          <p:nvPr/>
        </p:nvGrpSpPr>
        <p:grpSpPr>
          <a:xfrm>
            <a:off x="991664" y="1904000"/>
            <a:ext cx="2893425" cy="1762675"/>
            <a:chOff x="1448798" y="2056400"/>
            <a:chExt cx="2825334" cy="1762675"/>
          </a:xfrm>
        </p:grpSpPr>
        <p:grpSp>
          <p:nvGrpSpPr>
            <p:cNvPr id="1423" name="Google Shape;1423;p92"/>
            <p:cNvGrpSpPr/>
            <p:nvPr/>
          </p:nvGrpSpPr>
          <p:grpSpPr>
            <a:xfrm>
              <a:off x="1448798" y="2056400"/>
              <a:ext cx="2825334" cy="1762675"/>
              <a:chOff x="3390643" y="2740691"/>
              <a:chExt cx="1687875" cy="1762675"/>
            </a:xfrm>
          </p:grpSpPr>
          <p:cxnSp>
            <p:nvCxnSpPr>
              <p:cNvPr id="1424" name="Google Shape;1424;p92"/>
              <p:cNvCxnSpPr/>
              <p:nvPr/>
            </p:nvCxnSpPr>
            <p:spPr>
              <a:xfrm>
                <a:off x="3515650" y="3036475"/>
                <a:ext cx="1488900" cy="9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25" name="Google Shape;1425;p92"/>
              <p:cNvCxnSpPr/>
              <p:nvPr/>
            </p:nvCxnSpPr>
            <p:spPr>
              <a:xfrm>
                <a:off x="3464146" y="3462767"/>
                <a:ext cx="1488900" cy="9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26" name="Google Shape;1426;p92"/>
              <p:cNvCxnSpPr/>
              <p:nvPr/>
            </p:nvCxnSpPr>
            <p:spPr>
              <a:xfrm>
                <a:off x="3515650" y="3889058"/>
                <a:ext cx="1488900" cy="9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27" name="Google Shape;1427;p92"/>
              <p:cNvCxnSpPr/>
              <p:nvPr/>
            </p:nvCxnSpPr>
            <p:spPr>
              <a:xfrm>
                <a:off x="3522150" y="4315350"/>
                <a:ext cx="1488900" cy="9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428" name="Google Shape;1428;p92"/>
              <p:cNvSpPr/>
              <p:nvPr/>
            </p:nvSpPr>
            <p:spPr>
              <a:xfrm>
                <a:off x="3390643" y="2740691"/>
                <a:ext cx="1687875" cy="1762675"/>
              </a:xfrm>
              <a:custGeom>
                <a:rect b="b" l="l" r="r" t="t"/>
                <a:pathLst>
                  <a:path extrusionOk="0" h="70507" w="67515">
                    <a:moveTo>
                      <a:pt x="4630" y="4063"/>
                    </a:moveTo>
                    <a:cubicBezTo>
                      <a:pt x="4223" y="9349"/>
                      <a:pt x="5670" y="14770"/>
                      <a:pt x="4630" y="19969"/>
                    </a:cubicBezTo>
                    <a:cubicBezTo>
                      <a:pt x="3893" y="23652"/>
                      <a:pt x="657" y="26599"/>
                      <a:pt x="191" y="30326"/>
                    </a:cubicBezTo>
                    <a:cubicBezTo>
                      <a:pt x="-574" y="36445"/>
                      <a:pt x="2680" y="42405"/>
                      <a:pt x="3890" y="48452"/>
                    </a:cubicBezTo>
                    <a:cubicBezTo>
                      <a:pt x="5126" y="54629"/>
                      <a:pt x="1065" y="62398"/>
                      <a:pt x="5000" y="67317"/>
                    </a:cubicBezTo>
                    <a:cubicBezTo>
                      <a:pt x="7465" y="70398"/>
                      <a:pt x="12922" y="67807"/>
                      <a:pt x="16837" y="67317"/>
                    </a:cubicBezTo>
                    <a:cubicBezTo>
                      <a:pt x="22221" y="66644"/>
                      <a:pt x="27686" y="67687"/>
                      <a:pt x="33112" y="67687"/>
                    </a:cubicBezTo>
                    <a:cubicBezTo>
                      <a:pt x="43719" y="67687"/>
                      <a:pt x="57424" y="74447"/>
                      <a:pt x="64924" y="66947"/>
                    </a:cubicBezTo>
                    <a:cubicBezTo>
                      <a:pt x="71124" y="60747"/>
                      <a:pt x="64172" y="49422"/>
                      <a:pt x="63444" y="40684"/>
                    </a:cubicBezTo>
                    <a:cubicBezTo>
                      <a:pt x="62348" y="27531"/>
                      <a:pt x="68238" y="12909"/>
                      <a:pt x="62335" y="1104"/>
                    </a:cubicBezTo>
                    <a:cubicBezTo>
                      <a:pt x="60939" y="-1688"/>
                      <a:pt x="56116" y="1828"/>
                      <a:pt x="53087" y="2584"/>
                    </a:cubicBezTo>
                    <a:cubicBezTo>
                      <a:pt x="45527" y="4472"/>
                      <a:pt x="37343" y="2542"/>
                      <a:pt x="29783" y="4433"/>
                    </a:cubicBezTo>
                    <a:cubicBezTo>
                      <a:pt x="21769" y="6437"/>
                      <a:pt x="5000" y="-3828"/>
                      <a:pt x="5000" y="4433"/>
                    </a:cubicBezTo>
                  </a:path>
                </a:pathLst>
              </a:custGeom>
              <a:noFill/>
              <a:ln cap="flat" cmpd="sng" w="38100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</p:grpSp>
        <p:pic>
          <p:nvPicPr>
            <p:cNvPr descr="&lt;math xmlns=&quot;http://www.w3.org/1998/Math/MathML&quot; display=&quot;block&quot; data-is-equatio=&quot;1&quot; data-latex=&quot;\begin{array}{l}\frac{3}{4}\end{array}&quot;&gt;&lt;mtable columnalign=&quot;left&quot; columnspacing=&quot;1em&quot; rowspacing=&quot;4pt&quot;&gt;&lt;mtr&gt;&lt;mtd&gt;&lt;mfrac&gt;&lt;mn&gt;3&lt;/mn&gt;&lt;mn&gt;4&lt;/mn&gt;&lt;/mfrac&gt;&lt;/mtd&gt;&lt;/mtr&gt;&lt;/mtable&gt;&lt;/math&gt;" id="1429" name="Google Shape;1429;p92" title="1 lines Line 1: three fourths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2458083" y="2352175"/>
              <a:ext cx="167358" cy="4617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12\ \frac{2}{5}&quot;&gt;&lt;mn&gt;12&lt;/mn&gt;&lt;mtext&gt;&lt;/mtext&gt;&lt;mfrac&gt;&lt;mn&gt;2&lt;/mn&gt;&lt;mn&gt;5&lt;/mn&gt;&lt;/mfrac&gt;&lt;/math&gt;" id="1430" name="Google Shape;1430;p92" title="12 two fifths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2531038" y="2820742"/>
              <a:ext cx="441850" cy="48495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31" name="Google Shape;1431;p92"/>
            <p:cNvSpPr txBox="1"/>
            <p:nvPr/>
          </p:nvSpPr>
          <p:spPr>
            <a:xfrm>
              <a:off x="1575899" y="2437600"/>
              <a:ext cx="8613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Width 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32" name="Google Shape;1432;p92"/>
            <p:cNvSpPr txBox="1"/>
            <p:nvPr/>
          </p:nvSpPr>
          <p:spPr>
            <a:xfrm>
              <a:off x="1602502" y="2831475"/>
              <a:ext cx="10437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Length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433" name="Google Shape;1433;p92"/>
          <p:cNvGrpSpPr/>
          <p:nvPr/>
        </p:nvGrpSpPr>
        <p:grpSpPr>
          <a:xfrm>
            <a:off x="2218075" y="2285200"/>
            <a:ext cx="1697000" cy="855575"/>
            <a:chOff x="2218075" y="2285200"/>
            <a:chExt cx="1697000" cy="855575"/>
          </a:xfrm>
        </p:grpSpPr>
        <p:sp>
          <p:nvSpPr>
            <p:cNvPr id="1434" name="Google Shape;1434;p92"/>
            <p:cNvSpPr txBox="1"/>
            <p:nvPr/>
          </p:nvSpPr>
          <p:spPr>
            <a:xfrm>
              <a:off x="2552475" y="2679075"/>
              <a:ext cx="13626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of  metre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35" name="Google Shape;1435;p92"/>
            <p:cNvSpPr txBox="1"/>
            <p:nvPr/>
          </p:nvSpPr>
          <p:spPr>
            <a:xfrm>
              <a:off x="2218075" y="2285200"/>
              <a:ext cx="15291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of a metre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9" name="Shape 1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0" name="Google Shape;1440;p93"/>
          <p:cNvSpPr txBox="1"/>
          <p:nvPr>
            <p:ph idx="1" type="body"/>
          </p:nvPr>
        </p:nvSpPr>
        <p:spPr>
          <a:xfrm>
            <a:off x="324000" y="759300"/>
            <a:ext cx="8536800" cy="40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How many metres of ribbon will Laura need for this cushion?</a:t>
            </a:r>
            <a:endParaRPr/>
          </a:p>
        </p:txBody>
      </p:sp>
      <p:sp>
        <p:nvSpPr>
          <p:cNvPr id="1441" name="Google Shape;1441;p9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Solving problems with fractions and decimals</a:t>
            </a:r>
            <a:endParaRPr/>
          </a:p>
        </p:txBody>
      </p:sp>
      <p:pic>
        <p:nvPicPr>
          <p:cNvPr id="1442" name="Google Shape;1442;p9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25050" y="1619988"/>
            <a:ext cx="2617250" cy="7608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43" name="Google Shape;1443;p93"/>
          <p:cNvCxnSpPr/>
          <p:nvPr/>
        </p:nvCxnSpPr>
        <p:spPr>
          <a:xfrm flipH="1" rot="10800000">
            <a:off x="6048850" y="1467625"/>
            <a:ext cx="1308600" cy="3804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444" name="Google Shape;1444;p93"/>
          <p:cNvCxnSpPr/>
          <p:nvPr/>
        </p:nvCxnSpPr>
        <p:spPr>
          <a:xfrm rot="10800000">
            <a:off x="5935400" y="2076575"/>
            <a:ext cx="1110600" cy="4350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445" name="Google Shape;1445;p93"/>
          <p:cNvSpPr txBox="1"/>
          <p:nvPr/>
        </p:nvSpPr>
        <p:spPr>
          <a:xfrm>
            <a:off x="5797225" y="1202962"/>
            <a:ext cx="1215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1.24 m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446" name="Google Shape;1446;p93"/>
          <p:cNvGrpSpPr/>
          <p:nvPr/>
        </p:nvGrpSpPr>
        <p:grpSpPr>
          <a:xfrm>
            <a:off x="6141850" y="2302200"/>
            <a:ext cx="574225" cy="613500"/>
            <a:chOff x="3093850" y="4054800"/>
            <a:chExt cx="574225" cy="613500"/>
          </a:xfrm>
        </p:grpSpPr>
        <p:pic>
          <p:nvPicPr>
            <p:cNvPr descr="&lt;math xmlns=&quot;http://www.w3.org/1998/Math/MathML&quot; display=&quot;block&quot; data-is-equatio=&quot;1&quot; data-latex=&quot;\frac{4}{5}&quot;&gt;&lt;mfrac&gt;&lt;mn&gt;4&lt;/mn&gt;&lt;mn&gt;5&lt;/mn&gt;&lt;/mfrac&gt;&lt;/math&gt;" id="1447" name="Google Shape;1447;p93" title="four fifths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3093850" y="4054800"/>
              <a:ext cx="189463" cy="613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48" name="Google Shape;1448;p93"/>
            <p:cNvSpPr txBox="1"/>
            <p:nvPr/>
          </p:nvSpPr>
          <p:spPr>
            <a:xfrm>
              <a:off x="3268175" y="4099950"/>
              <a:ext cx="3999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m</a:t>
              </a:r>
              <a:endPara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449" name="Google Shape;1449;p93"/>
          <p:cNvSpPr txBox="1"/>
          <p:nvPr/>
        </p:nvSpPr>
        <p:spPr>
          <a:xfrm>
            <a:off x="392550" y="2760900"/>
            <a:ext cx="70665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  is 0.8 m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Length of ribbon needed = 2(0.8 + 1.24) = 4.08 metres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4}{5}&quot;&gt;&lt;mfrac&gt;&lt;mn&gt;4&lt;/mn&gt;&lt;mn&gt;5&lt;/mn&gt;&lt;/mfrac&gt;&lt;/math&gt;" id="1450" name="Google Shape;1450;p93" title="four fif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3050" y="2759400"/>
            <a:ext cx="189463" cy="61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4" name="Shape 1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5" name="Google Shape;1455;p94"/>
          <p:cNvSpPr txBox="1"/>
          <p:nvPr>
            <p:ph idx="1" type="body"/>
          </p:nvPr>
        </p:nvSpPr>
        <p:spPr>
          <a:xfrm>
            <a:off x="324000" y="683100"/>
            <a:ext cx="8237700" cy="75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/>
            </a:pPr>
            <a:r>
              <a:rPr lang="en-GB"/>
              <a:t>Work out the length of </a:t>
            </a:r>
            <a:r>
              <a:rPr lang="en-GB"/>
              <a:t>ribbon</a:t>
            </a:r>
            <a:r>
              <a:rPr lang="en-GB"/>
              <a:t> needed for cushions with these dimensions. (All </a:t>
            </a:r>
            <a:r>
              <a:rPr lang="en-GB"/>
              <a:t>dimensions</a:t>
            </a:r>
            <a:r>
              <a:rPr lang="en-GB"/>
              <a:t> are in metres)</a:t>
            </a:r>
            <a:endParaRPr/>
          </a:p>
        </p:txBody>
      </p:sp>
      <p:sp>
        <p:nvSpPr>
          <p:cNvPr id="1456" name="Google Shape;1456;p9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Solving problems with fractions and decimals</a:t>
            </a:r>
            <a:endParaRPr/>
          </a:p>
        </p:txBody>
      </p:sp>
      <p:graphicFrame>
        <p:nvGraphicFramePr>
          <p:cNvPr id="1457" name="Google Shape;1457;p94"/>
          <p:cNvGraphicFramePr/>
          <p:nvPr/>
        </p:nvGraphicFramePr>
        <p:xfrm>
          <a:off x="400200" y="1466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{A7CC2746-61C6-44BA-9070-86C15AEFFE48}</a:tableStyleId>
              </a:tblPr>
              <a:tblGrid>
                <a:gridCol w="1086625"/>
                <a:gridCol w="1276275"/>
                <a:gridCol w="1403550"/>
                <a:gridCol w="2750225"/>
                <a:gridCol w="1550625"/>
              </a:tblGrid>
              <a:tr h="986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Width</a:t>
                      </a:r>
                      <a:endParaRPr b="1"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Length</a:t>
                      </a:r>
                      <a:endParaRPr b="1"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Converted length / width </a:t>
                      </a:r>
                      <a:endParaRPr b="1"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Calculation</a:t>
                      </a:r>
                      <a:endParaRPr b="1"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Length needed</a:t>
                      </a:r>
                      <a:endParaRPr b="1"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solidFill>
                      <a:schemeClr val="accent2"/>
                    </a:solidFill>
                  </a:tcPr>
                </a:tc>
              </a:tr>
              <a:tr h="45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0.64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/>
                </a:tc>
              </a:tr>
              <a:tr h="45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1.38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/>
                </a:tc>
              </a:tr>
              <a:tr h="45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0.15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/>
                </a:tc>
              </a:tr>
              <a:tr h="45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1.07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/>
                </a:tc>
              </a:tr>
              <a:tr h="45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0.97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/>
                </a:tc>
              </a:tr>
            </a:tbl>
          </a:graphicData>
        </a:graphic>
      </p:graphicFrame>
      <p:pic>
        <p:nvPicPr>
          <p:cNvPr descr="&lt;math xmlns=&quot;http://www.w3.org/1998/Math/MathML&quot; display=&quot;block&quot; data-is-equatio=&quot;1&quot; data-latex=&quot;\frac{7}{8}&quot;&gt;&lt;mfrac&gt;&lt;mn&gt;7&lt;/mn&gt;&lt;mn&gt;8&lt;/mn&gt;&lt;/mfrac&gt;&lt;/math&gt;" id="1458" name="Google Shape;1458;p94" title="seven eigh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8874" y="4320010"/>
            <a:ext cx="127851" cy="42312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5}&quot;&gt;&lt;mfrac&gt;&lt;mn&gt;3&lt;/mn&gt;&lt;mn&gt;5&lt;/mn&gt;&lt;/mfrac&gt;&lt;/math&gt;" id="1459" name="Google Shape;1459;p94" title="three fif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01394" y="2911405"/>
            <a:ext cx="127851" cy="4109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25}&quot;&gt;&lt;mfrac&gt;&lt;mn&gt;3&lt;/mn&gt;&lt;mn&gt;25&lt;/mn&gt;&lt;/mfrac&gt;&lt;/math&gt;" id="1460" name="Google Shape;1460;p94" title="3 over 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952697" y="3382002"/>
            <a:ext cx="225255" cy="41093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7}{20}&quot;&gt;&lt;mfrac&gt;&lt;mn&gt;7&lt;/mn&gt;&lt;mn&gt;20&lt;/mn&gt;&lt;/mfrac&gt;&lt;/math&gt;" id="1461" name="Google Shape;1461;p94" title="7 over 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97135" y="3827789"/>
            <a:ext cx="231343" cy="4231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9}{20}&quot;&gt;&lt;mfrac&gt;&lt;mn&gt;9&lt;/mn&gt;&lt;mn&gt;20&lt;/mn&gt;&lt;/mfrac&gt;&lt;/math&gt;" id="1462" name="Google Shape;1462;p94" title="9 over 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981286" y="2505332"/>
            <a:ext cx="181937" cy="33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6" name="Shape 1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7" name="Google Shape;1467;p95"/>
          <p:cNvPicPr preferRelativeResize="0"/>
          <p:nvPr/>
        </p:nvPicPr>
        <p:blipFill rotWithShape="1">
          <a:blip r:embed="rId3">
            <a:alphaModFix/>
          </a:blip>
          <a:srcRect b="0" l="0" r="0" t="5829"/>
          <a:stretch/>
        </p:blipFill>
        <p:spPr>
          <a:xfrm>
            <a:off x="328200" y="3967825"/>
            <a:ext cx="7901126" cy="844375"/>
          </a:xfrm>
          <a:prstGeom prst="rect">
            <a:avLst/>
          </a:prstGeom>
          <a:noFill/>
          <a:ln>
            <a:noFill/>
          </a:ln>
        </p:spPr>
      </p:pic>
      <p:sp>
        <p:nvSpPr>
          <p:cNvPr id="1468" name="Google Shape;1468;p95"/>
          <p:cNvSpPr txBox="1"/>
          <p:nvPr>
            <p:ph idx="1" type="body"/>
          </p:nvPr>
        </p:nvSpPr>
        <p:spPr>
          <a:xfrm>
            <a:off x="324000" y="606900"/>
            <a:ext cx="8237700" cy="38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2)   A stopwatch measures time in minutes and seconds:</a:t>
            </a:r>
            <a:endParaRPr sz="2000"/>
          </a:p>
        </p:txBody>
      </p:sp>
      <p:sp>
        <p:nvSpPr>
          <p:cNvPr id="1469" name="Google Shape;1469;p9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Solving problems with fractions and decimals</a:t>
            </a:r>
            <a:endParaRPr/>
          </a:p>
        </p:txBody>
      </p:sp>
      <p:grpSp>
        <p:nvGrpSpPr>
          <p:cNvPr id="1470" name="Google Shape;1470;p95"/>
          <p:cNvGrpSpPr/>
          <p:nvPr/>
        </p:nvGrpSpPr>
        <p:grpSpPr>
          <a:xfrm>
            <a:off x="765088" y="1124120"/>
            <a:ext cx="1854438" cy="575996"/>
            <a:chOff x="334351" y="963160"/>
            <a:chExt cx="2295381" cy="776275"/>
          </a:xfrm>
        </p:grpSpPr>
        <p:pic>
          <p:nvPicPr>
            <p:cNvPr id="1471" name="Google Shape;1471;p95"/>
            <p:cNvPicPr preferRelativeResize="0"/>
            <p:nvPr/>
          </p:nvPicPr>
          <p:blipFill rotWithShape="1">
            <a:blip r:embed="rId4">
              <a:alphaModFix/>
            </a:blip>
            <a:srcRect b="86106" l="0" r="57452" t="0"/>
            <a:stretch/>
          </p:blipFill>
          <p:spPr>
            <a:xfrm>
              <a:off x="428132" y="963160"/>
              <a:ext cx="368025" cy="1047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72" name="Google Shape;1472;p95"/>
            <p:cNvPicPr preferRelativeResize="0"/>
            <p:nvPr/>
          </p:nvPicPr>
          <p:blipFill rotWithShape="1">
            <a:blip r:embed="rId4">
              <a:alphaModFix/>
            </a:blip>
            <a:srcRect b="40626" l="0" r="57452" t="41687"/>
            <a:stretch/>
          </p:blipFill>
          <p:spPr>
            <a:xfrm>
              <a:off x="428132" y="1277460"/>
              <a:ext cx="368025" cy="1333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73" name="Google Shape;1473;p95"/>
            <p:cNvPicPr preferRelativeResize="0"/>
            <p:nvPr/>
          </p:nvPicPr>
          <p:blipFill rotWithShape="1">
            <a:blip r:embed="rId4">
              <a:alphaModFix/>
            </a:blip>
            <a:srcRect b="-2964" l="0" r="57452" t="85277"/>
            <a:stretch/>
          </p:blipFill>
          <p:spPr>
            <a:xfrm>
              <a:off x="428132" y="1606085"/>
              <a:ext cx="368025" cy="1333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74" name="Google Shape;1474;p95"/>
            <p:cNvPicPr preferRelativeResize="0"/>
            <p:nvPr/>
          </p:nvPicPr>
          <p:blipFill rotWithShape="1">
            <a:blip r:embed="rId4">
              <a:alphaModFix/>
            </a:blip>
            <a:srcRect b="0" l="46951" r="35979" t="49266"/>
            <a:stretch/>
          </p:blipFill>
          <p:spPr>
            <a:xfrm>
              <a:off x="334351" y="1334610"/>
              <a:ext cx="147650" cy="3824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75" name="Google Shape;1475;p95"/>
            <p:cNvPicPr preferRelativeResize="0"/>
            <p:nvPr/>
          </p:nvPicPr>
          <p:blipFill rotWithShape="1">
            <a:blip r:embed="rId4">
              <a:alphaModFix/>
            </a:blip>
            <a:srcRect b="49266" l="87144" r="-4214" t="0"/>
            <a:stretch/>
          </p:blipFill>
          <p:spPr>
            <a:xfrm>
              <a:off x="729482" y="963160"/>
              <a:ext cx="147650" cy="3824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76" name="Google Shape;1476;p95"/>
            <p:cNvPicPr preferRelativeResize="0"/>
            <p:nvPr/>
          </p:nvPicPr>
          <p:blipFill rotWithShape="1">
            <a:blip r:embed="rId4">
              <a:alphaModFix/>
            </a:blip>
            <a:srcRect b="86106" l="0" r="57452" t="0"/>
            <a:stretch/>
          </p:blipFill>
          <p:spPr>
            <a:xfrm>
              <a:off x="961532" y="963160"/>
              <a:ext cx="368025" cy="1047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77" name="Google Shape;1477;p95"/>
            <p:cNvPicPr preferRelativeResize="0"/>
            <p:nvPr/>
          </p:nvPicPr>
          <p:blipFill rotWithShape="1">
            <a:blip r:embed="rId4">
              <a:alphaModFix/>
            </a:blip>
            <a:srcRect b="49266" l="46951" r="35979" t="0"/>
            <a:stretch/>
          </p:blipFill>
          <p:spPr>
            <a:xfrm>
              <a:off x="867751" y="963160"/>
              <a:ext cx="147650" cy="3824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78" name="Google Shape;1478;p95"/>
            <p:cNvPicPr preferRelativeResize="0"/>
            <p:nvPr/>
          </p:nvPicPr>
          <p:blipFill rotWithShape="1">
            <a:blip r:embed="rId4">
              <a:alphaModFix/>
            </a:blip>
            <a:srcRect b="0" l="87144" r="-4214" t="49266"/>
            <a:stretch/>
          </p:blipFill>
          <p:spPr>
            <a:xfrm>
              <a:off x="1262882" y="1334610"/>
              <a:ext cx="147650" cy="3824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79" name="Google Shape;1479;p95"/>
            <p:cNvPicPr preferRelativeResize="0"/>
            <p:nvPr/>
          </p:nvPicPr>
          <p:blipFill rotWithShape="1">
            <a:blip r:embed="rId4">
              <a:alphaModFix/>
            </a:blip>
            <a:srcRect b="-2964" l="0" r="57452" t="85277"/>
            <a:stretch/>
          </p:blipFill>
          <p:spPr>
            <a:xfrm>
              <a:off x="961532" y="1606085"/>
              <a:ext cx="368025" cy="1333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80" name="Google Shape;1480;p95"/>
            <p:cNvPicPr preferRelativeResize="0"/>
            <p:nvPr/>
          </p:nvPicPr>
          <p:blipFill rotWithShape="1">
            <a:blip r:embed="rId4">
              <a:alphaModFix/>
            </a:blip>
            <a:srcRect b="0" l="46951" r="35979" t="49266"/>
            <a:stretch/>
          </p:blipFill>
          <p:spPr>
            <a:xfrm>
              <a:off x="867751" y="1334610"/>
              <a:ext cx="147650" cy="3824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81" name="Google Shape;1481;p95"/>
            <p:cNvPicPr preferRelativeResize="0"/>
            <p:nvPr/>
          </p:nvPicPr>
          <p:blipFill rotWithShape="1">
            <a:blip r:embed="rId4">
              <a:alphaModFix/>
            </a:blip>
            <a:srcRect b="49266" l="87144" r="-4214" t="0"/>
            <a:stretch/>
          </p:blipFill>
          <p:spPr>
            <a:xfrm>
              <a:off x="1262882" y="963160"/>
              <a:ext cx="147650" cy="3824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82" name="Google Shape;1482;p95"/>
            <p:cNvPicPr preferRelativeResize="0"/>
            <p:nvPr/>
          </p:nvPicPr>
          <p:blipFill rotWithShape="1">
            <a:blip r:embed="rId4">
              <a:alphaModFix/>
            </a:blip>
            <a:srcRect b="86106" l="0" r="57452" t="0"/>
            <a:stretch/>
          </p:blipFill>
          <p:spPr>
            <a:xfrm>
              <a:off x="1647332" y="963160"/>
              <a:ext cx="368025" cy="1047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83" name="Google Shape;1483;p95"/>
            <p:cNvPicPr preferRelativeResize="0"/>
            <p:nvPr/>
          </p:nvPicPr>
          <p:blipFill rotWithShape="1">
            <a:blip r:embed="rId4">
              <a:alphaModFix/>
            </a:blip>
            <a:srcRect b="49266" l="46951" r="35979" t="0"/>
            <a:stretch/>
          </p:blipFill>
          <p:spPr>
            <a:xfrm>
              <a:off x="1553551" y="963160"/>
              <a:ext cx="147650" cy="3824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84" name="Google Shape;1484;p95"/>
            <p:cNvPicPr preferRelativeResize="0"/>
            <p:nvPr/>
          </p:nvPicPr>
          <p:blipFill rotWithShape="1">
            <a:blip r:embed="rId4">
              <a:alphaModFix/>
            </a:blip>
            <a:srcRect b="0" l="87144" r="-4214" t="49266"/>
            <a:stretch/>
          </p:blipFill>
          <p:spPr>
            <a:xfrm>
              <a:off x="1948682" y="1334610"/>
              <a:ext cx="147650" cy="3824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85" name="Google Shape;1485;p95"/>
            <p:cNvPicPr preferRelativeResize="0"/>
            <p:nvPr/>
          </p:nvPicPr>
          <p:blipFill rotWithShape="1">
            <a:blip r:embed="rId4">
              <a:alphaModFix/>
            </a:blip>
            <a:srcRect b="40626" l="0" r="57452" t="41687"/>
            <a:stretch/>
          </p:blipFill>
          <p:spPr>
            <a:xfrm>
              <a:off x="1647332" y="1277460"/>
              <a:ext cx="368025" cy="1333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86" name="Google Shape;1486;p95"/>
            <p:cNvPicPr preferRelativeResize="0"/>
            <p:nvPr/>
          </p:nvPicPr>
          <p:blipFill rotWithShape="1">
            <a:blip r:embed="rId4">
              <a:alphaModFix/>
            </a:blip>
            <a:srcRect b="-2964" l="0" r="57452" t="85277"/>
            <a:stretch/>
          </p:blipFill>
          <p:spPr>
            <a:xfrm>
              <a:off x="1647332" y="1606085"/>
              <a:ext cx="368025" cy="1333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87" name="Google Shape;1487;p95"/>
            <p:cNvPicPr preferRelativeResize="0"/>
            <p:nvPr/>
          </p:nvPicPr>
          <p:blipFill rotWithShape="1">
            <a:blip r:embed="rId4">
              <a:alphaModFix/>
            </a:blip>
            <a:srcRect b="86106" l="0" r="57452" t="0"/>
            <a:stretch/>
          </p:blipFill>
          <p:spPr>
            <a:xfrm>
              <a:off x="2180732" y="963160"/>
              <a:ext cx="368025" cy="1047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88" name="Google Shape;1488;p95"/>
            <p:cNvPicPr preferRelativeResize="0"/>
            <p:nvPr/>
          </p:nvPicPr>
          <p:blipFill rotWithShape="1">
            <a:blip r:embed="rId4">
              <a:alphaModFix/>
            </a:blip>
            <a:srcRect b="49266" l="46951" r="35979" t="0"/>
            <a:stretch/>
          </p:blipFill>
          <p:spPr>
            <a:xfrm>
              <a:off x="2086951" y="963160"/>
              <a:ext cx="147650" cy="3824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89" name="Google Shape;1489;p95"/>
            <p:cNvPicPr preferRelativeResize="0"/>
            <p:nvPr/>
          </p:nvPicPr>
          <p:blipFill rotWithShape="1">
            <a:blip r:embed="rId4">
              <a:alphaModFix/>
            </a:blip>
            <a:srcRect b="0" l="87144" r="-4214" t="49266"/>
            <a:stretch/>
          </p:blipFill>
          <p:spPr>
            <a:xfrm>
              <a:off x="2482082" y="1334610"/>
              <a:ext cx="147650" cy="3824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90" name="Google Shape;1490;p95"/>
            <p:cNvPicPr preferRelativeResize="0"/>
            <p:nvPr/>
          </p:nvPicPr>
          <p:blipFill rotWithShape="1">
            <a:blip r:embed="rId4">
              <a:alphaModFix/>
            </a:blip>
            <a:srcRect b="-2964" l="0" r="57452" t="85277"/>
            <a:stretch/>
          </p:blipFill>
          <p:spPr>
            <a:xfrm>
              <a:off x="2180732" y="1606085"/>
              <a:ext cx="368025" cy="1333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91" name="Google Shape;1491;p95"/>
            <p:cNvPicPr preferRelativeResize="0"/>
            <p:nvPr/>
          </p:nvPicPr>
          <p:blipFill rotWithShape="1">
            <a:blip r:embed="rId4">
              <a:alphaModFix/>
            </a:blip>
            <a:srcRect b="0" l="46951" r="35979" t="49266"/>
            <a:stretch/>
          </p:blipFill>
          <p:spPr>
            <a:xfrm>
              <a:off x="2086951" y="1334610"/>
              <a:ext cx="147650" cy="3824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92" name="Google Shape;1492;p95"/>
            <p:cNvPicPr preferRelativeResize="0"/>
            <p:nvPr/>
          </p:nvPicPr>
          <p:blipFill rotWithShape="1">
            <a:blip r:embed="rId4">
              <a:alphaModFix/>
            </a:blip>
            <a:srcRect b="49266" l="87144" r="-4214" t="0"/>
            <a:stretch/>
          </p:blipFill>
          <p:spPr>
            <a:xfrm>
              <a:off x="2482082" y="963160"/>
              <a:ext cx="147650" cy="3824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93" name="Google Shape;1493;p95"/>
            <p:cNvSpPr/>
            <p:nvPr/>
          </p:nvSpPr>
          <p:spPr>
            <a:xfrm>
              <a:off x="1429695" y="1137181"/>
              <a:ext cx="104700" cy="104700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4" name="Google Shape;1494;p95"/>
            <p:cNvSpPr/>
            <p:nvPr/>
          </p:nvSpPr>
          <p:spPr>
            <a:xfrm>
              <a:off x="1429695" y="1441981"/>
              <a:ext cx="104700" cy="104700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95" name="Google Shape;1495;p95"/>
          <p:cNvGrpSpPr/>
          <p:nvPr/>
        </p:nvGrpSpPr>
        <p:grpSpPr>
          <a:xfrm>
            <a:off x="783486" y="2100314"/>
            <a:ext cx="1808072" cy="575996"/>
            <a:chOff x="334363" y="1934710"/>
            <a:chExt cx="2295381" cy="776275"/>
          </a:xfrm>
        </p:grpSpPr>
        <p:pic>
          <p:nvPicPr>
            <p:cNvPr id="1496" name="Google Shape;1496;p95"/>
            <p:cNvPicPr preferRelativeResize="0"/>
            <p:nvPr/>
          </p:nvPicPr>
          <p:blipFill rotWithShape="1">
            <a:blip r:embed="rId4">
              <a:alphaModFix/>
            </a:blip>
            <a:srcRect b="86106" l="0" r="57452" t="0"/>
            <a:stretch/>
          </p:blipFill>
          <p:spPr>
            <a:xfrm>
              <a:off x="428145" y="1934710"/>
              <a:ext cx="368025" cy="1047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97" name="Google Shape;1497;p95"/>
            <p:cNvPicPr preferRelativeResize="0"/>
            <p:nvPr/>
          </p:nvPicPr>
          <p:blipFill rotWithShape="1">
            <a:blip r:embed="rId4">
              <a:alphaModFix/>
            </a:blip>
            <a:srcRect b="40626" l="0" r="57452" t="41687"/>
            <a:stretch/>
          </p:blipFill>
          <p:spPr>
            <a:xfrm>
              <a:off x="428145" y="2249010"/>
              <a:ext cx="368025" cy="1333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98" name="Google Shape;1498;p95"/>
            <p:cNvPicPr preferRelativeResize="0"/>
            <p:nvPr/>
          </p:nvPicPr>
          <p:blipFill rotWithShape="1">
            <a:blip r:embed="rId4">
              <a:alphaModFix/>
            </a:blip>
            <a:srcRect b="-2964" l="0" r="57452" t="85277"/>
            <a:stretch/>
          </p:blipFill>
          <p:spPr>
            <a:xfrm>
              <a:off x="428145" y="2577635"/>
              <a:ext cx="368025" cy="1333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99" name="Google Shape;1499;p95"/>
            <p:cNvPicPr preferRelativeResize="0"/>
            <p:nvPr/>
          </p:nvPicPr>
          <p:blipFill rotWithShape="1">
            <a:blip r:embed="rId4">
              <a:alphaModFix/>
            </a:blip>
            <a:srcRect b="0" l="46951" r="35979" t="49266"/>
            <a:stretch/>
          </p:blipFill>
          <p:spPr>
            <a:xfrm>
              <a:off x="334363" y="2306160"/>
              <a:ext cx="147650" cy="3824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00" name="Google Shape;1500;p95"/>
            <p:cNvPicPr preferRelativeResize="0"/>
            <p:nvPr/>
          </p:nvPicPr>
          <p:blipFill rotWithShape="1">
            <a:blip r:embed="rId4">
              <a:alphaModFix/>
            </a:blip>
            <a:srcRect b="49266" l="87144" r="-4214" t="0"/>
            <a:stretch/>
          </p:blipFill>
          <p:spPr>
            <a:xfrm>
              <a:off x="729495" y="1934710"/>
              <a:ext cx="147650" cy="3824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01" name="Google Shape;1501;p95"/>
            <p:cNvPicPr preferRelativeResize="0"/>
            <p:nvPr/>
          </p:nvPicPr>
          <p:blipFill rotWithShape="1">
            <a:blip r:embed="rId4">
              <a:alphaModFix/>
            </a:blip>
            <a:srcRect b="86106" l="0" r="57452" t="0"/>
            <a:stretch/>
          </p:blipFill>
          <p:spPr>
            <a:xfrm>
              <a:off x="961545" y="1934710"/>
              <a:ext cx="368025" cy="1047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02" name="Google Shape;1502;p95"/>
            <p:cNvPicPr preferRelativeResize="0"/>
            <p:nvPr/>
          </p:nvPicPr>
          <p:blipFill rotWithShape="1">
            <a:blip r:embed="rId4">
              <a:alphaModFix/>
            </a:blip>
            <a:srcRect b="49266" l="46951" r="35979" t="0"/>
            <a:stretch/>
          </p:blipFill>
          <p:spPr>
            <a:xfrm>
              <a:off x="867763" y="1934710"/>
              <a:ext cx="147650" cy="3824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03" name="Google Shape;1503;p95"/>
            <p:cNvPicPr preferRelativeResize="0"/>
            <p:nvPr/>
          </p:nvPicPr>
          <p:blipFill rotWithShape="1">
            <a:blip r:embed="rId4">
              <a:alphaModFix/>
            </a:blip>
            <a:srcRect b="0" l="87144" r="-4214" t="49266"/>
            <a:stretch/>
          </p:blipFill>
          <p:spPr>
            <a:xfrm>
              <a:off x="1262895" y="2306160"/>
              <a:ext cx="147650" cy="3824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04" name="Google Shape;1504;p95"/>
            <p:cNvPicPr preferRelativeResize="0"/>
            <p:nvPr/>
          </p:nvPicPr>
          <p:blipFill rotWithShape="1">
            <a:blip r:embed="rId4">
              <a:alphaModFix/>
            </a:blip>
            <a:srcRect b="-2964" l="0" r="57452" t="85277"/>
            <a:stretch/>
          </p:blipFill>
          <p:spPr>
            <a:xfrm>
              <a:off x="961545" y="2577635"/>
              <a:ext cx="368025" cy="1333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05" name="Google Shape;1505;p95"/>
            <p:cNvPicPr preferRelativeResize="0"/>
            <p:nvPr/>
          </p:nvPicPr>
          <p:blipFill rotWithShape="1">
            <a:blip r:embed="rId4">
              <a:alphaModFix/>
            </a:blip>
            <a:srcRect b="0" l="46951" r="35979" t="49266"/>
            <a:stretch/>
          </p:blipFill>
          <p:spPr>
            <a:xfrm>
              <a:off x="867763" y="2306160"/>
              <a:ext cx="147650" cy="3824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06" name="Google Shape;1506;p95"/>
            <p:cNvPicPr preferRelativeResize="0"/>
            <p:nvPr/>
          </p:nvPicPr>
          <p:blipFill rotWithShape="1">
            <a:blip r:embed="rId4">
              <a:alphaModFix/>
            </a:blip>
            <a:srcRect b="49266" l="87144" r="-4214" t="0"/>
            <a:stretch/>
          </p:blipFill>
          <p:spPr>
            <a:xfrm>
              <a:off x="1262895" y="1934710"/>
              <a:ext cx="147650" cy="3824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07" name="Google Shape;1507;p95"/>
            <p:cNvPicPr preferRelativeResize="0"/>
            <p:nvPr/>
          </p:nvPicPr>
          <p:blipFill rotWithShape="1">
            <a:blip r:embed="rId4">
              <a:alphaModFix/>
            </a:blip>
            <a:srcRect b="86106" l="0" r="57452" t="0"/>
            <a:stretch/>
          </p:blipFill>
          <p:spPr>
            <a:xfrm>
              <a:off x="1647345" y="1934710"/>
              <a:ext cx="368025" cy="1047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08" name="Google Shape;1508;p95"/>
            <p:cNvPicPr preferRelativeResize="0"/>
            <p:nvPr/>
          </p:nvPicPr>
          <p:blipFill rotWithShape="1">
            <a:blip r:embed="rId4">
              <a:alphaModFix/>
            </a:blip>
            <a:srcRect b="0" l="87144" r="-4214" t="49266"/>
            <a:stretch/>
          </p:blipFill>
          <p:spPr>
            <a:xfrm>
              <a:off x="1948695" y="2306160"/>
              <a:ext cx="147650" cy="3824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09" name="Google Shape;1509;p95"/>
            <p:cNvPicPr preferRelativeResize="0"/>
            <p:nvPr/>
          </p:nvPicPr>
          <p:blipFill rotWithShape="1">
            <a:blip r:embed="rId4">
              <a:alphaModFix/>
            </a:blip>
            <a:srcRect b="40626" l="0" r="57452" t="41687"/>
            <a:stretch/>
          </p:blipFill>
          <p:spPr>
            <a:xfrm>
              <a:off x="1647345" y="2249010"/>
              <a:ext cx="368025" cy="1333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10" name="Google Shape;1510;p95"/>
            <p:cNvPicPr preferRelativeResize="0"/>
            <p:nvPr/>
          </p:nvPicPr>
          <p:blipFill rotWithShape="1">
            <a:blip r:embed="rId4">
              <a:alphaModFix/>
            </a:blip>
            <a:srcRect b="-2964" l="0" r="57452" t="85277"/>
            <a:stretch/>
          </p:blipFill>
          <p:spPr>
            <a:xfrm>
              <a:off x="1647345" y="2577635"/>
              <a:ext cx="368025" cy="1333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11" name="Google Shape;1511;p95"/>
            <p:cNvPicPr preferRelativeResize="0"/>
            <p:nvPr/>
          </p:nvPicPr>
          <p:blipFill rotWithShape="1">
            <a:blip r:embed="rId4">
              <a:alphaModFix/>
            </a:blip>
            <a:srcRect b="49266" l="87144" r="-4214" t="0"/>
            <a:stretch/>
          </p:blipFill>
          <p:spPr>
            <a:xfrm>
              <a:off x="1948695" y="1934710"/>
              <a:ext cx="147650" cy="3824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12" name="Google Shape;1512;p95"/>
            <p:cNvPicPr preferRelativeResize="0"/>
            <p:nvPr/>
          </p:nvPicPr>
          <p:blipFill rotWithShape="1">
            <a:blip r:embed="rId4">
              <a:alphaModFix/>
            </a:blip>
            <a:srcRect b="86106" l="0" r="57452" t="0"/>
            <a:stretch/>
          </p:blipFill>
          <p:spPr>
            <a:xfrm>
              <a:off x="2180745" y="1934710"/>
              <a:ext cx="368025" cy="1047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13" name="Google Shape;1513;p95"/>
            <p:cNvPicPr preferRelativeResize="0"/>
            <p:nvPr/>
          </p:nvPicPr>
          <p:blipFill rotWithShape="1">
            <a:blip r:embed="rId4">
              <a:alphaModFix/>
            </a:blip>
            <a:srcRect b="49266" l="46951" r="35979" t="0"/>
            <a:stretch/>
          </p:blipFill>
          <p:spPr>
            <a:xfrm>
              <a:off x="2086963" y="1934710"/>
              <a:ext cx="147650" cy="3824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14" name="Google Shape;1514;p95"/>
            <p:cNvPicPr preferRelativeResize="0"/>
            <p:nvPr/>
          </p:nvPicPr>
          <p:blipFill rotWithShape="1">
            <a:blip r:embed="rId4">
              <a:alphaModFix/>
            </a:blip>
            <a:srcRect b="0" l="87144" r="-4214" t="49266"/>
            <a:stretch/>
          </p:blipFill>
          <p:spPr>
            <a:xfrm>
              <a:off x="2482095" y="2306160"/>
              <a:ext cx="147650" cy="3824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15" name="Google Shape;1515;p95"/>
            <p:cNvPicPr preferRelativeResize="0"/>
            <p:nvPr/>
          </p:nvPicPr>
          <p:blipFill rotWithShape="1">
            <a:blip r:embed="rId4">
              <a:alphaModFix/>
            </a:blip>
            <a:srcRect b="-2964" l="0" r="57452" t="85277"/>
            <a:stretch/>
          </p:blipFill>
          <p:spPr>
            <a:xfrm>
              <a:off x="2180745" y="2577635"/>
              <a:ext cx="368025" cy="1333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16" name="Google Shape;1516;p95"/>
            <p:cNvPicPr preferRelativeResize="0"/>
            <p:nvPr/>
          </p:nvPicPr>
          <p:blipFill rotWithShape="1">
            <a:blip r:embed="rId4">
              <a:alphaModFix/>
            </a:blip>
            <a:srcRect b="0" l="46951" r="35979" t="49266"/>
            <a:stretch/>
          </p:blipFill>
          <p:spPr>
            <a:xfrm>
              <a:off x="2086963" y="2306160"/>
              <a:ext cx="147650" cy="3824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17" name="Google Shape;1517;p95"/>
            <p:cNvPicPr preferRelativeResize="0"/>
            <p:nvPr/>
          </p:nvPicPr>
          <p:blipFill rotWithShape="1">
            <a:blip r:embed="rId4">
              <a:alphaModFix/>
            </a:blip>
            <a:srcRect b="49266" l="87144" r="-4214" t="0"/>
            <a:stretch/>
          </p:blipFill>
          <p:spPr>
            <a:xfrm>
              <a:off x="2482095" y="1934710"/>
              <a:ext cx="147650" cy="3824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18" name="Google Shape;1518;p95"/>
            <p:cNvSpPr/>
            <p:nvPr/>
          </p:nvSpPr>
          <p:spPr>
            <a:xfrm>
              <a:off x="1429707" y="2108731"/>
              <a:ext cx="104700" cy="104700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9" name="Google Shape;1519;p95"/>
            <p:cNvSpPr/>
            <p:nvPr/>
          </p:nvSpPr>
          <p:spPr>
            <a:xfrm>
              <a:off x="1429707" y="2413531"/>
              <a:ext cx="104700" cy="104700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20" name="Google Shape;1520;p95"/>
          <p:cNvSpPr txBox="1"/>
          <p:nvPr/>
        </p:nvSpPr>
        <p:spPr>
          <a:xfrm>
            <a:off x="2872475" y="1082275"/>
            <a:ext cx="47214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 Is this more or less than 20.5 minutes?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By how much?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1" name="Google Shape;1521;p95"/>
          <p:cNvSpPr txBox="1"/>
          <p:nvPr/>
        </p:nvSpPr>
        <p:spPr>
          <a:xfrm>
            <a:off x="2887200" y="2120025"/>
            <a:ext cx="47214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 Is this more or less than 20.3 minutes?   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By how much?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522" name="Google Shape;1522;p9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4000" y="2832425"/>
            <a:ext cx="4500000" cy="5400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3" name="Google Shape;1523;p95"/>
          <p:cNvPicPr preferRelativeResize="0"/>
          <p:nvPr/>
        </p:nvPicPr>
        <p:blipFill rotWithShape="1">
          <a:blip r:embed="rId6">
            <a:alphaModFix/>
          </a:blip>
          <a:srcRect b="0" l="0" r="0" t="5767"/>
          <a:stretch/>
        </p:blipFill>
        <p:spPr>
          <a:xfrm>
            <a:off x="324000" y="3448750"/>
            <a:ext cx="4293050" cy="564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7" name="Shape 1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8" name="Google Shape;1528;p96"/>
          <p:cNvSpPr txBox="1"/>
          <p:nvPr>
            <p:ph idx="1" type="body"/>
          </p:nvPr>
        </p:nvSpPr>
        <p:spPr>
          <a:xfrm>
            <a:off x="324000" y="676340"/>
            <a:ext cx="8237700" cy="70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/>
            </a:pPr>
            <a:r>
              <a:rPr lang="en-GB"/>
              <a:t>Work out the length of ribbon needed for cushions with these dimensions. (All dimensions are in metres)</a:t>
            </a:r>
            <a:endParaRPr/>
          </a:p>
        </p:txBody>
      </p:sp>
      <p:sp>
        <p:nvSpPr>
          <p:cNvPr id="1529" name="Google Shape;1529;p9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Solving problems with fractions and decimals</a:t>
            </a:r>
            <a:endParaRPr/>
          </a:p>
        </p:txBody>
      </p:sp>
      <p:graphicFrame>
        <p:nvGraphicFramePr>
          <p:cNvPr id="1530" name="Google Shape;1530;p96"/>
          <p:cNvGraphicFramePr/>
          <p:nvPr/>
        </p:nvGraphicFramePr>
        <p:xfrm>
          <a:off x="400200" y="1466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{A7CC2746-61C6-44BA-9070-86C15AEFFE48}</a:tableStyleId>
              </a:tblPr>
              <a:tblGrid>
                <a:gridCol w="1086625"/>
                <a:gridCol w="1276275"/>
                <a:gridCol w="1403550"/>
                <a:gridCol w="2750225"/>
                <a:gridCol w="1550625"/>
              </a:tblGrid>
              <a:tr h="986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Width</a:t>
                      </a:r>
                      <a:endParaRPr b="1"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Length</a:t>
                      </a:r>
                      <a:endParaRPr b="1"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Converted length / width </a:t>
                      </a:r>
                      <a:endParaRPr b="1"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Calculation</a:t>
                      </a:r>
                      <a:endParaRPr b="1"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Length needed</a:t>
                      </a:r>
                      <a:endParaRPr b="1"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solidFill>
                      <a:schemeClr val="accent2"/>
                    </a:solidFill>
                  </a:tcPr>
                </a:tc>
              </a:tr>
              <a:tr h="45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0.64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0.45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54000" marB="540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E.g. 2(0.64 + 0.45)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54000" marB="540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2.18 m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54000" marB="54000" marR="91425" marL="91425"/>
                </a:tc>
              </a:tr>
              <a:tr h="45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1.38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0.6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54000" marB="540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E.g. 2(1.38 + 0.6)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54000" marB="540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3.96 m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54000" marB="54000" marR="91425" marL="91425"/>
                </a:tc>
              </a:tr>
              <a:tr h="45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0.15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0.12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54000" marB="540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E.g. 2(0.15 + 0.12)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54000" marB="540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0.54 m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54000" marB="54000" marR="91425" marL="91425"/>
                </a:tc>
              </a:tr>
              <a:tr h="45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1.07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0.35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54000" marB="540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E.g. 2(0.35 + 1.07)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54000" marB="540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2.84 m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54000" marB="54000" marR="91425" marL="91425"/>
                </a:tc>
              </a:tr>
              <a:tr h="45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0.97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0.875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54000" marB="540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E.g. 2(0.875 + 0.97)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54000" marB="540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3.69 m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54000" marB="54000" marR="91425" marL="91425"/>
                </a:tc>
              </a:tr>
            </a:tbl>
          </a:graphicData>
        </a:graphic>
      </p:graphicFrame>
      <p:pic>
        <p:nvPicPr>
          <p:cNvPr descr="&lt;math xmlns=&quot;http://www.w3.org/1998/Math/MathML&quot; display=&quot;block&quot; data-is-equatio=&quot;1&quot; data-latex=&quot;\frac{7}{8}&quot;&gt;&lt;mfrac&gt;&lt;mn&gt;7&lt;/mn&gt;&lt;mn&gt;8&lt;/mn&gt;&lt;/mfrac&gt;&lt;/math&gt;" id="1531" name="Google Shape;1531;p96" title="seven eigh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8874" y="4320010"/>
            <a:ext cx="127851" cy="42312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5}&quot;&gt;&lt;mfrac&gt;&lt;mn&gt;3&lt;/mn&gt;&lt;mn&gt;5&lt;/mn&gt;&lt;/mfrac&gt;&lt;/math&gt;" id="1532" name="Google Shape;1532;p96" title="three fif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01394" y="2911405"/>
            <a:ext cx="127851" cy="4109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25}&quot;&gt;&lt;mfrac&gt;&lt;mn&gt;3&lt;/mn&gt;&lt;mn&gt;25&lt;/mn&gt;&lt;/mfrac&gt;&lt;/math&gt;" id="1533" name="Google Shape;1533;p96" title="3 over 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952697" y="3382002"/>
            <a:ext cx="225255" cy="41093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7}{20}&quot;&gt;&lt;mfrac&gt;&lt;mn&gt;7&lt;/mn&gt;&lt;mn&gt;20&lt;/mn&gt;&lt;/mfrac&gt;&lt;/math&gt;" id="1534" name="Google Shape;1534;p96" title="7 over 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97135" y="3827789"/>
            <a:ext cx="231343" cy="4231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9}{20}&quot;&gt;&lt;mfrac&gt;&lt;mn&gt;9&lt;/mn&gt;&lt;mn&gt;20&lt;/mn&gt;&lt;/mfrac&gt;&lt;/math&gt;" id="1535" name="Google Shape;1535;p96" title="9 over 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978828" y="2514550"/>
            <a:ext cx="181937" cy="33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9" name="Shape 1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0" name="Google Shape;1540;p9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Solving problems with fractions and decimals</a:t>
            </a:r>
            <a:endParaRPr/>
          </a:p>
        </p:txBody>
      </p:sp>
      <p:sp>
        <p:nvSpPr>
          <p:cNvPr id="1541" name="Google Shape;1541;p97"/>
          <p:cNvSpPr txBox="1"/>
          <p:nvPr/>
        </p:nvSpPr>
        <p:spPr>
          <a:xfrm>
            <a:off x="4816200" y="3786900"/>
            <a:ext cx="4156200" cy="5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20:30 is closer to      minutes (as this would be 20:20).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42" name="Google Shape;1542;p97"/>
          <p:cNvSpPr txBox="1"/>
          <p:nvPr/>
        </p:nvSpPr>
        <p:spPr>
          <a:xfrm>
            <a:off x="4976400" y="3330113"/>
            <a:ext cx="4038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20:30 is exactly equal to       minutes.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43" name="Google Shape;1543;p97"/>
          <p:cNvSpPr txBox="1"/>
          <p:nvPr/>
        </p:nvSpPr>
        <p:spPr>
          <a:xfrm>
            <a:off x="2872475" y="2722288"/>
            <a:ext cx="4234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It is 12 seconds more than 20.3 minutes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44" name="Google Shape;1544;p97"/>
          <p:cNvSpPr txBox="1"/>
          <p:nvPr/>
        </p:nvSpPr>
        <p:spPr>
          <a:xfrm>
            <a:off x="2872475" y="1657674"/>
            <a:ext cx="4505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It is 20 seconds more than 20.5 minutes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45" name="Google Shape;1545;p97"/>
          <p:cNvSpPr txBox="1"/>
          <p:nvPr>
            <p:ph idx="1" type="body"/>
          </p:nvPr>
        </p:nvSpPr>
        <p:spPr>
          <a:xfrm>
            <a:off x="324000" y="606900"/>
            <a:ext cx="8237700" cy="38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2)   A stopwatch measures time in minutes and seconds:</a:t>
            </a:r>
            <a:endParaRPr sz="2000"/>
          </a:p>
        </p:txBody>
      </p:sp>
      <p:grpSp>
        <p:nvGrpSpPr>
          <p:cNvPr id="1546" name="Google Shape;1546;p97"/>
          <p:cNvGrpSpPr/>
          <p:nvPr/>
        </p:nvGrpSpPr>
        <p:grpSpPr>
          <a:xfrm>
            <a:off x="765088" y="1124120"/>
            <a:ext cx="1854438" cy="575996"/>
            <a:chOff x="334351" y="963160"/>
            <a:chExt cx="2295381" cy="776275"/>
          </a:xfrm>
        </p:grpSpPr>
        <p:pic>
          <p:nvPicPr>
            <p:cNvPr id="1547" name="Google Shape;1547;p97"/>
            <p:cNvPicPr preferRelativeResize="0"/>
            <p:nvPr/>
          </p:nvPicPr>
          <p:blipFill rotWithShape="1">
            <a:blip r:embed="rId3">
              <a:alphaModFix/>
            </a:blip>
            <a:srcRect b="86106" l="0" r="57452" t="0"/>
            <a:stretch/>
          </p:blipFill>
          <p:spPr>
            <a:xfrm>
              <a:off x="428132" y="963160"/>
              <a:ext cx="368025" cy="1047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48" name="Google Shape;1548;p97"/>
            <p:cNvPicPr preferRelativeResize="0"/>
            <p:nvPr/>
          </p:nvPicPr>
          <p:blipFill rotWithShape="1">
            <a:blip r:embed="rId3">
              <a:alphaModFix/>
            </a:blip>
            <a:srcRect b="40626" l="0" r="57452" t="41687"/>
            <a:stretch/>
          </p:blipFill>
          <p:spPr>
            <a:xfrm>
              <a:off x="428132" y="1277460"/>
              <a:ext cx="368025" cy="1333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49" name="Google Shape;1549;p97"/>
            <p:cNvPicPr preferRelativeResize="0"/>
            <p:nvPr/>
          </p:nvPicPr>
          <p:blipFill rotWithShape="1">
            <a:blip r:embed="rId3">
              <a:alphaModFix/>
            </a:blip>
            <a:srcRect b="-2964" l="0" r="57452" t="85277"/>
            <a:stretch/>
          </p:blipFill>
          <p:spPr>
            <a:xfrm>
              <a:off x="428132" y="1606085"/>
              <a:ext cx="368025" cy="1333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50" name="Google Shape;1550;p97"/>
            <p:cNvPicPr preferRelativeResize="0"/>
            <p:nvPr/>
          </p:nvPicPr>
          <p:blipFill rotWithShape="1">
            <a:blip r:embed="rId3">
              <a:alphaModFix/>
            </a:blip>
            <a:srcRect b="0" l="46951" r="35979" t="49266"/>
            <a:stretch/>
          </p:blipFill>
          <p:spPr>
            <a:xfrm>
              <a:off x="334351" y="1334610"/>
              <a:ext cx="147650" cy="3824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51" name="Google Shape;1551;p97"/>
            <p:cNvPicPr preferRelativeResize="0"/>
            <p:nvPr/>
          </p:nvPicPr>
          <p:blipFill rotWithShape="1">
            <a:blip r:embed="rId3">
              <a:alphaModFix/>
            </a:blip>
            <a:srcRect b="49266" l="87144" r="-4214" t="0"/>
            <a:stretch/>
          </p:blipFill>
          <p:spPr>
            <a:xfrm>
              <a:off x="729482" y="963160"/>
              <a:ext cx="147650" cy="3824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52" name="Google Shape;1552;p97"/>
            <p:cNvPicPr preferRelativeResize="0"/>
            <p:nvPr/>
          </p:nvPicPr>
          <p:blipFill rotWithShape="1">
            <a:blip r:embed="rId3">
              <a:alphaModFix/>
            </a:blip>
            <a:srcRect b="86106" l="0" r="57452" t="0"/>
            <a:stretch/>
          </p:blipFill>
          <p:spPr>
            <a:xfrm>
              <a:off x="961532" y="963160"/>
              <a:ext cx="368025" cy="1047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53" name="Google Shape;1553;p97"/>
            <p:cNvPicPr preferRelativeResize="0"/>
            <p:nvPr/>
          </p:nvPicPr>
          <p:blipFill rotWithShape="1">
            <a:blip r:embed="rId3">
              <a:alphaModFix/>
            </a:blip>
            <a:srcRect b="49266" l="46951" r="35979" t="0"/>
            <a:stretch/>
          </p:blipFill>
          <p:spPr>
            <a:xfrm>
              <a:off x="867751" y="963160"/>
              <a:ext cx="147650" cy="3824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54" name="Google Shape;1554;p97"/>
            <p:cNvPicPr preferRelativeResize="0"/>
            <p:nvPr/>
          </p:nvPicPr>
          <p:blipFill rotWithShape="1">
            <a:blip r:embed="rId3">
              <a:alphaModFix/>
            </a:blip>
            <a:srcRect b="0" l="87144" r="-4214" t="49266"/>
            <a:stretch/>
          </p:blipFill>
          <p:spPr>
            <a:xfrm>
              <a:off x="1262882" y="1334610"/>
              <a:ext cx="147650" cy="3824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55" name="Google Shape;1555;p97"/>
            <p:cNvPicPr preferRelativeResize="0"/>
            <p:nvPr/>
          </p:nvPicPr>
          <p:blipFill rotWithShape="1">
            <a:blip r:embed="rId3">
              <a:alphaModFix/>
            </a:blip>
            <a:srcRect b="-2964" l="0" r="57452" t="85277"/>
            <a:stretch/>
          </p:blipFill>
          <p:spPr>
            <a:xfrm>
              <a:off x="961532" y="1606085"/>
              <a:ext cx="368025" cy="1333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56" name="Google Shape;1556;p97"/>
            <p:cNvPicPr preferRelativeResize="0"/>
            <p:nvPr/>
          </p:nvPicPr>
          <p:blipFill rotWithShape="1">
            <a:blip r:embed="rId3">
              <a:alphaModFix/>
            </a:blip>
            <a:srcRect b="0" l="46951" r="35979" t="49266"/>
            <a:stretch/>
          </p:blipFill>
          <p:spPr>
            <a:xfrm>
              <a:off x="867751" y="1334610"/>
              <a:ext cx="147650" cy="3824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57" name="Google Shape;1557;p97"/>
            <p:cNvPicPr preferRelativeResize="0"/>
            <p:nvPr/>
          </p:nvPicPr>
          <p:blipFill rotWithShape="1">
            <a:blip r:embed="rId3">
              <a:alphaModFix/>
            </a:blip>
            <a:srcRect b="49266" l="87144" r="-4214" t="0"/>
            <a:stretch/>
          </p:blipFill>
          <p:spPr>
            <a:xfrm>
              <a:off x="1262882" y="963160"/>
              <a:ext cx="147650" cy="3824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58" name="Google Shape;1558;p97"/>
            <p:cNvPicPr preferRelativeResize="0"/>
            <p:nvPr/>
          </p:nvPicPr>
          <p:blipFill rotWithShape="1">
            <a:blip r:embed="rId3">
              <a:alphaModFix/>
            </a:blip>
            <a:srcRect b="86106" l="0" r="57452" t="0"/>
            <a:stretch/>
          </p:blipFill>
          <p:spPr>
            <a:xfrm>
              <a:off x="1647332" y="963160"/>
              <a:ext cx="368025" cy="1047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59" name="Google Shape;1559;p97"/>
            <p:cNvPicPr preferRelativeResize="0"/>
            <p:nvPr/>
          </p:nvPicPr>
          <p:blipFill rotWithShape="1">
            <a:blip r:embed="rId3">
              <a:alphaModFix/>
            </a:blip>
            <a:srcRect b="49266" l="46951" r="35979" t="0"/>
            <a:stretch/>
          </p:blipFill>
          <p:spPr>
            <a:xfrm>
              <a:off x="1553551" y="963160"/>
              <a:ext cx="147650" cy="3824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60" name="Google Shape;1560;p97"/>
            <p:cNvPicPr preferRelativeResize="0"/>
            <p:nvPr/>
          </p:nvPicPr>
          <p:blipFill rotWithShape="1">
            <a:blip r:embed="rId3">
              <a:alphaModFix/>
            </a:blip>
            <a:srcRect b="0" l="87144" r="-4214" t="49266"/>
            <a:stretch/>
          </p:blipFill>
          <p:spPr>
            <a:xfrm>
              <a:off x="1948682" y="1334610"/>
              <a:ext cx="147650" cy="3824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61" name="Google Shape;1561;p97"/>
            <p:cNvPicPr preferRelativeResize="0"/>
            <p:nvPr/>
          </p:nvPicPr>
          <p:blipFill rotWithShape="1">
            <a:blip r:embed="rId3">
              <a:alphaModFix/>
            </a:blip>
            <a:srcRect b="40626" l="0" r="57452" t="41687"/>
            <a:stretch/>
          </p:blipFill>
          <p:spPr>
            <a:xfrm>
              <a:off x="1647332" y="1277460"/>
              <a:ext cx="368025" cy="1333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62" name="Google Shape;1562;p97"/>
            <p:cNvPicPr preferRelativeResize="0"/>
            <p:nvPr/>
          </p:nvPicPr>
          <p:blipFill rotWithShape="1">
            <a:blip r:embed="rId3">
              <a:alphaModFix/>
            </a:blip>
            <a:srcRect b="-2964" l="0" r="57452" t="85277"/>
            <a:stretch/>
          </p:blipFill>
          <p:spPr>
            <a:xfrm>
              <a:off x="1647332" y="1606085"/>
              <a:ext cx="368025" cy="1333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63" name="Google Shape;1563;p97"/>
            <p:cNvPicPr preferRelativeResize="0"/>
            <p:nvPr/>
          </p:nvPicPr>
          <p:blipFill rotWithShape="1">
            <a:blip r:embed="rId3">
              <a:alphaModFix/>
            </a:blip>
            <a:srcRect b="86106" l="0" r="57452" t="0"/>
            <a:stretch/>
          </p:blipFill>
          <p:spPr>
            <a:xfrm>
              <a:off x="2180732" y="963160"/>
              <a:ext cx="368025" cy="1047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64" name="Google Shape;1564;p97"/>
            <p:cNvPicPr preferRelativeResize="0"/>
            <p:nvPr/>
          </p:nvPicPr>
          <p:blipFill rotWithShape="1">
            <a:blip r:embed="rId3">
              <a:alphaModFix/>
            </a:blip>
            <a:srcRect b="49266" l="46951" r="35979" t="0"/>
            <a:stretch/>
          </p:blipFill>
          <p:spPr>
            <a:xfrm>
              <a:off x="2086951" y="963160"/>
              <a:ext cx="147650" cy="3824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65" name="Google Shape;1565;p97"/>
            <p:cNvPicPr preferRelativeResize="0"/>
            <p:nvPr/>
          </p:nvPicPr>
          <p:blipFill rotWithShape="1">
            <a:blip r:embed="rId3">
              <a:alphaModFix/>
            </a:blip>
            <a:srcRect b="0" l="87144" r="-4214" t="49266"/>
            <a:stretch/>
          </p:blipFill>
          <p:spPr>
            <a:xfrm>
              <a:off x="2482082" y="1334610"/>
              <a:ext cx="147650" cy="3824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66" name="Google Shape;1566;p97"/>
            <p:cNvPicPr preferRelativeResize="0"/>
            <p:nvPr/>
          </p:nvPicPr>
          <p:blipFill rotWithShape="1">
            <a:blip r:embed="rId3">
              <a:alphaModFix/>
            </a:blip>
            <a:srcRect b="-2964" l="0" r="57452" t="85277"/>
            <a:stretch/>
          </p:blipFill>
          <p:spPr>
            <a:xfrm>
              <a:off x="2180732" y="1606085"/>
              <a:ext cx="368025" cy="1333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67" name="Google Shape;1567;p97"/>
            <p:cNvPicPr preferRelativeResize="0"/>
            <p:nvPr/>
          </p:nvPicPr>
          <p:blipFill rotWithShape="1">
            <a:blip r:embed="rId3">
              <a:alphaModFix/>
            </a:blip>
            <a:srcRect b="0" l="46951" r="35979" t="49266"/>
            <a:stretch/>
          </p:blipFill>
          <p:spPr>
            <a:xfrm>
              <a:off x="2086951" y="1334610"/>
              <a:ext cx="147650" cy="3824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68" name="Google Shape;1568;p97"/>
            <p:cNvPicPr preferRelativeResize="0"/>
            <p:nvPr/>
          </p:nvPicPr>
          <p:blipFill rotWithShape="1">
            <a:blip r:embed="rId3">
              <a:alphaModFix/>
            </a:blip>
            <a:srcRect b="49266" l="87144" r="-4214" t="0"/>
            <a:stretch/>
          </p:blipFill>
          <p:spPr>
            <a:xfrm>
              <a:off x="2482082" y="963160"/>
              <a:ext cx="147650" cy="3824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69" name="Google Shape;1569;p97"/>
            <p:cNvSpPr/>
            <p:nvPr/>
          </p:nvSpPr>
          <p:spPr>
            <a:xfrm>
              <a:off x="1429695" y="1137181"/>
              <a:ext cx="104700" cy="104700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0" name="Google Shape;1570;p97"/>
            <p:cNvSpPr/>
            <p:nvPr/>
          </p:nvSpPr>
          <p:spPr>
            <a:xfrm>
              <a:off x="1429695" y="1441981"/>
              <a:ext cx="104700" cy="104700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71" name="Google Shape;1571;p97"/>
          <p:cNvGrpSpPr/>
          <p:nvPr/>
        </p:nvGrpSpPr>
        <p:grpSpPr>
          <a:xfrm>
            <a:off x="783486" y="2100314"/>
            <a:ext cx="1808072" cy="575996"/>
            <a:chOff x="334363" y="1934710"/>
            <a:chExt cx="2295381" cy="776275"/>
          </a:xfrm>
        </p:grpSpPr>
        <p:pic>
          <p:nvPicPr>
            <p:cNvPr id="1572" name="Google Shape;1572;p97"/>
            <p:cNvPicPr preferRelativeResize="0"/>
            <p:nvPr/>
          </p:nvPicPr>
          <p:blipFill rotWithShape="1">
            <a:blip r:embed="rId3">
              <a:alphaModFix/>
            </a:blip>
            <a:srcRect b="86106" l="0" r="57452" t="0"/>
            <a:stretch/>
          </p:blipFill>
          <p:spPr>
            <a:xfrm>
              <a:off x="428145" y="1934710"/>
              <a:ext cx="368025" cy="1047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73" name="Google Shape;1573;p97"/>
            <p:cNvPicPr preferRelativeResize="0"/>
            <p:nvPr/>
          </p:nvPicPr>
          <p:blipFill rotWithShape="1">
            <a:blip r:embed="rId3">
              <a:alphaModFix/>
            </a:blip>
            <a:srcRect b="40626" l="0" r="57452" t="41687"/>
            <a:stretch/>
          </p:blipFill>
          <p:spPr>
            <a:xfrm>
              <a:off x="428145" y="2249010"/>
              <a:ext cx="368025" cy="1333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74" name="Google Shape;1574;p97"/>
            <p:cNvPicPr preferRelativeResize="0"/>
            <p:nvPr/>
          </p:nvPicPr>
          <p:blipFill rotWithShape="1">
            <a:blip r:embed="rId3">
              <a:alphaModFix/>
            </a:blip>
            <a:srcRect b="-2964" l="0" r="57452" t="85277"/>
            <a:stretch/>
          </p:blipFill>
          <p:spPr>
            <a:xfrm>
              <a:off x="428145" y="2577635"/>
              <a:ext cx="368025" cy="1333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75" name="Google Shape;1575;p97"/>
            <p:cNvPicPr preferRelativeResize="0"/>
            <p:nvPr/>
          </p:nvPicPr>
          <p:blipFill rotWithShape="1">
            <a:blip r:embed="rId3">
              <a:alphaModFix/>
            </a:blip>
            <a:srcRect b="0" l="46951" r="35979" t="49266"/>
            <a:stretch/>
          </p:blipFill>
          <p:spPr>
            <a:xfrm>
              <a:off x="334363" y="2306160"/>
              <a:ext cx="147650" cy="3824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76" name="Google Shape;1576;p97"/>
            <p:cNvPicPr preferRelativeResize="0"/>
            <p:nvPr/>
          </p:nvPicPr>
          <p:blipFill rotWithShape="1">
            <a:blip r:embed="rId3">
              <a:alphaModFix/>
            </a:blip>
            <a:srcRect b="49266" l="87144" r="-4214" t="0"/>
            <a:stretch/>
          </p:blipFill>
          <p:spPr>
            <a:xfrm>
              <a:off x="729495" y="1934710"/>
              <a:ext cx="147650" cy="3824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77" name="Google Shape;1577;p97"/>
            <p:cNvPicPr preferRelativeResize="0"/>
            <p:nvPr/>
          </p:nvPicPr>
          <p:blipFill rotWithShape="1">
            <a:blip r:embed="rId3">
              <a:alphaModFix/>
            </a:blip>
            <a:srcRect b="86106" l="0" r="57452" t="0"/>
            <a:stretch/>
          </p:blipFill>
          <p:spPr>
            <a:xfrm>
              <a:off x="961545" y="1934710"/>
              <a:ext cx="368025" cy="1047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78" name="Google Shape;1578;p97"/>
            <p:cNvPicPr preferRelativeResize="0"/>
            <p:nvPr/>
          </p:nvPicPr>
          <p:blipFill rotWithShape="1">
            <a:blip r:embed="rId3">
              <a:alphaModFix/>
            </a:blip>
            <a:srcRect b="49266" l="46951" r="35979" t="0"/>
            <a:stretch/>
          </p:blipFill>
          <p:spPr>
            <a:xfrm>
              <a:off x="867763" y="1934710"/>
              <a:ext cx="147650" cy="3824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79" name="Google Shape;1579;p97"/>
            <p:cNvPicPr preferRelativeResize="0"/>
            <p:nvPr/>
          </p:nvPicPr>
          <p:blipFill rotWithShape="1">
            <a:blip r:embed="rId3">
              <a:alphaModFix/>
            </a:blip>
            <a:srcRect b="0" l="87144" r="-4214" t="49266"/>
            <a:stretch/>
          </p:blipFill>
          <p:spPr>
            <a:xfrm>
              <a:off x="1262895" y="2306160"/>
              <a:ext cx="147650" cy="3824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80" name="Google Shape;1580;p97"/>
            <p:cNvPicPr preferRelativeResize="0"/>
            <p:nvPr/>
          </p:nvPicPr>
          <p:blipFill rotWithShape="1">
            <a:blip r:embed="rId3">
              <a:alphaModFix/>
            </a:blip>
            <a:srcRect b="-2964" l="0" r="57452" t="85277"/>
            <a:stretch/>
          </p:blipFill>
          <p:spPr>
            <a:xfrm>
              <a:off x="961545" y="2577635"/>
              <a:ext cx="368025" cy="1333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81" name="Google Shape;1581;p97"/>
            <p:cNvPicPr preferRelativeResize="0"/>
            <p:nvPr/>
          </p:nvPicPr>
          <p:blipFill rotWithShape="1">
            <a:blip r:embed="rId3">
              <a:alphaModFix/>
            </a:blip>
            <a:srcRect b="0" l="46951" r="35979" t="49266"/>
            <a:stretch/>
          </p:blipFill>
          <p:spPr>
            <a:xfrm>
              <a:off x="867763" y="2306160"/>
              <a:ext cx="147650" cy="3824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82" name="Google Shape;1582;p97"/>
            <p:cNvPicPr preferRelativeResize="0"/>
            <p:nvPr/>
          </p:nvPicPr>
          <p:blipFill rotWithShape="1">
            <a:blip r:embed="rId3">
              <a:alphaModFix/>
            </a:blip>
            <a:srcRect b="49266" l="87144" r="-4214" t="0"/>
            <a:stretch/>
          </p:blipFill>
          <p:spPr>
            <a:xfrm>
              <a:off x="1262895" y="1934710"/>
              <a:ext cx="147650" cy="3824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83" name="Google Shape;1583;p97"/>
            <p:cNvPicPr preferRelativeResize="0"/>
            <p:nvPr/>
          </p:nvPicPr>
          <p:blipFill rotWithShape="1">
            <a:blip r:embed="rId3">
              <a:alphaModFix/>
            </a:blip>
            <a:srcRect b="86106" l="0" r="57452" t="0"/>
            <a:stretch/>
          </p:blipFill>
          <p:spPr>
            <a:xfrm>
              <a:off x="1647345" y="1934710"/>
              <a:ext cx="368025" cy="1047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84" name="Google Shape;1584;p97"/>
            <p:cNvPicPr preferRelativeResize="0"/>
            <p:nvPr/>
          </p:nvPicPr>
          <p:blipFill rotWithShape="1">
            <a:blip r:embed="rId3">
              <a:alphaModFix/>
            </a:blip>
            <a:srcRect b="0" l="87144" r="-4214" t="49266"/>
            <a:stretch/>
          </p:blipFill>
          <p:spPr>
            <a:xfrm>
              <a:off x="1948695" y="2306160"/>
              <a:ext cx="147650" cy="3824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85" name="Google Shape;1585;p97"/>
            <p:cNvPicPr preferRelativeResize="0"/>
            <p:nvPr/>
          </p:nvPicPr>
          <p:blipFill rotWithShape="1">
            <a:blip r:embed="rId3">
              <a:alphaModFix/>
            </a:blip>
            <a:srcRect b="40626" l="0" r="57452" t="41687"/>
            <a:stretch/>
          </p:blipFill>
          <p:spPr>
            <a:xfrm>
              <a:off x="1647345" y="2249010"/>
              <a:ext cx="368025" cy="1333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86" name="Google Shape;1586;p97"/>
            <p:cNvPicPr preferRelativeResize="0"/>
            <p:nvPr/>
          </p:nvPicPr>
          <p:blipFill rotWithShape="1">
            <a:blip r:embed="rId3">
              <a:alphaModFix/>
            </a:blip>
            <a:srcRect b="-2964" l="0" r="57452" t="85277"/>
            <a:stretch/>
          </p:blipFill>
          <p:spPr>
            <a:xfrm>
              <a:off x="1647345" y="2577635"/>
              <a:ext cx="368025" cy="1333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87" name="Google Shape;1587;p97"/>
            <p:cNvPicPr preferRelativeResize="0"/>
            <p:nvPr/>
          </p:nvPicPr>
          <p:blipFill rotWithShape="1">
            <a:blip r:embed="rId3">
              <a:alphaModFix/>
            </a:blip>
            <a:srcRect b="49266" l="87144" r="-4214" t="0"/>
            <a:stretch/>
          </p:blipFill>
          <p:spPr>
            <a:xfrm>
              <a:off x="1948695" y="1934710"/>
              <a:ext cx="147650" cy="3824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88" name="Google Shape;1588;p97"/>
            <p:cNvPicPr preferRelativeResize="0"/>
            <p:nvPr/>
          </p:nvPicPr>
          <p:blipFill rotWithShape="1">
            <a:blip r:embed="rId3">
              <a:alphaModFix/>
            </a:blip>
            <a:srcRect b="86106" l="0" r="57452" t="0"/>
            <a:stretch/>
          </p:blipFill>
          <p:spPr>
            <a:xfrm>
              <a:off x="2180745" y="1934710"/>
              <a:ext cx="368025" cy="1047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89" name="Google Shape;1589;p97"/>
            <p:cNvPicPr preferRelativeResize="0"/>
            <p:nvPr/>
          </p:nvPicPr>
          <p:blipFill rotWithShape="1">
            <a:blip r:embed="rId3">
              <a:alphaModFix/>
            </a:blip>
            <a:srcRect b="49266" l="46951" r="35979" t="0"/>
            <a:stretch/>
          </p:blipFill>
          <p:spPr>
            <a:xfrm>
              <a:off x="2086963" y="1934710"/>
              <a:ext cx="147650" cy="3824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90" name="Google Shape;1590;p97"/>
            <p:cNvPicPr preferRelativeResize="0"/>
            <p:nvPr/>
          </p:nvPicPr>
          <p:blipFill rotWithShape="1">
            <a:blip r:embed="rId3">
              <a:alphaModFix/>
            </a:blip>
            <a:srcRect b="0" l="87144" r="-4214" t="49266"/>
            <a:stretch/>
          </p:blipFill>
          <p:spPr>
            <a:xfrm>
              <a:off x="2482095" y="2306160"/>
              <a:ext cx="147650" cy="3824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91" name="Google Shape;1591;p97"/>
            <p:cNvPicPr preferRelativeResize="0"/>
            <p:nvPr/>
          </p:nvPicPr>
          <p:blipFill rotWithShape="1">
            <a:blip r:embed="rId3">
              <a:alphaModFix/>
            </a:blip>
            <a:srcRect b="-2964" l="0" r="57452" t="85277"/>
            <a:stretch/>
          </p:blipFill>
          <p:spPr>
            <a:xfrm>
              <a:off x="2180745" y="2577635"/>
              <a:ext cx="368025" cy="1333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92" name="Google Shape;1592;p97"/>
            <p:cNvPicPr preferRelativeResize="0"/>
            <p:nvPr/>
          </p:nvPicPr>
          <p:blipFill rotWithShape="1">
            <a:blip r:embed="rId3">
              <a:alphaModFix/>
            </a:blip>
            <a:srcRect b="0" l="46951" r="35979" t="49266"/>
            <a:stretch/>
          </p:blipFill>
          <p:spPr>
            <a:xfrm>
              <a:off x="2086963" y="2306160"/>
              <a:ext cx="147650" cy="3824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93" name="Google Shape;1593;p97"/>
            <p:cNvPicPr preferRelativeResize="0"/>
            <p:nvPr/>
          </p:nvPicPr>
          <p:blipFill rotWithShape="1">
            <a:blip r:embed="rId3">
              <a:alphaModFix/>
            </a:blip>
            <a:srcRect b="49266" l="87144" r="-4214" t="0"/>
            <a:stretch/>
          </p:blipFill>
          <p:spPr>
            <a:xfrm>
              <a:off x="2482095" y="1934710"/>
              <a:ext cx="147650" cy="3824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94" name="Google Shape;1594;p97"/>
            <p:cNvSpPr/>
            <p:nvPr/>
          </p:nvSpPr>
          <p:spPr>
            <a:xfrm>
              <a:off x="1429707" y="2108731"/>
              <a:ext cx="104700" cy="104700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5" name="Google Shape;1595;p97"/>
            <p:cNvSpPr/>
            <p:nvPr/>
          </p:nvSpPr>
          <p:spPr>
            <a:xfrm>
              <a:off x="1429707" y="2413531"/>
              <a:ext cx="104700" cy="104700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96" name="Google Shape;1596;p97"/>
          <p:cNvSpPr txBox="1"/>
          <p:nvPr/>
        </p:nvSpPr>
        <p:spPr>
          <a:xfrm>
            <a:off x="2872475" y="1082275"/>
            <a:ext cx="47214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 Is this more or less than 20.5 minutes?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By how much?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7" name="Google Shape;1597;p97"/>
          <p:cNvSpPr txBox="1"/>
          <p:nvPr/>
        </p:nvSpPr>
        <p:spPr>
          <a:xfrm>
            <a:off x="2887200" y="2120025"/>
            <a:ext cx="47214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 Is this more or less than 20.3 minutes?   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By how much?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20\frac{5}{10}&quot;&gt;&lt;mn&gt;20&lt;/mn&gt;&lt;mfrac&gt;&lt;mn&gt;5&lt;/mn&gt;&lt;mn&gt;10&lt;/mn&gt;&lt;/mfrac&gt;&lt;/math&gt;" id="1598" name="Google Shape;1598;p97" title="20 and five ten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22327" y="3220707"/>
            <a:ext cx="532762" cy="4960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20\frac{1}{3}&quot;&gt;&lt;mn&gt;20&lt;/mn&gt;&lt;mfrac&gt;&lt;mn&gt;1&lt;/mn&gt;&lt;mn&gt;3&lt;/mn&gt;&lt;/mfrac&gt;&lt;/math&gt;" id="1599" name="Google Shape;1599;p97" title="20 and one third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66739" y="3683351"/>
            <a:ext cx="422525" cy="5106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0" name="Google Shape;1600;p9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24000" y="3254850"/>
            <a:ext cx="4505101" cy="5364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1" name="Google Shape;1601;p9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24000" y="3773875"/>
            <a:ext cx="4310249" cy="613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5" name="Shape 1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6" name="Google Shape;1606;p9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00" y="752900"/>
            <a:ext cx="8189948" cy="839875"/>
          </a:xfrm>
          <a:prstGeom prst="rect">
            <a:avLst/>
          </a:prstGeom>
          <a:noFill/>
          <a:ln>
            <a:noFill/>
          </a:ln>
        </p:spPr>
      </p:pic>
      <p:sp>
        <p:nvSpPr>
          <p:cNvPr id="1607" name="Google Shape;1607;p98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Solving problems with fractions and decimals</a:t>
            </a:r>
            <a:endParaRPr/>
          </a:p>
        </p:txBody>
      </p:sp>
      <p:sp>
        <p:nvSpPr>
          <p:cNvPr id="1608" name="Google Shape;1608;p98"/>
          <p:cNvSpPr txBox="1"/>
          <p:nvPr/>
        </p:nvSpPr>
        <p:spPr>
          <a:xfrm>
            <a:off x="324000" y="1748700"/>
            <a:ext cx="84960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20.5 minutes and         minutes are furthest apart. For 20.4 minutes, 20:24 would be showing and, for        minutes, 20:15 would be showing. These are nine seconds apart. For 20.5 minutes, 20:30 would be showing and, for      minutes, 20:12 would be showing. These are 18 seconds apart.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20\frac{1}{4}&quot;&gt;&lt;mn&gt;20&lt;/mn&gt;&lt;mfrac&gt;&lt;mn&gt;1&lt;/mn&gt;&lt;mn&gt;4&lt;/mn&gt;&lt;/mfrac&gt;&lt;/math&gt;" id="1609" name="Google Shape;1609;p98" title="20 and one fourth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88475" y="2225137"/>
            <a:ext cx="368025" cy="4352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20\frac{1}{5}&quot;&gt;&lt;mn&gt;20&lt;/mn&gt;&lt;mfrac&gt;&lt;mn&gt;1&lt;/mn&gt;&lt;mn&gt;5&lt;/mn&gt;&lt;/mfrac&gt;&lt;/math&gt;" id="1610" name="Google Shape;1610;p98" title="20 and one fifth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52603" y="1748702"/>
            <a:ext cx="368025" cy="44759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20\frac{1}{5}&quot;&gt;&lt;mn&gt;20&lt;/mn&gt;&lt;mfrac&gt;&lt;mn&gt;1&lt;/mn&gt;&lt;mn&gt;5&lt;/mn&gt;&lt;/mfrac&gt;&lt;/math&gt;" id="1611" name="Google Shape;1611;p98" title="20 and one fifth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72790" y="2586902"/>
            <a:ext cx="368025" cy="4475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5" name="Shape 1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6" name="Google Shape;1616;p99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Fractions can be compared and ordered by converting them to decimals.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Fractions</a:t>
            </a:r>
            <a:r>
              <a:rPr lang="en-GB"/>
              <a:t> can be compared and ordered by converting them to have a common denominator.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Decimals are compared and ordered using place value.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When comparing fractions and decimals they may need to be converted into the same form.</a:t>
            </a:r>
            <a:endParaRPr/>
          </a:p>
        </p:txBody>
      </p:sp>
      <p:sp>
        <p:nvSpPr>
          <p:cNvPr id="1617" name="Google Shape;1617;p99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Problem solving with fractions and decimals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1" name="Shape 1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2" name="Google Shape;1622;p100"/>
          <p:cNvSpPr txBox="1"/>
          <p:nvPr>
            <p:ph idx="1" type="subTitle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© Oak National Academy 2023.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Produced in partnership with </a:t>
            </a:r>
            <a:r>
              <a:rPr lang="en-GB"/>
              <a:t>Mathematics in Education and Industry</a:t>
            </a:r>
            <a:r>
              <a:rPr lang="en-GB"/>
              <a:t>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1623" name="Google Shape;1623;p10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