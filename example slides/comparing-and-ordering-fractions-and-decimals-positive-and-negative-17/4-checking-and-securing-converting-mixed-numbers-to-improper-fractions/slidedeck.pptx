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07603F-D281-4387-817B-3BF9F890F917}">
  <a:tblStyle styleId="{9B07603F-D281-4387-817B-3BF9F890F91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slide" Target="slides/slide4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82ba9939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82ba9939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982ba993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982ba993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2982ba9939f_0_7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2982ba9939f_0_7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2982ba9939f_0_8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2982ba9939f_0_8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2982ba9939f_0_8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2982ba9939f_0_8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2982ba9939f_0_8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2982ba9939f_0_8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1ea997ab043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1ea997ab04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2982ba9939f_0_8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2982ba9939f_0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2982ba9939f_0_8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2982ba9939f_0_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1ea997ab043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1ea997ab043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1ea997ab043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1ea997ab043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1ea997ab043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1ea997ab043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1ea997ab043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0" name="Google Shape;1030;g1ea997ab043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1ea997ab043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" name="Google Shape;1075;g1ea997ab043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2982ba9939f_0_8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2982ba9939f_0_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1ea997ab043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8" name="Google Shape;1138;g1ea997ab043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1ea997ab043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8" name="Google Shape;1148;g1ea997ab043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1ea997ab043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1ea997ab043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1ea997ab043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1ea997ab043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1ea997ab043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8" name="Google Shape;1188;g1ea997ab043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1ea997ab043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1ea997ab043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1ea997ab04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9" name="Google Shape;1219;g1ea997ab04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g1ea997ab043_1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6" name="Google Shape;1236;g1ea997ab043_1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1ea997ab043_1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1ea997ab043_1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1ea997ab043_1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1ea997ab043_1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1ea997ab043_1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0" name="Google Shape;1300;g1ea997ab043_1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g1ea997ab043_1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4" name="Google Shape;1324;g1ea997ab043_1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g1ea997ab043_1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9" name="Google Shape;1339;g1ea997ab043_1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g1eb1c289d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8" name="Google Shape;1368;g1eb1c289d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1ea997ab043_1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1ea997ab043_1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g2982ba9939f_0_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9" name="Google Shape;1399;g2982ba9939f_0_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g1ea997ab043_1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6" name="Google Shape;1406;g1ea997ab043_1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1ea997ab043_1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9" name="Google Shape;1429;g1ea997ab043_1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g1ea997ab043_1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1" name="Google Shape;1441;g1ea997ab043_1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g1ea997ab043_1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6" name="Google Shape;1456;g1ea997ab043_1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1ea997ab043_1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" name="Google Shape;1481;g1ea997ab043_1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g1ea997ab043_1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7" name="Google Shape;1507;g1ea997ab043_1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g1ea997ab043_1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2" name="Google Shape;1522;g1ea997ab043_1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g1ea997ab043_1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1" name="Google Shape;1551;g1ea997ab043_1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g1ea997ab043_1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0" name="Google Shape;1570;g1ea997ab043_1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6" name="Google Shape;1596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7" name="Google Shape;1607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0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Relationship Id="rId7" Type="http://schemas.openxmlformats.org/officeDocument/2006/relationships/image" Target="../media/image2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71.png"/><Relationship Id="rId5" Type="http://schemas.openxmlformats.org/officeDocument/2006/relationships/image" Target="../media/image28.png"/><Relationship Id="rId6" Type="http://schemas.openxmlformats.org/officeDocument/2006/relationships/image" Target="../media/image30.png"/><Relationship Id="rId7" Type="http://schemas.openxmlformats.org/officeDocument/2006/relationships/image" Target="../media/image2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71.png"/><Relationship Id="rId4" Type="http://schemas.openxmlformats.org/officeDocument/2006/relationships/image" Target="../media/image24.png"/><Relationship Id="rId9" Type="http://schemas.openxmlformats.org/officeDocument/2006/relationships/image" Target="../media/image22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28.png"/><Relationship Id="rId8" Type="http://schemas.openxmlformats.org/officeDocument/2006/relationships/image" Target="../media/image3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71.png"/><Relationship Id="rId4" Type="http://schemas.openxmlformats.org/officeDocument/2006/relationships/image" Target="../media/image31.png"/><Relationship Id="rId11" Type="http://schemas.openxmlformats.org/officeDocument/2006/relationships/image" Target="../media/image22.png"/><Relationship Id="rId10" Type="http://schemas.openxmlformats.org/officeDocument/2006/relationships/image" Target="../media/image37.png"/><Relationship Id="rId9" Type="http://schemas.openxmlformats.org/officeDocument/2006/relationships/image" Target="../media/image30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9.png"/><Relationship Id="rId8" Type="http://schemas.openxmlformats.org/officeDocument/2006/relationships/image" Target="../media/image2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5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7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2.png"/><Relationship Id="rId4" Type="http://schemas.openxmlformats.org/officeDocument/2006/relationships/image" Target="../media/image5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1.png"/><Relationship Id="rId4" Type="http://schemas.openxmlformats.org/officeDocument/2006/relationships/image" Target="../media/image6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4.png"/><Relationship Id="rId4" Type="http://schemas.openxmlformats.org/officeDocument/2006/relationships/image" Target="../media/image6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6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67.png"/><Relationship Id="rId7" Type="http://schemas.openxmlformats.org/officeDocument/2006/relationships/image" Target="../media/image7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1.png"/><Relationship Id="rId4" Type="http://schemas.openxmlformats.org/officeDocument/2006/relationships/image" Target="../media/image6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6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67.png"/><Relationship Id="rId7" Type="http://schemas.openxmlformats.org/officeDocument/2006/relationships/image" Target="../media/image7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3.png"/><Relationship Id="rId4" Type="http://schemas.openxmlformats.org/officeDocument/2006/relationships/image" Target="../media/image72.png"/><Relationship Id="rId5" Type="http://schemas.openxmlformats.org/officeDocument/2006/relationships/image" Target="../media/image75.png"/><Relationship Id="rId6" Type="http://schemas.openxmlformats.org/officeDocument/2006/relationships/image" Target="../media/image7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0.png"/><Relationship Id="rId4" Type="http://schemas.openxmlformats.org/officeDocument/2006/relationships/image" Target="../media/image84.png"/><Relationship Id="rId5" Type="http://schemas.openxmlformats.org/officeDocument/2006/relationships/image" Target="../media/image82.png"/><Relationship Id="rId6" Type="http://schemas.openxmlformats.org/officeDocument/2006/relationships/image" Target="../media/image8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0.png"/><Relationship Id="rId4" Type="http://schemas.openxmlformats.org/officeDocument/2006/relationships/image" Target="../media/image84.png"/><Relationship Id="rId5" Type="http://schemas.openxmlformats.org/officeDocument/2006/relationships/image" Target="../media/image82.png"/><Relationship Id="rId6" Type="http://schemas.openxmlformats.org/officeDocument/2006/relationships/image" Target="../media/image8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0.png"/><Relationship Id="rId4" Type="http://schemas.openxmlformats.org/officeDocument/2006/relationships/image" Target="../media/image84.png"/><Relationship Id="rId5" Type="http://schemas.openxmlformats.org/officeDocument/2006/relationships/image" Target="../media/image82.png"/><Relationship Id="rId6" Type="http://schemas.openxmlformats.org/officeDocument/2006/relationships/image" Target="../media/image85.png"/><Relationship Id="rId7" Type="http://schemas.openxmlformats.org/officeDocument/2006/relationships/image" Target="../media/image9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9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Relationship Id="rId5" Type="http://schemas.openxmlformats.org/officeDocument/2006/relationships/image" Target="../media/image87.png"/><Relationship Id="rId6" Type="http://schemas.openxmlformats.org/officeDocument/2006/relationships/image" Target="../media/image83.png"/><Relationship Id="rId7" Type="http://schemas.openxmlformats.org/officeDocument/2006/relationships/image" Target="../media/image88.png"/><Relationship Id="rId8" Type="http://schemas.openxmlformats.org/officeDocument/2006/relationships/image" Target="../media/image92.png"/><Relationship Id="rId11" Type="http://schemas.openxmlformats.org/officeDocument/2006/relationships/image" Target="../media/image101.png"/><Relationship Id="rId10" Type="http://schemas.openxmlformats.org/officeDocument/2006/relationships/image" Target="../media/image9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5.png"/><Relationship Id="rId4" Type="http://schemas.openxmlformats.org/officeDocument/2006/relationships/image" Target="../media/image9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6.png"/><Relationship Id="rId4" Type="http://schemas.openxmlformats.org/officeDocument/2006/relationships/image" Target="../media/image94.png"/><Relationship Id="rId5" Type="http://schemas.openxmlformats.org/officeDocument/2006/relationships/image" Target="../media/image99.png"/><Relationship Id="rId6" Type="http://schemas.openxmlformats.org/officeDocument/2006/relationships/image" Target="../media/image9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9.png"/><Relationship Id="rId4" Type="http://schemas.openxmlformats.org/officeDocument/2006/relationships/image" Target="../media/image98.png"/><Relationship Id="rId5" Type="http://schemas.openxmlformats.org/officeDocument/2006/relationships/image" Target="../media/image96.png"/><Relationship Id="rId6" Type="http://schemas.openxmlformats.org/officeDocument/2006/relationships/image" Target="../media/image94.png"/><Relationship Id="rId7" Type="http://schemas.openxmlformats.org/officeDocument/2006/relationships/image" Target="../media/image10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9.png"/><Relationship Id="rId4" Type="http://schemas.openxmlformats.org/officeDocument/2006/relationships/image" Target="../media/image98.png"/><Relationship Id="rId5" Type="http://schemas.openxmlformats.org/officeDocument/2006/relationships/image" Target="../media/image96.png"/><Relationship Id="rId6" Type="http://schemas.openxmlformats.org/officeDocument/2006/relationships/image" Target="../media/image9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0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0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converting mixed numbers to improper fractions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Comparing and ordering fractions and decimals (positive and negative)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1" name="Google Shape;761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575" y="2195975"/>
            <a:ext cx="6868752" cy="1131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04951" y="685175"/>
            <a:ext cx="80301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800"/>
              <a:t>A proper fraction is a fraction where the numerator is less than the denominator. </a:t>
            </a:r>
            <a:endParaRPr b="0" sz="1800"/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24000" y="1932150"/>
            <a:ext cx="8361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800"/>
              <a:t>An improper fraction is a fraction where the numerator is greater than or equal to the denominator.</a:t>
            </a:r>
            <a:endParaRPr b="0" sz="1800"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4000" y="3331425"/>
            <a:ext cx="8220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800"/>
              <a:t>A mixed number is an improper fraction written as its integer part plus the fractional part, where the fractional part is a proper fraction. </a:t>
            </a:r>
            <a:endParaRPr b="0" sz="1800"/>
          </a:p>
        </p:txBody>
      </p:sp>
      <p:sp>
        <p:nvSpPr>
          <p:cNvPr id="769" name="Google Shape;769;p67"/>
          <p:cNvSpPr txBox="1"/>
          <p:nvPr>
            <p:ph idx="1" type="subTitle"/>
          </p:nvPr>
        </p:nvSpPr>
        <p:spPr>
          <a:xfrm>
            <a:off x="5239076" y="1275313"/>
            <a:ext cx="1366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800"/>
              <a:t>Example</a:t>
            </a:r>
            <a:endParaRPr b="0" sz="1800"/>
          </a:p>
        </p:txBody>
      </p: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770" name="Google Shape;770;p67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9028" y="1026974"/>
            <a:ext cx="228960" cy="757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5}&quot;&gt;&lt;mfrac&gt;&lt;mn&gt;7&lt;/mn&gt;&lt;mn&gt;5&lt;/mn&gt;&lt;/mfrac&gt;&lt;/math&gt;" id="771" name="Google Shape;771;p67" title="seven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9027" y="2478241"/>
            <a:ext cx="228960" cy="735956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67"/>
          <p:cNvSpPr txBox="1"/>
          <p:nvPr>
            <p:ph idx="1" type="subTitle"/>
          </p:nvPr>
        </p:nvSpPr>
        <p:spPr>
          <a:xfrm>
            <a:off x="5239076" y="2530738"/>
            <a:ext cx="1366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800"/>
              <a:t>Example</a:t>
            </a:r>
            <a:endParaRPr b="0" sz="1800"/>
          </a:p>
        </p:txBody>
      </p:sp>
      <p:sp>
        <p:nvSpPr>
          <p:cNvPr id="773" name="Google Shape;773;p67"/>
          <p:cNvSpPr txBox="1"/>
          <p:nvPr>
            <p:ph idx="1" type="subTitle"/>
          </p:nvPr>
        </p:nvSpPr>
        <p:spPr>
          <a:xfrm>
            <a:off x="5239076" y="4237038"/>
            <a:ext cx="1366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800"/>
              <a:t>Example</a:t>
            </a:r>
            <a:endParaRPr b="0" sz="1800"/>
          </a:p>
        </p:txBody>
      </p:sp>
      <p:pic>
        <p:nvPicPr>
          <p:cNvPr descr="&lt;math xmlns=&quot;http://www.w3.org/1998/Math/MathML&quot; display=&quot;block&quot; data-is-equatio=&quot;1&quot; data-latex=&quot;3\dfrac{1}{2}&quot;&gt;&lt;mn&gt;3&lt;/mn&gt;&lt;mstyle displaystyle=&quot;true&quot; scriptlevel=&quot;0&quot;&gt;&lt;mfrac&gt;&lt;mn&gt;1&lt;/mn&gt;&lt;mn&gt;2&lt;/mn&gt;&lt;/mfrac&gt;&lt;/mstyle&gt;&lt;/math&gt;" id="774" name="Google Shape;774;p67" title="3 and 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6625" y="4054229"/>
            <a:ext cx="439700" cy="752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 as improper fractions</a:t>
            </a:r>
            <a:endParaRPr/>
          </a:p>
        </p:txBody>
      </p:sp>
      <p:sp>
        <p:nvSpPr>
          <p:cNvPr id="780" name="Google Shape;780;p6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numbers to improper fractions</a:t>
            </a:r>
            <a:endParaRPr/>
          </a:p>
        </p:txBody>
      </p:sp>
      <p:sp>
        <p:nvSpPr>
          <p:cNvPr id="781" name="Google Shape;781;p68"/>
          <p:cNvSpPr txBox="1"/>
          <p:nvPr>
            <p:ph idx="4" type="title"/>
          </p:nvPr>
        </p:nvSpPr>
        <p:spPr>
          <a:xfrm>
            <a:off x="324000" y="657600"/>
            <a:ext cx="81048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converting mixed numbers to improper fractions</a:t>
            </a:r>
            <a:endParaRPr/>
          </a:p>
        </p:txBody>
      </p:sp>
      <p:sp>
        <p:nvSpPr>
          <p:cNvPr id="782" name="Google Shape;782;p6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mixed numbers and improper fractions</a:t>
            </a:r>
            <a:endParaRPr/>
          </a:p>
        </p:txBody>
      </p:sp>
      <p:pic>
        <p:nvPicPr>
          <p:cNvPr id="783" name="Google Shape;78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525" y="17410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69"/>
          <p:cNvSpPr/>
          <p:nvPr/>
        </p:nvSpPr>
        <p:spPr>
          <a:xfrm>
            <a:off x="3248875" y="1754550"/>
            <a:ext cx="1709100" cy="1634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 as improper fractions</a:t>
            </a:r>
            <a:endParaRPr/>
          </a:p>
        </p:txBody>
      </p:sp>
      <p:sp>
        <p:nvSpPr>
          <p:cNvPr id="790" name="Google Shape;790;p69"/>
          <p:cNvSpPr txBox="1"/>
          <p:nvPr>
            <p:ph idx="4294967295" type="subTitle"/>
          </p:nvPr>
        </p:nvSpPr>
        <p:spPr>
          <a:xfrm>
            <a:off x="274225" y="810000"/>
            <a:ext cx="8361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An improper fraction is a fraction where the numerator is greater than or equal to the denominator.</a:t>
            </a:r>
            <a:endParaRPr b="0"/>
          </a:p>
        </p:txBody>
      </p:sp>
      <p:pic>
        <p:nvPicPr>
          <p:cNvPr descr="&lt;math xmlns=&quot;http://www.w3.org/1998/Math/MathML&quot; display=&quot;block&quot; data-is-equatio=&quot;1&quot; data-latex=&quot;\frac{7}{5}&quot;&gt;&lt;mfrac&gt;&lt;mn&gt;7&lt;/mn&gt;&lt;mn&gt;5&lt;/mn&gt;&lt;/mfrac&gt;&lt;/math&gt;" id="791" name="Google Shape;791;p69" title="seven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652" y="2373075"/>
            <a:ext cx="228960" cy="735956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69"/>
          <p:cNvSpPr txBox="1"/>
          <p:nvPr>
            <p:ph idx="4294967295" type="subTitle"/>
          </p:nvPr>
        </p:nvSpPr>
        <p:spPr>
          <a:xfrm>
            <a:off x="552601" y="1859875"/>
            <a:ext cx="1366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Example</a:t>
            </a:r>
            <a:endParaRPr b="0"/>
          </a:p>
        </p:txBody>
      </p:sp>
      <p:sp>
        <p:nvSpPr>
          <p:cNvPr id="793" name="Google Shape;793;p69"/>
          <p:cNvSpPr txBox="1"/>
          <p:nvPr>
            <p:ph idx="4294967295" type="subTitle"/>
          </p:nvPr>
        </p:nvSpPr>
        <p:spPr>
          <a:xfrm>
            <a:off x="3477126" y="1859875"/>
            <a:ext cx="1366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Example</a:t>
            </a:r>
            <a:endParaRPr b="0"/>
          </a:p>
        </p:txBody>
      </p:sp>
      <p:sp>
        <p:nvSpPr>
          <p:cNvPr id="794" name="Google Shape;794;p69"/>
          <p:cNvSpPr txBox="1"/>
          <p:nvPr>
            <p:ph idx="4294967295" type="subTitle"/>
          </p:nvPr>
        </p:nvSpPr>
        <p:spPr>
          <a:xfrm>
            <a:off x="6428950" y="1859875"/>
            <a:ext cx="22782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Non example</a:t>
            </a:r>
            <a:endParaRPr b="0"/>
          </a:p>
        </p:txBody>
      </p:sp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795" name="Google Shape;795;p69" title="three four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79525" y="2226675"/>
            <a:ext cx="276942" cy="882350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69"/>
          <p:cNvSpPr txBox="1"/>
          <p:nvPr/>
        </p:nvSpPr>
        <p:spPr>
          <a:xfrm>
            <a:off x="274225" y="3457300"/>
            <a:ext cx="8312100" cy="9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also know when the numerator is equal to the denominator this is 1.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5}{5}&quot;&gt;&lt;mfrac&gt;&lt;mn&gt;5&lt;/mn&gt;&lt;mn&gt;5&lt;/mn&gt;&lt;/mfrac&gt;&lt;/math&gt;" id="797" name="Google Shape;797;p69" title="five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47724" y="2268679"/>
            <a:ext cx="276950" cy="913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 as improper fractions</a:t>
            </a:r>
            <a:endParaRPr/>
          </a:p>
        </p:txBody>
      </p:sp>
      <p:graphicFrame>
        <p:nvGraphicFramePr>
          <p:cNvPr id="803" name="Google Shape;803;p70"/>
          <p:cNvGraphicFramePr/>
          <p:nvPr/>
        </p:nvGraphicFramePr>
        <p:xfrm>
          <a:off x="894450" y="15374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{9B07603F-D281-4387-817B-3BF9F890F917}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04" name="Google Shape;804;p70"/>
          <p:cNvSpPr txBox="1"/>
          <p:nvPr/>
        </p:nvSpPr>
        <p:spPr>
          <a:xfrm>
            <a:off x="324000" y="721750"/>
            <a:ext cx="7135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you explain the improper fraction represented here if each bar is worth 1 whole?</a:t>
            </a:r>
            <a:endParaRPr sz="2000"/>
          </a:p>
        </p:txBody>
      </p:sp>
      <p:graphicFrame>
        <p:nvGraphicFramePr>
          <p:cNvPr id="805" name="Google Shape;805;p70"/>
          <p:cNvGraphicFramePr/>
          <p:nvPr/>
        </p:nvGraphicFramePr>
        <p:xfrm>
          <a:off x="894450" y="21627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{9B07603F-D281-4387-817B-3BF9F890F917}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06" name="Google Shape;806;p70"/>
          <p:cNvGraphicFramePr/>
          <p:nvPr/>
        </p:nvGraphicFramePr>
        <p:xfrm>
          <a:off x="894450" y="28653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{9B07603F-D281-4387-817B-3BF9F890F917}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2}{4}&quot;&gt;&lt;mfrac&gt;&lt;mn&gt;12&lt;/mn&gt;&lt;mn&gt;4&lt;/mn&gt;&lt;/mfrac&gt;&lt;/math&gt;" id="807" name="Google Shape;807;p70" title="twelv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3050" y="3415504"/>
            <a:ext cx="340338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70"/>
          <p:cNvSpPr txBox="1"/>
          <p:nvPr/>
        </p:nvSpPr>
        <p:spPr>
          <a:xfrm>
            <a:off x="1569000" y="3475954"/>
            <a:ext cx="7113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ecause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 whole is represented as 4 equal parts </a:t>
            </a:r>
            <a:endParaRPr/>
          </a:p>
        </p:txBody>
      </p:sp>
      <p:sp>
        <p:nvSpPr>
          <p:cNvPr id="809" name="Google Shape;809;p70"/>
          <p:cNvSpPr txBox="1"/>
          <p:nvPr/>
        </p:nvSpPr>
        <p:spPr>
          <a:xfrm>
            <a:off x="1035600" y="4161754"/>
            <a:ext cx="7113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have 3 whole bars, so it is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3\times\frac{4}{4}=\frac{12}{4}=3&quot;&gt;&lt;mn&gt;3&lt;/mn&gt;&lt;mo&gt;×&lt;/mo&gt;&lt;mfrac&gt;&lt;mn&gt;4&lt;/mn&gt;&lt;mn&gt;4&lt;/mn&gt;&lt;/mfrac&gt;&lt;mo&gt;=&lt;/mo&gt;&lt;mfrac&gt;&lt;mn&gt;12&lt;/mn&gt;&lt;mn&gt;4&lt;/mn&gt;&lt;/mfrac&gt;&lt;mo&gt;=&lt;/mo&gt;&lt;mn&gt;3&lt;/mn&gt;&lt;/math&gt;" id="810" name="Google Shape;810;p70" title="3 times four fourths equals twelve fourths equals 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4150" y="4028367"/>
            <a:ext cx="2461050" cy="75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 as improper fractions</a:t>
            </a:r>
            <a:endParaRPr/>
          </a:p>
        </p:txBody>
      </p:sp>
      <p:graphicFrame>
        <p:nvGraphicFramePr>
          <p:cNvPr id="816" name="Google Shape;816;p71"/>
          <p:cNvGraphicFramePr/>
          <p:nvPr/>
        </p:nvGraphicFramePr>
        <p:xfrm>
          <a:off x="894450" y="119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{9B07603F-D281-4387-817B-3BF9F890F917}</a:tableStyleId>
              </a:tblPr>
              <a:tblGrid>
                <a:gridCol w="904875"/>
                <a:gridCol w="904875"/>
                <a:gridCol w="904875"/>
                <a:gridCol w="904875"/>
                <a:gridCol w="904875"/>
                <a:gridCol w="904875"/>
                <a:gridCol w="904875"/>
                <a:gridCol w="904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17" name="Google Shape;817;p71"/>
          <p:cNvSpPr txBox="1"/>
          <p:nvPr/>
        </p:nvSpPr>
        <p:spPr>
          <a:xfrm>
            <a:off x="324000" y="645550"/>
            <a:ext cx="812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you explain the improper fraction represented here?</a:t>
            </a:r>
            <a:endParaRPr sz="1200"/>
          </a:p>
        </p:txBody>
      </p:sp>
      <p:sp>
        <p:nvSpPr>
          <p:cNvPr id="818" name="Google Shape;818;p71"/>
          <p:cNvSpPr txBox="1"/>
          <p:nvPr/>
        </p:nvSpPr>
        <p:spPr>
          <a:xfrm>
            <a:off x="1569000" y="3512825"/>
            <a:ext cx="7113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because a whole is represented as 8 equal parts </a:t>
            </a:r>
            <a:endParaRPr/>
          </a:p>
        </p:txBody>
      </p:sp>
      <p:sp>
        <p:nvSpPr>
          <p:cNvPr id="819" name="Google Shape;819;p71"/>
          <p:cNvSpPr txBox="1"/>
          <p:nvPr/>
        </p:nvSpPr>
        <p:spPr>
          <a:xfrm>
            <a:off x="1035600" y="4198625"/>
            <a:ext cx="7113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have 4 whole bars, so it is </a:t>
            </a:r>
            <a:endParaRPr/>
          </a:p>
        </p:txBody>
      </p:sp>
      <p:graphicFrame>
        <p:nvGraphicFramePr>
          <p:cNvPr id="820" name="Google Shape;820;p71"/>
          <p:cNvGraphicFramePr/>
          <p:nvPr/>
        </p:nvGraphicFramePr>
        <p:xfrm>
          <a:off x="894450" y="1784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{9B07603F-D281-4387-817B-3BF9F890F917}</a:tableStyleId>
              </a:tblPr>
              <a:tblGrid>
                <a:gridCol w="904875"/>
                <a:gridCol w="904875"/>
                <a:gridCol w="904875"/>
                <a:gridCol w="904875"/>
                <a:gridCol w="904875"/>
                <a:gridCol w="904875"/>
                <a:gridCol w="904875"/>
                <a:gridCol w="904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21" name="Google Shape;821;p71"/>
          <p:cNvGraphicFramePr/>
          <p:nvPr/>
        </p:nvGraphicFramePr>
        <p:xfrm>
          <a:off x="894450" y="2397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{9B07603F-D281-4387-817B-3BF9F890F917}</a:tableStyleId>
              </a:tblPr>
              <a:tblGrid>
                <a:gridCol w="904875"/>
                <a:gridCol w="904875"/>
                <a:gridCol w="904875"/>
                <a:gridCol w="904875"/>
                <a:gridCol w="904875"/>
                <a:gridCol w="904875"/>
                <a:gridCol w="904875"/>
                <a:gridCol w="904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22" name="Google Shape;822;p71"/>
          <p:cNvGraphicFramePr/>
          <p:nvPr/>
        </p:nvGraphicFramePr>
        <p:xfrm>
          <a:off x="894450" y="3011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{9B07603F-D281-4387-817B-3BF9F890F917}</a:tableStyleId>
              </a:tblPr>
              <a:tblGrid>
                <a:gridCol w="904875"/>
                <a:gridCol w="904875"/>
                <a:gridCol w="904875"/>
                <a:gridCol w="904875"/>
                <a:gridCol w="904875"/>
                <a:gridCol w="904875"/>
                <a:gridCol w="904875"/>
                <a:gridCol w="904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32}{8}=4\ \times\frac{8}{8}=4&quot;&gt;&lt;mfrac&gt;&lt;mn&gt;32&lt;/mn&gt;&lt;mn&gt;8&lt;/mn&gt;&lt;/mfrac&gt;&lt;mo&gt;=&lt;/mo&gt;&lt;mn&gt;4&lt;/mn&gt;&lt;mtext&gt;&lt;/mtext&gt;&lt;mo&gt;×&lt;/mo&gt;&lt;mfrac&gt;&lt;mn&gt;8&lt;/mn&gt;&lt;mn&gt;8&lt;/mn&gt;&lt;/mfrac&gt;&lt;mo&gt;=&lt;/mo&gt;&lt;mn&gt;4&lt;/mn&gt;&lt;/math&gt;" id="823" name="Google Shape;823;p71" title="32 over 8 equals 4 times eight eighths equals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2900" y="4053844"/>
            <a:ext cx="2496296" cy="751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2}{8}=4\ \times\frac{8}{8}=4&quot;&gt;&lt;mfrac&gt;&lt;mn&gt;32&lt;/mn&gt;&lt;mn&gt;8&lt;/mn&gt;&lt;/mfrac&gt;&lt;mo&gt;=&lt;/mo&gt;&lt;mn&gt;4&lt;/mn&gt;&lt;mtext&gt;&lt;/mtext&gt;&lt;mo&gt;×&lt;/mo&gt;&lt;mfrac&gt;&lt;mn&gt;8&lt;/mn&gt;&lt;mn&gt;8&lt;/mn&gt;&lt;/mfrac&gt;&lt;mo&gt;=&lt;/mo&gt;&lt;mn&gt;4&lt;/mn&gt;&lt;/math&gt;" id="824" name="Google Shape;824;p71" title="32 over 8 equals 4 times eight eighths equals 4"/>
          <p:cNvPicPr preferRelativeResize="0"/>
          <p:nvPr/>
        </p:nvPicPr>
        <p:blipFill rotWithShape="1">
          <a:blip r:embed="rId3">
            <a:alphaModFix/>
          </a:blip>
          <a:srcRect b="0" l="0" r="78901" t="0"/>
          <a:stretch/>
        </p:blipFill>
        <p:spPr>
          <a:xfrm>
            <a:off x="1126850" y="3512825"/>
            <a:ext cx="480919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72"/>
          <p:cNvSpPr txBox="1"/>
          <p:nvPr>
            <p:ph idx="1" type="body"/>
          </p:nvPr>
        </p:nvSpPr>
        <p:spPr>
          <a:xfrm>
            <a:off x="324000" y="683100"/>
            <a:ext cx="8237700" cy="111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Fill in the missing gaps to write the improper fraction. Identify the calculation and work out the integer answer to each of the following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a)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b)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c)</a:t>
            </a:r>
            <a:endParaRPr sz="2100"/>
          </a:p>
        </p:txBody>
      </p:sp>
      <p:sp>
        <p:nvSpPr>
          <p:cNvPr id="830" name="Google Shape;830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 as improper fractions</a:t>
            </a:r>
            <a:endParaRPr/>
          </a:p>
        </p:txBody>
      </p:sp>
      <p:graphicFrame>
        <p:nvGraphicFramePr>
          <p:cNvPr id="831" name="Google Shape;831;p72"/>
          <p:cNvGraphicFramePr/>
          <p:nvPr/>
        </p:nvGraphicFramePr>
        <p:xfrm>
          <a:off x="877850" y="160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{9B07603F-D281-4387-817B-3BF9F890F917}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77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32" name="Google Shape;832;p72"/>
          <p:cNvGraphicFramePr/>
          <p:nvPr/>
        </p:nvGraphicFramePr>
        <p:xfrm>
          <a:off x="2664550" y="160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{9B07603F-D281-4387-817B-3BF9F890F917}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77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60759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=\ \frac{9}{3}=3\times\frac{3}{3}=3&quot;&gt;&lt;mo&gt;=&lt;/mo&gt;&lt;mtext&gt;&lt;/mtext&gt;&lt;mfrac&gt;&lt;mn&gt;9&lt;/mn&gt;&lt;mn&gt;3&lt;/mn&gt;&lt;/mfrac&gt;&lt;mo&gt;=&lt;/mo&gt;&lt;mn&gt;3&lt;/mn&gt;&lt;mo&gt;×&lt;/mo&gt;&lt;mfrac&gt;&lt;mn&gt;3&lt;/mn&gt;&lt;mn&gt;3&lt;/mn&gt;&lt;/mfrac&gt;&lt;mo&gt;=&lt;/mo&gt;&lt;mn&gt;3&lt;/mn&gt;&lt;/math&gt;" id="833" name="Google Shape;833;p72" title="equals nine thirds equals 3 times three thirds equals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4525" y="2743188"/>
            <a:ext cx="2919052" cy="815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 \frac{10}{2}=5\times\frac{2}{2}=5&quot;&gt;&lt;mo&gt;=&lt;/mo&gt;&lt;mtext&gt;&lt;/mtext&gt;&lt;mfrac&gt;&lt;mn&gt;10&lt;/mn&gt;&lt;mn&gt;2&lt;/mn&gt;&lt;/mfrac&gt;&lt;mo&gt;=&lt;/mo&gt;&lt;mn&gt;5&lt;/mn&gt;&lt;mo&gt;×&lt;/mo&gt;&lt;mfrac&gt;&lt;mn&gt;2&lt;/mn&gt;&lt;mn&gt;2&lt;/mn&gt;&lt;/mfrac&gt;&lt;mo&gt;=&lt;/mo&gt;&lt;mn&gt;5&lt;/mn&gt;&lt;/math&gt;" id="834" name="Google Shape;834;p72" title="equals ten halves equals 5 times two halves equals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3598" y="3876143"/>
            <a:ext cx="2919051" cy="761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 \frac{8}{4}=2\times\frac{4}{4}=2&quot;&gt;&lt;mo&gt;=&lt;/mo&gt;&lt;mtext&gt;&lt;/mtext&gt;&lt;mfrac&gt;&lt;mn&gt;8&lt;/mn&gt;&lt;mn&gt;4&lt;/mn&gt;&lt;/mfrac&gt;&lt;mo&gt;=&lt;/mo&gt;&lt;mn&gt;2&lt;/mn&gt;&lt;mo&gt;×&lt;/mo&gt;&lt;mfrac&gt;&lt;mn&gt;4&lt;/mn&gt;&lt;mn&gt;4&lt;/mn&gt;&lt;/mfrac&gt;&lt;mo&gt;=&lt;/mo&gt;&lt;mn&gt;2&lt;/mn&gt;&lt;/math&gt;" id="835" name="Google Shape;835;p72" title="equals eight fourths equals 2 times four fourths equals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14525" y="1510309"/>
            <a:ext cx="2919052" cy="8058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6" name="Google Shape;836;p72"/>
          <p:cNvGrpSpPr/>
          <p:nvPr/>
        </p:nvGrpSpPr>
        <p:grpSpPr>
          <a:xfrm>
            <a:off x="877849" y="2738125"/>
            <a:ext cx="1002581" cy="859325"/>
            <a:chOff x="1643549" y="2649525"/>
            <a:chExt cx="1002581" cy="859325"/>
          </a:xfrm>
        </p:grpSpPr>
        <p:pic>
          <p:nvPicPr>
            <p:cNvPr id="837" name="Google Shape;837;p7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643549" y="2649525"/>
              <a:ext cx="1002581" cy="859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8" name="Google Shape;838;p72"/>
            <p:cNvSpPr/>
            <p:nvPr/>
          </p:nvSpPr>
          <p:spPr>
            <a:xfrm>
              <a:off x="1660638" y="2673425"/>
              <a:ext cx="968400" cy="811500"/>
            </a:xfrm>
            <a:prstGeom prst="triangle">
              <a:avLst>
                <a:gd fmla="val 50000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39" name="Google Shape;839;p72"/>
          <p:cNvGrpSpPr/>
          <p:nvPr/>
        </p:nvGrpSpPr>
        <p:grpSpPr>
          <a:xfrm>
            <a:off x="2026399" y="2738125"/>
            <a:ext cx="1002581" cy="859325"/>
            <a:chOff x="1643549" y="2649525"/>
            <a:chExt cx="1002581" cy="859325"/>
          </a:xfrm>
        </p:grpSpPr>
        <p:pic>
          <p:nvPicPr>
            <p:cNvPr id="840" name="Google Shape;840;p7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643549" y="2649525"/>
              <a:ext cx="1002581" cy="859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1" name="Google Shape;841;p72"/>
            <p:cNvSpPr/>
            <p:nvPr/>
          </p:nvSpPr>
          <p:spPr>
            <a:xfrm>
              <a:off x="1660638" y="2673425"/>
              <a:ext cx="968400" cy="811500"/>
            </a:xfrm>
            <a:prstGeom prst="triangle">
              <a:avLst>
                <a:gd fmla="val 50000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42" name="Google Shape;842;p72"/>
          <p:cNvGrpSpPr/>
          <p:nvPr/>
        </p:nvGrpSpPr>
        <p:grpSpPr>
          <a:xfrm>
            <a:off x="3174949" y="2738125"/>
            <a:ext cx="1002581" cy="859325"/>
            <a:chOff x="1643549" y="2649525"/>
            <a:chExt cx="1002581" cy="859325"/>
          </a:xfrm>
        </p:grpSpPr>
        <p:pic>
          <p:nvPicPr>
            <p:cNvPr id="843" name="Google Shape;843;p7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643549" y="2649525"/>
              <a:ext cx="1002581" cy="859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4" name="Google Shape;844;p72"/>
            <p:cNvSpPr/>
            <p:nvPr/>
          </p:nvSpPr>
          <p:spPr>
            <a:xfrm>
              <a:off x="1660638" y="2673425"/>
              <a:ext cx="968400" cy="811500"/>
            </a:xfrm>
            <a:prstGeom prst="triangle">
              <a:avLst>
                <a:gd fmla="val 50000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45" name="Google Shape;845;p72"/>
          <p:cNvSpPr/>
          <p:nvPr/>
        </p:nvSpPr>
        <p:spPr>
          <a:xfrm>
            <a:off x="6391874" y="1422250"/>
            <a:ext cx="410100" cy="462000"/>
          </a:xfrm>
          <a:prstGeom prst="rect">
            <a:avLst/>
          </a:prstGeom>
          <a:solidFill>
            <a:srgbClr val="F3EEFB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72"/>
          <p:cNvSpPr/>
          <p:nvPr/>
        </p:nvSpPr>
        <p:spPr>
          <a:xfrm>
            <a:off x="6391874" y="2051074"/>
            <a:ext cx="410100" cy="462000"/>
          </a:xfrm>
          <a:prstGeom prst="rect">
            <a:avLst/>
          </a:prstGeom>
          <a:solidFill>
            <a:srgbClr val="F3EEFB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7" name="Google Shape;847;p72"/>
          <p:cNvSpPr/>
          <p:nvPr/>
        </p:nvSpPr>
        <p:spPr>
          <a:xfrm>
            <a:off x="7192970" y="1682252"/>
            <a:ext cx="410100" cy="462000"/>
          </a:xfrm>
          <a:prstGeom prst="rect">
            <a:avLst/>
          </a:prstGeom>
          <a:solidFill>
            <a:srgbClr val="F3EEFB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8" name="Google Shape;848;p72"/>
          <p:cNvSpPr/>
          <p:nvPr/>
        </p:nvSpPr>
        <p:spPr>
          <a:xfrm>
            <a:off x="4997177" y="3216888"/>
            <a:ext cx="410100" cy="462000"/>
          </a:xfrm>
          <a:prstGeom prst="rect">
            <a:avLst/>
          </a:prstGeom>
          <a:solidFill>
            <a:srgbClr val="F3EEFB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72"/>
          <p:cNvSpPr/>
          <p:nvPr/>
        </p:nvSpPr>
        <p:spPr>
          <a:xfrm>
            <a:off x="5730088" y="2960836"/>
            <a:ext cx="371400" cy="380700"/>
          </a:xfrm>
          <a:prstGeom prst="rect">
            <a:avLst/>
          </a:prstGeom>
          <a:solidFill>
            <a:srgbClr val="F3EEFB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0" name="Google Shape;850;p72"/>
          <p:cNvSpPr/>
          <p:nvPr/>
        </p:nvSpPr>
        <p:spPr>
          <a:xfrm>
            <a:off x="7195278" y="2865170"/>
            <a:ext cx="410100" cy="462000"/>
          </a:xfrm>
          <a:prstGeom prst="rect">
            <a:avLst/>
          </a:prstGeom>
          <a:solidFill>
            <a:srgbClr val="F3EEFB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72"/>
          <p:cNvSpPr/>
          <p:nvPr/>
        </p:nvSpPr>
        <p:spPr>
          <a:xfrm>
            <a:off x="7234492" y="3986158"/>
            <a:ext cx="410100" cy="462000"/>
          </a:xfrm>
          <a:prstGeom prst="rect">
            <a:avLst/>
          </a:prstGeom>
          <a:solidFill>
            <a:srgbClr val="F3EEFB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2" name="Google Shape;852;p72"/>
          <p:cNvSpPr/>
          <p:nvPr/>
        </p:nvSpPr>
        <p:spPr>
          <a:xfrm>
            <a:off x="4997177" y="3761135"/>
            <a:ext cx="410100" cy="462000"/>
          </a:xfrm>
          <a:prstGeom prst="rect">
            <a:avLst/>
          </a:prstGeom>
          <a:solidFill>
            <a:srgbClr val="F3EEFB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72"/>
          <p:cNvSpPr/>
          <p:nvPr/>
        </p:nvSpPr>
        <p:spPr>
          <a:xfrm>
            <a:off x="4997177" y="4358390"/>
            <a:ext cx="410100" cy="462000"/>
          </a:xfrm>
          <a:prstGeom prst="rect">
            <a:avLst/>
          </a:prstGeom>
          <a:solidFill>
            <a:srgbClr val="F3EEFB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4" name="Google Shape;854;p72"/>
          <p:cNvSpPr/>
          <p:nvPr/>
        </p:nvSpPr>
        <p:spPr>
          <a:xfrm>
            <a:off x="5846528" y="4025744"/>
            <a:ext cx="371400" cy="462000"/>
          </a:xfrm>
          <a:prstGeom prst="rect">
            <a:avLst/>
          </a:prstGeom>
          <a:solidFill>
            <a:srgbClr val="F3EEFB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72"/>
          <p:cNvSpPr/>
          <p:nvPr/>
        </p:nvSpPr>
        <p:spPr>
          <a:xfrm>
            <a:off x="6500636" y="3761146"/>
            <a:ext cx="371400" cy="462000"/>
          </a:xfrm>
          <a:prstGeom prst="rect">
            <a:avLst/>
          </a:prstGeom>
          <a:solidFill>
            <a:srgbClr val="F3EEFB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72"/>
          <p:cNvSpPr/>
          <p:nvPr/>
        </p:nvSpPr>
        <p:spPr>
          <a:xfrm>
            <a:off x="6500636" y="4358402"/>
            <a:ext cx="371400" cy="462000"/>
          </a:xfrm>
          <a:prstGeom prst="rect">
            <a:avLst/>
          </a:prstGeom>
          <a:solidFill>
            <a:srgbClr val="F3EEFB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7" name="Google Shape;857;p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8350" y="3952350"/>
            <a:ext cx="61350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58474" y="3952350"/>
            <a:ext cx="61350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8598" y="3952350"/>
            <a:ext cx="61350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98722" y="3952350"/>
            <a:ext cx="61350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68846" y="3952350"/>
            <a:ext cx="613500" cy="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73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Match the improper fraction with the correct integer.</a:t>
            </a:r>
            <a:endParaRPr/>
          </a:p>
        </p:txBody>
      </p:sp>
      <p:sp>
        <p:nvSpPr>
          <p:cNvPr id="867" name="Google Shape;867;p7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 as improper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2}{2}\ \ \ \ \frac{15}{3}\ \ \ \ \frac{50}{5}\ \ \ \ \frac{9}{9}\ \ \ \ \frac{110}{10}\ \ \ \ \frac{24}{12}\ \ \ \ \frac{300}{15}&quot;&gt;&lt;mfrac&gt;&lt;mn&gt;12&lt;/mn&gt;&lt;mn&gt;2&lt;/mn&gt;&lt;/mfrac&gt;&lt;mtext&gt;&lt;/mtext&gt;&lt;mtext&gt;&lt;/mtext&gt;&lt;mtext&gt;&lt;/mtext&gt;&lt;mtext&gt;&lt;/mtext&gt;&lt;mfrac&gt;&lt;mn&gt;15&lt;/mn&gt;&lt;mn&gt;3&lt;/mn&gt;&lt;/mfrac&gt;&lt;mtext&gt;&lt;/mtext&gt;&lt;mtext&gt;&lt;/mtext&gt;&lt;mtext&gt;&lt;/mtext&gt;&lt;mtext&gt;&lt;/mtext&gt;&lt;mfrac&gt;&lt;mn&gt;50&lt;/mn&gt;&lt;mn&gt;5&lt;/mn&gt;&lt;/mfrac&gt;&lt;mtext&gt;&lt;/mtext&gt;&lt;mtext&gt;&lt;/mtext&gt;&lt;mtext&gt;&lt;/mtext&gt;&lt;mtext&gt;&lt;/mtext&gt;&lt;mfrac&gt;&lt;mn&gt;9&lt;/mn&gt;&lt;mn&gt;9&lt;/mn&gt;&lt;/mfrac&gt;&lt;mtext&gt;&lt;/mtext&gt;&lt;mtext&gt;&lt;/mtext&gt;&lt;mtext&gt;&lt;/mtext&gt;&lt;mtext&gt;&lt;/mtext&gt;&lt;mfrac&gt;&lt;mn&gt;110&lt;/mn&gt;&lt;mn&gt;10&lt;/mn&gt;&lt;/mfrac&gt;&lt;mtext&gt;&lt;/mtext&gt;&lt;mtext&gt;&lt;/mtext&gt;&lt;mtext&gt;&lt;/mtext&gt;&lt;mtext&gt;&lt;/mtext&gt;&lt;mfrac&gt;&lt;mn&gt;24&lt;/mn&gt;&lt;mn&gt;12&lt;/mn&gt;&lt;/mfrac&gt;&lt;mtext&gt;&lt;/mtext&gt;&lt;mtext&gt;&lt;/mtext&gt;&lt;mtext&gt;&lt;/mtext&gt;&lt;mtext&gt;&lt;/mtext&gt;&lt;mfrac&gt;&lt;mn&gt;300&lt;/mn&gt;&lt;mn&gt;15&lt;/mn&gt;&lt;/mfrac&gt;&lt;/math&gt;" id="868" name="Google Shape;868;p73" title="twelve halves fifteen thirds 50 over 5 nine ninths 110 over 10 24 over 12 300 over 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00" y="1535575"/>
            <a:ext cx="8037775" cy="106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\ \ \ \ 2\ \ \ \ 5\ \ \ \ 6\ \ \ \ \ 10\ \ \ \ 11\ \ \ \ 20&quot;&gt;&lt;mn&gt;1&lt;/mn&gt;&lt;mtext&gt;&lt;/mtext&gt;&lt;mtext&gt;&lt;/mtext&gt;&lt;mtext&gt;&lt;/mtext&gt;&lt;mtext&gt;&lt;/mtext&gt;&lt;mn&gt;2&lt;/mn&gt;&lt;mtext&gt;&lt;/mtext&gt;&lt;mtext&gt;&lt;/mtext&gt;&lt;mtext&gt;&lt;/mtext&gt;&lt;mtext&gt;&lt;/mtext&gt;&lt;mn&gt;5&lt;/mn&gt;&lt;mtext&gt;&lt;/mtext&gt;&lt;mtext&gt;&lt;/mtext&gt;&lt;mtext&gt;&lt;/mtext&gt;&lt;mtext&gt;&lt;/mtext&gt;&lt;mn&gt;6&lt;/mn&gt;&lt;mtext&gt;&lt;/mtext&gt;&lt;mtext&gt;&lt;/mtext&gt;&lt;mtext&gt;&lt;/mtext&gt;&lt;mtext&gt;&lt;/mtext&gt;&lt;mtext&gt;&lt;/mtext&gt;&lt;mn&gt;10&lt;/mn&gt;&lt;mtext&gt;&lt;/mtext&gt;&lt;mtext&gt;&lt;/mtext&gt;&lt;mtext&gt;&lt;/mtext&gt;&lt;mtext&gt;&lt;/mtext&gt;&lt;mn&gt;11&lt;/mn&gt;&lt;mtext&gt;&lt;/mtext&gt;&lt;mtext&gt;&lt;/mtext&gt;&lt;mtext&gt;&lt;/mtext&gt;&lt;mtext&gt;&lt;/mtext&gt;&lt;mn&gt;20&lt;/mn&gt;&lt;/math&gt;" id="869" name="Google Shape;869;p73" title="1 2 5 6 10 11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0511" y="3471888"/>
            <a:ext cx="6562975" cy="41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74"/>
          <p:cNvSpPr txBox="1"/>
          <p:nvPr>
            <p:ph idx="1" type="body"/>
          </p:nvPr>
        </p:nvSpPr>
        <p:spPr>
          <a:xfrm>
            <a:off x="340725" y="732111"/>
            <a:ext cx="8237700" cy="43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2"/>
            </a:pPr>
            <a:r>
              <a:rPr lang="en-GB"/>
              <a:t> Fill in the gaps to evaluate the answer to 4.</a:t>
            </a:r>
            <a:endParaRPr/>
          </a:p>
        </p:txBody>
      </p:sp>
      <p:sp>
        <p:nvSpPr>
          <p:cNvPr id="875" name="Google Shape;875;p7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Integers as improper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74"/>
          <p:cNvSpPr/>
          <p:nvPr/>
        </p:nvSpPr>
        <p:spPr>
          <a:xfrm>
            <a:off x="3738400" y="2474701"/>
            <a:ext cx="1289952" cy="1219536"/>
          </a:xfrm>
          <a:prstGeom prst="cloud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4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77" name="Google Shape;877;p74"/>
          <p:cNvCxnSpPr/>
          <p:nvPr/>
        </p:nvCxnSpPr>
        <p:spPr>
          <a:xfrm flipH="1" rot="10800000">
            <a:off x="4965800" y="2191363"/>
            <a:ext cx="624000" cy="484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8" name="Google Shape;878;p74"/>
          <p:cNvCxnSpPr/>
          <p:nvPr/>
        </p:nvCxnSpPr>
        <p:spPr>
          <a:xfrm>
            <a:off x="5006000" y="2995663"/>
            <a:ext cx="947100" cy="213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9" name="Google Shape;879;p74"/>
          <p:cNvCxnSpPr>
            <a:endCxn id="880" idx="0"/>
          </p:cNvCxnSpPr>
          <p:nvPr/>
        </p:nvCxnSpPr>
        <p:spPr>
          <a:xfrm>
            <a:off x="4534325" y="3601813"/>
            <a:ext cx="45900" cy="401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1" name="Google Shape;881;p74"/>
          <p:cNvCxnSpPr/>
          <p:nvPr/>
        </p:nvCxnSpPr>
        <p:spPr>
          <a:xfrm rot="10800000">
            <a:off x="3058874" y="2925357"/>
            <a:ext cx="679500" cy="83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2" name="Google Shape;882;p74"/>
          <p:cNvCxnSpPr/>
          <p:nvPr/>
        </p:nvCxnSpPr>
        <p:spPr>
          <a:xfrm rot="10800000">
            <a:off x="3421200" y="2051313"/>
            <a:ext cx="527100" cy="550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3" name="Google Shape;883;p74"/>
          <p:cNvCxnSpPr/>
          <p:nvPr/>
        </p:nvCxnSpPr>
        <p:spPr>
          <a:xfrm flipH="1" rot="10800000">
            <a:off x="4337475" y="1895413"/>
            <a:ext cx="96600" cy="592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4" name="Google Shape;884;p74"/>
          <p:cNvCxnSpPr/>
          <p:nvPr/>
        </p:nvCxnSpPr>
        <p:spPr>
          <a:xfrm flipH="1">
            <a:off x="3353178" y="3525801"/>
            <a:ext cx="601800" cy="405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5" name="Google Shape;885;p74"/>
          <p:cNvCxnSpPr/>
          <p:nvPr/>
        </p:nvCxnSpPr>
        <p:spPr>
          <a:xfrm>
            <a:off x="4777400" y="3529063"/>
            <a:ext cx="683100" cy="476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frac{8}{2}\ \ \ \frac{40}{10}\ \ \ \ \frac{12}{3}\ \ \ \ \ \ \ \frac{16}{4}\ \ \ \ \ \ \ \frac{80}{20}\ \ \ \ \ \frac{64}{16}&quot;&gt;&lt;mfrac&gt;&lt;mn&gt;8&lt;/mn&gt;&lt;mn&gt;2&lt;/mn&gt;&lt;/mfrac&gt;&lt;mtext&gt;&lt;/mtext&gt;&lt;mtext&gt;&lt;/mtext&gt;&lt;mtext&gt;&lt;/mtext&gt;&lt;mfrac&gt;&lt;mn&gt;40&lt;/mn&gt;&lt;mn&gt;10&lt;/mn&gt;&lt;/mfrac&gt;&lt;mtext&gt;&lt;/mtext&gt;&lt;mtext&gt;&lt;/mtext&gt;&lt;mtext&gt;&lt;/mtext&gt;&lt;mtext&gt;&lt;/mtext&gt;&lt;mfrac&gt;&lt;mn&gt;12&lt;/mn&gt;&lt;mn&gt;3&lt;/mn&gt;&lt;/mfrac&gt;&lt;mtext&gt;&lt;/mtext&gt;&lt;mtext&gt;&lt;/mtext&gt;&lt;mtext&gt;&lt;/mtext&gt;&lt;mtext&gt;&lt;/mtext&gt;&lt;mtext&gt;&lt;/mtext&gt;&lt;mtext&gt;&lt;/mtext&gt;&lt;mtext&gt;&lt;/mtext&gt;&lt;mfrac&gt;&lt;mn&gt;16&lt;/mn&gt;&lt;mn&gt;4&lt;/mn&gt;&lt;/mfrac&gt;&lt;mtext&gt;&lt;/mtext&gt;&lt;mtext&gt;&lt;/mtext&gt;&lt;mtext&gt;&lt;/mtext&gt;&lt;mtext&gt;&lt;/mtext&gt;&lt;mtext&gt;&lt;/mtext&gt;&lt;mtext&gt;&lt;/mtext&gt;&lt;mtext&gt;&lt;/mtext&gt;&lt;mfrac&gt;&lt;mn&gt;80&lt;/mn&gt;&lt;mn&gt;20&lt;/mn&gt;&lt;/mfrac&gt;&lt;mtext&gt;&lt;/mtext&gt;&lt;mtext&gt;&lt;/mtext&gt;&lt;mtext&gt;&lt;/mtext&gt;&lt;mtext&gt;&lt;/mtext&gt;&lt;mtext&gt;&lt;/mtext&gt;&lt;mfrac&gt;&lt;mn&gt;64&lt;/mn&gt;&lt;mn&gt;16&lt;/mn&gt;&lt;/mfrac&gt;&lt;/math&gt;" id="886" name="Google Shape;886;p74" title="eight halves 40 over 10 twelve thirds sixteen fourths 80 over 20 64 over 16"/>
          <p:cNvPicPr preferRelativeResize="0"/>
          <p:nvPr/>
        </p:nvPicPr>
        <p:blipFill rotWithShape="1">
          <a:blip r:embed="rId3">
            <a:alphaModFix/>
          </a:blip>
          <a:srcRect b="0" l="0" r="92054" t="0"/>
          <a:stretch/>
        </p:blipFill>
        <p:spPr>
          <a:xfrm>
            <a:off x="4400337" y="1182301"/>
            <a:ext cx="343325" cy="6465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2}\ \ \ \frac{40}{10}\ \ \ \ \frac{12}{3}\ \ \ \ \ \ \ \frac{16}{4}\ \ \ \ \ \ \ \frac{80}{20}\ \ \ \ \ \frac{64}{16}&quot;&gt;&lt;mfrac&gt;&lt;mn&gt;8&lt;/mn&gt;&lt;mn&gt;2&lt;/mn&gt;&lt;/mfrac&gt;&lt;mtext&gt;&lt;/mtext&gt;&lt;mtext&gt;&lt;/mtext&gt;&lt;mtext&gt;&lt;/mtext&gt;&lt;mfrac&gt;&lt;mn&gt;40&lt;/mn&gt;&lt;mn&gt;10&lt;/mn&gt;&lt;/mfrac&gt;&lt;mtext&gt;&lt;/mtext&gt;&lt;mtext&gt;&lt;/mtext&gt;&lt;mtext&gt;&lt;/mtext&gt;&lt;mtext&gt;&lt;/mtext&gt;&lt;mfrac&gt;&lt;mn&gt;12&lt;/mn&gt;&lt;mn&gt;3&lt;/mn&gt;&lt;/mfrac&gt;&lt;mtext&gt;&lt;/mtext&gt;&lt;mtext&gt;&lt;/mtext&gt;&lt;mtext&gt;&lt;/mtext&gt;&lt;mtext&gt;&lt;/mtext&gt;&lt;mtext&gt;&lt;/mtext&gt;&lt;mtext&gt;&lt;/mtext&gt;&lt;mtext&gt;&lt;/mtext&gt;&lt;mfrac&gt;&lt;mn&gt;16&lt;/mn&gt;&lt;mn&gt;4&lt;/mn&gt;&lt;/mfrac&gt;&lt;mtext&gt;&lt;/mtext&gt;&lt;mtext&gt;&lt;/mtext&gt;&lt;mtext&gt;&lt;/mtext&gt;&lt;mtext&gt;&lt;/mtext&gt;&lt;mtext&gt;&lt;/mtext&gt;&lt;mtext&gt;&lt;/mtext&gt;&lt;mtext&gt;&lt;/mtext&gt;&lt;mfrac&gt;&lt;mn&gt;80&lt;/mn&gt;&lt;mn&gt;20&lt;/mn&gt;&lt;/mfrac&gt;&lt;mtext&gt;&lt;/mtext&gt;&lt;mtext&gt;&lt;/mtext&gt;&lt;mtext&gt;&lt;/mtext&gt;&lt;mtext&gt;&lt;/mtext&gt;&lt;mtext&gt;&lt;/mtext&gt;&lt;mfrac&gt;&lt;mn&gt;64&lt;/mn&gt;&lt;mn&gt;16&lt;/mn&gt;&lt;/mfrac&gt;&lt;/math&gt;" id="887" name="Google Shape;887;p74" title="eight halves 40 over 10 twelve thirds sixteen fourths 80 over 20 64 over 16"/>
          <p:cNvPicPr preferRelativeResize="0"/>
          <p:nvPr/>
        </p:nvPicPr>
        <p:blipFill rotWithShape="1">
          <a:blip r:embed="rId3">
            <a:alphaModFix/>
          </a:blip>
          <a:srcRect b="-13776" l="11402" r="79252" t="-10787"/>
          <a:stretch/>
        </p:blipFill>
        <p:spPr>
          <a:xfrm>
            <a:off x="5631500" y="1614488"/>
            <a:ext cx="403826" cy="80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2}\ \ \ \frac{40}{10}\ \ \ \ \frac{12}{3}\ \ \ \ \ \ \ \frac{16}{4}\ \ \ \ \ \ \ \frac{80}{20}\ \ \ \ \ \frac{64}{16}&quot;&gt;&lt;mfrac&gt;&lt;mn&gt;8&lt;/mn&gt;&lt;mn&gt;2&lt;/mn&gt;&lt;/mfrac&gt;&lt;mtext&gt;&lt;/mtext&gt;&lt;mtext&gt;&lt;/mtext&gt;&lt;mtext&gt;&lt;/mtext&gt;&lt;mfrac&gt;&lt;mn&gt;40&lt;/mn&gt;&lt;mn&gt;10&lt;/mn&gt;&lt;/mfrac&gt;&lt;mtext&gt;&lt;/mtext&gt;&lt;mtext&gt;&lt;/mtext&gt;&lt;mtext&gt;&lt;/mtext&gt;&lt;mtext&gt;&lt;/mtext&gt;&lt;mfrac&gt;&lt;mn&gt;12&lt;/mn&gt;&lt;mn&gt;3&lt;/mn&gt;&lt;/mfrac&gt;&lt;mtext&gt;&lt;/mtext&gt;&lt;mtext&gt;&lt;/mtext&gt;&lt;mtext&gt;&lt;/mtext&gt;&lt;mtext&gt;&lt;/mtext&gt;&lt;mtext&gt;&lt;/mtext&gt;&lt;mtext&gt;&lt;/mtext&gt;&lt;mtext&gt;&lt;/mtext&gt;&lt;mfrac&gt;&lt;mn&gt;16&lt;/mn&gt;&lt;mn&gt;4&lt;/mn&gt;&lt;/mfrac&gt;&lt;mtext&gt;&lt;/mtext&gt;&lt;mtext&gt;&lt;/mtext&gt;&lt;mtext&gt;&lt;/mtext&gt;&lt;mtext&gt;&lt;/mtext&gt;&lt;mtext&gt;&lt;/mtext&gt;&lt;mtext&gt;&lt;/mtext&gt;&lt;mtext&gt;&lt;/mtext&gt;&lt;mfrac&gt;&lt;mn&gt;80&lt;/mn&gt;&lt;mn&gt;20&lt;/mn&gt;&lt;/mfrac&gt;&lt;mtext&gt;&lt;/mtext&gt;&lt;mtext&gt;&lt;/mtext&gt;&lt;mtext&gt;&lt;/mtext&gt;&lt;mtext&gt;&lt;/mtext&gt;&lt;mtext&gt;&lt;/mtext&gt;&lt;mfrac&gt;&lt;mn&gt;64&lt;/mn&gt;&lt;mn&gt;16&lt;/mn&gt;&lt;/mfrac&gt;&lt;/math&gt;" id="888" name="Google Shape;888;p74" title="eight halves 40 over 10 twelve thirds sixteen fourths 80 over 20 64 over 16"/>
          <p:cNvPicPr preferRelativeResize="0"/>
          <p:nvPr/>
        </p:nvPicPr>
        <p:blipFill rotWithShape="1">
          <a:blip r:embed="rId3">
            <a:alphaModFix/>
          </a:blip>
          <a:srcRect b="-11981" l="26034" r="61616" t="-4230"/>
          <a:stretch/>
        </p:blipFill>
        <p:spPr>
          <a:xfrm>
            <a:off x="6035325" y="2851963"/>
            <a:ext cx="533649" cy="75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2}\ \ \ \frac{40}{10}\ \ \ \ \frac{12}{3}\ \ \ \ \ \ \ \frac{16}{4}\ \ \ \ \ \ \ \frac{80}{20}\ \ \ \ \ \frac{64}{16}&quot;&gt;&lt;mfrac&gt;&lt;mn&gt;8&lt;/mn&gt;&lt;mn&gt;2&lt;/mn&gt;&lt;/mfrac&gt;&lt;mtext&gt;&lt;/mtext&gt;&lt;mtext&gt;&lt;/mtext&gt;&lt;mtext&gt;&lt;/mtext&gt;&lt;mfrac&gt;&lt;mn&gt;40&lt;/mn&gt;&lt;mn&gt;10&lt;/mn&gt;&lt;/mfrac&gt;&lt;mtext&gt;&lt;/mtext&gt;&lt;mtext&gt;&lt;/mtext&gt;&lt;mtext&gt;&lt;/mtext&gt;&lt;mtext&gt;&lt;/mtext&gt;&lt;mfrac&gt;&lt;mn&gt;12&lt;/mn&gt;&lt;mn&gt;3&lt;/mn&gt;&lt;/mfrac&gt;&lt;mtext&gt;&lt;/mtext&gt;&lt;mtext&gt;&lt;/mtext&gt;&lt;mtext&gt;&lt;/mtext&gt;&lt;mtext&gt;&lt;/mtext&gt;&lt;mtext&gt;&lt;/mtext&gt;&lt;mtext&gt;&lt;/mtext&gt;&lt;mtext&gt;&lt;/mtext&gt;&lt;mfrac&gt;&lt;mn&gt;16&lt;/mn&gt;&lt;mn&gt;4&lt;/mn&gt;&lt;/mfrac&gt;&lt;mtext&gt;&lt;/mtext&gt;&lt;mtext&gt;&lt;/mtext&gt;&lt;mtext&gt;&lt;/mtext&gt;&lt;mtext&gt;&lt;/mtext&gt;&lt;mtext&gt;&lt;/mtext&gt;&lt;mtext&gt;&lt;/mtext&gt;&lt;mtext&gt;&lt;/mtext&gt;&lt;mfrac&gt;&lt;mn&gt;80&lt;/mn&gt;&lt;mn&gt;20&lt;/mn&gt;&lt;/mfrac&gt;&lt;mtext&gt;&lt;/mtext&gt;&lt;mtext&gt;&lt;/mtext&gt;&lt;mtext&gt;&lt;/mtext&gt;&lt;mtext&gt;&lt;/mtext&gt;&lt;mtext&gt;&lt;/mtext&gt;&lt;mfrac&gt;&lt;mn&gt;64&lt;/mn&gt;&lt;mn&gt;16&lt;/mn&gt;&lt;/mfrac&gt;&lt;/math&gt;" id="889" name="Google Shape;889;p74" title="eight halves 40 over 10 twelve thirds sixteen fourths 80 over 20 64 over 16"/>
          <p:cNvPicPr preferRelativeResize="0"/>
          <p:nvPr/>
        </p:nvPicPr>
        <p:blipFill rotWithShape="1">
          <a:blip r:embed="rId3">
            <a:alphaModFix/>
          </a:blip>
          <a:srcRect b="-8993" l="49559" r="38090" t="-7204"/>
          <a:stretch/>
        </p:blipFill>
        <p:spPr>
          <a:xfrm>
            <a:off x="5536350" y="3790263"/>
            <a:ext cx="533649" cy="75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2}\ \ \ \frac{40}{10}\ \ \ \ \frac{12}{3}\ \ \ \ \ \ \ \frac{16}{4}\ \ \ \ \ \ \ \frac{80}{20}\ \ \ \ \ \frac{64}{16}&quot;&gt;&lt;mfrac&gt;&lt;mn&gt;8&lt;/mn&gt;&lt;mn&gt;2&lt;/mn&gt;&lt;/mfrac&gt;&lt;mtext&gt;&lt;/mtext&gt;&lt;mtext&gt;&lt;/mtext&gt;&lt;mtext&gt;&lt;/mtext&gt;&lt;mfrac&gt;&lt;mn&gt;40&lt;/mn&gt;&lt;mn&gt;10&lt;/mn&gt;&lt;/mfrac&gt;&lt;mtext&gt;&lt;/mtext&gt;&lt;mtext&gt;&lt;/mtext&gt;&lt;mtext&gt;&lt;/mtext&gt;&lt;mtext&gt;&lt;/mtext&gt;&lt;mfrac&gt;&lt;mn&gt;12&lt;/mn&gt;&lt;mn&gt;3&lt;/mn&gt;&lt;/mfrac&gt;&lt;mtext&gt;&lt;/mtext&gt;&lt;mtext&gt;&lt;/mtext&gt;&lt;mtext&gt;&lt;/mtext&gt;&lt;mtext&gt;&lt;/mtext&gt;&lt;mtext&gt;&lt;/mtext&gt;&lt;mtext&gt;&lt;/mtext&gt;&lt;mtext&gt;&lt;/mtext&gt;&lt;mfrac&gt;&lt;mn&gt;16&lt;/mn&gt;&lt;mn&gt;4&lt;/mn&gt;&lt;/mfrac&gt;&lt;mtext&gt;&lt;/mtext&gt;&lt;mtext&gt;&lt;/mtext&gt;&lt;mtext&gt;&lt;/mtext&gt;&lt;mtext&gt;&lt;/mtext&gt;&lt;mtext&gt;&lt;/mtext&gt;&lt;mtext&gt;&lt;/mtext&gt;&lt;mtext&gt;&lt;/mtext&gt;&lt;mfrac&gt;&lt;mn&gt;80&lt;/mn&gt;&lt;mn&gt;20&lt;/mn&gt;&lt;/mfrac&gt;&lt;mtext&gt;&lt;/mtext&gt;&lt;mtext&gt;&lt;/mtext&gt;&lt;mtext&gt;&lt;/mtext&gt;&lt;mtext&gt;&lt;/mtext&gt;&lt;mtext&gt;&lt;/mtext&gt;&lt;mfrac&gt;&lt;mn&gt;64&lt;/mn&gt;&lt;mn&gt;16&lt;/mn&gt;&lt;/mfrac&gt;&lt;/math&gt;" id="880" name="Google Shape;880;p74" title="eight halves 40 over 10 twelve thirds sixteen fourths 80 over 20 64 over 16"/>
          <p:cNvPicPr preferRelativeResize="0"/>
          <p:nvPr/>
        </p:nvPicPr>
        <p:blipFill rotWithShape="1">
          <a:blip r:embed="rId3">
            <a:alphaModFix/>
          </a:blip>
          <a:srcRect b="-8111" l="70040" r="14234" t="-8099"/>
          <a:stretch/>
        </p:blipFill>
        <p:spPr>
          <a:xfrm>
            <a:off x="4240475" y="4003513"/>
            <a:ext cx="679500" cy="75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2}\ \ \ \frac{40}{10}\ \ \ \ \frac{12}{3}\ \ \ \ \ \ \ \frac{16}{4}\ \ \ \ \ \ \ \frac{80}{20}\ \ \ \ \ \frac{64}{16}&quot;&gt;&lt;mfrac&gt;&lt;mn&gt;8&lt;/mn&gt;&lt;mn&gt;2&lt;/mn&gt;&lt;/mfrac&gt;&lt;mtext&gt;&lt;/mtext&gt;&lt;mtext&gt;&lt;/mtext&gt;&lt;mtext&gt;&lt;/mtext&gt;&lt;mfrac&gt;&lt;mn&gt;40&lt;/mn&gt;&lt;mn&gt;10&lt;/mn&gt;&lt;/mfrac&gt;&lt;mtext&gt;&lt;/mtext&gt;&lt;mtext&gt;&lt;/mtext&gt;&lt;mtext&gt;&lt;/mtext&gt;&lt;mtext&gt;&lt;/mtext&gt;&lt;mfrac&gt;&lt;mn&gt;12&lt;/mn&gt;&lt;mn&gt;3&lt;/mn&gt;&lt;/mfrac&gt;&lt;mtext&gt;&lt;/mtext&gt;&lt;mtext&gt;&lt;/mtext&gt;&lt;mtext&gt;&lt;/mtext&gt;&lt;mtext&gt;&lt;/mtext&gt;&lt;mtext&gt;&lt;/mtext&gt;&lt;mtext&gt;&lt;/mtext&gt;&lt;mtext&gt;&lt;/mtext&gt;&lt;mfrac&gt;&lt;mn&gt;16&lt;/mn&gt;&lt;mn&gt;4&lt;/mn&gt;&lt;/mfrac&gt;&lt;mtext&gt;&lt;/mtext&gt;&lt;mtext&gt;&lt;/mtext&gt;&lt;mtext&gt;&lt;/mtext&gt;&lt;mtext&gt;&lt;/mtext&gt;&lt;mtext&gt;&lt;/mtext&gt;&lt;mtext&gt;&lt;/mtext&gt;&lt;mtext&gt;&lt;/mtext&gt;&lt;mfrac&gt;&lt;mn&gt;80&lt;/mn&gt;&lt;mn&gt;20&lt;/mn&gt;&lt;/mfrac&gt;&lt;mtext&gt;&lt;/mtext&gt;&lt;mtext&gt;&lt;/mtext&gt;&lt;mtext&gt;&lt;/mtext&gt;&lt;mtext&gt;&lt;/mtext&gt;&lt;mtext&gt;&lt;/mtext&gt;&lt;mfrac&gt;&lt;mn&gt;64&lt;/mn&gt;&lt;mn&gt;16&lt;/mn&gt;&lt;/mfrac&gt;&lt;/math&gt;" id="890" name="Google Shape;890;p74" title="eight halves 40 over 10 twelve thirds sixteen fourths 80 over 20 64 over 16"/>
          <p:cNvPicPr preferRelativeResize="0"/>
          <p:nvPr/>
        </p:nvPicPr>
        <p:blipFill rotWithShape="1">
          <a:blip r:embed="rId3">
            <a:alphaModFix/>
          </a:blip>
          <a:srcRect b="-13590" l="89939" r="-3866" t="-16212"/>
          <a:stretch/>
        </p:blipFill>
        <p:spPr>
          <a:xfrm>
            <a:off x="2808225" y="3545063"/>
            <a:ext cx="601799" cy="8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74"/>
          <p:cNvSpPr/>
          <p:nvPr/>
        </p:nvSpPr>
        <p:spPr>
          <a:xfrm>
            <a:off x="4337475" y="1614488"/>
            <a:ext cx="343200" cy="394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4"/>
          <p:cNvSpPr/>
          <p:nvPr/>
        </p:nvSpPr>
        <p:spPr>
          <a:xfrm>
            <a:off x="5661812" y="1568626"/>
            <a:ext cx="343200" cy="394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4"/>
          <p:cNvSpPr/>
          <p:nvPr/>
        </p:nvSpPr>
        <p:spPr>
          <a:xfrm>
            <a:off x="6185975" y="3265938"/>
            <a:ext cx="343200" cy="394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74"/>
          <p:cNvSpPr/>
          <p:nvPr/>
        </p:nvSpPr>
        <p:spPr>
          <a:xfrm>
            <a:off x="5598037" y="3684913"/>
            <a:ext cx="343200" cy="394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p74"/>
          <p:cNvSpPr/>
          <p:nvPr/>
        </p:nvSpPr>
        <p:spPr>
          <a:xfrm>
            <a:off x="4386325" y="4432363"/>
            <a:ext cx="343200" cy="394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6" name="Google Shape;896;p74"/>
          <p:cNvSpPr/>
          <p:nvPr/>
        </p:nvSpPr>
        <p:spPr>
          <a:xfrm>
            <a:off x="2887200" y="3497888"/>
            <a:ext cx="343200" cy="394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74"/>
          <p:cNvSpPr/>
          <p:nvPr/>
        </p:nvSpPr>
        <p:spPr>
          <a:xfrm>
            <a:off x="2546850" y="2791963"/>
            <a:ext cx="343200" cy="394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98" name="Google Shape;898;p74"/>
          <p:cNvCxnSpPr/>
          <p:nvPr/>
        </p:nvCxnSpPr>
        <p:spPr>
          <a:xfrm>
            <a:off x="2523150" y="2736463"/>
            <a:ext cx="366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9" name="Google Shape;899;p74"/>
          <p:cNvSpPr/>
          <p:nvPr/>
        </p:nvSpPr>
        <p:spPr>
          <a:xfrm>
            <a:off x="2535000" y="2286163"/>
            <a:ext cx="343200" cy="394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74"/>
          <p:cNvSpPr/>
          <p:nvPr/>
        </p:nvSpPr>
        <p:spPr>
          <a:xfrm>
            <a:off x="3082575" y="1786376"/>
            <a:ext cx="343200" cy="394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01" name="Google Shape;901;p74"/>
          <p:cNvCxnSpPr/>
          <p:nvPr/>
        </p:nvCxnSpPr>
        <p:spPr>
          <a:xfrm>
            <a:off x="3058875" y="1730876"/>
            <a:ext cx="366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2" name="Google Shape;902;p74"/>
          <p:cNvSpPr/>
          <p:nvPr/>
        </p:nvSpPr>
        <p:spPr>
          <a:xfrm>
            <a:off x="3070725" y="1280576"/>
            <a:ext cx="343200" cy="394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75"/>
          <p:cNvSpPr txBox="1"/>
          <p:nvPr>
            <p:ph idx="1" type="body"/>
          </p:nvPr>
        </p:nvSpPr>
        <p:spPr>
          <a:xfrm>
            <a:off x="324000" y="759300"/>
            <a:ext cx="8650800" cy="46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arenR" startAt="3"/>
            </a:pPr>
            <a:r>
              <a:rPr lang="en-GB" sz="2100"/>
              <a:t>Place</a:t>
            </a:r>
            <a:r>
              <a:rPr lang="en-GB" sz="2100"/>
              <a:t> the following on the number line.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908" name="Google Shape;908;p7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Integers as improper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75"/>
          <p:cNvSpPr txBox="1"/>
          <p:nvPr/>
        </p:nvSpPr>
        <p:spPr>
          <a:xfrm>
            <a:off x="324000" y="2221950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75"/>
          <p:cNvSpPr txBox="1"/>
          <p:nvPr/>
        </p:nvSpPr>
        <p:spPr>
          <a:xfrm>
            <a:off x="324000" y="2914100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75"/>
          <p:cNvSpPr txBox="1"/>
          <p:nvPr/>
        </p:nvSpPr>
        <p:spPr>
          <a:xfrm>
            <a:off x="324000" y="3606250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75"/>
          <p:cNvSpPr txBox="1"/>
          <p:nvPr/>
        </p:nvSpPr>
        <p:spPr>
          <a:xfrm>
            <a:off x="324000" y="4298400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5"/>
          <p:cNvSpPr txBox="1"/>
          <p:nvPr/>
        </p:nvSpPr>
        <p:spPr>
          <a:xfrm>
            <a:off x="3920825" y="3038463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75"/>
          <p:cNvSpPr txBox="1"/>
          <p:nvPr/>
        </p:nvSpPr>
        <p:spPr>
          <a:xfrm>
            <a:off x="3920825" y="3703000"/>
            <a:ext cx="457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75"/>
          <p:cNvSpPr txBox="1"/>
          <p:nvPr/>
        </p:nvSpPr>
        <p:spPr>
          <a:xfrm>
            <a:off x="3920825" y="4326450"/>
            <a:ext cx="17571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2}{1}\ \ \ \frac{12}{2}\ \ \ \frac{12}{\ 3}\ \ \ \ \frac{12}{4}\ \ \ \frac{12}{5}\ \ \ \frac{12}{6}\ \ \ \ \frac{12}{12}\ \ \ \frac{12}{13}&quot;&gt;&lt;mfrac&gt;&lt;mn&gt;12&lt;/mn&gt;&lt;mn&gt;1&lt;/mn&gt;&lt;/mfrac&gt;&lt;mtext&gt;&lt;/mtext&gt;&lt;mtext&gt;&lt;/mtext&gt;&lt;mtext&gt;&lt;/mtext&gt;&lt;mfrac&gt;&lt;mn&gt;12&lt;/mn&gt;&lt;mn&gt;2&lt;/mn&gt;&lt;/mfrac&gt;&lt;mtext&gt;&lt;/mtext&gt;&lt;mtext&gt;&lt;/mtext&gt;&lt;mtext&gt;&lt;/mtext&gt;&lt;mfrac&gt;&lt;mn&gt;12&lt;/mn&gt;&lt;mrow&gt;&lt;mtext&gt;&lt;/mtext&gt;&lt;mn&gt;3&lt;/mn&gt;&lt;/mrow&gt;&lt;/mfrac&gt;&lt;mtext&gt;&lt;/mtext&gt;&lt;mtext&gt;&lt;/mtext&gt;&lt;mtext&gt;&lt;/mtext&gt;&lt;mtext&gt;&lt;/mtext&gt;&lt;mfrac&gt;&lt;mn&gt;12&lt;/mn&gt;&lt;mn&gt;4&lt;/mn&gt;&lt;/mfrac&gt;&lt;mtext&gt;&lt;/mtext&gt;&lt;mtext&gt;&lt;/mtext&gt;&lt;mtext&gt;&lt;/mtext&gt;&lt;mfrac&gt;&lt;mn&gt;12&lt;/mn&gt;&lt;mn&gt;5&lt;/mn&gt;&lt;/mfrac&gt;&lt;mtext&gt;&lt;/mtext&gt;&lt;mtext&gt;&lt;/mtext&gt;&lt;mtext&gt;&lt;/mtext&gt;&lt;mfrac&gt;&lt;mn&gt;12&lt;/mn&gt;&lt;mn&gt;6&lt;/mn&gt;&lt;/mfrac&gt;&lt;mtext&gt;&lt;/mtext&gt;&lt;mtext&gt;&lt;/mtext&gt;&lt;mtext&gt;&lt;/mtext&gt;&lt;mtext&gt;&lt;/mtext&gt;&lt;mfrac&gt;&lt;mn&gt;12&lt;/mn&gt;&lt;mn&gt;12&lt;/mn&gt;&lt;/mfrac&gt;&lt;mtext&gt;&lt;/mtext&gt;&lt;mtext&gt;&lt;/mtext&gt;&lt;mtext&gt;&lt;/mtext&gt;&lt;mfrac&gt;&lt;mn&gt;12&lt;/mn&gt;&lt;mn&gt;13&lt;/mn&gt;&lt;/mfrac&gt;&lt;/math&gt;" id="916" name="Google Shape;916;p75" title="twelve oneths twelve halves the fraction with numerator 12 and denominator 3 twelve fourths twelve fifths twelve sixths 12 over 12 12 over 13"/>
          <p:cNvPicPr preferRelativeResize="0"/>
          <p:nvPr/>
        </p:nvPicPr>
        <p:blipFill rotWithShape="1">
          <a:blip r:embed="rId3">
            <a:alphaModFix/>
          </a:blip>
          <a:srcRect b="0" l="0" r="91057" t="0"/>
          <a:stretch/>
        </p:blipFill>
        <p:spPr>
          <a:xfrm>
            <a:off x="874200" y="2251588"/>
            <a:ext cx="392177" cy="556425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75"/>
          <p:cNvSpPr txBox="1"/>
          <p:nvPr/>
        </p:nvSpPr>
        <p:spPr>
          <a:xfrm>
            <a:off x="3920825" y="2373938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2}{1}\ \ \ \frac{12}{2}\ \ \ \frac{12}{\ 3}\ \ \ \ \frac{12}{4}\ \ \ \frac{12}{5}\ \ \ \frac{12}{6}\ \ \ \ \frac{12}{12}\ \ \ \frac{12}{13}&quot;&gt;&lt;mfrac&gt;&lt;mn&gt;12&lt;/mn&gt;&lt;mn&gt;1&lt;/mn&gt;&lt;/mfrac&gt;&lt;mtext&gt;&lt;/mtext&gt;&lt;mtext&gt;&lt;/mtext&gt;&lt;mtext&gt;&lt;/mtext&gt;&lt;mfrac&gt;&lt;mn&gt;12&lt;/mn&gt;&lt;mn&gt;2&lt;/mn&gt;&lt;/mfrac&gt;&lt;mtext&gt;&lt;/mtext&gt;&lt;mtext&gt;&lt;/mtext&gt;&lt;mtext&gt;&lt;/mtext&gt;&lt;mfrac&gt;&lt;mn&gt;12&lt;/mn&gt;&lt;mrow&gt;&lt;mtext&gt;&lt;/mtext&gt;&lt;mn&gt;3&lt;/mn&gt;&lt;/mrow&gt;&lt;/mfrac&gt;&lt;mtext&gt;&lt;/mtext&gt;&lt;mtext&gt;&lt;/mtext&gt;&lt;mtext&gt;&lt;/mtext&gt;&lt;mtext&gt;&lt;/mtext&gt;&lt;mfrac&gt;&lt;mn&gt;12&lt;/mn&gt;&lt;mn&gt;4&lt;/mn&gt;&lt;/mfrac&gt;&lt;mtext&gt;&lt;/mtext&gt;&lt;mtext&gt;&lt;/mtext&gt;&lt;mtext&gt;&lt;/mtext&gt;&lt;mfrac&gt;&lt;mn&gt;12&lt;/mn&gt;&lt;mn&gt;5&lt;/mn&gt;&lt;/mfrac&gt;&lt;mtext&gt;&lt;/mtext&gt;&lt;mtext&gt;&lt;/mtext&gt;&lt;mtext&gt;&lt;/mtext&gt;&lt;mfrac&gt;&lt;mn&gt;12&lt;/mn&gt;&lt;mn&gt;6&lt;/mn&gt;&lt;/mfrac&gt;&lt;mtext&gt;&lt;/mtext&gt;&lt;mtext&gt;&lt;/mtext&gt;&lt;mtext&gt;&lt;/mtext&gt;&lt;mtext&gt;&lt;/mtext&gt;&lt;mfrac&gt;&lt;mn&gt;12&lt;/mn&gt;&lt;mn&gt;12&lt;/mn&gt;&lt;/mfrac&gt;&lt;mtext&gt;&lt;/mtext&gt;&lt;mtext&gt;&lt;/mtext&gt;&lt;mtext&gt;&lt;/mtext&gt;&lt;mfrac&gt;&lt;mn&gt;12&lt;/mn&gt;&lt;mn&gt;13&lt;/mn&gt;&lt;/mfrac&gt;&lt;/math&gt;" id="918" name="Google Shape;918;p75" title="twelve oneths twelve halves the fraction with numerator 12 and denominator 3 twelve fourths twelve fifths twelve sixths 12 over 12 12 over 13"/>
          <p:cNvPicPr preferRelativeResize="0"/>
          <p:nvPr/>
        </p:nvPicPr>
        <p:blipFill rotWithShape="1">
          <a:blip r:embed="rId3">
            <a:alphaModFix/>
          </a:blip>
          <a:srcRect b="0" l="11796" r="79260" t="0"/>
          <a:stretch/>
        </p:blipFill>
        <p:spPr>
          <a:xfrm>
            <a:off x="865989" y="2928913"/>
            <a:ext cx="392177" cy="556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}\ \ \ \frac{12}{2}\ \ \ \frac{12}{\ 3}\ \ \ \ \frac{12}{4}\ \ \ \frac{12}{5}\ \ \ \frac{12}{6}\ \ \ \ \frac{12}{12}\ \ \ \frac{12}{13}&quot;&gt;&lt;mfrac&gt;&lt;mn&gt;12&lt;/mn&gt;&lt;mn&gt;1&lt;/mn&gt;&lt;/mfrac&gt;&lt;mtext&gt;&lt;/mtext&gt;&lt;mtext&gt;&lt;/mtext&gt;&lt;mtext&gt;&lt;/mtext&gt;&lt;mfrac&gt;&lt;mn&gt;12&lt;/mn&gt;&lt;mn&gt;2&lt;/mn&gt;&lt;/mfrac&gt;&lt;mtext&gt;&lt;/mtext&gt;&lt;mtext&gt;&lt;/mtext&gt;&lt;mtext&gt;&lt;/mtext&gt;&lt;mfrac&gt;&lt;mn&gt;12&lt;/mn&gt;&lt;mrow&gt;&lt;mtext&gt;&lt;/mtext&gt;&lt;mn&gt;3&lt;/mn&gt;&lt;/mrow&gt;&lt;/mfrac&gt;&lt;mtext&gt;&lt;/mtext&gt;&lt;mtext&gt;&lt;/mtext&gt;&lt;mtext&gt;&lt;/mtext&gt;&lt;mtext&gt;&lt;/mtext&gt;&lt;mfrac&gt;&lt;mn&gt;12&lt;/mn&gt;&lt;mn&gt;4&lt;/mn&gt;&lt;/mfrac&gt;&lt;mtext&gt;&lt;/mtext&gt;&lt;mtext&gt;&lt;/mtext&gt;&lt;mtext&gt;&lt;/mtext&gt;&lt;mfrac&gt;&lt;mn&gt;12&lt;/mn&gt;&lt;mn&gt;5&lt;/mn&gt;&lt;/mfrac&gt;&lt;mtext&gt;&lt;/mtext&gt;&lt;mtext&gt;&lt;/mtext&gt;&lt;mtext&gt;&lt;/mtext&gt;&lt;mfrac&gt;&lt;mn&gt;12&lt;/mn&gt;&lt;mn&gt;6&lt;/mn&gt;&lt;/mfrac&gt;&lt;mtext&gt;&lt;/mtext&gt;&lt;mtext&gt;&lt;/mtext&gt;&lt;mtext&gt;&lt;/mtext&gt;&lt;mtext&gt;&lt;/mtext&gt;&lt;mfrac&gt;&lt;mn&gt;12&lt;/mn&gt;&lt;mn&gt;12&lt;/mn&gt;&lt;/mfrac&gt;&lt;mtext&gt;&lt;/mtext&gt;&lt;mtext&gt;&lt;/mtext&gt;&lt;mtext&gt;&lt;/mtext&gt;&lt;mfrac&gt;&lt;mn&gt;12&lt;/mn&gt;&lt;mn&gt;13&lt;/mn&gt;&lt;/mfrac&gt;&lt;/math&gt;" id="919" name="Google Shape;919;p75" title="twelve oneths twelve halves the fraction with numerator 12 and denominator 3 twelve fourths twelve fifths twelve sixths 12 over 12 12 over 13"/>
          <p:cNvPicPr preferRelativeResize="0"/>
          <p:nvPr/>
        </p:nvPicPr>
        <p:blipFill rotWithShape="1">
          <a:blip r:embed="rId3">
            <a:alphaModFix/>
          </a:blip>
          <a:srcRect b="0" l="24982" r="66074" t="0"/>
          <a:stretch/>
        </p:blipFill>
        <p:spPr>
          <a:xfrm>
            <a:off x="874200" y="3606238"/>
            <a:ext cx="392177" cy="556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}\ \ \ \frac{12}{2}\ \ \ \frac{12}{\ 3}\ \ \ \ \frac{12}{4}\ \ \ \frac{12}{5}\ \ \ \frac{12}{6}\ \ \ \ \frac{12}{12}\ \ \ \frac{12}{13}&quot;&gt;&lt;mfrac&gt;&lt;mn&gt;12&lt;/mn&gt;&lt;mn&gt;1&lt;/mn&gt;&lt;/mfrac&gt;&lt;mtext&gt;&lt;/mtext&gt;&lt;mtext&gt;&lt;/mtext&gt;&lt;mtext&gt;&lt;/mtext&gt;&lt;mfrac&gt;&lt;mn&gt;12&lt;/mn&gt;&lt;mn&gt;2&lt;/mn&gt;&lt;/mfrac&gt;&lt;mtext&gt;&lt;/mtext&gt;&lt;mtext&gt;&lt;/mtext&gt;&lt;mtext&gt;&lt;/mtext&gt;&lt;mfrac&gt;&lt;mn&gt;12&lt;/mn&gt;&lt;mrow&gt;&lt;mtext&gt;&lt;/mtext&gt;&lt;mn&gt;3&lt;/mn&gt;&lt;/mrow&gt;&lt;/mfrac&gt;&lt;mtext&gt;&lt;/mtext&gt;&lt;mtext&gt;&lt;/mtext&gt;&lt;mtext&gt;&lt;/mtext&gt;&lt;mtext&gt;&lt;/mtext&gt;&lt;mfrac&gt;&lt;mn&gt;12&lt;/mn&gt;&lt;mn&gt;4&lt;/mn&gt;&lt;/mfrac&gt;&lt;mtext&gt;&lt;/mtext&gt;&lt;mtext&gt;&lt;/mtext&gt;&lt;mtext&gt;&lt;/mtext&gt;&lt;mfrac&gt;&lt;mn&gt;12&lt;/mn&gt;&lt;mn&gt;5&lt;/mn&gt;&lt;/mfrac&gt;&lt;mtext&gt;&lt;/mtext&gt;&lt;mtext&gt;&lt;/mtext&gt;&lt;mtext&gt;&lt;/mtext&gt;&lt;mfrac&gt;&lt;mn&gt;12&lt;/mn&gt;&lt;mn&gt;6&lt;/mn&gt;&lt;/mfrac&gt;&lt;mtext&gt;&lt;/mtext&gt;&lt;mtext&gt;&lt;/mtext&gt;&lt;mtext&gt;&lt;/mtext&gt;&lt;mtext&gt;&lt;/mtext&gt;&lt;mfrac&gt;&lt;mn&gt;12&lt;/mn&gt;&lt;mn&gt;12&lt;/mn&gt;&lt;/mfrac&gt;&lt;mtext&gt;&lt;/mtext&gt;&lt;mtext&gt;&lt;/mtext&gt;&lt;mtext&gt;&lt;/mtext&gt;&lt;mfrac&gt;&lt;mn&gt;12&lt;/mn&gt;&lt;mn&gt;13&lt;/mn&gt;&lt;/mfrac&gt;&lt;/math&gt;" id="920" name="Google Shape;920;p75" title="twelve oneths twelve halves the fraction with numerator 12 and denominator 3 twelve fourths twelve fifths twelve sixths 12 over 12 12 over 13"/>
          <p:cNvPicPr preferRelativeResize="0"/>
          <p:nvPr/>
        </p:nvPicPr>
        <p:blipFill rotWithShape="1">
          <a:blip r:embed="rId3">
            <a:alphaModFix/>
          </a:blip>
          <a:srcRect b="0" l="38947" r="52110" t="0"/>
          <a:stretch/>
        </p:blipFill>
        <p:spPr>
          <a:xfrm>
            <a:off x="874200" y="4283563"/>
            <a:ext cx="392177" cy="556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}\ \ \ \frac{12}{2}\ \ \ \frac{12}{\ 3}\ \ \ \ \frac{12}{4}\ \ \ \frac{12}{5}\ \ \ \frac{12}{6}\ \ \ \ \frac{12}{12}\ \ \ \frac{12}{13}&quot;&gt;&lt;mfrac&gt;&lt;mn&gt;12&lt;/mn&gt;&lt;mn&gt;1&lt;/mn&gt;&lt;/mfrac&gt;&lt;mtext&gt;&lt;/mtext&gt;&lt;mtext&gt;&lt;/mtext&gt;&lt;mtext&gt;&lt;/mtext&gt;&lt;mfrac&gt;&lt;mn&gt;12&lt;/mn&gt;&lt;mn&gt;2&lt;/mn&gt;&lt;/mfrac&gt;&lt;mtext&gt;&lt;/mtext&gt;&lt;mtext&gt;&lt;/mtext&gt;&lt;mtext&gt;&lt;/mtext&gt;&lt;mfrac&gt;&lt;mn&gt;12&lt;/mn&gt;&lt;mrow&gt;&lt;mtext&gt;&lt;/mtext&gt;&lt;mn&gt;3&lt;/mn&gt;&lt;/mrow&gt;&lt;/mfrac&gt;&lt;mtext&gt;&lt;/mtext&gt;&lt;mtext&gt;&lt;/mtext&gt;&lt;mtext&gt;&lt;/mtext&gt;&lt;mtext&gt;&lt;/mtext&gt;&lt;mfrac&gt;&lt;mn&gt;12&lt;/mn&gt;&lt;mn&gt;4&lt;/mn&gt;&lt;/mfrac&gt;&lt;mtext&gt;&lt;/mtext&gt;&lt;mtext&gt;&lt;/mtext&gt;&lt;mtext&gt;&lt;/mtext&gt;&lt;mfrac&gt;&lt;mn&gt;12&lt;/mn&gt;&lt;mn&gt;5&lt;/mn&gt;&lt;/mfrac&gt;&lt;mtext&gt;&lt;/mtext&gt;&lt;mtext&gt;&lt;/mtext&gt;&lt;mtext&gt;&lt;/mtext&gt;&lt;mfrac&gt;&lt;mn&gt;12&lt;/mn&gt;&lt;mn&gt;6&lt;/mn&gt;&lt;/mfrac&gt;&lt;mtext&gt;&lt;/mtext&gt;&lt;mtext&gt;&lt;/mtext&gt;&lt;mtext&gt;&lt;/mtext&gt;&lt;mtext&gt;&lt;/mtext&gt;&lt;mfrac&gt;&lt;mn&gt;12&lt;/mn&gt;&lt;mn&gt;12&lt;/mn&gt;&lt;/mfrac&gt;&lt;mtext&gt;&lt;/mtext&gt;&lt;mtext&gt;&lt;/mtext&gt;&lt;mtext&gt;&lt;/mtext&gt;&lt;mfrac&gt;&lt;mn&gt;12&lt;/mn&gt;&lt;mn&gt;13&lt;/mn&gt;&lt;/mfrac&gt;&lt;/math&gt;" id="921" name="Google Shape;921;p75" title="twelve oneths twelve halves the fraction with numerator 12 and denominator 3 twelve fourths twelve fifths twelve sixths 12 over 12 12 over 13"/>
          <p:cNvPicPr preferRelativeResize="0"/>
          <p:nvPr/>
        </p:nvPicPr>
        <p:blipFill rotWithShape="1">
          <a:blip r:embed="rId3">
            <a:alphaModFix/>
          </a:blip>
          <a:srcRect b="0" l="64411" r="26645" t="0"/>
          <a:stretch/>
        </p:blipFill>
        <p:spPr>
          <a:xfrm>
            <a:off x="4320000" y="2327775"/>
            <a:ext cx="392177" cy="556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}\ \ \ \frac{12}{2}\ \ \ \frac{12}{\ 3}\ \ \ \ \frac{12}{4}\ \ \ \frac{12}{5}\ \ \ \frac{12}{6}\ \ \ \ \frac{12}{12}\ \ \ \frac{12}{13}&quot;&gt;&lt;mfrac&gt;&lt;mn&gt;12&lt;/mn&gt;&lt;mn&gt;1&lt;/mn&gt;&lt;/mfrac&gt;&lt;mtext&gt;&lt;/mtext&gt;&lt;mtext&gt;&lt;/mtext&gt;&lt;mtext&gt;&lt;/mtext&gt;&lt;mfrac&gt;&lt;mn&gt;12&lt;/mn&gt;&lt;mn&gt;2&lt;/mn&gt;&lt;/mfrac&gt;&lt;mtext&gt;&lt;/mtext&gt;&lt;mtext&gt;&lt;/mtext&gt;&lt;mtext&gt;&lt;/mtext&gt;&lt;mfrac&gt;&lt;mn&gt;12&lt;/mn&gt;&lt;mrow&gt;&lt;mtext&gt;&lt;/mtext&gt;&lt;mn&gt;3&lt;/mn&gt;&lt;/mrow&gt;&lt;/mfrac&gt;&lt;mtext&gt;&lt;/mtext&gt;&lt;mtext&gt;&lt;/mtext&gt;&lt;mtext&gt;&lt;/mtext&gt;&lt;mtext&gt;&lt;/mtext&gt;&lt;mfrac&gt;&lt;mn&gt;12&lt;/mn&gt;&lt;mn&gt;4&lt;/mn&gt;&lt;/mfrac&gt;&lt;mtext&gt;&lt;/mtext&gt;&lt;mtext&gt;&lt;/mtext&gt;&lt;mtext&gt;&lt;/mtext&gt;&lt;mfrac&gt;&lt;mn&gt;12&lt;/mn&gt;&lt;mn&gt;5&lt;/mn&gt;&lt;/mfrac&gt;&lt;mtext&gt;&lt;/mtext&gt;&lt;mtext&gt;&lt;/mtext&gt;&lt;mtext&gt;&lt;/mtext&gt;&lt;mfrac&gt;&lt;mn&gt;12&lt;/mn&gt;&lt;mn&gt;6&lt;/mn&gt;&lt;/mfrac&gt;&lt;mtext&gt;&lt;/mtext&gt;&lt;mtext&gt;&lt;/mtext&gt;&lt;mtext&gt;&lt;/mtext&gt;&lt;mtext&gt;&lt;/mtext&gt;&lt;mfrac&gt;&lt;mn&gt;12&lt;/mn&gt;&lt;mn&gt;12&lt;/mn&gt;&lt;/mfrac&gt;&lt;mtext&gt;&lt;/mtext&gt;&lt;mtext&gt;&lt;/mtext&gt;&lt;mtext&gt;&lt;/mtext&gt;&lt;mfrac&gt;&lt;mn&gt;12&lt;/mn&gt;&lt;mn&gt;13&lt;/mn&gt;&lt;/mfrac&gt;&lt;/math&gt;" id="922" name="Google Shape;922;p75" title="twelve oneths twelve halves the fraction with numerator 12 and denominator 3 twelve fourths twelve fifths twelve sixths 12 over 12 12 over 13"/>
          <p:cNvPicPr preferRelativeResize="0"/>
          <p:nvPr/>
        </p:nvPicPr>
        <p:blipFill rotWithShape="1">
          <a:blip r:embed="rId3">
            <a:alphaModFix/>
          </a:blip>
          <a:srcRect b="0" l="78641" r="12415" t="0"/>
          <a:stretch/>
        </p:blipFill>
        <p:spPr>
          <a:xfrm>
            <a:off x="4319988" y="3071975"/>
            <a:ext cx="392177" cy="556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}\ \ \ \frac{12}{2}\ \ \ \frac{12}{\ 3}\ \ \ \ \frac{12}{4}\ \ \ \frac{12}{5}\ \ \ \frac{12}{6}\ \ \ \ \frac{12}{12}\ \ \ \frac{12}{13}&quot;&gt;&lt;mfrac&gt;&lt;mn&gt;12&lt;/mn&gt;&lt;mn&gt;1&lt;/mn&gt;&lt;/mfrac&gt;&lt;mtext&gt;&lt;/mtext&gt;&lt;mtext&gt;&lt;/mtext&gt;&lt;mtext&gt;&lt;/mtext&gt;&lt;mfrac&gt;&lt;mn&gt;12&lt;/mn&gt;&lt;mn&gt;2&lt;/mn&gt;&lt;/mfrac&gt;&lt;mtext&gt;&lt;/mtext&gt;&lt;mtext&gt;&lt;/mtext&gt;&lt;mtext&gt;&lt;/mtext&gt;&lt;mfrac&gt;&lt;mn&gt;12&lt;/mn&gt;&lt;mrow&gt;&lt;mtext&gt;&lt;/mtext&gt;&lt;mn&gt;3&lt;/mn&gt;&lt;/mrow&gt;&lt;/mfrac&gt;&lt;mtext&gt;&lt;/mtext&gt;&lt;mtext&gt;&lt;/mtext&gt;&lt;mtext&gt;&lt;/mtext&gt;&lt;mtext&gt;&lt;/mtext&gt;&lt;mfrac&gt;&lt;mn&gt;12&lt;/mn&gt;&lt;mn&gt;4&lt;/mn&gt;&lt;/mfrac&gt;&lt;mtext&gt;&lt;/mtext&gt;&lt;mtext&gt;&lt;/mtext&gt;&lt;mtext&gt;&lt;/mtext&gt;&lt;mfrac&gt;&lt;mn&gt;12&lt;/mn&gt;&lt;mn&gt;5&lt;/mn&gt;&lt;/mfrac&gt;&lt;mtext&gt;&lt;/mtext&gt;&lt;mtext&gt;&lt;/mtext&gt;&lt;mtext&gt;&lt;/mtext&gt;&lt;mfrac&gt;&lt;mn&gt;12&lt;/mn&gt;&lt;mn&gt;6&lt;/mn&gt;&lt;/mfrac&gt;&lt;mtext&gt;&lt;/mtext&gt;&lt;mtext&gt;&lt;/mtext&gt;&lt;mtext&gt;&lt;/mtext&gt;&lt;mtext&gt;&lt;/mtext&gt;&lt;mfrac&gt;&lt;mn&gt;12&lt;/mn&gt;&lt;mn&gt;12&lt;/mn&gt;&lt;/mfrac&gt;&lt;mtext&gt;&lt;/mtext&gt;&lt;mtext&gt;&lt;/mtext&gt;&lt;mtext&gt;&lt;/mtext&gt;&lt;mfrac&gt;&lt;mn&gt;12&lt;/mn&gt;&lt;mn&gt;13&lt;/mn&gt;&lt;/mfrac&gt;&lt;/math&gt;" id="923" name="Google Shape;923;p75" title="twelve oneths twelve halves the fraction with numerator 12 and denominator 3 twelve fourths twelve fifths twelve sixths 12 over 12 12 over 13"/>
          <p:cNvPicPr preferRelativeResize="0"/>
          <p:nvPr/>
        </p:nvPicPr>
        <p:blipFill rotWithShape="1">
          <a:blip r:embed="rId3">
            <a:alphaModFix/>
          </a:blip>
          <a:srcRect b="0" l="49807" r="41249" t="0"/>
          <a:stretch/>
        </p:blipFill>
        <p:spPr>
          <a:xfrm>
            <a:off x="6444064" y="3560081"/>
            <a:ext cx="392177" cy="556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}\ \ \ \frac{12}{2}\ \ \ \frac{12}{\ 3}\ \ \ \ \frac{12}{4}\ \ \ \frac{12}{5}\ \ \ \frac{12}{6}\ \ \ \ \frac{12}{12}\ \ \ \frac{12}{13}&quot;&gt;&lt;mfrac&gt;&lt;mn&gt;12&lt;/mn&gt;&lt;mn&gt;1&lt;/mn&gt;&lt;/mfrac&gt;&lt;mtext&gt;&lt;/mtext&gt;&lt;mtext&gt;&lt;/mtext&gt;&lt;mtext&gt;&lt;/mtext&gt;&lt;mfrac&gt;&lt;mn&gt;12&lt;/mn&gt;&lt;mn&gt;2&lt;/mn&gt;&lt;/mfrac&gt;&lt;mtext&gt;&lt;/mtext&gt;&lt;mtext&gt;&lt;/mtext&gt;&lt;mtext&gt;&lt;/mtext&gt;&lt;mfrac&gt;&lt;mn&gt;12&lt;/mn&gt;&lt;mrow&gt;&lt;mtext&gt;&lt;/mtext&gt;&lt;mn&gt;3&lt;/mn&gt;&lt;/mrow&gt;&lt;/mfrac&gt;&lt;mtext&gt;&lt;/mtext&gt;&lt;mtext&gt;&lt;/mtext&gt;&lt;mtext&gt;&lt;/mtext&gt;&lt;mtext&gt;&lt;/mtext&gt;&lt;mfrac&gt;&lt;mn&gt;12&lt;/mn&gt;&lt;mn&gt;4&lt;/mn&gt;&lt;/mfrac&gt;&lt;mtext&gt;&lt;/mtext&gt;&lt;mtext&gt;&lt;/mtext&gt;&lt;mtext&gt;&lt;/mtext&gt;&lt;mfrac&gt;&lt;mn&gt;12&lt;/mn&gt;&lt;mn&gt;5&lt;/mn&gt;&lt;/mfrac&gt;&lt;mtext&gt;&lt;/mtext&gt;&lt;mtext&gt;&lt;/mtext&gt;&lt;mtext&gt;&lt;/mtext&gt;&lt;mfrac&gt;&lt;mn&gt;12&lt;/mn&gt;&lt;mn&gt;6&lt;/mn&gt;&lt;/mfrac&gt;&lt;mtext&gt;&lt;/mtext&gt;&lt;mtext&gt;&lt;/mtext&gt;&lt;mtext&gt;&lt;/mtext&gt;&lt;mtext&gt;&lt;/mtext&gt;&lt;mfrac&gt;&lt;mn&gt;12&lt;/mn&gt;&lt;mn&gt;12&lt;/mn&gt;&lt;/mfrac&gt;&lt;mtext&gt;&lt;/mtext&gt;&lt;mtext&gt;&lt;/mtext&gt;&lt;mtext&gt;&lt;/mtext&gt;&lt;mfrac&gt;&lt;mn&gt;12&lt;/mn&gt;&lt;mn&gt;13&lt;/mn&gt;&lt;/mfrac&gt;&lt;/math&gt;" id="924" name="Google Shape;924;p75" title="twelve oneths twelve halves the fraction with numerator 12 and denominator 3 twelve fourths twelve fifths twelve sixths 12 over 12 12 over 13"/>
          <p:cNvPicPr preferRelativeResize="0"/>
          <p:nvPr/>
        </p:nvPicPr>
        <p:blipFill rotWithShape="1">
          <a:blip r:embed="rId3">
            <a:alphaModFix/>
          </a:blip>
          <a:srcRect b="0" l="92124" r="-1066" t="0"/>
          <a:stretch/>
        </p:blipFill>
        <p:spPr>
          <a:xfrm>
            <a:off x="6485125" y="4252238"/>
            <a:ext cx="392177" cy="55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3661" y="1253100"/>
            <a:ext cx="5297050" cy="963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75"/>
          <p:cNvSpPr txBox="1"/>
          <p:nvPr/>
        </p:nvSpPr>
        <p:spPr>
          <a:xfrm>
            <a:off x="5566525" y="3703000"/>
            <a:ext cx="32640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where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75"/>
          <p:cNvSpPr txBox="1"/>
          <p:nvPr/>
        </p:nvSpPr>
        <p:spPr>
          <a:xfrm>
            <a:off x="6901550" y="3703000"/>
            <a:ext cx="20814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would lie.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8" name="Google Shape;928;p75"/>
          <p:cNvSpPr txBox="1"/>
          <p:nvPr/>
        </p:nvSpPr>
        <p:spPr>
          <a:xfrm>
            <a:off x="5566525" y="4326450"/>
            <a:ext cx="30114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where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75"/>
          <p:cNvSpPr txBox="1"/>
          <p:nvPr/>
        </p:nvSpPr>
        <p:spPr>
          <a:xfrm>
            <a:off x="6877300" y="4326450"/>
            <a:ext cx="18531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would lie.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75"/>
          <p:cNvSpPr txBox="1"/>
          <p:nvPr/>
        </p:nvSpPr>
        <p:spPr>
          <a:xfrm>
            <a:off x="4378025" y="3703000"/>
            <a:ext cx="17571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Estimate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1" name="Google Shape;931;p75"/>
          <p:cNvSpPr txBox="1"/>
          <p:nvPr/>
        </p:nvSpPr>
        <p:spPr>
          <a:xfrm>
            <a:off x="4378025" y="4326450"/>
            <a:ext cx="17571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Estimate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76"/>
          <p:cNvSpPr txBox="1"/>
          <p:nvPr/>
        </p:nvSpPr>
        <p:spPr>
          <a:xfrm>
            <a:off x="318725" y="3206675"/>
            <a:ext cx="8260500" cy="4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make the above calculations correct, work out the value of the images.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76"/>
          <p:cNvSpPr txBox="1"/>
          <p:nvPr/>
        </p:nvSpPr>
        <p:spPr>
          <a:xfrm>
            <a:off x="318725" y="615875"/>
            <a:ext cx="8260500" cy="22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arenR" startAt="4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2}{4}+\frac{24}{4}=\ 9\\&amp;#13;&amp;#10;\frac{24}{4}-\frac{12}{3}=2\\&amp;#13;&amp;#10;\frac{24}{12}+\frac{3}{3}=3\\&amp;#13;&amp;#10;\\&amp;#13;&amp;#10;\end{array}&quot;&gt;&lt;mtable columnalign=&quot;left&quot; columnspacing=&quot;1em&quot; rowspacing=&quot;4pt&quot;&gt;&lt;mtr&gt;&lt;mtd&gt;&lt;mfrac&gt;&lt;mn&gt;12&lt;/mn&gt;&lt;mn&gt;4&lt;/mn&gt;&lt;/mfrac&gt;&lt;mo&gt;+&lt;/mo&gt;&lt;mfrac&gt;&lt;mn&gt;24&lt;/mn&gt;&lt;mn&gt;4&lt;/mn&gt;&lt;/mfrac&gt;&lt;mo&gt;=&lt;/mo&gt;&lt;mtext&gt;&lt;/mtext&gt;&lt;mn&gt;9&lt;/mn&gt;&lt;/mtd&gt;&lt;/mtr&gt;&lt;mtr&gt;&lt;mtd&gt;&lt;mfrac&gt;&lt;mn&gt;24&lt;/mn&gt;&lt;mn&gt;4&lt;/mn&gt;&lt;/mfrac&gt;&lt;mo&gt;−&lt;/mo&gt;&lt;mfrac&gt;&lt;mn&gt;12&lt;/mn&gt;&lt;mn&gt;3&lt;/mn&gt;&lt;/mfrac&gt;&lt;mo&gt;=&lt;/mo&gt;&lt;mn&gt;2&lt;/mn&gt;&lt;/mtd&gt;&lt;/mtr&gt;&lt;mtr&gt;&lt;mtd&gt;&lt;mfrac&gt;&lt;mn&gt;24&lt;/mn&gt;&lt;mn&gt;12&lt;/mn&gt;&lt;/mfrac&gt;&lt;mo&gt;+&lt;/mo&gt;&lt;mfrac&gt;&lt;mn&gt;3&lt;/mn&gt;&lt;mn&gt;3&lt;/mn&gt;&lt;/mfrac&gt;&lt;mo&gt;=&lt;/mo&gt;&lt;mn&gt;3&lt;/mn&gt;&lt;/mtd&gt;&lt;/mtr&gt;&lt;mtr&gt;&lt;mtd/&gt;&lt;/mtr&gt;&lt;/mtable&gt;&lt;/math&gt;" id="938" name="Google Shape;938;p76" title="4 lines Line 1: twelve fourths plus 24 over 4 equals 9 Line 2: 24 over 4 minus twelve thirds equals 2 Line 3: 24 over 12 plus three thirds equals 3 Line 4: blank"/>
          <p:cNvPicPr preferRelativeResize="0"/>
          <p:nvPr/>
        </p:nvPicPr>
        <p:blipFill rotWithShape="1">
          <a:blip r:embed="rId3">
            <a:alphaModFix/>
          </a:blip>
          <a:srcRect b="33147" l="0" r="0" t="33531"/>
          <a:stretch/>
        </p:blipFill>
        <p:spPr>
          <a:xfrm>
            <a:off x="3282988" y="1702850"/>
            <a:ext cx="2010275" cy="639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2}{4}+\frac{24}{4}=\ 9\\&amp;#13;&amp;#10;\frac{24}{4}-\frac{12}{3}=2\\&amp;#13;&amp;#10;\frac{24}{12}+\frac{3}{3}=3\\&amp;#13;&amp;#10;\\&amp;#13;&amp;#10;\end{array}&quot;&gt;&lt;mtable columnalign=&quot;left&quot; columnspacing=&quot;1em&quot; rowspacing=&quot;4pt&quot;&gt;&lt;mtr&gt;&lt;mtd&gt;&lt;mfrac&gt;&lt;mn&gt;12&lt;/mn&gt;&lt;mn&gt;4&lt;/mn&gt;&lt;/mfrac&gt;&lt;mo&gt;+&lt;/mo&gt;&lt;mfrac&gt;&lt;mn&gt;24&lt;/mn&gt;&lt;mn&gt;4&lt;/mn&gt;&lt;/mfrac&gt;&lt;mo&gt;=&lt;/mo&gt;&lt;mtext&gt;&lt;/mtext&gt;&lt;mn&gt;9&lt;/mn&gt;&lt;/mtd&gt;&lt;/mtr&gt;&lt;mtr&gt;&lt;mtd&gt;&lt;mfrac&gt;&lt;mn&gt;24&lt;/mn&gt;&lt;mn&gt;4&lt;/mn&gt;&lt;/mfrac&gt;&lt;mo&gt;−&lt;/mo&gt;&lt;mfrac&gt;&lt;mn&gt;12&lt;/mn&gt;&lt;mn&gt;3&lt;/mn&gt;&lt;/mfrac&gt;&lt;mo&gt;=&lt;/mo&gt;&lt;mn&gt;2&lt;/mn&gt;&lt;/mtd&gt;&lt;/mtr&gt;&lt;mtr&gt;&lt;mtd&gt;&lt;mfrac&gt;&lt;mn&gt;24&lt;/mn&gt;&lt;mn&gt;12&lt;/mn&gt;&lt;/mfrac&gt;&lt;mo&gt;+&lt;/mo&gt;&lt;mfrac&gt;&lt;mn&gt;3&lt;/mn&gt;&lt;mn&gt;3&lt;/mn&gt;&lt;/mfrac&gt;&lt;mo&gt;=&lt;/mo&gt;&lt;mn&gt;3&lt;/mn&gt;&lt;/mtd&gt;&lt;/mtr&gt;&lt;mtr&gt;&lt;mtd/&gt;&lt;/mtr&gt;&lt;/mtable&gt;&lt;/math&gt;" id="939" name="Google Shape;939;p76" title="4 lines Line 1: twelve fourths plus 24 over 4 equals 9 Line 2: 24 over 4 minus twelve thirds equals 2 Line 3: 24 over 12 plus three thirds equals 3 Line 4: blank"/>
          <p:cNvPicPr preferRelativeResize="0"/>
          <p:nvPr/>
        </p:nvPicPr>
        <p:blipFill rotWithShape="1">
          <a:blip r:embed="rId3">
            <a:alphaModFix/>
          </a:blip>
          <a:srcRect b="-1139" l="0" r="0" t="67818"/>
          <a:stretch/>
        </p:blipFill>
        <p:spPr>
          <a:xfrm>
            <a:off x="6386588" y="1720625"/>
            <a:ext cx="2010275" cy="639850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76"/>
          <p:cNvSpPr txBox="1"/>
          <p:nvPr>
            <p:ph idx="1" type="body"/>
          </p:nvPr>
        </p:nvSpPr>
        <p:spPr>
          <a:xfrm>
            <a:off x="247800" y="759300"/>
            <a:ext cx="8650800" cy="46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941" name="Google Shape;941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 as improper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76"/>
          <p:cNvSpPr txBox="1"/>
          <p:nvPr/>
        </p:nvSpPr>
        <p:spPr>
          <a:xfrm>
            <a:off x="1683300" y="1757200"/>
            <a:ext cx="6405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76"/>
          <p:cNvSpPr txBox="1"/>
          <p:nvPr/>
        </p:nvSpPr>
        <p:spPr>
          <a:xfrm>
            <a:off x="5080425" y="697975"/>
            <a:ext cx="517200" cy="464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76"/>
          <p:cNvSpPr txBox="1"/>
          <p:nvPr/>
        </p:nvSpPr>
        <p:spPr>
          <a:xfrm>
            <a:off x="5663400" y="697975"/>
            <a:ext cx="517200" cy="464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76"/>
          <p:cNvSpPr txBox="1"/>
          <p:nvPr/>
        </p:nvSpPr>
        <p:spPr>
          <a:xfrm>
            <a:off x="6246375" y="697975"/>
            <a:ext cx="517200" cy="464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6" name="Google Shape;946;p76"/>
          <p:cNvSpPr txBox="1"/>
          <p:nvPr/>
        </p:nvSpPr>
        <p:spPr>
          <a:xfrm>
            <a:off x="6829350" y="697975"/>
            <a:ext cx="517200" cy="464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7" name="Google Shape;947;p76"/>
          <p:cNvSpPr txBox="1"/>
          <p:nvPr/>
        </p:nvSpPr>
        <p:spPr>
          <a:xfrm>
            <a:off x="3879628" y="3713050"/>
            <a:ext cx="1137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endParaRPr sz="1300"/>
          </a:p>
        </p:txBody>
      </p:sp>
      <p:pic>
        <p:nvPicPr>
          <p:cNvPr descr="&lt;math xmlns=&quot;http://www.w3.org/1998/Math/MathML&quot; display=&quot;block&quot; data-is-equatio=&quot;1&quot; data-latex=&quot;\begin{array}{l}\frac{12}{4}+\frac{24}{4}=\ 9\\&amp;#13;&amp;#10;\frac{24}{4}-\frac{12}{3}=2\\&amp;#13;&amp;#10;\frac{24}{12}+\frac{3}{3}=3\\&amp;#13;&amp;#10;\\&amp;#13;&amp;#10;\end{array}&quot;&gt;&lt;mtable columnalign=&quot;left&quot; columnspacing=&quot;1em&quot; rowspacing=&quot;4pt&quot;&gt;&lt;mtr&gt;&lt;mtd&gt;&lt;mfrac&gt;&lt;mn&gt;12&lt;/mn&gt;&lt;mn&gt;4&lt;/mn&gt;&lt;/mfrac&gt;&lt;mo&gt;+&lt;/mo&gt;&lt;mfrac&gt;&lt;mn&gt;24&lt;/mn&gt;&lt;mn&gt;4&lt;/mn&gt;&lt;/mfrac&gt;&lt;mo&gt;=&lt;/mo&gt;&lt;mtext&gt;&lt;/mtext&gt;&lt;mn&gt;9&lt;/mn&gt;&lt;/mtd&gt;&lt;/mtr&gt;&lt;mtr&gt;&lt;mtd&gt;&lt;mfrac&gt;&lt;mn&gt;24&lt;/mn&gt;&lt;mn&gt;4&lt;/mn&gt;&lt;/mfrac&gt;&lt;mo&gt;−&lt;/mo&gt;&lt;mfrac&gt;&lt;mn&gt;12&lt;/mn&gt;&lt;mn&gt;3&lt;/mn&gt;&lt;/mfrac&gt;&lt;mo&gt;=&lt;/mo&gt;&lt;mn&gt;2&lt;/mn&gt;&lt;/mtd&gt;&lt;/mtr&gt;&lt;mtr&gt;&lt;mtd&gt;&lt;mfrac&gt;&lt;mn&gt;24&lt;/mn&gt;&lt;mn&gt;12&lt;/mn&gt;&lt;/mfrac&gt;&lt;mo&gt;+&lt;/mo&gt;&lt;mfrac&gt;&lt;mn&gt;3&lt;/mn&gt;&lt;mn&gt;3&lt;/mn&gt;&lt;/mfrac&gt;&lt;mo&gt;=&lt;/mo&gt;&lt;mn&gt;3&lt;/mn&gt;&lt;/mtd&gt;&lt;/mtr&gt;&lt;mtr&gt;&lt;mtd/&gt;&lt;/mtr&gt;&lt;/mtable&gt;&lt;/math&gt;" id="948" name="Google Shape;948;p76" title="4 lines Line 1: twelve fourths plus 24 over 4 equals 9 Line 2: 24 over 4 minus twelve thirds equals 2 Line 3: 24 over 12 plus three thirds equals 3 Line 4: blank"/>
          <p:cNvPicPr preferRelativeResize="0"/>
          <p:nvPr/>
        </p:nvPicPr>
        <p:blipFill rotWithShape="1">
          <a:blip r:embed="rId3">
            <a:alphaModFix/>
          </a:blip>
          <a:srcRect b="68639" l="0" r="0" t="0"/>
          <a:stretch/>
        </p:blipFill>
        <p:spPr>
          <a:xfrm>
            <a:off x="447600" y="1762000"/>
            <a:ext cx="2010275" cy="60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600" y="1660250"/>
            <a:ext cx="324028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0" name="Google Shape;950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09525" y="1720625"/>
            <a:ext cx="288475" cy="30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09523" y="2124677"/>
            <a:ext cx="288475" cy="30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2" name="Google Shape;952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43886" y="2034727"/>
            <a:ext cx="288475" cy="30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5387" y="2090799"/>
            <a:ext cx="354706" cy="30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" name="Google Shape;954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2263" y="2090802"/>
            <a:ext cx="354706" cy="30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6112" y="1660250"/>
            <a:ext cx="324028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6612" y="2124675"/>
            <a:ext cx="324028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7" name="Google Shape;957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82988" y="2056227"/>
            <a:ext cx="354706" cy="30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60700" y="1620000"/>
            <a:ext cx="384075" cy="350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35475" y="1620000"/>
            <a:ext cx="384075" cy="350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56588" y="1653700"/>
            <a:ext cx="384075" cy="350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03750" y="1835527"/>
            <a:ext cx="384075" cy="41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2405" y="724488"/>
            <a:ext cx="294022" cy="305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46996" y="697965"/>
            <a:ext cx="348509" cy="317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57866" y="717172"/>
            <a:ext cx="261762" cy="27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69591" y="717172"/>
            <a:ext cx="321859" cy="27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8130" y="3815988"/>
            <a:ext cx="294022" cy="305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03071" y="4405540"/>
            <a:ext cx="348509" cy="317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48116" y="4443935"/>
            <a:ext cx="261762" cy="27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16391" y="3829247"/>
            <a:ext cx="321859" cy="279455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76"/>
          <p:cNvSpPr txBox="1"/>
          <p:nvPr/>
        </p:nvSpPr>
        <p:spPr>
          <a:xfrm>
            <a:off x="1644776" y="615875"/>
            <a:ext cx="7086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76"/>
          <p:cNvSpPr txBox="1"/>
          <p:nvPr/>
        </p:nvSpPr>
        <p:spPr>
          <a:xfrm>
            <a:off x="2223750" y="615875"/>
            <a:ext cx="704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76"/>
          <p:cNvSpPr txBox="1"/>
          <p:nvPr/>
        </p:nvSpPr>
        <p:spPr>
          <a:xfrm>
            <a:off x="2792950" y="615875"/>
            <a:ext cx="6624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76"/>
          <p:cNvSpPr txBox="1"/>
          <p:nvPr/>
        </p:nvSpPr>
        <p:spPr>
          <a:xfrm>
            <a:off x="3760600" y="615875"/>
            <a:ext cx="580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 either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76"/>
          <p:cNvSpPr txBox="1"/>
          <p:nvPr/>
        </p:nvSpPr>
        <p:spPr>
          <a:xfrm>
            <a:off x="6165628" y="3713050"/>
            <a:ext cx="1137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endParaRPr sz="1300"/>
          </a:p>
        </p:txBody>
      </p:sp>
      <p:sp>
        <p:nvSpPr>
          <p:cNvPr id="975" name="Google Shape;975;p76"/>
          <p:cNvSpPr txBox="1"/>
          <p:nvPr/>
        </p:nvSpPr>
        <p:spPr>
          <a:xfrm>
            <a:off x="3879628" y="4322650"/>
            <a:ext cx="1137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endParaRPr sz="1300"/>
          </a:p>
        </p:txBody>
      </p:sp>
      <p:sp>
        <p:nvSpPr>
          <p:cNvPr id="976" name="Google Shape;976;p76"/>
          <p:cNvSpPr txBox="1"/>
          <p:nvPr/>
        </p:nvSpPr>
        <p:spPr>
          <a:xfrm>
            <a:off x="6165628" y="4322650"/>
            <a:ext cx="1137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endParaRPr sz="1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77"/>
          <p:cNvSpPr txBox="1"/>
          <p:nvPr>
            <p:ph idx="1" type="body"/>
          </p:nvPr>
        </p:nvSpPr>
        <p:spPr>
          <a:xfrm>
            <a:off x="350925" y="759300"/>
            <a:ext cx="8237700" cy="63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Match the improper fraction with the correct integer.</a:t>
            </a:r>
            <a:endParaRPr/>
          </a:p>
        </p:txBody>
      </p:sp>
      <p:sp>
        <p:nvSpPr>
          <p:cNvPr id="982" name="Google Shape;982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 as improper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2}{2}\ \ \ \ \frac{15}{3}\ \ \ \ \frac{50}{5}\ \ \ \ \frac{9}{9}\ \ \ \ \frac{110}{10}\ \ \ \ \frac{24}{12}\ \ \ \ \frac{300}{15}&quot;&gt;&lt;mfrac&gt;&lt;mn&gt;12&lt;/mn&gt;&lt;mn&gt;2&lt;/mn&gt;&lt;/mfrac&gt;&lt;mtext&gt;&lt;/mtext&gt;&lt;mtext&gt;&lt;/mtext&gt;&lt;mtext&gt;&lt;/mtext&gt;&lt;mtext&gt;&lt;/mtext&gt;&lt;mfrac&gt;&lt;mn&gt;15&lt;/mn&gt;&lt;mn&gt;3&lt;/mn&gt;&lt;/mfrac&gt;&lt;mtext&gt;&lt;/mtext&gt;&lt;mtext&gt;&lt;/mtext&gt;&lt;mtext&gt;&lt;/mtext&gt;&lt;mtext&gt;&lt;/mtext&gt;&lt;mfrac&gt;&lt;mn&gt;50&lt;/mn&gt;&lt;mn&gt;5&lt;/mn&gt;&lt;/mfrac&gt;&lt;mtext&gt;&lt;/mtext&gt;&lt;mtext&gt;&lt;/mtext&gt;&lt;mtext&gt;&lt;/mtext&gt;&lt;mtext&gt;&lt;/mtext&gt;&lt;mfrac&gt;&lt;mn&gt;9&lt;/mn&gt;&lt;mn&gt;9&lt;/mn&gt;&lt;/mfrac&gt;&lt;mtext&gt;&lt;/mtext&gt;&lt;mtext&gt;&lt;/mtext&gt;&lt;mtext&gt;&lt;/mtext&gt;&lt;mtext&gt;&lt;/mtext&gt;&lt;mfrac&gt;&lt;mn&gt;110&lt;/mn&gt;&lt;mn&gt;10&lt;/mn&gt;&lt;/mfrac&gt;&lt;mtext&gt;&lt;/mtext&gt;&lt;mtext&gt;&lt;/mtext&gt;&lt;mtext&gt;&lt;/mtext&gt;&lt;mtext&gt;&lt;/mtext&gt;&lt;mfrac&gt;&lt;mn&gt;24&lt;/mn&gt;&lt;mn&gt;12&lt;/mn&gt;&lt;/mfrac&gt;&lt;mtext&gt;&lt;/mtext&gt;&lt;mtext&gt;&lt;/mtext&gt;&lt;mtext&gt;&lt;/mtext&gt;&lt;mtext&gt;&lt;/mtext&gt;&lt;mfrac&gt;&lt;mn&gt;300&lt;/mn&gt;&lt;mn&gt;15&lt;/mn&gt;&lt;/mfrac&gt;&lt;/math&gt;" id="983" name="Google Shape;983;p77" title="twelve halves fifteen thirds 50 over 5 nine ninths 110 over 10 24 over 12 300 over 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00" y="1535575"/>
            <a:ext cx="8037775" cy="106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\ \ \ \ 2\ \ \ \ 5\ \ \ \ 6\ \ \ \ \ 10\ \ \ \ 11\ \ \ \ 20&quot;&gt;&lt;mn&gt;1&lt;/mn&gt;&lt;mtext&gt;&lt;/mtext&gt;&lt;mtext&gt;&lt;/mtext&gt;&lt;mtext&gt;&lt;/mtext&gt;&lt;mtext&gt;&lt;/mtext&gt;&lt;mn&gt;2&lt;/mn&gt;&lt;mtext&gt;&lt;/mtext&gt;&lt;mtext&gt;&lt;/mtext&gt;&lt;mtext&gt;&lt;/mtext&gt;&lt;mtext&gt;&lt;/mtext&gt;&lt;mn&gt;5&lt;/mn&gt;&lt;mtext&gt;&lt;/mtext&gt;&lt;mtext&gt;&lt;/mtext&gt;&lt;mtext&gt;&lt;/mtext&gt;&lt;mtext&gt;&lt;/mtext&gt;&lt;mn&gt;6&lt;/mn&gt;&lt;mtext&gt;&lt;/mtext&gt;&lt;mtext&gt;&lt;/mtext&gt;&lt;mtext&gt;&lt;/mtext&gt;&lt;mtext&gt;&lt;/mtext&gt;&lt;mtext&gt;&lt;/mtext&gt;&lt;mn&gt;10&lt;/mn&gt;&lt;mtext&gt;&lt;/mtext&gt;&lt;mtext&gt;&lt;/mtext&gt;&lt;mtext&gt;&lt;/mtext&gt;&lt;mtext&gt;&lt;/mtext&gt;&lt;mn&gt;11&lt;/mn&gt;&lt;mtext&gt;&lt;/mtext&gt;&lt;mtext&gt;&lt;/mtext&gt;&lt;mtext&gt;&lt;/mtext&gt;&lt;mtext&gt;&lt;/mtext&gt;&lt;mn&gt;20&lt;/mn&gt;&lt;/math&gt;" id="984" name="Google Shape;984;p77" title="1 2 5 6 10 11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0511" y="3471888"/>
            <a:ext cx="6562975" cy="419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5" name="Google Shape;985;p77"/>
          <p:cNvCxnSpPr/>
          <p:nvPr/>
        </p:nvCxnSpPr>
        <p:spPr>
          <a:xfrm>
            <a:off x="1420550" y="2537275"/>
            <a:ext cx="2570100" cy="870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6" name="Google Shape;986;p77"/>
          <p:cNvCxnSpPr/>
          <p:nvPr/>
        </p:nvCxnSpPr>
        <p:spPr>
          <a:xfrm>
            <a:off x="2385850" y="2700000"/>
            <a:ext cx="750900" cy="71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7" name="Google Shape;987;p77"/>
          <p:cNvCxnSpPr/>
          <p:nvPr/>
        </p:nvCxnSpPr>
        <p:spPr>
          <a:xfrm>
            <a:off x="3646775" y="2614525"/>
            <a:ext cx="1304700" cy="727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8" name="Google Shape;988;p77"/>
          <p:cNvCxnSpPr/>
          <p:nvPr/>
        </p:nvCxnSpPr>
        <p:spPr>
          <a:xfrm flipH="1">
            <a:off x="1469675" y="2696250"/>
            <a:ext cx="2946300" cy="684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9" name="Google Shape;989;p77"/>
          <p:cNvCxnSpPr/>
          <p:nvPr/>
        </p:nvCxnSpPr>
        <p:spPr>
          <a:xfrm>
            <a:off x="5685100" y="2715900"/>
            <a:ext cx="711300" cy="691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0" name="Google Shape;990;p77"/>
          <p:cNvCxnSpPr/>
          <p:nvPr/>
        </p:nvCxnSpPr>
        <p:spPr>
          <a:xfrm flipH="1">
            <a:off x="2529100" y="2692350"/>
            <a:ext cx="4482600" cy="674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1" name="Google Shape;991;p77"/>
          <p:cNvCxnSpPr/>
          <p:nvPr/>
        </p:nvCxnSpPr>
        <p:spPr>
          <a:xfrm flipH="1">
            <a:off x="7587175" y="2780100"/>
            <a:ext cx="582300" cy="635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 as improper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78"/>
          <p:cNvSpPr/>
          <p:nvPr/>
        </p:nvSpPr>
        <p:spPr>
          <a:xfrm>
            <a:off x="4348000" y="2410488"/>
            <a:ext cx="1289952" cy="1219536"/>
          </a:xfrm>
          <a:prstGeom prst="cloud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4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98" name="Google Shape;998;p78"/>
          <p:cNvCxnSpPr/>
          <p:nvPr/>
        </p:nvCxnSpPr>
        <p:spPr>
          <a:xfrm flipH="1" rot="10800000">
            <a:off x="5575400" y="2127150"/>
            <a:ext cx="624000" cy="484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9" name="Google Shape;999;p78"/>
          <p:cNvCxnSpPr/>
          <p:nvPr/>
        </p:nvCxnSpPr>
        <p:spPr>
          <a:xfrm>
            <a:off x="5615600" y="2931450"/>
            <a:ext cx="947100" cy="213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0" name="Google Shape;1000;p78"/>
          <p:cNvCxnSpPr>
            <a:endCxn id="1001" idx="0"/>
          </p:cNvCxnSpPr>
          <p:nvPr/>
        </p:nvCxnSpPr>
        <p:spPr>
          <a:xfrm>
            <a:off x="5143925" y="3537600"/>
            <a:ext cx="45900" cy="401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2" name="Google Shape;1002;p78"/>
          <p:cNvCxnSpPr/>
          <p:nvPr/>
        </p:nvCxnSpPr>
        <p:spPr>
          <a:xfrm rot="10800000">
            <a:off x="3668474" y="2861143"/>
            <a:ext cx="679500" cy="83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3" name="Google Shape;1003;p78"/>
          <p:cNvCxnSpPr/>
          <p:nvPr/>
        </p:nvCxnSpPr>
        <p:spPr>
          <a:xfrm rot="10800000">
            <a:off x="4030800" y="1987100"/>
            <a:ext cx="527100" cy="550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4" name="Google Shape;1004;p78"/>
          <p:cNvCxnSpPr/>
          <p:nvPr/>
        </p:nvCxnSpPr>
        <p:spPr>
          <a:xfrm flipH="1" rot="10800000">
            <a:off x="4947075" y="1831200"/>
            <a:ext cx="96600" cy="592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5" name="Google Shape;1005;p78"/>
          <p:cNvCxnSpPr/>
          <p:nvPr/>
        </p:nvCxnSpPr>
        <p:spPr>
          <a:xfrm flipH="1">
            <a:off x="3962778" y="3461588"/>
            <a:ext cx="601800" cy="405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6" name="Google Shape;1006;p78"/>
          <p:cNvCxnSpPr/>
          <p:nvPr/>
        </p:nvCxnSpPr>
        <p:spPr>
          <a:xfrm>
            <a:off x="5387000" y="3464850"/>
            <a:ext cx="683100" cy="476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frac{8}{2}\ \ \ \frac{40}{10}\ \ \ \ \frac{12}{3}\ \ \ \ \ \ \ \frac{16}{4}\ \ \ \ \ \ \ \frac{80}{20}\ \ \ \ \ \frac{64}{16}&quot;&gt;&lt;mfrac&gt;&lt;mn&gt;8&lt;/mn&gt;&lt;mn&gt;2&lt;/mn&gt;&lt;/mfrac&gt;&lt;mtext&gt;&lt;/mtext&gt;&lt;mtext&gt;&lt;/mtext&gt;&lt;mtext&gt;&lt;/mtext&gt;&lt;mfrac&gt;&lt;mn&gt;40&lt;/mn&gt;&lt;mn&gt;10&lt;/mn&gt;&lt;/mfrac&gt;&lt;mtext&gt;&lt;/mtext&gt;&lt;mtext&gt;&lt;/mtext&gt;&lt;mtext&gt;&lt;/mtext&gt;&lt;mtext&gt;&lt;/mtext&gt;&lt;mfrac&gt;&lt;mn&gt;12&lt;/mn&gt;&lt;mn&gt;3&lt;/mn&gt;&lt;/mfrac&gt;&lt;mtext&gt;&lt;/mtext&gt;&lt;mtext&gt;&lt;/mtext&gt;&lt;mtext&gt;&lt;/mtext&gt;&lt;mtext&gt;&lt;/mtext&gt;&lt;mtext&gt;&lt;/mtext&gt;&lt;mtext&gt;&lt;/mtext&gt;&lt;mtext&gt;&lt;/mtext&gt;&lt;mfrac&gt;&lt;mn&gt;16&lt;/mn&gt;&lt;mn&gt;4&lt;/mn&gt;&lt;/mfrac&gt;&lt;mtext&gt;&lt;/mtext&gt;&lt;mtext&gt;&lt;/mtext&gt;&lt;mtext&gt;&lt;/mtext&gt;&lt;mtext&gt;&lt;/mtext&gt;&lt;mtext&gt;&lt;/mtext&gt;&lt;mtext&gt;&lt;/mtext&gt;&lt;mtext&gt;&lt;/mtext&gt;&lt;mfrac&gt;&lt;mn&gt;80&lt;/mn&gt;&lt;mn&gt;20&lt;/mn&gt;&lt;/mfrac&gt;&lt;mtext&gt;&lt;/mtext&gt;&lt;mtext&gt;&lt;/mtext&gt;&lt;mtext&gt;&lt;/mtext&gt;&lt;mtext&gt;&lt;/mtext&gt;&lt;mtext&gt;&lt;/mtext&gt;&lt;mfrac&gt;&lt;mn&gt;64&lt;/mn&gt;&lt;mn&gt;16&lt;/mn&gt;&lt;/mfrac&gt;&lt;/math&gt;" id="1007" name="Google Shape;1007;p78" title="eight halves 40 over 10 twelve thirds sixteen fourths 80 over 20 64 over 16"/>
          <p:cNvPicPr preferRelativeResize="0"/>
          <p:nvPr/>
        </p:nvPicPr>
        <p:blipFill rotWithShape="1">
          <a:blip r:embed="rId3">
            <a:alphaModFix/>
          </a:blip>
          <a:srcRect b="0" l="0" r="92054" t="0"/>
          <a:stretch/>
        </p:blipFill>
        <p:spPr>
          <a:xfrm>
            <a:off x="5009937" y="1118088"/>
            <a:ext cx="343325" cy="6465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2}\ \ \ \frac{40}{10}\ \ \ \ \frac{12}{3}\ \ \ \ \ \ \ \frac{16}{4}\ \ \ \ \ \ \ \frac{80}{20}\ \ \ \ \ \frac{64}{16}&quot;&gt;&lt;mfrac&gt;&lt;mn&gt;8&lt;/mn&gt;&lt;mn&gt;2&lt;/mn&gt;&lt;/mfrac&gt;&lt;mtext&gt;&lt;/mtext&gt;&lt;mtext&gt;&lt;/mtext&gt;&lt;mtext&gt;&lt;/mtext&gt;&lt;mfrac&gt;&lt;mn&gt;40&lt;/mn&gt;&lt;mn&gt;10&lt;/mn&gt;&lt;/mfrac&gt;&lt;mtext&gt;&lt;/mtext&gt;&lt;mtext&gt;&lt;/mtext&gt;&lt;mtext&gt;&lt;/mtext&gt;&lt;mtext&gt;&lt;/mtext&gt;&lt;mfrac&gt;&lt;mn&gt;12&lt;/mn&gt;&lt;mn&gt;3&lt;/mn&gt;&lt;/mfrac&gt;&lt;mtext&gt;&lt;/mtext&gt;&lt;mtext&gt;&lt;/mtext&gt;&lt;mtext&gt;&lt;/mtext&gt;&lt;mtext&gt;&lt;/mtext&gt;&lt;mtext&gt;&lt;/mtext&gt;&lt;mtext&gt;&lt;/mtext&gt;&lt;mtext&gt;&lt;/mtext&gt;&lt;mfrac&gt;&lt;mn&gt;16&lt;/mn&gt;&lt;mn&gt;4&lt;/mn&gt;&lt;/mfrac&gt;&lt;mtext&gt;&lt;/mtext&gt;&lt;mtext&gt;&lt;/mtext&gt;&lt;mtext&gt;&lt;/mtext&gt;&lt;mtext&gt;&lt;/mtext&gt;&lt;mtext&gt;&lt;/mtext&gt;&lt;mtext&gt;&lt;/mtext&gt;&lt;mtext&gt;&lt;/mtext&gt;&lt;mfrac&gt;&lt;mn&gt;80&lt;/mn&gt;&lt;mn&gt;20&lt;/mn&gt;&lt;/mfrac&gt;&lt;mtext&gt;&lt;/mtext&gt;&lt;mtext&gt;&lt;/mtext&gt;&lt;mtext&gt;&lt;/mtext&gt;&lt;mtext&gt;&lt;/mtext&gt;&lt;mtext&gt;&lt;/mtext&gt;&lt;mfrac&gt;&lt;mn&gt;64&lt;/mn&gt;&lt;mn&gt;16&lt;/mn&gt;&lt;/mfrac&gt;&lt;/math&gt;" id="1008" name="Google Shape;1008;p78" title="eight halves 40 over 10 twelve thirds sixteen fourths 80 over 20 64 over 16"/>
          <p:cNvPicPr preferRelativeResize="0"/>
          <p:nvPr/>
        </p:nvPicPr>
        <p:blipFill rotWithShape="1">
          <a:blip r:embed="rId3">
            <a:alphaModFix/>
          </a:blip>
          <a:srcRect b="-13776" l="11402" r="79252" t="-10787"/>
          <a:stretch/>
        </p:blipFill>
        <p:spPr>
          <a:xfrm>
            <a:off x="6241100" y="1550275"/>
            <a:ext cx="403826" cy="80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2}\ \ \ \frac{40}{10}\ \ \ \ \frac{12}{3}\ \ \ \ \ \ \ \frac{16}{4}\ \ \ \ \ \ \ \frac{80}{20}\ \ \ \ \ \frac{64}{16}&quot;&gt;&lt;mfrac&gt;&lt;mn&gt;8&lt;/mn&gt;&lt;mn&gt;2&lt;/mn&gt;&lt;/mfrac&gt;&lt;mtext&gt;&lt;/mtext&gt;&lt;mtext&gt;&lt;/mtext&gt;&lt;mtext&gt;&lt;/mtext&gt;&lt;mfrac&gt;&lt;mn&gt;40&lt;/mn&gt;&lt;mn&gt;10&lt;/mn&gt;&lt;/mfrac&gt;&lt;mtext&gt;&lt;/mtext&gt;&lt;mtext&gt;&lt;/mtext&gt;&lt;mtext&gt;&lt;/mtext&gt;&lt;mtext&gt;&lt;/mtext&gt;&lt;mfrac&gt;&lt;mn&gt;12&lt;/mn&gt;&lt;mn&gt;3&lt;/mn&gt;&lt;/mfrac&gt;&lt;mtext&gt;&lt;/mtext&gt;&lt;mtext&gt;&lt;/mtext&gt;&lt;mtext&gt;&lt;/mtext&gt;&lt;mtext&gt;&lt;/mtext&gt;&lt;mtext&gt;&lt;/mtext&gt;&lt;mtext&gt;&lt;/mtext&gt;&lt;mtext&gt;&lt;/mtext&gt;&lt;mfrac&gt;&lt;mn&gt;16&lt;/mn&gt;&lt;mn&gt;4&lt;/mn&gt;&lt;/mfrac&gt;&lt;mtext&gt;&lt;/mtext&gt;&lt;mtext&gt;&lt;/mtext&gt;&lt;mtext&gt;&lt;/mtext&gt;&lt;mtext&gt;&lt;/mtext&gt;&lt;mtext&gt;&lt;/mtext&gt;&lt;mtext&gt;&lt;/mtext&gt;&lt;mtext&gt;&lt;/mtext&gt;&lt;mfrac&gt;&lt;mn&gt;80&lt;/mn&gt;&lt;mn&gt;20&lt;/mn&gt;&lt;/mfrac&gt;&lt;mtext&gt;&lt;/mtext&gt;&lt;mtext&gt;&lt;/mtext&gt;&lt;mtext&gt;&lt;/mtext&gt;&lt;mtext&gt;&lt;/mtext&gt;&lt;mtext&gt;&lt;/mtext&gt;&lt;mfrac&gt;&lt;mn&gt;64&lt;/mn&gt;&lt;mn&gt;16&lt;/mn&gt;&lt;/mfrac&gt;&lt;/math&gt;" id="1009" name="Google Shape;1009;p78" title="eight halves 40 over 10 twelve thirds sixteen fourths 80 over 20 64 over 16"/>
          <p:cNvPicPr preferRelativeResize="0"/>
          <p:nvPr/>
        </p:nvPicPr>
        <p:blipFill rotWithShape="1">
          <a:blip r:embed="rId3">
            <a:alphaModFix/>
          </a:blip>
          <a:srcRect b="-11981" l="26034" r="61616" t="-4230"/>
          <a:stretch/>
        </p:blipFill>
        <p:spPr>
          <a:xfrm>
            <a:off x="6644925" y="2787750"/>
            <a:ext cx="533649" cy="75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2}\ \ \ \frac{40}{10}\ \ \ \ \frac{12}{3}\ \ \ \ \ \ \ \frac{16}{4}\ \ \ \ \ \ \ \frac{80}{20}\ \ \ \ \ \frac{64}{16}&quot;&gt;&lt;mfrac&gt;&lt;mn&gt;8&lt;/mn&gt;&lt;mn&gt;2&lt;/mn&gt;&lt;/mfrac&gt;&lt;mtext&gt;&lt;/mtext&gt;&lt;mtext&gt;&lt;/mtext&gt;&lt;mtext&gt;&lt;/mtext&gt;&lt;mfrac&gt;&lt;mn&gt;40&lt;/mn&gt;&lt;mn&gt;10&lt;/mn&gt;&lt;/mfrac&gt;&lt;mtext&gt;&lt;/mtext&gt;&lt;mtext&gt;&lt;/mtext&gt;&lt;mtext&gt;&lt;/mtext&gt;&lt;mtext&gt;&lt;/mtext&gt;&lt;mfrac&gt;&lt;mn&gt;12&lt;/mn&gt;&lt;mn&gt;3&lt;/mn&gt;&lt;/mfrac&gt;&lt;mtext&gt;&lt;/mtext&gt;&lt;mtext&gt;&lt;/mtext&gt;&lt;mtext&gt;&lt;/mtext&gt;&lt;mtext&gt;&lt;/mtext&gt;&lt;mtext&gt;&lt;/mtext&gt;&lt;mtext&gt;&lt;/mtext&gt;&lt;mtext&gt;&lt;/mtext&gt;&lt;mfrac&gt;&lt;mn&gt;16&lt;/mn&gt;&lt;mn&gt;4&lt;/mn&gt;&lt;/mfrac&gt;&lt;mtext&gt;&lt;/mtext&gt;&lt;mtext&gt;&lt;/mtext&gt;&lt;mtext&gt;&lt;/mtext&gt;&lt;mtext&gt;&lt;/mtext&gt;&lt;mtext&gt;&lt;/mtext&gt;&lt;mtext&gt;&lt;/mtext&gt;&lt;mtext&gt;&lt;/mtext&gt;&lt;mfrac&gt;&lt;mn&gt;80&lt;/mn&gt;&lt;mn&gt;20&lt;/mn&gt;&lt;/mfrac&gt;&lt;mtext&gt;&lt;/mtext&gt;&lt;mtext&gt;&lt;/mtext&gt;&lt;mtext&gt;&lt;/mtext&gt;&lt;mtext&gt;&lt;/mtext&gt;&lt;mtext&gt;&lt;/mtext&gt;&lt;mfrac&gt;&lt;mn&gt;64&lt;/mn&gt;&lt;mn&gt;16&lt;/mn&gt;&lt;/mfrac&gt;&lt;/math&gt;" id="1010" name="Google Shape;1010;p78" title="eight halves 40 over 10 twelve thirds sixteen fourths 80 over 20 64 over 16"/>
          <p:cNvPicPr preferRelativeResize="0"/>
          <p:nvPr/>
        </p:nvPicPr>
        <p:blipFill rotWithShape="1">
          <a:blip r:embed="rId3">
            <a:alphaModFix/>
          </a:blip>
          <a:srcRect b="-8993" l="49559" r="38090" t="-7204"/>
          <a:stretch/>
        </p:blipFill>
        <p:spPr>
          <a:xfrm>
            <a:off x="6145950" y="3726050"/>
            <a:ext cx="533649" cy="75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2}\ \ \ \frac{40}{10}\ \ \ \ \frac{12}{3}\ \ \ \ \ \ \ \frac{16}{4}\ \ \ \ \ \ \ \frac{80}{20}\ \ \ \ \ \frac{64}{16}&quot;&gt;&lt;mfrac&gt;&lt;mn&gt;8&lt;/mn&gt;&lt;mn&gt;2&lt;/mn&gt;&lt;/mfrac&gt;&lt;mtext&gt;&lt;/mtext&gt;&lt;mtext&gt;&lt;/mtext&gt;&lt;mtext&gt;&lt;/mtext&gt;&lt;mfrac&gt;&lt;mn&gt;40&lt;/mn&gt;&lt;mn&gt;10&lt;/mn&gt;&lt;/mfrac&gt;&lt;mtext&gt;&lt;/mtext&gt;&lt;mtext&gt;&lt;/mtext&gt;&lt;mtext&gt;&lt;/mtext&gt;&lt;mtext&gt;&lt;/mtext&gt;&lt;mfrac&gt;&lt;mn&gt;12&lt;/mn&gt;&lt;mn&gt;3&lt;/mn&gt;&lt;/mfrac&gt;&lt;mtext&gt;&lt;/mtext&gt;&lt;mtext&gt;&lt;/mtext&gt;&lt;mtext&gt;&lt;/mtext&gt;&lt;mtext&gt;&lt;/mtext&gt;&lt;mtext&gt;&lt;/mtext&gt;&lt;mtext&gt;&lt;/mtext&gt;&lt;mtext&gt;&lt;/mtext&gt;&lt;mfrac&gt;&lt;mn&gt;16&lt;/mn&gt;&lt;mn&gt;4&lt;/mn&gt;&lt;/mfrac&gt;&lt;mtext&gt;&lt;/mtext&gt;&lt;mtext&gt;&lt;/mtext&gt;&lt;mtext&gt;&lt;/mtext&gt;&lt;mtext&gt;&lt;/mtext&gt;&lt;mtext&gt;&lt;/mtext&gt;&lt;mtext&gt;&lt;/mtext&gt;&lt;mtext&gt;&lt;/mtext&gt;&lt;mfrac&gt;&lt;mn&gt;80&lt;/mn&gt;&lt;mn&gt;20&lt;/mn&gt;&lt;/mfrac&gt;&lt;mtext&gt;&lt;/mtext&gt;&lt;mtext&gt;&lt;/mtext&gt;&lt;mtext&gt;&lt;/mtext&gt;&lt;mtext&gt;&lt;/mtext&gt;&lt;mtext&gt;&lt;/mtext&gt;&lt;mfrac&gt;&lt;mn&gt;64&lt;/mn&gt;&lt;mn&gt;16&lt;/mn&gt;&lt;/mfrac&gt;&lt;/math&gt;" id="1001" name="Google Shape;1001;p78" title="eight halves 40 over 10 twelve thirds sixteen fourths 80 over 20 64 over 16"/>
          <p:cNvPicPr preferRelativeResize="0"/>
          <p:nvPr/>
        </p:nvPicPr>
        <p:blipFill rotWithShape="1">
          <a:blip r:embed="rId3">
            <a:alphaModFix/>
          </a:blip>
          <a:srcRect b="-8111" l="70040" r="14234" t="-8099"/>
          <a:stretch/>
        </p:blipFill>
        <p:spPr>
          <a:xfrm>
            <a:off x="4850075" y="3939300"/>
            <a:ext cx="679500" cy="75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2}\ \ \ \frac{40}{10}\ \ \ \ \frac{12}{3}\ \ \ \ \ \ \ \frac{16}{4}\ \ \ \ \ \ \ \frac{80}{20}\ \ \ \ \ \frac{64}{16}&quot;&gt;&lt;mfrac&gt;&lt;mn&gt;8&lt;/mn&gt;&lt;mn&gt;2&lt;/mn&gt;&lt;/mfrac&gt;&lt;mtext&gt;&lt;/mtext&gt;&lt;mtext&gt;&lt;/mtext&gt;&lt;mtext&gt;&lt;/mtext&gt;&lt;mfrac&gt;&lt;mn&gt;40&lt;/mn&gt;&lt;mn&gt;10&lt;/mn&gt;&lt;/mfrac&gt;&lt;mtext&gt;&lt;/mtext&gt;&lt;mtext&gt;&lt;/mtext&gt;&lt;mtext&gt;&lt;/mtext&gt;&lt;mtext&gt;&lt;/mtext&gt;&lt;mfrac&gt;&lt;mn&gt;12&lt;/mn&gt;&lt;mn&gt;3&lt;/mn&gt;&lt;/mfrac&gt;&lt;mtext&gt;&lt;/mtext&gt;&lt;mtext&gt;&lt;/mtext&gt;&lt;mtext&gt;&lt;/mtext&gt;&lt;mtext&gt;&lt;/mtext&gt;&lt;mtext&gt;&lt;/mtext&gt;&lt;mtext&gt;&lt;/mtext&gt;&lt;mtext&gt;&lt;/mtext&gt;&lt;mfrac&gt;&lt;mn&gt;16&lt;/mn&gt;&lt;mn&gt;4&lt;/mn&gt;&lt;/mfrac&gt;&lt;mtext&gt;&lt;/mtext&gt;&lt;mtext&gt;&lt;/mtext&gt;&lt;mtext&gt;&lt;/mtext&gt;&lt;mtext&gt;&lt;/mtext&gt;&lt;mtext&gt;&lt;/mtext&gt;&lt;mtext&gt;&lt;/mtext&gt;&lt;mtext&gt;&lt;/mtext&gt;&lt;mfrac&gt;&lt;mn&gt;80&lt;/mn&gt;&lt;mn&gt;20&lt;/mn&gt;&lt;/mfrac&gt;&lt;mtext&gt;&lt;/mtext&gt;&lt;mtext&gt;&lt;/mtext&gt;&lt;mtext&gt;&lt;/mtext&gt;&lt;mtext&gt;&lt;/mtext&gt;&lt;mtext&gt;&lt;/mtext&gt;&lt;mfrac&gt;&lt;mn&gt;64&lt;/mn&gt;&lt;mn&gt;16&lt;/mn&gt;&lt;/mfrac&gt;&lt;/math&gt;" id="1011" name="Google Shape;1011;p78" title="eight halves 40 over 10 twelve thirds sixteen fourths 80 over 20 64 over 16"/>
          <p:cNvPicPr preferRelativeResize="0"/>
          <p:nvPr/>
        </p:nvPicPr>
        <p:blipFill rotWithShape="1">
          <a:blip r:embed="rId3">
            <a:alphaModFix/>
          </a:blip>
          <a:srcRect b="-13590" l="89939" r="-3866" t="-16212"/>
          <a:stretch/>
        </p:blipFill>
        <p:spPr>
          <a:xfrm>
            <a:off x="3417825" y="3480850"/>
            <a:ext cx="601799" cy="8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78"/>
          <p:cNvSpPr/>
          <p:nvPr/>
        </p:nvSpPr>
        <p:spPr>
          <a:xfrm>
            <a:off x="4947075" y="1550275"/>
            <a:ext cx="343200" cy="394800"/>
          </a:xfrm>
          <a:prstGeom prst="rect">
            <a:avLst/>
          </a:prstGeom>
          <a:solidFill>
            <a:srgbClr val="F3EEFB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78"/>
          <p:cNvSpPr/>
          <p:nvPr/>
        </p:nvSpPr>
        <p:spPr>
          <a:xfrm>
            <a:off x="6271412" y="1504413"/>
            <a:ext cx="343200" cy="394800"/>
          </a:xfrm>
          <a:prstGeom prst="rect">
            <a:avLst/>
          </a:prstGeom>
          <a:solidFill>
            <a:srgbClr val="F3EEFB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4" name="Google Shape;1014;p78"/>
          <p:cNvSpPr/>
          <p:nvPr/>
        </p:nvSpPr>
        <p:spPr>
          <a:xfrm>
            <a:off x="6795575" y="3201725"/>
            <a:ext cx="343200" cy="394800"/>
          </a:xfrm>
          <a:prstGeom prst="rect">
            <a:avLst/>
          </a:prstGeom>
          <a:solidFill>
            <a:srgbClr val="F3EEFB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5" name="Google Shape;1015;p78"/>
          <p:cNvSpPr/>
          <p:nvPr/>
        </p:nvSpPr>
        <p:spPr>
          <a:xfrm>
            <a:off x="6207637" y="3620700"/>
            <a:ext cx="343200" cy="394800"/>
          </a:xfrm>
          <a:prstGeom prst="rect">
            <a:avLst/>
          </a:prstGeom>
          <a:solidFill>
            <a:srgbClr val="F3EEFB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6" name="Google Shape;1016;p78"/>
          <p:cNvSpPr/>
          <p:nvPr/>
        </p:nvSpPr>
        <p:spPr>
          <a:xfrm>
            <a:off x="4995925" y="4368150"/>
            <a:ext cx="343200" cy="394800"/>
          </a:xfrm>
          <a:prstGeom prst="rect">
            <a:avLst/>
          </a:prstGeom>
          <a:solidFill>
            <a:srgbClr val="F3EEFB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78"/>
          <p:cNvSpPr/>
          <p:nvPr/>
        </p:nvSpPr>
        <p:spPr>
          <a:xfrm>
            <a:off x="3496800" y="3433675"/>
            <a:ext cx="343200" cy="394800"/>
          </a:xfrm>
          <a:prstGeom prst="rect">
            <a:avLst/>
          </a:prstGeom>
          <a:solidFill>
            <a:srgbClr val="F3EEFB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78"/>
          <p:cNvSpPr/>
          <p:nvPr/>
        </p:nvSpPr>
        <p:spPr>
          <a:xfrm>
            <a:off x="3156450" y="2727750"/>
            <a:ext cx="343200" cy="394800"/>
          </a:xfrm>
          <a:prstGeom prst="rect">
            <a:avLst/>
          </a:prstGeom>
          <a:solidFill>
            <a:srgbClr val="F3EEFB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19" name="Google Shape;1019;p78"/>
          <p:cNvCxnSpPr/>
          <p:nvPr/>
        </p:nvCxnSpPr>
        <p:spPr>
          <a:xfrm>
            <a:off x="3132750" y="2672250"/>
            <a:ext cx="366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0" name="Google Shape;1020;p78"/>
          <p:cNvSpPr/>
          <p:nvPr/>
        </p:nvSpPr>
        <p:spPr>
          <a:xfrm>
            <a:off x="3144600" y="2221950"/>
            <a:ext cx="343200" cy="394800"/>
          </a:xfrm>
          <a:prstGeom prst="rect">
            <a:avLst/>
          </a:prstGeom>
          <a:solidFill>
            <a:srgbClr val="F3EEFB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78"/>
          <p:cNvSpPr/>
          <p:nvPr/>
        </p:nvSpPr>
        <p:spPr>
          <a:xfrm>
            <a:off x="3692175" y="1722163"/>
            <a:ext cx="343200" cy="394800"/>
          </a:xfrm>
          <a:prstGeom prst="rect">
            <a:avLst/>
          </a:prstGeom>
          <a:solidFill>
            <a:srgbClr val="F3EEFB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2" name="Google Shape;1022;p78"/>
          <p:cNvCxnSpPr/>
          <p:nvPr/>
        </p:nvCxnSpPr>
        <p:spPr>
          <a:xfrm>
            <a:off x="3668475" y="1666663"/>
            <a:ext cx="366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3" name="Google Shape;1023;p78"/>
          <p:cNvSpPr/>
          <p:nvPr/>
        </p:nvSpPr>
        <p:spPr>
          <a:xfrm>
            <a:off x="3680325" y="1216363"/>
            <a:ext cx="343200" cy="394800"/>
          </a:xfrm>
          <a:prstGeom prst="rect">
            <a:avLst/>
          </a:prstGeom>
          <a:solidFill>
            <a:srgbClr val="F3EEFB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4" name="Google Shape;1024;p78"/>
          <p:cNvCxnSpPr/>
          <p:nvPr/>
        </p:nvCxnSpPr>
        <p:spPr>
          <a:xfrm flipH="1" rot="10800000">
            <a:off x="2404250" y="1716025"/>
            <a:ext cx="1182300" cy="566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5" name="Google Shape;1025;p78"/>
          <p:cNvCxnSpPr/>
          <p:nvPr/>
        </p:nvCxnSpPr>
        <p:spPr>
          <a:xfrm>
            <a:off x="2404250" y="2282725"/>
            <a:ext cx="722700" cy="418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6" name="Google Shape;1026;p78"/>
          <p:cNvSpPr txBox="1"/>
          <p:nvPr/>
        </p:nvSpPr>
        <p:spPr>
          <a:xfrm>
            <a:off x="933600" y="1414225"/>
            <a:ext cx="1413900" cy="11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 are an infinite number of improper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fractions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which evaluate to 4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7" name="Google Shape;1027;p78"/>
          <p:cNvSpPr txBox="1"/>
          <p:nvPr>
            <p:ph idx="1" type="body"/>
          </p:nvPr>
        </p:nvSpPr>
        <p:spPr>
          <a:xfrm>
            <a:off x="340725" y="678600"/>
            <a:ext cx="8237700" cy="43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2"/>
            </a:pPr>
            <a:r>
              <a:rPr lang="en-GB"/>
              <a:t> Fill in the gaps to evaluate the answer to 4.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 as improper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033" name="Google Shape;1033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3661" y="1253100"/>
            <a:ext cx="5297050" cy="96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79"/>
          <p:cNvSpPr txBox="1"/>
          <p:nvPr/>
        </p:nvSpPr>
        <p:spPr>
          <a:xfrm>
            <a:off x="324000" y="2221950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79"/>
          <p:cNvSpPr txBox="1"/>
          <p:nvPr/>
        </p:nvSpPr>
        <p:spPr>
          <a:xfrm>
            <a:off x="324000" y="2914100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79"/>
          <p:cNvSpPr txBox="1"/>
          <p:nvPr/>
        </p:nvSpPr>
        <p:spPr>
          <a:xfrm>
            <a:off x="324000" y="3606250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79"/>
          <p:cNvSpPr txBox="1"/>
          <p:nvPr/>
        </p:nvSpPr>
        <p:spPr>
          <a:xfrm>
            <a:off x="324000" y="4298400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79"/>
          <p:cNvSpPr txBox="1"/>
          <p:nvPr/>
        </p:nvSpPr>
        <p:spPr>
          <a:xfrm>
            <a:off x="3920825" y="3038463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2}{1}\ \ \ \frac{12}{2}\ \ \ \frac{12}{\ 3}\ \ \ \ \frac{12}{4}\ \ \ \frac{12}{5}\ \ \ \frac{12}{6}\ \ \ \ \frac{12}{12}\ \ \ \frac{12}{13}&quot;&gt;&lt;mfrac&gt;&lt;mn&gt;12&lt;/mn&gt;&lt;mn&gt;1&lt;/mn&gt;&lt;/mfrac&gt;&lt;mtext&gt;&lt;/mtext&gt;&lt;mtext&gt;&lt;/mtext&gt;&lt;mtext&gt;&lt;/mtext&gt;&lt;mfrac&gt;&lt;mn&gt;12&lt;/mn&gt;&lt;mn&gt;2&lt;/mn&gt;&lt;/mfrac&gt;&lt;mtext&gt;&lt;/mtext&gt;&lt;mtext&gt;&lt;/mtext&gt;&lt;mtext&gt;&lt;/mtext&gt;&lt;mfrac&gt;&lt;mn&gt;12&lt;/mn&gt;&lt;mrow&gt;&lt;mtext&gt;&lt;/mtext&gt;&lt;mn&gt;3&lt;/mn&gt;&lt;/mrow&gt;&lt;/mfrac&gt;&lt;mtext&gt;&lt;/mtext&gt;&lt;mtext&gt;&lt;/mtext&gt;&lt;mtext&gt;&lt;/mtext&gt;&lt;mtext&gt;&lt;/mtext&gt;&lt;mfrac&gt;&lt;mn&gt;12&lt;/mn&gt;&lt;mn&gt;4&lt;/mn&gt;&lt;/mfrac&gt;&lt;mtext&gt;&lt;/mtext&gt;&lt;mtext&gt;&lt;/mtext&gt;&lt;mtext&gt;&lt;/mtext&gt;&lt;mfrac&gt;&lt;mn&gt;12&lt;/mn&gt;&lt;mn&gt;5&lt;/mn&gt;&lt;/mfrac&gt;&lt;mtext&gt;&lt;/mtext&gt;&lt;mtext&gt;&lt;/mtext&gt;&lt;mtext&gt;&lt;/mtext&gt;&lt;mfrac&gt;&lt;mn&gt;12&lt;/mn&gt;&lt;mn&gt;6&lt;/mn&gt;&lt;/mfrac&gt;&lt;mtext&gt;&lt;/mtext&gt;&lt;mtext&gt;&lt;/mtext&gt;&lt;mtext&gt;&lt;/mtext&gt;&lt;mtext&gt;&lt;/mtext&gt;&lt;mfrac&gt;&lt;mn&gt;12&lt;/mn&gt;&lt;mn&gt;12&lt;/mn&gt;&lt;/mfrac&gt;&lt;mtext&gt;&lt;/mtext&gt;&lt;mtext&gt;&lt;/mtext&gt;&lt;mtext&gt;&lt;/mtext&gt;&lt;mfrac&gt;&lt;mn&gt;12&lt;/mn&gt;&lt;mn&gt;13&lt;/mn&gt;&lt;/mfrac&gt;&lt;/math&gt;" id="1039" name="Google Shape;1039;p79" title="twelve oneths twelve halves the fraction with numerator 12 and denominator 3 twelve fourths twelve fifths twelve sixths 12 over 12 12 over 13"/>
          <p:cNvPicPr preferRelativeResize="0"/>
          <p:nvPr/>
        </p:nvPicPr>
        <p:blipFill rotWithShape="1">
          <a:blip r:embed="rId4">
            <a:alphaModFix/>
          </a:blip>
          <a:srcRect b="0" l="0" r="91057" t="0"/>
          <a:stretch/>
        </p:blipFill>
        <p:spPr>
          <a:xfrm>
            <a:off x="874200" y="2251588"/>
            <a:ext cx="392177" cy="55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79"/>
          <p:cNvSpPr txBox="1"/>
          <p:nvPr/>
        </p:nvSpPr>
        <p:spPr>
          <a:xfrm>
            <a:off x="3920825" y="2373938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2}{1}\ \ \ \frac{12}{2}\ \ \ \frac{12}{\ 3}\ \ \ \ \frac{12}{4}\ \ \ \frac{12}{5}\ \ \ \frac{12}{6}\ \ \ \ \frac{12}{12}\ \ \ \frac{12}{13}&quot;&gt;&lt;mfrac&gt;&lt;mn&gt;12&lt;/mn&gt;&lt;mn&gt;1&lt;/mn&gt;&lt;/mfrac&gt;&lt;mtext&gt;&lt;/mtext&gt;&lt;mtext&gt;&lt;/mtext&gt;&lt;mtext&gt;&lt;/mtext&gt;&lt;mfrac&gt;&lt;mn&gt;12&lt;/mn&gt;&lt;mn&gt;2&lt;/mn&gt;&lt;/mfrac&gt;&lt;mtext&gt;&lt;/mtext&gt;&lt;mtext&gt;&lt;/mtext&gt;&lt;mtext&gt;&lt;/mtext&gt;&lt;mfrac&gt;&lt;mn&gt;12&lt;/mn&gt;&lt;mrow&gt;&lt;mtext&gt;&lt;/mtext&gt;&lt;mn&gt;3&lt;/mn&gt;&lt;/mrow&gt;&lt;/mfrac&gt;&lt;mtext&gt;&lt;/mtext&gt;&lt;mtext&gt;&lt;/mtext&gt;&lt;mtext&gt;&lt;/mtext&gt;&lt;mtext&gt;&lt;/mtext&gt;&lt;mfrac&gt;&lt;mn&gt;12&lt;/mn&gt;&lt;mn&gt;4&lt;/mn&gt;&lt;/mfrac&gt;&lt;mtext&gt;&lt;/mtext&gt;&lt;mtext&gt;&lt;/mtext&gt;&lt;mtext&gt;&lt;/mtext&gt;&lt;mfrac&gt;&lt;mn&gt;12&lt;/mn&gt;&lt;mn&gt;5&lt;/mn&gt;&lt;/mfrac&gt;&lt;mtext&gt;&lt;/mtext&gt;&lt;mtext&gt;&lt;/mtext&gt;&lt;mtext&gt;&lt;/mtext&gt;&lt;mfrac&gt;&lt;mn&gt;12&lt;/mn&gt;&lt;mn&gt;6&lt;/mn&gt;&lt;/mfrac&gt;&lt;mtext&gt;&lt;/mtext&gt;&lt;mtext&gt;&lt;/mtext&gt;&lt;mtext&gt;&lt;/mtext&gt;&lt;mtext&gt;&lt;/mtext&gt;&lt;mfrac&gt;&lt;mn&gt;12&lt;/mn&gt;&lt;mn&gt;12&lt;/mn&gt;&lt;/mfrac&gt;&lt;mtext&gt;&lt;/mtext&gt;&lt;mtext&gt;&lt;/mtext&gt;&lt;mtext&gt;&lt;/mtext&gt;&lt;mfrac&gt;&lt;mn&gt;12&lt;/mn&gt;&lt;mn&gt;13&lt;/mn&gt;&lt;/mfrac&gt;&lt;/math&gt;" id="1041" name="Google Shape;1041;p79" title="twelve oneths twelve halves the fraction with numerator 12 and denominator 3 twelve fourths twelve fifths twelve sixths 12 over 12 12 over 13"/>
          <p:cNvPicPr preferRelativeResize="0"/>
          <p:nvPr/>
        </p:nvPicPr>
        <p:blipFill rotWithShape="1">
          <a:blip r:embed="rId4">
            <a:alphaModFix/>
          </a:blip>
          <a:srcRect b="0" l="11796" r="79260" t="0"/>
          <a:stretch/>
        </p:blipFill>
        <p:spPr>
          <a:xfrm>
            <a:off x="865989" y="2928913"/>
            <a:ext cx="392177" cy="556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}\ \ \ \frac{12}{2}\ \ \ \frac{12}{\ 3}\ \ \ \ \frac{12}{4}\ \ \ \frac{12}{5}\ \ \ \frac{12}{6}\ \ \ \ \frac{12}{12}\ \ \ \frac{12}{13}&quot;&gt;&lt;mfrac&gt;&lt;mn&gt;12&lt;/mn&gt;&lt;mn&gt;1&lt;/mn&gt;&lt;/mfrac&gt;&lt;mtext&gt;&lt;/mtext&gt;&lt;mtext&gt;&lt;/mtext&gt;&lt;mtext&gt;&lt;/mtext&gt;&lt;mfrac&gt;&lt;mn&gt;12&lt;/mn&gt;&lt;mn&gt;2&lt;/mn&gt;&lt;/mfrac&gt;&lt;mtext&gt;&lt;/mtext&gt;&lt;mtext&gt;&lt;/mtext&gt;&lt;mtext&gt;&lt;/mtext&gt;&lt;mfrac&gt;&lt;mn&gt;12&lt;/mn&gt;&lt;mrow&gt;&lt;mtext&gt;&lt;/mtext&gt;&lt;mn&gt;3&lt;/mn&gt;&lt;/mrow&gt;&lt;/mfrac&gt;&lt;mtext&gt;&lt;/mtext&gt;&lt;mtext&gt;&lt;/mtext&gt;&lt;mtext&gt;&lt;/mtext&gt;&lt;mtext&gt;&lt;/mtext&gt;&lt;mfrac&gt;&lt;mn&gt;12&lt;/mn&gt;&lt;mn&gt;4&lt;/mn&gt;&lt;/mfrac&gt;&lt;mtext&gt;&lt;/mtext&gt;&lt;mtext&gt;&lt;/mtext&gt;&lt;mtext&gt;&lt;/mtext&gt;&lt;mfrac&gt;&lt;mn&gt;12&lt;/mn&gt;&lt;mn&gt;5&lt;/mn&gt;&lt;/mfrac&gt;&lt;mtext&gt;&lt;/mtext&gt;&lt;mtext&gt;&lt;/mtext&gt;&lt;mtext&gt;&lt;/mtext&gt;&lt;mfrac&gt;&lt;mn&gt;12&lt;/mn&gt;&lt;mn&gt;6&lt;/mn&gt;&lt;/mfrac&gt;&lt;mtext&gt;&lt;/mtext&gt;&lt;mtext&gt;&lt;/mtext&gt;&lt;mtext&gt;&lt;/mtext&gt;&lt;mtext&gt;&lt;/mtext&gt;&lt;mfrac&gt;&lt;mn&gt;12&lt;/mn&gt;&lt;mn&gt;12&lt;/mn&gt;&lt;/mfrac&gt;&lt;mtext&gt;&lt;/mtext&gt;&lt;mtext&gt;&lt;/mtext&gt;&lt;mtext&gt;&lt;/mtext&gt;&lt;mfrac&gt;&lt;mn&gt;12&lt;/mn&gt;&lt;mn&gt;13&lt;/mn&gt;&lt;/mfrac&gt;&lt;/math&gt;" id="1042" name="Google Shape;1042;p79" title="twelve oneths twelve halves the fraction with numerator 12 and denominator 3 twelve fourths twelve fifths twelve sixths 12 over 12 12 over 13"/>
          <p:cNvPicPr preferRelativeResize="0"/>
          <p:nvPr/>
        </p:nvPicPr>
        <p:blipFill rotWithShape="1">
          <a:blip r:embed="rId4">
            <a:alphaModFix/>
          </a:blip>
          <a:srcRect b="0" l="24982" r="66074" t="0"/>
          <a:stretch/>
        </p:blipFill>
        <p:spPr>
          <a:xfrm>
            <a:off x="874200" y="3606238"/>
            <a:ext cx="392177" cy="556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}\ \ \ \frac{12}{2}\ \ \ \frac{12}{\ 3}\ \ \ \ \frac{12}{4}\ \ \ \frac{12}{5}\ \ \ \frac{12}{6}\ \ \ \ \frac{12}{12}\ \ \ \frac{12}{13}&quot;&gt;&lt;mfrac&gt;&lt;mn&gt;12&lt;/mn&gt;&lt;mn&gt;1&lt;/mn&gt;&lt;/mfrac&gt;&lt;mtext&gt;&lt;/mtext&gt;&lt;mtext&gt;&lt;/mtext&gt;&lt;mtext&gt;&lt;/mtext&gt;&lt;mfrac&gt;&lt;mn&gt;12&lt;/mn&gt;&lt;mn&gt;2&lt;/mn&gt;&lt;/mfrac&gt;&lt;mtext&gt;&lt;/mtext&gt;&lt;mtext&gt;&lt;/mtext&gt;&lt;mtext&gt;&lt;/mtext&gt;&lt;mfrac&gt;&lt;mn&gt;12&lt;/mn&gt;&lt;mrow&gt;&lt;mtext&gt;&lt;/mtext&gt;&lt;mn&gt;3&lt;/mn&gt;&lt;/mrow&gt;&lt;/mfrac&gt;&lt;mtext&gt;&lt;/mtext&gt;&lt;mtext&gt;&lt;/mtext&gt;&lt;mtext&gt;&lt;/mtext&gt;&lt;mtext&gt;&lt;/mtext&gt;&lt;mfrac&gt;&lt;mn&gt;12&lt;/mn&gt;&lt;mn&gt;4&lt;/mn&gt;&lt;/mfrac&gt;&lt;mtext&gt;&lt;/mtext&gt;&lt;mtext&gt;&lt;/mtext&gt;&lt;mtext&gt;&lt;/mtext&gt;&lt;mfrac&gt;&lt;mn&gt;12&lt;/mn&gt;&lt;mn&gt;5&lt;/mn&gt;&lt;/mfrac&gt;&lt;mtext&gt;&lt;/mtext&gt;&lt;mtext&gt;&lt;/mtext&gt;&lt;mtext&gt;&lt;/mtext&gt;&lt;mfrac&gt;&lt;mn&gt;12&lt;/mn&gt;&lt;mn&gt;6&lt;/mn&gt;&lt;/mfrac&gt;&lt;mtext&gt;&lt;/mtext&gt;&lt;mtext&gt;&lt;/mtext&gt;&lt;mtext&gt;&lt;/mtext&gt;&lt;mtext&gt;&lt;/mtext&gt;&lt;mfrac&gt;&lt;mn&gt;12&lt;/mn&gt;&lt;mn&gt;12&lt;/mn&gt;&lt;/mfrac&gt;&lt;mtext&gt;&lt;/mtext&gt;&lt;mtext&gt;&lt;/mtext&gt;&lt;mtext&gt;&lt;/mtext&gt;&lt;mfrac&gt;&lt;mn&gt;12&lt;/mn&gt;&lt;mn&gt;13&lt;/mn&gt;&lt;/mfrac&gt;&lt;/math&gt;" id="1043" name="Google Shape;1043;p79" title="twelve oneths twelve halves the fraction with numerator 12 and denominator 3 twelve fourths twelve fifths twelve sixths 12 over 12 12 over 13"/>
          <p:cNvPicPr preferRelativeResize="0"/>
          <p:nvPr/>
        </p:nvPicPr>
        <p:blipFill rotWithShape="1">
          <a:blip r:embed="rId4">
            <a:alphaModFix/>
          </a:blip>
          <a:srcRect b="0" l="38947" r="52110" t="0"/>
          <a:stretch/>
        </p:blipFill>
        <p:spPr>
          <a:xfrm>
            <a:off x="874200" y="4283563"/>
            <a:ext cx="392177" cy="556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}\ \ \ \frac{12}{2}\ \ \ \frac{12}{\ 3}\ \ \ \ \frac{12}{4}\ \ \ \frac{12}{5}\ \ \ \frac{12}{6}\ \ \ \ \frac{12}{12}\ \ \ \frac{12}{13}&quot;&gt;&lt;mfrac&gt;&lt;mn&gt;12&lt;/mn&gt;&lt;mn&gt;1&lt;/mn&gt;&lt;/mfrac&gt;&lt;mtext&gt;&lt;/mtext&gt;&lt;mtext&gt;&lt;/mtext&gt;&lt;mtext&gt;&lt;/mtext&gt;&lt;mfrac&gt;&lt;mn&gt;12&lt;/mn&gt;&lt;mn&gt;2&lt;/mn&gt;&lt;/mfrac&gt;&lt;mtext&gt;&lt;/mtext&gt;&lt;mtext&gt;&lt;/mtext&gt;&lt;mtext&gt;&lt;/mtext&gt;&lt;mfrac&gt;&lt;mn&gt;12&lt;/mn&gt;&lt;mrow&gt;&lt;mtext&gt;&lt;/mtext&gt;&lt;mn&gt;3&lt;/mn&gt;&lt;/mrow&gt;&lt;/mfrac&gt;&lt;mtext&gt;&lt;/mtext&gt;&lt;mtext&gt;&lt;/mtext&gt;&lt;mtext&gt;&lt;/mtext&gt;&lt;mtext&gt;&lt;/mtext&gt;&lt;mfrac&gt;&lt;mn&gt;12&lt;/mn&gt;&lt;mn&gt;4&lt;/mn&gt;&lt;/mfrac&gt;&lt;mtext&gt;&lt;/mtext&gt;&lt;mtext&gt;&lt;/mtext&gt;&lt;mtext&gt;&lt;/mtext&gt;&lt;mfrac&gt;&lt;mn&gt;12&lt;/mn&gt;&lt;mn&gt;5&lt;/mn&gt;&lt;/mfrac&gt;&lt;mtext&gt;&lt;/mtext&gt;&lt;mtext&gt;&lt;/mtext&gt;&lt;mtext&gt;&lt;/mtext&gt;&lt;mfrac&gt;&lt;mn&gt;12&lt;/mn&gt;&lt;mn&gt;6&lt;/mn&gt;&lt;/mfrac&gt;&lt;mtext&gt;&lt;/mtext&gt;&lt;mtext&gt;&lt;/mtext&gt;&lt;mtext&gt;&lt;/mtext&gt;&lt;mtext&gt;&lt;/mtext&gt;&lt;mfrac&gt;&lt;mn&gt;12&lt;/mn&gt;&lt;mn&gt;12&lt;/mn&gt;&lt;/mfrac&gt;&lt;mtext&gt;&lt;/mtext&gt;&lt;mtext&gt;&lt;/mtext&gt;&lt;mtext&gt;&lt;/mtext&gt;&lt;mfrac&gt;&lt;mn&gt;12&lt;/mn&gt;&lt;mn&gt;13&lt;/mn&gt;&lt;/mfrac&gt;&lt;/math&gt;" id="1044" name="Google Shape;1044;p79" title="twelve oneths twelve halves the fraction with numerator 12 and denominator 3 twelve fourths twelve fifths twelve sixths 12 over 12 12 over 13"/>
          <p:cNvPicPr preferRelativeResize="0"/>
          <p:nvPr/>
        </p:nvPicPr>
        <p:blipFill rotWithShape="1">
          <a:blip r:embed="rId4">
            <a:alphaModFix/>
          </a:blip>
          <a:srcRect b="0" l="64411" r="26645" t="0"/>
          <a:stretch/>
        </p:blipFill>
        <p:spPr>
          <a:xfrm>
            <a:off x="4320000" y="2327775"/>
            <a:ext cx="392177" cy="556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}\ \ \ \frac{12}{2}\ \ \ \frac{12}{\ 3}\ \ \ \ \frac{12}{4}\ \ \ \frac{12}{5}\ \ \ \frac{12}{6}\ \ \ \ \frac{12}{12}\ \ \ \frac{12}{13}&quot;&gt;&lt;mfrac&gt;&lt;mn&gt;12&lt;/mn&gt;&lt;mn&gt;1&lt;/mn&gt;&lt;/mfrac&gt;&lt;mtext&gt;&lt;/mtext&gt;&lt;mtext&gt;&lt;/mtext&gt;&lt;mtext&gt;&lt;/mtext&gt;&lt;mfrac&gt;&lt;mn&gt;12&lt;/mn&gt;&lt;mn&gt;2&lt;/mn&gt;&lt;/mfrac&gt;&lt;mtext&gt;&lt;/mtext&gt;&lt;mtext&gt;&lt;/mtext&gt;&lt;mtext&gt;&lt;/mtext&gt;&lt;mfrac&gt;&lt;mn&gt;12&lt;/mn&gt;&lt;mrow&gt;&lt;mtext&gt;&lt;/mtext&gt;&lt;mn&gt;3&lt;/mn&gt;&lt;/mrow&gt;&lt;/mfrac&gt;&lt;mtext&gt;&lt;/mtext&gt;&lt;mtext&gt;&lt;/mtext&gt;&lt;mtext&gt;&lt;/mtext&gt;&lt;mtext&gt;&lt;/mtext&gt;&lt;mfrac&gt;&lt;mn&gt;12&lt;/mn&gt;&lt;mn&gt;4&lt;/mn&gt;&lt;/mfrac&gt;&lt;mtext&gt;&lt;/mtext&gt;&lt;mtext&gt;&lt;/mtext&gt;&lt;mtext&gt;&lt;/mtext&gt;&lt;mfrac&gt;&lt;mn&gt;12&lt;/mn&gt;&lt;mn&gt;5&lt;/mn&gt;&lt;/mfrac&gt;&lt;mtext&gt;&lt;/mtext&gt;&lt;mtext&gt;&lt;/mtext&gt;&lt;mtext&gt;&lt;/mtext&gt;&lt;mfrac&gt;&lt;mn&gt;12&lt;/mn&gt;&lt;mn&gt;6&lt;/mn&gt;&lt;/mfrac&gt;&lt;mtext&gt;&lt;/mtext&gt;&lt;mtext&gt;&lt;/mtext&gt;&lt;mtext&gt;&lt;/mtext&gt;&lt;mtext&gt;&lt;/mtext&gt;&lt;mfrac&gt;&lt;mn&gt;12&lt;/mn&gt;&lt;mn&gt;12&lt;/mn&gt;&lt;/mfrac&gt;&lt;mtext&gt;&lt;/mtext&gt;&lt;mtext&gt;&lt;/mtext&gt;&lt;mtext&gt;&lt;/mtext&gt;&lt;mfrac&gt;&lt;mn&gt;12&lt;/mn&gt;&lt;mn&gt;13&lt;/mn&gt;&lt;/mfrac&gt;&lt;/math&gt;" id="1045" name="Google Shape;1045;p79" title="twelve oneths twelve halves the fraction with numerator 12 and denominator 3 twelve fourths twelve fifths twelve sixths 12 over 12 12 over 13"/>
          <p:cNvPicPr preferRelativeResize="0"/>
          <p:nvPr/>
        </p:nvPicPr>
        <p:blipFill rotWithShape="1">
          <a:blip r:embed="rId4">
            <a:alphaModFix/>
          </a:blip>
          <a:srcRect b="0" l="78641" r="12415" t="0"/>
          <a:stretch/>
        </p:blipFill>
        <p:spPr>
          <a:xfrm>
            <a:off x="4319988" y="3071975"/>
            <a:ext cx="392177" cy="55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79"/>
          <p:cNvSpPr txBox="1"/>
          <p:nvPr/>
        </p:nvSpPr>
        <p:spPr>
          <a:xfrm>
            <a:off x="5756150" y="1058100"/>
            <a:ext cx="392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/>
          </a:p>
        </p:txBody>
      </p:sp>
      <p:cxnSp>
        <p:nvCxnSpPr>
          <p:cNvPr id="1047" name="Google Shape;1047;p79"/>
          <p:cNvCxnSpPr/>
          <p:nvPr/>
        </p:nvCxnSpPr>
        <p:spPr>
          <a:xfrm>
            <a:off x="5952200" y="1415975"/>
            <a:ext cx="0" cy="25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8" name="Google Shape;1048;p79"/>
          <p:cNvSpPr txBox="1"/>
          <p:nvPr/>
        </p:nvSpPr>
        <p:spPr>
          <a:xfrm>
            <a:off x="3806475" y="1041475"/>
            <a:ext cx="392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/>
          </a:p>
        </p:txBody>
      </p:sp>
      <p:cxnSp>
        <p:nvCxnSpPr>
          <p:cNvPr id="1049" name="Google Shape;1049;p79"/>
          <p:cNvCxnSpPr/>
          <p:nvPr/>
        </p:nvCxnSpPr>
        <p:spPr>
          <a:xfrm>
            <a:off x="4002525" y="1399350"/>
            <a:ext cx="0" cy="25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0" name="Google Shape;1050;p79"/>
          <p:cNvSpPr txBox="1"/>
          <p:nvPr/>
        </p:nvSpPr>
        <p:spPr>
          <a:xfrm>
            <a:off x="3164030" y="1041475"/>
            <a:ext cx="392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/>
          </a:p>
        </p:txBody>
      </p:sp>
      <p:cxnSp>
        <p:nvCxnSpPr>
          <p:cNvPr id="1051" name="Google Shape;1051;p79"/>
          <p:cNvCxnSpPr/>
          <p:nvPr/>
        </p:nvCxnSpPr>
        <p:spPr>
          <a:xfrm>
            <a:off x="3360080" y="1399350"/>
            <a:ext cx="0" cy="25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2" name="Google Shape;1052;p79"/>
          <p:cNvSpPr txBox="1"/>
          <p:nvPr/>
        </p:nvSpPr>
        <p:spPr>
          <a:xfrm>
            <a:off x="2832297" y="1041475"/>
            <a:ext cx="392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/>
          </a:p>
        </p:txBody>
      </p:sp>
      <p:cxnSp>
        <p:nvCxnSpPr>
          <p:cNvPr id="1053" name="Google Shape;1053;p79"/>
          <p:cNvCxnSpPr/>
          <p:nvPr/>
        </p:nvCxnSpPr>
        <p:spPr>
          <a:xfrm>
            <a:off x="3028347" y="1399350"/>
            <a:ext cx="0" cy="25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4" name="Google Shape;1054;p79"/>
          <p:cNvSpPr txBox="1"/>
          <p:nvPr/>
        </p:nvSpPr>
        <p:spPr>
          <a:xfrm>
            <a:off x="2511075" y="1041475"/>
            <a:ext cx="392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/>
          </a:p>
        </p:txBody>
      </p:sp>
      <p:cxnSp>
        <p:nvCxnSpPr>
          <p:cNvPr id="1055" name="Google Shape;1055;p79"/>
          <p:cNvCxnSpPr/>
          <p:nvPr/>
        </p:nvCxnSpPr>
        <p:spPr>
          <a:xfrm>
            <a:off x="2707125" y="1399350"/>
            <a:ext cx="0" cy="25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6" name="Google Shape;1056;p79"/>
          <p:cNvSpPr txBox="1"/>
          <p:nvPr/>
        </p:nvSpPr>
        <p:spPr>
          <a:xfrm>
            <a:off x="2194508" y="1041475"/>
            <a:ext cx="392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/>
          </a:p>
        </p:txBody>
      </p:sp>
      <p:cxnSp>
        <p:nvCxnSpPr>
          <p:cNvPr id="1057" name="Google Shape;1057;p79"/>
          <p:cNvCxnSpPr/>
          <p:nvPr/>
        </p:nvCxnSpPr>
        <p:spPr>
          <a:xfrm>
            <a:off x="2390558" y="1399350"/>
            <a:ext cx="0" cy="25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8" name="Google Shape;1058;p79"/>
          <p:cNvSpPr txBox="1"/>
          <p:nvPr/>
        </p:nvSpPr>
        <p:spPr>
          <a:xfrm>
            <a:off x="2676884" y="1851103"/>
            <a:ext cx="392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/>
          </a:p>
        </p:txBody>
      </p:sp>
      <p:cxnSp>
        <p:nvCxnSpPr>
          <p:cNvPr id="1059" name="Google Shape;1059;p79"/>
          <p:cNvCxnSpPr/>
          <p:nvPr/>
        </p:nvCxnSpPr>
        <p:spPr>
          <a:xfrm rot="10800000">
            <a:off x="2865650" y="1668875"/>
            <a:ext cx="0" cy="30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0" name="Google Shape;1060;p79"/>
          <p:cNvSpPr txBox="1"/>
          <p:nvPr/>
        </p:nvSpPr>
        <p:spPr>
          <a:xfrm>
            <a:off x="2110206" y="1856531"/>
            <a:ext cx="392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/>
          </a:p>
        </p:txBody>
      </p:sp>
      <p:cxnSp>
        <p:nvCxnSpPr>
          <p:cNvPr id="1061" name="Google Shape;1061;p79"/>
          <p:cNvCxnSpPr/>
          <p:nvPr/>
        </p:nvCxnSpPr>
        <p:spPr>
          <a:xfrm rot="10800000">
            <a:off x="2298971" y="1674303"/>
            <a:ext cx="0" cy="30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2" name="Google Shape;1062;p79"/>
          <p:cNvSpPr txBox="1"/>
          <p:nvPr>
            <p:ph idx="1" type="body"/>
          </p:nvPr>
        </p:nvSpPr>
        <p:spPr>
          <a:xfrm>
            <a:off x="324000" y="759300"/>
            <a:ext cx="8650800" cy="46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arenR" startAt="3"/>
            </a:pPr>
            <a:r>
              <a:rPr lang="en-GB" sz="2100"/>
              <a:t>Place the following on the number line.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1063" name="Google Shape;1063;p79"/>
          <p:cNvSpPr txBox="1"/>
          <p:nvPr/>
        </p:nvSpPr>
        <p:spPr>
          <a:xfrm>
            <a:off x="3920825" y="3703000"/>
            <a:ext cx="457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79"/>
          <p:cNvSpPr txBox="1"/>
          <p:nvPr/>
        </p:nvSpPr>
        <p:spPr>
          <a:xfrm>
            <a:off x="3920825" y="4326450"/>
            <a:ext cx="17571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2}{1}\ \ \ \frac{12}{2}\ \ \ \frac{12}{\ 3}\ \ \ \ \frac{12}{4}\ \ \ \frac{12}{5}\ \ \ \frac{12}{6}\ \ \ \ \frac{12}{12}\ \ \ \frac{12}{13}&quot;&gt;&lt;mfrac&gt;&lt;mn&gt;12&lt;/mn&gt;&lt;mn&gt;1&lt;/mn&gt;&lt;/mfrac&gt;&lt;mtext&gt;&lt;/mtext&gt;&lt;mtext&gt;&lt;/mtext&gt;&lt;mtext&gt;&lt;/mtext&gt;&lt;mfrac&gt;&lt;mn&gt;12&lt;/mn&gt;&lt;mn&gt;2&lt;/mn&gt;&lt;/mfrac&gt;&lt;mtext&gt;&lt;/mtext&gt;&lt;mtext&gt;&lt;/mtext&gt;&lt;mtext&gt;&lt;/mtext&gt;&lt;mfrac&gt;&lt;mn&gt;12&lt;/mn&gt;&lt;mrow&gt;&lt;mtext&gt;&lt;/mtext&gt;&lt;mn&gt;3&lt;/mn&gt;&lt;/mrow&gt;&lt;/mfrac&gt;&lt;mtext&gt;&lt;/mtext&gt;&lt;mtext&gt;&lt;/mtext&gt;&lt;mtext&gt;&lt;/mtext&gt;&lt;mtext&gt;&lt;/mtext&gt;&lt;mfrac&gt;&lt;mn&gt;12&lt;/mn&gt;&lt;mn&gt;4&lt;/mn&gt;&lt;/mfrac&gt;&lt;mtext&gt;&lt;/mtext&gt;&lt;mtext&gt;&lt;/mtext&gt;&lt;mtext&gt;&lt;/mtext&gt;&lt;mfrac&gt;&lt;mn&gt;12&lt;/mn&gt;&lt;mn&gt;5&lt;/mn&gt;&lt;/mfrac&gt;&lt;mtext&gt;&lt;/mtext&gt;&lt;mtext&gt;&lt;/mtext&gt;&lt;mtext&gt;&lt;/mtext&gt;&lt;mfrac&gt;&lt;mn&gt;12&lt;/mn&gt;&lt;mn&gt;6&lt;/mn&gt;&lt;/mfrac&gt;&lt;mtext&gt;&lt;/mtext&gt;&lt;mtext&gt;&lt;/mtext&gt;&lt;mtext&gt;&lt;/mtext&gt;&lt;mtext&gt;&lt;/mtext&gt;&lt;mfrac&gt;&lt;mn&gt;12&lt;/mn&gt;&lt;mn&gt;12&lt;/mn&gt;&lt;/mfrac&gt;&lt;mtext&gt;&lt;/mtext&gt;&lt;mtext&gt;&lt;/mtext&gt;&lt;mtext&gt;&lt;/mtext&gt;&lt;mfrac&gt;&lt;mn&gt;12&lt;/mn&gt;&lt;mn&gt;13&lt;/mn&gt;&lt;/mfrac&gt;&lt;/math&gt;" id="1065" name="Google Shape;1065;p79" title="twelve oneths twelve halves the fraction with numerator 12 and denominator 3 twelve fourths twelve fifths twelve sixths 12 over 12 12 over 13"/>
          <p:cNvPicPr preferRelativeResize="0"/>
          <p:nvPr/>
        </p:nvPicPr>
        <p:blipFill rotWithShape="1">
          <a:blip r:embed="rId4">
            <a:alphaModFix/>
          </a:blip>
          <a:srcRect b="0" l="49807" r="41249" t="0"/>
          <a:stretch/>
        </p:blipFill>
        <p:spPr>
          <a:xfrm>
            <a:off x="6444064" y="3560081"/>
            <a:ext cx="392177" cy="556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}\ \ \ \frac{12}{2}\ \ \ \frac{12}{\ 3}\ \ \ \ \frac{12}{4}\ \ \ \frac{12}{5}\ \ \ \frac{12}{6}\ \ \ \ \frac{12}{12}\ \ \ \frac{12}{13}&quot;&gt;&lt;mfrac&gt;&lt;mn&gt;12&lt;/mn&gt;&lt;mn&gt;1&lt;/mn&gt;&lt;/mfrac&gt;&lt;mtext&gt;&lt;/mtext&gt;&lt;mtext&gt;&lt;/mtext&gt;&lt;mtext&gt;&lt;/mtext&gt;&lt;mfrac&gt;&lt;mn&gt;12&lt;/mn&gt;&lt;mn&gt;2&lt;/mn&gt;&lt;/mfrac&gt;&lt;mtext&gt;&lt;/mtext&gt;&lt;mtext&gt;&lt;/mtext&gt;&lt;mtext&gt;&lt;/mtext&gt;&lt;mfrac&gt;&lt;mn&gt;12&lt;/mn&gt;&lt;mrow&gt;&lt;mtext&gt;&lt;/mtext&gt;&lt;mn&gt;3&lt;/mn&gt;&lt;/mrow&gt;&lt;/mfrac&gt;&lt;mtext&gt;&lt;/mtext&gt;&lt;mtext&gt;&lt;/mtext&gt;&lt;mtext&gt;&lt;/mtext&gt;&lt;mtext&gt;&lt;/mtext&gt;&lt;mfrac&gt;&lt;mn&gt;12&lt;/mn&gt;&lt;mn&gt;4&lt;/mn&gt;&lt;/mfrac&gt;&lt;mtext&gt;&lt;/mtext&gt;&lt;mtext&gt;&lt;/mtext&gt;&lt;mtext&gt;&lt;/mtext&gt;&lt;mfrac&gt;&lt;mn&gt;12&lt;/mn&gt;&lt;mn&gt;5&lt;/mn&gt;&lt;/mfrac&gt;&lt;mtext&gt;&lt;/mtext&gt;&lt;mtext&gt;&lt;/mtext&gt;&lt;mtext&gt;&lt;/mtext&gt;&lt;mfrac&gt;&lt;mn&gt;12&lt;/mn&gt;&lt;mn&gt;6&lt;/mn&gt;&lt;/mfrac&gt;&lt;mtext&gt;&lt;/mtext&gt;&lt;mtext&gt;&lt;/mtext&gt;&lt;mtext&gt;&lt;/mtext&gt;&lt;mtext&gt;&lt;/mtext&gt;&lt;mfrac&gt;&lt;mn&gt;12&lt;/mn&gt;&lt;mn&gt;12&lt;/mn&gt;&lt;/mfrac&gt;&lt;mtext&gt;&lt;/mtext&gt;&lt;mtext&gt;&lt;/mtext&gt;&lt;mtext&gt;&lt;/mtext&gt;&lt;mfrac&gt;&lt;mn&gt;12&lt;/mn&gt;&lt;mn&gt;13&lt;/mn&gt;&lt;/mfrac&gt;&lt;/math&gt;" id="1066" name="Google Shape;1066;p79" title="twelve oneths twelve halves the fraction with numerator 12 and denominator 3 twelve fourths twelve fifths twelve sixths 12 over 12 12 over 13"/>
          <p:cNvPicPr preferRelativeResize="0"/>
          <p:nvPr/>
        </p:nvPicPr>
        <p:blipFill rotWithShape="1">
          <a:blip r:embed="rId4">
            <a:alphaModFix/>
          </a:blip>
          <a:srcRect b="0" l="92124" r="-1066" t="0"/>
          <a:stretch/>
        </p:blipFill>
        <p:spPr>
          <a:xfrm>
            <a:off x="6485125" y="4252238"/>
            <a:ext cx="392177" cy="55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7" name="Google Shape;1067;p79"/>
          <p:cNvSpPr txBox="1"/>
          <p:nvPr/>
        </p:nvSpPr>
        <p:spPr>
          <a:xfrm>
            <a:off x="5566525" y="3703000"/>
            <a:ext cx="32640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where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79"/>
          <p:cNvSpPr txBox="1"/>
          <p:nvPr/>
        </p:nvSpPr>
        <p:spPr>
          <a:xfrm>
            <a:off x="6901550" y="3703000"/>
            <a:ext cx="20814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would lie.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79"/>
          <p:cNvSpPr txBox="1"/>
          <p:nvPr/>
        </p:nvSpPr>
        <p:spPr>
          <a:xfrm>
            <a:off x="5566525" y="4326450"/>
            <a:ext cx="30114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where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79"/>
          <p:cNvSpPr txBox="1"/>
          <p:nvPr/>
        </p:nvSpPr>
        <p:spPr>
          <a:xfrm>
            <a:off x="6877300" y="4326450"/>
            <a:ext cx="18531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would lie.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79"/>
          <p:cNvSpPr txBox="1"/>
          <p:nvPr/>
        </p:nvSpPr>
        <p:spPr>
          <a:xfrm>
            <a:off x="4378025" y="3703000"/>
            <a:ext cx="17571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Estimate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79"/>
          <p:cNvSpPr txBox="1"/>
          <p:nvPr/>
        </p:nvSpPr>
        <p:spPr>
          <a:xfrm>
            <a:off x="4378025" y="4326450"/>
            <a:ext cx="17571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Estimate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80"/>
          <p:cNvSpPr txBox="1"/>
          <p:nvPr/>
        </p:nvSpPr>
        <p:spPr>
          <a:xfrm>
            <a:off x="318725" y="3206675"/>
            <a:ext cx="8260500" cy="4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make the above calculations correct, work out the value of the images.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2}{4}+\frac{24}{4}=\ 9\\&amp;#13;&amp;#10;\frac{24}{4}-\frac{12}{3}=2\\&amp;#13;&amp;#10;\frac{24}{12}+\frac{3}{3}=3\\&amp;#13;&amp;#10;\\&amp;#13;&amp;#10;\end{array}&quot;&gt;&lt;mtable columnalign=&quot;left&quot; columnspacing=&quot;1em&quot; rowspacing=&quot;4pt&quot;&gt;&lt;mtr&gt;&lt;mtd&gt;&lt;mfrac&gt;&lt;mn&gt;12&lt;/mn&gt;&lt;mn&gt;4&lt;/mn&gt;&lt;/mfrac&gt;&lt;mo&gt;+&lt;/mo&gt;&lt;mfrac&gt;&lt;mn&gt;24&lt;/mn&gt;&lt;mn&gt;4&lt;/mn&gt;&lt;/mfrac&gt;&lt;mo&gt;=&lt;/mo&gt;&lt;mtext&gt;&lt;/mtext&gt;&lt;mn&gt;9&lt;/mn&gt;&lt;/mtd&gt;&lt;/mtr&gt;&lt;mtr&gt;&lt;mtd&gt;&lt;mfrac&gt;&lt;mn&gt;24&lt;/mn&gt;&lt;mn&gt;4&lt;/mn&gt;&lt;/mfrac&gt;&lt;mo&gt;−&lt;/mo&gt;&lt;mfrac&gt;&lt;mn&gt;12&lt;/mn&gt;&lt;mn&gt;3&lt;/mn&gt;&lt;/mfrac&gt;&lt;mo&gt;=&lt;/mo&gt;&lt;mn&gt;2&lt;/mn&gt;&lt;/mtd&gt;&lt;/mtr&gt;&lt;mtr&gt;&lt;mtd&gt;&lt;mfrac&gt;&lt;mn&gt;24&lt;/mn&gt;&lt;mn&gt;12&lt;/mn&gt;&lt;/mfrac&gt;&lt;mo&gt;+&lt;/mo&gt;&lt;mfrac&gt;&lt;mn&gt;3&lt;/mn&gt;&lt;mn&gt;3&lt;/mn&gt;&lt;/mfrac&gt;&lt;mo&gt;=&lt;/mo&gt;&lt;mn&gt;3&lt;/mn&gt;&lt;/mtd&gt;&lt;/mtr&gt;&lt;mtr&gt;&lt;mtd/&gt;&lt;/mtr&gt;&lt;/mtable&gt;&lt;/math&gt;" id="1078" name="Google Shape;1078;p80" title="4 lines Line 1: twelve fourths plus 24 over 4 equals 9 Line 2: 24 over 4 minus twelve thirds equals 2 Line 3: 24 over 12 plus three thirds equals 3 Line 4: blank"/>
          <p:cNvPicPr preferRelativeResize="0"/>
          <p:nvPr/>
        </p:nvPicPr>
        <p:blipFill rotWithShape="1">
          <a:blip r:embed="rId3">
            <a:alphaModFix/>
          </a:blip>
          <a:srcRect b="33147" l="0" r="0" t="33531"/>
          <a:stretch/>
        </p:blipFill>
        <p:spPr>
          <a:xfrm>
            <a:off x="3282988" y="1702850"/>
            <a:ext cx="2010275" cy="639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2}{4}+\frac{24}{4}=\ 9\\&amp;#13;&amp;#10;\frac{24}{4}-\frac{12}{3}=2\\&amp;#13;&amp;#10;\frac{24}{12}+\frac{3}{3}=3\\&amp;#13;&amp;#10;\\&amp;#13;&amp;#10;\end{array}&quot;&gt;&lt;mtable columnalign=&quot;left&quot; columnspacing=&quot;1em&quot; rowspacing=&quot;4pt&quot;&gt;&lt;mtr&gt;&lt;mtd&gt;&lt;mfrac&gt;&lt;mn&gt;12&lt;/mn&gt;&lt;mn&gt;4&lt;/mn&gt;&lt;/mfrac&gt;&lt;mo&gt;+&lt;/mo&gt;&lt;mfrac&gt;&lt;mn&gt;24&lt;/mn&gt;&lt;mn&gt;4&lt;/mn&gt;&lt;/mfrac&gt;&lt;mo&gt;=&lt;/mo&gt;&lt;mtext&gt;&lt;/mtext&gt;&lt;mn&gt;9&lt;/mn&gt;&lt;/mtd&gt;&lt;/mtr&gt;&lt;mtr&gt;&lt;mtd&gt;&lt;mfrac&gt;&lt;mn&gt;24&lt;/mn&gt;&lt;mn&gt;4&lt;/mn&gt;&lt;/mfrac&gt;&lt;mo&gt;−&lt;/mo&gt;&lt;mfrac&gt;&lt;mn&gt;12&lt;/mn&gt;&lt;mn&gt;3&lt;/mn&gt;&lt;/mfrac&gt;&lt;mo&gt;=&lt;/mo&gt;&lt;mn&gt;2&lt;/mn&gt;&lt;/mtd&gt;&lt;/mtr&gt;&lt;mtr&gt;&lt;mtd&gt;&lt;mfrac&gt;&lt;mn&gt;24&lt;/mn&gt;&lt;mn&gt;12&lt;/mn&gt;&lt;/mfrac&gt;&lt;mo&gt;+&lt;/mo&gt;&lt;mfrac&gt;&lt;mn&gt;3&lt;/mn&gt;&lt;mn&gt;3&lt;/mn&gt;&lt;/mfrac&gt;&lt;mo&gt;=&lt;/mo&gt;&lt;mn&gt;3&lt;/mn&gt;&lt;/mtd&gt;&lt;/mtr&gt;&lt;mtr&gt;&lt;mtd/&gt;&lt;/mtr&gt;&lt;/mtable&gt;&lt;/math&gt;" id="1079" name="Google Shape;1079;p80" title="4 lines Line 1: twelve fourths plus 24 over 4 equals 9 Line 2: 24 over 4 minus twelve thirds equals 2 Line 3: 24 over 12 plus three thirds equals 3 Line 4: blank"/>
          <p:cNvPicPr preferRelativeResize="0"/>
          <p:nvPr/>
        </p:nvPicPr>
        <p:blipFill rotWithShape="1">
          <a:blip r:embed="rId3">
            <a:alphaModFix/>
          </a:blip>
          <a:srcRect b="-1139" l="0" r="0" t="67818"/>
          <a:stretch/>
        </p:blipFill>
        <p:spPr>
          <a:xfrm>
            <a:off x="6386588" y="1720625"/>
            <a:ext cx="2010275" cy="63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 as improper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80"/>
          <p:cNvSpPr txBox="1"/>
          <p:nvPr/>
        </p:nvSpPr>
        <p:spPr>
          <a:xfrm>
            <a:off x="1683300" y="1757200"/>
            <a:ext cx="6405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80"/>
          <p:cNvSpPr txBox="1"/>
          <p:nvPr/>
        </p:nvSpPr>
        <p:spPr>
          <a:xfrm>
            <a:off x="5080425" y="697975"/>
            <a:ext cx="517200" cy="464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80"/>
          <p:cNvSpPr txBox="1"/>
          <p:nvPr/>
        </p:nvSpPr>
        <p:spPr>
          <a:xfrm>
            <a:off x="5663400" y="697975"/>
            <a:ext cx="517200" cy="464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80"/>
          <p:cNvSpPr txBox="1"/>
          <p:nvPr/>
        </p:nvSpPr>
        <p:spPr>
          <a:xfrm>
            <a:off x="6246375" y="697975"/>
            <a:ext cx="517200" cy="464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80"/>
          <p:cNvSpPr txBox="1"/>
          <p:nvPr/>
        </p:nvSpPr>
        <p:spPr>
          <a:xfrm>
            <a:off x="6829350" y="697975"/>
            <a:ext cx="517200" cy="464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2}{4}+\frac{24}{4}=\ 9\\&amp;#13;&amp;#10;\frac{24}{4}-\frac{12}{3}=2\\&amp;#13;&amp;#10;\frac{24}{12}+\frac{3}{3}=3\\&amp;#13;&amp;#10;\\&amp;#13;&amp;#10;\end{array}&quot;&gt;&lt;mtable columnalign=&quot;left&quot; columnspacing=&quot;1em&quot; rowspacing=&quot;4pt&quot;&gt;&lt;mtr&gt;&lt;mtd&gt;&lt;mfrac&gt;&lt;mn&gt;12&lt;/mn&gt;&lt;mn&gt;4&lt;/mn&gt;&lt;/mfrac&gt;&lt;mo&gt;+&lt;/mo&gt;&lt;mfrac&gt;&lt;mn&gt;24&lt;/mn&gt;&lt;mn&gt;4&lt;/mn&gt;&lt;/mfrac&gt;&lt;mo&gt;=&lt;/mo&gt;&lt;mtext&gt;&lt;/mtext&gt;&lt;mn&gt;9&lt;/mn&gt;&lt;/mtd&gt;&lt;/mtr&gt;&lt;mtr&gt;&lt;mtd&gt;&lt;mfrac&gt;&lt;mn&gt;24&lt;/mn&gt;&lt;mn&gt;4&lt;/mn&gt;&lt;/mfrac&gt;&lt;mo&gt;−&lt;/mo&gt;&lt;mfrac&gt;&lt;mn&gt;12&lt;/mn&gt;&lt;mn&gt;3&lt;/mn&gt;&lt;/mfrac&gt;&lt;mo&gt;=&lt;/mo&gt;&lt;mn&gt;2&lt;/mn&gt;&lt;/mtd&gt;&lt;/mtr&gt;&lt;mtr&gt;&lt;mtd&gt;&lt;mfrac&gt;&lt;mn&gt;24&lt;/mn&gt;&lt;mn&gt;12&lt;/mn&gt;&lt;/mfrac&gt;&lt;mo&gt;+&lt;/mo&gt;&lt;mfrac&gt;&lt;mn&gt;3&lt;/mn&gt;&lt;mn&gt;3&lt;/mn&gt;&lt;/mfrac&gt;&lt;mo&gt;=&lt;/mo&gt;&lt;mn&gt;3&lt;/mn&gt;&lt;/mtd&gt;&lt;/mtr&gt;&lt;mtr&gt;&lt;mtd/&gt;&lt;/mtr&gt;&lt;/mtable&gt;&lt;/math&gt;" id="1086" name="Google Shape;1086;p80" title="4 lines Line 1: twelve fourths plus 24 over 4 equals 9 Line 2: 24 over 4 minus twelve thirds equals 2 Line 3: 24 over 12 plus three thirds equals 3 Line 4: blank"/>
          <p:cNvPicPr preferRelativeResize="0"/>
          <p:nvPr/>
        </p:nvPicPr>
        <p:blipFill rotWithShape="1">
          <a:blip r:embed="rId3">
            <a:alphaModFix/>
          </a:blip>
          <a:srcRect b="68639" l="0" r="0" t="0"/>
          <a:stretch/>
        </p:blipFill>
        <p:spPr>
          <a:xfrm>
            <a:off x="447600" y="1762000"/>
            <a:ext cx="2010275" cy="602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7" name="Google Shape;1087;p80"/>
          <p:cNvGrpSpPr/>
          <p:nvPr/>
        </p:nvGrpSpPr>
        <p:grpSpPr>
          <a:xfrm>
            <a:off x="447600" y="1660250"/>
            <a:ext cx="6263041" cy="2504138"/>
            <a:chOff x="447600" y="1660250"/>
            <a:chExt cx="6263041" cy="2504138"/>
          </a:xfrm>
        </p:grpSpPr>
        <p:pic>
          <p:nvPicPr>
            <p:cNvPr id="1088" name="Google Shape;1088;p8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47600" y="1660250"/>
              <a:ext cx="324028" cy="33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9" name="Google Shape;1089;p8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126112" y="1660250"/>
              <a:ext cx="324028" cy="33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0" name="Google Shape;1090;p8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386612" y="2124675"/>
              <a:ext cx="324028" cy="33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1" name="Google Shape;1091;p80"/>
            <p:cNvSpPr/>
            <p:nvPr/>
          </p:nvSpPr>
          <p:spPr>
            <a:xfrm>
              <a:off x="4116525" y="3769588"/>
              <a:ext cx="343200" cy="394800"/>
            </a:xfrm>
            <a:prstGeom prst="rect">
              <a:avLst/>
            </a:prstGeom>
            <a:solidFill>
              <a:srgbClr val="F3EEFB"/>
            </a:solidFill>
            <a:ln cap="flat" cmpd="sng" w="19050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2" name="Google Shape;1092;p80"/>
          <p:cNvGrpSpPr/>
          <p:nvPr/>
        </p:nvGrpSpPr>
        <p:grpSpPr>
          <a:xfrm>
            <a:off x="4116525" y="1720625"/>
            <a:ext cx="4171300" cy="3041238"/>
            <a:chOff x="4116525" y="1720625"/>
            <a:chExt cx="4171300" cy="3041238"/>
          </a:xfrm>
        </p:grpSpPr>
        <p:grpSp>
          <p:nvGrpSpPr>
            <p:cNvPr id="1093" name="Google Shape;1093;p80"/>
            <p:cNvGrpSpPr/>
            <p:nvPr/>
          </p:nvGrpSpPr>
          <p:grpSpPr>
            <a:xfrm>
              <a:off x="4143886" y="1720625"/>
              <a:ext cx="4143939" cy="712027"/>
              <a:chOff x="4143886" y="1720625"/>
              <a:chExt cx="4143939" cy="712027"/>
            </a:xfrm>
          </p:grpSpPr>
          <p:pic>
            <p:nvPicPr>
              <p:cNvPr id="1094" name="Google Shape;1094;p8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7903750" y="1835527"/>
                <a:ext cx="384075" cy="410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95" name="Google Shape;1095;p8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7209525" y="1720625"/>
                <a:ext cx="288475" cy="3079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96" name="Google Shape;1096;p8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7209523" y="2124677"/>
                <a:ext cx="288475" cy="3079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97" name="Google Shape;1097;p8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143886" y="2034727"/>
                <a:ext cx="288475" cy="3079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098" name="Google Shape;1098;p80"/>
            <p:cNvSpPr/>
            <p:nvPr/>
          </p:nvSpPr>
          <p:spPr>
            <a:xfrm>
              <a:off x="4116525" y="4367063"/>
              <a:ext cx="343200" cy="394800"/>
            </a:xfrm>
            <a:prstGeom prst="rect">
              <a:avLst/>
            </a:prstGeom>
            <a:solidFill>
              <a:srgbClr val="F3EEFB"/>
            </a:solidFill>
            <a:ln cap="flat" cmpd="sng" w="19050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9" name="Google Shape;1099;p80"/>
          <p:cNvGrpSpPr/>
          <p:nvPr/>
        </p:nvGrpSpPr>
        <p:grpSpPr>
          <a:xfrm>
            <a:off x="432263" y="2056227"/>
            <a:ext cx="6372368" cy="2108161"/>
            <a:chOff x="432263" y="2056227"/>
            <a:chExt cx="6372368" cy="2108161"/>
          </a:xfrm>
        </p:grpSpPr>
        <p:pic>
          <p:nvPicPr>
            <p:cNvPr id="1100" name="Google Shape;1100;p8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275387" y="2090799"/>
              <a:ext cx="354706" cy="307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1" name="Google Shape;1101;p8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32263" y="2090802"/>
              <a:ext cx="354706" cy="307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2" name="Google Shape;1102;p8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282988" y="2056227"/>
              <a:ext cx="354706" cy="307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3" name="Google Shape;1103;p80"/>
            <p:cNvSpPr/>
            <p:nvPr/>
          </p:nvSpPr>
          <p:spPr>
            <a:xfrm>
              <a:off x="6461431" y="3769588"/>
              <a:ext cx="343200" cy="394800"/>
            </a:xfrm>
            <a:prstGeom prst="rect">
              <a:avLst/>
            </a:prstGeom>
            <a:solidFill>
              <a:srgbClr val="F3EEFB"/>
            </a:solidFill>
            <a:ln cap="flat" cmpd="sng" w="19050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4" name="Google Shape;1104;p80"/>
          <p:cNvGrpSpPr/>
          <p:nvPr/>
        </p:nvGrpSpPr>
        <p:grpSpPr>
          <a:xfrm>
            <a:off x="1260700" y="1620000"/>
            <a:ext cx="5568650" cy="3143838"/>
            <a:chOff x="1260700" y="1620000"/>
            <a:chExt cx="5568650" cy="3143838"/>
          </a:xfrm>
        </p:grpSpPr>
        <p:pic>
          <p:nvPicPr>
            <p:cNvPr id="1105" name="Google Shape;1105;p8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260700" y="1620000"/>
              <a:ext cx="384075" cy="3503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6" name="Google Shape;1106;p8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235475" y="1620000"/>
              <a:ext cx="384075" cy="3503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7" name="Google Shape;1107;p8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356588" y="1653700"/>
              <a:ext cx="384075" cy="3503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8" name="Google Shape;1108;p80"/>
            <p:cNvSpPr/>
            <p:nvPr/>
          </p:nvSpPr>
          <p:spPr>
            <a:xfrm>
              <a:off x="6486150" y="4369038"/>
              <a:ext cx="343200" cy="394800"/>
            </a:xfrm>
            <a:prstGeom prst="rect">
              <a:avLst/>
            </a:prstGeom>
            <a:solidFill>
              <a:srgbClr val="F3EEFB"/>
            </a:solidFill>
            <a:ln cap="flat" cmpd="sng" w="19050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09" name="Google Shape;1109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2405" y="724488"/>
            <a:ext cx="294022" cy="305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0" name="Google Shape;1110;p8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46996" y="697965"/>
            <a:ext cx="348509" cy="317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1" name="Google Shape;1111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57866" y="717172"/>
            <a:ext cx="261762" cy="27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2" name="Google Shape;1112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69591" y="717172"/>
            <a:ext cx="321859" cy="27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3" name="Google Shape;1113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8130" y="3815988"/>
            <a:ext cx="294022" cy="305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" name="Google Shape;1114;p8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03071" y="4405540"/>
            <a:ext cx="348509" cy="317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48116" y="4443935"/>
            <a:ext cx="261762" cy="27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6" name="Google Shape;1116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16391" y="3829247"/>
            <a:ext cx="321859" cy="279455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80"/>
          <p:cNvSpPr txBox="1"/>
          <p:nvPr>
            <p:ph idx="1" type="body"/>
          </p:nvPr>
        </p:nvSpPr>
        <p:spPr>
          <a:xfrm>
            <a:off x="247800" y="759300"/>
            <a:ext cx="8650800" cy="46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18" name="Google Shape;1118;p80"/>
          <p:cNvSpPr txBox="1"/>
          <p:nvPr/>
        </p:nvSpPr>
        <p:spPr>
          <a:xfrm>
            <a:off x="318725" y="615875"/>
            <a:ext cx="8260500" cy="4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arenR" startAt="4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9" name="Google Shape;1119;p80"/>
          <p:cNvSpPr txBox="1"/>
          <p:nvPr/>
        </p:nvSpPr>
        <p:spPr>
          <a:xfrm>
            <a:off x="3803428" y="3713050"/>
            <a:ext cx="1137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endParaRPr sz="1300"/>
          </a:p>
        </p:txBody>
      </p:sp>
      <p:sp>
        <p:nvSpPr>
          <p:cNvPr id="1120" name="Google Shape;1120;p80"/>
          <p:cNvSpPr txBox="1"/>
          <p:nvPr/>
        </p:nvSpPr>
        <p:spPr>
          <a:xfrm>
            <a:off x="1644776" y="615875"/>
            <a:ext cx="7086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1" name="Google Shape;1121;p80"/>
          <p:cNvSpPr txBox="1"/>
          <p:nvPr/>
        </p:nvSpPr>
        <p:spPr>
          <a:xfrm>
            <a:off x="2223750" y="615875"/>
            <a:ext cx="704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80"/>
          <p:cNvSpPr txBox="1"/>
          <p:nvPr/>
        </p:nvSpPr>
        <p:spPr>
          <a:xfrm>
            <a:off x="2792950" y="615875"/>
            <a:ext cx="6624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80"/>
          <p:cNvSpPr txBox="1"/>
          <p:nvPr/>
        </p:nvSpPr>
        <p:spPr>
          <a:xfrm>
            <a:off x="3760600" y="615875"/>
            <a:ext cx="580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 either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80"/>
          <p:cNvSpPr txBox="1"/>
          <p:nvPr/>
        </p:nvSpPr>
        <p:spPr>
          <a:xfrm>
            <a:off x="6165628" y="3713050"/>
            <a:ext cx="1137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endParaRPr sz="1300"/>
          </a:p>
        </p:txBody>
      </p:sp>
      <p:sp>
        <p:nvSpPr>
          <p:cNvPr id="1125" name="Google Shape;1125;p80"/>
          <p:cNvSpPr txBox="1"/>
          <p:nvPr/>
        </p:nvSpPr>
        <p:spPr>
          <a:xfrm>
            <a:off x="3803428" y="4322650"/>
            <a:ext cx="1137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endParaRPr sz="1300"/>
          </a:p>
        </p:txBody>
      </p:sp>
      <p:sp>
        <p:nvSpPr>
          <p:cNvPr id="1126" name="Google Shape;1126;p80"/>
          <p:cNvSpPr txBox="1"/>
          <p:nvPr/>
        </p:nvSpPr>
        <p:spPr>
          <a:xfrm>
            <a:off x="6165628" y="4322650"/>
            <a:ext cx="1137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endParaRPr sz="13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81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 as improper fractions</a:t>
            </a:r>
            <a:endParaRPr/>
          </a:p>
        </p:txBody>
      </p:sp>
      <p:sp>
        <p:nvSpPr>
          <p:cNvPr id="1132" name="Google Shape;1132;p81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numbers to improper fractions</a:t>
            </a:r>
            <a:endParaRPr/>
          </a:p>
        </p:txBody>
      </p:sp>
      <p:sp>
        <p:nvSpPr>
          <p:cNvPr id="1133" name="Google Shape;1133;p81"/>
          <p:cNvSpPr txBox="1"/>
          <p:nvPr>
            <p:ph idx="4" type="title"/>
          </p:nvPr>
        </p:nvSpPr>
        <p:spPr>
          <a:xfrm>
            <a:off x="324000" y="657600"/>
            <a:ext cx="81048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converting mixed numbers to improper fractions</a:t>
            </a:r>
            <a:endParaRPr/>
          </a:p>
        </p:txBody>
      </p:sp>
      <p:sp>
        <p:nvSpPr>
          <p:cNvPr id="1134" name="Google Shape;1134;p81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mixed numbers and improper fractions</a:t>
            </a:r>
            <a:endParaRPr/>
          </a:p>
        </p:txBody>
      </p:sp>
      <p:pic>
        <p:nvPicPr>
          <p:cNvPr id="1135" name="Google Shape;1135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546" y="27660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numbers to improper fractions</a:t>
            </a:r>
            <a:endParaRPr/>
          </a:p>
        </p:txBody>
      </p:sp>
      <p:sp>
        <p:nvSpPr>
          <p:cNvPr id="1141" name="Google Shape;1141;p82"/>
          <p:cNvSpPr txBox="1"/>
          <p:nvPr>
            <p:ph idx="4294967295" type="subTitle"/>
          </p:nvPr>
        </p:nvSpPr>
        <p:spPr>
          <a:xfrm>
            <a:off x="397900" y="805913"/>
            <a:ext cx="8220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100"/>
              <a:t>A mixed number is an improper fraction written as its integer part plus the fractional part, where the fractional part is a proper fraction. </a:t>
            </a:r>
            <a:endParaRPr b="0" sz="2100"/>
          </a:p>
        </p:txBody>
      </p:sp>
      <p:sp>
        <p:nvSpPr>
          <p:cNvPr id="1142" name="Google Shape;1142;p82"/>
          <p:cNvSpPr txBox="1"/>
          <p:nvPr>
            <p:ph idx="4294967295" type="subTitle"/>
          </p:nvPr>
        </p:nvSpPr>
        <p:spPr>
          <a:xfrm>
            <a:off x="3583351" y="2024125"/>
            <a:ext cx="1366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100"/>
              <a:t>Example</a:t>
            </a:r>
            <a:endParaRPr b="0" sz="2100"/>
          </a:p>
        </p:txBody>
      </p:sp>
      <p:pic>
        <p:nvPicPr>
          <p:cNvPr descr="&lt;math xmlns=&quot;http://www.w3.org/1998/Math/MathML&quot; display=&quot;block&quot; data-is-equatio=&quot;1&quot; data-latex=&quot;3\dfrac{1}{2}&quot;&gt;&lt;mn&gt;3&lt;/mn&gt;&lt;mstyle displaystyle=&quot;true&quot; scriptlevel=&quot;0&quot;&gt;&lt;mfrac&gt;&lt;mn&gt;1&lt;/mn&gt;&lt;mn&gt;2&lt;/mn&gt;&lt;/mfrac&gt;&lt;/mstyle&gt;&lt;/math&gt;" id="1143" name="Google Shape;1143;p82" title="3 and 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9850" y="1783516"/>
            <a:ext cx="439700" cy="752970"/>
          </a:xfrm>
          <a:prstGeom prst="rect">
            <a:avLst/>
          </a:prstGeom>
          <a:noFill/>
          <a:ln>
            <a:noFill/>
          </a:ln>
        </p:spPr>
      </p:pic>
      <p:sp>
        <p:nvSpPr>
          <p:cNvPr id="1144" name="Google Shape;1144;p82"/>
          <p:cNvSpPr txBox="1"/>
          <p:nvPr>
            <p:ph idx="4294967295" type="subTitle"/>
          </p:nvPr>
        </p:nvSpPr>
        <p:spPr>
          <a:xfrm>
            <a:off x="397900" y="2787113"/>
            <a:ext cx="8220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It is sometimes important to convert mixed numbers into improper fractions and vice versa.</a:t>
            </a:r>
            <a:endParaRPr b="0" sz="2100"/>
          </a:p>
        </p:txBody>
      </p:sp>
      <p:sp>
        <p:nvSpPr>
          <p:cNvPr id="1145" name="Google Shape;1145;p82"/>
          <p:cNvSpPr txBox="1"/>
          <p:nvPr>
            <p:ph idx="4294967295" type="subTitle"/>
          </p:nvPr>
        </p:nvSpPr>
        <p:spPr>
          <a:xfrm>
            <a:off x="397900" y="3856188"/>
            <a:ext cx="8220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So let’s look at how we can effectively convert a mixed number into an improper fraction.</a:t>
            </a:r>
            <a:endParaRPr b="0"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83"/>
          <p:cNvSpPr txBox="1"/>
          <p:nvPr>
            <p:ph idx="1" type="body"/>
          </p:nvPr>
        </p:nvSpPr>
        <p:spPr>
          <a:xfrm>
            <a:off x="324000" y="759300"/>
            <a:ext cx="7135200" cy="9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 is </a:t>
            </a:r>
            <a:r>
              <a:rPr lang="en-GB"/>
              <a:t>important</a:t>
            </a:r>
            <a:r>
              <a:rPr lang="en-GB"/>
              <a:t> to understand what the mixed number means.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numbers to improper fractions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5\frac{6}{7}&quot;&gt;&lt;mn&gt;5&lt;/mn&gt;&lt;mfrac&gt;&lt;mn&gt;6&lt;/mn&gt;&lt;mn&gt;7&lt;/mn&gt;&lt;/mfrac&gt;&lt;/math&gt;" id="1152" name="Google Shape;1152;p83" title="5 and six sev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6950" y="2592350"/>
            <a:ext cx="621411" cy="10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3" name="Google Shape;1153;p83"/>
          <p:cNvSpPr txBox="1"/>
          <p:nvPr/>
        </p:nvSpPr>
        <p:spPr>
          <a:xfrm>
            <a:off x="1404750" y="2591700"/>
            <a:ext cx="17526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have 5 whole ones</a:t>
            </a:r>
            <a:endParaRPr sz="1900"/>
          </a:p>
        </p:txBody>
      </p:sp>
      <p:sp>
        <p:nvSpPr>
          <p:cNvPr id="1154" name="Google Shape;1154;p83"/>
          <p:cNvSpPr txBox="1"/>
          <p:nvPr/>
        </p:nvSpPr>
        <p:spPr>
          <a:xfrm>
            <a:off x="5774400" y="2347550"/>
            <a:ext cx="2576400" cy="1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improper fraction with a denominator of 7</a:t>
            </a:r>
            <a:endParaRPr/>
          </a:p>
        </p:txBody>
      </p:sp>
      <p:cxnSp>
        <p:nvCxnSpPr>
          <p:cNvPr id="1155" name="Google Shape;1155;p83"/>
          <p:cNvCxnSpPr/>
          <p:nvPr/>
        </p:nvCxnSpPr>
        <p:spPr>
          <a:xfrm>
            <a:off x="3092716" y="3032300"/>
            <a:ext cx="939600" cy="894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6" name="Google Shape;1156;p83"/>
          <p:cNvCxnSpPr/>
          <p:nvPr/>
        </p:nvCxnSpPr>
        <p:spPr>
          <a:xfrm flipH="1" rot="10800000">
            <a:off x="4793475" y="2879900"/>
            <a:ext cx="865800" cy="2376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57" name="Google Shape;1157;p83"/>
          <p:cNvSpPr txBox="1"/>
          <p:nvPr/>
        </p:nvSpPr>
        <p:spPr>
          <a:xfrm>
            <a:off x="1385250" y="1815600"/>
            <a:ext cx="1825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84"/>
          <p:cNvSpPr txBox="1"/>
          <p:nvPr>
            <p:ph idx="1" type="body"/>
          </p:nvPr>
        </p:nvSpPr>
        <p:spPr>
          <a:xfrm>
            <a:off x="324000" y="759300"/>
            <a:ext cx="7179300" cy="9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 is important to understand what the mixed number means.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numbers to improper fractions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5\frac{6}{7}&quot;&gt;&lt;mn&gt;5&lt;/mn&gt;&lt;mfrac&gt;&lt;mn&gt;6&lt;/mn&gt;&lt;mn&gt;7&lt;/mn&gt;&lt;/mfrac&gt;&lt;/math&gt;" id="1164" name="Google Shape;1164;p84" title="5 and six sev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6950" y="2592350"/>
            <a:ext cx="621411" cy="1058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65" name="Google Shape;1165;p84"/>
          <p:cNvCxnSpPr/>
          <p:nvPr/>
        </p:nvCxnSpPr>
        <p:spPr>
          <a:xfrm>
            <a:off x="3092716" y="3032300"/>
            <a:ext cx="939600" cy="894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6" name="Google Shape;1166;p84"/>
          <p:cNvCxnSpPr/>
          <p:nvPr/>
        </p:nvCxnSpPr>
        <p:spPr>
          <a:xfrm flipH="1" rot="10800000">
            <a:off x="4793475" y="2879900"/>
            <a:ext cx="865800" cy="2376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67" name="Google Shape;1167;p84"/>
          <p:cNvSpPr txBox="1"/>
          <p:nvPr/>
        </p:nvSpPr>
        <p:spPr>
          <a:xfrm>
            <a:off x="582900" y="2445900"/>
            <a:ext cx="2405700" cy="18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can we write 5 whole ones as an improper fraction using a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denominator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7?</a:t>
            </a:r>
            <a:endParaRPr sz="1100"/>
          </a:p>
        </p:txBody>
      </p:sp>
      <p:sp>
        <p:nvSpPr>
          <p:cNvPr id="1168" name="Google Shape;1168;p84"/>
          <p:cNvSpPr txBox="1"/>
          <p:nvPr/>
        </p:nvSpPr>
        <p:spPr>
          <a:xfrm>
            <a:off x="5774400" y="2347550"/>
            <a:ext cx="2576400" cy="1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improper fraction with a denominator of 7</a:t>
            </a:r>
            <a:endParaRPr/>
          </a:p>
        </p:txBody>
      </p:sp>
      <p:sp>
        <p:nvSpPr>
          <p:cNvPr id="1169" name="Google Shape;1169;p84"/>
          <p:cNvSpPr txBox="1"/>
          <p:nvPr/>
        </p:nvSpPr>
        <p:spPr>
          <a:xfrm>
            <a:off x="1385250" y="1815600"/>
            <a:ext cx="1825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quals 41 over 7&#10;&#10;&lt;math xmlns=&quot;http://www.w3.org/1998/Math/MathML&quot; display=&quot;block&quot; data-is-equatio=&quot;1&quot; data-latex=&quot;=\frac{41}{7}&quot;&gt;&lt;mo&gt;=&lt;/mo&gt;&lt;mfrac&gt;&lt;mn&gt;41&lt;/mn&gt;&lt;mn&gt;7&lt;/mn&gt;&lt;/mfrac&gt;&lt;/math&gt;" id="1174" name="Google Shape;1174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8375" y="3832793"/>
            <a:ext cx="923925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85"/>
          <p:cNvSpPr txBox="1"/>
          <p:nvPr>
            <p:ph idx="1" type="body"/>
          </p:nvPr>
        </p:nvSpPr>
        <p:spPr>
          <a:xfrm>
            <a:off x="324000" y="759300"/>
            <a:ext cx="7135200" cy="9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 is important to understand what the mixed number means.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numbers to improper fractions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5\frac{6}{7}&quot;&gt;&lt;mn&gt;5&lt;/mn&gt;&lt;mfrac&gt;&lt;mn&gt;6&lt;/mn&gt;&lt;mn&gt;7&lt;/mn&gt;&lt;/mfrac&gt;&lt;/math&gt;" id="1177" name="Google Shape;1177;p85" title="5 and six sev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6950" y="2439950"/>
            <a:ext cx="621411" cy="105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5}{7}\ +\ \frac{6}{7}&quot;&gt;&lt;mfrac&gt;&lt;mn&gt;35&lt;/mn&gt;&lt;mn&gt;7&lt;/mn&gt;&lt;/mfrac&gt;&lt;mtext&gt;&lt;/mtext&gt;&lt;mo&gt;+&lt;/mo&gt;&lt;mtext&gt;&lt;/mtext&gt;&lt;mfrac&gt;&lt;mn&gt;6&lt;/mn&gt;&lt;mn&gt;7&lt;/mn&gt;&lt;/mfrac&gt;&lt;/math&gt;" id="1178" name="Google Shape;1178;p85" title="35 over 7 plus six sevenths"/>
          <p:cNvPicPr preferRelativeResize="0"/>
          <p:nvPr/>
        </p:nvPicPr>
        <p:blipFill rotWithShape="1">
          <a:blip r:embed="rId5">
            <a:alphaModFix/>
          </a:blip>
          <a:srcRect b="0" l="0" r="58878" t="0"/>
          <a:stretch/>
        </p:blipFill>
        <p:spPr>
          <a:xfrm>
            <a:off x="3687293" y="3848850"/>
            <a:ext cx="621400" cy="865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9" name="Google Shape;1179;p85"/>
          <p:cNvCxnSpPr/>
          <p:nvPr/>
        </p:nvCxnSpPr>
        <p:spPr>
          <a:xfrm flipH="1">
            <a:off x="4007091" y="3257600"/>
            <a:ext cx="95100" cy="4137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0" name="Google Shape;1180;p85"/>
          <p:cNvCxnSpPr/>
          <p:nvPr/>
        </p:nvCxnSpPr>
        <p:spPr>
          <a:xfrm>
            <a:off x="4726200" y="3253100"/>
            <a:ext cx="195600" cy="4227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35}{7}\ +\ \frac{6}{7}&quot;&gt;&lt;mfrac&gt;&lt;mn&gt;35&lt;/mn&gt;&lt;mn&gt;7&lt;/mn&gt;&lt;/mfrac&gt;&lt;mtext&gt;&lt;/mtext&gt;&lt;mo&gt;+&lt;/mo&gt;&lt;mtext&gt;&lt;/mtext&gt;&lt;mfrac&gt;&lt;mn&gt;6&lt;/mn&gt;&lt;mn&gt;7&lt;/mn&gt;&lt;/mfrac&gt;&lt;/math&gt;" id="1181" name="Google Shape;1181;p85" title="35 over 7 plus six sevenths"/>
          <p:cNvPicPr preferRelativeResize="0"/>
          <p:nvPr/>
        </p:nvPicPr>
        <p:blipFill rotWithShape="1">
          <a:blip r:embed="rId5">
            <a:alphaModFix/>
          </a:blip>
          <a:srcRect b="0" l="76156" r="0" t="0"/>
          <a:stretch/>
        </p:blipFill>
        <p:spPr>
          <a:xfrm>
            <a:off x="4823992" y="3848850"/>
            <a:ext cx="360300" cy="865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5}{7}\ +\ \frac{6}{7}&quot;&gt;&lt;mfrac&gt;&lt;mn&gt;35&lt;/mn&gt;&lt;mn&gt;7&lt;/mn&gt;&lt;/mfrac&gt;&lt;mtext&gt;&lt;/mtext&gt;&lt;mo&gt;+&lt;/mo&gt;&lt;mtext&gt;&lt;/mtext&gt;&lt;mfrac&gt;&lt;mn&gt;6&lt;/mn&gt;&lt;mn&gt;7&lt;/mn&gt;&lt;/mfrac&gt;&lt;/math&gt;" id="1182" name="Google Shape;1182;p85" title="35 over 7 plus six sevenths"/>
          <p:cNvPicPr preferRelativeResize="0"/>
          <p:nvPr/>
        </p:nvPicPr>
        <p:blipFill rotWithShape="1">
          <a:blip r:embed="rId5">
            <a:alphaModFix/>
          </a:blip>
          <a:srcRect b="0" l="41408" r="31204" t="0"/>
          <a:stretch/>
        </p:blipFill>
        <p:spPr>
          <a:xfrm>
            <a:off x="4319998" y="3848850"/>
            <a:ext cx="413850" cy="86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3" name="Google Shape;1183;p85"/>
          <p:cNvSpPr txBox="1"/>
          <p:nvPr/>
        </p:nvSpPr>
        <p:spPr>
          <a:xfrm>
            <a:off x="1385250" y="1663200"/>
            <a:ext cx="1825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5\ =\ 5\times\frac{7}{7}=\frac{35}{7}&quot;&gt;&lt;mn&gt;5&lt;/mn&gt;&lt;mtext&gt;&lt;/mtext&gt;&lt;mo&gt;=&lt;/mo&gt;&lt;mtext&gt;&lt;/mtext&gt;&lt;mn&gt;5&lt;/mn&gt;&lt;mo&gt;×&lt;/mo&gt;&lt;mfrac&gt;&lt;mn&gt;7&lt;/mn&gt;&lt;mn&gt;7&lt;/mn&gt;&lt;/mfrac&gt;&lt;mo&gt;=&lt;/mo&gt;&lt;mfrac&gt;&lt;mn&gt;35&lt;/mn&gt;&lt;mn&gt;7&lt;/mn&gt;&lt;/mfrac&gt;&lt;/math&gt;" id="1184" name="Google Shape;1184;p85" title="5 equals 5 times seven sevenths equals 35 over 7"/>
          <p:cNvPicPr preferRelativeResize="0"/>
          <p:nvPr/>
        </p:nvPicPr>
        <p:blipFill rotWithShape="1">
          <a:blip r:embed="rId6">
            <a:alphaModFix/>
          </a:blip>
          <a:srcRect b="0" l="24977" r="-1289" t="0"/>
          <a:stretch/>
        </p:blipFill>
        <p:spPr>
          <a:xfrm>
            <a:off x="566572" y="2414250"/>
            <a:ext cx="2435575" cy="924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5" name="Google Shape;1185;p85"/>
          <p:cNvCxnSpPr/>
          <p:nvPr/>
        </p:nvCxnSpPr>
        <p:spPr>
          <a:xfrm>
            <a:off x="3092716" y="2879900"/>
            <a:ext cx="939600" cy="894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quals 41 over 7&#10;&#10;&lt;math xmlns=&quot;http://www.w3.org/1998/Math/MathML&quot; display=&quot;block&quot; data-is-equatio=&quot;1&quot; data-latex=&quot;=\frac{41}{7}&quot;&gt;&lt;mo&gt;=&lt;/mo&gt;&lt;mfrac&gt;&lt;mn&gt;41&lt;/mn&gt;&lt;mn&gt;7&lt;/mn&gt;&lt;/mfrac&gt;&lt;/math&gt;" id="1190" name="Google Shape;1190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0059" y="2255218"/>
            <a:ext cx="923925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86"/>
          <p:cNvSpPr txBox="1"/>
          <p:nvPr>
            <p:ph idx="1" type="body"/>
          </p:nvPr>
        </p:nvSpPr>
        <p:spPr>
          <a:xfrm>
            <a:off x="324000" y="759300"/>
            <a:ext cx="7135200" cy="9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 is important to understand what the mixed number means.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numbers to improper fractions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5\frac{6}{7}&quot;&gt;&lt;mn&gt;5&lt;/mn&gt;&lt;mfrac&gt;&lt;mn&gt;6&lt;/mn&gt;&lt;mn&gt;7&lt;/mn&gt;&lt;/mfrac&gt;&lt;/math&gt;" id="1193" name="Google Shape;1193;p86" title="5 and six sev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6950" y="2135150"/>
            <a:ext cx="621411" cy="10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4" name="Google Shape;1194;p86"/>
          <p:cNvSpPr txBox="1"/>
          <p:nvPr/>
        </p:nvSpPr>
        <p:spPr>
          <a:xfrm>
            <a:off x="607625" y="1878775"/>
            <a:ext cx="31653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 we have now converted our mixed number into an improper fraction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87"/>
          <p:cNvSpPr txBox="1"/>
          <p:nvPr>
            <p:ph idx="1" type="body"/>
          </p:nvPr>
        </p:nvSpPr>
        <p:spPr>
          <a:xfrm>
            <a:off x="324000" y="759300"/>
            <a:ext cx="8237700" cy="8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Fill in the blanks to show the working out and the conversion from a mixed number to an improper fraction.</a:t>
            </a:r>
            <a:endParaRPr/>
          </a:p>
        </p:txBody>
      </p:sp>
      <p:sp>
        <p:nvSpPr>
          <p:cNvPr id="1200" name="Google Shape;1200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numbers to improper fractions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8\frac{1}{2}=8\times\frac{2}{2}+\frac{1}{2}=\frac{16}{2}+\frac{1}{2}=\frac{17}{2}\\&amp;#13;&amp;#10;4\frac{2}{3}=4\times\frac{3}{3}+\frac{2}{3}=\frac{12}{3}+\frac{2}{3}=\frac{14}{3}\\&amp;#13;&amp;#10;11\frac{3}{5}=11\times\frac{5}{5}+\frac{3}{5}=\frac{55}{5}+\frac{3}{5}=\frac{58}{5}\end{array}&quot;&gt;&lt;mtable columnalign=&quot;left&quot; columnspacing=&quot;1em&quot; rowspacing=&quot;4pt&quot;&gt;&lt;mtr&gt;&lt;mtd&gt;&lt;mn&gt;8&lt;/mn&gt;&lt;mfrac&gt;&lt;mn&gt;1&lt;/mn&gt;&lt;mn&gt;2&lt;/mn&gt;&lt;/mfrac&gt;&lt;mo&gt;=&lt;/mo&gt;&lt;mn&gt;8&lt;/mn&gt;&lt;mo&gt;×&lt;/mo&gt;&lt;mfrac&gt;&lt;mn&gt;2&lt;/mn&gt;&lt;mn&gt;2&lt;/mn&gt;&lt;/mfrac&gt;&lt;mo&gt;+&lt;/mo&gt;&lt;mfrac&gt;&lt;mn&gt;1&lt;/mn&gt;&lt;mn&gt;2&lt;/mn&gt;&lt;/mfrac&gt;&lt;mo&gt;=&lt;/mo&gt;&lt;mfrac&gt;&lt;mn&gt;16&lt;/mn&gt;&lt;mn&gt;2&lt;/mn&gt;&lt;/mfrac&gt;&lt;mo&gt;+&lt;/mo&gt;&lt;mfrac&gt;&lt;mn&gt;1&lt;/mn&gt;&lt;mn&gt;2&lt;/mn&gt;&lt;/mfrac&gt;&lt;mo&gt;=&lt;/mo&gt;&lt;mfrac&gt;&lt;mn&gt;17&lt;/mn&gt;&lt;mn&gt;2&lt;/mn&gt;&lt;/mfrac&gt;&lt;/mtd&gt;&lt;/mtr&gt;&lt;mtr&gt;&lt;mtd&gt;&lt;mn&gt;4&lt;/mn&gt;&lt;mfrac&gt;&lt;mn&gt;2&lt;/mn&gt;&lt;mn&gt;3&lt;/mn&gt;&lt;/mfrac&gt;&lt;mo&gt;=&lt;/mo&gt;&lt;mn&gt;4&lt;/mn&gt;&lt;mo&gt;×&lt;/mo&gt;&lt;mfrac&gt;&lt;mn&gt;3&lt;/mn&gt;&lt;mn&gt;3&lt;/mn&gt;&lt;/mfrac&gt;&lt;mo&gt;+&lt;/mo&gt;&lt;mfrac&gt;&lt;mn&gt;2&lt;/mn&gt;&lt;mn&gt;3&lt;/mn&gt;&lt;/mfrac&gt;&lt;mo&gt;=&lt;/mo&gt;&lt;mfrac&gt;&lt;mn&gt;12&lt;/mn&gt;&lt;mn&gt;3&lt;/mn&gt;&lt;/mfrac&gt;&lt;mo&gt;+&lt;/mo&gt;&lt;mfrac&gt;&lt;mn&gt;2&lt;/mn&gt;&lt;mn&gt;3&lt;/mn&gt;&lt;/mfrac&gt;&lt;mo&gt;=&lt;/mo&gt;&lt;mfrac&gt;&lt;mn&gt;14&lt;/mn&gt;&lt;mn&gt;3&lt;/mn&gt;&lt;/mfrac&gt;&lt;/mtd&gt;&lt;/mtr&gt;&lt;mtr&gt;&lt;mtd&gt;&lt;mn&gt;11&lt;/mn&gt;&lt;mfrac&gt;&lt;mn&gt;3&lt;/mn&gt;&lt;mn&gt;5&lt;/mn&gt;&lt;/mfrac&gt;&lt;mo&gt;=&lt;/mo&gt;&lt;mn&gt;11&lt;/mn&gt;&lt;mo&gt;×&lt;/mo&gt;&lt;mfrac&gt;&lt;mn&gt;5&lt;/mn&gt;&lt;mn&gt;5&lt;/mn&gt;&lt;/mfrac&gt;&lt;mo&gt;+&lt;/mo&gt;&lt;mfrac&gt;&lt;mn&gt;3&lt;/mn&gt;&lt;mn&gt;5&lt;/mn&gt;&lt;/mfrac&gt;&lt;mo&gt;=&lt;/mo&gt;&lt;mfrac&gt;&lt;mn&gt;55&lt;/mn&gt;&lt;mn&gt;5&lt;/mn&gt;&lt;/mfrac&gt;&lt;mo&gt;+&lt;/mo&gt;&lt;mfrac&gt;&lt;mn&gt;3&lt;/mn&gt;&lt;mn&gt;5&lt;/mn&gt;&lt;/mfrac&gt;&lt;mo&gt;=&lt;/mo&gt;&lt;mfrac&gt;&lt;mn&gt;58&lt;/mn&gt;&lt;mn&gt;5&lt;/mn&gt;&lt;/mfrac&gt;&lt;/mtd&gt;&lt;/mtr&gt;&lt;/mtable&gt;&lt;/math&gt;" id="1201" name="Google Shape;1201;p87" title="3 lines Line 1: 8 and one half equals 8 times two halves plus one half equals sixteen halves plus one half equals seventeen halves Line 2: 4 and two thirds equals 4 times three thirds plus two thirds equals twelve thirds plus two thirds equals fourteen thirds Line 3: 11 and three fifths equals 11 times five fifths plus three fifths equals 55 over 5 plus three fifths equals 58 over 5"/>
          <p:cNvPicPr preferRelativeResize="0"/>
          <p:nvPr/>
        </p:nvPicPr>
        <p:blipFill rotWithShape="1">
          <a:blip r:embed="rId3">
            <a:alphaModFix/>
          </a:blip>
          <a:srcRect b="67332" l="0" r="0" t="0"/>
          <a:stretch/>
        </p:blipFill>
        <p:spPr>
          <a:xfrm>
            <a:off x="789000" y="1705800"/>
            <a:ext cx="5854901" cy="67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8\frac{1}{2}=8\times\frac{2}{2}+\frac{1}{2}=\frac{16}{2}+\frac{1}{2}=\frac{17}{2}\\&amp;#13;&amp;#10;4\frac{2}{3}=4\times\frac{3}{3}+\frac{2}{3}=\frac{12}{3}+\frac{2}{3}=\frac{14}{3}\\&amp;#13;&amp;#10;11\frac{3}{5}=11\times\frac{5}{5}+\frac{3}{5}=\frac{55}{5}+\frac{3}{5}=\frac{58}{5}\end{array}&quot;&gt;&lt;mtable columnalign=&quot;left&quot; columnspacing=&quot;1em&quot; rowspacing=&quot;4pt&quot;&gt;&lt;mtr&gt;&lt;mtd&gt;&lt;mn&gt;8&lt;/mn&gt;&lt;mfrac&gt;&lt;mn&gt;1&lt;/mn&gt;&lt;mn&gt;2&lt;/mn&gt;&lt;/mfrac&gt;&lt;mo&gt;=&lt;/mo&gt;&lt;mn&gt;8&lt;/mn&gt;&lt;mo&gt;×&lt;/mo&gt;&lt;mfrac&gt;&lt;mn&gt;2&lt;/mn&gt;&lt;mn&gt;2&lt;/mn&gt;&lt;/mfrac&gt;&lt;mo&gt;+&lt;/mo&gt;&lt;mfrac&gt;&lt;mn&gt;1&lt;/mn&gt;&lt;mn&gt;2&lt;/mn&gt;&lt;/mfrac&gt;&lt;mo&gt;=&lt;/mo&gt;&lt;mfrac&gt;&lt;mn&gt;16&lt;/mn&gt;&lt;mn&gt;2&lt;/mn&gt;&lt;/mfrac&gt;&lt;mo&gt;+&lt;/mo&gt;&lt;mfrac&gt;&lt;mn&gt;1&lt;/mn&gt;&lt;mn&gt;2&lt;/mn&gt;&lt;/mfrac&gt;&lt;mo&gt;=&lt;/mo&gt;&lt;mfrac&gt;&lt;mn&gt;17&lt;/mn&gt;&lt;mn&gt;2&lt;/mn&gt;&lt;/mfrac&gt;&lt;/mtd&gt;&lt;/mtr&gt;&lt;mtr&gt;&lt;mtd&gt;&lt;mn&gt;4&lt;/mn&gt;&lt;mfrac&gt;&lt;mn&gt;2&lt;/mn&gt;&lt;mn&gt;3&lt;/mn&gt;&lt;/mfrac&gt;&lt;mo&gt;=&lt;/mo&gt;&lt;mn&gt;4&lt;/mn&gt;&lt;mo&gt;×&lt;/mo&gt;&lt;mfrac&gt;&lt;mn&gt;3&lt;/mn&gt;&lt;mn&gt;3&lt;/mn&gt;&lt;/mfrac&gt;&lt;mo&gt;+&lt;/mo&gt;&lt;mfrac&gt;&lt;mn&gt;2&lt;/mn&gt;&lt;mn&gt;3&lt;/mn&gt;&lt;/mfrac&gt;&lt;mo&gt;=&lt;/mo&gt;&lt;mfrac&gt;&lt;mn&gt;12&lt;/mn&gt;&lt;mn&gt;3&lt;/mn&gt;&lt;/mfrac&gt;&lt;mo&gt;+&lt;/mo&gt;&lt;mfrac&gt;&lt;mn&gt;2&lt;/mn&gt;&lt;mn&gt;3&lt;/mn&gt;&lt;/mfrac&gt;&lt;mo&gt;=&lt;/mo&gt;&lt;mfrac&gt;&lt;mn&gt;14&lt;/mn&gt;&lt;mn&gt;3&lt;/mn&gt;&lt;/mfrac&gt;&lt;/mtd&gt;&lt;/mtr&gt;&lt;mtr&gt;&lt;mtd&gt;&lt;mn&gt;11&lt;/mn&gt;&lt;mfrac&gt;&lt;mn&gt;3&lt;/mn&gt;&lt;mn&gt;5&lt;/mn&gt;&lt;/mfrac&gt;&lt;mo&gt;=&lt;/mo&gt;&lt;mn&gt;11&lt;/mn&gt;&lt;mo&gt;×&lt;/mo&gt;&lt;mfrac&gt;&lt;mn&gt;5&lt;/mn&gt;&lt;mn&gt;5&lt;/mn&gt;&lt;/mfrac&gt;&lt;mo&gt;+&lt;/mo&gt;&lt;mfrac&gt;&lt;mn&gt;3&lt;/mn&gt;&lt;mn&gt;5&lt;/mn&gt;&lt;/mfrac&gt;&lt;mo&gt;=&lt;/mo&gt;&lt;mfrac&gt;&lt;mn&gt;55&lt;/mn&gt;&lt;mn&gt;5&lt;/mn&gt;&lt;/mfrac&gt;&lt;mo&gt;+&lt;/mo&gt;&lt;mfrac&gt;&lt;mn&gt;3&lt;/mn&gt;&lt;mn&gt;5&lt;/mn&gt;&lt;/mfrac&gt;&lt;mo&gt;=&lt;/mo&gt;&lt;mfrac&gt;&lt;mn&gt;58&lt;/mn&gt;&lt;mn&gt;5&lt;/mn&gt;&lt;/mfrac&gt;&lt;/mtd&gt;&lt;/mtr&gt;&lt;/mtable&gt;&lt;/math&gt;" id="1202" name="Google Shape;1202;p87" title="3 lines Line 1: 8 and one half equals 8 times two halves plus one half equals sixteen halves plus one half equals seventeen halves Line 2: 4 and two thirds equals 4 times three thirds plus two thirds equals twelve thirds plus two thirds equals fourteen thirds Line 3: 11 and three fifths equals 11 times five fifths plus three fifths equals 55 over 5 plus three fifths equals 58 over 5"/>
          <p:cNvPicPr preferRelativeResize="0"/>
          <p:nvPr/>
        </p:nvPicPr>
        <p:blipFill rotWithShape="1">
          <a:blip r:embed="rId3">
            <a:alphaModFix/>
          </a:blip>
          <a:srcRect b="33667" l="-700" r="699" t="33664"/>
          <a:stretch/>
        </p:blipFill>
        <p:spPr>
          <a:xfrm>
            <a:off x="712800" y="2736800"/>
            <a:ext cx="5854901" cy="67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8\frac{1}{2}=8\times\frac{2}{2}+\frac{1}{2}=\frac{16}{2}+\frac{1}{2}=\frac{17}{2}\\&amp;#13;&amp;#10;4\frac{2}{3}=4\times\frac{3}{3}+\frac{2}{3}=\frac{12}{3}+\frac{2}{3}=\frac{14}{3}\\&amp;#13;&amp;#10;11\frac{3}{5}=11\times\frac{5}{5}+\frac{3}{5}=\frac{55}{5}+\frac{3}{5}=\frac{58}{5}\end{array}&quot;&gt;&lt;mtable columnalign=&quot;left&quot; columnspacing=&quot;1em&quot; rowspacing=&quot;4pt&quot;&gt;&lt;mtr&gt;&lt;mtd&gt;&lt;mn&gt;8&lt;/mn&gt;&lt;mfrac&gt;&lt;mn&gt;1&lt;/mn&gt;&lt;mn&gt;2&lt;/mn&gt;&lt;/mfrac&gt;&lt;mo&gt;=&lt;/mo&gt;&lt;mn&gt;8&lt;/mn&gt;&lt;mo&gt;×&lt;/mo&gt;&lt;mfrac&gt;&lt;mn&gt;2&lt;/mn&gt;&lt;mn&gt;2&lt;/mn&gt;&lt;/mfrac&gt;&lt;mo&gt;+&lt;/mo&gt;&lt;mfrac&gt;&lt;mn&gt;1&lt;/mn&gt;&lt;mn&gt;2&lt;/mn&gt;&lt;/mfrac&gt;&lt;mo&gt;=&lt;/mo&gt;&lt;mfrac&gt;&lt;mn&gt;16&lt;/mn&gt;&lt;mn&gt;2&lt;/mn&gt;&lt;/mfrac&gt;&lt;mo&gt;+&lt;/mo&gt;&lt;mfrac&gt;&lt;mn&gt;1&lt;/mn&gt;&lt;mn&gt;2&lt;/mn&gt;&lt;/mfrac&gt;&lt;mo&gt;=&lt;/mo&gt;&lt;mfrac&gt;&lt;mn&gt;17&lt;/mn&gt;&lt;mn&gt;2&lt;/mn&gt;&lt;/mfrac&gt;&lt;/mtd&gt;&lt;/mtr&gt;&lt;mtr&gt;&lt;mtd&gt;&lt;mn&gt;4&lt;/mn&gt;&lt;mfrac&gt;&lt;mn&gt;2&lt;/mn&gt;&lt;mn&gt;3&lt;/mn&gt;&lt;/mfrac&gt;&lt;mo&gt;=&lt;/mo&gt;&lt;mn&gt;4&lt;/mn&gt;&lt;mo&gt;×&lt;/mo&gt;&lt;mfrac&gt;&lt;mn&gt;3&lt;/mn&gt;&lt;mn&gt;3&lt;/mn&gt;&lt;/mfrac&gt;&lt;mo&gt;+&lt;/mo&gt;&lt;mfrac&gt;&lt;mn&gt;2&lt;/mn&gt;&lt;mn&gt;3&lt;/mn&gt;&lt;/mfrac&gt;&lt;mo&gt;=&lt;/mo&gt;&lt;mfrac&gt;&lt;mn&gt;12&lt;/mn&gt;&lt;mn&gt;3&lt;/mn&gt;&lt;/mfrac&gt;&lt;mo&gt;+&lt;/mo&gt;&lt;mfrac&gt;&lt;mn&gt;2&lt;/mn&gt;&lt;mn&gt;3&lt;/mn&gt;&lt;/mfrac&gt;&lt;mo&gt;=&lt;/mo&gt;&lt;mfrac&gt;&lt;mn&gt;14&lt;/mn&gt;&lt;mn&gt;3&lt;/mn&gt;&lt;/mfrac&gt;&lt;/mtd&gt;&lt;/mtr&gt;&lt;mtr&gt;&lt;mtd&gt;&lt;mn&gt;11&lt;/mn&gt;&lt;mfrac&gt;&lt;mn&gt;3&lt;/mn&gt;&lt;mn&gt;5&lt;/mn&gt;&lt;/mfrac&gt;&lt;mo&gt;=&lt;/mo&gt;&lt;mn&gt;11&lt;/mn&gt;&lt;mo&gt;×&lt;/mo&gt;&lt;mfrac&gt;&lt;mn&gt;5&lt;/mn&gt;&lt;mn&gt;5&lt;/mn&gt;&lt;/mfrac&gt;&lt;mo&gt;+&lt;/mo&gt;&lt;mfrac&gt;&lt;mn&gt;3&lt;/mn&gt;&lt;mn&gt;5&lt;/mn&gt;&lt;/mfrac&gt;&lt;mo&gt;=&lt;/mo&gt;&lt;mfrac&gt;&lt;mn&gt;55&lt;/mn&gt;&lt;mn&gt;5&lt;/mn&gt;&lt;/mfrac&gt;&lt;mo&gt;+&lt;/mo&gt;&lt;mfrac&gt;&lt;mn&gt;3&lt;/mn&gt;&lt;mn&gt;5&lt;/mn&gt;&lt;/mfrac&gt;&lt;mo&gt;=&lt;/mo&gt;&lt;mfrac&gt;&lt;mn&gt;58&lt;/mn&gt;&lt;mn&gt;5&lt;/mn&gt;&lt;/mfrac&gt;&lt;/mtd&gt;&lt;/mtr&gt;&lt;/mtable&gt;&lt;/math&gt;" id="1203" name="Google Shape;1203;p87" title="3 lines Line 1: 8 and one half equals 8 times two halves plus one half equals sixteen halves plus one half equals seventeen halves Line 2: 4 and two thirds equals 4 times three thirds plus two thirds equals twelve thirds plus two thirds equals fourteen thirds Line 3: 11 and three fifths equals 11 times five fifths plus three fifths equals 55 over 5 plus three fifths equals 58 over 5"/>
          <p:cNvPicPr preferRelativeResize="0"/>
          <p:nvPr/>
        </p:nvPicPr>
        <p:blipFill rotWithShape="1">
          <a:blip r:embed="rId3">
            <a:alphaModFix/>
          </a:blip>
          <a:srcRect b="-1809" l="-975" r="-589" t="69141"/>
          <a:stretch/>
        </p:blipFill>
        <p:spPr>
          <a:xfrm>
            <a:off x="663525" y="3927425"/>
            <a:ext cx="5946500" cy="67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4" name="Google Shape;1204;p87"/>
          <p:cNvSpPr txBox="1"/>
          <p:nvPr/>
        </p:nvSpPr>
        <p:spPr>
          <a:xfrm>
            <a:off x="238800" y="1705800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5" name="Google Shape;1205;p87"/>
          <p:cNvSpPr txBox="1"/>
          <p:nvPr/>
        </p:nvSpPr>
        <p:spPr>
          <a:xfrm>
            <a:off x="238800" y="2778950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6" name="Google Shape;1206;p87"/>
          <p:cNvSpPr txBox="1"/>
          <p:nvPr/>
        </p:nvSpPr>
        <p:spPr>
          <a:xfrm>
            <a:off x="238800" y="4004500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87"/>
          <p:cNvSpPr/>
          <p:nvPr/>
        </p:nvSpPr>
        <p:spPr>
          <a:xfrm>
            <a:off x="5846700" y="1665380"/>
            <a:ext cx="410100" cy="6756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8" name="Google Shape;1208;p87"/>
          <p:cNvSpPr/>
          <p:nvPr/>
        </p:nvSpPr>
        <p:spPr>
          <a:xfrm>
            <a:off x="3164550" y="2736730"/>
            <a:ext cx="410100" cy="6756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9" name="Google Shape;1209;p87"/>
          <p:cNvSpPr/>
          <p:nvPr/>
        </p:nvSpPr>
        <p:spPr>
          <a:xfrm>
            <a:off x="4061550" y="2736730"/>
            <a:ext cx="410100" cy="6756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0" name="Google Shape;1210;p87"/>
          <p:cNvSpPr/>
          <p:nvPr/>
        </p:nvSpPr>
        <p:spPr>
          <a:xfrm>
            <a:off x="4872350" y="2736730"/>
            <a:ext cx="410100" cy="6756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87"/>
          <p:cNvSpPr/>
          <p:nvPr/>
        </p:nvSpPr>
        <p:spPr>
          <a:xfrm>
            <a:off x="5846700" y="2736730"/>
            <a:ext cx="410100" cy="6756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2" name="Google Shape;1212;p87"/>
          <p:cNvSpPr/>
          <p:nvPr/>
        </p:nvSpPr>
        <p:spPr>
          <a:xfrm>
            <a:off x="2754450" y="3927355"/>
            <a:ext cx="410100" cy="6756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87"/>
          <p:cNvSpPr/>
          <p:nvPr/>
        </p:nvSpPr>
        <p:spPr>
          <a:xfrm>
            <a:off x="3511400" y="3927355"/>
            <a:ext cx="410100" cy="6756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4" name="Google Shape;1214;p87"/>
          <p:cNvSpPr/>
          <p:nvPr/>
        </p:nvSpPr>
        <p:spPr>
          <a:xfrm>
            <a:off x="4471650" y="3927355"/>
            <a:ext cx="410100" cy="6756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5" name="Google Shape;1215;p87"/>
          <p:cNvSpPr/>
          <p:nvPr/>
        </p:nvSpPr>
        <p:spPr>
          <a:xfrm>
            <a:off x="5282450" y="3927355"/>
            <a:ext cx="410100" cy="6756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6" name="Google Shape;1216;p87"/>
          <p:cNvSpPr/>
          <p:nvPr/>
        </p:nvSpPr>
        <p:spPr>
          <a:xfrm>
            <a:off x="6188850" y="3898755"/>
            <a:ext cx="410100" cy="6756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begin{array}{l}10\frac{2}{3}\ =\ 10\ \times\frac{3}{3}+\ \frac{2}{3}=\frac{30}{3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3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1221" name="Google Shape;1221;p88" title="4 lines Line 1: 10 and two thirds equals 10 times three thirds plus two thirds equals 30 over 3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3">
            <a:alphaModFix/>
          </a:blip>
          <a:srcRect b="77479" l="58967" r="13864" t="0"/>
          <a:stretch/>
        </p:blipFill>
        <p:spPr>
          <a:xfrm>
            <a:off x="1274306" y="2997717"/>
            <a:ext cx="1304725" cy="48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88"/>
          <p:cNvSpPr txBox="1"/>
          <p:nvPr>
            <p:ph idx="1" type="subTitle"/>
          </p:nvPr>
        </p:nvSpPr>
        <p:spPr>
          <a:xfrm>
            <a:off x="337825" y="810000"/>
            <a:ext cx="3982200" cy="68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/>
              <a:t>Convert to an improper fraction, showing working out if you need.</a:t>
            </a:r>
            <a:endParaRPr sz="2200"/>
          </a:p>
        </p:txBody>
      </p:sp>
      <p:sp>
        <p:nvSpPr>
          <p:cNvPr id="1223" name="Google Shape;122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numbers to improper fractions</a:t>
            </a:r>
            <a:endParaRPr/>
          </a:p>
        </p:txBody>
      </p:sp>
      <p:sp>
        <p:nvSpPr>
          <p:cNvPr id="1224" name="Google Shape;1224;p88"/>
          <p:cNvSpPr txBox="1"/>
          <p:nvPr>
            <p:ph idx="1" type="subTitle"/>
          </p:nvPr>
        </p:nvSpPr>
        <p:spPr>
          <a:xfrm>
            <a:off x="4824000" y="846275"/>
            <a:ext cx="3982200" cy="68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/>
              <a:t>Convert to an improper fraction, showing working out if you need.</a:t>
            </a:r>
            <a:endParaRPr sz="2200"/>
          </a:p>
        </p:txBody>
      </p:sp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1225" name="Google Shape;1225;p88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4">
            <a:alphaModFix/>
          </a:blip>
          <a:srcRect b="76114" l="0" r="85872" t="0"/>
          <a:stretch/>
        </p:blipFill>
        <p:spPr>
          <a:xfrm>
            <a:off x="566425" y="2512950"/>
            <a:ext cx="686025" cy="52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1226" name="Google Shape;1226;p88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4">
            <a:alphaModFix/>
          </a:blip>
          <a:srcRect b="78038" l="86434" r="-14927" t="-1925"/>
          <a:stretch/>
        </p:blipFill>
        <p:spPr>
          <a:xfrm>
            <a:off x="1252454" y="3530972"/>
            <a:ext cx="1383637" cy="5214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1227" name="Google Shape;1227;p88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4">
            <a:alphaModFix/>
          </a:blip>
          <a:srcRect b="25264" l="-2392" r="86929" t="50000"/>
          <a:stretch/>
        </p:blipFill>
        <p:spPr>
          <a:xfrm>
            <a:off x="5331400" y="2458200"/>
            <a:ext cx="750876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1228" name="Google Shape;1228;p88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4">
            <a:alphaModFix/>
          </a:blip>
          <a:srcRect b="26289" l="82462" r="-10955" t="49823"/>
          <a:stretch/>
        </p:blipFill>
        <p:spPr>
          <a:xfrm>
            <a:off x="6082279" y="3586947"/>
            <a:ext cx="1383637" cy="5214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1229" name="Google Shape;1229;p88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4">
            <a:alphaModFix/>
          </a:blip>
          <a:srcRect b="76113" l="13720" r="41603" t="0"/>
          <a:stretch/>
        </p:blipFill>
        <p:spPr>
          <a:xfrm>
            <a:off x="1236397" y="2495925"/>
            <a:ext cx="2169475" cy="52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1230" name="Google Shape;1230;p88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4">
            <a:alphaModFix/>
          </a:blip>
          <a:srcRect b="25264" l="13111" r="47397" t="50000"/>
          <a:stretch/>
        </p:blipFill>
        <p:spPr>
          <a:xfrm>
            <a:off x="6082272" y="2460650"/>
            <a:ext cx="1917699" cy="54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1" name="Google Shape;1231;p88"/>
          <p:cNvGrpSpPr/>
          <p:nvPr/>
        </p:nvGrpSpPr>
        <p:grpSpPr>
          <a:xfrm>
            <a:off x="6066326" y="3014575"/>
            <a:ext cx="1246574" cy="521475"/>
            <a:chOff x="6066326" y="3014575"/>
            <a:chExt cx="1246574" cy="521475"/>
          </a:xfrm>
        </p:grpSpPr>
        <p:pic>
          <p:nvPicPr>
  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1232" name="Google Shape;1232;p88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  <p:cNvPicPr preferRelativeResize="0"/>
            <p:nvPr/>
          </p:nvPicPr>
          <p:blipFill rotWithShape="1">
            <a:blip r:embed="rId4">
              <a:alphaModFix/>
            </a:blip>
            <a:srcRect b="24639" l="52213" r="30255" t="51473"/>
            <a:stretch/>
          </p:blipFill>
          <p:spPr>
            <a:xfrm>
              <a:off x="6066326" y="3014575"/>
              <a:ext cx="851300" cy="521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begin{array}{l}+\frac{3}{5}\end{array}&quot;&gt;&lt;mtable columnalign=&quot;left&quot; columnspacing=&quot;1em&quot; rowspacing=&quot;4pt&quot;&gt;&lt;mtr&gt;&lt;mtd&gt;&lt;mo&gt;+&lt;/mo&gt;&lt;mfrac&gt;&lt;mn&gt;3&lt;/mn&gt;&lt;mn&gt;5&lt;/mn&gt;&lt;/mfrac&gt;&lt;/mtd&gt;&lt;/mtr&gt;&lt;/mtable&gt;&lt;/math&gt;" id="1233" name="Google Shape;1233;p88" title="1 lines Line 1: positive three fifths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917625" y="3054076"/>
              <a:ext cx="395275" cy="44248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89"/>
          <p:cNvSpPr txBox="1"/>
          <p:nvPr>
            <p:ph idx="1" type="body"/>
          </p:nvPr>
        </p:nvSpPr>
        <p:spPr>
          <a:xfrm>
            <a:off x="324000" y="759300"/>
            <a:ext cx="82377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Fill in the blanks to show the working out and conversion from a mixed number to an improper fraction.</a:t>
            </a:r>
            <a:endParaRPr/>
          </a:p>
        </p:txBody>
      </p:sp>
      <p:sp>
        <p:nvSpPr>
          <p:cNvPr id="1239" name="Google Shape;1239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Mixed numbers to improper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1240" name="Google Shape;1240;p89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3">
            <a:alphaModFix/>
          </a:blip>
          <a:srcRect b="50573" l="13980" r="42627" t="25539"/>
          <a:stretch/>
        </p:blipFill>
        <p:spPr>
          <a:xfrm>
            <a:off x="1675550" y="1861288"/>
            <a:ext cx="2107026" cy="52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1241" name="Google Shape;1241;p89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3">
            <a:alphaModFix/>
          </a:blip>
          <a:srcRect b="52244" l="56252" r="14436" t="23868"/>
          <a:stretch/>
        </p:blipFill>
        <p:spPr>
          <a:xfrm>
            <a:off x="1675559" y="2429546"/>
            <a:ext cx="1423373" cy="5214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1242" name="Google Shape;1242;p89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3">
            <a:alphaModFix/>
          </a:blip>
          <a:srcRect b="51890" l="84086" r="-13398" t="24221"/>
          <a:stretch/>
        </p:blipFill>
        <p:spPr>
          <a:xfrm>
            <a:off x="1675559" y="2997816"/>
            <a:ext cx="1423373" cy="5214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1243" name="Google Shape;1243;p89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3">
            <a:alphaModFix/>
          </a:blip>
          <a:srcRect b="0" l="-936" r="90189" t="76113"/>
          <a:stretch/>
        </p:blipFill>
        <p:spPr>
          <a:xfrm>
            <a:off x="5774375" y="1882738"/>
            <a:ext cx="521875" cy="52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1244" name="Google Shape;1244;p89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3">
            <a:alphaModFix/>
          </a:blip>
          <a:srcRect b="-140" l="46644" r="24861" t="76252"/>
          <a:stretch/>
        </p:blipFill>
        <p:spPr>
          <a:xfrm>
            <a:off x="6440525" y="2450988"/>
            <a:ext cx="1383651" cy="52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1245" name="Google Shape;1245;p89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3">
            <a:alphaModFix/>
          </a:blip>
          <a:srcRect b="-1433" l="74403" r="-1971" t="77546"/>
          <a:stretch/>
        </p:blipFill>
        <p:spPr>
          <a:xfrm>
            <a:off x="6440313" y="3019262"/>
            <a:ext cx="1338650" cy="52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1246" name="Google Shape;1246;p89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3">
            <a:alphaModFix/>
          </a:blip>
          <a:srcRect b="50573" l="262" r="85609" t="25539"/>
          <a:stretch/>
        </p:blipFill>
        <p:spPr>
          <a:xfrm>
            <a:off x="1013225" y="1859263"/>
            <a:ext cx="686025" cy="52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1247" name="Google Shape;1247;p89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3">
            <a:alphaModFix/>
          </a:blip>
          <a:srcRect b="0" l="8784" r="52413" t="76113"/>
          <a:stretch/>
        </p:blipFill>
        <p:spPr>
          <a:xfrm>
            <a:off x="6246475" y="1880688"/>
            <a:ext cx="1884301" cy="52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89"/>
          <p:cNvSpPr txBox="1"/>
          <p:nvPr/>
        </p:nvSpPr>
        <p:spPr>
          <a:xfrm>
            <a:off x="415275" y="1786825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89"/>
          <p:cNvSpPr txBox="1"/>
          <p:nvPr/>
        </p:nvSpPr>
        <p:spPr>
          <a:xfrm>
            <a:off x="5224175" y="1859263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89"/>
          <p:cNvSpPr/>
          <p:nvPr/>
        </p:nvSpPr>
        <p:spPr>
          <a:xfrm>
            <a:off x="2887200" y="1859963"/>
            <a:ext cx="269700" cy="464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1" name="Google Shape;1251;p89"/>
          <p:cNvSpPr/>
          <p:nvPr/>
        </p:nvSpPr>
        <p:spPr>
          <a:xfrm>
            <a:off x="2093850" y="2458238"/>
            <a:ext cx="269700" cy="464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2" name="Google Shape;1252;p89"/>
          <p:cNvSpPr/>
          <p:nvPr/>
        </p:nvSpPr>
        <p:spPr>
          <a:xfrm>
            <a:off x="2093850" y="3022675"/>
            <a:ext cx="269700" cy="464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3" name="Google Shape;1253;p89"/>
          <p:cNvSpPr/>
          <p:nvPr/>
        </p:nvSpPr>
        <p:spPr>
          <a:xfrm>
            <a:off x="6576725" y="1934276"/>
            <a:ext cx="269700" cy="464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89"/>
          <p:cNvSpPr/>
          <p:nvPr/>
        </p:nvSpPr>
        <p:spPr>
          <a:xfrm>
            <a:off x="7189500" y="1934276"/>
            <a:ext cx="269700" cy="464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5" name="Google Shape;1255;p89"/>
          <p:cNvSpPr/>
          <p:nvPr/>
        </p:nvSpPr>
        <p:spPr>
          <a:xfrm>
            <a:off x="7802275" y="1934276"/>
            <a:ext cx="269700" cy="464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6" name="Google Shape;1256;p89"/>
          <p:cNvSpPr/>
          <p:nvPr/>
        </p:nvSpPr>
        <p:spPr>
          <a:xfrm>
            <a:off x="6820392" y="2493368"/>
            <a:ext cx="269700" cy="464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89"/>
          <p:cNvSpPr/>
          <p:nvPr/>
        </p:nvSpPr>
        <p:spPr>
          <a:xfrm>
            <a:off x="7459192" y="2493368"/>
            <a:ext cx="269700" cy="464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90"/>
          <p:cNvSpPr txBox="1"/>
          <p:nvPr>
            <p:ph idx="1" type="body"/>
          </p:nvPr>
        </p:nvSpPr>
        <p:spPr>
          <a:xfrm>
            <a:off x="324000" y="759300"/>
            <a:ext cx="7781100" cy="4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2"/>
            </a:pPr>
            <a:r>
              <a:rPr lang="en-GB"/>
              <a:t>Convert the following to improper fractions, showing working out if you need.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numbers to improper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/>
          </a:p>
        </p:txBody>
      </p:sp>
      <p:sp>
        <p:nvSpPr>
          <p:cNvPr id="1264" name="Google Shape;1264;p90"/>
          <p:cNvSpPr txBox="1"/>
          <p:nvPr/>
        </p:nvSpPr>
        <p:spPr>
          <a:xfrm>
            <a:off x="324000" y="1680850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90"/>
          <p:cNvSpPr txBox="1"/>
          <p:nvPr/>
        </p:nvSpPr>
        <p:spPr>
          <a:xfrm>
            <a:off x="324000" y="2449200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90"/>
          <p:cNvSpPr txBox="1"/>
          <p:nvPr/>
        </p:nvSpPr>
        <p:spPr>
          <a:xfrm>
            <a:off x="324000" y="3141350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7" name="Google Shape;1267;p90"/>
          <p:cNvSpPr txBox="1"/>
          <p:nvPr/>
        </p:nvSpPr>
        <p:spPr>
          <a:xfrm>
            <a:off x="324000" y="3909700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4\frac{1}{2}\ \ =\frac{9}{2}\\&amp;#13;&amp;#10;11\frac{3}{5}\ =\frac{58}{5}\\&amp;#13;&amp;#10;80\frac{1}{3}\ \ =\frac{241}{3}\\&amp;#13;&amp;#10;3\frac{9}{10}\ \ =\frac{39}{10}\end{array}&quot;&gt;&lt;mtable columnalign=&quot;left&quot; columnspacing=&quot;1em&quot; rowspacing=&quot;4pt&quot;&gt;&lt;mtr&gt;&lt;mtd&gt;&lt;mn&gt;4&lt;/mn&gt;&lt;mfrac&gt;&lt;mn&gt;1&lt;/mn&gt;&lt;mn&gt;2&lt;/mn&gt;&lt;/mfrac&gt;&lt;mtext&gt;&lt;/mtext&gt;&lt;mtext&gt;&lt;/mtext&gt;&lt;mo&gt;=&lt;/mo&gt;&lt;mfrac&gt;&lt;mn&gt;9&lt;/mn&gt;&lt;mn&gt;2&lt;/mn&gt;&lt;/mfrac&gt;&lt;/mtd&gt;&lt;/mtr&gt;&lt;mtr&gt;&lt;mtd&gt;&lt;mn&gt;11&lt;/mn&gt;&lt;mfrac&gt;&lt;mn&gt;3&lt;/mn&gt;&lt;mn&gt;5&lt;/mn&gt;&lt;/mfrac&gt;&lt;mtext&gt;&lt;/mtext&gt;&lt;mo&gt;=&lt;/mo&gt;&lt;mfrac&gt;&lt;mn&gt;58&lt;/mn&gt;&lt;mn&gt;5&lt;/mn&gt;&lt;/mfrac&gt;&lt;/mtd&gt;&lt;/mtr&gt;&lt;mtr&gt;&lt;mtd&gt;&lt;mn&gt;80&lt;/mn&gt;&lt;mfrac&gt;&lt;mn&gt;1&lt;/mn&gt;&lt;mn&gt;3&lt;/mn&gt;&lt;/mfrac&gt;&lt;mtext&gt;&lt;/mtext&gt;&lt;mtext&gt;&lt;/mtext&gt;&lt;mo&gt;=&lt;/mo&gt;&lt;mfrac&gt;&lt;mn&gt;241&lt;/mn&gt;&lt;mn&gt;3&lt;/mn&gt;&lt;/mfrac&gt;&lt;/mtd&gt;&lt;/mtr&gt;&lt;mtr&gt;&lt;mtd&gt;&lt;mn&gt;3&lt;/mn&gt;&lt;mfrac&gt;&lt;mn&gt;9&lt;/mn&gt;&lt;mn&gt;10&lt;/mn&gt;&lt;/mfrac&gt;&lt;mtext&gt;&lt;/mtext&gt;&lt;mtext&gt;&lt;/mtext&gt;&lt;mo&gt;=&lt;/mo&gt;&lt;mfrac&gt;&lt;mn&gt;39&lt;/mn&gt;&lt;mn&gt;10&lt;/mn&gt;&lt;/mfrac&gt;&lt;/mtd&gt;&lt;/mtr&gt;&lt;/mtable&gt;&lt;/math&gt;" id="1268" name="Google Shape;1268;p90" title="4 lines Line 1: 4 and one half equals nine halves Line 2: 11 and three fifths equals 58 over 5 Line 3: 80 and one third equals 241 over 3 Line 4: 3 and nine tenths equals 39 over 10"/>
          <p:cNvPicPr preferRelativeResize="0"/>
          <p:nvPr/>
        </p:nvPicPr>
        <p:blipFill rotWithShape="1">
          <a:blip r:embed="rId3">
            <a:alphaModFix/>
          </a:blip>
          <a:srcRect b="0" l="0" r="59070" t="0"/>
          <a:stretch/>
        </p:blipFill>
        <p:spPr>
          <a:xfrm>
            <a:off x="874200" y="1680850"/>
            <a:ext cx="810600" cy="278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91"/>
          <p:cNvSpPr/>
          <p:nvPr/>
        </p:nvSpPr>
        <p:spPr>
          <a:xfrm>
            <a:off x="7126225" y="1755675"/>
            <a:ext cx="1352400" cy="2251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4" name="Google Shape;1274;p91"/>
          <p:cNvSpPr/>
          <p:nvPr/>
        </p:nvSpPr>
        <p:spPr>
          <a:xfrm>
            <a:off x="3622500" y="1465500"/>
            <a:ext cx="3351600" cy="3244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5" name="Google Shape;1275;p91"/>
          <p:cNvSpPr/>
          <p:nvPr/>
        </p:nvSpPr>
        <p:spPr>
          <a:xfrm>
            <a:off x="270900" y="1465500"/>
            <a:ext cx="3351600" cy="3244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numbers to improper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10\frac{3}{5}\\&amp;#13;&amp;#10;24\frac{5}{7}\\&amp;#13;&amp;#10;3\frac{1}{2}\end{array}&quot;&gt;&lt;mtable columnalign=&quot;left&quot; columnspacing=&quot;1em&quot; rowspacing=&quot;4pt&quot;&gt;&lt;mtr&gt;&lt;mtd&gt;&lt;mn&gt;10&lt;/mn&gt;&lt;mfrac&gt;&lt;mn&gt;3&lt;/mn&gt;&lt;mn&gt;5&lt;/mn&gt;&lt;/mfrac&gt;&lt;/mtd&gt;&lt;/mtr&gt;&lt;mtr&gt;&lt;mtd&gt;&lt;mn&gt;24&lt;/mn&gt;&lt;mfrac&gt;&lt;mn&gt;5&lt;/mn&gt;&lt;mn&gt;7&lt;/mn&gt;&lt;/mfrac&gt;&lt;/mtd&gt;&lt;/mtr&gt;&lt;mtr&gt;&lt;mtd&gt;&lt;mn&gt;3&lt;/mn&gt;&lt;mfrac&gt;&lt;mn&gt;1&lt;/mn&gt;&lt;mn&gt;2&lt;/mn&gt;&lt;/mfrac&gt;&lt;/mtd&gt;&lt;/mtr&gt;&lt;/mtable&gt;&lt;/math&gt;" id="1277" name="Google Shape;1277;p91" title="3 lines Line 1: 10 and three fifths Line 2: 24 and five sevenths Line 3: 3 and one half"/>
          <p:cNvPicPr preferRelativeResize="0"/>
          <p:nvPr/>
        </p:nvPicPr>
        <p:blipFill rotWithShape="1">
          <a:blip r:embed="rId3">
            <a:alphaModFix/>
          </a:blip>
          <a:srcRect b="68911" l="0" r="0" t="0"/>
          <a:stretch/>
        </p:blipFill>
        <p:spPr>
          <a:xfrm>
            <a:off x="1502025" y="1577125"/>
            <a:ext cx="962025" cy="926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3}{5}\\&amp;#13;&amp;#10;24\frac{5}{7}\\&amp;#13;&amp;#10;3\frac{1}{2}\end{array}&quot;&gt;&lt;mtable columnalign=&quot;left&quot; columnspacing=&quot;1em&quot; rowspacing=&quot;4pt&quot;&gt;&lt;mtr&gt;&lt;mtd&gt;&lt;mn&gt;10&lt;/mn&gt;&lt;mfrac&gt;&lt;mn&gt;3&lt;/mn&gt;&lt;mn&gt;5&lt;/mn&gt;&lt;/mfrac&gt;&lt;/mtd&gt;&lt;/mtr&gt;&lt;mtr&gt;&lt;mtd&gt;&lt;mn&gt;24&lt;/mn&gt;&lt;mfrac&gt;&lt;mn&gt;5&lt;/mn&gt;&lt;mn&gt;7&lt;/mn&gt;&lt;/mfrac&gt;&lt;/mtd&gt;&lt;/mtr&gt;&lt;mtr&gt;&lt;mtd&gt;&lt;mn&gt;3&lt;/mn&gt;&lt;mfrac&gt;&lt;mn&gt;1&lt;/mn&gt;&lt;mn&gt;2&lt;/mn&gt;&lt;/mfrac&gt;&lt;/mtd&gt;&lt;/mtr&gt;&lt;/mtable&gt;&lt;/math&gt;" id="1278" name="Google Shape;1278;p91" title="3 lines Line 1: 10 and three fifths Line 2: 24 and five sevenths Line 3: 3 and one half"/>
          <p:cNvPicPr preferRelativeResize="0"/>
          <p:nvPr/>
        </p:nvPicPr>
        <p:blipFill rotWithShape="1">
          <a:blip r:embed="rId3">
            <a:alphaModFix/>
          </a:blip>
          <a:srcRect b="34455" l="-5775" r="0" t="34455"/>
          <a:stretch/>
        </p:blipFill>
        <p:spPr>
          <a:xfrm>
            <a:off x="4713025" y="1544175"/>
            <a:ext cx="1017625" cy="92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9" name="Google Shape;1279;p91"/>
          <p:cNvSpPr txBox="1"/>
          <p:nvPr/>
        </p:nvSpPr>
        <p:spPr>
          <a:xfrm>
            <a:off x="439675" y="2393370"/>
            <a:ext cx="3282000" cy="16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integer is even.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numerator and denominator of the proper fraction are both odd and prime numbers.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0" name="Google Shape;1280;p91"/>
          <p:cNvSpPr txBox="1"/>
          <p:nvPr/>
        </p:nvSpPr>
        <p:spPr>
          <a:xfrm>
            <a:off x="7328425" y="1838475"/>
            <a:ext cx="1150200" cy="20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Write your own mixed number with clues.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6}{5}&quot;&gt;&lt;mfrac&gt;&lt;mn&gt;46&lt;/mn&gt;&lt;mn&gt;5&lt;/mn&gt;&lt;/mfrac&gt;&lt;/math&gt;" id="1281" name="Google Shape;1281;p91" title="46 over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8600" y="4162750"/>
            <a:ext cx="267517" cy="48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Google Shape;1282;p91"/>
          <p:cNvSpPr txBox="1"/>
          <p:nvPr/>
        </p:nvSpPr>
        <p:spPr>
          <a:xfrm>
            <a:off x="3657288" y="2439445"/>
            <a:ext cx="3282000" cy="16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integer is even.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As an improper fraction the numerator is 173.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denominator is odd.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16}{5}&quot;&gt;&lt;mfrac&gt;&lt;mn&gt;116&lt;/mn&gt;&lt;mn&gt;5&lt;/mn&gt;&lt;/mfrac&gt;&lt;/math&gt;" id="1283" name="Google Shape;1283;p91" title="116 over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8235" y="3924674"/>
            <a:ext cx="380873" cy="48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4}{5}&quot;&gt;&lt;mfrac&gt;&lt;mn&gt;124&lt;/mn&gt;&lt;mn&gt;5&lt;/mn&gt;&lt;/mfrac&gt;&lt;/math&gt;" id="1284" name="Google Shape;1284;p91" title="124 over 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74399" y="3925163"/>
            <a:ext cx="380875" cy="484114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91"/>
          <p:cNvSpPr/>
          <p:nvPr/>
        </p:nvSpPr>
        <p:spPr>
          <a:xfrm>
            <a:off x="1502025" y="1577124"/>
            <a:ext cx="596700" cy="862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6" name="Google Shape;1286;p91"/>
          <p:cNvSpPr/>
          <p:nvPr/>
        </p:nvSpPr>
        <p:spPr>
          <a:xfrm>
            <a:off x="2141750" y="1574091"/>
            <a:ext cx="381000" cy="337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7" name="Google Shape;1287;p91"/>
          <p:cNvSpPr/>
          <p:nvPr/>
        </p:nvSpPr>
        <p:spPr>
          <a:xfrm>
            <a:off x="2141750" y="2102241"/>
            <a:ext cx="381000" cy="337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91"/>
          <p:cNvSpPr/>
          <p:nvPr/>
        </p:nvSpPr>
        <p:spPr>
          <a:xfrm>
            <a:off x="4748227" y="1609449"/>
            <a:ext cx="596700" cy="862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91"/>
          <p:cNvSpPr/>
          <p:nvPr/>
        </p:nvSpPr>
        <p:spPr>
          <a:xfrm>
            <a:off x="5416371" y="1597116"/>
            <a:ext cx="381000" cy="337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91"/>
          <p:cNvSpPr/>
          <p:nvPr/>
        </p:nvSpPr>
        <p:spPr>
          <a:xfrm>
            <a:off x="5416371" y="2136016"/>
            <a:ext cx="381000" cy="337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91"/>
          <p:cNvSpPr txBox="1"/>
          <p:nvPr>
            <p:ph idx="1" type="body"/>
          </p:nvPr>
        </p:nvSpPr>
        <p:spPr>
          <a:xfrm>
            <a:off x="324000" y="650250"/>
            <a:ext cx="8237700" cy="92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3"/>
            </a:pPr>
            <a:r>
              <a:rPr lang="en-GB"/>
              <a:t>Can you work out the mixed number given the clues for the integer and proper fraction?</a:t>
            </a:r>
            <a:endParaRPr/>
          </a:p>
        </p:txBody>
      </p:sp>
      <p:sp>
        <p:nvSpPr>
          <p:cNvPr id="1292" name="Google Shape;1292;p91"/>
          <p:cNvSpPr txBox="1"/>
          <p:nvPr/>
        </p:nvSpPr>
        <p:spPr>
          <a:xfrm>
            <a:off x="439675" y="3764972"/>
            <a:ext cx="32820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mixed number is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3" name="Google Shape;1293;p91"/>
          <p:cNvSpPr txBox="1"/>
          <p:nvPr/>
        </p:nvSpPr>
        <p:spPr>
          <a:xfrm>
            <a:off x="439675" y="4069775"/>
            <a:ext cx="12450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between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4" name="Google Shape;1294;p91"/>
          <p:cNvSpPr txBox="1"/>
          <p:nvPr/>
        </p:nvSpPr>
        <p:spPr>
          <a:xfrm>
            <a:off x="1952325" y="4069775"/>
            <a:ext cx="19218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10.7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91"/>
          <p:cNvSpPr txBox="1"/>
          <p:nvPr/>
        </p:nvSpPr>
        <p:spPr>
          <a:xfrm>
            <a:off x="3657300" y="3506247"/>
            <a:ext cx="32820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mixed number is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6" name="Google Shape;1296;p91"/>
          <p:cNvSpPr txBox="1"/>
          <p:nvPr/>
        </p:nvSpPr>
        <p:spPr>
          <a:xfrm>
            <a:off x="3657300" y="3811046"/>
            <a:ext cx="32820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between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7" name="Google Shape;1297;p91"/>
          <p:cNvSpPr txBox="1"/>
          <p:nvPr/>
        </p:nvSpPr>
        <p:spPr>
          <a:xfrm>
            <a:off x="5188100" y="3811050"/>
            <a:ext cx="1903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9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Fill in the blanks to show the working out and conversion from a mixed number to an improper fraction.</a:t>
            </a:r>
            <a:endParaRPr/>
          </a:p>
        </p:txBody>
      </p:sp>
      <p:sp>
        <p:nvSpPr>
          <p:cNvPr id="1303" name="Google Shape;1303;p9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numbers to improper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1304" name="Google Shape;1304;p92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3">
            <a:alphaModFix/>
          </a:blip>
          <a:srcRect b="50573" l="13980" r="42627" t="25539"/>
          <a:stretch/>
        </p:blipFill>
        <p:spPr>
          <a:xfrm>
            <a:off x="1675550" y="1861288"/>
            <a:ext cx="2107026" cy="52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1305" name="Google Shape;1305;p92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3">
            <a:alphaModFix/>
          </a:blip>
          <a:srcRect b="52244" l="56252" r="14436" t="23868"/>
          <a:stretch/>
        </p:blipFill>
        <p:spPr>
          <a:xfrm>
            <a:off x="1675559" y="2429546"/>
            <a:ext cx="1423373" cy="5214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1306" name="Google Shape;1306;p92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3">
            <a:alphaModFix/>
          </a:blip>
          <a:srcRect b="51890" l="84086" r="-13398" t="24221"/>
          <a:stretch/>
        </p:blipFill>
        <p:spPr>
          <a:xfrm>
            <a:off x="1675559" y="2997816"/>
            <a:ext cx="1423373" cy="5214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1307" name="Google Shape;1307;p92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3">
            <a:alphaModFix/>
          </a:blip>
          <a:srcRect b="0" l="-936" r="90189" t="76113"/>
          <a:stretch/>
        </p:blipFill>
        <p:spPr>
          <a:xfrm>
            <a:off x="5774375" y="1882738"/>
            <a:ext cx="521875" cy="52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1308" name="Google Shape;1308;p92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3">
            <a:alphaModFix/>
          </a:blip>
          <a:srcRect b="-140" l="46644" r="24861" t="76252"/>
          <a:stretch/>
        </p:blipFill>
        <p:spPr>
          <a:xfrm>
            <a:off x="6440525" y="2450988"/>
            <a:ext cx="1383651" cy="52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1309" name="Google Shape;1309;p92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3">
            <a:alphaModFix/>
          </a:blip>
          <a:srcRect b="-1433" l="74403" r="-1971" t="77546"/>
          <a:stretch/>
        </p:blipFill>
        <p:spPr>
          <a:xfrm>
            <a:off x="6440313" y="3019262"/>
            <a:ext cx="1338650" cy="52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1310" name="Google Shape;1310;p92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3">
            <a:alphaModFix/>
          </a:blip>
          <a:srcRect b="50573" l="262" r="85609" t="25539"/>
          <a:stretch/>
        </p:blipFill>
        <p:spPr>
          <a:xfrm>
            <a:off x="1013225" y="1859263"/>
            <a:ext cx="686025" cy="52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1311" name="Google Shape;1311;p92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3">
            <a:alphaModFix/>
          </a:blip>
          <a:srcRect b="0" l="8784" r="52413" t="76113"/>
          <a:stretch/>
        </p:blipFill>
        <p:spPr>
          <a:xfrm>
            <a:off x="6246475" y="1880688"/>
            <a:ext cx="1884301" cy="52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2" name="Google Shape;1312;p92"/>
          <p:cNvSpPr txBox="1"/>
          <p:nvPr/>
        </p:nvSpPr>
        <p:spPr>
          <a:xfrm>
            <a:off x="415275" y="1786825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3" name="Google Shape;1313;p92"/>
          <p:cNvSpPr txBox="1"/>
          <p:nvPr/>
        </p:nvSpPr>
        <p:spPr>
          <a:xfrm>
            <a:off x="5224175" y="1859263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92"/>
          <p:cNvSpPr/>
          <p:nvPr/>
        </p:nvSpPr>
        <p:spPr>
          <a:xfrm>
            <a:off x="2887200" y="1859963"/>
            <a:ext cx="269700" cy="4641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5" name="Google Shape;1315;p92"/>
          <p:cNvSpPr/>
          <p:nvPr/>
        </p:nvSpPr>
        <p:spPr>
          <a:xfrm>
            <a:off x="2093850" y="2458238"/>
            <a:ext cx="269700" cy="4641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6" name="Google Shape;1316;p92"/>
          <p:cNvSpPr/>
          <p:nvPr/>
        </p:nvSpPr>
        <p:spPr>
          <a:xfrm>
            <a:off x="2093850" y="3022675"/>
            <a:ext cx="269700" cy="4641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7" name="Google Shape;1317;p92"/>
          <p:cNvSpPr/>
          <p:nvPr/>
        </p:nvSpPr>
        <p:spPr>
          <a:xfrm>
            <a:off x="6576725" y="1934276"/>
            <a:ext cx="269700" cy="4641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92"/>
          <p:cNvSpPr/>
          <p:nvPr/>
        </p:nvSpPr>
        <p:spPr>
          <a:xfrm>
            <a:off x="7189500" y="1934276"/>
            <a:ext cx="269700" cy="4641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9" name="Google Shape;1319;p92"/>
          <p:cNvSpPr/>
          <p:nvPr/>
        </p:nvSpPr>
        <p:spPr>
          <a:xfrm>
            <a:off x="7802275" y="1934276"/>
            <a:ext cx="269700" cy="4641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92"/>
          <p:cNvSpPr/>
          <p:nvPr/>
        </p:nvSpPr>
        <p:spPr>
          <a:xfrm>
            <a:off x="6820392" y="2493368"/>
            <a:ext cx="269700" cy="4641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1" name="Google Shape;1321;p92"/>
          <p:cNvSpPr/>
          <p:nvPr/>
        </p:nvSpPr>
        <p:spPr>
          <a:xfrm>
            <a:off x="7459192" y="2493368"/>
            <a:ext cx="269700" cy="4641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numbers to improper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/>
          </a:p>
        </p:txBody>
      </p:sp>
      <p:sp>
        <p:nvSpPr>
          <p:cNvPr id="1327" name="Google Shape;1327;p93"/>
          <p:cNvSpPr txBox="1"/>
          <p:nvPr/>
        </p:nvSpPr>
        <p:spPr>
          <a:xfrm>
            <a:off x="324000" y="1680850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8" name="Google Shape;1328;p93"/>
          <p:cNvSpPr txBox="1"/>
          <p:nvPr/>
        </p:nvSpPr>
        <p:spPr>
          <a:xfrm>
            <a:off x="324000" y="2449200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9" name="Google Shape;1329;p93"/>
          <p:cNvSpPr txBox="1"/>
          <p:nvPr/>
        </p:nvSpPr>
        <p:spPr>
          <a:xfrm>
            <a:off x="324000" y="3141350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0" name="Google Shape;1330;p93"/>
          <p:cNvSpPr txBox="1"/>
          <p:nvPr/>
        </p:nvSpPr>
        <p:spPr>
          <a:xfrm>
            <a:off x="324000" y="3909700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4\frac{1}{2}\ \ =\frac{9}{2}\\&amp;#13;&amp;#10;11\frac{3}{5}\ =\frac{58}{5}\\&amp;#13;&amp;#10;80\frac{1}{3}\ \ =\frac{241}{3}\\&amp;#13;&amp;#10;3\frac{9}{10}\ \ =\frac{39}{10}\end{array}&quot;&gt;&lt;mtable columnalign=&quot;left&quot; columnspacing=&quot;1em&quot; rowspacing=&quot;4pt&quot;&gt;&lt;mtr&gt;&lt;mtd&gt;&lt;mn&gt;4&lt;/mn&gt;&lt;mfrac&gt;&lt;mn&gt;1&lt;/mn&gt;&lt;mn&gt;2&lt;/mn&gt;&lt;/mfrac&gt;&lt;mtext&gt;&lt;/mtext&gt;&lt;mtext&gt;&lt;/mtext&gt;&lt;mo&gt;=&lt;/mo&gt;&lt;mfrac&gt;&lt;mn&gt;9&lt;/mn&gt;&lt;mn&gt;2&lt;/mn&gt;&lt;/mfrac&gt;&lt;/mtd&gt;&lt;/mtr&gt;&lt;mtr&gt;&lt;mtd&gt;&lt;mn&gt;11&lt;/mn&gt;&lt;mfrac&gt;&lt;mn&gt;3&lt;/mn&gt;&lt;mn&gt;5&lt;/mn&gt;&lt;/mfrac&gt;&lt;mtext&gt;&lt;/mtext&gt;&lt;mo&gt;=&lt;/mo&gt;&lt;mfrac&gt;&lt;mn&gt;58&lt;/mn&gt;&lt;mn&gt;5&lt;/mn&gt;&lt;/mfrac&gt;&lt;/mtd&gt;&lt;/mtr&gt;&lt;mtr&gt;&lt;mtd&gt;&lt;mn&gt;80&lt;/mn&gt;&lt;mfrac&gt;&lt;mn&gt;1&lt;/mn&gt;&lt;mn&gt;3&lt;/mn&gt;&lt;/mfrac&gt;&lt;mtext&gt;&lt;/mtext&gt;&lt;mtext&gt;&lt;/mtext&gt;&lt;mo&gt;=&lt;/mo&gt;&lt;mfrac&gt;&lt;mn&gt;241&lt;/mn&gt;&lt;mn&gt;3&lt;/mn&gt;&lt;/mfrac&gt;&lt;/mtd&gt;&lt;/mtr&gt;&lt;mtr&gt;&lt;mtd&gt;&lt;mn&gt;3&lt;/mn&gt;&lt;mfrac&gt;&lt;mn&gt;9&lt;/mn&gt;&lt;mn&gt;10&lt;/mn&gt;&lt;/mfrac&gt;&lt;mtext&gt;&lt;/mtext&gt;&lt;mtext&gt;&lt;/mtext&gt;&lt;mo&gt;=&lt;/mo&gt;&lt;mfrac&gt;&lt;mn&gt;39&lt;/mn&gt;&lt;mn&gt;10&lt;/mn&gt;&lt;/mfrac&gt;&lt;/mtd&gt;&lt;/mtr&gt;&lt;/mtable&gt;&lt;/math&gt;" id="1331" name="Google Shape;1331;p93" title="4 lines Line 1: 4 and one half equals nine halves Line 2: 11 and three fifths equals 58 over 5 Line 3: 80 and one third equals 241 over 3 Line 4: 3 and nine tenths equals 39 over 10"/>
          <p:cNvPicPr preferRelativeResize="0"/>
          <p:nvPr/>
        </p:nvPicPr>
        <p:blipFill rotWithShape="1">
          <a:blip r:embed="rId3">
            <a:alphaModFix/>
          </a:blip>
          <a:srcRect b="0" l="0" r="59070" t="0"/>
          <a:stretch/>
        </p:blipFill>
        <p:spPr>
          <a:xfrm>
            <a:off x="874200" y="1680850"/>
            <a:ext cx="810600" cy="278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4\frac{1}{2}\ \ =\frac{9}{2}\\&amp;#13;&amp;#10;11\frac{3}{5}\ =\frac{58}{5}\\&amp;#13;&amp;#10;80\frac{1}{3}\ \ =\frac{241}{3}\\&amp;#13;&amp;#10;3\frac{9}{10}\ \ =\frac{39}{10}\end{array}&quot;&gt;&lt;mtable columnalign=&quot;left&quot; columnspacing=&quot;1em&quot; rowspacing=&quot;4pt&quot;&gt;&lt;mtr&gt;&lt;mtd&gt;&lt;mn&gt;4&lt;/mn&gt;&lt;mfrac&gt;&lt;mn&gt;1&lt;/mn&gt;&lt;mn&gt;2&lt;/mn&gt;&lt;/mfrac&gt;&lt;mtext&gt;&lt;/mtext&gt;&lt;mtext&gt;&lt;/mtext&gt;&lt;mo&gt;=&lt;/mo&gt;&lt;mfrac&gt;&lt;mn&gt;9&lt;/mn&gt;&lt;mn&gt;2&lt;/mn&gt;&lt;/mfrac&gt;&lt;/mtd&gt;&lt;/mtr&gt;&lt;mtr&gt;&lt;mtd&gt;&lt;mn&gt;11&lt;/mn&gt;&lt;mfrac&gt;&lt;mn&gt;3&lt;/mn&gt;&lt;mn&gt;5&lt;/mn&gt;&lt;/mfrac&gt;&lt;mtext&gt;&lt;/mtext&gt;&lt;mo&gt;=&lt;/mo&gt;&lt;mfrac&gt;&lt;mn&gt;58&lt;/mn&gt;&lt;mn&gt;5&lt;/mn&gt;&lt;/mfrac&gt;&lt;/mtd&gt;&lt;/mtr&gt;&lt;mtr&gt;&lt;mtd&gt;&lt;mn&gt;80&lt;/mn&gt;&lt;mfrac&gt;&lt;mn&gt;1&lt;/mn&gt;&lt;mn&gt;3&lt;/mn&gt;&lt;/mfrac&gt;&lt;mtext&gt;&lt;/mtext&gt;&lt;mtext&gt;&lt;/mtext&gt;&lt;mo&gt;=&lt;/mo&gt;&lt;mfrac&gt;&lt;mn&gt;241&lt;/mn&gt;&lt;mn&gt;3&lt;/mn&gt;&lt;/mfrac&gt;&lt;/mtd&gt;&lt;/mtr&gt;&lt;mtr&gt;&lt;mtd&gt;&lt;mn&gt;3&lt;/mn&gt;&lt;mfrac&gt;&lt;mn&gt;9&lt;/mn&gt;&lt;mn&gt;10&lt;/mn&gt;&lt;/mfrac&gt;&lt;mtext&gt;&lt;/mtext&gt;&lt;mtext&gt;&lt;/mtext&gt;&lt;mo&gt;=&lt;/mo&gt;&lt;mfrac&gt;&lt;mn&gt;39&lt;/mn&gt;&lt;mn&gt;10&lt;/mn&gt;&lt;/mfrac&gt;&lt;/mtd&gt;&lt;/mtr&gt;&lt;/mtable&gt;&lt;/math&gt;" id="1332" name="Google Shape;1332;p93" title="4 lines Line 1: 4 and one half equals nine halves Line 2: 11 and three fifths equals 58 over 5 Line 3: 80 and one third equals 241 over 3 Line 4: 3 and nine tenths equals 39 over 10"/>
          <p:cNvPicPr preferRelativeResize="0"/>
          <p:nvPr/>
        </p:nvPicPr>
        <p:blipFill rotWithShape="1">
          <a:blip r:embed="rId3">
            <a:alphaModFix/>
          </a:blip>
          <a:srcRect b="75823" l="38721" r="2945" t="-3419"/>
          <a:stretch/>
        </p:blipFill>
        <p:spPr>
          <a:xfrm>
            <a:off x="1662300" y="1525672"/>
            <a:ext cx="1155250" cy="768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4\frac{1}{2}\ \ =\frac{9}{2}\\&amp;#13;&amp;#10;11\frac{3}{5}\ =\frac{58}{5}\\&amp;#13;&amp;#10;80\frac{1}{3}\ \ =\frac{241}{3}\\&amp;#13;&amp;#10;3\frac{9}{10}\ \ =\frac{39}{10}\end{array}&quot;&gt;&lt;mtable columnalign=&quot;left&quot; columnspacing=&quot;1em&quot; rowspacing=&quot;4pt&quot;&gt;&lt;mtr&gt;&lt;mtd&gt;&lt;mn&gt;4&lt;/mn&gt;&lt;mfrac&gt;&lt;mn&gt;1&lt;/mn&gt;&lt;mn&gt;2&lt;/mn&gt;&lt;/mfrac&gt;&lt;mtext&gt;&lt;/mtext&gt;&lt;mtext&gt;&lt;/mtext&gt;&lt;mo&gt;=&lt;/mo&gt;&lt;mfrac&gt;&lt;mn&gt;9&lt;/mn&gt;&lt;mn&gt;2&lt;/mn&gt;&lt;/mfrac&gt;&lt;/mtd&gt;&lt;/mtr&gt;&lt;mtr&gt;&lt;mtd&gt;&lt;mn&gt;11&lt;/mn&gt;&lt;mfrac&gt;&lt;mn&gt;3&lt;/mn&gt;&lt;mn&gt;5&lt;/mn&gt;&lt;/mfrac&gt;&lt;mtext&gt;&lt;/mtext&gt;&lt;mo&gt;=&lt;/mo&gt;&lt;mfrac&gt;&lt;mn&gt;58&lt;/mn&gt;&lt;mn&gt;5&lt;/mn&gt;&lt;/mfrac&gt;&lt;/mtd&gt;&lt;/mtr&gt;&lt;mtr&gt;&lt;mtd&gt;&lt;mn&gt;80&lt;/mn&gt;&lt;mfrac&gt;&lt;mn&gt;1&lt;/mn&gt;&lt;mn&gt;3&lt;/mn&gt;&lt;/mfrac&gt;&lt;mtext&gt;&lt;/mtext&gt;&lt;mtext&gt;&lt;/mtext&gt;&lt;mo&gt;=&lt;/mo&gt;&lt;mfrac&gt;&lt;mn&gt;241&lt;/mn&gt;&lt;mn&gt;3&lt;/mn&gt;&lt;/mfrac&gt;&lt;/mtd&gt;&lt;/mtr&gt;&lt;mtr&gt;&lt;mtd&gt;&lt;mn&gt;3&lt;/mn&gt;&lt;mfrac&gt;&lt;mn&gt;9&lt;/mn&gt;&lt;mn&gt;10&lt;/mn&gt;&lt;/mfrac&gt;&lt;mtext&gt;&lt;/mtext&gt;&lt;mtext&gt;&lt;/mtext&gt;&lt;mo&gt;=&lt;/mo&gt;&lt;mfrac&gt;&lt;mn&gt;39&lt;/mn&gt;&lt;mn&gt;10&lt;/mn&gt;&lt;/mfrac&gt;&lt;/mtd&gt;&lt;/mtr&gt;&lt;/mtable&gt;&lt;/math&gt;" id="1333" name="Google Shape;1333;p93" title="4 lines Line 1: 4 and one half equals nine halves Line 2: 11 and three fifths equals 58 over 5 Line 3: 80 and one third equals 241 over 3 Line 4: 3 and nine tenths equals 39 over 10"/>
          <p:cNvPicPr preferRelativeResize="0"/>
          <p:nvPr/>
        </p:nvPicPr>
        <p:blipFill rotWithShape="1">
          <a:blip r:embed="rId3">
            <a:alphaModFix/>
          </a:blip>
          <a:srcRect b="49900" l="38721" r="2945" t="22504"/>
          <a:stretch/>
        </p:blipFill>
        <p:spPr>
          <a:xfrm>
            <a:off x="1548992" y="2337448"/>
            <a:ext cx="1155250" cy="768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4\frac{1}{2}\ \ =\frac{9}{2}\\&amp;#13;&amp;#10;11\frac{3}{5}\ =\frac{58}{5}\\&amp;#13;&amp;#10;80\frac{1}{3}\ \ =\frac{241}{3}\\&amp;#13;&amp;#10;3\frac{9}{10}\ \ =\frac{39}{10}\end{array}&quot;&gt;&lt;mtable columnalign=&quot;left&quot; columnspacing=&quot;1em&quot; rowspacing=&quot;4pt&quot;&gt;&lt;mtr&gt;&lt;mtd&gt;&lt;mn&gt;4&lt;/mn&gt;&lt;mfrac&gt;&lt;mn&gt;1&lt;/mn&gt;&lt;mn&gt;2&lt;/mn&gt;&lt;/mfrac&gt;&lt;mtext&gt;&lt;/mtext&gt;&lt;mtext&gt;&lt;/mtext&gt;&lt;mo&gt;=&lt;/mo&gt;&lt;mfrac&gt;&lt;mn&gt;9&lt;/mn&gt;&lt;mn&gt;2&lt;/mn&gt;&lt;/mfrac&gt;&lt;/mtd&gt;&lt;/mtr&gt;&lt;mtr&gt;&lt;mtd&gt;&lt;mn&gt;11&lt;/mn&gt;&lt;mfrac&gt;&lt;mn&gt;3&lt;/mn&gt;&lt;mn&gt;5&lt;/mn&gt;&lt;/mfrac&gt;&lt;mtext&gt;&lt;/mtext&gt;&lt;mo&gt;=&lt;/mo&gt;&lt;mfrac&gt;&lt;mn&gt;58&lt;/mn&gt;&lt;mn&gt;5&lt;/mn&gt;&lt;/mfrac&gt;&lt;/mtd&gt;&lt;/mtr&gt;&lt;mtr&gt;&lt;mtd&gt;&lt;mn&gt;80&lt;/mn&gt;&lt;mfrac&gt;&lt;mn&gt;1&lt;/mn&gt;&lt;mn&gt;3&lt;/mn&gt;&lt;/mfrac&gt;&lt;mtext&gt;&lt;/mtext&gt;&lt;mtext&gt;&lt;/mtext&gt;&lt;mo&gt;=&lt;/mo&gt;&lt;mfrac&gt;&lt;mn&gt;241&lt;/mn&gt;&lt;mn&gt;3&lt;/mn&gt;&lt;/mfrac&gt;&lt;/mtd&gt;&lt;/mtr&gt;&lt;mtr&gt;&lt;mtd&gt;&lt;mn&gt;3&lt;/mn&gt;&lt;mfrac&gt;&lt;mn&gt;9&lt;/mn&gt;&lt;mn&gt;10&lt;/mn&gt;&lt;/mfrac&gt;&lt;mtext&gt;&lt;/mtext&gt;&lt;mtext&gt;&lt;/mtext&gt;&lt;mo&gt;=&lt;/mo&gt;&lt;mfrac&gt;&lt;mn&gt;39&lt;/mn&gt;&lt;mn&gt;10&lt;/mn&gt;&lt;/mfrac&gt;&lt;/mtd&gt;&lt;/mtr&gt;&lt;/mtable&gt;&lt;/math&gt;" id="1334" name="Google Shape;1334;p93" title="4 lines Line 1: 4 and one half equals nine halves Line 2: 11 and three fifths equals 58 over 5 Line 3: 80 and one third equals 241 over 3 Line 4: 3 and nine tenths equals 39 over 10"/>
          <p:cNvPicPr preferRelativeResize="0"/>
          <p:nvPr/>
        </p:nvPicPr>
        <p:blipFill rotWithShape="1">
          <a:blip r:embed="rId3">
            <a:alphaModFix/>
          </a:blip>
          <a:srcRect b="21819" l="49997" r="-8329" t="50585"/>
          <a:stretch/>
        </p:blipFill>
        <p:spPr>
          <a:xfrm>
            <a:off x="1678895" y="3145656"/>
            <a:ext cx="1155250" cy="768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4\frac{1}{2}\ \ =\frac{9}{2}\\&amp;#13;&amp;#10;11\frac{3}{5}\ =\frac{58}{5}\\&amp;#13;&amp;#10;80\frac{1}{3}\ \ =\frac{241}{3}\\&amp;#13;&amp;#10;3\frac{9}{10}\ \ =\frac{39}{10}\end{array}&quot;&gt;&lt;mtable columnalign=&quot;left&quot; columnspacing=&quot;1em&quot; rowspacing=&quot;4pt&quot;&gt;&lt;mtr&gt;&lt;mtd&gt;&lt;mn&gt;4&lt;/mn&gt;&lt;mfrac&gt;&lt;mn&gt;1&lt;/mn&gt;&lt;mn&gt;2&lt;/mn&gt;&lt;/mfrac&gt;&lt;mtext&gt;&lt;/mtext&gt;&lt;mtext&gt;&lt;/mtext&gt;&lt;mo&gt;=&lt;/mo&gt;&lt;mfrac&gt;&lt;mn&gt;9&lt;/mn&gt;&lt;mn&gt;2&lt;/mn&gt;&lt;/mfrac&gt;&lt;/mtd&gt;&lt;/mtr&gt;&lt;mtr&gt;&lt;mtd&gt;&lt;mn&gt;11&lt;/mn&gt;&lt;mfrac&gt;&lt;mn&gt;3&lt;/mn&gt;&lt;mn&gt;5&lt;/mn&gt;&lt;/mfrac&gt;&lt;mtext&gt;&lt;/mtext&gt;&lt;mo&gt;=&lt;/mo&gt;&lt;mfrac&gt;&lt;mn&gt;58&lt;/mn&gt;&lt;mn&gt;5&lt;/mn&gt;&lt;/mfrac&gt;&lt;/mtd&gt;&lt;/mtr&gt;&lt;mtr&gt;&lt;mtd&gt;&lt;mn&gt;80&lt;/mn&gt;&lt;mfrac&gt;&lt;mn&gt;1&lt;/mn&gt;&lt;mn&gt;3&lt;/mn&gt;&lt;/mfrac&gt;&lt;mtext&gt;&lt;/mtext&gt;&lt;mtext&gt;&lt;/mtext&gt;&lt;mo&gt;=&lt;/mo&gt;&lt;mfrac&gt;&lt;mn&gt;241&lt;/mn&gt;&lt;mn&gt;3&lt;/mn&gt;&lt;/mfrac&gt;&lt;/mtd&gt;&lt;/mtr&gt;&lt;mtr&gt;&lt;mtd&gt;&lt;mn&gt;3&lt;/mn&gt;&lt;mfrac&gt;&lt;mn&gt;9&lt;/mn&gt;&lt;mn&gt;10&lt;/mn&gt;&lt;/mfrac&gt;&lt;mtext&gt;&lt;/mtext&gt;&lt;mtext&gt;&lt;/mtext&gt;&lt;mo&gt;=&lt;/mo&gt;&lt;mfrac&gt;&lt;mn&gt;39&lt;/mn&gt;&lt;mn&gt;10&lt;/mn&gt;&lt;/mfrac&gt;&lt;/mtd&gt;&lt;/mtr&gt;&lt;/mtable&gt;&lt;/math&gt;" id="1335" name="Google Shape;1335;p93" title="4 lines Line 1: 4 and one half equals nine halves Line 2: 11 and three fifths equals 58 over 5 Line 3: 80 and one third equals 241 over 3 Line 4: 3 and nine tenths equals 39 over 10"/>
          <p:cNvPicPr preferRelativeResize="0"/>
          <p:nvPr/>
        </p:nvPicPr>
        <p:blipFill rotWithShape="1">
          <a:blip r:embed="rId3">
            <a:alphaModFix/>
          </a:blip>
          <a:srcRect b="-3998" l="43749" r="-2082" t="76403"/>
          <a:stretch/>
        </p:blipFill>
        <p:spPr>
          <a:xfrm>
            <a:off x="1610991" y="3889118"/>
            <a:ext cx="1155250" cy="76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93"/>
          <p:cNvSpPr txBox="1"/>
          <p:nvPr>
            <p:ph idx="1" type="body"/>
          </p:nvPr>
        </p:nvSpPr>
        <p:spPr>
          <a:xfrm>
            <a:off x="324000" y="759300"/>
            <a:ext cx="7781100" cy="4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2"/>
            </a:pPr>
            <a:r>
              <a:rPr lang="en-GB"/>
              <a:t>Convert the following to improper fractions, showing working out if you need.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94"/>
          <p:cNvSpPr/>
          <p:nvPr/>
        </p:nvSpPr>
        <p:spPr>
          <a:xfrm>
            <a:off x="7126225" y="1755675"/>
            <a:ext cx="1352400" cy="2251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2" name="Google Shape;1342;p94"/>
          <p:cNvSpPr/>
          <p:nvPr/>
        </p:nvSpPr>
        <p:spPr>
          <a:xfrm>
            <a:off x="3622500" y="1465500"/>
            <a:ext cx="3351600" cy="3244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3" name="Google Shape;1343;p94"/>
          <p:cNvSpPr/>
          <p:nvPr/>
        </p:nvSpPr>
        <p:spPr>
          <a:xfrm>
            <a:off x="270900" y="1465500"/>
            <a:ext cx="3351600" cy="3244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4" name="Google Shape;1344;p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numbers to improper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10\frac{3}{5}\\&amp;#13;&amp;#10;24\frac{5}{7}\\&amp;#13;&amp;#10;3\frac{1}{2}\end{array}&quot;&gt;&lt;mtable columnalign=&quot;left&quot; columnspacing=&quot;1em&quot; rowspacing=&quot;4pt&quot;&gt;&lt;mtr&gt;&lt;mtd&gt;&lt;mn&gt;10&lt;/mn&gt;&lt;mfrac&gt;&lt;mn&gt;3&lt;/mn&gt;&lt;mn&gt;5&lt;/mn&gt;&lt;/mfrac&gt;&lt;/mtd&gt;&lt;/mtr&gt;&lt;mtr&gt;&lt;mtd&gt;&lt;mn&gt;24&lt;/mn&gt;&lt;mfrac&gt;&lt;mn&gt;5&lt;/mn&gt;&lt;mn&gt;7&lt;/mn&gt;&lt;/mfrac&gt;&lt;/mtd&gt;&lt;/mtr&gt;&lt;mtr&gt;&lt;mtd&gt;&lt;mn&gt;3&lt;/mn&gt;&lt;mfrac&gt;&lt;mn&gt;1&lt;/mn&gt;&lt;mn&gt;2&lt;/mn&gt;&lt;/mfrac&gt;&lt;/mtd&gt;&lt;/mtr&gt;&lt;/mtable&gt;&lt;/math&gt;" id="1345" name="Google Shape;1345;p94" title="3 lines Line 1: 10 and three fifths Line 2: 24 and five sevenths Line 3: 3 and one half"/>
          <p:cNvPicPr preferRelativeResize="0"/>
          <p:nvPr/>
        </p:nvPicPr>
        <p:blipFill rotWithShape="1">
          <a:blip r:embed="rId3">
            <a:alphaModFix/>
          </a:blip>
          <a:srcRect b="68911" l="0" r="0" t="0"/>
          <a:stretch/>
        </p:blipFill>
        <p:spPr>
          <a:xfrm>
            <a:off x="1502025" y="1577125"/>
            <a:ext cx="962025" cy="926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3}{5}\\&amp;#13;&amp;#10;24\frac{5}{7}\\&amp;#13;&amp;#10;3\frac{1}{2}\end{array}&quot;&gt;&lt;mtable columnalign=&quot;left&quot; columnspacing=&quot;1em&quot; rowspacing=&quot;4pt&quot;&gt;&lt;mtr&gt;&lt;mtd&gt;&lt;mn&gt;10&lt;/mn&gt;&lt;mfrac&gt;&lt;mn&gt;3&lt;/mn&gt;&lt;mn&gt;5&lt;/mn&gt;&lt;/mfrac&gt;&lt;/mtd&gt;&lt;/mtr&gt;&lt;mtr&gt;&lt;mtd&gt;&lt;mn&gt;24&lt;/mn&gt;&lt;mfrac&gt;&lt;mn&gt;5&lt;/mn&gt;&lt;mn&gt;7&lt;/mn&gt;&lt;/mfrac&gt;&lt;/mtd&gt;&lt;/mtr&gt;&lt;mtr&gt;&lt;mtd&gt;&lt;mn&gt;3&lt;/mn&gt;&lt;mfrac&gt;&lt;mn&gt;1&lt;/mn&gt;&lt;mn&gt;2&lt;/mn&gt;&lt;/mfrac&gt;&lt;/mtd&gt;&lt;/mtr&gt;&lt;/mtable&gt;&lt;/math&gt;" id="1346" name="Google Shape;1346;p94" title="3 lines Line 1: 10 and three fifths Line 2: 24 and five sevenths Line 3: 3 and one half"/>
          <p:cNvPicPr preferRelativeResize="0"/>
          <p:nvPr/>
        </p:nvPicPr>
        <p:blipFill rotWithShape="1">
          <a:blip r:embed="rId3">
            <a:alphaModFix/>
          </a:blip>
          <a:srcRect b="34455" l="-5775" r="0" t="34455"/>
          <a:stretch/>
        </p:blipFill>
        <p:spPr>
          <a:xfrm>
            <a:off x="4713025" y="1544175"/>
            <a:ext cx="1017625" cy="92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7" name="Google Shape;1347;p94"/>
          <p:cNvSpPr txBox="1"/>
          <p:nvPr/>
        </p:nvSpPr>
        <p:spPr>
          <a:xfrm>
            <a:off x="7328425" y="1838475"/>
            <a:ext cx="1150200" cy="20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Write your own mixed number with clues.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8" name="Google Shape;1348;p94"/>
          <p:cNvSpPr/>
          <p:nvPr/>
        </p:nvSpPr>
        <p:spPr>
          <a:xfrm>
            <a:off x="1502025" y="1577124"/>
            <a:ext cx="596700" cy="8622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9" name="Google Shape;1349;p94"/>
          <p:cNvSpPr/>
          <p:nvPr/>
        </p:nvSpPr>
        <p:spPr>
          <a:xfrm>
            <a:off x="2141750" y="1574091"/>
            <a:ext cx="381000" cy="3372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0" name="Google Shape;1350;p94"/>
          <p:cNvSpPr/>
          <p:nvPr/>
        </p:nvSpPr>
        <p:spPr>
          <a:xfrm>
            <a:off x="2141750" y="2102241"/>
            <a:ext cx="381000" cy="3372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1" name="Google Shape;1351;p94"/>
          <p:cNvSpPr/>
          <p:nvPr/>
        </p:nvSpPr>
        <p:spPr>
          <a:xfrm>
            <a:off x="4748227" y="1609449"/>
            <a:ext cx="596700" cy="8622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2" name="Google Shape;1352;p94"/>
          <p:cNvSpPr/>
          <p:nvPr/>
        </p:nvSpPr>
        <p:spPr>
          <a:xfrm>
            <a:off x="5416371" y="1607866"/>
            <a:ext cx="381000" cy="3372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3" name="Google Shape;1353;p94"/>
          <p:cNvSpPr/>
          <p:nvPr/>
        </p:nvSpPr>
        <p:spPr>
          <a:xfrm>
            <a:off x="5416371" y="2136016"/>
            <a:ext cx="381000" cy="3372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4" name="Google Shape;1354;p94"/>
          <p:cNvSpPr txBox="1"/>
          <p:nvPr>
            <p:ph idx="1" type="body"/>
          </p:nvPr>
        </p:nvSpPr>
        <p:spPr>
          <a:xfrm>
            <a:off x="324000" y="650250"/>
            <a:ext cx="8237700" cy="92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3"/>
            </a:pPr>
            <a:r>
              <a:rPr lang="en-GB"/>
              <a:t>Can you work out the mixed number given the clues for the integer and proper fraction?</a:t>
            </a:r>
            <a:endParaRPr/>
          </a:p>
        </p:txBody>
      </p:sp>
      <p:sp>
        <p:nvSpPr>
          <p:cNvPr id="1355" name="Google Shape;1355;p94"/>
          <p:cNvSpPr txBox="1"/>
          <p:nvPr/>
        </p:nvSpPr>
        <p:spPr>
          <a:xfrm>
            <a:off x="439675" y="2393370"/>
            <a:ext cx="3282000" cy="16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integer is even.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numerator and denominator of the proper fraction are both odd and prime numbers.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94"/>
          <p:cNvSpPr txBox="1"/>
          <p:nvPr/>
        </p:nvSpPr>
        <p:spPr>
          <a:xfrm>
            <a:off x="3657288" y="2439445"/>
            <a:ext cx="3282000" cy="16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integer is even.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As an improper fraction the numerator is 173.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denominator is odd.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7" name="Google Shape;1357;p94"/>
          <p:cNvSpPr txBox="1"/>
          <p:nvPr/>
        </p:nvSpPr>
        <p:spPr>
          <a:xfrm>
            <a:off x="439675" y="3764972"/>
            <a:ext cx="32820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mixed number is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8" name="Google Shape;1358;p94"/>
          <p:cNvSpPr txBox="1"/>
          <p:nvPr/>
        </p:nvSpPr>
        <p:spPr>
          <a:xfrm>
            <a:off x="3657300" y="3506247"/>
            <a:ext cx="32820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mixed number is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6}{5}&quot;&gt;&lt;mfrac&gt;&lt;mn&gt;46&lt;/mn&gt;&lt;mn&gt;5&lt;/mn&gt;&lt;/mfrac&gt;&lt;/math&gt;" id="1359" name="Google Shape;1359;p94" title="46 over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8600" y="4162750"/>
            <a:ext cx="267517" cy="48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6}{5}&quot;&gt;&lt;mfrac&gt;&lt;mn&gt;116&lt;/mn&gt;&lt;mn&gt;5&lt;/mn&gt;&lt;/mfrac&gt;&lt;/math&gt;" id="1360" name="Google Shape;1360;p94" title="116 over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8235" y="3924674"/>
            <a:ext cx="380873" cy="48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4}{5}&quot;&gt;&lt;mfrac&gt;&lt;mn&gt;124&lt;/mn&gt;&lt;mn&gt;5&lt;/mn&gt;&lt;/mfrac&gt;&lt;/math&gt;" id="1361" name="Google Shape;1361;p94" title="124 over 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74399" y="3925163"/>
            <a:ext cx="380875" cy="484114"/>
          </a:xfrm>
          <a:prstGeom prst="rect">
            <a:avLst/>
          </a:prstGeom>
          <a:noFill/>
          <a:ln>
            <a:noFill/>
          </a:ln>
        </p:spPr>
      </p:pic>
      <p:sp>
        <p:nvSpPr>
          <p:cNvPr id="1362" name="Google Shape;1362;p94"/>
          <p:cNvSpPr txBox="1"/>
          <p:nvPr/>
        </p:nvSpPr>
        <p:spPr>
          <a:xfrm>
            <a:off x="439675" y="4069775"/>
            <a:ext cx="12450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between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3" name="Google Shape;1363;p94"/>
          <p:cNvSpPr txBox="1"/>
          <p:nvPr/>
        </p:nvSpPr>
        <p:spPr>
          <a:xfrm>
            <a:off x="1952325" y="4069775"/>
            <a:ext cx="19218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10.7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94"/>
          <p:cNvSpPr txBox="1"/>
          <p:nvPr/>
        </p:nvSpPr>
        <p:spPr>
          <a:xfrm>
            <a:off x="3657300" y="3811046"/>
            <a:ext cx="32820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between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5" name="Google Shape;1365;p94"/>
          <p:cNvSpPr txBox="1"/>
          <p:nvPr/>
        </p:nvSpPr>
        <p:spPr>
          <a:xfrm>
            <a:off x="5188100" y="3811050"/>
            <a:ext cx="1903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p95"/>
          <p:cNvSpPr/>
          <p:nvPr/>
        </p:nvSpPr>
        <p:spPr>
          <a:xfrm>
            <a:off x="7126225" y="1755675"/>
            <a:ext cx="1352400" cy="2251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95"/>
          <p:cNvSpPr/>
          <p:nvPr/>
        </p:nvSpPr>
        <p:spPr>
          <a:xfrm>
            <a:off x="3622500" y="1465500"/>
            <a:ext cx="3351600" cy="3244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2" name="Google Shape;1372;p95"/>
          <p:cNvSpPr/>
          <p:nvPr/>
        </p:nvSpPr>
        <p:spPr>
          <a:xfrm>
            <a:off x="270900" y="1465500"/>
            <a:ext cx="3351600" cy="3244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3" name="Google Shape;1373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numbers to improper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10\frac{3}{5}\\&amp;#13;&amp;#10;24\frac{5}{7}\\&amp;#13;&amp;#10;3\frac{1}{2}\end{array}&quot;&gt;&lt;mtable columnalign=&quot;left&quot; columnspacing=&quot;1em&quot; rowspacing=&quot;4pt&quot;&gt;&lt;mtr&gt;&lt;mtd&gt;&lt;mn&gt;10&lt;/mn&gt;&lt;mfrac&gt;&lt;mn&gt;3&lt;/mn&gt;&lt;mn&gt;5&lt;/mn&gt;&lt;/mfrac&gt;&lt;/mtd&gt;&lt;/mtr&gt;&lt;mtr&gt;&lt;mtd&gt;&lt;mn&gt;24&lt;/mn&gt;&lt;mfrac&gt;&lt;mn&gt;5&lt;/mn&gt;&lt;mn&gt;7&lt;/mn&gt;&lt;/mfrac&gt;&lt;/mtd&gt;&lt;/mtr&gt;&lt;mtr&gt;&lt;mtd&gt;&lt;mn&gt;3&lt;/mn&gt;&lt;mfrac&gt;&lt;mn&gt;1&lt;/mn&gt;&lt;mn&gt;2&lt;/mn&gt;&lt;/mfrac&gt;&lt;/mtd&gt;&lt;/mtr&gt;&lt;/mtable&gt;&lt;/math&gt;" id="1374" name="Google Shape;1374;p95" title="3 lines Line 1: 10 and three fifths Line 2: 24 and five sevenths Line 3: 3 and one half"/>
          <p:cNvPicPr preferRelativeResize="0"/>
          <p:nvPr/>
        </p:nvPicPr>
        <p:blipFill rotWithShape="1">
          <a:blip r:embed="rId3">
            <a:alphaModFix/>
          </a:blip>
          <a:srcRect b="68911" l="0" r="0" t="0"/>
          <a:stretch/>
        </p:blipFill>
        <p:spPr>
          <a:xfrm>
            <a:off x="1502025" y="1577125"/>
            <a:ext cx="962025" cy="926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3}{5}\\&amp;#13;&amp;#10;24\frac{5}{7}\\&amp;#13;&amp;#10;3\frac{1}{2}\end{array}&quot;&gt;&lt;mtable columnalign=&quot;left&quot; columnspacing=&quot;1em&quot; rowspacing=&quot;4pt&quot;&gt;&lt;mtr&gt;&lt;mtd&gt;&lt;mn&gt;10&lt;/mn&gt;&lt;mfrac&gt;&lt;mn&gt;3&lt;/mn&gt;&lt;mn&gt;5&lt;/mn&gt;&lt;/mfrac&gt;&lt;/mtd&gt;&lt;/mtr&gt;&lt;mtr&gt;&lt;mtd&gt;&lt;mn&gt;24&lt;/mn&gt;&lt;mfrac&gt;&lt;mn&gt;5&lt;/mn&gt;&lt;mn&gt;7&lt;/mn&gt;&lt;/mfrac&gt;&lt;/mtd&gt;&lt;/mtr&gt;&lt;mtr&gt;&lt;mtd&gt;&lt;mn&gt;3&lt;/mn&gt;&lt;mfrac&gt;&lt;mn&gt;1&lt;/mn&gt;&lt;mn&gt;2&lt;/mn&gt;&lt;/mfrac&gt;&lt;/mtd&gt;&lt;/mtr&gt;&lt;/mtable&gt;&lt;/math&gt;" id="1375" name="Google Shape;1375;p95" title="3 lines Line 1: 10 and three fifths Line 2: 24 and five sevenths Line 3: 3 and one half"/>
          <p:cNvPicPr preferRelativeResize="0"/>
          <p:nvPr/>
        </p:nvPicPr>
        <p:blipFill rotWithShape="1">
          <a:blip r:embed="rId3">
            <a:alphaModFix/>
          </a:blip>
          <a:srcRect b="34455" l="-5775" r="0" t="34455"/>
          <a:stretch/>
        </p:blipFill>
        <p:spPr>
          <a:xfrm>
            <a:off x="4713025" y="1544175"/>
            <a:ext cx="1017625" cy="92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6" name="Google Shape;1376;p95"/>
          <p:cNvSpPr txBox="1"/>
          <p:nvPr/>
        </p:nvSpPr>
        <p:spPr>
          <a:xfrm>
            <a:off x="439675" y="2393370"/>
            <a:ext cx="3282000" cy="16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integer is even.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numerator and denominator of the proper fraction are both odd and prime numbers.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mixed number is between         and 10.7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7" name="Google Shape;1377;p95"/>
          <p:cNvSpPr txBox="1"/>
          <p:nvPr/>
        </p:nvSpPr>
        <p:spPr>
          <a:xfrm>
            <a:off x="7328425" y="1838475"/>
            <a:ext cx="1150200" cy="20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Write your own mixed number with clues.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6}{5}&quot;&gt;&lt;mfrac&gt;&lt;mn&gt;46&lt;/mn&gt;&lt;mn&gt;5&lt;/mn&gt;&lt;/mfrac&gt;&lt;/math&gt;" id="1378" name="Google Shape;1378;p95" title="46 over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4800" y="4162750"/>
            <a:ext cx="267517" cy="48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9" name="Google Shape;1379;p95"/>
          <p:cNvSpPr txBox="1"/>
          <p:nvPr/>
        </p:nvSpPr>
        <p:spPr>
          <a:xfrm>
            <a:off x="3657288" y="2439445"/>
            <a:ext cx="3282000" cy="16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integer is even.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As an improper fraction the numerator is 173.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denominator is odd.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mixed number is between         and 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16}{5}&quot;&gt;&lt;mfrac&gt;&lt;mn&gt;116&lt;/mn&gt;&lt;mn&gt;5&lt;/mn&gt;&lt;/mfrac&gt;&lt;/math&gt;" id="1380" name="Google Shape;1380;p95" title="116 over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7235" y="3924674"/>
            <a:ext cx="380873" cy="48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4}{5}&quot;&gt;&lt;mfrac&gt;&lt;mn&gt;124&lt;/mn&gt;&lt;mn&gt;5&lt;/mn&gt;&lt;/mfrac&gt;&lt;/math&gt;" id="1381" name="Google Shape;1381;p95" title="124 over 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74399" y="3925163"/>
            <a:ext cx="380875" cy="484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2" name="Google Shape;1382;p9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23925" y="2022900"/>
            <a:ext cx="380875" cy="4165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3" name="Google Shape;1383;p95"/>
          <p:cNvGrpSpPr/>
          <p:nvPr/>
        </p:nvGrpSpPr>
        <p:grpSpPr>
          <a:xfrm>
            <a:off x="4748227" y="1607866"/>
            <a:ext cx="1049144" cy="865350"/>
            <a:chOff x="4748227" y="1607866"/>
            <a:chExt cx="1049144" cy="865350"/>
          </a:xfrm>
        </p:grpSpPr>
        <p:sp>
          <p:nvSpPr>
            <p:cNvPr id="1384" name="Google Shape;1384;p95"/>
            <p:cNvSpPr/>
            <p:nvPr/>
          </p:nvSpPr>
          <p:spPr>
            <a:xfrm>
              <a:off x="4748227" y="1609449"/>
              <a:ext cx="596700" cy="862200"/>
            </a:xfrm>
            <a:prstGeom prst="rect">
              <a:avLst/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5" name="Google Shape;1385;p95"/>
            <p:cNvSpPr/>
            <p:nvPr/>
          </p:nvSpPr>
          <p:spPr>
            <a:xfrm>
              <a:off x="5416371" y="1607866"/>
              <a:ext cx="381000" cy="337200"/>
            </a:xfrm>
            <a:prstGeom prst="rect">
              <a:avLst/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6" name="Google Shape;1386;p95"/>
            <p:cNvSpPr/>
            <p:nvPr/>
          </p:nvSpPr>
          <p:spPr>
            <a:xfrm>
              <a:off x="5416371" y="2136016"/>
              <a:ext cx="381000" cy="337200"/>
            </a:xfrm>
            <a:prstGeom prst="rect">
              <a:avLst/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87" name="Google Shape;1387;p95"/>
          <p:cNvSpPr txBox="1"/>
          <p:nvPr>
            <p:ph idx="1" type="body"/>
          </p:nvPr>
        </p:nvSpPr>
        <p:spPr>
          <a:xfrm>
            <a:off x="324000" y="650250"/>
            <a:ext cx="8237700" cy="92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3"/>
            </a:pPr>
            <a:r>
              <a:rPr lang="en-GB"/>
              <a:t>Can you work out the mixed number given the clues for the integer and proper fraction?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96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 as improper fractions</a:t>
            </a:r>
            <a:endParaRPr/>
          </a:p>
        </p:txBody>
      </p:sp>
      <p:sp>
        <p:nvSpPr>
          <p:cNvPr id="1393" name="Google Shape;1393;p96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numbers to improper fractions</a:t>
            </a:r>
            <a:endParaRPr/>
          </a:p>
        </p:txBody>
      </p:sp>
      <p:sp>
        <p:nvSpPr>
          <p:cNvPr id="1394" name="Google Shape;1394;p96"/>
          <p:cNvSpPr txBox="1"/>
          <p:nvPr>
            <p:ph idx="4" type="title"/>
          </p:nvPr>
        </p:nvSpPr>
        <p:spPr>
          <a:xfrm>
            <a:off x="324000" y="657600"/>
            <a:ext cx="81048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converting mixed numbers to improper fractions</a:t>
            </a:r>
            <a:endParaRPr/>
          </a:p>
        </p:txBody>
      </p:sp>
      <p:sp>
        <p:nvSpPr>
          <p:cNvPr id="1395" name="Google Shape;1395;p96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mixed numbers and improper fractions</a:t>
            </a:r>
            <a:endParaRPr/>
          </a:p>
        </p:txBody>
      </p:sp>
      <p:pic>
        <p:nvPicPr>
          <p:cNvPr id="1396" name="Google Shape;1396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125" y="37004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97"/>
          <p:cNvSpPr txBox="1"/>
          <p:nvPr>
            <p:ph idx="1" type="body"/>
          </p:nvPr>
        </p:nvSpPr>
        <p:spPr>
          <a:xfrm>
            <a:off x="324000" y="8355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Being able to convert mixed numbers into improper fractions and vice versa is important.</a:t>
            </a:r>
            <a:endParaRPr/>
          </a:p>
        </p:txBody>
      </p:sp>
      <p:sp>
        <p:nvSpPr>
          <p:cNvPr id="1402" name="Google Shape;1402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mixed numbers and improper fractions</a:t>
            </a:r>
            <a:endParaRPr/>
          </a:p>
        </p:txBody>
      </p:sp>
      <p:sp>
        <p:nvSpPr>
          <p:cNvPr id="1403" name="Google Shape;1403;p97"/>
          <p:cNvSpPr txBox="1"/>
          <p:nvPr>
            <p:ph idx="1" type="body"/>
          </p:nvPr>
        </p:nvSpPr>
        <p:spPr>
          <a:xfrm>
            <a:off x="324000" y="1857850"/>
            <a:ext cx="8237700" cy="119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When the numbers are converted, it makes them easier to </a:t>
            </a:r>
            <a:r>
              <a:rPr lang="en-GB">
                <a:solidFill>
                  <a:schemeClr val="accent2"/>
                </a:solidFill>
              </a:rPr>
              <a:t>order</a:t>
            </a:r>
            <a:r>
              <a:rPr lang="en-GB"/>
              <a:t> or </a:t>
            </a:r>
            <a:r>
              <a:rPr lang="en-GB">
                <a:solidFill>
                  <a:schemeClr val="accent2"/>
                </a:solidFill>
              </a:rPr>
              <a:t>use in real life context.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mixed numbers and improper fractions</a:t>
            </a:r>
            <a:endParaRPr/>
          </a:p>
        </p:txBody>
      </p:sp>
      <p:pic>
        <p:nvPicPr>
          <p:cNvPr id="1409" name="Google Shape;1409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604" y="1815077"/>
            <a:ext cx="581686" cy="1098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0" name="Google Shape;1410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4327" y="1756154"/>
            <a:ext cx="1084689" cy="1049689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98"/>
          <p:cNvSpPr txBox="1"/>
          <p:nvPr/>
        </p:nvSpPr>
        <p:spPr>
          <a:xfrm>
            <a:off x="774600" y="2805844"/>
            <a:ext cx="279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Aisha</a:t>
            </a:r>
            <a:endParaRPr/>
          </a:p>
        </p:txBody>
      </p:sp>
      <p:sp>
        <p:nvSpPr>
          <p:cNvPr id="1412" name="Google Shape;1412;p98"/>
          <p:cNvSpPr txBox="1"/>
          <p:nvPr/>
        </p:nvSpPr>
        <p:spPr>
          <a:xfrm>
            <a:off x="6544878" y="2805844"/>
            <a:ext cx="141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Izzy</a:t>
            </a:r>
            <a:endParaRPr/>
          </a:p>
        </p:txBody>
      </p:sp>
      <p:sp>
        <p:nvSpPr>
          <p:cNvPr id="1413" name="Google Shape;1413;p98"/>
          <p:cNvSpPr txBox="1"/>
          <p:nvPr>
            <p:ph idx="1" type="body"/>
          </p:nvPr>
        </p:nvSpPr>
        <p:spPr>
          <a:xfrm>
            <a:off x="283800" y="3300550"/>
            <a:ext cx="80724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Who is correct? Explain.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7\frac{3}{4}\ \ \ \ \frac{35}{2}=17\frac{1}{2}&quot;&gt;&lt;mn&gt;17&lt;/mn&gt;&lt;mfrac&gt;&lt;mn&gt;3&lt;/mn&gt;&lt;mn&gt;4&lt;/mn&gt;&lt;/mfrac&gt;&lt;mtext&gt;&lt;/mtext&gt;&lt;mtext&gt;&lt;/mtext&gt;&lt;mtext&gt;&lt;/mtext&gt;&lt;mtext&gt;&lt;/mtext&gt;&lt;mfrac&gt;&lt;mn&gt;35&lt;/mn&gt;&lt;mn&gt;2&lt;/mn&gt;&lt;/mfrac&gt;&lt;mo&gt;=&lt;/mo&gt;&lt;mn&gt;17&lt;/mn&gt;&lt;mfrac&gt;&lt;mn&gt;1&lt;/mn&gt;&lt;mn&gt;2&lt;/mn&gt;&lt;/mfrac&gt;&lt;/math&gt;" id="1414" name="Google Shape;1414;p98" title="17 and three fourths 35 over 2 equals 17 and one half"/>
          <p:cNvPicPr preferRelativeResize="0"/>
          <p:nvPr/>
        </p:nvPicPr>
        <p:blipFill rotWithShape="1">
          <a:blip r:embed="rId5">
            <a:alphaModFix/>
          </a:blip>
          <a:srcRect b="10" l="-1488" r="74516" t="-3884"/>
          <a:stretch/>
        </p:blipFill>
        <p:spPr>
          <a:xfrm>
            <a:off x="406650" y="3751225"/>
            <a:ext cx="600347" cy="674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5" name="Google Shape;1415;p98"/>
          <p:cNvPicPr preferRelativeResize="0"/>
          <p:nvPr/>
        </p:nvPicPr>
        <p:blipFill rotWithShape="1">
          <a:blip r:embed="rId6">
            <a:alphaModFix/>
          </a:blip>
          <a:srcRect b="0" l="0" r="69082" t="56280"/>
          <a:stretch/>
        </p:blipFill>
        <p:spPr>
          <a:xfrm flipH="1">
            <a:off x="1605210" y="1395849"/>
            <a:ext cx="1824573" cy="1228273"/>
          </a:xfrm>
          <a:prstGeom prst="rect">
            <a:avLst/>
          </a:prstGeom>
          <a:noFill/>
          <a:ln>
            <a:noFill/>
          </a:ln>
        </p:spPr>
      </p:pic>
      <p:sp>
        <p:nvSpPr>
          <p:cNvPr id="1416" name="Google Shape;1416;p98"/>
          <p:cNvSpPr txBox="1"/>
          <p:nvPr/>
        </p:nvSpPr>
        <p:spPr>
          <a:xfrm>
            <a:off x="1837359" y="1633514"/>
            <a:ext cx="13602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7" name="Google Shape;1417;p98"/>
          <p:cNvPicPr preferRelativeResize="0"/>
          <p:nvPr/>
        </p:nvPicPr>
        <p:blipFill rotWithShape="1">
          <a:blip r:embed="rId6">
            <a:alphaModFix/>
          </a:blip>
          <a:srcRect b="0" l="0" r="69082" t="56280"/>
          <a:stretch/>
        </p:blipFill>
        <p:spPr>
          <a:xfrm>
            <a:off x="4318203" y="1395849"/>
            <a:ext cx="1824573" cy="1228273"/>
          </a:xfrm>
          <a:prstGeom prst="rect">
            <a:avLst/>
          </a:prstGeom>
          <a:noFill/>
          <a:ln>
            <a:noFill/>
          </a:ln>
        </p:spPr>
      </p:pic>
      <p:sp>
        <p:nvSpPr>
          <p:cNvPr id="1418" name="Google Shape;1418;p98"/>
          <p:cNvSpPr txBox="1"/>
          <p:nvPr/>
        </p:nvSpPr>
        <p:spPr>
          <a:xfrm>
            <a:off x="4574008" y="1633525"/>
            <a:ext cx="13602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7\frac{3}{4}&amp;lt;\frac{35}{2}&quot;&gt;&lt;mn&gt;17&lt;/mn&gt;&lt;mfrac&gt;&lt;mn&gt;3&lt;/mn&gt;&lt;mn&gt;4&lt;/mn&gt;&lt;/mfrac&gt;&lt;mo&gt;&amp;lt;&lt;/mo&gt;&lt;mfrac&gt;&lt;mn&gt;35&lt;/mn&gt;&lt;mn&gt;2&lt;/mn&gt;&lt;/mfrac&gt;&lt;/math&gt;" id="1419" name="Google Shape;1419;p98" title="17 and three fourths is less than 35 over 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4002" y="1703017"/>
            <a:ext cx="1260172" cy="6139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7\frac{3}{4}&amp;gt;\frac{35}{2}&quot;&gt;&lt;mn&gt;17&lt;/mn&gt;&lt;mfrac&gt;&lt;mn&gt;3&lt;/mn&gt;&lt;mn&gt;4&lt;/mn&gt;&lt;/mfrac&gt;&lt;mo&gt;&amp;gt;&lt;/mo&gt;&lt;mfrac&gt;&lt;mn&gt;35&lt;/mn&gt;&lt;mn&gt;2&lt;/mn&gt;&lt;/mfrac&gt;&lt;/math&gt;" id="1420" name="Google Shape;1420;p98" title="17 and three fourths is greater than 35 over 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887395" y="1633514"/>
            <a:ext cx="1260194" cy="613937"/>
          </a:xfrm>
          <a:prstGeom prst="rect">
            <a:avLst/>
          </a:prstGeom>
          <a:noFill/>
          <a:ln>
            <a:noFill/>
          </a:ln>
        </p:spPr>
      </p:pic>
      <p:sp>
        <p:nvSpPr>
          <p:cNvPr id="1421" name="Google Shape;1421;p98"/>
          <p:cNvSpPr txBox="1"/>
          <p:nvPr/>
        </p:nvSpPr>
        <p:spPr>
          <a:xfrm>
            <a:off x="1864350" y="3849900"/>
            <a:ext cx="4355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Making a common denominator we have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17\frac{3}{4}\ \ \ \ \frac{35}{2}=17\frac{1}{2}&quot;&gt;&lt;mn&gt;17&lt;/mn&gt;&lt;mfrac&gt;&lt;mn&gt;3&lt;/mn&gt;&lt;mn&gt;4&lt;/mn&gt;&lt;/mfrac&gt;&lt;mtext&gt;&lt;/mtext&gt;&lt;mtext&gt;&lt;/mtext&gt;&lt;mtext&gt;&lt;/mtext&gt;&lt;mtext&gt;&lt;/mtext&gt;&lt;mfrac&gt;&lt;mn&gt;35&lt;/mn&gt;&lt;mn&gt;2&lt;/mn&gt;&lt;/mfrac&gt;&lt;mo&gt;=&lt;/mo&gt;&lt;mn&gt;17&lt;/mn&gt;&lt;mfrac&gt;&lt;mn&gt;1&lt;/mn&gt;&lt;mn&gt;2&lt;/mn&gt;&lt;/mfrac&gt;&lt;/math&gt;" id="1422" name="Google Shape;1422;p98" title="17 and three fourths 35 over 2 equals 17 and one half"/>
          <p:cNvPicPr preferRelativeResize="0"/>
          <p:nvPr/>
        </p:nvPicPr>
        <p:blipFill rotWithShape="1">
          <a:blip r:embed="rId5">
            <a:alphaModFix/>
          </a:blip>
          <a:srcRect b="0" l="58311" r="23963" t="0"/>
          <a:stretch/>
        </p:blipFill>
        <p:spPr>
          <a:xfrm>
            <a:off x="972409" y="3776404"/>
            <a:ext cx="394520" cy="6491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1}{4}\ \ \ \ \frac{35.2}{2}&quot;&gt;&lt;mfrac&gt;&lt;mn&gt;71&lt;/mn&gt;&lt;mn&gt;4&lt;/mn&gt;&lt;/mfrac&gt;&lt;mtext&gt;&lt;/mtext&gt;&lt;mtext&gt;&lt;/mtext&gt;&lt;mtext&gt;&lt;/mtext&gt;&lt;mtext&gt;&lt;/mtext&gt;&lt;mfrac&gt;&lt;mn&gt;35.2&lt;/mn&gt;&lt;mn&gt;2&lt;/mn&gt;&lt;/mfrac&gt;&lt;/math&gt;" id="1423" name="Google Shape;1423;p98" title="71 over 4 35.2 over 2"/>
          <p:cNvPicPr preferRelativeResize="0"/>
          <p:nvPr/>
        </p:nvPicPr>
        <p:blipFill rotWithShape="1">
          <a:blip r:embed="rId9">
            <a:alphaModFix/>
          </a:blip>
          <a:srcRect b="0" l="0" r="62171" t="0"/>
          <a:stretch/>
        </p:blipFill>
        <p:spPr>
          <a:xfrm>
            <a:off x="1340719" y="3791609"/>
            <a:ext cx="523631" cy="6743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5}{2}=\frac{70}{4}\ \ \ \ \ \ 17\frac{3}{4}=\frac{71}{4}\ \ \ \ \ &quot;&gt;&lt;mfrac&gt;&lt;mn&gt;35&lt;/mn&gt;&lt;mn&gt;2&lt;/mn&gt;&lt;/mfrac&gt;&lt;mo&gt;=&lt;/mo&gt;&lt;mfrac&gt;&lt;mn&gt;70&lt;/mn&gt;&lt;mn&gt;4&lt;/mn&gt;&lt;/mfrac&gt;&lt;mtext&gt;&lt;/mtext&gt;&lt;mtext&gt;&lt;/mtext&gt;&lt;mtext&gt;&lt;/mtext&gt;&lt;mtext&gt;&lt;/mtext&gt;&lt;mtext&gt;&lt;/mtext&gt;&lt;mtext&gt;&lt;/mtext&gt;&lt;mn&gt;17&lt;/mn&gt;&lt;mfrac&gt;&lt;mn&gt;3&lt;/mn&gt;&lt;mn&gt;4&lt;/mn&gt;&lt;/mfrac&gt;&lt;mo&gt;=&lt;/mo&gt;&lt;mfrac&gt;&lt;mn&gt;71&lt;/mn&gt;&lt;mn&gt;4&lt;/mn&gt;&lt;/mfrac&gt;&lt;mtext&gt;&lt;/mtext&gt;&lt;mtext&gt;&lt;/mtext&gt;&lt;mtext&gt;&lt;/mtext&gt;&lt;mtext&gt;&lt;/mtext&gt;&lt;mtext&gt;&lt;/mtext&gt;&lt;/math&gt;" id="1424" name="Google Shape;1424;p98" title="35 over 2 equals 70 over 4 17 and three fourths equals 71 over 4"/>
          <p:cNvPicPr preferRelativeResize="0"/>
          <p:nvPr/>
        </p:nvPicPr>
        <p:blipFill rotWithShape="1">
          <a:blip r:embed="rId10">
            <a:alphaModFix/>
          </a:blip>
          <a:srcRect b="0" l="0" r="56303" t="0"/>
          <a:stretch/>
        </p:blipFill>
        <p:spPr>
          <a:xfrm>
            <a:off x="6274968" y="3751225"/>
            <a:ext cx="1257775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5" name="Google Shape;1425;p98"/>
          <p:cNvSpPr txBox="1"/>
          <p:nvPr/>
        </p:nvSpPr>
        <p:spPr>
          <a:xfrm>
            <a:off x="1887400" y="4326900"/>
            <a:ext cx="205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Aisha is correct.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426" name="Google Shape;1426;p9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24000" y="726000"/>
            <a:ext cx="5084625" cy="697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mixed numbers and improper fractions</a:t>
            </a:r>
            <a:endParaRPr/>
          </a:p>
        </p:txBody>
      </p:sp>
      <p:sp>
        <p:nvSpPr>
          <p:cNvPr id="1432" name="Google Shape;1432;p99"/>
          <p:cNvSpPr txBox="1"/>
          <p:nvPr>
            <p:ph idx="1" type="body"/>
          </p:nvPr>
        </p:nvSpPr>
        <p:spPr>
          <a:xfrm>
            <a:off x="324000" y="1830700"/>
            <a:ext cx="8237700" cy="119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If a bus has 80 seats and there were 247 people, what would the calculation be to work out how many buses are needed?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47}{80}=3\frac{7}{80}&quot;&gt;&lt;mfrac&gt;&lt;mn&gt;247&lt;/mn&gt;&lt;mn&gt;80&lt;/mn&gt;&lt;/mfrac&gt;&lt;mo&gt;=&lt;/mo&gt;&lt;mn&gt;3&lt;/mn&gt;&lt;mfrac&gt;&lt;mn&gt;7&lt;/mn&gt;&lt;mn&gt;80&lt;/mn&gt;&lt;/mfrac&gt;&lt;/math&gt;" id="1433" name="Google Shape;1433;p99" title="247 over 80 equals 3 and 7 over 80"/>
          <p:cNvPicPr preferRelativeResize="0"/>
          <p:nvPr/>
        </p:nvPicPr>
        <p:blipFill rotWithShape="1">
          <a:blip r:embed="rId3">
            <a:alphaModFix/>
          </a:blip>
          <a:srcRect b="0" l="0" r="59591" t="0"/>
          <a:stretch/>
        </p:blipFill>
        <p:spPr>
          <a:xfrm>
            <a:off x="3709543" y="2860300"/>
            <a:ext cx="697025" cy="75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4" name="Google Shape;1434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2262" y="724450"/>
            <a:ext cx="1461175" cy="9952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5" name="Google Shape;1435;p99"/>
          <p:cNvGrpSpPr/>
          <p:nvPr/>
        </p:nvGrpSpPr>
        <p:grpSpPr>
          <a:xfrm>
            <a:off x="324000" y="3900975"/>
            <a:ext cx="8237700" cy="523200"/>
            <a:chOff x="324000" y="3900975"/>
            <a:chExt cx="8237700" cy="523200"/>
          </a:xfrm>
        </p:grpSpPr>
        <p:sp>
          <p:nvSpPr>
            <p:cNvPr id="1436" name="Google Shape;1436;p99"/>
            <p:cNvSpPr txBox="1"/>
            <p:nvPr/>
          </p:nvSpPr>
          <p:spPr>
            <a:xfrm>
              <a:off x="324000" y="3900975"/>
              <a:ext cx="8237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Therefore we need 4 buses as we cannot have      of a bus.</a:t>
              </a:r>
              <a:endParaRPr>
                <a:latin typeface="Kalam"/>
                <a:ea typeface="Kalam"/>
                <a:cs typeface="Kalam"/>
                <a:sym typeface="Kalam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247}{80}=3\frac{7}{80}&quot;&gt;&lt;mfrac&gt;&lt;mn&gt;247&lt;/mn&gt;&lt;mn&gt;80&lt;/mn&gt;&lt;/mfrac&gt;&lt;mo&gt;=&lt;/mo&gt;&lt;mn&gt;3&lt;/mn&gt;&lt;mfrac&gt;&lt;mn&gt;7&lt;/mn&gt;&lt;mn&gt;80&lt;/mn&gt;&lt;/mfrac&gt;&lt;/math&gt;" id="1437" name="Google Shape;1437;p99" title="247 over 80 equals 3 and 7 over 80"/>
            <p:cNvPicPr preferRelativeResize="0"/>
            <p:nvPr/>
          </p:nvPicPr>
          <p:blipFill rotWithShape="1">
            <a:blip r:embed="rId3">
              <a:alphaModFix/>
            </a:blip>
            <a:srcRect b="0" l="75293" r="0" t="0"/>
            <a:stretch/>
          </p:blipFill>
          <p:spPr>
            <a:xfrm>
              <a:off x="6157050" y="3900975"/>
              <a:ext cx="316325" cy="5232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math xmlns=&quot;http://www.w3.org/1998/Math/MathML&quot; display=&quot;block&quot; data-is-equatio=&quot;1&quot; data-latex=&quot;\frac{247}{80}=3\frac{7}{80}&quot;&gt;&lt;mfrac&gt;&lt;mn&gt;247&lt;/mn&gt;&lt;mn&gt;80&lt;/mn&gt;&lt;/mfrac&gt;&lt;mo&gt;=&lt;/mo&gt;&lt;mn&gt;3&lt;/mn&gt;&lt;mfrac&gt;&lt;mn&gt;7&lt;/mn&gt;&lt;mn&gt;80&lt;/mn&gt;&lt;/mfrac&gt;&lt;/math&gt;" id="1438" name="Google Shape;1438;p99" title="247 over 80 equals 3 and 7 over 80"/>
          <p:cNvPicPr preferRelativeResize="0"/>
          <p:nvPr/>
        </p:nvPicPr>
        <p:blipFill rotWithShape="1">
          <a:blip r:embed="rId3">
            <a:alphaModFix/>
          </a:blip>
          <a:srcRect b="0" l="42879" r="0" t="0"/>
          <a:stretch/>
        </p:blipFill>
        <p:spPr>
          <a:xfrm>
            <a:off x="4320000" y="2860300"/>
            <a:ext cx="985300" cy="75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100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</a:t>
            </a:r>
            <a:r>
              <a:rPr lang="en-GB"/>
              <a:t>) Insert the symbol &lt;, &gt; or = to make the following statements true.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100"/>
          <p:cNvSpPr txBox="1"/>
          <p:nvPr/>
        </p:nvSpPr>
        <p:spPr>
          <a:xfrm>
            <a:off x="324000" y="1680850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5" name="Google Shape;1445;p100"/>
          <p:cNvSpPr txBox="1"/>
          <p:nvPr/>
        </p:nvSpPr>
        <p:spPr>
          <a:xfrm>
            <a:off x="324000" y="2449200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6" name="Google Shape;1446;p100"/>
          <p:cNvSpPr txBox="1"/>
          <p:nvPr/>
        </p:nvSpPr>
        <p:spPr>
          <a:xfrm>
            <a:off x="324000" y="3141350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100"/>
          <p:cNvSpPr txBox="1"/>
          <p:nvPr/>
        </p:nvSpPr>
        <p:spPr>
          <a:xfrm>
            <a:off x="324000" y="3909700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3}{4}=3\frac{1}{4}\\&amp;#13;&amp;#10;\frac{24}{5}&amp;lt;5\frac{1}{5}\\&amp;#13;&amp;#10;\frac{92}{4}&amp;gt;22\frac{1}{4}\\&amp;#13;&amp;#10;\frac{9}{2}&amp;gt;\frac{25}{6}\end{array}&quot;&gt;&lt;mtable columnalign=&quot;left&quot; columnspacing=&quot;1em&quot; rowspacing=&quot;4pt&quot;&gt;&lt;mtr&gt;&lt;mtd&gt;&lt;mfrac&gt;&lt;mn&gt;13&lt;/mn&gt;&lt;mn&gt;4&lt;/mn&gt;&lt;/mfrac&gt;&lt;mo&gt;=&lt;/mo&gt;&lt;mn&gt;3&lt;/mn&gt;&lt;mfrac&gt;&lt;mn&gt;1&lt;/mn&gt;&lt;mn&gt;4&lt;/mn&gt;&lt;/mfrac&gt;&lt;/mtd&gt;&lt;/mtr&gt;&lt;mtr&gt;&lt;mtd&gt;&lt;mfrac&gt;&lt;mn&gt;24&lt;/mn&gt;&lt;mn&gt;5&lt;/mn&gt;&lt;/mfrac&gt;&lt;mo&gt;&amp;lt;&lt;/mo&gt;&lt;mn&gt;5&lt;/mn&gt;&lt;mfrac&gt;&lt;mn&gt;1&lt;/mn&gt;&lt;mn&gt;5&lt;/mn&gt;&lt;/mfrac&gt;&lt;/mtd&gt;&lt;/mtr&gt;&lt;mtr&gt;&lt;mtd&gt;&lt;mfrac&gt;&lt;mn&gt;92&lt;/mn&gt;&lt;mn&gt;4&lt;/mn&gt;&lt;/mfrac&gt;&lt;mo&gt;&amp;gt;&lt;/mo&gt;&lt;mn&gt;22&lt;/mn&gt;&lt;mfrac&gt;&lt;mn&gt;1&lt;/mn&gt;&lt;mn&gt;4&lt;/mn&gt;&lt;/mfrac&gt;&lt;/mtd&gt;&lt;/mtr&gt;&lt;mtr&gt;&lt;mtd&gt;&lt;mfrac&gt;&lt;mn&gt;9&lt;/mn&gt;&lt;mn&gt;2&lt;/mn&gt;&lt;/mfrac&gt;&lt;mo&gt;&amp;gt;&lt;/mo&gt;&lt;mfrac&gt;&lt;mn&gt;25&lt;/mn&gt;&lt;mn&gt;6&lt;/mn&gt;&lt;/mfrac&gt;&lt;/mtd&gt;&lt;/mtr&gt;&lt;/mtable&gt;&lt;/math&gt;" id="1448" name="Google Shape;1448;p100" title="4 lines Line 1: thirteen fourths equals 3 and one fourth Line 2: 24 over 5 is less than 5 and one fifth Line 3: 92 over 4 is greater than 22 and one fourth Line 4: nine halves is greater than 25 over 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6475" y="1680850"/>
            <a:ext cx="1596650" cy="27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9" name="Google Shape;1449;p100"/>
          <p:cNvSpPr/>
          <p:nvPr/>
        </p:nvSpPr>
        <p:spPr>
          <a:xfrm>
            <a:off x="1403100" y="1736151"/>
            <a:ext cx="281700" cy="464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0" name="Google Shape;1450;p100"/>
          <p:cNvSpPr/>
          <p:nvPr/>
        </p:nvSpPr>
        <p:spPr>
          <a:xfrm>
            <a:off x="1403100" y="2467951"/>
            <a:ext cx="281700" cy="464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1" name="Google Shape;1451;p100"/>
          <p:cNvSpPr/>
          <p:nvPr/>
        </p:nvSpPr>
        <p:spPr>
          <a:xfrm>
            <a:off x="1403100" y="3240001"/>
            <a:ext cx="281700" cy="464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2" name="Google Shape;1452;p100"/>
          <p:cNvSpPr/>
          <p:nvPr/>
        </p:nvSpPr>
        <p:spPr>
          <a:xfrm>
            <a:off x="1229825" y="3960376"/>
            <a:ext cx="281700" cy="464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3" name="Google Shape;1453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mixed numbers and improper fractions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mixed numbers and improper fractions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101"/>
          <p:cNvSpPr txBox="1"/>
          <p:nvPr/>
        </p:nvSpPr>
        <p:spPr>
          <a:xfrm>
            <a:off x="324000" y="3495575"/>
            <a:ext cx="82746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lphaLcParenR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many fence panels are needed?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lphaLcParenR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total cost?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0" name="Google Shape;1460;p101"/>
          <p:cNvSpPr txBox="1"/>
          <p:nvPr>
            <p:ph idx="1" type="body"/>
          </p:nvPr>
        </p:nvSpPr>
        <p:spPr>
          <a:xfrm>
            <a:off x="3963900" y="717775"/>
            <a:ext cx="4856100" cy="114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2) Two gardeners are putting a fence around a rectangular garden.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One gardener measures the length to be</a:t>
            </a:r>
            <a:endParaRPr sz="2300"/>
          </a:p>
        </p:txBody>
      </p:sp>
      <p:pic>
        <p:nvPicPr>
          <p:cNvPr descr="&lt;math xmlns=&quot;http://www.w3.org/1998/Math/MathML&quot; display=&quot;block&quot; data-is-equatio=&quot;1&quot; data-latex=&quot;4\frac{1}{5}m\ \ \ \ \frac{49}{4}&quot;&gt;&lt;mn&gt;4&lt;/mn&gt;&lt;mfrac&gt;&lt;mn&gt;1&lt;/mn&gt;&lt;mn&gt;5&lt;/mn&gt;&lt;/mfrac&gt;&lt;mi&gt;m&lt;/mi&gt;&lt;mtext&gt;&lt;/mtext&gt;&lt;mtext&gt;&lt;/mtext&gt;&lt;mtext&gt;&lt;/mtext&gt;&lt;mtext&gt;&lt;/mtext&gt;&lt;mfrac&gt;&lt;mn&gt;49&lt;/mn&gt;&lt;mn&gt;4&lt;/mn&gt;&lt;/mfrac&gt;&lt;/math&gt;" id="1461" name="Google Shape;1461;p101" title="4 and one fifth m 49 over 4"/>
          <p:cNvPicPr preferRelativeResize="0"/>
          <p:nvPr/>
        </p:nvPicPr>
        <p:blipFill rotWithShape="1">
          <a:blip r:embed="rId3">
            <a:alphaModFix/>
          </a:blip>
          <a:srcRect b="0" l="0" r="68630" t="0"/>
          <a:stretch/>
        </p:blipFill>
        <p:spPr>
          <a:xfrm>
            <a:off x="5676325" y="2377474"/>
            <a:ext cx="351875" cy="540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\frac{1}{5}m\ \ \ \ \frac{49}{5}&quot;&gt;&lt;mn&gt;4&lt;/mn&gt;&lt;mfrac&gt;&lt;mn&gt;1&lt;/mn&gt;&lt;mn&gt;5&lt;/mn&gt;&lt;/mfrac&gt;&lt;mi&gt;m&lt;/mi&gt;&lt;mtext&gt;&lt;/mtext&gt;&lt;mtext&gt;&lt;/mtext&gt;&lt;mtext&gt;&lt;/mtext&gt;&lt;mtext&gt;&lt;/mtext&gt;&lt;mfrac&gt;&lt;mn&gt;49&lt;/mn&gt;&lt;mn&gt;5&lt;/mn&gt;&lt;/mfrac&gt;&lt;/math&gt;" id="1462" name="Google Shape;1462;p101" title="4 and one fifth m 49 over 5"/>
          <p:cNvPicPr preferRelativeResize="0"/>
          <p:nvPr/>
        </p:nvPicPr>
        <p:blipFill rotWithShape="1">
          <a:blip r:embed="rId4">
            <a:alphaModFix/>
          </a:blip>
          <a:srcRect b="0" l="71714" r="0" t="0"/>
          <a:stretch/>
        </p:blipFill>
        <p:spPr>
          <a:xfrm>
            <a:off x="3963900" y="1832324"/>
            <a:ext cx="351875" cy="599953"/>
          </a:xfrm>
          <a:prstGeom prst="rect">
            <a:avLst/>
          </a:prstGeom>
          <a:noFill/>
          <a:ln>
            <a:noFill/>
          </a:ln>
        </p:spPr>
      </p:pic>
      <p:sp>
        <p:nvSpPr>
          <p:cNvPr id="1463" name="Google Shape;1463;p101"/>
          <p:cNvSpPr/>
          <p:nvPr/>
        </p:nvSpPr>
        <p:spPr>
          <a:xfrm>
            <a:off x="1088575" y="891950"/>
            <a:ext cx="2611800" cy="1641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64" name="Google Shape;1464;p1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6019" y="1169648"/>
            <a:ext cx="401127" cy="503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5" name="Google Shape;1465;p1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15624" y="1729128"/>
            <a:ext cx="401127" cy="503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6" name="Google Shape;1466;p10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47147" y="1380971"/>
            <a:ext cx="808713" cy="5769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\frac{1}{5}m\ \ \ \ \frac{49}{4}&quot;&gt;&lt;mn&gt;4&lt;/mn&gt;&lt;mfrac&gt;&lt;mn&gt;1&lt;/mn&gt;&lt;mn&gt;5&lt;/mn&gt;&lt;/mfrac&gt;&lt;mi&gt;m&lt;/mi&gt;&lt;mtext&gt;&lt;/mtext&gt;&lt;mtext&gt;&lt;/mtext&gt;&lt;mtext&gt;&lt;/mtext&gt;&lt;mtext&gt;&lt;/mtext&gt;&lt;mfrac&gt;&lt;mn&gt;49&lt;/mn&gt;&lt;mn&gt;4&lt;/mn&gt;&lt;/mfrac&gt;&lt;/math&gt;" id="1467" name="Google Shape;1467;p101" title="4 and one fifth m 49 over 4"/>
          <p:cNvPicPr preferRelativeResize="0"/>
          <p:nvPr/>
        </p:nvPicPr>
        <p:blipFill rotWithShape="1">
          <a:blip r:embed="rId3">
            <a:alphaModFix/>
          </a:blip>
          <a:srcRect b="0" l="0" r="68630" t="0"/>
          <a:stretch/>
        </p:blipFill>
        <p:spPr>
          <a:xfrm>
            <a:off x="323025" y="1361075"/>
            <a:ext cx="401125" cy="616684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101"/>
          <p:cNvSpPr txBox="1"/>
          <p:nvPr/>
        </p:nvSpPr>
        <p:spPr>
          <a:xfrm>
            <a:off x="604450" y="1415463"/>
            <a:ext cx="475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/>
          </a:p>
        </p:txBody>
      </p:sp>
      <p:sp>
        <p:nvSpPr>
          <p:cNvPr id="1469" name="Google Shape;1469;p101"/>
          <p:cNvSpPr txBox="1"/>
          <p:nvPr/>
        </p:nvSpPr>
        <p:spPr>
          <a:xfrm>
            <a:off x="2606600" y="2570100"/>
            <a:ext cx="475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4\frac{1}{5}m\ \ \ \ \frac{49}{5}&quot;&gt;&lt;mn&gt;4&lt;/mn&gt;&lt;mfrac&gt;&lt;mn&gt;1&lt;/mn&gt;&lt;mn&gt;5&lt;/mn&gt;&lt;/mfrac&gt;&lt;mi&gt;m&lt;/mi&gt;&lt;mtext&gt;&lt;/mtext&gt;&lt;mtext&gt;&lt;/mtext&gt;&lt;mtext&gt;&lt;/mtext&gt;&lt;mtext&gt;&lt;/mtext&gt;&lt;mfrac&gt;&lt;mn&gt;49&lt;/mn&gt;&lt;mn&gt;5&lt;/mn&gt;&lt;/mfrac&gt;&lt;/math&gt;" id="1470" name="Google Shape;1470;p101" title="4 and one fifth m 49 over 5"/>
          <p:cNvPicPr preferRelativeResize="0"/>
          <p:nvPr/>
        </p:nvPicPr>
        <p:blipFill rotWithShape="1">
          <a:blip r:embed="rId4">
            <a:alphaModFix/>
          </a:blip>
          <a:srcRect b="0" l="71714" r="0" t="0"/>
          <a:stretch/>
        </p:blipFill>
        <p:spPr>
          <a:xfrm>
            <a:off x="2275562" y="2600287"/>
            <a:ext cx="351875" cy="599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1" name="Google Shape;1471;p1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10841" y="1957728"/>
            <a:ext cx="401127" cy="503039"/>
          </a:xfrm>
          <a:prstGeom prst="rect">
            <a:avLst/>
          </a:prstGeom>
          <a:noFill/>
          <a:ln>
            <a:noFill/>
          </a:ln>
        </p:spPr>
      </p:pic>
      <p:sp>
        <p:nvSpPr>
          <p:cNvPr id="1472" name="Google Shape;1472;p101"/>
          <p:cNvSpPr txBox="1"/>
          <p:nvPr>
            <p:ph idx="1" type="body"/>
          </p:nvPr>
        </p:nvSpPr>
        <p:spPr>
          <a:xfrm>
            <a:off x="4344900" y="1958050"/>
            <a:ext cx="4856100" cy="3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m  and the other gardener measures</a:t>
            </a:r>
            <a:endParaRPr sz="2300"/>
          </a:p>
        </p:txBody>
      </p:sp>
      <p:sp>
        <p:nvSpPr>
          <p:cNvPr id="1473" name="Google Shape;1473;p101"/>
          <p:cNvSpPr txBox="1"/>
          <p:nvPr>
            <p:ph idx="1" type="body"/>
          </p:nvPr>
        </p:nvSpPr>
        <p:spPr>
          <a:xfrm>
            <a:off x="3963900" y="2470375"/>
            <a:ext cx="4686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</a:t>
            </a:r>
            <a:endParaRPr sz="2300"/>
          </a:p>
        </p:txBody>
      </p:sp>
      <p:sp>
        <p:nvSpPr>
          <p:cNvPr id="1474" name="Google Shape;1474;p101"/>
          <p:cNvSpPr txBox="1"/>
          <p:nvPr>
            <p:ph idx="1" type="body"/>
          </p:nvPr>
        </p:nvSpPr>
        <p:spPr>
          <a:xfrm>
            <a:off x="3963900" y="2927575"/>
            <a:ext cx="48561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Fence panels cost £22 per m.</a:t>
            </a:r>
            <a:endParaRPr sz="2300"/>
          </a:p>
        </p:txBody>
      </p:sp>
      <p:sp>
        <p:nvSpPr>
          <p:cNvPr id="1475" name="Google Shape;1475;p101"/>
          <p:cNvSpPr txBox="1"/>
          <p:nvPr>
            <p:ph idx="1" type="body"/>
          </p:nvPr>
        </p:nvSpPr>
        <p:spPr>
          <a:xfrm>
            <a:off x="4377400" y="2470375"/>
            <a:ext cx="6783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width</a:t>
            </a:r>
            <a:endParaRPr sz="2300"/>
          </a:p>
        </p:txBody>
      </p:sp>
      <p:sp>
        <p:nvSpPr>
          <p:cNvPr id="1476" name="Google Shape;1476;p101"/>
          <p:cNvSpPr txBox="1"/>
          <p:nvPr>
            <p:ph idx="1" type="body"/>
          </p:nvPr>
        </p:nvSpPr>
        <p:spPr>
          <a:xfrm>
            <a:off x="5055650" y="2470375"/>
            <a:ext cx="2943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to</a:t>
            </a:r>
            <a:endParaRPr sz="2300"/>
          </a:p>
        </p:txBody>
      </p:sp>
      <p:sp>
        <p:nvSpPr>
          <p:cNvPr id="1477" name="Google Shape;1477;p101"/>
          <p:cNvSpPr txBox="1"/>
          <p:nvPr>
            <p:ph idx="1" type="body"/>
          </p:nvPr>
        </p:nvSpPr>
        <p:spPr>
          <a:xfrm>
            <a:off x="5328725" y="2470375"/>
            <a:ext cx="4365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be       </a:t>
            </a:r>
            <a:endParaRPr sz="2300"/>
          </a:p>
        </p:txBody>
      </p:sp>
      <p:sp>
        <p:nvSpPr>
          <p:cNvPr id="1478" name="Google Shape;1478;p101"/>
          <p:cNvSpPr txBox="1"/>
          <p:nvPr>
            <p:ph idx="1" type="body"/>
          </p:nvPr>
        </p:nvSpPr>
        <p:spPr>
          <a:xfrm>
            <a:off x="6104400" y="2470375"/>
            <a:ext cx="2943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m. </a:t>
            </a:r>
            <a:endParaRPr sz="23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10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The following have been put in ascending order.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mixed number is above and the equivalent improper fraction is below.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Fill in the gaps.</a:t>
            </a:r>
            <a:endParaRPr sz="1800"/>
          </a:p>
        </p:txBody>
      </p:sp>
      <p:sp>
        <p:nvSpPr>
          <p:cNvPr id="1484" name="Google Shape;1484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mixed numbers and improper fractions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1\frac{1}{2}\ \ ,\ \ \ 2\frac{3}{4}\ \ ,\ \ \ 5\frac{1}{10}\ \ ,\ \ 5\frac{3}{4}\ \ ,\ \ 20\frac{1}{2}\\&amp;#13;&amp;#10;\frac{3}{2}\ \ \ \ ,\ \ \ \frac{11}{4}\ \ \ ,\ \ \ \frac{51}{10}\ \ \ ,\ \ \frac{23}{4}\ \ \ ,\ \ \frac{41}{2}\\&amp;#13;&amp;#10;\\&amp;#13;&amp;#10;2\ \frac{2}{3}\ \ ,\ \ \ 4\frac{4}{5}\ \ ,\ \ 4\frac{9}{10}\ \ ,\ \ 5\frac{1}{3}\ \ ,\ \ 10\frac{2}{5}\\&amp;#13;&amp;#10;\frac{8}{3}\ \ \ \ \ ,\ \ \ \frac{24}{5}\ \ ,\ \ \frac{49}{10}\ \ \ \ ,\ \ \frac{16}{3}\ \ \ ,\ \ \ \frac{50}{2}\end{array}&quot;&gt;&lt;mtable columnalign=&quot;left&quot; columnspacing=&quot;1em&quot; rowspacing=&quot;4pt&quot;&gt;&lt;mtr&gt;&lt;mtd&gt;&lt;mn&gt;1&lt;/mn&gt;&lt;mfrac&gt;&lt;mn&gt;1&lt;/mn&gt;&lt;mn&gt;2&lt;/mn&gt;&lt;/mfrac&gt;&lt;mtext&gt;&lt;/mtext&gt;&lt;mtext&gt;&lt;/mtext&gt;&lt;mo&gt;,&lt;/mo&gt;&lt;mtext&gt;&lt;/mtext&gt;&lt;mtext&gt;&lt;/mtext&gt;&lt;mtext&gt;&lt;/mtext&gt;&lt;mn&gt;2&lt;/mn&gt;&lt;mfrac&gt;&lt;mn&gt;3&lt;/mn&gt;&lt;mn&gt;4&lt;/mn&gt;&lt;/mfrac&gt;&lt;mtext&gt;&lt;/mtext&gt;&lt;mtext&gt;&lt;/mtext&gt;&lt;mo&gt;,&lt;/mo&gt;&lt;mtext&gt;&lt;/mtext&gt;&lt;mtext&gt;&lt;/mtext&gt;&lt;mtext&gt;&lt;/mtext&gt;&lt;mn&gt;5&lt;/mn&gt;&lt;mfrac&gt;&lt;mn&gt;1&lt;/mn&gt;&lt;mn&gt;10&lt;/mn&gt;&lt;/mfrac&gt;&lt;mtext&gt;&lt;/mtext&gt;&lt;mtext&gt;&lt;/mtext&gt;&lt;mo&gt;,&lt;/mo&gt;&lt;mtext&gt;&lt;/mtext&gt;&lt;mtext&gt;&lt;/mtext&gt;&lt;mn&gt;5&lt;/mn&gt;&lt;mfrac&gt;&lt;mn&gt;3&lt;/mn&gt;&lt;mn&gt;4&lt;/mn&gt;&lt;/mfrac&gt;&lt;mtext&gt;&lt;/mtext&gt;&lt;mtext&gt;&lt;/mtext&gt;&lt;mo&gt;,&lt;/mo&gt;&lt;mtext&gt;&lt;/mtext&gt;&lt;mtext&gt;&lt;/mtext&gt;&lt;mn&gt;20&lt;/mn&gt;&lt;mfrac&gt;&lt;mn&gt;1&lt;/mn&gt;&lt;mn&gt;2&lt;/mn&gt;&lt;/mfrac&gt;&lt;/mtd&gt;&lt;/mtr&gt;&lt;mtr&gt;&lt;mtd&gt;&lt;mfrac&gt;&lt;mn&gt;3&lt;/mn&gt;&lt;mn&gt;2&lt;/mn&gt;&lt;/mfrac&gt;&lt;mtext&gt;&lt;/mtext&gt;&lt;mtext&gt;&lt;/mtext&gt;&lt;mtext&gt;&lt;/mtext&gt;&lt;mtext&gt;&lt;/mtext&gt;&lt;mo&gt;,&lt;/mo&gt;&lt;mtext&gt;&lt;/mtext&gt;&lt;mtext&gt;&lt;/mtext&gt;&lt;mtext&gt;&lt;/mtext&gt;&lt;mfrac&gt;&lt;mn&gt;11&lt;/mn&gt;&lt;mn&gt;4&lt;/mn&gt;&lt;/mfrac&gt;&lt;mtext&gt;&lt;/mtext&gt;&lt;mtext&gt;&lt;/mtext&gt;&lt;mtext&gt;&lt;/mtext&gt;&lt;mo&gt;,&lt;/mo&gt;&lt;mtext&gt;&lt;/mtext&gt;&lt;mtext&gt;&lt;/mtext&gt;&lt;mtext&gt;&lt;/mtext&gt;&lt;mfrac&gt;&lt;mn&gt;51&lt;/mn&gt;&lt;mn&gt;10&lt;/mn&gt;&lt;/mfrac&gt;&lt;mtext&gt;&lt;/mtext&gt;&lt;mtext&gt;&lt;/mtext&gt;&lt;mtext&gt;&lt;/mtext&gt;&lt;mo&gt;,&lt;/mo&gt;&lt;mtext&gt;&lt;/mtext&gt;&lt;mtext&gt;&lt;/mtext&gt;&lt;mfrac&gt;&lt;mn&gt;23&lt;/mn&gt;&lt;mn&gt;4&lt;/mn&gt;&lt;/mfrac&gt;&lt;mtext&gt;&lt;/mtext&gt;&lt;mtext&gt;&lt;/mtext&gt;&lt;mtext&gt;&lt;/mtext&gt;&lt;mo&gt;,&lt;/mo&gt;&lt;mtext&gt;&lt;/mtext&gt;&lt;mtext&gt;&lt;/mtext&gt;&lt;mfrac&gt;&lt;mn&gt;41&lt;/mn&gt;&lt;mn&gt;2&lt;/mn&gt;&lt;/mfrac&gt;&lt;/mtd&gt;&lt;/mtr&gt;&lt;mtr&gt;&lt;mtd/&gt;&lt;/mtr&gt;&lt;mtr&gt;&lt;mtd&gt;&lt;mn&gt;2&lt;/mn&gt;&lt;mtext&gt;&lt;/mtext&gt;&lt;mfrac&gt;&lt;mn&gt;2&lt;/mn&gt;&lt;mn&gt;3&lt;/mn&gt;&lt;/mfrac&gt;&lt;mtext&gt;&lt;/mtext&gt;&lt;mtext&gt;&lt;/mtext&gt;&lt;mo&gt;,&lt;/mo&gt;&lt;mtext&gt;&lt;/mtext&gt;&lt;mtext&gt;&lt;/mtext&gt;&lt;mtext&gt;&lt;/mtext&gt;&lt;mn&gt;4&lt;/mn&gt;&lt;mfrac&gt;&lt;mn&gt;4&lt;/mn&gt;&lt;mn&gt;5&lt;/mn&gt;&lt;/mfrac&gt;&lt;mtext&gt;&lt;/mtext&gt;&lt;mtext&gt;&lt;/mtext&gt;&lt;mo&gt;,&lt;/mo&gt;&lt;mtext&gt;&lt;/mtext&gt;&lt;mtext&gt;&lt;/mtext&gt;&lt;mn&gt;4&lt;/mn&gt;&lt;mfrac&gt;&lt;mn&gt;9&lt;/mn&gt;&lt;mn&gt;10&lt;/mn&gt;&lt;/mfrac&gt;&lt;mtext&gt;&lt;/mtext&gt;&lt;mtext&gt;&lt;/mtext&gt;&lt;mo&gt;,&lt;/mo&gt;&lt;mtext&gt;&lt;/mtext&gt;&lt;mtext&gt;&lt;/mtext&gt;&lt;mn&gt;5&lt;/mn&gt;&lt;mfrac&gt;&lt;mn&gt;1&lt;/mn&gt;&lt;mn&gt;3&lt;/mn&gt;&lt;/mfrac&gt;&lt;mtext&gt;&lt;/mtext&gt;&lt;mtext&gt;&lt;/mtext&gt;&lt;mo&gt;,&lt;/mo&gt;&lt;mtext&gt;&lt;/mtext&gt;&lt;mtext&gt;&lt;/mtext&gt;&lt;mn&gt;10&lt;/mn&gt;&lt;mfrac&gt;&lt;mn&gt;2&lt;/mn&gt;&lt;mn&gt;5&lt;/mn&gt;&lt;/mfrac&gt;&lt;/mtd&gt;&lt;/mtr&gt;&lt;mtr&gt;&lt;mtd&gt;&lt;mfrac&gt;&lt;mn&gt;8&lt;/mn&gt;&lt;mn&gt;3&lt;/mn&gt;&lt;/mfrac&gt;&lt;mtext&gt;&lt;/mtext&gt;&lt;mtext&gt;&lt;/mtext&gt;&lt;mtext&gt;&lt;/mtext&gt;&lt;mtext&gt;&lt;/mtext&gt;&lt;mtext&gt;&lt;/mtext&gt;&lt;mo&gt;,&lt;/mo&gt;&lt;mtext&gt;&lt;/mtext&gt;&lt;mtext&gt;&lt;/mtext&gt;&lt;mtext&gt;&lt;/mtext&gt;&lt;mfrac&gt;&lt;mn&gt;24&lt;/mn&gt;&lt;mn&gt;5&lt;/mn&gt;&lt;/mfrac&gt;&lt;mtext&gt;&lt;/mtext&gt;&lt;mtext&gt;&lt;/mtext&gt;&lt;mo&gt;,&lt;/mo&gt;&lt;mtext&gt;&lt;/mtext&gt;&lt;mtext&gt;&lt;/mtext&gt;&lt;mfrac&gt;&lt;mn&gt;49&lt;/mn&gt;&lt;mn&gt;10&lt;/mn&gt;&lt;/mfrac&gt;&lt;mtext&gt;&lt;/mtext&gt;&lt;mtext&gt;&lt;/mtext&gt;&lt;mtext&gt;&lt;/mtext&gt;&lt;mtext&gt;&lt;/mtext&gt;&lt;mo&gt;,&lt;/mo&gt;&lt;mtext&gt;&lt;/mtext&gt;&lt;mtext&gt;&lt;/mtext&gt;&lt;mfrac&gt;&lt;mn&gt;16&lt;/mn&gt;&lt;mn&gt;3&lt;/mn&gt;&lt;/mfrac&gt;&lt;mtext&gt;&lt;/mtext&gt;&lt;mtext&gt;&lt;/mtext&gt;&lt;mtext&gt;&lt;/mtext&gt;&lt;mo&gt;,&lt;/mo&gt;&lt;mtext&gt;&lt;/mtext&gt;&lt;mtext&gt;&lt;/mtext&gt;&lt;mtext&gt;&lt;/mtext&gt;&lt;mfrac&gt;&lt;mn&gt;50&lt;/mn&gt;&lt;mn&gt;2&lt;/mn&gt;&lt;/mfrac&gt;&lt;/mtd&gt;&lt;/mtr&gt;&lt;/mtable&gt;&lt;/math&gt;" id="1485" name="Google Shape;1485;p102" title="5 lines Line 1: 1 and one half comma 2 and three fourths comma 5 and one tenth comma 5 and three fourths comma 20 and one half Line 2: three halves comma eleven fourths comma 51 over 10 comma 23 over 4 comma 41 over 2 Line 3: blank Line 4: 2 two thirds comma 4 and four fifths comma 4 and nine tenths comma 5 and one third comma 10 and two fifths Line 5: eight thirds comma 24 over 5 comma 49 over 10 comma sixteen thirds comma 50 over 2"/>
          <p:cNvPicPr preferRelativeResize="0"/>
          <p:nvPr/>
        </p:nvPicPr>
        <p:blipFill rotWithShape="1">
          <a:blip r:embed="rId3">
            <a:alphaModFix/>
          </a:blip>
          <a:srcRect b="57266" l="0" r="0" t="0"/>
          <a:stretch/>
        </p:blipFill>
        <p:spPr>
          <a:xfrm>
            <a:off x="2721300" y="1781600"/>
            <a:ext cx="4653824" cy="124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6" name="Google Shape;1486;p102"/>
          <p:cNvSpPr txBox="1"/>
          <p:nvPr/>
        </p:nvSpPr>
        <p:spPr>
          <a:xfrm>
            <a:off x="2171100" y="1730625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7" name="Google Shape;1487;p102"/>
          <p:cNvSpPr txBox="1"/>
          <p:nvPr/>
        </p:nvSpPr>
        <p:spPr>
          <a:xfrm>
            <a:off x="2171100" y="3418300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8" name="Google Shape;1488;p102"/>
          <p:cNvSpPr/>
          <p:nvPr/>
        </p:nvSpPr>
        <p:spPr>
          <a:xfrm>
            <a:off x="2206725" y="1626000"/>
            <a:ext cx="5491800" cy="1457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9" name="Google Shape;1489;p102"/>
          <p:cNvSpPr/>
          <p:nvPr/>
        </p:nvSpPr>
        <p:spPr>
          <a:xfrm>
            <a:off x="2206725" y="3287100"/>
            <a:ext cx="5491800" cy="1457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1\frac{1}{2}\ \ ,\ \ \ 2\frac{3}{4}\ \ ,\ \ \ 5\frac{1}{10}\ \ ,\ \ 5\frac{3}{4}\ \ ,\ \ 20\frac{1}{2}\\&amp;#13;&amp;#10;\frac{3}{2}\ \ \ \ ,\ \ \ \frac{11}{4}\ \ \ ,\ \ \ \frac{51}{10}\ \ \ ,\ \ \frac{23}{4}\ \ \ ,\ \ \frac{41}{2}\\&amp;#13;&amp;#10;\\&amp;#13;&amp;#10;2\ \frac{2}{3}\ \ ,\ \ \ 4\frac{4}{5}\ \ ,\ \ 4\frac{9}{10}\ \ ,\ \ 5\frac{1}{3}\ \ ,\ \ 10\frac{2}{5}\\&amp;#13;&amp;#10;\frac{8}{3}\ \ \ \ \ ,\ \ \ \frac{24}{5}\ \ ,\ \ \frac{49}{10}\ \ \ \ ,\ \ \frac{16}{3}\ \ \ ,\ \ \ \frac{50}{2}\end{array}&quot;&gt;&lt;mtable columnalign=&quot;left&quot; columnspacing=&quot;1em&quot; rowspacing=&quot;4pt&quot;&gt;&lt;mtr&gt;&lt;mtd&gt;&lt;mn&gt;1&lt;/mn&gt;&lt;mfrac&gt;&lt;mn&gt;1&lt;/mn&gt;&lt;mn&gt;2&lt;/mn&gt;&lt;/mfrac&gt;&lt;mtext&gt;&lt;/mtext&gt;&lt;mtext&gt;&lt;/mtext&gt;&lt;mo&gt;,&lt;/mo&gt;&lt;mtext&gt;&lt;/mtext&gt;&lt;mtext&gt;&lt;/mtext&gt;&lt;mtext&gt;&lt;/mtext&gt;&lt;mn&gt;2&lt;/mn&gt;&lt;mfrac&gt;&lt;mn&gt;3&lt;/mn&gt;&lt;mn&gt;4&lt;/mn&gt;&lt;/mfrac&gt;&lt;mtext&gt;&lt;/mtext&gt;&lt;mtext&gt;&lt;/mtext&gt;&lt;mo&gt;,&lt;/mo&gt;&lt;mtext&gt;&lt;/mtext&gt;&lt;mtext&gt;&lt;/mtext&gt;&lt;mtext&gt;&lt;/mtext&gt;&lt;mn&gt;5&lt;/mn&gt;&lt;mfrac&gt;&lt;mn&gt;1&lt;/mn&gt;&lt;mn&gt;10&lt;/mn&gt;&lt;/mfrac&gt;&lt;mtext&gt;&lt;/mtext&gt;&lt;mtext&gt;&lt;/mtext&gt;&lt;mo&gt;,&lt;/mo&gt;&lt;mtext&gt;&lt;/mtext&gt;&lt;mtext&gt;&lt;/mtext&gt;&lt;mn&gt;5&lt;/mn&gt;&lt;mfrac&gt;&lt;mn&gt;3&lt;/mn&gt;&lt;mn&gt;4&lt;/mn&gt;&lt;/mfrac&gt;&lt;mtext&gt;&lt;/mtext&gt;&lt;mtext&gt;&lt;/mtext&gt;&lt;mo&gt;,&lt;/mo&gt;&lt;mtext&gt;&lt;/mtext&gt;&lt;mtext&gt;&lt;/mtext&gt;&lt;mn&gt;20&lt;/mn&gt;&lt;mfrac&gt;&lt;mn&gt;1&lt;/mn&gt;&lt;mn&gt;2&lt;/mn&gt;&lt;/mfrac&gt;&lt;/mtd&gt;&lt;/mtr&gt;&lt;mtr&gt;&lt;mtd&gt;&lt;mfrac&gt;&lt;mn&gt;3&lt;/mn&gt;&lt;mn&gt;2&lt;/mn&gt;&lt;/mfrac&gt;&lt;mtext&gt;&lt;/mtext&gt;&lt;mtext&gt;&lt;/mtext&gt;&lt;mtext&gt;&lt;/mtext&gt;&lt;mtext&gt;&lt;/mtext&gt;&lt;mo&gt;,&lt;/mo&gt;&lt;mtext&gt;&lt;/mtext&gt;&lt;mtext&gt;&lt;/mtext&gt;&lt;mtext&gt;&lt;/mtext&gt;&lt;mfrac&gt;&lt;mn&gt;11&lt;/mn&gt;&lt;mn&gt;4&lt;/mn&gt;&lt;/mfrac&gt;&lt;mtext&gt;&lt;/mtext&gt;&lt;mtext&gt;&lt;/mtext&gt;&lt;mtext&gt;&lt;/mtext&gt;&lt;mo&gt;,&lt;/mo&gt;&lt;mtext&gt;&lt;/mtext&gt;&lt;mtext&gt;&lt;/mtext&gt;&lt;mtext&gt;&lt;/mtext&gt;&lt;mfrac&gt;&lt;mn&gt;51&lt;/mn&gt;&lt;mn&gt;10&lt;/mn&gt;&lt;/mfrac&gt;&lt;mtext&gt;&lt;/mtext&gt;&lt;mtext&gt;&lt;/mtext&gt;&lt;mtext&gt;&lt;/mtext&gt;&lt;mo&gt;,&lt;/mo&gt;&lt;mtext&gt;&lt;/mtext&gt;&lt;mtext&gt;&lt;/mtext&gt;&lt;mfrac&gt;&lt;mn&gt;23&lt;/mn&gt;&lt;mn&gt;4&lt;/mn&gt;&lt;/mfrac&gt;&lt;mtext&gt;&lt;/mtext&gt;&lt;mtext&gt;&lt;/mtext&gt;&lt;mtext&gt;&lt;/mtext&gt;&lt;mo&gt;,&lt;/mo&gt;&lt;mtext&gt;&lt;/mtext&gt;&lt;mtext&gt;&lt;/mtext&gt;&lt;mfrac&gt;&lt;mn&gt;41&lt;/mn&gt;&lt;mn&gt;2&lt;/mn&gt;&lt;/mfrac&gt;&lt;/mtd&gt;&lt;/mtr&gt;&lt;mtr&gt;&lt;mtd/&gt;&lt;/mtr&gt;&lt;mtr&gt;&lt;mtd&gt;&lt;mn&gt;2&lt;/mn&gt;&lt;mtext&gt;&lt;/mtext&gt;&lt;mfrac&gt;&lt;mn&gt;2&lt;/mn&gt;&lt;mn&gt;3&lt;/mn&gt;&lt;/mfrac&gt;&lt;mtext&gt;&lt;/mtext&gt;&lt;mtext&gt;&lt;/mtext&gt;&lt;mo&gt;,&lt;/mo&gt;&lt;mtext&gt;&lt;/mtext&gt;&lt;mtext&gt;&lt;/mtext&gt;&lt;mtext&gt;&lt;/mtext&gt;&lt;mn&gt;4&lt;/mn&gt;&lt;mfrac&gt;&lt;mn&gt;4&lt;/mn&gt;&lt;mn&gt;5&lt;/mn&gt;&lt;/mfrac&gt;&lt;mtext&gt;&lt;/mtext&gt;&lt;mtext&gt;&lt;/mtext&gt;&lt;mo&gt;,&lt;/mo&gt;&lt;mtext&gt;&lt;/mtext&gt;&lt;mtext&gt;&lt;/mtext&gt;&lt;mn&gt;4&lt;/mn&gt;&lt;mfrac&gt;&lt;mn&gt;9&lt;/mn&gt;&lt;mn&gt;10&lt;/mn&gt;&lt;/mfrac&gt;&lt;mtext&gt;&lt;/mtext&gt;&lt;mtext&gt;&lt;/mtext&gt;&lt;mo&gt;,&lt;/mo&gt;&lt;mtext&gt;&lt;/mtext&gt;&lt;mtext&gt;&lt;/mtext&gt;&lt;mn&gt;5&lt;/mn&gt;&lt;mfrac&gt;&lt;mn&gt;1&lt;/mn&gt;&lt;mn&gt;3&lt;/mn&gt;&lt;/mfrac&gt;&lt;mtext&gt;&lt;/mtext&gt;&lt;mtext&gt;&lt;/mtext&gt;&lt;mo&gt;,&lt;/mo&gt;&lt;mtext&gt;&lt;/mtext&gt;&lt;mtext&gt;&lt;/mtext&gt;&lt;mn&gt;10&lt;/mn&gt;&lt;mfrac&gt;&lt;mn&gt;2&lt;/mn&gt;&lt;mn&gt;5&lt;/mn&gt;&lt;/mfrac&gt;&lt;/mtd&gt;&lt;/mtr&gt;&lt;mtr&gt;&lt;mtd&gt;&lt;mfrac&gt;&lt;mn&gt;8&lt;/mn&gt;&lt;mn&gt;3&lt;/mn&gt;&lt;/mfrac&gt;&lt;mtext&gt;&lt;/mtext&gt;&lt;mtext&gt;&lt;/mtext&gt;&lt;mtext&gt;&lt;/mtext&gt;&lt;mtext&gt;&lt;/mtext&gt;&lt;mtext&gt;&lt;/mtext&gt;&lt;mo&gt;,&lt;/mo&gt;&lt;mtext&gt;&lt;/mtext&gt;&lt;mtext&gt;&lt;/mtext&gt;&lt;mtext&gt;&lt;/mtext&gt;&lt;mfrac&gt;&lt;mn&gt;24&lt;/mn&gt;&lt;mn&gt;5&lt;/mn&gt;&lt;/mfrac&gt;&lt;mtext&gt;&lt;/mtext&gt;&lt;mtext&gt;&lt;/mtext&gt;&lt;mo&gt;,&lt;/mo&gt;&lt;mtext&gt;&lt;/mtext&gt;&lt;mtext&gt;&lt;/mtext&gt;&lt;mfrac&gt;&lt;mn&gt;49&lt;/mn&gt;&lt;mn&gt;10&lt;/mn&gt;&lt;/mfrac&gt;&lt;mtext&gt;&lt;/mtext&gt;&lt;mtext&gt;&lt;/mtext&gt;&lt;mtext&gt;&lt;/mtext&gt;&lt;mtext&gt;&lt;/mtext&gt;&lt;mo&gt;,&lt;/mo&gt;&lt;mtext&gt;&lt;/mtext&gt;&lt;mtext&gt;&lt;/mtext&gt;&lt;mfrac&gt;&lt;mn&gt;16&lt;/mn&gt;&lt;mn&gt;3&lt;/mn&gt;&lt;/mfrac&gt;&lt;mtext&gt;&lt;/mtext&gt;&lt;mtext&gt;&lt;/mtext&gt;&lt;mtext&gt;&lt;/mtext&gt;&lt;mo&gt;,&lt;/mo&gt;&lt;mtext&gt;&lt;/mtext&gt;&lt;mtext&gt;&lt;/mtext&gt;&lt;mtext&gt;&lt;/mtext&gt;&lt;mfrac&gt;&lt;mn&gt;50&lt;/mn&gt;&lt;mn&gt;2&lt;/mn&gt;&lt;/mfrac&gt;&lt;/mtd&gt;&lt;/mtr&gt;&lt;/mtable&gt;&lt;/math&gt;" id="1490" name="Google Shape;1490;p102" title="5 lines Line 1: 1 and one half comma 2 and three fourths comma 5 and one tenth comma 5 and three fourths comma 20 and one half Line 2: three halves comma eleven fourths comma 51 over 10 comma 23 over 4 comma 41 over 2 Line 3: blank Line 4: 2 two thirds comma 4 and four fifths comma 4 and nine tenths comma 5 and one third comma 10 and two fifths Line 5: eight thirds comma 24 over 5 comma 49 over 10 comma sixteen thirds comma 50 over 2"/>
          <p:cNvPicPr preferRelativeResize="0"/>
          <p:nvPr/>
        </p:nvPicPr>
        <p:blipFill rotWithShape="1">
          <a:blip r:embed="rId3">
            <a:alphaModFix/>
          </a:blip>
          <a:srcRect b="-1889" l="-1417" r="12274" t="56133"/>
          <a:stretch/>
        </p:blipFill>
        <p:spPr>
          <a:xfrm>
            <a:off x="2604925" y="3342775"/>
            <a:ext cx="4148424" cy="133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1" name="Google Shape;1491;p102"/>
          <p:cNvSpPr/>
          <p:nvPr/>
        </p:nvSpPr>
        <p:spPr>
          <a:xfrm>
            <a:off x="3792333" y="2391550"/>
            <a:ext cx="314100" cy="503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2" name="Google Shape;1492;p102"/>
          <p:cNvSpPr/>
          <p:nvPr/>
        </p:nvSpPr>
        <p:spPr>
          <a:xfrm>
            <a:off x="4741150" y="1781600"/>
            <a:ext cx="585000" cy="503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3" name="Google Shape;1493;p102"/>
          <p:cNvSpPr/>
          <p:nvPr/>
        </p:nvSpPr>
        <p:spPr>
          <a:xfrm>
            <a:off x="5671800" y="2319900"/>
            <a:ext cx="585000" cy="575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4" name="Google Shape;1494;p102"/>
          <p:cNvSpPr/>
          <p:nvPr/>
        </p:nvSpPr>
        <p:spPr>
          <a:xfrm>
            <a:off x="6753342" y="1816150"/>
            <a:ext cx="406200" cy="443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5" name="Google Shape;1495;p102"/>
          <p:cNvSpPr/>
          <p:nvPr/>
        </p:nvSpPr>
        <p:spPr>
          <a:xfrm>
            <a:off x="6820250" y="2723825"/>
            <a:ext cx="314100" cy="304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6" name="Google Shape;1496;p102"/>
          <p:cNvSpPr/>
          <p:nvPr/>
        </p:nvSpPr>
        <p:spPr>
          <a:xfrm>
            <a:off x="2604918" y="3398500"/>
            <a:ext cx="585000" cy="575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7" name="Google Shape;1497;p102"/>
          <p:cNvSpPr/>
          <p:nvPr/>
        </p:nvSpPr>
        <p:spPr>
          <a:xfrm>
            <a:off x="3643918" y="3418300"/>
            <a:ext cx="585000" cy="575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8" name="Google Shape;1498;p102"/>
          <p:cNvSpPr/>
          <p:nvPr/>
        </p:nvSpPr>
        <p:spPr>
          <a:xfrm>
            <a:off x="4571996" y="3506100"/>
            <a:ext cx="342900" cy="337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9" name="Google Shape;1499;p102"/>
          <p:cNvSpPr/>
          <p:nvPr/>
        </p:nvSpPr>
        <p:spPr>
          <a:xfrm>
            <a:off x="4682934" y="3973900"/>
            <a:ext cx="342900" cy="337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0" name="Google Shape;1500;p102"/>
          <p:cNvSpPr/>
          <p:nvPr/>
        </p:nvSpPr>
        <p:spPr>
          <a:xfrm>
            <a:off x="4707825" y="4407000"/>
            <a:ext cx="314100" cy="304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1" name="Google Shape;1501;p102"/>
          <p:cNvSpPr/>
          <p:nvPr/>
        </p:nvSpPr>
        <p:spPr>
          <a:xfrm>
            <a:off x="6022988" y="3418300"/>
            <a:ext cx="342900" cy="575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1\frac{1}{2}\ \ ,\ \ \ 2\frac{3}{4}\ \ ,\ \ \ 5\frac{1}{10}\ \ ,\ \ 5\frac{3}{4}\ \ ,\ \ 20\frac{1}{2}\\&amp;#13;&amp;#10;\frac{3}{2}\ \ \ \ ,\ \ \ \frac{11}{4}\ \ \ ,\ \ \ \frac{51}{10}\ \ \ ,\ \ \frac{23}{4}\ \ \ ,\ \ \frac{41}{2}\\&amp;#13;&amp;#10;\\&amp;#13;&amp;#10;2\ \frac{2}{3}\ \ ,\ \ \ 4\frac{4}{5}\ \ ,\ \ 4\frac{9}{10}\ \ ,\ \ 5\frac{1}{3}\ \ ,\ \ 5\frac{2}{5}\\&amp;#13;&amp;#10;\frac{8}{3}\ \ \ \ \ ,\ \ \ \frac{24}{5}\ \ ,\ \ \frac{49}{10}\ \ \ \ ,\ \ \frac{16}{3}\ \ \ ,\ \ \ \frac{27}{5}\end{array}&quot;&gt;&lt;mtable columnalign=&quot;left&quot; columnspacing=&quot;1em&quot; rowspacing=&quot;4pt&quot;&gt;&lt;mtr&gt;&lt;mtd&gt;&lt;mn&gt;1&lt;/mn&gt;&lt;mfrac&gt;&lt;mn&gt;1&lt;/mn&gt;&lt;mn&gt;2&lt;/mn&gt;&lt;/mfrac&gt;&lt;mtext&gt;&lt;/mtext&gt;&lt;mtext&gt;&lt;/mtext&gt;&lt;mo&gt;,&lt;/mo&gt;&lt;mtext&gt;&lt;/mtext&gt;&lt;mtext&gt;&lt;/mtext&gt;&lt;mtext&gt;&lt;/mtext&gt;&lt;mn&gt;2&lt;/mn&gt;&lt;mfrac&gt;&lt;mn&gt;3&lt;/mn&gt;&lt;mn&gt;4&lt;/mn&gt;&lt;/mfrac&gt;&lt;mtext&gt;&lt;/mtext&gt;&lt;mtext&gt;&lt;/mtext&gt;&lt;mo&gt;,&lt;/mo&gt;&lt;mtext&gt;&lt;/mtext&gt;&lt;mtext&gt;&lt;/mtext&gt;&lt;mtext&gt;&lt;/mtext&gt;&lt;mn&gt;5&lt;/mn&gt;&lt;mfrac&gt;&lt;mn&gt;1&lt;/mn&gt;&lt;mn&gt;10&lt;/mn&gt;&lt;/mfrac&gt;&lt;mtext&gt;&lt;/mtext&gt;&lt;mtext&gt;&lt;/mtext&gt;&lt;mo&gt;,&lt;/mo&gt;&lt;mtext&gt;&lt;/mtext&gt;&lt;mtext&gt;&lt;/mtext&gt;&lt;mn&gt;5&lt;/mn&gt;&lt;mfrac&gt;&lt;mn&gt;3&lt;/mn&gt;&lt;mn&gt;4&lt;/mn&gt;&lt;/mfrac&gt;&lt;mtext&gt;&lt;/mtext&gt;&lt;mtext&gt;&lt;/mtext&gt;&lt;mo&gt;,&lt;/mo&gt;&lt;mtext&gt;&lt;/mtext&gt;&lt;mtext&gt;&lt;/mtext&gt;&lt;mn&gt;20&lt;/mn&gt;&lt;mfrac&gt;&lt;mn&gt;1&lt;/mn&gt;&lt;mn&gt;2&lt;/mn&gt;&lt;/mfrac&gt;&lt;/mtd&gt;&lt;/mtr&gt;&lt;mtr&gt;&lt;mtd&gt;&lt;mfrac&gt;&lt;mn&gt;3&lt;/mn&gt;&lt;mn&gt;2&lt;/mn&gt;&lt;/mfrac&gt;&lt;mtext&gt;&lt;/mtext&gt;&lt;mtext&gt;&lt;/mtext&gt;&lt;mtext&gt;&lt;/mtext&gt;&lt;mtext&gt;&lt;/mtext&gt;&lt;mo&gt;,&lt;/mo&gt;&lt;mtext&gt;&lt;/mtext&gt;&lt;mtext&gt;&lt;/mtext&gt;&lt;mtext&gt;&lt;/mtext&gt;&lt;mfrac&gt;&lt;mn&gt;11&lt;/mn&gt;&lt;mn&gt;4&lt;/mn&gt;&lt;/mfrac&gt;&lt;mtext&gt;&lt;/mtext&gt;&lt;mtext&gt;&lt;/mtext&gt;&lt;mtext&gt;&lt;/mtext&gt;&lt;mo&gt;,&lt;/mo&gt;&lt;mtext&gt;&lt;/mtext&gt;&lt;mtext&gt;&lt;/mtext&gt;&lt;mtext&gt;&lt;/mtext&gt;&lt;mfrac&gt;&lt;mn&gt;51&lt;/mn&gt;&lt;mn&gt;10&lt;/mn&gt;&lt;/mfrac&gt;&lt;mtext&gt;&lt;/mtext&gt;&lt;mtext&gt;&lt;/mtext&gt;&lt;mtext&gt;&lt;/mtext&gt;&lt;mo&gt;,&lt;/mo&gt;&lt;mtext&gt;&lt;/mtext&gt;&lt;mtext&gt;&lt;/mtext&gt;&lt;mfrac&gt;&lt;mn&gt;23&lt;/mn&gt;&lt;mn&gt;4&lt;/mn&gt;&lt;/mfrac&gt;&lt;mtext&gt;&lt;/mtext&gt;&lt;mtext&gt;&lt;/mtext&gt;&lt;mtext&gt;&lt;/mtext&gt;&lt;mo&gt;,&lt;/mo&gt;&lt;mtext&gt;&lt;/mtext&gt;&lt;mtext&gt;&lt;/mtext&gt;&lt;mfrac&gt;&lt;mn&gt;41&lt;/mn&gt;&lt;mn&gt;2&lt;/mn&gt;&lt;/mfrac&gt;&lt;/mtd&gt;&lt;/mtr&gt;&lt;mtr&gt;&lt;mtd/&gt;&lt;/mtr&gt;&lt;mtr&gt;&lt;mtd&gt;&lt;mn&gt;2&lt;/mn&gt;&lt;mtext&gt;&lt;/mtext&gt;&lt;mfrac&gt;&lt;mn&gt;2&lt;/mn&gt;&lt;mn&gt;3&lt;/mn&gt;&lt;/mfrac&gt;&lt;mtext&gt;&lt;/mtext&gt;&lt;mtext&gt;&lt;/mtext&gt;&lt;mo&gt;,&lt;/mo&gt;&lt;mtext&gt;&lt;/mtext&gt;&lt;mtext&gt;&lt;/mtext&gt;&lt;mtext&gt;&lt;/mtext&gt;&lt;mn&gt;4&lt;/mn&gt;&lt;mfrac&gt;&lt;mn&gt;4&lt;/mn&gt;&lt;mn&gt;5&lt;/mn&gt;&lt;/mfrac&gt;&lt;mtext&gt;&lt;/mtext&gt;&lt;mtext&gt;&lt;/mtext&gt;&lt;mo&gt;,&lt;/mo&gt;&lt;mtext&gt;&lt;/mtext&gt;&lt;mtext&gt;&lt;/mtext&gt;&lt;mn&gt;4&lt;/mn&gt;&lt;mfrac&gt;&lt;mn&gt;9&lt;/mn&gt;&lt;mn&gt;10&lt;/mn&gt;&lt;/mfrac&gt;&lt;mtext&gt;&lt;/mtext&gt;&lt;mtext&gt;&lt;/mtext&gt;&lt;mo&gt;,&lt;/mo&gt;&lt;mtext&gt;&lt;/mtext&gt;&lt;mtext&gt;&lt;/mtext&gt;&lt;mn&gt;5&lt;/mn&gt;&lt;mfrac&gt;&lt;mn&gt;1&lt;/mn&gt;&lt;mn&gt;3&lt;/mn&gt;&lt;/mfrac&gt;&lt;mtext&gt;&lt;/mtext&gt;&lt;mtext&gt;&lt;/mtext&gt;&lt;mo&gt;,&lt;/mo&gt;&lt;mtext&gt;&lt;/mtext&gt;&lt;mtext&gt;&lt;/mtext&gt;&lt;mn&gt;5&lt;/mn&gt;&lt;mfrac&gt;&lt;mn&gt;2&lt;/mn&gt;&lt;mn&gt;5&lt;/mn&gt;&lt;/mfrac&gt;&lt;/mtd&gt;&lt;/mtr&gt;&lt;mtr&gt;&lt;mtd&gt;&lt;mfrac&gt;&lt;mn&gt;8&lt;/mn&gt;&lt;mn&gt;3&lt;/mn&gt;&lt;/mfrac&gt;&lt;mtext&gt;&lt;/mtext&gt;&lt;mtext&gt;&lt;/mtext&gt;&lt;mtext&gt;&lt;/mtext&gt;&lt;mtext&gt;&lt;/mtext&gt;&lt;mtext&gt;&lt;/mtext&gt;&lt;mo&gt;,&lt;/mo&gt;&lt;mtext&gt;&lt;/mtext&gt;&lt;mtext&gt;&lt;/mtext&gt;&lt;mtext&gt;&lt;/mtext&gt;&lt;mfrac&gt;&lt;mn&gt;24&lt;/mn&gt;&lt;mn&gt;5&lt;/mn&gt;&lt;/mfrac&gt;&lt;mtext&gt;&lt;/mtext&gt;&lt;mtext&gt;&lt;/mtext&gt;&lt;mo&gt;,&lt;/mo&gt;&lt;mtext&gt;&lt;/mtext&gt;&lt;mtext&gt;&lt;/mtext&gt;&lt;mfrac&gt;&lt;mn&gt;49&lt;/mn&gt;&lt;mn&gt;10&lt;/mn&gt;&lt;/mfrac&gt;&lt;mtext&gt;&lt;/mtext&gt;&lt;mtext&gt;&lt;/mtext&gt;&lt;mtext&gt;&lt;/mtext&gt;&lt;mtext&gt;&lt;/mtext&gt;&lt;mo&gt;,&lt;/mo&gt;&lt;mtext&gt;&lt;/mtext&gt;&lt;mtext&gt;&lt;/mtext&gt;&lt;mfrac&gt;&lt;mn&gt;16&lt;/mn&gt;&lt;mn&gt;3&lt;/mn&gt;&lt;/mfrac&gt;&lt;mtext&gt;&lt;/mtext&gt;&lt;mtext&gt;&lt;/mtext&gt;&lt;mtext&gt;&lt;/mtext&gt;&lt;mo&gt;,&lt;/mo&gt;&lt;mtext&gt;&lt;/mtext&gt;&lt;mtext&gt;&lt;/mtext&gt;&lt;mtext&gt;&lt;/mtext&gt;&lt;mfrac&gt;&lt;mn&gt;27&lt;/mn&gt;&lt;mn&gt;5&lt;/mn&gt;&lt;/mfrac&gt;&lt;/mtd&gt;&lt;/mtr&gt;&lt;/mtable&gt;&lt;/math&gt;" id="1502" name="Google Shape;1502;p102" title="5 lines Line 1: 1 and one half comma 2 and three fourths comma 5 and one tenth comma 5 and three fourths comma 20 and one half Line 2: three halves comma eleven fourths comma 51 over 10 comma 23 over 4 comma 41 over 2 Line 3: blank Line 4: 2 two thirds comma 4 and four fifths comma 4 and nine tenths comma 5 and one third comma 5 and two fifths Line 5: eight thirds comma 24 over 5 comma 49 over 10 comma sixteen thirds comma 27 over 5"/>
          <p:cNvPicPr preferRelativeResize="0"/>
          <p:nvPr/>
        </p:nvPicPr>
        <p:blipFill rotWithShape="1">
          <a:blip r:embed="rId4">
            <a:alphaModFix/>
          </a:blip>
          <a:srcRect b="0" l="84780" r="0" t="56587"/>
          <a:stretch/>
        </p:blipFill>
        <p:spPr>
          <a:xfrm>
            <a:off x="6518825" y="3367548"/>
            <a:ext cx="697192" cy="124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3" name="Google Shape;1503;p102"/>
          <p:cNvSpPr/>
          <p:nvPr/>
        </p:nvSpPr>
        <p:spPr>
          <a:xfrm>
            <a:off x="6873125" y="3418300"/>
            <a:ext cx="342900" cy="575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4" name="Google Shape;1504;p102"/>
          <p:cNvSpPr/>
          <p:nvPr/>
        </p:nvSpPr>
        <p:spPr>
          <a:xfrm>
            <a:off x="6776704" y="4392271"/>
            <a:ext cx="266700" cy="293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103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</a:t>
            </a:r>
            <a:r>
              <a:rPr lang="en-GB"/>
              <a:t>) Insert the symbol &lt;, &gt; or = to make the following statements true.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103"/>
          <p:cNvSpPr txBox="1"/>
          <p:nvPr/>
        </p:nvSpPr>
        <p:spPr>
          <a:xfrm>
            <a:off x="324000" y="1680850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1" name="Google Shape;1511;p103"/>
          <p:cNvSpPr txBox="1"/>
          <p:nvPr/>
        </p:nvSpPr>
        <p:spPr>
          <a:xfrm>
            <a:off x="324000" y="2449200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2" name="Google Shape;1512;p103"/>
          <p:cNvSpPr txBox="1"/>
          <p:nvPr/>
        </p:nvSpPr>
        <p:spPr>
          <a:xfrm>
            <a:off x="324000" y="3141350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3" name="Google Shape;1513;p103"/>
          <p:cNvSpPr txBox="1"/>
          <p:nvPr/>
        </p:nvSpPr>
        <p:spPr>
          <a:xfrm>
            <a:off x="324000" y="3909700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3}{4}=3\frac{1}{4}\\&amp;#13;&amp;#10;\frac{24}{5}&amp;lt;5\frac{1}{5}\\&amp;#13;&amp;#10;\frac{92}{4}&amp;gt;22\frac{1}{4}\\&amp;#13;&amp;#10;\frac{9}{2}&amp;gt;\frac{25}{6}\end{array}&quot;&gt;&lt;mtable columnalign=&quot;left&quot; columnspacing=&quot;1em&quot; rowspacing=&quot;4pt&quot;&gt;&lt;mtr&gt;&lt;mtd&gt;&lt;mfrac&gt;&lt;mn&gt;13&lt;/mn&gt;&lt;mn&gt;4&lt;/mn&gt;&lt;/mfrac&gt;&lt;mo&gt;=&lt;/mo&gt;&lt;mn&gt;3&lt;/mn&gt;&lt;mfrac&gt;&lt;mn&gt;1&lt;/mn&gt;&lt;mn&gt;4&lt;/mn&gt;&lt;/mfrac&gt;&lt;/mtd&gt;&lt;/mtr&gt;&lt;mtr&gt;&lt;mtd&gt;&lt;mfrac&gt;&lt;mn&gt;24&lt;/mn&gt;&lt;mn&gt;5&lt;/mn&gt;&lt;/mfrac&gt;&lt;mo&gt;&amp;lt;&lt;/mo&gt;&lt;mn&gt;5&lt;/mn&gt;&lt;mfrac&gt;&lt;mn&gt;1&lt;/mn&gt;&lt;mn&gt;5&lt;/mn&gt;&lt;/mfrac&gt;&lt;/mtd&gt;&lt;/mtr&gt;&lt;mtr&gt;&lt;mtd&gt;&lt;mfrac&gt;&lt;mn&gt;92&lt;/mn&gt;&lt;mn&gt;4&lt;/mn&gt;&lt;/mfrac&gt;&lt;mo&gt;&amp;gt;&lt;/mo&gt;&lt;mn&gt;22&lt;/mn&gt;&lt;mfrac&gt;&lt;mn&gt;1&lt;/mn&gt;&lt;mn&gt;4&lt;/mn&gt;&lt;/mfrac&gt;&lt;/mtd&gt;&lt;/mtr&gt;&lt;mtr&gt;&lt;mtd&gt;&lt;mfrac&gt;&lt;mn&gt;9&lt;/mn&gt;&lt;mn&gt;2&lt;/mn&gt;&lt;/mfrac&gt;&lt;mo&gt;&amp;gt;&lt;/mo&gt;&lt;mfrac&gt;&lt;mn&gt;25&lt;/mn&gt;&lt;mn&gt;6&lt;/mn&gt;&lt;/mfrac&gt;&lt;/mtd&gt;&lt;/mtr&gt;&lt;/mtable&gt;&lt;/math&gt;" id="1514" name="Google Shape;1514;p103" title="4 lines Line 1: thirteen fourths equals 3 and one fourth Line 2: 24 over 5 is less than 5 and one fifth Line 3: 92 over 4 is greater than 22 and one fourth Line 4: nine halves is greater than 25 over 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6475" y="1680850"/>
            <a:ext cx="1596650" cy="27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5" name="Google Shape;1515;p103"/>
          <p:cNvSpPr/>
          <p:nvPr/>
        </p:nvSpPr>
        <p:spPr>
          <a:xfrm>
            <a:off x="1403100" y="1736151"/>
            <a:ext cx="281700" cy="4641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6" name="Google Shape;1516;p103"/>
          <p:cNvSpPr/>
          <p:nvPr/>
        </p:nvSpPr>
        <p:spPr>
          <a:xfrm>
            <a:off x="1403100" y="2467951"/>
            <a:ext cx="281700" cy="4641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7" name="Google Shape;1517;p103"/>
          <p:cNvSpPr/>
          <p:nvPr/>
        </p:nvSpPr>
        <p:spPr>
          <a:xfrm>
            <a:off x="1403100" y="3240001"/>
            <a:ext cx="281700" cy="4641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8" name="Google Shape;1518;p103"/>
          <p:cNvSpPr/>
          <p:nvPr/>
        </p:nvSpPr>
        <p:spPr>
          <a:xfrm>
            <a:off x="1229825" y="3960376"/>
            <a:ext cx="281700" cy="4641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9" name="Google Shape;1519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mixed numbers and improper fractions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mixed numbers and improper fractions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p104"/>
          <p:cNvSpPr/>
          <p:nvPr/>
        </p:nvSpPr>
        <p:spPr>
          <a:xfrm>
            <a:off x="1088575" y="891950"/>
            <a:ext cx="2611800" cy="1641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26" name="Google Shape;1526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6019" y="1169648"/>
            <a:ext cx="401127" cy="503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7" name="Google Shape;1527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5624" y="1729128"/>
            <a:ext cx="401127" cy="503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8" name="Google Shape;1528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0841" y="1957728"/>
            <a:ext cx="401127" cy="503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9" name="Google Shape;1529;p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147" y="1380971"/>
            <a:ext cx="808713" cy="5769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\frac{1}{5}m\ \ \ \ \frac{49}{4}&quot;&gt;&lt;mn&gt;4&lt;/mn&gt;&lt;mfrac&gt;&lt;mn&gt;1&lt;/mn&gt;&lt;mn&gt;5&lt;/mn&gt;&lt;/mfrac&gt;&lt;mi&gt;m&lt;/mi&gt;&lt;mtext&gt;&lt;/mtext&gt;&lt;mtext&gt;&lt;/mtext&gt;&lt;mtext&gt;&lt;/mtext&gt;&lt;mtext&gt;&lt;/mtext&gt;&lt;mfrac&gt;&lt;mn&gt;49&lt;/mn&gt;&lt;mn&gt;4&lt;/mn&gt;&lt;/mfrac&gt;&lt;/math&gt;" id="1530" name="Google Shape;1530;p104" title="4 and one fifth m 49 over 4"/>
          <p:cNvPicPr preferRelativeResize="0"/>
          <p:nvPr/>
        </p:nvPicPr>
        <p:blipFill rotWithShape="1">
          <a:blip r:embed="rId5">
            <a:alphaModFix/>
          </a:blip>
          <a:srcRect b="0" l="0" r="68630" t="0"/>
          <a:stretch/>
        </p:blipFill>
        <p:spPr>
          <a:xfrm>
            <a:off x="323025" y="1361075"/>
            <a:ext cx="401125" cy="616684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104"/>
          <p:cNvSpPr txBox="1"/>
          <p:nvPr/>
        </p:nvSpPr>
        <p:spPr>
          <a:xfrm>
            <a:off x="247800" y="3190775"/>
            <a:ext cx="827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lphaLcParenR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many fence panels a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 need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ed?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2" name="Google Shape;1532;p104"/>
          <p:cNvSpPr txBox="1"/>
          <p:nvPr/>
        </p:nvSpPr>
        <p:spPr>
          <a:xfrm>
            <a:off x="604450" y="1415463"/>
            <a:ext cx="475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/>
          </a:p>
        </p:txBody>
      </p:sp>
      <p:sp>
        <p:nvSpPr>
          <p:cNvPr id="1533" name="Google Shape;1533;p104"/>
          <p:cNvSpPr txBox="1"/>
          <p:nvPr/>
        </p:nvSpPr>
        <p:spPr>
          <a:xfrm>
            <a:off x="2606600" y="2570100"/>
            <a:ext cx="475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4\frac{1}{5}m\ \ \ \ \frac{49}{5}&quot;&gt;&lt;mn&gt;4&lt;/mn&gt;&lt;mfrac&gt;&lt;mn&gt;1&lt;/mn&gt;&lt;mn&gt;5&lt;/mn&gt;&lt;/mfrac&gt;&lt;mi&gt;m&lt;/mi&gt;&lt;mtext&gt;&lt;/mtext&gt;&lt;mtext&gt;&lt;/mtext&gt;&lt;mtext&gt;&lt;/mtext&gt;&lt;mtext&gt;&lt;/mtext&gt;&lt;mfrac&gt;&lt;mn&gt;49&lt;/mn&gt;&lt;mn&gt;5&lt;/mn&gt;&lt;/mfrac&gt;&lt;/math&gt;" id="1534" name="Google Shape;1534;p104" title="4 and one fifth m 49 over 5"/>
          <p:cNvPicPr preferRelativeResize="0"/>
          <p:nvPr/>
        </p:nvPicPr>
        <p:blipFill rotWithShape="1">
          <a:blip r:embed="rId6">
            <a:alphaModFix/>
          </a:blip>
          <a:srcRect b="0" l="71714" r="0" t="0"/>
          <a:stretch/>
        </p:blipFill>
        <p:spPr>
          <a:xfrm>
            <a:off x="2275562" y="2600287"/>
            <a:ext cx="351875" cy="599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4\frac{1}{5}+\frac{49}{5}+4\frac{1}{5}+\frac{49}{5}=\\&amp;#13;&amp;#10;\frac{21}{5}+\frac{49}{5}+\frac{21}{5}+\frac{49}{5}=\frac{140}{5}=28\\&amp;#13;&amp;#10;\end{array}&quot;&gt;&lt;mtable columnalign=&quot;left&quot; columnspacing=&quot;1em&quot; rowspacing=&quot;4pt&quot;&gt;&lt;mtr&gt;&lt;mtd&gt;&lt;mn&gt;4&lt;/mn&gt;&lt;mfrac&gt;&lt;mn&gt;1&lt;/mn&gt;&lt;mn&gt;5&lt;/mn&gt;&lt;/mfrac&gt;&lt;mo&gt;+&lt;/mo&gt;&lt;mfrac&gt;&lt;mn&gt;49&lt;/mn&gt;&lt;mn&gt;5&lt;/mn&gt;&lt;/mfrac&gt;&lt;mo&gt;+&lt;/mo&gt;&lt;mn&gt;4&lt;/mn&gt;&lt;mfrac&gt;&lt;mn&gt;1&lt;/mn&gt;&lt;mn&gt;5&lt;/mn&gt;&lt;/mfrac&gt;&lt;mo&gt;+&lt;/mo&gt;&lt;mfrac&gt;&lt;mn&gt;49&lt;/mn&gt;&lt;mn&gt;5&lt;/mn&gt;&lt;/mfrac&gt;&lt;mo&gt;=&lt;/mo&gt;&lt;/mtd&gt;&lt;/mtr&gt;&lt;mtr&gt;&lt;mtd&gt;&lt;mfrac&gt;&lt;mn&gt;21&lt;/mn&gt;&lt;mn&gt;5&lt;/mn&gt;&lt;/mfrac&gt;&lt;mo&gt;+&lt;/mo&gt;&lt;mfrac&gt;&lt;mn&gt;49&lt;/mn&gt;&lt;mn&gt;5&lt;/mn&gt;&lt;/mfrac&gt;&lt;mo&gt;+&lt;/mo&gt;&lt;mfrac&gt;&lt;mn&gt;21&lt;/mn&gt;&lt;mn&gt;5&lt;/mn&gt;&lt;/mfrac&gt;&lt;mo&gt;+&lt;/mo&gt;&lt;mfrac&gt;&lt;mn&gt;49&lt;/mn&gt;&lt;mn&gt;5&lt;/mn&gt;&lt;/mfrac&gt;&lt;mo&gt;=&lt;/mo&gt;&lt;mfrac&gt;&lt;mn&gt;140&lt;/mn&gt;&lt;mn&gt;5&lt;/mn&gt;&lt;/mfrac&gt;&lt;mo&gt;=&lt;/mo&gt;&lt;mn&gt;28&lt;/mn&gt;&lt;/mtd&gt;&lt;/mtr&gt;&lt;/mtable&gt;&lt;/math&gt;" id="1535" name="Google Shape;1535;p104" title="2 lines Line 1: 4 and one fifth plus 49 over 5 plus 4 and one fifth plus 49 over 5 equals Line 2: 21 over 5 plus 49 over 5 plus 21 over 5 plus 49 over 5 equals 140 over 5 equals 28"/>
          <p:cNvPicPr preferRelativeResize="0"/>
          <p:nvPr/>
        </p:nvPicPr>
        <p:blipFill rotWithShape="1">
          <a:blip r:embed="rId7">
            <a:alphaModFix/>
          </a:blip>
          <a:srcRect b="49461" l="0" r="0" t="0"/>
          <a:stretch/>
        </p:blipFill>
        <p:spPr>
          <a:xfrm>
            <a:off x="1330225" y="3690223"/>
            <a:ext cx="4484875" cy="576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4\frac{1}{5}+\frac{49}{5}+4\frac{1}{5}+\frac{49}{5}=\\&amp;#13;&amp;#10;\frac{21}{5}+\frac{49}{5}+\frac{21}{5}+\frac{49}{5}=\frac{140}{5}=28\\&amp;#13;&amp;#10;\end{array}&quot;&gt;&lt;mtable columnalign=&quot;left&quot; columnspacing=&quot;1em&quot; rowspacing=&quot;4pt&quot;&gt;&lt;mtr&gt;&lt;mtd&gt;&lt;mn&gt;4&lt;/mn&gt;&lt;mfrac&gt;&lt;mn&gt;1&lt;/mn&gt;&lt;mn&gt;5&lt;/mn&gt;&lt;/mfrac&gt;&lt;mo&gt;+&lt;/mo&gt;&lt;mfrac&gt;&lt;mn&gt;49&lt;/mn&gt;&lt;mn&gt;5&lt;/mn&gt;&lt;/mfrac&gt;&lt;mo&gt;+&lt;/mo&gt;&lt;mn&gt;4&lt;/mn&gt;&lt;mfrac&gt;&lt;mn&gt;1&lt;/mn&gt;&lt;mn&gt;5&lt;/mn&gt;&lt;/mfrac&gt;&lt;mo&gt;+&lt;/mo&gt;&lt;mfrac&gt;&lt;mn&gt;49&lt;/mn&gt;&lt;mn&gt;5&lt;/mn&gt;&lt;/mfrac&gt;&lt;mo&gt;=&lt;/mo&gt;&lt;/mtd&gt;&lt;/mtr&gt;&lt;mtr&gt;&lt;mtd&gt;&lt;mfrac&gt;&lt;mn&gt;21&lt;/mn&gt;&lt;mn&gt;5&lt;/mn&gt;&lt;/mfrac&gt;&lt;mo&gt;+&lt;/mo&gt;&lt;mfrac&gt;&lt;mn&gt;49&lt;/mn&gt;&lt;mn&gt;5&lt;/mn&gt;&lt;/mfrac&gt;&lt;mo&gt;+&lt;/mo&gt;&lt;mfrac&gt;&lt;mn&gt;21&lt;/mn&gt;&lt;mn&gt;5&lt;/mn&gt;&lt;/mfrac&gt;&lt;mo&gt;+&lt;/mo&gt;&lt;mfrac&gt;&lt;mn&gt;49&lt;/mn&gt;&lt;mn&gt;5&lt;/mn&gt;&lt;/mfrac&gt;&lt;mo&gt;=&lt;/mo&gt;&lt;mfrac&gt;&lt;mn&gt;140&lt;/mn&gt;&lt;mn&gt;5&lt;/mn&gt;&lt;/mfrac&gt;&lt;mo&gt;=&lt;/mo&gt;&lt;mn&gt;28&lt;/mn&gt;&lt;/mtd&gt;&lt;/mtr&gt;&lt;/mtable&gt;&lt;/math&gt;" id="1536" name="Google Shape;1536;p104" title="2 lines Line 1: 4 and one fifth plus 49 over 5 plus 4 and one fifth plus 49 over 5 equals Line 2: 21 over 5 plus 49 over 5 plus 21 over 5 plus 49 over 5 equals 140 over 5 equals 28"/>
          <p:cNvPicPr preferRelativeResize="0"/>
          <p:nvPr/>
        </p:nvPicPr>
        <p:blipFill rotWithShape="1">
          <a:blip r:embed="rId7">
            <a:alphaModFix/>
          </a:blip>
          <a:srcRect b="-2668" l="-1341" r="29217" t="52130"/>
          <a:stretch/>
        </p:blipFill>
        <p:spPr>
          <a:xfrm>
            <a:off x="1332531" y="4273975"/>
            <a:ext cx="3234701" cy="576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4\frac{1}{5}+\frac{49}{5}+4\frac{1}{5}+\frac{49}{5}=\\&amp;#13;&amp;#10;\frac{21}{5}+\frac{49}{5}+\frac{21}{5}+\frac{49}{5}=\frac{140}{5}=28\\&amp;#13;&amp;#10;\end{array}&quot;&gt;&lt;mtable columnalign=&quot;left&quot; columnspacing=&quot;1em&quot; rowspacing=&quot;4pt&quot;&gt;&lt;mtr&gt;&lt;mtd&gt;&lt;mn&gt;4&lt;/mn&gt;&lt;mfrac&gt;&lt;mn&gt;1&lt;/mn&gt;&lt;mn&gt;5&lt;/mn&gt;&lt;/mfrac&gt;&lt;mo&gt;+&lt;/mo&gt;&lt;mfrac&gt;&lt;mn&gt;49&lt;/mn&gt;&lt;mn&gt;5&lt;/mn&gt;&lt;/mfrac&gt;&lt;mo&gt;+&lt;/mo&gt;&lt;mn&gt;4&lt;/mn&gt;&lt;mfrac&gt;&lt;mn&gt;1&lt;/mn&gt;&lt;mn&gt;5&lt;/mn&gt;&lt;/mfrac&gt;&lt;mo&gt;+&lt;/mo&gt;&lt;mfrac&gt;&lt;mn&gt;49&lt;/mn&gt;&lt;mn&gt;5&lt;/mn&gt;&lt;/mfrac&gt;&lt;mo&gt;=&lt;/mo&gt;&lt;/mtd&gt;&lt;/mtr&gt;&lt;mtr&gt;&lt;mtd&gt;&lt;mfrac&gt;&lt;mn&gt;21&lt;/mn&gt;&lt;mn&gt;5&lt;/mn&gt;&lt;/mfrac&gt;&lt;mo&gt;+&lt;/mo&gt;&lt;mfrac&gt;&lt;mn&gt;49&lt;/mn&gt;&lt;mn&gt;5&lt;/mn&gt;&lt;/mfrac&gt;&lt;mo&gt;+&lt;/mo&gt;&lt;mfrac&gt;&lt;mn&gt;21&lt;/mn&gt;&lt;mn&gt;5&lt;/mn&gt;&lt;/mfrac&gt;&lt;mo&gt;+&lt;/mo&gt;&lt;mfrac&gt;&lt;mn&gt;49&lt;/mn&gt;&lt;mn&gt;5&lt;/mn&gt;&lt;/mfrac&gt;&lt;mo&gt;=&lt;/mo&gt;&lt;mfrac&gt;&lt;mn&gt;140&lt;/mn&gt;&lt;mn&gt;5&lt;/mn&gt;&lt;/mfrac&gt;&lt;mo&gt;=&lt;/mo&gt;&lt;mn&gt;28&lt;/mn&gt;&lt;/mtd&gt;&lt;/mtr&gt;&lt;/mtable&gt;&lt;/math&gt;" id="1537" name="Google Shape;1537;p104" title="2 lines Line 1: 4 and one fifth plus 49 over 5 plus 4 and one fifth plus 49 over 5 equals Line 2: 21 over 5 plus 49 over 5 plus 21 over 5 plus 49 over 5 equals 140 over 5 equals 28"/>
          <p:cNvPicPr preferRelativeResize="0"/>
          <p:nvPr/>
        </p:nvPicPr>
        <p:blipFill rotWithShape="1">
          <a:blip r:embed="rId7">
            <a:alphaModFix/>
          </a:blip>
          <a:srcRect b="-3484" l="70192" r="-3945" t="49462"/>
          <a:stretch/>
        </p:blipFill>
        <p:spPr>
          <a:xfrm>
            <a:off x="4498425" y="4254088"/>
            <a:ext cx="1513801" cy="61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8" name="Google Shape;1538;p104"/>
          <p:cNvSpPr txBox="1"/>
          <p:nvPr/>
        </p:nvSpPr>
        <p:spPr>
          <a:xfrm>
            <a:off x="5904925" y="4316138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fence panels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9" name="Google Shape;1539;p104"/>
          <p:cNvSpPr txBox="1"/>
          <p:nvPr>
            <p:ph idx="1" type="body"/>
          </p:nvPr>
        </p:nvSpPr>
        <p:spPr>
          <a:xfrm>
            <a:off x="3963900" y="2851375"/>
            <a:ext cx="48561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Fence panels cost £22 per m.</a:t>
            </a:r>
            <a:endParaRPr sz="2300"/>
          </a:p>
        </p:txBody>
      </p:sp>
      <p:sp>
        <p:nvSpPr>
          <p:cNvPr id="1540" name="Google Shape;1540;p104"/>
          <p:cNvSpPr txBox="1"/>
          <p:nvPr>
            <p:ph idx="1" type="body"/>
          </p:nvPr>
        </p:nvSpPr>
        <p:spPr>
          <a:xfrm>
            <a:off x="3963900" y="717775"/>
            <a:ext cx="4856100" cy="114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2) Two gardeners are putting a fence around a rectangular garden.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One gardener measures the length to be</a:t>
            </a:r>
            <a:endParaRPr sz="2300"/>
          </a:p>
        </p:txBody>
      </p:sp>
      <p:pic>
        <p:nvPicPr>
          <p:cNvPr descr="&lt;math xmlns=&quot;http://www.w3.org/1998/Math/MathML&quot; display=&quot;block&quot; data-is-equatio=&quot;1&quot; data-latex=&quot;4\frac{1}{5}m\ \ \ \ \frac{49}{4}&quot;&gt;&lt;mn&gt;4&lt;/mn&gt;&lt;mfrac&gt;&lt;mn&gt;1&lt;/mn&gt;&lt;mn&gt;5&lt;/mn&gt;&lt;/mfrac&gt;&lt;mi&gt;m&lt;/mi&gt;&lt;mtext&gt;&lt;/mtext&gt;&lt;mtext&gt;&lt;/mtext&gt;&lt;mtext&gt;&lt;/mtext&gt;&lt;mtext&gt;&lt;/mtext&gt;&lt;mfrac&gt;&lt;mn&gt;49&lt;/mn&gt;&lt;mn&gt;4&lt;/mn&gt;&lt;/mfrac&gt;&lt;/math&gt;" id="1541" name="Google Shape;1541;p104" title="4 and one fifth m 49 over 4"/>
          <p:cNvPicPr preferRelativeResize="0"/>
          <p:nvPr/>
        </p:nvPicPr>
        <p:blipFill rotWithShape="1">
          <a:blip r:embed="rId5">
            <a:alphaModFix/>
          </a:blip>
          <a:srcRect b="0" l="0" r="68630" t="0"/>
          <a:stretch/>
        </p:blipFill>
        <p:spPr>
          <a:xfrm>
            <a:off x="5676325" y="2377474"/>
            <a:ext cx="351875" cy="540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\frac{1}{5}m\ \ \ \ \frac{49}{5}&quot;&gt;&lt;mn&gt;4&lt;/mn&gt;&lt;mfrac&gt;&lt;mn&gt;1&lt;/mn&gt;&lt;mn&gt;5&lt;/mn&gt;&lt;/mfrac&gt;&lt;mi&gt;m&lt;/mi&gt;&lt;mtext&gt;&lt;/mtext&gt;&lt;mtext&gt;&lt;/mtext&gt;&lt;mtext&gt;&lt;/mtext&gt;&lt;mtext&gt;&lt;/mtext&gt;&lt;mfrac&gt;&lt;mn&gt;49&lt;/mn&gt;&lt;mn&gt;5&lt;/mn&gt;&lt;/mfrac&gt;&lt;/math&gt;" id="1542" name="Google Shape;1542;p104" title="4 and one fifth m 49 over 5"/>
          <p:cNvPicPr preferRelativeResize="0"/>
          <p:nvPr/>
        </p:nvPicPr>
        <p:blipFill rotWithShape="1">
          <a:blip r:embed="rId6">
            <a:alphaModFix/>
          </a:blip>
          <a:srcRect b="0" l="71714" r="0" t="0"/>
          <a:stretch/>
        </p:blipFill>
        <p:spPr>
          <a:xfrm>
            <a:off x="3963900" y="1832324"/>
            <a:ext cx="351875" cy="599953"/>
          </a:xfrm>
          <a:prstGeom prst="rect">
            <a:avLst/>
          </a:prstGeom>
          <a:noFill/>
          <a:ln>
            <a:noFill/>
          </a:ln>
        </p:spPr>
      </p:pic>
      <p:sp>
        <p:nvSpPr>
          <p:cNvPr id="1543" name="Google Shape;1543;p104"/>
          <p:cNvSpPr txBox="1"/>
          <p:nvPr>
            <p:ph idx="1" type="body"/>
          </p:nvPr>
        </p:nvSpPr>
        <p:spPr>
          <a:xfrm>
            <a:off x="4344900" y="1958050"/>
            <a:ext cx="4856100" cy="3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m  and the other gardener measures</a:t>
            </a:r>
            <a:endParaRPr sz="2300"/>
          </a:p>
        </p:txBody>
      </p:sp>
      <p:sp>
        <p:nvSpPr>
          <p:cNvPr id="1544" name="Google Shape;1544;p104"/>
          <p:cNvSpPr txBox="1"/>
          <p:nvPr>
            <p:ph idx="1" type="body"/>
          </p:nvPr>
        </p:nvSpPr>
        <p:spPr>
          <a:xfrm>
            <a:off x="3963900" y="2470375"/>
            <a:ext cx="4686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</a:t>
            </a:r>
            <a:endParaRPr sz="2300"/>
          </a:p>
        </p:txBody>
      </p:sp>
      <p:sp>
        <p:nvSpPr>
          <p:cNvPr id="1545" name="Google Shape;1545;p104"/>
          <p:cNvSpPr txBox="1"/>
          <p:nvPr>
            <p:ph idx="1" type="body"/>
          </p:nvPr>
        </p:nvSpPr>
        <p:spPr>
          <a:xfrm>
            <a:off x="4377400" y="2470375"/>
            <a:ext cx="6783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width</a:t>
            </a:r>
            <a:endParaRPr sz="2300"/>
          </a:p>
        </p:txBody>
      </p:sp>
      <p:sp>
        <p:nvSpPr>
          <p:cNvPr id="1546" name="Google Shape;1546;p104"/>
          <p:cNvSpPr txBox="1"/>
          <p:nvPr>
            <p:ph idx="1" type="body"/>
          </p:nvPr>
        </p:nvSpPr>
        <p:spPr>
          <a:xfrm>
            <a:off x="5055650" y="2470375"/>
            <a:ext cx="2943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to</a:t>
            </a:r>
            <a:endParaRPr sz="2300"/>
          </a:p>
        </p:txBody>
      </p:sp>
      <p:sp>
        <p:nvSpPr>
          <p:cNvPr id="1547" name="Google Shape;1547;p104"/>
          <p:cNvSpPr txBox="1"/>
          <p:nvPr>
            <p:ph idx="1" type="body"/>
          </p:nvPr>
        </p:nvSpPr>
        <p:spPr>
          <a:xfrm>
            <a:off x="5328725" y="2470375"/>
            <a:ext cx="4365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be       </a:t>
            </a:r>
            <a:endParaRPr sz="2300"/>
          </a:p>
        </p:txBody>
      </p:sp>
      <p:sp>
        <p:nvSpPr>
          <p:cNvPr id="1548" name="Google Shape;1548;p104"/>
          <p:cNvSpPr txBox="1"/>
          <p:nvPr>
            <p:ph idx="1" type="body"/>
          </p:nvPr>
        </p:nvSpPr>
        <p:spPr>
          <a:xfrm>
            <a:off x="6104400" y="2470375"/>
            <a:ext cx="2943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m. </a:t>
            </a:r>
            <a:endParaRPr sz="23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10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mixed numbers and improper fractions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105"/>
          <p:cNvSpPr/>
          <p:nvPr/>
        </p:nvSpPr>
        <p:spPr>
          <a:xfrm>
            <a:off x="1088575" y="891950"/>
            <a:ext cx="2611800" cy="1641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5" name="Google Shape;1555;p105"/>
          <p:cNvSpPr txBox="1"/>
          <p:nvPr>
            <p:ph idx="1" type="body"/>
          </p:nvPr>
        </p:nvSpPr>
        <p:spPr>
          <a:xfrm>
            <a:off x="3963900" y="717775"/>
            <a:ext cx="4856100" cy="114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2) Two gardeners are putting a fence around a rectangular garden.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One gardener measures the length to be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      m   and the other gardener measures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 the width to be       m.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Fence panels cost £22 per m.</a:t>
            </a:r>
            <a:endParaRPr sz="2300"/>
          </a:p>
        </p:txBody>
      </p:sp>
      <p:pic>
        <p:nvPicPr>
          <p:cNvPr id="1556" name="Google Shape;1556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6019" y="1169648"/>
            <a:ext cx="401127" cy="503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7" name="Google Shape;1557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5624" y="1729128"/>
            <a:ext cx="401127" cy="503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8" name="Google Shape;1558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0841" y="1957728"/>
            <a:ext cx="401127" cy="503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9" name="Google Shape;1559;p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147" y="1380971"/>
            <a:ext cx="808713" cy="5769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\frac{1}{5}m\ \ \ \ \frac{49}{4}&quot;&gt;&lt;mn&gt;4&lt;/mn&gt;&lt;mfrac&gt;&lt;mn&gt;1&lt;/mn&gt;&lt;mn&gt;5&lt;/mn&gt;&lt;/mfrac&gt;&lt;mi&gt;m&lt;/mi&gt;&lt;mtext&gt;&lt;/mtext&gt;&lt;mtext&gt;&lt;/mtext&gt;&lt;mtext&gt;&lt;/mtext&gt;&lt;mtext&gt;&lt;/mtext&gt;&lt;mfrac&gt;&lt;mn&gt;49&lt;/mn&gt;&lt;mn&gt;4&lt;/mn&gt;&lt;/mfrac&gt;&lt;/math&gt;" id="1560" name="Google Shape;1560;p105" title="4 and one fifth m 49 over 4"/>
          <p:cNvPicPr preferRelativeResize="0"/>
          <p:nvPr/>
        </p:nvPicPr>
        <p:blipFill rotWithShape="1">
          <a:blip r:embed="rId5">
            <a:alphaModFix/>
          </a:blip>
          <a:srcRect b="0" l="0" r="68630" t="0"/>
          <a:stretch/>
        </p:blipFill>
        <p:spPr>
          <a:xfrm>
            <a:off x="323025" y="1361075"/>
            <a:ext cx="401125" cy="616684"/>
          </a:xfrm>
          <a:prstGeom prst="rect">
            <a:avLst/>
          </a:prstGeom>
          <a:noFill/>
          <a:ln>
            <a:noFill/>
          </a:ln>
        </p:spPr>
      </p:pic>
      <p:sp>
        <p:nvSpPr>
          <p:cNvPr id="1561" name="Google Shape;1561;p105"/>
          <p:cNvSpPr txBox="1"/>
          <p:nvPr/>
        </p:nvSpPr>
        <p:spPr>
          <a:xfrm>
            <a:off x="247800" y="3343175"/>
            <a:ext cx="827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 What is the total cost?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2" name="Google Shape;1562;p105"/>
          <p:cNvSpPr txBox="1"/>
          <p:nvPr/>
        </p:nvSpPr>
        <p:spPr>
          <a:xfrm>
            <a:off x="604450" y="1415463"/>
            <a:ext cx="475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/>
          </a:p>
        </p:txBody>
      </p:sp>
      <p:sp>
        <p:nvSpPr>
          <p:cNvPr id="1563" name="Google Shape;1563;p105"/>
          <p:cNvSpPr txBox="1"/>
          <p:nvPr/>
        </p:nvSpPr>
        <p:spPr>
          <a:xfrm>
            <a:off x="2606600" y="2570100"/>
            <a:ext cx="475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4\frac{1}{5}m\ \ \ \ \frac{49}{4}&quot;&gt;&lt;mn&gt;4&lt;/mn&gt;&lt;mfrac&gt;&lt;mn&gt;1&lt;/mn&gt;&lt;mn&gt;5&lt;/mn&gt;&lt;/mfrac&gt;&lt;mi&gt;m&lt;/mi&gt;&lt;mtext&gt;&lt;/mtext&gt;&lt;mtext&gt;&lt;/mtext&gt;&lt;mtext&gt;&lt;/mtext&gt;&lt;mtext&gt;&lt;/mtext&gt;&lt;mfrac&gt;&lt;mn&gt;49&lt;/mn&gt;&lt;mn&gt;4&lt;/mn&gt;&lt;/mfrac&gt;&lt;/math&gt;" id="1564" name="Google Shape;1564;p105" title="4 and one fifth m 49 over 4"/>
          <p:cNvPicPr preferRelativeResize="0"/>
          <p:nvPr/>
        </p:nvPicPr>
        <p:blipFill rotWithShape="1">
          <a:blip r:embed="rId5">
            <a:alphaModFix/>
          </a:blip>
          <a:srcRect b="0" l="0" r="68630" t="0"/>
          <a:stretch/>
        </p:blipFill>
        <p:spPr>
          <a:xfrm>
            <a:off x="5904925" y="2301274"/>
            <a:ext cx="351875" cy="540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\frac{1}{5}m\ \ \ \ \frac{49}{5}&quot;&gt;&lt;mn&gt;4&lt;/mn&gt;&lt;mfrac&gt;&lt;mn&gt;1&lt;/mn&gt;&lt;mn&gt;5&lt;/mn&gt;&lt;/mfrac&gt;&lt;mi&gt;m&lt;/mi&gt;&lt;mtext&gt;&lt;/mtext&gt;&lt;mtext&gt;&lt;/mtext&gt;&lt;mtext&gt;&lt;/mtext&gt;&lt;mtext&gt;&lt;/mtext&gt;&lt;mfrac&gt;&lt;mn&gt;49&lt;/mn&gt;&lt;mn&gt;5&lt;/mn&gt;&lt;/mfrac&gt;&lt;/math&gt;" id="1565" name="Google Shape;1565;p105" title="4 and one fifth m 49 over 5"/>
          <p:cNvPicPr preferRelativeResize="0"/>
          <p:nvPr/>
        </p:nvPicPr>
        <p:blipFill rotWithShape="1">
          <a:blip r:embed="rId6">
            <a:alphaModFix/>
          </a:blip>
          <a:srcRect b="0" l="71714" r="0" t="0"/>
          <a:stretch/>
        </p:blipFill>
        <p:spPr>
          <a:xfrm>
            <a:off x="2275562" y="2600287"/>
            <a:ext cx="351875" cy="599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\frac{1}{5}m\ \ \ \ \frac{49}{5}&quot;&gt;&lt;mn&gt;4&lt;/mn&gt;&lt;mfrac&gt;&lt;mn&gt;1&lt;/mn&gt;&lt;mn&gt;5&lt;/mn&gt;&lt;/mfrac&gt;&lt;mi&gt;m&lt;/mi&gt;&lt;mtext&gt;&lt;/mtext&gt;&lt;mtext&gt;&lt;/mtext&gt;&lt;mtext&gt;&lt;/mtext&gt;&lt;mtext&gt;&lt;/mtext&gt;&lt;mfrac&gt;&lt;mn&gt;49&lt;/mn&gt;&lt;mn&gt;5&lt;/mn&gt;&lt;/mfrac&gt;&lt;/math&gt;" id="1566" name="Google Shape;1566;p105" title="4 and one fifth m 49 over 5"/>
          <p:cNvPicPr preferRelativeResize="0"/>
          <p:nvPr/>
        </p:nvPicPr>
        <p:blipFill rotWithShape="1">
          <a:blip r:embed="rId6">
            <a:alphaModFix/>
          </a:blip>
          <a:srcRect b="0" l="71714" r="0" t="0"/>
          <a:stretch/>
        </p:blipFill>
        <p:spPr>
          <a:xfrm>
            <a:off x="3963900" y="1811249"/>
            <a:ext cx="351875" cy="599953"/>
          </a:xfrm>
          <a:prstGeom prst="rect">
            <a:avLst/>
          </a:prstGeom>
          <a:noFill/>
          <a:ln>
            <a:noFill/>
          </a:ln>
        </p:spPr>
      </p:pic>
      <p:sp>
        <p:nvSpPr>
          <p:cNvPr id="1567" name="Google Shape;1567;p105"/>
          <p:cNvSpPr txBox="1"/>
          <p:nvPr/>
        </p:nvSpPr>
        <p:spPr>
          <a:xfrm>
            <a:off x="724150" y="3842613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28 × 22 = £616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10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The following have been put in ascending order.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mixed number is above and the equivalent improper fraction is below.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Fill in the gaps.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begin{array}{l}1\frac{1}{2}\ \ ,\ \ \ 2\frac{3}{4}\ \ ,\ \ \ 5\frac{1}{10}\ \ ,\ \ 5\frac{3}{4}\ \ ,\ \ 20\frac{1}{2}\\&amp;#13;&amp;#10;\frac{3}{2}\ \ \ \ ,\ \ \ \frac{11}{4}\ \ \ ,\ \ \ \frac{51}{10}\ \ \ ,\ \ \frac{23}{4}\ \ \ ,\ \ \frac{41}{2}\\&amp;#13;&amp;#10;\\&amp;#13;&amp;#10;2\ \frac{2}{3}\ \ ,\ \ \ 4\frac{4}{5}\ \ ,\ \ 4\frac{9}{10}\ \ ,\ \ 5\frac{1}{3}\ \ ,\ \ 10\frac{2}{5}\\&amp;#13;&amp;#10;\frac{8}{3}\ \ \ \ \ ,\ \ \ \frac{24}{5}\ \ ,\ \ \frac{49}{10}\ \ \ \ ,\ \ \frac{16}{3}\ \ \ ,\ \ \ \frac{50}{2}\end{array}&quot;&gt;&lt;mtable columnalign=&quot;left&quot; columnspacing=&quot;1em&quot; rowspacing=&quot;4pt&quot;&gt;&lt;mtr&gt;&lt;mtd&gt;&lt;mn&gt;1&lt;/mn&gt;&lt;mfrac&gt;&lt;mn&gt;1&lt;/mn&gt;&lt;mn&gt;2&lt;/mn&gt;&lt;/mfrac&gt;&lt;mtext&gt;&lt;/mtext&gt;&lt;mtext&gt;&lt;/mtext&gt;&lt;mo&gt;,&lt;/mo&gt;&lt;mtext&gt;&lt;/mtext&gt;&lt;mtext&gt;&lt;/mtext&gt;&lt;mtext&gt;&lt;/mtext&gt;&lt;mn&gt;2&lt;/mn&gt;&lt;mfrac&gt;&lt;mn&gt;3&lt;/mn&gt;&lt;mn&gt;4&lt;/mn&gt;&lt;/mfrac&gt;&lt;mtext&gt;&lt;/mtext&gt;&lt;mtext&gt;&lt;/mtext&gt;&lt;mo&gt;,&lt;/mo&gt;&lt;mtext&gt;&lt;/mtext&gt;&lt;mtext&gt;&lt;/mtext&gt;&lt;mtext&gt;&lt;/mtext&gt;&lt;mn&gt;5&lt;/mn&gt;&lt;mfrac&gt;&lt;mn&gt;1&lt;/mn&gt;&lt;mn&gt;10&lt;/mn&gt;&lt;/mfrac&gt;&lt;mtext&gt;&lt;/mtext&gt;&lt;mtext&gt;&lt;/mtext&gt;&lt;mo&gt;,&lt;/mo&gt;&lt;mtext&gt;&lt;/mtext&gt;&lt;mtext&gt;&lt;/mtext&gt;&lt;mn&gt;5&lt;/mn&gt;&lt;mfrac&gt;&lt;mn&gt;3&lt;/mn&gt;&lt;mn&gt;4&lt;/mn&gt;&lt;/mfrac&gt;&lt;mtext&gt;&lt;/mtext&gt;&lt;mtext&gt;&lt;/mtext&gt;&lt;mo&gt;,&lt;/mo&gt;&lt;mtext&gt;&lt;/mtext&gt;&lt;mtext&gt;&lt;/mtext&gt;&lt;mn&gt;20&lt;/mn&gt;&lt;mfrac&gt;&lt;mn&gt;1&lt;/mn&gt;&lt;mn&gt;2&lt;/mn&gt;&lt;/mfrac&gt;&lt;/mtd&gt;&lt;/mtr&gt;&lt;mtr&gt;&lt;mtd&gt;&lt;mfrac&gt;&lt;mn&gt;3&lt;/mn&gt;&lt;mn&gt;2&lt;/mn&gt;&lt;/mfrac&gt;&lt;mtext&gt;&lt;/mtext&gt;&lt;mtext&gt;&lt;/mtext&gt;&lt;mtext&gt;&lt;/mtext&gt;&lt;mtext&gt;&lt;/mtext&gt;&lt;mo&gt;,&lt;/mo&gt;&lt;mtext&gt;&lt;/mtext&gt;&lt;mtext&gt;&lt;/mtext&gt;&lt;mtext&gt;&lt;/mtext&gt;&lt;mfrac&gt;&lt;mn&gt;11&lt;/mn&gt;&lt;mn&gt;4&lt;/mn&gt;&lt;/mfrac&gt;&lt;mtext&gt;&lt;/mtext&gt;&lt;mtext&gt;&lt;/mtext&gt;&lt;mtext&gt;&lt;/mtext&gt;&lt;mo&gt;,&lt;/mo&gt;&lt;mtext&gt;&lt;/mtext&gt;&lt;mtext&gt;&lt;/mtext&gt;&lt;mtext&gt;&lt;/mtext&gt;&lt;mfrac&gt;&lt;mn&gt;51&lt;/mn&gt;&lt;mn&gt;10&lt;/mn&gt;&lt;/mfrac&gt;&lt;mtext&gt;&lt;/mtext&gt;&lt;mtext&gt;&lt;/mtext&gt;&lt;mtext&gt;&lt;/mtext&gt;&lt;mo&gt;,&lt;/mo&gt;&lt;mtext&gt;&lt;/mtext&gt;&lt;mtext&gt;&lt;/mtext&gt;&lt;mfrac&gt;&lt;mn&gt;23&lt;/mn&gt;&lt;mn&gt;4&lt;/mn&gt;&lt;/mfrac&gt;&lt;mtext&gt;&lt;/mtext&gt;&lt;mtext&gt;&lt;/mtext&gt;&lt;mtext&gt;&lt;/mtext&gt;&lt;mo&gt;,&lt;/mo&gt;&lt;mtext&gt;&lt;/mtext&gt;&lt;mtext&gt;&lt;/mtext&gt;&lt;mfrac&gt;&lt;mn&gt;41&lt;/mn&gt;&lt;mn&gt;2&lt;/mn&gt;&lt;/mfrac&gt;&lt;/mtd&gt;&lt;/mtr&gt;&lt;mtr&gt;&lt;mtd/&gt;&lt;/mtr&gt;&lt;mtr&gt;&lt;mtd&gt;&lt;mn&gt;2&lt;/mn&gt;&lt;mtext&gt;&lt;/mtext&gt;&lt;mfrac&gt;&lt;mn&gt;2&lt;/mn&gt;&lt;mn&gt;3&lt;/mn&gt;&lt;/mfrac&gt;&lt;mtext&gt;&lt;/mtext&gt;&lt;mtext&gt;&lt;/mtext&gt;&lt;mo&gt;,&lt;/mo&gt;&lt;mtext&gt;&lt;/mtext&gt;&lt;mtext&gt;&lt;/mtext&gt;&lt;mtext&gt;&lt;/mtext&gt;&lt;mn&gt;4&lt;/mn&gt;&lt;mfrac&gt;&lt;mn&gt;4&lt;/mn&gt;&lt;mn&gt;5&lt;/mn&gt;&lt;/mfrac&gt;&lt;mtext&gt;&lt;/mtext&gt;&lt;mtext&gt;&lt;/mtext&gt;&lt;mo&gt;,&lt;/mo&gt;&lt;mtext&gt;&lt;/mtext&gt;&lt;mtext&gt;&lt;/mtext&gt;&lt;mn&gt;4&lt;/mn&gt;&lt;mfrac&gt;&lt;mn&gt;9&lt;/mn&gt;&lt;mn&gt;10&lt;/mn&gt;&lt;/mfrac&gt;&lt;mtext&gt;&lt;/mtext&gt;&lt;mtext&gt;&lt;/mtext&gt;&lt;mo&gt;,&lt;/mo&gt;&lt;mtext&gt;&lt;/mtext&gt;&lt;mtext&gt;&lt;/mtext&gt;&lt;mn&gt;5&lt;/mn&gt;&lt;mfrac&gt;&lt;mn&gt;1&lt;/mn&gt;&lt;mn&gt;3&lt;/mn&gt;&lt;/mfrac&gt;&lt;mtext&gt;&lt;/mtext&gt;&lt;mtext&gt;&lt;/mtext&gt;&lt;mo&gt;,&lt;/mo&gt;&lt;mtext&gt;&lt;/mtext&gt;&lt;mtext&gt;&lt;/mtext&gt;&lt;mn&gt;10&lt;/mn&gt;&lt;mfrac&gt;&lt;mn&gt;2&lt;/mn&gt;&lt;mn&gt;5&lt;/mn&gt;&lt;/mfrac&gt;&lt;/mtd&gt;&lt;/mtr&gt;&lt;mtr&gt;&lt;mtd&gt;&lt;mfrac&gt;&lt;mn&gt;8&lt;/mn&gt;&lt;mn&gt;3&lt;/mn&gt;&lt;/mfrac&gt;&lt;mtext&gt;&lt;/mtext&gt;&lt;mtext&gt;&lt;/mtext&gt;&lt;mtext&gt;&lt;/mtext&gt;&lt;mtext&gt;&lt;/mtext&gt;&lt;mtext&gt;&lt;/mtext&gt;&lt;mo&gt;,&lt;/mo&gt;&lt;mtext&gt;&lt;/mtext&gt;&lt;mtext&gt;&lt;/mtext&gt;&lt;mtext&gt;&lt;/mtext&gt;&lt;mfrac&gt;&lt;mn&gt;24&lt;/mn&gt;&lt;mn&gt;5&lt;/mn&gt;&lt;/mfrac&gt;&lt;mtext&gt;&lt;/mtext&gt;&lt;mtext&gt;&lt;/mtext&gt;&lt;mo&gt;,&lt;/mo&gt;&lt;mtext&gt;&lt;/mtext&gt;&lt;mtext&gt;&lt;/mtext&gt;&lt;mfrac&gt;&lt;mn&gt;49&lt;/mn&gt;&lt;mn&gt;10&lt;/mn&gt;&lt;/mfrac&gt;&lt;mtext&gt;&lt;/mtext&gt;&lt;mtext&gt;&lt;/mtext&gt;&lt;mtext&gt;&lt;/mtext&gt;&lt;mtext&gt;&lt;/mtext&gt;&lt;mo&gt;,&lt;/mo&gt;&lt;mtext&gt;&lt;/mtext&gt;&lt;mtext&gt;&lt;/mtext&gt;&lt;mfrac&gt;&lt;mn&gt;16&lt;/mn&gt;&lt;mn&gt;3&lt;/mn&gt;&lt;/mfrac&gt;&lt;mtext&gt;&lt;/mtext&gt;&lt;mtext&gt;&lt;/mtext&gt;&lt;mtext&gt;&lt;/mtext&gt;&lt;mo&gt;,&lt;/mo&gt;&lt;mtext&gt;&lt;/mtext&gt;&lt;mtext&gt;&lt;/mtext&gt;&lt;mtext&gt;&lt;/mtext&gt;&lt;mfrac&gt;&lt;mn&gt;50&lt;/mn&gt;&lt;mn&gt;2&lt;/mn&gt;&lt;/mfrac&gt;&lt;/mtd&gt;&lt;/mtr&gt;&lt;/mtable&gt;&lt;/math&gt;" id="1573" name="Google Shape;1573;p106" title="5 lines Line 1: 1 and one half comma 2 and three fourths comma 5 and one tenth comma 5 and three fourths comma 20 and one half Line 2: three halves comma eleven fourths comma 51 over 10 comma 23 over 4 comma 41 over 2 Line 3: blank Line 4: 2 two thirds comma 4 and four fifths comma 4 and nine tenths comma 5 and one third comma 10 and two fifths Line 5: eight thirds comma 24 over 5 comma 49 over 10 comma sixteen thirds comma 50 over 2"/>
          <p:cNvPicPr preferRelativeResize="0"/>
          <p:nvPr/>
        </p:nvPicPr>
        <p:blipFill rotWithShape="1">
          <a:blip r:embed="rId3">
            <a:alphaModFix/>
          </a:blip>
          <a:srcRect b="57266" l="0" r="0" t="0"/>
          <a:stretch/>
        </p:blipFill>
        <p:spPr>
          <a:xfrm>
            <a:off x="2721300" y="1781600"/>
            <a:ext cx="4653824" cy="124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4" name="Google Shape;1574;p106"/>
          <p:cNvSpPr txBox="1"/>
          <p:nvPr/>
        </p:nvSpPr>
        <p:spPr>
          <a:xfrm>
            <a:off x="2171100" y="1730625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5" name="Google Shape;1575;p106"/>
          <p:cNvSpPr txBox="1"/>
          <p:nvPr/>
        </p:nvSpPr>
        <p:spPr>
          <a:xfrm>
            <a:off x="2171100" y="3418300"/>
            <a:ext cx="550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6" name="Google Shape;1576;p106"/>
          <p:cNvSpPr/>
          <p:nvPr/>
        </p:nvSpPr>
        <p:spPr>
          <a:xfrm>
            <a:off x="2206725" y="1626000"/>
            <a:ext cx="5491800" cy="1457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7" name="Google Shape;1577;p106"/>
          <p:cNvSpPr/>
          <p:nvPr/>
        </p:nvSpPr>
        <p:spPr>
          <a:xfrm>
            <a:off x="2206725" y="3287100"/>
            <a:ext cx="5491800" cy="1457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1\frac{1}{2}\ \ ,\ \ \ 2\frac{3}{4}\ \ ,\ \ \ 5\frac{1}{10}\ \ ,\ \ 5\frac{3}{4}\ \ ,\ \ 20\frac{1}{2}\\&amp;#13;&amp;#10;\frac{3}{2}\ \ \ \ ,\ \ \ \frac{11}{4}\ \ \ ,\ \ \ \frac{51}{10}\ \ \ ,\ \ \frac{23}{4}\ \ \ ,\ \ \frac{41}{2}\\&amp;#13;&amp;#10;\\&amp;#13;&amp;#10;2\ \frac{2}{3}\ \ ,\ \ \ 4\frac{4}{5}\ \ ,\ \ 4\frac{9}{10}\ \ ,\ \ 5\frac{1}{3}\ \ ,\ \ 10\frac{2}{5}\\&amp;#13;&amp;#10;\frac{8}{3}\ \ \ \ \ ,\ \ \ \frac{24}{5}\ \ ,\ \ \frac{49}{10}\ \ \ \ ,\ \ \frac{16}{3}\ \ \ ,\ \ \ \frac{50}{2}\end{array}&quot;&gt;&lt;mtable columnalign=&quot;left&quot; columnspacing=&quot;1em&quot; rowspacing=&quot;4pt&quot;&gt;&lt;mtr&gt;&lt;mtd&gt;&lt;mn&gt;1&lt;/mn&gt;&lt;mfrac&gt;&lt;mn&gt;1&lt;/mn&gt;&lt;mn&gt;2&lt;/mn&gt;&lt;/mfrac&gt;&lt;mtext&gt;&lt;/mtext&gt;&lt;mtext&gt;&lt;/mtext&gt;&lt;mo&gt;,&lt;/mo&gt;&lt;mtext&gt;&lt;/mtext&gt;&lt;mtext&gt;&lt;/mtext&gt;&lt;mtext&gt;&lt;/mtext&gt;&lt;mn&gt;2&lt;/mn&gt;&lt;mfrac&gt;&lt;mn&gt;3&lt;/mn&gt;&lt;mn&gt;4&lt;/mn&gt;&lt;/mfrac&gt;&lt;mtext&gt;&lt;/mtext&gt;&lt;mtext&gt;&lt;/mtext&gt;&lt;mo&gt;,&lt;/mo&gt;&lt;mtext&gt;&lt;/mtext&gt;&lt;mtext&gt;&lt;/mtext&gt;&lt;mtext&gt;&lt;/mtext&gt;&lt;mn&gt;5&lt;/mn&gt;&lt;mfrac&gt;&lt;mn&gt;1&lt;/mn&gt;&lt;mn&gt;10&lt;/mn&gt;&lt;/mfrac&gt;&lt;mtext&gt;&lt;/mtext&gt;&lt;mtext&gt;&lt;/mtext&gt;&lt;mo&gt;,&lt;/mo&gt;&lt;mtext&gt;&lt;/mtext&gt;&lt;mtext&gt;&lt;/mtext&gt;&lt;mn&gt;5&lt;/mn&gt;&lt;mfrac&gt;&lt;mn&gt;3&lt;/mn&gt;&lt;mn&gt;4&lt;/mn&gt;&lt;/mfrac&gt;&lt;mtext&gt;&lt;/mtext&gt;&lt;mtext&gt;&lt;/mtext&gt;&lt;mo&gt;,&lt;/mo&gt;&lt;mtext&gt;&lt;/mtext&gt;&lt;mtext&gt;&lt;/mtext&gt;&lt;mn&gt;20&lt;/mn&gt;&lt;mfrac&gt;&lt;mn&gt;1&lt;/mn&gt;&lt;mn&gt;2&lt;/mn&gt;&lt;/mfrac&gt;&lt;/mtd&gt;&lt;/mtr&gt;&lt;mtr&gt;&lt;mtd&gt;&lt;mfrac&gt;&lt;mn&gt;3&lt;/mn&gt;&lt;mn&gt;2&lt;/mn&gt;&lt;/mfrac&gt;&lt;mtext&gt;&lt;/mtext&gt;&lt;mtext&gt;&lt;/mtext&gt;&lt;mtext&gt;&lt;/mtext&gt;&lt;mtext&gt;&lt;/mtext&gt;&lt;mo&gt;,&lt;/mo&gt;&lt;mtext&gt;&lt;/mtext&gt;&lt;mtext&gt;&lt;/mtext&gt;&lt;mtext&gt;&lt;/mtext&gt;&lt;mfrac&gt;&lt;mn&gt;11&lt;/mn&gt;&lt;mn&gt;4&lt;/mn&gt;&lt;/mfrac&gt;&lt;mtext&gt;&lt;/mtext&gt;&lt;mtext&gt;&lt;/mtext&gt;&lt;mtext&gt;&lt;/mtext&gt;&lt;mo&gt;,&lt;/mo&gt;&lt;mtext&gt;&lt;/mtext&gt;&lt;mtext&gt;&lt;/mtext&gt;&lt;mtext&gt;&lt;/mtext&gt;&lt;mfrac&gt;&lt;mn&gt;51&lt;/mn&gt;&lt;mn&gt;10&lt;/mn&gt;&lt;/mfrac&gt;&lt;mtext&gt;&lt;/mtext&gt;&lt;mtext&gt;&lt;/mtext&gt;&lt;mtext&gt;&lt;/mtext&gt;&lt;mo&gt;,&lt;/mo&gt;&lt;mtext&gt;&lt;/mtext&gt;&lt;mtext&gt;&lt;/mtext&gt;&lt;mfrac&gt;&lt;mn&gt;23&lt;/mn&gt;&lt;mn&gt;4&lt;/mn&gt;&lt;/mfrac&gt;&lt;mtext&gt;&lt;/mtext&gt;&lt;mtext&gt;&lt;/mtext&gt;&lt;mtext&gt;&lt;/mtext&gt;&lt;mo&gt;,&lt;/mo&gt;&lt;mtext&gt;&lt;/mtext&gt;&lt;mtext&gt;&lt;/mtext&gt;&lt;mfrac&gt;&lt;mn&gt;41&lt;/mn&gt;&lt;mn&gt;2&lt;/mn&gt;&lt;/mfrac&gt;&lt;/mtd&gt;&lt;/mtr&gt;&lt;mtr&gt;&lt;mtd/&gt;&lt;/mtr&gt;&lt;mtr&gt;&lt;mtd&gt;&lt;mn&gt;2&lt;/mn&gt;&lt;mtext&gt;&lt;/mtext&gt;&lt;mfrac&gt;&lt;mn&gt;2&lt;/mn&gt;&lt;mn&gt;3&lt;/mn&gt;&lt;/mfrac&gt;&lt;mtext&gt;&lt;/mtext&gt;&lt;mtext&gt;&lt;/mtext&gt;&lt;mo&gt;,&lt;/mo&gt;&lt;mtext&gt;&lt;/mtext&gt;&lt;mtext&gt;&lt;/mtext&gt;&lt;mtext&gt;&lt;/mtext&gt;&lt;mn&gt;4&lt;/mn&gt;&lt;mfrac&gt;&lt;mn&gt;4&lt;/mn&gt;&lt;mn&gt;5&lt;/mn&gt;&lt;/mfrac&gt;&lt;mtext&gt;&lt;/mtext&gt;&lt;mtext&gt;&lt;/mtext&gt;&lt;mo&gt;,&lt;/mo&gt;&lt;mtext&gt;&lt;/mtext&gt;&lt;mtext&gt;&lt;/mtext&gt;&lt;mn&gt;4&lt;/mn&gt;&lt;mfrac&gt;&lt;mn&gt;9&lt;/mn&gt;&lt;mn&gt;10&lt;/mn&gt;&lt;/mfrac&gt;&lt;mtext&gt;&lt;/mtext&gt;&lt;mtext&gt;&lt;/mtext&gt;&lt;mo&gt;,&lt;/mo&gt;&lt;mtext&gt;&lt;/mtext&gt;&lt;mtext&gt;&lt;/mtext&gt;&lt;mn&gt;5&lt;/mn&gt;&lt;mfrac&gt;&lt;mn&gt;1&lt;/mn&gt;&lt;mn&gt;3&lt;/mn&gt;&lt;/mfrac&gt;&lt;mtext&gt;&lt;/mtext&gt;&lt;mtext&gt;&lt;/mtext&gt;&lt;mo&gt;,&lt;/mo&gt;&lt;mtext&gt;&lt;/mtext&gt;&lt;mtext&gt;&lt;/mtext&gt;&lt;mn&gt;10&lt;/mn&gt;&lt;mfrac&gt;&lt;mn&gt;2&lt;/mn&gt;&lt;mn&gt;5&lt;/mn&gt;&lt;/mfrac&gt;&lt;/mtd&gt;&lt;/mtr&gt;&lt;mtr&gt;&lt;mtd&gt;&lt;mfrac&gt;&lt;mn&gt;8&lt;/mn&gt;&lt;mn&gt;3&lt;/mn&gt;&lt;/mfrac&gt;&lt;mtext&gt;&lt;/mtext&gt;&lt;mtext&gt;&lt;/mtext&gt;&lt;mtext&gt;&lt;/mtext&gt;&lt;mtext&gt;&lt;/mtext&gt;&lt;mtext&gt;&lt;/mtext&gt;&lt;mo&gt;,&lt;/mo&gt;&lt;mtext&gt;&lt;/mtext&gt;&lt;mtext&gt;&lt;/mtext&gt;&lt;mtext&gt;&lt;/mtext&gt;&lt;mfrac&gt;&lt;mn&gt;24&lt;/mn&gt;&lt;mn&gt;5&lt;/mn&gt;&lt;/mfrac&gt;&lt;mtext&gt;&lt;/mtext&gt;&lt;mtext&gt;&lt;/mtext&gt;&lt;mo&gt;,&lt;/mo&gt;&lt;mtext&gt;&lt;/mtext&gt;&lt;mtext&gt;&lt;/mtext&gt;&lt;mfrac&gt;&lt;mn&gt;49&lt;/mn&gt;&lt;mn&gt;10&lt;/mn&gt;&lt;/mfrac&gt;&lt;mtext&gt;&lt;/mtext&gt;&lt;mtext&gt;&lt;/mtext&gt;&lt;mtext&gt;&lt;/mtext&gt;&lt;mtext&gt;&lt;/mtext&gt;&lt;mo&gt;,&lt;/mo&gt;&lt;mtext&gt;&lt;/mtext&gt;&lt;mtext&gt;&lt;/mtext&gt;&lt;mfrac&gt;&lt;mn&gt;16&lt;/mn&gt;&lt;mn&gt;3&lt;/mn&gt;&lt;/mfrac&gt;&lt;mtext&gt;&lt;/mtext&gt;&lt;mtext&gt;&lt;/mtext&gt;&lt;mtext&gt;&lt;/mtext&gt;&lt;mo&gt;,&lt;/mo&gt;&lt;mtext&gt;&lt;/mtext&gt;&lt;mtext&gt;&lt;/mtext&gt;&lt;mtext&gt;&lt;/mtext&gt;&lt;mfrac&gt;&lt;mn&gt;50&lt;/mn&gt;&lt;mn&gt;2&lt;/mn&gt;&lt;/mfrac&gt;&lt;/mtd&gt;&lt;/mtr&gt;&lt;/mtable&gt;&lt;/math&gt;" id="1578" name="Google Shape;1578;p106" title="5 lines Line 1: 1 and one half comma 2 and three fourths comma 5 and one tenth comma 5 and three fourths comma 20 and one half Line 2: three halves comma eleven fourths comma 51 over 10 comma 23 over 4 comma 41 over 2 Line 3: blank Line 4: 2 two thirds comma 4 and four fifths comma 4 and nine tenths comma 5 and one third comma 10 and two fifths Line 5: eight thirds comma 24 over 5 comma 49 over 10 comma sixteen thirds comma 50 over 2"/>
          <p:cNvPicPr preferRelativeResize="0"/>
          <p:nvPr/>
        </p:nvPicPr>
        <p:blipFill rotWithShape="1">
          <a:blip r:embed="rId3">
            <a:alphaModFix/>
          </a:blip>
          <a:srcRect b="-1889" l="-1417" r="12274" t="56133"/>
          <a:stretch/>
        </p:blipFill>
        <p:spPr>
          <a:xfrm>
            <a:off x="2604925" y="3342775"/>
            <a:ext cx="4148424" cy="133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9" name="Google Shape;1579;p106"/>
          <p:cNvSpPr/>
          <p:nvPr/>
        </p:nvSpPr>
        <p:spPr>
          <a:xfrm>
            <a:off x="3792333" y="2391550"/>
            <a:ext cx="314100" cy="5037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0" name="Google Shape;1580;p106"/>
          <p:cNvSpPr/>
          <p:nvPr/>
        </p:nvSpPr>
        <p:spPr>
          <a:xfrm>
            <a:off x="4741150" y="1781600"/>
            <a:ext cx="585000" cy="5037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1" name="Google Shape;1581;p106"/>
          <p:cNvSpPr/>
          <p:nvPr/>
        </p:nvSpPr>
        <p:spPr>
          <a:xfrm>
            <a:off x="5671800" y="2319900"/>
            <a:ext cx="585000" cy="5754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2" name="Google Shape;1582;p106"/>
          <p:cNvSpPr/>
          <p:nvPr/>
        </p:nvSpPr>
        <p:spPr>
          <a:xfrm>
            <a:off x="6753342" y="1816150"/>
            <a:ext cx="406200" cy="4437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3" name="Google Shape;1583;p106"/>
          <p:cNvSpPr/>
          <p:nvPr/>
        </p:nvSpPr>
        <p:spPr>
          <a:xfrm>
            <a:off x="6820250" y="2723825"/>
            <a:ext cx="314100" cy="3042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4" name="Google Shape;1584;p106"/>
          <p:cNvSpPr/>
          <p:nvPr/>
        </p:nvSpPr>
        <p:spPr>
          <a:xfrm>
            <a:off x="2604918" y="3398500"/>
            <a:ext cx="585000" cy="5754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5" name="Google Shape;1585;p106"/>
          <p:cNvSpPr/>
          <p:nvPr/>
        </p:nvSpPr>
        <p:spPr>
          <a:xfrm>
            <a:off x="3643918" y="3418300"/>
            <a:ext cx="585000" cy="5754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6" name="Google Shape;1586;p106"/>
          <p:cNvSpPr/>
          <p:nvPr/>
        </p:nvSpPr>
        <p:spPr>
          <a:xfrm>
            <a:off x="4571996" y="3506100"/>
            <a:ext cx="342900" cy="3372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7" name="Google Shape;1587;p106"/>
          <p:cNvSpPr/>
          <p:nvPr/>
        </p:nvSpPr>
        <p:spPr>
          <a:xfrm>
            <a:off x="4682934" y="3973900"/>
            <a:ext cx="342900" cy="3372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106"/>
          <p:cNvSpPr/>
          <p:nvPr/>
        </p:nvSpPr>
        <p:spPr>
          <a:xfrm>
            <a:off x="4707825" y="4407000"/>
            <a:ext cx="314100" cy="3042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9" name="Google Shape;1589;p106"/>
          <p:cNvSpPr/>
          <p:nvPr/>
        </p:nvSpPr>
        <p:spPr>
          <a:xfrm>
            <a:off x="6022988" y="3418300"/>
            <a:ext cx="342900" cy="5754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1\frac{1}{2}\ \ ,\ \ \ 2\frac{3}{4}\ \ ,\ \ \ 5\frac{1}{10}\ \ ,\ \ 5\frac{3}{4}\ \ ,\ \ 20\frac{1}{2}\\&amp;#13;&amp;#10;\frac{3}{2}\ \ \ \ ,\ \ \ \frac{11}{4}\ \ \ ,\ \ \ \frac{51}{10}\ \ \ ,\ \ \frac{23}{4}\ \ \ ,\ \ \frac{41}{2}\\&amp;#13;&amp;#10;\\&amp;#13;&amp;#10;2\ \frac{2}{3}\ \ ,\ \ \ 4\frac{4}{5}\ \ ,\ \ 4\frac{9}{10}\ \ ,\ \ 5\frac{1}{3}\ \ ,\ \ 5\frac{2}{5}\\&amp;#13;&amp;#10;\frac{8}{3}\ \ \ \ \ ,\ \ \ \frac{24}{5}\ \ ,\ \ \frac{49}{10}\ \ \ \ ,\ \ \frac{16}{3}\ \ \ ,\ \ \ \frac{27}{5}\end{array}&quot;&gt;&lt;mtable columnalign=&quot;left&quot; columnspacing=&quot;1em&quot; rowspacing=&quot;4pt&quot;&gt;&lt;mtr&gt;&lt;mtd&gt;&lt;mn&gt;1&lt;/mn&gt;&lt;mfrac&gt;&lt;mn&gt;1&lt;/mn&gt;&lt;mn&gt;2&lt;/mn&gt;&lt;/mfrac&gt;&lt;mtext&gt;&lt;/mtext&gt;&lt;mtext&gt;&lt;/mtext&gt;&lt;mo&gt;,&lt;/mo&gt;&lt;mtext&gt;&lt;/mtext&gt;&lt;mtext&gt;&lt;/mtext&gt;&lt;mtext&gt;&lt;/mtext&gt;&lt;mn&gt;2&lt;/mn&gt;&lt;mfrac&gt;&lt;mn&gt;3&lt;/mn&gt;&lt;mn&gt;4&lt;/mn&gt;&lt;/mfrac&gt;&lt;mtext&gt;&lt;/mtext&gt;&lt;mtext&gt;&lt;/mtext&gt;&lt;mo&gt;,&lt;/mo&gt;&lt;mtext&gt;&lt;/mtext&gt;&lt;mtext&gt;&lt;/mtext&gt;&lt;mtext&gt;&lt;/mtext&gt;&lt;mn&gt;5&lt;/mn&gt;&lt;mfrac&gt;&lt;mn&gt;1&lt;/mn&gt;&lt;mn&gt;10&lt;/mn&gt;&lt;/mfrac&gt;&lt;mtext&gt;&lt;/mtext&gt;&lt;mtext&gt;&lt;/mtext&gt;&lt;mo&gt;,&lt;/mo&gt;&lt;mtext&gt;&lt;/mtext&gt;&lt;mtext&gt;&lt;/mtext&gt;&lt;mn&gt;5&lt;/mn&gt;&lt;mfrac&gt;&lt;mn&gt;3&lt;/mn&gt;&lt;mn&gt;4&lt;/mn&gt;&lt;/mfrac&gt;&lt;mtext&gt;&lt;/mtext&gt;&lt;mtext&gt;&lt;/mtext&gt;&lt;mo&gt;,&lt;/mo&gt;&lt;mtext&gt;&lt;/mtext&gt;&lt;mtext&gt;&lt;/mtext&gt;&lt;mn&gt;20&lt;/mn&gt;&lt;mfrac&gt;&lt;mn&gt;1&lt;/mn&gt;&lt;mn&gt;2&lt;/mn&gt;&lt;/mfrac&gt;&lt;/mtd&gt;&lt;/mtr&gt;&lt;mtr&gt;&lt;mtd&gt;&lt;mfrac&gt;&lt;mn&gt;3&lt;/mn&gt;&lt;mn&gt;2&lt;/mn&gt;&lt;/mfrac&gt;&lt;mtext&gt;&lt;/mtext&gt;&lt;mtext&gt;&lt;/mtext&gt;&lt;mtext&gt;&lt;/mtext&gt;&lt;mtext&gt;&lt;/mtext&gt;&lt;mo&gt;,&lt;/mo&gt;&lt;mtext&gt;&lt;/mtext&gt;&lt;mtext&gt;&lt;/mtext&gt;&lt;mtext&gt;&lt;/mtext&gt;&lt;mfrac&gt;&lt;mn&gt;11&lt;/mn&gt;&lt;mn&gt;4&lt;/mn&gt;&lt;/mfrac&gt;&lt;mtext&gt;&lt;/mtext&gt;&lt;mtext&gt;&lt;/mtext&gt;&lt;mtext&gt;&lt;/mtext&gt;&lt;mo&gt;,&lt;/mo&gt;&lt;mtext&gt;&lt;/mtext&gt;&lt;mtext&gt;&lt;/mtext&gt;&lt;mtext&gt;&lt;/mtext&gt;&lt;mfrac&gt;&lt;mn&gt;51&lt;/mn&gt;&lt;mn&gt;10&lt;/mn&gt;&lt;/mfrac&gt;&lt;mtext&gt;&lt;/mtext&gt;&lt;mtext&gt;&lt;/mtext&gt;&lt;mtext&gt;&lt;/mtext&gt;&lt;mo&gt;,&lt;/mo&gt;&lt;mtext&gt;&lt;/mtext&gt;&lt;mtext&gt;&lt;/mtext&gt;&lt;mfrac&gt;&lt;mn&gt;23&lt;/mn&gt;&lt;mn&gt;4&lt;/mn&gt;&lt;/mfrac&gt;&lt;mtext&gt;&lt;/mtext&gt;&lt;mtext&gt;&lt;/mtext&gt;&lt;mtext&gt;&lt;/mtext&gt;&lt;mo&gt;,&lt;/mo&gt;&lt;mtext&gt;&lt;/mtext&gt;&lt;mtext&gt;&lt;/mtext&gt;&lt;mfrac&gt;&lt;mn&gt;41&lt;/mn&gt;&lt;mn&gt;2&lt;/mn&gt;&lt;/mfrac&gt;&lt;/mtd&gt;&lt;/mtr&gt;&lt;mtr&gt;&lt;mtd/&gt;&lt;/mtr&gt;&lt;mtr&gt;&lt;mtd&gt;&lt;mn&gt;2&lt;/mn&gt;&lt;mtext&gt;&lt;/mtext&gt;&lt;mfrac&gt;&lt;mn&gt;2&lt;/mn&gt;&lt;mn&gt;3&lt;/mn&gt;&lt;/mfrac&gt;&lt;mtext&gt;&lt;/mtext&gt;&lt;mtext&gt;&lt;/mtext&gt;&lt;mo&gt;,&lt;/mo&gt;&lt;mtext&gt;&lt;/mtext&gt;&lt;mtext&gt;&lt;/mtext&gt;&lt;mtext&gt;&lt;/mtext&gt;&lt;mn&gt;4&lt;/mn&gt;&lt;mfrac&gt;&lt;mn&gt;4&lt;/mn&gt;&lt;mn&gt;5&lt;/mn&gt;&lt;/mfrac&gt;&lt;mtext&gt;&lt;/mtext&gt;&lt;mtext&gt;&lt;/mtext&gt;&lt;mo&gt;,&lt;/mo&gt;&lt;mtext&gt;&lt;/mtext&gt;&lt;mtext&gt;&lt;/mtext&gt;&lt;mn&gt;4&lt;/mn&gt;&lt;mfrac&gt;&lt;mn&gt;9&lt;/mn&gt;&lt;mn&gt;10&lt;/mn&gt;&lt;/mfrac&gt;&lt;mtext&gt;&lt;/mtext&gt;&lt;mtext&gt;&lt;/mtext&gt;&lt;mo&gt;,&lt;/mo&gt;&lt;mtext&gt;&lt;/mtext&gt;&lt;mtext&gt;&lt;/mtext&gt;&lt;mn&gt;5&lt;/mn&gt;&lt;mfrac&gt;&lt;mn&gt;1&lt;/mn&gt;&lt;mn&gt;3&lt;/mn&gt;&lt;/mfrac&gt;&lt;mtext&gt;&lt;/mtext&gt;&lt;mtext&gt;&lt;/mtext&gt;&lt;mo&gt;,&lt;/mo&gt;&lt;mtext&gt;&lt;/mtext&gt;&lt;mtext&gt;&lt;/mtext&gt;&lt;mn&gt;5&lt;/mn&gt;&lt;mfrac&gt;&lt;mn&gt;2&lt;/mn&gt;&lt;mn&gt;5&lt;/mn&gt;&lt;/mfrac&gt;&lt;/mtd&gt;&lt;/mtr&gt;&lt;mtr&gt;&lt;mtd&gt;&lt;mfrac&gt;&lt;mn&gt;8&lt;/mn&gt;&lt;mn&gt;3&lt;/mn&gt;&lt;/mfrac&gt;&lt;mtext&gt;&lt;/mtext&gt;&lt;mtext&gt;&lt;/mtext&gt;&lt;mtext&gt;&lt;/mtext&gt;&lt;mtext&gt;&lt;/mtext&gt;&lt;mtext&gt;&lt;/mtext&gt;&lt;mo&gt;,&lt;/mo&gt;&lt;mtext&gt;&lt;/mtext&gt;&lt;mtext&gt;&lt;/mtext&gt;&lt;mtext&gt;&lt;/mtext&gt;&lt;mfrac&gt;&lt;mn&gt;24&lt;/mn&gt;&lt;mn&gt;5&lt;/mn&gt;&lt;/mfrac&gt;&lt;mtext&gt;&lt;/mtext&gt;&lt;mtext&gt;&lt;/mtext&gt;&lt;mo&gt;,&lt;/mo&gt;&lt;mtext&gt;&lt;/mtext&gt;&lt;mtext&gt;&lt;/mtext&gt;&lt;mfrac&gt;&lt;mn&gt;49&lt;/mn&gt;&lt;mn&gt;10&lt;/mn&gt;&lt;/mfrac&gt;&lt;mtext&gt;&lt;/mtext&gt;&lt;mtext&gt;&lt;/mtext&gt;&lt;mtext&gt;&lt;/mtext&gt;&lt;mtext&gt;&lt;/mtext&gt;&lt;mo&gt;,&lt;/mo&gt;&lt;mtext&gt;&lt;/mtext&gt;&lt;mtext&gt;&lt;/mtext&gt;&lt;mfrac&gt;&lt;mn&gt;16&lt;/mn&gt;&lt;mn&gt;3&lt;/mn&gt;&lt;/mfrac&gt;&lt;mtext&gt;&lt;/mtext&gt;&lt;mtext&gt;&lt;/mtext&gt;&lt;mtext&gt;&lt;/mtext&gt;&lt;mo&gt;,&lt;/mo&gt;&lt;mtext&gt;&lt;/mtext&gt;&lt;mtext&gt;&lt;/mtext&gt;&lt;mtext&gt;&lt;/mtext&gt;&lt;mfrac&gt;&lt;mn&gt;27&lt;/mn&gt;&lt;mn&gt;5&lt;/mn&gt;&lt;/mfrac&gt;&lt;/mtd&gt;&lt;/mtr&gt;&lt;/mtable&gt;&lt;/math&gt;" id="1590" name="Google Shape;1590;p106" title="5 lines Line 1: 1 and one half comma 2 and three fourths comma 5 and one tenth comma 5 and three fourths comma 20 and one half Line 2: three halves comma eleven fourths comma 51 over 10 comma 23 over 4 comma 41 over 2 Line 3: blank Line 4: 2 two thirds comma 4 and four fifths comma 4 and nine tenths comma 5 and one third comma 5 and two fifths Line 5: eight thirds comma 24 over 5 comma 49 over 10 comma sixteen thirds comma 27 over 5"/>
          <p:cNvPicPr preferRelativeResize="0"/>
          <p:nvPr/>
        </p:nvPicPr>
        <p:blipFill rotWithShape="1">
          <a:blip r:embed="rId4">
            <a:alphaModFix/>
          </a:blip>
          <a:srcRect b="0" l="84780" r="0" t="56587"/>
          <a:stretch/>
        </p:blipFill>
        <p:spPr>
          <a:xfrm>
            <a:off x="6518825" y="3367548"/>
            <a:ext cx="697192" cy="124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1" name="Google Shape;1591;p106"/>
          <p:cNvSpPr/>
          <p:nvPr/>
        </p:nvSpPr>
        <p:spPr>
          <a:xfrm>
            <a:off x="6873125" y="3418300"/>
            <a:ext cx="342900" cy="5754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2" name="Google Shape;1592;p106"/>
          <p:cNvSpPr/>
          <p:nvPr/>
        </p:nvSpPr>
        <p:spPr>
          <a:xfrm>
            <a:off x="6776704" y="4392271"/>
            <a:ext cx="266700" cy="2934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3" name="Google Shape;1593;p10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mixed numbers and improper fractions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p107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converting mixed numbers to improper fractions</a:t>
            </a:r>
            <a:endParaRPr/>
          </a:p>
        </p:txBody>
      </p:sp>
      <p:sp>
        <p:nvSpPr>
          <p:cNvPr id="1599" name="Google Shape;1599;p10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800"/>
              <a:t>An improper fraction is a fraction where the numerator is greater than or equal to the denominator.</a:t>
            </a:r>
            <a:endParaRPr b="0" sz="1800"/>
          </a:p>
        </p:txBody>
      </p:sp>
      <p:sp>
        <p:nvSpPr>
          <p:cNvPr id="1600" name="Google Shape;1600;p107"/>
          <p:cNvSpPr txBox="1"/>
          <p:nvPr>
            <p:ph idx="4294967295" type="subTitle"/>
          </p:nvPr>
        </p:nvSpPr>
        <p:spPr>
          <a:xfrm>
            <a:off x="324000" y="1760923"/>
            <a:ext cx="8361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write an </a:t>
            </a:r>
            <a:r>
              <a:rPr lang="en-GB" sz="1800"/>
              <a:t>integer</a:t>
            </a:r>
            <a:r>
              <a:rPr lang="en-GB" sz="1800"/>
              <a:t> as an improper fraction.</a:t>
            </a:r>
            <a:endParaRPr b="0" sz="1800"/>
          </a:p>
        </p:txBody>
      </p:sp>
      <p:sp>
        <p:nvSpPr>
          <p:cNvPr id="1601" name="Google Shape;1601;p107"/>
          <p:cNvSpPr txBox="1"/>
          <p:nvPr>
            <p:ph idx="4294967295" type="subTitle"/>
          </p:nvPr>
        </p:nvSpPr>
        <p:spPr>
          <a:xfrm>
            <a:off x="324000" y="2160738"/>
            <a:ext cx="8220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800"/>
              <a:t>A mixed number is an improper fraction written as its integer part plus the fractional part, where the fractional part is a proper fraction. </a:t>
            </a:r>
            <a:endParaRPr b="0" sz="1800"/>
          </a:p>
        </p:txBody>
      </p:sp>
      <p:sp>
        <p:nvSpPr>
          <p:cNvPr id="1602" name="Google Shape;1602;p107"/>
          <p:cNvSpPr txBox="1"/>
          <p:nvPr>
            <p:ph idx="4294967295" type="subTitle"/>
          </p:nvPr>
        </p:nvSpPr>
        <p:spPr>
          <a:xfrm>
            <a:off x="3280601" y="3181213"/>
            <a:ext cx="1366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800"/>
              <a:t>Example</a:t>
            </a:r>
            <a:endParaRPr b="0" sz="1800"/>
          </a:p>
        </p:txBody>
      </p:sp>
      <p:sp>
        <p:nvSpPr>
          <p:cNvPr id="1603" name="Google Shape;1603;p107"/>
          <p:cNvSpPr txBox="1"/>
          <p:nvPr>
            <p:ph idx="4294967295" type="subTitle"/>
          </p:nvPr>
        </p:nvSpPr>
        <p:spPr>
          <a:xfrm>
            <a:off x="324000" y="3824388"/>
            <a:ext cx="8220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It is sometimes important to convert mixed numbers into improper fractions and vice versa so we can compare them.</a:t>
            </a:r>
            <a:endParaRPr b="0" sz="1800"/>
          </a:p>
        </p:txBody>
      </p:sp>
      <p:pic>
        <p:nvPicPr>
          <p:cNvPr descr="&lt;math xmlns=&quot;http://www.w3.org/1998/Math/MathML&quot; display=&quot;block&quot; data-is-equatio=&quot;1&quot; data-latex=&quot;3\frac{1}{2}=\frac{7}{2}&quot;&gt;&lt;mn&gt;3&lt;/mn&gt;&lt;mfrac&gt;&lt;mn&gt;1&lt;/mn&gt;&lt;mn&gt;2&lt;/mn&gt;&lt;/mfrac&gt;&lt;mo&gt;=&lt;/mo&gt;&lt;mfrac&gt;&lt;mn&gt;7&lt;/mn&gt;&lt;mn&gt;2&lt;/mn&gt;&lt;/mfrac&gt;&lt;/math&gt;" id="1604" name="Google Shape;1604;p107" title="3 and one half equals seven halv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225" y="2906085"/>
            <a:ext cx="1317175" cy="82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108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610" name="Google Shape;1610;p1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