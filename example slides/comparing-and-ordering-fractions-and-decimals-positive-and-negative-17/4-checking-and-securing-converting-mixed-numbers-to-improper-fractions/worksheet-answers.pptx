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9fbe9f56b0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9fbe9f56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9fbe9f56b0_0_7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9fbe9f56b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Relationship Id="rId8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Relationship Id="rId11" Type="http://schemas.openxmlformats.org/officeDocument/2006/relationships/image" Target="../media/image28.png"/><Relationship Id="rId10" Type="http://schemas.openxmlformats.org/officeDocument/2006/relationships/image" Target="../media/image32.png"/><Relationship Id="rId12" Type="http://schemas.openxmlformats.org/officeDocument/2006/relationships/image" Target="../media/image29.png"/><Relationship Id="rId9" Type="http://schemas.openxmlformats.org/officeDocument/2006/relationships/image" Target="../media/image27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Relationship Id="rId7" Type="http://schemas.openxmlformats.org/officeDocument/2006/relationships/image" Target="../media/image25.png"/><Relationship Id="rId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6354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converting mixed numbers to improper fractions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7482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Integers as improper fractions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673025"/>
            <a:ext cx="6624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improper fraction with the correct integer.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2}\ \ \ \ \frac{15}{3}\ \ \ \ \frac{50}{5}\ \ \ \ \frac{9}{9}\ \ \ \ \frac{110}{10}\ \ \ \ \frac{24}{12}\ \ \ \ \frac{300}{15}&quot;&gt;&lt;mfrac&gt;&lt;mn&gt;12&lt;/mn&gt;&lt;mn&gt;2&lt;/mn&gt;&lt;/mfrac&gt;&lt;mtext&gt;&lt;/mtext&gt;&lt;mtext&gt;&lt;/mtext&gt;&lt;mtext&gt;&lt;/mtext&gt;&lt;mtext&gt;&lt;/mtext&gt;&lt;mfrac&gt;&lt;mn&gt;15&lt;/mn&gt;&lt;mn&gt;3&lt;/mn&gt;&lt;/mfrac&gt;&lt;mtext&gt;&lt;/mtext&gt;&lt;mtext&gt;&lt;/mtext&gt;&lt;mtext&gt;&lt;/mtext&gt;&lt;mtext&gt;&lt;/mtext&gt;&lt;mfrac&gt;&lt;mn&gt;50&lt;/mn&gt;&lt;mn&gt;5&lt;/mn&gt;&lt;/mfrac&gt;&lt;mtext&gt;&lt;/mtext&gt;&lt;mtext&gt;&lt;/mtext&gt;&lt;mtext&gt;&lt;/mtext&gt;&lt;mtext&gt;&lt;/mtext&gt;&lt;mfrac&gt;&lt;mn&gt;9&lt;/mn&gt;&lt;mn&gt;9&lt;/mn&gt;&lt;/mfrac&gt;&lt;mtext&gt;&lt;/mtext&gt;&lt;mtext&gt;&lt;/mtext&gt;&lt;mtext&gt;&lt;/mtext&gt;&lt;mtext&gt;&lt;/mtext&gt;&lt;mfrac&gt;&lt;mn&gt;110&lt;/mn&gt;&lt;mn&gt;10&lt;/mn&gt;&lt;/mfrac&gt;&lt;mtext&gt;&lt;/mtext&gt;&lt;mtext&gt;&lt;/mtext&gt;&lt;mtext&gt;&lt;/mtext&gt;&lt;mtext&gt;&lt;/mtext&gt;&lt;mfrac&gt;&lt;mn&gt;24&lt;/mn&gt;&lt;mn&gt;12&lt;/mn&gt;&lt;/mfrac&gt;&lt;mtext&gt;&lt;/mtext&gt;&lt;mtext&gt;&lt;/mtext&gt;&lt;mtext&gt;&lt;/mtext&gt;&lt;mtext&gt;&lt;/mtext&gt;&lt;mfrac&gt;&lt;mn&gt;300&lt;/mn&gt;&lt;mn&gt;15&lt;/mn&gt;&lt;/mfrac&gt;&lt;/math&gt;" id="175" name="Google Shape;175;p20" title="twelve halves fifteen thirds 50 over 5 nine ninths 110 over 10 24 over 12 300 over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7338" y="1974225"/>
            <a:ext cx="4331413" cy="576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 \ \ 2\ \ \ \ 5\ \ \ \ 6\ \ \ \ \ 10\ \ \ \ 11\ \ \ \ 20&quot;&gt;&lt;mn&gt;1&lt;/mn&gt;&lt;mtext&gt;&lt;/mtext&gt;&lt;mtext&gt;&lt;/mtext&gt;&lt;mtext&gt;&lt;/mtext&gt;&lt;mtext&gt;&lt;/mtext&gt;&lt;mn&gt;2&lt;/mn&gt;&lt;mtext&gt;&lt;/mtext&gt;&lt;mtext&gt;&lt;/mtext&gt;&lt;mtext&gt;&lt;/mtext&gt;&lt;mtext&gt;&lt;/mtext&gt;&lt;mn&gt;5&lt;/mn&gt;&lt;mtext&gt;&lt;/mtext&gt;&lt;mtext&gt;&lt;/mtext&gt;&lt;mtext&gt;&lt;/mtext&gt;&lt;mtext&gt;&lt;/mtext&gt;&lt;mn&gt;6&lt;/mn&gt;&lt;mtext&gt;&lt;/mtext&gt;&lt;mtext&gt;&lt;/mtext&gt;&lt;mtext&gt;&lt;/mtext&gt;&lt;mtext&gt;&lt;/mtext&gt;&lt;mtext&gt;&lt;/mtext&gt;&lt;mn&gt;10&lt;/mn&gt;&lt;mtext&gt;&lt;/mtext&gt;&lt;mtext&gt;&lt;/mtext&gt;&lt;mtext&gt;&lt;/mtext&gt;&lt;mtext&gt;&lt;/mtext&gt;&lt;mn&gt;11&lt;/mn&gt;&lt;mtext&gt;&lt;/mtext&gt;&lt;mtext&gt;&lt;/mtext&gt;&lt;mtext&gt;&lt;/mtext&gt;&lt;mtext&gt;&lt;/mtext&gt;&lt;mn&gt;20&lt;/mn&gt;&lt;/math&gt;" id="176" name="Google Shape;176;p20" title="1 2 5 6 10 11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7278" y="3017665"/>
            <a:ext cx="3536671" cy="2258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20"/>
          <p:cNvCxnSpPr/>
          <p:nvPr/>
        </p:nvCxnSpPr>
        <p:spPr>
          <a:xfrm>
            <a:off x="1987353" y="2514021"/>
            <a:ext cx="1385100" cy="469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0"/>
          <p:cNvCxnSpPr/>
          <p:nvPr/>
        </p:nvCxnSpPr>
        <p:spPr>
          <a:xfrm>
            <a:off x="2507536" y="2601710"/>
            <a:ext cx="404700" cy="385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0"/>
          <p:cNvCxnSpPr/>
          <p:nvPr/>
        </p:nvCxnSpPr>
        <p:spPr>
          <a:xfrm>
            <a:off x="3187026" y="2555650"/>
            <a:ext cx="702900" cy="392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0"/>
          <p:cNvCxnSpPr/>
          <p:nvPr/>
        </p:nvCxnSpPr>
        <p:spPr>
          <a:xfrm flipH="1">
            <a:off x="2013635" y="2599690"/>
            <a:ext cx="1587900" cy="36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0"/>
          <p:cNvCxnSpPr/>
          <p:nvPr/>
        </p:nvCxnSpPr>
        <p:spPr>
          <a:xfrm>
            <a:off x="4285443" y="2610279"/>
            <a:ext cx="383400" cy="372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0"/>
          <p:cNvCxnSpPr/>
          <p:nvPr/>
        </p:nvCxnSpPr>
        <p:spPr>
          <a:xfrm flipH="1">
            <a:off x="2584724" y="2597588"/>
            <a:ext cx="2415600" cy="36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0"/>
          <p:cNvCxnSpPr/>
          <p:nvPr/>
        </p:nvCxnSpPr>
        <p:spPr>
          <a:xfrm flipH="1">
            <a:off x="5310129" y="2644875"/>
            <a:ext cx="314100" cy="342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0"/>
          <p:cNvSpPr txBox="1"/>
          <p:nvPr/>
        </p:nvSpPr>
        <p:spPr>
          <a:xfrm>
            <a:off x="468000" y="3398950"/>
            <a:ext cx="6624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gaps to evaluate the answer to 4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3244931" y="4566682"/>
            <a:ext cx="867240" cy="819936"/>
          </a:xfrm>
          <a:prstGeom prst="cloud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4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 flipH="1" rot="10800000">
            <a:off x="4070144" y="4376128"/>
            <a:ext cx="419700" cy="325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0"/>
          <p:cNvCxnSpPr/>
          <p:nvPr/>
        </p:nvCxnSpPr>
        <p:spPr>
          <a:xfrm>
            <a:off x="4097171" y="4916936"/>
            <a:ext cx="636900" cy="143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0"/>
          <p:cNvCxnSpPr>
            <a:endCxn id="189" idx="0"/>
          </p:cNvCxnSpPr>
          <p:nvPr/>
        </p:nvCxnSpPr>
        <p:spPr>
          <a:xfrm>
            <a:off x="3780012" y="5324534"/>
            <a:ext cx="30900" cy="270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0"/>
          <p:cNvCxnSpPr/>
          <p:nvPr/>
        </p:nvCxnSpPr>
        <p:spPr>
          <a:xfrm rot="10800000">
            <a:off x="2788014" y="4869840"/>
            <a:ext cx="456900" cy="56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0"/>
          <p:cNvCxnSpPr/>
          <p:nvPr/>
        </p:nvCxnSpPr>
        <p:spPr>
          <a:xfrm rot="10800000">
            <a:off x="3031452" y="4281844"/>
            <a:ext cx="354600" cy="370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0"/>
          <p:cNvCxnSpPr/>
          <p:nvPr/>
        </p:nvCxnSpPr>
        <p:spPr>
          <a:xfrm flipH="1" rot="10800000">
            <a:off x="3647705" y="4177067"/>
            <a:ext cx="64800" cy="398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0"/>
          <p:cNvCxnSpPr/>
          <p:nvPr/>
        </p:nvCxnSpPr>
        <p:spPr>
          <a:xfrm flipH="1">
            <a:off x="2985842" y="5273358"/>
            <a:ext cx="404700" cy="273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0"/>
          <p:cNvCxnSpPr/>
          <p:nvPr/>
        </p:nvCxnSpPr>
        <p:spPr>
          <a:xfrm>
            <a:off x="3943477" y="5275551"/>
            <a:ext cx="459300" cy="320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195" name="Google Shape;195;p20" title="eight halves 40 over 10 twelve thirds sixteen fourths 80 over 20 64 over 16"/>
          <p:cNvPicPr preferRelativeResize="0"/>
          <p:nvPr/>
        </p:nvPicPr>
        <p:blipFill rotWithShape="1">
          <a:blip r:embed="rId5">
            <a:alphaModFix/>
          </a:blip>
          <a:srcRect b="0" l="0" r="92054" t="0"/>
          <a:stretch/>
        </p:blipFill>
        <p:spPr>
          <a:xfrm>
            <a:off x="3689968" y="3697775"/>
            <a:ext cx="230825" cy="434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196" name="Google Shape;196;p20" title="eight halves 40 over 10 twelve thirds sixteen fourths 80 over 20 64 over 16"/>
          <p:cNvPicPr preferRelativeResize="0"/>
          <p:nvPr/>
        </p:nvPicPr>
        <p:blipFill rotWithShape="1">
          <a:blip r:embed="rId5">
            <a:alphaModFix/>
          </a:blip>
          <a:srcRect b="-13776" l="11402" r="79252" t="-10787"/>
          <a:stretch/>
        </p:blipFill>
        <p:spPr>
          <a:xfrm>
            <a:off x="4517711" y="3988343"/>
            <a:ext cx="271502" cy="541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197" name="Google Shape;197;p20" title="eight halves 40 over 10 twelve thirds sixteen fourths 80 over 20 64 over 16"/>
          <p:cNvPicPr preferRelativeResize="0"/>
          <p:nvPr/>
        </p:nvPicPr>
        <p:blipFill rotWithShape="1">
          <a:blip r:embed="rId5">
            <a:alphaModFix/>
          </a:blip>
          <a:srcRect b="-11981" l="26034" r="61616" t="-4230"/>
          <a:stretch/>
        </p:blipFill>
        <p:spPr>
          <a:xfrm>
            <a:off x="4789213" y="4820323"/>
            <a:ext cx="358787" cy="50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198" name="Google Shape;198;p20" title="eight halves 40 over 10 twelve thirds sixteen fourths 80 over 20 64 over 16"/>
          <p:cNvPicPr preferRelativeResize="0"/>
          <p:nvPr/>
        </p:nvPicPr>
        <p:blipFill rotWithShape="1">
          <a:blip r:embed="rId5">
            <a:alphaModFix/>
          </a:blip>
          <a:srcRect b="-8993" l="49559" r="38090" t="-7204"/>
          <a:stretch/>
        </p:blipFill>
        <p:spPr>
          <a:xfrm>
            <a:off x="4453739" y="5451162"/>
            <a:ext cx="358787" cy="50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189" name="Google Shape;189;p20" title="eight halves 40 over 10 twelve thirds sixteen fourths 80 over 20 64 over 16"/>
          <p:cNvPicPr preferRelativeResize="0"/>
          <p:nvPr/>
        </p:nvPicPr>
        <p:blipFill rotWithShape="1">
          <a:blip r:embed="rId5">
            <a:alphaModFix/>
          </a:blip>
          <a:srcRect b="-8111" l="70040" r="14234" t="-8099"/>
          <a:stretch/>
        </p:blipFill>
        <p:spPr>
          <a:xfrm>
            <a:off x="3582489" y="5594534"/>
            <a:ext cx="456845" cy="50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199" name="Google Shape;199;p20" title="eight halves 40 over 10 twelve thirds sixteen fourths 80 over 20 64 over 16"/>
          <p:cNvPicPr preferRelativeResize="0"/>
          <p:nvPr/>
        </p:nvPicPr>
        <p:blipFill rotWithShape="1">
          <a:blip r:embed="rId5">
            <a:alphaModFix/>
          </a:blip>
          <a:srcRect b="-13590" l="89939" r="-3866" t="-16212"/>
          <a:stretch/>
        </p:blipFill>
        <p:spPr>
          <a:xfrm>
            <a:off x="2619551" y="5286309"/>
            <a:ext cx="404605" cy="5641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20"/>
          <p:cNvCxnSpPr/>
          <p:nvPr/>
        </p:nvCxnSpPr>
        <p:spPr>
          <a:xfrm>
            <a:off x="2427888" y="4742670"/>
            <a:ext cx="246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0"/>
          <p:cNvCxnSpPr/>
          <p:nvPr/>
        </p:nvCxnSpPr>
        <p:spPr>
          <a:xfrm>
            <a:off x="2788069" y="4066593"/>
            <a:ext cx="246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0"/>
          <p:cNvCxnSpPr/>
          <p:nvPr/>
        </p:nvCxnSpPr>
        <p:spPr>
          <a:xfrm flipH="1" rot="10800000">
            <a:off x="1938098" y="4099784"/>
            <a:ext cx="795000" cy="381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20"/>
          <p:cNvCxnSpPr/>
          <p:nvPr/>
        </p:nvCxnSpPr>
        <p:spPr>
          <a:xfrm>
            <a:off x="1938098" y="4480784"/>
            <a:ext cx="486000" cy="281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" name="Google Shape;204;p20"/>
          <p:cNvSpPr txBox="1"/>
          <p:nvPr/>
        </p:nvSpPr>
        <p:spPr>
          <a:xfrm>
            <a:off x="521875" y="3846550"/>
            <a:ext cx="14139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an infinite number of improper fractions which evaluate to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5" name="Google Shape;20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56532" y="6588878"/>
            <a:ext cx="3962915" cy="72052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457025" y="7313708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57025" y="7831529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57025" y="8349349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457025" y="8867170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3147940" y="7924568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211" name="Google Shape;211;p20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7">
            <a:alphaModFix/>
          </a:blip>
          <a:srcRect b="0" l="0" r="91057" t="0"/>
          <a:stretch/>
        </p:blipFill>
        <p:spPr>
          <a:xfrm>
            <a:off x="868650" y="7335881"/>
            <a:ext cx="293403" cy="41628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3147940" y="7427415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213" name="Google Shape;213;p20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7">
            <a:alphaModFix/>
          </a:blip>
          <a:srcRect b="0" l="11796" r="79260" t="0"/>
          <a:stretch/>
        </p:blipFill>
        <p:spPr>
          <a:xfrm>
            <a:off x="862506" y="7842610"/>
            <a:ext cx="293403" cy="416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214" name="Google Shape;214;p20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7">
            <a:alphaModFix/>
          </a:blip>
          <a:srcRect b="0" l="24982" r="66074" t="0"/>
          <a:stretch/>
        </p:blipFill>
        <p:spPr>
          <a:xfrm>
            <a:off x="868650" y="8349340"/>
            <a:ext cx="293403" cy="416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215" name="Google Shape;215;p20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7">
            <a:alphaModFix/>
          </a:blip>
          <a:srcRect b="0" l="38947" r="52110" t="0"/>
          <a:stretch/>
        </p:blipFill>
        <p:spPr>
          <a:xfrm>
            <a:off x="868650" y="8856070"/>
            <a:ext cx="293403" cy="416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216" name="Google Shape;216;p20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7">
            <a:alphaModFix/>
          </a:blip>
          <a:srcRect b="0" l="64411" r="26645" t="0"/>
          <a:stretch/>
        </p:blipFill>
        <p:spPr>
          <a:xfrm>
            <a:off x="3446578" y="7392879"/>
            <a:ext cx="293403" cy="416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217" name="Google Shape;217;p20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7">
            <a:alphaModFix/>
          </a:blip>
          <a:srcRect b="0" l="78641" r="12415" t="0"/>
          <a:stretch/>
        </p:blipFill>
        <p:spPr>
          <a:xfrm>
            <a:off x="3446568" y="7949640"/>
            <a:ext cx="293403" cy="41628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4521014" y="6442992"/>
            <a:ext cx="29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/>
          </a:p>
        </p:txBody>
      </p:sp>
      <p:cxnSp>
        <p:nvCxnSpPr>
          <p:cNvPr id="219" name="Google Shape;219;p20"/>
          <p:cNvCxnSpPr/>
          <p:nvPr/>
        </p:nvCxnSpPr>
        <p:spPr>
          <a:xfrm>
            <a:off x="4667686" y="6710731"/>
            <a:ext cx="0" cy="18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20"/>
          <p:cNvSpPr txBox="1"/>
          <p:nvPr/>
        </p:nvSpPr>
        <p:spPr>
          <a:xfrm>
            <a:off x="3062391" y="6430555"/>
            <a:ext cx="29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/>
          </a:p>
        </p:txBody>
      </p:sp>
      <p:cxnSp>
        <p:nvCxnSpPr>
          <p:cNvPr id="221" name="Google Shape;221;p20"/>
          <p:cNvCxnSpPr/>
          <p:nvPr/>
        </p:nvCxnSpPr>
        <p:spPr>
          <a:xfrm>
            <a:off x="3209063" y="6698293"/>
            <a:ext cx="0" cy="18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p20"/>
          <p:cNvSpPr txBox="1"/>
          <p:nvPr/>
        </p:nvSpPr>
        <p:spPr>
          <a:xfrm>
            <a:off x="2581755" y="6430555"/>
            <a:ext cx="29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/>
          </a:p>
        </p:txBody>
      </p:sp>
      <p:cxnSp>
        <p:nvCxnSpPr>
          <p:cNvPr id="223" name="Google Shape;223;p20"/>
          <p:cNvCxnSpPr/>
          <p:nvPr/>
        </p:nvCxnSpPr>
        <p:spPr>
          <a:xfrm>
            <a:off x="2728427" y="6698293"/>
            <a:ext cx="0" cy="18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" name="Google Shape;224;p20"/>
          <p:cNvSpPr txBox="1"/>
          <p:nvPr/>
        </p:nvSpPr>
        <p:spPr>
          <a:xfrm>
            <a:off x="2333573" y="6430555"/>
            <a:ext cx="29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/>
          </a:p>
        </p:txBody>
      </p:sp>
      <p:cxnSp>
        <p:nvCxnSpPr>
          <p:cNvPr id="225" name="Google Shape;225;p20"/>
          <p:cNvCxnSpPr/>
          <p:nvPr/>
        </p:nvCxnSpPr>
        <p:spPr>
          <a:xfrm>
            <a:off x="2480245" y="6698293"/>
            <a:ext cx="0" cy="18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20"/>
          <p:cNvSpPr txBox="1"/>
          <p:nvPr/>
        </p:nvSpPr>
        <p:spPr>
          <a:xfrm>
            <a:off x="2093255" y="6430555"/>
            <a:ext cx="29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/>
          </a:p>
        </p:txBody>
      </p:sp>
      <p:cxnSp>
        <p:nvCxnSpPr>
          <p:cNvPr id="227" name="Google Shape;227;p20"/>
          <p:cNvCxnSpPr/>
          <p:nvPr/>
        </p:nvCxnSpPr>
        <p:spPr>
          <a:xfrm>
            <a:off x="2239927" y="6698293"/>
            <a:ext cx="0" cy="18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8" name="Google Shape;228;p20"/>
          <p:cNvSpPr txBox="1"/>
          <p:nvPr/>
        </p:nvSpPr>
        <p:spPr>
          <a:xfrm>
            <a:off x="1856420" y="6430555"/>
            <a:ext cx="29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/>
          </a:p>
        </p:txBody>
      </p:sp>
      <p:cxnSp>
        <p:nvCxnSpPr>
          <p:cNvPr id="229" name="Google Shape;229;p20"/>
          <p:cNvCxnSpPr/>
          <p:nvPr/>
        </p:nvCxnSpPr>
        <p:spPr>
          <a:xfrm>
            <a:off x="2003092" y="6698293"/>
            <a:ext cx="0" cy="18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" name="Google Shape;230;p20"/>
          <p:cNvSpPr txBox="1"/>
          <p:nvPr/>
        </p:nvSpPr>
        <p:spPr>
          <a:xfrm>
            <a:off x="2217303" y="7036264"/>
            <a:ext cx="29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/>
          </a:p>
        </p:txBody>
      </p:sp>
      <p:cxnSp>
        <p:nvCxnSpPr>
          <p:cNvPr id="231" name="Google Shape;231;p20"/>
          <p:cNvCxnSpPr/>
          <p:nvPr/>
        </p:nvCxnSpPr>
        <p:spPr>
          <a:xfrm rot="10800000">
            <a:off x="2358526" y="6899812"/>
            <a:ext cx="0" cy="22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p20"/>
          <p:cNvSpPr txBox="1"/>
          <p:nvPr/>
        </p:nvSpPr>
        <p:spPr>
          <a:xfrm>
            <a:off x="1793350" y="7040326"/>
            <a:ext cx="29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/>
          </a:p>
        </p:txBody>
      </p:sp>
      <p:cxnSp>
        <p:nvCxnSpPr>
          <p:cNvPr id="233" name="Google Shape;233;p20"/>
          <p:cNvCxnSpPr/>
          <p:nvPr/>
        </p:nvCxnSpPr>
        <p:spPr>
          <a:xfrm rot="10800000">
            <a:off x="1934573" y="6903873"/>
            <a:ext cx="0" cy="22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4" name="Google Shape;234;p20"/>
          <p:cNvSpPr txBox="1"/>
          <p:nvPr/>
        </p:nvSpPr>
        <p:spPr>
          <a:xfrm>
            <a:off x="457025" y="6219450"/>
            <a:ext cx="61629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Place the following on the number line.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3147940" y="8421722"/>
            <a:ext cx="323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3147940" y="8888146"/>
            <a:ext cx="3369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237" name="Google Shape;237;p20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7">
            <a:alphaModFix/>
          </a:blip>
          <a:srcRect b="0" l="49807" r="41249" t="0"/>
          <a:stretch/>
        </p:blipFill>
        <p:spPr>
          <a:xfrm>
            <a:off x="4600350" y="8421562"/>
            <a:ext cx="271525" cy="3852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238" name="Google Shape;238;p20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7">
            <a:alphaModFix/>
          </a:blip>
          <a:srcRect b="0" l="92124" r="-1066" t="0"/>
          <a:stretch/>
        </p:blipFill>
        <p:spPr>
          <a:xfrm>
            <a:off x="4707274" y="8878844"/>
            <a:ext cx="271525" cy="38520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4097175" y="8421725"/>
            <a:ext cx="243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4843175" y="8421725"/>
            <a:ext cx="184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would lie.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3390550" y="8421725"/>
            <a:ext cx="867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4097175" y="8878925"/>
            <a:ext cx="243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4919375" y="8878925"/>
            <a:ext cx="184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would lie.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3390550" y="8878925"/>
            <a:ext cx="867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converting mixed numbers to improper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2}{4}+\frac{24}{4}=\ 9\\&amp;#13;&amp;#10;\frac{24}{4}-\frac{12}{3}=2\\&amp;#13;&amp;#10;\frac{24}{12}+\frac{3}{3}=3\\&amp;#13;&amp;#10;\\&amp;#13;&amp;#10;\end{array}&quot;&gt;&lt;mtable columnalign=&quot;left&quot; columnspacing=&quot;1em&quot; rowspacing=&quot;4pt&quot;&gt;&lt;mtr&gt;&lt;mtd&gt;&lt;mfrac&gt;&lt;mn&gt;12&lt;/mn&gt;&lt;mn&gt;4&lt;/mn&gt;&lt;/mfrac&gt;&lt;mo&gt;+&lt;/mo&gt;&lt;mfrac&gt;&lt;mn&gt;24&lt;/mn&gt;&lt;mn&gt;4&lt;/mn&gt;&lt;/mfrac&gt;&lt;mo&gt;=&lt;/mo&gt;&lt;mtext&gt;&lt;/mtext&gt;&lt;mn&gt;9&lt;/mn&gt;&lt;/mtd&gt;&lt;/mtr&gt;&lt;mtr&gt;&lt;mtd&gt;&lt;mfrac&gt;&lt;mn&gt;24&lt;/mn&gt;&lt;mn&gt;4&lt;/mn&gt;&lt;/mfrac&gt;&lt;mo&gt;−&lt;/mo&gt;&lt;mfrac&gt;&lt;mn&gt;12&lt;/mn&gt;&lt;mn&gt;3&lt;/mn&gt;&lt;/mfrac&gt;&lt;mo&gt;=&lt;/mo&gt;&lt;mn&gt;2&lt;/mn&gt;&lt;/mtd&gt;&lt;/mtr&gt;&lt;mtr&gt;&lt;mtd&gt;&lt;mfrac&gt;&lt;mn&gt;24&lt;/mn&gt;&lt;mn&gt;12&lt;/mn&gt;&lt;/mfrac&gt;&lt;mo&gt;+&lt;/mo&gt;&lt;mfrac&gt;&lt;mn&gt;3&lt;/mn&gt;&lt;mn&gt;3&lt;/mn&gt;&lt;/mfrac&gt;&lt;mo&gt;=&lt;/mo&gt;&lt;mn&gt;3&lt;/mn&gt;&lt;/mtd&gt;&lt;/mtr&gt;&lt;mtr&gt;&lt;mtd/&gt;&lt;/mtr&gt;&lt;/mtable&gt;&lt;/math&gt;" id="250" name="Google Shape;250;p21" title="4 lines Line 1: twelve fourths plus 24 over 4 equals 9 Line 2: 24 over 4 minus twelve thirds equals 2 Line 3: 24 over 12 plus three thirds equals 3 Line 4: blank"/>
          <p:cNvPicPr preferRelativeResize="0"/>
          <p:nvPr/>
        </p:nvPicPr>
        <p:blipFill rotWithShape="1">
          <a:blip r:embed="rId3">
            <a:alphaModFix/>
          </a:blip>
          <a:srcRect b="33147" l="0" r="0" t="33531"/>
          <a:stretch/>
        </p:blipFill>
        <p:spPr>
          <a:xfrm>
            <a:off x="2838870" y="1338707"/>
            <a:ext cx="1671943" cy="532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2}{4}+\frac{24}{4}=\ 9\\&amp;#13;&amp;#10;\frac{24}{4}-\frac{12}{3}=2\\&amp;#13;&amp;#10;\frac{24}{12}+\frac{3}{3}=3\\&amp;#13;&amp;#10;\\&amp;#13;&amp;#10;\end{array}&quot;&gt;&lt;mtable columnalign=&quot;left&quot; columnspacing=&quot;1em&quot; rowspacing=&quot;4pt&quot;&gt;&lt;mtr&gt;&lt;mtd&gt;&lt;mfrac&gt;&lt;mn&gt;12&lt;/mn&gt;&lt;mn&gt;4&lt;/mn&gt;&lt;/mfrac&gt;&lt;mo&gt;+&lt;/mo&gt;&lt;mfrac&gt;&lt;mn&gt;24&lt;/mn&gt;&lt;mn&gt;4&lt;/mn&gt;&lt;/mfrac&gt;&lt;mo&gt;=&lt;/mo&gt;&lt;mtext&gt;&lt;/mtext&gt;&lt;mn&gt;9&lt;/mn&gt;&lt;/mtd&gt;&lt;/mtr&gt;&lt;mtr&gt;&lt;mtd&gt;&lt;mfrac&gt;&lt;mn&gt;24&lt;/mn&gt;&lt;mn&gt;4&lt;/mn&gt;&lt;/mfrac&gt;&lt;mo&gt;−&lt;/mo&gt;&lt;mfrac&gt;&lt;mn&gt;12&lt;/mn&gt;&lt;mn&gt;3&lt;/mn&gt;&lt;/mfrac&gt;&lt;mo&gt;=&lt;/mo&gt;&lt;mn&gt;2&lt;/mn&gt;&lt;/mtd&gt;&lt;/mtr&gt;&lt;mtr&gt;&lt;mtd&gt;&lt;mfrac&gt;&lt;mn&gt;24&lt;/mn&gt;&lt;mn&gt;12&lt;/mn&gt;&lt;/mfrac&gt;&lt;mo&gt;+&lt;/mo&gt;&lt;mfrac&gt;&lt;mn&gt;3&lt;/mn&gt;&lt;mn&gt;3&lt;/mn&gt;&lt;/mfrac&gt;&lt;mo&gt;=&lt;/mo&gt;&lt;mn&gt;3&lt;/mn&gt;&lt;/mtd&gt;&lt;/mtr&gt;&lt;mtr&gt;&lt;mtd/&gt;&lt;/mtr&gt;&lt;/mtable&gt;&lt;/math&gt;" id="251" name="Google Shape;251;p21" title="4 lines Line 1: twelve fourths plus 24 over 4 equals 9 Line 2: 24 over 4 minus twelve thirds equals 2 Line 3: 24 over 12 plus three thirds equals 3 Line 4: blank"/>
          <p:cNvPicPr preferRelativeResize="0"/>
          <p:nvPr/>
        </p:nvPicPr>
        <p:blipFill rotWithShape="1">
          <a:blip r:embed="rId3">
            <a:alphaModFix/>
          </a:blip>
          <a:srcRect b="-1139" l="0" r="0" t="67818"/>
          <a:stretch/>
        </p:blipFill>
        <p:spPr>
          <a:xfrm>
            <a:off x="5420132" y="1353491"/>
            <a:ext cx="1671943" cy="53217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467925" y="816816"/>
            <a:ext cx="54798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1508411" y="1383911"/>
            <a:ext cx="5328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3529067" y="775425"/>
            <a:ext cx="327600" cy="313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3898342" y="775425"/>
            <a:ext cx="327600" cy="313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267626" y="775425"/>
            <a:ext cx="384000" cy="313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4636890" y="775436"/>
            <a:ext cx="360600" cy="313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2346224" y="2391350"/>
            <a:ext cx="12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2346227" y="2879550"/>
            <a:ext cx="96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137846" y="2392964"/>
            <a:ext cx="12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/>
          </a:p>
        </p:txBody>
      </p:sp>
      <p:sp>
        <p:nvSpPr>
          <p:cNvPr id="261" name="Google Shape;261;p21"/>
          <p:cNvSpPr txBox="1"/>
          <p:nvPr/>
        </p:nvSpPr>
        <p:spPr>
          <a:xfrm>
            <a:off x="4137851" y="2881150"/>
            <a:ext cx="146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begin{array}{l}\frac{12}{4}+\frac{24}{4}=\ 9\\&amp;#13;&amp;#10;\frac{24}{4}-\frac{12}{3}=2\\&amp;#13;&amp;#10;\frac{24}{12}+\frac{3}{3}=3\\&amp;#13;&amp;#10;\\&amp;#13;&amp;#10;\end{array}&quot;&gt;&lt;mtable columnalign=&quot;left&quot; columnspacing=&quot;1em&quot; rowspacing=&quot;4pt&quot;&gt;&lt;mtr&gt;&lt;mtd&gt;&lt;mfrac&gt;&lt;mn&gt;12&lt;/mn&gt;&lt;mn&gt;4&lt;/mn&gt;&lt;/mfrac&gt;&lt;mo&gt;+&lt;/mo&gt;&lt;mfrac&gt;&lt;mn&gt;24&lt;/mn&gt;&lt;mn&gt;4&lt;/mn&gt;&lt;/mfrac&gt;&lt;mo&gt;=&lt;/mo&gt;&lt;mtext&gt;&lt;/mtext&gt;&lt;mn&gt;9&lt;/mn&gt;&lt;/mtd&gt;&lt;/mtr&gt;&lt;mtr&gt;&lt;mtd&gt;&lt;mfrac&gt;&lt;mn&gt;24&lt;/mn&gt;&lt;mn&gt;4&lt;/mn&gt;&lt;/mfrac&gt;&lt;mo&gt;−&lt;/mo&gt;&lt;mfrac&gt;&lt;mn&gt;12&lt;/mn&gt;&lt;mn&gt;3&lt;/mn&gt;&lt;/mfrac&gt;&lt;mo&gt;=&lt;/mo&gt;&lt;mn&gt;2&lt;/mn&gt;&lt;/mtd&gt;&lt;/mtr&gt;&lt;mtr&gt;&lt;mtd&gt;&lt;mfrac&gt;&lt;mn&gt;24&lt;/mn&gt;&lt;mn&gt;12&lt;/mn&gt;&lt;/mfrac&gt;&lt;mo&gt;+&lt;/mo&gt;&lt;mfrac&gt;&lt;mn&gt;3&lt;/mn&gt;&lt;mn&gt;3&lt;/mn&gt;&lt;/mfrac&gt;&lt;mo&gt;=&lt;/mo&gt;&lt;mn&gt;3&lt;/mn&gt;&lt;/mtd&gt;&lt;/mtr&gt;&lt;mtr&gt;&lt;mtd/&gt;&lt;/mtr&gt;&lt;/mtable&gt;&lt;/math&gt;" id="262" name="Google Shape;262;p21" title="4 lines Line 1: twelve fourths plus 24 over 4 equals 9 Line 2: 24 over 4 minus twelve thirds equals 2 Line 3: 24 over 12 plus three thirds equals 3 Line 4: blank"/>
          <p:cNvPicPr preferRelativeResize="0"/>
          <p:nvPr/>
        </p:nvPicPr>
        <p:blipFill rotWithShape="1">
          <a:blip r:embed="rId3">
            <a:alphaModFix/>
          </a:blip>
          <a:srcRect b="68639" l="0" r="0" t="0"/>
          <a:stretch/>
        </p:blipFill>
        <p:spPr>
          <a:xfrm>
            <a:off x="480681" y="1387903"/>
            <a:ext cx="1671943" cy="500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680" y="1303276"/>
            <a:ext cx="269494" cy="280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4568" y="1353491"/>
            <a:ext cx="239924" cy="256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4567" y="1689545"/>
            <a:ext cx="239924" cy="256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54878" y="1614733"/>
            <a:ext cx="239924" cy="256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9151" y="1661369"/>
            <a:ext cx="295009" cy="256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7925" y="1661371"/>
            <a:ext cx="295009" cy="256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0096" y="1303276"/>
            <a:ext cx="269494" cy="280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0152" y="1689544"/>
            <a:ext cx="269494" cy="280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38871" y="1632615"/>
            <a:ext cx="295009" cy="256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56935" y="1269800"/>
            <a:ext cx="319435" cy="291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99354" y="1269800"/>
            <a:ext cx="319435" cy="291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95181" y="1297829"/>
            <a:ext cx="319435" cy="291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1955" y="1449057"/>
            <a:ext cx="319435" cy="341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608" y="793308"/>
            <a:ext cx="198451" cy="206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3272" y="775407"/>
            <a:ext cx="235227" cy="214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9379" y="788371"/>
            <a:ext cx="176677" cy="188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4460" y="788371"/>
            <a:ext cx="217240" cy="188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1938" y="2475460"/>
            <a:ext cx="240242" cy="25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99571" y="2957176"/>
            <a:ext cx="284763" cy="259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7072" y="2988548"/>
            <a:ext cx="213883" cy="228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0454" y="2486293"/>
            <a:ext cx="262988" cy="2283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p21"/>
          <p:cNvCxnSpPr/>
          <p:nvPr/>
        </p:nvCxnSpPr>
        <p:spPr>
          <a:xfrm>
            <a:off x="474757" y="32823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21"/>
          <p:cNvSpPr txBox="1"/>
          <p:nvPr/>
        </p:nvSpPr>
        <p:spPr>
          <a:xfrm>
            <a:off x="467925" y="3782725"/>
            <a:ext cx="6611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 to show the working out and conversion from a mixed number to an improper fraction.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468000" y="3445525"/>
            <a:ext cx="66105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Mixed numbers to improper fractions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287" name="Google Shape;287;p21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8">
            <a:alphaModFix/>
          </a:blip>
          <a:srcRect b="50573" l="13980" r="42627" t="25539"/>
          <a:stretch/>
        </p:blipFill>
        <p:spPr>
          <a:xfrm>
            <a:off x="1547853" y="4366282"/>
            <a:ext cx="1805506" cy="446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288" name="Google Shape;288;p21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8">
            <a:alphaModFix/>
          </a:blip>
          <a:srcRect b="52244" l="56252" r="14436" t="23868"/>
          <a:stretch/>
        </p:blipFill>
        <p:spPr>
          <a:xfrm>
            <a:off x="1547860" y="4853226"/>
            <a:ext cx="1219686" cy="446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289" name="Google Shape;289;p21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8">
            <a:alphaModFix/>
          </a:blip>
          <a:srcRect b="51890" l="84086" r="-13398" t="24221"/>
          <a:stretch/>
        </p:blipFill>
        <p:spPr>
          <a:xfrm>
            <a:off x="1547860" y="5340178"/>
            <a:ext cx="1219686" cy="446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290" name="Google Shape;290;p21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8">
            <a:alphaModFix/>
          </a:blip>
          <a:srcRect b="0" l="-936" r="90189" t="76113"/>
          <a:stretch/>
        </p:blipFill>
        <p:spPr>
          <a:xfrm>
            <a:off x="4252695" y="4384663"/>
            <a:ext cx="447192" cy="446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291" name="Google Shape;291;p21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8">
            <a:alphaModFix/>
          </a:blip>
          <a:srcRect b="-140" l="46644" r="24861" t="76252"/>
          <a:stretch/>
        </p:blipFill>
        <p:spPr>
          <a:xfrm>
            <a:off x="4823519" y="4871599"/>
            <a:ext cx="1185649" cy="446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292" name="Google Shape;292;p21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8">
            <a:alphaModFix/>
          </a:blip>
          <a:srcRect b="-1433" l="74403" r="-1971" t="77546"/>
          <a:stretch/>
        </p:blipFill>
        <p:spPr>
          <a:xfrm>
            <a:off x="4823337" y="5358556"/>
            <a:ext cx="1147086" cy="446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293" name="Google Shape;293;p21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8">
            <a:alphaModFix/>
          </a:blip>
          <a:srcRect b="50573" l="262" r="85609" t="25539"/>
          <a:stretch/>
        </p:blipFill>
        <p:spPr>
          <a:xfrm>
            <a:off x="980307" y="4364547"/>
            <a:ext cx="587855" cy="446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294" name="Google Shape;294;p21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8">
            <a:alphaModFix/>
          </a:blip>
          <a:srcRect b="0" l="8784" r="52413" t="76113"/>
          <a:stretch/>
        </p:blipFill>
        <p:spPr>
          <a:xfrm>
            <a:off x="4657237" y="4382906"/>
            <a:ext cx="1614654" cy="446854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1"/>
          <p:cNvSpPr txBox="1"/>
          <p:nvPr/>
        </p:nvSpPr>
        <p:spPr>
          <a:xfrm>
            <a:off x="467925" y="4302475"/>
            <a:ext cx="4716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3781230" y="4364547"/>
            <a:ext cx="4716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467925" y="6539825"/>
            <a:ext cx="66240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Convert the following to improper fractions, showing working out if you need.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457775" y="6952845"/>
            <a:ext cx="354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457775" y="7447093"/>
            <a:ext cx="354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457775" y="7892326"/>
            <a:ext cx="354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457775" y="8386574"/>
            <a:ext cx="354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4\frac{1}{2}\ \ =\frac{9}{2}\\&amp;#13;&amp;#10;11\frac{3}{5}\ =\frac{58}{5}\\&amp;#13;&amp;#10;80\frac{1}{3}\ \ =\frac{241}{3}\\&amp;#13;&amp;#10;3\frac{9}{10}\ \ =\frac{39}{10}\end{array}&quot;&gt;&lt;mtable columnalign=&quot;left&quot; columnspacing=&quot;1em&quot; rowspacing=&quot;4pt&quot;&gt;&lt;mtr&gt;&lt;mtd&gt;&lt;mn&gt;4&lt;/mn&gt;&lt;mfrac&gt;&lt;mn&gt;1&lt;/mn&gt;&lt;mn&gt;2&lt;/mn&gt;&lt;/mfrac&gt;&lt;mtext&gt;&lt;/mtext&gt;&lt;mtext&gt;&lt;/mtext&gt;&lt;mo&gt;=&lt;/mo&gt;&lt;mfrac&gt;&lt;mn&gt;9&lt;/mn&gt;&lt;mn&gt;2&lt;/mn&gt;&lt;/mfrac&gt;&lt;/mtd&gt;&lt;/mtr&gt;&lt;mtr&gt;&lt;mtd&gt;&lt;mn&gt;11&lt;/mn&gt;&lt;mfrac&gt;&lt;mn&gt;3&lt;/mn&gt;&lt;mn&gt;5&lt;/mn&gt;&lt;/mfrac&gt;&lt;mtext&gt;&lt;/mtext&gt;&lt;mo&gt;=&lt;/mo&gt;&lt;mfrac&gt;&lt;mn&gt;58&lt;/mn&gt;&lt;mn&gt;5&lt;/mn&gt;&lt;/mfrac&gt;&lt;/mtd&gt;&lt;/mtr&gt;&lt;mtr&gt;&lt;mtd&gt;&lt;mn&gt;80&lt;/mn&gt;&lt;mfrac&gt;&lt;mn&gt;1&lt;/mn&gt;&lt;mn&gt;3&lt;/mn&gt;&lt;/mfrac&gt;&lt;mtext&gt;&lt;/mtext&gt;&lt;mtext&gt;&lt;/mtext&gt;&lt;mo&gt;=&lt;/mo&gt;&lt;mfrac&gt;&lt;mn&gt;241&lt;/mn&gt;&lt;mn&gt;3&lt;/mn&gt;&lt;/mfrac&gt;&lt;/mtd&gt;&lt;/mtr&gt;&lt;mtr&gt;&lt;mtd&gt;&lt;mn&gt;3&lt;/mn&gt;&lt;mfrac&gt;&lt;mn&gt;9&lt;/mn&gt;&lt;mn&gt;10&lt;/mn&gt;&lt;/mfrac&gt;&lt;mtext&gt;&lt;/mtext&gt;&lt;mtext&gt;&lt;/mtext&gt;&lt;mo&gt;=&lt;/mo&gt;&lt;mfrac&gt;&lt;mn&gt;39&lt;/mn&gt;&lt;mn&gt;10&lt;/mn&gt;&lt;/mfrac&gt;&lt;/mtd&gt;&lt;/mtr&gt;&lt;/mtable&gt;&lt;/math&gt;" id="302" name="Google Shape;302;p21" title="4 lines Line 1: 4 and one half equals nine halves Line 2: 11 and three fifths equals 58 over 5 Line 3: 80 and one third equals 241 over 3 Line 4: 3 and nine tenths equals 39 over 10"/>
          <p:cNvPicPr preferRelativeResize="0"/>
          <p:nvPr/>
        </p:nvPicPr>
        <p:blipFill rotWithShape="1">
          <a:blip r:embed="rId9">
            <a:alphaModFix/>
          </a:blip>
          <a:srcRect b="0" l="0" r="59070" t="0"/>
          <a:stretch/>
        </p:blipFill>
        <p:spPr>
          <a:xfrm>
            <a:off x="811697" y="6952845"/>
            <a:ext cx="521426" cy="17910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\frac{1}{2}\ \ =\frac{9}{2}\\&amp;#13;&amp;#10;11\frac{3}{5}\ =\frac{58}{5}\\&amp;#13;&amp;#10;80\frac{1}{3}\ \ =\frac{241}{3}\\&amp;#13;&amp;#10;3\frac{9}{10}\ \ =\frac{39}{10}\end{array}&quot;&gt;&lt;mtable columnalign=&quot;left&quot; columnspacing=&quot;1em&quot; rowspacing=&quot;4pt&quot;&gt;&lt;mtr&gt;&lt;mtd&gt;&lt;mn&gt;4&lt;/mn&gt;&lt;mfrac&gt;&lt;mn&gt;1&lt;/mn&gt;&lt;mn&gt;2&lt;/mn&gt;&lt;/mfrac&gt;&lt;mtext&gt;&lt;/mtext&gt;&lt;mtext&gt;&lt;/mtext&gt;&lt;mo&gt;=&lt;/mo&gt;&lt;mfrac&gt;&lt;mn&gt;9&lt;/mn&gt;&lt;mn&gt;2&lt;/mn&gt;&lt;/mfrac&gt;&lt;/mtd&gt;&lt;/mtr&gt;&lt;mtr&gt;&lt;mtd&gt;&lt;mn&gt;11&lt;/mn&gt;&lt;mfrac&gt;&lt;mn&gt;3&lt;/mn&gt;&lt;mn&gt;5&lt;/mn&gt;&lt;/mfrac&gt;&lt;mtext&gt;&lt;/mtext&gt;&lt;mo&gt;=&lt;/mo&gt;&lt;mfrac&gt;&lt;mn&gt;58&lt;/mn&gt;&lt;mn&gt;5&lt;/mn&gt;&lt;/mfrac&gt;&lt;/mtd&gt;&lt;/mtr&gt;&lt;mtr&gt;&lt;mtd&gt;&lt;mn&gt;80&lt;/mn&gt;&lt;mfrac&gt;&lt;mn&gt;1&lt;/mn&gt;&lt;mn&gt;3&lt;/mn&gt;&lt;/mfrac&gt;&lt;mtext&gt;&lt;/mtext&gt;&lt;mtext&gt;&lt;/mtext&gt;&lt;mo&gt;=&lt;/mo&gt;&lt;mfrac&gt;&lt;mn&gt;241&lt;/mn&gt;&lt;mn&gt;3&lt;/mn&gt;&lt;/mfrac&gt;&lt;/mtd&gt;&lt;/mtr&gt;&lt;mtr&gt;&lt;mtd&gt;&lt;mn&gt;3&lt;/mn&gt;&lt;mfrac&gt;&lt;mn&gt;9&lt;/mn&gt;&lt;mn&gt;10&lt;/mn&gt;&lt;/mfrac&gt;&lt;mtext&gt;&lt;/mtext&gt;&lt;mtext&gt;&lt;/mtext&gt;&lt;mo&gt;=&lt;/mo&gt;&lt;mfrac&gt;&lt;mn&gt;39&lt;/mn&gt;&lt;mn&gt;10&lt;/mn&gt;&lt;/mfrac&gt;&lt;/mtd&gt;&lt;/mtr&gt;&lt;/mtable&gt;&lt;/math&gt;" id="303" name="Google Shape;303;p21" title="4 lines Line 1: 4 and one half equals nine halves Line 2: 11 and three fifths equals 58 over 5 Line 3: 80 and one third equals 241 over 3 Line 4: 3 and nine tenths equals 39 over 10"/>
          <p:cNvPicPr preferRelativeResize="0"/>
          <p:nvPr/>
        </p:nvPicPr>
        <p:blipFill rotWithShape="1">
          <a:blip r:embed="rId9">
            <a:alphaModFix/>
          </a:blip>
          <a:srcRect b="75823" l="38721" r="2945" t="-3419"/>
          <a:stretch/>
        </p:blipFill>
        <p:spPr>
          <a:xfrm>
            <a:off x="1318649" y="6853025"/>
            <a:ext cx="743126" cy="4942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\frac{1}{2}\ \ =\frac{9}{2}\\&amp;#13;&amp;#10;11\frac{3}{5}\ =\frac{58}{5}\\&amp;#13;&amp;#10;80\frac{1}{3}\ \ =\frac{241}{3}\\&amp;#13;&amp;#10;3\frac{9}{10}\ \ =\frac{39}{10}\end{array}&quot;&gt;&lt;mtable columnalign=&quot;left&quot; columnspacing=&quot;1em&quot; rowspacing=&quot;4pt&quot;&gt;&lt;mtr&gt;&lt;mtd&gt;&lt;mn&gt;4&lt;/mn&gt;&lt;mfrac&gt;&lt;mn&gt;1&lt;/mn&gt;&lt;mn&gt;2&lt;/mn&gt;&lt;/mfrac&gt;&lt;mtext&gt;&lt;/mtext&gt;&lt;mtext&gt;&lt;/mtext&gt;&lt;mo&gt;=&lt;/mo&gt;&lt;mfrac&gt;&lt;mn&gt;9&lt;/mn&gt;&lt;mn&gt;2&lt;/mn&gt;&lt;/mfrac&gt;&lt;/mtd&gt;&lt;/mtr&gt;&lt;mtr&gt;&lt;mtd&gt;&lt;mn&gt;11&lt;/mn&gt;&lt;mfrac&gt;&lt;mn&gt;3&lt;/mn&gt;&lt;mn&gt;5&lt;/mn&gt;&lt;/mfrac&gt;&lt;mtext&gt;&lt;/mtext&gt;&lt;mo&gt;=&lt;/mo&gt;&lt;mfrac&gt;&lt;mn&gt;58&lt;/mn&gt;&lt;mn&gt;5&lt;/mn&gt;&lt;/mfrac&gt;&lt;/mtd&gt;&lt;/mtr&gt;&lt;mtr&gt;&lt;mtd&gt;&lt;mn&gt;80&lt;/mn&gt;&lt;mfrac&gt;&lt;mn&gt;1&lt;/mn&gt;&lt;mn&gt;3&lt;/mn&gt;&lt;/mfrac&gt;&lt;mtext&gt;&lt;/mtext&gt;&lt;mtext&gt;&lt;/mtext&gt;&lt;mo&gt;=&lt;/mo&gt;&lt;mfrac&gt;&lt;mn&gt;241&lt;/mn&gt;&lt;mn&gt;3&lt;/mn&gt;&lt;/mfrac&gt;&lt;/mtd&gt;&lt;/mtr&gt;&lt;mtr&gt;&lt;mtd&gt;&lt;mn&gt;3&lt;/mn&gt;&lt;mfrac&gt;&lt;mn&gt;9&lt;/mn&gt;&lt;mn&gt;10&lt;/mn&gt;&lt;/mfrac&gt;&lt;mtext&gt;&lt;/mtext&gt;&lt;mtext&gt;&lt;/mtext&gt;&lt;mo&gt;=&lt;/mo&gt;&lt;mfrac&gt;&lt;mn&gt;39&lt;/mn&gt;&lt;mn&gt;10&lt;/mn&gt;&lt;/mfrac&gt;&lt;/mtd&gt;&lt;/mtr&gt;&lt;/mtable&gt;&lt;/math&gt;" id="304" name="Google Shape;304;p21" title="4 lines Line 1: 4 and one half equals nine halves Line 2: 11 and three fifths equals 58 over 5 Line 3: 80 and one third equals 241 over 3 Line 4: 3 and nine tenths equals 39 over 10"/>
          <p:cNvPicPr preferRelativeResize="0"/>
          <p:nvPr/>
        </p:nvPicPr>
        <p:blipFill rotWithShape="1">
          <a:blip r:embed="rId9">
            <a:alphaModFix/>
          </a:blip>
          <a:srcRect b="49900" l="38721" r="2945" t="22504"/>
          <a:stretch/>
        </p:blipFill>
        <p:spPr>
          <a:xfrm>
            <a:off x="1245763" y="7375208"/>
            <a:ext cx="743126" cy="4942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\frac{1}{2}\ \ =\frac{9}{2}\\&amp;#13;&amp;#10;11\frac{3}{5}\ =\frac{58}{5}\\&amp;#13;&amp;#10;80\frac{1}{3}\ \ =\frac{241}{3}\\&amp;#13;&amp;#10;3\frac{9}{10}\ \ =\frac{39}{10}\end{array}&quot;&gt;&lt;mtable columnalign=&quot;left&quot; columnspacing=&quot;1em&quot; rowspacing=&quot;4pt&quot;&gt;&lt;mtr&gt;&lt;mtd&gt;&lt;mn&gt;4&lt;/mn&gt;&lt;mfrac&gt;&lt;mn&gt;1&lt;/mn&gt;&lt;mn&gt;2&lt;/mn&gt;&lt;/mfrac&gt;&lt;mtext&gt;&lt;/mtext&gt;&lt;mtext&gt;&lt;/mtext&gt;&lt;mo&gt;=&lt;/mo&gt;&lt;mfrac&gt;&lt;mn&gt;9&lt;/mn&gt;&lt;mn&gt;2&lt;/mn&gt;&lt;/mfrac&gt;&lt;/mtd&gt;&lt;/mtr&gt;&lt;mtr&gt;&lt;mtd&gt;&lt;mn&gt;11&lt;/mn&gt;&lt;mfrac&gt;&lt;mn&gt;3&lt;/mn&gt;&lt;mn&gt;5&lt;/mn&gt;&lt;/mfrac&gt;&lt;mtext&gt;&lt;/mtext&gt;&lt;mo&gt;=&lt;/mo&gt;&lt;mfrac&gt;&lt;mn&gt;58&lt;/mn&gt;&lt;mn&gt;5&lt;/mn&gt;&lt;/mfrac&gt;&lt;/mtd&gt;&lt;/mtr&gt;&lt;mtr&gt;&lt;mtd&gt;&lt;mn&gt;80&lt;/mn&gt;&lt;mfrac&gt;&lt;mn&gt;1&lt;/mn&gt;&lt;mn&gt;3&lt;/mn&gt;&lt;/mfrac&gt;&lt;mtext&gt;&lt;/mtext&gt;&lt;mtext&gt;&lt;/mtext&gt;&lt;mo&gt;=&lt;/mo&gt;&lt;mfrac&gt;&lt;mn&gt;241&lt;/mn&gt;&lt;mn&gt;3&lt;/mn&gt;&lt;/mfrac&gt;&lt;/mtd&gt;&lt;/mtr&gt;&lt;mtr&gt;&lt;mtd&gt;&lt;mn&gt;3&lt;/mn&gt;&lt;mfrac&gt;&lt;mn&gt;9&lt;/mn&gt;&lt;mn&gt;10&lt;/mn&gt;&lt;/mfrac&gt;&lt;mtext&gt;&lt;/mtext&gt;&lt;mtext&gt;&lt;/mtext&gt;&lt;mo&gt;=&lt;/mo&gt;&lt;mfrac&gt;&lt;mn&gt;39&lt;/mn&gt;&lt;mn&gt;10&lt;/mn&gt;&lt;/mfrac&gt;&lt;/mtd&gt;&lt;/mtr&gt;&lt;/mtable&gt;&lt;/math&gt;" id="305" name="Google Shape;305;p21" title="4 lines Line 1: 4 and one half equals nine halves Line 2: 11 and three fifths equals 58 over 5 Line 3: 80 and one third equals 241 over 3 Line 4: 3 and nine tenths equals 39 over 10"/>
          <p:cNvPicPr preferRelativeResize="0"/>
          <p:nvPr/>
        </p:nvPicPr>
        <p:blipFill rotWithShape="1">
          <a:blip r:embed="rId9">
            <a:alphaModFix/>
          </a:blip>
          <a:srcRect b="21819" l="49997" r="-8329" t="50585"/>
          <a:stretch/>
        </p:blipFill>
        <p:spPr>
          <a:xfrm>
            <a:off x="1329324" y="7895095"/>
            <a:ext cx="743126" cy="4942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\frac{1}{2}\ \ =\frac{9}{2}\\&amp;#13;&amp;#10;11\frac{3}{5}\ =\frac{58}{5}\\&amp;#13;&amp;#10;80\frac{1}{3}\ \ =\frac{241}{3}\\&amp;#13;&amp;#10;3\frac{9}{10}\ \ =\frac{39}{10}\end{array}&quot;&gt;&lt;mtable columnalign=&quot;left&quot; columnspacing=&quot;1em&quot; rowspacing=&quot;4pt&quot;&gt;&lt;mtr&gt;&lt;mtd&gt;&lt;mn&gt;4&lt;/mn&gt;&lt;mfrac&gt;&lt;mn&gt;1&lt;/mn&gt;&lt;mn&gt;2&lt;/mn&gt;&lt;/mfrac&gt;&lt;mtext&gt;&lt;/mtext&gt;&lt;mtext&gt;&lt;/mtext&gt;&lt;mo&gt;=&lt;/mo&gt;&lt;mfrac&gt;&lt;mn&gt;9&lt;/mn&gt;&lt;mn&gt;2&lt;/mn&gt;&lt;/mfrac&gt;&lt;/mtd&gt;&lt;/mtr&gt;&lt;mtr&gt;&lt;mtd&gt;&lt;mn&gt;11&lt;/mn&gt;&lt;mfrac&gt;&lt;mn&gt;3&lt;/mn&gt;&lt;mn&gt;5&lt;/mn&gt;&lt;/mfrac&gt;&lt;mtext&gt;&lt;/mtext&gt;&lt;mo&gt;=&lt;/mo&gt;&lt;mfrac&gt;&lt;mn&gt;58&lt;/mn&gt;&lt;mn&gt;5&lt;/mn&gt;&lt;/mfrac&gt;&lt;/mtd&gt;&lt;/mtr&gt;&lt;mtr&gt;&lt;mtd&gt;&lt;mn&gt;80&lt;/mn&gt;&lt;mfrac&gt;&lt;mn&gt;1&lt;/mn&gt;&lt;mn&gt;3&lt;/mn&gt;&lt;/mfrac&gt;&lt;mtext&gt;&lt;/mtext&gt;&lt;mtext&gt;&lt;/mtext&gt;&lt;mo&gt;=&lt;/mo&gt;&lt;mfrac&gt;&lt;mn&gt;241&lt;/mn&gt;&lt;mn&gt;3&lt;/mn&gt;&lt;/mfrac&gt;&lt;/mtd&gt;&lt;/mtr&gt;&lt;mtr&gt;&lt;mtd&gt;&lt;mn&gt;3&lt;/mn&gt;&lt;mfrac&gt;&lt;mn&gt;9&lt;/mn&gt;&lt;mn&gt;10&lt;/mn&gt;&lt;/mfrac&gt;&lt;mtext&gt;&lt;/mtext&gt;&lt;mtext&gt;&lt;/mtext&gt;&lt;mo&gt;=&lt;/mo&gt;&lt;mfrac&gt;&lt;mn&gt;39&lt;/mn&gt;&lt;mn&gt;10&lt;/mn&gt;&lt;/mfrac&gt;&lt;/mtd&gt;&lt;/mtr&gt;&lt;/mtable&gt;&lt;/math&gt;" id="306" name="Google Shape;306;p21" title="4 lines Line 1: 4 and one half equals nine halves Line 2: 11 and three fifths equals 58 over 5 Line 3: 80 and one third equals 241 over 3 Line 4: 3 and nine tenths equals 39 over 10"/>
          <p:cNvPicPr preferRelativeResize="0"/>
          <p:nvPr/>
        </p:nvPicPr>
        <p:blipFill rotWithShape="1">
          <a:blip r:embed="rId9">
            <a:alphaModFix/>
          </a:blip>
          <a:srcRect b="-3998" l="43749" r="-2082" t="76403"/>
          <a:stretch/>
        </p:blipFill>
        <p:spPr>
          <a:xfrm>
            <a:off x="1285644" y="8373335"/>
            <a:ext cx="743126" cy="49424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480675" y="720000"/>
            <a:ext cx="6611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1166475" y="720000"/>
            <a:ext cx="6611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1547475" y="720000"/>
            <a:ext cx="6611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1883125" y="720000"/>
            <a:ext cx="66567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2455275" y="720000"/>
            <a:ext cx="62370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 either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480675" y="2015400"/>
            <a:ext cx="6611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make the above calculations correct, work out the value of the images.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"/>
          <p:cNvSpPr txBox="1"/>
          <p:nvPr/>
        </p:nvSpPr>
        <p:spPr>
          <a:xfrm>
            <a:off x="3173581" y="1982902"/>
            <a:ext cx="2622300" cy="1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integer is even.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As an improper fraction the numerator is 173.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denominator is odd.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3173575" y="2744902"/>
            <a:ext cx="26223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mixed number is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3173575" y="2955489"/>
            <a:ext cx="26223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etween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Checking and securing converting mixed numbers to improper fractions</a:t>
            </a:r>
            <a:endParaRPr/>
          </a:p>
        </p:txBody>
      </p:sp>
      <p:sp>
        <p:nvSpPr>
          <p:cNvPr id="322" name="Google Shape;322;p22"/>
          <p:cNvSpPr/>
          <p:nvPr/>
        </p:nvSpPr>
        <p:spPr>
          <a:xfrm>
            <a:off x="5945125" y="1436599"/>
            <a:ext cx="1080600" cy="956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3206500" y="1244561"/>
            <a:ext cx="2677800" cy="2592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468000" y="1204761"/>
            <a:ext cx="2677800" cy="2592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0\frac{3}{5}\\&amp;#13;&amp;#10;24\frac{5}{7}\\&amp;#13;&amp;#10;3\frac{1}{2}\end{array}&quot;&gt;&lt;mtable columnalign=&quot;left&quot; columnspacing=&quot;1em&quot; rowspacing=&quot;4pt&quot;&gt;&lt;mtr&gt;&lt;mtd&gt;&lt;mn&gt;10&lt;/mn&gt;&lt;mfrac&gt;&lt;mn&gt;3&lt;/mn&gt;&lt;mn&gt;5&lt;/mn&gt;&lt;/mfrac&gt;&lt;/mtd&gt;&lt;/mtr&gt;&lt;mtr&gt;&lt;mtd&gt;&lt;mn&gt;24&lt;/mn&gt;&lt;mfrac&gt;&lt;mn&gt;5&lt;/mn&gt;&lt;mn&gt;7&lt;/mn&gt;&lt;/mfrac&gt;&lt;/mtd&gt;&lt;/mtr&gt;&lt;mtr&gt;&lt;mtd&gt;&lt;mn&gt;3&lt;/mn&gt;&lt;mfrac&gt;&lt;mn&gt;1&lt;/mn&gt;&lt;mn&gt;2&lt;/mn&gt;&lt;/mfrac&gt;&lt;/mtd&gt;&lt;/mtr&gt;&lt;/mtable&gt;&lt;/math&gt;" id="325" name="Google Shape;325;p22" title="3 lines Line 1: 10 and three fifths Line 2: 24 and five sevenths Line 3: 3 and one half"/>
          <p:cNvPicPr preferRelativeResize="0"/>
          <p:nvPr/>
        </p:nvPicPr>
        <p:blipFill rotWithShape="1">
          <a:blip r:embed="rId3">
            <a:alphaModFix/>
          </a:blip>
          <a:srcRect b="68911" l="0" r="0" t="0"/>
          <a:stretch/>
        </p:blipFill>
        <p:spPr>
          <a:xfrm>
            <a:off x="1451617" y="1293945"/>
            <a:ext cx="768618" cy="7405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3}{5}\\&amp;#13;&amp;#10;24\frac{5}{7}\\&amp;#13;&amp;#10;3\frac{1}{2}\end{array}&quot;&gt;&lt;mtable columnalign=&quot;left&quot; columnspacing=&quot;1em&quot; rowspacing=&quot;4pt&quot;&gt;&lt;mtr&gt;&lt;mtd&gt;&lt;mn&gt;10&lt;/mn&gt;&lt;mfrac&gt;&lt;mn&gt;3&lt;/mn&gt;&lt;mn&gt;5&lt;/mn&gt;&lt;/mfrac&gt;&lt;/mtd&gt;&lt;/mtr&gt;&lt;mtr&gt;&lt;mtd&gt;&lt;mn&gt;24&lt;/mn&gt;&lt;mfrac&gt;&lt;mn&gt;5&lt;/mn&gt;&lt;mn&gt;7&lt;/mn&gt;&lt;/mfrac&gt;&lt;/mtd&gt;&lt;/mtr&gt;&lt;mtr&gt;&lt;mtd&gt;&lt;mn&gt;3&lt;/mn&gt;&lt;mfrac&gt;&lt;mn&gt;1&lt;/mn&gt;&lt;mn&gt;2&lt;/mn&gt;&lt;/mfrac&gt;&lt;/mtd&gt;&lt;/mtr&gt;&lt;/mtable&gt;&lt;/math&gt;" id="326" name="Google Shape;326;p22" title="3 lines Line 1: 10 and three fifths Line 2: 24 and five sevenths Line 3: 3 and one half"/>
          <p:cNvPicPr preferRelativeResize="0"/>
          <p:nvPr/>
        </p:nvPicPr>
        <p:blipFill rotWithShape="1">
          <a:blip r:embed="rId3">
            <a:alphaModFix/>
          </a:blip>
          <a:srcRect b="34455" l="-5775" r="0" t="34455"/>
          <a:stretch/>
        </p:blipFill>
        <p:spPr>
          <a:xfrm>
            <a:off x="4017071" y="1267619"/>
            <a:ext cx="813039" cy="740514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2"/>
          <p:cNvSpPr txBox="1"/>
          <p:nvPr/>
        </p:nvSpPr>
        <p:spPr>
          <a:xfrm>
            <a:off x="5944975" y="1502750"/>
            <a:ext cx="10806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your own mixed number with clues.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6}{5}&quot;&gt;&lt;mfrac&gt;&lt;mn&gt;46&lt;/mn&gt;&lt;mn&gt;5&lt;/mn&gt;&lt;/mfrac&gt;&lt;/math&gt;" id="328" name="Google Shape;328;p22" title="46 over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5249" y="2947984"/>
            <a:ext cx="148558" cy="26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6}{5}&quot;&gt;&lt;mfrac&gt;&lt;mn&gt;116&lt;/mn&gt;&lt;mn&gt;5&lt;/mn&gt;&lt;/mfrac&gt;&lt;/math&gt;" id="329" name="Google Shape;329;p22" title="116 over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7422" y="3001204"/>
            <a:ext cx="211516" cy="26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4}{5}&quot;&gt;&lt;mfrac&gt;&lt;mn&gt;124&lt;/mn&gt;&lt;mn&gt;5&lt;/mn&gt;&lt;/mfrac&gt;&lt;/math&gt;" id="330" name="Google Shape;330;p22" title="124 over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17072" y="3001465"/>
            <a:ext cx="211525" cy="268872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2"/>
          <p:cNvSpPr txBox="1"/>
          <p:nvPr/>
        </p:nvSpPr>
        <p:spPr>
          <a:xfrm>
            <a:off x="510425" y="720000"/>
            <a:ext cx="6581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Can you work out the mixed number given the clues for the integer and proper fraction?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2" name="Google Shape;332;p22"/>
          <p:cNvCxnSpPr/>
          <p:nvPr/>
        </p:nvCxnSpPr>
        <p:spPr>
          <a:xfrm>
            <a:off x="474757" y="39638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22"/>
          <p:cNvSpPr txBox="1"/>
          <p:nvPr/>
        </p:nvSpPr>
        <p:spPr>
          <a:xfrm>
            <a:off x="468000" y="43914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Insert the symbol &lt;, &gt; or = to make the following statements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468000" y="4648850"/>
            <a:ext cx="4134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468000" y="5226037"/>
            <a:ext cx="4134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468000" y="5745983"/>
            <a:ext cx="4134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468000" y="6323170"/>
            <a:ext cx="4134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3}{4}=3\frac{1}{4}\\&amp;#13;&amp;#10;\frac{24}{5}&amp;lt;5\frac{1}{5}\\&amp;#13;&amp;#10;\frac{92}{4}&amp;gt;22\frac{1}{4}\\&amp;#13;&amp;#10;\frac{9}{2}&amp;gt;\frac{25}{6}\end{array}&quot;&gt;&lt;mtable columnalign=&quot;left&quot; columnspacing=&quot;1em&quot; rowspacing=&quot;4pt&quot;&gt;&lt;mtr&gt;&lt;mtd&gt;&lt;mfrac&gt;&lt;mn&gt;13&lt;/mn&gt;&lt;mn&gt;4&lt;/mn&gt;&lt;/mfrac&gt;&lt;mo&gt;=&lt;/mo&gt;&lt;mn&gt;3&lt;/mn&gt;&lt;mfrac&gt;&lt;mn&gt;1&lt;/mn&gt;&lt;mn&gt;4&lt;/mn&gt;&lt;/mfrac&gt;&lt;/mtd&gt;&lt;/mtr&gt;&lt;mtr&gt;&lt;mtd&gt;&lt;mfrac&gt;&lt;mn&gt;24&lt;/mn&gt;&lt;mn&gt;5&lt;/mn&gt;&lt;/mfrac&gt;&lt;mo&gt;&amp;lt;&lt;/mo&gt;&lt;mn&gt;5&lt;/mn&gt;&lt;mfrac&gt;&lt;mn&gt;1&lt;/mn&gt;&lt;mn&gt;5&lt;/mn&gt;&lt;/mfrac&gt;&lt;/mtd&gt;&lt;/mtr&gt;&lt;mtr&gt;&lt;mtd&gt;&lt;mfrac&gt;&lt;mn&gt;92&lt;/mn&gt;&lt;mn&gt;4&lt;/mn&gt;&lt;/mfrac&gt;&lt;mo&gt;&amp;gt;&lt;/mo&gt;&lt;mn&gt;22&lt;/mn&gt;&lt;mfrac&gt;&lt;mn&gt;1&lt;/mn&gt;&lt;mn&gt;4&lt;/mn&gt;&lt;/mfrac&gt;&lt;/mtd&gt;&lt;/mtr&gt;&lt;mtr&gt;&lt;mtd&gt;&lt;mfrac&gt;&lt;mn&gt;9&lt;/mn&gt;&lt;mn&gt;2&lt;/mn&gt;&lt;/mfrac&gt;&lt;mo&gt;&amp;gt;&lt;/mo&gt;&lt;mfrac&gt;&lt;mn&gt;25&lt;/mn&gt;&lt;mn&gt;6&lt;/mn&gt;&lt;/mfrac&gt;&lt;/mtd&gt;&lt;/mtr&gt;&lt;/mtable&gt;&lt;/math&gt;" id="338" name="Google Shape;338;p22" title="4 lines Line 1: thirteen fourths equals 3 and one fourth Line 2: 24 over 5 is less than 5 and one fifth Line 3: 92 over 4 is greater than 22 and one fourth Line 4: nine halves is greater than 25 over 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0535" y="4648850"/>
            <a:ext cx="1199415" cy="210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2"/>
          <p:cNvSpPr txBox="1"/>
          <p:nvPr/>
        </p:nvSpPr>
        <p:spPr>
          <a:xfrm>
            <a:off x="468000" y="4054200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Comparing mixed numbers and improper fractions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1104244" y="6959948"/>
            <a:ext cx="1998300" cy="1256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1" name="Google Shape;341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30773" y="7172430"/>
            <a:ext cx="306922" cy="384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54486" y="7600517"/>
            <a:ext cx="306922" cy="384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75066" y="7775431"/>
            <a:ext cx="306922" cy="384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37696" y="7334124"/>
            <a:ext cx="618788" cy="4414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frac{1}{5}m\ \ \ \ \frac{49}{4}&quot;&gt;&lt;mn&gt;4&lt;/mn&gt;&lt;mfrac&gt;&lt;mn&gt;1&lt;/mn&gt;&lt;mn&gt;5&lt;/mn&gt;&lt;/mfrac&gt;&lt;mi&gt;m&lt;/mi&gt;&lt;mtext&gt;&lt;/mtext&gt;&lt;mtext&gt;&lt;/mtext&gt;&lt;mtext&gt;&lt;/mtext&gt;&lt;mtext&gt;&lt;/mtext&gt;&lt;mfrac&gt;&lt;mn&gt;49&lt;/mn&gt;&lt;mn&gt;4&lt;/mn&gt;&lt;/mfrac&gt;&lt;/math&gt;" id="345" name="Google Shape;345;p22" title="4 and one fifth m 49 over 4"/>
          <p:cNvPicPr preferRelativeResize="0"/>
          <p:nvPr/>
        </p:nvPicPr>
        <p:blipFill rotWithShape="1">
          <a:blip r:embed="rId10">
            <a:alphaModFix/>
          </a:blip>
          <a:srcRect b="0" l="0" r="68630" t="0"/>
          <a:stretch/>
        </p:blipFill>
        <p:spPr>
          <a:xfrm>
            <a:off x="518484" y="7318900"/>
            <a:ext cx="306921" cy="471857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2"/>
          <p:cNvSpPr txBox="1"/>
          <p:nvPr/>
        </p:nvSpPr>
        <p:spPr>
          <a:xfrm>
            <a:off x="460925" y="8703750"/>
            <a:ext cx="371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fence panels are needed?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733816" y="7360515"/>
            <a:ext cx="36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/>
          </a:p>
        </p:txBody>
      </p:sp>
      <p:sp>
        <p:nvSpPr>
          <p:cNvPr id="348" name="Google Shape;348;p22"/>
          <p:cNvSpPr txBox="1"/>
          <p:nvPr/>
        </p:nvSpPr>
        <p:spPr>
          <a:xfrm>
            <a:off x="2265761" y="8243989"/>
            <a:ext cx="36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4\frac{1}{5}m\ \ \ \ \frac{49}{5}&quot;&gt;&lt;mn&gt;4&lt;/mn&gt;&lt;mfrac&gt;&lt;mn&gt;1&lt;/mn&gt;&lt;mn&gt;5&lt;/mn&gt;&lt;/mfrac&gt;&lt;mi&gt;m&lt;/mi&gt;&lt;mtext&gt;&lt;/mtext&gt;&lt;mtext&gt;&lt;/mtext&gt;&lt;mtext&gt;&lt;/mtext&gt;&lt;mtext&gt;&lt;/mtext&gt;&lt;mfrac&gt;&lt;mn&gt;49&lt;/mn&gt;&lt;mn&gt;5&lt;/mn&gt;&lt;/mfrac&gt;&lt;/math&gt;" id="349" name="Google Shape;349;p22" title="4 and one fifth m 49 over 5"/>
          <p:cNvPicPr preferRelativeResize="0"/>
          <p:nvPr/>
        </p:nvPicPr>
        <p:blipFill rotWithShape="1">
          <a:blip r:embed="rId11">
            <a:alphaModFix/>
          </a:blip>
          <a:srcRect b="0" l="71714" r="0" t="0"/>
          <a:stretch/>
        </p:blipFill>
        <p:spPr>
          <a:xfrm>
            <a:off x="2012468" y="8267086"/>
            <a:ext cx="269237" cy="4590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\frac{1}{5}+\frac{49}{5}+4\frac{1}{5}+\frac{49}{5}=\\&amp;#13;&amp;#10;\frac{21}{5}+\frac{49}{5}+\frac{21}{5}+\frac{49}{5}=\frac{140}{5}=28\\&amp;#13;&amp;#10;\end{array}&quot;&gt;&lt;mtable columnalign=&quot;left&quot; columnspacing=&quot;1em&quot; rowspacing=&quot;4pt&quot;&gt;&lt;mtr&gt;&lt;mtd&gt;&lt;mn&gt;4&lt;/mn&gt;&lt;mfrac&gt;&lt;mn&gt;1&lt;/mn&gt;&lt;mn&gt;5&lt;/mn&gt;&lt;/mfrac&gt;&lt;mo&gt;+&lt;/mo&gt;&lt;mfrac&gt;&lt;mn&gt;49&lt;/mn&gt;&lt;mn&gt;5&lt;/mn&gt;&lt;/mfrac&gt;&lt;mo&gt;+&lt;/mo&gt;&lt;mn&gt;4&lt;/mn&gt;&lt;mfrac&gt;&lt;mn&gt;1&lt;/mn&gt;&lt;mn&gt;5&lt;/mn&gt;&lt;/mfrac&gt;&lt;mo&gt;+&lt;/mo&gt;&lt;mfrac&gt;&lt;mn&gt;49&lt;/mn&gt;&lt;mn&gt;5&lt;/mn&gt;&lt;/mfrac&gt;&lt;mo&gt;=&lt;/mo&gt;&lt;/mtd&gt;&lt;/mtr&gt;&lt;mtr&gt;&lt;mtd&gt;&lt;mfrac&gt;&lt;mn&gt;21&lt;/mn&gt;&lt;mn&gt;5&lt;/mn&gt;&lt;/mfrac&gt;&lt;mo&gt;+&lt;/mo&gt;&lt;mfrac&gt;&lt;mn&gt;49&lt;/mn&gt;&lt;mn&gt;5&lt;/mn&gt;&lt;/mfrac&gt;&lt;mo&gt;+&lt;/mo&gt;&lt;mfrac&gt;&lt;mn&gt;21&lt;/mn&gt;&lt;mn&gt;5&lt;/mn&gt;&lt;/mfrac&gt;&lt;mo&gt;+&lt;/mo&gt;&lt;mfrac&gt;&lt;mn&gt;49&lt;/mn&gt;&lt;mn&gt;5&lt;/mn&gt;&lt;/mfrac&gt;&lt;mo&gt;=&lt;/mo&gt;&lt;mfrac&gt;&lt;mn&gt;140&lt;/mn&gt;&lt;mn&gt;5&lt;/mn&gt;&lt;/mfrac&gt;&lt;mo&gt;=&lt;/mo&gt;&lt;mn&gt;28&lt;/mn&gt;&lt;/mtd&gt;&lt;/mtr&gt;&lt;/mtable&gt;&lt;/math&gt;" id="350" name="Google Shape;350;p22" title="2 lines Line 1: 4 and one fifth plus 49 over 5 plus 4 and one fifth plus 49 over 5 equals Line 2: 21 over 5 plus 49 over 5 plus 21 over 5 plus 49 over 5 equals 140 over 5 equals 28"/>
          <p:cNvPicPr preferRelativeResize="0"/>
          <p:nvPr/>
        </p:nvPicPr>
        <p:blipFill rotWithShape="1">
          <a:blip r:embed="rId12">
            <a:alphaModFix/>
          </a:blip>
          <a:srcRect b="49461" l="0" r="0" t="0"/>
          <a:stretch/>
        </p:blipFill>
        <p:spPr>
          <a:xfrm>
            <a:off x="460918" y="9081759"/>
            <a:ext cx="3431603" cy="441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\frac{1}{5}+\frac{49}{5}+4\frac{1}{5}+\frac{49}{5}=\\&amp;#13;&amp;#10;\frac{21}{5}+\frac{49}{5}+\frac{21}{5}+\frac{49}{5}=\frac{140}{5}=28\\&amp;#13;&amp;#10;\end{array}&quot;&gt;&lt;mtable columnalign=&quot;left&quot; columnspacing=&quot;1em&quot; rowspacing=&quot;4pt&quot;&gt;&lt;mtr&gt;&lt;mtd&gt;&lt;mn&gt;4&lt;/mn&gt;&lt;mfrac&gt;&lt;mn&gt;1&lt;/mn&gt;&lt;mn&gt;5&lt;/mn&gt;&lt;/mfrac&gt;&lt;mo&gt;+&lt;/mo&gt;&lt;mfrac&gt;&lt;mn&gt;49&lt;/mn&gt;&lt;mn&gt;5&lt;/mn&gt;&lt;/mfrac&gt;&lt;mo&gt;+&lt;/mo&gt;&lt;mn&gt;4&lt;/mn&gt;&lt;mfrac&gt;&lt;mn&gt;1&lt;/mn&gt;&lt;mn&gt;5&lt;/mn&gt;&lt;/mfrac&gt;&lt;mo&gt;+&lt;/mo&gt;&lt;mfrac&gt;&lt;mn&gt;49&lt;/mn&gt;&lt;mn&gt;5&lt;/mn&gt;&lt;/mfrac&gt;&lt;mo&gt;=&lt;/mo&gt;&lt;/mtd&gt;&lt;/mtr&gt;&lt;mtr&gt;&lt;mtd&gt;&lt;mfrac&gt;&lt;mn&gt;21&lt;/mn&gt;&lt;mn&gt;5&lt;/mn&gt;&lt;/mfrac&gt;&lt;mo&gt;+&lt;/mo&gt;&lt;mfrac&gt;&lt;mn&gt;49&lt;/mn&gt;&lt;mn&gt;5&lt;/mn&gt;&lt;/mfrac&gt;&lt;mo&gt;+&lt;/mo&gt;&lt;mfrac&gt;&lt;mn&gt;21&lt;/mn&gt;&lt;mn&gt;5&lt;/mn&gt;&lt;/mfrac&gt;&lt;mo&gt;+&lt;/mo&gt;&lt;mfrac&gt;&lt;mn&gt;49&lt;/mn&gt;&lt;mn&gt;5&lt;/mn&gt;&lt;/mfrac&gt;&lt;mo&gt;=&lt;/mo&gt;&lt;mfrac&gt;&lt;mn&gt;140&lt;/mn&gt;&lt;mn&gt;5&lt;/mn&gt;&lt;/mfrac&gt;&lt;mo&gt;=&lt;/mo&gt;&lt;mn&gt;28&lt;/mn&gt;&lt;/mtd&gt;&lt;/mtr&gt;&lt;/mtable&gt;&lt;/math&gt;" id="351" name="Google Shape;351;p22" title="2 lines Line 1: 4 and one fifth plus 49 over 5 plus 4 and one fifth plus 49 over 5 equals Line 2: 21 over 5 plus 49 over 5 plus 21 over 5 plus 49 over 5 equals 140 over 5 equals 28"/>
          <p:cNvPicPr preferRelativeResize="0"/>
          <p:nvPr/>
        </p:nvPicPr>
        <p:blipFill rotWithShape="1">
          <a:blip r:embed="rId12">
            <a:alphaModFix/>
          </a:blip>
          <a:srcRect b="-2668" l="-1341" r="29217" t="52130"/>
          <a:stretch/>
        </p:blipFill>
        <p:spPr>
          <a:xfrm>
            <a:off x="462682" y="9528418"/>
            <a:ext cx="2475031" cy="441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\frac{1}{5}+\frac{49}{5}+4\frac{1}{5}+\frac{49}{5}=\\&amp;#13;&amp;#10;\frac{21}{5}+\frac{49}{5}+\frac{21}{5}+\frac{49}{5}=\frac{140}{5}=28\\&amp;#13;&amp;#10;\end{array}&quot;&gt;&lt;mtable columnalign=&quot;left&quot; columnspacing=&quot;1em&quot; rowspacing=&quot;4pt&quot;&gt;&lt;mtr&gt;&lt;mtd&gt;&lt;mn&gt;4&lt;/mn&gt;&lt;mfrac&gt;&lt;mn&gt;1&lt;/mn&gt;&lt;mn&gt;5&lt;/mn&gt;&lt;/mfrac&gt;&lt;mo&gt;+&lt;/mo&gt;&lt;mfrac&gt;&lt;mn&gt;49&lt;/mn&gt;&lt;mn&gt;5&lt;/mn&gt;&lt;/mfrac&gt;&lt;mo&gt;+&lt;/mo&gt;&lt;mn&gt;4&lt;/mn&gt;&lt;mfrac&gt;&lt;mn&gt;1&lt;/mn&gt;&lt;mn&gt;5&lt;/mn&gt;&lt;/mfrac&gt;&lt;mo&gt;+&lt;/mo&gt;&lt;mfrac&gt;&lt;mn&gt;49&lt;/mn&gt;&lt;mn&gt;5&lt;/mn&gt;&lt;/mfrac&gt;&lt;mo&gt;=&lt;/mo&gt;&lt;/mtd&gt;&lt;/mtr&gt;&lt;mtr&gt;&lt;mtd&gt;&lt;mfrac&gt;&lt;mn&gt;21&lt;/mn&gt;&lt;mn&gt;5&lt;/mn&gt;&lt;/mfrac&gt;&lt;mo&gt;+&lt;/mo&gt;&lt;mfrac&gt;&lt;mn&gt;49&lt;/mn&gt;&lt;mn&gt;5&lt;/mn&gt;&lt;/mfrac&gt;&lt;mo&gt;+&lt;/mo&gt;&lt;mfrac&gt;&lt;mn&gt;21&lt;/mn&gt;&lt;mn&gt;5&lt;/mn&gt;&lt;/mfrac&gt;&lt;mo&gt;+&lt;/mo&gt;&lt;mfrac&gt;&lt;mn&gt;49&lt;/mn&gt;&lt;mn&gt;5&lt;/mn&gt;&lt;/mfrac&gt;&lt;mo&gt;=&lt;/mo&gt;&lt;mfrac&gt;&lt;mn&gt;140&lt;/mn&gt;&lt;mn&gt;5&lt;/mn&gt;&lt;/mfrac&gt;&lt;mo&gt;=&lt;/mo&gt;&lt;mn&gt;28&lt;/mn&gt;&lt;/mtd&gt;&lt;/mtr&gt;&lt;/mtable&gt;&lt;/math&gt;" id="352" name="Google Shape;352;p22" title="2 lines Line 1: 4 and one fifth plus 49 over 5 plus 4 and one fifth plus 49 over 5 equals Line 2: 21 over 5 plus 49 over 5 plus 21 over 5 plus 49 over 5 equals 140 over 5 equals 28"/>
          <p:cNvPicPr preferRelativeResize="0"/>
          <p:nvPr/>
        </p:nvPicPr>
        <p:blipFill rotWithShape="1">
          <a:blip r:embed="rId12">
            <a:alphaModFix/>
          </a:blip>
          <a:srcRect b="-3484" l="70192" r="-3945" t="49462"/>
          <a:stretch/>
        </p:blipFill>
        <p:spPr>
          <a:xfrm>
            <a:off x="2885066" y="9513201"/>
            <a:ext cx="1158285" cy="4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2"/>
          <p:cNvSpPr txBox="1"/>
          <p:nvPr/>
        </p:nvSpPr>
        <p:spPr>
          <a:xfrm>
            <a:off x="3961250" y="9560679"/>
            <a:ext cx="229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ence panels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4" name="Google Shape;354;p22"/>
          <p:cNvSpPr txBox="1"/>
          <p:nvPr/>
        </p:nvSpPr>
        <p:spPr>
          <a:xfrm>
            <a:off x="5071000" y="8726150"/>
            <a:ext cx="1998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What is the total cost?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>
            <a:off x="5148000" y="9341375"/>
            <a:ext cx="184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28 × 22 = £616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6" name="Google Shape;356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7" name="Google Shape;357;p22"/>
          <p:cNvSpPr txBox="1"/>
          <p:nvPr/>
        </p:nvSpPr>
        <p:spPr>
          <a:xfrm>
            <a:off x="602844" y="1946090"/>
            <a:ext cx="2622300" cy="1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integer is even.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numerator and denominator of the proper fraction are both odd and prime numbers.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>
            <a:off x="602850" y="2936696"/>
            <a:ext cx="26223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between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1585200" y="2936700"/>
            <a:ext cx="17160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10.7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4176425" y="2955500"/>
            <a:ext cx="17718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3304300" y="6902400"/>
            <a:ext cx="3715500" cy="18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Two gardeners are putting a fence around a rectangular garden.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gardener measures the length to be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4\frac{1}{5}m\ \ \ \ \frac{49}{4}&quot;&gt;&lt;mn&gt;4&lt;/mn&gt;&lt;mfrac&gt;&lt;mn&gt;1&lt;/mn&gt;&lt;mn&gt;5&lt;/mn&gt;&lt;/mfrac&gt;&lt;mi&gt;m&lt;/mi&gt;&lt;mtext&gt;&lt;/mtext&gt;&lt;mtext&gt;&lt;/mtext&gt;&lt;mtext&gt;&lt;/mtext&gt;&lt;mtext&gt;&lt;/mtext&gt;&lt;mfrac&gt;&lt;mn&gt;49&lt;/mn&gt;&lt;mn&gt;4&lt;/mn&gt;&lt;/mfrac&gt;&lt;/math&gt;" id="362" name="Google Shape;362;p22" title="4 and one fifth m 49 over 4"/>
          <p:cNvPicPr preferRelativeResize="0"/>
          <p:nvPr/>
        </p:nvPicPr>
        <p:blipFill rotWithShape="1">
          <a:blip r:embed="rId10">
            <a:alphaModFix/>
          </a:blip>
          <a:srcRect b="0" l="0" r="68630" t="0"/>
          <a:stretch/>
        </p:blipFill>
        <p:spPr>
          <a:xfrm>
            <a:off x="4489975" y="8048232"/>
            <a:ext cx="211525" cy="325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frac{1}{5}m\ \ \ \ \frac{49}{5}&quot;&gt;&lt;mn&gt;4&lt;/mn&gt;&lt;mfrac&gt;&lt;mn&gt;1&lt;/mn&gt;&lt;mn&gt;5&lt;/mn&gt;&lt;/mfrac&gt;&lt;mi&gt;m&lt;/mi&gt;&lt;mtext&gt;&lt;/mtext&gt;&lt;mtext&gt;&lt;/mtext&gt;&lt;mtext&gt;&lt;/mtext&gt;&lt;mtext&gt;&lt;/mtext&gt;&lt;mfrac&gt;&lt;mn&gt;49&lt;/mn&gt;&lt;mn&gt;5&lt;/mn&gt;&lt;/mfrac&gt;&lt;/math&gt;" id="363" name="Google Shape;363;p22" title="4 and one fifth m 49 over 5"/>
          <p:cNvPicPr preferRelativeResize="0"/>
          <p:nvPr/>
        </p:nvPicPr>
        <p:blipFill rotWithShape="1">
          <a:blip r:embed="rId11">
            <a:alphaModFix/>
          </a:blip>
          <a:srcRect b="0" l="71714" r="0" t="0"/>
          <a:stretch/>
        </p:blipFill>
        <p:spPr>
          <a:xfrm>
            <a:off x="3304300" y="7739075"/>
            <a:ext cx="211500" cy="36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2"/>
          <p:cNvSpPr txBox="1"/>
          <p:nvPr/>
        </p:nvSpPr>
        <p:spPr>
          <a:xfrm>
            <a:off x="3550375" y="7775425"/>
            <a:ext cx="34695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   and the other gardener measures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>
            <a:off x="3304300" y="8080225"/>
            <a:ext cx="37155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2"/>
          <p:cNvSpPr txBox="1"/>
          <p:nvPr/>
        </p:nvSpPr>
        <p:spPr>
          <a:xfrm>
            <a:off x="3304300" y="8385025"/>
            <a:ext cx="3715500" cy="17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Fence panels cost £22 per 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2"/>
          <p:cNvSpPr txBox="1"/>
          <p:nvPr/>
        </p:nvSpPr>
        <p:spPr>
          <a:xfrm>
            <a:off x="3593425" y="8080225"/>
            <a:ext cx="3579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width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2"/>
          <p:cNvSpPr txBox="1"/>
          <p:nvPr/>
        </p:nvSpPr>
        <p:spPr>
          <a:xfrm>
            <a:off x="4050625" y="8080225"/>
            <a:ext cx="3579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be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4759200" y="8080225"/>
            <a:ext cx="3022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"/>
          <p:cNvSpPr/>
          <p:nvPr/>
        </p:nvSpPr>
        <p:spPr>
          <a:xfrm>
            <a:off x="496910" y="3395569"/>
            <a:ext cx="4456800" cy="1182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496910" y="1666575"/>
            <a:ext cx="4456800" cy="1182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7" name="Google Shape;377;p2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converting mixed numbers to improper fractions</a:t>
            </a:r>
            <a:endParaRPr/>
          </a:p>
        </p:txBody>
      </p:sp>
      <p:sp>
        <p:nvSpPr>
          <p:cNvPr id="378" name="Google Shape;378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80" name="Google Shape;380;p23"/>
          <p:cNvSpPr txBox="1"/>
          <p:nvPr/>
        </p:nvSpPr>
        <p:spPr>
          <a:xfrm>
            <a:off x="468000" y="720000"/>
            <a:ext cx="66249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following have been put in ascending order.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mixed number is above and the equivalent improper fraction is below.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gaps.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\frac{1}{2}\ \ ,\ \ \ 2\frac{3}{4}\ \ ,\ \ \ 5\frac{1}{10}\ \ ,\ \ 5\frac{3}{4}\ \ ,\ \ 20\frac{1}{2}\\&amp;#13;&amp;#10;\frac{3}{2}\ \ \ \ ,\ \ \ \frac{11}{4}\ \ \ ,\ \ \ \frac{51}{10}\ \ \ ,\ \ \frac{23}{4}\ \ \ ,\ \ \frac{41}{2}\\&amp;#13;&amp;#10;\\&amp;#13;&amp;#10;2\ \frac{2}{3}\ \ ,\ \ \ 4\frac{4}{5}\ \ ,\ \ 4\frac{9}{10}\ \ ,\ \ 5\frac{1}{3}\ \ ,\ \ 10\frac{2}{5}\\&amp;#13;&amp;#10;\frac{8}{3}\ \ \ \ \ ,\ \ \ \frac{24}{5}\ \ ,\ \ \frac{49}{10}\ \ \ \ ,\ \ \frac{16}{3}\ \ \ ,\ \ \ \frac{50}{2}\end{array}&quot;&gt;&lt;mtable columnalign=&quot;left&quot; columnspacing=&quot;1em&quot; rowspacing=&quot;4pt&quot;&gt;&lt;mtr&gt;&lt;mtd&gt;&lt;mn&gt;1&lt;/mn&gt;&lt;mfrac&gt;&lt;mn&gt;1&lt;/mn&gt;&lt;mn&gt;2&lt;/mn&gt;&lt;/mfrac&gt;&lt;mtext&gt;&lt;/mtext&gt;&lt;mtext&gt;&lt;/mtext&gt;&lt;mo&gt;,&lt;/mo&gt;&lt;mtext&gt;&lt;/mtext&gt;&lt;mtext&gt;&lt;/mtext&gt;&lt;mtext&gt;&lt;/mtext&gt;&lt;mn&gt;2&lt;/mn&gt;&lt;mfrac&gt;&lt;mn&gt;3&lt;/mn&gt;&lt;mn&gt;4&lt;/mn&gt;&lt;/mfrac&gt;&lt;mtext&gt;&lt;/mtext&gt;&lt;mtext&gt;&lt;/mtext&gt;&lt;mo&gt;,&lt;/mo&gt;&lt;mtext&gt;&lt;/mtext&gt;&lt;mtext&gt;&lt;/mtext&gt;&lt;mtext&gt;&lt;/mtext&gt;&lt;mn&gt;5&lt;/mn&gt;&lt;mfrac&gt;&lt;mn&gt;1&lt;/mn&gt;&lt;mn&gt;10&lt;/mn&gt;&lt;/mfrac&gt;&lt;mtext&gt;&lt;/mtext&gt;&lt;mtext&gt;&lt;/mtext&gt;&lt;mo&gt;,&lt;/mo&gt;&lt;mtext&gt;&lt;/mtext&gt;&lt;mtext&gt;&lt;/mtext&gt;&lt;mn&gt;5&lt;/mn&gt;&lt;mfrac&gt;&lt;mn&gt;3&lt;/mn&gt;&lt;mn&gt;4&lt;/mn&gt;&lt;/mfrac&gt;&lt;mtext&gt;&lt;/mtext&gt;&lt;mtext&gt;&lt;/mtext&gt;&lt;mo&gt;,&lt;/mo&gt;&lt;mtext&gt;&lt;/mtext&gt;&lt;mtext&gt;&lt;/mtext&gt;&lt;mn&gt;20&lt;/mn&gt;&lt;mfrac&gt;&lt;mn&gt;1&lt;/mn&gt;&lt;mn&gt;2&lt;/mn&gt;&lt;/mfrac&gt;&lt;/mtd&gt;&lt;/mtr&gt;&lt;mtr&gt;&lt;mtd&gt;&lt;mfrac&gt;&lt;mn&gt;3&lt;/mn&gt;&lt;mn&gt;2&lt;/mn&gt;&lt;/mfrac&gt;&lt;mtext&gt;&lt;/mtext&gt;&lt;mtext&gt;&lt;/mtext&gt;&lt;mtext&gt;&lt;/mtext&gt;&lt;mtext&gt;&lt;/mtext&gt;&lt;mo&gt;,&lt;/mo&gt;&lt;mtext&gt;&lt;/mtext&gt;&lt;mtext&gt;&lt;/mtext&gt;&lt;mtext&gt;&lt;/mtext&gt;&lt;mfrac&gt;&lt;mn&gt;11&lt;/mn&gt;&lt;mn&gt;4&lt;/mn&gt;&lt;/mfrac&gt;&lt;mtext&gt;&lt;/mtext&gt;&lt;mtext&gt;&lt;/mtext&gt;&lt;mtext&gt;&lt;/mtext&gt;&lt;mo&gt;,&lt;/mo&gt;&lt;mtext&gt;&lt;/mtext&gt;&lt;mtext&gt;&lt;/mtext&gt;&lt;mtext&gt;&lt;/mtext&gt;&lt;mfrac&gt;&lt;mn&gt;51&lt;/mn&gt;&lt;mn&gt;10&lt;/mn&gt;&lt;/mfrac&gt;&lt;mtext&gt;&lt;/mtext&gt;&lt;mtext&gt;&lt;/mtext&gt;&lt;mtext&gt;&lt;/mtext&gt;&lt;mo&gt;,&lt;/mo&gt;&lt;mtext&gt;&lt;/mtext&gt;&lt;mtext&gt;&lt;/mtext&gt;&lt;mfrac&gt;&lt;mn&gt;23&lt;/mn&gt;&lt;mn&gt;4&lt;/mn&gt;&lt;/mfrac&gt;&lt;mtext&gt;&lt;/mtext&gt;&lt;mtext&gt;&lt;/mtext&gt;&lt;mtext&gt;&lt;/mtext&gt;&lt;mo&gt;,&lt;/mo&gt;&lt;mtext&gt;&lt;/mtext&gt;&lt;mtext&gt;&lt;/mtext&gt;&lt;mfrac&gt;&lt;mn&gt;41&lt;/mn&gt;&lt;mn&gt;2&lt;/mn&gt;&lt;/mfrac&gt;&lt;/mtd&gt;&lt;/mtr&gt;&lt;mtr&gt;&lt;mtd/&gt;&lt;/mtr&gt;&lt;mtr&gt;&lt;mtd&gt;&lt;mn&gt;2&lt;/mn&gt;&lt;mtext&gt;&lt;/mtext&gt;&lt;mfrac&gt;&lt;mn&gt;2&lt;/mn&gt;&lt;mn&gt;3&lt;/mn&gt;&lt;/mfrac&gt;&lt;mtext&gt;&lt;/mtext&gt;&lt;mtext&gt;&lt;/mtext&gt;&lt;mo&gt;,&lt;/mo&gt;&lt;mtext&gt;&lt;/mtext&gt;&lt;mtext&gt;&lt;/mtext&gt;&lt;mtext&gt;&lt;/mtext&gt;&lt;mn&gt;4&lt;/mn&gt;&lt;mfrac&gt;&lt;mn&gt;4&lt;/mn&gt;&lt;mn&gt;5&lt;/mn&gt;&lt;/mfrac&gt;&lt;mtext&gt;&lt;/mtext&gt;&lt;mtext&gt;&lt;/mtext&gt;&lt;mo&gt;,&lt;/mo&gt;&lt;mtext&gt;&lt;/mtext&gt;&lt;mtext&gt;&lt;/mtext&gt;&lt;mn&gt;4&lt;/mn&gt;&lt;mfrac&gt;&lt;mn&gt;9&lt;/mn&gt;&lt;mn&gt;10&lt;/mn&gt;&lt;/mfrac&gt;&lt;mtext&gt;&lt;/mtext&gt;&lt;mtext&gt;&lt;/mtext&gt;&lt;mo&gt;,&lt;/mo&gt;&lt;mtext&gt;&lt;/mtext&gt;&lt;mtext&gt;&lt;/mtext&gt;&lt;mn&gt;5&lt;/mn&gt;&lt;mfrac&gt;&lt;mn&gt;1&lt;/mn&gt;&lt;mn&gt;3&lt;/mn&gt;&lt;/mfrac&gt;&lt;mtext&gt;&lt;/mtext&gt;&lt;mtext&gt;&lt;/mtext&gt;&lt;mo&gt;,&lt;/mo&gt;&lt;mtext&gt;&lt;/mtext&gt;&lt;mtext&gt;&lt;/mtext&gt;&lt;mn&gt;10&lt;/mn&gt;&lt;mfrac&gt;&lt;mn&gt;2&lt;/mn&gt;&lt;mn&gt;5&lt;/mn&gt;&lt;/mfrac&gt;&lt;/mtd&gt;&lt;/mtr&gt;&lt;mtr&gt;&lt;mtd&gt;&lt;mfrac&gt;&lt;mn&gt;8&lt;/mn&gt;&lt;mn&gt;3&lt;/mn&gt;&lt;/mfrac&gt;&lt;mtext&gt;&lt;/mtext&gt;&lt;mtext&gt;&lt;/mtext&gt;&lt;mtext&gt;&lt;/mtext&gt;&lt;mtext&gt;&lt;/mtext&gt;&lt;mtext&gt;&lt;/mtext&gt;&lt;mo&gt;,&lt;/mo&gt;&lt;mtext&gt;&lt;/mtext&gt;&lt;mtext&gt;&lt;/mtext&gt;&lt;mtext&gt;&lt;/mtext&gt;&lt;mfrac&gt;&lt;mn&gt;24&lt;/mn&gt;&lt;mn&gt;5&lt;/mn&gt;&lt;/mfrac&gt;&lt;mtext&gt;&lt;/mtext&gt;&lt;mtext&gt;&lt;/mtext&gt;&lt;mo&gt;,&lt;/mo&gt;&lt;mtext&gt;&lt;/mtext&gt;&lt;mtext&gt;&lt;/mtext&gt;&lt;mfrac&gt;&lt;mn&gt;49&lt;/mn&gt;&lt;mn&gt;10&lt;/mn&gt;&lt;/mfrac&gt;&lt;mtext&gt;&lt;/mtext&gt;&lt;mtext&gt;&lt;/mtext&gt;&lt;mtext&gt;&lt;/mtext&gt;&lt;mtext&gt;&lt;/mtext&gt;&lt;mo&gt;,&lt;/mo&gt;&lt;mtext&gt;&lt;/mtext&gt;&lt;mtext&gt;&lt;/mtext&gt;&lt;mfrac&gt;&lt;mn&gt;16&lt;/mn&gt;&lt;mn&gt;3&lt;/mn&gt;&lt;/mfrac&gt;&lt;mtext&gt;&lt;/mtext&gt;&lt;mtext&gt;&lt;/mtext&gt;&lt;mtext&gt;&lt;/mtext&gt;&lt;mo&gt;,&lt;/mo&gt;&lt;mtext&gt;&lt;/mtext&gt;&lt;mtext&gt;&lt;/mtext&gt;&lt;mtext&gt;&lt;/mtext&gt;&lt;mfrac&gt;&lt;mn&gt;50&lt;/mn&gt;&lt;mn&gt;2&lt;/mn&gt;&lt;/mfrac&gt;&lt;/mtd&gt;&lt;/mtr&gt;&lt;/mtable&gt;&lt;/math&gt;" id="381" name="Google Shape;381;p23" title="5 lines Line 1: 1 and one half comma 2 and three fourths comma 5 and one tenth comma 5 and three fourths comma 20 and one half Line 2: three halves comma eleven fourths comma 51 over 10 comma 23 over 4 comma 41 over 2 Line 3: blank Line 4: 2 two thirds comma 4 and four fifths comma 4 and nine tenths comma 5 and one third comma 10 and two fifths Line 5: eight thirds comma 24 over 5 comma 49 over 10 comma sixteen thirds comma 50 over 2"/>
          <p:cNvPicPr preferRelativeResize="0"/>
          <p:nvPr/>
        </p:nvPicPr>
        <p:blipFill rotWithShape="1">
          <a:blip r:embed="rId3">
            <a:alphaModFix/>
          </a:blip>
          <a:srcRect b="57266" l="0" r="0" t="0"/>
          <a:stretch/>
        </p:blipFill>
        <p:spPr>
          <a:xfrm>
            <a:off x="914492" y="1792846"/>
            <a:ext cx="3776618" cy="1011483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3"/>
          <p:cNvSpPr txBox="1"/>
          <p:nvPr/>
        </p:nvSpPr>
        <p:spPr>
          <a:xfrm>
            <a:off x="468000" y="1751479"/>
            <a:ext cx="4464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3"/>
          <p:cNvSpPr txBox="1"/>
          <p:nvPr/>
        </p:nvSpPr>
        <p:spPr>
          <a:xfrm>
            <a:off x="468000" y="3502038"/>
            <a:ext cx="4464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\frac{1}{2}\ \ ,\ \ \ 2\frac{3}{4}\ \ ,\ \ \ 5\frac{1}{10}\ \ ,\ \ 5\frac{3}{4}\ \ ,\ \ 20\frac{1}{2}\\&amp;#13;&amp;#10;\frac{3}{2}\ \ \ \ ,\ \ \ \frac{11}{4}\ \ \ ,\ \ \ \frac{51}{10}\ \ \ ,\ \ \frac{23}{4}\ \ \ ,\ \ \frac{41}{2}\\&amp;#13;&amp;#10;\\&amp;#13;&amp;#10;2\ \frac{2}{3}\ \ ,\ \ \ 4\frac{4}{5}\ \ ,\ \ 4\frac{9}{10}\ \ ,\ \ 5\frac{1}{3}\ \ ,\ \ 10\frac{2}{5}\\&amp;#13;&amp;#10;\frac{8}{3}\ \ \ \ \ ,\ \ \ \frac{24}{5}\ \ ,\ \ \frac{49}{10}\ \ \ \ ,\ \ \frac{16}{3}\ \ \ ,\ \ \ \frac{50}{2}\end{array}&quot;&gt;&lt;mtable columnalign=&quot;left&quot; columnspacing=&quot;1em&quot; rowspacing=&quot;4pt&quot;&gt;&lt;mtr&gt;&lt;mtd&gt;&lt;mn&gt;1&lt;/mn&gt;&lt;mfrac&gt;&lt;mn&gt;1&lt;/mn&gt;&lt;mn&gt;2&lt;/mn&gt;&lt;/mfrac&gt;&lt;mtext&gt;&lt;/mtext&gt;&lt;mtext&gt;&lt;/mtext&gt;&lt;mo&gt;,&lt;/mo&gt;&lt;mtext&gt;&lt;/mtext&gt;&lt;mtext&gt;&lt;/mtext&gt;&lt;mtext&gt;&lt;/mtext&gt;&lt;mn&gt;2&lt;/mn&gt;&lt;mfrac&gt;&lt;mn&gt;3&lt;/mn&gt;&lt;mn&gt;4&lt;/mn&gt;&lt;/mfrac&gt;&lt;mtext&gt;&lt;/mtext&gt;&lt;mtext&gt;&lt;/mtext&gt;&lt;mo&gt;,&lt;/mo&gt;&lt;mtext&gt;&lt;/mtext&gt;&lt;mtext&gt;&lt;/mtext&gt;&lt;mtext&gt;&lt;/mtext&gt;&lt;mn&gt;5&lt;/mn&gt;&lt;mfrac&gt;&lt;mn&gt;1&lt;/mn&gt;&lt;mn&gt;10&lt;/mn&gt;&lt;/mfrac&gt;&lt;mtext&gt;&lt;/mtext&gt;&lt;mtext&gt;&lt;/mtext&gt;&lt;mo&gt;,&lt;/mo&gt;&lt;mtext&gt;&lt;/mtext&gt;&lt;mtext&gt;&lt;/mtext&gt;&lt;mn&gt;5&lt;/mn&gt;&lt;mfrac&gt;&lt;mn&gt;3&lt;/mn&gt;&lt;mn&gt;4&lt;/mn&gt;&lt;/mfrac&gt;&lt;mtext&gt;&lt;/mtext&gt;&lt;mtext&gt;&lt;/mtext&gt;&lt;mo&gt;,&lt;/mo&gt;&lt;mtext&gt;&lt;/mtext&gt;&lt;mtext&gt;&lt;/mtext&gt;&lt;mn&gt;20&lt;/mn&gt;&lt;mfrac&gt;&lt;mn&gt;1&lt;/mn&gt;&lt;mn&gt;2&lt;/mn&gt;&lt;/mfrac&gt;&lt;/mtd&gt;&lt;/mtr&gt;&lt;mtr&gt;&lt;mtd&gt;&lt;mfrac&gt;&lt;mn&gt;3&lt;/mn&gt;&lt;mn&gt;2&lt;/mn&gt;&lt;/mfrac&gt;&lt;mtext&gt;&lt;/mtext&gt;&lt;mtext&gt;&lt;/mtext&gt;&lt;mtext&gt;&lt;/mtext&gt;&lt;mtext&gt;&lt;/mtext&gt;&lt;mo&gt;,&lt;/mo&gt;&lt;mtext&gt;&lt;/mtext&gt;&lt;mtext&gt;&lt;/mtext&gt;&lt;mtext&gt;&lt;/mtext&gt;&lt;mfrac&gt;&lt;mn&gt;11&lt;/mn&gt;&lt;mn&gt;4&lt;/mn&gt;&lt;/mfrac&gt;&lt;mtext&gt;&lt;/mtext&gt;&lt;mtext&gt;&lt;/mtext&gt;&lt;mtext&gt;&lt;/mtext&gt;&lt;mo&gt;,&lt;/mo&gt;&lt;mtext&gt;&lt;/mtext&gt;&lt;mtext&gt;&lt;/mtext&gt;&lt;mtext&gt;&lt;/mtext&gt;&lt;mfrac&gt;&lt;mn&gt;51&lt;/mn&gt;&lt;mn&gt;10&lt;/mn&gt;&lt;/mfrac&gt;&lt;mtext&gt;&lt;/mtext&gt;&lt;mtext&gt;&lt;/mtext&gt;&lt;mtext&gt;&lt;/mtext&gt;&lt;mo&gt;,&lt;/mo&gt;&lt;mtext&gt;&lt;/mtext&gt;&lt;mtext&gt;&lt;/mtext&gt;&lt;mfrac&gt;&lt;mn&gt;23&lt;/mn&gt;&lt;mn&gt;4&lt;/mn&gt;&lt;/mfrac&gt;&lt;mtext&gt;&lt;/mtext&gt;&lt;mtext&gt;&lt;/mtext&gt;&lt;mtext&gt;&lt;/mtext&gt;&lt;mo&gt;,&lt;/mo&gt;&lt;mtext&gt;&lt;/mtext&gt;&lt;mtext&gt;&lt;/mtext&gt;&lt;mfrac&gt;&lt;mn&gt;41&lt;/mn&gt;&lt;mn&gt;2&lt;/mn&gt;&lt;/mfrac&gt;&lt;/mtd&gt;&lt;/mtr&gt;&lt;mtr&gt;&lt;mtd/&gt;&lt;/mtr&gt;&lt;mtr&gt;&lt;mtd&gt;&lt;mn&gt;2&lt;/mn&gt;&lt;mtext&gt;&lt;/mtext&gt;&lt;mfrac&gt;&lt;mn&gt;2&lt;/mn&gt;&lt;mn&gt;3&lt;/mn&gt;&lt;/mfrac&gt;&lt;mtext&gt;&lt;/mtext&gt;&lt;mtext&gt;&lt;/mtext&gt;&lt;mo&gt;,&lt;/mo&gt;&lt;mtext&gt;&lt;/mtext&gt;&lt;mtext&gt;&lt;/mtext&gt;&lt;mtext&gt;&lt;/mtext&gt;&lt;mn&gt;4&lt;/mn&gt;&lt;mfrac&gt;&lt;mn&gt;4&lt;/mn&gt;&lt;mn&gt;5&lt;/mn&gt;&lt;/mfrac&gt;&lt;mtext&gt;&lt;/mtext&gt;&lt;mtext&gt;&lt;/mtext&gt;&lt;mo&gt;,&lt;/mo&gt;&lt;mtext&gt;&lt;/mtext&gt;&lt;mtext&gt;&lt;/mtext&gt;&lt;mn&gt;4&lt;/mn&gt;&lt;mfrac&gt;&lt;mn&gt;9&lt;/mn&gt;&lt;mn&gt;10&lt;/mn&gt;&lt;/mfrac&gt;&lt;mtext&gt;&lt;/mtext&gt;&lt;mtext&gt;&lt;/mtext&gt;&lt;mo&gt;,&lt;/mo&gt;&lt;mtext&gt;&lt;/mtext&gt;&lt;mtext&gt;&lt;/mtext&gt;&lt;mn&gt;5&lt;/mn&gt;&lt;mfrac&gt;&lt;mn&gt;1&lt;/mn&gt;&lt;mn&gt;3&lt;/mn&gt;&lt;/mfrac&gt;&lt;mtext&gt;&lt;/mtext&gt;&lt;mtext&gt;&lt;/mtext&gt;&lt;mo&gt;,&lt;/mo&gt;&lt;mtext&gt;&lt;/mtext&gt;&lt;mtext&gt;&lt;/mtext&gt;&lt;mn&gt;10&lt;/mn&gt;&lt;mfrac&gt;&lt;mn&gt;2&lt;/mn&gt;&lt;mn&gt;5&lt;/mn&gt;&lt;/mfrac&gt;&lt;/mtd&gt;&lt;/mtr&gt;&lt;mtr&gt;&lt;mtd&gt;&lt;mfrac&gt;&lt;mn&gt;8&lt;/mn&gt;&lt;mn&gt;3&lt;/mn&gt;&lt;/mfrac&gt;&lt;mtext&gt;&lt;/mtext&gt;&lt;mtext&gt;&lt;/mtext&gt;&lt;mtext&gt;&lt;/mtext&gt;&lt;mtext&gt;&lt;/mtext&gt;&lt;mtext&gt;&lt;/mtext&gt;&lt;mo&gt;,&lt;/mo&gt;&lt;mtext&gt;&lt;/mtext&gt;&lt;mtext&gt;&lt;/mtext&gt;&lt;mtext&gt;&lt;/mtext&gt;&lt;mfrac&gt;&lt;mn&gt;24&lt;/mn&gt;&lt;mn&gt;5&lt;/mn&gt;&lt;/mfrac&gt;&lt;mtext&gt;&lt;/mtext&gt;&lt;mtext&gt;&lt;/mtext&gt;&lt;mo&gt;,&lt;/mo&gt;&lt;mtext&gt;&lt;/mtext&gt;&lt;mtext&gt;&lt;/mtext&gt;&lt;mfrac&gt;&lt;mn&gt;49&lt;/mn&gt;&lt;mn&gt;10&lt;/mn&gt;&lt;/mfrac&gt;&lt;mtext&gt;&lt;/mtext&gt;&lt;mtext&gt;&lt;/mtext&gt;&lt;mtext&gt;&lt;/mtext&gt;&lt;mtext&gt;&lt;/mtext&gt;&lt;mo&gt;,&lt;/mo&gt;&lt;mtext&gt;&lt;/mtext&gt;&lt;mtext&gt;&lt;/mtext&gt;&lt;mfrac&gt;&lt;mn&gt;16&lt;/mn&gt;&lt;mn&gt;3&lt;/mn&gt;&lt;/mfrac&gt;&lt;mtext&gt;&lt;/mtext&gt;&lt;mtext&gt;&lt;/mtext&gt;&lt;mtext&gt;&lt;/mtext&gt;&lt;mo&gt;,&lt;/mo&gt;&lt;mtext&gt;&lt;/mtext&gt;&lt;mtext&gt;&lt;/mtext&gt;&lt;mtext&gt;&lt;/mtext&gt;&lt;mfrac&gt;&lt;mn&gt;50&lt;/mn&gt;&lt;mn&gt;2&lt;/mn&gt;&lt;/mfrac&gt;&lt;/mtd&gt;&lt;/mtr&gt;&lt;/mtable&gt;&lt;/math&gt;" id="384" name="Google Shape;384;p23" title="5 lines Line 1: 1 and one half comma 2 and three fourths comma 5 and one tenth comma 5 and three fourths comma 20 and one half Line 2: three halves comma eleven fourths comma 51 over 10 comma 23 over 4 comma 41 over 2 Line 3: blank Line 4: 2 two thirds comma 4 and four fifths comma 4 and nine tenths comma 5 and one third comma 10 and two fifths Line 5: eight thirds comma 24 over 5 comma 49 over 10 comma sixteen thirds comma 50 over 2"/>
          <p:cNvPicPr preferRelativeResize="0"/>
          <p:nvPr/>
        </p:nvPicPr>
        <p:blipFill rotWithShape="1">
          <a:blip r:embed="rId3">
            <a:alphaModFix/>
          </a:blip>
          <a:srcRect b="-1889" l="-1417" r="12274" t="56133"/>
          <a:stretch/>
        </p:blipFill>
        <p:spPr>
          <a:xfrm>
            <a:off x="820053" y="3440749"/>
            <a:ext cx="3366480" cy="10830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\frac{1}{2}\ \ ,\ \ \ 2\frac{3}{4}\ \ ,\ \ \ 5\frac{1}{10}\ \ ,\ \ 5\frac{3}{4}\ \ ,\ \ 20\frac{1}{2}\\&amp;#13;&amp;#10;\frac{3}{2}\ \ \ \ ,\ \ \ \frac{11}{4}\ \ \ ,\ \ \ \frac{51}{10}\ \ \ ,\ \ \frac{23}{4}\ \ \ ,\ \ \frac{41}{2}\\&amp;#13;&amp;#10;\\&amp;#13;&amp;#10;2\ \frac{2}{3}\ \ ,\ \ \ 4\frac{4}{5}\ \ ,\ \ 4\frac{9}{10}\ \ ,\ \ 5\frac{1}{3}\ \ ,\ \ 5\frac{2}{5}\\&amp;#13;&amp;#10;\frac{8}{3}\ \ \ \ \ ,\ \ \ \frac{24}{5}\ \ ,\ \ \frac{49}{10}\ \ \ \ ,\ \ \frac{16}{3}\ \ \ ,\ \ \ \frac{27}{5}\end{array}&quot;&gt;&lt;mtable columnalign=&quot;left&quot; columnspacing=&quot;1em&quot; rowspacing=&quot;4pt&quot;&gt;&lt;mtr&gt;&lt;mtd&gt;&lt;mn&gt;1&lt;/mn&gt;&lt;mfrac&gt;&lt;mn&gt;1&lt;/mn&gt;&lt;mn&gt;2&lt;/mn&gt;&lt;/mfrac&gt;&lt;mtext&gt;&lt;/mtext&gt;&lt;mtext&gt;&lt;/mtext&gt;&lt;mo&gt;,&lt;/mo&gt;&lt;mtext&gt;&lt;/mtext&gt;&lt;mtext&gt;&lt;/mtext&gt;&lt;mtext&gt;&lt;/mtext&gt;&lt;mn&gt;2&lt;/mn&gt;&lt;mfrac&gt;&lt;mn&gt;3&lt;/mn&gt;&lt;mn&gt;4&lt;/mn&gt;&lt;/mfrac&gt;&lt;mtext&gt;&lt;/mtext&gt;&lt;mtext&gt;&lt;/mtext&gt;&lt;mo&gt;,&lt;/mo&gt;&lt;mtext&gt;&lt;/mtext&gt;&lt;mtext&gt;&lt;/mtext&gt;&lt;mtext&gt;&lt;/mtext&gt;&lt;mn&gt;5&lt;/mn&gt;&lt;mfrac&gt;&lt;mn&gt;1&lt;/mn&gt;&lt;mn&gt;10&lt;/mn&gt;&lt;/mfrac&gt;&lt;mtext&gt;&lt;/mtext&gt;&lt;mtext&gt;&lt;/mtext&gt;&lt;mo&gt;,&lt;/mo&gt;&lt;mtext&gt;&lt;/mtext&gt;&lt;mtext&gt;&lt;/mtext&gt;&lt;mn&gt;5&lt;/mn&gt;&lt;mfrac&gt;&lt;mn&gt;3&lt;/mn&gt;&lt;mn&gt;4&lt;/mn&gt;&lt;/mfrac&gt;&lt;mtext&gt;&lt;/mtext&gt;&lt;mtext&gt;&lt;/mtext&gt;&lt;mo&gt;,&lt;/mo&gt;&lt;mtext&gt;&lt;/mtext&gt;&lt;mtext&gt;&lt;/mtext&gt;&lt;mn&gt;20&lt;/mn&gt;&lt;mfrac&gt;&lt;mn&gt;1&lt;/mn&gt;&lt;mn&gt;2&lt;/mn&gt;&lt;/mfrac&gt;&lt;/mtd&gt;&lt;/mtr&gt;&lt;mtr&gt;&lt;mtd&gt;&lt;mfrac&gt;&lt;mn&gt;3&lt;/mn&gt;&lt;mn&gt;2&lt;/mn&gt;&lt;/mfrac&gt;&lt;mtext&gt;&lt;/mtext&gt;&lt;mtext&gt;&lt;/mtext&gt;&lt;mtext&gt;&lt;/mtext&gt;&lt;mtext&gt;&lt;/mtext&gt;&lt;mo&gt;,&lt;/mo&gt;&lt;mtext&gt;&lt;/mtext&gt;&lt;mtext&gt;&lt;/mtext&gt;&lt;mtext&gt;&lt;/mtext&gt;&lt;mfrac&gt;&lt;mn&gt;11&lt;/mn&gt;&lt;mn&gt;4&lt;/mn&gt;&lt;/mfrac&gt;&lt;mtext&gt;&lt;/mtext&gt;&lt;mtext&gt;&lt;/mtext&gt;&lt;mtext&gt;&lt;/mtext&gt;&lt;mo&gt;,&lt;/mo&gt;&lt;mtext&gt;&lt;/mtext&gt;&lt;mtext&gt;&lt;/mtext&gt;&lt;mtext&gt;&lt;/mtext&gt;&lt;mfrac&gt;&lt;mn&gt;51&lt;/mn&gt;&lt;mn&gt;10&lt;/mn&gt;&lt;/mfrac&gt;&lt;mtext&gt;&lt;/mtext&gt;&lt;mtext&gt;&lt;/mtext&gt;&lt;mtext&gt;&lt;/mtext&gt;&lt;mo&gt;,&lt;/mo&gt;&lt;mtext&gt;&lt;/mtext&gt;&lt;mtext&gt;&lt;/mtext&gt;&lt;mfrac&gt;&lt;mn&gt;23&lt;/mn&gt;&lt;mn&gt;4&lt;/mn&gt;&lt;/mfrac&gt;&lt;mtext&gt;&lt;/mtext&gt;&lt;mtext&gt;&lt;/mtext&gt;&lt;mtext&gt;&lt;/mtext&gt;&lt;mo&gt;,&lt;/mo&gt;&lt;mtext&gt;&lt;/mtext&gt;&lt;mtext&gt;&lt;/mtext&gt;&lt;mfrac&gt;&lt;mn&gt;41&lt;/mn&gt;&lt;mn&gt;2&lt;/mn&gt;&lt;/mfrac&gt;&lt;/mtd&gt;&lt;/mtr&gt;&lt;mtr&gt;&lt;mtd/&gt;&lt;/mtr&gt;&lt;mtr&gt;&lt;mtd&gt;&lt;mn&gt;2&lt;/mn&gt;&lt;mtext&gt;&lt;/mtext&gt;&lt;mfrac&gt;&lt;mn&gt;2&lt;/mn&gt;&lt;mn&gt;3&lt;/mn&gt;&lt;/mfrac&gt;&lt;mtext&gt;&lt;/mtext&gt;&lt;mtext&gt;&lt;/mtext&gt;&lt;mo&gt;,&lt;/mo&gt;&lt;mtext&gt;&lt;/mtext&gt;&lt;mtext&gt;&lt;/mtext&gt;&lt;mtext&gt;&lt;/mtext&gt;&lt;mn&gt;4&lt;/mn&gt;&lt;mfrac&gt;&lt;mn&gt;4&lt;/mn&gt;&lt;mn&gt;5&lt;/mn&gt;&lt;/mfrac&gt;&lt;mtext&gt;&lt;/mtext&gt;&lt;mtext&gt;&lt;/mtext&gt;&lt;mo&gt;,&lt;/mo&gt;&lt;mtext&gt;&lt;/mtext&gt;&lt;mtext&gt;&lt;/mtext&gt;&lt;mn&gt;4&lt;/mn&gt;&lt;mfrac&gt;&lt;mn&gt;9&lt;/mn&gt;&lt;mn&gt;10&lt;/mn&gt;&lt;/mfrac&gt;&lt;mtext&gt;&lt;/mtext&gt;&lt;mtext&gt;&lt;/mtext&gt;&lt;mo&gt;,&lt;/mo&gt;&lt;mtext&gt;&lt;/mtext&gt;&lt;mtext&gt;&lt;/mtext&gt;&lt;mn&gt;5&lt;/mn&gt;&lt;mfrac&gt;&lt;mn&gt;1&lt;/mn&gt;&lt;mn&gt;3&lt;/mn&gt;&lt;/mfrac&gt;&lt;mtext&gt;&lt;/mtext&gt;&lt;mtext&gt;&lt;/mtext&gt;&lt;mo&gt;,&lt;/mo&gt;&lt;mtext&gt;&lt;/mtext&gt;&lt;mtext&gt;&lt;/mtext&gt;&lt;mn&gt;5&lt;/mn&gt;&lt;mfrac&gt;&lt;mn&gt;2&lt;/mn&gt;&lt;mn&gt;5&lt;/mn&gt;&lt;/mfrac&gt;&lt;/mtd&gt;&lt;/mtr&gt;&lt;mtr&gt;&lt;mtd&gt;&lt;mfrac&gt;&lt;mn&gt;8&lt;/mn&gt;&lt;mn&gt;3&lt;/mn&gt;&lt;/mfrac&gt;&lt;mtext&gt;&lt;/mtext&gt;&lt;mtext&gt;&lt;/mtext&gt;&lt;mtext&gt;&lt;/mtext&gt;&lt;mtext&gt;&lt;/mtext&gt;&lt;mtext&gt;&lt;/mtext&gt;&lt;mo&gt;,&lt;/mo&gt;&lt;mtext&gt;&lt;/mtext&gt;&lt;mtext&gt;&lt;/mtext&gt;&lt;mtext&gt;&lt;/mtext&gt;&lt;mfrac&gt;&lt;mn&gt;24&lt;/mn&gt;&lt;mn&gt;5&lt;/mn&gt;&lt;/mfrac&gt;&lt;mtext&gt;&lt;/mtext&gt;&lt;mtext&gt;&lt;/mtext&gt;&lt;mo&gt;,&lt;/mo&gt;&lt;mtext&gt;&lt;/mtext&gt;&lt;mtext&gt;&lt;/mtext&gt;&lt;mfrac&gt;&lt;mn&gt;49&lt;/mn&gt;&lt;mn&gt;10&lt;/mn&gt;&lt;/mfrac&gt;&lt;mtext&gt;&lt;/mtext&gt;&lt;mtext&gt;&lt;/mtext&gt;&lt;mtext&gt;&lt;/mtext&gt;&lt;mtext&gt;&lt;/mtext&gt;&lt;mo&gt;,&lt;/mo&gt;&lt;mtext&gt;&lt;/mtext&gt;&lt;mtext&gt;&lt;/mtext&gt;&lt;mfrac&gt;&lt;mn&gt;16&lt;/mn&gt;&lt;mn&gt;3&lt;/mn&gt;&lt;/mfrac&gt;&lt;mtext&gt;&lt;/mtext&gt;&lt;mtext&gt;&lt;/mtext&gt;&lt;mtext&gt;&lt;/mtext&gt;&lt;mo&gt;,&lt;/mo&gt;&lt;mtext&gt;&lt;/mtext&gt;&lt;mtext&gt;&lt;/mtext&gt;&lt;mtext&gt;&lt;/mtext&gt;&lt;mfrac&gt;&lt;mn&gt;27&lt;/mn&gt;&lt;mn&gt;5&lt;/mn&gt;&lt;/mfrac&gt;&lt;/mtd&gt;&lt;/mtr&gt;&lt;/mtable&gt;&lt;/math&gt;" id="385" name="Google Shape;385;p23" title="5 lines Line 1: 1 and one half comma 2 and three fourths comma 5 and one tenth comma 5 and three fourths comma 20 and one half Line 2: three halves comma eleven fourths comma 51 over 10 comma 23 over 4 comma 41 over 2 Line 3: blank Line 4: 2 two thirds comma 4 and four fifths comma 4 and nine tenths comma 5 and one third comma 5 and two fifths Line 5: eight thirds comma 24 over 5 comma 49 over 10 comma sixteen thirds comma 27 over 5"/>
          <p:cNvPicPr preferRelativeResize="0"/>
          <p:nvPr/>
        </p:nvPicPr>
        <p:blipFill rotWithShape="1">
          <a:blip r:embed="rId4">
            <a:alphaModFix/>
          </a:blip>
          <a:srcRect b="0" l="84780" r="0" t="56587"/>
          <a:stretch/>
        </p:blipFill>
        <p:spPr>
          <a:xfrm>
            <a:off x="3996216" y="3460852"/>
            <a:ext cx="565777" cy="1011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