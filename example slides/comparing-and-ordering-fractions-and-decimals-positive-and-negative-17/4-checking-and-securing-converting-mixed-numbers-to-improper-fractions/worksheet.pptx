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fbb8ae03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fbb8ae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9fbb8ae03a_0_14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9fbb8ae03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11" Type="http://schemas.openxmlformats.org/officeDocument/2006/relationships/image" Target="../media/image26.png"/><Relationship Id="rId10" Type="http://schemas.openxmlformats.org/officeDocument/2006/relationships/image" Target="../media/image16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converting mixed numbers to improper fractions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748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Integers as improper fractions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673025"/>
            <a:ext cx="6624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improper fraction with the correct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2}\ \ \ \ \frac{15}{3}\ \ \ \ \frac{50}{5}\ \ \ \ \frac{9}{9}\ \ \ \ \frac{110}{10}\ \ \ \ \frac{24}{12}\ \ \ \ \frac{300}{15}&quot;&gt;&lt;mfrac&gt;&lt;mn&gt;12&lt;/mn&gt;&lt;mn&gt;2&lt;/mn&gt;&lt;/mfrac&gt;&lt;mtext&gt;&lt;/mtext&gt;&lt;mtext&gt;&lt;/mtext&gt;&lt;mtext&gt;&lt;/mtext&gt;&lt;mtext&gt;&lt;/mtext&gt;&lt;mfrac&gt;&lt;mn&gt;15&lt;/mn&gt;&lt;mn&gt;3&lt;/mn&gt;&lt;/mfrac&gt;&lt;mtext&gt;&lt;/mtext&gt;&lt;mtext&gt;&lt;/mtext&gt;&lt;mtext&gt;&lt;/mtext&gt;&lt;mtext&gt;&lt;/mtext&gt;&lt;mfrac&gt;&lt;mn&gt;50&lt;/mn&gt;&lt;mn&gt;5&lt;/mn&gt;&lt;/mfrac&gt;&lt;mtext&gt;&lt;/mtext&gt;&lt;mtext&gt;&lt;/mtext&gt;&lt;mtext&gt;&lt;/mtext&gt;&lt;mtext&gt;&lt;/mtext&gt;&lt;mfrac&gt;&lt;mn&gt;9&lt;/mn&gt;&lt;mn&gt;9&lt;/mn&gt;&lt;/mfrac&gt;&lt;mtext&gt;&lt;/mtext&gt;&lt;mtext&gt;&lt;/mtext&gt;&lt;mtext&gt;&lt;/mtext&gt;&lt;mtext&gt;&lt;/mtext&gt;&lt;mfrac&gt;&lt;mn&gt;110&lt;/mn&gt;&lt;mn&gt;10&lt;/mn&gt;&lt;/mfrac&gt;&lt;mtext&gt;&lt;/mtext&gt;&lt;mtext&gt;&lt;/mtext&gt;&lt;mtext&gt;&lt;/mtext&gt;&lt;mtext&gt;&lt;/mtext&gt;&lt;mfrac&gt;&lt;mn&gt;24&lt;/mn&gt;&lt;mn&gt;12&lt;/mn&gt;&lt;/mfrac&gt;&lt;mtext&gt;&lt;/mtext&gt;&lt;mtext&gt;&lt;/mtext&gt;&lt;mtext&gt;&lt;/mtext&gt;&lt;mtext&gt;&lt;/mtext&gt;&lt;mfrac&gt;&lt;mn&gt;300&lt;/mn&gt;&lt;mn&gt;15&lt;/mn&gt;&lt;/mfrac&gt;&lt;/math&gt;" id="165" name="Google Shape;165;p20" title="twelve halves fifteen thirds 50 over 5 nine ninths 110 over 10 24 over 12 300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338" y="1974225"/>
            <a:ext cx="4331413" cy="576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 \ \ 2\ \ \ \ 5\ \ \ \ 6\ \ \ \ \ 10\ \ \ \ 11\ \ \ \ 20&quot;&gt;&lt;mn&gt;1&lt;/mn&gt;&lt;mtext&gt;&lt;/mtext&gt;&lt;mtext&gt;&lt;/mtext&gt;&lt;mtext&gt;&lt;/mtext&gt;&lt;mtext&gt;&lt;/mtext&gt;&lt;mn&gt;2&lt;/mn&gt;&lt;mtext&gt;&lt;/mtext&gt;&lt;mtext&gt;&lt;/mtext&gt;&lt;mtext&gt;&lt;/mtext&gt;&lt;mtext&gt;&lt;/mtext&gt;&lt;mn&gt;5&lt;/mn&gt;&lt;mtext&gt;&lt;/mtext&gt;&lt;mtext&gt;&lt;/mtext&gt;&lt;mtext&gt;&lt;/mtext&gt;&lt;mtext&gt;&lt;/mtext&gt;&lt;mn&gt;6&lt;/mn&gt;&lt;mtext&gt;&lt;/mtext&gt;&lt;mtext&gt;&lt;/mtext&gt;&lt;mtext&gt;&lt;/mtext&gt;&lt;mtext&gt;&lt;/mtext&gt;&lt;mtext&gt;&lt;/mtext&gt;&lt;mn&gt;10&lt;/mn&gt;&lt;mtext&gt;&lt;/mtext&gt;&lt;mtext&gt;&lt;/mtext&gt;&lt;mtext&gt;&lt;/mtext&gt;&lt;mtext&gt;&lt;/mtext&gt;&lt;mn&gt;11&lt;/mn&gt;&lt;mtext&gt;&lt;/mtext&gt;&lt;mtext&gt;&lt;/mtext&gt;&lt;mtext&gt;&lt;/mtext&gt;&lt;mtext&gt;&lt;/mtext&gt;&lt;mn&gt;20&lt;/mn&gt;&lt;/math&gt;" id="166" name="Google Shape;166;p20" title="1 2 5 6 10 11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278" y="3017665"/>
            <a:ext cx="3536671" cy="22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3398950"/>
            <a:ext cx="66240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gaps to evaluate the answer to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244931" y="4566682"/>
            <a:ext cx="867240" cy="819936"/>
          </a:xfrm>
          <a:prstGeom prst="cloud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4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flipH="1" rot="10800000">
            <a:off x="4070144" y="4376128"/>
            <a:ext cx="419700" cy="32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0"/>
          <p:cNvCxnSpPr/>
          <p:nvPr/>
        </p:nvCxnSpPr>
        <p:spPr>
          <a:xfrm>
            <a:off x="4097171" y="4916936"/>
            <a:ext cx="636900" cy="143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>
            <a:endCxn id="172" idx="0"/>
          </p:cNvCxnSpPr>
          <p:nvPr/>
        </p:nvCxnSpPr>
        <p:spPr>
          <a:xfrm>
            <a:off x="3780012" y="5324534"/>
            <a:ext cx="30900" cy="270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 rot="10800000">
            <a:off x="2788014" y="4869840"/>
            <a:ext cx="456900" cy="5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0"/>
          <p:cNvCxnSpPr/>
          <p:nvPr/>
        </p:nvCxnSpPr>
        <p:spPr>
          <a:xfrm rot="10800000">
            <a:off x="3031452" y="4281844"/>
            <a:ext cx="354600" cy="370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0"/>
          <p:cNvCxnSpPr/>
          <p:nvPr/>
        </p:nvCxnSpPr>
        <p:spPr>
          <a:xfrm flipH="1" rot="10800000">
            <a:off x="3647705" y="4177067"/>
            <a:ext cx="64800" cy="398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0"/>
          <p:cNvCxnSpPr/>
          <p:nvPr/>
        </p:nvCxnSpPr>
        <p:spPr>
          <a:xfrm flipH="1">
            <a:off x="2985842" y="5273358"/>
            <a:ext cx="404700" cy="273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3943477" y="5275551"/>
            <a:ext cx="459300" cy="320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78" name="Google Shape;178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0" l="0" r="92054" t="0"/>
          <a:stretch/>
        </p:blipFill>
        <p:spPr>
          <a:xfrm>
            <a:off x="3689968" y="3697775"/>
            <a:ext cx="230825" cy="434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79" name="Google Shape;179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13776" l="11402" r="79252" t="-10787"/>
          <a:stretch/>
        </p:blipFill>
        <p:spPr>
          <a:xfrm>
            <a:off x="4517711" y="3988343"/>
            <a:ext cx="271502" cy="541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80" name="Google Shape;180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11981" l="26034" r="61616" t="-4230"/>
          <a:stretch/>
        </p:blipFill>
        <p:spPr>
          <a:xfrm>
            <a:off x="4789213" y="4820323"/>
            <a:ext cx="358787" cy="50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81" name="Google Shape;181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8993" l="49559" r="38090" t="-7204"/>
          <a:stretch/>
        </p:blipFill>
        <p:spPr>
          <a:xfrm>
            <a:off x="4453739" y="5451162"/>
            <a:ext cx="358787" cy="50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72" name="Google Shape;172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8111" l="70040" r="14234" t="-8099"/>
          <a:stretch/>
        </p:blipFill>
        <p:spPr>
          <a:xfrm>
            <a:off x="3582489" y="5594534"/>
            <a:ext cx="456845" cy="505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2}\ \ \ \frac{40}{10}\ \ \ \ \frac{12}{3}\ \ \ \ \ \ \ \frac{16}{4}\ \ \ \ \ \ \ \frac{80}{20}\ \ \ \ \ \frac{64}{16}&quot;&gt;&lt;mfrac&gt;&lt;mn&gt;8&lt;/mn&gt;&lt;mn&gt;2&lt;/mn&gt;&lt;/mfrac&gt;&lt;mtext&gt;&lt;/mtext&gt;&lt;mtext&gt;&lt;/mtext&gt;&lt;mtext&gt;&lt;/mtext&gt;&lt;mfrac&gt;&lt;mn&gt;40&lt;/mn&gt;&lt;mn&gt;10&lt;/mn&gt;&lt;/mfrac&gt;&lt;mtext&gt;&lt;/mtext&gt;&lt;mtext&gt;&lt;/mtext&gt;&lt;mtext&gt;&lt;/mtext&gt;&lt;mtext&gt;&lt;/mtext&gt;&lt;mfrac&gt;&lt;mn&gt;12&lt;/mn&gt;&lt;mn&gt;3&lt;/mn&gt;&lt;/mfrac&gt;&lt;mtext&gt;&lt;/mtext&gt;&lt;mtext&gt;&lt;/mtext&gt;&lt;mtext&gt;&lt;/mtext&gt;&lt;mtext&gt;&lt;/mtext&gt;&lt;mtext&gt;&lt;/mtext&gt;&lt;mtext&gt;&lt;/mtext&gt;&lt;mtext&gt;&lt;/mtext&gt;&lt;mfrac&gt;&lt;mn&gt;16&lt;/mn&gt;&lt;mn&gt;4&lt;/mn&gt;&lt;/mfrac&gt;&lt;mtext&gt;&lt;/mtext&gt;&lt;mtext&gt;&lt;/mtext&gt;&lt;mtext&gt;&lt;/mtext&gt;&lt;mtext&gt;&lt;/mtext&gt;&lt;mtext&gt;&lt;/mtext&gt;&lt;mtext&gt;&lt;/mtext&gt;&lt;mtext&gt;&lt;/mtext&gt;&lt;mfrac&gt;&lt;mn&gt;80&lt;/mn&gt;&lt;mn&gt;20&lt;/mn&gt;&lt;/mfrac&gt;&lt;mtext&gt;&lt;/mtext&gt;&lt;mtext&gt;&lt;/mtext&gt;&lt;mtext&gt;&lt;/mtext&gt;&lt;mtext&gt;&lt;/mtext&gt;&lt;mtext&gt;&lt;/mtext&gt;&lt;mfrac&gt;&lt;mn&gt;64&lt;/mn&gt;&lt;mn&gt;16&lt;/mn&gt;&lt;/mfrac&gt;&lt;/math&gt;" id="182" name="Google Shape;182;p20" title="eight halves 40 over 10 twelve thirds sixteen fourths 80 over 20 64 over 16"/>
          <p:cNvPicPr preferRelativeResize="0"/>
          <p:nvPr/>
        </p:nvPicPr>
        <p:blipFill rotWithShape="1">
          <a:blip r:embed="rId5">
            <a:alphaModFix/>
          </a:blip>
          <a:srcRect b="-13590" l="89939" r="-3866" t="-16212"/>
          <a:stretch/>
        </p:blipFill>
        <p:spPr>
          <a:xfrm>
            <a:off x="2619551" y="5286309"/>
            <a:ext cx="404605" cy="56417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3647704" y="3988343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538090" y="3957509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890498" y="5098647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495213" y="5380333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680548" y="5882859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672648" y="5254592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443822" y="4779984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2427888" y="4742670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/>
          <p:nvPr/>
        </p:nvSpPr>
        <p:spPr>
          <a:xfrm>
            <a:off x="2435855" y="4439924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804003" y="4103907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2788069" y="4066593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0"/>
          <p:cNvSpPr/>
          <p:nvPr/>
        </p:nvSpPr>
        <p:spPr>
          <a:xfrm>
            <a:off x="2796036" y="3763847"/>
            <a:ext cx="230700" cy="265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6532" y="6588878"/>
            <a:ext cx="3962915" cy="72052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57025" y="7313708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57025" y="7831529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57025" y="8349349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57025" y="8867170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147940" y="7924568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147940" y="8421722"/>
            <a:ext cx="323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147940" y="8888146"/>
            <a:ext cx="336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03" name="Google Shape;203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0" r="91057" t="0"/>
          <a:stretch/>
        </p:blipFill>
        <p:spPr>
          <a:xfrm>
            <a:off x="868650" y="7335881"/>
            <a:ext cx="293403" cy="4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3147940" y="7427415"/>
            <a:ext cx="41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05" name="Google Shape;205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11796" r="79260" t="0"/>
          <a:stretch/>
        </p:blipFill>
        <p:spPr>
          <a:xfrm>
            <a:off x="862506" y="784261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06" name="Google Shape;206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24982" r="66074" t="0"/>
          <a:stretch/>
        </p:blipFill>
        <p:spPr>
          <a:xfrm>
            <a:off x="868650" y="834934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07" name="Google Shape;207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38947" r="52110" t="0"/>
          <a:stretch/>
        </p:blipFill>
        <p:spPr>
          <a:xfrm>
            <a:off x="868650" y="885607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08" name="Google Shape;208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64411" r="26645" t="0"/>
          <a:stretch/>
        </p:blipFill>
        <p:spPr>
          <a:xfrm>
            <a:off x="3446578" y="7392879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09" name="Google Shape;209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78641" r="12415" t="0"/>
          <a:stretch/>
        </p:blipFill>
        <p:spPr>
          <a:xfrm>
            <a:off x="3446568" y="7949640"/>
            <a:ext cx="293403" cy="41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0" name="Google Shape;210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49807" r="41249" t="0"/>
          <a:stretch/>
        </p:blipFill>
        <p:spPr>
          <a:xfrm>
            <a:off x="4600350" y="8421562"/>
            <a:ext cx="271525" cy="385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}\ \ \ \frac{12}{2}\ \ \ \frac{12}{\ 3}\ \ \ \ \frac{12}{4}\ \ \ \frac{12}{5}\ \ \ \frac{12}{6}\ \ \ \ \frac{12}{12}\ \ \ \frac{12}{13}&quot;&gt;&lt;mfrac&gt;&lt;mn&gt;12&lt;/mn&gt;&lt;mn&gt;1&lt;/mn&gt;&lt;/mfrac&gt;&lt;mtext&gt;&lt;/mtext&gt;&lt;mtext&gt;&lt;/mtext&gt;&lt;mtext&gt;&lt;/mtext&gt;&lt;mfrac&gt;&lt;mn&gt;12&lt;/mn&gt;&lt;mn&gt;2&lt;/mn&gt;&lt;/mfrac&gt;&lt;mtext&gt;&lt;/mtext&gt;&lt;mtext&gt;&lt;/mtext&gt;&lt;mtext&gt;&lt;/mtext&gt;&lt;mfrac&gt;&lt;mn&gt;12&lt;/mn&gt;&lt;mrow&gt;&lt;mtext&gt;&lt;/mtext&gt;&lt;mn&gt;3&lt;/mn&gt;&lt;/mrow&gt;&lt;/mfrac&gt;&lt;mtext&gt;&lt;/mtext&gt;&lt;mtext&gt;&lt;/mtext&gt;&lt;mtext&gt;&lt;/mtext&gt;&lt;mtext&gt;&lt;/mtext&gt;&lt;mfrac&gt;&lt;mn&gt;12&lt;/mn&gt;&lt;mn&gt;4&lt;/mn&gt;&lt;/mfrac&gt;&lt;mtext&gt;&lt;/mtext&gt;&lt;mtext&gt;&lt;/mtext&gt;&lt;mtext&gt;&lt;/mtext&gt;&lt;mfrac&gt;&lt;mn&gt;12&lt;/mn&gt;&lt;mn&gt;5&lt;/mn&gt;&lt;/mfrac&gt;&lt;mtext&gt;&lt;/mtext&gt;&lt;mtext&gt;&lt;/mtext&gt;&lt;mtext&gt;&lt;/mtext&gt;&lt;mfrac&gt;&lt;mn&gt;12&lt;/mn&gt;&lt;mn&gt;6&lt;/mn&gt;&lt;/mfrac&gt;&lt;mtext&gt;&lt;/mtext&gt;&lt;mtext&gt;&lt;/mtext&gt;&lt;mtext&gt;&lt;/mtext&gt;&lt;mtext&gt;&lt;/mtext&gt;&lt;mfrac&gt;&lt;mn&gt;12&lt;/mn&gt;&lt;mn&gt;12&lt;/mn&gt;&lt;/mfrac&gt;&lt;mtext&gt;&lt;/mtext&gt;&lt;mtext&gt;&lt;/mtext&gt;&lt;mtext&gt;&lt;/mtext&gt;&lt;mfrac&gt;&lt;mn&gt;12&lt;/mn&gt;&lt;mn&gt;13&lt;/mn&gt;&lt;/mfrac&gt;&lt;/math&gt;" id="211" name="Google Shape;211;p20" title="twelve oneths twelve halves the fraction with numerator 12 and denominator 3 twelve fourths twelve fifths twelve sixths 12 over 12 12 over 13"/>
          <p:cNvPicPr preferRelativeResize="0"/>
          <p:nvPr/>
        </p:nvPicPr>
        <p:blipFill rotWithShape="1">
          <a:blip r:embed="rId7">
            <a:alphaModFix/>
          </a:blip>
          <a:srcRect b="0" l="92124" r="-1066" t="0"/>
          <a:stretch/>
        </p:blipFill>
        <p:spPr>
          <a:xfrm>
            <a:off x="4707274" y="8878844"/>
            <a:ext cx="271525" cy="38520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457025" y="6219450"/>
            <a:ext cx="6162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Place the following on the number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097175" y="8421725"/>
            <a:ext cx="24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843175" y="8421725"/>
            <a:ext cx="184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390550" y="8421725"/>
            <a:ext cx="86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097175" y="8878925"/>
            <a:ext cx="243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919375" y="8878925"/>
            <a:ext cx="184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lie.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3390550" y="8878925"/>
            <a:ext cx="86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converting mixed numbers to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224" name="Google Shape;224;p21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33147" l="0" r="0" t="33531"/>
          <a:stretch/>
        </p:blipFill>
        <p:spPr>
          <a:xfrm>
            <a:off x="2838870" y="1338707"/>
            <a:ext cx="1671943" cy="532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225" name="Google Shape;225;p21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-1139" l="0" r="0" t="67818"/>
          <a:stretch/>
        </p:blipFill>
        <p:spPr>
          <a:xfrm>
            <a:off x="5420132" y="1353491"/>
            <a:ext cx="1671943" cy="53217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467925" y="816816"/>
            <a:ext cx="54798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80675" y="7200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508411" y="1383911"/>
            <a:ext cx="532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529067" y="775425"/>
            <a:ext cx="3276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898342" y="775425"/>
            <a:ext cx="3276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267626" y="775425"/>
            <a:ext cx="3840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636890" y="775436"/>
            <a:ext cx="360600" cy="31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346224" y="2391350"/>
            <a:ext cx="12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=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346227" y="2879550"/>
            <a:ext cx="9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=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442646" y="2392964"/>
            <a:ext cx="12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sz="1200"/>
          </a:p>
        </p:txBody>
      </p:sp>
      <p:sp>
        <p:nvSpPr>
          <p:cNvPr id="236" name="Google Shape;236;p21"/>
          <p:cNvSpPr txBox="1"/>
          <p:nvPr/>
        </p:nvSpPr>
        <p:spPr>
          <a:xfrm>
            <a:off x="4442651" y="2881150"/>
            <a:ext cx="14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12}{4}+\frac{24}{4}=\ 9\\&amp;#13;&amp;#10;\frac{24}{4}-\frac{12}{3}=2\\&amp;#13;&amp;#10;\frac{24}{12}+\frac{3}{3}=3\\&amp;#13;&amp;#10;\\&amp;#13;&amp;#10;\end{array}&quot;&gt;&lt;mtable columnalign=&quot;left&quot; columnspacing=&quot;1em&quot; rowspacing=&quot;4pt&quot;&gt;&lt;mtr&gt;&lt;mtd&gt;&lt;mfrac&gt;&lt;mn&gt;12&lt;/mn&gt;&lt;mn&gt;4&lt;/mn&gt;&lt;/mfrac&gt;&lt;mo&gt;+&lt;/mo&gt;&lt;mfrac&gt;&lt;mn&gt;24&lt;/mn&gt;&lt;mn&gt;4&lt;/mn&gt;&lt;/mfrac&gt;&lt;mo&gt;=&lt;/mo&gt;&lt;mtext&gt;&lt;/mtext&gt;&lt;mn&gt;9&lt;/mn&gt;&lt;/mtd&gt;&lt;/mtr&gt;&lt;mtr&gt;&lt;mtd&gt;&lt;mfrac&gt;&lt;mn&gt;24&lt;/mn&gt;&lt;mn&gt;4&lt;/mn&gt;&lt;/mfrac&gt;&lt;mo&gt;−&lt;/mo&gt;&lt;mfrac&gt;&lt;mn&gt;12&lt;/mn&gt;&lt;mn&gt;3&lt;/mn&gt;&lt;/mfrac&gt;&lt;mo&gt;=&lt;/mo&gt;&lt;mn&gt;2&lt;/mn&gt;&lt;/mtd&gt;&lt;/mtr&gt;&lt;mtr&gt;&lt;mtd&gt;&lt;mfrac&gt;&lt;mn&gt;24&lt;/mn&gt;&lt;mn&gt;12&lt;/mn&gt;&lt;/mfrac&gt;&lt;mo&gt;+&lt;/mo&gt;&lt;mfrac&gt;&lt;mn&gt;3&lt;/mn&gt;&lt;mn&gt;3&lt;/mn&gt;&lt;/mfrac&gt;&lt;mo&gt;=&lt;/mo&gt;&lt;mn&gt;3&lt;/mn&gt;&lt;/mtd&gt;&lt;/mtr&gt;&lt;mtr&gt;&lt;mtd/&gt;&lt;/mtr&gt;&lt;/mtable&gt;&lt;/math&gt;" id="237" name="Google Shape;237;p21" title="4 lines Line 1: twelve fourths plus 24 over 4 equals 9 Line 2: 24 over 4 minus twelve thirds equals 2 Line 3: 24 over 12 plus three thirds equals 3 Line 4: blank"/>
          <p:cNvPicPr preferRelativeResize="0"/>
          <p:nvPr/>
        </p:nvPicPr>
        <p:blipFill rotWithShape="1">
          <a:blip r:embed="rId3">
            <a:alphaModFix/>
          </a:blip>
          <a:srcRect b="68639" l="0" r="0" t="0"/>
          <a:stretch/>
        </p:blipFill>
        <p:spPr>
          <a:xfrm>
            <a:off x="480681" y="1387903"/>
            <a:ext cx="1671943" cy="500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80" y="1303276"/>
            <a:ext cx="269494" cy="28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568" y="1353491"/>
            <a:ext cx="239924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4567" y="1689545"/>
            <a:ext cx="239924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4878" y="1614733"/>
            <a:ext cx="239924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151" y="1661369"/>
            <a:ext cx="295009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925" y="1661371"/>
            <a:ext cx="295009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096" y="1303276"/>
            <a:ext cx="269494" cy="28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152" y="1689544"/>
            <a:ext cx="269494" cy="28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8871" y="1632615"/>
            <a:ext cx="295009" cy="256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56935" y="1269800"/>
            <a:ext cx="319435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99354" y="1269800"/>
            <a:ext cx="319435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5181" y="1297829"/>
            <a:ext cx="319435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1955" y="1449057"/>
            <a:ext cx="319435" cy="341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08" y="793308"/>
            <a:ext cx="198451" cy="206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3272" y="775407"/>
            <a:ext cx="235227" cy="21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9379" y="788371"/>
            <a:ext cx="176677" cy="18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4460" y="788371"/>
            <a:ext cx="217240" cy="18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938" y="2475460"/>
            <a:ext cx="240242" cy="25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9571" y="2957176"/>
            <a:ext cx="284763" cy="25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072" y="2988548"/>
            <a:ext cx="213883" cy="22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0454" y="2486293"/>
            <a:ext cx="262988" cy="2283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21"/>
          <p:cNvCxnSpPr/>
          <p:nvPr/>
        </p:nvCxnSpPr>
        <p:spPr>
          <a:xfrm>
            <a:off x="474757" y="32823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1"/>
          <p:cNvSpPr txBox="1"/>
          <p:nvPr/>
        </p:nvSpPr>
        <p:spPr>
          <a:xfrm>
            <a:off x="467925" y="3782725"/>
            <a:ext cx="6611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show the working out and conversion from a mixed number to an improper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8000" y="3445525"/>
            <a:ext cx="66105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Mixed numbers to improper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2" name="Google Shape;262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0573" l="13980" r="42627" t="25539"/>
          <a:stretch/>
        </p:blipFill>
        <p:spPr>
          <a:xfrm>
            <a:off x="1547853" y="4366282"/>
            <a:ext cx="1805506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3" name="Google Shape;263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2244" l="56252" r="14436" t="23868"/>
          <a:stretch/>
        </p:blipFill>
        <p:spPr>
          <a:xfrm>
            <a:off x="1547860" y="4853226"/>
            <a:ext cx="1219686" cy="44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4" name="Google Shape;264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1890" l="84086" r="-13398" t="24221"/>
          <a:stretch/>
        </p:blipFill>
        <p:spPr>
          <a:xfrm>
            <a:off x="1547860" y="5340178"/>
            <a:ext cx="1219686" cy="44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5" name="Google Shape;265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0" l="-936" r="90189" t="76113"/>
          <a:stretch/>
        </p:blipFill>
        <p:spPr>
          <a:xfrm>
            <a:off x="4252695" y="4384663"/>
            <a:ext cx="447192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6" name="Google Shape;266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-140" l="46644" r="24861" t="76252"/>
          <a:stretch/>
        </p:blipFill>
        <p:spPr>
          <a:xfrm>
            <a:off x="4823519" y="4871599"/>
            <a:ext cx="1185649" cy="446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7" name="Google Shape;267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-1433" l="74403" r="-1971" t="77546"/>
          <a:stretch/>
        </p:blipFill>
        <p:spPr>
          <a:xfrm>
            <a:off x="4823337" y="5358556"/>
            <a:ext cx="1147086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8" name="Google Shape;268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50573" l="262" r="85609" t="25539"/>
          <a:stretch/>
        </p:blipFill>
        <p:spPr>
          <a:xfrm>
            <a:off x="980307" y="4364547"/>
            <a:ext cx="587855" cy="44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2}{3}\ =\ 10\ \times\frac{3}{3}+\ \frac{2}{3}=\frac{30}{10}+\frac{2}{3}=\frac{32}{3}\\&amp;#13;&amp;#10;15\ \frac{3}{4}=\ 15\ \times\frac{4}{4}+\frac{3}{4}=\frac{60}{4}+\frac{3}{4}=\frac{63}{4}\\&amp;#13;&amp;#10;30\frac{3}{5}=30\times\frac{5}{5}+\frac{3}{5}=\frac{150}{5}+\frac{3}{4}=\frac{153}{5}\\&amp;#13;&amp;#10;7\frac{2}{9}=7\ \times\frac{9}{9}+\frac{2}{9}=\frac{63}{9}+\frac{2}{9}=\frac{65}{9}\end{array}&quot;&gt;&lt;mtable columnalign=&quot;left&quot; columnspacing=&quot;1em&quot; rowspacing=&quot;4pt&quot;&gt;&lt;mtr&gt;&lt;mtd&gt;&lt;mn&gt;10&lt;/mn&gt;&lt;mfrac&gt;&lt;mn&gt;2&lt;/mn&gt;&lt;mn&gt;3&lt;/mn&gt;&lt;/mfrac&gt;&lt;mtext&gt;&lt;/mtext&gt;&lt;mo&gt;=&lt;/mo&gt;&lt;mtext&gt;&lt;/mtext&gt;&lt;mn&gt;10&lt;/mn&gt;&lt;mtext&gt;&lt;/mtext&gt;&lt;mo&gt;×&lt;/mo&gt;&lt;mfrac&gt;&lt;mn&gt;3&lt;/mn&gt;&lt;mn&gt;3&lt;/mn&gt;&lt;/mfrac&gt;&lt;mo&gt;+&lt;/mo&gt;&lt;mtext&gt;&lt;/mtext&gt;&lt;mfrac&gt;&lt;mn&gt;2&lt;/mn&gt;&lt;mn&gt;3&lt;/mn&gt;&lt;/mfrac&gt;&lt;mo&gt;=&lt;/mo&gt;&lt;mfrac&gt;&lt;mn&gt;30&lt;/mn&gt;&lt;mn&gt;10&lt;/mn&gt;&lt;/mfrac&gt;&lt;mo&gt;+&lt;/mo&gt;&lt;mfrac&gt;&lt;mn&gt;2&lt;/mn&gt;&lt;mn&gt;3&lt;/mn&gt;&lt;/mfrac&gt;&lt;mo&gt;=&lt;/mo&gt;&lt;mfrac&gt;&lt;mn&gt;32&lt;/mn&gt;&lt;mn&gt;3&lt;/mn&gt;&lt;/mfrac&gt;&lt;/mtd&gt;&lt;/mtr&gt;&lt;mtr&gt;&lt;mtd&gt;&lt;mn&gt;15&lt;/mn&gt;&lt;mtext&gt;&lt;/mtext&gt;&lt;mfrac&gt;&lt;mn&gt;3&lt;/mn&gt;&lt;mn&gt;4&lt;/mn&gt;&lt;/mfrac&gt;&lt;mo&gt;=&lt;/mo&gt;&lt;mtext&gt;&lt;/mtext&gt;&lt;mn&gt;15&lt;/mn&gt;&lt;mtext&gt;&lt;/mtext&gt;&lt;mo&gt;×&lt;/mo&gt;&lt;mfrac&gt;&lt;mn&gt;4&lt;/mn&gt;&lt;mn&gt;4&lt;/mn&gt;&lt;/mfrac&gt;&lt;mo&gt;+&lt;/mo&gt;&lt;mfrac&gt;&lt;mn&gt;3&lt;/mn&gt;&lt;mn&gt;4&lt;/mn&gt;&lt;/mfrac&gt;&lt;mo&gt;=&lt;/mo&gt;&lt;mfrac&gt;&lt;mn&gt;60&lt;/mn&gt;&lt;mn&gt;4&lt;/mn&gt;&lt;/mfrac&gt;&lt;mo&gt;+&lt;/mo&gt;&lt;mfrac&gt;&lt;mn&gt;3&lt;/mn&gt;&lt;mn&gt;4&lt;/mn&gt;&lt;/mfrac&gt;&lt;mo&gt;=&lt;/mo&gt;&lt;mfrac&gt;&lt;mn&gt;63&lt;/mn&gt;&lt;mn&gt;4&lt;/mn&gt;&lt;/mfrac&gt;&lt;/mtd&gt;&lt;/mtr&gt;&lt;mtr&gt;&lt;mtd&gt;&lt;mn&gt;30&lt;/mn&gt;&lt;mfrac&gt;&lt;mn&gt;3&lt;/mn&gt;&lt;mn&gt;5&lt;/mn&gt;&lt;/mfrac&gt;&lt;mo&gt;=&lt;/mo&gt;&lt;mn&gt;30&lt;/mn&gt;&lt;mo&gt;×&lt;/mo&gt;&lt;mfrac&gt;&lt;mn&gt;5&lt;/mn&gt;&lt;mn&gt;5&lt;/mn&gt;&lt;/mfrac&gt;&lt;mo&gt;+&lt;/mo&gt;&lt;mfrac&gt;&lt;mn&gt;3&lt;/mn&gt;&lt;mn&gt;5&lt;/mn&gt;&lt;/mfrac&gt;&lt;mo&gt;=&lt;/mo&gt;&lt;mfrac&gt;&lt;mn&gt;150&lt;/mn&gt;&lt;mn&gt;5&lt;/mn&gt;&lt;/mfrac&gt;&lt;mo&gt;+&lt;/mo&gt;&lt;mfrac&gt;&lt;mn&gt;3&lt;/mn&gt;&lt;mn&gt;4&lt;/mn&gt;&lt;/mfrac&gt;&lt;mo&gt;=&lt;/mo&gt;&lt;mfrac&gt;&lt;mn&gt;153&lt;/mn&gt;&lt;mn&gt;5&lt;/mn&gt;&lt;/mfrac&gt;&lt;/mtd&gt;&lt;/mtr&gt;&lt;mtr&gt;&lt;mtd&gt;&lt;mn&gt;7&lt;/mn&gt;&lt;mfrac&gt;&lt;mn&gt;2&lt;/mn&gt;&lt;mn&gt;9&lt;/mn&gt;&lt;/mfrac&gt;&lt;mo&gt;=&lt;/mo&gt;&lt;mn&gt;7&lt;/mn&gt;&lt;mtext&gt;&lt;/mtext&gt;&lt;mo&gt;×&lt;/mo&gt;&lt;mfrac&gt;&lt;mn&gt;9&lt;/mn&gt;&lt;mn&gt;9&lt;/mn&gt;&lt;/mfrac&gt;&lt;mo&gt;+&lt;/mo&gt;&lt;mfrac&gt;&lt;mn&gt;2&lt;/mn&gt;&lt;mn&gt;9&lt;/mn&gt;&lt;/mfrac&gt;&lt;mo&gt;=&lt;/mo&gt;&lt;mfrac&gt;&lt;mn&gt;63&lt;/mn&gt;&lt;mn&gt;9&lt;/mn&gt;&lt;/mfrac&gt;&lt;mo&gt;+&lt;/mo&gt;&lt;mfrac&gt;&lt;mn&gt;2&lt;/mn&gt;&lt;mn&gt;9&lt;/mn&gt;&lt;/mfrac&gt;&lt;mo&gt;=&lt;/mo&gt;&lt;mfrac&gt;&lt;mn&gt;65&lt;/mn&gt;&lt;mn&gt;9&lt;/mn&gt;&lt;/mfrac&gt;&lt;/mtd&gt;&lt;/mtr&gt;&lt;/mtable&gt;&lt;/math&gt;" id="269" name="Google Shape;269;p21" title="4 lines Line 1: 10 and two thirds equals 10 times three thirds plus two thirds equals 30 over 10 plus two thirds equals 32 over 3 Line 2: 15 three fourths equals 15 times four fourths plus three fourths equals 60 over 4 plus three fourths equals 63 over 4 Line 3: 30 and three fifths equals 30 times five fifths plus three fifths equals 150 over 5 plus three fourths equals 153 over 5 Line 4: 7 and two ninths equals 7 times nine ninths plus two ninths equals 63 over 9 plus two ninths equals 65 over 9"/>
          <p:cNvPicPr preferRelativeResize="0"/>
          <p:nvPr/>
        </p:nvPicPr>
        <p:blipFill rotWithShape="1">
          <a:blip r:embed="rId8">
            <a:alphaModFix/>
          </a:blip>
          <a:srcRect b="0" l="8784" r="52413" t="76113"/>
          <a:stretch/>
        </p:blipFill>
        <p:spPr>
          <a:xfrm>
            <a:off x="4657237" y="4382906"/>
            <a:ext cx="1614654" cy="44685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467925" y="4302475"/>
            <a:ext cx="471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781230" y="4364547"/>
            <a:ext cx="471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586113" y="4365147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1906293" y="4877811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906293" y="5361481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940228" y="4428826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5465314" y="4428826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990400" y="4428826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149026" y="4907915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5696412" y="4907915"/>
            <a:ext cx="231000" cy="397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67925" y="6539825"/>
            <a:ext cx="66240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Convert the following to improper fractions, showing working out if you need.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57775" y="6952845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57775" y="7447093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57775" y="7892326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57775" y="8386574"/>
            <a:ext cx="35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frac{1}{2}\ \ =\frac{9}{2}\\&amp;#13;&amp;#10;11\frac{3}{5}\ =\frac{58}{5}\\&amp;#13;&amp;#10;80\frac{1}{3}\ \ =\frac{241}{3}\\&amp;#13;&amp;#10;3\frac{9}{10}\ \ =\frac{39}{10}\end{array}&quot;&gt;&lt;mtable columnalign=&quot;left&quot; columnspacing=&quot;1em&quot; rowspacing=&quot;4pt&quot;&gt;&lt;mtr&gt;&lt;mtd&gt;&lt;mn&gt;4&lt;/mn&gt;&lt;mfrac&gt;&lt;mn&gt;1&lt;/mn&gt;&lt;mn&gt;2&lt;/mn&gt;&lt;/mfrac&gt;&lt;mtext&gt;&lt;/mtext&gt;&lt;mtext&gt;&lt;/mtext&gt;&lt;mo&gt;=&lt;/mo&gt;&lt;mfrac&gt;&lt;mn&gt;9&lt;/mn&gt;&lt;mn&gt;2&lt;/mn&gt;&lt;/mfrac&gt;&lt;/mtd&gt;&lt;/mtr&gt;&lt;mtr&gt;&lt;mtd&gt;&lt;mn&gt;11&lt;/mn&gt;&lt;mfrac&gt;&lt;mn&gt;3&lt;/mn&gt;&lt;mn&gt;5&lt;/mn&gt;&lt;/mfrac&gt;&lt;mtext&gt;&lt;/mtext&gt;&lt;mo&gt;=&lt;/mo&gt;&lt;mfrac&gt;&lt;mn&gt;58&lt;/mn&gt;&lt;mn&gt;5&lt;/mn&gt;&lt;/mfrac&gt;&lt;/mtd&gt;&lt;/mtr&gt;&lt;mtr&gt;&lt;mtd&gt;&lt;mn&gt;80&lt;/mn&gt;&lt;mfrac&gt;&lt;mn&gt;1&lt;/mn&gt;&lt;mn&gt;3&lt;/mn&gt;&lt;/mfrac&gt;&lt;mtext&gt;&lt;/mtext&gt;&lt;mtext&gt;&lt;/mtext&gt;&lt;mo&gt;=&lt;/mo&gt;&lt;mfrac&gt;&lt;mn&gt;241&lt;/mn&gt;&lt;mn&gt;3&lt;/mn&gt;&lt;/mfrac&gt;&lt;/mtd&gt;&lt;/mtr&gt;&lt;mtr&gt;&lt;mtd&gt;&lt;mn&gt;3&lt;/mn&gt;&lt;mfrac&gt;&lt;mn&gt;9&lt;/mn&gt;&lt;mn&gt;10&lt;/mn&gt;&lt;/mfrac&gt;&lt;mtext&gt;&lt;/mtext&gt;&lt;mtext&gt;&lt;/mtext&gt;&lt;mo&gt;=&lt;/mo&gt;&lt;mfrac&gt;&lt;mn&gt;39&lt;/mn&gt;&lt;mn&gt;10&lt;/mn&gt;&lt;/mfrac&gt;&lt;/mtd&gt;&lt;/mtr&gt;&lt;/mtable&gt;&lt;/math&gt;" id="285" name="Google Shape;285;p21" title="4 lines Line 1: 4 and one half equals nine halves Line 2: 11 and three fifths equals 58 over 5 Line 3: 80 and one third equals 241 over 3 Line 4: 3 and nine tenths equals 39 over 10"/>
          <p:cNvPicPr preferRelativeResize="0"/>
          <p:nvPr/>
        </p:nvPicPr>
        <p:blipFill rotWithShape="1">
          <a:blip r:embed="rId9">
            <a:alphaModFix/>
          </a:blip>
          <a:srcRect b="0" l="0" r="59070" t="0"/>
          <a:stretch/>
        </p:blipFill>
        <p:spPr>
          <a:xfrm>
            <a:off x="811697" y="6952845"/>
            <a:ext cx="521426" cy="1791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1166475" y="7200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547475" y="7200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1883125" y="720000"/>
            <a:ext cx="66567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455275" y="720000"/>
            <a:ext cx="62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 either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80675" y="2015400"/>
            <a:ext cx="6611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make the above calculations correct, work out the value of the images.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/>
          <p:nvPr/>
        </p:nvSpPr>
        <p:spPr>
          <a:xfrm>
            <a:off x="3145787" y="1204761"/>
            <a:ext cx="2677800" cy="2592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3173581" y="1982902"/>
            <a:ext cx="26223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 an improper fraction the numerator is 173.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denominator is odd.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3173575" y="2955489"/>
            <a:ext cx="2622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3173575" y="2744902"/>
            <a:ext cx="2622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mixed number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468000" y="1204761"/>
            <a:ext cx="2677800" cy="2592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602844" y="1946090"/>
            <a:ext cx="26223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is even.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numerator and denominator of the proper fraction are both odd and prime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602850" y="2708096"/>
            <a:ext cx="26223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mixed number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602850" y="2936696"/>
            <a:ext cx="26223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converting mixed numbers to improper fractions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5945125" y="1436599"/>
            <a:ext cx="1080600" cy="956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306" name="Google Shape;306;p22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68911" l="0" r="0" t="0"/>
          <a:stretch/>
        </p:blipFill>
        <p:spPr>
          <a:xfrm>
            <a:off x="1451617" y="1293945"/>
            <a:ext cx="768618" cy="740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frac{3}{5}\\&amp;#13;&amp;#10;24\frac{5}{7}\\&amp;#13;&amp;#10;3\frac{1}{2}\end{array}&quot;&gt;&lt;mtable columnalign=&quot;left&quot; columnspacing=&quot;1em&quot; rowspacing=&quot;4pt&quot;&gt;&lt;mtr&gt;&lt;mtd&gt;&lt;mn&gt;10&lt;/mn&gt;&lt;mfrac&gt;&lt;mn&gt;3&lt;/mn&gt;&lt;mn&gt;5&lt;/mn&gt;&lt;/mfrac&gt;&lt;/mtd&gt;&lt;/mtr&gt;&lt;mtr&gt;&lt;mtd&gt;&lt;mn&gt;24&lt;/mn&gt;&lt;mfrac&gt;&lt;mn&gt;5&lt;/mn&gt;&lt;mn&gt;7&lt;/mn&gt;&lt;/mfrac&gt;&lt;/mtd&gt;&lt;/mtr&gt;&lt;mtr&gt;&lt;mtd&gt;&lt;mn&gt;3&lt;/mn&gt;&lt;mfrac&gt;&lt;mn&gt;1&lt;/mn&gt;&lt;mn&gt;2&lt;/mn&gt;&lt;/mfrac&gt;&lt;/mtd&gt;&lt;/mtr&gt;&lt;/mtable&gt;&lt;/math&gt;" id="307" name="Google Shape;307;p22" title="3 lines Line 1: 10 and three fifths Line 2: 24 and five sevenths Line 3: 3 and one half"/>
          <p:cNvPicPr preferRelativeResize="0"/>
          <p:nvPr/>
        </p:nvPicPr>
        <p:blipFill rotWithShape="1">
          <a:blip r:embed="rId3">
            <a:alphaModFix/>
          </a:blip>
          <a:srcRect b="34455" l="-5775" r="0" t="34455"/>
          <a:stretch/>
        </p:blipFill>
        <p:spPr>
          <a:xfrm>
            <a:off x="4017071" y="1267619"/>
            <a:ext cx="813039" cy="74051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2"/>
          <p:cNvSpPr txBox="1"/>
          <p:nvPr/>
        </p:nvSpPr>
        <p:spPr>
          <a:xfrm>
            <a:off x="5944975" y="1502750"/>
            <a:ext cx="10806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own mixed number with clues.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6}{5}&quot;&gt;&lt;mfrac&gt;&lt;mn&gt;46&lt;/mn&gt;&lt;mn&gt;5&lt;/mn&gt;&lt;/mfrac&gt;&lt;/math&gt;" id="309" name="Google Shape;309;p22" title="46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249" y="3024184"/>
            <a:ext cx="148558" cy="26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6}{5}&quot;&gt;&lt;mfrac&gt;&lt;mn&gt;116&lt;/mn&gt;&lt;mn&gt;5&lt;/mn&gt;&lt;/mfrac&gt;&lt;/math&gt;" id="310" name="Google Shape;310;p22" title="11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422" y="3001204"/>
            <a:ext cx="211516" cy="26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4}{5}&quot;&gt;&lt;mfrac&gt;&lt;mn&gt;124&lt;/mn&gt;&lt;mn&gt;5&lt;/mn&gt;&lt;/mfrac&gt;&lt;/math&gt;" id="311" name="Google Shape;311;p22" title="124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5388" y="3024175"/>
            <a:ext cx="175612" cy="223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/>
          <p:nvPr/>
        </p:nvSpPr>
        <p:spPr>
          <a:xfrm>
            <a:off x="1451617" y="1293944"/>
            <a:ext cx="476700" cy="68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962730" y="1291520"/>
            <a:ext cx="304500" cy="26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962730" y="1713490"/>
            <a:ext cx="304500" cy="26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045196" y="1319770"/>
            <a:ext cx="476700" cy="68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4579015" y="1318505"/>
            <a:ext cx="304500" cy="26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579015" y="1740475"/>
            <a:ext cx="304500" cy="269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510425" y="720000"/>
            <a:ext cx="6581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Can you work out the mixed number given the clues for the integer and proper fraction?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>
            <a:off x="474757" y="39638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2"/>
          <p:cNvSpPr txBox="1"/>
          <p:nvPr/>
        </p:nvSpPr>
        <p:spPr>
          <a:xfrm>
            <a:off x="468000" y="4391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Insert the symbol &lt;, &gt; or = to make the following statements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468000" y="4648850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468000" y="5226037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68000" y="5745983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468000" y="6323170"/>
            <a:ext cx="4134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4}=3\frac{1}{4}\\&amp;#13;&amp;#10;\frac{24}{5}&amp;lt;5\frac{1}{5}\\&amp;#13;&amp;#10;\frac{92}{4}&amp;gt;22\frac{1}{4}\\&amp;#13;&amp;#10;\frac{9}{2}&amp;gt;\frac{25}{6}\end{array}&quot;&gt;&lt;mtable columnalign=&quot;left&quot; columnspacing=&quot;1em&quot; rowspacing=&quot;4pt&quot;&gt;&lt;mtr&gt;&lt;mtd&gt;&lt;mfrac&gt;&lt;mn&gt;13&lt;/mn&gt;&lt;mn&gt;4&lt;/mn&gt;&lt;/mfrac&gt;&lt;mo&gt;=&lt;/mo&gt;&lt;mn&gt;3&lt;/mn&gt;&lt;mfrac&gt;&lt;mn&gt;1&lt;/mn&gt;&lt;mn&gt;4&lt;/mn&gt;&lt;/mfrac&gt;&lt;/mtd&gt;&lt;/mtr&gt;&lt;mtr&gt;&lt;mtd&gt;&lt;mfrac&gt;&lt;mn&gt;24&lt;/mn&gt;&lt;mn&gt;5&lt;/mn&gt;&lt;/mfrac&gt;&lt;mo&gt;&amp;lt;&lt;/mo&gt;&lt;mn&gt;5&lt;/mn&gt;&lt;mfrac&gt;&lt;mn&gt;1&lt;/mn&gt;&lt;mn&gt;5&lt;/mn&gt;&lt;/mfrac&gt;&lt;/mtd&gt;&lt;/mtr&gt;&lt;mtr&gt;&lt;mtd&gt;&lt;mfrac&gt;&lt;mn&gt;92&lt;/mn&gt;&lt;mn&gt;4&lt;/mn&gt;&lt;/mfrac&gt;&lt;mo&gt;&amp;gt;&lt;/mo&gt;&lt;mn&gt;22&lt;/mn&gt;&lt;mfrac&gt;&lt;mn&gt;1&lt;/mn&gt;&lt;mn&gt;4&lt;/mn&gt;&lt;/mfrac&gt;&lt;/mtd&gt;&lt;/mtr&gt;&lt;mtr&gt;&lt;mtd&gt;&lt;mfrac&gt;&lt;mn&gt;9&lt;/mn&gt;&lt;mn&gt;2&lt;/mn&gt;&lt;/mfrac&gt;&lt;mo&gt;&amp;gt;&lt;/mo&gt;&lt;mfrac&gt;&lt;mn&gt;25&lt;/mn&gt;&lt;mn&gt;6&lt;/mn&gt;&lt;/mfrac&gt;&lt;/mtd&gt;&lt;/mtr&gt;&lt;/mtable&gt;&lt;/math&gt;" id="325" name="Google Shape;325;p22" title="4 lines Line 1: thirteen fourths equals 3 and one fourth Line 2: 24 over 5 is less than 5 and one fifth Line 3: 92 over 4 is greater than 22 and one fourth Line 4: nine halves is greater than 25 over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535" y="4648850"/>
            <a:ext cx="1199415" cy="21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/>
          <p:nvPr/>
        </p:nvSpPr>
        <p:spPr>
          <a:xfrm>
            <a:off x="1278628" y="4690393"/>
            <a:ext cx="211500" cy="34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1278628" y="5240123"/>
            <a:ext cx="211500" cy="34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1278628" y="5820090"/>
            <a:ext cx="211500" cy="34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1148462" y="6361239"/>
            <a:ext cx="211500" cy="34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68000" y="40542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Comparing mixed numbers and improper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1104244" y="6959948"/>
            <a:ext cx="1998300" cy="125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3304300" y="6902400"/>
            <a:ext cx="3715500" cy="1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Two gardeners are putting a fence around a rectangular garden.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gardener measures the length to 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3" name="Google Shape;33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0773" y="7172430"/>
            <a:ext cx="306922" cy="38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4486" y="7600517"/>
            <a:ext cx="306922" cy="38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75066" y="7775431"/>
            <a:ext cx="306922" cy="38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7696" y="7334124"/>
            <a:ext cx="618788" cy="441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337" name="Google Shape;337;p22" title="4 and one fifth m 49 over 4"/>
          <p:cNvPicPr preferRelativeResize="0"/>
          <p:nvPr/>
        </p:nvPicPr>
        <p:blipFill rotWithShape="1">
          <a:blip r:embed="rId10">
            <a:alphaModFix/>
          </a:blip>
          <a:srcRect b="0" l="0" r="68630" t="0"/>
          <a:stretch/>
        </p:blipFill>
        <p:spPr>
          <a:xfrm>
            <a:off x="518484" y="7318900"/>
            <a:ext cx="306921" cy="47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/>
        </p:nvSpPr>
        <p:spPr>
          <a:xfrm>
            <a:off x="460925" y="8703750"/>
            <a:ext cx="37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fence panels are needed?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733816" y="7360515"/>
            <a:ext cx="3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sp>
        <p:nvSpPr>
          <p:cNvPr id="340" name="Google Shape;340;p22"/>
          <p:cNvSpPr txBox="1"/>
          <p:nvPr/>
        </p:nvSpPr>
        <p:spPr>
          <a:xfrm>
            <a:off x="2265761" y="8243989"/>
            <a:ext cx="36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4\frac{1}{5}m\ \ \ \ \frac{49}{4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4&lt;/mn&gt;&lt;/mfrac&gt;&lt;/math&gt;" id="341" name="Google Shape;341;p22" title="4 and one fifth m 49 over 4"/>
          <p:cNvPicPr preferRelativeResize="0"/>
          <p:nvPr/>
        </p:nvPicPr>
        <p:blipFill rotWithShape="1">
          <a:blip r:embed="rId10">
            <a:alphaModFix/>
          </a:blip>
          <a:srcRect b="0" l="0" r="68630" t="0"/>
          <a:stretch/>
        </p:blipFill>
        <p:spPr>
          <a:xfrm>
            <a:off x="4489975" y="8048232"/>
            <a:ext cx="211525" cy="325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342" name="Google Shape;342;p22" title="4 and one fifth m 49 over 5"/>
          <p:cNvPicPr preferRelativeResize="0"/>
          <p:nvPr/>
        </p:nvPicPr>
        <p:blipFill rotWithShape="1">
          <a:blip r:embed="rId11">
            <a:alphaModFix/>
          </a:blip>
          <a:srcRect b="0" l="71714" r="0" t="0"/>
          <a:stretch/>
        </p:blipFill>
        <p:spPr>
          <a:xfrm>
            <a:off x="2012468" y="8267086"/>
            <a:ext cx="269237" cy="459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}{5}m\ \ \ \ \frac{49}{5}&quot;&gt;&lt;mn&gt;4&lt;/mn&gt;&lt;mfrac&gt;&lt;mn&gt;1&lt;/mn&gt;&lt;mn&gt;5&lt;/mn&gt;&lt;/mfrac&gt;&lt;mi&gt;m&lt;/mi&gt;&lt;mtext&gt;&lt;/mtext&gt;&lt;mtext&gt;&lt;/mtext&gt;&lt;mtext&gt;&lt;/mtext&gt;&lt;mtext&gt;&lt;/mtext&gt;&lt;mfrac&gt;&lt;mn&gt;49&lt;/mn&gt;&lt;mn&gt;5&lt;/mn&gt;&lt;/mfrac&gt;&lt;/math&gt;" id="343" name="Google Shape;343;p22" title="4 and one fifth m 49 over 5"/>
          <p:cNvPicPr preferRelativeResize="0"/>
          <p:nvPr/>
        </p:nvPicPr>
        <p:blipFill rotWithShape="1">
          <a:blip r:embed="rId11">
            <a:alphaModFix/>
          </a:blip>
          <a:srcRect b="0" l="71714" r="0" t="0"/>
          <a:stretch/>
        </p:blipFill>
        <p:spPr>
          <a:xfrm>
            <a:off x="3304300" y="7739075"/>
            <a:ext cx="211500" cy="36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2"/>
          <p:cNvSpPr txBox="1"/>
          <p:nvPr/>
        </p:nvSpPr>
        <p:spPr>
          <a:xfrm>
            <a:off x="5071000" y="8726150"/>
            <a:ext cx="1998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What is the total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1585200" y="2936700"/>
            <a:ext cx="17160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10.7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4176425" y="2955500"/>
            <a:ext cx="1771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3550375" y="7775425"/>
            <a:ext cx="34695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   and the other gardener measures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3304300" y="8080225"/>
            <a:ext cx="3715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3304300" y="8385025"/>
            <a:ext cx="37155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Fence panels cost £22 per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3593425" y="8080225"/>
            <a:ext cx="357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4050625" y="8080225"/>
            <a:ext cx="3579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be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759200" y="8080225"/>
            <a:ext cx="3022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9" name="Google Shape;359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mixed numbers to improper fractions</a:t>
            </a:r>
            <a:endParaRPr/>
          </a:p>
        </p:txBody>
      </p:sp>
      <p:sp>
        <p:nvSpPr>
          <p:cNvPr id="360" name="Google Shape;360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496910" y="3395569"/>
            <a:ext cx="4456800" cy="118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496910" y="1666575"/>
            <a:ext cx="4456800" cy="118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468000" y="720000"/>
            <a:ext cx="66249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following have been put in ascending order.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mixed number is above and the equivalent improper fraction is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365" name="Google Shape;365;p23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57266" l="0" r="0" t="0"/>
          <a:stretch/>
        </p:blipFill>
        <p:spPr>
          <a:xfrm>
            <a:off x="914492" y="1792846"/>
            <a:ext cx="3776618" cy="101148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 txBox="1"/>
          <p:nvPr/>
        </p:nvSpPr>
        <p:spPr>
          <a:xfrm>
            <a:off x="468000" y="1751479"/>
            <a:ext cx="4464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468000" y="3502038"/>
            <a:ext cx="4464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10\frac{2}{5}\\&amp;#13;&amp;#10;\frac{8}{3}\ \ \ \ \ ,\ \ \ \frac{24}{5}\ \ ,\ \ \frac{49}{10}\ \ \ \ ,\ \ \frac{16}{3}\ \ \ ,\ \ \ \frac{50}{2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10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50&lt;/mn&gt;&lt;mn&gt;2&lt;/mn&gt;&lt;/mfrac&gt;&lt;/mtd&gt;&lt;/mtr&gt;&lt;/mtable&gt;&lt;/math&gt;" id="368" name="Google Shape;368;p23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10 and two fifths Line 5: eight thirds comma 24 over 5 comma 49 over 10 comma sixteen thirds comma 50 over 2"/>
          <p:cNvPicPr preferRelativeResize="0"/>
          <p:nvPr/>
        </p:nvPicPr>
        <p:blipFill rotWithShape="1">
          <a:blip r:embed="rId3">
            <a:alphaModFix/>
          </a:blip>
          <a:srcRect b="-1889" l="-1417" r="12274" t="56133"/>
          <a:stretch/>
        </p:blipFill>
        <p:spPr>
          <a:xfrm>
            <a:off x="820053" y="3440749"/>
            <a:ext cx="3366480" cy="108305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/>
          <p:nvPr/>
        </p:nvSpPr>
        <p:spPr>
          <a:xfrm>
            <a:off x="1783644" y="2287824"/>
            <a:ext cx="255000" cy="40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2553617" y="1792845"/>
            <a:ext cx="474600" cy="408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3308848" y="2229679"/>
            <a:ext cx="474600" cy="466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186528" y="1820883"/>
            <a:ext cx="329400" cy="36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4240825" y="2557467"/>
            <a:ext cx="255000" cy="24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820047" y="3485970"/>
            <a:ext cx="474600" cy="466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1663204" y="3502038"/>
            <a:ext cx="474600" cy="466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2416348" y="3573288"/>
            <a:ext cx="278100" cy="273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2506374" y="3952911"/>
            <a:ext cx="278100" cy="273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2526574" y="4304375"/>
            <a:ext cx="255000" cy="24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3593839" y="3502038"/>
            <a:ext cx="278100" cy="466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\frac{1}{2}\ \ ,\ \ \ 2\frac{3}{4}\ \ ,\ \ \ 5\frac{1}{10}\ \ ,\ \ 5\frac{3}{4}\ \ ,\ \ 20\frac{1}{2}\\&amp;#13;&amp;#10;\frac{3}{2}\ \ \ \ ,\ \ \ \frac{11}{4}\ \ \ ,\ \ \ \frac{51}{10}\ \ \ ,\ \ \frac{23}{4}\ \ \ ,\ \ \frac{41}{2}\\&amp;#13;&amp;#10;\\&amp;#13;&amp;#10;2\ \frac{2}{3}\ \ ,\ \ \ 4\frac{4}{5}\ \ ,\ \ 4\frac{9}{10}\ \ ,\ \ 5\frac{1}{3}\ \ ,\ \ 5\frac{2}{5}\\&amp;#13;&amp;#10;\frac{8}{3}\ \ \ \ \ ,\ \ \ \frac{24}{5}\ \ ,\ \ \frac{49}{10}\ \ \ \ ,\ \ \frac{16}{3}\ \ \ ,\ \ \ \frac{27}{5}\end{array}&quot;&gt;&lt;mtable columnalign=&quot;left&quot; columnspacing=&quot;1em&quot; rowspacing=&quot;4pt&quot;&gt;&lt;mtr&gt;&lt;mtd&gt;&lt;mn&gt;1&lt;/mn&gt;&lt;mfrac&gt;&lt;mn&gt;1&lt;/mn&gt;&lt;mn&gt;2&lt;/mn&gt;&lt;/mfrac&gt;&lt;mtext&gt;&lt;/mtext&gt;&lt;mtext&gt;&lt;/mtext&gt;&lt;mo&gt;,&lt;/mo&gt;&lt;mtext&gt;&lt;/mtext&gt;&lt;mtext&gt;&lt;/mtext&gt;&lt;mtext&gt;&lt;/mtext&gt;&lt;mn&gt;2&lt;/mn&gt;&lt;mfrac&gt;&lt;mn&gt;3&lt;/mn&gt;&lt;mn&gt;4&lt;/mn&gt;&lt;/mfrac&gt;&lt;mtext&gt;&lt;/mtext&gt;&lt;mtext&gt;&lt;/mtext&gt;&lt;mo&gt;,&lt;/mo&gt;&lt;mtext&gt;&lt;/mtext&gt;&lt;mtext&gt;&lt;/mtext&gt;&lt;mtext&gt;&lt;/mtext&gt;&lt;mn&gt;5&lt;/mn&gt;&lt;mfrac&gt;&lt;mn&gt;1&lt;/mn&gt;&lt;mn&gt;10&lt;/mn&gt;&lt;/mfrac&gt;&lt;mtext&gt;&lt;/mtext&gt;&lt;mtext&gt;&lt;/mtext&gt;&lt;mo&gt;,&lt;/mo&gt;&lt;mtext&gt;&lt;/mtext&gt;&lt;mtext&gt;&lt;/mtext&gt;&lt;mn&gt;5&lt;/mn&gt;&lt;mfrac&gt;&lt;mn&gt;3&lt;/mn&gt;&lt;mn&gt;4&lt;/mn&gt;&lt;/mfrac&gt;&lt;mtext&gt;&lt;/mtext&gt;&lt;mtext&gt;&lt;/mtext&gt;&lt;mo&gt;,&lt;/mo&gt;&lt;mtext&gt;&lt;/mtext&gt;&lt;mtext&gt;&lt;/mtext&gt;&lt;mn&gt;20&lt;/mn&gt;&lt;mfrac&gt;&lt;mn&gt;1&lt;/mn&gt;&lt;mn&gt;2&lt;/mn&gt;&lt;/mfrac&gt;&lt;/mtd&gt;&lt;/mtr&gt;&lt;mtr&gt;&lt;mtd&gt;&lt;mfrac&gt;&lt;mn&gt;3&lt;/mn&gt;&lt;mn&gt;2&lt;/mn&gt;&lt;/mfrac&gt;&lt;mtext&gt;&lt;/mtext&gt;&lt;mtext&gt;&lt;/mtext&gt;&lt;mtext&gt;&lt;/mtext&gt;&lt;mtext&gt;&lt;/mtext&gt;&lt;mo&gt;,&lt;/mo&gt;&lt;mtext&gt;&lt;/mtext&gt;&lt;mtext&gt;&lt;/mtext&gt;&lt;mtext&gt;&lt;/mtext&gt;&lt;mfrac&gt;&lt;mn&gt;11&lt;/mn&gt;&lt;mn&gt;4&lt;/mn&gt;&lt;/mfrac&gt;&lt;mtext&gt;&lt;/mtext&gt;&lt;mtext&gt;&lt;/mtext&gt;&lt;mtext&gt;&lt;/mtext&gt;&lt;mo&gt;,&lt;/mo&gt;&lt;mtext&gt;&lt;/mtext&gt;&lt;mtext&gt;&lt;/mtext&gt;&lt;mtext&gt;&lt;/mtext&gt;&lt;mfrac&gt;&lt;mn&gt;51&lt;/mn&gt;&lt;mn&gt;10&lt;/mn&gt;&lt;/mfrac&gt;&lt;mtext&gt;&lt;/mtext&gt;&lt;mtext&gt;&lt;/mtext&gt;&lt;mtext&gt;&lt;/mtext&gt;&lt;mo&gt;,&lt;/mo&gt;&lt;mtext&gt;&lt;/mtext&gt;&lt;mtext&gt;&lt;/mtext&gt;&lt;mfrac&gt;&lt;mn&gt;23&lt;/mn&gt;&lt;mn&gt;4&lt;/mn&gt;&lt;/mfrac&gt;&lt;mtext&gt;&lt;/mtext&gt;&lt;mtext&gt;&lt;/mtext&gt;&lt;mtext&gt;&lt;/mtext&gt;&lt;mo&gt;,&lt;/mo&gt;&lt;mtext&gt;&lt;/mtext&gt;&lt;mtext&gt;&lt;/mtext&gt;&lt;mfrac&gt;&lt;mn&gt;41&lt;/mn&gt;&lt;mn&gt;2&lt;/mn&gt;&lt;/mfrac&gt;&lt;/mtd&gt;&lt;/mtr&gt;&lt;mtr&gt;&lt;mtd/&gt;&lt;/mtr&gt;&lt;mtr&gt;&lt;mtd&gt;&lt;mn&gt;2&lt;/mn&gt;&lt;mtext&gt;&lt;/mtext&gt;&lt;mfrac&gt;&lt;mn&gt;2&lt;/mn&gt;&lt;mn&gt;3&lt;/mn&gt;&lt;/mfrac&gt;&lt;mtext&gt;&lt;/mtext&gt;&lt;mtext&gt;&lt;/mtext&gt;&lt;mo&gt;,&lt;/mo&gt;&lt;mtext&gt;&lt;/mtext&gt;&lt;mtext&gt;&lt;/mtext&gt;&lt;mtext&gt;&lt;/mtext&gt;&lt;mn&gt;4&lt;/mn&gt;&lt;mfrac&gt;&lt;mn&gt;4&lt;/mn&gt;&lt;mn&gt;5&lt;/mn&gt;&lt;/mfrac&gt;&lt;mtext&gt;&lt;/mtext&gt;&lt;mtext&gt;&lt;/mtext&gt;&lt;mo&gt;,&lt;/mo&gt;&lt;mtext&gt;&lt;/mtext&gt;&lt;mtext&gt;&lt;/mtext&gt;&lt;mn&gt;4&lt;/mn&gt;&lt;mfrac&gt;&lt;mn&gt;9&lt;/mn&gt;&lt;mn&gt;10&lt;/mn&gt;&lt;/mfrac&gt;&lt;mtext&gt;&lt;/mtext&gt;&lt;mtext&gt;&lt;/mtext&gt;&lt;mo&gt;,&lt;/mo&gt;&lt;mtext&gt;&lt;/mtext&gt;&lt;mtext&gt;&lt;/mtext&gt;&lt;mn&gt;5&lt;/mn&gt;&lt;mfrac&gt;&lt;mn&gt;1&lt;/mn&gt;&lt;mn&gt;3&lt;/mn&gt;&lt;/mfrac&gt;&lt;mtext&gt;&lt;/mtext&gt;&lt;mtext&gt;&lt;/mtext&gt;&lt;mo&gt;,&lt;/mo&gt;&lt;mtext&gt;&lt;/mtext&gt;&lt;mtext&gt;&lt;/mtext&gt;&lt;mn&gt;5&lt;/mn&gt;&lt;mfrac&gt;&lt;mn&gt;2&lt;/mn&gt;&lt;mn&gt;5&lt;/mn&gt;&lt;/mfrac&gt;&lt;/mtd&gt;&lt;/mtr&gt;&lt;mtr&gt;&lt;mtd&gt;&lt;mfrac&gt;&lt;mn&gt;8&lt;/mn&gt;&lt;mn&gt;3&lt;/mn&gt;&lt;/mfrac&gt;&lt;mtext&gt;&lt;/mtext&gt;&lt;mtext&gt;&lt;/mtext&gt;&lt;mtext&gt;&lt;/mtext&gt;&lt;mtext&gt;&lt;/mtext&gt;&lt;mtext&gt;&lt;/mtext&gt;&lt;mo&gt;,&lt;/mo&gt;&lt;mtext&gt;&lt;/mtext&gt;&lt;mtext&gt;&lt;/mtext&gt;&lt;mtext&gt;&lt;/mtext&gt;&lt;mfrac&gt;&lt;mn&gt;24&lt;/mn&gt;&lt;mn&gt;5&lt;/mn&gt;&lt;/mfrac&gt;&lt;mtext&gt;&lt;/mtext&gt;&lt;mtext&gt;&lt;/mtext&gt;&lt;mo&gt;,&lt;/mo&gt;&lt;mtext&gt;&lt;/mtext&gt;&lt;mtext&gt;&lt;/mtext&gt;&lt;mfrac&gt;&lt;mn&gt;49&lt;/mn&gt;&lt;mn&gt;10&lt;/mn&gt;&lt;/mfrac&gt;&lt;mtext&gt;&lt;/mtext&gt;&lt;mtext&gt;&lt;/mtext&gt;&lt;mtext&gt;&lt;/mtext&gt;&lt;mtext&gt;&lt;/mtext&gt;&lt;mo&gt;,&lt;/mo&gt;&lt;mtext&gt;&lt;/mtext&gt;&lt;mtext&gt;&lt;/mtext&gt;&lt;mfrac&gt;&lt;mn&gt;16&lt;/mn&gt;&lt;mn&gt;3&lt;/mn&gt;&lt;/mfrac&gt;&lt;mtext&gt;&lt;/mtext&gt;&lt;mtext&gt;&lt;/mtext&gt;&lt;mtext&gt;&lt;/mtext&gt;&lt;mo&gt;,&lt;/mo&gt;&lt;mtext&gt;&lt;/mtext&gt;&lt;mtext&gt;&lt;/mtext&gt;&lt;mtext&gt;&lt;/mtext&gt;&lt;mfrac&gt;&lt;mn&gt;27&lt;/mn&gt;&lt;mn&gt;5&lt;/mn&gt;&lt;/mfrac&gt;&lt;/mtd&gt;&lt;/mtr&gt;&lt;/mtable&gt;&lt;/math&gt;" id="380" name="Google Shape;380;p23" title="5 lines Line 1: 1 and one half comma 2 and three fourths comma 5 and one tenth comma 5 and three fourths comma 20 and one half Line 2: three halves comma eleven fourths comma 51 over 10 comma 23 over 4 comma 41 over 2 Line 3: blank Line 4: 2 two thirds comma 4 and four fifths comma 4 and nine tenths comma 5 and one third comma 5 and two fifths Line 5: eight thirds comma 24 over 5 comma 49 over 10 comma sixteen thirds comma 27 over 5"/>
          <p:cNvPicPr preferRelativeResize="0"/>
          <p:nvPr/>
        </p:nvPicPr>
        <p:blipFill rotWithShape="1">
          <a:blip r:embed="rId4">
            <a:alphaModFix/>
          </a:blip>
          <a:srcRect b="0" l="84780" r="0" t="56587"/>
          <a:stretch/>
        </p:blipFill>
        <p:spPr>
          <a:xfrm>
            <a:off x="3996216" y="3460852"/>
            <a:ext cx="565777" cy="101148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3"/>
          <p:cNvSpPr/>
          <p:nvPr/>
        </p:nvSpPr>
        <p:spPr>
          <a:xfrm>
            <a:off x="4283733" y="3502038"/>
            <a:ext cx="278100" cy="466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4205487" y="4292422"/>
            <a:ext cx="216300" cy="238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