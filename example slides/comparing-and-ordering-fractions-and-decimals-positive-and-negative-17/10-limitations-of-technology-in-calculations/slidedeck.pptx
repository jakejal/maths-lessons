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FB5B40-6518-46CE-BF15-0336BA232509}">
  <a:tblStyle styleId="{A1FB5B40-6518-46CE-BF15-0336BA2325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f49b133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f49b133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f49b133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f49b133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9ad2468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9ad2468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99ad2468e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99ad2468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99ad2468e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99ad2468e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99ad2468e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99ad2468e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99ad2468e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99ad2468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99ad2468e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99ad2468e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99ad2468e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99ad2468e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99ad2468e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99ad2468e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99ad2468e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99ad2468e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99ad2468e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99ad2468e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99ad2468e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99ad2468e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99ad2468e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9ad2468e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99ad2468e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99ad2468e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9aff5f874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9aff5f874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9aff5f874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9aff5f874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99ad2468e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99ad2468e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9a7e3bec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9a7e3bec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9a7e3bec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a7e3bec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9c84cec8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29c84cec8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9a7e3bec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9a7e3bec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99ad2468e2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99ad2468e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99ad2468e2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99ad2468e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99ad2468e2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99ad2468e2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99ad2468e2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99ad2468e2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99ad2468e2_0_1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99ad2468e2_0_1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99ad2468e2_0_1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99ad2468e2_0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9a7e3bec5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9a7e3bec5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9aff5f874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9aff5f874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9aff5f874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9aff5f874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99ad2468e2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99ad2468e2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7.png"/><Relationship Id="rId4" Type="http://schemas.openxmlformats.org/officeDocument/2006/relationships/image" Target="../media/image24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7.png"/><Relationship Id="rId4" Type="http://schemas.openxmlformats.org/officeDocument/2006/relationships/image" Target="../media/image31.png"/><Relationship Id="rId11" Type="http://schemas.openxmlformats.org/officeDocument/2006/relationships/image" Target="../media/image18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5" Type="http://schemas.openxmlformats.org/officeDocument/2006/relationships/image" Target="../media/image62.png"/><Relationship Id="rId6" Type="http://schemas.openxmlformats.org/officeDocument/2006/relationships/image" Target="../media/image59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9.png"/><Relationship Id="rId8" Type="http://schemas.openxmlformats.org/officeDocument/2006/relationships/image" Target="../media/image7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9.png"/><Relationship Id="rId8" Type="http://schemas.openxmlformats.org/officeDocument/2006/relationships/image" Target="../media/image7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5.png"/><Relationship Id="rId4" Type="http://schemas.openxmlformats.org/officeDocument/2006/relationships/image" Target="../media/image78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8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3.png"/><Relationship Id="rId4" Type="http://schemas.openxmlformats.org/officeDocument/2006/relationships/image" Target="../media/image8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8.png"/><Relationship Id="rId4" Type="http://schemas.openxmlformats.org/officeDocument/2006/relationships/image" Target="../media/image7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5.png"/><Relationship Id="rId4" Type="http://schemas.openxmlformats.org/officeDocument/2006/relationships/image" Target="../media/image91.png"/><Relationship Id="rId5" Type="http://schemas.openxmlformats.org/officeDocument/2006/relationships/image" Target="../media/image9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9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can enter fractions as divisions on a calculator (and other technology) and understand the limitations of the decimal representation that results.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7822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</a:t>
            </a:r>
            <a:r>
              <a:rPr lang="en-GB"/>
              <a:t> </a:t>
            </a:r>
            <a:r>
              <a:rPr b="0" lang="en-GB"/>
              <a:t>terminating decimal is one that has a finite number of digits after the decimal point.</a:t>
            </a:r>
            <a:endParaRPr b="0"/>
          </a:p>
        </p:txBody>
      </p:sp>
      <p:sp>
        <p:nvSpPr>
          <p:cNvPr id="767" name="Google Shape;767;p67"/>
          <p:cNvSpPr txBox="1"/>
          <p:nvPr/>
        </p:nvSpPr>
        <p:spPr>
          <a:xfrm>
            <a:off x="324000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68" name="Google Shape;768;p67"/>
          <p:cNvSpPr txBox="1"/>
          <p:nvPr/>
        </p:nvSpPr>
        <p:spPr>
          <a:xfrm>
            <a:off x="2478775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69" name="Google Shape;769;p67"/>
          <p:cNvSpPr txBox="1"/>
          <p:nvPr/>
        </p:nvSpPr>
        <p:spPr>
          <a:xfrm>
            <a:off x="4535725" y="2319175"/>
            <a:ext cx="213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0" name="Google Shape;770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0" l="0" r="78771" t="0"/>
          <a:stretch/>
        </p:blipFill>
        <p:spPr>
          <a:xfrm>
            <a:off x="683400" y="2885825"/>
            <a:ext cx="1001400" cy="4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7"/>
          <p:cNvSpPr txBox="1"/>
          <p:nvPr/>
        </p:nvSpPr>
        <p:spPr>
          <a:xfrm>
            <a:off x="6918225" y="2319163"/>
            <a:ext cx="25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2" name="Google Shape;772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15689" l="19284" r="38462" t="15690"/>
          <a:stretch/>
        </p:blipFill>
        <p:spPr>
          <a:xfrm>
            <a:off x="2196350" y="2962025"/>
            <a:ext cx="1993200" cy="42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3" name="Google Shape;773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7763" l="73510" r="10058" t="-7763"/>
          <a:stretch/>
        </p:blipFill>
        <p:spPr>
          <a:xfrm>
            <a:off x="5141418" y="2885825"/>
            <a:ext cx="775150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4" name="Google Shape;774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27437" l="91624" r="-8056" t="11910"/>
          <a:stretch/>
        </p:blipFill>
        <p:spPr>
          <a:xfrm>
            <a:off x="7597968" y="2962025"/>
            <a:ext cx="775150" cy="4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/>
        </p:nvSpPr>
        <p:spPr>
          <a:xfrm>
            <a:off x="267550" y="2700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80" name="Google Shape;780;p68"/>
          <p:cNvSpPr txBox="1"/>
          <p:nvPr/>
        </p:nvSpPr>
        <p:spPr>
          <a:xfrm>
            <a:off x="5145775" y="2700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81" name="Google Shape;781;p68"/>
          <p:cNvSpPr txBox="1"/>
          <p:nvPr/>
        </p:nvSpPr>
        <p:spPr>
          <a:xfrm>
            <a:off x="324000" y="649850"/>
            <a:ext cx="77148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recurring decimal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one that has an infinite number of digits after the decimal point.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8"/>
          <p:cNvSpPr txBox="1"/>
          <p:nvPr/>
        </p:nvSpPr>
        <p:spPr>
          <a:xfrm>
            <a:off x="324000" y="1494650"/>
            <a:ext cx="84960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digits after the decimal point are represented using dots. A dot is placed above the first digit that recurs and the last digit that recurs.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\dot{3}=0.33333333....&quot;&gt;&lt;mn&gt;0.&lt;/mn&gt;&lt;mrow data-mjx-texclass=&quot;ORD&quot;&gt;&lt;mover&gt;&lt;mn&gt;3&lt;/mn&gt;&lt;mo&gt;˙&lt;/mo&gt;&lt;/mover&gt;&lt;/mrow&gt;&lt;mo&gt;=&lt;/mo&gt;&lt;mn&gt;0.33333333&lt;/mn&gt;&lt;mo&gt;.&lt;/mo&gt;&lt;mo&gt;.&lt;/mo&gt;&lt;mo&gt;.&lt;/mo&gt;&lt;mo&gt;.&lt;/mo&gt;&lt;/math&gt;" id="783" name="Google Shape;783;p68" title="the repeating decimal 0 point followed by repeating digit 3 equals 0.33333333 period period period period"/>
          <p:cNvPicPr preferRelativeResize="0"/>
          <p:nvPr/>
        </p:nvPicPr>
        <p:blipFill rotWithShape="1">
          <a:blip r:embed="rId3">
            <a:alphaModFix/>
          </a:blip>
          <a:srcRect b="0" l="0" r="81819" t="0"/>
          <a:stretch/>
        </p:blipFill>
        <p:spPr>
          <a:xfrm>
            <a:off x="393600" y="3184250"/>
            <a:ext cx="497200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4}7\dot{3}\ =\ 0.473473473...&quot;&gt;&lt;mn&gt;0.&lt;/mn&gt;&lt;mrow data-mjx-texclass=&quot;ORD&quot;&gt;&lt;mover&gt;&lt;mn&gt;4&lt;/mn&gt;&lt;mo&gt;˙&lt;/mo&gt;&lt;/mover&gt;&lt;/mrow&gt;&lt;mn&gt;7&lt;/mn&gt;&lt;mrow data-mjx-texclass=&quot;ORD&quot;&gt;&lt;mover&gt;&lt;mn&gt;3&lt;/mn&gt;&lt;mo&gt;˙&lt;/mo&gt;&lt;/mover&gt;&lt;/mrow&gt;&lt;mtext&gt;&lt;/mtext&gt;&lt;mo&gt;=&lt;/mo&gt;&lt;mtext&gt;&lt;/mtext&gt;&lt;mn&gt;0.473473473&lt;/mn&gt;&lt;mo&gt;.&lt;/mo&gt;&lt;mo&gt;.&lt;/mo&gt;&lt;mo&gt;.&lt;/mo&gt;&lt;/math&gt;" id="784" name="Google Shape;784;p68" title="the repeating decimal 0 point followed by repeating digits 4 7 3 equals 0.473473473 period period period"/>
          <p:cNvPicPr preferRelativeResize="0"/>
          <p:nvPr/>
        </p:nvPicPr>
        <p:blipFill rotWithShape="1">
          <a:blip r:embed="rId4">
            <a:alphaModFix/>
          </a:blip>
          <a:srcRect b="0" l="0" r="74513" t="0"/>
          <a:stretch/>
        </p:blipFill>
        <p:spPr>
          <a:xfrm>
            <a:off x="3327466" y="4167600"/>
            <a:ext cx="855476" cy="3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8"/>
          <p:cNvSpPr txBox="1"/>
          <p:nvPr/>
        </p:nvSpPr>
        <p:spPr>
          <a:xfrm>
            <a:off x="3255513" y="36437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\dot{3}=0.33333333....&quot;&gt;&lt;mn&gt;0.&lt;/mn&gt;&lt;mrow data-mjx-texclass=&quot;ORD&quot;&gt;&lt;mover&gt;&lt;mn&gt;3&lt;/mn&gt;&lt;mo&gt;˙&lt;/mo&gt;&lt;/mover&gt;&lt;/mrow&gt;&lt;mo&gt;=&lt;/mo&gt;&lt;mn&gt;0.33333333&lt;/mn&gt;&lt;mo&gt;.&lt;/mo&gt;&lt;mo&gt;.&lt;/mo&gt;&lt;mo&gt;.&lt;/mo&gt;&lt;mo&gt;.&lt;/mo&gt;&lt;/math&gt;" id="786" name="Google Shape;786;p68" title="the repeating decimal 0 point followed by repeating digit 3 equals 0.33333333 period period period period"/>
          <p:cNvPicPr preferRelativeResize="0"/>
          <p:nvPr/>
        </p:nvPicPr>
        <p:blipFill rotWithShape="1">
          <a:blip r:embed="rId3">
            <a:alphaModFix/>
          </a:blip>
          <a:srcRect b="0" l="18183" r="2166" t="0"/>
          <a:stretch/>
        </p:blipFill>
        <p:spPr>
          <a:xfrm>
            <a:off x="890800" y="3184250"/>
            <a:ext cx="2178375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\dot{7}\ =\ 0.17171717171....&quot;&gt;&lt;mn&gt;0.&lt;/mn&gt;&lt;mrow data-mjx-texclass=&quot;ORD&quot;&gt;&lt;mover&gt;&lt;mn&gt;1&lt;/mn&gt;&lt;mo&gt;˙&lt;/mo&gt;&lt;/mover&gt;&lt;/mrow&gt;&lt;mrow data-mjx-texclass=&quot;ORD&quot;&gt;&lt;mover&gt;&lt;mn&gt;7&lt;/mn&gt;&lt;mo&gt;˙&lt;/mo&gt;&lt;/mover&gt;&lt;/mrow&gt;&lt;mtext&gt;&lt;/mtext&gt;&lt;mo&gt;=&lt;/mo&gt;&lt;mtext&gt;&lt;/mtext&gt;&lt;mn&gt;0.17171717171&lt;/mn&gt;&lt;mo&gt;.&lt;/mo&gt;&lt;mo&gt;.&lt;/mo&gt;&lt;mo&gt;.&lt;/mo&gt;&lt;mo&gt;.&lt;/mo&gt;&lt;/math&gt;" id="787" name="Google Shape;787;p68" title="the repeating decimal 0 point followed by repeating digits 1 7 equals 0.17171717171 period period period period"/>
          <p:cNvPicPr preferRelativeResize="0"/>
          <p:nvPr/>
        </p:nvPicPr>
        <p:blipFill rotWithShape="1">
          <a:blip r:embed="rId5">
            <a:alphaModFix/>
          </a:blip>
          <a:srcRect b="0" l="19654" r="2287" t="0"/>
          <a:stretch/>
        </p:blipFill>
        <p:spPr>
          <a:xfrm>
            <a:off x="6003000" y="3184250"/>
            <a:ext cx="2817000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4}7\dot{3}\ =\ 0.473473473...&quot;&gt;&lt;mn&gt;0.&lt;/mn&gt;&lt;mrow data-mjx-texclass=&quot;ORD&quot;&gt;&lt;mover&gt;&lt;mn&gt;4&lt;/mn&gt;&lt;mo&gt;˙&lt;/mo&gt;&lt;/mover&gt;&lt;/mrow&gt;&lt;mn&gt;7&lt;/mn&gt;&lt;mrow data-mjx-texclass=&quot;ORD&quot;&gt;&lt;mover&gt;&lt;mn&gt;3&lt;/mn&gt;&lt;mo&gt;˙&lt;/mo&gt;&lt;/mover&gt;&lt;/mrow&gt;&lt;mtext&gt;&lt;/mtext&gt;&lt;mo&gt;=&lt;/mo&gt;&lt;mtext&gt;&lt;/mtext&gt;&lt;mn&gt;0.473473473&lt;/mn&gt;&lt;mo&gt;.&lt;/mo&gt;&lt;mo&gt;.&lt;/mo&gt;&lt;mo&gt;.&lt;/mo&gt;&lt;/math&gt;" id="788" name="Google Shape;788;p68" title="the repeating decimal 0 point followed by repeating digits 4 7 3 equals 0.473473473 period period period"/>
          <p:cNvPicPr preferRelativeResize="0"/>
          <p:nvPr/>
        </p:nvPicPr>
        <p:blipFill rotWithShape="1">
          <a:blip r:embed="rId4">
            <a:alphaModFix/>
          </a:blip>
          <a:srcRect b="0" l="25484" r="0" t="0"/>
          <a:stretch/>
        </p:blipFill>
        <p:spPr>
          <a:xfrm>
            <a:off x="4182952" y="4166975"/>
            <a:ext cx="2501174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\dot{7}\ =\ 0.17171717171....&quot;&gt;&lt;mn&gt;0.&lt;/mn&gt;&lt;mrow data-mjx-texclass=&quot;ORD&quot;&gt;&lt;mover&gt;&lt;mn&gt;1&lt;/mn&gt;&lt;mo&gt;˙&lt;/mo&gt;&lt;/mover&gt;&lt;/mrow&gt;&lt;mrow data-mjx-texclass=&quot;ORD&quot;&gt;&lt;mover&gt;&lt;mn&gt;7&lt;/mn&gt;&lt;mo&gt;˙&lt;/mo&gt;&lt;/mover&gt;&lt;/mrow&gt;&lt;mtext&gt;&lt;/mtext&gt;&lt;mo&gt;=&lt;/mo&gt;&lt;mtext&gt;&lt;/mtext&gt;&lt;mn&gt;0.17171717171&lt;/mn&gt;&lt;mo&gt;.&lt;/mo&gt;&lt;mo&gt;.&lt;/mo&gt;&lt;mo&gt;.&lt;/mo&gt;&lt;mo&gt;.&lt;/mo&gt;&lt;/math&gt;" id="789" name="Google Shape;789;p68" title="the repeating decimal 0 point followed by repeating digits 1 7 equals 0.17171717171 period period period period"/>
          <p:cNvPicPr preferRelativeResize="0"/>
          <p:nvPr/>
        </p:nvPicPr>
        <p:blipFill rotWithShape="1">
          <a:blip r:embed="rId5">
            <a:alphaModFix/>
          </a:blip>
          <a:srcRect b="0" l="0" r="79880" t="0"/>
          <a:stretch/>
        </p:blipFill>
        <p:spPr>
          <a:xfrm>
            <a:off x="5277000" y="3184250"/>
            <a:ext cx="726000" cy="3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795" name="Google Shape;795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sp>
        <p:nvSpPr>
          <p:cNvPr id="796" name="Google Shape;796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pic>
        <p:nvPicPr>
          <p:cNvPr id="797" name="Google Shape;79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324000" y="759300"/>
            <a:ext cx="82377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Scientific calculators are fantastic tools, but it is important to remember that calculators work out what is inputted. </a:t>
            </a:r>
            <a:endParaRPr/>
          </a:p>
        </p:txBody>
      </p:sp>
      <p:sp>
        <p:nvSpPr>
          <p:cNvPr id="803" name="Google Shape;80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24000" y="1749900"/>
            <a:ext cx="82377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incorrect input will give the wrong answer and it is not the fault of the calculator.</a:t>
            </a:r>
            <a:endParaRPr/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324000" y="2740500"/>
            <a:ext cx="82377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Laura wants to work out -3 squared.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She inputs</a:t>
            </a:r>
            <a:endParaRPr/>
          </a:p>
        </p:txBody>
      </p:sp>
      <p:pic>
        <p:nvPicPr>
          <p:cNvPr id="806" name="Google Shape;8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300" y="3731100"/>
            <a:ext cx="2100875" cy="9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0"/>
          <p:cNvSpPr txBox="1"/>
          <p:nvPr/>
        </p:nvSpPr>
        <p:spPr>
          <a:xfrm>
            <a:off x="4145500" y="37311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is her error?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pic>
        <p:nvPicPr>
          <p:cNvPr id="813" name="Google Shape;81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300" y="3731100"/>
            <a:ext cx="2100875" cy="9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1"/>
          <p:cNvSpPr txBox="1"/>
          <p:nvPr/>
        </p:nvSpPr>
        <p:spPr>
          <a:xfrm>
            <a:off x="4145500" y="3731100"/>
            <a:ext cx="4287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should use brackets when inputting negative numbers.</a:t>
            </a:r>
            <a:endParaRPr/>
          </a:p>
        </p:txBody>
      </p:sp>
      <p:sp>
        <p:nvSpPr>
          <p:cNvPr id="815" name="Google Shape;815;p71"/>
          <p:cNvSpPr txBox="1"/>
          <p:nvPr>
            <p:ph idx="1" type="body"/>
          </p:nvPr>
        </p:nvSpPr>
        <p:spPr>
          <a:xfrm>
            <a:off x="324000" y="759300"/>
            <a:ext cx="82377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Scientific calculators are fantastic tools, but it is important to remember that calculators work out what is inputted. </a:t>
            </a:r>
            <a:endParaRPr/>
          </a:p>
        </p:txBody>
      </p:sp>
      <p:sp>
        <p:nvSpPr>
          <p:cNvPr id="816" name="Google Shape;816;p71"/>
          <p:cNvSpPr txBox="1"/>
          <p:nvPr>
            <p:ph idx="1" type="body"/>
          </p:nvPr>
        </p:nvSpPr>
        <p:spPr>
          <a:xfrm>
            <a:off x="324000" y="1749900"/>
            <a:ext cx="82377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incorrect input will give the wrong answer and it is not the fault of the calculator.</a:t>
            </a:r>
            <a:endParaRPr/>
          </a:p>
        </p:txBody>
      </p:sp>
      <p:sp>
        <p:nvSpPr>
          <p:cNvPr id="817" name="Google Shape;817;p71"/>
          <p:cNvSpPr txBox="1"/>
          <p:nvPr>
            <p:ph idx="1" type="body"/>
          </p:nvPr>
        </p:nvSpPr>
        <p:spPr>
          <a:xfrm>
            <a:off x="324000" y="2740500"/>
            <a:ext cx="82377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Laura wants to work out -3 squared.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She inputs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did the calculator work out the answer to be </a:t>
            </a:r>
            <a:r>
              <a:rPr lang="en-GB"/>
              <a:t>-9?</a:t>
            </a:r>
            <a:r>
              <a:rPr lang="en-GB"/>
              <a:t> </a:t>
            </a:r>
            <a:endParaRPr/>
          </a:p>
        </p:txBody>
      </p:sp>
      <p:sp>
        <p:nvSpPr>
          <p:cNvPr id="823" name="Google Shape;82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24000" y="3350100"/>
            <a:ext cx="84960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Scientific calculators have the priority of operations installed, so the calculator was correctly applying the exponent first then making the final answer negative.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25" name="Google Shape;82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363" y="2087750"/>
            <a:ext cx="2100875" cy="9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2"/>
          <p:cNvSpPr txBox="1"/>
          <p:nvPr>
            <p:ph idx="1" type="body"/>
          </p:nvPr>
        </p:nvSpPr>
        <p:spPr>
          <a:xfrm>
            <a:off x="324000" y="11976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not the fault of the calculator.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3"/>
          <p:cNvSpPr txBox="1"/>
          <p:nvPr>
            <p:ph idx="1" type="body"/>
          </p:nvPr>
        </p:nvSpPr>
        <p:spPr>
          <a:xfrm>
            <a:off x="324000" y="759300"/>
            <a:ext cx="8237700" cy="116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 s</a:t>
            </a:r>
            <a:r>
              <a:rPr lang="en-GB"/>
              <a:t>cientific calculators have displays where the calculation you want to work out will look the same on the calculator display. </a:t>
            </a:r>
            <a:endParaRPr/>
          </a:p>
        </p:txBody>
      </p:sp>
      <p:sp>
        <p:nvSpPr>
          <p:cNvPr id="832" name="Google Shape;83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.5+\sqrt[3]{27}-4}{2.8^2}&quot;&gt;&lt;mfrac&gt;&lt;mrow&gt;&lt;mn&gt;3.5&lt;/mn&gt;&lt;mo&gt;+&lt;/mo&gt;&lt;mroot&gt;&lt;mn&gt;27&lt;/mn&gt;&lt;mn&gt;3&lt;/mn&gt;&lt;/mroot&gt;&lt;mo&gt;−&lt;/mo&gt;&lt;mn&gt;4&lt;/mn&gt;&lt;/mrow&gt;&lt;msup&gt;&lt;mn&gt;2.8&lt;/mn&gt;&lt;mn&gt;2&lt;/mn&gt;&lt;/msup&gt;&lt;/mfrac&gt;&lt;/math&gt;" id="833" name="Google Shape;833;p73" title="the fraction with numerator 3.5 plus the cube root of 27 minus 4 and denominator 2.8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250" y="2962313"/>
            <a:ext cx="2318422" cy="10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3"/>
          <p:cNvSpPr txBox="1"/>
          <p:nvPr/>
        </p:nvSpPr>
        <p:spPr>
          <a:xfrm>
            <a:off x="324000" y="21035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</a:t>
            </a:r>
            <a:endParaRPr/>
          </a:p>
        </p:txBody>
      </p:sp>
      <p:sp>
        <p:nvSpPr>
          <p:cNvPr id="835" name="Google Shape;835;p73"/>
          <p:cNvSpPr txBox="1"/>
          <p:nvPr/>
        </p:nvSpPr>
        <p:spPr>
          <a:xfrm>
            <a:off x="2235275" y="4196400"/>
            <a:ext cx="191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Calculation</a:t>
            </a:r>
            <a:endParaRPr/>
          </a:p>
        </p:txBody>
      </p:sp>
      <p:sp>
        <p:nvSpPr>
          <p:cNvPr id="836" name="Google Shape;836;p73"/>
          <p:cNvSpPr txBox="1"/>
          <p:nvPr/>
        </p:nvSpPr>
        <p:spPr>
          <a:xfrm>
            <a:off x="5539800" y="4196400"/>
            <a:ext cx="191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Calculator</a:t>
            </a:r>
            <a:endParaRPr/>
          </a:p>
        </p:txBody>
      </p:sp>
      <p:pic>
        <p:nvPicPr>
          <p:cNvPr id="837" name="Google Shape;83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9547" y="2804575"/>
            <a:ext cx="2724150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3"/>
          <p:cNvSpPr/>
          <p:nvPr/>
        </p:nvSpPr>
        <p:spPr>
          <a:xfrm>
            <a:off x="1597275" y="2663800"/>
            <a:ext cx="2861700" cy="2015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/>
          <p:nvPr/>
        </p:nvSpPr>
        <p:spPr>
          <a:xfrm>
            <a:off x="4940775" y="2663800"/>
            <a:ext cx="2861700" cy="2015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4"/>
          <p:cNvSpPr txBox="1"/>
          <p:nvPr>
            <p:ph idx="1" type="body"/>
          </p:nvPr>
        </p:nvSpPr>
        <p:spPr>
          <a:xfrm>
            <a:off x="324000" y="759300"/>
            <a:ext cx="8378400" cy="116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However, if the input is incorrect, even though it may look the same on the calculator display, different buttons or functions have been used.</a:t>
            </a:r>
            <a:endParaRPr/>
          </a:p>
        </p:txBody>
      </p:sp>
      <p:sp>
        <p:nvSpPr>
          <p:cNvPr id="845" name="Google Shape;84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846" name="Google Shape;846;p74"/>
          <p:cNvSpPr txBox="1"/>
          <p:nvPr/>
        </p:nvSpPr>
        <p:spPr>
          <a:xfrm>
            <a:off x="247800" y="1951125"/>
            <a:ext cx="3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7" name="Google Shape;84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99" y="3723425"/>
            <a:ext cx="2823100" cy="4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 txBox="1"/>
          <p:nvPr/>
        </p:nvSpPr>
        <p:spPr>
          <a:xfrm>
            <a:off x="767625" y="32400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Inputting this</a:t>
            </a:r>
            <a:endParaRPr/>
          </a:p>
        </p:txBody>
      </p:sp>
      <p:pic>
        <p:nvPicPr>
          <p:cNvPr id="849" name="Google Shape;84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225" y="3090913"/>
            <a:ext cx="2358025" cy="1098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&quot;&gt;&lt;mn&gt;2&lt;/mn&gt;&lt;mfrac&gt;&lt;mn&gt;1&lt;/mn&gt;&lt;mn&gt;2&lt;/mn&gt;&lt;/mfrac&gt;&lt;/math&gt;" id="850" name="Google Shape;850;p74" title="2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4600" y="2439370"/>
            <a:ext cx="36272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4300" y="3098100"/>
            <a:ext cx="2358025" cy="1084347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4"/>
          <p:cNvSpPr txBox="1"/>
          <p:nvPr/>
        </p:nvSpPr>
        <p:spPr>
          <a:xfrm>
            <a:off x="247800" y="2484525"/>
            <a:ext cx="105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4"/>
          <p:cNvSpPr txBox="1"/>
          <p:nvPr/>
        </p:nvSpPr>
        <p:spPr>
          <a:xfrm>
            <a:off x="1543200" y="2484525"/>
            <a:ext cx="3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a decimal.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Clearly it is incorrect, but can you explain how the calculator </a:t>
            </a:r>
            <a:r>
              <a:rPr lang="en-GB"/>
              <a:t>worked out the answer to be 1?</a:t>
            </a:r>
            <a:endParaRPr/>
          </a:p>
        </p:txBody>
      </p:sp>
      <p:sp>
        <p:nvSpPr>
          <p:cNvPr id="859" name="Google Shape;85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pic>
        <p:nvPicPr>
          <p:cNvPr id="860" name="Google Shape;86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99" y="3723425"/>
            <a:ext cx="2823100" cy="4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5"/>
          <p:cNvSpPr txBox="1"/>
          <p:nvPr/>
        </p:nvSpPr>
        <p:spPr>
          <a:xfrm>
            <a:off x="767625" y="32400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Inputting this</a:t>
            </a:r>
            <a:endParaRPr/>
          </a:p>
        </p:txBody>
      </p:sp>
      <p:pic>
        <p:nvPicPr>
          <p:cNvPr id="862" name="Google Shape;86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225" y="3090913"/>
            <a:ext cx="2358025" cy="109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4300" y="3098100"/>
            <a:ext cx="2358025" cy="1084347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5"/>
          <p:cNvSpPr txBox="1"/>
          <p:nvPr/>
        </p:nvSpPr>
        <p:spPr>
          <a:xfrm>
            <a:off x="247800" y="1951125"/>
            <a:ext cx="3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frac{1}{2}&quot;&gt;&lt;mn&gt;2&lt;/mn&gt;&lt;mfrac&gt;&lt;mn&gt;1&lt;/mn&gt;&lt;mn&gt;2&lt;/mn&gt;&lt;/mfrac&gt;&lt;/math&gt;" id="865" name="Google Shape;865;p75" title="2 and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4600" y="2439370"/>
            <a:ext cx="36272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5"/>
          <p:cNvSpPr txBox="1"/>
          <p:nvPr/>
        </p:nvSpPr>
        <p:spPr>
          <a:xfrm>
            <a:off x="247800" y="2484525"/>
            <a:ext cx="105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5"/>
          <p:cNvSpPr txBox="1"/>
          <p:nvPr/>
        </p:nvSpPr>
        <p:spPr>
          <a:xfrm>
            <a:off x="1543200" y="2484525"/>
            <a:ext cx="3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a decimal.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Clearly it is incorrect, but can you explain how the calculator worked out the answer to be 1?</a:t>
            </a:r>
            <a:endParaRPr/>
          </a:p>
        </p:txBody>
      </p:sp>
      <p:sp>
        <p:nvSpPr>
          <p:cNvPr id="873" name="Google Shape;87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pic>
        <p:nvPicPr>
          <p:cNvPr id="874" name="Google Shape;87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99" y="3723425"/>
            <a:ext cx="2823100" cy="4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6"/>
          <p:cNvSpPr txBox="1"/>
          <p:nvPr/>
        </p:nvSpPr>
        <p:spPr>
          <a:xfrm>
            <a:off x="767625" y="32400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Inputting this</a:t>
            </a:r>
            <a:endParaRPr/>
          </a:p>
        </p:txBody>
      </p:sp>
      <p:pic>
        <p:nvPicPr>
          <p:cNvPr id="876" name="Google Shape;87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225" y="3090913"/>
            <a:ext cx="2358025" cy="109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4300" y="3098100"/>
            <a:ext cx="2358025" cy="1084347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6"/>
          <p:cNvSpPr txBox="1"/>
          <p:nvPr/>
        </p:nvSpPr>
        <p:spPr>
          <a:xfrm>
            <a:off x="324000" y="1874700"/>
            <a:ext cx="82713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input has told the calculator to multiply 2 by ½ which has then calculated the answer to be 1.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69400"/>
            <a:ext cx="8423200" cy="804184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 txBox="1"/>
          <p:nvPr>
            <p:ph idx="1" type="body"/>
          </p:nvPr>
        </p:nvSpPr>
        <p:spPr>
          <a:xfrm>
            <a:off x="324000" y="683100"/>
            <a:ext cx="82377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button should have been accessed to</a:t>
            </a:r>
            <a:endParaRPr/>
          </a:p>
        </p:txBody>
      </p:sp>
      <p:sp>
        <p:nvSpPr>
          <p:cNvPr id="885" name="Google Shape;88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frac{1}{2}&quot;&gt;&lt;mn&gt;2&lt;/mn&gt;&lt;mfrac&gt;&lt;mn&gt;1&lt;/mn&gt;&lt;mn&gt;2&lt;/mn&gt;&lt;/mfrac&gt;&lt;/math&gt;" id="886" name="Google Shape;886;p77" title="2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225" y="1084545"/>
            <a:ext cx="36272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4000" y="2560400"/>
            <a:ext cx="278130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7"/>
          <p:cNvSpPr txBox="1"/>
          <p:nvPr/>
        </p:nvSpPr>
        <p:spPr>
          <a:xfrm>
            <a:off x="324003" y="4137975"/>
            <a:ext cx="507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Then,</a:t>
            </a:r>
            <a:endParaRPr/>
          </a:p>
        </p:txBody>
      </p:sp>
      <p:pic>
        <p:nvPicPr>
          <p:cNvPr id="889" name="Google Shape;889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65326" y="4056477"/>
            <a:ext cx="571500" cy="5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6300" y="4063439"/>
            <a:ext cx="571500" cy="582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67275" y="4070225"/>
            <a:ext cx="5810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7"/>
          <p:cNvSpPr txBox="1"/>
          <p:nvPr>
            <p:ph idx="1" type="body"/>
          </p:nvPr>
        </p:nvSpPr>
        <p:spPr>
          <a:xfrm>
            <a:off x="324000" y="1216500"/>
            <a:ext cx="1247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</a:t>
            </a:r>
            <a:endParaRPr/>
          </a:p>
        </p:txBody>
      </p:sp>
      <p:sp>
        <p:nvSpPr>
          <p:cNvPr id="893" name="Google Shape;893;p77"/>
          <p:cNvSpPr txBox="1"/>
          <p:nvPr>
            <p:ph idx="1" type="body"/>
          </p:nvPr>
        </p:nvSpPr>
        <p:spPr>
          <a:xfrm>
            <a:off x="1885000" y="1216500"/>
            <a:ext cx="6829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a decimal?</a:t>
            </a:r>
            <a:endParaRPr/>
          </a:p>
        </p:txBody>
      </p:sp>
      <p:grpSp>
        <p:nvGrpSpPr>
          <p:cNvPr id="894" name="Google Shape;894;p77"/>
          <p:cNvGrpSpPr/>
          <p:nvPr/>
        </p:nvGrpSpPr>
        <p:grpSpPr>
          <a:xfrm>
            <a:off x="1136700" y="4137975"/>
            <a:ext cx="5173750" cy="523200"/>
            <a:chOff x="1136700" y="4137975"/>
            <a:chExt cx="5173750" cy="523200"/>
          </a:xfrm>
        </p:grpSpPr>
        <p:sp>
          <p:nvSpPr>
            <p:cNvPr id="895" name="Google Shape;895;p77"/>
            <p:cNvSpPr txBox="1"/>
            <p:nvPr/>
          </p:nvSpPr>
          <p:spPr>
            <a:xfrm>
              <a:off x="1136700" y="4137975"/>
              <a:ext cx="4411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</a:t>
              </a:r>
              <a:endParaRPr/>
            </a:p>
          </p:txBody>
        </p:sp>
        <p:sp>
          <p:nvSpPr>
            <p:cNvPr id="896" name="Google Shape;896;p77"/>
            <p:cNvSpPr txBox="1"/>
            <p:nvPr/>
          </p:nvSpPr>
          <p:spPr>
            <a:xfrm>
              <a:off x="1508775" y="4137975"/>
              <a:ext cx="4191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convert</a:t>
              </a:r>
              <a:endParaRPr/>
            </a:p>
          </p:txBody>
        </p:sp>
        <p:sp>
          <p:nvSpPr>
            <p:cNvPr id="897" name="Google Shape;897;p77"/>
            <p:cNvSpPr txBox="1"/>
            <p:nvPr/>
          </p:nvSpPr>
          <p:spPr>
            <a:xfrm>
              <a:off x="2632425" y="4137975"/>
              <a:ext cx="3220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to</a:t>
              </a:r>
              <a:endParaRPr/>
            </a:p>
          </p:txBody>
        </p:sp>
        <p:sp>
          <p:nvSpPr>
            <p:cNvPr id="898" name="Google Shape;898;p77"/>
            <p:cNvSpPr txBox="1"/>
            <p:nvPr/>
          </p:nvSpPr>
          <p:spPr>
            <a:xfrm>
              <a:off x="2997050" y="4137975"/>
              <a:ext cx="3008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/>
            </a:p>
          </p:txBody>
        </p:sp>
        <p:sp>
          <p:nvSpPr>
            <p:cNvPr id="899" name="Google Shape;899;p77"/>
            <p:cNvSpPr txBox="1"/>
            <p:nvPr/>
          </p:nvSpPr>
          <p:spPr>
            <a:xfrm>
              <a:off x="3244000" y="4137975"/>
              <a:ext cx="2914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decimal</a:t>
              </a:r>
              <a:endParaRPr/>
            </a:p>
          </p:txBody>
        </p:sp>
        <p:sp>
          <p:nvSpPr>
            <p:cNvPr id="900" name="Google Shape;900;p77"/>
            <p:cNvSpPr txBox="1"/>
            <p:nvPr/>
          </p:nvSpPr>
          <p:spPr>
            <a:xfrm>
              <a:off x="4381150" y="4137975"/>
              <a:ext cx="1929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press 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8"/>
          <p:cNvSpPr/>
          <p:nvPr/>
        </p:nvSpPr>
        <p:spPr>
          <a:xfrm>
            <a:off x="5546537" y="3065194"/>
            <a:ext cx="2767200" cy="16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8"/>
          <p:cNvSpPr/>
          <p:nvPr/>
        </p:nvSpPr>
        <p:spPr>
          <a:xfrm>
            <a:off x="533225" y="3065211"/>
            <a:ext cx="2767200" cy="16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8"/>
          <p:cNvSpPr txBox="1"/>
          <p:nvPr>
            <p:ph idx="1" type="body"/>
          </p:nvPr>
        </p:nvSpPr>
        <p:spPr>
          <a:xfrm>
            <a:off x="324000" y="759300"/>
            <a:ext cx="82377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Aisha and Alex are working out the following calculation.</a:t>
            </a:r>
            <a:endParaRPr sz="2100"/>
          </a:p>
        </p:txBody>
      </p:sp>
      <p:sp>
        <p:nvSpPr>
          <p:cNvPr id="908" name="Google Shape;90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909" name="Google Shape;909;p78"/>
          <p:cNvSpPr/>
          <p:nvPr/>
        </p:nvSpPr>
        <p:spPr>
          <a:xfrm>
            <a:off x="4958075" y="1227600"/>
            <a:ext cx="1844400" cy="1045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8"/>
          <p:cNvSpPr txBox="1"/>
          <p:nvPr/>
        </p:nvSpPr>
        <p:spPr>
          <a:xfrm>
            <a:off x="5876550" y="2349750"/>
            <a:ext cx="571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8"/>
          <p:cNvSpPr txBox="1"/>
          <p:nvPr/>
        </p:nvSpPr>
        <p:spPr>
          <a:xfrm>
            <a:off x="4520775" y="1552650"/>
            <a:ext cx="571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8"/>
          <p:cNvSpPr txBox="1"/>
          <p:nvPr/>
        </p:nvSpPr>
        <p:spPr>
          <a:xfrm>
            <a:off x="835450" y="1452800"/>
            <a:ext cx="3900000" cy="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area of the rectangle.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 \ \ \ \frac{5}{9}&quot;&gt;&lt;mfrac&gt;&lt;mn&gt;1&lt;/mn&gt;&lt;mn&gt;3&lt;/mn&gt;&lt;/mfrac&gt;&lt;mtext&gt;&lt;/mtext&gt;&lt;mtext&gt;&lt;/mtext&gt;&lt;mtext&gt;&lt;/mtext&gt;&lt;mtext&gt;&lt;/mtext&gt;&lt;mfrac&gt;&lt;mn&gt;5&lt;/mn&gt;&lt;mn&gt;9&lt;/mn&gt;&lt;/mfrac&gt;&lt;/math&gt;" id="913" name="Google Shape;913;p78" title="one third five ninths"/>
          <p:cNvPicPr preferRelativeResize="0"/>
          <p:nvPr/>
        </p:nvPicPr>
        <p:blipFill rotWithShape="1">
          <a:blip r:embed="rId3">
            <a:alphaModFix/>
          </a:blip>
          <a:srcRect b="0" l="0" r="69870" t="0"/>
          <a:stretch/>
        </p:blipFill>
        <p:spPr>
          <a:xfrm>
            <a:off x="4339663" y="1525800"/>
            <a:ext cx="206375" cy="571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5}{9}&quot;&gt;&lt;mfrac&gt;&lt;mn&gt;1&lt;/mn&gt;&lt;mn&gt;3&lt;/mn&gt;&lt;/mfrac&gt;&lt;mtext&gt;&lt;/mtext&gt;&lt;mtext&gt;&lt;/mtext&gt;&lt;mtext&gt;&lt;/mtext&gt;&lt;mtext&gt;&lt;/mtext&gt;&lt;mfrac&gt;&lt;mn&gt;5&lt;/mn&gt;&lt;mn&gt;9&lt;/mn&gt;&lt;/mfrac&gt;&lt;/math&gt;" id="914" name="Google Shape;914;p78" title="one third five ninths"/>
          <p:cNvPicPr preferRelativeResize="0"/>
          <p:nvPr/>
        </p:nvPicPr>
        <p:blipFill rotWithShape="1">
          <a:blip r:embed="rId3">
            <a:alphaModFix/>
          </a:blip>
          <a:srcRect b="0" l="69870" r="0" t="0"/>
          <a:stretch/>
        </p:blipFill>
        <p:spPr>
          <a:xfrm>
            <a:off x="5672261" y="2378288"/>
            <a:ext cx="204280" cy="56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5}{9}=\frac{5}{27}\ \ \ \ \ \ \ \ \ 0.33\times0.56\ =\ 0.1848\ =\ \frac{231}{1250}&quot;&gt;&lt;mfrac&gt;&lt;mn&gt;1&lt;/mn&gt;&lt;mn&gt;3&lt;/mn&gt;&lt;/mfrac&gt;&lt;mo&gt;×&lt;/mo&gt;&lt;mfrac&gt;&lt;mn&gt;5&lt;/mn&gt;&lt;mn&gt;9&lt;/mn&gt;&lt;/mfrac&gt;&lt;mo&gt;=&lt;/mo&gt;&lt;mfrac&gt;&lt;mn&gt;5&lt;/mn&gt;&lt;mn&gt;27&lt;/mn&gt;&lt;/mfrac&gt;&lt;mtext&gt;&lt;/mtext&gt;&lt;mtext&gt;&lt;/mtext&gt;&lt;mtext&gt;&lt;/mtext&gt;&lt;mtext&gt;&lt;/mtext&gt;&lt;mtext&gt;&lt;/mtext&gt;&lt;mtext&gt;&lt;/mtext&gt;&lt;mtext&gt;&lt;/mtext&gt;&lt;mtext&gt;&lt;/mtext&gt;&lt;mtext&gt;&lt;/mtext&gt;&lt;mn&gt;0.33&lt;/mn&gt;&lt;mo&gt;×&lt;/mo&gt;&lt;mn&gt;0.56&lt;/mn&gt;&lt;mtext&gt;&lt;/mtext&gt;&lt;mo&gt;=&lt;/mo&gt;&lt;mtext&gt;&lt;/mtext&gt;&lt;mn&gt;0.1848&lt;/mn&gt;&lt;mtext&gt;&lt;/mtext&gt;&lt;mo&gt;=&lt;/mo&gt;&lt;mtext&gt;&lt;/mtext&gt;&lt;mfrac&gt;&lt;mn&gt;231&lt;/mn&gt;&lt;mn&gt;1250&lt;/mn&gt;&lt;/mfrac&gt;&lt;/math&gt;" id="915" name="Google Shape;915;p78" title="one third times five ninths equals 5 over 27 0.33 times 0.56 equals 0.1848 equals 231 over 1250"/>
          <p:cNvPicPr preferRelativeResize="0"/>
          <p:nvPr/>
        </p:nvPicPr>
        <p:blipFill rotWithShape="1">
          <a:blip r:embed="rId4">
            <a:alphaModFix/>
          </a:blip>
          <a:srcRect b="0" l="0" r="73110" t="0"/>
          <a:stretch/>
        </p:blipFill>
        <p:spPr>
          <a:xfrm>
            <a:off x="847025" y="3639000"/>
            <a:ext cx="1987199" cy="75271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8"/>
          <p:cNvSpPr txBox="1"/>
          <p:nvPr>
            <p:ph idx="1" type="body"/>
          </p:nvPr>
        </p:nvSpPr>
        <p:spPr>
          <a:xfrm>
            <a:off x="735150" y="3231650"/>
            <a:ext cx="25089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Aisha’s working out:</a:t>
            </a:r>
            <a:endParaRPr sz="1900"/>
          </a:p>
        </p:txBody>
      </p:sp>
      <p:sp>
        <p:nvSpPr>
          <p:cNvPr id="917" name="Google Shape;917;p78"/>
          <p:cNvSpPr txBox="1"/>
          <p:nvPr>
            <p:ph idx="1" type="body"/>
          </p:nvPr>
        </p:nvSpPr>
        <p:spPr>
          <a:xfrm>
            <a:off x="5823750" y="3155450"/>
            <a:ext cx="25089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Alex’s working out: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1}{3}\times\frac{5}{9}=\frac{5}{27}\ \ \ \ \ \ \ \ \ 0.33\times0.56\ =\ 0.1848\ =\ \frac{231}{1250}&quot;&gt;&lt;mfrac&gt;&lt;mn&gt;1&lt;/mn&gt;&lt;mn&gt;3&lt;/mn&gt;&lt;/mfrac&gt;&lt;mo&gt;×&lt;/mo&gt;&lt;mfrac&gt;&lt;mn&gt;5&lt;/mn&gt;&lt;mn&gt;9&lt;/mn&gt;&lt;/mfrac&gt;&lt;mo&gt;=&lt;/mo&gt;&lt;mfrac&gt;&lt;mn&gt;5&lt;/mn&gt;&lt;mn&gt;27&lt;/mn&gt;&lt;/mfrac&gt;&lt;mtext&gt;&lt;/mtext&gt;&lt;mtext&gt;&lt;/mtext&gt;&lt;mtext&gt;&lt;/mtext&gt;&lt;mtext&gt;&lt;/mtext&gt;&lt;mtext&gt;&lt;/mtext&gt;&lt;mtext&gt;&lt;/mtext&gt;&lt;mtext&gt;&lt;/mtext&gt;&lt;mtext&gt;&lt;/mtext&gt;&lt;mtext&gt;&lt;/mtext&gt;&lt;mn&gt;0.33&lt;/mn&gt;&lt;mo&gt;×&lt;/mo&gt;&lt;mn&gt;0.56&lt;/mn&gt;&lt;mtext&gt;&lt;/mtext&gt;&lt;mo&gt;=&lt;/mo&gt;&lt;mtext&gt;&lt;/mtext&gt;&lt;mn&gt;0.1848&lt;/mn&gt;&lt;mtext&gt;&lt;/mtext&gt;&lt;mo&gt;=&lt;/mo&gt;&lt;mtext&gt;&lt;/mtext&gt;&lt;mfrac&gt;&lt;mn&gt;231&lt;/mn&gt;&lt;mn&gt;1250&lt;/mn&gt;&lt;/mfrac&gt;&lt;/math&gt;" id="918" name="Google Shape;918;p78" title="one third times five ninths equals 5 over 27 0.33 times 0.56 equals 0.1848 equals 231 over 1250"/>
          <p:cNvPicPr preferRelativeResize="0"/>
          <p:nvPr/>
        </p:nvPicPr>
        <p:blipFill rotWithShape="1">
          <a:blip r:embed="rId4">
            <a:alphaModFix/>
          </a:blip>
          <a:srcRect b="0" l="34604" r="35498" t="0"/>
          <a:stretch/>
        </p:blipFill>
        <p:spPr>
          <a:xfrm>
            <a:off x="5875800" y="3506000"/>
            <a:ext cx="1844399" cy="628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5}{9}=\frac{5}{27}\ \ \ \ \ \ \ \ \ 0.33\times0.56\ =\ 0.1848\ =\ \frac{231}{1250}&quot;&gt;&lt;mfrac&gt;&lt;mn&gt;1&lt;/mn&gt;&lt;mn&gt;3&lt;/mn&gt;&lt;/mfrac&gt;&lt;mo&gt;×&lt;/mo&gt;&lt;mfrac&gt;&lt;mn&gt;5&lt;/mn&gt;&lt;mn&gt;9&lt;/mn&gt;&lt;/mfrac&gt;&lt;mo&gt;=&lt;/mo&gt;&lt;mfrac&gt;&lt;mn&gt;5&lt;/mn&gt;&lt;mn&gt;27&lt;/mn&gt;&lt;/mfrac&gt;&lt;mtext&gt;&lt;/mtext&gt;&lt;mtext&gt;&lt;/mtext&gt;&lt;mtext&gt;&lt;/mtext&gt;&lt;mtext&gt;&lt;/mtext&gt;&lt;mtext&gt;&lt;/mtext&gt;&lt;mtext&gt;&lt;/mtext&gt;&lt;mtext&gt;&lt;/mtext&gt;&lt;mtext&gt;&lt;/mtext&gt;&lt;mtext&gt;&lt;/mtext&gt;&lt;mn&gt;0.33&lt;/mn&gt;&lt;mo&gt;×&lt;/mo&gt;&lt;mn&gt;0.56&lt;/mn&gt;&lt;mtext&gt;&lt;/mtext&gt;&lt;mo&gt;=&lt;/mo&gt;&lt;mtext&gt;&lt;/mtext&gt;&lt;mn&gt;0.1848&lt;/mn&gt;&lt;mtext&gt;&lt;/mtext&gt;&lt;mo&gt;=&lt;/mo&gt;&lt;mtext&gt;&lt;/mtext&gt;&lt;mfrac&gt;&lt;mn&gt;231&lt;/mn&gt;&lt;mn&gt;1250&lt;/mn&gt;&lt;/mfrac&gt;&lt;/math&gt;" id="919" name="Google Shape;919;p78" title="one third times five ninths equals 5 over 27 0.33 times 0.56 equals 0.1848 equals 231 over 1250"/>
          <p:cNvPicPr preferRelativeResize="0"/>
          <p:nvPr/>
        </p:nvPicPr>
        <p:blipFill rotWithShape="1">
          <a:blip r:embed="rId4">
            <a:alphaModFix/>
          </a:blip>
          <a:srcRect b="-10728" l="64813" r="-423" t="-12303"/>
          <a:stretch/>
        </p:blipFill>
        <p:spPr>
          <a:xfrm>
            <a:off x="5699550" y="3933450"/>
            <a:ext cx="2196901" cy="7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8"/>
          <p:cNvSpPr txBox="1"/>
          <p:nvPr/>
        </p:nvSpPr>
        <p:spPr>
          <a:xfrm>
            <a:off x="3633300" y="3245238"/>
            <a:ext cx="1677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more accurate and why?</a:t>
            </a:r>
            <a:endParaRPr/>
          </a:p>
        </p:txBody>
      </p:sp>
      <p:sp>
        <p:nvSpPr>
          <p:cNvPr id="921" name="Google Shape;921;p78"/>
          <p:cNvSpPr txBox="1"/>
          <p:nvPr/>
        </p:nvSpPr>
        <p:spPr>
          <a:xfrm>
            <a:off x="2672525" y="3817513"/>
            <a:ext cx="627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8"/>
          <p:cNvSpPr txBox="1"/>
          <p:nvPr/>
        </p:nvSpPr>
        <p:spPr>
          <a:xfrm>
            <a:off x="7829900" y="4084013"/>
            <a:ext cx="627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9"/>
          <p:cNvSpPr/>
          <p:nvPr/>
        </p:nvSpPr>
        <p:spPr>
          <a:xfrm>
            <a:off x="5546537" y="3065194"/>
            <a:ext cx="2767200" cy="16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9"/>
          <p:cNvSpPr/>
          <p:nvPr/>
        </p:nvSpPr>
        <p:spPr>
          <a:xfrm>
            <a:off x="533225" y="3065211"/>
            <a:ext cx="2767200" cy="16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930" name="Google Shape;930;p79"/>
          <p:cNvSpPr/>
          <p:nvPr/>
        </p:nvSpPr>
        <p:spPr>
          <a:xfrm>
            <a:off x="4958075" y="1227600"/>
            <a:ext cx="1844400" cy="1045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9"/>
          <p:cNvSpPr txBox="1"/>
          <p:nvPr/>
        </p:nvSpPr>
        <p:spPr>
          <a:xfrm>
            <a:off x="5876550" y="2349750"/>
            <a:ext cx="571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9"/>
          <p:cNvSpPr txBox="1"/>
          <p:nvPr/>
        </p:nvSpPr>
        <p:spPr>
          <a:xfrm>
            <a:off x="4520775" y="1552650"/>
            <a:ext cx="571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 \ \ \ \frac{5}{9}&quot;&gt;&lt;mfrac&gt;&lt;mn&gt;1&lt;/mn&gt;&lt;mn&gt;3&lt;/mn&gt;&lt;/mfrac&gt;&lt;mtext&gt;&lt;/mtext&gt;&lt;mtext&gt;&lt;/mtext&gt;&lt;mtext&gt;&lt;/mtext&gt;&lt;mtext&gt;&lt;/mtext&gt;&lt;mfrac&gt;&lt;mn&gt;5&lt;/mn&gt;&lt;mn&gt;9&lt;/mn&gt;&lt;/mfrac&gt;&lt;/math&gt;" id="933" name="Google Shape;933;p79" title="one third five ninths"/>
          <p:cNvPicPr preferRelativeResize="0"/>
          <p:nvPr/>
        </p:nvPicPr>
        <p:blipFill rotWithShape="1">
          <a:blip r:embed="rId3">
            <a:alphaModFix/>
          </a:blip>
          <a:srcRect b="0" l="0" r="69870" t="0"/>
          <a:stretch/>
        </p:blipFill>
        <p:spPr>
          <a:xfrm>
            <a:off x="4339663" y="1525800"/>
            <a:ext cx="206375" cy="571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5}{9}&quot;&gt;&lt;mfrac&gt;&lt;mn&gt;1&lt;/mn&gt;&lt;mn&gt;3&lt;/mn&gt;&lt;/mfrac&gt;&lt;mtext&gt;&lt;/mtext&gt;&lt;mtext&gt;&lt;/mtext&gt;&lt;mtext&gt;&lt;/mtext&gt;&lt;mtext&gt;&lt;/mtext&gt;&lt;mfrac&gt;&lt;mn&gt;5&lt;/mn&gt;&lt;mn&gt;9&lt;/mn&gt;&lt;/mfrac&gt;&lt;/math&gt;" id="934" name="Google Shape;934;p79" title="one third five ninths"/>
          <p:cNvPicPr preferRelativeResize="0"/>
          <p:nvPr/>
        </p:nvPicPr>
        <p:blipFill rotWithShape="1">
          <a:blip r:embed="rId3">
            <a:alphaModFix/>
          </a:blip>
          <a:srcRect b="0" l="69870" r="0" t="0"/>
          <a:stretch/>
        </p:blipFill>
        <p:spPr>
          <a:xfrm>
            <a:off x="5672261" y="2378288"/>
            <a:ext cx="204280" cy="56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5}{9}=\frac{5}{27}\ \ \ \ \ \ \ \ \ 0.33\times0.56\ =\ 0.1848\ =\ \frac{231}{1250}&quot;&gt;&lt;mfrac&gt;&lt;mn&gt;1&lt;/mn&gt;&lt;mn&gt;3&lt;/mn&gt;&lt;/mfrac&gt;&lt;mo&gt;×&lt;/mo&gt;&lt;mfrac&gt;&lt;mn&gt;5&lt;/mn&gt;&lt;mn&gt;9&lt;/mn&gt;&lt;/mfrac&gt;&lt;mo&gt;=&lt;/mo&gt;&lt;mfrac&gt;&lt;mn&gt;5&lt;/mn&gt;&lt;mn&gt;27&lt;/mn&gt;&lt;/mfrac&gt;&lt;mtext&gt;&lt;/mtext&gt;&lt;mtext&gt;&lt;/mtext&gt;&lt;mtext&gt;&lt;/mtext&gt;&lt;mtext&gt;&lt;/mtext&gt;&lt;mtext&gt;&lt;/mtext&gt;&lt;mtext&gt;&lt;/mtext&gt;&lt;mtext&gt;&lt;/mtext&gt;&lt;mtext&gt;&lt;/mtext&gt;&lt;mtext&gt;&lt;/mtext&gt;&lt;mn&gt;0.33&lt;/mn&gt;&lt;mo&gt;×&lt;/mo&gt;&lt;mn&gt;0.56&lt;/mn&gt;&lt;mtext&gt;&lt;/mtext&gt;&lt;mo&gt;=&lt;/mo&gt;&lt;mtext&gt;&lt;/mtext&gt;&lt;mn&gt;0.1848&lt;/mn&gt;&lt;mtext&gt;&lt;/mtext&gt;&lt;mo&gt;=&lt;/mo&gt;&lt;mtext&gt;&lt;/mtext&gt;&lt;mfrac&gt;&lt;mn&gt;231&lt;/mn&gt;&lt;mn&gt;1250&lt;/mn&gt;&lt;/mfrac&gt;&lt;/math&gt;" id="935" name="Google Shape;935;p79" title="one third times five ninths equals 5 over 27 0.33 times 0.56 equals 0.1848 equals 231 over 1250"/>
          <p:cNvPicPr preferRelativeResize="0"/>
          <p:nvPr/>
        </p:nvPicPr>
        <p:blipFill rotWithShape="1">
          <a:blip r:embed="rId4">
            <a:alphaModFix/>
          </a:blip>
          <a:srcRect b="0" l="0" r="73110" t="0"/>
          <a:stretch/>
        </p:blipFill>
        <p:spPr>
          <a:xfrm>
            <a:off x="847025" y="3639000"/>
            <a:ext cx="1987199" cy="75271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9"/>
          <p:cNvSpPr txBox="1"/>
          <p:nvPr>
            <p:ph idx="1" type="body"/>
          </p:nvPr>
        </p:nvSpPr>
        <p:spPr>
          <a:xfrm>
            <a:off x="735150" y="3231650"/>
            <a:ext cx="25089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Aisha’s working out:</a:t>
            </a:r>
            <a:endParaRPr sz="1900"/>
          </a:p>
        </p:txBody>
      </p:sp>
      <p:sp>
        <p:nvSpPr>
          <p:cNvPr id="937" name="Google Shape;937;p79"/>
          <p:cNvSpPr txBox="1"/>
          <p:nvPr>
            <p:ph idx="1" type="body"/>
          </p:nvPr>
        </p:nvSpPr>
        <p:spPr>
          <a:xfrm>
            <a:off x="5823750" y="3155450"/>
            <a:ext cx="25089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Alex’s working out: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1}{3}\times\frac{5}{9}=\frac{5}{27}\ \ \ \ \ \ \ \ \ 0.33\times0.56\ =\ 0.1848\ =\ \frac{231}{1250}&quot;&gt;&lt;mfrac&gt;&lt;mn&gt;1&lt;/mn&gt;&lt;mn&gt;3&lt;/mn&gt;&lt;/mfrac&gt;&lt;mo&gt;×&lt;/mo&gt;&lt;mfrac&gt;&lt;mn&gt;5&lt;/mn&gt;&lt;mn&gt;9&lt;/mn&gt;&lt;/mfrac&gt;&lt;mo&gt;=&lt;/mo&gt;&lt;mfrac&gt;&lt;mn&gt;5&lt;/mn&gt;&lt;mn&gt;27&lt;/mn&gt;&lt;/mfrac&gt;&lt;mtext&gt;&lt;/mtext&gt;&lt;mtext&gt;&lt;/mtext&gt;&lt;mtext&gt;&lt;/mtext&gt;&lt;mtext&gt;&lt;/mtext&gt;&lt;mtext&gt;&lt;/mtext&gt;&lt;mtext&gt;&lt;/mtext&gt;&lt;mtext&gt;&lt;/mtext&gt;&lt;mtext&gt;&lt;/mtext&gt;&lt;mtext&gt;&lt;/mtext&gt;&lt;mn&gt;0.33&lt;/mn&gt;&lt;mo&gt;×&lt;/mo&gt;&lt;mn&gt;0.56&lt;/mn&gt;&lt;mtext&gt;&lt;/mtext&gt;&lt;mo&gt;=&lt;/mo&gt;&lt;mtext&gt;&lt;/mtext&gt;&lt;mn&gt;0.1848&lt;/mn&gt;&lt;mtext&gt;&lt;/mtext&gt;&lt;mo&gt;=&lt;/mo&gt;&lt;mtext&gt;&lt;/mtext&gt;&lt;mfrac&gt;&lt;mn&gt;231&lt;/mn&gt;&lt;mn&gt;1250&lt;/mn&gt;&lt;/mfrac&gt;&lt;/math&gt;" id="938" name="Google Shape;938;p79" title="one third times five ninths equals 5 over 27 0.33 times 0.56 equals 0.1848 equals 231 over 1250"/>
          <p:cNvPicPr preferRelativeResize="0"/>
          <p:nvPr/>
        </p:nvPicPr>
        <p:blipFill rotWithShape="1">
          <a:blip r:embed="rId4">
            <a:alphaModFix/>
          </a:blip>
          <a:srcRect b="0" l="34604" r="35498" t="0"/>
          <a:stretch/>
        </p:blipFill>
        <p:spPr>
          <a:xfrm>
            <a:off x="5875800" y="3506000"/>
            <a:ext cx="1844399" cy="628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5}{9}=\frac{5}{27}\ \ \ \ \ \ \ \ \ 0.33\times0.56\ =\ 0.1848\ =\ \frac{231}{1250}&quot;&gt;&lt;mfrac&gt;&lt;mn&gt;1&lt;/mn&gt;&lt;mn&gt;3&lt;/mn&gt;&lt;/mfrac&gt;&lt;mo&gt;×&lt;/mo&gt;&lt;mfrac&gt;&lt;mn&gt;5&lt;/mn&gt;&lt;mn&gt;9&lt;/mn&gt;&lt;/mfrac&gt;&lt;mo&gt;=&lt;/mo&gt;&lt;mfrac&gt;&lt;mn&gt;5&lt;/mn&gt;&lt;mn&gt;27&lt;/mn&gt;&lt;/mfrac&gt;&lt;mtext&gt;&lt;/mtext&gt;&lt;mtext&gt;&lt;/mtext&gt;&lt;mtext&gt;&lt;/mtext&gt;&lt;mtext&gt;&lt;/mtext&gt;&lt;mtext&gt;&lt;/mtext&gt;&lt;mtext&gt;&lt;/mtext&gt;&lt;mtext&gt;&lt;/mtext&gt;&lt;mtext&gt;&lt;/mtext&gt;&lt;mtext&gt;&lt;/mtext&gt;&lt;mn&gt;0.33&lt;/mn&gt;&lt;mo&gt;×&lt;/mo&gt;&lt;mn&gt;0.56&lt;/mn&gt;&lt;mtext&gt;&lt;/mtext&gt;&lt;mo&gt;=&lt;/mo&gt;&lt;mtext&gt;&lt;/mtext&gt;&lt;mn&gt;0.1848&lt;/mn&gt;&lt;mtext&gt;&lt;/mtext&gt;&lt;mo&gt;=&lt;/mo&gt;&lt;mtext&gt;&lt;/mtext&gt;&lt;mfrac&gt;&lt;mn&gt;231&lt;/mn&gt;&lt;mn&gt;1250&lt;/mn&gt;&lt;/mfrac&gt;&lt;/math&gt;" id="939" name="Google Shape;939;p79" title="one third times five ninths equals 5 over 27 0.33 times 0.56 equals 0.1848 equals 231 over 1250"/>
          <p:cNvPicPr preferRelativeResize="0"/>
          <p:nvPr/>
        </p:nvPicPr>
        <p:blipFill rotWithShape="1">
          <a:blip r:embed="rId4">
            <a:alphaModFix/>
          </a:blip>
          <a:srcRect b="-10728" l="64813" r="-423" t="-12303"/>
          <a:stretch/>
        </p:blipFill>
        <p:spPr>
          <a:xfrm>
            <a:off x="5699550" y="3933450"/>
            <a:ext cx="2196901" cy="7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9"/>
          <p:cNvSpPr txBox="1"/>
          <p:nvPr/>
        </p:nvSpPr>
        <p:spPr>
          <a:xfrm>
            <a:off x="3372275" y="2700600"/>
            <a:ext cx="21024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because the recurring decimal is exactly represented as a fraction and not rounded.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1" name="Google Shape;941;p79"/>
          <p:cNvSpPr txBox="1"/>
          <p:nvPr/>
        </p:nvSpPr>
        <p:spPr>
          <a:xfrm>
            <a:off x="2672525" y="3817513"/>
            <a:ext cx="627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9"/>
          <p:cNvSpPr txBox="1"/>
          <p:nvPr/>
        </p:nvSpPr>
        <p:spPr>
          <a:xfrm>
            <a:off x="7829900" y="4084013"/>
            <a:ext cx="627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9"/>
          <p:cNvSpPr txBox="1"/>
          <p:nvPr/>
        </p:nvSpPr>
        <p:spPr>
          <a:xfrm>
            <a:off x="835450" y="1452800"/>
            <a:ext cx="3900000" cy="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area of the rectangle.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9"/>
          <p:cNvSpPr txBox="1"/>
          <p:nvPr>
            <p:ph idx="1" type="body"/>
          </p:nvPr>
        </p:nvSpPr>
        <p:spPr>
          <a:xfrm>
            <a:off x="324000" y="759300"/>
            <a:ext cx="82377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Aisha and Alex are working out the following calculation.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8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Circle the</a:t>
            </a:r>
            <a:r>
              <a:rPr lang="en-GB"/>
              <a:t> correct and/or accurate calculation on the calculator display for the following:</a:t>
            </a:r>
            <a:endParaRPr/>
          </a:p>
        </p:txBody>
      </p:sp>
      <p:sp>
        <p:nvSpPr>
          <p:cNvPr id="950" name="Google Shape;950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951" name="Google Shape;951;p80"/>
          <p:cNvSpPr txBox="1"/>
          <p:nvPr/>
        </p:nvSpPr>
        <p:spPr>
          <a:xfrm>
            <a:off x="933825" y="1686975"/>
            <a:ext cx="2135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square of negative 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0"/>
          <p:cNvSpPr txBox="1"/>
          <p:nvPr/>
        </p:nvSpPr>
        <p:spPr>
          <a:xfrm>
            <a:off x="933825" y="2971500"/>
            <a:ext cx="3765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0.3333… + 0.3333…. + 0.3333…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0"/>
          <p:cNvSpPr txBox="1"/>
          <p:nvPr/>
        </p:nvSpPr>
        <p:spPr>
          <a:xfrm>
            <a:off x="933825" y="3797900"/>
            <a:ext cx="2605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multiplied by ¾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4" name="Google Shape;95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463" y="1615930"/>
            <a:ext cx="2031079" cy="93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4600" y="1615926"/>
            <a:ext cx="2135623" cy="9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0"/>
          <p:cNvSpPr txBox="1"/>
          <p:nvPr/>
        </p:nvSpPr>
        <p:spPr>
          <a:xfrm>
            <a:off x="387475" y="1827300"/>
            <a:ext cx="54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0"/>
          <p:cNvSpPr txBox="1"/>
          <p:nvPr/>
        </p:nvSpPr>
        <p:spPr>
          <a:xfrm>
            <a:off x="387475" y="2965000"/>
            <a:ext cx="54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0"/>
          <p:cNvSpPr txBox="1"/>
          <p:nvPr/>
        </p:nvSpPr>
        <p:spPr>
          <a:xfrm>
            <a:off x="387475" y="3797900"/>
            <a:ext cx="54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9" name="Google Shape;95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7950" y="2809650"/>
            <a:ext cx="1911125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8575" y="2812600"/>
            <a:ext cx="1943509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6525" y="3780000"/>
            <a:ext cx="1854000" cy="8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3326" y="3761600"/>
            <a:ext cx="1854000" cy="860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Andeep, Jun and Jacob want to buy a cake and divide the amount equally between them.</a:t>
            </a:r>
            <a:endParaRPr/>
          </a:p>
        </p:txBody>
      </p:sp>
      <p:sp>
        <p:nvSpPr>
          <p:cNvPr id="968" name="Google Shape;968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Correct inputs</a:t>
            </a:r>
            <a:endParaRPr/>
          </a:p>
        </p:txBody>
      </p:sp>
      <p:grpSp>
        <p:nvGrpSpPr>
          <p:cNvPr id="969" name="Google Shape;969;p81"/>
          <p:cNvGrpSpPr/>
          <p:nvPr/>
        </p:nvGrpSpPr>
        <p:grpSpPr>
          <a:xfrm>
            <a:off x="3429388" y="1541925"/>
            <a:ext cx="3225813" cy="1206650"/>
            <a:chOff x="3429388" y="1541925"/>
            <a:chExt cx="3225813" cy="1206650"/>
          </a:xfrm>
        </p:grpSpPr>
        <p:pic>
          <p:nvPicPr>
            <p:cNvPr id="970" name="Google Shape;970;p81"/>
            <p:cNvPicPr preferRelativeResize="0"/>
            <p:nvPr/>
          </p:nvPicPr>
          <p:blipFill rotWithShape="1">
            <a:blip r:embed="rId3">
              <a:alphaModFix/>
            </a:blip>
            <a:srcRect b="0" l="0" r="0" t="39320"/>
            <a:stretch/>
          </p:blipFill>
          <p:spPr>
            <a:xfrm>
              <a:off x="3429388" y="1571425"/>
              <a:ext cx="2026924" cy="117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81"/>
            <p:cNvSpPr/>
            <p:nvPr/>
          </p:nvSpPr>
          <p:spPr>
            <a:xfrm>
              <a:off x="5400200" y="1541925"/>
              <a:ext cx="1255000" cy="713050"/>
            </a:xfrm>
            <a:prstGeom prst="flowChartDecision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£13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2" name="Google Shape;972;p81"/>
            <p:cNvCxnSpPr>
              <a:stCxn id="971" idx="1"/>
            </p:cNvCxnSpPr>
            <p:nvPr/>
          </p:nvCxnSpPr>
          <p:spPr>
            <a:xfrm flipH="1">
              <a:off x="5210000" y="1898450"/>
              <a:ext cx="190200" cy="499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3" name="Google Shape;973;p81"/>
          <p:cNvSpPr txBox="1"/>
          <p:nvPr>
            <p:ph idx="1" type="body"/>
          </p:nvPr>
        </p:nvSpPr>
        <p:spPr>
          <a:xfrm>
            <a:off x="324000" y="2816700"/>
            <a:ext cx="82377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student pays the cake shop manager £4.33 each.</a:t>
            </a:r>
            <a:endParaRPr/>
          </a:p>
        </p:txBody>
      </p:sp>
      <p:sp>
        <p:nvSpPr>
          <p:cNvPr id="974" name="Google Shape;974;p81"/>
          <p:cNvSpPr txBox="1"/>
          <p:nvPr>
            <p:ph idx="1" type="body"/>
          </p:nvPr>
        </p:nvSpPr>
        <p:spPr>
          <a:xfrm>
            <a:off x="324000" y="3350100"/>
            <a:ext cx="82377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Explain why the cake shop manager is not going to give them the cake.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Circle the correct and/or accurate calculation on the calculator display for the following:</a:t>
            </a:r>
            <a:endParaRPr/>
          </a:p>
        </p:txBody>
      </p:sp>
      <p:sp>
        <p:nvSpPr>
          <p:cNvPr id="980" name="Google Shape;980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981" name="Google Shape;981;p82"/>
          <p:cNvSpPr txBox="1"/>
          <p:nvPr/>
        </p:nvSpPr>
        <p:spPr>
          <a:xfrm>
            <a:off x="933825" y="1718035"/>
            <a:ext cx="27624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square of negative 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2"/>
          <p:cNvSpPr txBox="1"/>
          <p:nvPr/>
        </p:nvSpPr>
        <p:spPr>
          <a:xfrm>
            <a:off x="933825" y="2971500"/>
            <a:ext cx="3765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0.3333… + 0.3333…. + 0.3333…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2"/>
          <p:cNvSpPr txBox="1"/>
          <p:nvPr/>
        </p:nvSpPr>
        <p:spPr>
          <a:xfrm>
            <a:off x="933825" y="3797900"/>
            <a:ext cx="2605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multiplied by ¾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4" name="Google Shape;98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463" y="1615930"/>
            <a:ext cx="2031079" cy="93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4600" y="1615926"/>
            <a:ext cx="2135623" cy="9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2"/>
          <p:cNvSpPr txBox="1"/>
          <p:nvPr/>
        </p:nvSpPr>
        <p:spPr>
          <a:xfrm>
            <a:off x="387475" y="1827300"/>
            <a:ext cx="54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82"/>
          <p:cNvSpPr txBox="1"/>
          <p:nvPr/>
        </p:nvSpPr>
        <p:spPr>
          <a:xfrm>
            <a:off x="387475" y="2965000"/>
            <a:ext cx="54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82"/>
          <p:cNvSpPr txBox="1"/>
          <p:nvPr/>
        </p:nvSpPr>
        <p:spPr>
          <a:xfrm>
            <a:off x="387475" y="3797900"/>
            <a:ext cx="54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9" name="Google Shape;989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7950" y="2809650"/>
            <a:ext cx="1911125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8575" y="2812600"/>
            <a:ext cx="1943509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6525" y="3780000"/>
            <a:ext cx="1854000" cy="8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3326" y="3761600"/>
            <a:ext cx="1854000" cy="86079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2"/>
          <p:cNvSpPr/>
          <p:nvPr/>
        </p:nvSpPr>
        <p:spPr>
          <a:xfrm>
            <a:off x="5847150" y="1399325"/>
            <a:ext cx="2319900" cy="1300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2"/>
          <p:cNvSpPr/>
          <p:nvPr/>
        </p:nvSpPr>
        <p:spPr>
          <a:xfrm>
            <a:off x="6404825" y="2570588"/>
            <a:ext cx="2031000" cy="1172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2"/>
          <p:cNvSpPr/>
          <p:nvPr/>
        </p:nvSpPr>
        <p:spPr>
          <a:xfrm>
            <a:off x="4398025" y="3695424"/>
            <a:ext cx="2031000" cy="101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Correct inputs</a:t>
            </a:r>
            <a:endParaRPr/>
          </a:p>
        </p:txBody>
      </p:sp>
      <p:grpSp>
        <p:nvGrpSpPr>
          <p:cNvPr id="1001" name="Google Shape;1001;p83"/>
          <p:cNvGrpSpPr/>
          <p:nvPr/>
        </p:nvGrpSpPr>
        <p:grpSpPr>
          <a:xfrm>
            <a:off x="3429388" y="1541925"/>
            <a:ext cx="3225813" cy="1206650"/>
            <a:chOff x="3429388" y="1541925"/>
            <a:chExt cx="3225813" cy="1206650"/>
          </a:xfrm>
        </p:grpSpPr>
        <p:pic>
          <p:nvPicPr>
            <p:cNvPr id="1002" name="Google Shape;1002;p83"/>
            <p:cNvPicPr preferRelativeResize="0"/>
            <p:nvPr/>
          </p:nvPicPr>
          <p:blipFill rotWithShape="1">
            <a:blip r:embed="rId3">
              <a:alphaModFix/>
            </a:blip>
            <a:srcRect b="0" l="0" r="0" t="39320"/>
            <a:stretch/>
          </p:blipFill>
          <p:spPr>
            <a:xfrm>
              <a:off x="3429388" y="1571425"/>
              <a:ext cx="2026924" cy="117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3"/>
            <p:cNvSpPr/>
            <p:nvPr/>
          </p:nvSpPr>
          <p:spPr>
            <a:xfrm>
              <a:off x="5400200" y="1541925"/>
              <a:ext cx="1255000" cy="713050"/>
            </a:xfrm>
            <a:prstGeom prst="flowChartDecision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£13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04" name="Google Shape;1004;p83"/>
            <p:cNvCxnSpPr>
              <a:stCxn id="1003" idx="1"/>
            </p:cNvCxnSpPr>
            <p:nvPr/>
          </p:nvCxnSpPr>
          <p:spPr>
            <a:xfrm flipH="1">
              <a:off x="5210000" y="1898450"/>
              <a:ext cx="190200" cy="499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5" name="Google Shape;1005;p83"/>
          <p:cNvSpPr txBox="1"/>
          <p:nvPr>
            <p:ph idx="1" type="body"/>
          </p:nvPr>
        </p:nvSpPr>
        <p:spPr>
          <a:xfrm>
            <a:off x="324000" y="2816700"/>
            <a:ext cx="82377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student pays the cake shop manager £4.33 each.</a:t>
            </a:r>
            <a:endParaRPr/>
          </a:p>
        </p:txBody>
      </p:sp>
      <p:sp>
        <p:nvSpPr>
          <p:cNvPr id="1006" name="Google Shape;1006;p83"/>
          <p:cNvSpPr txBox="1"/>
          <p:nvPr>
            <p:ph idx="1" type="body"/>
          </p:nvPr>
        </p:nvSpPr>
        <p:spPr>
          <a:xfrm>
            <a:off x="324000" y="3350100"/>
            <a:ext cx="82377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Explain why the cake shop manager is not going to give them the cake.</a:t>
            </a:r>
            <a:endParaRPr/>
          </a:p>
        </p:txBody>
      </p:sp>
      <p:sp>
        <p:nvSpPr>
          <p:cNvPr id="1007" name="Google Shape;1007;p83"/>
          <p:cNvSpPr txBox="1"/>
          <p:nvPr/>
        </p:nvSpPr>
        <p:spPr>
          <a:xfrm>
            <a:off x="307950" y="4060075"/>
            <a:ext cx="802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lots of £4.33 does not sum to £13.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not paid the full price. They are 1 penny short.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8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Andeep, Jun and Jacob want to buy a cake and divide the amount equally between them.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inputs</a:t>
            </a:r>
            <a:endParaRPr/>
          </a:p>
        </p:txBody>
      </p:sp>
      <p:sp>
        <p:nvSpPr>
          <p:cNvPr id="1014" name="Google Shape;1014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sp>
        <p:nvSpPr>
          <p:cNvPr id="1015" name="Google Shape;1015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pic>
        <p:nvPicPr>
          <p:cNvPr id="1016" name="Google Shape;101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57" y="298810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sp>
        <p:nvSpPr>
          <p:cNvPr id="1022" name="Google Shape;1022;p85"/>
          <p:cNvSpPr txBox="1"/>
          <p:nvPr>
            <p:ph idx="1" type="body"/>
          </p:nvPr>
        </p:nvSpPr>
        <p:spPr>
          <a:xfrm>
            <a:off x="324000" y="683100"/>
            <a:ext cx="71352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Calculators are fantastic, but it is important to remember they only have a limited number of digits. </a:t>
            </a:r>
            <a:endParaRPr b="1" sz="2000"/>
          </a:p>
        </p:txBody>
      </p:sp>
      <p:pic>
        <p:nvPicPr>
          <p:cNvPr id="1023" name="Google Shape;1023;p85"/>
          <p:cNvPicPr preferRelativeResize="0"/>
          <p:nvPr/>
        </p:nvPicPr>
        <p:blipFill rotWithShape="1">
          <a:blip r:embed="rId3">
            <a:alphaModFix/>
          </a:blip>
          <a:srcRect b="4315" l="0" r="0" t="0"/>
          <a:stretch/>
        </p:blipFill>
        <p:spPr>
          <a:xfrm>
            <a:off x="502628" y="3265743"/>
            <a:ext cx="2854100" cy="1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5"/>
          <p:cNvSpPr txBox="1"/>
          <p:nvPr>
            <p:ph idx="1" type="body"/>
          </p:nvPr>
        </p:nvSpPr>
        <p:spPr>
          <a:xfrm>
            <a:off x="324000" y="1673700"/>
            <a:ext cx="8237700" cy="13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025" name="Google Shape;1025;p85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0107" y="2475600"/>
            <a:ext cx="195907" cy="6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5"/>
          <p:cNvSpPr txBox="1"/>
          <p:nvPr>
            <p:ph idx="1" type="body"/>
          </p:nvPr>
        </p:nvSpPr>
        <p:spPr>
          <a:xfrm>
            <a:off x="324000" y="21309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Write all the digits displayed on your calculator screen when</a:t>
            </a:r>
            <a:endParaRPr sz="2000"/>
          </a:p>
        </p:txBody>
      </p:sp>
      <p:sp>
        <p:nvSpPr>
          <p:cNvPr id="1027" name="Google Shape;1027;p85"/>
          <p:cNvSpPr txBox="1"/>
          <p:nvPr>
            <p:ph idx="1" type="body"/>
          </p:nvPr>
        </p:nvSpPr>
        <p:spPr>
          <a:xfrm>
            <a:off x="324000" y="25119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converting     </a:t>
            </a:r>
            <a:endParaRPr sz="2000"/>
          </a:p>
        </p:txBody>
      </p:sp>
      <p:sp>
        <p:nvSpPr>
          <p:cNvPr id="1028" name="Google Shape;1028;p85"/>
          <p:cNvSpPr txBox="1"/>
          <p:nvPr>
            <p:ph idx="1" type="body"/>
          </p:nvPr>
        </p:nvSpPr>
        <p:spPr>
          <a:xfrm>
            <a:off x="2060475" y="2511900"/>
            <a:ext cx="67299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into a decimal.</a:t>
            </a:r>
            <a:endParaRPr sz="2000"/>
          </a:p>
        </p:txBody>
      </p:sp>
      <p:pic>
        <p:nvPicPr>
          <p:cNvPr id="1029" name="Google Shape;102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3250" y="3038475"/>
            <a:ext cx="4363822" cy="13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pic>
        <p:nvPicPr>
          <p:cNvPr id="1035" name="Google Shape;1035;p86"/>
          <p:cNvPicPr preferRelativeResize="0"/>
          <p:nvPr/>
        </p:nvPicPr>
        <p:blipFill rotWithShape="1">
          <a:blip r:embed="rId3">
            <a:alphaModFix/>
          </a:blip>
          <a:srcRect b="4315" l="0" r="0" t="0"/>
          <a:stretch/>
        </p:blipFill>
        <p:spPr>
          <a:xfrm>
            <a:off x="502628" y="3265743"/>
            <a:ext cx="2854100" cy="1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86"/>
          <p:cNvSpPr txBox="1"/>
          <p:nvPr>
            <p:ph idx="1" type="body"/>
          </p:nvPr>
        </p:nvSpPr>
        <p:spPr>
          <a:xfrm>
            <a:off x="324000" y="683100"/>
            <a:ext cx="71352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Calculators are fantastic, but it is important to remember they only have a limited number of digits. </a:t>
            </a:r>
            <a:endParaRPr b="1" sz="2000"/>
          </a:p>
        </p:txBody>
      </p:sp>
      <p:sp>
        <p:nvSpPr>
          <p:cNvPr id="1037" name="Google Shape;1037;p86"/>
          <p:cNvSpPr txBox="1"/>
          <p:nvPr>
            <p:ph idx="1" type="body"/>
          </p:nvPr>
        </p:nvSpPr>
        <p:spPr>
          <a:xfrm>
            <a:off x="3913250" y="3305325"/>
            <a:ext cx="4736700" cy="13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Because the calculator is limited to 12 digit display, the final digit is rounded.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It is a </a:t>
            </a:r>
            <a:r>
              <a:rPr lang="en-GB" sz="2000"/>
              <a:t>recurring decimal.</a:t>
            </a:r>
            <a:endParaRPr sz="2000"/>
          </a:p>
        </p:txBody>
      </p:sp>
      <p:sp>
        <p:nvSpPr>
          <p:cNvPr id="1038" name="Google Shape;1038;p86"/>
          <p:cNvSpPr txBox="1"/>
          <p:nvPr>
            <p:ph idx="1" type="body"/>
          </p:nvPr>
        </p:nvSpPr>
        <p:spPr>
          <a:xfrm>
            <a:off x="324000" y="1673700"/>
            <a:ext cx="8237700" cy="13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sz="2000"/>
          </a:p>
        </p:txBody>
      </p:sp>
      <p:sp>
        <p:nvSpPr>
          <p:cNvPr id="1039" name="Google Shape;1039;p86"/>
          <p:cNvSpPr txBox="1"/>
          <p:nvPr>
            <p:ph idx="1" type="body"/>
          </p:nvPr>
        </p:nvSpPr>
        <p:spPr>
          <a:xfrm>
            <a:off x="324000" y="21309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Write all the digits displayed on your calculator screen when</a:t>
            </a:r>
            <a:endParaRPr sz="2000"/>
          </a:p>
        </p:txBody>
      </p:sp>
      <p:sp>
        <p:nvSpPr>
          <p:cNvPr id="1040" name="Google Shape;1040;p86"/>
          <p:cNvSpPr txBox="1"/>
          <p:nvPr>
            <p:ph idx="1" type="body"/>
          </p:nvPr>
        </p:nvSpPr>
        <p:spPr>
          <a:xfrm>
            <a:off x="324000" y="25119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converting     </a:t>
            </a:r>
            <a:endParaRPr sz="2000"/>
          </a:p>
        </p:txBody>
      </p:sp>
      <p:sp>
        <p:nvSpPr>
          <p:cNvPr id="1041" name="Google Shape;1041;p86"/>
          <p:cNvSpPr txBox="1"/>
          <p:nvPr>
            <p:ph idx="1" type="body"/>
          </p:nvPr>
        </p:nvSpPr>
        <p:spPr>
          <a:xfrm>
            <a:off x="2060475" y="2511900"/>
            <a:ext cx="67299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into a decimal.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042" name="Google Shape;1042;p86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0107" y="2475600"/>
            <a:ext cx="195907" cy="6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Calculator display and limitations</a:t>
            </a:r>
            <a:endParaRPr/>
          </a:p>
        </p:txBody>
      </p:sp>
      <p:sp>
        <p:nvSpPr>
          <p:cNvPr id="1048" name="Google Shape;1048;p8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calculator displays the decimal 1.23584265712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 following could this decimal be?</a:t>
            </a:r>
            <a:endParaRPr sz="2000"/>
          </a:p>
        </p:txBody>
      </p:sp>
      <p:pic>
        <p:nvPicPr>
          <p:cNvPr id="1049" name="Google Shape;104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033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033" y="2397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033" y="4048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358" y="32231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87"/>
          <p:cNvSpPr txBox="1"/>
          <p:nvPr/>
        </p:nvSpPr>
        <p:spPr>
          <a:xfrm>
            <a:off x="3952425" y="1520375"/>
            <a:ext cx="4454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could be that the whole sequence of digits recur.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4" name="Google Shape;1054;p87"/>
          <p:cNvSpPr txBox="1"/>
          <p:nvPr/>
        </p:nvSpPr>
        <p:spPr>
          <a:xfrm>
            <a:off x="3952425" y="2377300"/>
            <a:ext cx="4454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could be that the last digit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recurs.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87"/>
          <p:cNvSpPr txBox="1"/>
          <p:nvPr/>
        </p:nvSpPr>
        <p:spPr>
          <a:xfrm>
            <a:off x="3952425" y="3162192"/>
            <a:ext cx="4454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could be that the last digit 2 is rounded because the 6 after it recurs.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87"/>
          <p:cNvSpPr txBox="1"/>
          <p:nvPr/>
        </p:nvSpPr>
        <p:spPr>
          <a:xfrm>
            <a:off x="3952425" y="2700000"/>
            <a:ext cx="4454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are all possible!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87"/>
          <p:cNvSpPr txBox="1"/>
          <p:nvPr/>
        </p:nvSpPr>
        <p:spPr>
          <a:xfrm>
            <a:off x="3952425" y="4005722"/>
            <a:ext cx="4454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could be that this is a terminating decimal.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58" name="Google Shape;105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423" y="1675047"/>
            <a:ext cx="1930049" cy="3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4550" y="2435850"/>
            <a:ext cx="1909925" cy="3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4550" y="3253550"/>
            <a:ext cx="2033051" cy="37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4550" y="4140700"/>
            <a:ext cx="1909924" cy="24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sp>
        <p:nvSpPr>
          <p:cNvPr id="1067" name="Google Shape;1067;p88"/>
          <p:cNvSpPr txBox="1"/>
          <p:nvPr/>
        </p:nvSpPr>
        <p:spPr>
          <a:xfrm>
            <a:off x="324000" y="657600"/>
            <a:ext cx="8496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no button on the Classwiz to show a recurring decimal. </a:t>
            </a:r>
            <a:endParaRPr/>
          </a:p>
        </p:txBody>
      </p:sp>
      <p:sp>
        <p:nvSpPr>
          <p:cNvPr id="1068" name="Google Shape;1068;p88"/>
          <p:cNvSpPr txBox="1"/>
          <p:nvPr/>
        </p:nvSpPr>
        <p:spPr>
          <a:xfrm>
            <a:off x="324000" y="1648200"/>
            <a:ext cx="8496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must use the fractional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equivalent, if known, or type in the recurring decimal a minimum of 18 decimal places for a number less than 1.</a:t>
            </a:r>
            <a:endParaRPr/>
          </a:p>
        </p:txBody>
      </p:sp>
      <p:graphicFrame>
        <p:nvGraphicFramePr>
          <p:cNvPr id="1069" name="Google Shape;1069;p88"/>
          <p:cNvGraphicFramePr/>
          <p:nvPr/>
        </p:nvGraphicFramePr>
        <p:xfrm>
          <a:off x="714513" y="352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{A1FB5B40-6518-46CE-BF15-0336BA232509}</a:tableStyleId>
              </a:tblPr>
              <a:tblGrid>
                <a:gridCol w="4262275"/>
                <a:gridCol w="3125825"/>
              </a:tblGrid>
              <a:tr h="5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0.166666666666666666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833}{5000}&quot;&gt;&lt;mfrac&gt;&lt;mn&gt;833&lt;/mn&gt;&lt;mn&gt;5000&lt;/mn&gt;&lt;/mfrac&gt;&lt;/math&gt;" id="1070" name="Google Shape;1070;p88" title="833 over 5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2530" y="4084786"/>
            <a:ext cx="43322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88"/>
          <p:cNvSpPr txBox="1"/>
          <p:nvPr/>
        </p:nvSpPr>
        <p:spPr>
          <a:xfrm>
            <a:off x="312631" y="29783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sp>
        <p:nvSpPr>
          <p:cNvPr id="1077" name="Google Shape;1077;p89"/>
          <p:cNvSpPr txBox="1"/>
          <p:nvPr/>
        </p:nvSpPr>
        <p:spPr>
          <a:xfrm>
            <a:off x="324000" y="657600"/>
            <a:ext cx="8496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have also looked at how scientific calculators can convert terminating decimals into fractions easily.</a:t>
            </a:r>
            <a:endParaRPr/>
          </a:p>
        </p:txBody>
      </p:sp>
      <p:sp>
        <p:nvSpPr>
          <p:cNvPr id="1078" name="Google Shape;1078;p89"/>
          <p:cNvSpPr txBox="1"/>
          <p:nvPr/>
        </p:nvSpPr>
        <p:spPr>
          <a:xfrm>
            <a:off x="324000" y="1648200"/>
            <a:ext cx="8496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there is a limit at which the scientific calculator will convert the decimal into a fraction.</a:t>
            </a:r>
            <a:endParaRPr/>
          </a:p>
        </p:txBody>
      </p:sp>
      <p:sp>
        <p:nvSpPr>
          <p:cNvPr id="1079" name="Google Shape;1079;p89"/>
          <p:cNvSpPr txBox="1"/>
          <p:nvPr/>
        </p:nvSpPr>
        <p:spPr>
          <a:xfrm>
            <a:off x="324000" y="2638800"/>
            <a:ext cx="8496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see if you can investigate and find out when a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scientific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calculator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stops converting a terminating decimal into a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90"/>
          <p:cNvSpPr txBox="1"/>
          <p:nvPr>
            <p:ph idx="1" type="body"/>
          </p:nvPr>
        </p:nvSpPr>
        <p:spPr>
          <a:xfrm>
            <a:off x="400200" y="759300"/>
            <a:ext cx="7059000" cy="5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Investigation - numbers less than 1</a:t>
            </a:r>
            <a:endParaRPr/>
          </a:p>
        </p:txBody>
      </p:sp>
      <p:graphicFrame>
        <p:nvGraphicFramePr>
          <p:cNvPr id="1085" name="Google Shape;1085;p90"/>
          <p:cNvGraphicFramePr/>
          <p:nvPr/>
        </p:nvGraphicFramePr>
        <p:xfrm>
          <a:off x="379075" y="127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{A1FB5B40-6518-46CE-BF15-0336BA232509}</a:tableStyleId>
              </a:tblPr>
              <a:tblGrid>
                <a:gridCol w="1773050"/>
                <a:gridCol w="1385300"/>
                <a:gridCol w="4982950"/>
              </a:tblGrid>
              <a:tr h="62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 places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Example i</a:t>
                      </a: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nput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Does the calculator convert it to a fraction?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0.1234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0.12345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0.123456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6" name="Google Shape;108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pic>
        <p:nvPicPr>
          <p:cNvPr id="1087" name="Google Shape;108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952" y="2070200"/>
            <a:ext cx="300850" cy="3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952" y="2529628"/>
            <a:ext cx="300850" cy="3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952" y="3010800"/>
            <a:ext cx="300850" cy="3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952" y="3468600"/>
            <a:ext cx="300850" cy="3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432" y="3926400"/>
            <a:ext cx="300850" cy="3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952" y="4364015"/>
            <a:ext cx="300850" cy="31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3" name="Google Shape;1093;p90"/>
          <p:cNvGrpSpPr/>
          <p:nvPr/>
        </p:nvGrpSpPr>
        <p:grpSpPr>
          <a:xfrm>
            <a:off x="2253275" y="2526600"/>
            <a:ext cx="4370550" cy="332250"/>
            <a:chOff x="2253275" y="2298000"/>
            <a:chExt cx="4370550" cy="332250"/>
          </a:xfrm>
        </p:grpSpPr>
        <p:sp>
          <p:nvSpPr>
            <p:cNvPr id="1094" name="Google Shape;1094;p90"/>
            <p:cNvSpPr/>
            <p:nvPr/>
          </p:nvSpPr>
          <p:spPr>
            <a:xfrm>
              <a:off x="2253275" y="2298000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90"/>
            <p:cNvSpPr/>
            <p:nvPr/>
          </p:nvSpPr>
          <p:spPr>
            <a:xfrm>
              <a:off x="5444825" y="2311950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6" name="Google Shape;1096;p90"/>
          <p:cNvGrpSpPr/>
          <p:nvPr/>
        </p:nvGrpSpPr>
        <p:grpSpPr>
          <a:xfrm>
            <a:off x="2264450" y="2990625"/>
            <a:ext cx="4370550" cy="332250"/>
            <a:chOff x="2264450" y="2762025"/>
            <a:chExt cx="4370550" cy="332250"/>
          </a:xfrm>
        </p:grpSpPr>
        <p:sp>
          <p:nvSpPr>
            <p:cNvPr id="1097" name="Google Shape;1097;p90"/>
            <p:cNvSpPr/>
            <p:nvPr/>
          </p:nvSpPr>
          <p:spPr>
            <a:xfrm>
              <a:off x="2264450" y="2762025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90"/>
            <p:cNvSpPr/>
            <p:nvPr/>
          </p:nvSpPr>
          <p:spPr>
            <a:xfrm>
              <a:off x="5456000" y="2775975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90"/>
          <p:cNvGrpSpPr/>
          <p:nvPr/>
        </p:nvGrpSpPr>
        <p:grpSpPr>
          <a:xfrm>
            <a:off x="2264450" y="3451538"/>
            <a:ext cx="4370550" cy="332250"/>
            <a:chOff x="2264450" y="3222938"/>
            <a:chExt cx="4370550" cy="332250"/>
          </a:xfrm>
        </p:grpSpPr>
        <p:sp>
          <p:nvSpPr>
            <p:cNvPr id="1100" name="Google Shape;1100;p90"/>
            <p:cNvSpPr/>
            <p:nvPr/>
          </p:nvSpPr>
          <p:spPr>
            <a:xfrm>
              <a:off x="2264450" y="3222938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1" name="Google Shape;1101;p90"/>
            <p:cNvSpPr/>
            <p:nvPr/>
          </p:nvSpPr>
          <p:spPr>
            <a:xfrm>
              <a:off x="5456000" y="3236888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2" name="Google Shape;1102;p90"/>
          <p:cNvGrpSpPr/>
          <p:nvPr/>
        </p:nvGrpSpPr>
        <p:grpSpPr>
          <a:xfrm>
            <a:off x="2264450" y="3899875"/>
            <a:ext cx="4370550" cy="332250"/>
            <a:chOff x="2264450" y="3671275"/>
            <a:chExt cx="4370550" cy="332250"/>
          </a:xfrm>
        </p:grpSpPr>
        <p:sp>
          <p:nvSpPr>
            <p:cNvPr id="1103" name="Google Shape;1103;p90"/>
            <p:cNvSpPr/>
            <p:nvPr/>
          </p:nvSpPr>
          <p:spPr>
            <a:xfrm>
              <a:off x="2264450" y="3671275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90"/>
            <p:cNvSpPr/>
            <p:nvPr/>
          </p:nvSpPr>
          <p:spPr>
            <a:xfrm>
              <a:off x="5456000" y="3685225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5" name="Google Shape;1105;p90"/>
          <p:cNvGrpSpPr/>
          <p:nvPr/>
        </p:nvGrpSpPr>
        <p:grpSpPr>
          <a:xfrm>
            <a:off x="2264450" y="4358950"/>
            <a:ext cx="4370550" cy="332250"/>
            <a:chOff x="2264450" y="4130350"/>
            <a:chExt cx="4370550" cy="332250"/>
          </a:xfrm>
        </p:grpSpPr>
        <p:sp>
          <p:nvSpPr>
            <p:cNvPr id="1106" name="Google Shape;1106;p90"/>
            <p:cNvSpPr/>
            <p:nvPr/>
          </p:nvSpPr>
          <p:spPr>
            <a:xfrm>
              <a:off x="2264450" y="4130350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90"/>
            <p:cNvSpPr/>
            <p:nvPr/>
          </p:nvSpPr>
          <p:spPr>
            <a:xfrm>
              <a:off x="5456000" y="4144300"/>
              <a:ext cx="1179000" cy="318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91"/>
          <p:cNvSpPr txBox="1"/>
          <p:nvPr>
            <p:ph idx="1" type="body"/>
          </p:nvPr>
        </p:nvSpPr>
        <p:spPr>
          <a:xfrm>
            <a:off x="400200" y="759300"/>
            <a:ext cx="7059000" cy="5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Investigation - numbers less than 1</a:t>
            </a:r>
            <a:endParaRPr/>
          </a:p>
        </p:txBody>
      </p:sp>
      <p:graphicFrame>
        <p:nvGraphicFramePr>
          <p:cNvPr id="1113" name="Google Shape;1113;p91"/>
          <p:cNvGraphicFramePr/>
          <p:nvPr/>
        </p:nvGraphicFramePr>
        <p:xfrm>
          <a:off x="379075" y="150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{A1FB5B40-6518-46CE-BF15-0336BA232509}</a:tableStyleId>
              </a:tblPr>
              <a:tblGrid>
                <a:gridCol w="1773050"/>
                <a:gridCol w="1385300"/>
                <a:gridCol w="4982950"/>
              </a:tblGrid>
              <a:tr h="62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 places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Example input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Does the calculator convert it to a fraction?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0.1234567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4" name="Google Shape;111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pic>
        <p:nvPicPr>
          <p:cNvPr id="1115" name="Google Shape;111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788" y="223986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1"/>
          <p:cNvSpPr txBox="1"/>
          <p:nvPr/>
        </p:nvSpPr>
        <p:spPr>
          <a:xfrm>
            <a:off x="302875" y="2743200"/>
            <a:ext cx="81015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a number less than 1, the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scientific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calculator stops converting the terminating decimal into a fraction when there are 7 or more decimal places.</a:t>
            </a:r>
            <a:endParaRPr sz="2200"/>
          </a:p>
        </p:txBody>
      </p:sp>
      <p:sp>
        <p:nvSpPr>
          <p:cNvPr id="1117" name="Google Shape;1117;p91"/>
          <p:cNvSpPr txBox="1"/>
          <p:nvPr/>
        </p:nvSpPr>
        <p:spPr>
          <a:xfrm>
            <a:off x="322050" y="4184238"/>
            <a:ext cx="810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what about numbers greater than 1?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</p:txBody>
      </p:sp>
      <p:sp>
        <p:nvSpPr>
          <p:cNvPr id="1123" name="Google Shape;1123;p92"/>
          <p:cNvSpPr txBox="1"/>
          <p:nvPr/>
        </p:nvSpPr>
        <p:spPr>
          <a:xfrm>
            <a:off x="302300" y="1038600"/>
            <a:ext cx="81015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Investigate how many digits the decimal must have in order for the scientific calculator to convert the number into a fraction.</a:t>
            </a:r>
            <a:endParaRPr/>
          </a:p>
        </p:txBody>
      </p:sp>
      <p:sp>
        <p:nvSpPr>
          <p:cNvPr id="1124" name="Google Shape;1124;p92"/>
          <p:cNvSpPr txBox="1"/>
          <p:nvPr/>
        </p:nvSpPr>
        <p:spPr>
          <a:xfrm>
            <a:off x="302600" y="2385000"/>
            <a:ext cx="7796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convert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terminating decimals to fractions, they must have fewer than 7 digits.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5" name="Google Shape;11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00" y="3392400"/>
            <a:ext cx="2054825" cy="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2"/>
          <p:cNvSpPr txBox="1"/>
          <p:nvPr/>
        </p:nvSpPr>
        <p:spPr>
          <a:xfrm>
            <a:off x="1405350" y="4317075"/>
            <a:ext cx="147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pic>
        <p:nvPicPr>
          <p:cNvPr id="1127" name="Google Shape;112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643" y="3384000"/>
            <a:ext cx="1988785" cy="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2"/>
          <p:cNvSpPr txBox="1"/>
          <p:nvPr/>
        </p:nvSpPr>
        <p:spPr>
          <a:xfrm>
            <a:off x="3808750" y="4317075"/>
            <a:ext cx="147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xample</a:t>
            </a:r>
            <a:endParaRPr/>
          </a:p>
        </p:txBody>
      </p:sp>
      <p:pic>
        <p:nvPicPr>
          <p:cNvPr id="1129" name="Google Shape;112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2025" y="3384000"/>
            <a:ext cx="2058148" cy="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2"/>
          <p:cNvSpPr txBox="1"/>
          <p:nvPr/>
        </p:nvSpPr>
        <p:spPr>
          <a:xfrm>
            <a:off x="6305850" y="4317075"/>
            <a:ext cx="230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1131" name="Google Shape;1131;p92"/>
          <p:cNvSpPr txBox="1"/>
          <p:nvPr>
            <p:ph idx="1" type="body"/>
          </p:nvPr>
        </p:nvSpPr>
        <p:spPr>
          <a:xfrm>
            <a:off x="303293" y="683100"/>
            <a:ext cx="7059000" cy="5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Investigation - numbers greater than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93"/>
          <p:cNvSpPr txBox="1"/>
          <p:nvPr/>
        </p:nvSpPr>
        <p:spPr>
          <a:xfrm>
            <a:off x="324000" y="705400"/>
            <a:ext cx="84960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 if the statement is true or false when using the scientific calculator Casio Classwiz fx 991.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38" name="Google Shape;1138;p93" title="one six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500" y="2677332"/>
            <a:ext cx="128625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50" y="1467950"/>
            <a:ext cx="8030623" cy="3143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94"/>
          <p:cNvSpPr txBox="1"/>
          <p:nvPr/>
        </p:nvSpPr>
        <p:spPr>
          <a:xfrm>
            <a:off x="418350" y="2987200"/>
            <a:ext cx="7748700" cy="1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fractional form of 0.346774?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simplified fractional form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0.346774?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4"/>
          <p:cNvSpPr txBox="1"/>
          <p:nvPr/>
        </p:nvSpPr>
        <p:spPr>
          <a:xfrm>
            <a:off x="324000" y="704325"/>
            <a:ext cx="84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Andeep has discovered a way to find the fractional form of a decimal when the calculator does not do it automatically.</a:t>
            </a:r>
            <a:endParaRPr sz="1800"/>
          </a:p>
        </p:txBody>
      </p:sp>
      <p:pic>
        <p:nvPicPr>
          <p:cNvPr id="1147" name="Google Shape;114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075" y="1507688"/>
            <a:ext cx="260985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5"/>
          <p:cNvSpPr/>
          <p:nvPr/>
        </p:nvSpPr>
        <p:spPr>
          <a:xfrm>
            <a:off x="3369600" y="1207200"/>
            <a:ext cx="2577000" cy="52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0539562635&quot;&gt;&lt;mn&gt;0.0539562635&lt;/mn&gt;&lt;/math&gt;" id="1153" name="Google Shape;1153;p95" title="0.05395626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4975" y="1291100"/>
            <a:ext cx="2312544" cy="2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 txBox="1"/>
          <p:nvPr/>
        </p:nvSpPr>
        <p:spPr>
          <a:xfrm>
            <a:off x="285900" y="583575"/>
            <a:ext cx="85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 calculator displays this number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95"/>
          <p:cNvSpPr txBox="1"/>
          <p:nvPr/>
        </p:nvSpPr>
        <p:spPr>
          <a:xfrm>
            <a:off x="345150" y="1709519"/>
            <a:ext cx="8572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 three examples, in decimal form, of what this number could be if it were a recurring decimal.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5"/>
          <p:cNvSpPr txBox="1"/>
          <p:nvPr/>
        </p:nvSpPr>
        <p:spPr>
          <a:xfrm>
            <a:off x="345150" y="2547719"/>
            <a:ext cx="8572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2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 an example of a fraction it could be if it were a terminating decimal.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2" name="Google Shape;116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00" y="1438474"/>
            <a:ext cx="8030624" cy="31494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64" name="Google Shape;116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158" y="20276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158" y="25983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083" y="3140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083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6"/>
          <p:cNvSpPr txBox="1"/>
          <p:nvPr/>
        </p:nvSpPr>
        <p:spPr>
          <a:xfrm>
            <a:off x="324000" y="705400"/>
            <a:ext cx="84960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 if the statement is true or false when using the scientific calculator Casio Classwiz fx 991.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97"/>
          <p:cNvSpPr txBox="1"/>
          <p:nvPr/>
        </p:nvSpPr>
        <p:spPr>
          <a:xfrm>
            <a:off x="418350" y="2987200"/>
            <a:ext cx="7748700" cy="1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fractional form of 0.346774?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simplified fractional form of 0.346774?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5" name="Google Shape;117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075" y="1507688"/>
            <a:ext cx="26098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8700" y="2571750"/>
            <a:ext cx="1907750" cy="88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8699" y="3525750"/>
            <a:ext cx="1907750" cy="8665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97"/>
          <p:cNvSpPr txBox="1"/>
          <p:nvPr/>
        </p:nvSpPr>
        <p:spPr>
          <a:xfrm>
            <a:off x="324000" y="704325"/>
            <a:ext cx="84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Andeep has discovered a way to find the fractional form of a decimal when the calculator does not do it automatically.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98"/>
          <p:cNvSpPr/>
          <p:nvPr/>
        </p:nvSpPr>
        <p:spPr>
          <a:xfrm>
            <a:off x="3369600" y="1207200"/>
            <a:ext cx="2577000" cy="52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0539562635&quot;&gt;&lt;mn&gt;0.0539562635&lt;/mn&gt;&lt;/math&gt;" id="1184" name="Google Shape;1184;p98" title="0.05395626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4975" y="1291100"/>
            <a:ext cx="2312544" cy="2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98"/>
          <p:cNvSpPr txBox="1"/>
          <p:nvPr/>
        </p:nvSpPr>
        <p:spPr>
          <a:xfrm>
            <a:off x="285900" y="583575"/>
            <a:ext cx="85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 calculator displays this number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98"/>
          <p:cNvSpPr txBox="1"/>
          <p:nvPr/>
        </p:nvSpPr>
        <p:spPr>
          <a:xfrm>
            <a:off x="4623575" y="3095757"/>
            <a:ext cx="434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b) It could be this terminating decimal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7" name="Google Shape;1187;p98"/>
          <p:cNvSpPr txBox="1"/>
          <p:nvPr/>
        </p:nvSpPr>
        <p:spPr>
          <a:xfrm>
            <a:off x="345150" y="1709519"/>
            <a:ext cx="8572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 three examples, in decimal form, of what this number could be if it were a recurring decimal.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display and limitations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189" name="Google Shape;1189;p98"/>
          <p:cNvGrpSpPr/>
          <p:nvPr/>
        </p:nvGrpSpPr>
        <p:grpSpPr>
          <a:xfrm>
            <a:off x="324000" y="3087750"/>
            <a:ext cx="3438099" cy="1783300"/>
            <a:chOff x="324000" y="3087750"/>
            <a:chExt cx="3438099" cy="1783300"/>
          </a:xfrm>
        </p:grpSpPr>
        <p:sp>
          <p:nvSpPr>
            <p:cNvPr id="1190" name="Google Shape;1190;p98"/>
            <p:cNvSpPr txBox="1"/>
            <p:nvPr/>
          </p:nvSpPr>
          <p:spPr>
            <a:xfrm>
              <a:off x="324000" y="3087750"/>
              <a:ext cx="3358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4290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lam"/>
                <a:buAutoNum type="alphaLcParenR"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Some</a:t>
              </a: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examples of a </a:t>
              </a:r>
              <a:endPara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non-terminating decimal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0.0539562634888888...\end{array}&quot;&gt;&lt;mtable columnalign=&quot;left&quot; columnspacing=&quot;1em&quot; rowspacing=&quot;4pt&quot;&gt;&lt;mtr&gt;&lt;mtd&gt;&lt;mn&gt;0.0539562634888888&lt;/mn&gt;&lt;mo&gt;.&lt;/mo&gt;&lt;mo&gt;.&lt;/mo&gt;&lt;mo&gt;.&lt;/mo&gt;&lt;/mtd&gt;&lt;/mtr&gt;&lt;/mtable&gt;&lt;/math&gt;" id="1191" name="Google Shape;1191;p98" title="1 lines Line 1: 0.0539562634888888 period period perio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9449" y="4167050"/>
              <a:ext cx="3041000" cy="23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begin{array}{l}0.053956263477777777...\\&amp;#13;&amp;#10;0.0539562635111111111...\\&amp;#13;&amp;#10;0.0539562635454545454...\end{array}&quot;&gt;&lt;mtable columnalign=&quot;left&quot; columnspacing=&quot;1em&quot; rowspacing=&quot;4pt&quot;&gt;&lt;mtr&gt;&lt;mtd&gt;&lt;mn&gt;0.053956263477777777&lt;/mn&gt;&lt;mo&gt;.&lt;/mo&gt;&lt;mo&gt;.&lt;/mo&gt;&lt;mo&gt;.&lt;/mo&gt;&lt;/mtd&gt;&lt;/mtr&gt;&lt;mtr&gt;&lt;mtd&gt;&lt;mn&gt;0.0539562635111111111&lt;/mn&gt;&lt;mo&gt;.&lt;/mo&gt;&lt;mo&gt;.&lt;/mo&gt;&lt;mo&gt;.&lt;/mo&gt;&lt;/mtd&gt;&lt;/mtr&gt;&lt;mtr&gt;&lt;mtd&gt;&lt;mn&gt;0.0539562635454545454&lt;/mn&gt;&lt;mo&gt;.&lt;/mo&gt;&lt;mo&gt;.&lt;/mo&gt;&lt;mo&gt;.&lt;/mo&gt;&lt;/mtd&gt;&lt;/mtr&gt;&lt;/mtable&gt;&lt;/math&gt;" id="1192" name="Google Shape;1192;p98" title="3 lines Line 1: 0.053956263477777777 period period period Line 2: 0.0539562635111111111 period period period Line 3: 0.0539562635454545454 period period period"/>
            <p:cNvPicPr preferRelativeResize="0"/>
            <p:nvPr/>
          </p:nvPicPr>
          <p:blipFill rotWithShape="1">
            <a:blip r:embed="rId5">
              <a:alphaModFix/>
            </a:blip>
            <a:srcRect b="0" l="0" r="0" t="72273"/>
            <a:stretch/>
          </p:blipFill>
          <p:spPr>
            <a:xfrm>
              <a:off x="391475" y="3783525"/>
              <a:ext cx="3318525" cy="29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begin{array}{l}0.053956263477777777...\\&amp;#13;&amp;#10;0.0539562635111111111...\\&amp;#13;&amp;#10;0.0539562635454545454...\end{array}&quot;&gt;&lt;mtable columnalign=&quot;left&quot; columnspacing=&quot;1em&quot; rowspacing=&quot;4pt&quot;&gt;&lt;mtr&gt;&lt;mtd&gt;&lt;mn&gt;0.053956263477777777&lt;/mn&gt;&lt;mo&gt;.&lt;/mo&gt;&lt;mo&gt;.&lt;/mo&gt;&lt;mo&gt;.&lt;/mo&gt;&lt;/mtd&gt;&lt;/mtr&gt;&lt;mtr&gt;&lt;mtd&gt;&lt;mn&gt;0.0539562635111111111&lt;/mn&gt;&lt;mo&gt;.&lt;/mo&gt;&lt;mo&gt;.&lt;/mo&gt;&lt;mo&gt;.&lt;/mo&gt;&lt;/mtd&gt;&lt;/mtr&gt;&lt;mtr&gt;&lt;mtd&gt;&lt;mn&gt;0.0539562635454545454&lt;/mn&gt;&lt;mo&gt;.&lt;/mo&gt;&lt;mo&gt;.&lt;/mo&gt;&lt;mo&gt;.&lt;/mo&gt;&lt;/mtd&gt;&lt;/mtr&gt;&lt;/mtable&gt;&lt;/math&gt;" id="1193" name="Google Shape;1193;p98" title="3 lines Line 1: 0.053956263477777777 period period period Line 2: 0.0539562635111111111 period period period Line 3: 0.0539562635454545454 period period period"/>
            <p:cNvPicPr preferRelativeResize="0"/>
            <p:nvPr/>
          </p:nvPicPr>
          <p:blipFill rotWithShape="1">
            <a:blip r:embed="rId5">
              <a:alphaModFix/>
            </a:blip>
            <a:srcRect b="24645" l="-1731" r="-1928" t="29993"/>
            <a:stretch/>
          </p:blipFill>
          <p:spPr>
            <a:xfrm>
              <a:off x="344575" y="4388825"/>
              <a:ext cx="3417524" cy="482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539562635}{10\ 000\ 000\ 000}&quot;&gt;&lt;mfrac&gt;&lt;mn&gt;539562635&lt;/mn&gt;&lt;mrow&gt;&lt;mn&gt;10&lt;/mn&gt;&lt;mtext&gt;&lt;/mtext&gt;&lt;mn&gt;000&lt;/mn&gt;&lt;mtext&gt;&lt;/mtext&gt;&lt;mn&gt;000&lt;/mn&gt;&lt;mtext&gt;&lt;/mtext&gt;&lt;mn&gt;000&lt;/mn&gt;&lt;/mrow&gt;&lt;/mfrac&gt;&lt;/math&gt;" id="1194" name="Google Shape;1194;p98" title="the fraction with numerator 539562635 and denominator 10 000 00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7375" y="3877350"/>
            <a:ext cx="2023300" cy="66136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8"/>
          <p:cNvSpPr txBox="1"/>
          <p:nvPr/>
        </p:nvSpPr>
        <p:spPr>
          <a:xfrm>
            <a:off x="345150" y="2395319"/>
            <a:ext cx="8572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2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 an example of a fraction it could be if it were a terminating decimal.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9"/>
          <p:cNvSpPr txBox="1"/>
          <p:nvPr>
            <p:ph idx="1" type="body"/>
          </p:nvPr>
        </p:nvSpPr>
        <p:spPr>
          <a:xfrm>
            <a:off x="263100" y="775200"/>
            <a:ext cx="8113800" cy="9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fractions to represent terminating or non-</a:t>
            </a:r>
            <a:r>
              <a:rPr lang="en-GB" sz="1800"/>
              <a:t>terminating</a:t>
            </a:r>
            <a:r>
              <a:rPr lang="en-GB" sz="1800"/>
              <a:t> decimals is </a:t>
            </a:r>
            <a:r>
              <a:rPr lang="en-GB" sz="1800"/>
              <a:t>generally </a:t>
            </a:r>
            <a:r>
              <a:rPr lang="en-GB" sz="1800"/>
              <a:t>better for accuracy.</a:t>
            </a:r>
            <a:endParaRPr sz="1800"/>
          </a:p>
        </p:txBody>
      </p:sp>
      <p:sp>
        <p:nvSpPr>
          <p:cNvPr id="1201" name="Google Shape;1201;p9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sp>
        <p:nvSpPr>
          <p:cNvPr id="1202" name="Google Shape;1202;p99"/>
          <p:cNvSpPr txBox="1"/>
          <p:nvPr>
            <p:ph idx="1" type="body"/>
          </p:nvPr>
        </p:nvSpPr>
        <p:spPr>
          <a:xfrm>
            <a:off x="263100" y="1626900"/>
            <a:ext cx="8113800" cy="9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Scientific calculators are fantastic tools, but only output what has been inputted so you must check your calculations carefully.</a:t>
            </a:r>
            <a:endParaRPr sz="1800"/>
          </a:p>
        </p:txBody>
      </p:sp>
      <p:sp>
        <p:nvSpPr>
          <p:cNvPr id="1203" name="Google Shape;1203;p99"/>
          <p:cNvSpPr txBox="1"/>
          <p:nvPr>
            <p:ph idx="1" type="body"/>
          </p:nvPr>
        </p:nvSpPr>
        <p:spPr>
          <a:xfrm>
            <a:off x="263100" y="2478600"/>
            <a:ext cx="8113800" cy="214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Scientific</a:t>
            </a:r>
            <a:r>
              <a:rPr lang="en-GB" sz="1800"/>
              <a:t> </a:t>
            </a:r>
            <a:r>
              <a:rPr lang="en-GB" sz="1800"/>
              <a:t>calculators do have their limitations, including: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Inputting recurring decimals (input more than 18 decimal places).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When converting terminating decimals to fractions, they must have less than 7 significant figures.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They can only display a certain number of digits on the screen then it will round, but you may not know it has been rounded. 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09" name="Google Shape;1209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