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6.png"/><Relationship Id="rId10" Type="http://schemas.openxmlformats.org/officeDocument/2006/relationships/image" Target="../media/image13.png"/><Relationship Id="rId13" Type="http://schemas.openxmlformats.org/officeDocument/2006/relationships/image" Target="../media/image18.png"/><Relationship Id="rId12" Type="http://schemas.openxmlformats.org/officeDocument/2006/relationships/image" Target="../media/image17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Relationship Id="rId9" Type="http://schemas.openxmlformats.org/officeDocument/2006/relationships/image" Target="../media/image14.png"/><Relationship Id="rId5" Type="http://schemas.openxmlformats.org/officeDocument/2006/relationships/image" Target="../media/image8.png"/><Relationship Id="rId6" Type="http://schemas.openxmlformats.org/officeDocument/2006/relationships/image" Target="../media/image11.png"/><Relationship Id="rId7" Type="http://schemas.openxmlformats.org/officeDocument/2006/relationships/image" Target="../media/image9.png"/><Relationship Id="rId8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20" Type="http://schemas.openxmlformats.org/officeDocument/2006/relationships/image" Target="../media/image37.png"/><Relationship Id="rId11" Type="http://schemas.openxmlformats.org/officeDocument/2006/relationships/image" Target="../media/image28.png"/><Relationship Id="rId10" Type="http://schemas.openxmlformats.org/officeDocument/2006/relationships/image" Target="../media/image30.png"/><Relationship Id="rId13" Type="http://schemas.openxmlformats.org/officeDocument/2006/relationships/image" Target="../media/image29.png"/><Relationship Id="rId12" Type="http://schemas.openxmlformats.org/officeDocument/2006/relationships/image" Target="../media/image27.png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4.png"/><Relationship Id="rId15" Type="http://schemas.openxmlformats.org/officeDocument/2006/relationships/image" Target="../media/image35.png"/><Relationship Id="rId14" Type="http://schemas.openxmlformats.org/officeDocument/2006/relationships/image" Target="../media/image31.png"/><Relationship Id="rId17" Type="http://schemas.openxmlformats.org/officeDocument/2006/relationships/image" Target="../media/image33.png"/><Relationship Id="rId16" Type="http://schemas.openxmlformats.org/officeDocument/2006/relationships/image" Target="../media/image32.png"/><Relationship Id="rId5" Type="http://schemas.openxmlformats.org/officeDocument/2006/relationships/image" Target="../media/image25.png"/><Relationship Id="rId19" Type="http://schemas.openxmlformats.org/officeDocument/2006/relationships/image" Target="../media/image36.png"/><Relationship Id="rId6" Type="http://schemas.openxmlformats.org/officeDocument/2006/relationships/image" Target="../media/image22.png"/><Relationship Id="rId18" Type="http://schemas.openxmlformats.org/officeDocument/2006/relationships/image" Target="../media/image34.png"/><Relationship Id="rId7" Type="http://schemas.openxmlformats.org/officeDocument/2006/relationships/image" Target="../media/image23.png"/><Relationship Id="rId8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Converting fractions to terminating decimals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448300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Recognising terminating and non-terminating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1748825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Without a calculator, calculate the decimal value of the following fractions: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\frac{3}{5}\\&amp;#13;&amp;#10;\frac{5}{8}\\&amp;#13;&amp;#10;\frac{3}{25}\\&amp;#13;&amp;#10;\frac{47}{200}\end{array}&quot;&gt;&lt;mtable columnalign=&quot;left&quot; columnspacing=&quot;1em&quot; rowspacing=&quot;4pt&quot;&gt;&lt;mtr&gt;&lt;mtd&gt;&lt;mfrac&gt;&lt;mn&gt;3&lt;/mn&gt;&lt;mn&gt;5&lt;/mn&gt;&lt;/mfrac&gt;&lt;/mtd&gt;&lt;/mtr&gt;&lt;mtr&gt;&lt;mtd&gt;&lt;mfrac&gt;&lt;mn&gt;5&lt;/mn&gt;&lt;mn&gt;8&lt;/mn&gt;&lt;/mfrac&gt;&lt;/mtd&gt;&lt;/mtr&gt;&lt;mtr&gt;&lt;mtd&gt;&lt;mfrac&gt;&lt;mn&gt;3&lt;/mn&gt;&lt;mn&gt;25&lt;/mn&gt;&lt;/mfrac&gt;&lt;/mtd&gt;&lt;/mtr&gt;&lt;mtr&gt;&lt;mtd&gt;&lt;mfrac&gt;&lt;mn&gt;47&lt;/mn&gt;&lt;mn&gt;200&lt;/mn&gt;&lt;/mfrac&gt;&lt;/mtd&gt;&lt;/mtr&gt;&lt;/mtable&gt;&lt;/math&gt;" id="175" name="Google Shape;175;p20" title="4 lines Line 1: three fifths Line 2: five eighths Line 3: 3 over 25 Line 4: 47 over 200"/>
          <p:cNvPicPr preferRelativeResize="0"/>
          <p:nvPr/>
        </p:nvPicPr>
        <p:blipFill rotWithShape="1">
          <a:blip r:embed="rId3">
            <a:alphaModFix/>
          </a:blip>
          <a:srcRect b="21579" l="0" r="0" t="51153"/>
          <a:stretch/>
        </p:blipFill>
        <p:spPr>
          <a:xfrm>
            <a:off x="916972" y="3565462"/>
            <a:ext cx="394980" cy="605113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0"/>
          <p:cNvSpPr txBox="1"/>
          <p:nvPr/>
        </p:nvSpPr>
        <p:spPr>
          <a:xfrm>
            <a:off x="468000" y="2072116"/>
            <a:ext cx="52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endParaRPr sz="1200"/>
          </a:p>
        </p:txBody>
      </p:sp>
      <p:sp>
        <p:nvSpPr>
          <p:cNvPr id="177" name="Google Shape;177;p20"/>
          <p:cNvSpPr txBox="1"/>
          <p:nvPr/>
        </p:nvSpPr>
        <p:spPr>
          <a:xfrm>
            <a:off x="468000" y="2821464"/>
            <a:ext cx="52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endParaRPr sz="1200"/>
          </a:p>
        </p:txBody>
      </p:sp>
      <p:sp>
        <p:nvSpPr>
          <p:cNvPr id="178" name="Google Shape;178;p20"/>
          <p:cNvSpPr txBox="1"/>
          <p:nvPr/>
        </p:nvSpPr>
        <p:spPr>
          <a:xfrm>
            <a:off x="468000" y="3565462"/>
            <a:ext cx="52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</a:t>
            </a:r>
            <a:endParaRPr sz="1200"/>
          </a:p>
        </p:txBody>
      </p:sp>
      <p:sp>
        <p:nvSpPr>
          <p:cNvPr id="179" name="Google Shape;179;p20"/>
          <p:cNvSpPr txBox="1"/>
          <p:nvPr/>
        </p:nvSpPr>
        <p:spPr>
          <a:xfrm>
            <a:off x="3483709" y="2029361"/>
            <a:ext cx="52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</a:t>
            </a:r>
            <a:endParaRPr sz="1200"/>
          </a:p>
        </p:txBody>
      </p:sp>
      <p:pic>
        <p:nvPicPr>
          <p:cNvPr descr="&lt;math xmlns=&quot;http://www.w3.org/1998/Math/MathML&quot; display=&quot;block&quot; data-is-equatio=&quot;1&quot; data-latex=&quot;\begin{array}{l}\frac{3}{5}\\&amp;#13;&amp;#10;\frac{5}{8}\\&amp;#13;&amp;#10;\frac{3}{25}\\&amp;#13;&amp;#10;\frac{47}{200}\end{array}&quot;&gt;&lt;mtable columnalign=&quot;left&quot; columnspacing=&quot;1em&quot; rowspacing=&quot;4pt&quot;&gt;&lt;mtr&gt;&lt;mtd&gt;&lt;mfrac&gt;&lt;mn&gt;3&lt;/mn&gt;&lt;mn&gt;5&lt;/mn&gt;&lt;/mfrac&gt;&lt;/mtd&gt;&lt;/mtr&gt;&lt;mtr&gt;&lt;mtd&gt;&lt;mfrac&gt;&lt;mn&gt;5&lt;/mn&gt;&lt;mn&gt;8&lt;/mn&gt;&lt;/mfrac&gt;&lt;/mtd&gt;&lt;/mtr&gt;&lt;mtr&gt;&lt;mtd&gt;&lt;mfrac&gt;&lt;mn&gt;3&lt;/mn&gt;&lt;mn&gt;25&lt;/mn&gt;&lt;/mfrac&gt;&lt;/mtd&gt;&lt;/mtr&gt;&lt;mtr&gt;&lt;mtd&gt;&lt;mfrac&gt;&lt;mn&gt;47&lt;/mn&gt;&lt;mn&gt;200&lt;/mn&gt;&lt;/mfrac&gt;&lt;/mtd&gt;&lt;/mtr&gt;&lt;/mtable&gt;&lt;/math&gt;" id="180" name="Google Shape;180;p20" title="4 lines Line 1: three fifths Line 2: five eighths Line 3: 3 over 25 Line 4: 47 over 200"/>
          <p:cNvPicPr preferRelativeResize="0"/>
          <p:nvPr/>
        </p:nvPicPr>
        <p:blipFill rotWithShape="1">
          <a:blip r:embed="rId3">
            <a:alphaModFix/>
          </a:blip>
          <a:srcRect b="49427" l="0" r="0" t="21497"/>
          <a:stretch/>
        </p:blipFill>
        <p:spPr>
          <a:xfrm>
            <a:off x="979488" y="2784801"/>
            <a:ext cx="370423" cy="6051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3}{5}\\&amp;#13;&amp;#10;\frac{5}{8}\\&amp;#13;&amp;#10;\frac{3}{25}\\&amp;#13;&amp;#10;\frac{47}{200}\end{array}&quot;&gt;&lt;mtable columnalign=&quot;left&quot; columnspacing=&quot;1em&quot; rowspacing=&quot;4pt&quot;&gt;&lt;mtr&gt;&lt;mtd&gt;&lt;mfrac&gt;&lt;mn&gt;3&lt;/mn&gt;&lt;mn&gt;5&lt;/mn&gt;&lt;/mfrac&gt;&lt;/mtd&gt;&lt;/mtr&gt;&lt;mtr&gt;&lt;mtd&gt;&lt;mfrac&gt;&lt;mn&gt;5&lt;/mn&gt;&lt;mn&gt;8&lt;/mn&gt;&lt;/mfrac&gt;&lt;/mtd&gt;&lt;/mtr&gt;&lt;mtr&gt;&lt;mtd&gt;&lt;mfrac&gt;&lt;mn&gt;3&lt;/mn&gt;&lt;mn&gt;25&lt;/mn&gt;&lt;/mfrac&gt;&lt;/mtd&gt;&lt;/mtr&gt;&lt;mtr&gt;&lt;mtd&gt;&lt;mfrac&gt;&lt;mn&gt;47&lt;/mn&gt;&lt;mn&gt;200&lt;/mn&gt;&lt;/mfrac&gt;&lt;/mtd&gt;&lt;/mtr&gt;&lt;/mtable&gt;&lt;/math&gt;" id="181" name="Google Shape;181;p20" title="4 lines Line 1: three fifths Line 2: five eighths Line 3: 3 over 25 Line 4: 47 over 200"/>
          <p:cNvPicPr preferRelativeResize="0"/>
          <p:nvPr/>
        </p:nvPicPr>
        <p:blipFill rotWithShape="1">
          <a:blip r:embed="rId3">
            <a:alphaModFix/>
          </a:blip>
          <a:srcRect b="0" l="0" r="0" t="76867"/>
          <a:stretch/>
        </p:blipFill>
        <p:spPr>
          <a:xfrm>
            <a:off x="4012333" y="2038784"/>
            <a:ext cx="404170" cy="5253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0.625&quot;&gt;&lt;mn&gt;0.625&lt;/mn&gt;&lt;/math&gt;" id="182" name="Google Shape;182;p20" title="0.6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52587" y="2987898"/>
            <a:ext cx="545754" cy="1787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0.12&quot;&gt;&lt;mn&gt;0.12&lt;/mn&gt;&lt;/math&gt;" id="183" name="Google Shape;183;p20" title="0.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90477" y="3781540"/>
            <a:ext cx="432834" cy="1740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0.235&quot;&gt;&lt;mn&gt;0.235&lt;/mn&gt;&lt;/math&gt;" id="184" name="Google Shape;184;p20" title="0.2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42295" y="2208985"/>
            <a:ext cx="558445" cy="1829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=&quot;&gt;&lt;mo&gt;=&lt;/mo&gt;&lt;/math&gt;" id="185" name="Google Shape;185;p20" title="equal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45523" y="2253965"/>
            <a:ext cx="182372" cy="838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=&quot;&gt;&lt;mo&gt;=&lt;/mo&gt;&lt;/math&gt;" id="186" name="Google Shape;186;p20" title="equal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84515" y="3060175"/>
            <a:ext cx="182372" cy="838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=&quot;&gt;&lt;mo&gt;=&lt;/mo&gt;&lt;/math&gt;" id="187" name="Google Shape;187;p20" title="equal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14064" y="3812495"/>
            <a:ext cx="182383" cy="83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=&quot;&gt;&lt;mo&gt;=&lt;/mo&gt;&lt;/math&gt;" id="188" name="Google Shape;188;p20" title="equal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13933" y="2266574"/>
            <a:ext cx="186613" cy="85842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0"/>
          <p:cNvSpPr txBox="1"/>
          <p:nvPr/>
        </p:nvSpPr>
        <p:spPr>
          <a:xfrm>
            <a:off x="3483709" y="2855178"/>
            <a:ext cx="52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</a:t>
            </a:r>
            <a:endParaRPr sz="1200"/>
          </a:p>
        </p:txBody>
      </p:sp>
      <p:pic>
        <p:nvPicPr>
          <p:cNvPr descr="&lt;math xmlns=&quot;http://www.w3.org/1998/Math/MathML&quot; display=&quot;block&quot; data-is-equatio=&quot;1&quot; data-latex=&quot;=&quot;&gt;&lt;mo&gt;=&lt;/mo&gt;&lt;/math&gt;" id="190" name="Google Shape;190;p20" title="equal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426136" y="3092391"/>
            <a:ext cx="186613" cy="85842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0"/>
          <p:cNvSpPr txBox="1"/>
          <p:nvPr/>
        </p:nvSpPr>
        <p:spPr>
          <a:xfrm>
            <a:off x="3483709" y="3635835"/>
            <a:ext cx="52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 </a:t>
            </a:r>
            <a:endParaRPr sz="1200"/>
          </a:p>
        </p:txBody>
      </p:sp>
      <p:pic>
        <p:nvPicPr>
          <p:cNvPr descr="&lt;math xmlns=&quot;http://www.w3.org/1998/Math/MathML&quot; display=&quot;block&quot; data-is-equatio=&quot;1&quot; data-latex=&quot;=&quot;&gt;&lt;mo&gt;=&lt;/mo&gt;&lt;/math&gt;" id="192" name="Google Shape;192;p20" title="equal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393947" y="3873048"/>
            <a:ext cx="186613" cy="858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20}\ 0.35\ \ \ \ \ \ \ \frac{627}{50}12.54\ \ \ \ \ \frac{3}{16}\ \ 0.1875&quot;&gt;&lt;mfrac&gt;&lt;mn&gt;7&lt;/mn&gt;&lt;mn&gt;20&lt;/mn&gt;&lt;/mfrac&gt;&lt;mtext&gt;&lt;/mtext&gt;&lt;mn&gt;0.35&lt;/mn&gt;&lt;mtext&gt;&lt;/mtext&gt;&lt;mtext&gt;&lt;/mtext&gt;&lt;mtext&gt;&lt;/mtext&gt;&lt;mtext&gt;&lt;/mtext&gt;&lt;mtext&gt;&lt;/mtext&gt;&lt;mtext&gt;&lt;/mtext&gt;&lt;mtext&gt;&lt;/mtext&gt;&lt;mfrac&gt;&lt;mn&gt;627&lt;/mn&gt;&lt;mn&gt;50&lt;/mn&gt;&lt;/mfrac&gt;&lt;mn&gt;12.54&lt;/mn&gt;&lt;mtext&gt;&lt;/mtext&gt;&lt;mtext&gt;&lt;/mtext&gt;&lt;mtext&gt;&lt;/mtext&gt;&lt;mtext&gt;&lt;/mtext&gt;&lt;mtext&gt;&lt;/mtext&gt;&lt;mfrac&gt;&lt;mn&gt;3&lt;/mn&gt;&lt;mn&gt;16&lt;/mn&gt;&lt;/mfrac&gt;&lt;mtext&gt;&lt;/mtext&gt;&lt;mtext&gt;&lt;/mtext&gt;&lt;mn&gt;0.1875&lt;/mn&gt;&lt;/math&gt;" id="193" name="Google Shape;193;p20" title="7 over 20 0.35 627 over 50 12.54 3 over 16 0.1875"/>
          <p:cNvPicPr preferRelativeResize="0"/>
          <p:nvPr/>
        </p:nvPicPr>
        <p:blipFill rotWithShape="1">
          <a:blip r:embed="rId8">
            <a:alphaModFix/>
          </a:blip>
          <a:srcRect b="0" l="0" r="91564" t="0"/>
          <a:stretch/>
        </p:blipFill>
        <p:spPr>
          <a:xfrm>
            <a:off x="979488" y="2075503"/>
            <a:ext cx="266030" cy="4408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20}\ 0.35\ \ \ \ \ \ \ \frac{627}{50}12.54\ \ \ \ \ \frac{3}{16}\ \ 0.1875&quot;&gt;&lt;mfrac&gt;&lt;mn&gt;7&lt;/mn&gt;&lt;mn&gt;20&lt;/mn&gt;&lt;/mfrac&gt;&lt;mtext&gt;&lt;/mtext&gt;&lt;mn&gt;0.35&lt;/mn&gt;&lt;mtext&gt;&lt;/mtext&gt;&lt;mtext&gt;&lt;/mtext&gt;&lt;mtext&gt;&lt;/mtext&gt;&lt;mtext&gt;&lt;/mtext&gt;&lt;mtext&gt;&lt;/mtext&gt;&lt;mtext&gt;&lt;/mtext&gt;&lt;mtext&gt;&lt;/mtext&gt;&lt;mfrac&gt;&lt;mn&gt;627&lt;/mn&gt;&lt;mn&gt;50&lt;/mn&gt;&lt;/mfrac&gt;&lt;mn&gt;12.54&lt;/mn&gt;&lt;mtext&gt;&lt;/mtext&gt;&lt;mtext&gt;&lt;/mtext&gt;&lt;mtext&gt;&lt;/mtext&gt;&lt;mtext&gt;&lt;/mtext&gt;&lt;mtext&gt;&lt;/mtext&gt;&lt;mfrac&gt;&lt;mn&gt;3&lt;/mn&gt;&lt;mn&gt;16&lt;/mn&gt;&lt;/mfrac&gt;&lt;mtext&gt;&lt;/mtext&gt;&lt;mtext&gt;&lt;/mtext&gt;&lt;mn&gt;0.1875&lt;/mn&gt;&lt;/math&gt;" id="194" name="Google Shape;194;p20" title="7 over 20 0.35 627 over 50 12.54 3 over 16 0.1875"/>
          <p:cNvPicPr preferRelativeResize="0"/>
          <p:nvPr/>
        </p:nvPicPr>
        <p:blipFill rotWithShape="1">
          <a:blip r:embed="rId8">
            <a:alphaModFix/>
          </a:blip>
          <a:srcRect b="0" l="8535" r="76625" t="0"/>
          <a:stretch/>
        </p:blipFill>
        <p:spPr>
          <a:xfrm>
            <a:off x="1505945" y="2026025"/>
            <a:ext cx="601893" cy="5669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20}\ 0.35\ \ \ \ \ \ \ \frac{627}{50}12.54\ \ \ \ \ \frac{3}{16}\ \ 0.1875&quot;&gt;&lt;mfrac&gt;&lt;mn&gt;7&lt;/mn&gt;&lt;mn&gt;20&lt;/mn&gt;&lt;/mfrac&gt;&lt;mtext&gt;&lt;/mtext&gt;&lt;mn&gt;0.35&lt;/mn&gt;&lt;mtext&gt;&lt;/mtext&gt;&lt;mtext&gt;&lt;/mtext&gt;&lt;mtext&gt;&lt;/mtext&gt;&lt;mtext&gt;&lt;/mtext&gt;&lt;mtext&gt;&lt;/mtext&gt;&lt;mtext&gt;&lt;/mtext&gt;&lt;mtext&gt;&lt;/mtext&gt;&lt;mfrac&gt;&lt;mn&gt;627&lt;/mn&gt;&lt;mn&gt;50&lt;/mn&gt;&lt;/mfrac&gt;&lt;mn&gt;12.54&lt;/mn&gt;&lt;mtext&gt;&lt;/mtext&gt;&lt;mtext&gt;&lt;/mtext&gt;&lt;mtext&gt;&lt;/mtext&gt;&lt;mtext&gt;&lt;/mtext&gt;&lt;mtext&gt;&lt;/mtext&gt;&lt;mfrac&gt;&lt;mn&gt;3&lt;/mn&gt;&lt;mn&gt;16&lt;/mn&gt;&lt;/mfrac&gt;&lt;mtext&gt;&lt;/mtext&gt;&lt;mtext&gt;&lt;/mtext&gt;&lt;mn&gt;0.1875&lt;/mn&gt;&lt;/math&gt;" id="195" name="Google Shape;195;p20" title="7 over 20 0.35 627 over 50 12.54 3 over 16 0.1875"/>
          <p:cNvPicPr preferRelativeResize="0"/>
          <p:nvPr/>
        </p:nvPicPr>
        <p:blipFill rotWithShape="1">
          <a:blip r:embed="rId8">
            <a:alphaModFix/>
          </a:blip>
          <a:srcRect b="-7233" l="32967" r="54509" t="-11928"/>
          <a:stretch/>
        </p:blipFill>
        <p:spPr>
          <a:xfrm>
            <a:off x="4016930" y="2839464"/>
            <a:ext cx="394972" cy="5253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20}\ 0.35\ \ \ \ \ \ \ \frac{627}{50}12.54\ \ \ \ \ \frac{3}{16}\ \ 0.1875&quot;&gt;&lt;mfrac&gt;&lt;mn&gt;7&lt;/mn&gt;&lt;mn&gt;20&lt;/mn&gt;&lt;/mfrac&gt;&lt;mtext&gt;&lt;/mtext&gt;&lt;mn&gt;0.35&lt;/mn&gt;&lt;mtext&gt;&lt;/mtext&gt;&lt;mtext&gt;&lt;/mtext&gt;&lt;mtext&gt;&lt;/mtext&gt;&lt;mtext&gt;&lt;/mtext&gt;&lt;mtext&gt;&lt;/mtext&gt;&lt;mtext&gt;&lt;/mtext&gt;&lt;mtext&gt;&lt;/mtext&gt;&lt;mfrac&gt;&lt;mn&gt;627&lt;/mn&gt;&lt;mn&gt;50&lt;/mn&gt;&lt;/mfrac&gt;&lt;mn&gt;12.54&lt;/mn&gt;&lt;mtext&gt;&lt;/mtext&gt;&lt;mtext&gt;&lt;/mtext&gt;&lt;mtext&gt;&lt;/mtext&gt;&lt;mtext&gt;&lt;/mtext&gt;&lt;mtext&gt;&lt;/mtext&gt;&lt;mfrac&gt;&lt;mn&gt;3&lt;/mn&gt;&lt;mn&gt;16&lt;/mn&gt;&lt;/mfrac&gt;&lt;mtext&gt;&lt;/mtext&gt;&lt;mtext&gt;&lt;/mtext&gt;&lt;mn&gt;0.1875&lt;/mn&gt;&lt;/math&gt;" id="196" name="Google Shape;196;p20" title="7 over 20 0.35 627 over 50 12.54 3 over 16 0.1875"/>
          <p:cNvPicPr preferRelativeResize="0"/>
          <p:nvPr/>
        </p:nvPicPr>
        <p:blipFill rotWithShape="1">
          <a:blip r:embed="rId8">
            <a:alphaModFix/>
          </a:blip>
          <a:srcRect b="-9580" l="46052" r="37369" t="-9580"/>
          <a:stretch/>
        </p:blipFill>
        <p:spPr>
          <a:xfrm>
            <a:off x="4700551" y="2872661"/>
            <a:ext cx="522817" cy="5253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20}\ 0.35\ \ \ \ \ \ \ \frac{627}{50}12.54\ \ \ \ \ \frac{3}{16}\ \ 0.1875&quot;&gt;&lt;mfrac&gt;&lt;mn&gt;7&lt;/mn&gt;&lt;mn&gt;20&lt;/mn&gt;&lt;/mfrac&gt;&lt;mtext&gt;&lt;/mtext&gt;&lt;mn&gt;0.35&lt;/mn&gt;&lt;mtext&gt;&lt;/mtext&gt;&lt;mtext&gt;&lt;/mtext&gt;&lt;mtext&gt;&lt;/mtext&gt;&lt;mtext&gt;&lt;/mtext&gt;&lt;mtext&gt;&lt;/mtext&gt;&lt;mtext&gt;&lt;/mtext&gt;&lt;mtext&gt;&lt;/mtext&gt;&lt;mfrac&gt;&lt;mn&gt;627&lt;/mn&gt;&lt;mn&gt;50&lt;/mn&gt;&lt;/mfrac&gt;&lt;mn&gt;12.54&lt;/mn&gt;&lt;mtext&gt;&lt;/mtext&gt;&lt;mtext&gt;&lt;/mtext&gt;&lt;mtext&gt;&lt;/mtext&gt;&lt;mtext&gt;&lt;/mtext&gt;&lt;mtext&gt;&lt;/mtext&gt;&lt;mfrac&gt;&lt;mn&gt;3&lt;/mn&gt;&lt;mn&gt;16&lt;/mn&gt;&lt;/mfrac&gt;&lt;mtext&gt;&lt;/mtext&gt;&lt;mtext&gt;&lt;/mtext&gt;&lt;mn&gt;0.1875&lt;/mn&gt;&lt;/math&gt;" id="197" name="Google Shape;197;p20" title="7 over 20 0.35 627 over 50 12.54 3 over 16 0.1875"/>
          <p:cNvPicPr preferRelativeResize="0"/>
          <p:nvPr/>
        </p:nvPicPr>
        <p:blipFill rotWithShape="1">
          <a:blip r:embed="rId8">
            <a:alphaModFix/>
          </a:blip>
          <a:srcRect b="-15324" l="68650" r="18825" t="-3836"/>
          <a:stretch/>
        </p:blipFill>
        <p:spPr>
          <a:xfrm>
            <a:off x="4016921" y="3605914"/>
            <a:ext cx="394972" cy="5253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20}\ 0.35\ \ \ \ \ \ \ \frac{627}{50}12.54\ \ \ \ \ \frac{3}{16}\ \ 0.1875&quot;&gt;&lt;mfrac&gt;&lt;mn&gt;7&lt;/mn&gt;&lt;mn&gt;20&lt;/mn&gt;&lt;/mfrac&gt;&lt;mtext&gt;&lt;/mtext&gt;&lt;mn&gt;0.35&lt;/mn&gt;&lt;mtext&gt;&lt;/mtext&gt;&lt;mtext&gt;&lt;/mtext&gt;&lt;mtext&gt;&lt;/mtext&gt;&lt;mtext&gt;&lt;/mtext&gt;&lt;mtext&gt;&lt;/mtext&gt;&lt;mtext&gt;&lt;/mtext&gt;&lt;mtext&gt;&lt;/mtext&gt;&lt;mfrac&gt;&lt;mn&gt;627&lt;/mn&gt;&lt;mn&gt;50&lt;/mn&gt;&lt;/mfrac&gt;&lt;mn&gt;12.54&lt;/mn&gt;&lt;mtext&gt;&lt;/mtext&gt;&lt;mtext&gt;&lt;/mtext&gt;&lt;mtext&gt;&lt;/mtext&gt;&lt;mtext&gt;&lt;/mtext&gt;&lt;mtext&gt;&lt;/mtext&gt;&lt;mfrac&gt;&lt;mn&gt;3&lt;/mn&gt;&lt;mn&gt;16&lt;/mn&gt;&lt;/mfrac&gt;&lt;mtext&gt;&lt;/mtext&gt;&lt;mtext&gt;&lt;/mtext&gt;&lt;mn&gt;0.1875&lt;/mn&gt;&lt;/math&gt;" id="198" name="Google Shape;198;p20" title="7 over 20 0.35 627 over 50 12.54 3 over 16 0.1875"/>
          <p:cNvPicPr preferRelativeResize="0"/>
          <p:nvPr/>
        </p:nvPicPr>
        <p:blipFill rotWithShape="1">
          <a:blip r:embed="rId8">
            <a:alphaModFix/>
          </a:blip>
          <a:srcRect b="-9580" l="80389" r="-4232" t="-9580"/>
          <a:stretch/>
        </p:blipFill>
        <p:spPr>
          <a:xfrm>
            <a:off x="4654626" y="3605931"/>
            <a:ext cx="751949" cy="525309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0"/>
          <p:cNvSpPr txBox="1"/>
          <p:nvPr/>
        </p:nvSpPr>
        <p:spPr>
          <a:xfrm>
            <a:off x="468000" y="4708787"/>
            <a:ext cx="10440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Lucas says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0" name="Google Shape;200;p2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66826" y="5133780"/>
            <a:ext cx="845076" cy="9486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533350" y="4346100"/>
            <a:ext cx="4243052" cy="17362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3}{132}=\frac{33}{2\times2\times3\times11}=\frac{3\times11}{2\times2\times3\times11}=\frac{1}{2\times2}=\frac{1}{4}&quot;&gt;&lt;mfrac&gt;&lt;mn&gt;33&lt;/mn&gt;&lt;mn&gt;132&lt;/mn&gt;&lt;/mfrac&gt;&lt;mo&gt;=&lt;/mo&gt;&lt;mfrac&gt;&lt;mn&gt;33&lt;/mn&gt;&lt;mrow&gt;&lt;mn&gt;2&lt;/mn&gt;&lt;mo&gt;×&lt;/mo&gt;&lt;mn&gt;2&lt;/mn&gt;&lt;mo&gt;×&lt;/mo&gt;&lt;mn&gt;3&lt;/mn&gt;&lt;mo&gt;×&lt;/mo&gt;&lt;mn&gt;11&lt;/mn&gt;&lt;/mrow&gt;&lt;/mfrac&gt;&lt;mo&gt;=&lt;/mo&gt;&lt;mfrac&gt;&lt;mrow&gt;&lt;mn&gt;3&lt;/mn&gt;&lt;mo&gt;×&lt;/mo&gt;&lt;mn&gt;11&lt;/mn&gt;&lt;/mrow&gt;&lt;mrow&gt;&lt;mn&gt;2&lt;/mn&gt;&lt;mo&gt;×&lt;/mo&gt;&lt;mn&gt;2&lt;/mn&gt;&lt;mo&gt;×&lt;/mo&gt;&lt;mn&gt;3&lt;/mn&gt;&lt;mo&gt;×&lt;/mo&gt;&lt;mn&gt;11&lt;/mn&gt;&lt;/mrow&gt;&lt;/mfrac&gt;&lt;mo&gt;=&lt;/mo&gt;&lt;mfrac&gt;&lt;mn&gt;1&lt;/mn&gt;&lt;mrow&gt;&lt;mn&gt;2&lt;/mn&gt;&lt;mo&gt;×&lt;/mo&gt;&lt;mn&gt;2&lt;/mn&gt;&lt;/mrow&gt;&lt;/mfrac&gt;&lt;mo&gt;=&lt;/mo&gt;&lt;mfrac&gt;&lt;mn&gt;1&lt;/mn&gt;&lt;mn&gt;4&lt;/mn&gt;&lt;/mfrac&gt;&lt;/math&gt;" id="202" name="Google Shape;202;p20" title="33 over 132 equals the fraction with numerator 33 and denominator 2 times 2 times 3 times 11 equals the fraction with numerator 3 times 11 and denominator 2 times 2 times 3 times 11 equals the fraction with numerator 1 and denominator 2 times 2 equals one fourth"/>
          <p:cNvPicPr preferRelativeResize="0"/>
          <p:nvPr/>
        </p:nvPicPr>
        <p:blipFill rotWithShape="1">
          <a:blip r:embed="rId11">
            <a:alphaModFix/>
          </a:blip>
          <a:srcRect b="0" l="46167" r="0" t="0"/>
          <a:stretch/>
        </p:blipFill>
        <p:spPr>
          <a:xfrm>
            <a:off x="3192867" y="6555370"/>
            <a:ext cx="2203790" cy="3851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3}{132}=\frac{33}{2\times2\times3\times11}=\frac{3\times11}{2\times2\times3\times11}=\frac{1}{2\times2}=\frac{1}{4}&quot;&gt;&lt;mfrac&gt;&lt;mn&gt;33&lt;/mn&gt;&lt;mn&gt;132&lt;/mn&gt;&lt;/mfrac&gt;&lt;mo&gt;=&lt;/mo&gt;&lt;mfrac&gt;&lt;mn&gt;33&lt;/mn&gt;&lt;mrow&gt;&lt;mn&gt;2&lt;/mn&gt;&lt;mo&gt;×&lt;/mo&gt;&lt;mn&gt;2&lt;/mn&gt;&lt;mo&gt;×&lt;/mo&gt;&lt;mn&gt;3&lt;/mn&gt;&lt;mo&gt;×&lt;/mo&gt;&lt;mn&gt;11&lt;/mn&gt;&lt;/mrow&gt;&lt;/mfrac&gt;&lt;mo&gt;=&lt;/mo&gt;&lt;mfrac&gt;&lt;mrow&gt;&lt;mn&gt;3&lt;/mn&gt;&lt;mo&gt;×&lt;/mo&gt;&lt;mn&gt;11&lt;/mn&gt;&lt;/mrow&gt;&lt;mrow&gt;&lt;mn&gt;2&lt;/mn&gt;&lt;mo&gt;×&lt;/mo&gt;&lt;mn&gt;2&lt;/mn&gt;&lt;mo&gt;×&lt;/mo&gt;&lt;mn&gt;3&lt;/mn&gt;&lt;mo&gt;×&lt;/mo&gt;&lt;mn&gt;11&lt;/mn&gt;&lt;/mrow&gt;&lt;/mfrac&gt;&lt;mo&gt;=&lt;/mo&gt;&lt;mfrac&gt;&lt;mn&gt;1&lt;/mn&gt;&lt;mrow&gt;&lt;mn&gt;2&lt;/mn&gt;&lt;mo&gt;×&lt;/mo&gt;&lt;mn&gt;2&lt;/mn&gt;&lt;/mrow&gt;&lt;/mfrac&gt;&lt;mo&gt;=&lt;/mo&gt;&lt;mfrac&gt;&lt;mn&gt;1&lt;/mn&gt;&lt;mn&gt;4&lt;/mn&gt;&lt;/mfrac&gt;&lt;/math&gt;" id="203" name="Google Shape;203;p20" title="33 over 132 equals the fraction with numerator 33 and denominator 2 times 2 times 3 times 11 equals the fraction with numerator 3 times 11 and denominator 2 times 2 times 3 times 11 equals the fraction with numerator 1 and denominator 2 times 2 equals one fourth"/>
          <p:cNvPicPr preferRelativeResize="0"/>
          <p:nvPr/>
        </p:nvPicPr>
        <p:blipFill rotWithShape="1">
          <a:blip r:embed="rId11">
            <a:alphaModFix/>
          </a:blip>
          <a:srcRect b="0" l="0" r="58879" t="0"/>
          <a:stretch/>
        </p:blipFill>
        <p:spPr>
          <a:xfrm>
            <a:off x="2415146" y="4809260"/>
            <a:ext cx="2009861" cy="4598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3}{132}=\frac{33}{2\times2\times3\times11}=\frac{3\times11}{2\times2\times3\times11}=\frac{1}{2\times2}=\frac{1}{4}&quot;&gt;&lt;mfrac&gt;&lt;mn&gt;33&lt;/mn&gt;&lt;mn&gt;132&lt;/mn&gt;&lt;/mfrac&gt;&lt;mo&gt;=&lt;/mo&gt;&lt;mfrac&gt;&lt;mn&gt;33&lt;/mn&gt;&lt;mrow&gt;&lt;mn&gt;2&lt;/mn&gt;&lt;mo&gt;×&lt;/mo&gt;&lt;mn&gt;2&lt;/mn&gt;&lt;mo&gt;×&lt;/mo&gt;&lt;mn&gt;3&lt;/mn&gt;&lt;mo&gt;×&lt;/mo&gt;&lt;mn&gt;11&lt;/mn&gt;&lt;/mrow&gt;&lt;/mfrac&gt;&lt;mo&gt;=&lt;/mo&gt;&lt;mfrac&gt;&lt;mrow&gt;&lt;mn&gt;3&lt;/mn&gt;&lt;mo&gt;×&lt;/mo&gt;&lt;mn&gt;11&lt;/mn&gt;&lt;/mrow&gt;&lt;mrow&gt;&lt;mn&gt;2&lt;/mn&gt;&lt;mo&gt;×&lt;/mo&gt;&lt;mn&gt;2&lt;/mn&gt;&lt;mo&gt;×&lt;/mo&gt;&lt;mn&gt;3&lt;/mn&gt;&lt;mo&gt;×&lt;/mo&gt;&lt;mn&gt;11&lt;/mn&gt;&lt;/mrow&gt;&lt;/mfrac&gt;&lt;mo&gt;=&lt;/mo&gt;&lt;mfrac&gt;&lt;mn&gt;1&lt;/mn&gt;&lt;mrow&gt;&lt;mn&gt;2&lt;/mn&gt;&lt;mo&gt;×&lt;/mo&gt;&lt;mn&gt;2&lt;/mn&gt;&lt;/mrow&gt;&lt;/mfrac&gt;&lt;mo&gt;=&lt;/mo&gt;&lt;mfrac&gt;&lt;mn&gt;1&lt;/mn&gt;&lt;mn&gt;4&lt;/mn&gt;&lt;/mfrac&gt;&lt;/math&gt;" id="204" name="Google Shape;204;p20" title="33 over 132 equals the fraction with numerator 33 and denominator 2 times 2 times 3 times 11 equals the fraction with numerator 3 times 11 and denominator 2 times 2 times 3 times 11 equals the fraction with numerator 1 and denominator 2 times 2 equals one fourth"/>
          <p:cNvPicPr preferRelativeResize="0"/>
          <p:nvPr/>
        </p:nvPicPr>
        <p:blipFill rotWithShape="1">
          <a:blip r:embed="rId11">
            <a:alphaModFix/>
          </a:blip>
          <a:srcRect b="0" l="0" r="91985" t="0"/>
          <a:stretch/>
        </p:blipFill>
        <p:spPr>
          <a:xfrm>
            <a:off x="1585359" y="6233303"/>
            <a:ext cx="279789" cy="328443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0"/>
          <p:cNvSpPr txBox="1"/>
          <p:nvPr/>
        </p:nvSpPr>
        <p:spPr>
          <a:xfrm>
            <a:off x="627690" y="6591497"/>
            <a:ext cx="272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Lucas needed to simplify the fraction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468000" y="7088950"/>
            <a:ext cx="66240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 Jacob has discovered all these denominators will give a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terminating decimal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468000" y="7490845"/>
            <a:ext cx="61626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465750" y="8033063"/>
            <a:ext cx="421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Can you explain why?</a:t>
            </a:r>
            <a:endParaRPr sz="1200"/>
          </a:p>
        </p:txBody>
      </p:sp>
      <p:pic>
        <p:nvPicPr>
          <p:cNvPr descr="&lt;math xmlns=&quot;http://www.w3.org/1998/Math/MathML&quot; display=&quot;block&quot; data-is-equatio=&quot;1&quot; data-latex=&quot;\begin{array}{l}\frac{1}{2}\ \ ,\ \ \frac{1}{4}\ \ ,\ \frac{1}{8}\ \ ,\ \frac{1}{16}\ \ ,\ \frac{1}{32}\ \ ,\ \frac{1}{64}\ ,\ \frac{1}{128},\ \frac{1}{256}\\&amp;#13;&amp;#10;\frac{1}{5}\ \ ,\ \ \frac{1}{10},\ \ \frac{1}{20},\ \frac{1}{40},\ \frac{1}{80},\ \ \frac{1}{160},\ \frac{1}{320}\end{array}&quot;&gt;&lt;mtable columnalign=&quot;left&quot; columnspacing=&quot;1em&quot; rowspacing=&quot;4pt&quot;&gt;&lt;mtr&gt;&lt;mtd&gt;&lt;mfrac&gt;&lt;mn&gt;1&lt;/mn&gt;&lt;mn&gt;2&lt;/mn&gt;&lt;/mfrac&gt;&lt;mtext&gt;&lt;/mtext&gt;&lt;mtext&gt;&lt;/mtext&gt;&lt;mo&gt;,&lt;/mo&gt;&lt;mtext&gt;&lt;/mtext&gt;&lt;mtext&gt;&lt;/mtext&gt;&lt;mfrac&gt;&lt;mn&gt;1&lt;/mn&gt;&lt;mn&gt;4&lt;/mn&gt;&lt;/mfrac&gt;&lt;mtext&gt;&lt;/mtext&gt;&lt;mtext&gt;&lt;/mtext&gt;&lt;mo&gt;,&lt;/mo&gt;&lt;mtext&gt;&lt;/mtext&gt;&lt;mfrac&gt;&lt;mn&gt;1&lt;/mn&gt;&lt;mn&gt;8&lt;/mn&gt;&lt;/mfrac&gt;&lt;mtext&gt;&lt;/mtext&gt;&lt;mtext&gt;&lt;/mtext&gt;&lt;mo&gt;,&lt;/mo&gt;&lt;mtext&gt;&lt;/mtext&gt;&lt;mfrac&gt;&lt;mn&gt;1&lt;/mn&gt;&lt;mn&gt;16&lt;/mn&gt;&lt;/mfrac&gt;&lt;mtext&gt;&lt;/mtext&gt;&lt;mtext&gt;&lt;/mtext&gt;&lt;mo&gt;,&lt;/mo&gt;&lt;mtext&gt;&lt;/mtext&gt;&lt;mfrac&gt;&lt;mn&gt;1&lt;/mn&gt;&lt;mn&gt;32&lt;/mn&gt;&lt;/mfrac&gt;&lt;mtext&gt;&lt;/mtext&gt;&lt;mtext&gt;&lt;/mtext&gt;&lt;mo&gt;,&lt;/mo&gt;&lt;mtext&gt;&lt;/mtext&gt;&lt;mfrac&gt;&lt;mn&gt;1&lt;/mn&gt;&lt;mn&gt;64&lt;/mn&gt;&lt;/mfrac&gt;&lt;mtext&gt;&lt;/mtext&gt;&lt;mo&gt;,&lt;/mo&gt;&lt;mtext&gt;&lt;/mtext&gt;&lt;mfrac&gt;&lt;mn&gt;1&lt;/mn&gt;&lt;mn&gt;128&lt;/mn&gt;&lt;/mfrac&gt;&lt;mo&gt;,&lt;/mo&gt;&lt;mtext&gt;&lt;/mtext&gt;&lt;mfrac&gt;&lt;mn&gt;1&lt;/mn&gt;&lt;mn&gt;256&lt;/mn&gt;&lt;/mfrac&gt;&lt;/mtd&gt;&lt;/mtr&gt;&lt;mtr&gt;&lt;mtd&gt;&lt;mfrac&gt;&lt;mn&gt;1&lt;/mn&gt;&lt;mn&gt;5&lt;/mn&gt;&lt;/mfrac&gt;&lt;mtext&gt;&lt;/mtext&gt;&lt;mtext&gt;&lt;/mtext&gt;&lt;mo&gt;,&lt;/mo&gt;&lt;mtext&gt;&lt;/mtext&gt;&lt;mtext&gt;&lt;/mtext&gt;&lt;mfrac&gt;&lt;mn&gt;1&lt;/mn&gt;&lt;mn&gt;10&lt;/mn&gt;&lt;/mfrac&gt;&lt;mo&gt;,&lt;/mo&gt;&lt;mtext&gt;&lt;/mtext&gt;&lt;mtext&gt;&lt;/mtext&gt;&lt;mfrac&gt;&lt;mn&gt;1&lt;/mn&gt;&lt;mn&gt;20&lt;/mn&gt;&lt;/mfrac&gt;&lt;mo&gt;,&lt;/mo&gt;&lt;mtext&gt;&lt;/mtext&gt;&lt;mfrac&gt;&lt;mn&gt;1&lt;/mn&gt;&lt;mn&gt;40&lt;/mn&gt;&lt;/mfrac&gt;&lt;mo&gt;,&lt;/mo&gt;&lt;mtext&gt;&lt;/mtext&gt;&lt;mfrac&gt;&lt;mn&gt;1&lt;/mn&gt;&lt;mn&gt;80&lt;/mn&gt;&lt;/mfrac&gt;&lt;mo&gt;,&lt;/mo&gt;&lt;mtext&gt;&lt;/mtext&gt;&lt;mtext&gt;&lt;/mtext&gt;&lt;mfrac&gt;&lt;mn&gt;1&lt;/mn&gt;&lt;mn&gt;160&lt;/mn&gt;&lt;/mfrac&gt;&lt;mo&gt;,&lt;/mo&gt;&lt;mtext&gt;&lt;/mtext&gt;&lt;mfrac&gt;&lt;mn&gt;1&lt;/mn&gt;&lt;mn&gt;320&lt;/mn&gt;&lt;/mfrac&gt;&lt;/mtd&gt;&lt;/mtr&gt;&lt;/mtable&gt;&lt;/math&gt;" id="209" name="Google Shape;209;p20" title="2 lines Line 1: one half comma one fourth comma one eighth comma 1 over 16 comma 1 over 32 comma 1 over 64 comma 1 over 128 comma 1 over 256 Line 2: one fifth comma one tenth comma 1 over 20 comma 1 over 40 comma 1 over 80 comma 1 over 160 comma 1 over 320"/>
          <p:cNvPicPr preferRelativeResize="0"/>
          <p:nvPr/>
        </p:nvPicPr>
        <p:blipFill rotWithShape="1">
          <a:blip r:embed="rId12">
            <a:alphaModFix/>
          </a:blip>
          <a:srcRect b="49505" l="0" r="93903" t="0"/>
          <a:stretch/>
        </p:blipFill>
        <p:spPr>
          <a:xfrm>
            <a:off x="773493" y="7413500"/>
            <a:ext cx="328369" cy="5484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2}\ \ ,\ \ \frac{1}{4}\ \ ,\ \frac{1}{8}\ \ ,\ \frac{1}{16}\ \ ,\ \frac{1}{32}\ \ ,\ \frac{1}{64}\ ,\ \frac{1}{128},\ \frac{1}{256}\\&amp;#13;&amp;#10;\frac{1}{5}\ \ ,\ \ \frac{1}{10},\ \ \frac{1}{20},\ \frac{1}{40},\ \frac{1}{80},\ \ \frac{1}{160},\ \frac{1}{320}\end{array}&quot;&gt;&lt;mtable columnalign=&quot;left&quot; columnspacing=&quot;1em&quot; rowspacing=&quot;4pt&quot;&gt;&lt;mtr&gt;&lt;mtd&gt;&lt;mfrac&gt;&lt;mn&gt;1&lt;/mn&gt;&lt;mn&gt;2&lt;/mn&gt;&lt;/mfrac&gt;&lt;mtext&gt;&lt;/mtext&gt;&lt;mtext&gt;&lt;/mtext&gt;&lt;mo&gt;,&lt;/mo&gt;&lt;mtext&gt;&lt;/mtext&gt;&lt;mtext&gt;&lt;/mtext&gt;&lt;mfrac&gt;&lt;mn&gt;1&lt;/mn&gt;&lt;mn&gt;4&lt;/mn&gt;&lt;/mfrac&gt;&lt;mtext&gt;&lt;/mtext&gt;&lt;mtext&gt;&lt;/mtext&gt;&lt;mo&gt;,&lt;/mo&gt;&lt;mtext&gt;&lt;/mtext&gt;&lt;mfrac&gt;&lt;mn&gt;1&lt;/mn&gt;&lt;mn&gt;8&lt;/mn&gt;&lt;/mfrac&gt;&lt;mtext&gt;&lt;/mtext&gt;&lt;mtext&gt;&lt;/mtext&gt;&lt;mo&gt;,&lt;/mo&gt;&lt;mtext&gt;&lt;/mtext&gt;&lt;mfrac&gt;&lt;mn&gt;1&lt;/mn&gt;&lt;mn&gt;16&lt;/mn&gt;&lt;/mfrac&gt;&lt;mtext&gt;&lt;/mtext&gt;&lt;mtext&gt;&lt;/mtext&gt;&lt;mo&gt;,&lt;/mo&gt;&lt;mtext&gt;&lt;/mtext&gt;&lt;mfrac&gt;&lt;mn&gt;1&lt;/mn&gt;&lt;mn&gt;32&lt;/mn&gt;&lt;/mfrac&gt;&lt;mtext&gt;&lt;/mtext&gt;&lt;mtext&gt;&lt;/mtext&gt;&lt;mo&gt;,&lt;/mo&gt;&lt;mtext&gt;&lt;/mtext&gt;&lt;mfrac&gt;&lt;mn&gt;1&lt;/mn&gt;&lt;mn&gt;64&lt;/mn&gt;&lt;/mfrac&gt;&lt;mtext&gt;&lt;/mtext&gt;&lt;mo&gt;,&lt;/mo&gt;&lt;mtext&gt;&lt;/mtext&gt;&lt;mfrac&gt;&lt;mn&gt;1&lt;/mn&gt;&lt;mn&gt;128&lt;/mn&gt;&lt;/mfrac&gt;&lt;mo&gt;,&lt;/mo&gt;&lt;mtext&gt;&lt;/mtext&gt;&lt;mfrac&gt;&lt;mn&gt;1&lt;/mn&gt;&lt;mn&gt;256&lt;/mn&gt;&lt;/mfrac&gt;&lt;/mtd&gt;&lt;/mtr&gt;&lt;mtr&gt;&lt;mtd&gt;&lt;mfrac&gt;&lt;mn&gt;1&lt;/mn&gt;&lt;mn&gt;5&lt;/mn&gt;&lt;/mfrac&gt;&lt;mtext&gt;&lt;/mtext&gt;&lt;mtext&gt;&lt;/mtext&gt;&lt;mo&gt;,&lt;/mo&gt;&lt;mtext&gt;&lt;/mtext&gt;&lt;mtext&gt;&lt;/mtext&gt;&lt;mfrac&gt;&lt;mn&gt;1&lt;/mn&gt;&lt;mn&gt;10&lt;/mn&gt;&lt;/mfrac&gt;&lt;mo&gt;,&lt;/mo&gt;&lt;mtext&gt;&lt;/mtext&gt;&lt;mtext&gt;&lt;/mtext&gt;&lt;mfrac&gt;&lt;mn&gt;1&lt;/mn&gt;&lt;mn&gt;20&lt;/mn&gt;&lt;/mfrac&gt;&lt;mo&gt;,&lt;/mo&gt;&lt;mtext&gt;&lt;/mtext&gt;&lt;mfrac&gt;&lt;mn&gt;1&lt;/mn&gt;&lt;mn&gt;40&lt;/mn&gt;&lt;/mfrac&gt;&lt;mo&gt;,&lt;/mo&gt;&lt;mtext&gt;&lt;/mtext&gt;&lt;mfrac&gt;&lt;mn&gt;1&lt;/mn&gt;&lt;mn&gt;80&lt;/mn&gt;&lt;/mfrac&gt;&lt;mo&gt;,&lt;/mo&gt;&lt;mtext&gt;&lt;/mtext&gt;&lt;mtext&gt;&lt;/mtext&gt;&lt;mfrac&gt;&lt;mn&gt;1&lt;/mn&gt;&lt;mn&gt;160&lt;/mn&gt;&lt;/mfrac&gt;&lt;mo&gt;,&lt;/mo&gt;&lt;mtext&gt;&lt;/mtext&gt;&lt;mfrac&gt;&lt;mn&gt;1&lt;/mn&gt;&lt;mn&gt;320&lt;/mn&gt;&lt;/mfrac&gt;&lt;/mtd&gt;&lt;/mtr&gt;&lt;/mtable&gt;&lt;/math&gt;" id="210" name="Google Shape;210;p20" title="2 lines Line 1: one half comma one fourth comma one eighth comma 1 over 16 comma 1 over 32 comma 1 over 64 comma 1 over 128 comma 1 over 256 Line 2: one fifth comma one tenth comma 1 over 20 comma 1 over 40 comma 1 over 80 comma 1 over 160 comma 1 over 320"/>
          <p:cNvPicPr preferRelativeResize="0"/>
          <p:nvPr/>
        </p:nvPicPr>
        <p:blipFill rotWithShape="1">
          <a:blip r:embed="rId12">
            <a:alphaModFix/>
          </a:blip>
          <a:srcRect b="49505" l="6097" r="79924" t="0"/>
          <a:stretch/>
        </p:blipFill>
        <p:spPr>
          <a:xfrm>
            <a:off x="1101861" y="7413500"/>
            <a:ext cx="752849" cy="5484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2}\ \ ,\ \ \frac{1}{4}\ \ ,\ \frac{1}{8}\ \ ,\ \frac{1}{16}\ \ ,\ \frac{1}{32}\ \ ,\ \frac{1}{64}\ ,\ \frac{1}{128},\ \frac{1}{256}\\&amp;#13;&amp;#10;\frac{1}{5}\ \ ,\ \ \frac{1}{10},\ \ \frac{1}{20},\ \frac{1}{40},\ \frac{1}{80},\ \ \frac{1}{160},\ \frac{1}{320}\end{array}&quot;&gt;&lt;mtable columnalign=&quot;left&quot; columnspacing=&quot;1em&quot; rowspacing=&quot;4pt&quot;&gt;&lt;mtr&gt;&lt;mtd&gt;&lt;mfrac&gt;&lt;mn&gt;1&lt;/mn&gt;&lt;mn&gt;2&lt;/mn&gt;&lt;/mfrac&gt;&lt;mtext&gt;&lt;/mtext&gt;&lt;mtext&gt;&lt;/mtext&gt;&lt;mo&gt;,&lt;/mo&gt;&lt;mtext&gt;&lt;/mtext&gt;&lt;mtext&gt;&lt;/mtext&gt;&lt;mfrac&gt;&lt;mn&gt;1&lt;/mn&gt;&lt;mn&gt;4&lt;/mn&gt;&lt;/mfrac&gt;&lt;mtext&gt;&lt;/mtext&gt;&lt;mtext&gt;&lt;/mtext&gt;&lt;mo&gt;,&lt;/mo&gt;&lt;mtext&gt;&lt;/mtext&gt;&lt;mfrac&gt;&lt;mn&gt;1&lt;/mn&gt;&lt;mn&gt;8&lt;/mn&gt;&lt;/mfrac&gt;&lt;mtext&gt;&lt;/mtext&gt;&lt;mtext&gt;&lt;/mtext&gt;&lt;mo&gt;,&lt;/mo&gt;&lt;mtext&gt;&lt;/mtext&gt;&lt;mfrac&gt;&lt;mn&gt;1&lt;/mn&gt;&lt;mn&gt;16&lt;/mn&gt;&lt;/mfrac&gt;&lt;mtext&gt;&lt;/mtext&gt;&lt;mtext&gt;&lt;/mtext&gt;&lt;mo&gt;,&lt;/mo&gt;&lt;mtext&gt;&lt;/mtext&gt;&lt;mfrac&gt;&lt;mn&gt;1&lt;/mn&gt;&lt;mn&gt;32&lt;/mn&gt;&lt;/mfrac&gt;&lt;mtext&gt;&lt;/mtext&gt;&lt;mtext&gt;&lt;/mtext&gt;&lt;mo&gt;,&lt;/mo&gt;&lt;mtext&gt;&lt;/mtext&gt;&lt;mfrac&gt;&lt;mn&gt;1&lt;/mn&gt;&lt;mn&gt;64&lt;/mn&gt;&lt;/mfrac&gt;&lt;mtext&gt;&lt;/mtext&gt;&lt;mo&gt;,&lt;/mo&gt;&lt;mtext&gt;&lt;/mtext&gt;&lt;mfrac&gt;&lt;mn&gt;1&lt;/mn&gt;&lt;mn&gt;128&lt;/mn&gt;&lt;/mfrac&gt;&lt;mo&gt;,&lt;/mo&gt;&lt;mtext&gt;&lt;/mtext&gt;&lt;mfrac&gt;&lt;mn&gt;1&lt;/mn&gt;&lt;mn&gt;256&lt;/mn&gt;&lt;/mfrac&gt;&lt;/mtd&gt;&lt;/mtr&gt;&lt;mtr&gt;&lt;mtd&gt;&lt;mfrac&gt;&lt;mn&gt;1&lt;/mn&gt;&lt;mn&gt;5&lt;/mn&gt;&lt;/mfrac&gt;&lt;mtext&gt;&lt;/mtext&gt;&lt;mtext&gt;&lt;/mtext&gt;&lt;mo&gt;,&lt;/mo&gt;&lt;mtext&gt;&lt;/mtext&gt;&lt;mtext&gt;&lt;/mtext&gt;&lt;mfrac&gt;&lt;mn&gt;1&lt;/mn&gt;&lt;mn&gt;10&lt;/mn&gt;&lt;/mfrac&gt;&lt;mo&gt;,&lt;/mo&gt;&lt;mtext&gt;&lt;/mtext&gt;&lt;mtext&gt;&lt;/mtext&gt;&lt;mfrac&gt;&lt;mn&gt;1&lt;/mn&gt;&lt;mn&gt;20&lt;/mn&gt;&lt;/mfrac&gt;&lt;mo&gt;,&lt;/mo&gt;&lt;mtext&gt;&lt;/mtext&gt;&lt;mfrac&gt;&lt;mn&gt;1&lt;/mn&gt;&lt;mn&gt;40&lt;/mn&gt;&lt;/mfrac&gt;&lt;mo&gt;,&lt;/mo&gt;&lt;mtext&gt;&lt;/mtext&gt;&lt;mfrac&gt;&lt;mn&gt;1&lt;/mn&gt;&lt;mn&gt;80&lt;/mn&gt;&lt;/mfrac&gt;&lt;mo&gt;,&lt;/mo&gt;&lt;mtext&gt;&lt;/mtext&gt;&lt;mtext&gt;&lt;/mtext&gt;&lt;mfrac&gt;&lt;mn&gt;1&lt;/mn&gt;&lt;mn&gt;160&lt;/mn&gt;&lt;/mfrac&gt;&lt;mo&gt;,&lt;/mo&gt;&lt;mtext&gt;&lt;/mtext&gt;&lt;mfrac&gt;&lt;mn&gt;1&lt;/mn&gt;&lt;mn&gt;320&lt;/mn&gt;&lt;/mfrac&gt;&lt;/mtd&gt;&lt;/mtr&gt;&lt;/mtable&gt;&lt;/math&gt;" id="211" name="Google Shape;211;p20" title="2 lines Line 1: one half comma one fourth comma one eighth comma 1 over 16 comma 1 over 32 comma 1 over 64 comma 1 over 128 comma 1 over 256 Line 2: one fifth comma one tenth comma 1 over 20 comma 1 over 40 comma 1 over 80 comma 1 over 160 comma 1 over 320"/>
          <p:cNvPicPr preferRelativeResize="0"/>
          <p:nvPr/>
        </p:nvPicPr>
        <p:blipFill rotWithShape="1">
          <a:blip r:embed="rId12">
            <a:alphaModFix/>
          </a:blip>
          <a:srcRect b="49505" l="19591" r="68461" t="0"/>
          <a:stretch/>
        </p:blipFill>
        <p:spPr>
          <a:xfrm>
            <a:off x="1822543" y="7413500"/>
            <a:ext cx="643458" cy="5484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2}\ \ ,\ \ \frac{1}{4}\ \ ,\ \frac{1}{8}\ \ ,\ \frac{1}{16}\ \ ,\ \frac{1}{32}\ \ ,\ \frac{1}{64}\ ,\ \frac{1}{128},\ \frac{1}{256}\\&amp;#13;&amp;#10;\frac{1}{5}\ \ ,\ \ \frac{1}{10},\ \ \frac{1}{20},\ \frac{1}{40},\ \frac{1}{80},\ \ \frac{1}{160},\ \frac{1}{320}\end{array}&quot;&gt;&lt;mtable columnalign=&quot;left&quot; columnspacing=&quot;1em&quot; rowspacing=&quot;4pt&quot;&gt;&lt;mtr&gt;&lt;mtd&gt;&lt;mfrac&gt;&lt;mn&gt;1&lt;/mn&gt;&lt;mn&gt;2&lt;/mn&gt;&lt;/mfrac&gt;&lt;mtext&gt;&lt;/mtext&gt;&lt;mtext&gt;&lt;/mtext&gt;&lt;mo&gt;,&lt;/mo&gt;&lt;mtext&gt;&lt;/mtext&gt;&lt;mtext&gt;&lt;/mtext&gt;&lt;mfrac&gt;&lt;mn&gt;1&lt;/mn&gt;&lt;mn&gt;4&lt;/mn&gt;&lt;/mfrac&gt;&lt;mtext&gt;&lt;/mtext&gt;&lt;mtext&gt;&lt;/mtext&gt;&lt;mo&gt;,&lt;/mo&gt;&lt;mtext&gt;&lt;/mtext&gt;&lt;mfrac&gt;&lt;mn&gt;1&lt;/mn&gt;&lt;mn&gt;8&lt;/mn&gt;&lt;/mfrac&gt;&lt;mtext&gt;&lt;/mtext&gt;&lt;mtext&gt;&lt;/mtext&gt;&lt;mo&gt;,&lt;/mo&gt;&lt;mtext&gt;&lt;/mtext&gt;&lt;mfrac&gt;&lt;mn&gt;1&lt;/mn&gt;&lt;mn&gt;16&lt;/mn&gt;&lt;/mfrac&gt;&lt;mtext&gt;&lt;/mtext&gt;&lt;mtext&gt;&lt;/mtext&gt;&lt;mo&gt;,&lt;/mo&gt;&lt;mtext&gt;&lt;/mtext&gt;&lt;mfrac&gt;&lt;mn&gt;1&lt;/mn&gt;&lt;mn&gt;32&lt;/mn&gt;&lt;/mfrac&gt;&lt;mtext&gt;&lt;/mtext&gt;&lt;mtext&gt;&lt;/mtext&gt;&lt;mo&gt;,&lt;/mo&gt;&lt;mtext&gt;&lt;/mtext&gt;&lt;mfrac&gt;&lt;mn&gt;1&lt;/mn&gt;&lt;mn&gt;64&lt;/mn&gt;&lt;/mfrac&gt;&lt;mtext&gt;&lt;/mtext&gt;&lt;mo&gt;,&lt;/mo&gt;&lt;mtext&gt;&lt;/mtext&gt;&lt;mfrac&gt;&lt;mn&gt;1&lt;/mn&gt;&lt;mn&gt;128&lt;/mn&gt;&lt;/mfrac&gt;&lt;mo&gt;,&lt;/mo&gt;&lt;mtext&gt;&lt;/mtext&gt;&lt;mfrac&gt;&lt;mn&gt;1&lt;/mn&gt;&lt;mn&gt;256&lt;/mn&gt;&lt;/mfrac&gt;&lt;/mtd&gt;&lt;/mtr&gt;&lt;mtr&gt;&lt;mtd&gt;&lt;mfrac&gt;&lt;mn&gt;1&lt;/mn&gt;&lt;mn&gt;5&lt;/mn&gt;&lt;/mfrac&gt;&lt;mtext&gt;&lt;/mtext&gt;&lt;mtext&gt;&lt;/mtext&gt;&lt;mo&gt;,&lt;/mo&gt;&lt;mtext&gt;&lt;/mtext&gt;&lt;mtext&gt;&lt;/mtext&gt;&lt;mfrac&gt;&lt;mn&gt;1&lt;/mn&gt;&lt;mn&gt;10&lt;/mn&gt;&lt;/mfrac&gt;&lt;mo&gt;,&lt;/mo&gt;&lt;mtext&gt;&lt;/mtext&gt;&lt;mtext&gt;&lt;/mtext&gt;&lt;mfrac&gt;&lt;mn&gt;1&lt;/mn&gt;&lt;mn&gt;20&lt;/mn&gt;&lt;/mfrac&gt;&lt;mo&gt;,&lt;/mo&gt;&lt;mtext&gt;&lt;/mtext&gt;&lt;mfrac&gt;&lt;mn&gt;1&lt;/mn&gt;&lt;mn&gt;40&lt;/mn&gt;&lt;/mfrac&gt;&lt;mo&gt;,&lt;/mo&gt;&lt;mtext&gt;&lt;/mtext&gt;&lt;mfrac&gt;&lt;mn&gt;1&lt;/mn&gt;&lt;mn&gt;80&lt;/mn&gt;&lt;/mfrac&gt;&lt;mo&gt;,&lt;/mo&gt;&lt;mtext&gt;&lt;/mtext&gt;&lt;mtext&gt;&lt;/mtext&gt;&lt;mfrac&gt;&lt;mn&gt;1&lt;/mn&gt;&lt;mn&gt;160&lt;/mn&gt;&lt;/mfrac&gt;&lt;mo&gt;,&lt;/mo&gt;&lt;mtext&gt;&lt;/mtext&gt;&lt;mfrac&gt;&lt;mn&gt;1&lt;/mn&gt;&lt;mn&gt;320&lt;/mn&gt;&lt;/mfrac&gt;&lt;/mtd&gt;&lt;/mtr&gt;&lt;/mtable&gt;&lt;/math&gt;" id="212" name="Google Shape;212;p20" title="2 lines Line 1: one half comma one fourth comma one eighth comma 1 over 16 comma 1 over 32 comma 1 over 64 comma 1 over 128 comma 1 over 256 Line 2: one fifth comma one tenth comma 1 over 20 comma 1 over 40 comma 1 over 80 comma 1 over 160 comma 1 over 320"/>
          <p:cNvPicPr preferRelativeResize="0"/>
          <p:nvPr/>
        </p:nvPicPr>
        <p:blipFill rotWithShape="1">
          <a:blip r:embed="rId12">
            <a:alphaModFix/>
          </a:blip>
          <a:srcRect b="49505" l="31538" r="54603" t="0"/>
          <a:stretch/>
        </p:blipFill>
        <p:spPr>
          <a:xfrm>
            <a:off x="2465999" y="7413500"/>
            <a:ext cx="746409" cy="5484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2}\ \ ,\ \ \frac{1}{4}\ \ ,\ \frac{1}{8}\ \ ,\ \frac{1}{16}\ \ ,\ \frac{1}{32}\ \ ,\ \frac{1}{64}\ ,\ \frac{1}{128},\ \frac{1}{256}\\&amp;#13;&amp;#10;\frac{1}{5}\ \ ,\ \ \frac{1}{10},\ \ \frac{1}{20},\ \frac{1}{40},\ \frac{1}{80},\ \ \frac{1}{160},\ \frac{1}{320}\end{array}&quot;&gt;&lt;mtable columnalign=&quot;left&quot; columnspacing=&quot;1em&quot; rowspacing=&quot;4pt&quot;&gt;&lt;mtr&gt;&lt;mtd&gt;&lt;mfrac&gt;&lt;mn&gt;1&lt;/mn&gt;&lt;mn&gt;2&lt;/mn&gt;&lt;/mfrac&gt;&lt;mtext&gt;&lt;/mtext&gt;&lt;mtext&gt;&lt;/mtext&gt;&lt;mo&gt;,&lt;/mo&gt;&lt;mtext&gt;&lt;/mtext&gt;&lt;mtext&gt;&lt;/mtext&gt;&lt;mfrac&gt;&lt;mn&gt;1&lt;/mn&gt;&lt;mn&gt;4&lt;/mn&gt;&lt;/mfrac&gt;&lt;mtext&gt;&lt;/mtext&gt;&lt;mtext&gt;&lt;/mtext&gt;&lt;mo&gt;,&lt;/mo&gt;&lt;mtext&gt;&lt;/mtext&gt;&lt;mfrac&gt;&lt;mn&gt;1&lt;/mn&gt;&lt;mn&gt;8&lt;/mn&gt;&lt;/mfrac&gt;&lt;mtext&gt;&lt;/mtext&gt;&lt;mtext&gt;&lt;/mtext&gt;&lt;mo&gt;,&lt;/mo&gt;&lt;mtext&gt;&lt;/mtext&gt;&lt;mfrac&gt;&lt;mn&gt;1&lt;/mn&gt;&lt;mn&gt;16&lt;/mn&gt;&lt;/mfrac&gt;&lt;mtext&gt;&lt;/mtext&gt;&lt;mtext&gt;&lt;/mtext&gt;&lt;mo&gt;,&lt;/mo&gt;&lt;mtext&gt;&lt;/mtext&gt;&lt;mfrac&gt;&lt;mn&gt;1&lt;/mn&gt;&lt;mn&gt;32&lt;/mn&gt;&lt;/mfrac&gt;&lt;mtext&gt;&lt;/mtext&gt;&lt;mtext&gt;&lt;/mtext&gt;&lt;mo&gt;,&lt;/mo&gt;&lt;mtext&gt;&lt;/mtext&gt;&lt;mfrac&gt;&lt;mn&gt;1&lt;/mn&gt;&lt;mn&gt;64&lt;/mn&gt;&lt;/mfrac&gt;&lt;mtext&gt;&lt;/mtext&gt;&lt;mo&gt;,&lt;/mo&gt;&lt;mtext&gt;&lt;/mtext&gt;&lt;mfrac&gt;&lt;mn&gt;1&lt;/mn&gt;&lt;mn&gt;128&lt;/mn&gt;&lt;/mfrac&gt;&lt;mo&gt;,&lt;/mo&gt;&lt;mtext&gt;&lt;/mtext&gt;&lt;mfrac&gt;&lt;mn&gt;1&lt;/mn&gt;&lt;mn&gt;256&lt;/mn&gt;&lt;/mfrac&gt;&lt;/mtd&gt;&lt;/mtr&gt;&lt;mtr&gt;&lt;mtd&gt;&lt;mfrac&gt;&lt;mn&gt;1&lt;/mn&gt;&lt;mn&gt;5&lt;/mn&gt;&lt;/mfrac&gt;&lt;mtext&gt;&lt;/mtext&gt;&lt;mtext&gt;&lt;/mtext&gt;&lt;mo&gt;,&lt;/mo&gt;&lt;mtext&gt;&lt;/mtext&gt;&lt;mtext&gt;&lt;/mtext&gt;&lt;mfrac&gt;&lt;mn&gt;1&lt;/mn&gt;&lt;mn&gt;10&lt;/mn&gt;&lt;/mfrac&gt;&lt;mo&gt;,&lt;/mo&gt;&lt;mtext&gt;&lt;/mtext&gt;&lt;mtext&gt;&lt;/mtext&gt;&lt;mfrac&gt;&lt;mn&gt;1&lt;/mn&gt;&lt;mn&gt;20&lt;/mn&gt;&lt;/mfrac&gt;&lt;mo&gt;,&lt;/mo&gt;&lt;mtext&gt;&lt;/mtext&gt;&lt;mfrac&gt;&lt;mn&gt;1&lt;/mn&gt;&lt;mn&gt;40&lt;/mn&gt;&lt;/mfrac&gt;&lt;mo&gt;,&lt;/mo&gt;&lt;mtext&gt;&lt;/mtext&gt;&lt;mfrac&gt;&lt;mn&gt;1&lt;/mn&gt;&lt;mn&gt;80&lt;/mn&gt;&lt;/mfrac&gt;&lt;mo&gt;,&lt;/mo&gt;&lt;mtext&gt;&lt;/mtext&gt;&lt;mtext&gt;&lt;/mtext&gt;&lt;mfrac&gt;&lt;mn&gt;1&lt;/mn&gt;&lt;mn&gt;160&lt;/mn&gt;&lt;/mfrac&gt;&lt;mo&gt;,&lt;/mo&gt;&lt;mtext&gt;&lt;/mtext&gt;&lt;mfrac&gt;&lt;mn&gt;1&lt;/mn&gt;&lt;mn&gt;320&lt;/mn&gt;&lt;/mfrac&gt;&lt;/mtd&gt;&lt;/mtr&gt;&lt;/mtable&gt;&lt;/math&gt;" id="213" name="Google Shape;213;p20" title="2 lines Line 1: one half comma one fourth comma one eighth comma 1 over 16 comma 1 over 32 comma 1 over 64 comma 1 over 128 comma 1 over 256 Line 2: one fifth comma one tenth comma 1 over 20 comma 1 over 40 comma 1 over 80 comma 1 over 160 comma 1 over 320"/>
          <p:cNvPicPr preferRelativeResize="0"/>
          <p:nvPr/>
        </p:nvPicPr>
        <p:blipFill rotWithShape="1">
          <a:blip r:embed="rId12">
            <a:alphaModFix/>
          </a:blip>
          <a:srcRect b="49505" l="45295" r="41802" t="0"/>
          <a:stretch/>
        </p:blipFill>
        <p:spPr>
          <a:xfrm>
            <a:off x="3212408" y="7413500"/>
            <a:ext cx="694934" cy="5484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2}\ \ ,\ \ \frac{1}{4}\ \ ,\ \frac{1}{8}\ \ ,\ \frac{1}{16}\ \ ,\ \frac{1}{32}\ \ ,\ \frac{1}{64}\ ,\ \frac{1}{128},\ \frac{1}{256}\\&amp;#13;&amp;#10;\frac{1}{5}\ \ ,\ \ \frac{1}{10},\ \ \frac{1}{20},\ \frac{1}{40},\ \frac{1}{80},\ \ \frac{1}{160},\ \frac{1}{320}\end{array}&quot;&gt;&lt;mtable columnalign=&quot;left&quot; columnspacing=&quot;1em&quot; rowspacing=&quot;4pt&quot;&gt;&lt;mtr&gt;&lt;mtd&gt;&lt;mfrac&gt;&lt;mn&gt;1&lt;/mn&gt;&lt;mn&gt;2&lt;/mn&gt;&lt;/mfrac&gt;&lt;mtext&gt;&lt;/mtext&gt;&lt;mtext&gt;&lt;/mtext&gt;&lt;mo&gt;,&lt;/mo&gt;&lt;mtext&gt;&lt;/mtext&gt;&lt;mtext&gt;&lt;/mtext&gt;&lt;mfrac&gt;&lt;mn&gt;1&lt;/mn&gt;&lt;mn&gt;4&lt;/mn&gt;&lt;/mfrac&gt;&lt;mtext&gt;&lt;/mtext&gt;&lt;mtext&gt;&lt;/mtext&gt;&lt;mo&gt;,&lt;/mo&gt;&lt;mtext&gt;&lt;/mtext&gt;&lt;mfrac&gt;&lt;mn&gt;1&lt;/mn&gt;&lt;mn&gt;8&lt;/mn&gt;&lt;/mfrac&gt;&lt;mtext&gt;&lt;/mtext&gt;&lt;mtext&gt;&lt;/mtext&gt;&lt;mo&gt;,&lt;/mo&gt;&lt;mtext&gt;&lt;/mtext&gt;&lt;mfrac&gt;&lt;mn&gt;1&lt;/mn&gt;&lt;mn&gt;16&lt;/mn&gt;&lt;/mfrac&gt;&lt;mtext&gt;&lt;/mtext&gt;&lt;mtext&gt;&lt;/mtext&gt;&lt;mo&gt;,&lt;/mo&gt;&lt;mtext&gt;&lt;/mtext&gt;&lt;mfrac&gt;&lt;mn&gt;1&lt;/mn&gt;&lt;mn&gt;32&lt;/mn&gt;&lt;/mfrac&gt;&lt;mtext&gt;&lt;/mtext&gt;&lt;mtext&gt;&lt;/mtext&gt;&lt;mo&gt;,&lt;/mo&gt;&lt;mtext&gt;&lt;/mtext&gt;&lt;mfrac&gt;&lt;mn&gt;1&lt;/mn&gt;&lt;mn&gt;64&lt;/mn&gt;&lt;/mfrac&gt;&lt;mtext&gt;&lt;/mtext&gt;&lt;mo&gt;,&lt;/mo&gt;&lt;mtext&gt;&lt;/mtext&gt;&lt;mfrac&gt;&lt;mn&gt;1&lt;/mn&gt;&lt;mn&gt;128&lt;/mn&gt;&lt;/mfrac&gt;&lt;mo&gt;,&lt;/mo&gt;&lt;mtext&gt;&lt;/mtext&gt;&lt;mfrac&gt;&lt;mn&gt;1&lt;/mn&gt;&lt;mn&gt;256&lt;/mn&gt;&lt;/mfrac&gt;&lt;/mtd&gt;&lt;/mtr&gt;&lt;mtr&gt;&lt;mtd&gt;&lt;mfrac&gt;&lt;mn&gt;1&lt;/mn&gt;&lt;mn&gt;5&lt;/mn&gt;&lt;/mfrac&gt;&lt;mtext&gt;&lt;/mtext&gt;&lt;mtext&gt;&lt;/mtext&gt;&lt;mo&gt;,&lt;/mo&gt;&lt;mtext&gt;&lt;/mtext&gt;&lt;mtext&gt;&lt;/mtext&gt;&lt;mfrac&gt;&lt;mn&gt;1&lt;/mn&gt;&lt;mn&gt;10&lt;/mn&gt;&lt;/mfrac&gt;&lt;mo&gt;,&lt;/mo&gt;&lt;mtext&gt;&lt;/mtext&gt;&lt;mtext&gt;&lt;/mtext&gt;&lt;mfrac&gt;&lt;mn&gt;1&lt;/mn&gt;&lt;mn&gt;20&lt;/mn&gt;&lt;/mfrac&gt;&lt;mo&gt;,&lt;/mo&gt;&lt;mtext&gt;&lt;/mtext&gt;&lt;mfrac&gt;&lt;mn&gt;1&lt;/mn&gt;&lt;mn&gt;40&lt;/mn&gt;&lt;/mfrac&gt;&lt;mo&gt;,&lt;/mo&gt;&lt;mtext&gt;&lt;/mtext&gt;&lt;mfrac&gt;&lt;mn&gt;1&lt;/mn&gt;&lt;mn&gt;80&lt;/mn&gt;&lt;/mfrac&gt;&lt;mo&gt;,&lt;/mo&gt;&lt;mtext&gt;&lt;/mtext&gt;&lt;mtext&gt;&lt;/mtext&gt;&lt;mfrac&gt;&lt;mn&gt;1&lt;/mn&gt;&lt;mn&gt;160&lt;/mn&gt;&lt;/mfrac&gt;&lt;mo&gt;,&lt;/mo&gt;&lt;mtext&gt;&lt;/mtext&gt;&lt;mfrac&gt;&lt;mn&gt;1&lt;/mn&gt;&lt;mn&gt;320&lt;/mn&gt;&lt;/mfrac&gt;&lt;/mtd&gt;&lt;/mtr&gt;&lt;/mtable&gt;&lt;/math&gt;" id="214" name="Google Shape;214;p20" title="2 lines Line 1: one half comma one fourth comma one eighth comma 1 over 16 comma 1 over 32 comma 1 over 64 comma 1 over 128 comma 1 over 256 Line 2: one fifth comma one tenth comma 1 over 20 comma 1 over 40 comma 1 over 80 comma 1 over 160 comma 1 over 320"/>
          <p:cNvPicPr preferRelativeResize="0"/>
          <p:nvPr/>
        </p:nvPicPr>
        <p:blipFill rotWithShape="1">
          <a:blip r:embed="rId12">
            <a:alphaModFix/>
          </a:blip>
          <a:srcRect b="49505" l="60197" r="26900" t="0"/>
          <a:stretch/>
        </p:blipFill>
        <p:spPr>
          <a:xfrm>
            <a:off x="4015017" y="7413500"/>
            <a:ext cx="694934" cy="5484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2}\ \ ,\ \ \frac{1}{4}\ \ ,\ \frac{1}{8}\ \ ,\ \frac{1}{16}\ \ ,\ \frac{1}{32}\ \ ,\ \frac{1}{64}\ ,\ \frac{1}{128},\ \frac{1}{256}\\&amp;#13;&amp;#10;\frac{1}{5}\ \ ,\ \ \frac{1}{10},\ \ \frac{1}{20},\ \frac{1}{40},\ \frac{1}{80},\ \ \frac{1}{160},\ \frac{1}{320}\end{array}&quot;&gt;&lt;mtable columnalign=&quot;left&quot; columnspacing=&quot;1em&quot; rowspacing=&quot;4pt&quot;&gt;&lt;mtr&gt;&lt;mtd&gt;&lt;mfrac&gt;&lt;mn&gt;1&lt;/mn&gt;&lt;mn&gt;2&lt;/mn&gt;&lt;/mfrac&gt;&lt;mtext&gt;&lt;/mtext&gt;&lt;mtext&gt;&lt;/mtext&gt;&lt;mo&gt;,&lt;/mo&gt;&lt;mtext&gt;&lt;/mtext&gt;&lt;mtext&gt;&lt;/mtext&gt;&lt;mfrac&gt;&lt;mn&gt;1&lt;/mn&gt;&lt;mn&gt;4&lt;/mn&gt;&lt;/mfrac&gt;&lt;mtext&gt;&lt;/mtext&gt;&lt;mtext&gt;&lt;/mtext&gt;&lt;mo&gt;,&lt;/mo&gt;&lt;mtext&gt;&lt;/mtext&gt;&lt;mfrac&gt;&lt;mn&gt;1&lt;/mn&gt;&lt;mn&gt;8&lt;/mn&gt;&lt;/mfrac&gt;&lt;mtext&gt;&lt;/mtext&gt;&lt;mtext&gt;&lt;/mtext&gt;&lt;mo&gt;,&lt;/mo&gt;&lt;mtext&gt;&lt;/mtext&gt;&lt;mfrac&gt;&lt;mn&gt;1&lt;/mn&gt;&lt;mn&gt;16&lt;/mn&gt;&lt;/mfrac&gt;&lt;mtext&gt;&lt;/mtext&gt;&lt;mtext&gt;&lt;/mtext&gt;&lt;mo&gt;,&lt;/mo&gt;&lt;mtext&gt;&lt;/mtext&gt;&lt;mfrac&gt;&lt;mn&gt;1&lt;/mn&gt;&lt;mn&gt;32&lt;/mn&gt;&lt;/mfrac&gt;&lt;mtext&gt;&lt;/mtext&gt;&lt;mtext&gt;&lt;/mtext&gt;&lt;mo&gt;,&lt;/mo&gt;&lt;mtext&gt;&lt;/mtext&gt;&lt;mfrac&gt;&lt;mn&gt;1&lt;/mn&gt;&lt;mn&gt;64&lt;/mn&gt;&lt;/mfrac&gt;&lt;mtext&gt;&lt;/mtext&gt;&lt;mo&gt;,&lt;/mo&gt;&lt;mtext&gt;&lt;/mtext&gt;&lt;mfrac&gt;&lt;mn&gt;1&lt;/mn&gt;&lt;mn&gt;128&lt;/mn&gt;&lt;/mfrac&gt;&lt;mo&gt;,&lt;/mo&gt;&lt;mtext&gt;&lt;/mtext&gt;&lt;mfrac&gt;&lt;mn&gt;1&lt;/mn&gt;&lt;mn&gt;256&lt;/mn&gt;&lt;/mfrac&gt;&lt;/mtd&gt;&lt;/mtr&gt;&lt;mtr&gt;&lt;mtd&gt;&lt;mfrac&gt;&lt;mn&gt;1&lt;/mn&gt;&lt;mn&gt;5&lt;/mn&gt;&lt;/mfrac&gt;&lt;mtext&gt;&lt;/mtext&gt;&lt;mtext&gt;&lt;/mtext&gt;&lt;mo&gt;,&lt;/mo&gt;&lt;mtext&gt;&lt;/mtext&gt;&lt;mtext&gt;&lt;/mtext&gt;&lt;mfrac&gt;&lt;mn&gt;1&lt;/mn&gt;&lt;mn&gt;10&lt;/mn&gt;&lt;/mfrac&gt;&lt;mo&gt;,&lt;/mo&gt;&lt;mtext&gt;&lt;/mtext&gt;&lt;mtext&gt;&lt;/mtext&gt;&lt;mfrac&gt;&lt;mn&gt;1&lt;/mn&gt;&lt;mn&gt;20&lt;/mn&gt;&lt;/mfrac&gt;&lt;mo&gt;,&lt;/mo&gt;&lt;mtext&gt;&lt;/mtext&gt;&lt;mfrac&gt;&lt;mn&gt;1&lt;/mn&gt;&lt;mn&gt;40&lt;/mn&gt;&lt;/mfrac&gt;&lt;mo&gt;,&lt;/mo&gt;&lt;mtext&gt;&lt;/mtext&gt;&lt;mfrac&gt;&lt;mn&gt;1&lt;/mn&gt;&lt;mn&gt;80&lt;/mn&gt;&lt;/mfrac&gt;&lt;mo&gt;,&lt;/mo&gt;&lt;mtext&gt;&lt;/mtext&gt;&lt;mtext&gt;&lt;/mtext&gt;&lt;mfrac&gt;&lt;mn&gt;1&lt;/mn&gt;&lt;mn&gt;160&lt;/mn&gt;&lt;/mfrac&gt;&lt;mo&gt;,&lt;/mo&gt;&lt;mtext&gt;&lt;/mtext&gt;&lt;mfrac&gt;&lt;mn&gt;1&lt;/mn&gt;&lt;mn&gt;320&lt;/mn&gt;&lt;/mfrac&gt;&lt;/mtd&gt;&lt;/mtr&gt;&lt;/mtable&gt;&lt;/math&gt;" id="215" name="Google Shape;215;p20" title="2 lines Line 1: one half comma one fourth comma one eighth comma 1 over 16 comma 1 over 32 comma 1 over 64 comma 1 over 128 comma 1 over 256 Line 2: one fifth comma one tenth comma 1 over 20 comma 1 over 40 comma 1 over 80 comma 1 over 160 comma 1 over 320"/>
          <p:cNvPicPr preferRelativeResize="0"/>
          <p:nvPr/>
        </p:nvPicPr>
        <p:blipFill rotWithShape="1">
          <a:blip r:embed="rId12">
            <a:alphaModFix/>
          </a:blip>
          <a:srcRect b="49505" l="73729" r="12412" t="0"/>
          <a:stretch/>
        </p:blipFill>
        <p:spPr>
          <a:xfrm>
            <a:off x="4743838" y="7413500"/>
            <a:ext cx="746409" cy="5484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2}\ \ ,\ \ \frac{1}{4}\ \ ,\ \frac{1}{8}\ \ ,\ \frac{1}{16}\ \ ,\ \frac{1}{32}\ \ ,\ \frac{1}{64}\ ,\ \frac{1}{128},\ \frac{1}{256}\\&amp;#13;&amp;#10;\frac{1}{5}\ \ ,\ \ \frac{1}{10},\ \ \frac{1}{20},\ \frac{1}{40},\ \frac{1}{80},\ \ \frac{1}{160},\ \frac{1}{320}\end{array}&quot;&gt;&lt;mtable columnalign=&quot;left&quot; columnspacing=&quot;1em&quot; rowspacing=&quot;4pt&quot;&gt;&lt;mtr&gt;&lt;mtd&gt;&lt;mfrac&gt;&lt;mn&gt;1&lt;/mn&gt;&lt;mn&gt;2&lt;/mn&gt;&lt;/mfrac&gt;&lt;mtext&gt;&lt;/mtext&gt;&lt;mtext&gt;&lt;/mtext&gt;&lt;mo&gt;,&lt;/mo&gt;&lt;mtext&gt;&lt;/mtext&gt;&lt;mtext&gt;&lt;/mtext&gt;&lt;mfrac&gt;&lt;mn&gt;1&lt;/mn&gt;&lt;mn&gt;4&lt;/mn&gt;&lt;/mfrac&gt;&lt;mtext&gt;&lt;/mtext&gt;&lt;mtext&gt;&lt;/mtext&gt;&lt;mo&gt;,&lt;/mo&gt;&lt;mtext&gt;&lt;/mtext&gt;&lt;mfrac&gt;&lt;mn&gt;1&lt;/mn&gt;&lt;mn&gt;8&lt;/mn&gt;&lt;/mfrac&gt;&lt;mtext&gt;&lt;/mtext&gt;&lt;mtext&gt;&lt;/mtext&gt;&lt;mo&gt;,&lt;/mo&gt;&lt;mtext&gt;&lt;/mtext&gt;&lt;mfrac&gt;&lt;mn&gt;1&lt;/mn&gt;&lt;mn&gt;16&lt;/mn&gt;&lt;/mfrac&gt;&lt;mtext&gt;&lt;/mtext&gt;&lt;mtext&gt;&lt;/mtext&gt;&lt;mo&gt;,&lt;/mo&gt;&lt;mtext&gt;&lt;/mtext&gt;&lt;mfrac&gt;&lt;mn&gt;1&lt;/mn&gt;&lt;mn&gt;32&lt;/mn&gt;&lt;/mfrac&gt;&lt;mtext&gt;&lt;/mtext&gt;&lt;mtext&gt;&lt;/mtext&gt;&lt;mo&gt;,&lt;/mo&gt;&lt;mtext&gt;&lt;/mtext&gt;&lt;mfrac&gt;&lt;mn&gt;1&lt;/mn&gt;&lt;mn&gt;64&lt;/mn&gt;&lt;/mfrac&gt;&lt;mtext&gt;&lt;/mtext&gt;&lt;mo&gt;,&lt;/mo&gt;&lt;mtext&gt;&lt;/mtext&gt;&lt;mfrac&gt;&lt;mn&gt;1&lt;/mn&gt;&lt;mn&gt;128&lt;/mn&gt;&lt;/mfrac&gt;&lt;mo&gt;,&lt;/mo&gt;&lt;mtext&gt;&lt;/mtext&gt;&lt;mfrac&gt;&lt;mn&gt;1&lt;/mn&gt;&lt;mn&gt;256&lt;/mn&gt;&lt;/mfrac&gt;&lt;/mtd&gt;&lt;/mtr&gt;&lt;mtr&gt;&lt;mtd&gt;&lt;mfrac&gt;&lt;mn&gt;1&lt;/mn&gt;&lt;mn&gt;5&lt;/mn&gt;&lt;/mfrac&gt;&lt;mtext&gt;&lt;/mtext&gt;&lt;mtext&gt;&lt;/mtext&gt;&lt;mo&gt;,&lt;/mo&gt;&lt;mtext&gt;&lt;/mtext&gt;&lt;mtext&gt;&lt;/mtext&gt;&lt;mfrac&gt;&lt;mn&gt;1&lt;/mn&gt;&lt;mn&gt;10&lt;/mn&gt;&lt;/mfrac&gt;&lt;mo&gt;,&lt;/mo&gt;&lt;mtext&gt;&lt;/mtext&gt;&lt;mtext&gt;&lt;/mtext&gt;&lt;mfrac&gt;&lt;mn&gt;1&lt;/mn&gt;&lt;mn&gt;20&lt;/mn&gt;&lt;/mfrac&gt;&lt;mo&gt;,&lt;/mo&gt;&lt;mtext&gt;&lt;/mtext&gt;&lt;mfrac&gt;&lt;mn&gt;1&lt;/mn&gt;&lt;mn&gt;40&lt;/mn&gt;&lt;/mfrac&gt;&lt;mo&gt;,&lt;/mo&gt;&lt;mtext&gt;&lt;/mtext&gt;&lt;mfrac&gt;&lt;mn&gt;1&lt;/mn&gt;&lt;mn&gt;80&lt;/mn&gt;&lt;/mfrac&gt;&lt;mo&gt;,&lt;/mo&gt;&lt;mtext&gt;&lt;/mtext&gt;&lt;mtext&gt;&lt;/mtext&gt;&lt;mfrac&gt;&lt;mn&gt;1&lt;/mn&gt;&lt;mn&gt;160&lt;/mn&gt;&lt;/mfrac&gt;&lt;mo&gt;,&lt;/mo&gt;&lt;mtext&gt;&lt;/mtext&gt;&lt;mfrac&gt;&lt;mn&gt;1&lt;/mn&gt;&lt;mn&gt;320&lt;/mn&gt;&lt;/mfrac&gt;&lt;/mtd&gt;&lt;/mtr&gt;&lt;/mtable&gt;&lt;/math&gt;" id="216" name="Google Shape;216;p20" title="2 lines Line 1: one half comma one fourth comma one eighth comma 1 over 16 comma 1 over 32 comma 1 over 64 comma 1 over 128 comma 1 over 256 Line 2: one fifth comma one tenth comma 1 over 20 comma 1 over 40 comma 1 over 80 comma 1 over 160 comma 1 over 320"/>
          <p:cNvPicPr preferRelativeResize="0"/>
          <p:nvPr/>
        </p:nvPicPr>
        <p:blipFill rotWithShape="1">
          <a:blip r:embed="rId12">
            <a:alphaModFix/>
          </a:blip>
          <a:srcRect b="49505" l="87110" r="-2760" t="0"/>
          <a:stretch/>
        </p:blipFill>
        <p:spPr>
          <a:xfrm>
            <a:off x="5522078" y="7413500"/>
            <a:ext cx="842919" cy="548436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0"/>
          <p:cNvSpPr txBox="1"/>
          <p:nvPr/>
        </p:nvSpPr>
        <p:spPr>
          <a:xfrm>
            <a:off x="465750" y="8642600"/>
            <a:ext cx="662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All of the denominators only have a prime factor base of 2, so all are factors of powers of 10.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2}\ \ ,\ \ \frac{1}{2^2}\ \ ,\ \ \frac{1}{2^3}\ \ ,\ \ \frac{1}{2^4}\ \ ,\ \ etc&quot;&gt;&lt;mfrac&gt;&lt;mn&gt;1&lt;/mn&gt;&lt;mn&gt;2&lt;/mn&gt;&lt;/mfrac&gt;&lt;mtext&gt;&lt;/mtext&gt;&lt;mtext&gt;&lt;/mtext&gt;&lt;mo&gt;,&lt;/mo&gt;&lt;mtext&gt;&lt;/mtext&gt;&lt;mtext&gt;&lt;/mtext&gt;&lt;mfrac&gt;&lt;mn&gt;1&lt;/mn&gt;&lt;msup&gt;&lt;mn&gt;2&lt;/mn&gt;&lt;mn&gt;2&lt;/mn&gt;&lt;/msup&gt;&lt;/mfrac&gt;&lt;mtext&gt;&lt;/mtext&gt;&lt;mtext&gt;&lt;/mtext&gt;&lt;mo&gt;,&lt;/mo&gt;&lt;mtext&gt;&lt;/mtext&gt;&lt;mtext&gt;&lt;/mtext&gt;&lt;mfrac&gt;&lt;mn&gt;1&lt;/mn&gt;&lt;msup&gt;&lt;mn&gt;2&lt;/mn&gt;&lt;mn&gt;3&lt;/mn&gt;&lt;/msup&gt;&lt;/mfrac&gt;&lt;mtext&gt;&lt;/mtext&gt;&lt;mtext&gt;&lt;/mtext&gt;&lt;mo&gt;,&lt;/mo&gt;&lt;mtext&gt;&lt;/mtext&gt;&lt;mtext&gt;&lt;/mtext&gt;&lt;mfrac&gt;&lt;mn&gt;1&lt;/mn&gt;&lt;msup&gt;&lt;mn&gt;2&lt;/mn&gt;&lt;mn&gt;4&lt;/mn&gt;&lt;/msup&gt;&lt;/mfrac&gt;&lt;mtext&gt;&lt;/mtext&gt;&lt;mtext&gt;&lt;/mtext&gt;&lt;mo&gt;,&lt;/mo&gt;&lt;mtext&gt;&lt;/mtext&gt;&lt;mtext&gt;&lt;/mtext&gt;&lt;mi&gt;e&lt;/mi&gt;&lt;mi&gt;t&lt;/mi&gt;&lt;mi&gt;c&lt;/mi&gt;&lt;/math&gt;" id="218" name="Google Shape;218;p20" title="one half comma the fraction with numerator 1 and denominator 2 squared comma the fraction with numerator 1 and denominator 2 cubed comma the fraction with numerator 1 and denominator 2 to the fourth power comma e t c"/>
          <p:cNvPicPr preferRelativeResize="0"/>
          <p:nvPr/>
        </p:nvPicPr>
        <p:blipFill rotWithShape="1">
          <a:blip r:embed="rId13">
            <a:alphaModFix/>
          </a:blip>
          <a:srcRect b="0" l="0" r="19008" t="0"/>
          <a:stretch/>
        </p:blipFill>
        <p:spPr>
          <a:xfrm>
            <a:off x="565134" y="9083034"/>
            <a:ext cx="2580839" cy="627491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0"/>
          <p:cNvSpPr txBox="1"/>
          <p:nvPr/>
        </p:nvSpPr>
        <p:spPr>
          <a:xfrm>
            <a:off x="3161859" y="9196620"/>
            <a:ext cx="41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....</a:t>
            </a:r>
            <a:endParaRPr sz="1200"/>
          </a:p>
        </p:txBody>
      </p:sp>
      <p:pic>
        <p:nvPicPr>
          <p:cNvPr descr="&lt;math xmlns=&quot;http://www.w3.org/1998/Math/MathML&quot; display=&quot;block&quot; data-is-equatio=&quot;1&quot; data-latex=&quot;\frac{33}{132}=\frac{33}{2\times2\times3\times11}=\frac{3\times11}{2\times2\times3\times11}=\frac{1}{2\times2}=\frac{1}{4}&quot;&gt;&lt;mfrac&gt;&lt;mn&gt;33&lt;/mn&gt;&lt;mn&gt;132&lt;/mn&gt;&lt;/mfrac&gt;&lt;mo&gt;=&lt;/mo&gt;&lt;mfrac&gt;&lt;mn&gt;33&lt;/mn&gt;&lt;mrow&gt;&lt;mn&gt;2&lt;/mn&gt;&lt;mo&gt;×&lt;/mo&gt;&lt;mn&gt;2&lt;/mn&gt;&lt;mo&gt;×&lt;/mo&gt;&lt;mn&gt;3&lt;/mn&gt;&lt;mo&gt;×&lt;/mo&gt;&lt;mn&gt;11&lt;/mn&gt;&lt;/mrow&gt;&lt;/mfrac&gt;&lt;mo&gt;=&lt;/mo&gt;&lt;mfrac&gt;&lt;mrow&gt;&lt;mn&gt;3&lt;/mn&gt;&lt;mo&gt;×&lt;/mo&gt;&lt;mn&gt;11&lt;/mn&gt;&lt;/mrow&gt;&lt;mrow&gt;&lt;mn&gt;2&lt;/mn&gt;&lt;mo&gt;×&lt;/mo&gt;&lt;mn&gt;2&lt;/mn&gt;&lt;mo&gt;×&lt;/mo&gt;&lt;mn&gt;3&lt;/mn&gt;&lt;mo&gt;×&lt;/mo&gt;&lt;mn&gt;11&lt;/mn&gt;&lt;/mrow&gt;&lt;/mfrac&gt;&lt;mo&gt;=&lt;/mo&gt;&lt;mfrac&gt;&lt;mn&gt;1&lt;/mn&gt;&lt;mrow&gt;&lt;mn&gt;2&lt;/mn&gt;&lt;mo&gt;×&lt;/mo&gt;&lt;mn&gt;2&lt;/mn&gt;&lt;/mrow&gt;&lt;/mfrac&gt;&lt;mo&gt;=&lt;/mo&gt;&lt;mfrac&gt;&lt;mn&gt;1&lt;/mn&gt;&lt;mn&gt;4&lt;/mn&gt;&lt;/mfrac&gt;&lt;/math&gt;" id="220" name="Google Shape;220;p20" title="33 over 132 equals the fraction with numerator 33 and denominator 2 times 2 times 3 times 11 equals the fraction with numerator 3 times 11 and denominator 2 times 2 times 3 times 11 equals the fraction with numerator 1 and denominator 2 times 2 equals one fourth"/>
          <p:cNvPicPr preferRelativeResize="0"/>
          <p:nvPr/>
        </p:nvPicPr>
        <p:blipFill rotWithShape="1">
          <a:blip r:embed="rId11">
            <a:alphaModFix/>
          </a:blip>
          <a:srcRect b="0" l="0" r="91985" t="0"/>
          <a:stretch/>
        </p:blipFill>
        <p:spPr>
          <a:xfrm>
            <a:off x="1683110" y="4398553"/>
            <a:ext cx="279789" cy="328443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0"/>
          <p:cNvSpPr txBox="1"/>
          <p:nvPr/>
        </p:nvSpPr>
        <p:spPr>
          <a:xfrm>
            <a:off x="1920375" y="4407175"/>
            <a:ext cx="37596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is not equivalent to a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terminating decimal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0"/>
          <p:cNvSpPr txBox="1"/>
          <p:nvPr/>
        </p:nvSpPr>
        <p:spPr>
          <a:xfrm>
            <a:off x="1535100" y="5397775"/>
            <a:ext cx="4243200" cy="4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prime factors of the denominator are 2, 3 and 11.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0"/>
          <p:cNvSpPr txBox="1"/>
          <p:nvPr/>
        </p:nvSpPr>
        <p:spPr>
          <a:xfrm>
            <a:off x="400200" y="6228350"/>
            <a:ext cx="845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Explain</a:t>
            </a:r>
            <a:endParaRPr sz="1200"/>
          </a:p>
        </p:txBody>
      </p:sp>
      <p:sp>
        <p:nvSpPr>
          <p:cNvPr id="224" name="Google Shape;224;p20"/>
          <p:cNvSpPr txBox="1"/>
          <p:nvPr/>
        </p:nvSpPr>
        <p:spPr>
          <a:xfrm>
            <a:off x="1151800" y="6228350"/>
            <a:ext cx="643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why</a:t>
            </a:r>
            <a:endParaRPr sz="1200"/>
          </a:p>
        </p:txBody>
      </p:sp>
      <p:sp>
        <p:nvSpPr>
          <p:cNvPr id="225" name="Google Shape;225;p20"/>
          <p:cNvSpPr txBox="1"/>
          <p:nvPr/>
        </p:nvSpPr>
        <p:spPr>
          <a:xfrm>
            <a:off x="1795300" y="6228350"/>
            <a:ext cx="614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is equivalent to a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terminating decimal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31" name="Google Shape;231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Converting fractions to terminating decimals</a:t>
            </a:r>
            <a:endParaRPr/>
          </a:p>
        </p:txBody>
      </p:sp>
      <p:sp>
        <p:nvSpPr>
          <p:cNvPr id="232" name="Google Shape;232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34" name="Google Shape;234;p21"/>
          <p:cNvSpPr txBox="1"/>
          <p:nvPr/>
        </p:nvSpPr>
        <p:spPr>
          <a:xfrm>
            <a:off x="468000" y="7200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Circle all the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terminating decimals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}{3}&quot;&gt;&lt;mfrac&gt;&lt;mn&gt;2&lt;/mn&gt;&lt;mn&gt;3&lt;/mn&gt;&lt;/mfrac&gt;&lt;/math&gt;" id="235" name="Google Shape;235;p21" title="two third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3175" y="1168478"/>
            <a:ext cx="138442" cy="4581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}{7}&quot;&gt;&lt;mfrac&gt;&lt;mn&gt;6&lt;/mn&gt;&lt;mn&gt;7&lt;/mn&gt;&lt;/mfrac&gt;&lt;/math&gt;" id="236" name="Google Shape;236;p21" title="six seve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21608" y="1914854"/>
            <a:ext cx="138442" cy="4548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15}&quot;&gt;&lt;mfrac&gt;&lt;mn&gt;4&lt;/mn&gt;&lt;mn&gt;15&lt;/mn&gt;&lt;/mfrac&gt;&lt;/math&gt;" id="237" name="Google Shape;237;p21" title="4 over 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68771" y="1122337"/>
            <a:ext cx="247218" cy="4482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440}&quot;&gt;&lt;mfrac&gt;&lt;mn&gt;7&lt;/mn&gt;&lt;mn&gt;440&lt;/mn&gt;&lt;/mfrac&gt;&lt;/math&gt;" id="238" name="Google Shape;238;p21" title="7 over 4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63148" y="1267286"/>
            <a:ext cx="359290" cy="4581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10}{330}&quot;&gt;&lt;mfrac&gt;&lt;mn&gt;110&lt;/mn&gt;&lt;mn&gt;330&lt;/mn&gt;&lt;/mfrac&gt;&lt;/math&gt;" id="239" name="Google Shape;239;p21" title="110 over 3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22440" y="2074101"/>
            <a:ext cx="359290" cy="4581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1}{33}&quot;&gt;&lt;mfrac&gt;&lt;mn&gt;11&lt;/mn&gt;&lt;mn&gt;33&lt;/mn&gt;&lt;/mfrac&gt;&lt;/math&gt;" id="240" name="Google Shape;240;p21" title="11 over 3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429607" y="1150405"/>
            <a:ext cx="247218" cy="4581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1}{10}&quot;&gt;&lt;mfrac&gt;&lt;mn&gt;11&lt;/mn&gt;&lt;mn&gt;10&lt;/mn&gt;&lt;/mfrac&gt;&lt;/math&gt;" id="241" name="Google Shape;241;p21" title="eleven tenths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751850" y="2121085"/>
            <a:ext cx="247218" cy="4581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1}{12}&quot;&gt;&lt;mfrac&gt;&lt;mn&gt;11&lt;/mn&gt;&lt;mn&gt;12&lt;/mn&gt;&lt;/mfrac&gt;&lt;/math&gt;" id="242" name="Google Shape;242;p21" title="11 over 1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515987" y="1971945"/>
            <a:ext cx="250514" cy="451585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1"/>
          <p:cNvSpPr/>
          <p:nvPr/>
        </p:nvSpPr>
        <p:spPr>
          <a:xfrm>
            <a:off x="2580891" y="1920881"/>
            <a:ext cx="589200" cy="7647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2}{15}&quot;&gt;&lt;mfrac&gt;&lt;mn&gt;12&lt;/mn&gt;&lt;mn&gt;15&lt;/mn&gt;&lt;/mfrac&gt;&lt;/math&gt;" id="244" name="Google Shape;244;p21" title="12 over 15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103118" y="1150411"/>
            <a:ext cx="250517" cy="457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2}&quot;&gt;&lt;mfrac&gt;&lt;mn&gt;3&lt;/mn&gt;&lt;mn&gt;2&lt;/mn&gt;&lt;/mfrac&gt;&lt;/math&gt;" id="245" name="Google Shape;245;p21" title="three halves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666566" y="1198860"/>
            <a:ext cx="138436" cy="4410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40}&quot;&gt;&lt;mfrac&gt;&lt;mn&gt;7&lt;/mn&gt;&lt;mn&gt;40&lt;/mn&gt;&lt;/mfrac&gt;&lt;/math&gt;" id="246" name="Google Shape;246;p21" title="7 over 40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4452730" y="2012211"/>
            <a:ext cx="250514" cy="458177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1"/>
          <p:cNvSpPr/>
          <p:nvPr/>
        </p:nvSpPr>
        <p:spPr>
          <a:xfrm>
            <a:off x="4283425" y="1858999"/>
            <a:ext cx="589200" cy="7647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1"/>
          <p:cNvSpPr/>
          <p:nvPr/>
        </p:nvSpPr>
        <p:spPr>
          <a:xfrm>
            <a:off x="2438020" y="1037097"/>
            <a:ext cx="589200" cy="7647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21"/>
          <p:cNvSpPr/>
          <p:nvPr/>
        </p:nvSpPr>
        <p:spPr>
          <a:xfrm>
            <a:off x="3953387" y="997200"/>
            <a:ext cx="589200" cy="7647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1"/>
          <p:cNvSpPr txBox="1"/>
          <p:nvPr/>
        </p:nvSpPr>
        <p:spPr>
          <a:xfrm>
            <a:off x="459175" y="34626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Using a calculator, match the fraction to its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terminating decimal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1"/>
          <p:cNvSpPr txBox="1"/>
          <p:nvPr/>
        </p:nvSpPr>
        <p:spPr>
          <a:xfrm>
            <a:off x="468000" y="312007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Using a calculator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0.1294\\&amp;#13;&amp;#10;0.39482\\&amp;#13;&amp;#10;13.444\\&amp;#13;&amp;#10;1.30345\end{array}&quot;&gt;&lt;mtable columnalign=&quot;left&quot; columnspacing=&quot;1em&quot; rowspacing=&quot;4pt&quot;&gt;&lt;mtr&gt;&lt;mtd&gt;&lt;mn&gt;0.1294&lt;/mn&gt;&lt;/mtd&gt;&lt;/mtr&gt;&lt;mtr&gt;&lt;mtd&gt;&lt;mn&gt;0.39482&lt;/mn&gt;&lt;/mtd&gt;&lt;/mtr&gt;&lt;mtr&gt;&lt;mtd&gt;&lt;mn&gt;13.444&lt;/mn&gt;&lt;/mtd&gt;&lt;/mtr&gt;&lt;mtr&gt;&lt;mtd&gt;&lt;mn&gt;1.30345&lt;/mn&gt;&lt;/mtd&gt;&lt;/mtr&gt;&lt;/mtable&gt;&lt;/math&gt;" id="252" name="Google Shape;252;p21" title="4 lines Line 1: 0.1294 Line 2: 0.39482 Line 3: 13.444 Line 4: 1.30345"/>
          <p:cNvPicPr preferRelativeResize="0"/>
          <p:nvPr/>
        </p:nvPicPr>
        <p:blipFill rotWithShape="1">
          <a:blip r:embed="rId14">
            <a:alphaModFix/>
          </a:blip>
          <a:srcRect b="81199" l="0" r="0" t="0"/>
          <a:stretch/>
        </p:blipFill>
        <p:spPr>
          <a:xfrm>
            <a:off x="1822438" y="3975779"/>
            <a:ext cx="793875" cy="2271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47}{5000}\ \ \ \ 0.39484\ \ \frac{98871}{25\ 000}\ \frac{3361}{250}\ \frac{107}{125}\ 0.856&quot;&gt;&lt;mfrac&gt;&lt;mn&gt;647&lt;/mn&gt;&lt;mn&gt;5000&lt;/mn&gt;&lt;/mfrac&gt;&lt;mtext&gt;&lt;/mtext&gt;&lt;mtext&gt;&lt;/mtext&gt;&lt;mtext&gt;&lt;/mtext&gt;&lt;mtext&gt;&lt;/mtext&gt;&lt;mn&gt;0.39484&lt;/mn&gt;&lt;mtext&gt;&lt;/mtext&gt;&lt;mtext&gt;&lt;/mtext&gt;&lt;mfrac&gt;&lt;mn&gt;98871&lt;/mn&gt;&lt;mrow&gt;&lt;mn&gt;25&lt;/mn&gt;&lt;mtext&gt;&lt;/mtext&gt;&lt;mn&gt;000&lt;/mn&gt;&lt;/mrow&gt;&lt;/mfrac&gt;&lt;mtext&gt;&lt;/mtext&gt;&lt;mfrac&gt;&lt;mn&gt;3361&lt;/mn&gt;&lt;mn&gt;250&lt;/mn&gt;&lt;/mfrac&gt;&lt;mtext&gt;&lt;/mtext&gt;&lt;mfrac&gt;&lt;mn&gt;107&lt;/mn&gt;&lt;mn&gt;125&lt;/mn&gt;&lt;/mfrac&gt;&lt;mtext&gt;&lt;/mtext&gt;&lt;mn&gt;0.856&lt;/mn&gt;&lt;/math&gt;" id="253" name="Google Shape;253;p21" title="647 over 5000 0.39484 the fraction with numerator 98871 and denominator 25 000 3361 over 250 107 over 125 0.856"/>
          <p:cNvPicPr preferRelativeResize="0"/>
          <p:nvPr/>
        </p:nvPicPr>
        <p:blipFill rotWithShape="1">
          <a:blip r:embed="rId15">
            <a:alphaModFix/>
          </a:blip>
          <a:srcRect b="0" l="18011" r="60310" t="0"/>
          <a:stretch/>
        </p:blipFill>
        <p:spPr>
          <a:xfrm>
            <a:off x="3755040" y="3805125"/>
            <a:ext cx="937163" cy="5207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1294\\&amp;#13;&amp;#10;0.39482\\&amp;#13;&amp;#10;13.444\\&amp;#13;&amp;#10;1.30345\end{array}&quot;&gt;&lt;mtable columnalign=&quot;left&quot; columnspacing=&quot;1em&quot; rowspacing=&quot;4pt&quot;&gt;&lt;mtr&gt;&lt;mtd&gt;&lt;mn&gt;0.1294&lt;/mn&gt;&lt;/mtd&gt;&lt;/mtr&gt;&lt;mtr&gt;&lt;mtd&gt;&lt;mn&gt;0.39482&lt;/mn&gt;&lt;/mtd&gt;&lt;/mtr&gt;&lt;mtr&gt;&lt;mtd&gt;&lt;mn&gt;13.444&lt;/mn&gt;&lt;/mtd&gt;&lt;/mtr&gt;&lt;mtr&gt;&lt;mtd&gt;&lt;mn&gt;1.30345&lt;/mn&gt;&lt;/mtd&gt;&lt;/mtr&gt;&lt;/mtable&gt;&lt;/math&gt;" id="254" name="Google Shape;254;p21" title="4 lines Line 1: 0.1294 Line 2: 0.39482 Line 3: 13.444 Line 4: 1.30345"/>
          <p:cNvPicPr preferRelativeResize="0"/>
          <p:nvPr/>
        </p:nvPicPr>
        <p:blipFill rotWithShape="1">
          <a:blip r:embed="rId14">
            <a:alphaModFix/>
          </a:blip>
          <a:srcRect b="24685" l="0" r="0" t="56514"/>
          <a:stretch/>
        </p:blipFill>
        <p:spPr>
          <a:xfrm>
            <a:off x="2814662" y="3975780"/>
            <a:ext cx="793875" cy="2271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47}{5000}\ \ \ \ 0.39484\ \ \frac{98871}{25\ 000}\ \frac{3361}{250}\ \frac{107}{125}\ 0.856&quot;&gt;&lt;mfrac&gt;&lt;mn&gt;647&lt;/mn&gt;&lt;mn&gt;5000&lt;/mn&gt;&lt;/mfrac&gt;&lt;mtext&gt;&lt;/mtext&gt;&lt;mtext&gt;&lt;/mtext&gt;&lt;mtext&gt;&lt;/mtext&gt;&lt;mtext&gt;&lt;/mtext&gt;&lt;mn&gt;0.39484&lt;/mn&gt;&lt;mtext&gt;&lt;/mtext&gt;&lt;mtext&gt;&lt;/mtext&gt;&lt;mfrac&gt;&lt;mn&gt;98871&lt;/mn&gt;&lt;mrow&gt;&lt;mn&gt;25&lt;/mn&gt;&lt;mtext&gt;&lt;/mtext&gt;&lt;mn&gt;000&lt;/mn&gt;&lt;/mrow&gt;&lt;/mfrac&gt;&lt;mtext&gt;&lt;/mtext&gt;&lt;mfrac&gt;&lt;mn&gt;3361&lt;/mn&gt;&lt;mn&gt;250&lt;/mn&gt;&lt;/mfrac&gt;&lt;mtext&gt;&lt;/mtext&gt;&lt;mfrac&gt;&lt;mn&gt;107&lt;/mn&gt;&lt;mn&gt;125&lt;/mn&gt;&lt;/mfrac&gt;&lt;mtext&gt;&lt;/mtext&gt;&lt;mn&gt;0.856&lt;/mn&gt;&lt;/math&gt;" id="255" name="Google Shape;255;p21" title="647 over 5000 0.39484 the fraction with numerator 98871 and denominator 25 000 3361 over 250 107 over 125 0.856"/>
          <p:cNvPicPr preferRelativeResize="0"/>
          <p:nvPr/>
        </p:nvPicPr>
        <p:blipFill rotWithShape="1">
          <a:blip r:embed="rId15">
            <a:alphaModFix/>
          </a:blip>
          <a:srcRect b="0" l="86338" r="-8016" t="0"/>
          <a:stretch/>
        </p:blipFill>
        <p:spPr>
          <a:xfrm>
            <a:off x="4782750" y="3805125"/>
            <a:ext cx="937163" cy="5207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47}{5000}\ \ \ \ 0.39484\ \ \frac{98871}{25\ 000}\ \frac{3361}{250}\ \frac{107}{125}\ 0.856&quot;&gt;&lt;mfrac&gt;&lt;mn&gt;647&lt;/mn&gt;&lt;mn&gt;5000&lt;/mn&gt;&lt;/mfrac&gt;&lt;mtext&gt;&lt;/mtext&gt;&lt;mtext&gt;&lt;/mtext&gt;&lt;mtext&gt;&lt;/mtext&gt;&lt;mtext&gt;&lt;/mtext&gt;&lt;mn&gt;0.39484&lt;/mn&gt;&lt;mtext&gt;&lt;/mtext&gt;&lt;mtext&gt;&lt;/mtext&gt;&lt;mfrac&gt;&lt;mn&gt;98871&lt;/mn&gt;&lt;mrow&gt;&lt;mn&gt;25&lt;/mn&gt;&lt;mtext&gt;&lt;/mtext&gt;&lt;mn&gt;000&lt;/mn&gt;&lt;/mrow&gt;&lt;/mfrac&gt;&lt;mtext&gt;&lt;/mtext&gt;&lt;mfrac&gt;&lt;mn&gt;3361&lt;/mn&gt;&lt;mn&gt;250&lt;/mn&gt;&lt;/mfrac&gt;&lt;mtext&gt;&lt;/mtext&gt;&lt;mfrac&gt;&lt;mn&gt;107&lt;/mn&gt;&lt;mn&gt;125&lt;/mn&gt;&lt;/mfrac&gt;&lt;mtext&gt;&lt;/mtext&gt;&lt;mn&gt;0.856&lt;/mn&gt;&lt;/math&gt;" id="256" name="Google Shape;256;p21" title="647 over 5000 0.39484 the fraction with numerator 98871 and denominator 25 000 3361 over 250 107 over 125 0.856"/>
          <p:cNvPicPr preferRelativeResize="0"/>
          <p:nvPr/>
        </p:nvPicPr>
        <p:blipFill rotWithShape="1">
          <a:blip r:embed="rId15">
            <a:alphaModFix/>
          </a:blip>
          <a:srcRect b="-9303" l="74523" r="14268" t="-10284"/>
          <a:stretch/>
        </p:blipFill>
        <p:spPr>
          <a:xfrm>
            <a:off x="1884750" y="4697846"/>
            <a:ext cx="484567" cy="6228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47}{5000}\ \ \ \ 0.39484\ \ \frac{98871}{25\ 000}\ \frac{3361}{250}\ \frac{107}{125}\ 0.856&quot;&gt;&lt;mfrac&gt;&lt;mn&gt;647&lt;/mn&gt;&lt;mn&gt;5000&lt;/mn&gt;&lt;/mfrac&gt;&lt;mtext&gt;&lt;/mtext&gt;&lt;mtext&gt;&lt;/mtext&gt;&lt;mtext&gt;&lt;/mtext&gt;&lt;mtext&gt;&lt;/mtext&gt;&lt;mn&gt;0.39484&lt;/mn&gt;&lt;mtext&gt;&lt;/mtext&gt;&lt;mtext&gt;&lt;/mtext&gt;&lt;mfrac&gt;&lt;mn&gt;98871&lt;/mn&gt;&lt;mrow&gt;&lt;mn&gt;25&lt;/mn&gt;&lt;mtext&gt;&lt;/mtext&gt;&lt;mn&gt;000&lt;/mn&gt;&lt;/mrow&gt;&lt;/mfrac&gt;&lt;mtext&gt;&lt;/mtext&gt;&lt;mfrac&gt;&lt;mn&gt;3361&lt;/mn&gt;&lt;mn&gt;250&lt;/mn&gt;&lt;/mfrac&gt;&lt;mtext&gt;&lt;/mtext&gt;&lt;mfrac&gt;&lt;mn&gt;107&lt;/mn&gt;&lt;mn&gt;125&lt;/mn&gt;&lt;/mfrac&gt;&lt;mtext&gt;&lt;/mtext&gt;&lt;mn&gt;0.856&lt;/mn&gt;&lt;/math&gt;" id="257" name="Google Shape;257;p21" title="647 over 5000 0.39484 the fraction with numerator 98871 and denominator 25 000 3361 over 250 107 over 125 0.856"/>
          <p:cNvPicPr preferRelativeResize="0"/>
          <p:nvPr/>
        </p:nvPicPr>
        <p:blipFill rotWithShape="1">
          <a:blip r:embed="rId15">
            <a:alphaModFix/>
          </a:blip>
          <a:srcRect b="-9794" l="59884" r="27320" t="-9794"/>
          <a:stretch/>
        </p:blipFill>
        <p:spPr>
          <a:xfrm>
            <a:off x="4841337" y="4679588"/>
            <a:ext cx="553170" cy="6228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47}{5000}\ \ \ \ 0.39484\ \ \frac{98871}{25\ 000}\ \frac{3361}{250}\ \frac{107}{125}\ 0.856&quot;&gt;&lt;mfrac&gt;&lt;mn&gt;647&lt;/mn&gt;&lt;mn&gt;5000&lt;/mn&gt;&lt;/mfrac&gt;&lt;mtext&gt;&lt;/mtext&gt;&lt;mtext&gt;&lt;/mtext&gt;&lt;mtext&gt;&lt;/mtext&gt;&lt;mtext&gt;&lt;/mtext&gt;&lt;mn&gt;0.39484&lt;/mn&gt;&lt;mtext&gt;&lt;/mtext&gt;&lt;mtext&gt;&lt;/mtext&gt;&lt;mfrac&gt;&lt;mn&gt;98871&lt;/mn&gt;&lt;mrow&gt;&lt;mn&gt;25&lt;/mn&gt;&lt;mtext&gt;&lt;/mtext&gt;&lt;mn&gt;000&lt;/mn&gt;&lt;/mrow&gt;&lt;/mfrac&gt;&lt;mtext&gt;&lt;/mtext&gt;&lt;mfrac&gt;&lt;mn&gt;3361&lt;/mn&gt;&lt;mn&gt;250&lt;/mn&gt;&lt;/mfrac&gt;&lt;mtext&gt;&lt;/mtext&gt;&lt;mfrac&gt;&lt;mn&gt;107&lt;/mn&gt;&lt;mn&gt;125&lt;/mn&gt;&lt;/mfrac&gt;&lt;mtext&gt;&lt;/mtext&gt;&lt;mn&gt;0.856&lt;/mn&gt;&lt;/math&gt;" id="258" name="Google Shape;258;p21" title="647 over 5000 0.39484 the fraction with numerator 98871 and denominator 25 000 3361 over 250 107 over 125 0.856"/>
          <p:cNvPicPr preferRelativeResize="0"/>
          <p:nvPr/>
        </p:nvPicPr>
        <p:blipFill rotWithShape="1">
          <a:blip r:embed="rId15">
            <a:alphaModFix/>
          </a:blip>
          <a:srcRect b="-9794" l="-4111" r="85748" t="-9794"/>
          <a:stretch/>
        </p:blipFill>
        <p:spPr>
          <a:xfrm>
            <a:off x="3800469" y="4680830"/>
            <a:ext cx="793873" cy="6228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871}{25\ 000}\ &quot;&gt;&lt;mfrac&gt;&lt;mn&gt;9871&lt;/mn&gt;&lt;mrow&gt;&lt;mn&gt;25&lt;/mn&gt;&lt;mtext&gt;&lt;/mtext&gt;&lt;mn&gt;000&lt;/mn&gt;&lt;/mrow&gt;&lt;/mfrac&gt;&lt;mtext&gt;&lt;/mtext&gt;&lt;/math&gt;" id="259" name="Google Shape;259;p21" title="the fraction with numerator 9871 and denominator 25 000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2759425" y="4731854"/>
            <a:ext cx="715344" cy="52077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0" name="Google Shape;260;p21"/>
          <p:cNvCxnSpPr>
            <a:stCxn id="252" idx="2"/>
            <a:endCxn id="258" idx="0"/>
          </p:cNvCxnSpPr>
          <p:nvPr/>
        </p:nvCxnSpPr>
        <p:spPr>
          <a:xfrm>
            <a:off x="2219375" y="4202952"/>
            <a:ext cx="1977900" cy="4779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1" name="Google Shape;261;p21"/>
          <p:cNvCxnSpPr>
            <a:stCxn id="254" idx="2"/>
            <a:endCxn id="257" idx="0"/>
          </p:cNvCxnSpPr>
          <p:nvPr/>
        </p:nvCxnSpPr>
        <p:spPr>
          <a:xfrm>
            <a:off x="3211599" y="4202953"/>
            <a:ext cx="1906200" cy="476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2" name="Google Shape;262;p21"/>
          <p:cNvCxnSpPr>
            <a:stCxn id="259" idx="0"/>
            <a:endCxn id="253" idx="2"/>
          </p:cNvCxnSpPr>
          <p:nvPr/>
        </p:nvCxnSpPr>
        <p:spPr>
          <a:xfrm flipH="1" rot="10800000">
            <a:off x="3117097" y="4325954"/>
            <a:ext cx="1106400" cy="4059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3" name="Google Shape;263;p21"/>
          <p:cNvCxnSpPr>
            <a:stCxn id="256" idx="0"/>
            <a:endCxn id="255" idx="2"/>
          </p:cNvCxnSpPr>
          <p:nvPr/>
        </p:nvCxnSpPr>
        <p:spPr>
          <a:xfrm flipH="1" rot="10800000">
            <a:off x="2127034" y="4325846"/>
            <a:ext cx="3124200" cy="372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4" name="Google Shape;264;p21"/>
          <p:cNvSpPr txBox="1"/>
          <p:nvPr/>
        </p:nvSpPr>
        <p:spPr>
          <a:xfrm>
            <a:off x="459175" y="5566425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Find the missing value(s) on the calculator displays.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5" name="Google Shape;265;p21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468000" y="5901023"/>
            <a:ext cx="2851595" cy="13189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1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468000" y="7421053"/>
            <a:ext cx="2946441" cy="13787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1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4126644" y="5901025"/>
            <a:ext cx="2965356" cy="1318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1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4126649" y="7435226"/>
            <a:ext cx="2965342" cy="137878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9" name="Google Shape;269;p21"/>
          <p:cNvCxnSpPr/>
          <p:nvPr/>
        </p:nvCxnSpPr>
        <p:spPr>
          <a:xfrm>
            <a:off x="465932" y="2918913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