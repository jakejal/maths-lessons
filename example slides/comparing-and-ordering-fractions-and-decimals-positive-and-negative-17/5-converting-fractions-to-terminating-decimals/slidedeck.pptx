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E7465C-3433-4D8B-9C8B-123AFAB1AD71}">
  <a:tblStyle styleId="{87E7465C-3433-4D8B-9C8B-123AFAB1AD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8ab8aa67b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8ab8aa67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98ab8aa6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98ab8aa6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98ab8aa67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98ab8aa67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98ab8aa67b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98ab8aa67b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9911d5371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9911d5371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9911d5371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9911d5371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99a24e7c79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99a24e7c79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99a24e7c79_0_1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99a24e7c79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99a24e7c7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99a24e7c7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99a24e7c79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99a24e7c79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99a24e7c79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99a24e7c79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99809e26d2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99809e26d2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990df1af5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990df1af5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299809e26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299809e26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99809e26d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299809e26d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991f9685a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991f9685a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990df1af5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990df1af5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991f9685a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991f9685a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98ab8aa67b_0_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98ab8aa67b_0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98ab8aa67b_0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98ab8aa67b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991f9685a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991f9685a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99a24e08e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99a24e08e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991f9685a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2991f9685a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2991f9685a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2991f9685a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991f9685a2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2991f9685a2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2991f9685a2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2991f9685a2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2991f9685a2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2991f9685a2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2991f9685a2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991f9685a2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991f9696da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991f9696d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991f9696d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991f9696d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991f9696da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991f9696da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2991f9696da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2991f9696da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991f9696da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991f9696da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2991f9696da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991f9696da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93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1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3.png"/><Relationship Id="rId4" Type="http://schemas.openxmlformats.org/officeDocument/2006/relationships/image" Target="../media/image24.png"/><Relationship Id="rId9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3.png"/><Relationship Id="rId4" Type="http://schemas.openxmlformats.org/officeDocument/2006/relationships/image" Target="../media/image33.png"/><Relationship Id="rId11" Type="http://schemas.openxmlformats.org/officeDocument/2006/relationships/image" Target="../media/image12.png"/><Relationship Id="rId10" Type="http://schemas.openxmlformats.org/officeDocument/2006/relationships/image" Target="../media/image37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Relationship Id="rId5" Type="http://schemas.openxmlformats.org/officeDocument/2006/relationships/image" Target="../media/image48.png"/><Relationship Id="rId6" Type="http://schemas.openxmlformats.org/officeDocument/2006/relationships/image" Target="../media/image52.png"/><Relationship Id="rId7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5" Type="http://schemas.openxmlformats.org/officeDocument/2006/relationships/image" Target="../media/image57.png"/><Relationship Id="rId6" Type="http://schemas.openxmlformats.org/officeDocument/2006/relationships/image" Target="../media/image61.png"/><Relationship Id="rId7" Type="http://schemas.openxmlformats.org/officeDocument/2006/relationships/image" Target="../media/image56.png"/><Relationship Id="rId8" Type="http://schemas.openxmlformats.org/officeDocument/2006/relationships/image" Target="../media/image59.png"/><Relationship Id="rId11" Type="http://schemas.openxmlformats.org/officeDocument/2006/relationships/image" Target="../media/image62.png"/><Relationship Id="rId10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5" Type="http://schemas.openxmlformats.org/officeDocument/2006/relationships/image" Target="../media/image57.png"/><Relationship Id="rId6" Type="http://schemas.openxmlformats.org/officeDocument/2006/relationships/image" Target="../media/image61.png"/><Relationship Id="rId7" Type="http://schemas.openxmlformats.org/officeDocument/2006/relationships/image" Target="../media/image56.png"/><Relationship Id="rId8" Type="http://schemas.openxmlformats.org/officeDocument/2006/relationships/image" Target="../media/image59.png"/><Relationship Id="rId11" Type="http://schemas.openxmlformats.org/officeDocument/2006/relationships/image" Target="../media/image62.png"/><Relationship Id="rId10" Type="http://schemas.openxmlformats.org/officeDocument/2006/relationships/image" Target="../media/image58.png"/><Relationship Id="rId13" Type="http://schemas.openxmlformats.org/officeDocument/2006/relationships/image" Target="../media/image63.png"/><Relationship Id="rId12" Type="http://schemas.openxmlformats.org/officeDocument/2006/relationships/image" Target="../media/image6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5" Type="http://schemas.openxmlformats.org/officeDocument/2006/relationships/image" Target="../media/image57.png"/><Relationship Id="rId6" Type="http://schemas.openxmlformats.org/officeDocument/2006/relationships/image" Target="../media/image61.png"/><Relationship Id="rId7" Type="http://schemas.openxmlformats.org/officeDocument/2006/relationships/image" Target="../media/image56.png"/><Relationship Id="rId8" Type="http://schemas.openxmlformats.org/officeDocument/2006/relationships/image" Target="../media/image59.png"/><Relationship Id="rId11" Type="http://schemas.openxmlformats.org/officeDocument/2006/relationships/image" Target="../media/image62.png"/><Relationship Id="rId10" Type="http://schemas.openxmlformats.org/officeDocument/2006/relationships/image" Target="../media/image58.png"/><Relationship Id="rId13" Type="http://schemas.openxmlformats.org/officeDocument/2006/relationships/image" Target="../media/image64.png"/><Relationship Id="rId12" Type="http://schemas.openxmlformats.org/officeDocument/2006/relationships/image" Target="../media/image6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2.png"/><Relationship Id="rId4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1.png"/><Relationship Id="rId4" Type="http://schemas.openxmlformats.org/officeDocument/2006/relationships/image" Target="../media/image74.png"/><Relationship Id="rId5" Type="http://schemas.openxmlformats.org/officeDocument/2006/relationships/image" Target="../media/image7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5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0.png"/><Relationship Id="rId4" Type="http://schemas.openxmlformats.org/officeDocument/2006/relationships/image" Target="../media/image7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1.png"/><Relationship Id="rId4" Type="http://schemas.openxmlformats.org/officeDocument/2006/relationships/image" Target="../media/image8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2.png"/><Relationship Id="rId4" Type="http://schemas.openxmlformats.org/officeDocument/2006/relationships/image" Target="../media/image84.png"/><Relationship Id="rId5" Type="http://schemas.openxmlformats.org/officeDocument/2006/relationships/image" Target="../media/image8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7.png"/><Relationship Id="rId4" Type="http://schemas.openxmlformats.org/officeDocument/2006/relationships/image" Target="../media/image89.png"/><Relationship Id="rId9" Type="http://schemas.openxmlformats.org/officeDocument/2006/relationships/image" Target="../media/image91.png"/><Relationship Id="rId5" Type="http://schemas.openxmlformats.org/officeDocument/2006/relationships/image" Target="../media/image97.png"/><Relationship Id="rId6" Type="http://schemas.openxmlformats.org/officeDocument/2006/relationships/image" Target="../media/image95.png"/><Relationship Id="rId7" Type="http://schemas.openxmlformats.org/officeDocument/2006/relationships/image" Target="../media/image88.png"/><Relationship Id="rId8" Type="http://schemas.openxmlformats.org/officeDocument/2006/relationships/image" Target="../media/image94.png"/><Relationship Id="rId11" Type="http://schemas.openxmlformats.org/officeDocument/2006/relationships/image" Target="../media/image96.png"/><Relationship Id="rId10" Type="http://schemas.openxmlformats.org/officeDocument/2006/relationships/image" Target="../media/image90.png"/><Relationship Id="rId13" Type="http://schemas.openxmlformats.org/officeDocument/2006/relationships/image" Target="../media/image98.png"/><Relationship Id="rId12" Type="http://schemas.openxmlformats.org/officeDocument/2006/relationships/image" Target="../media/image9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1.png"/><Relationship Id="rId4" Type="http://schemas.openxmlformats.org/officeDocument/2006/relationships/image" Target="../media/image99.png"/><Relationship Id="rId5" Type="http://schemas.openxmlformats.org/officeDocument/2006/relationships/image" Target="../media/image102.png"/><Relationship Id="rId6" Type="http://schemas.openxmlformats.org/officeDocument/2006/relationships/image" Target="../media/image101.png"/><Relationship Id="rId7" Type="http://schemas.openxmlformats.org/officeDocument/2006/relationships/image" Target="../media/image100.png"/><Relationship Id="rId8" Type="http://schemas.openxmlformats.org/officeDocument/2006/relationships/image" Target="../media/image8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2.png"/><Relationship Id="rId4" Type="http://schemas.openxmlformats.org/officeDocument/2006/relationships/image" Target="../media/image84.png"/><Relationship Id="rId5" Type="http://schemas.openxmlformats.org/officeDocument/2006/relationships/image" Target="../media/image8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5.png"/><Relationship Id="rId4" Type="http://schemas.openxmlformats.org/officeDocument/2006/relationships/image" Target="../media/image10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7.png"/><Relationship Id="rId4" Type="http://schemas.openxmlformats.org/officeDocument/2006/relationships/image" Target="../media/image89.png"/><Relationship Id="rId9" Type="http://schemas.openxmlformats.org/officeDocument/2006/relationships/image" Target="../media/image96.png"/><Relationship Id="rId5" Type="http://schemas.openxmlformats.org/officeDocument/2006/relationships/image" Target="../media/image95.png"/><Relationship Id="rId6" Type="http://schemas.openxmlformats.org/officeDocument/2006/relationships/image" Target="../media/image94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11" Type="http://schemas.openxmlformats.org/officeDocument/2006/relationships/image" Target="../media/image88.png"/><Relationship Id="rId10" Type="http://schemas.openxmlformats.org/officeDocument/2006/relationships/image" Target="../media/image92.png"/><Relationship Id="rId13" Type="http://schemas.openxmlformats.org/officeDocument/2006/relationships/image" Target="../media/image98.png"/><Relationship Id="rId12" Type="http://schemas.openxmlformats.org/officeDocument/2006/relationships/image" Target="../media/image9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6.png"/><Relationship Id="rId4" Type="http://schemas.openxmlformats.org/officeDocument/2006/relationships/image" Target="../media/image10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6.png"/><Relationship Id="rId4" Type="http://schemas.openxmlformats.org/officeDocument/2006/relationships/image" Target="../media/image109.png"/><Relationship Id="rId5" Type="http://schemas.openxmlformats.org/officeDocument/2006/relationships/image" Target="../media/image108.png"/><Relationship Id="rId6" Type="http://schemas.openxmlformats.org/officeDocument/2006/relationships/image" Target="../media/image107.png"/><Relationship Id="rId7" Type="http://schemas.openxmlformats.org/officeDocument/2006/relationships/image" Target="../media/image111.png"/><Relationship Id="rId8" Type="http://schemas.openxmlformats.org/officeDocument/2006/relationships/image" Target="../media/image10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0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6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6.png"/><Relationship Id="rId4" Type="http://schemas.openxmlformats.org/officeDocument/2006/relationships/image" Target="../media/image116.png"/><Relationship Id="rId5" Type="http://schemas.openxmlformats.org/officeDocument/2006/relationships/image" Target="../media/image119.png"/><Relationship Id="rId6" Type="http://schemas.openxmlformats.org/officeDocument/2006/relationships/image" Target="../media/image118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7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5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1.png"/><Relationship Id="rId4" Type="http://schemas.openxmlformats.org/officeDocument/2006/relationships/image" Target="../media/image117.png"/><Relationship Id="rId5" Type="http://schemas.openxmlformats.org/officeDocument/2006/relationships/image" Target="../media/image1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5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terminating decimals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 can divide the numerator of a fraction by its denominator and know that this results in an equivalent terminating decimal.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/>
        </p:nvSpPr>
        <p:spPr>
          <a:xfrm>
            <a:off x="391225" y="854700"/>
            <a:ext cx="84960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b="1"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are the factors of a number that are, themselves, prime. 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7"/>
          <p:cNvSpPr/>
          <p:nvPr/>
        </p:nvSpPr>
        <p:spPr>
          <a:xfrm>
            <a:off x="3445224" y="3086992"/>
            <a:ext cx="6879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7"/>
          <p:cNvSpPr txBox="1"/>
          <p:nvPr/>
        </p:nvSpPr>
        <p:spPr>
          <a:xfrm>
            <a:off x="2806375" y="2659100"/>
            <a:ext cx="2068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67"/>
          <p:cNvSpPr/>
          <p:nvPr/>
        </p:nvSpPr>
        <p:spPr>
          <a:xfrm>
            <a:off x="4054874" y="2637950"/>
            <a:ext cx="6543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67"/>
          <p:cNvSpPr txBox="1"/>
          <p:nvPr/>
        </p:nvSpPr>
        <p:spPr>
          <a:xfrm>
            <a:off x="2099963" y="2235275"/>
            <a:ext cx="715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1260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/>
        </p:nvSpPr>
        <p:spPr>
          <a:xfrm>
            <a:off x="2806376" y="2235275"/>
            <a:ext cx="1326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126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7"/>
          <p:cNvSpPr/>
          <p:nvPr/>
        </p:nvSpPr>
        <p:spPr>
          <a:xfrm>
            <a:off x="3031793" y="2659100"/>
            <a:ext cx="7905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7"/>
          <p:cNvSpPr/>
          <p:nvPr/>
        </p:nvSpPr>
        <p:spPr>
          <a:xfrm>
            <a:off x="3031812" y="2214125"/>
            <a:ext cx="4992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7"/>
          <p:cNvSpPr/>
          <p:nvPr/>
        </p:nvSpPr>
        <p:spPr>
          <a:xfrm>
            <a:off x="3759678" y="2214125"/>
            <a:ext cx="3735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67"/>
          <p:cNvSpPr txBox="1"/>
          <p:nvPr/>
        </p:nvSpPr>
        <p:spPr>
          <a:xfrm>
            <a:off x="2806375" y="3098108"/>
            <a:ext cx="2233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67"/>
          <p:cNvSpPr/>
          <p:nvPr/>
        </p:nvSpPr>
        <p:spPr>
          <a:xfrm>
            <a:off x="3448803" y="2660225"/>
            <a:ext cx="3735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67"/>
          <p:cNvSpPr txBox="1"/>
          <p:nvPr/>
        </p:nvSpPr>
        <p:spPr>
          <a:xfrm>
            <a:off x="2806375" y="3534325"/>
            <a:ext cx="2635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7"/>
          <p:cNvSpPr/>
          <p:nvPr/>
        </p:nvSpPr>
        <p:spPr>
          <a:xfrm>
            <a:off x="3905476" y="3090673"/>
            <a:ext cx="2277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67"/>
          <p:cNvSpPr/>
          <p:nvPr/>
        </p:nvSpPr>
        <p:spPr>
          <a:xfrm>
            <a:off x="3868574" y="3845525"/>
            <a:ext cx="311100" cy="46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7"/>
          <p:cNvSpPr/>
          <p:nvPr/>
        </p:nvSpPr>
        <p:spPr>
          <a:xfrm>
            <a:off x="3905475" y="3502675"/>
            <a:ext cx="654300" cy="363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7"/>
          <p:cNvSpPr txBox="1"/>
          <p:nvPr/>
        </p:nvSpPr>
        <p:spPr>
          <a:xfrm>
            <a:off x="2806375" y="3949550"/>
            <a:ext cx="32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 × 2 × 3 × 3 × 5 × 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/>
        </p:nvSpPr>
        <p:spPr>
          <a:xfrm>
            <a:off x="315025" y="16909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83" name="Google Shape;783;p67"/>
          <p:cNvSpPr txBox="1"/>
          <p:nvPr/>
        </p:nvSpPr>
        <p:spPr>
          <a:xfrm>
            <a:off x="3569875" y="2235275"/>
            <a:ext cx="715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7"/>
          <p:cNvSpPr txBox="1"/>
          <p:nvPr/>
        </p:nvSpPr>
        <p:spPr>
          <a:xfrm>
            <a:off x="3279375" y="2659100"/>
            <a:ext cx="1747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63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/>
        </p:nvSpPr>
        <p:spPr>
          <a:xfrm>
            <a:off x="3868575" y="2659100"/>
            <a:ext cx="1310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/>
        </p:nvSpPr>
        <p:spPr>
          <a:xfrm>
            <a:off x="4107300" y="2659100"/>
            <a:ext cx="12243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7"/>
          <p:cNvSpPr txBox="1"/>
          <p:nvPr/>
        </p:nvSpPr>
        <p:spPr>
          <a:xfrm>
            <a:off x="3279375" y="3098100"/>
            <a:ext cx="1913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7"/>
          <p:cNvSpPr txBox="1"/>
          <p:nvPr/>
        </p:nvSpPr>
        <p:spPr>
          <a:xfrm>
            <a:off x="3496700" y="3098100"/>
            <a:ext cx="18483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7"/>
          <p:cNvSpPr txBox="1"/>
          <p:nvPr/>
        </p:nvSpPr>
        <p:spPr>
          <a:xfrm>
            <a:off x="3926200" y="3098100"/>
            <a:ext cx="1571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× 2 ×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7"/>
          <p:cNvSpPr txBox="1"/>
          <p:nvPr/>
        </p:nvSpPr>
        <p:spPr>
          <a:xfrm>
            <a:off x="3279375" y="3534325"/>
            <a:ext cx="2315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7"/>
          <p:cNvSpPr txBox="1"/>
          <p:nvPr/>
        </p:nvSpPr>
        <p:spPr>
          <a:xfrm>
            <a:off x="3719200" y="3534325"/>
            <a:ext cx="2028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7"/>
          <p:cNvSpPr txBox="1"/>
          <p:nvPr/>
        </p:nvSpPr>
        <p:spPr>
          <a:xfrm>
            <a:off x="3926200" y="3534325"/>
            <a:ext cx="1973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× 3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7"/>
          <p:cNvSpPr txBox="1"/>
          <p:nvPr/>
        </p:nvSpPr>
        <p:spPr>
          <a:xfrm>
            <a:off x="4572000" y="3534325"/>
            <a:ext cx="1479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 ×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8"/>
          <p:cNvSpPr txBox="1"/>
          <p:nvPr>
            <p:ph idx="1" type="subTitle"/>
          </p:nvPr>
        </p:nvSpPr>
        <p:spPr>
          <a:xfrm>
            <a:off x="324000" y="1146050"/>
            <a:ext cx="7822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</a:t>
            </a:r>
            <a:r>
              <a:rPr lang="en-GB"/>
              <a:t> terminating decimal </a:t>
            </a:r>
            <a:r>
              <a:rPr b="0" lang="en-GB"/>
              <a:t>is one that has a finite number of digits after the decimal point.</a:t>
            </a:r>
            <a:endParaRPr b="0"/>
          </a:p>
        </p:txBody>
      </p:sp>
      <p:sp>
        <p:nvSpPr>
          <p:cNvPr id="799" name="Google Shape;799;p68"/>
          <p:cNvSpPr txBox="1"/>
          <p:nvPr/>
        </p:nvSpPr>
        <p:spPr>
          <a:xfrm>
            <a:off x="324000" y="2319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800" name="Google Shape;800;p68"/>
          <p:cNvSpPr txBox="1"/>
          <p:nvPr/>
        </p:nvSpPr>
        <p:spPr>
          <a:xfrm>
            <a:off x="2478775" y="2319163"/>
            <a:ext cx="1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801" name="Google Shape;801;p68"/>
          <p:cNvSpPr txBox="1"/>
          <p:nvPr/>
        </p:nvSpPr>
        <p:spPr>
          <a:xfrm>
            <a:off x="4535725" y="2319175"/>
            <a:ext cx="212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802" name="Google Shape;802;p68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0" l="0" r="78771" t="0"/>
          <a:stretch/>
        </p:blipFill>
        <p:spPr>
          <a:xfrm>
            <a:off x="683400" y="2885825"/>
            <a:ext cx="1001400" cy="4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8"/>
          <p:cNvSpPr txBox="1"/>
          <p:nvPr/>
        </p:nvSpPr>
        <p:spPr>
          <a:xfrm>
            <a:off x="6994425" y="2319163"/>
            <a:ext cx="25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804" name="Google Shape;804;p68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15689" l="19284" r="38462" t="15690"/>
          <a:stretch/>
        </p:blipFill>
        <p:spPr>
          <a:xfrm>
            <a:off x="2196350" y="2962025"/>
            <a:ext cx="1993200" cy="42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805" name="Google Shape;805;p68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7763" l="73510" r="10058" t="-7763"/>
          <a:stretch/>
        </p:blipFill>
        <p:spPr>
          <a:xfrm>
            <a:off x="5141418" y="2885825"/>
            <a:ext cx="775150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.2\ \ \ 193.3894\ \ \ \ \ \ 1.\dot{9}\ \ \ \pi &quot;&gt;&lt;mn&gt;92.2&lt;/mn&gt;&lt;mtext&gt;&lt;/mtext&gt;&lt;mtext&gt;&lt;/mtext&gt;&lt;mtext&gt;&lt;/mtext&gt;&lt;mn&gt;193.3894&lt;/mn&gt;&lt;mtext&gt;&lt;/mtext&gt;&lt;mtext&gt;&lt;/mtext&gt;&lt;mtext&gt;&lt;/mtext&gt;&lt;mtext&gt;&lt;/mtext&gt;&lt;mtext&gt;&lt;/mtext&gt;&lt;mtext&gt;&lt;/mtext&gt;&lt;mn&gt;1.&lt;/mn&gt;&lt;mrow data-mjx-texclass=&quot;ORD&quot;&gt;&lt;mover&gt;&lt;mn&gt;9&lt;/mn&gt;&lt;mo&gt;˙&lt;/mo&gt;&lt;/mover&gt;&lt;/mrow&gt;&lt;mtext&gt;&lt;/mtext&gt;&lt;mtext&gt;&lt;/mtext&gt;&lt;mtext&gt;&lt;/mtext&gt;&lt;mi&gt;π&lt;/mi&gt;&lt;/math&gt;" id="806" name="Google Shape;806;p68" title="92.2 193.3894 the repeating decimal 1 point followed by repeating digit 9 pi"/>
          <p:cNvPicPr preferRelativeResize="0"/>
          <p:nvPr/>
        </p:nvPicPr>
        <p:blipFill rotWithShape="1">
          <a:blip r:embed="rId3">
            <a:alphaModFix/>
          </a:blip>
          <a:srcRect b="-27437" l="91624" r="-8056" t="11910"/>
          <a:stretch/>
        </p:blipFill>
        <p:spPr>
          <a:xfrm>
            <a:off x="7597968" y="2962025"/>
            <a:ext cx="775150" cy="4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sp>
        <p:nvSpPr>
          <p:cNvPr id="812" name="Google Shape;812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813" name="Google Shape;813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terminating decimals</a:t>
            </a:r>
            <a:endParaRPr/>
          </a:p>
        </p:txBody>
      </p:sp>
      <p:pic>
        <p:nvPicPr>
          <p:cNvPr id="814" name="Google Shape;81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1" y="206039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sp>
        <p:nvSpPr>
          <p:cNvPr id="820" name="Google Shape;820;p70"/>
          <p:cNvSpPr txBox="1"/>
          <p:nvPr>
            <p:ph idx="1" type="body"/>
          </p:nvPr>
        </p:nvSpPr>
        <p:spPr>
          <a:xfrm>
            <a:off x="324000" y="1151400"/>
            <a:ext cx="8237700" cy="7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Short division is a straightforward approach to identify the fraction as a decimal.</a:t>
            </a:r>
            <a:endParaRPr/>
          </a:p>
        </p:txBody>
      </p:sp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324000" y="2234100"/>
            <a:ext cx="8237700" cy="5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because the line of the fraction means divide.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=2\ \div5&quot;&gt;&lt;mfrac&gt;&lt;mn&gt;2&lt;/mn&gt;&lt;mn&gt;5&lt;/mn&gt;&lt;/mfrac&gt;&lt;mo&gt;=&lt;/mo&gt;&lt;mn&gt;2&lt;/mn&gt;&lt;mtext&gt;&lt;/mtext&gt;&lt;mo&gt;÷&lt;/mo&gt;&lt;mn&gt;5&lt;/mn&gt;&lt;/math&gt;" id="822" name="Google Shape;822;p70" title="two fifths equals 2 division sign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0" y="3151475"/>
            <a:ext cx="2110750" cy="105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0"/>
          <p:cNvSpPr txBox="1"/>
          <p:nvPr>
            <p:ph idx="1" type="body"/>
          </p:nvPr>
        </p:nvSpPr>
        <p:spPr>
          <a:xfrm>
            <a:off x="479825" y="3333750"/>
            <a:ext cx="1490100" cy="5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sp>
        <p:nvSpPr>
          <p:cNvPr id="829" name="Google Shape;829;p71"/>
          <p:cNvSpPr txBox="1"/>
          <p:nvPr>
            <p:ph idx="1" type="body"/>
          </p:nvPr>
        </p:nvSpPr>
        <p:spPr>
          <a:xfrm>
            <a:off x="324000" y="694200"/>
            <a:ext cx="7151100" cy="7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 let’s do some short division to determine if the fraction gives a </a:t>
            </a:r>
            <a:r>
              <a:rPr b="1" lang="en-GB"/>
              <a:t>terminating decimal</a:t>
            </a:r>
            <a:r>
              <a:rPr lang="en-GB"/>
              <a:t> or not.</a:t>
            </a:r>
            <a:endParaRPr/>
          </a:p>
        </p:txBody>
      </p:sp>
      <p:sp>
        <p:nvSpPr>
          <p:cNvPr id="830" name="Google Shape;830;p71"/>
          <p:cNvSpPr txBox="1"/>
          <p:nvPr/>
        </p:nvSpPr>
        <p:spPr>
          <a:xfrm>
            <a:off x="6753425" y="2845800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1"/>
          <p:cNvSpPr txBox="1"/>
          <p:nvPr/>
        </p:nvSpPr>
        <p:spPr>
          <a:xfrm>
            <a:off x="7033348" y="2945700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1"/>
          <p:cNvSpPr txBox="1"/>
          <p:nvPr/>
        </p:nvSpPr>
        <p:spPr>
          <a:xfrm>
            <a:off x="7185751" y="2945700"/>
            <a:ext cx="351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1"/>
          <p:cNvSpPr txBox="1"/>
          <p:nvPr/>
        </p:nvSpPr>
        <p:spPr>
          <a:xfrm>
            <a:off x="7105175" y="3215700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1"/>
          <p:cNvSpPr txBox="1"/>
          <p:nvPr/>
        </p:nvSpPr>
        <p:spPr>
          <a:xfrm>
            <a:off x="7033348" y="2437366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1"/>
          <p:cNvSpPr txBox="1"/>
          <p:nvPr/>
        </p:nvSpPr>
        <p:spPr>
          <a:xfrm>
            <a:off x="7210625" y="2845800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1"/>
          <p:cNvSpPr txBox="1"/>
          <p:nvPr>
            <p:ph idx="1" type="body"/>
          </p:nvPr>
        </p:nvSpPr>
        <p:spPr>
          <a:xfrm>
            <a:off x="324000" y="1700700"/>
            <a:ext cx="7151100" cy="5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=2\ \div5&quot;&gt;&lt;mfrac&gt;&lt;mn&gt;2&lt;/mn&gt;&lt;mn&gt;5&lt;/mn&gt;&lt;/mfrac&gt;&lt;mo&gt;=&lt;/mo&gt;&lt;mn&gt;2&lt;/mn&gt;&lt;mtext&gt;&lt;/mtext&gt;&lt;mo&gt;÷&lt;/mo&gt;&lt;mn&gt;5&lt;/mn&gt;&lt;/math&gt;" id="837" name="Google Shape;837;p71" title="two fifths equals 2 division sign 5"/>
          <p:cNvPicPr preferRelativeResize="0"/>
          <p:nvPr/>
        </p:nvPicPr>
        <p:blipFill rotWithShape="1">
          <a:blip r:embed="rId3">
            <a:alphaModFix/>
          </a:blip>
          <a:srcRect b="0" l="0" r="83328" t="0"/>
          <a:stretch/>
        </p:blipFill>
        <p:spPr>
          <a:xfrm>
            <a:off x="778651" y="2020754"/>
            <a:ext cx="237900" cy="710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=2\ \div5&quot;&gt;&lt;mfrac&gt;&lt;mn&gt;2&lt;/mn&gt;&lt;mn&gt;5&lt;/mn&gt;&lt;/mfrac&gt;&lt;mo&gt;=&lt;/mo&gt;&lt;mn&gt;2&lt;/mn&gt;&lt;mtext&gt;&lt;/mtext&gt;&lt;mo&gt;÷&lt;/mo&gt;&lt;mn&gt;5&lt;/mn&gt;&lt;/math&gt;" id="838" name="Google Shape;838;p71" title="two fifths equals 2 division sign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200" y="2846675"/>
            <a:ext cx="2110750" cy="105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1"/>
          <p:cNvSpPr txBox="1"/>
          <p:nvPr/>
        </p:nvSpPr>
        <p:spPr>
          <a:xfrm>
            <a:off x="4073975" y="2854150"/>
            <a:ext cx="1296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1"/>
          <p:cNvSpPr txBox="1"/>
          <p:nvPr/>
        </p:nvSpPr>
        <p:spPr>
          <a:xfrm>
            <a:off x="4073975" y="3049038"/>
            <a:ext cx="1296900" cy="77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0.4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1"/>
          <p:cNvSpPr txBox="1"/>
          <p:nvPr/>
        </p:nvSpPr>
        <p:spPr>
          <a:xfrm>
            <a:off x="324000" y="4157500"/>
            <a:ext cx="747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Yes, it is a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grpSp>
        <p:nvGrpSpPr>
          <p:cNvPr id="842" name="Google Shape;842;p71"/>
          <p:cNvGrpSpPr/>
          <p:nvPr/>
        </p:nvGrpSpPr>
        <p:grpSpPr>
          <a:xfrm>
            <a:off x="6172488" y="2945690"/>
            <a:ext cx="2313000" cy="980100"/>
            <a:chOff x="6172488" y="2945690"/>
            <a:chExt cx="2313000" cy="980100"/>
          </a:xfrm>
        </p:grpSpPr>
        <p:grpSp>
          <p:nvGrpSpPr>
            <p:cNvPr id="843" name="Google Shape;843;p71"/>
            <p:cNvGrpSpPr/>
            <p:nvPr/>
          </p:nvGrpSpPr>
          <p:grpSpPr>
            <a:xfrm>
              <a:off x="6172488" y="2945690"/>
              <a:ext cx="2313000" cy="980100"/>
              <a:chOff x="8179563" y="2952602"/>
              <a:chExt cx="2313000" cy="980100"/>
            </a:xfrm>
          </p:grpSpPr>
          <p:sp>
            <p:nvSpPr>
              <p:cNvPr id="844" name="Google Shape;844;p71"/>
              <p:cNvSpPr txBox="1"/>
              <p:nvPr/>
            </p:nvSpPr>
            <p:spPr>
              <a:xfrm>
                <a:off x="8179563" y="2952602"/>
                <a:ext cx="23130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 </a:t>
                </a: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845" name="Google Shape;845;p71"/>
              <p:cNvCxnSpPr/>
              <p:nvPr/>
            </p:nvCxnSpPr>
            <p:spPr>
              <a:xfrm>
                <a:off x="8696649" y="3314852"/>
                <a:ext cx="83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46" name="Google Shape;846;p71"/>
            <p:cNvCxnSpPr/>
            <p:nvPr/>
          </p:nvCxnSpPr>
          <p:spPr>
            <a:xfrm rot="10800000">
              <a:off x="6705150" y="3309000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7" name="Google Shape;847;p71"/>
          <p:cNvSpPr txBox="1"/>
          <p:nvPr>
            <p:ph idx="1" type="body"/>
          </p:nvPr>
        </p:nvSpPr>
        <p:spPr>
          <a:xfrm>
            <a:off x="324000" y="2234100"/>
            <a:ext cx="7151100" cy="5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      </a:t>
            </a:r>
            <a:endParaRPr/>
          </a:p>
        </p:txBody>
      </p:sp>
      <p:sp>
        <p:nvSpPr>
          <p:cNvPr id="848" name="Google Shape;848;p71"/>
          <p:cNvSpPr txBox="1"/>
          <p:nvPr>
            <p:ph idx="1" type="body"/>
          </p:nvPr>
        </p:nvSpPr>
        <p:spPr>
          <a:xfrm>
            <a:off x="1131925" y="2234100"/>
            <a:ext cx="6495600" cy="5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terminating decimal</a:t>
            </a:r>
            <a:r>
              <a:rPr lang="en-GB"/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2"/>
          <p:cNvSpPr txBox="1"/>
          <p:nvPr/>
        </p:nvSpPr>
        <p:spPr>
          <a:xfrm>
            <a:off x="3829670" y="2288466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2"/>
          <p:cNvSpPr txBox="1"/>
          <p:nvPr/>
        </p:nvSpPr>
        <p:spPr>
          <a:xfrm>
            <a:off x="4058270" y="2288466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 txBox="1"/>
          <p:nvPr>
            <p:ph idx="1" type="subTitle"/>
          </p:nvPr>
        </p:nvSpPr>
        <p:spPr>
          <a:xfrm>
            <a:off x="337825" y="733800"/>
            <a:ext cx="3982200" cy="10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short division, show if the following fractions give a </a:t>
            </a:r>
            <a:r>
              <a:rPr b="1" lang="en-GB"/>
              <a:t>terminating decimal</a:t>
            </a:r>
            <a:r>
              <a:rPr lang="en-GB"/>
              <a:t> or not. </a:t>
            </a:r>
            <a:endParaRPr/>
          </a:p>
        </p:txBody>
      </p:sp>
      <p:sp>
        <p:nvSpPr>
          <p:cNvPr id="856" name="Google Shape;856;p72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857" name="Google Shape;857;p72" title="2 lines Line 1: one eighth Line 2: one third"/>
          <p:cNvPicPr preferRelativeResize="0"/>
          <p:nvPr/>
        </p:nvPicPr>
        <p:blipFill rotWithShape="1">
          <a:blip r:embed="rId3">
            <a:alphaModFix/>
          </a:blip>
          <a:srcRect b="50214" l="0" r="0" t="0"/>
          <a:stretch/>
        </p:blipFill>
        <p:spPr>
          <a:xfrm>
            <a:off x="719798" y="2062097"/>
            <a:ext cx="241854" cy="770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858" name="Google Shape;858;p72" title="2 lines Line 1: one eighth Line 2: one third"/>
          <p:cNvPicPr preferRelativeResize="0"/>
          <p:nvPr/>
        </p:nvPicPr>
        <p:blipFill rotWithShape="1">
          <a:blip r:embed="rId3">
            <a:alphaModFix/>
          </a:blip>
          <a:srcRect b="-2290" l="0" r="0" t="52504"/>
          <a:stretch/>
        </p:blipFill>
        <p:spPr>
          <a:xfrm>
            <a:off x="726225" y="3579099"/>
            <a:ext cx="241854" cy="770577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2"/>
          <p:cNvSpPr txBox="1"/>
          <p:nvPr/>
        </p:nvSpPr>
        <p:spPr>
          <a:xfrm>
            <a:off x="3272648" y="1795425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2"/>
          <p:cNvSpPr txBox="1"/>
          <p:nvPr/>
        </p:nvSpPr>
        <p:spPr>
          <a:xfrm>
            <a:off x="3476372" y="1895325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2"/>
          <p:cNvSpPr txBox="1"/>
          <p:nvPr/>
        </p:nvSpPr>
        <p:spPr>
          <a:xfrm>
            <a:off x="3476372" y="1386991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2"/>
          <p:cNvSpPr txBox="1"/>
          <p:nvPr/>
        </p:nvSpPr>
        <p:spPr>
          <a:xfrm>
            <a:off x="3598697" y="1795425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2"/>
          <p:cNvSpPr txBox="1"/>
          <p:nvPr/>
        </p:nvSpPr>
        <p:spPr>
          <a:xfrm>
            <a:off x="3827297" y="1795425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2"/>
          <p:cNvSpPr txBox="1"/>
          <p:nvPr/>
        </p:nvSpPr>
        <p:spPr>
          <a:xfrm>
            <a:off x="4055897" y="1795425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2"/>
          <p:cNvSpPr txBox="1"/>
          <p:nvPr/>
        </p:nvSpPr>
        <p:spPr>
          <a:xfrm>
            <a:off x="3744043" y="2159219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2"/>
          <p:cNvSpPr txBox="1"/>
          <p:nvPr/>
        </p:nvSpPr>
        <p:spPr>
          <a:xfrm>
            <a:off x="3499352" y="2165325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2"/>
          <p:cNvSpPr txBox="1"/>
          <p:nvPr/>
        </p:nvSpPr>
        <p:spPr>
          <a:xfrm>
            <a:off x="3601070" y="2288466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2"/>
          <p:cNvSpPr txBox="1"/>
          <p:nvPr/>
        </p:nvSpPr>
        <p:spPr>
          <a:xfrm>
            <a:off x="3972643" y="2159219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8}=0.125\end{array}&quot;&gt;&lt;mtable columnalign=&quot;left&quot; columnspacing=&quot;1em&quot; rowspacing=&quot;4pt&quot;&gt;&lt;mtr&gt;&lt;mtd&gt;&lt;mfrac&gt;&lt;mn&gt;1&lt;/mn&gt;&lt;mn&gt;8&lt;/mn&gt;&lt;/mfrac&gt;&lt;mo&gt;=&lt;/mo&gt;&lt;mn&gt;0.125&lt;/mn&gt;&lt;/mtd&gt;&lt;/mtr&gt;&lt;/mtable&gt;&lt;/math&gt;" id="869" name="Google Shape;869;p72" title="1 lines Line 1: one eighth equals 0.125"/>
          <p:cNvPicPr preferRelativeResize="0"/>
          <p:nvPr/>
        </p:nvPicPr>
        <p:blipFill rotWithShape="1">
          <a:blip r:embed="rId4">
            <a:alphaModFix/>
          </a:blip>
          <a:srcRect b="0" l="19491" r="0" t="0"/>
          <a:stretch/>
        </p:blipFill>
        <p:spPr>
          <a:xfrm>
            <a:off x="1016999" y="2160000"/>
            <a:ext cx="1255800" cy="530857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2"/>
          <p:cNvSpPr txBox="1"/>
          <p:nvPr/>
        </p:nvSpPr>
        <p:spPr>
          <a:xfrm>
            <a:off x="250148" y="2862688"/>
            <a:ext cx="398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decimal.</a:t>
            </a:r>
            <a:endParaRPr b="1"/>
          </a:p>
        </p:txBody>
      </p:sp>
      <p:sp>
        <p:nvSpPr>
          <p:cNvPr id="871" name="Google Shape;871;p72"/>
          <p:cNvSpPr txBox="1"/>
          <p:nvPr/>
        </p:nvSpPr>
        <p:spPr>
          <a:xfrm>
            <a:off x="229149" y="2128028"/>
            <a:ext cx="4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b="1"/>
          </a:p>
        </p:txBody>
      </p:sp>
      <p:sp>
        <p:nvSpPr>
          <p:cNvPr id="872" name="Google Shape;872;p72"/>
          <p:cNvSpPr txBox="1"/>
          <p:nvPr/>
        </p:nvSpPr>
        <p:spPr>
          <a:xfrm>
            <a:off x="229149" y="3575828"/>
            <a:ext cx="4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/>
          </a:p>
        </p:txBody>
      </p:sp>
      <p:sp>
        <p:nvSpPr>
          <p:cNvPr id="873" name="Google Shape;873;p72"/>
          <p:cNvSpPr txBox="1"/>
          <p:nvPr/>
        </p:nvSpPr>
        <p:spPr>
          <a:xfrm>
            <a:off x="3775020" y="388602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2"/>
          <p:cNvSpPr txBox="1"/>
          <p:nvPr/>
        </p:nvSpPr>
        <p:spPr>
          <a:xfrm>
            <a:off x="4003620" y="388602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2"/>
          <p:cNvSpPr txBox="1"/>
          <p:nvPr/>
        </p:nvSpPr>
        <p:spPr>
          <a:xfrm>
            <a:off x="3217998" y="339298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2"/>
          <p:cNvSpPr txBox="1"/>
          <p:nvPr/>
        </p:nvSpPr>
        <p:spPr>
          <a:xfrm>
            <a:off x="3421722" y="3492888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2"/>
          <p:cNvSpPr txBox="1"/>
          <p:nvPr/>
        </p:nvSpPr>
        <p:spPr>
          <a:xfrm>
            <a:off x="3421722" y="2984553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2"/>
          <p:cNvSpPr txBox="1"/>
          <p:nvPr/>
        </p:nvSpPr>
        <p:spPr>
          <a:xfrm>
            <a:off x="3525729" y="3392988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2"/>
          <p:cNvSpPr txBox="1"/>
          <p:nvPr/>
        </p:nvSpPr>
        <p:spPr>
          <a:xfrm>
            <a:off x="3754329" y="339298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2"/>
          <p:cNvSpPr txBox="1"/>
          <p:nvPr/>
        </p:nvSpPr>
        <p:spPr>
          <a:xfrm>
            <a:off x="3982933" y="3393000"/>
            <a:ext cx="544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3…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2"/>
          <p:cNvSpPr txBox="1"/>
          <p:nvPr/>
        </p:nvSpPr>
        <p:spPr>
          <a:xfrm>
            <a:off x="3689393" y="3756782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2"/>
          <p:cNvSpPr txBox="1"/>
          <p:nvPr/>
        </p:nvSpPr>
        <p:spPr>
          <a:xfrm>
            <a:off x="3444702" y="3762888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2"/>
          <p:cNvSpPr txBox="1"/>
          <p:nvPr/>
        </p:nvSpPr>
        <p:spPr>
          <a:xfrm>
            <a:off x="3546420" y="388602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2"/>
          <p:cNvSpPr txBox="1"/>
          <p:nvPr/>
        </p:nvSpPr>
        <p:spPr>
          <a:xfrm>
            <a:off x="3917993" y="3756782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=0.333...\end{array}&quot;&gt;&lt;mtable columnalign=&quot;left&quot; columnspacing=&quot;1em&quot; rowspacing=&quot;4pt&quot;&gt;&lt;mtr&gt;&lt;mtd&gt;&lt;mo&gt;=&lt;/mo&gt;&lt;mn&gt;0.333&lt;/mn&gt;&lt;mo&gt;.&lt;/mo&gt;&lt;mo&gt;.&lt;/mo&gt;&lt;mo&gt;.&lt;/mo&gt;&lt;/mtd&gt;&lt;/mtr&gt;&lt;/mtable&gt;&lt;/math&gt;" id="885" name="Google Shape;885;p72" title="1 lines Line 1: equals 0.333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3725" y="3788700"/>
            <a:ext cx="1519613" cy="278706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2"/>
          <p:cNvSpPr txBox="1"/>
          <p:nvPr/>
        </p:nvSpPr>
        <p:spPr>
          <a:xfrm>
            <a:off x="250148" y="4433890"/>
            <a:ext cx="398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is not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decimal.</a:t>
            </a:r>
            <a:endParaRPr b="1"/>
          </a:p>
        </p:txBody>
      </p:sp>
      <p:sp>
        <p:nvSpPr>
          <p:cNvPr id="887" name="Google Shape;887;p72"/>
          <p:cNvSpPr txBox="1"/>
          <p:nvPr>
            <p:ph idx="1" type="subTitle"/>
          </p:nvPr>
        </p:nvSpPr>
        <p:spPr>
          <a:xfrm>
            <a:off x="4745600" y="733800"/>
            <a:ext cx="3982200" cy="10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short division, show if the following fractions give a </a:t>
            </a:r>
            <a:r>
              <a:rPr b="1" lang="en-GB"/>
              <a:t>terminating decimal</a:t>
            </a:r>
            <a:r>
              <a:rPr lang="en-GB"/>
              <a:t> or not. </a:t>
            </a:r>
            <a:endParaRPr/>
          </a:p>
        </p:txBody>
      </p:sp>
      <p:sp>
        <p:nvSpPr>
          <p:cNvPr id="888" name="Google Shape;888;p72"/>
          <p:cNvSpPr txBox="1"/>
          <p:nvPr/>
        </p:nvSpPr>
        <p:spPr>
          <a:xfrm>
            <a:off x="4657923" y="2862688"/>
            <a:ext cx="398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 a </a:t>
            </a: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terminating decimal.</a:t>
            </a:r>
            <a:endParaRPr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9" name="Google Shape;889;p72"/>
          <p:cNvSpPr txBox="1"/>
          <p:nvPr/>
        </p:nvSpPr>
        <p:spPr>
          <a:xfrm>
            <a:off x="4636924" y="2128028"/>
            <a:ext cx="4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b="1"/>
          </a:p>
        </p:txBody>
      </p:sp>
      <p:sp>
        <p:nvSpPr>
          <p:cNvPr id="890" name="Google Shape;890;p72"/>
          <p:cNvSpPr txBox="1"/>
          <p:nvPr/>
        </p:nvSpPr>
        <p:spPr>
          <a:xfrm>
            <a:off x="4636924" y="3575828"/>
            <a:ext cx="4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b="1"/>
          </a:p>
        </p:txBody>
      </p:sp>
      <p:sp>
        <p:nvSpPr>
          <p:cNvPr id="891" name="Google Shape;891;p72"/>
          <p:cNvSpPr txBox="1"/>
          <p:nvPr/>
        </p:nvSpPr>
        <p:spPr>
          <a:xfrm>
            <a:off x="4657923" y="4403491"/>
            <a:ext cx="398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 not a </a:t>
            </a: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terminating decimal.</a:t>
            </a:r>
            <a:endParaRPr b="1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20}=\ 0.35&quot;&gt;&lt;mfrac&gt;&lt;mn&gt;7&lt;/mn&gt;&lt;mn&gt;20&lt;/mn&gt;&lt;/mfrac&gt;&lt;mo&gt;=&lt;/mo&gt;&lt;mtext&gt;&lt;/mtext&gt;&lt;mn&gt;0.35&lt;/mn&gt;&lt;/math&gt;" id="892" name="Google Shape;892;p72" title="7 over 20 equals 0.35"/>
          <p:cNvPicPr preferRelativeResize="0"/>
          <p:nvPr/>
        </p:nvPicPr>
        <p:blipFill rotWithShape="1">
          <a:blip r:embed="rId6">
            <a:alphaModFix/>
          </a:blip>
          <a:srcRect b="0" l="0" r="66903" t="0"/>
          <a:stretch/>
        </p:blipFill>
        <p:spPr>
          <a:xfrm>
            <a:off x="5081742" y="2078625"/>
            <a:ext cx="4353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=\ 0.35&quot;&gt;&lt;mfrac&gt;&lt;mn&gt;7&lt;/mn&gt;&lt;mn&gt;20&lt;/mn&gt;&lt;/mfrac&gt;&lt;mo&gt;=&lt;/mo&gt;&lt;mtext&gt;&lt;/mtext&gt;&lt;mn&gt;0.35&lt;/mn&gt;&lt;/math&gt;" id="893" name="Google Shape;893;p72" title="7 over 20 equals 0.35"/>
          <p:cNvPicPr preferRelativeResize="0"/>
          <p:nvPr/>
        </p:nvPicPr>
        <p:blipFill rotWithShape="1">
          <a:blip r:embed="rId6">
            <a:alphaModFix/>
          </a:blip>
          <a:srcRect b="0" l="35237" r="0" t="0"/>
          <a:stretch/>
        </p:blipFill>
        <p:spPr>
          <a:xfrm>
            <a:off x="5517051" y="2072525"/>
            <a:ext cx="697200" cy="502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=\ 0.0833...&quot;&gt;&lt;mfrac&gt;&lt;mn&gt;1&lt;/mn&gt;&lt;mn&gt;12&lt;/mn&gt;&lt;/mfrac&gt;&lt;mo&gt;=&lt;/mo&gt;&lt;mtext&gt;&lt;/mtext&gt;&lt;mn&gt;0.0833&lt;/mn&gt;&lt;mo&gt;.&lt;/mo&gt;&lt;mo&gt;.&lt;/mo&gt;&lt;mo&gt;.&lt;/mo&gt;&lt;/math&gt;" id="894" name="Google Shape;894;p72" title="1 over 12 equals 0.0833 period period period"/>
          <p:cNvPicPr preferRelativeResize="0"/>
          <p:nvPr/>
        </p:nvPicPr>
        <p:blipFill rotWithShape="1">
          <a:blip r:embed="rId7">
            <a:alphaModFix/>
          </a:blip>
          <a:srcRect b="0" l="26583" r="0" t="0"/>
          <a:stretch/>
        </p:blipFill>
        <p:spPr>
          <a:xfrm>
            <a:off x="5420600" y="3612450"/>
            <a:ext cx="1115625" cy="50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=\ 0.0833...&quot;&gt;&lt;mfrac&gt;&lt;mn&gt;1&lt;/mn&gt;&lt;mn&gt;12&lt;/mn&gt;&lt;/mfrac&gt;&lt;mo&gt;=&lt;/mo&gt;&lt;mtext&gt;&lt;/mtext&gt;&lt;mn&gt;0.0833&lt;/mn&gt;&lt;mo&gt;.&lt;/mo&gt;&lt;mo&gt;.&lt;/mo&gt;&lt;mo&gt;.&lt;/mo&gt;&lt;/math&gt;" id="895" name="Google Shape;895;p72" title="1 over 12 equals 0.0833 period period period"/>
          <p:cNvPicPr preferRelativeResize="0"/>
          <p:nvPr/>
        </p:nvPicPr>
        <p:blipFill rotWithShape="1">
          <a:blip r:embed="rId7">
            <a:alphaModFix/>
          </a:blip>
          <a:srcRect b="0" l="0" r="78481" t="0"/>
          <a:stretch/>
        </p:blipFill>
        <p:spPr>
          <a:xfrm>
            <a:off x="5054969" y="3597375"/>
            <a:ext cx="327000" cy="507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6" name="Google Shape;896;p72"/>
          <p:cNvGrpSpPr/>
          <p:nvPr/>
        </p:nvGrpSpPr>
        <p:grpSpPr>
          <a:xfrm>
            <a:off x="2682132" y="1875709"/>
            <a:ext cx="1932300" cy="980100"/>
            <a:chOff x="2682132" y="1875709"/>
            <a:chExt cx="1932300" cy="980100"/>
          </a:xfrm>
        </p:grpSpPr>
        <p:grpSp>
          <p:nvGrpSpPr>
            <p:cNvPr id="897" name="Google Shape;897;p72"/>
            <p:cNvGrpSpPr/>
            <p:nvPr/>
          </p:nvGrpSpPr>
          <p:grpSpPr>
            <a:xfrm>
              <a:off x="2682132" y="1875709"/>
              <a:ext cx="1932300" cy="980100"/>
              <a:chOff x="9830005" y="1996275"/>
              <a:chExt cx="1932300" cy="980100"/>
            </a:xfrm>
          </p:grpSpPr>
          <p:sp>
            <p:nvSpPr>
              <p:cNvPr id="898" name="Google Shape;898;p72"/>
              <p:cNvSpPr txBox="1"/>
              <p:nvPr/>
            </p:nvSpPr>
            <p:spPr>
              <a:xfrm>
                <a:off x="9830005" y="1996275"/>
                <a:ext cx="19323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899" name="Google Shape;899;p72"/>
              <p:cNvCxnSpPr/>
              <p:nvPr/>
            </p:nvCxnSpPr>
            <p:spPr>
              <a:xfrm>
                <a:off x="10298201" y="2351510"/>
                <a:ext cx="131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900" name="Google Shape;900;p72"/>
            <p:cNvCxnSpPr/>
            <p:nvPr/>
          </p:nvCxnSpPr>
          <p:spPr>
            <a:xfrm rot="10800000">
              <a:off x="3168750" y="2222925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1" name="Google Shape;901;p72"/>
          <p:cNvGrpSpPr/>
          <p:nvPr/>
        </p:nvGrpSpPr>
        <p:grpSpPr>
          <a:xfrm>
            <a:off x="2559005" y="3492888"/>
            <a:ext cx="1932185" cy="980100"/>
            <a:chOff x="2559005" y="3492888"/>
            <a:chExt cx="1932185" cy="980100"/>
          </a:xfrm>
        </p:grpSpPr>
        <p:grpSp>
          <p:nvGrpSpPr>
            <p:cNvPr id="902" name="Google Shape;902;p72"/>
            <p:cNvGrpSpPr/>
            <p:nvPr/>
          </p:nvGrpSpPr>
          <p:grpSpPr>
            <a:xfrm>
              <a:off x="2559005" y="3492888"/>
              <a:ext cx="1932185" cy="980100"/>
              <a:chOff x="2800350" y="2259775"/>
              <a:chExt cx="4423500" cy="980100"/>
            </a:xfrm>
          </p:grpSpPr>
          <p:sp>
            <p:nvSpPr>
              <p:cNvPr id="903" name="Google Shape;903;p72"/>
              <p:cNvSpPr txBox="1"/>
              <p:nvPr/>
            </p:nvSpPr>
            <p:spPr>
              <a:xfrm>
                <a:off x="2800350" y="2259775"/>
                <a:ext cx="44235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 </a:t>
                </a: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904" name="Google Shape;904;p72"/>
              <p:cNvCxnSpPr/>
              <p:nvPr/>
            </p:nvCxnSpPr>
            <p:spPr>
              <a:xfrm>
                <a:off x="3896099" y="2614552"/>
                <a:ext cx="2999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905" name="Google Shape;905;p72"/>
            <p:cNvCxnSpPr/>
            <p:nvPr/>
          </p:nvCxnSpPr>
          <p:spPr>
            <a:xfrm rot="10800000">
              <a:off x="3057675" y="3835574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6" name="Google Shape;906;p72"/>
          <p:cNvGrpSpPr/>
          <p:nvPr/>
        </p:nvGrpSpPr>
        <p:grpSpPr>
          <a:xfrm>
            <a:off x="6699175" y="1403701"/>
            <a:ext cx="2070825" cy="1488434"/>
            <a:chOff x="6699175" y="1403701"/>
            <a:chExt cx="2070825" cy="1488434"/>
          </a:xfrm>
        </p:grpSpPr>
        <p:grpSp>
          <p:nvGrpSpPr>
            <p:cNvPr id="907" name="Google Shape;907;p72"/>
            <p:cNvGrpSpPr/>
            <p:nvPr/>
          </p:nvGrpSpPr>
          <p:grpSpPr>
            <a:xfrm>
              <a:off x="6699175" y="1403701"/>
              <a:ext cx="2070825" cy="1488434"/>
              <a:chOff x="6699175" y="1403701"/>
              <a:chExt cx="2070825" cy="1488434"/>
            </a:xfrm>
          </p:grpSpPr>
          <p:grpSp>
            <p:nvGrpSpPr>
              <p:cNvPr id="908" name="Google Shape;908;p72"/>
              <p:cNvGrpSpPr/>
              <p:nvPr/>
            </p:nvGrpSpPr>
            <p:grpSpPr>
              <a:xfrm>
                <a:off x="6699175" y="1903680"/>
                <a:ext cx="2070825" cy="980100"/>
                <a:chOff x="2482950" y="2259775"/>
                <a:chExt cx="4740900" cy="980100"/>
              </a:xfrm>
            </p:grpSpPr>
            <p:sp>
              <p:nvSpPr>
                <p:cNvPr id="909" name="Google Shape;909;p72"/>
                <p:cNvSpPr txBox="1"/>
                <p:nvPr/>
              </p:nvSpPr>
              <p:spPr>
                <a:xfrm>
                  <a:off x="2482950" y="2259775"/>
                  <a:ext cx="4740900" cy="98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2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20</a:t>
                  </a:r>
                  <a:r>
                    <a:rPr lang="en-GB" sz="55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 </a:t>
                  </a:r>
                  <a:r>
                    <a:rPr lang="en-GB" sz="36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 </a:t>
                  </a:r>
                  <a:r>
                    <a:rPr lang="en-GB" sz="22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7</a:t>
                  </a:r>
                  <a:endParaRPr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910" name="Google Shape;910;p72"/>
                <p:cNvCxnSpPr/>
                <p:nvPr/>
              </p:nvCxnSpPr>
              <p:spPr>
                <a:xfrm>
                  <a:off x="3896099" y="2614552"/>
                  <a:ext cx="29994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11" name="Google Shape;911;p72"/>
              <p:cNvSpPr txBox="1"/>
              <p:nvPr/>
            </p:nvSpPr>
            <p:spPr>
              <a:xfrm>
                <a:off x="8130030" y="2305177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2" name="Google Shape;912;p72"/>
              <p:cNvSpPr txBox="1"/>
              <p:nvPr/>
            </p:nvSpPr>
            <p:spPr>
              <a:xfrm>
                <a:off x="7496809" y="1812136"/>
                <a:ext cx="4353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3" name="Google Shape;913;p72"/>
              <p:cNvSpPr txBox="1"/>
              <p:nvPr/>
            </p:nvSpPr>
            <p:spPr>
              <a:xfrm>
                <a:off x="7700532" y="1912036"/>
                <a:ext cx="2379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.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4" name="Google Shape;914;p72"/>
              <p:cNvSpPr txBox="1"/>
              <p:nvPr/>
            </p:nvSpPr>
            <p:spPr>
              <a:xfrm>
                <a:off x="7700532" y="1403701"/>
                <a:ext cx="2379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.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5" name="Google Shape;915;p72"/>
              <p:cNvSpPr txBox="1"/>
              <p:nvPr/>
            </p:nvSpPr>
            <p:spPr>
              <a:xfrm>
                <a:off x="7822857" y="1812136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6" name="Google Shape;916;p72"/>
              <p:cNvSpPr txBox="1"/>
              <p:nvPr/>
            </p:nvSpPr>
            <p:spPr>
              <a:xfrm>
                <a:off x="8051457" y="1812136"/>
                <a:ext cx="4353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7" name="Google Shape;917;p72"/>
              <p:cNvSpPr txBox="1"/>
              <p:nvPr/>
            </p:nvSpPr>
            <p:spPr>
              <a:xfrm>
                <a:off x="7968200" y="2175925"/>
                <a:ext cx="488700" cy="4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8" name="Google Shape;918;p72"/>
              <p:cNvSpPr txBox="1"/>
              <p:nvPr/>
            </p:nvSpPr>
            <p:spPr>
              <a:xfrm>
                <a:off x="7723513" y="2182036"/>
                <a:ext cx="237900" cy="4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9" name="Google Shape;919;p72"/>
              <p:cNvSpPr txBox="1"/>
              <p:nvPr/>
            </p:nvSpPr>
            <p:spPr>
              <a:xfrm>
                <a:off x="7825230" y="2305177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920" name="Google Shape;920;p72"/>
            <p:cNvCxnSpPr/>
            <p:nvPr/>
          </p:nvCxnSpPr>
          <p:spPr>
            <a:xfrm rot="10800000">
              <a:off x="7334208" y="2265467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1" name="Google Shape;921;p72"/>
          <p:cNvGrpSpPr/>
          <p:nvPr/>
        </p:nvGrpSpPr>
        <p:grpSpPr>
          <a:xfrm>
            <a:off x="6509653" y="2984553"/>
            <a:ext cx="2467592" cy="1496797"/>
            <a:chOff x="6509653" y="2984553"/>
            <a:chExt cx="2467592" cy="1496797"/>
          </a:xfrm>
        </p:grpSpPr>
        <p:grpSp>
          <p:nvGrpSpPr>
            <p:cNvPr id="922" name="Google Shape;922;p72"/>
            <p:cNvGrpSpPr/>
            <p:nvPr/>
          </p:nvGrpSpPr>
          <p:grpSpPr>
            <a:xfrm>
              <a:off x="6509653" y="2984553"/>
              <a:ext cx="2467592" cy="1496797"/>
              <a:chOff x="6509653" y="2984553"/>
              <a:chExt cx="2467592" cy="1496797"/>
            </a:xfrm>
          </p:grpSpPr>
          <p:grpSp>
            <p:nvGrpSpPr>
              <p:cNvPr id="923" name="Google Shape;923;p72"/>
              <p:cNvGrpSpPr/>
              <p:nvPr/>
            </p:nvGrpSpPr>
            <p:grpSpPr>
              <a:xfrm>
                <a:off x="6509653" y="3501250"/>
                <a:ext cx="2190674" cy="980100"/>
                <a:chOff x="2451437" y="2259782"/>
                <a:chExt cx="4652100" cy="980100"/>
              </a:xfrm>
            </p:grpSpPr>
            <p:sp>
              <p:nvSpPr>
                <p:cNvPr id="924" name="Google Shape;924;p72"/>
                <p:cNvSpPr txBox="1"/>
                <p:nvPr/>
              </p:nvSpPr>
              <p:spPr>
                <a:xfrm>
                  <a:off x="2451437" y="2259782"/>
                  <a:ext cx="4652100" cy="98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2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12</a:t>
                  </a:r>
                  <a:r>
                    <a:rPr lang="en-GB" sz="55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 </a:t>
                  </a:r>
                  <a:r>
                    <a:rPr lang="en-GB" sz="36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  </a:t>
                  </a:r>
                  <a:r>
                    <a:rPr lang="en-GB" sz="22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1</a:t>
                  </a:r>
                  <a:endParaRPr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925" name="Google Shape;925;p72"/>
                <p:cNvCxnSpPr/>
                <p:nvPr/>
              </p:nvCxnSpPr>
              <p:spPr>
                <a:xfrm>
                  <a:off x="3896099" y="2614552"/>
                  <a:ext cx="29994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26" name="Google Shape;926;p72"/>
              <p:cNvSpPr txBox="1"/>
              <p:nvPr/>
            </p:nvSpPr>
            <p:spPr>
              <a:xfrm>
                <a:off x="7954195" y="3886029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7" name="Google Shape;927;p72"/>
              <p:cNvSpPr txBox="1"/>
              <p:nvPr/>
            </p:nvSpPr>
            <p:spPr>
              <a:xfrm>
                <a:off x="7320973" y="3392988"/>
                <a:ext cx="4353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8" name="Google Shape;928;p72"/>
              <p:cNvSpPr txBox="1"/>
              <p:nvPr/>
            </p:nvSpPr>
            <p:spPr>
              <a:xfrm>
                <a:off x="7524697" y="3492888"/>
                <a:ext cx="2379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.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9" name="Google Shape;929;p72"/>
              <p:cNvSpPr txBox="1"/>
              <p:nvPr/>
            </p:nvSpPr>
            <p:spPr>
              <a:xfrm>
                <a:off x="7524697" y="2984553"/>
                <a:ext cx="2379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.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0" name="Google Shape;930;p72"/>
              <p:cNvSpPr txBox="1"/>
              <p:nvPr/>
            </p:nvSpPr>
            <p:spPr>
              <a:xfrm>
                <a:off x="7628704" y="3392988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1" name="Google Shape;931;p72"/>
              <p:cNvSpPr txBox="1"/>
              <p:nvPr/>
            </p:nvSpPr>
            <p:spPr>
              <a:xfrm>
                <a:off x="7857304" y="3392988"/>
                <a:ext cx="4353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2" name="Google Shape;932;p72"/>
              <p:cNvSpPr txBox="1"/>
              <p:nvPr/>
            </p:nvSpPr>
            <p:spPr>
              <a:xfrm>
                <a:off x="7792375" y="3756775"/>
                <a:ext cx="544500" cy="4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3" name="Google Shape;933;p72"/>
              <p:cNvSpPr txBox="1"/>
              <p:nvPr/>
            </p:nvSpPr>
            <p:spPr>
              <a:xfrm>
                <a:off x="7547677" y="3762888"/>
                <a:ext cx="237900" cy="4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4" name="Google Shape;934;p72"/>
              <p:cNvSpPr txBox="1"/>
              <p:nvPr/>
            </p:nvSpPr>
            <p:spPr>
              <a:xfrm>
                <a:off x="7649395" y="3886029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5" name="Google Shape;935;p72"/>
              <p:cNvSpPr txBox="1"/>
              <p:nvPr/>
            </p:nvSpPr>
            <p:spPr>
              <a:xfrm>
                <a:off x="8063657" y="3387275"/>
                <a:ext cx="6972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6" name="Google Shape;936;p72"/>
              <p:cNvSpPr txBox="1"/>
              <p:nvPr/>
            </p:nvSpPr>
            <p:spPr>
              <a:xfrm>
                <a:off x="8411395" y="3886029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7" name="Google Shape;937;p72"/>
              <p:cNvSpPr txBox="1"/>
              <p:nvPr/>
            </p:nvSpPr>
            <p:spPr>
              <a:xfrm>
                <a:off x="8280046" y="3387275"/>
                <a:ext cx="6972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3…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8" name="Google Shape;938;p72"/>
              <p:cNvSpPr txBox="1"/>
              <p:nvPr/>
            </p:nvSpPr>
            <p:spPr>
              <a:xfrm>
                <a:off x="8182795" y="3886029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9" name="Google Shape;939;p72"/>
              <p:cNvSpPr txBox="1"/>
              <p:nvPr/>
            </p:nvSpPr>
            <p:spPr>
              <a:xfrm>
                <a:off x="8093593" y="3751922"/>
                <a:ext cx="237900" cy="4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0" name="Google Shape;940;p72"/>
              <p:cNvSpPr txBox="1"/>
              <p:nvPr/>
            </p:nvSpPr>
            <p:spPr>
              <a:xfrm>
                <a:off x="8322193" y="3751922"/>
                <a:ext cx="237900" cy="4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941" name="Google Shape;941;p72"/>
            <p:cNvCxnSpPr/>
            <p:nvPr/>
          </p:nvCxnSpPr>
          <p:spPr>
            <a:xfrm rot="10800000">
              <a:off x="7202875" y="3871241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3"/>
          <p:cNvSpPr txBox="1"/>
          <p:nvPr>
            <p:ph idx="1" type="body"/>
          </p:nvPr>
        </p:nvSpPr>
        <p:spPr>
          <a:xfrm>
            <a:off x="324000" y="759300"/>
            <a:ext cx="8413200" cy="12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Short division is a good method, but sometimes the denominator can be made into a power of 10. This means we can work out the decimal equivalent easily without division. A place value chart can help.</a:t>
            </a:r>
            <a:endParaRPr sz="2100"/>
          </a:p>
        </p:txBody>
      </p:sp>
      <p:sp>
        <p:nvSpPr>
          <p:cNvPr id="947" name="Google Shape;94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graphicFrame>
        <p:nvGraphicFramePr>
          <p:cNvPr id="948" name="Google Shape;948;p73"/>
          <p:cNvGraphicFramePr/>
          <p:nvPr/>
        </p:nvGraphicFramePr>
        <p:xfrm>
          <a:off x="690235" y="24261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{87E7465C-3433-4D8B-9C8B-123AFAB1AD71}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9" name="Google Shape;949;p73"/>
          <p:cNvSpPr/>
          <p:nvPr/>
        </p:nvSpPr>
        <p:spPr>
          <a:xfrm>
            <a:off x="4533478" y="31812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0" name="Google Shape;950;p73"/>
          <p:cNvGrpSpPr/>
          <p:nvPr/>
        </p:nvGrpSpPr>
        <p:grpSpPr>
          <a:xfrm>
            <a:off x="878630" y="2492104"/>
            <a:ext cx="6773120" cy="438600"/>
            <a:chOff x="878630" y="2263504"/>
            <a:chExt cx="6773120" cy="438600"/>
          </a:xfrm>
        </p:grpSpPr>
        <p:grpSp>
          <p:nvGrpSpPr>
            <p:cNvPr id="951" name="Google Shape;951;p73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952" name="Google Shape;952;p73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953" name="Google Shape;953;p73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954" name="Google Shape;954;p73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55" name="Google Shape;955;p73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956" name="Google Shape;956;p73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957" name="Google Shape;957;p73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958" name="Google Shape;958;p73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959" name="Google Shape;959;p73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60" name="Google Shape;960;p7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5" name="Google Shape;965;p74"/>
          <p:cNvGraphicFramePr/>
          <p:nvPr/>
        </p:nvGraphicFramePr>
        <p:xfrm>
          <a:off x="690235" y="24261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{87E7465C-3433-4D8B-9C8B-123AFAB1AD71}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66" name="Google Shape;966;p74"/>
          <p:cNvGrpSpPr/>
          <p:nvPr/>
        </p:nvGrpSpPr>
        <p:grpSpPr>
          <a:xfrm>
            <a:off x="2527291" y="2982487"/>
            <a:ext cx="4493700" cy="521209"/>
            <a:chOff x="2527291" y="2753887"/>
            <a:chExt cx="4493700" cy="521209"/>
          </a:xfrm>
        </p:grpSpPr>
        <p:sp>
          <p:nvSpPr>
            <p:cNvPr id="967" name="Google Shape;967;p74"/>
            <p:cNvSpPr txBox="1"/>
            <p:nvPr/>
          </p:nvSpPr>
          <p:spPr>
            <a:xfrm>
              <a:off x="6421891" y="2759660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68" name="Google Shape;968;p74"/>
            <p:cNvGrpSpPr/>
            <p:nvPr/>
          </p:nvGrpSpPr>
          <p:grpSpPr>
            <a:xfrm>
              <a:off x="2527291" y="2753887"/>
              <a:ext cx="3644925" cy="521209"/>
              <a:chOff x="2979053" y="2729812"/>
              <a:chExt cx="3644925" cy="521209"/>
            </a:xfrm>
          </p:grpSpPr>
          <p:grpSp>
            <p:nvGrpSpPr>
              <p:cNvPr id="969" name="Google Shape;969;p74"/>
              <p:cNvGrpSpPr/>
              <p:nvPr/>
            </p:nvGrpSpPr>
            <p:grpSpPr>
              <a:xfrm>
                <a:off x="2979053" y="2735475"/>
                <a:ext cx="2892450" cy="515546"/>
                <a:chOff x="2979053" y="2735475"/>
                <a:chExt cx="2892450" cy="515546"/>
              </a:xfrm>
            </p:grpSpPr>
            <p:sp>
              <p:nvSpPr>
                <p:cNvPr id="970" name="Google Shape;970;p74"/>
                <p:cNvSpPr txBox="1"/>
                <p:nvPr/>
              </p:nvSpPr>
              <p:spPr>
                <a:xfrm>
                  <a:off x="4535248" y="2735475"/>
                  <a:ext cx="552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0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971" name="Google Shape;971;p74"/>
                <p:cNvSpPr txBox="1"/>
                <p:nvPr/>
              </p:nvSpPr>
              <p:spPr>
                <a:xfrm>
                  <a:off x="5272403" y="2735696"/>
                  <a:ext cx="5991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latin typeface="Lexend"/>
                      <a:ea typeface="Lexend"/>
                      <a:cs typeface="Lexend"/>
                      <a:sym typeface="Lexend"/>
                    </a:rPr>
                    <a:t>3</a:t>
                  </a:r>
                  <a:endParaRPr sz="24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972" name="Google Shape;972;p74"/>
                <p:cNvGrpSpPr/>
                <p:nvPr/>
              </p:nvGrpSpPr>
              <p:grpSpPr>
                <a:xfrm>
                  <a:off x="2979053" y="2735475"/>
                  <a:ext cx="1168123" cy="515546"/>
                  <a:chOff x="3360053" y="1973475"/>
                  <a:chExt cx="1168123" cy="515546"/>
                </a:xfrm>
              </p:grpSpPr>
              <p:sp>
                <p:nvSpPr>
                  <p:cNvPr id="973" name="Google Shape;973;p74"/>
                  <p:cNvSpPr txBox="1"/>
                  <p:nvPr/>
                </p:nvSpPr>
                <p:spPr>
                  <a:xfrm>
                    <a:off x="3360053" y="1978721"/>
                    <a:ext cx="5991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974" name="Google Shape;974;p74"/>
                  <p:cNvSpPr txBox="1"/>
                  <p:nvPr/>
                </p:nvSpPr>
                <p:spPr>
                  <a:xfrm>
                    <a:off x="4100976" y="1973475"/>
                    <a:ext cx="4272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975" name="Google Shape;975;p74"/>
              <p:cNvSpPr txBox="1"/>
              <p:nvPr/>
            </p:nvSpPr>
            <p:spPr>
              <a:xfrm>
                <a:off x="6024878" y="2729812"/>
                <a:ext cx="5991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76" name="Google Shape;97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terminating and non-terminating</a:t>
            </a:r>
            <a:endParaRPr/>
          </a:p>
        </p:txBody>
      </p:sp>
      <p:sp>
        <p:nvSpPr>
          <p:cNvPr id="977" name="Google Shape;977;p74"/>
          <p:cNvSpPr/>
          <p:nvPr/>
        </p:nvSpPr>
        <p:spPr>
          <a:xfrm>
            <a:off x="4533478" y="31812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8" name="Google Shape;978;p74"/>
          <p:cNvGrpSpPr/>
          <p:nvPr/>
        </p:nvGrpSpPr>
        <p:grpSpPr>
          <a:xfrm>
            <a:off x="878630" y="2492104"/>
            <a:ext cx="6773120" cy="438600"/>
            <a:chOff x="878630" y="2263504"/>
            <a:chExt cx="6773120" cy="438600"/>
          </a:xfrm>
        </p:grpSpPr>
        <p:grpSp>
          <p:nvGrpSpPr>
            <p:cNvPr id="979" name="Google Shape;979;p74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980" name="Google Shape;980;p74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981" name="Google Shape;981;p74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982" name="Google Shape;982;p74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83" name="Google Shape;983;p74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984" name="Google Shape;984;p74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985" name="Google Shape;985;p74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986" name="Google Shape;986;p74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987" name="Google Shape;987;p74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88" name="Google Shape;988;p74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9" name="Google Shape;989;p74"/>
          <p:cNvGrpSpPr/>
          <p:nvPr/>
        </p:nvGrpSpPr>
        <p:grpSpPr>
          <a:xfrm>
            <a:off x="690225" y="3792888"/>
            <a:ext cx="7470300" cy="649525"/>
            <a:chOff x="690225" y="3792888"/>
            <a:chExt cx="7470300" cy="649525"/>
          </a:xfrm>
        </p:grpSpPr>
        <p:sp>
          <p:nvSpPr>
            <p:cNvPr id="990" name="Google Shape;990;p74"/>
            <p:cNvSpPr txBox="1"/>
            <p:nvPr/>
          </p:nvSpPr>
          <p:spPr>
            <a:xfrm>
              <a:off x="690225" y="3915300"/>
              <a:ext cx="74703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So      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}{10}&quot;&gt;&lt;mfrac&gt;&lt;mn&gt;3&lt;/mn&gt;&lt;mn&gt;10&lt;/mn&gt;&lt;/mfrac&gt;&lt;/math&gt;" id="991" name="Google Shape;991;p74" title="three tenths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183200" y="3792888"/>
              <a:ext cx="350465" cy="649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2" name="Google Shape;992;p74"/>
          <p:cNvSpPr/>
          <p:nvPr/>
        </p:nvSpPr>
        <p:spPr>
          <a:xfrm>
            <a:off x="4871080" y="3086828"/>
            <a:ext cx="256800" cy="36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4"/>
          <p:cNvSpPr txBox="1"/>
          <p:nvPr/>
        </p:nvSpPr>
        <p:spPr>
          <a:xfrm>
            <a:off x="1649850" y="3915300"/>
            <a:ext cx="66630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as a decimal is 0.3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4" name="Google Shape;994;p7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4850" y="1516550"/>
            <a:ext cx="6864091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4"/>
          <p:cNvSpPr/>
          <p:nvPr/>
        </p:nvSpPr>
        <p:spPr>
          <a:xfrm>
            <a:off x="4899638" y="1461140"/>
            <a:ext cx="256800" cy="36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terminating and non-terminating</a:t>
            </a:r>
            <a:endParaRPr/>
          </a:p>
        </p:txBody>
      </p:sp>
      <p:graphicFrame>
        <p:nvGraphicFramePr>
          <p:cNvPr id="1001" name="Google Shape;1001;p75"/>
          <p:cNvGraphicFramePr/>
          <p:nvPr/>
        </p:nvGraphicFramePr>
        <p:xfrm>
          <a:off x="690235" y="24261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{87E7465C-3433-4D8B-9C8B-123AFAB1AD71}</a:tableStyleId>
              </a:tblPr>
              <a:tblGrid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  <a:gridCol w="786325"/>
              </a:tblGrid>
              <a:tr h="5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2" name="Google Shape;1002;p75"/>
          <p:cNvSpPr/>
          <p:nvPr/>
        </p:nvSpPr>
        <p:spPr>
          <a:xfrm>
            <a:off x="4533478" y="3181285"/>
            <a:ext cx="163500" cy="163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3" name="Google Shape;1003;p75"/>
          <p:cNvGrpSpPr/>
          <p:nvPr/>
        </p:nvGrpSpPr>
        <p:grpSpPr>
          <a:xfrm>
            <a:off x="878630" y="2492104"/>
            <a:ext cx="6773120" cy="438600"/>
            <a:chOff x="878630" y="2263504"/>
            <a:chExt cx="6773120" cy="438600"/>
          </a:xfrm>
        </p:grpSpPr>
        <p:grpSp>
          <p:nvGrpSpPr>
            <p:cNvPr id="1004" name="Google Shape;1004;p75"/>
            <p:cNvGrpSpPr/>
            <p:nvPr/>
          </p:nvGrpSpPr>
          <p:grpSpPr>
            <a:xfrm>
              <a:off x="878630" y="2263504"/>
              <a:ext cx="6773120" cy="438600"/>
              <a:chOff x="1183430" y="2263504"/>
              <a:chExt cx="6773120" cy="438600"/>
            </a:xfrm>
          </p:grpSpPr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1005" name="Google Shape;1005;p75" title="10 squared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785400" y="2294390"/>
                <a:ext cx="434700" cy="316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1006" name="Google Shape;1006;p75" title="10 cubed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011875" y="2299451"/>
                <a:ext cx="434700" cy="330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1007" name="Google Shape;1007;p75" title="10 to the fourth power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83430" y="2296889"/>
                <a:ext cx="434700" cy="3169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008" name="Google Shape;1008;p75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71875" y="2368228"/>
                <a:ext cx="300900" cy="242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0}&quot;&gt;&lt;mfrac&gt;&lt;mn&gt;1&lt;/mn&gt;&lt;mn&gt;1000&lt;/mn&gt;&lt;/mfrac&gt;&lt;/math&gt;" id="1009" name="Google Shape;1009;p75" title="1 over 100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691953" y="2267810"/>
                <a:ext cx="427043" cy="4342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1010" name="Google Shape;1010;p75" title="the fraction with numerator 1 and denominator 10 00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404151" y="2275599"/>
                <a:ext cx="552399" cy="415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1011" name="Google Shape;1011;p75" title="one tenth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187800" y="2279863"/>
                <a:ext cx="216982" cy="4155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0}&quot;&gt;&lt;mfrac&gt;&lt;mn&gt;1&lt;/mn&gt;&lt;mn&gt;100&lt;/mn&gt;&lt;/mfrac&gt;&lt;/math&gt;" id="1012" name="Google Shape;1012;p75" title="1 over 100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5937280" y="2263504"/>
                <a:ext cx="328714" cy="435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13" name="Google Shape;1013;p75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045208" y="2292981"/>
              <a:ext cx="413050" cy="3083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4" name="Google Shape;1014;p75"/>
          <p:cNvSpPr txBox="1"/>
          <p:nvPr/>
        </p:nvSpPr>
        <p:spPr>
          <a:xfrm>
            <a:off x="4083486" y="2988150"/>
            <a:ext cx="5523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5"/>
          <p:cNvSpPr txBox="1"/>
          <p:nvPr/>
        </p:nvSpPr>
        <p:spPr>
          <a:xfrm>
            <a:off x="4820641" y="2988371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2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6" name="Google Shape;1016;p75"/>
          <p:cNvGrpSpPr/>
          <p:nvPr/>
        </p:nvGrpSpPr>
        <p:grpSpPr>
          <a:xfrm>
            <a:off x="2527291" y="2988150"/>
            <a:ext cx="1168123" cy="515546"/>
            <a:chOff x="3360053" y="1973475"/>
            <a:chExt cx="1168123" cy="515546"/>
          </a:xfrm>
        </p:grpSpPr>
        <p:sp>
          <p:nvSpPr>
            <p:cNvPr id="1017" name="Google Shape;1017;p75"/>
            <p:cNvSpPr txBox="1"/>
            <p:nvPr/>
          </p:nvSpPr>
          <p:spPr>
            <a:xfrm>
              <a:off x="3360053" y="1978721"/>
              <a:ext cx="5991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8" name="Google Shape;1018;p75"/>
            <p:cNvSpPr txBox="1"/>
            <p:nvPr/>
          </p:nvSpPr>
          <p:spPr>
            <a:xfrm>
              <a:off x="4100976" y="1973475"/>
              <a:ext cx="4272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9" name="Google Shape;1019;p75"/>
          <p:cNvSpPr txBox="1"/>
          <p:nvPr/>
        </p:nvSpPr>
        <p:spPr>
          <a:xfrm>
            <a:off x="5573116" y="2982487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5"/>
          <p:cNvSpPr txBox="1"/>
          <p:nvPr/>
        </p:nvSpPr>
        <p:spPr>
          <a:xfrm>
            <a:off x="690225" y="3915300"/>
            <a:ext cx="7470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So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31}{1000}&quot;&gt;&lt;mfrac&gt;&lt;mn&gt;231&lt;/mn&gt;&lt;mn&gt;1000&lt;/mn&gt;&lt;/mfrac&gt;&lt;/math&gt;" id="1021" name="Google Shape;1021;p75" title="231 over 1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56725" y="3718249"/>
            <a:ext cx="684600" cy="670123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75"/>
          <p:cNvSpPr/>
          <p:nvPr/>
        </p:nvSpPr>
        <p:spPr>
          <a:xfrm>
            <a:off x="6496050" y="3081975"/>
            <a:ext cx="171600" cy="36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5"/>
          <p:cNvSpPr/>
          <p:nvPr/>
        </p:nvSpPr>
        <p:spPr>
          <a:xfrm>
            <a:off x="5648325" y="3068775"/>
            <a:ext cx="171600" cy="36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5"/>
          <p:cNvSpPr/>
          <p:nvPr/>
        </p:nvSpPr>
        <p:spPr>
          <a:xfrm>
            <a:off x="4905375" y="3068775"/>
            <a:ext cx="171600" cy="36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5"/>
          <p:cNvSpPr txBox="1"/>
          <p:nvPr/>
        </p:nvSpPr>
        <p:spPr>
          <a:xfrm>
            <a:off x="6421891" y="2988260"/>
            <a:ext cx="599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1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5"/>
          <p:cNvSpPr txBox="1"/>
          <p:nvPr/>
        </p:nvSpPr>
        <p:spPr>
          <a:xfrm>
            <a:off x="1954650" y="3915300"/>
            <a:ext cx="66630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as a decimal is 0.3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7" name="Google Shape;1027;p7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4850" y="1340100"/>
            <a:ext cx="7252701" cy="7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75"/>
          <p:cNvSpPr/>
          <p:nvPr/>
        </p:nvSpPr>
        <p:spPr>
          <a:xfrm>
            <a:off x="5257800" y="1306650"/>
            <a:ext cx="171600" cy="36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5"/>
          <p:cNvSpPr/>
          <p:nvPr/>
        </p:nvSpPr>
        <p:spPr>
          <a:xfrm>
            <a:off x="5095875" y="1306650"/>
            <a:ext cx="171600" cy="36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5"/>
          <p:cNvSpPr/>
          <p:nvPr/>
        </p:nvSpPr>
        <p:spPr>
          <a:xfrm>
            <a:off x="4943475" y="1306650"/>
            <a:ext cx="171600" cy="36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sp>
        <p:nvSpPr>
          <p:cNvPr id="1036" name="Google Shape;1036;p76"/>
          <p:cNvSpPr txBox="1"/>
          <p:nvPr/>
        </p:nvSpPr>
        <p:spPr>
          <a:xfrm>
            <a:off x="325650" y="758425"/>
            <a:ext cx="8371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Sometimes the denominator is not given as a power of 10 so we need to use our knowledge on equivalent fractions to convert the denominator to a power of 10.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6"/>
          <p:cNvSpPr txBox="1"/>
          <p:nvPr/>
        </p:nvSpPr>
        <p:spPr>
          <a:xfrm>
            <a:off x="574713" y="1844275"/>
            <a:ext cx="14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/>
          </a:p>
        </p:txBody>
      </p:sp>
      <p:sp>
        <p:nvSpPr>
          <p:cNvPr id="1038" name="Google Shape;1038;p76"/>
          <p:cNvSpPr txBox="1"/>
          <p:nvPr/>
        </p:nvSpPr>
        <p:spPr>
          <a:xfrm>
            <a:off x="2811000" y="3216025"/>
            <a:ext cx="14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/>
          </a:p>
        </p:txBody>
      </p:sp>
      <p:sp>
        <p:nvSpPr>
          <p:cNvPr id="1039" name="Google Shape;1039;p76"/>
          <p:cNvSpPr txBox="1"/>
          <p:nvPr/>
        </p:nvSpPr>
        <p:spPr>
          <a:xfrm>
            <a:off x="4885045" y="1825225"/>
            <a:ext cx="14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3}{5}=\frac{3}{5}\times\frac{2}{2}=\frac{6}{10}=0.6&quot;&gt;&lt;mfrac&gt;&lt;mn&gt;3&lt;/mn&gt;&lt;mn&gt;5&lt;/mn&gt;&lt;/mfrac&gt;&lt;mo&gt;=&lt;/mo&gt;&lt;mfrac&gt;&lt;mn&gt;3&lt;/mn&gt;&lt;mn&gt;5&lt;/mn&gt;&lt;/mfrac&gt;&lt;mo&gt;×&lt;/mo&gt;&lt;mfrac&gt;&lt;mn&gt;2&lt;/mn&gt;&lt;mn&gt;2&lt;/mn&gt;&lt;/mfrac&gt;&lt;mo&gt;=&lt;/mo&gt;&lt;mfrac&gt;&lt;mn&gt;6&lt;/mn&gt;&lt;mn&gt;10&lt;/mn&gt;&lt;/mfrac&gt;&lt;mo&gt;=&lt;/mo&gt;&lt;mn&gt;0.6&lt;/mn&gt;&lt;/math&gt;" id="1040" name="Google Shape;1040;p76" title="three fifths equals three fifths times two halves equals six tenths equals 0.6"/>
          <p:cNvPicPr preferRelativeResize="0"/>
          <p:nvPr/>
        </p:nvPicPr>
        <p:blipFill rotWithShape="1">
          <a:blip r:embed="rId3">
            <a:alphaModFix/>
          </a:blip>
          <a:srcRect b="0" l="0" r="90412" t="0"/>
          <a:stretch/>
        </p:blipFill>
        <p:spPr>
          <a:xfrm>
            <a:off x="691449" y="2336875"/>
            <a:ext cx="2784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7}{25}=\frac{37}{25}\times\frac{4}{4}=\frac{148}{100}=1.48&quot;&gt;&lt;mfrac&gt;&lt;mn&gt;37&lt;/mn&gt;&lt;mn&gt;25&lt;/mn&gt;&lt;/mfrac&gt;&lt;mo&gt;=&lt;/mo&gt;&lt;mfrac&gt;&lt;mn&gt;37&lt;/mn&gt;&lt;mn&gt;25&lt;/mn&gt;&lt;/mfrac&gt;&lt;mo&gt;×&lt;/mo&gt;&lt;mfrac&gt;&lt;mn&gt;4&lt;/mn&gt;&lt;mn&gt;4&lt;/mn&gt;&lt;/mfrac&gt;&lt;mo&gt;=&lt;/mo&gt;&lt;mfrac&gt;&lt;mn&gt;148&lt;/mn&gt;&lt;mn&gt;100&lt;/mn&gt;&lt;/mfrac&gt;&lt;mo&gt;=&lt;/mo&gt;&lt;mn&gt;1.48&lt;/mn&gt;&lt;/math&gt;" id="1041" name="Google Shape;1041;p76" title="37 over 25 equals 37 over 25 times four fourths equals 148 over 100 equals 1.48"/>
          <p:cNvPicPr preferRelativeResize="0"/>
          <p:nvPr/>
        </p:nvPicPr>
        <p:blipFill rotWithShape="1">
          <a:blip r:embed="rId4">
            <a:alphaModFix/>
          </a:blip>
          <a:srcRect b="0" l="0" r="87326" t="0"/>
          <a:stretch/>
        </p:blipFill>
        <p:spPr>
          <a:xfrm>
            <a:off x="4967874" y="2336875"/>
            <a:ext cx="441924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=\frac{3}{8}\times\frac{125}{125}=\frac{375}{1000}=0.375&quot;&gt;&lt;mfrac&gt;&lt;mn&gt;3&lt;/mn&gt;&lt;mn&gt;8&lt;/mn&gt;&lt;/mfrac&gt;&lt;mo&gt;=&lt;/mo&gt;&lt;mfrac&gt;&lt;mn&gt;3&lt;/mn&gt;&lt;mn&gt;8&lt;/mn&gt;&lt;/mfrac&gt;&lt;mo&gt;×&lt;/mo&gt;&lt;mfrac&gt;&lt;mn&gt;125&lt;/mn&gt;&lt;mn&gt;125&lt;/mn&gt;&lt;/mfrac&gt;&lt;mo&gt;=&lt;/mo&gt;&lt;mfrac&gt;&lt;mn&gt;375&lt;/mn&gt;&lt;mn&gt;1000&lt;/mn&gt;&lt;/mfrac&gt;&lt;mo&gt;=&lt;/mo&gt;&lt;mn&gt;0.375&lt;/mn&gt;&lt;/math&gt;" id="1042" name="Google Shape;1042;p76" title="three eighths equals three eighths times 125 over 125 equals 375 over 1000 equals 0.375"/>
          <p:cNvPicPr preferRelativeResize="0"/>
          <p:nvPr/>
        </p:nvPicPr>
        <p:blipFill rotWithShape="1">
          <a:blip r:embed="rId5">
            <a:alphaModFix/>
          </a:blip>
          <a:srcRect b="0" l="0" r="93756" t="0"/>
          <a:stretch/>
        </p:blipFill>
        <p:spPr>
          <a:xfrm>
            <a:off x="2951200" y="3779125"/>
            <a:ext cx="233874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=\frac{3}{5}\times\frac{2}{2}=\frac{6}{10}=0.6&quot;&gt;&lt;mfrac&gt;&lt;mn&gt;3&lt;/mn&gt;&lt;mn&gt;5&lt;/mn&gt;&lt;/mfrac&gt;&lt;mo&gt;=&lt;/mo&gt;&lt;mfrac&gt;&lt;mn&gt;3&lt;/mn&gt;&lt;mn&gt;5&lt;/mn&gt;&lt;/mfrac&gt;&lt;mo&gt;×&lt;/mo&gt;&lt;mfrac&gt;&lt;mn&gt;2&lt;/mn&gt;&lt;mn&gt;2&lt;/mn&gt;&lt;/mfrac&gt;&lt;mo&gt;=&lt;/mo&gt;&lt;mfrac&gt;&lt;mn&gt;6&lt;/mn&gt;&lt;mn&gt;10&lt;/mn&gt;&lt;/mfrac&gt;&lt;mo&gt;=&lt;/mo&gt;&lt;mn&gt;0.6&lt;/mn&gt;&lt;/math&gt;" id="1043" name="Google Shape;1043;p76" title="three fifths equals three fifths times two halves equals six tenths equals 0.6"/>
          <p:cNvPicPr preferRelativeResize="0"/>
          <p:nvPr/>
        </p:nvPicPr>
        <p:blipFill rotWithShape="1">
          <a:blip r:embed="rId3">
            <a:alphaModFix/>
          </a:blip>
          <a:srcRect b="0" l="9586" r="50471" t="0"/>
          <a:stretch/>
        </p:blipFill>
        <p:spPr>
          <a:xfrm>
            <a:off x="969849" y="2336875"/>
            <a:ext cx="11599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=\frac{3}{5}\times\frac{2}{2}=\frac{6}{10}=0.6&quot;&gt;&lt;mfrac&gt;&lt;mn&gt;3&lt;/mn&gt;&lt;mn&gt;5&lt;/mn&gt;&lt;/mfrac&gt;&lt;mo&gt;=&lt;/mo&gt;&lt;mfrac&gt;&lt;mn&gt;3&lt;/mn&gt;&lt;mn&gt;5&lt;/mn&gt;&lt;/mfrac&gt;&lt;mo&gt;×&lt;/mo&gt;&lt;mfrac&gt;&lt;mn&gt;2&lt;/mn&gt;&lt;mn&gt;2&lt;/mn&gt;&lt;/mfrac&gt;&lt;mo&gt;=&lt;/mo&gt;&lt;mfrac&gt;&lt;mn&gt;6&lt;/mn&gt;&lt;mn&gt;10&lt;/mn&gt;&lt;/mfrac&gt;&lt;mo&gt;=&lt;/mo&gt;&lt;mn&gt;0.6&lt;/mn&gt;&lt;/math&gt;" id="1044" name="Google Shape;1044;p76" title="three fifths equals three fifths times two halves equals six tenths equals 0.6"/>
          <p:cNvPicPr preferRelativeResize="0"/>
          <p:nvPr/>
        </p:nvPicPr>
        <p:blipFill rotWithShape="1">
          <a:blip r:embed="rId3">
            <a:alphaModFix/>
          </a:blip>
          <a:srcRect b="0" l="49531" r="24383" t="0"/>
          <a:stretch/>
        </p:blipFill>
        <p:spPr>
          <a:xfrm>
            <a:off x="2129750" y="2341200"/>
            <a:ext cx="7574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=\frac{3}{5}\times\frac{2}{2}=\frac{6}{10}=0.6&quot;&gt;&lt;mfrac&gt;&lt;mn&gt;3&lt;/mn&gt;&lt;mn&gt;5&lt;/mn&gt;&lt;/mfrac&gt;&lt;mo&gt;=&lt;/mo&gt;&lt;mfrac&gt;&lt;mn&gt;3&lt;/mn&gt;&lt;mn&gt;5&lt;/mn&gt;&lt;/mfrac&gt;&lt;mo&gt;×&lt;/mo&gt;&lt;mfrac&gt;&lt;mn&gt;2&lt;/mn&gt;&lt;mn&gt;2&lt;/mn&gt;&lt;/mfrac&gt;&lt;mo&gt;=&lt;/mo&gt;&lt;mfrac&gt;&lt;mn&gt;6&lt;/mn&gt;&lt;mn&gt;10&lt;/mn&gt;&lt;/mfrac&gt;&lt;mo&gt;=&lt;/mo&gt;&lt;mn&gt;0.6&lt;/mn&gt;&lt;/math&gt;" id="1045" name="Google Shape;1045;p76" title="three fifths equals three fifths times two halves equals six tenths equals 0.6"/>
          <p:cNvPicPr preferRelativeResize="0"/>
          <p:nvPr/>
        </p:nvPicPr>
        <p:blipFill rotWithShape="1">
          <a:blip r:embed="rId3">
            <a:alphaModFix/>
          </a:blip>
          <a:srcRect b="0" l="77598" r="-3683" t="0"/>
          <a:stretch/>
        </p:blipFill>
        <p:spPr>
          <a:xfrm>
            <a:off x="2944850" y="2341200"/>
            <a:ext cx="7574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7}{25}=\frac{37}{25}\times\frac{4}{4}=\frac{148}{100}=1.48&quot;&gt;&lt;mfrac&gt;&lt;mn&gt;37&lt;/mn&gt;&lt;mn&gt;25&lt;/mn&gt;&lt;/mfrac&gt;&lt;mo&gt;=&lt;/mo&gt;&lt;mfrac&gt;&lt;mn&gt;37&lt;/mn&gt;&lt;mn&gt;25&lt;/mn&gt;&lt;/mfrac&gt;&lt;mo&gt;×&lt;/mo&gt;&lt;mfrac&gt;&lt;mn&gt;4&lt;/mn&gt;&lt;mn&gt;4&lt;/mn&gt;&lt;/mfrac&gt;&lt;mo&gt;=&lt;/mo&gt;&lt;mfrac&gt;&lt;mn&gt;148&lt;/mn&gt;&lt;mn&gt;100&lt;/mn&gt;&lt;/mfrac&gt;&lt;mo&gt;=&lt;/mo&gt;&lt;mn&gt;1.48&lt;/mn&gt;&lt;/math&gt;" id="1046" name="Google Shape;1046;p76" title="37 over 25 equals 37 over 25 times four fourths equals 148 over 100 equals 1.48"/>
          <p:cNvPicPr preferRelativeResize="0"/>
          <p:nvPr/>
        </p:nvPicPr>
        <p:blipFill rotWithShape="1">
          <a:blip r:embed="rId4">
            <a:alphaModFix/>
          </a:blip>
          <a:srcRect b="0" l="12674" r="48881" t="0"/>
          <a:stretch/>
        </p:blipFill>
        <p:spPr>
          <a:xfrm>
            <a:off x="5409800" y="2336875"/>
            <a:ext cx="13405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7}{25}=\frac{37}{25}\times\frac{4}{4}=\frac{148}{100}=1.48&quot;&gt;&lt;mfrac&gt;&lt;mn&gt;37&lt;/mn&gt;&lt;mn&gt;25&lt;/mn&gt;&lt;/mfrac&gt;&lt;mo&gt;=&lt;/mo&gt;&lt;mfrac&gt;&lt;mn&gt;37&lt;/mn&gt;&lt;mn&gt;25&lt;/mn&gt;&lt;/mfrac&gt;&lt;mo&gt;×&lt;/mo&gt;&lt;mfrac&gt;&lt;mn&gt;4&lt;/mn&gt;&lt;mn&gt;4&lt;/mn&gt;&lt;/mfrac&gt;&lt;mo&gt;=&lt;/mo&gt;&lt;mfrac&gt;&lt;mn&gt;148&lt;/mn&gt;&lt;mn&gt;100&lt;/mn&gt;&lt;/mfrac&gt;&lt;mo&gt;=&lt;/mo&gt;&lt;mn&gt;1.48&lt;/mn&gt;&lt;/math&gt;" id="1047" name="Google Shape;1047;p76" title="37 over 25 equals 37 over 25 times four fourths equals 148 over 100 equals 1.48"/>
          <p:cNvPicPr preferRelativeResize="0"/>
          <p:nvPr/>
        </p:nvPicPr>
        <p:blipFill rotWithShape="1">
          <a:blip r:embed="rId4">
            <a:alphaModFix/>
          </a:blip>
          <a:srcRect b="0" l="51667" r="23521" t="0"/>
          <a:stretch/>
        </p:blipFill>
        <p:spPr>
          <a:xfrm>
            <a:off x="6769350" y="2336875"/>
            <a:ext cx="865174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7}{25}=\frac{37}{25}\times\frac{4}{4}=\frac{148}{100}=1.48&quot;&gt;&lt;mfrac&gt;&lt;mn&gt;37&lt;/mn&gt;&lt;mn&gt;25&lt;/mn&gt;&lt;/mfrac&gt;&lt;mo&gt;=&lt;/mo&gt;&lt;mfrac&gt;&lt;mn&gt;37&lt;/mn&gt;&lt;mn&gt;25&lt;/mn&gt;&lt;/mfrac&gt;&lt;mo&gt;×&lt;/mo&gt;&lt;mfrac&gt;&lt;mn&gt;4&lt;/mn&gt;&lt;mn&gt;4&lt;/mn&gt;&lt;/mfrac&gt;&lt;mo&gt;=&lt;/mo&gt;&lt;mfrac&gt;&lt;mn&gt;148&lt;/mn&gt;&lt;mn&gt;100&lt;/mn&gt;&lt;/mfrac&gt;&lt;mo&gt;=&lt;/mo&gt;&lt;mn&gt;1.48&lt;/mn&gt;&lt;/math&gt;" id="1048" name="Google Shape;1048;p76" title="37 over 25 equals 37 over 25 times four fourths equals 148 over 100 equals 1.48"/>
          <p:cNvPicPr preferRelativeResize="0"/>
          <p:nvPr/>
        </p:nvPicPr>
        <p:blipFill rotWithShape="1">
          <a:blip r:embed="rId4">
            <a:alphaModFix/>
          </a:blip>
          <a:srcRect b="0" l="76477" r="-3743" t="0"/>
          <a:stretch/>
        </p:blipFill>
        <p:spPr>
          <a:xfrm>
            <a:off x="7634525" y="2336875"/>
            <a:ext cx="95074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=\frac{3}{8}\times\frac{125}{125}=\frac{375}{1000}=0.375&quot;&gt;&lt;mfrac&gt;&lt;mn&gt;3&lt;/mn&gt;&lt;mn&gt;8&lt;/mn&gt;&lt;/mfrac&gt;&lt;mo&gt;=&lt;/mo&gt;&lt;mfrac&gt;&lt;mn&gt;3&lt;/mn&gt;&lt;mn&gt;8&lt;/mn&gt;&lt;/mfrac&gt;&lt;mo&gt;×&lt;/mo&gt;&lt;mfrac&gt;&lt;mn&gt;125&lt;/mn&gt;&lt;mn&gt;125&lt;/mn&gt;&lt;/mfrac&gt;&lt;mo&gt;=&lt;/mo&gt;&lt;mfrac&gt;&lt;mn&gt;375&lt;/mn&gt;&lt;mn&gt;1000&lt;/mn&gt;&lt;/mfrac&gt;&lt;mo&gt;=&lt;/mo&gt;&lt;mn&gt;0.375&lt;/mn&gt;&lt;/math&gt;" id="1049" name="Google Shape;1049;p76" title="three eighths equals three eighths times 125 over 125 equals 375 over 1000 equals 0.375"/>
          <p:cNvPicPr preferRelativeResize="0"/>
          <p:nvPr/>
        </p:nvPicPr>
        <p:blipFill rotWithShape="1">
          <a:blip r:embed="rId5">
            <a:alphaModFix/>
          </a:blip>
          <a:srcRect b="0" l="7683" r="52380" t="0"/>
          <a:stretch/>
        </p:blipFill>
        <p:spPr>
          <a:xfrm>
            <a:off x="3238975" y="3779125"/>
            <a:ext cx="149579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=\frac{3}{8}\times\frac{125}{125}=\frac{375}{1000}=0.375&quot;&gt;&lt;mfrac&gt;&lt;mn&gt;3&lt;/mn&gt;&lt;mn&gt;8&lt;/mn&gt;&lt;/mfrac&gt;&lt;mo&gt;=&lt;/mo&gt;&lt;mfrac&gt;&lt;mn&gt;3&lt;/mn&gt;&lt;mn&gt;8&lt;/mn&gt;&lt;/mfrac&gt;&lt;mo&gt;×&lt;/mo&gt;&lt;mfrac&gt;&lt;mn&gt;125&lt;/mn&gt;&lt;mn&gt;125&lt;/mn&gt;&lt;/mfrac&gt;&lt;mo&gt;=&lt;/mo&gt;&lt;mfrac&gt;&lt;mn&gt;375&lt;/mn&gt;&lt;mn&gt;1000&lt;/mn&gt;&lt;/mfrac&gt;&lt;mo&gt;=&lt;/mo&gt;&lt;mn&gt;0.375&lt;/mn&gt;&lt;/math&gt;" id="1050" name="Google Shape;1050;p76" title="three eighths equals three eighths times 125 over 125 equals 375 over 1000 equals 0.375"/>
          <p:cNvPicPr preferRelativeResize="0"/>
          <p:nvPr/>
        </p:nvPicPr>
        <p:blipFill rotWithShape="1">
          <a:blip r:embed="rId5">
            <a:alphaModFix/>
          </a:blip>
          <a:srcRect b="0" l="46093" r="25984" t="0"/>
          <a:stretch/>
        </p:blipFill>
        <p:spPr>
          <a:xfrm>
            <a:off x="4677726" y="3779125"/>
            <a:ext cx="104582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=\frac{3}{8}\times\frac{125}{125}=\frac{375}{1000}=0.375&quot;&gt;&lt;mfrac&gt;&lt;mn&gt;3&lt;/mn&gt;&lt;mn&gt;8&lt;/mn&gt;&lt;/mfrac&gt;&lt;mo&gt;=&lt;/mo&gt;&lt;mfrac&gt;&lt;mn&gt;3&lt;/mn&gt;&lt;mn&gt;8&lt;/mn&gt;&lt;/mfrac&gt;&lt;mo&gt;×&lt;/mo&gt;&lt;mfrac&gt;&lt;mn&gt;125&lt;/mn&gt;&lt;mn&gt;125&lt;/mn&gt;&lt;/mfrac&gt;&lt;mo&gt;=&lt;/mo&gt;&lt;mfrac&gt;&lt;mn&gt;375&lt;/mn&gt;&lt;mn&gt;1000&lt;/mn&gt;&lt;/mfrac&gt;&lt;mo&gt;=&lt;/mo&gt;&lt;mn&gt;0.375&lt;/mn&gt;&lt;/math&gt;" id="1051" name="Google Shape;1051;p76" title="three eighths equals three eighths times 125 over 125 equals 375 over 1000 equals 0.375"/>
          <p:cNvPicPr preferRelativeResize="0"/>
          <p:nvPr/>
        </p:nvPicPr>
        <p:blipFill rotWithShape="1">
          <a:blip r:embed="rId5">
            <a:alphaModFix/>
          </a:blip>
          <a:srcRect b="0" l="74272" r="-2194" t="0"/>
          <a:stretch/>
        </p:blipFill>
        <p:spPr>
          <a:xfrm>
            <a:off x="5723521" y="3779125"/>
            <a:ext cx="1045826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7"/>
          <p:cNvSpPr txBox="1"/>
          <p:nvPr>
            <p:ph idx="1" type="subTitle"/>
          </p:nvPr>
        </p:nvSpPr>
        <p:spPr>
          <a:xfrm>
            <a:off x="324000" y="1092750"/>
            <a:ext cx="4126500" cy="11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 out the decimal value of the</a:t>
            </a:r>
            <a:endParaRPr/>
          </a:p>
        </p:txBody>
      </p:sp>
      <p:sp>
        <p:nvSpPr>
          <p:cNvPr id="1057" name="Google Shape;1057;p7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sp>
        <p:nvSpPr>
          <p:cNvPr id="1058" name="Google Shape;1058;p77"/>
          <p:cNvSpPr txBox="1"/>
          <p:nvPr>
            <p:ph idx="2" type="subTitle"/>
          </p:nvPr>
        </p:nvSpPr>
        <p:spPr>
          <a:xfrm>
            <a:off x="4824000" y="1092750"/>
            <a:ext cx="3982200" cy="7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Work out the decimal value of the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3}{5}=\frac{13}{5}\times\frac{2}{2}=\frac{13\times2}{5\times2}=\frac{26}{10}\\&amp;#13;&amp;#10;\frac{47}{50}=\frac{47}{50}\times\frac{2}{2}=\frac{47\times2}{50\times2}=\frac{94}{100}\\&amp;#13;&amp;#10;\frac{1}{3}\\&amp;#13;&amp;#10;\begin{array}{l}\frac{31}{25}=\frac{31}{25}\times\frac{4}{4}=\frac{31\times4}{25\times4}=\frac{124}{100}\\&amp;#13;&amp;#10;\frac{1}{8}=\frac{1}{8}\times\frac{125}{125}=\frac{1\times125}{8\times125}=\frac{125}{1000}\end{array}\\&amp;#13;&amp;#10;\frac{1}{12}\end{array}&quot;&gt;&lt;mtable columnalign=&quot;left&quot; columnspacing=&quot;1em&quot; rowspacing=&quot;4pt&quot;&gt;&lt;mtr&gt;&lt;mtd&gt;&lt;mfrac&gt;&lt;mn&gt;13&lt;/mn&gt;&lt;mn&gt;5&lt;/mn&gt;&lt;/mfrac&gt;&lt;mo&gt;=&lt;/mo&gt;&lt;mfrac&gt;&lt;mn&gt;13&lt;/mn&gt;&lt;mn&gt;5&lt;/mn&gt;&lt;/mfrac&gt;&lt;mo&gt;×&lt;/mo&gt;&lt;mfrac&gt;&lt;mn&gt;2&lt;/mn&gt;&lt;mn&gt;2&lt;/mn&gt;&lt;/mfrac&gt;&lt;mo&gt;=&lt;/mo&gt;&lt;mfrac&gt;&lt;mrow&gt;&lt;mn&gt;13&lt;/mn&gt;&lt;mo&gt;×&lt;/mo&gt;&lt;mn&gt;2&lt;/mn&gt;&lt;/mrow&gt;&lt;mrow&gt;&lt;mn&gt;5&lt;/mn&gt;&lt;mo&gt;×&lt;/mo&gt;&lt;mn&gt;2&lt;/mn&gt;&lt;/mrow&gt;&lt;/mfrac&gt;&lt;mo&gt;=&lt;/mo&gt;&lt;mfrac&gt;&lt;mn&gt;26&lt;/mn&gt;&lt;mn&gt;10&lt;/mn&gt;&lt;/mfrac&gt;&lt;/mtd&gt;&lt;/mtr&gt;&lt;mtr&gt;&lt;mtd&gt;&lt;mfrac&gt;&lt;mn&gt;47&lt;/mn&gt;&lt;mn&gt;50&lt;/mn&gt;&lt;/mfrac&gt;&lt;mo&gt;=&lt;/mo&gt;&lt;mfrac&gt;&lt;mn&gt;47&lt;/mn&gt;&lt;mn&gt;50&lt;/mn&gt;&lt;/mfrac&gt;&lt;mo&gt;×&lt;/mo&gt;&lt;mfrac&gt;&lt;mn&gt;2&lt;/mn&gt;&lt;mn&gt;2&lt;/mn&gt;&lt;/mfrac&gt;&lt;mo&gt;=&lt;/mo&gt;&lt;mfrac&gt;&lt;mrow&gt;&lt;mn&gt;47&lt;/mn&gt;&lt;mo&gt;×&lt;/mo&gt;&lt;mn&gt;2&lt;/mn&gt;&lt;/mrow&gt;&lt;mrow&gt;&lt;mn&gt;50&lt;/mn&gt;&lt;mo&gt;×&lt;/mo&gt;&lt;mn&gt;2&lt;/mn&gt;&lt;/mrow&gt;&lt;/mfrac&gt;&lt;mo&gt;=&lt;/mo&gt;&lt;mfrac&gt;&lt;mn&gt;94&lt;/mn&gt;&lt;mn&gt;100&lt;/mn&gt;&lt;/mfrac&gt;&lt;/mtd&gt;&lt;/mtr&gt;&lt;mtr&gt;&lt;mtd&gt;&lt;mfrac&gt;&lt;mn&gt;1&lt;/mn&gt;&lt;mn&gt;3&lt;/mn&gt;&lt;/mfrac&gt;&lt;/mtd&gt;&lt;/mtr&gt;&lt;mtr&gt;&lt;mtd&gt;&lt;mtable columnspacing=&quot;1em&quot; rowspacing=&quot;4pt&quot;&gt;&lt;mtr&gt;&lt;mtd&gt;&lt;mfrac&gt;&lt;mn&gt;31&lt;/mn&gt;&lt;mn&gt;25&lt;/mn&gt;&lt;/mfrac&gt;&lt;mo&gt;=&lt;/mo&gt;&lt;mfrac&gt;&lt;mn&gt;31&lt;/mn&gt;&lt;mn&gt;25&lt;/mn&gt;&lt;/mfrac&gt;&lt;mo&gt;×&lt;/mo&gt;&lt;mfrac&gt;&lt;mn&gt;4&lt;/mn&gt;&lt;mn&gt;4&lt;/mn&gt;&lt;/mfrac&gt;&lt;mo&gt;=&lt;/mo&gt;&lt;mfrac&gt;&lt;mrow&gt;&lt;mn&gt;31&lt;/mn&gt;&lt;mo&gt;×&lt;/mo&gt;&lt;mn&gt;4&lt;/mn&gt;&lt;/mrow&gt;&lt;mrow&gt;&lt;mn&gt;25&lt;/mn&gt;&lt;mo&gt;×&lt;/mo&gt;&lt;mn&gt;4&lt;/mn&gt;&lt;/mrow&gt;&lt;/mfrac&gt;&lt;mo&gt;=&lt;/mo&gt;&lt;mfrac&gt;&lt;mn&gt;124&lt;/mn&gt;&lt;mn&gt;100&lt;/mn&gt;&lt;/mfrac&gt;&lt;/mtd&gt;&lt;/mtr&gt;&lt;mtr&gt;&lt;mtd&gt;&lt;mfrac&gt;&lt;mn&gt;1&lt;/mn&gt;&lt;mn&gt;8&lt;/mn&gt;&lt;/mfrac&gt;&lt;mo&gt;=&lt;/mo&gt;&lt;mfrac&gt;&lt;mn&gt;1&lt;/mn&gt;&lt;mn&gt;8&lt;/mn&gt;&lt;/mfrac&gt;&lt;mo&gt;×&lt;/mo&gt;&lt;mfrac&gt;&lt;mn&gt;125&lt;/mn&gt;&lt;mn&gt;125&lt;/mn&gt;&lt;/mfrac&gt;&lt;mo&gt;=&lt;/mo&gt;&lt;mfrac&gt;&lt;mrow&gt;&lt;mn&gt;1&lt;/mn&gt;&lt;mo&gt;×&lt;/mo&gt;&lt;mn&gt;125&lt;/mn&gt;&lt;/mrow&gt;&lt;mrow&gt;&lt;mn&gt;8&lt;/mn&gt;&lt;mo&gt;×&lt;/mo&gt;&lt;mn&gt;125&lt;/mn&gt;&lt;/mrow&gt;&lt;/mfrac&gt;&lt;mo&gt;=&lt;/mo&gt;&lt;mfrac&gt;&lt;mn&gt;125&lt;/mn&gt;&lt;mn&gt;1000&lt;/mn&gt;&lt;/mfrac&gt;&lt;/mtd&gt;&lt;/mtr&gt;&lt;/mtable&gt;&lt;/mtd&gt;&lt;/mtr&gt;&lt;mtr&gt;&lt;mtd&gt;&lt;mfrac&gt;&lt;mn&gt;1&lt;/mn&gt;&lt;mn&gt;12&lt;/mn&gt;&lt;/mfrac&gt;&lt;/mtd&gt;&lt;/mtr&gt;&lt;/mtable&gt;&lt;/math&gt;" id="1059" name="Google Shape;1059;p77" title="5 lines Line 1: thirteen fifths equals thirteen fifths times two halves equals the fraction with numerator 13 times 2 and denominator 5 times 2 equals 26 over 10 Line 2: 47 over 50 equals 47 over 50 times two halves equals the fraction with numerator 47 times 2 and denominator 50 times 2 equals 94 over 100 Line 3: one third Line 4: Line 1: 31 over 25 equals 31 over 25 times four fourths equals the fraction with numerator 31 times 4 and denominator 25 times 4 equals 124 over 100 Line 2: one eighth equals one eighth times 125 over 125 equals the fraction with numerator 1 times 125 and denominator 8 times 125 equals 125 over 1000 Line 5: 1 over 12"/>
          <p:cNvPicPr preferRelativeResize="0"/>
          <p:nvPr/>
        </p:nvPicPr>
        <p:blipFill rotWithShape="1">
          <a:blip r:embed="rId3">
            <a:alphaModFix/>
          </a:blip>
          <a:srcRect b="84706" l="0" r="91351" t="0"/>
          <a:stretch/>
        </p:blipFill>
        <p:spPr>
          <a:xfrm>
            <a:off x="324000" y="2335800"/>
            <a:ext cx="363449" cy="57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5}=\frac{13}{5}\times\frac{2}{2}=\frac{13\times2}{5\times2}=\frac{26}{10}\\&amp;#13;&amp;#10;\frac{47}{50}=\frac{47}{50}\times\frac{2}{2}=\frac{47\times2}{50\times2}=\frac{94}{100}\\&amp;#13;&amp;#10;\frac{1}{3}\\&amp;#13;&amp;#10;\begin{array}{l}\frac{31}{25}=\frac{31}{25}\times\frac{4}{4}=\frac{31\times4}{25\times4}=\frac{124}{100}\\&amp;#13;&amp;#10;\frac{1}{8}=\frac{1}{8}\times\frac{125}{125}=\frac{1\times125}{8\times125}=\frac{125}{1000}\end{array}\\&amp;#13;&amp;#10;\frac{1}{12}\end{array}&quot;&gt;&lt;mtable columnalign=&quot;left&quot; columnspacing=&quot;1em&quot; rowspacing=&quot;4pt&quot;&gt;&lt;mtr&gt;&lt;mtd&gt;&lt;mfrac&gt;&lt;mn&gt;13&lt;/mn&gt;&lt;mn&gt;5&lt;/mn&gt;&lt;/mfrac&gt;&lt;mo&gt;=&lt;/mo&gt;&lt;mfrac&gt;&lt;mn&gt;13&lt;/mn&gt;&lt;mn&gt;5&lt;/mn&gt;&lt;/mfrac&gt;&lt;mo&gt;×&lt;/mo&gt;&lt;mfrac&gt;&lt;mn&gt;2&lt;/mn&gt;&lt;mn&gt;2&lt;/mn&gt;&lt;/mfrac&gt;&lt;mo&gt;=&lt;/mo&gt;&lt;mfrac&gt;&lt;mrow&gt;&lt;mn&gt;13&lt;/mn&gt;&lt;mo&gt;×&lt;/mo&gt;&lt;mn&gt;2&lt;/mn&gt;&lt;/mrow&gt;&lt;mrow&gt;&lt;mn&gt;5&lt;/mn&gt;&lt;mo&gt;×&lt;/mo&gt;&lt;mn&gt;2&lt;/mn&gt;&lt;/mrow&gt;&lt;/mfrac&gt;&lt;mo&gt;=&lt;/mo&gt;&lt;mfrac&gt;&lt;mn&gt;26&lt;/mn&gt;&lt;mn&gt;10&lt;/mn&gt;&lt;/mfrac&gt;&lt;/mtd&gt;&lt;/mtr&gt;&lt;mtr&gt;&lt;mtd&gt;&lt;mfrac&gt;&lt;mn&gt;47&lt;/mn&gt;&lt;mn&gt;50&lt;/mn&gt;&lt;/mfrac&gt;&lt;mo&gt;=&lt;/mo&gt;&lt;mfrac&gt;&lt;mn&gt;47&lt;/mn&gt;&lt;mn&gt;50&lt;/mn&gt;&lt;/mfrac&gt;&lt;mo&gt;×&lt;/mo&gt;&lt;mfrac&gt;&lt;mn&gt;2&lt;/mn&gt;&lt;mn&gt;2&lt;/mn&gt;&lt;/mfrac&gt;&lt;mo&gt;=&lt;/mo&gt;&lt;mfrac&gt;&lt;mrow&gt;&lt;mn&gt;47&lt;/mn&gt;&lt;mo&gt;×&lt;/mo&gt;&lt;mn&gt;2&lt;/mn&gt;&lt;/mrow&gt;&lt;mrow&gt;&lt;mn&gt;50&lt;/mn&gt;&lt;mo&gt;×&lt;/mo&gt;&lt;mn&gt;2&lt;/mn&gt;&lt;/mrow&gt;&lt;/mfrac&gt;&lt;mo&gt;=&lt;/mo&gt;&lt;mfrac&gt;&lt;mn&gt;94&lt;/mn&gt;&lt;mn&gt;100&lt;/mn&gt;&lt;/mfrac&gt;&lt;/mtd&gt;&lt;/mtr&gt;&lt;mtr&gt;&lt;mtd&gt;&lt;mfrac&gt;&lt;mn&gt;1&lt;/mn&gt;&lt;mn&gt;3&lt;/mn&gt;&lt;/mfrac&gt;&lt;/mtd&gt;&lt;/mtr&gt;&lt;mtr&gt;&lt;mtd&gt;&lt;mtable columnspacing=&quot;1em&quot; rowspacing=&quot;4pt&quot;&gt;&lt;mtr&gt;&lt;mtd&gt;&lt;mfrac&gt;&lt;mn&gt;31&lt;/mn&gt;&lt;mn&gt;25&lt;/mn&gt;&lt;/mfrac&gt;&lt;mo&gt;=&lt;/mo&gt;&lt;mfrac&gt;&lt;mn&gt;31&lt;/mn&gt;&lt;mn&gt;25&lt;/mn&gt;&lt;/mfrac&gt;&lt;mo&gt;×&lt;/mo&gt;&lt;mfrac&gt;&lt;mn&gt;4&lt;/mn&gt;&lt;mn&gt;4&lt;/mn&gt;&lt;/mfrac&gt;&lt;mo&gt;=&lt;/mo&gt;&lt;mfrac&gt;&lt;mrow&gt;&lt;mn&gt;31&lt;/mn&gt;&lt;mo&gt;×&lt;/mo&gt;&lt;mn&gt;4&lt;/mn&gt;&lt;/mrow&gt;&lt;mrow&gt;&lt;mn&gt;25&lt;/mn&gt;&lt;mo&gt;×&lt;/mo&gt;&lt;mn&gt;4&lt;/mn&gt;&lt;/mrow&gt;&lt;/mfrac&gt;&lt;mo&gt;=&lt;/mo&gt;&lt;mfrac&gt;&lt;mn&gt;124&lt;/mn&gt;&lt;mn&gt;100&lt;/mn&gt;&lt;/mfrac&gt;&lt;/mtd&gt;&lt;/mtr&gt;&lt;mtr&gt;&lt;mtd&gt;&lt;mfrac&gt;&lt;mn&gt;1&lt;/mn&gt;&lt;mn&gt;8&lt;/mn&gt;&lt;/mfrac&gt;&lt;mo&gt;=&lt;/mo&gt;&lt;mfrac&gt;&lt;mn&gt;1&lt;/mn&gt;&lt;mn&gt;8&lt;/mn&gt;&lt;/mfrac&gt;&lt;mo&gt;×&lt;/mo&gt;&lt;mfrac&gt;&lt;mn&gt;125&lt;/mn&gt;&lt;mn&gt;125&lt;/mn&gt;&lt;/mfrac&gt;&lt;mo&gt;=&lt;/mo&gt;&lt;mfrac&gt;&lt;mrow&gt;&lt;mn&gt;1&lt;/mn&gt;&lt;mo&gt;×&lt;/mo&gt;&lt;mn&gt;125&lt;/mn&gt;&lt;/mrow&gt;&lt;mrow&gt;&lt;mn&gt;8&lt;/mn&gt;&lt;mo&gt;×&lt;/mo&gt;&lt;mn&gt;125&lt;/mn&gt;&lt;/mrow&gt;&lt;/mfrac&gt;&lt;mo&gt;=&lt;/mo&gt;&lt;mfrac&gt;&lt;mn&gt;125&lt;/mn&gt;&lt;mn&gt;1000&lt;/mn&gt;&lt;/mfrac&gt;&lt;/mtd&gt;&lt;/mtr&gt;&lt;/mtable&gt;&lt;/mtd&gt;&lt;/mtr&gt;&lt;mtr&gt;&lt;mtd&gt;&lt;mfrac&gt;&lt;mn&gt;1&lt;/mn&gt;&lt;mn&gt;12&lt;/mn&gt;&lt;/mfrac&gt;&lt;/mtd&gt;&lt;/mtr&gt;&lt;/mtable&gt;&lt;/math&gt;" id="1060" name="Google Shape;1060;p77" title="5 lines Line 1: thirteen fifths equals thirteen fifths times two halves equals the fraction with numerator 13 times 2 and denominator 5 times 2 equals 26 over 10 Line 2: 47 over 50 equals 47 over 50 times two halves equals the fraction with numerator 47 times 2 and denominator 50 times 2 equals 94 over 100 Line 3: one third Line 4: Line 1: 31 over 25 equals 31 over 25 times four fourths equals the fraction with numerator 31 times 4 and denominator 25 times 4 equals 124 over 100 Line 2: one eighth equals one eighth times 125 over 125 equals the fraction with numerator 1 times 125 and denominator 8 times 125 equals 125 over 1000 Line 5: 1 over 12"/>
          <p:cNvPicPr preferRelativeResize="0"/>
          <p:nvPr/>
        </p:nvPicPr>
        <p:blipFill rotWithShape="1">
          <a:blip r:embed="rId3">
            <a:alphaModFix/>
          </a:blip>
          <a:srcRect b="84706" l="8643" r="53646" t="0"/>
          <a:stretch/>
        </p:blipFill>
        <p:spPr>
          <a:xfrm>
            <a:off x="687450" y="2335800"/>
            <a:ext cx="1584924" cy="57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5}=\frac{13}{5}\times\frac{2}{2}=\frac{13\times2}{5\times2}=\frac{26}{10}\\&amp;#13;&amp;#10;\frac{47}{50}=\frac{47}{50}\times\frac{2}{2}=\frac{47\times2}{50\times2}=\frac{94}{100}\\&amp;#13;&amp;#10;\frac{1}{3}\\&amp;#13;&amp;#10;\begin{array}{l}\frac{31}{25}=\frac{31}{25}\times\frac{4}{4}=\frac{31\times4}{25\times4}=\frac{124}{100}\\&amp;#13;&amp;#10;\frac{1}{8}=\frac{1}{8}\times\frac{125}{125}=\frac{1\times125}{8\times125}=\frac{125}{1000}\end{array}\\&amp;#13;&amp;#10;\frac{1}{12}\end{array}&quot;&gt;&lt;mtable columnalign=&quot;left&quot; columnspacing=&quot;1em&quot; rowspacing=&quot;4pt&quot;&gt;&lt;mtr&gt;&lt;mtd&gt;&lt;mfrac&gt;&lt;mn&gt;13&lt;/mn&gt;&lt;mn&gt;5&lt;/mn&gt;&lt;/mfrac&gt;&lt;mo&gt;=&lt;/mo&gt;&lt;mfrac&gt;&lt;mn&gt;13&lt;/mn&gt;&lt;mn&gt;5&lt;/mn&gt;&lt;/mfrac&gt;&lt;mo&gt;×&lt;/mo&gt;&lt;mfrac&gt;&lt;mn&gt;2&lt;/mn&gt;&lt;mn&gt;2&lt;/mn&gt;&lt;/mfrac&gt;&lt;mo&gt;=&lt;/mo&gt;&lt;mfrac&gt;&lt;mrow&gt;&lt;mn&gt;13&lt;/mn&gt;&lt;mo&gt;×&lt;/mo&gt;&lt;mn&gt;2&lt;/mn&gt;&lt;/mrow&gt;&lt;mrow&gt;&lt;mn&gt;5&lt;/mn&gt;&lt;mo&gt;×&lt;/mo&gt;&lt;mn&gt;2&lt;/mn&gt;&lt;/mrow&gt;&lt;/mfrac&gt;&lt;mo&gt;=&lt;/mo&gt;&lt;mfrac&gt;&lt;mn&gt;26&lt;/mn&gt;&lt;mn&gt;10&lt;/mn&gt;&lt;/mfrac&gt;&lt;/mtd&gt;&lt;/mtr&gt;&lt;mtr&gt;&lt;mtd&gt;&lt;mfrac&gt;&lt;mn&gt;47&lt;/mn&gt;&lt;mn&gt;50&lt;/mn&gt;&lt;/mfrac&gt;&lt;mo&gt;=&lt;/mo&gt;&lt;mfrac&gt;&lt;mn&gt;47&lt;/mn&gt;&lt;mn&gt;50&lt;/mn&gt;&lt;/mfrac&gt;&lt;mo&gt;×&lt;/mo&gt;&lt;mfrac&gt;&lt;mn&gt;2&lt;/mn&gt;&lt;mn&gt;2&lt;/mn&gt;&lt;/mfrac&gt;&lt;mo&gt;=&lt;/mo&gt;&lt;mfrac&gt;&lt;mrow&gt;&lt;mn&gt;47&lt;/mn&gt;&lt;mo&gt;×&lt;/mo&gt;&lt;mn&gt;2&lt;/mn&gt;&lt;/mrow&gt;&lt;mrow&gt;&lt;mn&gt;50&lt;/mn&gt;&lt;mo&gt;×&lt;/mo&gt;&lt;mn&gt;2&lt;/mn&gt;&lt;/mrow&gt;&lt;/mfrac&gt;&lt;mo&gt;=&lt;/mo&gt;&lt;mfrac&gt;&lt;mn&gt;94&lt;/mn&gt;&lt;mn&gt;100&lt;/mn&gt;&lt;/mfrac&gt;&lt;/mtd&gt;&lt;/mtr&gt;&lt;mtr&gt;&lt;mtd&gt;&lt;mfrac&gt;&lt;mn&gt;1&lt;/mn&gt;&lt;mn&gt;3&lt;/mn&gt;&lt;/mfrac&gt;&lt;/mtd&gt;&lt;/mtr&gt;&lt;mtr&gt;&lt;mtd&gt;&lt;mtable columnspacing=&quot;1em&quot; rowspacing=&quot;4pt&quot;&gt;&lt;mtr&gt;&lt;mtd&gt;&lt;mfrac&gt;&lt;mn&gt;31&lt;/mn&gt;&lt;mn&gt;25&lt;/mn&gt;&lt;/mfrac&gt;&lt;mo&gt;=&lt;/mo&gt;&lt;mfrac&gt;&lt;mn&gt;31&lt;/mn&gt;&lt;mn&gt;25&lt;/mn&gt;&lt;/mfrac&gt;&lt;mo&gt;×&lt;/mo&gt;&lt;mfrac&gt;&lt;mn&gt;4&lt;/mn&gt;&lt;mn&gt;4&lt;/mn&gt;&lt;/mfrac&gt;&lt;mo&gt;=&lt;/mo&gt;&lt;mfrac&gt;&lt;mrow&gt;&lt;mn&gt;31&lt;/mn&gt;&lt;mo&gt;×&lt;/mo&gt;&lt;mn&gt;4&lt;/mn&gt;&lt;/mrow&gt;&lt;mrow&gt;&lt;mn&gt;25&lt;/mn&gt;&lt;mo&gt;×&lt;/mo&gt;&lt;mn&gt;4&lt;/mn&gt;&lt;/mrow&gt;&lt;/mfrac&gt;&lt;mo&gt;=&lt;/mo&gt;&lt;mfrac&gt;&lt;mn&gt;124&lt;/mn&gt;&lt;mn&gt;100&lt;/mn&gt;&lt;/mfrac&gt;&lt;/mtd&gt;&lt;/mtr&gt;&lt;mtr&gt;&lt;mtd&gt;&lt;mfrac&gt;&lt;mn&gt;1&lt;/mn&gt;&lt;mn&gt;8&lt;/mn&gt;&lt;/mfrac&gt;&lt;mo&gt;=&lt;/mo&gt;&lt;mfrac&gt;&lt;mn&gt;1&lt;/mn&gt;&lt;mn&gt;8&lt;/mn&gt;&lt;/mfrac&gt;&lt;mo&gt;×&lt;/mo&gt;&lt;mfrac&gt;&lt;mn&gt;125&lt;/mn&gt;&lt;mn&gt;125&lt;/mn&gt;&lt;/mfrac&gt;&lt;mo&gt;=&lt;/mo&gt;&lt;mfrac&gt;&lt;mrow&gt;&lt;mn&gt;1&lt;/mn&gt;&lt;mo&gt;×&lt;/mo&gt;&lt;mn&gt;125&lt;/mn&gt;&lt;/mrow&gt;&lt;mrow&gt;&lt;mn&gt;8&lt;/mn&gt;&lt;mo&gt;×&lt;/mo&gt;&lt;mn&gt;125&lt;/mn&gt;&lt;/mrow&gt;&lt;/mfrac&gt;&lt;mo&gt;=&lt;/mo&gt;&lt;mfrac&gt;&lt;mn&gt;125&lt;/mn&gt;&lt;mn&gt;1000&lt;/mn&gt;&lt;/mfrac&gt;&lt;/mtd&gt;&lt;/mtr&gt;&lt;/mtable&gt;&lt;/mtd&gt;&lt;/mtr&gt;&lt;mtr&gt;&lt;mtd&gt;&lt;mfrac&gt;&lt;mn&gt;1&lt;/mn&gt;&lt;mn&gt;12&lt;/mn&gt;&lt;/mfrac&gt;&lt;/mtd&gt;&lt;/mtr&gt;&lt;/mtable&gt;&lt;/math&gt;" id="1061" name="Google Shape;1061;p77" title="5 lines Line 1: thirteen fifths equals thirteen fifths times two halves equals the fraction with numerator 13 times 2 and denominator 5 times 2 equals 26 over 10 Line 2: 47 over 50 equals 47 over 50 times two halves equals the fraction with numerator 47 times 2 and denominator 50 times 2 equals 94 over 100 Line 3: one third Line 4: Line 1: 31 over 25 equals 31 over 25 times four fourths equals the fraction with numerator 31 times 4 and denominator 25 times 4 equals 124 over 100 Line 2: one eighth equals one eighth times 125 over 125 equals the fraction with numerator 1 times 125 and denominator 8 times 125 equals 125 over 1000 Line 5: 1 over 12"/>
          <p:cNvPicPr preferRelativeResize="0"/>
          <p:nvPr/>
        </p:nvPicPr>
        <p:blipFill rotWithShape="1">
          <a:blip r:embed="rId3">
            <a:alphaModFix/>
          </a:blip>
          <a:srcRect b="32741" l="0" r="90006" t="50838"/>
          <a:stretch/>
        </p:blipFill>
        <p:spPr>
          <a:xfrm>
            <a:off x="4767475" y="2335800"/>
            <a:ext cx="419976" cy="61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5}=\frac{13}{5}\times\frac{2}{2}=\frac{13\times2}{5\times2}=\frac{26}{10}\\&amp;#13;&amp;#10;\frac{47}{50}=\frac{47}{50}\times\frac{2}{2}=\frac{47\times2}{50\times2}=\frac{94}{100}\\&amp;#13;&amp;#10;\frac{1}{3}\\&amp;#13;&amp;#10;\begin{array}{l}\frac{31}{25}=\frac{31}{25}\times\frac{4}{4}=\frac{31\times4}{25\times4}=\frac{124}{100}\\&amp;#13;&amp;#10;\frac{1}{8}=\frac{1}{8}\times\frac{125}{125}=\frac{1\times125}{8\times125}=\frac{125}{1000}\end{array}\\&amp;#13;&amp;#10;\frac{1}{12}\end{array}&quot;&gt;&lt;mtable columnalign=&quot;left&quot; columnspacing=&quot;1em&quot; rowspacing=&quot;4pt&quot;&gt;&lt;mtr&gt;&lt;mtd&gt;&lt;mfrac&gt;&lt;mn&gt;13&lt;/mn&gt;&lt;mn&gt;5&lt;/mn&gt;&lt;/mfrac&gt;&lt;mo&gt;=&lt;/mo&gt;&lt;mfrac&gt;&lt;mn&gt;13&lt;/mn&gt;&lt;mn&gt;5&lt;/mn&gt;&lt;/mfrac&gt;&lt;mo&gt;×&lt;/mo&gt;&lt;mfrac&gt;&lt;mn&gt;2&lt;/mn&gt;&lt;mn&gt;2&lt;/mn&gt;&lt;/mfrac&gt;&lt;mo&gt;=&lt;/mo&gt;&lt;mfrac&gt;&lt;mrow&gt;&lt;mn&gt;13&lt;/mn&gt;&lt;mo&gt;×&lt;/mo&gt;&lt;mn&gt;2&lt;/mn&gt;&lt;/mrow&gt;&lt;mrow&gt;&lt;mn&gt;5&lt;/mn&gt;&lt;mo&gt;×&lt;/mo&gt;&lt;mn&gt;2&lt;/mn&gt;&lt;/mrow&gt;&lt;/mfrac&gt;&lt;mo&gt;=&lt;/mo&gt;&lt;mfrac&gt;&lt;mn&gt;26&lt;/mn&gt;&lt;mn&gt;10&lt;/mn&gt;&lt;/mfrac&gt;&lt;/mtd&gt;&lt;/mtr&gt;&lt;mtr&gt;&lt;mtd&gt;&lt;mfrac&gt;&lt;mn&gt;47&lt;/mn&gt;&lt;mn&gt;50&lt;/mn&gt;&lt;/mfrac&gt;&lt;mo&gt;=&lt;/mo&gt;&lt;mfrac&gt;&lt;mn&gt;47&lt;/mn&gt;&lt;mn&gt;50&lt;/mn&gt;&lt;/mfrac&gt;&lt;mo&gt;×&lt;/mo&gt;&lt;mfrac&gt;&lt;mn&gt;2&lt;/mn&gt;&lt;mn&gt;2&lt;/mn&gt;&lt;/mfrac&gt;&lt;mo&gt;=&lt;/mo&gt;&lt;mfrac&gt;&lt;mrow&gt;&lt;mn&gt;47&lt;/mn&gt;&lt;mo&gt;×&lt;/mo&gt;&lt;mn&gt;2&lt;/mn&gt;&lt;/mrow&gt;&lt;mrow&gt;&lt;mn&gt;50&lt;/mn&gt;&lt;mo&gt;×&lt;/mo&gt;&lt;mn&gt;2&lt;/mn&gt;&lt;/mrow&gt;&lt;/mfrac&gt;&lt;mo&gt;=&lt;/mo&gt;&lt;mfrac&gt;&lt;mn&gt;94&lt;/mn&gt;&lt;mn&gt;100&lt;/mn&gt;&lt;/mfrac&gt;&lt;/mtd&gt;&lt;/mtr&gt;&lt;mtr&gt;&lt;mtd&gt;&lt;mfrac&gt;&lt;mn&gt;1&lt;/mn&gt;&lt;mn&gt;3&lt;/mn&gt;&lt;/mfrac&gt;&lt;/mtd&gt;&lt;/mtr&gt;&lt;mtr&gt;&lt;mtd&gt;&lt;mtable columnspacing=&quot;1em&quot; rowspacing=&quot;4pt&quot;&gt;&lt;mtr&gt;&lt;mtd&gt;&lt;mfrac&gt;&lt;mn&gt;31&lt;/mn&gt;&lt;mn&gt;25&lt;/mn&gt;&lt;/mfrac&gt;&lt;mo&gt;=&lt;/mo&gt;&lt;mfrac&gt;&lt;mn&gt;31&lt;/mn&gt;&lt;mn&gt;25&lt;/mn&gt;&lt;/mfrac&gt;&lt;mo&gt;×&lt;/mo&gt;&lt;mfrac&gt;&lt;mn&gt;4&lt;/mn&gt;&lt;mn&gt;4&lt;/mn&gt;&lt;/mfrac&gt;&lt;mo&gt;=&lt;/mo&gt;&lt;mfrac&gt;&lt;mrow&gt;&lt;mn&gt;31&lt;/mn&gt;&lt;mo&gt;×&lt;/mo&gt;&lt;mn&gt;4&lt;/mn&gt;&lt;/mrow&gt;&lt;mrow&gt;&lt;mn&gt;25&lt;/mn&gt;&lt;mo&gt;×&lt;/mo&gt;&lt;mn&gt;4&lt;/mn&gt;&lt;/mrow&gt;&lt;/mfrac&gt;&lt;mo&gt;=&lt;/mo&gt;&lt;mfrac&gt;&lt;mn&gt;124&lt;/mn&gt;&lt;mn&gt;100&lt;/mn&gt;&lt;/mfrac&gt;&lt;/mtd&gt;&lt;/mtr&gt;&lt;mtr&gt;&lt;mtd&gt;&lt;mfrac&gt;&lt;mn&gt;1&lt;/mn&gt;&lt;mn&gt;8&lt;/mn&gt;&lt;/mfrac&gt;&lt;mo&gt;=&lt;/mo&gt;&lt;mfrac&gt;&lt;mn&gt;1&lt;/mn&gt;&lt;mn&gt;8&lt;/mn&gt;&lt;/mfrac&gt;&lt;mo&gt;×&lt;/mo&gt;&lt;mfrac&gt;&lt;mn&gt;125&lt;/mn&gt;&lt;mn&gt;125&lt;/mn&gt;&lt;/mfrac&gt;&lt;mo&gt;=&lt;/mo&gt;&lt;mfrac&gt;&lt;mrow&gt;&lt;mn&gt;1&lt;/mn&gt;&lt;mo&gt;×&lt;/mo&gt;&lt;mn&gt;125&lt;/mn&gt;&lt;/mrow&gt;&lt;mrow&gt;&lt;mn&gt;8&lt;/mn&gt;&lt;mo&gt;×&lt;/mo&gt;&lt;mn&gt;125&lt;/mn&gt;&lt;/mrow&gt;&lt;/mfrac&gt;&lt;mo&gt;=&lt;/mo&gt;&lt;mfrac&gt;&lt;mn&gt;125&lt;/mn&gt;&lt;mn&gt;1000&lt;/mn&gt;&lt;/mfrac&gt;&lt;/mtd&gt;&lt;/mtr&gt;&lt;/mtable&gt;&lt;/mtd&gt;&lt;/mtr&gt;&lt;mtr&gt;&lt;mtd&gt;&lt;mfrac&gt;&lt;mn&gt;1&lt;/mn&gt;&lt;mn&gt;12&lt;/mn&gt;&lt;/mfrac&gt;&lt;/mtd&gt;&lt;/mtr&gt;&lt;/mtable&gt;&lt;/math&gt;" id="1062" name="Google Shape;1062;p77" title="5 lines Line 1: thirteen fifths equals thirteen fifths times two halves equals the fraction with numerator 13 times 2 and denominator 5 times 2 equals 26 over 10 Line 2: 47 over 50 equals 47 over 50 times two halves equals the fraction with numerator 47 times 2 and denominator 50 times 2 equals 94 over 100 Line 3: one third Line 4: Line 1: 31 over 25 equals 31 over 25 times four fourths equals the fraction with numerator 31 times 4 and denominator 25 times 4 equals 124 over 100 Line 2: one eighth equals one eighth times 125 over 125 equals the fraction with numerator 1 times 125 and denominator 8 times 125 equals 125 over 1000 Line 5: 1 over 12"/>
          <p:cNvPicPr preferRelativeResize="0"/>
          <p:nvPr/>
        </p:nvPicPr>
        <p:blipFill rotWithShape="1">
          <a:blip r:embed="rId3">
            <a:alphaModFix/>
          </a:blip>
          <a:srcRect b="33506" l="10827" r="4319" t="51200"/>
          <a:stretch/>
        </p:blipFill>
        <p:spPr>
          <a:xfrm>
            <a:off x="5187450" y="2356850"/>
            <a:ext cx="3566275" cy="57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5}=\frac{13}{5}\times\frac{2}{2}=\frac{13\times2}{5\times2}=\frac{26}{10}\\&amp;#13;&amp;#10;\frac{47}{50}=\frac{47}{50}\times\frac{2}{2}=\frac{47\times2}{50\times2}=\frac{94}{100}\\&amp;#13;&amp;#10;\frac{1}{3}\\&amp;#13;&amp;#10;\begin{array}{l}\frac{31}{25}=\frac{31}{25}\times\frac{4}{4}=\frac{31\times4}{25\times4}=\frac{124}{100}\\&amp;#13;&amp;#10;\frac{1}{8}=\frac{1}{8}\times\frac{125}{125}=\frac{1\times125}{8\times125}=\frac{125}{1000}\end{array}\\&amp;#13;&amp;#10;\frac{1}{12}\end{array}&quot;&gt;&lt;mtable columnalign=&quot;left&quot; columnspacing=&quot;1em&quot; rowspacing=&quot;4pt&quot;&gt;&lt;mtr&gt;&lt;mtd&gt;&lt;mfrac&gt;&lt;mn&gt;13&lt;/mn&gt;&lt;mn&gt;5&lt;/mn&gt;&lt;/mfrac&gt;&lt;mo&gt;=&lt;/mo&gt;&lt;mfrac&gt;&lt;mn&gt;13&lt;/mn&gt;&lt;mn&gt;5&lt;/mn&gt;&lt;/mfrac&gt;&lt;mo&gt;×&lt;/mo&gt;&lt;mfrac&gt;&lt;mn&gt;2&lt;/mn&gt;&lt;mn&gt;2&lt;/mn&gt;&lt;/mfrac&gt;&lt;mo&gt;=&lt;/mo&gt;&lt;mfrac&gt;&lt;mrow&gt;&lt;mn&gt;13&lt;/mn&gt;&lt;mo&gt;×&lt;/mo&gt;&lt;mn&gt;2&lt;/mn&gt;&lt;/mrow&gt;&lt;mrow&gt;&lt;mn&gt;5&lt;/mn&gt;&lt;mo&gt;×&lt;/mo&gt;&lt;mn&gt;2&lt;/mn&gt;&lt;/mrow&gt;&lt;/mfrac&gt;&lt;mo&gt;=&lt;/mo&gt;&lt;mfrac&gt;&lt;mn&gt;26&lt;/mn&gt;&lt;mn&gt;10&lt;/mn&gt;&lt;/mfrac&gt;&lt;/mtd&gt;&lt;/mtr&gt;&lt;mtr&gt;&lt;mtd&gt;&lt;mfrac&gt;&lt;mn&gt;47&lt;/mn&gt;&lt;mn&gt;50&lt;/mn&gt;&lt;/mfrac&gt;&lt;mo&gt;=&lt;/mo&gt;&lt;mfrac&gt;&lt;mn&gt;47&lt;/mn&gt;&lt;mn&gt;50&lt;/mn&gt;&lt;/mfrac&gt;&lt;mo&gt;×&lt;/mo&gt;&lt;mfrac&gt;&lt;mn&gt;2&lt;/mn&gt;&lt;mn&gt;2&lt;/mn&gt;&lt;/mfrac&gt;&lt;mo&gt;=&lt;/mo&gt;&lt;mfrac&gt;&lt;mrow&gt;&lt;mn&gt;47&lt;/mn&gt;&lt;mo&gt;×&lt;/mo&gt;&lt;mn&gt;2&lt;/mn&gt;&lt;/mrow&gt;&lt;mrow&gt;&lt;mn&gt;50&lt;/mn&gt;&lt;mo&gt;×&lt;/mo&gt;&lt;mn&gt;2&lt;/mn&gt;&lt;/mrow&gt;&lt;/mfrac&gt;&lt;mo&gt;=&lt;/mo&gt;&lt;mfrac&gt;&lt;mn&gt;94&lt;/mn&gt;&lt;mn&gt;100&lt;/mn&gt;&lt;/mfrac&gt;&lt;/mtd&gt;&lt;/mtr&gt;&lt;mtr&gt;&lt;mtd&gt;&lt;mfrac&gt;&lt;mn&gt;1&lt;/mn&gt;&lt;mn&gt;3&lt;/mn&gt;&lt;/mfrac&gt;&lt;/mtd&gt;&lt;/mtr&gt;&lt;mtr&gt;&lt;mtd&gt;&lt;mtable columnspacing=&quot;1em&quot; rowspacing=&quot;4pt&quot;&gt;&lt;mtr&gt;&lt;mtd&gt;&lt;mfrac&gt;&lt;mn&gt;31&lt;/mn&gt;&lt;mn&gt;25&lt;/mn&gt;&lt;/mfrac&gt;&lt;mo&gt;=&lt;/mo&gt;&lt;mfrac&gt;&lt;mn&gt;31&lt;/mn&gt;&lt;mn&gt;25&lt;/mn&gt;&lt;/mfrac&gt;&lt;mo&gt;×&lt;/mo&gt;&lt;mfrac&gt;&lt;mn&gt;4&lt;/mn&gt;&lt;mn&gt;4&lt;/mn&gt;&lt;/mfrac&gt;&lt;mo&gt;=&lt;/mo&gt;&lt;mfrac&gt;&lt;mrow&gt;&lt;mn&gt;31&lt;/mn&gt;&lt;mo&gt;×&lt;/mo&gt;&lt;mn&gt;4&lt;/mn&gt;&lt;/mrow&gt;&lt;mrow&gt;&lt;mn&gt;25&lt;/mn&gt;&lt;mo&gt;×&lt;/mo&gt;&lt;mn&gt;4&lt;/mn&gt;&lt;/mrow&gt;&lt;/mfrac&gt;&lt;mo&gt;=&lt;/mo&gt;&lt;mfrac&gt;&lt;mn&gt;124&lt;/mn&gt;&lt;mn&gt;100&lt;/mn&gt;&lt;/mfrac&gt;&lt;/mtd&gt;&lt;/mtr&gt;&lt;mtr&gt;&lt;mtd&gt;&lt;mfrac&gt;&lt;mn&gt;1&lt;/mn&gt;&lt;mn&gt;8&lt;/mn&gt;&lt;/mfrac&gt;&lt;mo&gt;=&lt;/mo&gt;&lt;mfrac&gt;&lt;mn&gt;1&lt;/mn&gt;&lt;mn&gt;8&lt;/mn&gt;&lt;/mfrac&gt;&lt;mo&gt;×&lt;/mo&gt;&lt;mfrac&gt;&lt;mn&gt;125&lt;/mn&gt;&lt;mn&gt;125&lt;/mn&gt;&lt;/mfrac&gt;&lt;mo&gt;=&lt;/mo&gt;&lt;mfrac&gt;&lt;mrow&gt;&lt;mn&gt;1&lt;/mn&gt;&lt;mo&gt;×&lt;/mo&gt;&lt;mn&gt;125&lt;/mn&gt;&lt;/mrow&gt;&lt;mrow&gt;&lt;mn&gt;8&lt;/mn&gt;&lt;mo&gt;×&lt;/mo&gt;&lt;mn&gt;125&lt;/mn&gt;&lt;/mrow&gt;&lt;/mfrac&gt;&lt;mo&gt;=&lt;/mo&gt;&lt;mfrac&gt;&lt;mn&gt;125&lt;/mn&gt;&lt;mn&gt;1000&lt;/mn&gt;&lt;/mfrac&gt;&lt;/mtd&gt;&lt;/mtr&gt;&lt;/mtable&gt;&lt;/mtd&gt;&lt;/mtr&gt;&lt;mtr&gt;&lt;mtd&gt;&lt;mfrac&gt;&lt;mn&gt;1&lt;/mn&gt;&lt;mn&gt;12&lt;/mn&gt;&lt;/mfrac&gt;&lt;/mtd&gt;&lt;/mtr&gt;&lt;/mtable&gt;&lt;/math&gt;" id="1063" name="Google Shape;1063;p77" title="5 lines Line 1: thirteen fifths equals thirteen fifths times two halves equals the fraction with numerator 13 times 2 and denominator 5 times 2 equals 26 over 10 Line 2: 47 over 50 equals 47 over 50 times two halves equals the fraction with numerator 47 times 2 and denominator 50 times 2 equals 94 over 100 Line 3: one third Line 4: Line 1: 31 over 25 equals 31 over 25 times four fourths equals the fraction with numerator 31 times 4 and denominator 25 times 4 equals 124 over 100 Line 2: one eighth equals one eighth times 125 over 125 equals the fraction with numerator 1 times 125 and denominator 8 times 125 equals 125 over 1000 Line 5: 1 over 12"/>
          <p:cNvPicPr preferRelativeResize="0"/>
          <p:nvPr/>
        </p:nvPicPr>
        <p:blipFill rotWithShape="1">
          <a:blip r:embed="rId3">
            <a:alphaModFix/>
          </a:blip>
          <a:srcRect b="84706" l="0" r="91351" t="0"/>
          <a:stretch/>
        </p:blipFill>
        <p:spPr>
          <a:xfrm>
            <a:off x="1245150" y="1379450"/>
            <a:ext cx="363449" cy="5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77"/>
          <p:cNvSpPr txBox="1"/>
          <p:nvPr/>
        </p:nvSpPr>
        <p:spPr>
          <a:xfrm>
            <a:off x="572100" y="3240000"/>
            <a:ext cx="38784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gives the decimal value of 2.6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3}{5}=\frac{13}{5}\times\frac{2}{2}=\frac{13\times2}{5\times2}=\frac{26}{10}\\&amp;#13;&amp;#10;\frac{47}{50}=\frac{47}{50}\times\frac{2}{2}=\frac{47\times2}{50\times2}=\frac{94}{100}\\&amp;#13;&amp;#10;\frac{1}{3}\\&amp;#13;&amp;#10;\begin{array}{l}\frac{31}{25}=\frac{31}{25}\times\frac{4}{4}=\frac{31\times4}{25\times4}=\frac{124}{100}\\&amp;#13;&amp;#10;\frac{1}{8}=\frac{1}{8}\times\frac{125}{125}=\frac{1\times125}{8\times125}=\frac{125}{1000}\end{array}\\&amp;#13;&amp;#10;\frac{1}{12}\end{array}&quot;&gt;&lt;mtable columnalign=&quot;left&quot; columnspacing=&quot;1em&quot; rowspacing=&quot;4pt&quot;&gt;&lt;mtr&gt;&lt;mtd&gt;&lt;mfrac&gt;&lt;mn&gt;13&lt;/mn&gt;&lt;mn&gt;5&lt;/mn&gt;&lt;/mfrac&gt;&lt;mo&gt;=&lt;/mo&gt;&lt;mfrac&gt;&lt;mn&gt;13&lt;/mn&gt;&lt;mn&gt;5&lt;/mn&gt;&lt;/mfrac&gt;&lt;mo&gt;×&lt;/mo&gt;&lt;mfrac&gt;&lt;mn&gt;2&lt;/mn&gt;&lt;mn&gt;2&lt;/mn&gt;&lt;/mfrac&gt;&lt;mo&gt;=&lt;/mo&gt;&lt;mfrac&gt;&lt;mrow&gt;&lt;mn&gt;13&lt;/mn&gt;&lt;mo&gt;×&lt;/mo&gt;&lt;mn&gt;2&lt;/mn&gt;&lt;/mrow&gt;&lt;mrow&gt;&lt;mn&gt;5&lt;/mn&gt;&lt;mo&gt;×&lt;/mo&gt;&lt;mn&gt;2&lt;/mn&gt;&lt;/mrow&gt;&lt;/mfrac&gt;&lt;mo&gt;=&lt;/mo&gt;&lt;mfrac&gt;&lt;mn&gt;26&lt;/mn&gt;&lt;mn&gt;10&lt;/mn&gt;&lt;/mfrac&gt;&lt;/mtd&gt;&lt;/mtr&gt;&lt;mtr&gt;&lt;mtd&gt;&lt;mfrac&gt;&lt;mn&gt;47&lt;/mn&gt;&lt;mn&gt;50&lt;/mn&gt;&lt;/mfrac&gt;&lt;mo&gt;=&lt;/mo&gt;&lt;mfrac&gt;&lt;mn&gt;47&lt;/mn&gt;&lt;mn&gt;50&lt;/mn&gt;&lt;/mfrac&gt;&lt;mo&gt;×&lt;/mo&gt;&lt;mfrac&gt;&lt;mn&gt;2&lt;/mn&gt;&lt;mn&gt;2&lt;/mn&gt;&lt;/mfrac&gt;&lt;mo&gt;=&lt;/mo&gt;&lt;mfrac&gt;&lt;mrow&gt;&lt;mn&gt;47&lt;/mn&gt;&lt;mo&gt;×&lt;/mo&gt;&lt;mn&gt;2&lt;/mn&gt;&lt;/mrow&gt;&lt;mrow&gt;&lt;mn&gt;50&lt;/mn&gt;&lt;mo&gt;×&lt;/mo&gt;&lt;mn&gt;2&lt;/mn&gt;&lt;/mrow&gt;&lt;/mfrac&gt;&lt;mo&gt;=&lt;/mo&gt;&lt;mfrac&gt;&lt;mn&gt;94&lt;/mn&gt;&lt;mn&gt;100&lt;/mn&gt;&lt;/mfrac&gt;&lt;/mtd&gt;&lt;/mtr&gt;&lt;mtr&gt;&lt;mtd&gt;&lt;mfrac&gt;&lt;mn&gt;1&lt;/mn&gt;&lt;mn&gt;3&lt;/mn&gt;&lt;/mfrac&gt;&lt;/mtd&gt;&lt;/mtr&gt;&lt;mtr&gt;&lt;mtd&gt;&lt;mtable columnspacing=&quot;1em&quot; rowspacing=&quot;4pt&quot;&gt;&lt;mtr&gt;&lt;mtd&gt;&lt;mfrac&gt;&lt;mn&gt;31&lt;/mn&gt;&lt;mn&gt;25&lt;/mn&gt;&lt;/mfrac&gt;&lt;mo&gt;=&lt;/mo&gt;&lt;mfrac&gt;&lt;mn&gt;31&lt;/mn&gt;&lt;mn&gt;25&lt;/mn&gt;&lt;/mfrac&gt;&lt;mo&gt;×&lt;/mo&gt;&lt;mfrac&gt;&lt;mn&gt;4&lt;/mn&gt;&lt;mn&gt;4&lt;/mn&gt;&lt;/mfrac&gt;&lt;mo&gt;=&lt;/mo&gt;&lt;mfrac&gt;&lt;mrow&gt;&lt;mn&gt;31&lt;/mn&gt;&lt;mo&gt;×&lt;/mo&gt;&lt;mn&gt;4&lt;/mn&gt;&lt;/mrow&gt;&lt;mrow&gt;&lt;mn&gt;25&lt;/mn&gt;&lt;mo&gt;×&lt;/mo&gt;&lt;mn&gt;4&lt;/mn&gt;&lt;/mrow&gt;&lt;/mfrac&gt;&lt;mo&gt;=&lt;/mo&gt;&lt;mfrac&gt;&lt;mn&gt;124&lt;/mn&gt;&lt;mn&gt;100&lt;/mn&gt;&lt;/mfrac&gt;&lt;/mtd&gt;&lt;/mtr&gt;&lt;mtr&gt;&lt;mtd&gt;&lt;mfrac&gt;&lt;mn&gt;1&lt;/mn&gt;&lt;mn&gt;8&lt;/mn&gt;&lt;/mfrac&gt;&lt;mo&gt;=&lt;/mo&gt;&lt;mfrac&gt;&lt;mn&gt;1&lt;/mn&gt;&lt;mn&gt;8&lt;/mn&gt;&lt;/mfrac&gt;&lt;mo&gt;×&lt;/mo&gt;&lt;mfrac&gt;&lt;mn&gt;125&lt;/mn&gt;&lt;mn&gt;125&lt;/mn&gt;&lt;/mfrac&gt;&lt;mo&gt;=&lt;/mo&gt;&lt;mfrac&gt;&lt;mrow&gt;&lt;mn&gt;1&lt;/mn&gt;&lt;mo&gt;×&lt;/mo&gt;&lt;mn&gt;125&lt;/mn&gt;&lt;/mrow&gt;&lt;mrow&gt;&lt;mn&gt;8&lt;/mn&gt;&lt;mo&gt;×&lt;/mo&gt;&lt;mn&gt;125&lt;/mn&gt;&lt;/mrow&gt;&lt;/mfrac&gt;&lt;mo&gt;=&lt;/mo&gt;&lt;mfrac&gt;&lt;mn&gt;125&lt;/mn&gt;&lt;mn&gt;1000&lt;/mn&gt;&lt;/mfrac&gt;&lt;/mtd&gt;&lt;/mtr&gt;&lt;/mtable&gt;&lt;/mtd&gt;&lt;/mtr&gt;&lt;mtr&gt;&lt;mtd&gt;&lt;mfrac&gt;&lt;mn&gt;1&lt;/mn&gt;&lt;mn&gt;12&lt;/mn&gt;&lt;/mfrac&gt;&lt;/mtd&gt;&lt;/mtr&gt;&lt;/mtable&gt;&lt;/math&gt;" id="1065" name="Google Shape;1065;p77" title="5 lines Line 1: thirteen fifths equals thirteen fifths times two halves equals the fraction with numerator 13 times 2 and denominator 5 times 2 equals 26 over 10 Line 2: 47 over 50 equals 47 over 50 times two halves equals the fraction with numerator 47 times 2 and denominator 50 times 2 equals 94 over 100 Line 3: one third Line 4: Line 1: 31 over 25 equals 31 over 25 times four fourths equals the fraction with numerator 31 times 4 and denominator 25 times 4 equals 124 over 100 Line 2: one eighth equals one eighth times 125 over 125 equals the fraction with numerator 1 times 125 and denominator 8 times 125 equals 125 over 1000 Line 5: 1 over 12"/>
          <p:cNvPicPr preferRelativeResize="0"/>
          <p:nvPr/>
        </p:nvPicPr>
        <p:blipFill rotWithShape="1">
          <a:blip r:embed="rId3">
            <a:alphaModFix/>
          </a:blip>
          <a:srcRect b="32741" l="0" r="90006" t="50838"/>
          <a:stretch/>
        </p:blipFill>
        <p:spPr>
          <a:xfrm>
            <a:off x="5760625" y="1358400"/>
            <a:ext cx="419976" cy="61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77"/>
          <p:cNvSpPr txBox="1"/>
          <p:nvPr/>
        </p:nvSpPr>
        <p:spPr>
          <a:xfrm>
            <a:off x="4767475" y="3240000"/>
            <a:ext cx="38784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gives the decimal value of 1.24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3}{5}=\frac{13}{5}\times\frac{2}{2}=\frac{13\times2}{5\times2}=\frac{26}{10}\\&amp;#13;&amp;#10;\frac{47}{50}=\frac{47}{50}\times\frac{2}{2}=\frac{47\times2}{50\times2}=\frac{94}{100}\\&amp;#13;&amp;#10;\frac{1}{3}\\&amp;#13;&amp;#10;\begin{array}{l}\frac{31}{25}=\frac{31}{25}\times\frac{4}{4}=\frac{31\times4}{25\times4}=\frac{124}{100}\\&amp;#13;&amp;#10;\frac{1}{8}=\frac{1}{8}\times\frac{125}{125}=\frac{1\times125}{8\times125}=\frac{125}{1000}\end{array}\\&amp;#13;&amp;#10;\frac{1}{12}\end{array}&quot;&gt;&lt;mtable columnalign=&quot;left&quot; columnspacing=&quot;1em&quot; rowspacing=&quot;4pt&quot;&gt;&lt;mtr&gt;&lt;mtd&gt;&lt;mfrac&gt;&lt;mn&gt;13&lt;/mn&gt;&lt;mn&gt;5&lt;/mn&gt;&lt;/mfrac&gt;&lt;mo&gt;=&lt;/mo&gt;&lt;mfrac&gt;&lt;mn&gt;13&lt;/mn&gt;&lt;mn&gt;5&lt;/mn&gt;&lt;/mfrac&gt;&lt;mo&gt;×&lt;/mo&gt;&lt;mfrac&gt;&lt;mn&gt;2&lt;/mn&gt;&lt;mn&gt;2&lt;/mn&gt;&lt;/mfrac&gt;&lt;mo&gt;=&lt;/mo&gt;&lt;mfrac&gt;&lt;mrow&gt;&lt;mn&gt;13&lt;/mn&gt;&lt;mo&gt;×&lt;/mo&gt;&lt;mn&gt;2&lt;/mn&gt;&lt;/mrow&gt;&lt;mrow&gt;&lt;mn&gt;5&lt;/mn&gt;&lt;mo&gt;×&lt;/mo&gt;&lt;mn&gt;2&lt;/mn&gt;&lt;/mrow&gt;&lt;/mfrac&gt;&lt;mo&gt;=&lt;/mo&gt;&lt;mfrac&gt;&lt;mn&gt;26&lt;/mn&gt;&lt;mn&gt;10&lt;/mn&gt;&lt;/mfrac&gt;&lt;/mtd&gt;&lt;/mtr&gt;&lt;mtr&gt;&lt;mtd&gt;&lt;mfrac&gt;&lt;mn&gt;47&lt;/mn&gt;&lt;mn&gt;50&lt;/mn&gt;&lt;/mfrac&gt;&lt;mo&gt;=&lt;/mo&gt;&lt;mfrac&gt;&lt;mn&gt;47&lt;/mn&gt;&lt;mn&gt;50&lt;/mn&gt;&lt;/mfrac&gt;&lt;mo&gt;×&lt;/mo&gt;&lt;mfrac&gt;&lt;mn&gt;2&lt;/mn&gt;&lt;mn&gt;2&lt;/mn&gt;&lt;/mfrac&gt;&lt;mo&gt;=&lt;/mo&gt;&lt;mfrac&gt;&lt;mrow&gt;&lt;mn&gt;47&lt;/mn&gt;&lt;mo&gt;×&lt;/mo&gt;&lt;mn&gt;2&lt;/mn&gt;&lt;/mrow&gt;&lt;mrow&gt;&lt;mn&gt;50&lt;/mn&gt;&lt;mo&gt;×&lt;/mo&gt;&lt;mn&gt;2&lt;/mn&gt;&lt;/mrow&gt;&lt;/mfrac&gt;&lt;mo&gt;=&lt;/mo&gt;&lt;mfrac&gt;&lt;mn&gt;94&lt;/mn&gt;&lt;mn&gt;100&lt;/mn&gt;&lt;/mfrac&gt;&lt;/mtd&gt;&lt;/mtr&gt;&lt;mtr&gt;&lt;mtd&gt;&lt;mfrac&gt;&lt;mn&gt;1&lt;/mn&gt;&lt;mn&gt;3&lt;/mn&gt;&lt;/mfrac&gt;&lt;/mtd&gt;&lt;/mtr&gt;&lt;mtr&gt;&lt;mtd&gt;&lt;mtable columnspacing=&quot;1em&quot; rowspacing=&quot;4pt&quot;&gt;&lt;mtr&gt;&lt;mtd&gt;&lt;mfrac&gt;&lt;mn&gt;31&lt;/mn&gt;&lt;mn&gt;25&lt;/mn&gt;&lt;/mfrac&gt;&lt;mo&gt;=&lt;/mo&gt;&lt;mfrac&gt;&lt;mn&gt;31&lt;/mn&gt;&lt;mn&gt;25&lt;/mn&gt;&lt;/mfrac&gt;&lt;mo&gt;×&lt;/mo&gt;&lt;mfrac&gt;&lt;mn&gt;4&lt;/mn&gt;&lt;mn&gt;4&lt;/mn&gt;&lt;/mfrac&gt;&lt;mo&gt;=&lt;/mo&gt;&lt;mfrac&gt;&lt;mrow&gt;&lt;mn&gt;31&lt;/mn&gt;&lt;mo&gt;×&lt;/mo&gt;&lt;mn&gt;4&lt;/mn&gt;&lt;/mrow&gt;&lt;mrow&gt;&lt;mn&gt;25&lt;/mn&gt;&lt;mo&gt;×&lt;/mo&gt;&lt;mn&gt;4&lt;/mn&gt;&lt;/mrow&gt;&lt;/mfrac&gt;&lt;mo&gt;=&lt;/mo&gt;&lt;mfrac&gt;&lt;mn&gt;124&lt;/mn&gt;&lt;mn&gt;100&lt;/mn&gt;&lt;/mfrac&gt;&lt;/mtd&gt;&lt;/mtr&gt;&lt;mtr&gt;&lt;mtd&gt;&lt;mfrac&gt;&lt;mn&gt;1&lt;/mn&gt;&lt;mn&gt;8&lt;/mn&gt;&lt;/mfrac&gt;&lt;mo&gt;=&lt;/mo&gt;&lt;mfrac&gt;&lt;mn&gt;1&lt;/mn&gt;&lt;mn&gt;8&lt;/mn&gt;&lt;/mfrac&gt;&lt;mo&gt;×&lt;/mo&gt;&lt;mfrac&gt;&lt;mn&gt;125&lt;/mn&gt;&lt;mn&gt;125&lt;/mn&gt;&lt;/mfrac&gt;&lt;mo&gt;=&lt;/mo&gt;&lt;mfrac&gt;&lt;mrow&gt;&lt;mn&gt;1&lt;/mn&gt;&lt;mo&gt;×&lt;/mo&gt;&lt;mn&gt;125&lt;/mn&gt;&lt;/mrow&gt;&lt;mrow&gt;&lt;mn&gt;8&lt;/mn&gt;&lt;mo&gt;×&lt;/mo&gt;&lt;mn&gt;125&lt;/mn&gt;&lt;/mrow&gt;&lt;/mfrac&gt;&lt;mo&gt;=&lt;/mo&gt;&lt;mfrac&gt;&lt;mn&gt;125&lt;/mn&gt;&lt;mn&gt;1000&lt;/mn&gt;&lt;/mfrac&gt;&lt;/mtd&gt;&lt;/mtr&gt;&lt;/mtable&gt;&lt;/mtd&gt;&lt;/mtr&gt;&lt;mtr&gt;&lt;mtd&gt;&lt;mfrac&gt;&lt;mn&gt;1&lt;/mn&gt;&lt;mn&gt;12&lt;/mn&gt;&lt;/mfrac&gt;&lt;/mtd&gt;&lt;/mtr&gt;&lt;/mtable&gt;&lt;/math&gt;" id="1067" name="Google Shape;1067;p77" title="5 lines Line 1: thirteen fifths equals thirteen fifths times two halves equals the fraction with numerator 13 times 2 and denominator 5 times 2 equals 26 over 10 Line 2: 47 over 50 equals 47 over 50 times two halves equals the fraction with numerator 47 times 2 and denominator 50 times 2 equals 94 over 100 Line 3: one third Line 4: Line 1: 31 over 25 equals 31 over 25 times four fourths equals the fraction with numerator 31 times 4 and denominator 25 times 4 equals 124 over 100 Line 2: one eighth equals one eighth times 125 over 125 equals the fraction with numerator 1 times 125 and denominator 8 times 125 equals 125 over 1000 Line 5: 1 over 12"/>
          <p:cNvPicPr preferRelativeResize="0"/>
          <p:nvPr/>
        </p:nvPicPr>
        <p:blipFill rotWithShape="1">
          <a:blip r:embed="rId3">
            <a:alphaModFix/>
          </a:blip>
          <a:srcRect b="84706" l="45584" r="27177" t="0"/>
          <a:stretch/>
        </p:blipFill>
        <p:spPr>
          <a:xfrm>
            <a:off x="2224827" y="2328750"/>
            <a:ext cx="1144775" cy="57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5}=\frac{13}{5}\times\frac{2}{2}=\frac{13\times2}{5\times2}=\frac{26}{10}\\&amp;#13;&amp;#10;\frac{47}{50}=\frac{47}{50}\times\frac{2}{2}=\frac{47\times2}{50\times2}=\frac{94}{100}\\&amp;#13;&amp;#10;\frac{1}{3}\\&amp;#13;&amp;#10;\begin{array}{l}\frac{31}{25}=\frac{31}{25}\times\frac{4}{4}=\frac{31\times4}{25\times4}=\frac{124}{100}\\&amp;#13;&amp;#10;\frac{1}{8}=\frac{1}{8}\times\frac{125}{125}=\frac{1\times125}{8\times125}=\frac{125}{1000}\end{array}\\&amp;#13;&amp;#10;\frac{1}{12}\end{array}&quot;&gt;&lt;mtable columnalign=&quot;left&quot; columnspacing=&quot;1em&quot; rowspacing=&quot;4pt&quot;&gt;&lt;mtr&gt;&lt;mtd&gt;&lt;mfrac&gt;&lt;mn&gt;13&lt;/mn&gt;&lt;mn&gt;5&lt;/mn&gt;&lt;/mfrac&gt;&lt;mo&gt;=&lt;/mo&gt;&lt;mfrac&gt;&lt;mn&gt;13&lt;/mn&gt;&lt;mn&gt;5&lt;/mn&gt;&lt;/mfrac&gt;&lt;mo&gt;×&lt;/mo&gt;&lt;mfrac&gt;&lt;mn&gt;2&lt;/mn&gt;&lt;mn&gt;2&lt;/mn&gt;&lt;/mfrac&gt;&lt;mo&gt;=&lt;/mo&gt;&lt;mfrac&gt;&lt;mrow&gt;&lt;mn&gt;13&lt;/mn&gt;&lt;mo&gt;×&lt;/mo&gt;&lt;mn&gt;2&lt;/mn&gt;&lt;/mrow&gt;&lt;mrow&gt;&lt;mn&gt;5&lt;/mn&gt;&lt;mo&gt;×&lt;/mo&gt;&lt;mn&gt;2&lt;/mn&gt;&lt;/mrow&gt;&lt;/mfrac&gt;&lt;mo&gt;=&lt;/mo&gt;&lt;mfrac&gt;&lt;mn&gt;26&lt;/mn&gt;&lt;mn&gt;10&lt;/mn&gt;&lt;/mfrac&gt;&lt;/mtd&gt;&lt;/mtr&gt;&lt;mtr&gt;&lt;mtd&gt;&lt;mfrac&gt;&lt;mn&gt;47&lt;/mn&gt;&lt;mn&gt;50&lt;/mn&gt;&lt;/mfrac&gt;&lt;mo&gt;=&lt;/mo&gt;&lt;mfrac&gt;&lt;mn&gt;47&lt;/mn&gt;&lt;mn&gt;50&lt;/mn&gt;&lt;/mfrac&gt;&lt;mo&gt;×&lt;/mo&gt;&lt;mfrac&gt;&lt;mn&gt;2&lt;/mn&gt;&lt;mn&gt;2&lt;/mn&gt;&lt;/mfrac&gt;&lt;mo&gt;=&lt;/mo&gt;&lt;mfrac&gt;&lt;mrow&gt;&lt;mn&gt;47&lt;/mn&gt;&lt;mo&gt;×&lt;/mo&gt;&lt;mn&gt;2&lt;/mn&gt;&lt;/mrow&gt;&lt;mrow&gt;&lt;mn&gt;50&lt;/mn&gt;&lt;mo&gt;×&lt;/mo&gt;&lt;mn&gt;2&lt;/mn&gt;&lt;/mrow&gt;&lt;/mfrac&gt;&lt;mo&gt;=&lt;/mo&gt;&lt;mfrac&gt;&lt;mn&gt;94&lt;/mn&gt;&lt;mn&gt;100&lt;/mn&gt;&lt;/mfrac&gt;&lt;/mtd&gt;&lt;/mtr&gt;&lt;mtr&gt;&lt;mtd&gt;&lt;mfrac&gt;&lt;mn&gt;1&lt;/mn&gt;&lt;mn&gt;3&lt;/mn&gt;&lt;/mfrac&gt;&lt;/mtd&gt;&lt;/mtr&gt;&lt;mtr&gt;&lt;mtd&gt;&lt;mtable columnspacing=&quot;1em&quot; rowspacing=&quot;4pt&quot;&gt;&lt;mtr&gt;&lt;mtd&gt;&lt;mfrac&gt;&lt;mn&gt;31&lt;/mn&gt;&lt;mn&gt;25&lt;/mn&gt;&lt;/mfrac&gt;&lt;mo&gt;=&lt;/mo&gt;&lt;mfrac&gt;&lt;mn&gt;31&lt;/mn&gt;&lt;mn&gt;25&lt;/mn&gt;&lt;/mfrac&gt;&lt;mo&gt;×&lt;/mo&gt;&lt;mfrac&gt;&lt;mn&gt;4&lt;/mn&gt;&lt;mn&gt;4&lt;/mn&gt;&lt;/mfrac&gt;&lt;mo&gt;=&lt;/mo&gt;&lt;mfrac&gt;&lt;mrow&gt;&lt;mn&gt;31&lt;/mn&gt;&lt;mo&gt;×&lt;/mo&gt;&lt;mn&gt;4&lt;/mn&gt;&lt;/mrow&gt;&lt;mrow&gt;&lt;mn&gt;25&lt;/mn&gt;&lt;mo&gt;×&lt;/mo&gt;&lt;mn&gt;4&lt;/mn&gt;&lt;/mrow&gt;&lt;/mfrac&gt;&lt;mo&gt;=&lt;/mo&gt;&lt;mfrac&gt;&lt;mn&gt;124&lt;/mn&gt;&lt;mn&gt;100&lt;/mn&gt;&lt;/mfrac&gt;&lt;/mtd&gt;&lt;/mtr&gt;&lt;mtr&gt;&lt;mtd&gt;&lt;mfrac&gt;&lt;mn&gt;1&lt;/mn&gt;&lt;mn&gt;8&lt;/mn&gt;&lt;/mfrac&gt;&lt;mo&gt;=&lt;/mo&gt;&lt;mfrac&gt;&lt;mn&gt;1&lt;/mn&gt;&lt;mn&gt;8&lt;/mn&gt;&lt;/mfrac&gt;&lt;mo&gt;×&lt;/mo&gt;&lt;mfrac&gt;&lt;mn&gt;125&lt;/mn&gt;&lt;mn&gt;125&lt;/mn&gt;&lt;/mfrac&gt;&lt;mo&gt;=&lt;/mo&gt;&lt;mfrac&gt;&lt;mrow&gt;&lt;mn&gt;1&lt;/mn&gt;&lt;mo&gt;×&lt;/mo&gt;&lt;mn&gt;125&lt;/mn&gt;&lt;/mrow&gt;&lt;mrow&gt;&lt;mn&gt;8&lt;/mn&gt;&lt;mo&gt;×&lt;/mo&gt;&lt;mn&gt;125&lt;/mn&gt;&lt;/mrow&gt;&lt;/mfrac&gt;&lt;mo&gt;=&lt;/mo&gt;&lt;mfrac&gt;&lt;mn&gt;125&lt;/mn&gt;&lt;mn&gt;1000&lt;/mn&gt;&lt;/mfrac&gt;&lt;/mtd&gt;&lt;/mtr&gt;&lt;/mtable&gt;&lt;/mtd&gt;&lt;/mtr&gt;&lt;mtr&gt;&lt;mtd&gt;&lt;mfrac&gt;&lt;mn&gt;1&lt;/mn&gt;&lt;mn&gt;12&lt;/mn&gt;&lt;/mfrac&gt;&lt;/mtd&gt;&lt;/mtr&gt;&lt;/mtable&gt;&lt;/math&gt;" id="1068" name="Google Shape;1068;p77" title="5 lines Line 1: thirteen fifths equals thirteen fifths times two halves equals the fraction with numerator 13 times 2 and denominator 5 times 2 equals 26 over 10 Line 2: 47 over 50 equals 47 over 50 times two halves equals the fraction with numerator 47 times 2 and denominator 50 times 2 equals 94 over 100 Line 3: one third Line 4: Line 1: 31 over 25 equals 31 over 25 times four fourths equals the fraction with numerator 31 times 4 and denominator 25 times 4 equals 124 over 100 Line 2: one eighth equals one eighth times 125 over 125 equals the fraction with numerator 1 times 125 and denominator 8 times 125 equals 125 over 1000 Line 5: 1 over 12"/>
          <p:cNvPicPr preferRelativeResize="0"/>
          <p:nvPr/>
        </p:nvPicPr>
        <p:blipFill rotWithShape="1">
          <a:blip r:embed="rId3">
            <a:alphaModFix/>
          </a:blip>
          <a:srcRect b="84706" l="69453" r="3309" t="0"/>
          <a:stretch/>
        </p:blipFill>
        <p:spPr>
          <a:xfrm>
            <a:off x="3243102" y="2328750"/>
            <a:ext cx="1144775" cy="5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77"/>
          <p:cNvSpPr txBox="1"/>
          <p:nvPr>
            <p:ph idx="1" type="subTitle"/>
          </p:nvPr>
        </p:nvSpPr>
        <p:spPr>
          <a:xfrm>
            <a:off x="324000" y="1473750"/>
            <a:ext cx="4126500" cy="11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70" name="Google Shape;1070;p77"/>
          <p:cNvSpPr txBox="1"/>
          <p:nvPr>
            <p:ph idx="2" type="subTitle"/>
          </p:nvPr>
        </p:nvSpPr>
        <p:spPr>
          <a:xfrm>
            <a:off x="4824000" y="1473750"/>
            <a:ext cx="3982200" cy="7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fraction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sp>
        <p:nvSpPr>
          <p:cNvPr id="1076" name="Google Shape;1076;p78"/>
          <p:cNvSpPr txBox="1"/>
          <p:nvPr>
            <p:ph idx="1" type="body"/>
          </p:nvPr>
        </p:nvSpPr>
        <p:spPr>
          <a:xfrm>
            <a:off x="324000" y="810000"/>
            <a:ext cx="8496000" cy="4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we only need to determine if a fraction is equivalent to a </a:t>
            </a:r>
            <a:r>
              <a:rPr b="1" lang="en-GB"/>
              <a:t>terminating decimal</a:t>
            </a:r>
            <a:r>
              <a:rPr lang="en-GB"/>
              <a:t> or not we can use another approach. </a:t>
            </a:r>
            <a:endParaRPr/>
          </a:p>
        </p:txBody>
      </p:sp>
      <p:sp>
        <p:nvSpPr>
          <p:cNvPr id="1077" name="Google Shape;1077;p78"/>
          <p:cNvSpPr txBox="1"/>
          <p:nvPr>
            <p:ph idx="1" type="body"/>
          </p:nvPr>
        </p:nvSpPr>
        <p:spPr>
          <a:xfrm>
            <a:off x="324000" y="1947900"/>
            <a:ext cx="22245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1}{910}\ =\ 11\ \div910&quot;&gt;&lt;mfrac&gt;&lt;mn&gt;11&lt;/mn&gt;&lt;mn&gt;910&lt;/mn&gt;&lt;/mfrac&gt;&lt;mtext&gt;&lt;/mtext&gt;&lt;mo&gt;=&lt;/mo&gt;&lt;mtext&gt;&lt;/mtext&gt;&lt;mn&gt;11&lt;/mn&gt;&lt;mtext&gt;&lt;/mtext&gt;&lt;mo&gt;÷&lt;/mo&gt;&lt;mn&gt;910&lt;/mn&gt;&lt;/math&gt;" id="1078" name="Google Shape;1078;p78" title="11 over 910 equals 11 division sign 910"/>
          <p:cNvPicPr preferRelativeResize="0"/>
          <p:nvPr/>
        </p:nvPicPr>
        <p:blipFill rotWithShape="1">
          <a:blip r:embed="rId3">
            <a:alphaModFix/>
          </a:blip>
          <a:srcRect b="0" l="0" r="74480" t="0"/>
          <a:stretch/>
        </p:blipFill>
        <p:spPr>
          <a:xfrm>
            <a:off x="778857" y="2426700"/>
            <a:ext cx="54272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78"/>
          <p:cNvSpPr txBox="1"/>
          <p:nvPr/>
        </p:nvSpPr>
        <p:spPr>
          <a:xfrm>
            <a:off x="228785" y="3475200"/>
            <a:ext cx="8309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might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not want to do short division here to identify if this fraction is equivalent to a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not. </a:t>
            </a:r>
            <a:endParaRPr/>
          </a:p>
        </p:txBody>
      </p:sp>
      <p:sp>
        <p:nvSpPr>
          <p:cNvPr id="1080" name="Google Shape;1080;p78"/>
          <p:cNvSpPr txBox="1"/>
          <p:nvPr>
            <p:ph idx="1" type="body"/>
          </p:nvPr>
        </p:nvSpPr>
        <p:spPr>
          <a:xfrm>
            <a:off x="324000" y="2481300"/>
            <a:ext cx="4272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           </a:t>
            </a:r>
            <a:endParaRPr/>
          </a:p>
        </p:txBody>
      </p:sp>
      <p:sp>
        <p:nvSpPr>
          <p:cNvPr id="1081" name="Google Shape;1081;p78"/>
          <p:cNvSpPr txBox="1"/>
          <p:nvPr>
            <p:ph idx="1" type="body"/>
          </p:nvPr>
        </p:nvSpPr>
        <p:spPr>
          <a:xfrm>
            <a:off x="1467000" y="2481300"/>
            <a:ext cx="3814200" cy="5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terminating decimal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sp>
        <p:nvSpPr>
          <p:cNvPr id="1087" name="Google Shape;1087;p79"/>
          <p:cNvSpPr txBox="1"/>
          <p:nvPr>
            <p:ph idx="1" type="body"/>
          </p:nvPr>
        </p:nvSpPr>
        <p:spPr>
          <a:xfrm>
            <a:off x="300750" y="733800"/>
            <a:ext cx="82377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Simplifying </a:t>
            </a:r>
            <a:r>
              <a:rPr lang="en-GB"/>
              <a:t>the fraction and writing the numerator and denominator as a product of its prime factors will help.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1}{910}\ =\ 11\ \div910&quot;&gt;&lt;mfrac&gt;&lt;mn&gt;11&lt;/mn&gt;&lt;mn&gt;910&lt;/mn&gt;&lt;/mfrac&gt;&lt;mtext&gt;&lt;/mtext&gt;&lt;mo&gt;=&lt;/mo&gt;&lt;mtext&gt;&lt;/mtext&gt;&lt;mn&gt;11&lt;/mn&gt;&lt;mtext&gt;&lt;/mtext&gt;&lt;mo&gt;÷&lt;/mo&gt;&lt;mn&gt;910&lt;/mn&gt;&lt;/math&gt;" id="1088" name="Google Shape;1088;p79" title="11 over 910 equals 11 division sign 910"/>
          <p:cNvPicPr preferRelativeResize="0"/>
          <p:nvPr/>
        </p:nvPicPr>
        <p:blipFill rotWithShape="1">
          <a:blip r:embed="rId3">
            <a:alphaModFix/>
          </a:blip>
          <a:srcRect b="0" l="0" r="74480" t="0"/>
          <a:stretch/>
        </p:blipFill>
        <p:spPr>
          <a:xfrm>
            <a:off x="778857" y="3112500"/>
            <a:ext cx="54272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910}\ =\frac{11}{2\times5\times7\times13}&quot;&gt;&lt;mfrac&gt;&lt;mn&gt;11&lt;/mn&gt;&lt;mn&gt;910&lt;/mn&gt;&lt;/mfrac&gt;&lt;mtext&gt;&lt;/mtext&gt;&lt;mo&gt;=&lt;/mo&gt;&lt;mfrac&gt;&lt;mn&gt;11&lt;/mn&gt;&lt;mrow&gt;&lt;mn&gt;2&lt;/mn&gt;&lt;mo&gt;×&lt;/mo&gt;&lt;mn&gt;5&lt;/mn&gt;&lt;mo&gt;×&lt;/mo&gt;&lt;mn&gt;7&lt;/mn&gt;&lt;mo&gt;×&lt;/mo&gt;&lt;mn&gt;13&lt;/mn&gt;&lt;/mrow&gt;&lt;/mfrac&gt;&lt;/math&gt;" id="1089" name="Google Shape;1089;p79" title="11 over 910 equals the fraction with numerator 11 and denominator 2 times 5 times 7 times 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328" y="3917900"/>
            <a:ext cx="270209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79"/>
          <p:cNvSpPr txBox="1"/>
          <p:nvPr/>
        </p:nvSpPr>
        <p:spPr>
          <a:xfrm>
            <a:off x="3670125" y="3726000"/>
            <a:ext cx="5019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because the denominator must only have bases of 2 and/or 5 for it to be </a:t>
            </a: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terminating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1" name="Google Shape;1091;p79"/>
          <p:cNvSpPr txBox="1"/>
          <p:nvPr/>
        </p:nvSpPr>
        <p:spPr>
          <a:xfrm>
            <a:off x="193725" y="1398750"/>
            <a:ext cx="8496000" cy="10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prime factors must only have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bases of 2 and/or 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 these are the only prime factors of 10. </a:t>
            </a:r>
            <a:endParaRPr/>
          </a:p>
        </p:txBody>
      </p:sp>
      <p:sp>
        <p:nvSpPr>
          <p:cNvPr id="1092" name="Google Shape;1092;p79"/>
          <p:cNvSpPr txBox="1"/>
          <p:nvPr>
            <p:ph idx="1" type="body"/>
          </p:nvPr>
        </p:nvSpPr>
        <p:spPr>
          <a:xfrm>
            <a:off x="324000" y="2633700"/>
            <a:ext cx="22245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example</a:t>
            </a:r>
            <a:endParaRPr/>
          </a:p>
        </p:txBody>
      </p:sp>
      <p:sp>
        <p:nvSpPr>
          <p:cNvPr id="1093" name="Google Shape;1093;p79"/>
          <p:cNvSpPr txBox="1"/>
          <p:nvPr>
            <p:ph idx="1" type="body"/>
          </p:nvPr>
        </p:nvSpPr>
        <p:spPr>
          <a:xfrm>
            <a:off x="324000" y="3167100"/>
            <a:ext cx="4272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           </a:t>
            </a:r>
            <a:endParaRPr/>
          </a:p>
        </p:txBody>
      </p:sp>
      <p:sp>
        <p:nvSpPr>
          <p:cNvPr id="1094" name="Google Shape;1094;p79"/>
          <p:cNvSpPr txBox="1"/>
          <p:nvPr>
            <p:ph idx="1" type="body"/>
          </p:nvPr>
        </p:nvSpPr>
        <p:spPr>
          <a:xfrm>
            <a:off x="1467000" y="3167100"/>
            <a:ext cx="3814200" cy="5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terminating decimal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8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1}{44}=\frac{71}{2\times2\times11}&quot;&gt;&lt;mfrac&gt;&lt;mn&gt;71&lt;/mn&gt;&lt;mn&gt;44&lt;/mn&gt;&lt;/mfrac&gt;&lt;mo&gt;=&lt;/mo&gt;&lt;mfrac&gt;&lt;mn&gt;71&lt;/mn&gt;&lt;mrow&gt;&lt;mn&gt;2&lt;/mn&gt;&lt;mo&gt;×&lt;/mo&gt;&lt;mn&gt;2&lt;/mn&gt;&lt;mo&gt;×&lt;/mo&gt;&lt;mn&gt;11&lt;/mn&gt;&lt;/mrow&gt;&lt;/mfrac&gt;&lt;/math&gt;" id="1100" name="Google Shape;1100;p80" title="71 over 44 equals the fraction with numerator 71 and denominator 2 times 2 times 11"/>
          <p:cNvPicPr preferRelativeResize="0"/>
          <p:nvPr/>
        </p:nvPicPr>
        <p:blipFill rotWithShape="1">
          <a:blip r:embed="rId3">
            <a:alphaModFix/>
          </a:blip>
          <a:srcRect b="0" l="0" r="65317" t="0"/>
          <a:stretch/>
        </p:blipFill>
        <p:spPr>
          <a:xfrm>
            <a:off x="5426425" y="2160000"/>
            <a:ext cx="70502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80"/>
          <p:cNvSpPr txBox="1"/>
          <p:nvPr/>
        </p:nvSpPr>
        <p:spPr>
          <a:xfrm>
            <a:off x="324000" y="839700"/>
            <a:ext cx="37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Identify if</a:t>
            </a:r>
            <a:endParaRPr b="1" sz="1800"/>
          </a:p>
        </p:txBody>
      </p:sp>
      <p:pic>
        <p:nvPicPr>
          <p:cNvPr descr="&lt;math xmlns=&quot;http://www.w3.org/1998/Math/MathML&quot; display=&quot;block&quot; data-is-equatio=&quot;1&quot; data-latex=&quot;\frac{51}{32}=\frac{53}{2\times2\times2\times2\times2}&quot;&gt;&lt;mfrac&gt;&lt;mn&gt;51&lt;/mn&gt;&lt;mn&gt;32&lt;/mn&gt;&lt;/mfrac&gt;&lt;mo&gt;=&lt;/mo&gt;&lt;mfrac&gt;&lt;mn&gt;53&lt;/mn&gt;&lt;mrow&gt;&lt;mn&gt;2&lt;/mn&gt;&lt;mo&gt;×&lt;/mo&gt;&lt;mn&gt;2&lt;/mn&gt;&lt;mo&gt;×&lt;/mo&gt;&lt;mn&gt;2&lt;/mn&gt;&lt;mo&gt;×&lt;/mo&gt;&lt;mn&gt;2&lt;/mn&gt;&lt;mo&gt;×&lt;/mo&gt;&lt;mn&gt;2&lt;/mn&gt;&lt;/mrow&gt;&lt;/mfrac&gt;&lt;/math&gt;" id="1102" name="Google Shape;1102;p80" title="51 over 32 equals the fraction with numerator 53 and denominator 2 times 2 times 2 times 2 times 2"/>
          <p:cNvPicPr preferRelativeResize="0"/>
          <p:nvPr/>
        </p:nvPicPr>
        <p:blipFill rotWithShape="1">
          <a:blip r:embed="rId4">
            <a:alphaModFix/>
          </a:blip>
          <a:srcRect b="0" l="0" r="87009" t="0"/>
          <a:stretch/>
        </p:blipFill>
        <p:spPr>
          <a:xfrm>
            <a:off x="1624198" y="752400"/>
            <a:ext cx="291345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80"/>
          <p:cNvSpPr txBox="1"/>
          <p:nvPr/>
        </p:nvSpPr>
        <p:spPr>
          <a:xfrm>
            <a:off x="324000" y="3593100"/>
            <a:ext cx="43815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denominator has prime factors with bases of 2 and/or 5 so it is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/>
          </a:p>
        </p:txBody>
      </p:sp>
      <p:sp>
        <p:nvSpPr>
          <p:cNvPr id="1104" name="Google Shape;1104;p80"/>
          <p:cNvSpPr txBox="1"/>
          <p:nvPr/>
        </p:nvSpPr>
        <p:spPr>
          <a:xfrm>
            <a:off x="4819800" y="3593100"/>
            <a:ext cx="40002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denominator has prime factors with bases of 2 and 11 so it 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71}{44}=\frac{71}{2\times2\times11}&quot;&gt;&lt;mfrac&gt;&lt;mn&gt;71&lt;/mn&gt;&lt;mn&gt;44&lt;/mn&gt;&lt;/mfrac&gt;&lt;mo&gt;=&lt;/mo&gt;&lt;mfrac&gt;&lt;mn&gt;71&lt;/mn&gt;&lt;mrow&gt;&lt;mn&gt;2&lt;/mn&gt;&lt;mo&gt;×&lt;/mo&gt;&lt;mn&gt;2&lt;/mn&gt;&lt;mo&gt;×&lt;/mo&gt;&lt;mn&gt;11&lt;/mn&gt;&lt;/mrow&gt;&lt;/mfrac&gt;&lt;/math&gt;" id="1105" name="Google Shape;1105;p80" title="71 over 44 equals the fraction with numerator 71 and denominator 2 times 2 times 11"/>
          <p:cNvPicPr preferRelativeResize="0"/>
          <p:nvPr/>
        </p:nvPicPr>
        <p:blipFill rotWithShape="1">
          <a:blip r:embed="rId3">
            <a:alphaModFix/>
          </a:blip>
          <a:srcRect b="0" l="0" r="82314" t="0"/>
          <a:stretch/>
        </p:blipFill>
        <p:spPr>
          <a:xfrm>
            <a:off x="6189316" y="784586"/>
            <a:ext cx="291349" cy="49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1}{32}=\frac{3\ \times17}{2\times2\times2\times2\times2}&quot;&gt;&lt;mfrac&gt;&lt;mn&gt;51&lt;/mn&gt;&lt;mn&gt;32&lt;/mn&gt;&lt;/mfrac&gt;&lt;mo&gt;=&lt;/mo&gt;&lt;mfrac&gt;&lt;mrow&gt;&lt;mn&gt;3&lt;/mn&gt;&lt;mtext&gt;&lt;/mtext&gt;&lt;mo&gt;×&lt;/mo&gt;&lt;mn&gt;17&lt;/mn&gt;&lt;/mrow&gt;&lt;mrow&gt;&lt;mn&gt;2&lt;/mn&gt;&lt;mo&gt;×&lt;/mo&gt;&lt;mn&gt;2&lt;/mn&gt;&lt;mo&gt;×&lt;/mo&gt;&lt;mn&gt;2&lt;/mn&gt;&lt;mo&gt;×&lt;/mo&gt;&lt;mn&gt;2&lt;/mn&gt;&lt;mo&gt;×&lt;/mo&gt;&lt;mn&gt;2&lt;/mn&gt;&lt;/mrow&gt;&lt;/mfrac&gt;&lt;/math&gt;" id="1106" name="Google Shape;1106;p80" title="51 over 32 equals the fraction with numerator 3 times 17 and denominator 2 times 2 times 2 times 2 times 2"/>
          <p:cNvPicPr preferRelativeResize="0"/>
          <p:nvPr/>
        </p:nvPicPr>
        <p:blipFill rotWithShape="1">
          <a:blip r:embed="rId5">
            <a:alphaModFix/>
          </a:blip>
          <a:srcRect b="0" l="0" r="77165" t="0"/>
          <a:stretch/>
        </p:blipFill>
        <p:spPr>
          <a:xfrm>
            <a:off x="891175" y="2267750"/>
            <a:ext cx="705025" cy="67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1}{32}=\frac{3\ \times17}{2\times2\times2\times2\times2}&quot;&gt;&lt;mfrac&gt;&lt;mn&gt;51&lt;/mn&gt;&lt;mn&gt;32&lt;/mn&gt;&lt;/mfrac&gt;&lt;mo&gt;=&lt;/mo&gt;&lt;mfrac&gt;&lt;mrow&gt;&lt;mn&gt;3&lt;/mn&gt;&lt;mtext&gt;&lt;/mtext&gt;&lt;mo&gt;×&lt;/mo&gt;&lt;mn&gt;17&lt;/mn&gt;&lt;/mrow&gt;&lt;mrow&gt;&lt;mn&gt;2&lt;/mn&gt;&lt;mo&gt;×&lt;/mo&gt;&lt;mn&gt;2&lt;/mn&gt;&lt;mo&gt;×&lt;/mo&gt;&lt;mn&gt;2&lt;/mn&gt;&lt;mo&gt;×&lt;/mo&gt;&lt;mn&gt;2&lt;/mn&gt;&lt;mo&gt;×&lt;/mo&gt;&lt;mn&gt;2&lt;/mn&gt;&lt;/mrow&gt;&lt;/mfrac&gt;&lt;/math&gt;" id="1107" name="Google Shape;1107;p80" title="51 over 32 equals the fraction with numerator 3 times 17 and denominator 2 times 2 times 2 times 2 times 2"/>
          <p:cNvPicPr preferRelativeResize="0"/>
          <p:nvPr/>
        </p:nvPicPr>
        <p:blipFill rotWithShape="1">
          <a:blip r:embed="rId5">
            <a:alphaModFix/>
          </a:blip>
          <a:srcRect b="0" l="24528" r="-6181" t="0"/>
          <a:stretch/>
        </p:blipFill>
        <p:spPr>
          <a:xfrm>
            <a:off x="1608600" y="2267750"/>
            <a:ext cx="2521075" cy="67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1}{44}=\frac{71}{2\times2\times11}&quot;&gt;&lt;mfrac&gt;&lt;mn&gt;71&lt;/mn&gt;&lt;mn&gt;44&lt;/mn&gt;&lt;/mfrac&gt;&lt;mo&gt;=&lt;/mo&gt;&lt;mfrac&gt;&lt;mn&gt;71&lt;/mn&gt;&lt;mrow&gt;&lt;mn&gt;2&lt;/mn&gt;&lt;mo&gt;×&lt;/mo&gt;&lt;mn&gt;2&lt;/mn&gt;&lt;mo&gt;×&lt;/mo&gt;&lt;mn&gt;11&lt;/mn&gt;&lt;/mrow&gt;&lt;/mfrac&gt;&lt;/math&gt;" id="1108" name="Google Shape;1108;p80" title="71 over 44 equals the fraction with numerator 71 and denominator 2 times 2 times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6425" y="2160000"/>
            <a:ext cx="2032782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80"/>
          <p:cNvSpPr txBox="1"/>
          <p:nvPr/>
        </p:nvSpPr>
        <p:spPr>
          <a:xfrm>
            <a:off x="324000" y="1144500"/>
            <a:ext cx="37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decimal.</a:t>
            </a:r>
            <a:endParaRPr b="1" sz="1800"/>
          </a:p>
        </p:txBody>
      </p:sp>
      <p:sp>
        <p:nvSpPr>
          <p:cNvPr id="1110" name="Google Shape;1110;p80"/>
          <p:cNvSpPr txBox="1"/>
          <p:nvPr/>
        </p:nvSpPr>
        <p:spPr>
          <a:xfrm>
            <a:off x="1982525" y="839700"/>
            <a:ext cx="243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equivalent to a</a:t>
            </a:r>
            <a:endParaRPr b="1" sz="1800"/>
          </a:p>
        </p:txBody>
      </p:sp>
      <p:sp>
        <p:nvSpPr>
          <p:cNvPr id="1111" name="Google Shape;1111;p80"/>
          <p:cNvSpPr txBox="1"/>
          <p:nvPr/>
        </p:nvSpPr>
        <p:spPr>
          <a:xfrm>
            <a:off x="4896000" y="839700"/>
            <a:ext cx="37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Identify if</a:t>
            </a:r>
            <a:endParaRPr b="1" sz="1800"/>
          </a:p>
        </p:txBody>
      </p:sp>
      <p:sp>
        <p:nvSpPr>
          <p:cNvPr id="1112" name="Google Shape;1112;p80"/>
          <p:cNvSpPr txBox="1"/>
          <p:nvPr/>
        </p:nvSpPr>
        <p:spPr>
          <a:xfrm>
            <a:off x="4896000" y="1144500"/>
            <a:ext cx="37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decimal.</a:t>
            </a:r>
            <a:endParaRPr b="1" sz="1800"/>
          </a:p>
        </p:txBody>
      </p:sp>
      <p:sp>
        <p:nvSpPr>
          <p:cNvPr id="1113" name="Google Shape;1113;p80"/>
          <p:cNvSpPr txBox="1"/>
          <p:nvPr/>
        </p:nvSpPr>
        <p:spPr>
          <a:xfrm>
            <a:off x="6554450" y="839700"/>
            <a:ext cx="243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equivalent to a</a:t>
            </a:r>
            <a:endParaRPr b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1"/>
          <p:cNvSpPr txBox="1"/>
          <p:nvPr>
            <p:ph idx="1" type="body"/>
          </p:nvPr>
        </p:nvSpPr>
        <p:spPr>
          <a:xfrm>
            <a:off x="324000" y="759300"/>
            <a:ext cx="84960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 says</a:t>
            </a:r>
            <a:endParaRPr/>
          </a:p>
        </p:txBody>
      </p:sp>
      <p:sp>
        <p:nvSpPr>
          <p:cNvPr id="1119" name="Google Shape;111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15}&quot;&gt;&lt;mfrac&gt;&lt;mn&gt;3&lt;/mn&gt;&lt;mn&gt;15&lt;/mn&gt;&lt;/mfrac&gt;&lt;/math&gt;" id="1120" name="Google Shape;1120;p81" title="3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2161" y="683100"/>
            <a:ext cx="245304" cy="44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5}&quot;&gt;&lt;mfrac&gt;&lt;mn&gt;3&lt;/mn&gt;&lt;mn&gt;15&lt;/mn&gt;&lt;/mfrac&gt;&lt;/math&gt;" id="1121" name="Google Shape;1121;p81" title="3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6251" y="1753218"/>
            <a:ext cx="33628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81"/>
          <p:cNvSpPr txBox="1"/>
          <p:nvPr/>
        </p:nvSpPr>
        <p:spPr>
          <a:xfrm>
            <a:off x="233975" y="3402600"/>
            <a:ext cx="778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She needs to simplify the fraction first.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sp>
        <p:nvSpPr>
          <p:cNvPr id="1123" name="Google Shape;1123;p81"/>
          <p:cNvSpPr txBox="1"/>
          <p:nvPr/>
        </p:nvSpPr>
        <p:spPr>
          <a:xfrm>
            <a:off x="4055132" y="3817025"/>
            <a:ext cx="47823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shows the fraction is    so it is equivalent to a 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terminating decimal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15}=\frac{3}{3\times5}=\frac{1}{5}&quot;&gt;&lt;mfrac&gt;&lt;mn&gt;3&lt;/mn&gt;&lt;mn&gt;15&lt;/mn&gt;&lt;/mfrac&gt;&lt;mo&gt;=&lt;/mo&gt;&lt;mfrac&gt;&lt;mn&gt;3&lt;/mn&gt;&lt;mrow&gt;&lt;mn&gt;3&lt;/mn&gt;&lt;mo&gt;×&lt;/mo&gt;&lt;mn&gt;5&lt;/mn&gt;&lt;/mrow&gt;&lt;/mfrac&gt;&lt;mo&gt;=&lt;/mo&gt;&lt;mfrac&gt;&lt;mn&gt;1&lt;/mn&gt;&lt;mn&gt;5&lt;/mn&gt;&lt;/mfrac&gt;&lt;/math&gt;" id="1124" name="Google Shape;1124;p81" title="3 over 15 equals the fraction with numerator 3 and denominator 3 times 5 equals one fifth"/>
          <p:cNvPicPr preferRelativeResize="0"/>
          <p:nvPr/>
        </p:nvPicPr>
        <p:blipFill rotWithShape="1">
          <a:blip r:embed="rId4">
            <a:alphaModFix/>
          </a:blip>
          <a:srcRect b="0" l="87609" r="-4249" t="0"/>
          <a:stretch/>
        </p:blipFill>
        <p:spPr>
          <a:xfrm>
            <a:off x="7230599" y="3772000"/>
            <a:ext cx="304725" cy="55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5}=\frac{3}{3\times5}=\frac{3}{3}\times\frac{1}{5}=\frac{1}{5}&quot;&gt;&lt;mfrac&gt;&lt;mn&gt;3&lt;/mn&gt;&lt;mn&gt;15&lt;/mn&gt;&lt;/mfrac&gt;&lt;mo&gt;=&lt;/mo&gt;&lt;mfrac&gt;&lt;mn&gt;3&lt;/mn&gt;&lt;mrow&gt;&lt;mn&gt;3&lt;/mn&gt;&lt;mo&gt;×&lt;/mo&gt;&lt;mn&gt;5&lt;/mn&gt;&lt;/mrow&gt;&lt;/mfrac&gt;&lt;mo&gt;=&lt;/mo&gt;&lt;mfrac&gt;&lt;mn&gt;3&lt;/mn&gt;&lt;mn&gt;3&lt;/mn&gt;&lt;/mfrac&gt;&lt;mo&gt;×&lt;/mo&gt;&lt;mfrac&gt;&lt;mn&gt;1&lt;/mn&gt;&lt;mn&gt;5&lt;/mn&gt;&lt;/mfrac&gt;&lt;mo&gt;=&lt;/mo&gt;&lt;mfrac&gt;&lt;mn&gt;1&lt;/mn&gt;&lt;mn&gt;5&lt;/mn&gt;&lt;/mfrac&gt;&lt;/math&gt;" id="1125" name="Google Shape;1125;p81" title="3 over 15 equals the fraction with numerator 3 and denominator 3 times 5 equals three thirds times one fifth equals 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925800"/>
            <a:ext cx="3531794" cy="676513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81"/>
          <p:cNvSpPr txBox="1"/>
          <p:nvPr>
            <p:ph idx="1" type="body"/>
          </p:nvPr>
        </p:nvSpPr>
        <p:spPr>
          <a:xfrm>
            <a:off x="324000" y="1826100"/>
            <a:ext cx="8496000" cy="6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</a:t>
            </a:r>
            <a:endParaRPr/>
          </a:p>
        </p:txBody>
      </p:sp>
      <p:sp>
        <p:nvSpPr>
          <p:cNvPr id="1127" name="Google Shape;1127;p81"/>
          <p:cNvSpPr txBox="1"/>
          <p:nvPr>
            <p:ph idx="1" type="body"/>
          </p:nvPr>
        </p:nvSpPr>
        <p:spPr>
          <a:xfrm>
            <a:off x="324000" y="2740500"/>
            <a:ext cx="84960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Explain what Laura needs to do first before deciding if the fraction is </a:t>
            </a:r>
            <a:r>
              <a:rPr b="1" lang="en-GB"/>
              <a:t>terminating</a:t>
            </a:r>
            <a:r>
              <a:rPr lang="en-GB"/>
              <a:t>.</a:t>
            </a:r>
            <a:endParaRPr/>
          </a:p>
        </p:txBody>
      </p:sp>
      <p:sp>
        <p:nvSpPr>
          <p:cNvPr id="1128" name="Google Shape;1128;p81"/>
          <p:cNvSpPr txBox="1"/>
          <p:nvPr>
            <p:ph idx="1" type="body"/>
          </p:nvPr>
        </p:nvSpPr>
        <p:spPr>
          <a:xfrm>
            <a:off x="324000" y="1064100"/>
            <a:ext cx="8496000" cy="55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 has 3 as a prime factor.</a:t>
            </a:r>
            <a:endParaRPr/>
          </a:p>
        </p:txBody>
      </p:sp>
      <p:sp>
        <p:nvSpPr>
          <p:cNvPr id="1129" name="Google Shape;1129;p81"/>
          <p:cNvSpPr txBox="1"/>
          <p:nvPr>
            <p:ph idx="1" type="body"/>
          </p:nvPr>
        </p:nvSpPr>
        <p:spPr>
          <a:xfrm>
            <a:off x="2430475" y="759300"/>
            <a:ext cx="8447100" cy="9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not </a:t>
            </a:r>
            <a:r>
              <a:rPr b="1" lang="en-GB"/>
              <a:t>terminating</a:t>
            </a:r>
            <a:r>
              <a:rPr lang="en-GB"/>
              <a:t> because the denominator of</a:t>
            </a:r>
            <a:endParaRPr/>
          </a:p>
        </p:txBody>
      </p:sp>
      <p:sp>
        <p:nvSpPr>
          <p:cNvPr id="1130" name="Google Shape;1130;p81"/>
          <p:cNvSpPr txBox="1"/>
          <p:nvPr>
            <p:ph idx="1" type="body"/>
          </p:nvPr>
        </p:nvSpPr>
        <p:spPr>
          <a:xfrm>
            <a:off x="2132100" y="1826100"/>
            <a:ext cx="6840600" cy="6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a </a:t>
            </a:r>
            <a:r>
              <a:rPr b="1" lang="en-GB"/>
              <a:t>terminating decimal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2"/>
          <p:cNvSpPr txBox="1"/>
          <p:nvPr>
            <p:ph idx="1" type="body"/>
          </p:nvPr>
        </p:nvSpPr>
        <p:spPr>
          <a:xfrm>
            <a:off x="324000" y="759300"/>
            <a:ext cx="8237700" cy="9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</a:t>
            </a:r>
            <a:r>
              <a:rPr lang="en-GB"/>
              <a:t> if the following fractions are </a:t>
            </a:r>
            <a:r>
              <a:rPr lang="en-GB"/>
              <a:t>equivalent</a:t>
            </a:r>
            <a:r>
              <a:rPr lang="en-GB"/>
              <a:t> to </a:t>
            </a:r>
            <a:r>
              <a:rPr b="1" lang="en-GB"/>
              <a:t>terminating</a:t>
            </a:r>
            <a:r>
              <a:rPr lang="en-GB"/>
              <a:t> or </a:t>
            </a:r>
            <a:r>
              <a:rPr lang="en-GB"/>
              <a:t>non-</a:t>
            </a:r>
            <a:r>
              <a:rPr b="1" lang="en-GB"/>
              <a:t>terminating decimals</a:t>
            </a:r>
            <a:r>
              <a:rPr lang="en-GB"/>
              <a:t>.</a:t>
            </a:r>
            <a:endParaRPr/>
          </a:p>
        </p:txBody>
      </p:sp>
      <p:sp>
        <p:nvSpPr>
          <p:cNvPr id="1136" name="Google Shape;1136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7}{60}=\frac{17}{2\times2\times5\times3}\\&amp;#13;&amp;#10;\frac{1}{64}=\frac{1}{2\times2\times2\times2\times2\times2}\\&amp;#13;&amp;#10;\frac{23}{88}=\frac{23}{2\times2\times2\times11}\end{array}&quot;&gt;&lt;mtable columnalign=&quot;left&quot; columnspacing=&quot;1em&quot; rowspacing=&quot;4pt&quot;&gt;&lt;mtr&gt;&lt;mtd&gt;&lt;mfrac&gt;&lt;mn&gt;17&lt;/mn&gt;&lt;mn&gt;60&lt;/mn&gt;&lt;/mfrac&gt;&lt;mo&gt;=&lt;/mo&gt;&lt;mfrac&gt;&lt;mn&gt;17&lt;/mn&gt;&lt;mrow&gt;&lt;mn&gt;2&lt;/mn&gt;&lt;mo&gt;×&lt;/mo&gt;&lt;mn&gt;2&lt;/mn&gt;&lt;mo&gt;×&lt;/mo&gt;&lt;mn&gt;5&lt;/mn&gt;&lt;mo&gt;×&lt;/mo&gt;&lt;mn&gt;3&lt;/mn&gt;&lt;/mrow&gt;&lt;/mfrac&gt;&lt;/mtd&gt;&lt;/mtr&gt;&lt;mtr&gt;&lt;mtd&gt;&lt;mfrac&gt;&lt;mn&gt;1&lt;/mn&gt;&lt;mn&gt;64&lt;/mn&gt;&lt;/mfrac&gt;&lt;mo&gt;=&lt;/mo&gt;&lt;mfrac&gt;&lt;mn&gt;1&lt;/mn&gt;&lt;mrow&gt;&lt;mn&gt;2&lt;/mn&gt;&lt;mo&gt;×&lt;/mo&gt;&lt;mn&gt;2&lt;/mn&gt;&lt;mo&gt;×&lt;/mo&gt;&lt;mn&gt;2&lt;/mn&gt;&lt;mo&gt;×&lt;/mo&gt;&lt;mn&gt;2&lt;/mn&gt;&lt;mo&gt;×&lt;/mo&gt;&lt;mn&gt;2&lt;/mn&gt;&lt;mo&gt;×&lt;/mo&gt;&lt;mn&gt;2&lt;/mn&gt;&lt;/mrow&gt;&lt;/mfrac&gt;&lt;/mtd&gt;&lt;/mtr&gt;&lt;mtr&gt;&lt;mtd&gt;&lt;mfrac&gt;&lt;mn&gt;23&lt;/mn&gt;&lt;mn&gt;88&lt;/mn&gt;&lt;/mfrac&gt;&lt;mo&gt;=&lt;/mo&gt;&lt;mfrac&gt;&lt;mn&gt;23&lt;/mn&gt;&lt;mrow&gt;&lt;mn&gt;2&lt;/mn&gt;&lt;mo&gt;×&lt;/mo&gt;&lt;mn&gt;2&lt;/mn&gt;&lt;mo&gt;×&lt;/mo&gt;&lt;mn&gt;2&lt;/mn&gt;&lt;mo&gt;×&lt;/mo&gt;&lt;mn&gt;11&lt;/mn&gt;&lt;/mrow&gt;&lt;/mfrac&gt;&lt;/mtd&gt;&lt;/mtr&gt;&lt;/mtable&gt;&lt;/math&gt;" id="1137" name="Google Shape;1137;p82" title="3 lines Line 1: 17 over 60 equals the fraction with numerator 17 and denominator 2 times 2 times 5 times 3 Line 2: 1 over 64 equals the fraction with numerator 1 and denominator 2 times 2 times 2 times 2 times 2 times 2 Line 3: 23 over 88 equals the fraction with numerator 23 and denominator 2 times 2 times 2 times 11"/>
          <p:cNvPicPr preferRelativeResize="0"/>
          <p:nvPr/>
        </p:nvPicPr>
        <p:blipFill rotWithShape="1">
          <a:blip r:embed="rId3">
            <a:alphaModFix/>
          </a:blip>
          <a:srcRect b="0" l="0" r="83496" t="0"/>
          <a:stretch/>
        </p:blipFill>
        <p:spPr>
          <a:xfrm>
            <a:off x="874300" y="1838400"/>
            <a:ext cx="621250" cy="272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82"/>
          <p:cNvSpPr txBox="1"/>
          <p:nvPr/>
        </p:nvSpPr>
        <p:spPr>
          <a:xfrm>
            <a:off x="171600" y="1898400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sp>
        <p:nvSpPr>
          <p:cNvPr id="1139" name="Google Shape;1139;p82"/>
          <p:cNvSpPr txBox="1"/>
          <p:nvPr/>
        </p:nvSpPr>
        <p:spPr>
          <a:xfrm>
            <a:off x="171600" y="2937863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/>
          </a:p>
        </p:txBody>
      </p:sp>
      <p:sp>
        <p:nvSpPr>
          <p:cNvPr id="1140" name="Google Shape;1140;p82"/>
          <p:cNvSpPr txBox="1"/>
          <p:nvPr/>
        </p:nvSpPr>
        <p:spPr>
          <a:xfrm>
            <a:off x="171600" y="3866150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7}{60}=\frac{17}{2\times2\times5\times3}\\&amp;#13;&amp;#10;\frac{1}{64}=\frac{1}{2\times2\times2\times2\times2\times2}\\&amp;#13;&amp;#10;\frac{23}{88}=\frac{23}{2\times2\times2\times11}\end{array}&quot;&gt;&lt;mtable columnalign=&quot;left&quot; columnspacing=&quot;1em&quot; rowspacing=&quot;4pt&quot;&gt;&lt;mtr&gt;&lt;mtd&gt;&lt;mfrac&gt;&lt;mn&gt;17&lt;/mn&gt;&lt;mn&gt;60&lt;/mn&gt;&lt;/mfrac&gt;&lt;mo&gt;=&lt;/mo&gt;&lt;mfrac&gt;&lt;mn&gt;17&lt;/mn&gt;&lt;mrow&gt;&lt;mn&gt;2&lt;/mn&gt;&lt;mo&gt;×&lt;/mo&gt;&lt;mn&gt;2&lt;/mn&gt;&lt;mo&gt;×&lt;/mo&gt;&lt;mn&gt;5&lt;/mn&gt;&lt;mo&gt;×&lt;/mo&gt;&lt;mn&gt;3&lt;/mn&gt;&lt;/mrow&gt;&lt;/mfrac&gt;&lt;/mtd&gt;&lt;/mtr&gt;&lt;mtr&gt;&lt;mtd&gt;&lt;mfrac&gt;&lt;mn&gt;1&lt;/mn&gt;&lt;mn&gt;64&lt;/mn&gt;&lt;/mfrac&gt;&lt;mo&gt;=&lt;/mo&gt;&lt;mfrac&gt;&lt;mn&gt;1&lt;/mn&gt;&lt;mrow&gt;&lt;mn&gt;2&lt;/mn&gt;&lt;mo&gt;×&lt;/mo&gt;&lt;mn&gt;2&lt;/mn&gt;&lt;mo&gt;×&lt;/mo&gt;&lt;mn&gt;2&lt;/mn&gt;&lt;mo&gt;×&lt;/mo&gt;&lt;mn&gt;2&lt;/mn&gt;&lt;mo&gt;×&lt;/mo&gt;&lt;mn&gt;2&lt;/mn&gt;&lt;mo&gt;×&lt;/mo&gt;&lt;mn&gt;2&lt;/mn&gt;&lt;/mrow&gt;&lt;/mfrac&gt;&lt;/mtd&gt;&lt;/mtr&gt;&lt;mtr&gt;&lt;mtd&gt;&lt;mfrac&gt;&lt;mn&gt;23&lt;/mn&gt;&lt;mn&gt;88&lt;/mn&gt;&lt;/mfrac&gt;&lt;mo&gt;=&lt;/mo&gt;&lt;mfrac&gt;&lt;mn&gt;23&lt;/mn&gt;&lt;mrow&gt;&lt;mn&gt;2&lt;/mn&gt;&lt;mo&gt;×&lt;/mo&gt;&lt;mn&gt;2&lt;/mn&gt;&lt;mo&gt;×&lt;/mo&gt;&lt;mn&gt;2&lt;/mn&gt;&lt;mo&gt;×&lt;/mo&gt;&lt;mn&gt;11&lt;/mn&gt;&lt;/mrow&gt;&lt;/mfrac&gt;&lt;/mtd&gt;&lt;/mtr&gt;&lt;/mtable&gt;&lt;/math&gt;" id="1141" name="Google Shape;1141;p82" title="3 lines Line 1: 17 over 60 equals the fraction with numerator 17 and denominator 2 times 2 times 5 times 3 Line 2: 1 over 64 equals the fraction with numerator 1 and denominator 2 times 2 times 2 times 2 times 2 times 2 Line 3: 23 over 88 equals the fraction with numerator 23 and denominator 2 times 2 times 2 times 11"/>
          <p:cNvPicPr preferRelativeResize="0"/>
          <p:nvPr/>
        </p:nvPicPr>
        <p:blipFill rotWithShape="1">
          <a:blip r:embed="rId3">
            <a:alphaModFix/>
          </a:blip>
          <a:srcRect b="69837" l="15207" r="-4925" t="0"/>
          <a:stretch/>
        </p:blipFill>
        <p:spPr>
          <a:xfrm>
            <a:off x="1495550" y="1726541"/>
            <a:ext cx="3377426" cy="82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7}{60}=\frac{17}{2\times2\times5\times3}\\&amp;#13;&amp;#10;\frac{1}{64}=\frac{1}{2\times2\times2\times2\times2\times2}\\&amp;#13;&amp;#10;\frac{23}{88}=\frac{23}{2\times2\times2\times11}\end{array}&quot;&gt;&lt;mtable columnalign=&quot;left&quot; columnspacing=&quot;1em&quot; rowspacing=&quot;4pt&quot;&gt;&lt;mtr&gt;&lt;mtd&gt;&lt;mfrac&gt;&lt;mn&gt;17&lt;/mn&gt;&lt;mn&gt;60&lt;/mn&gt;&lt;/mfrac&gt;&lt;mo&gt;=&lt;/mo&gt;&lt;mfrac&gt;&lt;mn&gt;17&lt;/mn&gt;&lt;mrow&gt;&lt;mn&gt;2&lt;/mn&gt;&lt;mo&gt;×&lt;/mo&gt;&lt;mn&gt;2&lt;/mn&gt;&lt;mo&gt;×&lt;/mo&gt;&lt;mn&gt;5&lt;/mn&gt;&lt;mo&gt;×&lt;/mo&gt;&lt;mn&gt;3&lt;/mn&gt;&lt;/mrow&gt;&lt;/mfrac&gt;&lt;/mtd&gt;&lt;/mtr&gt;&lt;mtr&gt;&lt;mtd&gt;&lt;mfrac&gt;&lt;mn&gt;1&lt;/mn&gt;&lt;mn&gt;64&lt;/mn&gt;&lt;/mfrac&gt;&lt;mo&gt;=&lt;/mo&gt;&lt;mfrac&gt;&lt;mn&gt;1&lt;/mn&gt;&lt;mrow&gt;&lt;mn&gt;2&lt;/mn&gt;&lt;mo&gt;×&lt;/mo&gt;&lt;mn&gt;2&lt;/mn&gt;&lt;mo&gt;×&lt;/mo&gt;&lt;mn&gt;2&lt;/mn&gt;&lt;mo&gt;×&lt;/mo&gt;&lt;mn&gt;2&lt;/mn&gt;&lt;mo&gt;×&lt;/mo&gt;&lt;mn&gt;2&lt;/mn&gt;&lt;mo&gt;×&lt;/mo&gt;&lt;mn&gt;2&lt;/mn&gt;&lt;/mrow&gt;&lt;/mfrac&gt;&lt;/mtd&gt;&lt;/mtr&gt;&lt;mtr&gt;&lt;mtd&gt;&lt;mfrac&gt;&lt;mn&gt;23&lt;/mn&gt;&lt;mn&gt;88&lt;/mn&gt;&lt;/mfrac&gt;&lt;mo&gt;=&lt;/mo&gt;&lt;mfrac&gt;&lt;mn&gt;23&lt;/mn&gt;&lt;mrow&gt;&lt;mn&gt;2&lt;/mn&gt;&lt;mo&gt;×&lt;/mo&gt;&lt;mn&gt;2&lt;/mn&gt;&lt;mo&gt;×&lt;/mo&gt;&lt;mn&gt;2&lt;/mn&gt;&lt;mo&gt;×&lt;/mo&gt;&lt;mn&gt;11&lt;/mn&gt;&lt;/mrow&gt;&lt;/mfrac&gt;&lt;/mtd&gt;&lt;/mtr&gt;&lt;/mtable&gt;&lt;/math&gt;" id="1142" name="Google Shape;1142;p82" title="3 lines Line 1: 17 over 60 equals the fraction with numerator 17 and denominator 2 times 2 times 5 times 3 Line 2: 1 over 64 equals the fraction with numerator 1 and denominator 2 times 2 times 2 times 2 times 2 times 2 Line 3: 23 over 88 equals the fraction with numerator 23 and denominator 2 times 2 times 2 times 11"/>
          <p:cNvPicPr preferRelativeResize="0"/>
          <p:nvPr/>
        </p:nvPicPr>
        <p:blipFill rotWithShape="1">
          <a:blip r:embed="rId3">
            <a:alphaModFix/>
          </a:blip>
          <a:srcRect b="34918" l="18275" r="-7993" t="34918"/>
          <a:stretch/>
        </p:blipFill>
        <p:spPr>
          <a:xfrm>
            <a:off x="1547114" y="2709266"/>
            <a:ext cx="3377426" cy="82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7}{60}=\frac{17}{2\times2\times5\times3}\\&amp;#13;&amp;#10;\frac{1}{64}=\frac{1}{2\times2\times2\times2\times2\times2}\\&amp;#13;&amp;#10;\frac{23}{88}=\frac{23}{2\times2\times2\times11}\end{array}&quot;&gt;&lt;mtable columnalign=&quot;left&quot; columnspacing=&quot;1em&quot; rowspacing=&quot;4pt&quot;&gt;&lt;mtr&gt;&lt;mtd&gt;&lt;mfrac&gt;&lt;mn&gt;17&lt;/mn&gt;&lt;mn&gt;60&lt;/mn&gt;&lt;/mfrac&gt;&lt;mo&gt;=&lt;/mo&gt;&lt;mfrac&gt;&lt;mn&gt;17&lt;/mn&gt;&lt;mrow&gt;&lt;mn&gt;2&lt;/mn&gt;&lt;mo&gt;×&lt;/mo&gt;&lt;mn&gt;2&lt;/mn&gt;&lt;mo&gt;×&lt;/mo&gt;&lt;mn&gt;5&lt;/mn&gt;&lt;mo&gt;×&lt;/mo&gt;&lt;mn&gt;3&lt;/mn&gt;&lt;/mrow&gt;&lt;/mfrac&gt;&lt;/mtd&gt;&lt;/mtr&gt;&lt;mtr&gt;&lt;mtd&gt;&lt;mfrac&gt;&lt;mn&gt;1&lt;/mn&gt;&lt;mn&gt;64&lt;/mn&gt;&lt;/mfrac&gt;&lt;mo&gt;=&lt;/mo&gt;&lt;mfrac&gt;&lt;mn&gt;1&lt;/mn&gt;&lt;mrow&gt;&lt;mn&gt;2&lt;/mn&gt;&lt;mo&gt;×&lt;/mo&gt;&lt;mn&gt;2&lt;/mn&gt;&lt;mo&gt;×&lt;/mo&gt;&lt;mn&gt;2&lt;/mn&gt;&lt;mo&gt;×&lt;/mo&gt;&lt;mn&gt;2&lt;/mn&gt;&lt;mo&gt;×&lt;/mo&gt;&lt;mn&gt;2&lt;/mn&gt;&lt;mo&gt;×&lt;/mo&gt;&lt;mn&gt;2&lt;/mn&gt;&lt;/mrow&gt;&lt;/mfrac&gt;&lt;/mtd&gt;&lt;/mtr&gt;&lt;mtr&gt;&lt;mtd&gt;&lt;mfrac&gt;&lt;mn&gt;23&lt;/mn&gt;&lt;mn&gt;88&lt;/mn&gt;&lt;/mfrac&gt;&lt;mo&gt;=&lt;/mo&gt;&lt;mfrac&gt;&lt;mn&gt;23&lt;/mn&gt;&lt;mrow&gt;&lt;mn&gt;2&lt;/mn&gt;&lt;mo&gt;×&lt;/mo&gt;&lt;mn&gt;2&lt;/mn&gt;&lt;mo&gt;×&lt;/mo&gt;&lt;mn&gt;2&lt;/mn&gt;&lt;mo&gt;×&lt;/mo&gt;&lt;mn&gt;11&lt;/mn&gt;&lt;/mrow&gt;&lt;/mfrac&gt;&lt;/mtd&gt;&lt;/mtr&gt;&lt;/mtable&gt;&lt;/math&gt;" id="1143" name="Google Shape;1143;p82" title="3 lines Line 1: 17 over 60 equals the fraction with numerator 17 and denominator 2 times 2 times 5 times 3 Line 2: 1 over 64 equals the fraction with numerator 1 and denominator 2 times 2 times 2 times 2 times 2 times 2 Line 3: 23 over 88 equals the fraction with numerator 23 and denominator 2 times 2 times 2 times 11"/>
          <p:cNvPicPr preferRelativeResize="0"/>
          <p:nvPr/>
        </p:nvPicPr>
        <p:blipFill rotWithShape="1">
          <a:blip r:embed="rId3">
            <a:alphaModFix/>
          </a:blip>
          <a:srcRect b="-1915" l="18275" r="-7993" t="71753"/>
          <a:stretch/>
        </p:blipFill>
        <p:spPr>
          <a:xfrm>
            <a:off x="1571750" y="3757066"/>
            <a:ext cx="3377426" cy="8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2983" y="303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3"/>
          <p:cNvSpPr txBox="1"/>
          <p:nvPr>
            <p:ph idx="4294967295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Without a calculator, calculate the decimal value of the following fractions:</a:t>
            </a:r>
            <a:endParaRPr/>
          </a:p>
        </p:txBody>
      </p:sp>
      <p:sp>
        <p:nvSpPr>
          <p:cNvPr id="1150" name="Google Shape;1150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151" name="Google Shape;1151;p83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21579" l="0" r="0" t="51153"/>
          <a:stretch/>
        </p:blipFill>
        <p:spPr>
          <a:xfrm>
            <a:off x="986875" y="3909850"/>
            <a:ext cx="583159" cy="8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83"/>
          <p:cNvSpPr txBox="1"/>
          <p:nvPr/>
        </p:nvSpPr>
        <p:spPr>
          <a:xfrm>
            <a:off x="390725" y="1705050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/>
          </a:p>
        </p:txBody>
      </p:sp>
      <p:sp>
        <p:nvSpPr>
          <p:cNvPr id="1153" name="Google Shape;1153;p83"/>
          <p:cNvSpPr txBox="1"/>
          <p:nvPr/>
        </p:nvSpPr>
        <p:spPr>
          <a:xfrm>
            <a:off x="390725" y="2811400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/>
          </a:p>
        </p:txBody>
      </p:sp>
      <p:sp>
        <p:nvSpPr>
          <p:cNvPr id="1154" name="Google Shape;1154;p83"/>
          <p:cNvSpPr txBox="1"/>
          <p:nvPr/>
        </p:nvSpPr>
        <p:spPr>
          <a:xfrm>
            <a:off x="324000" y="3909850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/>
          </a:p>
        </p:txBody>
      </p:sp>
      <p:sp>
        <p:nvSpPr>
          <p:cNvPr id="1155" name="Google Shape;1155;p83"/>
          <p:cNvSpPr txBox="1"/>
          <p:nvPr/>
        </p:nvSpPr>
        <p:spPr>
          <a:xfrm>
            <a:off x="4877425" y="1641925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156" name="Google Shape;1156;p83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49427" l="0" r="0" t="21497"/>
          <a:stretch/>
        </p:blipFill>
        <p:spPr>
          <a:xfrm>
            <a:off x="1079175" y="2757270"/>
            <a:ext cx="546902" cy="893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157" name="Google Shape;1157;p83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0" l="0" r="0" t="76867"/>
          <a:stretch/>
        </p:blipFill>
        <p:spPr>
          <a:xfrm>
            <a:off x="5556950" y="1655838"/>
            <a:ext cx="596728" cy="77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83"/>
          <p:cNvSpPr txBox="1"/>
          <p:nvPr/>
        </p:nvSpPr>
        <p:spPr>
          <a:xfrm>
            <a:off x="4824000" y="2861175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/>
          </a:p>
        </p:txBody>
      </p:sp>
      <p:sp>
        <p:nvSpPr>
          <p:cNvPr id="1159" name="Google Shape;1159;p83"/>
          <p:cNvSpPr txBox="1"/>
          <p:nvPr/>
        </p:nvSpPr>
        <p:spPr>
          <a:xfrm>
            <a:off x="4776475" y="4013750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160" name="Google Shape;1160;p83" title="7 over 20 0.35 627 over 50 12.54 3 over 16 0.1875"/>
          <p:cNvPicPr preferRelativeResize="0"/>
          <p:nvPr/>
        </p:nvPicPr>
        <p:blipFill rotWithShape="1">
          <a:blip r:embed="rId4">
            <a:alphaModFix/>
          </a:blip>
          <a:srcRect b="0" l="0" r="91564" t="0"/>
          <a:stretch/>
        </p:blipFill>
        <p:spPr>
          <a:xfrm>
            <a:off x="1079175" y="1710050"/>
            <a:ext cx="392776" cy="65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161" name="Google Shape;1161;p83" title="7 over 20 0.35 627 over 50 12.54 3 over 16 0.1875"/>
          <p:cNvPicPr preferRelativeResize="0"/>
          <p:nvPr/>
        </p:nvPicPr>
        <p:blipFill rotWithShape="1">
          <a:blip r:embed="rId4">
            <a:alphaModFix/>
          </a:blip>
          <a:srcRect b="-7233" l="32967" r="54509" t="-11928"/>
          <a:stretch/>
        </p:blipFill>
        <p:spPr>
          <a:xfrm>
            <a:off x="5563738" y="2837975"/>
            <a:ext cx="583151" cy="7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162" name="Google Shape;1162;p83" title="7 over 20 0.35 627 over 50 12.54 3 over 16 0.1875"/>
          <p:cNvPicPr preferRelativeResize="0"/>
          <p:nvPr/>
        </p:nvPicPr>
        <p:blipFill rotWithShape="1">
          <a:blip r:embed="rId4">
            <a:alphaModFix/>
          </a:blip>
          <a:srcRect b="-15324" l="68650" r="18825" t="-3836"/>
          <a:stretch/>
        </p:blipFill>
        <p:spPr>
          <a:xfrm>
            <a:off x="5563725" y="3969575"/>
            <a:ext cx="583151" cy="77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4"/>
          <p:cNvSpPr txBox="1"/>
          <p:nvPr>
            <p:ph idx="4294967295" type="body"/>
          </p:nvPr>
        </p:nvSpPr>
        <p:spPr>
          <a:xfrm>
            <a:off x="325925" y="1267450"/>
            <a:ext cx="1662900" cy="4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Lucas says </a:t>
            </a:r>
            <a:endParaRPr/>
          </a:p>
        </p:txBody>
      </p:sp>
      <p:pic>
        <p:nvPicPr>
          <p:cNvPr id="1168" name="Google Shape;116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650" y="1944450"/>
            <a:ext cx="1346180" cy="15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84"/>
          <p:cNvSpPr txBox="1"/>
          <p:nvPr/>
        </p:nvSpPr>
        <p:spPr>
          <a:xfrm>
            <a:off x="324000" y="3637550"/>
            <a:ext cx="845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/>
          </a:p>
        </p:txBody>
      </p:sp>
      <p:sp>
        <p:nvSpPr>
          <p:cNvPr id="1170" name="Google Shape;1170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71" name="Google Shape;117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3000" y="689700"/>
            <a:ext cx="6855301" cy="27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84"/>
          <p:cNvSpPr txBox="1"/>
          <p:nvPr/>
        </p:nvSpPr>
        <p:spPr>
          <a:xfrm>
            <a:off x="2682375" y="825775"/>
            <a:ext cx="639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not equivalent to a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1173" name="Google Shape;1173;p84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5">
            <a:alphaModFix/>
          </a:blip>
          <a:srcRect b="0" l="0" r="58879" t="0"/>
          <a:stretch/>
        </p:blipFill>
        <p:spPr>
          <a:xfrm>
            <a:off x="3427671" y="1427500"/>
            <a:ext cx="3201650" cy="7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1174" name="Google Shape;1174;p84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5">
            <a:alphaModFix/>
          </a:blip>
          <a:srcRect b="0" l="0" r="91985" t="0"/>
          <a:stretch/>
        </p:blipFill>
        <p:spPr>
          <a:xfrm>
            <a:off x="2236674" y="773256"/>
            <a:ext cx="4457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1175" name="Google Shape;1175;p84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5">
            <a:alphaModFix/>
          </a:blip>
          <a:srcRect b="0" l="0" r="91985" t="0"/>
          <a:stretch/>
        </p:blipFill>
        <p:spPr>
          <a:xfrm>
            <a:off x="2492602" y="3599458"/>
            <a:ext cx="445700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84"/>
          <p:cNvSpPr txBox="1"/>
          <p:nvPr/>
        </p:nvSpPr>
        <p:spPr>
          <a:xfrm>
            <a:off x="3008325" y="3637550"/>
            <a:ext cx="60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equivalent to a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sp>
        <p:nvSpPr>
          <p:cNvPr id="1177" name="Google Shape;1177;p84"/>
          <p:cNvSpPr txBox="1"/>
          <p:nvPr/>
        </p:nvSpPr>
        <p:spPr>
          <a:xfrm>
            <a:off x="2297100" y="2197375"/>
            <a:ext cx="64848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prime factors of the denominator are 2, 3 and 11.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4"/>
          <p:cNvSpPr txBox="1"/>
          <p:nvPr/>
        </p:nvSpPr>
        <p:spPr>
          <a:xfrm>
            <a:off x="703275" y="3637550"/>
            <a:ext cx="185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Explain why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85"/>
          <p:cNvSpPr txBox="1"/>
          <p:nvPr/>
        </p:nvSpPr>
        <p:spPr>
          <a:xfrm>
            <a:off x="325650" y="758425"/>
            <a:ext cx="8371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3) Jacob has discovered all these denominators will give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terminating decimal.</a:t>
            </a:r>
            <a:endParaRPr b="1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5"/>
          <p:cNvSpPr txBox="1"/>
          <p:nvPr/>
        </p:nvSpPr>
        <p:spPr>
          <a:xfrm>
            <a:off x="325650" y="1672825"/>
            <a:ext cx="8155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5"/>
          <p:cNvSpPr txBox="1"/>
          <p:nvPr/>
        </p:nvSpPr>
        <p:spPr>
          <a:xfrm>
            <a:off x="287750" y="2358625"/>
            <a:ext cx="421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explain why?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186" name="Google Shape;1186;p85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0" r="93903" t="0"/>
          <a:stretch/>
        </p:blipFill>
        <p:spPr>
          <a:xfrm>
            <a:off x="729950" y="1570462"/>
            <a:ext cx="434574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187" name="Google Shape;1187;p85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6097" r="79924" t="0"/>
          <a:stretch/>
        </p:blipFill>
        <p:spPr>
          <a:xfrm>
            <a:off x="1164525" y="1570462"/>
            <a:ext cx="996351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188" name="Google Shape;1188;p85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19591" r="68461" t="0"/>
          <a:stretch/>
        </p:blipFill>
        <p:spPr>
          <a:xfrm>
            <a:off x="2118301" y="1570462"/>
            <a:ext cx="851574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189" name="Google Shape;1189;p85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31538" r="54603" t="0"/>
          <a:stretch/>
        </p:blipFill>
        <p:spPr>
          <a:xfrm>
            <a:off x="2969874" y="1570462"/>
            <a:ext cx="987825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190" name="Google Shape;1190;p85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45295" r="41802" t="0"/>
          <a:stretch/>
        </p:blipFill>
        <p:spPr>
          <a:xfrm>
            <a:off x="3957699" y="1570462"/>
            <a:ext cx="919701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191" name="Google Shape;1191;p85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60197" r="26900" t="0"/>
          <a:stretch/>
        </p:blipFill>
        <p:spPr>
          <a:xfrm>
            <a:off x="5019901" y="1570462"/>
            <a:ext cx="919701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192" name="Google Shape;1192;p85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73729" r="12412" t="0"/>
          <a:stretch/>
        </p:blipFill>
        <p:spPr>
          <a:xfrm>
            <a:off x="5984449" y="1570462"/>
            <a:ext cx="987825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193" name="Google Shape;1193;p85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87110" r="-2760" t="0"/>
          <a:stretch/>
        </p:blipFill>
        <p:spPr>
          <a:xfrm>
            <a:off x="7014401" y="1570462"/>
            <a:ext cx="1115550" cy="72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86"/>
          <p:cNvSpPr txBox="1"/>
          <p:nvPr>
            <p:ph idx="1" type="body"/>
          </p:nvPr>
        </p:nvSpPr>
        <p:spPr>
          <a:xfrm>
            <a:off x="324000" y="759300"/>
            <a:ext cx="82377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 Circle all the</a:t>
            </a:r>
            <a:r>
              <a:rPr b="1" lang="en-GB"/>
              <a:t> terminating decimals</a:t>
            </a:r>
            <a:r>
              <a:rPr lang="en-GB"/>
              <a:t>.</a:t>
            </a:r>
            <a:endParaRPr/>
          </a:p>
        </p:txBody>
      </p:sp>
      <p:sp>
        <p:nvSpPr>
          <p:cNvPr id="1200" name="Google Shape;1200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201" name="Google Shape;1201;p86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700" y="1560575"/>
            <a:ext cx="270786" cy="89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&quot;&gt;&lt;mfrac&gt;&lt;mn&gt;6&lt;/mn&gt;&lt;mn&gt;7&lt;/mn&gt;&lt;/mfrac&gt;&lt;/math&gt;" id="1202" name="Google Shape;1202;p86" title="six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8468" y="3020450"/>
            <a:ext cx="270786" cy="88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1203" name="Google Shape;1203;p86" title="three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9975" y="1620000"/>
            <a:ext cx="270775" cy="862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5}&quot;&gt;&lt;mfrac&gt;&lt;mn&gt;4&lt;/mn&gt;&lt;mn&gt;15&lt;/mn&gt;&lt;/mfrac&gt;&lt;/math&gt;" id="1204" name="Google Shape;1204;p86" title="4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7861" y="1470325"/>
            <a:ext cx="483547" cy="87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5}&quot;&gt;&lt;mfrac&gt;&lt;mn&gt;12&lt;/mn&gt;&lt;mn&gt;15&lt;/mn&gt;&lt;/mfrac&gt;&lt;/math&gt;" id="1205" name="Google Shape;1205;p86" title="12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99803" y="1525237"/>
            <a:ext cx="490000" cy="893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40}&quot;&gt;&lt;mfrac&gt;&lt;mn&gt;7&lt;/mn&gt;&lt;mn&gt;440&lt;/mn&gt;&lt;/mfrac&gt;&lt;/math&gt;" id="1206" name="Google Shape;1206;p86" title="7 over 4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90791" y="1753838"/>
            <a:ext cx="702755" cy="89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33}&quot;&gt;&lt;mfrac&gt;&lt;mn&gt;11&lt;/mn&gt;&lt;mn&gt;33&lt;/mn&gt;&lt;/mfrac&gt;&lt;/math&gt;" id="1207" name="Google Shape;1207;p86" title="11 over 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94353" y="1525225"/>
            <a:ext cx="483547" cy="89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0}{330}&quot;&gt;&lt;mfrac&gt;&lt;mn&gt;110&lt;/mn&gt;&lt;mn&gt;330&lt;/mn&gt;&lt;/mfrac&gt;&lt;/math&gt;" id="1208" name="Google Shape;1208;p86" title="110 over 3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93550" y="3331929"/>
            <a:ext cx="702755" cy="89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0}&quot;&gt;&lt;mfrac&gt;&lt;mn&gt;11&lt;/mn&gt;&lt;mn&gt;10&lt;/mn&gt;&lt;/mfrac&gt;&lt;/math&gt;" id="1209" name="Google Shape;1209;p86" title="eleven ten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56787" y="3423829"/>
            <a:ext cx="483547" cy="89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2}&quot;&gt;&lt;mfrac&gt;&lt;mn&gt;11&lt;/mn&gt;&lt;mn&gt;12&lt;/mn&gt;&lt;/mfrac&gt;&lt;/math&gt;" id="1210" name="Google Shape;1210;p86" title="11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51403" y="3132116"/>
            <a:ext cx="489994" cy="883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0}&quot;&gt;&lt;mfrac&gt;&lt;mn&gt;7&lt;/mn&gt;&lt;mn&gt;40&lt;/mn&gt;&lt;/mfrac&gt;&lt;/math&gt;" id="1211" name="Google Shape;1211;p86" title="7 over 4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83628" y="3210875"/>
            <a:ext cx="489994" cy="896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87"/>
          <p:cNvSpPr txBox="1"/>
          <p:nvPr>
            <p:ph idx="4294967295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Without a calculator, calculate the decimal value of the following fractions:</a:t>
            </a:r>
            <a:endParaRPr/>
          </a:p>
        </p:txBody>
      </p:sp>
      <p:sp>
        <p:nvSpPr>
          <p:cNvPr id="1217" name="Google Shape;1217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218" name="Google Shape;1218;p87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21579" l="0" r="0" t="51153"/>
          <a:stretch/>
        </p:blipFill>
        <p:spPr>
          <a:xfrm>
            <a:off x="986875" y="3909850"/>
            <a:ext cx="583159" cy="8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87"/>
          <p:cNvSpPr txBox="1"/>
          <p:nvPr/>
        </p:nvSpPr>
        <p:spPr>
          <a:xfrm>
            <a:off x="324000" y="1705050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/>
          </a:p>
        </p:txBody>
      </p:sp>
      <p:sp>
        <p:nvSpPr>
          <p:cNvPr id="1220" name="Google Shape;1220;p87"/>
          <p:cNvSpPr txBox="1"/>
          <p:nvPr/>
        </p:nvSpPr>
        <p:spPr>
          <a:xfrm>
            <a:off x="324000" y="2811400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/>
          </a:p>
        </p:txBody>
      </p:sp>
      <p:sp>
        <p:nvSpPr>
          <p:cNvPr id="1221" name="Google Shape;1221;p87"/>
          <p:cNvSpPr txBox="1"/>
          <p:nvPr/>
        </p:nvSpPr>
        <p:spPr>
          <a:xfrm>
            <a:off x="324000" y="3909850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/>
          </a:p>
        </p:txBody>
      </p:sp>
      <p:sp>
        <p:nvSpPr>
          <p:cNvPr id="1222" name="Google Shape;1222;p87"/>
          <p:cNvSpPr txBox="1"/>
          <p:nvPr/>
        </p:nvSpPr>
        <p:spPr>
          <a:xfrm>
            <a:off x="4776475" y="1641925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223" name="Google Shape;1223;p87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49427" l="0" r="0" t="21497"/>
          <a:stretch/>
        </p:blipFill>
        <p:spPr>
          <a:xfrm>
            <a:off x="1079175" y="2757270"/>
            <a:ext cx="546902" cy="893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224" name="Google Shape;1224;p87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0" l="0" r="0" t="76867"/>
          <a:stretch/>
        </p:blipFill>
        <p:spPr>
          <a:xfrm>
            <a:off x="5556950" y="1655838"/>
            <a:ext cx="596728" cy="7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625&quot;&gt;&lt;mn&gt;0.625&lt;/mn&gt;&lt;/math&gt;" id="1225" name="Google Shape;1225;p87" title="0.6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5314" y="3057126"/>
            <a:ext cx="805766" cy="263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2&quot;&gt;&lt;mn&gt;0.12&lt;/mn&gt;&lt;/math&gt;" id="1226" name="Google Shape;1226;p87" title="0.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1255" y="4228872"/>
            <a:ext cx="639047" cy="257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235&quot;&gt;&lt;mn&gt;0.235&lt;/mn&gt;&lt;/math&gt;" id="1227" name="Google Shape;1227;p87" title="0.2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4686" y="1907126"/>
            <a:ext cx="824503" cy="270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228" name="Google Shape;1228;p87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1957" y="1973534"/>
            <a:ext cx="269258" cy="1238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229" name="Google Shape;1229;p87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9525" y="3163837"/>
            <a:ext cx="269258" cy="1238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230" name="Google Shape;1230;p87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73152" y="4274574"/>
            <a:ext cx="269275" cy="123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231" name="Google Shape;1231;p87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7526" y="1992151"/>
            <a:ext cx="275520" cy="126739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87"/>
          <p:cNvSpPr txBox="1"/>
          <p:nvPr/>
        </p:nvSpPr>
        <p:spPr>
          <a:xfrm>
            <a:off x="4776475" y="2861175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=&quot;&gt;&lt;mo&gt;=&lt;/mo&gt;&lt;/math&gt;" id="1233" name="Google Shape;1233;p87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67901" y="3211401"/>
            <a:ext cx="275520" cy="126739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87"/>
          <p:cNvSpPr txBox="1"/>
          <p:nvPr/>
        </p:nvSpPr>
        <p:spPr>
          <a:xfrm>
            <a:off x="4776475" y="4013750"/>
            <a:ext cx="7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=&quot;&gt;&lt;mo&gt;=&lt;/mo&gt;&lt;/math&gt;" id="1235" name="Google Shape;1235;p87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0376" y="4363976"/>
            <a:ext cx="275520" cy="126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236" name="Google Shape;1236;p87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0" l="0" r="91564" t="0"/>
          <a:stretch/>
        </p:blipFill>
        <p:spPr>
          <a:xfrm>
            <a:off x="1079175" y="1710050"/>
            <a:ext cx="392776" cy="65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237" name="Google Shape;1237;p87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0" l="8535" r="76625" t="0"/>
          <a:stretch/>
        </p:blipFill>
        <p:spPr>
          <a:xfrm>
            <a:off x="1856450" y="1637000"/>
            <a:ext cx="888651" cy="837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238" name="Google Shape;1238;p87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-7233" l="32967" r="54509" t="-11928"/>
          <a:stretch/>
        </p:blipFill>
        <p:spPr>
          <a:xfrm>
            <a:off x="5563738" y="2837975"/>
            <a:ext cx="583151" cy="7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239" name="Google Shape;1239;p87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-9580" l="46052" r="37369" t="-9580"/>
          <a:stretch/>
        </p:blipFill>
        <p:spPr>
          <a:xfrm>
            <a:off x="6573054" y="2886988"/>
            <a:ext cx="771900" cy="7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240" name="Google Shape;1240;p87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-15324" l="68650" r="18825" t="-3836"/>
          <a:stretch/>
        </p:blipFill>
        <p:spPr>
          <a:xfrm>
            <a:off x="5563725" y="3969575"/>
            <a:ext cx="583151" cy="7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241" name="Google Shape;1241;p87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-9580" l="80389" r="-4232" t="-9580"/>
          <a:stretch/>
        </p:blipFill>
        <p:spPr>
          <a:xfrm>
            <a:off x="6505250" y="3969600"/>
            <a:ext cx="1110200" cy="77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88"/>
          <p:cNvSpPr txBox="1"/>
          <p:nvPr>
            <p:ph idx="4294967295" type="body"/>
          </p:nvPr>
        </p:nvSpPr>
        <p:spPr>
          <a:xfrm>
            <a:off x="325925" y="1267450"/>
            <a:ext cx="1662900" cy="4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Lucas says </a:t>
            </a:r>
            <a:endParaRPr/>
          </a:p>
        </p:txBody>
      </p:sp>
      <p:pic>
        <p:nvPicPr>
          <p:cNvPr id="1247" name="Google Shape;124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650" y="1944450"/>
            <a:ext cx="1346180" cy="15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2997" y="689700"/>
            <a:ext cx="6759050" cy="27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88"/>
          <p:cNvSpPr txBox="1"/>
          <p:nvPr/>
        </p:nvSpPr>
        <p:spPr>
          <a:xfrm>
            <a:off x="2297100" y="825775"/>
            <a:ext cx="6484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is not equivalent to a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prime factors of the denominator are 2, 3 and 11.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1250" name="Google Shape;1250;p88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5">
            <a:alphaModFix/>
          </a:blip>
          <a:srcRect b="0" l="46167" r="0" t="0"/>
          <a:stretch/>
        </p:blipFill>
        <p:spPr>
          <a:xfrm>
            <a:off x="4425311" y="4160750"/>
            <a:ext cx="351057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1251" name="Google Shape;1251;p88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5">
            <a:alphaModFix/>
          </a:blip>
          <a:srcRect b="0" l="0" r="58879" t="0"/>
          <a:stretch/>
        </p:blipFill>
        <p:spPr>
          <a:xfrm>
            <a:off x="3427671" y="1427500"/>
            <a:ext cx="3201650" cy="7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1252" name="Google Shape;1252;p88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5">
            <a:alphaModFix/>
          </a:blip>
          <a:srcRect b="0" l="0" r="91985" t="0"/>
          <a:stretch/>
        </p:blipFill>
        <p:spPr>
          <a:xfrm>
            <a:off x="2236674" y="773256"/>
            <a:ext cx="445700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88"/>
          <p:cNvSpPr txBox="1"/>
          <p:nvPr/>
        </p:nvSpPr>
        <p:spPr>
          <a:xfrm>
            <a:off x="580307" y="4266550"/>
            <a:ext cx="434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Lucas needed to simplify the fraction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4" name="Google Shape;1254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88"/>
          <p:cNvSpPr txBox="1"/>
          <p:nvPr/>
        </p:nvSpPr>
        <p:spPr>
          <a:xfrm>
            <a:off x="324000" y="3637550"/>
            <a:ext cx="845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1256" name="Google Shape;1256;p88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5">
            <a:alphaModFix/>
          </a:blip>
          <a:srcRect b="0" l="0" r="91985" t="0"/>
          <a:stretch/>
        </p:blipFill>
        <p:spPr>
          <a:xfrm>
            <a:off x="2492602" y="3599458"/>
            <a:ext cx="445700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88"/>
          <p:cNvSpPr txBox="1"/>
          <p:nvPr/>
        </p:nvSpPr>
        <p:spPr>
          <a:xfrm>
            <a:off x="3008325" y="3637550"/>
            <a:ext cx="60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equivalent to a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sp>
        <p:nvSpPr>
          <p:cNvPr id="1258" name="Google Shape;1258;p88"/>
          <p:cNvSpPr txBox="1"/>
          <p:nvPr/>
        </p:nvSpPr>
        <p:spPr>
          <a:xfrm>
            <a:off x="703275" y="3637550"/>
            <a:ext cx="185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Explain why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89"/>
          <p:cNvSpPr txBox="1"/>
          <p:nvPr/>
        </p:nvSpPr>
        <p:spPr>
          <a:xfrm>
            <a:off x="325650" y="758425"/>
            <a:ext cx="8371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Jacob has discovered all these denominators will give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9"/>
          <p:cNvSpPr txBox="1"/>
          <p:nvPr/>
        </p:nvSpPr>
        <p:spPr>
          <a:xfrm>
            <a:off x="325650" y="1672825"/>
            <a:ext cx="8155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9"/>
          <p:cNvSpPr txBox="1"/>
          <p:nvPr/>
        </p:nvSpPr>
        <p:spPr>
          <a:xfrm>
            <a:off x="287750" y="2358625"/>
            <a:ext cx="421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explain why?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266" name="Google Shape;1266;p89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0" r="93903" t="0"/>
          <a:stretch/>
        </p:blipFill>
        <p:spPr>
          <a:xfrm>
            <a:off x="729950" y="1570462"/>
            <a:ext cx="434574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267" name="Google Shape;1267;p89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6097" r="79924" t="0"/>
          <a:stretch/>
        </p:blipFill>
        <p:spPr>
          <a:xfrm>
            <a:off x="1164525" y="1570462"/>
            <a:ext cx="996351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268" name="Google Shape;1268;p89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19591" r="68461" t="0"/>
          <a:stretch/>
        </p:blipFill>
        <p:spPr>
          <a:xfrm>
            <a:off x="2118301" y="1570462"/>
            <a:ext cx="851574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269" name="Google Shape;1269;p89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31538" r="54603" t="0"/>
          <a:stretch/>
        </p:blipFill>
        <p:spPr>
          <a:xfrm>
            <a:off x="2969874" y="1570462"/>
            <a:ext cx="987825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270" name="Google Shape;1270;p89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45295" r="41802" t="0"/>
          <a:stretch/>
        </p:blipFill>
        <p:spPr>
          <a:xfrm>
            <a:off x="3957699" y="1570462"/>
            <a:ext cx="919701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271" name="Google Shape;1271;p89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60197" r="26900" t="0"/>
          <a:stretch/>
        </p:blipFill>
        <p:spPr>
          <a:xfrm>
            <a:off x="5019901" y="1570462"/>
            <a:ext cx="919701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272" name="Google Shape;1272;p89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73729" r="12412" t="0"/>
          <a:stretch/>
        </p:blipFill>
        <p:spPr>
          <a:xfrm>
            <a:off x="5984449" y="1570462"/>
            <a:ext cx="987825" cy="72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1273" name="Google Shape;1273;p89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3">
            <a:alphaModFix/>
          </a:blip>
          <a:srcRect b="49505" l="87110" r="-2760" t="0"/>
          <a:stretch/>
        </p:blipFill>
        <p:spPr>
          <a:xfrm>
            <a:off x="7014401" y="1570462"/>
            <a:ext cx="1115550" cy="72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89"/>
          <p:cNvSpPr txBox="1"/>
          <p:nvPr/>
        </p:nvSpPr>
        <p:spPr>
          <a:xfrm>
            <a:off x="286200" y="2816700"/>
            <a:ext cx="804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of the denominators only have a prime factor base of 2, so all are factors of powers of 10.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,\ \ \frac{1}{2^2}\ \ ,\ \ \frac{1}{2^3}\ \ ,\ \ \frac{1}{2^4}\ \ ,\ \ etc&quot;&gt;&lt;mfrac&gt;&lt;mn&gt;1&lt;/mn&gt;&lt;mn&gt;2&lt;/mn&gt;&lt;/mfrac&gt;&lt;mtext&gt;&lt;/mtext&gt;&lt;mtext&gt;&lt;/mtext&gt;&lt;mo&gt;,&lt;/mo&gt;&lt;mtext&gt;&lt;/mtext&gt;&lt;mtext&gt;&lt;/mtext&gt;&lt;mfrac&gt;&lt;mn&gt;1&lt;/mn&gt;&lt;msup&gt;&lt;mn&gt;2&lt;/mn&gt;&lt;mn&gt;2&lt;/mn&gt;&lt;/msup&gt;&lt;/mfrac&gt;&lt;mtext&gt;&lt;/mtext&gt;&lt;mtext&gt;&lt;/mtext&gt;&lt;mo&gt;,&lt;/mo&gt;&lt;mtext&gt;&lt;/mtext&gt;&lt;mtext&gt;&lt;/mtext&gt;&lt;mfrac&gt;&lt;mn&gt;1&lt;/mn&gt;&lt;msup&gt;&lt;mn&gt;2&lt;/mn&gt;&lt;mn&gt;3&lt;/mn&gt;&lt;/msup&gt;&lt;/mfrac&gt;&lt;mtext&gt;&lt;/mtext&gt;&lt;mtext&gt;&lt;/mtext&gt;&lt;mo&gt;,&lt;/mo&gt;&lt;mtext&gt;&lt;/mtext&gt;&lt;mtext&gt;&lt;/mtext&gt;&lt;mfrac&gt;&lt;mn&gt;1&lt;/mn&gt;&lt;msup&gt;&lt;mn&gt;2&lt;/mn&gt;&lt;mn&gt;4&lt;/mn&gt;&lt;/msup&gt;&lt;/mfrac&gt;&lt;mtext&gt;&lt;/mtext&gt;&lt;mtext&gt;&lt;/mtext&gt;&lt;mo&gt;,&lt;/mo&gt;&lt;mtext&gt;&lt;/mtext&gt;&lt;mtext&gt;&lt;/mtext&gt;&lt;mi&gt;e&lt;/mi&gt;&lt;mi&gt;t&lt;/mi&gt;&lt;mi&gt;c&lt;/mi&gt;&lt;/math&gt;" id="1276" name="Google Shape;1276;p89" title="one half comma the fraction with numerator 1 and denominator 2 squared comma the fraction with numerator 1 and denominator 2 cubed comma the fraction with numerator 1 and denominator 2 to the fourth power comma e t c"/>
          <p:cNvPicPr preferRelativeResize="0"/>
          <p:nvPr/>
        </p:nvPicPr>
        <p:blipFill rotWithShape="1">
          <a:blip r:embed="rId4">
            <a:alphaModFix/>
          </a:blip>
          <a:srcRect b="0" l="0" r="19008" t="0"/>
          <a:stretch/>
        </p:blipFill>
        <p:spPr>
          <a:xfrm>
            <a:off x="454200" y="3780000"/>
            <a:ext cx="3415575" cy="83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89"/>
          <p:cNvSpPr txBox="1"/>
          <p:nvPr/>
        </p:nvSpPr>
        <p:spPr>
          <a:xfrm>
            <a:off x="3890800" y="3930325"/>
            <a:ext cx="54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...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90"/>
          <p:cNvSpPr txBox="1"/>
          <p:nvPr>
            <p:ph idx="1" type="body"/>
          </p:nvPr>
        </p:nvSpPr>
        <p:spPr>
          <a:xfrm>
            <a:off x="324000" y="759300"/>
            <a:ext cx="82377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r>
              <a:rPr lang="en-GB"/>
              <a:t>) Circle all the </a:t>
            </a:r>
            <a:r>
              <a:rPr b="1" lang="en-GB"/>
              <a:t>terminating decimals</a:t>
            </a:r>
            <a:r>
              <a:rPr lang="en-GB"/>
              <a:t>.</a:t>
            </a:r>
            <a:endParaRPr/>
          </a:p>
        </p:txBody>
      </p:sp>
      <p:sp>
        <p:nvSpPr>
          <p:cNvPr id="1283" name="Google Shape;1283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284" name="Google Shape;1284;p90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700" y="1560575"/>
            <a:ext cx="270786" cy="89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&quot;&gt;&lt;mfrac&gt;&lt;mn&gt;6&lt;/mn&gt;&lt;mn&gt;7&lt;/mn&gt;&lt;/mfrac&gt;&lt;/math&gt;" id="1285" name="Google Shape;1285;p90" title="six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8468" y="3020450"/>
            <a:ext cx="270786" cy="88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5}&quot;&gt;&lt;mfrac&gt;&lt;mn&gt;4&lt;/mn&gt;&lt;mn&gt;15&lt;/mn&gt;&lt;/mfrac&gt;&lt;/math&gt;" id="1286" name="Google Shape;1286;p90" title="4 over 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7861" y="1470325"/>
            <a:ext cx="483547" cy="87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40}&quot;&gt;&lt;mfrac&gt;&lt;mn&gt;7&lt;/mn&gt;&lt;mn&gt;440&lt;/mn&gt;&lt;/mfrac&gt;&lt;/math&gt;" id="1287" name="Google Shape;1287;p90" title="7 over 4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0791" y="1753838"/>
            <a:ext cx="702755" cy="89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0}{330}&quot;&gt;&lt;mfrac&gt;&lt;mn&gt;110&lt;/mn&gt;&lt;mn&gt;330&lt;/mn&gt;&lt;/mfrac&gt;&lt;/math&gt;" id="1288" name="Google Shape;1288;p90" title="110 over 3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93550" y="3331929"/>
            <a:ext cx="702755" cy="89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33}&quot;&gt;&lt;mfrac&gt;&lt;mn&gt;11&lt;/mn&gt;&lt;mn&gt;33&lt;/mn&gt;&lt;/mfrac&gt;&lt;/math&gt;" id="1289" name="Google Shape;1289;p90" title="11 over 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94353" y="1525225"/>
            <a:ext cx="483547" cy="89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0}&quot;&gt;&lt;mfrac&gt;&lt;mn&gt;11&lt;/mn&gt;&lt;mn&gt;10&lt;/mn&gt;&lt;/mfrac&gt;&lt;/math&gt;" id="1290" name="Google Shape;1290;p90" title="eleven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787" y="3423829"/>
            <a:ext cx="483547" cy="89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2}&quot;&gt;&lt;mfrac&gt;&lt;mn&gt;11&lt;/mn&gt;&lt;mn&gt;12&lt;/mn&gt;&lt;/mfrac&gt;&lt;/math&gt;" id="1291" name="Google Shape;1291;p90" title="11 over 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51403" y="3132116"/>
            <a:ext cx="489994" cy="8832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90"/>
          <p:cNvSpPr/>
          <p:nvPr/>
        </p:nvSpPr>
        <p:spPr>
          <a:xfrm>
            <a:off x="2222400" y="3108438"/>
            <a:ext cx="1152300" cy="149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5}&quot;&gt;&lt;mfrac&gt;&lt;mn&gt;12&lt;/mn&gt;&lt;mn&gt;15&lt;/mn&gt;&lt;/mfrac&gt;&lt;/math&gt;" id="1293" name="Google Shape;1293;p90" title="12 over 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99803" y="1525237"/>
            <a:ext cx="490000" cy="893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1294" name="Google Shape;1294;p90" title="three halve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389975" y="1620000"/>
            <a:ext cx="270775" cy="862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0}&quot;&gt;&lt;mfrac&gt;&lt;mn&gt;7&lt;/mn&gt;&lt;mn&gt;40&lt;/mn&gt;&lt;/mfrac&gt;&lt;/math&gt;" id="1295" name="Google Shape;1295;p90" title="7 over 4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83628" y="3210875"/>
            <a:ext cx="489994" cy="896172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90"/>
          <p:cNvSpPr/>
          <p:nvPr/>
        </p:nvSpPr>
        <p:spPr>
          <a:xfrm>
            <a:off x="5552475" y="2987400"/>
            <a:ext cx="1152300" cy="149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0"/>
          <p:cNvSpPr/>
          <p:nvPr/>
        </p:nvSpPr>
        <p:spPr>
          <a:xfrm>
            <a:off x="1942950" y="1303600"/>
            <a:ext cx="1152300" cy="149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90"/>
          <p:cNvSpPr/>
          <p:nvPr/>
        </p:nvSpPr>
        <p:spPr>
          <a:xfrm>
            <a:off x="4906936" y="1225563"/>
            <a:ext cx="1152300" cy="1495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terminating and non-terminating</a:t>
            </a:r>
            <a:endParaRPr/>
          </a:p>
        </p:txBody>
      </p:sp>
      <p:sp>
        <p:nvSpPr>
          <p:cNvPr id="1304" name="Google Shape;1304;p9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305" name="Google Shape;1305;p9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terminating decimals</a:t>
            </a:r>
            <a:endParaRPr/>
          </a:p>
        </p:txBody>
      </p:sp>
      <p:pic>
        <p:nvPicPr>
          <p:cNvPr id="1306" name="Google Shape;130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12" y="298837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92"/>
          <p:cNvSpPr txBox="1"/>
          <p:nvPr>
            <p:ph idx="1" type="body"/>
          </p:nvPr>
        </p:nvSpPr>
        <p:spPr>
          <a:xfrm>
            <a:off x="324000" y="6069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Scientific </a:t>
            </a:r>
            <a:r>
              <a:rPr lang="en-GB"/>
              <a:t>calculators</a:t>
            </a:r>
            <a:r>
              <a:rPr lang="en-GB"/>
              <a:t> are fantastic tools.</a:t>
            </a:r>
            <a:endParaRPr/>
          </a:p>
        </p:txBody>
      </p:sp>
      <p:sp>
        <p:nvSpPr>
          <p:cNvPr id="1312" name="Google Shape;131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313" name="Google Shape;1313;p92"/>
          <p:cNvSpPr txBox="1"/>
          <p:nvPr>
            <p:ph idx="1" type="body"/>
          </p:nvPr>
        </p:nvSpPr>
        <p:spPr>
          <a:xfrm>
            <a:off x="324000" y="10641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to change the format of a number.</a:t>
            </a:r>
            <a:endParaRPr/>
          </a:p>
        </p:txBody>
      </p:sp>
      <p:pic>
        <p:nvPicPr>
          <p:cNvPr id="1314" name="Google Shape;131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92"/>
          <p:cNvSpPr txBox="1"/>
          <p:nvPr/>
        </p:nvSpPr>
        <p:spPr>
          <a:xfrm>
            <a:off x="4856525" y="2088300"/>
            <a:ext cx="367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let’s input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1316" name="Google Shape;1316;p92" title="fiv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0363" y="2530944"/>
            <a:ext cx="200021" cy="6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92"/>
          <p:cNvSpPr txBox="1"/>
          <p:nvPr/>
        </p:nvSpPr>
        <p:spPr>
          <a:xfrm>
            <a:off x="4856525" y="2621700"/>
            <a:ext cx="370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fraction</a:t>
            </a:r>
            <a:endParaRPr/>
          </a:p>
        </p:txBody>
      </p:sp>
      <p:sp>
        <p:nvSpPr>
          <p:cNvPr id="1318" name="Google Shape;1318;p92"/>
          <p:cNvSpPr txBox="1"/>
          <p:nvPr/>
        </p:nvSpPr>
        <p:spPr>
          <a:xfrm>
            <a:off x="4856525" y="3155100"/>
            <a:ext cx="367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it into</a:t>
            </a:r>
            <a:endParaRPr/>
          </a:p>
        </p:txBody>
      </p:sp>
      <p:sp>
        <p:nvSpPr>
          <p:cNvPr id="1319" name="Google Shape;1319;p92"/>
          <p:cNvSpPr txBox="1"/>
          <p:nvPr/>
        </p:nvSpPr>
        <p:spPr>
          <a:xfrm>
            <a:off x="4856525" y="3688500"/>
            <a:ext cx="367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decimal form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325" name="Google Shape;1325;p93"/>
          <p:cNvSpPr txBox="1"/>
          <p:nvPr>
            <p:ph idx="1" type="body"/>
          </p:nvPr>
        </p:nvSpPr>
        <p:spPr>
          <a:xfrm>
            <a:off x="324000" y="1054882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to change the format of a number.</a:t>
            </a:r>
            <a:endParaRPr/>
          </a:p>
        </p:txBody>
      </p:sp>
      <p:pic>
        <p:nvPicPr>
          <p:cNvPr id="1326" name="Google Shape;132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072" y="2176125"/>
            <a:ext cx="195262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93"/>
          <p:cNvSpPr txBox="1"/>
          <p:nvPr/>
        </p:nvSpPr>
        <p:spPr>
          <a:xfrm>
            <a:off x="4885900" y="1526000"/>
            <a:ext cx="268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</a:t>
            </a:r>
            <a:endParaRPr/>
          </a:p>
        </p:txBody>
      </p:sp>
      <p:pic>
        <p:nvPicPr>
          <p:cNvPr id="1329" name="Google Shape;1329;p93"/>
          <p:cNvPicPr preferRelativeResize="0"/>
          <p:nvPr/>
        </p:nvPicPr>
        <p:blipFill rotWithShape="1">
          <a:blip r:embed="rId5">
            <a:alphaModFix/>
          </a:blip>
          <a:srcRect b="-7545" l="-3550" r="3550" t="10430"/>
          <a:stretch/>
        </p:blipFill>
        <p:spPr>
          <a:xfrm>
            <a:off x="2381900" y="1738075"/>
            <a:ext cx="1570675" cy="7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93"/>
          <p:cNvSpPr txBox="1"/>
          <p:nvPr/>
        </p:nvSpPr>
        <p:spPr>
          <a:xfrm>
            <a:off x="4874916" y="2725713"/>
            <a:ext cx="394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to a decimal</a:t>
            </a:r>
            <a:endParaRPr/>
          </a:p>
        </p:txBody>
      </p:sp>
      <p:pic>
        <p:nvPicPr>
          <p:cNvPr id="1331" name="Google Shape;1331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9127" y="1655404"/>
            <a:ext cx="1570676" cy="7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8216" y="3350825"/>
            <a:ext cx="15335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93"/>
          <p:cNvPicPr preferRelativeResize="0"/>
          <p:nvPr/>
        </p:nvPicPr>
        <p:blipFill rotWithShape="1">
          <a:blip r:embed="rId8">
            <a:alphaModFix/>
          </a:blip>
          <a:srcRect b="1919" l="0" r="0" t="-1920"/>
          <a:stretch/>
        </p:blipFill>
        <p:spPr>
          <a:xfrm>
            <a:off x="2459106" y="1662502"/>
            <a:ext cx="1570700" cy="717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9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calculator, work out the equivalent decimals.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619}{5000}\ \ \ \ \ \frac{65}{52}\ \ \ \ \ \frac{89}{40}\ \ \ \ \ \frac{123456789}{100\ 000\ 000}&quot;&gt;&lt;mfrac&gt;&lt;mn&gt;619&lt;/mn&gt;&lt;mn&gt;5000&lt;/mn&gt;&lt;/mfrac&gt;&lt;mtext&gt;&lt;/mtext&gt;&lt;mtext&gt;&lt;/mtext&gt;&lt;mtext&gt;&lt;/mtext&gt;&lt;mtext&gt;&lt;/mtext&gt;&lt;mtext&gt;&lt;/mtext&gt;&lt;mfrac&gt;&lt;mn&gt;65&lt;/mn&gt;&lt;mn&gt;52&lt;/mn&gt;&lt;/mfrac&gt;&lt;mtext&gt;&lt;/mtext&gt;&lt;mtext&gt;&lt;/mtext&gt;&lt;mtext&gt;&lt;/mtext&gt;&lt;mtext&gt;&lt;/mtext&gt;&lt;mtext&gt;&lt;/mtext&gt;&lt;mfrac&gt;&lt;mn&gt;89&lt;/mn&gt;&lt;mn&gt;40&lt;/mn&gt;&lt;/mfrac&gt;&lt;mtext&gt;&lt;/mtext&gt;&lt;mtext&gt;&lt;/mtext&gt;&lt;mtext&gt;&lt;/mtext&gt;&lt;mtext&gt;&lt;/mtext&gt;&lt;mtext&gt;&lt;/mtext&gt;&lt;mfrac&gt;&lt;mn&gt;123456789&lt;/mn&gt;&lt;mrow&gt;&lt;mn&gt;100&lt;/mn&gt;&lt;mtext&gt;&lt;/mtext&gt;&lt;mn&gt;000&lt;/mn&gt;&lt;mtext&gt;&lt;/mtext&gt;&lt;mn&gt;000&lt;/mn&gt;&lt;/mrow&gt;&lt;/mfrac&gt;&lt;/math&gt;" id="1340" name="Google Shape;1340;p94" title="619 over 5000 65 over 52 89 over 40 the fraction with numerator 123456789 and denominator 100 000 000"/>
          <p:cNvPicPr preferRelativeResize="0"/>
          <p:nvPr/>
        </p:nvPicPr>
        <p:blipFill rotWithShape="1">
          <a:blip r:embed="rId3">
            <a:alphaModFix/>
          </a:blip>
          <a:srcRect b="0" l="0" r="83923" t="0"/>
          <a:stretch/>
        </p:blipFill>
        <p:spPr>
          <a:xfrm>
            <a:off x="748215" y="1872288"/>
            <a:ext cx="1131299" cy="105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19}{5000}\ \ \ \ \ \frac{65}{52}\ \ \ \ \ \frac{89}{40}\ \ \ \ \ \frac{123456789}{100\ 000\ 000}&quot;&gt;&lt;mfrac&gt;&lt;mn&gt;619&lt;/mn&gt;&lt;mn&gt;5000&lt;/mn&gt;&lt;/mfrac&gt;&lt;mtext&gt;&lt;/mtext&gt;&lt;mtext&gt;&lt;/mtext&gt;&lt;mtext&gt;&lt;/mtext&gt;&lt;mtext&gt;&lt;/mtext&gt;&lt;mtext&gt;&lt;/mtext&gt;&lt;mfrac&gt;&lt;mn&gt;65&lt;/mn&gt;&lt;mn&gt;52&lt;/mn&gt;&lt;/mfrac&gt;&lt;mtext&gt;&lt;/mtext&gt;&lt;mtext&gt;&lt;/mtext&gt;&lt;mtext&gt;&lt;/mtext&gt;&lt;mtext&gt;&lt;/mtext&gt;&lt;mtext&gt;&lt;/mtext&gt;&lt;mfrac&gt;&lt;mn&gt;89&lt;/mn&gt;&lt;mn&gt;40&lt;/mn&gt;&lt;/mfrac&gt;&lt;mtext&gt;&lt;/mtext&gt;&lt;mtext&gt;&lt;/mtext&gt;&lt;mtext&gt;&lt;/mtext&gt;&lt;mtext&gt;&lt;/mtext&gt;&lt;mtext&gt;&lt;/mtext&gt;&lt;mfrac&gt;&lt;mn&gt;123456789&lt;/mn&gt;&lt;mrow&gt;&lt;mn&gt;100&lt;/mn&gt;&lt;mtext&gt;&lt;/mtext&gt;&lt;mn&gt;000&lt;/mn&gt;&lt;mtext&gt;&lt;/mtext&gt;&lt;mn&gt;000&lt;/mn&gt;&lt;/mrow&gt;&lt;/mfrac&gt;&lt;/math&gt;" id="1341" name="Google Shape;1341;p94" title="619 over 5000 65 over 52 89 over 40 the fraction with numerator 123456789 and denominator 100 000 000"/>
          <p:cNvPicPr preferRelativeResize="0"/>
          <p:nvPr/>
        </p:nvPicPr>
        <p:blipFill rotWithShape="1">
          <a:blip r:embed="rId3">
            <a:alphaModFix/>
          </a:blip>
          <a:srcRect b="0" l="21036" r="62886" t="0"/>
          <a:stretch/>
        </p:blipFill>
        <p:spPr>
          <a:xfrm>
            <a:off x="748215" y="3414813"/>
            <a:ext cx="1131299" cy="105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19}{5000}\ \ \ \ \ \frac{65}{52}\ \ \ \ \ \frac{89}{40}\ \ \ \ \ \frac{123456789}{100\ 000\ 000}&quot;&gt;&lt;mfrac&gt;&lt;mn&gt;619&lt;/mn&gt;&lt;mn&gt;5000&lt;/mn&gt;&lt;/mfrac&gt;&lt;mtext&gt;&lt;/mtext&gt;&lt;mtext&gt;&lt;/mtext&gt;&lt;mtext&gt;&lt;/mtext&gt;&lt;mtext&gt;&lt;/mtext&gt;&lt;mtext&gt;&lt;/mtext&gt;&lt;mfrac&gt;&lt;mn&gt;65&lt;/mn&gt;&lt;mn&gt;52&lt;/mn&gt;&lt;/mfrac&gt;&lt;mtext&gt;&lt;/mtext&gt;&lt;mtext&gt;&lt;/mtext&gt;&lt;mtext&gt;&lt;/mtext&gt;&lt;mtext&gt;&lt;/mtext&gt;&lt;mtext&gt;&lt;/mtext&gt;&lt;mfrac&gt;&lt;mn&gt;89&lt;/mn&gt;&lt;mn&gt;40&lt;/mn&gt;&lt;/mfrac&gt;&lt;mtext&gt;&lt;/mtext&gt;&lt;mtext&gt;&lt;/mtext&gt;&lt;mtext&gt;&lt;/mtext&gt;&lt;mtext&gt;&lt;/mtext&gt;&lt;mtext&gt;&lt;/mtext&gt;&lt;mfrac&gt;&lt;mn&gt;123456789&lt;/mn&gt;&lt;mrow&gt;&lt;mn&gt;100&lt;/mn&gt;&lt;mtext&gt;&lt;/mtext&gt;&lt;mn&gt;000&lt;/mn&gt;&lt;mtext&gt;&lt;/mtext&gt;&lt;mn&gt;000&lt;/mn&gt;&lt;/mrow&gt;&lt;/mfrac&gt;&lt;/math&gt;" id="1342" name="Google Shape;1342;p94" title="619 over 5000 65 over 52 89 over 40 the fraction with numerator 123456789 and denominator 100 000 000"/>
          <p:cNvPicPr preferRelativeResize="0"/>
          <p:nvPr/>
        </p:nvPicPr>
        <p:blipFill rotWithShape="1">
          <a:blip r:embed="rId3">
            <a:alphaModFix/>
          </a:blip>
          <a:srcRect b="0" l="40790" r="43132" t="0"/>
          <a:stretch/>
        </p:blipFill>
        <p:spPr>
          <a:xfrm>
            <a:off x="5208740" y="1872300"/>
            <a:ext cx="1131299" cy="105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9}{400}&quot;&gt;&lt;mfrac&gt;&lt;mn&gt;99&lt;/mn&gt;&lt;mn&gt;400&lt;/mn&gt;&lt;/mfrac&gt;&lt;/math&gt;" id="1343" name="Google Shape;1343;p94" title="99 over 4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4675" y="3495550"/>
            <a:ext cx="830202" cy="105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=0.1238\\&amp;#13;&amp;#10;=1.25\\&amp;#13;&amp;#10;=2.225\\&amp;#13;&amp;#10;=0.2475\end{array}&quot;&gt;&lt;mtable columnalign=&quot;left&quot; columnspacing=&quot;1em&quot; rowspacing=&quot;4pt&quot;&gt;&lt;mtr&gt;&lt;mtd&gt;&lt;mo&gt;=&lt;/mo&gt;&lt;mn&gt;0.1238&lt;/mn&gt;&lt;/mtd&gt;&lt;/mtr&gt;&lt;mtr&gt;&lt;mtd&gt;&lt;mo&gt;=&lt;/mo&gt;&lt;mn&gt;1.25&lt;/mn&gt;&lt;/mtd&gt;&lt;/mtr&gt;&lt;mtr&gt;&lt;mtd&gt;&lt;mo&gt;=&lt;/mo&gt;&lt;mn&gt;2.225&lt;/mn&gt;&lt;/mtd&gt;&lt;/mtr&gt;&lt;mtr&gt;&lt;mtd&gt;&lt;mo&gt;=&lt;/mo&gt;&lt;mn&gt;0.2475&lt;/mn&gt;&lt;/mtd&gt;&lt;/mtr&gt;&lt;/mtable&gt;&lt;/math&gt;" id="1344" name="Google Shape;1344;p94" title="4 lines Line 1: equals 0.1238 Line 2: equals 1.25 Line 3: equals 2.225 Line 4: equals 0.2475"/>
          <p:cNvPicPr preferRelativeResize="0"/>
          <p:nvPr/>
        </p:nvPicPr>
        <p:blipFill rotWithShape="1">
          <a:blip r:embed="rId5">
            <a:alphaModFix/>
          </a:blip>
          <a:srcRect b="0" l="0" r="0" t="78198"/>
          <a:stretch/>
        </p:blipFill>
        <p:spPr>
          <a:xfrm>
            <a:off x="6340050" y="3662822"/>
            <a:ext cx="1869150" cy="55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=0.1238\\&amp;#13;&amp;#10;=1.25\\&amp;#13;&amp;#10;=2.225\\&amp;#13;&amp;#10;=0.2475\end{array}&quot;&gt;&lt;mtable columnalign=&quot;left&quot; columnspacing=&quot;1em&quot; rowspacing=&quot;4pt&quot;&gt;&lt;mtr&gt;&lt;mtd&gt;&lt;mo&gt;=&lt;/mo&gt;&lt;mn&gt;0.1238&lt;/mn&gt;&lt;/mtd&gt;&lt;/mtr&gt;&lt;mtr&gt;&lt;mtd&gt;&lt;mo&gt;=&lt;/mo&gt;&lt;mn&gt;1.25&lt;/mn&gt;&lt;/mtd&gt;&lt;/mtr&gt;&lt;mtr&gt;&lt;mtd&gt;&lt;mo&gt;=&lt;/mo&gt;&lt;mn&gt;2.225&lt;/mn&gt;&lt;/mtd&gt;&lt;/mtr&gt;&lt;mtr&gt;&lt;mtd&gt;&lt;mo&gt;=&lt;/mo&gt;&lt;mn&gt;0.2475&lt;/mn&gt;&lt;/mtd&gt;&lt;/mtr&gt;&lt;/mtable&gt;&lt;/math&gt;" id="1345" name="Google Shape;1345;p94" title="4 lines Line 1: equals 0.1238 Line 2: equals 1.25 Line 3: equals 2.225 Line 4: equals 0.2475"/>
          <p:cNvPicPr preferRelativeResize="0"/>
          <p:nvPr/>
        </p:nvPicPr>
        <p:blipFill rotWithShape="1">
          <a:blip r:embed="rId5">
            <a:alphaModFix/>
          </a:blip>
          <a:srcRect b="26159" l="0" r="0" t="52038"/>
          <a:stretch/>
        </p:blipFill>
        <p:spPr>
          <a:xfrm>
            <a:off x="6214875" y="2125972"/>
            <a:ext cx="1869150" cy="55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=0.1238\\&amp;#13;&amp;#10;=1.25\\&amp;#13;&amp;#10;=2.225\\&amp;#13;&amp;#10;=0.2475\end{array}&quot;&gt;&lt;mtable columnalign=&quot;left&quot; columnspacing=&quot;1em&quot; rowspacing=&quot;4pt&quot;&gt;&lt;mtr&gt;&lt;mtd&gt;&lt;mo&gt;=&lt;/mo&gt;&lt;mn&gt;0.1238&lt;/mn&gt;&lt;/mtd&gt;&lt;/mtr&gt;&lt;mtr&gt;&lt;mtd&gt;&lt;mo&gt;=&lt;/mo&gt;&lt;mn&gt;1.25&lt;/mn&gt;&lt;/mtd&gt;&lt;/mtr&gt;&lt;mtr&gt;&lt;mtd&gt;&lt;mo&gt;=&lt;/mo&gt;&lt;mn&gt;2.225&lt;/mn&gt;&lt;/mtd&gt;&lt;/mtr&gt;&lt;mtr&gt;&lt;mtd&gt;&lt;mo&gt;=&lt;/mo&gt;&lt;mn&gt;0.2475&lt;/mn&gt;&lt;/mtd&gt;&lt;/mtr&gt;&lt;/mtable&gt;&lt;/math&gt;" id="1346" name="Google Shape;1346;p94" title="4 lines Line 1: equals 0.1238 Line 2: equals 1.25 Line 3: equals 2.225 Line 4: equals 0.2475"/>
          <p:cNvPicPr preferRelativeResize="0"/>
          <p:nvPr/>
        </p:nvPicPr>
        <p:blipFill rotWithShape="1">
          <a:blip r:embed="rId5">
            <a:alphaModFix/>
          </a:blip>
          <a:srcRect b="53551" l="0" r="0" t="24646"/>
          <a:stretch/>
        </p:blipFill>
        <p:spPr>
          <a:xfrm>
            <a:off x="1952625" y="3601659"/>
            <a:ext cx="1869150" cy="55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=0.1238\\&amp;#13;&amp;#10;=1.25\\&amp;#13;&amp;#10;=2.225\\&amp;#13;&amp;#10;=0.2475\end{array}&quot;&gt;&lt;mtable columnalign=&quot;left&quot; columnspacing=&quot;1em&quot; rowspacing=&quot;4pt&quot;&gt;&lt;mtr&gt;&lt;mtd&gt;&lt;mo&gt;=&lt;/mo&gt;&lt;mn&gt;0.1238&lt;/mn&gt;&lt;/mtd&gt;&lt;/mtr&gt;&lt;mtr&gt;&lt;mtd&gt;&lt;mo&gt;=&lt;/mo&gt;&lt;mn&gt;1.25&lt;/mn&gt;&lt;/mtd&gt;&lt;/mtr&gt;&lt;mtr&gt;&lt;mtd&gt;&lt;mo&gt;=&lt;/mo&gt;&lt;mn&gt;2.225&lt;/mn&gt;&lt;/mtd&gt;&lt;/mtr&gt;&lt;mtr&gt;&lt;mtd&gt;&lt;mo&gt;=&lt;/mo&gt;&lt;mn&gt;0.2475&lt;/mn&gt;&lt;/mtd&gt;&lt;/mtr&gt;&lt;/mtable&gt;&lt;/math&gt;" id="1347" name="Google Shape;1347;p94" title="4 lines Line 1: equals 0.1238 Line 2: equals 1.25 Line 3: equals 2.225 Line 4: equals 0.2475"/>
          <p:cNvPicPr preferRelativeResize="0"/>
          <p:nvPr/>
        </p:nvPicPr>
        <p:blipFill rotWithShape="1">
          <a:blip r:embed="rId5">
            <a:alphaModFix/>
          </a:blip>
          <a:srcRect b="82831" l="-6780" r="-6035" t="-4632"/>
          <a:stretch/>
        </p:blipFill>
        <p:spPr>
          <a:xfrm>
            <a:off x="1900950" y="2125975"/>
            <a:ext cx="2108600" cy="55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94"/>
          <p:cNvSpPr txBox="1"/>
          <p:nvPr>
            <p:ph idx="1" type="body"/>
          </p:nvPr>
        </p:nvSpPr>
        <p:spPr>
          <a:xfrm>
            <a:off x="4918175" y="2218850"/>
            <a:ext cx="3141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349" name="Google Shape;1349;p94"/>
          <p:cNvSpPr txBox="1"/>
          <p:nvPr>
            <p:ph idx="1" type="body"/>
          </p:nvPr>
        </p:nvSpPr>
        <p:spPr>
          <a:xfrm>
            <a:off x="324000" y="3693550"/>
            <a:ext cx="3141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sp>
        <p:nvSpPr>
          <p:cNvPr id="1350" name="Google Shape;1350;p94"/>
          <p:cNvSpPr txBox="1"/>
          <p:nvPr>
            <p:ph idx="1" type="body"/>
          </p:nvPr>
        </p:nvSpPr>
        <p:spPr>
          <a:xfrm>
            <a:off x="4914916" y="3594550"/>
            <a:ext cx="3141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356" name="Google Shape;1356;p95"/>
          <p:cNvSpPr txBox="1"/>
          <p:nvPr>
            <p:ph idx="1" type="body"/>
          </p:nvPr>
        </p:nvSpPr>
        <p:spPr>
          <a:xfrm>
            <a:off x="324000" y="683100"/>
            <a:ext cx="84960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change a </a:t>
            </a:r>
            <a:r>
              <a:rPr b="1" lang="en-GB"/>
              <a:t>terminating decimal</a:t>
            </a:r>
            <a:r>
              <a:rPr lang="en-GB"/>
              <a:t> into a fraction easily.</a:t>
            </a:r>
            <a:endParaRPr/>
          </a:p>
        </p:txBody>
      </p:sp>
      <p:pic>
        <p:nvPicPr>
          <p:cNvPr id="1357" name="Google Shape;135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95"/>
          <p:cNvSpPr txBox="1"/>
          <p:nvPr/>
        </p:nvSpPr>
        <p:spPr>
          <a:xfrm>
            <a:off x="4824000" y="1508850"/>
            <a:ext cx="3385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do you think we change 0.8392 into a fraction?</a:t>
            </a:r>
            <a:endParaRPr/>
          </a:p>
        </p:txBody>
      </p:sp>
      <p:sp>
        <p:nvSpPr>
          <p:cNvPr id="1359" name="Google Shape;1359;p95"/>
          <p:cNvSpPr txBox="1"/>
          <p:nvPr/>
        </p:nvSpPr>
        <p:spPr>
          <a:xfrm>
            <a:off x="4809700" y="2867400"/>
            <a:ext cx="30612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Insert 0.8392 into the calculator and press </a:t>
            </a:r>
            <a:endParaRPr/>
          </a:p>
        </p:txBody>
      </p:sp>
      <p:pic>
        <p:nvPicPr>
          <p:cNvPr id="1360" name="Google Shape;136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3450" y="3245100"/>
            <a:ext cx="5810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5874" y="1671700"/>
            <a:ext cx="1684800" cy="7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sp>
        <p:nvSpPr>
          <p:cNvPr id="1367" name="Google Shape;1367;p96"/>
          <p:cNvSpPr txBox="1"/>
          <p:nvPr>
            <p:ph idx="1" type="body"/>
          </p:nvPr>
        </p:nvSpPr>
        <p:spPr>
          <a:xfrm>
            <a:off x="324000" y="683100"/>
            <a:ext cx="82353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change a </a:t>
            </a:r>
            <a:r>
              <a:rPr b="1" lang="en-GB"/>
              <a:t>terminating decimal </a:t>
            </a:r>
            <a:r>
              <a:rPr lang="en-GB"/>
              <a:t>into a fraction easily.</a:t>
            </a:r>
            <a:endParaRPr/>
          </a:p>
        </p:txBody>
      </p:sp>
      <p:pic>
        <p:nvPicPr>
          <p:cNvPr id="1368" name="Google Shape;136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96"/>
          <p:cNvSpPr txBox="1"/>
          <p:nvPr/>
        </p:nvSpPr>
        <p:spPr>
          <a:xfrm>
            <a:off x="4824000" y="1508850"/>
            <a:ext cx="33852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it doesn’t convert it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immediately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press </a:t>
            </a:r>
            <a:endParaRPr/>
          </a:p>
        </p:txBody>
      </p:sp>
      <p:pic>
        <p:nvPicPr>
          <p:cNvPr id="1370" name="Google Shape;137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625" y="1626600"/>
            <a:ext cx="1629700" cy="74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1647" y="1942000"/>
            <a:ext cx="58102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2" name="Google Shape;1372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3425" y="1629375"/>
            <a:ext cx="1629700" cy="739442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96"/>
          <p:cNvSpPr txBox="1"/>
          <p:nvPr/>
        </p:nvSpPr>
        <p:spPr>
          <a:xfrm>
            <a:off x="4914900" y="27000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Select “Standard”</a:t>
            </a:r>
            <a:endParaRPr/>
          </a:p>
        </p:txBody>
      </p:sp>
      <p:pic>
        <p:nvPicPr>
          <p:cNvPr id="1374" name="Google Shape;1374;p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1650" y="2700000"/>
            <a:ext cx="5810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9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5875" y="1629375"/>
            <a:ext cx="1684800" cy="79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97"/>
          <p:cNvSpPr txBox="1"/>
          <p:nvPr>
            <p:ph idx="1" type="body"/>
          </p:nvPr>
        </p:nvSpPr>
        <p:spPr>
          <a:xfrm>
            <a:off x="324000" y="759300"/>
            <a:ext cx="82377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a calculator, match the fraction to its </a:t>
            </a:r>
            <a:r>
              <a:rPr b="1" lang="en-GB"/>
              <a:t>terminating decimal</a:t>
            </a:r>
            <a:r>
              <a:rPr lang="en-GB"/>
              <a:t>.</a:t>
            </a:r>
            <a:endParaRPr/>
          </a:p>
        </p:txBody>
      </p:sp>
      <p:sp>
        <p:nvSpPr>
          <p:cNvPr id="1381" name="Google Shape;1381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0.1294\\&amp;#13;&amp;#10;0.39482\\&amp;#13;&amp;#10;13.444\\&amp;#13;&amp;#10;1.30345\end{array}&quot;&gt;&lt;mtable columnalign=&quot;left&quot; columnspacing=&quot;1em&quot; rowspacing=&quot;4pt&quot;&gt;&lt;mtr&gt;&lt;mtd&gt;&lt;mn&gt;0.1294&lt;/mn&gt;&lt;/mtd&gt;&lt;/mtr&gt;&lt;mtr&gt;&lt;mtd&gt;&lt;mn&gt;0.39482&lt;/mn&gt;&lt;/mtd&gt;&lt;/mtr&gt;&lt;mtr&gt;&lt;mtd&gt;&lt;mn&gt;13.444&lt;/mn&gt;&lt;/mtd&gt;&lt;/mtr&gt;&lt;mtr&gt;&lt;mtd&gt;&lt;mn&gt;1.30345&lt;/mn&gt;&lt;/mtd&gt;&lt;/mtr&gt;&lt;/mtable&gt;&lt;/math&gt;" id="1382" name="Google Shape;1382;p97" title="4 lines Line 1: 0.1294 Line 2: 0.39482 Line 3: 13.444 Line 4: 1.30345"/>
          <p:cNvPicPr preferRelativeResize="0"/>
          <p:nvPr/>
        </p:nvPicPr>
        <p:blipFill rotWithShape="1">
          <a:blip r:embed="rId3">
            <a:alphaModFix/>
          </a:blip>
          <a:srcRect b="81199" l="0" r="0" t="0"/>
          <a:stretch/>
        </p:blipFill>
        <p:spPr>
          <a:xfrm>
            <a:off x="631225" y="1958875"/>
            <a:ext cx="1679150" cy="480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1383" name="Google Shape;1383;p97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4">
            <a:alphaModFix/>
          </a:blip>
          <a:srcRect b="0" l="18011" r="60310" t="0"/>
          <a:stretch/>
        </p:blipFill>
        <p:spPr>
          <a:xfrm>
            <a:off x="4718937" y="1597918"/>
            <a:ext cx="1982225" cy="110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94\\&amp;#13;&amp;#10;0.39482\\&amp;#13;&amp;#10;13.444\\&amp;#13;&amp;#10;1.30345\end{array}&quot;&gt;&lt;mtable columnalign=&quot;left&quot; columnspacing=&quot;1em&quot; rowspacing=&quot;4pt&quot;&gt;&lt;mtr&gt;&lt;mtd&gt;&lt;mn&gt;0.1294&lt;/mn&gt;&lt;/mtd&gt;&lt;/mtr&gt;&lt;mtr&gt;&lt;mtd&gt;&lt;mn&gt;0.39482&lt;/mn&gt;&lt;/mtd&gt;&lt;/mtr&gt;&lt;mtr&gt;&lt;mtd&gt;&lt;mn&gt;13.444&lt;/mn&gt;&lt;/mtd&gt;&lt;/mtr&gt;&lt;mtr&gt;&lt;mtd&gt;&lt;mn&gt;1.30345&lt;/mn&gt;&lt;/mtd&gt;&lt;/mtr&gt;&lt;/mtable&gt;&lt;/math&gt;" id="1384" name="Google Shape;1384;p97" title="4 lines Line 1: 0.1294 Line 2: 0.39482 Line 3: 13.444 Line 4: 1.30345"/>
          <p:cNvPicPr preferRelativeResize="0"/>
          <p:nvPr/>
        </p:nvPicPr>
        <p:blipFill rotWithShape="1">
          <a:blip r:embed="rId3">
            <a:alphaModFix/>
          </a:blip>
          <a:srcRect b="24685" l="0" r="0" t="56514"/>
          <a:stretch/>
        </p:blipFill>
        <p:spPr>
          <a:xfrm>
            <a:off x="2729912" y="1958876"/>
            <a:ext cx="1679150" cy="480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1385" name="Google Shape;1385;p97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4">
            <a:alphaModFix/>
          </a:blip>
          <a:srcRect b="0" l="86338" r="-8016" t="0"/>
          <a:stretch/>
        </p:blipFill>
        <p:spPr>
          <a:xfrm>
            <a:off x="6892681" y="1597918"/>
            <a:ext cx="1982225" cy="110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1386" name="Google Shape;1386;p97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4">
            <a:alphaModFix/>
          </a:blip>
          <a:srcRect b="-9303" l="74523" r="14268" t="-10284"/>
          <a:stretch/>
        </p:blipFill>
        <p:spPr>
          <a:xfrm>
            <a:off x="763025" y="3002625"/>
            <a:ext cx="1024926" cy="131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1387" name="Google Shape;1387;p97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4">
            <a:alphaModFix/>
          </a:blip>
          <a:srcRect b="-9794" l="59884" r="27320" t="-9794"/>
          <a:stretch/>
        </p:blipFill>
        <p:spPr>
          <a:xfrm>
            <a:off x="7016600" y="2964007"/>
            <a:ext cx="1170025" cy="131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1388" name="Google Shape;1388;p97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4">
            <a:alphaModFix/>
          </a:blip>
          <a:srcRect b="-9794" l="-4111" r="85748" t="-9794"/>
          <a:stretch/>
        </p:blipFill>
        <p:spPr>
          <a:xfrm>
            <a:off x="4815025" y="2966633"/>
            <a:ext cx="1679150" cy="131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871}{25\ 000}\ &quot;&gt;&lt;mfrac&gt;&lt;mn&gt;9871&lt;/mn&gt;&lt;mrow&gt;&lt;mn&gt;25&lt;/mn&gt;&lt;mtext&gt;&lt;/mtext&gt;&lt;mn&gt;000&lt;/mn&gt;&lt;/mrow&gt;&lt;/mfrac&gt;&lt;mtext&gt;&lt;/mtext&gt;&lt;/math&gt;" id="1389" name="Google Shape;1389;p97" title="the fraction with numerator 9871 and denominator 25 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3078" y="3074557"/>
            <a:ext cx="1513049" cy="11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98"/>
          <p:cNvSpPr txBox="1"/>
          <p:nvPr>
            <p:ph idx="1" type="body"/>
          </p:nvPr>
        </p:nvSpPr>
        <p:spPr>
          <a:xfrm>
            <a:off x="324000" y="759300"/>
            <a:ext cx="8237700" cy="5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missing value(s) on the calculator displays.</a:t>
            </a:r>
            <a:endParaRPr/>
          </a:p>
        </p:txBody>
      </p:sp>
      <p:sp>
        <p:nvSpPr>
          <p:cNvPr id="1395" name="Google Shape;1395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id="1396" name="Google Shape;139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150" y="1219200"/>
            <a:ext cx="3350462" cy="154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150" y="3005150"/>
            <a:ext cx="3461901" cy="16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5850" y="1219202"/>
            <a:ext cx="3484125" cy="1549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5855" y="3021802"/>
            <a:ext cx="3484109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98"/>
          <p:cNvSpPr/>
          <p:nvPr/>
        </p:nvSpPr>
        <p:spPr>
          <a:xfrm>
            <a:off x="1543258" y="1528573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98"/>
          <p:cNvSpPr/>
          <p:nvPr/>
        </p:nvSpPr>
        <p:spPr>
          <a:xfrm>
            <a:off x="3115166" y="3776096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98"/>
          <p:cNvSpPr/>
          <p:nvPr/>
        </p:nvSpPr>
        <p:spPr>
          <a:xfrm>
            <a:off x="1760312" y="3329106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98"/>
          <p:cNvSpPr/>
          <p:nvPr/>
        </p:nvSpPr>
        <p:spPr>
          <a:xfrm>
            <a:off x="6087341" y="1500276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8"/>
          <p:cNvSpPr/>
          <p:nvPr/>
        </p:nvSpPr>
        <p:spPr>
          <a:xfrm>
            <a:off x="7908989" y="1944272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98"/>
          <p:cNvSpPr/>
          <p:nvPr/>
        </p:nvSpPr>
        <p:spPr>
          <a:xfrm>
            <a:off x="7232691" y="2248326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98"/>
          <p:cNvSpPr/>
          <p:nvPr/>
        </p:nvSpPr>
        <p:spPr>
          <a:xfrm>
            <a:off x="6086311" y="3353228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98"/>
          <p:cNvSpPr/>
          <p:nvPr/>
        </p:nvSpPr>
        <p:spPr>
          <a:xfrm>
            <a:off x="7957305" y="3806988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98"/>
          <p:cNvSpPr/>
          <p:nvPr/>
        </p:nvSpPr>
        <p:spPr>
          <a:xfrm>
            <a:off x="7412051" y="4131302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9871}{25\ 000}\ &quot;&gt;&lt;mfrac&gt;&lt;mn&gt;9871&lt;/mn&gt;&lt;mrow&gt;&lt;mn&gt;25&lt;/mn&gt;&lt;mtext&gt;&lt;/mtext&gt;&lt;mn&gt;000&lt;/mn&gt;&lt;/mrow&gt;&lt;/mfrac&gt;&lt;mtext&gt;&lt;/mtext&gt;&lt;/math&gt;" id="1413" name="Google Shape;1413;p99" title="the fraction with numerator 9871 and denominator 25 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9778" y="3412020"/>
            <a:ext cx="1513049" cy="11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a calculator, match the fraction to its </a:t>
            </a:r>
            <a:r>
              <a:rPr b="1" lang="en-GB"/>
              <a:t>terminating decimal</a:t>
            </a:r>
            <a:r>
              <a:rPr lang="en-GB"/>
              <a:t>.</a:t>
            </a:r>
            <a:endParaRPr/>
          </a:p>
        </p:txBody>
      </p:sp>
      <p:sp>
        <p:nvSpPr>
          <p:cNvPr id="1415" name="Google Shape;1415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0.1294\\&amp;#13;&amp;#10;0.39482\\&amp;#13;&amp;#10;13.444\\&amp;#13;&amp;#10;1.30345\end{array}&quot;&gt;&lt;mtable columnalign=&quot;left&quot; columnspacing=&quot;1em&quot; rowspacing=&quot;4pt&quot;&gt;&lt;mtr&gt;&lt;mtd&gt;&lt;mn&gt;0.1294&lt;/mn&gt;&lt;/mtd&gt;&lt;/mtr&gt;&lt;mtr&gt;&lt;mtd&gt;&lt;mn&gt;0.39482&lt;/mn&gt;&lt;/mtd&gt;&lt;/mtr&gt;&lt;mtr&gt;&lt;mtd&gt;&lt;mn&gt;13.444&lt;/mn&gt;&lt;/mtd&gt;&lt;/mtr&gt;&lt;mtr&gt;&lt;mtd&gt;&lt;mn&gt;1.30345&lt;/mn&gt;&lt;/mtd&gt;&lt;/mtr&gt;&lt;/mtable&gt;&lt;/math&gt;" id="1416" name="Google Shape;1416;p99" title="4 lines Line 1: 0.1294 Line 2: 0.39482 Line 3: 13.444 Line 4: 1.30345"/>
          <p:cNvPicPr preferRelativeResize="0"/>
          <p:nvPr/>
        </p:nvPicPr>
        <p:blipFill rotWithShape="1">
          <a:blip r:embed="rId4">
            <a:alphaModFix/>
          </a:blip>
          <a:srcRect b="81199" l="0" r="0" t="0"/>
          <a:stretch/>
        </p:blipFill>
        <p:spPr>
          <a:xfrm>
            <a:off x="631225" y="1958875"/>
            <a:ext cx="1679150" cy="480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1417" name="Google Shape;1417;p99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5">
            <a:alphaModFix/>
          </a:blip>
          <a:srcRect b="0" l="18011" r="60310" t="0"/>
          <a:stretch/>
        </p:blipFill>
        <p:spPr>
          <a:xfrm>
            <a:off x="4718937" y="1597918"/>
            <a:ext cx="1982225" cy="110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94\\&amp;#13;&amp;#10;0.39482\\&amp;#13;&amp;#10;13.444\\&amp;#13;&amp;#10;1.30345\end{array}&quot;&gt;&lt;mtable columnalign=&quot;left&quot; columnspacing=&quot;1em&quot; rowspacing=&quot;4pt&quot;&gt;&lt;mtr&gt;&lt;mtd&gt;&lt;mn&gt;0.1294&lt;/mn&gt;&lt;/mtd&gt;&lt;/mtr&gt;&lt;mtr&gt;&lt;mtd&gt;&lt;mn&gt;0.39482&lt;/mn&gt;&lt;/mtd&gt;&lt;/mtr&gt;&lt;mtr&gt;&lt;mtd&gt;&lt;mn&gt;13.444&lt;/mn&gt;&lt;/mtd&gt;&lt;/mtr&gt;&lt;mtr&gt;&lt;mtd&gt;&lt;mn&gt;1.30345&lt;/mn&gt;&lt;/mtd&gt;&lt;/mtr&gt;&lt;/mtable&gt;&lt;/math&gt;" id="1418" name="Google Shape;1418;p99" title="4 lines Line 1: 0.1294 Line 2: 0.39482 Line 3: 13.444 Line 4: 1.30345"/>
          <p:cNvPicPr preferRelativeResize="0"/>
          <p:nvPr/>
        </p:nvPicPr>
        <p:blipFill rotWithShape="1">
          <a:blip r:embed="rId4">
            <a:alphaModFix/>
          </a:blip>
          <a:srcRect b="24685" l="0" r="0" t="56514"/>
          <a:stretch/>
        </p:blipFill>
        <p:spPr>
          <a:xfrm>
            <a:off x="2729912" y="1958876"/>
            <a:ext cx="1679150" cy="480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1419" name="Google Shape;1419;p99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5">
            <a:alphaModFix/>
          </a:blip>
          <a:srcRect b="0" l="86338" r="-8016" t="0"/>
          <a:stretch/>
        </p:blipFill>
        <p:spPr>
          <a:xfrm>
            <a:off x="6892681" y="1597918"/>
            <a:ext cx="1982225" cy="110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1420" name="Google Shape;1420;p99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5">
            <a:alphaModFix/>
          </a:blip>
          <a:srcRect b="-9303" l="74523" r="14268" t="-10284"/>
          <a:stretch/>
        </p:blipFill>
        <p:spPr>
          <a:xfrm>
            <a:off x="763025" y="3307425"/>
            <a:ext cx="1024926" cy="131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1421" name="Google Shape;1421;p99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5">
            <a:alphaModFix/>
          </a:blip>
          <a:srcRect b="-9794" l="59884" r="27320" t="-9794"/>
          <a:stretch/>
        </p:blipFill>
        <p:spPr>
          <a:xfrm>
            <a:off x="7016600" y="3268807"/>
            <a:ext cx="1170025" cy="131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1422" name="Google Shape;1422;p99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5">
            <a:alphaModFix/>
          </a:blip>
          <a:srcRect b="-9794" l="-4111" r="85748" t="-9794"/>
          <a:stretch/>
        </p:blipFill>
        <p:spPr>
          <a:xfrm>
            <a:off x="4815025" y="3271433"/>
            <a:ext cx="1679150" cy="1317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3" name="Google Shape;1423;p99"/>
          <p:cNvCxnSpPr>
            <a:endCxn id="1422" idx="0"/>
          </p:cNvCxnSpPr>
          <p:nvPr/>
        </p:nvCxnSpPr>
        <p:spPr>
          <a:xfrm>
            <a:off x="2036600" y="2401433"/>
            <a:ext cx="3618000" cy="87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99"/>
          <p:cNvCxnSpPr>
            <a:endCxn id="1421" idx="0"/>
          </p:cNvCxnSpPr>
          <p:nvPr/>
        </p:nvCxnSpPr>
        <p:spPr>
          <a:xfrm>
            <a:off x="4077513" y="2439307"/>
            <a:ext cx="3524100" cy="82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5" name="Google Shape;1425;p99"/>
          <p:cNvCxnSpPr/>
          <p:nvPr/>
        </p:nvCxnSpPr>
        <p:spPr>
          <a:xfrm flipH="1" rot="10800000">
            <a:off x="3555600" y="2375075"/>
            <a:ext cx="1881900" cy="92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6" name="Google Shape;1426;p99"/>
          <p:cNvCxnSpPr>
            <a:stCxn id="1420" idx="0"/>
          </p:cNvCxnSpPr>
          <p:nvPr/>
        </p:nvCxnSpPr>
        <p:spPr>
          <a:xfrm flipH="1" rot="10800000">
            <a:off x="1275488" y="2414925"/>
            <a:ext cx="5954700" cy="892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missing value(s) on the calculator displays.</a:t>
            </a:r>
            <a:endParaRPr/>
          </a:p>
        </p:txBody>
      </p:sp>
      <p:sp>
        <p:nvSpPr>
          <p:cNvPr id="1432" name="Google Shape;1432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</a:t>
            </a:r>
            <a:endParaRPr/>
          </a:p>
        </p:txBody>
      </p:sp>
      <p:pic>
        <p:nvPicPr>
          <p:cNvPr id="1433" name="Google Shape;143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150" y="1219200"/>
            <a:ext cx="3350462" cy="154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150" y="3005150"/>
            <a:ext cx="3461901" cy="16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5" name="Google Shape;1435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5850" y="1219202"/>
            <a:ext cx="3484125" cy="1549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5855" y="3021802"/>
            <a:ext cx="3484109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100"/>
          <p:cNvSpPr/>
          <p:nvPr/>
        </p:nvSpPr>
        <p:spPr>
          <a:xfrm>
            <a:off x="1543258" y="1528573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00"/>
          <p:cNvSpPr/>
          <p:nvPr/>
        </p:nvSpPr>
        <p:spPr>
          <a:xfrm>
            <a:off x="3115166" y="3776096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00"/>
          <p:cNvSpPr/>
          <p:nvPr/>
        </p:nvSpPr>
        <p:spPr>
          <a:xfrm>
            <a:off x="1760312" y="3329106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100"/>
          <p:cNvSpPr/>
          <p:nvPr/>
        </p:nvSpPr>
        <p:spPr>
          <a:xfrm>
            <a:off x="6087341" y="1500276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100"/>
          <p:cNvSpPr/>
          <p:nvPr/>
        </p:nvSpPr>
        <p:spPr>
          <a:xfrm>
            <a:off x="7908989" y="1944272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00"/>
          <p:cNvSpPr/>
          <p:nvPr/>
        </p:nvSpPr>
        <p:spPr>
          <a:xfrm>
            <a:off x="7232691" y="2248326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00"/>
          <p:cNvSpPr/>
          <p:nvPr/>
        </p:nvSpPr>
        <p:spPr>
          <a:xfrm>
            <a:off x="6086311" y="3353228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100"/>
          <p:cNvSpPr/>
          <p:nvPr/>
        </p:nvSpPr>
        <p:spPr>
          <a:xfrm>
            <a:off x="7957305" y="3806988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100"/>
          <p:cNvSpPr/>
          <p:nvPr/>
        </p:nvSpPr>
        <p:spPr>
          <a:xfrm>
            <a:off x="7412051" y="4131302"/>
            <a:ext cx="226500" cy="258300"/>
          </a:xfrm>
          <a:prstGeom prst="rect">
            <a:avLst/>
          </a:prstGeom>
          <a:solidFill>
            <a:srgbClr val="D6E3D6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terminating decimals</a:t>
            </a:r>
            <a:endParaRPr/>
          </a:p>
        </p:txBody>
      </p:sp>
      <p:sp>
        <p:nvSpPr>
          <p:cNvPr id="1451" name="Google Shape;1451;p101"/>
          <p:cNvSpPr txBox="1"/>
          <p:nvPr>
            <p:ph idx="4294967295" type="subTitle"/>
          </p:nvPr>
        </p:nvSpPr>
        <p:spPr>
          <a:xfrm>
            <a:off x="429761" y="765050"/>
            <a:ext cx="7822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100"/>
              <a:t>A</a:t>
            </a:r>
            <a:r>
              <a:rPr lang="en-GB" sz="2100"/>
              <a:t> </a:t>
            </a:r>
            <a:r>
              <a:rPr b="1" lang="en-GB" sz="2100"/>
              <a:t>terminating decimal</a:t>
            </a:r>
            <a:r>
              <a:rPr lang="en-GB" sz="2100"/>
              <a:t> </a:t>
            </a:r>
            <a:r>
              <a:rPr b="0" lang="en-GB" sz="2100"/>
              <a:t>is one that has a finite number of digits after the decimal point.</a:t>
            </a:r>
            <a:endParaRPr b="0" sz="2100"/>
          </a:p>
        </p:txBody>
      </p:sp>
      <p:sp>
        <p:nvSpPr>
          <p:cNvPr id="1452" name="Google Shape;1452;p101"/>
          <p:cNvSpPr txBox="1"/>
          <p:nvPr>
            <p:ph idx="1" type="body"/>
          </p:nvPr>
        </p:nvSpPr>
        <p:spPr>
          <a:xfrm>
            <a:off x="429761" y="1707938"/>
            <a:ext cx="8237700" cy="7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Short division is a straightforward approach to identify the fraction as a decimal.</a:t>
            </a:r>
            <a:endParaRPr sz="2100"/>
          </a:p>
        </p:txBody>
      </p:sp>
      <p:sp>
        <p:nvSpPr>
          <p:cNvPr id="1453" name="Google Shape;1453;p101"/>
          <p:cNvSpPr txBox="1"/>
          <p:nvPr>
            <p:ph idx="1" type="body"/>
          </p:nvPr>
        </p:nvSpPr>
        <p:spPr>
          <a:xfrm>
            <a:off x="429761" y="2642113"/>
            <a:ext cx="8237700" cy="8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We can also identify if a simplified fraction gives a </a:t>
            </a:r>
            <a:r>
              <a:rPr b="1" lang="en-GB" sz="2100"/>
              <a:t>terminating decimal </a:t>
            </a:r>
            <a:r>
              <a:rPr lang="en-GB" sz="2100"/>
              <a:t>when </a:t>
            </a:r>
            <a:r>
              <a:rPr lang="en-GB" sz="2100"/>
              <a:t>the denominator has a product of its prime factors of </a:t>
            </a:r>
            <a:r>
              <a:rPr lang="en-GB" sz="2100"/>
              <a:t>bases of 2 and/or 5</a:t>
            </a:r>
            <a:r>
              <a:rPr lang="en-GB" sz="2100"/>
              <a:t> only.</a:t>
            </a:r>
            <a:endParaRPr sz="2100"/>
          </a:p>
        </p:txBody>
      </p:sp>
      <p:sp>
        <p:nvSpPr>
          <p:cNvPr id="1454" name="Google Shape;1454;p101"/>
          <p:cNvSpPr txBox="1"/>
          <p:nvPr/>
        </p:nvSpPr>
        <p:spPr>
          <a:xfrm>
            <a:off x="429761" y="3982200"/>
            <a:ext cx="83712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We can also use a scientific calculator to identify the decimal equivalent to a fraction and vice versa.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60" name="Google Shape;1460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