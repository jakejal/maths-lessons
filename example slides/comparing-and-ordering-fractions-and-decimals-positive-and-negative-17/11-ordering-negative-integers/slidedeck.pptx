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197FDF-9876-4B23-8D49-C4F4607933F6}">
  <a:tblStyle styleId="{D2197FDF-9876-4B23-8D49-C4F4607933F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61c30189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61c30189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961c30189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961c30189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2961c30189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7" name="Google Shape;777;g2961c30189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g2989d69a9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7" name="Google Shape;787;g2989d69a9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961c30189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961c30189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2961c30189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0" name="Google Shape;810;g2961c30189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961c30189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961c30189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961c30189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961c30189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9912d6257e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7" name="Google Shape;877;g29912d6257e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98b3ae13ee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98b3ae13ee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298b3ae13ee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298b3ae13ee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298b3ae13ee_1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298b3ae13ee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298b3ae13e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298b3ae13e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98b3ae13ee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98b3ae13ee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98b3ae13ee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98b3ae13ee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961c30189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961c30189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961c301897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961c301897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2961c301897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2961c30189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g2961c30189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8" name="Google Shape;1018;g2961c30189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2961c30189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2961c30189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2961c30189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2961c30189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9912d6257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9912d6257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2961c30189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2961c30189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961c30189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961c30189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2961c30189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2961c30189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298b3ae13ee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298b3ae13ee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989d69a9e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989d69a9e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9912d6257e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9912d6257e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g2989d69a9e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7" name="Google Shape;1257;g2989d69a9e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61.png"/><Relationship Id="rId5" Type="http://schemas.openxmlformats.org/officeDocument/2006/relationships/image" Target="../media/image29.png"/><Relationship Id="rId6" Type="http://schemas.openxmlformats.org/officeDocument/2006/relationships/image" Target="../media/image28.png"/><Relationship Id="rId7" Type="http://schemas.openxmlformats.org/officeDocument/2006/relationships/image" Target="../media/image1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1.png"/><Relationship Id="rId4" Type="http://schemas.openxmlformats.org/officeDocument/2006/relationships/image" Target="../media/image23.png"/><Relationship Id="rId9" Type="http://schemas.openxmlformats.org/officeDocument/2006/relationships/image" Target="../media/image11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2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61.png"/><Relationship Id="rId4" Type="http://schemas.openxmlformats.org/officeDocument/2006/relationships/image" Target="../media/image30.png"/><Relationship Id="rId11" Type="http://schemas.openxmlformats.org/officeDocument/2006/relationships/image" Target="../media/image11.png"/><Relationship Id="rId10" Type="http://schemas.openxmlformats.org/officeDocument/2006/relationships/image" Target="../media/image41.png"/><Relationship Id="rId9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0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1.png"/><Relationship Id="rId7" Type="http://schemas.openxmlformats.org/officeDocument/2006/relationships/image" Target="../media/image5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0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1.png"/><Relationship Id="rId7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Relationship Id="rId5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3.png"/><Relationship Id="rId4" Type="http://schemas.openxmlformats.org/officeDocument/2006/relationships/image" Target="../media/image59.png"/><Relationship Id="rId5" Type="http://schemas.openxmlformats.org/officeDocument/2006/relationships/image" Target="../media/image5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666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and ordering fractions and decimals (positive and negative)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compare negative integers using &lt; and &gt;.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absolute value of a number is its distance from zero. E.g. 5 and (-5) are both 5 away from zero and so both have an absolute value of 5.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</a:t>
            </a:r>
            <a:r>
              <a:rPr lang="en-GB"/>
              <a:t>negative integers in a context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pic>
        <p:nvPicPr>
          <p:cNvPr id="774" name="Google Shape;77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7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1905725"/>
            <a:ext cx="8237700" cy="280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2007 a lottery scratch card was withdrawn from sale!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‘Cool Cash’ games were released on a Monday but withdrawn from sale just 5 days later.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game was withdrawn after some players failed to grasp whether or not they had won.</a:t>
            </a:r>
            <a:endParaRPr/>
          </a:p>
        </p:txBody>
      </p:sp>
      <p:grpSp>
        <p:nvGrpSpPr>
          <p:cNvPr id="781" name="Google Shape;781;p69"/>
          <p:cNvGrpSpPr/>
          <p:nvPr/>
        </p:nvGrpSpPr>
        <p:grpSpPr>
          <a:xfrm>
            <a:off x="3852592" y="700566"/>
            <a:ext cx="1438800" cy="1118100"/>
            <a:chOff x="6896519" y="788674"/>
            <a:chExt cx="1438800" cy="1118100"/>
          </a:xfrm>
        </p:grpSpPr>
        <p:sp>
          <p:nvSpPr>
            <p:cNvPr id="782" name="Google Shape;782;p69"/>
            <p:cNvSpPr/>
            <p:nvPr/>
          </p:nvSpPr>
          <p:spPr>
            <a:xfrm rot="703343">
              <a:off x="6974338" y="909431"/>
              <a:ext cx="1283162" cy="876587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83" name="Google Shape;783;p69"/>
            <p:cNvPicPr preferRelativeResize="0"/>
            <p:nvPr/>
          </p:nvPicPr>
          <p:blipFill rotWithShape="1">
            <a:blip r:embed="rId3">
              <a:alphaModFix/>
            </a:blip>
            <a:srcRect b="8966" l="9900" r="35966" t="0"/>
            <a:stretch/>
          </p:blipFill>
          <p:spPr>
            <a:xfrm rot="703641">
              <a:off x="7029832" y="884696"/>
              <a:ext cx="546285" cy="7927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4" name="Google Shape;784;p69"/>
            <p:cNvSpPr txBox="1"/>
            <p:nvPr/>
          </p:nvSpPr>
          <p:spPr>
            <a:xfrm rot="703681">
              <a:off x="7517767" y="1141383"/>
              <a:ext cx="765991" cy="554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COOL CASH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790" name="Google Shape;790;p70"/>
          <p:cNvSpPr txBox="1"/>
          <p:nvPr>
            <p:ph idx="1" type="body"/>
          </p:nvPr>
        </p:nvSpPr>
        <p:spPr>
          <a:xfrm>
            <a:off x="324000" y="1704681"/>
            <a:ext cx="8201100" cy="167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41414"/>
                </a:solidFill>
                <a:highlight>
                  <a:srgbClr val="FFFFFF"/>
                </a:highlight>
              </a:rPr>
              <a:t>One customer contacted Camelot and said:</a:t>
            </a:r>
            <a:endParaRPr sz="1800">
              <a:solidFill>
                <a:srgbClr val="141414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141414"/>
                </a:solidFill>
                <a:highlight>
                  <a:srgbClr val="FFFFFF"/>
                </a:highlight>
              </a:rPr>
              <a:t>"On one of my cards it said I had to find temperatures </a:t>
            </a:r>
            <a:r>
              <a:rPr lang="en-GB" sz="1800">
                <a:solidFill>
                  <a:schemeClr val="accent4"/>
                </a:solidFill>
                <a:highlight>
                  <a:srgbClr val="FFFFFF"/>
                </a:highlight>
              </a:rPr>
              <a:t>lower than −8</a:t>
            </a:r>
            <a:r>
              <a:rPr lang="en-GB" sz="1800">
                <a:solidFill>
                  <a:srgbClr val="141414"/>
                </a:solidFill>
                <a:highlight>
                  <a:srgbClr val="FFFFFF"/>
                </a:highlight>
              </a:rPr>
              <a:t>.  The numbers I uncovered were </a:t>
            </a:r>
            <a:r>
              <a:rPr lang="en-GB" sz="1800">
                <a:solidFill>
                  <a:schemeClr val="accent4"/>
                </a:solidFill>
                <a:highlight>
                  <a:srgbClr val="FFFFFF"/>
                </a:highlight>
              </a:rPr>
              <a:t>−6</a:t>
            </a:r>
            <a:r>
              <a:rPr lang="en-GB" sz="1800">
                <a:solidFill>
                  <a:srgbClr val="141414"/>
                </a:solidFill>
                <a:highlight>
                  <a:srgbClr val="FFFFFF"/>
                </a:highlight>
              </a:rPr>
              <a:t> and </a:t>
            </a:r>
            <a:r>
              <a:rPr lang="en-GB" sz="1800">
                <a:solidFill>
                  <a:schemeClr val="accent4"/>
                </a:solidFill>
                <a:highlight>
                  <a:srgbClr val="FFFFFF"/>
                </a:highlight>
              </a:rPr>
              <a:t>−7</a:t>
            </a:r>
            <a:r>
              <a:rPr lang="en-GB" sz="1800">
                <a:solidFill>
                  <a:srgbClr val="141414"/>
                </a:solidFill>
                <a:highlight>
                  <a:srgbClr val="FFFFFF"/>
                </a:highlight>
              </a:rPr>
              <a:t> so I thought I had won, and so did the woman in the shop.  But when she scanned the card the machine said I hadn't.”</a:t>
            </a:r>
            <a:endParaRPr sz="1800"/>
          </a:p>
        </p:txBody>
      </p:sp>
      <p:sp>
        <p:nvSpPr>
          <p:cNvPr id="791" name="Google Shape;791;p70"/>
          <p:cNvSpPr txBox="1"/>
          <p:nvPr/>
        </p:nvSpPr>
        <p:spPr>
          <a:xfrm>
            <a:off x="324000" y="3455681"/>
            <a:ext cx="84870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rgbClr val="141414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"I think Camelot are giving people the wrong impression - the card doesn't say to look for a colder or warmer temperature, it says to look for a higher or lower number. Six is a lower number than 8. Imagine how many people have been misled."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2" name="Google Shape;792;p70"/>
          <p:cNvGrpSpPr/>
          <p:nvPr/>
        </p:nvGrpSpPr>
        <p:grpSpPr>
          <a:xfrm>
            <a:off x="3852592" y="624366"/>
            <a:ext cx="1438800" cy="1118100"/>
            <a:chOff x="6896519" y="788674"/>
            <a:chExt cx="1438800" cy="1118100"/>
          </a:xfrm>
        </p:grpSpPr>
        <p:sp>
          <p:nvSpPr>
            <p:cNvPr id="793" name="Google Shape;793;p70"/>
            <p:cNvSpPr/>
            <p:nvPr/>
          </p:nvSpPr>
          <p:spPr>
            <a:xfrm rot="703343">
              <a:off x="6974338" y="909431"/>
              <a:ext cx="1283162" cy="876587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94" name="Google Shape;794;p70"/>
            <p:cNvPicPr preferRelativeResize="0"/>
            <p:nvPr/>
          </p:nvPicPr>
          <p:blipFill rotWithShape="1">
            <a:blip r:embed="rId3">
              <a:alphaModFix/>
            </a:blip>
            <a:srcRect b="8966" l="9900" r="35966" t="0"/>
            <a:stretch/>
          </p:blipFill>
          <p:spPr>
            <a:xfrm rot="703631">
              <a:off x="7029832" y="884695"/>
              <a:ext cx="546286" cy="7927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5" name="Google Shape;795;p70"/>
            <p:cNvSpPr txBox="1"/>
            <p:nvPr/>
          </p:nvSpPr>
          <p:spPr>
            <a:xfrm rot="703681">
              <a:off x="7517767" y="1141383"/>
              <a:ext cx="765991" cy="55420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COOL CASH</a:t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6" name="Google Shape;796;p70"/>
          <p:cNvSpPr txBox="1"/>
          <p:nvPr/>
        </p:nvSpPr>
        <p:spPr>
          <a:xfrm>
            <a:off x="324000" y="4681800"/>
            <a:ext cx="1866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© Manchester Evening News</a:t>
            </a:r>
            <a:endParaRPr sz="900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802" name="Google Shape;802;p71"/>
          <p:cNvSpPr txBox="1"/>
          <p:nvPr>
            <p:ph idx="1" type="body"/>
          </p:nvPr>
        </p:nvSpPr>
        <p:spPr>
          <a:xfrm>
            <a:off x="324000" y="759300"/>
            <a:ext cx="7135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To qualify for a prize you had to reveal a temperature lower than the figure displayed, which was usually below zero.</a:t>
            </a:r>
            <a:endParaRPr/>
          </a:p>
        </p:txBody>
      </p:sp>
      <p:sp>
        <p:nvSpPr>
          <p:cNvPr id="803" name="Google Shape;803;p71"/>
          <p:cNvSpPr txBox="1"/>
          <p:nvPr/>
        </p:nvSpPr>
        <p:spPr>
          <a:xfrm>
            <a:off x="324000" y="3322179"/>
            <a:ext cx="363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had they not won?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71"/>
          <p:cNvSpPr txBox="1"/>
          <p:nvPr/>
        </p:nvSpPr>
        <p:spPr>
          <a:xfrm>
            <a:off x="324000" y="3948300"/>
            <a:ext cx="812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greater the absolute value of a negative number the lower</a:t>
            </a:r>
            <a:r>
              <a:rPr lang="en-GB" sz="20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it is, as it is further away from zero.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5" name="Google Shape;805;p71"/>
          <p:cNvSpPr/>
          <p:nvPr/>
        </p:nvSpPr>
        <p:spPr>
          <a:xfrm>
            <a:off x="1684800" y="1728750"/>
            <a:ext cx="1206000" cy="1081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(−8)℃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1"/>
          <p:cNvSpPr/>
          <p:nvPr/>
        </p:nvSpPr>
        <p:spPr>
          <a:xfrm>
            <a:off x="5171400" y="1618275"/>
            <a:ext cx="1206000" cy="58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(−6)℃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1"/>
          <p:cNvSpPr/>
          <p:nvPr/>
        </p:nvSpPr>
        <p:spPr>
          <a:xfrm>
            <a:off x="5171400" y="2376150"/>
            <a:ext cx="1206000" cy="587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(−7)℃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813" name="Google Shape;813;p72"/>
          <p:cNvSpPr txBox="1"/>
          <p:nvPr>
            <p:ph idx="1" type="body"/>
          </p:nvPr>
        </p:nvSpPr>
        <p:spPr>
          <a:xfrm>
            <a:off x="324000" y="759300"/>
            <a:ext cx="8237700" cy="12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win you needed a number less than </a:t>
            </a:r>
            <a:r>
              <a:rPr lang="en-GB"/>
              <a:t>(−8)℃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Sort the following numbers into winning temperatures and losing temperatures.</a:t>
            </a:r>
            <a:endParaRPr/>
          </a:p>
        </p:txBody>
      </p:sp>
      <p:sp>
        <p:nvSpPr>
          <p:cNvPr id="814" name="Google Shape;814;p72"/>
          <p:cNvSpPr txBox="1"/>
          <p:nvPr/>
        </p:nvSpPr>
        <p:spPr>
          <a:xfrm>
            <a:off x="629325" y="2205400"/>
            <a:ext cx="8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(−6)℃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2"/>
          <p:cNvSpPr txBox="1"/>
          <p:nvPr/>
        </p:nvSpPr>
        <p:spPr>
          <a:xfrm>
            <a:off x="2198819" y="2233050"/>
            <a:ext cx="108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(−10)℃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2"/>
          <p:cNvSpPr txBox="1"/>
          <p:nvPr/>
        </p:nvSpPr>
        <p:spPr>
          <a:xfrm>
            <a:off x="5761406" y="2233050"/>
            <a:ext cx="8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(−3)℃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7" name="Google Shape;817;p72"/>
          <p:cNvSpPr txBox="1"/>
          <p:nvPr/>
        </p:nvSpPr>
        <p:spPr>
          <a:xfrm>
            <a:off x="7330900" y="2233050"/>
            <a:ext cx="108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(−16)℃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8" name="Google Shape;818;p72"/>
          <p:cNvSpPr txBox="1"/>
          <p:nvPr/>
        </p:nvSpPr>
        <p:spPr>
          <a:xfrm>
            <a:off x="3966013" y="2233050"/>
            <a:ext cx="111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(−8.5)℃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2"/>
          <p:cNvSpPr/>
          <p:nvPr/>
        </p:nvSpPr>
        <p:spPr>
          <a:xfrm>
            <a:off x="1693525" y="2706925"/>
            <a:ext cx="2626500" cy="2024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Winning Temperatures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0" name="Google Shape;820;p72"/>
          <p:cNvSpPr/>
          <p:nvPr/>
        </p:nvSpPr>
        <p:spPr>
          <a:xfrm>
            <a:off x="4824000" y="2706925"/>
            <a:ext cx="2626500" cy="2024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Losing Temperatures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2"/>
          <p:cNvSpPr txBox="1"/>
          <p:nvPr/>
        </p:nvSpPr>
        <p:spPr>
          <a:xfrm>
            <a:off x="5693850" y="3441300"/>
            <a:ext cx="8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(−6)℃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2"/>
          <p:cNvSpPr txBox="1"/>
          <p:nvPr/>
        </p:nvSpPr>
        <p:spPr>
          <a:xfrm>
            <a:off x="2464519" y="3441300"/>
            <a:ext cx="108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(−10)℃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2"/>
          <p:cNvSpPr txBox="1"/>
          <p:nvPr/>
        </p:nvSpPr>
        <p:spPr>
          <a:xfrm>
            <a:off x="2436319" y="3853275"/>
            <a:ext cx="111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(−8.5)℃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2"/>
          <p:cNvSpPr txBox="1"/>
          <p:nvPr/>
        </p:nvSpPr>
        <p:spPr>
          <a:xfrm>
            <a:off x="5693856" y="3853275"/>
            <a:ext cx="88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(−3)℃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2"/>
          <p:cNvSpPr txBox="1"/>
          <p:nvPr/>
        </p:nvSpPr>
        <p:spPr>
          <a:xfrm>
            <a:off x="2464519" y="4320000"/>
            <a:ext cx="1084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(−16)℃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831" name="Google Shape;831;p73"/>
          <p:cNvSpPr txBox="1"/>
          <p:nvPr>
            <p:ph idx="1" type="body"/>
          </p:nvPr>
        </p:nvSpPr>
        <p:spPr>
          <a:xfrm>
            <a:off x="324000" y="759300"/>
            <a:ext cx="7135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are some places that negative numbers can be seen in everyday life.</a:t>
            </a:r>
            <a:endParaRPr/>
          </a:p>
        </p:txBody>
      </p:sp>
      <p:pic>
        <p:nvPicPr>
          <p:cNvPr id="832" name="Google Shape;832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25" y="1820737"/>
            <a:ext cx="1249650" cy="2499274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3"/>
          <p:cNvSpPr txBox="1"/>
          <p:nvPr/>
        </p:nvSpPr>
        <p:spPr>
          <a:xfrm>
            <a:off x="623850" y="4408700"/>
            <a:ext cx="1713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temperature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4" name="Google Shape;83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5275" y="1391400"/>
            <a:ext cx="950693" cy="278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0273" y="1712100"/>
            <a:ext cx="3169325" cy="233442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73"/>
          <p:cNvSpPr txBox="1"/>
          <p:nvPr/>
        </p:nvSpPr>
        <p:spPr>
          <a:xfrm>
            <a:off x="6141175" y="4320000"/>
            <a:ext cx="17136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sea level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2688150" y="4152300"/>
            <a:ext cx="29925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stor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ey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 in a building or a lift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843" name="Google Shape;843;p74"/>
          <p:cNvSpPr txBox="1"/>
          <p:nvPr>
            <p:ph idx="1" type="body"/>
          </p:nvPr>
        </p:nvSpPr>
        <p:spPr>
          <a:xfrm>
            <a:off x="324000" y="762025"/>
            <a:ext cx="8237700" cy="43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Sea level is zero.</a:t>
            </a:r>
            <a:endParaRPr sz="1800"/>
          </a:p>
        </p:txBody>
      </p:sp>
      <p:pic>
        <p:nvPicPr>
          <p:cNvPr id="844" name="Google Shape;84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624" y="1343150"/>
            <a:ext cx="1799374" cy="132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74"/>
          <p:cNvSpPr txBox="1"/>
          <p:nvPr/>
        </p:nvSpPr>
        <p:spPr>
          <a:xfrm>
            <a:off x="7459200" y="2668500"/>
            <a:ext cx="995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sea level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4"/>
          <p:cNvSpPr txBox="1"/>
          <p:nvPr/>
        </p:nvSpPr>
        <p:spPr>
          <a:xfrm>
            <a:off x="4233575" y="1132675"/>
            <a:ext cx="91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positive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7" name="Google Shape;847;p74"/>
          <p:cNvSpPr txBox="1"/>
          <p:nvPr/>
        </p:nvSpPr>
        <p:spPr>
          <a:xfrm>
            <a:off x="4190763" y="1589420"/>
            <a:ext cx="104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nega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tive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8" name="Google Shape;848;p74"/>
          <p:cNvSpPr txBox="1"/>
          <p:nvPr/>
        </p:nvSpPr>
        <p:spPr>
          <a:xfrm>
            <a:off x="324000" y="2114550"/>
            <a:ext cx="64947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Write the following in order from the highest to the lowest.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4"/>
          <p:cNvSpPr txBox="1"/>
          <p:nvPr/>
        </p:nvSpPr>
        <p:spPr>
          <a:xfrm>
            <a:off x="324000" y="2677350"/>
            <a:ext cx="1412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fish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(−3)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4"/>
          <p:cNvSpPr txBox="1"/>
          <p:nvPr/>
        </p:nvSpPr>
        <p:spPr>
          <a:xfrm>
            <a:off x="324000" y="3966525"/>
            <a:ext cx="1926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seagull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4"/>
          <p:cNvSpPr txBox="1"/>
          <p:nvPr/>
        </p:nvSpPr>
        <p:spPr>
          <a:xfrm>
            <a:off x="324000" y="3536800"/>
            <a:ext cx="1926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kite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4"/>
          <p:cNvSpPr txBox="1"/>
          <p:nvPr/>
        </p:nvSpPr>
        <p:spPr>
          <a:xfrm>
            <a:off x="324000" y="4396250"/>
            <a:ext cx="1926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hark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(−1200)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4"/>
          <p:cNvSpPr txBox="1"/>
          <p:nvPr/>
        </p:nvSpPr>
        <p:spPr>
          <a:xfrm>
            <a:off x="324000" y="3107075"/>
            <a:ext cx="2152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octopus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(−1800)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4"/>
          <p:cNvSpPr txBox="1"/>
          <p:nvPr/>
        </p:nvSpPr>
        <p:spPr>
          <a:xfrm>
            <a:off x="4811400" y="2700000"/>
            <a:ext cx="1926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seagull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4"/>
          <p:cNvSpPr txBox="1"/>
          <p:nvPr/>
        </p:nvSpPr>
        <p:spPr>
          <a:xfrm>
            <a:off x="4824000" y="3121025"/>
            <a:ext cx="1926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kite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150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4"/>
          <p:cNvSpPr txBox="1"/>
          <p:nvPr/>
        </p:nvSpPr>
        <p:spPr>
          <a:xfrm>
            <a:off x="4824000" y="3542050"/>
            <a:ext cx="14124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fish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(−3)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7" name="Google Shape;857;p74"/>
          <p:cNvSpPr txBox="1"/>
          <p:nvPr/>
        </p:nvSpPr>
        <p:spPr>
          <a:xfrm>
            <a:off x="4824000" y="3963075"/>
            <a:ext cx="1926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shark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(−1200)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4"/>
          <p:cNvSpPr txBox="1"/>
          <p:nvPr/>
        </p:nvSpPr>
        <p:spPr>
          <a:xfrm>
            <a:off x="4824000" y="4384100"/>
            <a:ext cx="21522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octopus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(−1800)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324000" y="1216500"/>
            <a:ext cx="1106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Anything</a:t>
            </a:r>
            <a:endParaRPr sz="1800"/>
          </a:p>
        </p:txBody>
      </p:sp>
      <p:sp>
        <p:nvSpPr>
          <p:cNvPr id="860" name="Google Shape;860;p74"/>
          <p:cNvSpPr txBox="1"/>
          <p:nvPr>
            <p:ph idx="1" type="body"/>
          </p:nvPr>
        </p:nvSpPr>
        <p:spPr>
          <a:xfrm>
            <a:off x="1388600" y="1216500"/>
            <a:ext cx="8256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above</a:t>
            </a:r>
            <a:endParaRPr sz="1800"/>
          </a:p>
        </p:txBody>
      </p:sp>
      <p:sp>
        <p:nvSpPr>
          <p:cNvPr id="861" name="Google Shape;861;p74"/>
          <p:cNvSpPr txBox="1"/>
          <p:nvPr>
            <p:ph idx="1" type="body"/>
          </p:nvPr>
        </p:nvSpPr>
        <p:spPr>
          <a:xfrm>
            <a:off x="2141025" y="1216500"/>
            <a:ext cx="449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sea</a:t>
            </a:r>
            <a:endParaRPr sz="1800"/>
          </a:p>
        </p:txBody>
      </p:sp>
      <p:sp>
        <p:nvSpPr>
          <p:cNvPr id="862" name="Google Shape;862;p74"/>
          <p:cNvSpPr txBox="1"/>
          <p:nvPr>
            <p:ph idx="1" type="body"/>
          </p:nvPr>
        </p:nvSpPr>
        <p:spPr>
          <a:xfrm>
            <a:off x="2590375" y="1216500"/>
            <a:ext cx="590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level</a:t>
            </a:r>
            <a:endParaRPr sz="1800"/>
          </a:p>
        </p:txBody>
      </p:sp>
      <p:sp>
        <p:nvSpPr>
          <p:cNvPr id="863" name="Google Shape;863;p74"/>
          <p:cNvSpPr txBox="1"/>
          <p:nvPr>
            <p:ph idx="1" type="body"/>
          </p:nvPr>
        </p:nvSpPr>
        <p:spPr>
          <a:xfrm>
            <a:off x="3180825" y="1216500"/>
            <a:ext cx="6858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will</a:t>
            </a:r>
            <a:endParaRPr sz="1800"/>
          </a:p>
        </p:txBody>
      </p:sp>
      <p:sp>
        <p:nvSpPr>
          <p:cNvPr id="864" name="Google Shape;864;p74"/>
          <p:cNvSpPr txBox="1"/>
          <p:nvPr>
            <p:ph idx="1" type="body"/>
          </p:nvPr>
        </p:nvSpPr>
        <p:spPr>
          <a:xfrm>
            <a:off x="3597525" y="1216500"/>
            <a:ext cx="540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 a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5" name="Google Shape;865;p74"/>
          <p:cNvSpPr txBox="1"/>
          <p:nvPr>
            <p:ph idx="1" type="body"/>
          </p:nvPr>
        </p:nvSpPr>
        <p:spPr>
          <a:xfrm>
            <a:off x="5314425" y="1216500"/>
            <a:ext cx="995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number.</a:t>
            </a:r>
            <a:endParaRPr sz="1800"/>
          </a:p>
        </p:txBody>
      </p:sp>
      <p:sp>
        <p:nvSpPr>
          <p:cNvPr id="866" name="Google Shape;866;p74"/>
          <p:cNvSpPr txBox="1"/>
          <p:nvPr>
            <p:ph idx="1" type="body"/>
          </p:nvPr>
        </p:nvSpPr>
        <p:spPr>
          <a:xfrm>
            <a:off x="4165775" y="1216500"/>
            <a:ext cx="1206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/>
              <a:t>   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67" name="Google Shape;867;p74"/>
          <p:cNvSpPr txBox="1"/>
          <p:nvPr>
            <p:ph idx="1" type="body"/>
          </p:nvPr>
        </p:nvSpPr>
        <p:spPr>
          <a:xfrm>
            <a:off x="324000" y="1673700"/>
            <a:ext cx="1106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Anything</a:t>
            </a:r>
            <a:endParaRPr sz="1800"/>
          </a:p>
        </p:txBody>
      </p:sp>
      <p:sp>
        <p:nvSpPr>
          <p:cNvPr id="868" name="Google Shape;868;p74"/>
          <p:cNvSpPr txBox="1"/>
          <p:nvPr>
            <p:ph idx="1" type="body"/>
          </p:nvPr>
        </p:nvSpPr>
        <p:spPr>
          <a:xfrm>
            <a:off x="1430400" y="1673700"/>
            <a:ext cx="783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below</a:t>
            </a:r>
            <a:endParaRPr sz="1800"/>
          </a:p>
        </p:txBody>
      </p:sp>
      <p:sp>
        <p:nvSpPr>
          <p:cNvPr id="869" name="Google Shape;869;p74"/>
          <p:cNvSpPr txBox="1"/>
          <p:nvPr>
            <p:ph idx="1" type="body"/>
          </p:nvPr>
        </p:nvSpPr>
        <p:spPr>
          <a:xfrm>
            <a:off x="2141025" y="1673700"/>
            <a:ext cx="449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sea</a:t>
            </a:r>
            <a:endParaRPr sz="1800"/>
          </a:p>
        </p:txBody>
      </p:sp>
      <p:sp>
        <p:nvSpPr>
          <p:cNvPr id="870" name="Google Shape;870;p74"/>
          <p:cNvSpPr txBox="1"/>
          <p:nvPr>
            <p:ph idx="1" type="body"/>
          </p:nvPr>
        </p:nvSpPr>
        <p:spPr>
          <a:xfrm>
            <a:off x="2590375" y="1673700"/>
            <a:ext cx="590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level</a:t>
            </a:r>
            <a:endParaRPr sz="1800"/>
          </a:p>
        </p:txBody>
      </p:sp>
      <p:sp>
        <p:nvSpPr>
          <p:cNvPr id="871" name="Google Shape;871;p74"/>
          <p:cNvSpPr txBox="1"/>
          <p:nvPr>
            <p:ph idx="1" type="body"/>
          </p:nvPr>
        </p:nvSpPr>
        <p:spPr>
          <a:xfrm>
            <a:off x="3180825" y="1673700"/>
            <a:ext cx="6858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will</a:t>
            </a:r>
            <a:endParaRPr sz="1800"/>
          </a:p>
        </p:txBody>
      </p:sp>
      <p:sp>
        <p:nvSpPr>
          <p:cNvPr id="872" name="Google Shape;872;p74"/>
          <p:cNvSpPr txBox="1"/>
          <p:nvPr>
            <p:ph idx="1" type="body"/>
          </p:nvPr>
        </p:nvSpPr>
        <p:spPr>
          <a:xfrm>
            <a:off x="3597525" y="1673700"/>
            <a:ext cx="540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 a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73" name="Google Shape;873;p74"/>
          <p:cNvSpPr txBox="1"/>
          <p:nvPr>
            <p:ph idx="1" type="body"/>
          </p:nvPr>
        </p:nvSpPr>
        <p:spPr>
          <a:xfrm>
            <a:off x="5314425" y="1673700"/>
            <a:ext cx="9954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number.</a:t>
            </a:r>
            <a:endParaRPr sz="1800"/>
          </a:p>
        </p:txBody>
      </p:sp>
      <p:sp>
        <p:nvSpPr>
          <p:cNvPr id="874" name="Google Shape;874;p74"/>
          <p:cNvSpPr txBox="1"/>
          <p:nvPr>
            <p:ph idx="1" type="body"/>
          </p:nvPr>
        </p:nvSpPr>
        <p:spPr>
          <a:xfrm>
            <a:off x="4165775" y="1673700"/>
            <a:ext cx="12069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 u="sng"/>
              <a:t>                 </a:t>
            </a:r>
            <a:r>
              <a:rPr lang="en-GB" sz="1800" u="sng">
                <a:solidFill>
                  <a:schemeClr val="lt1"/>
                </a:solidFill>
              </a:rPr>
              <a:t>.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880" name="Google Shape;880;p7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(−1)</a:t>
            </a:r>
            <a:r>
              <a:rPr lang="en-GB" sz="2000"/>
              <a:t>℃</a:t>
            </a:r>
            <a:r>
              <a:rPr lang="en-GB"/>
              <a:t>, (−2)</a:t>
            </a:r>
            <a:r>
              <a:rPr lang="en-GB" sz="2000"/>
              <a:t>℃</a:t>
            </a:r>
            <a:r>
              <a:rPr lang="en-GB"/>
              <a:t>, (−6)</a:t>
            </a:r>
            <a:r>
              <a:rPr lang="en-GB" sz="2000"/>
              <a:t>℃</a:t>
            </a:r>
            <a:r>
              <a:rPr lang="en-GB"/>
              <a:t>, (−8)</a:t>
            </a:r>
            <a:r>
              <a:rPr lang="en-GB" sz="2000"/>
              <a:t>℃</a:t>
            </a:r>
            <a:r>
              <a:rPr lang="en-GB"/>
              <a:t>, (−12)</a:t>
            </a:r>
            <a:r>
              <a:rPr lang="en-GB" sz="2000"/>
              <a:t>℃</a:t>
            </a:r>
            <a:endParaRPr/>
          </a:p>
        </p:txBody>
      </p:sp>
      <p:sp>
        <p:nvSpPr>
          <p:cNvPr id="881" name="Google Shape;881;p75"/>
          <p:cNvSpPr txBox="1"/>
          <p:nvPr>
            <p:ph type="title"/>
          </p:nvPr>
        </p:nvSpPr>
        <p:spPr>
          <a:xfrm>
            <a:off x="324000" y="748775"/>
            <a:ext cx="8820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 these temperatures in order from coldest to warmest.</a:t>
            </a:r>
            <a:endParaRPr/>
          </a:p>
          <a:p>
            <a:pPr indent="0" lvl="0" marL="91440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(−6)℃        (−1)℃        (−8)℃         (−2)℃          (−12)℃</a:t>
            </a:r>
            <a:endParaRPr/>
          </a:p>
        </p:txBody>
      </p:sp>
      <p:sp>
        <p:nvSpPr>
          <p:cNvPr id="882" name="Google Shape;882;p75"/>
          <p:cNvSpPr txBox="1"/>
          <p:nvPr>
            <p:ph idx="3" type="subTitle"/>
          </p:nvPr>
        </p:nvSpPr>
        <p:spPr>
          <a:xfrm>
            <a:off x="1034425" y="2794250"/>
            <a:ext cx="4740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(−12)</a:t>
            </a:r>
            <a:r>
              <a:rPr lang="en-GB" sz="2000"/>
              <a:t>℃</a:t>
            </a:r>
            <a:r>
              <a:rPr lang="en-GB"/>
              <a:t>, (−8)</a:t>
            </a:r>
            <a:r>
              <a:rPr lang="en-GB" sz="2000"/>
              <a:t>℃</a:t>
            </a:r>
            <a:r>
              <a:rPr lang="en-GB"/>
              <a:t>, (−6)</a:t>
            </a:r>
            <a:r>
              <a:rPr lang="en-GB" sz="2000"/>
              <a:t>℃</a:t>
            </a:r>
            <a:r>
              <a:rPr lang="en-GB"/>
              <a:t>, (−2)</a:t>
            </a:r>
            <a:r>
              <a:rPr lang="en-GB" sz="2000"/>
              <a:t>℃</a:t>
            </a:r>
            <a:r>
              <a:rPr lang="en-GB"/>
              <a:t>, (−1)</a:t>
            </a:r>
            <a:r>
              <a:rPr lang="en-GB" sz="2000"/>
              <a:t>℃</a:t>
            </a:r>
            <a:endParaRPr/>
          </a:p>
        </p:txBody>
      </p:sp>
      <p:sp>
        <p:nvSpPr>
          <p:cNvPr id="883" name="Google Shape;883;p75"/>
          <p:cNvSpPr txBox="1"/>
          <p:nvPr>
            <p:ph idx="4" type="subTitle"/>
          </p:nvPr>
        </p:nvSpPr>
        <p:spPr>
          <a:xfrm>
            <a:off x="1034425" y="3766975"/>
            <a:ext cx="4740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(−1)</a:t>
            </a:r>
            <a:r>
              <a:rPr lang="en-GB" sz="2000"/>
              <a:t>℃</a:t>
            </a:r>
            <a:r>
              <a:rPr lang="en-GB"/>
              <a:t>, (−2)</a:t>
            </a:r>
            <a:r>
              <a:rPr lang="en-GB" sz="2000"/>
              <a:t>℃</a:t>
            </a:r>
            <a:r>
              <a:rPr lang="en-GB"/>
              <a:t>, (−8)</a:t>
            </a:r>
            <a:r>
              <a:rPr lang="en-GB" sz="2000"/>
              <a:t>℃</a:t>
            </a:r>
            <a:r>
              <a:rPr lang="en-GB"/>
              <a:t>, (−6)</a:t>
            </a:r>
            <a:r>
              <a:rPr lang="en-GB" sz="2000"/>
              <a:t>℃</a:t>
            </a:r>
            <a:r>
              <a:rPr lang="en-GB"/>
              <a:t>, (−12)</a:t>
            </a:r>
            <a:r>
              <a:rPr lang="en-GB" sz="2000"/>
              <a:t>℃</a:t>
            </a:r>
            <a:endParaRPr/>
          </a:p>
        </p:txBody>
      </p:sp>
      <p:pic>
        <p:nvPicPr>
          <p:cNvPr id="884" name="Google Shape;88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33" y="27792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5"/>
          <p:cNvSpPr txBox="1"/>
          <p:nvPr/>
        </p:nvSpPr>
        <p:spPr>
          <a:xfrm>
            <a:off x="5922300" y="1671736"/>
            <a:ext cx="2897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They are in the correct order, but from warmest to coldest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6"/>
          <p:cNvSpPr txBox="1"/>
          <p:nvPr>
            <p:ph idx="1" type="body"/>
          </p:nvPr>
        </p:nvSpPr>
        <p:spPr>
          <a:xfrm>
            <a:off x="324000" y="759300"/>
            <a:ext cx="8820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Write the following temperatures from coldest to warmest.</a:t>
            </a:r>
            <a:endParaRPr sz="2000"/>
          </a:p>
          <a:p>
            <a:pPr indent="-3556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(−10)℃	       (−4)℃        (−8)℃         (−2)℃         (−5)℃</a:t>
            </a:r>
            <a:endParaRPr sz="2000"/>
          </a:p>
          <a:p>
            <a:pPr indent="-3556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(−18)℃        (−22)℃       (−24)℃      (−16)℃       (−27)℃</a:t>
            </a:r>
            <a:endParaRPr sz="2000"/>
          </a:p>
          <a:p>
            <a:pPr indent="-3556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(−32)℃        (−23)℃       (−43)℃      (−34)℃       (−48)℃</a:t>
            </a:r>
            <a:endParaRPr sz="2000"/>
          </a:p>
          <a:p>
            <a:pPr indent="-3556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2000"/>
              <a:buAutoNum type="alphaLcParenR"/>
            </a:pPr>
            <a:r>
              <a:rPr lang="en-GB" sz="2000"/>
              <a:t>(−100)℃      (−104)℃     (−96)℃      (−88)℃      (−110)℃</a:t>
            </a:r>
            <a:endParaRPr sz="2000"/>
          </a:p>
        </p:txBody>
      </p:sp>
      <p:sp>
        <p:nvSpPr>
          <p:cNvPr id="891" name="Google Shape;891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897" name="Google Shape;897;p77"/>
          <p:cNvSpPr txBox="1"/>
          <p:nvPr>
            <p:ph idx="1" type="body"/>
          </p:nvPr>
        </p:nvSpPr>
        <p:spPr>
          <a:xfrm>
            <a:off x="324000" y="759300"/>
            <a:ext cx="8820000" cy="66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A quiz has ten questions. 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Points are given as follows:   2 points for each correct answer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                                              (−1) for a missed question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                                              (−3) for an incorrect answer</a:t>
            </a:r>
            <a:endParaRPr sz="1800"/>
          </a:p>
        </p:txBody>
      </p:sp>
      <p:pic>
        <p:nvPicPr>
          <p:cNvPr id="898" name="Google Shape;89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972" y="322498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7"/>
          <p:cNvSpPr txBox="1"/>
          <p:nvPr/>
        </p:nvSpPr>
        <p:spPr>
          <a:xfrm>
            <a:off x="5431067" y="40137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0" name="Google Shape;900;p77"/>
          <p:cNvSpPr txBox="1"/>
          <p:nvPr/>
        </p:nvSpPr>
        <p:spPr>
          <a:xfrm>
            <a:off x="7658524" y="40137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7"/>
          <p:cNvSpPr txBox="1"/>
          <p:nvPr/>
        </p:nvSpPr>
        <p:spPr>
          <a:xfrm>
            <a:off x="120375" y="36327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2" name="Google Shape;902;p77"/>
          <p:cNvSpPr txBox="1"/>
          <p:nvPr/>
        </p:nvSpPr>
        <p:spPr>
          <a:xfrm>
            <a:off x="1341421" y="40899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3" name="Google Shape;903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21" y="2880413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4579" y="3176527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8601" y="3100313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6" name="Google Shape;906;p77"/>
          <p:cNvGrpSpPr/>
          <p:nvPr/>
        </p:nvGrpSpPr>
        <p:grpSpPr>
          <a:xfrm>
            <a:off x="630955" y="1479460"/>
            <a:ext cx="1955310" cy="1369592"/>
            <a:chOff x="912132" y="1882250"/>
            <a:chExt cx="1797325" cy="1299300"/>
          </a:xfrm>
        </p:grpSpPr>
        <p:pic>
          <p:nvPicPr>
            <p:cNvPr id="907" name="Google Shape;907;p77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912132" y="1882250"/>
              <a:ext cx="1797325" cy="129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8" name="Google Shape;908;p77"/>
            <p:cNvSpPr txBox="1"/>
            <p:nvPr/>
          </p:nvSpPr>
          <p:spPr>
            <a:xfrm flipH="1">
              <a:off x="1062852" y="2140031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got 3 correct, 3 missed questions and 4 incorrect.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9" name="Google Shape;909;p77"/>
          <p:cNvGrpSpPr/>
          <p:nvPr/>
        </p:nvGrpSpPr>
        <p:grpSpPr>
          <a:xfrm>
            <a:off x="2488027" y="2118688"/>
            <a:ext cx="1955251" cy="1554696"/>
            <a:chOff x="2488024" y="2561383"/>
            <a:chExt cx="1955251" cy="1133325"/>
          </a:xfrm>
        </p:grpSpPr>
        <p:pic>
          <p:nvPicPr>
            <p:cNvPr id="910" name="Google Shape;910;p77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2488024" y="2561383"/>
              <a:ext cx="1955251" cy="1133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1" name="Google Shape;911;p77"/>
            <p:cNvSpPr txBox="1"/>
            <p:nvPr/>
          </p:nvSpPr>
          <p:spPr>
            <a:xfrm flipH="1">
              <a:off x="2660475" y="2736436"/>
              <a:ext cx="17094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got 5 correct, 1 missed question and 4 incorrect.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2" name="Google Shape;912;p77"/>
          <p:cNvGrpSpPr/>
          <p:nvPr/>
        </p:nvGrpSpPr>
        <p:grpSpPr>
          <a:xfrm>
            <a:off x="6080487" y="2027625"/>
            <a:ext cx="2116093" cy="1283775"/>
            <a:chOff x="6117475" y="1875225"/>
            <a:chExt cx="1771976" cy="1283775"/>
          </a:xfrm>
        </p:grpSpPr>
        <p:pic>
          <p:nvPicPr>
            <p:cNvPr id="913" name="Google Shape;913;p77"/>
            <p:cNvPicPr preferRelativeResize="0"/>
            <p:nvPr/>
          </p:nvPicPr>
          <p:blipFill rotWithShape="1">
            <a:blip r:embed="rId7">
              <a:alphaModFix/>
            </a:blip>
            <a:srcRect b="0" l="0" r="70143" t="56280"/>
            <a:stretch/>
          </p:blipFill>
          <p:spPr>
            <a:xfrm>
              <a:off x="6117475" y="1875225"/>
              <a:ext cx="1771976" cy="128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4" name="Google Shape;914;p77"/>
            <p:cNvSpPr txBox="1"/>
            <p:nvPr/>
          </p:nvSpPr>
          <p:spPr>
            <a:xfrm flipH="1">
              <a:off x="6226625" y="2111610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got 3 correct, 5 missed questions and 2 incorrect.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5" name="Google Shape;915;p77"/>
          <p:cNvGrpSpPr/>
          <p:nvPr/>
        </p:nvGrpSpPr>
        <p:grpSpPr>
          <a:xfrm>
            <a:off x="4401300" y="2276475"/>
            <a:ext cx="1709476" cy="1034926"/>
            <a:chOff x="4401257" y="2365554"/>
            <a:chExt cx="1709476" cy="1276741"/>
          </a:xfrm>
        </p:grpSpPr>
        <p:pic>
          <p:nvPicPr>
            <p:cNvPr id="916" name="Google Shape;916;p77"/>
            <p:cNvPicPr preferRelativeResize="0"/>
            <p:nvPr/>
          </p:nvPicPr>
          <p:blipFill rotWithShape="1">
            <a:blip r:embed="rId7">
              <a:alphaModFix/>
            </a:blip>
            <a:srcRect b="0" l="0" r="70143" t="56280"/>
            <a:stretch/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7" name="Google Shape;917;p77"/>
            <p:cNvSpPr txBox="1"/>
            <p:nvPr/>
          </p:nvSpPr>
          <p:spPr>
            <a:xfrm flipH="1">
              <a:off x="4506932" y="2403273"/>
              <a:ext cx="1603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got 4 correct, and 6 incorrect.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8" name="Google Shape;918;p77"/>
          <p:cNvSpPr txBox="1"/>
          <p:nvPr/>
        </p:nvSpPr>
        <p:spPr>
          <a:xfrm>
            <a:off x="324000" y="4539300"/>
            <a:ext cx="7730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Work out their score and rank them from lowest to highest score.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Ordering negative integers in a context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78"/>
          <p:cNvSpPr txBox="1"/>
          <p:nvPr>
            <p:ph idx="4294967295" type="body"/>
          </p:nvPr>
        </p:nvSpPr>
        <p:spPr>
          <a:xfrm>
            <a:off x="324000" y="683100"/>
            <a:ext cx="6439500" cy="35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 </a:t>
            </a:r>
            <a:r>
              <a:rPr lang="en-GB" sz="1800"/>
              <a:t>A hotel has 10 floors below reception which is on the ground floor, floor 0.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bedrooms only on floors (−2), (−4), (−6) and (−7).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On the other floors are the following:	staff room, gym, restaurant, maintenance office, basement and swimming pool.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Use the following clues to work out what is on each floor.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swimming pool is 2 floors below the gym.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staff room is between the basement and maintenance office.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restaurant is higher up than the gym.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maintenance office is 7 floors below the restaurant.</a:t>
            </a:r>
            <a:endParaRPr sz="1800"/>
          </a:p>
        </p:txBody>
      </p:sp>
      <p:graphicFrame>
        <p:nvGraphicFramePr>
          <p:cNvPr id="925" name="Google Shape;925;p78"/>
          <p:cNvGraphicFramePr/>
          <p:nvPr/>
        </p:nvGraphicFramePr>
        <p:xfrm>
          <a:off x="6763500" y="69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{D2197FDF-9876-4B23-8D49-C4F4607933F6}</a:tableStyleId>
              </a:tblPr>
              <a:tblGrid>
                <a:gridCol w="832825"/>
                <a:gridCol w="1194550"/>
              </a:tblGrid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FLOOR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79"/>
          <p:cNvSpPr txBox="1"/>
          <p:nvPr>
            <p:ph idx="1" type="body"/>
          </p:nvPr>
        </p:nvSpPr>
        <p:spPr>
          <a:xfrm>
            <a:off x="324000" y="759300"/>
            <a:ext cx="8237700" cy="38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Write the following temperatures from coldest to warmest.</a:t>
            </a:r>
            <a:endParaRPr sz="2000"/>
          </a:p>
          <a:p>
            <a:pPr indent="-3556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(−10)℃	       (−4)℃        (−8)℃         (−2)℃        (−5)℃</a:t>
            </a:r>
            <a:endParaRPr sz="2000"/>
          </a:p>
          <a:p>
            <a:pPr indent="-3556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(−18)℃        (−22)℃       (−24)℃      (−16)℃       (−27)℃</a:t>
            </a:r>
            <a:endParaRPr sz="2000"/>
          </a:p>
          <a:p>
            <a:pPr indent="-3556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(−32)℃        (−23)℃       (−43)℃      (−34)℃       (−48)℃</a:t>
            </a:r>
            <a:endParaRPr sz="2000"/>
          </a:p>
          <a:p>
            <a:pPr indent="-355600" lvl="0" marL="91440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SzPts val="2000"/>
              <a:buAutoNum type="alphaLcParenR"/>
            </a:pPr>
            <a:r>
              <a:rPr lang="en-GB" sz="2000"/>
              <a:t>(−100)℃      (−104)℃     (−96)℃      (−88)℃      (−110)℃</a:t>
            </a:r>
            <a:endParaRPr sz="2000"/>
          </a:p>
        </p:txBody>
      </p:sp>
      <p:sp>
        <p:nvSpPr>
          <p:cNvPr id="931" name="Google Shape;931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932" name="Google Shape;932;p79"/>
          <p:cNvSpPr txBox="1"/>
          <p:nvPr/>
        </p:nvSpPr>
        <p:spPr>
          <a:xfrm>
            <a:off x="1198100" y="1778475"/>
            <a:ext cx="7311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(−10)℃	     (−8)℃     (−5)℃      (−4)℃     (−2)℃	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3" name="Google Shape;933;p79"/>
          <p:cNvSpPr txBox="1"/>
          <p:nvPr/>
        </p:nvSpPr>
        <p:spPr>
          <a:xfrm>
            <a:off x="1198100" y="2516358"/>
            <a:ext cx="7227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(−27)℃     (−24)℃    (−22)℃    (−18)℃    (−16)℃	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4" name="Google Shape;934;p79"/>
          <p:cNvSpPr txBox="1"/>
          <p:nvPr/>
        </p:nvSpPr>
        <p:spPr>
          <a:xfrm>
            <a:off x="1238100" y="3278667"/>
            <a:ext cx="7581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(−48)℃     (−43)℃    (−34)℃   (−32)℃    (−23)℃	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79"/>
          <p:cNvSpPr txBox="1"/>
          <p:nvPr/>
        </p:nvSpPr>
        <p:spPr>
          <a:xfrm>
            <a:off x="1238100" y="4005967"/>
            <a:ext cx="765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(−110)℃     (−104)℃   (−100)℃   (−96)℃    (−88)℃	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941" name="Google Shape;941;p80"/>
          <p:cNvSpPr txBox="1"/>
          <p:nvPr>
            <p:ph idx="1" type="body"/>
          </p:nvPr>
        </p:nvSpPr>
        <p:spPr>
          <a:xfrm>
            <a:off x="324000" y="759300"/>
            <a:ext cx="8237700" cy="12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 A quiz has ten questions. 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Points are given as follows:   2 points for each correct answer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                                              (−1) for a missed question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                                              (−3) for an incorrect answer</a:t>
            </a:r>
            <a:endParaRPr sz="1800"/>
          </a:p>
        </p:txBody>
      </p:sp>
      <p:pic>
        <p:nvPicPr>
          <p:cNvPr id="942" name="Google Shape;94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7972" y="3072587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943" name="Google Shape;943;p80"/>
          <p:cNvSpPr txBox="1"/>
          <p:nvPr/>
        </p:nvSpPr>
        <p:spPr>
          <a:xfrm>
            <a:off x="5431067" y="38613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80"/>
          <p:cNvSpPr txBox="1"/>
          <p:nvPr/>
        </p:nvSpPr>
        <p:spPr>
          <a:xfrm>
            <a:off x="7658524" y="3861348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0"/>
          <p:cNvSpPr txBox="1"/>
          <p:nvPr/>
        </p:nvSpPr>
        <p:spPr>
          <a:xfrm>
            <a:off x="120375" y="3404148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80"/>
          <p:cNvSpPr txBox="1"/>
          <p:nvPr/>
        </p:nvSpPr>
        <p:spPr>
          <a:xfrm>
            <a:off x="1341421" y="3785148"/>
            <a:ext cx="1657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7" name="Google Shape;94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421" y="2651813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14579" y="2871727"/>
            <a:ext cx="807750" cy="1057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8601" y="2947913"/>
            <a:ext cx="807760" cy="8960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0" name="Google Shape;950;p80"/>
          <p:cNvGrpSpPr/>
          <p:nvPr/>
        </p:nvGrpSpPr>
        <p:grpSpPr>
          <a:xfrm>
            <a:off x="630942" y="1690646"/>
            <a:ext cx="1955310" cy="929649"/>
            <a:chOff x="912132" y="1882250"/>
            <a:chExt cx="1797325" cy="1299300"/>
          </a:xfrm>
        </p:grpSpPr>
        <p:pic>
          <p:nvPicPr>
            <p:cNvPr id="951" name="Google Shape;951;p80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912132" y="1882250"/>
              <a:ext cx="1797325" cy="1299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2" name="Google Shape;952;p80"/>
            <p:cNvSpPr txBox="1"/>
            <p:nvPr/>
          </p:nvSpPr>
          <p:spPr>
            <a:xfrm flipH="1">
              <a:off x="1062852" y="2140031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I scored </a:t>
              </a: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(−9)</a:t>
              </a:r>
              <a:r>
                <a:rPr lang="en-GB" sz="2000">
                  <a:latin typeface="Kalam"/>
                  <a:ea typeface="Kalam"/>
                  <a:cs typeface="Kalam"/>
                  <a:sym typeface="Kalam"/>
                </a:rPr>
                <a:t> </a:t>
              </a:r>
              <a:endParaRPr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953" name="Google Shape;953;p80"/>
          <p:cNvGrpSpPr/>
          <p:nvPr/>
        </p:nvGrpSpPr>
        <p:grpSpPr>
          <a:xfrm>
            <a:off x="2488027" y="2209916"/>
            <a:ext cx="1955251" cy="1158825"/>
            <a:chOff x="2488024" y="2561383"/>
            <a:chExt cx="1955251" cy="1133325"/>
          </a:xfrm>
        </p:grpSpPr>
        <p:pic>
          <p:nvPicPr>
            <p:cNvPr id="954" name="Google Shape;954;p80"/>
            <p:cNvPicPr preferRelativeResize="0"/>
            <p:nvPr/>
          </p:nvPicPr>
          <p:blipFill rotWithShape="1">
            <a:blip r:embed="rId7">
              <a:alphaModFix/>
            </a:blip>
            <a:srcRect b="0" l="0" r="69082" t="56280"/>
            <a:stretch/>
          </p:blipFill>
          <p:spPr>
            <a:xfrm flipH="1">
              <a:off x="2488024" y="2561383"/>
              <a:ext cx="1955251" cy="1133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5" name="Google Shape;955;p80"/>
            <p:cNvSpPr txBox="1"/>
            <p:nvPr/>
          </p:nvSpPr>
          <p:spPr>
            <a:xfrm flipH="1">
              <a:off x="2660475" y="2736436"/>
              <a:ext cx="17094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I scored (−3)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6" name="Google Shape;956;p80"/>
          <p:cNvGrpSpPr/>
          <p:nvPr/>
        </p:nvGrpSpPr>
        <p:grpSpPr>
          <a:xfrm>
            <a:off x="6080452" y="2101125"/>
            <a:ext cx="2116093" cy="1057959"/>
            <a:chOff x="6117475" y="1875225"/>
            <a:chExt cx="1771976" cy="1283775"/>
          </a:xfrm>
        </p:grpSpPr>
        <p:pic>
          <p:nvPicPr>
            <p:cNvPr id="957" name="Google Shape;957;p80"/>
            <p:cNvPicPr preferRelativeResize="0"/>
            <p:nvPr/>
          </p:nvPicPr>
          <p:blipFill rotWithShape="1">
            <a:blip r:embed="rId7">
              <a:alphaModFix/>
            </a:blip>
            <a:srcRect b="0" l="0" r="70143" t="56280"/>
            <a:stretch/>
          </p:blipFill>
          <p:spPr>
            <a:xfrm>
              <a:off x="6117475" y="1875225"/>
              <a:ext cx="1771976" cy="12837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8" name="Google Shape;958;p80"/>
            <p:cNvSpPr txBox="1"/>
            <p:nvPr/>
          </p:nvSpPr>
          <p:spPr>
            <a:xfrm flipH="1">
              <a:off x="6226625" y="2111610"/>
              <a:ext cx="1603800" cy="73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I scored (−5)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59" name="Google Shape;959;p80"/>
          <p:cNvGrpSpPr/>
          <p:nvPr/>
        </p:nvGrpSpPr>
        <p:grpSpPr>
          <a:xfrm>
            <a:off x="4401300" y="2124075"/>
            <a:ext cx="1709476" cy="1034926"/>
            <a:chOff x="4401257" y="2365554"/>
            <a:chExt cx="1709476" cy="1276741"/>
          </a:xfrm>
        </p:grpSpPr>
        <p:pic>
          <p:nvPicPr>
            <p:cNvPr id="960" name="Google Shape;960;p80"/>
            <p:cNvPicPr preferRelativeResize="0"/>
            <p:nvPr/>
          </p:nvPicPr>
          <p:blipFill rotWithShape="1">
            <a:blip r:embed="rId7">
              <a:alphaModFix/>
            </a:blip>
            <a:srcRect b="0" l="0" r="70143" t="56280"/>
            <a:stretch/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1" name="Google Shape;961;p80"/>
            <p:cNvSpPr txBox="1"/>
            <p:nvPr/>
          </p:nvSpPr>
          <p:spPr>
            <a:xfrm flipH="1">
              <a:off x="4506932" y="2403273"/>
              <a:ext cx="1603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I scored (−10)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2" name="Google Shape;962;p80"/>
          <p:cNvSpPr txBox="1"/>
          <p:nvPr/>
        </p:nvSpPr>
        <p:spPr>
          <a:xfrm>
            <a:off x="324000" y="4407794"/>
            <a:ext cx="77301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Work out their score and rank them from lowest to highest score.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(−10), Lucas (−9), Sofia (−5)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Laura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(−3)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81"/>
          <p:cNvSpPr txBox="1"/>
          <p:nvPr>
            <p:ph idx="4294967295" type="body"/>
          </p:nvPr>
        </p:nvSpPr>
        <p:spPr>
          <a:xfrm>
            <a:off x="324000" y="683100"/>
            <a:ext cx="6439500" cy="359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 </a:t>
            </a:r>
            <a:r>
              <a:rPr lang="en-GB" sz="1800"/>
              <a:t>A hotel has 10 floors below reception which is on the ground floor, floor 0.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bedrooms only on floors (−2), (−4), (−6) and (−7).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On the other floors are the following:	staff room, gym, restaurant, maintenance office, basement and swimming pool.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Use the following clues to work out what is on each floor.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swimming pool is 2 floors below the gym.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staff room is between the basement and maintenance office. 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restaurant is higher up than the gym.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maintenance office is 7 floors below the restaurant.</a:t>
            </a:r>
            <a:endParaRPr sz="1800"/>
          </a:p>
        </p:txBody>
      </p:sp>
      <p:graphicFrame>
        <p:nvGraphicFramePr>
          <p:cNvPr id="969" name="Google Shape;969;p81"/>
          <p:cNvGraphicFramePr/>
          <p:nvPr/>
        </p:nvGraphicFramePr>
        <p:xfrm>
          <a:off x="6763500" y="69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{D2197FDF-9876-4B23-8D49-C4F4607933F6}</a:tableStyleId>
              </a:tblPr>
              <a:tblGrid>
                <a:gridCol w="832825"/>
                <a:gridCol w="1194550"/>
              </a:tblGrid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FLOOR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Reception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Restaurant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(−2)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Bedrooms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Gym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Bedrooms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(−5)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Pool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Bedrooms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(−7)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Bedrooms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Office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(−9)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Staff room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  <a:tr h="281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Basement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 in a context</a:t>
            </a:r>
            <a:endParaRPr/>
          </a:p>
        </p:txBody>
      </p:sp>
      <p:sp>
        <p:nvSpPr>
          <p:cNvPr id="975" name="Google Shape;975;p8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976" name="Google Shape;976;p82"/>
          <p:cNvSpPr txBox="1"/>
          <p:nvPr>
            <p:ph idx="3" type="title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pic>
        <p:nvPicPr>
          <p:cNvPr id="977" name="Google Shape;97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75" y="299328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983" name="Google Shape;983;p83"/>
          <p:cNvSpPr txBox="1"/>
          <p:nvPr>
            <p:ph idx="1" type="body"/>
          </p:nvPr>
        </p:nvSpPr>
        <p:spPr>
          <a:xfrm>
            <a:off x="324000" y="759300"/>
            <a:ext cx="8237700" cy="7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can be useful to consider </a:t>
            </a:r>
            <a:r>
              <a:rPr lang="en-GB"/>
              <a:t>negative</a:t>
            </a:r>
            <a:r>
              <a:rPr lang="en-GB"/>
              <a:t> integers on a number line.</a:t>
            </a:r>
            <a:endParaRPr/>
          </a:p>
        </p:txBody>
      </p:sp>
      <p:grpSp>
        <p:nvGrpSpPr>
          <p:cNvPr id="984" name="Google Shape;984;p83"/>
          <p:cNvGrpSpPr/>
          <p:nvPr/>
        </p:nvGrpSpPr>
        <p:grpSpPr>
          <a:xfrm>
            <a:off x="851424" y="2756656"/>
            <a:ext cx="7539018" cy="204490"/>
            <a:chOff x="683270" y="2982982"/>
            <a:chExt cx="4148700" cy="204490"/>
          </a:xfrm>
        </p:grpSpPr>
        <p:cxnSp>
          <p:nvCxnSpPr>
            <p:cNvPr id="985" name="Google Shape;985;p83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6" name="Google Shape;986;p83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7" name="Google Shape;987;p83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8" name="Google Shape;988;p83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89" name="Google Shape;989;p83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0" name="Google Shape;990;p83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1" name="Google Shape;991;p83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2" name="Google Shape;992;p83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3" name="Google Shape;993;p83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4" name="Google Shape;994;p83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5" name="Google Shape;995;p83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96" name="Google Shape;996;p83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97" name="Google Shape;997;p83"/>
          <p:cNvSpPr txBox="1"/>
          <p:nvPr/>
        </p:nvSpPr>
        <p:spPr>
          <a:xfrm>
            <a:off x="4199052" y="2961150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8" name="Google Shape;998;p83"/>
          <p:cNvSpPr/>
          <p:nvPr/>
        </p:nvSpPr>
        <p:spPr>
          <a:xfrm>
            <a:off x="692000" y="2297150"/>
            <a:ext cx="3412800" cy="3120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9" name="Google Shape;999;p83"/>
          <p:cNvSpPr/>
          <p:nvPr/>
        </p:nvSpPr>
        <p:spPr>
          <a:xfrm rot="10800000">
            <a:off x="4398000" y="2297150"/>
            <a:ext cx="3412800" cy="3120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83"/>
          <p:cNvSpPr txBox="1"/>
          <p:nvPr/>
        </p:nvSpPr>
        <p:spPr>
          <a:xfrm>
            <a:off x="1212300" y="2012225"/>
            <a:ext cx="28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Absolute values increase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83"/>
          <p:cNvSpPr txBox="1"/>
          <p:nvPr/>
        </p:nvSpPr>
        <p:spPr>
          <a:xfrm>
            <a:off x="4519200" y="2012225"/>
            <a:ext cx="28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Absolute values increase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007" name="Google Shape;1007;p84"/>
          <p:cNvSpPr txBox="1"/>
          <p:nvPr>
            <p:ph idx="1" type="body"/>
          </p:nvPr>
        </p:nvSpPr>
        <p:spPr>
          <a:xfrm>
            <a:off x="324000" y="759300"/>
            <a:ext cx="24459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1008" name="Google Shape;1008;p84"/>
          <p:cNvSpPr/>
          <p:nvPr/>
        </p:nvSpPr>
        <p:spPr>
          <a:xfrm>
            <a:off x="2294250" y="1901825"/>
            <a:ext cx="11859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(−46)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9" name="Google Shape;1009;p84"/>
          <p:cNvSpPr/>
          <p:nvPr/>
        </p:nvSpPr>
        <p:spPr>
          <a:xfrm>
            <a:off x="5663850" y="1901825"/>
            <a:ext cx="11859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(−50)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10" name="Google Shape;1010;p84"/>
          <p:cNvCxnSpPr/>
          <p:nvPr/>
        </p:nvCxnSpPr>
        <p:spPr>
          <a:xfrm flipH="1" rot="10800000">
            <a:off x="2015050" y="2658900"/>
            <a:ext cx="605400" cy="501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1" name="Google Shape;1011;p84"/>
          <p:cNvCxnSpPr/>
          <p:nvPr/>
        </p:nvCxnSpPr>
        <p:spPr>
          <a:xfrm rot="10800000">
            <a:off x="6622325" y="2658900"/>
            <a:ext cx="520500" cy="457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2" name="Google Shape;1012;p84"/>
          <p:cNvSpPr txBox="1"/>
          <p:nvPr>
            <p:ph idx="1" type="body"/>
          </p:nvPr>
        </p:nvSpPr>
        <p:spPr>
          <a:xfrm>
            <a:off x="461850" y="3290800"/>
            <a:ext cx="28158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Absolute value is 46</a:t>
            </a:r>
            <a:endParaRPr/>
          </a:p>
        </p:txBody>
      </p:sp>
      <p:sp>
        <p:nvSpPr>
          <p:cNvPr id="1013" name="Google Shape;1013;p84"/>
          <p:cNvSpPr txBox="1"/>
          <p:nvPr>
            <p:ph idx="1" type="body"/>
          </p:nvPr>
        </p:nvSpPr>
        <p:spPr>
          <a:xfrm>
            <a:off x="5880075" y="3240000"/>
            <a:ext cx="28158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Absolute value is 50</a:t>
            </a:r>
            <a:endParaRPr/>
          </a:p>
        </p:txBody>
      </p:sp>
      <p:sp>
        <p:nvSpPr>
          <p:cNvPr id="1014" name="Google Shape;1014;p84"/>
          <p:cNvSpPr txBox="1"/>
          <p:nvPr>
            <p:ph idx="1" type="body"/>
          </p:nvPr>
        </p:nvSpPr>
        <p:spPr>
          <a:xfrm>
            <a:off x="324000" y="4097100"/>
            <a:ext cx="80727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integer with the </a:t>
            </a:r>
            <a:r>
              <a:rPr lang="en-GB" sz="1800">
                <a:solidFill>
                  <a:schemeClr val="accent5"/>
                </a:solidFill>
              </a:rPr>
              <a:t>highest</a:t>
            </a:r>
            <a:r>
              <a:rPr lang="en-GB" sz="1800"/>
              <a:t> absolute value is the </a:t>
            </a:r>
            <a:r>
              <a:rPr lang="en-GB" sz="1800">
                <a:solidFill>
                  <a:schemeClr val="accent5"/>
                </a:solidFill>
              </a:rPr>
              <a:t>least </a:t>
            </a:r>
            <a:r>
              <a:rPr lang="en-GB" sz="1800"/>
              <a:t>because they are both negative but (−50) is further away from zero.</a:t>
            </a:r>
            <a:endParaRPr sz="1800"/>
          </a:p>
        </p:txBody>
      </p:sp>
      <p:sp>
        <p:nvSpPr>
          <p:cNvPr id="1015" name="Google Shape;1015;p84"/>
          <p:cNvSpPr txBox="1"/>
          <p:nvPr/>
        </p:nvSpPr>
        <p:spPr>
          <a:xfrm>
            <a:off x="4389600" y="2147675"/>
            <a:ext cx="36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&gt;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021" name="Google Shape;1021;p85"/>
          <p:cNvSpPr/>
          <p:nvPr/>
        </p:nvSpPr>
        <p:spPr>
          <a:xfrm>
            <a:off x="1550912" y="1165780"/>
            <a:ext cx="15726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(−185)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85"/>
          <p:cNvSpPr/>
          <p:nvPr/>
        </p:nvSpPr>
        <p:spPr>
          <a:xfrm>
            <a:off x="6020493" y="1165780"/>
            <a:ext cx="15726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(−158)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85"/>
          <p:cNvSpPr txBox="1"/>
          <p:nvPr/>
        </p:nvSpPr>
        <p:spPr>
          <a:xfrm>
            <a:off x="4389600" y="1385675"/>
            <a:ext cx="36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4" name="Google Shape;1024;p85"/>
          <p:cNvSpPr txBox="1"/>
          <p:nvPr>
            <p:ph idx="1" type="body"/>
          </p:nvPr>
        </p:nvSpPr>
        <p:spPr>
          <a:xfrm>
            <a:off x="324000" y="759300"/>
            <a:ext cx="2445900" cy="37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is greater?</a:t>
            </a:r>
            <a:endParaRPr/>
          </a:p>
        </p:txBody>
      </p:sp>
      <p:sp>
        <p:nvSpPr>
          <p:cNvPr id="1025" name="Google Shape;1025;p85"/>
          <p:cNvSpPr/>
          <p:nvPr/>
        </p:nvSpPr>
        <p:spPr>
          <a:xfrm>
            <a:off x="1550912" y="2428217"/>
            <a:ext cx="15726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(−6875)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5"/>
          <p:cNvSpPr/>
          <p:nvPr/>
        </p:nvSpPr>
        <p:spPr>
          <a:xfrm>
            <a:off x="6020493" y="2428217"/>
            <a:ext cx="15726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(−6785)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5"/>
          <p:cNvSpPr txBox="1"/>
          <p:nvPr/>
        </p:nvSpPr>
        <p:spPr>
          <a:xfrm>
            <a:off x="4389600" y="2736800"/>
            <a:ext cx="36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&lt;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8" name="Google Shape;1028;p85"/>
          <p:cNvSpPr/>
          <p:nvPr/>
        </p:nvSpPr>
        <p:spPr>
          <a:xfrm>
            <a:off x="1550912" y="3690655"/>
            <a:ext cx="15726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(−35 024)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5"/>
          <p:cNvSpPr/>
          <p:nvPr/>
        </p:nvSpPr>
        <p:spPr>
          <a:xfrm>
            <a:off x="6020493" y="3690655"/>
            <a:ext cx="1572600" cy="1014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(−35 042)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5"/>
          <p:cNvSpPr txBox="1"/>
          <p:nvPr/>
        </p:nvSpPr>
        <p:spPr>
          <a:xfrm>
            <a:off x="4389600" y="3910550"/>
            <a:ext cx="36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&gt;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036" name="Google Shape;1036;p86"/>
          <p:cNvSpPr txBox="1"/>
          <p:nvPr>
            <p:ph idx="1" type="body"/>
          </p:nvPr>
        </p:nvSpPr>
        <p:spPr>
          <a:xfrm>
            <a:off x="324000" y="628057"/>
            <a:ext cx="8237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integer with the greatest</a:t>
            </a:r>
            <a:r>
              <a:rPr lang="en-GB" sz="1800">
                <a:solidFill>
                  <a:schemeClr val="accent5"/>
                </a:solidFill>
              </a:rPr>
              <a:t> </a:t>
            </a:r>
            <a:r>
              <a:rPr lang="en-GB" sz="1800"/>
              <a:t>absolute value is the smallest.</a:t>
            </a:r>
            <a:endParaRPr sz="1800"/>
          </a:p>
        </p:txBody>
      </p:sp>
      <p:pic>
        <p:nvPicPr>
          <p:cNvPr id="1037" name="Google Shape;103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10137" y="1357687"/>
            <a:ext cx="727191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8" name="Google Shape;1038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600" y="1291094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86"/>
          <p:cNvSpPr txBox="1"/>
          <p:nvPr/>
        </p:nvSpPr>
        <p:spPr>
          <a:xfrm>
            <a:off x="7082313" y="213723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86"/>
          <p:cNvSpPr txBox="1"/>
          <p:nvPr/>
        </p:nvSpPr>
        <p:spPr>
          <a:xfrm>
            <a:off x="577575" y="228070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41" name="Google Shape;1041;p86"/>
          <p:cNvGrpSpPr/>
          <p:nvPr/>
        </p:nvGrpSpPr>
        <p:grpSpPr>
          <a:xfrm>
            <a:off x="1655141" y="879458"/>
            <a:ext cx="2013934" cy="1051133"/>
            <a:chOff x="1655141" y="955658"/>
            <a:chExt cx="2013934" cy="1051133"/>
          </a:xfrm>
        </p:grpSpPr>
        <p:grpSp>
          <p:nvGrpSpPr>
            <p:cNvPr id="1042" name="Google Shape;1042;p86"/>
            <p:cNvGrpSpPr/>
            <p:nvPr/>
          </p:nvGrpSpPr>
          <p:grpSpPr>
            <a:xfrm>
              <a:off x="1655141" y="955658"/>
              <a:ext cx="1934281" cy="1051133"/>
              <a:chOff x="912132" y="1882250"/>
              <a:chExt cx="1797325" cy="1299300"/>
            </a:xfrm>
          </p:grpSpPr>
          <p:pic>
            <p:nvPicPr>
              <p:cNvPr id="1043" name="Google Shape;1043;p8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69082" t="56280"/>
              <a:stretch/>
            </p:blipFill>
            <p:spPr>
              <a:xfrm flipH="1">
                <a:off x="912132" y="1882250"/>
                <a:ext cx="1797325" cy="12993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44" name="Google Shape;1044;p86"/>
              <p:cNvSpPr txBox="1"/>
              <p:nvPr/>
            </p:nvSpPr>
            <p:spPr>
              <a:xfrm flipH="1">
                <a:off x="1062852" y="2140031"/>
                <a:ext cx="1603800" cy="732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045" name="Google Shape;1045;p86"/>
            <p:cNvSpPr txBox="1"/>
            <p:nvPr/>
          </p:nvSpPr>
          <p:spPr>
            <a:xfrm>
              <a:off x="1791375" y="1174775"/>
              <a:ext cx="1877700" cy="66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Is this always true?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86"/>
          <p:cNvGrpSpPr/>
          <p:nvPr/>
        </p:nvGrpSpPr>
        <p:grpSpPr>
          <a:xfrm>
            <a:off x="5593902" y="802067"/>
            <a:ext cx="1709476" cy="909295"/>
            <a:chOff x="4401257" y="2365554"/>
            <a:chExt cx="1709476" cy="1276741"/>
          </a:xfrm>
        </p:grpSpPr>
        <p:pic>
          <p:nvPicPr>
            <p:cNvPr id="1047" name="Google Shape;1047;p86"/>
            <p:cNvPicPr preferRelativeResize="0"/>
            <p:nvPr/>
          </p:nvPicPr>
          <p:blipFill rotWithShape="1">
            <a:blip r:embed="rId5">
              <a:alphaModFix/>
            </a:blip>
            <a:srcRect b="0" l="0" r="70143" t="56280"/>
            <a:stretch/>
          </p:blipFill>
          <p:spPr>
            <a:xfrm>
              <a:off x="4401257" y="2365554"/>
              <a:ext cx="1709476" cy="12767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86"/>
            <p:cNvSpPr txBox="1"/>
            <p:nvPr/>
          </p:nvSpPr>
          <p:spPr>
            <a:xfrm flipH="1">
              <a:off x="4506932" y="2403273"/>
              <a:ext cx="1603800" cy="110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No, it is not always true.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49" name="Google Shape;1049;p86"/>
          <p:cNvSpPr txBox="1"/>
          <p:nvPr>
            <p:ph idx="1" type="body"/>
          </p:nvPr>
        </p:nvSpPr>
        <p:spPr>
          <a:xfrm>
            <a:off x="324000" y="2781050"/>
            <a:ext cx="6494700" cy="3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Try to think of an example when the statement is not true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050" name="Google Shape;1050;p86"/>
          <p:cNvSpPr txBox="1"/>
          <p:nvPr>
            <p:ph idx="1" type="body"/>
          </p:nvPr>
        </p:nvSpPr>
        <p:spPr>
          <a:xfrm>
            <a:off x="324000" y="3211500"/>
            <a:ext cx="8237700" cy="13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E.g. If you were comparing 7 and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(−2)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absolute value of 7 is 7 and the absolute value of (−2) is 2. 7 has the higher absolute value but (−2) is less than 7 as we are comparing a negative integer with a positive integer.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1" name="Google Shape;1051;p86"/>
          <p:cNvSpPr txBox="1"/>
          <p:nvPr>
            <p:ph idx="1" type="body"/>
          </p:nvPr>
        </p:nvSpPr>
        <p:spPr>
          <a:xfrm>
            <a:off x="331330" y="4564075"/>
            <a:ext cx="8237700" cy="6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statement is only true if you are </a:t>
            </a:r>
            <a:r>
              <a:rPr lang="en-GB" sz="1800"/>
              <a:t>comparing</a:t>
            </a:r>
            <a:r>
              <a:rPr lang="en-GB" sz="1800"/>
              <a:t> </a:t>
            </a:r>
            <a:r>
              <a:rPr lang="en-GB" sz="1800">
                <a:solidFill>
                  <a:schemeClr val="accent5"/>
                </a:solidFill>
              </a:rPr>
              <a:t>just</a:t>
            </a:r>
            <a:r>
              <a:rPr lang="en-GB" sz="1800"/>
              <a:t> negative integers</a:t>
            </a:r>
            <a:r>
              <a:rPr lang="en-GB" sz="1800"/>
              <a:t>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057" name="Google Shape;1057;p87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number are the arrows pointing to?</a:t>
            </a:r>
            <a:endParaRPr/>
          </a:p>
        </p:txBody>
      </p:sp>
      <p:grpSp>
        <p:nvGrpSpPr>
          <p:cNvPr id="1058" name="Google Shape;1058;p87"/>
          <p:cNvGrpSpPr/>
          <p:nvPr/>
        </p:nvGrpSpPr>
        <p:grpSpPr>
          <a:xfrm>
            <a:off x="851424" y="2756656"/>
            <a:ext cx="7539018" cy="204490"/>
            <a:chOff x="683270" y="2982982"/>
            <a:chExt cx="4148700" cy="204490"/>
          </a:xfrm>
        </p:grpSpPr>
        <p:cxnSp>
          <p:nvCxnSpPr>
            <p:cNvPr id="1059" name="Google Shape;1059;p87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0" name="Google Shape;1060;p87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87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87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87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4" name="Google Shape;1064;p87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5" name="Google Shape;1065;p87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6" name="Google Shape;1066;p87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7" name="Google Shape;1067;p87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8" name="Google Shape;1068;p87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9" name="Google Shape;1069;p87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70" name="Google Shape;1070;p87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71" name="Google Shape;1071;p87"/>
          <p:cNvSpPr txBox="1"/>
          <p:nvPr/>
        </p:nvSpPr>
        <p:spPr>
          <a:xfrm>
            <a:off x="5587372" y="2962800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7"/>
          <p:cNvSpPr txBox="1"/>
          <p:nvPr/>
        </p:nvSpPr>
        <p:spPr>
          <a:xfrm>
            <a:off x="3336703" y="3005100"/>
            <a:ext cx="54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(−3)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7"/>
          <p:cNvSpPr/>
          <p:nvPr/>
        </p:nvSpPr>
        <p:spPr>
          <a:xfrm>
            <a:off x="4876562" y="2379300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7"/>
          <p:cNvSpPr/>
          <p:nvPr/>
        </p:nvSpPr>
        <p:spPr>
          <a:xfrm>
            <a:off x="772262" y="23482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7"/>
          <p:cNvSpPr txBox="1"/>
          <p:nvPr/>
        </p:nvSpPr>
        <p:spPr>
          <a:xfrm>
            <a:off x="772253" y="2071025"/>
            <a:ext cx="17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87"/>
          <p:cNvSpPr txBox="1"/>
          <p:nvPr/>
        </p:nvSpPr>
        <p:spPr>
          <a:xfrm>
            <a:off x="4876553" y="2071025"/>
            <a:ext cx="17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77" name="Google Shape;1077;p87"/>
          <p:cNvCxnSpPr/>
          <p:nvPr/>
        </p:nvCxnSpPr>
        <p:spPr>
          <a:xfrm rot="10800000">
            <a:off x="4934925" y="3342975"/>
            <a:ext cx="678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87"/>
          <p:cNvCxnSpPr/>
          <p:nvPr/>
        </p:nvCxnSpPr>
        <p:spPr>
          <a:xfrm rot="10800000">
            <a:off x="4232550" y="3342975"/>
            <a:ext cx="678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9" name="Google Shape;1079;p87"/>
          <p:cNvCxnSpPr/>
          <p:nvPr/>
        </p:nvCxnSpPr>
        <p:spPr>
          <a:xfrm rot="10800000">
            <a:off x="3553650" y="3342975"/>
            <a:ext cx="678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0" name="Google Shape;1080;p87"/>
          <p:cNvSpPr txBox="1"/>
          <p:nvPr/>
        </p:nvSpPr>
        <p:spPr>
          <a:xfrm>
            <a:off x="4761214" y="2049698"/>
            <a:ext cx="54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7"/>
          <p:cNvSpPr txBox="1"/>
          <p:nvPr/>
        </p:nvSpPr>
        <p:spPr>
          <a:xfrm>
            <a:off x="644691" y="2049698"/>
            <a:ext cx="54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(−7)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087" name="Google Shape;1087;p88"/>
          <p:cNvSpPr txBox="1"/>
          <p:nvPr>
            <p:ph idx="1" type="body"/>
          </p:nvPr>
        </p:nvSpPr>
        <p:spPr>
          <a:xfrm>
            <a:off x="324000" y="759300"/>
            <a:ext cx="82377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number are the arrows pointing to?</a:t>
            </a:r>
            <a:endParaRPr/>
          </a:p>
        </p:txBody>
      </p:sp>
      <p:grpSp>
        <p:nvGrpSpPr>
          <p:cNvPr id="1088" name="Google Shape;1088;p88"/>
          <p:cNvGrpSpPr/>
          <p:nvPr/>
        </p:nvGrpSpPr>
        <p:grpSpPr>
          <a:xfrm>
            <a:off x="851424" y="2756656"/>
            <a:ext cx="7539018" cy="204490"/>
            <a:chOff x="683270" y="2982982"/>
            <a:chExt cx="4148700" cy="204490"/>
          </a:xfrm>
        </p:grpSpPr>
        <p:cxnSp>
          <p:nvCxnSpPr>
            <p:cNvPr id="1089" name="Google Shape;1089;p88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0" name="Google Shape;1090;p88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1" name="Google Shape;1091;p88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2" name="Google Shape;1092;p88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3" name="Google Shape;1093;p88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4" name="Google Shape;1094;p88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5" name="Google Shape;1095;p88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6" name="Google Shape;1096;p88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7" name="Google Shape;1097;p88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8" name="Google Shape;1098;p88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99" name="Google Shape;1099;p88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00" name="Google Shape;1100;p88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01" name="Google Shape;1101;p88"/>
          <p:cNvSpPr txBox="1"/>
          <p:nvPr/>
        </p:nvSpPr>
        <p:spPr>
          <a:xfrm>
            <a:off x="5587372" y="2962800"/>
            <a:ext cx="196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88"/>
          <p:cNvSpPr txBox="1"/>
          <p:nvPr/>
        </p:nvSpPr>
        <p:spPr>
          <a:xfrm>
            <a:off x="1850511" y="2962800"/>
            <a:ext cx="76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(−10)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88"/>
          <p:cNvSpPr/>
          <p:nvPr/>
        </p:nvSpPr>
        <p:spPr>
          <a:xfrm>
            <a:off x="3845960" y="2399482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8"/>
          <p:cNvSpPr/>
          <p:nvPr/>
        </p:nvSpPr>
        <p:spPr>
          <a:xfrm>
            <a:off x="1400210" y="2348225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8"/>
          <p:cNvSpPr txBox="1"/>
          <p:nvPr/>
        </p:nvSpPr>
        <p:spPr>
          <a:xfrm>
            <a:off x="1400201" y="2052677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8"/>
          <p:cNvSpPr txBox="1"/>
          <p:nvPr/>
        </p:nvSpPr>
        <p:spPr>
          <a:xfrm>
            <a:off x="3845950" y="2071025"/>
            <a:ext cx="1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7" name="Google Shape;1107;p88"/>
          <p:cNvCxnSpPr/>
          <p:nvPr/>
        </p:nvCxnSpPr>
        <p:spPr>
          <a:xfrm rot="10800000">
            <a:off x="4934925" y="3391902"/>
            <a:ext cx="678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8" name="Google Shape;1108;p88"/>
          <p:cNvCxnSpPr/>
          <p:nvPr/>
        </p:nvCxnSpPr>
        <p:spPr>
          <a:xfrm rot="10800000">
            <a:off x="4232550" y="3391902"/>
            <a:ext cx="678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9" name="Google Shape;1109;p88"/>
          <p:cNvCxnSpPr/>
          <p:nvPr/>
        </p:nvCxnSpPr>
        <p:spPr>
          <a:xfrm rot="10800000">
            <a:off x="3553650" y="3391902"/>
            <a:ext cx="678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0" name="Google Shape;1110;p88"/>
          <p:cNvSpPr txBox="1"/>
          <p:nvPr/>
        </p:nvSpPr>
        <p:spPr>
          <a:xfrm>
            <a:off x="3709455" y="2068045"/>
            <a:ext cx="54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(−5)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8"/>
          <p:cNvSpPr txBox="1"/>
          <p:nvPr/>
        </p:nvSpPr>
        <p:spPr>
          <a:xfrm>
            <a:off x="1199233" y="2028543"/>
            <a:ext cx="67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(−12)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12" name="Google Shape;1112;p88"/>
          <p:cNvCxnSpPr/>
          <p:nvPr/>
        </p:nvCxnSpPr>
        <p:spPr>
          <a:xfrm rot="10800000">
            <a:off x="2874750" y="3391902"/>
            <a:ext cx="678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3" name="Google Shape;1113;p88"/>
          <p:cNvCxnSpPr/>
          <p:nvPr/>
        </p:nvCxnSpPr>
        <p:spPr>
          <a:xfrm rot="10800000">
            <a:off x="2189952" y="3391902"/>
            <a:ext cx="6789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14" name="Google Shape;1114;p88"/>
          <p:cNvSpPr txBox="1"/>
          <p:nvPr/>
        </p:nvSpPr>
        <p:spPr>
          <a:xfrm>
            <a:off x="324025" y="3577150"/>
            <a:ext cx="292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 parts represents 10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8"/>
          <p:cNvSpPr txBox="1"/>
          <p:nvPr/>
        </p:nvSpPr>
        <p:spPr>
          <a:xfrm>
            <a:off x="324025" y="4029425"/>
            <a:ext cx="1360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 ÷ 5 = 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8"/>
          <p:cNvSpPr txBox="1"/>
          <p:nvPr/>
        </p:nvSpPr>
        <p:spPr>
          <a:xfrm>
            <a:off x="324025" y="4481700"/>
            <a:ext cx="328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Each part represents 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8"/>
          <p:cNvSpPr/>
          <p:nvPr/>
        </p:nvSpPr>
        <p:spPr>
          <a:xfrm>
            <a:off x="3484610" y="2399482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88"/>
          <p:cNvSpPr txBox="1"/>
          <p:nvPr/>
        </p:nvSpPr>
        <p:spPr>
          <a:xfrm>
            <a:off x="3369599" y="2101775"/>
            <a:ext cx="546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(−6)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88"/>
          <p:cNvSpPr/>
          <p:nvPr/>
        </p:nvSpPr>
        <p:spPr>
          <a:xfrm>
            <a:off x="4180092" y="2399482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88"/>
          <p:cNvSpPr txBox="1"/>
          <p:nvPr/>
        </p:nvSpPr>
        <p:spPr>
          <a:xfrm>
            <a:off x="4065075" y="2114000"/>
            <a:ext cx="67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126" name="Google Shape;1126;p89"/>
          <p:cNvSpPr txBox="1"/>
          <p:nvPr>
            <p:ph idx="1" type="body"/>
          </p:nvPr>
        </p:nvSpPr>
        <p:spPr>
          <a:xfrm>
            <a:off x="324000" y="606900"/>
            <a:ext cx="8237700" cy="38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number is the arrow pointing to in each of these?</a:t>
            </a:r>
            <a:endParaRPr/>
          </a:p>
        </p:txBody>
      </p:sp>
      <p:sp>
        <p:nvSpPr>
          <p:cNvPr id="1127" name="Google Shape;1127;p89"/>
          <p:cNvSpPr txBox="1"/>
          <p:nvPr/>
        </p:nvSpPr>
        <p:spPr>
          <a:xfrm>
            <a:off x="324000" y="1619148"/>
            <a:ext cx="354300" cy="29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8" name="Google Shape;1128;p89"/>
          <p:cNvGrpSpPr/>
          <p:nvPr/>
        </p:nvGrpSpPr>
        <p:grpSpPr>
          <a:xfrm>
            <a:off x="781340" y="1732667"/>
            <a:ext cx="7539018" cy="204490"/>
            <a:chOff x="683270" y="2982982"/>
            <a:chExt cx="4148700" cy="204490"/>
          </a:xfrm>
        </p:grpSpPr>
        <p:cxnSp>
          <p:nvCxnSpPr>
            <p:cNvPr id="1129" name="Google Shape;1129;p89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0" name="Google Shape;1130;p89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1" name="Google Shape;1131;p89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2" name="Google Shape;1132;p89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3" name="Google Shape;1133;p89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4" name="Google Shape;1134;p89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5" name="Google Shape;1135;p89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89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89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89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89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0" name="Google Shape;1140;p89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1" name="Google Shape;1141;p89"/>
          <p:cNvGrpSpPr/>
          <p:nvPr/>
        </p:nvGrpSpPr>
        <p:grpSpPr>
          <a:xfrm>
            <a:off x="781340" y="3050339"/>
            <a:ext cx="7539018" cy="204490"/>
            <a:chOff x="683270" y="2982982"/>
            <a:chExt cx="4148700" cy="204490"/>
          </a:xfrm>
        </p:grpSpPr>
        <p:cxnSp>
          <p:nvCxnSpPr>
            <p:cNvPr id="1142" name="Google Shape;1142;p89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3" name="Google Shape;1143;p89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4" name="Google Shape;1144;p89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5" name="Google Shape;1145;p89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6" name="Google Shape;1146;p89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7" name="Google Shape;1147;p89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8" name="Google Shape;1148;p89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9" name="Google Shape;1149;p89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0" name="Google Shape;1150;p89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1" name="Google Shape;1151;p89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2" name="Google Shape;1152;p89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3" name="Google Shape;1153;p89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54" name="Google Shape;1154;p89"/>
          <p:cNvSpPr txBox="1"/>
          <p:nvPr/>
        </p:nvSpPr>
        <p:spPr>
          <a:xfrm>
            <a:off x="6238956" y="1894337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89"/>
          <p:cNvSpPr txBox="1"/>
          <p:nvPr/>
        </p:nvSpPr>
        <p:spPr>
          <a:xfrm>
            <a:off x="7635522" y="1937162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89"/>
          <p:cNvSpPr txBox="1"/>
          <p:nvPr/>
        </p:nvSpPr>
        <p:spPr>
          <a:xfrm>
            <a:off x="6237541" y="3254821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9"/>
          <p:cNvSpPr txBox="1"/>
          <p:nvPr/>
        </p:nvSpPr>
        <p:spPr>
          <a:xfrm>
            <a:off x="5515608" y="3248705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9"/>
          <p:cNvSpPr/>
          <p:nvPr/>
        </p:nvSpPr>
        <p:spPr>
          <a:xfrm>
            <a:off x="3424962" y="1329799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9"/>
          <p:cNvSpPr/>
          <p:nvPr/>
        </p:nvSpPr>
        <p:spPr>
          <a:xfrm>
            <a:off x="1323115" y="2680694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0" name="Google Shape;1160;p89"/>
          <p:cNvGrpSpPr/>
          <p:nvPr/>
        </p:nvGrpSpPr>
        <p:grpSpPr>
          <a:xfrm>
            <a:off x="781340" y="4393397"/>
            <a:ext cx="7539018" cy="204490"/>
            <a:chOff x="683270" y="2982982"/>
            <a:chExt cx="4148700" cy="204490"/>
          </a:xfrm>
        </p:grpSpPr>
        <p:cxnSp>
          <p:nvCxnSpPr>
            <p:cNvPr id="1161" name="Google Shape;1161;p89"/>
            <p:cNvCxnSpPr/>
            <p:nvPr/>
          </p:nvCxnSpPr>
          <p:spPr>
            <a:xfrm>
              <a:off x="1028883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2" name="Google Shape;1162;p89"/>
            <p:cNvCxnSpPr/>
            <p:nvPr/>
          </p:nvCxnSpPr>
          <p:spPr>
            <a:xfrm>
              <a:off x="1420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3" name="Google Shape;1163;p89"/>
            <p:cNvCxnSpPr/>
            <p:nvPr/>
          </p:nvCxnSpPr>
          <p:spPr>
            <a:xfrm>
              <a:off x="683270" y="2996610"/>
              <a:ext cx="41487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4" name="Google Shape;1164;p89"/>
            <p:cNvCxnSpPr/>
            <p:nvPr/>
          </p:nvCxnSpPr>
          <p:spPr>
            <a:xfrm>
              <a:off x="1801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5" name="Google Shape;1165;p89"/>
            <p:cNvCxnSpPr/>
            <p:nvPr/>
          </p:nvCxnSpPr>
          <p:spPr>
            <a:xfrm>
              <a:off x="2182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6" name="Google Shape;1166;p89"/>
            <p:cNvCxnSpPr/>
            <p:nvPr/>
          </p:nvCxnSpPr>
          <p:spPr>
            <a:xfrm>
              <a:off x="2563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7" name="Google Shape;1167;p89"/>
            <p:cNvCxnSpPr/>
            <p:nvPr/>
          </p:nvCxnSpPr>
          <p:spPr>
            <a:xfrm>
              <a:off x="2944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8" name="Google Shape;1168;p89"/>
            <p:cNvCxnSpPr/>
            <p:nvPr/>
          </p:nvCxnSpPr>
          <p:spPr>
            <a:xfrm>
              <a:off x="3325467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9" name="Google Shape;1169;p89"/>
            <p:cNvCxnSpPr/>
            <p:nvPr/>
          </p:nvCxnSpPr>
          <p:spPr>
            <a:xfrm>
              <a:off x="3717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0" name="Google Shape;1170;p89"/>
            <p:cNvCxnSpPr/>
            <p:nvPr/>
          </p:nvCxnSpPr>
          <p:spPr>
            <a:xfrm>
              <a:off x="4098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1" name="Google Shape;1171;p89"/>
            <p:cNvCxnSpPr/>
            <p:nvPr/>
          </p:nvCxnSpPr>
          <p:spPr>
            <a:xfrm>
              <a:off x="4479050" y="299457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89"/>
            <p:cNvCxnSpPr/>
            <p:nvPr/>
          </p:nvCxnSpPr>
          <p:spPr>
            <a:xfrm>
              <a:off x="688211" y="2982982"/>
              <a:ext cx="0" cy="192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73" name="Google Shape;1173;p89"/>
          <p:cNvSpPr/>
          <p:nvPr/>
        </p:nvSpPr>
        <p:spPr>
          <a:xfrm>
            <a:off x="2384787" y="4072691"/>
            <a:ext cx="177000" cy="3207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37B7D"/>
          </a:solidFill>
          <a:ln cap="flat" cmpd="sng" w="9525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4" name="Google Shape;1174;p89"/>
          <p:cNvSpPr txBox="1"/>
          <p:nvPr/>
        </p:nvSpPr>
        <p:spPr>
          <a:xfrm>
            <a:off x="4830119" y="4597894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9"/>
          <p:cNvSpPr txBox="1"/>
          <p:nvPr/>
        </p:nvSpPr>
        <p:spPr>
          <a:xfrm>
            <a:off x="5512073" y="4594057"/>
            <a:ext cx="19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9"/>
          <p:cNvSpPr txBox="1"/>
          <p:nvPr/>
        </p:nvSpPr>
        <p:spPr>
          <a:xfrm>
            <a:off x="3186150" y="1003738"/>
            <a:ext cx="654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(−4)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89"/>
          <p:cNvSpPr txBox="1"/>
          <p:nvPr/>
        </p:nvSpPr>
        <p:spPr>
          <a:xfrm>
            <a:off x="1117302" y="2351660"/>
            <a:ext cx="74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(−12)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89"/>
          <p:cNvSpPr txBox="1"/>
          <p:nvPr/>
        </p:nvSpPr>
        <p:spPr>
          <a:xfrm>
            <a:off x="2182425" y="3654763"/>
            <a:ext cx="58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(−7)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3" name="Google Shape;1183;p90"/>
          <p:cNvGrpSpPr/>
          <p:nvPr/>
        </p:nvGrpSpPr>
        <p:grpSpPr>
          <a:xfrm>
            <a:off x="4343398" y="2607075"/>
            <a:ext cx="3573877" cy="1321025"/>
            <a:chOff x="4571998" y="2759475"/>
            <a:chExt cx="3573877" cy="1321025"/>
          </a:xfrm>
        </p:grpSpPr>
        <p:pic>
          <p:nvPicPr>
            <p:cNvPr id="1184" name="Google Shape;1184;p90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4571998" y="2759475"/>
              <a:ext cx="3573873" cy="13210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5" name="Google Shape;1185;p90"/>
            <p:cNvSpPr txBox="1"/>
            <p:nvPr/>
          </p:nvSpPr>
          <p:spPr>
            <a:xfrm flipH="1">
              <a:off x="4727204" y="2798488"/>
              <a:ext cx="3418671" cy="1143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You are right Aisha.  I’ve got the 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(−7) and (−8) the wrong way around.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6" name="Google Shape;118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187" name="Google Shape;1187;p90"/>
          <p:cNvSpPr txBox="1"/>
          <p:nvPr>
            <p:ph idx="1" type="body"/>
          </p:nvPr>
        </p:nvSpPr>
        <p:spPr>
          <a:xfrm>
            <a:off x="324000" y="728725"/>
            <a:ext cx="8237700" cy="43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Aisha and Jun are trying to write these integers in ascending order.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	</a:t>
            </a:r>
            <a:endParaRPr/>
          </a:p>
        </p:txBody>
      </p:sp>
      <p:pic>
        <p:nvPicPr>
          <p:cNvPr id="1188" name="Google Shape;118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791137" y="3491287"/>
            <a:ext cx="727191" cy="90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9" name="Google Shape;1189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2200" y="3424694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0" name="Google Shape;1190;p90"/>
          <p:cNvSpPr txBox="1"/>
          <p:nvPr/>
        </p:nvSpPr>
        <p:spPr>
          <a:xfrm>
            <a:off x="7463313" y="4347030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90"/>
          <p:cNvSpPr txBox="1"/>
          <p:nvPr/>
        </p:nvSpPr>
        <p:spPr>
          <a:xfrm>
            <a:off x="44175" y="4414305"/>
            <a:ext cx="13794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2" name="Google Shape;1192;p90"/>
          <p:cNvSpPr txBox="1"/>
          <p:nvPr/>
        </p:nvSpPr>
        <p:spPr>
          <a:xfrm>
            <a:off x="1411353" y="1540825"/>
            <a:ext cx="546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(−3)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90"/>
          <p:cNvSpPr txBox="1"/>
          <p:nvPr/>
        </p:nvSpPr>
        <p:spPr>
          <a:xfrm>
            <a:off x="2754552" y="1540825"/>
            <a:ext cx="72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(−10)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90"/>
          <p:cNvSpPr txBox="1"/>
          <p:nvPr/>
        </p:nvSpPr>
        <p:spPr>
          <a:xfrm>
            <a:off x="4278051" y="1540825"/>
            <a:ext cx="6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(−7)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5" name="Google Shape;1195;p90"/>
          <p:cNvSpPr txBox="1"/>
          <p:nvPr/>
        </p:nvSpPr>
        <p:spPr>
          <a:xfrm>
            <a:off x="5697751" y="1540825"/>
            <a:ext cx="62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(−8)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6" name="Google Shape;1196;p90"/>
          <p:cNvSpPr txBox="1"/>
          <p:nvPr/>
        </p:nvSpPr>
        <p:spPr>
          <a:xfrm>
            <a:off x="7117450" y="1540825"/>
            <a:ext cx="727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(−14)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90"/>
          <p:cNvSpPr txBox="1"/>
          <p:nvPr/>
        </p:nvSpPr>
        <p:spPr>
          <a:xfrm>
            <a:off x="324000" y="2160000"/>
            <a:ext cx="5337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Jun’s list: 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(−14),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(−10), (−7), (−8), (−3)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98" name="Google Shape;1198;p90"/>
          <p:cNvGrpSpPr/>
          <p:nvPr/>
        </p:nvGrpSpPr>
        <p:grpSpPr>
          <a:xfrm>
            <a:off x="1118736" y="2554203"/>
            <a:ext cx="2013933" cy="1580378"/>
            <a:chOff x="1655142" y="955658"/>
            <a:chExt cx="2013933" cy="1051133"/>
          </a:xfrm>
        </p:grpSpPr>
        <p:pic>
          <p:nvPicPr>
            <p:cNvPr id="1199" name="Google Shape;1199;p9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655142" y="955658"/>
              <a:ext cx="1934280" cy="105113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0" name="Google Shape;1200;p90"/>
            <p:cNvSpPr txBox="1"/>
            <p:nvPr/>
          </p:nvSpPr>
          <p:spPr>
            <a:xfrm>
              <a:off x="1791375" y="1124093"/>
              <a:ext cx="1877700" cy="67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 think one of them is in the wrong place.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206" name="Google Shape;1206;p9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(−55), (−59), (−53), (−52)</a:t>
            </a:r>
            <a:endParaRPr/>
          </a:p>
        </p:txBody>
      </p:sp>
      <p:sp>
        <p:nvSpPr>
          <p:cNvPr id="1207" name="Google Shape;1207;p9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are in ascending order? </a:t>
            </a:r>
            <a:endParaRPr/>
          </a:p>
        </p:txBody>
      </p:sp>
      <p:sp>
        <p:nvSpPr>
          <p:cNvPr id="1208" name="Google Shape;1208;p9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(−38), (−24), (−25), (−18), (−3)</a:t>
            </a:r>
            <a:endParaRPr/>
          </a:p>
        </p:txBody>
      </p:sp>
      <p:sp>
        <p:nvSpPr>
          <p:cNvPr id="1209" name="Google Shape;1209;p9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(−6), (−51), (−62), (−97), (−101)</a:t>
            </a:r>
            <a:endParaRPr/>
          </a:p>
        </p:txBody>
      </p:sp>
      <p:sp>
        <p:nvSpPr>
          <p:cNvPr id="1210" name="Google Shape;1210;p9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(−11), (−9), (−5), (−3), (−1)</a:t>
            </a:r>
            <a:endParaRPr/>
          </a:p>
        </p:txBody>
      </p:sp>
      <p:pic>
        <p:nvPicPr>
          <p:cNvPr id="1211" name="Google Shape;1211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873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91"/>
          <p:cNvSpPr txBox="1"/>
          <p:nvPr/>
        </p:nvSpPr>
        <p:spPr>
          <a:xfrm>
            <a:off x="4568725" y="1725175"/>
            <a:ext cx="4069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(−59) is in the wrong place.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3" name="Google Shape;1213;p91"/>
          <p:cNvSpPr txBox="1"/>
          <p:nvPr/>
        </p:nvSpPr>
        <p:spPr>
          <a:xfrm>
            <a:off x="5020825" y="2386554"/>
            <a:ext cx="37992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 (−24) is in the wrong place.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4" name="Google Shape;1214;p91"/>
          <p:cNvSpPr txBox="1"/>
          <p:nvPr/>
        </p:nvSpPr>
        <p:spPr>
          <a:xfrm>
            <a:off x="5197800" y="3304125"/>
            <a:ext cx="362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They are in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descending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order.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220" name="Google Shape;1220;p9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sets of integers in ascending order.</a:t>
            </a:r>
            <a:endParaRPr/>
          </a:p>
          <a:p>
            <a:pPr indent="-3683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(−6), (−9), (−5), (−8), (−3)</a:t>
            </a:r>
            <a:endParaRPr/>
          </a:p>
          <a:p>
            <a:pPr indent="-3683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(−18), (−19), (−25), (−28), (−13)</a:t>
            </a:r>
            <a:endParaRPr/>
          </a:p>
          <a:p>
            <a:pPr indent="-3683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(−89), (−91), (−88), (−99), (−19)</a:t>
            </a:r>
            <a:endParaRPr/>
          </a:p>
          <a:p>
            <a:pPr indent="-3683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(−256), (−119), (−112), (−265), (−312)</a:t>
            </a:r>
            <a:endParaRPr/>
          </a:p>
          <a:p>
            <a:pPr indent="-36830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(−6123), (−6321), (−6213), (−6231), (−6312), (−6132)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93"/>
          <p:cNvSpPr txBox="1"/>
          <p:nvPr>
            <p:ph idx="1" type="body"/>
          </p:nvPr>
        </p:nvSpPr>
        <p:spPr>
          <a:xfrm>
            <a:off x="324000" y="759300"/>
            <a:ext cx="82377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</a:t>
            </a:r>
            <a:r>
              <a:rPr lang="en-GB"/>
              <a:t>Put the following integers into the grid.</a:t>
            </a:r>
            <a:endParaRPr/>
          </a:p>
        </p:txBody>
      </p:sp>
      <p:sp>
        <p:nvSpPr>
          <p:cNvPr id="1226" name="Google Shape;1226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graphicFrame>
        <p:nvGraphicFramePr>
          <p:cNvPr id="1227" name="Google Shape;1227;p93"/>
          <p:cNvGraphicFramePr/>
          <p:nvPr/>
        </p:nvGraphicFramePr>
        <p:xfrm>
          <a:off x="1715600" y="24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{D2197FDF-9876-4B23-8D49-C4F4607933F6}</a:tableStyleId>
              </a:tblPr>
              <a:tblGrid>
                <a:gridCol w="1250875"/>
                <a:gridCol w="1250875"/>
                <a:gridCol w="1250875"/>
                <a:gridCol w="1250875"/>
                <a:gridCol w="1250875"/>
              </a:tblGrid>
              <a:tr h="56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8" name="Google Shape;1228;p93"/>
          <p:cNvSpPr txBox="1"/>
          <p:nvPr>
            <p:ph idx="1" type="body"/>
          </p:nvPr>
        </p:nvSpPr>
        <p:spPr>
          <a:xfrm>
            <a:off x="1714500" y="2100504"/>
            <a:ext cx="1205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Least</a:t>
            </a:r>
            <a:endParaRPr/>
          </a:p>
        </p:txBody>
      </p:sp>
      <p:sp>
        <p:nvSpPr>
          <p:cNvPr id="1229" name="Google Shape;1229;p93"/>
          <p:cNvSpPr txBox="1"/>
          <p:nvPr>
            <p:ph idx="1" type="body"/>
          </p:nvPr>
        </p:nvSpPr>
        <p:spPr>
          <a:xfrm>
            <a:off x="324000" y="2483318"/>
            <a:ext cx="1205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Least</a:t>
            </a:r>
            <a:endParaRPr/>
          </a:p>
        </p:txBody>
      </p:sp>
      <p:sp>
        <p:nvSpPr>
          <p:cNvPr id="1230" name="Google Shape;1230;p93"/>
          <p:cNvSpPr txBox="1"/>
          <p:nvPr>
            <p:ph idx="1" type="body"/>
          </p:nvPr>
        </p:nvSpPr>
        <p:spPr>
          <a:xfrm>
            <a:off x="6764275" y="2100504"/>
            <a:ext cx="1205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Greatest</a:t>
            </a:r>
            <a:endParaRPr/>
          </a:p>
        </p:txBody>
      </p:sp>
      <p:sp>
        <p:nvSpPr>
          <p:cNvPr id="1231" name="Google Shape;1231;p93"/>
          <p:cNvSpPr txBox="1"/>
          <p:nvPr>
            <p:ph idx="1" type="body"/>
          </p:nvPr>
        </p:nvSpPr>
        <p:spPr>
          <a:xfrm>
            <a:off x="324000" y="4320000"/>
            <a:ext cx="1205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Greatest</a:t>
            </a:r>
            <a:endParaRPr/>
          </a:p>
        </p:txBody>
      </p:sp>
      <p:sp>
        <p:nvSpPr>
          <p:cNvPr id="1232" name="Google Shape;1232;p93"/>
          <p:cNvSpPr/>
          <p:nvPr/>
        </p:nvSpPr>
        <p:spPr>
          <a:xfrm>
            <a:off x="770025" y="2820525"/>
            <a:ext cx="366900" cy="1499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3"/>
          <p:cNvSpPr/>
          <p:nvPr/>
        </p:nvSpPr>
        <p:spPr>
          <a:xfrm rot="-5400000">
            <a:off x="4629675" y="422454"/>
            <a:ext cx="366900" cy="3693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3"/>
          <p:cNvSpPr txBox="1"/>
          <p:nvPr>
            <p:ph idx="1" type="body"/>
          </p:nvPr>
        </p:nvSpPr>
        <p:spPr>
          <a:xfrm>
            <a:off x="324000" y="1080000"/>
            <a:ext cx="5439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(−7)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(−2)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35" name="Google Shape;1235;p93"/>
          <p:cNvSpPr txBox="1"/>
          <p:nvPr>
            <p:ph idx="1" type="body"/>
          </p:nvPr>
        </p:nvSpPr>
        <p:spPr>
          <a:xfrm>
            <a:off x="1043549" y="1080000"/>
            <a:ext cx="7647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(−10)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(−5)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93"/>
          <p:cNvSpPr txBox="1"/>
          <p:nvPr>
            <p:ph idx="1" type="body"/>
          </p:nvPr>
        </p:nvSpPr>
        <p:spPr>
          <a:xfrm>
            <a:off x="2995947" y="1080000"/>
            <a:ext cx="5439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(−6)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(−1)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93"/>
          <p:cNvSpPr txBox="1"/>
          <p:nvPr>
            <p:ph idx="1" type="body"/>
          </p:nvPr>
        </p:nvSpPr>
        <p:spPr>
          <a:xfrm>
            <a:off x="1983898" y="1080000"/>
            <a:ext cx="8364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(−15)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(−8)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93"/>
          <p:cNvSpPr txBox="1"/>
          <p:nvPr>
            <p:ph idx="1" type="body"/>
          </p:nvPr>
        </p:nvSpPr>
        <p:spPr>
          <a:xfrm>
            <a:off x="3715496" y="1080000"/>
            <a:ext cx="7647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(−20)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(−9)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93"/>
          <p:cNvSpPr txBox="1"/>
          <p:nvPr>
            <p:ph idx="1" type="body"/>
          </p:nvPr>
        </p:nvSpPr>
        <p:spPr>
          <a:xfrm>
            <a:off x="4655845" y="1080000"/>
            <a:ext cx="7647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(−3)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(−12)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93"/>
          <p:cNvSpPr txBox="1"/>
          <p:nvPr>
            <p:ph idx="1" type="body"/>
          </p:nvPr>
        </p:nvSpPr>
        <p:spPr>
          <a:xfrm>
            <a:off x="5596194" y="1080000"/>
            <a:ext cx="7881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(−18)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(−9)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93"/>
          <p:cNvSpPr txBox="1"/>
          <p:nvPr>
            <p:ph idx="1" type="body"/>
          </p:nvPr>
        </p:nvSpPr>
        <p:spPr>
          <a:xfrm>
            <a:off x="6559943" y="1080000"/>
            <a:ext cx="7881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(−10)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(−5)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93"/>
          <p:cNvSpPr txBox="1"/>
          <p:nvPr>
            <p:ph idx="1" type="body"/>
          </p:nvPr>
        </p:nvSpPr>
        <p:spPr>
          <a:xfrm>
            <a:off x="8243241" y="1080000"/>
            <a:ext cx="5439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(−4)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(−5)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93"/>
          <p:cNvSpPr txBox="1"/>
          <p:nvPr>
            <p:ph idx="1" type="body"/>
          </p:nvPr>
        </p:nvSpPr>
        <p:spPr>
          <a:xfrm>
            <a:off x="7523692" y="1080000"/>
            <a:ext cx="5439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(−8)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(−2)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sp>
        <p:nvSpPr>
          <p:cNvPr id="1249" name="Google Shape;1249;p94"/>
          <p:cNvSpPr txBox="1"/>
          <p:nvPr>
            <p:ph idx="1" type="body"/>
          </p:nvPr>
        </p:nvSpPr>
        <p:spPr>
          <a:xfrm>
            <a:off x="324000" y="649231"/>
            <a:ext cx="8237700" cy="107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Write the following sets of integers in ascending order.</a:t>
            </a:r>
            <a:endParaRPr/>
          </a:p>
          <a:p>
            <a:pPr indent="-3619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arenR"/>
            </a:pPr>
            <a:r>
              <a:rPr lang="en-GB" sz="2100"/>
              <a:t>(−6), (−9), (−5), (−8), (−3)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        (−9), (−8), (−6), (−5), (−3)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94"/>
          <p:cNvSpPr txBox="1"/>
          <p:nvPr>
            <p:ph idx="1" type="body"/>
          </p:nvPr>
        </p:nvSpPr>
        <p:spPr>
          <a:xfrm>
            <a:off x="1200308" y="-660400"/>
            <a:ext cx="8237700" cy="4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94"/>
          <p:cNvSpPr txBox="1"/>
          <p:nvPr>
            <p:ph idx="1" type="body"/>
          </p:nvPr>
        </p:nvSpPr>
        <p:spPr>
          <a:xfrm>
            <a:off x="781350" y="1766858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arenR" startAt="2"/>
            </a:pPr>
            <a:r>
              <a:rPr lang="en-GB" sz="2100"/>
              <a:t>(−18), (−19), (−25), (−28), (−13)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(−28), (−25), (−19), (−18), (−13)</a:t>
            </a:r>
            <a:endParaRPr sz="2100"/>
          </a:p>
        </p:txBody>
      </p:sp>
      <p:sp>
        <p:nvSpPr>
          <p:cNvPr id="1252" name="Google Shape;1252;p94"/>
          <p:cNvSpPr txBox="1"/>
          <p:nvPr>
            <p:ph idx="1" type="body"/>
          </p:nvPr>
        </p:nvSpPr>
        <p:spPr>
          <a:xfrm>
            <a:off x="781350" y="2554246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3750" lvl="0" marL="460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arenR" startAt="3"/>
            </a:pPr>
            <a:r>
              <a:rPr lang="en-GB" sz="2100"/>
              <a:t>(−89), (−91), (−88), (−99), (−19)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(−99), (−91), (−89), (−88), (−19)</a:t>
            </a:r>
            <a:endParaRPr sz="2100"/>
          </a:p>
        </p:txBody>
      </p:sp>
      <p:sp>
        <p:nvSpPr>
          <p:cNvPr id="1253" name="Google Shape;1253;p94"/>
          <p:cNvSpPr txBox="1"/>
          <p:nvPr>
            <p:ph idx="1" type="body"/>
          </p:nvPr>
        </p:nvSpPr>
        <p:spPr>
          <a:xfrm>
            <a:off x="796008" y="3341617"/>
            <a:ext cx="8237700" cy="40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3750" lvl="0" marL="460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arenR" startAt="4"/>
            </a:pPr>
            <a:r>
              <a:rPr lang="en-GB" sz="2100"/>
              <a:t>(−256), (−119), (−112), (−265), (−312)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(−312), (−265), (−256), (−119), (−112)</a:t>
            </a:r>
            <a:endParaRPr sz="2100"/>
          </a:p>
        </p:txBody>
      </p:sp>
      <p:sp>
        <p:nvSpPr>
          <p:cNvPr id="1254" name="Google Shape;1254;p94"/>
          <p:cNvSpPr txBox="1"/>
          <p:nvPr>
            <p:ph idx="1" type="body"/>
          </p:nvPr>
        </p:nvSpPr>
        <p:spPr>
          <a:xfrm>
            <a:off x="776958" y="4086650"/>
            <a:ext cx="8237700" cy="4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AutoNum type="alphaLcParenR" startAt="5"/>
            </a:pPr>
            <a:r>
              <a:rPr lang="en-GB" sz="2100"/>
              <a:t>(−6123), (−6321), (−6213), (−6231), (−6312), (−6132)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  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(−6321), (−6312), (−6231), (−6213), (−6132), (−6123)</a:t>
            </a:r>
            <a:endParaRPr sz="2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5"/>
          <p:cNvSpPr txBox="1"/>
          <p:nvPr>
            <p:ph idx="1" type="body"/>
          </p:nvPr>
        </p:nvSpPr>
        <p:spPr>
          <a:xfrm>
            <a:off x="324000" y="759300"/>
            <a:ext cx="6794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Put the following integers into the grid.</a:t>
            </a:r>
            <a:endParaRPr/>
          </a:p>
        </p:txBody>
      </p:sp>
      <p:sp>
        <p:nvSpPr>
          <p:cNvPr id="1260" name="Google Shape;1260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graphicFrame>
        <p:nvGraphicFramePr>
          <p:cNvPr id="1261" name="Google Shape;1261;p95"/>
          <p:cNvGraphicFramePr/>
          <p:nvPr/>
        </p:nvGraphicFramePr>
        <p:xfrm>
          <a:off x="1715600" y="247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{D2197FDF-9876-4B23-8D49-C4F4607933F6}</a:tableStyleId>
              </a:tblPr>
              <a:tblGrid>
                <a:gridCol w="1250875"/>
                <a:gridCol w="1250875"/>
                <a:gridCol w="1250875"/>
                <a:gridCol w="1250875"/>
                <a:gridCol w="1250875"/>
              </a:tblGrid>
              <a:tr h="56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(−20)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(−15)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(−9)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(−5)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(−18)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(−5)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(−12)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(−9)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(−7)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(−2)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5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(−5)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(−2)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2" name="Google Shape;1262;p95"/>
          <p:cNvSpPr txBox="1"/>
          <p:nvPr>
            <p:ph idx="1" type="body"/>
          </p:nvPr>
        </p:nvSpPr>
        <p:spPr>
          <a:xfrm>
            <a:off x="1714500" y="2100504"/>
            <a:ext cx="1205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Least</a:t>
            </a:r>
            <a:endParaRPr/>
          </a:p>
        </p:txBody>
      </p:sp>
      <p:sp>
        <p:nvSpPr>
          <p:cNvPr id="1263" name="Google Shape;1263;p95"/>
          <p:cNvSpPr txBox="1"/>
          <p:nvPr>
            <p:ph idx="1" type="body"/>
          </p:nvPr>
        </p:nvSpPr>
        <p:spPr>
          <a:xfrm>
            <a:off x="324000" y="2483318"/>
            <a:ext cx="1205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Least</a:t>
            </a:r>
            <a:endParaRPr/>
          </a:p>
        </p:txBody>
      </p:sp>
      <p:sp>
        <p:nvSpPr>
          <p:cNvPr id="1264" name="Google Shape;1264;p95"/>
          <p:cNvSpPr txBox="1"/>
          <p:nvPr>
            <p:ph idx="1" type="body"/>
          </p:nvPr>
        </p:nvSpPr>
        <p:spPr>
          <a:xfrm>
            <a:off x="6764275" y="2100504"/>
            <a:ext cx="1205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Greatest</a:t>
            </a:r>
            <a:endParaRPr/>
          </a:p>
        </p:txBody>
      </p:sp>
      <p:sp>
        <p:nvSpPr>
          <p:cNvPr id="1265" name="Google Shape;1265;p95"/>
          <p:cNvSpPr txBox="1"/>
          <p:nvPr>
            <p:ph idx="1" type="body"/>
          </p:nvPr>
        </p:nvSpPr>
        <p:spPr>
          <a:xfrm>
            <a:off x="324000" y="4320000"/>
            <a:ext cx="1205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Greatest</a:t>
            </a:r>
            <a:endParaRPr/>
          </a:p>
        </p:txBody>
      </p:sp>
      <p:sp>
        <p:nvSpPr>
          <p:cNvPr id="1266" name="Google Shape;1266;p95"/>
          <p:cNvSpPr/>
          <p:nvPr/>
        </p:nvSpPr>
        <p:spPr>
          <a:xfrm>
            <a:off x="770025" y="2820525"/>
            <a:ext cx="366900" cy="1499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5"/>
          <p:cNvSpPr/>
          <p:nvPr/>
        </p:nvSpPr>
        <p:spPr>
          <a:xfrm rot="-5400000">
            <a:off x="4629675" y="422454"/>
            <a:ext cx="366900" cy="3693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95"/>
          <p:cNvSpPr txBox="1"/>
          <p:nvPr>
            <p:ph idx="1" type="body"/>
          </p:nvPr>
        </p:nvSpPr>
        <p:spPr>
          <a:xfrm>
            <a:off x="324000" y="1080000"/>
            <a:ext cx="5439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(−7)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(−2)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95"/>
          <p:cNvSpPr txBox="1"/>
          <p:nvPr>
            <p:ph idx="1" type="body"/>
          </p:nvPr>
        </p:nvSpPr>
        <p:spPr>
          <a:xfrm>
            <a:off x="1043549" y="1080000"/>
            <a:ext cx="7647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(−10)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(−5)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95"/>
          <p:cNvSpPr txBox="1"/>
          <p:nvPr>
            <p:ph idx="1" type="body"/>
          </p:nvPr>
        </p:nvSpPr>
        <p:spPr>
          <a:xfrm>
            <a:off x="2995947" y="1080000"/>
            <a:ext cx="5439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(−6)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(−1)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95"/>
          <p:cNvSpPr txBox="1"/>
          <p:nvPr>
            <p:ph idx="1" type="body"/>
          </p:nvPr>
        </p:nvSpPr>
        <p:spPr>
          <a:xfrm>
            <a:off x="1983898" y="1080000"/>
            <a:ext cx="8364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(−15)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(−8)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95"/>
          <p:cNvSpPr txBox="1"/>
          <p:nvPr>
            <p:ph idx="1" type="body"/>
          </p:nvPr>
        </p:nvSpPr>
        <p:spPr>
          <a:xfrm>
            <a:off x="3715496" y="1080000"/>
            <a:ext cx="7647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(−20)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(−9)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95"/>
          <p:cNvSpPr txBox="1"/>
          <p:nvPr>
            <p:ph idx="1" type="body"/>
          </p:nvPr>
        </p:nvSpPr>
        <p:spPr>
          <a:xfrm>
            <a:off x="4655845" y="1080000"/>
            <a:ext cx="7647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(−3)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(−12)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95"/>
          <p:cNvSpPr txBox="1"/>
          <p:nvPr>
            <p:ph idx="1" type="body"/>
          </p:nvPr>
        </p:nvSpPr>
        <p:spPr>
          <a:xfrm>
            <a:off x="5596194" y="1080000"/>
            <a:ext cx="7881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(−18)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(−9)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5" name="Google Shape;1275;p95"/>
          <p:cNvSpPr txBox="1"/>
          <p:nvPr>
            <p:ph idx="1" type="body"/>
          </p:nvPr>
        </p:nvSpPr>
        <p:spPr>
          <a:xfrm>
            <a:off x="6559943" y="1080000"/>
            <a:ext cx="7881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(−10)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(−5)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95"/>
          <p:cNvSpPr txBox="1"/>
          <p:nvPr>
            <p:ph idx="1" type="body"/>
          </p:nvPr>
        </p:nvSpPr>
        <p:spPr>
          <a:xfrm>
            <a:off x="8243241" y="1080000"/>
            <a:ext cx="5439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(−4)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(−5)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95"/>
          <p:cNvSpPr txBox="1"/>
          <p:nvPr>
            <p:ph idx="1" type="body"/>
          </p:nvPr>
        </p:nvSpPr>
        <p:spPr>
          <a:xfrm>
            <a:off x="7523692" y="1080000"/>
            <a:ext cx="543900" cy="8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(−8)</a:t>
            </a:r>
            <a:endParaRPr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(−2)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9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 can be useful to think of temperature when dealing with negative numbers.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−7 is colder than −2 so you write −7 &lt; −2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 number line can be useful to order or compare negative integers.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83" name="Google Shape;1283;p9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negative integers</a:t>
            </a:r>
            <a:endParaRPr/>
          </a:p>
        </p:txBody>
      </p:sp>
      <p:pic>
        <p:nvPicPr>
          <p:cNvPr id="1284" name="Google Shape;128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800" y="3468600"/>
            <a:ext cx="6145950" cy="9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9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90" name="Google Shape;1290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