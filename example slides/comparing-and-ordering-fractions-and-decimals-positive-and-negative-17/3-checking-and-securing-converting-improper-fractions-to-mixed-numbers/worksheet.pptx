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6B1B90CA-AF79-49D5-B3A2-6BDD3CA5AC29}">
  <a:tblStyle styleId="{6B1B90CA-AF79-49D5-B3A2-6BDD3CA5AC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1" name="Shape 181"/>
        <p:cNvGrpSpPr/>
        <p:nvPr/>
      </p:nvGrpSpPr>
      <p:grpSpPr>
        <a:xfrm>
          <a:off x="0" y="0"/>
          <a:ext cx="0" cy="0"/>
        </a:xfrm>
      </p:grpSpPr>
      <p:sp>
        <p:nvSpPr>
          <p:cNvPr id="182" name="Google Shape;182;g29f7259de54_0_23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9f7259de54_0_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6" name="Shape 196"/>
        <p:cNvGrpSpPr/>
        <p:nvPr/>
      </p:nvGrpSpPr>
      <p:grpSpPr>
        <a:xfrm>
          <a:off x="0" y="0"/>
          <a:ext cx="0" cy="0"/>
        </a:xfrm>
      </p:grpSpPr>
      <p:sp>
        <p:nvSpPr>
          <p:cNvPr id="197" name="Google Shape;19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71160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and securing converting improper fractions to mixed numbers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475" y="6711898"/>
            <a:ext cx="3499875" cy="76289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465125" y="6711900"/>
            <a:ext cx="66240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Without calculating the answer,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letter corresponds to the calculation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5677 ÷ 5678 is letter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5678 ÷ 5678 is letter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5679 ÷ 5678 is letter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5678 ÷ 2880 is letter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392900"/>
            <a:ext cx="381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Proper and improper fractions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17049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Insert the inequalities = ,﹥and﹤to make the statement true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5125" y="1889522"/>
            <a:ext cx="5160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5125" y="2896233"/>
            <a:ext cx="5160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758773" y="1889522"/>
            <a:ext cx="5160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758773" y="2896233"/>
            <a:ext cx="5160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20" descr="&lt;math xmlns=&quot;http://www.w3.org/1998/Math/MathML&quot; display=&quot;block&quot; data-is-equatio=&quot;1&quot; data-latex=&quot;\frac{4}{5}&amp;lt;1&quot;&gt;&lt;mfrac&gt;&lt;mn&gt;4&lt;/mn&gt;&lt;mn&gt;5&lt;/mn&gt;&lt;/mfrac&gt;&lt;mo&gt;&amp;lt;&lt;/mo&gt;&lt;mn&gt;1&lt;/mn&gt;&lt;/math&gt;" title="four fifths is less than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301" y="1982100"/>
            <a:ext cx="611300" cy="532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&lt;math xmlns=&quot;http://www.w3.org/1998/Math/MathML&quot; display=&quot;block&quot; data-is-equatio=&quot;1&quot; data-latex=&quot;\frac{8}{3}&amp;gt;1&quot;&gt;&lt;mfrac&gt;&lt;mn&gt;8&lt;/mn&gt;&lt;mn&gt;3&lt;/mn&gt;&lt;/mfrac&gt;&lt;mo&gt;&amp;gt;&lt;/mo&gt;&lt;mn&gt;1&lt;/mn&gt;&lt;/math&gt;" title="eight thirds is greater than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150" y="3038710"/>
            <a:ext cx="609608" cy="532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&lt;math xmlns=&quot;http://www.w3.org/1998/Math/MathML&quot; display=&quot;block&quot; data-is-equatio=&quot;1&quot; data-latex=&quot;\left(11\div5\right)&amp;gt;1&quot;&gt;&lt;mrow data-mjx-texclass=&quot;INNER&quot;&gt;&lt;mo data-mjx-texclass=&quot;OPEN&quot;&gt;(&lt;/mo&gt;&lt;mn&gt;11&lt;/mn&gt;&lt;mo&gt;÷&lt;/mo&gt;&lt;mn&gt;5&lt;/mn&gt;&lt;mo data-mjx-texclass=&quot;CLOSE&quot;&gt;)&lt;/mo&gt;&lt;/mrow&gt;&lt;mo&gt;&amp;gt;&lt;/mo&gt;&lt;mn&gt;1&lt;/mn&gt;&lt;/math&gt;" title="open paren 11 divided by 5 close paren is greater than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3774" y="1965559"/>
            <a:ext cx="1326082" cy="242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&lt;math xmlns=&quot;http://www.w3.org/1998/Math/MathML&quot; display=&quot;block&quot; data-is-equatio=&quot;1&quot; data-latex=&quot;\frac{6\times2}{3\times4}=1&quot;&gt;&lt;mfrac&gt;&lt;mrow&gt;&lt;mn&gt;6&lt;/mn&gt;&lt;mo&gt;×&lt;/mo&gt;&lt;mn&gt;2&lt;/mn&gt;&lt;/mrow&gt;&lt;mrow&gt;&lt;mn&gt;3&lt;/mn&gt;&lt;mo&gt;×&lt;/mo&gt;&lt;mn&gt;4&lt;/mn&gt;&lt;/mrow&gt;&lt;/mfrac&gt;&lt;mo&gt;=&lt;/mo&gt;&lt;mn&gt;1&lt;/mn&gt;&lt;/math&gt;" title="the fraction with numerator 6 times 2 and denominator 3 times 4 equals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8474" y="3006641"/>
            <a:ext cx="950281" cy="49918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/>
          <p:nvPr/>
        </p:nvSpPr>
        <p:spPr>
          <a:xfrm>
            <a:off x="1020551" y="2099525"/>
            <a:ext cx="244800" cy="295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054439" y="3157634"/>
            <a:ext cx="244800" cy="295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030111" y="1948848"/>
            <a:ext cx="229500" cy="276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800561" y="3118031"/>
            <a:ext cx="229500" cy="276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86075" y="3902925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Identify if the following are true or false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0" name="Google Shape;180;p20"/>
          <p:cNvGraphicFramePr>
            <a:graphicFrameLocks noGrp="1"/>
          </p:cNvGraphicFramePr>
          <p:nvPr/>
        </p:nvGraphicFramePr>
        <p:xfrm>
          <a:off x="473404" y="4215635"/>
          <a:ext cx="6624000" cy="2155100"/>
        </p:xfrm>
        <a:graphic>
          <a:graphicData uri="http://schemas.openxmlformats.org/drawingml/2006/table">
            <a:tbl>
              <a:tblPr>
                <a:noFill/>
                <a:tableStyleId>{6B1B90CA-AF79-49D5-B3A2-6BDD3CA5AC29}</a:tableStyleId>
              </a:tblPr>
              <a:tblGrid>
                <a:gridCol w="4673000"/>
                <a:gridCol w="678000"/>
                <a:gridCol w="1273000"/>
              </a:tblGrid>
              <a:tr h="389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0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value of a </a:t>
                      </a: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proper fraction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is always less than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5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value of an </a:t>
                      </a: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is always greater than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0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fraction in the form a/b where a&gt;b is an </a:t>
                      </a:r>
                      <a:r>
                        <a:rPr lang="en-GB" sz="12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0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789 ÷ 788 will give a number greater than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" name="Shape 184"/>
        <p:cNvGrpSpPr/>
        <p:nvPr/>
      </p:nvGrpSpPr>
      <p:grpSpPr>
        <a:xfrm>
          <a:off x="0" y="0"/>
          <a:ext cx="0" cy="0"/>
        </a:xfrm>
      </p:grpSpPr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675" y="1040675"/>
            <a:ext cx="5838648" cy="10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converting improper fractions to mixed numbers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468000" y="720000"/>
            <a:ext cx="6624000" cy="53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Here is a section of a number line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whole number is the arrow pointing to?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Approximately mark another two whole numbers on the number line. What are these whole numbers?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How would your answers change if the denominator was 6?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What could the denominator be if there were no whole numbers between the two fractions?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1"/>
          <p:cNvCxnSpPr/>
          <p:nvPr/>
        </p:nvCxnSpPr>
        <p:spPr>
          <a:xfrm>
            <a:off x="474757" y="73108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" name="Google Shape;189;p21"/>
          <p:cNvSpPr txBox="1"/>
          <p:nvPr/>
        </p:nvSpPr>
        <p:spPr>
          <a:xfrm>
            <a:off x="468000" y="7375200"/>
            <a:ext cx="5778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Changing improper fractions to mixed numbers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74750" y="7624350"/>
            <a:ext cx="66240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mixed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following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improper fractions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" name="Google Shape;191;p21" descr="&lt;math xmlns=&quot;http://www.w3.org/1998/Math/MathML&quot; display=&quot;block&quot; data-is-equatio=&quot;1&quot; data-latex=&quot;\begin{array}{l}\frac{13}{3}=4\frac{1}{3}\\&amp;#13;&amp;#10;\frac{20}{7}=2\frac{6}{7}\\&amp;#13;&amp;#10;\frac{104}{5}=20\frac{4}{5}\\&amp;#13;&amp;#10;\frac{50}{3}=\ 16\frac{2}{3}\\&amp;#13;&amp;#10;\end{array}&quot;&gt;&lt;mtable columnalign=&quot;left&quot; columnspacing=&quot;1em&quot; rowspacing=&quot;4pt&quot;&gt;&lt;mtr&gt;&lt;mtd&gt;&lt;mfrac&gt;&lt;mn&gt;13&lt;/mn&gt;&lt;mn&gt;3&lt;/mn&gt;&lt;/mfrac&gt;&lt;mo&gt;=&lt;/mo&gt;&lt;mn&gt;4&lt;/mn&gt;&lt;mfrac&gt;&lt;mn&gt;1&lt;/mn&gt;&lt;mn&gt;3&lt;/mn&gt;&lt;/mfrac&gt;&lt;/mtd&gt;&lt;/mtr&gt;&lt;mtr&gt;&lt;mtd&gt;&lt;mfrac&gt;&lt;mn&gt;20&lt;/mn&gt;&lt;mn&gt;7&lt;/mn&gt;&lt;/mfrac&gt;&lt;mo&gt;=&lt;/mo&gt;&lt;mn&gt;2&lt;/mn&gt;&lt;mfrac&gt;&lt;mn&gt;6&lt;/mn&gt;&lt;mn&gt;7&lt;/mn&gt;&lt;/mfrac&gt;&lt;/mtd&gt;&lt;/mtr&gt;&lt;mtr&gt;&lt;mtd&gt;&lt;mfrac&gt;&lt;mn&gt;104&lt;/mn&gt;&lt;mn&gt;5&lt;/mn&gt;&lt;/mfrac&gt;&lt;mo&gt;=&lt;/mo&gt;&lt;mn&gt;20&lt;/mn&gt;&lt;mfrac&gt;&lt;mn&gt;4&lt;/mn&gt;&lt;mn&gt;5&lt;/mn&gt;&lt;/mfrac&gt;&lt;/mtd&gt;&lt;/mtr&gt;&lt;mtr&gt;&lt;mtd&gt;&lt;mfrac&gt;&lt;mn&gt;50&lt;/mn&gt;&lt;mn&gt;3&lt;/mn&gt;&lt;/mfrac&gt;&lt;mo&gt;=&lt;/mo&gt;&lt;mtext&gt;&lt;/mtext&gt;&lt;mn&gt;16&lt;/mn&gt;&lt;mfrac&gt;&lt;mn&gt;2&lt;/mn&gt;&lt;mn&gt;3&lt;/mn&gt;&lt;/mfrac&gt;&lt;/mtd&gt;&lt;/mtr&gt;&lt;/mtable&gt;&lt;/math&gt;" title="4 lines Line 1: thirteen thirds equals 4 and one third Line 2: 20 over 7 equals 2 and six sevenths Line 3: 104 over 5 equals 20 and four fifths Line 4: 50 over 3 equals 16 and two thirds"/>
          <p:cNvPicPr preferRelativeResize="0"/>
          <p:nvPr/>
        </p:nvPicPr>
        <p:blipFill>
          <a:blip r:embed="rId4">
            <a:alphaModFix/>
          </a:blip>
          <a:srcRect r="70169"/>
          <a:stretch>
            <a:fillRect/>
          </a:stretch>
        </p:blipFill>
        <p:spPr>
          <a:xfrm>
            <a:off x="857764" y="7949825"/>
            <a:ext cx="371784" cy="200820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474750" y="7843336"/>
            <a:ext cx="34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193" name="Google Shape;193;p21"/>
          <p:cNvSpPr txBox="1"/>
          <p:nvPr/>
        </p:nvSpPr>
        <p:spPr>
          <a:xfrm>
            <a:off x="474750" y="8423352"/>
            <a:ext cx="34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194" name="Google Shape;194;p21"/>
          <p:cNvSpPr txBox="1"/>
          <p:nvPr/>
        </p:nvSpPr>
        <p:spPr>
          <a:xfrm>
            <a:off x="474750" y="8958729"/>
            <a:ext cx="34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195" name="Google Shape;195;p21"/>
          <p:cNvSpPr txBox="1"/>
          <p:nvPr/>
        </p:nvSpPr>
        <p:spPr>
          <a:xfrm>
            <a:off x="474750" y="9494690"/>
            <a:ext cx="34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9" name="Shape 199"/>
        <p:cNvGrpSpPr/>
        <p:nvPr/>
      </p:nvGrpSpPr>
      <p:grpSpPr>
        <a:xfrm>
          <a:off x="0" y="0"/>
          <a:ext cx="0" cy="0"/>
        </a:xfrm>
      </p:grpSpPr>
      <p:sp>
        <p:nvSpPr>
          <p:cNvPr id="200" name="Google Shape;200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01" name="Google Shape;201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converting improper fractions to mixed numbers</a:t>
            </a:r>
            <a:endParaRPr/>
          </a:p>
        </p:txBody>
      </p:sp>
      <p:sp>
        <p:nvSpPr>
          <p:cNvPr id="202" name="Google Shape;202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468000" y="720000"/>
            <a:ext cx="34353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468000" y="1170815"/>
            <a:ext cx="48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06" name="Google Shape;206;p22"/>
          <p:cNvSpPr txBox="1"/>
          <p:nvPr/>
        </p:nvSpPr>
        <p:spPr>
          <a:xfrm>
            <a:off x="468000" y="1927911"/>
            <a:ext cx="48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07" name="Google Shape;207;p22"/>
          <p:cNvSpPr txBox="1"/>
          <p:nvPr/>
        </p:nvSpPr>
        <p:spPr>
          <a:xfrm>
            <a:off x="468000" y="2599665"/>
            <a:ext cx="48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08" name="Google Shape;208;p22"/>
          <p:cNvSpPr txBox="1"/>
          <p:nvPr/>
        </p:nvSpPr>
        <p:spPr>
          <a:xfrm>
            <a:off x="468000" y="3230024"/>
            <a:ext cx="48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pic>
        <p:nvPicPr>
          <p:cNvPr id="209" name="Google Shape;209;p22" descr="&lt;math xmlns=&quot;http://www.w3.org/1998/Math/MathML&quot; display=&quot;block&quot; data-is-equatio=&quot;1&quot; data-latex=&quot;\begin{array}{l}\frac{15}{6}=2\frac{1}{2}\\&amp;#13;&amp;#10;\frac{91}{6}=15\frac{1}{6}\\&amp;#13;&amp;#10;\frac{142}{4}=\frac{71}{2}=35\frac{1}{2}\\&amp;#13;&amp;#10;\frac{134}{8}=\frac{67}{4}=16\frac{3}{4}\end{array}&quot;&gt;&lt;mtable columnalign=&quot;left&quot; columnspacing=&quot;1em&quot; rowspacing=&quot;4pt&quot;&gt;&lt;mtr&gt;&lt;mtd&gt;&lt;mfrac&gt;&lt;mn&gt;15&lt;/mn&gt;&lt;mn&gt;6&lt;/mn&gt;&lt;/mfrac&gt;&lt;mo&gt;=&lt;/mo&gt;&lt;mn&gt;2&lt;/mn&gt;&lt;mfrac&gt;&lt;mn&gt;1&lt;/mn&gt;&lt;mn&gt;2&lt;/mn&gt;&lt;/mfrac&gt;&lt;/mtd&gt;&lt;/mtr&gt;&lt;mtr&gt;&lt;mtd&gt;&lt;mfrac&gt;&lt;mn&gt;91&lt;/mn&gt;&lt;mn&gt;6&lt;/mn&gt;&lt;/mfrac&gt;&lt;mo&gt;=&lt;/mo&gt;&lt;mn&gt;15&lt;/mn&gt;&lt;mfrac&gt;&lt;mn&gt;1&lt;/mn&gt;&lt;mn&gt;6&lt;/mn&gt;&lt;/mfrac&gt;&lt;/mtd&gt;&lt;/mtr&gt;&lt;mtr&gt;&lt;mtd&gt;&lt;mfrac&gt;&lt;mn&gt;142&lt;/mn&gt;&lt;mn&gt;4&lt;/mn&gt;&lt;/mfrac&gt;&lt;mo&gt;=&lt;/mo&gt;&lt;mfrac&gt;&lt;mn&gt;71&lt;/mn&gt;&lt;mn&gt;2&lt;/mn&gt;&lt;/mfrac&gt;&lt;mo&gt;=&lt;/mo&gt;&lt;mn&gt;35&lt;/mn&gt;&lt;mfrac&gt;&lt;mn&gt;1&lt;/mn&gt;&lt;mn&gt;2&lt;/mn&gt;&lt;/mfrac&gt;&lt;/mtd&gt;&lt;/mtr&gt;&lt;mtr&gt;&lt;mtd&gt;&lt;mfrac&gt;&lt;mn&gt;134&lt;/mn&gt;&lt;mn&gt;8&lt;/mn&gt;&lt;/mfrac&gt;&lt;mo&gt;=&lt;/mo&gt;&lt;mfrac&gt;&lt;mn&gt;67&lt;/mn&gt;&lt;mn&gt;4&lt;/mn&gt;&lt;/mfrac&gt;&lt;mo&gt;=&lt;/mo&gt;&lt;mn&gt;16&lt;/mn&gt;&lt;mfrac&gt;&lt;mn&gt;3&lt;/mn&gt;&lt;mn&gt;4&lt;/mn&gt;&lt;/mfrac&gt;&lt;/mtd&gt;&lt;/mtr&gt;&lt;/mtable&gt;&lt;/math&gt;" title="4 lines Line 1: fifteen sixths equals 2 and one half Line 2: 91 over 6 equals 15 and one sixth Line 3: 142 over 4 equals 71 over 2 equals 35 and one half Line 4: 134 over 8 equals 67 over 4 equals 16 and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249" y="1170825"/>
            <a:ext cx="2464750" cy="255450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2034409" y="1170824"/>
            <a:ext cx="306300" cy="569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1850647" y="1791842"/>
            <a:ext cx="306300" cy="569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1979469" y="2847813"/>
            <a:ext cx="306300" cy="234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2774107" y="2548378"/>
            <a:ext cx="411600" cy="464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2774107" y="3196034"/>
            <a:ext cx="411600" cy="464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1979469" y="3156107"/>
            <a:ext cx="306300" cy="234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468000" y="388392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Put the following numbers in ascending order, smallest to largest. Converting to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mixed number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may help.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468000" y="4461928"/>
            <a:ext cx="45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pic>
        <p:nvPicPr>
          <p:cNvPr id="218" name="Google Shape;218;p22"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title="9 over 11 1 and two thirds nine halves 4 and one fifth seventeen halves"/>
          <p:cNvPicPr preferRelativeResize="0"/>
          <p:nvPr/>
        </p:nvPicPr>
        <p:blipFill>
          <a:blip r:embed="rId4">
            <a:alphaModFix/>
          </a:blip>
          <a:srcRect r="84937"/>
          <a:stretch>
            <a:fillRect/>
          </a:stretch>
        </p:blipFill>
        <p:spPr>
          <a:xfrm>
            <a:off x="1723278" y="4493502"/>
            <a:ext cx="387593" cy="591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title="9 over 11 1 and two thirds nine halves 4 and one fifth seventeen halves"/>
          <p:cNvPicPr preferRelativeResize="0"/>
          <p:nvPr/>
        </p:nvPicPr>
        <p:blipFill>
          <a:blip r:embed="rId4">
            <a:alphaModFix/>
          </a:blip>
          <a:srcRect l="15783" r="67558"/>
          <a:stretch>
            <a:fillRect/>
          </a:stretch>
        </p:blipFill>
        <p:spPr>
          <a:xfrm>
            <a:off x="981103" y="4493502"/>
            <a:ext cx="428642" cy="591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title="9 over 11 1 and two thirds nine halves 4 and one fifth seventeen halves"/>
          <p:cNvPicPr preferRelativeResize="0"/>
          <p:nvPr/>
        </p:nvPicPr>
        <p:blipFill>
          <a:blip r:embed="rId4">
            <a:alphaModFix/>
          </a:blip>
          <a:srcRect l="31704" r="51637"/>
          <a:stretch>
            <a:fillRect/>
          </a:stretch>
        </p:blipFill>
        <p:spPr>
          <a:xfrm>
            <a:off x="3548904" y="4493502"/>
            <a:ext cx="428642" cy="591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title="9 over 11 1 and two thirds nine halves 4 and one fifth seventeen halves"/>
          <p:cNvPicPr preferRelativeResize="0"/>
          <p:nvPr/>
        </p:nvPicPr>
        <p:blipFill>
          <a:blip r:embed="rId4">
            <a:alphaModFix/>
          </a:blip>
          <a:srcRect l="52362" r="30980"/>
          <a:stretch>
            <a:fillRect/>
          </a:stretch>
        </p:blipFill>
        <p:spPr>
          <a:xfrm>
            <a:off x="2257464" y="4493502"/>
            <a:ext cx="428642" cy="591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&lt;math xmlns=&quot;http://www.w3.org/1998/Math/MathML&quot; display=&quot;block&quot; data-is-equatio=&quot;1&quot; data-latex=&quot;\frac{9}{11}\ 1\frac{2}{3}\ \ \frac{9}{2}\ \ \ 4\frac{1}{5}\ \ \ \ \ \ \frac{17}{2}\ \ \ &quot;&gt;&lt;mfrac&gt;&lt;mn&gt;9&lt;/mn&gt;&lt;mn&gt;11&lt;/mn&gt;&lt;/mfrac&gt;&lt;mtext&gt;&lt;/mtext&gt;&lt;mn&gt;1&lt;/mn&gt;&lt;mfrac&gt;&lt;mn&gt;2&lt;/mn&gt;&lt;mn&gt;3&lt;/mn&gt;&lt;/mfrac&gt;&lt;mtext&gt;&lt;/mtext&gt;&lt;mtext&gt;&lt;/mtext&gt;&lt;mfrac&gt;&lt;mn&gt;9&lt;/mn&gt;&lt;mn&gt;2&lt;/mn&gt;&lt;/mfrac&gt;&lt;mtext&gt;&lt;/mtext&gt;&lt;mtext&gt;&lt;/mtext&gt;&lt;mtext&gt;&lt;/mtext&gt;&lt;mn&gt;4&lt;/mn&gt;&lt;mfrac&gt;&lt;mn&gt;1&lt;/mn&gt;&lt;mn&gt;5&lt;/mn&gt;&lt;/mfrac&gt;&lt;mtext&gt;&lt;/mtext&gt;&lt;mtext&gt;&lt;/mtext&gt;&lt;mtext&gt;&lt;/mtext&gt;&lt;mtext&gt;&lt;/mtext&gt;&lt;mtext&gt;&lt;/mtext&gt;&lt;mtext&gt;&lt;/mtext&gt;&lt;mfrac&gt;&lt;mn&gt;17&lt;/mn&gt;&lt;mn&gt;2&lt;/mn&gt;&lt;/mfrac&gt;&lt;mtext&gt;&lt;/mtext&gt;&lt;mtext&gt;&lt;/mtext&gt;&lt;mtext&gt;&lt;/mtext&gt;&lt;/math&gt;" title="9 over 11 1 and two thirds nine halves 4 and one fifth seventeen halves"/>
          <p:cNvPicPr preferRelativeResize="0"/>
          <p:nvPr/>
        </p:nvPicPr>
        <p:blipFill>
          <a:blip r:embed="rId4">
            <a:alphaModFix/>
          </a:blip>
          <a:srcRect l="84621" t="-4635" r="-1279" b="-10"/>
          <a:stretch>
            <a:fillRect/>
          </a:stretch>
        </p:blipFill>
        <p:spPr>
          <a:xfrm>
            <a:off x="2908076" y="4493502"/>
            <a:ext cx="428642" cy="61858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468000" y="7054195"/>
            <a:ext cx="49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pic>
        <p:nvPicPr>
          <p:cNvPr id="224" name="Google Shape;224;p22"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title="two thirds four fifths seven halves 211 over 50 nineteen thirds"/>
          <p:cNvPicPr preferRelativeResize="0"/>
          <p:nvPr/>
        </p:nvPicPr>
        <p:blipFill>
          <a:blip r:embed="rId5">
            <a:alphaModFix/>
          </a:blip>
          <a:srcRect r="90470"/>
          <a:stretch>
            <a:fillRect/>
          </a:stretch>
        </p:blipFill>
        <p:spPr>
          <a:xfrm>
            <a:off x="1816916" y="7080729"/>
            <a:ext cx="287090" cy="673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title="two thirds four fifths seven halves 211 over 50 nineteen thirds"/>
          <p:cNvPicPr preferRelativeResize="0"/>
          <p:nvPr/>
        </p:nvPicPr>
        <p:blipFill>
          <a:blip r:embed="rId5">
            <a:alphaModFix/>
          </a:blip>
          <a:srcRect l="21500" r="67846"/>
          <a:stretch>
            <a:fillRect/>
          </a:stretch>
        </p:blipFill>
        <p:spPr>
          <a:xfrm>
            <a:off x="2487080" y="7080729"/>
            <a:ext cx="320928" cy="673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title="two thirds four fifths seven halves 211 over 50 nineteen thirds"/>
          <p:cNvPicPr preferRelativeResize="0"/>
          <p:nvPr/>
        </p:nvPicPr>
        <p:blipFill>
          <a:blip r:embed="rId5">
            <a:alphaModFix/>
          </a:blip>
          <a:srcRect l="46109" r="43238" b="-7032"/>
          <a:stretch>
            <a:fillRect/>
          </a:stretch>
        </p:blipFill>
        <p:spPr>
          <a:xfrm>
            <a:off x="1112893" y="7080729"/>
            <a:ext cx="320928" cy="72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title="two thirds four fifths seven halves 211 over 50 nineteen thirds"/>
          <p:cNvPicPr preferRelativeResize="0"/>
          <p:nvPr/>
        </p:nvPicPr>
        <p:blipFill>
          <a:blip r:embed="rId5">
            <a:alphaModFix/>
          </a:blip>
          <a:srcRect l="60131" t="-3510" r="17647" b="-3521"/>
          <a:stretch>
            <a:fillRect/>
          </a:stretch>
        </p:blipFill>
        <p:spPr>
          <a:xfrm>
            <a:off x="3861271" y="7080729"/>
            <a:ext cx="669458" cy="72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&lt;math xmlns=&quot;http://www.w3.org/1998/Math/MathML&quot; display=&quot;block&quot; data-is-equatio=&quot;1&quot; data-latex=&quot;\frac{2}{3}\ \ \ \ \ \frac{4}{5}\ \ \ \ \ \ \frac{7}{2}\ \ \frac{211}{50}\ \ \frac{19}{3}\ \ &quot;&gt;&lt;mfrac&gt;&lt;mn&gt;2&lt;/mn&gt;&lt;mn&gt;3&lt;/mn&gt;&lt;/mfrac&gt;&lt;mtext&gt;&lt;/mtext&gt;&lt;mtext&gt;&lt;/mtext&gt;&lt;mtext&gt;&lt;/mtext&gt;&lt;mtext&gt;&lt;/mtext&gt;&lt;mtext&gt;&lt;/mtext&gt;&lt;mfrac&gt;&lt;mn&gt;4&lt;/mn&gt;&lt;mn&gt;5&lt;/mn&gt;&lt;/mfrac&gt;&lt;mtext&gt;&lt;/mtext&gt;&lt;mtext&gt;&lt;/mtext&gt;&lt;mtext&gt;&lt;/mtext&gt;&lt;mtext&gt;&lt;/mtext&gt;&lt;mtext&gt;&lt;/mtext&gt;&lt;mtext&gt;&lt;/mtext&gt;&lt;mfrac&gt;&lt;mn&gt;7&lt;/mn&gt;&lt;mn&gt;2&lt;/mn&gt;&lt;/mfrac&gt;&lt;mtext&gt;&lt;/mtext&gt;&lt;mtext&gt;&lt;/mtext&gt;&lt;mfrac&gt;&lt;mn&gt;211&lt;/mn&gt;&lt;mn&gt;50&lt;/mn&gt;&lt;/mfrac&gt;&lt;mtext&gt;&lt;/mtext&gt;&lt;mtext&gt;&lt;/mtext&gt;&lt;mfrac&gt;&lt;mn&gt;19&lt;/mn&gt;&lt;mn&gt;3&lt;/mn&gt;&lt;/mfrac&gt;&lt;mtext&gt;&lt;/mtext&gt;&lt;mtext&gt;&lt;/mtext&gt;&lt;/math&gt;" title="two thirds four fifths seven halves 211 over 50 nineteen thirds"/>
          <p:cNvPicPr preferRelativeResize="0"/>
          <p:nvPr/>
        </p:nvPicPr>
        <p:blipFill>
          <a:blip r:embed="rId5">
            <a:alphaModFix/>
          </a:blip>
          <a:srcRect l="82754" t="-3510" r="-4975" b="-3521"/>
          <a:stretch>
            <a:fillRect/>
          </a:stretch>
        </p:blipFill>
        <p:spPr>
          <a:xfrm>
            <a:off x="3006866" y="7080729"/>
            <a:ext cx="669458" cy="72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40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2024-01-08T16:41:16.756</cp:lastPrinted>
  <dcterms:created xsi:type="dcterms:W3CDTF">2024-01-08T16:41:16Z</dcterms:created>
  <dcterms:modified xsi:type="dcterms:W3CDTF">2024-01-08T16:41:25Z</dcterms:modified>
</cp:coreProperties>
</file>