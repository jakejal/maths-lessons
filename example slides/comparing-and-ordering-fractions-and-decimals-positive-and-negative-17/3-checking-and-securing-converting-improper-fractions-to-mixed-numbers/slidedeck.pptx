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75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BD8FF9-2C49-4558-AA59-20DA776E319B}">
  <a:tblStyle styleId="{81BD8FF9-2C49-4558-AA59-20DA776E31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5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819d485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819d485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819d4855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819d4855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9819d4855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9819d4855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9819d4855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9819d4855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9819d4855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9819d4855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9819d4855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29819d4855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9819d4855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9819d4855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9819d4855d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9819d4855d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9819d4855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9819d4855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29819d4855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29819d4855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9819d4855d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9819d4855d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9819d4855d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9819d4855d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9819d4855d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9819d4855d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9819d4855d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9819d4855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9819d4855d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9819d4855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9819d4855d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9819d4855d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29c149dbcd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29c149dbcd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9c149db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29c149db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9c149dbcd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9c149dbcd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9819d4855d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9819d4855d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9819d4855d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9819d4855d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9819d4855d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9819d4855d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9819d4855d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9819d4855d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9819d4855d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9819d4855d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9819d4855d_4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9819d4855d_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9dec5f111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9dec5f111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9819d4855d_4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9819d4855d_4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9819d4855d_4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29819d4855d_4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9819d4855d_4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9819d4855d_4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29819d4855d_4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29819d4855d_4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9819d4855d_4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9819d4855d_4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9819d4855d_4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9819d4855d_4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29819d4855d_4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29819d4855d_4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29819d4855d_4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9819d4855d_4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29819d4855d_4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29819d4855d_4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29819d4855d_4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29819d4855d_4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9819d4855d_4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9819d4855d_4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29819d4855d_4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9819d4855d_4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983e5645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983e5645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4.png"/><Relationship Id="rId4" Type="http://schemas.openxmlformats.org/officeDocument/2006/relationships/image" Target="../media/image118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7" Type="http://schemas.openxmlformats.org/officeDocument/2006/relationships/image" Target="../media/image1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18.png"/><Relationship Id="rId4" Type="http://schemas.openxmlformats.org/officeDocument/2006/relationships/image" Target="../media/image21.png"/><Relationship Id="rId9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33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18.png"/><Relationship Id="rId4" Type="http://schemas.openxmlformats.org/officeDocument/2006/relationships/image" Target="../media/image29.png"/><Relationship Id="rId11" Type="http://schemas.openxmlformats.org/officeDocument/2006/relationships/image" Target="../media/image12.png"/><Relationship Id="rId10" Type="http://schemas.openxmlformats.org/officeDocument/2006/relationships/image" Target="../media/image40.png"/><Relationship Id="rId9" Type="http://schemas.openxmlformats.org/officeDocument/2006/relationships/image" Target="../media/image31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Relationship Id="rId8" Type="http://schemas.openxmlformats.org/officeDocument/2006/relationships/image" Target="../media/image3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64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9.png"/><Relationship Id="rId5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1.png"/><Relationship Id="rId4" Type="http://schemas.openxmlformats.org/officeDocument/2006/relationships/image" Target="../media/image58.png"/><Relationship Id="rId5" Type="http://schemas.openxmlformats.org/officeDocument/2006/relationships/image" Target="../media/image6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5.png"/><Relationship Id="rId6" Type="http://schemas.openxmlformats.org/officeDocument/2006/relationships/image" Target="../media/image5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5.png"/><Relationship Id="rId6" Type="http://schemas.openxmlformats.org/officeDocument/2006/relationships/image" Target="../media/image5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0.png"/><Relationship Id="rId4" Type="http://schemas.openxmlformats.org/officeDocument/2006/relationships/image" Target="../media/image6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6.png"/><Relationship Id="rId4" Type="http://schemas.openxmlformats.org/officeDocument/2006/relationships/image" Target="../media/image73.png"/><Relationship Id="rId5" Type="http://schemas.openxmlformats.org/officeDocument/2006/relationships/image" Target="../media/image69.png"/><Relationship Id="rId6" Type="http://schemas.openxmlformats.org/officeDocument/2006/relationships/image" Target="../media/image71.png"/><Relationship Id="rId7" Type="http://schemas.openxmlformats.org/officeDocument/2006/relationships/image" Target="../media/image7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2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Relationship Id="rId6" Type="http://schemas.openxmlformats.org/officeDocument/2006/relationships/image" Target="../media/image74.png"/><Relationship Id="rId7" Type="http://schemas.openxmlformats.org/officeDocument/2006/relationships/image" Target="../media/image81.png"/><Relationship Id="rId8" Type="http://schemas.openxmlformats.org/officeDocument/2006/relationships/image" Target="../media/image7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2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2.png"/><Relationship Id="rId4" Type="http://schemas.openxmlformats.org/officeDocument/2006/relationships/image" Target="../media/image71.png"/><Relationship Id="rId5" Type="http://schemas.openxmlformats.org/officeDocument/2006/relationships/image" Target="../media/image69.png"/><Relationship Id="rId6" Type="http://schemas.openxmlformats.org/officeDocument/2006/relationships/image" Target="../media/image84.png"/><Relationship Id="rId7" Type="http://schemas.openxmlformats.org/officeDocument/2006/relationships/image" Target="../media/image82.png"/><Relationship Id="rId8" Type="http://schemas.openxmlformats.org/officeDocument/2006/relationships/image" Target="../media/image8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2.png"/><Relationship Id="rId4" Type="http://schemas.openxmlformats.org/officeDocument/2006/relationships/image" Target="../media/image69.png"/><Relationship Id="rId9" Type="http://schemas.openxmlformats.org/officeDocument/2006/relationships/image" Target="../media/image87.png"/><Relationship Id="rId5" Type="http://schemas.openxmlformats.org/officeDocument/2006/relationships/image" Target="../media/image71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2.png"/><Relationship Id="rId4" Type="http://schemas.openxmlformats.org/officeDocument/2006/relationships/image" Target="../media/image69.png"/><Relationship Id="rId9" Type="http://schemas.openxmlformats.org/officeDocument/2006/relationships/image" Target="../media/image88.png"/><Relationship Id="rId5" Type="http://schemas.openxmlformats.org/officeDocument/2006/relationships/image" Target="../media/image71.png"/><Relationship Id="rId6" Type="http://schemas.openxmlformats.org/officeDocument/2006/relationships/image" Target="../media/image94.png"/><Relationship Id="rId7" Type="http://schemas.openxmlformats.org/officeDocument/2006/relationships/image" Target="../media/image85.png"/><Relationship Id="rId8" Type="http://schemas.openxmlformats.org/officeDocument/2006/relationships/image" Target="../media/image91.png"/><Relationship Id="rId11" Type="http://schemas.openxmlformats.org/officeDocument/2006/relationships/image" Target="../media/image87.png"/><Relationship Id="rId10" Type="http://schemas.openxmlformats.org/officeDocument/2006/relationships/image" Target="../media/image8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2.png"/><Relationship Id="rId4" Type="http://schemas.openxmlformats.org/officeDocument/2006/relationships/image" Target="../media/image90.png"/><Relationship Id="rId5" Type="http://schemas.openxmlformats.org/officeDocument/2006/relationships/image" Target="../media/image93.png"/><Relationship Id="rId6" Type="http://schemas.openxmlformats.org/officeDocument/2006/relationships/image" Target="../media/image5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2.png"/><Relationship Id="rId4" Type="http://schemas.openxmlformats.org/officeDocument/2006/relationships/image" Target="../media/image90.png"/><Relationship Id="rId9" Type="http://schemas.openxmlformats.org/officeDocument/2006/relationships/image" Target="../media/image97.png"/><Relationship Id="rId5" Type="http://schemas.openxmlformats.org/officeDocument/2006/relationships/image" Target="../media/image93.png"/><Relationship Id="rId6" Type="http://schemas.openxmlformats.org/officeDocument/2006/relationships/image" Target="../media/image56.png"/><Relationship Id="rId7" Type="http://schemas.openxmlformats.org/officeDocument/2006/relationships/image" Target="../media/image96.png"/><Relationship Id="rId8" Type="http://schemas.openxmlformats.org/officeDocument/2006/relationships/image" Target="../media/image9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2.png"/><Relationship Id="rId4" Type="http://schemas.openxmlformats.org/officeDocument/2006/relationships/image" Target="../media/image9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2.png"/><Relationship Id="rId4" Type="http://schemas.openxmlformats.org/officeDocument/2006/relationships/image" Target="../media/image99.png"/><Relationship Id="rId5" Type="http://schemas.openxmlformats.org/officeDocument/2006/relationships/image" Target="../media/image9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4.png"/><Relationship Id="rId4" Type="http://schemas.openxmlformats.org/officeDocument/2006/relationships/image" Target="../media/image10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5.png"/><Relationship Id="rId4" Type="http://schemas.openxmlformats.org/officeDocument/2006/relationships/image" Target="../media/image10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9.png"/><Relationship Id="rId4" Type="http://schemas.openxmlformats.org/officeDocument/2006/relationships/image" Target="../media/image1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1.png"/><Relationship Id="rId4" Type="http://schemas.openxmlformats.org/officeDocument/2006/relationships/image" Target="../media/image115.png"/><Relationship Id="rId5" Type="http://schemas.openxmlformats.org/officeDocument/2006/relationships/image" Target="../media/image1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9.png"/><Relationship Id="rId4" Type="http://schemas.openxmlformats.org/officeDocument/2006/relationships/image" Target="../media/image48.png"/><Relationship Id="rId5" Type="http://schemas.openxmlformats.org/officeDocument/2006/relationships/image" Target="../media/image117.png"/><Relationship Id="rId6" Type="http://schemas.openxmlformats.org/officeDocument/2006/relationships/image" Target="../media/image1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improper fractions to mixed numbers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225" y="2136875"/>
            <a:ext cx="7033552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04951" y="685175"/>
            <a:ext cx="8030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A </a:t>
            </a:r>
            <a:r>
              <a:rPr lang="en-GB" sz="1800"/>
              <a:t>proper fraction</a:t>
            </a:r>
            <a:r>
              <a:rPr b="0" lang="en-GB" sz="1800"/>
              <a:t> is a fraction where the numerator is less than the denominator. </a:t>
            </a:r>
            <a:endParaRPr b="0"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1932150"/>
            <a:ext cx="8361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An </a:t>
            </a:r>
            <a:r>
              <a:rPr lang="en-GB" sz="1800"/>
              <a:t>improper fraction</a:t>
            </a:r>
            <a:r>
              <a:rPr b="0" lang="en-GB" sz="1800"/>
              <a:t> is a fraction where the numerator is greater than or equal to the denominator.</a:t>
            </a:r>
            <a:endParaRPr b="0"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331425"/>
            <a:ext cx="8220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A </a:t>
            </a:r>
            <a:r>
              <a:rPr lang="en-GB" sz="1800"/>
              <a:t>mixed number</a:t>
            </a:r>
            <a:r>
              <a:rPr b="0" lang="en-GB" sz="1800"/>
              <a:t> is an </a:t>
            </a:r>
            <a:r>
              <a:rPr lang="en-GB" sz="1800"/>
              <a:t>improper fraction</a:t>
            </a:r>
            <a:r>
              <a:rPr b="0" lang="en-GB" sz="1800"/>
              <a:t> written as its integer part plus the fractional part, where the fractional part is a proper fraction. </a:t>
            </a:r>
            <a:endParaRPr b="0" sz="1800"/>
          </a:p>
        </p:txBody>
      </p:sp>
      <p:sp>
        <p:nvSpPr>
          <p:cNvPr id="769" name="Google Shape;769;p67"/>
          <p:cNvSpPr txBox="1"/>
          <p:nvPr>
            <p:ph idx="1" type="subTitle"/>
          </p:nvPr>
        </p:nvSpPr>
        <p:spPr>
          <a:xfrm>
            <a:off x="5239076" y="1275313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Example</a:t>
            </a:r>
            <a:endParaRPr b="0" sz="1800"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770" name="Google Shape;770;p67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9028" y="1026974"/>
            <a:ext cx="228960" cy="757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5}&quot;&gt;&lt;mfrac&gt;&lt;mn&gt;7&lt;/mn&gt;&lt;mn&gt;5&lt;/mn&gt;&lt;/mfrac&gt;&lt;/math&gt;" id="771" name="Google Shape;771;p67" title="seven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9027" y="2478241"/>
            <a:ext cx="228960" cy="73595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7"/>
          <p:cNvSpPr txBox="1"/>
          <p:nvPr>
            <p:ph idx="1" type="subTitle"/>
          </p:nvPr>
        </p:nvSpPr>
        <p:spPr>
          <a:xfrm>
            <a:off x="5239076" y="2530738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Example</a:t>
            </a:r>
            <a:endParaRPr b="0" sz="1800"/>
          </a:p>
        </p:txBody>
      </p:sp>
      <p:sp>
        <p:nvSpPr>
          <p:cNvPr id="773" name="Google Shape;773;p67"/>
          <p:cNvSpPr txBox="1"/>
          <p:nvPr>
            <p:ph idx="1" type="subTitle"/>
          </p:nvPr>
        </p:nvSpPr>
        <p:spPr>
          <a:xfrm>
            <a:off x="5239076" y="4237038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Example</a:t>
            </a:r>
            <a:endParaRPr b="0" sz="1800"/>
          </a:p>
        </p:txBody>
      </p:sp>
      <p:pic>
        <p:nvPicPr>
          <p:cNvPr descr="&lt;math xmlns=&quot;http://www.w3.org/1998/Math/MathML&quot; display=&quot;block&quot; data-is-equatio=&quot;1&quot; data-latex=&quot;3\dfrac{1}{2}&quot;&gt;&lt;mn&gt;3&lt;/mn&gt;&lt;mstyle displaystyle=&quot;true&quot; scriptlevel=&quot;0&quot;&gt;&lt;mfrac&gt;&lt;mn&gt;1&lt;/mn&gt;&lt;mn&gt;2&lt;/mn&gt;&lt;/mfrac&gt;&lt;/mstyle&gt;&lt;/math&gt;" id="774" name="Google Shape;774;p67" title="3 and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6625" y="4054229"/>
            <a:ext cx="439700" cy="752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</p:txBody>
      </p:sp>
      <p:sp>
        <p:nvSpPr>
          <p:cNvPr id="780" name="Google Shape;780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sp>
        <p:nvSpPr>
          <p:cNvPr id="781" name="Google Shape;781;p68"/>
          <p:cNvSpPr txBox="1"/>
          <p:nvPr>
            <p:ph idx="3" type="title"/>
          </p:nvPr>
        </p:nvSpPr>
        <p:spPr>
          <a:xfrm>
            <a:off x="324000" y="657600"/>
            <a:ext cx="8096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improper fractions to mixed numbers</a:t>
            </a:r>
            <a:endParaRPr/>
          </a:p>
        </p:txBody>
      </p:sp>
      <p:pic>
        <p:nvPicPr>
          <p:cNvPr id="782" name="Google Shape;78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</p:txBody>
      </p:sp>
      <p:sp>
        <p:nvSpPr>
          <p:cNvPr id="788" name="Google Shape;788;p69"/>
          <p:cNvSpPr txBox="1"/>
          <p:nvPr>
            <p:ph idx="4294967295" type="subTitle"/>
          </p:nvPr>
        </p:nvSpPr>
        <p:spPr>
          <a:xfrm>
            <a:off x="304950" y="837575"/>
            <a:ext cx="7154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</a:t>
            </a:r>
            <a:r>
              <a:rPr b="1" lang="en-GB"/>
              <a:t>proper fraction</a:t>
            </a:r>
            <a:r>
              <a:rPr b="0" lang="en-GB"/>
              <a:t> is a fraction where the numerator is less than the denominator.</a:t>
            </a:r>
            <a:r>
              <a:rPr b="0" lang="en-GB" sz="1800"/>
              <a:t> </a:t>
            </a:r>
            <a:endParaRPr b="0" sz="1800"/>
          </a:p>
        </p:txBody>
      </p:sp>
      <p:pic>
        <p:nvPicPr>
          <p:cNvPr id="789" name="Google Shape;78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875" y="2609571"/>
            <a:ext cx="273875" cy="9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9"/>
          <p:cNvSpPr txBox="1"/>
          <p:nvPr/>
        </p:nvSpPr>
        <p:spPr>
          <a:xfrm>
            <a:off x="1093925" y="1908900"/>
            <a:ext cx="145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sp>
        <p:nvSpPr>
          <p:cNvPr id="791" name="Google Shape;791;p69"/>
          <p:cNvSpPr txBox="1"/>
          <p:nvPr/>
        </p:nvSpPr>
        <p:spPr>
          <a:xfrm>
            <a:off x="4979400" y="1908900"/>
            <a:ext cx="282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Number line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graphicFrame>
        <p:nvGraphicFramePr>
          <p:cNvPr id="792" name="Google Shape;792;p69"/>
          <p:cNvGraphicFramePr/>
          <p:nvPr/>
        </p:nvGraphicFramePr>
        <p:xfrm>
          <a:off x="4588550" y="279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394000"/>
                <a:gridCol w="394000"/>
                <a:gridCol w="394000"/>
                <a:gridCol w="394000"/>
                <a:gridCol w="394000"/>
                <a:gridCol w="394000"/>
                <a:gridCol w="394000"/>
                <a:gridCol w="394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93" name="Google Shape;793;p69"/>
          <p:cNvCxnSpPr/>
          <p:nvPr/>
        </p:nvCxnSpPr>
        <p:spPr>
          <a:xfrm>
            <a:off x="4216800" y="3000525"/>
            <a:ext cx="38412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94" name="Google Shape;794;p69"/>
          <p:cNvSpPr txBox="1"/>
          <p:nvPr/>
        </p:nvSpPr>
        <p:spPr>
          <a:xfrm>
            <a:off x="4444500" y="311620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 txBox="1"/>
          <p:nvPr/>
        </p:nvSpPr>
        <p:spPr>
          <a:xfrm>
            <a:off x="7584225" y="311620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6" name="Google Shape;79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2438" y="2702708"/>
            <a:ext cx="33242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2438" y="3091296"/>
            <a:ext cx="3324225" cy="142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8" name="Google Shape;798;p69"/>
          <p:cNvCxnSpPr/>
          <p:nvPr/>
        </p:nvCxnSpPr>
        <p:spPr>
          <a:xfrm rot="10800000">
            <a:off x="5780109" y="3116100"/>
            <a:ext cx="0" cy="401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9" name="Google Shape;799;p69"/>
          <p:cNvSpPr txBox="1"/>
          <p:nvPr>
            <p:ph idx="4294967295" type="subTitle"/>
          </p:nvPr>
        </p:nvSpPr>
        <p:spPr>
          <a:xfrm>
            <a:off x="317085" y="3969575"/>
            <a:ext cx="5797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</a:t>
            </a:r>
            <a:r>
              <a:rPr b="1" lang="en-GB"/>
              <a:t>proper fraction</a:t>
            </a:r>
            <a:r>
              <a:rPr b="0" lang="en-GB"/>
              <a:t> is </a:t>
            </a:r>
            <a:r>
              <a:rPr lang="en-GB"/>
              <a:t>always less than 1</a:t>
            </a:r>
            <a:endParaRPr b="0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</p:txBody>
      </p:sp>
      <p:sp>
        <p:nvSpPr>
          <p:cNvPr id="805" name="Google Shape;805;p70"/>
          <p:cNvSpPr txBox="1"/>
          <p:nvPr>
            <p:ph idx="4294967295" type="subTitle"/>
          </p:nvPr>
        </p:nvSpPr>
        <p:spPr>
          <a:xfrm>
            <a:off x="304950" y="837575"/>
            <a:ext cx="778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</a:t>
            </a:r>
            <a:r>
              <a:rPr b="1" lang="en-GB"/>
              <a:t>improper fraction</a:t>
            </a:r>
            <a:r>
              <a:rPr lang="en-GB"/>
              <a:t> is a fraction where the numerator is greater than or equal to the denominator.</a:t>
            </a:r>
            <a:endParaRPr b="0" sz="1800"/>
          </a:p>
        </p:txBody>
      </p:sp>
      <p:sp>
        <p:nvSpPr>
          <p:cNvPr id="806" name="Google Shape;806;p70"/>
          <p:cNvSpPr txBox="1"/>
          <p:nvPr/>
        </p:nvSpPr>
        <p:spPr>
          <a:xfrm>
            <a:off x="1398725" y="1908900"/>
            <a:ext cx="145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sp>
        <p:nvSpPr>
          <p:cNvPr id="807" name="Google Shape;807;p70"/>
          <p:cNvSpPr txBox="1"/>
          <p:nvPr/>
        </p:nvSpPr>
        <p:spPr>
          <a:xfrm>
            <a:off x="4750800" y="1908900"/>
            <a:ext cx="282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Number line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graphicFrame>
        <p:nvGraphicFramePr>
          <p:cNvPr id="808" name="Google Shape;808;p70"/>
          <p:cNvGraphicFramePr/>
          <p:nvPr/>
        </p:nvGraphicFramePr>
        <p:xfrm>
          <a:off x="4359950" y="279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315200"/>
                <a:gridCol w="315200"/>
                <a:gridCol w="315200"/>
                <a:gridCol w="315200"/>
                <a:gridCol w="315200"/>
                <a:gridCol w="315200"/>
                <a:gridCol w="315200"/>
                <a:gridCol w="315200"/>
                <a:gridCol w="315200"/>
                <a:gridCol w="31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09" name="Google Shape;809;p70"/>
          <p:cNvCxnSpPr/>
          <p:nvPr/>
        </p:nvCxnSpPr>
        <p:spPr>
          <a:xfrm>
            <a:off x="3988200" y="3000525"/>
            <a:ext cx="38412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0" name="Google Shape;810;p70"/>
          <p:cNvSpPr txBox="1"/>
          <p:nvPr/>
        </p:nvSpPr>
        <p:spPr>
          <a:xfrm>
            <a:off x="4215900" y="311620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70"/>
          <p:cNvSpPr txBox="1"/>
          <p:nvPr/>
        </p:nvSpPr>
        <p:spPr>
          <a:xfrm>
            <a:off x="5790150" y="311620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2" name="Google Shape;81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838" y="2702708"/>
            <a:ext cx="33242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838" y="3091296"/>
            <a:ext cx="3324225" cy="142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4" name="Google Shape;814;p70"/>
          <p:cNvCxnSpPr/>
          <p:nvPr/>
        </p:nvCxnSpPr>
        <p:spPr>
          <a:xfrm rot="10800000">
            <a:off x="6566350" y="3162075"/>
            <a:ext cx="0" cy="401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5" name="Google Shape;815;p70"/>
          <p:cNvSpPr txBox="1"/>
          <p:nvPr>
            <p:ph idx="4294967295" type="subTitle"/>
          </p:nvPr>
        </p:nvSpPr>
        <p:spPr>
          <a:xfrm>
            <a:off x="304950" y="3969575"/>
            <a:ext cx="8194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</a:t>
            </a:r>
            <a:r>
              <a:rPr lang="en-GB"/>
              <a:t>n</a:t>
            </a:r>
            <a:r>
              <a:rPr b="0" lang="en-GB"/>
              <a:t> </a:t>
            </a:r>
            <a:r>
              <a:rPr b="1" lang="en-GB"/>
              <a:t>im</a:t>
            </a:r>
            <a:r>
              <a:rPr b="1" lang="en-GB"/>
              <a:t>proper fraction</a:t>
            </a:r>
            <a:r>
              <a:rPr b="0" lang="en-GB"/>
              <a:t> is </a:t>
            </a:r>
            <a:r>
              <a:rPr lang="en-GB"/>
              <a:t>always greater than or equal to 1.</a:t>
            </a:r>
            <a:endParaRPr b="0" sz="1800"/>
          </a:p>
        </p:txBody>
      </p:sp>
      <p:pic>
        <p:nvPicPr>
          <p:cNvPr descr="&lt;math xmlns=&quot;http://www.w3.org/1998/Math/MathML&quot; display=&quot;block&quot; data-is-equatio=&quot;1&quot; data-latex=&quot;\frac{7}{5}&quot;&gt;&lt;mfrac&gt;&lt;mn&gt;7&lt;/mn&gt;&lt;mn&gt;5&lt;/mn&gt;&lt;/mfrac&gt;&lt;/math&gt;" id="816" name="Google Shape;816;p70" title="seven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6425" y="2520938"/>
            <a:ext cx="291600" cy="93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1"/>
          <p:cNvSpPr txBox="1"/>
          <p:nvPr>
            <p:ph idx="1" type="body"/>
          </p:nvPr>
        </p:nvSpPr>
        <p:spPr>
          <a:xfrm>
            <a:off x="324000" y="759300"/>
            <a:ext cx="82377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 has £6 and he is dividing this between his 7 friends.</a:t>
            </a:r>
            <a:endParaRPr/>
          </a:p>
        </p:txBody>
      </p:sp>
      <p:sp>
        <p:nvSpPr>
          <p:cNvPr id="822" name="Google Shape;82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</p:txBody>
      </p:sp>
      <p:sp>
        <p:nvSpPr>
          <p:cNvPr id="823" name="Google Shape;823;p71"/>
          <p:cNvSpPr txBox="1"/>
          <p:nvPr>
            <p:ph idx="1" type="body"/>
          </p:nvPr>
        </p:nvSpPr>
        <p:spPr>
          <a:xfrm>
            <a:off x="293400" y="2986313"/>
            <a:ext cx="82377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Without any working out, explain who is correct using your knowledge on </a:t>
            </a:r>
            <a:r>
              <a:rPr b="1" lang="en-GB"/>
              <a:t>proper</a:t>
            </a:r>
            <a:r>
              <a:rPr lang="en-GB"/>
              <a:t> and </a:t>
            </a:r>
            <a:r>
              <a:rPr b="1" lang="en-GB"/>
              <a:t>improper fractions</a:t>
            </a:r>
            <a:r>
              <a:rPr lang="en-GB"/>
              <a:t>.</a:t>
            </a:r>
            <a:endParaRPr/>
          </a:p>
        </p:txBody>
      </p:sp>
      <p:pic>
        <p:nvPicPr>
          <p:cNvPr id="824" name="Google Shape;82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7390" y="1534188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61499" y="1443075"/>
            <a:ext cx="1211926" cy="10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772200" y="2462550"/>
            <a:ext cx="76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/>
          </a:p>
        </p:txBody>
      </p:sp>
      <p:sp>
        <p:nvSpPr>
          <p:cNvPr id="827" name="Google Shape;827;p71"/>
          <p:cNvSpPr txBox="1"/>
          <p:nvPr/>
        </p:nvSpPr>
        <p:spPr>
          <a:xfrm>
            <a:off x="6968625" y="2462550"/>
            <a:ext cx="88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/>
          </a:p>
        </p:txBody>
      </p:sp>
      <p:pic>
        <p:nvPicPr>
          <p:cNvPr id="828" name="Google Shape;828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605201" y="1309775"/>
            <a:ext cx="2255574" cy="148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6050" y="1309775"/>
            <a:ext cx="2123048" cy="148902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1"/>
          <p:cNvSpPr txBox="1"/>
          <p:nvPr/>
        </p:nvSpPr>
        <p:spPr>
          <a:xfrm>
            <a:off x="1859009" y="1307136"/>
            <a:ext cx="19653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person will get more than £1 each</a:t>
            </a:r>
            <a:endParaRPr/>
          </a:p>
        </p:txBody>
      </p:sp>
      <p:sp>
        <p:nvSpPr>
          <p:cNvPr id="831" name="Google Shape;831;p71"/>
          <p:cNvSpPr txBox="1"/>
          <p:nvPr/>
        </p:nvSpPr>
        <p:spPr>
          <a:xfrm>
            <a:off x="4674399" y="1331100"/>
            <a:ext cx="21231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person will get less than £1 each</a:t>
            </a:r>
            <a:endParaRPr/>
          </a:p>
        </p:txBody>
      </p:sp>
      <p:grpSp>
        <p:nvGrpSpPr>
          <p:cNvPr id="832" name="Google Shape;832;p71"/>
          <p:cNvGrpSpPr/>
          <p:nvPr/>
        </p:nvGrpSpPr>
        <p:grpSpPr>
          <a:xfrm>
            <a:off x="233625" y="3883525"/>
            <a:ext cx="8317800" cy="954300"/>
            <a:chOff x="233625" y="3883525"/>
            <a:chExt cx="8317800" cy="954300"/>
          </a:xfrm>
        </p:grpSpPr>
        <p:sp>
          <p:nvSpPr>
            <p:cNvPr id="833" name="Google Shape;833;p71"/>
            <p:cNvSpPr txBox="1"/>
            <p:nvPr/>
          </p:nvSpPr>
          <p:spPr>
            <a:xfrm>
              <a:off x="233625" y="3883525"/>
              <a:ext cx="83178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Sofia is correct. 6 ÷ 7 is the same as     . Given the </a:t>
              </a: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numerator</a:t>
              </a: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 is less than the denominator, the value each student </a:t>
              </a: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receives</a:t>
              </a: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 will be less than 1.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6}{7}&quot;&gt;&lt;mfrac&gt;&lt;mn&gt;6&lt;/mn&gt;&lt;mn&gt;7&lt;/mn&gt;&lt;/mfrac&gt;&lt;/math&gt;" id="834" name="Google Shape;834;p71" title="six seve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52050" y="3883525"/>
              <a:ext cx="159241" cy="523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</p:txBody>
      </p:sp>
      <p:sp>
        <p:nvSpPr>
          <p:cNvPr id="840" name="Google Shape;840;p72"/>
          <p:cNvSpPr txBox="1"/>
          <p:nvPr/>
        </p:nvSpPr>
        <p:spPr>
          <a:xfrm>
            <a:off x="389900" y="2682850"/>
            <a:ext cx="8320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Mark the position on the number line of: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b)                 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/>
          </a:p>
        </p:txBody>
      </p:sp>
      <p:graphicFrame>
        <p:nvGraphicFramePr>
          <p:cNvPr id="841" name="Google Shape;841;p72"/>
          <p:cNvGraphicFramePr/>
          <p:nvPr/>
        </p:nvGraphicFramePr>
        <p:xfrm>
          <a:off x="1835675" y="120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42" name="Google Shape;842;p72"/>
          <p:cNvCxnSpPr/>
          <p:nvPr/>
        </p:nvCxnSpPr>
        <p:spPr>
          <a:xfrm>
            <a:off x="1463925" y="1409425"/>
            <a:ext cx="639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3" name="Google Shape;843;p72"/>
          <p:cNvSpPr txBox="1"/>
          <p:nvPr/>
        </p:nvSpPr>
        <p:spPr>
          <a:xfrm>
            <a:off x="1691625" y="152510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2"/>
          <p:cNvSpPr txBox="1"/>
          <p:nvPr/>
        </p:nvSpPr>
        <p:spPr>
          <a:xfrm>
            <a:off x="3580725" y="152510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2"/>
          <p:cNvSpPr txBox="1"/>
          <p:nvPr/>
        </p:nvSpPr>
        <p:spPr>
          <a:xfrm>
            <a:off x="5517513" y="152510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2"/>
          <p:cNvSpPr txBox="1"/>
          <p:nvPr/>
        </p:nvSpPr>
        <p:spPr>
          <a:xfrm>
            <a:off x="7410400" y="152510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}{5}&quot;&gt;&lt;mfrac&gt;&lt;mn&gt;13&lt;/mn&gt;&lt;mn&gt;5&lt;/mn&gt;&lt;/mfrac&gt;&lt;/math&gt;" id="847" name="Google Shape;847;p72" title="thirteen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475" y="3329575"/>
            <a:ext cx="459295" cy="837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848" name="Google Shape;848;p72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9613" y="3329575"/>
            <a:ext cx="253175" cy="813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0425" y="1158175"/>
            <a:ext cx="715327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7363" y="1525100"/>
            <a:ext cx="7153275" cy="95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1" name="Google Shape;851;p72"/>
          <p:cNvCxnSpPr/>
          <p:nvPr/>
        </p:nvCxnSpPr>
        <p:spPr>
          <a:xfrm rot="10800000">
            <a:off x="6812725" y="1486850"/>
            <a:ext cx="0" cy="401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3}{5}&quot;&gt;&lt;mfrac&gt;&lt;mn&gt;13&lt;/mn&gt;&lt;mn&gt;5&lt;/mn&gt;&lt;/mfrac&gt;&lt;/math&gt;" id="852" name="Google Shape;852;p72" title="thirteen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6425" y="1949506"/>
            <a:ext cx="372606" cy="679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3" name="Google Shape;853;p72"/>
          <p:cNvCxnSpPr/>
          <p:nvPr/>
        </p:nvCxnSpPr>
        <p:spPr>
          <a:xfrm rot="10800000">
            <a:off x="2601375" y="1525100"/>
            <a:ext cx="0" cy="401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854" name="Google Shape;854;p72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5947" y="1962106"/>
            <a:ext cx="190848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3"/>
          <p:cNvSpPr txBox="1"/>
          <p:nvPr>
            <p:ph idx="1" type="body"/>
          </p:nvPr>
        </p:nvSpPr>
        <p:spPr>
          <a:xfrm>
            <a:off x="324000" y="835500"/>
            <a:ext cx="8404500" cy="4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Insert the </a:t>
            </a:r>
            <a:r>
              <a:rPr lang="en-GB" sz="2100"/>
              <a:t>inequalities</a:t>
            </a:r>
            <a:r>
              <a:rPr lang="en-GB" sz="2100"/>
              <a:t> = ,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﹥</a:t>
            </a:r>
            <a:r>
              <a:rPr lang="en-GB" sz="2100"/>
              <a:t>and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﹤</a:t>
            </a:r>
            <a:r>
              <a:rPr lang="en-GB" sz="2100"/>
              <a:t>to make the statement true.</a:t>
            </a:r>
            <a:endParaRPr sz="2100"/>
          </a:p>
        </p:txBody>
      </p:sp>
      <p:sp>
        <p:nvSpPr>
          <p:cNvPr id="860" name="Google Shape;860;p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73"/>
          <p:cNvSpPr txBox="1"/>
          <p:nvPr/>
        </p:nvSpPr>
        <p:spPr>
          <a:xfrm>
            <a:off x="324000" y="1446600"/>
            <a:ext cx="572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3"/>
          <p:cNvSpPr txBox="1"/>
          <p:nvPr/>
        </p:nvSpPr>
        <p:spPr>
          <a:xfrm>
            <a:off x="324000" y="3240000"/>
            <a:ext cx="572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3"/>
          <p:cNvSpPr txBox="1"/>
          <p:nvPr/>
        </p:nvSpPr>
        <p:spPr>
          <a:xfrm>
            <a:off x="4824000" y="1446600"/>
            <a:ext cx="572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3"/>
          <p:cNvSpPr txBox="1"/>
          <p:nvPr/>
        </p:nvSpPr>
        <p:spPr>
          <a:xfrm>
            <a:off x="4824000" y="3240000"/>
            <a:ext cx="572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5}&amp;lt;1&quot;&gt;&lt;mfrac&gt;&lt;mn&gt;4&lt;/mn&gt;&lt;mn&gt;5&lt;/mn&gt;&lt;/mfrac&gt;&lt;mo&gt;&amp;lt;&lt;/mo&gt;&lt;mn&gt;1&lt;/mn&gt;&lt;/math&gt;" id="865" name="Google Shape;865;p73" title="four fifths is less than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825" y="1295675"/>
            <a:ext cx="953349" cy="83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amp;gt;1&quot;&gt;&lt;mfrac&gt;&lt;mn&gt;8&lt;/mn&gt;&lt;mn&gt;3&lt;/mn&gt;&lt;/mfrac&gt;&lt;mo&gt;&amp;gt;&lt;/mo&gt;&lt;mn&gt;1&lt;/mn&gt;&lt;/math&gt;" id="866" name="Google Shape;866;p73" title="eight thirds is greater than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9150" y="3181138"/>
            <a:ext cx="950711" cy="83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11\div5\right)&amp;gt;1&quot;&gt;&lt;mrow data-mjx-texclass=&quot;INNER&quot;&gt;&lt;mo data-mjx-texclass=&quot;OPEN&quot;&gt;(&lt;/mo&gt;&lt;mn&gt;11&lt;/mn&gt;&lt;mo&gt;÷&lt;/mo&gt;&lt;mn&gt;5&lt;/mn&gt;&lt;mo data-mjx-texclass=&quot;CLOSE&quot;&gt;)&lt;/mo&gt;&lt;/mrow&gt;&lt;mo&gt;&amp;gt;&lt;/mo&gt;&lt;mn&gt;1&lt;/mn&gt;&lt;/math&gt;" id="867" name="Google Shape;867;p73" title="open paren 11 divided by 5 close paren is greater than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5825" y="1506625"/>
            <a:ext cx="2207925" cy="40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\times2}{3\times4}=1&quot;&gt;&lt;mfrac&gt;&lt;mrow&gt;&lt;mn&gt;6&lt;/mn&gt;&lt;mo&gt;×&lt;/mo&gt;&lt;mn&gt;2&lt;/mn&gt;&lt;/mrow&gt;&lt;mrow&gt;&lt;mn&gt;3&lt;/mn&gt;&lt;mo&gt;×&lt;/mo&gt;&lt;mn&gt;4&lt;/mn&gt;&lt;/mrow&gt;&lt;/mfrac&gt;&lt;mo&gt;=&lt;/mo&gt;&lt;mn&gt;1&lt;/mn&gt;&lt;/math&gt;" id="868" name="Google Shape;868;p73" title="the fraction with numerator 6 times 2 and denominator 3 times 4 equal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6850" y="3240000"/>
            <a:ext cx="1582216" cy="8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3"/>
          <p:cNvSpPr/>
          <p:nvPr/>
        </p:nvSpPr>
        <p:spPr>
          <a:xfrm>
            <a:off x="1302600" y="1478800"/>
            <a:ext cx="382200" cy="46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3"/>
          <p:cNvSpPr/>
          <p:nvPr/>
        </p:nvSpPr>
        <p:spPr>
          <a:xfrm>
            <a:off x="1355450" y="3366600"/>
            <a:ext cx="382200" cy="46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3"/>
          <p:cNvSpPr/>
          <p:nvPr/>
        </p:nvSpPr>
        <p:spPr>
          <a:xfrm>
            <a:off x="6974875" y="1478800"/>
            <a:ext cx="382200" cy="46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3"/>
          <p:cNvSpPr/>
          <p:nvPr/>
        </p:nvSpPr>
        <p:spPr>
          <a:xfrm>
            <a:off x="6592675" y="3425463"/>
            <a:ext cx="382200" cy="46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4"/>
          <p:cNvSpPr txBox="1"/>
          <p:nvPr>
            <p:ph idx="1" type="body"/>
          </p:nvPr>
        </p:nvSpPr>
        <p:spPr>
          <a:xfrm>
            <a:off x="324000" y="683100"/>
            <a:ext cx="8237700" cy="3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Identify if the following are true or false.</a:t>
            </a:r>
            <a:endParaRPr/>
          </a:p>
        </p:txBody>
      </p:sp>
      <p:graphicFrame>
        <p:nvGraphicFramePr>
          <p:cNvPr id="878" name="Google Shape;878;p74"/>
          <p:cNvGraphicFramePr/>
          <p:nvPr/>
        </p:nvGraphicFramePr>
        <p:xfrm>
          <a:off x="359230" y="1212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6208100"/>
                <a:gridCol w="947500"/>
                <a:gridCol w="1204250"/>
              </a:tblGrid>
              <a:tr h="49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1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b="1" sz="21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1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b="1" sz="21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1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b="1" sz="21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50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value of a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 fraction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is always less than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value of an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is always greater than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fraction in the form    where </a:t>
                      </a:r>
                      <a:r>
                        <a:rPr lang="en-GB" sz="2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&gt; b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is an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789 ÷ 788 will give a number greater than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9" name="Google Shape;879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Proper and improper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a}{b}&quot;&gt;&lt;mfrac&gt;&lt;mi&gt;a&lt;/mi&gt;&lt;mi&gt;b&lt;/mi&gt;&lt;/mfrac&gt;&lt;/math&gt;" id="880" name="Google Shape;880;p74" title="a over b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200" y="3036105"/>
            <a:ext cx="118012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189225"/>
            <a:ext cx="8496001" cy="3117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6" name="Google Shape;886;p75"/>
          <p:cNvGraphicFramePr/>
          <p:nvPr/>
        </p:nvGraphicFramePr>
        <p:xfrm>
          <a:off x="1561925" y="129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1893275"/>
                <a:gridCol w="1893275"/>
                <a:gridCol w="18932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7" name="Google Shape;88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100" y="1219500"/>
            <a:ext cx="6781800" cy="14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938" y="1559140"/>
            <a:ext cx="6781800" cy="145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9" name="Google Shape;889;p75"/>
          <p:cNvCxnSpPr/>
          <p:nvPr/>
        </p:nvCxnSpPr>
        <p:spPr>
          <a:xfrm>
            <a:off x="1192625" y="1496500"/>
            <a:ext cx="639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0" name="Google Shape;890;p75"/>
          <p:cNvSpPr txBox="1"/>
          <p:nvPr/>
        </p:nvSpPr>
        <p:spPr>
          <a:xfrm>
            <a:off x="1404225" y="155915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5"/>
          <p:cNvSpPr txBox="1"/>
          <p:nvPr/>
        </p:nvSpPr>
        <p:spPr>
          <a:xfrm>
            <a:off x="3293325" y="155915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5"/>
          <p:cNvSpPr txBox="1"/>
          <p:nvPr/>
        </p:nvSpPr>
        <p:spPr>
          <a:xfrm>
            <a:off x="5230113" y="155915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5"/>
          <p:cNvSpPr txBox="1"/>
          <p:nvPr/>
        </p:nvSpPr>
        <p:spPr>
          <a:xfrm>
            <a:off x="7115063" y="155915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5"/>
          <p:cNvSpPr/>
          <p:nvPr/>
        </p:nvSpPr>
        <p:spPr>
          <a:xfrm>
            <a:off x="3272325" y="1048650"/>
            <a:ext cx="351600" cy="31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5"/>
          <p:cNvSpPr/>
          <p:nvPr/>
        </p:nvSpPr>
        <p:spPr>
          <a:xfrm>
            <a:off x="2986800" y="1820725"/>
            <a:ext cx="351600" cy="31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5"/>
          <p:cNvSpPr/>
          <p:nvPr/>
        </p:nvSpPr>
        <p:spPr>
          <a:xfrm>
            <a:off x="3569825" y="1820725"/>
            <a:ext cx="351600" cy="31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5"/>
          <p:cNvSpPr/>
          <p:nvPr/>
        </p:nvSpPr>
        <p:spPr>
          <a:xfrm>
            <a:off x="4922900" y="1048650"/>
            <a:ext cx="351600" cy="31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8" name="Google Shape;898;p75"/>
          <p:cNvCxnSpPr/>
          <p:nvPr/>
        </p:nvCxnSpPr>
        <p:spPr>
          <a:xfrm flipH="1" rot="10800000">
            <a:off x="3162600" y="1530925"/>
            <a:ext cx="227100" cy="28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75"/>
          <p:cNvCxnSpPr>
            <a:stCxn id="896" idx="0"/>
          </p:cNvCxnSpPr>
          <p:nvPr/>
        </p:nvCxnSpPr>
        <p:spPr>
          <a:xfrm rot="10800000">
            <a:off x="3506225" y="1523425"/>
            <a:ext cx="239400" cy="29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" name="Google Shape;900;p75"/>
          <p:cNvCxnSpPr/>
          <p:nvPr/>
        </p:nvCxnSpPr>
        <p:spPr>
          <a:xfrm>
            <a:off x="5150637" y="1365450"/>
            <a:ext cx="146400" cy="10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1" name="Google Shape;901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75"/>
          <p:cNvSpPr/>
          <p:nvPr/>
        </p:nvSpPr>
        <p:spPr>
          <a:xfrm>
            <a:off x="3219556" y="2461750"/>
            <a:ext cx="382200" cy="46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5"/>
          <p:cNvSpPr/>
          <p:nvPr/>
        </p:nvSpPr>
        <p:spPr>
          <a:xfrm>
            <a:off x="3219556" y="3073975"/>
            <a:ext cx="382200" cy="46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5"/>
          <p:cNvSpPr/>
          <p:nvPr/>
        </p:nvSpPr>
        <p:spPr>
          <a:xfrm>
            <a:off x="3219556" y="3692775"/>
            <a:ext cx="382200" cy="46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5"/>
          <p:cNvSpPr/>
          <p:nvPr/>
        </p:nvSpPr>
        <p:spPr>
          <a:xfrm>
            <a:off x="3219556" y="4360200"/>
            <a:ext cx="382200" cy="46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5"/>
          <p:cNvSpPr txBox="1"/>
          <p:nvPr>
            <p:ph idx="1" type="body"/>
          </p:nvPr>
        </p:nvSpPr>
        <p:spPr>
          <a:xfrm>
            <a:off x="362425" y="657600"/>
            <a:ext cx="8237700" cy="4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Without calculating the answer,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which letter corresponds to the calculation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5677 ÷ 5678 is letter</a:t>
            </a: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5678 ÷ 5678 is letter</a:t>
            </a:r>
            <a:br>
              <a:rPr lang="en-GB" sz="1800"/>
            </a:br>
            <a:br>
              <a:rPr lang="en-GB" sz="1800"/>
            </a:br>
            <a:endParaRPr sz="1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5679 ÷ 5678 is letter</a:t>
            </a:r>
            <a:br>
              <a:rPr lang="en-GB" sz="1800"/>
            </a:br>
            <a:br>
              <a:rPr lang="en-GB" sz="1800"/>
            </a:br>
            <a:endParaRPr sz="1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5678 ÷ 2880 is letter 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6"/>
          <p:cNvSpPr txBox="1"/>
          <p:nvPr>
            <p:ph idx="1" type="body"/>
          </p:nvPr>
        </p:nvSpPr>
        <p:spPr>
          <a:xfrm>
            <a:off x="333561" y="733800"/>
            <a:ext cx="8237700" cy="4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</a:t>
            </a:r>
            <a:r>
              <a:rPr lang="en-GB" sz="1800"/>
              <a:t>Here is a section of a number line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Which whole number is the arrow pointing to?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Approximately mark another two whole numbers on the number line. What are these whole numbers?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How would your answers change if the </a:t>
            </a:r>
            <a:r>
              <a:rPr lang="en-GB" sz="1800"/>
              <a:t>denominator</a:t>
            </a:r>
            <a:r>
              <a:rPr lang="en-GB" sz="1800"/>
              <a:t> was 6?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What could the denominator be if there were no whole numbers between the two fractions?</a:t>
            </a:r>
            <a:endParaRPr sz="1800"/>
          </a:p>
        </p:txBody>
      </p:sp>
      <p:graphicFrame>
        <p:nvGraphicFramePr>
          <p:cNvPr id="912" name="Google Shape;912;p76"/>
          <p:cNvGraphicFramePr/>
          <p:nvPr/>
        </p:nvGraphicFramePr>
        <p:xfrm>
          <a:off x="1561925" y="129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1893275"/>
                <a:gridCol w="1893275"/>
                <a:gridCol w="18932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13" name="Google Shape;91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100" y="1219500"/>
            <a:ext cx="6781800" cy="14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938" y="1559140"/>
            <a:ext cx="6781800" cy="145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5" name="Google Shape;915;p76"/>
          <p:cNvCxnSpPr/>
          <p:nvPr/>
        </p:nvCxnSpPr>
        <p:spPr>
          <a:xfrm>
            <a:off x="1202488" y="1369825"/>
            <a:ext cx="639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21}{5}&quot;&gt;&lt;mfrac&gt;&lt;mn&gt;21&lt;/mn&gt;&lt;mn&gt;5&lt;/mn&gt;&lt;/mfrac&gt;&lt;/math&gt;" id="916" name="Google Shape;916;p76" title="21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9127" y="1608025"/>
            <a:ext cx="291600" cy="531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5}&quot;&gt;&lt;mfrac&gt;&lt;mn&gt;26&lt;/mn&gt;&lt;mn&gt;5&lt;/mn&gt;&lt;/mfrac&gt;&lt;/math&gt;" id="917" name="Google Shape;917;p76" title="26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9725" y="1608025"/>
            <a:ext cx="291600" cy="531973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919" name="Google Shape;919;p76"/>
          <p:cNvCxnSpPr/>
          <p:nvPr/>
        </p:nvCxnSpPr>
        <p:spPr>
          <a:xfrm rot="10800000">
            <a:off x="5040264" y="1479700"/>
            <a:ext cx="0" cy="60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7"/>
          <p:cNvSpPr txBox="1"/>
          <p:nvPr>
            <p:ph idx="1" type="body"/>
          </p:nvPr>
        </p:nvSpPr>
        <p:spPr>
          <a:xfrm>
            <a:off x="324000" y="759300"/>
            <a:ext cx="8820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Insert the inequalities = ,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﹥</a:t>
            </a:r>
            <a:r>
              <a:rPr lang="en-GB" sz="2100"/>
              <a:t>and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﹤</a:t>
            </a:r>
            <a:r>
              <a:rPr lang="en-GB" sz="2100"/>
              <a:t>to make the statement true</a:t>
            </a:r>
            <a:endParaRPr sz="2100"/>
          </a:p>
        </p:txBody>
      </p:sp>
      <p:sp>
        <p:nvSpPr>
          <p:cNvPr id="925" name="Google Shape;925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77"/>
          <p:cNvSpPr txBox="1"/>
          <p:nvPr/>
        </p:nvSpPr>
        <p:spPr>
          <a:xfrm>
            <a:off x="324000" y="1446600"/>
            <a:ext cx="572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7"/>
          <p:cNvSpPr txBox="1"/>
          <p:nvPr/>
        </p:nvSpPr>
        <p:spPr>
          <a:xfrm>
            <a:off x="324000" y="3240000"/>
            <a:ext cx="572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7"/>
          <p:cNvSpPr txBox="1"/>
          <p:nvPr/>
        </p:nvSpPr>
        <p:spPr>
          <a:xfrm>
            <a:off x="4824000" y="1446600"/>
            <a:ext cx="572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7"/>
          <p:cNvSpPr txBox="1"/>
          <p:nvPr/>
        </p:nvSpPr>
        <p:spPr>
          <a:xfrm>
            <a:off x="4824000" y="3240000"/>
            <a:ext cx="5724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5}&amp;lt;1&quot;&gt;&lt;mfrac&gt;&lt;mn&gt;4&lt;/mn&gt;&lt;mn&gt;5&lt;/mn&gt;&lt;/mfrac&gt;&lt;mo&gt;&amp;lt;&lt;/mo&gt;&lt;mn&gt;1&lt;/mn&gt;&lt;/math&gt;" id="930" name="Google Shape;930;p77" title="four fifths is less than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825" y="1295675"/>
            <a:ext cx="953349" cy="83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}&amp;gt;1&quot;&gt;&lt;mfrac&gt;&lt;mn&gt;8&lt;/mn&gt;&lt;mn&gt;3&lt;/mn&gt;&lt;/mfrac&gt;&lt;mo&gt;&amp;gt;&lt;/mo&gt;&lt;mn&gt;1&lt;/mn&gt;&lt;/math&gt;" id="931" name="Google Shape;931;p77" title="eight thirds is greater than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9150" y="3181138"/>
            <a:ext cx="950711" cy="83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11\div5\right)&amp;gt;1&quot;&gt;&lt;mrow data-mjx-texclass=&quot;INNER&quot;&gt;&lt;mo data-mjx-texclass=&quot;OPEN&quot;&gt;(&lt;/mo&gt;&lt;mn&gt;11&lt;/mn&gt;&lt;mo&gt;÷&lt;/mo&gt;&lt;mn&gt;5&lt;/mn&gt;&lt;mo data-mjx-texclass=&quot;CLOSE&quot;&gt;)&lt;/mo&gt;&lt;/mrow&gt;&lt;mo&gt;&amp;gt;&lt;/mo&gt;&lt;mn&gt;1&lt;/mn&gt;&lt;/math&gt;" id="932" name="Google Shape;932;p77" title="open paren 11 divided by 5 close paren is greater than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5825" y="1506625"/>
            <a:ext cx="2207925" cy="40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\times2}{3\times4}=1&quot;&gt;&lt;mfrac&gt;&lt;mrow&gt;&lt;mn&gt;6&lt;/mn&gt;&lt;mo&gt;×&lt;/mo&gt;&lt;mn&gt;2&lt;/mn&gt;&lt;/mrow&gt;&lt;mrow&gt;&lt;mn&gt;3&lt;/mn&gt;&lt;mo&gt;×&lt;/mo&gt;&lt;mn&gt;4&lt;/mn&gt;&lt;/mrow&gt;&lt;/mfrac&gt;&lt;mo&gt;=&lt;/mo&gt;&lt;mn&gt;1&lt;/mn&gt;&lt;/math&gt;" id="933" name="Google Shape;933;p77" title="the fraction with numerator 6 times 2 and denominator 3 times 4 equal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6850" y="3240000"/>
            <a:ext cx="1582216" cy="8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77"/>
          <p:cNvSpPr/>
          <p:nvPr/>
        </p:nvSpPr>
        <p:spPr>
          <a:xfrm>
            <a:off x="1302600" y="1478800"/>
            <a:ext cx="382200" cy="460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7"/>
          <p:cNvSpPr/>
          <p:nvPr/>
        </p:nvSpPr>
        <p:spPr>
          <a:xfrm>
            <a:off x="1355450" y="3366600"/>
            <a:ext cx="382200" cy="460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7"/>
          <p:cNvSpPr/>
          <p:nvPr/>
        </p:nvSpPr>
        <p:spPr>
          <a:xfrm>
            <a:off x="6974875" y="1478800"/>
            <a:ext cx="382200" cy="460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7"/>
          <p:cNvSpPr/>
          <p:nvPr/>
        </p:nvSpPr>
        <p:spPr>
          <a:xfrm>
            <a:off x="6592675" y="3425463"/>
            <a:ext cx="382200" cy="460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198225"/>
            <a:ext cx="8465973" cy="3096513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44" name="Google Shape;94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6208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78"/>
          <p:cNvSpPr txBox="1"/>
          <p:nvPr/>
        </p:nvSpPr>
        <p:spPr>
          <a:xfrm>
            <a:off x="7913198" y="2243375"/>
            <a:ext cx="94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can equal 1</a:t>
            </a:r>
            <a:endParaRPr/>
          </a:p>
        </p:txBody>
      </p:sp>
      <p:pic>
        <p:nvPicPr>
          <p:cNvPr id="946" name="Google Shape;94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5981" y="24032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0308" y="3116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0308" y="37289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78"/>
          <p:cNvSpPr txBox="1"/>
          <p:nvPr>
            <p:ph idx="1" type="body"/>
          </p:nvPr>
        </p:nvSpPr>
        <p:spPr>
          <a:xfrm>
            <a:off x="324000" y="683100"/>
            <a:ext cx="8237700" cy="3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Identify if the following are true or false.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79"/>
          <p:cNvSpPr txBox="1"/>
          <p:nvPr>
            <p:ph idx="1" type="body"/>
          </p:nvPr>
        </p:nvSpPr>
        <p:spPr>
          <a:xfrm>
            <a:off x="362425" y="657600"/>
            <a:ext cx="8237700" cy="4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Without calculating the answer,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which letter corresponds to the calculation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5677 ÷ 5678 is letter</a:t>
            </a: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5678 ÷ 5678 is letter</a:t>
            </a:r>
            <a:br>
              <a:rPr lang="en-GB" sz="1800"/>
            </a:br>
            <a:br>
              <a:rPr lang="en-GB" sz="1800"/>
            </a:br>
            <a:endParaRPr sz="1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5679 ÷ 5678 is letter</a:t>
            </a:r>
            <a:br>
              <a:rPr lang="en-GB" sz="1800"/>
            </a:br>
            <a:br>
              <a:rPr lang="en-GB" sz="1800"/>
            </a:br>
            <a:endParaRPr sz="1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5678 ÷ 2880 is letter </a:t>
            </a:r>
            <a:endParaRPr sz="1800"/>
          </a:p>
        </p:txBody>
      </p:sp>
      <p:pic>
        <p:nvPicPr>
          <p:cNvPr id="955" name="Google Shape;95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50" y="1244500"/>
            <a:ext cx="6915150" cy="95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6" name="Google Shape;956;p79"/>
          <p:cNvGraphicFramePr/>
          <p:nvPr/>
        </p:nvGraphicFramePr>
        <p:xfrm>
          <a:off x="1561925" y="129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1893275"/>
                <a:gridCol w="1893275"/>
                <a:gridCol w="18932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57" name="Google Shape;957;p79"/>
          <p:cNvCxnSpPr/>
          <p:nvPr/>
        </p:nvCxnSpPr>
        <p:spPr>
          <a:xfrm>
            <a:off x="1192625" y="1496500"/>
            <a:ext cx="639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58" name="Google Shape;958;p79"/>
          <p:cNvSpPr txBox="1"/>
          <p:nvPr/>
        </p:nvSpPr>
        <p:spPr>
          <a:xfrm>
            <a:off x="1404225" y="163535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9"/>
          <p:cNvSpPr txBox="1"/>
          <p:nvPr/>
        </p:nvSpPr>
        <p:spPr>
          <a:xfrm>
            <a:off x="7115063" y="155915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0" name="Google Shape;96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725" y="1627550"/>
            <a:ext cx="69151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750" y="1549300"/>
            <a:ext cx="69151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425" y="1243850"/>
            <a:ext cx="69151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79"/>
          <p:cNvSpPr/>
          <p:nvPr/>
        </p:nvSpPr>
        <p:spPr>
          <a:xfrm>
            <a:off x="3272325" y="1048650"/>
            <a:ext cx="351600" cy="31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9"/>
          <p:cNvSpPr/>
          <p:nvPr/>
        </p:nvSpPr>
        <p:spPr>
          <a:xfrm>
            <a:off x="2986800" y="1820725"/>
            <a:ext cx="351600" cy="31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9"/>
          <p:cNvSpPr/>
          <p:nvPr/>
        </p:nvSpPr>
        <p:spPr>
          <a:xfrm>
            <a:off x="3569825" y="1820725"/>
            <a:ext cx="351600" cy="31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9"/>
          <p:cNvSpPr/>
          <p:nvPr/>
        </p:nvSpPr>
        <p:spPr>
          <a:xfrm>
            <a:off x="4922900" y="1048650"/>
            <a:ext cx="351600" cy="31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7" name="Google Shape;967;p79"/>
          <p:cNvCxnSpPr/>
          <p:nvPr/>
        </p:nvCxnSpPr>
        <p:spPr>
          <a:xfrm flipH="1" rot="10800000">
            <a:off x="3162600" y="1530925"/>
            <a:ext cx="227100" cy="28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8" name="Google Shape;968;p79"/>
          <p:cNvCxnSpPr>
            <a:stCxn id="965" idx="0"/>
          </p:cNvCxnSpPr>
          <p:nvPr/>
        </p:nvCxnSpPr>
        <p:spPr>
          <a:xfrm rot="10800000">
            <a:off x="3506225" y="1523425"/>
            <a:ext cx="239400" cy="29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9" name="Google Shape;969;p79"/>
          <p:cNvCxnSpPr/>
          <p:nvPr/>
        </p:nvCxnSpPr>
        <p:spPr>
          <a:xfrm>
            <a:off x="5150637" y="1365450"/>
            <a:ext cx="146400" cy="10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0" name="Google Shape;970;p79"/>
          <p:cNvSpPr txBox="1"/>
          <p:nvPr/>
        </p:nvSpPr>
        <p:spPr>
          <a:xfrm>
            <a:off x="5230113" y="155915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9"/>
          <p:cNvSpPr txBox="1"/>
          <p:nvPr/>
        </p:nvSpPr>
        <p:spPr>
          <a:xfrm>
            <a:off x="3293325" y="1559150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79"/>
          <p:cNvSpPr txBox="1"/>
          <p:nvPr/>
        </p:nvSpPr>
        <p:spPr>
          <a:xfrm>
            <a:off x="3378300" y="3092932"/>
            <a:ext cx="4398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4" name="Google Shape;974;p79"/>
          <p:cNvSpPr txBox="1"/>
          <p:nvPr/>
        </p:nvSpPr>
        <p:spPr>
          <a:xfrm>
            <a:off x="3378300" y="4417920"/>
            <a:ext cx="4398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5" name="Google Shape;975;p79"/>
          <p:cNvSpPr txBox="1"/>
          <p:nvPr/>
        </p:nvSpPr>
        <p:spPr>
          <a:xfrm>
            <a:off x="3378300" y="3773923"/>
            <a:ext cx="4398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6" name="Google Shape;976;p79"/>
          <p:cNvSpPr txBox="1"/>
          <p:nvPr/>
        </p:nvSpPr>
        <p:spPr>
          <a:xfrm>
            <a:off x="3386783" y="2471961"/>
            <a:ext cx="4398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24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</a:t>
            </a:r>
            <a:r>
              <a:rPr lang="en-GB" sz="1800"/>
              <a:t>Here is a section of a number line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Which whole number is the arrow pointing to?</a:t>
            </a:r>
            <a:br>
              <a:rPr lang="en-GB" sz="1800"/>
            </a:br>
            <a:br>
              <a:rPr lang="en-GB" sz="1800"/>
            </a:b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Approximately mark another two whole numbers on the number line. What are these whole numbers?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5}{5}=5&quot;&gt;&lt;mfrac&gt;&lt;mn&gt;25&lt;/mn&gt;&lt;mn&gt;5&lt;/mn&gt;&lt;/mfrac&gt;&lt;mo&gt;=&lt;/mo&gt;&lt;mn&gt;5&lt;/mn&gt;&lt;/math&gt;" id="982" name="Google Shape;982;p80" title="25 over 5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2550" y="2599688"/>
            <a:ext cx="880900" cy="62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5}=4&quot;&gt;&lt;mfrac&gt;&lt;mn&gt;20&lt;/mn&gt;&lt;mn&gt;5&lt;/mn&gt;&lt;/mfrac&gt;&lt;mo&gt;=&lt;/mo&gt;&lt;mn&gt;4&lt;/mn&gt;&lt;/math&gt;" id="983" name="Google Shape;983;p80" title="20 over 5 equal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8475" y="4008600"/>
            <a:ext cx="1008075" cy="705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4" name="Google Shape;984;p80"/>
          <p:cNvGraphicFramePr/>
          <p:nvPr/>
        </p:nvGraphicFramePr>
        <p:xfrm>
          <a:off x="1561925" y="136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1893275"/>
                <a:gridCol w="1893275"/>
                <a:gridCol w="1893275"/>
              </a:tblGrid>
              <a:tr h="13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1}{5}&quot;&gt;&lt;mfrac&gt;&lt;mn&gt;21&lt;/mn&gt;&lt;mn&gt;5&lt;/mn&gt;&lt;/mfrac&gt;&lt;/math&gt;" id="985" name="Google Shape;985;p80" title="21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5155" y="1684225"/>
            <a:ext cx="300844" cy="548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5}&quot;&gt;&lt;mfrac&gt;&lt;mn&gt;26&lt;/mn&gt;&lt;mn&gt;5&lt;/mn&gt;&lt;/mfrac&gt;&lt;/math&gt;" id="986" name="Google Shape;986;p80" title="26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5785" y="1684222"/>
            <a:ext cx="300844" cy="5488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7" name="Google Shape;987;p80"/>
          <p:cNvCxnSpPr/>
          <p:nvPr/>
        </p:nvCxnSpPr>
        <p:spPr>
          <a:xfrm rot="10800000">
            <a:off x="5040264" y="1479700"/>
            <a:ext cx="0" cy="60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8" name="Google Shape;988;p80"/>
          <p:cNvCxnSpPr/>
          <p:nvPr/>
        </p:nvCxnSpPr>
        <p:spPr>
          <a:xfrm rot="10800000">
            <a:off x="3039700" y="1428025"/>
            <a:ext cx="0" cy="53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20}{5}=4&quot;&gt;&lt;mfrac&gt;&lt;mn&gt;20&lt;/mn&gt;&lt;mn&gt;5&lt;/mn&gt;&lt;/mfrac&gt;&lt;mo&gt;=&lt;/mo&gt;&lt;mn&gt;4&lt;/mn&gt;&lt;/math&gt;" id="989" name="Google Shape;989;p80" title="20 over 5 equals 4"/>
          <p:cNvPicPr preferRelativeResize="0"/>
          <p:nvPr/>
        </p:nvPicPr>
        <p:blipFill rotWithShape="1">
          <a:blip r:embed="rId4">
            <a:alphaModFix/>
          </a:blip>
          <a:srcRect b="0" l="0" r="53364" t="0"/>
          <a:stretch/>
        </p:blipFill>
        <p:spPr>
          <a:xfrm>
            <a:off x="2866600" y="2052478"/>
            <a:ext cx="346225" cy="5192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5}=6&quot;&gt;&lt;mfrac&gt;&lt;mn&gt;30&lt;/mn&gt;&lt;mn&gt;5&lt;/mn&gt;&lt;/mfrac&gt;&lt;mo&gt;=&lt;/mo&gt;&lt;mn&gt;6&lt;/mn&gt;&lt;/math&gt;" id="990" name="Google Shape;990;p80" title="30 over 5 equals 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80588" y="4008600"/>
            <a:ext cx="1002857" cy="7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5}=6&quot;&gt;&lt;mfrac&gt;&lt;mn&gt;30&lt;/mn&gt;&lt;mn&gt;5&lt;/mn&gt;&lt;/mfrac&gt;&lt;mo&gt;=&lt;/mo&gt;&lt;mn&gt;6&lt;/mn&gt;&lt;/math&gt;" id="991" name="Google Shape;991;p80" title="30 over 5 equals 6"/>
          <p:cNvPicPr preferRelativeResize="0"/>
          <p:nvPr/>
        </p:nvPicPr>
        <p:blipFill rotWithShape="1">
          <a:blip r:embed="rId7">
            <a:alphaModFix/>
          </a:blip>
          <a:srcRect b="0" l="0" r="55412" t="0"/>
          <a:stretch/>
        </p:blipFill>
        <p:spPr>
          <a:xfrm>
            <a:off x="6742890" y="1972920"/>
            <a:ext cx="307914" cy="4855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2" name="Google Shape;992;p80"/>
          <p:cNvCxnSpPr/>
          <p:nvPr/>
        </p:nvCxnSpPr>
        <p:spPr>
          <a:xfrm rot="10800000">
            <a:off x="6883450" y="1428025"/>
            <a:ext cx="0" cy="51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3" name="Google Shape;993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994" name="Google Shape;994;p80"/>
          <p:cNvCxnSpPr/>
          <p:nvPr/>
        </p:nvCxnSpPr>
        <p:spPr>
          <a:xfrm>
            <a:off x="1202488" y="1369825"/>
            <a:ext cx="639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1"/>
          <p:cNvSpPr txBox="1"/>
          <p:nvPr>
            <p:ph idx="1" type="body"/>
          </p:nvPr>
        </p:nvSpPr>
        <p:spPr>
          <a:xfrm>
            <a:off x="324000" y="83627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</a:t>
            </a:r>
            <a:r>
              <a:rPr lang="en-GB" sz="1800"/>
              <a:t>Here is a section of a number line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</a:t>
            </a:r>
            <a:r>
              <a:rPr lang="en-GB" sz="1800"/>
              <a:t>How would your answers change if the denominator was 6?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000" name="Google Shape;1000;p81"/>
          <p:cNvGraphicFramePr/>
          <p:nvPr/>
        </p:nvGraphicFramePr>
        <p:xfrm>
          <a:off x="1561925" y="129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1893275"/>
                <a:gridCol w="1893275"/>
                <a:gridCol w="18932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01" name="Google Shape;1001;p81"/>
          <p:cNvCxnSpPr/>
          <p:nvPr/>
        </p:nvCxnSpPr>
        <p:spPr>
          <a:xfrm>
            <a:off x="1190175" y="1503775"/>
            <a:ext cx="639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002" name="Google Shape;100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50" y="1244500"/>
            <a:ext cx="69151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275" y="1667800"/>
            <a:ext cx="69151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5}&quot;&gt;&lt;mfrac&gt;&lt;mn&gt;21&lt;/mn&gt;&lt;mn&gt;5&lt;/mn&gt;&lt;/mfrac&gt;&lt;/math&gt;" id="1004" name="Google Shape;1004;p81" title="21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9127" y="1684225"/>
            <a:ext cx="291600" cy="531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5}&quot;&gt;&lt;mfrac&gt;&lt;mn&gt;26&lt;/mn&gt;&lt;mn&gt;5&lt;/mn&gt;&lt;/mfrac&gt;&lt;/math&gt;" id="1005" name="Google Shape;1005;p81" title="26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9725" y="1684225"/>
            <a:ext cx="291600" cy="531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6}\ \ \ \ \frac{26}{6}&quot;&gt;&lt;mfrac&gt;&lt;mn&gt;21&lt;/mn&gt;&lt;mn&gt;6&lt;/mn&gt;&lt;/mfrac&gt;&lt;mtext&gt;&lt;/mtext&gt;&lt;mtext&gt;&lt;/mtext&gt;&lt;mtext&gt;&lt;/mtext&gt;&lt;mtext&gt;&lt;/mtext&gt;&lt;mfrac&gt;&lt;mn&gt;26&lt;/mn&gt;&lt;mn&gt;6&lt;/mn&gt;&lt;/mfrac&gt;&lt;/math&gt;" id="1006" name="Google Shape;1006;p81" title="21 over 6 26 over 6"/>
          <p:cNvPicPr preferRelativeResize="0"/>
          <p:nvPr/>
        </p:nvPicPr>
        <p:blipFill rotWithShape="1">
          <a:blip r:embed="rId6">
            <a:alphaModFix/>
          </a:blip>
          <a:srcRect b="0" l="0" r="64121" t="0"/>
          <a:stretch/>
        </p:blipFill>
        <p:spPr>
          <a:xfrm>
            <a:off x="3275446" y="1691130"/>
            <a:ext cx="313075" cy="52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6}\ \ \ \ \frac{26}{6}&quot;&gt;&lt;mfrac&gt;&lt;mn&gt;21&lt;/mn&gt;&lt;mn&gt;6&lt;/mn&gt;&lt;/mfrac&gt;&lt;mtext&gt;&lt;/mtext&gt;&lt;mtext&gt;&lt;/mtext&gt;&lt;mtext&gt;&lt;/mtext&gt;&lt;mtext&gt;&lt;/mtext&gt;&lt;mfrac&gt;&lt;mn&gt;26&lt;/mn&gt;&lt;mn&gt;6&lt;/mn&gt;&lt;/mfrac&gt;&lt;/math&gt;" id="1007" name="Google Shape;1007;p81" title="21 over 6 26 over 6"/>
          <p:cNvPicPr preferRelativeResize="0"/>
          <p:nvPr/>
        </p:nvPicPr>
        <p:blipFill rotWithShape="1">
          <a:blip r:embed="rId6">
            <a:alphaModFix/>
          </a:blip>
          <a:srcRect b="0" l="64122" r="0" t="-4286"/>
          <a:stretch/>
        </p:blipFill>
        <p:spPr>
          <a:xfrm>
            <a:off x="5201856" y="1667131"/>
            <a:ext cx="313075" cy="5436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8" name="Google Shape;1008;p81"/>
          <p:cNvCxnSpPr/>
          <p:nvPr/>
        </p:nvCxnSpPr>
        <p:spPr>
          <a:xfrm rot="10800000">
            <a:off x="4966838" y="1554300"/>
            <a:ext cx="0" cy="60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24}{6}=4&quot;&gt;&lt;mfrac&gt;&lt;mn&gt;24&lt;/mn&gt;&lt;mn&gt;6&lt;/mn&gt;&lt;/mfrac&gt;&lt;mo&gt;=&lt;/mo&gt;&lt;mn&gt;4&lt;/mn&gt;&lt;/math&gt;" id="1009" name="Google Shape;1009;p81" title="24 over 6 equals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79650" y="3158411"/>
            <a:ext cx="758845" cy="53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81"/>
          <p:cNvSpPr txBox="1"/>
          <p:nvPr/>
        </p:nvSpPr>
        <p:spPr>
          <a:xfrm>
            <a:off x="324000" y="3188045"/>
            <a:ext cx="77475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answer for part a) would be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8}{6}=3\ \ \ \ \ \frac{30}{6}=5&quot;&gt;&lt;mfrac&gt;&lt;mn&gt;18&lt;/mn&gt;&lt;mn&gt;6&lt;/mn&gt;&lt;/mfrac&gt;&lt;mo&gt;=&lt;/mo&gt;&lt;mn&gt;3&lt;/mn&gt;&lt;mtext&gt;&lt;/mtext&gt;&lt;mtext&gt;&lt;/mtext&gt;&lt;mtext&gt;&lt;/mtext&gt;&lt;mtext&gt;&lt;/mtext&gt;&lt;mtext&gt;&lt;/mtext&gt;&lt;mfrac&gt;&lt;mn&gt;30&lt;/mn&gt;&lt;mn&gt;6&lt;/mn&gt;&lt;/mfrac&gt;&lt;mo&gt;=&lt;/mo&gt;&lt;mn&gt;5&lt;/mn&gt;&lt;/math&gt;" id="1011" name="Google Shape;1011;p81" title="eighteen sixths equals 3 30 over 6 equals 5"/>
          <p:cNvPicPr preferRelativeResize="0"/>
          <p:nvPr/>
        </p:nvPicPr>
        <p:blipFill rotWithShape="1">
          <a:blip r:embed="rId8">
            <a:alphaModFix/>
          </a:blip>
          <a:srcRect b="0" l="0" r="54046" t="0"/>
          <a:stretch/>
        </p:blipFill>
        <p:spPr>
          <a:xfrm>
            <a:off x="4196825" y="3938075"/>
            <a:ext cx="910551" cy="5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6}=3\ \ \ \ \ \frac{30}{6}=5&quot;&gt;&lt;mfrac&gt;&lt;mn&gt;18&lt;/mn&gt;&lt;mn&gt;6&lt;/mn&gt;&lt;/mfrac&gt;&lt;mo&gt;=&lt;/mo&gt;&lt;mn&gt;3&lt;/mn&gt;&lt;mtext&gt;&lt;/mtext&gt;&lt;mtext&gt;&lt;/mtext&gt;&lt;mtext&gt;&lt;/mtext&gt;&lt;mtext&gt;&lt;/mtext&gt;&lt;mtext&gt;&lt;/mtext&gt;&lt;mfrac&gt;&lt;mn&gt;30&lt;/mn&gt;&lt;mn&gt;6&lt;/mn&gt;&lt;/mfrac&gt;&lt;mo&gt;=&lt;/mo&gt;&lt;mn&gt;5&lt;/mn&gt;&lt;/math&gt;" id="1012" name="Google Shape;1012;p81" title="eighteen sixths equals 3 30 over 6 equals 5"/>
          <p:cNvPicPr preferRelativeResize="0"/>
          <p:nvPr/>
        </p:nvPicPr>
        <p:blipFill rotWithShape="1">
          <a:blip r:embed="rId8">
            <a:alphaModFix/>
          </a:blip>
          <a:srcRect b="0" l="56400" r="0" t="0"/>
          <a:stretch/>
        </p:blipFill>
        <p:spPr>
          <a:xfrm>
            <a:off x="5549215" y="3946286"/>
            <a:ext cx="863900" cy="5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81"/>
          <p:cNvSpPr txBox="1"/>
          <p:nvPr/>
        </p:nvSpPr>
        <p:spPr>
          <a:xfrm>
            <a:off x="303899" y="3963470"/>
            <a:ext cx="525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answers for part b) would be          and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15" name="Google Shape;1015;p81"/>
          <p:cNvCxnSpPr/>
          <p:nvPr/>
        </p:nvCxnSpPr>
        <p:spPr>
          <a:xfrm rot="10800000">
            <a:off x="2323900" y="1554300"/>
            <a:ext cx="0" cy="49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81"/>
          <p:cNvCxnSpPr/>
          <p:nvPr/>
        </p:nvCxnSpPr>
        <p:spPr>
          <a:xfrm rot="10800000">
            <a:off x="6921825" y="1554300"/>
            <a:ext cx="0" cy="49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8}{6}=3\ \ \ \ \ \frac{30}{6}=5&quot;&gt;&lt;mfrac&gt;&lt;mn&gt;18&lt;/mn&gt;&lt;mn&gt;6&lt;/mn&gt;&lt;/mfrac&gt;&lt;mo&gt;=&lt;/mo&gt;&lt;mn&gt;3&lt;/mn&gt;&lt;mtext&gt;&lt;/mtext&gt;&lt;mtext&gt;&lt;/mtext&gt;&lt;mtext&gt;&lt;/mtext&gt;&lt;mtext&gt;&lt;/mtext&gt;&lt;mtext&gt;&lt;/mtext&gt;&lt;mfrac&gt;&lt;mn&gt;30&lt;/mn&gt;&lt;mn&gt;6&lt;/mn&gt;&lt;/mfrac&gt;&lt;mo&gt;=&lt;/mo&gt;&lt;mn&gt;5&lt;/mn&gt;&lt;/math&gt;" id="1017" name="Google Shape;1017;p81" title="eighteen sixths equals 3 30 over 6 equals 5"/>
          <p:cNvPicPr preferRelativeResize="0"/>
          <p:nvPr/>
        </p:nvPicPr>
        <p:blipFill rotWithShape="1">
          <a:blip r:embed="rId8">
            <a:alphaModFix/>
          </a:blip>
          <a:srcRect b="0" l="0" r="81640" t="0"/>
          <a:stretch/>
        </p:blipFill>
        <p:spPr>
          <a:xfrm>
            <a:off x="2142013" y="2091100"/>
            <a:ext cx="363775" cy="5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8}{6}=3\ \ \ \ \ \frac{30}{6}=5&quot;&gt;&lt;mfrac&gt;&lt;mn&gt;18&lt;/mn&gt;&lt;mn&gt;6&lt;/mn&gt;&lt;/mfrac&gt;&lt;mo&gt;=&lt;/mo&gt;&lt;mn&gt;3&lt;/mn&gt;&lt;mtext&gt;&lt;/mtext&gt;&lt;mtext&gt;&lt;/mtext&gt;&lt;mtext&gt;&lt;/mtext&gt;&lt;mtext&gt;&lt;/mtext&gt;&lt;mtext&gt;&lt;/mtext&gt;&lt;mfrac&gt;&lt;mn&gt;30&lt;/mn&gt;&lt;mn&gt;6&lt;/mn&gt;&lt;/mfrac&gt;&lt;mo&gt;=&lt;/mo&gt;&lt;mn&gt;5&lt;/mn&gt;&lt;/math&gt;" id="1018" name="Google Shape;1018;p81" title="eighteen sixths equals 3 30 over 6 equals 5"/>
          <p:cNvPicPr preferRelativeResize="0"/>
          <p:nvPr/>
        </p:nvPicPr>
        <p:blipFill rotWithShape="1">
          <a:blip r:embed="rId8">
            <a:alphaModFix/>
          </a:blip>
          <a:srcRect b="0" l="56401" r="22203" t="0"/>
          <a:stretch/>
        </p:blipFill>
        <p:spPr>
          <a:xfrm>
            <a:off x="6709857" y="2058625"/>
            <a:ext cx="423924" cy="5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</a:t>
            </a:r>
            <a:r>
              <a:rPr lang="en-GB" sz="1800"/>
              <a:t>Here is a section of a number line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What could the denominator be if there were no whole numbers between the two fractions?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024" name="Google Shape;1024;p82"/>
          <p:cNvGraphicFramePr/>
          <p:nvPr/>
        </p:nvGraphicFramePr>
        <p:xfrm>
          <a:off x="1561925" y="129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1893275"/>
                <a:gridCol w="1893275"/>
                <a:gridCol w="18932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25" name="Google Shape;1025;p82"/>
          <p:cNvCxnSpPr/>
          <p:nvPr/>
        </p:nvCxnSpPr>
        <p:spPr>
          <a:xfrm>
            <a:off x="1190175" y="1503775"/>
            <a:ext cx="639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026" name="Google Shape;102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50" y="1244500"/>
            <a:ext cx="69151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275" y="1667800"/>
            <a:ext cx="69151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5}&quot;&gt;&lt;mfrac&gt;&lt;mn&gt;21&lt;/mn&gt;&lt;mn&gt;5&lt;/mn&gt;&lt;/mfrac&gt;&lt;/math&gt;" id="1028" name="Google Shape;1028;p82" title="21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9127" y="1684225"/>
            <a:ext cx="291600" cy="531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5}&quot;&gt;&lt;mfrac&gt;&lt;mn&gt;26&lt;/mn&gt;&lt;mn&gt;5&lt;/mn&gt;&lt;/mfrac&gt;&lt;/math&gt;" id="1029" name="Google Shape;1029;p82" title="26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9725" y="1684225"/>
            <a:ext cx="291600" cy="531973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82"/>
          <p:cNvSpPr txBox="1"/>
          <p:nvPr/>
        </p:nvSpPr>
        <p:spPr>
          <a:xfrm>
            <a:off x="233675" y="3240000"/>
            <a:ext cx="85326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Any integer which does not have one of its multiples between 21 and 26.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1" name="Google Shape;1031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</a:t>
            </a:r>
            <a:r>
              <a:rPr lang="en-GB" sz="1800"/>
              <a:t>Here is a section of a number line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What could the denominator be if there were no whole numbers between the two fractions?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037" name="Google Shape;1037;p83"/>
          <p:cNvGraphicFramePr/>
          <p:nvPr/>
        </p:nvGraphicFramePr>
        <p:xfrm>
          <a:off x="1561925" y="129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1893275"/>
                <a:gridCol w="1893275"/>
                <a:gridCol w="18932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38" name="Google Shape;1038;p83"/>
          <p:cNvCxnSpPr/>
          <p:nvPr/>
        </p:nvCxnSpPr>
        <p:spPr>
          <a:xfrm>
            <a:off x="1190175" y="1503775"/>
            <a:ext cx="639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039" name="Google Shape;103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50" y="1244500"/>
            <a:ext cx="69151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275" y="1667800"/>
            <a:ext cx="691515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83"/>
          <p:cNvSpPr txBox="1"/>
          <p:nvPr/>
        </p:nvSpPr>
        <p:spPr>
          <a:xfrm>
            <a:off x="233675" y="3240000"/>
            <a:ext cx="85326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It could be 7 because the first fraction would be a whole number but there are no more before the second fraction.   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6}{5}&quot;&gt;&lt;mfrac&gt;&lt;mn&gt;26&lt;/mn&gt;&lt;mn&gt;5&lt;/mn&gt;&lt;/mfrac&gt;&lt;/math&gt;" id="1042" name="Google Shape;1042;p83" title="26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9725" y="1684225"/>
            <a:ext cx="291600" cy="5319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5}&quot;&gt;&lt;mfrac&gt;&lt;mn&gt;21&lt;/mn&gt;&lt;mn&gt;5&lt;/mn&gt;&lt;/mfrac&gt;&lt;/math&gt;" id="1043" name="Google Shape;1043;p83" title="21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9127" y="1684225"/>
            <a:ext cx="291600" cy="531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1}{7}&quot;&gt;&lt;mfrac&gt;&lt;mn&gt;21&lt;/mn&gt;&lt;mn&gt;7&lt;/mn&gt;&lt;/mfrac&gt;&lt;/math&gt;" id="1045" name="Google Shape;1045;p83" title="21 over 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9125" y="1690926"/>
            <a:ext cx="282532" cy="519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7}&quot;&gt;&lt;mfrac&gt;&lt;mn&gt;26&lt;/mn&gt;&lt;mn&gt;7&lt;/mn&gt;&lt;/mfrac&gt;&lt;/math&gt;" id="1046" name="Google Shape;1046;p83" title="26 over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34260" y="1690922"/>
            <a:ext cx="282532" cy="519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&quot;&gt;&lt;mn&gt;3&lt;/mn&gt;&lt;/math&gt;" id="1047" name="Google Shape;1047;p83" title="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52896" y="1846533"/>
            <a:ext cx="124047" cy="20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 is a section of a number line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What could the denominator be if there were no whole numbers between the two fractions?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053" name="Google Shape;1053;p84"/>
          <p:cNvGraphicFramePr/>
          <p:nvPr/>
        </p:nvGraphicFramePr>
        <p:xfrm>
          <a:off x="1561925" y="129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1893275"/>
                <a:gridCol w="1893275"/>
                <a:gridCol w="18932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54" name="Google Shape;1054;p84"/>
          <p:cNvCxnSpPr/>
          <p:nvPr/>
        </p:nvCxnSpPr>
        <p:spPr>
          <a:xfrm>
            <a:off x="1190175" y="1503775"/>
            <a:ext cx="639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055" name="Google Shape;105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50" y="1244500"/>
            <a:ext cx="69151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275" y="1667800"/>
            <a:ext cx="69151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5}&quot;&gt;&lt;mfrac&gt;&lt;mn&gt;21&lt;/mn&gt;&lt;mn&gt;5&lt;/mn&gt;&lt;/mfrac&gt;&lt;/math&gt;" id="1057" name="Google Shape;1057;p84" title="21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9127" y="1684225"/>
            <a:ext cx="291600" cy="531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5}&quot;&gt;&lt;mfrac&gt;&lt;mn&gt;26&lt;/mn&gt;&lt;mn&gt;5&lt;/mn&gt;&lt;/mfrac&gt;&lt;/math&gt;" id="1058" name="Google Shape;1058;p84" title="26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9725" y="1684225"/>
            <a:ext cx="291600" cy="531973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84"/>
          <p:cNvSpPr txBox="1"/>
          <p:nvPr/>
        </p:nvSpPr>
        <p:spPr>
          <a:xfrm>
            <a:off x="233675" y="3240000"/>
            <a:ext cx="85326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It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couldn’t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be 8 as 24 is a multiple of 8, so 3 would lie between the two fractions.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0" name="Google Shape;1060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1}{8}&quot;&gt;&lt;mfrac&gt;&lt;mn&gt;21&lt;/mn&gt;&lt;mn&gt;8&lt;/mn&gt;&lt;/mfrac&gt;&lt;/math&gt;" id="1061" name="Google Shape;1061;p84" title="21 over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9127" y="1681215"/>
            <a:ext cx="287053" cy="5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8}&quot;&gt;&lt;mfrac&gt;&lt;mn&gt;26&lt;/mn&gt;&lt;mn&gt;8&lt;/mn&gt;&lt;/mfrac&gt;&lt;/math&gt;" id="1062" name="Google Shape;1062;p84" title="26 over 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34943" y="1681215"/>
            <a:ext cx="287053" cy="5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8}&quot;&gt;&lt;mfrac&gt;&lt;mn&gt;24&lt;/mn&gt;&lt;mn&gt;8&lt;/mn&gt;&lt;/mfrac&gt;&lt;/math&gt;" id="1063" name="Google Shape;1063;p84" title="24 over 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09959" y="1986015"/>
            <a:ext cx="288802" cy="5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&quot;&gt;&lt;mn&gt;3&lt;/mn&gt;&lt;/math&gt;" id="1064" name="Google Shape;1064;p84" title="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00337" y="2161178"/>
            <a:ext cx="108025" cy="1816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5" name="Google Shape;1065;p84"/>
          <p:cNvCxnSpPr/>
          <p:nvPr/>
        </p:nvCxnSpPr>
        <p:spPr>
          <a:xfrm rot="10800000">
            <a:off x="4748463" y="1502725"/>
            <a:ext cx="0" cy="425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 is a section of a number line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What could the denominator be if there were no whole numbers between the two fractions?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071" name="Google Shape;1071;p85"/>
          <p:cNvGraphicFramePr/>
          <p:nvPr/>
        </p:nvGraphicFramePr>
        <p:xfrm>
          <a:off x="1561925" y="129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1893275"/>
                <a:gridCol w="1893275"/>
                <a:gridCol w="18932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72" name="Google Shape;1072;p85"/>
          <p:cNvCxnSpPr/>
          <p:nvPr/>
        </p:nvCxnSpPr>
        <p:spPr>
          <a:xfrm>
            <a:off x="1190175" y="1503775"/>
            <a:ext cx="639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073" name="Google Shape;107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50" y="1244500"/>
            <a:ext cx="69151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275" y="1667800"/>
            <a:ext cx="69151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5}&quot;&gt;&lt;mfrac&gt;&lt;mn&gt;21&lt;/mn&gt;&lt;mn&gt;5&lt;/mn&gt;&lt;/mfrac&gt;&lt;/math&gt;" id="1075" name="Google Shape;1075;p85" title="21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9127" y="1684225"/>
            <a:ext cx="291600" cy="531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5}&quot;&gt;&lt;mfrac&gt;&lt;mn&gt;26&lt;/mn&gt;&lt;mn&gt;5&lt;/mn&gt;&lt;/mfrac&gt;&lt;/math&gt;" id="1076" name="Google Shape;1076;p85" title="26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9725" y="1684225"/>
            <a:ext cx="291600" cy="531973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85"/>
          <p:cNvSpPr txBox="1"/>
          <p:nvPr/>
        </p:nvSpPr>
        <p:spPr>
          <a:xfrm>
            <a:off x="233675" y="3240000"/>
            <a:ext cx="85326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It could be 9 because there are no multiples of 9 between 21 and 26.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8" name="Google Shape;1078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079" name="Google Shape;1079;p85"/>
          <p:cNvCxnSpPr/>
          <p:nvPr/>
        </p:nvCxnSpPr>
        <p:spPr>
          <a:xfrm rot="10800000">
            <a:off x="4748463" y="1502725"/>
            <a:ext cx="0" cy="425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21}{9}&quot;&gt;&lt;mfrac&gt;&lt;mn&gt;21&lt;/mn&gt;&lt;mn&gt;9&lt;/mn&gt;&lt;/mfrac&gt;&lt;/math&gt;" id="1080" name="Google Shape;1080;p85" title="21 over 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9125" y="1667800"/>
            <a:ext cx="310635" cy="5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9}&quot;&gt;&lt;mfrac&gt;&lt;mn&gt;26&lt;/mn&gt;&lt;mn&gt;9&lt;/mn&gt;&lt;/mfrac&gt;&lt;/math&gt;" id="1081" name="Google Shape;1081;p85" title="26 over 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0209" y="1667800"/>
            <a:ext cx="310635" cy="566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2" name="Google Shape;1082;p85"/>
          <p:cNvCxnSpPr/>
          <p:nvPr/>
        </p:nvCxnSpPr>
        <p:spPr>
          <a:xfrm rot="10800000">
            <a:off x="2323900" y="1554300"/>
            <a:ext cx="0" cy="49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3" name="Google Shape;1083;p85"/>
          <p:cNvCxnSpPr/>
          <p:nvPr/>
        </p:nvCxnSpPr>
        <p:spPr>
          <a:xfrm rot="10800000">
            <a:off x="5774400" y="1549863"/>
            <a:ext cx="0" cy="49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8}{9}&quot;&gt;&lt;mfrac&gt;&lt;mn&gt;18&lt;/mn&gt;&lt;mn&gt;9&lt;/mn&gt;&lt;/mfrac&gt;&lt;/math&gt;" id="1084" name="Google Shape;1084;p85" title="eighteen ni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68575" y="2097425"/>
            <a:ext cx="310635" cy="5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7}{9}&quot;&gt;&lt;mfrac&gt;&lt;mn&gt;27&lt;/mn&gt;&lt;mn&gt;9&lt;/mn&gt;&lt;/mfrac&gt;&lt;/math&gt;" id="1085" name="Google Shape;1085;p85" title="27 over 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18146" y="2088538"/>
            <a:ext cx="312517" cy="5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&quot;&gt;&lt;mn&gt;2&lt;/mn&gt;&lt;/math&gt;" id="1086" name="Google Shape;1086;p85" title="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61113" y="2277738"/>
            <a:ext cx="125530" cy="18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&quot;&gt;&lt;mn&gt;3&lt;/mn&gt;&lt;/math&gt;" id="1087" name="Google Shape;1087;p85" title="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16880" y="2275125"/>
            <a:ext cx="115069" cy="19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85"/>
          <p:cNvSpPr txBox="1"/>
          <p:nvPr/>
        </p:nvSpPr>
        <p:spPr>
          <a:xfrm>
            <a:off x="205100" y="3806700"/>
            <a:ext cx="85326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is before the first fraction and 3 is after the second fraction.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 and improper fractions</a:t>
            </a:r>
            <a:endParaRPr/>
          </a:p>
        </p:txBody>
      </p:sp>
      <p:sp>
        <p:nvSpPr>
          <p:cNvPr id="1094" name="Google Shape;1094;p8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</a:t>
            </a:r>
            <a:r>
              <a:rPr lang="en-GB"/>
              <a:t> i</a:t>
            </a:r>
            <a:r>
              <a:rPr lang="en-GB"/>
              <a:t>mproper fractions to mixed numbers</a:t>
            </a:r>
            <a:endParaRPr/>
          </a:p>
        </p:txBody>
      </p:sp>
      <p:sp>
        <p:nvSpPr>
          <p:cNvPr id="1095" name="Google Shape;1095;p86"/>
          <p:cNvSpPr txBox="1"/>
          <p:nvPr>
            <p:ph idx="3" type="title"/>
          </p:nvPr>
        </p:nvSpPr>
        <p:spPr>
          <a:xfrm>
            <a:off x="324000" y="657600"/>
            <a:ext cx="8096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improper fractions to mixed numbers</a:t>
            </a:r>
            <a:endParaRPr/>
          </a:p>
        </p:txBody>
      </p:sp>
      <p:pic>
        <p:nvPicPr>
          <p:cNvPr id="1096" name="Google Shape;109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sp>
        <p:nvSpPr>
          <p:cNvPr id="1102" name="Google Shape;1102;p87"/>
          <p:cNvSpPr txBox="1"/>
          <p:nvPr>
            <p:ph idx="4294967295" type="subTitle"/>
          </p:nvPr>
        </p:nvSpPr>
        <p:spPr>
          <a:xfrm>
            <a:off x="305275" y="805925"/>
            <a:ext cx="7077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</a:t>
            </a:r>
            <a:r>
              <a:rPr b="1" lang="en-GB"/>
              <a:t>mixed number</a:t>
            </a:r>
            <a:r>
              <a:rPr b="0" lang="en-GB"/>
              <a:t> is an </a:t>
            </a:r>
            <a:r>
              <a:rPr b="1" lang="en-GB"/>
              <a:t>improper fraction</a:t>
            </a:r>
            <a:r>
              <a:rPr b="0" lang="en-GB"/>
              <a:t> written as its integer part plus the fractional part, where the fractional part is a </a:t>
            </a:r>
            <a:r>
              <a:rPr b="1" lang="en-GB"/>
              <a:t>proper fraction</a:t>
            </a:r>
            <a:r>
              <a:rPr b="0" lang="en-GB"/>
              <a:t>. </a:t>
            </a:r>
            <a:endParaRPr b="0"/>
          </a:p>
        </p:txBody>
      </p:sp>
      <p:sp>
        <p:nvSpPr>
          <p:cNvPr id="1103" name="Google Shape;1103;p87"/>
          <p:cNvSpPr txBox="1"/>
          <p:nvPr>
            <p:ph idx="4294967295" type="subTitle"/>
          </p:nvPr>
        </p:nvSpPr>
        <p:spPr>
          <a:xfrm>
            <a:off x="314493" y="3701513"/>
            <a:ext cx="8220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important to recognise the denominator indicates how many equal parts make a whole.</a:t>
            </a:r>
            <a:endParaRPr b="0"/>
          </a:p>
        </p:txBody>
      </p:sp>
      <p:sp>
        <p:nvSpPr>
          <p:cNvPr id="1104" name="Google Shape;1104;p87"/>
          <p:cNvSpPr txBox="1"/>
          <p:nvPr>
            <p:ph idx="4294967295" type="subTitle"/>
          </p:nvPr>
        </p:nvSpPr>
        <p:spPr>
          <a:xfrm>
            <a:off x="1111826" y="2251950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100"/>
              <a:t>Example</a:t>
            </a:r>
            <a:endParaRPr b="0" sz="2100"/>
          </a:p>
        </p:txBody>
      </p:sp>
      <p:pic>
        <p:nvPicPr>
          <p:cNvPr descr="&lt;math xmlns=&quot;http://www.w3.org/1998/Math/MathML&quot; display=&quot;block&quot; data-is-equatio=&quot;1&quot; data-latex=&quot;3\dfrac{1}{2}&quot;&gt;&lt;mn&gt;3&lt;/mn&gt;&lt;mstyle displaystyle=&quot;true&quot; scriptlevel=&quot;0&quot;&gt;&lt;mfrac&gt;&lt;mn&gt;1&lt;/mn&gt;&lt;mn&gt;2&lt;/mn&gt;&lt;/mfrac&gt;&lt;/mstyle&gt;&lt;/math&gt;" id="1105" name="Google Shape;1105;p87" title="3 and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950" y="2651966"/>
            <a:ext cx="439700" cy="752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87"/>
          <p:cNvSpPr txBox="1"/>
          <p:nvPr>
            <p:ph idx="4294967295" type="subTitle"/>
          </p:nvPr>
        </p:nvSpPr>
        <p:spPr>
          <a:xfrm>
            <a:off x="2419075" y="2784850"/>
            <a:ext cx="6183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This means we have 3 whole ones and a half</a:t>
            </a:r>
            <a:endParaRPr b="0"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sp>
        <p:nvSpPr>
          <p:cNvPr id="1112" name="Google Shape;1112;p88"/>
          <p:cNvSpPr txBox="1"/>
          <p:nvPr>
            <p:ph idx="4294967295" type="subTitle"/>
          </p:nvPr>
        </p:nvSpPr>
        <p:spPr>
          <a:xfrm>
            <a:off x="328173" y="810000"/>
            <a:ext cx="2474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example,</a:t>
            </a:r>
            <a:endParaRPr b="0" sz="2000"/>
          </a:p>
        </p:txBody>
      </p:sp>
      <p:sp>
        <p:nvSpPr>
          <p:cNvPr id="1113" name="Google Shape;1113;p88"/>
          <p:cNvSpPr/>
          <p:nvPr/>
        </p:nvSpPr>
        <p:spPr>
          <a:xfrm>
            <a:off x="2028053" y="1684526"/>
            <a:ext cx="774900" cy="7365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8"/>
          <p:cNvSpPr/>
          <p:nvPr/>
        </p:nvSpPr>
        <p:spPr>
          <a:xfrm>
            <a:off x="2943878" y="1684526"/>
            <a:ext cx="774900" cy="7365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8"/>
          <p:cNvSpPr/>
          <p:nvPr/>
        </p:nvSpPr>
        <p:spPr>
          <a:xfrm>
            <a:off x="3859703" y="1684526"/>
            <a:ext cx="774900" cy="7365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5}&quot;&gt;&lt;mfrac&gt;&lt;mn&gt;12&lt;/mn&gt;&lt;mn&gt;5&lt;/mn&gt;&lt;/mfrac&gt;&lt;/math&gt;" id="1116" name="Google Shape;1116;p88" title="twelv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25" y="1621499"/>
            <a:ext cx="431225" cy="786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18207">
            <a:off x="2012105" y="1689264"/>
            <a:ext cx="736776" cy="76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18207">
            <a:off x="2929803" y="1693616"/>
            <a:ext cx="736776" cy="76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98011">
            <a:off x="3852889" y="1701254"/>
            <a:ext cx="724882" cy="75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88"/>
          <p:cNvSpPr txBox="1"/>
          <p:nvPr>
            <p:ph idx="4294967295" type="subTitle"/>
          </p:nvPr>
        </p:nvSpPr>
        <p:spPr>
          <a:xfrm>
            <a:off x="334529" y="1229975"/>
            <a:ext cx="1757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Fraction</a:t>
            </a:r>
            <a:endParaRPr b="0" sz="2000"/>
          </a:p>
        </p:txBody>
      </p:sp>
      <p:sp>
        <p:nvSpPr>
          <p:cNvPr id="1121" name="Google Shape;1121;p88"/>
          <p:cNvSpPr txBox="1"/>
          <p:nvPr>
            <p:ph idx="4294967295" type="subTitle"/>
          </p:nvPr>
        </p:nvSpPr>
        <p:spPr>
          <a:xfrm>
            <a:off x="2081975" y="1229975"/>
            <a:ext cx="2651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 diagram</a:t>
            </a:r>
            <a:endParaRPr b="0" sz="2000"/>
          </a:p>
        </p:txBody>
      </p:sp>
      <p:cxnSp>
        <p:nvCxnSpPr>
          <p:cNvPr id="1122" name="Google Shape;1122;p88"/>
          <p:cNvCxnSpPr/>
          <p:nvPr/>
        </p:nvCxnSpPr>
        <p:spPr>
          <a:xfrm>
            <a:off x="1064650" y="2514150"/>
            <a:ext cx="558300" cy="68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23" name="Google Shape;1123;p88"/>
          <p:cNvSpPr txBox="1"/>
          <p:nvPr>
            <p:ph idx="4294967295" type="subTitle"/>
          </p:nvPr>
        </p:nvSpPr>
        <p:spPr>
          <a:xfrm>
            <a:off x="324000" y="3265550"/>
            <a:ext cx="1952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denominator is 5 so we split each whole into 5 equal parts.</a:t>
            </a:r>
            <a:endParaRPr b="0" sz="1800"/>
          </a:p>
        </p:txBody>
      </p:sp>
      <p:graphicFrame>
        <p:nvGraphicFramePr>
          <p:cNvPr id="1124" name="Google Shape;1124;p88"/>
          <p:cNvGraphicFramePr/>
          <p:nvPr/>
        </p:nvGraphicFramePr>
        <p:xfrm>
          <a:off x="5348150" y="180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25" name="Google Shape;1125;p88"/>
          <p:cNvCxnSpPr/>
          <p:nvPr/>
        </p:nvCxnSpPr>
        <p:spPr>
          <a:xfrm>
            <a:off x="4976400" y="2013800"/>
            <a:ext cx="38412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6" name="Google Shape;1126;p88"/>
          <p:cNvSpPr txBox="1"/>
          <p:nvPr/>
        </p:nvSpPr>
        <p:spPr>
          <a:xfrm>
            <a:off x="5204100" y="212947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8"/>
          <p:cNvSpPr txBox="1"/>
          <p:nvPr/>
        </p:nvSpPr>
        <p:spPr>
          <a:xfrm>
            <a:off x="6244950" y="212947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8" name="Google Shape;1128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3438" y="2474108"/>
            <a:ext cx="33242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2038" y="2104571"/>
            <a:ext cx="33242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5925" y="1761850"/>
            <a:ext cx="34540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88"/>
          <p:cNvSpPr txBox="1"/>
          <p:nvPr/>
        </p:nvSpPr>
        <p:spPr>
          <a:xfrm>
            <a:off x="7311750" y="212947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8"/>
          <p:cNvSpPr txBox="1"/>
          <p:nvPr/>
        </p:nvSpPr>
        <p:spPr>
          <a:xfrm>
            <a:off x="8302350" y="212947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8"/>
          <p:cNvSpPr txBox="1"/>
          <p:nvPr>
            <p:ph idx="4294967295" type="subTitle"/>
          </p:nvPr>
        </p:nvSpPr>
        <p:spPr>
          <a:xfrm>
            <a:off x="2693500" y="3265550"/>
            <a:ext cx="2474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each pentagon </a:t>
            </a:r>
            <a:endParaRPr b="0" sz="1800"/>
          </a:p>
        </p:txBody>
      </p:sp>
      <p:sp>
        <p:nvSpPr>
          <p:cNvPr id="1134" name="Google Shape;1134;p88"/>
          <p:cNvSpPr txBox="1"/>
          <p:nvPr>
            <p:ph idx="4294967295" type="subTitle"/>
          </p:nvPr>
        </p:nvSpPr>
        <p:spPr>
          <a:xfrm>
            <a:off x="5933625" y="2944650"/>
            <a:ext cx="2225100" cy="7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Each whole one is divided into five equal parts.</a:t>
            </a:r>
            <a:endParaRPr b="0" sz="1800"/>
          </a:p>
        </p:txBody>
      </p:sp>
      <p:cxnSp>
        <p:nvCxnSpPr>
          <p:cNvPr id="1135" name="Google Shape;1135;p88"/>
          <p:cNvCxnSpPr/>
          <p:nvPr/>
        </p:nvCxnSpPr>
        <p:spPr>
          <a:xfrm>
            <a:off x="2481600" y="2514150"/>
            <a:ext cx="558300" cy="68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6" name="Google Shape;1136;p88"/>
          <p:cNvCxnSpPr/>
          <p:nvPr/>
        </p:nvCxnSpPr>
        <p:spPr>
          <a:xfrm>
            <a:off x="3290245" y="2510090"/>
            <a:ext cx="0" cy="73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7" name="Google Shape;1137;p88"/>
          <p:cNvCxnSpPr/>
          <p:nvPr/>
        </p:nvCxnSpPr>
        <p:spPr>
          <a:xfrm flipH="1">
            <a:off x="3499600" y="2627400"/>
            <a:ext cx="612900" cy="61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1138" name="Google Shape;1138;p88"/>
          <p:cNvGrpSpPr/>
          <p:nvPr/>
        </p:nvGrpSpPr>
        <p:grpSpPr>
          <a:xfrm>
            <a:off x="5329075" y="2517550"/>
            <a:ext cx="1280875" cy="410700"/>
            <a:chOff x="5329075" y="2898550"/>
            <a:chExt cx="1280875" cy="410700"/>
          </a:xfrm>
        </p:grpSpPr>
        <p:cxnSp>
          <p:nvCxnSpPr>
            <p:cNvPr id="1139" name="Google Shape;1139;p88"/>
            <p:cNvCxnSpPr/>
            <p:nvPr/>
          </p:nvCxnSpPr>
          <p:spPr>
            <a:xfrm>
              <a:off x="5329075" y="2898550"/>
              <a:ext cx="1042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0" name="Google Shape;1140;p88"/>
            <p:cNvCxnSpPr/>
            <p:nvPr/>
          </p:nvCxnSpPr>
          <p:spPr>
            <a:xfrm>
              <a:off x="5893850" y="2898550"/>
              <a:ext cx="716100" cy="410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1" name="Google Shape;1141;p88"/>
          <p:cNvGrpSpPr/>
          <p:nvPr/>
        </p:nvGrpSpPr>
        <p:grpSpPr>
          <a:xfrm>
            <a:off x="6374968" y="2517550"/>
            <a:ext cx="1042800" cy="443400"/>
            <a:chOff x="6283713" y="2898550"/>
            <a:chExt cx="1042800" cy="443400"/>
          </a:xfrm>
        </p:grpSpPr>
        <p:cxnSp>
          <p:nvCxnSpPr>
            <p:cNvPr id="1142" name="Google Shape;1142;p88"/>
            <p:cNvCxnSpPr/>
            <p:nvPr/>
          </p:nvCxnSpPr>
          <p:spPr>
            <a:xfrm>
              <a:off x="6283713" y="2898550"/>
              <a:ext cx="1042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3" name="Google Shape;1143;p88"/>
            <p:cNvCxnSpPr/>
            <p:nvPr/>
          </p:nvCxnSpPr>
          <p:spPr>
            <a:xfrm>
              <a:off x="6848488" y="2898550"/>
              <a:ext cx="0" cy="443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4" name="Google Shape;1144;p88"/>
          <p:cNvGrpSpPr/>
          <p:nvPr/>
        </p:nvGrpSpPr>
        <p:grpSpPr>
          <a:xfrm>
            <a:off x="7383020" y="2518856"/>
            <a:ext cx="1094225" cy="425700"/>
            <a:chOff x="6232288" y="2898550"/>
            <a:chExt cx="1094225" cy="425700"/>
          </a:xfrm>
        </p:grpSpPr>
        <p:cxnSp>
          <p:nvCxnSpPr>
            <p:cNvPr id="1145" name="Google Shape;1145;p88"/>
            <p:cNvCxnSpPr/>
            <p:nvPr/>
          </p:nvCxnSpPr>
          <p:spPr>
            <a:xfrm>
              <a:off x="6283713" y="2898550"/>
              <a:ext cx="1042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6" name="Google Shape;1146;p88"/>
            <p:cNvCxnSpPr/>
            <p:nvPr/>
          </p:nvCxnSpPr>
          <p:spPr>
            <a:xfrm flipH="1">
              <a:off x="6232288" y="2898550"/>
              <a:ext cx="616200" cy="425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47" name="Google Shape;1147;p88"/>
          <p:cNvSpPr txBox="1"/>
          <p:nvPr>
            <p:ph idx="4294967295" type="subTitle"/>
          </p:nvPr>
        </p:nvSpPr>
        <p:spPr>
          <a:xfrm>
            <a:off x="5890700" y="1224867"/>
            <a:ext cx="2651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Number line</a:t>
            </a:r>
            <a:endParaRPr b="0" sz="2000"/>
          </a:p>
        </p:txBody>
      </p:sp>
      <p:cxnSp>
        <p:nvCxnSpPr>
          <p:cNvPr id="1148" name="Google Shape;1148;p88"/>
          <p:cNvCxnSpPr/>
          <p:nvPr/>
        </p:nvCxnSpPr>
        <p:spPr>
          <a:xfrm rot="10800000">
            <a:off x="7869650" y="2059758"/>
            <a:ext cx="0" cy="37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2}{5}&quot;&gt;&lt;mfrac&gt;&lt;mn&gt;12&lt;/mn&gt;&lt;mn&gt;5&lt;/mn&gt;&lt;/mfrac&gt;&lt;/math&gt;" id="1149" name="Google Shape;1149;p88" title="twelv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6225" y="3917025"/>
            <a:ext cx="291600" cy="531972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88"/>
          <p:cNvSpPr txBox="1"/>
          <p:nvPr>
            <p:ph idx="4294967295" type="subTitle"/>
          </p:nvPr>
        </p:nvSpPr>
        <p:spPr>
          <a:xfrm>
            <a:off x="2693500" y="3646550"/>
            <a:ext cx="2474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represents 1 whole,</a:t>
            </a:r>
            <a:endParaRPr b="0" sz="1800"/>
          </a:p>
        </p:txBody>
      </p:sp>
      <p:sp>
        <p:nvSpPr>
          <p:cNvPr id="1151" name="Google Shape;1151;p88"/>
          <p:cNvSpPr txBox="1"/>
          <p:nvPr>
            <p:ph idx="4294967295" type="subTitle"/>
          </p:nvPr>
        </p:nvSpPr>
        <p:spPr>
          <a:xfrm>
            <a:off x="2693500" y="4027550"/>
            <a:ext cx="2474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</a:t>
            </a:r>
            <a:endParaRPr b="0" sz="1800"/>
          </a:p>
        </p:txBody>
      </p:sp>
      <p:sp>
        <p:nvSpPr>
          <p:cNvPr id="1152" name="Google Shape;1152;p88"/>
          <p:cNvSpPr txBox="1"/>
          <p:nvPr>
            <p:ph idx="4294967295" type="subTitle"/>
          </p:nvPr>
        </p:nvSpPr>
        <p:spPr>
          <a:xfrm>
            <a:off x="3156475" y="4027550"/>
            <a:ext cx="2164200" cy="34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shows </a:t>
            </a:r>
            <a:endParaRPr b="0" sz="1800"/>
          </a:p>
        </p:txBody>
      </p:sp>
      <p:sp>
        <p:nvSpPr>
          <p:cNvPr id="1153" name="Google Shape;1153;p88"/>
          <p:cNvSpPr txBox="1"/>
          <p:nvPr>
            <p:ph idx="4294967295" type="subTitle"/>
          </p:nvPr>
        </p:nvSpPr>
        <p:spPr>
          <a:xfrm>
            <a:off x="4385600" y="4027550"/>
            <a:ext cx="1239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shaded.</a:t>
            </a:r>
            <a:endParaRPr b="0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sp>
        <p:nvSpPr>
          <p:cNvPr id="1159" name="Google Shape;1159;p89"/>
          <p:cNvSpPr txBox="1"/>
          <p:nvPr>
            <p:ph idx="4294967295" type="subTitle"/>
          </p:nvPr>
        </p:nvSpPr>
        <p:spPr>
          <a:xfrm>
            <a:off x="307271" y="810000"/>
            <a:ext cx="2405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example,</a:t>
            </a:r>
            <a:endParaRPr b="0"/>
          </a:p>
        </p:txBody>
      </p:sp>
      <p:sp>
        <p:nvSpPr>
          <p:cNvPr id="1160" name="Google Shape;1160;p89"/>
          <p:cNvSpPr/>
          <p:nvPr/>
        </p:nvSpPr>
        <p:spPr>
          <a:xfrm>
            <a:off x="2028053" y="2065526"/>
            <a:ext cx="774900" cy="7365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9"/>
          <p:cNvSpPr/>
          <p:nvPr/>
        </p:nvSpPr>
        <p:spPr>
          <a:xfrm>
            <a:off x="2943878" y="2065526"/>
            <a:ext cx="774900" cy="7365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9"/>
          <p:cNvSpPr/>
          <p:nvPr/>
        </p:nvSpPr>
        <p:spPr>
          <a:xfrm>
            <a:off x="3859703" y="2065526"/>
            <a:ext cx="774900" cy="7365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5}&quot;&gt;&lt;mfrac&gt;&lt;mn&gt;12&lt;/mn&gt;&lt;mn&gt;5&lt;/mn&gt;&lt;/mfrac&gt;&lt;/math&gt;" id="1163" name="Google Shape;1163;p89" title="twelv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25" y="2002499"/>
            <a:ext cx="431225" cy="786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18207">
            <a:off x="2012105" y="2070264"/>
            <a:ext cx="736776" cy="76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18207">
            <a:off x="2929803" y="2074616"/>
            <a:ext cx="736776" cy="76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98011">
            <a:off x="3852889" y="2082254"/>
            <a:ext cx="724882" cy="75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89"/>
          <p:cNvSpPr txBox="1"/>
          <p:nvPr>
            <p:ph idx="4294967295" type="subTitle"/>
          </p:nvPr>
        </p:nvSpPr>
        <p:spPr>
          <a:xfrm>
            <a:off x="313635" y="1534775"/>
            <a:ext cx="1757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</a:t>
            </a:r>
            <a:endParaRPr b="0"/>
          </a:p>
        </p:txBody>
      </p:sp>
      <p:sp>
        <p:nvSpPr>
          <p:cNvPr id="1168" name="Google Shape;1168;p89"/>
          <p:cNvSpPr txBox="1"/>
          <p:nvPr>
            <p:ph idx="4294967295" type="subTitle"/>
          </p:nvPr>
        </p:nvSpPr>
        <p:spPr>
          <a:xfrm>
            <a:off x="2081975" y="1534775"/>
            <a:ext cx="2651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 diagram</a:t>
            </a:r>
            <a:endParaRPr b="0"/>
          </a:p>
        </p:txBody>
      </p:sp>
      <p:graphicFrame>
        <p:nvGraphicFramePr>
          <p:cNvPr id="1169" name="Google Shape;1169;p89"/>
          <p:cNvGraphicFramePr/>
          <p:nvPr/>
        </p:nvGraphicFramePr>
        <p:xfrm>
          <a:off x="5348150" y="218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{81BD8FF9-2C49-4558-AA59-20DA776E319B}</a:tableStyleId>
              </a:tblPr>
              <a:tblGrid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  <a:gridCol w="210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70" name="Google Shape;1170;p89"/>
          <p:cNvCxnSpPr/>
          <p:nvPr/>
        </p:nvCxnSpPr>
        <p:spPr>
          <a:xfrm>
            <a:off x="4976400" y="2394800"/>
            <a:ext cx="38412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1" name="Google Shape;1171;p89"/>
          <p:cNvSpPr txBox="1"/>
          <p:nvPr/>
        </p:nvSpPr>
        <p:spPr>
          <a:xfrm>
            <a:off x="5204100" y="251047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9"/>
          <p:cNvSpPr txBox="1"/>
          <p:nvPr/>
        </p:nvSpPr>
        <p:spPr>
          <a:xfrm>
            <a:off x="6244950" y="251047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3" name="Google Shape;1173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3438" y="2855108"/>
            <a:ext cx="33242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2038" y="2485571"/>
            <a:ext cx="33242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5925" y="2142850"/>
            <a:ext cx="34540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89"/>
          <p:cNvSpPr txBox="1"/>
          <p:nvPr/>
        </p:nvSpPr>
        <p:spPr>
          <a:xfrm>
            <a:off x="7311750" y="251047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9"/>
          <p:cNvSpPr txBox="1"/>
          <p:nvPr/>
        </p:nvSpPr>
        <p:spPr>
          <a:xfrm>
            <a:off x="8302350" y="2510475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8" name="Google Shape;1178;p89"/>
          <p:cNvCxnSpPr/>
          <p:nvPr/>
        </p:nvCxnSpPr>
        <p:spPr>
          <a:xfrm rot="10800000">
            <a:off x="7869650" y="2567683"/>
            <a:ext cx="0" cy="37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2\frac{2}{5}&quot;&gt;&lt;mn&gt;2&lt;/mn&gt;&lt;mfrac&gt;&lt;mn&gt;2&lt;/mn&gt;&lt;mn&gt;5&lt;/mn&gt;&lt;/mfrac&gt;&lt;/math&gt;" id="1179" name="Google Shape;1179;p89" title="2 and two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69611" y="3933359"/>
            <a:ext cx="349175" cy="589239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89"/>
          <p:cNvSpPr txBox="1"/>
          <p:nvPr>
            <p:ph idx="4294967295" type="subTitle"/>
          </p:nvPr>
        </p:nvSpPr>
        <p:spPr>
          <a:xfrm>
            <a:off x="5890700" y="1529667"/>
            <a:ext cx="2651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Number line</a:t>
            </a:r>
            <a:endParaRPr b="0"/>
          </a:p>
        </p:txBody>
      </p:sp>
      <p:pic>
        <p:nvPicPr>
          <p:cNvPr id="1181" name="Google Shape;1181;p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84800" y="3172975"/>
            <a:ext cx="3133551" cy="712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8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73887" y="3154636"/>
            <a:ext cx="2900401" cy="846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2}{5}&quot;&gt;&lt;mn&gt;2&lt;/mn&gt;&lt;mfrac&gt;&lt;mn&gt;2&lt;/mn&gt;&lt;mn&gt;5&lt;/mn&gt;&lt;/mfrac&gt;&lt;/math&gt;" id="1183" name="Google Shape;1183;p89" title="2 and two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90098" y="4000734"/>
            <a:ext cx="349175" cy="589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sp>
        <p:nvSpPr>
          <p:cNvPr id="1189" name="Google Shape;1189;p90"/>
          <p:cNvSpPr txBox="1"/>
          <p:nvPr>
            <p:ph idx="4294967295" type="subTitle"/>
          </p:nvPr>
        </p:nvSpPr>
        <p:spPr>
          <a:xfrm>
            <a:off x="309753" y="810000"/>
            <a:ext cx="2493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example,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2}{5}&quot;&gt;&lt;mfrac&gt;&lt;mn&gt;12&lt;/mn&gt;&lt;mn&gt;5&lt;/mn&gt;&lt;/mfrac&gt;&lt;/math&gt;" id="1190" name="Google Shape;1190;p90" title="twelv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25" y="2002499"/>
            <a:ext cx="431225" cy="786711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90"/>
          <p:cNvSpPr txBox="1"/>
          <p:nvPr>
            <p:ph idx="4294967295" type="subTitle"/>
          </p:nvPr>
        </p:nvSpPr>
        <p:spPr>
          <a:xfrm>
            <a:off x="316094" y="1534775"/>
            <a:ext cx="1757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</a:t>
            </a:r>
            <a:endParaRPr b="0"/>
          </a:p>
        </p:txBody>
      </p:sp>
      <p:sp>
        <p:nvSpPr>
          <p:cNvPr id="1192" name="Google Shape;1192;p90"/>
          <p:cNvSpPr txBox="1"/>
          <p:nvPr>
            <p:ph idx="4294967295" type="subTitle"/>
          </p:nvPr>
        </p:nvSpPr>
        <p:spPr>
          <a:xfrm>
            <a:off x="447600" y="3054950"/>
            <a:ext cx="8372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can we identify the </a:t>
            </a:r>
            <a:r>
              <a:rPr b="1" lang="en-GB" sz="2000"/>
              <a:t>mixed number</a:t>
            </a:r>
            <a:r>
              <a:rPr lang="en-GB" sz="2000"/>
              <a:t> from the </a:t>
            </a:r>
            <a:r>
              <a:rPr b="1" lang="en-GB" sz="2000"/>
              <a:t>improper fraction? </a:t>
            </a:r>
            <a:endParaRPr b="1" sz="2000"/>
          </a:p>
        </p:txBody>
      </p:sp>
      <p:sp>
        <p:nvSpPr>
          <p:cNvPr id="1193" name="Google Shape;1193;p90"/>
          <p:cNvSpPr txBox="1"/>
          <p:nvPr>
            <p:ph idx="4294967295" type="subTitle"/>
          </p:nvPr>
        </p:nvSpPr>
        <p:spPr>
          <a:xfrm>
            <a:off x="447600" y="3807900"/>
            <a:ext cx="8372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Looking at our denominator, we know five fifths make 1 whole, so we can partition our fraction.</a:t>
            </a:r>
            <a:endParaRPr b="0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sp>
        <p:nvSpPr>
          <p:cNvPr id="1199" name="Google Shape;1199;p91"/>
          <p:cNvSpPr txBox="1"/>
          <p:nvPr>
            <p:ph idx="4294967295" type="subTitle"/>
          </p:nvPr>
        </p:nvSpPr>
        <p:spPr>
          <a:xfrm>
            <a:off x="318946" y="810000"/>
            <a:ext cx="2348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example,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2}{5}&quot;&gt;&lt;mfrac&gt;&lt;mn&gt;12&lt;/mn&gt;&lt;mn&gt;5&lt;/mn&gt;&lt;/mfrac&gt;&lt;/math&gt;" id="1200" name="Google Shape;1200;p91" title="twelv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25" y="2002499"/>
            <a:ext cx="431225" cy="786711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91"/>
          <p:cNvSpPr txBox="1"/>
          <p:nvPr>
            <p:ph idx="4294967295" type="subTitle"/>
          </p:nvPr>
        </p:nvSpPr>
        <p:spPr>
          <a:xfrm>
            <a:off x="325311" y="1534775"/>
            <a:ext cx="1757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2}{5}=\ \frac{5}{5}+\frac{5}{5}+\frac{2}{5}=1+1+\frac{2}{5}=2\frac{2}{5}&quot;&gt;&lt;mfrac&gt;&lt;mn&gt;12&lt;/mn&gt;&lt;mn&gt;5&lt;/mn&gt;&lt;/mfrac&gt;&lt;mo&gt;=&lt;/mo&gt;&lt;mtext&gt;&lt;/mtext&gt;&lt;mfrac&gt;&lt;mn&gt;5&lt;/mn&gt;&lt;mn&gt;5&lt;/mn&gt;&lt;/mfrac&gt;&lt;mo&gt;+&lt;/mo&gt;&lt;mfrac&gt;&lt;mn&gt;5&lt;/mn&gt;&lt;mn&gt;5&lt;/mn&gt;&lt;/mfrac&gt;&lt;mo&gt;+&lt;/mo&gt;&lt;mfrac&gt;&lt;mn&gt;2&lt;/mn&gt;&lt;mn&gt;5&lt;/mn&gt;&lt;/mfrac&gt;&lt;mo&gt;=&lt;/mo&gt;&lt;mn&gt;1&lt;/mn&gt;&lt;mo&gt;+&lt;/mo&gt;&lt;mn&gt;1&lt;/mn&gt;&lt;mo&gt;+&lt;/mo&gt;&lt;mfrac&gt;&lt;mn&gt;2&lt;/mn&gt;&lt;mn&gt;5&lt;/mn&gt;&lt;/mfrac&gt;&lt;mo&gt;=&lt;/mo&gt;&lt;mn&gt;2&lt;/mn&gt;&lt;mfrac&gt;&lt;mn&gt;2&lt;/mn&gt;&lt;mn&gt;5&lt;/mn&gt;&lt;/mfrac&gt;&lt;/math&gt;" id="1202" name="Google Shape;1202;p91" title="twelve fifths equals five fifths plus five fifths plus two fifths equals 1 plus 1 plus two fifths equals 2 and two fifths"/>
          <p:cNvPicPr preferRelativeResize="0"/>
          <p:nvPr/>
        </p:nvPicPr>
        <p:blipFill rotWithShape="1">
          <a:blip r:embed="rId4">
            <a:alphaModFix/>
          </a:blip>
          <a:srcRect b="0" l="9067" r="49938" t="0"/>
          <a:stretch/>
        </p:blipFill>
        <p:spPr>
          <a:xfrm>
            <a:off x="1144850" y="1963075"/>
            <a:ext cx="2488775" cy="82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5}=\ \frac{5}{5}+\frac{5}{5}+\frac{2}{5}=1+1+\frac{2}{5}=2\frac{2}{5}&quot;&gt;&lt;mfrac&gt;&lt;mn&gt;12&lt;/mn&gt;&lt;mn&gt;5&lt;/mn&gt;&lt;/mfrac&gt;&lt;mo&gt;=&lt;/mo&gt;&lt;mtext&gt;&lt;/mtext&gt;&lt;mfrac&gt;&lt;mn&gt;5&lt;/mn&gt;&lt;mn&gt;5&lt;/mn&gt;&lt;/mfrac&gt;&lt;mo&gt;+&lt;/mo&gt;&lt;mfrac&gt;&lt;mn&gt;5&lt;/mn&gt;&lt;mn&gt;5&lt;/mn&gt;&lt;/mfrac&gt;&lt;mo&gt;+&lt;/mo&gt;&lt;mfrac&gt;&lt;mn&gt;2&lt;/mn&gt;&lt;mn&gt;5&lt;/mn&gt;&lt;/mfrac&gt;&lt;mo&gt;=&lt;/mo&gt;&lt;mn&gt;1&lt;/mn&gt;&lt;mo&gt;+&lt;/mo&gt;&lt;mn&gt;1&lt;/mn&gt;&lt;mo&gt;+&lt;/mo&gt;&lt;mfrac&gt;&lt;mn&gt;2&lt;/mn&gt;&lt;mn&gt;5&lt;/mn&gt;&lt;/mfrac&gt;&lt;mo&gt;=&lt;/mo&gt;&lt;mn&gt;2&lt;/mn&gt;&lt;mfrac&gt;&lt;mn&gt;2&lt;/mn&gt;&lt;mn&gt;5&lt;/mn&gt;&lt;/mfrac&gt;&lt;/math&gt;" id="1203" name="Google Shape;1203;p91" title="twelve fifths equals five fifths plus five fifths plus two fifths equals 1 plus 1 plus two fifths equals 2 and two fifths"/>
          <p:cNvPicPr preferRelativeResize="0"/>
          <p:nvPr/>
        </p:nvPicPr>
        <p:blipFill rotWithShape="1">
          <a:blip r:embed="rId4">
            <a:alphaModFix/>
          </a:blip>
          <a:srcRect b="0" l="51086" r="14971" t="0"/>
          <a:stretch/>
        </p:blipFill>
        <p:spPr>
          <a:xfrm>
            <a:off x="1201176" y="2943250"/>
            <a:ext cx="2060576" cy="82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5}=\ \frac{5}{5}+\frac{5}{5}+\frac{2}{5}=1+1+\frac{2}{5}=2\frac{2}{5}&quot;&gt;&lt;mfrac&gt;&lt;mn&gt;12&lt;/mn&gt;&lt;mn&gt;5&lt;/mn&gt;&lt;/mfrac&gt;&lt;mo&gt;=&lt;/mo&gt;&lt;mtext&gt;&lt;/mtext&gt;&lt;mfrac&gt;&lt;mn&gt;5&lt;/mn&gt;&lt;mn&gt;5&lt;/mn&gt;&lt;/mfrac&gt;&lt;mo&gt;+&lt;/mo&gt;&lt;mfrac&gt;&lt;mn&gt;5&lt;/mn&gt;&lt;mn&gt;5&lt;/mn&gt;&lt;/mfrac&gt;&lt;mo&gt;+&lt;/mo&gt;&lt;mfrac&gt;&lt;mn&gt;2&lt;/mn&gt;&lt;mn&gt;5&lt;/mn&gt;&lt;/mfrac&gt;&lt;mo&gt;=&lt;/mo&gt;&lt;mn&gt;1&lt;/mn&gt;&lt;mo&gt;+&lt;/mo&gt;&lt;mn&gt;1&lt;/mn&gt;&lt;mo&gt;+&lt;/mo&gt;&lt;mfrac&gt;&lt;mn&gt;2&lt;/mn&gt;&lt;mn&gt;5&lt;/mn&gt;&lt;/mfrac&gt;&lt;mo&gt;=&lt;/mo&gt;&lt;mn&gt;2&lt;/mn&gt;&lt;mfrac&gt;&lt;mn&gt;2&lt;/mn&gt;&lt;mn&gt;5&lt;/mn&gt;&lt;/mfrac&gt;&lt;/math&gt;" id="1204" name="Google Shape;1204;p91" title="twelve fifths equals five fifths plus five fifths plus two fifths equals 1 plus 1 plus two fifths equals 2 and two fifths"/>
          <p:cNvPicPr preferRelativeResize="0"/>
          <p:nvPr/>
        </p:nvPicPr>
        <p:blipFill rotWithShape="1">
          <a:blip r:embed="rId4">
            <a:alphaModFix/>
          </a:blip>
          <a:srcRect b="0" l="85113" r="-19055" t="0"/>
          <a:stretch/>
        </p:blipFill>
        <p:spPr>
          <a:xfrm>
            <a:off x="1157443" y="3870033"/>
            <a:ext cx="2060576" cy="8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91"/>
          <p:cNvSpPr txBox="1"/>
          <p:nvPr>
            <p:ph idx="4294967295" type="subTitle"/>
          </p:nvPr>
        </p:nvSpPr>
        <p:spPr>
          <a:xfrm>
            <a:off x="4355375" y="1299900"/>
            <a:ext cx="4075500" cy="25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</a:t>
            </a:r>
            <a:r>
              <a:rPr lang="en-GB"/>
              <a:t> diagrams or number lines are methods to visually represent the </a:t>
            </a:r>
            <a:r>
              <a:rPr b="1" lang="en-GB"/>
              <a:t>mixed number,</a:t>
            </a:r>
            <a:r>
              <a:rPr lang="en-GB"/>
              <a:t> but using </a:t>
            </a:r>
            <a:r>
              <a:rPr lang="en-GB"/>
              <a:t>knowledge</a:t>
            </a:r>
            <a:r>
              <a:rPr lang="en-GB"/>
              <a:t> that the denominator identifies how many parts are a whole is a quicker and easier way.</a:t>
            </a:r>
            <a:endParaRPr b="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sp>
        <p:nvSpPr>
          <p:cNvPr id="1211" name="Google Shape;1211;p92"/>
          <p:cNvSpPr txBox="1"/>
          <p:nvPr>
            <p:ph idx="4294967295" type="subTitle"/>
          </p:nvPr>
        </p:nvSpPr>
        <p:spPr>
          <a:xfrm>
            <a:off x="337402" y="810000"/>
            <a:ext cx="2592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example,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2}{5}&quot;&gt;&lt;mfrac&gt;&lt;mn&gt;12&lt;/mn&gt;&lt;mn&gt;5&lt;/mn&gt;&lt;/mfrac&gt;&lt;/math&gt;" id="1212" name="Google Shape;1212;p92" title="twelv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25" y="2002499"/>
            <a:ext cx="431225" cy="786711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92"/>
          <p:cNvSpPr txBox="1"/>
          <p:nvPr>
            <p:ph idx="4294967295" type="subTitle"/>
          </p:nvPr>
        </p:nvSpPr>
        <p:spPr>
          <a:xfrm>
            <a:off x="343747" y="1534775"/>
            <a:ext cx="1757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2}{5}=\ \frac{5}{5}+\frac{5}{5}+\frac{2}{5}=1+1+\frac{2}{5}=2\frac{2}{5}&quot;&gt;&lt;mfrac&gt;&lt;mn&gt;12&lt;/mn&gt;&lt;mn&gt;5&lt;/mn&gt;&lt;/mfrac&gt;&lt;mo&gt;=&lt;/mo&gt;&lt;mtext&gt;&lt;/mtext&gt;&lt;mfrac&gt;&lt;mn&gt;5&lt;/mn&gt;&lt;mn&gt;5&lt;/mn&gt;&lt;/mfrac&gt;&lt;mo&gt;+&lt;/mo&gt;&lt;mfrac&gt;&lt;mn&gt;5&lt;/mn&gt;&lt;mn&gt;5&lt;/mn&gt;&lt;/mfrac&gt;&lt;mo&gt;+&lt;/mo&gt;&lt;mfrac&gt;&lt;mn&gt;2&lt;/mn&gt;&lt;mn&gt;5&lt;/mn&gt;&lt;/mfrac&gt;&lt;mo&gt;=&lt;/mo&gt;&lt;mn&gt;1&lt;/mn&gt;&lt;mo&gt;+&lt;/mo&gt;&lt;mn&gt;1&lt;/mn&gt;&lt;mo&gt;+&lt;/mo&gt;&lt;mfrac&gt;&lt;mn&gt;2&lt;/mn&gt;&lt;mn&gt;5&lt;/mn&gt;&lt;/mfrac&gt;&lt;mo&gt;=&lt;/mo&gt;&lt;mn&gt;2&lt;/mn&gt;&lt;mfrac&gt;&lt;mn&gt;2&lt;/mn&gt;&lt;mn&gt;5&lt;/mn&gt;&lt;/mfrac&gt;&lt;/math&gt;" id="1214" name="Google Shape;1214;p92" title="twelve fifths equals five fifths plus five fifths plus two fifths equals 1 plus 1 plus two fifths equals 2 and two fifths"/>
          <p:cNvPicPr preferRelativeResize="0"/>
          <p:nvPr/>
        </p:nvPicPr>
        <p:blipFill rotWithShape="1">
          <a:blip r:embed="rId4">
            <a:alphaModFix/>
          </a:blip>
          <a:srcRect b="0" l="85113" r="-19055" t="0"/>
          <a:stretch/>
        </p:blipFill>
        <p:spPr>
          <a:xfrm>
            <a:off x="1157443" y="3870033"/>
            <a:ext cx="2060576" cy="8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2"/>
          <p:cNvSpPr txBox="1"/>
          <p:nvPr>
            <p:ph idx="4294967295" type="subTitle"/>
          </p:nvPr>
        </p:nvSpPr>
        <p:spPr>
          <a:xfrm>
            <a:off x="4355375" y="1299900"/>
            <a:ext cx="4075500" cy="25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Consider multiples of the denominator to make this more efficient.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2}{5}=\ \frac{10}{5}+\frac{2}{5}=2+\frac{2}{5}=2\frac{2}{5}&quot;&gt;&lt;mfrac&gt;&lt;mn&gt;12&lt;/mn&gt;&lt;mn&gt;5&lt;/mn&gt;&lt;/mfrac&gt;&lt;mo&gt;=&lt;/mo&gt;&lt;mtext&gt;&lt;/mtext&gt;&lt;mfrac&gt;&lt;mn&gt;10&lt;/mn&gt;&lt;mn&gt;5&lt;/mn&gt;&lt;/mfrac&gt;&lt;mo&gt;+&lt;/mo&gt;&lt;mfrac&gt;&lt;mn&gt;2&lt;/mn&gt;&lt;mn&gt;5&lt;/mn&gt;&lt;/mfrac&gt;&lt;mo&gt;=&lt;/mo&gt;&lt;mn&gt;2&lt;/mn&gt;&lt;mo&gt;+&lt;/mo&gt;&lt;mfrac&gt;&lt;mn&gt;2&lt;/mn&gt;&lt;mn&gt;5&lt;/mn&gt;&lt;/mfrac&gt;&lt;mo&gt;=&lt;/mo&gt;&lt;mn&gt;2&lt;/mn&gt;&lt;mfrac&gt;&lt;mn&gt;2&lt;/mn&gt;&lt;mn&gt;5&lt;/mn&gt;&lt;/mfrac&gt;&lt;/math&gt;" id="1216" name="Google Shape;1216;p92" title="twelve fifths equals ten fifths plus two fifths equals 2 plus two fifths equals 2 and two fifths"/>
          <p:cNvPicPr preferRelativeResize="0"/>
          <p:nvPr/>
        </p:nvPicPr>
        <p:blipFill rotWithShape="1">
          <a:blip r:embed="rId5">
            <a:alphaModFix/>
          </a:blip>
          <a:srcRect b="0" l="11692" r="49084" t="0"/>
          <a:stretch/>
        </p:blipFill>
        <p:spPr>
          <a:xfrm>
            <a:off x="1157450" y="1982775"/>
            <a:ext cx="1915400" cy="82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5}=\ \frac{10}{5}+\frac{2}{5}=2+\frac{2}{5}=2\frac{2}{5}&quot;&gt;&lt;mfrac&gt;&lt;mn&gt;12&lt;/mn&gt;&lt;mn&gt;5&lt;/mn&gt;&lt;/mfrac&gt;&lt;mo&gt;=&lt;/mo&gt;&lt;mtext&gt;&lt;/mtext&gt;&lt;mfrac&gt;&lt;mn&gt;10&lt;/mn&gt;&lt;mn&gt;5&lt;/mn&gt;&lt;/mfrac&gt;&lt;mo&gt;+&lt;/mo&gt;&lt;mfrac&gt;&lt;mn&gt;2&lt;/mn&gt;&lt;mn&gt;5&lt;/mn&gt;&lt;/mfrac&gt;&lt;mo&gt;=&lt;/mo&gt;&lt;mn&gt;2&lt;/mn&gt;&lt;mo&gt;+&lt;/mo&gt;&lt;mfrac&gt;&lt;mn&gt;2&lt;/mn&gt;&lt;mn&gt;5&lt;/mn&gt;&lt;/mfrac&gt;&lt;mo&gt;=&lt;/mo&gt;&lt;mn&gt;2&lt;/mn&gt;&lt;mfrac&gt;&lt;mn&gt;2&lt;/mn&gt;&lt;mn&gt;5&lt;/mn&gt;&lt;/mfrac&gt;&lt;/math&gt;" id="1217" name="Google Shape;1217;p92" title="twelve fifths equals ten fifths plus two fifths equals 2 plus two fifths equals 2 and two fifths"/>
          <p:cNvPicPr preferRelativeResize="0"/>
          <p:nvPr/>
        </p:nvPicPr>
        <p:blipFill rotWithShape="1">
          <a:blip r:embed="rId5">
            <a:alphaModFix/>
          </a:blip>
          <a:srcRect b="0" l="50000" r="19187" t="0"/>
          <a:stretch/>
        </p:blipFill>
        <p:spPr>
          <a:xfrm>
            <a:off x="1106626" y="2983025"/>
            <a:ext cx="1504675" cy="8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sp>
        <p:nvSpPr>
          <p:cNvPr id="1223" name="Google Shape;1223;p93"/>
          <p:cNvSpPr txBox="1"/>
          <p:nvPr/>
        </p:nvSpPr>
        <p:spPr>
          <a:xfrm>
            <a:off x="338600" y="655375"/>
            <a:ext cx="80388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filling in the gaps, show the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conversion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from an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improper fraction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a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mixed number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3"/>
          <p:cNvSpPr txBox="1"/>
          <p:nvPr/>
        </p:nvSpPr>
        <p:spPr>
          <a:xfrm>
            <a:off x="729425" y="16200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225" name="Google Shape;1225;p93"/>
          <p:cNvSpPr txBox="1"/>
          <p:nvPr/>
        </p:nvSpPr>
        <p:spPr>
          <a:xfrm>
            <a:off x="729425" y="23780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1226" name="Google Shape;1226;p93"/>
          <p:cNvSpPr txBox="1"/>
          <p:nvPr/>
        </p:nvSpPr>
        <p:spPr>
          <a:xfrm>
            <a:off x="729425" y="31360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1227" name="Google Shape;1227;p93"/>
          <p:cNvSpPr txBox="1"/>
          <p:nvPr/>
        </p:nvSpPr>
        <p:spPr>
          <a:xfrm>
            <a:off x="729425" y="38940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7}{6}=\frac{12}{6}+\frac{5}{6}=2\frac{5}{6}\\&amp;#13;&amp;#10;\frac{10}{3}=\frac{9}{3}+\frac{1}{3}=3\frac{1}{3}\\&amp;#13;&amp;#10;\frac{57}{50}=\frac{50}{50}+\frac{7}{50}=1\frac{7}{50}\\&amp;#13;&amp;#10;\frac{234}{55}=\frac{220}{55}+\frac{14}{55}=4\frac{14}{55}\end{array}&quot;&gt;&lt;mtable columnalign=&quot;left&quot; columnspacing=&quot;1em&quot; rowspacing=&quot;4pt&quot;&gt;&lt;mtr&gt;&lt;mtd&gt;&lt;mfrac&gt;&lt;mn&gt;17&lt;/mn&gt;&lt;mn&gt;6&lt;/mn&gt;&lt;/mfrac&gt;&lt;mo&gt;=&lt;/mo&gt;&lt;mfrac&gt;&lt;mn&gt;12&lt;/mn&gt;&lt;mn&gt;6&lt;/mn&gt;&lt;/mfrac&gt;&lt;mo&gt;+&lt;/mo&gt;&lt;mfrac&gt;&lt;mn&gt;5&lt;/mn&gt;&lt;mn&gt;6&lt;/mn&gt;&lt;/mfrac&gt;&lt;mo&gt;=&lt;/mo&gt;&lt;mn&gt;2&lt;/mn&gt;&lt;mfrac&gt;&lt;mn&gt;5&lt;/mn&gt;&lt;mn&gt;6&lt;/mn&gt;&lt;/mfrac&gt;&lt;/mtd&gt;&lt;/mtr&gt;&lt;mtr&gt;&lt;mtd&gt;&lt;mfrac&gt;&lt;mn&gt;10&lt;/mn&gt;&lt;mn&gt;3&lt;/mn&gt;&lt;/mfrac&gt;&lt;mo&gt;=&lt;/mo&gt;&lt;mfrac&gt;&lt;mn&gt;9&lt;/mn&gt;&lt;mn&gt;3&lt;/mn&gt;&lt;/mfrac&gt;&lt;mo&gt;+&lt;/mo&gt;&lt;mfrac&gt;&lt;mn&gt;1&lt;/mn&gt;&lt;mn&gt;3&lt;/mn&gt;&lt;/mfrac&gt;&lt;mo&gt;=&lt;/mo&gt;&lt;mn&gt;3&lt;/mn&gt;&lt;mfrac&gt;&lt;mn&gt;1&lt;/mn&gt;&lt;mn&gt;3&lt;/mn&gt;&lt;/mfrac&gt;&lt;/mtd&gt;&lt;/mtr&gt;&lt;mtr&gt;&lt;mtd&gt;&lt;mfrac&gt;&lt;mn&gt;57&lt;/mn&gt;&lt;mn&gt;50&lt;/mn&gt;&lt;/mfrac&gt;&lt;mo&gt;=&lt;/mo&gt;&lt;mfrac&gt;&lt;mn&gt;50&lt;/mn&gt;&lt;mn&gt;50&lt;/mn&gt;&lt;/mfrac&gt;&lt;mo&gt;+&lt;/mo&gt;&lt;mfrac&gt;&lt;mn&gt;7&lt;/mn&gt;&lt;mn&gt;50&lt;/mn&gt;&lt;/mfrac&gt;&lt;mo&gt;=&lt;/mo&gt;&lt;mn&gt;1&lt;/mn&gt;&lt;mfrac&gt;&lt;mn&gt;7&lt;/mn&gt;&lt;mn&gt;50&lt;/mn&gt;&lt;/mfrac&gt;&lt;/mtd&gt;&lt;/mtr&gt;&lt;mtr&gt;&lt;mtd&gt;&lt;mfrac&gt;&lt;mn&gt;234&lt;/mn&gt;&lt;mn&gt;55&lt;/mn&gt;&lt;/mfrac&gt;&lt;mo&gt;=&lt;/mo&gt;&lt;mfrac&gt;&lt;mn&gt;220&lt;/mn&gt;&lt;mn&gt;55&lt;/mn&gt;&lt;/mfrac&gt;&lt;mo&gt;+&lt;/mo&gt;&lt;mfrac&gt;&lt;mn&gt;14&lt;/mn&gt;&lt;mn&gt;55&lt;/mn&gt;&lt;/mfrac&gt;&lt;mo&gt;=&lt;/mo&gt;&lt;mn&gt;4&lt;/mn&gt;&lt;mfrac&gt;&lt;mn&gt;14&lt;/mn&gt;&lt;mn&gt;55&lt;/mn&gt;&lt;/mfrac&gt;&lt;/mtd&gt;&lt;/mtr&gt;&lt;/mtable&gt;&lt;/math&gt;" id="1228" name="Google Shape;1228;p93" title="4 lines Line 1: seventeen sixths equals twelve sixths plus five sixths equals 2 and five sixths Line 2: ten thirds equals nine thirds plus one third equals 3 and one third Line 3: 57 over 50 equals 50 over 50 plus 7 over 50 equals 1 and 7 over 50 Line 4: 234 over 55 equals 220 over 55 plus 14 over 55 equals 4 and 14 over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500" y="1669425"/>
            <a:ext cx="3999575" cy="303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93"/>
          <p:cNvSpPr/>
          <p:nvPr/>
        </p:nvSpPr>
        <p:spPr>
          <a:xfrm>
            <a:off x="2242000" y="2425611"/>
            <a:ext cx="382200" cy="7104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3"/>
          <p:cNvSpPr/>
          <p:nvPr/>
        </p:nvSpPr>
        <p:spPr>
          <a:xfrm>
            <a:off x="2242000" y="1619999"/>
            <a:ext cx="585900" cy="7104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93"/>
          <p:cNvSpPr/>
          <p:nvPr/>
        </p:nvSpPr>
        <p:spPr>
          <a:xfrm>
            <a:off x="2242000" y="3231200"/>
            <a:ext cx="474000" cy="7104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93"/>
          <p:cNvSpPr/>
          <p:nvPr/>
        </p:nvSpPr>
        <p:spPr>
          <a:xfrm>
            <a:off x="3948400" y="2425600"/>
            <a:ext cx="303600" cy="7104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93"/>
          <p:cNvSpPr/>
          <p:nvPr/>
        </p:nvSpPr>
        <p:spPr>
          <a:xfrm>
            <a:off x="4284875" y="3231200"/>
            <a:ext cx="695100" cy="7104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93"/>
          <p:cNvSpPr/>
          <p:nvPr/>
        </p:nvSpPr>
        <p:spPr>
          <a:xfrm>
            <a:off x="4618100" y="4034625"/>
            <a:ext cx="695100" cy="7104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93"/>
          <p:cNvSpPr/>
          <p:nvPr/>
        </p:nvSpPr>
        <p:spPr>
          <a:xfrm>
            <a:off x="3263438" y="3240000"/>
            <a:ext cx="474000" cy="7104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3"/>
          <p:cNvSpPr/>
          <p:nvPr/>
        </p:nvSpPr>
        <p:spPr>
          <a:xfrm>
            <a:off x="3569888" y="4034625"/>
            <a:ext cx="474000" cy="7104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sp>
        <p:nvSpPr>
          <p:cNvPr id="1242" name="Google Shape;1242;p94"/>
          <p:cNvSpPr txBox="1"/>
          <p:nvPr>
            <p:ph idx="4294967295" type="subTitle"/>
          </p:nvPr>
        </p:nvSpPr>
        <p:spPr>
          <a:xfrm>
            <a:off x="324000" y="836400"/>
            <a:ext cx="8055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Partitioning the fraction into wholes and </a:t>
            </a:r>
            <a:r>
              <a:rPr b="1" lang="en-GB"/>
              <a:t>proper fractions</a:t>
            </a:r>
            <a:r>
              <a:rPr lang="en-GB"/>
              <a:t> is not always the most time </a:t>
            </a:r>
            <a:r>
              <a:rPr lang="en-GB"/>
              <a:t>efficient</a:t>
            </a:r>
            <a:r>
              <a:rPr lang="en-GB"/>
              <a:t> method.</a:t>
            </a:r>
            <a:endParaRPr/>
          </a:p>
        </p:txBody>
      </p:sp>
      <p:sp>
        <p:nvSpPr>
          <p:cNvPr id="1243" name="Google Shape;1243;p94"/>
          <p:cNvSpPr txBox="1"/>
          <p:nvPr>
            <p:ph idx="4294967295" type="subTitle"/>
          </p:nvPr>
        </p:nvSpPr>
        <p:spPr>
          <a:xfrm>
            <a:off x="315117" y="3536400"/>
            <a:ext cx="8055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 let’s see if we can find a more efficient way.</a:t>
            </a:r>
            <a:endParaRPr/>
          </a:p>
        </p:txBody>
      </p:sp>
      <p:pic>
        <p:nvPicPr>
          <p:cNvPr id="1244" name="Google Shape;124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925" y="1936502"/>
            <a:ext cx="7483176" cy="10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sp>
        <p:nvSpPr>
          <p:cNvPr id="1250" name="Google Shape;1250;p95"/>
          <p:cNvSpPr txBox="1"/>
          <p:nvPr>
            <p:ph idx="4294967295" type="subTitle"/>
          </p:nvPr>
        </p:nvSpPr>
        <p:spPr>
          <a:xfrm>
            <a:off x="305275" y="714650"/>
            <a:ext cx="7153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Improper fractions </a:t>
            </a:r>
            <a:r>
              <a:rPr lang="en-GB"/>
              <a:t>can be converted to </a:t>
            </a:r>
            <a:r>
              <a:rPr b="1" lang="en-GB"/>
              <a:t>mixed numbers</a:t>
            </a:r>
            <a:r>
              <a:rPr lang="en-GB"/>
              <a:t> using knowledge on the dividend, quotient, remainder and divisor. </a:t>
            </a:r>
            <a:r>
              <a:rPr b="0" lang="en-GB"/>
              <a:t> 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22}{7}=3\frac{2}{7}\ &quot;&gt;&lt;mfrac&gt;&lt;mn&gt;22&lt;/mn&gt;&lt;mn&gt;7&lt;/mn&gt;&lt;/mfrac&gt;&lt;mo&gt;=&lt;/mo&gt;&lt;mn&gt;3&lt;/mn&gt;&lt;mfrac&gt;&lt;mn&gt;2&lt;/mn&gt;&lt;mn&gt;7&lt;/mn&gt;&lt;/mfrac&gt;&lt;mtext&gt;&lt;/mtext&gt;&lt;/math&gt;" id="1251" name="Google Shape;1251;p95" title="22 over 7 equals 3 and two sevenths"/>
          <p:cNvPicPr preferRelativeResize="0"/>
          <p:nvPr/>
        </p:nvPicPr>
        <p:blipFill rotWithShape="1">
          <a:blip r:embed="rId3">
            <a:alphaModFix/>
          </a:blip>
          <a:srcRect b="0" l="0" r="62439" t="0"/>
          <a:stretch/>
        </p:blipFill>
        <p:spPr>
          <a:xfrm>
            <a:off x="3306498" y="3012175"/>
            <a:ext cx="808300" cy="118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2" name="Google Shape;1252;p95"/>
          <p:cNvCxnSpPr/>
          <p:nvPr/>
        </p:nvCxnSpPr>
        <p:spPr>
          <a:xfrm flipH="1" rot="10800000">
            <a:off x="2537388" y="4024288"/>
            <a:ext cx="729300" cy="4371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3" name="Google Shape;1253;p95"/>
          <p:cNvSpPr txBox="1"/>
          <p:nvPr/>
        </p:nvSpPr>
        <p:spPr>
          <a:xfrm>
            <a:off x="1452288" y="4200088"/>
            <a:ext cx="11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divisor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95"/>
          <p:cNvSpPr txBox="1"/>
          <p:nvPr/>
        </p:nvSpPr>
        <p:spPr>
          <a:xfrm>
            <a:off x="1137013" y="2542350"/>
            <a:ext cx="16002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dividend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5" name="Google Shape;1255;p95"/>
          <p:cNvCxnSpPr/>
          <p:nvPr/>
        </p:nvCxnSpPr>
        <p:spPr>
          <a:xfrm>
            <a:off x="2462138" y="2837963"/>
            <a:ext cx="696900" cy="335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6" name="Google Shape;1256;p95"/>
          <p:cNvCxnSpPr/>
          <p:nvPr/>
        </p:nvCxnSpPr>
        <p:spPr>
          <a:xfrm flipH="1">
            <a:off x="4844613" y="2547613"/>
            <a:ext cx="215700" cy="7281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7" name="Google Shape;1257;p95"/>
          <p:cNvCxnSpPr/>
          <p:nvPr/>
        </p:nvCxnSpPr>
        <p:spPr>
          <a:xfrm flipH="1">
            <a:off x="5434088" y="2804788"/>
            <a:ext cx="729600" cy="465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8" name="Google Shape;1258;p95"/>
          <p:cNvCxnSpPr/>
          <p:nvPr/>
        </p:nvCxnSpPr>
        <p:spPr>
          <a:xfrm rot="10800000">
            <a:off x="5498313" y="4040713"/>
            <a:ext cx="978600" cy="243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9" name="Google Shape;1259;p95"/>
          <p:cNvSpPr txBox="1"/>
          <p:nvPr/>
        </p:nvSpPr>
        <p:spPr>
          <a:xfrm>
            <a:off x="4339488" y="2072550"/>
            <a:ext cx="16002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quotient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5"/>
          <p:cNvSpPr txBox="1"/>
          <p:nvPr/>
        </p:nvSpPr>
        <p:spPr>
          <a:xfrm>
            <a:off x="6163688" y="2431500"/>
            <a:ext cx="16002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remainder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5"/>
          <p:cNvSpPr txBox="1"/>
          <p:nvPr/>
        </p:nvSpPr>
        <p:spPr>
          <a:xfrm>
            <a:off x="6516713" y="4111888"/>
            <a:ext cx="11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divisor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frac{1}{7}&quot;&gt;&lt;mn&gt;3&lt;/mn&gt;&lt;mfrac&gt;&lt;mn&gt;1&lt;/mn&gt;&lt;mn&gt;7&lt;/mn&gt;&lt;/mfrac&gt;&lt;/math&gt;" id="1262" name="Google Shape;1262;p95" title="3 and one seventh"/>
          <p:cNvPicPr preferRelativeResize="0"/>
          <p:nvPr/>
        </p:nvPicPr>
        <p:blipFill rotWithShape="1">
          <a:blip r:embed="rId4">
            <a:alphaModFix/>
          </a:blip>
          <a:srcRect b="40765" l="50132" r="0" t="0"/>
          <a:stretch/>
        </p:blipFill>
        <p:spPr>
          <a:xfrm>
            <a:off x="5061878" y="3088270"/>
            <a:ext cx="3031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2}{7}=3\frac{2}{7}\ &quot;&gt;&lt;mfrac&gt;&lt;mn&gt;22&lt;/mn&gt;&lt;mn&gt;7&lt;/mn&gt;&lt;/mfrac&gt;&lt;mo&gt;=&lt;/mo&gt;&lt;mn&gt;3&lt;/mn&gt;&lt;mfrac&gt;&lt;mn&gt;2&lt;/mn&gt;&lt;mn&gt;7&lt;/mn&gt;&lt;/mfrac&gt;&lt;mtext&gt;&lt;/mtext&gt;&lt;/math&gt;" id="1263" name="Google Shape;1263;p95" title="22 over 7 equals 3 and two sevenths"/>
          <p:cNvPicPr preferRelativeResize="0"/>
          <p:nvPr/>
        </p:nvPicPr>
        <p:blipFill rotWithShape="1">
          <a:blip r:embed="rId3">
            <a:alphaModFix/>
          </a:blip>
          <a:srcRect b="22792" l="31219" r="40532" t="20636"/>
          <a:stretch/>
        </p:blipFill>
        <p:spPr>
          <a:xfrm>
            <a:off x="4016050" y="3240000"/>
            <a:ext cx="607900" cy="67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7}&quot;&gt;&lt;mn&gt;3&lt;/mn&gt;&lt;mfrac&gt;&lt;mn&gt;1&lt;/mn&gt;&lt;mn&gt;7&lt;/mn&gt;&lt;/mfrac&gt;&lt;/math&gt;" id="1264" name="Google Shape;1264;p95" title="3 and one seventh"/>
          <p:cNvPicPr preferRelativeResize="0"/>
          <p:nvPr/>
        </p:nvPicPr>
        <p:blipFill rotWithShape="1">
          <a:blip r:embed="rId4">
            <a:alphaModFix/>
          </a:blip>
          <a:srcRect b="0" l="0" r="64517" t="0"/>
          <a:stretch/>
        </p:blipFill>
        <p:spPr>
          <a:xfrm>
            <a:off x="4757175" y="3088275"/>
            <a:ext cx="215700" cy="103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7}&quot;&gt;&lt;mn&gt;3&lt;/mn&gt;&lt;mfrac&gt;&lt;mn&gt;1&lt;/mn&gt;&lt;mn&gt;7&lt;/mn&gt;&lt;/mfrac&gt;&lt;/math&gt;" id="1265" name="Google Shape;1265;p95" title="3 and one seventh"/>
          <p:cNvPicPr preferRelativeResize="0"/>
          <p:nvPr/>
        </p:nvPicPr>
        <p:blipFill rotWithShape="1">
          <a:blip r:embed="rId4">
            <a:alphaModFix/>
          </a:blip>
          <a:srcRect b="-16099" l="50132" r="0" t="56865"/>
          <a:stretch/>
        </p:blipFill>
        <p:spPr>
          <a:xfrm>
            <a:off x="5061878" y="3701770"/>
            <a:ext cx="303150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sp>
        <p:nvSpPr>
          <p:cNvPr id="1271" name="Google Shape;1271;p96"/>
          <p:cNvSpPr txBox="1"/>
          <p:nvPr>
            <p:ph idx="4294967295" type="subTitle"/>
          </p:nvPr>
        </p:nvSpPr>
        <p:spPr>
          <a:xfrm>
            <a:off x="305275" y="714650"/>
            <a:ext cx="7153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divisor 7 fits into the dividend 22</a:t>
            </a:r>
            <a:r>
              <a:rPr lang="en-GB"/>
              <a:t>, 3 whole times. This means the quotient is 3. There is a remainder of 1 which still needs to be divided by the divisor.</a:t>
            </a:r>
            <a:endParaRPr/>
          </a:p>
        </p:txBody>
      </p:sp>
      <p:cxnSp>
        <p:nvCxnSpPr>
          <p:cNvPr id="1272" name="Google Shape;1272;p96"/>
          <p:cNvCxnSpPr/>
          <p:nvPr/>
        </p:nvCxnSpPr>
        <p:spPr>
          <a:xfrm flipH="1" rot="10800000">
            <a:off x="2537388" y="4024288"/>
            <a:ext cx="729300" cy="4371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3" name="Google Shape;1273;p96"/>
          <p:cNvSpPr txBox="1"/>
          <p:nvPr/>
        </p:nvSpPr>
        <p:spPr>
          <a:xfrm>
            <a:off x="1452288" y="4200088"/>
            <a:ext cx="11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divisor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6"/>
          <p:cNvSpPr txBox="1"/>
          <p:nvPr/>
        </p:nvSpPr>
        <p:spPr>
          <a:xfrm>
            <a:off x="1137013" y="2542350"/>
            <a:ext cx="16002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dividend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5" name="Google Shape;1275;p96"/>
          <p:cNvCxnSpPr/>
          <p:nvPr/>
        </p:nvCxnSpPr>
        <p:spPr>
          <a:xfrm>
            <a:off x="2462138" y="2837963"/>
            <a:ext cx="696900" cy="335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6" name="Google Shape;1276;p96"/>
          <p:cNvCxnSpPr/>
          <p:nvPr/>
        </p:nvCxnSpPr>
        <p:spPr>
          <a:xfrm flipH="1">
            <a:off x="4844613" y="2547613"/>
            <a:ext cx="215700" cy="7281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7" name="Google Shape;1277;p96"/>
          <p:cNvCxnSpPr/>
          <p:nvPr/>
        </p:nvCxnSpPr>
        <p:spPr>
          <a:xfrm flipH="1">
            <a:off x="5434088" y="2804788"/>
            <a:ext cx="729600" cy="465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8" name="Google Shape;1278;p96"/>
          <p:cNvCxnSpPr/>
          <p:nvPr/>
        </p:nvCxnSpPr>
        <p:spPr>
          <a:xfrm rot="10800000">
            <a:off x="5498313" y="4040713"/>
            <a:ext cx="978600" cy="243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9" name="Google Shape;1279;p96"/>
          <p:cNvSpPr txBox="1"/>
          <p:nvPr/>
        </p:nvSpPr>
        <p:spPr>
          <a:xfrm>
            <a:off x="4339488" y="2072550"/>
            <a:ext cx="16002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quotient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96"/>
          <p:cNvSpPr txBox="1"/>
          <p:nvPr/>
        </p:nvSpPr>
        <p:spPr>
          <a:xfrm>
            <a:off x="6163688" y="2431500"/>
            <a:ext cx="16002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remainder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6"/>
          <p:cNvSpPr txBox="1"/>
          <p:nvPr/>
        </p:nvSpPr>
        <p:spPr>
          <a:xfrm>
            <a:off x="6516713" y="4111888"/>
            <a:ext cx="11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divisor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2}{7}=3\frac{2}{7}\ &quot;&gt;&lt;mfrac&gt;&lt;mn&gt;22&lt;/mn&gt;&lt;mn&gt;7&lt;/mn&gt;&lt;/mfrac&gt;&lt;mo&gt;=&lt;/mo&gt;&lt;mn&gt;3&lt;/mn&gt;&lt;mfrac&gt;&lt;mn&gt;2&lt;/mn&gt;&lt;mn&gt;7&lt;/mn&gt;&lt;/mfrac&gt;&lt;mtext&gt;&lt;/mtext&gt;&lt;/math&gt;" id="1282" name="Google Shape;1282;p96" title="22 over 7 equals 3 and two sevenths"/>
          <p:cNvPicPr preferRelativeResize="0"/>
          <p:nvPr/>
        </p:nvPicPr>
        <p:blipFill rotWithShape="1">
          <a:blip r:embed="rId3">
            <a:alphaModFix/>
          </a:blip>
          <a:srcRect b="0" l="0" r="62439" t="0"/>
          <a:stretch/>
        </p:blipFill>
        <p:spPr>
          <a:xfrm>
            <a:off x="3306498" y="3012175"/>
            <a:ext cx="808300" cy="118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7}&quot;&gt;&lt;mn&gt;3&lt;/mn&gt;&lt;mfrac&gt;&lt;mn&gt;1&lt;/mn&gt;&lt;mn&gt;7&lt;/mn&gt;&lt;/mfrac&gt;&lt;/math&gt;" id="1283" name="Google Shape;1283;p96" title="3 and one seventh"/>
          <p:cNvPicPr preferRelativeResize="0"/>
          <p:nvPr/>
        </p:nvPicPr>
        <p:blipFill rotWithShape="1">
          <a:blip r:embed="rId4">
            <a:alphaModFix/>
          </a:blip>
          <a:srcRect b="40765" l="50132" r="0" t="0"/>
          <a:stretch/>
        </p:blipFill>
        <p:spPr>
          <a:xfrm>
            <a:off x="5061878" y="3088270"/>
            <a:ext cx="3031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2}{7}=3\frac{2}{7}\ &quot;&gt;&lt;mfrac&gt;&lt;mn&gt;22&lt;/mn&gt;&lt;mn&gt;7&lt;/mn&gt;&lt;/mfrac&gt;&lt;mo&gt;=&lt;/mo&gt;&lt;mn&gt;3&lt;/mn&gt;&lt;mfrac&gt;&lt;mn&gt;2&lt;/mn&gt;&lt;mn&gt;7&lt;/mn&gt;&lt;/mfrac&gt;&lt;mtext&gt;&lt;/mtext&gt;&lt;/math&gt;" id="1284" name="Google Shape;1284;p96" title="22 over 7 equals 3 and two sevenths"/>
          <p:cNvPicPr preferRelativeResize="0"/>
          <p:nvPr/>
        </p:nvPicPr>
        <p:blipFill rotWithShape="1">
          <a:blip r:embed="rId3">
            <a:alphaModFix/>
          </a:blip>
          <a:srcRect b="22792" l="31219" r="40532" t="20636"/>
          <a:stretch/>
        </p:blipFill>
        <p:spPr>
          <a:xfrm>
            <a:off x="4016050" y="3240000"/>
            <a:ext cx="607900" cy="67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7}&quot;&gt;&lt;mn&gt;3&lt;/mn&gt;&lt;mfrac&gt;&lt;mn&gt;1&lt;/mn&gt;&lt;mn&gt;7&lt;/mn&gt;&lt;/mfrac&gt;&lt;/math&gt;" id="1285" name="Google Shape;1285;p96" title="3 and one seventh"/>
          <p:cNvPicPr preferRelativeResize="0"/>
          <p:nvPr/>
        </p:nvPicPr>
        <p:blipFill rotWithShape="1">
          <a:blip r:embed="rId4">
            <a:alphaModFix/>
          </a:blip>
          <a:srcRect b="0" l="0" r="64517" t="0"/>
          <a:stretch/>
        </p:blipFill>
        <p:spPr>
          <a:xfrm>
            <a:off x="4757175" y="3088275"/>
            <a:ext cx="215700" cy="103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7}&quot;&gt;&lt;mn&gt;3&lt;/mn&gt;&lt;mfrac&gt;&lt;mn&gt;1&lt;/mn&gt;&lt;mn&gt;7&lt;/mn&gt;&lt;/mfrac&gt;&lt;/math&gt;" id="1286" name="Google Shape;1286;p96" title="3 and one seventh"/>
          <p:cNvPicPr preferRelativeResize="0"/>
          <p:nvPr/>
        </p:nvPicPr>
        <p:blipFill rotWithShape="1">
          <a:blip r:embed="rId4">
            <a:alphaModFix/>
          </a:blip>
          <a:srcRect b="-16099" l="50132" r="0" t="56865"/>
          <a:stretch/>
        </p:blipFill>
        <p:spPr>
          <a:xfrm>
            <a:off x="5061878" y="3701770"/>
            <a:ext cx="303150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97"/>
          <p:cNvSpPr txBox="1"/>
          <p:nvPr>
            <p:ph idx="1" type="body"/>
          </p:nvPr>
        </p:nvSpPr>
        <p:spPr>
          <a:xfrm>
            <a:off x="324000" y="911700"/>
            <a:ext cx="8369400" cy="9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the </a:t>
            </a:r>
            <a:r>
              <a:rPr b="1" lang="en-GB"/>
              <a:t>improper fraction</a:t>
            </a:r>
            <a:r>
              <a:rPr lang="en-GB"/>
              <a:t> with the correct </a:t>
            </a:r>
            <a:r>
              <a:rPr b="1" lang="en-GB"/>
              <a:t>mixed number</a:t>
            </a:r>
            <a:r>
              <a:rPr lang="en-GB"/>
              <a:t>.</a:t>
            </a:r>
            <a:endParaRPr/>
          </a:p>
        </p:txBody>
      </p:sp>
      <p:sp>
        <p:nvSpPr>
          <p:cNvPr id="1292" name="Google Shape;129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3}{2}\ \ \ \ \ 6\frac{1}{2}\\&amp;#13;&amp;#10;\frac{15}{4}\ \ \ \ 3\frac{3}{4}\\&amp;#13;&amp;#10;\frac{10}{3}\ \ 3\frac{1}{3}\\&amp;#13;&amp;#10;\frac{11}{2}\ \ \ 5\frac{1}{2}\\&amp;#13;&amp;#10;\frac{14}{3}\ \ \ 3\frac{2}{3}\end{array}&quot;&gt;&lt;mtable columnalign=&quot;left&quot; columnspacing=&quot;1em&quot; rowspacing=&quot;4pt&quot;&gt;&lt;mtr&gt;&lt;mtd&gt;&lt;mfrac&gt;&lt;mn&gt;13&lt;/mn&gt;&lt;mn&gt;2&lt;/mn&gt;&lt;/mfrac&gt;&lt;mtext&gt;&lt;/mtext&gt;&lt;mtext&gt;&lt;/mtext&gt;&lt;mtext&gt;&lt;/mtext&gt;&lt;mtext&gt;&lt;/mtext&gt;&lt;mtext&gt;&lt;/mtext&gt;&lt;mn&gt;6&lt;/mn&gt;&lt;mfrac&gt;&lt;mn&gt;1&lt;/mn&gt;&lt;mn&gt;2&lt;/mn&gt;&lt;/mfrac&gt;&lt;/mtd&gt;&lt;/mtr&gt;&lt;mtr&gt;&lt;mtd&gt;&lt;mfrac&gt;&lt;mn&gt;15&lt;/mn&gt;&lt;mn&gt;4&lt;/mn&gt;&lt;/mfrac&gt;&lt;mtext&gt;&lt;/mtext&gt;&lt;mtext&gt;&lt;/mtext&gt;&lt;mtext&gt;&lt;/mtext&gt;&lt;mtext&gt;&lt;/mtext&gt;&lt;mn&gt;3&lt;/mn&gt;&lt;mfrac&gt;&lt;mn&gt;3&lt;/mn&gt;&lt;mn&gt;4&lt;/mn&gt;&lt;/mfrac&gt;&lt;/mtd&gt;&lt;/mtr&gt;&lt;mtr&gt;&lt;mtd&gt;&lt;mfrac&gt;&lt;mn&gt;10&lt;/mn&gt;&lt;mn&gt;3&lt;/mn&gt;&lt;/mfrac&gt;&lt;mtext&gt;&lt;/mtext&gt;&lt;mtext&gt;&lt;/mtext&gt;&lt;mn&gt;3&lt;/mn&gt;&lt;mfrac&gt;&lt;mn&gt;1&lt;/mn&gt;&lt;mn&gt;3&lt;/mn&gt;&lt;/mfrac&gt;&lt;/mtd&gt;&lt;/mtr&gt;&lt;mtr&gt;&lt;mtd&gt;&lt;mfrac&gt;&lt;mn&gt;11&lt;/mn&gt;&lt;mn&gt;2&lt;/mn&gt;&lt;/mfrac&gt;&lt;mtext&gt;&lt;/mtext&gt;&lt;mtext&gt;&lt;/mtext&gt;&lt;mtext&gt;&lt;/mtext&gt;&lt;mn&gt;5&lt;/mn&gt;&lt;mfrac&gt;&lt;mn&gt;1&lt;/mn&gt;&lt;mn&gt;2&lt;/mn&gt;&lt;/mfrac&gt;&lt;/mtd&gt;&lt;/mtr&gt;&lt;mtr&gt;&lt;mtd&gt;&lt;mfrac&gt;&lt;mn&gt;14&lt;/mn&gt;&lt;mn&gt;3&lt;/mn&gt;&lt;/mfrac&gt;&lt;mtext&gt;&lt;/mtext&gt;&lt;mtext&gt;&lt;/mtext&gt;&lt;mtext&gt;&lt;/mtext&gt;&lt;mn&gt;3&lt;/mn&gt;&lt;mfrac&gt;&lt;mn&gt;2&lt;/mn&gt;&lt;mn&gt;3&lt;/mn&gt;&lt;/mfrac&gt;&lt;/mtd&gt;&lt;/mtr&gt;&lt;/mtable&gt;&lt;/math&gt;" id="1293" name="Google Shape;1293;p97" title="5 lines Line 1: thirteen halves 6 and one half Line 2: fifteen fourths 3 and three fourths Line 3: ten thirds 3 and one third Line 4: eleven halves 5 and one half Line 5: fourteen thirds 3 and two thirds"/>
          <p:cNvPicPr preferRelativeResize="0"/>
          <p:nvPr/>
        </p:nvPicPr>
        <p:blipFill rotWithShape="1">
          <a:blip r:embed="rId3">
            <a:alphaModFix/>
          </a:blip>
          <a:srcRect b="82156" l="0" r="68989" t="0"/>
          <a:stretch/>
        </p:blipFill>
        <p:spPr>
          <a:xfrm>
            <a:off x="1105225" y="1718625"/>
            <a:ext cx="626925" cy="91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}\ \ \ \ \ 6\frac{1}{2}\\&amp;#13;&amp;#10;\frac{15}{4}\ \ \ \ 3\frac{3}{4}\\&amp;#13;&amp;#10;\frac{10}{3}\ \ 3\frac{1}{3}\\&amp;#13;&amp;#10;\frac{11}{2}\ \ \ 5\frac{1}{2}\\&amp;#13;&amp;#10;\frac{14}{3}\ \ \ 3\frac{2}{3}\end{array}&quot;&gt;&lt;mtable columnalign=&quot;left&quot; columnspacing=&quot;1em&quot; rowspacing=&quot;4pt&quot;&gt;&lt;mtr&gt;&lt;mtd&gt;&lt;mfrac&gt;&lt;mn&gt;13&lt;/mn&gt;&lt;mn&gt;2&lt;/mn&gt;&lt;/mfrac&gt;&lt;mtext&gt;&lt;/mtext&gt;&lt;mtext&gt;&lt;/mtext&gt;&lt;mtext&gt;&lt;/mtext&gt;&lt;mtext&gt;&lt;/mtext&gt;&lt;mtext&gt;&lt;/mtext&gt;&lt;mn&gt;6&lt;/mn&gt;&lt;mfrac&gt;&lt;mn&gt;1&lt;/mn&gt;&lt;mn&gt;2&lt;/mn&gt;&lt;/mfrac&gt;&lt;/mtd&gt;&lt;/mtr&gt;&lt;mtr&gt;&lt;mtd&gt;&lt;mfrac&gt;&lt;mn&gt;15&lt;/mn&gt;&lt;mn&gt;4&lt;/mn&gt;&lt;/mfrac&gt;&lt;mtext&gt;&lt;/mtext&gt;&lt;mtext&gt;&lt;/mtext&gt;&lt;mtext&gt;&lt;/mtext&gt;&lt;mtext&gt;&lt;/mtext&gt;&lt;mn&gt;3&lt;/mn&gt;&lt;mfrac&gt;&lt;mn&gt;3&lt;/mn&gt;&lt;mn&gt;4&lt;/mn&gt;&lt;/mfrac&gt;&lt;/mtd&gt;&lt;/mtr&gt;&lt;mtr&gt;&lt;mtd&gt;&lt;mfrac&gt;&lt;mn&gt;10&lt;/mn&gt;&lt;mn&gt;3&lt;/mn&gt;&lt;/mfrac&gt;&lt;mtext&gt;&lt;/mtext&gt;&lt;mtext&gt;&lt;/mtext&gt;&lt;mn&gt;3&lt;/mn&gt;&lt;mfrac&gt;&lt;mn&gt;1&lt;/mn&gt;&lt;mn&gt;3&lt;/mn&gt;&lt;/mfrac&gt;&lt;/mtd&gt;&lt;/mtr&gt;&lt;mtr&gt;&lt;mtd&gt;&lt;mfrac&gt;&lt;mn&gt;11&lt;/mn&gt;&lt;mn&gt;2&lt;/mn&gt;&lt;/mfrac&gt;&lt;mtext&gt;&lt;/mtext&gt;&lt;mtext&gt;&lt;/mtext&gt;&lt;mtext&gt;&lt;/mtext&gt;&lt;mn&gt;5&lt;/mn&gt;&lt;mfrac&gt;&lt;mn&gt;1&lt;/mn&gt;&lt;mn&gt;2&lt;/mn&gt;&lt;/mfrac&gt;&lt;/mtd&gt;&lt;/mtr&gt;&lt;mtr&gt;&lt;mtd&gt;&lt;mfrac&gt;&lt;mn&gt;14&lt;/mn&gt;&lt;mn&gt;3&lt;/mn&gt;&lt;/mfrac&gt;&lt;mtext&gt;&lt;/mtext&gt;&lt;mtext&gt;&lt;/mtext&gt;&lt;mtext&gt;&lt;/mtext&gt;&lt;mn&gt;3&lt;/mn&gt;&lt;mfrac&gt;&lt;mn&gt;2&lt;/mn&gt;&lt;mn&gt;3&lt;/mn&gt;&lt;/mfrac&gt;&lt;/mtd&gt;&lt;/mtr&gt;&lt;/mtable&gt;&lt;/math&gt;" id="1294" name="Google Shape;1294;p97" title="5 lines Line 1: thirteen halves 6 and one half Line 2: fifteen fourths 3 and three fourths Line 3: ten thirds 3 and one third Line 4: eleven halves 5 and one half Line 5: fourteen thirds 3 and two thirds"/>
          <p:cNvPicPr preferRelativeResize="0"/>
          <p:nvPr/>
        </p:nvPicPr>
        <p:blipFill rotWithShape="1">
          <a:blip r:embed="rId3">
            <a:alphaModFix/>
          </a:blip>
          <a:srcRect b="82156" l="61551" r="-4381" t="0"/>
          <a:stretch/>
        </p:blipFill>
        <p:spPr>
          <a:xfrm>
            <a:off x="4216838" y="3298075"/>
            <a:ext cx="865875" cy="91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}\ \ \ \ \ 6\frac{1}{2}\\&amp;#13;&amp;#10;\frac{15}{4}\ \ \ \ 3\frac{3}{4}\\&amp;#13;&amp;#10;\frac{10}{3}\ \ 3\frac{1}{3}\\&amp;#13;&amp;#10;\frac{11}{2}\ \ \ 5\frac{1}{2}\\&amp;#13;&amp;#10;\frac{14}{3}\ \ \ 3\frac{2}{3}\end{array}&quot;&gt;&lt;mtable columnalign=&quot;left&quot; columnspacing=&quot;1em&quot; rowspacing=&quot;4pt&quot;&gt;&lt;mtr&gt;&lt;mtd&gt;&lt;mfrac&gt;&lt;mn&gt;13&lt;/mn&gt;&lt;mn&gt;2&lt;/mn&gt;&lt;/mfrac&gt;&lt;mtext&gt;&lt;/mtext&gt;&lt;mtext&gt;&lt;/mtext&gt;&lt;mtext&gt;&lt;/mtext&gt;&lt;mtext&gt;&lt;/mtext&gt;&lt;mtext&gt;&lt;/mtext&gt;&lt;mn&gt;6&lt;/mn&gt;&lt;mfrac&gt;&lt;mn&gt;1&lt;/mn&gt;&lt;mn&gt;2&lt;/mn&gt;&lt;/mfrac&gt;&lt;/mtd&gt;&lt;/mtr&gt;&lt;mtr&gt;&lt;mtd&gt;&lt;mfrac&gt;&lt;mn&gt;15&lt;/mn&gt;&lt;mn&gt;4&lt;/mn&gt;&lt;/mfrac&gt;&lt;mtext&gt;&lt;/mtext&gt;&lt;mtext&gt;&lt;/mtext&gt;&lt;mtext&gt;&lt;/mtext&gt;&lt;mtext&gt;&lt;/mtext&gt;&lt;mn&gt;3&lt;/mn&gt;&lt;mfrac&gt;&lt;mn&gt;3&lt;/mn&gt;&lt;mn&gt;4&lt;/mn&gt;&lt;/mfrac&gt;&lt;/mtd&gt;&lt;/mtr&gt;&lt;mtr&gt;&lt;mtd&gt;&lt;mfrac&gt;&lt;mn&gt;10&lt;/mn&gt;&lt;mn&gt;3&lt;/mn&gt;&lt;/mfrac&gt;&lt;mtext&gt;&lt;/mtext&gt;&lt;mtext&gt;&lt;/mtext&gt;&lt;mn&gt;3&lt;/mn&gt;&lt;mfrac&gt;&lt;mn&gt;1&lt;/mn&gt;&lt;mn&gt;3&lt;/mn&gt;&lt;/mfrac&gt;&lt;/mtd&gt;&lt;/mtr&gt;&lt;mtr&gt;&lt;mtd&gt;&lt;mfrac&gt;&lt;mn&gt;11&lt;/mn&gt;&lt;mn&gt;2&lt;/mn&gt;&lt;/mfrac&gt;&lt;mtext&gt;&lt;/mtext&gt;&lt;mtext&gt;&lt;/mtext&gt;&lt;mtext&gt;&lt;/mtext&gt;&lt;mn&gt;5&lt;/mn&gt;&lt;mfrac&gt;&lt;mn&gt;1&lt;/mn&gt;&lt;mn&gt;2&lt;/mn&gt;&lt;/mfrac&gt;&lt;/mtd&gt;&lt;/mtr&gt;&lt;mtr&gt;&lt;mtd&gt;&lt;mfrac&gt;&lt;mn&gt;14&lt;/mn&gt;&lt;mn&gt;3&lt;/mn&gt;&lt;/mfrac&gt;&lt;mtext&gt;&lt;/mtext&gt;&lt;mtext&gt;&lt;/mtext&gt;&lt;mtext&gt;&lt;/mtext&gt;&lt;mn&gt;3&lt;/mn&gt;&lt;mfrac&gt;&lt;mn&gt;2&lt;/mn&gt;&lt;mn&gt;3&lt;/mn&gt;&lt;/mfrac&gt;&lt;/mtd&gt;&lt;/mtr&gt;&lt;/mtable&gt;&lt;/math&gt;" id="1295" name="Google Shape;1295;p97" title="5 lines Line 1: thirteen halves 6 and one half Line 2: fifteen fourths 3 and three fourths Line 3: ten thirds 3 and one third Line 4: eleven halves 5 and one half Line 5: fourteen thirds 3 and two thirds"/>
          <p:cNvPicPr preferRelativeResize="0"/>
          <p:nvPr/>
        </p:nvPicPr>
        <p:blipFill rotWithShape="1">
          <a:blip r:embed="rId3">
            <a:alphaModFix/>
          </a:blip>
          <a:srcRect b="61512" l="0" r="68989" t="20644"/>
          <a:stretch/>
        </p:blipFill>
        <p:spPr>
          <a:xfrm>
            <a:off x="2695884" y="1718625"/>
            <a:ext cx="626925" cy="91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}\ \ \ \ \ 6\frac{1}{2}\\&amp;#13;&amp;#10;\frac{15}{4}\ \ \ \ 3\frac{3}{4}\\&amp;#13;&amp;#10;\frac{10}{3}\ \ 3\frac{1}{3}\\&amp;#13;&amp;#10;\frac{11}{2}\ \ \ 5\frac{1}{2}\\&amp;#13;&amp;#10;\frac{14}{3}\ \ \ 3\frac{2}{3}\end{array}&quot;&gt;&lt;mtable columnalign=&quot;left&quot; columnspacing=&quot;1em&quot; rowspacing=&quot;4pt&quot;&gt;&lt;mtr&gt;&lt;mtd&gt;&lt;mfrac&gt;&lt;mn&gt;13&lt;/mn&gt;&lt;mn&gt;2&lt;/mn&gt;&lt;/mfrac&gt;&lt;mtext&gt;&lt;/mtext&gt;&lt;mtext&gt;&lt;/mtext&gt;&lt;mtext&gt;&lt;/mtext&gt;&lt;mtext&gt;&lt;/mtext&gt;&lt;mtext&gt;&lt;/mtext&gt;&lt;mn&gt;6&lt;/mn&gt;&lt;mfrac&gt;&lt;mn&gt;1&lt;/mn&gt;&lt;mn&gt;2&lt;/mn&gt;&lt;/mfrac&gt;&lt;/mtd&gt;&lt;/mtr&gt;&lt;mtr&gt;&lt;mtd&gt;&lt;mfrac&gt;&lt;mn&gt;15&lt;/mn&gt;&lt;mn&gt;4&lt;/mn&gt;&lt;/mfrac&gt;&lt;mtext&gt;&lt;/mtext&gt;&lt;mtext&gt;&lt;/mtext&gt;&lt;mtext&gt;&lt;/mtext&gt;&lt;mtext&gt;&lt;/mtext&gt;&lt;mn&gt;3&lt;/mn&gt;&lt;mfrac&gt;&lt;mn&gt;3&lt;/mn&gt;&lt;mn&gt;4&lt;/mn&gt;&lt;/mfrac&gt;&lt;/mtd&gt;&lt;/mtr&gt;&lt;mtr&gt;&lt;mtd&gt;&lt;mfrac&gt;&lt;mn&gt;10&lt;/mn&gt;&lt;mn&gt;3&lt;/mn&gt;&lt;/mfrac&gt;&lt;mtext&gt;&lt;/mtext&gt;&lt;mtext&gt;&lt;/mtext&gt;&lt;mn&gt;3&lt;/mn&gt;&lt;mfrac&gt;&lt;mn&gt;1&lt;/mn&gt;&lt;mn&gt;3&lt;/mn&gt;&lt;/mfrac&gt;&lt;/mtd&gt;&lt;/mtr&gt;&lt;mtr&gt;&lt;mtd&gt;&lt;mfrac&gt;&lt;mn&gt;11&lt;/mn&gt;&lt;mn&gt;2&lt;/mn&gt;&lt;/mfrac&gt;&lt;mtext&gt;&lt;/mtext&gt;&lt;mtext&gt;&lt;/mtext&gt;&lt;mtext&gt;&lt;/mtext&gt;&lt;mn&gt;5&lt;/mn&gt;&lt;mfrac&gt;&lt;mn&gt;1&lt;/mn&gt;&lt;mn&gt;2&lt;/mn&gt;&lt;/mfrac&gt;&lt;/mtd&gt;&lt;/mtr&gt;&lt;mtr&gt;&lt;mtd&gt;&lt;mfrac&gt;&lt;mn&gt;14&lt;/mn&gt;&lt;mn&gt;3&lt;/mn&gt;&lt;/mfrac&gt;&lt;mtext&gt;&lt;/mtext&gt;&lt;mtext&gt;&lt;/mtext&gt;&lt;mtext&gt;&lt;/mtext&gt;&lt;mn&gt;3&lt;/mn&gt;&lt;mfrac&gt;&lt;mn&gt;2&lt;/mn&gt;&lt;mn&gt;3&lt;/mn&gt;&lt;/mfrac&gt;&lt;/mtd&gt;&lt;/mtr&gt;&lt;/mtable&gt;&lt;/math&gt;" id="1296" name="Google Shape;1296;p97" title="5 lines Line 1: thirteen halves 6 and one half Line 2: fifteen fourths 3 and three fourths Line 3: ten thirds 3 and one third Line 4: eleven halves 5 and one half Line 5: fourteen thirds 3 and two thirds"/>
          <p:cNvPicPr preferRelativeResize="0"/>
          <p:nvPr/>
        </p:nvPicPr>
        <p:blipFill rotWithShape="1">
          <a:blip r:embed="rId3">
            <a:alphaModFix/>
          </a:blip>
          <a:srcRect b="41078" l="0" r="68989" t="41078"/>
          <a:stretch/>
        </p:blipFill>
        <p:spPr>
          <a:xfrm>
            <a:off x="4286544" y="1718625"/>
            <a:ext cx="626925" cy="91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}\ \ \ \ \ 6\frac{1}{2}\\&amp;#13;&amp;#10;\frac{15}{4}\ \ \ \ 3\frac{3}{4}\\&amp;#13;&amp;#10;\frac{10}{3}\ \ 3\frac{1}{3}\\&amp;#13;&amp;#10;\frac{11}{2}\ \ \ 5\frac{1}{2}\\&amp;#13;&amp;#10;\frac{14}{3}\ \ \ 3\frac{2}{3}\end{array}&quot;&gt;&lt;mtable columnalign=&quot;left&quot; columnspacing=&quot;1em&quot; rowspacing=&quot;4pt&quot;&gt;&lt;mtr&gt;&lt;mtd&gt;&lt;mfrac&gt;&lt;mn&gt;13&lt;/mn&gt;&lt;mn&gt;2&lt;/mn&gt;&lt;/mfrac&gt;&lt;mtext&gt;&lt;/mtext&gt;&lt;mtext&gt;&lt;/mtext&gt;&lt;mtext&gt;&lt;/mtext&gt;&lt;mtext&gt;&lt;/mtext&gt;&lt;mtext&gt;&lt;/mtext&gt;&lt;mn&gt;6&lt;/mn&gt;&lt;mfrac&gt;&lt;mn&gt;1&lt;/mn&gt;&lt;mn&gt;2&lt;/mn&gt;&lt;/mfrac&gt;&lt;/mtd&gt;&lt;/mtr&gt;&lt;mtr&gt;&lt;mtd&gt;&lt;mfrac&gt;&lt;mn&gt;15&lt;/mn&gt;&lt;mn&gt;4&lt;/mn&gt;&lt;/mfrac&gt;&lt;mtext&gt;&lt;/mtext&gt;&lt;mtext&gt;&lt;/mtext&gt;&lt;mtext&gt;&lt;/mtext&gt;&lt;mtext&gt;&lt;/mtext&gt;&lt;mn&gt;3&lt;/mn&gt;&lt;mfrac&gt;&lt;mn&gt;3&lt;/mn&gt;&lt;mn&gt;4&lt;/mn&gt;&lt;/mfrac&gt;&lt;/mtd&gt;&lt;/mtr&gt;&lt;mtr&gt;&lt;mtd&gt;&lt;mfrac&gt;&lt;mn&gt;10&lt;/mn&gt;&lt;mn&gt;3&lt;/mn&gt;&lt;/mfrac&gt;&lt;mtext&gt;&lt;/mtext&gt;&lt;mtext&gt;&lt;/mtext&gt;&lt;mn&gt;3&lt;/mn&gt;&lt;mfrac&gt;&lt;mn&gt;1&lt;/mn&gt;&lt;mn&gt;3&lt;/mn&gt;&lt;/mfrac&gt;&lt;/mtd&gt;&lt;/mtr&gt;&lt;mtr&gt;&lt;mtd&gt;&lt;mfrac&gt;&lt;mn&gt;11&lt;/mn&gt;&lt;mn&gt;2&lt;/mn&gt;&lt;/mfrac&gt;&lt;mtext&gt;&lt;/mtext&gt;&lt;mtext&gt;&lt;/mtext&gt;&lt;mtext&gt;&lt;/mtext&gt;&lt;mn&gt;5&lt;/mn&gt;&lt;mfrac&gt;&lt;mn&gt;1&lt;/mn&gt;&lt;mn&gt;2&lt;/mn&gt;&lt;/mfrac&gt;&lt;/mtd&gt;&lt;/mtr&gt;&lt;mtr&gt;&lt;mtd&gt;&lt;mfrac&gt;&lt;mn&gt;14&lt;/mn&gt;&lt;mn&gt;3&lt;/mn&gt;&lt;/mfrac&gt;&lt;mtext&gt;&lt;/mtext&gt;&lt;mtext&gt;&lt;/mtext&gt;&lt;mtext&gt;&lt;/mtext&gt;&lt;mn&gt;3&lt;/mn&gt;&lt;mfrac&gt;&lt;mn&gt;2&lt;/mn&gt;&lt;mn&gt;3&lt;/mn&gt;&lt;/mfrac&gt;&lt;/mtd&gt;&lt;/mtr&gt;&lt;/mtable&gt;&lt;/math&gt;" id="1297" name="Google Shape;1297;p97" title="5 lines Line 1: thirteen halves 6 and one half Line 2: fifteen fourths 3 and three fourths Line 3: ten thirds 3 and one third Line 4: eleven halves 5 and one half Line 5: fourteen thirds 3 and two thirds"/>
          <p:cNvPicPr preferRelativeResize="0"/>
          <p:nvPr/>
        </p:nvPicPr>
        <p:blipFill rotWithShape="1">
          <a:blip r:embed="rId3">
            <a:alphaModFix/>
          </a:blip>
          <a:srcRect b="18855" l="-4490" r="73479" t="61724"/>
          <a:stretch/>
        </p:blipFill>
        <p:spPr>
          <a:xfrm>
            <a:off x="5877203" y="1718625"/>
            <a:ext cx="626925" cy="99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}\ \ \ \ \ 6\frac{1}{2}\\&amp;#13;&amp;#10;\frac{15}{4}\ \ \ \ 3\frac{3}{4}\\&amp;#13;&amp;#10;\frac{10}{3}\ \ 3\frac{1}{3}\\&amp;#13;&amp;#10;\frac{11}{2}\ \ \ 5\frac{1}{2}\\&amp;#13;&amp;#10;\frac{14}{3}\ \ \ 3\frac{2}{3}\end{array}&quot;&gt;&lt;mtable columnalign=&quot;left&quot; columnspacing=&quot;1em&quot; rowspacing=&quot;4pt&quot;&gt;&lt;mtr&gt;&lt;mtd&gt;&lt;mfrac&gt;&lt;mn&gt;13&lt;/mn&gt;&lt;mn&gt;2&lt;/mn&gt;&lt;/mfrac&gt;&lt;mtext&gt;&lt;/mtext&gt;&lt;mtext&gt;&lt;/mtext&gt;&lt;mtext&gt;&lt;/mtext&gt;&lt;mtext&gt;&lt;/mtext&gt;&lt;mtext&gt;&lt;/mtext&gt;&lt;mn&gt;6&lt;/mn&gt;&lt;mfrac&gt;&lt;mn&gt;1&lt;/mn&gt;&lt;mn&gt;2&lt;/mn&gt;&lt;/mfrac&gt;&lt;/mtd&gt;&lt;/mtr&gt;&lt;mtr&gt;&lt;mtd&gt;&lt;mfrac&gt;&lt;mn&gt;15&lt;/mn&gt;&lt;mn&gt;4&lt;/mn&gt;&lt;/mfrac&gt;&lt;mtext&gt;&lt;/mtext&gt;&lt;mtext&gt;&lt;/mtext&gt;&lt;mtext&gt;&lt;/mtext&gt;&lt;mtext&gt;&lt;/mtext&gt;&lt;mn&gt;3&lt;/mn&gt;&lt;mfrac&gt;&lt;mn&gt;3&lt;/mn&gt;&lt;mn&gt;4&lt;/mn&gt;&lt;/mfrac&gt;&lt;/mtd&gt;&lt;/mtr&gt;&lt;mtr&gt;&lt;mtd&gt;&lt;mfrac&gt;&lt;mn&gt;10&lt;/mn&gt;&lt;mn&gt;3&lt;/mn&gt;&lt;/mfrac&gt;&lt;mtext&gt;&lt;/mtext&gt;&lt;mtext&gt;&lt;/mtext&gt;&lt;mn&gt;3&lt;/mn&gt;&lt;mfrac&gt;&lt;mn&gt;1&lt;/mn&gt;&lt;mn&gt;3&lt;/mn&gt;&lt;/mfrac&gt;&lt;/mtd&gt;&lt;/mtr&gt;&lt;mtr&gt;&lt;mtd&gt;&lt;mfrac&gt;&lt;mn&gt;11&lt;/mn&gt;&lt;mn&gt;2&lt;/mn&gt;&lt;/mfrac&gt;&lt;mtext&gt;&lt;/mtext&gt;&lt;mtext&gt;&lt;/mtext&gt;&lt;mtext&gt;&lt;/mtext&gt;&lt;mn&gt;5&lt;/mn&gt;&lt;mfrac&gt;&lt;mn&gt;1&lt;/mn&gt;&lt;mn&gt;2&lt;/mn&gt;&lt;/mfrac&gt;&lt;/mtd&gt;&lt;/mtr&gt;&lt;mtr&gt;&lt;mtd&gt;&lt;mfrac&gt;&lt;mn&gt;14&lt;/mn&gt;&lt;mn&gt;3&lt;/mn&gt;&lt;/mfrac&gt;&lt;mtext&gt;&lt;/mtext&gt;&lt;mtext&gt;&lt;/mtext&gt;&lt;mtext&gt;&lt;/mtext&gt;&lt;mn&gt;3&lt;/mn&gt;&lt;mfrac&gt;&lt;mn&gt;2&lt;/mn&gt;&lt;mn&gt;3&lt;/mn&gt;&lt;/mfrac&gt;&lt;/mtd&gt;&lt;/mtr&gt;&lt;/mtable&gt;&lt;/math&gt;" id="1298" name="Google Shape;1298;p97" title="5 lines Line 1: thirteen halves 6 and one half Line 2: fifteen fourths 3 and three fourths Line 3: ten thirds 3 and one third Line 4: eleven halves 5 and one half Line 5: fourteen thirds 3 and two thirds"/>
          <p:cNvPicPr preferRelativeResize="0"/>
          <p:nvPr/>
        </p:nvPicPr>
        <p:blipFill rotWithShape="1">
          <a:blip r:embed="rId3">
            <a:alphaModFix/>
          </a:blip>
          <a:srcRect b="-1705" l="-4080" r="73070" t="82284"/>
          <a:stretch/>
        </p:blipFill>
        <p:spPr>
          <a:xfrm>
            <a:off x="7467863" y="1718625"/>
            <a:ext cx="626925" cy="99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}\ \ \ \ \ 6\frac{1}{2}\\&amp;#13;&amp;#10;\frac{15}{4}\ \ \ \ 3\frac{3}{4}\\&amp;#13;&amp;#10;\frac{10}{3}\ \ 3\frac{1}{3}\\&amp;#13;&amp;#10;\frac{11}{2}\ \ \ 5\frac{1}{2}\\&amp;#13;&amp;#10;\frac{14}{3}\ \ \ 3\frac{2}{3}\end{array}&quot;&gt;&lt;mtable columnalign=&quot;left&quot; columnspacing=&quot;1em&quot; rowspacing=&quot;4pt&quot;&gt;&lt;mtr&gt;&lt;mtd&gt;&lt;mfrac&gt;&lt;mn&gt;13&lt;/mn&gt;&lt;mn&gt;2&lt;/mn&gt;&lt;/mfrac&gt;&lt;mtext&gt;&lt;/mtext&gt;&lt;mtext&gt;&lt;/mtext&gt;&lt;mtext&gt;&lt;/mtext&gt;&lt;mtext&gt;&lt;/mtext&gt;&lt;mtext&gt;&lt;/mtext&gt;&lt;mn&gt;6&lt;/mn&gt;&lt;mfrac&gt;&lt;mn&gt;1&lt;/mn&gt;&lt;mn&gt;2&lt;/mn&gt;&lt;/mfrac&gt;&lt;/mtd&gt;&lt;/mtr&gt;&lt;mtr&gt;&lt;mtd&gt;&lt;mfrac&gt;&lt;mn&gt;15&lt;/mn&gt;&lt;mn&gt;4&lt;/mn&gt;&lt;/mfrac&gt;&lt;mtext&gt;&lt;/mtext&gt;&lt;mtext&gt;&lt;/mtext&gt;&lt;mtext&gt;&lt;/mtext&gt;&lt;mtext&gt;&lt;/mtext&gt;&lt;mn&gt;3&lt;/mn&gt;&lt;mfrac&gt;&lt;mn&gt;3&lt;/mn&gt;&lt;mn&gt;4&lt;/mn&gt;&lt;/mfrac&gt;&lt;/mtd&gt;&lt;/mtr&gt;&lt;mtr&gt;&lt;mtd&gt;&lt;mfrac&gt;&lt;mn&gt;10&lt;/mn&gt;&lt;mn&gt;3&lt;/mn&gt;&lt;/mfrac&gt;&lt;mtext&gt;&lt;/mtext&gt;&lt;mtext&gt;&lt;/mtext&gt;&lt;mn&gt;3&lt;/mn&gt;&lt;mfrac&gt;&lt;mn&gt;1&lt;/mn&gt;&lt;mn&gt;3&lt;/mn&gt;&lt;/mfrac&gt;&lt;/mtd&gt;&lt;/mtr&gt;&lt;mtr&gt;&lt;mtd&gt;&lt;mfrac&gt;&lt;mn&gt;11&lt;/mn&gt;&lt;mn&gt;2&lt;/mn&gt;&lt;/mfrac&gt;&lt;mtext&gt;&lt;/mtext&gt;&lt;mtext&gt;&lt;/mtext&gt;&lt;mtext&gt;&lt;/mtext&gt;&lt;mn&gt;5&lt;/mn&gt;&lt;mfrac&gt;&lt;mn&gt;1&lt;/mn&gt;&lt;mn&gt;2&lt;/mn&gt;&lt;/mfrac&gt;&lt;/mtd&gt;&lt;/mtr&gt;&lt;mtr&gt;&lt;mtd&gt;&lt;mfrac&gt;&lt;mn&gt;14&lt;/mn&gt;&lt;mn&gt;3&lt;/mn&gt;&lt;/mfrac&gt;&lt;mtext&gt;&lt;/mtext&gt;&lt;mtext&gt;&lt;/mtext&gt;&lt;mtext&gt;&lt;/mtext&gt;&lt;mn&gt;3&lt;/mn&gt;&lt;mfrac&gt;&lt;mn&gt;2&lt;/mn&gt;&lt;mn&gt;3&lt;/mn&gt;&lt;/mfrac&gt;&lt;/mtd&gt;&lt;/mtr&gt;&lt;/mtable&gt;&lt;/math&gt;" id="1299" name="Google Shape;1299;p97" title="5 lines Line 1: thirteen halves 6 and one half Line 2: fifteen fourths 3 and three fourths Line 3: ten thirds 3 and one third Line 4: eleven halves 5 and one half Line 5: fourteen thirds 3 and two thirds"/>
          <p:cNvPicPr preferRelativeResize="0"/>
          <p:nvPr/>
        </p:nvPicPr>
        <p:blipFill rotWithShape="1">
          <a:blip r:embed="rId3">
            <a:alphaModFix/>
          </a:blip>
          <a:srcRect b="61305" l="57169" r="0" t="20851"/>
          <a:stretch/>
        </p:blipFill>
        <p:spPr>
          <a:xfrm>
            <a:off x="5876800" y="3298075"/>
            <a:ext cx="865875" cy="91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}\ \ \ \ \ 6\frac{1}{2}\\&amp;#13;&amp;#10;\frac{15}{4}\ \ \ \ 3\frac{3}{4}\\&amp;#13;&amp;#10;\frac{10}{3}\ \ 3\frac{1}{3}\\&amp;#13;&amp;#10;\frac{11}{2}\ \ \ 5\frac{1}{2}\\&amp;#13;&amp;#10;\frac{14}{3}\ \ \ 3\frac{2}{3}\end{array}&quot;&gt;&lt;mtable columnalign=&quot;left&quot; columnspacing=&quot;1em&quot; rowspacing=&quot;4pt&quot;&gt;&lt;mtr&gt;&lt;mtd&gt;&lt;mfrac&gt;&lt;mn&gt;13&lt;/mn&gt;&lt;mn&gt;2&lt;/mn&gt;&lt;/mfrac&gt;&lt;mtext&gt;&lt;/mtext&gt;&lt;mtext&gt;&lt;/mtext&gt;&lt;mtext&gt;&lt;/mtext&gt;&lt;mtext&gt;&lt;/mtext&gt;&lt;mtext&gt;&lt;/mtext&gt;&lt;mn&gt;6&lt;/mn&gt;&lt;mfrac&gt;&lt;mn&gt;1&lt;/mn&gt;&lt;mn&gt;2&lt;/mn&gt;&lt;/mfrac&gt;&lt;/mtd&gt;&lt;/mtr&gt;&lt;mtr&gt;&lt;mtd&gt;&lt;mfrac&gt;&lt;mn&gt;15&lt;/mn&gt;&lt;mn&gt;4&lt;/mn&gt;&lt;/mfrac&gt;&lt;mtext&gt;&lt;/mtext&gt;&lt;mtext&gt;&lt;/mtext&gt;&lt;mtext&gt;&lt;/mtext&gt;&lt;mtext&gt;&lt;/mtext&gt;&lt;mn&gt;3&lt;/mn&gt;&lt;mfrac&gt;&lt;mn&gt;3&lt;/mn&gt;&lt;mn&gt;4&lt;/mn&gt;&lt;/mfrac&gt;&lt;/mtd&gt;&lt;/mtr&gt;&lt;mtr&gt;&lt;mtd&gt;&lt;mfrac&gt;&lt;mn&gt;10&lt;/mn&gt;&lt;mn&gt;3&lt;/mn&gt;&lt;/mfrac&gt;&lt;mtext&gt;&lt;/mtext&gt;&lt;mtext&gt;&lt;/mtext&gt;&lt;mn&gt;3&lt;/mn&gt;&lt;mfrac&gt;&lt;mn&gt;1&lt;/mn&gt;&lt;mn&gt;3&lt;/mn&gt;&lt;/mfrac&gt;&lt;/mtd&gt;&lt;/mtr&gt;&lt;mtr&gt;&lt;mtd&gt;&lt;mfrac&gt;&lt;mn&gt;11&lt;/mn&gt;&lt;mn&gt;2&lt;/mn&gt;&lt;/mfrac&gt;&lt;mtext&gt;&lt;/mtext&gt;&lt;mtext&gt;&lt;/mtext&gt;&lt;mtext&gt;&lt;/mtext&gt;&lt;mn&gt;5&lt;/mn&gt;&lt;mfrac&gt;&lt;mn&gt;1&lt;/mn&gt;&lt;mn&gt;2&lt;/mn&gt;&lt;/mfrac&gt;&lt;/mtd&gt;&lt;/mtr&gt;&lt;mtr&gt;&lt;mtd&gt;&lt;mfrac&gt;&lt;mn&gt;14&lt;/mn&gt;&lt;mn&gt;3&lt;/mn&gt;&lt;/mfrac&gt;&lt;mtext&gt;&lt;/mtext&gt;&lt;mtext&gt;&lt;/mtext&gt;&lt;mtext&gt;&lt;/mtext&gt;&lt;mn&gt;3&lt;/mn&gt;&lt;mfrac&gt;&lt;mn&gt;2&lt;/mn&gt;&lt;mn&gt;3&lt;/mn&gt;&lt;/mfrac&gt;&lt;/mtd&gt;&lt;/mtr&gt;&lt;/mtable&gt;&lt;/math&gt;" id="1300" name="Google Shape;1300;p97" title="5 lines Line 1: thirteen halves 6 and one half Line 2: fifteen fourths 3 and three fourths Line 3: ten thirds 3 and one third Line 4: eleven halves 5 and one half Line 5: fourteen thirds 3 and two thirds"/>
          <p:cNvPicPr preferRelativeResize="0"/>
          <p:nvPr/>
        </p:nvPicPr>
        <p:blipFill rotWithShape="1">
          <a:blip r:embed="rId3">
            <a:alphaModFix/>
          </a:blip>
          <a:srcRect b="41078" l="36868" r="20301" t="41078"/>
          <a:stretch/>
        </p:blipFill>
        <p:spPr>
          <a:xfrm>
            <a:off x="951713" y="3298075"/>
            <a:ext cx="865875" cy="91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}\ \ \ \ \ 6\frac{1}{2}\\&amp;#13;&amp;#10;\frac{15}{4}\ \ \ \ 3\frac{3}{4}\\&amp;#13;&amp;#10;\frac{10}{3}\ \ 3\frac{1}{3}\\&amp;#13;&amp;#10;\frac{11}{2}\ \ \ 5\frac{1}{2}\\&amp;#13;&amp;#10;\frac{14}{3}\ \ \ 3\frac{2}{3}\end{array}&quot;&gt;&lt;mtable columnalign=&quot;left&quot; columnspacing=&quot;1em&quot; rowspacing=&quot;4pt&quot;&gt;&lt;mtr&gt;&lt;mtd&gt;&lt;mfrac&gt;&lt;mn&gt;13&lt;/mn&gt;&lt;mn&gt;2&lt;/mn&gt;&lt;/mfrac&gt;&lt;mtext&gt;&lt;/mtext&gt;&lt;mtext&gt;&lt;/mtext&gt;&lt;mtext&gt;&lt;/mtext&gt;&lt;mtext&gt;&lt;/mtext&gt;&lt;mtext&gt;&lt;/mtext&gt;&lt;mn&gt;6&lt;/mn&gt;&lt;mfrac&gt;&lt;mn&gt;1&lt;/mn&gt;&lt;mn&gt;2&lt;/mn&gt;&lt;/mfrac&gt;&lt;/mtd&gt;&lt;/mtr&gt;&lt;mtr&gt;&lt;mtd&gt;&lt;mfrac&gt;&lt;mn&gt;15&lt;/mn&gt;&lt;mn&gt;4&lt;/mn&gt;&lt;/mfrac&gt;&lt;mtext&gt;&lt;/mtext&gt;&lt;mtext&gt;&lt;/mtext&gt;&lt;mtext&gt;&lt;/mtext&gt;&lt;mtext&gt;&lt;/mtext&gt;&lt;mn&gt;3&lt;/mn&gt;&lt;mfrac&gt;&lt;mn&gt;3&lt;/mn&gt;&lt;mn&gt;4&lt;/mn&gt;&lt;/mfrac&gt;&lt;/mtd&gt;&lt;/mtr&gt;&lt;mtr&gt;&lt;mtd&gt;&lt;mfrac&gt;&lt;mn&gt;10&lt;/mn&gt;&lt;mn&gt;3&lt;/mn&gt;&lt;/mfrac&gt;&lt;mtext&gt;&lt;/mtext&gt;&lt;mtext&gt;&lt;/mtext&gt;&lt;mn&gt;3&lt;/mn&gt;&lt;mfrac&gt;&lt;mn&gt;1&lt;/mn&gt;&lt;mn&gt;3&lt;/mn&gt;&lt;/mfrac&gt;&lt;/mtd&gt;&lt;/mtr&gt;&lt;mtr&gt;&lt;mtd&gt;&lt;mfrac&gt;&lt;mn&gt;11&lt;/mn&gt;&lt;mn&gt;2&lt;/mn&gt;&lt;/mfrac&gt;&lt;mtext&gt;&lt;/mtext&gt;&lt;mtext&gt;&lt;/mtext&gt;&lt;mtext&gt;&lt;/mtext&gt;&lt;mn&gt;5&lt;/mn&gt;&lt;mfrac&gt;&lt;mn&gt;1&lt;/mn&gt;&lt;mn&gt;2&lt;/mn&gt;&lt;/mfrac&gt;&lt;/mtd&gt;&lt;/mtr&gt;&lt;mtr&gt;&lt;mtd&gt;&lt;mfrac&gt;&lt;mn&gt;14&lt;/mn&gt;&lt;mn&gt;3&lt;/mn&gt;&lt;/mfrac&gt;&lt;mtext&gt;&lt;/mtext&gt;&lt;mtext&gt;&lt;/mtext&gt;&lt;mtext&gt;&lt;/mtext&gt;&lt;mn&gt;3&lt;/mn&gt;&lt;mfrac&gt;&lt;mn&gt;2&lt;/mn&gt;&lt;mn&gt;3&lt;/mn&gt;&lt;/mfrac&gt;&lt;/mtd&gt;&lt;/mtr&gt;&lt;/mtable&gt;&lt;/math&gt;" id="1301" name="Google Shape;1301;p97" title="5 lines Line 1: thirteen halves 6 and one half Line 2: fifteen fourths 3 and three fourths Line 3: ten thirds 3 and one third Line 4: eleven halves 5 and one half Line 5: fourteen thirds 3 and two thirds"/>
          <p:cNvPicPr preferRelativeResize="0"/>
          <p:nvPr/>
        </p:nvPicPr>
        <p:blipFill rotWithShape="1">
          <a:blip r:embed="rId3">
            <a:alphaModFix/>
          </a:blip>
          <a:srcRect b="20044" l="46869" r="10300" t="62111"/>
          <a:stretch/>
        </p:blipFill>
        <p:spPr>
          <a:xfrm>
            <a:off x="2584275" y="3298075"/>
            <a:ext cx="865875" cy="917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2" name="Google Shape;1302;p97"/>
          <p:cNvCxnSpPr/>
          <p:nvPr/>
        </p:nvCxnSpPr>
        <p:spPr>
          <a:xfrm flipH="1" rot="10800000">
            <a:off x="1866600" y="2422350"/>
            <a:ext cx="2306400" cy="96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97"/>
          <p:cNvCxnSpPr/>
          <p:nvPr/>
        </p:nvCxnSpPr>
        <p:spPr>
          <a:xfrm flipH="1" rot="10800000">
            <a:off x="3446800" y="2422350"/>
            <a:ext cx="2306400" cy="96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97"/>
          <p:cNvCxnSpPr>
            <a:endCxn id="1294" idx="0"/>
          </p:cNvCxnSpPr>
          <p:nvPr/>
        </p:nvCxnSpPr>
        <p:spPr>
          <a:xfrm>
            <a:off x="1755675" y="2422375"/>
            <a:ext cx="2894100" cy="87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97"/>
          <p:cNvCxnSpPr/>
          <p:nvPr/>
        </p:nvCxnSpPr>
        <p:spPr>
          <a:xfrm>
            <a:off x="3376875" y="2236350"/>
            <a:ext cx="2604600" cy="104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4\frac{2}{3}&quot;&gt;&lt;mn&gt;4&lt;/mn&gt;&lt;mfrac&gt;&lt;mn&gt;2&lt;/mn&gt;&lt;mn&gt;3&lt;/mn&gt;&lt;/mfrac&gt;&lt;/math&gt;" id="1306" name="Google Shape;1306;p97" title="4 and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6775" y="3240000"/>
            <a:ext cx="574704" cy="96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7" name="Google Shape;1307;p97"/>
          <p:cNvCxnSpPr/>
          <p:nvPr/>
        </p:nvCxnSpPr>
        <p:spPr>
          <a:xfrm>
            <a:off x="7886725" y="2717500"/>
            <a:ext cx="19200" cy="393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98"/>
          <p:cNvSpPr txBox="1"/>
          <p:nvPr>
            <p:ph idx="1" type="body"/>
          </p:nvPr>
        </p:nvSpPr>
        <p:spPr>
          <a:xfrm>
            <a:off x="324000" y="759300"/>
            <a:ext cx="8237700" cy="28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 says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Is he correct? Explain. </a:t>
            </a:r>
            <a:endParaRPr/>
          </a:p>
        </p:txBody>
      </p:sp>
      <p:sp>
        <p:nvSpPr>
          <p:cNvPr id="1313" name="Google Shape;1313;p98"/>
          <p:cNvSpPr/>
          <p:nvPr/>
        </p:nvSpPr>
        <p:spPr>
          <a:xfrm>
            <a:off x="2414125" y="1037000"/>
            <a:ext cx="3525900" cy="1899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6}{4}=11\frac{1}{2}&quot;&gt;&lt;mfrac&gt;&lt;mn&gt;46&lt;/mn&gt;&lt;mn&gt;4&lt;/mn&gt;&lt;/mfrac&gt;&lt;mo&gt;=&lt;/mo&gt;&lt;mn&gt;11&lt;/mn&gt;&lt;mfrac&gt;&lt;mn&gt;1&lt;/mn&gt;&lt;mn&gt;2&lt;/mn&gt;&lt;/mfrac&gt;&lt;/math&gt;" id="1315" name="Google Shape;1315;p98" title="46 over 4 equals 11 and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7650" y="1422500"/>
            <a:ext cx="2171494" cy="105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6" name="Google Shape;1316;p98"/>
          <p:cNvGrpSpPr/>
          <p:nvPr/>
        </p:nvGrpSpPr>
        <p:grpSpPr>
          <a:xfrm>
            <a:off x="295550" y="3822423"/>
            <a:ext cx="8294609" cy="643552"/>
            <a:chOff x="324013" y="3797523"/>
            <a:chExt cx="8294609" cy="643552"/>
          </a:xfrm>
        </p:grpSpPr>
        <p:pic>
          <p:nvPicPr>
            <p:cNvPr descr="&lt;math xmlns=&quot;http://www.w3.org/1998/Math/MathML&quot; display=&quot;block&quot; data-is-equatio=&quot;1&quot; data-latex=&quot;\frac{46}{4}=\frac{23}{2}&quot;&gt;&lt;mfrac&gt;&lt;mn&gt;46&lt;/mn&gt;&lt;mn&gt;4&lt;/mn&gt;&lt;/mfrac&gt;&lt;mo&gt;=&lt;/mo&gt;&lt;mfrac&gt;&lt;mn&gt;23&lt;/mn&gt;&lt;mn&gt;2&lt;/mn&gt;&lt;/mfrac&gt;&lt;/math&gt;" id="1317" name="Google Shape;1317;p98" title="46 over 4 equals 23 over 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71325" y="3797523"/>
              <a:ext cx="1152675" cy="6367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8" name="Google Shape;1318;p98"/>
            <p:cNvSpPr txBox="1"/>
            <p:nvPr/>
          </p:nvSpPr>
          <p:spPr>
            <a:xfrm>
              <a:off x="324013" y="3885550"/>
              <a:ext cx="7885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Yes he is correct because             . This is then converted to </a:t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46}{4}=11\frac{1}{2}&quot;&gt;&lt;mfrac&gt;&lt;mn&gt;46&lt;/mn&gt;&lt;mn&gt;4&lt;/mn&gt;&lt;/mfrac&gt;&lt;mo&gt;=&lt;/mo&gt;&lt;mn&gt;11&lt;/mn&gt;&lt;mfrac&gt;&lt;mn&gt;1&lt;/mn&gt;&lt;mn&gt;2&lt;/mn&gt;&lt;/mfrac&gt;&lt;/math&gt;" id="1319" name="Google Shape;1319;p98" title="46 over 4 equals 11 and one half"/>
            <p:cNvPicPr preferRelativeResize="0"/>
            <p:nvPr/>
          </p:nvPicPr>
          <p:blipFill rotWithShape="1">
            <a:blip r:embed="rId3">
              <a:alphaModFix/>
            </a:blip>
            <a:srcRect b="0" l="56240" r="0" t="0"/>
            <a:stretch/>
          </p:blipFill>
          <p:spPr>
            <a:xfrm>
              <a:off x="8047075" y="3804300"/>
              <a:ext cx="571547" cy="636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99"/>
          <p:cNvSpPr txBox="1"/>
          <p:nvPr>
            <p:ph idx="1" type="body"/>
          </p:nvPr>
        </p:nvSpPr>
        <p:spPr>
          <a:xfrm>
            <a:off x="324000" y="759300"/>
            <a:ext cx="8561100" cy="6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Write the </a:t>
            </a:r>
            <a:r>
              <a:rPr b="1" lang="en-GB" sz="2100"/>
              <a:t>mixed number</a:t>
            </a:r>
            <a:r>
              <a:rPr lang="en-GB" sz="2100"/>
              <a:t> of the following </a:t>
            </a:r>
            <a:r>
              <a:rPr b="1" lang="en-GB" sz="2100"/>
              <a:t>improper fractions</a:t>
            </a:r>
            <a:r>
              <a:rPr lang="en-GB" sz="2100"/>
              <a:t>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  <p:sp>
        <p:nvSpPr>
          <p:cNvPr id="1325" name="Google Shape;1325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id="1326" name="Google Shape;1326;p99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 rotWithShape="1">
          <a:blip r:embed="rId3">
            <a:alphaModFix/>
          </a:blip>
          <a:srcRect b="0" l="0" r="69388" t="0"/>
          <a:stretch/>
        </p:blipFill>
        <p:spPr>
          <a:xfrm>
            <a:off x="976275" y="1377600"/>
            <a:ext cx="649725" cy="34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99"/>
          <p:cNvSpPr txBox="1"/>
          <p:nvPr/>
        </p:nvSpPr>
        <p:spPr>
          <a:xfrm>
            <a:off x="324000" y="13776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328" name="Google Shape;1328;p99"/>
          <p:cNvSpPr txBox="1"/>
          <p:nvPr/>
        </p:nvSpPr>
        <p:spPr>
          <a:xfrm>
            <a:off x="324000" y="22880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329" name="Google Shape;1329;p99"/>
          <p:cNvSpPr txBox="1"/>
          <p:nvPr/>
        </p:nvSpPr>
        <p:spPr>
          <a:xfrm>
            <a:off x="324000" y="3095776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1330" name="Google Shape;1330;p99"/>
          <p:cNvSpPr txBox="1"/>
          <p:nvPr/>
        </p:nvSpPr>
        <p:spPr>
          <a:xfrm>
            <a:off x="324000" y="3853776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100"/>
          <p:cNvSpPr txBox="1"/>
          <p:nvPr>
            <p:ph idx="1" type="body"/>
          </p:nvPr>
        </p:nvSpPr>
        <p:spPr>
          <a:xfrm>
            <a:off x="324000" y="759300"/>
            <a:ext cx="4131000" cy="4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Fill in the blanks.</a:t>
            </a:r>
            <a:endParaRPr/>
          </a:p>
        </p:txBody>
      </p:sp>
      <p:sp>
        <p:nvSpPr>
          <p:cNvPr id="1336" name="Google Shape;1336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00"/>
          <p:cNvSpPr txBox="1"/>
          <p:nvPr/>
        </p:nvSpPr>
        <p:spPr>
          <a:xfrm>
            <a:off x="324000" y="13014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338" name="Google Shape;1338;p100"/>
          <p:cNvSpPr txBox="1"/>
          <p:nvPr/>
        </p:nvSpPr>
        <p:spPr>
          <a:xfrm>
            <a:off x="324000" y="22118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339" name="Google Shape;1339;p100"/>
          <p:cNvSpPr txBox="1"/>
          <p:nvPr/>
        </p:nvSpPr>
        <p:spPr>
          <a:xfrm>
            <a:off x="324000" y="3019576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1340" name="Google Shape;1340;p100"/>
          <p:cNvSpPr txBox="1"/>
          <p:nvPr/>
        </p:nvSpPr>
        <p:spPr>
          <a:xfrm>
            <a:off x="324000" y="3777576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5}{6}=2\frac{1}{2}\\&amp;#13;&amp;#10;\frac{91}{6}=15\frac{1}{6}\\&amp;#13;&amp;#10;\frac{142}{4}=\frac{71}{2}=35\frac{1}{2}\\&amp;#13;&amp;#10;\frac{134}{8}=\frac{67}{4}=16\frac{3}{4}\end{array}&quot;&gt;&lt;mtable columnalign=&quot;left&quot; columnspacing=&quot;1em&quot; rowspacing=&quot;4pt&quot;&gt;&lt;mtr&gt;&lt;mtd&gt;&lt;mfrac&gt;&lt;mn&gt;15&lt;/mn&gt;&lt;mn&gt;6&lt;/mn&gt;&lt;/mfrac&gt;&lt;mo&gt;=&lt;/mo&gt;&lt;mn&gt;2&lt;/mn&gt;&lt;mfrac&gt;&lt;mn&gt;1&lt;/mn&gt;&lt;mn&gt;2&lt;/mn&gt;&lt;/mfrac&gt;&lt;/mtd&gt;&lt;/mtr&gt;&lt;mtr&gt;&lt;mtd&gt;&lt;mfrac&gt;&lt;mn&gt;91&lt;/mn&gt;&lt;mn&gt;6&lt;/mn&gt;&lt;/mfrac&gt;&lt;mo&gt;=&lt;/mo&gt;&lt;mn&gt;15&lt;/mn&gt;&lt;mfrac&gt;&lt;mn&gt;1&lt;/mn&gt;&lt;mn&gt;6&lt;/mn&gt;&lt;/mfrac&gt;&lt;/mtd&gt;&lt;/mtr&gt;&lt;mtr&gt;&lt;mtd&gt;&lt;mfrac&gt;&lt;mn&gt;142&lt;/mn&gt;&lt;mn&gt;4&lt;/mn&gt;&lt;/mfrac&gt;&lt;mo&gt;=&lt;/mo&gt;&lt;mfrac&gt;&lt;mn&gt;71&lt;/mn&gt;&lt;mn&gt;2&lt;/mn&gt;&lt;/mfrac&gt;&lt;mo&gt;=&lt;/mo&gt;&lt;mn&gt;35&lt;/mn&gt;&lt;mfrac&gt;&lt;mn&gt;1&lt;/mn&gt;&lt;mn&gt;2&lt;/mn&gt;&lt;/mfrac&gt;&lt;/mtd&gt;&lt;/mtr&gt;&lt;mtr&gt;&lt;mtd&gt;&lt;mfrac&gt;&lt;mn&gt;134&lt;/mn&gt;&lt;mn&gt;8&lt;/mn&gt;&lt;/mfrac&gt;&lt;mo&gt;=&lt;/mo&gt;&lt;mfrac&gt;&lt;mn&gt;67&lt;/mn&gt;&lt;mn&gt;4&lt;/mn&gt;&lt;/mfrac&gt;&lt;mo&gt;=&lt;/mo&gt;&lt;mn&gt;16&lt;/mn&gt;&lt;mfrac&gt;&lt;mn&gt;3&lt;/mn&gt;&lt;mn&gt;4&lt;/mn&gt;&lt;/mfrac&gt;&lt;/mtd&gt;&lt;/mtr&gt;&lt;/mtable&gt;&lt;/math&gt;" id="1341" name="Google Shape;1341;p100" title="4 lines Line 1: fifteen sixths equals 2 and one half Line 2: 91 over 6 equals 15 and one sixth Line 3: 142 over 4 equals 71 over 2 equals 35 and one half Line 4: 134 over 8 equals 67 over 4 equals 16 and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900" y="1301400"/>
            <a:ext cx="3074200" cy="31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100"/>
          <p:cNvSpPr/>
          <p:nvPr/>
        </p:nvSpPr>
        <p:spPr>
          <a:xfrm>
            <a:off x="2255900" y="1301399"/>
            <a:ext cx="382200" cy="710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100"/>
          <p:cNvSpPr/>
          <p:nvPr/>
        </p:nvSpPr>
        <p:spPr>
          <a:xfrm>
            <a:off x="2026700" y="2075974"/>
            <a:ext cx="382200" cy="710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100"/>
          <p:cNvSpPr/>
          <p:nvPr/>
        </p:nvSpPr>
        <p:spPr>
          <a:xfrm>
            <a:off x="2187375" y="3393050"/>
            <a:ext cx="382200" cy="292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0"/>
          <p:cNvSpPr/>
          <p:nvPr/>
        </p:nvSpPr>
        <p:spPr>
          <a:xfrm>
            <a:off x="3178500" y="3019575"/>
            <a:ext cx="513300" cy="579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100"/>
          <p:cNvSpPr/>
          <p:nvPr/>
        </p:nvSpPr>
        <p:spPr>
          <a:xfrm>
            <a:off x="3178500" y="3827375"/>
            <a:ext cx="513300" cy="579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100"/>
          <p:cNvSpPr/>
          <p:nvPr/>
        </p:nvSpPr>
        <p:spPr>
          <a:xfrm>
            <a:off x="2187375" y="3777575"/>
            <a:ext cx="382200" cy="292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01"/>
          <p:cNvSpPr txBox="1"/>
          <p:nvPr>
            <p:ph idx="1" type="body"/>
          </p:nvPr>
        </p:nvSpPr>
        <p:spPr>
          <a:xfrm>
            <a:off x="324000" y="759300"/>
            <a:ext cx="8229000" cy="4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Put the following numbers in ascending order (smallest to largest). Converting to a </a:t>
            </a:r>
            <a:r>
              <a:rPr b="1" lang="en-GB"/>
              <a:t>mixed number</a:t>
            </a:r>
            <a:r>
              <a:rPr lang="en-GB"/>
              <a:t> may help.</a:t>
            </a:r>
            <a:endParaRPr/>
          </a:p>
        </p:txBody>
      </p:sp>
      <p:sp>
        <p:nvSpPr>
          <p:cNvPr id="1353" name="Google Shape;1353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01"/>
          <p:cNvSpPr txBox="1"/>
          <p:nvPr/>
        </p:nvSpPr>
        <p:spPr>
          <a:xfrm>
            <a:off x="365475" y="18064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355" name="Google Shape;1355;p101"/>
          <p:cNvSpPr txBox="1"/>
          <p:nvPr/>
        </p:nvSpPr>
        <p:spPr>
          <a:xfrm>
            <a:off x="365475" y="343025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356" name="Google Shape;1356;p101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0" l="0" r="90470" t="0"/>
          <a:stretch/>
        </p:blipFill>
        <p:spPr>
          <a:xfrm>
            <a:off x="1953170" y="3282104"/>
            <a:ext cx="337910" cy="793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357" name="Google Shape;1357;p101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0" r="84937" t="0"/>
          <a:stretch/>
        </p:blipFill>
        <p:spPr>
          <a:xfrm>
            <a:off x="1746500" y="1846888"/>
            <a:ext cx="497005" cy="758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358" name="Google Shape;1358;p101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15783" r="67558" t="0"/>
          <a:stretch/>
        </p:blipFill>
        <p:spPr>
          <a:xfrm>
            <a:off x="1023420" y="1846888"/>
            <a:ext cx="549641" cy="758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359" name="Google Shape;1359;p101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31704" r="51637" t="0"/>
          <a:stretch/>
        </p:blipFill>
        <p:spPr>
          <a:xfrm>
            <a:off x="4163675" y="1846888"/>
            <a:ext cx="549641" cy="758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360" name="Google Shape;1360;p101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0" l="52362" r="30980" t="0"/>
          <a:stretch/>
        </p:blipFill>
        <p:spPr>
          <a:xfrm>
            <a:off x="2507680" y="1846888"/>
            <a:ext cx="549641" cy="758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361" name="Google Shape;1361;p101" title="9 over 11 1 and two thirds nine halves 4 and one fifth seventeen halves"/>
          <p:cNvPicPr preferRelativeResize="0"/>
          <p:nvPr/>
        </p:nvPicPr>
        <p:blipFill rotWithShape="1">
          <a:blip r:embed="rId4">
            <a:alphaModFix/>
          </a:blip>
          <a:srcRect b="-10" l="84621" r="-1279" t="-4635"/>
          <a:stretch/>
        </p:blipFill>
        <p:spPr>
          <a:xfrm>
            <a:off x="3418151" y="1846888"/>
            <a:ext cx="549641" cy="793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362" name="Google Shape;1362;p101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0" l="21500" r="67846" t="0"/>
          <a:stretch/>
        </p:blipFill>
        <p:spPr>
          <a:xfrm>
            <a:off x="2741965" y="3282104"/>
            <a:ext cx="377738" cy="793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363" name="Google Shape;1363;p101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-7032" l="46109" r="43238" t="0"/>
          <a:stretch/>
        </p:blipFill>
        <p:spPr>
          <a:xfrm>
            <a:off x="1124525" y="3282104"/>
            <a:ext cx="377738" cy="848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364" name="Google Shape;1364;p101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-3521" l="60131" r="17647" t="-3510"/>
          <a:stretch/>
        </p:blipFill>
        <p:spPr>
          <a:xfrm>
            <a:off x="4359410" y="3282104"/>
            <a:ext cx="787963" cy="848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365" name="Google Shape;1365;p101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-3521" l="82754" r="-4975" t="-3510"/>
          <a:stretch/>
        </p:blipFill>
        <p:spPr>
          <a:xfrm>
            <a:off x="3353761" y="3282104"/>
            <a:ext cx="787963" cy="848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id="1371" name="Google Shape;1371;p102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 rotWithShape="1">
          <a:blip r:embed="rId3">
            <a:alphaModFix/>
          </a:blip>
          <a:srcRect b="0" l="0" r="70169" t="0"/>
          <a:stretch/>
        </p:blipFill>
        <p:spPr>
          <a:xfrm>
            <a:off x="976275" y="1377600"/>
            <a:ext cx="633150" cy="34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102"/>
          <p:cNvSpPr txBox="1"/>
          <p:nvPr/>
        </p:nvSpPr>
        <p:spPr>
          <a:xfrm>
            <a:off x="324000" y="13776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373" name="Google Shape;1373;p102"/>
          <p:cNvSpPr txBox="1"/>
          <p:nvPr/>
        </p:nvSpPr>
        <p:spPr>
          <a:xfrm>
            <a:off x="324000" y="22880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374" name="Google Shape;1374;p102"/>
          <p:cNvSpPr txBox="1"/>
          <p:nvPr/>
        </p:nvSpPr>
        <p:spPr>
          <a:xfrm>
            <a:off x="324000" y="3095776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1375" name="Google Shape;1375;p102"/>
          <p:cNvSpPr txBox="1"/>
          <p:nvPr/>
        </p:nvSpPr>
        <p:spPr>
          <a:xfrm>
            <a:off x="324000" y="3853776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id="1376" name="Google Shape;1376;p102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 rotWithShape="1">
          <a:blip r:embed="rId3">
            <a:alphaModFix/>
          </a:blip>
          <a:srcRect b="77836" l="28121" r="16769" t="0"/>
          <a:stretch/>
        </p:blipFill>
        <p:spPr>
          <a:xfrm>
            <a:off x="1609425" y="1377600"/>
            <a:ext cx="1169725" cy="7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id="1377" name="Google Shape;1377;p102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 rotWithShape="1">
          <a:blip r:embed="rId3">
            <a:alphaModFix/>
          </a:blip>
          <a:srcRect b="53580" l="28513" r="16378" t="24255"/>
          <a:stretch/>
        </p:blipFill>
        <p:spPr>
          <a:xfrm>
            <a:off x="1609425" y="2225900"/>
            <a:ext cx="1169725" cy="7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id="1378" name="Google Shape;1378;p102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 rotWithShape="1">
          <a:blip r:embed="rId3">
            <a:alphaModFix/>
          </a:blip>
          <a:srcRect b="24663" l="34727" r="-3507" t="50472"/>
          <a:stretch/>
        </p:blipFill>
        <p:spPr>
          <a:xfrm>
            <a:off x="1609425" y="3095775"/>
            <a:ext cx="1459875" cy="85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id="1379" name="Google Shape;1379;p102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 rotWithShape="1">
          <a:blip r:embed="rId3">
            <a:alphaModFix/>
          </a:blip>
          <a:srcRect b="-2018" l="28096" r="3122" t="77154"/>
          <a:stretch/>
        </p:blipFill>
        <p:spPr>
          <a:xfrm>
            <a:off x="1464350" y="3971013"/>
            <a:ext cx="1459875" cy="85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02"/>
          <p:cNvSpPr txBox="1"/>
          <p:nvPr>
            <p:ph idx="1" type="body"/>
          </p:nvPr>
        </p:nvSpPr>
        <p:spPr>
          <a:xfrm>
            <a:off x="324000" y="759300"/>
            <a:ext cx="8561100" cy="6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Write the </a:t>
            </a:r>
            <a:r>
              <a:rPr b="1" lang="en-GB" sz="2100"/>
              <a:t>mixed number</a:t>
            </a:r>
            <a:r>
              <a:rPr lang="en-GB" sz="2100"/>
              <a:t> of the following </a:t>
            </a:r>
            <a:r>
              <a:rPr b="1" lang="en-GB" sz="2100"/>
              <a:t>improper fractions</a:t>
            </a:r>
            <a:r>
              <a:rPr lang="en-GB" sz="2100"/>
              <a:t>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03"/>
          <p:cNvSpPr txBox="1"/>
          <p:nvPr>
            <p:ph idx="1" type="body"/>
          </p:nvPr>
        </p:nvSpPr>
        <p:spPr>
          <a:xfrm>
            <a:off x="324000" y="759300"/>
            <a:ext cx="8237700" cy="47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/>
              <a:t>Fill in the blanks.</a:t>
            </a:r>
            <a:endParaRPr/>
          </a:p>
        </p:txBody>
      </p:sp>
      <p:sp>
        <p:nvSpPr>
          <p:cNvPr id="1386" name="Google Shape;1386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103"/>
          <p:cNvSpPr txBox="1"/>
          <p:nvPr/>
        </p:nvSpPr>
        <p:spPr>
          <a:xfrm>
            <a:off x="324000" y="13014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388" name="Google Shape;1388;p103"/>
          <p:cNvSpPr txBox="1"/>
          <p:nvPr/>
        </p:nvSpPr>
        <p:spPr>
          <a:xfrm>
            <a:off x="324000" y="22118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1389" name="Google Shape;1389;p103"/>
          <p:cNvSpPr txBox="1"/>
          <p:nvPr/>
        </p:nvSpPr>
        <p:spPr>
          <a:xfrm>
            <a:off x="324000" y="3019576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1390" name="Google Shape;1390;p103"/>
          <p:cNvSpPr txBox="1"/>
          <p:nvPr/>
        </p:nvSpPr>
        <p:spPr>
          <a:xfrm>
            <a:off x="324000" y="3777576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15}{6}=2\frac{1}{2}\\&amp;#13;&amp;#10;\frac{91}{6}=15\frac{1}{6}\\&amp;#13;&amp;#10;\frac{142}{4}=\frac{71}{2}=35\frac{1}{2}\\&amp;#13;&amp;#10;\frac{134}{8}=\frac{67}{4}=16\frac{3}{4}\end{array}&quot;&gt;&lt;mtable columnalign=&quot;left&quot; columnspacing=&quot;1em&quot; rowspacing=&quot;4pt&quot;&gt;&lt;mtr&gt;&lt;mtd&gt;&lt;mfrac&gt;&lt;mn&gt;15&lt;/mn&gt;&lt;mn&gt;6&lt;/mn&gt;&lt;/mfrac&gt;&lt;mo&gt;=&lt;/mo&gt;&lt;mn&gt;2&lt;/mn&gt;&lt;mfrac&gt;&lt;mn&gt;1&lt;/mn&gt;&lt;mn&gt;2&lt;/mn&gt;&lt;/mfrac&gt;&lt;/mtd&gt;&lt;/mtr&gt;&lt;mtr&gt;&lt;mtd&gt;&lt;mfrac&gt;&lt;mn&gt;91&lt;/mn&gt;&lt;mn&gt;6&lt;/mn&gt;&lt;/mfrac&gt;&lt;mo&gt;=&lt;/mo&gt;&lt;mn&gt;15&lt;/mn&gt;&lt;mfrac&gt;&lt;mn&gt;1&lt;/mn&gt;&lt;mn&gt;6&lt;/mn&gt;&lt;/mfrac&gt;&lt;/mtd&gt;&lt;/mtr&gt;&lt;mtr&gt;&lt;mtd&gt;&lt;mfrac&gt;&lt;mn&gt;142&lt;/mn&gt;&lt;mn&gt;4&lt;/mn&gt;&lt;/mfrac&gt;&lt;mo&gt;=&lt;/mo&gt;&lt;mfrac&gt;&lt;mn&gt;71&lt;/mn&gt;&lt;mn&gt;2&lt;/mn&gt;&lt;/mfrac&gt;&lt;mo&gt;=&lt;/mo&gt;&lt;mn&gt;35&lt;/mn&gt;&lt;mfrac&gt;&lt;mn&gt;1&lt;/mn&gt;&lt;mn&gt;2&lt;/mn&gt;&lt;/mfrac&gt;&lt;/mtd&gt;&lt;/mtr&gt;&lt;mtr&gt;&lt;mtd&gt;&lt;mfrac&gt;&lt;mn&gt;134&lt;/mn&gt;&lt;mn&gt;8&lt;/mn&gt;&lt;/mfrac&gt;&lt;mo&gt;=&lt;/mo&gt;&lt;mfrac&gt;&lt;mn&gt;67&lt;/mn&gt;&lt;mn&gt;4&lt;/mn&gt;&lt;/mfrac&gt;&lt;mo&gt;=&lt;/mo&gt;&lt;mn&gt;16&lt;/mn&gt;&lt;mfrac&gt;&lt;mn&gt;3&lt;/mn&gt;&lt;mn&gt;4&lt;/mn&gt;&lt;/mfrac&gt;&lt;/mtd&gt;&lt;/mtr&gt;&lt;/mtable&gt;&lt;/math&gt;" id="1391" name="Google Shape;1391;p103" title="4 lines Line 1: fifteen sixths equals 2 and one half Line 2: 91 over 6 equals 15 and one sixth Line 3: 142 over 4 equals 71 over 2 equals 35 and one half Line 4: 134 over 8 equals 67 over 4 equals 16 and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900" y="1301400"/>
            <a:ext cx="3074200" cy="31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03"/>
          <p:cNvSpPr/>
          <p:nvPr/>
        </p:nvSpPr>
        <p:spPr>
          <a:xfrm>
            <a:off x="2255900" y="1301399"/>
            <a:ext cx="382200" cy="7104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03"/>
          <p:cNvSpPr/>
          <p:nvPr/>
        </p:nvSpPr>
        <p:spPr>
          <a:xfrm>
            <a:off x="2026700" y="2075974"/>
            <a:ext cx="382200" cy="7104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03"/>
          <p:cNvSpPr/>
          <p:nvPr/>
        </p:nvSpPr>
        <p:spPr>
          <a:xfrm>
            <a:off x="2187375" y="3393050"/>
            <a:ext cx="382200" cy="2925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03"/>
          <p:cNvSpPr/>
          <p:nvPr/>
        </p:nvSpPr>
        <p:spPr>
          <a:xfrm>
            <a:off x="3178500" y="3019575"/>
            <a:ext cx="513300" cy="579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03"/>
          <p:cNvSpPr/>
          <p:nvPr/>
        </p:nvSpPr>
        <p:spPr>
          <a:xfrm>
            <a:off x="3178500" y="3827375"/>
            <a:ext cx="513300" cy="5796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103"/>
          <p:cNvSpPr/>
          <p:nvPr/>
        </p:nvSpPr>
        <p:spPr>
          <a:xfrm>
            <a:off x="2187375" y="3777575"/>
            <a:ext cx="382200" cy="292500"/>
          </a:xfrm>
          <a:prstGeom prst="rect">
            <a:avLst/>
          </a:prstGeom>
          <a:solidFill>
            <a:srgbClr val="E6F2F2"/>
          </a:solidFill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04"/>
          <p:cNvSpPr txBox="1"/>
          <p:nvPr>
            <p:ph idx="1" type="body"/>
          </p:nvPr>
        </p:nvSpPr>
        <p:spPr>
          <a:xfrm>
            <a:off x="324000" y="759300"/>
            <a:ext cx="8237700" cy="21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r>
              <a:rPr lang="en-GB"/>
              <a:t>Put the following numbers in ascending order (smallest to largest). Converting to a </a:t>
            </a:r>
            <a:r>
              <a:rPr b="1" lang="en-GB"/>
              <a:t>mixed number</a:t>
            </a:r>
            <a:r>
              <a:rPr lang="en-GB"/>
              <a:t> may help.</a:t>
            </a:r>
            <a:endParaRPr/>
          </a:p>
        </p:txBody>
      </p:sp>
      <p:sp>
        <p:nvSpPr>
          <p:cNvPr id="1403" name="Google Shape;1403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04"/>
          <p:cNvSpPr txBox="1"/>
          <p:nvPr/>
        </p:nvSpPr>
        <p:spPr>
          <a:xfrm>
            <a:off x="365475" y="1806400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405" name="Google Shape;1405;p104" title="9 over 11 1 and two thirds nine halves 4 and one fifth seventeen halves"/>
          <p:cNvPicPr preferRelativeResize="0"/>
          <p:nvPr/>
        </p:nvPicPr>
        <p:blipFill rotWithShape="1">
          <a:blip r:embed="rId3">
            <a:alphaModFix/>
          </a:blip>
          <a:srcRect b="0" l="0" r="84937" t="0"/>
          <a:stretch/>
        </p:blipFill>
        <p:spPr>
          <a:xfrm>
            <a:off x="1023429" y="3968875"/>
            <a:ext cx="460431" cy="70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406" name="Google Shape;1406;p104" title="9 over 11 1 and two thirds nine halves 4 and one fifth seventeen halves"/>
          <p:cNvPicPr preferRelativeResize="0"/>
          <p:nvPr/>
        </p:nvPicPr>
        <p:blipFill rotWithShape="1">
          <a:blip r:embed="rId3">
            <a:alphaModFix/>
          </a:blip>
          <a:srcRect b="0" l="15783" r="67558" t="0"/>
          <a:stretch/>
        </p:blipFill>
        <p:spPr>
          <a:xfrm>
            <a:off x="1858913" y="3968875"/>
            <a:ext cx="509194" cy="70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407" name="Google Shape;1407;p104" title="9 over 11 1 and two thirds nine halves 4 and one fifth seventeen halves"/>
          <p:cNvPicPr preferRelativeResize="0"/>
          <p:nvPr/>
        </p:nvPicPr>
        <p:blipFill rotWithShape="1">
          <a:blip r:embed="rId3">
            <a:alphaModFix/>
          </a:blip>
          <a:srcRect b="0" l="31704" r="51637" t="0"/>
          <a:stretch/>
        </p:blipFill>
        <p:spPr>
          <a:xfrm>
            <a:off x="3627406" y="3968875"/>
            <a:ext cx="509194" cy="70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408" name="Google Shape;1408;p104" title="9 over 11 1 and two thirds nine halves 4 and one fifth seventeen halves"/>
          <p:cNvPicPr preferRelativeResize="0"/>
          <p:nvPr/>
        </p:nvPicPr>
        <p:blipFill rotWithShape="1">
          <a:blip r:embed="rId3">
            <a:alphaModFix/>
          </a:blip>
          <a:srcRect b="0" l="52362" r="30980" t="0"/>
          <a:stretch/>
        </p:blipFill>
        <p:spPr>
          <a:xfrm>
            <a:off x="2743159" y="3968875"/>
            <a:ext cx="509194" cy="70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409" name="Google Shape;1409;p104" title="9 over 11 1 and two thirds nine halves 4 and one fifth seventeen halves"/>
          <p:cNvPicPr preferRelativeResize="0"/>
          <p:nvPr/>
        </p:nvPicPr>
        <p:blipFill rotWithShape="1">
          <a:blip r:embed="rId3">
            <a:alphaModFix/>
          </a:blip>
          <a:srcRect b="-10" l="84621" r="-1279" t="-4635"/>
          <a:stretch/>
        </p:blipFill>
        <p:spPr>
          <a:xfrm>
            <a:off x="4511653" y="3968875"/>
            <a:ext cx="509194" cy="734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410" name="Google Shape;1410;p104" title="9 over 11 1 and two thirds nine halves 4 and one fifth seventeen halves"/>
          <p:cNvPicPr preferRelativeResize="0"/>
          <p:nvPr/>
        </p:nvPicPr>
        <p:blipFill rotWithShape="1">
          <a:blip r:embed="rId3">
            <a:alphaModFix/>
          </a:blip>
          <a:srcRect b="0" l="0" r="84937" t="0"/>
          <a:stretch/>
        </p:blipFill>
        <p:spPr>
          <a:xfrm>
            <a:off x="1975100" y="1846888"/>
            <a:ext cx="497005" cy="758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411" name="Google Shape;1411;p104" title="9 over 11 1 and two thirds nine halves 4 and one fifth seventeen halves"/>
          <p:cNvPicPr preferRelativeResize="0"/>
          <p:nvPr/>
        </p:nvPicPr>
        <p:blipFill rotWithShape="1">
          <a:blip r:embed="rId3">
            <a:alphaModFix/>
          </a:blip>
          <a:srcRect b="0" l="15783" r="67558" t="0"/>
          <a:stretch/>
        </p:blipFill>
        <p:spPr>
          <a:xfrm>
            <a:off x="1023420" y="1846888"/>
            <a:ext cx="549641" cy="758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412" name="Google Shape;1412;p104" title="9 over 11 1 and two thirds nine halves 4 and one fifth seventeen halves"/>
          <p:cNvPicPr preferRelativeResize="0"/>
          <p:nvPr/>
        </p:nvPicPr>
        <p:blipFill rotWithShape="1">
          <a:blip r:embed="rId3">
            <a:alphaModFix/>
          </a:blip>
          <a:srcRect b="0" l="31704" r="51637" t="0"/>
          <a:stretch/>
        </p:blipFill>
        <p:spPr>
          <a:xfrm>
            <a:off x="4316075" y="1846888"/>
            <a:ext cx="549641" cy="758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413" name="Google Shape;1413;p104" title="9 over 11 1 and two thirds nine halves 4 and one fifth seventeen halves"/>
          <p:cNvPicPr preferRelativeResize="0"/>
          <p:nvPr/>
        </p:nvPicPr>
        <p:blipFill rotWithShape="1">
          <a:blip r:embed="rId3">
            <a:alphaModFix/>
          </a:blip>
          <a:srcRect b="0" l="52362" r="30980" t="0"/>
          <a:stretch/>
        </p:blipFill>
        <p:spPr>
          <a:xfrm>
            <a:off x="2660080" y="1846888"/>
            <a:ext cx="549641" cy="758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id="1414" name="Google Shape;1414;p104" title="9 over 11 1 and two thirds nine halves 4 and one fifth seventeen halves"/>
          <p:cNvPicPr preferRelativeResize="0"/>
          <p:nvPr/>
        </p:nvPicPr>
        <p:blipFill rotWithShape="1">
          <a:blip r:embed="rId3">
            <a:alphaModFix/>
          </a:blip>
          <a:srcRect b="-10" l="84621" r="-1279" t="-4635"/>
          <a:stretch/>
        </p:blipFill>
        <p:spPr>
          <a:xfrm>
            <a:off x="3494351" y="1846888"/>
            <a:ext cx="549641" cy="793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frac{1}{2}&quot;&gt;&lt;mn&gt;8&lt;/mn&gt;&lt;mfrac&gt;&lt;mn&gt;1&lt;/mn&gt;&lt;mn&gt;2&lt;/mn&gt;&lt;/mfrac&gt;&lt;/math&gt;" id="1415" name="Google Shape;1415;p104" title="8 and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8974" y="2840775"/>
            <a:ext cx="439931" cy="739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\frac{1}{2}&quot;&gt;&lt;mn&gt;4&lt;/mn&gt;&lt;mtext&gt;&lt;/mtext&gt;&lt;mfrac&gt;&lt;mn&gt;1&lt;/mn&gt;&lt;mn&gt;2&lt;/mn&gt;&lt;/mfrac&gt;&lt;/math&gt;" id="1416" name="Google Shape;1416;p104" title="4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4178" y="2883448"/>
            <a:ext cx="559821" cy="7505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104"/>
          <p:cNvSpPr/>
          <p:nvPr/>
        </p:nvSpPr>
        <p:spPr>
          <a:xfrm>
            <a:off x="3442825" y="1742150"/>
            <a:ext cx="668400" cy="203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04"/>
          <p:cNvSpPr/>
          <p:nvPr/>
        </p:nvSpPr>
        <p:spPr>
          <a:xfrm>
            <a:off x="4237800" y="1742150"/>
            <a:ext cx="668400" cy="203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05"/>
          <p:cNvSpPr txBox="1"/>
          <p:nvPr>
            <p:ph idx="1" type="body"/>
          </p:nvPr>
        </p:nvSpPr>
        <p:spPr>
          <a:xfrm>
            <a:off x="324000" y="759300"/>
            <a:ext cx="8237700" cy="7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r>
              <a:rPr lang="en-GB"/>
              <a:t>Put the following numbers in ascending order (smallest to largest). Converting to a </a:t>
            </a:r>
            <a:r>
              <a:rPr b="1" lang="en-GB"/>
              <a:t>mixed number</a:t>
            </a:r>
            <a:r>
              <a:rPr lang="en-GB"/>
              <a:t> may help.</a:t>
            </a:r>
            <a:endParaRPr/>
          </a:p>
        </p:txBody>
      </p:sp>
      <p:sp>
        <p:nvSpPr>
          <p:cNvPr id="1424" name="Google Shape;1424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Changing improper fractions to mixed numbers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05"/>
          <p:cNvSpPr txBox="1"/>
          <p:nvPr/>
        </p:nvSpPr>
        <p:spPr>
          <a:xfrm>
            <a:off x="324000" y="1883675"/>
            <a:ext cx="58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426" name="Google Shape;1426;p105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0" l="0" r="90470" t="0"/>
          <a:stretch/>
        </p:blipFill>
        <p:spPr>
          <a:xfrm>
            <a:off x="1120000" y="4033927"/>
            <a:ext cx="313044" cy="734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427" name="Google Shape;1427;p105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0" l="21500" r="67846" t="0"/>
          <a:stretch/>
        </p:blipFill>
        <p:spPr>
          <a:xfrm>
            <a:off x="1729904" y="4033927"/>
            <a:ext cx="349940" cy="734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428" name="Google Shape;1428;p105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-7032" l="46109" r="43238" t="0"/>
          <a:stretch/>
        </p:blipFill>
        <p:spPr>
          <a:xfrm>
            <a:off x="2376706" y="4033927"/>
            <a:ext cx="349940" cy="786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429" name="Google Shape;1429;p105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-3521" l="60131" r="17647" t="-3510"/>
          <a:stretch/>
        </p:blipFill>
        <p:spPr>
          <a:xfrm>
            <a:off x="3023507" y="4033927"/>
            <a:ext cx="729978" cy="786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430" name="Google Shape;1430;p105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-3521" l="82754" r="-4975" t="-3510"/>
          <a:stretch/>
        </p:blipFill>
        <p:spPr>
          <a:xfrm>
            <a:off x="4050346" y="4033927"/>
            <a:ext cx="729978" cy="786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431" name="Google Shape;1431;p105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0" l="0" r="90470" t="0"/>
          <a:stretch/>
        </p:blipFill>
        <p:spPr>
          <a:xfrm>
            <a:off x="1911695" y="1735529"/>
            <a:ext cx="337910" cy="793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432" name="Google Shape;1432;p105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0" l="21500" r="67846" t="0"/>
          <a:stretch/>
        </p:blipFill>
        <p:spPr>
          <a:xfrm>
            <a:off x="2700490" y="1735529"/>
            <a:ext cx="377738" cy="793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433" name="Google Shape;1433;p105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-7032" l="46109" r="43238" t="0"/>
          <a:stretch/>
        </p:blipFill>
        <p:spPr>
          <a:xfrm>
            <a:off x="1083050" y="1735529"/>
            <a:ext cx="377738" cy="848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434" name="Google Shape;1434;p105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-3521" l="60131" r="17647" t="-3510"/>
          <a:stretch/>
        </p:blipFill>
        <p:spPr>
          <a:xfrm>
            <a:off x="4317935" y="1735529"/>
            <a:ext cx="787963" cy="848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id="1435" name="Google Shape;1435;p105" title="two thirds four fifths seven halves 211 over 50 nineteen thirds"/>
          <p:cNvPicPr preferRelativeResize="0"/>
          <p:nvPr/>
        </p:nvPicPr>
        <p:blipFill rotWithShape="1">
          <a:blip r:embed="rId3">
            <a:alphaModFix/>
          </a:blip>
          <a:srcRect b="-3521" l="82754" r="-4975" t="-3510"/>
          <a:stretch/>
        </p:blipFill>
        <p:spPr>
          <a:xfrm>
            <a:off x="3312286" y="1735529"/>
            <a:ext cx="787963" cy="848933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05"/>
          <p:cNvSpPr/>
          <p:nvPr/>
        </p:nvSpPr>
        <p:spPr>
          <a:xfrm>
            <a:off x="3363875" y="1620000"/>
            <a:ext cx="668400" cy="203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105"/>
          <p:cNvSpPr/>
          <p:nvPr/>
        </p:nvSpPr>
        <p:spPr>
          <a:xfrm>
            <a:off x="4334300" y="1620000"/>
            <a:ext cx="729900" cy="203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05"/>
          <p:cNvSpPr/>
          <p:nvPr/>
        </p:nvSpPr>
        <p:spPr>
          <a:xfrm>
            <a:off x="942325" y="1620000"/>
            <a:ext cx="668400" cy="203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frac{1}{2}&quot;&gt;&lt;mn&gt;3&lt;/mn&gt;&lt;mfrac&gt;&lt;mn&gt;1&lt;/mn&gt;&lt;mn&gt;2&lt;/mn&gt;&lt;/mfrac&gt;&lt;/math&gt;" id="1439" name="Google Shape;1439;p105" title="3 and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374" y="2774100"/>
            <a:ext cx="466292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frac{1}{3}&quot;&gt;&lt;mn&gt;6&lt;/mn&gt;&lt;mfrac&gt;&lt;mn&gt;1&lt;/mn&gt;&lt;mn&gt;3&lt;/mn&gt;&lt;/mfrac&gt;&lt;/math&gt;" id="1440" name="Google Shape;1440;p105" title="6 and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2162" y="2805944"/>
            <a:ext cx="428207" cy="73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frac{11}{50}&quot;&gt;&lt;mn&gt;4&lt;/mn&gt;&lt;mfrac&gt;&lt;mn&gt;11&lt;/mn&gt;&lt;mn&gt;50&lt;/mn&gt;&lt;/mfrac&gt;&lt;/math&gt;" id="1441" name="Google Shape;1441;p105" title="4 and 11 over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7713" y="2774100"/>
            <a:ext cx="668400" cy="798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106"/>
          <p:cNvSpPr txBox="1"/>
          <p:nvPr>
            <p:ph type="title"/>
          </p:nvPr>
        </p:nvSpPr>
        <p:spPr>
          <a:xfrm>
            <a:off x="1684800" y="157525"/>
            <a:ext cx="7135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converting improper fractions to mixed numbers</a:t>
            </a:r>
            <a:endParaRPr/>
          </a:p>
        </p:txBody>
      </p:sp>
      <p:sp>
        <p:nvSpPr>
          <p:cNvPr id="1447" name="Google Shape;1447;p106"/>
          <p:cNvSpPr txBox="1"/>
          <p:nvPr>
            <p:ph idx="4294967295" type="subTitle"/>
          </p:nvPr>
        </p:nvSpPr>
        <p:spPr>
          <a:xfrm>
            <a:off x="304950" y="98997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900"/>
              <a:t>A </a:t>
            </a:r>
            <a:r>
              <a:rPr b="1" lang="en-GB" sz="1900"/>
              <a:t>proper fraction</a:t>
            </a:r>
            <a:r>
              <a:rPr b="0" lang="en-GB" sz="1900"/>
              <a:t> is a fraction where the numerator is less than the denominator. </a:t>
            </a:r>
            <a:r>
              <a:rPr lang="en-GB" sz="1900"/>
              <a:t>An </a:t>
            </a:r>
            <a:r>
              <a:rPr b="1" lang="en-GB" sz="1900"/>
              <a:t>improper fraction</a:t>
            </a:r>
            <a:r>
              <a:rPr lang="en-GB" sz="1900"/>
              <a:t> is a fraction where the numerator is greater than or equal to the denominator.</a:t>
            </a:r>
            <a:endParaRPr b="0" sz="1900"/>
          </a:p>
        </p:txBody>
      </p:sp>
      <p:sp>
        <p:nvSpPr>
          <p:cNvPr id="1448" name="Google Shape;1448;p106"/>
          <p:cNvSpPr txBox="1"/>
          <p:nvPr>
            <p:ph idx="4294967295" type="subTitle"/>
          </p:nvPr>
        </p:nvSpPr>
        <p:spPr>
          <a:xfrm>
            <a:off x="324000" y="24811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900"/>
              <a:t>A </a:t>
            </a:r>
            <a:r>
              <a:rPr b="1" lang="en-GB" sz="1900"/>
              <a:t>mixed number</a:t>
            </a:r>
            <a:r>
              <a:rPr b="0" lang="en-GB" sz="1900"/>
              <a:t> is an </a:t>
            </a:r>
            <a:r>
              <a:rPr b="1" lang="en-GB" sz="1900"/>
              <a:t>improper fraction</a:t>
            </a:r>
            <a:r>
              <a:rPr b="0" lang="en-GB" sz="1900"/>
              <a:t> written as its integer part plus the fractional part, where the fractional part is a </a:t>
            </a:r>
            <a:r>
              <a:rPr b="1" lang="en-GB" sz="1900"/>
              <a:t>proper fraction</a:t>
            </a:r>
            <a:r>
              <a:rPr b="0" lang="en-GB" sz="1900"/>
              <a:t>. </a:t>
            </a:r>
            <a:endParaRPr b="0" sz="1900"/>
          </a:p>
        </p:txBody>
      </p:sp>
      <p:pic>
        <p:nvPicPr>
          <p:cNvPr descr="&lt;math xmlns=&quot;http://www.w3.org/1998/Math/MathML&quot; display=&quot;block&quot; data-is-equatio=&quot;1&quot; data-latex=&quot;\frac{22}{7}=3\frac{2}{7}\ &quot;&gt;&lt;mfrac&gt;&lt;mn&gt;22&lt;/mn&gt;&lt;mn&gt;7&lt;/mn&gt;&lt;/mfrac&gt;&lt;mo&gt;=&lt;/mo&gt;&lt;mn&gt;3&lt;/mn&gt;&lt;mfrac&gt;&lt;mn&gt;2&lt;/mn&gt;&lt;mn&gt;7&lt;/mn&gt;&lt;/mfrac&gt;&lt;mtext&gt;&lt;/mtext&gt;&lt;/math&gt;" id="1449" name="Google Shape;1449;p106" title="22 over 7 equals 3 and two sevenths"/>
          <p:cNvPicPr preferRelativeResize="0"/>
          <p:nvPr/>
        </p:nvPicPr>
        <p:blipFill rotWithShape="1">
          <a:blip r:embed="rId3">
            <a:alphaModFix/>
          </a:blip>
          <a:srcRect b="0" l="0" r="35995" t="0"/>
          <a:stretch/>
        </p:blipFill>
        <p:spPr>
          <a:xfrm>
            <a:off x="3436040" y="3615850"/>
            <a:ext cx="995646" cy="85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106"/>
          <p:cNvSpPr txBox="1"/>
          <p:nvPr/>
        </p:nvSpPr>
        <p:spPr>
          <a:xfrm>
            <a:off x="1222425" y="3391525"/>
            <a:ext cx="16002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improper fraction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1" name="Google Shape;1451;p106"/>
          <p:cNvCxnSpPr/>
          <p:nvPr/>
        </p:nvCxnSpPr>
        <p:spPr>
          <a:xfrm>
            <a:off x="2478200" y="3779863"/>
            <a:ext cx="796200" cy="238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2" name="Google Shape;1452;p106"/>
          <p:cNvCxnSpPr/>
          <p:nvPr/>
        </p:nvCxnSpPr>
        <p:spPr>
          <a:xfrm flipH="1">
            <a:off x="5198425" y="3675125"/>
            <a:ext cx="708300" cy="260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3" name="Google Shape;1453;p106"/>
          <p:cNvSpPr txBox="1"/>
          <p:nvPr/>
        </p:nvSpPr>
        <p:spPr>
          <a:xfrm>
            <a:off x="5906725" y="3239988"/>
            <a:ext cx="16002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mixed number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frac{1}{7}&quot;&gt;&lt;mn&gt;3&lt;/mn&gt;&lt;mfrac&gt;&lt;mn&gt;1&lt;/mn&gt;&lt;mn&gt;7&lt;/mn&gt;&lt;/mfrac&gt;&lt;/math&gt;" id="1454" name="Google Shape;1454;p106" title="3 and 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338" y="3602100"/>
            <a:ext cx="503990" cy="85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60" name="Google Shape;1460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