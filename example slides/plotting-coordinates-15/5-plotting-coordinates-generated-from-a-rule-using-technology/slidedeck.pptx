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79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798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1e91c16969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1e91c16969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1e91c16969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3" name="Google Shape;773;g1e91c16969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1e91c169693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1e91c169693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1e91c16969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8" name="Google Shape;788;g1e91c16969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1e91c169693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7" name="Google Shape;797;g1e91c169693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1e91c169693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1e91c169693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g1e91c16969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e91c16969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g1e91c169693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6" name="Google Shape;846;g1e91c169693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1e91c169693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1e91c169693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1e91c16969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9" name="Google Shape;869;g1e91c16969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7" name="Shape 8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8" name="Google Shape;878;g1e91c169693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1e91c169693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g1e91c169693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2" name="Google Shape;892;g1e91c169693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g1e91c169693_0_1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9" name="Google Shape;909;g1e91c169693_0_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Google Shape;922;g1e91c169693_0_2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3" name="Google Shape;923;g1e91c169693_0_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1e91c169693_0_2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1e91c169693_0_2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g1e91c16969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3" name="Google Shape;963;g1e91c16969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1e91c169693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2" name="Google Shape;972;g1e91c169693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1e91c169693_2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1e91c169693_2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1e91c169693_3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1e91c169693_3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g1e91c169693_3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2" name="Google Shape;1012;g1e91c169693_3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1e91c169693_4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1e91c169693_4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e91c169693_3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e91c169693_3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g1e91c169693_3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3" name="Google Shape;1073;g1e91c169693_3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8" name="Shape 1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Google Shape;1089;g1e91c169693_3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0" name="Google Shape;1090;g1e91c169693_3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1e91c169693_3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1e91c169693_3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g1e91c169693_3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0" name="Google Shape;1120;g1e91c169693_3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1e91c169693_0_2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1e91c169693_0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e91c169693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e91c169693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1e91c169693_2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1e91c169693_2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e91c169693_2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1e91c169693_2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g1e91c169693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7" name="Google Shape;1197;g1e91c169693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g1e91c169693_3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6" name="Google Shape;1206;g1e91c169693_3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1e91c169693_3_4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8" name="Google Shape;1228;g1e91c169693_3_4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1e91c169693_4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0" name="Google Shape;1240;g1e91c169693_4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1e91c169693_3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1e91c169693_3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1e91c169693_3_5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1e91c169693_3_5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1e91c169693_3_5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1e91c169693_3_5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1e91c169693_4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1e91c169693_4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g1e91c169693_4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1" name="Google Shape;1301;g1e91c169693_4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0" name="Google Shape;132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16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3.png"/><Relationship Id="rId4" Type="http://schemas.openxmlformats.org/officeDocument/2006/relationships/image" Target="../media/image20.png"/><Relationship Id="rId5" Type="http://schemas.openxmlformats.org/officeDocument/2006/relationships/image" Target="../media/image22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84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4.png"/><Relationship Id="rId4" Type="http://schemas.openxmlformats.org/officeDocument/2006/relationships/image" Target="../media/image24.png"/><Relationship Id="rId9" Type="http://schemas.openxmlformats.org/officeDocument/2006/relationships/image" Target="../media/image21.png"/><Relationship Id="rId5" Type="http://schemas.openxmlformats.org/officeDocument/2006/relationships/image" Target="../media/image25.png"/><Relationship Id="rId6" Type="http://schemas.openxmlformats.org/officeDocument/2006/relationships/image" Target="../media/image29.png"/><Relationship Id="rId7" Type="http://schemas.openxmlformats.org/officeDocument/2006/relationships/image" Target="../media/image27.png"/><Relationship Id="rId8" Type="http://schemas.openxmlformats.org/officeDocument/2006/relationships/image" Target="../media/image26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84.png"/><Relationship Id="rId4" Type="http://schemas.openxmlformats.org/officeDocument/2006/relationships/image" Target="../media/image31.png"/><Relationship Id="rId11" Type="http://schemas.openxmlformats.org/officeDocument/2006/relationships/image" Target="../media/image21.png"/><Relationship Id="rId10" Type="http://schemas.openxmlformats.org/officeDocument/2006/relationships/image" Target="../media/image38.png"/><Relationship Id="rId9" Type="http://schemas.openxmlformats.org/officeDocument/2006/relationships/image" Target="../media/image2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9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3.png"/><Relationship Id="rId4" Type="http://schemas.openxmlformats.org/officeDocument/2006/relationships/image" Target="../media/image42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4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4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4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4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3.png"/><Relationship Id="rId3" Type="http://schemas.openxmlformats.org/officeDocument/2006/relationships/image" Target="../media/image45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45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1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9.png"/><Relationship Id="rId4" Type="http://schemas.openxmlformats.org/officeDocument/2006/relationships/image" Target="../media/image5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50.png"/><Relationship Id="rId5" Type="http://schemas.openxmlformats.org/officeDocument/2006/relationships/image" Target="../media/image5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8.png"/><Relationship Id="rId4" Type="http://schemas.openxmlformats.org/officeDocument/2006/relationships/image" Target="../media/image5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1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7.png"/><Relationship Id="rId4" Type="http://schemas.openxmlformats.org/officeDocument/2006/relationships/image" Target="../media/image6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5.png"/><Relationship Id="rId4" Type="http://schemas.openxmlformats.org/officeDocument/2006/relationships/image" Target="../media/image68.png"/><Relationship Id="rId5" Type="http://schemas.openxmlformats.org/officeDocument/2006/relationships/image" Target="../media/image6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5.png"/><Relationship Id="rId4" Type="http://schemas.openxmlformats.org/officeDocument/2006/relationships/image" Target="../media/image7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5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3.png"/><Relationship Id="rId7" Type="http://schemas.openxmlformats.org/officeDocument/2006/relationships/image" Target="../media/image71.png"/><Relationship Id="rId8" Type="http://schemas.openxmlformats.org/officeDocument/2006/relationships/image" Target="../media/image7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5.png"/><Relationship Id="rId4" Type="http://schemas.openxmlformats.org/officeDocument/2006/relationships/image" Target="../media/image77.png"/><Relationship Id="rId5" Type="http://schemas.openxmlformats.org/officeDocument/2006/relationships/image" Target="../media/image7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1.png"/><Relationship Id="rId4" Type="http://schemas.openxmlformats.org/officeDocument/2006/relationships/image" Target="../media/image8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3.png"/><Relationship Id="rId4" Type="http://schemas.openxmlformats.org/officeDocument/2006/relationships/image" Target="../media/image8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6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6.png"/><Relationship Id="rId4" Type="http://schemas.openxmlformats.org/officeDocument/2006/relationships/image" Target="../media/image89.png"/><Relationship Id="rId5" Type="http://schemas.openxmlformats.org/officeDocument/2006/relationships/image" Target="../media/image8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8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7.png"/><Relationship Id="rId4" Type="http://schemas.openxmlformats.org/officeDocument/2006/relationships/image" Target="../media/image94.png"/><Relationship Id="rId5" Type="http://schemas.openxmlformats.org/officeDocument/2006/relationships/image" Target="../media/image6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3.png"/><Relationship Id="rId4" Type="http://schemas.openxmlformats.org/officeDocument/2006/relationships/image" Target="../media/image96.png"/><Relationship Id="rId5" Type="http://schemas.openxmlformats.org/officeDocument/2006/relationships/image" Target="../media/image92.png"/><Relationship Id="rId6" Type="http://schemas.openxmlformats.org/officeDocument/2006/relationships/image" Target="../media/image9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9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 using technology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use technology to quickly represent a set of coordinates graphically.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767" name="Google Shape;767;p6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768" name="Google Shape;768;p6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769" name="Google Shape;769;p67"/>
          <p:cNvSpPr txBox="1"/>
          <p:nvPr>
            <p:ph idx="4" type="title"/>
          </p:nvPr>
        </p:nvSpPr>
        <p:spPr>
          <a:xfrm>
            <a:off x="324000" y="657600"/>
            <a:ext cx="7652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 using technology</a:t>
            </a:r>
            <a:endParaRPr/>
          </a:p>
        </p:txBody>
      </p:sp>
      <p:pic>
        <p:nvPicPr>
          <p:cNvPr id="770" name="Google Shape;77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50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776" name="Google Shape;776;p6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Graphing software can be used to plot coordinates.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Using graphing software can make it easier to spot patterns.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It can also help us see when coordinates do not follow a pattern or spot a mistake.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782" name="Google Shape;782;p6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To get started: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Open up a web browser and go to </a:t>
            </a:r>
            <a:r>
              <a:rPr lang="en-GB">
                <a:solidFill>
                  <a:schemeClr val="accent4"/>
                </a:solidFill>
              </a:rPr>
              <a:t>desmos.com</a:t>
            </a:r>
            <a:endParaRPr>
              <a:solidFill>
                <a:schemeClr val="accent4"/>
              </a:solidFill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Find and press the ‘</a:t>
            </a:r>
            <a:r>
              <a:rPr lang="en-GB">
                <a:solidFill>
                  <a:schemeClr val="accent4"/>
                </a:solidFill>
              </a:rPr>
              <a:t>graphing calculator</a:t>
            </a:r>
            <a:r>
              <a:rPr lang="en-GB"/>
              <a:t>’ button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Your screen should look like this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783" name="Google Shape;783;p69"/>
          <p:cNvGrpSpPr/>
          <p:nvPr/>
        </p:nvGrpSpPr>
        <p:grpSpPr>
          <a:xfrm>
            <a:off x="1805388" y="2457300"/>
            <a:ext cx="5289912" cy="2363100"/>
            <a:chOff x="1805388" y="2457300"/>
            <a:chExt cx="5289912" cy="2363100"/>
          </a:xfrm>
        </p:grpSpPr>
        <p:pic>
          <p:nvPicPr>
            <p:cNvPr id="784" name="Google Shape;784;p6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805388" y="2457300"/>
              <a:ext cx="5274925" cy="2363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5" name="Google Shape;785;p69"/>
            <p:cNvSpPr/>
            <p:nvPr/>
          </p:nvSpPr>
          <p:spPr>
            <a:xfrm>
              <a:off x="1810800" y="2459025"/>
              <a:ext cx="5284500" cy="23613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Google Shape;790;p70"/>
          <p:cNvSpPr txBox="1"/>
          <p:nvPr>
            <p:ph idx="1" type="body"/>
          </p:nvPr>
        </p:nvSpPr>
        <p:spPr>
          <a:xfrm>
            <a:off x="324000" y="759300"/>
            <a:ext cx="8237700" cy="22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change the scale on the </a:t>
            </a:r>
            <a:r>
              <a:rPr lang="en-GB"/>
              <a:t>axes</a:t>
            </a:r>
            <a:r>
              <a:rPr lang="en-GB"/>
              <a:t> so the numbers increase in the required increments.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To make the values go up in </a:t>
            </a:r>
            <a:r>
              <a:rPr lang="en-GB"/>
              <a:t>one</a:t>
            </a:r>
            <a:r>
              <a:rPr lang="en-GB"/>
              <a:t>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Click on the ‘</a:t>
            </a:r>
            <a:r>
              <a:rPr lang="en-GB">
                <a:solidFill>
                  <a:schemeClr val="accent4"/>
                </a:solidFill>
              </a:rPr>
              <a:t>graph settings</a:t>
            </a:r>
            <a:r>
              <a:rPr lang="en-GB"/>
              <a:t>’ menu in the top right of your screen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grpSp>
        <p:nvGrpSpPr>
          <p:cNvPr id="792" name="Google Shape;792;p70"/>
          <p:cNvGrpSpPr/>
          <p:nvPr/>
        </p:nvGrpSpPr>
        <p:grpSpPr>
          <a:xfrm>
            <a:off x="6031275" y="2931100"/>
            <a:ext cx="2441454" cy="1439088"/>
            <a:chOff x="6031275" y="2931100"/>
            <a:chExt cx="2441454" cy="1439088"/>
          </a:xfrm>
        </p:grpSpPr>
        <p:pic>
          <p:nvPicPr>
            <p:cNvPr id="793" name="Google Shape;793;p70"/>
            <p:cNvPicPr preferRelativeResize="0"/>
            <p:nvPr/>
          </p:nvPicPr>
          <p:blipFill rotWithShape="1">
            <a:blip r:embed="rId3">
              <a:alphaModFix/>
            </a:blip>
            <a:srcRect b="46320" l="37965" r="0" t="0"/>
            <a:stretch/>
          </p:blipFill>
          <p:spPr>
            <a:xfrm>
              <a:off x="6060954" y="2939863"/>
              <a:ext cx="2411775" cy="1430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4" name="Google Shape;794;p70"/>
            <p:cNvSpPr/>
            <p:nvPr/>
          </p:nvSpPr>
          <p:spPr>
            <a:xfrm>
              <a:off x="6031275" y="2931100"/>
              <a:ext cx="2441400" cy="14304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71"/>
          <p:cNvSpPr txBox="1"/>
          <p:nvPr>
            <p:ph idx="1" type="body"/>
          </p:nvPr>
        </p:nvSpPr>
        <p:spPr>
          <a:xfrm>
            <a:off x="324000" y="759300"/>
            <a:ext cx="8237700" cy="22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We can change the scale on the </a:t>
            </a:r>
            <a:r>
              <a:rPr lang="en-GB"/>
              <a:t>axes</a:t>
            </a:r>
            <a:r>
              <a:rPr lang="en-GB"/>
              <a:t> so the numbers increase in the required increments.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To make the values go up in ones: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Click on the ‘</a:t>
            </a:r>
            <a:r>
              <a:rPr lang="en-GB">
                <a:solidFill>
                  <a:schemeClr val="accent4"/>
                </a:solidFill>
              </a:rPr>
              <a:t>graph settings</a:t>
            </a:r>
            <a:r>
              <a:rPr lang="en-GB"/>
              <a:t>’ menu in the top right of your screen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pSp>
        <p:nvGrpSpPr>
          <p:cNvPr id="800" name="Google Shape;800;p71"/>
          <p:cNvGrpSpPr/>
          <p:nvPr/>
        </p:nvGrpSpPr>
        <p:grpSpPr>
          <a:xfrm>
            <a:off x="5660825" y="2594780"/>
            <a:ext cx="2811525" cy="2220448"/>
            <a:chOff x="2810311" y="1609189"/>
            <a:chExt cx="2836200" cy="2181616"/>
          </a:xfrm>
        </p:grpSpPr>
        <p:pic>
          <p:nvPicPr>
            <p:cNvPr id="801" name="Google Shape;801;p7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838169" y="1609212"/>
              <a:ext cx="2787300" cy="218159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2" name="Google Shape;802;p71"/>
            <p:cNvSpPr/>
            <p:nvPr/>
          </p:nvSpPr>
          <p:spPr>
            <a:xfrm>
              <a:off x="2810311" y="1609189"/>
              <a:ext cx="2836200" cy="21816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03" name="Google Shape;803;p71"/>
          <p:cNvGrpSpPr/>
          <p:nvPr/>
        </p:nvGrpSpPr>
        <p:grpSpPr>
          <a:xfrm>
            <a:off x="5663777" y="2599792"/>
            <a:ext cx="2790612" cy="2220487"/>
            <a:chOff x="5725089" y="2599925"/>
            <a:chExt cx="2790612" cy="2220487"/>
          </a:xfrm>
        </p:grpSpPr>
        <p:pic>
          <p:nvPicPr>
            <p:cNvPr id="804" name="Google Shape;804;p71"/>
            <p:cNvPicPr preferRelativeResize="0"/>
            <p:nvPr/>
          </p:nvPicPr>
          <p:blipFill rotWithShape="1">
            <a:blip r:embed="rId4">
              <a:alphaModFix/>
            </a:blip>
            <a:srcRect b="8105" l="0" r="0" t="0"/>
            <a:stretch/>
          </p:blipFill>
          <p:spPr>
            <a:xfrm>
              <a:off x="5725089" y="2616787"/>
              <a:ext cx="2790461" cy="22036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5" name="Google Shape;805;p71"/>
            <p:cNvSpPr/>
            <p:nvPr/>
          </p:nvSpPr>
          <p:spPr>
            <a:xfrm>
              <a:off x="5725101" y="2599925"/>
              <a:ext cx="2790600" cy="22035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06" name="Google Shape;806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807" name="Google Shape;807;p71"/>
          <p:cNvSpPr/>
          <p:nvPr/>
        </p:nvSpPr>
        <p:spPr>
          <a:xfrm>
            <a:off x="7783124" y="3840000"/>
            <a:ext cx="367200" cy="16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1"/>
          <p:cNvSpPr/>
          <p:nvPr/>
        </p:nvSpPr>
        <p:spPr>
          <a:xfrm>
            <a:off x="7783124" y="4224908"/>
            <a:ext cx="367200" cy="162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9" name="Google Shape;809;p71"/>
          <p:cNvSpPr txBox="1"/>
          <p:nvPr>
            <p:ph idx="1" type="body"/>
          </p:nvPr>
        </p:nvSpPr>
        <p:spPr>
          <a:xfrm>
            <a:off x="318900" y="3025013"/>
            <a:ext cx="3776700" cy="5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Change the step to 1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71"/>
          <p:cNvSpPr txBox="1"/>
          <p:nvPr>
            <p:ph idx="1" type="body"/>
          </p:nvPr>
        </p:nvSpPr>
        <p:spPr>
          <a:xfrm>
            <a:off x="318900" y="3694500"/>
            <a:ext cx="5455500" cy="9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You can unclick the ‘</a:t>
            </a:r>
            <a:r>
              <a:rPr lang="en-GB">
                <a:solidFill>
                  <a:schemeClr val="accent4"/>
                </a:solidFill>
              </a:rPr>
              <a:t>minor gridlines</a:t>
            </a:r>
            <a:r>
              <a:rPr lang="en-GB"/>
              <a:t>’ if you do not wish to see each step broken down into quarters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71"/>
          <p:cNvSpPr/>
          <p:nvPr/>
        </p:nvSpPr>
        <p:spPr>
          <a:xfrm>
            <a:off x="7374474" y="3262250"/>
            <a:ext cx="627000" cy="204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2" name="Google Shape;812;p71"/>
          <p:cNvCxnSpPr>
            <a:endCxn id="807" idx="1"/>
          </p:cNvCxnSpPr>
          <p:nvPr/>
        </p:nvCxnSpPr>
        <p:spPr>
          <a:xfrm>
            <a:off x="3569624" y="3205800"/>
            <a:ext cx="4213500" cy="715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3" name="Google Shape;813;p71"/>
          <p:cNvCxnSpPr>
            <a:endCxn id="808" idx="1"/>
          </p:cNvCxnSpPr>
          <p:nvPr/>
        </p:nvCxnSpPr>
        <p:spPr>
          <a:xfrm>
            <a:off x="3583724" y="3227108"/>
            <a:ext cx="4199400" cy="1078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14" name="Google Shape;814;p71"/>
          <p:cNvCxnSpPr/>
          <p:nvPr/>
        </p:nvCxnSpPr>
        <p:spPr>
          <a:xfrm flipH="1" rot="10800000">
            <a:off x="5563049" y="3466500"/>
            <a:ext cx="1971000" cy="723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72"/>
          <p:cNvSpPr txBox="1"/>
          <p:nvPr>
            <p:ph idx="1" type="body"/>
          </p:nvPr>
        </p:nvSpPr>
        <p:spPr>
          <a:xfrm>
            <a:off x="324000" y="759300"/>
            <a:ext cx="82377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changing the axes so they increase in 5s.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pic>
        <p:nvPicPr>
          <p:cNvPr id="821" name="Google Shape;82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95869" y="1477000"/>
            <a:ext cx="3946626" cy="264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22" name="Google Shape;822;p72"/>
          <p:cNvSpPr txBox="1"/>
          <p:nvPr>
            <p:ph idx="1" type="body"/>
          </p:nvPr>
        </p:nvSpPr>
        <p:spPr>
          <a:xfrm>
            <a:off x="324000" y="1620000"/>
            <a:ext cx="42480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may wish to put the minor gridlines back in.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23" name="Google Shape;82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1183" y="1477000"/>
            <a:ext cx="3995999" cy="2688622"/>
          </a:xfrm>
          <a:prstGeom prst="rect">
            <a:avLst/>
          </a:prstGeom>
          <a:noFill/>
          <a:ln>
            <a:noFill/>
          </a:ln>
        </p:spPr>
      </p:pic>
      <p:sp>
        <p:nvSpPr>
          <p:cNvPr id="824" name="Google Shape;824;p72"/>
          <p:cNvSpPr txBox="1"/>
          <p:nvPr>
            <p:ph idx="1" type="body"/>
          </p:nvPr>
        </p:nvSpPr>
        <p:spPr>
          <a:xfrm>
            <a:off x="324000" y="2780400"/>
            <a:ext cx="4248000" cy="12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zoom in and out by using the buttons below the settings menu.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25" name="Google Shape;825;p72"/>
          <p:cNvPicPr preferRelativeResize="0"/>
          <p:nvPr/>
        </p:nvPicPr>
        <p:blipFill rotWithShape="1">
          <a:blip r:embed="rId5">
            <a:alphaModFix/>
          </a:blip>
          <a:srcRect b="-3710" l="15139" r="0" t="3709"/>
          <a:stretch/>
        </p:blipFill>
        <p:spPr>
          <a:xfrm>
            <a:off x="4781400" y="1477000"/>
            <a:ext cx="3996000" cy="2795575"/>
          </a:xfrm>
          <a:prstGeom prst="rect">
            <a:avLst/>
          </a:prstGeom>
          <a:noFill/>
          <a:ln>
            <a:noFill/>
          </a:ln>
        </p:spPr>
      </p:pic>
      <p:sp>
        <p:nvSpPr>
          <p:cNvPr id="826" name="Google Shape;826;p72"/>
          <p:cNvSpPr/>
          <p:nvPr/>
        </p:nvSpPr>
        <p:spPr>
          <a:xfrm>
            <a:off x="8558895" y="1629642"/>
            <a:ext cx="230100" cy="35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27" name="Google Shape;827;p72"/>
          <p:cNvCxnSpPr>
            <a:endCxn id="826" idx="1"/>
          </p:cNvCxnSpPr>
          <p:nvPr/>
        </p:nvCxnSpPr>
        <p:spPr>
          <a:xfrm flipH="1" rot="10800000">
            <a:off x="4199295" y="1808292"/>
            <a:ext cx="4359600" cy="139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8" name="Google Shape;828;p72"/>
          <p:cNvSpPr/>
          <p:nvPr/>
        </p:nvSpPr>
        <p:spPr>
          <a:xfrm>
            <a:off x="4777125" y="1465550"/>
            <a:ext cx="3996000" cy="27339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3" name="Google Shape;833;p73"/>
          <p:cNvGrpSpPr/>
          <p:nvPr/>
        </p:nvGrpSpPr>
        <p:grpSpPr>
          <a:xfrm>
            <a:off x="5587400" y="1364700"/>
            <a:ext cx="3151378" cy="1940225"/>
            <a:chOff x="5587400" y="1364700"/>
            <a:chExt cx="3151378" cy="1940225"/>
          </a:xfrm>
        </p:grpSpPr>
        <p:pic>
          <p:nvPicPr>
            <p:cNvPr id="834" name="Google Shape;834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622004" y="1364700"/>
              <a:ext cx="3116775" cy="19402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73"/>
            <p:cNvSpPr/>
            <p:nvPr/>
          </p:nvSpPr>
          <p:spPr>
            <a:xfrm>
              <a:off x="5587400" y="1364700"/>
              <a:ext cx="3145500" cy="19401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6" name="Google Shape;836;p73"/>
          <p:cNvSpPr txBox="1"/>
          <p:nvPr>
            <p:ph idx="1" type="body"/>
          </p:nvPr>
        </p:nvSpPr>
        <p:spPr>
          <a:xfrm>
            <a:off x="324000" y="759300"/>
            <a:ext cx="82377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drag the screen to see different parts of your graph.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37" name="Google Shape;837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838" name="Google Shape;838;p73"/>
          <p:cNvSpPr txBox="1"/>
          <p:nvPr>
            <p:ph idx="1" type="body"/>
          </p:nvPr>
        </p:nvSpPr>
        <p:spPr>
          <a:xfrm>
            <a:off x="356625" y="1545825"/>
            <a:ext cx="49386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Try dragging your screen until you can see 200 on 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axis.</a:t>
            </a:r>
            <a:r>
              <a:rPr lang="en-GB"/>
              <a:t>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73"/>
          <p:cNvSpPr txBox="1"/>
          <p:nvPr>
            <p:ph idx="1" type="body"/>
          </p:nvPr>
        </p:nvSpPr>
        <p:spPr>
          <a:xfrm>
            <a:off x="324000" y="2973550"/>
            <a:ext cx="5301300" cy="145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Pressing the ‘</a:t>
            </a:r>
            <a:r>
              <a:rPr lang="en-GB">
                <a:solidFill>
                  <a:schemeClr val="accent4"/>
                </a:solidFill>
              </a:rPr>
              <a:t>default viewport</a:t>
            </a:r>
            <a:r>
              <a:rPr lang="en-GB"/>
              <a:t>’ button will centre your screen around the origin.</a:t>
            </a:r>
            <a:r>
              <a:rPr lang="en-GB"/>
              <a:t>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40" name="Google Shape;840;p73"/>
          <p:cNvPicPr preferRelativeResize="0"/>
          <p:nvPr/>
        </p:nvPicPr>
        <p:blipFill rotWithShape="1">
          <a:blip r:embed="rId4">
            <a:alphaModFix/>
          </a:blip>
          <a:srcRect b="20191" l="0" r="0" t="0"/>
          <a:stretch/>
        </p:blipFill>
        <p:spPr>
          <a:xfrm>
            <a:off x="5597116" y="1375900"/>
            <a:ext cx="3124801" cy="19191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1" name="Google Shape;841;p73"/>
          <p:cNvGrpSpPr/>
          <p:nvPr/>
        </p:nvGrpSpPr>
        <p:grpSpPr>
          <a:xfrm>
            <a:off x="5062553" y="1777625"/>
            <a:ext cx="3670500" cy="1715250"/>
            <a:chOff x="5062553" y="1777625"/>
            <a:chExt cx="3670500" cy="1715250"/>
          </a:xfrm>
        </p:grpSpPr>
        <p:sp>
          <p:nvSpPr>
            <p:cNvPr id="842" name="Google Shape;842;p73"/>
            <p:cNvSpPr/>
            <p:nvPr/>
          </p:nvSpPr>
          <p:spPr>
            <a:xfrm>
              <a:off x="8576153" y="1777625"/>
              <a:ext cx="156900" cy="1785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843" name="Google Shape;843;p73"/>
            <p:cNvCxnSpPr>
              <a:endCxn id="842" idx="1"/>
            </p:cNvCxnSpPr>
            <p:nvPr/>
          </p:nvCxnSpPr>
          <p:spPr>
            <a:xfrm flipH="1" rot="10800000">
              <a:off x="5062553" y="1866875"/>
              <a:ext cx="3513600" cy="1626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74"/>
          <p:cNvSpPr txBox="1"/>
          <p:nvPr/>
        </p:nvSpPr>
        <p:spPr>
          <a:xfrm>
            <a:off x="324000" y="2819450"/>
            <a:ext cx="53013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Drag your mouse left or right to scale your </a:t>
            </a: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axis in either direction</a:t>
            </a:r>
            <a:endParaRPr/>
          </a:p>
        </p:txBody>
      </p:sp>
      <p:sp>
        <p:nvSpPr>
          <p:cNvPr id="849" name="Google Shape;849;p74"/>
          <p:cNvSpPr txBox="1"/>
          <p:nvPr/>
        </p:nvSpPr>
        <p:spPr>
          <a:xfrm>
            <a:off x="312225" y="1972850"/>
            <a:ext cx="5390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Drag your mouse up or down to scale your </a:t>
            </a: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axis in either direction</a:t>
            </a:r>
            <a:endParaRPr/>
          </a:p>
        </p:txBody>
      </p:sp>
      <p:sp>
        <p:nvSpPr>
          <p:cNvPr id="850" name="Google Shape;850;p74"/>
          <p:cNvSpPr txBox="1"/>
          <p:nvPr>
            <p:ph idx="1" type="body"/>
          </p:nvPr>
        </p:nvSpPr>
        <p:spPr>
          <a:xfrm>
            <a:off x="324000" y="759300"/>
            <a:ext cx="82377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drag an axis to stretch it.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852" name="Google Shape;852;p74"/>
          <p:cNvSpPr txBox="1"/>
          <p:nvPr>
            <p:ph idx="1" type="body"/>
          </p:nvPr>
        </p:nvSpPr>
        <p:spPr>
          <a:xfrm>
            <a:off x="356625" y="1241025"/>
            <a:ext cx="5301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Press shift </a:t>
            </a:r>
            <a:r>
              <a:rPr lang="en-GB" sz="2000"/>
              <a:t>then</a:t>
            </a:r>
            <a:r>
              <a:rPr lang="en-GB" sz="2000"/>
              <a:t> move your cursor onto the required axis</a:t>
            </a:r>
            <a:endParaRPr sz="2000"/>
          </a:p>
        </p:txBody>
      </p:sp>
      <p:sp>
        <p:nvSpPr>
          <p:cNvPr id="853" name="Google Shape;853;p74"/>
          <p:cNvSpPr txBox="1"/>
          <p:nvPr>
            <p:ph idx="1" type="body"/>
          </p:nvPr>
        </p:nvSpPr>
        <p:spPr>
          <a:xfrm>
            <a:off x="324000" y="3798900"/>
            <a:ext cx="5273100" cy="82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Try scaling your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axis to 250 whilst keeping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axis the same.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854" name="Google Shape;854;p74"/>
          <p:cNvGrpSpPr/>
          <p:nvPr/>
        </p:nvGrpSpPr>
        <p:grpSpPr>
          <a:xfrm>
            <a:off x="5772500" y="1080000"/>
            <a:ext cx="3049475" cy="3048900"/>
            <a:chOff x="5772500" y="1080000"/>
            <a:chExt cx="3049475" cy="3048900"/>
          </a:xfrm>
        </p:grpSpPr>
        <p:pic>
          <p:nvPicPr>
            <p:cNvPr id="855" name="Google Shape;855;p74"/>
            <p:cNvPicPr preferRelativeResize="0"/>
            <p:nvPr/>
          </p:nvPicPr>
          <p:blipFill rotWithShape="1">
            <a:blip r:embed="rId3">
              <a:alphaModFix/>
            </a:blip>
            <a:srcRect b="0" l="39631" r="0" t="0"/>
            <a:stretch/>
          </p:blipFill>
          <p:spPr>
            <a:xfrm>
              <a:off x="5774400" y="1080000"/>
              <a:ext cx="3047575" cy="3040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6" name="Google Shape;856;p74"/>
            <p:cNvSpPr/>
            <p:nvPr/>
          </p:nvSpPr>
          <p:spPr>
            <a:xfrm>
              <a:off x="5772500" y="1080000"/>
              <a:ext cx="3047700" cy="3048900"/>
            </a:xfrm>
            <a:prstGeom prst="rect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1" name="Google Shape;861;p75"/>
          <p:cNvPicPr preferRelativeResize="0"/>
          <p:nvPr/>
        </p:nvPicPr>
        <p:blipFill rotWithShape="1">
          <a:blip r:embed="rId3">
            <a:alphaModFix/>
          </a:blip>
          <a:srcRect b="0" l="19109" r="17342" t="0"/>
          <a:stretch/>
        </p:blipFill>
        <p:spPr>
          <a:xfrm>
            <a:off x="5572001" y="885338"/>
            <a:ext cx="3164050" cy="31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5"/>
          <p:cNvSpPr/>
          <p:nvPr/>
        </p:nvSpPr>
        <p:spPr>
          <a:xfrm>
            <a:off x="5572975" y="879075"/>
            <a:ext cx="3177600" cy="3186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3" name="Google Shape;863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864" name="Google Shape;864;p75"/>
          <p:cNvSpPr txBox="1"/>
          <p:nvPr>
            <p:ph idx="1" type="body"/>
          </p:nvPr>
        </p:nvSpPr>
        <p:spPr>
          <a:xfrm>
            <a:off x="324000" y="1331850"/>
            <a:ext cx="5301300" cy="110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Pressing the ‘</a:t>
            </a:r>
            <a:r>
              <a:rPr lang="en-GB" sz="2000">
                <a:solidFill>
                  <a:schemeClr val="accent4"/>
                </a:solidFill>
              </a:rPr>
              <a:t>default viewport</a:t>
            </a:r>
            <a:r>
              <a:rPr lang="en-GB" sz="2000"/>
              <a:t>’</a:t>
            </a:r>
            <a:r>
              <a:rPr lang="en-GB" sz="2000"/>
              <a:t> button will return the axes to the same scale and centre your screen around the origin again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865" name="Google Shape;865;p75"/>
          <p:cNvPicPr preferRelativeResize="0"/>
          <p:nvPr/>
        </p:nvPicPr>
        <p:blipFill rotWithShape="1">
          <a:blip r:embed="rId4">
            <a:alphaModFix/>
          </a:blip>
          <a:srcRect b="0" l="40037" r="0" t="0"/>
          <a:stretch/>
        </p:blipFill>
        <p:spPr>
          <a:xfrm>
            <a:off x="5586425" y="895000"/>
            <a:ext cx="3142849" cy="3156575"/>
          </a:xfrm>
          <a:prstGeom prst="rect">
            <a:avLst/>
          </a:prstGeom>
          <a:noFill/>
          <a:ln>
            <a:noFill/>
          </a:ln>
        </p:spPr>
      </p:pic>
      <p:sp>
        <p:nvSpPr>
          <p:cNvPr id="866" name="Google Shape;866;p75"/>
          <p:cNvSpPr/>
          <p:nvPr/>
        </p:nvSpPr>
        <p:spPr>
          <a:xfrm>
            <a:off x="8560707" y="1396625"/>
            <a:ext cx="156900" cy="178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76"/>
          <p:cNvSpPr txBox="1"/>
          <p:nvPr>
            <p:ph idx="1" type="subTitle"/>
          </p:nvPr>
        </p:nvSpPr>
        <p:spPr>
          <a:xfrm>
            <a:off x="980575" y="3958125"/>
            <a:ext cx="68097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change the step on the axes separately to have different steps.</a:t>
            </a:r>
            <a:endParaRPr/>
          </a:p>
        </p:txBody>
      </p:sp>
      <p:sp>
        <p:nvSpPr>
          <p:cNvPr id="872" name="Google Shape;872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873" name="Google Shape;873;p76"/>
          <p:cNvSpPr txBox="1"/>
          <p:nvPr>
            <p:ph idx="2" type="subTitle"/>
          </p:nvPr>
        </p:nvSpPr>
        <p:spPr>
          <a:xfrm>
            <a:off x="324000" y="1080000"/>
            <a:ext cx="8496000" cy="3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axis have to increase by the same step.</a:t>
            </a:r>
            <a:endParaRPr/>
          </a:p>
        </p:txBody>
      </p:sp>
      <p:sp>
        <p:nvSpPr>
          <p:cNvPr id="874" name="Google Shape;874;p76"/>
          <p:cNvSpPr txBox="1"/>
          <p:nvPr>
            <p:ph idx="3" type="subTitle"/>
          </p:nvPr>
        </p:nvSpPr>
        <p:spPr>
          <a:xfrm>
            <a:off x="980575" y="3131686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cannot change the step on 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axis.</a:t>
            </a:r>
            <a:endParaRPr/>
          </a:p>
        </p:txBody>
      </p:sp>
      <p:pic>
        <p:nvPicPr>
          <p:cNvPr id="875" name="Google Shape;875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9508" y="18218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6" name="Google Shape;876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31283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77"/>
          <p:cNvSpPr txBox="1"/>
          <p:nvPr>
            <p:ph idx="1" type="body"/>
          </p:nvPr>
        </p:nvSpPr>
        <p:spPr>
          <a:xfrm>
            <a:off x="324000" y="759300"/>
            <a:ext cx="8237700" cy="73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plot coordinates by typing the coordinate into the left hand menu. 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883" name="Google Shape;883;p77"/>
          <p:cNvSpPr txBox="1"/>
          <p:nvPr>
            <p:ph idx="1" type="body"/>
          </p:nvPr>
        </p:nvSpPr>
        <p:spPr>
          <a:xfrm>
            <a:off x="356625" y="1716250"/>
            <a:ext cx="51417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Remember coordinates need brackets and a comma to </a:t>
            </a:r>
            <a:r>
              <a:rPr lang="en-GB"/>
              <a:t>separate</a:t>
            </a:r>
            <a:r>
              <a:rPr lang="en-GB"/>
              <a:t> the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and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/>
              <a:t> coordinate e.g. (2,4).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84" name="Google Shape;884;p77"/>
          <p:cNvPicPr preferRelativeResize="0"/>
          <p:nvPr/>
        </p:nvPicPr>
        <p:blipFill rotWithShape="1">
          <a:blip r:embed="rId3">
            <a:alphaModFix/>
          </a:blip>
          <a:srcRect b="0" l="0" r="13209" t="0"/>
          <a:stretch/>
        </p:blipFill>
        <p:spPr>
          <a:xfrm>
            <a:off x="5774400" y="1639500"/>
            <a:ext cx="3045600" cy="186365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85" name="Google Shape;885;p77"/>
          <p:cNvCxnSpPr/>
          <p:nvPr/>
        </p:nvCxnSpPr>
        <p:spPr>
          <a:xfrm flipH="1" rot="10800000">
            <a:off x="5268075" y="1930400"/>
            <a:ext cx="552000" cy="345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6" name="Google Shape;886;p77"/>
          <p:cNvSpPr/>
          <p:nvPr/>
        </p:nvSpPr>
        <p:spPr>
          <a:xfrm>
            <a:off x="8136150" y="2316425"/>
            <a:ext cx="312000" cy="3573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7"/>
          <p:cNvSpPr txBox="1"/>
          <p:nvPr>
            <p:ph idx="1" type="body"/>
          </p:nvPr>
        </p:nvSpPr>
        <p:spPr>
          <a:xfrm>
            <a:off x="324000" y="3240000"/>
            <a:ext cx="5301300" cy="45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graphing software will plot this point on your axis.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cxnSp>
        <p:nvCxnSpPr>
          <p:cNvPr id="888" name="Google Shape;888;p77"/>
          <p:cNvCxnSpPr/>
          <p:nvPr/>
        </p:nvCxnSpPr>
        <p:spPr>
          <a:xfrm flipH="1" rot="10800000">
            <a:off x="5134300" y="2649275"/>
            <a:ext cx="2926200" cy="10695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9" name="Google Shape;889;p77"/>
          <p:cNvSpPr/>
          <p:nvPr/>
        </p:nvSpPr>
        <p:spPr>
          <a:xfrm>
            <a:off x="5770575" y="1634650"/>
            <a:ext cx="3049500" cy="19023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78"/>
          <p:cNvSpPr/>
          <p:nvPr/>
        </p:nvSpPr>
        <p:spPr>
          <a:xfrm>
            <a:off x="5749450" y="1606475"/>
            <a:ext cx="3114300" cy="1951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896" name="Google Shape;896;p78"/>
          <p:cNvSpPr txBox="1"/>
          <p:nvPr>
            <p:ph idx="1" type="body"/>
          </p:nvPr>
        </p:nvSpPr>
        <p:spPr>
          <a:xfrm>
            <a:off x="324000" y="1577700"/>
            <a:ext cx="4500000" cy="5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Click on the ‘</a:t>
            </a:r>
            <a:r>
              <a:rPr lang="en-GB" sz="2000">
                <a:solidFill>
                  <a:schemeClr val="accent4"/>
                </a:solidFill>
              </a:rPr>
              <a:t>edit list</a:t>
            </a:r>
            <a:r>
              <a:rPr lang="en-GB" sz="2000"/>
              <a:t>’ button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pic>
        <p:nvPicPr>
          <p:cNvPr id="897" name="Google Shape;897;p78"/>
          <p:cNvPicPr preferRelativeResize="0"/>
          <p:nvPr/>
        </p:nvPicPr>
        <p:blipFill rotWithShape="1">
          <a:blip r:embed="rId3">
            <a:alphaModFix/>
          </a:blip>
          <a:srcRect b="0" l="0" r="13209" t="0"/>
          <a:stretch/>
        </p:blipFill>
        <p:spPr>
          <a:xfrm>
            <a:off x="5783800" y="1639925"/>
            <a:ext cx="3045600" cy="1863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8" name="Google Shape;898;p78"/>
          <p:cNvPicPr preferRelativeResize="0"/>
          <p:nvPr/>
        </p:nvPicPr>
        <p:blipFill rotWithShape="1">
          <a:blip r:embed="rId4">
            <a:alphaModFix/>
          </a:blip>
          <a:srcRect b="0" l="0" r="21728" t="0"/>
          <a:stretch/>
        </p:blipFill>
        <p:spPr>
          <a:xfrm>
            <a:off x="5758600" y="1639925"/>
            <a:ext cx="3096000" cy="19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9" name="Google Shape;899;p78"/>
          <p:cNvPicPr preferRelativeResize="0"/>
          <p:nvPr/>
        </p:nvPicPr>
        <p:blipFill rotWithShape="1">
          <a:blip r:embed="rId5">
            <a:alphaModFix/>
          </a:blip>
          <a:srcRect b="2629" l="0" r="7313" t="0"/>
          <a:stretch/>
        </p:blipFill>
        <p:spPr>
          <a:xfrm>
            <a:off x="5760546" y="1614750"/>
            <a:ext cx="3088800" cy="1936800"/>
          </a:xfrm>
          <a:prstGeom prst="rect">
            <a:avLst/>
          </a:prstGeom>
          <a:noFill/>
          <a:ln>
            <a:noFill/>
          </a:ln>
        </p:spPr>
      </p:pic>
      <p:sp>
        <p:nvSpPr>
          <p:cNvPr id="900" name="Google Shape;900;p78"/>
          <p:cNvSpPr txBox="1"/>
          <p:nvPr>
            <p:ph idx="1" type="body"/>
          </p:nvPr>
        </p:nvSpPr>
        <p:spPr>
          <a:xfrm>
            <a:off x="324000" y="662625"/>
            <a:ext cx="8673600" cy="6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can change the colour and point type by clicking on the ‘</a:t>
            </a:r>
            <a:r>
              <a:rPr lang="en-GB">
                <a:solidFill>
                  <a:schemeClr val="accent4"/>
                </a:solidFill>
              </a:rPr>
              <a:t>edit list</a:t>
            </a:r>
            <a:r>
              <a:rPr lang="en-GB"/>
              <a:t>’ button. </a:t>
            </a:r>
            <a:endParaRPr/>
          </a:p>
        </p:txBody>
      </p:sp>
      <p:cxnSp>
        <p:nvCxnSpPr>
          <p:cNvPr id="901" name="Google Shape;901;p78"/>
          <p:cNvCxnSpPr/>
          <p:nvPr/>
        </p:nvCxnSpPr>
        <p:spPr>
          <a:xfrm flipH="1" rot="10800000">
            <a:off x="4206400" y="1698000"/>
            <a:ext cx="2607000" cy="846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2" name="Google Shape;902;p78"/>
          <p:cNvCxnSpPr/>
          <p:nvPr/>
        </p:nvCxnSpPr>
        <p:spPr>
          <a:xfrm flipH="1" rot="10800000">
            <a:off x="5023725" y="1895325"/>
            <a:ext cx="753900" cy="563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3" name="Google Shape;903;p78"/>
          <p:cNvCxnSpPr/>
          <p:nvPr/>
        </p:nvCxnSpPr>
        <p:spPr>
          <a:xfrm flipH="1" rot="10800000">
            <a:off x="4499725" y="1937500"/>
            <a:ext cx="1623300" cy="19140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4" name="Google Shape;904;p78"/>
          <p:cNvCxnSpPr/>
          <p:nvPr/>
        </p:nvCxnSpPr>
        <p:spPr>
          <a:xfrm flipH="1" rot="10800000">
            <a:off x="4499725" y="2184100"/>
            <a:ext cx="1757100" cy="1667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78"/>
          <p:cNvSpPr txBox="1"/>
          <p:nvPr/>
        </p:nvSpPr>
        <p:spPr>
          <a:xfrm>
            <a:off x="232403" y="2184100"/>
            <a:ext cx="4904100" cy="15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the coloured dot next to the coordinate you want to change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906" name="Google Shape;906;p78"/>
          <p:cNvSpPr txBox="1"/>
          <p:nvPr/>
        </p:nvSpPr>
        <p:spPr>
          <a:xfrm>
            <a:off x="324000" y="3487075"/>
            <a:ext cx="41289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Select the colour or dot type you require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7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quadrilateral </a:t>
            </a:r>
            <a:endParaRPr sz="2000"/>
          </a:p>
        </p:txBody>
      </p:sp>
      <p:sp>
        <p:nvSpPr>
          <p:cNvPr id="912" name="Google Shape;912;p7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913" name="Google Shape;913;p79"/>
          <p:cNvSpPr txBox="1"/>
          <p:nvPr>
            <p:ph type="title"/>
          </p:nvPr>
        </p:nvSpPr>
        <p:spPr>
          <a:xfrm>
            <a:off x="319825" y="6528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Plot these coordinates. (-201,3)  (-50,1.49)</a:t>
            </a:r>
            <a:r>
              <a:rPr lang="en-GB" sz="1800"/>
              <a:t>  </a:t>
            </a:r>
            <a:r>
              <a:rPr lang="en-GB" sz="1800"/>
              <a:t>(-120,2.19)</a:t>
            </a:r>
            <a:r>
              <a:rPr lang="en-GB" sz="1800"/>
              <a:t>  </a:t>
            </a:r>
            <a:r>
              <a:rPr lang="en-GB" sz="1800"/>
              <a:t>(20,0.79)</a:t>
            </a:r>
            <a:endParaRPr sz="1800"/>
          </a:p>
        </p:txBody>
      </p:sp>
      <p:sp>
        <p:nvSpPr>
          <p:cNvPr id="914" name="Google Shape;914;p7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horizontal line</a:t>
            </a:r>
            <a:endParaRPr sz="2000"/>
          </a:p>
        </p:txBody>
      </p:sp>
      <p:sp>
        <p:nvSpPr>
          <p:cNvPr id="915" name="Google Shape;915;p7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diagonal line</a:t>
            </a:r>
            <a:endParaRPr sz="2000"/>
          </a:p>
        </p:txBody>
      </p:sp>
      <p:sp>
        <p:nvSpPr>
          <p:cNvPr id="916" name="Google Shape;916;p7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No pattern</a:t>
            </a:r>
            <a:endParaRPr sz="2000"/>
          </a:p>
        </p:txBody>
      </p:sp>
      <p:sp>
        <p:nvSpPr>
          <p:cNvPr id="917" name="Google Shape;917;p79"/>
          <p:cNvSpPr txBox="1"/>
          <p:nvPr>
            <p:ph type="title"/>
          </p:nvPr>
        </p:nvSpPr>
        <p:spPr>
          <a:xfrm>
            <a:off x="319825" y="960199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below best describes the pattern they form?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(you may need to change your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axis scale)</a:t>
            </a:r>
            <a:endParaRPr sz="1800"/>
          </a:p>
        </p:txBody>
      </p:sp>
      <p:pic>
        <p:nvPicPr>
          <p:cNvPr id="918" name="Google Shape;918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69608" y="328663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20000" y="1742375"/>
            <a:ext cx="4313176" cy="2577615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79"/>
          <p:cNvSpPr/>
          <p:nvPr/>
        </p:nvSpPr>
        <p:spPr>
          <a:xfrm>
            <a:off x="4326175" y="1740325"/>
            <a:ext cx="4313100" cy="25797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8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926" name="Google Shape;926;p80"/>
          <p:cNvSpPr txBox="1"/>
          <p:nvPr>
            <p:ph idx="1" type="body"/>
          </p:nvPr>
        </p:nvSpPr>
        <p:spPr>
          <a:xfrm>
            <a:off x="324000" y="759300"/>
            <a:ext cx="83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On</a:t>
            </a:r>
            <a:endParaRPr sz="1800"/>
          </a:p>
        </p:txBody>
      </p:sp>
      <p:pic>
        <p:nvPicPr>
          <p:cNvPr id="927" name="Google Shape;927;p80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4964100" y="810000"/>
            <a:ext cx="228492" cy="202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8" name="Google Shape;928;p80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1854504" y="2763076"/>
            <a:ext cx="228492" cy="202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29" name="Google Shape;929;p80"/>
          <p:cNvSpPr txBox="1"/>
          <p:nvPr>
            <p:ph idx="1" type="body"/>
          </p:nvPr>
        </p:nvSpPr>
        <p:spPr>
          <a:xfrm>
            <a:off x="324000" y="1826100"/>
            <a:ext cx="84960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Move your axis until you can see 28 on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axis. What is the next value visible below 28?</a:t>
            </a:r>
            <a:endParaRPr sz="1800"/>
          </a:p>
        </p:txBody>
      </p:sp>
      <p:sp>
        <p:nvSpPr>
          <p:cNvPr id="930" name="Google Shape;930;p80"/>
          <p:cNvSpPr txBox="1"/>
          <p:nvPr>
            <p:ph idx="1" type="body"/>
          </p:nvPr>
        </p:nvSpPr>
        <p:spPr>
          <a:xfrm>
            <a:off x="324000" y="2724150"/>
            <a:ext cx="1568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3"/>
            </a:pPr>
            <a:r>
              <a:rPr lang="en-GB" sz="1800"/>
              <a:t>Press the</a:t>
            </a:r>
            <a:endParaRPr sz="1800"/>
          </a:p>
        </p:txBody>
      </p:sp>
      <p:sp>
        <p:nvSpPr>
          <p:cNvPr id="931" name="Google Shape;931;p80"/>
          <p:cNvSpPr txBox="1"/>
          <p:nvPr>
            <p:ph idx="1" type="body"/>
          </p:nvPr>
        </p:nvSpPr>
        <p:spPr>
          <a:xfrm>
            <a:off x="324000" y="3403800"/>
            <a:ext cx="8496000" cy="6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4"/>
            </a:pPr>
            <a:r>
              <a:rPr lang="en-GB" sz="1800"/>
              <a:t>Plot the coordinates (2,4) and (2,6). Plot a third coordinate so it is in the middle of these coordinates. What coordinate did you plot?</a:t>
            </a:r>
            <a:endParaRPr sz="1800"/>
          </a:p>
        </p:txBody>
      </p:sp>
      <p:sp>
        <p:nvSpPr>
          <p:cNvPr id="932" name="Google Shape;932;p80"/>
          <p:cNvSpPr txBox="1"/>
          <p:nvPr>
            <p:ph idx="1" type="body"/>
          </p:nvPr>
        </p:nvSpPr>
        <p:spPr>
          <a:xfrm>
            <a:off x="2186175" y="2724150"/>
            <a:ext cx="6786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button. Describe what this does to your axes.</a:t>
            </a:r>
            <a:endParaRPr sz="1800"/>
          </a:p>
        </p:txBody>
      </p:sp>
      <p:sp>
        <p:nvSpPr>
          <p:cNvPr id="933" name="Google Shape;933;p80"/>
          <p:cNvSpPr txBox="1"/>
          <p:nvPr>
            <p:ph idx="1" type="body"/>
          </p:nvPr>
        </p:nvSpPr>
        <p:spPr>
          <a:xfrm>
            <a:off x="324000" y="1050425"/>
            <a:ext cx="84960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Change the step on your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axis to 3. Change the step on your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axis to 4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integer values do your axes range from and to?</a:t>
            </a:r>
            <a:endParaRPr sz="1800"/>
          </a:p>
        </p:txBody>
      </p:sp>
      <p:sp>
        <p:nvSpPr>
          <p:cNvPr id="934" name="Google Shape;934;p80"/>
          <p:cNvSpPr txBox="1"/>
          <p:nvPr>
            <p:ph idx="1" type="body"/>
          </p:nvPr>
        </p:nvSpPr>
        <p:spPr>
          <a:xfrm>
            <a:off x="1717025" y="759300"/>
            <a:ext cx="106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graphing</a:t>
            </a:r>
            <a:endParaRPr sz="1800"/>
          </a:p>
        </p:txBody>
      </p:sp>
      <p:sp>
        <p:nvSpPr>
          <p:cNvPr id="935" name="Google Shape;935;p80"/>
          <p:cNvSpPr txBox="1"/>
          <p:nvPr>
            <p:ph idx="1" type="body"/>
          </p:nvPr>
        </p:nvSpPr>
        <p:spPr>
          <a:xfrm>
            <a:off x="2778525" y="759300"/>
            <a:ext cx="1024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software</a:t>
            </a:r>
            <a:endParaRPr sz="1800"/>
          </a:p>
        </p:txBody>
      </p:sp>
      <p:sp>
        <p:nvSpPr>
          <p:cNvPr id="936" name="Google Shape;936;p80"/>
          <p:cNvSpPr txBox="1"/>
          <p:nvPr>
            <p:ph idx="1" type="body"/>
          </p:nvPr>
        </p:nvSpPr>
        <p:spPr>
          <a:xfrm>
            <a:off x="3819475" y="759300"/>
            <a:ext cx="106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press</a:t>
            </a:r>
            <a:r>
              <a:rPr lang="en-GB" sz="1800"/>
              <a:t> the</a:t>
            </a:r>
            <a:endParaRPr sz="1800"/>
          </a:p>
        </p:txBody>
      </p:sp>
      <p:sp>
        <p:nvSpPr>
          <p:cNvPr id="937" name="Google Shape;937;p80"/>
          <p:cNvSpPr txBox="1"/>
          <p:nvPr>
            <p:ph idx="1" type="body"/>
          </p:nvPr>
        </p:nvSpPr>
        <p:spPr>
          <a:xfrm>
            <a:off x="5312200" y="759300"/>
            <a:ext cx="1835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button if visible.</a:t>
            </a:r>
            <a:endParaRPr sz="1800"/>
          </a:p>
        </p:txBody>
      </p:sp>
      <p:sp>
        <p:nvSpPr>
          <p:cNvPr id="938" name="Google Shape;938;p80"/>
          <p:cNvSpPr txBox="1"/>
          <p:nvPr>
            <p:ph idx="1" type="body"/>
          </p:nvPr>
        </p:nvSpPr>
        <p:spPr>
          <a:xfrm>
            <a:off x="1162650" y="759300"/>
            <a:ext cx="522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your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81"/>
          <p:cNvSpPr txBox="1"/>
          <p:nvPr>
            <p:ph idx="1" type="body"/>
          </p:nvPr>
        </p:nvSpPr>
        <p:spPr>
          <a:xfrm>
            <a:off x="324000" y="4165800"/>
            <a:ext cx="8496000" cy="6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4"/>
            </a:pPr>
            <a:r>
              <a:rPr lang="en-GB" sz="1800"/>
              <a:t>Plot the coordinates (2,4) and (2,6). Plot a third coordinate so it is in the middle of these coordinates. What coordinate did you plot?</a:t>
            </a:r>
            <a:endParaRPr sz="1800"/>
          </a:p>
        </p:txBody>
      </p:sp>
      <p:sp>
        <p:nvSpPr>
          <p:cNvPr id="944" name="Google Shape;944;p81"/>
          <p:cNvSpPr txBox="1"/>
          <p:nvPr>
            <p:ph idx="1" type="body"/>
          </p:nvPr>
        </p:nvSpPr>
        <p:spPr>
          <a:xfrm>
            <a:off x="324000" y="2283300"/>
            <a:ext cx="84960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2"/>
            </a:pPr>
            <a:r>
              <a:rPr lang="en-GB" sz="1800"/>
              <a:t>Move your axis until you can see 28 on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axis. What is the next value visible below 28?</a:t>
            </a:r>
            <a:endParaRPr sz="1800"/>
          </a:p>
        </p:txBody>
      </p:sp>
      <p:sp>
        <p:nvSpPr>
          <p:cNvPr id="945" name="Google Shape;945;p8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946" name="Google Shape;946;p81"/>
          <p:cNvSpPr txBox="1"/>
          <p:nvPr/>
        </p:nvSpPr>
        <p:spPr>
          <a:xfrm>
            <a:off x="782100" y="1717900"/>
            <a:ext cx="77433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most display screens the </a:t>
            </a:r>
            <a:r>
              <a:rPr i="1" lang="en-GB" sz="22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will range from -9 to 9 and the </a:t>
            </a:r>
            <a:r>
              <a:rPr i="1"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axis from -4 to 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7" name="Google Shape;947;p81"/>
          <p:cNvSpPr txBox="1"/>
          <p:nvPr/>
        </p:nvSpPr>
        <p:spPr>
          <a:xfrm>
            <a:off x="2812775" y="2642250"/>
            <a:ext cx="768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8" name="Google Shape;948;p81"/>
          <p:cNvSpPr txBox="1"/>
          <p:nvPr/>
        </p:nvSpPr>
        <p:spPr>
          <a:xfrm>
            <a:off x="802025" y="3437059"/>
            <a:ext cx="80181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centres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screen around the origin. It also changes the axis so they have the same scale (although the steps are still different)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9" name="Google Shape;949;p81"/>
          <p:cNvSpPr txBox="1"/>
          <p:nvPr/>
        </p:nvSpPr>
        <p:spPr>
          <a:xfrm>
            <a:off x="7459200" y="4492403"/>
            <a:ext cx="768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(2,5)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0" name="Google Shape;950;p81"/>
          <p:cNvSpPr txBox="1"/>
          <p:nvPr>
            <p:ph idx="1" type="body"/>
          </p:nvPr>
        </p:nvSpPr>
        <p:spPr>
          <a:xfrm>
            <a:off x="324000" y="759300"/>
            <a:ext cx="838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On</a:t>
            </a:r>
            <a:endParaRPr sz="1800"/>
          </a:p>
        </p:txBody>
      </p:sp>
      <p:pic>
        <p:nvPicPr>
          <p:cNvPr id="951" name="Google Shape;951;p81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4964100" y="810000"/>
            <a:ext cx="228492" cy="202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52" name="Google Shape;952;p81"/>
          <p:cNvPicPr preferRelativeResize="0"/>
          <p:nvPr/>
        </p:nvPicPr>
        <p:blipFill rotWithShape="1">
          <a:blip r:embed="rId3">
            <a:alphaModFix/>
          </a:blip>
          <a:srcRect b="0" l="0" r="0" t="13770"/>
          <a:stretch/>
        </p:blipFill>
        <p:spPr>
          <a:xfrm>
            <a:off x="1854504" y="3144076"/>
            <a:ext cx="228492" cy="202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53" name="Google Shape;953;p81"/>
          <p:cNvSpPr txBox="1"/>
          <p:nvPr>
            <p:ph idx="1" type="body"/>
          </p:nvPr>
        </p:nvSpPr>
        <p:spPr>
          <a:xfrm>
            <a:off x="324000" y="3105150"/>
            <a:ext cx="1568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 startAt="3"/>
            </a:pPr>
            <a:r>
              <a:rPr lang="en-GB" sz="1800"/>
              <a:t>Press the</a:t>
            </a:r>
            <a:endParaRPr sz="1800"/>
          </a:p>
        </p:txBody>
      </p:sp>
      <p:sp>
        <p:nvSpPr>
          <p:cNvPr id="954" name="Google Shape;954;p81"/>
          <p:cNvSpPr txBox="1"/>
          <p:nvPr>
            <p:ph idx="1" type="body"/>
          </p:nvPr>
        </p:nvSpPr>
        <p:spPr>
          <a:xfrm>
            <a:off x="2186175" y="3105150"/>
            <a:ext cx="6786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button. Describe what this does to your axes.</a:t>
            </a:r>
            <a:endParaRPr sz="1800"/>
          </a:p>
        </p:txBody>
      </p:sp>
      <p:sp>
        <p:nvSpPr>
          <p:cNvPr id="955" name="Google Shape;955;p81"/>
          <p:cNvSpPr txBox="1"/>
          <p:nvPr>
            <p:ph idx="1" type="body"/>
          </p:nvPr>
        </p:nvSpPr>
        <p:spPr>
          <a:xfrm>
            <a:off x="324000" y="1050425"/>
            <a:ext cx="8496000" cy="74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Change the step on your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1800"/>
              <a:t> axis to 3. Change the step on your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1800"/>
              <a:t> axis to 4</a:t>
            </a:r>
            <a:endParaRPr sz="18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integer values do your axes range from and to?</a:t>
            </a:r>
            <a:endParaRPr sz="1800"/>
          </a:p>
        </p:txBody>
      </p:sp>
      <p:sp>
        <p:nvSpPr>
          <p:cNvPr id="956" name="Google Shape;956;p81"/>
          <p:cNvSpPr txBox="1"/>
          <p:nvPr>
            <p:ph idx="1" type="body"/>
          </p:nvPr>
        </p:nvSpPr>
        <p:spPr>
          <a:xfrm>
            <a:off x="1717025" y="759300"/>
            <a:ext cx="106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graphing</a:t>
            </a:r>
            <a:endParaRPr sz="1800"/>
          </a:p>
        </p:txBody>
      </p:sp>
      <p:sp>
        <p:nvSpPr>
          <p:cNvPr id="957" name="Google Shape;957;p81"/>
          <p:cNvSpPr txBox="1"/>
          <p:nvPr>
            <p:ph idx="1" type="body"/>
          </p:nvPr>
        </p:nvSpPr>
        <p:spPr>
          <a:xfrm>
            <a:off x="2778525" y="759300"/>
            <a:ext cx="1024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software</a:t>
            </a:r>
            <a:endParaRPr sz="1800"/>
          </a:p>
        </p:txBody>
      </p:sp>
      <p:sp>
        <p:nvSpPr>
          <p:cNvPr id="958" name="Google Shape;958;p81"/>
          <p:cNvSpPr txBox="1"/>
          <p:nvPr>
            <p:ph idx="1" type="body"/>
          </p:nvPr>
        </p:nvSpPr>
        <p:spPr>
          <a:xfrm>
            <a:off x="3819475" y="759300"/>
            <a:ext cx="1061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press the</a:t>
            </a:r>
            <a:endParaRPr sz="1800"/>
          </a:p>
        </p:txBody>
      </p:sp>
      <p:sp>
        <p:nvSpPr>
          <p:cNvPr id="959" name="Google Shape;959;p81"/>
          <p:cNvSpPr txBox="1"/>
          <p:nvPr>
            <p:ph idx="1" type="body"/>
          </p:nvPr>
        </p:nvSpPr>
        <p:spPr>
          <a:xfrm>
            <a:off x="5312200" y="759300"/>
            <a:ext cx="18351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button if visible.</a:t>
            </a:r>
            <a:endParaRPr sz="1800"/>
          </a:p>
        </p:txBody>
      </p:sp>
      <p:sp>
        <p:nvSpPr>
          <p:cNvPr id="960" name="Google Shape;960;p81"/>
          <p:cNvSpPr txBox="1"/>
          <p:nvPr>
            <p:ph idx="1" type="body"/>
          </p:nvPr>
        </p:nvSpPr>
        <p:spPr>
          <a:xfrm>
            <a:off x="1162650" y="759300"/>
            <a:ext cx="522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your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p8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966" name="Google Shape;966;p8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967" name="Google Shape;967;p8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968" name="Google Shape;968;p82"/>
          <p:cNvSpPr txBox="1"/>
          <p:nvPr>
            <p:ph idx="4" type="title"/>
          </p:nvPr>
        </p:nvSpPr>
        <p:spPr>
          <a:xfrm>
            <a:off x="324000" y="657600"/>
            <a:ext cx="7652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 using technology</a:t>
            </a:r>
            <a:endParaRPr/>
          </a:p>
        </p:txBody>
      </p:sp>
      <p:pic>
        <p:nvPicPr>
          <p:cNvPr id="969" name="Google Shape;96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2250" y="276552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975" name="Google Shape;975;p83"/>
          <p:cNvSpPr txBox="1"/>
          <p:nvPr>
            <p:ph idx="1" type="body"/>
          </p:nvPr>
        </p:nvSpPr>
        <p:spPr>
          <a:xfrm>
            <a:off x="324000" y="6864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Plotting coordinates in Desmos can make it easy to see whether there is a pattern.</a:t>
            </a:r>
            <a:endParaRPr sz="2000"/>
          </a:p>
        </p:txBody>
      </p:sp>
      <p:sp>
        <p:nvSpPr>
          <p:cNvPr id="976" name="Google Shape;976;p83"/>
          <p:cNvSpPr txBox="1"/>
          <p:nvPr>
            <p:ph idx="1" type="body"/>
          </p:nvPr>
        </p:nvSpPr>
        <p:spPr>
          <a:xfrm>
            <a:off x="324000" y="1620000"/>
            <a:ext cx="5382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Plot the coordinates below, what do you notice?</a:t>
            </a:r>
            <a:endParaRPr sz="1800"/>
          </a:p>
        </p:txBody>
      </p:sp>
      <p:sp>
        <p:nvSpPr>
          <p:cNvPr id="977" name="Google Shape;977;p83"/>
          <p:cNvSpPr txBox="1"/>
          <p:nvPr>
            <p:ph idx="1" type="body"/>
          </p:nvPr>
        </p:nvSpPr>
        <p:spPr>
          <a:xfrm>
            <a:off x="336150" y="2112443"/>
            <a:ext cx="51990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(5,8)  (4,6)  (0,-2)  (3,4)  (1,0)</a:t>
            </a:r>
            <a:endParaRPr sz="1800"/>
          </a:p>
        </p:txBody>
      </p:sp>
      <p:sp>
        <p:nvSpPr>
          <p:cNvPr id="978" name="Google Shape;978;p83"/>
          <p:cNvSpPr txBox="1"/>
          <p:nvPr>
            <p:ph idx="1" type="body"/>
          </p:nvPr>
        </p:nvSpPr>
        <p:spPr>
          <a:xfrm>
            <a:off x="336150" y="2639875"/>
            <a:ext cx="51990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all lie on a straight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79" name="Google Shape;979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74400" y="1144325"/>
            <a:ext cx="2854850" cy="28548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80" name="Google Shape;980;p83"/>
          <p:cNvSpPr txBox="1"/>
          <p:nvPr>
            <p:ph idx="1" type="body"/>
          </p:nvPr>
        </p:nvSpPr>
        <p:spPr>
          <a:xfrm>
            <a:off x="324000" y="3266100"/>
            <a:ext cx="53829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Can you find another coordinate that lies on the same line?</a:t>
            </a:r>
            <a:endParaRPr sz="1800"/>
          </a:p>
        </p:txBody>
      </p:sp>
      <p:sp>
        <p:nvSpPr>
          <p:cNvPr id="981" name="Google Shape;981;p83"/>
          <p:cNvSpPr txBox="1"/>
          <p:nvPr>
            <p:ph idx="1" type="body"/>
          </p:nvPr>
        </p:nvSpPr>
        <p:spPr>
          <a:xfrm>
            <a:off x="324000" y="4173250"/>
            <a:ext cx="84960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(2,2) There are other options beyond these axes or using non-integer values.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987" name="Google Shape;987;p84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Using Desmos can be especially helpful when working with non- integer </a:t>
            </a:r>
            <a:r>
              <a:rPr lang="en-GB" sz="2000"/>
              <a:t>coordinates.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988" name="Google Shape;988;p84"/>
          <p:cNvSpPr txBox="1"/>
          <p:nvPr>
            <p:ph idx="1" type="body"/>
          </p:nvPr>
        </p:nvSpPr>
        <p:spPr>
          <a:xfrm>
            <a:off x="324000" y="1620000"/>
            <a:ext cx="5199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Add the coordinates (0.5,-1) and (3.2,4.4) to your graph.</a:t>
            </a:r>
            <a:endParaRPr sz="2000"/>
          </a:p>
        </p:txBody>
      </p:sp>
      <p:sp>
        <p:nvSpPr>
          <p:cNvPr id="989" name="Google Shape;989;p84"/>
          <p:cNvSpPr txBox="1"/>
          <p:nvPr>
            <p:ph idx="1" type="body"/>
          </p:nvPr>
        </p:nvSpPr>
        <p:spPr>
          <a:xfrm>
            <a:off x="324000" y="2735550"/>
            <a:ext cx="52998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Do these coordinates follow the same rule?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do you know?</a:t>
            </a:r>
            <a:endParaRPr sz="2000"/>
          </a:p>
        </p:txBody>
      </p:sp>
      <p:sp>
        <p:nvSpPr>
          <p:cNvPr id="990" name="Google Shape;990;p84"/>
          <p:cNvSpPr txBox="1"/>
          <p:nvPr>
            <p:ph idx="1" type="body"/>
          </p:nvPr>
        </p:nvSpPr>
        <p:spPr>
          <a:xfrm>
            <a:off x="374400" y="3750600"/>
            <a:ext cx="5199000" cy="38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as they sit on the same 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91" name="Google Shape;991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44050" y="1267800"/>
            <a:ext cx="2864400" cy="28644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997" name="Google Shape;997;p85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If you know the rule linking all the coordinates, you can write the equation into Desmos.</a:t>
            </a:r>
            <a:r>
              <a:rPr lang="en-GB" sz="2000"/>
              <a:t>  </a:t>
            </a:r>
            <a:endParaRPr sz="2000"/>
          </a:p>
        </p:txBody>
      </p:sp>
      <p:sp>
        <p:nvSpPr>
          <p:cNvPr id="998" name="Google Shape;998;p85"/>
          <p:cNvSpPr txBox="1"/>
          <p:nvPr>
            <p:ph idx="1" type="body"/>
          </p:nvPr>
        </p:nvSpPr>
        <p:spPr>
          <a:xfrm>
            <a:off x="324000" y="1620000"/>
            <a:ext cx="5199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Click on the left-hand menu </a:t>
            </a:r>
            <a:endParaRPr sz="2000"/>
          </a:p>
        </p:txBody>
      </p:sp>
      <p:sp>
        <p:nvSpPr>
          <p:cNvPr id="999" name="Google Shape;999;p85"/>
          <p:cNvSpPr txBox="1"/>
          <p:nvPr>
            <p:ph idx="1" type="body"/>
          </p:nvPr>
        </p:nvSpPr>
        <p:spPr>
          <a:xfrm>
            <a:off x="324000" y="2077200"/>
            <a:ext cx="47268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Type in the equation that links all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y=2x-2&quot;&gt;&lt;mi&gt;y&lt;/mi&gt;&lt;mo&gt;=&lt;/mo&gt;&lt;mn&gt;2&lt;/mn&gt;&lt;mi&gt;x&lt;/mi&gt;&lt;mo&gt;−&lt;/mo&gt;&lt;mn&gt;2&lt;/mn&gt;&lt;/math&gt;" id="1000" name="Google Shape;1000;p85" title="y equals 2 x min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4800" y="2471654"/>
            <a:ext cx="1422000" cy="28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1" name="Google Shape;1001;p85"/>
          <p:cNvPicPr preferRelativeResize="0"/>
          <p:nvPr/>
        </p:nvPicPr>
        <p:blipFill rotWithShape="1">
          <a:blip r:embed="rId4">
            <a:alphaModFix/>
          </a:blip>
          <a:srcRect b="0" l="0" r="60937" t="40098"/>
          <a:stretch/>
        </p:blipFill>
        <p:spPr>
          <a:xfrm>
            <a:off x="5362125" y="1427050"/>
            <a:ext cx="2801049" cy="28245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002" name="Google Shape;1002;p85"/>
          <p:cNvCxnSpPr/>
          <p:nvPr/>
        </p:nvCxnSpPr>
        <p:spPr>
          <a:xfrm>
            <a:off x="4479325" y="2795725"/>
            <a:ext cx="957600" cy="3477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3" name="Google Shape;1003;p85"/>
          <p:cNvSpPr txBox="1"/>
          <p:nvPr>
            <p:ph idx="1" type="body"/>
          </p:nvPr>
        </p:nvSpPr>
        <p:spPr>
          <a:xfrm>
            <a:off x="324000" y="2954725"/>
            <a:ext cx="4726800" cy="12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 colour and style can be changed in the same way as a coordinate</a:t>
            </a:r>
            <a:r>
              <a:rPr lang="en-GB" sz="2000"/>
              <a:t>  </a:t>
            </a:r>
            <a:endParaRPr sz="2000"/>
          </a:p>
        </p:txBody>
      </p:sp>
      <p:pic>
        <p:nvPicPr>
          <p:cNvPr id="1004" name="Google Shape;1004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3800" y="1348138"/>
            <a:ext cx="3117700" cy="32428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05" name="Google Shape;1005;p85"/>
          <p:cNvSpPr txBox="1"/>
          <p:nvPr>
            <p:ph idx="1" type="body"/>
          </p:nvPr>
        </p:nvSpPr>
        <p:spPr>
          <a:xfrm>
            <a:off x="324000" y="4158950"/>
            <a:ext cx="5038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Does the line go through all your coordinates?</a:t>
            </a:r>
            <a:r>
              <a:rPr lang="en-GB" sz="2000"/>
              <a:t> </a:t>
            </a:r>
            <a:endParaRPr sz="2000"/>
          </a:p>
        </p:txBody>
      </p:sp>
      <p:cxnSp>
        <p:nvCxnSpPr>
          <p:cNvPr id="1006" name="Google Shape;1006;p85"/>
          <p:cNvCxnSpPr/>
          <p:nvPr/>
        </p:nvCxnSpPr>
        <p:spPr>
          <a:xfrm flipH="1" rot="10800000">
            <a:off x="4615225" y="3396038"/>
            <a:ext cx="668400" cy="813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85"/>
          <p:cNvSpPr txBox="1"/>
          <p:nvPr>
            <p:ph idx="1" type="body"/>
          </p:nvPr>
        </p:nvSpPr>
        <p:spPr>
          <a:xfrm>
            <a:off x="806325" y="2458200"/>
            <a:ext cx="1929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</a:t>
            </a:r>
            <a:r>
              <a:rPr lang="en-GB" sz="2000"/>
              <a:t>he coordinates</a:t>
            </a:r>
            <a:endParaRPr sz="2000"/>
          </a:p>
        </p:txBody>
      </p:sp>
      <p:sp>
        <p:nvSpPr>
          <p:cNvPr id="1008" name="Google Shape;1008;p85"/>
          <p:cNvSpPr txBox="1"/>
          <p:nvPr>
            <p:ph idx="1" type="body"/>
          </p:nvPr>
        </p:nvSpPr>
        <p:spPr>
          <a:xfrm>
            <a:off x="2772975" y="2458200"/>
            <a:ext cx="5277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(try                     </a:t>
            </a:r>
            <a:endParaRPr sz="2000"/>
          </a:p>
        </p:txBody>
      </p:sp>
      <p:sp>
        <p:nvSpPr>
          <p:cNvPr id="1009" name="Google Shape;1009;p85"/>
          <p:cNvSpPr txBox="1"/>
          <p:nvPr>
            <p:ph idx="1" type="body"/>
          </p:nvPr>
        </p:nvSpPr>
        <p:spPr>
          <a:xfrm>
            <a:off x="4871500" y="2458200"/>
            <a:ext cx="789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) 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86"/>
          <p:cNvSpPr txBox="1"/>
          <p:nvPr>
            <p:ph idx="1" type="body"/>
          </p:nvPr>
        </p:nvSpPr>
        <p:spPr>
          <a:xfrm>
            <a:off x="301950" y="2468650"/>
            <a:ext cx="4840500" cy="5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</a:t>
            </a:r>
            <a:r>
              <a:rPr lang="en-GB" sz="1900"/>
              <a:t>points</a:t>
            </a:r>
            <a:endParaRPr sz="1900"/>
          </a:p>
        </p:txBody>
      </p:sp>
      <p:sp>
        <p:nvSpPr>
          <p:cNvPr id="1015" name="Google Shape;101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016" name="Google Shape;1016;p86"/>
          <p:cNvSpPr txBox="1"/>
          <p:nvPr>
            <p:ph idx="1" type="body"/>
          </p:nvPr>
        </p:nvSpPr>
        <p:spPr>
          <a:xfrm>
            <a:off x="324000" y="1062041"/>
            <a:ext cx="4796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so the coordinates must satisfy this rule.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86"/>
          <p:cNvSpPr txBox="1"/>
          <p:nvPr>
            <p:ph idx="1" type="body"/>
          </p:nvPr>
        </p:nvSpPr>
        <p:spPr>
          <a:xfrm>
            <a:off x="324000" y="1829975"/>
            <a:ext cx="4724100" cy="74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Why do you think Desmos has drawn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 straight line and not just plotted all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y=2x-2&quot;&gt;&lt;mi&gt;y&lt;/mi&gt;&lt;mo&gt;=&lt;/mo&gt;&lt;mn&gt;2&lt;/mn&gt;&lt;mi&gt;x&lt;/mi&gt;&lt;mo&gt;−&lt;/mo&gt;&lt;mn&gt;2&lt;/mn&gt;&lt;/math&gt;" id="1018" name="Google Shape;1018;p86" title="y equals 2 x min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8600" y="2524715"/>
            <a:ext cx="1422000" cy="28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9" name="Google Shape;1019;p86"/>
          <p:cNvSpPr txBox="1"/>
          <p:nvPr>
            <p:ph idx="1" type="body"/>
          </p:nvPr>
        </p:nvSpPr>
        <p:spPr>
          <a:xfrm>
            <a:off x="324000" y="655546"/>
            <a:ext cx="80475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Does the line go through all your coordinates? </a:t>
            </a:r>
            <a:endParaRPr sz="1900"/>
          </a:p>
        </p:txBody>
      </p:sp>
      <p:pic>
        <p:nvPicPr>
          <p:cNvPr id="1020" name="Google Shape;1020;p86"/>
          <p:cNvPicPr preferRelativeResize="0"/>
          <p:nvPr/>
        </p:nvPicPr>
        <p:blipFill rotWithShape="1">
          <a:blip r:embed="rId4">
            <a:alphaModFix/>
          </a:blip>
          <a:srcRect b="0" l="18850" r="0" t="0"/>
          <a:stretch/>
        </p:blipFill>
        <p:spPr>
          <a:xfrm>
            <a:off x="5282150" y="1246775"/>
            <a:ext cx="3197324" cy="357363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1" name="Google Shape;1021;p86"/>
          <p:cNvSpPr txBox="1"/>
          <p:nvPr>
            <p:ph idx="1" type="body"/>
          </p:nvPr>
        </p:nvSpPr>
        <p:spPr>
          <a:xfrm>
            <a:off x="324000" y="2943422"/>
            <a:ext cx="47964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There are an infinite number of points that fit this rule.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86"/>
          <p:cNvSpPr txBox="1"/>
          <p:nvPr>
            <p:ph idx="1" type="body"/>
          </p:nvPr>
        </p:nvSpPr>
        <p:spPr>
          <a:xfrm>
            <a:off x="310875" y="3721175"/>
            <a:ext cx="4891500" cy="10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Drawing a line shows all the points that follow this rule including decimal values.</a:t>
            </a:r>
            <a:endParaRPr sz="1900"/>
          </a:p>
        </p:txBody>
      </p:sp>
      <p:sp>
        <p:nvSpPr>
          <p:cNvPr id="1023" name="Google Shape;1023;p86"/>
          <p:cNvSpPr txBox="1"/>
          <p:nvPr>
            <p:ph idx="1" type="body"/>
          </p:nvPr>
        </p:nvSpPr>
        <p:spPr>
          <a:xfrm>
            <a:off x="1525825" y="2468650"/>
            <a:ext cx="3768900" cy="5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that fit</a:t>
            </a:r>
            <a:endParaRPr sz="1900"/>
          </a:p>
        </p:txBody>
      </p:sp>
      <p:sp>
        <p:nvSpPr>
          <p:cNvPr id="1024" name="Google Shape;1024;p86"/>
          <p:cNvSpPr txBox="1"/>
          <p:nvPr>
            <p:ph idx="1" type="body"/>
          </p:nvPr>
        </p:nvSpPr>
        <p:spPr>
          <a:xfrm>
            <a:off x="2406925" y="2468650"/>
            <a:ext cx="1422000" cy="5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the rule</a:t>
            </a:r>
            <a:endParaRPr sz="1900"/>
          </a:p>
        </p:txBody>
      </p:sp>
      <p:sp>
        <p:nvSpPr>
          <p:cNvPr id="1025" name="Google Shape;1025;p86"/>
          <p:cNvSpPr txBox="1"/>
          <p:nvPr>
            <p:ph idx="1" type="body"/>
          </p:nvPr>
        </p:nvSpPr>
        <p:spPr>
          <a:xfrm>
            <a:off x="4910975" y="2426700"/>
            <a:ext cx="688500" cy="5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?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031" name="Google Shape;1031;p87"/>
          <p:cNvSpPr txBox="1"/>
          <p:nvPr>
            <p:ph idx="1" type="body"/>
          </p:nvPr>
        </p:nvSpPr>
        <p:spPr>
          <a:xfrm>
            <a:off x="324000" y="1327923"/>
            <a:ext cx="51990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Click on the edit list button 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y=2x-2&quot;&gt;&lt;mi&gt;y&lt;/mi&gt;&lt;mo&gt;=&lt;/mo&gt;&lt;mn&gt;2&lt;/mn&gt;&lt;mi&gt;x&lt;/mi&gt;&lt;mo&gt;−&lt;/mo&gt;&lt;mn&gt;2&lt;/mn&gt;&lt;/math&gt;" id="1032" name="Google Shape;1032;p87" title="y equals 2 x min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156" y="3056778"/>
            <a:ext cx="1350000" cy="2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87"/>
          <p:cNvSpPr txBox="1"/>
          <p:nvPr>
            <p:ph idx="1" type="body"/>
          </p:nvPr>
        </p:nvSpPr>
        <p:spPr>
          <a:xfrm>
            <a:off x="324000" y="774596"/>
            <a:ext cx="8047500" cy="48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You can get Desmos to generate coordinates that follow a rule. </a:t>
            </a:r>
            <a:endParaRPr sz="1900"/>
          </a:p>
        </p:txBody>
      </p:sp>
      <p:pic>
        <p:nvPicPr>
          <p:cNvPr id="1034" name="Google Shape;1034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02" y="1509663"/>
            <a:ext cx="2496148" cy="26187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5" name="Google Shape;1035;p87"/>
          <p:cNvSpPr txBox="1"/>
          <p:nvPr>
            <p:ph idx="1" type="body"/>
          </p:nvPr>
        </p:nvSpPr>
        <p:spPr>
          <a:xfrm>
            <a:off x="324000" y="1875260"/>
            <a:ext cx="51990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GB" sz="1900"/>
              <a:t>Click on ‘create table’ </a:t>
            </a:r>
            <a:endParaRPr sz="1900"/>
          </a:p>
        </p:txBody>
      </p:sp>
      <p:pic>
        <p:nvPicPr>
          <p:cNvPr id="1036" name="Google Shape;1036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75916" y="1357262"/>
            <a:ext cx="2757261" cy="29235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37" name="Google Shape;1037;p87"/>
          <p:cNvSpPr txBox="1"/>
          <p:nvPr>
            <p:ph idx="1" type="body"/>
          </p:nvPr>
        </p:nvSpPr>
        <p:spPr>
          <a:xfrm>
            <a:off x="324000" y="2380048"/>
            <a:ext cx="5199000" cy="40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This will bring up a table with some examples of coordinates that fit the rule</a:t>
            </a:r>
            <a:endParaRPr sz="1900"/>
          </a:p>
        </p:txBody>
      </p:sp>
      <p:grpSp>
        <p:nvGrpSpPr>
          <p:cNvPr id="1038" name="Google Shape;1038;p87"/>
          <p:cNvGrpSpPr/>
          <p:nvPr/>
        </p:nvGrpSpPr>
        <p:grpSpPr>
          <a:xfrm>
            <a:off x="4100900" y="1501450"/>
            <a:ext cx="3900025" cy="316800"/>
            <a:chOff x="4100900" y="1382400"/>
            <a:chExt cx="3900025" cy="316800"/>
          </a:xfrm>
        </p:grpSpPr>
        <p:cxnSp>
          <p:nvCxnSpPr>
            <p:cNvPr id="1039" name="Google Shape;1039;p87"/>
            <p:cNvCxnSpPr/>
            <p:nvPr/>
          </p:nvCxnSpPr>
          <p:spPr>
            <a:xfrm>
              <a:off x="4100900" y="1382400"/>
              <a:ext cx="3645300" cy="138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0" name="Google Shape;1040;p87"/>
            <p:cNvSpPr/>
            <p:nvPr/>
          </p:nvSpPr>
          <p:spPr>
            <a:xfrm>
              <a:off x="7738425" y="1382400"/>
              <a:ext cx="262500" cy="316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1" name="Google Shape;1041;p87"/>
          <p:cNvGrpSpPr/>
          <p:nvPr/>
        </p:nvGrpSpPr>
        <p:grpSpPr>
          <a:xfrm>
            <a:off x="3583450" y="2018900"/>
            <a:ext cx="4050062" cy="2000250"/>
            <a:chOff x="4296854" y="-339350"/>
            <a:chExt cx="3711907" cy="2000250"/>
          </a:xfrm>
        </p:grpSpPr>
        <p:cxnSp>
          <p:nvCxnSpPr>
            <p:cNvPr id="1042" name="Google Shape;1042;p87"/>
            <p:cNvCxnSpPr/>
            <p:nvPr/>
          </p:nvCxnSpPr>
          <p:spPr>
            <a:xfrm>
              <a:off x="4296854" y="-339350"/>
              <a:ext cx="3449400" cy="18606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43" name="Google Shape;1043;p87"/>
            <p:cNvSpPr/>
            <p:nvPr/>
          </p:nvSpPr>
          <p:spPr>
            <a:xfrm>
              <a:off x="7746261" y="1344100"/>
              <a:ext cx="262500" cy="316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4" name="Google Shape;1044;p8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33756" y="1357250"/>
            <a:ext cx="3374193" cy="292359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grpSp>
        <p:nvGrpSpPr>
          <p:cNvPr id="1045" name="Google Shape;1045;p87"/>
          <p:cNvGrpSpPr/>
          <p:nvPr/>
        </p:nvGrpSpPr>
        <p:grpSpPr>
          <a:xfrm>
            <a:off x="5417400" y="3965100"/>
            <a:ext cx="1506000" cy="403800"/>
            <a:chOff x="540600" y="3846050"/>
            <a:chExt cx="1506000" cy="403800"/>
          </a:xfrm>
        </p:grpSpPr>
        <p:sp>
          <p:nvSpPr>
            <p:cNvPr id="1046" name="Google Shape;1046;p87"/>
            <p:cNvSpPr/>
            <p:nvPr/>
          </p:nvSpPr>
          <p:spPr>
            <a:xfrm>
              <a:off x="540600" y="3846050"/>
              <a:ext cx="1506000" cy="40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coordinate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x&quot;&gt;&lt;mi&gt;x&lt;/mi&gt;&lt;/math&gt;" id="1047" name="Google Shape;1047;p87" title="x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594661" y="3938863"/>
              <a:ext cx="136800" cy="1276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48" name="Google Shape;1048;p87"/>
          <p:cNvGrpSpPr/>
          <p:nvPr/>
        </p:nvGrpSpPr>
        <p:grpSpPr>
          <a:xfrm>
            <a:off x="7062908" y="3959711"/>
            <a:ext cx="1506000" cy="403800"/>
            <a:chOff x="540600" y="4312277"/>
            <a:chExt cx="1506000" cy="403800"/>
          </a:xfrm>
        </p:grpSpPr>
        <p:sp>
          <p:nvSpPr>
            <p:cNvPr id="1049" name="Google Shape;1049;p87"/>
            <p:cNvSpPr/>
            <p:nvPr/>
          </p:nvSpPr>
          <p:spPr>
            <a:xfrm>
              <a:off x="540600" y="4312277"/>
              <a:ext cx="1506000" cy="403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   coordinate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y&quot;&gt;&lt;mi&gt;y&lt;/mi&gt;&lt;/math&gt;" id="1050" name="Google Shape;1050;p87" title="y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592850" y="4410597"/>
              <a:ext cx="140400" cy="189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1" name="Google Shape;1051;p87"/>
          <p:cNvGrpSpPr/>
          <p:nvPr/>
        </p:nvGrpSpPr>
        <p:grpSpPr>
          <a:xfrm>
            <a:off x="5977575" y="2190425"/>
            <a:ext cx="386100" cy="1774675"/>
            <a:chOff x="5825175" y="1918975"/>
            <a:chExt cx="386100" cy="1774675"/>
          </a:xfrm>
        </p:grpSpPr>
        <p:cxnSp>
          <p:nvCxnSpPr>
            <p:cNvPr id="1052" name="Google Shape;1052;p87"/>
            <p:cNvCxnSpPr>
              <a:stCxn id="1046" idx="0"/>
            </p:cNvCxnSpPr>
            <p:nvPr/>
          </p:nvCxnSpPr>
          <p:spPr>
            <a:xfrm flipH="1" rot="10800000">
              <a:off x="6018000" y="2234150"/>
              <a:ext cx="15600" cy="14595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3" name="Google Shape;1053;p87"/>
            <p:cNvSpPr/>
            <p:nvPr/>
          </p:nvSpPr>
          <p:spPr>
            <a:xfrm>
              <a:off x="5825175" y="1918975"/>
              <a:ext cx="386100" cy="316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54" name="Google Shape;1054;p87"/>
          <p:cNvGrpSpPr/>
          <p:nvPr/>
        </p:nvGrpSpPr>
        <p:grpSpPr>
          <a:xfrm>
            <a:off x="6587975" y="2190425"/>
            <a:ext cx="1227750" cy="1774800"/>
            <a:chOff x="4790300" y="1918975"/>
            <a:chExt cx="1227750" cy="1774800"/>
          </a:xfrm>
        </p:grpSpPr>
        <p:cxnSp>
          <p:nvCxnSpPr>
            <p:cNvPr id="1055" name="Google Shape;1055;p87"/>
            <p:cNvCxnSpPr>
              <a:endCxn id="1056" idx="2"/>
            </p:cNvCxnSpPr>
            <p:nvPr/>
          </p:nvCxnSpPr>
          <p:spPr>
            <a:xfrm rot="10800000">
              <a:off x="4983350" y="2235775"/>
              <a:ext cx="1034700" cy="14580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56" name="Google Shape;1056;p87"/>
            <p:cNvSpPr/>
            <p:nvPr/>
          </p:nvSpPr>
          <p:spPr>
            <a:xfrm>
              <a:off x="4790300" y="1918975"/>
              <a:ext cx="386100" cy="316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062" name="Google Shape;1062;p88"/>
          <p:cNvSpPr txBox="1"/>
          <p:nvPr>
            <p:ph idx="1" type="body"/>
          </p:nvPr>
        </p:nvSpPr>
        <p:spPr>
          <a:xfrm>
            <a:off x="324000" y="759300"/>
            <a:ext cx="82377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Plot the coordinates (26,5) (26,-1) (26, 12) (26,0).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You</a:t>
            </a:r>
            <a:r>
              <a:rPr lang="en-GB" sz="2000"/>
              <a:t> may need to move your axes to find them.</a:t>
            </a:r>
            <a:endParaRPr sz="2000"/>
          </a:p>
        </p:txBody>
      </p:sp>
      <p:sp>
        <p:nvSpPr>
          <p:cNvPr id="1063" name="Google Shape;1063;p88"/>
          <p:cNvSpPr txBox="1"/>
          <p:nvPr>
            <p:ph idx="1" type="body"/>
          </p:nvPr>
        </p:nvSpPr>
        <p:spPr>
          <a:xfrm>
            <a:off x="324000" y="1620000"/>
            <a:ext cx="51990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do you notice about those points?</a:t>
            </a:r>
            <a:endParaRPr sz="2000"/>
          </a:p>
        </p:txBody>
      </p:sp>
      <p:sp>
        <p:nvSpPr>
          <p:cNvPr id="1064" name="Google Shape;1064;p88"/>
          <p:cNvSpPr txBox="1"/>
          <p:nvPr>
            <p:ph idx="1" type="body"/>
          </p:nvPr>
        </p:nvSpPr>
        <p:spPr>
          <a:xfrm>
            <a:off x="400200" y="2541000"/>
            <a:ext cx="4726800" cy="54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How can we write an equation for this rule?</a:t>
            </a:r>
            <a:r>
              <a:rPr lang="en-GB" sz="2000"/>
              <a:t> </a:t>
            </a:r>
            <a:endParaRPr sz="2000"/>
          </a:p>
        </p:txBody>
      </p:sp>
      <p:sp>
        <p:nvSpPr>
          <p:cNvPr id="1065" name="Google Shape;1065;p88"/>
          <p:cNvSpPr txBox="1"/>
          <p:nvPr>
            <p:ph idx="1" type="body"/>
          </p:nvPr>
        </p:nvSpPr>
        <p:spPr>
          <a:xfrm>
            <a:off x="400200" y="3293200"/>
            <a:ext cx="4726800" cy="76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Type your equation in to check if it’s correct.</a:t>
            </a:r>
            <a:endParaRPr sz="2000"/>
          </a:p>
        </p:txBody>
      </p:sp>
      <p:sp>
        <p:nvSpPr>
          <p:cNvPr id="1066" name="Google Shape;1066;p88"/>
          <p:cNvSpPr txBox="1"/>
          <p:nvPr>
            <p:ph idx="1" type="body"/>
          </p:nvPr>
        </p:nvSpPr>
        <p:spPr>
          <a:xfrm>
            <a:off x="324000" y="2028469"/>
            <a:ext cx="47964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sit on a vertical line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x=26&quot;&gt;&lt;mi&gt;x&lt;/mi&gt;&lt;mo&gt;=&lt;/mo&gt;&lt;mn&gt;26&lt;/mn&gt;&lt;/math&gt;" id="1067" name="Google Shape;1067;p88" title="x equals 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200" y="4089550"/>
            <a:ext cx="888082" cy="23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88"/>
          <p:cNvSpPr txBox="1"/>
          <p:nvPr>
            <p:ph idx="1" type="body"/>
          </p:nvPr>
        </p:nvSpPr>
        <p:spPr>
          <a:xfrm>
            <a:off x="365400" y="4507375"/>
            <a:ext cx="5792100" cy="31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If the line goes through the points, it is correct.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69" name="Google Shape;106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58125" y="1774346"/>
            <a:ext cx="3244801" cy="254565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70" name="Google Shape;1070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93988" y="1645744"/>
            <a:ext cx="2773076" cy="280288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89"/>
          <p:cNvSpPr txBox="1"/>
          <p:nvPr>
            <p:ph idx="1" type="body"/>
          </p:nvPr>
        </p:nvSpPr>
        <p:spPr>
          <a:xfrm>
            <a:off x="324000" y="6831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check </a:t>
            </a:r>
            <a:r>
              <a:rPr lang="en-GB" sz="1800"/>
              <a:t>we have the correct rule by typing the rule and coordinates into Desmos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76" name="Google Shape;107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077" name="Google Shape;1077;p89"/>
          <p:cNvSpPr txBox="1"/>
          <p:nvPr>
            <p:ph idx="1" type="body"/>
          </p:nvPr>
        </p:nvSpPr>
        <p:spPr>
          <a:xfrm>
            <a:off x="324000" y="1856300"/>
            <a:ext cx="84960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Do these coordinates lie on these lines</a:t>
            </a:r>
            <a:r>
              <a:rPr lang="en-GB" sz="1800"/>
              <a:t>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4&quot;&gt;&lt;mi&gt;y&lt;/mi&gt;&lt;mo&gt;=&lt;/mo&gt;&lt;mn&gt;4&lt;/mn&gt;&lt;/math&gt;" id="1078" name="Google Shape;1078;p89" title="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88" y="2411913"/>
            <a:ext cx="751115" cy="29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89"/>
          <p:cNvSpPr txBox="1"/>
          <p:nvPr>
            <p:ph idx="1" type="body"/>
          </p:nvPr>
        </p:nvSpPr>
        <p:spPr>
          <a:xfrm>
            <a:off x="1985825" y="2386850"/>
            <a:ext cx="7050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(-2,4)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0" name="Google Shape;1080;p89"/>
          <p:cNvSpPr txBox="1"/>
          <p:nvPr>
            <p:ph idx="1" type="body"/>
          </p:nvPr>
        </p:nvSpPr>
        <p:spPr>
          <a:xfrm>
            <a:off x="5413800" y="2357000"/>
            <a:ext cx="34815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coordinate is 4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1" name="Google Shape;1081;p89"/>
          <p:cNvSpPr/>
          <p:nvPr/>
        </p:nvSpPr>
        <p:spPr>
          <a:xfrm>
            <a:off x="2286000" y="2396394"/>
            <a:ext cx="247200" cy="29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89"/>
          <p:cNvSpPr/>
          <p:nvPr/>
        </p:nvSpPr>
        <p:spPr>
          <a:xfrm>
            <a:off x="2924950" y="2396394"/>
            <a:ext cx="247200" cy="29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3" name="Google Shape;1083;p89"/>
          <p:cNvSpPr/>
          <p:nvPr/>
        </p:nvSpPr>
        <p:spPr>
          <a:xfrm>
            <a:off x="3563900" y="2396394"/>
            <a:ext cx="247200" cy="29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4" name="Google Shape;1084;p89"/>
          <p:cNvSpPr/>
          <p:nvPr/>
        </p:nvSpPr>
        <p:spPr>
          <a:xfrm>
            <a:off x="4169375" y="2396394"/>
            <a:ext cx="247200" cy="298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5" name="Google Shape;1085;p89"/>
          <p:cNvSpPr txBox="1"/>
          <p:nvPr>
            <p:ph idx="1" type="body"/>
          </p:nvPr>
        </p:nvSpPr>
        <p:spPr>
          <a:xfrm>
            <a:off x="2690750" y="2386850"/>
            <a:ext cx="5931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(0,4)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6" name="Google Shape;1086;p89"/>
          <p:cNvSpPr txBox="1"/>
          <p:nvPr>
            <p:ph idx="1" type="body"/>
          </p:nvPr>
        </p:nvSpPr>
        <p:spPr>
          <a:xfrm>
            <a:off x="3334200" y="2386850"/>
            <a:ext cx="5931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(4,4)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87" name="Google Shape;1087;p89"/>
          <p:cNvSpPr txBox="1"/>
          <p:nvPr>
            <p:ph idx="1" type="body"/>
          </p:nvPr>
        </p:nvSpPr>
        <p:spPr>
          <a:xfrm>
            <a:off x="3974242" y="2386850"/>
            <a:ext cx="5409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(1,4)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90"/>
          <p:cNvSpPr txBox="1"/>
          <p:nvPr>
            <p:ph idx="1" type="body"/>
          </p:nvPr>
        </p:nvSpPr>
        <p:spPr>
          <a:xfrm>
            <a:off x="324000" y="683100"/>
            <a:ext cx="849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We can check we have the correct rule by typing the rule and coordinates into Desmos.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3" name="Google Shape;1093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y=4&quot;&gt;&lt;mi&gt;y&lt;/mi&gt;&lt;mo&gt;=&lt;/mo&gt;&lt;mn&gt;4&lt;/mn&gt;&lt;/math&gt;" id="1094" name="Google Shape;1094;p90" title="y equals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9988" y="1529113"/>
            <a:ext cx="751115" cy="29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90"/>
          <p:cNvSpPr txBox="1"/>
          <p:nvPr>
            <p:ph idx="1" type="body"/>
          </p:nvPr>
        </p:nvSpPr>
        <p:spPr>
          <a:xfrm>
            <a:off x="1985825" y="1504038"/>
            <a:ext cx="29100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(-2,4)  (0,4)  (4,4)  (1,4)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096" name="Google Shape;1096;p90"/>
          <p:cNvSpPr txBox="1"/>
          <p:nvPr>
            <p:ph idx="1" type="body"/>
          </p:nvPr>
        </p:nvSpPr>
        <p:spPr>
          <a:xfrm>
            <a:off x="324000" y="4401900"/>
            <a:ext cx="80169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line goes through all 4 coordinates so must be correct.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97" name="Google Shape;1097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765" y="1982238"/>
            <a:ext cx="6020125" cy="2264674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103" name="Google Shape;1103;p91"/>
          <p:cNvSpPr txBox="1"/>
          <p:nvPr>
            <p:ph idx="1" type="body"/>
          </p:nvPr>
        </p:nvSpPr>
        <p:spPr>
          <a:xfrm>
            <a:off x="324000" y="1265650"/>
            <a:ext cx="7561200" cy="4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Click on the edit list button</a:t>
            </a:r>
            <a:endParaRPr sz="1800"/>
          </a:p>
        </p:txBody>
      </p:sp>
      <p:sp>
        <p:nvSpPr>
          <p:cNvPr id="1104" name="Google Shape;1104;p91"/>
          <p:cNvSpPr txBox="1"/>
          <p:nvPr>
            <p:ph idx="1" type="body"/>
          </p:nvPr>
        </p:nvSpPr>
        <p:spPr>
          <a:xfrm>
            <a:off x="324000" y="759300"/>
            <a:ext cx="8379900" cy="406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You can make any point draggable:</a:t>
            </a:r>
            <a:endParaRPr sz="1800"/>
          </a:p>
        </p:txBody>
      </p:sp>
      <p:sp>
        <p:nvSpPr>
          <p:cNvPr id="1105" name="Google Shape;1105;p91"/>
          <p:cNvSpPr txBox="1"/>
          <p:nvPr>
            <p:ph idx="1" type="body"/>
          </p:nvPr>
        </p:nvSpPr>
        <p:spPr>
          <a:xfrm>
            <a:off x="324000" y="1675338"/>
            <a:ext cx="7561200" cy="4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Click on the coloured dot next to the coordinate</a:t>
            </a:r>
            <a:endParaRPr sz="1800"/>
          </a:p>
        </p:txBody>
      </p:sp>
      <p:sp>
        <p:nvSpPr>
          <p:cNvPr id="1106" name="Google Shape;1106;p91"/>
          <p:cNvSpPr txBox="1"/>
          <p:nvPr>
            <p:ph idx="1" type="body"/>
          </p:nvPr>
        </p:nvSpPr>
        <p:spPr>
          <a:xfrm>
            <a:off x="324000" y="2147238"/>
            <a:ext cx="7561200" cy="4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Click on the slider next to ‘drag’ to turn drag on</a:t>
            </a:r>
            <a:endParaRPr sz="1800"/>
          </a:p>
        </p:txBody>
      </p:sp>
      <p:pic>
        <p:nvPicPr>
          <p:cNvPr id="1107" name="Google Shape;1107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8025" y="1198813"/>
            <a:ext cx="1808425" cy="2219562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8" name="Google Shape;1108;p91"/>
          <p:cNvSpPr/>
          <p:nvPr/>
        </p:nvSpPr>
        <p:spPr>
          <a:xfrm>
            <a:off x="8365990" y="1198829"/>
            <a:ext cx="177000" cy="1794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9" name="Google Shape;1109;p91"/>
          <p:cNvCxnSpPr>
            <a:endCxn id="1108" idx="1"/>
          </p:cNvCxnSpPr>
          <p:nvPr/>
        </p:nvCxnSpPr>
        <p:spPr>
          <a:xfrm flipH="1" rot="10800000">
            <a:off x="3915190" y="1288529"/>
            <a:ext cx="4450800" cy="1458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0" name="Google Shape;1110;p91"/>
          <p:cNvSpPr txBox="1"/>
          <p:nvPr>
            <p:ph idx="1" type="body"/>
          </p:nvPr>
        </p:nvSpPr>
        <p:spPr>
          <a:xfrm>
            <a:off x="324000" y="2928025"/>
            <a:ext cx="7561200" cy="4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Try doing this for the coordinate (1,3)</a:t>
            </a:r>
            <a:endParaRPr sz="1800"/>
          </a:p>
        </p:txBody>
      </p:sp>
      <p:pic>
        <p:nvPicPr>
          <p:cNvPr id="1111" name="Google Shape;111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3782" y="1080000"/>
            <a:ext cx="2176219" cy="24744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2" name="Google Shape;1112;p91"/>
          <p:cNvSpPr txBox="1"/>
          <p:nvPr>
            <p:ph idx="1" type="body"/>
          </p:nvPr>
        </p:nvSpPr>
        <p:spPr>
          <a:xfrm>
            <a:off x="324000" y="3683700"/>
            <a:ext cx="8496000" cy="47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Click on the point and d</a:t>
            </a:r>
            <a:r>
              <a:rPr lang="en-GB" sz="1800"/>
              <a:t>rag it until it is on the line and has integer coordinates </a:t>
            </a:r>
            <a:endParaRPr sz="1800"/>
          </a:p>
        </p:txBody>
      </p:sp>
      <p:sp>
        <p:nvSpPr>
          <p:cNvPr id="1113" name="Google Shape;1113;p91"/>
          <p:cNvSpPr txBox="1"/>
          <p:nvPr/>
        </p:nvSpPr>
        <p:spPr>
          <a:xfrm>
            <a:off x="324000" y="4396200"/>
            <a:ext cx="44508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does the coordinate read now?</a:t>
            </a:r>
            <a:endParaRPr sz="1800"/>
          </a:p>
        </p:txBody>
      </p:sp>
      <p:sp>
        <p:nvSpPr>
          <p:cNvPr id="1114" name="Google Shape;1114;p91"/>
          <p:cNvSpPr txBox="1"/>
          <p:nvPr/>
        </p:nvSpPr>
        <p:spPr>
          <a:xfrm>
            <a:off x="4603825" y="4420928"/>
            <a:ext cx="1062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(1,4)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115" name="Google Shape;1115;p91"/>
          <p:cNvCxnSpPr/>
          <p:nvPr/>
        </p:nvCxnSpPr>
        <p:spPr>
          <a:xfrm>
            <a:off x="5982590" y="2422017"/>
            <a:ext cx="1806900" cy="9162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91"/>
          <p:cNvCxnSpPr>
            <a:endCxn id="1107" idx="1"/>
          </p:cNvCxnSpPr>
          <p:nvPr/>
        </p:nvCxnSpPr>
        <p:spPr>
          <a:xfrm>
            <a:off x="6120125" y="1835493"/>
            <a:ext cx="807900" cy="4731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17" name="Google Shape;1117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11633" y="1071376"/>
            <a:ext cx="2695131" cy="247445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p92"/>
          <p:cNvSpPr txBox="1"/>
          <p:nvPr>
            <p:ph idx="1" type="body"/>
          </p:nvPr>
        </p:nvSpPr>
        <p:spPr>
          <a:xfrm>
            <a:off x="324000" y="721250"/>
            <a:ext cx="8496000" cy="3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Andeep has plotted these four coordinates</a:t>
            </a:r>
            <a:r>
              <a:rPr lang="en-GB" sz="2000"/>
              <a:t> (5,-3)  (2,0)  (4,-2)  (-1,3)</a:t>
            </a:r>
            <a:endParaRPr sz="2000"/>
          </a:p>
        </p:txBody>
      </p:sp>
      <p:sp>
        <p:nvSpPr>
          <p:cNvPr id="1123" name="Google Shape;1123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124" name="Google Shape;1124;p92"/>
          <p:cNvSpPr txBox="1"/>
          <p:nvPr>
            <p:ph idx="4294967295" type="subTitle"/>
          </p:nvPr>
        </p:nvSpPr>
        <p:spPr>
          <a:xfrm>
            <a:off x="370350" y="1989425"/>
            <a:ext cx="5584200" cy="28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Do these 4 coordinates follow a rule?</a:t>
            </a:r>
            <a:br>
              <a:rPr lang="en-GB" sz="1800"/>
            </a:br>
            <a:r>
              <a:rPr lang="en-GB" sz="1800"/>
              <a:t>How do you know?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 startAt="2"/>
            </a:pPr>
            <a:r>
              <a:rPr lang="en-GB" sz="1800"/>
              <a:t>Has he written the correct equation for the rule linking these 4 coordinates? How do you know?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y=x-2&quot;&gt;&lt;mi&gt;y&lt;/mi&gt;&lt;mo&gt;=&lt;/mo&gt;&lt;mi&gt;x&lt;/mi&gt;&lt;mo&gt;−&lt;/mo&gt;&lt;mn&gt;2&lt;/mn&gt;&lt;/math&gt;" id="1125" name="Google Shape;1125;p92" title="y equals x minu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7200" y="1178687"/>
            <a:ext cx="1083600" cy="242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6" name="Google Shape;1126;p92"/>
          <p:cNvPicPr preferRelativeResize="0"/>
          <p:nvPr/>
        </p:nvPicPr>
        <p:blipFill rotWithShape="1">
          <a:blip r:embed="rId4">
            <a:alphaModFix/>
          </a:blip>
          <a:srcRect b="10738" l="0" r="15002" t="0"/>
          <a:stretch/>
        </p:blipFill>
        <p:spPr>
          <a:xfrm>
            <a:off x="6047250" y="1575942"/>
            <a:ext cx="2647486" cy="27801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27" name="Google Shape;1127;p92"/>
          <p:cNvSpPr txBox="1"/>
          <p:nvPr>
            <p:ph idx="1" type="body"/>
          </p:nvPr>
        </p:nvSpPr>
        <p:spPr>
          <a:xfrm>
            <a:off x="370350" y="2656450"/>
            <a:ext cx="5241300" cy="64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because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they make a pattern when plotted (they lie on a straight line).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92"/>
          <p:cNvSpPr txBox="1"/>
          <p:nvPr>
            <p:ph idx="1" type="body"/>
          </p:nvPr>
        </p:nvSpPr>
        <p:spPr>
          <a:xfrm>
            <a:off x="324000" y="4437450"/>
            <a:ext cx="61347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No, because his line does not go through all his points.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92"/>
          <p:cNvSpPr txBox="1"/>
          <p:nvPr>
            <p:ph idx="1" type="body"/>
          </p:nvPr>
        </p:nvSpPr>
        <p:spPr>
          <a:xfrm>
            <a:off x="324000" y="1169325"/>
            <a:ext cx="13047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He thinks</a:t>
            </a:r>
            <a:endParaRPr sz="2000"/>
          </a:p>
        </p:txBody>
      </p:sp>
      <p:sp>
        <p:nvSpPr>
          <p:cNvPr id="1130" name="Google Shape;1130;p92"/>
          <p:cNvSpPr txBox="1"/>
          <p:nvPr>
            <p:ph idx="1" type="body"/>
          </p:nvPr>
        </p:nvSpPr>
        <p:spPr>
          <a:xfrm>
            <a:off x="1525825" y="1169325"/>
            <a:ext cx="13047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they have</a:t>
            </a:r>
            <a:endParaRPr sz="2000"/>
          </a:p>
        </p:txBody>
      </p:sp>
      <p:sp>
        <p:nvSpPr>
          <p:cNvPr id="1131" name="Google Shape;1131;p92"/>
          <p:cNvSpPr txBox="1"/>
          <p:nvPr>
            <p:ph idx="1" type="body"/>
          </p:nvPr>
        </p:nvSpPr>
        <p:spPr>
          <a:xfrm>
            <a:off x="2779850" y="1169325"/>
            <a:ext cx="10836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rule</a:t>
            </a:r>
            <a:endParaRPr sz="2000"/>
          </a:p>
        </p:txBody>
      </p:sp>
      <p:sp>
        <p:nvSpPr>
          <p:cNvPr id="1132" name="Google Shape;1132;p92"/>
          <p:cNvSpPr txBox="1"/>
          <p:nvPr>
            <p:ph idx="1" type="body"/>
          </p:nvPr>
        </p:nvSpPr>
        <p:spPr>
          <a:xfrm>
            <a:off x="324000" y="1488725"/>
            <a:ext cx="4202100" cy="50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(shown by the black dashed line). 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6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93"/>
          <p:cNvSpPr txBox="1"/>
          <p:nvPr>
            <p:ph idx="1" type="body"/>
          </p:nvPr>
        </p:nvSpPr>
        <p:spPr>
          <a:xfrm>
            <a:off x="324000" y="4124575"/>
            <a:ext cx="13938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 startAt="4"/>
            </a:pPr>
            <a:r>
              <a:rPr lang="en-GB" sz="2000"/>
              <a:t>(11,2.9)</a:t>
            </a:r>
            <a:endParaRPr sz="2000"/>
          </a:p>
        </p:txBody>
      </p:sp>
      <p:sp>
        <p:nvSpPr>
          <p:cNvPr id="1138" name="Google Shape;1138;p9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rabicParenR"/>
            </a:pPr>
            <a:r>
              <a:rPr lang="en-GB" sz="1900"/>
              <a:t>Plot each set of coordinates in turn. Identify the coordinate which is the odd one out. </a:t>
            </a:r>
            <a:endParaRPr sz="19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(0,-4)  (4,8)  (1,-1)  (2,6)  (-2,-10)</a:t>
            </a:r>
            <a:endParaRPr sz="20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 startAt="2"/>
            </a:pPr>
            <a:r>
              <a:rPr lang="en-GB" sz="2000"/>
              <a:t>(0,7)  (4,4)  (10,-2)  (-1,9)  (2,6)</a:t>
            </a:r>
            <a:endParaRPr sz="2000"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 startAt="3"/>
            </a:pPr>
            <a:r>
              <a:rPr lang="en-GB" sz="2000"/>
              <a:t>(8,-1.4)  (5,-1.85)  (-4,3.2)  (12,-0.8)  (-9,-3.95)</a:t>
            </a:r>
            <a:endParaRPr sz="2000"/>
          </a:p>
        </p:txBody>
      </p:sp>
      <p:sp>
        <p:nvSpPr>
          <p:cNvPr id="1139" name="Google Shape;1139;p9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frac{1}{10}&quot;&gt;&lt;mn&gt;1&lt;/mn&gt;&lt;mfrac&gt;&lt;mn&gt;1&lt;/mn&gt;&lt;mn&gt;10&lt;/mn&gt;&lt;/mfrac&gt;&lt;/math&gt;" id="1140" name="Google Shape;1140;p93" title="1 and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52875" y="4022566"/>
            <a:ext cx="428288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3}{10}&quot;&gt;&lt;mo&gt;−&lt;/mo&gt;&lt;mfrac&gt;&lt;mn&gt;3&lt;/mn&gt;&lt;mn&gt;10&lt;/mn&gt;&lt;/mfrac&gt;&lt;/math&gt;" id="1141" name="Google Shape;1141;p93" title="negative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25601" y="4022574"/>
            <a:ext cx="486696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142" name="Google Shape;1142;p93" title="three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8500" y="4067125"/>
            <a:ext cx="292014" cy="5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93"/>
          <p:cNvSpPr txBox="1"/>
          <p:nvPr>
            <p:ph idx="1" type="body"/>
          </p:nvPr>
        </p:nvSpPr>
        <p:spPr>
          <a:xfrm>
            <a:off x="1786225" y="4124575"/>
            <a:ext cx="9594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(1,        )</a:t>
            </a:r>
            <a:endParaRPr sz="2000"/>
          </a:p>
        </p:txBody>
      </p:sp>
      <p:sp>
        <p:nvSpPr>
          <p:cNvPr id="1144" name="Google Shape;1144;p93"/>
          <p:cNvSpPr txBox="1"/>
          <p:nvPr>
            <p:ph idx="1" type="body"/>
          </p:nvPr>
        </p:nvSpPr>
        <p:spPr>
          <a:xfrm>
            <a:off x="2890300" y="4124575"/>
            <a:ext cx="9936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(-9,-1.1)</a:t>
            </a:r>
            <a:endParaRPr sz="2000"/>
          </a:p>
        </p:txBody>
      </p:sp>
      <p:sp>
        <p:nvSpPr>
          <p:cNvPr id="1145" name="Google Shape;1145;p93"/>
          <p:cNvSpPr txBox="1"/>
          <p:nvPr>
            <p:ph idx="1" type="body"/>
          </p:nvPr>
        </p:nvSpPr>
        <p:spPr>
          <a:xfrm>
            <a:off x="3952450" y="4124575"/>
            <a:ext cx="11307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(2,          )</a:t>
            </a:r>
            <a:endParaRPr sz="2000"/>
          </a:p>
        </p:txBody>
      </p:sp>
      <p:sp>
        <p:nvSpPr>
          <p:cNvPr id="1146" name="Google Shape;1146;p93"/>
          <p:cNvSpPr txBox="1"/>
          <p:nvPr>
            <p:ph idx="1" type="body"/>
          </p:nvPr>
        </p:nvSpPr>
        <p:spPr>
          <a:xfrm>
            <a:off x="5304025" y="4124575"/>
            <a:ext cx="1512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(-5,            )</a:t>
            </a:r>
            <a:endParaRPr sz="2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94"/>
          <p:cNvSpPr txBox="1"/>
          <p:nvPr>
            <p:ph idx="1" type="body"/>
          </p:nvPr>
        </p:nvSpPr>
        <p:spPr>
          <a:xfrm>
            <a:off x="324000" y="1811869"/>
            <a:ext cx="4456500" cy="26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  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Recreate Izzy’s graph.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Make the incorrect </a:t>
            </a:r>
            <a:r>
              <a:rPr lang="en-GB" sz="1800"/>
              <a:t>coordinate</a:t>
            </a:r>
            <a:r>
              <a:rPr lang="en-GB" sz="1800"/>
              <a:t> draggable.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Drag the coordinate so it is in line with the rest and on a coordinate where both values are integers.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What coordinate have you now plotted?</a:t>
            </a:r>
            <a:endParaRPr sz="1800"/>
          </a:p>
        </p:txBody>
      </p:sp>
      <p:sp>
        <p:nvSpPr>
          <p:cNvPr id="1152" name="Google Shape;1152;p9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153" name="Google Shape;1153;p94"/>
          <p:cNvSpPr txBox="1"/>
          <p:nvPr/>
        </p:nvSpPr>
        <p:spPr>
          <a:xfrm>
            <a:off x="232796" y="656700"/>
            <a:ext cx="8861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arenR" startAt="2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has plotted the coordinates below.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one do you think she has plotted incorrectly? How do you know?</a:t>
            </a:r>
            <a:endParaRPr sz="1200"/>
          </a:p>
        </p:txBody>
      </p:sp>
      <p:pic>
        <p:nvPicPr>
          <p:cNvPr id="1154" name="Google Shape;1154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0" y="1839800"/>
            <a:ext cx="3996001" cy="243446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95"/>
          <p:cNvSpPr txBox="1"/>
          <p:nvPr>
            <p:ph idx="1" type="body"/>
          </p:nvPr>
        </p:nvSpPr>
        <p:spPr>
          <a:xfrm>
            <a:off x="324000" y="759300"/>
            <a:ext cx="8237700" cy="67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arenR"/>
            </a:pPr>
            <a:r>
              <a:rPr lang="en-GB" sz="2000"/>
              <a:t>Plot each set of coordinates in turn. Identify the coordinate which is the odd one out.</a:t>
            </a:r>
            <a:endParaRPr sz="2000"/>
          </a:p>
        </p:txBody>
      </p:sp>
      <p:sp>
        <p:nvSpPr>
          <p:cNvPr id="1160" name="Google Shape;1160;p9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161" name="Google Shape;1161;p95"/>
          <p:cNvSpPr/>
          <p:nvPr/>
        </p:nvSpPr>
        <p:spPr>
          <a:xfrm>
            <a:off x="2959050" y="1409825"/>
            <a:ext cx="697200" cy="42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5"/>
          <p:cNvSpPr/>
          <p:nvPr/>
        </p:nvSpPr>
        <p:spPr>
          <a:xfrm>
            <a:off x="694625" y="2358750"/>
            <a:ext cx="697200" cy="42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3" name="Google Shape;1163;p95"/>
          <p:cNvSpPr/>
          <p:nvPr/>
        </p:nvSpPr>
        <p:spPr>
          <a:xfrm>
            <a:off x="2830800" y="3303750"/>
            <a:ext cx="1003500" cy="42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4" name="Google Shape;1164;p95"/>
          <p:cNvSpPr/>
          <p:nvPr/>
        </p:nvSpPr>
        <p:spPr>
          <a:xfrm>
            <a:off x="1723400" y="4067125"/>
            <a:ext cx="1003500" cy="67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frac{1}{10}&quot;&gt;&lt;mn&gt;1&lt;/mn&gt;&lt;mfrac&gt;&lt;mn&gt;1&lt;/mn&gt;&lt;mn&gt;10&lt;/mn&gt;&lt;/mfrac&gt;&lt;/math&gt;" id="1165" name="Google Shape;1165;p95" title="1 and one ten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1100" y="4119101"/>
            <a:ext cx="428288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-\frac{3}{10}&quot;&gt;&lt;mo&gt;−&lt;/mo&gt;&lt;mfrac&gt;&lt;mn&gt;3&lt;/mn&gt;&lt;mn&gt;10&lt;/mn&gt;&lt;/mfrac&gt;&lt;/math&gt;" id="1166" name="Google Shape;1166;p95" title="negative 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0551" y="4119109"/>
            <a:ext cx="486696" cy="541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167" name="Google Shape;1167;p95" title="three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81250" y="4119110"/>
            <a:ext cx="292014" cy="54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8" name="Google Shape;1168;p95"/>
          <p:cNvSpPr txBox="1"/>
          <p:nvPr>
            <p:ph idx="1" type="body"/>
          </p:nvPr>
        </p:nvSpPr>
        <p:spPr>
          <a:xfrm>
            <a:off x="324000" y="1474575"/>
            <a:ext cx="8237700" cy="5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2000"/>
              <a:t>(0,-4)</a:t>
            </a:r>
            <a:endParaRPr sz="2000"/>
          </a:p>
        </p:txBody>
      </p:sp>
      <p:sp>
        <p:nvSpPr>
          <p:cNvPr id="1169" name="Google Shape;1169;p95"/>
          <p:cNvSpPr txBox="1"/>
          <p:nvPr>
            <p:ph idx="1" type="body"/>
          </p:nvPr>
        </p:nvSpPr>
        <p:spPr>
          <a:xfrm>
            <a:off x="324000" y="2403750"/>
            <a:ext cx="82377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 startAt="2"/>
            </a:pPr>
            <a:r>
              <a:rPr lang="en-GB" sz="2000"/>
              <a:t>(0,7)  (4,4)  (10,-2)  (-1,9)  (2,6)</a:t>
            </a:r>
            <a:endParaRPr sz="2000"/>
          </a:p>
        </p:txBody>
      </p:sp>
      <p:sp>
        <p:nvSpPr>
          <p:cNvPr id="1170" name="Google Shape;1170;p95"/>
          <p:cNvSpPr txBox="1"/>
          <p:nvPr>
            <p:ph idx="1" type="body"/>
          </p:nvPr>
        </p:nvSpPr>
        <p:spPr>
          <a:xfrm>
            <a:off x="324000" y="3329400"/>
            <a:ext cx="8237700" cy="4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 startAt="3"/>
            </a:pPr>
            <a:r>
              <a:rPr lang="en-GB" sz="2000"/>
              <a:t>(8,-1.4)</a:t>
            </a:r>
            <a:endParaRPr sz="2000"/>
          </a:p>
        </p:txBody>
      </p:sp>
      <p:sp>
        <p:nvSpPr>
          <p:cNvPr id="1171" name="Google Shape;1171;p95"/>
          <p:cNvSpPr txBox="1"/>
          <p:nvPr>
            <p:ph idx="1" type="body"/>
          </p:nvPr>
        </p:nvSpPr>
        <p:spPr>
          <a:xfrm>
            <a:off x="324000" y="4214700"/>
            <a:ext cx="13608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lphaLcParenR" startAt="4"/>
            </a:pPr>
            <a:r>
              <a:rPr lang="en-GB" sz="2000"/>
              <a:t>(11,2.9)</a:t>
            </a:r>
            <a:endParaRPr sz="2000"/>
          </a:p>
        </p:txBody>
      </p:sp>
      <p:sp>
        <p:nvSpPr>
          <p:cNvPr id="1172" name="Google Shape;1172;p95"/>
          <p:cNvSpPr txBox="1"/>
          <p:nvPr>
            <p:ph idx="1" type="body"/>
          </p:nvPr>
        </p:nvSpPr>
        <p:spPr>
          <a:xfrm>
            <a:off x="1570025" y="1474575"/>
            <a:ext cx="7144200" cy="5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(4,8)</a:t>
            </a:r>
            <a:endParaRPr sz="2000"/>
          </a:p>
        </p:txBody>
      </p:sp>
      <p:sp>
        <p:nvSpPr>
          <p:cNvPr id="1173" name="Google Shape;1173;p95"/>
          <p:cNvSpPr txBox="1"/>
          <p:nvPr>
            <p:ph idx="1" type="body"/>
          </p:nvPr>
        </p:nvSpPr>
        <p:spPr>
          <a:xfrm>
            <a:off x="2265900" y="1474575"/>
            <a:ext cx="6600600" cy="5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(1,-1)</a:t>
            </a:r>
            <a:endParaRPr sz="2000"/>
          </a:p>
        </p:txBody>
      </p:sp>
      <p:sp>
        <p:nvSpPr>
          <p:cNvPr id="1174" name="Google Shape;1174;p95"/>
          <p:cNvSpPr txBox="1"/>
          <p:nvPr>
            <p:ph idx="1" type="body"/>
          </p:nvPr>
        </p:nvSpPr>
        <p:spPr>
          <a:xfrm>
            <a:off x="3005975" y="1474575"/>
            <a:ext cx="6012900" cy="5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(2,6)</a:t>
            </a:r>
            <a:endParaRPr sz="2000"/>
          </a:p>
        </p:txBody>
      </p:sp>
      <p:sp>
        <p:nvSpPr>
          <p:cNvPr id="1175" name="Google Shape;1175;p95"/>
          <p:cNvSpPr txBox="1"/>
          <p:nvPr>
            <p:ph idx="1" type="body"/>
          </p:nvPr>
        </p:nvSpPr>
        <p:spPr>
          <a:xfrm>
            <a:off x="3691225" y="1474575"/>
            <a:ext cx="5480100" cy="5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(-2,-10)</a:t>
            </a:r>
            <a:endParaRPr sz="2000"/>
          </a:p>
        </p:txBody>
      </p:sp>
      <p:sp>
        <p:nvSpPr>
          <p:cNvPr id="1176" name="Google Shape;1176;p95"/>
          <p:cNvSpPr txBox="1"/>
          <p:nvPr>
            <p:ph idx="1" type="body"/>
          </p:nvPr>
        </p:nvSpPr>
        <p:spPr>
          <a:xfrm>
            <a:off x="1758825" y="3329400"/>
            <a:ext cx="6955200" cy="4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(5,-1.85)</a:t>
            </a:r>
            <a:endParaRPr sz="2000"/>
          </a:p>
        </p:txBody>
      </p:sp>
      <p:sp>
        <p:nvSpPr>
          <p:cNvPr id="1177" name="Google Shape;1177;p95"/>
          <p:cNvSpPr txBox="1"/>
          <p:nvPr>
            <p:ph idx="1" type="body"/>
          </p:nvPr>
        </p:nvSpPr>
        <p:spPr>
          <a:xfrm>
            <a:off x="2853525" y="3329400"/>
            <a:ext cx="6012900" cy="4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(-4,3.2)</a:t>
            </a:r>
            <a:endParaRPr sz="2000"/>
          </a:p>
        </p:txBody>
      </p:sp>
      <p:sp>
        <p:nvSpPr>
          <p:cNvPr id="1178" name="Google Shape;1178;p95"/>
          <p:cNvSpPr txBox="1"/>
          <p:nvPr>
            <p:ph idx="1" type="body"/>
          </p:nvPr>
        </p:nvSpPr>
        <p:spPr>
          <a:xfrm>
            <a:off x="3869400" y="3329400"/>
            <a:ext cx="5149500" cy="4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(12,-0.8)</a:t>
            </a:r>
            <a:endParaRPr sz="2000"/>
          </a:p>
        </p:txBody>
      </p:sp>
      <p:sp>
        <p:nvSpPr>
          <p:cNvPr id="1179" name="Google Shape;1179;p95"/>
          <p:cNvSpPr txBox="1"/>
          <p:nvPr>
            <p:ph idx="1" type="body"/>
          </p:nvPr>
        </p:nvSpPr>
        <p:spPr>
          <a:xfrm>
            <a:off x="4993200" y="3329400"/>
            <a:ext cx="4178100" cy="47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(-9,-3.95)</a:t>
            </a:r>
            <a:endParaRPr sz="2000"/>
          </a:p>
        </p:txBody>
      </p:sp>
      <p:sp>
        <p:nvSpPr>
          <p:cNvPr id="1180" name="Google Shape;1180;p95"/>
          <p:cNvSpPr txBox="1"/>
          <p:nvPr>
            <p:ph idx="1" type="body"/>
          </p:nvPr>
        </p:nvSpPr>
        <p:spPr>
          <a:xfrm>
            <a:off x="1758900" y="4214700"/>
            <a:ext cx="10035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(1,        )  </a:t>
            </a:r>
            <a:endParaRPr sz="2000"/>
          </a:p>
        </p:txBody>
      </p:sp>
      <p:sp>
        <p:nvSpPr>
          <p:cNvPr id="1181" name="Google Shape;1181;p95"/>
          <p:cNvSpPr txBox="1"/>
          <p:nvPr>
            <p:ph idx="1" type="body"/>
          </p:nvPr>
        </p:nvSpPr>
        <p:spPr>
          <a:xfrm>
            <a:off x="2907000" y="4214700"/>
            <a:ext cx="10035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(-9,-1.1) </a:t>
            </a:r>
            <a:endParaRPr sz="2000"/>
          </a:p>
        </p:txBody>
      </p:sp>
      <p:sp>
        <p:nvSpPr>
          <p:cNvPr id="1182" name="Google Shape;1182;p95"/>
          <p:cNvSpPr txBox="1"/>
          <p:nvPr>
            <p:ph idx="1" type="body"/>
          </p:nvPr>
        </p:nvSpPr>
        <p:spPr>
          <a:xfrm>
            <a:off x="3945600" y="4214700"/>
            <a:ext cx="11922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(2,           ) </a:t>
            </a:r>
            <a:endParaRPr sz="2000"/>
          </a:p>
        </p:txBody>
      </p:sp>
      <p:sp>
        <p:nvSpPr>
          <p:cNvPr id="1183" name="Google Shape;1183;p95"/>
          <p:cNvSpPr txBox="1"/>
          <p:nvPr>
            <p:ph idx="1" type="body"/>
          </p:nvPr>
        </p:nvSpPr>
        <p:spPr>
          <a:xfrm>
            <a:off x="5290325" y="4214700"/>
            <a:ext cx="1452600" cy="42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(-5,            )</a:t>
            </a:r>
            <a:endParaRPr sz="20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9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Identifying coordinates that do not follow a rule</a:t>
            </a:r>
            <a:endParaRPr/>
          </a:p>
        </p:txBody>
      </p:sp>
      <p:sp>
        <p:nvSpPr>
          <p:cNvPr id="1189" name="Google Shape;1189;p96"/>
          <p:cNvSpPr txBox="1"/>
          <p:nvPr/>
        </p:nvSpPr>
        <p:spPr>
          <a:xfrm>
            <a:off x="247212" y="580500"/>
            <a:ext cx="8861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AutoNum type="arabicParenR" startAt="2"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Izzy has plotted the coordinates below.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Which one do you think she has plotted incorrectly? How do you know?</a:t>
            </a:r>
            <a:endParaRPr sz="1200"/>
          </a:p>
        </p:txBody>
      </p:sp>
      <p:sp>
        <p:nvSpPr>
          <p:cNvPr id="1190" name="Google Shape;1190;p96"/>
          <p:cNvSpPr txBox="1"/>
          <p:nvPr/>
        </p:nvSpPr>
        <p:spPr>
          <a:xfrm>
            <a:off x="725950" y="1375200"/>
            <a:ext cx="79857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(7,2.6) because it doesn’t sit on a straight line with the other 4 points.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1" name="Google Shape;1191;p96"/>
          <p:cNvSpPr txBox="1"/>
          <p:nvPr/>
        </p:nvSpPr>
        <p:spPr>
          <a:xfrm>
            <a:off x="1049975" y="4498650"/>
            <a:ext cx="7519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(7,3) or (2,1) There are other possibilities not visible on this graph.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92" name="Google Shape;119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0" y="1839800"/>
            <a:ext cx="3996001" cy="243446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93" name="Google Shape;1193;p96"/>
          <p:cNvSpPr txBox="1"/>
          <p:nvPr>
            <p:ph idx="1" type="body"/>
          </p:nvPr>
        </p:nvSpPr>
        <p:spPr>
          <a:xfrm>
            <a:off x="324000" y="2009456"/>
            <a:ext cx="4456500" cy="269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Recreate Izzy’s graph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make the incorrect coordinate draggable. 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Drag the coordinate so it is in line with the rest and on a coordinate where both values are integers.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 sz="1800"/>
              <a:t>What coordinate have you now plotted?</a:t>
            </a:r>
            <a:endParaRPr sz="1800"/>
          </a:p>
        </p:txBody>
      </p:sp>
      <p:sp>
        <p:nvSpPr>
          <p:cNvPr id="1194" name="Google Shape;1194;p96"/>
          <p:cNvSpPr txBox="1"/>
          <p:nvPr/>
        </p:nvSpPr>
        <p:spPr>
          <a:xfrm>
            <a:off x="324000" y="1699050"/>
            <a:ext cx="4092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b)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97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in Desmos</a:t>
            </a:r>
            <a:endParaRPr/>
          </a:p>
        </p:txBody>
      </p:sp>
      <p:sp>
        <p:nvSpPr>
          <p:cNvPr id="1200" name="Google Shape;1200;p97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coordinates that don’t follow a rule</a:t>
            </a:r>
            <a:endParaRPr/>
          </a:p>
        </p:txBody>
      </p:sp>
      <p:sp>
        <p:nvSpPr>
          <p:cNvPr id="1201" name="Google Shape;1201;p97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202" name="Google Shape;1202;p97"/>
          <p:cNvSpPr txBox="1"/>
          <p:nvPr>
            <p:ph idx="4" type="title"/>
          </p:nvPr>
        </p:nvSpPr>
        <p:spPr>
          <a:xfrm>
            <a:off x="324000" y="657600"/>
            <a:ext cx="76521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 using technology</a:t>
            </a:r>
            <a:endParaRPr/>
          </a:p>
        </p:txBody>
      </p:sp>
      <p:pic>
        <p:nvPicPr>
          <p:cNvPr id="1203" name="Google Shape;120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9296" y="370106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209" name="Google Shape;1209;p98"/>
          <p:cNvSpPr txBox="1"/>
          <p:nvPr>
            <p:ph idx="1" type="body"/>
          </p:nvPr>
        </p:nvSpPr>
        <p:spPr>
          <a:xfrm>
            <a:off x="324000" y="759300"/>
            <a:ext cx="8237700" cy="6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 can use Desmos to create mathematical shapes. </a:t>
            </a:r>
            <a:endParaRPr/>
          </a:p>
        </p:txBody>
      </p:sp>
      <p:sp>
        <p:nvSpPr>
          <p:cNvPr id="1210" name="Google Shape;1210;p98"/>
          <p:cNvSpPr txBox="1"/>
          <p:nvPr>
            <p:ph idx="1" type="body"/>
          </p:nvPr>
        </p:nvSpPr>
        <p:spPr>
          <a:xfrm>
            <a:off x="324000" y="1620000"/>
            <a:ext cx="8496000" cy="6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/>
              <a:t>Type in these 4 coordinates (-2,-3)  (-6,-4)  (-7,0)  (-3,1)  </a:t>
            </a:r>
            <a:endParaRPr/>
          </a:p>
        </p:txBody>
      </p:sp>
      <p:sp>
        <p:nvSpPr>
          <p:cNvPr id="1211" name="Google Shape;1211;p98"/>
          <p:cNvSpPr txBox="1"/>
          <p:nvPr>
            <p:ph idx="1" type="body"/>
          </p:nvPr>
        </p:nvSpPr>
        <p:spPr>
          <a:xfrm>
            <a:off x="324000" y="2783175"/>
            <a:ext cx="8496000" cy="67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shape have you plotted? </a:t>
            </a:r>
            <a:endParaRPr/>
          </a:p>
        </p:txBody>
      </p:sp>
      <p:sp>
        <p:nvSpPr>
          <p:cNvPr id="1212" name="Google Shape;1212;p98"/>
          <p:cNvSpPr/>
          <p:nvPr/>
        </p:nvSpPr>
        <p:spPr>
          <a:xfrm>
            <a:off x="525875" y="3489675"/>
            <a:ext cx="894600" cy="89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98"/>
          <p:cNvSpPr/>
          <p:nvPr/>
        </p:nvSpPr>
        <p:spPr>
          <a:xfrm>
            <a:off x="1859700" y="3489600"/>
            <a:ext cx="1383300" cy="89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4" name="Google Shape;1214;p98"/>
          <p:cNvSpPr/>
          <p:nvPr/>
        </p:nvSpPr>
        <p:spPr>
          <a:xfrm>
            <a:off x="5385852" y="3519675"/>
            <a:ext cx="1609200" cy="834600"/>
          </a:xfrm>
          <a:prstGeom prst="parallelogram">
            <a:avLst>
              <a:gd fmla="val 40100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5" name="Google Shape;1215;p98"/>
          <p:cNvSpPr/>
          <p:nvPr/>
        </p:nvSpPr>
        <p:spPr>
          <a:xfrm>
            <a:off x="3491350" y="3519675"/>
            <a:ext cx="1829700" cy="692700"/>
          </a:xfrm>
          <a:prstGeom prst="diamond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6" name="Google Shape;1216;p98"/>
          <p:cNvSpPr txBox="1"/>
          <p:nvPr>
            <p:ph idx="1" type="body"/>
          </p:nvPr>
        </p:nvSpPr>
        <p:spPr>
          <a:xfrm>
            <a:off x="461675" y="4492425"/>
            <a:ext cx="10230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square </a:t>
            </a:r>
            <a:endParaRPr sz="2000"/>
          </a:p>
        </p:txBody>
      </p:sp>
      <p:sp>
        <p:nvSpPr>
          <p:cNvPr id="1217" name="Google Shape;1217;p98"/>
          <p:cNvSpPr txBox="1"/>
          <p:nvPr>
            <p:ph idx="1" type="body"/>
          </p:nvPr>
        </p:nvSpPr>
        <p:spPr>
          <a:xfrm>
            <a:off x="1859700" y="4492425"/>
            <a:ext cx="12141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rectangle </a:t>
            </a:r>
            <a:endParaRPr sz="2000"/>
          </a:p>
        </p:txBody>
      </p:sp>
      <p:sp>
        <p:nvSpPr>
          <p:cNvPr id="1218" name="Google Shape;1218;p98"/>
          <p:cNvSpPr txBox="1"/>
          <p:nvPr>
            <p:ph idx="1" type="body"/>
          </p:nvPr>
        </p:nvSpPr>
        <p:spPr>
          <a:xfrm>
            <a:off x="3835800" y="4492425"/>
            <a:ext cx="12141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rhombus </a:t>
            </a:r>
            <a:endParaRPr sz="2000"/>
          </a:p>
        </p:txBody>
      </p:sp>
      <p:sp>
        <p:nvSpPr>
          <p:cNvPr id="1219" name="Google Shape;1219;p98"/>
          <p:cNvSpPr txBox="1"/>
          <p:nvPr>
            <p:ph idx="1" type="body"/>
          </p:nvPr>
        </p:nvSpPr>
        <p:spPr>
          <a:xfrm>
            <a:off x="5272275" y="4492425"/>
            <a:ext cx="18966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parallelogram </a:t>
            </a:r>
            <a:endParaRPr sz="2000"/>
          </a:p>
        </p:txBody>
      </p:sp>
      <p:sp>
        <p:nvSpPr>
          <p:cNvPr id="1220" name="Google Shape;1220;p98"/>
          <p:cNvSpPr txBox="1"/>
          <p:nvPr>
            <p:ph idx="1" type="body"/>
          </p:nvPr>
        </p:nvSpPr>
        <p:spPr>
          <a:xfrm>
            <a:off x="7555475" y="4492425"/>
            <a:ext cx="8946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kite </a:t>
            </a:r>
            <a:endParaRPr sz="2000"/>
          </a:p>
        </p:txBody>
      </p:sp>
      <p:grpSp>
        <p:nvGrpSpPr>
          <p:cNvPr id="1221" name="Google Shape;1221;p98"/>
          <p:cNvGrpSpPr/>
          <p:nvPr/>
        </p:nvGrpSpPr>
        <p:grpSpPr>
          <a:xfrm rot="5040810">
            <a:off x="7503216" y="3106376"/>
            <a:ext cx="940433" cy="1519296"/>
            <a:chOff x="7952175" y="2312323"/>
            <a:chExt cx="775350" cy="1777874"/>
          </a:xfrm>
        </p:grpSpPr>
        <p:cxnSp>
          <p:nvCxnSpPr>
            <p:cNvPr id="1222" name="Google Shape;1222;p98"/>
            <p:cNvCxnSpPr/>
            <p:nvPr/>
          </p:nvCxnSpPr>
          <p:spPr>
            <a:xfrm flipH="1">
              <a:off x="7952175" y="2312326"/>
              <a:ext cx="387600" cy="613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3" name="Google Shape;1223;p98"/>
            <p:cNvCxnSpPr/>
            <p:nvPr/>
          </p:nvCxnSpPr>
          <p:spPr>
            <a:xfrm rot="10800000">
              <a:off x="8339925" y="2312323"/>
              <a:ext cx="387600" cy="613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4" name="Google Shape;1224;p98"/>
            <p:cNvCxnSpPr/>
            <p:nvPr/>
          </p:nvCxnSpPr>
          <p:spPr>
            <a:xfrm flipH="1">
              <a:off x="8336775" y="2899497"/>
              <a:ext cx="390600" cy="11898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5" name="Google Shape;1225;p98"/>
            <p:cNvCxnSpPr/>
            <p:nvPr/>
          </p:nvCxnSpPr>
          <p:spPr>
            <a:xfrm>
              <a:off x="7952175" y="2899497"/>
              <a:ext cx="387600" cy="11907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9" name="Shape 1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" name="Google Shape;1230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231" name="Google Shape;1231;p99"/>
          <p:cNvSpPr txBox="1"/>
          <p:nvPr>
            <p:ph idx="1" type="body"/>
          </p:nvPr>
        </p:nvSpPr>
        <p:spPr>
          <a:xfrm>
            <a:off x="324000" y="770250"/>
            <a:ext cx="4735500" cy="42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You should have plotted a square. </a:t>
            </a:r>
            <a:endParaRPr/>
          </a:p>
        </p:txBody>
      </p:sp>
      <p:sp>
        <p:nvSpPr>
          <p:cNvPr id="1232" name="Google Shape;1232;p99"/>
          <p:cNvSpPr txBox="1"/>
          <p:nvPr>
            <p:ph idx="1" type="body"/>
          </p:nvPr>
        </p:nvSpPr>
        <p:spPr>
          <a:xfrm>
            <a:off x="317700" y="1268425"/>
            <a:ext cx="8502300" cy="138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Ever though it is tilted, the sides meet at right angles and are the same length, so it is a square.</a:t>
            </a:r>
            <a:r>
              <a:rPr lang="en-GB"/>
              <a:t> </a:t>
            </a:r>
            <a:endParaRPr/>
          </a:p>
        </p:txBody>
      </p:sp>
      <p:pic>
        <p:nvPicPr>
          <p:cNvPr id="1233" name="Google Shape;1233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075" y="2130875"/>
            <a:ext cx="3103750" cy="241132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34" name="Google Shape;1234;p99"/>
          <p:cNvSpPr txBox="1"/>
          <p:nvPr>
            <p:ph idx="1" type="body"/>
          </p:nvPr>
        </p:nvSpPr>
        <p:spPr>
          <a:xfrm>
            <a:off x="3748050" y="2047550"/>
            <a:ext cx="5017500" cy="55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Stretch the scale of your </a:t>
            </a:r>
            <a:r>
              <a:rPr i="1" lang="en-GB" sz="2500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/>
              <a:t> axis.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 </a:t>
            </a:r>
            <a:endParaRPr/>
          </a:p>
        </p:txBody>
      </p:sp>
      <p:sp>
        <p:nvSpPr>
          <p:cNvPr id="1235" name="Google Shape;1235;p99"/>
          <p:cNvSpPr txBox="1"/>
          <p:nvPr/>
        </p:nvSpPr>
        <p:spPr>
          <a:xfrm>
            <a:off x="3748050" y="2544750"/>
            <a:ext cx="507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Press and hold the shift key</a:t>
            </a:r>
            <a:endParaRPr/>
          </a:p>
        </p:txBody>
      </p:sp>
      <p:sp>
        <p:nvSpPr>
          <p:cNvPr id="1236" name="Google Shape;1236;p99"/>
          <p:cNvSpPr txBox="1"/>
          <p:nvPr/>
        </p:nvSpPr>
        <p:spPr>
          <a:xfrm>
            <a:off x="3748050" y="3240000"/>
            <a:ext cx="5072100" cy="9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Move your cursor over the </a:t>
            </a:r>
            <a:r>
              <a:rPr i="1"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axis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99"/>
          <p:cNvSpPr txBox="1"/>
          <p:nvPr/>
        </p:nvSpPr>
        <p:spPr>
          <a:xfrm>
            <a:off x="3748050" y="3939975"/>
            <a:ext cx="4614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Drag your mouse right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243" name="Google Shape;1243;p100"/>
          <p:cNvSpPr txBox="1"/>
          <p:nvPr>
            <p:ph idx="1" type="body"/>
          </p:nvPr>
        </p:nvSpPr>
        <p:spPr>
          <a:xfrm>
            <a:off x="196200" y="674700"/>
            <a:ext cx="8496000" cy="55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happens to your square when one of the axes is stretched?  </a:t>
            </a:r>
            <a:endParaRPr sz="2100"/>
          </a:p>
        </p:txBody>
      </p:sp>
      <p:pic>
        <p:nvPicPr>
          <p:cNvPr id="1244" name="Google Shape;1244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125" y="1142275"/>
            <a:ext cx="4063630" cy="1929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5" name="Google Shape;1245;p100"/>
          <p:cNvSpPr txBox="1"/>
          <p:nvPr>
            <p:ph idx="1" type="body"/>
          </p:nvPr>
        </p:nvSpPr>
        <p:spPr>
          <a:xfrm>
            <a:off x="196200" y="1080000"/>
            <a:ext cx="8496000" cy="55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 </a:t>
            </a:r>
            <a:endParaRPr sz="2100"/>
          </a:p>
        </p:txBody>
      </p:sp>
      <p:pic>
        <p:nvPicPr>
          <p:cNvPr id="1246" name="Google Shape;1246;p10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7119" y="3161250"/>
            <a:ext cx="2855368" cy="1929001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7" name="Google Shape;1247;p100"/>
          <p:cNvSpPr txBox="1"/>
          <p:nvPr>
            <p:ph idx="1" type="body"/>
          </p:nvPr>
        </p:nvSpPr>
        <p:spPr>
          <a:xfrm>
            <a:off x="4749450" y="3400850"/>
            <a:ext cx="3996000" cy="37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/>
              <a:t>Click on the default viewport</a:t>
            </a:r>
            <a:endParaRPr sz="2100"/>
          </a:p>
        </p:txBody>
      </p:sp>
      <p:pic>
        <p:nvPicPr>
          <p:cNvPr id="1248" name="Google Shape;1248;p100"/>
          <p:cNvPicPr preferRelativeResize="0"/>
          <p:nvPr/>
        </p:nvPicPr>
        <p:blipFill rotWithShape="1">
          <a:blip r:embed="rId5">
            <a:alphaModFix/>
          </a:blip>
          <a:srcRect b="0" l="0" r="0" t="13770"/>
          <a:stretch/>
        </p:blipFill>
        <p:spPr>
          <a:xfrm>
            <a:off x="5699850" y="3848749"/>
            <a:ext cx="228492" cy="2025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49" name="Google Shape;1249;p100"/>
          <p:cNvSpPr txBox="1"/>
          <p:nvPr>
            <p:ph idx="1" type="body"/>
          </p:nvPr>
        </p:nvSpPr>
        <p:spPr>
          <a:xfrm>
            <a:off x="6032500" y="3772550"/>
            <a:ext cx="2483700" cy="55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to bring both axes</a:t>
            </a:r>
            <a:endParaRPr sz="2100"/>
          </a:p>
        </p:txBody>
      </p:sp>
      <p:sp>
        <p:nvSpPr>
          <p:cNvPr id="1250" name="Google Shape;1250;p100"/>
          <p:cNvSpPr txBox="1"/>
          <p:nvPr>
            <p:ph idx="1" type="body"/>
          </p:nvPr>
        </p:nvSpPr>
        <p:spPr>
          <a:xfrm>
            <a:off x="4749450" y="4155425"/>
            <a:ext cx="3996000" cy="55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back to the same scale. </a:t>
            </a:r>
            <a:endParaRPr sz="2100"/>
          </a:p>
        </p:txBody>
      </p:sp>
      <p:sp>
        <p:nvSpPr>
          <p:cNvPr id="1251" name="Google Shape;1251;p100"/>
          <p:cNvSpPr txBox="1"/>
          <p:nvPr>
            <p:ph idx="1" type="body"/>
          </p:nvPr>
        </p:nvSpPr>
        <p:spPr>
          <a:xfrm>
            <a:off x="4749450" y="3772550"/>
            <a:ext cx="950400" cy="45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button     </a:t>
            </a:r>
            <a:endParaRPr sz="2100"/>
          </a:p>
        </p:txBody>
      </p:sp>
      <p:sp>
        <p:nvSpPr>
          <p:cNvPr id="1252" name="Google Shape;1252;p100"/>
          <p:cNvSpPr txBox="1"/>
          <p:nvPr/>
        </p:nvSpPr>
        <p:spPr>
          <a:xfrm>
            <a:off x="4572000" y="1142275"/>
            <a:ext cx="4120200" cy="12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We get a parallelogram because w</a:t>
            </a: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e’ve changed the scale on one axis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/>
          <p:nvPr>
            <p:ph idx="2" type="subTitle"/>
          </p:nvPr>
        </p:nvSpPr>
        <p:spPr>
          <a:xfrm>
            <a:off x="980575" y="3196125"/>
            <a:ext cx="783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Changing the scale moves all points to different coordinates.  </a:t>
            </a:r>
            <a:endParaRPr sz="2000"/>
          </a:p>
        </p:txBody>
      </p:sp>
      <p:sp>
        <p:nvSpPr>
          <p:cNvPr id="1258" name="Google Shape;125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259" name="Google Shape;1259;p101"/>
          <p:cNvSpPr txBox="1"/>
          <p:nvPr>
            <p:ph idx="1" type="subTitle"/>
          </p:nvPr>
        </p:nvSpPr>
        <p:spPr>
          <a:xfrm>
            <a:off x="324000" y="1080000"/>
            <a:ext cx="8496000" cy="46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Changing the scale on one axis will change a shape made out of coordinates.</a:t>
            </a:r>
            <a:endParaRPr/>
          </a:p>
        </p:txBody>
      </p:sp>
      <p:sp>
        <p:nvSpPr>
          <p:cNvPr id="1260" name="Google Shape;1260;p10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the scales are different on the two axes, the distance between the numbers are different in the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/>
              <a:t> and </a:t>
            </a:r>
            <a:r>
              <a:rPr i="1" lang="en-GB"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 sz="2000"/>
              <a:t> directions.</a:t>
            </a:r>
            <a:endParaRPr sz="2000"/>
          </a:p>
        </p:txBody>
      </p:sp>
      <p:pic>
        <p:nvPicPr>
          <p:cNvPr id="1261" name="Google Shape;1261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658" y="18378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68208" y="41104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102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For each set of coordinates, find the fourth coordinate to make a square.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(0,0)  (8,-2)  (10,6)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(0,0)  (4,5)  (-1,9)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(0,0)  (7,-3)  (3,7)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(2,3)  (-1,-4)  (4,-2)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(-10,0.5)  (-8,1.5)  (-9,-1.5)</a:t>
            </a:r>
            <a:endParaRPr/>
          </a:p>
        </p:txBody>
      </p:sp>
      <p:sp>
        <p:nvSpPr>
          <p:cNvPr id="1268" name="Google Shape;1268;p10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3"/>
          <p:cNvSpPr txBox="1"/>
          <p:nvPr>
            <p:ph idx="1" type="body"/>
          </p:nvPr>
        </p:nvSpPr>
        <p:spPr>
          <a:xfrm>
            <a:off x="324000" y="733650"/>
            <a:ext cx="8496000" cy="69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</a:t>
            </a:r>
            <a:r>
              <a:rPr lang="en-GB" sz="1800"/>
              <a:t>Plot each set of coordinates to determine the type of quadrilateral they make.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274" name="Google Shape;1274;p10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275" name="Google Shape;1275;p103"/>
          <p:cNvSpPr/>
          <p:nvPr/>
        </p:nvSpPr>
        <p:spPr>
          <a:xfrm>
            <a:off x="1669155" y="1117172"/>
            <a:ext cx="894600" cy="89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6" name="Google Shape;1276;p103"/>
          <p:cNvSpPr/>
          <p:nvPr/>
        </p:nvSpPr>
        <p:spPr>
          <a:xfrm>
            <a:off x="3002980" y="1117097"/>
            <a:ext cx="1383300" cy="894600"/>
          </a:xfrm>
          <a:prstGeom prst="rect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7" name="Google Shape;1277;p103"/>
          <p:cNvSpPr/>
          <p:nvPr/>
        </p:nvSpPr>
        <p:spPr>
          <a:xfrm>
            <a:off x="4852732" y="1147172"/>
            <a:ext cx="1609200" cy="834600"/>
          </a:xfrm>
          <a:prstGeom prst="parallelogram">
            <a:avLst>
              <a:gd fmla="val 40100" name="adj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8" name="Google Shape;1278;p103"/>
          <p:cNvSpPr txBox="1"/>
          <p:nvPr>
            <p:ph idx="4294967295" type="body"/>
          </p:nvPr>
        </p:nvSpPr>
        <p:spPr>
          <a:xfrm>
            <a:off x="1604955" y="2119922"/>
            <a:ext cx="10230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square </a:t>
            </a:r>
            <a:endParaRPr sz="1900"/>
          </a:p>
        </p:txBody>
      </p:sp>
      <p:sp>
        <p:nvSpPr>
          <p:cNvPr id="1279" name="Google Shape;1279;p103"/>
          <p:cNvSpPr txBox="1"/>
          <p:nvPr>
            <p:ph idx="4294967295" type="body"/>
          </p:nvPr>
        </p:nvSpPr>
        <p:spPr>
          <a:xfrm>
            <a:off x="3111102" y="2119922"/>
            <a:ext cx="12141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rectangle </a:t>
            </a:r>
            <a:endParaRPr sz="1900"/>
          </a:p>
        </p:txBody>
      </p:sp>
      <p:sp>
        <p:nvSpPr>
          <p:cNvPr id="1280" name="Google Shape;1280;p103"/>
          <p:cNvSpPr txBox="1"/>
          <p:nvPr>
            <p:ph idx="4294967295" type="body"/>
          </p:nvPr>
        </p:nvSpPr>
        <p:spPr>
          <a:xfrm>
            <a:off x="4685095" y="2119922"/>
            <a:ext cx="18966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parallelogram </a:t>
            </a:r>
            <a:endParaRPr sz="1900"/>
          </a:p>
        </p:txBody>
      </p:sp>
      <p:sp>
        <p:nvSpPr>
          <p:cNvPr id="1281" name="Google Shape;1281;p103"/>
          <p:cNvSpPr txBox="1"/>
          <p:nvPr>
            <p:ph idx="4294967295" type="body"/>
          </p:nvPr>
        </p:nvSpPr>
        <p:spPr>
          <a:xfrm>
            <a:off x="6945126" y="2119922"/>
            <a:ext cx="894600" cy="35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kite </a:t>
            </a:r>
            <a:endParaRPr sz="1900"/>
          </a:p>
        </p:txBody>
      </p:sp>
      <p:sp>
        <p:nvSpPr>
          <p:cNvPr id="1282" name="Google Shape;1282;p103"/>
          <p:cNvSpPr txBox="1"/>
          <p:nvPr>
            <p:ph idx="1" type="body"/>
          </p:nvPr>
        </p:nvSpPr>
        <p:spPr>
          <a:xfrm>
            <a:off x="324000" y="2617125"/>
            <a:ext cx="8496000" cy="220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(-12.5,-3)  (-12.5, 1.5)  (0,-3)  (0,1.5)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(-8.2,-20)  (1.4,-16.3)  (-1.2,-16.3)  (-5.6,-20)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AutoNum type="alphaLcParenR"/>
            </a:pPr>
            <a:r>
              <a:rPr lang="en-GB" sz="1900"/>
              <a:t>(0,9)  (3,9)  (0,6)  (4,5)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AutoNum type="alphaLcParenR"/>
            </a:pPr>
            <a:r>
              <a:rPr lang="en-GB" sz="1900"/>
              <a:t>(-2,3)  (3,3)  </a:t>
            </a:r>
            <a:r>
              <a:rPr lang="en-GB" sz="1900"/>
              <a:t>(2,5)  (-1,1)   </a:t>
            </a:r>
            <a:r>
              <a:rPr lang="en-GB" sz="2000"/>
              <a:t> </a:t>
            </a:r>
            <a:endParaRPr sz="20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grpSp>
        <p:nvGrpSpPr>
          <p:cNvPr id="1283" name="Google Shape;1283;p103"/>
          <p:cNvGrpSpPr/>
          <p:nvPr/>
        </p:nvGrpSpPr>
        <p:grpSpPr>
          <a:xfrm rot="5040810">
            <a:off x="6969816" y="896576"/>
            <a:ext cx="940433" cy="1519296"/>
            <a:chOff x="7952175" y="2312323"/>
            <a:chExt cx="775350" cy="1777874"/>
          </a:xfrm>
        </p:grpSpPr>
        <p:cxnSp>
          <p:nvCxnSpPr>
            <p:cNvPr id="1284" name="Google Shape;1284;p103"/>
            <p:cNvCxnSpPr/>
            <p:nvPr/>
          </p:nvCxnSpPr>
          <p:spPr>
            <a:xfrm flipH="1">
              <a:off x="7952175" y="2312326"/>
              <a:ext cx="387600" cy="613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5" name="Google Shape;1285;p103"/>
            <p:cNvCxnSpPr/>
            <p:nvPr/>
          </p:nvCxnSpPr>
          <p:spPr>
            <a:xfrm rot="10800000">
              <a:off x="8339925" y="2312323"/>
              <a:ext cx="387600" cy="6135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6" name="Google Shape;1286;p103"/>
            <p:cNvCxnSpPr/>
            <p:nvPr/>
          </p:nvCxnSpPr>
          <p:spPr>
            <a:xfrm flipH="1">
              <a:off x="8336775" y="2899497"/>
              <a:ext cx="390600" cy="11898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87" name="Google Shape;1287;p103"/>
            <p:cNvCxnSpPr/>
            <p:nvPr/>
          </p:nvCxnSpPr>
          <p:spPr>
            <a:xfrm>
              <a:off x="7952175" y="2899497"/>
              <a:ext cx="387600" cy="1190700"/>
            </a:xfrm>
            <a:prstGeom prst="straightConnector1">
              <a:avLst/>
            </a:prstGeom>
            <a:noFill/>
            <a:ln cap="flat" cmpd="sng" w="38100">
              <a:solidFill>
                <a:schemeClr val="accen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</a:t>
            </a:r>
            <a:r>
              <a:rPr lang="en-GB"/>
              <a:t>For each set of coordinates, find the fourth coordinate to make a square.</a:t>
            </a:r>
            <a:endParaRPr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(0,0)  (8,-2)  (10,6)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(0,0)  (4,5)  (-1,9)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(0,0)  (7,-3)  (3,7)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(2,3)  (-1,-4)  (4,-2)</a:t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-368300" lvl="0" marL="457200" rtl="0" algn="l"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(-10,0.5)  (-8,1.5)  (-9,-1.5)</a:t>
            </a:r>
            <a:endParaRPr/>
          </a:p>
        </p:txBody>
      </p:sp>
      <p:sp>
        <p:nvSpPr>
          <p:cNvPr id="1293" name="Google Shape;1293;p10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294" name="Google Shape;1294;p104"/>
          <p:cNvSpPr txBox="1"/>
          <p:nvPr>
            <p:ph idx="4294967295" type="body"/>
          </p:nvPr>
        </p:nvSpPr>
        <p:spPr>
          <a:xfrm>
            <a:off x="4551150" y="3731725"/>
            <a:ext cx="770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(-3,1)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5" name="Google Shape;1295;p104"/>
          <p:cNvSpPr txBox="1"/>
          <p:nvPr>
            <p:ph idx="4294967295" type="body"/>
          </p:nvPr>
        </p:nvSpPr>
        <p:spPr>
          <a:xfrm>
            <a:off x="4551150" y="4361025"/>
            <a:ext cx="9954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(-7,-0.5)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104"/>
          <p:cNvSpPr txBox="1"/>
          <p:nvPr>
            <p:ph idx="4294967295" type="body"/>
          </p:nvPr>
        </p:nvSpPr>
        <p:spPr>
          <a:xfrm>
            <a:off x="4551150" y="3062000"/>
            <a:ext cx="8961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(10,4)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7" name="Google Shape;1297;p104"/>
          <p:cNvSpPr txBox="1"/>
          <p:nvPr>
            <p:ph idx="4294967295" type="body"/>
          </p:nvPr>
        </p:nvSpPr>
        <p:spPr>
          <a:xfrm>
            <a:off x="4551150" y="2392269"/>
            <a:ext cx="770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(-5,4)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8" name="Google Shape;1298;p104"/>
          <p:cNvSpPr txBox="1"/>
          <p:nvPr>
            <p:ph idx="4294967295" type="body"/>
          </p:nvPr>
        </p:nvSpPr>
        <p:spPr>
          <a:xfrm>
            <a:off x="4551150" y="1702863"/>
            <a:ext cx="770700" cy="40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(2,8)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105"/>
          <p:cNvSpPr txBox="1"/>
          <p:nvPr>
            <p:ph idx="1" type="body"/>
          </p:nvPr>
        </p:nvSpPr>
        <p:spPr>
          <a:xfrm>
            <a:off x="324000" y="685821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2) </a:t>
            </a:r>
            <a:r>
              <a:rPr lang="en-GB" sz="1900"/>
              <a:t>Plot each set of coordinates to determine the type of quadrilateral they make.</a:t>
            </a:r>
            <a:endParaRPr sz="19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304" name="Google Shape;1304;p10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Creating shapes in Desmos</a:t>
            </a:r>
            <a:endParaRPr/>
          </a:p>
        </p:txBody>
      </p:sp>
      <p:sp>
        <p:nvSpPr>
          <p:cNvPr id="1305" name="Google Shape;1305;p105"/>
          <p:cNvSpPr txBox="1"/>
          <p:nvPr>
            <p:ph idx="1" type="body"/>
          </p:nvPr>
        </p:nvSpPr>
        <p:spPr>
          <a:xfrm>
            <a:off x="5277943" y="3141579"/>
            <a:ext cx="2989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</a:t>
            </a:r>
            <a:r>
              <a:rPr lang="en-GB" sz="1800"/>
              <a:t>(-2,3)  (3,3) (2,5)  (-1,1) 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6" name="Google Shape;1306;p105"/>
          <p:cNvSpPr txBox="1"/>
          <p:nvPr>
            <p:ph idx="1" type="body"/>
          </p:nvPr>
        </p:nvSpPr>
        <p:spPr>
          <a:xfrm>
            <a:off x="324000" y="1328586"/>
            <a:ext cx="44565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a) </a:t>
            </a:r>
            <a:r>
              <a:rPr lang="en-GB" sz="1800"/>
              <a:t>(-12.5,-3) (-12.5, 1.5)</a:t>
            </a:r>
            <a:r>
              <a:rPr lang="en-GB" sz="1800"/>
              <a:t> </a:t>
            </a:r>
            <a:r>
              <a:rPr lang="en-GB" sz="1800"/>
              <a:t>(0,-3)</a:t>
            </a:r>
            <a:r>
              <a:rPr lang="en-GB" sz="1800"/>
              <a:t> </a:t>
            </a:r>
            <a:r>
              <a:rPr lang="en-GB" sz="1800"/>
              <a:t>(0,1.5)</a:t>
            </a:r>
            <a:endParaRPr sz="1800"/>
          </a:p>
        </p:txBody>
      </p:sp>
      <p:sp>
        <p:nvSpPr>
          <p:cNvPr id="1307" name="Google Shape;1307;p105"/>
          <p:cNvSpPr txBox="1"/>
          <p:nvPr>
            <p:ph idx="1" type="body"/>
          </p:nvPr>
        </p:nvSpPr>
        <p:spPr>
          <a:xfrm>
            <a:off x="324000" y="3141579"/>
            <a:ext cx="4615500" cy="5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</a:t>
            </a:r>
            <a:r>
              <a:rPr lang="en-GB" sz="1800"/>
              <a:t> (</a:t>
            </a:r>
            <a:r>
              <a:rPr lang="en-GB" sz="1800"/>
              <a:t>-8.2,-20) (1.4,-16.3) (-1.2,-16.3) (-5.6,-20)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308" name="Google Shape;1308;p105"/>
          <p:cNvSpPr txBox="1"/>
          <p:nvPr>
            <p:ph idx="1" type="body"/>
          </p:nvPr>
        </p:nvSpPr>
        <p:spPr>
          <a:xfrm>
            <a:off x="5277943" y="1176900"/>
            <a:ext cx="3720600" cy="44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(</a:t>
            </a:r>
            <a:r>
              <a:rPr lang="en-GB" sz="1800"/>
              <a:t>0,9)  (3,9)  (0,6)  (4,5)   </a:t>
            </a:r>
            <a:endParaRPr sz="18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309" name="Google Shape;1309;p105"/>
          <p:cNvPicPr preferRelativeResize="0"/>
          <p:nvPr/>
        </p:nvPicPr>
        <p:blipFill rotWithShape="1">
          <a:blip r:embed="rId3">
            <a:alphaModFix/>
          </a:blip>
          <a:srcRect b="17774" l="0" r="0" t="4404"/>
          <a:stretch/>
        </p:blipFill>
        <p:spPr>
          <a:xfrm>
            <a:off x="5277950" y="3518811"/>
            <a:ext cx="1971275" cy="12731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0" name="Google Shape;1310;p105"/>
          <p:cNvPicPr preferRelativeResize="0"/>
          <p:nvPr/>
        </p:nvPicPr>
        <p:blipFill rotWithShape="1">
          <a:blip r:embed="rId4">
            <a:alphaModFix/>
          </a:blip>
          <a:srcRect b="10063" l="0" r="6173" t="0"/>
          <a:stretch/>
        </p:blipFill>
        <p:spPr>
          <a:xfrm>
            <a:off x="5277950" y="1700975"/>
            <a:ext cx="1971276" cy="13221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1" name="Google Shape;1311;p105"/>
          <p:cNvPicPr preferRelativeResize="0"/>
          <p:nvPr/>
        </p:nvPicPr>
        <p:blipFill rotWithShape="1">
          <a:blip r:embed="rId5">
            <a:alphaModFix/>
          </a:blip>
          <a:srcRect b="0" l="6452" r="5643" t="21426"/>
          <a:stretch/>
        </p:blipFill>
        <p:spPr>
          <a:xfrm>
            <a:off x="332164" y="3482836"/>
            <a:ext cx="2336849" cy="132212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12" name="Google Shape;1312;p10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2164" y="1689437"/>
            <a:ext cx="2432066" cy="13451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313" name="Google Shape;1313;p105"/>
          <p:cNvSpPr txBox="1"/>
          <p:nvPr>
            <p:ph idx="4294967295" type="body"/>
          </p:nvPr>
        </p:nvSpPr>
        <p:spPr>
          <a:xfrm>
            <a:off x="2887200" y="2769937"/>
            <a:ext cx="120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Rectangle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4" name="Google Shape;1314;p105"/>
          <p:cNvSpPr txBox="1"/>
          <p:nvPr>
            <p:ph idx="4294967295" type="body"/>
          </p:nvPr>
        </p:nvSpPr>
        <p:spPr>
          <a:xfrm>
            <a:off x="2887200" y="4495862"/>
            <a:ext cx="16482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Parallelogram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5" name="Google Shape;1315;p105"/>
          <p:cNvSpPr txBox="1"/>
          <p:nvPr>
            <p:ph idx="4294967295" type="body"/>
          </p:nvPr>
        </p:nvSpPr>
        <p:spPr>
          <a:xfrm>
            <a:off x="7420196" y="2769928"/>
            <a:ext cx="120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Kite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6" name="Google Shape;1316;p105"/>
          <p:cNvSpPr txBox="1"/>
          <p:nvPr>
            <p:ph idx="4294967295" type="body"/>
          </p:nvPr>
        </p:nvSpPr>
        <p:spPr>
          <a:xfrm>
            <a:off x="7420196" y="4455053"/>
            <a:ext cx="12060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Rectangle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17" name="Google Shape;1317;p105"/>
          <p:cNvCxnSpPr/>
          <p:nvPr/>
        </p:nvCxnSpPr>
        <p:spPr>
          <a:xfrm>
            <a:off x="5070443" y="1052575"/>
            <a:ext cx="0" cy="377190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06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Coordinates can be plotted into graphing software such as Desmos.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Rules can be </a:t>
            </a:r>
            <a:r>
              <a:rPr lang="en-GB"/>
              <a:t>entered</a:t>
            </a:r>
            <a:r>
              <a:rPr lang="en-GB"/>
              <a:t> into Desmos in the form of an equation and </a:t>
            </a:r>
            <a:r>
              <a:rPr lang="en-GB"/>
              <a:t>a</a:t>
            </a:r>
            <a:r>
              <a:rPr lang="en-GB"/>
              <a:t> line of infinite coordinates will be drawn.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Plotting coordinates using technology makes it easy to see coordinates that are not following the rule.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Desmos can be used to create mathematical shapes using coordinates.</a:t>
            </a:r>
            <a:endParaRPr/>
          </a:p>
        </p:txBody>
      </p:sp>
      <p:sp>
        <p:nvSpPr>
          <p:cNvPr id="1323" name="Google Shape;1323;p106"/>
          <p:cNvSpPr txBox="1"/>
          <p:nvPr>
            <p:ph type="title"/>
          </p:nvPr>
        </p:nvSpPr>
        <p:spPr>
          <a:xfrm>
            <a:off x="1684800" y="157525"/>
            <a:ext cx="71352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Plotting coordinates generated from a rule using technology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10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29" name="Google Shape;1329;p10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