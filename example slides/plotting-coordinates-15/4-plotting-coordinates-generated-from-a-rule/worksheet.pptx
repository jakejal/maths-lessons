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71829B-7B1E-46B4-937B-483EEC01A531}">
  <a:tblStyle styleId="{A471829B-7B1E-46B4-937B-483EEC01A5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917f13bfd4_0_5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917f13bfd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9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/>
        </p:nvSpPr>
        <p:spPr>
          <a:xfrm>
            <a:off x="468000" y="5143063"/>
            <a:ext cx="8496000" cy="3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5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(2,4)   (3,6)  (8,16)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is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5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(2,20)   (-4,-40)  (3,30)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is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5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(0,0)   (1,5)   (-1,-5)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is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5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(10,1)   (6,0.6)   (30,3)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is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generated from a rule</a:t>
            </a:r>
            <a:endParaRPr/>
          </a:p>
        </p:txBody>
      </p:sp>
      <p:sp>
        <p:nvSpPr>
          <p:cNvPr id="163" name="Google Shape;163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474750" y="1386193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Finding a rule from a set of coordinates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1723400"/>
            <a:ext cx="66240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set of coordinates, fill in the gaps to describe the relationship in words and using algebra: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2422925"/>
            <a:ext cx="8496000" cy="3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(0,1)   (2,3)  (9,10)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coordinate is equal to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(2,6)   (-4,0)   (4,8)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is equal to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plus 4.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(10,5)   (4,-1)  (0,-5)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is equal to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(-7,-2)   (-3,2)  (2.2,7.2)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is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4764263" y="2520000"/>
            <a:ext cx="1666500" cy="417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x+1&quot;&gt;&lt;mi&gt;y&lt;/mi&gt;&lt;mo&gt;=&lt;/mo&gt;&lt;mi&gt;x&lt;/mi&gt;&lt;mo&gt;+&lt;/mo&gt;&lt;mn&gt;1&lt;/mn&gt;&lt;/math&gt;" id="168" name="Google Shape;168;p20" title="y equals x pl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1526" y="2582474"/>
            <a:ext cx="1040946" cy="25678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/>
          <p:nvPr/>
        </p:nvSpPr>
        <p:spPr>
          <a:xfrm>
            <a:off x="4759200" y="3240000"/>
            <a:ext cx="1666500" cy="417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underline{\ \ \ \ \ \ \ \ \ \ }&quot;&gt;&lt;mi&gt;y&lt;/mi&gt;&lt;mo&gt;=&lt;/mo&gt;&lt;munder&gt;&lt;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row&gt;&lt;mo accent=&quot;true&quot;&gt;―&lt;/mo&gt;&lt;/munder&gt;&lt;/math&gt;" id="170" name="Google Shape;170;p20" title="y equals over horizontal ba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2385" y="3366000"/>
            <a:ext cx="1219637" cy="18875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/>
          <p:nvPr/>
        </p:nvSpPr>
        <p:spPr>
          <a:xfrm>
            <a:off x="4764696" y="3960000"/>
            <a:ext cx="1666500" cy="417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underline{\ \ \ \ \ \ \ \ \ \ }&quot;&gt;&lt;mi&gt;y&lt;/mi&gt;&lt;mo&gt;=&lt;/mo&gt;&lt;munder&gt;&lt;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row&gt;&lt;mo accent=&quot;true&quot;&gt;―&lt;/mo&gt;&lt;/munder&gt;&lt;/math&gt;" id="172" name="Google Shape;172;p20" title="y equals over horizontal ba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7887" y="4068000"/>
            <a:ext cx="1219637" cy="18875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/>
          <p:nvPr/>
        </p:nvSpPr>
        <p:spPr>
          <a:xfrm>
            <a:off x="4764696" y="4644000"/>
            <a:ext cx="1666500" cy="417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underline{\ \ \ \ \ \ \ \ \ \ }&quot;&gt;&lt;mi&gt;y&lt;/mi&gt;&lt;mo&gt;=&lt;/mo&gt;&lt;munder&gt;&lt;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row&gt;&lt;mo accent=&quot;true&quot;&gt;―&lt;/mo&gt;&lt;/munder&gt;&lt;/math&gt;" id="174" name="Google Shape;174;p20" title="y equals over horizontal ba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7887" y="4752000"/>
            <a:ext cx="1219637" cy="18875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/>
          <p:nvPr/>
        </p:nvSpPr>
        <p:spPr>
          <a:xfrm>
            <a:off x="4764208" y="5328000"/>
            <a:ext cx="1661100" cy="416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759162" y="5988923"/>
            <a:ext cx="1661100" cy="416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underline{\ \ \ \ \ \ \ \ \ \ }&quot;&gt;&lt;mi&gt;y&lt;/mi&gt;&lt;mo&gt;=&lt;/mo&gt;&lt;munder&gt;&lt;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row&gt;&lt;mo accent=&quot;true&quot;&gt;―&lt;/mo&gt;&lt;/munder&gt;&lt;/math&gt;" id="177" name="Google Shape;177;p20" title="y equals over horizontal ba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2945" y="6138000"/>
            <a:ext cx="1215554" cy="1881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underline{\ \ \ \ \ \ \ \ \ \ }&quot;&gt;&lt;mi&gt;y&lt;/mi&gt;&lt;mo&gt;=&lt;/mo&gt;&lt;munder&gt;&lt;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row&gt;&lt;mo accent=&quot;true&quot;&gt;―&lt;/mo&gt;&lt;/munder&gt;&lt;/math&gt;" id="178" name="Google Shape;178;p20" title="y equals over horizontal ba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2853" y="5454000"/>
            <a:ext cx="1215554" cy="18812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/>
          <p:nvPr/>
        </p:nvSpPr>
        <p:spPr>
          <a:xfrm>
            <a:off x="4764640" y="6674578"/>
            <a:ext cx="1661100" cy="416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4764640" y="7408226"/>
            <a:ext cx="1661100" cy="416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underline{\ \ \ \ \ \ \ \ \ \ }&quot;&gt;&lt;mi&gt;y&lt;/mi&gt;&lt;mo&gt;=&lt;/mo&gt;&lt;munder&gt;&lt;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row&gt;&lt;mo accent=&quot;true&quot;&gt;―&lt;/mo&gt;&lt;/munder&gt;&lt;/math&gt;" id="181" name="Google Shape;181;p20" title="y equals over horizontal ba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8429" y="6824285"/>
            <a:ext cx="1215554" cy="1881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underline{\ \ \ \ \ \ \ \ \ \ }&quot;&gt;&lt;mi&gt;y&lt;/mi&gt;&lt;mo&gt;=&lt;/mo&gt;&lt;munder&gt;&lt;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row&gt;&lt;mo accent=&quot;true&quot;&gt;―&lt;/mo&gt;&lt;/munder&gt;&lt;/math&gt;" id="182" name="Google Shape;182;p20" title="y equals over horizontal ba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8429" y="7557932"/>
            <a:ext cx="1215554" cy="1881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0"/>
          <p:cNvCxnSpPr/>
          <p:nvPr/>
        </p:nvCxnSpPr>
        <p:spPr>
          <a:xfrm>
            <a:off x="474750" y="997199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9" name="Google Shape;189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generated from a rule</a:t>
            </a:r>
            <a:endParaRPr/>
          </a:p>
        </p:txBody>
      </p:sp>
      <p:sp>
        <p:nvSpPr>
          <p:cNvPr id="190" name="Google Shape;190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68000" y="7137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Generating coordinates from a rule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67998" y="1050900"/>
            <a:ext cx="66240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Generate 3 coordinates that follow each rule. Some have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already filled in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68000" y="1868850"/>
            <a:ext cx="3181800" cy="25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3  ,      )   (      ,      )   (      ,     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0  ,      )   (      ,  9  )   (      ,     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0  ,      )   (      ,300)   (      ,     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0  ,      )   (      ,      )   (      ,     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y=x+20\end{array}&quot;&gt;&lt;mtable columnalign=&quot;left&quot; columnspacing=&quot;1em&quot; rowspacing=&quot;4pt&quot;&gt;&lt;mtr&gt;&lt;mtd&gt;&lt;mi&gt;y&lt;/mi&gt;&lt;mo&gt;=&lt;/mo&gt;&lt;mi&gt;x&lt;/mi&gt;&lt;mo&gt;+&lt;/mo&gt;&lt;mn&gt;20&lt;/mn&gt;&lt;/mtd&gt;&lt;/mtr&gt;&lt;/mtable&gt;&lt;/math&gt;" id="195" name="Google Shape;195;p21" title="1 lines Line 1: y equals x plus 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8384" y="2192050"/>
            <a:ext cx="1000049" cy="2000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100x\end{array}&quot;&gt;&lt;mtable columnalign=&quot;left&quot; columnspacing=&quot;1em&quot; rowspacing=&quot;4pt&quot;&gt;&lt;mtr&gt;&lt;mtd&gt;&lt;mi&gt;y&lt;/mi&gt;&lt;mo&gt;=&lt;/mo&gt;&lt;mn&gt;100&lt;/mn&gt;&lt;mi&gt;x&lt;/mi&gt;&lt;/mtd&gt;&lt;/mtr&gt;&lt;/mtable&gt;&lt;/math&gt;" id="196" name="Google Shape;196;p21" title="1 lines Line 1: y equals 100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8375" y="3536070"/>
            <a:ext cx="853779" cy="199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x-9\end{array}&quot;&gt;&lt;mtable columnalign=&quot;left&quot; columnspacing=&quot;1em&quot; rowspacing=&quot;4pt&quot;&gt;&lt;mtr&gt;&lt;mtd&gt;&lt;mi&gt;y&lt;/mi&gt;&lt;mo&gt;=&lt;/mo&gt;&lt;mi&gt;x&lt;/mi&gt;&lt;mo&gt;−&lt;/mo&gt;&lt;mn&gt;9&lt;/mn&gt;&lt;/mtd&gt;&lt;/mtr&gt;&lt;/mtable&gt;&lt;/math&gt;" id="197" name="Google Shape;197;p21" title="1 lines Line 1: y equals x minus 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4934" y="2885712"/>
            <a:ext cx="880686" cy="199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4x\end{array}&quot;&gt;&lt;mtable columnalign=&quot;left&quot; columnspacing=&quot;1em&quot; rowspacing=&quot;4pt&quot;&gt;&lt;mtr&gt;&lt;mtd&gt;&lt;mi&gt;y&lt;/mi&gt;&lt;mo&gt;=&lt;/mo&gt;&lt;mn&gt;4&lt;/mn&gt;&lt;mi&gt;x&lt;/mi&gt;&lt;/mtd&gt;&lt;/mtr&gt;&lt;/mtable&gt;&lt;/math&gt;" id="198" name="Google Shape;198;p21" title="1 lines Line 1: y equals 4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4925" y="4174937"/>
            <a:ext cx="623033" cy="19998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468000" y="4602325"/>
            <a:ext cx="6624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table with a different coordinate for the equation that satisfies each condition. The first one has been done for you.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0" name="Google Shape;20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8000" y="5123488"/>
            <a:ext cx="5993929" cy="258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21"/>
          <p:cNvCxnSpPr/>
          <p:nvPr/>
        </p:nvCxnSpPr>
        <p:spPr>
          <a:xfrm>
            <a:off x="474750" y="997199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7" name="Google Shape;207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generated from a rule</a:t>
            </a:r>
            <a:endParaRPr/>
          </a:p>
        </p:txBody>
      </p:sp>
      <p:sp>
        <p:nvSpPr>
          <p:cNvPr id="208" name="Google Shape;208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469950" y="1049550"/>
            <a:ext cx="66201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all the integer points that satisfy each rule.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69950" y="675900"/>
            <a:ext cx="66201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Plotting coordinates that follow a rule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482650" y="1407675"/>
            <a:ext cx="22440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value is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2918650" y="1378725"/>
            <a:ext cx="18891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value is one less than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5217575" y="1354325"/>
            <a:ext cx="18891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value is double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461250" y="4074525"/>
            <a:ext cx="26631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 the pattern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2889150" y="4074525"/>
            <a:ext cx="26631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 the pattern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5217575" y="4074525"/>
            <a:ext cx="26631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 the pattern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469950" y="4791228"/>
            <a:ext cx="22440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2975612" y="4791228"/>
            <a:ext cx="2825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5210689" y="4791228"/>
            <a:ext cx="25632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469950" y="7092920"/>
            <a:ext cx="26631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 the pattern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2993649" y="7092920"/>
            <a:ext cx="26631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 the pattern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5214102" y="7092920"/>
            <a:ext cx="26631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Describe the pattern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x+y=5&quot;&gt;&lt;mi&gt;x&lt;/mi&gt;&lt;mo&gt;+&lt;/mo&gt;&lt;mi&gt;y&lt;/mi&gt;&lt;mo&gt;=&lt;/mo&gt;&lt;mn&gt;5&lt;/mn&gt;&lt;/math&gt;" id="224" name="Google Shape;224;p22" title="x plus y equal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5959" y="4811575"/>
            <a:ext cx="1032898" cy="235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-4&quot;&gt;&lt;mi&gt;y&lt;/mi&gt;&lt;mo&gt;=&lt;/mo&gt;&lt;mi&gt;x&lt;/mi&gt;&lt;mo&gt;−&lt;/mo&gt;&lt;mn&gt;4&lt;/mn&gt;&lt;/math&gt;" id="225" name="Google Shape;225;p22" title="y equals x minus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7783" y="4811879"/>
            <a:ext cx="1032898" cy="234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0&quot;&gt;&lt;mi&gt;y&lt;/mi&gt;&lt;mo&gt;=&lt;/mo&gt;&lt;mn&gt;0&lt;/mn&gt;&lt;/math&gt;" id="226" name="Google Shape;226;p22" title="y equals 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906" y="4775160"/>
            <a:ext cx="594900" cy="23518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461250" y="7765150"/>
            <a:ext cx="66201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grid shows 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even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points labelled A, B, C, 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E, F an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 G.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omplete the table to show which points have coordinates that match the rules below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first column has been completed for you.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8" name="Google Shape;228;p22"/>
          <p:cNvGraphicFramePr/>
          <p:nvPr/>
        </p:nvGraphicFramePr>
        <p:xfrm>
          <a:off x="469950" y="839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{A471829B-7B1E-46B4-937B-483EEC01A531}</a:tableStyleId>
              </a:tblPr>
              <a:tblGrid>
                <a:gridCol w="1006800"/>
                <a:gridCol w="482250"/>
                <a:gridCol w="487950"/>
                <a:gridCol w="482500"/>
                <a:gridCol w="499600"/>
                <a:gridCol w="487150"/>
                <a:gridCol w="487150"/>
                <a:gridCol w="487150"/>
              </a:tblGrid>
              <a:tr h="36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Rule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x=2&quot;&gt;&lt;mi&gt;x&lt;/mi&gt;&lt;mo&gt;=&lt;/mo&gt;&lt;mn&gt;2&lt;/mn&gt;&lt;/math&gt;" id="229" name="Google Shape;229;p22" title="x equals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201" y="8763185"/>
            <a:ext cx="622966" cy="1983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-2&quot;&gt;&lt;mi&gt;y&lt;/mi&gt;&lt;mo&gt;=&lt;/mo&gt;&lt;mo&gt;−&lt;/mo&gt;&lt;mn&gt;2&lt;/mn&gt;&lt;/math&gt;" id="230" name="Google Shape;230;p22" title="y equals negative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6150" y="9089330"/>
            <a:ext cx="782752" cy="237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y&quot;&gt;&lt;mi&gt;x&lt;/mi&gt;&lt;mo&gt;=&lt;/mo&gt;&lt;mi&gt;y&lt;/mi&gt;&lt;/math&gt;" id="231" name="Google Shape;231;p22" title="x equals y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9974" y="9484513"/>
            <a:ext cx="632751" cy="178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9-10-2023/0adc0b2d-db08-4aa6-bbff-2a8965dfe4b3&quot; data-equatio-type=&quot;desmos&quot;&gt;&lt;mglyph src=&quot;https://equatio-api.texthelp.com/desmos/get/09-10-2023/0adc0b2d-db08-4aa6-bbff-2a8965dfe4b3&quot; alt=&quot;Equatio Desmos Graph&quot;/&gt;&lt;/math&gt;" id="232" name="Google Shape;232;p22" title="Equatio Desmos Graph"/>
          <p:cNvPicPr preferRelativeResize="0"/>
          <p:nvPr/>
        </p:nvPicPr>
        <p:blipFill rotWithShape="1">
          <a:blip r:embed="rId9">
            <a:alphaModFix/>
          </a:blip>
          <a:srcRect b="26019" l="24152" r="35959" t="24683"/>
          <a:stretch/>
        </p:blipFill>
        <p:spPr>
          <a:xfrm>
            <a:off x="5042032" y="8413142"/>
            <a:ext cx="1684086" cy="156108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/>
          <p:nvPr/>
        </p:nvSpPr>
        <p:spPr>
          <a:xfrm>
            <a:off x="5035700" y="8391402"/>
            <a:ext cx="1684200" cy="1582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-x&quot;&gt;&lt;mi&gt;y&lt;/mi&gt;&lt;mo&gt;=&lt;/mo&gt;&lt;mo&gt;−&lt;/mo&gt;&lt;mi&gt;x&lt;/mi&gt;&lt;/math&gt;" id="234" name="Google Shape;234;p22" title="y equals negative x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1833" y="9802006"/>
            <a:ext cx="815400" cy="1787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22"/>
          <p:cNvGrpSpPr/>
          <p:nvPr/>
        </p:nvGrpSpPr>
        <p:grpSpPr>
          <a:xfrm>
            <a:off x="461205" y="1877181"/>
            <a:ext cx="1874994" cy="1872251"/>
            <a:chOff x="491650" y="1865975"/>
            <a:chExt cx="2289650" cy="228630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236" name="Google Shape;236;p22" title="Equatio Desmos Graph"/>
            <p:cNvPicPr preferRelativeResize="0"/>
            <p:nvPr/>
          </p:nvPicPr>
          <p:blipFill rotWithShape="1">
            <a:blip r:embed="rId11">
              <a:alphaModFix/>
            </a:blip>
            <a:srcRect b="25675" l="31633" r="24443" t="16299"/>
            <a:stretch/>
          </p:blipFill>
          <p:spPr>
            <a:xfrm>
              <a:off x="491650" y="1883599"/>
              <a:ext cx="2289650" cy="2268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22"/>
            <p:cNvSpPr/>
            <p:nvPr/>
          </p:nvSpPr>
          <p:spPr>
            <a:xfrm>
              <a:off x="491650" y="1865975"/>
              <a:ext cx="2289600" cy="2286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8" name="Google Shape;238;p22"/>
          <p:cNvGrpSpPr/>
          <p:nvPr/>
        </p:nvGrpSpPr>
        <p:grpSpPr>
          <a:xfrm>
            <a:off x="2835294" y="1877181"/>
            <a:ext cx="1874994" cy="1872251"/>
            <a:chOff x="491650" y="1865975"/>
            <a:chExt cx="2289650" cy="228630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239" name="Google Shape;239;p22" title="Equatio Desmos Graph"/>
            <p:cNvPicPr preferRelativeResize="0"/>
            <p:nvPr/>
          </p:nvPicPr>
          <p:blipFill rotWithShape="1">
            <a:blip r:embed="rId11">
              <a:alphaModFix/>
            </a:blip>
            <a:srcRect b="25675" l="31633" r="24443" t="16299"/>
            <a:stretch/>
          </p:blipFill>
          <p:spPr>
            <a:xfrm>
              <a:off x="491650" y="1883599"/>
              <a:ext cx="2289650" cy="2268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22"/>
            <p:cNvSpPr/>
            <p:nvPr/>
          </p:nvSpPr>
          <p:spPr>
            <a:xfrm>
              <a:off x="491650" y="1865975"/>
              <a:ext cx="2289600" cy="2286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1" name="Google Shape;241;p22"/>
          <p:cNvGrpSpPr/>
          <p:nvPr/>
        </p:nvGrpSpPr>
        <p:grpSpPr>
          <a:xfrm>
            <a:off x="5206394" y="1877181"/>
            <a:ext cx="1874994" cy="1872251"/>
            <a:chOff x="491650" y="1865975"/>
            <a:chExt cx="2289650" cy="228630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242" name="Google Shape;242;p22" title="Equatio Desmos Graph"/>
            <p:cNvPicPr preferRelativeResize="0"/>
            <p:nvPr/>
          </p:nvPicPr>
          <p:blipFill rotWithShape="1">
            <a:blip r:embed="rId11">
              <a:alphaModFix/>
            </a:blip>
            <a:srcRect b="25675" l="31633" r="24443" t="16299"/>
            <a:stretch/>
          </p:blipFill>
          <p:spPr>
            <a:xfrm>
              <a:off x="491650" y="1883599"/>
              <a:ext cx="2289650" cy="2268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22"/>
            <p:cNvSpPr/>
            <p:nvPr/>
          </p:nvSpPr>
          <p:spPr>
            <a:xfrm>
              <a:off x="491650" y="1865975"/>
              <a:ext cx="2289600" cy="2286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244" name="Google Shape;244;p22" title="Equatio Desmos Graph"/>
          <p:cNvPicPr preferRelativeResize="0"/>
          <p:nvPr/>
        </p:nvPicPr>
        <p:blipFill rotWithShape="1">
          <a:blip r:embed="rId11">
            <a:alphaModFix/>
          </a:blip>
          <a:srcRect b="25675" l="31633" r="24443" t="16299"/>
          <a:stretch/>
        </p:blipFill>
        <p:spPr>
          <a:xfrm>
            <a:off x="461188" y="5139269"/>
            <a:ext cx="1878268" cy="1861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245" name="Google Shape;245;p22" title="Equatio Desmos Graph"/>
          <p:cNvPicPr preferRelativeResize="0"/>
          <p:nvPr/>
        </p:nvPicPr>
        <p:blipFill rotWithShape="1">
          <a:blip r:embed="rId11">
            <a:alphaModFix/>
          </a:blip>
          <a:srcRect b="25675" l="31633" r="24443" t="16299"/>
          <a:stretch/>
        </p:blipFill>
        <p:spPr>
          <a:xfrm>
            <a:off x="2825850" y="5139269"/>
            <a:ext cx="1878268" cy="1861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246" name="Google Shape;246;p22" title="Equatio Desmos Graph"/>
          <p:cNvPicPr preferRelativeResize="0"/>
          <p:nvPr/>
        </p:nvPicPr>
        <p:blipFill rotWithShape="1">
          <a:blip r:embed="rId11">
            <a:alphaModFix/>
          </a:blip>
          <a:srcRect b="25675" l="31633" r="24443" t="16299"/>
          <a:stretch/>
        </p:blipFill>
        <p:spPr>
          <a:xfrm>
            <a:off x="5190511" y="5139269"/>
            <a:ext cx="1878268" cy="186102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/>
          <p:nvPr/>
        </p:nvSpPr>
        <p:spPr>
          <a:xfrm>
            <a:off x="461189" y="5124811"/>
            <a:ext cx="1878300" cy="1875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2800522" y="5118987"/>
            <a:ext cx="1903500" cy="190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5190511" y="5118987"/>
            <a:ext cx="1890900" cy="1901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