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94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1173F7-247D-47EE-B59C-CC0177C06C75}">
  <a:tblStyle styleId="{961173F7-247D-47EE-B59C-CC0177C06C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4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8894c4787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8894c4787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8894c47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8894c47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8e8adc24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8e8adc24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e8894c478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1e8894c478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1e8894c4787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1e8894c4787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1e8894c4787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1e8894c4787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e8894c4787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e8894c4787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88e8adc24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88e8adc24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e8894c478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1e8894c478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1e8894c4787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1e8894c4787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e8894c4787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e8894c4787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1e8894c4787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1e8894c4787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e8894c4787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1e8894c4787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e8894c478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e8894c478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88e75fd80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88e75fd8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88e8adc24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88e8adc24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88e75fd80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88e75fd80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88e8adc24d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88e8adc24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899d574d3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899d574d3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88e8adc24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88e8adc24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899d574d3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899d574d3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88e8adc24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88e8adc24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899d574d3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899d574d3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899d574d3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899d574d3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899d574d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899d574d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1e8894c478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1e8894c478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88e8adc24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88e8adc24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899d574d3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899d574d3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899d574d3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899d574d3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899d574d3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899d574d3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899d574d3b_1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899d574d3b_1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899d574d3b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899d574d3b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899d574d3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899d574d3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899d574d3b_1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899d574d3b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899d574d3b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899d574d3b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88e8adc24d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88e8adc24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899d574d3b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899d574d3b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899d574d3b_1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899d574d3b_1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2899d574d3b_1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2899d574d3b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07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7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7.png"/><Relationship Id="rId4" Type="http://schemas.openxmlformats.org/officeDocument/2006/relationships/image" Target="../media/image33.png"/><Relationship Id="rId11" Type="http://schemas.openxmlformats.org/officeDocument/2006/relationships/image" Target="../media/image18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Relationship Id="rId4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60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46.png"/><Relationship Id="rId8" Type="http://schemas.openxmlformats.org/officeDocument/2006/relationships/image" Target="../media/image54.png"/><Relationship Id="rId10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59.png"/><Relationship Id="rId7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62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3.png"/><Relationship Id="rId4" Type="http://schemas.openxmlformats.org/officeDocument/2006/relationships/image" Target="../media/image63.png"/><Relationship Id="rId5" Type="http://schemas.openxmlformats.org/officeDocument/2006/relationships/image" Target="../media/image7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Relationship Id="rId4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71.png"/><Relationship Id="rId5" Type="http://schemas.openxmlformats.org/officeDocument/2006/relationships/image" Target="../media/image6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8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9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8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7.png"/><Relationship Id="rId4" Type="http://schemas.openxmlformats.org/officeDocument/2006/relationships/image" Target="../media/image9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8.png"/><Relationship Id="rId4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5.png"/><Relationship Id="rId4" Type="http://schemas.openxmlformats.org/officeDocument/2006/relationships/image" Target="../media/image91.png"/><Relationship Id="rId9" Type="http://schemas.openxmlformats.org/officeDocument/2006/relationships/image" Target="../media/image97.png"/><Relationship Id="rId5" Type="http://schemas.openxmlformats.org/officeDocument/2006/relationships/image" Target="../media/image93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4.png"/><Relationship Id="rId10" Type="http://schemas.openxmlformats.org/officeDocument/2006/relationships/image" Target="../media/image9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103.png"/><Relationship Id="rId5" Type="http://schemas.openxmlformats.org/officeDocument/2006/relationships/image" Target="../media/image50.png"/><Relationship Id="rId6" Type="http://schemas.openxmlformats.org/officeDocument/2006/relationships/image" Target="../media/image99.png"/><Relationship Id="rId7" Type="http://schemas.openxmlformats.org/officeDocument/2006/relationships/image" Target="../media/image101.png"/><Relationship Id="rId8" Type="http://schemas.openxmlformats.org/officeDocument/2006/relationships/image" Target="../media/image10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99.png"/><Relationship Id="rId5" Type="http://schemas.openxmlformats.org/officeDocument/2006/relationships/image" Target="../media/image101.png"/><Relationship Id="rId6" Type="http://schemas.openxmlformats.org/officeDocument/2006/relationships/image" Target="../media/image104.png"/><Relationship Id="rId7" Type="http://schemas.openxmlformats.org/officeDocument/2006/relationships/image" Target="../media/image50.png"/><Relationship Id="rId8" Type="http://schemas.openxmlformats.org/officeDocument/2006/relationships/image" Target="../media/image103.png"/><Relationship Id="rId10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5.png"/><Relationship Id="rId4" Type="http://schemas.openxmlformats.org/officeDocument/2006/relationships/image" Target="../media/image108.png"/><Relationship Id="rId5" Type="http://schemas.openxmlformats.org/officeDocument/2006/relationships/image" Target="../media/image10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2.png"/><Relationship Id="rId4" Type="http://schemas.openxmlformats.org/officeDocument/2006/relationships/image" Target="../media/image10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110.png"/><Relationship Id="rId6" Type="http://schemas.openxmlformats.org/officeDocument/2006/relationships/image" Target="../media/image1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6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9.png"/><Relationship Id="rId7" Type="http://schemas.openxmlformats.org/officeDocument/2006/relationships/image" Target="../media/image10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0.png"/><Relationship Id="rId4" Type="http://schemas.openxmlformats.org/officeDocument/2006/relationships/image" Target="../media/image120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2.png"/><Relationship Id="rId4" Type="http://schemas.openxmlformats.org/officeDocument/2006/relationships/image" Target="../media/image125.png"/><Relationship Id="rId5" Type="http://schemas.openxmlformats.org/officeDocument/2006/relationships/image" Target="../media/image112.png"/><Relationship Id="rId6" Type="http://schemas.openxmlformats.org/officeDocument/2006/relationships/image" Target="../media/image111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6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9.png"/><Relationship Id="rId7" Type="http://schemas.openxmlformats.org/officeDocument/2006/relationships/image" Target="../media/image10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represent a set of coordinates, constructed according to a mathematical rule, both algebraically and graphically.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An equation</a:t>
            </a:r>
            <a:r>
              <a:rPr b="1" lang="en-GB" sz="2000">
                <a:solidFill>
                  <a:schemeClr val="dk1"/>
                </a:solidFill>
              </a:rPr>
              <a:t> </a:t>
            </a:r>
            <a:r>
              <a:rPr lang="en-GB" sz="2000">
                <a:solidFill>
                  <a:schemeClr val="dk1"/>
                </a:solidFill>
              </a:rPr>
              <a:t>is used to show two expressions that are equal to each other.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</a:t>
            </a:r>
            <a:r>
              <a:rPr lang="en-GB"/>
              <a:t>lotting coordinates that follow a rule</a:t>
            </a:r>
            <a:endParaRPr/>
          </a:p>
        </p:txBody>
      </p:sp>
      <p:sp>
        <p:nvSpPr>
          <p:cNvPr id="774" name="Google Shape;774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generated from a rule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0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1587325"/>
            <a:ext cx="82377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Look at the coordinates below: </a:t>
            </a:r>
            <a:endParaRPr sz="2100"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782" name="Google Shape;782;p69"/>
          <p:cNvSpPr txBox="1"/>
          <p:nvPr/>
        </p:nvSpPr>
        <p:spPr>
          <a:xfrm>
            <a:off x="324000" y="2254500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(0,2) (1,3) (2,4) (3,5) 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2759111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 you notice?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Can you describe the relationship </a:t>
            </a:r>
            <a:r>
              <a:rPr lang="en-GB" sz="2000">
                <a:solidFill>
                  <a:schemeClr val="accent4"/>
                </a:solidFill>
              </a:rPr>
              <a:t>between </a:t>
            </a:r>
            <a:r>
              <a:rPr lang="en-GB" sz="2000"/>
              <a:t>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coordinate?</a:t>
            </a:r>
            <a:endParaRPr sz="2000"/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24000" y="3697483"/>
            <a:ext cx="8237700" cy="4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  coordinate plus 2 gives the   coordinate.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785" name="Google Shape;785;p69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532" y="3813189"/>
            <a:ext cx="169200" cy="15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786" name="Google Shape;786;p6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846" y="3810266"/>
            <a:ext cx="158400" cy="2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2932013" y="21990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6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3796188" y="21990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4622263" y="2199050"/>
            <a:ext cx="475300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3036885" y="19494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 </a:t>
            </a:r>
            <a:endParaRPr sz="1800"/>
          </a:p>
        </p:txBody>
      </p: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907135" y="19494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 </a:t>
            </a:r>
            <a:endParaRPr sz="1800"/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4708035" y="19494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 </a:t>
            </a:r>
            <a:endParaRPr sz="1800"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292850" y="744275"/>
            <a:ext cx="8521800" cy="6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can describe coordinates that follow a pattern</a:t>
            </a:r>
            <a:r>
              <a:rPr lang="en-GB" sz="2100"/>
              <a:t> by looking at the relationship </a:t>
            </a:r>
            <a:r>
              <a:rPr lang="en-GB" sz="2100">
                <a:solidFill>
                  <a:schemeClr val="accent4"/>
                </a:solidFill>
              </a:rPr>
              <a:t>between </a:t>
            </a:r>
            <a:r>
              <a:rPr lang="en-GB" sz="2100"/>
              <a:t>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/>
              <a:t> and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/>
              <a:t>  </a:t>
            </a:r>
            <a:r>
              <a:rPr lang="en-GB" sz="2100"/>
              <a:t>coordinates.</a:t>
            </a:r>
            <a:endParaRPr sz="2100"/>
          </a:p>
        </p:txBody>
      </p: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24000" y="4163108"/>
            <a:ext cx="8237700" cy="4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  coordinate is the    coordinate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plus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795" name="Google Shape;795;p69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613" y="4278814"/>
            <a:ext cx="169200" cy="15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796" name="Google Shape;796;p6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504" y="4289963"/>
            <a:ext cx="158400" cy="2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9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5468307" y="2185127"/>
            <a:ext cx="475300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9"/>
          <p:cNvSpPr txBox="1"/>
          <p:nvPr>
            <p:ph idx="1" type="body"/>
          </p:nvPr>
        </p:nvSpPr>
        <p:spPr>
          <a:xfrm>
            <a:off x="5554079" y="1935527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324000" y="835500"/>
            <a:ext cx="82377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Look at the coordinates below: </a:t>
            </a:r>
            <a:endParaRPr sz="2000"/>
          </a:p>
        </p:txBody>
      </p:sp>
      <p:sp>
        <p:nvSpPr>
          <p:cNvPr id="804" name="Google Shape;80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805" name="Google Shape;805;p70"/>
          <p:cNvSpPr txBox="1"/>
          <p:nvPr/>
        </p:nvSpPr>
        <p:spPr>
          <a:xfrm>
            <a:off x="324000" y="1386075"/>
            <a:ext cx="8237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(0,3) (1,4) (2,5) 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324000" y="2121750"/>
            <a:ext cx="8496000" cy="10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describe the relationship </a:t>
            </a:r>
            <a:r>
              <a:rPr lang="en-GB" sz="2000">
                <a:solidFill>
                  <a:schemeClr val="accent4"/>
                </a:solidFill>
              </a:rPr>
              <a:t>between </a:t>
            </a:r>
            <a:r>
              <a:rPr lang="en-GB" sz="2000"/>
              <a:t>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/>
              <a:t>and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coordinate?</a:t>
            </a:r>
            <a:endParaRPr sz="2000"/>
          </a:p>
        </p:txBody>
      </p: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324000" y="2603225"/>
            <a:ext cx="8237700" cy="4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  coordinate is the   coordinate plus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08" name="Google Shape;808;p70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643" y="2718519"/>
            <a:ext cx="169200" cy="15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09" name="Google Shape;809;p7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485" y="2727867"/>
            <a:ext cx="158400" cy="2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24000" y="3162275"/>
            <a:ext cx="82377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Does the coordinate (6,3) follow the same rule?</a:t>
            </a:r>
            <a:endParaRPr sz="2000"/>
          </a:p>
        </p:txBody>
      </p:sp>
      <p:pic>
        <p:nvPicPr>
          <p:cNvPr id="811" name="Google Shape;811;p70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3341027" y="13608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0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4205202" y="13608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0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>
            <a:off x="5031277" y="1360850"/>
            <a:ext cx="475300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3445900" y="11112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 </a:t>
            </a:r>
            <a:endParaRPr sz="1800"/>
          </a:p>
        </p:txBody>
      </p:sp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4316150" y="11112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 </a:t>
            </a:r>
            <a:endParaRPr sz="1800"/>
          </a:p>
        </p:txBody>
      </p:sp>
      <p:sp>
        <p:nvSpPr>
          <p:cNvPr id="816" name="Google Shape;816;p70"/>
          <p:cNvSpPr txBox="1"/>
          <p:nvPr>
            <p:ph idx="1" type="body"/>
          </p:nvPr>
        </p:nvSpPr>
        <p:spPr>
          <a:xfrm>
            <a:off x="5117050" y="11112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 </a:t>
            </a:r>
            <a:endParaRPr sz="1800"/>
          </a:p>
        </p:txBody>
      </p:sp>
      <p:sp>
        <p:nvSpPr>
          <p:cNvPr id="817" name="Google Shape;817;p70"/>
          <p:cNvSpPr txBox="1"/>
          <p:nvPr>
            <p:ph idx="1" type="body"/>
          </p:nvPr>
        </p:nvSpPr>
        <p:spPr>
          <a:xfrm>
            <a:off x="2960125" y="364220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 </a:t>
            </a:r>
            <a:endParaRPr sz="1800"/>
          </a:p>
        </p:txBody>
      </p:sp>
      <p:pic>
        <p:nvPicPr>
          <p:cNvPr id="818" name="Google Shape;818;p70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2916946" y="3458648"/>
            <a:ext cx="403576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0"/>
          <p:cNvSpPr txBox="1"/>
          <p:nvPr>
            <p:ph idx="1" type="body"/>
          </p:nvPr>
        </p:nvSpPr>
        <p:spPr>
          <a:xfrm>
            <a:off x="3816325" y="359067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0" name="Google Shape;820;p70"/>
          <p:cNvSpPr txBox="1"/>
          <p:nvPr>
            <p:ph idx="1" type="body"/>
          </p:nvPr>
        </p:nvSpPr>
        <p:spPr>
          <a:xfrm>
            <a:off x="324000" y="4038725"/>
            <a:ext cx="82377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Does the coordinate (3,6)</a:t>
            </a:r>
            <a:r>
              <a:rPr lang="en-GB" sz="2000"/>
              <a:t> follow this rule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2954689" y="453600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 </a:t>
            </a:r>
            <a:endParaRPr sz="1800"/>
          </a:p>
        </p:txBody>
      </p:sp>
      <p:pic>
        <p:nvPicPr>
          <p:cNvPr id="822" name="Google Shape;822;p70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flipH="1" rot="10800000">
            <a:off x="2911510" y="4338000"/>
            <a:ext cx="403576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3816325" y="446712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324000" y="759300"/>
            <a:ext cx="84960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can describe relationships using equations.</a:t>
            </a:r>
            <a:endParaRPr sz="2100"/>
          </a:p>
        </p:txBody>
      </p:sp>
      <p:sp>
        <p:nvSpPr>
          <p:cNvPr id="830" name="Google Shape;830;p71"/>
          <p:cNvSpPr txBox="1"/>
          <p:nvPr>
            <p:ph idx="1" type="body"/>
          </p:nvPr>
        </p:nvSpPr>
        <p:spPr>
          <a:xfrm>
            <a:off x="324000" y="2064000"/>
            <a:ext cx="84960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/>
              <a:t> </a:t>
            </a:r>
            <a:r>
              <a:rPr lang="en-GB" sz="2100"/>
              <a:t>coordinate</a:t>
            </a:r>
            <a:r>
              <a:rPr lang="en-GB" sz="2100"/>
              <a:t> is equal to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/>
              <a:t> coordinate minus 10.</a:t>
            </a:r>
            <a:endParaRPr sz="2100"/>
          </a:p>
        </p:txBody>
      </p:sp>
      <p:sp>
        <p:nvSpPr>
          <p:cNvPr id="831" name="Google Shape;831;p71"/>
          <p:cNvSpPr txBox="1"/>
          <p:nvPr>
            <p:ph idx="1" type="body"/>
          </p:nvPr>
        </p:nvSpPr>
        <p:spPr>
          <a:xfrm>
            <a:off x="324000" y="2676150"/>
            <a:ext cx="84960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How could we form an equation to show this relationship? </a:t>
            </a:r>
            <a:endParaRPr sz="2100"/>
          </a:p>
        </p:txBody>
      </p:sp>
      <p:sp>
        <p:nvSpPr>
          <p:cNvPr id="832" name="Google Shape;832;p71"/>
          <p:cNvSpPr txBox="1"/>
          <p:nvPr/>
        </p:nvSpPr>
        <p:spPr>
          <a:xfrm>
            <a:off x="324000" y="1479700"/>
            <a:ext cx="8496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(10,0) (13.5,3.5) (6,-4)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x-10&quot;&gt;&lt;mi&gt;y&lt;/mi&gt;&lt;mo&gt;=&lt;/mo&gt;&lt;mi&gt;x&lt;/mi&gt;&lt;mo&gt;−&lt;/mo&gt;&lt;mn&gt;10&lt;/mn&gt;&lt;/math&gt;" id="833" name="Google Shape;833;p71" title="y equals x minus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888" y="3179538"/>
            <a:ext cx="1300219" cy="2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1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3341027" y="1284650"/>
            <a:ext cx="475300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1"/>
          <p:cNvSpPr txBox="1"/>
          <p:nvPr>
            <p:ph idx="1" type="body"/>
          </p:nvPr>
        </p:nvSpPr>
        <p:spPr>
          <a:xfrm>
            <a:off x="3445900" y="10350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-10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836" name="Google Shape;836;p71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4282363" y="1284650"/>
            <a:ext cx="629336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1"/>
          <p:cNvSpPr txBox="1"/>
          <p:nvPr>
            <p:ph idx="1" type="body"/>
          </p:nvPr>
        </p:nvSpPr>
        <p:spPr>
          <a:xfrm>
            <a:off x="4436500" y="10350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-10 </a:t>
            </a:r>
            <a:endParaRPr sz="1800"/>
          </a:p>
        </p:txBody>
      </p:sp>
      <p:pic>
        <p:nvPicPr>
          <p:cNvPr id="838" name="Google Shape;838;p71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>
            <a:off x="5322227" y="1284650"/>
            <a:ext cx="475300" cy="251377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1"/>
          <p:cNvSpPr txBox="1"/>
          <p:nvPr>
            <p:ph idx="1" type="body"/>
          </p:nvPr>
        </p:nvSpPr>
        <p:spPr>
          <a:xfrm>
            <a:off x="5427100" y="103505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-10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72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44017" y="2680875"/>
            <a:ext cx="2992051" cy="15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2"/>
          <p:cNvSpPr txBox="1"/>
          <p:nvPr/>
        </p:nvSpPr>
        <p:spPr>
          <a:xfrm>
            <a:off x="1404267" y="2680875"/>
            <a:ext cx="27318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 is double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coordinate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847" name="Google Shape;847;p72"/>
          <p:cNvSpPr txBox="1"/>
          <p:nvPr>
            <p:ph idx="1" type="body"/>
          </p:nvPr>
        </p:nvSpPr>
        <p:spPr>
          <a:xfrm>
            <a:off x="324000" y="759300"/>
            <a:ext cx="84960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Jacob and Sofia are writing an equation for this set of coordinates</a:t>
            </a:r>
            <a:endParaRPr sz="2100"/>
          </a:p>
        </p:txBody>
      </p:sp>
      <p:sp>
        <p:nvSpPr>
          <p:cNvPr id="848" name="Google Shape;848;p72"/>
          <p:cNvSpPr txBox="1"/>
          <p:nvPr>
            <p:ph idx="1" type="body"/>
          </p:nvPr>
        </p:nvSpPr>
        <p:spPr>
          <a:xfrm>
            <a:off x="324000" y="2064000"/>
            <a:ext cx="84960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Who is correct?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849" name="Google Shape;849;p72"/>
          <p:cNvSpPr txBox="1"/>
          <p:nvPr/>
        </p:nvSpPr>
        <p:spPr>
          <a:xfrm>
            <a:off x="324000" y="1479700"/>
            <a:ext cx="8496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(10,5) (7,3.5) (4,2)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0" name="Google Shape;85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24292" y="3630400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790" y="3630230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2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 flipH="1">
            <a:off x="4981758" y="2680875"/>
            <a:ext cx="2818775" cy="15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2"/>
          <p:cNvSpPr txBox="1"/>
          <p:nvPr/>
        </p:nvSpPr>
        <p:spPr>
          <a:xfrm flipH="1">
            <a:off x="5127388" y="2680875"/>
            <a:ext cx="24129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 is half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83292" y="438437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Jacob: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7415046" y="43947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Sofia: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861" name="Google Shape;861;p73"/>
          <p:cNvSpPr txBox="1"/>
          <p:nvPr/>
        </p:nvSpPr>
        <p:spPr>
          <a:xfrm>
            <a:off x="324000" y="657600"/>
            <a:ext cx="8496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(10,5) (7,3.5) (4,2)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3525" y="2055250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8640" y="2055080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73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5159578" y="1105725"/>
            <a:ext cx="2728724" cy="15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3"/>
          <p:cNvSpPr txBox="1"/>
          <p:nvPr/>
        </p:nvSpPr>
        <p:spPr>
          <a:xfrm flipH="1">
            <a:off x="5215158" y="1105725"/>
            <a:ext cx="24129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 is half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3"/>
          <p:cNvSpPr txBox="1"/>
          <p:nvPr>
            <p:ph idx="1" type="body"/>
          </p:nvPr>
        </p:nvSpPr>
        <p:spPr>
          <a:xfrm>
            <a:off x="324000" y="3269900"/>
            <a:ext cx="7458300" cy="4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Sofia is correct  (10, 5)  (7,3.5)  (4,2)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7" name="Google Shape;867;p73"/>
          <p:cNvSpPr txBox="1"/>
          <p:nvPr>
            <p:ph idx="1" type="body"/>
          </p:nvPr>
        </p:nvSpPr>
        <p:spPr>
          <a:xfrm>
            <a:off x="324000" y="3698300"/>
            <a:ext cx="84960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write an equation for this relationship?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\frac{1}{2}x&quot;&gt;&lt;mi&gt;y&lt;/mi&gt;&lt;mo&gt;=&lt;/mo&gt;&lt;mfrac&gt;&lt;mn&gt;1&lt;/mn&gt;&lt;mn&gt;2&lt;/mn&gt;&lt;/mfrac&gt;&lt;mi&gt;x&lt;/mi&gt;&lt;/math&gt;" id="868" name="Google Shape;868;p73" title="y equals one half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4099088"/>
            <a:ext cx="92247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3"/>
          <p:cNvPicPr preferRelativeResize="0"/>
          <p:nvPr/>
        </p:nvPicPr>
        <p:blipFill rotWithShape="1">
          <a:blip r:embed="rId7">
            <a:alphaModFix/>
          </a:blip>
          <a:srcRect b="84458" l="57225" r="18284" t="0"/>
          <a:stretch/>
        </p:blipFill>
        <p:spPr>
          <a:xfrm>
            <a:off x="2486877" y="30807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870" name="Google Shape;870;p73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38000" y="2624856"/>
            <a:ext cx="298800" cy="44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3"/>
          <p:cNvPicPr preferRelativeResize="0"/>
          <p:nvPr/>
        </p:nvPicPr>
        <p:blipFill rotWithShape="1">
          <a:blip r:embed="rId7">
            <a:alphaModFix/>
          </a:blip>
          <a:srcRect b="84458" l="57225" r="18284" t="0"/>
          <a:stretch/>
        </p:blipFill>
        <p:spPr>
          <a:xfrm>
            <a:off x="3629877" y="30807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872" name="Google Shape;872;p73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1000" y="2624856"/>
            <a:ext cx="298800" cy="44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3"/>
          <p:cNvPicPr preferRelativeResize="0"/>
          <p:nvPr/>
        </p:nvPicPr>
        <p:blipFill rotWithShape="1">
          <a:blip r:embed="rId7">
            <a:alphaModFix/>
          </a:blip>
          <a:srcRect b="84458" l="57225" r="18284" t="0"/>
          <a:stretch/>
        </p:blipFill>
        <p:spPr>
          <a:xfrm>
            <a:off x="4468077" y="3080750"/>
            <a:ext cx="475300" cy="251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874" name="Google Shape;874;p73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19200" y="2624856"/>
            <a:ext cx="298800" cy="449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x}{2}&quot;&gt;&lt;mi&gt;y&lt;/mi&gt;&lt;mo&gt;=&lt;/mo&gt;&lt;mfrac&gt;&lt;mi&gt;x&lt;/mi&gt;&lt;mn&gt;2&lt;/mn&gt;&lt;/mfrac&gt;&lt;/math&gt;" id="875" name="Google Shape;875;p73" title="y equals x over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46200" y="4148363"/>
            <a:ext cx="777600" cy="571157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3"/>
          <p:cNvSpPr txBox="1"/>
          <p:nvPr>
            <p:ph idx="1" type="body"/>
          </p:nvPr>
        </p:nvSpPr>
        <p:spPr>
          <a:xfrm>
            <a:off x="1447200" y="4270663"/>
            <a:ext cx="475200" cy="4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or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7" name="Google Shape;877;p73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91617" y="1080675"/>
            <a:ext cx="2992051" cy="158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3"/>
          <p:cNvSpPr txBox="1"/>
          <p:nvPr/>
        </p:nvSpPr>
        <p:spPr>
          <a:xfrm>
            <a:off x="1251867" y="1080675"/>
            <a:ext cx="27318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 is double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coordinate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3825900" y="4114152"/>
            <a:ext cx="43062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Halving a number is the same as multiplying by   or dividing by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2}\end{array}&quot;&gt;&lt;mtable columnalign=&quot;left&quot; columnspacing=&quot;1em&quot; rowspacing=&quot;4pt&quot;&gt;&lt;mtr&gt;&lt;mtd&gt;&lt;mfrac&gt;&lt;mn&gt;1&lt;/mn&gt;&lt;mn&gt;2&lt;/mn&gt;&lt;/mfrac&gt;&lt;/mtd&gt;&lt;/mtr&gt;&lt;/mtable&gt;&lt;/math&gt;" id="880" name="Google Shape;880;p73" title="1 lines Line 1: 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39541" y="4437155"/>
            <a:ext cx="126000" cy="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324000" y="717225"/>
            <a:ext cx="8496000" cy="10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Jacob and Sofia are writing a rule for the coordinates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                                    (-3,-5) (0,-2) (4,2) </a:t>
            </a:r>
            <a:endParaRPr sz="2000"/>
          </a:p>
        </p:txBody>
      </p:sp>
      <p:sp>
        <p:nvSpPr>
          <p:cNvPr id="886" name="Google Shape;88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pic>
        <p:nvPicPr>
          <p:cNvPr id="887" name="Google Shape;887;p74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441925" y="3526175"/>
            <a:ext cx="2008402" cy="103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26687" y="2416842"/>
            <a:ext cx="628726" cy="77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91853" y="3828354"/>
            <a:ext cx="698400" cy="775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4"/>
          <p:cNvSpPr txBox="1"/>
          <p:nvPr/>
        </p:nvSpPr>
        <p:spPr>
          <a:xfrm>
            <a:off x="579746" y="3201151"/>
            <a:ext cx="87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Jacob: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4"/>
          <p:cNvSpPr txBox="1"/>
          <p:nvPr/>
        </p:nvSpPr>
        <p:spPr>
          <a:xfrm>
            <a:off x="538049" y="4551654"/>
            <a:ext cx="963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Sofia: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4"/>
          <p:cNvSpPr txBox="1"/>
          <p:nvPr>
            <p:ph idx="1" type="body"/>
          </p:nvPr>
        </p:nvSpPr>
        <p:spPr>
          <a:xfrm>
            <a:off x="1791325" y="3637725"/>
            <a:ext cx="14079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rule is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id="893" name="Google Shape;893;p74" title="y equals x pl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1325" y="3971450"/>
            <a:ext cx="1224000" cy="27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4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424700" y="1710450"/>
            <a:ext cx="2156902" cy="14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4"/>
          <p:cNvSpPr txBox="1"/>
          <p:nvPr>
            <p:ph idx="1" type="body"/>
          </p:nvPr>
        </p:nvSpPr>
        <p:spPr>
          <a:xfrm>
            <a:off x="1724950" y="1887150"/>
            <a:ext cx="14079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rule is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\frac{1}{2}x&quot;&gt;&lt;mi&gt;y&lt;/mi&gt;&lt;mo&gt;=&lt;/mo&gt;&lt;mfrac&gt;&lt;mn&gt;1&lt;/mn&gt;&lt;mn&gt;2&lt;/mn&gt;&lt;/mfrac&gt;&lt;mi&gt;x&lt;/mi&gt;&lt;/math&gt;" id="896" name="Google Shape;896;p74" title="y equals one half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7750" y="2225200"/>
            <a:ext cx="972000" cy="638743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4"/>
          <p:cNvSpPr txBox="1"/>
          <p:nvPr>
            <p:ph idx="1" type="body"/>
          </p:nvPr>
        </p:nvSpPr>
        <p:spPr>
          <a:xfrm>
            <a:off x="4072525" y="1625899"/>
            <a:ext cx="474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 you know Jacob is incorrect?</a:t>
            </a:r>
            <a:endParaRPr sz="1800"/>
          </a:p>
        </p:txBody>
      </p:sp>
      <p:sp>
        <p:nvSpPr>
          <p:cNvPr id="898" name="Google Shape;898;p74"/>
          <p:cNvSpPr txBox="1"/>
          <p:nvPr>
            <p:ph idx="1" type="body"/>
          </p:nvPr>
        </p:nvSpPr>
        <p:spPr>
          <a:xfrm>
            <a:off x="4072525" y="3436450"/>
            <a:ext cx="474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 you know Sofia is incorrect?</a:t>
            </a:r>
            <a:endParaRPr sz="1800"/>
          </a:p>
        </p:txBody>
      </p:sp>
      <p:sp>
        <p:nvSpPr>
          <p:cNvPr id="899" name="Google Shape;899;p74"/>
          <p:cNvSpPr txBox="1"/>
          <p:nvPr>
            <p:ph idx="1" type="body"/>
          </p:nvPr>
        </p:nvSpPr>
        <p:spPr>
          <a:xfrm>
            <a:off x="4320000" y="1972474"/>
            <a:ext cx="4026900" cy="14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only works for the last coordinate.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-3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÷ 2 is not -5. 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 ÷ 2 is not -2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0" name="Google Shape;900;p74"/>
          <p:cNvSpPr txBox="1"/>
          <p:nvPr>
            <p:ph idx="1" type="body"/>
          </p:nvPr>
        </p:nvSpPr>
        <p:spPr>
          <a:xfrm>
            <a:off x="4320000" y="3780000"/>
            <a:ext cx="4026900" cy="103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 + 2 does not equal -2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-3 + 2 does not equal -5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+ 2 does not equal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324000" y="759300"/>
            <a:ext cx="84960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set of coordinates, fill in the gaps to describe the relationship in words and using algebra:</a:t>
            </a:r>
            <a:endParaRPr sz="1800"/>
          </a:p>
        </p:txBody>
      </p:sp>
      <p:sp>
        <p:nvSpPr>
          <p:cNvPr id="906" name="Google Shape;906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907" name="Google Shape;907;p75"/>
          <p:cNvSpPr txBox="1"/>
          <p:nvPr>
            <p:ph idx="1" type="body"/>
          </p:nvPr>
        </p:nvSpPr>
        <p:spPr>
          <a:xfrm>
            <a:off x="324000" y="1458825"/>
            <a:ext cx="8496000" cy="36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(0,1)   (2,3)  (9,10)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equal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</a:t>
            </a:r>
            <a:r>
              <a:rPr lang="en-GB" sz="1800" u="sng"/>
              <a:t>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(2,6)</a:t>
            </a:r>
            <a:r>
              <a:rPr lang="en-GB" sz="1800"/>
              <a:t>   </a:t>
            </a:r>
            <a:r>
              <a:rPr lang="en-GB" sz="1800"/>
              <a:t>(-4,0)</a:t>
            </a:r>
            <a:r>
              <a:rPr lang="en-GB" sz="1800"/>
              <a:t>   (4,8)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equal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 plus 4.</a:t>
            </a:r>
            <a:r>
              <a:rPr lang="en-GB" sz="1800" u="sng"/>
              <a:t>          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(10,5)   (4,-1)  (0,-5)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equal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</a:t>
            </a:r>
            <a:r>
              <a:rPr lang="en-GB" sz="1800" u="sng"/>
              <a:t>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800" u="sng"/>
              <a:t>          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(-7,-2)   (-3,2)  (2.2,7.2)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1800" u="sng"/>
              <a:t>                                                          </a:t>
            </a:r>
            <a:r>
              <a:rPr lang="en-GB" sz="1800"/>
              <a:t> </a:t>
            </a:r>
            <a:r>
              <a:rPr lang="en-GB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08" name="Google Shape;908;p75"/>
          <p:cNvSpPr/>
          <p:nvPr/>
        </p:nvSpPr>
        <p:spPr>
          <a:xfrm>
            <a:off x="6386900" y="159482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x+1&quot;&gt;&lt;mi&gt;y&lt;/mi&gt;&lt;mo&gt;=&lt;/mo&gt;&lt;mi&gt;x&lt;/mi&gt;&lt;mo&gt;+&lt;/mo&gt;&lt;mn&gt;1&lt;/mn&gt;&lt;/math&gt;" id="909" name="Google Shape;909;p75" title="y equals x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1504" y="1693337"/>
            <a:ext cx="1321200" cy="32591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5"/>
          <p:cNvSpPr/>
          <p:nvPr/>
        </p:nvSpPr>
        <p:spPr>
          <a:xfrm>
            <a:off x="6380474" y="244187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11" name="Google Shape;911;p75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4517" y="2623755"/>
            <a:ext cx="1548000" cy="239571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5"/>
          <p:cNvSpPr/>
          <p:nvPr/>
        </p:nvSpPr>
        <p:spPr>
          <a:xfrm>
            <a:off x="6387450" y="335362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13" name="Google Shape;913;p75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501" y="3535500"/>
            <a:ext cx="1548000" cy="239571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5"/>
          <p:cNvSpPr/>
          <p:nvPr/>
        </p:nvSpPr>
        <p:spPr>
          <a:xfrm>
            <a:off x="6387450" y="426802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15" name="Google Shape;915;p75" title="y equals over horizontal ba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501" y="4449900"/>
            <a:ext cx="1548000" cy="23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6"/>
          <p:cNvSpPr/>
          <p:nvPr/>
        </p:nvSpPr>
        <p:spPr>
          <a:xfrm>
            <a:off x="6386900" y="159482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6"/>
          <p:cNvSpPr/>
          <p:nvPr/>
        </p:nvSpPr>
        <p:spPr>
          <a:xfrm>
            <a:off x="6380474" y="244187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6"/>
          <p:cNvSpPr/>
          <p:nvPr/>
        </p:nvSpPr>
        <p:spPr>
          <a:xfrm>
            <a:off x="6387450" y="335362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6387450" y="4268025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6"/>
          <p:cNvSpPr txBox="1"/>
          <p:nvPr>
            <p:ph idx="1" type="body"/>
          </p:nvPr>
        </p:nvSpPr>
        <p:spPr>
          <a:xfrm>
            <a:off x="324000" y="759300"/>
            <a:ext cx="84960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set of coordinates, fill in the gaps to describe the relationship in words and using algebra:</a:t>
            </a:r>
            <a:endParaRPr sz="1800"/>
          </a:p>
        </p:txBody>
      </p:sp>
      <p:sp>
        <p:nvSpPr>
          <p:cNvPr id="925" name="Google Shape;92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926" name="Google Shape;926;p76"/>
          <p:cNvSpPr txBox="1"/>
          <p:nvPr>
            <p:ph idx="1" type="body"/>
          </p:nvPr>
        </p:nvSpPr>
        <p:spPr>
          <a:xfrm>
            <a:off x="324000" y="1467600"/>
            <a:ext cx="8496000" cy="33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(2,4)   (3,6)  (8,16)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1800" u="sng"/>
              <a:t>                                     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(2,20)   (-4,-40)  (3,30)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1800" u="sng"/>
              <a:t>                                                      </a:t>
            </a:r>
            <a:r>
              <a:rPr lang="en-GB" sz="1800" u="sng">
                <a:solidFill>
                  <a:schemeClr val="lt1"/>
                </a:solidFill>
              </a:rPr>
              <a:t>. </a:t>
            </a:r>
            <a:r>
              <a:rPr lang="en-GB" sz="1800" u="sng"/>
              <a:t> </a:t>
            </a:r>
            <a:r>
              <a:rPr lang="en-GB" sz="1800" u="sng"/>
              <a:t>                                                   </a:t>
            </a:r>
            <a:r>
              <a:rPr lang="en-GB" sz="1800" u="sng"/>
              <a:t>          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(0,0)   (1,5)   (-1,-5)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1800" u="sng"/>
              <a:t>                                     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r>
              <a:rPr lang="en-GB" sz="1800" u="sng"/>
              <a:t>          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(10,1)   (6,0.6)   (30,3)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1800" u="sng"/>
              <a:t>                                                     </a:t>
            </a:r>
            <a:r>
              <a:rPr lang="en-GB" sz="1800"/>
              <a:t> </a:t>
            </a:r>
            <a:r>
              <a:rPr lang="en-GB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27" name="Google Shape;927;p76" title="y equals over horizontal ba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725" y="2674122"/>
            <a:ext cx="1548000" cy="23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28" name="Google Shape;928;p76" title="y equals over horizontal ba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708" y="3544275"/>
            <a:ext cx="1548000" cy="23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29" name="Google Shape;929;p76" title="y equals over horizontal ba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9708" y="4458675"/>
            <a:ext cx="1548000" cy="23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underline{\ \ \ \ \ \ \ \ \ \ }&quot;&gt;&lt;mi&gt;y&lt;/mi&gt;&lt;mo&gt;=&lt;/mo&gt;&lt;munder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o accent=&quot;true&quot;&gt;―&lt;/mo&gt;&lt;/munder&gt;&lt;/math&gt;" id="930" name="Google Shape;930;p76" title="y equals over horizontal ba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608" y="1797506"/>
            <a:ext cx="1548000" cy="23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 txBox="1"/>
          <p:nvPr>
            <p:ph idx="1" type="body"/>
          </p:nvPr>
        </p:nvSpPr>
        <p:spPr>
          <a:xfrm>
            <a:off x="324000" y="687262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set of coordinates, fill in the gaps to describe the relationship in words and using algebra:</a:t>
            </a:r>
            <a:endParaRPr sz="1800"/>
          </a:p>
        </p:txBody>
      </p:sp>
      <p:sp>
        <p:nvSpPr>
          <p:cNvPr id="936" name="Google Shape;936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324000" y="1340112"/>
            <a:ext cx="8496000" cy="3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(0,1)   (2,3)  (9,10)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equal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plus 1.</a:t>
            </a:r>
            <a:endParaRPr sz="20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(2,6)   (-4,0)   (4,8)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equal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 plus 4.</a:t>
            </a:r>
            <a:r>
              <a:rPr lang="en-GB" sz="1800" u="sng"/>
              <a:t>          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(10,5)   (4,-1)  (0,-5)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equal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minus 5.</a:t>
            </a:r>
            <a:r>
              <a:rPr lang="en-GB" sz="2000" u="sng"/>
              <a:t> </a:t>
            </a:r>
            <a:r>
              <a:rPr lang="en-GB" sz="1800" u="sng"/>
              <a:t>         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(-7,-2)   (-3,2)  (2.2,7.2)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equal to</a:t>
            </a:r>
            <a:r>
              <a:rPr lang="en-GB" sz="18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plus 5.</a:t>
            </a:r>
            <a:r>
              <a:rPr lang="en-GB" sz="1800">
                <a:solidFill>
                  <a:srgbClr val="FAEAF6"/>
                </a:solidFill>
              </a:rPr>
              <a:t>.</a:t>
            </a:r>
            <a:endParaRPr sz="1800">
              <a:solidFill>
                <a:srgbClr val="FAEAF6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y=x+1&quot;&gt;&lt;mi&gt;y&lt;/mi&gt;&lt;mo&gt;=&lt;/mo&gt;&lt;mi&gt;x&lt;/mi&gt;&lt;mo&gt;+&lt;/mo&gt;&lt;mn&gt;1&lt;/mn&gt;&lt;/math&gt;" id="938" name="Google Shape;938;p77" title="y equals x pl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09" y="1630075"/>
            <a:ext cx="1321200" cy="325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4&quot;&gt;&lt;mi&gt;y&lt;/mi&gt;&lt;mo&gt;=&lt;/mo&gt;&lt;mi&gt;x&lt;/mi&gt;&lt;mo&gt;+&lt;/mo&gt;&lt;mn&gt;4&lt;/mn&gt;&lt;/math&gt;" id="939" name="Google Shape;939;p77" title="y equals x pl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516" y="2507562"/>
            <a:ext cx="1447200" cy="33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5&quot;&gt;&lt;mi&gt;y&lt;/mi&gt;&lt;mo&gt;=&lt;/mo&gt;&lt;mi&gt;x&lt;/mi&gt;&lt;mo&gt;−&lt;/mo&gt;&lt;mn&gt;5&lt;/mn&gt;&lt;/math&gt;" id="940" name="Google Shape;940;p77" title="y equals x min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6794" y="3375612"/>
            <a:ext cx="1472400" cy="340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5&quot;&gt;&lt;mi&gt;y&lt;/mi&gt;&lt;mo&gt;=&lt;/mo&gt;&lt;mi&gt;x&lt;/mi&gt;&lt;mo&gt;+&lt;/mo&gt;&lt;mn&gt;5&lt;/mn&gt;&lt;/math&gt;" id="941" name="Google Shape;941;p77" title="y equals x plu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8446" y="4295000"/>
            <a:ext cx="1479600" cy="347934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7"/>
          <p:cNvSpPr/>
          <p:nvPr/>
        </p:nvSpPr>
        <p:spPr>
          <a:xfrm>
            <a:off x="6386900" y="1526348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7"/>
          <p:cNvSpPr/>
          <p:nvPr/>
        </p:nvSpPr>
        <p:spPr>
          <a:xfrm>
            <a:off x="6380474" y="2373398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7"/>
          <p:cNvSpPr/>
          <p:nvPr/>
        </p:nvSpPr>
        <p:spPr>
          <a:xfrm>
            <a:off x="6387450" y="3285148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7"/>
          <p:cNvSpPr/>
          <p:nvPr/>
        </p:nvSpPr>
        <p:spPr>
          <a:xfrm>
            <a:off x="6387450" y="4199548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8"/>
          <p:cNvSpPr/>
          <p:nvPr/>
        </p:nvSpPr>
        <p:spPr>
          <a:xfrm>
            <a:off x="6386900" y="1610271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8"/>
          <p:cNvSpPr/>
          <p:nvPr/>
        </p:nvSpPr>
        <p:spPr>
          <a:xfrm>
            <a:off x="6380474" y="2457321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8"/>
          <p:cNvSpPr/>
          <p:nvPr/>
        </p:nvSpPr>
        <p:spPr>
          <a:xfrm>
            <a:off x="6387450" y="3369071"/>
            <a:ext cx="2115300" cy="53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8"/>
          <p:cNvSpPr txBox="1"/>
          <p:nvPr>
            <p:ph idx="1" type="body"/>
          </p:nvPr>
        </p:nvSpPr>
        <p:spPr>
          <a:xfrm>
            <a:off x="324000" y="666469"/>
            <a:ext cx="8496000" cy="5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set of coordinates, fill in the gaps to describe the relationship in words and using algebra:</a:t>
            </a:r>
            <a:endParaRPr sz="1800"/>
          </a:p>
        </p:txBody>
      </p:sp>
      <p:sp>
        <p:nvSpPr>
          <p:cNvPr id="954" name="Google Shape;95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955" name="Google Shape;955;p78"/>
          <p:cNvSpPr txBox="1"/>
          <p:nvPr>
            <p:ph idx="1" type="body"/>
          </p:nvPr>
        </p:nvSpPr>
        <p:spPr>
          <a:xfrm>
            <a:off x="324000" y="1391400"/>
            <a:ext cx="8496000" cy="3429000"/>
          </a:xfrm>
          <a:prstGeom prst="rect">
            <a:avLst/>
          </a:prstGeom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(2,4)   (3,6)  (8,16)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double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coordinate.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(2,20)   (-4,-40)  (3,30)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ten times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coordinate.</a:t>
            </a:r>
            <a:r>
              <a:rPr lang="en-GB" sz="2000" u="sng">
                <a:solidFill>
                  <a:schemeClr val="lt1"/>
                </a:solidFill>
              </a:rPr>
              <a:t> </a:t>
            </a:r>
            <a:r>
              <a:rPr lang="en-GB" sz="1800" u="sng"/>
              <a:t>                                                              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(0,0)   (1,5)   (-1,-5)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multiplied by 5.</a:t>
            </a:r>
            <a:r>
              <a:rPr lang="en-GB" sz="2000">
                <a:solidFill>
                  <a:srgbClr val="F3EEFB"/>
                </a:solidFill>
              </a:rPr>
              <a:t>.</a:t>
            </a:r>
            <a:r>
              <a:rPr lang="en-GB" sz="1800" u="sng"/>
              <a:t>     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lt2"/>
                </a:solidFill>
              </a:rPr>
              <a:t>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956" name="Google Shape;956;p78" title="y equals 2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3913" y="1711212"/>
            <a:ext cx="1116435" cy="3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10x&quot;&gt;&lt;mi&gt;y&lt;/mi&gt;&lt;mo&gt;=&lt;/mo&gt;&lt;mn&gt;10&lt;/mn&gt;&lt;mi&gt;x&lt;/mi&gt;&lt;/math&gt;" id="957" name="Google Shape;957;p78" title="y equals 10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347" y="2569147"/>
            <a:ext cx="1327076" cy="3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5x&quot;&gt;&lt;mi&gt;y&lt;/mi&gt;&lt;mo&gt;=&lt;/mo&gt;&lt;mn&gt;5&lt;/mn&gt;&lt;mi&gt;x&lt;/mi&gt;&lt;/math&gt;" id="958" name="Google Shape;958;p78" title="y equals 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0400" y="3449875"/>
            <a:ext cx="1060132" cy="358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9"/>
          <p:cNvSpPr/>
          <p:nvPr/>
        </p:nvSpPr>
        <p:spPr>
          <a:xfrm>
            <a:off x="4990025" y="2495550"/>
            <a:ext cx="2301300" cy="101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9"/>
          <p:cNvSpPr txBox="1"/>
          <p:nvPr>
            <p:ph idx="1" type="body"/>
          </p:nvPr>
        </p:nvSpPr>
        <p:spPr>
          <a:xfrm>
            <a:off x="324000" y="666469"/>
            <a:ext cx="8496000" cy="5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set of coordinates, fill in the gaps to describe the relationship in words and using algebra:</a:t>
            </a:r>
            <a:endParaRPr sz="1800"/>
          </a:p>
        </p:txBody>
      </p:sp>
      <p:sp>
        <p:nvSpPr>
          <p:cNvPr id="965" name="Google Shape;965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966" name="Google Shape;966;p79"/>
          <p:cNvSpPr txBox="1"/>
          <p:nvPr>
            <p:ph idx="1" type="body"/>
          </p:nvPr>
        </p:nvSpPr>
        <p:spPr>
          <a:xfrm>
            <a:off x="324000" y="1543250"/>
            <a:ext cx="8496000" cy="1384800"/>
          </a:xfrm>
          <a:prstGeom prst="rect">
            <a:avLst/>
          </a:prstGeom>
          <a:ln cap="flat" cmpd="sng" w="9525">
            <a:solidFill>
              <a:srgbClr val="F3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8"/>
            </a:pPr>
            <a:r>
              <a:rPr lang="en-GB" sz="1800"/>
              <a:t>(10,1)   (6,0.6)   (30,3)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 is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divided by 10.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967" name="Google Shape;967;p79"/>
          <p:cNvSpPr/>
          <p:nvPr/>
        </p:nvSpPr>
        <p:spPr>
          <a:xfrm>
            <a:off x="960000" y="2504750"/>
            <a:ext cx="2301300" cy="101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10}x&quot;&gt;&lt;mi&gt;y&lt;/mi&gt;&lt;mo&gt;=&lt;/mo&gt;&lt;mfrac&gt;&lt;mn&gt;1&lt;/mn&gt;&lt;mn&gt;10&lt;/mn&gt;&lt;/mfrac&gt;&lt;mi&gt;x&lt;/mi&gt;&lt;/math&gt;" id="968" name="Google Shape;968;p79" title="y equals one ten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399" y="2633875"/>
            <a:ext cx="1274825" cy="73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x}{10}&quot;&gt;&lt;mi&gt;y&lt;/mi&gt;&lt;mo&gt;=&lt;/mo&gt;&lt;mfrac&gt;&lt;mi&gt;x&lt;/mi&gt;&lt;mn&gt;10&lt;/mn&gt;&lt;/mfrac&gt;&lt;/math&gt;" id="969" name="Google Shape;969;p79" title="y equals x ove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7741" y="2685830"/>
            <a:ext cx="1038507" cy="649724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9"/>
          <p:cNvSpPr txBox="1"/>
          <p:nvPr>
            <p:ph idx="1" type="body"/>
          </p:nvPr>
        </p:nvSpPr>
        <p:spPr>
          <a:xfrm>
            <a:off x="4046550" y="2928050"/>
            <a:ext cx="3528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</a:t>
            </a:r>
            <a:r>
              <a:rPr lang="en-GB"/>
              <a:t>r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976" name="Google Shape;976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977" name="Google Shape;977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978" name="Google Shape;978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pic>
        <p:nvPicPr>
          <p:cNvPr id="979" name="Google Shape;97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64" y="276620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985" name="Google Shape;985;p81"/>
          <p:cNvSpPr txBox="1"/>
          <p:nvPr>
            <p:ph idx="1" type="body"/>
          </p:nvPr>
        </p:nvSpPr>
        <p:spPr>
          <a:xfrm>
            <a:off x="324000" y="709609"/>
            <a:ext cx="82377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wants to write a coordinate where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value is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value multiplied by 5.   </a:t>
            </a:r>
            <a:endParaRPr/>
          </a:p>
        </p:txBody>
      </p:sp>
      <p:sp>
        <p:nvSpPr>
          <p:cNvPr id="986" name="Google Shape;986;p81"/>
          <p:cNvSpPr txBox="1"/>
          <p:nvPr>
            <p:ph idx="1" type="body"/>
          </p:nvPr>
        </p:nvSpPr>
        <p:spPr>
          <a:xfrm>
            <a:off x="3522000" y="2297977"/>
            <a:ext cx="28281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4000"/>
              <a:t>(</a:t>
            </a:r>
            <a:r>
              <a:rPr lang="en-GB" sz="4000" u="sng"/>
              <a:t>       </a:t>
            </a:r>
            <a:r>
              <a:rPr lang="en-GB" sz="4000"/>
              <a:t>,</a:t>
            </a:r>
            <a:r>
              <a:rPr lang="en-GB" sz="4000" u="sng"/>
              <a:t>       </a:t>
            </a:r>
            <a:r>
              <a:rPr lang="en-GB" sz="4000"/>
              <a:t>)</a:t>
            </a:r>
            <a:endParaRPr sz="4000"/>
          </a:p>
        </p:txBody>
      </p:sp>
      <p:pic>
        <p:nvPicPr>
          <p:cNvPr id="987" name="Google Shape;987;p8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833200" y="1744102"/>
            <a:ext cx="1744700" cy="632549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81"/>
          <p:cNvSpPr txBox="1"/>
          <p:nvPr>
            <p:ph idx="1" type="body"/>
          </p:nvPr>
        </p:nvSpPr>
        <p:spPr>
          <a:xfrm>
            <a:off x="4467956" y="1271990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900">
                <a:solidFill>
                  <a:srgbClr val="222222"/>
                </a:solidFill>
              </a:rPr>
              <a:t>×</a:t>
            </a:r>
            <a:r>
              <a:rPr lang="en-GB" sz="2900"/>
              <a:t>5 </a:t>
            </a:r>
            <a:endParaRPr sz="2900"/>
          </a:p>
        </p:txBody>
      </p:sp>
      <p:sp>
        <p:nvSpPr>
          <p:cNvPr id="989" name="Google Shape;989;p81"/>
          <p:cNvSpPr txBox="1"/>
          <p:nvPr>
            <p:ph idx="1" type="body"/>
          </p:nvPr>
        </p:nvSpPr>
        <p:spPr>
          <a:xfrm>
            <a:off x="923400" y="3166627"/>
            <a:ext cx="19638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(0,0)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(1,5)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(2,10)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(10,50)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81"/>
          <p:cNvSpPr txBox="1"/>
          <p:nvPr>
            <p:ph idx="1" type="body"/>
          </p:nvPr>
        </p:nvSpPr>
        <p:spPr>
          <a:xfrm>
            <a:off x="3460950" y="3293127"/>
            <a:ext cx="1963800" cy="16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(-1,-5)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(100,500)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(-3,-15)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(-20,-100)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81"/>
          <p:cNvSpPr txBox="1"/>
          <p:nvPr>
            <p:ph idx="1" type="body"/>
          </p:nvPr>
        </p:nvSpPr>
        <p:spPr>
          <a:xfrm>
            <a:off x="5998500" y="3100777"/>
            <a:ext cx="1963800" cy="16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(0.5,2.5)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    ,    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(-0.1,-0.5)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(0.6,3)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}{9}\\&amp;#13;&amp;#10;\end{array}&quot;&gt;&lt;mtable columnalign=&quot;left&quot; columnspacing=&quot;1em&quot; rowspacing=&quot;4pt&quot;&gt;&lt;mtr&gt;&lt;mtd&gt;&lt;mfrac&gt;&lt;mn&gt;5&lt;/mn&gt;&lt;mn&gt;9&lt;/mn&gt;&lt;/mfrac&gt;&lt;/mtd&gt;&lt;/mtr&gt;&lt;/mtable&gt;&lt;/math&gt;" id="992" name="Google Shape;992;p81" title="1 lines Line 1: fiv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3350" y="3504127"/>
            <a:ext cx="169200" cy="4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3900" y="3478433"/>
            <a:ext cx="169200" cy="4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1"/>
          <p:cNvSpPr txBox="1"/>
          <p:nvPr/>
        </p:nvSpPr>
        <p:spPr>
          <a:xfrm>
            <a:off x="229500" y="1725900"/>
            <a:ext cx="32316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coordinates can he write? How many can you think of?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000" name="Google Shape;1000;p82"/>
          <p:cNvSpPr txBox="1"/>
          <p:nvPr>
            <p:ph idx="1" type="body"/>
          </p:nvPr>
        </p:nvSpPr>
        <p:spPr>
          <a:xfrm>
            <a:off x="324000" y="716813"/>
            <a:ext cx="82377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wants to write a new coordinate where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value is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value plus 30.   </a:t>
            </a:r>
            <a:endParaRPr/>
          </a:p>
        </p:txBody>
      </p:sp>
      <p:sp>
        <p:nvSpPr>
          <p:cNvPr id="1001" name="Google Shape;1001;p82"/>
          <p:cNvSpPr txBox="1"/>
          <p:nvPr>
            <p:ph idx="1" type="body"/>
          </p:nvPr>
        </p:nvSpPr>
        <p:spPr>
          <a:xfrm>
            <a:off x="324000" y="1694643"/>
            <a:ext cx="82377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coordinates could he have?</a:t>
            </a:r>
            <a:r>
              <a:rPr lang="en-GB"/>
              <a:t>  </a:t>
            </a:r>
            <a:endParaRPr/>
          </a:p>
        </p:txBody>
      </p:sp>
      <p:sp>
        <p:nvSpPr>
          <p:cNvPr id="1002" name="Google Shape;1002;p82"/>
          <p:cNvSpPr txBox="1"/>
          <p:nvPr>
            <p:ph idx="1" type="body"/>
          </p:nvPr>
        </p:nvSpPr>
        <p:spPr>
          <a:xfrm>
            <a:off x="324000" y="2876539"/>
            <a:ext cx="8237700" cy="10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 also wants his coordinate to follow the rule. ‘The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value is double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value. Is there a coordinate that will fit both rules?  </a:t>
            </a:r>
            <a:endParaRPr/>
          </a:p>
        </p:txBody>
      </p:sp>
      <p:sp>
        <p:nvSpPr>
          <p:cNvPr id="1003" name="Google Shape;1003;p82"/>
          <p:cNvSpPr txBox="1"/>
          <p:nvPr>
            <p:ph idx="1" type="body"/>
          </p:nvPr>
        </p:nvSpPr>
        <p:spPr>
          <a:xfrm>
            <a:off x="3920400" y="4305950"/>
            <a:ext cx="1303200" cy="43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latin typeface="Kalam"/>
                <a:ea typeface="Kalam"/>
                <a:cs typeface="Kalam"/>
                <a:sym typeface="Kalam"/>
              </a:rPr>
              <a:t>(30, 60)</a:t>
            </a:r>
            <a:endParaRPr sz="2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2"/>
          <p:cNvSpPr txBox="1"/>
          <p:nvPr>
            <p:ph idx="1" type="body"/>
          </p:nvPr>
        </p:nvSpPr>
        <p:spPr>
          <a:xfrm>
            <a:off x="333175" y="2214675"/>
            <a:ext cx="8486700" cy="4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 (0,30)   (10,40)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(100,130)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(-50,-20)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010" name="Google Shape;1010;p83"/>
          <p:cNvSpPr txBox="1"/>
          <p:nvPr>
            <p:ph idx="1" type="body"/>
          </p:nvPr>
        </p:nvSpPr>
        <p:spPr>
          <a:xfrm>
            <a:off x="324000" y="663781"/>
            <a:ext cx="82377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Sam</a:t>
            </a:r>
            <a:r>
              <a:rPr lang="en-GB" sz="1800"/>
              <a:t> wants to write some coordinates where: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‘the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value is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 minus 7’   </a:t>
            </a:r>
            <a:endParaRPr sz="1800"/>
          </a:p>
        </p:txBody>
      </p:sp>
      <p:sp>
        <p:nvSpPr>
          <p:cNvPr id="1011" name="Google Shape;1011;p83"/>
          <p:cNvSpPr txBox="1"/>
          <p:nvPr>
            <p:ph idx="1" type="body"/>
          </p:nvPr>
        </p:nvSpPr>
        <p:spPr>
          <a:xfrm>
            <a:off x="411575" y="2592875"/>
            <a:ext cx="13065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(10,</a:t>
            </a:r>
            <a:r>
              <a:rPr lang="en-GB" sz="2600" u="sng"/>
              <a:t>     </a:t>
            </a:r>
            <a:r>
              <a:rPr lang="en-GB" sz="2600"/>
              <a:t>)</a:t>
            </a:r>
            <a:endParaRPr sz="2600"/>
          </a:p>
        </p:txBody>
      </p:sp>
      <p:sp>
        <p:nvSpPr>
          <p:cNvPr id="1012" name="Google Shape;1012;p83"/>
          <p:cNvSpPr txBox="1"/>
          <p:nvPr>
            <p:ph idx="1" type="body"/>
          </p:nvPr>
        </p:nvSpPr>
        <p:spPr>
          <a:xfrm>
            <a:off x="324000" y="1273747"/>
            <a:ext cx="82377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have chosen some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coordinates to use, how could they work out the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coordinates?  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013" name="Google Shape;1013;p83"/>
          <p:cNvSpPr txBox="1"/>
          <p:nvPr>
            <p:ph idx="1" type="body"/>
          </p:nvPr>
        </p:nvSpPr>
        <p:spPr>
          <a:xfrm>
            <a:off x="2772096" y="2591100"/>
            <a:ext cx="6669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(7.5,</a:t>
            </a:r>
            <a:endParaRPr sz="2600"/>
          </a:p>
        </p:txBody>
      </p:sp>
      <p:sp>
        <p:nvSpPr>
          <p:cNvPr id="1014" name="Google Shape;1014;p83"/>
          <p:cNvSpPr txBox="1"/>
          <p:nvPr>
            <p:ph idx="1" type="body"/>
          </p:nvPr>
        </p:nvSpPr>
        <p:spPr>
          <a:xfrm>
            <a:off x="5132605" y="2592875"/>
            <a:ext cx="4752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(3,</a:t>
            </a:r>
            <a:endParaRPr sz="2600"/>
          </a:p>
        </p:txBody>
      </p:sp>
      <p:sp>
        <p:nvSpPr>
          <p:cNvPr id="1015" name="Google Shape;1015;p83"/>
          <p:cNvSpPr txBox="1"/>
          <p:nvPr>
            <p:ph idx="1" type="body"/>
          </p:nvPr>
        </p:nvSpPr>
        <p:spPr>
          <a:xfrm>
            <a:off x="7301424" y="2592875"/>
            <a:ext cx="11148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(0,</a:t>
            </a:r>
            <a:endParaRPr sz="2600"/>
          </a:p>
        </p:txBody>
      </p:sp>
      <p:pic>
        <p:nvPicPr>
          <p:cNvPr id="1016" name="Google Shape;1016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22486" y="2273022"/>
            <a:ext cx="972000" cy="437673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3"/>
          <p:cNvSpPr txBox="1"/>
          <p:nvPr>
            <p:ph idx="1" type="body"/>
          </p:nvPr>
        </p:nvSpPr>
        <p:spPr>
          <a:xfrm>
            <a:off x="952005" y="1973343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-7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18" name="Google Shape;1018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2808486" y="2273022"/>
            <a:ext cx="1114800" cy="437673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3"/>
          <p:cNvSpPr txBox="1"/>
          <p:nvPr>
            <p:ph idx="1" type="body"/>
          </p:nvPr>
        </p:nvSpPr>
        <p:spPr>
          <a:xfrm>
            <a:off x="3238005" y="1973343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-7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20" name="Google Shape;1020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189262" y="2314625"/>
            <a:ext cx="912388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83"/>
          <p:cNvSpPr txBox="1"/>
          <p:nvPr>
            <p:ph idx="1" type="body"/>
          </p:nvPr>
        </p:nvSpPr>
        <p:spPr>
          <a:xfrm>
            <a:off x="5510142" y="1973343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-7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22" name="Google Shape;1022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7383139" y="2273033"/>
            <a:ext cx="912400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3"/>
          <p:cNvSpPr txBox="1"/>
          <p:nvPr>
            <p:ph idx="1" type="body"/>
          </p:nvPr>
        </p:nvSpPr>
        <p:spPr>
          <a:xfrm>
            <a:off x="7747669" y="1973343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-7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24" name="Google Shape;1024;p83"/>
          <p:cNvSpPr txBox="1"/>
          <p:nvPr>
            <p:ph idx="1" type="body"/>
          </p:nvPr>
        </p:nvSpPr>
        <p:spPr>
          <a:xfrm>
            <a:off x="324000" y="3056822"/>
            <a:ext cx="8237700" cy="8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have chosen some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800"/>
              <a:t>coordinates to use, how could they work out the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coordinates?    </a:t>
            </a:r>
            <a:endParaRPr sz="1800"/>
          </a:p>
        </p:txBody>
      </p:sp>
      <p:sp>
        <p:nvSpPr>
          <p:cNvPr id="1025" name="Google Shape;1025;p83"/>
          <p:cNvSpPr txBox="1"/>
          <p:nvPr>
            <p:ph idx="1" type="body"/>
          </p:nvPr>
        </p:nvSpPr>
        <p:spPr>
          <a:xfrm>
            <a:off x="335375" y="4400931"/>
            <a:ext cx="13065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</a:t>
            </a:r>
            <a:r>
              <a:rPr lang="en-GB" sz="2600" u="sng"/>
              <a:t>     </a:t>
            </a:r>
            <a:r>
              <a:rPr lang="en-GB" sz="2600"/>
              <a:t>,3</a:t>
            </a:r>
            <a:r>
              <a:rPr lang="en-GB" sz="2600"/>
              <a:t>)</a:t>
            </a:r>
            <a:endParaRPr sz="2600"/>
          </a:p>
        </p:txBody>
      </p:sp>
      <p:sp>
        <p:nvSpPr>
          <p:cNvPr id="1026" name="Google Shape;1026;p83"/>
          <p:cNvSpPr txBox="1"/>
          <p:nvPr>
            <p:ph idx="1" type="body"/>
          </p:nvPr>
        </p:nvSpPr>
        <p:spPr>
          <a:xfrm>
            <a:off x="2689341" y="4399156"/>
            <a:ext cx="13065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</a:t>
            </a:r>
            <a:r>
              <a:rPr lang="en-GB" sz="2600" u="sng"/>
              <a:t>     </a:t>
            </a:r>
            <a:r>
              <a:rPr lang="en-GB" sz="2600"/>
              <a:t>,0</a:t>
            </a:r>
            <a:r>
              <a:rPr lang="en-GB" sz="2600"/>
              <a:t> )</a:t>
            </a:r>
            <a:endParaRPr sz="2600"/>
          </a:p>
        </p:txBody>
      </p:sp>
      <p:sp>
        <p:nvSpPr>
          <p:cNvPr id="1027" name="Google Shape;1027;p83"/>
          <p:cNvSpPr txBox="1"/>
          <p:nvPr>
            <p:ph idx="1" type="body"/>
          </p:nvPr>
        </p:nvSpPr>
        <p:spPr>
          <a:xfrm>
            <a:off x="5043308" y="4400931"/>
            <a:ext cx="11148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</a:t>
            </a:r>
            <a:r>
              <a:rPr lang="en-GB" sz="2600" u="sng"/>
              <a:t>     </a:t>
            </a:r>
            <a:r>
              <a:rPr lang="en-GB" sz="2600"/>
              <a:t>,-2</a:t>
            </a:r>
            <a:r>
              <a:rPr lang="en-GB" sz="2600"/>
              <a:t>)</a:t>
            </a:r>
            <a:endParaRPr sz="2600"/>
          </a:p>
        </p:txBody>
      </p:sp>
      <p:sp>
        <p:nvSpPr>
          <p:cNvPr id="1028" name="Google Shape;1028;p83"/>
          <p:cNvSpPr txBox="1"/>
          <p:nvPr>
            <p:ph idx="1" type="body"/>
          </p:nvPr>
        </p:nvSpPr>
        <p:spPr>
          <a:xfrm>
            <a:off x="7205574" y="4400931"/>
            <a:ext cx="13065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/>
              <a:t>(</a:t>
            </a:r>
            <a:r>
              <a:rPr lang="en-GB" sz="2600" u="sng"/>
              <a:t>     </a:t>
            </a:r>
            <a:r>
              <a:rPr lang="en-GB" sz="2600"/>
              <a:t>,2.1</a:t>
            </a:r>
            <a:r>
              <a:rPr lang="en-GB" sz="2600"/>
              <a:t>)</a:t>
            </a:r>
            <a:endParaRPr sz="2600"/>
          </a:p>
        </p:txBody>
      </p:sp>
      <p:pic>
        <p:nvPicPr>
          <p:cNvPr id="1029" name="Google Shape;1029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97724" y="4031228"/>
            <a:ext cx="912388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83"/>
          <p:cNvSpPr txBox="1"/>
          <p:nvPr>
            <p:ph idx="1" type="body"/>
          </p:nvPr>
        </p:nvSpPr>
        <p:spPr>
          <a:xfrm>
            <a:off x="711557" y="3731537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-7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31" name="Google Shape;1031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>
            <a:off x="321524" y="4031228"/>
            <a:ext cx="912388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3"/>
          <p:cNvSpPr txBox="1"/>
          <p:nvPr>
            <p:ph idx="1" type="body"/>
          </p:nvPr>
        </p:nvSpPr>
        <p:spPr>
          <a:xfrm>
            <a:off x="657907" y="3731537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+</a:t>
            </a:r>
            <a:r>
              <a:rPr lang="en-GB" sz="2000">
                <a:solidFill>
                  <a:srgbClr val="222222"/>
                </a:solidFill>
              </a:rPr>
              <a:t>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33" name="Google Shape;1033;p83"/>
          <p:cNvSpPr txBox="1"/>
          <p:nvPr>
            <p:ph idx="1" type="body"/>
          </p:nvPr>
        </p:nvSpPr>
        <p:spPr>
          <a:xfrm>
            <a:off x="1132133" y="257171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3"/>
          <p:cNvSpPr txBox="1"/>
          <p:nvPr>
            <p:ph idx="1" type="body"/>
          </p:nvPr>
        </p:nvSpPr>
        <p:spPr>
          <a:xfrm>
            <a:off x="3356355" y="2570493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3"/>
          <p:cNvSpPr txBox="1"/>
          <p:nvPr>
            <p:ph idx="1" type="body"/>
          </p:nvPr>
        </p:nvSpPr>
        <p:spPr>
          <a:xfrm>
            <a:off x="5516053" y="254276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-4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6" name="Google Shape;1036;p83"/>
          <p:cNvSpPr txBox="1"/>
          <p:nvPr>
            <p:ph idx="1" type="body"/>
          </p:nvPr>
        </p:nvSpPr>
        <p:spPr>
          <a:xfrm>
            <a:off x="7689606" y="2584348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–7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83"/>
          <p:cNvSpPr txBox="1"/>
          <p:nvPr>
            <p:ph idx="1" type="body"/>
          </p:nvPr>
        </p:nvSpPr>
        <p:spPr>
          <a:xfrm>
            <a:off x="487783" y="437841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83"/>
          <p:cNvSpPr txBox="1"/>
          <p:nvPr>
            <p:ph idx="1" type="body"/>
          </p:nvPr>
        </p:nvSpPr>
        <p:spPr>
          <a:xfrm>
            <a:off x="2849983" y="437841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83"/>
          <p:cNvSpPr txBox="1"/>
          <p:nvPr>
            <p:ph idx="1" type="body"/>
          </p:nvPr>
        </p:nvSpPr>
        <p:spPr>
          <a:xfrm>
            <a:off x="5212183" y="437841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83"/>
          <p:cNvSpPr txBox="1"/>
          <p:nvPr>
            <p:ph idx="1" type="body"/>
          </p:nvPr>
        </p:nvSpPr>
        <p:spPr>
          <a:xfrm>
            <a:off x="7304192" y="4378415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8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9.1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 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41" name="Google Shape;1041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>
            <a:off x="2759924" y="4031228"/>
            <a:ext cx="912388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3"/>
          <p:cNvSpPr txBox="1"/>
          <p:nvPr>
            <p:ph idx="1" type="body"/>
          </p:nvPr>
        </p:nvSpPr>
        <p:spPr>
          <a:xfrm>
            <a:off x="3096307" y="3731537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+7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43" name="Google Shape;1043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>
            <a:off x="5122124" y="4107428"/>
            <a:ext cx="912388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3"/>
          <p:cNvSpPr txBox="1"/>
          <p:nvPr>
            <p:ph idx="1" type="body"/>
          </p:nvPr>
        </p:nvSpPr>
        <p:spPr>
          <a:xfrm>
            <a:off x="5458507" y="3807737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+7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045" name="Google Shape;1045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>
            <a:off x="7408124" y="4107428"/>
            <a:ext cx="912388" cy="43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3"/>
          <p:cNvSpPr txBox="1"/>
          <p:nvPr>
            <p:ph idx="1" type="body"/>
          </p:nvPr>
        </p:nvSpPr>
        <p:spPr>
          <a:xfrm>
            <a:off x="7744507" y="3807737"/>
            <a:ext cx="475200" cy="3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+7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47" name="Google Shape;1047;p83"/>
          <p:cNvSpPr txBox="1"/>
          <p:nvPr>
            <p:ph idx="1" type="body"/>
          </p:nvPr>
        </p:nvSpPr>
        <p:spPr>
          <a:xfrm>
            <a:off x="7760900" y="2595288"/>
            <a:ext cx="8790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 u="sng"/>
              <a:t>    </a:t>
            </a:r>
            <a:r>
              <a:rPr lang="en-GB" sz="2600"/>
              <a:t>)</a:t>
            </a:r>
            <a:endParaRPr sz="2600"/>
          </a:p>
        </p:txBody>
      </p:sp>
      <p:sp>
        <p:nvSpPr>
          <p:cNvPr id="1048" name="Google Shape;1048;p83"/>
          <p:cNvSpPr txBox="1"/>
          <p:nvPr>
            <p:ph idx="1" type="body"/>
          </p:nvPr>
        </p:nvSpPr>
        <p:spPr>
          <a:xfrm>
            <a:off x="5510152" y="2592875"/>
            <a:ext cx="8898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 u="sng"/>
              <a:t>     </a:t>
            </a:r>
            <a:r>
              <a:rPr lang="en-GB" sz="2600"/>
              <a:t>)</a:t>
            </a:r>
            <a:endParaRPr sz="2600"/>
          </a:p>
        </p:txBody>
      </p:sp>
      <p:sp>
        <p:nvSpPr>
          <p:cNvPr id="1049" name="Google Shape;1049;p83"/>
          <p:cNvSpPr txBox="1"/>
          <p:nvPr>
            <p:ph idx="1" type="body"/>
          </p:nvPr>
        </p:nvSpPr>
        <p:spPr>
          <a:xfrm>
            <a:off x="3385200" y="2591100"/>
            <a:ext cx="8457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 u="sng"/>
              <a:t>    </a:t>
            </a:r>
            <a:r>
              <a:rPr lang="en-GB" sz="2600"/>
              <a:t>)</a:t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</a:t>
            </a:r>
            <a:r>
              <a:rPr lang="en-GB"/>
              <a:t>generate</a:t>
            </a:r>
            <a:r>
              <a:rPr lang="en-GB"/>
              <a:t> coordinates that </a:t>
            </a:r>
            <a:r>
              <a:rPr lang="en-GB"/>
              <a:t>satisfy</a:t>
            </a:r>
            <a:r>
              <a:rPr lang="en-GB"/>
              <a:t> an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a coordinate that satisfies the equation:</a:t>
            </a:r>
            <a:endParaRPr/>
          </a:p>
        </p:txBody>
      </p:sp>
      <p:sp>
        <p:nvSpPr>
          <p:cNvPr id="1055" name="Google Shape;105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y=x+5\end{array}&quot;&gt;&lt;mtable columnalign=&quot;left&quot; columnspacing=&quot;1em&quot; rowspacing=&quot;4pt&quot;&gt;&lt;mtr&gt;&lt;mtd&gt;&lt;mi&gt;y&lt;/mi&gt;&lt;mo&gt;=&lt;/mo&gt;&lt;mi&gt;x&lt;/mi&gt;&lt;mo&gt;+&lt;/mo&gt;&lt;mn&gt;5&lt;/mn&gt;&lt;/mtd&gt;&lt;/mtr&gt;&lt;/mtable&gt;&lt;/math&gt;" id="1056" name="Google Shape;1056;p84" title="1 lines Line 1: y equals x pl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6150" y="2160000"/>
            <a:ext cx="21717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4"/>
          <p:cNvSpPr txBox="1"/>
          <p:nvPr>
            <p:ph idx="1" type="body"/>
          </p:nvPr>
        </p:nvSpPr>
        <p:spPr>
          <a:xfrm>
            <a:off x="324000" y="3511625"/>
            <a:ext cx="82377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(0,5) (1,6) (5,10) (10,15) (-5,0)...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generate coordinates that </a:t>
            </a:r>
            <a:r>
              <a:rPr lang="en-GB"/>
              <a:t>satisfy</a:t>
            </a:r>
            <a:r>
              <a:rPr lang="en-GB"/>
              <a:t> an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a coordinate that satisfies the equation:</a:t>
            </a:r>
            <a:endParaRPr/>
          </a:p>
        </p:txBody>
      </p:sp>
      <p:sp>
        <p:nvSpPr>
          <p:cNvPr id="1063" name="Google Shape;106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064" name="Google Shape;1064;p85"/>
          <p:cNvSpPr txBox="1"/>
          <p:nvPr>
            <p:ph idx="1" type="body"/>
          </p:nvPr>
        </p:nvSpPr>
        <p:spPr>
          <a:xfrm>
            <a:off x="324000" y="3511625"/>
            <a:ext cx="82377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(0,0) (1,7) (2,14) (100,700) (-5,-35)...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y=7x\end{array}&quot;&gt;&lt;mtable columnalign=&quot;left&quot; columnspacing=&quot;1em&quot; rowspacing=&quot;4pt&quot;&gt;&lt;mtr&gt;&lt;mtd&gt;&lt;mi&gt;y&lt;/mi&gt;&lt;mo&gt;=&lt;/mo&gt;&lt;mn&gt;7&lt;/mn&gt;&lt;mi&gt;x&lt;/mi&gt;&lt;/mtd&gt;&lt;/mtr&gt;&lt;/mtable&gt;&lt;/math&gt;" id="1065" name="Google Shape;1065;p85" title="1 lines Line 1: y equals 7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475" y="2160000"/>
            <a:ext cx="15430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071" name="Google Shape;1071;p86"/>
          <p:cNvSpPr txBox="1"/>
          <p:nvPr>
            <p:ph idx="1" type="body"/>
          </p:nvPr>
        </p:nvSpPr>
        <p:spPr>
          <a:xfrm>
            <a:off x="324000" y="716818"/>
            <a:ext cx="8237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generate coordinates that </a:t>
            </a:r>
            <a:r>
              <a:rPr lang="en-GB" sz="1800"/>
              <a:t>satisfy</a:t>
            </a:r>
            <a:r>
              <a:rPr lang="en-GB" sz="1800"/>
              <a:t> an equation:</a:t>
            </a:r>
            <a:r>
              <a:rPr lang="en-GB" sz="1800"/>
              <a:t>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72" name="Google Shape;1072;p86" title="x equals 3"/>
          <p:cNvSpPr txBox="1"/>
          <p:nvPr>
            <p:ph idx="1" type="body"/>
          </p:nvPr>
        </p:nvSpPr>
        <p:spPr>
          <a:xfrm>
            <a:off x="324000" y="1146650"/>
            <a:ext cx="7380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73" name="Google Shape;1073;p86" title="x equals 3"/>
          <p:cNvSpPr txBox="1"/>
          <p:nvPr>
            <p:ph idx="1" type="body"/>
          </p:nvPr>
        </p:nvSpPr>
        <p:spPr>
          <a:xfrm>
            <a:off x="344650" y="2175043"/>
            <a:ext cx="8237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 you know?   </a:t>
            </a:r>
            <a:endParaRPr sz="1800"/>
          </a:p>
        </p:txBody>
      </p:sp>
      <p:sp>
        <p:nvSpPr>
          <p:cNvPr id="1074" name="Google Shape;1074;p86"/>
          <p:cNvSpPr txBox="1"/>
          <p:nvPr>
            <p:ph idx="1" type="body"/>
          </p:nvPr>
        </p:nvSpPr>
        <p:spPr>
          <a:xfrm>
            <a:off x="380550" y="1552525"/>
            <a:ext cx="11352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(10,12.1)</a:t>
            </a:r>
            <a:endParaRPr/>
          </a:p>
        </p:txBody>
      </p:sp>
      <p:sp>
        <p:nvSpPr>
          <p:cNvPr id="1075" name="Google Shape;1075;p86"/>
          <p:cNvSpPr txBox="1"/>
          <p:nvPr>
            <p:ph idx="1" type="body"/>
          </p:nvPr>
        </p:nvSpPr>
        <p:spPr>
          <a:xfrm>
            <a:off x="1873410" y="1552525"/>
            <a:ext cx="13596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(103,105)</a:t>
            </a:r>
            <a:endParaRPr/>
          </a:p>
        </p:txBody>
      </p:sp>
      <p:sp>
        <p:nvSpPr>
          <p:cNvPr id="1076" name="Google Shape;1076;p86"/>
          <p:cNvSpPr txBox="1"/>
          <p:nvPr>
            <p:ph idx="1" type="body"/>
          </p:nvPr>
        </p:nvSpPr>
        <p:spPr>
          <a:xfrm>
            <a:off x="3590670" y="1552525"/>
            <a:ext cx="10599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(-2.1,0)</a:t>
            </a:r>
            <a:endParaRPr/>
          </a:p>
        </p:txBody>
      </p:sp>
      <p:sp>
        <p:nvSpPr>
          <p:cNvPr id="1077" name="Google Shape;1077;p86"/>
          <p:cNvSpPr txBox="1"/>
          <p:nvPr>
            <p:ph idx="1" type="body"/>
          </p:nvPr>
        </p:nvSpPr>
        <p:spPr>
          <a:xfrm>
            <a:off x="5008230" y="1552525"/>
            <a:ext cx="11352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(5,2.9)</a:t>
            </a:r>
            <a:endParaRPr/>
          </a:p>
        </p:txBody>
      </p:sp>
      <p:sp>
        <p:nvSpPr>
          <p:cNvPr id="1078" name="Google Shape;1078;p86"/>
          <p:cNvSpPr txBox="1"/>
          <p:nvPr>
            <p:ph idx="1" type="body"/>
          </p:nvPr>
        </p:nvSpPr>
        <p:spPr>
          <a:xfrm>
            <a:off x="6501090" y="1552525"/>
            <a:ext cx="10599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(3,2.1)</a:t>
            </a:r>
            <a:endParaRPr/>
          </a:p>
        </p:txBody>
      </p:sp>
      <p:sp>
        <p:nvSpPr>
          <p:cNvPr id="1079" name="Google Shape;1079;p86"/>
          <p:cNvSpPr txBox="1"/>
          <p:nvPr>
            <p:ph idx="1" type="body"/>
          </p:nvPr>
        </p:nvSpPr>
        <p:spPr>
          <a:xfrm>
            <a:off x="7918650" y="1552525"/>
            <a:ext cx="8394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(2.1,0)</a:t>
            </a:r>
            <a:endParaRPr/>
          </a:p>
        </p:txBody>
      </p:sp>
      <p:sp>
        <p:nvSpPr>
          <p:cNvPr id="1080" name="Google Shape;1080;p86"/>
          <p:cNvSpPr/>
          <p:nvPr/>
        </p:nvSpPr>
        <p:spPr>
          <a:xfrm>
            <a:off x="371135" y="1560857"/>
            <a:ext cx="1135200" cy="38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6"/>
          <p:cNvSpPr/>
          <p:nvPr/>
        </p:nvSpPr>
        <p:spPr>
          <a:xfrm>
            <a:off x="3516946" y="1560857"/>
            <a:ext cx="1026000" cy="36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2" name="Google Shape;108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643" y="1168302"/>
            <a:ext cx="1359600" cy="261652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83" name="Google Shape;1083;p86" title="x equals 3"/>
          <p:cNvSpPr txBox="1"/>
          <p:nvPr>
            <p:ph idx="1" type="body"/>
          </p:nvPr>
        </p:nvSpPr>
        <p:spPr>
          <a:xfrm>
            <a:off x="324000" y="2651443"/>
            <a:ext cx="8237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plus 2.1 gives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coordinate.</a:t>
            </a:r>
            <a:r>
              <a:rPr lang="en-GB" sz="1800"/>
              <a:t> 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84" name="Google Shape;1084;p86" title="x equals 3"/>
          <p:cNvSpPr txBox="1"/>
          <p:nvPr>
            <p:ph idx="1" type="body"/>
          </p:nvPr>
        </p:nvSpPr>
        <p:spPr>
          <a:xfrm>
            <a:off x="324000" y="3183350"/>
            <a:ext cx="7380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85" name="Google Shape;1085;p86" title="x equals 3"/>
          <p:cNvSpPr txBox="1"/>
          <p:nvPr>
            <p:ph idx="1" type="body"/>
          </p:nvPr>
        </p:nvSpPr>
        <p:spPr>
          <a:xfrm>
            <a:off x="344650" y="4080043"/>
            <a:ext cx="8237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 you know?   </a:t>
            </a:r>
            <a:endParaRPr sz="1800"/>
          </a:p>
        </p:txBody>
      </p:sp>
      <p:sp>
        <p:nvSpPr>
          <p:cNvPr id="1086" name="Google Shape;1086;p86"/>
          <p:cNvSpPr txBox="1"/>
          <p:nvPr>
            <p:ph idx="1" type="body"/>
          </p:nvPr>
        </p:nvSpPr>
        <p:spPr>
          <a:xfrm>
            <a:off x="380550" y="3533725"/>
            <a:ext cx="9504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(10,-5)</a:t>
            </a:r>
            <a:endParaRPr/>
          </a:p>
        </p:txBody>
      </p:sp>
      <p:sp>
        <p:nvSpPr>
          <p:cNvPr id="1087" name="Google Shape;1087;p86"/>
          <p:cNvSpPr txBox="1"/>
          <p:nvPr>
            <p:ph idx="1" type="body"/>
          </p:nvPr>
        </p:nvSpPr>
        <p:spPr>
          <a:xfrm>
            <a:off x="2039010" y="3533733"/>
            <a:ext cx="6372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(3,6)</a:t>
            </a:r>
            <a:endParaRPr/>
          </a:p>
        </p:txBody>
      </p:sp>
      <p:sp>
        <p:nvSpPr>
          <p:cNvPr id="1088" name="Google Shape;1088;p86"/>
          <p:cNvSpPr txBox="1"/>
          <p:nvPr>
            <p:ph idx="1" type="body"/>
          </p:nvPr>
        </p:nvSpPr>
        <p:spPr>
          <a:xfrm>
            <a:off x="3384270" y="3533725"/>
            <a:ext cx="7380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(1,-2)</a:t>
            </a:r>
            <a:endParaRPr/>
          </a:p>
        </p:txBody>
      </p:sp>
      <p:sp>
        <p:nvSpPr>
          <p:cNvPr id="1089" name="Google Shape;1089;p86"/>
          <p:cNvSpPr txBox="1"/>
          <p:nvPr>
            <p:ph idx="1" type="body"/>
          </p:nvPr>
        </p:nvSpPr>
        <p:spPr>
          <a:xfrm>
            <a:off x="4830330" y="3533733"/>
            <a:ext cx="7980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(5,3)</a:t>
            </a:r>
            <a:endParaRPr/>
          </a:p>
        </p:txBody>
      </p:sp>
      <p:sp>
        <p:nvSpPr>
          <p:cNvPr id="1090" name="Google Shape;1090;p86"/>
          <p:cNvSpPr txBox="1"/>
          <p:nvPr>
            <p:ph idx="1" type="body"/>
          </p:nvPr>
        </p:nvSpPr>
        <p:spPr>
          <a:xfrm>
            <a:off x="6336390" y="3533733"/>
            <a:ext cx="7980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(-4,8)</a:t>
            </a:r>
            <a:endParaRPr/>
          </a:p>
        </p:txBody>
      </p:sp>
      <p:sp>
        <p:nvSpPr>
          <p:cNvPr id="1091" name="Google Shape;1091;p86"/>
          <p:cNvSpPr txBox="1"/>
          <p:nvPr>
            <p:ph idx="1" type="body"/>
          </p:nvPr>
        </p:nvSpPr>
        <p:spPr>
          <a:xfrm>
            <a:off x="7842450" y="3533725"/>
            <a:ext cx="950400" cy="3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(-6,-12)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92" name="Google Shape;1092;p86" title="x equals 3"/>
          <p:cNvSpPr txBox="1"/>
          <p:nvPr>
            <p:ph idx="1" type="body"/>
          </p:nvPr>
        </p:nvSpPr>
        <p:spPr>
          <a:xfrm>
            <a:off x="324000" y="4480243"/>
            <a:ext cx="8237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multiplied by -2 gives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coordinate.</a:t>
            </a:r>
            <a:r>
              <a:rPr lang="en-GB" sz="1800"/>
              <a:t>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-2x&quot;&gt;&lt;mi&gt;y&lt;/mi&gt;&lt;mo&gt;=&lt;/mo&gt;&lt;mo&gt;−&lt;/mo&gt;&lt;mn&gt;2&lt;/mn&gt;&lt;mi&gt;x&lt;/mi&gt;&lt;/math&gt;" id="1093" name="Google Shape;1093;p86" title="y equals negative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862" y="3187795"/>
            <a:ext cx="950400" cy="242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6"/>
          <p:cNvSpPr/>
          <p:nvPr/>
        </p:nvSpPr>
        <p:spPr>
          <a:xfrm>
            <a:off x="3356070" y="3529125"/>
            <a:ext cx="738000" cy="38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6"/>
          <p:cNvSpPr/>
          <p:nvPr/>
        </p:nvSpPr>
        <p:spPr>
          <a:xfrm>
            <a:off x="6291600" y="3541708"/>
            <a:ext cx="839400" cy="383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96" name="Google Shape;1096;p86" title="x equals 3"/>
          <p:cNvSpPr txBox="1"/>
          <p:nvPr>
            <p:ph idx="1" type="body"/>
          </p:nvPr>
        </p:nvSpPr>
        <p:spPr>
          <a:xfrm>
            <a:off x="1078875" y="1146650"/>
            <a:ext cx="2520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of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97" name="Google Shape;1097;p86" title="x equals 3"/>
          <p:cNvSpPr txBox="1"/>
          <p:nvPr>
            <p:ph idx="1" type="body"/>
          </p:nvPr>
        </p:nvSpPr>
        <p:spPr>
          <a:xfrm>
            <a:off x="1382150" y="1146650"/>
            <a:ext cx="6372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98" name="Google Shape;1098;p86" title="x equals 3"/>
          <p:cNvSpPr txBox="1"/>
          <p:nvPr>
            <p:ph idx="1" type="body"/>
          </p:nvPr>
        </p:nvSpPr>
        <p:spPr>
          <a:xfrm>
            <a:off x="2039000" y="1146650"/>
            <a:ext cx="13596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coordinates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099" name="Google Shape;1099;p86" title="x equals 3"/>
          <p:cNvSpPr txBox="1"/>
          <p:nvPr>
            <p:ph idx="1" type="body"/>
          </p:nvPr>
        </p:nvSpPr>
        <p:spPr>
          <a:xfrm>
            <a:off x="3410350" y="1146650"/>
            <a:ext cx="683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would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0" name="Google Shape;1100;p86" title="x equals 3"/>
          <p:cNvSpPr txBox="1"/>
          <p:nvPr>
            <p:ph idx="1" type="body"/>
          </p:nvPr>
        </p:nvSpPr>
        <p:spPr>
          <a:xfrm>
            <a:off x="4144875" y="1146650"/>
            <a:ext cx="7962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satisfy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1" name="Google Shape;1101;p86" title="x equals 3"/>
          <p:cNvSpPr txBox="1"/>
          <p:nvPr>
            <p:ph idx="1" type="body"/>
          </p:nvPr>
        </p:nvSpPr>
        <p:spPr>
          <a:xfrm>
            <a:off x="4941000" y="1146650"/>
            <a:ext cx="14442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equation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2" name="Google Shape;1102;p86" title="x equals 3"/>
          <p:cNvSpPr txBox="1"/>
          <p:nvPr>
            <p:ph idx="1" type="body"/>
          </p:nvPr>
        </p:nvSpPr>
        <p:spPr>
          <a:xfrm>
            <a:off x="7842450" y="1146650"/>
            <a:ext cx="2520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? 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3" name="Google Shape;1103;p86" title="x equals 3"/>
          <p:cNvSpPr txBox="1"/>
          <p:nvPr>
            <p:ph idx="1" type="body"/>
          </p:nvPr>
        </p:nvSpPr>
        <p:spPr>
          <a:xfrm>
            <a:off x="1078875" y="3183350"/>
            <a:ext cx="2520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of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4" name="Google Shape;1104;p86" title="x equals 3"/>
          <p:cNvSpPr txBox="1"/>
          <p:nvPr>
            <p:ph idx="1" type="body"/>
          </p:nvPr>
        </p:nvSpPr>
        <p:spPr>
          <a:xfrm>
            <a:off x="1382150" y="3183350"/>
            <a:ext cx="6372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5" name="Google Shape;1105;p86" title="x equals 3"/>
          <p:cNvSpPr txBox="1"/>
          <p:nvPr>
            <p:ph idx="1" type="body"/>
          </p:nvPr>
        </p:nvSpPr>
        <p:spPr>
          <a:xfrm>
            <a:off x="2039000" y="3183350"/>
            <a:ext cx="13596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coordinates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6" name="Google Shape;1106;p86" title="x equals 3"/>
          <p:cNvSpPr txBox="1"/>
          <p:nvPr>
            <p:ph idx="1" type="body"/>
          </p:nvPr>
        </p:nvSpPr>
        <p:spPr>
          <a:xfrm>
            <a:off x="3410350" y="3183350"/>
            <a:ext cx="6837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would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7" name="Google Shape;1107;p86" title="x equals 3"/>
          <p:cNvSpPr txBox="1"/>
          <p:nvPr>
            <p:ph idx="1" type="body"/>
          </p:nvPr>
        </p:nvSpPr>
        <p:spPr>
          <a:xfrm>
            <a:off x="4144875" y="3183350"/>
            <a:ext cx="7962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satisfy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8" name="Google Shape;1108;p86" title="x equals 3"/>
          <p:cNvSpPr txBox="1"/>
          <p:nvPr>
            <p:ph idx="1" type="body"/>
          </p:nvPr>
        </p:nvSpPr>
        <p:spPr>
          <a:xfrm>
            <a:off x="4941000" y="3183350"/>
            <a:ext cx="14442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equation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x=3&quot;&gt;&lt;mi&gt;x&lt;/mi&gt;&lt;mo&gt;=&lt;/mo&gt;&lt;mn&gt;3&lt;/mn&gt;&lt;/math&gt;" id="1109" name="Google Shape;1109;p86" title="x equals 3"/>
          <p:cNvSpPr txBox="1"/>
          <p:nvPr>
            <p:ph idx="1" type="body"/>
          </p:nvPr>
        </p:nvSpPr>
        <p:spPr>
          <a:xfrm>
            <a:off x="7842450" y="3183350"/>
            <a:ext cx="252000" cy="3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?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(12,</a:t>
            </a:r>
            <a:r>
              <a:rPr lang="en-GB" u="sng"/>
              <a:t>       </a:t>
            </a:r>
            <a:r>
              <a:rPr lang="en-GB"/>
              <a:t>)</a:t>
            </a:r>
            <a:endParaRPr/>
          </a:p>
        </p:txBody>
      </p:sp>
      <p:sp>
        <p:nvSpPr>
          <p:cNvPr id="1115" name="Google Shape;1115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y=x+3\end{array}&quot;&gt;&lt;mtable columnalign=&quot;left&quot; columnspacing=&quot;1em&quot; rowspacing=&quot;4pt&quot;&gt;&lt;mtr&gt;&lt;mtd&gt;&lt;mi&gt;y&lt;/mi&gt;&lt;mo&gt;=&lt;/mo&gt;&lt;mi&gt;x&lt;/mi&gt;&lt;mo&gt;+&lt;/mo&gt;&lt;mn&gt;3&lt;/mn&gt;&lt;/mtd&gt;&lt;/mtr&gt;&lt;/mtable&gt;&lt;/math&gt;" id="1116" name="Google Shape;1116;p87" title="1 lines Line 1: y equals x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1181800"/>
            <a:ext cx="1275683" cy="326008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missing value in each coordinate pair for the equation:</a:t>
            </a:r>
            <a:endParaRPr/>
          </a:p>
        </p:txBody>
      </p:sp>
      <p:sp>
        <p:nvSpPr>
          <p:cNvPr id="1118" name="Google Shape;1118;p8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   </a:t>
            </a:r>
            <a:r>
              <a:rPr lang="en-GB"/>
              <a:t>,100)</a:t>
            </a:r>
            <a:endParaRPr/>
          </a:p>
        </p:txBody>
      </p:sp>
      <p:sp>
        <p:nvSpPr>
          <p:cNvPr id="1119" name="Google Shape;1119;p87"/>
          <p:cNvSpPr txBox="1"/>
          <p:nvPr>
            <p:ph idx="4" type="subTitle"/>
          </p:nvPr>
        </p:nvSpPr>
        <p:spPr>
          <a:xfrm>
            <a:off x="1034425" y="3766975"/>
            <a:ext cx="775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(-0.5,</a:t>
            </a:r>
            <a:endParaRPr/>
          </a:p>
        </p:txBody>
      </p:sp>
      <p:sp>
        <p:nvSpPr>
          <p:cNvPr id="1120" name="Google Shape;1120;p87"/>
          <p:cNvSpPr txBox="1"/>
          <p:nvPr>
            <p:ph idx="4" type="subTitle"/>
          </p:nvPr>
        </p:nvSpPr>
        <p:spPr>
          <a:xfrm>
            <a:off x="1665954" y="1838616"/>
            <a:ext cx="32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7"/>
          <p:cNvSpPr txBox="1"/>
          <p:nvPr>
            <p:ph idx="4" type="subTitle"/>
          </p:nvPr>
        </p:nvSpPr>
        <p:spPr>
          <a:xfrm>
            <a:off x="1254704" y="2788291"/>
            <a:ext cx="328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87"/>
          <p:cNvSpPr txBox="1"/>
          <p:nvPr>
            <p:ph idx="4" type="subTitle"/>
          </p:nvPr>
        </p:nvSpPr>
        <p:spPr>
          <a:xfrm>
            <a:off x="1733822" y="3765079"/>
            <a:ext cx="409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7"/>
          <p:cNvSpPr txBox="1"/>
          <p:nvPr>
            <p:ph idx="4" type="subTitle"/>
          </p:nvPr>
        </p:nvSpPr>
        <p:spPr>
          <a:xfrm>
            <a:off x="1718600" y="3766975"/>
            <a:ext cx="611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u="sng"/>
              <a:t>      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88"/>
          <p:cNvSpPr txBox="1"/>
          <p:nvPr>
            <p:ph idx="1" type="body"/>
          </p:nvPr>
        </p:nvSpPr>
        <p:spPr>
          <a:xfrm>
            <a:off x="324000" y="1467600"/>
            <a:ext cx="4248000" cy="3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3  ,</a:t>
            </a:r>
            <a:r>
              <a:rPr lang="en-GB" sz="1800" u="sng"/>
              <a:t>      </a:t>
            </a:r>
            <a:r>
              <a:rPr lang="en-GB" sz="1800"/>
              <a:t>)  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 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0  ,</a:t>
            </a:r>
            <a:r>
              <a:rPr lang="en-GB" sz="1800" u="sng"/>
              <a:t>      </a:t>
            </a:r>
            <a:r>
              <a:rPr lang="en-GB" sz="1800"/>
              <a:t>)   (</a:t>
            </a:r>
            <a:r>
              <a:rPr lang="en-GB" sz="1800" u="sng"/>
              <a:t>      </a:t>
            </a:r>
            <a:r>
              <a:rPr lang="en-GB" sz="1800"/>
              <a:t>,  9  )  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0  ,</a:t>
            </a:r>
            <a:r>
              <a:rPr lang="en-GB" sz="1800" u="sng"/>
              <a:t>      </a:t>
            </a:r>
            <a:r>
              <a:rPr lang="en-GB" sz="1800"/>
              <a:t>)   (</a:t>
            </a:r>
            <a:r>
              <a:rPr lang="en-GB" sz="1800" u="sng"/>
              <a:t>      </a:t>
            </a:r>
            <a:r>
              <a:rPr lang="en-GB" sz="1800"/>
              <a:t>,300)  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0  ,</a:t>
            </a:r>
            <a:r>
              <a:rPr lang="en-GB" sz="1800" u="sng"/>
              <a:t>      </a:t>
            </a:r>
            <a:r>
              <a:rPr lang="en-GB" sz="1800"/>
              <a:t>)  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 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9" name="Google Shape;1129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130" name="Google Shape;1130;p88"/>
          <p:cNvSpPr txBox="1"/>
          <p:nvPr>
            <p:ph idx="1" type="body"/>
          </p:nvPr>
        </p:nvSpPr>
        <p:spPr>
          <a:xfrm>
            <a:off x="324000" y="683100"/>
            <a:ext cx="82377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Generate 3 coordinates that follow each rule. Some have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 or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900"/>
              <a:t>  coordinate already filled in. 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begin{array}{l}y=x+20\end{array}&quot;&gt;&lt;mtable columnalign=&quot;left&quot; columnspacing=&quot;1em&quot; rowspacing=&quot;4pt&quot;&gt;&lt;mtr&gt;&lt;mtd&gt;&lt;mi&gt;y&lt;/mi&gt;&lt;mo&gt;=&lt;/mo&gt;&lt;mi&gt;x&lt;/mi&gt;&lt;mo&gt;+&lt;/mo&gt;&lt;mn&gt;20&lt;/mn&gt;&lt;/mtd&gt;&lt;/mtr&gt;&lt;/mtable&gt;&lt;/math&gt;" id="1131" name="Google Shape;1131;p88" title="1 lines Line 1: y equals x plus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75" y="1791546"/>
            <a:ext cx="1341150" cy="26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100x\end{array}&quot;&gt;&lt;mtable columnalign=&quot;left&quot; columnspacing=&quot;1em&quot; rowspacing=&quot;4pt&quot;&gt;&lt;mtr&gt;&lt;mtd&gt;&lt;mi&gt;y&lt;/mi&gt;&lt;mo&gt;=&lt;/mo&gt;&lt;mn&gt;100&lt;/mn&gt;&lt;mi&gt;x&lt;/mi&gt;&lt;/mtd&gt;&lt;/mtr&gt;&lt;/mtable&gt;&lt;/math&gt;" id="1132" name="Google Shape;1132;p88" title="1 lines Line 1: y equals 100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5" y="3684846"/>
            <a:ext cx="1144991" cy="26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-9\end{array}&quot;&gt;&lt;mtable columnalign=&quot;left&quot; columnspacing=&quot;1em&quot; rowspacing=&quot;4pt&quot;&gt;&lt;mtr&gt;&lt;mtd&gt;&lt;mi&gt;y&lt;/mi&gt;&lt;mo&gt;=&lt;/mo&gt;&lt;mi&gt;x&lt;/mi&gt;&lt;mo&gt;−&lt;/mo&gt;&lt;mn&gt;9&lt;/mn&gt;&lt;/mtd&gt;&lt;/mtr&gt;&lt;/mtable&gt;&lt;/math&gt;" id="1133" name="Google Shape;1133;p88" title="1 lines Line 1: y equals x minu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937" y="2737046"/>
            <a:ext cx="1181075" cy="26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4x\end{array}&quot;&gt;&lt;mtable columnalign=&quot;left&quot; columnspacing=&quot;1em&quot; rowspacing=&quot;4pt&quot;&gt;&lt;mtr&gt;&lt;mtd&gt;&lt;mi&gt;y&lt;/mi&gt;&lt;mo&gt;=&lt;/mo&gt;&lt;mn&gt;4&lt;/mn&gt;&lt;mi&gt;x&lt;/mi&gt;&lt;/mtd&gt;&lt;/mtr&gt;&lt;/mtable&gt;&lt;/math&gt;" id="1134" name="Google Shape;1134;p88" title="1 lines Line 1: 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925" y="4568780"/>
            <a:ext cx="835540" cy="2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140" name="Google Shape;1140;p89"/>
          <p:cNvSpPr txBox="1"/>
          <p:nvPr>
            <p:ph idx="1" type="body"/>
          </p:nvPr>
        </p:nvSpPr>
        <p:spPr>
          <a:xfrm>
            <a:off x="324000" y="688825"/>
            <a:ext cx="8496000" cy="53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Fill in the table with a </a:t>
            </a:r>
            <a:r>
              <a:rPr lang="en-GB" sz="1800"/>
              <a:t>different</a:t>
            </a:r>
            <a:r>
              <a:rPr lang="en-GB" sz="1800"/>
              <a:t> coordinate for the equation that satisfie</a:t>
            </a:r>
            <a:r>
              <a:rPr lang="en-GB" sz="1800"/>
              <a:t>s</a:t>
            </a:r>
            <a:r>
              <a:rPr lang="en-GB" sz="1800"/>
              <a:t> each condition. The first one has been done for you.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141" name="Google Shape;1141;p89"/>
          <p:cNvGraphicFramePr/>
          <p:nvPr/>
        </p:nvGraphicFramePr>
        <p:xfrm>
          <a:off x="753245" y="13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{961173F7-247D-47EE-B59C-CC0177C06C75}</a:tableStyleId>
              </a:tblPr>
              <a:tblGrid>
                <a:gridCol w="1599550"/>
                <a:gridCol w="2036375"/>
                <a:gridCol w="2036400"/>
                <a:gridCol w="2074400"/>
              </a:tblGrid>
              <a:tr h="72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coordinate is positive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coordinate is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coordinate is a non-integer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(15,10)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-5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-10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(7.5, 2.5)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y=x-5\end{array}&quot;&gt;&lt;mtable columnalign=&quot;left&quot; columnspacing=&quot;1em&quot; rowspacing=&quot;4pt&quot;&gt;&lt;mtr&gt;&lt;mtd&gt;&lt;mi&gt;y&lt;/mi&gt;&lt;mo&gt;=&lt;/mo&gt;&lt;mi&gt;x&lt;/mi&gt;&lt;mo&gt;−&lt;/mo&gt;&lt;mn&gt;5&lt;/mn&gt;&lt;/mtd&gt;&lt;/mtr&gt;&lt;/mtable&gt;&lt;/math&gt;" id="1142" name="Google Shape;1142;p89" title="1 lines Line 1: y equals x min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544" y="2193275"/>
            <a:ext cx="1072250" cy="249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+10\end{array}&quot;&gt;&lt;mtable columnalign=&quot;left&quot; columnspacing=&quot;1em&quot; rowspacing=&quot;4pt&quot;&gt;&lt;mtr&gt;&lt;mtd&gt;&lt;mi&gt;y&lt;/mi&gt;&lt;mo&gt;=&lt;/mo&gt;&lt;mi&gt;x&lt;/mi&gt;&lt;mo&gt;+&lt;/mo&gt;&lt;mn&gt;10&lt;/mn&gt;&lt;/mtd&gt;&lt;/mtr&gt;&lt;/mtable&gt;&lt;/math&gt;" id="1143" name="Google Shape;1143;p89" title="1 lines Line 1: y equals x plu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544" y="2667226"/>
            <a:ext cx="1227719" cy="246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5x\end{array}&quot;&gt;&lt;mtable columnalign=&quot;left&quot; columnspacing=&quot;1em&quot; rowspacing=&quot;4pt&quot;&gt;&lt;mtr&gt;&lt;mtd&gt;&lt;mi&gt;y&lt;/mi&gt;&lt;mo&gt;=&lt;/mo&gt;&lt;mn&gt;5&lt;/mn&gt;&lt;mi&gt;x&lt;/mi&gt;&lt;/mtd&gt;&lt;/mtr&gt;&lt;/mtable&gt;&lt;/math&gt;" id="1144" name="Google Shape;1144;p89" title="1 lines Line 1: y equals 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544" y="3076161"/>
            <a:ext cx="740747" cy="252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-3x\end{array}&quot;&gt;&lt;mtable columnalign=&quot;left&quot; columnspacing=&quot;1em&quot; rowspacing=&quot;4pt&quot;&gt;&lt;mtr&gt;&lt;mtd&gt;&lt;mi&gt;y&lt;/mi&gt;&lt;mo&gt;=&lt;/mo&gt;&lt;mo&gt;−&lt;/mo&gt;&lt;mn&gt;3&lt;/mn&gt;&lt;mi&gt;x&lt;/mi&gt;&lt;/mtd&gt;&lt;/mtr&gt;&lt;/mtable&gt;&lt;/math&gt;" id="1145" name="Google Shape;1145;p89" title="1 lines Line 1: y equals negative 3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544" y="3554541"/>
            <a:ext cx="946510" cy="23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\frac{x}{3}\end{array}&quot;&gt;&lt;mtable columnalign=&quot;left&quot; columnspacing=&quot;1em&quot; rowspacing=&quot;4pt&quot;&gt;&lt;mtr&gt;&lt;mtd&gt;&lt;mi&gt;y&lt;/mi&gt;&lt;mo&gt;=&lt;/mo&gt;&lt;mfrac&gt;&lt;mi&gt;x&lt;/mi&gt;&lt;mn&gt;3&lt;/mn&gt;&lt;/mfrac&gt;&lt;/mtd&gt;&lt;/mtr&gt;&lt;/mtable&gt;&lt;/math&gt;" id="1146" name="Google Shape;1146;p89" title="1 lines Line 1: y equals x over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544" y="4400321"/>
            <a:ext cx="679018" cy="35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-0.02\end{array}&quot;&gt;&lt;mtable columnalign=&quot;left&quot; columnspacing=&quot;1em&quot; rowspacing=&quot;4pt&quot;&gt;&lt;mtr&gt;&lt;mtd&gt;&lt;mi&gt;y&lt;/mi&gt;&lt;mo&gt;=&lt;/mo&gt;&lt;mi&gt;x&lt;/mi&gt;&lt;mo&gt;−&lt;/mo&gt;&lt;mn&gt;0.02&lt;/mn&gt;&lt;/mtd&gt;&lt;/mtr&gt;&lt;/mtable&gt;&lt;/math&gt;" id="1147" name="Google Shape;1147;p89" title="1 lines Line 1: y equals x minus 0.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544" y="3962308"/>
            <a:ext cx="1447200" cy="2479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8" name="Google Shape;1148;p89"/>
          <p:cNvGraphicFramePr/>
          <p:nvPr/>
        </p:nvGraphicFramePr>
        <p:xfrm>
          <a:off x="247800" y="20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{961173F7-247D-47EE-B59C-CC0177C06C75}</a:tableStyleId>
              </a:tblPr>
              <a:tblGrid>
                <a:gridCol w="505450"/>
              </a:tblGrid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154" name="Google Shape;1154;p90"/>
          <p:cNvSpPr txBox="1"/>
          <p:nvPr>
            <p:ph idx="1" type="body"/>
          </p:nvPr>
        </p:nvSpPr>
        <p:spPr>
          <a:xfrm>
            <a:off x="324000" y="649650"/>
            <a:ext cx="83787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Generate 3 coordinates that follow each rule. Some have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 or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GB" sz="1900"/>
              <a:t>  coordinate already filled in.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55" name="Google Shape;1155;p90"/>
          <p:cNvSpPr txBox="1"/>
          <p:nvPr>
            <p:ph idx="1" type="body"/>
          </p:nvPr>
        </p:nvSpPr>
        <p:spPr>
          <a:xfrm>
            <a:off x="324000" y="1467600"/>
            <a:ext cx="4248000" cy="3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3  ,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0  , 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0  , 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(  0  ,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y=x+20\end{array}&quot;&gt;&lt;mtable columnalign=&quot;left&quot; columnspacing=&quot;1em&quot; rowspacing=&quot;4pt&quot;&gt;&lt;mtr&gt;&lt;mtd&gt;&lt;mi&gt;y&lt;/mi&gt;&lt;mo&gt;=&lt;/mo&gt;&lt;mi&gt;x&lt;/mi&gt;&lt;mo&gt;+&lt;/mo&gt;&lt;mn&gt;20&lt;/mn&gt;&lt;/mtd&gt;&lt;/mtr&gt;&lt;/mtable&gt;&lt;/math&gt;" id="1156" name="Google Shape;1156;p90" title="1 lines Line 1: y equals x plus 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75" y="1790800"/>
            <a:ext cx="1341150" cy="26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100x\end{array}&quot;&gt;&lt;mtable columnalign=&quot;left&quot; columnspacing=&quot;1em&quot; rowspacing=&quot;4pt&quot;&gt;&lt;mtr&gt;&lt;mtd&gt;&lt;mi&gt;y&lt;/mi&gt;&lt;mo&gt;=&lt;/mo&gt;&lt;mn&gt;100&lt;/mn&gt;&lt;mi&gt;x&lt;/mi&gt;&lt;/mtd&gt;&lt;/mtr&gt;&lt;/mtable&gt;&lt;/math&gt;" id="1157" name="Google Shape;1157;p90" title="1 lines Line 1: y equals 100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963" y="3695434"/>
            <a:ext cx="1144991" cy="26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-9\end{array}&quot;&gt;&lt;mtable columnalign=&quot;left&quot; columnspacing=&quot;1em&quot; rowspacing=&quot;4pt&quot;&gt;&lt;mtr&gt;&lt;mtd&gt;&lt;mi&gt;y&lt;/mi&gt;&lt;mo&gt;=&lt;/mo&gt;&lt;mi&gt;x&lt;/mi&gt;&lt;mo&gt;−&lt;/mo&gt;&lt;mn&gt;9&lt;/mn&gt;&lt;/mtd&gt;&lt;/mtr&gt;&lt;/mtable&gt;&lt;/math&gt;" id="1158" name="Google Shape;1158;p90" title="1 lines Line 1: y equals x minu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937" y="2721059"/>
            <a:ext cx="1181075" cy="26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4x\end{array}&quot;&gt;&lt;mtable columnalign=&quot;left&quot; columnspacing=&quot;1em&quot; rowspacing=&quot;4pt&quot;&gt;&lt;mtr&gt;&lt;mtd&gt;&lt;mi&gt;y&lt;/mi&gt;&lt;mo&gt;=&lt;/mo&gt;&lt;mn&gt;4&lt;/mn&gt;&lt;mi&gt;x&lt;/mi&gt;&lt;/mtd&gt;&lt;/mtr&gt;&lt;/mtable&gt;&lt;/math&gt;" id="1159" name="Google Shape;1159;p90" title="1 lines Line 1: 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925" y="4552208"/>
            <a:ext cx="835540" cy="2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0"/>
          <p:cNvSpPr txBox="1"/>
          <p:nvPr/>
        </p:nvSpPr>
        <p:spPr>
          <a:xfrm>
            <a:off x="1348734" y="1376258"/>
            <a:ext cx="8355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90"/>
          <p:cNvSpPr txBox="1"/>
          <p:nvPr/>
        </p:nvSpPr>
        <p:spPr>
          <a:xfrm>
            <a:off x="1348717" y="2291847"/>
            <a:ext cx="419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90"/>
          <p:cNvSpPr txBox="1"/>
          <p:nvPr/>
        </p:nvSpPr>
        <p:spPr>
          <a:xfrm>
            <a:off x="2073163" y="2324184"/>
            <a:ext cx="419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90"/>
          <p:cNvSpPr txBox="1"/>
          <p:nvPr/>
        </p:nvSpPr>
        <p:spPr>
          <a:xfrm>
            <a:off x="1454409" y="3158368"/>
            <a:ext cx="419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90"/>
          <p:cNvSpPr txBox="1"/>
          <p:nvPr/>
        </p:nvSpPr>
        <p:spPr>
          <a:xfrm>
            <a:off x="2155075" y="3183400"/>
            <a:ext cx="226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90"/>
          <p:cNvSpPr txBox="1"/>
          <p:nvPr/>
        </p:nvSpPr>
        <p:spPr>
          <a:xfrm>
            <a:off x="1420114" y="4073359"/>
            <a:ext cx="4197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90"/>
          <p:cNvSpPr txBox="1"/>
          <p:nvPr/>
        </p:nvSpPr>
        <p:spPr>
          <a:xfrm>
            <a:off x="4320000" y="1067213"/>
            <a:ext cx="4500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many possible answers for the blank coordinates. Examples: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90"/>
          <p:cNvSpPr txBox="1"/>
          <p:nvPr/>
        </p:nvSpPr>
        <p:spPr>
          <a:xfrm>
            <a:off x="4576775" y="1704575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(0,20) (1,21) (10,30) (-20,0)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90"/>
          <p:cNvSpPr txBox="1"/>
          <p:nvPr/>
        </p:nvSpPr>
        <p:spPr>
          <a:xfrm>
            <a:off x="4576775" y="2634815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(1,-8) (10,1) (-2,-11) (100,91)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90"/>
          <p:cNvSpPr txBox="1"/>
          <p:nvPr/>
        </p:nvSpPr>
        <p:spPr>
          <a:xfrm>
            <a:off x="4576775" y="3609183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(1,100) (0.1,10) (10,1000) (-3,-300)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90"/>
          <p:cNvSpPr txBox="1"/>
          <p:nvPr/>
        </p:nvSpPr>
        <p:spPr>
          <a:xfrm>
            <a:off x="4576775" y="4379703"/>
            <a:ext cx="4248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(1,4) (2,8) (25,100) (-3,-12)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1" name="Google Shape;1171;p90"/>
          <p:cNvSpPr txBox="1"/>
          <p:nvPr>
            <p:ph idx="1" type="body"/>
          </p:nvPr>
        </p:nvSpPr>
        <p:spPr>
          <a:xfrm>
            <a:off x="2011775" y="1457825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    )</a:t>
            </a:r>
            <a:endParaRPr sz="1800"/>
          </a:p>
        </p:txBody>
      </p:sp>
      <p:sp>
        <p:nvSpPr>
          <p:cNvPr id="1172" name="Google Shape;1172;p90"/>
          <p:cNvSpPr txBox="1"/>
          <p:nvPr>
            <p:ph idx="1" type="body"/>
          </p:nvPr>
        </p:nvSpPr>
        <p:spPr>
          <a:xfrm>
            <a:off x="3192875" y="1457825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    )</a:t>
            </a:r>
            <a:endParaRPr sz="1800"/>
          </a:p>
        </p:txBody>
      </p:sp>
      <p:sp>
        <p:nvSpPr>
          <p:cNvPr id="1173" name="Google Shape;1173;p90"/>
          <p:cNvSpPr txBox="1"/>
          <p:nvPr>
            <p:ph idx="1" type="body"/>
          </p:nvPr>
        </p:nvSpPr>
        <p:spPr>
          <a:xfrm>
            <a:off x="1717975" y="1463450"/>
            <a:ext cx="2262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)</a:t>
            </a:r>
            <a:endParaRPr sz="1800"/>
          </a:p>
        </p:txBody>
      </p:sp>
      <p:sp>
        <p:nvSpPr>
          <p:cNvPr id="1174" name="Google Shape;1174;p90"/>
          <p:cNvSpPr txBox="1"/>
          <p:nvPr>
            <p:ph idx="1" type="body"/>
          </p:nvPr>
        </p:nvSpPr>
        <p:spPr>
          <a:xfrm>
            <a:off x="1970313" y="2389800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9   )</a:t>
            </a:r>
            <a:endParaRPr sz="1800"/>
          </a:p>
        </p:txBody>
      </p:sp>
      <p:sp>
        <p:nvSpPr>
          <p:cNvPr id="1175" name="Google Shape;1175;p90"/>
          <p:cNvSpPr txBox="1"/>
          <p:nvPr>
            <p:ph idx="1" type="body"/>
          </p:nvPr>
        </p:nvSpPr>
        <p:spPr>
          <a:xfrm>
            <a:off x="1653375" y="2330238"/>
            <a:ext cx="2262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)</a:t>
            </a:r>
            <a:endParaRPr sz="1800"/>
          </a:p>
        </p:txBody>
      </p:sp>
      <p:sp>
        <p:nvSpPr>
          <p:cNvPr id="1176" name="Google Shape;1176;p90"/>
          <p:cNvSpPr txBox="1"/>
          <p:nvPr>
            <p:ph idx="1" type="body"/>
          </p:nvPr>
        </p:nvSpPr>
        <p:spPr>
          <a:xfrm>
            <a:off x="3242150" y="2389800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    )</a:t>
            </a:r>
            <a:endParaRPr sz="1800"/>
          </a:p>
        </p:txBody>
      </p:sp>
      <p:sp>
        <p:nvSpPr>
          <p:cNvPr id="1177" name="Google Shape;1177;p90"/>
          <p:cNvSpPr txBox="1"/>
          <p:nvPr>
            <p:ph idx="1" type="body"/>
          </p:nvPr>
        </p:nvSpPr>
        <p:spPr>
          <a:xfrm>
            <a:off x="1684800" y="3221788"/>
            <a:ext cx="2262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)</a:t>
            </a:r>
            <a:endParaRPr sz="1800"/>
          </a:p>
        </p:txBody>
      </p:sp>
      <p:sp>
        <p:nvSpPr>
          <p:cNvPr id="1178" name="Google Shape;1178;p90"/>
          <p:cNvSpPr txBox="1"/>
          <p:nvPr>
            <p:ph idx="1" type="body"/>
          </p:nvPr>
        </p:nvSpPr>
        <p:spPr>
          <a:xfrm>
            <a:off x="2011777" y="3240000"/>
            <a:ext cx="13767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300 )</a:t>
            </a:r>
            <a:endParaRPr sz="1800"/>
          </a:p>
        </p:txBody>
      </p:sp>
      <p:sp>
        <p:nvSpPr>
          <p:cNvPr id="1179" name="Google Shape;1179;p90"/>
          <p:cNvSpPr txBox="1"/>
          <p:nvPr>
            <p:ph idx="1" type="body"/>
          </p:nvPr>
        </p:nvSpPr>
        <p:spPr>
          <a:xfrm>
            <a:off x="3242138" y="3240000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    )</a:t>
            </a:r>
            <a:endParaRPr sz="1800"/>
          </a:p>
        </p:txBody>
      </p:sp>
      <p:sp>
        <p:nvSpPr>
          <p:cNvPr id="1180" name="Google Shape;1180;p90"/>
          <p:cNvSpPr txBox="1"/>
          <p:nvPr>
            <p:ph idx="1" type="body"/>
          </p:nvPr>
        </p:nvSpPr>
        <p:spPr>
          <a:xfrm>
            <a:off x="1717975" y="4150150"/>
            <a:ext cx="2262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)</a:t>
            </a:r>
            <a:endParaRPr sz="1800"/>
          </a:p>
        </p:txBody>
      </p:sp>
      <p:sp>
        <p:nvSpPr>
          <p:cNvPr id="1181" name="Google Shape;1181;p90"/>
          <p:cNvSpPr txBox="1"/>
          <p:nvPr>
            <p:ph idx="1" type="body"/>
          </p:nvPr>
        </p:nvSpPr>
        <p:spPr>
          <a:xfrm>
            <a:off x="2011775" y="4138050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      )</a:t>
            </a:r>
            <a:endParaRPr sz="1800"/>
          </a:p>
        </p:txBody>
      </p:sp>
      <p:sp>
        <p:nvSpPr>
          <p:cNvPr id="1182" name="Google Shape;1182;p90"/>
          <p:cNvSpPr txBox="1"/>
          <p:nvPr>
            <p:ph idx="1" type="body"/>
          </p:nvPr>
        </p:nvSpPr>
        <p:spPr>
          <a:xfrm>
            <a:off x="3260463" y="4138050"/>
            <a:ext cx="1181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      ,      )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graphicFrame>
        <p:nvGraphicFramePr>
          <p:cNvPr id="1188" name="Google Shape;1188;p91"/>
          <p:cNvGraphicFramePr/>
          <p:nvPr/>
        </p:nvGraphicFramePr>
        <p:xfrm>
          <a:off x="753245" y="13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{961173F7-247D-47EE-B59C-CC0177C06C75}</a:tableStyleId>
              </a:tblPr>
              <a:tblGrid>
                <a:gridCol w="1482500"/>
                <a:gridCol w="2071200"/>
                <a:gridCol w="2084375"/>
                <a:gridCol w="2145600"/>
              </a:tblGrid>
              <a:tr h="72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coordinate is positive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coordinate is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coordinate is a non-integer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(15,10)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-5,-10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(7.5, 2.5)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y=x-5\end{array}&quot;&gt;&lt;mtable columnalign=&quot;left&quot; columnspacing=&quot;1em&quot; rowspacing=&quot;4pt&quot;&gt;&lt;mtr&gt;&lt;mtd&gt;&lt;mi&gt;y&lt;/mi&gt;&lt;mo&gt;=&lt;/mo&gt;&lt;mi&gt;x&lt;/mi&gt;&lt;mo&gt;−&lt;/mo&gt;&lt;mn&gt;5&lt;/mn&gt;&lt;/mtd&gt;&lt;/mtr&gt;&lt;/mtable&gt;&lt;/math&gt;" id="1189" name="Google Shape;1189;p91" title="1 lines Line 1: y equals x minu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544" y="2193275"/>
            <a:ext cx="1072250" cy="249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+10\end{array}&quot;&gt;&lt;mtable columnalign=&quot;left&quot; columnspacing=&quot;1em&quot; rowspacing=&quot;4pt&quot;&gt;&lt;mtr&gt;&lt;mtd&gt;&lt;mi&gt;y&lt;/mi&gt;&lt;mo&gt;=&lt;/mo&gt;&lt;mi&gt;x&lt;/mi&gt;&lt;mo&gt;+&lt;/mo&gt;&lt;mn&gt;10&lt;/mn&gt;&lt;/mtd&gt;&lt;/mtr&gt;&lt;/mtable&gt;&lt;/math&gt;" id="1190" name="Google Shape;1190;p91" title="1 lines Line 1: y equals x plus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544" y="2667226"/>
            <a:ext cx="1227719" cy="246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5x\end{array}&quot;&gt;&lt;mtable columnalign=&quot;left&quot; columnspacing=&quot;1em&quot; rowspacing=&quot;4pt&quot;&gt;&lt;mtr&gt;&lt;mtd&gt;&lt;mi&gt;y&lt;/mi&gt;&lt;mo&gt;=&lt;/mo&gt;&lt;mn&gt;5&lt;/mn&gt;&lt;mi&gt;x&lt;/mi&gt;&lt;/mtd&gt;&lt;/mtr&gt;&lt;/mtable&gt;&lt;/math&gt;" id="1191" name="Google Shape;1191;p91" title="1 lines Line 1: y equals 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544" y="3076161"/>
            <a:ext cx="740747" cy="252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-3x\end{array}&quot;&gt;&lt;mtable columnalign=&quot;left&quot; columnspacing=&quot;1em&quot; rowspacing=&quot;4pt&quot;&gt;&lt;mtr&gt;&lt;mtd&gt;&lt;mi&gt;y&lt;/mi&gt;&lt;mo&gt;=&lt;/mo&gt;&lt;mo&gt;−&lt;/mo&gt;&lt;mn&gt;3&lt;/mn&gt;&lt;mi&gt;x&lt;/mi&gt;&lt;/mtd&gt;&lt;/mtr&gt;&lt;/mtable&gt;&lt;/math&gt;" id="1192" name="Google Shape;1192;p91" title="1 lines Line 1: y equals negative 3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8544" y="3554541"/>
            <a:ext cx="946510" cy="23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\frac{x}{3}\end{array}&quot;&gt;&lt;mtable columnalign=&quot;left&quot; columnspacing=&quot;1em&quot; rowspacing=&quot;4pt&quot;&gt;&lt;mtr&gt;&lt;mtd&gt;&lt;mi&gt;y&lt;/mi&gt;&lt;mo&gt;=&lt;/mo&gt;&lt;mfrac&gt;&lt;mi&gt;x&lt;/mi&gt;&lt;mn&gt;3&lt;/mn&gt;&lt;/mfrac&gt;&lt;/mtd&gt;&lt;/mtr&gt;&lt;/mtable&gt;&lt;/math&gt;" id="1193" name="Google Shape;1193;p91" title="1 lines Line 1: y equals x over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544" y="4400321"/>
            <a:ext cx="679018" cy="352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y=x-0.02\end{array}&quot;&gt;&lt;mtable columnalign=&quot;left&quot; columnspacing=&quot;1em&quot; rowspacing=&quot;4pt&quot;&gt;&lt;mtr&gt;&lt;mtd&gt;&lt;mi&gt;y&lt;/mi&gt;&lt;mo&gt;=&lt;/mo&gt;&lt;mi&gt;x&lt;/mi&gt;&lt;mo&gt;−&lt;/mo&gt;&lt;mn&gt;0.02&lt;/mn&gt;&lt;/mtd&gt;&lt;/mtr&gt;&lt;/mtable&gt;&lt;/math&gt;" id="1194" name="Google Shape;1194;p91" title="1 lines Line 1: y equals x minus 0.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544" y="3962308"/>
            <a:ext cx="1447200" cy="2479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1"/>
          <p:cNvSpPr txBox="1"/>
          <p:nvPr/>
        </p:nvSpPr>
        <p:spPr>
          <a:xfrm>
            <a:off x="2354625" y="255765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6" name="Google Shape;1196;p91"/>
          <p:cNvSpPr txBox="1"/>
          <p:nvPr/>
        </p:nvSpPr>
        <p:spPr>
          <a:xfrm>
            <a:off x="4389225" y="255765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-10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91"/>
          <p:cNvSpPr txBox="1"/>
          <p:nvPr/>
        </p:nvSpPr>
        <p:spPr>
          <a:xfrm>
            <a:off x="6423825" y="255765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(0.2, 10.2)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8" name="Google Shape;1198;p91"/>
          <p:cNvSpPr txBox="1"/>
          <p:nvPr/>
        </p:nvSpPr>
        <p:spPr>
          <a:xfrm>
            <a:off x="2354625" y="301965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(2, 10)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91"/>
          <p:cNvSpPr txBox="1"/>
          <p:nvPr/>
        </p:nvSpPr>
        <p:spPr>
          <a:xfrm>
            <a:off x="4389225" y="301965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-50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91"/>
          <p:cNvSpPr txBox="1"/>
          <p:nvPr/>
        </p:nvSpPr>
        <p:spPr>
          <a:xfrm>
            <a:off x="6423825" y="301965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(0.1, 0.5)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91"/>
          <p:cNvSpPr txBox="1"/>
          <p:nvPr/>
        </p:nvSpPr>
        <p:spPr>
          <a:xfrm>
            <a:off x="2354625" y="3451713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(-3, 9)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91"/>
          <p:cNvSpPr txBox="1"/>
          <p:nvPr/>
        </p:nvSpPr>
        <p:spPr>
          <a:xfrm>
            <a:off x="4389225" y="345170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(2, -6)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3" name="Google Shape;1203;p91"/>
          <p:cNvSpPr txBox="1"/>
          <p:nvPr/>
        </p:nvSpPr>
        <p:spPr>
          <a:xfrm>
            <a:off x="6423825" y="3451700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(0.5, -1.5)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4" name="Google Shape;1204;p91"/>
          <p:cNvSpPr txBox="1"/>
          <p:nvPr/>
        </p:nvSpPr>
        <p:spPr>
          <a:xfrm>
            <a:off x="2354625" y="3893788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(6,5.98)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91"/>
          <p:cNvSpPr txBox="1"/>
          <p:nvPr/>
        </p:nvSpPr>
        <p:spPr>
          <a:xfrm>
            <a:off x="4389225" y="3893788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(-5, -5.02)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6" name="Google Shape;1206;p91"/>
          <p:cNvSpPr txBox="1"/>
          <p:nvPr/>
        </p:nvSpPr>
        <p:spPr>
          <a:xfrm>
            <a:off x="6423825" y="3893788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(0.52, 0.5)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91"/>
          <p:cNvSpPr txBox="1"/>
          <p:nvPr/>
        </p:nvSpPr>
        <p:spPr>
          <a:xfrm>
            <a:off x="2354625" y="4335863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(9, 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91"/>
          <p:cNvSpPr txBox="1"/>
          <p:nvPr/>
        </p:nvSpPr>
        <p:spPr>
          <a:xfrm>
            <a:off x="4389225" y="4345738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(-12, -4)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9" name="Google Shape;1209;p91"/>
          <p:cNvSpPr txBox="1"/>
          <p:nvPr/>
        </p:nvSpPr>
        <p:spPr>
          <a:xfrm>
            <a:off x="6423825" y="4345738"/>
            <a:ext cx="2034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(3.9, 1.3)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10" name="Google Shape;1210;p91"/>
          <p:cNvGraphicFramePr/>
          <p:nvPr/>
        </p:nvGraphicFramePr>
        <p:xfrm>
          <a:off x="247800" y="209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{961173F7-247D-47EE-B59C-CC0177C06C75}</a:tableStyleId>
              </a:tblPr>
              <a:tblGrid>
                <a:gridCol w="505450"/>
              </a:tblGrid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1" name="Google Shape;1211;p91"/>
          <p:cNvSpPr txBox="1"/>
          <p:nvPr>
            <p:ph idx="1" type="body"/>
          </p:nvPr>
        </p:nvSpPr>
        <p:spPr>
          <a:xfrm>
            <a:off x="324000" y="688825"/>
            <a:ext cx="8496000" cy="5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Fill in the table with a different coordinate for the equation that satisfies each condition. The first one has been done for you.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rule from a set of coordinates</a:t>
            </a:r>
            <a:endParaRPr/>
          </a:p>
        </p:txBody>
      </p:sp>
      <p:sp>
        <p:nvSpPr>
          <p:cNvPr id="1217" name="Google Shape;1217;p9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Generating coordinates from a rule</a:t>
            </a:r>
            <a:endParaRPr/>
          </a:p>
        </p:txBody>
      </p:sp>
      <p:sp>
        <p:nvSpPr>
          <p:cNvPr id="1218" name="Google Shape;1218;p9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19" name="Google Shape;1219;p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</a:t>
            </a:r>
            <a:endParaRPr/>
          </a:p>
        </p:txBody>
      </p:sp>
      <p:pic>
        <p:nvPicPr>
          <p:cNvPr id="1220" name="Google Shape;122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64" y="369447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26" name="Google Shape;1226;p93"/>
          <p:cNvSpPr txBox="1"/>
          <p:nvPr>
            <p:ph idx="1" type="body"/>
          </p:nvPr>
        </p:nvSpPr>
        <p:spPr>
          <a:xfrm>
            <a:off x="324000" y="710000"/>
            <a:ext cx="8237700" cy="8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is plotting the coordinates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(7,1) </a:t>
            </a:r>
            <a:r>
              <a:rPr lang="en-GB"/>
              <a:t>    </a:t>
            </a:r>
            <a:r>
              <a:rPr lang="en-GB"/>
              <a:t>(7,-2)</a:t>
            </a:r>
            <a:r>
              <a:rPr lang="en-GB"/>
              <a:t>     (7,0.2)     (7,-3.5)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93"/>
          <p:cNvSpPr txBox="1"/>
          <p:nvPr>
            <p:ph idx="1" type="body"/>
          </p:nvPr>
        </p:nvSpPr>
        <p:spPr>
          <a:xfrm>
            <a:off x="324000" y="168675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you notice about these coordinates?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93"/>
          <p:cNvSpPr txBox="1"/>
          <p:nvPr>
            <p:ph idx="1" type="body"/>
          </p:nvPr>
        </p:nvSpPr>
        <p:spPr>
          <a:xfrm>
            <a:off x="324000" y="248775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could we write an equation for this rule?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93"/>
          <p:cNvSpPr txBox="1"/>
          <p:nvPr>
            <p:ph idx="1" type="body"/>
          </p:nvPr>
        </p:nvSpPr>
        <p:spPr>
          <a:xfrm>
            <a:off x="324000" y="3288750"/>
            <a:ext cx="45459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would these coordinates look like if we plotted them?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93"/>
          <p:cNvSpPr txBox="1"/>
          <p:nvPr>
            <p:ph idx="1" type="body"/>
          </p:nvPr>
        </p:nvSpPr>
        <p:spPr>
          <a:xfrm>
            <a:off x="324000" y="206325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is always 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x=7\end{array}&quot;&gt;&lt;mtable columnalign=&quot;left&quot; columnspacing=&quot;1em&quot; rowspacing=&quot;4pt&quot;&gt;&lt;mtr&gt;&lt;mtd&gt;&lt;mi&gt;x&lt;/mi&gt;&lt;mo&gt;=&lt;/mo&gt;&lt;mn&gt;7&lt;/mn&gt;&lt;/mtd&gt;&lt;/mtr&gt;&lt;/mtable&gt;&lt;/math&gt;" id="1231" name="Google Shape;1231;p93" title="1 lines Line 1: x equal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912238"/>
            <a:ext cx="705600" cy="219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7-10-2023/5bfb87e0-a605-4a7c-bc52-f3e8756449ca&quot; data-equatio-type=&quot;desmos&quot;&gt;&lt;mglyph src=&quot;https://equatio-api.texthelp.com/desmos/get/07-10-2023/5bfb87e0-a605-4a7c-bc52-f3e8756449ca&quot; alt=&quot;Equatio Desmos Graph&quot;/&gt;&lt;/math&gt;" id="1232" name="Google Shape;1232;p93" title="Equatio Desmos Graph"/>
          <p:cNvPicPr preferRelativeResize="0"/>
          <p:nvPr/>
        </p:nvPicPr>
        <p:blipFill rotWithShape="1">
          <a:blip r:embed="rId4">
            <a:alphaModFix/>
          </a:blip>
          <a:srcRect b="18332" l="10195" r="26163" t="21123"/>
          <a:stretch/>
        </p:blipFill>
        <p:spPr>
          <a:xfrm>
            <a:off x="5330345" y="2847200"/>
            <a:ext cx="2765430" cy="19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93"/>
          <p:cNvSpPr/>
          <p:nvPr/>
        </p:nvSpPr>
        <p:spPr>
          <a:xfrm>
            <a:off x="5326700" y="2839500"/>
            <a:ext cx="2776200" cy="1980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39" name="Google Shape;1239;p94"/>
          <p:cNvSpPr txBox="1"/>
          <p:nvPr>
            <p:ph idx="1" type="body"/>
          </p:nvPr>
        </p:nvSpPr>
        <p:spPr>
          <a:xfrm>
            <a:off x="324000" y="710000"/>
            <a:ext cx="84060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Coordinates that follow a rule will form a pattern when plotted.</a:t>
            </a:r>
            <a:r>
              <a:rPr lang="en-GB" sz="2000"/>
              <a:t>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40" name="Google Shape;1240;p94"/>
          <p:cNvSpPr txBox="1"/>
          <p:nvPr>
            <p:ph idx="1" type="body"/>
          </p:nvPr>
        </p:nvSpPr>
        <p:spPr>
          <a:xfrm>
            <a:off x="324000" y="1312275"/>
            <a:ext cx="8237700" cy="9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will the coordinates below look like when plotted?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(-2,5)   (0,5)   (3,5)   (6,5)    (7.002, 5)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4"/>
          <p:cNvSpPr txBox="1"/>
          <p:nvPr>
            <p:ph idx="1" type="body"/>
          </p:nvPr>
        </p:nvSpPr>
        <p:spPr>
          <a:xfrm>
            <a:off x="324000" y="23595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could we write an equation for the rule this time?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42" name="Google Shape;1242;p94"/>
          <p:cNvSpPr txBox="1"/>
          <p:nvPr>
            <p:ph idx="1" type="body"/>
          </p:nvPr>
        </p:nvSpPr>
        <p:spPr>
          <a:xfrm>
            <a:off x="324000" y="306975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is always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5&quot;&gt;&lt;mi&gt;y&lt;/mi&gt;&lt;mo&gt;=&lt;/mo&gt;&lt;mn&gt;5&lt;/mn&gt;&lt;/math&gt;" id="1243" name="Google Shape;1243;p94" title="y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674325"/>
            <a:ext cx="690600" cy="27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7-10-2023/7e9dcd56-5aba-42f3-8675-d0d69fe53bd2&quot; data-equatio-type=&quot;desmos&quot;&gt;&lt;mglyph src=&quot;https://equatio-api.texthelp.com/desmos/get/07-10-2023/7e9dcd56-5aba-42f3-8675-d0d69fe53bd2&quot; alt=&quot;Equatio Desmos Graph&quot;/&gt;&lt;/math&gt;" id="1244" name="Google Shape;1244;p94" title="Equatio Desmos Graph"/>
          <p:cNvPicPr preferRelativeResize="0"/>
          <p:nvPr/>
        </p:nvPicPr>
        <p:blipFill rotWithShape="1">
          <a:blip r:embed="rId4">
            <a:alphaModFix/>
          </a:blip>
          <a:srcRect b="16794" l="0" r="27351" t="18559"/>
          <a:stretch/>
        </p:blipFill>
        <p:spPr>
          <a:xfrm>
            <a:off x="5190375" y="2794050"/>
            <a:ext cx="2954674" cy="19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94"/>
          <p:cNvSpPr/>
          <p:nvPr/>
        </p:nvSpPr>
        <p:spPr>
          <a:xfrm>
            <a:off x="5190375" y="2794050"/>
            <a:ext cx="2954700" cy="1971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51" name="Google Shape;1251;p95"/>
          <p:cNvSpPr txBox="1"/>
          <p:nvPr>
            <p:ph idx="1" type="body"/>
          </p:nvPr>
        </p:nvSpPr>
        <p:spPr>
          <a:xfrm>
            <a:off x="324000" y="7593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Match the rule and the coordinates with the correct graph.</a:t>
            </a:r>
            <a:r>
              <a:rPr lang="en-GB" sz="2000"/>
              <a:t> 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x=-1\ \ \ \left(-1,2.5\right)\ \left(-1,1\right)&quot;&gt;&lt;mi&gt;x&lt;/mi&gt;&lt;mo&gt;=&lt;/mo&gt;&lt;mo&gt;−&lt;/mo&gt;&lt;mn&gt;1&lt;/mn&gt;&lt;mtext&gt;&lt;/mtext&gt;&lt;mtext&gt;&lt;/mtext&gt;&lt;mtext&gt;&lt;/mtext&gt;&lt;mrow data-mjx-texclass=&quot;INNER&quot;&gt;&lt;mo data-mjx-texclass=&quot;OPEN&quot;&gt;(&lt;/mo&gt;&lt;mo&gt;−&lt;/mo&gt;&lt;mn&gt;1&lt;/mn&gt;&lt;mo&gt;,&lt;/mo&gt;&lt;mn&gt;2.5&lt;/mn&gt;&lt;mo data-mjx-texclass=&quot;CLOSE&quot;&gt;)&lt;/mo&gt;&lt;/mrow&gt;&lt;mtext&gt;&lt;/mtext&gt;&lt;mrow data-mjx-texclass=&quot;INNER&quot;&gt;&lt;mo data-mjx-texclass=&quot;OPEN&quot;&gt;(&lt;/mo&gt;&lt;mo&gt;−&lt;/mo&gt;&lt;mn&gt;1&lt;/mn&gt;&lt;mo&gt;,&lt;/mo&gt;&lt;mn&gt;1&lt;/mn&gt;&lt;mo data-mjx-texclass=&quot;CLOSE&quot;&gt;)&lt;/mo&gt;&lt;/mrow&gt;&lt;/math&gt;" id="1252" name="Google Shape;1252;p95" title="x equals negative 1 open paren negative 1 comma 2.5 close paren open paren negative 1 comma 1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19" y="1680626"/>
            <a:ext cx="3476631" cy="28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.5\ \ \ \left(1,-2.5\right)\ \left(3,-2.5\right)&quot;&gt;&lt;mi&gt;y&lt;/mi&gt;&lt;mo&gt;=&lt;/mo&gt;&lt;mo&gt;−&lt;/mo&gt;&lt;mn&gt;2.5&lt;/mn&gt;&lt;mtext&gt;&lt;/mtext&gt;&lt;mtext&gt;&lt;/mtext&gt;&lt;mtext&gt;&lt;/mtext&gt;&lt;mrow data-mjx-texclass=&quot;INNER&quot;&gt;&lt;mo data-mjx-texclass=&quot;OPEN&quot;&gt;(&lt;/mo&gt;&lt;mn&gt;1&lt;/mn&gt;&lt;mo&gt;,&lt;/mo&gt;&lt;mo&gt;−&lt;/mo&gt;&lt;mn&gt;2.5&lt;/mn&gt;&lt;mo data-mjx-texclass=&quot;CLOSE&quot;&gt;)&lt;/mo&gt;&lt;/mrow&gt;&lt;mtext&gt;&lt;/mtext&gt;&lt;mrow data-mjx-texclass=&quot;INNER&quot;&gt;&lt;mo data-mjx-texclass=&quot;OPEN&quot;&gt;(&lt;/mo&gt;&lt;mn&gt;3&lt;/mn&gt;&lt;mo&gt;,&lt;/mo&gt;&lt;mo&gt;−&lt;/mo&gt;&lt;mn&gt;2.5&lt;/mn&gt;&lt;mo data-mjx-texclass=&quot;CLOSE&quot;&gt;)&lt;/mo&gt;&lt;/mrow&gt;&lt;/math&gt;" id="1253" name="Google Shape;1253;p95" title="y equals negative 2.5 open paren 1 comma negative 2.5 close paren open paren 3 comma negative 2.5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20" y="3202921"/>
            <a:ext cx="3949179" cy="281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7-10-2023/8c157c06-ee1e-4932-9556-f445fd71822d&quot; data-equatio-type=&quot;desmos&quot;&gt;&lt;mglyph src=&quot;https://equatio-api.texthelp.com/desmos/get/07-10-2023/8c157c06-ee1e-4932-9556-f445fd71822d&quot; alt=&quot;Equatio Desmos Graph&quot;/&gt;&lt;/math&gt;" id="1254" name="Google Shape;1254;p95" title="Equatio Desmos Graph"/>
          <p:cNvPicPr preferRelativeResize="0"/>
          <p:nvPr/>
        </p:nvPicPr>
        <p:blipFill rotWithShape="1">
          <a:blip r:embed="rId5">
            <a:alphaModFix/>
          </a:blip>
          <a:srcRect b="25249" l="21522" r="43378" t="29156"/>
          <a:stretch/>
        </p:blipFill>
        <p:spPr>
          <a:xfrm>
            <a:off x="6970325" y="3131189"/>
            <a:ext cx="1392600" cy="1493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2.5\ \ \ \left(2.5,3\right)\ \left(2.5,-1\right)&quot;&gt;&lt;mi&gt;x&lt;/mi&gt;&lt;mo&gt;=&lt;/mo&gt;&lt;mn&gt;2.5&lt;/mn&gt;&lt;mtext&gt;&lt;/mtext&gt;&lt;mtext&gt;&lt;/mtext&gt;&lt;mtext&gt;&lt;/mtext&gt;&lt;mrow data-mjx-texclass=&quot;INNER&quot;&gt;&lt;mo data-mjx-texclass=&quot;OPEN&quot;&gt;(&lt;/mo&gt;&lt;mn&gt;2.5&lt;/mn&gt;&lt;mo&gt;,&lt;/mo&gt;&lt;mn&gt;3&lt;/mn&gt;&lt;mo data-mjx-texclass=&quot;CLOSE&quot;&gt;)&lt;/mo&gt;&lt;/mrow&gt;&lt;mtext&gt;&lt;/mtext&gt;&lt;mrow data-mjx-texclass=&quot;INNER&quot;&gt;&lt;mo data-mjx-texclass=&quot;OPEN&quot;&gt;(&lt;/mo&gt;&lt;mn&gt;2.5&lt;/mn&gt;&lt;mo&gt;,&lt;/mo&gt;&lt;mo&gt;−&lt;/mo&gt;&lt;mn&gt;1&lt;/mn&gt;&lt;mo data-mjx-texclass=&quot;CLOSE&quot;&gt;)&lt;/mo&gt;&lt;/mrow&gt;&lt;/math&gt;" id="1255" name="Google Shape;1255;p95" title="x equals 2.5 open paren 2.5 comma 3 close paren open paren 2.5 comma negative 1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919" y="2381405"/>
            <a:ext cx="3502639" cy="28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1\ \ \ \left(-2,-1\right)\ \left(2.8,-1\right)&quot;&gt;&lt;mi&gt;y&lt;/mi&gt;&lt;mo&gt;=&lt;/mo&gt;&lt;mo&gt;−&lt;/mo&gt;&lt;mn&gt;1&lt;/mn&gt;&lt;mtext&gt;&lt;/mtext&gt;&lt;mtext&gt;&lt;/mtext&gt;&lt;mtext&gt;&lt;/mtext&gt;&lt;mrow data-mjx-texclass=&quot;INNER&quot;&gt;&lt;mo data-mjx-texclass=&quot;OPEN&quot;&gt;(&lt;/mo&gt;&lt;mo&gt;−&lt;/mo&gt;&lt;mn&gt;2&lt;/mn&gt;&lt;mo&gt;,&lt;/mo&gt;&lt;mo&gt;−&lt;/mo&gt;&lt;mn&gt;1&lt;/mn&gt;&lt;mo data-mjx-texclass=&quot;CLOSE&quot;&gt;)&lt;/mo&gt;&lt;/mrow&gt;&lt;mtext&gt;&lt;/mtext&gt;&lt;mrow data-mjx-texclass=&quot;INNER&quot;&gt;&lt;mo data-mjx-texclass=&quot;OPEN&quot;&gt;(&lt;/mo&gt;&lt;mn&gt;2.8&lt;/mn&gt;&lt;mo&gt;,&lt;/mo&gt;&lt;mo&gt;−&lt;/mo&gt;&lt;mn&gt;1&lt;/mn&gt;&lt;mo data-mjx-texclass=&quot;CLOSE&quot;&gt;)&lt;/mo&gt;&lt;/mrow&gt;&lt;/math&gt;" id="1256" name="Google Shape;1256;p95" title="y equals negative 1 open paren negative 2 comma negative 1 close paren open paren 2.8 comma negative 1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700" y="4007457"/>
            <a:ext cx="3661086" cy="28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7-10-2023/5ae4e7c6-469a-4c52-b719-889fe3caaa38&quot; data-equatio-type=&quot;desmos&quot;&gt;&lt;mglyph src=&quot;https://equatio-api.texthelp.com/desmos/get/07-10-2023/5ae4e7c6-469a-4c52-b719-889fe3caaa38&quot; alt=&quot;Equatio Desmos Graph&quot;/&gt;&lt;/math&gt;" id="1257" name="Google Shape;1257;p95" title="Equatio Desmos Graph"/>
          <p:cNvPicPr preferRelativeResize="0"/>
          <p:nvPr/>
        </p:nvPicPr>
        <p:blipFill rotWithShape="1">
          <a:blip r:embed="rId8">
            <a:alphaModFix/>
          </a:blip>
          <a:srcRect b="24376" l="25863" r="39825" t="30507"/>
          <a:stretch/>
        </p:blipFill>
        <p:spPr>
          <a:xfrm>
            <a:off x="5016901" y="1187575"/>
            <a:ext cx="1392600" cy="15124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7-10-2023/93485cb7-4348-4cf0-9be4-c13f733588f1&quot; data-equatio-type=&quot;desmos&quot;&gt;&lt;mglyph src=&quot;https://equatio-api.texthelp.com/desmos/get/07-10-2023/93485cb7-4348-4cf0-9be4-c13f733588f1&quot; alt=&quot;Equatio Desmos Graph&quot;/&gt;&lt;/math&gt;" id="1258" name="Google Shape;1258;p95" title="Equatio Desmos Graph"/>
          <p:cNvPicPr preferRelativeResize="0"/>
          <p:nvPr/>
        </p:nvPicPr>
        <p:blipFill rotWithShape="1">
          <a:blip r:embed="rId9">
            <a:alphaModFix/>
          </a:blip>
          <a:srcRect b="29188" l="26429" r="40537" t="26579"/>
          <a:stretch/>
        </p:blipFill>
        <p:spPr>
          <a:xfrm>
            <a:off x="6970325" y="1187575"/>
            <a:ext cx="1378800" cy="15256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7-10-2023/18271ad9-ad42-4b8e-b09c-0c1af128f50c&quot; data-equatio-type=&quot;desmos&quot;&gt;&lt;mglyph src=&quot;https://equatio-api.texthelp.com/desmos/get/07-10-2023/18271ad9-ad42-4b8e-b09c-0c1af128f50c&quot; alt=&quot;Equatio Desmos Graph&quot;/&gt;&lt;/math&gt;" id="1259" name="Google Shape;1259;p95" title="Equatio Desmos Graph"/>
          <p:cNvPicPr preferRelativeResize="0"/>
          <p:nvPr/>
        </p:nvPicPr>
        <p:blipFill rotWithShape="1">
          <a:blip r:embed="rId10">
            <a:alphaModFix/>
          </a:blip>
          <a:srcRect b="29037" l="24473" r="42234" t="26194"/>
          <a:stretch/>
        </p:blipFill>
        <p:spPr>
          <a:xfrm>
            <a:off x="4998446" y="3110925"/>
            <a:ext cx="1367600" cy="15170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0" name="Google Shape;1260;p95"/>
          <p:cNvCxnSpPr>
            <a:endCxn id="1254" idx="1"/>
          </p:cNvCxnSpPr>
          <p:nvPr/>
        </p:nvCxnSpPr>
        <p:spPr>
          <a:xfrm>
            <a:off x="4046225" y="1898453"/>
            <a:ext cx="2924100" cy="1979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95"/>
          <p:cNvCxnSpPr>
            <a:endCxn id="1257" idx="1"/>
          </p:cNvCxnSpPr>
          <p:nvPr/>
        </p:nvCxnSpPr>
        <p:spPr>
          <a:xfrm flipH="1" rot="10800000">
            <a:off x="4191001" y="1943783"/>
            <a:ext cx="825900" cy="586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95"/>
          <p:cNvCxnSpPr>
            <a:endCxn id="1258" idx="1"/>
          </p:cNvCxnSpPr>
          <p:nvPr/>
        </p:nvCxnSpPr>
        <p:spPr>
          <a:xfrm flipH="1" rot="10800000">
            <a:off x="4571825" y="1950392"/>
            <a:ext cx="2398500" cy="1342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95"/>
          <p:cNvCxnSpPr>
            <a:endCxn id="1259" idx="1"/>
          </p:cNvCxnSpPr>
          <p:nvPr/>
        </p:nvCxnSpPr>
        <p:spPr>
          <a:xfrm flipH="1" rot="10800000">
            <a:off x="4276346" y="3869439"/>
            <a:ext cx="722100" cy="220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95"/>
          <p:cNvSpPr/>
          <p:nvPr/>
        </p:nvSpPr>
        <p:spPr>
          <a:xfrm>
            <a:off x="5009625" y="1183700"/>
            <a:ext cx="1392600" cy="151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5"/>
          <p:cNvSpPr/>
          <p:nvPr/>
        </p:nvSpPr>
        <p:spPr>
          <a:xfrm>
            <a:off x="6970325" y="1185688"/>
            <a:ext cx="1393200" cy="1515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5"/>
          <p:cNvSpPr/>
          <p:nvPr/>
        </p:nvSpPr>
        <p:spPr>
          <a:xfrm>
            <a:off x="4998446" y="3110925"/>
            <a:ext cx="1392600" cy="151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5"/>
          <p:cNvSpPr/>
          <p:nvPr/>
        </p:nvSpPr>
        <p:spPr>
          <a:xfrm>
            <a:off x="6970325" y="3120054"/>
            <a:ext cx="1392600" cy="151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96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 flipH="1">
            <a:off x="5059425" y="2062123"/>
            <a:ext cx="2903475" cy="14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6"/>
          <p:cNvSpPr txBox="1"/>
          <p:nvPr>
            <p:ph idx="1" type="body"/>
          </p:nvPr>
        </p:nvSpPr>
        <p:spPr>
          <a:xfrm>
            <a:off x="324000" y="759300"/>
            <a:ext cx="8237700" cy="8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Laura has found some coordinates that seem to </a:t>
            </a:r>
            <a:r>
              <a:rPr lang="en-GB" sz="2000"/>
              <a:t>follow</a:t>
            </a:r>
            <a:r>
              <a:rPr lang="en-GB" sz="2000"/>
              <a:t> a pattern: (1,1)  (2,2)  (3,3)  (4,4) </a:t>
            </a:r>
            <a:endParaRPr sz="2000"/>
          </a:p>
        </p:txBody>
      </p:sp>
      <p:sp>
        <p:nvSpPr>
          <p:cNvPr id="1274" name="Google Shape;127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pic>
        <p:nvPicPr>
          <p:cNvPr id="1275" name="Google Shape;127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24292" y="1801600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6390" y="2654870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96"/>
          <p:cNvSpPr txBox="1"/>
          <p:nvPr/>
        </p:nvSpPr>
        <p:spPr>
          <a:xfrm>
            <a:off x="83292" y="255557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Jacob: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6"/>
          <p:cNvSpPr txBox="1"/>
          <p:nvPr/>
        </p:nvSpPr>
        <p:spPr>
          <a:xfrm>
            <a:off x="7643646" y="341938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Sofia: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9" name="Google Shape;1279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100" y="3580650"/>
            <a:ext cx="632950" cy="79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6"/>
          <p:cNvSpPr txBox="1"/>
          <p:nvPr/>
        </p:nvSpPr>
        <p:spPr>
          <a:xfrm>
            <a:off x="324000" y="4465325"/>
            <a:ext cx="1007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Jun: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1" name="Google Shape;1281;p96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363725" y="1554662"/>
            <a:ext cx="2903475" cy="12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6"/>
          <p:cNvSpPr txBox="1"/>
          <p:nvPr>
            <p:ph idx="1" type="body"/>
          </p:nvPr>
        </p:nvSpPr>
        <p:spPr>
          <a:xfrm>
            <a:off x="1580175" y="1649200"/>
            <a:ext cx="2626200" cy="8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think the rule is: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83" name="Google Shape;1283;p96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96050" y="3285737"/>
            <a:ext cx="2903475" cy="12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96"/>
          <p:cNvSpPr txBox="1"/>
          <p:nvPr>
            <p:ph idx="1" type="body"/>
          </p:nvPr>
        </p:nvSpPr>
        <p:spPr>
          <a:xfrm>
            <a:off x="1412500" y="3380275"/>
            <a:ext cx="2626200" cy="8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 would write the rule as: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5" name="Google Shape;1285;p96"/>
          <p:cNvSpPr txBox="1"/>
          <p:nvPr>
            <p:ph idx="1" type="body"/>
          </p:nvPr>
        </p:nvSpPr>
        <p:spPr>
          <a:xfrm>
            <a:off x="5128250" y="2160000"/>
            <a:ext cx="2557500" cy="85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rule can be written as: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x+0&quot;&gt;&lt;mi&gt;y&lt;/mi&gt;&lt;mo&gt;=&lt;/mo&gt;&lt;mi&gt;x&lt;/mi&gt;&lt;mo&gt;+&lt;/mo&gt;&lt;mn&gt;0&lt;/mn&gt;&lt;/math&gt;" id="1286" name="Google Shape;1286;p96" title="y equals x plus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7263" y="2020500"/>
            <a:ext cx="1236400" cy="27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\times1&quot;&gt;&lt;mi&gt;y&lt;/mi&gt;&lt;mo&gt;=&lt;/mo&gt;&lt;mi&gt;x&lt;/mi&gt;&lt;mo&gt;×&lt;/mo&gt;&lt;mn&gt;1&lt;/mn&gt;&lt;/math&gt;" id="1287" name="Google Shape;1287;p96" title="y equals x times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26588" y="3836912"/>
            <a:ext cx="1198030" cy="27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x}{1}&quot;&gt;&lt;mi&gt;y&lt;/mi&gt;&lt;mo&gt;=&lt;/mo&gt;&lt;mfrac&gt;&lt;mi&gt;x&lt;/mi&gt;&lt;mn&gt;1&lt;/mn&gt;&lt;/mfrac&gt;&lt;/math&gt;" id="1288" name="Google Shape;1288;p96" title="y equals x over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07388" y="2559165"/>
            <a:ext cx="799200" cy="578731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96"/>
          <p:cNvSpPr txBox="1"/>
          <p:nvPr>
            <p:ph idx="1" type="body"/>
          </p:nvPr>
        </p:nvSpPr>
        <p:spPr>
          <a:xfrm>
            <a:off x="4824000" y="4411800"/>
            <a:ext cx="30321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is correct?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97"/>
          <p:cNvSpPr txBox="1"/>
          <p:nvPr>
            <p:ph idx="1" type="body"/>
          </p:nvPr>
        </p:nvSpPr>
        <p:spPr>
          <a:xfrm>
            <a:off x="324000" y="759300"/>
            <a:ext cx="8237700" cy="8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(1,1)  (2,2)  (3,3)  (4,4) </a:t>
            </a:r>
            <a:endParaRPr sz="2000"/>
          </a:p>
        </p:txBody>
      </p:sp>
      <p:sp>
        <p:nvSpPr>
          <p:cNvPr id="1295" name="Google Shape;129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grpSp>
        <p:nvGrpSpPr>
          <p:cNvPr id="1296" name="Google Shape;1296;p97"/>
          <p:cNvGrpSpPr/>
          <p:nvPr/>
        </p:nvGrpSpPr>
        <p:grpSpPr>
          <a:xfrm>
            <a:off x="83292" y="1638482"/>
            <a:ext cx="4194671" cy="1586816"/>
            <a:chOff x="83292" y="1638482"/>
            <a:chExt cx="4194671" cy="1586816"/>
          </a:xfrm>
        </p:grpSpPr>
        <p:pic>
          <p:nvPicPr>
            <p:cNvPr id="1297" name="Google Shape;1297;p9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1374488" y="1638482"/>
              <a:ext cx="2903475" cy="1210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98" name="Google Shape;1298;p97"/>
            <p:cNvGrpSpPr/>
            <p:nvPr/>
          </p:nvGrpSpPr>
          <p:grpSpPr>
            <a:xfrm>
              <a:off x="83292" y="1885420"/>
              <a:ext cx="1657200" cy="1339878"/>
              <a:chOff x="83292" y="1885420"/>
              <a:chExt cx="1657200" cy="1339878"/>
            </a:xfrm>
          </p:grpSpPr>
          <p:pic>
            <p:nvPicPr>
              <p:cNvPr id="1299" name="Google Shape;1299;p9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flipH="1">
                <a:off x="524292" y="1885420"/>
                <a:ext cx="727175" cy="8957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0" name="Google Shape;1300;p97"/>
              <p:cNvSpPr txBox="1"/>
              <p:nvPr/>
            </p:nvSpPr>
            <p:spPr>
              <a:xfrm>
                <a:off x="83292" y="2639398"/>
                <a:ext cx="1657200" cy="5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>
                    <a:latin typeface="Lexend"/>
                    <a:ea typeface="Lexend"/>
                    <a:cs typeface="Lexend"/>
                    <a:sym typeface="Lexend"/>
                  </a:rPr>
                  <a:t>Jacob:</a:t>
                </a:r>
                <a:endParaRPr b="1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01" name="Google Shape;1301;p97"/>
            <p:cNvSpPr/>
            <p:nvPr/>
          </p:nvSpPr>
          <p:spPr>
            <a:xfrm>
              <a:off x="1584863" y="1781149"/>
              <a:ext cx="26262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think the rule is: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y=x+0&quot;&gt;&lt;mi&gt;y&lt;/mi&gt;&lt;mo&gt;=&lt;/mo&gt;&lt;mi&gt;x&lt;/mi&gt;&lt;mo&gt;+&lt;/mo&gt;&lt;mn&gt;0&lt;/mn&gt;&lt;/math&gt;" id="1302" name="Google Shape;1302;p97" title="y equals x plus 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08025" y="2127180"/>
              <a:ext cx="1236400" cy="27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3" name="Google Shape;1303;p97"/>
          <p:cNvGrpSpPr/>
          <p:nvPr/>
        </p:nvGrpSpPr>
        <p:grpSpPr>
          <a:xfrm>
            <a:off x="4824000" y="3239988"/>
            <a:ext cx="3374224" cy="1328700"/>
            <a:chOff x="4824000" y="3239988"/>
            <a:chExt cx="3374224" cy="1328700"/>
          </a:xfrm>
        </p:grpSpPr>
        <p:sp>
          <p:nvSpPr>
            <p:cNvPr id="1304" name="Google Shape;1304;p97"/>
            <p:cNvSpPr txBox="1"/>
            <p:nvPr/>
          </p:nvSpPr>
          <p:spPr>
            <a:xfrm>
              <a:off x="4824000" y="3239988"/>
              <a:ext cx="3000000" cy="13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All 3 answers are correct.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However all 3 can be written more simply as: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y=x&quot;&gt;&lt;mi&gt;y&lt;/mi&gt;&lt;mo&gt;=&lt;/mo&gt;&lt;mi&gt;x&lt;/mi&gt;&lt;/math&gt;" id="1305" name="Google Shape;1305;p97" title="y equals x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43024" y="4272818"/>
              <a:ext cx="655200" cy="191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6" name="Google Shape;1306;p97"/>
          <p:cNvGrpSpPr/>
          <p:nvPr/>
        </p:nvGrpSpPr>
        <p:grpSpPr>
          <a:xfrm>
            <a:off x="4983225" y="1452523"/>
            <a:ext cx="3992121" cy="1943165"/>
            <a:chOff x="4983225" y="1452523"/>
            <a:chExt cx="3992121" cy="1943165"/>
          </a:xfrm>
        </p:grpSpPr>
        <p:pic>
          <p:nvPicPr>
            <p:cNvPr id="1307" name="Google Shape;1307;p9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 flipH="1">
              <a:off x="4983225" y="1452523"/>
              <a:ext cx="2903475" cy="141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9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840190" y="2045270"/>
              <a:ext cx="807760" cy="8960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97"/>
            <p:cNvSpPr txBox="1"/>
            <p:nvPr/>
          </p:nvSpPr>
          <p:spPr>
            <a:xfrm>
              <a:off x="7567446" y="2809788"/>
              <a:ext cx="14079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Lexend"/>
                  <a:ea typeface="Lexend"/>
                  <a:cs typeface="Lexend"/>
                  <a:sym typeface="Lexend"/>
                </a:rPr>
                <a:t>Sofia: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y=\frac{x}{1}&quot;&gt;&lt;mi&gt;y&lt;/mi&gt;&lt;mo&gt;=&lt;/mo&gt;&lt;mfrac&gt;&lt;mi&gt;x&lt;/mi&gt;&lt;mn&gt;1&lt;/mn&gt;&lt;/mfrac&gt;&lt;/math&gt;" id="1310" name="Google Shape;1310;p97" title="y equals x over 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31188" y="1949565"/>
              <a:ext cx="799200" cy="5787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97"/>
            <p:cNvSpPr/>
            <p:nvPr/>
          </p:nvSpPr>
          <p:spPr>
            <a:xfrm>
              <a:off x="5048188" y="1619999"/>
              <a:ext cx="26262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 rule can be written as: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2" name="Google Shape;1312;p97"/>
          <p:cNvGrpSpPr/>
          <p:nvPr/>
        </p:nvGrpSpPr>
        <p:grpSpPr>
          <a:xfrm>
            <a:off x="324000" y="3285737"/>
            <a:ext cx="3775526" cy="1458587"/>
            <a:chOff x="324000" y="3285737"/>
            <a:chExt cx="3775526" cy="1458587"/>
          </a:xfrm>
        </p:grpSpPr>
        <p:pic>
          <p:nvPicPr>
            <p:cNvPr id="1313" name="Google Shape;1313;p9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48100" y="3580650"/>
              <a:ext cx="632950" cy="791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4" name="Google Shape;1314;p97"/>
            <p:cNvSpPr txBox="1"/>
            <p:nvPr/>
          </p:nvSpPr>
          <p:spPr>
            <a:xfrm>
              <a:off x="324000" y="4465325"/>
              <a:ext cx="1007400" cy="27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Lexend"/>
                  <a:ea typeface="Lexend"/>
                  <a:cs typeface="Lexend"/>
                  <a:sym typeface="Lexend"/>
                </a:rPr>
                <a:t>Jun: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315" name="Google Shape;1315;p9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1196050" y="3285737"/>
              <a:ext cx="2903475" cy="1210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y=x\times1&quot;&gt;&lt;mi&gt;y&lt;/mi&gt;&lt;mo&gt;=&lt;/mo&gt;&lt;mi&gt;x&lt;/mi&gt;&lt;mo&gt;×&lt;/mo&gt;&lt;mn&gt;1&lt;/mn&gt;&lt;/math&gt;" id="1316" name="Google Shape;1316;p97" title="y equals x times 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126588" y="3836912"/>
              <a:ext cx="1198030" cy="27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97"/>
            <p:cNvSpPr/>
            <p:nvPr/>
          </p:nvSpPr>
          <p:spPr>
            <a:xfrm>
              <a:off x="1412438" y="3395699"/>
              <a:ext cx="2626200" cy="8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would write the rule as: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8" name="Google Shape;1318;p97"/>
          <p:cNvSpPr txBox="1"/>
          <p:nvPr>
            <p:ph idx="1" type="body"/>
          </p:nvPr>
        </p:nvSpPr>
        <p:spPr>
          <a:xfrm>
            <a:off x="324000" y="719188"/>
            <a:ext cx="8237700" cy="8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Laura has found some coordinates that seem to follow a pattern: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8"/>
          <p:cNvSpPr txBox="1"/>
          <p:nvPr>
            <p:ph idx="1" type="body"/>
          </p:nvPr>
        </p:nvSpPr>
        <p:spPr>
          <a:xfrm>
            <a:off x="324000" y="759300"/>
            <a:ext cx="8237700" cy="8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will these coordinates look like when plotted?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(1,1)  (2,2)  (3,3)  (4,4) </a:t>
            </a:r>
            <a:endParaRPr sz="2000"/>
          </a:p>
        </p:txBody>
      </p:sp>
      <p:sp>
        <p:nvSpPr>
          <p:cNvPr id="1324" name="Google Shape;132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c34434e6-dd6e-4a4d-9a8a-3fdddc090474&quot; data-equatio-type=&quot;desmos&quot;&gt;&lt;mglyph src=&quot;https://equatio-api.texthelp.com/desmos/get/09-10-2023/c34434e6-dd6e-4a4d-9a8a-3fdddc090474&quot; alt=&quot;Equatio Desmos Graph&quot;/&gt;&lt;/math&gt;" id="1325" name="Google Shape;1325;p98" title="Equatio Desmos Graph"/>
          <p:cNvPicPr preferRelativeResize="0"/>
          <p:nvPr/>
        </p:nvPicPr>
        <p:blipFill rotWithShape="1">
          <a:blip r:embed="rId3">
            <a:alphaModFix/>
          </a:blip>
          <a:srcRect b="21877" l="15605" r="38372" t="25995"/>
          <a:stretch/>
        </p:blipFill>
        <p:spPr>
          <a:xfrm>
            <a:off x="6815950" y="733800"/>
            <a:ext cx="2004050" cy="170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98"/>
          <p:cNvSpPr txBox="1"/>
          <p:nvPr>
            <p:ph idx="1" type="body"/>
          </p:nvPr>
        </p:nvSpPr>
        <p:spPr>
          <a:xfrm>
            <a:off x="324000" y="2214700"/>
            <a:ext cx="8237700" cy="8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then plots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(1,-1)  (2,-2)  (3,-3)  (4,-4) </a:t>
            </a:r>
            <a:endParaRPr sz="2000"/>
          </a:p>
        </p:txBody>
      </p:sp>
      <p:sp>
        <p:nvSpPr>
          <p:cNvPr id="1327" name="Google Shape;1327;p98"/>
          <p:cNvSpPr txBox="1"/>
          <p:nvPr>
            <p:ph idx="1" type="body"/>
          </p:nvPr>
        </p:nvSpPr>
        <p:spPr>
          <a:xfrm>
            <a:off x="324000" y="3240000"/>
            <a:ext cx="8237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Will this look the same?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e1a2a052-4c7e-4f57-9029-4a67e25db148&quot; data-equatio-type=&quot;desmos&quot;&gt;&lt;mglyph src=&quot;https://equatio-api.texthelp.com/desmos/get/09-10-2023/e1a2a052-4c7e-4f57-9029-4a67e25db148&quot; alt=&quot;Equatio Desmos Graph&quot;/&gt;&lt;/math&gt;" id="1328" name="Google Shape;1328;p98" title="Equatio Desmos Graph"/>
          <p:cNvPicPr preferRelativeResize="0"/>
          <p:nvPr/>
        </p:nvPicPr>
        <p:blipFill rotWithShape="1">
          <a:blip r:embed="rId4">
            <a:alphaModFix/>
          </a:blip>
          <a:srcRect b="23503" l="17402" r="38077" t="21644"/>
          <a:stretch/>
        </p:blipFill>
        <p:spPr>
          <a:xfrm>
            <a:off x="6815950" y="2571740"/>
            <a:ext cx="2004050" cy="1851885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98"/>
          <p:cNvSpPr txBox="1"/>
          <p:nvPr>
            <p:ph idx="1" type="body"/>
          </p:nvPr>
        </p:nvSpPr>
        <p:spPr>
          <a:xfrm>
            <a:off x="324000" y="3685125"/>
            <a:ext cx="8237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coordinates follow a different rule.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0" name="Google Shape;1330;p98"/>
          <p:cNvSpPr txBox="1"/>
          <p:nvPr>
            <p:ph idx="1" type="body"/>
          </p:nvPr>
        </p:nvSpPr>
        <p:spPr>
          <a:xfrm>
            <a:off x="324000" y="4130250"/>
            <a:ext cx="8237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can we write the rule for these coordinates?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1331" name="Google Shape;1331;p98" title="y equals negative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25" y="4517575"/>
            <a:ext cx="949437" cy="2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98"/>
          <p:cNvSpPr/>
          <p:nvPr/>
        </p:nvSpPr>
        <p:spPr>
          <a:xfrm>
            <a:off x="6806325" y="718675"/>
            <a:ext cx="2004000" cy="1717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8"/>
          <p:cNvSpPr/>
          <p:nvPr/>
        </p:nvSpPr>
        <p:spPr>
          <a:xfrm>
            <a:off x="6806325" y="2571000"/>
            <a:ext cx="2004000" cy="1851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draw a straight line between any four points.</a:t>
            </a:r>
            <a:endParaRPr/>
          </a:p>
        </p:txBody>
      </p:sp>
      <p:sp>
        <p:nvSpPr>
          <p:cNvPr id="1339" name="Google Shape;1339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40" name="Google Shape;1340;p99"/>
          <p:cNvSpPr txBox="1"/>
          <p:nvPr>
            <p:ph idx="1" type="subTitle"/>
          </p:nvPr>
        </p:nvSpPr>
        <p:spPr>
          <a:xfrm>
            <a:off x="324000" y="1070125"/>
            <a:ext cx="8496000" cy="9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coordinates will make a straight line when plotted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(1,3)  (0,0)  (0.5,1.5)  (-2,-6)</a:t>
            </a:r>
            <a:endParaRPr/>
          </a:p>
        </p:txBody>
      </p:sp>
      <p:sp>
        <p:nvSpPr>
          <p:cNvPr id="1341" name="Google Shape;1341;p9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coordinates all follow a rule.</a:t>
            </a:r>
            <a:endParaRPr/>
          </a:p>
        </p:txBody>
      </p:sp>
      <p:pic>
        <p:nvPicPr>
          <p:cNvPr id="1342" name="Google Shape;134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8" y="1777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683" y="4040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9"/>
          <p:cNvSpPr txBox="1"/>
          <p:nvPr/>
        </p:nvSpPr>
        <p:spPr>
          <a:xfrm>
            <a:off x="6269550" y="4067755"/>
            <a:ext cx="30633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rule is: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3x&quot;&gt;&lt;mi&gt;y&lt;/mi&gt;&lt;mo&gt;=&lt;/mo&gt;&lt;mn&gt;3&lt;/mn&gt;&lt;mi&gt;x&lt;/mi&gt;&lt;/math&gt;" id="1345" name="Google Shape;1345;p99" title="y equals 3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1806" y="4093070"/>
            <a:ext cx="876000" cy="2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00"/>
          <p:cNvSpPr txBox="1"/>
          <p:nvPr>
            <p:ph idx="1" type="body"/>
          </p:nvPr>
        </p:nvSpPr>
        <p:spPr>
          <a:xfrm>
            <a:off x="324000" y="724350"/>
            <a:ext cx="82377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Plot all the integer points that satisfy each rule.</a:t>
            </a:r>
            <a:endParaRPr sz="2000"/>
          </a:p>
        </p:txBody>
      </p:sp>
      <p:sp>
        <p:nvSpPr>
          <p:cNvPr id="1351" name="Google Shape;1351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52" name="Google Shape;1352;p100"/>
          <p:cNvSpPr txBox="1"/>
          <p:nvPr>
            <p:ph idx="1" type="body"/>
          </p:nvPr>
        </p:nvSpPr>
        <p:spPr>
          <a:xfrm>
            <a:off x="332934" y="1193625"/>
            <a:ext cx="22440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 is 1</a:t>
            </a:r>
            <a:endParaRPr sz="1800"/>
          </a:p>
        </p:txBody>
      </p:sp>
      <p:sp>
        <p:nvSpPr>
          <p:cNvPr id="1353" name="Google Shape;1353;p100"/>
          <p:cNvSpPr txBox="1"/>
          <p:nvPr>
            <p:ph idx="1" type="body"/>
          </p:nvPr>
        </p:nvSpPr>
        <p:spPr>
          <a:xfrm>
            <a:off x="3224294" y="1164675"/>
            <a:ext cx="23514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</a:t>
            </a: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value is one less than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</a:t>
            </a:r>
            <a:endParaRPr sz="1800"/>
          </a:p>
        </p:txBody>
      </p:sp>
      <p:sp>
        <p:nvSpPr>
          <p:cNvPr id="1354" name="Google Shape;1354;p100"/>
          <p:cNvSpPr txBox="1"/>
          <p:nvPr>
            <p:ph idx="1" type="body"/>
          </p:nvPr>
        </p:nvSpPr>
        <p:spPr>
          <a:xfrm>
            <a:off x="6104400" y="1140285"/>
            <a:ext cx="2563200" cy="6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3"/>
            </a:pP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value is double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</a:t>
            </a:r>
            <a:endParaRPr sz="1800"/>
          </a:p>
        </p:txBody>
      </p:sp>
      <p:sp>
        <p:nvSpPr>
          <p:cNvPr id="1355" name="Google Shape;1355;p100"/>
          <p:cNvSpPr txBox="1"/>
          <p:nvPr>
            <p:ph idx="1" type="body"/>
          </p:nvPr>
        </p:nvSpPr>
        <p:spPr>
          <a:xfrm>
            <a:off x="324000" y="42693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356" name="Google Shape;1356;p100"/>
          <p:cNvSpPr txBox="1"/>
          <p:nvPr>
            <p:ph idx="1" type="body"/>
          </p:nvPr>
        </p:nvSpPr>
        <p:spPr>
          <a:xfrm>
            <a:off x="3228919" y="42693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357" name="Google Shape;1357;p100"/>
          <p:cNvSpPr txBox="1"/>
          <p:nvPr>
            <p:ph idx="1" type="body"/>
          </p:nvPr>
        </p:nvSpPr>
        <p:spPr>
          <a:xfrm>
            <a:off x="6111494" y="42693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grpSp>
        <p:nvGrpSpPr>
          <p:cNvPr id="1358" name="Google Shape;1358;p100"/>
          <p:cNvGrpSpPr/>
          <p:nvPr/>
        </p:nvGrpSpPr>
        <p:grpSpPr>
          <a:xfrm>
            <a:off x="346344" y="1865975"/>
            <a:ext cx="2289650" cy="2286300"/>
            <a:chOff x="491650" y="1865975"/>
            <a:chExt cx="2289650" cy="22863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359" name="Google Shape;1359;p100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0"/>
            <p:cNvSpPr/>
            <p:nvPr/>
          </p:nvSpPr>
          <p:spPr>
            <a:xfrm>
              <a:off x="491650" y="1865975"/>
              <a:ext cx="2289600" cy="22863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1" name="Google Shape;1361;p100"/>
          <p:cNvGrpSpPr/>
          <p:nvPr/>
        </p:nvGrpSpPr>
        <p:grpSpPr>
          <a:xfrm>
            <a:off x="3245594" y="1865975"/>
            <a:ext cx="2289650" cy="2286300"/>
            <a:chOff x="491650" y="1865975"/>
            <a:chExt cx="2289650" cy="22863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362" name="Google Shape;1362;p100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3" name="Google Shape;1363;p100"/>
            <p:cNvSpPr/>
            <p:nvPr/>
          </p:nvSpPr>
          <p:spPr>
            <a:xfrm>
              <a:off x="491650" y="1865975"/>
              <a:ext cx="2289600" cy="22863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4" name="Google Shape;1364;p100"/>
          <p:cNvGrpSpPr/>
          <p:nvPr/>
        </p:nvGrpSpPr>
        <p:grpSpPr>
          <a:xfrm>
            <a:off x="6141194" y="1865975"/>
            <a:ext cx="2289650" cy="2286300"/>
            <a:chOff x="491650" y="1865975"/>
            <a:chExt cx="2289650" cy="22863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365" name="Google Shape;1365;p100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6" name="Google Shape;1366;p100"/>
            <p:cNvSpPr/>
            <p:nvPr/>
          </p:nvSpPr>
          <p:spPr>
            <a:xfrm>
              <a:off x="491650" y="1865975"/>
              <a:ext cx="2289600" cy="22863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01"/>
          <p:cNvSpPr txBox="1"/>
          <p:nvPr>
            <p:ph idx="1" type="body"/>
          </p:nvPr>
        </p:nvSpPr>
        <p:spPr>
          <a:xfrm>
            <a:off x="324000" y="724350"/>
            <a:ext cx="82377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Plot all the integer points that satisfy each rule.</a:t>
            </a:r>
            <a:endParaRPr sz="2000"/>
          </a:p>
        </p:txBody>
      </p:sp>
      <p:sp>
        <p:nvSpPr>
          <p:cNvPr id="1372" name="Google Shape;1372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73" name="Google Shape;1373;p101"/>
          <p:cNvSpPr txBox="1"/>
          <p:nvPr>
            <p:ph idx="1" type="body"/>
          </p:nvPr>
        </p:nvSpPr>
        <p:spPr>
          <a:xfrm>
            <a:off x="324000" y="1216485"/>
            <a:ext cx="22440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  <p:sp>
        <p:nvSpPr>
          <p:cNvPr id="1374" name="Google Shape;1374;p101"/>
          <p:cNvSpPr txBox="1"/>
          <p:nvPr>
            <p:ph idx="1" type="body"/>
          </p:nvPr>
        </p:nvSpPr>
        <p:spPr>
          <a:xfrm>
            <a:off x="3217200" y="1216485"/>
            <a:ext cx="28254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</a:t>
            </a:r>
            <a:endParaRPr sz="1800"/>
          </a:p>
        </p:txBody>
      </p:sp>
      <p:sp>
        <p:nvSpPr>
          <p:cNvPr id="1375" name="Google Shape;1375;p101"/>
          <p:cNvSpPr txBox="1"/>
          <p:nvPr>
            <p:ph idx="1" type="body"/>
          </p:nvPr>
        </p:nvSpPr>
        <p:spPr>
          <a:xfrm>
            <a:off x="6139872" y="1216485"/>
            <a:ext cx="2563200" cy="6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 </a:t>
            </a:r>
            <a:endParaRPr sz="1800"/>
          </a:p>
        </p:txBody>
      </p:sp>
      <p:sp>
        <p:nvSpPr>
          <p:cNvPr id="1376" name="Google Shape;1376;p101"/>
          <p:cNvSpPr txBox="1"/>
          <p:nvPr>
            <p:ph idx="1" type="body"/>
          </p:nvPr>
        </p:nvSpPr>
        <p:spPr>
          <a:xfrm>
            <a:off x="350539" y="42693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377" name="Google Shape;1377;p101"/>
          <p:cNvSpPr txBox="1"/>
          <p:nvPr>
            <p:ph idx="1" type="body"/>
          </p:nvPr>
        </p:nvSpPr>
        <p:spPr>
          <a:xfrm>
            <a:off x="3248364" y="42693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378" name="Google Shape;1378;p101"/>
          <p:cNvSpPr txBox="1"/>
          <p:nvPr>
            <p:ph idx="1" type="body"/>
          </p:nvPr>
        </p:nvSpPr>
        <p:spPr>
          <a:xfrm>
            <a:off x="6130939" y="42693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x+y=5&quot;&gt;&lt;mi&gt;x&lt;/mi&gt;&lt;mo&gt;+&lt;/mo&gt;&lt;mi&gt;y&lt;/mi&gt;&lt;mo&gt;=&lt;/mo&gt;&lt;mn&gt;5&lt;/mn&gt;&lt;/math&gt;" id="1379" name="Google Shape;1379;p101" title="x plus y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511" y="1242911"/>
            <a:ext cx="1034700" cy="23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4&quot;&gt;&lt;mi&gt;y&lt;/mi&gt;&lt;mo&gt;=&lt;/mo&gt;&lt;mi&gt;x&lt;/mi&gt;&lt;mo&gt;−&lt;/mo&gt;&lt;mn&gt;4&lt;/mn&gt;&lt;/math&gt;" id="1380" name="Google Shape;1380;p101" title="y equals x min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331" y="1243216"/>
            <a:ext cx="1034700" cy="234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381" name="Google Shape;1381;p101" title="Equatio Desmos Graph"/>
          <p:cNvPicPr preferRelativeResize="0"/>
          <p:nvPr/>
        </p:nvPicPr>
        <p:blipFill rotWithShape="1">
          <a:blip r:embed="rId5">
            <a:alphaModFix/>
          </a:blip>
          <a:srcRect b="25675" l="31633" r="24443" t="16299"/>
          <a:stretch/>
        </p:blipFill>
        <p:spPr>
          <a:xfrm>
            <a:off x="344505" y="1814494"/>
            <a:ext cx="2289650" cy="226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382" name="Google Shape;1382;p101" title="Equatio Desmos Graph"/>
          <p:cNvPicPr preferRelativeResize="0"/>
          <p:nvPr/>
        </p:nvPicPr>
        <p:blipFill rotWithShape="1">
          <a:blip r:embed="rId5">
            <a:alphaModFix/>
          </a:blip>
          <a:srcRect b="25675" l="31633" r="24443" t="16299"/>
          <a:stretch/>
        </p:blipFill>
        <p:spPr>
          <a:xfrm>
            <a:off x="3227080" y="1814494"/>
            <a:ext cx="2289650" cy="226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383" name="Google Shape;1383;p101" title="Equatio Desmos Graph"/>
          <p:cNvPicPr preferRelativeResize="0"/>
          <p:nvPr/>
        </p:nvPicPr>
        <p:blipFill rotWithShape="1">
          <a:blip r:embed="rId5">
            <a:alphaModFix/>
          </a:blip>
          <a:srcRect b="25675" l="31633" r="24443" t="16299"/>
          <a:stretch/>
        </p:blipFill>
        <p:spPr>
          <a:xfrm>
            <a:off x="6109655" y="1814494"/>
            <a:ext cx="2289650" cy="22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01"/>
          <p:cNvSpPr/>
          <p:nvPr/>
        </p:nvSpPr>
        <p:spPr>
          <a:xfrm>
            <a:off x="344505" y="1796869"/>
            <a:ext cx="2289600" cy="2286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1"/>
          <p:cNvSpPr/>
          <p:nvPr/>
        </p:nvSpPr>
        <p:spPr>
          <a:xfrm>
            <a:off x="3196205" y="1789769"/>
            <a:ext cx="2320500" cy="2318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1"/>
          <p:cNvSpPr/>
          <p:nvPr/>
        </p:nvSpPr>
        <p:spPr>
          <a:xfrm>
            <a:off x="6109655" y="1789769"/>
            <a:ext cx="2304900" cy="2318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0&quot;&gt;&lt;mi&gt;y&lt;/mi&gt;&lt;mo&gt;=&lt;/mo&gt;&lt;mn&gt;0&lt;/mn&gt;&lt;/math&gt;" id="1387" name="Google Shape;1387;p101" title="y equals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521" y="1251945"/>
            <a:ext cx="595938" cy="2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2"/>
          <p:cNvSpPr txBox="1"/>
          <p:nvPr>
            <p:ph idx="1" type="body"/>
          </p:nvPr>
        </p:nvSpPr>
        <p:spPr>
          <a:xfrm>
            <a:off x="324000" y="759300"/>
            <a:ext cx="8393400" cy="12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2)  The grid shows seven points </a:t>
            </a:r>
            <a:r>
              <a:rPr lang="en-GB" sz="2100"/>
              <a:t>labelled</a:t>
            </a:r>
            <a:r>
              <a:rPr lang="en-GB" sz="2100"/>
              <a:t> A, B, C, D, E, F and G. Complete the table to show which points have coordinates that match the rules below. The first column has been completed for you.</a:t>
            </a:r>
            <a:endParaRPr sz="2100"/>
          </a:p>
        </p:txBody>
      </p:sp>
      <p:sp>
        <p:nvSpPr>
          <p:cNvPr id="1393" name="Google Shape;1393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graphicFrame>
        <p:nvGraphicFramePr>
          <p:cNvPr id="1394" name="Google Shape;1394;p102"/>
          <p:cNvGraphicFramePr/>
          <p:nvPr/>
        </p:nvGraphicFramePr>
        <p:xfrm>
          <a:off x="324000" y="238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{961173F7-247D-47EE-B59C-CC0177C06C75}</a:tableStyleId>
              </a:tblPr>
              <a:tblGrid>
                <a:gridCol w="1278775"/>
                <a:gridCol w="612550"/>
                <a:gridCol w="619775"/>
                <a:gridCol w="612825"/>
                <a:gridCol w="634575"/>
                <a:gridCol w="618750"/>
                <a:gridCol w="618750"/>
                <a:gridCol w="618750"/>
              </a:tblGrid>
              <a:tr h="46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Rule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395" name="Google Shape;1395;p102" title="x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73" y="2943840"/>
            <a:ext cx="687600" cy="21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&quot;&gt;&lt;mi&gt;y&lt;/mi&gt;&lt;mo&gt;=&lt;/mo&gt;&lt;mo&gt;−&lt;/mo&gt;&lt;mn&gt;2&lt;/mn&gt;&lt;/math&gt;" id="1396" name="Google Shape;1396;p102" title="y equal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73" y="3303825"/>
            <a:ext cx="863965" cy="2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y&quot;&gt;&lt;mi&gt;x&lt;/mi&gt;&lt;mo&gt;=&lt;/mo&gt;&lt;mi&gt;y&lt;/mi&gt;&lt;/math&gt;" id="1397" name="Google Shape;1397;p102" title="x equals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73" y="3740010"/>
            <a:ext cx="698400" cy="197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0adc0b2d-db08-4aa6-bbff-2a8965dfe4b3&quot; data-equatio-type=&quot;desmos&quot;&gt;&lt;mglyph src=&quot;https://equatio-api.texthelp.com/desmos/get/09-10-2023/0adc0b2d-db08-4aa6-bbff-2a8965dfe4b3&quot; alt=&quot;Equatio Desmos Graph&quot;/&gt;&lt;/math&gt;" id="1398" name="Google Shape;1398;p102" title="Equatio Desmos Graph"/>
          <p:cNvPicPr preferRelativeResize="0"/>
          <p:nvPr/>
        </p:nvPicPr>
        <p:blipFill rotWithShape="1">
          <a:blip r:embed="rId6">
            <a:alphaModFix/>
          </a:blip>
          <a:srcRect b="26019" l="24152" r="35959" t="24683"/>
          <a:stretch/>
        </p:blipFill>
        <p:spPr>
          <a:xfrm>
            <a:off x="6078350" y="1968550"/>
            <a:ext cx="2593200" cy="2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02"/>
          <p:cNvSpPr/>
          <p:nvPr/>
        </p:nvSpPr>
        <p:spPr>
          <a:xfrm>
            <a:off x="6068600" y="1935075"/>
            <a:ext cx="2593200" cy="24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1400" name="Google Shape;1400;p102" title="y equals negative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972" y="4107162"/>
            <a:ext cx="900000" cy="197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03"/>
          <p:cNvSpPr txBox="1"/>
          <p:nvPr>
            <p:ph idx="1" type="body"/>
          </p:nvPr>
        </p:nvSpPr>
        <p:spPr>
          <a:xfrm>
            <a:off x="311300" y="683100"/>
            <a:ext cx="8237700" cy="4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Plot all the integer points that satisfy each rule.</a:t>
            </a:r>
            <a:endParaRPr sz="2000"/>
          </a:p>
        </p:txBody>
      </p:sp>
      <p:sp>
        <p:nvSpPr>
          <p:cNvPr id="1406" name="Google Shape;140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407" name="Google Shape;1407;p103"/>
          <p:cNvSpPr txBox="1"/>
          <p:nvPr>
            <p:ph idx="1" type="body"/>
          </p:nvPr>
        </p:nvSpPr>
        <p:spPr>
          <a:xfrm>
            <a:off x="324000" y="1041225"/>
            <a:ext cx="22440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 is 1</a:t>
            </a:r>
            <a:endParaRPr sz="1800"/>
          </a:p>
        </p:txBody>
      </p:sp>
      <p:sp>
        <p:nvSpPr>
          <p:cNvPr id="1408" name="Google Shape;1408;p103"/>
          <p:cNvSpPr txBox="1"/>
          <p:nvPr>
            <p:ph idx="1" type="body"/>
          </p:nvPr>
        </p:nvSpPr>
        <p:spPr>
          <a:xfrm>
            <a:off x="3369600" y="1012275"/>
            <a:ext cx="2507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value is one less than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</a:t>
            </a:r>
            <a:endParaRPr sz="1800"/>
          </a:p>
        </p:txBody>
      </p:sp>
      <p:sp>
        <p:nvSpPr>
          <p:cNvPr id="1409" name="Google Shape;1409;p103"/>
          <p:cNvSpPr txBox="1"/>
          <p:nvPr>
            <p:ph idx="1" type="body"/>
          </p:nvPr>
        </p:nvSpPr>
        <p:spPr>
          <a:xfrm>
            <a:off x="6256800" y="987885"/>
            <a:ext cx="2563200" cy="6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</a:t>
            </a:r>
            <a:r>
              <a:rPr lang="en-GB" sz="1800"/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value is double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</a:t>
            </a:r>
            <a:endParaRPr sz="1800"/>
          </a:p>
        </p:txBody>
      </p:sp>
      <p:sp>
        <p:nvSpPr>
          <p:cNvPr id="1410" name="Google Shape;1410;p103"/>
          <p:cNvSpPr txBox="1"/>
          <p:nvPr>
            <p:ph idx="1" type="body"/>
          </p:nvPr>
        </p:nvSpPr>
        <p:spPr>
          <a:xfrm>
            <a:off x="325200" y="41931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411" name="Google Shape;1411;p103"/>
          <p:cNvSpPr txBox="1"/>
          <p:nvPr>
            <p:ph idx="1" type="body"/>
          </p:nvPr>
        </p:nvSpPr>
        <p:spPr>
          <a:xfrm>
            <a:off x="3375425" y="41931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412" name="Google Shape;1412;p103"/>
          <p:cNvSpPr txBox="1"/>
          <p:nvPr>
            <p:ph idx="1" type="body"/>
          </p:nvPr>
        </p:nvSpPr>
        <p:spPr>
          <a:xfrm>
            <a:off x="6258000" y="419317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413" name="Google Shape;1413;p103"/>
          <p:cNvSpPr txBox="1"/>
          <p:nvPr>
            <p:ph idx="1" type="body"/>
          </p:nvPr>
        </p:nvSpPr>
        <p:spPr>
          <a:xfrm>
            <a:off x="328985" y="4465200"/>
            <a:ext cx="2663100" cy="2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vertical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4" name="Google Shape;1414;p103"/>
          <p:cNvSpPr txBox="1"/>
          <p:nvPr>
            <p:ph idx="1" type="body"/>
          </p:nvPr>
        </p:nvSpPr>
        <p:spPr>
          <a:xfrm>
            <a:off x="3375435" y="4465200"/>
            <a:ext cx="2663100" cy="2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5" name="Google Shape;1415;p103"/>
          <p:cNvSpPr txBox="1"/>
          <p:nvPr>
            <p:ph idx="1" type="body"/>
          </p:nvPr>
        </p:nvSpPr>
        <p:spPr>
          <a:xfrm>
            <a:off x="6258010" y="4465200"/>
            <a:ext cx="2663100" cy="2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16" name="Google Shape;1416;p103"/>
          <p:cNvGrpSpPr/>
          <p:nvPr/>
        </p:nvGrpSpPr>
        <p:grpSpPr>
          <a:xfrm>
            <a:off x="327775" y="1737128"/>
            <a:ext cx="2289750" cy="2395968"/>
            <a:chOff x="491550" y="1858875"/>
            <a:chExt cx="2289750" cy="2395968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417" name="Google Shape;1417;p103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49165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09-10-2023/c3513e4d-0a3e-4d1c-8fad-4b94948a8ecb&quot; data-equatio-type=&quot;desmos&quot;&gt;&lt;mglyph src=&quot;https://equatio-api.texthelp.com/desmos/get/09-10-2023/c3513e4d-0a3e-4d1c-8fad-4b94948a8ecb&quot; alt=&quot;Equatio Desmos Graph&quot;/&gt;&lt;/math&gt;" id="1418" name="Google Shape;1418;p103" title="Equatio Desmos Graph"/>
            <p:cNvPicPr preferRelativeResize="0"/>
            <p:nvPr/>
          </p:nvPicPr>
          <p:blipFill rotWithShape="1">
            <a:blip r:embed="rId4">
              <a:alphaModFix/>
            </a:blip>
            <a:srcRect b="19266" l="26891" r="28630" t="18821"/>
            <a:stretch/>
          </p:blipFill>
          <p:spPr>
            <a:xfrm>
              <a:off x="491650" y="1864425"/>
              <a:ext cx="2289650" cy="2390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9" name="Google Shape;1419;p103"/>
            <p:cNvSpPr/>
            <p:nvPr/>
          </p:nvSpPr>
          <p:spPr>
            <a:xfrm>
              <a:off x="491550" y="1858875"/>
              <a:ext cx="2289600" cy="2390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0" name="Google Shape;1420;p103"/>
          <p:cNvGrpSpPr/>
          <p:nvPr/>
        </p:nvGrpSpPr>
        <p:grpSpPr>
          <a:xfrm>
            <a:off x="3339450" y="1737128"/>
            <a:ext cx="2494200" cy="2402470"/>
            <a:chOff x="3338250" y="1784950"/>
            <a:chExt cx="2494200" cy="240247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ca82cdd3-d5e6-45df-9ef4-a1dfd79adc03&quot; data-equatio-type=&quot;desmos&quot;&gt;&lt;mglyph src=&quot;https://equatio-api.texthelp.com/desmos/get/09-10-2023/ca82cdd3-d5e6-45df-9ef4-a1dfd79adc03&quot; alt=&quot;Equatio Desmos Graph&quot;/&gt;&lt;/math&gt;" id="1421" name="Google Shape;1421;p103" title="Equatio Desmos Graph"/>
            <p:cNvPicPr preferRelativeResize="0"/>
            <p:nvPr/>
          </p:nvPicPr>
          <p:blipFill rotWithShape="1">
            <a:blip r:embed="rId5">
              <a:alphaModFix/>
            </a:blip>
            <a:srcRect b="21630" l="25433" r="27666" t="17627"/>
            <a:stretch/>
          </p:blipFill>
          <p:spPr>
            <a:xfrm>
              <a:off x="3354218" y="1796994"/>
              <a:ext cx="2460976" cy="2390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2" name="Google Shape;1422;p103"/>
            <p:cNvSpPr/>
            <p:nvPr/>
          </p:nvSpPr>
          <p:spPr>
            <a:xfrm>
              <a:off x="3338250" y="1784950"/>
              <a:ext cx="2494200" cy="24003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3" name="Google Shape;1423;p103"/>
          <p:cNvGrpSpPr/>
          <p:nvPr/>
        </p:nvGrpSpPr>
        <p:grpSpPr>
          <a:xfrm>
            <a:off x="6258000" y="1737128"/>
            <a:ext cx="2367900" cy="2371250"/>
            <a:chOff x="6256800" y="1883599"/>
            <a:chExt cx="2367900" cy="237125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e0e927a5-f56a-4659-87b2-d85a78a30eda&quot; data-equatio-type=&quot;desmos&quot;&gt;&lt;mglyph src=&quot;https://equatio-api.texthelp.com/desmos/get/09-10-2023/e0e927a5-f56a-4659-87b2-d85a78a30eda&quot; alt=&quot;Equatio Desmos Graph&quot;/&gt;&lt;/math&gt;" id="1424" name="Google Shape;1424;p103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5675" l="31633" r="24443" t="16299"/>
            <a:stretch/>
          </p:blipFill>
          <p:spPr>
            <a:xfrm>
              <a:off x="6256800" y="1883599"/>
              <a:ext cx="2289650" cy="226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09-10-2023/b27971c3-53cb-4b2f-87a0-8686ca3065a9&quot; data-equatio-type=&quot;desmos&quot;&gt;&lt;mglyph src=&quot;https://equatio-api.texthelp.com/desmos/get/09-10-2023/b27971c3-53cb-4b2f-87a0-8686ca3065a9&quot; alt=&quot;Equatio Desmos Graph&quot;/&gt;&lt;/math&gt;" id="1425" name="Google Shape;1425;p103" title="Equatio Desmos Graph"/>
            <p:cNvPicPr preferRelativeResize="0"/>
            <p:nvPr/>
          </p:nvPicPr>
          <p:blipFill rotWithShape="1">
            <a:blip r:embed="rId6">
              <a:alphaModFix/>
            </a:blip>
            <a:srcRect b="21773" l="25434" r="28631" t="16891"/>
            <a:stretch/>
          </p:blipFill>
          <p:spPr>
            <a:xfrm>
              <a:off x="6256800" y="1883600"/>
              <a:ext cx="2367834" cy="2371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03"/>
            <p:cNvSpPr/>
            <p:nvPr/>
          </p:nvSpPr>
          <p:spPr>
            <a:xfrm>
              <a:off x="6256800" y="1883625"/>
              <a:ext cx="2367900" cy="23712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Plot all the integer points that satisfy each rule.</a:t>
            </a:r>
            <a:endParaRPr sz="2000"/>
          </a:p>
        </p:txBody>
      </p:sp>
      <p:sp>
        <p:nvSpPr>
          <p:cNvPr id="1432" name="Google Shape;1432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433" name="Google Shape;1433;p104"/>
          <p:cNvSpPr txBox="1"/>
          <p:nvPr>
            <p:ph idx="1" type="body"/>
          </p:nvPr>
        </p:nvSpPr>
        <p:spPr>
          <a:xfrm>
            <a:off x="324000" y="1269953"/>
            <a:ext cx="22440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</a:t>
            </a:r>
            <a:endParaRPr sz="1800"/>
          </a:p>
        </p:txBody>
      </p:sp>
      <p:sp>
        <p:nvSpPr>
          <p:cNvPr id="1434" name="Google Shape;1434;p104"/>
          <p:cNvSpPr txBox="1"/>
          <p:nvPr>
            <p:ph idx="1" type="body"/>
          </p:nvPr>
        </p:nvSpPr>
        <p:spPr>
          <a:xfrm>
            <a:off x="3535287" y="1269953"/>
            <a:ext cx="28254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 </a:t>
            </a:r>
            <a:endParaRPr sz="1800"/>
          </a:p>
        </p:txBody>
      </p:sp>
      <p:sp>
        <p:nvSpPr>
          <p:cNvPr id="1435" name="Google Shape;1435;p104"/>
          <p:cNvSpPr txBox="1"/>
          <p:nvPr>
            <p:ph idx="1" type="body"/>
          </p:nvPr>
        </p:nvSpPr>
        <p:spPr>
          <a:xfrm>
            <a:off x="6379264" y="1269953"/>
            <a:ext cx="2563200" cy="6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 </a:t>
            </a:r>
            <a:endParaRPr sz="1800"/>
          </a:p>
        </p:txBody>
      </p:sp>
      <p:sp>
        <p:nvSpPr>
          <p:cNvPr id="1436" name="Google Shape;1436;p104"/>
          <p:cNvSpPr txBox="1"/>
          <p:nvPr>
            <p:ph idx="1" type="body"/>
          </p:nvPr>
        </p:nvSpPr>
        <p:spPr>
          <a:xfrm>
            <a:off x="324000" y="418144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437" name="Google Shape;1437;p104"/>
          <p:cNvSpPr txBox="1"/>
          <p:nvPr>
            <p:ph idx="1" type="body"/>
          </p:nvPr>
        </p:nvSpPr>
        <p:spPr>
          <a:xfrm>
            <a:off x="3539912" y="418144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438" name="Google Shape;1438;p104"/>
          <p:cNvSpPr txBox="1"/>
          <p:nvPr>
            <p:ph idx="1" type="body"/>
          </p:nvPr>
        </p:nvSpPr>
        <p:spPr>
          <a:xfrm>
            <a:off x="6379264" y="4181445"/>
            <a:ext cx="26631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Describe the pattern.</a:t>
            </a:r>
            <a:endParaRPr sz="1800"/>
          </a:p>
        </p:txBody>
      </p:sp>
      <p:sp>
        <p:nvSpPr>
          <p:cNvPr id="1439" name="Google Shape;1439;p104"/>
          <p:cNvSpPr txBox="1"/>
          <p:nvPr>
            <p:ph idx="1" type="body"/>
          </p:nvPr>
        </p:nvSpPr>
        <p:spPr>
          <a:xfrm>
            <a:off x="324000" y="4478425"/>
            <a:ext cx="3449400" cy="2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horizontal line,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0" name="Google Shape;1440;p104"/>
          <p:cNvSpPr txBox="1"/>
          <p:nvPr>
            <p:ph idx="1" type="body"/>
          </p:nvPr>
        </p:nvSpPr>
        <p:spPr>
          <a:xfrm>
            <a:off x="3539912" y="4481445"/>
            <a:ext cx="2663100" cy="2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41" name="Google Shape;1441;p104"/>
          <p:cNvGrpSpPr/>
          <p:nvPr/>
        </p:nvGrpSpPr>
        <p:grpSpPr>
          <a:xfrm>
            <a:off x="3551762" y="1701270"/>
            <a:ext cx="2365850" cy="2357400"/>
            <a:chOff x="642875" y="1990013"/>
            <a:chExt cx="2365850" cy="2357400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92522f57-2b33-48e4-8c17-f3be8d56083d&quot; data-equatio-type=&quot;desmos&quot;&gt;&lt;mglyph src=&quot;https://equatio-api.texthelp.com/desmos/get/09-10-2023/92522f57-2b33-48e4-8c17-f3be8d56083d&quot; alt=&quot;Equatio Desmos Graph&quot;/&gt;&lt;/math&gt;" id="1442" name="Google Shape;1442;p104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20578" l="26350" r="26661" t="17344"/>
            <a:stretch/>
          </p:blipFill>
          <p:spPr>
            <a:xfrm>
              <a:off x="642875" y="1996650"/>
              <a:ext cx="2365850" cy="2344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104"/>
            <p:cNvSpPr/>
            <p:nvPr/>
          </p:nvSpPr>
          <p:spPr>
            <a:xfrm>
              <a:off x="650100" y="1990013"/>
              <a:ext cx="2351400" cy="2357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4" name="Google Shape;1444;p104"/>
          <p:cNvGrpSpPr/>
          <p:nvPr/>
        </p:nvGrpSpPr>
        <p:grpSpPr>
          <a:xfrm>
            <a:off x="6384214" y="1701270"/>
            <a:ext cx="2370613" cy="2362175"/>
            <a:chOff x="3366150" y="1762125"/>
            <a:chExt cx="2370613" cy="2362175"/>
          </a:xfrm>
        </p:grpSpPr>
        <p:pic>
          <p:nvPicPr>
            <p:cNvPr descr="&lt;math xmlns=&quot;http://www.w3.org/1998/Math/MathML&quot; data-is-equatio=&quot;1&quot; data-equatio-url=&quot;https://equatio-api.texthelp.com/desmos/get/09-10-2023/cc707beb-2016-4422-a614-282ed6a76cff&quot; data-equatio-type=&quot;desmos&quot;&gt;&lt;mglyph src=&quot;https://equatio-api.texthelp.com/desmos/get/09-10-2023/cc707beb-2016-4422-a614-282ed6a76cff&quot; alt=&quot;Equatio Desmos Graph&quot;/&gt;&lt;/math&gt;" id="1445" name="Google Shape;1445;p104" title="Equatio Desmos Graph"/>
            <p:cNvPicPr preferRelativeResize="0"/>
            <p:nvPr/>
          </p:nvPicPr>
          <p:blipFill rotWithShape="1">
            <a:blip r:embed="rId4">
              <a:alphaModFix/>
            </a:blip>
            <a:srcRect b="15605" l="25430" r="29446" t="24442"/>
            <a:stretch/>
          </p:blipFill>
          <p:spPr>
            <a:xfrm>
              <a:off x="3370913" y="1766875"/>
              <a:ext cx="2365850" cy="2357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6" name="Google Shape;1446;p104"/>
            <p:cNvSpPr/>
            <p:nvPr/>
          </p:nvSpPr>
          <p:spPr>
            <a:xfrm>
              <a:off x="3366150" y="1762125"/>
              <a:ext cx="2370600" cy="2357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7" name="Google Shape;1447;p104"/>
          <p:cNvSpPr txBox="1"/>
          <p:nvPr>
            <p:ph idx="1" type="body"/>
          </p:nvPr>
        </p:nvSpPr>
        <p:spPr>
          <a:xfrm>
            <a:off x="6386208" y="4478417"/>
            <a:ext cx="2663100" cy="2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diagonal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+y=5&quot;&gt;&lt;mi&gt;x&lt;/mi&gt;&lt;mo&gt;+&lt;/mo&gt;&lt;mi&gt;y&lt;/mi&gt;&lt;mo&gt;=&lt;/mo&gt;&lt;mn&gt;5&lt;/mn&gt;&lt;/math&gt;" id="1448" name="Google Shape;1448;p104" title="x plus y equal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5032" y="1290296"/>
            <a:ext cx="1034700" cy="23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4&quot;&gt;&lt;mi&gt;y&lt;/mi&gt;&lt;mo&gt;=&lt;/mo&gt;&lt;mi&gt;x&lt;/mi&gt;&lt;mo&gt;−&lt;/mo&gt;&lt;mn&gt;4&lt;/mn&gt;&lt;/math&gt;" id="1449" name="Google Shape;1449;p104" title="y equals x min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3075" y="1290601"/>
            <a:ext cx="1034700" cy="234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0&quot;&gt;&lt;mi&gt;y&lt;/mi&gt;&lt;mo&gt;=&lt;/mo&gt;&lt;mn&gt;0&lt;/mn&gt;&lt;/math&gt;" id="1450" name="Google Shape;1450;p104" title="y equals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6095" y="1299330"/>
            <a:ext cx="595938" cy="2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10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5399" y="1679488"/>
            <a:ext cx="2310790" cy="2357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105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2) </a:t>
            </a:r>
            <a:r>
              <a:rPr lang="en-GB" sz="2100"/>
              <a:t> The grid shows seven points labelled A, B, C, D, E, F and G. Complete the table to show which points have coordinates that match the rules below. The first column has been completed for you.</a:t>
            </a:r>
            <a:endParaRPr sz="2100"/>
          </a:p>
        </p:txBody>
      </p:sp>
      <p:sp>
        <p:nvSpPr>
          <p:cNvPr id="1457" name="Google Shape;1457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graphicFrame>
        <p:nvGraphicFramePr>
          <p:cNvPr id="1458" name="Google Shape;1458;p105"/>
          <p:cNvGraphicFramePr/>
          <p:nvPr/>
        </p:nvGraphicFramePr>
        <p:xfrm>
          <a:off x="324000" y="238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{961173F7-247D-47EE-B59C-CC0177C06C75}</a:tableStyleId>
              </a:tblPr>
              <a:tblGrid>
                <a:gridCol w="1278775"/>
                <a:gridCol w="612550"/>
                <a:gridCol w="619775"/>
                <a:gridCol w="612825"/>
                <a:gridCol w="634575"/>
                <a:gridCol w="618750"/>
                <a:gridCol w="618750"/>
                <a:gridCol w="618750"/>
              </a:tblGrid>
              <a:tr h="461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Rule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yes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no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459" name="Google Shape;1459;p105" title="x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20" y="2943840"/>
            <a:ext cx="687600" cy="218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&quot;&gt;&lt;mi&gt;y&lt;/mi&gt;&lt;mo&gt;=&lt;/mo&gt;&lt;mo&gt;−&lt;/mo&gt;&lt;mn&gt;2&lt;/mn&gt;&lt;/math&gt;" id="1460" name="Google Shape;1460;p105" title="y equal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12" y="3303825"/>
            <a:ext cx="863965" cy="2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y&quot;&gt;&lt;mi&gt;x&lt;/mi&gt;&lt;mo&gt;=&lt;/mo&gt;&lt;mi&gt;y&lt;/mi&gt;&lt;/math&gt;" id="1461" name="Google Shape;1461;p105" title="x equals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958" y="3740010"/>
            <a:ext cx="698400" cy="197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9-10-2023/0adc0b2d-db08-4aa6-bbff-2a8965dfe4b3&quot; data-equatio-type=&quot;desmos&quot;&gt;&lt;mglyph src=&quot;https://equatio-api.texthelp.com/desmos/get/09-10-2023/0adc0b2d-db08-4aa6-bbff-2a8965dfe4b3&quot; alt=&quot;Equatio Desmos Graph&quot;/&gt;&lt;/math&gt;" id="1462" name="Google Shape;1462;p105" title="Equatio Desmos Graph"/>
          <p:cNvPicPr preferRelativeResize="0"/>
          <p:nvPr/>
        </p:nvPicPr>
        <p:blipFill rotWithShape="1">
          <a:blip r:embed="rId6">
            <a:alphaModFix/>
          </a:blip>
          <a:srcRect b="26019" l="24152" r="35959" t="24683"/>
          <a:stretch/>
        </p:blipFill>
        <p:spPr>
          <a:xfrm>
            <a:off x="6078350" y="1968550"/>
            <a:ext cx="2593200" cy="2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05"/>
          <p:cNvSpPr/>
          <p:nvPr/>
        </p:nvSpPr>
        <p:spPr>
          <a:xfrm>
            <a:off x="6068600" y="1935075"/>
            <a:ext cx="2593200" cy="24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1464" name="Google Shape;1464;p105" title="y equals negative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972" y="4107162"/>
            <a:ext cx="900000" cy="197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that follow a pattern can be described with a worded rule or as an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can generate coordinates that follow a worded rule or satisfy an equation.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Coordinates that follow a rule will form a pattern when plotted.</a:t>
            </a:r>
            <a:endParaRPr/>
          </a:p>
        </p:txBody>
      </p:sp>
      <p:sp>
        <p:nvSpPr>
          <p:cNvPr id="1470" name="Google Shape;1470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6" name="Google Shape;1476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