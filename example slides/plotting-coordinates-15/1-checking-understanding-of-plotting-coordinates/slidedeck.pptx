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8b1a83b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8b1a83b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88b1a83b5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88b1a83b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88b1a83b5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88b1a83b5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4c6c6a2c3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4c6c6a2c3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8b57db1e5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8b57db1e5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88b1a83b5e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88b1a83b5e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88b1a83b5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88b1a83b5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88b1a83b5e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88b1a83b5e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4c6c6a2c3c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4c6c6a2c3c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4c6c6a2c3c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4c6c6a2c3c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4c6c6a2c3c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4c6c6a2c3c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4c6c6a2c3c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4c6c6a2c3c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4c6c6a2c3c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4c6c6a2c3c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4c6c6a2c3c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4c6c6a2c3c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8a58e330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8a58e330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4c6c6a2c3c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4c6c6a2c3c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8a58e3309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8a58e3309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4c6c6a2c3c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4c6c6a2c3c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4c6c6a2c3c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4c6c6a2c3c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4c6c6a2c3c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4c6c6a2c3c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4c6c6a2c3c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4c6c6a2c3c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4c6c6a2c3c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4c6c6a2c3c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4c6c6a2c3c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4c6c6a2c3c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4c6c6a2c3c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4c6c6a2c3c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4c6c6a2c3c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4c6c6a2c3c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4c6c6a2c3c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4c6c6a2c3c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4c6c6a2c3c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4c6c6a2c3c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4c6c6a2c3c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4c6c6a2c3c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4c6c6a2c3c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4c6c6a2c3c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4c6c6a2c3c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4c6c6a2c3c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4c6c6a2c3c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4c6c6a2c3c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4c6c6a2c3c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4c6c6a2c3c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4c6c6a2c3c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4c6c6a2c3c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24c6c6a2c3c_0_1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24c6c6a2c3c_0_1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8b34fc89d9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8b34fc89d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8b57db1e5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8b57db1e5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8a58e3309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8a58e3309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8a58e3309e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8a58e3309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85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5.png"/><Relationship Id="rId4" Type="http://schemas.openxmlformats.org/officeDocument/2006/relationships/image" Target="../media/image24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5.png"/><Relationship Id="rId4" Type="http://schemas.openxmlformats.org/officeDocument/2006/relationships/image" Target="../media/image31.png"/><Relationship Id="rId11" Type="http://schemas.openxmlformats.org/officeDocument/2006/relationships/image" Target="../media/image19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6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61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3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5" Type="http://schemas.openxmlformats.org/officeDocument/2006/relationships/image" Target="../media/image64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Relationship Id="rId5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67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8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0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Relationship Id="rId4" Type="http://schemas.openxmlformats.org/officeDocument/2006/relationships/image" Target="../media/image74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3.png"/><Relationship Id="rId4" Type="http://schemas.openxmlformats.org/officeDocument/2006/relationships/image" Target="../media/image75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3.png"/><Relationship Id="rId4" Type="http://schemas.openxmlformats.org/officeDocument/2006/relationships/image" Target="../media/image81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6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9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8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8.png"/><Relationship Id="rId4" Type="http://schemas.openxmlformats.org/officeDocument/2006/relationships/image" Target="../media/image83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2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4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0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coordinates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plot coordinates in the first quadrant.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3555338"/>
            <a:ext cx="83385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Drawing on a graph or map is known as </a:t>
            </a:r>
            <a:r>
              <a:rPr b="1" lang="en-GB" sz="1800">
                <a:solidFill>
                  <a:schemeClr val="dk1"/>
                </a:solidFill>
              </a:rPr>
              <a:t>plotting</a:t>
            </a:r>
            <a:r>
              <a:rPr lang="en-GB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810000"/>
            <a:ext cx="4248000" cy="12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 </a:t>
            </a:r>
            <a:r>
              <a:rPr b="1" lang="en-GB" sz="1800">
                <a:solidFill>
                  <a:schemeClr val="dk1"/>
                </a:solidFill>
              </a:rPr>
              <a:t>quadrant </a:t>
            </a:r>
            <a:r>
              <a:rPr lang="en-GB" sz="1800">
                <a:solidFill>
                  <a:schemeClr val="dk1"/>
                </a:solidFill>
              </a:rPr>
              <a:t>is any one of the four areas into which a space is divided by the </a:t>
            </a: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chemeClr val="dk1"/>
                </a:solidFill>
              </a:rPr>
              <a:t> and </a:t>
            </a: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chemeClr val="dk1"/>
                </a:solidFill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axes in the Cartesian coordinate system.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600" y="3951025"/>
            <a:ext cx="7990800" cy="8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To </a:t>
            </a:r>
            <a:r>
              <a:rPr b="1" lang="en-GB" sz="1800">
                <a:solidFill>
                  <a:schemeClr val="dk1"/>
                </a:solidFill>
              </a:rPr>
              <a:t>translate </a:t>
            </a:r>
            <a:r>
              <a:rPr lang="en-GB" sz="1800">
                <a:solidFill>
                  <a:schemeClr val="dk1"/>
                </a:solidFill>
              </a:rPr>
              <a:t>a shape is to perform a translation. A transformation in which </a:t>
            </a:r>
            <a:r>
              <a:rPr lang="en-GB" sz="1800">
                <a:solidFill>
                  <a:schemeClr val="dk1"/>
                </a:solidFill>
              </a:rPr>
              <a:t>every point of a shape moves the same distance in the same direction.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69" name="Google Shape;7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525" y="830313"/>
            <a:ext cx="2778526" cy="26593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0" name="Google Shape;770;p67"/>
          <p:cNvSpPr txBox="1"/>
          <p:nvPr/>
        </p:nvSpPr>
        <p:spPr>
          <a:xfrm>
            <a:off x="6707325" y="1164339"/>
            <a:ext cx="1607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quadrant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/>
        </p:nvSpPr>
        <p:spPr>
          <a:xfrm>
            <a:off x="5427525" y="1164339"/>
            <a:ext cx="12669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Second quadrant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 txBox="1"/>
          <p:nvPr/>
        </p:nvSpPr>
        <p:spPr>
          <a:xfrm>
            <a:off x="5417407" y="2598985"/>
            <a:ext cx="12669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Third quadrant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/>
        </p:nvSpPr>
        <p:spPr>
          <a:xfrm>
            <a:off x="6869059" y="2598985"/>
            <a:ext cx="12669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Fourth quadrant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7"/>
          <p:cNvSpPr txBox="1"/>
          <p:nvPr>
            <p:ph idx="2" type="subTitle"/>
          </p:nvPr>
        </p:nvSpPr>
        <p:spPr>
          <a:xfrm>
            <a:off x="324000" y="2355500"/>
            <a:ext cx="4846500" cy="10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b="1" lang="en-GB" sz="1800">
                <a:solidFill>
                  <a:schemeClr val="dk1"/>
                </a:solidFill>
                <a:highlight>
                  <a:srgbClr val="FFFFFF"/>
                </a:highlight>
              </a:rPr>
              <a:t>origin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is where the </a:t>
            </a:r>
            <a:r>
              <a:rPr i="1" lang="en-GB" sz="2000">
                <a:solidFill>
                  <a:schemeClr val="dk1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- axis and </a:t>
            </a:r>
            <a:r>
              <a:rPr i="1" lang="en-GB" sz="2000">
                <a:solidFill>
                  <a:schemeClr val="dk1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- axis cross. It has the coordinate pair (0,0).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sp>
        <p:nvSpPr>
          <p:cNvPr id="781" name="Google Shape;781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782" name="Google Shape;782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coordinates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89" y="17463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1c570d2c-911f-4621-a0b6-c5cb2765ad39&quot; data-equatio-type=&quot;desmos&quot;&gt;&lt;mglyph src=&quot;https://equatio-api.texthelp.com/desmos/get/09-10-2023/1c570d2c-911f-4621-a0b6-c5cb2765ad39&quot; alt=&quot;Equatio Desmos Graph&quot;/&gt;&lt;/math&gt;" id="789" name="Google Shape;789;p6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18" y="1097371"/>
            <a:ext cx="3864104" cy="35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4819800" y="824274"/>
            <a:ext cx="3575100" cy="15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is a Cartesian </a:t>
            </a:r>
            <a:r>
              <a:rPr lang="en-GB" sz="2000"/>
              <a:t>C</a:t>
            </a:r>
            <a:r>
              <a:rPr lang="en-GB" sz="2000"/>
              <a:t>oordinate </a:t>
            </a:r>
            <a:r>
              <a:rPr lang="en-GB" sz="2000"/>
              <a:t>G</a:t>
            </a:r>
            <a:r>
              <a:rPr lang="en-GB" sz="2000"/>
              <a:t>rid.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Can we label it with these key features?</a:t>
            </a:r>
            <a:endParaRPr sz="2000"/>
          </a:p>
        </p:txBody>
      </p:sp>
      <p:sp>
        <p:nvSpPr>
          <p:cNvPr id="791" name="Google Shape;791;p69"/>
          <p:cNvSpPr/>
          <p:nvPr/>
        </p:nvSpPr>
        <p:spPr>
          <a:xfrm>
            <a:off x="5285180" y="3514382"/>
            <a:ext cx="181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origin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/>
          <p:nvPr/>
        </p:nvSpPr>
        <p:spPr>
          <a:xfrm>
            <a:off x="5285173" y="4047775"/>
            <a:ext cx="25443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first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quadrant</a:t>
            </a:r>
            <a:endParaRPr b="1" sz="2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793" name="Google Shape;793;p6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200" y="889550"/>
            <a:ext cx="168075" cy="226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794" name="Google Shape;794;p6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0165" y="2796347"/>
            <a:ext cx="168075" cy="1534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5" name="Google Shape;795;p69"/>
          <p:cNvCxnSpPr/>
          <p:nvPr/>
        </p:nvCxnSpPr>
        <p:spPr>
          <a:xfrm flipH="1" rot="10800000">
            <a:off x="157937" y="2868347"/>
            <a:ext cx="4260300" cy="6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796" name="Google Shape;796;p69"/>
          <p:cNvCxnSpPr/>
          <p:nvPr/>
        </p:nvCxnSpPr>
        <p:spPr>
          <a:xfrm flipH="1" rot="10800000">
            <a:off x="2262188" y="883000"/>
            <a:ext cx="5700" cy="3990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stealth"/>
            <a:tailEnd len="med" w="med" type="triangle"/>
          </a:ln>
        </p:spPr>
      </p:cxnSp>
      <p:grpSp>
        <p:nvGrpSpPr>
          <p:cNvPr id="797" name="Google Shape;797;p69"/>
          <p:cNvGrpSpPr/>
          <p:nvPr/>
        </p:nvGrpSpPr>
        <p:grpSpPr>
          <a:xfrm>
            <a:off x="2160979" y="2566284"/>
            <a:ext cx="1003629" cy="503100"/>
            <a:chOff x="2160979" y="2566284"/>
            <a:chExt cx="1003629" cy="503100"/>
          </a:xfrm>
        </p:grpSpPr>
        <p:sp>
          <p:nvSpPr>
            <p:cNvPr id="798" name="Google Shape;798;p69"/>
            <p:cNvSpPr/>
            <p:nvPr/>
          </p:nvSpPr>
          <p:spPr>
            <a:xfrm>
              <a:off x="2160979" y="2718684"/>
              <a:ext cx="301800" cy="3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2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9" name="Google Shape;799;p69"/>
            <p:cNvSpPr/>
            <p:nvPr/>
          </p:nvSpPr>
          <p:spPr>
            <a:xfrm>
              <a:off x="2324608" y="2566284"/>
              <a:ext cx="840000" cy="3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O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rigin</a:t>
              </a:r>
              <a:endParaRPr sz="24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0" name="Google Shape;800;p69"/>
          <p:cNvSpPr txBox="1"/>
          <p:nvPr/>
        </p:nvSpPr>
        <p:spPr>
          <a:xfrm>
            <a:off x="6695825" y="3516675"/>
            <a:ext cx="8262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(0,0)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/>
          <p:nvPr/>
        </p:nvSpPr>
        <p:spPr>
          <a:xfrm>
            <a:off x="5273950" y="2452407"/>
            <a:ext cx="181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axis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/>
          <p:nvPr/>
        </p:nvSpPr>
        <p:spPr>
          <a:xfrm>
            <a:off x="5285180" y="2913600"/>
            <a:ext cx="181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axis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3" name="Google Shape;803;p69"/>
          <p:cNvGrpSpPr/>
          <p:nvPr/>
        </p:nvGrpSpPr>
        <p:grpSpPr>
          <a:xfrm>
            <a:off x="2258350" y="1115825"/>
            <a:ext cx="1926300" cy="1771400"/>
            <a:chOff x="2259550" y="1085950"/>
            <a:chExt cx="1926300" cy="1771400"/>
          </a:xfrm>
        </p:grpSpPr>
        <p:sp>
          <p:nvSpPr>
            <p:cNvPr id="804" name="Google Shape;804;p69"/>
            <p:cNvSpPr/>
            <p:nvPr/>
          </p:nvSpPr>
          <p:spPr>
            <a:xfrm>
              <a:off x="2259550" y="1085950"/>
              <a:ext cx="1923900" cy="1763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05" name="Google Shape;805;p69"/>
            <p:cNvCxnSpPr/>
            <p:nvPr/>
          </p:nvCxnSpPr>
          <p:spPr>
            <a:xfrm>
              <a:off x="2262825" y="1088927"/>
              <a:ext cx="19230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69"/>
            <p:cNvCxnSpPr/>
            <p:nvPr/>
          </p:nvCxnSpPr>
          <p:spPr>
            <a:xfrm>
              <a:off x="4185850" y="1096650"/>
              <a:ext cx="0" cy="17607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807" name="Google Shape;807;p69"/>
          <p:cNvSpPr/>
          <p:nvPr/>
        </p:nvSpPr>
        <p:spPr>
          <a:xfrm>
            <a:off x="2694375" y="1639237"/>
            <a:ext cx="11142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first </a:t>
            </a:r>
            <a:r>
              <a:rPr b="1"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quadrant</a:t>
            </a:r>
            <a:endParaRPr b="1" sz="24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4824000" y="1097791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are a system used to define the position of a point on a Cartesian Coordinate Grid.</a:t>
            </a:r>
            <a:endParaRPr/>
          </a:p>
        </p:txBody>
      </p:sp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4824000" y="1097791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are a system used to define the position of a point on a </a:t>
            </a:r>
            <a:r>
              <a:rPr lang="en-GB">
                <a:solidFill>
                  <a:schemeClr val="accent4"/>
                </a:solidFill>
              </a:rPr>
              <a:t>Cartesian </a:t>
            </a:r>
            <a:r>
              <a:rPr lang="en-GB"/>
              <a:t>Coordinate Grid.</a:t>
            </a:r>
            <a:endParaRPr/>
          </a:p>
        </p:txBody>
      </p:sp>
      <p:sp>
        <p:nvSpPr>
          <p:cNvPr id="815" name="Google Shape;815;p70"/>
          <p:cNvSpPr txBox="1"/>
          <p:nvPr>
            <p:ph idx="1" type="body"/>
          </p:nvPr>
        </p:nvSpPr>
        <p:spPr>
          <a:xfrm>
            <a:off x="4824000" y="2709221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Ren</a:t>
            </a:r>
            <a:r>
              <a:rPr lang="en-GB">
                <a:highlight>
                  <a:schemeClr val="lt1"/>
                </a:highlight>
              </a:rPr>
              <a:t>é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Descartes</a:t>
            </a:r>
            <a:r>
              <a:rPr lang="en-GB"/>
              <a:t> (1596-1650)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16" name="Google Shape;816;p70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17" name="Google Shape;817;p7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206" y="4451772"/>
            <a:ext cx="173971" cy="158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45bc630b-b0e6-4ac0-a9d3-d00bc625ec0e&quot; data-equatio-type=&quot;desmos&quot;&gt;&lt;mglyph src=&quot;https://equatio-api.texthelp.com/desmos/get/09-10-2023/45bc630b-b0e6-4ac0-a9d3-d00bc625ec0e&quot; alt=&quot;Equatio Desmos Graph&quot;/&gt;&lt;/math&gt;" id="818" name="Google Shape;818;p70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025" y="1080000"/>
            <a:ext cx="4255976" cy="37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19" name="Google Shape;819;p70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20" name="Google Shape;820;p7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826" name="Google Shape;826;p71"/>
          <p:cNvSpPr txBox="1"/>
          <p:nvPr>
            <p:ph idx="1" type="body"/>
          </p:nvPr>
        </p:nvSpPr>
        <p:spPr>
          <a:xfrm>
            <a:off x="4824000" y="1958461"/>
            <a:ext cx="3987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“Two along, three up ?”</a:t>
            </a:r>
            <a:endParaRPr/>
          </a:p>
        </p:txBody>
      </p: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4824000" y="2485448"/>
            <a:ext cx="3987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“Two </a:t>
            </a:r>
            <a:r>
              <a:rPr lang="en-GB">
                <a:solidFill>
                  <a:srgbClr val="7A60D5"/>
                </a:solidFill>
              </a:rPr>
              <a:t>right</a:t>
            </a:r>
            <a:r>
              <a:rPr lang="en-GB"/>
              <a:t>, three up ?”</a:t>
            </a:r>
            <a:endParaRPr/>
          </a:p>
        </p:txBody>
      </p:sp>
      <p:sp>
        <p:nvSpPr>
          <p:cNvPr id="828" name="Google Shape;828;p71"/>
          <p:cNvSpPr txBox="1"/>
          <p:nvPr>
            <p:ph idx="1" type="body"/>
          </p:nvPr>
        </p:nvSpPr>
        <p:spPr>
          <a:xfrm>
            <a:off x="4824000" y="1021591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language would you use to describe this position?</a:t>
            </a:r>
            <a:endParaRPr/>
          </a:p>
        </p:txBody>
      </p:sp>
      <p:sp>
        <p:nvSpPr>
          <p:cNvPr id="829" name="Google Shape;829;p71"/>
          <p:cNvSpPr txBox="1"/>
          <p:nvPr>
            <p:ph idx="1" type="body"/>
          </p:nvPr>
        </p:nvSpPr>
        <p:spPr>
          <a:xfrm>
            <a:off x="4824000" y="3031675"/>
            <a:ext cx="3140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“Two right, three up from the </a:t>
            </a:r>
            <a:r>
              <a:rPr lang="en-GB">
                <a:solidFill>
                  <a:schemeClr val="accent4"/>
                </a:solidFill>
              </a:rPr>
              <a:t>origin</a:t>
            </a:r>
            <a:r>
              <a:rPr lang="en-GB"/>
              <a:t>”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45bc630b-b0e6-4ac0-a9d3-d00bc625ec0e&quot; data-equatio-type=&quot;desmos&quot;&gt;&lt;mglyph src=&quot;https://equatio-api.texthelp.com/desmos/get/09-10-2023/45bc630b-b0e6-4ac0-a9d3-d00bc625ec0e&quot; alt=&quot;Equatio Desmos Graph&quot;/&gt;&lt;/math&gt;" id="830" name="Google Shape;830;p7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080000"/>
            <a:ext cx="4255976" cy="375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1" name="Google Shape;831;p71"/>
          <p:cNvCxnSpPr/>
          <p:nvPr/>
        </p:nvCxnSpPr>
        <p:spPr>
          <a:xfrm>
            <a:off x="695424" y="4527687"/>
            <a:ext cx="1395600" cy="4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71"/>
          <p:cNvCxnSpPr/>
          <p:nvPr/>
        </p:nvCxnSpPr>
        <p:spPr>
          <a:xfrm flipH="1" rot="10800000">
            <a:off x="2080602" y="2700137"/>
            <a:ext cx="10200" cy="183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y&quot;&gt;&lt;mi&gt;y&lt;/mi&gt;&lt;/math&gt;" id="833" name="Google Shape;833;p71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34" name="Google Shape;834;p7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1"/>
          <p:cNvSpPr/>
          <p:nvPr/>
        </p:nvSpPr>
        <p:spPr>
          <a:xfrm>
            <a:off x="538319" y="4341345"/>
            <a:ext cx="3018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3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709200" y="4109705"/>
            <a:ext cx="6861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(0,0)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842" name="Google Shape;842;p72"/>
          <p:cNvSpPr txBox="1"/>
          <p:nvPr>
            <p:ph idx="1" type="body"/>
          </p:nvPr>
        </p:nvSpPr>
        <p:spPr>
          <a:xfrm>
            <a:off x="4824000" y="1021600"/>
            <a:ext cx="3724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Could</a:t>
            </a:r>
            <a:r>
              <a:rPr lang="en-GB"/>
              <a:t> you</a:t>
            </a:r>
            <a:r>
              <a:rPr lang="en-GB"/>
              <a:t> describe this position in a sentence using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?</a:t>
            </a:r>
            <a:endParaRPr/>
          </a:p>
        </p:txBody>
      </p:sp>
      <p:sp>
        <p:nvSpPr>
          <p:cNvPr id="843" name="Google Shape;843;p72"/>
          <p:cNvSpPr txBox="1"/>
          <p:nvPr>
            <p:ph idx="1" type="body"/>
          </p:nvPr>
        </p:nvSpPr>
        <p:spPr>
          <a:xfrm>
            <a:off x="4824000" y="2258438"/>
            <a:ext cx="37806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“Two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/>
              <a:t>direction, and three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/>
              <a:t>direction”</a:t>
            </a:r>
            <a:endParaRPr/>
          </a:p>
        </p:txBody>
      </p:sp>
      <p:sp>
        <p:nvSpPr>
          <p:cNvPr id="844" name="Google Shape;844;p72"/>
          <p:cNvSpPr txBox="1"/>
          <p:nvPr>
            <p:ph idx="1" type="body"/>
          </p:nvPr>
        </p:nvSpPr>
        <p:spPr>
          <a:xfrm>
            <a:off x="4824000" y="3139147"/>
            <a:ext cx="37806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“Two in the </a:t>
            </a:r>
            <a:r>
              <a:rPr lang="en-GB">
                <a:solidFill>
                  <a:schemeClr val="accent4"/>
                </a:solidFill>
              </a:rPr>
              <a:t>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  direction, and three in the </a:t>
            </a:r>
            <a:r>
              <a:rPr lang="en-GB">
                <a:solidFill>
                  <a:schemeClr val="accent4"/>
                </a:solidFill>
              </a:rPr>
              <a:t>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direction from the origin”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45bc630b-b0e6-4ac0-a9d3-d00bc625ec0e&quot; data-equatio-type=&quot;desmos&quot;&gt;&lt;mglyph src=&quot;https://equatio-api.texthelp.com/desmos/get/09-10-2023/45bc630b-b0e6-4ac0-a9d3-d00bc625ec0e&quot; alt=&quot;Equatio Desmos Graph&quot;/&gt;&lt;/math&gt;" id="845" name="Google Shape;845;p7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080000"/>
            <a:ext cx="4255976" cy="375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6" name="Google Shape;846;p72"/>
          <p:cNvGrpSpPr/>
          <p:nvPr/>
        </p:nvGrpSpPr>
        <p:grpSpPr>
          <a:xfrm>
            <a:off x="695424" y="2700022"/>
            <a:ext cx="1395673" cy="1833715"/>
            <a:chOff x="847850" y="2612505"/>
            <a:chExt cx="1187100" cy="1768800"/>
          </a:xfrm>
        </p:grpSpPr>
        <p:cxnSp>
          <p:nvCxnSpPr>
            <p:cNvPr id="847" name="Google Shape;847;p72"/>
            <p:cNvCxnSpPr/>
            <p:nvPr/>
          </p:nvCxnSpPr>
          <p:spPr>
            <a:xfrm>
              <a:off x="847850" y="4375470"/>
              <a:ext cx="1187100" cy="4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8" name="Google Shape;848;p72"/>
            <p:cNvCxnSpPr/>
            <p:nvPr/>
          </p:nvCxnSpPr>
          <p:spPr>
            <a:xfrm flipH="1" rot="10800000">
              <a:off x="2026023" y="2612505"/>
              <a:ext cx="8700" cy="1768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y&quot;&gt;&lt;mi&gt;y&lt;/mi&gt;&lt;/math&gt;" id="849" name="Google Shape;849;p72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50" name="Google Shape;850;p72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3"/>
          <p:cNvSpPr txBox="1"/>
          <p:nvPr>
            <p:ph idx="3" type="subTitle"/>
          </p:nvPr>
        </p:nvSpPr>
        <p:spPr>
          <a:xfrm>
            <a:off x="1034425" y="2489450"/>
            <a:ext cx="3421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One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</a:t>
            </a:r>
            <a:r>
              <a:rPr lang="en-GB" sz="1800"/>
              <a:t>direction, four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direction.</a:t>
            </a:r>
            <a:endParaRPr sz="1800"/>
          </a:p>
        </p:txBody>
      </p:sp>
      <p:sp>
        <p:nvSpPr>
          <p:cNvPr id="856" name="Google Shape;856;p73"/>
          <p:cNvSpPr txBox="1"/>
          <p:nvPr>
            <p:ph idx="5" type="subTitle"/>
          </p:nvPr>
        </p:nvSpPr>
        <p:spPr>
          <a:xfrm>
            <a:off x="1034425" y="4113825"/>
            <a:ext cx="34218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One in the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direction, four in the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direction.</a:t>
            </a:r>
            <a:endParaRPr sz="1800"/>
          </a:p>
        </p:txBody>
      </p:sp>
      <p:sp>
        <p:nvSpPr>
          <p:cNvPr id="857" name="Google Shape;857;p7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sentence best describes this coordinate?</a:t>
            </a:r>
            <a:endParaRPr sz="2000"/>
          </a:p>
        </p:txBody>
      </p:sp>
      <p:sp>
        <p:nvSpPr>
          <p:cNvPr id="858" name="Google Shape;858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859" name="Google Shape;859;p73"/>
          <p:cNvSpPr txBox="1"/>
          <p:nvPr>
            <p:ph idx="1" type="subTitle"/>
          </p:nvPr>
        </p:nvSpPr>
        <p:spPr>
          <a:xfrm>
            <a:off x="1034425" y="1685375"/>
            <a:ext cx="3421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One</a:t>
            </a:r>
            <a:r>
              <a:rPr lang="en-GB" sz="1800"/>
              <a:t> along, four up.</a:t>
            </a:r>
            <a:endParaRPr sz="1800"/>
          </a:p>
        </p:txBody>
      </p:sp>
      <p:sp>
        <p:nvSpPr>
          <p:cNvPr id="860" name="Google Shape;860;p73"/>
          <p:cNvSpPr txBox="1"/>
          <p:nvPr>
            <p:ph idx="4" type="subTitle"/>
          </p:nvPr>
        </p:nvSpPr>
        <p:spPr>
          <a:xfrm>
            <a:off x="1034425" y="3309775"/>
            <a:ext cx="3421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Four</a:t>
            </a:r>
            <a:r>
              <a:rPr lang="en-GB" sz="1800"/>
              <a:t>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direction, one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direction.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50a2d47e-3819-483f-8d3d-8717cc1dcee5&quot; data-equatio-type=&quot;desmos&quot;&gt;&lt;mglyph src=&quot;https://equatio-api.texthelp.com/desmos/get/09-10-2023/50a2d47e-3819-483f-8d3d-8717cc1dcee5&quot; alt=&quot;Equatio Desmos Graph&quot;/&gt;&lt;/math&gt;" id="861" name="Google Shape;861;p7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989" y="1331124"/>
            <a:ext cx="3995974" cy="2996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62" name="Google Shape;862;p73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9848" y="1214870"/>
            <a:ext cx="154491" cy="20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63" name="Google Shape;863;p73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2559" y="4184518"/>
            <a:ext cx="154491" cy="141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5167" y="435962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0-2023/45bc630b-b0e6-4ac0-a9d3-d00bc625ec0e&quot; data-equatio-type=&quot;desmos&quot;&gt;&lt;mglyph src=&quot;https://equatio-api.texthelp.com/desmos/get/09-10-2023/45bc630b-b0e6-4ac0-a9d3-d00bc625ec0e&quot; alt=&quot;Equatio Desmos Graph&quot;/&gt;&lt;/math&gt;" id="869" name="Google Shape;869;p7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080000"/>
            <a:ext cx="4255976" cy="37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871" name="Google Shape;871;p74"/>
          <p:cNvSpPr txBox="1"/>
          <p:nvPr>
            <p:ph idx="1" type="body"/>
          </p:nvPr>
        </p:nvSpPr>
        <p:spPr>
          <a:xfrm>
            <a:off x="4824000" y="1021600"/>
            <a:ext cx="3724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Could you describe this position in a sentence using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?</a:t>
            </a:r>
            <a:endParaRPr/>
          </a:p>
        </p:txBody>
      </p:sp>
      <p:sp>
        <p:nvSpPr>
          <p:cNvPr id="872" name="Google Shape;872;p74"/>
          <p:cNvSpPr txBox="1"/>
          <p:nvPr>
            <p:ph idx="1" type="body"/>
          </p:nvPr>
        </p:nvSpPr>
        <p:spPr>
          <a:xfrm>
            <a:off x="6148266" y="3517746"/>
            <a:ext cx="12876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(2, 3)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\left(x,\ y\right)&quot;&gt;&lt;mrow data-mjx-texclass=&quot;INNER&quot;&gt;&lt;mo data-mjx-texclass=&quot;OPEN&quot;&gt;(&lt;/mo&gt;&lt;mi&gt;x&lt;/mi&gt;&lt;mo&gt;,&lt;/mo&gt;&lt;mtext&gt;&lt;/mtext&gt;&lt;mi&gt;y&lt;/mi&gt;&lt;mo data-mjx-texclass=&quot;CLOSE&quot;&gt;)&lt;/mo&gt;&lt;/mrow&gt;&lt;/math&gt;" id="873" name="Google Shape;873;p74" title="open paren x comma y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754" y="3152238"/>
            <a:ext cx="856000" cy="325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74"/>
          <p:cNvGrpSpPr/>
          <p:nvPr/>
        </p:nvGrpSpPr>
        <p:grpSpPr>
          <a:xfrm>
            <a:off x="675850" y="2439216"/>
            <a:ext cx="7692925" cy="613500"/>
            <a:chOff x="675850" y="2439216"/>
            <a:chExt cx="7692925" cy="613500"/>
          </a:xfrm>
        </p:grpSpPr>
        <p:cxnSp>
          <p:nvCxnSpPr>
            <p:cNvPr id="875" name="Google Shape;875;p74"/>
            <p:cNvCxnSpPr/>
            <p:nvPr/>
          </p:nvCxnSpPr>
          <p:spPr>
            <a:xfrm flipH="1">
              <a:off x="675850" y="2643625"/>
              <a:ext cx="1404000" cy="11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876" name="Google Shape;876;p74"/>
            <p:cNvSpPr/>
            <p:nvPr/>
          </p:nvSpPr>
          <p:spPr>
            <a:xfrm>
              <a:off x="4718975" y="2439216"/>
              <a:ext cx="3649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“The </a:t>
              </a: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coordinate is two, the </a:t>
              </a: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coordinate is three”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77" name="Google Shape;877;p74"/>
          <p:cNvCxnSpPr/>
          <p:nvPr/>
        </p:nvCxnSpPr>
        <p:spPr>
          <a:xfrm>
            <a:off x="2091100" y="2711000"/>
            <a:ext cx="0" cy="181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8" name="Google Shape;878;p74"/>
          <p:cNvSpPr/>
          <p:nvPr/>
        </p:nvSpPr>
        <p:spPr>
          <a:xfrm>
            <a:off x="4724975" y="2197532"/>
            <a:ext cx="364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“The </a:t>
            </a:r>
            <a:r>
              <a:rPr i="1"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coordinate is two,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4"/>
          <p:cNvSpPr txBox="1"/>
          <p:nvPr>
            <p:ph idx="1" type="body"/>
          </p:nvPr>
        </p:nvSpPr>
        <p:spPr>
          <a:xfrm>
            <a:off x="5090425" y="4031098"/>
            <a:ext cx="1553700" cy="8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coordinate</a:t>
            </a:r>
            <a:endParaRPr sz="1800"/>
          </a:p>
        </p:txBody>
      </p:sp>
      <p:sp>
        <p:nvSpPr>
          <p:cNvPr id="880" name="Google Shape;880;p74"/>
          <p:cNvSpPr txBox="1"/>
          <p:nvPr>
            <p:ph idx="1" type="body"/>
          </p:nvPr>
        </p:nvSpPr>
        <p:spPr>
          <a:xfrm>
            <a:off x="6995421" y="4107302"/>
            <a:ext cx="1553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</a:t>
            </a:r>
            <a:r>
              <a:rPr lang="en-GB" sz="1800"/>
              <a:t>coordinate</a:t>
            </a:r>
            <a:endParaRPr sz="1800"/>
          </a:p>
        </p:txBody>
      </p:sp>
      <p:cxnSp>
        <p:nvCxnSpPr>
          <p:cNvPr id="881" name="Google Shape;881;p74"/>
          <p:cNvCxnSpPr/>
          <p:nvPr/>
        </p:nvCxnSpPr>
        <p:spPr>
          <a:xfrm flipH="1" rot="10800000">
            <a:off x="5808100" y="3877300"/>
            <a:ext cx="458400" cy="32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2" name="Google Shape;882;p74"/>
          <p:cNvCxnSpPr/>
          <p:nvPr/>
        </p:nvCxnSpPr>
        <p:spPr>
          <a:xfrm rot="10800000">
            <a:off x="6798700" y="3877300"/>
            <a:ext cx="458400" cy="32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y&quot;&gt;&lt;mi&gt;y&lt;/mi&gt;&lt;/math&gt;" id="883" name="Google Shape;883;p74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84" name="Google Shape;884;p74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correctly write a</a:t>
            </a:r>
            <a:r>
              <a:rPr lang="en-GB"/>
              <a:t> coordinate pair?</a:t>
            </a:r>
            <a:endParaRPr/>
          </a:p>
        </p:txBody>
      </p:sp>
      <p:sp>
        <p:nvSpPr>
          <p:cNvPr id="890" name="Google Shape;890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891" name="Google Shape;891;p75"/>
          <p:cNvSpPr txBox="1"/>
          <p:nvPr>
            <p:ph idx="1" type="subTitle"/>
          </p:nvPr>
        </p:nvSpPr>
        <p:spPr>
          <a:xfrm>
            <a:off x="1034425" y="1747932"/>
            <a:ext cx="3134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coordinate first,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 second.</a:t>
            </a:r>
            <a:endParaRPr sz="2000"/>
          </a:p>
        </p:txBody>
      </p:sp>
      <p:sp>
        <p:nvSpPr>
          <p:cNvPr id="892" name="Google Shape;892;p75"/>
          <p:cNvSpPr txBox="1"/>
          <p:nvPr>
            <p:ph idx="3" type="subTitle"/>
          </p:nvPr>
        </p:nvSpPr>
        <p:spPr>
          <a:xfrm>
            <a:off x="1034425" y="2704407"/>
            <a:ext cx="3381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coordinate is second,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 first.</a:t>
            </a:r>
            <a:endParaRPr sz="2000"/>
          </a:p>
        </p:txBody>
      </p:sp>
      <p:sp>
        <p:nvSpPr>
          <p:cNvPr id="893" name="Google Shape;893;p75"/>
          <p:cNvSpPr txBox="1"/>
          <p:nvPr>
            <p:ph idx="4" type="subTitle"/>
          </p:nvPr>
        </p:nvSpPr>
        <p:spPr>
          <a:xfrm>
            <a:off x="1034425" y="3766974"/>
            <a:ext cx="3768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Either way. It doesn’t matter.</a:t>
            </a:r>
            <a:endParaRPr sz="2000"/>
          </a:p>
        </p:txBody>
      </p:sp>
      <p:sp>
        <p:nvSpPr>
          <p:cNvPr id="894" name="Google Shape;894;p75"/>
          <p:cNvSpPr txBox="1"/>
          <p:nvPr>
            <p:ph idx="4294967295" type="body"/>
          </p:nvPr>
        </p:nvSpPr>
        <p:spPr>
          <a:xfrm>
            <a:off x="6419375" y="2002564"/>
            <a:ext cx="12876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(5, 2)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\left(x,\ y\right)&quot;&gt;&lt;mrow data-mjx-texclass=&quot;INNER&quot;&gt;&lt;mo data-mjx-texclass=&quot;OPEN&quot;&gt;(&lt;/mo&gt;&lt;mi&gt;x&lt;/mi&gt;&lt;mo&gt;,&lt;/mo&gt;&lt;mtext&gt;&lt;/mtext&gt;&lt;mi&gt;y&lt;/mi&gt;&lt;mo data-mjx-texclass=&quot;CLOSE&quot;&gt;)&lt;/mo&gt;&lt;/mrow&gt;&lt;/math&gt;" id="895" name="Google Shape;895;p75" title="open paren x comma y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863" y="1637055"/>
            <a:ext cx="856000" cy="32583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5"/>
          <p:cNvSpPr txBox="1"/>
          <p:nvPr>
            <p:ph idx="4294967295" type="body"/>
          </p:nvPr>
        </p:nvSpPr>
        <p:spPr>
          <a:xfrm>
            <a:off x="5361530" y="2592120"/>
            <a:ext cx="1553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/>
              <a:t>coordinate</a:t>
            </a:r>
            <a:endParaRPr sz="1800"/>
          </a:p>
        </p:txBody>
      </p:sp>
      <p:sp>
        <p:nvSpPr>
          <p:cNvPr id="897" name="Google Shape;897;p75"/>
          <p:cNvSpPr txBox="1"/>
          <p:nvPr>
            <p:ph idx="4294967295" type="body"/>
          </p:nvPr>
        </p:nvSpPr>
        <p:spPr>
          <a:xfrm>
            <a:off x="7266530" y="2592120"/>
            <a:ext cx="1553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</a:t>
            </a:r>
            <a:r>
              <a:rPr lang="en-GB" sz="1800"/>
              <a:t>coordinate</a:t>
            </a:r>
            <a:endParaRPr sz="1800"/>
          </a:p>
        </p:txBody>
      </p:sp>
      <p:cxnSp>
        <p:nvCxnSpPr>
          <p:cNvPr id="898" name="Google Shape;898;p75"/>
          <p:cNvCxnSpPr/>
          <p:nvPr/>
        </p:nvCxnSpPr>
        <p:spPr>
          <a:xfrm flipH="1" rot="10800000">
            <a:off x="6079209" y="2362118"/>
            <a:ext cx="458400" cy="32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5"/>
          <p:cNvCxnSpPr/>
          <p:nvPr/>
        </p:nvCxnSpPr>
        <p:spPr>
          <a:xfrm rot="10800000">
            <a:off x="7069809" y="2362118"/>
            <a:ext cx="458400" cy="32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00" name="Google Shape;90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892" y="19493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6"/>
          <p:cNvSpPr txBox="1"/>
          <p:nvPr>
            <p:ph idx="1" type="body"/>
          </p:nvPr>
        </p:nvSpPr>
        <p:spPr>
          <a:xfrm>
            <a:off x="4824000" y="1021591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Plot</a:t>
            </a:r>
            <a:r>
              <a:rPr lang="en-GB"/>
              <a:t> the coordinate (4,2)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1fb88251-2f61-460a-b35c-af797b553030&quot; data-equatio-type=&quot;desmos&quot;&gt;&lt;mglyph src=&quot;https://equatio-api.texthelp.com/desmos/get/09-10-2023/1fb88251-2f61-460a-b35c-af797b553030&quot; alt=&quot;Equatio Desmos Graph&quot;/&gt;&lt;/math&gt;" id="906" name="Google Shape;906;p7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1059675"/>
            <a:ext cx="4255976" cy="37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8b5297e-6233-4df4-8cbf-ac91f2a2f917&quot; data-equatio-type=&quot;desmos&quot;&gt;&lt;mglyph src=&quot;https://equatio-api.texthelp.com/desmos/get/09-10-2023/e8b5297e-6233-4df4-8cbf-ac91f2a2f917&quot; alt=&quot;Equatio Desmos Graph&quot;/&gt;&lt;/math&gt;" id="907" name="Google Shape;907;p76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5" y="1059675"/>
            <a:ext cx="4255976" cy="37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08" name="Google Shape;908;p7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09" name="Google Shape;909;p76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0" name="Google Shape;910;p76"/>
          <p:cNvCxnSpPr/>
          <p:nvPr/>
        </p:nvCxnSpPr>
        <p:spPr>
          <a:xfrm rot="10800000">
            <a:off x="3515750" y="3272725"/>
            <a:ext cx="6600" cy="122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1" name="Google Shape;911;p76"/>
          <p:cNvCxnSpPr/>
          <p:nvPr/>
        </p:nvCxnSpPr>
        <p:spPr>
          <a:xfrm flipH="1" rot="10800000">
            <a:off x="676075" y="4506341"/>
            <a:ext cx="2830200" cy="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2" name="Google Shape;912;p76"/>
          <p:cNvSpPr txBox="1"/>
          <p:nvPr/>
        </p:nvSpPr>
        <p:spPr>
          <a:xfrm>
            <a:off x="3506275" y="2661975"/>
            <a:ext cx="105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(4, 2)</a:t>
            </a:r>
            <a:endParaRPr sz="2600"/>
          </a:p>
        </p:txBody>
      </p:sp>
      <p:grpSp>
        <p:nvGrpSpPr>
          <p:cNvPr id="913" name="Google Shape;913;p76"/>
          <p:cNvGrpSpPr/>
          <p:nvPr/>
        </p:nvGrpSpPr>
        <p:grpSpPr>
          <a:xfrm>
            <a:off x="3432064" y="3160576"/>
            <a:ext cx="173971" cy="158855"/>
            <a:chOff x="6197400" y="3479675"/>
            <a:chExt cx="118800" cy="129900"/>
          </a:xfrm>
        </p:grpSpPr>
        <p:cxnSp>
          <p:nvCxnSpPr>
            <p:cNvPr id="914" name="Google Shape;914;p76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76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6" name="Google Shape;91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922" name="Google Shape;922;p77"/>
          <p:cNvSpPr txBox="1"/>
          <p:nvPr>
            <p:ph idx="1" type="body"/>
          </p:nvPr>
        </p:nvSpPr>
        <p:spPr>
          <a:xfrm>
            <a:off x="4824000" y="1021591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Plot</a:t>
            </a:r>
            <a:r>
              <a:rPr lang="en-GB"/>
              <a:t> the coordinate (4,0)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e3223323-3eb2-4876-887c-7084d491ef9c&quot; data-equatio-type=&quot;desmos&quot;&gt;&lt;mglyph src=&quot;https://equatio-api.texthelp.com/desmos/get/09-10-2023/e3223323-3eb2-4876-887c-7084d491ef9c&quot; alt=&quot;Equatio Desmos Graph&quot;/&gt;&lt;/math&gt;" id="923" name="Google Shape;923;p7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65" y="1080000"/>
            <a:ext cx="4263660" cy="373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24" name="Google Shape;924;p77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25" name="Google Shape;925;p77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7"/>
          <p:cNvSpPr txBox="1"/>
          <p:nvPr/>
        </p:nvSpPr>
        <p:spPr>
          <a:xfrm>
            <a:off x="3369600" y="3780000"/>
            <a:ext cx="145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(4, 0)</a:t>
            </a:r>
            <a:endParaRPr sz="2600"/>
          </a:p>
        </p:txBody>
      </p:sp>
      <p:grpSp>
        <p:nvGrpSpPr>
          <p:cNvPr id="927" name="Google Shape;927;p77"/>
          <p:cNvGrpSpPr/>
          <p:nvPr/>
        </p:nvGrpSpPr>
        <p:grpSpPr>
          <a:xfrm>
            <a:off x="3449802" y="4429626"/>
            <a:ext cx="173971" cy="158855"/>
            <a:chOff x="6197400" y="3479675"/>
            <a:chExt cx="118800" cy="129900"/>
          </a:xfrm>
        </p:grpSpPr>
        <p:cxnSp>
          <p:nvCxnSpPr>
            <p:cNvPr id="928" name="Google Shape;928;p77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9" name="Google Shape;929;p77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30" name="Google Shape;930;p77"/>
          <p:cNvCxnSpPr/>
          <p:nvPr/>
        </p:nvCxnSpPr>
        <p:spPr>
          <a:xfrm flipH="1" rot="10800000">
            <a:off x="676075" y="4506341"/>
            <a:ext cx="2830200" cy="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1" name="Google Shape;931;p77"/>
          <p:cNvSpPr txBox="1"/>
          <p:nvPr/>
        </p:nvSpPr>
        <p:spPr>
          <a:xfrm>
            <a:off x="4870400" y="1713300"/>
            <a:ext cx="30000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in the 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direction, zero in the 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0-2023/e3223323-3eb2-4876-887c-7084d491ef9c&quot; data-equatio-type=&quot;desmos&quot;&gt;&lt;mglyph src=&quot;https://equatio-api.texthelp.com/desmos/get/09-10-2023/e3223323-3eb2-4876-887c-7084d491ef9c&quot; alt=&quot;Equatio Desmos Graph&quot;/&gt;&lt;/math&gt;" id="936" name="Google Shape;936;p7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65" y="1080000"/>
            <a:ext cx="4263660" cy="37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938" name="Google Shape;938;p78"/>
          <p:cNvSpPr txBox="1"/>
          <p:nvPr>
            <p:ph idx="1" type="body"/>
          </p:nvPr>
        </p:nvSpPr>
        <p:spPr>
          <a:xfrm>
            <a:off x="4824000" y="845400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same, what is different, about these two coordinates?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939" name="Google Shape;939;p78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40" name="Google Shape;940;p7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8"/>
          <p:cNvSpPr txBox="1"/>
          <p:nvPr>
            <p:ph idx="1" type="body"/>
          </p:nvPr>
        </p:nvSpPr>
        <p:spPr>
          <a:xfrm>
            <a:off x="4824000" y="2337330"/>
            <a:ext cx="9504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2" name="Google Shape;942;p78"/>
          <p:cNvSpPr txBox="1"/>
          <p:nvPr>
            <p:ph idx="1" type="body"/>
          </p:nvPr>
        </p:nvSpPr>
        <p:spPr>
          <a:xfrm>
            <a:off x="6266675" y="2337325"/>
            <a:ext cx="23013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both have a 2 and a 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3" name="Google Shape;943;p78"/>
          <p:cNvSpPr txBox="1"/>
          <p:nvPr>
            <p:ph idx="1" type="body"/>
          </p:nvPr>
        </p:nvSpPr>
        <p:spPr>
          <a:xfrm>
            <a:off x="4824000" y="3917200"/>
            <a:ext cx="11124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Different: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4" name="Google Shape;944;p78"/>
          <p:cNvSpPr txBox="1"/>
          <p:nvPr>
            <p:ph idx="1" type="body"/>
          </p:nvPr>
        </p:nvSpPr>
        <p:spPr>
          <a:xfrm>
            <a:off x="6266683" y="3917200"/>
            <a:ext cx="23013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direction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the 2 and the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45" name="Google Shape;945;p78"/>
          <p:cNvGrpSpPr/>
          <p:nvPr/>
        </p:nvGrpSpPr>
        <p:grpSpPr>
          <a:xfrm>
            <a:off x="676075" y="4090465"/>
            <a:ext cx="3544500" cy="469200"/>
            <a:chOff x="676075" y="4090465"/>
            <a:chExt cx="3544500" cy="469200"/>
          </a:xfrm>
        </p:grpSpPr>
        <p:cxnSp>
          <p:nvCxnSpPr>
            <p:cNvPr id="946" name="Google Shape;946;p78"/>
            <p:cNvCxnSpPr/>
            <p:nvPr/>
          </p:nvCxnSpPr>
          <p:spPr>
            <a:xfrm flipH="1" rot="10800000">
              <a:off x="676075" y="4506350"/>
              <a:ext cx="3544500" cy="5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47" name="Google Shape;947;p78"/>
            <p:cNvSpPr/>
            <p:nvPr/>
          </p:nvSpPr>
          <p:spPr>
            <a:xfrm>
              <a:off x="2331410" y="4090465"/>
              <a:ext cx="379500" cy="4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8" name="Google Shape;948;p78"/>
          <p:cNvGrpSpPr/>
          <p:nvPr/>
        </p:nvGrpSpPr>
        <p:grpSpPr>
          <a:xfrm>
            <a:off x="4232450" y="3272734"/>
            <a:ext cx="383460" cy="1228800"/>
            <a:chOff x="4232450" y="3272734"/>
            <a:chExt cx="383460" cy="1228800"/>
          </a:xfrm>
        </p:grpSpPr>
        <p:cxnSp>
          <p:nvCxnSpPr>
            <p:cNvPr id="949" name="Google Shape;949;p78"/>
            <p:cNvCxnSpPr/>
            <p:nvPr/>
          </p:nvCxnSpPr>
          <p:spPr>
            <a:xfrm rot="10800000">
              <a:off x="4232450" y="3272734"/>
              <a:ext cx="8400" cy="1228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0" name="Google Shape;950;p78"/>
            <p:cNvSpPr/>
            <p:nvPr/>
          </p:nvSpPr>
          <p:spPr>
            <a:xfrm>
              <a:off x="4236410" y="3709465"/>
              <a:ext cx="379500" cy="4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1" name="Google Shape;951;p78"/>
          <p:cNvGrpSpPr/>
          <p:nvPr/>
        </p:nvGrpSpPr>
        <p:grpSpPr>
          <a:xfrm>
            <a:off x="676047" y="4090475"/>
            <a:ext cx="1440130" cy="469200"/>
            <a:chOff x="676075" y="4090465"/>
            <a:chExt cx="3544500" cy="469200"/>
          </a:xfrm>
        </p:grpSpPr>
        <p:cxnSp>
          <p:nvCxnSpPr>
            <p:cNvPr id="952" name="Google Shape;952;p78"/>
            <p:cNvCxnSpPr/>
            <p:nvPr/>
          </p:nvCxnSpPr>
          <p:spPr>
            <a:xfrm flipH="1" rot="10800000">
              <a:off x="676075" y="4506350"/>
              <a:ext cx="3544500" cy="5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3" name="Google Shape;953;p78"/>
            <p:cNvSpPr/>
            <p:nvPr/>
          </p:nvSpPr>
          <p:spPr>
            <a:xfrm>
              <a:off x="2143814" y="4090465"/>
              <a:ext cx="827400" cy="4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4" name="Google Shape;954;p78"/>
          <p:cNvGrpSpPr/>
          <p:nvPr/>
        </p:nvGrpSpPr>
        <p:grpSpPr>
          <a:xfrm>
            <a:off x="2098609" y="1427317"/>
            <a:ext cx="383460" cy="3074703"/>
            <a:chOff x="4232450" y="3272734"/>
            <a:chExt cx="383460" cy="1228800"/>
          </a:xfrm>
        </p:grpSpPr>
        <p:cxnSp>
          <p:nvCxnSpPr>
            <p:cNvPr id="955" name="Google Shape;955;p78"/>
            <p:cNvCxnSpPr/>
            <p:nvPr/>
          </p:nvCxnSpPr>
          <p:spPr>
            <a:xfrm rot="10800000">
              <a:off x="4232450" y="3272734"/>
              <a:ext cx="8400" cy="1228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6" name="Google Shape;956;p78"/>
            <p:cNvSpPr/>
            <p:nvPr/>
          </p:nvSpPr>
          <p:spPr>
            <a:xfrm>
              <a:off x="4236410" y="3648559"/>
              <a:ext cx="379500" cy="4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7" name="Google Shape;957;p78"/>
          <p:cNvGrpSpPr/>
          <p:nvPr/>
        </p:nvGrpSpPr>
        <p:grpSpPr>
          <a:xfrm>
            <a:off x="2019139" y="1331951"/>
            <a:ext cx="173971" cy="158855"/>
            <a:chOff x="6197400" y="3479675"/>
            <a:chExt cx="118800" cy="129900"/>
          </a:xfrm>
        </p:grpSpPr>
        <p:cxnSp>
          <p:nvCxnSpPr>
            <p:cNvPr id="958" name="Google Shape;958;p78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9" name="Google Shape;959;p78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0" name="Google Shape;960;p78"/>
          <p:cNvGrpSpPr/>
          <p:nvPr/>
        </p:nvGrpSpPr>
        <p:grpSpPr>
          <a:xfrm>
            <a:off x="4146039" y="3160576"/>
            <a:ext cx="173971" cy="158855"/>
            <a:chOff x="6197400" y="3479675"/>
            <a:chExt cx="118800" cy="129900"/>
          </a:xfrm>
        </p:grpSpPr>
        <p:cxnSp>
          <p:nvCxnSpPr>
            <p:cNvPr id="961" name="Google Shape;961;p78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2" name="Google Shape;962;p78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968" name="Google Shape;968;p79"/>
          <p:cNvSpPr txBox="1"/>
          <p:nvPr>
            <p:ph idx="1" type="body"/>
          </p:nvPr>
        </p:nvSpPr>
        <p:spPr>
          <a:xfrm>
            <a:off x="4824000" y="1021600"/>
            <a:ext cx="25812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</a:t>
            </a:r>
            <a:r>
              <a:rPr b="1" lang="en-GB"/>
              <a:t>plots </a:t>
            </a:r>
            <a:r>
              <a:rPr lang="en-GB"/>
              <a:t>the coordinate (1,2)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has he done wrong?</a:t>
            </a:r>
            <a:endParaRPr/>
          </a:p>
        </p:txBody>
      </p:sp>
      <p:pic>
        <p:nvPicPr>
          <p:cNvPr id="969" name="Google Shape;96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5042" y="1034851"/>
            <a:ext cx="1291318" cy="1665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febee44-013c-4fe1-9252-11005f97bc4e&quot; data-equatio-type=&quot;desmos&quot;&gt;&lt;mglyph src=&quot;https://equatio-api.texthelp.com/desmos/get/09-10-2023/efebee44-013c-4fe1-9252-11005f97bc4e&quot; alt=&quot;Equatio Desmos Graph&quot;/&gt;&lt;/math&gt;" id="970" name="Google Shape;970;p79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5" y="1092025"/>
            <a:ext cx="4246876" cy="372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71" name="Google Shape;971;p79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72" name="Google Shape;972;p79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9"/>
          <p:cNvSpPr txBox="1"/>
          <p:nvPr/>
        </p:nvSpPr>
        <p:spPr>
          <a:xfrm>
            <a:off x="1404475" y="2629050"/>
            <a:ext cx="1145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(1, 2)</a:t>
            </a:r>
            <a:endParaRPr sz="2600"/>
          </a:p>
        </p:txBody>
      </p:sp>
      <p:grpSp>
        <p:nvGrpSpPr>
          <p:cNvPr id="974" name="Google Shape;974;p79"/>
          <p:cNvGrpSpPr/>
          <p:nvPr/>
        </p:nvGrpSpPr>
        <p:grpSpPr>
          <a:xfrm>
            <a:off x="1296964" y="3214051"/>
            <a:ext cx="173971" cy="158855"/>
            <a:chOff x="6197400" y="3479675"/>
            <a:chExt cx="118800" cy="129900"/>
          </a:xfrm>
        </p:grpSpPr>
        <p:cxnSp>
          <p:nvCxnSpPr>
            <p:cNvPr id="975" name="Google Shape;975;p79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6" name="Google Shape;976;p79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7" name="Google Shape;977;p79"/>
          <p:cNvSpPr txBox="1"/>
          <p:nvPr/>
        </p:nvSpPr>
        <p:spPr>
          <a:xfrm>
            <a:off x="2269150" y="3487500"/>
            <a:ext cx="1145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(2, 1)</a:t>
            </a:r>
            <a:endParaRPr sz="2600"/>
          </a:p>
        </p:txBody>
      </p:sp>
      <p:sp>
        <p:nvSpPr>
          <p:cNvPr id="978" name="Google Shape;978;p79"/>
          <p:cNvSpPr txBox="1"/>
          <p:nvPr/>
        </p:nvSpPr>
        <p:spPr>
          <a:xfrm>
            <a:off x="5053250" y="2893350"/>
            <a:ext cx="30000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moved two in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direction and one in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direction accidentally plotting (2,1) instead.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0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The coordinate (0,0) where 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and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 axes cross is called the</a:t>
            </a:r>
            <a:r>
              <a:rPr lang="en-GB"/>
              <a:t> __________.</a:t>
            </a:r>
            <a:endParaRPr/>
          </a:p>
        </p:txBody>
      </p:sp>
      <p:sp>
        <p:nvSpPr>
          <p:cNvPr id="984" name="Google Shape;984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the </a:t>
            </a:r>
            <a:r>
              <a:rPr lang="en-GB"/>
              <a:t>first</a:t>
            </a:r>
            <a:r>
              <a:rPr lang="en-GB"/>
              <a:t> quadrant</a:t>
            </a:r>
            <a:endParaRPr/>
          </a:p>
        </p:txBody>
      </p:sp>
      <p:sp>
        <p:nvSpPr>
          <p:cNvPr id="985" name="Google Shape;985;p80"/>
          <p:cNvSpPr txBox="1"/>
          <p:nvPr>
            <p:ph idx="1" type="body"/>
          </p:nvPr>
        </p:nvSpPr>
        <p:spPr>
          <a:xfrm>
            <a:off x="324000" y="1902300"/>
            <a:ext cx="3601800" cy="29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</a:t>
            </a:r>
            <a:r>
              <a:rPr lang="en-GB"/>
              <a:t> </a:t>
            </a:r>
            <a:r>
              <a:rPr b="1" lang="en-GB"/>
              <a:t>Plot </a:t>
            </a:r>
            <a:r>
              <a:rPr lang="en-GB"/>
              <a:t>these coordinates and label them: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(3,5)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(5,3)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(5,5)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(0,5)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ef1a423c-05ee-4db2-baef-e9b1f346998f&quot; data-equatio-type=&quot;desmos&quot;&gt;&lt;mglyph src=&quot;https://equatio-api.texthelp.com/desmos/get/09-10-2023/ef1a423c-05ee-4db2-baef-e9b1f346998f&quot; alt=&quot;Equatio Desmos Graph&quot;/&gt;&lt;/math&gt;" id="986" name="Google Shape;986;p8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3410" y="1734301"/>
            <a:ext cx="3492096" cy="308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87" name="Google Shape;987;p8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482" y="1607736"/>
            <a:ext cx="142746" cy="192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88" name="Google Shape;988;p8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2464" y="4659068"/>
            <a:ext cx="142746" cy="130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1"/>
          <p:cNvSpPr txBox="1"/>
          <p:nvPr>
            <p:ph idx="1" type="body"/>
          </p:nvPr>
        </p:nvSpPr>
        <p:spPr>
          <a:xfrm>
            <a:off x="4819800" y="1021591"/>
            <a:ext cx="3605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</a:t>
            </a:r>
            <a:r>
              <a:rPr lang="en-GB"/>
              <a:t> Izzy </a:t>
            </a:r>
            <a:r>
              <a:rPr b="1" lang="en-GB"/>
              <a:t>plots</a:t>
            </a:r>
            <a:r>
              <a:rPr lang="en-GB"/>
              <a:t> the coordinate (3,0).</a:t>
            </a:r>
            <a:endParaRPr/>
          </a:p>
        </p:txBody>
      </p:sp>
      <p:sp>
        <p:nvSpPr>
          <p:cNvPr id="994" name="Google Shape;994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995" name="Google Shape;995;p81"/>
          <p:cNvSpPr txBox="1"/>
          <p:nvPr>
            <p:ph idx="1" type="body"/>
          </p:nvPr>
        </p:nvSpPr>
        <p:spPr>
          <a:xfrm>
            <a:off x="4819800" y="2164600"/>
            <a:ext cx="29655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a sentence to explain her error.</a:t>
            </a:r>
            <a:endParaRPr/>
          </a:p>
        </p:txBody>
      </p:sp>
      <p:pic>
        <p:nvPicPr>
          <p:cNvPr id="996" name="Google Shape;99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000" y="1088991"/>
            <a:ext cx="1333000" cy="1290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02f0d6b7-b3e5-4f52-986b-14b95c52fe8d&quot; data-equatio-type=&quot;desmos&quot;&gt;&lt;mglyph src=&quot;https://equatio-api.texthelp.com/desmos/get/10-10-2023/02f0d6b7-b3e5-4f52-986b-14b95c52fe8d&quot; alt=&quot;Equatio Desmos Graph&quot;/&gt;&lt;/math&gt;" id="997" name="Google Shape;997;p8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250" y="1089000"/>
            <a:ext cx="4244750" cy="373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98" name="Google Shape;998;p8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569" y="970300"/>
            <a:ext cx="162539" cy="230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99" name="Google Shape;999;p8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64" y="4659068"/>
            <a:ext cx="142746" cy="130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0-2023/5eebd2b9-528b-4d5a-87cf-bf8d213f03bf&quot; data-equatio-type=&quot;desmos&quot;&gt;&lt;mglyph src=&quot;https://equatio-api.texthelp.com/desmos/get/09-10-2023/5eebd2b9-528b-4d5a-87cf-bf8d213f03bf&quot; alt=&quot;Equatio Desmos Graph&quot;/&gt;&lt;/math&gt;" id="1004" name="Google Shape;1004;p8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565" y="1587374"/>
            <a:ext cx="4314810" cy="32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1006" name="Google Shape;1006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The coordinate (0,0) where 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and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 axes cross is called the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origin</a:t>
            </a:r>
            <a:r>
              <a:rPr lang="en-GB"/>
              <a:t>  .</a:t>
            </a:r>
            <a:endParaRPr/>
          </a:p>
        </p:txBody>
      </p:sp>
      <p:sp>
        <p:nvSpPr>
          <p:cNvPr id="1007" name="Google Shape;1007;p82"/>
          <p:cNvSpPr txBox="1"/>
          <p:nvPr>
            <p:ph idx="1" type="body"/>
          </p:nvPr>
        </p:nvSpPr>
        <p:spPr>
          <a:xfrm>
            <a:off x="324000" y="1902300"/>
            <a:ext cx="3601800" cy="29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b="1" lang="en-GB"/>
              <a:t>Plot </a:t>
            </a:r>
            <a:r>
              <a:rPr lang="en-GB"/>
              <a:t>these coordinates and label them: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(3,5)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(5,3)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(5,5)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(0,5)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008" name="Google Shape;1008;p82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6482" y="1455336"/>
            <a:ext cx="142746" cy="192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09" name="Google Shape;1009;p82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664" y="4659068"/>
            <a:ext cx="142746" cy="130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1015" name="Google Shape;1015;p83"/>
          <p:cNvSpPr txBox="1"/>
          <p:nvPr>
            <p:ph idx="1" type="body"/>
          </p:nvPr>
        </p:nvSpPr>
        <p:spPr>
          <a:xfrm>
            <a:off x="324000" y="624653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Izzy </a:t>
            </a:r>
            <a:r>
              <a:rPr b="1" lang="en-GB"/>
              <a:t>plots</a:t>
            </a:r>
            <a:r>
              <a:rPr lang="en-GB"/>
              <a:t> the coordinate (3,0).</a:t>
            </a:r>
            <a:endParaRPr/>
          </a:p>
        </p:txBody>
      </p:sp>
      <p:pic>
        <p:nvPicPr>
          <p:cNvPr id="1016" name="Google Shape;101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000" y="1088991"/>
            <a:ext cx="1333000" cy="1290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02f0d6b7-b3e5-4f52-986b-14b95c52fe8d&quot; data-equatio-type=&quot;desmos&quot;&gt;&lt;mglyph src=&quot;https://equatio-api.texthelp.com/desmos/get/10-10-2023/02f0d6b7-b3e5-4f52-986b-14b95c52fe8d&quot; alt=&quot;Equatio Desmos Graph&quot;/&gt;&lt;/math&gt;" id="1017" name="Google Shape;1017;p83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250" y="1089000"/>
            <a:ext cx="4244750" cy="37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83"/>
          <p:cNvSpPr txBox="1"/>
          <p:nvPr>
            <p:ph idx="1" type="body"/>
          </p:nvPr>
        </p:nvSpPr>
        <p:spPr>
          <a:xfrm>
            <a:off x="4819800" y="2568052"/>
            <a:ext cx="3605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sentence might have read, ‘(3,0) is three in the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direction, then zero in the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direction from the origin. Izzy did it the other way round’.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399ce620-1bbb-4cc5-aa8b-3c7ad45ca861&quot; data-equatio-type=&quot;desmos&quot;&gt;&lt;mglyph src=&quot;https://equatio-api.texthelp.com/desmos/get/10-10-2023/399ce620-1bbb-4cc5-aa8b-3c7ad45ca861&quot; alt=&quot;Equatio Desmos Graph&quot;/&gt;&lt;/math&gt;" id="1019" name="Google Shape;1019;p83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249" y="1090525"/>
            <a:ext cx="4244750" cy="373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20" name="Google Shape;1020;p83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569" y="970300"/>
            <a:ext cx="162539" cy="230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21" name="Google Shape;1021;p83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64" y="4659068"/>
            <a:ext cx="142746" cy="130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1027" name="Google Shape;1027;p8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sp>
        <p:nvSpPr>
          <p:cNvPr id="1028" name="Google Shape;1028;p8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029" name="Google Shape;1029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coordinates</a:t>
            </a:r>
            <a:endParaRPr/>
          </a:p>
        </p:txBody>
      </p:sp>
      <p:pic>
        <p:nvPicPr>
          <p:cNvPr id="1030" name="Google Shape;103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54" y="27673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5"/>
          <p:cNvSpPr txBox="1"/>
          <p:nvPr>
            <p:ph idx="1" type="body"/>
          </p:nvPr>
        </p:nvSpPr>
        <p:spPr>
          <a:xfrm>
            <a:off x="4824000" y="1064100"/>
            <a:ext cx="3737700" cy="25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Plot </a:t>
            </a:r>
            <a:r>
              <a:rPr lang="en-GB"/>
              <a:t>these coordinates.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(1,4)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(1,1)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(4,1)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(4,4)</a:t>
            </a:r>
            <a:endParaRPr/>
          </a:p>
        </p:txBody>
      </p:sp>
      <p:sp>
        <p:nvSpPr>
          <p:cNvPr id="1036" name="Google Shape;103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037" name="Google Shape;1037;p85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38" name="Google Shape;1038;p85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8b5297e-6233-4df4-8cbf-ac91f2a2f917&quot; data-equatio-type=&quot;desmos&quot;&gt;&lt;mglyph src=&quot;https://equatio-api.texthelp.com/desmos/get/09-10-2023/e8b5297e-6233-4df4-8cbf-ac91f2a2f917&quot; alt=&quot;Equatio Desmos Graph&quot;/&gt;&lt;/math&gt;" id="1039" name="Google Shape;1039;p85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139625"/>
            <a:ext cx="4255976" cy="375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0" name="Google Shape;1040;p85"/>
          <p:cNvGrpSpPr/>
          <p:nvPr/>
        </p:nvGrpSpPr>
        <p:grpSpPr>
          <a:xfrm>
            <a:off x="1287381" y="1974536"/>
            <a:ext cx="218105" cy="234197"/>
            <a:chOff x="6197400" y="3479675"/>
            <a:chExt cx="118800" cy="129900"/>
          </a:xfrm>
        </p:grpSpPr>
        <p:cxnSp>
          <p:nvCxnSpPr>
            <p:cNvPr id="1041" name="Google Shape;1041;p85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2" name="Google Shape;1042;p85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3" name="Google Shape;1043;p85"/>
          <p:cNvGrpSpPr/>
          <p:nvPr/>
        </p:nvGrpSpPr>
        <p:grpSpPr>
          <a:xfrm>
            <a:off x="1287381" y="3862136"/>
            <a:ext cx="218105" cy="234197"/>
            <a:chOff x="6197400" y="3479675"/>
            <a:chExt cx="118800" cy="129900"/>
          </a:xfrm>
        </p:grpSpPr>
        <p:cxnSp>
          <p:nvCxnSpPr>
            <p:cNvPr id="1044" name="Google Shape;1044;p85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85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6" name="Google Shape;1046;p85"/>
          <p:cNvGrpSpPr/>
          <p:nvPr/>
        </p:nvGrpSpPr>
        <p:grpSpPr>
          <a:xfrm>
            <a:off x="3412956" y="3862136"/>
            <a:ext cx="218105" cy="234197"/>
            <a:chOff x="6197400" y="3479675"/>
            <a:chExt cx="118800" cy="129900"/>
          </a:xfrm>
        </p:grpSpPr>
        <p:cxnSp>
          <p:nvCxnSpPr>
            <p:cNvPr id="1047" name="Google Shape;1047;p85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85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9" name="Google Shape;1049;p85"/>
          <p:cNvGrpSpPr/>
          <p:nvPr/>
        </p:nvGrpSpPr>
        <p:grpSpPr>
          <a:xfrm>
            <a:off x="3412956" y="1974536"/>
            <a:ext cx="218105" cy="234197"/>
            <a:chOff x="6197400" y="3479675"/>
            <a:chExt cx="118800" cy="129900"/>
          </a:xfrm>
        </p:grpSpPr>
        <p:cxnSp>
          <p:nvCxnSpPr>
            <p:cNvPr id="1050" name="Google Shape;1050;p85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1" name="Google Shape;1051;p85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52" name="Google Shape;1052;p85"/>
          <p:cNvCxnSpPr/>
          <p:nvPr/>
        </p:nvCxnSpPr>
        <p:spPr>
          <a:xfrm flipH="1">
            <a:off x="1391325" y="2160000"/>
            <a:ext cx="10200" cy="187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85"/>
          <p:cNvCxnSpPr/>
          <p:nvPr/>
        </p:nvCxnSpPr>
        <p:spPr>
          <a:xfrm flipH="1">
            <a:off x="1387275" y="3976675"/>
            <a:ext cx="2129400" cy="5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85"/>
          <p:cNvCxnSpPr/>
          <p:nvPr/>
        </p:nvCxnSpPr>
        <p:spPr>
          <a:xfrm flipH="1">
            <a:off x="3516895" y="2044500"/>
            <a:ext cx="10200" cy="187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85"/>
          <p:cNvCxnSpPr/>
          <p:nvPr/>
        </p:nvCxnSpPr>
        <p:spPr>
          <a:xfrm flipH="1">
            <a:off x="1457350" y="2089070"/>
            <a:ext cx="2129400" cy="5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85"/>
          <p:cNvSpPr txBox="1"/>
          <p:nvPr>
            <p:ph idx="1" type="body"/>
          </p:nvPr>
        </p:nvSpPr>
        <p:spPr>
          <a:xfrm>
            <a:off x="4824000" y="3780000"/>
            <a:ext cx="3218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form a square.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6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additional coordinate do you need to </a:t>
            </a:r>
            <a:r>
              <a:rPr b="1" lang="en-GB"/>
              <a:t>plot</a:t>
            </a:r>
            <a:r>
              <a:rPr lang="en-GB"/>
              <a:t> to form a square?</a:t>
            </a:r>
            <a:endParaRPr/>
          </a:p>
        </p:txBody>
      </p:sp>
      <p:sp>
        <p:nvSpPr>
          <p:cNvPr id="1062" name="Google Shape;106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coordinates to plot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7c7a4139-4b3c-4902-afe4-2ccc49c91b3d&quot; data-equatio-type=&quot;desmos&quot;&gt;&lt;mglyph src=&quot;https://equatio-api.texthelp.com/desmos/get/09-10-2023/7c7a4139-4b3c-4902-afe4-2ccc49c91b3d&quot; alt=&quot;Equatio Desmos Graph&quot;/&gt;&lt;/math&gt;" id="1063" name="Google Shape;1063;p8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125" y="1188850"/>
            <a:ext cx="3679874" cy="363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499ed2e2-a775-42d8-aff6-39f39ac15995&quot; data-equatio-type=&quot;desmos&quot;&gt;&lt;mglyph src=&quot;https://equatio-api.texthelp.com/desmos/get/09-10-2023/499ed2e2-a775-42d8-aff6-39f39ac15995&quot; alt=&quot;Equatio Desmos Graph&quot;/&gt;&lt;/math&gt;" id="1064" name="Google Shape;1064;p86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125" y="1188850"/>
            <a:ext cx="3679876" cy="363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65" name="Google Shape;1065;p8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3775" y="1184477"/>
            <a:ext cx="161565" cy="217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66" name="Google Shape;1066;p86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7635" y="4638067"/>
            <a:ext cx="161565" cy="14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7c7a4139-4b3c-4902-afe4-2ccc49c91b3d&quot; data-equatio-type=&quot;desmos&quot;&gt;&lt;mglyph src=&quot;https://equatio-api.texthelp.com/desmos/get/09-10-2023/7c7a4139-4b3c-4902-afe4-2ccc49c91b3d&quot; alt=&quot;Equatio Desmos Graph&quot;/&gt;&lt;/math&gt;" id="1072" name="Google Shape;1072;p8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125" y="1188850"/>
            <a:ext cx="3679874" cy="363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027061b4-61cc-4238-94d3-bc734678da37&quot; data-equatio-type=&quot;desmos&quot;&gt;&lt;mglyph src=&quot;https://equatio-api.texthelp.com/desmos/get/09-10-2023/027061b4-61cc-4238-94d3-bc734678da37&quot; alt=&quot;Equatio Desmos Graph&quot;/&gt;&lt;/math&gt;" id="1073" name="Google Shape;1073;p87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1200" y="1184475"/>
            <a:ext cx="3679876" cy="363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74" name="Google Shape;1074;p87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3775" y="1184477"/>
            <a:ext cx="161565" cy="217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75" name="Google Shape;1075;p87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7635" y="4638067"/>
            <a:ext cx="161565" cy="1475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87"/>
          <p:cNvSpPr/>
          <p:nvPr/>
        </p:nvSpPr>
        <p:spPr>
          <a:xfrm>
            <a:off x="4911800" y="2700000"/>
            <a:ext cx="1235700" cy="1215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7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additional coordinate do you need to </a:t>
            </a:r>
            <a:r>
              <a:rPr b="1" lang="en-GB"/>
              <a:t>plot</a:t>
            </a:r>
            <a:r>
              <a:rPr lang="en-GB"/>
              <a:t> to form a square?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8"/>
          <p:cNvSpPr txBox="1"/>
          <p:nvPr>
            <p:ph idx="1" type="body"/>
          </p:nvPr>
        </p:nvSpPr>
        <p:spPr>
          <a:xfrm>
            <a:off x="4824000" y="1064100"/>
            <a:ext cx="3737700" cy="25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Plot </a:t>
            </a:r>
            <a:r>
              <a:rPr lang="en-GB"/>
              <a:t>these coordinates.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(2,1)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(4,3)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(2,5)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(0,3)</a:t>
            </a:r>
            <a:endParaRPr/>
          </a:p>
        </p:txBody>
      </p:sp>
      <p:sp>
        <p:nvSpPr>
          <p:cNvPr id="1083" name="Google Shape;108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f356fb15-482c-4608-9edc-8a5100921134&quot; data-equatio-type=&quot;desmos&quot;&gt;&lt;mglyph src=&quot;https://equatio-api.texthelp.com/desmos/get/09-10-2023/f356fb15-482c-4608-9edc-8a5100921134&quot; alt=&quot;Equatio Desmos Graph&quot;/&gt;&lt;/math&gt;" id="1084" name="Google Shape;1084;p8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841800"/>
            <a:ext cx="4046600" cy="39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85" name="Google Shape;1085;p88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55" y="753025"/>
            <a:ext cx="167923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86" name="Google Shape;1086;p8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4077" y="4624221"/>
            <a:ext cx="167923" cy="1588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88"/>
          <p:cNvGrpSpPr/>
          <p:nvPr/>
        </p:nvGrpSpPr>
        <p:grpSpPr>
          <a:xfrm>
            <a:off x="1913832" y="3711036"/>
            <a:ext cx="218105" cy="234197"/>
            <a:chOff x="6197400" y="3479675"/>
            <a:chExt cx="118800" cy="129900"/>
          </a:xfrm>
        </p:grpSpPr>
        <p:cxnSp>
          <p:nvCxnSpPr>
            <p:cNvPr id="1088" name="Google Shape;1088;p88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9" name="Google Shape;1089;p88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0" name="Google Shape;1090;p88"/>
          <p:cNvGrpSpPr/>
          <p:nvPr/>
        </p:nvGrpSpPr>
        <p:grpSpPr>
          <a:xfrm>
            <a:off x="3260545" y="2400411"/>
            <a:ext cx="218105" cy="234197"/>
            <a:chOff x="6197400" y="3479675"/>
            <a:chExt cx="118800" cy="129900"/>
          </a:xfrm>
        </p:grpSpPr>
        <p:cxnSp>
          <p:nvCxnSpPr>
            <p:cNvPr id="1091" name="Google Shape;1091;p88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2" name="Google Shape;1092;p88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3" name="Google Shape;1093;p88"/>
          <p:cNvGrpSpPr/>
          <p:nvPr/>
        </p:nvGrpSpPr>
        <p:grpSpPr>
          <a:xfrm>
            <a:off x="1913832" y="1064111"/>
            <a:ext cx="218105" cy="234197"/>
            <a:chOff x="6197400" y="3479675"/>
            <a:chExt cx="118800" cy="129900"/>
          </a:xfrm>
        </p:grpSpPr>
        <p:cxnSp>
          <p:nvCxnSpPr>
            <p:cNvPr id="1094" name="Google Shape;1094;p88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5" name="Google Shape;1095;p88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6" name="Google Shape;1096;p88"/>
          <p:cNvGrpSpPr/>
          <p:nvPr/>
        </p:nvGrpSpPr>
        <p:grpSpPr>
          <a:xfrm>
            <a:off x="566482" y="2400411"/>
            <a:ext cx="218105" cy="234197"/>
            <a:chOff x="6197400" y="3479675"/>
            <a:chExt cx="118800" cy="129900"/>
          </a:xfrm>
        </p:grpSpPr>
        <p:cxnSp>
          <p:nvCxnSpPr>
            <p:cNvPr id="1097" name="Google Shape;1097;p88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" name="Google Shape;1098;p88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99" name="Google Shape;1099;p88"/>
          <p:cNvCxnSpPr/>
          <p:nvPr/>
        </p:nvCxnSpPr>
        <p:spPr>
          <a:xfrm flipH="1">
            <a:off x="2022775" y="2509925"/>
            <a:ext cx="1330500" cy="1305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88"/>
          <p:cNvCxnSpPr/>
          <p:nvPr/>
        </p:nvCxnSpPr>
        <p:spPr>
          <a:xfrm rot="10800000">
            <a:off x="2007450" y="1216050"/>
            <a:ext cx="1336200" cy="1303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88"/>
          <p:cNvCxnSpPr/>
          <p:nvPr/>
        </p:nvCxnSpPr>
        <p:spPr>
          <a:xfrm flipH="1">
            <a:off x="742463" y="1175800"/>
            <a:ext cx="1271100" cy="1289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88"/>
          <p:cNvCxnSpPr/>
          <p:nvPr/>
        </p:nvCxnSpPr>
        <p:spPr>
          <a:xfrm rot="10800000">
            <a:off x="686963" y="2500375"/>
            <a:ext cx="1335900" cy="1318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88"/>
          <p:cNvSpPr txBox="1"/>
          <p:nvPr/>
        </p:nvSpPr>
        <p:spPr>
          <a:xfrm>
            <a:off x="4824000" y="3863700"/>
            <a:ext cx="404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also form a square, but a tilted one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coordinates to plot shapes</a:t>
            </a:r>
            <a:endParaRPr/>
          </a:p>
        </p:txBody>
      </p:sp>
      <p:sp>
        <p:nvSpPr>
          <p:cNvPr id="1109" name="Google Shape;1109;p89"/>
          <p:cNvSpPr txBox="1"/>
          <p:nvPr>
            <p:ph idx="1" type="body"/>
          </p:nvPr>
        </p:nvSpPr>
        <p:spPr>
          <a:xfrm>
            <a:off x="4824000" y="1064100"/>
            <a:ext cx="3737700" cy="11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should we </a:t>
            </a:r>
            <a:r>
              <a:rPr b="1" lang="en-GB"/>
              <a:t>plot </a:t>
            </a:r>
            <a:r>
              <a:rPr lang="en-GB"/>
              <a:t>point D to make sure ABCD forms a square?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e5ab2892-58a5-4ad1-b007-2c0af9600727&quot; data-equatio-type=&quot;desmos&quot;&gt;&lt;mglyph src=&quot;https://equatio-api.texthelp.com/desmos/get/09-10-2023/e5ab2892-58a5-4ad1-b007-2c0af9600727&quot; alt=&quot;Equatio Desmos Graph&quot;/&gt;&lt;/math&gt;" id="1110" name="Google Shape;1110;p8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50" y="849525"/>
            <a:ext cx="4048524" cy="396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11" name="Google Shape;1111;p8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80" y="905425"/>
            <a:ext cx="167930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12" name="Google Shape;1112;p8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1670" y="4624221"/>
            <a:ext cx="167930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89"/>
          <p:cNvSpPr txBox="1"/>
          <p:nvPr/>
        </p:nvSpPr>
        <p:spPr>
          <a:xfrm>
            <a:off x="4771050" y="2571750"/>
            <a:ext cx="3843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need to plot D at (2,0) in order to form a square.</a:t>
            </a:r>
            <a:endParaRPr/>
          </a:p>
        </p:txBody>
      </p:sp>
      <p:grpSp>
        <p:nvGrpSpPr>
          <p:cNvPr id="1114" name="Google Shape;1114;p89"/>
          <p:cNvGrpSpPr/>
          <p:nvPr/>
        </p:nvGrpSpPr>
        <p:grpSpPr>
          <a:xfrm>
            <a:off x="1905102" y="4346571"/>
            <a:ext cx="210953" cy="234197"/>
            <a:chOff x="6197400" y="3479675"/>
            <a:chExt cx="118800" cy="129900"/>
          </a:xfrm>
        </p:grpSpPr>
        <p:cxnSp>
          <p:nvCxnSpPr>
            <p:cNvPr id="1115" name="Google Shape;1115;p89"/>
            <p:cNvCxnSpPr/>
            <p:nvPr/>
          </p:nvCxnSpPr>
          <p:spPr>
            <a:xfrm>
              <a:off x="6200700" y="3479675"/>
              <a:ext cx="115500" cy="12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89"/>
            <p:cNvCxnSpPr/>
            <p:nvPr/>
          </p:nvCxnSpPr>
          <p:spPr>
            <a:xfrm flipH="1" rot="10800000">
              <a:off x="6197400" y="3489450"/>
              <a:ext cx="114900" cy="11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17" name="Google Shape;1117;p89"/>
          <p:cNvSpPr txBox="1"/>
          <p:nvPr/>
        </p:nvSpPr>
        <p:spPr>
          <a:xfrm>
            <a:off x="2114150" y="3934550"/>
            <a:ext cx="364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8" name="Google Shape;1118;p89"/>
          <p:cNvGrpSpPr/>
          <p:nvPr/>
        </p:nvGrpSpPr>
        <p:grpSpPr>
          <a:xfrm>
            <a:off x="648475" y="1814996"/>
            <a:ext cx="2721227" cy="2664456"/>
            <a:chOff x="661179" y="1396650"/>
            <a:chExt cx="2727227" cy="2485500"/>
          </a:xfrm>
        </p:grpSpPr>
        <p:cxnSp>
          <p:nvCxnSpPr>
            <p:cNvPr id="1119" name="Google Shape;1119;p89"/>
            <p:cNvCxnSpPr/>
            <p:nvPr/>
          </p:nvCxnSpPr>
          <p:spPr>
            <a:xfrm flipH="1">
              <a:off x="2024606" y="2626650"/>
              <a:ext cx="1363800" cy="125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0" name="Google Shape;1120;p89"/>
            <p:cNvCxnSpPr/>
            <p:nvPr/>
          </p:nvCxnSpPr>
          <p:spPr>
            <a:xfrm rot="10800000">
              <a:off x="2034206" y="1396650"/>
              <a:ext cx="1354200" cy="1230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1" name="Google Shape;1121;p89"/>
            <p:cNvCxnSpPr/>
            <p:nvPr/>
          </p:nvCxnSpPr>
          <p:spPr>
            <a:xfrm flipH="1">
              <a:off x="666333" y="1397285"/>
              <a:ext cx="1363800" cy="125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2" name="Google Shape;1122;p89"/>
            <p:cNvCxnSpPr/>
            <p:nvPr/>
          </p:nvCxnSpPr>
          <p:spPr>
            <a:xfrm rot="10800000">
              <a:off x="661179" y="2641225"/>
              <a:ext cx="1354200" cy="1230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id="1127" name="Google Shape;1127;p9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00" y="1085900"/>
            <a:ext cx="4256700" cy="373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0"/>
          <p:cNvSpPr txBox="1"/>
          <p:nvPr>
            <p:ph idx="1" type="body"/>
          </p:nvPr>
        </p:nvSpPr>
        <p:spPr>
          <a:xfrm>
            <a:off x="4815810" y="840545"/>
            <a:ext cx="4248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</a:t>
            </a:r>
            <a:r>
              <a:rPr lang="en-GB" sz="2000"/>
              <a:t> The first two coordinates are (3,2) and (5,2)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other coordinate pairs would form a square?</a:t>
            </a:r>
            <a:endParaRPr sz="2000"/>
          </a:p>
        </p:txBody>
      </p:sp>
      <p:sp>
        <p:nvSpPr>
          <p:cNvPr id="1129" name="Google Shape;1129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130" name="Google Shape;1130;p9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00" y="1080000"/>
            <a:ext cx="136827" cy="222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31" name="Google Shape;1131;p9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2240" y="4650015"/>
            <a:ext cx="145360" cy="129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sp>
        <p:nvSpPr>
          <p:cNvPr id="1137" name="Google Shape;1137;p91"/>
          <p:cNvSpPr txBox="1"/>
          <p:nvPr>
            <p:ph idx="1" type="body"/>
          </p:nvPr>
        </p:nvSpPr>
        <p:spPr>
          <a:xfrm>
            <a:off x="4819800" y="2715125"/>
            <a:ext cx="40002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(3,0) and (5,0) make a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id="1138" name="Google Shape;1138;p9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00" y="1085900"/>
            <a:ext cx="4256700" cy="373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1"/>
          <p:cNvSpPr txBox="1"/>
          <p:nvPr>
            <p:ph idx="1" type="body"/>
          </p:nvPr>
        </p:nvSpPr>
        <p:spPr>
          <a:xfrm>
            <a:off x="4815810" y="840545"/>
            <a:ext cx="4248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</a:t>
            </a:r>
            <a:r>
              <a:rPr lang="en-GB" sz="2000"/>
              <a:t> The first two coordinates are (3,2) and (5,2)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other coordinate pairs would form a square?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a7db3e47-d162-4fd7-9973-16f44ec3d9b2&quot; data-equatio-type=&quot;desmos&quot;&gt;&lt;mglyph src=&quot;https://equatio-api.texthelp.com/desmos/get/09-10-2023/a7db3e47-d162-4fd7-9973-16f44ec3d9b2&quot; alt=&quot;Equatio Desmos Graph&quot;/&gt;&lt;/math&gt;" id="1140" name="Google Shape;1140;p9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00" y="1085900"/>
            <a:ext cx="4256700" cy="3732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41" name="Google Shape;1141;p9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00" y="1080000"/>
            <a:ext cx="136827" cy="222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42" name="Google Shape;1142;p9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2240" y="4650015"/>
            <a:ext cx="145360" cy="12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1"/>
          <p:cNvSpPr/>
          <p:nvPr/>
        </p:nvSpPr>
        <p:spPr>
          <a:xfrm>
            <a:off x="2813750" y="3266826"/>
            <a:ext cx="1406700" cy="1243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sp>
        <p:nvSpPr>
          <p:cNvPr id="1149" name="Google Shape;1149;p92"/>
          <p:cNvSpPr txBox="1"/>
          <p:nvPr>
            <p:ph idx="1" type="body"/>
          </p:nvPr>
        </p:nvSpPr>
        <p:spPr>
          <a:xfrm>
            <a:off x="4819800" y="2715125"/>
            <a:ext cx="40002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(3,0) and (5,0) make a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id="1150" name="Google Shape;1150;p9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00" y="1085900"/>
            <a:ext cx="4256700" cy="373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92"/>
          <p:cNvSpPr txBox="1"/>
          <p:nvPr>
            <p:ph idx="1" type="body"/>
          </p:nvPr>
        </p:nvSpPr>
        <p:spPr>
          <a:xfrm>
            <a:off x="4815810" y="840545"/>
            <a:ext cx="4248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</a:t>
            </a:r>
            <a:r>
              <a:rPr lang="en-GB" sz="2000"/>
              <a:t> The first two coordinates are (3,2) and (5,2)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other coordinate pairs would form a square?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b7e26dc8-2afc-49bc-977f-9cdaab6ad2dc&quot; data-equatio-type=&quot;desmos&quot;&gt;&lt;mglyph src=&quot;https://equatio-api.texthelp.com/desmos/get/09-10-2023/b7e26dc8-2afc-49bc-977f-9cdaab6ad2dc&quot; alt=&quot;Equatio Desmos Graph&quot;/&gt;&lt;/math&gt;" id="1152" name="Google Shape;1152;p92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00" y="1090850"/>
            <a:ext cx="4256700" cy="3732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53" name="Google Shape;1153;p9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00" y="1080000"/>
            <a:ext cx="136827" cy="222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54" name="Google Shape;1154;p92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2240" y="4650015"/>
            <a:ext cx="145360" cy="12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92"/>
          <p:cNvSpPr txBox="1"/>
          <p:nvPr>
            <p:ph idx="1" type="body"/>
          </p:nvPr>
        </p:nvSpPr>
        <p:spPr>
          <a:xfrm>
            <a:off x="4819800" y="3248525"/>
            <a:ext cx="40002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(3,4) and (5,4) make a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92"/>
          <p:cNvSpPr/>
          <p:nvPr/>
        </p:nvSpPr>
        <p:spPr>
          <a:xfrm>
            <a:off x="2813750" y="2027296"/>
            <a:ext cx="1406700" cy="1243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sp>
        <p:nvSpPr>
          <p:cNvPr id="1162" name="Google Shape;1162;p93"/>
          <p:cNvSpPr txBox="1"/>
          <p:nvPr>
            <p:ph idx="1" type="body"/>
          </p:nvPr>
        </p:nvSpPr>
        <p:spPr>
          <a:xfrm>
            <a:off x="4819800" y="2715125"/>
            <a:ext cx="40002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(3,0) and (5,0) make a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id="1163" name="Google Shape;1163;p9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00" y="1085900"/>
            <a:ext cx="4256700" cy="373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3"/>
          <p:cNvSpPr txBox="1"/>
          <p:nvPr>
            <p:ph idx="1" type="body"/>
          </p:nvPr>
        </p:nvSpPr>
        <p:spPr>
          <a:xfrm>
            <a:off x="4815810" y="840545"/>
            <a:ext cx="4248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</a:t>
            </a:r>
            <a:r>
              <a:rPr lang="en-GB" sz="2000"/>
              <a:t> The first two coordinates are (3,2) and (5,2)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other coordinate pairs would form a square?</a:t>
            </a:r>
            <a:endParaRPr sz="2000"/>
          </a:p>
        </p:txBody>
      </p:sp>
      <p:sp>
        <p:nvSpPr>
          <p:cNvPr id="1165" name="Google Shape;1165;p93"/>
          <p:cNvSpPr txBox="1"/>
          <p:nvPr>
            <p:ph idx="1" type="body"/>
          </p:nvPr>
        </p:nvSpPr>
        <p:spPr>
          <a:xfrm>
            <a:off x="4819800" y="3248525"/>
            <a:ext cx="40002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(3,4) and (5,4) make a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5f3f4d91-4368-4426-a932-90d905dafa7b&quot; data-equatio-type=&quot;desmos&quot;&gt;&lt;mglyph src=&quot;https://equatio-api.texthelp.com/desmos/get/09-10-2023/5f3f4d91-4368-4426-a932-90d905dafa7b&quot; alt=&quot;Equatio Desmos Graph&quot;/&gt;&lt;/math&gt;" id="1166" name="Google Shape;1166;p93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5" y="1085900"/>
            <a:ext cx="4248000" cy="3732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67" name="Google Shape;1167;p93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00" y="1080000"/>
            <a:ext cx="136827" cy="222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68" name="Google Shape;1168;p93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2240" y="4650015"/>
            <a:ext cx="145360" cy="1294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9" name="Google Shape;1169;p93"/>
          <p:cNvGrpSpPr/>
          <p:nvPr/>
        </p:nvGrpSpPr>
        <p:grpSpPr>
          <a:xfrm>
            <a:off x="2827900" y="2616564"/>
            <a:ext cx="1362250" cy="1290969"/>
            <a:chOff x="661179" y="1396650"/>
            <a:chExt cx="2727227" cy="2485500"/>
          </a:xfrm>
        </p:grpSpPr>
        <p:cxnSp>
          <p:nvCxnSpPr>
            <p:cNvPr id="1170" name="Google Shape;1170;p93"/>
            <p:cNvCxnSpPr/>
            <p:nvPr/>
          </p:nvCxnSpPr>
          <p:spPr>
            <a:xfrm flipH="1">
              <a:off x="2024606" y="2626650"/>
              <a:ext cx="1363800" cy="125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93"/>
            <p:cNvCxnSpPr/>
            <p:nvPr/>
          </p:nvCxnSpPr>
          <p:spPr>
            <a:xfrm rot="10800000">
              <a:off x="2034206" y="1396650"/>
              <a:ext cx="1354200" cy="1230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93"/>
            <p:cNvCxnSpPr/>
            <p:nvPr/>
          </p:nvCxnSpPr>
          <p:spPr>
            <a:xfrm flipH="1">
              <a:off x="666333" y="1397285"/>
              <a:ext cx="1363800" cy="125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3" name="Google Shape;1173;p93"/>
            <p:cNvCxnSpPr/>
            <p:nvPr/>
          </p:nvCxnSpPr>
          <p:spPr>
            <a:xfrm rot="10800000">
              <a:off x="661179" y="2641225"/>
              <a:ext cx="1354200" cy="1230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74" name="Google Shape;1174;p93"/>
          <p:cNvSpPr txBox="1"/>
          <p:nvPr>
            <p:ph idx="1" type="body"/>
          </p:nvPr>
        </p:nvSpPr>
        <p:spPr>
          <a:xfrm>
            <a:off x="4819800" y="3781925"/>
            <a:ext cx="40002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(4,1) and (4,3) make a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9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the first quadrant</a:t>
            </a:r>
            <a:endParaRPr/>
          </a:p>
        </p:txBody>
      </p:sp>
      <p:sp>
        <p:nvSpPr>
          <p:cNvPr id="1180" name="Google Shape;1180;p9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coordinates to plot shapes</a:t>
            </a:r>
            <a:endParaRPr/>
          </a:p>
        </p:txBody>
      </p:sp>
      <p:sp>
        <p:nvSpPr>
          <p:cNvPr id="1181" name="Google Shape;1181;p9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182" name="Google Shape;1182;p9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coordinates</a:t>
            </a:r>
            <a:endParaRPr/>
          </a:p>
        </p:txBody>
      </p:sp>
      <p:pic>
        <p:nvPicPr>
          <p:cNvPr id="1183" name="Google Shape;118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54" y="370212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f1a34f5d-af84-42d2-ab2e-fe6d52d558f7&quot; data-equatio-type=&quot;desmos&quot;&gt;&lt;mglyph src=&quot;https://equatio-api.texthelp.com/desmos/get/09-10-2023/f1a34f5d-af84-42d2-ab2e-fe6d52d558f7&quot; alt=&quot;Equatio Desmos Graph&quot;/&gt;&lt;/math&gt;" id="1189" name="Google Shape;1189;p9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1080000"/>
            <a:ext cx="4246876" cy="37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95"/>
          <p:cNvSpPr txBox="1"/>
          <p:nvPr>
            <p:ph idx="1" type="body"/>
          </p:nvPr>
        </p:nvSpPr>
        <p:spPr>
          <a:xfrm>
            <a:off x="4824000" y="2987555"/>
            <a:ext cx="3655800" cy="11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point has </a:t>
            </a:r>
            <a:r>
              <a:rPr b="1" lang="en-GB"/>
              <a:t>translated </a:t>
            </a:r>
            <a:r>
              <a:rPr lang="en-GB"/>
              <a:t>three to the right, three in the positive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direction.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790f2170-4a34-4637-b464-57000bb94567&quot; data-equatio-type=&quot;desmos&quot;&gt;&lt;mglyph src=&quot;https://equatio-api.texthelp.com/desmos/get/09-10-2023/790f2170-4a34-4637-b464-57000bb94567&quot; alt=&quot;Equatio Desmos Graph&quot;/&gt;&lt;/math&gt;" id="1191" name="Google Shape;1191;p95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300" y="1080000"/>
            <a:ext cx="4246876" cy="37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92" name="Google Shape;1192;p9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93" name="Google Shape;1193;p95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4" name="Google Shape;1194;p95"/>
          <p:cNvCxnSpPr/>
          <p:nvPr/>
        </p:nvCxnSpPr>
        <p:spPr>
          <a:xfrm flipH="1" rot="10800000">
            <a:off x="1402504" y="3251620"/>
            <a:ext cx="2076000" cy="5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5" name="Google Shape;1195;p95"/>
          <p:cNvSpPr txBox="1"/>
          <p:nvPr>
            <p:ph idx="1" type="body"/>
          </p:nvPr>
        </p:nvSpPr>
        <p:spPr>
          <a:xfrm>
            <a:off x="4824000" y="1021600"/>
            <a:ext cx="3996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will happen if we add 3 to only the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coordinate?</a:t>
            </a:r>
            <a:endParaRPr/>
          </a:p>
        </p:txBody>
      </p:sp>
      <p:sp>
        <p:nvSpPr>
          <p:cNvPr id="1196" name="Google Shape;1196;p95"/>
          <p:cNvSpPr txBox="1"/>
          <p:nvPr>
            <p:ph idx="1" type="body"/>
          </p:nvPr>
        </p:nvSpPr>
        <p:spPr>
          <a:xfrm>
            <a:off x="4824000" y="2137638"/>
            <a:ext cx="399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get the coordinate (4,2)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f1a34f5d-af84-42d2-ab2e-fe6d52d558f7&quot; data-equatio-type=&quot;desmos&quot;&gt;&lt;mglyph src=&quot;https://equatio-api.texthelp.com/desmos/get/09-10-2023/f1a34f5d-af84-42d2-ab2e-fe6d52d558f7&quot; alt=&quot;Equatio Desmos Graph&quot;/&gt;&lt;/math&gt;" id="1197" name="Google Shape;1197;p9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1080000"/>
            <a:ext cx="4246876" cy="37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98" name="Google Shape;1198;p9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204" name="Google Shape;1204;p96"/>
          <p:cNvSpPr txBox="1"/>
          <p:nvPr>
            <p:ph idx="1" type="body"/>
          </p:nvPr>
        </p:nvSpPr>
        <p:spPr>
          <a:xfrm>
            <a:off x="4824000" y="1021600"/>
            <a:ext cx="3996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would happen if we added 3 to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coordinate instead?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f1a34f5d-af84-42d2-ab2e-fe6d52d558f7&quot; data-equatio-type=&quot;desmos&quot;&gt;&lt;mglyph src=&quot;https://equatio-api.texthelp.com/desmos/get/09-10-2023/f1a34f5d-af84-42d2-ab2e-fe6d52d558f7&quot; alt=&quot;Equatio Desmos Graph&quot;/&gt;&lt;/math&gt;" id="1205" name="Google Shape;1205;p9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1080000"/>
            <a:ext cx="4246876" cy="37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96"/>
          <p:cNvSpPr txBox="1"/>
          <p:nvPr>
            <p:ph idx="1" type="body"/>
          </p:nvPr>
        </p:nvSpPr>
        <p:spPr>
          <a:xfrm>
            <a:off x="4825664" y="2977425"/>
            <a:ext cx="399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get the coordinate (1,5), a </a:t>
            </a:r>
            <a:r>
              <a:rPr b="1" lang="en-GB"/>
              <a:t>translation </a:t>
            </a:r>
            <a:r>
              <a:rPr lang="en-GB"/>
              <a:t>three up, three in the positive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direction.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09e625ec-23ab-4d1e-ae30-82d695a6f272&quot; data-equatio-type=&quot;desmos&quot;&gt;&lt;mglyph src=&quot;https://equatio-api.texthelp.com/desmos/get/09-10-2023/09e625ec-23ab-4d1e-ae30-82d695a6f272&quot; alt=&quot;Equatio Desmos Graph&quot;/&gt;&lt;/math&gt;" id="1207" name="Google Shape;1207;p96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5" y="1080000"/>
            <a:ext cx="4246876" cy="37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208" name="Google Shape;1208;p9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09" name="Google Shape;1209;p96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0" name="Google Shape;1210;p96"/>
          <p:cNvCxnSpPr/>
          <p:nvPr/>
        </p:nvCxnSpPr>
        <p:spPr>
          <a:xfrm rot="10800000">
            <a:off x="1382385" y="1427175"/>
            <a:ext cx="2100" cy="1829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we add positively to the value of the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coordinate a, point will </a:t>
            </a:r>
            <a:r>
              <a:rPr b="1" lang="en-GB"/>
              <a:t>translate </a:t>
            </a:r>
            <a:r>
              <a:rPr lang="en-GB"/>
              <a:t>in which direction?</a:t>
            </a:r>
            <a:endParaRPr/>
          </a:p>
        </p:txBody>
      </p:sp>
      <p:sp>
        <p:nvSpPr>
          <p:cNvPr id="1216" name="Google Shape;121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217" name="Google Shape;1217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positive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direction</a:t>
            </a:r>
            <a:endParaRPr/>
          </a:p>
        </p:txBody>
      </p:sp>
      <p:sp>
        <p:nvSpPr>
          <p:cNvPr id="1218" name="Google Shape;1218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positive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direction</a:t>
            </a:r>
            <a:endParaRPr/>
          </a:p>
        </p:txBody>
      </p:sp>
      <p:sp>
        <p:nvSpPr>
          <p:cNvPr id="1219" name="Google Shape;1219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Diagonally</a:t>
            </a:r>
            <a:endParaRPr/>
          </a:p>
        </p:txBody>
      </p:sp>
      <p:pic>
        <p:nvPicPr>
          <p:cNvPr id="1220" name="Google Shape;122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892" y="27875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226" name="Google Shape;1226;p98"/>
          <p:cNvSpPr txBox="1"/>
          <p:nvPr>
            <p:ph idx="1" type="body"/>
          </p:nvPr>
        </p:nvSpPr>
        <p:spPr>
          <a:xfrm>
            <a:off x="4824000" y="1021590"/>
            <a:ext cx="3218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Triangle ABC has the below</a:t>
            </a:r>
            <a:r>
              <a:rPr lang="en-GB"/>
              <a:t> coordinates.</a:t>
            </a:r>
            <a:endParaRPr/>
          </a:p>
        </p:txBody>
      </p:sp>
      <p:sp>
        <p:nvSpPr>
          <p:cNvPr id="1227" name="Google Shape;1227;p98"/>
          <p:cNvSpPr txBox="1"/>
          <p:nvPr>
            <p:ph idx="1" type="body"/>
          </p:nvPr>
        </p:nvSpPr>
        <p:spPr>
          <a:xfrm>
            <a:off x="4824000" y="3297425"/>
            <a:ext cx="38385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happens if we add 3 to each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coordinate?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fd46a0b0-39ad-44de-813a-4c8d860bf524&quot; data-equatio-type=&quot;desmos&quot;&gt;&lt;mglyph src=&quot;https://equatio-api.texthelp.com/desmos/get/09-10-2023/fd46a0b0-39ad-44de-813a-4c8d860bf524&quot; alt=&quot;Equatio Desmos Graph&quot;/&gt;&lt;/math&gt;" id="1228" name="Google Shape;1228;p9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6" y="1080000"/>
            <a:ext cx="4246876" cy="3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98"/>
          <p:cNvSpPr txBox="1"/>
          <p:nvPr>
            <p:ph idx="1" type="body"/>
          </p:nvPr>
        </p:nvSpPr>
        <p:spPr>
          <a:xfrm>
            <a:off x="4824000" y="1859825"/>
            <a:ext cx="950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(1,5)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 (1,2)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(2,2)</a:t>
            </a:r>
            <a:endParaRPr/>
          </a:p>
        </p:txBody>
      </p:sp>
      <p:sp>
        <p:nvSpPr>
          <p:cNvPr id="1230" name="Google Shape;1230;p98"/>
          <p:cNvSpPr txBox="1"/>
          <p:nvPr>
            <p:ph idx="1" type="body"/>
          </p:nvPr>
        </p:nvSpPr>
        <p:spPr>
          <a:xfrm>
            <a:off x="6680375" y="1859825"/>
            <a:ext cx="7788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(4,5)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(4,2)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(5,2)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1231" name="Google Shape;1231;p98"/>
          <p:cNvGrpSpPr/>
          <p:nvPr/>
        </p:nvGrpSpPr>
        <p:grpSpPr>
          <a:xfrm>
            <a:off x="1384475" y="1406850"/>
            <a:ext cx="711600" cy="1860300"/>
            <a:chOff x="1384475" y="1406850"/>
            <a:chExt cx="711600" cy="1860300"/>
          </a:xfrm>
        </p:grpSpPr>
        <p:cxnSp>
          <p:nvCxnSpPr>
            <p:cNvPr id="1232" name="Google Shape;1232;p98"/>
            <p:cNvCxnSpPr/>
            <p:nvPr/>
          </p:nvCxnSpPr>
          <p:spPr>
            <a:xfrm>
              <a:off x="1384475" y="1406850"/>
              <a:ext cx="10200" cy="1860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3" name="Google Shape;1233;p98"/>
            <p:cNvCxnSpPr/>
            <p:nvPr/>
          </p:nvCxnSpPr>
          <p:spPr>
            <a:xfrm>
              <a:off x="1384475" y="1406850"/>
              <a:ext cx="711600" cy="183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4" name="Google Shape;1234;p98"/>
            <p:cNvCxnSpPr/>
            <p:nvPr/>
          </p:nvCxnSpPr>
          <p:spPr>
            <a:xfrm>
              <a:off x="1414975" y="3246700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y&quot;&gt;&lt;mi&gt;y&lt;/mi&gt;&lt;/math&gt;" id="1235" name="Google Shape;1235;p98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36" name="Google Shape;1236;p9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7" name="Google Shape;1237;p98"/>
          <p:cNvGrpSpPr/>
          <p:nvPr/>
        </p:nvGrpSpPr>
        <p:grpSpPr>
          <a:xfrm>
            <a:off x="5799938" y="2054300"/>
            <a:ext cx="726013" cy="645700"/>
            <a:chOff x="5799938" y="2054300"/>
            <a:chExt cx="726013" cy="645700"/>
          </a:xfrm>
        </p:grpSpPr>
        <p:cxnSp>
          <p:nvCxnSpPr>
            <p:cNvPr id="1238" name="Google Shape;1238;p98"/>
            <p:cNvCxnSpPr/>
            <p:nvPr/>
          </p:nvCxnSpPr>
          <p:spPr>
            <a:xfrm>
              <a:off x="5799950" y="2054300"/>
              <a:ext cx="726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9" name="Google Shape;1239;p98"/>
            <p:cNvCxnSpPr/>
            <p:nvPr/>
          </p:nvCxnSpPr>
          <p:spPr>
            <a:xfrm>
              <a:off x="5799938" y="2370275"/>
              <a:ext cx="726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0" name="Google Shape;1240;p98"/>
            <p:cNvCxnSpPr/>
            <p:nvPr/>
          </p:nvCxnSpPr>
          <p:spPr>
            <a:xfrm>
              <a:off x="5799950" y="2700000"/>
              <a:ext cx="726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3dfd572a-8397-410a-b9fa-603bca9c359b&quot; data-equatio-type=&quot;desmos&quot;&gt;&lt;mglyph src=&quot;https://equatio-api.texthelp.com/desmos/get/11-10-2023/3dfd572a-8397-410a-b9fa-603bca9c359b&quot; alt=&quot;Equatio Desmos Graph&quot;/&gt;&lt;/math&gt;" id="1245" name="Google Shape;1245;p9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51" y="1075850"/>
            <a:ext cx="4246876" cy="3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247" name="Google Shape;1247;p99"/>
          <p:cNvSpPr txBox="1"/>
          <p:nvPr>
            <p:ph idx="1" type="body"/>
          </p:nvPr>
        </p:nvSpPr>
        <p:spPr>
          <a:xfrm>
            <a:off x="4824000" y="1021590"/>
            <a:ext cx="3218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Triangle ABC has the below coordinates.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248" name="Google Shape;1248;p9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49" name="Google Shape;1249;p9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99"/>
          <p:cNvSpPr txBox="1"/>
          <p:nvPr>
            <p:ph idx="1" type="body"/>
          </p:nvPr>
        </p:nvSpPr>
        <p:spPr>
          <a:xfrm>
            <a:off x="4824000" y="3297425"/>
            <a:ext cx="3996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Translation </a:t>
            </a:r>
            <a:r>
              <a:rPr lang="en-GB"/>
              <a:t>by 3 in the positive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direction.</a:t>
            </a:r>
            <a:endParaRPr/>
          </a:p>
        </p:txBody>
      </p:sp>
      <p:sp>
        <p:nvSpPr>
          <p:cNvPr id="1251" name="Google Shape;1251;p99"/>
          <p:cNvSpPr txBox="1"/>
          <p:nvPr>
            <p:ph idx="1" type="body"/>
          </p:nvPr>
        </p:nvSpPr>
        <p:spPr>
          <a:xfrm>
            <a:off x="4824000" y="1859825"/>
            <a:ext cx="950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(1,5)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 (1,2)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(2,2)</a:t>
            </a:r>
            <a:endParaRPr/>
          </a:p>
        </p:txBody>
      </p:sp>
      <p:grpSp>
        <p:nvGrpSpPr>
          <p:cNvPr id="1252" name="Google Shape;1252;p99"/>
          <p:cNvGrpSpPr/>
          <p:nvPr/>
        </p:nvGrpSpPr>
        <p:grpSpPr>
          <a:xfrm>
            <a:off x="1384475" y="1406850"/>
            <a:ext cx="711600" cy="1860300"/>
            <a:chOff x="1384475" y="1406850"/>
            <a:chExt cx="711600" cy="1860300"/>
          </a:xfrm>
        </p:grpSpPr>
        <p:cxnSp>
          <p:nvCxnSpPr>
            <p:cNvPr id="1253" name="Google Shape;1253;p99"/>
            <p:cNvCxnSpPr/>
            <p:nvPr/>
          </p:nvCxnSpPr>
          <p:spPr>
            <a:xfrm>
              <a:off x="1384475" y="1406850"/>
              <a:ext cx="10200" cy="1860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99"/>
            <p:cNvCxnSpPr/>
            <p:nvPr/>
          </p:nvCxnSpPr>
          <p:spPr>
            <a:xfrm>
              <a:off x="1384475" y="1406850"/>
              <a:ext cx="711600" cy="183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99"/>
            <p:cNvCxnSpPr/>
            <p:nvPr/>
          </p:nvCxnSpPr>
          <p:spPr>
            <a:xfrm>
              <a:off x="1414975" y="3246700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6" name="Google Shape;1256;p99"/>
          <p:cNvGrpSpPr/>
          <p:nvPr/>
        </p:nvGrpSpPr>
        <p:grpSpPr>
          <a:xfrm>
            <a:off x="3518075" y="1406850"/>
            <a:ext cx="711600" cy="1860300"/>
            <a:chOff x="1384475" y="1406850"/>
            <a:chExt cx="711600" cy="1860300"/>
          </a:xfrm>
        </p:grpSpPr>
        <p:cxnSp>
          <p:nvCxnSpPr>
            <p:cNvPr id="1257" name="Google Shape;1257;p99"/>
            <p:cNvCxnSpPr/>
            <p:nvPr/>
          </p:nvCxnSpPr>
          <p:spPr>
            <a:xfrm>
              <a:off x="1384475" y="1406850"/>
              <a:ext cx="10200" cy="18603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99"/>
            <p:cNvCxnSpPr/>
            <p:nvPr/>
          </p:nvCxnSpPr>
          <p:spPr>
            <a:xfrm>
              <a:off x="1384475" y="1406850"/>
              <a:ext cx="711600" cy="18399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99"/>
            <p:cNvCxnSpPr/>
            <p:nvPr/>
          </p:nvCxnSpPr>
          <p:spPr>
            <a:xfrm>
              <a:off x="1414975" y="3246700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60" name="Google Shape;1260;p99"/>
          <p:cNvCxnSpPr/>
          <p:nvPr/>
        </p:nvCxnSpPr>
        <p:spPr>
          <a:xfrm flipH="1" rot="10800000">
            <a:off x="1432999" y="1392325"/>
            <a:ext cx="2076000" cy="5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99"/>
          <p:cNvCxnSpPr/>
          <p:nvPr/>
        </p:nvCxnSpPr>
        <p:spPr>
          <a:xfrm flipH="1" rot="10800000">
            <a:off x="1432999" y="3221125"/>
            <a:ext cx="2076000" cy="5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99"/>
          <p:cNvCxnSpPr/>
          <p:nvPr/>
        </p:nvCxnSpPr>
        <p:spPr>
          <a:xfrm flipH="1" rot="10800000">
            <a:off x="2118799" y="3297325"/>
            <a:ext cx="2076000" cy="5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99"/>
          <p:cNvSpPr txBox="1"/>
          <p:nvPr>
            <p:ph idx="1" type="body"/>
          </p:nvPr>
        </p:nvSpPr>
        <p:spPr>
          <a:xfrm>
            <a:off x="6680375" y="1859825"/>
            <a:ext cx="7788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(4,5)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(4,2)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(5,2)</a:t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1264" name="Google Shape;1264;p99"/>
          <p:cNvCxnSpPr/>
          <p:nvPr/>
        </p:nvCxnSpPr>
        <p:spPr>
          <a:xfrm>
            <a:off x="5799950" y="205430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99"/>
          <p:cNvCxnSpPr/>
          <p:nvPr/>
        </p:nvCxnSpPr>
        <p:spPr>
          <a:xfrm>
            <a:off x="5799938" y="2370275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99"/>
          <p:cNvCxnSpPr/>
          <p:nvPr/>
        </p:nvCxnSpPr>
        <p:spPr>
          <a:xfrm>
            <a:off x="5799950" y="270000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0eb39d74-d7c9-48dd-bb22-291f571c1739&quot; data-equatio-type=&quot;desmos&quot;&gt;&lt;mglyph src=&quot;https://equatio-api.texthelp.com/desmos/get/11-10-2023/0eb39d74-d7c9-48dd-bb22-291f571c1739&quot; alt=&quot;Equatio Desmos Graph&quot;/&gt;&lt;/math&gt;" id="1271" name="Google Shape;1271;p10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99" y="1075850"/>
            <a:ext cx="4246876" cy="374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0eb39d74-d7c9-48dd-bb22-291f571c1739&quot; data-equatio-type=&quot;desmos&quot;&gt;&lt;mglyph src=&quot;https://equatio-api.texthelp.com/desmos/get/11-10-2023/0eb39d74-d7c9-48dd-bb22-291f571c1739&quot; alt=&quot;Equatio Desmos Graph&quot;/&gt;&lt;/math&gt;" id="1272" name="Google Shape;1272;p10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68" y="1075850"/>
            <a:ext cx="4246876" cy="3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274" name="Google Shape;1274;p100"/>
          <p:cNvSpPr txBox="1"/>
          <p:nvPr>
            <p:ph idx="1" type="body"/>
          </p:nvPr>
        </p:nvSpPr>
        <p:spPr>
          <a:xfrm>
            <a:off x="4824000" y="1021590"/>
            <a:ext cx="3218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Triangle ABC has the below coordinates.</a:t>
            </a:r>
            <a:endParaRPr/>
          </a:p>
        </p:txBody>
      </p:sp>
      <p:sp>
        <p:nvSpPr>
          <p:cNvPr id="1275" name="Google Shape;1275;p100"/>
          <p:cNvSpPr txBox="1"/>
          <p:nvPr>
            <p:ph idx="1" type="body"/>
          </p:nvPr>
        </p:nvSpPr>
        <p:spPr>
          <a:xfrm>
            <a:off x="4824000" y="1859825"/>
            <a:ext cx="950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(1,5)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 (1,2)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(2,2)</a:t>
            </a:r>
            <a:endParaRPr/>
          </a:p>
        </p:txBody>
      </p:sp>
      <p:sp>
        <p:nvSpPr>
          <p:cNvPr id="1276" name="Google Shape;1276;p100"/>
          <p:cNvSpPr txBox="1"/>
          <p:nvPr>
            <p:ph idx="1" type="body"/>
          </p:nvPr>
        </p:nvSpPr>
        <p:spPr>
          <a:xfrm>
            <a:off x="6271800" y="1859825"/>
            <a:ext cx="1187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(1,5)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(4,2)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(5,2)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1277" name="Google Shape;1277;p100"/>
          <p:cNvGrpSpPr/>
          <p:nvPr/>
        </p:nvGrpSpPr>
        <p:grpSpPr>
          <a:xfrm>
            <a:off x="1384475" y="1406850"/>
            <a:ext cx="711600" cy="1860300"/>
            <a:chOff x="1384475" y="1406850"/>
            <a:chExt cx="711600" cy="1860300"/>
          </a:xfrm>
        </p:grpSpPr>
        <p:cxnSp>
          <p:nvCxnSpPr>
            <p:cNvPr id="1278" name="Google Shape;1278;p100"/>
            <p:cNvCxnSpPr/>
            <p:nvPr/>
          </p:nvCxnSpPr>
          <p:spPr>
            <a:xfrm>
              <a:off x="1384475" y="1406850"/>
              <a:ext cx="10200" cy="1860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9" name="Google Shape;1279;p100"/>
            <p:cNvCxnSpPr/>
            <p:nvPr/>
          </p:nvCxnSpPr>
          <p:spPr>
            <a:xfrm>
              <a:off x="1384475" y="1406850"/>
              <a:ext cx="711600" cy="183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0" name="Google Shape;1280;p100"/>
            <p:cNvCxnSpPr/>
            <p:nvPr/>
          </p:nvCxnSpPr>
          <p:spPr>
            <a:xfrm>
              <a:off x="1414975" y="3246700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y&quot;&gt;&lt;mi&gt;y&lt;/mi&gt;&lt;/math&gt;" id="1281" name="Google Shape;1281;p10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82" name="Google Shape;1282;p10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100"/>
          <p:cNvGrpSpPr/>
          <p:nvPr/>
        </p:nvGrpSpPr>
        <p:grpSpPr>
          <a:xfrm>
            <a:off x="1384475" y="1406850"/>
            <a:ext cx="711600" cy="1860300"/>
            <a:chOff x="1384475" y="1406850"/>
            <a:chExt cx="711600" cy="1860300"/>
          </a:xfrm>
        </p:grpSpPr>
        <p:cxnSp>
          <p:nvCxnSpPr>
            <p:cNvPr id="1284" name="Google Shape;1284;p100"/>
            <p:cNvCxnSpPr/>
            <p:nvPr/>
          </p:nvCxnSpPr>
          <p:spPr>
            <a:xfrm>
              <a:off x="1384475" y="1406850"/>
              <a:ext cx="10200" cy="1860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100"/>
            <p:cNvCxnSpPr/>
            <p:nvPr/>
          </p:nvCxnSpPr>
          <p:spPr>
            <a:xfrm>
              <a:off x="1384475" y="1406850"/>
              <a:ext cx="711600" cy="183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100"/>
            <p:cNvCxnSpPr/>
            <p:nvPr/>
          </p:nvCxnSpPr>
          <p:spPr>
            <a:xfrm>
              <a:off x="1414975" y="3246700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87" name="Google Shape;1287;p100"/>
          <p:cNvSpPr txBox="1"/>
          <p:nvPr>
            <p:ph idx="1" type="body"/>
          </p:nvPr>
        </p:nvSpPr>
        <p:spPr>
          <a:xfrm>
            <a:off x="4824000" y="3048495"/>
            <a:ext cx="3996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if we don’t add three to </a:t>
            </a:r>
            <a:r>
              <a:rPr lang="en-GB">
                <a:solidFill>
                  <a:schemeClr val="accent2"/>
                </a:solidFill>
              </a:rPr>
              <a:t>all </a:t>
            </a:r>
            <a:r>
              <a:rPr lang="en-GB"/>
              <a:t>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coordinates?</a:t>
            </a:r>
            <a:endParaRPr/>
          </a:p>
        </p:txBody>
      </p:sp>
      <p:grpSp>
        <p:nvGrpSpPr>
          <p:cNvPr id="1288" name="Google Shape;1288;p100"/>
          <p:cNvGrpSpPr/>
          <p:nvPr/>
        </p:nvGrpSpPr>
        <p:grpSpPr>
          <a:xfrm>
            <a:off x="5123275" y="1871056"/>
            <a:ext cx="1468591" cy="337200"/>
            <a:chOff x="5123275" y="1871056"/>
            <a:chExt cx="1468591" cy="337200"/>
          </a:xfrm>
        </p:grpSpPr>
        <p:sp>
          <p:nvSpPr>
            <p:cNvPr id="1289" name="Google Shape;1289;p100"/>
            <p:cNvSpPr/>
            <p:nvPr/>
          </p:nvSpPr>
          <p:spPr>
            <a:xfrm>
              <a:off x="5123275" y="1871056"/>
              <a:ext cx="291900" cy="337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100"/>
            <p:cNvSpPr/>
            <p:nvPr/>
          </p:nvSpPr>
          <p:spPr>
            <a:xfrm>
              <a:off x="6299966" y="1871056"/>
              <a:ext cx="291900" cy="337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9944930f-d922-4e8c-925f-023fb52e16cc&quot; data-equatio-type=&quot;desmos&quot;&gt;&lt;mglyph src=&quot;https://equatio-api.texthelp.com/desmos/get/11-10-2023/9944930f-d922-4e8c-925f-023fb52e16cc&quot; alt=&quot;Equatio Desmos Graph&quot;/&gt;&lt;/math&gt;" id="1295" name="Google Shape;1295;p10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51" y="1075850"/>
            <a:ext cx="4246876" cy="374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0eb39d74-d7c9-48dd-bb22-291f571c1739&quot; data-equatio-type=&quot;desmos&quot;&gt;&lt;mglyph src=&quot;https://equatio-api.texthelp.com/desmos/get/11-10-2023/0eb39d74-d7c9-48dd-bb22-291f571c1739&quot; alt=&quot;Equatio Desmos Graph&quot;/&gt;&lt;/math&gt;" id="1296" name="Google Shape;1296;p10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99" y="1075850"/>
            <a:ext cx="4246876" cy="3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298" name="Google Shape;1298;p101"/>
          <p:cNvSpPr txBox="1"/>
          <p:nvPr>
            <p:ph idx="1" type="body"/>
          </p:nvPr>
        </p:nvSpPr>
        <p:spPr>
          <a:xfrm>
            <a:off x="4824000" y="1021590"/>
            <a:ext cx="3218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Triangle ABC has the below coordinates.</a:t>
            </a:r>
            <a:endParaRPr/>
          </a:p>
        </p:txBody>
      </p:sp>
      <p:sp>
        <p:nvSpPr>
          <p:cNvPr id="1299" name="Google Shape;1299;p101"/>
          <p:cNvSpPr txBox="1"/>
          <p:nvPr>
            <p:ph idx="1" type="body"/>
          </p:nvPr>
        </p:nvSpPr>
        <p:spPr>
          <a:xfrm>
            <a:off x="4824000" y="3048495"/>
            <a:ext cx="3996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longer a </a:t>
            </a:r>
            <a:r>
              <a:rPr b="1" lang="en-GB"/>
              <a:t>translation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have to change all points by the same rule.</a:t>
            </a:r>
            <a:endParaRPr/>
          </a:p>
        </p:txBody>
      </p:sp>
      <p:sp>
        <p:nvSpPr>
          <p:cNvPr id="1300" name="Google Shape;1300;p101"/>
          <p:cNvSpPr txBox="1"/>
          <p:nvPr>
            <p:ph idx="1" type="body"/>
          </p:nvPr>
        </p:nvSpPr>
        <p:spPr>
          <a:xfrm>
            <a:off x="4824000" y="1859825"/>
            <a:ext cx="950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(1,5)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 (1,2)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(2,2)</a:t>
            </a:r>
            <a:endParaRPr/>
          </a:p>
        </p:txBody>
      </p:sp>
      <p:sp>
        <p:nvSpPr>
          <p:cNvPr id="1301" name="Google Shape;1301;p101"/>
          <p:cNvSpPr txBox="1"/>
          <p:nvPr>
            <p:ph idx="1" type="body"/>
          </p:nvPr>
        </p:nvSpPr>
        <p:spPr>
          <a:xfrm>
            <a:off x="6271800" y="1859825"/>
            <a:ext cx="1187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(1,5)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(4,2)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(5,2)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1302" name="Google Shape;1302;p101"/>
          <p:cNvGrpSpPr/>
          <p:nvPr/>
        </p:nvGrpSpPr>
        <p:grpSpPr>
          <a:xfrm>
            <a:off x="1384475" y="1406850"/>
            <a:ext cx="711600" cy="1860300"/>
            <a:chOff x="1384475" y="1406850"/>
            <a:chExt cx="711600" cy="1860300"/>
          </a:xfrm>
        </p:grpSpPr>
        <p:cxnSp>
          <p:nvCxnSpPr>
            <p:cNvPr id="1303" name="Google Shape;1303;p101"/>
            <p:cNvCxnSpPr/>
            <p:nvPr/>
          </p:nvCxnSpPr>
          <p:spPr>
            <a:xfrm>
              <a:off x="1384475" y="1406850"/>
              <a:ext cx="10200" cy="1860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4" name="Google Shape;1304;p101"/>
            <p:cNvCxnSpPr/>
            <p:nvPr/>
          </p:nvCxnSpPr>
          <p:spPr>
            <a:xfrm>
              <a:off x="1384475" y="1406850"/>
              <a:ext cx="711600" cy="183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5" name="Google Shape;1305;p101"/>
            <p:cNvCxnSpPr/>
            <p:nvPr/>
          </p:nvCxnSpPr>
          <p:spPr>
            <a:xfrm>
              <a:off x="1414975" y="3246700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ata-is-equatio=&quot;1&quot; data-equatio-url=&quot;https://equatio-api.texthelp.com/desmos/get/11-10-2023/181763de-21d6-4b37-b77a-6b1442d8e489&quot; data-equatio-type=&quot;desmos&quot;&gt;&lt;mglyph src=&quot;https://equatio-api.texthelp.com/desmos/get/11-10-2023/181763de-21d6-4b37-b77a-6b1442d8e489&quot; alt=&quot;Equatio Desmos Graph&quot;/&gt;&lt;/math&gt;" id="1306" name="Google Shape;1306;p10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6" y="1080000"/>
            <a:ext cx="4246876" cy="374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307" name="Google Shape;1307;p10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08" name="Google Shape;1308;p10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9" name="Google Shape;1309;p101"/>
          <p:cNvGrpSpPr/>
          <p:nvPr/>
        </p:nvGrpSpPr>
        <p:grpSpPr>
          <a:xfrm>
            <a:off x="1384475" y="1406850"/>
            <a:ext cx="711600" cy="1860300"/>
            <a:chOff x="1384475" y="1406850"/>
            <a:chExt cx="711600" cy="1860300"/>
          </a:xfrm>
        </p:grpSpPr>
        <p:cxnSp>
          <p:nvCxnSpPr>
            <p:cNvPr id="1310" name="Google Shape;1310;p101"/>
            <p:cNvCxnSpPr/>
            <p:nvPr/>
          </p:nvCxnSpPr>
          <p:spPr>
            <a:xfrm>
              <a:off x="1384475" y="1406850"/>
              <a:ext cx="10200" cy="1860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1" name="Google Shape;1311;p101"/>
            <p:cNvCxnSpPr/>
            <p:nvPr/>
          </p:nvCxnSpPr>
          <p:spPr>
            <a:xfrm>
              <a:off x="1384475" y="1406850"/>
              <a:ext cx="711600" cy="1839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2" name="Google Shape;1312;p101"/>
            <p:cNvCxnSpPr/>
            <p:nvPr/>
          </p:nvCxnSpPr>
          <p:spPr>
            <a:xfrm>
              <a:off x="1414975" y="3246700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13" name="Google Shape;1313;p101"/>
          <p:cNvGrpSpPr/>
          <p:nvPr/>
        </p:nvGrpSpPr>
        <p:grpSpPr>
          <a:xfrm>
            <a:off x="1384475" y="1417000"/>
            <a:ext cx="2826000" cy="1839865"/>
            <a:chOff x="1384475" y="1417000"/>
            <a:chExt cx="2826000" cy="1839865"/>
          </a:xfrm>
        </p:grpSpPr>
        <p:cxnSp>
          <p:nvCxnSpPr>
            <p:cNvPr id="1314" name="Google Shape;1314;p101"/>
            <p:cNvCxnSpPr/>
            <p:nvPr/>
          </p:nvCxnSpPr>
          <p:spPr>
            <a:xfrm>
              <a:off x="1384475" y="1417000"/>
              <a:ext cx="2113800" cy="18297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5" name="Google Shape;1315;p101"/>
            <p:cNvCxnSpPr/>
            <p:nvPr/>
          </p:nvCxnSpPr>
          <p:spPr>
            <a:xfrm>
              <a:off x="3528245" y="3256865"/>
              <a:ext cx="681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6" name="Google Shape;1316;p101"/>
            <p:cNvCxnSpPr/>
            <p:nvPr/>
          </p:nvCxnSpPr>
          <p:spPr>
            <a:xfrm>
              <a:off x="1384475" y="1417000"/>
              <a:ext cx="2826000" cy="18297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02"/>
          <p:cNvSpPr txBox="1"/>
          <p:nvPr>
            <p:ph idx="1" type="subTitle"/>
          </p:nvPr>
        </p:nvSpPr>
        <p:spPr>
          <a:xfrm>
            <a:off x="324000" y="1080000"/>
            <a:ext cx="7550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all the coordinates of a shape will translate it.</a:t>
            </a:r>
            <a:endParaRPr/>
          </a:p>
        </p:txBody>
      </p:sp>
      <p:sp>
        <p:nvSpPr>
          <p:cNvPr id="1322" name="Google Shape;1322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323" name="Google Shape;1323;p10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Yes, because all the vertices will move.</a:t>
            </a:r>
            <a:endParaRPr/>
          </a:p>
        </p:txBody>
      </p:sp>
      <p:sp>
        <p:nvSpPr>
          <p:cNvPr id="1324" name="Google Shape;1324;p102"/>
          <p:cNvSpPr txBox="1"/>
          <p:nvPr>
            <p:ph idx="3" type="subTitle"/>
          </p:nvPr>
        </p:nvSpPr>
        <p:spPr>
          <a:xfrm>
            <a:off x="980575" y="3907998"/>
            <a:ext cx="64785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Yes, but only if you follow the same rule for each coordinate.</a:t>
            </a:r>
            <a:endParaRPr/>
          </a:p>
        </p:txBody>
      </p:sp>
      <p:pic>
        <p:nvPicPr>
          <p:cNvPr id="1325" name="Google Shape;132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982" y="187319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1582" y="40067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332" name="Google Shape;1332;p103"/>
          <p:cNvSpPr txBox="1"/>
          <p:nvPr>
            <p:ph idx="4294967295" type="body"/>
          </p:nvPr>
        </p:nvSpPr>
        <p:spPr>
          <a:xfrm>
            <a:off x="4824000" y="2240825"/>
            <a:ext cx="950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(1,5)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 (1,1)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(2,1)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(2,5)</a:t>
            </a:r>
            <a:endParaRPr/>
          </a:p>
        </p:txBody>
      </p:sp>
      <p:sp>
        <p:nvSpPr>
          <p:cNvPr id="1333" name="Google Shape;1333;p103"/>
          <p:cNvSpPr txBox="1"/>
          <p:nvPr>
            <p:ph idx="4294967295" type="body"/>
          </p:nvPr>
        </p:nvSpPr>
        <p:spPr>
          <a:xfrm>
            <a:off x="4824000" y="1021600"/>
            <a:ext cx="3996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</a:t>
            </a:r>
            <a:r>
              <a:rPr lang="en-GB" sz="2000"/>
              <a:t> Why will the below not create a </a:t>
            </a:r>
            <a:r>
              <a:rPr b="1" lang="en-GB" sz="2000"/>
              <a:t>translation </a:t>
            </a:r>
            <a:r>
              <a:rPr lang="en-GB" sz="2000"/>
              <a:t>of rectangle ABCD?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f99c50fd-2d64-4b0d-ba18-7a118b229afc&quot; data-equatio-type=&quot;desmos&quot;&gt;&lt;mglyph src=&quot;https://equatio-api.texthelp.com/desmos/get/10-10-2023/f99c50fd-2d64-4b0d-ba18-7a118b229afc&quot; alt=&quot;Equatio Desmos Graph&quot;/&gt;&lt;/math&gt;" id="1334" name="Google Shape;1334;p10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56" y="1080000"/>
            <a:ext cx="4255976" cy="37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3"/>
          <p:cNvSpPr/>
          <p:nvPr/>
        </p:nvSpPr>
        <p:spPr>
          <a:xfrm>
            <a:off x="1389243" y="1406834"/>
            <a:ext cx="711600" cy="2471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03"/>
          <p:cNvSpPr txBox="1"/>
          <p:nvPr>
            <p:ph idx="4294967295" type="body"/>
          </p:nvPr>
        </p:nvSpPr>
        <p:spPr>
          <a:xfrm>
            <a:off x="6508800" y="2240825"/>
            <a:ext cx="950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(4,5)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(3,1)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(5,1)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accent2"/>
                </a:solidFill>
              </a:rPr>
              <a:t>(5,5)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337" name="Google Shape;1337;p103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38" name="Google Shape;1338;p103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9" name="Google Shape;1339;p103"/>
          <p:cNvCxnSpPr/>
          <p:nvPr/>
        </p:nvCxnSpPr>
        <p:spPr>
          <a:xfrm>
            <a:off x="5699575" y="239375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0" name="Google Shape;1340;p103"/>
          <p:cNvCxnSpPr/>
          <p:nvPr/>
        </p:nvCxnSpPr>
        <p:spPr>
          <a:xfrm>
            <a:off x="5699563" y="273920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1" name="Google Shape;1341;p103"/>
          <p:cNvCxnSpPr/>
          <p:nvPr/>
        </p:nvCxnSpPr>
        <p:spPr>
          <a:xfrm>
            <a:off x="5699575" y="308465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2" name="Google Shape;1342;p103"/>
          <p:cNvCxnSpPr/>
          <p:nvPr/>
        </p:nvCxnSpPr>
        <p:spPr>
          <a:xfrm>
            <a:off x="5699575" y="343010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42767578-37ab-4836-89cb-4d27ee2ac406&quot; data-equatio-type=&quot;desmos&quot;&gt;&lt;mglyph src=&quot;https://equatio-api.texthelp.com/desmos/get/11-10-2023/42767578-37ab-4836-89cb-4d27ee2ac406&quot; alt=&quot;Equatio Desmos Graph&quot;/&gt;&lt;/math&gt;" id="1347" name="Google Shape;1347;p10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61" y="1080000"/>
            <a:ext cx="4255976" cy="37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Translating shapes</a:t>
            </a:r>
            <a:endParaRPr/>
          </a:p>
        </p:txBody>
      </p:sp>
      <p:sp>
        <p:nvSpPr>
          <p:cNvPr id="1349" name="Google Shape;1349;p104"/>
          <p:cNvSpPr txBox="1"/>
          <p:nvPr>
            <p:ph idx="4294967295" type="body"/>
          </p:nvPr>
        </p:nvSpPr>
        <p:spPr>
          <a:xfrm>
            <a:off x="4824000" y="2240825"/>
            <a:ext cx="9504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(1,5)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 (1,1)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(2,1)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(2,5)</a:t>
            </a:r>
            <a:endParaRPr/>
          </a:p>
        </p:txBody>
      </p:sp>
      <p:sp>
        <p:nvSpPr>
          <p:cNvPr id="1350" name="Google Shape;1350;p104"/>
          <p:cNvSpPr txBox="1"/>
          <p:nvPr>
            <p:ph idx="4294967295" type="body"/>
          </p:nvPr>
        </p:nvSpPr>
        <p:spPr>
          <a:xfrm>
            <a:off x="4824000" y="1021600"/>
            <a:ext cx="3996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</a:t>
            </a:r>
            <a:r>
              <a:rPr lang="en-GB" sz="2000"/>
              <a:t> Why will the below not create a </a:t>
            </a:r>
            <a:r>
              <a:rPr b="1" lang="en-GB" sz="2000"/>
              <a:t>translation </a:t>
            </a:r>
            <a:r>
              <a:rPr lang="en-GB" sz="2000"/>
              <a:t>of rectangle ABCD?</a:t>
            </a:r>
            <a:endParaRPr sz="2000"/>
          </a:p>
        </p:txBody>
      </p:sp>
      <p:sp>
        <p:nvSpPr>
          <p:cNvPr id="1351" name="Google Shape;1351;p104"/>
          <p:cNvSpPr txBox="1"/>
          <p:nvPr>
            <p:ph idx="4294967295" type="body"/>
          </p:nvPr>
        </p:nvSpPr>
        <p:spPr>
          <a:xfrm>
            <a:off x="6603150" y="2240825"/>
            <a:ext cx="856200" cy="10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(4,5)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(3,1)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(5,1)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(5,5)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352" name="Google Shape;1352;p104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53" name="Google Shape;1353;p104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04"/>
          <p:cNvSpPr/>
          <p:nvPr/>
        </p:nvSpPr>
        <p:spPr>
          <a:xfrm>
            <a:off x="1389243" y="1406834"/>
            <a:ext cx="711600" cy="2471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104"/>
          <p:cNvSpPr txBox="1"/>
          <p:nvPr>
            <p:ph idx="4294967295" type="body"/>
          </p:nvPr>
        </p:nvSpPr>
        <p:spPr>
          <a:xfrm>
            <a:off x="4824000" y="3764800"/>
            <a:ext cx="38592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four points did not all follow the same rule.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56" name="Google Shape;1356;p104"/>
          <p:cNvGrpSpPr/>
          <p:nvPr/>
        </p:nvGrpSpPr>
        <p:grpSpPr>
          <a:xfrm>
            <a:off x="5060730" y="2589891"/>
            <a:ext cx="1909200" cy="337200"/>
            <a:chOff x="5060730" y="2589891"/>
            <a:chExt cx="1909200" cy="337200"/>
          </a:xfrm>
        </p:grpSpPr>
        <p:sp>
          <p:nvSpPr>
            <p:cNvPr id="1357" name="Google Shape;1357;p104"/>
            <p:cNvSpPr/>
            <p:nvPr/>
          </p:nvSpPr>
          <p:spPr>
            <a:xfrm>
              <a:off x="5060730" y="2589891"/>
              <a:ext cx="385200" cy="337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8" name="Google Shape;1358;p104"/>
            <p:cNvSpPr/>
            <p:nvPr/>
          </p:nvSpPr>
          <p:spPr>
            <a:xfrm>
              <a:off x="6584730" y="2589891"/>
              <a:ext cx="385200" cy="337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4"/>
          <p:cNvGrpSpPr/>
          <p:nvPr/>
        </p:nvGrpSpPr>
        <p:grpSpPr>
          <a:xfrm>
            <a:off x="2809925" y="1385800"/>
            <a:ext cx="1415100" cy="2504400"/>
            <a:chOff x="2809925" y="1385800"/>
            <a:chExt cx="1415100" cy="2504400"/>
          </a:xfrm>
        </p:grpSpPr>
        <p:cxnSp>
          <p:nvCxnSpPr>
            <p:cNvPr id="1360" name="Google Shape;1360;p104"/>
            <p:cNvCxnSpPr/>
            <p:nvPr/>
          </p:nvCxnSpPr>
          <p:spPr>
            <a:xfrm>
              <a:off x="3506125" y="1385825"/>
              <a:ext cx="718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1" name="Google Shape;1361;p104"/>
            <p:cNvCxnSpPr/>
            <p:nvPr/>
          </p:nvCxnSpPr>
          <p:spPr>
            <a:xfrm flipH="1" rot="10800000">
              <a:off x="4213625" y="1385800"/>
              <a:ext cx="11400" cy="25044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2" name="Google Shape;1362;p104"/>
            <p:cNvCxnSpPr/>
            <p:nvPr/>
          </p:nvCxnSpPr>
          <p:spPr>
            <a:xfrm rot="10800000">
              <a:off x="2809925" y="3889000"/>
              <a:ext cx="1403700" cy="12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3" name="Google Shape;1363;p104"/>
            <p:cNvCxnSpPr/>
            <p:nvPr/>
          </p:nvCxnSpPr>
          <p:spPr>
            <a:xfrm flipH="1">
              <a:off x="2810075" y="1385825"/>
              <a:ext cx="718500" cy="25032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64" name="Google Shape;1364;p104"/>
          <p:cNvCxnSpPr/>
          <p:nvPr/>
        </p:nvCxnSpPr>
        <p:spPr>
          <a:xfrm>
            <a:off x="5699575" y="239375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5" name="Google Shape;1365;p104"/>
          <p:cNvCxnSpPr/>
          <p:nvPr/>
        </p:nvCxnSpPr>
        <p:spPr>
          <a:xfrm>
            <a:off x="5699563" y="273920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6" name="Google Shape;1366;p104"/>
          <p:cNvCxnSpPr/>
          <p:nvPr/>
        </p:nvCxnSpPr>
        <p:spPr>
          <a:xfrm>
            <a:off x="5699575" y="308465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7" name="Google Shape;1367;p104"/>
          <p:cNvCxnSpPr/>
          <p:nvPr/>
        </p:nvCxnSpPr>
        <p:spPr>
          <a:xfrm>
            <a:off x="5699575" y="3430100"/>
            <a:ext cx="726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0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can be </a:t>
            </a:r>
            <a:r>
              <a:rPr b="1" lang="en-GB"/>
              <a:t>plotted </a:t>
            </a:r>
            <a:r>
              <a:rPr lang="en-GB"/>
              <a:t>in the first </a:t>
            </a:r>
            <a:r>
              <a:rPr b="1" lang="en-GB"/>
              <a:t>quadrant </a:t>
            </a:r>
            <a:r>
              <a:rPr lang="en-GB"/>
              <a:t>by following the positive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direction and positive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direction from the origin.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Sets of points can be used to create shapes. Those shapes can be </a:t>
            </a:r>
            <a:r>
              <a:rPr b="1" lang="en-GB"/>
              <a:t>translated</a:t>
            </a:r>
            <a:r>
              <a:rPr lang="en-GB"/>
              <a:t> by </a:t>
            </a:r>
            <a:r>
              <a:rPr lang="en-GB"/>
              <a:t>applying the same rule to each coordinate.</a:t>
            </a:r>
            <a:endParaRPr/>
          </a:p>
        </p:txBody>
      </p:sp>
      <p:sp>
        <p:nvSpPr>
          <p:cNvPr id="1373" name="Google Shape;1373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plotting of coordinates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79" name="Google Shape;1379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