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D05542-3B1E-4D17-93C2-4FA6FE79AAE5}">
  <a:tblStyle styleId="{A6D05542-3B1E-4D17-93C2-4FA6FE79AA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a60f7763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a60f7763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8a60f7763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8a60f7763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8a60f7763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a60f7763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8a60f7763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8a60f7763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8a60f7763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8a60f776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8a60f7763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8a60f7763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8a60f7763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8a60f7763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8a60f7763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8a60f7763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8a60f7763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8a60f7763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8a60f7763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8a60f7763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8a60f7763d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8a60f7763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8a60f7763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8a60f7763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8a60f7763d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8a60f7763d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8a60f7763d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8a60f7763d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8a60f7763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8a60f7763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8b70939db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8b70939db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8a60f7763d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8a60f7763d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8a60f7763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28a60f7763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8a60f7763d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8a60f7763d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8a60f7763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8a60f7763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8a60f7763d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8a60f7763d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8a60f7763d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8a60f7763d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8a60f7763d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8a60f7763d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8a60f7763d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8a60f7763d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8a60f7763d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8a60f7763d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8a60f7763d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8a60f7763d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8a60f7763d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8a60f7763d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8a60f7763d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8a60f7763d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8a60f7763d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8a60f7763d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8a60f7763d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8a60f7763d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8a60f7763d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8a60f7763d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28a60f7763d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8a60f7763d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28a60f7763d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28a60f7763d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28a60f7763d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28a60f7763d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113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13.png"/><Relationship Id="rId4" Type="http://schemas.openxmlformats.org/officeDocument/2006/relationships/image" Target="../media/image25.png"/><Relationship Id="rId9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13.png"/><Relationship Id="rId4" Type="http://schemas.openxmlformats.org/officeDocument/2006/relationships/image" Target="../media/image30.png"/><Relationship Id="rId11" Type="http://schemas.openxmlformats.org/officeDocument/2006/relationships/image" Target="../media/image11.png"/><Relationship Id="rId10" Type="http://schemas.openxmlformats.org/officeDocument/2006/relationships/image" Target="../media/image40.png"/><Relationship Id="rId9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Relationship Id="rId5" Type="http://schemas.openxmlformats.org/officeDocument/2006/relationships/image" Target="../media/image59.png"/><Relationship Id="rId6" Type="http://schemas.openxmlformats.org/officeDocument/2006/relationships/image" Target="../media/image50.png"/><Relationship Id="rId7" Type="http://schemas.openxmlformats.org/officeDocument/2006/relationships/image" Target="../media/image63.png"/><Relationship Id="rId8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9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5" Type="http://schemas.openxmlformats.org/officeDocument/2006/relationships/image" Target="../media/image63.png"/><Relationship Id="rId6" Type="http://schemas.openxmlformats.org/officeDocument/2006/relationships/image" Target="../media/image58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5" Type="http://schemas.openxmlformats.org/officeDocument/2006/relationships/image" Target="../media/image5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Relationship Id="rId4" Type="http://schemas.openxmlformats.org/officeDocument/2006/relationships/image" Target="../media/image47.png"/><Relationship Id="rId9" Type="http://schemas.openxmlformats.org/officeDocument/2006/relationships/image" Target="../media/image73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72.png"/><Relationship Id="rId8" Type="http://schemas.openxmlformats.org/officeDocument/2006/relationships/image" Target="../media/image6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1.png"/><Relationship Id="rId4" Type="http://schemas.openxmlformats.org/officeDocument/2006/relationships/image" Target="../media/image59.png"/><Relationship Id="rId5" Type="http://schemas.openxmlformats.org/officeDocument/2006/relationships/image" Target="../media/image50.png"/><Relationship Id="rId6" Type="http://schemas.openxmlformats.org/officeDocument/2006/relationships/image" Target="../media/image7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59.png"/><Relationship Id="rId6" Type="http://schemas.openxmlformats.org/officeDocument/2006/relationships/image" Target="../media/image50.png"/><Relationship Id="rId7" Type="http://schemas.openxmlformats.org/officeDocument/2006/relationships/image" Target="../media/image7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8.png"/><Relationship Id="rId4" Type="http://schemas.openxmlformats.org/officeDocument/2006/relationships/image" Target="../media/image74.png"/><Relationship Id="rId5" Type="http://schemas.openxmlformats.org/officeDocument/2006/relationships/image" Target="../media/image80.png"/><Relationship Id="rId6" Type="http://schemas.openxmlformats.org/officeDocument/2006/relationships/image" Target="../media/image7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Relationship Id="rId5" Type="http://schemas.openxmlformats.org/officeDocument/2006/relationships/image" Target="../media/image79.png"/><Relationship Id="rId6" Type="http://schemas.openxmlformats.org/officeDocument/2006/relationships/image" Target="../media/image8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8.png"/><Relationship Id="rId4" Type="http://schemas.openxmlformats.org/officeDocument/2006/relationships/image" Target="../media/image87.png"/><Relationship Id="rId5" Type="http://schemas.openxmlformats.org/officeDocument/2006/relationships/image" Target="../media/image82.png"/><Relationship Id="rId6" Type="http://schemas.openxmlformats.org/officeDocument/2006/relationships/image" Target="../media/image8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4.png"/><Relationship Id="rId4" Type="http://schemas.openxmlformats.org/officeDocument/2006/relationships/image" Target="../media/image80.png"/><Relationship Id="rId5" Type="http://schemas.openxmlformats.org/officeDocument/2006/relationships/image" Target="../media/image76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8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Relationship Id="rId5" Type="http://schemas.openxmlformats.org/officeDocument/2006/relationships/image" Target="../media/image81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9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7.png"/><Relationship Id="rId4" Type="http://schemas.openxmlformats.org/officeDocument/2006/relationships/image" Target="../media/image82.png"/><Relationship Id="rId5" Type="http://schemas.openxmlformats.org/officeDocument/2006/relationships/image" Target="../media/image86.png"/><Relationship Id="rId6" Type="http://schemas.openxmlformats.org/officeDocument/2006/relationships/image" Target="../media/image95.png"/><Relationship Id="rId7" Type="http://schemas.openxmlformats.org/officeDocument/2006/relationships/image" Target="../media/image91.png"/><Relationship Id="rId8" Type="http://schemas.openxmlformats.org/officeDocument/2006/relationships/image" Target="../media/image9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4.png"/><Relationship Id="rId4" Type="http://schemas.openxmlformats.org/officeDocument/2006/relationships/image" Target="../media/image9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8.png"/><Relationship Id="rId7" Type="http://schemas.openxmlformats.org/officeDocument/2006/relationships/image" Target="../media/image107.png"/><Relationship Id="rId8" Type="http://schemas.openxmlformats.org/officeDocument/2006/relationships/image" Target="../media/image10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3.png"/><Relationship Id="rId4" Type="http://schemas.openxmlformats.org/officeDocument/2006/relationships/image" Target="../media/image109.png"/><Relationship Id="rId5" Type="http://schemas.openxmlformats.org/officeDocument/2006/relationships/image" Target="../media/image81.png"/><Relationship Id="rId6" Type="http://schemas.openxmlformats.org/officeDocument/2006/relationships/image" Target="../media/image71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8.png"/><Relationship Id="rId7" Type="http://schemas.openxmlformats.org/officeDocument/2006/relationships/image" Target="../media/image107.png"/><Relationship Id="rId8" Type="http://schemas.openxmlformats.org/officeDocument/2006/relationships/image" Target="../media/image10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3.png"/><Relationship Id="rId4" Type="http://schemas.openxmlformats.org/officeDocument/2006/relationships/image" Target="../media/image109.png"/><Relationship Id="rId5" Type="http://schemas.openxmlformats.org/officeDocument/2006/relationships/image" Target="../media/image81.png"/><Relationship Id="rId6" Type="http://schemas.openxmlformats.org/officeDocument/2006/relationships/image" Target="../media/image71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 relationship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a graphical representation to show all of the points (within a range) that satisfy a relationship.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integer is any positive or negative whole number or zero. E.g. -2, 0, 153 are all examples of integers.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Substitute means to put in place of another.  In Algebra, substitution can be used to replace variables with values.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 relationship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27" y="205982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476400" y="741775"/>
            <a:ext cx="39138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draws the axes below:</a:t>
            </a:r>
            <a:endParaRPr sz="2000"/>
          </a:p>
        </p:txBody>
      </p:sp>
      <p:pic>
        <p:nvPicPr>
          <p:cNvPr id="782" name="Google Shape;7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0" y="1994004"/>
            <a:ext cx="2790426" cy="27790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476400" y="1164175"/>
            <a:ext cx="83436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She then plots the points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(-5,2)  (-4,2)  (-3,2)  (-2,2)  (-1,2)  (0,2)  (1,2)  (2,2)  (3,2)  (4,2)  (5,2)</a:t>
            </a:r>
            <a:endParaRPr sz="2000"/>
          </a:p>
        </p:txBody>
      </p:sp>
      <p:pic>
        <p:nvPicPr>
          <p:cNvPr id="784" name="Google Shape;78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75" y="1994012"/>
            <a:ext cx="2887868" cy="27790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3545400" y="4301400"/>
            <a:ext cx="47877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 you agree with Aisha’s statement?</a:t>
            </a:r>
            <a:endParaRPr sz="2000"/>
          </a:p>
        </p:txBody>
      </p:sp>
      <p:grpSp>
        <p:nvGrpSpPr>
          <p:cNvPr id="786" name="Google Shape;786;p69"/>
          <p:cNvGrpSpPr/>
          <p:nvPr/>
        </p:nvGrpSpPr>
        <p:grpSpPr>
          <a:xfrm>
            <a:off x="4406750" y="2126875"/>
            <a:ext cx="4051950" cy="2002323"/>
            <a:chOff x="4406750" y="2126875"/>
            <a:chExt cx="4051950" cy="2002323"/>
          </a:xfrm>
        </p:grpSpPr>
        <p:pic>
          <p:nvPicPr>
            <p:cNvPr id="787" name="Google Shape;787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7457325" y="2422443"/>
              <a:ext cx="623346" cy="1177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69"/>
            <p:cNvSpPr txBox="1"/>
            <p:nvPr/>
          </p:nvSpPr>
          <p:spPr>
            <a:xfrm>
              <a:off x="7079300" y="3543298"/>
              <a:ext cx="13794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Aisha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89" name="Google Shape;789;p69"/>
            <p:cNvPicPr preferRelativeResize="0"/>
            <p:nvPr/>
          </p:nvPicPr>
          <p:blipFill rotWithShape="1">
            <a:blip r:embed="rId6">
              <a:alphaModFix/>
            </a:blip>
            <a:srcRect b="43690" l="0" r="57905" t="0"/>
            <a:stretch/>
          </p:blipFill>
          <p:spPr>
            <a:xfrm>
              <a:off x="4406750" y="2126875"/>
              <a:ext cx="2735299" cy="1177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0" name="Google Shape;790;p69"/>
            <p:cNvSpPr txBox="1"/>
            <p:nvPr/>
          </p:nvSpPr>
          <p:spPr>
            <a:xfrm>
              <a:off x="4464725" y="2213925"/>
              <a:ext cx="2341200" cy="9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I have plotted all the coordinates where the </a:t>
              </a:r>
              <a:r>
                <a:rPr i="1" lang="en-GB" sz="19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coordinate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is 2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796" name="Google Shape;796;p70"/>
          <p:cNvSpPr txBox="1"/>
          <p:nvPr>
            <p:ph idx="1" type="body"/>
          </p:nvPr>
        </p:nvSpPr>
        <p:spPr>
          <a:xfrm>
            <a:off x="476400" y="741775"/>
            <a:ext cx="82197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has plotted all the </a:t>
            </a:r>
            <a:r>
              <a:rPr lang="en-GB" sz="2000">
                <a:solidFill>
                  <a:schemeClr val="accent4"/>
                </a:solidFill>
              </a:rPr>
              <a:t>integer</a:t>
            </a:r>
            <a:r>
              <a:rPr lang="en-GB" sz="2000"/>
              <a:t> coordinates on her axis where </a:t>
            </a:r>
            <a:endParaRPr sz="2000"/>
          </a:p>
        </p:txBody>
      </p:sp>
      <p:sp>
        <p:nvSpPr>
          <p:cNvPr id="797" name="Google Shape;797;p70"/>
          <p:cNvSpPr txBox="1"/>
          <p:nvPr>
            <p:ph idx="1" type="body"/>
          </p:nvPr>
        </p:nvSpPr>
        <p:spPr>
          <a:xfrm>
            <a:off x="445500" y="1528450"/>
            <a:ext cx="25305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Does the coordinate</a:t>
            </a:r>
            <a:endParaRPr sz="2000"/>
          </a:p>
        </p:txBody>
      </p:sp>
      <p:pic>
        <p:nvPicPr>
          <p:cNvPr id="798" name="Google Shape;798;p70"/>
          <p:cNvPicPr preferRelativeResize="0"/>
          <p:nvPr/>
        </p:nvPicPr>
        <p:blipFill rotWithShape="1">
          <a:blip r:embed="rId3">
            <a:alphaModFix/>
          </a:blip>
          <a:srcRect b="8709" l="0" r="0" t="0"/>
          <a:stretch/>
        </p:blipFill>
        <p:spPr>
          <a:xfrm>
            <a:off x="445500" y="2034900"/>
            <a:ext cx="2887876" cy="2537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9" name="Google Shape;799;p70"/>
          <p:cNvSpPr txBox="1"/>
          <p:nvPr>
            <p:ph idx="1" type="body"/>
          </p:nvPr>
        </p:nvSpPr>
        <p:spPr>
          <a:xfrm>
            <a:off x="3591750" y="2069450"/>
            <a:ext cx="47877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think of any others?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2&quot;&gt;&lt;mi&gt;y&lt;/mi&gt;&lt;mo&gt;=&lt;/mo&gt;&lt;mn&gt;2&lt;/mn&gt;&lt;/math&gt;" id="800" name="Google Shape;800;p70" title="y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02" y="1079994"/>
            <a:ext cx="730800" cy="288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1" name="Google Shape;801;p70"/>
          <p:cNvGrpSpPr/>
          <p:nvPr/>
        </p:nvGrpSpPr>
        <p:grpSpPr>
          <a:xfrm>
            <a:off x="1207202" y="1224095"/>
            <a:ext cx="2700623" cy="652605"/>
            <a:chOff x="1207202" y="1224095"/>
            <a:chExt cx="2700623" cy="652605"/>
          </a:xfrm>
        </p:grpSpPr>
        <p:sp>
          <p:nvSpPr>
            <p:cNvPr id="802" name="Google Shape;802;p70"/>
            <p:cNvSpPr/>
            <p:nvPr/>
          </p:nvSpPr>
          <p:spPr>
            <a:xfrm>
              <a:off x="3575725" y="1513700"/>
              <a:ext cx="332100" cy="363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03" name="Google Shape;803;p70"/>
            <p:cNvCxnSpPr>
              <a:stCxn id="800" idx="3"/>
            </p:cNvCxnSpPr>
            <p:nvPr/>
          </p:nvCxnSpPr>
          <p:spPr>
            <a:xfrm>
              <a:off x="1207202" y="1224095"/>
              <a:ext cx="2360700" cy="31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6127925" y="1567050"/>
            <a:ext cx="5154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3591750" y="2741725"/>
            <a:ext cx="52281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Aisha show all the points that fit this rule?</a:t>
            </a:r>
            <a:endParaRPr sz="2000"/>
          </a:p>
        </p:txBody>
      </p:sp>
      <p:pic>
        <p:nvPicPr>
          <p:cNvPr id="806" name="Google Shape;806;p70"/>
          <p:cNvPicPr preferRelativeResize="0"/>
          <p:nvPr/>
        </p:nvPicPr>
        <p:blipFill rotWithShape="1">
          <a:blip r:embed="rId5">
            <a:alphaModFix/>
          </a:blip>
          <a:srcRect b="5700" l="0" r="0" t="543"/>
          <a:stretch/>
        </p:blipFill>
        <p:spPr>
          <a:xfrm>
            <a:off x="440725" y="2034900"/>
            <a:ext cx="2887876" cy="25370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3642750" y="3640975"/>
            <a:ext cx="52281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Drawing the line through the points means all the non-integer coordinates are also </a:t>
            </a:r>
            <a:r>
              <a:rPr lang="en-GB" sz="2000"/>
              <a:t>represented.</a:t>
            </a:r>
            <a:endParaRPr sz="2000"/>
          </a:p>
        </p:txBody>
      </p:sp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3004850" y="1528450"/>
            <a:ext cx="6378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(-1.5,</a:t>
            </a:r>
            <a:endParaRPr sz="2000"/>
          </a:p>
        </p:txBody>
      </p:sp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3968625" y="1528450"/>
            <a:ext cx="21114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also fit this rule?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3642750" y="1528450"/>
            <a:ext cx="4173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816" name="Google Shape;816;p71"/>
          <p:cNvSpPr txBox="1"/>
          <p:nvPr>
            <p:ph idx="1" type="body"/>
          </p:nvPr>
        </p:nvSpPr>
        <p:spPr>
          <a:xfrm>
            <a:off x="324000" y="810000"/>
            <a:ext cx="30456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call this line </a:t>
            </a:r>
            <a:r>
              <a:rPr lang="en-GB" sz="2000"/>
              <a:t>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2&quot;&gt;&lt;mi&gt;y&lt;/mi&gt;&lt;mo&gt;=&lt;/mo&gt;&lt;mn&gt;2&lt;/mn&gt;&lt;/math&gt;" id="817" name="Google Shape;817;p71" title="y equal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109" y="839508"/>
            <a:ext cx="730613" cy="28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627900"/>
            <a:ext cx="2964865" cy="27790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9" name="Google Shape;819;p71"/>
          <p:cNvPicPr preferRelativeResize="0"/>
          <p:nvPr/>
        </p:nvPicPr>
        <p:blipFill rotWithShape="1">
          <a:blip r:embed="rId5">
            <a:alphaModFix/>
          </a:blip>
          <a:srcRect b="5522" l="0" r="0" t="1506"/>
          <a:stretch/>
        </p:blipFill>
        <p:spPr>
          <a:xfrm>
            <a:off x="4987083" y="1630733"/>
            <a:ext cx="2964850" cy="27790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0" name="Google Shape;820;p71"/>
          <p:cNvSpPr txBox="1"/>
          <p:nvPr>
            <p:ph idx="1" type="body"/>
          </p:nvPr>
        </p:nvSpPr>
        <p:spPr>
          <a:xfrm>
            <a:off x="4824000" y="810000"/>
            <a:ext cx="39960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think we call this line?</a:t>
            </a:r>
            <a:r>
              <a:rPr lang="en-GB" sz="2000"/>
              <a:t> 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3&quot;&gt;&lt;mi&gt;y&lt;/mi&gt;&lt;mo&gt;=&lt;/mo&gt;&lt;mn&gt;3&lt;/mn&gt;&lt;/math&gt;" id="821" name="Google Shape;821;p71" title="y equals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2625" y="1193766"/>
            <a:ext cx="730625" cy="295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827" name="Google Shape;827;p72"/>
          <p:cNvSpPr txBox="1"/>
          <p:nvPr>
            <p:ph idx="1" type="body"/>
          </p:nvPr>
        </p:nvSpPr>
        <p:spPr>
          <a:xfrm>
            <a:off x="324000" y="810000"/>
            <a:ext cx="84960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Lines represent all coordinates that follow a rule.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828" name="Google Shape;828;p72"/>
          <p:cNvSpPr txBox="1"/>
          <p:nvPr>
            <p:ph idx="1" type="body"/>
          </p:nvPr>
        </p:nvSpPr>
        <p:spPr>
          <a:xfrm>
            <a:off x="324000" y="1473850"/>
            <a:ext cx="84960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By drawing a line, we have represented an infinite </a:t>
            </a:r>
            <a:r>
              <a:rPr lang="en-GB" sz="2000"/>
              <a:t>number</a:t>
            </a:r>
            <a:r>
              <a:rPr lang="en-GB" sz="2000"/>
              <a:t> of points that follow a rule (within the range -5 to 5 in this case). 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829" name="Google Shape;829;p72"/>
          <p:cNvSpPr txBox="1"/>
          <p:nvPr>
            <p:ph idx="1" type="body"/>
          </p:nvPr>
        </p:nvSpPr>
        <p:spPr>
          <a:xfrm>
            <a:off x="324000" y="2488800"/>
            <a:ext cx="84960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Graphing software can represent an infinite number of points without the restriction of a range.</a:t>
            </a:r>
            <a:r>
              <a:rPr lang="en-GB" sz="2000"/>
              <a:t>  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3"/>
          <p:cNvSpPr txBox="1"/>
          <p:nvPr>
            <p:ph idx="1" type="body"/>
          </p:nvPr>
        </p:nvSpPr>
        <p:spPr>
          <a:xfrm>
            <a:off x="324000" y="712975"/>
            <a:ext cx="8496000" cy="9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draw lines that represent a rule by choosing some coordinates that fit a rule.</a:t>
            </a:r>
            <a:endParaRPr sz="2000"/>
          </a:p>
        </p:txBody>
      </p:sp>
      <p:sp>
        <p:nvSpPr>
          <p:cNvPr id="835" name="Google Shape;83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836" name="Google Shape;836;p73"/>
          <p:cNvSpPr txBox="1"/>
          <p:nvPr>
            <p:ph idx="1" type="body"/>
          </p:nvPr>
        </p:nvSpPr>
        <p:spPr>
          <a:xfrm>
            <a:off x="324000" y="1620000"/>
            <a:ext cx="8496000" cy="9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wants to draw the line that represents all coordinates that fit the rule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x=4&quot;&gt;&lt;mi&gt;x&lt;/mi&gt;&lt;mo&gt;=&lt;/mo&gt;&lt;mn&gt;4&lt;/mn&gt;&lt;/math&gt;" id="837" name="Google Shape;837;p73" title="x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717" y="2012662"/>
            <a:ext cx="680400" cy="208565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3"/>
          <p:cNvSpPr txBox="1"/>
          <p:nvPr>
            <p:ph idx="1" type="body"/>
          </p:nvPr>
        </p:nvSpPr>
        <p:spPr>
          <a:xfrm>
            <a:off x="324000" y="2583000"/>
            <a:ext cx="5213400" cy="9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many coordinates does she need to plot?</a:t>
            </a:r>
            <a:endParaRPr sz="2000"/>
          </a:p>
        </p:txBody>
      </p:sp>
      <p:pic>
        <p:nvPicPr>
          <p:cNvPr id="839" name="Google Shape;83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3075" y="2264770"/>
            <a:ext cx="2566126" cy="255563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4"/>
          <p:cNvSpPr txBox="1"/>
          <p:nvPr>
            <p:ph idx="1" type="body"/>
          </p:nvPr>
        </p:nvSpPr>
        <p:spPr>
          <a:xfrm>
            <a:off x="4084725" y="3240000"/>
            <a:ext cx="44259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minimum number of coordinates needed to draw any line is 2 </a:t>
            </a:r>
            <a:endParaRPr sz="2000"/>
          </a:p>
        </p:txBody>
      </p:sp>
      <p:sp>
        <p:nvSpPr>
          <p:cNvPr id="845" name="Google Shape;84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400" y="1650782"/>
            <a:ext cx="2566126" cy="255563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7" name="Google Shape;847;p74"/>
          <p:cNvSpPr txBox="1"/>
          <p:nvPr>
            <p:ph idx="1" type="body"/>
          </p:nvPr>
        </p:nvSpPr>
        <p:spPr>
          <a:xfrm>
            <a:off x="324000" y="810000"/>
            <a:ext cx="8496000" cy="10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many different ways can you join these two coordinates with a ruler?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848" name="Google Shape;84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631618">
            <a:off x="4706778" y="1954905"/>
            <a:ext cx="3517565" cy="337831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4"/>
          <p:cNvSpPr txBox="1"/>
          <p:nvPr>
            <p:ph idx="1" type="body"/>
          </p:nvPr>
        </p:nvSpPr>
        <p:spPr>
          <a:xfrm>
            <a:off x="4084725" y="1718900"/>
            <a:ext cx="11910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One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50" name="Google Shape;850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0035" y="1650788"/>
            <a:ext cx="2636033" cy="25556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51" name="Google Shape;851;p74"/>
          <p:cNvCxnSpPr/>
          <p:nvPr/>
        </p:nvCxnSpPr>
        <p:spPr>
          <a:xfrm>
            <a:off x="1012225" y="2452825"/>
            <a:ext cx="1413600" cy="1405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857" name="Google Shape;857;p75"/>
          <p:cNvSpPr txBox="1"/>
          <p:nvPr>
            <p:ph idx="1" type="body"/>
          </p:nvPr>
        </p:nvSpPr>
        <p:spPr>
          <a:xfrm>
            <a:off x="324000" y="701875"/>
            <a:ext cx="8496000" cy="3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wants to draw the line that represents all coordinates that fit the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x=4&quot;&gt;&lt;mi&gt;x&lt;/mi&gt;&lt;mo&gt;=&lt;/mo&gt;&lt;mn&gt;4&lt;/mn&gt;&lt;/math&gt;" id="858" name="Google Shape;858;p75" title="x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748" y="1048205"/>
            <a:ext cx="680400" cy="208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450" y="1620001"/>
            <a:ext cx="2373324" cy="23636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60" name="Google Shape;860;p75"/>
          <p:cNvGrpSpPr/>
          <p:nvPr/>
        </p:nvGrpSpPr>
        <p:grpSpPr>
          <a:xfrm>
            <a:off x="345475" y="1685014"/>
            <a:ext cx="2805384" cy="1039136"/>
            <a:chOff x="345475" y="1532614"/>
            <a:chExt cx="2805384" cy="1039136"/>
          </a:xfrm>
        </p:grpSpPr>
        <p:pic>
          <p:nvPicPr>
            <p:cNvPr id="861" name="Google Shape;861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80626" y="1620000"/>
              <a:ext cx="518882" cy="669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" name="Google Shape;862;p75"/>
            <p:cNvSpPr txBox="1"/>
            <p:nvPr/>
          </p:nvSpPr>
          <p:spPr>
            <a:xfrm>
              <a:off x="345475" y="2209350"/>
              <a:ext cx="964800" cy="3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b="1"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63" name="Google Shape;863;p75"/>
            <p:cNvGrpSpPr/>
            <p:nvPr/>
          </p:nvGrpSpPr>
          <p:grpSpPr>
            <a:xfrm>
              <a:off x="1160022" y="1532614"/>
              <a:ext cx="1990837" cy="843848"/>
              <a:chOff x="619423" y="3442375"/>
              <a:chExt cx="1955251" cy="1316250"/>
            </a:xfrm>
          </p:grpSpPr>
          <p:pic>
            <p:nvPicPr>
              <p:cNvPr id="864" name="Google Shape;864;p7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082" t="56280"/>
              <a:stretch/>
            </p:blipFill>
            <p:spPr>
              <a:xfrm flipH="1">
                <a:off x="619423" y="3442375"/>
                <a:ext cx="1955251" cy="1316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5" name="Google Shape;865;p75"/>
              <p:cNvSpPr txBox="1"/>
              <p:nvPr/>
            </p:nvSpPr>
            <p:spPr>
              <a:xfrm>
                <a:off x="893550" y="3697075"/>
                <a:ext cx="1457700" cy="7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Plot (3,4)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66" name="Google Shape;866;p75"/>
          <p:cNvGrpSpPr/>
          <p:nvPr/>
        </p:nvGrpSpPr>
        <p:grpSpPr>
          <a:xfrm>
            <a:off x="345475" y="2715663"/>
            <a:ext cx="2805384" cy="1118398"/>
            <a:chOff x="345475" y="2715663"/>
            <a:chExt cx="2805384" cy="1118398"/>
          </a:xfrm>
        </p:grpSpPr>
        <p:sp>
          <p:nvSpPr>
            <p:cNvPr id="867" name="Google Shape;867;p75"/>
            <p:cNvSpPr txBox="1"/>
            <p:nvPr/>
          </p:nvSpPr>
          <p:spPr>
            <a:xfrm>
              <a:off x="345475" y="3471661"/>
              <a:ext cx="778200" cy="3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b="1"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68" name="Google Shape;868;p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9667" y="2770335"/>
              <a:ext cx="560800" cy="7344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9" name="Google Shape;869;p75"/>
            <p:cNvGrpSpPr/>
            <p:nvPr/>
          </p:nvGrpSpPr>
          <p:grpSpPr>
            <a:xfrm>
              <a:off x="1160022" y="2715663"/>
              <a:ext cx="1990837" cy="843848"/>
              <a:chOff x="619423" y="3526700"/>
              <a:chExt cx="1955251" cy="1316250"/>
            </a:xfrm>
          </p:grpSpPr>
          <p:pic>
            <p:nvPicPr>
              <p:cNvPr id="870" name="Google Shape;870;p7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082" t="56280"/>
              <a:stretch/>
            </p:blipFill>
            <p:spPr>
              <a:xfrm flipH="1">
                <a:off x="619423" y="3526700"/>
                <a:ext cx="1955251" cy="1316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1" name="Google Shape;871;p75"/>
              <p:cNvSpPr txBox="1"/>
              <p:nvPr/>
            </p:nvSpPr>
            <p:spPr>
              <a:xfrm>
                <a:off x="893550" y="3781400"/>
                <a:ext cx="1457700" cy="7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Plot (4,10)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72" name="Google Shape;872;p75"/>
          <p:cNvGrpSpPr/>
          <p:nvPr/>
        </p:nvGrpSpPr>
        <p:grpSpPr>
          <a:xfrm>
            <a:off x="345475" y="3794810"/>
            <a:ext cx="2805384" cy="1033273"/>
            <a:chOff x="345475" y="3733027"/>
            <a:chExt cx="2805384" cy="1033273"/>
          </a:xfrm>
        </p:grpSpPr>
        <p:sp>
          <p:nvSpPr>
            <p:cNvPr id="873" name="Google Shape;873;p75"/>
            <p:cNvSpPr txBox="1"/>
            <p:nvPr/>
          </p:nvSpPr>
          <p:spPr>
            <a:xfrm>
              <a:off x="345475" y="4486700"/>
              <a:ext cx="701400" cy="2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74" name="Google Shape;874;p7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459667" y="3779991"/>
              <a:ext cx="560800" cy="6221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5" name="Google Shape;875;p75"/>
            <p:cNvGrpSpPr/>
            <p:nvPr/>
          </p:nvGrpSpPr>
          <p:grpSpPr>
            <a:xfrm>
              <a:off x="1160022" y="3733027"/>
              <a:ext cx="1990837" cy="843848"/>
              <a:chOff x="619423" y="3442375"/>
              <a:chExt cx="1955251" cy="1316250"/>
            </a:xfrm>
          </p:grpSpPr>
          <p:pic>
            <p:nvPicPr>
              <p:cNvPr id="876" name="Google Shape;876;p7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082" t="56280"/>
              <a:stretch/>
            </p:blipFill>
            <p:spPr>
              <a:xfrm flipH="1">
                <a:off x="619423" y="3442375"/>
                <a:ext cx="1955251" cy="1316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7" name="Google Shape;877;p75"/>
              <p:cNvSpPr txBox="1"/>
              <p:nvPr/>
            </p:nvSpPr>
            <p:spPr>
              <a:xfrm>
                <a:off x="893550" y="3697075"/>
                <a:ext cx="1457700" cy="7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Plot (4,2.1)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78" name="Google Shape;878;p75"/>
          <p:cNvSpPr txBox="1"/>
          <p:nvPr>
            <p:ph idx="1" type="body"/>
          </p:nvPr>
        </p:nvSpPr>
        <p:spPr>
          <a:xfrm>
            <a:off x="3369600" y="4065750"/>
            <a:ext cx="54504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spot any errors or difficulties with each suggestion?</a:t>
            </a:r>
            <a:endParaRPr sz="2000"/>
          </a:p>
        </p:txBody>
      </p:sp>
      <p:sp>
        <p:nvSpPr>
          <p:cNvPr id="879" name="Google Shape;879;p75"/>
          <p:cNvSpPr txBox="1"/>
          <p:nvPr>
            <p:ph idx="1" type="body"/>
          </p:nvPr>
        </p:nvSpPr>
        <p:spPr>
          <a:xfrm>
            <a:off x="324000" y="1048200"/>
            <a:ext cx="4878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rule </a:t>
            </a:r>
            <a:endParaRPr sz="1800"/>
          </a:p>
        </p:txBody>
      </p:sp>
      <p:sp>
        <p:nvSpPr>
          <p:cNvPr id="880" name="Google Shape;880;p75"/>
          <p:cNvSpPr txBox="1"/>
          <p:nvPr>
            <p:ph idx="1" type="body"/>
          </p:nvPr>
        </p:nvSpPr>
        <p:spPr>
          <a:xfrm>
            <a:off x="324000" y="1370800"/>
            <a:ext cx="84960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 classmates suggest some points to plot.  </a:t>
            </a:r>
            <a:endParaRPr sz="1800"/>
          </a:p>
        </p:txBody>
      </p:sp>
      <p:sp>
        <p:nvSpPr>
          <p:cNvPr id="881" name="Google Shape;881;p75"/>
          <p:cNvSpPr txBox="1"/>
          <p:nvPr>
            <p:ph idx="1" type="body"/>
          </p:nvPr>
        </p:nvSpPr>
        <p:spPr>
          <a:xfrm>
            <a:off x="1556775" y="1048200"/>
            <a:ext cx="74157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 the axis below.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grpSp>
        <p:nvGrpSpPr>
          <p:cNvPr id="887" name="Google Shape;887;p76"/>
          <p:cNvGrpSpPr/>
          <p:nvPr/>
        </p:nvGrpSpPr>
        <p:grpSpPr>
          <a:xfrm>
            <a:off x="345475" y="1608814"/>
            <a:ext cx="2805384" cy="1039136"/>
            <a:chOff x="345475" y="1532614"/>
            <a:chExt cx="2805384" cy="1039136"/>
          </a:xfrm>
        </p:grpSpPr>
        <p:pic>
          <p:nvPicPr>
            <p:cNvPr id="888" name="Google Shape;88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80626" y="1620000"/>
              <a:ext cx="518882" cy="669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9" name="Google Shape;889;p76"/>
            <p:cNvSpPr txBox="1"/>
            <p:nvPr/>
          </p:nvSpPr>
          <p:spPr>
            <a:xfrm>
              <a:off x="345475" y="2209350"/>
              <a:ext cx="964800" cy="3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b="1"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90" name="Google Shape;890;p76"/>
            <p:cNvGrpSpPr/>
            <p:nvPr/>
          </p:nvGrpSpPr>
          <p:grpSpPr>
            <a:xfrm>
              <a:off x="1160022" y="1532614"/>
              <a:ext cx="1990837" cy="843848"/>
              <a:chOff x="619423" y="3442375"/>
              <a:chExt cx="1955251" cy="1316250"/>
            </a:xfrm>
          </p:grpSpPr>
          <p:pic>
            <p:nvPicPr>
              <p:cNvPr id="891" name="Google Shape;891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619423" y="3442375"/>
                <a:ext cx="1955251" cy="1316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2" name="Google Shape;892;p76"/>
              <p:cNvSpPr txBox="1"/>
              <p:nvPr/>
            </p:nvSpPr>
            <p:spPr>
              <a:xfrm>
                <a:off x="893550" y="3697075"/>
                <a:ext cx="1457700" cy="7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Plot (3,4)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93" name="Google Shape;893;p76"/>
          <p:cNvGrpSpPr/>
          <p:nvPr/>
        </p:nvGrpSpPr>
        <p:grpSpPr>
          <a:xfrm>
            <a:off x="345475" y="2661602"/>
            <a:ext cx="2805384" cy="1118398"/>
            <a:chOff x="345475" y="2661602"/>
            <a:chExt cx="2805384" cy="1118398"/>
          </a:xfrm>
        </p:grpSpPr>
        <p:sp>
          <p:nvSpPr>
            <p:cNvPr id="894" name="Google Shape;894;p76"/>
            <p:cNvSpPr txBox="1"/>
            <p:nvPr/>
          </p:nvSpPr>
          <p:spPr>
            <a:xfrm>
              <a:off x="345475" y="3417600"/>
              <a:ext cx="778200" cy="3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b="1"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95" name="Google Shape;895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9667" y="2716274"/>
              <a:ext cx="560800" cy="7344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96" name="Google Shape;896;p76"/>
            <p:cNvGrpSpPr/>
            <p:nvPr/>
          </p:nvGrpSpPr>
          <p:grpSpPr>
            <a:xfrm>
              <a:off x="1160022" y="2661602"/>
              <a:ext cx="1990837" cy="843848"/>
              <a:chOff x="619423" y="3442375"/>
              <a:chExt cx="1955251" cy="1316250"/>
            </a:xfrm>
          </p:grpSpPr>
          <p:pic>
            <p:nvPicPr>
              <p:cNvPr id="897" name="Google Shape;897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619423" y="3442375"/>
                <a:ext cx="1955251" cy="1316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8" name="Google Shape;898;p76"/>
              <p:cNvSpPr txBox="1"/>
              <p:nvPr/>
            </p:nvSpPr>
            <p:spPr>
              <a:xfrm>
                <a:off x="893550" y="3697075"/>
                <a:ext cx="1457700" cy="7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Plot (4,10)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99" name="Google Shape;899;p76"/>
          <p:cNvGrpSpPr/>
          <p:nvPr/>
        </p:nvGrpSpPr>
        <p:grpSpPr>
          <a:xfrm>
            <a:off x="345475" y="3733027"/>
            <a:ext cx="2805384" cy="1033273"/>
            <a:chOff x="345475" y="3733027"/>
            <a:chExt cx="2805384" cy="1033273"/>
          </a:xfrm>
        </p:grpSpPr>
        <p:sp>
          <p:nvSpPr>
            <p:cNvPr id="900" name="Google Shape;900;p76"/>
            <p:cNvSpPr txBox="1"/>
            <p:nvPr/>
          </p:nvSpPr>
          <p:spPr>
            <a:xfrm>
              <a:off x="345475" y="4486700"/>
              <a:ext cx="701400" cy="2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01" name="Google Shape;901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459667" y="3779991"/>
              <a:ext cx="560800" cy="6221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2" name="Google Shape;902;p76"/>
            <p:cNvGrpSpPr/>
            <p:nvPr/>
          </p:nvGrpSpPr>
          <p:grpSpPr>
            <a:xfrm>
              <a:off x="1160022" y="3733027"/>
              <a:ext cx="1990837" cy="843848"/>
              <a:chOff x="619423" y="3442375"/>
              <a:chExt cx="1955251" cy="1316250"/>
            </a:xfrm>
          </p:grpSpPr>
          <p:pic>
            <p:nvPicPr>
              <p:cNvPr id="903" name="Google Shape;903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619423" y="3442375"/>
                <a:ext cx="1955251" cy="1316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4" name="Google Shape;904;p76"/>
              <p:cNvSpPr txBox="1"/>
              <p:nvPr/>
            </p:nvSpPr>
            <p:spPr>
              <a:xfrm>
                <a:off x="893550" y="3697075"/>
                <a:ext cx="1457700" cy="7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Plot (4,2.1)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05" name="Google Shape;905;p76"/>
          <p:cNvSpPr txBox="1"/>
          <p:nvPr>
            <p:ph idx="1" type="body"/>
          </p:nvPr>
        </p:nvSpPr>
        <p:spPr>
          <a:xfrm>
            <a:off x="3274525" y="1696200"/>
            <a:ext cx="5228400" cy="9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  coordinate needs to be 4. Andeep has written a coordinate with a   coordinate of 4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6" name="Google Shape;906;p76"/>
          <p:cNvSpPr txBox="1"/>
          <p:nvPr>
            <p:ph idx="1" type="body"/>
          </p:nvPr>
        </p:nvSpPr>
        <p:spPr>
          <a:xfrm>
            <a:off x="3274525" y="2571750"/>
            <a:ext cx="5529600" cy="9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Aisha’s axes only go up to 5 in either direction so even though this follows the rule, it will not fit on her graph.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7" name="Google Shape;907;p76"/>
          <p:cNvSpPr txBox="1"/>
          <p:nvPr>
            <p:ph idx="1" type="body"/>
          </p:nvPr>
        </p:nvSpPr>
        <p:spPr>
          <a:xfrm>
            <a:off x="3274525" y="3812550"/>
            <a:ext cx="5529600" cy="9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coordinate does fit the rule however it might be difficult to plot accurately. An integer coordinate may be better in this case.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908" name="Google Shape;908;p76" title="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66761" y="1733192"/>
            <a:ext cx="136800" cy="12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09" name="Google Shape;909;p76" title="y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31469" y="2159547"/>
            <a:ext cx="136800" cy="18419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6"/>
          <p:cNvSpPr txBox="1"/>
          <p:nvPr>
            <p:ph idx="1" type="body"/>
          </p:nvPr>
        </p:nvSpPr>
        <p:spPr>
          <a:xfrm>
            <a:off x="324000" y="625675"/>
            <a:ext cx="8496000" cy="3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wants to draw the line that represents all coordinates that fit the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x=4&quot;&gt;&lt;mi&gt;x&lt;/mi&gt;&lt;mo&gt;=&lt;/mo&gt;&lt;mn&gt;4&lt;/mn&gt;&lt;/math&gt;" id="911" name="Google Shape;911;p76" title="x equals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1748" y="972005"/>
            <a:ext cx="680400" cy="208565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6"/>
          <p:cNvSpPr txBox="1"/>
          <p:nvPr>
            <p:ph idx="1" type="body"/>
          </p:nvPr>
        </p:nvSpPr>
        <p:spPr>
          <a:xfrm>
            <a:off x="324000" y="972000"/>
            <a:ext cx="4878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rule </a:t>
            </a:r>
            <a:endParaRPr sz="1800"/>
          </a:p>
        </p:txBody>
      </p:sp>
      <p:sp>
        <p:nvSpPr>
          <p:cNvPr id="913" name="Google Shape;913;p76"/>
          <p:cNvSpPr txBox="1"/>
          <p:nvPr>
            <p:ph idx="1" type="body"/>
          </p:nvPr>
        </p:nvSpPr>
        <p:spPr>
          <a:xfrm>
            <a:off x="1556775" y="972000"/>
            <a:ext cx="74157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 the axis below.</a:t>
            </a:r>
            <a:endParaRPr sz="1800"/>
          </a:p>
        </p:txBody>
      </p:sp>
      <p:sp>
        <p:nvSpPr>
          <p:cNvPr id="914" name="Google Shape;914;p76"/>
          <p:cNvSpPr txBox="1"/>
          <p:nvPr>
            <p:ph idx="1" type="body"/>
          </p:nvPr>
        </p:nvSpPr>
        <p:spPr>
          <a:xfrm>
            <a:off x="324000" y="1294600"/>
            <a:ext cx="84960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 classmates suggest some points to plot.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920" name="Google Shape;920;p77"/>
          <p:cNvSpPr txBox="1"/>
          <p:nvPr>
            <p:ph idx="1" type="body"/>
          </p:nvPr>
        </p:nvSpPr>
        <p:spPr>
          <a:xfrm>
            <a:off x="324000" y="657600"/>
            <a:ext cx="84960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chooses the coordinate (4,2)   </a:t>
            </a:r>
            <a:endParaRPr sz="2000"/>
          </a:p>
        </p:txBody>
      </p:sp>
      <p:sp>
        <p:nvSpPr>
          <p:cNvPr id="921" name="Google Shape;921;p77"/>
          <p:cNvSpPr txBox="1"/>
          <p:nvPr>
            <p:ph idx="1" type="body"/>
          </p:nvPr>
        </p:nvSpPr>
        <p:spPr>
          <a:xfrm>
            <a:off x="324000" y="1023050"/>
            <a:ext cx="84960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Suggest another sensible coordinate to plot for </a:t>
            </a:r>
            <a:r>
              <a:rPr lang="en-GB" sz="2000"/>
              <a:t>   </a:t>
            </a:r>
            <a:endParaRPr sz="2000"/>
          </a:p>
        </p:txBody>
      </p:sp>
      <p:pic>
        <p:nvPicPr>
          <p:cNvPr id="922" name="Google Shape;92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575" y="1912150"/>
            <a:ext cx="2431249" cy="2463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3" name="Google Shape;923;p77"/>
          <p:cNvSpPr txBox="1"/>
          <p:nvPr>
            <p:ph idx="1" type="body"/>
          </p:nvPr>
        </p:nvSpPr>
        <p:spPr>
          <a:xfrm>
            <a:off x="324000" y="1467600"/>
            <a:ext cx="84960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(4,-5) (4,-4)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(4,-3) (4,-2) (4,-1) (4,0) (4,4) (4,5)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4" name="Google Shape;924;p77"/>
          <p:cNvSpPr txBox="1"/>
          <p:nvPr>
            <p:ph idx="1" type="body"/>
          </p:nvPr>
        </p:nvSpPr>
        <p:spPr>
          <a:xfrm>
            <a:off x="324000" y="2160000"/>
            <a:ext cx="5828100" cy="79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(4,1) and (4,3) are okay but are quite close to (4,2)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=4&quot;&gt;&lt;mi&gt;x&lt;/mi&gt;&lt;mo&gt;=&lt;/mo&gt;&lt;mn&gt;4&lt;/mn&gt;&lt;/math&gt;" id="925" name="Google Shape;925;p77" title="x equal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3571" y="1064097"/>
            <a:ext cx="680400" cy="208565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7"/>
          <p:cNvSpPr txBox="1"/>
          <p:nvPr>
            <p:ph idx="1" type="body"/>
          </p:nvPr>
        </p:nvSpPr>
        <p:spPr>
          <a:xfrm>
            <a:off x="324000" y="2809475"/>
            <a:ext cx="5828100" cy="79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can make it trickier to line up with a ruler.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Choosing coordinates further away will make it easier to draw an accurate line.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932" name="Google Shape;932;p78"/>
          <p:cNvSpPr txBox="1"/>
          <p:nvPr>
            <p:ph idx="1" type="body"/>
          </p:nvPr>
        </p:nvSpPr>
        <p:spPr>
          <a:xfrm>
            <a:off x="324000" y="1620000"/>
            <a:ext cx="84960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chooses the coordinates (4,5)  and (4,-2)</a:t>
            </a:r>
            <a:endParaRPr sz="2000"/>
          </a:p>
        </p:txBody>
      </p:sp>
      <p:pic>
        <p:nvPicPr>
          <p:cNvPr id="933" name="Google Shape;93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9775" y="1912150"/>
            <a:ext cx="2431249" cy="2463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4" name="Google Shape;934;p78"/>
          <p:cNvSpPr txBox="1"/>
          <p:nvPr>
            <p:ph idx="1" type="body"/>
          </p:nvPr>
        </p:nvSpPr>
        <p:spPr>
          <a:xfrm>
            <a:off x="324000" y="810000"/>
            <a:ext cx="84960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 coordinates is the minimum needed but it is often helpful to plot at least 3 to get an idea of the pattern.  </a:t>
            </a:r>
            <a:endParaRPr sz="1800"/>
          </a:p>
        </p:txBody>
      </p:sp>
      <p:pic>
        <p:nvPicPr>
          <p:cNvPr id="935" name="Google Shape;93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3712" y="1912150"/>
            <a:ext cx="2483369" cy="2463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6" name="Google Shape;936;p78"/>
          <p:cNvSpPr txBox="1"/>
          <p:nvPr>
            <p:ph idx="1" type="body"/>
          </p:nvPr>
        </p:nvSpPr>
        <p:spPr>
          <a:xfrm>
            <a:off x="324000" y="2261400"/>
            <a:ext cx="59007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show all the points she joins the coordinates with the ruler.</a:t>
            </a:r>
            <a:endParaRPr sz="2000"/>
          </a:p>
        </p:txBody>
      </p:sp>
      <p:pic>
        <p:nvPicPr>
          <p:cNvPr id="937" name="Google Shape;937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020223">
            <a:off x="277772" y="3746316"/>
            <a:ext cx="2814057" cy="2702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8" name="Google Shape;938;p78"/>
          <p:cNvCxnSpPr/>
          <p:nvPr/>
        </p:nvCxnSpPr>
        <p:spPr>
          <a:xfrm>
            <a:off x="8402602" y="2069750"/>
            <a:ext cx="0" cy="1506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78"/>
          <p:cNvSpPr txBox="1"/>
          <p:nvPr>
            <p:ph idx="1" type="body"/>
          </p:nvPr>
        </p:nvSpPr>
        <p:spPr>
          <a:xfrm>
            <a:off x="3048175" y="4542600"/>
            <a:ext cx="59007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Has she shown all coordinates that fit this rule?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945" name="Google Shape;945;p79"/>
          <p:cNvSpPr txBox="1"/>
          <p:nvPr>
            <p:ph idx="1" type="body"/>
          </p:nvPr>
        </p:nvSpPr>
        <p:spPr>
          <a:xfrm>
            <a:off x="324000" y="1593300"/>
            <a:ext cx="84960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Does it lie on the line Aisha has drawn?</a:t>
            </a:r>
            <a:endParaRPr sz="2000"/>
          </a:p>
        </p:txBody>
      </p:sp>
      <p:sp>
        <p:nvSpPr>
          <p:cNvPr id="946" name="Google Shape;946;p79"/>
          <p:cNvSpPr txBox="1"/>
          <p:nvPr>
            <p:ph idx="1" type="body"/>
          </p:nvPr>
        </p:nvSpPr>
        <p:spPr>
          <a:xfrm>
            <a:off x="324000" y="810000"/>
            <a:ext cx="6804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Does</a:t>
            </a:r>
            <a:endParaRPr sz="1900"/>
          </a:p>
        </p:txBody>
      </p:sp>
      <p:pic>
        <p:nvPicPr>
          <p:cNvPr id="947" name="Google Shape;947;p79"/>
          <p:cNvPicPr preferRelativeResize="0"/>
          <p:nvPr/>
        </p:nvPicPr>
        <p:blipFill rotWithShape="1">
          <a:blip r:embed="rId3">
            <a:alphaModFix/>
          </a:blip>
          <a:srcRect b="0" l="0" r="2095" t="0"/>
          <a:stretch/>
        </p:blipFill>
        <p:spPr>
          <a:xfrm>
            <a:off x="6319248" y="1910650"/>
            <a:ext cx="2431250" cy="2463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8" name="Google Shape;94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0928" y="1912373"/>
            <a:ext cx="2483349" cy="247541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9" name="Google Shape;949;p79"/>
          <p:cNvSpPr txBox="1"/>
          <p:nvPr>
            <p:ph idx="1" type="body"/>
          </p:nvPr>
        </p:nvSpPr>
        <p:spPr>
          <a:xfrm>
            <a:off x="324000" y="2794800"/>
            <a:ext cx="59007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needs to draw a line across the whole coordinate grid to show all the coordinates that fit the rule</a:t>
            </a:r>
            <a:endParaRPr sz="2000"/>
          </a:p>
        </p:txBody>
      </p:sp>
      <p:cxnSp>
        <p:nvCxnSpPr>
          <p:cNvPr id="950" name="Google Shape;950;p79"/>
          <p:cNvCxnSpPr/>
          <p:nvPr/>
        </p:nvCxnSpPr>
        <p:spPr>
          <a:xfrm>
            <a:off x="8402602" y="2069750"/>
            <a:ext cx="0" cy="1506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x=4&quot;&gt;&lt;mi&gt;x&lt;/mi&gt;&lt;mo&gt;=&lt;/mo&gt;&lt;mn&gt;4&lt;/mn&gt;&lt;/math&gt;" id="951" name="Google Shape;951;p79" title="x equals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5254" y="848278"/>
            <a:ext cx="680400" cy="208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4&quot;&gt;&lt;mi&gt;x&lt;/mi&gt;&lt;mo&gt;=&lt;/mo&gt;&lt;mn&gt;4&lt;/mn&gt;&lt;/math&gt;" id="952" name="Google Shape;952;p79" title="x equals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7081" y="3555809"/>
            <a:ext cx="680400" cy="208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3" name="Google Shape;953;p79"/>
          <p:cNvCxnSpPr/>
          <p:nvPr/>
        </p:nvCxnSpPr>
        <p:spPr>
          <a:xfrm>
            <a:off x="8402600" y="1896929"/>
            <a:ext cx="0" cy="2520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79"/>
          <p:cNvSpPr txBox="1"/>
          <p:nvPr>
            <p:ph idx="1" type="body"/>
          </p:nvPr>
        </p:nvSpPr>
        <p:spPr>
          <a:xfrm>
            <a:off x="355225" y="1116850"/>
            <a:ext cx="20526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5" name="Google Shape;955;p79"/>
          <p:cNvSpPr txBox="1"/>
          <p:nvPr>
            <p:ph idx="1" type="body"/>
          </p:nvPr>
        </p:nvSpPr>
        <p:spPr>
          <a:xfrm>
            <a:off x="324000" y="2069750"/>
            <a:ext cx="20526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6" name="Google Shape;956;p79"/>
          <p:cNvSpPr txBox="1"/>
          <p:nvPr>
            <p:ph idx="1" type="body"/>
          </p:nvPr>
        </p:nvSpPr>
        <p:spPr>
          <a:xfrm>
            <a:off x="974975" y="810000"/>
            <a:ext cx="4362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</a:t>
            </a:r>
            <a:endParaRPr sz="1900"/>
          </a:p>
        </p:txBody>
      </p:sp>
      <p:sp>
        <p:nvSpPr>
          <p:cNvPr id="957" name="Google Shape;957;p79"/>
          <p:cNvSpPr txBox="1"/>
          <p:nvPr>
            <p:ph idx="1" type="body"/>
          </p:nvPr>
        </p:nvSpPr>
        <p:spPr>
          <a:xfrm>
            <a:off x="1411325" y="810000"/>
            <a:ext cx="13425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</a:t>
            </a:r>
            <a:r>
              <a:rPr lang="en-GB" sz="1900"/>
              <a:t>oordinate</a:t>
            </a:r>
            <a:endParaRPr sz="1900"/>
          </a:p>
        </p:txBody>
      </p:sp>
      <p:sp>
        <p:nvSpPr>
          <p:cNvPr id="958" name="Google Shape;958;p79"/>
          <p:cNvSpPr txBox="1"/>
          <p:nvPr>
            <p:ph idx="1" type="body"/>
          </p:nvPr>
        </p:nvSpPr>
        <p:spPr>
          <a:xfrm>
            <a:off x="2753900" y="810000"/>
            <a:ext cx="9255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(4, -3.5)</a:t>
            </a:r>
            <a:endParaRPr sz="1900"/>
          </a:p>
        </p:txBody>
      </p:sp>
      <p:sp>
        <p:nvSpPr>
          <p:cNvPr id="959" name="Google Shape;959;p79"/>
          <p:cNvSpPr txBox="1"/>
          <p:nvPr>
            <p:ph idx="1" type="body"/>
          </p:nvPr>
        </p:nvSpPr>
        <p:spPr>
          <a:xfrm>
            <a:off x="3679325" y="810000"/>
            <a:ext cx="12945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fit the rule </a:t>
            </a:r>
            <a:endParaRPr sz="1900"/>
          </a:p>
        </p:txBody>
      </p:sp>
      <p:sp>
        <p:nvSpPr>
          <p:cNvPr id="960" name="Google Shape;960;p79"/>
          <p:cNvSpPr txBox="1"/>
          <p:nvPr>
            <p:ph idx="1" type="body"/>
          </p:nvPr>
        </p:nvSpPr>
        <p:spPr>
          <a:xfrm>
            <a:off x="5774400" y="810000"/>
            <a:ext cx="38076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?  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8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966" name="Google Shape;966;p80"/>
          <p:cNvSpPr txBox="1"/>
          <p:nvPr>
            <p:ph idx="1" type="subTitle"/>
          </p:nvPr>
        </p:nvSpPr>
        <p:spPr>
          <a:xfrm>
            <a:off x="324000" y="810000"/>
            <a:ext cx="39822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 the line for the rule</a:t>
            </a:r>
            <a:endParaRPr/>
          </a:p>
        </p:txBody>
      </p:sp>
      <p:sp>
        <p:nvSpPr>
          <p:cNvPr id="967" name="Google Shape;967;p80"/>
          <p:cNvSpPr txBox="1"/>
          <p:nvPr>
            <p:ph idx="2" type="subTitle"/>
          </p:nvPr>
        </p:nvSpPr>
        <p:spPr>
          <a:xfrm>
            <a:off x="4824000" y="810000"/>
            <a:ext cx="3982200" cy="4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Plot a line for the rule     </a:t>
            </a:r>
            <a:endParaRPr sz="1900"/>
          </a:p>
        </p:txBody>
      </p:sp>
      <p:sp>
        <p:nvSpPr>
          <p:cNvPr id="968" name="Google Shape;968;p80"/>
          <p:cNvSpPr txBox="1"/>
          <p:nvPr>
            <p:ph idx="4294967295" type="body"/>
          </p:nvPr>
        </p:nvSpPr>
        <p:spPr>
          <a:xfrm>
            <a:off x="324000" y="1214420"/>
            <a:ext cx="39822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Pick 2 or 3 coordinates that follow the rule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x+3&quot;&gt;&lt;mi&gt;y&lt;/mi&gt;&lt;mo&gt;=&lt;/mo&gt;&lt;mi&gt;x&lt;/mi&gt;&lt;mo&gt;+&lt;/mo&gt;&lt;mn&gt;3&lt;/mn&gt;&lt;/math&gt;" id="969" name="Google Shape;969;p80" title="y equals x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8491" y="823513"/>
            <a:ext cx="1119600" cy="258101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0"/>
          <p:cNvSpPr txBox="1"/>
          <p:nvPr>
            <p:ph idx="1" type="subTitle"/>
          </p:nvPr>
        </p:nvSpPr>
        <p:spPr>
          <a:xfrm>
            <a:off x="324000" y="1984797"/>
            <a:ext cx="39822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E.g. (0,3)  (2,5)  (-5,-2)</a:t>
            </a:r>
            <a:endParaRPr/>
          </a:p>
        </p:txBody>
      </p:sp>
      <p:sp>
        <p:nvSpPr>
          <p:cNvPr id="971" name="Google Shape;971;p80"/>
          <p:cNvSpPr txBox="1"/>
          <p:nvPr>
            <p:ph idx="4294967295" type="body"/>
          </p:nvPr>
        </p:nvSpPr>
        <p:spPr>
          <a:xfrm>
            <a:off x="324000" y="2641550"/>
            <a:ext cx="21177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Plot those coordinates</a:t>
            </a:r>
            <a:endParaRPr sz="1800"/>
          </a:p>
        </p:txBody>
      </p:sp>
      <p:sp>
        <p:nvSpPr>
          <p:cNvPr id="972" name="Google Shape;972;p80"/>
          <p:cNvSpPr txBox="1"/>
          <p:nvPr>
            <p:ph idx="4294967295" type="body"/>
          </p:nvPr>
        </p:nvSpPr>
        <p:spPr>
          <a:xfrm>
            <a:off x="324000" y="3493800"/>
            <a:ext cx="21177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Draw a straight line with a ruler</a:t>
            </a:r>
            <a:endParaRPr sz="1800"/>
          </a:p>
        </p:txBody>
      </p:sp>
      <p:pic>
        <p:nvPicPr>
          <p:cNvPr id="973" name="Google Shape;97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8275" y="2519425"/>
            <a:ext cx="2019100" cy="20108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4" name="Google Shape;974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8275" y="2503722"/>
            <a:ext cx="2019100" cy="204224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5" name="Google Shape;975;p80"/>
          <p:cNvPicPr preferRelativeResize="0"/>
          <p:nvPr/>
        </p:nvPicPr>
        <p:blipFill rotWithShape="1">
          <a:blip r:embed="rId6">
            <a:alphaModFix/>
          </a:blip>
          <a:srcRect b="0" l="0" r="2874" t="0"/>
          <a:stretch/>
        </p:blipFill>
        <p:spPr>
          <a:xfrm>
            <a:off x="2278275" y="2503725"/>
            <a:ext cx="2019101" cy="20992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y=x-1&quot;&gt;&lt;mi&gt;y&lt;/mi&gt;&lt;mo&gt;=&lt;/mo&gt;&lt;mi&gt;x&lt;/mi&gt;&lt;mo&gt;−&lt;/mo&gt;&lt;mn&gt;1&lt;/mn&gt;&lt;/math&gt;" id="976" name="Google Shape;976;p80" title="y equals x minus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20575" y="849500"/>
            <a:ext cx="1123464" cy="2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0"/>
          <p:cNvSpPr txBox="1"/>
          <p:nvPr>
            <p:ph idx="4294967295" type="body"/>
          </p:nvPr>
        </p:nvSpPr>
        <p:spPr>
          <a:xfrm>
            <a:off x="4824000" y="1214420"/>
            <a:ext cx="39822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Pick 2 or 3 coordinates that follow the rule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8" name="Google Shape;978;p80"/>
          <p:cNvSpPr txBox="1"/>
          <p:nvPr>
            <p:ph idx="1" type="subTitle"/>
          </p:nvPr>
        </p:nvSpPr>
        <p:spPr>
          <a:xfrm>
            <a:off x="4824000" y="1984797"/>
            <a:ext cx="39822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(0,-1)  (5,4)  (-2,-3)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9" name="Google Shape;979;p80"/>
          <p:cNvSpPr txBox="1"/>
          <p:nvPr>
            <p:ph idx="4294967295" type="body"/>
          </p:nvPr>
        </p:nvSpPr>
        <p:spPr>
          <a:xfrm>
            <a:off x="6962075" y="2641550"/>
            <a:ext cx="18579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Plot them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0" name="Google Shape;980;p80"/>
          <p:cNvSpPr txBox="1"/>
          <p:nvPr>
            <p:ph idx="4294967295" type="body"/>
          </p:nvPr>
        </p:nvSpPr>
        <p:spPr>
          <a:xfrm>
            <a:off x="6962075" y="3493800"/>
            <a:ext cx="18579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Draw a straight line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81" name="Google Shape;98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200" y="2519425"/>
            <a:ext cx="2019100" cy="20108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2" name="Google Shape;982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50900" y="2498129"/>
            <a:ext cx="2117700" cy="205342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3" name="Google Shape;983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50901" y="2477944"/>
            <a:ext cx="2117700" cy="209382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989" name="Google Shape;989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has tried to plot the line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990" name="Google Shape;990;p81" title="y equals 2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600" y="809999"/>
            <a:ext cx="911800" cy="29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23886" y="3065400"/>
            <a:ext cx="765025" cy="9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81"/>
          <p:cNvSpPr txBox="1"/>
          <p:nvPr/>
        </p:nvSpPr>
        <p:spPr>
          <a:xfrm>
            <a:off x="323991" y="4051850"/>
            <a:ext cx="964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3" name="Google Shape;993;p81"/>
          <p:cNvGrpSpPr/>
          <p:nvPr/>
        </p:nvGrpSpPr>
        <p:grpSpPr>
          <a:xfrm>
            <a:off x="1138523" y="1619753"/>
            <a:ext cx="4375645" cy="1662345"/>
            <a:chOff x="619428" y="3442369"/>
            <a:chExt cx="1955246" cy="1553448"/>
          </a:xfrm>
        </p:grpSpPr>
        <p:pic>
          <p:nvPicPr>
            <p:cNvPr id="994" name="Google Shape;994;p8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619428" y="3442369"/>
              <a:ext cx="1955246" cy="1553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1"/>
            <p:cNvSpPr txBox="1"/>
            <p:nvPr/>
          </p:nvSpPr>
          <p:spPr>
            <a:xfrm>
              <a:off x="788393" y="3706783"/>
              <a:ext cx="1697400" cy="9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chosen the coordinates (-2.5,-5) and (2,4) plotted them and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drawn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the line for   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996" name="Google Shape;996;p81" title="y equals 2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200" y="2587927"/>
            <a:ext cx="698800" cy="224152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1"/>
          <p:cNvSpPr txBox="1"/>
          <p:nvPr>
            <p:ph idx="1" type="body"/>
          </p:nvPr>
        </p:nvSpPr>
        <p:spPr>
          <a:xfrm>
            <a:off x="324000" y="1200889"/>
            <a:ext cx="82377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any mistakes.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98" name="Google Shape;998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2375" y="1200899"/>
            <a:ext cx="3056274" cy="3066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999" name="Google Shape;999;p81"/>
          <p:cNvCxnSpPr/>
          <p:nvPr/>
        </p:nvCxnSpPr>
        <p:spPr>
          <a:xfrm flipH="1">
            <a:off x="6834600" y="1706775"/>
            <a:ext cx="927000" cy="2378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4" name="Google Shape;100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7821" y="1185453"/>
            <a:ext cx="3056274" cy="3066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05" name="Google Shape;1005;p82"/>
          <p:cNvCxnSpPr/>
          <p:nvPr/>
        </p:nvCxnSpPr>
        <p:spPr>
          <a:xfrm flipH="1">
            <a:off x="6850046" y="1691329"/>
            <a:ext cx="927000" cy="2378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6" name="Google Shape;100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1007" name="Google Shape;1007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has tried to plot the line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1008" name="Google Shape;1008;p82" title="y equals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600" y="809999"/>
            <a:ext cx="911800" cy="29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23886" y="3065400"/>
            <a:ext cx="765025" cy="9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82"/>
          <p:cNvSpPr txBox="1"/>
          <p:nvPr/>
        </p:nvSpPr>
        <p:spPr>
          <a:xfrm>
            <a:off x="323991" y="4051850"/>
            <a:ext cx="964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1" name="Google Shape;1011;p82"/>
          <p:cNvGrpSpPr/>
          <p:nvPr/>
        </p:nvGrpSpPr>
        <p:grpSpPr>
          <a:xfrm>
            <a:off x="1138523" y="1619753"/>
            <a:ext cx="4375645" cy="1662345"/>
            <a:chOff x="619428" y="3442369"/>
            <a:chExt cx="1955246" cy="1553448"/>
          </a:xfrm>
        </p:grpSpPr>
        <p:pic>
          <p:nvPicPr>
            <p:cNvPr id="1012" name="Google Shape;1012;p82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619428" y="3442369"/>
              <a:ext cx="1955246" cy="1553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82"/>
            <p:cNvSpPr txBox="1"/>
            <p:nvPr/>
          </p:nvSpPr>
          <p:spPr>
            <a:xfrm>
              <a:off x="788393" y="3706783"/>
              <a:ext cx="1697400" cy="9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chosen the coordinates (-2.5,-5) and (2,4) plotted them and drawn the line for   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1014" name="Google Shape;1014;p82" title="y equals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5200" y="2587927"/>
            <a:ext cx="698800" cy="224152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82"/>
          <p:cNvSpPr txBox="1"/>
          <p:nvPr>
            <p:ph idx="1" type="body"/>
          </p:nvPr>
        </p:nvSpPr>
        <p:spPr>
          <a:xfrm>
            <a:off x="324000" y="1200889"/>
            <a:ext cx="82377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any mistakes.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82"/>
          <p:cNvSpPr txBox="1"/>
          <p:nvPr>
            <p:ph idx="1" type="body"/>
          </p:nvPr>
        </p:nvSpPr>
        <p:spPr>
          <a:xfrm>
            <a:off x="1428491" y="3689450"/>
            <a:ext cx="42840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plotted (-1.5,-5) not (-2.5,-5)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His line should go across the entire axes to represent all points.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17" name="Google Shape;1017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2500" y="1160738"/>
            <a:ext cx="3056275" cy="307851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3"/>
          <p:cNvSpPr txBox="1"/>
          <p:nvPr>
            <p:ph idx="1" type="body"/>
          </p:nvPr>
        </p:nvSpPr>
        <p:spPr>
          <a:xfrm>
            <a:off x="324000" y="697525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For each rule, fill in the coordinates. Use them to draw the line for that rule.</a:t>
            </a:r>
            <a:endParaRPr sz="2000"/>
          </a:p>
        </p:txBody>
      </p:sp>
      <p:sp>
        <p:nvSpPr>
          <p:cNvPr id="1023" name="Google Shape;1023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grpSp>
        <p:nvGrpSpPr>
          <p:cNvPr id="1024" name="Google Shape;1024;p83"/>
          <p:cNvGrpSpPr/>
          <p:nvPr/>
        </p:nvGrpSpPr>
        <p:grpSpPr>
          <a:xfrm>
            <a:off x="384575" y="2401015"/>
            <a:ext cx="2351400" cy="2318100"/>
            <a:chOff x="384575" y="2401015"/>
            <a:chExt cx="2351400" cy="23181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025" name="Google Shape;1025;p83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6" name="Google Shape;1026;p83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7" name="Google Shape;1027;p83"/>
          <p:cNvGrpSpPr/>
          <p:nvPr/>
        </p:nvGrpSpPr>
        <p:grpSpPr>
          <a:xfrm>
            <a:off x="3235888" y="2401015"/>
            <a:ext cx="2351400" cy="2318100"/>
            <a:chOff x="384575" y="2401015"/>
            <a:chExt cx="2351400" cy="23181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028" name="Google Shape;1028;p83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83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0" name="Google Shape;1030;p83"/>
          <p:cNvGrpSpPr/>
          <p:nvPr/>
        </p:nvGrpSpPr>
        <p:grpSpPr>
          <a:xfrm>
            <a:off x="6087200" y="2401015"/>
            <a:ext cx="2351400" cy="2318100"/>
            <a:chOff x="384575" y="2401015"/>
            <a:chExt cx="2351400" cy="23181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031" name="Google Shape;1031;p83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83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y=4&quot;&gt;&lt;mi&gt;y&lt;/mi&gt;&lt;mo&gt;=&lt;/mo&gt;&lt;mn&gt;4&lt;/mn&gt;&lt;/math&gt;" id="1033" name="Google Shape;1033;p83" title="y equal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000" y="1482025"/>
            <a:ext cx="655271" cy="26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2&quot;&gt;&lt;mi&gt;x&lt;/mi&gt;&lt;mo&gt;=&lt;/mo&gt;&lt;mo&gt;−&lt;/mo&gt;&lt;mn&gt;2&lt;/mn&gt;&lt;/math&gt;" id="1034" name="Google Shape;1034;p83" title="x equals negative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8200" y="1482025"/>
            <a:ext cx="846600" cy="205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83"/>
          <p:cNvSpPr txBox="1"/>
          <p:nvPr>
            <p:ph idx="1" type="body"/>
          </p:nvPr>
        </p:nvSpPr>
        <p:spPr>
          <a:xfrm>
            <a:off x="324000" y="1839300"/>
            <a:ext cx="26106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(1,</a:t>
            </a:r>
            <a:r>
              <a:rPr lang="en-GB" sz="2000" u="sng"/>
              <a:t>    </a:t>
            </a:r>
            <a:r>
              <a:rPr lang="en-GB" sz="2000"/>
              <a:t>)  (-3,</a:t>
            </a:r>
            <a:r>
              <a:rPr lang="en-GB" sz="2000" u="sng"/>
              <a:t>    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36" name="Google Shape;1036;p83"/>
          <p:cNvSpPr txBox="1"/>
          <p:nvPr>
            <p:ph idx="1" type="body"/>
          </p:nvPr>
        </p:nvSpPr>
        <p:spPr>
          <a:xfrm>
            <a:off x="3219600" y="1839300"/>
            <a:ext cx="26106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(0,</a:t>
            </a:r>
            <a:r>
              <a:rPr lang="en-GB" sz="2000" u="sng"/>
              <a:t>    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/>
              <a:t>-1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-1&quot;&gt;&lt;mi&gt;y&lt;/mi&gt;&lt;mo&gt;=&lt;/mo&gt;&lt;mo&gt;−&lt;/mo&gt;&lt;mn&gt;1&lt;/mn&gt;&lt;/math&gt;" id="1037" name="Google Shape;1037;p83" title="y equals negative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0600" y="1482022"/>
            <a:ext cx="836382" cy="26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3"/>
          <p:cNvSpPr txBox="1"/>
          <p:nvPr>
            <p:ph idx="1" type="body"/>
          </p:nvPr>
        </p:nvSpPr>
        <p:spPr>
          <a:xfrm>
            <a:off x="6087200" y="1839300"/>
            <a:ext cx="26106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/>
              <a:t>-3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,1)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39" name="Google Shape;1039;p83"/>
          <p:cNvSpPr txBox="1"/>
          <p:nvPr>
            <p:ph idx="1" type="body"/>
          </p:nvPr>
        </p:nvSpPr>
        <p:spPr>
          <a:xfrm>
            <a:off x="3219600" y="1451400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040" name="Google Shape;1040;p83"/>
          <p:cNvSpPr txBox="1"/>
          <p:nvPr>
            <p:ph idx="1" type="body"/>
          </p:nvPr>
        </p:nvSpPr>
        <p:spPr>
          <a:xfrm>
            <a:off x="6085338" y="1451400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41" name="Google Shape;1041;p83"/>
          <p:cNvSpPr txBox="1"/>
          <p:nvPr>
            <p:ph idx="1" type="body"/>
          </p:nvPr>
        </p:nvSpPr>
        <p:spPr>
          <a:xfrm>
            <a:off x="323988" y="1451198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grpSp>
        <p:nvGrpSpPr>
          <p:cNvPr id="1047" name="Google Shape;1047;p84"/>
          <p:cNvGrpSpPr/>
          <p:nvPr/>
        </p:nvGrpSpPr>
        <p:grpSpPr>
          <a:xfrm>
            <a:off x="384575" y="2401015"/>
            <a:ext cx="2351400" cy="2318100"/>
            <a:chOff x="384575" y="2401015"/>
            <a:chExt cx="2351400" cy="23181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048" name="Google Shape;1048;p84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84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84"/>
          <p:cNvGrpSpPr/>
          <p:nvPr/>
        </p:nvGrpSpPr>
        <p:grpSpPr>
          <a:xfrm>
            <a:off x="3235888" y="2401015"/>
            <a:ext cx="2351400" cy="2318100"/>
            <a:chOff x="384575" y="2401015"/>
            <a:chExt cx="2351400" cy="23181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051" name="Google Shape;1051;p84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84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84"/>
          <p:cNvGrpSpPr/>
          <p:nvPr/>
        </p:nvGrpSpPr>
        <p:grpSpPr>
          <a:xfrm>
            <a:off x="6087200" y="2401015"/>
            <a:ext cx="2351400" cy="2318100"/>
            <a:chOff x="384575" y="2401015"/>
            <a:chExt cx="2351400" cy="23181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054" name="Google Shape;1054;p84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84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y=x+2&quot;&gt;&lt;mi&gt;y&lt;/mi&gt;&lt;mo&gt;=&lt;/mo&gt;&lt;mi&gt;x&lt;/mi&gt;&lt;mo&gt;+&lt;/mo&gt;&lt;mn&gt;2&lt;/mn&gt;&lt;/math&gt;" id="1056" name="Google Shape;1056;p84" title="y equals x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6900" y="1478698"/>
            <a:ext cx="1205150" cy="2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2&quot;&gt;&lt;mi&gt;y&lt;/mi&gt;&lt;mo&gt;=&lt;/mo&gt;&lt;mi&gt;x&lt;/mi&gt;&lt;mo&gt;−&lt;/mo&gt;&lt;mn&gt;2&lt;/mn&gt;&lt;/math&gt;" id="1057" name="Google Shape;1057;p84" title="y equals x min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4400" y="1478698"/>
            <a:ext cx="1204994" cy="2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&quot;&gt;&lt;mi&gt;y&lt;/mi&gt;&lt;mo&gt;=&lt;/mo&gt;&lt;mi&gt;x&lt;/mi&gt;&lt;/math&gt;" id="1058" name="Google Shape;1058;p84" title="y equal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375" y="1540481"/>
            <a:ext cx="702093" cy="2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84"/>
          <p:cNvSpPr txBox="1"/>
          <p:nvPr>
            <p:ph idx="1" type="body"/>
          </p:nvPr>
        </p:nvSpPr>
        <p:spPr>
          <a:xfrm>
            <a:off x="324000" y="697525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For each rule, fill in the coordinates. Use them to draw the line for that rule.</a:t>
            </a:r>
            <a:endParaRPr sz="2000"/>
          </a:p>
        </p:txBody>
      </p:sp>
      <p:sp>
        <p:nvSpPr>
          <p:cNvPr id="1060" name="Google Shape;1060;p84"/>
          <p:cNvSpPr txBox="1"/>
          <p:nvPr>
            <p:ph idx="1" type="body"/>
          </p:nvPr>
        </p:nvSpPr>
        <p:spPr>
          <a:xfrm>
            <a:off x="324000" y="1839300"/>
            <a:ext cx="26106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(-2,</a:t>
            </a:r>
            <a:r>
              <a:rPr lang="en-GB" sz="2000" u="sng"/>
              <a:t>    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,5)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61" name="Google Shape;1061;p84"/>
          <p:cNvSpPr txBox="1"/>
          <p:nvPr>
            <p:ph idx="1" type="body"/>
          </p:nvPr>
        </p:nvSpPr>
        <p:spPr>
          <a:xfrm>
            <a:off x="3235900" y="1839300"/>
            <a:ext cx="26106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(-3,</a:t>
            </a:r>
            <a:r>
              <a:rPr lang="en-GB" sz="2000" u="sng"/>
              <a:t>    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,2)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62" name="Google Shape;1062;p84"/>
          <p:cNvSpPr txBox="1"/>
          <p:nvPr>
            <p:ph idx="1" type="body"/>
          </p:nvPr>
        </p:nvSpPr>
        <p:spPr>
          <a:xfrm>
            <a:off x="6087200" y="1839300"/>
            <a:ext cx="289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63" name="Google Shape;1063;p84"/>
          <p:cNvSpPr txBox="1"/>
          <p:nvPr>
            <p:ph idx="1" type="body"/>
          </p:nvPr>
        </p:nvSpPr>
        <p:spPr>
          <a:xfrm>
            <a:off x="323988" y="1451198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64" name="Google Shape;1064;p84"/>
          <p:cNvSpPr txBox="1"/>
          <p:nvPr>
            <p:ph idx="1" type="body"/>
          </p:nvPr>
        </p:nvSpPr>
        <p:spPr>
          <a:xfrm>
            <a:off x="3219588" y="1451198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65" name="Google Shape;1065;p84"/>
          <p:cNvSpPr txBox="1"/>
          <p:nvPr>
            <p:ph idx="1" type="body"/>
          </p:nvPr>
        </p:nvSpPr>
        <p:spPr>
          <a:xfrm>
            <a:off x="6115188" y="1446060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</a:t>
            </a:r>
            <a:r>
              <a:rPr lang="en-GB" sz="2000"/>
              <a:t>)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grpSp>
        <p:nvGrpSpPr>
          <p:cNvPr id="1071" name="Google Shape;1071;p85"/>
          <p:cNvGrpSpPr/>
          <p:nvPr/>
        </p:nvGrpSpPr>
        <p:grpSpPr>
          <a:xfrm>
            <a:off x="384575" y="2401015"/>
            <a:ext cx="2351400" cy="2318100"/>
            <a:chOff x="384575" y="2401015"/>
            <a:chExt cx="2351400" cy="23181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072" name="Google Shape;1072;p85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3" name="Google Shape;1073;p85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4" name="Google Shape;1074;p85"/>
          <p:cNvGrpSpPr/>
          <p:nvPr/>
        </p:nvGrpSpPr>
        <p:grpSpPr>
          <a:xfrm>
            <a:off x="3235888" y="2401015"/>
            <a:ext cx="2351400" cy="2318100"/>
            <a:chOff x="384575" y="2401015"/>
            <a:chExt cx="2351400" cy="23181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075" name="Google Shape;1075;p85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6" name="Google Shape;1076;p85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7" name="Google Shape;1077;p85"/>
          <p:cNvGrpSpPr/>
          <p:nvPr/>
        </p:nvGrpSpPr>
        <p:grpSpPr>
          <a:xfrm>
            <a:off x="6087200" y="2401015"/>
            <a:ext cx="2351400" cy="2318100"/>
            <a:chOff x="384575" y="2401015"/>
            <a:chExt cx="2351400" cy="23181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078" name="Google Shape;1078;p85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9" name="Google Shape;1079;p85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y=-x&quot;&gt;&lt;mi&gt;y&lt;/mi&gt;&lt;mo&gt;=&lt;/mo&gt;&lt;mo&gt;−&lt;/mo&gt;&lt;mi&gt;x&lt;/mi&gt;&lt;/math&gt;" id="1080" name="Google Shape;1080;p85" title="y equals negative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38" y="1498154"/>
            <a:ext cx="932090" cy="2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&quot;&gt;&lt;mi&gt;y&lt;/mi&gt;&lt;mo&gt;=&lt;/mo&gt;&lt;mn&gt;3&lt;/mn&gt;&lt;mi&gt;x&lt;/mi&gt;&lt;/math&gt;" id="1081" name="Google Shape;1081;p85" title="y equals 3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2484" y="1424689"/>
            <a:ext cx="857625" cy="27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2}x&quot;&gt;&lt;mi&gt;y&lt;/mi&gt;&lt;mo&gt;=&lt;/mo&gt;&lt;mfrac&gt;&lt;mn&gt;1&lt;/mn&gt;&lt;mn&gt;2&lt;/mn&gt;&lt;/mfrac&gt;&lt;mi&gt;x&lt;/mi&gt;&lt;/math&gt;" id="1082" name="Google Shape;1082;p85" title="y equals one half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6338" y="1194339"/>
            <a:ext cx="1001425" cy="6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85"/>
          <p:cNvSpPr txBox="1"/>
          <p:nvPr>
            <p:ph idx="1" type="body"/>
          </p:nvPr>
        </p:nvSpPr>
        <p:spPr>
          <a:xfrm>
            <a:off x="324000" y="697525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For each rule, fill in the coordinates. Use them to draw the line for that rule.</a:t>
            </a:r>
            <a:endParaRPr sz="2000"/>
          </a:p>
        </p:txBody>
      </p:sp>
      <p:sp>
        <p:nvSpPr>
          <p:cNvPr id="1084" name="Google Shape;1084;p85"/>
          <p:cNvSpPr txBox="1"/>
          <p:nvPr>
            <p:ph idx="1" type="body"/>
          </p:nvPr>
        </p:nvSpPr>
        <p:spPr>
          <a:xfrm>
            <a:off x="324000" y="1952900"/>
            <a:ext cx="26106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(2,</a:t>
            </a:r>
            <a:r>
              <a:rPr lang="en-GB" sz="2000" u="sng"/>
              <a:t>    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,0)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85" name="Google Shape;1085;p85"/>
          <p:cNvSpPr txBox="1"/>
          <p:nvPr>
            <p:ph idx="1" type="body"/>
          </p:nvPr>
        </p:nvSpPr>
        <p:spPr>
          <a:xfrm>
            <a:off x="3204675" y="1952900"/>
            <a:ext cx="26724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(0,</a:t>
            </a:r>
            <a:r>
              <a:rPr lang="en-GB" sz="2000" u="sng"/>
              <a:t>    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86" name="Google Shape;1086;p85"/>
          <p:cNvSpPr txBox="1"/>
          <p:nvPr>
            <p:ph idx="1" type="body"/>
          </p:nvPr>
        </p:nvSpPr>
        <p:spPr>
          <a:xfrm>
            <a:off x="6087225" y="1952900"/>
            <a:ext cx="26724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(0,</a:t>
            </a:r>
            <a:r>
              <a:rPr lang="en-GB" sz="2000" u="sng"/>
              <a:t>    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/>
              <a:t>-1</a:t>
            </a:r>
            <a:r>
              <a:rPr lang="en-GB" sz="2000"/>
              <a:t>)  (</a:t>
            </a:r>
            <a:r>
              <a:rPr lang="en-GB" sz="2000" u="sng"/>
              <a:t>    </a:t>
            </a:r>
            <a:r>
              <a:rPr lang="en-GB" sz="2000"/>
              <a:t>,</a:t>
            </a:r>
            <a:r>
              <a:rPr lang="en-GB" sz="2000" u="sng"/>
              <a:t>    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87" name="Google Shape;1087;p85"/>
          <p:cNvSpPr txBox="1"/>
          <p:nvPr>
            <p:ph idx="1" type="body"/>
          </p:nvPr>
        </p:nvSpPr>
        <p:spPr>
          <a:xfrm>
            <a:off x="323988" y="1389414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88" name="Google Shape;1088;p85"/>
          <p:cNvSpPr txBox="1"/>
          <p:nvPr>
            <p:ph idx="1" type="body"/>
          </p:nvPr>
        </p:nvSpPr>
        <p:spPr>
          <a:xfrm>
            <a:off x="3219588" y="1389414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089" name="Google Shape;1089;p85"/>
          <p:cNvSpPr txBox="1"/>
          <p:nvPr>
            <p:ph idx="1" type="body"/>
          </p:nvPr>
        </p:nvSpPr>
        <p:spPr>
          <a:xfrm>
            <a:off x="6115188" y="1384277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</a:t>
            </a:r>
            <a:r>
              <a:rPr lang="en-GB" sz="2000"/>
              <a:t>)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For each rule, fill in the coordinates. Use them to draw the line for that rule.</a:t>
            </a:r>
            <a:endParaRPr sz="2000"/>
          </a:p>
        </p:txBody>
      </p:sp>
      <p:sp>
        <p:nvSpPr>
          <p:cNvPr id="1095" name="Google Shape;1095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4&quot;&gt;&lt;mi&gt;y&lt;/mi&gt;&lt;mo&gt;=&lt;/mo&gt;&lt;mn&gt;4&lt;/mn&gt;&lt;/math&gt;" id="1096" name="Google Shape;1096;p86" title="y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00" y="1482025"/>
            <a:ext cx="655271" cy="26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2&quot;&gt;&lt;mi&gt;x&lt;/mi&gt;&lt;mo&gt;=&lt;/mo&gt;&lt;mo&gt;−&lt;/mo&gt;&lt;mn&gt;2&lt;/mn&gt;&lt;/math&gt;" id="1097" name="Google Shape;1097;p86" title="x equals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2754" y="1482025"/>
            <a:ext cx="846600" cy="205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86"/>
          <p:cNvSpPr txBox="1"/>
          <p:nvPr>
            <p:ph idx="1" type="body"/>
          </p:nvPr>
        </p:nvSpPr>
        <p:spPr>
          <a:xfrm>
            <a:off x="324000" y="1839300"/>
            <a:ext cx="26106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(1,</a:t>
            </a:r>
            <a:r>
              <a:rPr lang="en-GB" sz="2000" u="sng"/>
              <a:t>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4 </a:t>
            </a:r>
            <a:r>
              <a:rPr lang="en-GB" sz="2000"/>
              <a:t>)  (-3,</a:t>
            </a:r>
            <a:r>
              <a:rPr lang="en-GB" sz="2000" u="sng"/>
              <a:t>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4 </a:t>
            </a:r>
            <a:r>
              <a:rPr lang="en-GB" sz="2000"/>
              <a:t>)  </a:t>
            </a:r>
            <a:endParaRPr sz="2000"/>
          </a:p>
        </p:txBody>
      </p:sp>
      <p:sp>
        <p:nvSpPr>
          <p:cNvPr id="1099" name="Google Shape;1099;p86"/>
          <p:cNvSpPr txBox="1"/>
          <p:nvPr>
            <p:ph idx="1" type="body"/>
          </p:nvPr>
        </p:nvSpPr>
        <p:spPr>
          <a:xfrm>
            <a:off x="3219600" y="1839300"/>
            <a:ext cx="2474700" cy="8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(0,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-1</a:t>
            </a:r>
            <a:r>
              <a:rPr lang="en-GB" sz="2000"/>
              <a:t>)  (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?</a:t>
            </a:r>
            <a:r>
              <a:rPr lang="en-GB" sz="2000"/>
              <a:t>,-1) 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-1&quot;&gt;&lt;mi&gt;y&lt;/mi&gt;&lt;mo&gt;=&lt;/mo&gt;&lt;mo&gt;−&lt;/mo&gt;&lt;mn&gt;1&lt;/mn&gt;&lt;/math&gt;" id="1100" name="Google Shape;1100;p86" title="y equals negative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0600" y="1482022"/>
            <a:ext cx="836382" cy="26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86"/>
          <p:cNvSpPr txBox="1"/>
          <p:nvPr>
            <p:ph idx="1" type="body"/>
          </p:nvPr>
        </p:nvSpPr>
        <p:spPr>
          <a:xfrm>
            <a:off x="6071754" y="1839300"/>
            <a:ext cx="27327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2000"/>
              <a:t>,-3)  (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2000"/>
              <a:t>,1)  </a:t>
            </a:r>
            <a:endParaRPr sz="2000"/>
          </a:p>
        </p:txBody>
      </p:sp>
      <p:sp>
        <p:nvSpPr>
          <p:cNvPr id="1102" name="Google Shape;1102;p86"/>
          <p:cNvSpPr txBox="1"/>
          <p:nvPr>
            <p:ph idx="1" type="body"/>
          </p:nvPr>
        </p:nvSpPr>
        <p:spPr>
          <a:xfrm>
            <a:off x="3219600" y="1451400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103" name="Google Shape;1103;p86"/>
          <p:cNvSpPr txBox="1"/>
          <p:nvPr>
            <p:ph idx="1" type="body"/>
          </p:nvPr>
        </p:nvSpPr>
        <p:spPr>
          <a:xfrm>
            <a:off x="6069892" y="1451400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sp>
        <p:nvSpPr>
          <p:cNvPr id="1104" name="Google Shape;1104;p86"/>
          <p:cNvSpPr txBox="1"/>
          <p:nvPr>
            <p:ph idx="1" type="body"/>
          </p:nvPr>
        </p:nvSpPr>
        <p:spPr>
          <a:xfrm>
            <a:off x="323988" y="1451198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105" name="Google Shape;1105;p86"/>
          <p:cNvSpPr txBox="1"/>
          <p:nvPr>
            <p:ph idx="1" type="body"/>
          </p:nvPr>
        </p:nvSpPr>
        <p:spPr>
          <a:xfrm>
            <a:off x="2123960" y="1512984"/>
            <a:ext cx="7284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(3,4)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86"/>
          <p:cNvSpPr txBox="1"/>
          <p:nvPr>
            <p:ph idx="1" type="body"/>
          </p:nvPr>
        </p:nvSpPr>
        <p:spPr>
          <a:xfrm>
            <a:off x="4824010" y="1528438"/>
            <a:ext cx="7284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(4,-1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86"/>
          <p:cNvSpPr txBox="1"/>
          <p:nvPr>
            <p:ph idx="1" type="body"/>
          </p:nvPr>
        </p:nvSpPr>
        <p:spPr>
          <a:xfrm>
            <a:off x="7911127" y="1512975"/>
            <a:ext cx="8934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(-2,4)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08" name="Google Shape;1108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000" y="2351791"/>
            <a:ext cx="2474700" cy="24304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9" name="Google Shape;1109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3063" y="2328625"/>
            <a:ext cx="2399575" cy="2430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0" name="Google Shape;1110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93141" y="2328625"/>
            <a:ext cx="2406769" cy="2430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x+2&quot;&gt;&lt;mi&gt;y&lt;/mi&gt;&lt;mo&gt;=&lt;/mo&gt;&lt;mi&gt;x&lt;/mi&gt;&lt;mo&gt;+&lt;/mo&gt;&lt;mn&gt;2&lt;/mn&gt;&lt;/math&gt;" id="1116" name="Google Shape;1116;p87" title="y equals x pl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900" y="1478698"/>
            <a:ext cx="1205150" cy="2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2&quot;&gt;&lt;mi&gt;y&lt;/mi&gt;&lt;mo&gt;=&lt;/mo&gt;&lt;mi&gt;x&lt;/mi&gt;&lt;mo&gt;−&lt;/mo&gt;&lt;mn&gt;2&lt;/mn&gt;&lt;/math&gt;" id="1117" name="Google Shape;1117;p87" title="y equals x min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3508" y="1478698"/>
            <a:ext cx="1204994" cy="2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&quot;&gt;&lt;mi&gt;y&lt;/mi&gt;&lt;mo&gt;=&lt;/mo&gt;&lt;mi&gt;x&lt;/mi&gt;&lt;/math&gt;" id="1118" name="Google Shape;1118;p87" title="y equals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375" y="1540481"/>
            <a:ext cx="702093" cy="2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87"/>
          <p:cNvSpPr txBox="1"/>
          <p:nvPr>
            <p:ph idx="1" type="body"/>
          </p:nvPr>
        </p:nvSpPr>
        <p:spPr>
          <a:xfrm>
            <a:off x="324000" y="759300"/>
            <a:ext cx="8237700" cy="6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For each rule, fill in the coordinates. Use them to draw the line for that rule.</a:t>
            </a:r>
            <a:endParaRPr sz="2000"/>
          </a:p>
        </p:txBody>
      </p:sp>
      <p:sp>
        <p:nvSpPr>
          <p:cNvPr id="1120" name="Google Shape;1120;p87"/>
          <p:cNvSpPr txBox="1"/>
          <p:nvPr>
            <p:ph idx="1" type="body"/>
          </p:nvPr>
        </p:nvSpPr>
        <p:spPr>
          <a:xfrm>
            <a:off x="324000" y="2047820"/>
            <a:ext cx="18231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(-2,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2000"/>
              <a:t>)  (</a:t>
            </a:r>
            <a:r>
              <a:rPr lang="en-GB" sz="2000" u="sng"/>
              <a:t>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 sz="2000"/>
              <a:t>,5)  </a:t>
            </a:r>
            <a:endParaRPr sz="2000"/>
          </a:p>
        </p:txBody>
      </p:sp>
      <p:sp>
        <p:nvSpPr>
          <p:cNvPr id="1121" name="Google Shape;1121;p87"/>
          <p:cNvSpPr txBox="1"/>
          <p:nvPr>
            <p:ph idx="1" type="body"/>
          </p:nvPr>
        </p:nvSpPr>
        <p:spPr>
          <a:xfrm>
            <a:off x="3235900" y="2047820"/>
            <a:ext cx="17733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(-3,</a:t>
            </a:r>
            <a:r>
              <a:rPr lang="en-GB" sz="2000" u="sng"/>
              <a:t>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-1 </a:t>
            </a:r>
            <a:r>
              <a:rPr lang="en-GB" sz="2000"/>
              <a:t>)  (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0 </a:t>
            </a:r>
            <a:r>
              <a:rPr lang="en-GB" sz="2000"/>
              <a:t>,2)  </a:t>
            </a:r>
            <a:endParaRPr sz="2000"/>
          </a:p>
        </p:txBody>
      </p:sp>
      <p:sp>
        <p:nvSpPr>
          <p:cNvPr id="1122" name="Google Shape;1122;p87"/>
          <p:cNvSpPr txBox="1"/>
          <p:nvPr>
            <p:ph idx="1" type="body"/>
          </p:nvPr>
        </p:nvSpPr>
        <p:spPr>
          <a:xfrm>
            <a:off x="323988" y="1451198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 sz="2000"/>
          </a:p>
        </p:txBody>
      </p:sp>
      <p:sp>
        <p:nvSpPr>
          <p:cNvPr id="1123" name="Google Shape;1123;p87"/>
          <p:cNvSpPr txBox="1"/>
          <p:nvPr>
            <p:ph idx="1" type="body"/>
          </p:nvPr>
        </p:nvSpPr>
        <p:spPr>
          <a:xfrm>
            <a:off x="3219588" y="1451198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e)</a:t>
            </a:r>
            <a:endParaRPr sz="2000"/>
          </a:p>
        </p:txBody>
      </p:sp>
      <p:sp>
        <p:nvSpPr>
          <p:cNvPr id="1124" name="Google Shape;1124;p87"/>
          <p:cNvSpPr txBox="1"/>
          <p:nvPr>
            <p:ph idx="1" type="body"/>
          </p:nvPr>
        </p:nvSpPr>
        <p:spPr>
          <a:xfrm>
            <a:off x="6084296" y="1446060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f)</a:t>
            </a:r>
            <a:endParaRPr sz="2000"/>
          </a:p>
        </p:txBody>
      </p:sp>
      <p:sp>
        <p:nvSpPr>
          <p:cNvPr id="1125" name="Google Shape;1125;p87"/>
          <p:cNvSpPr txBox="1"/>
          <p:nvPr>
            <p:ph idx="1" type="body"/>
          </p:nvPr>
        </p:nvSpPr>
        <p:spPr>
          <a:xfrm>
            <a:off x="2139985" y="1702654"/>
            <a:ext cx="7284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(1,1)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87"/>
          <p:cNvSpPr txBox="1"/>
          <p:nvPr>
            <p:ph idx="1" type="body"/>
          </p:nvPr>
        </p:nvSpPr>
        <p:spPr>
          <a:xfrm>
            <a:off x="5090435" y="1749004"/>
            <a:ext cx="7284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(3,5)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87"/>
          <p:cNvSpPr txBox="1"/>
          <p:nvPr>
            <p:ph idx="1" type="body"/>
          </p:nvPr>
        </p:nvSpPr>
        <p:spPr>
          <a:xfrm>
            <a:off x="6067106" y="1741843"/>
            <a:ext cx="27219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E.g.(-1,-3) (0,-2) (1,-1) (2,0) (3,1) (4,2) (5,3)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8" name="Google Shape;1128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2471825"/>
            <a:ext cx="2379050" cy="23485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9" name="Google Shape;1129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53326" y="2429781"/>
            <a:ext cx="2379050" cy="239061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0" name="Google Shape;1130;p87"/>
          <p:cNvPicPr preferRelativeResize="0"/>
          <p:nvPr/>
        </p:nvPicPr>
        <p:blipFill rotWithShape="1">
          <a:blip r:embed="rId8">
            <a:alphaModFix/>
          </a:blip>
          <a:srcRect b="0" l="3452" r="2984" t="3679"/>
          <a:stretch/>
        </p:blipFill>
        <p:spPr>
          <a:xfrm>
            <a:off x="6098000" y="2431250"/>
            <a:ext cx="2379050" cy="238765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-x&quot;&gt;&lt;mi&gt;y&lt;/mi&gt;&lt;mo&gt;=&lt;/mo&gt;&lt;mo&gt;−&lt;/mo&gt;&lt;mi&gt;x&lt;/mi&gt;&lt;/math&gt;" id="1136" name="Google Shape;1136;p88" title="y equals negative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338" y="1559938"/>
            <a:ext cx="932090" cy="2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&quot;&gt;&lt;mi&gt;y&lt;/mi&gt;&lt;mo&gt;=&lt;/mo&gt;&lt;mn&gt;3&lt;/mn&gt;&lt;mi&gt;x&lt;/mi&gt;&lt;/math&gt;" id="1137" name="Google Shape;1137;p88" title="y equals 3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2484" y="1486473"/>
            <a:ext cx="857625" cy="27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2}x&quot;&gt;&lt;mi&gt;y&lt;/mi&gt;&lt;mo&gt;=&lt;/mo&gt;&lt;mfrac&gt;&lt;mn&gt;1&lt;/mn&gt;&lt;mn&gt;2&lt;/mn&gt;&lt;/mfrac&gt;&lt;mi&gt;x&lt;/mi&gt;&lt;/math&gt;" id="1138" name="Google Shape;1138;p88" title="y equals one half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6338" y="1256123"/>
            <a:ext cx="1001425" cy="6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For each rule, fill in the coordinates. Use them to draw the line for that rule.</a:t>
            </a:r>
            <a:endParaRPr sz="2000"/>
          </a:p>
        </p:txBody>
      </p:sp>
      <p:sp>
        <p:nvSpPr>
          <p:cNvPr id="1140" name="Google Shape;1140;p88"/>
          <p:cNvSpPr txBox="1"/>
          <p:nvPr>
            <p:ph idx="1" type="body"/>
          </p:nvPr>
        </p:nvSpPr>
        <p:spPr>
          <a:xfrm>
            <a:off x="324000" y="2070313"/>
            <a:ext cx="2610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(2,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2000"/>
              <a:t>)  (</a:t>
            </a:r>
            <a:r>
              <a:rPr lang="en-GB" sz="2000" u="sng"/>
              <a:t>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0 </a:t>
            </a:r>
            <a:r>
              <a:rPr lang="en-GB" sz="2000"/>
              <a:t>,</a:t>
            </a:r>
            <a:r>
              <a:rPr lang="en-GB" sz="2000"/>
              <a:t>0</a:t>
            </a:r>
            <a:r>
              <a:rPr lang="en-GB" sz="2000"/>
              <a:t>)  </a:t>
            </a:r>
            <a:endParaRPr sz="2000"/>
          </a:p>
        </p:txBody>
      </p:sp>
      <p:sp>
        <p:nvSpPr>
          <p:cNvPr id="1141" name="Google Shape;1141;p88"/>
          <p:cNvSpPr txBox="1"/>
          <p:nvPr>
            <p:ph idx="1" type="body"/>
          </p:nvPr>
        </p:nvSpPr>
        <p:spPr>
          <a:xfrm>
            <a:off x="3174700" y="2070313"/>
            <a:ext cx="280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(0,</a:t>
            </a:r>
            <a:r>
              <a:rPr lang="en-GB" sz="2000" u="sng"/>
              <a:t>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0 </a:t>
            </a:r>
            <a:r>
              <a:rPr lang="en-GB" sz="2000"/>
              <a:t>)  </a:t>
            </a:r>
            <a:endParaRPr sz="2000"/>
          </a:p>
        </p:txBody>
      </p:sp>
      <p:sp>
        <p:nvSpPr>
          <p:cNvPr id="1142" name="Google Shape;1142;p88"/>
          <p:cNvSpPr txBox="1"/>
          <p:nvPr>
            <p:ph idx="1" type="body"/>
          </p:nvPr>
        </p:nvSpPr>
        <p:spPr>
          <a:xfrm>
            <a:off x="6087225" y="2070313"/>
            <a:ext cx="1743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(0,</a:t>
            </a:r>
            <a:r>
              <a:rPr lang="en-GB" sz="2000" u="sng"/>
              <a:t>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0 </a:t>
            </a:r>
            <a:r>
              <a:rPr lang="en-GB" sz="2000"/>
              <a:t>)  (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2000"/>
              <a:t>,-1)  </a:t>
            </a:r>
            <a:endParaRPr sz="2000"/>
          </a:p>
        </p:txBody>
      </p:sp>
      <p:sp>
        <p:nvSpPr>
          <p:cNvPr id="1143" name="Google Shape;1143;p88"/>
          <p:cNvSpPr txBox="1"/>
          <p:nvPr>
            <p:ph idx="1" type="body"/>
          </p:nvPr>
        </p:nvSpPr>
        <p:spPr>
          <a:xfrm>
            <a:off x="323988" y="1451198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g)</a:t>
            </a:r>
            <a:endParaRPr sz="2000"/>
          </a:p>
        </p:txBody>
      </p:sp>
      <p:sp>
        <p:nvSpPr>
          <p:cNvPr id="1144" name="Google Shape;1144;p88"/>
          <p:cNvSpPr txBox="1"/>
          <p:nvPr>
            <p:ph idx="1" type="body"/>
          </p:nvPr>
        </p:nvSpPr>
        <p:spPr>
          <a:xfrm>
            <a:off x="3219588" y="1451198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h)</a:t>
            </a:r>
            <a:endParaRPr sz="2000"/>
          </a:p>
        </p:txBody>
      </p:sp>
      <p:sp>
        <p:nvSpPr>
          <p:cNvPr id="1145" name="Google Shape;1145;p88"/>
          <p:cNvSpPr txBox="1"/>
          <p:nvPr>
            <p:ph idx="1" type="body"/>
          </p:nvPr>
        </p:nvSpPr>
        <p:spPr>
          <a:xfrm>
            <a:off x="6115188" y="1446060"/>
            <a:ext cx="29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i)</a:t>
            </a:r>
            <a:endParaRPr sz="2000"/>
          </a:p>
        </p:txBody>
      </p:sp>
      <p:sp>
        <p:nvSpPr>
          <p:cNvPr id="1146" name="Google Shape;1146;p88"/>
          <p:cNvSpPr txBox="1"/>
          <p:nvPr>
            <p:ph idx="1" type="body"/>
          </p:nvPr>
        </p:nvSpPr>
        <p:spPr>
          <a:xfrm>
            <a:off x="2007575" y="1741513"/>
            <a:ext cx="728400" cy="6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(-3,3)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88"/>
          <p:cNvSpPr txBox="1"/>
          <p:nvPr>
            <p:ph idx="1" type="body"/>
          </p:nvPr>
        </p:nvSpPr>
        <p:spPr>
          <a:xfrm>
            <a:off x="3999025" y="1741513"/>
            <a:ext cx="1588200" cy="6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(-1,-3) (1,3)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88"/>
          <p:cNvSpPr txBox="1"/>
          <p:nvPr>
            <p:ph idx="1" type="body"/>
          </p:nvPr>
        </p:nvSpPr>
        <p:spPr>
          <a:xfrm>
            <a:off x="7940750" y="1741513"/>
            <a:ext cx="728400" cy="6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(4,2)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49" name="Google Shape;1149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2457154"/>
            <a:ext cx="2348775" cy="236324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0" name="Google Shape;1150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5900" y="2457150"/>
            <a:ext cx="2295319" cy="23632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1" name="Google Shape;1151;p88"/>
          <p:cNvPicPr preferRelativeResize="0"/>
          <p:nvPr/>
        </p:nvPicPr>
        <p:blipFill rotWithShape="1">
          <a:blip r:embed="rId8">
            <a:alphaModFix/>
          </a:blip>
          <a:srcRect b="0" l="2375" r="2222" t="0"/>
          <a:stretch/>
        </p:blipFill>
        <p:spPr>
          <a:xfrm>
            <a:off x="6115200" y="2443300"/>
            <a:ext cx="2295325" cy="2390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lines from coordinates</a:t>
            </a:r>
            <a:endParaRPr/>
          </a:p>
        </p:txBody>
      </p:sp>
      <p:sp>
        <p:nvSpPr>
          <p:cNvPr id="1157" name="Google Shape;1157;p8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158" name="Google Shape;1158;p8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 relationship</a:t>
            </a:r>
            <a:endParaRPr/>
          </a:p>
        </p:txBody>
      </p:sp>
      <p:pic>
        <p:nvPicPr>
          <p:cNvPr id="1159" name="Google Shape;115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50" y="298863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165" name="Google Shape;1165;p90"/>
          <p:cNvSpPr txBox="1"/>
          <p:nvPr>
            <p:ph idx="1" type="body"/>
          </p:nvPr>
        </p:nvSpPr>
        <p:spPr>
          <a:xfrm>
            <a:off x="324000" y="759300"/>
            <a:ext cx="8237700" cy="9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substitute any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value into our rule to work out the corresponding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value.</a:t>
            </a:r>
            <a:endParaRPr/>
          </a:p>
        </p:txBody>
      </p:sp>
      <p:sp>
        <p:nvSpPr>
          <p:cNvPr id="1166" name="Google Shape;1166;p90"/>
          <p:cNvSpPr txBox="1"/>
          <p:nvPr>
            <p:ph idx="1" type="body"/>
          </p:nvPr>
        </p:nvSpPr>
        <p:spPr>
          <a:xfrm>
            <a:off x="324000" y="1806300"/>
            <a:ext cx="8496000" cy="9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could we work out the missing value in this coordinate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the rule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/>
              <a:t>? </a:t>
            </a:r>
            <a:endParaRPr/>
          </a:p>
        </p:txBody>
      </p:sp>
      <p:sp>
        <p:nvSpPr>
          <p:cNvPr id="1167" name="Google Shape;1167;p90"/>
          <p:cNvSpPr txBox="1"/>
          <p:nvPr>
            <p:ph idx="1" type="body"/>
          </p:nvPr>
        </p:nvSpPr>
        <p:spPr>
          <a:xfrm>
            <a:off x="3990750" y="2931775"/>
            <a:ext cx="1162500" cy="5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(3,</a:t>
            </a:r>
            <a:r>
              <a:rPr lang="en-GB" sz="2800" u="sng"/>
              <a:t>     </a:t>
            </a:r>
            <a:r>
              <a:rPr lang="en-GB" sz="2800"/>
              <a:t>)</a:t>
            </a:r>
            <a:endParaRPr sz="2800"/>
          </a:p>
        </p:txBody>
      </p:sp>
      <p:sp>
        <p:nvSpPr>
          <p:cNvPr id="1168" name="Google Shape;1168;p90"/>
          <p:cNvSpPr txBox="1"/>
          <p:nvPr>
            <p:ph idx="1" type="body"/>
          </p:nvPr>
        </p:nvSpPr>
        <p:spPr>
          <a:xfrm>
            <a:off x="324000" y="3444475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</a:t>
            </a:r>
            <a:r>
              <a:rPr lang="en-GB" sz="2000">
                <a:solidFill>
                  <a:srgbClr val="222222"/>
                </a:solidFill>
              </a:rPr>
              <a:t>×</a:t>
            </a:r>
            <a:r>
              <a:rPr lang="en-GB" sz="2000"/>
              <a:t> (3) - 5</a:t>
            </a:r>
            <a:endParaRPr sz="2000"/>
          </a:p>
        </p:txBody>
      </p:sp>
      <p:sp>
        <p:nvSpPr>
          <p:cNvPr id="1169" name="Google Shape;1169;p90"/>
          <p:cNvSpPr txBox="1"/>
          <p:nvPr>
            <p:ph idx="1" type="body"/>
          </p:nvPr>
        </p:nvSpPr>
        <p:spPr>
          <a:xfrm>
            <a:off x="324000" y="3900300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12 - 5</a:t>
            </a:r>
            <a:endParaRPr sz="2000"/>
          </a:p>
        </p:txBody>
      </p:sp>
      <p:sp>
        <p:nvSpPr>
          <p:cNvPr id="1170" name="Google Shape;1170;p90"/>
          <p:cNvSpPr txBox="1"/>
          <p:nvPr>
            <p:ph idx="1" type="body"/>
          </p:nvPr>
        </p:nvSpPr>
        <p:spPr>
          <a:xfrm>
            <a:off x="324000" y="4398000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7</a:t>
            </a:r>
            <a:endParaRPr sz="2000"/>
          </a:p>
        </p:txBody>
      </p:sp>
      <p:sp>
        <p:nvSpPr>
          <p:cNvPr id="1171" name="Google Shape;1171;p90"/>
          <p:cNvSpPr txBox="1"/>
          <p:nvPr>
            <p:ph idx="1" type="body"/>
          </p:nvPr>
        </p:nvSpPr>
        <p:spPr>
          <a:xfrm>
            <a:off x="4535450" y="2931775"/>
            <a:ext cx="2496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7 </a:t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91"/>
          <p:cNvSpPr txBox="1"/>
          <p:nvPr>
            <p:ph idx="1" type="body"/>
          </p:nvPr>
        </p:nvSpPr>
        <p:spPr>
          <a:xfrm>
            <a:off x="324000" y="759300"/>
            <a:ext cx="8237700" cy="9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substitute any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value into our rule to work out the corresponding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value.</a:t>
            </a:r>
            <a:endParaRPr/>
          </a:p>
        </p:txBody>
      </p:sp>
      <p:sp>
        <p:nvSpPr>
          <p:cNvPr id="1177" name="Google Shape;117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178" name="Google Shape;1178;p91"/>
          <p:cNvSpPr txBox="1"/>
          <p:nvPr>
            <p:ph idx="1" type="body"/>
          </p:nvPr>
        </p:nvSpPr>
        <p:spPr>
          <a:xfrm>
            <a:off x="324000" y="1806300"/>
            <a:ext cx="8496000" cy="9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could we work out the missing value in this coordinate fo</a:t>
            </a:r>
            <a:r>
              <a:rPr lang="en-GB"/>
              <a:t>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rule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5 </a:t>
            </a:r>
            <a:r>
              <a:rPr lang="en-GB"/>
              <a:t>?</a:t>
            </a:r>
            <a:endParaRPr/>
          </a:p>
        </p:txBody>
      </p:sp>
      <p:sp>
        <p:nvSpPr>
          <p:cNvPr id="1179" name="Google Shape;1179;p91"/>
          <p:cNvSpPr txBox="1"/>
          <p:nvPr>
            <p:ph idx="1" type="body"/>
          </p:nvPr>
        </p:nvSpPr>
        <p:spPr>
          <a:xfrm>
            <a:off x="324000" y="3444475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</a:t>
            </a:r>
            <a:r>
              <a:rPr lang="en-GB" sz="2000">
                <a:solidFill>
                  <a:srgbClr val="222222"/>
                </a:solidFill>
              </a:rPr>
              <a:t>×</a:t>
            </a:r>
            <a:r>
              <a:rPr lang="en-GB" sz="2000"/>
              <a:t> (3) - 5</a:t>
            </a:r>
            <a:endParaRPr sz="2000"/>
          </a:p>
        </p:txBody>
      </p:sp>
      <p:sp>
        <p:nvSpPr>
          <p:cNvPr id="1180" name="Google Shape;1180;p91"/>
          <p:cNvSpPr txBox="1"/>
          <p:nvPr>
            <p:ph idx="1" type="body"/>
          </p:nvPr>
        </p:nvSpPr>
        <p:spPr>
          <a:xfrm>
            <a:off x="324000" y="3900300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12</a:t>
            </a:r>
            <a:r>
              <a:rPr lang="en-GB" sz="2000"/>
              <a:t> - 5</a:t>
            </a:r>
            <a:endParaRPr sz="2000"/>
          </a:p>
        </p:txBody>
      </p:sp>
      <p:sp>
        <p:nvSpPr>
          <p:cNvPr id="1181" name="Google Shape;1181;p91"/>
          <p:cNvSpPr txBox="1"/>
          <p:nvPr>
            <p:ph idx="1" type="body"/>
          </p:nvPr>
        </p:nvSpPr>
        <p:spPr>
          <a:xfrm>
            <a:off x="324000" y="4398000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7</a:t>
            </a:r>
            <a:endParaRPr sz="2000"/>
          </a:p>
        </p:txBody>
      </p:sp>
      <p:sp>
        <p:nvSpPr>
          <p:cNvPr id="1182" name="Google Shape;1182;p91"/>
          <p:cNvSpPr txBox="1"/>
          <p:nvPr>
            <p:ph idx="1" type="body"/>
          </p:nvPr>
        </p:nvSpPr>
        <p:spPr>
          <a:xfrm>
            <a:off x="3990750" y="2927652"/>
            <a:ext cx="1162500" cy="5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(5,</a:t>
            </a:r>
            <a:r>
              <a:rPr lang="en-GB" sz="2800" u="sng"/>
              <a:t>     </a:t>
            </a:r>
            <a:r>
              <a:rPr lang="en-GB" sz="2800"/>
              <a:t>)</a:t>
            </a:r>
            <a:endParaRPr sz="2800"/>
          </a:p>
        </p:txBody>
      </p:sp>
      <p:sp>
        <p:nvSpPr>
          <p:cNvPr id="1183" name="Google Shape;1183;p91"/>
          <p:cNvSpPr txBox="1"/>
          <p:nvPr>
            <p:ph idx="1" type="body"/>
          </p:nvPr>
        </p:nvSpPr>
        <p:spPr>
          <a:xfrm>
            <a:off x="2887200" y="3423538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</a:t>
            </a:r>
            <a:r>
              <a:rPr lang="en-GB" sz="2000">
                <a:solidFill>
                  <a:srgbClr val="222222"/>
                </a:solidFill>
              </a:rPr>
              <a:t>×</a:t>
            </a:r>
            <a:r>
              <a:rPr lang="en-GB" sz="2000"/>
              <a:t> (5) - 5</a:t>
            </a:r>
            <a:endParaRPr sz="2000"/>
          </a:p>
        </p:txBody>
      </p:sp>
      <p:sp>
        <p:nvSpPr>
          <p:cNvPr id="1184" name="Google Shape;1184;p91"/>
          <p:cNvSpPr txBox="1"/>
          <p:nvPr>
            <p:ph idx="1" type="body"/>
          </p:nvPr>
        </p:nvSpPr>
        <p:spPr>
          <a:xfrm>
            <a:off x="2887200" y="3879363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20</a:t>
            </a:r>
            <a:r>
              <a:rPr lang="en-GB" sz="2000"/>
              <a:t> - 5</a:t>
            </a:r>
            <a:endParaRPr sz="2000"/>
          </a:p>
        </p:txBody>
      </p:sp>
      <p:sp>
        <p:nvSpPr>
          <p:cNvPr id="1185" name="Google Shape;1185;p91"/>
          <p:cNvSpPr txBox="1"/>
          <p:nvPr>
            <p:ph idx="1" type="body"/>
          </p:nvPr>
        </p:nvSpPr>
        <p:spPr>
          <a:xfrm>
            <a:off x="2887200" y="4358163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15</a:t>
            </a:r>
            <a:endParaRPr sz="2000"/>
          </a:p>
        </p:txBody>
      </p:sp>
      <p:sp>
        <p:nvSpPr>
          <p:cNvPr id="1186" name="Google Shape;1186;p91"/>
          <p:cNvSpPr txBox="1"/>
          <p:nvPr>
            <p:ph idx="1" type="body"/>
          </p:nvPr>
        </p:nvSpPr>
        <p:spPr>
          <a:xfrm>
            <a:off x="4433163" y="2927655"/>
            <a:ext cx="4326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15</a:t>
            </a:r>
            <a:r>
              <a:rPr lang="en-GB" sz="2800"/>
              <a:t> </a:t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192" name="Google Shape;1192;p92"/>
          <p:cNvSpPr txBox="1"/>
          <p:nvPr>
            <p:ph idx="1" type="body"/>
          </p:nvPr>
        </p:nvSpPr>
        <p:spPr>
          <a:xfrm>
            <a:off x="324000" y="1806300"/>
            <a:ext cx="8496000" cy="9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could we work out the missing value in this coordinate for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rule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/>
              <a:t> ?</a:t>
            </a:r>
            <a:endParaRPr/>
          </a:p>
        </p:txBody>
      </p:sp>
      <p:sp>
        <p:nvSpPr>
          <p:cNvPr id="1193" name="Google Shape;1193;p92"/>
          <p:cNvSpPr txBox="1"/>
          <p:nvPr>
            <p:ph idx="1" type="body"/>
          </p:nvPr>
        </p:nvSpPr>
        <p:spPr>
          <a:xfrm>
            <a:off x="324000" y="3444475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</a:t>
            </a:r>
            <a:r>
              <a:rPr lang="en-GB" sz="2000">
                <a:solidFill>
                  <a:srgbClr val="222222"/>
                </a:solidFill>
              </a:rPr>
              <a:t>×</a:t>
            </a:r>
            <a:r>
              <a:rPr lang="en-GB" sz="2000"/>
              <a:t> (3) - 5</a:t>
            </a:r>
            <a:endParaRPr sz="2000"/>
          </a:p>
        </p:txBody>
      </p:sp>
      <p:sp>
        <p:nvSpPr>
          <p:cNvPr id="1194" name="Google Shape;1194;p92"/>
          <p:cNvSpPr txBox="1"/>
          <p:nvPr>
            <p:ph idx="1" type="body"/>
          </p:nvPr>
        </p:nvSpPr>
        <p:spPr>
          <a:xfrm>
            <a:off x="324000" y="3900300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12 - 5</a:t>
            </a:r>
            <a:endParaRPr sz="2000"/>
          </a:p>
        </p:txBody>
      </p:sp>
      <p:sp>
        <p:nvSpPr>
          <p:cNvPr id="1195" name="Google Shape;1195;p92"/>
          <p:cNvSpPr txBox="1"/>
          <p:nvPr>
            <p:ph idx="1" type="body"/>
          </p:nvPr>
        </p:nvSpPr>
        <p:spPr>
          <a:xfrm>
            <a:off x="324000" y="4398000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7</a:t>
            </a:r>
            <a:endParaRPr sz="2000"/>
          </a:p>
        </p:txBody>
      </p:sp>
      <p:sp>
        <p:nvSpPr>
          <p:cNvPr id="1196" name="Google Shape;1196;p92"/>
          <p:cNvSpPr txBox="1"/>
          <p:nvPr>
            <p:ph idx="1" type="body"/>
          </p:nvPr>
        </p:nvSpPr>
        <p:spPr>
          <a:xfrm>
            <a:off x="2887200" y="3423538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</a:t>
            </a:r>
            <a:r>
              <a:rPr lang="en-GB" sz="2000">
                <a:solidFill>
                  <a:srgbClr val="222222"/>
                </a:solidFill>
              </a:rPr>
              <a:t>×</a:t>
            </a:r>
            <a:r>
              <a:rPr lang="en-GB" sz="2000"/>
              <a:t> (5) - 5</a:t>
            </a:r>
            <a:endParaRPr sz="2000"/>
          </a:p>
        </p:txBody>
      </p:sp>
      <p:sp>
        <p:nvSpPr>
          <p:cNvPr id="1197" name="Google Shape;1197;p92"/>
          <p:cNvSpPr txBox="1"/>
          <p:nvPr>
            <p:ph idx="1" type="body"/>
          </p:nvPr>
        </p:nvSpPr>
        <p:spPr>
          <a:xfrm>
            <a:off x="2887200" y="3879363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20 - 5</a:t>
            </a:r>
            <a:endParaRPr sz="2000"/>
          </a:p>
        </p:txBody>
      </p:sp>
      <p:sp>
        <p:nvSpPr>
          <p:cNvPr id="1198" name="Google Shape;1198;p92"/>
          <p:cNvSpPr txBox="1"/>
          <p:nvPr>
            <p:ph idx="1" type="body"/>
          </p:nvPr>
        </p:nvSpPr>
        <p:spPr>
          <a:xfrm>
            <a:off x="2887200" y="4358163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15</a:t>
            </a:r>
            <a:endParaRPr sz="2000"/>
          </a:p>
        </p:txBody>
      </p:sp>
      <p:sp>
        <p:nvSpPr>
          <p:cNvPr id="1199" name="Google Shape;1199;p92"/>
          <p:cNvSpPr txBox="1"/>
          <p:nvPr>
            <p:ph idx="1" type="body"/>
          </p:nvPr>
        </p:nvSpPr>
        <p:spPr>
          <a:xfrm>
            <a:off x="4001250" y="2930517"/>
            <a:ext cx="1446300" cy="5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(-4,</a:t>
            </a:r>
            <a:r>
              <a:rPr lang="en-GB" sz="2800" u="sng"/>
              <a:t>      </a:t>
            </a:r>
            <a:r>
              <a:rPr lang="en-GB" sz="2800"/>
              <a:t>)</a:t>
            </a:r>
            <a:endParaRPr sz="2800"/>
          </a:p>
        </p:txBody>
      </p:sp>
      <p:sp>
        <p:nvSpPr>
          <p:cNvPr id="1200" name="Google Shape;1200;p92"/>
          <p:cNvSpPr txBox="1"/>
          <p:nvPr>
            <p:ph idx="1" type="body"/>
          </p:nvPr>
        </p:nvSpPr>
        <p:spPr>
          <a:xfrm>
            <a:off x="5782800" y="3423538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 </a:t>
            </a:r>
            <a:r>
              <a:rPr lang="en-GB" sz="2000">
                <a:solidFill>
                  <a:srgbClr val="222222"/>
                </a:solidFill>
              </a:rPr>
              <a:t>×</a:t>
            </a:r>
            <a:r>
              <a:rPr lang="en-GB" sz="2000"/>
              <a:t> (-4) - 5</a:t>
            </a:r>
            <a:endParaRPr sz="2000"/>
          </a:p>
        </p:txBody>
      </p:sp>
      <p:sp>
        <p:nvSpPr>
          <p:cNvPr id="1201" name="Google Shape;1201;p92"/>
          <p:cNvSpPr txBox="1"/>
          <p:nvPr>
            <p:ph idx="1" type="body"/>
          </p:nvPr>
        </p:nvSpPr>
        <p:spPr>
          <a:xfrm>
            <a:off x="5782800" y="3879363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-16 - 5</a:t>
            </a:r>
            <a:endParaRPr sz="2000"/>
          </a:p>
        </p:txBody>
      </p:sp>
      <p:sp>
        <p:nvSpPr>
          <p:cNvPr id="1202" name="Google Shape;1202;p92"/>
          <p:cNvSpPr txBox="1"/>
          <p:nvPr>
            <p:ph idx="1" type="body"/>
          </p:nvPr>
        </p:nvSpPr>
        <p:spPr>
          <a:xfrm>
            <a:off x="5782800" y="4358163"/>
            <a:ext cx="1305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-21</a:t>
            </a:r>
            <a:endParaRPr sz="2000"/>
          </a:p>
        </p:txBody>
      </p:sp>
      <p:sp>
        <p:nvSpPr>
          <p:cNvPr id="1203" name="Google Shape;1203;p92"/>
          <p:cNvSpPr txBox="1"/>
          <p:nvPr>
            <p:ph idx="1" type="body"/>
          </p:nvPr>
        </p:nvSpPr>
        <p:spPr>
          <a:xfrm>
            <a:off x="4570215" y="2923742"/>
            <a:ext cx="6399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/>
              <a:t>-21 </a:t>
            </a:r>
            <a:endParaRPr sz="2800"/>
          </a:p>
        </p:txBody>
      </p:sp>
      <p:sp>
        <p:nvSpPr>
          <p:cNvPr id="1204" name="Google Shape;1204;p92"/>
          <p:cNvSpPr txBox="1"/>
          <p:nvPr>
            <p:ph idx="1" type="body"/>
          </p:nvPr>
        </p:nvSpPr>
        <p:spPr>
          <a:xfrm>
            <a:off x="324000" y="759300"/>
            <a:ext cx="8237700" cy="9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substitute any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value into our rule to work out the corresponding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value.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210" name="Google Shape;1210;p93"/>
          <p:cNvSpPr txBox="1"/>
          <p:nvPr>
            <p:ph idx="1" type="body"/>
          </p:nvPr>
        </p:nvSpPr>
        <p:spPr>
          <a:xfrm>
            <a:off x="324000" y="759300"/>
            <a:ext cx="8237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Any coordinate on a line will satisfy the rule for that line</a:t>
            </a:r>
            <a:endParaRPr/>
          </a:p>
        </p:txBody>
      </p:sp>
      <p:pic>
        <p:nvPicPr>
          <p:cNvPr id="1211" name="Google Shape;121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62" y="1299000"/>
            <a:ext cx="2682267" cy="35213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2" name="Google Shape;1212;p93"/>
          <p:cNvSpPr txBox="1"/>
          <p:nvPr>
            <p:ph idx="1" type="body"/>
          </p:nvPr>
        </p:nvSpPr>
        <p:spPr>
          <a:xfrm>
            <a:off x="3369600" y="1194450"/>
            <a:ext cx="56070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the line of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2x+1&quot;&gt;&lt;mi&gt;y&lt;/mi&gt;&lt;mo&gt;=&lt;/mo&gt;&lt;mn&gt;2&lt;/mn&gt;&lt;mi&gt;x&lt;/mi&gt;&lt;mo&gt;+&lt;/mo&gt;&lt;mn&gt;1&lt;/mn&gt;&lt;/math&gt;" id="1213" name="Google Shape;1213;p93" title="y equals 2 x pl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3075" y="1228238"/>
            <a:ext cx="1497600" cy="305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93"/>
          <p:cNvSpPr txBox="1"/>
          <p:nvPr>
            <p:ph idx="1" type="body"/>
          </p:nvPr>
        </p:nvSpPr>
        <p:spPr>
          <a:xfrm>
            <a:off x="3369600" y="1658250"/>
            <a:ext cx="56070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any coordinate on this line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value will equal </a:t>
            </a:r>
            <a:r>
              <a:rPr lang="en-GB"/>
              <a:t>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times x\ +\ 1&quot;&gt;&lt;mn&gt;2&lt;/mn&gt;&lt;mo&gt;×&lt;/mo&gt;&lt;mi&gt;x&lt;/mi&gt;&lt;mtext&gt;&lt;/mtext&gt;&lt;mo&gt;+&lt;/mo&gt;&lt;mtext&gt;&lt;/mtext&gt;&lt;mn&gt;1&lt;/mn&gt;&lt;/math&gt;" id="1215" name="Google Shape;1215;p93" title="2 times x pl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0450" y="2089325"/>
            <a:ext cx="1317600" cy="2312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6" name="Google Shape;1216;p93"/>
          <p:cNvGrpSpPr/>
          <p:nvPr/>
        </p:nvGrpSpPr>
        <p:grpSpPr>
          <a:xfrm>
            <a:off x="1166331" y="4177975"/>
            <a:ext cx="5090469" cy="733950"/>
            <a:chOff x="1166331" y="4177975"/>
            <a:chExt cx="5090469" cy="733950"/>
          </a:xfrm>
        </p:grpSpPr>
        <p:cxnSp>
          <p:nvCxnSpPr>
            <p:cNvPr id="1217" name="Google Shape;1217;p93"/>
            <p:cNvCxnSpPr/>
            <p:nvPr/>
          </p:nvCxnSpPr>
          <p:spPr>
            <a:xfrm>
              <a:off x="1166331" y="4177975"/>
              <a:ext cx="2888100" cy="378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8" name="Google Shape;1218;p93"/>
            <p:cNvSpPr/>
            <p:nvPr/>
          </p:nvSpPr>
          <p:spPr>
            <a:xfrm>
              <a:off x="4051200" y="4518025"/>
              <a:ext cx="22056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-3 = 2 </a:t>
              </a:r>
              <a:r>
                <a:rPr lang="en-GB" sz="20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(-2) + 1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93"/>
          <p:cNvGrpSpPr/>
          <p:nvPr/>
        </p:nvGrpSpPr>
        <p:grpSpPr>
          <a:xfrm>
            <a:off x="1471131" y="3568375"/>
            <a:ext cx="5090469" cy="733950"/>
            <a:chOff x="1471131" y="3568375"/>
            <a:chExt cx="5090469" cy="733950"/>
          </a:xfrm>
        </p:grpSpPr>
        <p:cxnSp>
          <p:nvCxnSpPr>
            <p:cNvPr id="1220" name="Google Shape;1220;p93"/>
            <p:cNvCxnSpPr/>
            <p:nvPr/>
          </p:nvCxnSpPr>
          <p:spPr>
            <a:xfrm>
              <a:off x="1471131" y="3568375"/>
              <a:ext cx="2888100" cy="378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1" name="Google Shape;1221;p93"/>
            <p:cNvSpPr/>
            <p:nvPr/>
          </p:nvSpPr>
          <p:spPr>
            <a:xfrm>
              <a:off x="4356000" y="3908425"/>
              <a:ext cx="22056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-1 = 2 </a:t>
              </a:r>
              <a:r>
                <a:rPr lang="en-GB" sz="20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(-1) + 1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93"/>
          <p:cNvGrpSpPr/>
          <p:nvPr/>
        </p:nvGrpSpPr>
        <p:grpSpPr>
          <a:xfrm>
            <a:off x="1775931" y="2921190"/>
            <a:ext cx="5090469" cy="733950"/>
            <a:chOff x="1775931" y="2921190"/>
            <a:chExt cx="5090469" cy="733950"/>
          </a:xfrm>
        </p:grpSpPr>
        <p:cxnSp>
          <p:nvCxnSpPr>
            <p:cNvPr id="1223" name="Google Shape;1223;p93"/>
            <p:cNvCxnSpPr/>
            <p:nvPr/>
          </p:nvCxnSpPr>
          <p:spPr>
            <a:xfrm>
              <a:off x="1775931" y="2921190"/>
              <a:ext cx="2888100" cy="378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4" name="Google Shape;1224;p93"/>
            <p:cNvSpPr/>
            <p:nvPr/>
          </p:nvSpPr>
          <p:spPr>
            <a:xfrm>
              <a:off x="4660800" y="3261240"/>
              <a:ext cx="22056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= 2 </a:t>
              </a:r>
              <a:r>
                <a:rPr lang="en-GB" sz="20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(0) + 1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93"/>
          <p:cNvGrpSpPr/>
          <p:nvPr/>
        </p:nvGrpSpPr>
        <p:grpSpPr>
          <a:xfrm>
            <a:off x="2080731" y="2326006"/>
            <a:ext cx="5090469" cy="733950"/>
            <a:chOff x="2080731" y="2326006"/>
            <a:chExt cx="5090469" cy="733950"/>
          </a:xfrm>
        </p:grpSpPr>
        <p:cxnSp>
          <p:nvCxnSpPr>
            <p:cNvPr id="1226" name="Google Shape;1226;p93"/>
            <p:cNvCxnSpPr/>
            <p:nvPr/>
          </p:nvCxnSpPr>
          <p:spPr>
            <a:xfrm>
              <a:off x="2080731" y="2326006"/>
              <a:ext cx="2888100" cy="378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7" name="Google Shape;1227;p93"/>
            <p:cNvSpPr/>
            <p:nvPr/>
          </p:nvSpPr>
          <p:spPr>
            <a:xfrm>
              <a:off x="4965600" y="2666056"/>
              <a:ext cx="22056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= 2 </a:t>
              </a:r>
              <a:r>
                <a:rPr lang="en-GB" sz="20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(1) + 1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8" name="Google Shape;1228;p93"/>
          <p:cNvGrpSpPr/>
          <p:nvPr/>
        </p:nvGrpSpPr>
        <p:grpSpPr>
          <a:xfrm>
            <a:off x="928058" y="2136299"/>
            <a:ext cx="1140215" cy="393900"/>
            <a:chOff x="920854" y="2157911"/>
            <a:chExt cx="1140215" cy="393900"/>
          </a:xfrm>
        </p:grpSpPr>
        <p:sp>
          <p:nvSpPr>
            <p:cNvPr id="1229" name="Google Shape;1229;p93"/>
            <p:cNvSpPr/>
            <p:nvPr/>
          </p:nvSpPr>
          <p:spPr>
            <a:xfrm>
              <a:off x="1787169" y="2184160"/>
              <a:ext cx="273900" cy="21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93"/>
            <p:cNvSpPr/>
            <p:nvPr/>
          </p:nvSpPr>
          <p:spPr>
            <a:xfrm>
              <a:off x="920854" y="2157911"/>
              <a:ext cx="10023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(1,3)</a:t>
              </a:r>
              <a:endParaRPr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93"/>
          <p:cNvGrpSpPr/>
          <p:nvPr/>
        </p:nvGrpSpPr>
        <p:grpSpPr>
          <a:xfrm>
            <a:off x="748875" y="2744875"/>
            <a:ext cx="1007394" cy="393900"/>
            <a:chOff x="748875" y="2744875"/>
            <a:chExt cx="1007394" cy="393900"/>
          </a:xfrm>
        </p:grpSpPr>
        <p:sp>
          <p:nvSpPr>
            <p:cNvPr id="1232" name="Google Shape;1232;p93"/>
            <p:cNvSpPr/>
            <p:nvPr/>
          </p:nvSpPr>
          <p:spPr>
            <a:xfrm>
              <a:off x="1482369" y="2779344"/>
              <a:ext cx="273900" cy="21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93"/>
            <p:cNvSpPr/>
            <p:nvPr/>
          </p:nvSpPr>
          <p:spPr>
            <a:xfrm>
              <a:off x="748875" y="2744875"/>
              <a:ext cx="7647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(0,1)</a:t>
              </a:r>
              <a:endParaRPr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93"/>
          <p:cNvGrpSpPr/>
          <p:nvPr/>
        </p:nvGrpSpPr>
        <p:grpSpPr>
          <a:xfrm>
            <a:off x="293229" y="3405954"/>
            <a:ext cx="1158240" cy="393900"/>
            <a:chOff x="293229" y="3405954"/>
            <a:chExt cx="1158240" cy="393900"/>
          </a:xfrm>
        </p:grpSpPr>
        <p:sp>
          <p:nvSpPr>
            <p:cNvPr id="1235" name="Google Shape;1235;p93"/>
            <p:cNvSpPr/>
            <p:nvPr/>
          </p:nvSpPr>
          <p:spPr>
            <a:xfrm>
              <a:off x="1177569" y="3426529"/>
              <a:ext cx="273900" cy="21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93"/>
            <p:cNvSpPr/>
            <p:nvPr/>
          </p:nvSpPr>
          <p:spPr>
            <a:xfrm>
              <a:off x="293229" y="3405954"/>
              <a:ext cx="10023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(-1,-1)</a:t>
              </a:r>
              <a:endParaRPr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93"/>
          <p:cNvGrpSpPr/>
          <p:nvPr/>
        </p:nvGrpSpPr>
        <p:grpSpPr>
          <a:xfrm>
            <a:off x="734463" y="4036129"/>
            <a:ext cx="1002300" cy="815167"/>
            <a:chOff x="734463" y="4036129"/>
            <a:chExt cx="1002300" cy="815167"/>
          </a:xfrm>
        </p:grpSpPr>
        <p:sp>
          <p:nvSpPr>
            <p:cNvPr id="1238" name="Google Shape;1238;p93"/>
            <p:cNvSpPr/>
            <p:nvPr/>
          </p:nvSpPr>
          <p:spPr>
            <a:xfrm>
              <a:off x="872769" y="4036129"/>
              <a:ext cx="273900" cy="212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9" name="Google Shape;1239;p93"/>
            <p:cNvSpPr/>
            <p:nvPr/>
          </p:nvSpPr>
          <p:spPr>
            <a:xfrm>
              <a:off x="734463" y="4457396"/>
              <a:ext cx="10023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(-2,-3)</a:t>
              </a:r>
              <a:endParaRPr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94"/>
          <p:cNvPicPr preferRelativeResize="0"/>
          <p:nvPr/>
        </p:nvPicPr>
        <p:blipFill rotWithShape="1">
          <a:blip r:embed="rId3">
            <a:alphaModFix/>
          </a:blip>
          <a:srcRect b="0" l="4297" r="0" t="0"/>
          <a:stretch/>
        </p:blipFill>
        <p:spPr>
          <a:xfrm>
            <a:off x="324000" y="1482800"/>
            <a:ext cx="2614124" cy="33376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5" name="Google Shape;124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246" name="Google Shape;1246;p94"/>
          <p:cNvSpPr txBox="1"/>
          <p:nvPr>
            <p:ph idx="1" type="body"/>
          </p:nvPr>
        </p:nvSpPr>
        <p:spPr>
          <a:xfrm>
            <a:off x="324000" y="759300"/>
            <a:ext cx="8237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a coordinate is not on the line it will not satisfy the rule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2x+1&quot;&gt;&lt;mi&gt;y&lt;/mi&gt;&lt;mo&gt;=&lt;/mo&gt;&lt;mn&gt;2&lt;/mn&gt;&lt;mi&gt;x&lt;/mi&gt;&lt;mo&gt;+&lt;/mo&gt;&lt;mn&gt;1&lt;/mn&gt;&lt;/math&gt;" id="1247" name="Google Shape;1247;p94" title="y equals 2 x pl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186712"/>
            <a:ext cx="1285750" cy="2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94"/>
          <p:cNvSpPr txBox="1"/>
          <p:nvPr>
            <p:ph idx="1" type="body"/>
          </p:nvPr>
        </p:nvSpPr>
        <p:spPr>
          <a:xfrm>
            <a:off x="3369600" y="1658250"/>
            <a:ext cx="56070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(2,3) is not on the line </a:t>
            </a:r>
            <a:r>
              <a:rPr lang="en-GB"/>
              <a:t>  </a:t>
            </a:r>
            <a:endParaRPr/>
          </a:p>
        </p:txBody>
      </p:sp>
      <p:sp>
        <p:nvSpPr>
          <p:cNvPr id="1249" name="Google Shape;1249;p94"/>
          <p:cNvSpPr txBox="1"/>
          <p:nvPr>
            <p:ph idx="1" type="body"/>
          </p:nvPr>
        </p:nvSpPr>
        <p:spPr>
          <a:xfrm>
            <a:off x="3369600" y="2306100"/>
            <a:ext cx="56070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 </a:t>
            </a:r>
            <a:r>
              <a:rPr lang="en-GB" sz="2000">
                <a:solidFill>
                  <a:srgbClr val="222222"/>
                </a:solidFill>
              </a:rPr>
              <a:t>× (2) + 1 does </a:t>
            </a:r>
            <a:r>
              <a:rPr lang="en-GB" sz="2000">
                <a:solidFill>
                  <a:schemeClr val="accent5"/>
                </a:solidFill>
              </a:rPr>
              <a:t>not</a:t>
            </a:r>
            <a:r>
              <a:rPr lang="en-GB" sz="2000">
                <a:solidFill>
                  <a:srgbClr val="222222"/>
                </a:solidFill>
              </a:rPr>
              <a:t> equal 3 </a:t>
            </a:r>
            <a:r>
              <a:rPr lang="en-GB" sz="2000"/>
              <a:t>   </a:t>
            </a:r>
            <a:endParaRPr sz="2000"/>
          </a:p>
        </p:txBody>
      </p:sp>
      <p:cxnSp>
        <p:nvCxnSpPr>
          <p:cNvPr id="1250" name="Google Shape;1250;p94"/>
          <p:cNvCxnSpPr>
            <a:endCxn id="1248" idx="1"/>
          </p:cNvCxnSpPr>
          <p:nvPr/>
        </p:nvCxnSpPr>
        <p:spPr>
          <a:xfrm flipH="1" rot="10800000">
            <a:off x="2255400" y="1855200"/>
            <a:ext cx="1114200" cy="57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5" name="Google Shape;1255;p95"/>
          <p:cNvPicPr preferRelativeResize="0"/>
          <p:nvPr/>
        </p:nvPicPr>
        <p:blipFill rotWithShape="1">
          <a:blip r:embed="rId3">
            <a:alphaModFix/>
          </a:blip>
          <a:srcRect b="0" l="4297" r="0" t="0"/>
          <a:stretch/>
        </p:blipFill>
        <p:spPr>
          <a:xfrm>
            <a:off x="324000" y="1620000"/>
            <a:ext cx="2506665" cy="3200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6" name="Google Shape;125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257" name="Google Shape;1257;p95"/>
          <p:cNvSpPr txBox="1"/>
          <p:nvPr>
            <p:ph idx="1" type="body"/>
          </p:nvPr>
        </p:nvSpPr>
        <p:spPr>
          <a:xfrm>
            <a:off x="324000" y="759300"/>
            <a:ext cx="84396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check if a coordinate is on a line by checking if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/>
              <a:t>values satisfy the rule.  </a:t>
            </a:r>
            <a:endParaRPr/>
          </a:p>
        </p:txBody>
      </p:sp>
      <p:sp>
        <p:nvSpPr>
          <p:cNvPr id="1258" name="Google Shape;1258;p95"/>
          <p:cNvSpPr txBox="1"/>
          <p:nvPr>
            <p:ph idx="1" type="body"/>
          </p:nvPr>
        </p:nvSpPr>
        <p:spPr>
          <a:xfrm>
            <a:off x="3244050" y="2648850"/>
            <a:ext cx="26571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Will the</a:t>
            </a:r>
            <a:endParaRPr/>
          </a:p>
        </p:txBody>
      </p:sp>
      <p:sp>
        <p:nvSpPr>
          <p:cNvPr id="1259" name="Google Shape;1259;p95"/>
          <p:cNvSpPr txBox="1"/>
          <p:nvPr>
            <p:ph idx="1" type="body"/>
          </p:nvPr>
        </p:nvSpPr>
        <p:spPr>
          <a:xfrm>
            <a:off x="3244050" y="3296700"/>
            <a:ext cx="2084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(6) + 1 = 13 </a:t>
            </a:r>
            <a:r>
              <a:rPr lang="en-GB" sz="2000">
                <a:solidFill>
                  <a:srgbClr val="222222"/>
                </a:solidFill>
              </a:rPr>
              <a:t> </a:t>
            </a:r>
            <a:r>
              <a:rPr lang="en-GB" sz="2000"/>
              <a:t>   </a:t>
            </a:r>
            <a:endParaRPr sz="2000"/>
          </a:p>
        </p:txBody>
      </p:sp>
      <p:sp>
        <p:nvSpPr>
          <p:cNvPr id="1260" name="Google Shape;1260;p95"/>
          <p:cNvSpPr txBox="1"/>
          <p:nvPr>
            <p:ph idx="1" type="body"/>
          </p:nvPr>
        </p:nvSpPr>
        <p:spPr>
          <a:xfrm>
            <a:off x="3244050" y="3944550"/>
            <a:ext cx="11034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Will the</a:t>
            </a:r>
            <a:endParaRPr/>
          </a:p>
        </p:txBody>
      </p:sp>
      <p:sp>
        <p:nvSpPr>
          <p:cNvPr id="1261" name="Google Shape;1261;p95"/>
          <p:cNvSpPr txBox="1"/>
          <p:nvPr>
            <p:ph idx="1" type="body"/>
          </p:nvPr>
        </p:nvSpPr>
        <p:spPr>
          <a:xfrm>
            <a:off x="3244050" y="4491700"/>
            <a:ext cx="25068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(-4) + 1 = -7 </a:t>
            </a:r>
            <a:r>
              <a:rPr lang="en-GB" sz="2000"/>
              <a:t>   </a:t>
            </a:r>
            <a:endParaRPr sz="2000"/>
          </a:p>
        </p:txBody>
      </p:sp>
      <p:cxnSp>
        <p:nvCxnSpPr>
          <p:cNvPr id="1262" name="Google Shape;1262;p95"/>
          <p:cNvCxnSpPr/>
          <p:nvPr/>
        </p:nvCxnSpPr>
        <p:spPr>
          <a:xfrm flipH="1" rot="10800000">
            <a:off x="5143489" y="2963625"/>
            <a:ext cx="1070400" cy="35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95"/>
          <p:cNvSpPr/>
          <p:nvPr/>
        </p:nvSpPr>
        <p:spPr>
          <a:xfrm>
            <a:off x="6187210" y="2675844"/>
            <a:ext cx="377400" cy="29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4" name="Google Shape;1264;p95"/>
          <p:cNvCxnSpPr/>
          <p:nvPr/>
        </p:nvCxnSpPr>
        <p:spPr>
          <a:xfrm flipH="1" rot="10800000">
            <a:off x="5328850" y="4278825"/>
            <a:ext cx="1016700" cy="27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5" name="Google Shape;1265;p95"/>
          <p:cNvSpPr/>
          <p:nvPr/>
        </p:nvSpPr>
        <p:spPr>
          <a:xfrm>
            <a:off x="6295950" y="3983161"/>
            <a:ext cx="377400" cy="29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5"/>
          <p:cNvSpPr txBox="1"/>
          <p:nvPr>
            <p:ph idx="1" type="body"/>
          </p:nvPr>
        </p:nvSpPr>
        <p:spPr>
          <a:xfrm>
            <a:off x="3244050" y="1625713"/>
            <a:ext cx="59328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Substitute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coordinate into the </a:t>
            </a:r>
            <a:r>
              <a:rPr lang="en-GB" sz="2000"/>
              <a:t>equation</a:t>
            </a:r>
            <a:r>
              <a:rPr lang="en-GB" sz="2000"/>
              <a:t> and see if it gives you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coordinate.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1267" name="Google Shape;1267;p95"/>
          <p:cNvSpPr txBox="1"/>
          <p:nvPr/>
        </p:nvSpPr>
        <p:spPr>
          <a:xfrm>
            <a:off x="5518175" y="3296700"/>
            <a:ext cx="14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so yes</a:t>
            </a:r>
            <a:endParaRPr sz="2000"/>
          </a:p>
        </p:txBody>
      </p:sp>
      <p:sp>
        <p:nvSpPr>
          <p:cNvPr id="1268" name="Google Shape;1268;p95"/>
          <p:cNvSpPr txBox="1"/>
          <p:nvPr/>
        </p:nvSpPr>
        <p:spPr>
          <a:xfrm>
            <a:off x="5518175" y="4498200"/>
            <a:ext cx="85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so no</a:t>
            </a:r>
            <a:endParaRPr sz="2000"/>
          </a:p>
        </p:txBody>
      </p:sp>
      <p:sp>
        <p:nvSpPr>
          <p:cNvPr id="1269" name="Google Shape;1269;p95"/>
          <p:cNvSpPr txBox="1"/>
          <p:nvPr>
            <p:ph idx="1" type="body"/>
          </p:nvPr>
        </p:nvSpPr>
        <p:spPr>
          <a:xfrm>
            <a:off x="5901000" y="2648850"/>
            <a:ext cx="31023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(6,13) be on the line?   </a:t>
            </a:r>
            <a:endParaRPr/>
          </a:p>
        </p:txBody>
      </p:sp>
      <p:sp>
        <p:nvSpPr>
          <p:cNvPr id="1270" name="Google Shape;1270;p95"/>
          <p:cNvSpPr txBox="1"/>
          <p:nvPr>
            <p:ph idx="1" type="body"/>
          </p:nvPr>
        </p:nvSpPr>
        <p:spPr>
          <a:xfrm>
            <a:off x="5901150" y="3944550"/>
            <a:ext cx="31023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(-4,-9) be on the line?   </a:t>
            </a:r>
            <a:endParaRPr/>
          </a:p>
        </p:txBody>
      </p:sp>
      <p:sp>
        <p:nvSpPr>
          <p:cNvPr id="1271" name="Google Shape;1271;p95"/>
          <p:cNvSpPr txBox="1"/>
          <p:nvPr>
            <p:ph idx="1" type="body"/>
          </p:nvPr>
        </p:nvSpPr>
        <p:spPr>
          <a:xfrm>
            <a:off x="4320000" y="2648850"/>
            <a:ext cx="17334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</a:t>
            </a:r>
            <a:endParaRPr/>
          </a:p>
        </p:txBody>
      </p:sp>
      <p:sp>
        <p:nvSpPr>
          <p:cNvPr id="1272" name="Google Shape;1272;p95"/>
          <p:cNvSpPr txBox="1"/>
          <p:nvPr>
            <p:ph idx="1" type="body"/>
          </p:nvPr>
        </p:nvSpPr>
        <p:spPr>
          <a:xfrm>
            <a:off x="4347425" y="3944550"/>
            <a:ext cx="16800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6"/>
          <p:cNvSpPr txBox="1"/>
          <p:nvPr>
            <p:ph type="title"/>
          </p:nvPr>
        </p:nvSpPr>
        <p:spPr>
          <a:xfrm>
            <a:off x="343650" y="1114800"/>
            <a:ext cx="8312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line </a:t>
            </a:r>
            <a:endParaRPr/>
          </a:p>
        </p:txBody>
      </p:sp>
      <p:sp>
        <p:nvSpPr>
          <p:cNvPr id="1278" name="Google Shape;1278;p9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(2, 20)</a:t>
            </a:r>
            <a:endParaRPr/>
          </a:p>
        </p:txBody>
      </p:sp>
      <p:sp>
        <p:nvSpPr>
          <p:cNvPr id="1279" name="Google Shape;1279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280" name="Google Shape;1280;p96"/>
          <p:cNvSpPr txBox="1"/>
          <p:nvPr>
            <p:ph type="title"/>
          </p:nvPr>
        </p:nvSpPr>
        <p:spPr>
          <a:xfrm>
            <a:off x="324000" y="733800"/>
            <a:ext cx="5006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coordinates are on</a:t>
            </a:r>
            <a:endParaRPr/>
          </a:p>
        </p:txBody>
      </p:sp>
      <p:sp>
        <p:nvSpPr>
          <p:cNvPr id="1281" name="Google Shape;1281;p9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(-10,-40)</a:t>
            </a:r>
            <a:endParaRPr/>
          </a:p>
        </p:txBody>
      </p:sp>
      <p:sp>
        <p:nvSpPr>
          <p:cNvPr id="1282" name="Google Shape;1282;p9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(7, 45)</a:t>
            </a:r>
            <a:endParaRPr/>
          </a:p>
        </p:txBody>
      </p:sp>
      <p:sp>
        <p:nvSpPr>
          <p:cNvPr id="1283" name="Google Shape;1283;p9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(9, 65)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5x+10&quot;&gt;&lt;mi&gt;y&lt;/mi&gt;&lt;mo&gt;=&lt;/mo&gt;&lt;mn&gt;5&lt;/mn&gt;&lt;mi&gt;x&lt;/mi&gt;&lt;mo&gt;+&lt;/mo&gt;&lt;mn&gt;10&lt;/mn&gt;&lt;/math&gt;" id="1284" name="Google Shape;1284;p96" title="y equals 5 x plus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100" y="1153150"/>
            <a:ext cx="1612900" cy="2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2483" y="168178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1453" y="247349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0206" y="329800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96"/>
          <p:cNvSpPr txBox="1"/>
          <p:nvPr>
            <p:ph type="title"/>
          </p:nvPr>
        </p:nvSpPr>
        <p:spPr>
          <a:xfrm>
            <a:off x="4327723" y="1718720"/>
            <a:ext cx="4129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(2) + 10 = 20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9" name="Google Shape;1289;p96"/>
          <p:cNvSpPr txBox="1"/>
          <p:nvPr>
            <p:ph type="title"/>
          </p:nvPr>
        </p:nvSpPr>
        <p:spPr>
          <a:xfrm>
            <a:off x="4320000" y="2520342"/>
            <a:ext cx="4129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(-10) + 10 = -40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0" name="Google Shape;1290;p96"/>
          <p:cNvSpPr txBox="1"/>
          <p:nvPr>
            <p:ph type="title"/>
          </p:nvPr>
        </p:nvSpPr>
        <p:spPr>
          <a:xfrm>
            <a:off x="4312277" y="3335310"/>
            <a:ext cx="4129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(7) + 10 = 45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1" name="Google Shape;1291;p96"/>
          <p:cNvSpPr txBox="1"/>
          <p:nvPr>
            <p:ph type="title"/>
          </p:nvPr>
        </p:nvSpPr>
        <p:spPr>
          <a:xfrm>
            <a:off x="4320000" y="4144729"/>
            <a:ext cx="4129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(9) + 10 = 55 not 65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2" name="Google Shape;1292;p96"/>
          <p:cNvSpPr txBox="1"/>
          <p:nvPr>
            <p:ph type="title"/>
          </p:nvPr>
        </p:nvSpPr>
        <p:spPr>
          <a:xfrm>
            <a:off x="3326200" y="1114800"/>
            <a:ext cx="548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298" name="Google Shape;1298;p97"/>
          <p:cNvSpPr txBox="1"/>
          <p:nvPr>
            <p:ph idx="1" type="body"/>
          </p:nvPr>
        </p:nvSpPr>
        <p:spPr>
          <a:xfrm>
            <a:off x="324000" y="737161"/>
            <a:ext cx="8237700" cy="43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</a:t>
            </a:r>
            <a:r>
              <a:rPr lang="en-GB" sz="1800"/>
              <a:t>equation</a:t>
            </a:r>
            <a:r>
              <a:rPr lang="en-GB" sz="1800"/>
              <a:t>, does the coordinate lie on the given line?                  Give a reason for your answer.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(4,18)           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(6,-12)              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(0,0)             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(25,22.5)                    </a:t>
            </a:r>
            <a:endParaRPr sz="1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(11,37) </a:t>
            </a:r>
            <a:endParaRPr sz="1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(10, 50) 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               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5x&quot;&gt;&lt;mi&gt;y&lt;/mi&gt;&lt;mo&gt;=&lt;/mo&gt;&lt;mn&gt;5&lt;/mn&gt;&lt;mi&gt;x&lt;/mi&gt;&lt;/math&gt;" id="1299" name="Google Shape;1299;p97" title="y equals 5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575" y="1508263"/>
            <a:ext cx="695618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2x&quot;&gt;&lt;mi&gt;y&lt;/mi&gt;&lt;mo&gt;=&lt;/mo&gt;&lt;mo&gt;−&lt;/mo&gt;&lt;mn&gt;2&lt;/mn&gt;&lt;mi&gt;x&lt;/mi&gt;&lt;/math&gt;" id="1300" name="Google Shape;1300;p97" title="y equals negative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1575" y="2074725"/>
            <a:ext cx="870625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.5x&quot;&gt;&lt;mi&gt;y&lt;/mi&gt;&lt;mo&gt;=&lt;/mo&gt;&lt;mn&gt;3.5&lt;/mn&gt;&lt;mi&gt;x&lt;/mi&gt;&lt;/math&gt;" id="1301" name="Google Shape;1301;p97" title="y equals 3.5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1575" y="2599884"/>
            <a:ext cx="888124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5.5&quot;&gt;&lt;mi&gt;y&lt;/mi&gt;&lt;mo&gt;=&lt;/mo&gt;&lt;mi&gt;x&lt;/mi&gt;&lt;mo&gt;−&lt;/mo&gt;&lt;mn&gt;5.5&lt;/mn&gt;&lt;/math&gt;" id="1302" name="Google Shape;1302;p97" title="y equals x minus 5.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1575" y="3174777"/>
            <a:ext cx="1172499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+4&quot;&gt;&lt;mi&gt;y&lt;/mi&gt;&lt;mo&gt;=&lt;/mo&gt;&lt;mn&gt;3&lt;/mn&gt;&lt;mi&gt;x&lt;/mi&gt;&lt;mo&gt;+&lt;/mo&gt;&lt;mn&gt;4&lt;/mn&gt;&lt;/math&gt;" id="1303" name="Google Shape;1303;p97" title="y equals 3 x plus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1575" y="3703360"/>
            <a:ext cx="1111333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5x-8&quot;&gt;&lt;mi&gt;y&lt;/mi&gt;&lt;mo&gt;=&lt;/mo&gt;&lt;mn&gt;5&lt;/mn&gt;&lt;mi&gt;x&lt;/mi&gt;&lt;mo&gt;−&lt;/mo&gt;&lt;mn&gt;8&lt;/mn&gt;&lt;/math&gt;" id="1304" name="Google Shape;1304;p97" title="y equals 5 x minus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91575" y="4243796"/>
            <a:ext cx="1111249" cy="223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98"/>
          <p:cNvSpPr txBox="1"/>
          <p:nvPr>
            <p:ph idx="1" type="body"/>
          </p:nvPr>
        </p:nvSpPr>
        <p:spPr>
          <a:xfrm>
            <a:off x="324000" y="759300"/>
            <a:ext cx="849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</a:t>
            </a:r>
            <a:r>
              <a:rPr lang="en-GB" sz="1800"/>
              <a:t>Alex has started to plot some lines.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 has plotted one point from each line but cannot remember which point goes with which line.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Match the points with the equation for the line Alex has tried to plot.</a:t>
            </a:r>
            <a:endParaRPr sz="1800"/>
          </a:p>
        </p:txBody>
      </p:sp>
      <p:sp>
        <p:nvSpPr>
          <p:cNvPr id="1310" name="Google Shape;1310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pic>
        <p:nvPicPr>
          <p:cNvPr id="1311" name="Google Shape;131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60000"/>
            <a:ext cx="3380117" cy="26604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y=20&quot;&gt;&lt;mi&gt;y&lt;/mi&gt;&lt;mo&gt;=&lt;/mo&gt;&lt;mn&gt;20&lt;/mn&gt;&lt;/math&gt;" id="1312" name="Google Shape;1312;p98" title="y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684" y="2201353"/>
            <a:ext cx="839624" cy="27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&quot;&gt;&lt;mi&gt;y&lt;/mi&gt;&lt;mo&gt;=&lt;/mo&gt;&lt;mi&gt;x&lt;/mi&gt;&lt;/math&gt;" id="1313" name="Google Shape;1313;p98" title="y equals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5684" y="2751008"/>
            <a:ext cx="786145" cy="229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1314" name="Google Shape;1314;p98" title="y equals 2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5684" y="3225885"/>
            <a:ext cx="850320" cy="27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10&quot;&gt;&lt;mi&gt;y&lt;/mi&gt;&lt;mo&gt;=&lt;/mo&gt;&lt;mi&gt;x&lt;/mi&gt;&lt;mo&gt;+&lt;/mo&gt;&lt;mn&gt;10&lt;/mn&gt;&lt;/math&gt;" id="1315" name="Google Shape;1315;p98" title="y equals x plus 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5684" y="4203278"/>
            <a:ext cx="1369069" cy="27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10&quot;&gt;&lt;mi&gt;y&lt;/mi&gt;&lt;mo&gt;=&lt;/mo&gt;&lt;mi&gt;x&lt;/mi&gt;&lt;mo&gt;−&lt;/mo&gt;&lt;mn&gt;10&lt;/mn&gt;&lt;/math&gt;" id="1316" name="Google Shape;1316;p98" title="y equals x minus 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25684" y="3704929"/>
            <a:ext cx="1369069" cy="272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7" name="Google Shape;1317;p98"/>
          <p:cNvGraphicFramePr/>
          <p:nvPr/>
        </p:nvGraphicFramePr>
        <p:xfrm>
          <a:off x="3739650" y="209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{A6D05542-3B1E-4D17-93C2-4FA6FE79AAE5}</a:tableStyleId>
              </a:tblPr>
              <a:tblGrid>
                <a:gridCol w="450500"/>
              </a:tblGrid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99"/>
          <p:cNvSpPr txBox="1"/>
          <p:nvPr>
            <p:ph idx="1" type="body"/>
          </p:nvPr>
        </p:nvSpPr>
        <p:spPr>
          <a:xfrm>
            <a:off x="324000" y="737161"/>
            <a:ext cx="8237700" cy="43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</a:t>
            </a:r>
            <a:r>
              <a:rPr lang="en-GB" sz="1800"/>
              <a:t>equation</a:t>
            </a:r>
            <a:r>
              <a:rPr lang="en-GB" sz="1800"/>
              <a:t>, does the coordinate lie on the given line?                  Give a reason for your answer.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(4,18)           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(6,-12)              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(0,0)             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(25,22.5)                    </a:t>
            </a:r>
            <a:endParaRPr sz="1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(11,37) </a:t>
            </a:r>
            <a:endParaRPr sz="100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(10, 50) 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                 </a:t>
            </a:r>
            <a:endParaRPr sz="1800"/>
          </a:p>
        </p:txBody>
      </p:sp>
      <p:sp>
        <p:nvSpPr>
          <p:cNvPr id="1323" name="Google Shape;1323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sp>
        <p:nvSpPr>
          <p:cNvPr id="1324" name="Google Shape;1324;p99"/>
          <p:cNvSpPr txBox="1"/>
          <p:nvPr>
            <p:ph idx="1" type="body"/>
          </p:nvPr>
        </p:nvSpPr>
        <p:spPr>
          <a:xfrm>
            <a:off x="3693796" y="1437290"/>
            <a:ext cx="16239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4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≠ 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5" name="Google Shape;1325;p99"/>
          <p:cNvSpPr txBox="1"/>
          <p:nvPr>
            <p:ph idx="1" type="body"/>
          </p:nvPr>
        </p:nvSpPr>
        <p:spPr>
          <a:xfrm>
            <a:off x="3693796" y="1985734"/>
            <a:ext cx="19788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 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-2 = -12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6" name="Google Shape;1326;p99"/>
          <p:cNvSpPr txBox="1"/>
          <p:nvPr>
            <p:ph idx="1" type="body"/>
          </p:nvPr>
        </p:nvSpPr>
        <p:spPr>
          <a:xfrm>
            <a:off x="3693796" y="2534178"/>
            <a:ext cx="19788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 0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3.5 = 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7" name="Google Shape;1327;p99"/>
          <p:cNvSpPr txBox="1"/>
          <p:nvPr>
            <p:ph idx="1" type="body"/>
          </p:nvPr>
        </p:nvSpPr>
        <p:spPr>
          <a:xfrm>
            <a:off x="3693796" y="3082622"/>
            <a:ext cx="2427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25 - 5.5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≠ 22.5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8" name="Google Shape;1328;p99"/>
          <p:cNvSpPr txBox="1"/>
          <p:nvPr>
            <p:ph idx="1" type="body"/>
          </p:nvPr>
        </p:nvSpPr>
        <p:spPr>
          <a:xfrm>
            <a:off x="3693796" y="3631066"/>
            <a:ext cx="22770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 11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3 + 4 = 37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9" name="Google Shape;1329;p99"/>
          <p:cNvSpPr txBox="1"/>
          <p:nvPr>
            <p:ph idx="1" type="body"/>
          </p:nvPr>
        </p:nvSpPr>
        <p:spPr>
          <a:xfrm>
            <a:off x="3693796" y="4179510"/>
            <a:ext cx="23736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10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5 - 8 ≠ 50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5x&quot;&gt;&lt;mi&gt;y&lt;/mi&gt;&lt;mo&gt;=&lt;/mo&gt;&lt;mn&gt;5&lt;/mn&gt;&lt;mi&gt;x&lt;/mi&gt;&lt;/math&gt;" id="1330" name="Google Shape;1330;p99" title="y equals 5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575" y="1508263"/>
            <a:ext cx="695618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2x&quot;&gt;&lt;mi&gt;y&lt;/mi&gt;&lt;mo&gt;=&lt;/mo&gt;&lt;mo&gt;−&lt;/mo&gt;&lt;mn&gt;2&lt;/mn&gt;&lt;mi&gt;x&lt;/mi&gt;&lt;/math&gt;" id="1331" name="Google Shape;1331;p99" title="y equals negative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1575" y="2074725"/>
            <a:ext cx="870625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.5x&quot;&gt;&lt;mi&gt;y&lt;/mi&gt;&lt;mo&gt;=&lt;/mo&gt;&lt;mn&gt;3.5&lt;/mn&gt;&lt;mi&gt;x&lt;/mi&gt;&lt;/math&gt;" id="1332" name="Google Shape;1332;p99" title="y equals 3.5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1575" y="2599884"/>
            <a:ext cx="888124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5.5&quot;&gt;&lt;mi&gt;y&lt;/mi&gt;&lt;mo&gt;=&lt;/mo&gt;&lt;mi&gt;x&lt;/mi&gt;&lt;mo&gt;−&lt;/mo&gt;&lt;mn&gt;5.5&lt;/mn&gt;&lt;/math&gt;" id="1333" name="Google Shape;1333;p99" title="y equals x minus 5.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1575" y="3174777"/>
            <a:ext cx="1172499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+4&quot;&gt;&lt;mi&gt;y&lt;/mi&gt;&lt;mo&gt;=&lt;/mo&gt;&lt;mn&gt;3&lt;/mn&gt;&lt;mi&gt;x&lt;/mi&gt;&lt;mo&gt;+&lt;/mo&gt;&lt;mn&gt;4&lt;/mn&gt;&lt;/math&gt;" id="1334" name="Google Shape;1334;p99" title="y equals 3 x plus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1575" y="3703360"/>
            <a:ext cx="1111333" cy="2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5x-8&quot;&gt;&lt;mi&gt;y&lt;/mi&gt;&lt;mo&gt;=&lt;/mo&gt;&lt;mn&gt;5&lt;/mn&gt;&lt;mi&gt;x&lt;/mi&gt;&lt;mo&gt;−&lt;/mo&gt;&lt;mn&gt;8&lt;/mn&gt;&lt;/math&gt;" id="1335" name="Google Shape;1335;p99" title="y equals 5 x minus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91575" y="4243796"/>
            <a:ext cx="1111249" cy="223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</a:t>
            </a:r>
            <a:r>
              <a:rPr lang="en-GB" sz="1800"/>
              <a:t>Alex has started to plot some lines.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 has plotted one point from each line but cannot remember which point goes with which line.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Match the points with the equation for the line Alex has tried to plot.</a:t>
            </a:r>
            <a:endParaRPr sz="1800"/>
          </a:p>
        </p:txBody>
      </p:sp>
      <p:sp>
        <p:nvSpPr>
          <p:cNvPr id="1341" name="Google Shape;1341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whether points are on a line</a:t>
            </a:r>
            <a:endParaRPr/>
          </a:p>
        </p:txBody>
      </p:sp>
      <p:pic>
        <p:nvPicPr>
          <p:cNvPr id="1342" name="Google Shape;134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60000"/>
            <a:ext cx="3380117" cy="26604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y=20&quot;&gt;&lt;mi&gt;y&lt;/mi&gt;&lt;mo&gt;=&lt;/mo&gt;&lt;mn&gt;20&lt;/mn&gt;&lt;/math&gt;" id="1343" name="Google Shape;1343;p100" title="y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684" y="2201353"/>
            <a:ext cx="839624" cy="27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&quot;&gt;&lt;mi&gt;y&lt;/mi&gt;&lt;mo&gt;=&lt;/mo&gt;&lt;mi&gt;x&lt;/mi&gt;&lt;/math&gt;" id="1344" name="Google Shape;1344;p100" title="y equals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5684" y="2751008"/>
            <a:ext cx="786145" cy="229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1345" name="Google Shape;1345;p100" title="y equals 2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5684" y="3225885"/>
            <a:ext cx="850320" cy="27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10&quot;&gt;&lt;mi&gt;y&lt;/mi&gt;&lt;mo&gt;=&lt;/mo&gt;&lt;mi&gt;x&lt;/mi&gt;&lt;mo&gt;+&lt;/mo&gt;&lt;mn&gt;10&lt;/mn&gt;&lt;/math&gt;" id="1346" name="Google Shape;1346;p100" title="y equals x plus 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5684" y="4203278"/>
            <a:ext cx="1369069" cy="27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10&quot;&gt;&lt;mi&gt;y&lt;/mi&gt;&lt;mo&gt;=&lt;/mo&gt;&lt;mi&gt;x&lt;/mi&gt;&lt;mo&gt;−&lt;/mo&gt;&lt;mn&gt;10&lt;/mn&gt;&lt;/math&gt;" id="1347" name="Google Shape;1347;p100" title="y equals x minus 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25684" y="3704929"/>
            <a:ext cx="1369069" cy="272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8" name="Google Shape;1348;p100"/>
          <p:cNvGraphicFramePr/>
          <p:nvPr/>
        </p:nvGraphicFramePr>
        <p:xfrm>
          <a:off x="3739650" y="209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{A6D05542-3B1E-4D17-93C2-4FA6FE79AAE5}</a:tableStyleId>
              </a:tblPr>
              <a:tblGrid>
                <a:gridCol w="450500"/>
              </a:tblGrid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9" name="Google Shape;1349;p100"/>
          <p:cNvSpPr txBox="1"/>
          <p:nvPr>
            <p:ph idx="1" type="body"/>
          </p:nvPr>
        </p:nvSpPr>
        <p:spPr>
          <a:xfrm>
            <a:off x="5876204" y="2683279"/>
            <a:ext cx="19875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(30,30)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0" name="Google Shape;1350;p100"/>
          <p:cNvSpPr txBox="1"/>
          <p:nvPr>
            <p:ph idx="1" type="body"/>
          </p:nvPr>
        </p:nvSpPr>
        <p:spPr>
          <a:xfrm>
            <a:off x="5876204" y="4194523"/>
            <a:ext cx="19875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(-20,-10)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1" name="Google Shape;1351;p100"/>
          <p:cNvSpPr txBox="1"/>
          <p:nvPr>
            <p:ph idx="1" type="body"/>
          </p:nvPr>
        </p:nvSpPr>
        <p:spPr>
          <a:xfrm>
            <a:off x="5876204" y="3698754"/>
            <a:ext cx="19875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(5,-5)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2" name="Google Shape;1352;p100"/>
          <p:cNvSpPr txBox="1"/>
          <p:nvPr>
            <p:ph idx="1" type="body"/>
          </p:nvPr>
        </p:nvSpPr>
        <p:spPr>
          <a:xfrm>
            <a:off x="5876204" y="3215284"/>
            <a:ext cx="19875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(15,30)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3" name="Google Shape;1353;p100"/>
          <p:cNvSpPr txBox="1"/>
          <p:nvPr>
            <p:ph idx="1" type="body"/>
          </p:nvPr>
        </p:nvSpPr>
        <p:spPr>
          <a:xfrm>
            <a:off x="5876204" y="2175433"/>
            <a:ext cx="1987500" cy="4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(-15,20)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101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line can be drawn using coordinates found following a rule.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We can identify whether points are on a line by substituting 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coordinate values into the equation for the line.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 relationship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5" name="Google Shape;1365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