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7F4DC1D-81E0-47BE-9E47-8C7D2A826903}">
  <a:tblStyle styleId="{27F4DC1D-81E0-47BE-9E47-8C7D2A82690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0" Type="http://schemas.openxmlformats.org/officeDocument/2006/relationships/slide" Target="slides/slide4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282828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8a5b3b2a7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8a5b3b2a7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28a5b3b2a77_0_7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28a5b3b2a77_0_7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28a5b3b2a77_0_7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8" name="Google Shape;778;g28a5b3b2a77_0_7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28a5b3b2a77_0_7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28a5b3b2a77_0_7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g28a5b3b2a77_0_15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9" name="Google Shape;809;g28a5b3b2a77_0_15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28a5b3b2a77_0_16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3" name="Google Shape;823;g28a5b3b2a77_0_16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28a5b3b2a77_0_16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6" name="Google Shape;836;g28a5b3b2a77_0_16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28a5b3b2a77_0_16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9" name="Google Shape;849;g28a5b3b2a77_0_16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g28a5b3b2a77_0_17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7" name="Google Shape;867;g28a5b3b2a77_0_17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28a5b3b2a77_0_17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6" name="Google Shape;896;g28a5b3b2a77_0_17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28a5b3b2a77_0_18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6" name="Google Shape;906;g28a5b3b2a77_0_18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28a5b3b2a77_0_18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28a5b3b2a77_0_18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28a5b3b2a77_0_19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0" name="Google Shape;950;g28a5b3b2a77_0_19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g28a5b3b2a77_0_19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1" name="Google Shape;961;g28a5b3b2a77_0_19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g28a5b3b2a77_0_19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2" name="Google Shape;972;g28a5b3b2a77_0_19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g28a5b3b2a77_0_19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2" name="Google Shape;982;g28a5b3b2a77_0_19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g28a5b3b2a77_0_19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3" name="Google Shape;993;g28a5b3b2a77_0_19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g28a5b3b2a77_0_20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1" name="Google Shape;1011;g28a5b3b2a77_0_20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g28a5b3b2a77_0_2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5" name="Google Shape;1025;g28a5b3b2a77_0_2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28a5b3b2a77_0_2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4" name="Google Shape;1034;g28a5b3b2a77_0_2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g28b7b8f5383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5" name="Google Shape;1045;g28b7b8f538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g28a5b3b2a77_1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2" name="Google Shape;1062;g28a5b3b2a77_1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g28a5b3b2a77_1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3" name="Google Shape;1093;g28a5b3b2a77_1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g28a5b3b2a77_1_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6" name="Google Shape;1166;g28a5b3b2a77_1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g28a5b3b2a77_1_7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3" name="Google Shape;1223;g28a5b3b2a77_1_7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g28a5b3b2a77_1_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6" name="Google Shape;1246;g28a5b3b2a77_1_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28a5b3b2a77_1_6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3" name="Google Shape;1323;g28a5b3b2a77_1_6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2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g28a5b3b2a77_1_7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4" name="Google Shape;1384;g28a5b3b2a77_1_7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g28a5b3b2a77_1_8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1" name="Google Shape;1411;g28a5b3b2a77_1_8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g28a5b3b2a77_1_8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0" name="Google Shape;1420;g28a5b3b2a77_1_8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g28a5b3b2a77_1_9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3" name="Google Shape;1433;g28a5b3b2a77_1_9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5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g28b7b8f5383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7" name="Google Shape;1457;g28b7b8f5383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g28b98cbc262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0" name="Google Shape;1480;g28b98cbc262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4" name="Shape 1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" name="Google Shape;1505;g28a5b3b2a77_1_9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6" name="Google Shape;1506;g28a5b3b2a77_1_9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9" name="Shape 1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Google Shape;1520;g28a5b3b2a77_1_1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1" name="Google Shape;1521;g28a5b3b2a77_1_1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9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g28a5b3b2a77_3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1" name="Google Shape;1531;g28a5b3b2a77_3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9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g28a5b3b2a77_3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1" name="Google Shape;1551;g28a5b3b2a77_3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3" name="Shape 1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4" name="Google Shape;1584;g28a5b3b2a77_1_1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5" name="Google Shape;1585;g28a5b3b2a77_1_1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6" name="Shape 1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g28a5b3b2a77_3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8" name="Google Shape;1598;g28a5b3b2a77_3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6" name="Shape 1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" name="Google Shape;1617;g28a5b3b2a77_3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8" name="Google Shape;1618;g28a5b3b2a77_3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0" name="Shape 1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" name="Google Shape;1651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2" name="Google Shape;1652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6" name="Shape 1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7" name="Google Shape;1657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8" name="Google Shape;1658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2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19.png"/><Relationship Id="rId4" Type="http://schemas.openxmlformats.org/officeDocument/2006/relationships/image" Target="../media/image21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2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73.png"/><Relationship Id="rId5" Type="http://schemas.openxmlformats.org/officeDocument/2006/relationships/image" Target="../media/image29.png"/><Relationship Id="rId6" Type="http://schemas.openxmlformats.org/officeDocument/2006/relationships/image" Target="../media/image31.png"/><Relationship Id="rId7" Type="http://schemas.openxmlformats.org/officeDocument/2006/relationships/image" Target="../media/image17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73.png"/><Relationship Id="rId4" Type="http://schemas.openxmlformats.org/officeDocument/2006/relationships/image" Target="../media/image24.png"/><Relationship Id="rId9" Type="http://schemas.openxmlformats.org/officeDocument/2006/relationships/image" Target="../media/image17.png"/><Relationship Id="rId5" Type="http://schemas.openxmlformats.org/officeDocument/2006/relationships/image" Target="../media/image25.png"/><Relationship Id="rId6" Type="http://schemas.openxmlformats.org/officeDocument/2006/relationships/image" Target="../media/image32.png"/><Relationship Id="rId7" Type="http://schemas.openxmlformats.org/officeDocument/2006/relationships/image" Target="../media/image29.png"/><Relationship Id="rId8" Type="http://schemas.openxmlformats.org/officeDocument/2006/relationships/image" Target="../media/image3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73.png"/><Relationship Id="rId4" Type="http://schemas.openxmlformats.org/officeDocument/2006/relationships/image" Target="../media/image28.png"/><Relationship Id="rId11" Type="http://schemas.openxmlformats.org/officeDocument/2006/relationships/image" Target="../media/image17.png"/><Relationship Id="rId10" Type="http://schemas.openxmlformats.org/officeDocument/2006/relationships/image" Target="../media/image38.png"/><Relationship Id="rId9" Type="http://schemas.openxmlformats.org/officeDocument/2006/relationships/image" Target="../media/image31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32.png"/><Relationship Id="rId8" Type="http://schemas.openxmlformats.org/officeDocument/2006/relationships/image" Target="../media/image29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4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2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6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6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6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6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9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2.png"/><Relationship Id="rId4" Type="http://schemas.openxmlformats.org/officeDocument/2006/relationships/image" Target="../media/image4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9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9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5.png"/><Relationship Id="rId4" Type="http://schemas.openxmlformats.org/officeDocument/2006/relationships/image" Target="../media/image53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4.png"/><Relationship Id="rId4" Type="http://schemas.openxmlformats.org/officeDocument/2006/relationships/image" Target="../media/image57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0.png"/><Relationship Id="rId4" Type="http://schemas.openxmlformats.org/officeDocument/2006/relationships/image" Target="../media/image5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0.png"/><Relationship Id="rId4" Type="http://schemas.openxmlformats.org/officeDocument/2006/relationships/image" Target="../media/image5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8.png"/><Relationship Id="rId4" Type="http://schemas.openxmlformats.org/officeDocument/2006/relationships/image" Target="../media/image55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0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5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5.png"/><Relationship Id="rId4" Type="http://schemas.openxmlformats.org/officeDocument/2006/relationships/image" Target="../media/image58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5.png"/><Relationship Id="rId4" Type="http://schemas.openxmlformats.org/officeDocument/2006/relationships/image" Target="../media/image58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0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62.png"/><Relationship Id="rId7" Type="http://schemas.openxmlformats.org/officeDocument/2006/relationships/image" Target="../media/image5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3.png"/><Relationship Id="rId4" Type="http://schemas.openxmlformats.org/officeDocument/2006/relationships/image" Target="../media/image67.png"/><Relationship Id="rId5" Type="http://schemas.openxmlformats.org/officeDocument/2006/relationships/image" Target="../media/image48.png"/><Relationship Id="rId6" Type="http://schemas.openxmlformats.org/officeDocument/2006/relationships/image" Target="../media/image4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8.png"/><Relationship Id="rId4" Type="http://schemas.openxmlformats.org/officeDocument/2006/relationships/image" Target="../media/image64.png"/><Relationship Id="rId5" Type="http://schemas.openxmlformats.org/officeDocument/2006/relationships/image" Target="../media/image4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6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5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5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5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5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5.png"/><Relationship Id="rId4" Type="http://schemas.openxmlformats.org/officeDocument/2006/relationships/image" Target="../media/image69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9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1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75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5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77.png"/><Relationship Id="rId4" Type="http://schemas.openxmlformats.org/officeDocument/2006/relationships/image" Target="../media/image48.png"/><Relationship Id="rId5" Type="http://schemas.openxmlformats.org/officeDocument/2006/relationships/image" Target="../media/image47.png"/><Relationship Id="rId6" Type="http://schemas.openxmlformats.org/officeDocument/2006/relationships/image" Target="../media/image72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74.png"/><Relationship Id="rId4" Type="http://schemas.openxmlformats.org/officeDocument/2006/relationships/image" Target="../media/image48.png"/><Relationship Id="rId5" Type="http://schemas.openxmlformats.org/officeDocument/2006/relationships/image" Target="../media/image47.png"/><Relationship Id="rId6" Type="http://schemas.openxmlformats.org/officeDocument/2006/relationships/image" Target="../media/image7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5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7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77.png"/><Relationship Id="rId4" Type="http://schemas.openxmlformats.org/officeDocument/2006/relationships/image" Target="../media/image48.png"/><Relationship Id="rId5" Type="http://schemas.openxmlformats.org/officeDocument/2006/relationships/image" Target="../media/image47.png"/><Relationship Id="rId6" Type="http://schemas.openxmlformats.org/officeDocument/2006/relationships/image" Target="../media/image7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74.png"/><Relationship Id="rId4" Type="http://schemas.openxmlformats.org/officeDocument/2006/relationships/image" Target="../media/image48.png"/><Relationship Id="rId5" Type="http://schemas.openxmlformats.org/officeDocument/2006/relationships/image" Target="../media/image47.png"/><Relationship Id="rId6" Type="http://schemas.openxmlformats.org/officeDocument/2006/relationships/image" Target="../media/image7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7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plotting coordinates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coordinates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plot coordinates in any quadrant.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2" type="subTitle"/>
          </p:nvPr>
        </p:nvSpPr>
        <p:spPr>
          <a:xfrm>
            <a:off x="324000" y="1123788"/>
            <a:ext cx="8496000" cy="110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 </a:t>
            </a:r>
            <a:r>
              <a:rPr lang="en-GB" sz="2000"/>
              <a:t>quadrant </a:t>
            </a:r>
            <a:r>
              <a:rPr lang="en-GB" sz="2000"/>
              <a:t>is any one of the four areas into which a space is divided by 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and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 axes in the Cartesian coordinate system.</a:t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6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coordinates in all four quadrants</a:t>
            </a:r>
            <a:endParaRPr/>
          </a:p>
        </p:txBody>
      </p:sp>
      <p:sp>
        <p:nvSpPr>
          <p:cNvPr id="772" name="Google Shape;772;p6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Drawing axes</a:t>
            </a:r>
            <a:endParaRPr/>
          </a:p>
        </p:txBody>
      </p:sp>
      <p:sp>
        <p:nvSpPr>
          <p:cNvPr id="773" name="Google Shape;773;p6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shapes in all four quadrants</a:t>
            </a:r>
            <a:endParaRPr/>
          </a:p>
        </p:txBody>
      </p:sp>
      <p:sp>
        <p:nvSpPr>
          <p:cNvPr id="774" name="Google Shape;774;p6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plotting coordinates</a:t>
            </a:r>
            <a:endParaRPr/>
          </a:p>
        </p:txBody>
      </p:sp>
      <p:pic>
        <p:nvPicPr>
          <p:cNvPr id="775" name="Google Shape;775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120" y="1748716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69"/>
          <p:cNvSpPr txBox="1"/>
          <p:nvPr>
            <p:ph idx="1" type="body"/>
          </p:nvPr>
        </p:nvSpPr>
        <p:spPr>
          <a:xfrm>
            <a:off x="324000" y="759300"/>
            <a:ext cx="82377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is a </a:t>
            </a:r>
            <a:r>
              <a:rPr b="1" lang="en-GB"/>
              <a:t>quadrant</a:t>
            </a:r>
            <a:r>
              <a:rPr lang="en-GB"/>
              <a:t>?</a:t>
            </a:r>
            <a:endParaRPr/>
          </a:p>
        </p:txBody>
      </p:sp>
      <p:sp>
        <p:nvSpPr>
          <p:cNvPr id="781" name="Google Shape;781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coordinates in all four quadrants</a:t>
            </a:r>
            <a:endParaRPr/>
          </a:p>
        </p:txBody>
      </p:sp>
      <p:sp>
        <p:nvSpPr>
          <p:cNvPr id="782" name="Google Shape;782;p69"/>
          <p:cNvSpPr txBox="1"/>
          <p:nvPr>
            <p:ph idx="1" type="body"/>
          </p:nvPr>
        </p:nvSpPr>
        <p:spPr>
          <a:xfrm>
            <a:off x="324000" y="1384140"/>
            <a:ext cx="82377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other ‘quad’ words do we know?</a:t>
            </a:r>
            <a:endParaRPr/>
          </a:p>
        </p:txBody>
      </p:sp>
      <p:sp>
        <p:nvSpPr>
          <p:cNvPr id="783" name="Google Shape;783;p69"/>
          <p:cNvSpPr txBox="1"/>
          <p:nvPr>
            <p:ph idx="1" type="body"/>
          </p:nvPr>
        </p:nvSpPr>
        <p:spPr>
          <a:xfrm>
            <a:off x="324000" y="2008980"/>
            <a:ext cx="23175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Q</a:t>
            </a:r>
            <a:r>
              <a:rPr lang="en-GB"/>
              <a:t>uadrilateral</a:t>
            </a:r>
            <a:endParaRPr/>
          </a:p>
        </p:txBody>
      </p:sp>
      <p:sp>
        <p:nvSpPr>
          <p:cNvPr id="784" name="Google Shape;784;p69"/>
          <p:cNvSpPr txBox="1"/>
          <p:nvPr>
            <p:ph idx="1" type="body"/>
          </p:nvPr>
        </p:nvSpPr>
        <p:spPr>
          <a:xfrm>
            <a:off x="324000" y="2633820"/>
            <a:ext cx="23175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Quad-bike</a:t>
            </a:r>
            <a:endParaRPr/>
          </a:p>
        </p:txBody>
      </p:sp>
      <p:sp>
        <p:nvSpPr>
          <p:cNvPr id="785" name="Google Shape;785;p69"/>
          <p:cNvSpPr txBox="1"/>
          <p:nvPr>
            <p:ph idx="1" type="body"/>
          </p:nvPr>
        </p:nvSpPr>
        <p:spPr>
          <a:xfrm>
            <a:off x="324000" y="3258660"/>
            <a:ext cx="23175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Quadruped</a:t>
            </a:r>
            <a:endParaRPr/>
          </a:p>
        </p:txBody>
      </p:sp>
      <p:sp>
        <p:nvSpPr>
          <p:cNvPr id="786" name="Google Shape;786;p69"/>
          <p:cNvSpPr txBox="1"/>
          <p:nvPr>
            <p:ph idx="1" type="body"/>
          </p:nvPr>
        </p:nvSpPr>
        <p:spPr>
          <a:xfrm>
            <a:off x="324000" y="3883500"/>
            <a:ext cx="82377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does the ‘quad’ tell us?</a:t>
            </a:r>
            <a:endParaRPr/>
          </a:p>
        </p:txBody>
      </p:sp>
      <p:sp>
        <p:nvSpPr>
          <p:cNvPr id="787" name="Google Shape;787;p69"/>
          <p:cNvSpPr txBox="1"/>
          <p:nvPr>
            <p:ph idx="1" type="body"/>
          </p:nvPr>
        </p:nvSpPr>
        <p:spPr>
          <a:xfrm>
            <a:off x="2914800" y="2008980"/>
            <a:ext cx="23175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accent4"/>
                </a:solidFill>
              </a:rPr>
              <a:t>Four</a:t>
            </a:r>
            <a:r>
              <a:rPr lang="en-GB"/>
              <a:t> sides</a:t>
            </a:r>
            <a:endParaRPr/>
          </a:p>
        </p:txBody>
      </p:sp>
      <p:sp>
        <p:nvSpPr>
          <p:cNvPr id="788" name="Google Shape;788;p69"/>
          <p:cNvSpPr txBox="1"/>
          <p:nvPr>
            <p:ph idx="1" type="body"/>
          </p:nvPr>
        </p:nvSpPr>
        <p:spPr>
          <a:xfrm>
            <a:off x="2914800" y="2633820"/>
            <a:ext cx="23175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accent4"/>
                </a:solidFill>
              </a:rPr>
              <a:t>Four </a:t>
            </a:r>
            <a:r>
              <a:rPr lang="en-GB"/>
              <a:t>wheels</a:t>
            </a:r>
            <a:endParaRPr/>
          </a:p>
        </p:txBody>
      </p:sp>
      <p:sp>
        <p:nvSpPr>
          <p:cNvPr id="789" name="Google Shape;789;p69"/>
          <p:cNvSpPr txBox="1"/>
          <p:nvPr>
            <p:ph idx="1" type="body"/>
          </p:nvPr>
        </p:nvSpPr>
        <p:spPr>
          <a:xfrm>
            <a:off x="2914800" y="3258660"/>
            <a:ext cx="2317500" cy="43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solidFill>
                  <a:schemeClr val="accent4"/>
                </a:solidFill>
              </a:rPr>
              <a:t>Four</a:t>
            </a:r>
            <a:r>
              <a:rPr lang="en-GB"/>
              <a:t> feet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Plotting coordinates in all four quadrants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09-10-2023/1c570d2c-911f-4621-a0b6-c5cb2765ad39&quot; data-equatio-type=&quot;desmos&quot;&gt;&lt;mglyph src=&quot;https://equatio-api.texthelp.com/desmos/get/09-10-2023/1c570d2c-911f-4621-a0b6-c5cb2765ad39&quot; alt=&quot;Equatio Desmos Graph&quot;/&gt;&lt;/math&gt;" id="795" name="Google Shape;795;p70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659" y="1076151"/>
            <a:ext cx="3989342" cy="3731568"/>
          </a:xfrm>
          <a:prstGeom prst="rect">
            <a:avLst/>
          </a:prstGeom>
          <a:noFill/>
          <a:ln>
            <a:noFill/>
          </a:ln>
        </p:spPr>
      </p:pic>
      <p:sp>
        <p:nvSpPr>
          <p:cNvPr id="796" name="Google Shape;796;p70"/>
          <p:cNvSpPr txBox="1"/>
          <p:nvPr>
            <p:ph idx="1" type="body"/>
          </p:nvPr>
        </p:nvSpPr>
        <p:spPr>
          <a:xfrm>
            <a:off x="4787200" y="803109"/>
            <a:ext cx="3575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</a:t>
            </a:r>
            <a:r>
              <a:rPr lang="en-GB" sz="2000"/>
              <a:t>Cartesian Coordinate Grid system.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y&quot;&gt;&lt;mi&gt;y&lt;/mi&gt;&lt;/math&gt;" id="797" name="Google Shape;797;p70" title="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60555" y="858000"/>
            <a:ext cx="173522" cy="237509"/>
          </a:xfrm>
          <a:prstGeom prst="rect">
            <a:avLst/>
          </a:prstGeom>
          <a:noFill/>
          <a:ln>
            <a:noFill/>
          </a:ln>
        </p:spPr>
      </p:pic>
      <p:sp>
        <p:nvSpPr>
          <p:cNvPr id="798" name="Google Shape;798;p70"/>
          <p:cNvSpPr/>
          <p:nvPr/>
        </p:nvSpPr>
        <p:spPr>
          <a:xfrm>
            <a:off x="2771232" y="1693590"/>
            <a:ext cx="1150200" cy="593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The first </a:t>
            </a:r>
            <a:r>
              <a:rPr b="1"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quadrant</a:t>
            </a:r>
            <a:endParaRPr b="1" sz="24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9" name="Google Shape;799;p70"/>
          <p:cNvSpPr txBox="1"/>
          <p:nvPr>
            <p:ph idx="1" type="body"/>
          </p:nvPr>
        </p:nvSpPr>
        <p:spPr>
          <a:xfrm>
            <a:off x="4787200" y="1641309"/>
            <a:ext cx="3575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We think of it in terms of its four </a:t>
            </a:r>
            <a:r>
              <a:rPr lang="en-GB" sz="2000">
                <a:solidFill>
                  <a:schemeClr val="accent4"/>
                </a:solidFill>
              </a:rPr>
              <a:t>quadrants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800" name="Google Shape;800;p70"/>
          <p:cNvSpPr/>
          <p:nvPr/>
        </p:nvSpPr>
        <p:spPr>
          <a:xfrm>
            <a:off x="574057" y="1693590"/>
            <a:ext cx="1331400" cy="593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The second </a:t>
            </a:r>
            <a:r>
              <a:rPr b="1"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quadrant</a:t>
            </a:r>
            <a:endParaRPr b="1" sz="24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1" name="Google Shape;801;p70"/>
          <p:cNvSpPr/>
          <p:nvPr/>
        </p:nvSpPr>
        <p:spPr>
          <a:xfrm>
            <a:off x="574057" y="3533302"/>
            <a:ext cx="1331400" cy="593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The third </a:t>
            </a:r>
            <a:r>
              <a:rPr b="1"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quadrant</a:t>
            </a:r>
            <a:endParaRPr b="1" sz="24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2" name="Google Shape;802;p70"/>
          <p:cNvSpPr/>
          <p:nvPr/>
        </p:nvSpPr>
        <p:spPr>
          <a:xfrm>
            <a:off x="2776807" y="3533302"/>
            <a:ext cx="1331400" cy="593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The fourth </a:t>
            </a:r>
            <a:r>
              <a:rPr b="1"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quadrant</a:t>
            </a:r>
            <a:endParaRPr b="1" sz="2400">
              <a:solidFill>
                <a:schemeClr val="accent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x&quot;&gt;&lt;mi&gt;x&lt;/mi&gt;&lt;/math&gt;" id="803" name="Google Shape;803;p70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70165" y="2948747"/>
            <a:ext cx="168075" cy="153460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70"/>
          <p:cNvSpPr txBox="1"/>
          <p:nvPr>
            <p:ph idx="1" type="body"/>
          </p:nvPr>
        </p:nvSpPr>
        <p:spPr>
          <a:xfrm>
            <a:off x="4824000" y="2700002"/>
            <a:ext cx="3575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So what is the difference between the </a:t>
            </a:r>
            <a:r>
              <a:rPr lang="en-GB" sz="2000">
                <a:solidFill>
                  <a:schemeClr val="accent4"/>
                </a:solidFill>
              </a:rPr>
              <a:t>quadrants</a:t>
            </a:r>
            <a:r>
              <a:rPr lang="en-GB" sz="2000"/>
              <a:t>?</a:t>
            </a:r>
            <a:endParaRPr sz="2000"/>
          </a:p>
        </p:txBody>
      </p:sp>
      <p:sp>
        <p:nvSpPr>
          <p:cNvPr id="805" name="Google Shape;805;p70"/>
          <p:cNvSpPr/>
          <p:nvPr/>
        </p:nvSpPr>
        <p:spPr>
          <a:xfrm>
            <a:off x="4843398" y="3696066"/>
            <a:ext cx="33531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Let’s consider the </a:t>
            </a:r>
            <a:r>
              <a:rPr i="1" lang="en-GB" sz="28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axis for a moment.</a:t>
            </a:r>
            <a:endParaRPr sz="2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06" name="Google Shape;806;p70"/>
          <p:cNvCxnSpPr/>
          <p:nvPr/>
        </p:nvCxnSpPr>
        <p:spPr>
          <a:xfrm flipH="1" rot="10800000">
            <a:off x="225319" y="2944547"/>
            <a:ext cx="4260300" cy="660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med" w="med" type="stealth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10-10-2023/d515a0d6-27ad-43ed-9798-b1a296222b37&quot; data-equatio-type=&quot;desmos&quot;&gt;&lt;mglyph src=&quot;https://equatio-api.texthelp.com/desmos/get/10-10-2023/d515a0d6-27ad-43ed-9798-b1a296222b37&quot; alt=&quot;Equatio Desmos Graph&quot;/&gt;&lt;/math&gt;" id="811" name="Google Shape;811;p71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1825" y="798770"/>
            <a:ext cx="4424314" cy="35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2" name="Google Shape;812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Plotting coordinates in all four quadrants</a:t>
            </a:r>
            <a:endParaRPr/>
          </a:p>
        </p:txBody>
      </p:sp>
      <p:sp>
        <p:nvSpPr>
          <p:cNvPr id="813" name="Google Shape;813;p71"/>
          <p:cNvSpPr txBox="1"/>
          <p:nvPr>
            <p:ph idx="1" type="body"/>
          </p:nvPr>
        </p:nvSpPr>
        <p:spPr>
          <a:xfrm>
            <a:off x="324000" y="1028002"/>
            <a:ext cx="3575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</a:t>
            </a:r>
            <a:r>
              <a:rPr lang="en-GB" sz="2000"/>
              <a:t>hat is the difference between these two points?</a:t>
            </a:r>
            <a:endParaRPr sz="2000"/>
          </a:p>
        </p:txBody>
      </p:sp>
      <p:sp>
        <p:nvSpPr>
          <p:cNvPr id="814" name="Google Shape;814;p71"/>
          <p:cNvSpPr/>
          <p:nvPr/>
        </p:nvSpPr>
        <p:spPr>
          <a:xfrm>
            <a:off x="5362027" y="3598600"/>
            <a:ext cx="2894400" cy="593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One is plotted in the positive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direction.</a:t>
            </a:r>
            <a:endParaRPr b="1" sz="2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5" name="Google Shape;815;p71"/>
          <p:cNvSpPr txBox="1"/>
          <p:nvPr>
            <p:ph idx="1" type="body"/>
          </p:nvPr>
        </p:nvSpPr>
        <p:spPr>
          <a:xfrm>
            <a:off x="6115200" y="2399600"/>
            <a:ext cx="300900" cy="3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</a:rPr>
              <a:t>✖</a:t>
            </a:r>
            <a:endParaRPr sz="2000">
              <a:solidFill>
                <a:schemeClr val="accent4"/>
              </a:solidFill>
            </a:endParaRPr>
          </a:p>
        </p:txBody>
      </p:sp>
      <p:sp>
        <p:nvSpPr>
          <p:cNvPr id="816" name="Google Shape;816;p71"/>
          <p:cNvSpPr txBox="1"/>
          <p:nvPr>
            <p:ph idx="1" type="body"/>
          </p:nvPr>
        </p:nvSpPr>
        <p:spPr>
          <a:xfrm>
            <a:off x="2914800" y="2399600"/>
            <a:ext cx="300900" cy="36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4"/>
                </a:solidFill>
              </a:rPr>
              <a:t>✖</a:t>
            </a:r>
            <a:endParaRPr sz="2000">
              <a:solidFill>
                <a:schemeClr val="accent4"/>
              </a:solidFill>
            </a:endParaRPr>
          </a:p>
        </p:txBody>
      </p:sp>
      <p:cxnSp>
        <p:nvCxnSpPr>
          <p:cNvPr id="817" name="Google Shape;817;p71"/>
          <p:cNvCxnSpPr/>
          <p:nvPr/>
        </p:nvCxnSpPr>
        <p:spPr>
          <a:xfrm>
            <a:off x="4605350" y="2551945"/>
            <a:ext cx="1581300" cy="30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8" name="Google Shape;818;p71"/>
          <p:cNvCxnSpPr/>
          <p:nvPr/>
        </p:nvCxnSpPr>
        <p:spPr>
          <a:xfrm flipH="1">
            <a:off x="3016380" y="2551945"/>
            <a:ext cx="1581300" cy="30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19" name="Google Shape;819;p71"/>
          <p:cNvSpPr/>
          <p:nvPr/>
        </p:nvSpPr>
        <p:spPr>
          <a:xfrm>
            <a:off x="1399627" y="3598600"/>
            <a:ext cx="2894400" cy="593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One is plotted in the negative </a:t>
            </a:r>
            <a:r>
              <a:rPr i="1" lang="en-GB" sz="2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direction.</a:t>
            </a:r>
            <a:endParaRPr b="1" sz="2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x&quot;&gt;&lt;mi&gt;x&lt;/mi&gt;&lt;/math&gt;" id="820" name="Google Shape;820;p71" title="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41183" y="2632717"/>
            <a:ext cx="168075" cy="1534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Plotting coordinates in all four quadrants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09-10-2023/1c570d2c-911f-4621-a0b6-c5cb2765ad39&quot; data-equatio-type=&quot;desmos&quot;&gt;&lt;mglyph src=&quot;https://equatio-api.texthelp.com/desmos/get/09-10-2023/1c570d2c-911f-4621-a0b6-c5cb2765ad39&quot; alt=&quot;Equatio Desmos Graph&quot;/&gt;&lt;/math&gt;" id="826" name="Google Shape;826;p72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4059" y="1076151"/>
            <a:ext cx="3989342" cy="3731568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72"/>
          <p:cNvSpPr txBox="1"/>
          <p:nvPr>
            <p:ph idx="1" type="body"/>
          </p:nvPr>
        </p:nvSpPr>
        <p:spPr>
          <a:xfrm>
            <a:off x="5087175" y="866775"/>
            <a:ext cx="37284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Where would we put these labels on our four quadrants?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y&quot;&gt;&lt;mi&gt;y&lt;/mi&gt;&lt;/math&gt;" id="828" name="Google Shape;828;p72" title="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93955" y="858000"/>
            <a:ext cx="173522" cy="2375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829" name="Google Shape;829;p72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27365" y="2948747"/>
            <a:ext cx="168075" cy="153460"/>
          </a:xfrm>
          <a:prstGeom prst="rect">
            <a:avLst/>
          </a:prstGeom>
          <a:noFill/>
          <a:ln>
            <a:noFill/>
          </a:ln>
        </p:spPr>
      </p:pic>
      <p:sp>
        <p:nvSpPr>
          <p:cNvPr id="830" name="Google Shape;830;p72"/>
          <p:cNvSpPr/>
          <p:nvPr/>
        </p:nvSpPr>
        <p:spPr>
          <a:xfrm>
            <a:off x="5404550" y="2432475"/>
            <a:ext cx="2369700" cy="7275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Positive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direction,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Negative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direction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1" name="Google Shape;831;p72"/>
          <p:cNvSpPr/>
          <p:nvPr/>
        </p:nvSpPr>
        <p:spPr>
          <a:xfrm>
            <a:off x="5404550" y="4103400"/>
            <a:ext cx="2369700" cy="7044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Nega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tive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direction,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Negative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direction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2" name="Google Shape;832;p72"/>
          <p:cNvSpPr/>
          <p:nvPr/>
        </p:nvSpPr>
        <p:spPr>
          <a:xfrm>
            <a:off x="5404550" y="1624925"/>
            <a:ext cx="2369700" cy="7275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Positive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direction,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Positive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direction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3" name="Google Shape;833;p72"/>
          <p:cNvSpPr/>
          <p:nvPr/>
        </p:nvSpPr>
        <p:spPr>
          <a:xfrm>
            <a:off x="5404500" y="3240025"/>
            <a:ext cx="2369700" cy="7527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Negative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direction,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Positive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direction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Plotting coordinates in all four quadrants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09-10-2023/1c570d2c-911f-4621-a0b6-c5cb2765ad39&quot; data-equatio-type=&quot;desmos&quot;&gt;&lt;mglyph src=&quot;https://equatio-api.texthelp.com/desmos/get/09-10-2023/1c570d2c-911f-4621-a0b6-c5cb2765ad39&quot; alt=&quot;Equatio Desmos Graph&quot;/&gt;&lt;/math&gt;" id="839" name="Google Shape;839;p73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4059" y="1076151"/>
            <a:ext cx="3989342" cy="3731568"/>
          </a:xfrm>
          <a:prstGeom prst="rect">
            <a:avLst/>
          </a:prstGeom>
          <a:noFill/>
          <a:ln>
            <a:noFill/>
          </a:ln>
        </p:spPr>
      </p:pic>
      <p:sp>
        <p:nvSpPr>
          <p:cNvPr id="840" name="Google Shape;840;p73"/>
          <p:cNvSpPr txBox="1"/>
          <p:nvPr>
            <p:ph idx="1" type="body"/>
          </p:nvPr>
        </p:nvSpPr>
        <p:spPr>
          <a:xfrm>
            <a:off x="5087175" y="1095375"/>
            <a:ext cx="37284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Where would we put these labels on our four quadrants?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y&quot;&gt;&lt;mi&gt;y&lt;/mi&gt;&lt;/math&gt;" id="841" name="Google Shape;841;p73" title="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93955" y="858000"/>
            <a:ext cx="173522" cy="2375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842" name="Google Shape;842;p73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27365" y="2948747"/>
            <a:ext cx="168075" cy="153460"/>
          </a:xfrm>
          <a:prstGeom prst="rect">
            <a:avLst/>
          </a:prstGeom>
          <a:noFill/>
          <a:ln>
            <a:noFill/>
          </a:ln>
        </p:spPr>
      </p:pic>
      <p:sp>
        <p:nvSpPr>
          <p:cNvPr id="843" name="Google Shape;843;p73"/>
          <p:cNvSpPr/>
          <p:nvPr/>
        </p:nvSpPr>
        <p:spPr>
          <a:xfrm>
            <a:off x="2966150" y="3468650"/>
            <a:ext cx="2369700" cy="7428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Positive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direction,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Negative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direction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4" name="Google Shape;844;p73"/>
          <p:cNvSpPr/>
          <p:nvPr/>
        </p:nvSpPr>
        <p:spPr>
          <a:xfrm>
            <a:off x="260125" y="1792250"/>
            <a:ext cx="2430900" cy="7428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Negative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direction,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Positive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direction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5" name="Google Shape;845;p73"/>
          <p:cNvSpPr/>
          <p:nvPr/>
        </p:nvSpPr>
        <p:spPr>
          <a:xfrm>
            <a:off x="321600" y="3468650"/>
            <a:ext cx="2369700" cy="7428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Negative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direction,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Negative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direction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6" name="Google Shape;846;p73"/>
          <p:cNvSpPr/>
          <p:nvPr/>
        </p:nvSpPr>
        <p:spPr>
          <a:xfrm>
            <a:off x="2966150" y="1792250"/>
            <a:ext cx="2222100" cy="7428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Positive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direction,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Positive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direction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74"/>
          <p:cNvSpPr txBox="1"/>
          <p:nvPr>
            <p:ph idx="1" type="body"/>
          </p:nvPr>
        </p:nvSpPr>
        <p:spPr>
          <a:xfrm>
            <a:off x="324000" y="759300"/>
            <a:ext cx="6281700" cy="55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Match the quadrant to the correct description of the coordinates.</a:t>
            </a:r>
            <a:endParaRPr sz="2000"/>
          </a:p>
        </p:txBody>
      </p:sp>
      <p:sp>
        <p:nvSpPr>
          <p:cNvPr id="852" name="Google Shape;852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Plotting coordinates in all four quadrants</a:t>
            </a:r>
            <a:endParaRPr/>
          </a:p>
        </p:txBody>
      </p:sp>
      <p:sp>
        <p:nvSpPr>
          <p:cNvPr id="853" name="Google Shape;853;p74"/>
          <p:cNvSpPr txBox="1"/>
          <p:nvPr>
            <p:ph idx="1" type="body"/>
          </p:nvPr>
        </p:nvSpPr>
        <p:spPr>
          <a:xfrm>
            <a:off x="4819800" y="1311900"/>
            <a:ext cx="3270300" cy="66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Negative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coordinate, positive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 coordinate.</a:t>
            </a:r>
            <a:endParaRPr sz="2000"/>
          </a:p>
        </p:txBody>
      </p:sp>
      <p:sp>
        <p:nvSpPr>
          <p:cNvPr id="854" name="Google Shape;854;p74"/>
          <p:cNvSpPr txBox="1"/>
          <p:nvPr>
            <p:ph idx="1" type="body"/>
          </p:nvPr>
        </p:nvSpPr>
        <p:spPr>
          <a:xfrm>
            <a:off x="4824300" y="3165500"/>
            <a:ext cx="3045600" cy="66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Positive</a:t>
            </a:r>
            <a:r>
              <a:rPr lang="en-GB" sz="2000"/>
              <a:t>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</a:t>
            </a:r>
            <a:r>
              <a:rPr lang="en-GB" sz="2000"/>
              <a:t>coordinate</a:t>
            </a:r>
            <a:r>
              <a:rPr lang="en-GB" sz="2000"/>
              <a:t>, negative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 </a:t>
            </a:r>
            <a:r>
              <a:rPr lang="en-GB" sz="2000"/>
              <a:t>coordinate</a:t>
            </a:r>
            <a:endParaRPr b="1" sz="2000"/>
          </a:p>
        </p:txBody>
      </p:sp>
      <p:sp>
        <p:nvSpPr>
          <p:cNvPr id="855" name="Google Shape;855;p74"/>
          <p:cNvSpPr txBox="1"/>
          <p:nvPr>
            <p:ph idx="1" type="body"/>
          </p:nvPr>
        </p:nvSpPr>
        <p:spPr>
          <a:xfrm>
            <a:off x="4824300" y="4055100"/>
            <a:ext cx="3045600" cy="66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Positive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</a:t>
            </a:r>
            <a:r>
              <a:rPr lang="en-GB" sz="2000"/>
              <a:t>coordinate</a:t>
            </a:r>
            <a:r>
              <a:rPr lang="en-GB" sz="2000"/>
              <a:t>, positive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 </a:t>
            </a:r>
            <a:r>
              <a:rPr lang="en-GB" sz="2000"/>
              <a:t>coordinate</a:t>
            </a:r>
            <a:endParaRPr sz="2000"/>
          </a:p>
        </p:txBody>
      </p:sp>
      <p:sp>
        <p:nvSpPr>
          <p:cNvPr id="856" name="Google Shape;856;p74"/>
          <p:cNvSpPr txBox="1"/>
          <p:nvPr>
            <p:ph idx="1" type="body"/>
          </p:nvPr>
        </p:nvSpPr>
        <p:spPr>
          <a:xfrm>
            <a:off x="781200" y="1597500"/>
            <a:ext cx="1977600" cy="32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1st quadrant</a:t>
            </a:r>
            <a:endParaRPr sz="2000"/>
          </a:p>
        </p:txBody>
      </p:sp>
      <p:sp>
        <p:nvSpPr>
          <p:cNvPr id="857" name="Google Shape;857;p74"/>
          <p:cNvSpPr txBox="1"/>
          <p:nvPr>
            <p:ph idx="1" type="body"/>
          </p:nvPr>
        </p:nvSpPr>
        <p:spPr>
          <a:xfrm>
            <a:off x="781200" y="2458050"/>
            <a:ext cx="1977600" cy="32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2nd quadrant</a:t>
            </a:r>
            <a:endParaRPr sz="2000"/>
          </a:p>
        </p:txBody>
      </p:sp>
      <p:sp>
        <p:nvSpPr>
          <p:cNvPr id="858" name="Google Shape;858;p74"/>
          <p:cNvSpPr txBox="1"/>
          <p:nvPr>
            <p:ph idx="1" type="body"/>
          </p:nvPr>
        </p:nvSpPr>
        <p:spPr>
          <a:xfrm>
            <a:off x="781200" y="3318600"/>
            <a:ext cx="1977600" cy="32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3rd quadrant</a:t>
            </a:r>
            <a:endParaRPr sz="2000"/>
          </a:p>
        </p:txBody>
      </p:sp>
      <p:sp>
        <p:nvSpPr>
          <p:cNvPr id="859" name="Google Shape;859;p74"/>
          <p:cNvSpPr txBox="1"/>
          <p:nvPr>
            <p:ph idx="1" type="body"/>
          </p:nvPr>
        </p:nvSpPr>
        <p:spPr>
          <a:xfrm>
            <a:off x="781200" y="4179150"/>
            <a:ext cx="1977600" cy="32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4th quadrant</a:t>
            </a:r>
            <a:endParaRPr sz="2000"/>
          </a:p>
        </p:txBody>
      </p:sp>
      <p:sp>
        <p:nvSpPr>
          <p:cNvPr id="860" name="Google Shape;860;p74"/>
          <p:cNvSpPr txBox="1"/>
          <p:nvPr>
            <p:ph idx="1" type="body"/>
          </p:nvPr>
        </p:nvSpPr>
        <p:spPr>
          <a:xfrm>
            <a:off x="4824300" y="2238707"/>
            <a:ext cx="3045600" cy="66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Negative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</a:t>
            </a:r>
            <a:r>
              <a:rPr lang="en-GB" sz="2000"/>
              <a:t>coordinate</a:t>
            </a:r>
            <a:r>
              <a:rPr lang="en-GB" sz="2000"/>
              <a:t>, negative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 </a:t>
            </a:r>
            <a:r>
              <a:rPr lang="en-GB" sz="2000"/>
              <a:t>coordinate</a:t>
            </a:r>
            <a:endParaRPr sz="2000"/>
          </a:p>
        </p:txBody>
      </p:sp>
      <p:cxnSp>
        <p:nvCxnSpPr>
          <p:cNvPr id="861" name="Google Shape;861;p74"/>
          <p:cNvCxnSpPr>
            <a:stCxn id="856" idx="3"/>
            <a:endCxn id="855" idx="1"/>
          </p:cNvCxnSpPr>
          <p:nvPr/>
        </p:nvCxnSpPr>
        <p:spPr>
          <a:xfrm>
            <a:off x="2758800" y="1758600"/>
            <a:ext cx="2065500" cy="26283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2" name="Google Shape;862;p74"/>
          <p:cNvCxnSpPr>
            <a:stCxn id="857" idx="3"/>
            <a:endCxn id="853" idx="1"/>
          </p:cNvCxnSpPr>
          <p:nvPr/>
        </p:nvCxnSpPr>
        <p:spPr>
          <a:xfrm flipH="1" rot="10800000">
            <a:off x="2758800" y="1643550"/>
            <a:ext cx="2061000" cy="975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3" name="Google Shape;863;p74"/>
          <p:cNvCxnSpPr>
            <a:stCxn id="858" idx="3"/>
          </p:cNvCxnSpPr>
          <p:nvPr/>
        </p:nvCxnSpPr>
        <p:spPr>
          <a:xfrm flipH="1" rot="10800000">
            <a:off x="2758800" y="2730000"/>
            <a:ext cx="2065500" cy="7497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4" name="Google Shape;864;p74"/>
          <p:cNvCxnSpPr>
            <a:stCxn id="859" idx="3"/>
            <a:endCxn id="854" idx="1"/>
          </p:cNvCxnSpPr>
          <p:nvPr/>
        </p:nvCxnSpPr>
        <p:spPr>
          <a:xfrm flipH="1" rot="10800000">
            <a:off x="2758800" y="3497250"/>
            <a:ext cx="2065500" cy="8430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10-10-2023/9dca2375-075f-4721-bad9-e6890ce7b38e&quot; data-equatio-type=&quot;desmos&quot;&gt;&lt;mglyph src=&quot;https://equatio-api.texthelp.com/desmos/get/10-10-2023/9dca2375-075f-4721-bad9-e6890ce7b38e&quot; alt=&quot;Equatio Desmos Graph&quot;/&gt;&lt;/math&gt;" id="869" name="Google Shape;869;p75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030" y="1095500"/>
            <a:ext cx="3989350" cy="3743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0-10-2023/c8d344e3-0498-4597-8aac-a56ac87b25d2&quot; data-equatio-type=&quot;desmos&quot;&gt;&lt;mglyph src=&quot;https://equatio-api.texthelp.com/desmos/get/10-10-2023/c8d344e3-0498-4597-8aac-a56ac87b25d2&quot; alt=&quot;Equatio Desmos Graph&quot;/&gt;&lt;/math&gt;" id="870" name="Google Shape;870;p75" title="Equatio Desmos Grap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6030" y="1095505"/>
            <a:ext cx="3989350" cy="3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871" name="Google Shape;871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Plotting coordinates in all four quadrants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y&quot;&gt;&lt;mi&gt;y&lt;/mi&gt;&lt;/math&gt;" id="872" name="Google Shape;872;p75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60555" y="858000"/>
            <a:ext cx="173522" cy="2375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873" name="Google Shape;873;p75" title="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17765" y="3024947"/>
            <a:ext cx="168075" cy="153460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p75"/>
          <p:cNvSpPr txBox="1"/>
          <p:nvPr/>
        </p:nvSpPr>
        <p:spPr>
          <a:xfrm>
            <a:off x="5900566" y="858009"/>
            <a:ext cx="12876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24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4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sz="24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4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4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5" name="Google Shape;875;p75"/>
          <p:cNvSpPr txBox="1"/>
          <p:nvPr/>
        </p:nvSpPr>
        <p:spPr>
          <a:xfrm>
            <a:off x="4842721" y="1523764"/>
            <a:ext cx="15537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 coordinate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6" name="Google Shape;876;p75"/>
          <p:cNvSpPr txBox="1"/>
          <p:nvPr/>
        </p:nvSpPr>
        <p:spPr>
          <a:xfrm>
            <a:off x="6747721" y="1523764"/>
            <a:ext cx="15537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 coordinate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y&quot;&gt;&lt;mi&gt;y&lt;/mi&gt;&lt;/math&gt;" id="877" name="Google Shape;877;p75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77026" y="1616390"/>
            <a:ext cx="141188" cy="1900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878" name="Google Shape;878;p75" title="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43014" y="1617900"/>
            <a:ext cx="141188" cy="12891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79" name="Google Shape;879;p75"/>
          <p:cNvCxnSpPr/>
          <p:nvPr/>
        </p:nvCxnSpPr>
        <p:spPr>
          <a:xfrm flipH="1" rot="10800000">
            <a:off x="5560400" y="1217563"/>
            <a:ext cx="458400" cy="325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0" name="Google Shape;880;p75"/>
          <p:cNvCxnSpPr/>
          <p:nvPr/>
        </p:nvCxnSpPr>
        <p:spPr>
          <a:xfrm rot="10800000">
            <a:off x="6551000" y="1217563"/>
            <a:ext cx="458400" cy="3258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1" name="Google Shape;881;p75"/>
          <p:cNvCxnSpPr/>
          <p:nvPr/>
        </p:nvCxnSpPr>
        <p:spPr>
          <a:xfrm>
            <a:off x="2326893" y="2953683"/>
            <a:ext cx="1102200" cy="360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2" name="Google Shape;882;p75"/>
          <p:cNvCxnSpPr/>
          <p:nvPr/>
        </p:nvCxnSpPr>
        <p:spPr>
          <a:xfrm flipH="1" rot="10800000">
            <a:off x="3395373" y="2295262"/>
            <a:ext cx="7500" cy="66060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83" name="Google Shape;883;p75"/>
          <p:cNvSpPr txBox="1"/>
          <p:nvPr/>
        </p:nvSpPr>
        <p:spPr>
          <a:xfrm>
            <a:off x="6028016" y="3404046"/>
            <a:ext cx="12876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(-</a:t>
            </a:r>
            <a:r>
              <a:rPr lang="en-GB" sz="24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4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sz="24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4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4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4" name="Google Shape;884;p75"/>
          <p:cNvSpPr txBox="1"/>
          <p:nvPr>
            <p:ph idx="1" type="body"/>
          </p:nvPr>
        </p:nvSpPr>
        <p:spPr>
          <a:xfrm>
            <a:off x="4734325" y="2524400"/>
            <a:ext cx="3620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What’s different when we plot (-3, 2)?</a:t>
            </a:r>
            <a:endParaRPr sz="2000"/>
          </a:p>
        </p:txBody>
      </p:sp>
      <p:grpSp>
        <p:nvGrpSpPr>
          <p:cNvPr id="885" name="Google Shape;885;p75"/>
          <p:cNvGrpSpPr/>
          <p:nvPr/>
        </p:nvGrpSpPr>
        <p:grpSpPr>
          <a:xfrm>
            <a:off x="4842721" y="3763600"/>
            <a:ext cx="1553700" cy="753051"/>
            <a:chOff x="4962971" y="2581900"/>
            <a:chExt cx="1553700" cy="753051"/>
          </a:xfrm>
        </p:grpSpPr>
        <p:sp>
          <p:nvSpPr>
            <p:cNvPr id="886" name="Google Shape;886;p75"/>
            <p:cNvSpPr txBox="1"/>
            <p:nvPr/>
          </p:nvSpPr>
          <p:spPr>
            <a:xfrm>
              <a:off x="4962971" y="2941652"/>
              <a:ext cx="1553700" cy="39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Negative </a:t>
              </a:r>
              <a:r>
                <a:rPr i="1" lang="en-GB" sz="2200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direction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887" name="Google Shape;887;p75"/>
            <p:cNvCxnSpPr/>
            <p:nvPr/>
          </p:nvCxnSpPr>
          <p:spPr>
            <a:xfrm flipH="1" rot="10800000">
              <a:off x="5808100" y="2581900"/>
              <a:ext cx="458400" cy="325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cxnSp>
        <p:nvCxnSpPr>
          <p:cNvPr id="888" name="Google Shape;888;p75"/>
          <p:cNvCxnSpPr/>
          <p:nvPr/>
        </p:nvCxnSpPr>
        <p:spPr>
          <a:xfrm flipH="1">
            <a:off x="1213893" y="2953683"/>
            <a:ext cx="1088700" cy="180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9" name="Google Shape;889;p75"/>
          <p:cNvCxnSpPr/>
          <p:nvPr/>
        </p:nvCxnSpPr>
        <p:spPr>
          <a:xfrm flipH="1" rot="10800000">
            <a:off x="1208034" y="2295262"/>
            <a:ext cx="7500" cy="66060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890" name="Google Shape;890;p75"/>
          <p:cNvGrpSpPr/>
          <p:nvPr/>
        </p:nvGrpSpPr>
        <p:grpSpPr>
          <a:xfrm>
            <a:off x="1127738" y="2200144"/>
            <a:ext cx="168072" cy="153453"/>
            <a:chOff x="4945075" y="2652450"/>
            <a:chExt cx="91200" cy="95100"/>
          </a:xfrm>
        </p:grpSpPr>
        <p:cxnSp>
          <p:nvCxnSpPr>
            <p:cNvPr id="891" name="Google Shape;891;p75"/>
            <p:cNvCxnSpPr/>
            <p:nvPr/>
          </p:nvCxnSpPr>
          <p:spPr>
            <a:xfrm flipH="1" rot="10800000">
              <a:off x="4945075" y="2652450"/>
              <a:ext cx="91200" cy="951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2" name="Google Shape;892;p75"/>
            <p:cNvCxnSpPr/>
            <p:nvPr/>
          </p:nvCxnSpPr>
          <p:spPr>
            <a:xfrm>
              <a:off x="4945075" y="2652450"/>
              <a:ext cx="91200" cy="951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893" name="Google Shape;893;p75"/>
          <p:cNvSpPr txBox="1"/>
          <p:nvPr/>
        </p:nvSpPr>
        <p:spPr>
          <a:xfrm>
            <a:off x="753202" y="1646038"/>
            <a:ext cx="1239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(-3, 2)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76"/>
          <p:cNvSpPr txBox="1"/>
          <p:nvPr>
            <p:ph type="title"/>
          </p:nvPr>
        </p:nvSpPr>
        <p:spPr>
          <a:xfrm>
            <a:off x="324000" y="748775"/>
            <a:ext cx="7135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of these coordinates will be in a </a:t>
            </a:r>
            <a:r>
              <a:rPr lang="en-GB"/>
              <a:t>negative </a:t>
            </a:r>
            <a:r>
              <a:rPr i="1" lang="en-GB" sz="26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    direction</a:t>
            </a:r>
            <a:r>
              <a:rPr lang="en-GB"/>
              <a:t> from the origin?</a:t>
            </a:r>
            <a:endParaRPr/>
          </a:p>
        </p:txBody>
      </p:sp>
      <p:sp>
        <p:nvSpPr>
          <p:cNvPr id="899" name="Google Shape;899;p7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Plotting coordinates in all four quadrants</a:t>
            </a:r>
            <a:endParaRPr b="0"/>
          </a:p>
        </p:txBody>
      </p:sp>
      <p:sp>
        <p:nvSpPr>
          <p:cNvPr id="900" name="Google Shape;900;p7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(5, -1)</a:t>
            </a:r>
            <a:endParaRPr/>
          </a:p>
        </p:txBody>
      </p:sp>
      <p:sp>
        <p:nvSpPr>
          <p:cNvPr id="901" name="Google Shape;901;p7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(5, 1)</a:t>
            </a:r>
            <a:endParaRPr/>
          </a:p>
        </p:txBody>
      </p:sp>
      <p:sp>
        <p:nvSpPr>
          <p:cNvPr id="902" name="Google Shape;902;p7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(-5, 1)</a:t>
            </a:r>
            <a:endParaRPr/>
          </a:p>
        </p:txBody>
      </p:sp>
      <p:pic>
        <p:nvPicPr>
          <p:cNvPr id="903" name="Google Shape;903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8183" y="37581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10-10-2023/03ccca82-d5d2-4b8f-b98c-9a19daa94edb&quot; data-equatio-type=&quot;desmos&quot;&gt;&lt;mglyph src=&quot;https://equatio-api.texthelp.com/desmos/get/10-10-2023/03ccca82-d5d2-4b8f-b98c-9a19daa94edb&quot; alt=&quot;Equatio Desmos Graph&quot;/&gt;&lt;/math&gt;" id="908" name="Google Shape;908;p77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020" y="1095505"/>
            <a:ext cx="3989350" cy="37432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0-10-2023/19d842ee-040c-40af-8986-18b837fd6b3d&quot; data-equatio-type=&quot;desmos&quot;&gt;&lt;mglyph src=&quot;https://equatio-api.texthelp.com/desmos/get/10-10-2023/19d842ee-040c-40af-8986-18b837fd6b3d&quot; alt=&quot;Equatio Desmos Graph&quot;/&gt;&lt;/math&gt;" id="909" name="Google Shape;909;p77" title="Equatio Desmos Grap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4959" y="1095500"/>
            <a:ext cx="3989350" cy="3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910" name="Google Shape;910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Plotting coordinates in all four quadrants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y&quot;&gt;&lt;mi&gt;y&lt;/mi&gt;&lt;/math&gt;" id="911" name="Google Shape;911;p77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60555" y="858000"/>
            <a:ext cx="173522" cy="2375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912" name="Google Shape;912;p77" title="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17765" y="3024947"/>
            <a:ext cx="168075" cy="153460"/>
          </a:xfrm>
          <a:prstGeom prst="rect">
            <a:avLst/>
          </a:prstGeom>
          <a:noFill/>
          <a:ln>
            <a:noFill/>
          </a:ln>
        </p:spPr>
      </p:pic>
      <p:sp>
        <p:nvSpPr>
          <p:cNvPr id="913" name="Google Shape;913;p77"/>
          <p:cNvSpPr txBox="1"/>
          <p:nvPr/>
        </p:nvSpPr>
        <p:spPr>
          <a:xfrm>
            <a:off x="6153054" y="1899709"/>
            <a:ext cx="12876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24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4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-</a:t>
            </a:r>
            <a:r>
              <a:rPr lang="en-GB" sz="24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4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4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4" name="Google Shape;914;p77"/>
          <p:cNvSpPr txBox="1"/>
          <p:nvPr>
            <p:ph idx="1" type="body"/>
          </p:nvPr>
        </p:nvSpPr>
        <p:spPr>
          <a:xfrm>
            <a:off x="4797375" y="810000"/>
            <a:ext cx="39894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In which direction from the origin will we find these coordinates?</a:t>
            </a:r>
            <a:endParaRPr sz="2000"/>
          </a:p>
        </p:txBody>
      </p:sp>
      <p:cxnSp>
        <p:nvCxnSpPr>
          <p:cNvPr id="915" name="Google Shape;915;p77"/>
          <p:cNvCxnSpPr/>
          <p:nvPr/>
        </p:nvCxnSpPr>
        <p:spPr>
          <a:xfrm flipH="1" rot="10800000">
            <a:off x="2326893" y="2950083"/>
            <a:ext cx="1095300" cy="360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6" name="Google Shape;916;p77"/>
          <p:cNvCxnSpPr/>
          <p:nvPr/>
        </p:nvCxnSpPr>
        <p:spPr>
          <a:xfrm>
            <a:off x="3395373" y="2981062"/>
            <a:ext cx="7500" cy="66060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917" name="Google Shape;917;p77"/>
          <p:cNvGrpSpPr/>
          <p:nvPr/>
        </p:nvGrpSpPr>
        <p:grpSpPr>
          <a:xfrm>
            <a:off x="5159339" y="2292988"/>
            <a:ext cx="1553700" cy="699501"/>
            <a:chOff x="5090421" y="2581900"/>
            <a:chExt cx="1553700" cy="699501"/>
          </a:xfrm>
        </p:grpSpPr>
        <p:sp>
          <p:nvSpPr>
            <p:cNvPr id="918" name="Google Shape;918;p77"/>
            <p:cNvSpPr txBox="1"/>
            <p:nvPr/>
          </p:nvSpPr>
          <p:spPr>
            <a:xfrm>
              <a:off x="5090421" y="2888102"/>
              <a:ext cx="1553700" cy="39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Positive </a:t>
              </a:r>
              <a:r>
                <a:rPr i="1"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direction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919" name="Google Shape;919;p77"/>
            <p:cNvCxnSpPr/>
            <p:nvPr/>
          </p:nvCxnSpPr>
          <p:spPr>
            <a:xfrm flipH="1" rot="10800000">
              <a:off x="5808100" y="2581900"/>
              <a:ext cx="458400" cy="325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920" name="Google Shape;920;p77"/>
          <p:cNvSpPr txBox="1"/>
          <p:nvPr/>
        </p:nvSpPr>
        <p:spPr>
          <a:xfrm>
            <a:off x="6082466" y="3411871"/>
            <a:ext cx="12876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(-</a:t>
            </a:r>
            <a:r>
              <a:rPr lang="en-GB" sz="24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4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-</a:t>
            </a:r>
            <a:r>
              <a:rPr lang="en-GB" sz="24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4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4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21" name="Google Shape;921;p77"/>
          <p:cNvGrpSpPr/>
          <p:nvPr/>
        </p:nvGrpSpPr>
        <p:grpSpPr>
          <a:xfrm>
            <a:off x="6856388" y="2292988"/>
            <a:ext cx="1674221" cy="699501"/>
            <a:chOff x="4969900" y="2581900"/>
            <a:chExt cx="1674221" cy="699501"/>
          </a:xfrm>
        </p:grpSpPr>
        <p:sp>
          <p:nvSpPr>
            <p:cNvPr id="922" name="Google Shape;922;p77"/>
            <p:cNvSpPr txBox="1"/>
            <p:nvPr/>
          </p:nvSpPr>
          <p:spPr>
            <a:xfrm>
              <a:off x="5090421" y="2888102"/>
              <a:ext cx="1553700" cy="39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Negative </a:t>
              </a:r>
              <a:r>
                <a:rPr i="1"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direction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923" name="Google Shape;923;p77"/>
            <p:cNvCxnSpPr/>
            <p:nvPr/>
          </p:nvCxnSpPr>
          <p:spPr>
            <a:xfrm rot="10800000">
              <a:off x="4969900" y="2581900"/>
              <a:ext cx="458400" cy="325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924" name="Google Shape;924;p77"/>
          <p:cNvSpPr txBox="1"/>
          <p:nvPr/>
        </p:nvSpPr>
        <p:spPr>
          <a:xfrm>
            <a:off x="6082466" y="3411871"/>
            <a:ext cx="1287600" cy="3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(-</a:t>
            </a:r>
            <a:r>
              <a:rPr lang="en-GB" sz="24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4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-</a:t>
            </a:r>
            <a:r>
              <a:rPr lang="en-GB" sz="24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4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4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25" name="Google Shape;925;p77"/>
          <p:cNvGrpSpPr/>
          <p:nvPr/>
        </p:nvGrpSpPr>
        <p:grpSpPr>
          <a:xfrm>
            <a:off x="5100821" y="3858050"/>
            <a:ext cx="1553700" cy="699501"/>
            <a:chOff x="5090421" y="2581900"/>
            <a:chExt cx="1553700" cy="699501"/>
          </a:xfrm>
        </p:grpSpPr>
        <p:sp>
          <p:nvSpPr>
            <p:cNvPr id="926" name="Google Shape;926;p77"/>
            <p:cNvSpPr txBox="1"/>
            <p:nvPr/>
          </p:nvSpPr>
          <p:spPr>
            <a:xfrm>
              <a:off x="5090421" y="2888102"/>
              <a:ext cx="1553700" cy="39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Negative</a:t>
              </a: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i="1"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direction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927" name="Google Shape;927;p77"/>
            <p:cNvCxnSpPr/>
            <p:nvPr/>
          </p:nvCxnSpPr>
          <p:spPr>
            <a:xfrm flipH="1" rot="10800000">
              <a:off x="5808100" y="2581900"/>
              <a:ext cx="458400" cy="325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928" name="Google Shape;928;p77"/>
          <p:cNvGrpSpPr/>
          <p:nvPr/>
        </p:nvGrpSpPr>
        <p:grpSpPr>
          <a:xfrm>
            <a:off x="6809100" y="3858050"/>
            <a:ext cx="1674221" cy="699501"/>
            <a:chOff x="4969900" y="2581900"/>
            <a:chExt cx="1674221" cy="699501"/>
          </a:xfrm>
        </p:grpSpPr>
        <p:sp>
          <p:nvSpPr>
            <p:cNvPr id="929" name="Google Shape;929;p77"/>
            <p:cNvSpPr txBox="1"/>
            <p:nvPr/>
          </p:nvSpPr>
          <p:spPr>
            <a:xfrm>
              <a:off x="5090421" y="2888102"/>
              <a:ext cx="1553700" cy="39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Negative</a:t>
              </a: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i="1" lang="en-GB" sz="2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direction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930" name="Google Shape;930;p77"/>
            <p:cNvCxnSpPr/>
            <p:nvPr/>
          </p:nvCxnSpPr>
          <p:spPr>
            <a:xfrm rot="10800000">
              <a:off x="4969900" y="2581900"/>
              <a:ext cx="458400" cy="325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cxnSp>
        <p:nvCxnSpPr>
          <p:cNvPr id="931" name="Google Shape;931;p77"/>
          <p:cNvCxnSpPr/>
          <p:nvPr/>
        </p:nvCxnSpPr>
        <p:spPr>
          <a:xfrm flipH="1">
            <a:off x="1213893" y="2953683"/>
            <a:ext cx="1088700" cy="510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32" name="Google Shape;932;p77"/>
          <p:cNvCxnSpPr/>
          <p:nvPr/>
        </p:nvCxnSpPr>
        <p:spPr>
          <a:xfrm>
            <a:off x="1208034" y="2981062"/>
            <a:ext cx="7500" cy="66060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933" name="Google Shape;933;p77"/>
          <p:cNvGrpSpPr/>
          <p:nvPr/>
        </p:nvGrpSpPr>
        <p:grpSpPr>
          <a:xfrm>
            <a:off x="1127738" y="3566944"/>
            <a:ext cx="168072" cy="153453"/>
            <a:chOff x="4945075" y="2652450"/>
            <a:chExt cx="91200" cy="95100"/>
          </a:xfrm>
        </p:grpSpPr>
        <p:cxnSp>
          <p:nvCxnSpPr>
            <p:cNvPr id="934" name="Google Shape;934;p77"/>
            <p:cNvCxnSpPr/>
            <p:nvPr/>
          </p:nvCxnSpPr>
          <p:spPr>
            <a:xfrm flipH="1" rot="10800000">
              <a:off x="4945075" y="2652450"/>
              <a:ext cx="91200" cy="951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35" name="Google Shape;935;p77"/>
            <p:cNvCxnSpPr/>
            <p:nvPr/>
          </p:nvCxnSpPr>
          <p:spPr>
            <a:xfrm>
              <a:off x="4945075" y="2652450"/>
              <a:ext cx="91200" cy="951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36" name="Google Shape;936;p77"/>
          <p:cNvSpPr txBox="1"/>
          <p:nvPr/>
        </p:nvSpPr>
        <p:spPr>
          <a:xfrm>
            <a:off x="422200" y="372040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(-3, -2)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78"/>
          <p:cNvSpPr txBox="1"/>
          <p:nvPr>
            <p:ph idx="4294967295" type="body"/>
          </p:nvPr>
        </p:nvSpPr>
        <p:spPr>
          <a:xfrm>
            <a:off x="1009800" y="3787252"/>
            <a:ext cx="3562200" cy="44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Fourth</a:t>
            </a:r>
            <a:r>
              <a:rPr lang="en-GB"/>
              <a:t> quadrant</a:t>
            </a:r>
            <a:endParaRPr/>
          </a:p>
        </p:txBody>
      </p:sp>
      <p:sp>
        <p:nvSpPr>
          <p:cNvPr id="942" name="Google Shape;942;p78"/>
          <p:cNvSpPr txBox="1"/>
          <p:nvPr>
            <p:ph type="title"/>
          </p:nvPr>
        </p:nvSpPr>
        <p:spPr>
          <a:xfrm>
            <a:off x="324000" y="748775"/>
            <a:ext cx="69969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 which quadrant will you find </a:t>
            </a:r>
            <a:r>
              <a:rPr lang="en-GB"/>
              <a:t>coordinate</a:t>
            </a:r>
            <a:r>
              <a:rPr lang="en-GB"/>
              <a:t> (1, -4)?</a:t>
            </a:r>
            <a:endParaRPr/>
          </a:p>
        </p:txBody>
      </p:sp>
      <p:sp>
        <p:nvSpPr>
          <p:cNvPr id="943" name="Google Shape;943;p78"/>
          <p:cNvSpPr txBox="1"/>
          <p:nvPr>
            <p:ph idx="4294967295" type="body"/>
          </p:nvPr>
        </p:nvSpPr>
        <p:spPr>
          <a:xfrm>
            <a:off x="1009800" y="1826100"/>
            <a:ext cx="3562200" cy="44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Second quadrant</a:t>
            </a:r>
            <a:endParaRPr/>
          </a:p>
        </p:txBody>
      </p:sp>
      <p:pic>
        <p:nvPicPr>
          <p:cNvPr id="944" name="Google Shape;944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2183" y="383435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945" name="Google Shape;945;p78"/>
          <p:cNvSpPr txBox="1"/>
          <p:nvPr>
            <p:ph idx="4294967295" type="body"/>
          </p:nvPr>
        </p:nvSpPr>
        <p:spPr>
          <a:xfrm>
            <a:off x="1009800" y="2816700"/>
            <a:ext cx="3562200" cy="44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Third</a:t>
            </a:r>
            <a:r>
              <a:rPr lang="en-GB"/>
              <a:t> quadrant</a:t>
            </a:r>
            <a:endParaRPr/>
          </a:p>
        </p:txBody>
      </p:sp>
      <p:pic>
        <p:nvPicPr>
          <p:cNvPr id="946" name="Google Shape;946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13702" y="1349223"/>
            <a:ext cx="3562199" cy="3314617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47" name="Google Shape;947;p7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Plotting coordinates in all four quadrants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79"/>
          <p:cNvSpPr txBox="1"/>
          <p:nvPr>
            <p:ph type="title"/>
          </p:nvPr>
        </p:nvSpPr>
        <p:spPr>
          <a:xfrm>
            <a:off x="324000" y="748775"/>
            <a:ext cx="71799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 which quadrant will you find coordinate (-11, -14)?</a:t>
            </a:r>
            <a:endParaRPr/>
          </a:p>
        </p:txBody>
      </p:sp>
      <p:sp>
        <p:nvSpPr>
          <p:cNvPr id="953" name="Google Shape;953;p79"/>
          <p:cNvSpPr txBox="1"/>
          <p:nvPr>
            <p:ph idx="4294967295" type="body"/>
          </p:nvPr>
        </p:nvSpPr>
        <p:spPr>
          <a:xfrm>
            <a:off x="1009800" y="3787252"/>
            <a:ext cx="3562200" cy="44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Fourth quadrant</a:t>
            </a:r>
            <a:endParaRPr/>
          </a:p>
        </p:txBody>
      </p:sp>
      <p:pic>
        <p:nvPicPr>
          <p:cNvPr id="954" name="Google Shape;954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7383" y="282342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5" name="Google Shape;955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13702" y="1349223"/>
            <a:ext cx="3562199" cy="3314617"/>
          </a:xfrm>
          <a:prstGeom prst="rect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56" name="Google Shape;956;p79"/>
          <p:cNvSpPr txBox="1"/>
          <p:nvPr>
            <p:ph idx="4294967295" type="body"/>
          </p:nvPr>
        </p:nvSpPr>
        <p:spPr>
          <a:xfrm>
            <a:off x="1009800" y="1826100"/>
            <a:ext cx="3562200" cy="44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Second quadrant</a:t>
            </a:r>
            <a:endParaRPr/>
          </a:p>
        </p:txBody>
      </p:sp>
      <p:sp>
        <p:nvSpPr>
          <p:cNvPr id="957" name="Google Shape;957;p79"/>
          <p:cNvSpPr txBox="1"/>
          <p:nvPr>
            <p:ph idx="4294967295" type="body"/>
          </p:nvPr>
        </p:nvSpPr>
        <p:spPr>
          <a:xfrm>
            <a:off x="1009800" y="2816700"/>
            <a:ext cx="3562200" cy="44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Third quadrant</a:t>
            </a:r>
            <a:endParaRPr/>
          </a:p>
        </p:txBody>
      </p:sp>
      <p:sp>
        <p:nvSpPr>
          <p:cNvPr id="958" name="Google Shape;958;p7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Plotting coordinates in all four quadrants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8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Plotting coordinates in all four quadrants</a:t>
            </a:r>
            <a:endParaRPr/>
          </a:p>
        </p:txBody>
      </p:sp>
      <p:sp>
        <p:nvSpPr>
          <p:cNvPr id="964" name="Google Shape;964;p80"/>
          <p:cNvSpPr txBox="1"/>
          <p:nvPr>
            <p:ph idx="4294967295" type="body"/>
          </p:nvPr>
        </p:nvSpPr>
        <p:spPr>
          <a:xfrm>
            <a:off x="4816075" y="1095375"/>
            <a:ext cx="3989400" cy="4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1) Plot the below</a:t>
            </a:r>
            <a:r>
              <a:rPr lang="en-GB" sz="2000"/>
              <a:t> coordinates:</a:t>
            </a:r>
            <a:endParaRPr sz="2000"/>
          </a:p>
        </p:txBody>
      </p:sp>
      <p:pic>
        <p:nvPicPr>
          <p:cNvPr descr="&lt;math xmlns=&quot;http://www.w3.org/1998/Math/MathML&quot; data-is-equatio=&quot;1&quot; data-equatio-url=&quot;https://equatio-api.texthelp.com/desmos/get/10-10-2023/b96dd6cc-6c3e-4534-ba32-e82c07a6c006&quot; data-equatio-type=&quot;desmos&quot;&gt;&lt;mglyph src=&quot;https://equatio-api.texthelp.com/desmos/get/10-10-2023/b96dd6cc-6c3e-4534-ba32-e82c07a6c006&quot; alt=&quot;Equatio Desmos Graph&quot;/&gt;&lt;/math&gt;" id="965" name="Google Shape;965;p80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126" y="1077200"/>
            <a:ext cx="3989400" cy="3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966" name="Google Shape;966;p80"/>
          <p:cNvSpPr txBox="1"/>
          <p:nvPr/>
        </p:nvSpPr>
        <p:spPr>
          <a:xfrm>
            <a:off x="4829050" y="1612700"/>
            <a:ext cx="1427700" cy="29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(1, 4)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(-1,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(-4, 1)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(-4, -1)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(4, -1)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(0, -4)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0-10-2023/4a5c6a1c-51e5-42a2-b279-be76050cfca1&quot; data-equatio-type=&quot;desmos&quot;&gt;&lt;mglyph src=&quot;https://equatio-api.texthelp.com/desmos/get/10-10-2023/4a5c6a1c-51e5-42a2-b279-be76050cfca1&quot; alt=&quot;Equatio Desmos Graph&quot;/&gt;&lt;/math&gt;" id="967" name="Google Shape;967;p80" title="Equatio Desmos Grap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325" y="1097025"/>
            <a:ext cx="3989400" cy="372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968" name="Google Shape;968;p80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60555" y="858000"/>
            <a:ext cx="173522" cy="2375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969" name="Google Shape;969;p80" title="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17765" y="3024947"/>
            <a:ext cx="168075" cy="1534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8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Plotting coordinates in all four quadrants</a:t>
            </a:r>
            <a:endParaRPr/>
          </a:p>
        </p:txBody>
      </p:sp>
      <p:sp>
        <p:nvSpPr>
          <p:cNvPr id="975" name="Google Shape;975;p81"/>
          <p:cNvSpPr txBox="1"/>
          <p:nvPr>
            <p:ph idx="4294967295" type="body"/>
          </p:nvPr>
        </p:nvSpPr>
        <p:spPr>
          <a:xfrm>
            <a:off x="4816075" y="1095375"/>
            <a:ext cx="3989400" cy="4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2)</a:t>
            </a:r>
            <a:r>
              <a:rPr lang="en-GB" sz="2000"/>
              <a:t> In Laura’s book, you see that she has plotted the coordinates (2, -1) and (-3, 4) like this.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What feedback will you give her to correct her work?</a:t>
            </a:r>
            <a:endParaRPr sz="2000"/>
          </a:p>
        </p:txBody>
      </p:sp>
      <p:pic>
        <p:nvPicPr>
          <p:cNvPr descr="&lt;math xmlns=&quot;http://www.w3.org/1998/Math/MathML&quot; data-is-equatio=&quot;1&quot; data-equatio-url=&quot;https://equatio-api.texthelp.com/desmos/get/10-10-2023/58b9179b-81cb-4b0c-b976-0ef89823f038&quot; data-equatio-type=&quot;desmos&quot;&gt;&lt;mglyph src=&quot;https://equatio-api.texthelp.com/desmos/get/10-10-2023/58b9179b-81cb-4b0c-b976-0ef89823f038&quot; alt=&quot;Equatio Desmos Graph&quot;/&gt;&lt;/math&gt;" id="976" name="Google Shape;976;p81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175" y="1086875"/>
            <a:ext cx="3989400" cy="3733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977" name="Google Shape;977;p81" title="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60555" y="858000"/>
            <a:ext cx="173522" cy="2375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978" name="Google Shape;978;p81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17765" y="3024947"/>
            <a:ext cx="168075" cy="153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9" name="Google Shape;979;p8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7879127" y="1969502"/>
            <a:ext cx="807750" cy="10579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3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10-10-2023/4a5c6a1c-51e5-42a2-b279-be76050cfca1&quot; data-equatio-type=&quot;desmos&quot;&gt;&lt;mglyph src=&quot;https://equatio-api.texthelp.com/desmos/get/10-10-2023/4a5c6a1c-51e5-42a2-b279-be76050cfca1&quot; alt=&quot;Equatio Desmos Graph&quot;/&gt;&lt;/math&gt;" id="984" name="Google Shape;984;p82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325" y="1097025"/>
            <a:ext cx="3989400" cy="3723375"/>
          </a:xfrm>
          <a:prstGeom prst="rect">
            <a:avLst/>
          </a:prstGeom>
          <a:noFill/>
          <a:ln>
            <a:noFill/>
          </a:ln>
        </p:spPr>
      </p:pic>
      <p:sp>
        <p:nvSpPr>
          <p:cNvPr id="985" name="Google Shape;985;p8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Plotting coordinates in all four quadrants</a:t>
            </a:r>
            <a:endParaRPr/>
          </a:p>
        </p:txBody>
      </p:sp>
      <p:sp>
        <p:nvSpPr>
          <p:cNvPr id="986" name="Google Shape;986;p82"/>
          <p:cNvSpPr txBox="1"/>
          <p:nvPr>
            <p:ph idx="4294967295" type="body"/>
          </p:nvPr>
        </p:nvSpPr>
        <p:spPr>
          <a:xfrm>
            <a:off x="4816075" y="1095375"/>
            <a:ext cx="3989400" cy="4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1) Plot the below coordinates:</a:t>
            </a:r>
            <a:endParaRPr sz="2000"/>
          </a:p>
        </p:txBody>
      </p:sp>
      <p:pic>
        <p:nvPicPr>
          <p:cNvPr descr="&lt;math xmlns=&quot;http://www.w3.org/1998/Math/MathML&quot; data-is-equatio=&quot;1&quot; data-equatio-url=&quot;https://equatio-api.texthelp.com/desmos/get/10-10-2023/b96dd6cc-6c3e-4534-ba32-e82c07a6c006&quot; data-equatio-type=&quot;desmos&quot;&gt;&lt;mglyph src=&quot;https://equatio-api.texthelp.com/desmos/get/10-10-2023/b96dd6cc-6c3e-4534-ba32-e82c07a6c006&quot; alt=&quot;Equatio Desmos Graph&quot;/&gt;&lt;/math&gt;" id="987" name="Google Shape;987;p82" title="Equatio Desmos Grap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5126" y="1087365"/>
            <a:ext cx="3989400" cy="3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988" name="Google Shape;988;p82"/>
          <p:cNvSpPr txBox="1"/>
          <p:nvPr/>
        </p:nvSpPr>
        <p:spPr>
          <a:xfrm>
            <a:off x="4829050" y="1612700"/>
            <a:ext cx="1427700" cy="29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(1, 4)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(-1,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(-4, 1)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(-4, -1)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(4, -1)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(0, -4)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y&quot;&gt;&lt;mi&gt;y&lt;/mi&gt;&lt;/math&gt;" id="989" name="Google Shape;989;p82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60555" y="858000"/>
            <a:ext cx="173522" cy="2375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990" name="Google Shape;990;p82" title="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17765" y="3024947"/>
            <a:ext cx="168075" cy="1534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10-10-2023/4a5c6a1c-51e5-42a2-b279-be76050cfca1&quot; data-equatio-type=&quot;desmos&quot;&gt;&lt;mglyph src=&quot;https://equatio-api.texthelp.com/desmos/get/10-10-2023/4a5c6a1c-51e5-42a2-b279-be76050cfca1&quot; alt=&quot;Equatio Desmos Graph&quot;/&gt;&lt;/math&gt;" id="995" name="Google Shape;995;p83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325" y="1097025"/>
            <a:ext cx="3989400" cy="3723375"/>
          </a:xfrm>
          <a:prstGeom prst="rect">
            <a:avLst/>
          </a:prstGeom>
          <a:noFill/>
          <a:ln>
            <a:noFill/>
          </a:ln>
        </p:spPr>
      </p:pic>
      <p:sp>
        <p:nvSpPr>
          <p:cNvPr id="996" name="Google Shape;996;p8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Plotting coordinates in all four quadrants</a:t>
            </a:r>
            <a:endParaRPr/>
          </a:p>
        </p:txBody>
      </p:sp>
      <p:sp>
        <p:nvSpPr>
          <p:cNvPr id="997" name="Google Shape;997;p83"/>
          <p:cNvSpPr txBox="1"/>
          <p:nvPr>
            <p:ph idx="4294967295" type="body"/>
          </p:nvPr>
        </p:nvSpPr>
        <p:spPr>
          <a:xfrm>
            <a:off x="4816075" y="1095375"/>
            <a:ext cx="3989400" cy="4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1) Plot the below coordinates:</a:t>
            </a:r>
            <a:endParaRPr sz="2000"/>
          </a:p>
        </p:txBody>
      </p:sp>
      <p:pic>
        <p:nvPicPr>
          <p:cNvPr descr="&lt;math xmlns=&quot;http://www.w3.org/1998/Math/MathML&quot; data-is-equatio=&quot;1&quot; data-equatio-url=&quot;https://equatio-api.texthelp.com/desmos/get/10-10-2023/b96dd6cc-6c3e-4534-ba32-e82c07a6c006&quot; data-equatio-type=&quot;desmos&quot;&gt;&lt;mglyph src=&quot;https://equatio-api.texthelp.com/desmos/get/10-10-2023/b96dd6cc-6c3e-4534-ba32-e82c07a6c006&quot; alt=&quot;Equatio Desmos Graph&quot;/&gt;&lt;/math&gt;" id="998" name="Google Shape;998;p83" title="Equatio Desmos Grap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5126" y="1087365"/>
            <a:ext cx="3989400" cy="3743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999" name="Google Shape;999;p83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60555" y="858000"/>
            <a:ext cx="173522" cy="2375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000" name="Google Shape;1000;p83" title="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17765" y="3024947"/>
            <a:ext cx="168075" cy="153460"/>
          </a:xfrm>
          <a:prstGeom prst="rect">
            <a:avLst/>
          </a:prstGeom>
          <a:noFill/>
          <a:ln>
            <a:noFill/>
          </a:ln>
        </p:spPr>
      </p:pic>
      <p:sp>
        <p:nvSpPr>
          <p:cNvPr id="1001" name="Google Shape;1001;p83"/>
          <p:cNvSpPr txBox="1"/>
          <p:nvPr/>
        </p:nvSpPr>
        <p:spPr>
          <a:xfrm>
            <a:off x="6124450" y="1917500"/>
            <a:ext cx="8970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(0, -4)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2" name="Google Shape;1002;p83"/>
          <p:cNvGrpSpPr/>
          <p:nvPr/>
        </p:nvGrpSpPr>
        <p:grpSpPr>
          <a:xfrm>
            <a:off x="4796851" y="2277100"/>
            <a:ext cx="1553700" cy="699501"/>
            <a:chOff x="4785621" y="2581900"/>
            <a:chExt cx="1553700" cy="699501"/>
          </a:xfrm>
        </p:grpSpPr>
        <p:sp>
          <p:nvSpPr>
            <p:cNvPr id="1003" name="Google Shape;1003;p83"/>
            <p:cNvSpPr txBox="1"/>
            <p:nvPr/>
          </p:nvSpPr>
          <p:spPr>
            <a:xfrm>
              <a:off x="4785621" y="2888102"/>
              <a:ext cx="1553700" cy="39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Zero in the </a:t>
              </a:r>
              <a:r>
                <a:rPr i="1" lang="en-GB" sz="2200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direction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04" name="Google Shape;1004;p83"/>
            <p:cNvCxnSpPr/>
            <p:nvPr/>
          </p:nvCxnSpPr>
          <p:spPr>
            <a:xfrm flipH="1" rot="10800000">
              <a:off x="5808100" y="2581900"/>
              <a:ext cx="458400" cy="325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005" name="Google Shape;1005;p83"/>
          <p:cNvGrpSpPr/>
          <p:nvPr/>
        </p:nvGrpSpPr>
        <p:grpSpPr>
          <a:xfrm>
            <a:off x="6798700" y="2277100"/>
            <a:ext cx="2006926" cy="699500"/>
            <a:chOff x="4969900" y="2581900"/>
            <a:chExt cx="2006926" cy="699500"/>
          </a:xfrm>
        </p:grpSpPr>
        <p:sp>
          <p:nvSpPr>
            <p:cNvPr id="1006" name="Google Shape;1006;p83"/>
            <p:cNvSpPr txBox="1"/>
            <p:nvPr/>
          </p:nvSpPr>
          <p:spPr>
            <a:xfrm>
              <a:off x="5090426" y="2888100"/>
              <a:ext cx="1886400" cy="39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Negative four in the </a:t>
              </a:r>
              <a:r>
                <a:rPr i="1" lang="en-GB" sz="2200">
                  <a:latin typeface="Times New Roman"/>
                  <a:ea typeface="Times New Roman"/>
                  <a:cs typeface="Times New Roman"/>
                  <a:sym typeface="Times New Roman"/>
                </a:rPr>
                <a:t>y</a:t>
              </a: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direction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07" name="Google Shape;1007;p83"/>
            <p:cNvCxnSpPr/>
            <p:nvPr/>
          </p:nvCxnSpPr>
          <p:spPr>
            <a:xfrm rot="10800000">
              <a:off x="4969900" y="2581900"/>
              <a:ext cx="458400" cy="32580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cxnSp>
        <p:nvCxnSpPr>
          <p:cNvPr id="1008" name="Google Shape;1008;p83"/>
          <p:cNvCxnSpPr/>
          <p:nvPr/>
        </p:nvCxnSpPr>
        <p:spPr>
          <a:xfrm>
            <a:off x="2320288" y="2958475"/>
            <a:ext cx="0" cy="132870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8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Plotting coordinates in all four quadrants</a:t>
            </a:r>
            <a:endParaRPr/>
          </a:p>
        </p:txBody>
      </p:sp>
      <p:sp>
        <p:nvSpPr>
          <p:cNvPr id="1014" name="Google Shape;1014;p84"/>
          <p:cNvSpPr txBox="1"/>
          <p:nvPr>
            <p:ph idx="4294967295" type="body"/>
          </p:nvPr>
        </p:nvSpPr>
        <p:spPr>
          <a:xfrm>
            <a:off x="4816075" y="1095375"/>
            <a:ext cx="3989400" cy="4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2) In Laura’s book, you see that she has plotted the coordinates (2, -1) and (-3, 4) like this.</a:t>
            </a:r>
            <a:endParaRPr sz="2000"/>
          </a:p>
        </p:txBody>
      </p:sp>
      <p:pic>
        <p:nvPicPr>
          <p:cNvPr descr="&lt;math xmlns=&quot;http://www.w3.org/1998/Math/MathML&quot; data-is-equatio=&quot;1&quot; data-equatio-url=&quot;https://equatio-api.texthelp.com/desmos/get/10-10-2023/58b9179b-81cb-4b0c-b976-0ef89823f038&quot; data-equatio-type=&quot;desmos&quot;&gt;&lt;mglyph src=&quot;https://equatio-api.texthelp.com/desmos/get/10-10-2023/58b9179b-81cb-4b0c-b976-0ef89823f038&quot; alt=&quot;Equatio Desmos Graph&quot;/&gt;&lt;/math&gt;" id="1015" name="Google Shape;1015;p84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175" y="1086875"/>
            <a:ext cx="3989400" cy="3733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1016" name="Google Shape;1016;p84" title="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60555" y="858000"/>
            <a:ext cx="173522" cy="2375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017" name="Google Shape;1017;p84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17765" y="3024947"/>
            <a:ext cx="168075" cy="153460"/>
          </a:xfrm>
          <a:prstGeom prst="rect">
            <a:avLst/>
          </a:prstGeom>
          <a:noFill/>
          <a:ln>
            <a:noFill/>
          </a:ln>
        </p:spPr>
      </p:pic>
      <p:sp>
        <p:nvSpPr>
          <p:cNvPr id="1018" name="Google Shape;1018;p84"/>
          <p:cNvSpPr txBox="1"/>
          <p:nvPr>
            <p:ph idx="4294967295" type="body"/>
          </p:nvPr>
        </p:nvSpPr>
        <p:spPr>
          <a:xfrm>
            <a:off x="4816075" y="3000375"/>
            <a:ext cx="3989400" cy="166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Your feedback might have included, “follow the axes in the correct direction depending on the value of the coordinates”.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0-10-2023/d3a722c8-feae-4646-8939-9860cac514dd&quot; data-equatio-type=&quot;desmos&quot;&gt;&lt;mglyph src=&quot;https://equatio-api.texthelp.com/desmos/get/10-10-2023/d3a722c8-feae-4646-8939-9860cac514dd&quot; alt=&quot;Equatio Desmos Graph&quot;/&gt;&lt;/math&gt;" id="1019" name="Google Shape;1019;p84" title="Equatio Desmos Grap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5125" y="1095500"/>
            <a:ext cx="3989400" cy="37261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20" name="Google Shape;1020;p84"/>
          <p:cNvCxnSpPr/>
          <p:nvPr/>
        </p:nvCxnSpPr>
        <p:spPr>
          <a:xfrm>
            <a:off x="2326900" y="3304196"/>
            <a:ext cx="692400" cy="150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21" name="Google Shape;1021;p84"/>
          <p:cNvCxnSpPr/>
          <p:nvPr/>
        </p:nvCxnSpPr>
        <p:spPr>
          <a:xfrm flipH="1" rot="10800000">
            <a:off x="1227324" y="1663980"/>
            <a:ext cx="6300" cy="1307100"/>
          </a:xfrm>
          <a:prstGeom prst="straightConnector1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022" name="Google Shape;1022;p8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flipH="1">
            <a:off x="7879127" y="1969502"/>
            <a:ext cx="807750" cy="10579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85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coordinates in all four quadrants</a:t>
            </a:r>
            <a:endParaRPr/>
          </a:p>
        </p:txBody>
      </p:sp>
      <p:sp>
        <p:nvSpPr>
          <p:cNvPr id="1028" name="Google Shape;1028;p85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Drawing axes</a:t>
            </a:r>
            <a:endParaRPr/>
          </a:p>
        </p:txBody>
      </p:sp>
      <p:sp>
        <p:nvSpPr>
          <p:cNvPr id="1029" name="Google Shape;1029;p85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shapes in all four quadrants</a:t>
            </a:r>
            <a:endParaRPr/>
          </a:p>
        </p:txBody>
      </p:sp>
      <p:sp>
        <p:nvSpPr>
          <p:cNvPr id="1030" name="Google Shape;1030;p85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plotting coordinates</a:t>
            </a:r>
            <a:endParaRPr/>
          </a:p>
        </p:txBody>
      </p:sp>
      <p:pic>
        <p:nvPicPr>
          <p:cNvPr id="1031" name="Google Shape;1031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120" y="2764691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11-10-2023/34d0dc1f-61a4-48d3-a9f0-91e5f9abe2aa&quot; data-equatio-type=&quot;desmos&quot;&gt;&lt;mglyph src=&quot;https://equatio-api.texthelp.com/desmos/get/11-10-2023/34d0dc1f-61a4-48d3-a9f0-91e5f9abe2aa&quot; alt=&quot;Equatio Desmos Graph&quot;/&gt;&lt;/math&gt;" id="1036" name="Google Shape;1036;p86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375" y="1093450"/>
            <a:ext cx="3989400" cy="3726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1-10-2023/73f48d2d-7a3e-49d8-860b-63937e3453f1&quot; data-equatio-type=&quot;desmos&quot;&gt;&lt;mglyph src=&quot;https://equatio-api.texthelp.com/desmos/get/11-10-2023/73f48d2d-7a3e-49d8-860b-63937e3453f1&quot; alt=&quot;Equatio Desmos Graph&quot;/&gt;&lt;/math&gt;" id="1037" name="Google Shape;1037;p86" title="Equatio Desmos Grap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5125" y="1093450"/>
            <a:ext cx="3989400" cy="372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8" name="Google Shape;1038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Drawing axes</a:t>
            </a:r>
            <a:endParaRPr/>
          </a:p>
        </p:txBody>
      </p:sp>
      <p:sp>
        <p:nvSpPr>
          <p:cNvPr descr="&lt;math xmlns=&quot;http://www.w3.org/1998/Math/MathML&quot; data-is-equatio=&quot;1&quot; data-equatio-url=&quot;https://equatio-api.texthelp.com/desmos/get/10-10-2023/8fe8b824-82bd-489f-83fb-9c332eef54b3&quot; data-equatio-type=&quot;desmos&quot;&gt;&lt;mglyph src=&quot;https://equatio-api.texthelp.com/desmos/get/10-10-2023/8fe8b824-82bd-489f-83fb-9c332eef54b3&quot; alt=&quot;Equatio Desmos Graph&quot;/&gt;&lt;/math&gt;" id="1039" name="Google Shape;1039;p86" title="Equatio Desmos Graph"/>
          <p:cNvSpPr txBox="1"/>
          <p:nvPr>
            <p:ph idx="1" type="body"/>
          </p:nvPr>
        </p:nvSpPr>
        <p:spPr>
          <a:xfrm>
            <a:off x="4816075" y="1095375"/>
            <a:ext cx="3989400" cy="4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What is this</a:t>
            </a:r>
            <a:r>
              <a:rPr lang="en-GB" sz="2000"/>
              <a:t> coordinate?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x&quot;&gt;&lt;mi&gt;x&lt;/mi&gt;&lt;/math&gt;" id="1040" name="Google Shape;1040;p86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17765" y="3024947"/>
            <a:ext cx="168075" cy="153460"/>
          </a:xfrm>
          <a:prstGeom prst="rect">
            <a:avLst/>
          </a:prstGeom>
          <a:noFill/>
          <a:ln>
            <a:noFill/>
          </a:ln>
        </p:spPr>
      </p:pic>
      <p:sp>
        <p:nvSpPr>
          <p:cNvPr descr="&lt;math xmlns=&quot;http://www.w3.org/1998/Math/MathML&quot; data-is-equatio=&quot;1&quot; data-equatio-url=&quot;https://equatio-api.texthelp.com/desmos/get/10-10-2023/8fe8b824-82bd-489f-83fb-9c332eef54b3&quot; data-equatio-type=&quot;desmos&quot;&gt;&lt;mglyph src=&quot;https://equatio-api.texthelp.com/desmos/get/10-10-2023/8fe8b824-82bd-489f-83fb-9c332eef54b3&quot; alt=&quot;Equatio Desmos Graph&quot;/&gt;&lt;/math&gt;" id="1041" name="Google Shape;1041;p86" title="Equatio Desmos Graph"/>
          <p:cNvSpPr txBox="1"/>
          <p:nvPr>
            <p:ph idx="1" type="body"/>
          </p:nvPr>
        </p:nvSpPr>
        <p:spPr>
          <a:xfrm>
            <a:off x="4816075" y="1919678"/>
            <a:ext cx="3989400" cy="4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Without grid lines and accurately labelled axes it is difficult </a:t>
            </a:r>
            <a:r>
              <a:rPr lang="en-GB" sz="2000"/>
              <a:t>to read or plot coordinates accurately.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y&quot;&gt;&lt;mi&gt;y&lt;/mi&gt;&lt;/math&gt;" id="1042" name="Google Shape;1042;p86" title="y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60555" y="858000"/>
            <a:ext cx="173522" cy="2375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Drawing axes</a:t>
            </a:r>
            <a:endParaRPr/>
          </a:p>
        </p:txBody>
      </p:sp>
      <p:sp>
        <p:nvSpPr>
          <p:cNvPr descr="&lt;math xmlns=&quot;http://www.w3.org/1998/Math/MathML&quot; data-is-equatio=&quot;1&quot; data-equatio-url=&quot;https://equatio-api.texthelp.com/desmos/get/10-10-2023/8fe8b824-82bd-489f-83fb-9c332eef54b3&quot; data-equatio-type=&quot;desmos&quot;&gt;&lt;mglyph src=&quot;https://equatio-api.texthelp.com/desmos/get/10-10-2023/8fe8b824-82bd-489f-83fb-9c332eef54b3&quot; alt=&quot;Equatio Desmos Graph&quot;/&gt;&lt;/math&gt;" id="1048" name="Google Shape;1048;p87" title="Equatio Desmos Graph"/>
          <p:cNvSpPr txBox="1"/>
          <p:nvPr>
            <p:ph idx="1" type="body"/>
          </p:nvPr>
        </p:nvSpPr>
        <p:spPr>
          <a:xfrm>
            <a:off x="4816075" y="1095375"/>
            <a:ext cx="3989400" cy="4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What is wrong </a:t>
            </a:r>
            <a:r>
              <a:rPr lang="en-GB" sz="2000"/>
              <a:t>with this coordinate</a:t>
            </a:r>
            <a:r>
              <a:rPr lang="en-GB" sz="2000"/>
              <a:t>?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x&quot;&gt;&lt;mi&gt;x&lt;/mi&gt;&lt;/math&gt;" id="1049" name="Google Shape;1049;p87" title="x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7765" y="3024947"/>
            <a:ext cx="168075" cy="1534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0" name="Google Shape;1050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0375" y="1080000"/>
            <a:ext cx="3989400" cy="3740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1051" name="Google Shape;1051;p87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60555" y="858000"/>
            <a:ext cx="173522" cy="237509"/>
          </a:xfrm>
          <a:prstGeom prst="rect">
            <a:avLst/>
          </a:prstGeom>
          <a:noFill/>
          <a:ln>
            <a:noFill/>
          </a:ln>
        </p:spPr>
      </p:pic>
      <p:sp>
        <p:nvSpPr>
          <p:cNvPr descr="&lt;math xmlns=&quot;http://www.w3.org/1998/Math/MathML&quot; data-is-equatio=&quot;1&quot; data-equatio-url=&quot;https://equatio-api.texthelp.com/desmos/get/10-10-2023/8fe8b824-82bd-489f-83fb-9c332eef54b3&quot; data-equatio-type=&quot;desmos&quot;&gt;&lt;mglyph src=&quot;https://equatio-api.texthelp.com/desmos/get/10-10-2023/8fe8b824-82bd-489f-83fb-9c332eef54b3&quot; alt=&quot;Equatio Desmos Graph&quot;/&gt;&lt;/math&gt;" id="1052" name="Google Shape;1052;p87" title="Equatio Desmos Graph"/>
          <p:cNvSpPr txBox="1"/>
          <p:nvPr>
            <p:ph idx="1" type="body"/>
          </p:nvPr>
        </p:nvSpPr>
        <p:spPr>
          <a:xfrm>
            <a:off x="4758325" y="1995450"/>
            <a:ext cx="3989400" cy="4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It looks like 2 in the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direction and 3 in the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 direction but,</a:t>
            </a:r>
            <a:endParaRPr sz="2000"/>
          </a:p>
        </p:txBody>
      </p:sp>
      <p:sp>
        <p:nvSpPr>
          <p:cNvPr descr="&lt;math xmlns=&quot;http://www.w3.org/1998/Math/MathML&quot; data-is-equatio=&quot;1&quot; data-equatio-url=&quot;https://equatio-api.texthelp.com/desmos/get/10-10-2023/8fe8b824-82bd-489f-83fb-9c332eef54b3&quot; data-equatio-type=&quot;desmos&quot;&gt;&lt;mglyph src=&quot;https://equatio-api.texthelp.com/desmos/get/10-10-2023/8fe8b824-82bd-489f-83fb-9c332eef54b3&quot; alt=&quot;Equatio Desmos Graph&quot;/&gt;&lt;/math&gt;" id="1053" name="Google Shape;1053;p87" title="Equatio Desmos Graph"/>
          <p:cNvSpPr txBox="1"/>
          <p:nvPr>
            <p:ph idx="1" type="body"/>
          </p:nvPr>
        </p:nvSpPr>
        <p:spPr>
          <a:xfrm>
            <a:off x="4758325" y="1995438"/>
            <a:ext cx="3989400" cy="4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It looks like 2 in the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direction and 3 in the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 direction but, it doesn’t read like it!</a:t>
            </a:r>
            <a:endParaRPr sz="2000"/>
          </a:p>
        </p:txBody>
      </p:sp>
      <p:sp>
        <p:nvSpPr>
          <p:cNvPr descr="&lt;math xmlns=&quot;http://www.w3.org/1998/Math/MathML&quot; data-is-equatio=&quot;1&quot; data-equatio-url=&quot;https://equatio-api.texthelp.com/desmos/get/10-10-2023/8fe8b824-82bd-489f-83fb-9c332eef54b3&quot; data-equatio-type=&quot;desmos&quot;&gt;&lt;mglyph src=&quot;https://equatio-api.texthelp.com/desmos/get/10-10-2023/8fe8b824-82bd-489f-83fb-9c332eef54b3&quot; alt=&quot;Equatio Desmos Graph&quot;/&gt;&lt;/math&gt;" id="1054" name="Google Shape;1054;p87" title="Equatio Desmos Graph"/>
          <p:cNvSpPr txBox="1"/>
          <p:nvPr>
            <p:ph idx="1" type="body"/>
          </p:nvPr>
        </p:nvSpPr>
        <p:spPr>
          <a:xfrm>
            <a:off x="4758325" y="3367050"/>
            <a:ext cx="3989400" cy="4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What is wrong?</a:t>
            </a:r>
            <a:endParaRPr sz="2000"/>
          </a:p>
        </p:txBody>
      </p:sp>
      <p:sp>
        <p:nvSpPr>
          <p:cNvPr descr="&lt;math xmlns=&quot;http://www.w3.org/1998/Math/MathML&quot; data-is-equatio=&quot;1&quot; data-equatio-url=&quot;https://equatio-api.texthelp.com/desmos/get/10-10-2023/8fe8b824-82bd-489f-83fb-9c332eef54b3&quot; data-equatio-type=&quot;desmos&quot;&gt;&lt;mglyph src=&quot;https://equatio-api.texthelp.com/desmos/get/10-10-2023/8fe8b824-82bd-489f-83fb-9c332eef54b3&quot; alt=&quot;Equatio Desmos Graph&quot;/&gt;&lt;/math&gt;" id="1055" name="Google Shape;1055;p87" title="Equatio Desmos Graph"/>
          <p:cNvSpPr txBox="1"/>
          <p:nvPr>
            <p:ph idx="1" type="body"/>
          </p:nvPr>
        </p:nvSpPr>
        <p:spPr>
          <a:xfrm>
            <a:off x="4758325" y="3932850"/>
            <a:ext cx="3989400" cy="77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</a:t>
            </a:r>
            <a:r>
              <a:rPr lang="en-GB" sz="2000"/>
              <a:t>e </a:t>
            </a:r>
            <a:r>
              <a:rPr lang="en-GB" sz="2000"/>
              <a:t>axes. The origin is marked as 1 on the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axis.</a:t>
            </a:r>
            <a:endParaRPr sz="2000"/>
          </a:p>
        </p:txBody>
      </p:sp>
      <p:grpSp>
        <p:nvGrpSpPr>
          <p:cNvPr id="1056" name="Google Shape;1056;p87"/>
          <p:cNvGrpSpPr/>
          <p:nvPr/>
        </p:nvGrpSpPr>
        <p:grpSpPr>
          <a:xfrm>
            <a:off x="2326838" y="1925950"/>
            <a:ext cx="723000" cy="1015800"/>
            <a:chOff x="2326838" y="1925950"/>
            <a:chExt cx="723000" cy="1015800"/>
          </a:xfrm>
        </p:grpSpPr>
        <p:cxnSp>
          <p:nvCxnSpPr>
            <p:cNvPr id="1057" name="Google Shape;1057;p87"/>
            <p:cNvCxnSpPr/>
            <p:nvPr/>
          </p:nvCxnSpPr>
          <p:spPr>
            <a:xfrm flipH="1">
              <a:off x="3045650" y="1925950"/>
              <a:ext cx="3300" cy="10158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1058" name="Google Shape;1058;p87"/>
            <p:cNvCxnSpPr/>
            <p:nvPr/>
          </p:nvCxnSpPr>
          <p:spPr>
            <a:xfrm flipH="1">
              <a:off x="2326838" y="1932732"/>
              <a:ext cx="723000" cy="27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sp>
        <p:nvSpPr>
          <p:cNvPr id="1059" name="Google Shape;1059;p87"/>
          <p:cNvSpPr/>
          <p:nvPr/>
        </p:nvSpPr>
        <p:spPr>
          <a:xfrm>
            <a:off x="2070650" y="2779126"/>
            <a:ext cx="503100" cy="6135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10-10-2023/6c1b600d-fb04-42a3-8a4d-28afc07bb74f&quot; data-equatio-type=&quot;desmos&quot;&gt;&lt;mglyph src=&quot;https://equatio-api.texthelp.com/desmos/get/10-10-2023/6c1b600d-fb04-42a3-8a4d-28afc07bb74f&quot; alt=&quot;Equatio Desmos Graph&quot;/&gt;&lt;/math&gt;" id="1064" name="Google Shape;1064;p88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125" y="1081050"/>
            <a:ext cx="3989400" cy="3739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5" name="Google Shape;1065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Drawing axes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y&quot;&gt;&lt;mi&gt;y&lt;/mi&gt;&lt;/math&gt;" id="1066" name="Google Shape;1066;p88" title="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60555" y="858000"/>
            <a:ext cx="173522" cy="237509"/>
          </a:xfrm>
          <a:prstGeom prst="rect">
            <a:avLst/>
          </a:prstGeom>
          <a:noFill/>
          <a:ln>
            <a:noFill/>
          </a:ln>
        </p:spPr>
      </p:pic>
      <p:sp>
        <p:nvSpPr>
          <p:cNvPr descr="&lt;math xmlns=&quot;http://www.w3.org/1998/Math/MathML&quot; data-is-equatio=&quot;1&quot; data-equatio-url=&quot;https://equatio-api.texthelp.com/desmos/get/10-10-2023/8fe8b824-82bd-489f-83fb-9c332eef54b3&quot; data-equatio-type=&quot;desmos&quot;&gt;&lt;mglyph src=&quot;https://equatio-api.texthelp.com/desmos/get/10-10-2023/8fe8b824-82bd-489f-83fb-9c332eef54b3&quot; alt=&quot;Equatio Desmos Graph&quot;/&gt;&lt;/math&gt;" id="1067" name="Google Shape;1067;p88" title="Equatio Desmos Graph"/>
          <p:cNvSpPr txBox="1"/>
          <p:nvPr>
            <p:ph idx="1" type="body"/>
          </p:nvPr>
        </p:nvSpPr>
        <p:spPr>
          <a:xfrm>
            <a:off x="4816075" y="1084141"/>
            <a:ext cx="3799800" cy="4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What should go in these blank spaces to keep the scale on 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axis consistent?</a:t>
            </a:r>
            <a:endParaRPr sz="2000"/>
          </a:p>
        </p:txBody>
      </p:sp>
      <p:cxnSp>
        <p:nvCxnSpPr>
          <p:cNvPr id="1068" name="Google Shape;1068;p88"/>
          <p:cNvCxnSpPr>
            <a:stCxn id="1069" idx="2"/>
          </p:cNvCxnSpPr>
          <p:nvPr/>
        </p:nvCxnSpPr>
        <p:spPr>
          <a:xfrm>
            <a:off x="2669309" y="3406375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070" name="Google Shape;1070;p88"/>
          <p:cNvGrpSpPr/>
          <p:nvPr/>
        </p:nvGrpSpPr>
        <p:grpSpPr>
          <a:xfrm>
            <a:off x="2493959" y="2988175"/>
            <a:ext cx="350700" cy="418200"/>
            <a:chOff x="3518250" y="3978775"/>
            <a:chExt cx="350700" cy="418200"/>
          </a:xfrm>
        </p:grpSpPr>
        <p:sp>
          <p:nvSpPr>
            <p:cNvPr id="1069" name="Google Shape;1069;p88"/>
            <p:cNvSpPr/>
            <p:nvPr/>
          </p:nvSpPr>
          <p:spPr>
            <a:xfrm>
              <a:off x="3518250" y="3978775"/>
              <a:ext cx="350700" cy="418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71" name="Google Shape;1071;p88"/>
            <p:cNvCxnSpPr/>
            <p:nvPr/>
          </p:nvCxnSpPr>
          <p:spPr>
            <a:xfrm>
              <a:off x="3562275" y="4325925"/>
              <a:ext cx="2808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72" name="Google Shape;1072;p88"/>
          <p:cNvGrpSpPr/>
          <p:nvPr/>
        </p:nvGrpSpPr>
        <p:grpSpPr>
          <a:xfrm>
            <a:off x="2874959" y="2988175"/>
            <a:ext cx="350700" cy="418200"/>
            <a:chOff x="3518250" y="3978775"/>
            <a:chExt cx="350700" cy="418200"/>
          </a:xfrm>
        </p:grpSpPr>
        <p:sp>
          <p:nvSpPr>
            <p:cNvPr id="1073" name="Google Shape;1073;p88"/>
            <p:cNvSpPr/>
            <p:nvPr/>
          </p:nvSpPr>
          <p:spPr>
            <a:xfrm>
              <a:off x="3518250" y="3978775"/>
              <a:ext cx="350700" cy="418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74" name="Google Shape;1074;p88"/>
            <p:cNvCxnSpPr/>
            <p:nvPr/>
          </p:nvCxnSpPr>
          <p:spPr>
            <a:xfrm>
              <a:off x="3562275" y="4325925"/>
              <a:ext cx="2808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75" name="Google Shape;1075;p88"/>
          <p:cNvGrpSpPr/>
          <p:nvPr/>
        </p:nvGrpSpPr>
        <p:grpSpPr>
          <a:xfrm>
            <a:off x="3213450" y="2988175"/>
            <a:ext cx="350700" cy="418200"/>
            <a:chOff x="3518250" y="3978775"/>
            <a:chExt cx="350700" cy="418200"/>
          </a:xfrm>
        </p:grpSpPr>
        <p:sp>
          <p:nvSpPr>
            <p:cNvPr id="1076" name="Google Shape;1076;p88"/>
            <p:cNvSpPr/>
            <p:nvPr/>
          </p:nvSpPr>
          <p:spPr>
            <a:xfrm>
              <a:off x="3518250" y="3978775"/>
              <a:ext cx="350700" cy="418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77" name="Google Shape;1077;p88"/>
            <p:cNvCxnSpPr/>
            <p:nvPr/>
          </p:nvCxnSpPr>
          <p:spPr>
            <a:xfrm>
              <a:off x="3562275" y="4325925"/>
              <a:ext cx="2808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78" name="Google Shape;1078;p88"/>
          <p:cNvGrpSpPr/>
          <p:nvPr/>
        </p:nvGrpSpPr>
        <p:grpSpPr>
          <a:xfrm>
            <a:off x="3594450" y="2988175"/>
            <a:ext cx="350700" cy="418200"/>
            <a:chOff x="3518250" y="3978775"/>
            <a:chExt cx="350700" cy="418200"/>
          </a:xfrm>
        </p:grpSpPr>
        <p:sp>
          <p:nvSpPr>
            <p:cNvPr id="1079" name="Google Shape;1079;p88"/>
            <p:cNvSpPr/>
            <p:nvPr/>
          </p:nvSpPr>
          <p:spPr>
            <a:xfrm>
              <a:off x="3518250" y="3978775"/>
              <a:ext cx="350700" cy="418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80" name="Google Shape;1080;p88"/>
            <p:cNvCxnSpPr/>
            <p:nvPr/>
          </p:nvCxnSpPr>
          <p:spPr>
            <a:xfrm>
              <a:off x="3562275" y="4325925"/>
              <a:ext cx="2808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081" name="Google Shape;1081;p88"/>
          <p:cNvGrpSpPr/>
          <p:nvPr/>
        </p:nvGrpSpPr>
        <p:grpSpPr>
          <a:xfrm>
            <a:off x="3899250" y="2988175"/>
            <a:ext cx="350700" cy="418200"/>
            <a:chOff x="3518250" y="3978775"/>
            <a:chExt cx="350700" cy="418200"/>
          </a:xfrm>
        </p:grpSpPr>
        <p:sp>
          <p:nvSpPr>
            <p:cNvPr id="1082" name="Google Shape;1082;p88"/>
            <p:cNvSpPr/>
            <p:nvPr/>
          </p:nvSpPr>
          <p:spPr>
            <a:xfrm>
              <a:off x="3518250" y="3978775"/>
              <a:ext cx="350700" cy="418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83" name="Google Shape;1083;p88"/>
            <p:cNvCxnSpPr/>
            <p:nvPr/>
          </p:nvCxnSpPr>
          <p:spPr>
            <a:xfrm>
              <a:off x="3562275" y="4325925"/>
              <a:ext cx="2808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&lt;math xmlns=&quot;http://www.w3.org/1998/Math/MathML&quot; display=&quot;block&quot; data-is-equatio=&quot;1&quot; data-latex=&quot;x&quot;&gt;&lt;mi&gt;x&lt;/mi&gt;&lt;/math&gt;" id="1084" name="Google Shape;1084;p88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95305" y="3002487"/>
            <a:ext cx="168075" cy="153460"/>
          </a:xfrm>
          <a:prstGeom prst="rect">
            <a:avLst/>
          </a:prstGeom>
          <a:noFill/>
          <a:ln>
            <a:noFill/>
          </a:ln>
        </p:spPr>
      </p:pic>
      <p:sp>
        <p:nvSpPr>
          <p:cNvPr descr="&lt;math xmlns=&quot;http://www.w3.org/1998/Math/MathML&quot; data-is-equatio=&quot;1&quot; data-equatio-url=&quot;https://equatio-api.texthelp.com/desmos/get/10-10-2023/8fe8b824-82bd-489f-83fb-9c332eef54b3&quot; data-equatio-type=&quot;desmos&quot;&gt;&lt;mglyph src=&quot;https://equatio-api.texthelp.com/desmos/get/10-10-2023/8fe8b824-82bd-489f-83fb-9c332eef54b3&quot; alt=&quot;Equatio Desmos Graph&quot;/&gt;&lt;/math&gt;" id="1085" name="Google Shape;1085;p88" title="Equatio Desmos Graph"/>
          <p:cNvSpPr txBox="1"/>
          <p:nvPr>
            <p:ph idx="1" type="body"/>
          </p:nvPr>
        </p:nvSpPr>
        <p:spPr>
          <a:xfrm>
            <a:off x="2597457" y="2986729"/>
            <a:ext cx="173400" cy="4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</a:t>
            </a:r>
            <a:endParaRPr sz="2000"/>
          </a:p>
        </p:txBody>
      </p:sp>
      <p:sp>
        <p:nvSpPr>
          <p:cNvPr descr="&lt;math xmlns=&quot;http://www.w3.org/1998/Math/MathML&quot; data-is-equatio=&quot;1&quot; data-equatio-url=&quot;https://equatio-api.texthelp.com/desmos/get/10-10-2023/8fe8b824-82bd-489f-83fb-9c332eef54b3&quot; data-equatio-type=&quot;desmos&quot;&gt;&lt;mglyph src=&quot;https://equatio-api.texthelp.com/desmos/get/10-10-2023/8fe8b824-82bd-489f-83fb-9c332eef54b3&quot; alt=&quot;Equatio Desmos Graph&quot;/&gt;&lt;/math&gt;" id="1086" name="Google Shape;1086;p88" title="Equatio Desmos Graph"/>
          <p:cNvSpPr txBox="1"/>
          <p:nvPr>
            <p:ph idx="1" type="body"/>
          </p:nvPr>
        </p:nvSpPr>
        <p:spPr>
          <a:xfrm>
            <a:off x="2978457" y="2986729"/>
            <a:ext cx="173400" cy="4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4</a:t>
            </a:r>
            <a:endParaRPr sz="2000"/>
          </a:p>
        </p:txBody>
      </p:sp>
      <p:sp>
        <p:nvSpPr>
          <p:cNvPr descr="&lt;math xmlns=&quot;http://www.w3.org/1998/Math/MathML&quot; data-is-equatio=&quot;1&quot; data-equatio-url=&quot;https://equatio-api.texthelp.com/desmos/get/10-10-2023/8fe8b824-82bd-489f-83fb-9c332eef54b3&quot; data-equatio-type=&quot;desmos&quot;&gt;&lt;mglyph src=&quot;https://equatio-api.texthelp.com/desmos/get/10-10-2023/8fe8b824-82bd-489f-83fb-9c332eef54b3&quot; alt=&quot;Equatio Desmos Graph&quot;/&gt;&lt;/math&gt;" id="1087" name="Google Shape;1087;p88" title="Equatio Desmos Graph"/>
          <p:cNvSpPr txBox="1"/>
          <p:nvPr>
            <p:ph idx="1" type="body"/>
          </p:nvPr>
        </p:nvSpPr>
        <p:spPr>
          <a:xfrm>
            <a:off x="3359457" y="2986729"/>
            <a:ext cx="173400" cy="4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6</a:t>
            </a:r>
            <a:endParaRPr sz="2000"/>
          </a:p>
        </p:txBody>
      </p:sp>
      <p:sp>
        <p:nvSpPr>
          <p:cNvPr descr="&lt;math xmlns=&quot;http://www.w3.org/1998/Math/MathML&quot; data-is-equatio=&quot;1&quot; data-equatio-url=&quot;https://equatio-api.texthelp.com/desmos/get/10-10-2023/8fe8b824-82bd-489f-83fb-9c332eef54b3&quot; data-equatio-type=&quot;desmos&quot;&gt;&lt;mglyph src=&quot;https://equatio-api.texthelp.com/desmos/get/10-10-2023/8fe8b824-82bd-489f-83fb-9c332eef54b3&quot; alt=&quot;Equatio Desmos Graph&quot;/&gt;&lt;/math&gt;" id="1088" name="Google Shape;1088;p88" title="Equatio Desmos Graph"/>
          <p:cNvSpPr txBox="1"/>
          <p:nvPr>
            <p:ph idx="1" type="body"/>
          </p:nvPr>
        </p:nvSpPr>
        <p:spPr>
          <a:xfrm>
            <a:off x="3684305" y="2986729"/>
            <a:ext cx="173400" cy="4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8</a:t>
            </a:r>
            <a:endParaRPr sz="2000"/>
          </a:p>
        </p:txBody>
      </p:sp>
      <p:sp>
        <p:nvSpPr>
          <p:cNvPr descr="&lt;math xmlns=&quot;http://www.w3.org/1998/Math/MathML&quot; data-is-equatio=&quot;1&quot; data-equatio-url=&quot;https://equatio-api.texthelp.com/desmos/get/10-10-2023/8fe8b824-82bd-489f-83fb-9c332eef54b3&quot; data-equatio-type=&quot;desmos&quot;&gt;&lt;mglyph src=&quot;https://equatio-api.texthelp.com/desmos/get/10-10-2023/8fe8b824-82bd-489f-83fb-9c332eef54b3&quot; alt=&quot;Equatio Desmos Graph&quot;/&gt;&lt;/math&gt;" id="1089" name="Google Shape;1089;p88" title="Equatio Desmos Graph"/>
          <p:cNvSpPr txBox="1"/>
          <p:nvPr>
            <p:ph idx="1" type="body"/>
          </p:nvPr>
        </p:nvSpPr>
        <p:spPr>
          <a:xfrm>
            <a:off x="3956375" y="2986725"/>
            <a:ext cx="304800" cy="31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10</a:t>
            </a:r>
            <a:endParaRPr sz="2000"/>
          </a:p>
        </p:txBody>
      </p:sp>
      <p:sp>
        <p:nvSpPr>
          <p:cNvPr descr="&lt;math xmlns=&quot;http://www.w3.org/1998/Math/MathML&quot; data-is-equatio=&quot;1&quot; data-equatio-url=&quot;https://equatio-api.texthelp.com/desmos/get/10-10-2023/8fe8b824-82bd-489f-83fb-9c332eef54b3&quot; data-equatio-type=&quot;desmos&quot;&gt;&lt;mglyph src=&quot;https://equatio-api.texthelp.com/desmos/get/10-10-2023/8fe8b824-82bd-489f-83fb-9c332eef54b3&quot; alt=&quot;Equatio Desmos Graph&quot;/&gt;&lt;/math&gt;" id="1090" name="Google Shape;1090;p88" title="Equatio Desmos Graph"/>
          <p:cNvSpPr txBox="1"/>
          <p:nvPr>
            <p:ph idx="1" type="body"/>
          </p:nvPr>
        </p:nvSpPr>
        <p:spPr>
          <a:xfrm>
            <a:off x="4816075" y="2574450"/>
            <a:ext cx="3989400" cy="150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It’s fine that the scale is different on 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and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 axes, just so long as it is the same within each one.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89"/>
          <p:cNvSpPr txBox="1"/>
          <p:nvPr>
            <p:ph idx="1" type="body"/>
          </p:nvPr>
        </p:nvSpPr>
        <p:spPr>
          <a:xfrm>
            <a:off x="324000" y="759300"/>
            <a:ext cx="3979200" cy="78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</a:t>
            </a:r>
            <a:r>
              <a:rPr lang="en-GB"/>
              <a:t>Fill in the blanks to label this coordinate grid, keeping the scale in ones.</a:t>
            </a:r>
            <a:endParaRPr/>
          </a:p>
        </p:txBody>
      </p:sp>
      <p:sp>
        <p:nvSpPr>
          <p:cNvPr id="1096" name="Google Shape;1096;p8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Drawing axes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0-10-2023/0ab2b10d-450f-49ba-95fd-93c04c539bf4&quot; data-equatio-type=&quot;desmos&quot;&gt;&lt;mglyph src=&quot;https://equatio-api.texthelp.com/desmos/get/10-10-2023/0ab2b10d-450f-49ba-95fd-93c04c539bf4&quot; alt=&quot;Equatio Desmos Graph&quot;/&gt;&lt;/math&gt;" id="1097" name="Google Shape;1097;p89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3346" y="821984"/>
            <a:ext cx="3979276" cy="3743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98" name="Google Shape;1098;p89"/>
          <p:cNvGrpSpPr/>
          <p:nvPr/>
        </p:nvGrpSpPr>
        <p:grpSpPr>
          <a:xfrm>
            <a:off x="6078861" y="859224"/>
            <a:ext cx="228411" cy="337195"/>
            <a:chOff x="3518250" y="3978775"/>
            <a:chExt cx="350700" cy="418200"/>
          </a:xfrm>
        </p:grpSpPr>
        <p:sp>
          <p:nvSpPr>
            <p:cNvPr id="1099" name="Google Shape;1099;p89"/>
            <p:cNvSpPr/>
            <p:nvPr/>
          </p:nvSpPr>
          <p:spPr>
            <a:xfrm>
              <a:off x="3518250" y="3978775"/>
              <a:ext cx="350700" cy="418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00" name="Google Shape;1100;p89"/>
            <p:cNvCxnSpPr/>
            <p:nvPr/>
          </p:nvCxnSpPr>
          <p:spPr>
            <a:xfrm>
              <a:off x="3562275" y="4325925"/>
              <a:ext cx="2808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01" name="Google Shape;1101;p89"/>
          <p:cNvGrpSpPr/>
          <p:nvPr/>
        </p:nvGrpSpPr>
        <p:grpSpPr>
          <a:xfrm>
            <a:off x="6078861" y="1164024"/>
            <a:ext cx="228411" cy="337195"/>
            <a:chOff x="3518250" y="3978775"/>
            <a:chExt cx="350700" cy="418200"/>
          </a:xfrm>
        </p:grpSpPr>
        <p:sp>
          <p:nvSpPr>
            <p:cNvPr id="1102" name="Google Shape;1102;p89"/>
            <p:cNvSpPr/>
            <p:nvPr/>
          </p:nvSpPr>
          <p:spPr>
            <a:xfrm>
              <a:off x="3518250" y="3978775"/>
              <a:ext cx="350700" cy="418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03" name="Google Shape;1103;p89"/>
            <p:cNvCxnSpPr/>
            <p:nvPr/>
          </p:nvCxnSpPr>
          <p:spPr>
            <a:xfrm>
              <a:off x="3562275" y="4325925"/>
              <a:ext cx="2808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04" name="Google Shape;1104;p89"/>
          <p:cNvGrpSpPr/>
          <p:nvPr/>
        </p:nvGrpSpPr>
        <p:grpSpPr>
          <a:xfrm>
            <a:off x="6078861" y="1502515"/>
            <a:ext cx="228411" cy="337195"/>
            <a:chOff x="3518250" y="3978775"/>
            <a:chExt cx="350700" cy="418200"/>
          </a:xfrm>
        </p:grpSpPr>
        <p:sp>
          <p:nvSpPr>
            <p:cNvPr id="1105" name="Google Shape;1105;p89"/>
            <p:cNvSpPr/>
            <p:nvPr/>
          </p:nvSpPr>
          <p:spPr>
            <a:xfrm>
              <a:off x="3518250" y="3978775"/>
              <a:ext cx="350700" cy="418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06" name="Google Shape;1106;p89"/>
            <p:cNvCxnSpPr/>
            <p:nvPr/>
          </p:nvCxnSpPr>
          <p:spPr>
            <a:xfrm>
              <a:off x="3562275" y="4325925"/>
              <a:ext cx="2808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07" name="Google Shape;1107;p89"/>
          <p:cNvGrpSpPr/>
          <p:nvPr/>
        </p:nvGrpSpPr>
        <p:grpSpPr>
          <a:xfrm>
            <a:off x="6078861" y="1849824"/>
            <a:ext cx="228411" cy="337195"/>
            <a:chOff x="3518250" y="3978775"/>
            <a:chExt cx="350700" cy="418200"/>
          </a:xfrm>
        </p:grpSpPr>
        <p:sp>
          <p:nvSpPr>
            <p:cNvPr id="1108" name="Google Shape;1108;p89"/>
            <p:cNvSpPr/>
            <p:nvPr/>
          </p:nvSpPr>
          <p:spPr>
            <a:xfrm>
              <a:off x="3518250" y="3978775"/>
              <a:ext cx="350700" cy="418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09" name="Google Shape;1109;p89"/>
            <p:cNvCxnSpPr/>
            <p:nvPr/>
          </p:nvCxnSpPr>
          <p:spPr>
            <a:xfrm>
              <a:off x="3562275" y="4325925"/>
              <a:ext cx="2808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10" name="Google Shape;1110;p89"/>
          <p:cNvGrpSpPr/>
          <p:nvPr/>
        </p:nvGrpSpPr>
        <p:grpSpPr>
          <a:xfrm>
            <a:off x="6078861" y="2188315"/>
            <a:ext cx="228411" cy="337195"/>
            <a:chOff x="3518250" y="3978775"/>
            <a:chExt cx="350700" cy="418200"/>
          </a:xfrm>
        </p:grpSpPr>
        <p:sp>
          <p:nvSpPr>
            <p:cNvPr id="1111" name="Google Shape;1111;p89"/>
            <p:cNvSpPr/>
            <p:nvPr/>
          </p:nvSpPr>
          <p:spPr>
            <a:xfrm>
              <a:off x="3518250" y="3978775"/>
              <a:ext cx="350700" cy="418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12" name="Google Shape;1112;p89"/>
            <p:cNvCxnSpPr/>
            <p:nvPr/>
          </p:nvCxnSpPr>
          <p:spPr>
            <a:xfrm>
              <a:off x="3562275" y="4325925"/>
              <a:ext cx="2808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13" name="Google Shape;1113;p89"/>
          <p:cNvGrpSpPr/>
          <p:nvPr/>
        </p:nvGrpSpPr>
        <p:grpSpPr>
          <a:xfrm>
            <a:off x="6186340" y="2538037"/>
            <a:ext cx="228411" cy="337195"/>
            <a:chOff x="3518250" y="3978775"/>
            <a:chExt cx="350700" cy="418200"/>
          </a:xfrm>
        </p:grpSpPr>
        <p:sp>
          <p:nvSpPr>
            <p:cNvPr id="1114" name="Google Shape;1114;p89"/>
            <p:cNvSpPr/>
            <p:nvPr/>
          </p:nvSpPr>
          <p:spPr>
            <a:xfrm>
              <a:off x="3518250" y="3978775"/>
              <a:ext cx="350700" cy="418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15" name="Google Shape;1115;p89"/>
            <p:cNvCxnSpPr/>
            <p:nvPr/>
          </p:nvCxnSpPr>
          <p:spPr>
            <a:xfrm>
              <a:off x="3562275" y="4325925"/>
              <a:ext cx="2808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16" name="Google Shape;1116;p89"/>
          <p:cNvGrpSpPr/>
          <p:nvPr/>
        </p:nvGrpSpPr>
        <p:grpSpPr>
          <a:xfrm>
            <a:off x="6045170" y="2862885"/>
            <a:ext cx="228411" cy="337195"/>
            <a:chOff x="3518250" y="3978775"/>
            <a:chExt cx="350700" cy="418200"/>
          </a:xfrm>
        </p:grpSpPr>
        <p:sp>
          <p:nvSpPr>
            <p:cNvPr id="1117" name="Google Shape;1117;p89"/>
            <p:cNvSpPr/>
            <p:nvPr/>
          </p:nvSpPr>
          <p:spPr>
            <a:xfrm>
              <a:off x="3518250" y="3978775"/>
              <a:ext cx="350700" cy="418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18" name="Google Shape;1118;p89"/>
            <p:cNvCxnSpPr/>
            <p:nvPr/>
          </p:nvCxnSpPr>
          <p:spPr>
            <a:xfrm>
              <a:off x="3562275" y="4325925"/>
              <a:ext cx="2808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19" name="Google Shape;1119;p89"/>
          <p:cNvGrpSpPr/>
          <p:nvPr/>
        </p:nvGrpSpPr>
        <p:grpSpPr>
          <a:xfrm>
            <a:off x="6045170" y="3167685"/>
            <a:ext cx="228411" cy="337195"/>
            <a:chOff x="3518250" y="3978775"/>
            <a:chExt cx="350700" cy="418200"/>
          </a:xfrm>
        </p:grpSpPr>
        <p:sp>
          <p:nvSpPr>
            <p:cNvPr id="1120" name="Google Shape;1120;p89"/>
            <p:cNvSpPr/>
            <p:nvPr/>
          </p:nvSpPr>
          <p:spPr>
            <a:xfrm>
              <a:off x="3518250" y="3978775"/>
              <a:ext cx="350700" cy="418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21" name="Google Shape;1121;p89"/>
            <p:cNvCxnSpPr/>
            <p:nvPr/>
          </p:nvCxnSpPr>
          <p:spPr>
            <a:xfrm>
              <a:off x="3562275" y="4325925"/>
              <a:ext cx="2808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22" name="Google Shape;1122;p89"/>
          <p:cNvGrpSpPr/>
          <p:nvPr/>
        </p:nvGrpSpPr>
        <p:grpSpPr>
          <a:xfrm>
            <a:off x="6045170" y="3506176"/>
            <a:ext cx="228411" cy="337195"/>
            <a:chOff x="3518250" y="3978775"/>
            <a:chExt cx="350700" cy="418200"/>
          </a:xfrm>
        </p:grpSpPr>
        <p:sp>
          <p:nvSpPr>
            <p:cNvPr id="1123" name="Google Shape;1123;p89"/>
            <p:cNvSpPr/>
            <p:nvPr/>
          </p:nvSpPr>
          <p:spPr>
            <a:xfrm>
              <a:off x="3518250" y="3978775"/>
              <a:ext cx="350700" cy="418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24" name="Google Shape;1124;p89"/>
            <p:cNvCxnSpPr/>
            <p:nvPr/>
          </p:nvCxnSpPr>
          <p:spPr>
            <a:xfrm>
              <a:off x="3562275" y="4325925"/>
              <a:ext cx="2808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25" name="Google Shape;1125;p89"/>
          <p:cNvGrpSpPr/>
          <p:nvPr/>
        </p:nvGrpSpPr>
        <p:grpSpPr>
          <a:xfrm>
            <a:off x="6045170" y="3853485"/>
            <a:ext cx="228411" cy="337195"/>
            <a:chOff x="3518250" y="3978775"/>
            <a:chExt cx="350700" cy="418200"/>
          </a:xfrm>
        </p:grpSpPr>
        <p:sp>
          <p:nvSpPr>
            <p:cNvPr id="1126" name="Google Shape;1126;p89"/>
            <p:cNvSpPr/>
            <p:nvPr/>
          </p:nvSpPr>
          <p:spPr>
            <a:xfrm>
              <a:off x="3518250" y="3978775"/>
              <a:ext cx="350700" cy="418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27" name="Google Shape;1127;p89"/>
            <p:cNvCxnSpPr/>
            <p:nvPr/>
          </p:nvCxnSpPr>
          <p:spPr>
            <a:xfrm>
              <a:off x="3562275" y="4325925"/>
              <a:ext cx="2808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28" name="Google Shape;1128;p89"/>
          <p:cNvGrpSpPr/>
          <p:nvPr/>
        </p:nvGrpSpPr>
        <p:grpSpPr>
          <a:xfrm>
            <a:off x="6045170" y="4191976"/>
            <a:ext cx="228411" cy="337195"/>
            <a:chOff x="3518250" y="3978775"/>
            <a:chExt cx="350700" cy="418200"/>
          </a:xfrm>
        </p:grpSpPr>
        <p:sp>
          <p:nvSpPr>
            <p:cNvPr id="1129" name="Google Shape;1129;p89"/>
            <p:cNvSpPr/>
            <p:nvPr/>
          </p:nvSpPr>
          <p:spPr>
            <a:xfrm>
              <a:off x="3518250" y="3978775"/>
              <a:ext cx="350700" cy="418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30" name="Google Shape;1130;p89"/>
            <p:cNvCxnSpPr/>
            <p:nvPr/>
          </p:nvCxnSpPr>
          <p:spPr>
            <a:xfrm>
              <a:off x="3562275" y="4325925"/>
              <a:ext cx="2808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31" name="Google Shape;1131;p89"/>
          <p:cNvGrpSpPr/>
          <p:nvPr/>
        </p:nvGrpSpPr>
        <p:grpSpPr>
          <a:xfrm>
            <a:off x="5827800" y="2721715"/>
            <a:ext cx="228411" cy="337195"/>
            <a:chOff x="3518250" y="3978775"/>
            <a:chExt cx="350700" cy="418200"/>
          </a:xfrm>
        </p:grpSpPr>
        <p:sp>
          <p:nvSpPr>
            <p:cNvPr id="1132" name="Google Shape;1132;p89"/>
            <p:cNvSpPr/>
            <p:nvPr/>
          </p:nvSpPr>
          <p:spPr>
            <a:xfrm>
              <a:off x="3518250" y="3978775"/>
              <a:ext cx="350700" cy="418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33" name="Google Shape;1133;p89"/>
            <p:cNvCxnSpPr/>
            <p:nvPr/>
          </p:nvCxnSpPr>
          <p:spPr>
            <a:xfrm>
              <a:off x="3562275" y="4325925"/>
              <a:ext cx="2808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34" name="Google Shape;1134;p89"/>
          <p:cNvGrpSpPr/>
          <p:nvPr/>
        </p:nvGrpSpPr>
        <p:grpSpPr>
          <a:xfrm>
            <a:off x="5469261" y="2721715"/>
            <a:ext cx="228411" cy="337195"/>
            <a:chOff x="3518250" y="3978775"/>
            <a:chExt cx="350700" cy="418200"/>
          </a:xfrm>
        </p:grpSpPr>
        <p:sp>
          <p:nvSpPr>
            <p:cNvPr id="1135" name="Google Shape;1135;p89"/>
            <p:cNvSpPr/>
            <p:nvPr/>
          </p:nvSpPr>
          <p:spPr>
            <a:xfrm>
              <a:off x="3518250" y="3978775"/>
              <a:ext cx="350700" cy="418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36" name="Google Shape;1136;p89"/>
            <p:cNvCxnSpPr/>
            <p:nvPr/>
          </p:nvCxnSpPr>
          <p:spPr>
            <a:xfrm>
              <a:off x="3562275" y="4325925"/>
              <a:ext cx="2808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37" name="Google Shape;1137;p89"/>
          <p:cNvGrpSpPr/>
          <p:nvPr/>
        </p:nvGrpSpPr>
        <p:grpSpPr>
          <a:xfrm>
            <a:off x="5099491" y="2721715"/>
            <a:ext cx="228411" cy="337195"/>
            <a:chOff x="3518250" y="3978775"/>
            <a:chExt cx="350700" cy="418200"/>
          </a:xfrm>
        </p:grpSpPr>
        <p:sp>
          <p:nvSpPr>
            <p:cNvPr id="1138" name="Google Shape;1138;p89"/>
            <p:cNvSpPr/>
            <p:nvPr/>
          </p:nvSpPr>
          <p:spPr>
            <a:xfrm>
              <a:off x="3518250" y="3978775"/>
              <a:ext cx="350700" cy="418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39" name="Google Shape;1139;p89"/>
            <p:cNvCxnSpPr/>
            <p:nvPr/>
          </p:nvCxnSpPr>
          <p:spPr>
            <a:xfrm>
              <a:off x="3562275" y="4325925"/>
              <a:ext cx="2808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40" name="Google Shape;1140;p89"/>
          <p:cNvGrpSpPr/>
          <p:nvPr/>
        </p:nvGrpSpPr>
        <p:grpSpPr>
          <a:xfrm>
            <a:off x="4740952" y="2721715"/>
            <a:ext cx="228411" cy="337195"/>
            <a:chOff x="3518250" y="3978775"/>
            <a:chExt cx="350700" cy="418200"/>
          </a:xfrm>
        </p:grpSpPr>
        <p:sp>
          <p:nvSpPr>
            <p:cNvPr id="1141" name="Google Shape;1141;p89"/>
            <p:cNvSpPr/>
            <p:nvPr/>
          </p:nvSpPr>
          <p:spPr>
            <a:xfrm>
              <a:off x="3518250" y="3978775"/>
              <a:ext cx="350700" cy="418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42" name="Google Shape;1142;p89"/>
            <p:cNvCxnSpPr/>
            <p:nvPr/>
          </p:nvCxnSpPr>
          <p:spPr>
            <a:xfrm>
              <a:off x="3562275" y="4325925"/>
              <a:ext cx="2808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43" name="Google Shape;1143;p89"/>
          <p:cNvGrpSpPr/>
          <p:nvPr/>
        </p:nvGrpSpPr>
        <p:grpSpPr>
          <a:xfrm>
            <a:off x="4413691" y="2721715"/>
            <a:ext cx="228411" cy="337195"/>
            <a:chOff x="3518250" y="3978775"/>
            <a:chExt cx="350700" cy="418200"/>
          </a:xfrm>
        </p:grpSpPr>
        <p:sp>
          <p:nvSpPr>
            <p:cNvPr id="1144" name="Google Shape;1144;p89"/>
            <p:cNvSpPr/>
            <p:nvPr/>
          </p:nvSpPr>
          <p:spPr>
            <a:xfrm>
              <a:off x="3518250" y="3978775"/>
              <a:ext cx="350700" cy="418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45" name="Google Shape;1145;p89"/>
            <p:cNvCxnSpPr/>
            <p:nvPr/>
          </p:nvCxnSpPr>
          <p:spPr>
            <a:xfrm>
              <a:off x="3562275" y="4325925"/>
              <a:ext cx="2808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46" name="Google Shape;1146;p89"/>
          <p:cNvGrpSpPr/>
          <p:nvPr/>
        </p:nvGrpSpPr>
        <p:grpSpPr>
          <a:xfrm>
            <a:off x="8037600" y="2721715"/>
            <a:ext cx="228411" cy="337195"/>
            <a:chOff x="3518250" y="3978775"/>
            <a:chExt cx="350700" cy="418200"/>
          </a:xfrm>
        </p:grpSpPr>
        <p:sp>
          <p:nvSpPr>
            <p:cNvPr id="1147" name="Google Shape;1147;p89"/>
            <p:cNvSpPr/>
            <p:nvPr/>
          </p:nvSpPr>
          <p:spPr>
            <a:xfrm>
              <a:off x="3518250" y="3978775"/>
              <a:ext cx="350700" cy="418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48" name="Google Shape;1148;p89"/>
            <p:cNvCxnSpPr/>
            <p:nvPr/>
          </p:nvCxnSpPr>
          <p:spPr>
            <a:xfrm>
              <a:off x="3562275" y="4325925"/>
              <a:ext cx="2808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49" name="Google Shape;1149;p89"/>
          <p:cNvGrpSpPr/>
          <p:nvPr/>
        </p:nvGrpSpPr>
        <p:grpSpPr>
          <a:xfrm>
            <a:off x="7679061" y="2721715"/>
            <a:ext cx="228411" cy="337195"/>
            <a:chOff x="3518250" y="3978775"/>
            <a:chExt cx="350700" cy="418200"/>
          </a:xfrm>
        </p:grpSpPr>
        <p:sp>
          <p:nvSpPr>
            <p:cNvPr id="1150" name="Google Shape;1150;p89"/>
            <p:cNvSpPr/>
            <p:nvPr/>
          </p:nvSpPr>
          <p:spPr>
            <a:xfrm>
              <a:off x="3518250" y="3978775"/>
              <a:ext cx="350700" cy="418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51" name="Google Shape;1151;p89"/>
            <p:cNvCxnSpPr/>
            <p:nvPr/>
          </p:nvCxnSpPr>
          <p:spPr>
            <a:xfrm>
              <a:off x="3562275" y="4325925"/>
              <a:ext cx="2808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52" name="Google Shape;1152;p89"/>
          <p:cNvGrpSpPr/>
          <p:nvPr/>
        </p:nvGrpSpPr>
        <p:grpSpPr>
          <a:xfrm>
            <a:off x="7309291" y="2721715"/>
            <a:ext cx="228411" cy="337195"/>
            <a:chOff x="3518250" y="3978775"/>
            <a:chExt cx="350700" cy="418200"/>
          </a:xfrm>
        </p:grpSpPr>
        <p:sp>
          <p:nvSpPr>
            <p:cNvPr id="1153" name="Google Shape;1153;p89"/>
            <p:cNvSpPr/>
            <p:nvPr/>
          </p:nvSpPr>
          <p:spPr>
            <a:xfrm>
              <a:off x="3518250" y="3978775"/>
              <a:ext cx="350700" cy="418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54" name="Google Shape;1154;p89"/>
            <p:cNvCxnSpPr/>
            <p:nvPr/>
          </p:nvCxnSpPr>
          <p:spPr>
            <a:xfrm>
              <a:off x="3562275" y="4325925"/>
              <a:ext cx="2808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55" name="Google Shape;1155;p89"/>
          <p:cNvGrpSpPr/>
          <p:nvPr/>
        </p:nvGrpSpPr>
        <p:grpSpPr>
          <a:xfrm>
            <a:off x="6950752" y="2721715"/>
            <a:ext cx="228411" cy="337195"/>
            <a:chOff x="3518250" y="3978775"/>
            <a:chExt cx="350700" cy="418200"/>
          </a:xfrm>
        </p:grpSpPr>
        <p:sp>
          <p:nvSpPr>
            <p:cNvPr id="1156" name="Google Shape;1156;p89"/>
            <p:cNvSpPr/>
            <p:nvPr/>
          </p:nvSpPr>
          <p:spPr>
            <a:xfrm>
              <a:off x="3518250" y="3978775"/>
              <a:ext cx="350700" cy="418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57" name="Google Shape;1157;p89"/>
            <p:cNvCxnSpPr/>
            <p:nvPr/>
          </p:nvCxnSpPr>
          <p:spPr>
            <a:xfrm>
              <a:off x="3562275" y="4325925"/>
              <a:ext cx="2808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58" name="Google Shape;1158;p89"/>
          <p:cNvGrpSpPr/>
          <p:nvPr/>
        </p:nvGrpSpPr>
        <p:grpSpPr>
          <a:xfrm>
            <a:off x="6623491" y="2721715"/>
            <a:ext cx="228411" cy="337195"/>
            <a:chOff x="3518250" y="3978775"/>
            <a:chExt cx="350700" cy="418200"/>
          </a:xfrm>
        </p:grpSpPr>
        <p:sp>
          <p:nvSpPr>
            <p:cNvPr id="1159" name="Google Shape;1159;p89"/>
            <p:cNvSpPr/>
            <p:nvPr/>
          </p:nvSpPr>
          <p:spPr>
            <a:xfrm>
              <a:off x="3518250" y="3978775"/>
              <a:ext cx="350700" cy="418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60" name="Google Shape;1160;p89"/>
            <p:cNvCxnSpPr/>
            <p:nvPr/>
          </p:nvCxnSpPr>
          <p:spPr>
            <a:xfrm>
              <a:off x="3562275" y="4325925"/>
              <a:ext cx="2808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161" name="Google Shape;1161;p89"/>
          <p:cNvSpPr txBox="1"/>
          <p:nvPr>
            <p:ph idx="1" type="body"/>
          </p:nvPr>
        </p:nvSpPr>
        <p:spPr>
          <a:xfrm>
            <a:off x="324000" y="2283300"/>
            <a:ext cx="3979200" cy="78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Don’t forget to start with the origin and work outwards.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y&quot;&gt;&lt;mi&gt;y&lt;/mi&gt;&lt;/math&gt;" id="1162" name="Google Shape;1162;p89" title="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9155" y="629400"/>
            <a:ext cx="173522" cy="2375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163" name="Google Shape;1163;p89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33905" y="2773887"/>
            <a:ext cx="168075" cy="1534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10-10-2023/17cf9994-0a62-49e0-9394-565df023902e&quot; data-equatio-type=&quot;desmos&quot;&gt;&lt;mglyph src=&quot;https://equatio-api.texthelp.com/desmos/get/10-10-2023/17cf9994-0a62-49e0-9394-565df023902e&quot; alt=&quot;Equatio Desmos Graph&quot;/&gt;&lt;/math&gt;" id="1168" name="Google Shape;1168;p90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6600" y="821975"/>
            <a:ext cx="3979200" cy="3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9" name="Google Shape;1169;p90"/>
          <p:cNvSpPr txBox="1"/>
          <p:nvPr>
            <p:ph idx="1" type="body"/>
          </p:nvPr>
        </p:nvSpPr>
        <p:spPr>
          <a:xfrm>
            <a:off x="324000" y="759300"/>
            <a:ext cx="3979200" cy="78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</a:t>
            </a:r>
            <a:r>
              <a:rPr lang="en-GB"/>
              <a:t> Fill in the blanks to label this coordinate grid.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Be sure to keep the scale along each axis consistent.</a:t>
            </a:r>
            <a:endParaRPr/>
          </a:p>
        </p:txBody>
      </p:sp>
      <p:sp>
        <p:nvSpPr>
          <p:cNvPr id="1170" name="Google Shape;1170;p9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Drawing axes</a:t>
            </a:r>
            <a:endParaRPr/>
          </a:p>
        </p:txBody>
      </p:sp>
      <p:grpSp>
        <p:nvGrpSpPr>
          <p:cNvPr id="1171" name="Google Shape;1171;p90"/>
          <p:cNvGrpSpPr/>
          <p:nvPr/>
        </p:nvGrpSpPr>
        <p:grpSpPr>
          <a:xfrm>
            <a:off x="6078861" y="1164024"/>
            <a:ext cx="228411" cy="337195"/>
            <a:chOff x="3518250" y="3978775"/>
            <a:chExt cx="350700" cy="418200"/>
          </a:xfrm>
        </p:grpSpPr>
        <p:sp>
          <p:nvSpPr>
            <p:cNvPr id="1172" name="Google Shape;1172;p90"/>
            <p:cNvSpPr/>
            <p:nvPr/>
          </p:nvSpPr>
          <p:spPr>
            <a:xfrm>
              <a:off x="3518250" y="3978775"/>
              <a:ext cx="350700" cy="418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73" name="Google Shape;1173;p90"/>
            <p:cNvCxnSpPr/>
            <p:nvPr/>
          </p:nvCxnSpPr>
          <p:spPr>
            <a:xfrm>
              <a:off x="3562275" y="4325925"/>
              <a:ext cx="2808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74" name="Google Shape;1174;p90"/>
          <p:cNvGrpSpPr/>
          <p:nvPr/>
        </p:nvGrpSpPr>
        <p:grpSpPr>
          <a:xfrm>
            <a:off x="6078861" y="1502515"/>
            <a:ext cx="228411" cy="337195"/>
            <a:chOff x="3518250" y="3978775"/>
            <a:chExt cx="350700" cy="418200"/>
          </a:xfrm>
        </p:grpSpPr>
        <p:sp>
          <p:nvSpPr>
            <p:cNvPr id="1175" name="Google Shape;1175;p90"/>
            <p:cNvSpPr/>
            <p:nvPr/>
          </p:nvSpPr>
          <p:spPr>
            <a:xfrm>
              <a:off x="3518250" y="3978775"/>
              <a:ext cx="350700" cy="418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76" name="Google Shape;1176;p90"/>
            <p:cNvCxnSpPr/>
            <p:nvPr/>
          </p:nvCxnSpPr>
          <p:spPr>
            <a:xfrm>
              <a:off x="3562275" y="4325925"/>
              <a:ext cx="2808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77" name="Google Shape;1177;p90"/>
          <p:cNvGrpSpPr/>
          <p:nvPr/>
        </p:nvGrpSpPr>
        <p:grpSpPr>
          <a:xfrm>
            <a:off x="6078861" y="1849824"/>
            <a:ext cx="228411" cy="337195"/>
            <a:chOff x="3518250" y="3978775"/>
            <a:chExt cx="350700" cy="418200"/>
          </a:xfrm>
        </p:grpSpPr>
        <p:sp>
          <p:nvSpPr>
            <p:cNvPr id="1178" name="Google Shape;1178;p90"/>
            <p:cNvSpPr/>
            <p:nvPr/>
          </p:nvSpPr>
          <p:spPr>
            <a:xfrm>
              <a:off x="3518250" y="3978775"/>
              <a:ext cx="350700" cy="418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79" name="Google Shape;1179;p90"/>
            <p:cNvCxnSpPr/>
            <p:nvPr/>
          </p:nvCxnSpPr>
          <p:spPr>
            <a:xfrm>
              <a:off x="3562275" y="4325925"/>
              <a:ext cx="2808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80" name="Google Shape;1180;p90"/>
          <p:cNvGrpSpPr/>
          <p:nvPr/>
        </p:nvGrpSpPr>
        <p:grpSpPr>
          <a:xfrm>
            <a:off x="6186340" y="2538037"/>
            <a:ext cx="228411" cy="337195"/>
            <a:chOff x="3518250" y="3978775"/>
            <a:chExt cx="350700" cy="418200"/>
          </a:xfrm>
        </p:grpSpPr>
        <p:sp>
          <p:nvSpPr>
            <p:cNvPr id="1181" name="Google Shape;1181;p90"/>
            <p:cNvSpPr/>
            <p:nvPr/>
          </p:nvSpPr>
          <p:spPr>
            <a:xfrm>
              <a:off x="3518250" y="3978775"/>
              <a:ext cx="350700" cy="418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82" name="Google Shape;1182;p90"/>
            <p:cNvCxnSpPr/>
            <p:nvPr/>
          </p:nvCxnSpPr>
          <p:spPr>
            <a:xfrm>
              <a:off x="3562275" y="4325925"/>
              <a:ext cx="2808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83" name="Google Shape;1183;p90"/>
          <p:cNvGrpSpPr/>
          <p:nvPr/>
        </p:nvGrpSpPr>
        <p:grpSpPr>
          <a:xfrm>
            <a:off x="6045170" y="2862885"/>
            <a:ext cx="228411" cy="337195"/>
            <a:chOff x="3518250" y="3978775"/>
            <a:chExt cx="350700" cy="418200"/>
          </a:xfrm>
        </p:grpSpPr>
        <p:sp>
          <p:nvSpPr>
            <p:cNvPr id="1184" name="Google Shape;1184;p90"/>
            <p:cNvSpPr/>
            <p:nvPr/>
          </p:nvSpPr>
          <p:spPr>
            <a:xfrm>
              <a:off x="3518250" y="3978775"/>
              <a:ext cx="350700" cy="418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85" name="Google Shape;1185;p90"/>
            <p:cNvCxnSpPr/>
            <p:nvPr/>
          </p:nvCxnSpPr>
          <p:spPr>
            <a:xfrm>
              <a:off x="3562275" y="4325925"/>
              <a:ext cx="2808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86" name="Google Shape;1186;p90"/>
          <p:cNvGrpSpPr/>
          <p:nvPr/>
        </p:nvGrpSpPr>
        <p:grpSpPr>
          <a:xfrm>
            <a:off x="6045170" y="3167685"/>
            <a:ext cx="228411" cy="337195"/>
            <a:chOff x="3518250" y="3978775"/>
            <a:chExt cx="350700" cy="418200"/>
          </a:xfrm>
        </p:grpSpPr>
        <p:sp>
          <p:nvSpPr>
            <p:cNvPr id="1187" name="Google Shape;1187;p90"/>
            <p:cNvSpPr/>
            <p:nvPr/>
          </p:nvSpPr>
          <p:spPr>
            <a:xfrm>
              <a:off x="3518250" y="3978775"/>
              <a:ext cx="350700" cy="418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88" name="Google Shape;1188;p90"/>
            <p:cNvCxnSpPr/>
            <p:nvPr/>
          </p:nvCxnSpPr>
          <p:spPr>
            <a:xfrm>
              <a:off x="3562275" y="4325925"/>
              <a:ext cx="2808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89" name="Google Shape;1189;p90"/>
          <p:cNvGrpSpPr/>
          <p:nvPr/>
        </p:nvGrpSpPr>
        <p:grpSpPr>
          <a:xfrm>
            <a:off x="6045170" y="3506176"/>
            <a:ext cx="228411" cy="337195"/>
            <a:chOff x="3518250" y="3978775"/>
            <a:chExt cx="350700" cy="418200"/>
          </a:xfrm>
        </p:grpSpPr>
        <p:sp>
          <p:nvSpPr>
            <p:cNvPr id="1190" name="Google Shape;1190;p90"/>
            <p:cNvSpPr/>
            <p:nvPr/>
          </p:nvSpPr>
          <p:spPr>
            <a:xfrm>
              <a:off x="3518250" y="3978775"/>
              <a:ext cx="350700" cy="418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91" name="Google Shape;1191;p90"/>
            <p:cNvCxnSpPr/>
            <p:nvPr/>
          </p:nvCxnSpPr>
          <p:spPr>
            <a:xfrm>
              <a:off x="3562275" y="4325925"/>
              <a:ext cx="2808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92" name="Google Shape;1192;p90"/>
          <p:cNvGrpSpPr/>
          <p:nvPr/>
        </p:nvGrpSpPr>
        <p:grpSpPr>
          <a:xfrm>
            <a:off x="6045170" y="3853485"/>
            <a:ext cx="228411" cy="337195"/>
            <a:chOff x="3518250" y="3978775"/>
            <a:chExt cx="350700" cy="418200"/>
          </a:xfrm>
        </p:grpSpPr>
        <p:sp>
          <p:nvSpPr>
            <p:cNvPr id="1193" name="Google Shape;1193;p90"/>
            <p:cNvSpPr/>
            <p:nvPr/>
          </p:nvSpPr>
          <p:spPr>
            <a:xfrm>
              <a:off x="3518250" y="3978775"/>
              <a:ext cx="350700" cy="418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94" name="Google Shape;1194;p90"/>
            <p:cNvCxnSpPr/>
            <p:nvPr/>
          </p:nvCxnSpPr>
          <p:spPr>
            <a:xfrm>
              <a:off x="3562275" y="4325925"/>
              <a:ext cx="2808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95" name="Google Shape;1195;p90"/>
          <p:cNvGrpSpPr/>
          <p:nvPr/>
        </p:nvGrpSpPr>
        <p:grpSpPr>
          <a:xfrm>
            <a:off x="6045170" y="4191976"/>
            <a:ext cx="228411" cy="337195"/>
            <a:chOff x="3518250" y="3978775"/>
            <a:chExt cx="350700" cy="418200"/>
          </a:xfrm>
        </p:grpSpPr>
        <p:sp>
          <p:nvSpPr>
            <p:cNvPr id="1196" name="Google Shape;1196;p90"/>
            <p:cNvSpPr/>
            <p:nvPr/>
          </p:nvSpPr>
          <p:spPr>
            <a:xfrm>
              <a:off x="3518250" y="3978775"/>
              <a:ext cx="350700" cy="418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197" name="Google Shape;1197;p90"/>
            <p:cNvCxnSpPr/>
            <p:nvPr/>
          </p:nvCxnSpPr>
          <p:spPr>
            <a:xfrm>
              <a:off x="3562275" y="4325925"/>
              <a:ext cx="2808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198" name="Google Shape;1198;p90"/>
          <p:cNvGrpSpPr/>
          <p:nvPr/>
        </p:nvGrpSpPr>
        <p:grpSpPr>
          <a:xfrm>
            <a:off x="5827800" y="2721715"/>
            <a:ext cx="228411" cy="337195"/>
            <a:chOff x="3518250" y="3978775"/>
            <a:chExt cx="350700" cy="418200"/>
          </a:xfrm>
        </p:grpSpPr>
        <p:sp>
          <p:nvSpPr>
            <p:cNvPr id="1199" name="Google Shape;1199;p90"/>
            <p:cNvSpPr/>
            <p:nvPr/>
          </p:nvSpPr>
          <p:spPr>
            <a:xfrm>
              <a:off x="3518250" y="3978775"/>
              <a:ext cx="350700" cy="418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00" name="Google Shape;1200;p90"/>
            <p:cNvCxnSpPr/>
            <p:nvPr/>
          </p:nvCxnSpPr>
          <p:spPr>
            <a:xfrm>
              <a:off x="3562275" y="4325925"/>
              <a:ext cx="2808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01" name="Google Shape;1201;p90"/>
          <p:cNvGrpSpPr/>
          <p:nvPr/>
        </p:nvGrpSpPr>
        <p:grpSpPr>
          <a:xfrm>
            <a:off x="5450949" y="2721849"/>
            <a:ext cx="291782" cy="337195"/>
            <a:chOff x="3518250" y="3978775"/>
            <a:chExt cx="350700" cy="418200"/>
          </a:xfrm>
        </p:grpSpPr>
        <p:sp>
          <p:nvSpPr>
            <p:cNvPr id="1202" name="Google Shape;1202;p90"/>
            <p:cNvSpPr/>
            <p:nvPr/>
          </p:nvSpPr>
          <p:spPr>
            <a:xfrm>
              <a:off x="3518250" y="3978775"/>
              <a:ext cx="350700" cy="418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03" name="Google Shape;1203;p90"/>
            <p:cNvCxnSpPr/>
            <p:nvPr/>
          </p:nvCxnSpPr>
          <p:spPr>
            <a:xfrm>
              <a:off x="3562275" y="4325925"/>
              <a:ext cx="2808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04" name="Google Shape;1204;p90"/>
          <p:cNvGrpSpPr/>
          <p:nvPr/>
        </p:nvGrpSpPr>
        <p:grpSpPr>
          <a:xfrm>
            <a:off x="4720724" y="2721849"/>
            <a:ext cx="291782" cy="337195"/>
            <a:chOff x="3518250" y="3978775"/>
            <a:chExt cx="350700" cy="418200"/>
          </a:xfrm>
        </p:grpSpPr>
        <p:sp>
          <p:nvSpPr>
            <p:cNvPr id="1205" name="Google Shape;1205;p90"/>
            <p:cNvSpPr/>
            <p:nvPr/>
          </p:nvSpPr>
          <p:spPr>
            <a:xfrm>
              <a:off x="3518250" y="3978775"/>
              <a:ext cx="350700" cy="418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06" name="Google Shape;1206;p90"/>
            <p:cNvCxnSpPr/>
            <p:nvPr/>
          </p:nvCxnSpPr>
          <p:spPr>
            <a:xfrm>
              <a:off x="3562275" y="4325925"/>
              <a:ext cx="2808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07" name="Google Shape;1207;p90"/>
          <p:cNvGrpSpPr/>
          <p:nvPr/>
        </p:nvGrpSpPr>
        <p:grpSpPr>
          <a:xfrm>
            <a:off x="4369234" y="2721849"/>
            <a:ext cx="291782" cy="337195"/>
            <a:chOff x="3518250" y="3978775"/>
            <a:chExt cx="350700" cy="418200"/>
          </a:xfrm>
        </p:grpSpPr>
        <p:sp>
          <p:nvSpPr>
            <p:cNvPr id="1208" name="Google Shape;1208;p90"/>
            <p:cNvSpPr/>
            <p:nvPr/>
          </p:nvSpPr>
          <p:spPr>
            <a:xfrm>
              <a:off x="3518250" y="3978775"/>
              <a:ext cx="350700" cy="418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09" name="Google Shape;1209;p90"/>
            <p:cNvCxnSpPr/>
            <p:nvPr/>
          </p:nvCxnSpPr>
          <p:spPr>
            <a:xfrm>
              <a:off x="3562275" y="4325925"/>
              <a:ext cx="2808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10" name="Google Shape;1210;p90"/>
          <p:cNvGrpSpPr/>
          <p:nvPr/>
        </p:nvGrpSpPr>
        <p:grpSpPr>
          <a:xfrm>
            <a:off x="8015140" y="2721715"/>
            <a:ext cx="228411" cy="337195"/>
            <a:chOff x="3518250" y="3978775"/>
            <a:chExt cx="350700" cy="418200"/>
          </a:xfrm>
        </p:grpSpPr>
        <p:sp>
          <p:nvSpPr>
            <p:cNvPr id="1211" name="Google Shape;1211;p90"/>
            <p:cNvSpPr/>
            <p:nvPr/>
          </p:nvSpPr>
          <p:spPr>
            <a:xfrm>
              <a:off x="3518250" y="3978775"/>
              <a:ext cx="350700" cy="418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12" name="Google Shape;1212;p90"/>
            <p:cNvCxnSpPr/>
            <p:nvPr/>
          </p:nvCxnSpPr>
          <p:spPr>
            <a:xfrm>
              <a:off x="3562275" y="4325925"/>
              <a:ext cx="2808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13" name="Google Shape;1213;p90"/>
          <p:cNvGrpSpPr/>
          <p:nvPr/>
        </p:nvGrpSpPr>
        <p:grpSpPr>
          <a:xfrm>
            <a:off x="7309291" y="2721715"/>
            <a:ext cx="228411" cy="337195"/>
            <a:chOff x="3518250" y="3978775"/>
            <a:chExt cx="350700" cy="418200"/>
          </a:xfrm>
        </p:grpSpPr>
        <p:sp>
          <p:nvSpPr>
            <p:cNvPr id="1214" name="Google Shape;1214;p90"/>
            <p:cNvSpPr/>
            <p:nvPr/>
          </p:nvSpPr>
          <p:spPr>
            <a:xfrm>
              <a:off x="3518250" y="3978775"/>
              <a:ext cx="350700" cy="418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15" name="Google Shape;1215;p90"/>
            <p:cNvCxnSpPr/>
            <p:nvPr/>
          </p:nvCxnSpPr>
          <p:spPr>
            <a:xfrm>
              <a:off x="3562275" y="4325925"/>
              <a:ext cx="2808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16" name="Google Shape;1216;p90"/>
          <p:cNvGrpSpPr/>
          <p:nvPr/>
        </p:nvGrpSpPr>
        <p:grpSpPr>
          <a:xfrm>
            <a:off x="6623491" y="2721715"/>
            <a:ext cx="228411" cy="337195"/>
            <a:chOff x="3518250" y="3978775"/>
            <a:chExt cx="350700" cy="418200"/>
          </a:xfrm>
        </p:grpSpPr>
        <p:sp>
          <p:nvSpPr>
            <p:cNvPr id="1217" name="Google Shape;1217;p90"/>
            <p:cNvSpPr/>
            <p:nvPr/>
          </p:nvSpPr>
          <p:spPr>
            <a:xfrm>
              <a:off x="3518250" y="3978775"/>
              <a:ext cx="350700" cy="418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18" name="Google Shape;1218;p90"/>
            <p:cNvCxnSpPr/>
            <p:nvPr/>
          </p:nvCxnSpPr>
          <p:spPr>
            <a:xfrm>
              <a:off x="3562275" y="4325925"/>
              <a:ext cx="2808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&lt;math xmlns=&quot;http://www.w3.org/1998/Math/MathML&quot; display=&quot;block&quot; data-is-equatio=&quot;1&quot; data-latex=&quot;y&quot;&gt;&lt;mi&gt;y&lt;/mi&gt;&lt;/math&gt;" id="1219" name="Google Shape;1219;p90" title="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9155" y="629400"/>
            <a:ext cx="173522" cy="2375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220" name="Google Shape;1220;p90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33905" y="2773887"/>
            <a:ext cx="168075" cy="1534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p91"/>
          <p:cNvSpPr txBox="1"/>
          <p:nvPr>
            <p:ph idx="1" type="body"/>
          </p:nvPr>
        </p:nvSpPr>
        <p:spPr>
          <a:xfrm>
            <a:off x="324000" y="759300"/>
            <a:ext cx="7640700" cy="78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3)</a:t>
            </a:r>
            <a:r>
              <a:rPr lang="en-GB"/>
              <a:t> You see this in Jacob’s book.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What advice would you give him to improve his work?</a:t>
            </a:r>
            <a:endParaRPr/>
          </a:p>
        </p:txBody>
      </p:sp>
      <p:sp>
        <p:nvSpPr>
          <p:cNvPr id="1226" name="Google Shape;1226;p9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Drawing axes</a:t>
            </a:r>
            <a:endParaRPr/>
          </a:p>
        </p:txBody>
      </p:sp>
      <p:pic>
        <p:nvPicPr>
          <p:cNvPr id="1227" name="Google Shape;1227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6250" y="1364475"/>
            <a:ext cx="1134676" cy="13977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28" name="Google Shape;1228;p91"/>
          <p:cNvGraphicFramePr/>
          <p:nvPr/>
        </p:nvGraphicFramePr>
        <p:xfrm>
          <a:off x="323988" y="1830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{27F4DC1D-81E0-47BE-9E47-8C7D2A826903}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229" name="Google Shape;1229;p91"/>
          <p:cNvGrpSpPr/>
          <p:nvPr/>
        </p:nvGrpSpPr>
        <p:grpSpPr>
          <a:xfrm>
            <a:off x="409025" y="1888850"/>
            <a:ext cx="3243000" cy="2888400"/>
            <a:chOff x="4086100" y="1830325"/>
            <a:chExt cx="3243000" cy="2888400"/>
          </a:xfrm>
        </p:grpSpPr>
        <p:cxnSp>
          <p:nvCxnSpPr>
            <p:cNvPr id="1230" name="Google Shape;1230;p91"/>
            <p:cNvCxnSpPr/>
            <p:nvPr/>
          </p:nvCxnSpPr>
          <p:spPr>
            <a:xfrm>
              <a:off x="5723900" y="1830325"/>
              <a:ext cx="0" cy="2888400"/>
            </a:xfrm>
            <a:prstGeom prst="straightConnector1">
              <a:avLst/>
            </a:prstGeom>
            <a:noFill/>
            <a:ln cap="flat" cmpd="sng" w="2857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1" name="Google Shape;1231;p91"/>
            <p:cNvCxnSpPr/>
            <p:nvPr/>
          </p:nvCxnSpPr>
          <p:spPr>
            <a:xfrm rot="10800000">
              <a:off x="4086100" y="3295800"/>
              <a:ext cx="3243000" cy="0"/>
            </a:xfrm>
            <a:prstGeom prst="straightConnector1">
              <a:avLst/>
            </a:prstGeom>
            <a:noFill/>
            <a:ln cap="flat" cmpd="sng" w="2857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32" name="Google Shape;1232;p91"/>
            <p:cNvSpPr/>
            <p:nvPr/>
          </p:nvSpPr>
          <p:spPr>
            <a:xfrm>
              <a:off x="6060450" y="3240000"/>
              <a:ext cx="392700" cy="4521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3" name="Google Shape;1233;p91"/>
            <p:cNvSpPr/>
            <p:nvPr/>
          </p:nvSpPr>
          <p:spPr>
            <a:xfrm>
              <a:off x="6498738" y="3240000"/>
              <a:ext cx="392700" cy="4521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4" name="Google Shape;1234;p91"/>
            <p:cNvSpPr/>
            <p:nvPr/>
          </p:nvSpPr>
          <p:spPr>
            <a:xfrm>
              <a:off x="6891450" y="3240000"/>
              <a:ext cx="392700" cy="4521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5" name="Google Shape;1235;p91"/>
            <p:cNvSpPr/>
            <p:nvPr/>
          </p:nvSpPr>
          <p:spPr>
            <a:xfrm>
              <a:off x="4139500" y="3240000"/>
              <a:ext cx="502200" cy="4521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−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6" name="Google Shape;1236;p91"/>
            <p:cNvSpPr/>
            <p:nvPr/>
          </p:nvSpPr>
          <p:spPr>
            <a:xfrm>
              <a:off x="4501613" y="3240000"/>
              <a:ext cx="502200" cy="4521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−2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7" name="Google Shape;1237;p91"/>
            <p:cNvSpPr/>
            <p:nvPr/>
          </p:nvSpPr>
          <p:spPr>
            <a:xfrm>
              <a:off x="4931700" y="3240000"/>
              <a:ext cx="502200" cy="4521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−1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8" name="Google Shape;1238;p91"/>
            <p:cNvSpPr/>
            <p:nvPr/>
          </p:nvSpPr>
          <p:spPr>
            <a:xfrm>
              <a:off x="5657500" y="2693025"/>
              <a:ext cx="392700" cy="4521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9" name="Google Shape;1239;p91"/>
            <p:cNvSpPr/>
            <p:nvPr/>
          </p:nvSpPr>
          <p:spPr>
            <a:xfrm>
              <a:off x="5657488" y="2314575"/>
              <a:ext cx="392700" cy="4521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0" name="Google Shape;1240;p91"/>
            <p:cNvSpPr/>
            <p:nvPr/>
          </p:nvSpPr>
          <p:spPr>
            <a:xfrm>
              <a:off x="5657500" y="1892063"/>
              <a:ext cx="392700" cy="4521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1" name="Google Shape;1241;p91"/>
            <p:cNvSpPr/>
            <p:nvPr/>
          </p:nvSpPr>
          <p:spPr>
            <a:xfrm>
              <a:off x="5657500" y="4199775"/>
              <a:ext cx="502200" cy="4521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−3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2" name="Google Shape;1242;p91"/>
            <p:cNvSpPr/>
            <p:nvPr/>
          </p:nvSpPr>
          <p:spPr>
            <a:xfrm>
              <a:off x="5657488" y="3824925"/>
              <a:ext cx="502200" cy="4521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−2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3" name="Google Shape;1243;p91"/>
            <p:cNvSpPr/>
            <p:nvPr/>
          </p:nvSpPr>
          <p:spPr>
            <a:xfrm>
              <a:off x="5657500" y="3446479"/>
              <a:ext cx="502200" cy="4521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−1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7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p9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Drawing axes</a:t>
            </a:r>
            <a:endParaRPr/>
          </a:p>
        </p:txBody>
      </p:sp>
      <p:sp>
        <p:nvSpPr>
          <p:cNvPr id="1249" name="Google Shape;1249;p92"/>
          <p:cNvSpPr txBox="1"/>
          <p:nvPr>
            <p:ph idx="1" type="body"/>
          </p:nvPr>
        </p:nvSpPr>
        <p:spPr>
          <a:xfrm>
            <a:off x="324000" y="759300"/>
            <a:ext cx="3979200" cy="78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1) Fill in the blanks to label this coordinate grid, keeping the scale in ones.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0-10-2023/0ab2b10d-450f-49ba-95fd-93c04c539bf4&quot; data-equatio-type=&quot;desmos&quot;&gt;&lt;mglyph src=&quot;https://equatio-api.texthelp.com/desmos/get/10-10-2023/0ab2b10d-450f-49ba-95fd-93c04c539bf4&quot; alt=&quot;Equatio Desmos Graph&quot;/&gt;&lt;/math&gt;" id="1250" name="Google Shape;1250;p92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3346" y="821984"/>
            <a:ext cx="3979276" cy="3743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51" name="Google Shape;1251;p92"/>
          <p:cNvGrpSpPr/>
          <p:nvPr/>
        </p:nvGrpSpPr>
        <p:grpSpPr>
          <a:xfrm>
            <a:off x="6078861" y="859224"/>
            <a:ext cx="228411" cy="1666286"/>
            <a:chOff x="6078861" y="859224"/>
            <a:chExt cx="228411" cy="1666286"/>
          </a:xfrm>
        </p:grpSpPr>
        <p:grpSp>
          <p:nvGrpSpPr>
            <p:cNvPr id="1252" name="Google Shape;1252;p92"/>
            <p:cNvGrpSpPr/>
            <p:nvPr/>
          </p:nvGrpSpPr>
          <p:grpSpPr>
            <a:xfrm>
              <a:off x="6078861" y="859224"/>
              <a:ext cx="228411" cy="337195"/>
              <a:chOff x="3518250" y="3978775"/>
              <a:chExt cx="350700" cy="418200"/>
            </a:xfrm>
          </p:grpSpPr>
          <p:sp>
            <p:nvSpPr>
              <p:cNvPr id="1253" name="Google Shape;1253;p92"/>
              <p:cNvSpPr/>
              <p:nvPr/>
            </p:nvSpPr>
            <p:spPr>
              <a:xfrm>
                <a:off x="3518250" y="3978775"/>
                <a:ext cx="350700" cy="4182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254" name="Google Shape;1254;p92"/>
              <p:cNvCxnSpPr/>
              <p:nvPr/>
            </p:nvCxnSpPr>
            <p:spPr>
              <a:xfrm>
                <a:off x="3562275" y="4325925"/>
                <a:ext cx="2808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255" name="Google Shape;1255;p92"/>
            <p:cNvGrpSpPr/>
            <p:nvPr/>
          </p:nvGrpSpPr>
          <p:grpSpPr>
            <a:xfrm>
              <a:off x="6078861" y="1164024"/>
              <a:ext cx="228411" cy="337195"/>
              <a:chOff x="3518250" y="3978775"/>
              <a:chExt cx="350700" cy="418200"/>
            </a:xfrm>
          </p:grpSpPr>
          <p:sp>
            <p:nvSpPr>
              <p:cNvPr id="1256" name="Google Shape;1256;p92"/>
              <p:cNvSpPr/>
              <p:nvPr/>
            </p:nvSpPr>
            <p:spPr>
              <a:xfrm>
                <a:off x="3518250" y="3978775"/>
                <a:ext cx="350700" cy="4182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257" name="Google Shape;1257;p92"/>
              <p:cNvCxnSpPr/>
              <p:nvPr/>
            </p:nvCxnSpPr>
            <p:spPr>
              <a:xfrm>
                <a:off x="3562275" y="4325925"/>
                <a:ext cx="2808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258" name="Google Shape;1258;p92"/>
            <p:cNvGrpSpPr/>
            <p:nvPr/>
          </p:nvGrpSpPr>
          <p:grpSpPr>
            <a:xfrm>
              <a:off x="6078861" y="1502515"/>
              <a:ext cx="228411" cy="337195"/>
              <a:chOff x="3518250" y="3978775"/>
              <a:chExt cx="350700" cy="418200"/>
            </a:xfrm>
          </p:grpSpPr>
          <p:sp>
            <p:nvSpPr>
              <p:cNvPr id="1259" name="Google Shape;1259;p92"/>
              <p:cNvSpPr/>
              <p:nvPr/>
            </p:nvSpPr>
            <p:spPr>
              <a:xfrm>
                <a:off x="3518250" y="3978775"/>
                <a:ext cx="350700" cy="4182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260" name="Google Shape;1260;p92"/>
              <p:cNvCxnSpPr/>
              <p:nvPr/>
            </p:nvCxnSpPr>
            <p:spPr>
              <a:xfrm>
                <a:off x="3562275" y="4325925"/>
                <a:ext cx="2808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261" name="Google Shape;1261;p92"/>
            <p:cNvGrpSpPr/>
            <p:nvPr/>
          </p:nvGrpSpPr>
          <p:grpSpPr>
            <a:xfrm>
              <a:off x="6078861" y="1849824"/>
              <a:ext cx="228411" cy="337195"/>
              <a:chOff x="3518250" y="3978775"/>
              <a:chExt cx="350700" cy="418200"/>
            </a:xfrm>
          </p:grpSpPr>
          <p:sp>
            <p:nvSpPr>
              <p:cNvPr id="1262" name="Google Shape;1262;p92"/>
              <p:cNvSpPr/>
              <p:nvPr/>
            </p:nvSpPr>
            <p:spPr>
              <a:xfrm>
                <a:off x="3518250" y="3978775"/>
                <a:ext cx="350700" cy="4182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263" name="Google Shape;1263;p92"/>
              <p:cNvCxnSpPr/>
              <p:nvPr/>
            </p:nvCxnSpPr>
            <p:spPr>
              <a:xfrm>
                <a:off x="3562275" y="4325925"/>
                <a:ext cx="2808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264" name="Google Shape;1264;p92"/>
            <p:cNvGrpSpPr/>
            <p:nvPr/>
          </p:nvGrpSpPr>
          <p:grpSpPr>
            <a:xfrm>
              <a:off x="6078861" y="2188315"/>
              <a:ext cx="228411" cy="337195"/>
              <a:chOff x="3518250" y="3978775"/>
              <a:chExt cx="350700" cy="418200"/>
            </a:xfrm>
          </p:grpSpPr>
          <p:sp>
            <p:nvSpPr>
              <p:cNvPr id="1265" name="Google Shape;1265;p92"/>
              <p:cNvSpPr/>
              <p:nvPr/>
            </p:nvSpPr>
            <p:spPr>
              <a:xfrm>
                <a:off x="3518250" y="3978775"/>
                <a:ext cx="350700" cy="4182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266" name="Google Shape;1266;p92"/>
              <p:cNvCxnSpPr/>
              <p:nvPr/>
            </p:nvCxnSpPr>
            <p:spPr>
              <a:xfrm>
                <a:off x="3562275" y="4325925"/>
                <a:ext cx="2808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267" name="Google Shape;1267;p92"/>
          <p:cNvGrpSpPr/>
          <p:nvPr/>
        </p:nvGrpSpPr>
        <p:grpSpPr>
          <a:xfrm>
            <a:off x="6186340" y="2538037"/>
            <a:ext cx="228411" cy="337195"/>
            <a:chOff x="3518250" y="3978775"/>
            <a:chExt cx="350700" cy="418200"/>
          </a:xfrm>
        </p:grpSpPr>
        <p:sp>
          <p:nvSpPr>
            <p:cNvPr id="1268" name="Google Shape;1268;p92"/>
            <p:cNvSpPr/>
            <p:nvPr/>
          </p:nvSpPr>
          <p:spPr>
            <a:xfrm>
              <a:off x="3518250" y="3978775"/>
              <a:ext cx="350700" cy="418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269" name="Google Shape;1269;p92"/>
            <p:cNvCxnSpPr/>
            <p:nvPr/>
          </p:nvCxnSpPr>
          <p:spPr>
            <a:xfrm>
              <a:off x="3562275" y="4325925"/>
              <a:ext cx="2808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70" name="Google Shape;1270;p92"/>
          <p:cNvGrpSpPr/>
          <p:nvPr/>
        </p:nvGrpSpPr>
        <p:grpSpPr>
          <a:xfrm>
            <a:off x="6045170" y="2862885"/>
            <a:ext cx="228411" cy="1666286"/>
            <a:chOff x="6045170" y="2862885"/>
            <a:chExt cx="228411" cy="1666286"/>
          </a:xfrm>
        </p:grpSpPr>
        <p:grpSp>
          <p:nvGrpSpPr>
            <p:cNvPr id="1271" name="Google Shape;1271;p92"/>
            <p:cNvGrpSpPr/>
            <p:nvPr/>
          </p:nvGrpSpPr>
          <p:grpSpPr>
            <a:xfrm>
              <a:off x="6045170" y="2862885"/>
              <a:ext cx="228411" cy="337195"/>
              <a:chOff x="3518250" y="3978775"/>
              <a:chExt cx="350700" cy="418200"/>
            </a:xfrm>
          </p:grpSpPr>
          <p:sp>
            <p:nvSpPr>
              <p:cNvPr id="1272" name="Google Shape;1272;p92"/>
              <p:cNvSpPr/>
              <p:nvPr/>
            </p:nvSpPr>
            <p:spPr>
              <a:xfrm>
                <a:off x="3518250" y="3978775"/>
                <a:ext cx="350700" cy="4182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273" name="Google Shape;1273;p92"/>
              <p:cNvCxnSpPr/>
              <p:nvPr/>
            </p:nvCxnSpPr>
            <p:spPr>
              <a:xfrm>
                <a:off x="3562275" y="4325925"/>
                <a:ext cx="2808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274" name="Google Shape;1274;p92"/>
            <p:cNvGrpSpPr/>
            <p:nvPr/>
          </p:nvGrpSpPr>
          <p:grpSpPr>
            <a:xfrm>
              <a:off x="6045170" y="3167685"/>
              <a:ext cx="228411" cy="337195"/>
              <a:chOff x="3518250" y="3978775"/>
              <a:chExt cx="350700" cy="418200"/>
            </a:xfrm>
          </p:grpSpPr>
          <p:sp>
            <p:nvSpPr>
              <p:cNvPr id="1275" name="Google Shape;1275;p92"/>
              <p:cNvSpPr/>
              <p:nvPr/>
            </p:nvSpPr>
            <p:spPr>
              <a:xfrm>
                <a:off x="3518250" y="3978775"/>
                <a:ext cx="350700" cy="4182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276" name="Google Shape;1276;p92"/>
              <p:cNvCxnSpPr/>
              <p:nvPr/>
            </p:nvCxnSpPr>
            <p:spPr>
              <a:xfrm>
                <a:off x="3562275" y="4325925"/>
                <a:ext cx="2808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277" name="Google Shape;1277;p92"/>
            <p:cNvGrpSpPr/>
            <p:nvPr/>
          </p:nvGrpSpPr>
          <p:grpSpPr>
            <a:xfrm>
              <a:off x="6045170" y="3506176"/>
              <a:ext cx="228411" cy="337195"/>
              <a:chOff x="3518250" y="3978775"/>
              <a:chExt cx="350700" cy="418200"/>
            </a:xfrm>
          </p:grpSpPr>
          <p:sp>
            <p:nvSpPr>
              <p:cNvPr id="1278" name="Google Shape;1278;p92"/>
              <p:cNvSpPr/>
              <p:nvPr/>
            </p:nvSpPr>
            <p:spPr>
              <a:xfrm>
                <a:off x="3518250" y="3978775"/>
                <a:ext cx="350700" cy="4182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279" name="Google Shape;1279;p92"/>
              <p:cNvCxnSpPr/>
              <p:nvPr/>
            </p:nvCxnSpPr>
            <p:spPr>
              <a:xfrm>
                <a:off x="3562275" y="4325925"/>
                <a:ext cx="2808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280" name="Google Shape;1280;p92"/>
            <p:cNvGrpSpPr/>
            <p:nvPr/>
          </p:nvGrpSpPr>
          <p:grpSpPr>
            <a:xfrm>
              <a:off x="6045170" y="3853485"/>
              <a:ext cx="228411" cy="337195"/>
              <a:chOff x="3518250" y="3978775"/>
              <a:chExt cx="350700" cy="418200"/>
            </a:xfrm>
          </p:grpSpPr>
          <p:sp>
            <p:nvSpPr>
              <p:cNvPr id="1281" name="Google Shape;1281;p92"/>
              <p:cNvSpPr/>
              <p:nvPr/>
            </p:nvSpPr>
            <p:spPr>
              <a:xfrm>
                <a:off x="3518250" y="3978775"/>
                <a:ext cx="350700" cy="4182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282" name="Google Shape;1282;p92"/>
              <p:cNvCxnSpPr/>
              <p:nvPr/>
            </p:nvCxnSpPr>
            <p:spPr>
              <a:xfrm>
                <a:off x="3562275" y="4325925"/>
                <a:ext cx="2808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283" name="Google Shape;1283;p92"/>
            <p:cNvGrpSpPr/>
            <p:nvPr/>
          </p:nvGrpSpPr>
          <p:grpSpPr>
            <a:xfrm>
              <a:off x="6045170" y="4191976"/>
              <a:ext cx="228411" cy="337195"/>
              <a:chOff x="3518250" y="3978775"/>
              <a:chExt cx="350700" cy="418200"/>
            </a:xfrm>
          </p:grpSpPr>
          <p:sp>
            <p:nvSpPr>
              <p:cNvPr id="1284" name="Google Shape;1284;p92"/>
              <p:cNvSpPr/>
              <p:nvPr/>
            </p:nvSpPr>
            <p:spPr>
              <a:xfrm>
                <a:off x="3518250" y="3978775"/>
                <a:ext cx="350700" cy="4182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285" name="Google Shape;1285;p92"/>
              <p:cNvCxnSpPr/>
              <p:nvPr/>
            </p:nvCxnSpPr>
            <p:spPr>
              <a:xfrm>
                <a:off x="3562275" y="4325925"/>
                <a:ext cx="2808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286" name="Google Shape;1286;p92"/>
          <p:cNvGrpSpPr/>
          <p:nvPr/>
        </p:nvGrpSpPr>
        <p:grpSpPr>
          <a:xfrm>
            <a:off x="4413691" y="2721715"/>
            <a:ext cx="1642520" cy="337195"/>
            <a:chOff x="4413691" y="2721715"/>
            <a:chExt cx="1642520" cy="337195"/>
          </a:xfrm>
        </p:grpSpPr>
        <p:grpSp>
          <p:nvGrpSpPr>
            <p:cNvPr id="1287" name="Google Shape;1287;p92"/>
            <p:cNvGrpSpPr/>
            <p:nvPr/>
          </p:nvGrpSpPr>
          <p:grpSpPr>
            <a:xfrm>
              <a:off x="5827800" y="2721715"/>
              <a:ext cx="228411" cy="337195"/>
              <a:chOff x="3518250" y="3978775"/>
              <a:chExt cx="350700" cy="418200"/>
            </a:xfrm>
          </p:grpSpPr>
          <p:sp>
            <p:nvSpPr>
              <p:cNvPr id="1288" name="Google Shape;1288;p92"/>
              <p:cNvSpPr/>
              <p:nvPr/>
            </p:nvSpPr>
            <p:spPr>
              <a:xfrm>
                <a:off x="3518250" y="3978775"/>
                <a:ext cx="350700" cy="4182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289" name="Google Shape;1289;p92"/>
              <p:cNvCxnSpPr/>
              <p:nvPr/>
            </p:nvCxnSpPr>
            <p:spPr>
              <a:xfrm>
                <a:off x="3562275" y="4325925"/>
                <a:ext cx="2808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290" name="Google Shape;1290;p92"/>
            <p:cNvGrpSpPr/>
            <p:nvPr/>
          </p:nvGrpSpPr>
          <p:grpSpPr>
            <a:xfrm>
              <a:off x="5469261" y="2721715"/>
              <a:ext cx="228411" cy="337195"/>
              <a:chOff x="3518250" y="3978775"/>
              <a:chExt cx="350700" cy="418200"/>
            </a:xfrm>
          </p:grpSpPr>
          <p:sp>
            <p:nvSpPr>
              <p:cNvPr id="1291" name="Google Shape;1291;p92"/>
              <p:cNvSpPr/>
              <p:nvPr/>
            </p:nvSpPr>
            <p:spPr>
              <a:xfrm>
                <a:off x="3518250" y="3978775"/>
                <a:ext cx="350700" cy="4182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292" name="Google Shape;1292;p92"/>
              <p:cNvCxnSpPr/>
              <p:nvPr/>
            </p:nvCxnSpPr>
            <p:spPr>
              <a:xfrm>
                <a:off x="3562275" y="4325925"/>
                <a:ext cx="2808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293" name="Google Shape;1293;p92"/>
            <p:cNvGrpSpPr/>
            <p:nvPr/>
          </p:nvGrpSpPr>
          <p:grpSpPr>
            <a:xfrm>
              <a:off x="5099491" y="2721715"/>
              <a:ext cx="228411" cy="337195"/>
              <a:chOff x="3518250" y="3978775"/>
              <a:chExt cx="350700" cy="418200"/>
            </a:xfrm>
          </p:grpSpPr>
          <p:sp>
            <p:nvSpPr>
              <p:cNvPr id="1294" name="Google Shape;1294;p92"/>
              <p:cNvSpPr/>
              <p:nvPr/>
            </p:nvSpPr>
            <p:spPr>
              <a:xfrm>
                <a:off x="3518250" y="3978775"/>
                <a:ext cx="350700" cy="4182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295" name="Google Shape;1295;p92"/>
              <p:cNvCxnSpPr/>
              <p:nvPr/>
            </p:nvCxnSpPr>
            <p:spPr>
              <a:xfrm>
                <a:off x="3562275" y="4325925"/>
                <a:ext cx="2808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296" name="Google Shape;1296;p92"/>
            <p:cNvGrpSpPr/>
            <p:nvPr/>
          </p:nvGrpSpPr>
          <p:grpSpPr>
            <a:xfrm>
              <a:off x="4740952" y="2721715"/>
              <a:ext cx="228411" cy="337195"/>
              <a:chOff x="3518250" y="3978775"/>
              <a:chExt cx="350700" cy="418200"/>
            </a:xfrm>
          </p:grpSpPr>
          <p:sp>
            <p:nvSpPr>
              <p:cNvPr id="1297" name="Google Shape;1297;p92"/>
              <p:cNvSpPr/>
              <p:nvPr/>
            </p:nvSpPr>
            <p:spPr>
              <a:xfrm>
                <a:off x="3518250" y="3978775"/>
                <a:ext cx="350700" cy="4182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298" name="Google Shape;1298;p92"/>
              <p:cNvCxnSpPr/>
              <p:nvPr/>
            </p:nvCxnSpPr>
            <p:spPr>
              <a:xfrm>
                <a:off x="3562275" y="4325925"/>
                <a:ext cx="2808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299" name="Google Shape;1299;p92"/>
            <p:cNvGrpSpPr/>
            <p:nvPr/>
          </p:nvGrpSpPr>
          <p:grpSpPr>
            <a:xfrm>
              <a:off x="4413691" y="2721715"/>
              <a:ext cx="228411" cy="337195"/>
              <a:chOff x="3518250" y="3978775"/>
              <a:chExt cx="350700" cy="418200"/>
            </a:xfrm>
          </p:grpSpPr>
          <p:sp>
            <p:nvSpPr>
              <p:cNvPr id="1300" name="Google Shape;1300;p92"/>
              <p:cNvSpPr/>
              <p:nvPr/>
            </p:nvSpPr>
            <p:spPr>
              <a:xfrm>
                <a:off x="3518250" y="3978775"/>
                <a:ext cx="350700" cy="4182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301" name="Google Shape;1301;p92"/>
              <p:cNvCxnSpPr/>
              <p:nvPr/>
            </p:nvCxnSpPr>
            <p:spPr>
              <a:xfrm>
                <a:off x="3562275" y="4325925"/>
                <a:ext cx="2808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302" name="Google Shape;1302;p92"/>
          <p:cNvGrpSpPr/>
          <p:nvPr/>
        </p:nvGrpSpPr>
        <p:grpSpPr>
          <a:xfrm>
            <a:off x="6623491" y="2721715"/>
            <a:ext cx="1642520" cy="337195"/>
            <a:chOff x="6623491" y="2721715"/>
            <a:chExt cx="1642520" cy="337195"/>
          </a:xfrm>
        </p:grpSpPr>
        <p:grpSp>
          <p:nvGrpSpPr>
            <p:cNvPr id="1303" name="Google Shape;1303;p92"/>
            <p:cNvGrpSpPr/>
            <p:nvPr/>
          </p:nvGrpSpPr>
          <p:grpSpPr>
            <a:xfrm>
              <a:off x="8037600" y="2721715"/>
              <a:ext cx="228411" cy="337195"/>
              <a:chOff x="3518250" y="3978775"/>
              <a:chExt cx="350700" cy="418200"/>
            </a:xfrm>
          </p:grpSpPr>
          <p:sp>
            <p:nvSpPr>
              <p:cNvPr id="1304" name="Google Shape;1304;p92"/>
              <p:cNvSpPr/>
              <p:nvPr/>
            </p:nvSpPr>
            <p:spPr>
              <a:xfrm>
                <a:off x="3518250" y="3978775"/>
                <a:ext cx="350700" cy="4182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305" name="Google Shape;1305;p92"/>
              <p:cNvCxnSpPr/>
              <p:nvPr/>
            </p:nvCxnSpPr>
            <p:spPr>
              <a:xfrm>
                <a:off x="3562275" y="4325925"/>
                <a:ext cx="2808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306" name="Google Shape;1306;p92"/>
            <p:cNvGrpSpPr/>
            <p:nvPr/>
          </p:nvGrpSpPr>
          <p:grpSpPr>
            <a:xfrm>
              <a:off x="7679061" y="2721715"/>
              <a:ext cx="228411" cy="337195"/>
              <a:chOff x="3518250" y="3978775"/>
              <a:chExt cx="350700" cy="418200"/>
            </a:xfrm>
          </p:grpSpPr>
          <p:sp>
            <p:nvSpPr>
              <p:cNvPr id="1307" name="Google Shape;1307;p92"/>
              <p:cNvSpPr/>
              <p:nvPr/>
            </p:nvSpPr>
            <p:spPr>
              <a:xfrm>
                <a:off x="3518250" y="3978775"/>
                <a:ext cx="350700" cy="4182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308" name="Google Shape;1308;p92"/>
              <p:cNvCxnSpPr/>
              <p:nvPr/>
            </p:nvCxnSpPr>
            <p:spPr>
              <a:xfrm>
                <a:off x="3562275" y="4325925"/>
                <a:ext cx="2808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309" name="Google Shape;1309;p92"/>
            <p:cNvGrpSpPr/>
            <p:nvPr/>
          </p:nvGrpSpPr>
          <p:grpSpPr>
            <a:xfrm>
              <a:off x="7309291" y="2721715"/>
              <a:ext cx="228411" cy="337195"/>
              <a:chOff x="3518250" y="3978775"/>
              <a:chExt cx="350700" cy="418200"/>
            </a:xfrm>
          </p:grpSpPr>
          <p:sp>
            <p:nvSpPr>
              <p:cNvPr id="1310" name="Google Shape;1310;p92"/>
              <p:cNvSpPr/>
              <p:nvPr/>
            </p:nvSpPr>
            <p:spPr>
              <a:xfrm>
                <a:off x="3518250" y="3978775"/>
                <a:ext cx="350700" cy="4182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311" name="Google Shape;1311;p92"/>
              <p:cNvCxnSpPr/>
              <p:nvPr/>
            </p:nvCxnSpPr>
            <p:spPr>
              <a:xfrm>
                <a:off x="3562275" y="4325925"/>
                <a:ext cx="2808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312" name="Google Shape;1312;p92"/>
            <p:cNvGrpSpPr/>
            <p:nvPr/>
          </p:nvGrpSpPr>
          <p:grpSpPr>
            <a:xfrm>
              <a:off x="6950752" y="2721715"/>
              <a:ext cx="228411" cy="337195"/>
              <a:chOff x="3518250" y="3978775"/>
              <a:chExt cx="350700" cy="418200"/>
            </a:xfrm>
          </p:grpSpPr>
          <p:sp>
            <p:nvSpPr>
              <p:cNvPr id="1313" name="Google Shape;1313;p92"/>
              <p:cNvSpPr/>
              <p:nvPr/>
            </p:nvSpPr>
            <p:spPr>
              <a:xfrm>
                <a:off x="3518250" y="3978775"/>
                <a:ext cx="350700" cy="4182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314" name="Google Shape;1314;p92"/>
              <p:cNvCxnSpPr/>
              <p:nvPr/>
            </p:nvCxnSpPr>
            <p:spPr>
              <a:xfrm>
                <a:off x="3562275" y="4325925"/>
                <a:ext cx="2808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315" name="Google Shape;1315;p92"/>
            <p:cNvGrpSpPr/>
            <p:nvPr/>
          </p:nvGrpSpPr>
          <p:grpSpPr>
            <a:xfrm>
              <a:off x="6623491" y="2721715"/>
              <a:ext cx="228411" cy="337195"/>
              <a:chOff x="3518250" y="3978775"/>
              <a:chExt cx="350700" cy="418200"/>
            </a:xfrm>
          </p:grpSpPr>
          <p:sp>
            <p:nvSpPr>
              <p:cNvPr id="1316" name="Google Shape;1316;p92"/>
              <p:cNvSpPr/>
              <p:nvPr/>
            </p:nvSpPr>
            <p:spPr>
              <a:xfrm>
                <a:off x="3518250" y="3978775"/>
                <a:ext cx="350700" cy="4182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317" name="Google Shape;1317;p92"/>
              <p:cNvCxnSpPr/>
              <p:nvPr/>
            </p:nvCxnSpPr>
            <p:spPr>
              <a:xfrm>
                <a:off x="3562275" y="4325925"/>
                <a:ext cx="2808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318" name="Google Shape;1318;p92"/>
          <p:cNvSpPr txBox="1"/>
          <p:nvPr>
            <p:ph idx="1" type="body"/>
          </p:nvPr>
        </p:nvSpPr>
        <p:spPr>
          <a:xfrm>
            <a:off x="324000" y="2283300"/>
            <a:ext cx="3979200" cy="78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Don’t forget to start with the origin and work outwards.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y&quot;&gt;&lt;mi&gt;y&lt;/mi&gt;&lt;/math&gt;" id="1319" name="Google Shape;1319;p92" title="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9155" y="629400"/>
            <a:ext cx="173522" cy="2375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320" name="Google Shape;1320;p92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33905" y="2773887"/>
            <a:ext cx="168075" cy="1534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4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9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Drawing</a:t>
            </a:r>
            <a:r>
              <a:rPr lang="en-GB"/>
              <a:t> axes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0-10-2023/17cf9994-0a62-49e0-9394-565df023902e&quot; data-equatio-type=&quot;desmos&quot;&gt;&lt;mglyph src=&quot;https://equatio-api.texthelp.com/desmos/get/10-10-2023/17cf9994-0a62-49e0-9394-565df023902e&quot; alt=&quot;Equatio Desmos Graph&quot;/&gt;&lt;/math&gt;" id="1326" name="Google Shape;1326;p93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6600" y="821975"/>
            <a:ext cx="3979200" cy="3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7" name="Google Shape;1327;p93"/>
          <p:cNvSpPr txBox="1"/>
          <p:nvPr>
            <p:ph idx="1" type="body"/>
          </p:nvPr>
        </p:nvSpPr>
        <p:spPr>
          <a:xfrm>
            <a:off x="324000" y="759300"/>
            <a:ext cx="39792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2) Fill in the blanks to label this coordinate grid.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Be sure to keep the scale along each axis consistent.</a:t>
            </a:r>
            <a:endParaRPr/>
          </a:p>
        </p:txBody>
      </p:sp>
      <p:grpSp>
        <p:nvGrpSpPr>
          <p:cNvPr id="1328" name="Google Shape;1328;p93"/>
          <p:cNvGrpSpPr/>
          <p:nvPr/>
        </p:nvGrpSpPr>
        <p:grpSpPr>
          <a:xfrm>
            <a:off x="6078861" y="1164024"/>
            <a:ext cx="228411" cy="1022995"/>
            <a:chOff x="6078861" y="1164024"/>
            <a:chExt cx="228411" cy="1022995"/>
          </a:xfrm>
        </p:grpSpPr>
        <p:grpSp>
          <p:nvGrpSpPr>
            <p:cNvPr id="1329" name="Google Shape;1329;p93"/>
            <p:cNvGrpSpPr/>
            <p:nvPr/>
          </p:nvGrpSpPr>
          <p:grpSpPr>
            <a:xfrm>
              <a:off x="6078861" y="1164024"/>
              <a:ext cx="228411" cy="337195"/>
              <a:chOff x="3518250" y="3978775"/>
              <a:chExt cx="350700" cy="418200"/>
            </a:xfrm>
          </p:grpSpPr>
          <p:sp>
            <p:nvSpPr>
              <p:cNvPr id="1330" name="Google Shape;1330;p93"/>
              <p:cNvSpPr/>
              <p:nvPr/>
            </p:nvSpPr>
            <p:spPr>
              <a:xfrm>
                <a:off x="3518250" y="3978775"/>
                <a:ext cx="350700" cy="4182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331" name="Google Shape;1331;p93"/>
              <p:cNvCxnSpPr/>
              <p:nvPr/>
            </p:nvCxnSpPr>
            <p:spPr>
              <a:xfrm>
                <a:off x="3562275" y="4325925"/>
                <a:ext cx="2808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332" name="Google Shape;1332;p93"/>
            <p:cNvGrpSpPr/>
            <p:nvPr/>
          </p:nvGrpSpPr>
          <p:grpSpPr>
            <a:xfrm>
              <a:off x="6078861" y="1502515"/>
              <a:ext cx="228411" cy="337195"/>
              <a:chOff x="3518250" y="3978775"/>
              <a:chExt cx="350700" cy="418200"/>
            </a:xfrm>
          </p:grpSpPr>
          <p:sp>
            <p:nvSpPr>
              <p:cNvPr id="1333" name="Google Shape;1333;p93"/>
              <p:cNvSpPr/>
              <p:nvPr/>
            </p:nvSpPr>
            <p:spPr>
              <a:xfrm>
                <a:off x="3518250" y="3978775"/>
                <a:ext cx="350700" cy="4182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334" name="Google Shape;1334;p93"/>
              <p:cNvCxnSpPr/>
              <p:nvPr/>
            </p:nvCxnSpPr>
            <p:spPr>
              <a:xfrm>
                <a:off x="3562275" y="4325925"/>
                <a:ext cx="2808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335" name="Google Shape;1335;p93"/>
            <p:cNvGrpSpPr/>
            <p:nvPr/>
          </p:nvGrpSpPr>
          <p:grpSpPr>
            <a:xfrm>
              <a:off x="6078861" y="1849824"/>
              <a:ext cx="228411" cy="337195"/>
              <a:chOff x="3518250" y="3978775"/>
              <a:chExt cx="350700" cy="418200"/>
            </a:xfrm>
          </p:grpSpPr>
          <p:sp>
            <p:nvSpPr>
              <p:cNvPr id="1336" name="Google Shape;1336;p93"/>
              <p:cNvSpPr/>
              <p:nvPr/>
            </p:nvSpPr>
            <p:spPr>
              <a:xfrm>
                <a:off x="3518250" y="3978775"/>
                <a:ext cx="350700" cy="4182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337" name="Google Shape;1337;p93"/>
              <p:cNvCxnSpPr/>
              <p:nvPr/>
            </p:nvCxnSpPr>
            <p:spPr>
              <a:xfrm>
                <a:off x="3562275" y="4325925"/>
                <a:ext cx="2808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338" name="Google Shape;1338;p93"/>
          <p:cNvGrpSpPr/>
          <p:nvPr/>
        </p:nvGrpSpPr>
        <p:grpSpPr>
          <a:xfrm>
            <a:off x="6186340" y="2538037"/>
            <a:ext cx="228411" cy="337195"/>
            <a:chOff x="3518250" y="3978775"/>
            <a:chExt cx="350700" cy="418200"/>
          </a:xfrm>
        </p:grpSpPr>
        <p:sp>
          <p:nvSpPr>
            <p:cNvPr id="1339" name="Google Shape;1339;p93"/>
            <p:cNvSpPr/>
            <p:nvPr/>
          </p:nvSpPr>
          <p:spPr>
            <a:xfrm>
              <a:off x="3518250" y="3978775"/>
              <a:ext cx="350700" cy="418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340" name="Google Shape;1340;p93"/>
            <p:cNvCxnSpPr/>
            <p:nvPr/>
          </p:nvCxnSpPr>
          <p:spPr>
            <a:xfrm>
              <a:off x="3562275" y="4325925"/>
              <a:ext cx="280800" cy="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341" name="Google Shape;1341;p93"/>
          <p:cNvGrpSpPr/>
          <p:nvPr/>
        </p:nvGrpSpPr>
        <p:grpSpPr>
          <a:xfrm>
            <a:off x="6045170" y="2862885"/>
            <a:ext cx="228411" cy="1666286"/>
            <a:chOff x="6045170" y="2862885"/>
            <a:chExt cx="228411" cy="1666286"/>
          </a:xfrm>
        </p:grpSpPr>
        <p:grpSp>
          <p:nvGrpSpPr>
            <p:cNvPr id="1342" name="Google Shape;1342;p93"/>
            <p:cNvGrpSpPr/>
            <p:nvPr/>
          </p:nvGrpSpPr>
          <p:grpSpPr>
            <a:xfrm>
              <a:off x="6045170" y="2862885"/>
              <a:ext cx="228411" cy="337195"/>
              <a:chOff x="3518250" y="3978775"/>
              <a:chExt cx="350700" cy="418200"/>
            </a:xfrm>
          </p:grpSpPr>
          <p:sp>
            <p:nvSpPr>
              <p:cNvPr id="1343" name="Google Shape;1343;p93"/>
              <p:cNvSpPr/>
              <p:nvPr/>
            </p:nvSpPr>
            <p:spPr>
              <a:xfrm>
                <a:off x="3518250" y="3978775"/>
                <a:ext cx="350700" cy="4182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344" name="Google Shape;1344;p93"/>
              <p:cNvCxnSpPr/>
              <p:nvPr/>
            </p:nvCxnSpPr>
            <p:spPr>
              <a:xfrm>
                <a:off x="3562275" y="4325925"/>
                <a:ext cx="2808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345" name="Google Shape;1345;p93"/>
            <p:cNvGrpSpPr/>
            <p:nvPr/>
          </p:nvGrpSpPr>
          <p:grpSpPr>
            <a:xfrm>
              <a:off x="6045170" y="3167685"/>
              <a:ext cx="228411" cy="337195"/>
              <a:chOff x="3518250" y="3978775"/>
              <a:chExt cx="350700" cy="418200"/>
            </a:xfrm>
          </p:grpSpPr>
          <p:sp>
            <p:nvSpPr>
              <p:cNvPr id="1346" name="Google Shape;1346;p93"/>
              <p:cNvSpPr/>
              <p:nvPr/>
            </p:nvSpPr>
            <p:spPr>
              <a:xfrm>
                <a:off x="3518250" y="3978775"/>
                <a:ext cx="350700" cy="4182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347" name="Google Shape;1347;p93"/>
              <p:cNvCxnSpPr/>
              <p:nvPr/>
            </p:nvCxnSpPr>
            <p:spPr>
              <a:xfrm>
                <a:off x="3562275" y="4325925"/>
                <a:ext cx="2808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348" name="Google Shape;1348;p93"/>
            <p:cNvGrpSpPr/>
            <p:nvPr/>
          </p:nvGrpSpPr>
          <p:grpSpPr>
            <a:xfrm>
              <a:off x="6045170" y="3506176"/>
              <a:ext cx="228411" cy="337195"/>
              <a:chOff x="3518250" y="3978775"/>
              <a:chExt cx="350700" cy="418200"/>
            </a:xfrm>
          </p:grpSpPr>
          <p:sp>
            <p:nvSpPr>
              <p:cNvPr id="1349" name="Google Shape;1349;p93"/>
              <p:cNvSpPr/>
              <p:nvPr/>
            </p:nvSpPr>
            <p:spPr>
              <a:xfrm>
                <a:off x="3518250" y="3978775"/>
                <a:ext cx="350700" cy="4182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350" name="Google Shape;1350;p93"/>
              <p:cNvCxnSpPr/>
              <p:nvPr/>
            </p:nvCxnSpPr>
            <p:spPr>
              <a:xfrm>
                <a:off x="3562275" y="4325925"/>
                <a:ext cx="2808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351" name="Google Shape;1351;p93"/>
            <p:cNvGrpSpPr/>
            <p:nvPr/>
          </p:nvGrpSpPr>
          <p:grpSpPr>
            <a:xfrm>
              <a:off x="6045170" y="3853485"/>
              <a:ext cx="228411" cy="337195"/>
              <a:chOff x="3518250" y="3978775"/>
              <a:chExt cx="350700" cy="418200"/>
            </a:xfrm>
          </p:grpSpPr>
          <p:sp>
            <p:nvSpPr>
              <p:cNvPr id="1352" name="Google Shape;1352;p93"/>
              <p:cNvSpPr/>
              <p:nvPr/>
            </p:nvSpPr>
            <p:spPr>
              <a:xfrm>
                <a:off x="3518250" y="3978775"/>
                <a:ext cx="350700" cy="4182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353" name="Google Shape;1353;p93"/>
              <p:cNvCxnSpPr/>
              <p:nvPr/>
            </p:nvCxnSpPr>
            <p:spPr>
              <a:xfrm>
                <a:off x="3562275" y="4325925"/>
                <a:ext cx="2808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354" name="Google Shape;1354;p93"/>
            <p:cNvGrpSpPr/>
            <p:nvPr/>
          </p:nvGrpSpPr>
          <p:grpSpPr>
            <a:xfrm>
              <a:off x="6045170" y="4191976"/>
              <a:ext cx="228411" cy="337195"/>
              <a:chOff x="3518250" y="3978775"/>
              <a:chExt cx="350700" cy="418200"/>
            </a:xfrm>
          </p:grpSpPr>
          <p:sp>
            <p:nvSpPr>
              <p:cNvPr id="1355" name="Google Shape;1355;p93"/>
              <p:cNvSpPr/>
              <p:nvPr/>
            </p:nvSpPr>
            <p:spPr>
              <a:xfrm>
                <a:off x="3518250" y="3978775"/>
                <a:ext cx="350700" cy="4182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356" name="Google Shape;1356;p93"/>
              <p:cNvCxnSpPr/>
              <p:nvPr/>
            </p:nvCxnSpPr>
            <p:spPr>
              <a:xfrm>
                <a:off x="3562275" y="4325925"/>
                <a:ext cx="2808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357" name="Google Shape;1357;p93"/>
          <p:cNvGrpSpPr/>
          <p:nvPr/>
        </p:nvGrpSpPr>
        <p:grpSpPr>
          <a:xfrm>
            <a:off x="4369234" y="2721715"/>
            <a:ext cx="1686977" cy="337329"/>
            <a:chOff x="4369234" y="2721715"/>
            <a:chExt cx="1686977" cy="337329"/>
          </a:xfrm>
        </p:grpSpPr>
        <p:grpSp>
          <p:nvGrpSpPr>
            <p:cNvPr id="1358" name="Google Shape;1358;p93"/>
            <p:cNvGrpSpPr/>
            <p:nvPr/>
          </p:nvGrpSpPr>
          <p:grpSpPr>
            <a:xfrm>
              <a:off x="5827800" y="2721715"/>
              <a:ext cx="228411" cy="337195"/>
              <a:chOff x="3518250" y="3978775"/>
              <a:chExt cx="350700" cy="418200"/>
            </a:xfrm>
          </p:grpSpPr>
          <p:sp>
            <p:nvSpPr>
              <p:cNvPr id="1359" name="Google Shape;1359;p93"/>
              <p:cNvSpPr/>
              <p:nvPr/>
            </p:nvSpPr>
            <p:spPr>
              <a:xfrm>
                <a:off x="3518250" y="3978775"/>
                <a:ext cx="350700" cy="4182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360" name="Google Shape;1360;p93"/>
              <p:cNvCxnSpPr/>
              <p:nvPr/>
            </p:nvCxnSpPr>
            <p:spPr>
              <a:xfrm>
                <a:off x="3562275" y="4325925"/>
                <a:ext cx="2808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361" name="Google Shape;1361;p93"/>
            <p:cNvGrpSpPr/>
            <p:nvPr/>
          </p:nvGrpSpPr>
          <p:grpSpPr>
            <a:xfrm>
              <a:off x="5450949" y="2721849"/>
              <a:ext cx="291782" cy="337195"/>
              <a:chOff x="3518250" y="3978775"/>
              <a:chExt cx="350700" cy="418200"/>
            </a:xfrm>
          </p:grpSpPr>
          <p:sp>
            <p:nvSpPr>
              <p:cNvPr id="1362" name="Google Shape;1362;p93"/>
              <p:cNvSpPr/>
              <p:nvPr/>
            </p:nvSpPr>
            <p:spPr>
              <a:xfrm>
                <a:off x="3518250" y="3978775"/>
                <a:ext cx="350700" cy="4182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363" name="Google Shape;1363;p93"/>
              <p:cNvCxnSpPr/>
              <p:nvPr/>
            </p:nvCxnSpPr>
            <p:spPr>
              <a:xfrm>
                <a:off x="3562275" y="4325925"/>
                <a:ext cx="2808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364" name="Google Shape;1364;p93"/>
            <p:cNvGrpSpPr/>
            <p:nvPr/>
          </p:nvGrpSpPr>
          <p:grpSpPr>
            <a:xfrm>
              <a:off x="4720724" y="2721849"/>
              <a:ext cx="291782" cy="337195"/>
              <a:chOff x="3518250" y="3978775"/>
              <a:chExt cx="350700" cy="418200"/>
            </a:xfrm>
          </p:grpSpPr>
          <p:sp>
            <p:nvSpPr>
              <p:cNvPr id="1365" name="Google Shape;1365;p93"/>
              <p:cNvSpPr/>
              <p:nvPr/>
            </p:nvSpPr>
            <p:spPr>
              <a:xfrm>
                <a:off x="3518250" y="3978775"/>
                <a:ext cx="350700" cy="4182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366" name="Google Shape;1366;p93"/>
              <p:cNvCxnSpPr/>
              <p:nvPr/>
            </p:nvCxnSpPr>
            <p:spPr>
              <a:xfrm>
                <a:off x="3562275" y="4325925"/>
                <a:ext cx="2808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367" name="Google Shape;1367;p93"/>
            <p:cNvGrpSpPr/>
            <p:nvPr/>
          </p:nvGrpSpPr>
          <p:grpSpPr>
            <a:xfrm>
              <a:off x="4369234" y="2721849"/>
              <a:ext cx="291782" cy="337195"/>
              <a:chOff x="3518250" y="3978775"/>
              <a:chExt cx="350700" cy="418200"/>
            </a:xfrm>
          </p:grpSpPr>
          <p:sp>
            <p:nvSpPr>
              <p:cNvPr id="1368" name="Google Shape;1368;p93"/>
              <p:cNvSpPr/>
              <p:nvPr/>
            </p:nvSpPr>
            <p:spPr>
              <a:xfrm>
                <a:off x="3518250" y="3978775"/>
                <a:ext cx="350700" cy="4182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369" name="Google Shape;1369;p93"/>
              <p:cNvCxnSpPr/>
              <p:nvPr/>
            </p:nvCxnSpPr>
            <p:spPr>
              <a:xfrm>
                <a:off x="3562275" y="4325925"/>
                <a:ext cx="2808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1370" name="Google Shape;1370;p93"/>
          <p:cNvGrpSpPr/>
          <p:nvPr/>
        </p:nvGrpSpPr>
        <p:grpSpPr>
          <a:xfrm>
            <a:off x="6623491" y="2721715"/>
            <a:ext cx="1620059" cy="337195"/>
            <a:chOff x="6623491" y="2721715"/>
            <a:chExt cx="1620059" cy="337195"/>
          </a:xfrm>
        </p:grpSpPr>
        <p:grpSp>
          <p:nvGrpSpPr>
            <p:cNvPr id="1371" name="Google Shape;1371;p93"/>
            <p:cNvGrpSpPr/>
            <p:nvPr/>
          </p:nvGrpSpPr>
          <p:grpSpPr>
            <a:xfrm>
              <a:off x="8015140" y="2721715"/>
              <a:ext cx="228411" cy="337195"/>
              <a:chOff x="3518250" y="3978775"/>
              <a:chExt cx="350700" cy="418200"/>
            </a:xfrm>
          </p:grpSpPr>
          <p:sp>
            <p:nvSpPr>
              <p:cNvPr id="1372" name="Google Shape;1372;p93"/>
              <p:cNvSpPr/>
              <p:nvPr/>
            </p:nvSpPr>
            <p:spPr>
              <a:xfrm>
                <a:off x="3518250" y="3978775"/>
                <a:ext cx="350700" cy="4182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373" name="Google Shape;1373;p93"/>
              <p:cNvCxnSpPr/>
              <p:nvPr/>
            </p:nvCxnSpPr>
            <p:spPr>
              <a:xfrm>
                <a:off x="3562275" y="4325925"/>
                <a:ext cx="2808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374" name="Google Shape;1374;p93"/>
            <p:cNvGrpSpPr/>
            <p:nvPr/>
          </p:nvGrpSpPr>
          <p:grpSpPr>
            <a:xfrm>
              <a:off x="7309291" y="2721715"/>
              <a:ext cx="228411" cy="337195"/>
              <a:chOff x="3518250" y="3978775"/>
              <a:chExt cx="350700" cy="418200"/>
            </a:xfrm>
          </p:grpSpPr>
          <p:sp>
            <p:nvSpPr>
              <p:cNvPr id="1375" name="Google Shape;1375;p93"/>
              <p:cNvSpPr/>
              <p:nvPr/>
            </p:nvSpPr>
            <p:spPr>
              <a:xfrm>
                <a:off x="3518250" y="3978775"/>
                <a:ext cx="350700" cy="4182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376" name="Google Shape;1376;p93"/>
              <p:cNvCxnSpPr/>
              <p:nvPr/>
            </p:nvCxnSpPr>
            <p:spPr>
              <a:xfrm>
                <a:off x="3562275" y="4325925"/>
                <a:ext cx="2808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377" name="Google Shape;1377;p93"/>
            <p:cNvGrpSpPr/>
            <p:nvPr/>
          </p:nvGrpSpPr>
          <p:grpSpPr>
            <a:xfrm>
              <a:off x="6623491" y="2721715"/>
              <a:ext cx="228411" cy="337195"/>
              <a:chOff x="3518250" y="3978775"/>
              <a:chExt cx="350700" cy="418200"/>
            </a:xfrm>
          </p:grpSpPr>
          <p:sp>
            <p:nvSpPr>
              <p:cNvPr id="1378" name="Google Shape;1378;p93"/>
              <p:cNvSpPr/>
              <p:nvPr/>
            </p:nvSpPr>
            <p:spPr>
              <a:xfrm>
                <a:off x="3518250" y="3978775"/>
                <a:ext cx="350700" cy="4182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cxnSp>
            <p:nvCxnSpPr>
              <p:cNvPr id="1379" name="Google Shape;1379;p93"/>
              <p:cNvCxnSpPr/>
              <p:nvPr/>
            </p:nvCxnSpPr>
            <p:spPr>
              <a:xfrm>
                <a:off x="3562275" y="4325925"/>
                <a:ext cx="280800" cy="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pic>
        <p:nvPicPr>
          <p:cNvPr descr="&lt;math xmlns=&quot;http://www.w3.org/1998/Math/MathML&quot; display=&quot;block&quot; data-is-equatio=&quot;1&quot; data-latex=&quot;y&quot;&gt;&lt;mi&gt;y&lt;/mi&gt;&lt;/math&gt;" id="1380" name="Google Shape;1380;p93" title="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9155" y="629400"/>
            <a:ext cx="173522" cy="2375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381" name="Google Shape;1381;p93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33905" y="2773887"/>
            <a:ext cx="168075" cy="1534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p94"/>
          <p:cNvSpPr txBox="1"/>
          <p:nvPr>
            <p:ph idx="1" type="body"/>
          </p:nvPr>
        </p:nvSpPr>
        <p:spPr>
          <a:xfrm>
            <a:off x="4317397" y="3201398"/>
            <a:ext cx="3772800" cy="41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Make sure your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axis lines up with the lines in your book.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87" name="Google Shape;1387;p94"/>
          <p:cNvSpPr txBox="1"/>
          <p:nvPr>
            <p:ph idx="1" type="body"/>
          </p:nvPr>
        </p:nvSpPr>
        <p:spPr>
          <a:xfrm>
            <a:off x="4317397" y="2581633"/>
            <a:ext cx="3772800" cy="41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Label your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and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axes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88" name="Google Shape;1388;p9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Drawing axes</a:t>
            </a:r>
            <a:endParaRPr/>
          </a:p>
        </p:txBody>
      </p:sp>
      <p:sp>
        <p:nvSpPr>
          <p:cNvPr id="1389" name="Google Shape;1389;p94"/>
          <p:cNvSpPr txBox="1"/>
          <p:nvPr>
            <p:ph idx="1" type="body"/>
          </p:nvPr>
        </p:nvSpPr>
        <p:spPr>
          <a:xfrm>
            <a:off x="324000" y="759300"/>
            <a:ext cx="7640700" cy="78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3) You see this in Jacob’s book.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What advice would you give him to improve his work?</a:t>
            </a:r>
            <a:endParaRPr/>
          </a:p>
        </p:txBody>
      </p:sp>
      <p:pic>
        <p:nvPicPr>
          <p:cNvPr id="1390" name="Google Shape;1390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66250" y="1364475"/>
            <a:ext cx="1134676" cy="139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1" name="Google Shape;1391;p94"/>
          <p:cNvSpPr txBox="1"/>
          <p:nvPr>
            <p:ph idx="1" type="body"/>
          </p:nvPr>
        </p:nvSpPr>
        <p:spPr>
          <a:xfrm>
            <a:off x="3936679" y="1924761"/>
            <a:ext cx="3772800" cy="41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Your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advice might have included: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92" name="Google Shape;1392;p94"/>
          <p:cNvSpPr txBox="1"/>
          <p:nvPr>
            <p:ph idx="1" type="body"/>
          </p:nvPr>
        </p:nvSpPr>
        <p:spPr>
          <a:xfrm>
            <a:off x="4317397" y="4070093"/>
            <a:ext cx="3772800" cy="41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When labelling, start with the origin and work outwards.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393" name="Google Shape;1393;p94"/>
          <p:cNvGraphicFramePr/>
          <p:nvPr/>
        </p:nvGraphicFramePr>
        <p:xfrm>
          <a:off x="323988" y="1830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{27F4DC1D-81E0-47BE-9E47-8C7D2A826903}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pSp>
        <p:nvGrpSpPr>
          <p:cNvPr id="1394" name="Google Shape;1394;p94"/>
          <p:cNvGrpSpPr/>
          <p:nvPr/>
        </p:nvGrpSpPr>
        <p:grpSpPr>
          <a:xfrm>
            <a:off x="409025" y="1888850"/>
            <a:ext cx="3243000" cy="2888400"/>
            <a:chOff x="4086100" y="1830325"/>
            <a:chExt cx="3243000" cy="2888400"/>
          </a:xfrm>
        </p:grpSpPr>
        <p:cxnSp>
          <p:nvCxnSpPr>
            <p:cNvPr id="1395" name="Google Shape;1395;p94"/>
            <p:cNvCxnSpPr/>
            <p:nvPr/>
          </p:nvCxnSpPr>
          <p:spPr>
            <a:xfrm>
              <a:off x="5723900" y="1830325"/>
              <a:ext cx="0" cy="2888400"/>
            </a:xfrm>
            <a:prstGeom prst="straightConnector1">
              <a:avLst/>
            </a:prstGeom>
            <a:noFill/>
            <a:ln cap="flat" cmpd="sng" w="2857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96" name="Google Shape;1396;p94"/>
            <p:cNvCxnSpPr/>
            <p:nvPr/>
          </p:nvCxnSpPr>
          <p:spPr>
            <a:xfrm rot="10800000">
              <a:off x="4086100" y="3295800"/>
              <a:ext cx="3243000" cy="0"/>
            </a:xfrm>
            <a:prstGeom prst="straightConnector1">
              <a:avLst/>
            </a:prstGeom>
            <a:noFill/>
            <a:ln cap="flat" cmpd="sng" w="28575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97" name="Google Shape;1397;p94"/>
            <p:cNvSpPr/>
            <p:nvPr/>
          </p:nvSpPr>
          <p:spPr>
            <a:xfrm>
              <a:off x="6060450" y="3240000"/>
              <a:ext cx="392700" cy="4521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8" name="Google Shape;1398;p94"/>
            <p:cNvSpPr/>
            <p:nvPr/>
          </p:nvSpPr>
          <p:spPr>
            <a:xfrm>
              <a:off x="6498738" y="3240000"/>
              <a:ext cx="392700" cy="4521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99" name="Google Shape;1399;p94"/>
            <p:cNvSpPr/>
            <p:nvPr/>
          </p:nvSpPr>
          <p:spPr>
            <a:xfrm>
              <a:off x="6891450" y="3240000"/>
              <a:ext cx="392700" cy="4521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00" name="Google Shape;1400;p94"/>
            <p:cNvSpPr/>
            <p:nvPr/>
          </p:nvSpPr>
          <p:spPr>
            <a:xfrm>
              <a:off x="4139500" y="3240000"/>
              <a:ext cx="502200" cy="4521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−3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01" name="Google Shape;1401;p94"/>
            <p:cNvSpPr/>
            <p:nvPr/>
          </p:nvSpPr>
          <p:spPr>
            <a:xfrm>
              <a:off x="4501613" y="3240000"/>
              <a:ext cx="502200" cy="4521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−2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02" name="Google Shape;1402;p94"/>
            <p:cNvSpPr/>
            <p:nvPr/>
          </p:nvSpPr>
          <p:spPr>
            <a:xfrm>
              <a:off x="4931700" y="3240000"/>
              <a:ext cx="502200" cy="4521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−1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03" name="Google Shape;1403;p94"/>
            <p:cNvSpPr/>
            <p:nvPr/>
          </p:nvSpPr>
          <p:spPr>
            <a:xfrm>
              <a:off x="5657500" y="2693025"/>
              <a:ext cx="392700" cy="4521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04" name="Google Shape;1404;p94"/>
            <p:cNvSpPr/>
            <p:nvPr/>
          </p:nvSpPr>
          <p:spPr>
            <a:xfrm>
              <a:off x="5657488" y="2314575"/>
              <a:ext cx="392700" cy="4521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05" name="Google Shape;1405;p94"/>
            <p:cNvSpPr/>
            <p:nvPr/>
          </p:nvSpPr>
          <p:spPr>
            <a:xfrm>
              <a:off x="5657500" y="1892063"/>
              <a:ext cx="392700" cy="4521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06" name="Google Shape;1406;p94"/>
            <p:cNvSpPr/>
            <p:nvPr/>
          </p:nvSpPr>
          <p:spPr>
            <a:xfrm>
              <a:off x="5657500" y="4199775"/>
              <a:ext cx="502200" cy="4521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−3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07" name="Google Shape;1407;p94"/>
            <p:cNvSpPr/>
            <p:nvPr/>
          </p:nvSpPr>
          <p:spPr>
            <a:xfrm>
              <a:off x="5657488" y="3824925"/>
              <a:ext cx="502200" cy="4521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−2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08" name="Google Shape;1408;p94"/>
            <p:cNvSpPr/>
            <p:nvPr/>
          </p:nvSpPr>
          <p:spPr>
            <a:xfrm>
              <a:off x="5657500" y="3446479"/>
              <a:ext cx="502200" cy="452100"/>
            </a:xfrm>
            <a:prstGeom prst="roundRect">
              <a:avLst>
                <a:gd fmla="val 16667" name="adj"/>
              </a:avLst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−1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2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p95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coordinates in all four quadrants</a:t>
            </a:r>
            <a:endParaRPr/>
          </a:p>
        </p:txBody>
      </p:sp>
      <p:sp>
        <p:nvSpPr>
          <p:cNvPr id="1414" name="Google Shape;1414;p95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Drawing axes</a:t>
            </a:r>
            <a:endParaRPr/>
          </a:p>
        </p:txBody>
      </p:sp>
      <p:sp>
        <p:nvSpPr>
          <p:cNvPr id="1415" name="Google Shape;1415;p95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shapes in all four quadrants</a:t>
            </a:r>
            <a:endParaRPr/>
          </a:p>
        </p:txBody>
      </p:sp>
      <p:sp>
        <p:nvSpPr>
          <p:cNvPr id="1416" name="Google Shape;1416;p95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plotting coordinates</a:t>
            </a:r>
            <a:endParaRPr/>
          </a:p>
        </p:txBody>
      </p:sp>
      <p:pic>
        <p:nvPicPr>
          <p:cNvPr id="1417" name="Google Shape;1417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120" y="3699421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10-10-2023/4a5c6a1c-51e5-42a2-b279-be76050cfca1&quot; data-equatio-type=&quot;desmos&quot;&gt;&lt;mglyph src=&quot;https://equatio-api.texthelp.com/desmos/get/10-10-2023/4a5c6a1c-51e5-42a2-b279-be76050cfca1&quot; alt=&quot;Equatio Desmos Graph&quot;/&gt;&lt;/math&gt;" id="1422" name="Google Shape;1422;p96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325" y="1086860"/>
            <a:ext cx="3989400" cy="372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1-10-2023/9818224b-d147-4e02-83db-e3f6a4641f0d&quot; data-equatio-type=&quot;desmos&quot;&gt;&lt;mglyph src=&quot;https://equatio-api.texthelp.com/desmos/get/11-10-2023/9818224b-d147-4e02-83db-e3f6a4641f0d&quot; alt=&quot;Equatio Desmos Graph&quot;/&gt;&lt;/math&gt;" id="1423" name="Google Shape;1423;p96" title="Equatio Desmos Grap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6025" y="1095500"/>
            <a:ext cx="3989400" cy="372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24" name="Google Shape;1424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shapes in all four quadrants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y&quot;&gt;&lt;mi&gt;y&lt;/mi&gt;&lt;/math&gt;" id="1425" name="Google Shape;1425;p96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60555" y="858000"/>
            <a:ext cx="173522" cy="2375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426" name="Google Shape;1426;p96" title="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17765" y="3024947"/>
            <a:ext cx="168075" cy="153460"/>
          </a:xfrm>
          <a:prstGeom prst="rect">
            <a:avLst/>
          </a:prstGeom>
          <a:noFill/>
          <a:ln>
            <a:noFill/>
          </a:ln>
        </p:spPr>
      </p:pic>
      <p:sp>
        <p:nvSpPr>
          <p:cNvPr descr="&lt;math xmlns=&quot;http://www.w3.org/1998/Math/MathML&quot; data-is-equatio=&quot;1&quot; data-equatio-url=&quot;https://equatio-api.texthelp.com/desmos/get/10-10-2023/8fe8b824-82bd-489f-83fb-9c332eef54b3&quot; data-equatio-type=&quot;desmos&quot;&gt;&lt;mglyph src=&quot;https://equatio-api.texthelp.com/desmos/get/10-10-2023/8fe8b824-82bd-489f-83fb-9c332eef54b3&quot; alt=&quot;Equatio Desmos Graph&quot;/&gt;&lt;/math&gt;" id="1427" name="Google Shape;1427;p96" title="Equatio Desmos Graph"/>
          <p:cNvSpPr txBox="1"/>
          <p:nvPr>
            <p:ph idx="1" type="body"/>
          </p:nvPr>
        </p:nvSpPr>
        <p:spPr>
          <a:xfrm>
            <a:off x="4626475" y="1059213"/>
            <a:ext cx="4043100" cy="4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When we plot these</a:t>
            </a:r>
            <a:r>
              <a:rPr lang="en-GB" sz="2000"/>
              <a:t> coordinates, what do you notice?</a:t>
            </a:r>
            <a:endParaRPr sz="2000"/>
          </a:p>
        </p:txBody>
      </p:sp>
      <p:sp>
        <p:nvSpPr>
          <p:cNvPr id="1428" name="Google Shape;1428;p96"/>
          <p:cNvSpPr txBox="1"/>
          <p:nvPr/>
        </p:nvSpPr>
        <p:spPr>
          <a:xfrm>
            <a:off x="4626485" y="1923132"/>
            <a:ext cx="1427700" cy="20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(2, 2)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(-3, 2)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(-3, -2)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(2, -2)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9" name="Google Shape;1429;p96"/>
          <p:cNvSpPr/>
          <p:nvPr/>
        </p:nvSpPr>
        <p:spPr>
          <a:xfrm>
            <a:off x="1232000" y="2291200"/>
            <a:ext cx="1819500" cy="1352100"/>
          </a:xfrm>
          <a:prstGeom prst="rect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descr="&lt;math xmlns=&quot;http://www.w3.org/1998/Math/MathML&quot; data-is-equatio=&quot;1&quot; data-equatio-url=&quot;https://equatio-api.texthelp.com/desmos/get/10-10-2023/8fe8b824-82bd-489f-83fb-9c332eef54b3&quot; data-equatio-type=&quot;desmos&quot;&gt;&lt;mglyph src=&quot;https://equatio-api.texthelp.com/desmos/get/10-10-2023/8fe8b824-82bd-489f-83fb-9c332eef54b3&quot; alt=&quot;Equatio Desmos Graph&quot;/&gt;&lt;/math&gt;" id="1430" name="Google Shape;1430;p96" title="Equatio Desmos Graph"/>
          <p:cNvSpPr txBox="1"/>
          <p:nvPr>
            <p:ph idx="1" type="body"/>
          </p:nvPr>
        </p:nvSpPr>
        <p:spPr>
          <a:xfrm>
            <a:off x="4626475" y="3966375"/>
            <a:ext cx="4193400" cy="4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They form a rectangle with sides parallel to 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and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 axes.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11-10-2023/9818224b-d147-4e02-83db-e3f6a4641f0d&quot; data-equatio-type=&quot;desmos&quot;&gt;&lt;mglyph src=&quot;https://equatio-api.texthelp.com/desmos/get/11-10-2023/9818224b-d147-4e02-83db-e3f6a4641f0d&quot; alt=&quot;Equatio Desmos Graph&quot;/&gt;&lt;/math&gt;" id="1435" name="Google Shape;1435;p97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025" y="1095500"/>
            <a:ext cx="3989400" cy="372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36" name="Google Shape;1436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shapes in all four quadrants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y&quot;&gt;&lt;mi&gt;y&lt;/mi&gt;&lt;/math&gt;" id="1437" name="Google Shape;1437;p97" title="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60555" y="858000"/>
            <a:ext cx="173522" cy="2375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438" name="Google Shape;1438;p97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17765" y="3024947"/>
            <a:ext cx="168075" cy="153460"/>
          </a:xfrm>
          <a:prstGeom prst="rect">
            <a:avLst/>
          </a:prstGeom>
          <a:noFill/>
          <a:ln>
            <a:noFill/>
          </a:ln>
        </p:spPr>
      </p:pic>
      <p:sp>
        <p:nvSpPr>
          <p:cNvPr descr="&lt;math xmlns=&quot;http://www.w3.org/1998/Math/MathML&quot; data-is-equatio=&quot;1&quot; data-equatio-url=&quot;https://equatio-api.texthelp.com/desmos/get/10-10-2023/8fe8b824-82bd-489f-83fb-9c332eef54b3&quot; data-equatio-type=&quot;desmos&quot;&gt;&lt;mglyph src=&quot;https://equatio-api.texthelp.com/desmos/get/10-10-2023/8fe8b824-82bd-489f-83fb-9c332eef54b3&quot; alt=&quot;Equatio Desmos Graph&quot;/&gt;&lt;/math&gt;" id="1439" name="Google Shape;1439;p97" title="Equatio Desmos Graph"/>
          <p:cNvSpPr txBox="1"/>
          <p:nvPr>
            <p:ph idx="1" type="body"/>
          </p:nvPr>
        </p:nvSpPr>
        <p:spPr>
          <a:xfrm>
            <a:off x="4816075" y="1080945"/>
            <a:ext cx="3799800" cy="4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What patterns do you see in these coordinates?</a:t>
            </a:r>
            <a:endParaRPr sz="2000"/>
          </a:p>
        </p:txBody>
      </p:sp>
      <p:sp>
        <p:nvSpPr>
          <p:cNvPr id="1440" name="Google Shape;1440;p97"/>
          <p:cNvSpPr/>
          <p:nvPr/>
        </p:nvSpPr>
        <p:spPr>
          <a:xfrm>
            <a:off x="1232000" y="2291200"/>
            <a:ext cx="1819500" cy="1352100"/>
          </a:xfrm>
          <a:prstGeom prst="rect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41" name="Google Shape;1441;p97"/>
          <p:cNvGrpSpPr/>
          <p:nvPr/>
        </p:nvGrpSpPr>
        <p:grpSpPr>
          <a:xfrm>
            <a:off x="3178650" y="1788135"/>
            <a:ext cx="243900" cy="2302870"/>
            <a:chOff x="3178650" y="1788135"/>
            <a:chExt cx="243900" cy="2302870"/>
          </a:xfrm>
        </p:grpSpPr>
        <p:sp>
          <p:nvSpPr>
            <p:cNvPr id="1442" name="Google Shape;1442;p97"/>
            <p:cNvSpPr/>
            <p:nvPr/>
          </p:nvSpPr>
          <p:spPr>
            <a:xfrm>
              <a:off x="3178650" y="1788135"/>
              <a:ext cx="243900" cy="418200"/>
            </a:xfrm>
            <a:prstGeom prst="ellipse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43" name="Google Shape;1443;p97"/>
            <p:cNvSpPr/>
            <p:nvPr/>
          </p:nvSpPr>
          <p:spPr>
            <a:xfrm>
              <a:off x="3178650" y="3672805"/>
              <a:ext cx="243900" cy="418200"/>
            </a:xfrm>
            <a:prstGeom prst="ellipse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44" name="Google Shape;1444;p97"/>
          <p:cNvGrpSpPr/>
          <p:nvPr/>
        </p:nvGrpSpPr>
        <p:grpSpPr>
          <a:xfrm>
            <a:off x="294601" y="1788125"/>
            <a:ext cx="530917" cy="2302874"/>
            <a:chOff x="3163930" y="1788139"/>
            <a:chExt cx="255593" cy="2302874"/>
          </a:xfrm>
        </p:grpSpPr>
        <p:sp>
          <p:nvSpPr>
            <p:cNvPr id="1445" name="Google Shape;1445;p97"/>
            <p:cNvSpPr/>
            <p:nvPr/>
          </p:nvSpPr>
          <p:spPr>
            <a:xfrm>
              <a:off x="3214622" y="1788139"/>
              <a:ext cx="204900" cy="418200"/>
            </a:xfrm>
            <a:prstGeom prst="ellipse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46" name="Google Shape;1446;p97"/>
            <p:cNvSpPr/>
            <p:nvPr/>
          </p:nvSpPr>
          <p:spPr>
            <a:xfrm>
              <a:off x="3163930" y="3672813"/>
              <a:ext cx="204900" cy="418200"/>
            </a:xfrm>
            <a:prstGeom prst="ellipse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47" name="Google Shape;1447;p97"/>
          <p:cNvGrpSpPr/>
          <p:nvPr/>
        </p:nvGrpSpPr>
        <p:grpSpPr>
          <a:xfrm>
            <a:off x="846945" y="1777970"/>
            <a:ext cx="2834700" cy="438530"/>
            <a:chOff x="-829455" y="1625570"/>
            <a:chExt cx="2834700" cy="438530"/>
          </a:xfrm>
        </p:grpSpPr>
        <p:sp>
          <p:nvSpPr>
            <p:cNvPr id="1448" name="Google Shape;1448;p97"/>
            <p:cNvSpPr/>
            <p:nvPr/>
          </p:nvSpPr>
          <p:spPr>
            <a:xfrm>
              <a:off x="1761345" y="1645900"/>
              <a:ext cx="243900" cy="418200"/>
            </a:xfrm>
            <a:prstGeom prst="ellipse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49" name="Google Shape;1449;p97"/>
            <p:cNvSpPr/>
            <p:nvPr/>
          </p:nvSpPr>
          <p:spPr>
            <a:xfrm>
              <a:off x="-829455" y="1625570"/>
              <a:ext cx="243900" cy="418200"/>
            </a:xfrm>
            <a:prstGeom prst="ellipse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50" name="Google Shape;1450;p97"/>
          <p:cNvGrpSpPr/>
          <p:nvPr/>
        </p:nvGrpSpPr>
        <p:grpSpPr>
          <a:xfrm>
            <a:off x="694467" y="3683044"/>
            <a:ext cx="3150570" cy="438530"/>
            <a:chOff x="-829455" y="1625570"/>
            <a:chExt cx="2034332" cy="438530"/>
          </a:xfrm>
        </p:grpSpPr>
        <p:sp>
          <p:nvSpPr>
            <p:cNvPr id="1451" name="Google Shape;1451;p97"/>
            <p:cNvSpPr/>
            <p:nvPr/>
          </p:nvSpPr>
          <p:spPr>
            <a:xfrm>
              <a:off x="960977" y="1645900"/>
              <a:ext cx="243900" cy="418200"/>
            </a:xfrm>
            <a:prstGeom prst="ellipse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52" name="Google Shape;1452;p97"/>
            <p:cNvSpPr/>
            <p:nvPr/>
          </p:nvSpPr>
          <p:spPr>
            <a:xfrm>
              <a:off x="-829455" y="1625570"/>
              <a:ext cx="243900" cy="418200"/>
            </a:xfrm>
            <a:prstGeom prst="ellipse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descr="&lt;math xmlns=&quot;http://www.w3.org/1998/Math/MathML&quot; data-is-equatio=&quot;1&quot; data-equatio-url=&quot;https://equatio-api.texthelp.com/desmos/get/10-10-2023/8fe8b824-82bd-489f-83fb-9c332eef54b3&quot; data-equatio-type=&quot;desmos&quot;&gt;&lt;mglyph src=&quot;https://equatio-api.texthelp.com/desmos/get/10-10-2023/8fe8b824-82bd-489f-83fb-9c332eef54b3&quot; alt=&quot;Equatio Desmos Graph&quot;/&gt;&lt;/math&gt;" id="1453" name="Google Shape;1453;p97" title="Equatio Desmos Graph"/>
          <p:cNvSpPr txBox="1"/>
          <p:nvPr>
            <p:ph idx="1" type="body"/>
          </p:nvPr>
        </p:nvSpPr>
        <p:spPr>
          <a:xfrm>
            <a:off x="4816075" y="2107085"/>
            <a:ext cx="3799800" cy="4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Matching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coordinates.</a:t>
            </a:r>
            <a:endParaRPr sz="2000"/>
          </a:p>
        </p:txBody>
      </p:sp>
      <p:sp>
        <p:nvSpPr>
          <p:cNvPr descr="&lt;math xmlns=&quot;http://www.w3.org/1998/Math/MathML&quot; data-is-equatio=&quot;1&quot; data-equatio-url=&quot;https://equatio-api.texthelp.com/desmos/get/10-10-2023/8fe8b824-82bd-489f-83fb-9c332eef54b3&quot; data-equatio-type=&quot;desmos&quot;&gt;&lt;mglyph src=&quot;https://equatio-api.texthelp.com/desmos/get/10-10-2023/8fe8b824-82bd-489f-83fb-9c332eef54b3&quot; alt=&quot;Equatio Desmos Graph&quot;/&gt;&lt;/math&gt;" id="1454" name="Google Shape;1454;p97" title="Equatio Desmos Graph"/>
          <p:cNvSpPr txBox="1"/>
          <p:nvPr>
            <p:ph idx="1" type="body"/>
          </p:nvPr>
        </p:nvSpPr>
        <p:spPr>
          <a:xfrm>
            <a:off x="4816075" y="2945285"/>
            <a:ext cx="3799800" cy="4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Matching </a:t>
            </a:r>
            <a:r>
              <a:rPr i="1" lang="en-GB" sz="24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 coordinates.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8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11-10-2023/9818224b-d147-4e02-83db-e3f6a4641f0d&quot; data-equatio-type=&quot;desmos&quot;&gt;&lt;mglyph src=&quot;https://equatio-api.texthelp.com/desmos/get/11-10-2023/9818224b-d147-4e02-83db-e3f6a4641f0d&quot; alt=&quot;Equatio Desmos Graph&quot;/&gt;&lt;/math&gt;" id="1459" name="Google Shape;1459;p98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025" y="1095500"/>
            <a:ext cx="3989400" cy="372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1-10-2023/e54fd60b-9931-4eeb-ad4e-6a2e3cbd77d2&quot; data-equatio-type=&quot;desmos&quot;&gt;&lt;mglyph src=&quot;https://equatio-api.texthelp.com/desmos/get/11-10-2023/e54fd60b-9931-4eeb-ad4e-6a2e3cbd77d2&quot; alt=&quot;Equatio Desmos Graph&quot;/&gt;&lt;/math&gt;" id="1460" name="Google Shape;1460;p98" title="Equatio Desmos Grap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7300" y="1094525"/>
            <a:ext cx="3989400" cy="37233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61" name="Google Shape;1461;p98"/>
          <p:cNvGrpSpPr/>
          <p:nvPr/>
        </p:nvGrpSpPr>
        <p:grpSpPr>
          <a:xfrm>
            <a:off x="3204333" y="3729950"/>
            <a:ext cx="204031" cy="344700"/>
            <a:chOff x="5304675" y="2920013"/>
            <a:chExt cx="359400" cy="344700"/>
          </a:xfrm>
        </p:grpSpPr>
        <p:sp>
          <p:nvSpPr>
            <p:cNvPr id="1462" name="Google Shape;1462;p98"/>
            <p:cNvSpPr/>
            <p:nvPr/>
          </p:nvSpPr>
          <p:spPr>
            <a:xfrm>
              <a:off x="5304675" y="2920013"/>
              <a:ext cx="359400" cy="344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63" name="Google Shape;1463;p98"/>
            <p:cNvCxnSpPr/>
            <p:nvPr/>
          </p:nvCxnSpPr>
          <p:spPr>
            <a:xfrm flipH="1" rot="10800000">
              <a:off x="5324475" y="3239425"/>
              <a:ext cx="318900" cy="480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64" name="Google Shape;1464;p98"/>
          <p:cNvGrpSpPr/>
          <p:nvPr/>
        </p:nvGrpSpPr>
        <p:grpSpPr>
          <a:xfrm>
            <a:off x="3508900" y="3729950"/>
            <a:ext cx="280368" cy="344700"/>
            <a:chOff x="5304675" y="2920013"/>
            <a:chExt cx="359400" cy="344700"/>
          </a:xfrm>
        </p:grpSpPr>
        <p:sp>
          <p:nvSpPr>
            <p:cNvPr id="1465" name="Google Shape;1465;p98"/>
            <p:cNvSpPr/>
            <p:nvPr/>
          </p:nvSpPr>
          <p:spPr>
            <a:xfrm>
              <a:off x="5304675" y="2920013"/>
              <a:ext cx="359400" cy="3447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66" name="Google Shape;1466;p98"/>
            <p:cNvCxnSpPr/>
            <p:nvPr/>
          </p:nvCxnSpPr>
          <p:spPr>
            <a:xfrm flipH="1" rot="10800000">
              <a:off x="5324475" y="3239425"/>
              <a:ext cx="318900" cy="480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467" name="Google Shape;1467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shapes in all four quadrants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y&quot;&gt;&lt;mi&gt;y&lt;/mi&gt;&lt;/math&gt;" id="1468" name="Google Shape;1468;p98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60555" y="858000"/>
            <a:ext cx="173522" cy="2375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469" name="Google Shape;1469;p98" title="x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17765" y="3024947"/>
            <a:ext cx="168075" cy="153460"/>
          </a:xfrm>
          <a:prstGeom prst="rect">
            <a:avLst/>
          </a:prstGeom>
          <a:noFill/>
          <a:ln>
            <a:noFill/>
          </a:ln>
        </p:spPr>
      </p:pic>
      <p:sp>
        <p:nvSpPr>
          <p:cNvPr id="1470" name="Google Shape;1470;p98"/>
          <p:cNvSpPr/>
          <p:nvPr/>
        </p:nvSpPr>
        <p:spPr>
          <a:xfrm>
            <a:off x="1232000" y="2291200"/>
            <a:ext cx="1819500" cy="1352100"/>
          </a:xfrm>
          <a:prstGeom prst="rect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71" name="Google Shape;1471;p98"/>
          <p:cNvGrpSpPr/>
          <p:nvPr/>
        </p:nvGrpSpPr>
        <p:grpSpPr>
          <a:xfrm>
            <a:off x="3178650" y="1788135"/>
            <a:ext cx="243900" cy="2302870"/>
            <a:chOff x="3178650" y="1788135"/>
            <a:chExt cx="243900" cy="2302870"/>
          </a:xfrm>
        </p:grpSpPr>
        <p:sp>
          <p:nvSpPr>
            <p:cNvPr id="1472" name="Google Shape;1472;p98"/>
            <p:cNvSpPr/>
            <p:nvPr/>
          </p:nvSpPr>
          <p:spPr>
            <a:xfrm>
              <a:off x="3178650" y="1788135"/>
              <a:ext cx="243900" cy="418200"/>
            </a:xfrm>
            <a:prstGeom prst="ellipse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73" name="Google Shape;1473;p98"/>
            <p:cNvSpPr/>
            <p:nvPr/>
          </p:nvSpPr>
          <p:spPr>
            <a:xfrm>
              <a:off x="3178650" y="3672805"/>
              <a:ext cx="243900" cy="418200"/>
            </a:xfrm>
            <a:prstGeom prst="ellipse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74" name="Google Shape;1474;p98"/>
          <p:cNvGrpSpPr/>
          <p:nvPr/>
        </p:nvGrpSpPr>
        <p:grpSpPr>
          <a:xfrm>
            <a:off x="705698" y="3660583"/>
            <a:ext cx="3150570" cy="438530"/>
            <a:chOff x="-829455" y="1625570"/>
            <a:chExt cx="2034332" cy="438530"/>
          </a:xfrm>
        </p:grpSpPr>
        <p:sp>
          <p:nvSpPr>
            <p:cNvPr id="1475" name="Google Shape;1475;p98"/>
            <p:cNvSpPr/>
            <p:nvPr/>
          </p:nvSpPr>
          <p:spPr>
            <a:xfrm>
              <a:off x="960977" y="1645900"/>
              <a:ext cx="243900" cy="418200"/>
            </a:xfrm>
            <a:prstGeom prst="ellipse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76" name="Google Shape;1476;p98"/>
            <p:cNvSpPr/>
            <p:nvPr/>
          </p:nvSpPr>
          <p:spPr>
            <a:xfrm>
              <a:off x="-829455" y="1625570"/>
              <a:ext cx="243900" cy="418200"/>
            </a:xfrm>
            <a:prstGeom prst="ellipse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descr="&lt;math xmlns=&quot;http://www.w3.org/1998/Math/MathML&quot; data-is-equatio=&quot;1&quot; data-equatio-url=&quot;https://equatio-api.texthelp.com/desmos/get/10-10-2023/8fe8b824-82bd-489f-83fb-9c332eef54b3&quot; data-equatio-type=&quot;desmos&quot;&gt;&lt;mglyph src=&quot;https://equatio-api.texthelp.com/desmos/get/10-10-2023/8fe8b824-82bd-489f-83fb-9c332eef54b3&quot; alt=&quot;Equatio Desmos Graph&quot;/&gt;&lt;/math&gt;" id="1477" name="Google Shape;1477;p98" title="Equatio Desmos Graph"/>
          <p:cNvSpPr txBox="1"/>
          <p:nvPr>
            <p:ph idx="1" type="body"/>
          </p:nvPr>
        </p:nvSpPr>
        <p:spPr>
          <a:xfrm>
            <a:off x="4816075" y="1080945"/>
            <a:ext cx="3799800" cy="4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That means for this type of problem we could have found a coordinate without the grid lines or labels.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11-10-2023/96b37b8b-597e-403c-a084-76c52ea17c96&quot; data-equatio-type=&quot;desmos&quot;&gt;&lt;mglyph src=&quot;https://equatio-api.texthelp.com/desmos/get/11-10-2023/96b37b8b-597e-403c-a084-76c52ea17c96&quot; alt=&quot;Equatio Desmos Graph&quot;/&gt;&lt;/math&gt;" id="1482" name="Google Shape;1482;p99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025" y="1095500"/>
            <a:ext cx="4003976" cy="3731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83" name="Google Shape;1483;p99"/>
          <p:cNvSpPr/>
          <p:nvPr/>
        </p:nvSpPr>
        <p:spPr>
          <a:xfrm>
            <a:off x="838548" y="1129150"/>
            <a:ext cx="280500" cy="344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4" name="Google Shape;1484;p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shapes in all four quadrants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y&quot;&gt;&lt;mi&gt;y&lt;/mi&gt;&lt;/math&gt;" id="1485" name="Google Shape;1485;p99" title="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60555" y="858000"/>
            <a:ext cx="173522" cy="2375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486" name="Google Shape;1486;p99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17765" y="3024947"/>
            <a:ext cx="168075" cy="153460"/>
          </a:xfrm>
          <a:prstGeom prst="rect">
            <a:avLst/>
          </a:prstGeom>
          <a:noFill/>
          <a:ln>
            <a:noFill/>
          </a:ln>
        </p:spPr>
      </p:pic>
      <p:sp>
        <p:nvSpPr>
          <p:cNvPr id="1487" name="Google Shape;1487;p99"/>
          <p:cNvSpPr/>
          <p:nvPr/>
        </p:nvSpPr>
        <p:spPr>
          <a:xfrm>
            <a:off x="1585725" y="1620000"/>
            <a:ext cx="1100700" cy="2354100"/>
          </a:xfrm>
          <a:prstGeom prst="rect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descr="&lt;math xmlns=&quot;http://www.w3.org/1998/Math/MathML&quot; data-is-equatio=&quot;1&quot; data-equatio-url=&quot;https://equatio-api.texthelp.com/desmos/get/10-10-2023/8fe8b824-82bd-489f-83fb-9c332eef54b3&quot; data-equatio-type=&quot;desmos&quot;&gt;&lt;mglyph src=&quot;https://equatio-api.texthelp.com/desmos/get/10-10-2023/8fe8b824-82bd-489f-83fb-9c332eef54b3&quot; alt=&quot;Equatio Desmos Graph&quot;/&gt;&lt;/math&gt;" id="1488" name="Google Shape;1488;p99" title="Equatio Desmos Graph"/>
          <p:cNvSpPr txBox="1"/>
          <p:nvPr>
            <p:ph idx="1" type="body"/>
          </p:nvPr>
        </p:nvSpPr>
        <p:spPr>
          <a:xfrm>
            <a:off x="4816075" y="1080945"/>
            <a:ext cx="3799800" cy="4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Fill in the missing coordinates of this rectangle.</a:t>
            </a:r>
            <a:endParaRPr sz="2000"/>
          </a:p>
        </p:txBody>
      </p:sp>
      <p:sp>
        <p:nvSpPr>
          <p:cNvPr id="1489" name="Google Shape;1489;p99"/>
          <p:cNvSpPr/>
          <p:nvPr/>
        </p:nvSpPr>
        <p:spPr>
          <a:xfrm>
            <a:off x="1227867" y="1129150"/>
            <a:ext cx="173400" cy="344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0" name="Google Shape;1490;p99"/>
          <p:cNvSpPr/>
          <p:nvPr/>
        </p:nvSpPr>
        <p:spPr>
          <a:xfrm>
            <a:off x="3147009" y="4067259"/>
            <a:ext cx="280500" cy="344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1" name="Google Shape;1491;p99"/>
          <p:cNvSpPr/>
          <p:nvPr/>
        </p:nvSpPr>
        <p:spPr>
          <a:xfrm>
            <a:off x="2839297" y="4067259"/>
            <a:ext cx="173400" cy="344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92" name="Google Shape;1492;p99"/>
          <p:cNvGrpSpPr/>
          <p:nvPr/>
        </p:nvGrpSpPr>
        <p:grpSpPr>
          <a:xfrm>
            <a:off x="2820111" y="1124796"/>
            <a:ext cx="243900" cy="3327161"/>
            <a:chOff x="3178650" y="1788135"/>
            <a:chExt cx="243900" cy="3327161"/>
          </a:xfrm>
        </p:grpSpPr>
        <p:sp>
          <p:nvSpPr>
            <p:cNvPr id="1493" name="Google Shape;1493;p99"/>
            <p:cNvSpPr/>
            <p:nvPr/>
          </p:nvSpPr>
          <p:spPr>
            <a:xfrm>
              <a:off x="3178650" y="1788135"/>
              <a:ext cx="243900" cy="418200"/>
            </a:xfrm>
            <a:prstGeom prst="ellipse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94" name="Google Shape;1494;p99"/>
            <p:cNvSpPr/>
            <p:nvPr/>
          </p:nvSpPr>
          <p:spPr>
            <a:xfrm>
              <a:off x="3178650" y="4697096"/>
              <a:ext cx="243900" cy="418200"/>
            </a:xfrm>
            <a:prstGeom prst="ellipse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95" name="Google Shape;1495;p99"/>
          <p:cNvGrpSpPr/>
          <p:nvPr/>
        </p:nvGrpSpPr>
        <p:grpSpPr>
          <a:xfrm>
            <a:off x="1041776" y="4041865"/>
            <a:ext cx="2442309" cy="420331"/>
            <a:chOff x="-829455" y="1645900"/>
            <a:chExt cx="1577006" cy="420331"/>
          </a:xfrm>
        </p:grpSpPr>
        <p:sp>
          <p:nvSpPr>
            <p:cNvPr id="1496" name="Google Shape;1496;p99"/>
            <p:cNvSpPr/>
            <p:nvPr/>
          </p:nvSpPr>
          <p:spPr>
            <a:xfrm>
              <a:off x="503651" y="1645900"/>
              <a:ext cx="243900" cy="418200"/>
            </a:xfrm>
            <a:prstGeom prst="ellipse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97" name="Google Shape;1497;p99"/>
            <p:cNvSpPr/>
            <p:nvPr/>
          </p:nvSpPr>
          <p:spPr>
            <a:xfrm>
              <a:off x="-829455" y="1648031"/>
              <a:ext cx="243900" cy="418200"/>
            </a:xfrm>
            <a:prstGeom prst="ellipse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98" name="Google Shape;1498;p99"/>
          <p:cNvGrpSpPr/>
          <p:nvPr/>
        </p:nvGrpSpPr>
        <p:grpSpPr>
          <a:xfrm>
            <a:off x="612205" y="1124327"/>
            <a:ext cx="530904" cy="3327161"/>
            <a:chOff x="-3617940" y="-490112"/>
            <a:chExt cx="342806" cy="3327161"/>
          </a:xfrm>
        </p:grpSpPr>
        <p:sp>
          <p:nvSpPr>
            <p:cNvPr id="1499" name="Google Shape;1499;p99"/>
            <p:cNvSpPr/>
            <p:nvPr/>
          </p:nvSpPr>
          <p:spPr>
            <a:xfrm>
              <a:off x="-3519034" y="-490112"/>
              <a:ext cx="243900" cy="418200"/>
            </a:xfrm>
            <a:prstGeom prst="ellipse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00" name="Google Shape;1500;p99"/>
            <p:cNvSpPr/>
            <p:nvPr/>
          </p:nvSpPr>
          <p:spPr>
            <a:xfrm>
              <a:off x="-3617940" y="2418849"/>
              <a:ext cx="243900" cy="418200"/>
            </a:xfrm>
            <a:prstGeom prst="ellipse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01" name="Google Shape;1501;p99"/>
          <p:cNvGrpSpPr/>
          <p:nvPr/>
        </p:nvGrpSpPr>
        <p:grpSpPr>
          <a:xfrm>
            <a:off x="1151649" y="1137383"/>
            <a:ext cx="2226096" cy="420331"/>
            <a:chOff x="-829455" y="1645900"/>
            <a:chExt cx="1674763" cy="420331"/>
          </a:xfrm>
        </p:grpSpPr>
        <p:sp>
          <p:nvSpPr>
            <p:cNvPr id="1502" name="Google Shape;1502;p99"/>
            <p:cNvSpPr/>
            <p:nvPr/>
          </p:nvSpPr>
          <p:spPr>
            <a:xfrm>
              <a:off x="601409" y="1645900"/>
              <a:ext cx="243900" cy="418200"/>
            </a:xfrm>
            <a:prstGeom prst="ellipse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03" name="Google Shape;1503;p99"/>
            <p:cNvSpPr/>
            <p:nvPr/>
          </p:nvSpPr>
          <p:spPr>
            <a:xfrm>
              <a:off x="-829455" y="1648031"/>
              <a:ext cx="243900" cy="418200"/>
            </a:xfrm>
            <a:prstGeom prst="ellipse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7" name="Shape 1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ata-is-equatio=&quot;1&quot; data-equatio-url=&quot;https://equatio-api.texthelp.com/desmos/get/11-10-2023/f94a5f91-f7f6-4502-9130-26f9c10f8848&quot; data-equatio-type=&quot;desmos&quot;&gt;&lt;mglyph src=&quot;https://equatio-api.texthelp.com/desmos/get/11-10-2023/f94a5f91-f7f6-4502-9130-26f9c10f8848&quot; alt=&quot;Equatio Desmos Graph&quot;/&gt;&lt;/math&gt;" id="1508" name="Google Shape;1508;p100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900" y="1095325"/>
            <a:ext cx="4005100" cy="372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509" name="Google Shape;1509;p10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shapes in all four quadrants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y&quot;&gt;&lt;mi&gt;y&lt;/mi&gt;&lt;/math&gt;" id="1510" name="Google Shape;1510;p100" title="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60555" y="858000"/>
            <a:ext cx="173522" cy="2375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511" name="Google Shape;1511;p100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17765" y="3024947"/>
            <a:ext cx="168075" cy="153460"/>
          </a:xfrm>
          <a:prstGeom prst="rect">
            <a:avLst/>
          </a:prstGeom>
          <a:noFill/>
          <a:ln>
            <a:noFill/>
          </a:ln>
        </p:spPr>
      </p:pic>
      <p:sp>
        <p:nvSpPr>
          <p:cNvPr descr="&lt;math xmlns=&quot;http://www.w3.org/1998/Math/MathML&quot; data-is-equatio=&quot;1&quot; data-equatio-url=&quot;https://equatio-api.texthelp.com/desmos/get/10-10-2023/19778222-15aa-413e-9328-bac07525a2cb&quot; data-equatio-type=&quot;desmos&quot;&gt;&lt;mglyph src=&quot;https://equatio-api.texthelp.com/desmos/get/10-10-2023/19778222-15aa-413e-9328-bac07525a2cb&quot; alt=&quot;Equatio Desmos Graph&quot;/&gt;&lt;/math&gt;" id="1512" name="Google Shape;1512;p100" title="Equatio Desmos Graph"/>
          <p:cNvSpPr txBox="1"/>
          <p:nvPr>
            <p:ph idx="1" type="body"/>
          </p:nvPr>
        </p:nvSpPr>
        <p:spPr>
          <a:xfrm>
            <a:off x="4816075" y="1084141"/>
            <a:ext cx="3799800" cy="4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What coordinate must we add here to form a rectangle?</a:t>
            </a:r>
            <a:endParaRPr sz="2000"/>
          </a:p>
        </p:txBody>
      </p:sp>
      <p:sp>
        <p:nvSpPr>
          <p:cNvPr id="1513" name="Google Shape;1513;p100"/>
          <p:cNvSpPr/>
          <p:nvPr/>
        </p:nvSpPr>
        <p:spPr>
          <a:xfrm>
            <a:off x="1958600" y="1955900"/>
            <a:ext cx="1082700" cy="2364000"/>
          </a:xfrm>
          <a:prstGeom prst="rect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4" name="Google Shape;1514;p100"/>
          <p:cNvSpPr txBox="1"/>
          <p:nvPr/>
        </p:nvSpPr>
        <p:spPr>
          <a:xfrm>
            <a:off x="4824000" y="2048550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(-1, -4)</a:t>
            </a:r>
            <a:endParaRPr/>
          </a:p>
        </p:txBody>
      </p:sp>
      <p:sp>
        <p:nvSpPr>
          <p:cNvPr id="1515" name="Google Shape;1515;p100"/>
          <p:cNvSpPr txBox="1"/>
          <p:nvPr/>
        </p:nvSpPr>
        <p:spPr>
          <a:xfrm>
            <a:off x="727650" y="4058400"/>
            <a:ext cx="3000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(-1, -4)</a:t>
            </a:r>
            <a:endParaRPr/>
          </a:p>
        </p:txBody>
      </p:sp>
      <p:grpSp>
        <p:nvGrpSpPr>
          <p:cNvPr id="1516" name="Google Shape;1516;p100"/>
          <p:cNvGrpSpPr/>
          <p:nvPr/>
        </p:nvGrpSpPr>
        <p:grpSpPr>
          <a:xfrm>
            <a:off x="1892488" y="4243269"/>
            <a:ext cx="168072" cy="153453"/>
            <a:chOff x="4945075" y="2652450"/>
            <a:chExt cx="91200" cy="95100"/>
          </a:xfrm>
        </p:grpSpPr>
        <p:cxnSp>
          <p:nvCxnSpPr>
            <p:cNvPr id="1517" name="Google Shape;1517;p100"/>
            <p:cNvCxnSpPr/>
            <p:nvPr/>
          </p:nvCxnSpPr>
          <p:spPr>
            <a:xfrm flipH="1" rot="10800000">
              <a:off x="4945075" y="2652450"/>
              <a:ext cx="91200" cy="951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18" name="Google Shape;1518;p100"/>
            <p:cNvCxnSpPr/>
            <p:nvPr/>
          </p:nvCxnSpPr>
          <p:spPr>
            <a:xfrm>
              <a:off x="4945075" y="2652450"/>
              <a:ext cx="91200" cy="951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2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p10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Plotting shapes in all four quadrants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0-10-2023/4a5c6a1c-51e5-42a2-b279-be76050cfca1&quot; data-equatio-type=&quot;desmos&quot;&gt;&lt;mglyph src=&quot;https://equatio-api.texthelp.com/desmos/get/10-10-2023/4a5c6a1c-51e5-42a2-b279-be76050cfca1&quot; alt=&quot;Equatio Desmos Graph&quot;/&gt;&lt;/math&gt;" id="1524" name="Google Shape;1524;p101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325" y="1097025"/>
            <a:ext cx="3989400" cy="372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1525" name="Google Shape;1525;p101" title="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60555" y="858000"/>
            <a:ext cx="173522" cy="2375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526" name="Google Shape;1526;p101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17765" y="3024947"/>
            <a:ext cx="168075" cy="153460"/>
          </a:xfrm>
          <a:prstGeom prst="rect">
            <a:avLst/>
          </a:prstGeom>
          <a:noFill/>
          <a:ln>
            <a:noFill/>
          </a:ln>
        </p:spPr>
      </p:pic>
      <p:sp>
        <p:nvSpPr>
          <p:cNvPr descr="&lt;math xmlns=&quot;http://www.w3.org/1998/Math/MathML&quot; data-is-equatio=&quot;1&quot; data-equatio-url=&quot;https://equatio-api.texthelp.com/desmos/get/10-10-2023/8fe8b824-82bd-489f-83fb-9c332eef54b3&quot; data-equatio-type=&quot;desmos&quot;&gt;&lt;mglyph src=&quot;https://equatio-api.texthelp.com/desmos/get/10-10-2023/8fe8b824-82bd-489f-83fb-9c332eef54b3&quot; alt=&quot;Equatio Desmos Graph&quot;/&gt;&lt;/math&gt;" id="1527" name="Google Shape;1527;p101" title="Equatio Desmos Graph"/>
          <p:cNvSpPr txBox="1"/>
          <p:nvPr>
            <p:ph idx="4294967295" type="body"/>
          </p:nvPr>
        </p:nvSpPr>
        <p:spPr>
          <a:xfrm>
            <a:off x="4816075" y="1072911"/>
            <a:ext cx="3799800" cy="4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1) Plot</a:t>
            </a:r>
            <a:r>
              <a:rPr lang="en-GB" sz="2000"/>
              <a:t> these coordinates.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What shape do they form?</a:t>
            </a:r>
            <a:endParaRPr sz="2000"/>
          </a:p>
        </p:txBody>
      </p:sp>
      <p:sp>
        <p:nvSpPr>
          <p:cNvPr id="1528" name="Google Shape;1528;p101"/>
          <p:cNvSpPr txBox="1"/>
          <p:nvPr/>
        </p:nvSpPr>
        <p:spPr>
          <a:xfrm>
            <a:off x="4829050" y="2156265"/>
            <a:ext cx="1427700" cy="20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(-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(-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-3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(3, -3)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2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p10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Plotting shapes in all four quadrants</a:t>
            </a:r>
            <a:endParaRPr/>
          </a:p>
        </p:txBody>
      </p:sp>
      <p:sp>
        <p:nvSpPr>
          <p:cNvPr descr="&lt;math xmlns=&quot;http://www.w3.org/1998/Math/MathML&quot; data-is-equatio=&quot;1&quot; data-equatio-url=&quot;https://equatio-api.texthelp.com/desmos/get/10-10-2023/8fe8b824-82bd-489f-83fb-9c332eef54b3&quot; data-equatio-type=&quot;desmos&quot;&gt;&lt;mglyph src=&quot;https://equatio-api.texthelp.com/desmos/get/10-10-2023/8fe8b824-82bd-489f-83fb-9c332eef54b3&quot; alt=&quot;Equatio Desmos Graph&quot;/&gt;&lt;/math&gt;" id="1534" name="Google Shape;1534;p102" title="Equatio Desmos Graph"/>
          <p:cNvSpPr txBox="1"/>
          <p:nvPr>
            <p:ph idx="4294967295" type="body"/>
          </p:nvPr>
        </p:nvSpPr>
        <p:spPr>
          <a:xfrm>
            <a:off x="314900" y="821850"/>
            <a:ext cx="8301000" cy="4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2)</a:t>
            </a:r>
            <a:r>
              <a:rPr lang="en-GB" sz="2000"/>
              <a:t> Fill in the blank coordinates of these rectangles.</a:t>
            </a:r>
            <a:endParaRPr sz="2000"/>
          </a:p>
        </p:txBody>
      </p:sp>
      <p:pic>
        <p:nvPicPr>
          <p:cNvPr descr="&lt;math xmlns=&quot;http://www.w3.org/1998/Math/MathML&quot; data-is-equatio=&quot;1&quot; data-equatio-url=&quot;https://equatio-api.texthelp.com/desmos/get/10-10-2023/c77fe7b7-4903-4098-8ea1-806ec9c28852&quot; data-equatio-type=&quot;desmos&quot;&gt;&lt;mglyph src=&quot;https://equatio-api.texthelp.com/desmos/get/10-10-2023/c77fe7b7-4903-4098-8ea1-806ec9c28852&quot; alt=&quot;Equatio Desmos Graph&quot;/&gt;&lt;/math&gt;" id="1535" name="Google Shape;1535;p102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900" y="1615051"/>
            <a:ext cx="3854986" cy="31426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536" name="Google Shape;1536;p102" title="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2306" y="3263025"/>
            <a:ext cx="146299" cy="1335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1537" name="Google Shape;1537;p102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71773" y="1461000"/>
            <a:ext cx="151040" cy="2067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538" name="Google Shape;1538;p102" title="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58371" y="3632795"/>
            <a:ext cx="146299" cy="133576"/>
          </a:xfrm>
          <a:prstGeom prst="rect">
            <a:avLst/>
          </a:prstGeom>
          <a:noFill/>
          <a:ln>
            <a:noFill/>
          </a:ln>
        </p:spPr>
      </p:pic>
      <p:sp>
        <p:nvSpPr>
          <p:cNvPr descr="&lt;math xmlns=&quot;http://www.w3.org/1998/Math/MathML&quot; data-is-equatio=&quot;1&quot; data-equatio-url=&quot;https://equatio-api.texthelp.com/desmos/get/10-10-2023/8fe8b824-82bd-489f-83fb-9c332eef54b3&quot; data-equatio-type=&quot;desmos&quot;&gt;&lt;mglyph src=&quot;https://equatio-api.texthelp.com/desmos/get/10-10-2023/8fe8b824-82bd-489f-83fb-9c332eef54b3&quot; alt=&quot;Equatio Desmos Graph&quot;/&gt;&lt;/math&gt;" id="1539" name="Google Shape;1539;p102" title="Equatio Desmos Graph"/>
          <p:cNvSpPr txBox="1"/>
          <p:nvPr>
            <p:ph idx="4294967295" type="body"/>
          </p:nvPr>
        </p:nvSpPr>
        <p:spPr>
          <a:xfrm>
            <a:off x="314900" y="1279050"/>
            <a:ext cx="1102500" cy="4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a)</a:t>
            </a:r>
            <a:endParaRPr sz="2000"/>
          </a:p>
        </p:txBody>
      </p:sp>
      <p:sp>
        <p:nvSpPr>
          <p:cNvPr descr="&lt;math xmlns=&quot;http://www.w3.org/1998/Math/MathML&quot; data-is-equatio=&quot;1&quot; data-equatio-url=&quot;https://equatio-api.texthelp.com/desmos/get/10-10-2023/8fe8b824-82bd-489f-83fb-9c332eef54b3&quot; data-equatio-type=&quot;desmos&quot;&gt;&lt;mglyph src=&quot;https://equatio-api.texthelp.com/desmos/get/10-10-2023/8fe8b824-82bd-489f-83fb-9c332eef54b3&quot; alt=&quot;Equatio Desmos Graph&quot;/&gt;&lt;/math&gt;" id="1540" name="Google Shape;1540;p102" title="Equatio Desmos Graph"/>
          <p:cNvSpPr txBox="1"/>
          <p:nvPr>
            <p:ph idx="4294967295" type="body"/>
          </p:nvPr>
        </p:nvSpPr>
        <p:spPr>
          <a:xfrm>
            <a:off x="4810700" y="1279050"/>
            <a:ext cx="1446000" cy="4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</a:t>
            </a:r>
            <a:r>
              <a:rPr lang="en-GB" sz="2000"/>
              <a:t>)</a:t>
            </a:r>
            <a:endParaRPr sz="2000"/>
          </a:p>
        </p:txBody>
      </p:sp>
      <p:pic>
        <p:nvPicPr>
          <p:cNvPr descr="&lt;math xmlns=&quot;http://www.w3.org/1998/Math/MathML&quot; data-is-equatio=&quot;1&quot; data-equatio-url=&quot;https://equatio-api.texthelp.com/desmos/get/10-10-2023/b977260a-1afa-4022-8f23-a5466aca100a&quot; data-equatio-type=&quot;desmos&quot;&gt;&lt;mglyph src=&quot;https://equatio-api.texthelp.com/desmos/get/10-10-2023/b977260a-1afa-4022-8f23-a5466aca100a&quot; alt=&quot;Equatio Desmos Graph&quot;/&gt;&lt;/math&gt;" id="1541" name="Google Shape;1541;p102" title="Equatio Desmos Grap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91200" y="1597395"/>
            <a:ext cx="3854976" cy="3142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1542" name="Google Shape;1542;p102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55220" y="1472230"/>
            <a:ext cx="151040" cy="20673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43" name="Google Shape;1543;p102"/>
          <p:cNvGrpSpPr/>
          <p:nvPr/>
        </p:nvGrpSpPr>
        <p:grpSpPr>
          <a:xfrm>
            <a:off x="3454345" y="3822144"/>
            <a:ext cx="611100" cy="337200"/>
            <a:chOff x="3454345" y="3822144"/>
            <a:chExt cx="611100" cy="337200"/>
          </a:xfrm>
        </p:grpSpPr>
        <p:sp>
          <p:nvSpPr>
            <p:cNvPr id="1544" name="Google Shape;1544;p102"/>
            <p:cNvSpPr/>
            <p:nvPr/>
          </p:nvSpPr>
          <p:spPr>
            <a:xfrm>
              <a:off x="3454345" y="3822144"/>
              <a:ext cx="611100" cy="337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45" name="Google Shape;1545;p102"/>
            <p:cNvCxnSpPr/>
            <p:nvPr/>
          </p:nvCxnSpPr>
          <p:spPr>
            <a:xfrm>
              <a:off x="3508598" y="4102051"/>
              <a:ext cx="4893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46" name="Google Shape;1546;p102"/>
          <p:cNvGrpSpPr/>
          <p:nvPr/>
        </p:nvGrpSpPr>
        <p:grpSpPr>
          <a:xfrm>
            <a:off x="4758716" y="4053150"/>
            <a:ext cx="712891" cy="337200"/>
            <a:chOff x="4758561" y="4053150"/>
            <a:chExt cx="435300" cy="337200"/>
          </a:xfrm>
        </p:grpSpPr>
        <p:sp>
          <p:nvSpPr>
            <p:cNvPr id="1547" name="Google Shape;1547;p102"/>
            <p:cNvSpPr/>
            <p:nvPr/>
          </p:nvSpPr>
          <p:spPr>
            <a:xfrm>
              <a:off x="4758561" y="4053150"/>
              <a:ext cx="435300" cy="337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48" name="Google Shape;1548;p102"/>
            <p:cNvCxnSpPr/>
            <p:nvPr/>
          </p:nvCxnSpPr>
          <p:spPr>
            <a:xfrm>
              <a:off x="4779540" y="4333057"/>
              <a:ext cx="3918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2" name="Shape 1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Google Shape;1553;p10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Plotting shapes in all four quadrants</a:t>
            </a:r>
            <a:endParaRPr/>
          </a:p>
        </p:txBody>
      </p:sp>
      <p:sp>
        <p:nvSpPr>
          <p:cNvPr descr="&lt;math xmlns=&quot;http://www.w3.org/1998/Math/MathML&quot; data-is-equatio=&quot;1&quot; data-equatio-url=&quot;https://equatio-api.texthelp.com/desmos/get/10-10-2023/8fe8b824-82bd-489f-83fb-9c332eef54b3&quot; data-equatio-type=&quot;desmos&quot;&gt;&lt;mglyph src=&quot;https://equatio-api.texthelp.com/desmos/get/10-10-2023/8fe8b824-82bd-489f-83fb-9c332eef54b3&quot; alt=&quot;Equatio Desmos Graph&quot;/&gt;&lt;/math&gt;" id="1554" name="Google Shape;1554;p103" title="Equatio Desmos Graph"/>
          <p:cNvSpPr txBox="1"/>
          <p:nvPr>
            <p:ph idx="4294967295" type="body"/>
          </p:nvPr>
        </p:nvSpPr>
        <p:spPr>
          <a:xfrm>
            <a:off x="314900" y="821850"/>
            <a:ext cx="8301000" cy="4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2)</a:t>
            </a:r>
            <a:r>
              <a:rPr lang="en-GB" sz="2000"/>
              <a:t> Fill in the blank coordinates of these rectangles.</a:t>
            </a:r>
            <a:endParaRPr sz="2000"/>
          </a:p>
        </p:txBody>
      </p:sp>
      <p:sp>
        <p:nvSpPr>
          <p:cNvPr descr="&lt;math xmlns=&quot;http://www.w3.org/1998/Math/MathML&quot; data-is-equatio=&quot;1&quot; data-equatio-url=&quot;https://equatio-api.texthelp.com/desmos/get/10-10-2023/8fe8b824-82bd-489f-83fb-9c332eef54b3&quot; data-equatio-type=&quot;desmos&quot;&gt;&lt;mglyph src=&quot;https://equatio-api.texthelp.com/desmos/get/10-10-2023/8fe8b824-82bd-489f-83fb-9c332eef54b3&quot; alt=&quot;Equatio Desmos Graph&quot;/&gt;&lt;/math&gt;" id="1555" name="Google Shape;1555;p103" title="Equatio Desmos Graph"/>
          <p:cNvSpPr txBox="1"/>
          <p:nvPr>
            <p:ph idx="4294967295" type="body"/>
          </p:nvPr>
        </p:nvSpPr>
        <p:spPr>
          <a:xfrm>
            <a:off x="314900" y="1279050"/>
            <a:ext cx="1102500" cy="4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</a:t>
            </a:r>
            <a:r>
              <a:rPr lang="en-GB" sz="2000"/>
              <a:t>)</a:t>
            </a:r>
            <a:endParaRPr sz="2000"/>
          </a:p>
        </p:txBody>
      </p:sp>
      <p:sp>
        <p:nvSpPr>
          <p:cNvPr descr="&lt;math xmlns=&quot;http://www.w3.org/1998/Math/MathML&quot; data-is-equatio=&quot;1&quot; data-equatio-url=&quot;https://equatio-api.texthelp.com/desmos/get/10-10-2023/8fe8b824-82bd-489f-83fb-9c332eef54b3&quot; data-equatio-type=&quot;desmos&quot;&gt;&lt;mglyph src=&quot;https://equatio-api.texthelp.com/desmos/get/10-10-2023/8fe8b824-82bd-489f-83fb-9c332eef54b3&quot; alt=&quot;Equatio Desmos Graph&quot;/&gt;&lt;/math&gt;" id="1556" name="Google Shape;1556;p103" title="Equatio Desmos Graph"/>
          <p:cNvSpPr txBox="1"/>
          <p:nvPr>
            <p:ph idx="4294967295" type="body"/>
          </p:nvPr>
        </p:nvSpPr>
        <p:spPr>
          <a:xfrm>
            <a:off x="4810700" y="1279050"/>
            <a:ext cx="1446000" cy="4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d</a:t>
            </a:r>
            <a:r>
              <a:rPr lang="en-GB" sz="2000"/>
              <a:t>)</a:t>
            </a:r>
            <a:endParaRPr sz="2000"/>
          </a:p>
        </p:txBody>
      </p:sp>
      <p:pic>
        <p:nvPicPr>
          <p:cNvPr descr="&lt;math xmlns=&quot;http://www.w3.org/1998/Math/MathML&quot; data-is-equatio=&quot;1&quot; data-equatio-url=&quot;https://equatio-api.texthelp.com/desmos/get/10-10-2023/d0153d1b-a2a2-4ce8-a681-a381b62314d7&quot; data-equatio-type=&quot;desmos&quot;&gt;&lt;mglyph src=&quot;https://equatio-api.texthelp.com/desmos/get/10-10-2023/d0153d1b-a2a2-4ce8-a681-a381b62314d7&quot; alt=&quot;Equatio Desmos Graph&quot;/&gt;&lt;/math&gt;" id="1557" name="Google Shape;1557;p103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1619850"/>
            <a:ext cx="3865076" cy="3142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558" name="Google Shape;1558;p103" title="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66106" y="3720225"/>
            <a:ext cx="146299" cy="1335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1559" name="Google Shape;1559;p103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95573" y="1461000"/>
            <a:ext cx="151040" cy="2067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0-10-2023/b56bdb34-4e7f-4954-b69c-9b92b521e1e1&quot; data-equatio-type=&quot;desmos&quot;&gt;&lt;mglyph src=&quot;https://equatio-api.texthelp.com/desmos/get/10-10-2023/b56bdb34-4e7f-4954-b69c-9b92b521e1e1&quot; alt=&quot;Equatio Desmos Graph&quot;/&gt;&lt;/math&gt;" id="1560" name="Google Shape;1560;p103" title="Equatio Desmos Grap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93125" y="1606350"/>
            <a:ext cx="3854974" cy="3142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561" name="Google Shape;1561;p103" title="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35910" y="3372916"/>
            <a:ext cx="146299" cy="1335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1562" name="Google Shape;1562;p103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27959" y="1440952"/>
            <a:ext cx="151040" cy="206735"/>
          </a:xfrm>
          <a:prstGeom prst="rect">
            <a:avLst/>
          </a:prstGeom>
          <a:noFill/>
          <a:ln>
            <a:noFill/>
          </a:ln>
        </p:spPr>
      </p:pic>
      <p:sp>
        <p:nvSpPr>
          <p:cNvPr id="1563" name="Google Shape;1563;p103"/>
          <p:cNvSpPr txBox="1"/>
          <p:nvPr/>
        </p:nvSpPr>
        <p:spPr>
          <a:xfrm>
            <a:off x="4981450" y="2232475"/>
            <a:ext cx="7251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4" name="Google Shape;1564;p103"/>
          <p:cNvSpPr txBox="1"/>
          <p:nvPr/>
        </p:nvSpPr>
        <p:spPr>
          <a:xfrm>
            <a:off x="6962650" y="2461075"/>
            <a:ext cx="3240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✖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5" name="Google Shape;1565;p103"/>
          <p:cNvSpPr txBox="1"/>
          <p:nvPr/>
        </p:nvSpPr>
        <p:spPr>
          <a:xfrm>
            <a:off x="6962650" y="4213675"/>
            <a:ext cx="3240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✖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6" name="Google Shape;1566;p103"/>
          <p:cNvSpPr txBox="1"/>
          <p:nvPr/>
        </p:nvSpPr>
        <p:spPr>
          <a:xfrm>
            <a:off x="5667250" y="4213675"/>
            <a:ext cx="3240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✖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7" name="Google Shape;1567;p103"/>
          <p:cNvSpPr txBox="1"/>
          <p:nvPr/>
        </p:nvSpPr>
        <p:spPr>
          <a:xfrm>
            <a:off x="5667250" y="2461075"/>
            <a:ext cx="3240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✖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8" name="Google Shape;1568;p103"/>
          <p:cNvSpPr txBox="1"/>
          <p:nvPr/>
        </p:nvSpPr>
        <p:spPr>
          <a:xfrm>
            <a:off x="7191250" y="2232475"/>
            <a:ext cx="6471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69" name="Google Shape;1569;p103"/>
          <p:cNvSpPr txBox="1"/>
          <p:nvPr/>
        </p:nvSpPr>
        <p:spPr>
          <a:xfrm>
            <a:off x="4981450" y="4366075"/>
            <a:ext cx="6471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70" name="Google Shape;1570;p103"/>
          <p:cNvSpPr txBox="1"/>
          <p:nvPr/>
        </p:nvSpPr>
        <p:spPr>
          <a:xfrm>
            <a:off x="7191250" y="4366075"/>
            <a:ext cx="7251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71" name="Google Shape;1571;p103"/>
          <p:cNvGrpSpPr/>
          <p:nvPr/>
        </p:nvGrpSpPr>
        <p:grpSpPr>
          <a:xfrm>
            <a:off x="1047190" y="2221950"/>
            <a:ext cx="647094" cy="337200"/>
            <a:chOff x="3454345" y="3822144"/>
            <a:chExt cx="611100" cy="337200"/>
          </a:xfrm>
        </p:grpSpPr>
        <p:sp>
          <p:nvSpPr>
            <p:cNvPr id="1572" name="Google Shape;1572;p103"/>
            <p:cNvSpPr/>
            <p:nvPr/>
          </p:nvSpPr>
          <p:spPr>
            <a:xfrm>
              <a:off x="3454345" y="3822144"/>
              <a:ext cx="611100" cy="337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73" name="Google Shape;1573;p103"/>
            <p:cNvCxnSpPr/>
            <p:nvPr/>
          </p:nvCxnSpPr>
          <p:spPr>
            <a:xfrm>
              <a:off x="3508598" y="4102051"/>
              <a:ext cx="4893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74" name="Google Shape;1574;p103"/>
          <p:cNvGrpSpPr/>
          <p:nvPr/>
        </p:nvGrpSpPr>
        <p:grpSpPr>
          <a:xfrm>
            <a:off x="2636160" y="4093259"/>
            <a:ext cx="647094" cy="337200"/>
            <a:chOff x="3454345" y="3822144"/>
            <a:chExt cx="611100" cy="337200"/>
          </a:xfrm>
        </p:grpSpPr>
        <p:sp>
          <p:nvSpPr>
            <p:cNvPr id="1575" name="Google Shape;1575;p103"/>
            <p:cNvSpPr/>
            <p:nvPr/>
          </p:nvSpPr>
          <p:spPr>
            <a:xfrm>
              <a:off x="3454345" y="3822144"/>
              <a:ext cx="611100" cy="337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76" name="Google Shape;1576;p103"/>
            <p:cNvCxnSpPr/>
            <p:nvPr/>
          </p:nvCxnSpPr>
          <p:spPr>
            <a:xfrm>
              <a:off x="3508598" y="4102051"/>
              <a:ext cx="4893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77" name="Google Shape;1577;p103"/>
          <p:cNvGrpSpPr/>
          <p:nvPr/>
        </p:nvGrpSpPr>
        <p:grpSpPr>
          <a:xfrm>
            <a:off x="4998360" y="4398059"/>
            <a:ext cx="647094" cy="337200"/>
            <a:chOff x="3454345" y="3822144"/>
            <a:chExt cx="611100" cy="337200"/>
          </a:xfrm>
        </p:grpSpPr>
        <p:sp>
          <p:nvSpPr>
            <p:cNvPr id="1578" name="Google Shape;1578;p103"/>
            <p:cNvSpPr/>
            <p:nvPr/>
          </p:nvSpPr>
          <p:spPr>
            <a:xfrm>
              <a:off x="3454345" y="3822144"/>
              <a:ext cx="611100" cy="337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79" name="Google Shape;1579;p103"/>
            <p:cNvCxnSpPr/>
            <p:nvPr/>
          </p:nvCxnSpPr>
          <p:spPr>
            <a:xfrm>
              <a:off x="3508598" y="4102051"/>
              <a:ext cx="4893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80" name="Google Shape;1580;p103"/>
          <p:cNvGrpSpPr/>
          <p:nvPr/>
        </p:nvGrpSpPr>
        <p:grpSpPr>
          <a:xfrm>
            <a:off x="7208160" y="2264459"/>
            <a:ext cx="647094" cy="337200"/>
            <a:chOff x="3454345" y="3822144"/>
            <a:chExt cx="611100" cy="337200"/>
          </a:xfrm>
        </p:grpSpPr>
        <p:sp>
          <p:nvSpPr>
            <p:cNvPr id="1581" name="Google Shape;1581;p103"/>
            <p:cNvSpPr/>
            <p:nvPr/>
          </p:nvSpPr>
          <p:spPr>
            <a:xfrm>
              <a:off x="3454345" y="3822144"/>
              <a:ext cx="611100" cy="337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582" name="Google Shape;1582;p103"/>
            <p:cNvCxnSpPr/>
            <p:nvPr/>
          </p:nvCxnSpPr>
          <p:spPr>
            <a:xfrm>
              <a:off x="3508598" y="4102051"/>
              <a:ext cx="4893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6" name="Shape 1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Google Shape;1587;p10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Plotting shapes in all four quadrants</a:t>
            </a:r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0-10-2023/4a5c6a1c-51e5-42a2-b279-be76050cfca1&quot; data-equatio-type=&quot;desmos&quot;&gt;&lt;mglyph src=&quot;https://equatio-api.texthelp.com/desmos/get/10-10-2023/4a5c6a1c-51e5-42a2-b279-be76050cfca1&quot; alt=&quot;Equatio Desmos Graph&quot;/&gt;&lt;/math&gt;" id="1588" name="Google Shape;1588;p104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325" y="1097025"/>
            <a:ext cx="3989400" cy="372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1589" name="Google Shape;1589;p104" title="y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60555" y="858000"/>
            <a:ext cx="173522" cy="2375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590" name="Google Shape;1590;p104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17765" y="3024947"/>
            <a:ext cx="168075" cy="153460"/>
          </a:xfrm>
          <a:prstGeom prst="rect">
            <a:avLst/>
          </a:prstGeom>
          <a:noFill/>
          <a:ln>
            <a:noFill/>
          </a:ln>
        </p:spPr>
      </p:pic>
      <p:sp>
        <p:nvSpPr>
          <p:cNvPr descr="&lt;math xmlns=&quot;http://www.w3.org/1998/Math/MathML&quot; data-is-equatio=&quot;1&quot; data-equatio-url=&quot;https://equatio-api.texthelp.com/desmos/get/10-10-2023/8fe8b824-82bd-489f-83fb-9c332eef54b3&quot; data-equatio-type=&quot;desmos&quot;&gt;&lt;mglyph src=&quot;https://equatio-api.texthelp.com/desmos/get/10-10-2023/8fe8b824-82bd-489f-83fb-9c332eef54b3&quot; alt=&quot;Equatio Desmos Graph&quot;/&gt;&lt;/math&gt;" id="1591" name="Google Shape;1591;p104" title="Equatio Desmos Graph"/>
          <p:cNvSpPr txBox="1"/>
          <p:nvPr>
            <p:ph idx="4294967295" type="body"/>
          </p:nvPr>
        </p:nvSpPr>
        <p:spPr>
          <a:xfrm>
            <a:off x="4816075" y="1084141"/>
            <a:ext cx="3799800" cy="4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1)</a:t>
            </a:r>
            <a:r>
              <a:rPr lang="en-GB" sz="2000"/>
              <a:t> Plot these coordinates.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What shape do they form?</a:t>
            </a:r>
            <a:endParaRPr sz="2000"/>
          </a:p>
        </p:txBody>
      </p:sp>
      <p:sp>
        <p:nvSpPr>
          <p:cNvPr id="1592" name="Google Shape;1592;p104"/>
          <p:cNvSpPr txBox="1"/>
          <p:nvPr/>
        </p:nvSpPr>
        <p:spPr>
          <a:xfrm>
            <a:off x="4829050" y="2156265"/>
            <a:ext cx="1427700" cy="20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(-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(-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-3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(3, -3)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0-10-2023/05fde022-7ece-4491-bfac-0b409175eb2d&quot; data-equatio-type=&quot;desmos&quot;&gt;&lt;mglyph src=&quot;https://equatio-api.texthelp.com/desmos/get/10-10-2023/05fde022-7ece-4491-bfac-0b409175eb2d&quot; alt=&quot;Equatio Desmos Graph&quot;/&gt;&lt;/math&gt;" id="1593" name="Google Shape;1593;p104" title="Equatio Desmos Grap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4839" y="1099050"/>
            <a:ext cx="3989400" cy="372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594" name="Google Shape;1594;p104"/>
          <p:cNvSpPr/>
          <p:nvPr/>
        </p:nvSpPr>
        <p:spPr>
          <a:xfrm>
            <a:off x="1593450" y="2627275"/>
            <a:ext cx="1819800" cy="1352100"/>
          </a:xfrm>
          <a:prstGeom prst="rect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descr="&lt;math xmlns=&quot;http://www.w3.org/1998/Math/MathML&quot; data-is-equatio=&quot;1&quot; data-equatio-url=&quot;https://equatio-api.texthelp.com/desmos/get/10-10-2023/8fe8b824-82bd-489f-83fb-9c332eef54b3&quot; data-equatio-type=&quot;desmos&quot;&gt;&lt;mglyph src=&quot;https://equatio-api.texthelp.com/desmos/get/10-10-2023/8fe8b824-82bd-489f-83fb-9c332eef54b3&quot; alt=&quot;Equatio Desmos Graph&quot;/&gt;&lt;/math&gt;" id="1595" name="Google Shape;1595;p104" title="Equatio Desmos Graph"/>
          <p:cNvSpPr txBox="1"/>
          <p:nvPr>
            <p:ph idx="4294967295" type="body"/>
          </p:nvPr>
        </p:nvSpPr>
        <p:spPr>
          <a:xfrm>
            <a:off x="6263875" y="2193450"/>
            <a:ext cx="2025600" cy="4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A rectangle.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9" name="Shape 1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0" name="Google Shape;1600;p10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Plotting shapes in all four quadrants</a:t>
            </a:r>
            <a:endParaRPr/>
          </a:p>
        </p:txBody>
      </p:sp>
      <p:sp>
        <p:nvSpPr>
          <p:cNvPr descr="&lt;math xmlns=&quot;http://www.w3.org/1998/Math/MathML&quot; data-is-equatio=&quot;1&quot; data-equatio-url=&quot;https://equatio-api.texthelp.com/desmos/get/10-10-2023/8fe8b824-82bd-489f-83fb-9c332eef54b3&quot; data-equatio-type=&quot;desmos&quot;&gt;&lt;mglyph src=&quot;https://equatio-api.texthelp.com/desmos/get/10-10-2023/8fe8b824-82bd-489f-83fb-9c332eef54b3&quot; alt=&quot;Equatio Desmos Graph&quot;/&gt;&lt;/math&gt;" id="1601" name="Google Shape;1601;p105" title="Equatio Desmos Graph"/>
          <p:cNvSpPr txBox="1"/>
          <p:nvPr>
            <p:ph idx="4294967295" type="body"/>
          </p:nvPr>
        </p:nvSpPr>
        <p:spPr>
          <a:xfrm>
            <a:off x="314900" y="821850"/>
            <a:ext cx="8301000" cy="4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2)</a:t>
            </a:r>
            <a:r>
              <a:rPr lang="en-GB" sz="2000"/>
              <a:t> Fill in the blank coordinates of these rectangles.</a:t>
            </a:r>
            <a:endParaRPr sz="2000"/>
          </a:p>
        </p:txBody>
      </p:sp>
      <p:pic>
        <p:nvPicPr>
          <p:cNvPr descr="&lt;math xmlns=&quot;http://www.w3.org/1998/Math/MathML&quot; data-is-equatio=&quot;1&quot; data-equatio-url=&quot;https://equatio-api.texthelp.com/desmos/get/10-10-2023/c77fe7b7-4903-4098-8ea1-806ec9c28852&quot; data-equatio-type=&quot;desmos&quot;&gt;&lt;mglyph src=&quot;https://equatio-api.texthelp.com/desmos/get/10-10-2023/c77fe7b7-4903-4098-8ea1-806ec9c28852&quot; alt=&quot;Equatio Desmos Graph&quot;/&gt;&lt;/math&gt;" id="1602" name="Google Shape;1602;p105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900" y="1615051"/>
            <a:ext cx="3854986" cy="31426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603" name="Google Shape;1603;p105" title="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2306" y="3263025"/>
            <a:ext cx="146299" cy="1335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1604" name="Google Shape;1604;p105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71773" y="1461000"/>
            <a:ext cx="151040" cy="2067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605" name="Google Shape;1605;p105" title="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58371" y="3632795"/>
            <a:ext cx="146299" cy="133576"/>
          </a:xfrm>
          <a:prstGeom prst="rect">
            <a:avLst/>
          </a:prstGeom>
          <a:noFill/>
          <a:ln>
            <a:noFill/>
          </a:ln>
        </p:spPr>
      </p:pic>
      <p:sp>
        <p:nvSpPr>
          <p:cNvPr descr="&lt;math xmlns=&quot;http://www.w3.org/1998/Math/MathML&quot; data-is-equatio=&quot;1&quot; data-equatio-url=&quot;https://equatio-api.texthelp.com/desmos/get/10-10-2023/8fe8b824-82bd-489f-83fb-9c332eef54b3&quot; data-equatio-type=&quot;desmos&quot;&gt;&lt;mglyph src=&quot;https://equatio-api.texthelp.com/desmos/get/10-10-2023/8fe8b824-82bd-489f-83fb-9c332eef54b3&quot; alt=&quot;Equatio Desmos Graph&quot;/&gt;&lt;/math&gt;" id="1606" name="Google Shape;1606;p105" title="Equatio Desmos Graph"/>
          <p:cNvSpPr txBox="1"/>
          <p:nvPr>
            <p:ph idx="4294967295" type="body"/>
          </p:nvPr>
        </p:nvSpPr>
        <p:spPr>
          <a:xfrm>
            <a:off x="314900" y="1279050"/>
            <a:ext cx="1102500" cy="4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a)</a:t>
            </a:r>
            <a:endParaRPr sz="2000"/>
          </a:p>
        </p:txBody>
      </p:sp>
      <p:sp>
        <p:nvSpPr>
          <p:cNvPr descr="&lt;math xmlns=&quot;http://www.w3.org/1998/Math/MathML&quot; data-is-equatio=&quot;1&quot; data-equatio-url=&quot;https://equatio-api.texthelp.com/desmos/get/10-10-2023/8fe8b824-82bd-489f-83fb-9c332eef54b3&quot; data-equatio-type=&quot;desmos&quot;&gt;&lt;mglyph src=&quot;https://equatio-api.texthelp.com/desmos/get/10-10-2023/8fe8b824-82bd-489f-83fb-9c332eef54b3&quot; alt=&quot;Equatio Desmos Graph&quot;/&gt;&lt;/math&gt;" id="1607" name="Google Shape;1607;p105" title="Equatio Desmos Graph"/>
          <p:cNvSpPr txBox="1"/>
          <p:nvPr>
            <p:ph idx="4294967295" type="body"/>
          </p:nvPr>
        </p:nvSpPr>
        <p:spPr>
          <a:xfrm>
            <a:off x="4810700" y="1279050"/>
            <a:ext cx="1446000" cy="4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b)</a:t>
            </a:r>
            <a:endParaRPr sz="2000"/>
          </a:p>
        </p:txBody>
      </p:sp>
      <p:pic>
        <p:nvPicPr>
          <p:cNvPr descr="&lt;math xmlns=&quot;http://www.w3.org/1998/Math/MathML&quot; data-is-equatio=&quot;1&quot; data-equatio-url=&quot;https://equatio-api.texthelp.com/desmos/get/10-10-2023/b977260a-1afa-4022-8f23-a5466aca100a&quot; data-equatio-type=&quot;desmos&quot;&gt;&lt;mglyph src=&quot;https://equatio-api.texthelp.com/desmos/get/10-10-2023/b977260a-1afa-4022-8f23-a5466aca100a&quot; alt=&quot;Equatio Desmos Graph&quot;/&gt;&lt;/math&gt;" id="1608" name="Google Shape;1608;p105" title="Equatio Desmos Grap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91200" y="1597395"/>
            <a:ext cx="3854976" cy="3142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1609" name="Google Shape;1609;p105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55220" y="1472230"/>
            <a:ext cx="151040" cy="20673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10" name="Google Shape;1610;p105"/>
          <p:cNvGrpSpPr/>
          <p:nvPr/>
        </p:nvGrpSpPr>
        <p:grpSpPr>
          <a:xfrm>
            <a:off x="3454345" y="3822144"/>
            <a:ext cx="611100" cy="337200"/>
            <a:chOff x="3454345" y="3822144"/>
            <a:chExt cx="611100" cy="337200"/>
          </a:xfrm>
        </p:grpSpPr>
        <p:sp>
          <p:nvSpPr>
            <p:cNvPr id="1611" name="Google Shape;1611;p105"/>
            <p:cNvSpPr/>
            <p:nvPr/>
          </p:nvSpPr>
          <p:spPr>
            <a:xfrm>
              <a:off x="3454345" y="3822144"/>
              <a:ext cx="611100" cy="337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12" name="Google Shape;1612;p105"/>
            <p:cNvCxnSpPr/>
            <p:nvPr/>
          </p:nvCxnSpPr>
          <p:spPr>
            <a:xfrm>
              <a:off x="3508598" y="4102051"/>
              <a:ext cx="4893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613" name="Google Shape;1613;p105"/>
          <p:cNvGrpSpPr/>
          <p:nvPr/>
        </p:nvGrpSpPr>
        <p:grpSpPr>
          <a:xfrm>
            <a:off x="4758716" y="4053150"/>
            <a:ext cx="712891" cy="337200"/>
            <a:chOff x="4758561" y="4053150"/>
            <a:chExt cx="435300" cy="337200"/>
          </a:xfrm>
        </p:grpSpPr>
        <p:sp>
          <p:nvSpPr>
            <p:cNvPr id="1614" name="Google Shape;1614;p105"/>
            <p:cNvSpPr/>
            <p:nvPr/>
          </p:nvSpPr>
          <p:spPr>
            <a:xfrm>
              <a:off x="4758561" y="4053150"/>
              <a:ext cx="435300" cy="337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15" name="Google Shape;1615;p105"/>
            <p:cNvCxnSpPr/>
            <p:nvPr/>
          </p:nvCxnSpPr>
          <p:spPr>
            <a:xfrm>
              <a:off x="4779540" y="4333057"/>
              <a:ext cx="3918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9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p10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Plotting shapes in all four quadrants</a:t>
            </a:r>
            <a:endParaRPr/>
          </a:p>
        </p:txBody>
      </p:sp>
      <p:sp>
        <p:nvSpPr>
          <p:cNvPr descr="&lt;math xmlns=&quot;http://www.w3.org/1998/Math/MathML&quot; data-is-equatio=&quot;1&quot; data-equatio-url=&quot;https://equatio-api.texthelp.com/desmos/get/10-10-2023/8fe8b824-82bd-489f-83fb-9c332eef54b3&quot; data-equatio-type=&quot;desmos&quot;&gt;&lt;mglyph src=&quot;https://equatio-api.texthelp.com/desmos/get/10-10-2023/8fe8b824-82bd-489f-83fb-9c332eef54b3&quot; alt=&quot;Equatio Desmos Graph&quot;/&gt;&lt;/math&gt;" id="1621" name="Google Shape;1621;p106" title="Equatio Desmos Graph"/>
          <p:cNvSpPr txBox="1"/>
          <p:nvPr>
            <p:ph idx="4294967295" type="body"/>
          </p:nvPr>
        </p:nvSpPr>
        <p:spPr>
          <a:xfrm>
            <a:off x="314900" y="821850"/>
            <a:ext cx="8301000" cy="4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2) </a:t>
            </a:r>
            <a:r>
              <a:rPr lang="en-GB" sz="2000"/>
              <a:t>Fill in the blank coordinates of these rectangles.</a:t>
            </a:r>
            <a:endParaRPr sz="2000"/>
          </a:p>
        </p:txBody>
      </p:sp>
      <p:sp>
        <p:nvSpPr>
          <p:cNvPr descr="&lt;math xmlns=&quot;http://www.w3.org/1998/Math/MathML&quot; data-is-equatio=&quot;1&quot; data-equatio-url=&quot;https://equatio-api.texthelp.com/desmos/get/10-10-2023/8fe8b824-82bd-489f-83fb-9c332eef54b3&quot; data-equatio-type=&quot;desmos&quot;&gt;&lt;mglyph src=&quot;https://equatio-api.texthelp.com/desmos/get/10-10-2023/8fe8b824-82bd-489f-83fb-9c332eef54b3&quot; alt=&quot;Equatio Desmos Graph&quot;/&gt;&lt;/math&gt;" id="1622" name="Google Shape;1622;p106" title="Equatio Desmos Graph"/>
          <p:cNvSpPr txBox="1"/>
          <p:nvPr>
            <p:ph idx="4294967295" type="body"/>
          </p:nvPr>
        </p:nvSpPr>
        <p:spPr>
          <a:xfrm>
            <a:off x="314900" y="1279050"/>
            <a:ext cx="1102500" cy="4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c)</a:t>
            </a:r>
            <a:endParaRPr sz="2000"/>
          </a:p>
        </p:txBody>
      </p:sp>
      <p:sp>
        <p:nvSpPr>
          <p:cNvPr descr="&lt;math xmlns=&quot;http://www.w3.org/1998/Math/MathML&quot; data-is-equatio=&quot;1&quot; data-equatio-url=&quot;https://equatio-api.texthelp.com/desmos/get/10-10-2023/8fe8b824-82bd-489f-83fb-9c332eef54b3&quot; data-equatio-type=&quot;desmos&quot;&gt;&lt;mglyph src=&quot;https://equatio-api.texthelp.com/desmos/get/10-10-2023/8fe8b824-82bd-489f-83fb-9c332eef54b3&quot; alt=&quot;Equatio Desmos Graph&quot;/&gt;&lt;/math&gt;" id="1623" name="Google Shape;1623;p106" title="Equatio Desmos Graph"/>
          <p:cNvSpPr txBox="1"/>
          <p:nvPr>
            <p:ph idx="4294967295" type="body"/>
          </p:nvPr>
        </p:nvSpPr>
        <p:spPr>
          <a:xfrm>
            <a:off x="4810700" y="1279050"/>
            <a:ext cx="1446000" cy="4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d)</a:t>
            </a:r>
            <a:endParaRPr sz="2000"/>
          </a:p>
        </p:txBody>
      </p:sp>
      <p:pic>
        <p:nvPicPr>
          <p:cNvPr descr="&lt;math xmlns=&quot;http://www.w3.org/1998/Math/MathML&quot; data-is-equatio=&quot;1&quot; data-equatio-url=&quot;https://equatio-api.texthelp.com/desmos/get/10-10-2023/d0153d1b-a2a2-4ce8-a681-a381b62314d7&quot; data-equatio-type=&quot;desmos&quot;&gt;&lt;mglyph src=&quot;https://equatio-api.texthelp.com/desmos/get/10-10-2023/d0153d1b-a2a2-4ce8-a681-a381b62314d7&quot; alt=&quot;Equatio Desmos Graph&quot;/&gt;&lt;/math&gt;" id="1624" name="Google Shape;1624;p106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00" y="1619850"/>
            <a:ext cx="3865076" cy="3142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625" name="Google Shape;1625;p106" title="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66106" y="3720225"/>
            <a:ext cx="146299" cy="1335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1626" name="Google Shape;1626;p106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95573" y="1461000"/>
            <a:ext cx="151040" cy="2067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0-10-2023/b56bdb34-4e7f-4954-b69c-9b92b521e1e1&quot; data-equatio-type=&quot;desmos&quot;&gt;&lt;mglyph src=&quot;https://equatio-api.texthelp.com/desmos/get/10-10-2023/b56bdb34-4e7f-4954-b69c-9b92b521e1e1&quot; alt=&quot;Equatio Desmos Graph&quot;/&gt;&lt;/math&gt;" id="1627" name="Google Shape;1627;p106" title="Equatio Desmos Grap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93125" y="1606350"/>
            <a:ext cx="3854974" cy="3142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628" name="Google Shape;1628;p106" title="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435910" y="3372916"/>
            <a:ext cx="146299" cy="1335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1629" name="Google Shape;1629;p106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27959" y="1440952"/>
            <a:ext cx="151040" cy="206735"/>
          </a:xfrm>
          <a:prstGeom prst="rect">
            <a:avLst/>
          </a:prstGeom>
          <a:noFill/>
          <a:ln>
            <a:noFill/>
          </a:ln>
        </p:spPr>
      </p:pic>
      <p:sp>
        <p:nvSpPr>
          <p:cNvPr id="1630" name="Google Shape;1630;p106"/>
          <p:cNvSpPr txBox="1"/>
          <p:nvPr/>
        </p:nvSpPr>
        <p:spPr>
          <a:xfrm>
            <a:off x="4981450" y="2232475"/>
            <a:ext cx="6858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1" name="Google Shape;1631;p106"/>
          <p:cNvSpPr txBox="1"/>
          <p:nvPr/>
        </p:nvSpPr>
        <p:spPr>
          <a:xfrm>
            <a:off x="6962650" y="2461075"/>
            <a:ext cx="3240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✖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2" name="Google Shape;1632;p106"/>
          <p:cNvSpPr txBox="1"/>
          <p:nvPr/>
        </p:nvSpPr>
        <p:spPr>
          <a:xfrm>
            <a:off x="6962650" y="4213675"/>
            <a:ext cx="3240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✖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3" name="Google Shape;1633;p106"/>
          <p:cNvSpPr txBox="1"/>
          <p:nvPr/>
        </p:nvSpPr>
        <p:spPr>
          <a:xfrm>
            <a:off x="5667250" y="4213675"/>
            <a:ext cx="3240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✖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4" name="Google Shape;1634;p106"/>
          <p:cNvSpPr txBox="1"/>
          <p:nvPr/>
        </p:nvSpPr>
        <p:spPr>
          <a:xfrm>
            <a:off x="5667250" y="2461075"/>
            <a:ext cx="3240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✖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5" name="Google Shape;1635;p106"/>
          <p:cNvSpPr txBox="1"/>
          <p:nvPr/>
        </p:nvSpPr>
        <p:spPr>
          <a:xfrm>
            <a:off x="7191250" y="2232475"/>
            <a:ext cx="7323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a</a:t>
            </a: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, 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b</a:t>
            </a: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)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36" name="Google Shape;1636;p106"/>
          <p:cNvSpPr txBox="1"/>
          <p:nvPr/>
        </p:nvSpPr>
        <p:spPr>
          <a:xfrm>
            <a:off x="4942750" y="4366075"/>
            <a:ext cx="7323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c</a:t>
            </a: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, 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d</a:t>
            </a: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)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37" name="Google Shape;1637;p106"/>
          <p:cNvSpPr txBox="1"/>
          <p:nvPr/>
        </p:nvSpPr>
        <p:spPr>
          <a:xfrm>
            <a:off x="7191250" y="4366075"/>
            <a:ext cx="732300" cy="4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38" name="Google Shape;1638;p106"/>
          <p:cNvGrpSpPr/>
          <p:nvPr/>
        </p:nvGrpSpPr>
        <p:grpSpPr>
          <a:xfrm>
            <a:off x="1047190" y="2221950"/>
            <a:ext cx="647094" cy="337200"/>
            <a:chOff x="3454345" y="3822144"/>
            <a:chExt cx="611100" cy="337200"/>
          </a:xfrm>
        </p:grpSpPr>
        <p:sp>
          <p:nvSpPr>
            <p:cNvPr id="1639" name="Google Shape;1639;p106"/>
            <p:cNvSpPr/>
            <p:nvPr/>
          </p:nvSpPr>
          <p:spPr>
            <a:xfrm>
              <a:off x="3454345" y="3822144"/>
              <a:ext cx="611100" cy="337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40" name="Google Shape;1640;p106"/>
            <p:cNvCxnSpPr/>
            <p:nvPr/>
          </p:nvCxnSpPr>
          <p:spPr>
            <a:xfrm>
              <a:off x="3508598" y="4102051"/>
              <a:ext cx="4893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641" name="Google Shape;1641;p106"/>
          <p:cNvGrpSpPr/>
          <p:nvPr/>
        </p:nvGrpSpPr>
        <p:grpSpPr>
          <a:xfrm>
            <a:off x="2636160" y="4093259"/>
            <a:ext cx="647094" cy="337200"/>
            <a:chOff x="3454345" y="3822144"/>
            <a:chExt cx="611100" cy="337200"/>
          </a:xfrm>
        </p:grpSpPr>
        <p:sp>
          <p:nvSpPr>
            <p:cNvPr id="1642" name="Google Shape;1642;p106"/>
            <p:cNvSpPr/>
            <p:nvPr/>
          </p:nvSpPr>
          <p:spPr>
            <a:xfrm>
              <a:off x="3454345" y="3822144"/>
              <a:ext cx="611100" cy="337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43" name="Google Shape;1643;p106"/>
            <p:cNvCxnSpPr/>
            <p:nvPr/>
          </p:nvCxnSpPr>
          <p:spPr>
            <a:xfrm>
              <a:off x="3508598" y="4102051"/>
              <a:ext cx="4893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644" name="Google Shape;1644;p106"/>
          <p:cNvGrpSpPr/>
          <p:nvPr/>
        </p:nvGrpSpPr>
        <p:grpSpPr>
          <a:xfrm>
            <a:off x="4942584" y="4398050"/>
            <a:ext cx="702521" cy="337200"/>
            <a:chOff x="3454345" y="3822144"/>
            <a:chExt cx="611100" cy="337200"/>
          </a:xfrm>
        </p:grpSpPr>
        <p:sp>
          <p:nvSpPr>
            <p:cNvPr id="1645" name="Google Shape;1645;p106"/>
            <p:cNvSpPr/>
            <p:nvPr/>
          </p:nvSpPr>
          <p:spPr>
            <a:xfrm>
              <a:off x="3454345" y="3822144"/>
              <a:ext cx="611100" cy="337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46" name="Google Shape;1646;p106"/>
            <p:cNvCxnSpPr/>
            <p:nvPr/>
          </p:nvCxnSpPr>
          <p:spPr>
            <a:xfrm>
              <a:off x="3508598" y="4102051"/>
              <a:ext cx="4893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647" name="Google Shape;1647;p106"/>
          <p:cNvGrpSpPr/>
          <p:nvPr/>
        </p:nvGrpSpPr>
        <p:grpSpPr>
          <a:xfrm>
            <a:off x="7208042" y="2264450"/>
            <a:ext cx="732281" cy="337200"/>
            <a:chOff x="3454345" y="3822144"/>
            <a:chExt cx="611100" cy="337200"/>
          </a:xfrm>
        </p:grpSpPr>
        <p:sp>
          <p:nvSpPr>
            <p:cNvPr id="1648" name="Google Shape;1648;p106"/>
            <p:cNvSpPr/>
            <p:nvPr/>
          </p:nvSpPr>
          <p:spPr>
            <a:xfrm>
              <a:off x="3454345" y="3822144"/>
              <a:ext cx="611100" cy="3372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49" name="Google Shape;1649;p106"/>
            <p:cNvCxnSpPr/>
            <p:nvPr/>
          </p:nvCxnSpPr>
          <p:spPr>
            <a:xfrm>
              <a:off x="3508598" y="4102051"/>
              <a:ext cx="4893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3" name="Shape 1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4" name="Google Shape;1654;p10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Coordinates can be plotted in all four quadrants by considering the positive and negative directions that can be taken from the origin.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Be careful and accurate when drawing and labeling axes.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Shapes can be plotted on a coordinate grid across all four quadrants.</a:t>
            </a:r>
            <a:endParaRPr/>
          </a:p>
        </p:txBody>
      </p:sp>
      <p:sp>
        <p:nvSpPr>
          <p:cNvPr id="1655" name="Google Shape;1655;p107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Securing understanding of plotting coordinates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9" name="Shape 1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0" name="Google Shape;1660;p108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661" name="Google Shape;1661;p10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