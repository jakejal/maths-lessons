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9284424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928442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92844245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92844245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e92844245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e92844245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e92844245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1e92844245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1e928442458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1e928442458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928442458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928442458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4da14be41b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4da14be41b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1e928442458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1e928442458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e928442458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e928442458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1e9284424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1e9284424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e928442458_2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e928442458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e928442458_2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1e928442458_2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e928442458_2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e928442458_2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e928442458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e928442458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4da14be41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4da14be41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4da14be41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4da14be41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4da14be41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4da14be41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4da14be41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4da14be41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24da14be41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4da14be41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4da14be41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4da14be41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4da14be41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4da14be41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4da14be41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4da14be41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4da14be41b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4da14be41b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4da14be41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4da14be41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4da14be41b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4da14be41b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4da14be41b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4da14be41b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4da14be41b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4da14be41b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4da14be41b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4da14be41b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4da14be41b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4da14be41b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4da14be41b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4da14be41b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bbd215eb3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bbd215eb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4da14be41b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4da14be41b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4da14be41b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4da14be41b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4da14be41b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4da14be41b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4da14be41b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4da14be41b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4da14be41b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4da14be41b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24da14be41b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4da14be41b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4da14be41b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4da14be41b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24.png"/><Relationship Id="rId9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85.png"/><Relationship Id="rId4" Type="http://schemas.openxmlformats.org/officeDocument/2006/relationships/image" Target="../media/image30.png"/><Relationship Id="rId11" Type="http://schemas.openxmlformats.org/officeDocument/2006/relationships/image" Target="../media/image20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47.png"/><Relationship Id="rId7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9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58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Relationship Id="rId6" Type="http://schemas.openxmlformats.org/officeDocument/2006/relationships/image" Target="../media/image47.png"/><Relationship Id="rId7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4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5.png"/><Relationship Id="rId7" Type="http://schemas.openxmlformats.org/officeDocument/2006/relationships/image" Target="../media/image6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0.png"/><Relationship Id="rId4" Type="http://schemas.openxmlformats.org/officeDocument/2006/relationships/image" Target="../media/image68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9.png"/><Relationship Id="rId7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2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2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5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7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5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1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7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0.png"/><Relationship Id="rId4" Type="http://schemas.openxmlformats.org/officeDocument/2006/relationships/image" Target="../media/image68.png"/><Relationship Id="rId9" Type="http://schemas.openxmlformats.org/officeDocument/2006/relationships/image" Target="../media/image84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78.png"/><Relationship Id="rId8" Type="http://schemas.openxmlformats.org/officeDocument/2006/relationships/image" Target="../media/image76.png"/><Relationship Id="rId10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6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9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0.png"/><Relationship Id="rId4" Type="http://schemas.openxmlformats.org/officeDocument/2006/relationships/image" Target="../media/image68.png"/><Relationship Id="rId9" Type="http://schemas.openxmlformats.org/officeDocument/2006/relationships/image" Target="../media/image84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78.png"/><Relationship Id="rId8" Type="http://schemas.openxmlformats.org/officeDocument/2006/relationships/image" Target="../media/image76.png"/><Relationship Id="rId10" Type="http://schemas.openxmlformats.org/officeDocument/2006/relationships/image" Target="../media/image7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6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9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8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9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describe and plot coordinates, including non-integer values, in all four quadrants.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1460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An integer is any positive or negative whole number or zero. E.g. -2, 0, 153 are all examples of integers.</a:t>
            </a:r>
            <a:endParaRPr b="1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351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caa97344-b4d9-4e83-bfe2-d363dc0dd092&quot; data-equatio-type=&quot;desmos&quot;&gt;&lt;mglyph src=&quot;https://equatio-api.texthelp.com/desmos/get/10-10-2023/caa97344-b4d9-4e83-bfe2-d363dc0dd092&quot; alt=&quot;Equatio Desmos Graph&quot;/&gt;&lt;/math&gt;" id="779" name="Google Shape;779;p6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25" y="1070375"/>
            <a:ext cx="424380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4824000" y="850643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there a </a:t>
            </a:r>
            <a:r>
              <a:rPr lang="en-GB">
                <a:solidFill>
                  <a:schemeClr val="accent4"/>
                </a:solidFill>
              </a:rPr>
              <a:t>coordinate that exists between these four coordinates</a:t>
            </a:r>
            <a:r>
              <a:rPr lang="en-GB"/>
              <a:t>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782" name="Google Shape;782;p69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59120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783" name="Google Shape;783;p6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2760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1622075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accent4"/>
                </a:solidFill>
              </a:rPr>
              <a:t>✖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731525" y="2571738"/>
            <a:ext cx="1366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(1, 2)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2002800" y="2637513"/>
            <a:ext cx="1366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(2, 2)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2098325" y="3969888"/>
            <a:ext cx="1366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(2, 1)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731525" y="3969888"/>
            <a:ext cx="13668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(1, 1)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4708500" y="2152575"/>
            <a:ext cx="40506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would be halfway between 1 and 2 in the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7478825" y="2512200"/>
            <a:ext cx="168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4744051" y="3057651"/>
            <a:ext cx="5430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and halfway between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and 2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direction.</a:t>
            </a:r>
            <a:endParaRPr/>
          </a:p>
        </p:txBody>
      </p:sp>
      <p:sp>
        <p:nvSpPr>
          <p:cNvPr id="792" name="Google Shape;792;p69"/>
          <p:cNvSpPr txBox="1"/>
          <p:nvPr/>
        </p:nvSpPr>
        <p:spPr>
          <a:xfrm>
            <a:off x="1193525" y="2997650"/>
            <a:ext cx="4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/>
          </a:p>
        </p:txBody>
      </p:sp>
      <p:sp>
        <p:nvSpPr>
          <p:cNvPr id="793" name="Google Shape;793;p69"/>
          <p:cNvSpPr txBox="1"/>
          <p:nvPr/>
        </p:nvSpPr>
        <p:spPr>
          <a:xfrm>
            <a:off x="1896575" y="2978400"/>
            <a:ext cx="4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/>
          </a:p>
        </p:txBody>
      </p:sp>
      <p:sp>
        <p:nvSpPr>
          <p:cNvPr id="794" name="Google Shape;794;p69"/>
          <p:cNvSpPr txBox="1"/>
          <p:nvPr/>
        </p:nvSpPr>
        <p:spPr>
          <a:xfrm>
            <a:off x="1242000" y="3631325"/>
            <a:ext cx="4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/>
          </a:p>
        </p:txBody>
      </p:sp>
      <p:sp>
        <p:nvSpPr>
          <p:cNvPr id="795" name="Google Shape;795;p69"/>
          <p:cNvSpPr txBox="1"/>
          <p:nvPr/>
        </p:nvSpPr>
        <p:spPr>
          <a:xfrm>
            <a:off x="1896575" y="3631325"/>
            <a:ext cx="44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/>
          </a:p>
        </p:txBody>
      </p:sp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4934825" y="421170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it must be </a:t>
            </a:r>
            <a:r>
              <a:rPr lang="en-GB" sz="2400">
                <a:solidFill>
                  <a:schemeClr val="accent4"/>
                </a:solidFill>
              </a:rPr>
              <a:t>(1.5, 1.5)</a:t>
            </a:r>
            <a:endParaRPr sz="2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797" name="Google Shape;797;p69"/>
          <p:cNvCxnSpPr/>
          <p:nvPr/>
        </p:nvCxnSpPr>
        <p:spPr>
          <a:xfrm rot="10800000">
            <a:off x="638044" y="3568950"/>
            <a:ext cx="1032900" cy="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69"/>
          <p:cNvCxnSpPr/>
          <p:nvPr/>
        </p:nvCxnSpPr>
        <p:spPr>
          <a:xfrm flipH="1">
            <a:off x="1731750" y="3573775"/>
            <a:ext cx="1800" cy="936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9" name="Google Shape;799;p69"/>
          <p:cNvSpPr txBox="1"/>
          <p:nvPr/>
        </p:nvSpPr>
        <p:spPr>
          <a:xfrm>
            <a:off x="1780500" y="32920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(1.5, 1.5)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caa97344-b4d9-4e83-bfe2-d363dc0dd092&quot; data-equatio-type=&quot;desmos&quot;&gt;&lt;mglyph src=&quot;https://equatio-api.texthelp.com/desmos/get/10-10-2023/caa97344-b4d9-4e83-bfe2-d363dc0dd092&quot; alt=&quot;Equatio Desmos Graph&quot;/&gt;&lt;/math&gt;" id="804" name="Google Shape;804;p7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94300"/>
            <a:ext cx="424380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06" name="Google Shape;806;p7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591209"/>
            <a:ext cx="170064" cy="152991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4822475" y="299155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 the </a:t>
            </a:r>
            <a:r>
              <a:rPr lang="en-GB"/>
              <a:t>coordinate</a:t>
            </a:r>
            <a:r>
              <a:rPr lang="en-GB"/>
              <a:t> </a:t>
            </a:r>
            <a:r>
              <a:rPr lang="en-GB"/>
              <a:t>(1.5,1.5) </a:t>
            </a:r>
            <a:r>
              <a:rPr lang="en-GB"/>
              <a:t>on these axes.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08" name="Google Shape;808;p7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2760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4822475" y="405835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about</a:t>
            </a:r>
            <a:r>
              <a:rPr lang="en-GB"/>
              <a:t> (0.5, 2.5)?</a:t>
            </a:r>
            <a:endParaRPr/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2688875" y="24894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2897426" y="268675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(1.5,1.5)</a:t>
            </a:r>
            <a:endParaRPr/>
          </a:p>
        </p:txBody>
      </p:sp>
      <p:sp>
        <p:nvSpPr>
          <p:cNvPr id="812" name="Google Shape;812;p70"/>
          <p:cNvSpPr txBox="1"/>
          <p:nvPr>
            <p:ph idx="1" type="body"/>
          </p:nvPr>
        </p:nvSpPr>
        <p:spPr>
          <a:xfrm>
            <a:off x="1263536" y="12277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1472087" y="1425041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(0.5,2.5)</a:t>
            </a:r>
            <a:endParaRPr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4822475" y="108655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Having an axes with gridlines between the integers helps us to plot non-integer coordinates.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748775"/>
            <a:ext cx="6854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is the coordinate for the point shown on the graph?</a:t>
            </a:r>
            <a:endParaRPr/>
          </a:p>
        </p:txBody>
      </p:sp>
      <p:sp>
        <p:nvSpPr>
          <p:cNvPr id="820" name="Google Shape;820;p7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821" name="Google Shape;821;p71"/>
          <p:cNvSpPr txBox="1"/>
          <p:nvPr>
            <p:ph idx="1" type="subTitle"/>
          </p:nvPr>
        </p:nvSpPr>
        <p:spPr>
          <a:xfrm>
            <a:off x="1034425" y="1837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(5,3)</a:t>
            </a:r>
            <a:endParaRPr/>
          </a:p>
        </p:txBody>
      </p:sp>
      <p:sp>
        <p:nvSpPr>
          <p:cNvPr id="822" name="Google Shape;822;p71"/>
          <p:cNvSpPr txBox="1"/>
          <p:nvPr>
            <p:ph idx="3" type="subTitle"/>
          </p:nvPr>
        </p:nvSpPr>
        <p:spPr>
          <a:xfrm>
            <a:off x="1034425" y="2794251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(2,1)</a:t>
            </a:r>
            <a:endParaRPr/>
          </a:p>
        </p:txBody>
      </p:sp>
      <p:sp>
        <p:nvSpPr>
          <p:cNvPr id="823" name="Google Shape;823;p71"/>
          <p:cNvSpPr txBox="1"/>
          <p:nvPr>
            <p:ph idx="4" type="subTitle"/>
          </p:nvPr>
        </p:nvSpPr>
        <p:spPr>
          <a:xfrm>
            <a:off x="1034425" y="3766974"/>
            <a:ext cx="232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(2.5,1.5)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aa97344-b4d9-4e83-bfe2-d363dc0dd092&quot; data-equatio-type=&quot;desmos&quot;&gt;&lt;mglyph src=&quot;https://equatio-api.texthelp.com/desmos/get/10-10-2023/caa97344-b4d9-4e83-bfe2-d363dc0dd092&quot; alt=&quot;Equatio Desmos Graph&quot;/&gt;&lt;/math&gt;" id="824" name="Google Shape;824;p7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164" y="1252529"/>
            <a:ext cx="3926240" cy="345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25" name="Google Shape;825;p7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2983" y="4558266"/>
            <a:ext cx="157339" cy="141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26" name="Google Shape;826;p7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5130" y="1260079"/>
            <a:ext cx="157339" cy="208692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>
            <p:ph idx="4294967295" type="body"/>
          </p:nvPr>
        </p:nvSpPr>
        <p:spPr>
          <a:xfrm>
            <a:off x="7835749" y="2543261"/>
            <a:ext cx="254100" cy="3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pic>
        <p:nvPicPr>
          <p:cNvPr id="828" name="Google Shape;82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9292" y="37781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3a993ce3-ea68-46ff-a51b-21c4505afc0f&quot; data-equatio-type=&quot;desmos&quot;&gt;&lt;mglyph src=&quot;https://equatio-api.texthelp.com/desmos/get/11-10-2023/3a993ce3-ea68-46ff-a51b-21c4505afc0f&quot; alt=&quot;Equatio Desmos Graph&quot;/&gt;&lt;/math&gt;" id="833" name="Google Shape;833;p7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75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7157a154-9c55-4127-a168-509aaed56937&quot; data-equatio-type=&quot;desmos&quot;&gt;&lt;mglyph src=&quot;https://equatio-api.texthelp.com/desmos/get/11-10-2023/7157a154-9c55-4127-a168-509aaed56937&quot; alt=&quot;Equatio Desmos Graph&quot;/&gt;&lt;/math&gt;" id="834" name="Google Shape;834;p72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875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8d23c648-a015-40e6-b647-70c72c40cc47&quot; data-equatio-type=&quot;desmos&quot;&gt;&lt;mglyph src=&quot;https://equatio-api.texthelp.com/desmos/get/11-10-2023/8d23c648-a015-40e6-b647-70c72c40cc47&quot; alt=&quot;Equatio Desmos Graph&quot;/&gt;&lt;/math&gt;" id="835" name="Google Shape;835;p72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875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4822475" y="1084138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 the blank labels on these axes</a:t>
            </a:r>
            <a:r>
              <a:rPr lang="en-GB"/>
              <a:t>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38" name="Google Shape;838;p72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5336" y="436260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39" name="Google Shape;839;p72" title="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6375" y="881895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2"/>
          <p:cNvSpPr txBox="1"/>
          <p:nvPr>
            <p:ph idx="1" type="body"/>
          </p:nvPr>
        </p:nvSpPr>
        <p:spPr>
          <a:xfrm>
            <a:off x="4822475" y="2119659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labels could we add now</a:t>
            </a:r>
            <a:r>
              <a:rPr lang="en-GB"/>
              <a:t>?</a:t>
            </a:r>
            <a:endParaRPr/>
          </a:p>
        </p:txBody>
      </p:sp>
      <p:sp>
        <p:nvSpPr>
          <p:cNvPr id="841" name="Google Shape;841;p72"/>
          <p:cNvSpPr txBox="1"/>
          <p:nvPr>
            <p:ph idx="1" type="body"/>
          </p:nvPr>
        </p:nvSpPr>
        <p:spPr>
          <a:xfrm>
            <a:off x="3140962" y="413134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0.75</a:t>
            </a:r>
            <a:endParaRPr/>
          </a:p>
        </p:txBody>
      </p:sp>
      <p:sp>
        <p:nvSpPr>
          <p:cNvPr id="842" name="Google Shape;842;p72"/>
          <p:cNvSpPr txBox="1"/>
          <p:nvPr>
            <p:ph idx="1" type="body"/>
          </p:nvPr>
        </p:nvSpPr>
        <p:spPr>
          <a:xfrm>
            <a:off x="453624" y="2587015"/>
            <a:ext cx="425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</a:t>
            </a:r>
            <a:endParaRPr/>
          </a:p>
        </p:txBody>
      </p:sp>
      <p:sp>
        <p:nvSpPr>
          <p:cNvPr id="843" name="Google Shape;843;p72"/>
          <p:cNvSpPr txBox="1"/>
          <p:nvPr>
            <p:ph idx="1" type="body"/>
          </p:nvPr>
        </p:nvSpPr>
        <p:spPr>
          <a:xfrm>
            <a:off x="2363745" y="4121180"/>
            <a:ext cx="425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</a:t>
            </a:r>
            <a:endParaRPr/>
          </a:p>
        </p:txBody>
      </p:sp>
      <p:grpSp>
        <p:nvGrpSpPr>
          <p:cNvPr id="844" name="Google Shape;844;p72"/>
          <p:cNvGrpSpPr/>
          <p:nvPr/>
        </p:nvGrpSpPr>
        <p:grpSpPr>
          <a:xfrm>
            <a:off x="446650" y="2567625"/>
            <a:ext cx="435865" cy="379500"/>
            <a:chOff x="446650" y="2567625"/>
            <a:chExt cx="435865" cy="379500"/>
          </a:xfrm>
        </p:grpSpPr>
        <p:sp>
          <p:nvSpPr>
            <p:cNvPr id="845" name="Google Shape;845;p72"/>
            <p:cNvSpPr/>
            <p:nvPr/>
          </p:nvSpPr>
          <p:spPr>
            <a:xfrm>
              <a:off x="456815" y="2567625"/>
              <a:ext cx="425700" cy="37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6" name="Google Shape;846;p72"/>
            <p:cNvCxnSpPr/>
            <p:nvPr/>
          </p:nvCxnSpPr>
          <p:spPr>
            <a:xfrm>
              <a:off x="446650" y="2909775"/>
              <a:ext cx="425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7" name="Google Shape;847;p72"/>
          <p:cNvGrpSpPr/>
          <p:nvPr/>
        </p:nvGrpSpPr>
        <p:grpSpPr>
          <a:xfrm>
            <a:off x="2351650" y="4147495"/>
            <a:ext cx="435865" cy="379500"/>
            <a:chOff x="446650" y="2567625"/>
            <a:chExt cx="435865" cy="379500"/>
          </a:xfrm>
        </p:grpSpPr>
        <p:sp>
          <p:nvSpPr>
            <p:cNvPr id="848" name="Google Shape;848;p72"/>
            <p:cNvSpPr/>
            <p:nvPr/>
          </p:nvSpPr>
          <p:spPr>
            <a:xfrm>
              <a:off x="456815" y="2567625"/>
              <a:ext cx="425700" cy="379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9" name="Google Shape;849;p72"/>
            <p:cNvCxnSpPr/>
            <p:nvPr/>
          </p:nvCxnSpPr>
          <p:spPr>
            <a:xfrm>
              <a:off x="446650" y="2909775"/>
              <a:ext cx="425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1464562" y="413134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352133" y="190633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0.75</a:t>
            </a:r>
            <a:endParaRPr/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352133" y="3247440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8d23c648-a015-40e6-b647-70c72c40cc47&quot; data-equatio-type=&quot;desmos&quot;&gt;&lt;mglyph src=&quot;https://equatio-api.texthelp.com/desmos/get/11-10-2023/8d23c648-a015-40e6-b647-70c72c40cc47&quot; alt=&quot;Equatio Desmos Graph&quot;/&gt;&lt;/math&gt;" id="857" name="Google Shape;857;p7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40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3"/>
          <p:cNvSpPr txBox="1"/>
          <p:nvPr>
            <p:ph idx="1" type="body"/>
          </p:nvPr>
        </p:nvSpPr>
        <p:spPr>
          <a:xfrm>
            <a:off x="4822475" y="108655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far could this keep going</a:t>
            </a:r>
            <a:r>
              <a:rPr lang="en-GB"/>
              <a:t>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3a993ce3-ea68-46ff-a51b-21c4505afc0f&quot; data-equatio-type=&quot;desmos&quot;&gt;&lt;mglyph src=&quot;https://equatio-api.texthelp.com/desmos/get/11-10-2023/3a993ce3-ea68-46ff-a51b-21c4505afc0f&quot; alt=&quot;Equatio Desmos Graph&quot;/&gt;&lt;/math&gt;" id="859" name="Google Shape;859;p73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875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2-10-2023/f578d9ac-a25e-4e64-b943-25caa4641790&quot; data-equatio-type=&quot;desmos&quot;&gt;&lt;mglyph src=&quot;https://equatio-api.texthelp.com/desmos/get/12-10-2023/f578d9ac-a25e-4e64-b943-25caa4641790&quot; alt=&quot;Equatio Desmos Graph&quot;/&gt;&lt;/math&gt;" id="861" name="Google Shape;861;p73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624" y="1087125"/>
            <a:ext cx="3997500" cy="3338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62" name="Google Shape;862;p73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375" y="881895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3"/>
          <p:cNvSpPr txBox="1"/>
          <p:nvPr>
            <p:ph idx="1" type="body"/>
          </p:nvPr>
        </p:nvSpPr>
        <p:spPr>
          <a:xfrm>
            <a:off x="3140962" y="413134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0.75</a:t>
            </a:r>
            <a:endParaRPr/>
          </a:p>
        </p:txBody>
      </p:sp>
      <p:sp>
        <p:nvSpPr>
          <p:cNvPr id="864" name="Google Shape;864;p73"/>
          <p:cNvSpPr txBox="1"/>
          <p:nvPr>
            <p:ph idx="1" type="body"/>
          </p:nvPr>
        </p:nvSpPr>
        <p:spPr>
          <a:xfrm>
            <a:off x="453624" y="2587015"/>
            <a:ext cx="425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</a:t>
            </a:r>
            <a:endParaRPr/>
          </a:p>
        </p:txBody>
      </p:sp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2363745" y="4120115"/>
            <a:ext cx="425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</a:t>
            </a:r>
            <a:endParaRPr/>
          </a:p>
        </p:txBody>
      </p:sp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1464562" y="413134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sp>
        <p:nvSpPr>
          <p:cNvPr id="867" name="Google Shape;867;p73"/>
          <p:cNvSpPr txBox="1"/>
          <p:nvPr>
            <p:ph idx="1" type="body"/>
          </p:nvPr>
        </p:nvSpPr>
        <p:spPr>
          <a:xfrm>
            <a:off x="352133" y="1906335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0.75</a:t>
            </a:r>
            <a:endParaRPr/>
          </a:p>
        </p:txBody>
      </p:sp>
      <p:sp>
        <p:nvSpPr>
          <p:cNvPr id="868" name="Google Shape;868;p73"/>
          <p:cNvSpPr txBox="1"/>
          <p:nvPr>
            <p:ph idx="1" type="body"/>
          </p:nvPr>
        </p:nvSpPr>
        <p:spPr>
          <a:xfrm>
            <a:off x="352133" y="3247440"/>
            <a:ext cx="6180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69" name="Google Shape;869;p73" title="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5336" y="4362609"/>
            <a:ext cx="170064" cy="152991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3"/>
          <p:cNvSpPr txBox="1"/>
          <p:nvPr>
            <p:ph idx="1" type="body"/>
          </p:nvPr>
        </p:nvSpPr>
        <p:spPr>
          <a:xfrm>
            <a:off x="4822475" y="2155204"/>
            <a:ext cx="3997500" cy="18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Going to higher levels of precision here has really important uses for mathematics, science and many other subjects.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76" name="Google Shape;876;p74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736" y="4591209"/>
            <a:ext cx="170064" cy="15299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4"/>
          <p:cNvSpPr txBox="1"/>
          <p:nvPr>
            <p:ph idx="1" type="body"/>
          </p:nvPr>
        </p:nvSpPr>
        <p:spPr>
          <a:xfrm>
            <a:off x="4822475" y="1086550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this</a:t>
            </a:r>
            <a:r>
              <a:rPr lang="en-GB"/>
              <a:t> coordinate?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e6d274cb-45fb-4e85-ab51-224ade9b9e9a&quot; data-equatio-type=&quot;desmos&quot;&gt;&lt;mglyph src=&quot;https://equatio-api.texthelp.com/desmos/get/10-10-2023/e6d274cb-45fb-4e85-ab51-224ade9b9e9a&quot; alt=&quot;Equatio Desmos Graph&quot;/&gt;&lt;/math&gt;" id="878" name="Google Shape;878;p74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26" y="1080000"/>
            <a:ext cx="4261700" cy="3747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79" name="Google Shape;879;p7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2760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4"/>
          <p:cNvSpPr txBox="1"/>
          <p:nvPr>
            <p:ph idx="1" type="body"/>
          </p:nvPr>
        </p:nvSpPr>
        <p:spPr>
          <a:xfrm>
            <a:off x="1785705" y="324019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pic>
        <p:nvPicPr>
          <p:cNvPr descr="&lt;math xmlns=&quot;http://www.w3.org/1998/Math/MathML&quot; display=&quot;block&quot; data-is-equatio=&quot;1&quot; data-latex=&quot;\left(\frac{1}{3},\frac{1}{3}\right)&quot;&gt;&lt;mrow data-mjx-texclass=&quot;INNER&quot;&gt;&lt;mo data-mjx-texclass=&quot;OPEN&quot;&gt;(&lt;/mo&gt;&lt;mfrac&gt;&lt;mn&gt;1&lt;/mn&gt;&lt;mn&gt;3&lt;/mn&gt;&lt;/mfrac&gt;&lt;mo&gt;,&lt;/mo&gt;&lt;mfrac&gt;&lt;mn&gt;1&lt;/mn&gt;&lt;mn&gt;3&lt;/mn&gt;&lt;/mfrac&gt;&lt;mo data-mjx-texclass=&quot;CLOSE&quot;&gt;)&lt;/mo&gt;&lt;/mrow&gt;&lt;/math&gt;" id="881" name="Google Shape;881;p74" title="open paren one third comma one third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4600" y="3424875"/>
            <a:ext cx="1178250" cy="8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4"/>
          <p:cNvSpPr txBox="1"/>
          <p:nvPr>
            <p:ph idx="1" type="body"/>
          </p:nvPr>
        </p:nvSpPr>
        <p:spPr>
          <a:xfrm>
            <a:off x="4822475" y="1899375"/>
            <a:ext cx="3997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express non-integer coordinates in </a:t>
            </a:r>
            <a:r>
              <a:rPr lang="en-GB"/>
              <a:t>fractional form.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 txBox="1"/>
          <p:nvPr>
            <p:ph type="title"/>
          </p:nvPr>
        </p:nvSpPr>
        <p:spPr>
          <a:xfrm>
            <a:off x="324000" y="824975"/>
            <a:ext cx="707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represent the coordinate shown on the graph</a:t>
            </a:r>
            <a:r>
              <a:rPr lang="en-GB"/>
              <a:t>?</a:t>
            </a:r>
            <a:endParaRPr/>
          </a:p>
        </p:txBody>
      </p:sp>
      <p:sp>
        <p:nvSpPr>
          <p:cNvPr id="888" name="Google Shape;888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id="889" name="Google Shape;88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292" y="194939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59607d9c-73cd-48a8-916e-59a006e881b9&quot; data-equatio-type=&quot;desmos&quot;&gt;&lt;mglyph src=&quot;https://equatio-api.texthelp.com/desmos/get/10-10-2023/59607d9c-73cd-48a8-916e-59a006e881b9&quot; alt=&quot;Equatio Desmos Graph&quot;/&gt;&lt;/math&gt;" id="890" name="Google Shape;890;p75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575" y="1457275"/>
            <a:ext cx="3831176" cy="337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91" name="Google Shape;891;p75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722" y="4676975"/>
            <a:ext cx="157339" cy="141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92" name="Google Shape;892;p75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2670" y="1378788"/>
            <a:ext cx="157339" cy="208692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5"/>
          <p:cNvSpPr txBox="1"/>
          <p:nvPr>
            <p:ph idx="4294967295" type="body"/>
          </p:nvPr>
        </p:nvSpPr>
        <p:spPr>
          <a:xfrm>
            <a:off x="5160966" y="38185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894" name="Google Shape;894;p75"/>
          <p:cNvSpPr txBox="1"/>
          <p:nvPr>
            <p:ph idx="4294967295" type="body"/>
          </p:nvPr>
        </p:nvSpPr>
        <p:spPr>
          <a:xfrm>
            <a:off x="938671" y="378482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(0.2,0.2)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\left(\frac{1}{5},\frac{1}{5}\right)&quot;&gt;&lt;mrow data-mjx-texclass=&quot;INNER&quot;&gt;&lt;mo data-mjx-texclass=&quot;OPEN&quot;&gt;(&lt;/mo&gt;&lt;mfrac&gt;&lt;mn&gt;1&lt;/mn&gt;&lt;mn&gt;5&lt;/mn&gt;&lt;/mfrac&gt;&lt;mo&gt;,&lt;/mo&gt;&lt;mfrac&gt;&lt;mn&gt;1&lt;/mn&gt;&lt;mn&gt;5&lt;/mn&gt;&lt;/mfrac&gt;&lt;mo data-mjx-texclass=&quot;CLOSE&quot;&gt;)&lt;/mo&gt;&lt;/mrow&gt;&lt;/math&gt;" id="895" name="Google Shape;895;p75" title="open paren one fifth comma one fifth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6745" y="1651348"/>
            <a:ext cx="1045494" cy="788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1}{2},\frac{1}{2}\right)&quot;&gt;&lt;mrow data-mjx-texclass=&quot;INNER&quot;&gt;&lt;mo data-mjx-texclass=&quot;OPEN&quot;&gt;(&lt;/mo&gt;&lt;mfrac&gt;&lt;mn&gt;1&lt;/mn&gt;&lt;mn&gt;2&lt;/mn&gt;&lt;/mfrac&gt;&lt;mo&gt;,&lt;/mo&gt;&lt;mfrac&gt;&lt;mn&gt;1&lt;/mn&gt;&lt;mn&gt;2&lt;/mn&gt;&lt;/mfrac&gt;&lt;mo data-mjx-texclass=&quot;CLOSE&quot;&gt;)&lt;/mo&gt;&lt;/mrow&gt;&lt;/math&gt;" id="896" name="Google Shape;896;p75" title="open paren one half comma one half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7104" y="2675633"/>
            <a:ext cx="1045491" cy="78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067" y="376502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86a46b0-180d-44b5-8fc0-462b54fc7ac3&quot; data-equatio-type=&quot;desmos&quot;&gt;&lt;mglyph src=&quot;https://equatio-api.texthelp.com/desmos/get/10-10-2023/386a46b0-180d-44b5-8fc0-462b54fc7ac3&quot; alt=&quot;Equatio Desmos Graph&quot;/&gt;&lt;/math&gt;" id="903" name="Google Shape;903;p7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50" y="1080000"/>
            <a:ext cx="4267200" cy="3747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04" name="Google Shape;904;p76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845" y="305597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05" name="Google Shape;905;p7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2884" y="92760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6"/>
          <p:cNvSpPr txBox="1"/>
          <p:nvPr>
            <p:ph idx="1" type="body"/>
          </p:nvPr>
        </p:nvSpPr>
        <p:spPr>
          <a:xfrm>
            <a:off x="3518257" y="24469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07" name="Google Shape;907;p76"/>
          <p:cNvSpPr txBox="1"/>
          <p:nvPr>
            <p:ph idx="1" type="body"/>
          </p:nvPr>
        </p:nvSpPr>
        <p:spPr>
          <a:xfrm>
            <a:off x="3563162" y="2164580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(1.5,0.5)</a:t>
            </a:r>
            <a:endParaRPr sz="2400"/>
          </a:p>
        </p:txBody>
      </p:sp>
      <p:sp>
        <p:nvSpPr>
          <p:cNvPr id="908" name="Google Shape;908;p76"/>
          <p:cNvSpPr txBox="1"/>
          <p:nvPr>
            <p:ph idx="1" type="body"/>
          </p:nvPr>
        </p:nvSpPr>
        <p:spPr>
          <a:xfrm>
            <a:off x="4995038" y="1080000"/>
            <a:ext cx="3972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The coordinate </a:t>
            </a:r>
            <a:r>
              <a:rPr lang="en-GB" sz="2400"/>
              <a:t>(1.5,0.5)</a:t>
            </a:r>
            <a:endParaRPr sz="2400"/>
          </a:p>
        </p:txBody>
      </p:sp>
      <p:sp>
        <p:nvSpPr>
          <p:cNvPr id="909" name="Google Shape;909;p76"/>
          <p:cNvSpPr txBox="1"/>
          <p:nvPr>
            <p:ph idx="1" type="body"/>
          </p:nvPr>
        </p:nvSpPr>
        <p:spPr>
          <a:xfrm>
            <a:off x="3518257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10" name="Google Shape;910;p76"/>
          <p:cNvSpPr txBox="1"/>
          <p:nvPr>
            <p:ph idx="1" type="body"/>
          </p:nvPr>
        </p:nvSpPr>
        <p:spPr>
          <a:xfrm>
            <a:off x="1178518" y="24469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11" name="Google Shape;911;p76"/>
          <p:cNvSpPr txBox="1"/>
          <p:nvPr>
            <p:ph idx="1" type="body"/>
          </p:nvPr>
        </p:nvSpPr>
        <p:spPr>
          <a:xfrm>
            <a:off x="4995038" y="1877111"/>
            <a:ext cx="3972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What are the other three</a:t>
            </a:r>
            <a:r>
              <a:rPr lang="en-GB" sz="2400"/>
              <a:t> coordinates?</a:t>
            </a:r>
            <a:endParaRPr sz="2400"/>
          </a:p>
        </p:txBody>
      </p:sp>
      <p:sp>
        <p:nvSpPr>
          <p:cNvPr id="912" name="Google Shape;912;p76"/>
          <p:cNvSpPr txBox="1"/>
          <p:nvPr>
            <p:ph idx="1" type="body"/>
          </p:nvPr>
        </p:nvSpPr>
        <p:spPr>
          <a:xfrm>
            <a:off x="1178518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5041638" y="3050262"/>
            <a:ext cx="3972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Non-integer coordinates can be plotted in any quadrant.</a:t>
            </a:r>
            <a:endParaRPr sz="2400"/>
          </a:p>
        </p:txBody>
      </p:sp>
      <p:sp>
        <p:nvSpPr>
          <p:cNvPr id="914" name="Google Shape;914;p76"/>
          <p:cNvSpPr txBox="1"/>
          <p:nvPr>
            <p:ph idx="1" type="body"/>
          </p:nvPr>
        </p:nvSpPr>
        <p:spPr>
          <a:xfrm>
            <a:off x="362762" y="2164580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(-1.5,0.5)</a:t>
            </a:r>
            <a:endParaRPr sz="2400"/>
          </a:p>
        </p:txBody>
      </p:sp>
      <p:sp>
        <p:nvSpPr>
          <p:cNvPr id="915" name="Google Shape;915;p76"/>
          <p:cNvSpPr txBox="1"/>
          <p:nvPr>
            <p:ph idx="1" type="body"/>
          </p:nvPr>
        </p:nvSpPr>
        <p:spPr>
          <a:xfrm>
            <a:off x="3563162" y="4004611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(1.5,-1.5)</a:t>
            </a:r>
            <a:endParaRPr sz="2400"/>
          </a:p>
        </p:txBody>
      </p:sp>
      <p:sp>
        <p:nvSpPr>
          <p:cNvPr id="916" name="Google Shape;916;p76"/>
          <p:cNvSpPr txBox="1"/>
          <p:nvPr>
            <p:ph idx="1" type="body"/>
          </p:nvPr>
        </p:nvSpPr>
        <p:spPr>
          <a:xfrm>
            <a:off x="286562" y="4004611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(-1.5,-1.5)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7"/>
          <p:cNvSpPr txBox="1"/>
          <p:nvPr>
            <p:ph idx="1" type="subTitle"/>
          </p:nvPr>
        </p:nvSpPr>
        <p:spPr>
          <a:xfrm>
            <a:off x="1034425" y="1837775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922" name="Google Shape;922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923" name="Google Shape;923;p77"/>
          <p:cNvSpPr txBox="1"/>
          <p:nvPr>
            <p:ph type="title"/>
          </p:nvPr>
        </p:nvSpPr>
        <p:spPr>
          <a:xfrm>
            <a:off x="324000" y="748775"/>
            <a:ext cx="3804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coordinates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(-0.5,1.5)?</a:t>
            </a:r>
            <a:endParaRPr/>
          </a:p>
        </p:txBody>
      </p:sp>
      <p:sp>
        <p:nvSpPr>
          <p:cNvPr id="924" name="Google Shape;924;p77"/>
          <p:cNvSpPr txBox="1"/>
          <p:nvPr>
            <p:ph idx="3" type="subTitle"/>
          </p:nvPr>
        </p:nvSpPr>
        <p:spPr>
          <a:xfrm>
            <a:off x="1034425" y="2794251"/>
            <a:ext cx="1852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925" name="Google Shape;925;p77"/>
          <p:cNvSpPr txBox="1"/>
          <p:nvPr>
            <p:ph idx="4" type="subTitle"/>
          </p:nvPr>
        </p:nvSpPr>
        <p:spPr>
          <a:xfrm>
            <a:off x="1034425" y="3766974"/>
            <a:ext cx="184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86a46b0-180d-44b5-8fc0-462b54fc7ac3&quot; data-equatio-type=&quot;desmos&quot;&gt;&lt;mglyph src=&quot;https://equatio-api.texthelp.com/desmos/get/10-10-2023/386a46b0-180d-44b5-8fc0-462b54fc7ac3&quot; alt=&quot;Equatio Desmos Graph&quot;/&gt;&lt;/math&gt;" id="926" name="Google Shape;926;p7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432" y="1080000"/>
            <a:ext cx="4267200" cy="3747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27" name="Google Shape;927;p77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9027" y="305597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28" name="Google Shape;928;p7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4066" y="92760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7"/>
          <p:cNvSpPr txBox="1"/>
          <p:nvPr>
            <p:ph idx="4294967295" type="body"/>
          </p:nvPr>
        </p:nvSpPr>
        <p:spPr>
          <a:xfrm>
            <a:off x="5761748" y="17611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30" name="Google Shape;930;p77"/>
          <p:cNvSpPr txBox="1"/>
          <p:nvPr>
            <p:ph idx="4294967295" type="body"/>
          </p:nvPr>
        </p:nvSpPr>
        <p:spPr>
          <a:xfrm>
            <a:off x="5513081" y="1588661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endParaRPr sz="2400"/>
          </a:p>
        </p:txBody>
      </p:sp>
      <p:sp>
        <p:nvSpPr>
          <p:cNvPr id="931" name="Google Shape;931;p77"/>
          <p:cNvSpPr txBox="1"/>
          <p:nvPr>
            <p:ph idx="4294967295" type="body"/>
          </p:nvPr>
        </p:nvSpPr>
        <p:spPr>
          <a:xfrm>
            <a:off x="7319439" y="31214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32" name="Google Shape;932;p77"/>
          <p:cNvSpPr txBox="1"/>
          <p:nvPr>
            <p:ph idx="4294967295" type="body"/>
          </p:nvPr>
        </p:nvSpPr>
        <p:spPr>
          <a:xfrm>
            <a:off x="7070772" y="325383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sp>
        <p:nvSpPr>
          <p:cNvPr id="933" name="Google Shape;933;p77"/>
          <p:cNvSpPr txBox="1"/>
          <p:nvPr>
            <p:ph idx="4294967295" type="body"/>
          </p:nvPr>
        </p:nvSpPr>
        <p:spPr>
          <a:xfrm>
            <a:off x="5761748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34" name="Google Shape;934;p77"/>
          <p:cNvSpPr txBox="1"/>
          <p:nvPr>
            <p:ph idx="4294967295" type="body"/>
          </p:nvPr>
        </p:nvSpPr>
        <p:spPr>
          <a:xfrm>
            <a:off x="5513081" y="393963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</a:t>
            </a:r>
            <a:endParaRPr sz="2400"/>
          </a:p>
        </p:txBody>
      </p:sp>
      <p:pic>
        <p:nvPicPr>
          <p:cNvPr id="935" name="Google Shape;93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2323" y="2810059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1b081117-600c-48cf-88eb-b974c38ffa4d&quot; data-equatio-type=&quot;desmos&quot;&gt;&lt;mglyph src=&quot;https://equatio-api.texthelp.com/desmos/get/10-10-2023/1b081117-600c-48cf-88eb-b974c38ffa4d&quot; alt=&quot;Equatio Desmos Graph&quot;/&gt;&lt;/math&gt;" id="940" name="Google Shape;940;p7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25" y="1070450"/>
            <a:ext cx="4246876" cy="37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8"/>
          <p:cNvSpPr txBox="1"/>
          <p:nvPr>
            <p:ph idx="1" type="body"/>
          </p:nvPr>
        </p:nvSpPr>
        <p:spPr>
          <a:xfrm>
            <a:off x="4824000" y="1095355"/>
            <a:ext cx="37377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Plot the following coordinates:</a:t>
            </a:r>
            <a:endParaRPr/>
          </a:p>
        </p:txBody>
      </p:sp>
      <p:sp>
        <p:nvSpPr>
          <p:cNvPr id="942" name="Google Shape;94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943" name="Google Shape;943;p78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677" y="3059010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44" name="Google Shape;944;p78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6535" y="980190"/>
            <a:ext cx="156897" cy="208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45" name="Google Shape;945;p78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4000" y="3083081"/>
            <a:ext cx="156900" cy="49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3}{2},\frac{-7}{4}\right)&quot;&gt;&lt;mrow data-mjx-texclass=&quot;INNER&quot;&gt;&lt;mo data-mjx-texclass=&quot;OPEN&quot;&gt;(&lt;/mo&gt;&lt;mfrac&gt;&lt;mrow&gt;&lt;mo&gt;−&lt;/mo&gt;&lt;mn&gt;3&lt;/mn&gt;&lt;/mrow&gt;&lt;mn&gt;2&lt;/mn&gt;&lt;/mfrac&gt;&lt;mo&gt;,&lt;/mo&gt;&lt;mfrac&gt;&lt;mrow&gt;&lt;mo&gt;−&lt;/mo&gt;&lt;mn&gt;7&lt;/mn&gt;&lt;/mrow&gt;&lt;mn&gt;4&lt;/mn&gt;&lt;/mfrac&gt;&lt;mo data-mjx-texclass=&quot;CLOSE&quot;&gt;)&lt;/mo&gt;&lt;/mrow&gt;&lt;/math&gt;" id="946" name="Google Shape;946;p78" title="open paren negative 3 over 2 comma negative 7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4267" y="3690936"/>
            <a:ext cx="1058011" cy="5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8"/>
          <p:cNvSpPr txBox="1"/>
          <p:nvPr>
            <p:ph idx="1" type="body"/>
          </p:nvPr>
        </p:nvSpPr>
        <p:spPr>
          <a:xfrm>
            <a:off x="4824893" y="1966475"/>
            <a:ext cx="1993800" cy="4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(0.5,-2.5)</a:t>
            </a:r>
            <a:endParaRPr/>
          </a:p>
        </p:txBody>
      </p:sp>
      <p:sp>
        <p:nvSpPr>
          <p:cNvPr id="948" name="Google Shape;948;p78"/>
          <p:cNvSpPr txBox="1"/>
          <p:nvPr>
            <p:ph idx="1" type="body"/>
          </p:nvPr>
        </p:nvSpPr>
        <p:spPr>
          <a:xfrm>
            <a:off x="4824000" y="2563197"/>
            <a:ext cx="19938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(-0.5,2.5)</a:t>
            </a:r>
            <a:endParaRPr/>
          </a:p>
        </p:txBody>
      </p:sp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4824000" y="3153500"/>
            <a:ext cx="314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950" name="Google Shape;950;p78"/>
          <p:cNvSpPr txBox="1"/>
          <p:nvPr>
            <p:ph idx="1" type="body"/>
          </p:nvPr>
        </p:nvSpPr>
        <p:spPr>
          <a:xfrm>
            <a:off x="4824000" y="3819950"/>
            <a:ext cx="34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951" name="Google Shape;951;p78"/>
          <p:cNvSpPr txBox="1"/>
          <p:nvPr>
            <p:ph idx="1" type="body"/>
          </p:nvPr>
        </p:nvSpPr>
        <p:spPr>
          <a:xfrm>
            <a:off x="5172175" y="3153500"/>
            <a:ext cx="848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(-2.25,</a:t>
            </a:r>
            <a:endParaRPr/>
          </a:p>
        </p:txBody>
      </p:sp>
      <p:sp>
        <p:nvSpPr>
          <p:cNvPr id="952" name="Google Shape;952;p78"/>
          <p:cNvSpPr txBox="1"/>
          <p:nvPr>
            <p:ph idx="1" type="body"/>
          </p:nvPr>
        </p:nvSpPr>
        <p:spPr>
          <a:xfrm>
            <a:off x="6345900" y="3153500"/>
            <a:ext cx="929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9"/>
          <p:cNvSpPr txBox="1"/>
          <p:nvPr>
            <p:ph idx="1" type="body"/>
          </p:nvPr>
        </p:nvSpPr>
        <p:spPr>
          <a:xfrm>
            <a:off x="4824000" y="1078864"/>
            <a:ext cx="3737700" cy="5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</a:t>
            </a:r>
            <a:r>
              <a:rPr lang="en-GB"/>
              <a:t> Match the coordinates to the points on the graph:</a:t>
            </a:r>
            <a:endParaRPr/>
          </a:p>
        </p:txBody>
      </p:sp>
      <p:sp>
        <p:nvSpPr>
          <p:cNvPr id="958" name="Google Shape;95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6e82b3a6-22c1-4435-896b-a16ccf8c53f4&quot; data-equatio-type=&quot;desmos&quot;&gt;&lt;mglyph src=&quot;https://equatio-api.texthelp.com/desmos/get/10-10-2023/6e82b3a6-22c1-4435-896b-a16ccf8c53f4&quot; alt=&quot;Equatio Desmos Graph&quot;/&gt;&lt;/math&gt;" id="959" name="Google Shape;959;p7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4" y="1078625"/>
            <a:ext cx="4246876" cy="374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60" name="Google Shape;960;p79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677" y="3059010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61" name="Google Shape;961;p7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6535" y="980190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9"/>
          <p:cNvSpPr txBox="1"/>
          <p:nvPr>
            <p:ph idx="1" type="body"/>
          </p:nvPr>
        </p:nvSpPr>
        <p:spPr>
          <a:xfrm>
            <a:off x="4824000" y="1854979"/>
            <a:ext cx="3737700" cy="5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(1.8,2.2)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 (2.1,1.7)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 (-2.1,1.6)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 </a:t>
            </a:r>
            <a:r>
              <a:rPr lang="en-GB"/>
              <a:t>(-1.6,1.6)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 (1.6,-1.6)</a:t>
            </a:r>
            <a:endParaRPr/>
          </a:p>
        </p:txBody>
      </p:sp>
      <p:sp>
        <p:nvSpPr>
          <p:cNvPr id="963" name="Google Shape;963;p79"/>
          <p:cNvSpPr txBox="1"/>
          <p:nvPr>
            <p:ph idx="4294967295" type="body"/>
          </p:nvPr>
        </p:nvSpPr>
        <p:spPr>
          <a:xfrm>
            <a:off x="3422009" y="15862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64" name="Google Shape;964;p79"/>
          <p:cNvSpPr txBox="1"/>
          <p:nvPr>
            <p:ph idx="4294967295" type="body"/>
          </p:nvPr>
        </p:nvSpPr>
        <p:spPr>
          <a:xfrm>
            <a:off x="3628148" y="18910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65" name="Google Shape;965;p79"/>
          <p:cNvSpPr txBox="1"/>
          <p:nvPr>
            <p:ph idx="4294967295" type="body"/>
          </p:nvPr>
        </p:nvSpPr>
        <p:spPr>
          <a:xfrm>
            <a:off x="1048578" y="193356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66" name="Google Shape;966;p79"/>
          <p:cNvSpPr txBox="1"/>
          <p:nvPr>
            <p:ph idx="4294967295" type="body"/>
          </p:nvPr>
        </p:nvSpPr>
        <p:spPr>
          <a:xfrm>
            <a:off x="1353378" y="193356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67" name="Google Shape;967;p79"/>
          <p:cNvSpPr txBox="1"/>
          <p:nvPr>
            <p:ph idx="4294967295" type="body"/>
          </p:nvPr>
        </p:nvSpPr>
        <p:spPr>
          <a:xfrm>
            <a:off x="3323348" y="36773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d82ecee0-9871-4110-a710-50df93325a7d&quot; data-equatio-type=&quot;desmos&quot;&gt;&lt;mglyph src=&quot;https://equatio-api.texthelp.com/desmos/get/10-10-2023/d82ecee0-9871-4110-a710-50df93325a7d&quot; alt=&quot;Equatio Desmos Graph&quot;/&gt;&lt;/math&gt;" id="972" name="Google Shape;972;p8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50" y="1080000"/>
            <a:ext cx="4240250" cy="37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0"/>
          <p:cNvSpPr txBox="1"/>
          <p:nvPr/>
        </p:nvSpPr>
        <p:spPr>
          <a:xfrm>
            <a:off x="4819800" y="1069220"/>
            <a:ext cx="4232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 says this.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4" name="Google Shape;97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476" y="2013002"/>
            <a:ext cx="955325" cy="119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80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5889399" y="1300175"/>
            <a:ext cx="3010401" cy="1719905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0"/>
          <p:cNvSpPr txBox="1"/>
          <p:nvPr/>
        </p:nvSpPr>
        <p:spPr>
          <a:xfrm>
            <a:off x="6343175" y="1572125"/>
            <a:ext cx="24768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 is just pas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 -3 so this is probably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-3.1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0"/>
          <p:cNvSpPr txBox="1"/>
          <p:nvPr/>
        </p:nvSpPr>
        <p:spPr>
          <a:xfrm>
            <a:off x="4819800" y="3324725"/>
            <a:ext cx="4232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justifying why Jun is wrong.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979" name="Google Shape;979;p8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3755" y="3027732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80" name="Google Shape;980;p80" title="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1614" y="948912"/>
            <a:ext cx="156897" cy="208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1b081117-600c-48cf-88eb-b974c38ffa4d&quot; data-equatio-type=&quot;desmos&quot;&gt;&lt;mglyph src=&quot;https://equatio-api.texthelp.com/desmos/get/10-10-2023/1b081117-600c-48cf-88eb-b974c38ffa4d&quot; alt=&quot;Equatio Desmos Graph&quot;/&gt;&lt;/math&gt;" id="985" name="Google Shape;985;p8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25" y="1070450"/>
            <a:ext cx="4246876" cy="37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987" name="Google Shape;987;p8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677" y="3059010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88" name="Google Shape;988;p8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6535" y="980190"/>
            <a:ext cx="156897" cy="208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89" name="Google Shape;989;p81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4000" y="3083081"/>
            <a:ext cx="156900" cy="499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3}{2},\frac{-7}{4}\right)&quot;&gt;&lt;mrow data-mjx-texclass=&quot;INNER&quot;&gt;&lt;mo data-mjx-texclass=&quot;OPEN&quot;&gt;(&lt;/mo&gt;&lt;mfrac&gt;&lt;mrow&gt;&lt;mo&gt;−&lt;/mo&gt;&lt;mn&gt;3&lt;/mn&gt;&lt;/mrow&gt;&lt;mn&gt;2&lt;/mn&gt;&lt;/mfrac&gt;&lt;mo&gt;,&lt;/mo&gt;&lt;mfrac&gt;&lt;mrow&gt;&lt;mo&gt;−&lt;/mo&gt;&lt;mn&gt;7&lt;/mn&gt;&lt;/mrow&gt;&lt;mn&gt;4&lt;/mn&gt;&lt;/mfrac&gt;&lt;mo data-mjx-texclass=&quot;CLOSE&quot;&gt;)&lt;/mo&gt;&lt;/mrow&gt;&lt;/math&gt;" id="990" name="Google Shape;990;p81" title="open paren negative 3 over 2 comma negative 7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4267" y="3767136"/>
            <a:ext cx="1058011" cy="5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1"/>
          <p:cNvSpPr txBox="1"/>
          <p:nvPr>
            <p:ph idx="4294967295" type="body"/>
          </p:nvPr>
        </p:nvSpPr>
        <p:spPr>
          <a:xfrm>
            <a:off x="1418348" y="37198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92" name="Google Shape;992;p81"/>
          <p:cNvSpPr txBox="1"/>
          <p:nvPr>
            <p:ph idx="4294967295" type="body"/>
          </p:nvPr>
        </p:nvSpPr>
        <p:spPr>
          <a:xfrm>
            <a:off x="1180912" y="377600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D</a:t>
            </a:r>
            <a:endParaRPr sz="2400"/>
          </a:p>
        </p:txBody>
      </p:sp>
      <p:sp>
        <p:nvSpPr>
          <p:cNvPr id="993" name="Google Shape;993;p81"/>
          <p:cNvSpPr txBox="1"/>
          <p:nvPr>
            <p:ph idx="4294967295" type="body"/>
          </p:nvPr>
        </p:nvSpPr>
        <p:spPr>
          <a:xfrm>
            <a:off x="2016718" y="14338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94" name="Google Shape;994;p81"/>
          <p:cNvSpPr txBox="1"/>
          <p:nvPr>
            <p:ph idx="4294967295" type="body"/>
          </p:nvPr>
        </p:nvSpPr>
        <p:spPr>
          <a:xfrm>
            <a:off x="1768051" y="133760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endParaRPr sz="2400"/>
          </a:p>
        </p:txBody>
      </p:sp>
      <p:sp>
        <p:nvSpPr>
          <p:cNvPr id="995" name="Google Shape;995;p81"/>
          <p:cNvSpPr txBox="1"/>
          <p:nvPr>
            <p:ph idx="4294967295" type="body"/>
          </p:nvPr>
        </p:nvSpPr>
        <p:spPr>
          <a:xfrm>
            <a:off x="2626318" y="4120907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96" name="Google Shape;996;p81"/>
          <p:cNvSpPr txBox="1"/>
          <p:nvPr>
            <p:ph idx="4294967295" type="body"/>
          </p:nvPr>
        </p:nvSpPr>
        <p:spPr>
          <a:xfrm>
            <a:off x="2834851" y="402464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sp>
        <p:nvSpPr>
          <p:cNvPr id="997" name="Google Shape;997;p81"/>
          <p:cNvSpPr txBox="1"/>
          <p:nvPr>
            <p:ph idx="4294967295" type="body"/>
          </p:nvPr>
        </p:nvSpPr>
        <p:spPr>
          <a:xfrm>
            <a:off x="961148" y="25118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998" name="Google Shape;998;p81"/>
          <p:cNvSpPr txBox="1"/>
          <p:nvPr>
            <p:ph idx="4294967295" type="body"/>
          </p:nvPr>
        </p:nvSpPr>
        <p:spPr>
          <a:xfrm>
            <a:off x="712481" y="241563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</a:t>
            </a:r>
            <a:endParaRPr sz="2400"/>
          </a:p>
        </p:txBody>
      </p:sp>
      <p:sp>
        <p:nvSpPr>
          <p:cNvPr id="999" name="Google Shape;999;p81"/>
          <p:cNvSpPr txBox="1"/>
          <p:nvPr>
            <p:ph idx="1" type="body"/>
          </p:nvPr>
        </p:nvSpPr>
        <p:spPr>
          <a:xfrm>
            <a:off x="4824000" y="1095355"/>
            <a:ext cx="37377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Plot the following coordinates:</a:t>
            </a:r>
            <a:endParaRPr/>
          </a:p>
        </p:txBody>
      </p:sp>
      <p:sp>
        <p:nvSpPr>
          <p:cNvPr id="1000" name="Google Shape;1000;p81"/>
          <p:cNvSpPr txBox="1"/>
          <p:nvPr>
            <p:ph idx="1" type="body"/>
          </p:nvPr>
        </p:nvSpPr>
        <p:spPr>
          <a:xfrm>
            <a:off x="4824893" y="1966475"/>
            <a:ext cx="1993800" cy="4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(0.5,-2.5)</a:t>
            </a:r>
            <a:endParaRPr/>
          </a:p>
        </p:txBody>
      </p:sp>
      <p:sp>
        <p:nvSpPr>
          <p:cNvPr id="1001" name="Google Shape;1001;p81"/>
          <p:cNvSpPr txBox="1"/>
          <p:nvPr>
            <p:ph idx="1" type="body"/>
          </p:nvPr>
        </p:nvSpPr>
        <p:spPr>
          <a:xfrm>
            <a:off x="4824000" y="2563197"/>
            <a:ext cx="19938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(-0.5,2.5)</a:t>
            </a:r>
            <a:endParaRPr/>
          </a:p>
        </p:txBody>
      </p:sp>
      <p:sp>
        <p:nvSpPr>
          <p:cNvPr id="1002" name="Google Shape;1002;p81"/>
          <p:cNvSpPr txBox="1"/>
          <p:nvPr>
            <p:ph idx="1" type="body"/>
          </p:nvPr>
        </p:nvSpPr>
        <p:spPr>
          <a:xfrm>
            <a:off x="4824000" y="3153500"/>
            <a:ext cx="314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1003" name="Google Shape;1003;p81"/>
          <p:cNvSpPr txBox="1"/>
          <p:nvPr>
            <p:ph idx="1" type="body"/>
          </p:nvPr>
        </p:nvSpPr>
        <p:spPr>
          <a:xfrm>
            <a:off x="4824000" y="3819950"/>
            <a:ext cx="348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</a:t>
            </a:r>
            <a:endParaRPr/>
          </a:p>
        </p:txBody>
      </p:sp>
      <p:sp>
        <p:nvSpPr>
          <p:cNvPr id="1004" name="Google Shape;1004;p81"/>
          <p:cNvSpPr txBox="1"/>
          <p:nvPr>
            <p:ph idx="1" type="body"/>
          </p:nvPr>
        </p:nvSpPr>
        <p:spPr>
          <a:xfrm>
            <a:off x="5172175" y="3153500"/>
            <a:ext cx="848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(-2.25,</a:t>
            </a:r>
            <a:endParaRPr/>
          </a:p>
        </p:txBody>
      </p:sp>
      <p:sp>
        <p:nvSpPr>
          <p:cNvPr id="1005" name="Google Shape;1005;p81"/>
          <p:cNvSpPr txBox="1"/>
          <p:nvPr>
            <p:ph idx="1" type="body"/>
          </p:nvPr>
        </p:nvSpPr>
        <p:spPr>
          <a:xfrm>
            <a:off x="6345900" y="3153500"/>
            <a:ext cx="929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6e82b3a6-22c1-4435-896b-a16ccf8c53f4&quot; data-equatio-type=&quot;desmos&quot;&gt;&lt;mglyph src=&quot;https://equatio-api.texthelp.com/desmos/get/10-10-2023/6e82b3a6-22c1-4435-896b-a16ccf8c53f4&quot; alt=&quot;Equatio Desmos Graph&quot;/&gt;&lt;/math&gt;" id="1011" name="Google Shape;1011;p8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4" y="1078625"/>
            <a:ext cx="4246876" cy="374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12" name="Google Shape;1012;p8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677" y="3059010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13" name="Google Shape;1013;p8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6535" y="980190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2"/>
          <p:cNvSpPr txBox="1"/>
          <p:nvPr>
            <p:ph idx="4294967295" type="body"/>
          </p:nvPr>
        </p:nvSpPr>
        <p:spPr>
          <a:xfrm>
            <a:off x="3422009" y="15862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15" name="Google Shape;1015;p82"/>
          <p:cNvSpPr txBox="1"/>
          <p:nvPr>
            <p:ph idx="4294967295" type="body"/>
          </p:nvPr>
        </p:nvSpPr>
        <p:spPr>
          <a:xfrm>
            <a:off x="3173342" y="149000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sp>
        <p:nvSpPr>
          <p:cNvPr id="1016" name="Google Shape;1016;p82"/>
          <p:cNvSpPr txBox="1"/>
          <p:nvPr>
            <p:ph idx="4294967295" type="body"/>
          </p:nvPr>
        </p:nvSpPr>
        <p:spPr>
          <a:xfrm>
            <a:off x="3628148" y="18910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17" name="Google Shape;1017;p82"/>
          <p:cNvSpPr txBox="1"/>
          <p:nvPr>
            <p:ph idx="4294967295" type="body"/>
          </p:nvPr>
        </p:nvSpPr>
        <p:spPr>
          <a:xfrm>
            <a:off x="3836681" y="179480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endParaRPr sz="2400"/>
          </a:p>
        </p:txBody>
      </p:sp>
      <p:sp>
        <p:nvSpPr>
          <p:cNvPr id="1018" name="Google Shape;1018;p82"/>
          <p:cNvSpPr txBox="1"/>
          <p:nvPr>
            <p:ph idx="4294967295" type="body"/>
          </p:nvPr>
        </p:nvSpPr>
        <p:spPr>
          <a:xfrm>
            <a:off x="1048578" y="193356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19" name="Google Shape;1019;p82"/>
          <p:cNvSpPr txBox="1"/>
          <p:nvPr>
            <p:ph idx="4294967295" type="body"/>
          </p:nvPr>
        </p:nvSpPr>
        <p:spPr>
          <a:xfrm>
            <a:off x="799912" y="183730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C</a:t>
            </a:r>
            <a:endParaRPr sz="2400"/>
          </a:p>
        </p:txBody>
      </p:sp>
      <p:sp>
        <p:nvSpPr>
          <p:cNvPr id="1020" name="Google Shape;1020;p82"/>
          <p:cNvSpPr txBox="1"/>
          <p:nvPr>
            <p:ph idx="4294967295" type="body"/>
          </p:nvPr>
        </p:nvSpPr>
        <p:spPr>
          <a:xfrm>
            <a:off x="1353378" y="1933568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21" name="Google Shape;1021;p82"/>
          <p:cNvSpPr txBox="1"/>
          <p:nvPr>
            <p:ph idx="4294967295" type="body"/>
          </p:nvPr>
        </p:nvSpPr>
        <p:spPr>
          <a:xfrm>
            <a:off x="1573142" y="183730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D</a:t>
            </a:r>
            <a:endParaRPr sz="2400"/>
          </a:p>
        </p:txBody>
      </p:sp>
      <p:sp>
        <p:nvSpPr>
          <p:cNvPr id="1022" name="Google Shape;1022;p82"/>
          <p:cNvSpPr txBox="1"/>
          <p:nvPr>
            <p:ph idx="4294967295" type="body"/>
          </p:nvPr>
        </p:nvSpPr>
        <p:spPr>
          <a:xfrm>
            <a:off x="3323348" y="36773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23" name="Google Shape;1023;p82"/>
          <p:cNvSpPr txBox="1"/>
          <p:nvPr>
            <p:ph idx="4294967295" type="body"/>
          </p:nvPr>
        </p:nvSpPr>
        <p:spPr>
          <a:xfrm>
            <a:off x="3531881" y="3581091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E</a:t>
            </a:r>
            <a:endParaRPr sz="2400"/>
          </a:p>
        </p:txBody>
      </p:sp>
      <p:sp>
        <p:nvSpPr>
          <p:cNvPr id="1024" name="Google Shape;1024;p82"/>
          <p:cNvSpPr txBox="1"/>
          <p:nvPr>
            <p:ph idx="1" type="body"/>
          </p:nvPr>
        </p:nvSpPr>
        <p:spPr>
          <a:xfrm>
            <a:off x="4824000" y="1090095"/>
            <a:ext cx="3737700" cy="5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Match the coordinates to the points on the graph:</a:t>
            </a:r>
            <a:endParaRPr/>
          </a:p>
        </p:txBody>
      </p:sp>
      <p:sp>
        <p:nvSpPr>
          <p:cNvPr id="1025" name="Google Shape;1025;p82"/>
          <p:cNvSpPr txBox="1"/>
          <p:nvPr>
            <p:ph idx="1" type="body"/>
          </p:nvPr>
        </p:nvSpPr>
        <p:spPr>
          <a:xfrm>
            <a:off x="4824000" y="1854979"/>
            <a:ext cx="3737700" cy="5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(1.8,2.2)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 (2.1,1.7)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 (-2.1,1.6)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 (-1.6,1.6)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 (1.6,-1.6)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d82ecee0-9871-4110-a710-50df93325a7d&quot; data-equatio-type=&quot;desmos&quot;&gt;&lt;mglyph src=&quot;https://equatio-api.texthelp.com/desmos/get/10-10-2023/d82ecee0-9871-4110-a710-50df93325a7d&quot; alt=&quot;Equatio Desmos Graph&quot;/&gt;&lt;/math&gt;" id="1030" name="Google Shape;1030;p8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50" y="1080000"/>
            <a:ext cx="4240250" cy="37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83"/>
          <p:cNvSpPr txBox="1"/>
          <p:nvPr/>
        </p:nvSpPr>
        <p:spPr>
          <a:xfrm>
            <a:off x="4819800" y="1069220"/>
            <a:ext cx="42324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 says this.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3"/>
          <p:cNvSpPr txBox="1"/>
          <p:nvPr/>
        </p:nvSpPr>
        <p:spPr>
          <a:xfrm>
            <a:off x="4819800" y="3324725"/>
            <a:ext cx="4000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From the direction of the origin the coordinate is still approaching -3 so it is more likely to approximate as (-2.9,4).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3" name="Google Shape;103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034" name="Google Shape;1034;p8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55" y="3027732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35" name="Google Shape;1035;p8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614" y="948912"/>
            <a:ext cx="156897" cy="20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83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5889399" y="1300175"/>
            <a:ext cx="3010401" cy="1719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83"/>
          <p:cNvSpPr txBox="1"/>
          <p:nvPr/>
        </p:nvSpPr>
        <p:spPr>
          <a:xfrm>
            <a:off x="6343175" y="1572125"/>
            <a:ext cx="24768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 is just pas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 -3 so this is probably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-3.1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8" name="Google Shape;103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1476" y="2013002"/>
            <a:ext cx="955325" cy="119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with non-integer values</a:t>
            </a:r>
            <a:endParaRPr/>
          </a:p>
        </p:txBody>
      </p:sp>
      <p:sp>
        <p:nvSpPr>
          <p:cNvPr id="1044" name="Google Shape;1044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sp>
        <p:nvSpPr>
          <p:cNvPr id="1045" name="Google Shape;1045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  <p:pic>
        <p:nvPicPr>
          <p:cNvPr id="1046" name="Google Shape;104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791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052" name="Google Shape;1052;p85"/>
          <p:cNvSpPr txBox="1"/>
          <p:nvPr>
            <p:ph idx="1" type="body"/>
          </p:nvPr>
        </p:nvSpPr>
        <p:spPr>
          <a:xfrm>
            <a:off x="4824000" y="1095379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 the below coordinates.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86a46b0-180d-44b5-8fc0-462b54fc7ac3&quot; data-equatio-type=&quot;desmos&quot;&gt;&lt;mglyph src=&quot;https://equatio-api.texthelp.com/desmos/get/10-10-2023/386a46b0-180d-44b5-8fc0-462b54fc7ac3&quot; alt=&quot;Equatio Desmos Graph&quot;/&gt;&lt;/math&gt;" id="1053" name="Google Shape;1053;p8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25" y="1095375"/>
            <a:ext cx="4253576" cy="3732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54" name="Google Shape;1054;p85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55" y="3061423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55" name="Google Shape;1055;p8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614" y="982603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85"/>
          <p:cNvSpPr txBox="1"/>
          <p:nvPr>
            <p:ph idx="1" type="body"/>
          </p:nvPr>
        </p:nvSpPr>
        <p:spPr>
          <a:xfrm>
            <a:off x="4824000" y="161754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(-0.5,0.5)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(-0.5,-1.5)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(2,-1.5)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(2,0.5)</a:t>
            </a:r>
            <a:endParaRPr/>
          </a:p>
        </p:txBody>
      </p:sp>
      <p:sp>
        <p:nvSpPr>
          <p:cNvPr id="1057" name="Google Shape;1057;p85"/>
          <p:cNvSpPr txBox="1"/>
          <p:nvPr>
            <p:ph idx="1" type="body"/>
          </p:nvPr>
        </p:nvSpPr>
        <p:spPr>
          <a:xfrm>
            <a:off x="4824000" y="375114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notice?</a:t>
            </a:r>
            <a:endParaRPr/>
          </a:p>
        </p:txBody>
      </p:sp>
      <p:sp>
        <p:nvSpPr>
          <p:cNvPr id="1058" name="Google Shape;1058;p85"/>
          <p:cNvSpPr txBox="1"/>
          <p:nvPr>
            <p:ph idx="1" type="body"/>
          </p:nvPr>
        </p:nvSpPr>
        <p:spPr>
          <a:xfrm>
            <a:off x="1951748" y="24581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59" name="Google Shape;1059;p85"/>
          <p:cNvSpPr txBox="1"/>
          <p:nvPr>
            <p:ph idx="1" type="body"/>
          </p:nvPr>
        </p:nvSpPr>
        <p:spPr>
          <a:xfrm>
            <a:off x="1951748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60" name="Google Shape;1060;p85"/>
          <p:cNvSpPr txBox="1"/>
          <p:nvPr>
            <p:ph idx="1" type="body"/>
          </p:nvPr>
        </p:nvSpPr>
        <p:spPr>
          <a:xfrm>
            <a:off x="3879209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61" name="Google Shape;1061;p85"/>
          <p:cNvSpPr txBox="1"/>
          <p:nvPr>
            <p:ph idx="1" type="body"/>
          </p:nvPr>
        </p:nvSpPr>
        <p:spPr>
          <a:xfrm>
            <a:off x="3879209" y="24581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62" name="Google Shape;1062;p85"/>
          <p:cNvSpPr/>
          <p:nvPr/>
        </p:nvSpPr>
        <p:spPr>
          <a:xfrm>
            <a:off x="2057400" y="2643625"/>
            <a:ext cx="1931700" cy="1325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5"/>
          <p:cNvSpPr txBox="1"/>
          <p:nvPr/>
        </p:nvSpPr>
        <p:spPr>
          <a:xfrm>
            <a:off x="4802400" y="4297200"/>
            <a:ext cx="378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form a rectangle.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6"/>
          <p:cNvSpPr txBox="1"/>
          <p:nvPr>
            <p:ph idx="1" type="body"/>
          </p:nvPr>
        </p:nvSpPr>
        <p:spPr>
          <a:xfrm>
            <a:off x="4824000" y="1095379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 the below coordinates.</a:t>
            </a:r>
            <a:endParaRPr/>
          </a:p>
        </p:txBody>
      </p:sp>
      <p:sp>
        <p:nvSpPr>
          <p:cNvPr id="1069" name="Google Shape;106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86a46b0-180d-44b5-8fc0-462b54fc7ac3&quot; data-equatio-type=&quot;desmos&quot;&gt;&lt;mglyph src=&quot;https://equatio-api.texthelp.com/desmos/get/10-10-2023/386a46b0-180d-44b5-8fc0-462b54fc7ac3&quot; alt=&quot;Equatio Desmos Graph&quot;/&gt;&lt;/math&gt;" id="1070" name="Google Shape;1070;p8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25" y="1095375"/>
            <a:ext cx="4253576" cy="3732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71" name="Google Shape;1071;p86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55" y="3061423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72" name="Google Shape;1072;p8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614" y="982603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86"/>
          <p:cNvSpPr txBox="1"/>
          <p:nvPr>
            <p:ph idx="1" type="body"/>
          </p:nvPr>
        </p:nvSpPr>
        <p:spPr>
          <a:xfrm>
            <a:off x="4824000" y="161754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(-0.5,0.5)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(-0.5,-1.5)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(2,-1.5)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(2,0.5)</a:t>
            </a:r>
            <a:endParaRPr/>
          </a:p>
        </p:txBody>
      </p:sp>
      <p:sp>
        <p:nvSpPr>
          <p:cNvPr id="1074" name="Google Shape;1074;p86"/>
          <p:cNvSpPr txBox="1"/>
          <p:nvPr>
            <p:ph idx="1" type="body"/>
          </p:nvPr>
        </p:nvSpPr>
        <p:spPr>
          <a:xfrm>
            <a:off x="4824000" y="3674953"/>
            <a:ext cx="3737700" cy="11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the moments where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coordinates match?</a:t>
            </a:r>
            <a:endParaRPr/>
          </a:p>
        </p:txBody>
      </p:sp>
      <p:sp>
        <p:nvSpPr>
          <p:cNvPr id="1075" name="Google Shape;1075;p86"/>
          <p:cNvSpPr txBox="1"/>
          <p:nvPr>
            <p:ph idx="1" type="body"/>
          </p:nvPr>
        </p:nvSpPr>
        <p:spPr>
          <a:xfrm>
            <a:off x="1951748" y="24581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76" name="Google Shape;1076;p86"/>
          <p:cNvSpPr txBox="1"/>
          <p:nvPr>
            <p:ph idx="1" type="body"/>
          </p:nvPr>
        </p:nvSpPr>
        <p:spPr>
          <a:xfrm>
            <a:off x="1951748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77" name="Google Shape;1077;p86"/>
          <p:cNvSpPr txBox="1"/>
          <p:nvPr>
            <p:ph idx="1" type="body"/>
          </p:nvPr>
        </p:nvSpPr>
        <p:spPr>
          <a:xfrm>
            <a:off x="3879209" y="38072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78" name="Google Shape;1078;p86"/>
          <p:cNvSpPr txBox="1"/>
          <p:nvPr>
            <p:ph idx="1" type="body"/>
          </p:nvPr>
        </p:nvSpPr>
        <p:spPr>
          <a:xfrm>
            <a:off x="3879209" y="245815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079" name="Google Shape;1079;p86"/>
          <p:cNvSpPr/>
          <p:nvPr/>
        </p:nvSpPr>
        <p:spPr>
          <a:xfrm>
            <a:off x="2057400" y="2643625"/>
            <a:ext cx="1931700" cy="1325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0" name="Google Shape;1080;p86"/>
          <p:cNvGrpSpPr/>
          <p:nvPr/>
        </p:nvGrpSpPr>
        <p:grpSpPr>
          <a:xfrm>
            <a:off x="1844016" y="2441479"/>
            <a:ext cx="438000" cy="1719861"/>
            <a:chOff x="1844016" y="2441479"/>
            <a:chExt cx="438000" cy="1719861"/>
          </a:xfrm>
        </p:grpSpPr>
        <p:sp>
          <p:nvSpPr>
            <p:cNvPr id="1081" name="Google Shape;1081;p86"/>
            <p:cNvSpPr/>
            <p:nvPr/>
          </p:nvSpPr>
          <p:spPr>
            <a:xfrm>
              <a:off x="1844016" y="2441479"/>
              <a:ext cx="4380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86"/>
            <p:cNvSpPr/>
            <p:nvPr/>
          </p:nvSpPr>
          <p:spPr>
            <a:xfrm>
              <a:off x="1844016" y="3759339"/>
              <a:ext cx="4380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3" name="Google Shape;1083;p86"/>
          <p:cNvGrpSpPr/>
          <p:nvPr/>
        </p:nvGrpSpPr>
        <p:grpSpPr>
          <a:xfrm>
            <a:off x="4815830" y="1592045"/>
            <a:ext cx="700500" cy="924181"/>
            <a:chOff x="4815830" y="1592045"/>
            <a:chExt cx="700500" cy="924181"/>
          </a:xfrm>
        </p:grpSpPr>
        <p:sp>
          <p:nvSpPr>
            <p:cNvPr id="1084" name="Google Shape;1084;p86"/>
            <p:cNvSpPr/>
            <p:nvPr/>
          </p:nvSpPr>
          <p:spPr>
            <a:xfrm>
              <a:off x="4815830" y="1592045"/>
              <a:ext cx="7005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6"/>
            <p:cNvSpPr/>
            <p:nvPr/>
          </p:nvSpPr>
          <p:spPr>
            <a:xfrm>
              <a:off x="4815830" y="2114225"/>
              <a:ext cx="7005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86"/>
          <p:cNvGrpSpPr/>
          <p:nvPr/>
        </p:nvGrpSpPr>
        <p:grpSpPr>
          <a:xfrm>
            <a:off x="5055661" y="2102984"/>
            <a:ext cx="1081500" cy="924181"/>
            <a:chOff x="4815830" y="1592045"/>
            <a:chExt cx="1081500" cy="924181"/>
          </a:xfrm>
        </p:grpSpPr>
        <p:sp>
          <p:nvSpPr>
            <p:cNvPr id="1087" name="Google Shape;1087;p86"/>
            <p:cNvSpPr/>
            <p:nvPr/>
          </p:nvSpPr>
          <p:spPr>
            <a:xfrm>
              <a:off x="5196830" y="1592045"/>
              <a:ext cx="7005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86"/>
            <p:cNvSpPr/>
            <p:nvPr/>
          </p:nvSpPr>
          <p:spPr>
            <a:xfrm>
              <a:off x="4815830" y="2114225"/>
              <a:ext cx="7005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86"/>
          <p:cNvGrpSpPr/>
          <p:nvPr/>
        </p:nvGrpSpPr>
        <p:grpSpPr>
          <a:xfrm>
            <a:off x="1844016" y="3759339"/>
            <a:ext cx="2343000" cy="402000"/>
            <a:chOff x="1844016" y="3759339"/>
            <a:chExt cx="2343000" cy="402000"/>
          </a:xfrm>
        </p:grpSpPr>
        <p:sp>
          <p:nvSpPr>
            <p:cNvPr id="1090" name="Google Shape;1090;p86"/>
            <p:cNvSpPr/>
            <p:nvPr/>
          </p:nvSpPr>
          <p:spPr>
            <a:xfrm>
              <a:off x="3749016" y="3759339"/>
              <a:ext cx="4380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6"/>
            <p:cNvSpPr/>
            <p:nvPr/>
          </p:nvSpPr>
          <p:spPr>
            <a:xfrm>
              <a:off x="1844016" y="3759339"/>
              <a:ext cx="438000" cy="4020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1096" name="Google Shape;1096;p8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95375"/>
            <a:ext cx="4267200" cy="37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7"/>
          <p:cNvSpPr txBox="1"/>
          <p:nvPr>
            <p:ph idx="1" type="body"/>
          </p:nvPr>
        </p:nvSpPr>
        <p:spPr>
          <a:xfrm>
            <a:off x="4824000" y="1095364"/>
            <a:ext cx="3737700" cy="16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the rectangle’s sides are parallel to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axes we don’t even need the gridlines.</a:t>
            </a:r>
            <a:endParaRPr/>
          </a:p>
        </p:txBody>
      </p:sp>
      <p:sp>
        <p:nvSpPr>
          <p:cNvPr id="1098" name="Google Shape;109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099" name="Google Shape;1099;p87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3755" y="3061423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00" name="Google Shape;1100;p8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614" y="982603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7"/>
          <p:cNvSpPr txBox="1"/>
          <p:nvPr>
            <p:ph idx="1" type="body"/>
          </p:nvPr>
        </p:nvSpPr>
        <p:spPr>
          <a:xfrm>
            <a:off x="4824000" y="2977931"/>
            <a:ext cx="37377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we already know about this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coordinate?</a:t>
            </a:r>
            <a:endParaRPr/>
          </a:p>
        </p:txBody>
      </p:sp>
      <p:sp>
        <p:nvSpPr>
          <p:cNvPr id="1102" name="Google Shape;1102;p87"/>
          <p:cNvSpPr txBox="1"/>
          <p:nvPr>
            <p:ph idx="1" type="body"/>
          </p:nvPr>
        </p:nvSpPr>
        <p:spPr>
          <a:xfrm>
            <a:off x="1474500" y="22183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03" name="Google Shape;1103;p87"/>
          <p:cNvSpPr txBox="1"/>
          <p:nvPr>
            <p:ph idx="1" type="body"/>
          </p:nvPr>
        </p:nvSpPr>
        <p:spPr>
          <a:xfrm>
            <a:off x="1454452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04" name="Google Shape;1104;p87"/>
          <p:cNvSpPr txBox="1"/>
          <p:nvPr>
            <p:ph idx="1" type="body"/>
          </p:nvPr>
        </p:nvSpPr>
        <p:spPr>
          <a:xfrm>
            <a:off x="3486978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05" name="Google Shape;1105;p87"/>
          <p:cNvSpPr txBox="1"/>
          <p:nvPr>
            <p:ph idx="1" type="body"/>
          </p:nvPr>
        </p:nvSpPr>
        <p:spPr>
          <a:xfrm>
            <a:off x="3486978" y="22183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06" name="Google Shape;1106;p87"/>
          <p:cNvSpPr/>
          <p:nvPr/>
        </p:nvSpPr>
        <p:spPr>
          <a:xfrm>
            <a:off x="1580150" y="2403800"/>
            <a:ext cx="2004600" cy="1160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7"/>
          <p:cNvSpPr txBox="1"/>
          <p:nvPr>
            <p:ph idx="1" type="body"/>
          </p:nvPr>
        </p:nvSpPr>
        <p:spPr>
          <a:xfrm>
            <a:off x="645102" y="1891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(-1.1, ? )</a:t>
            </a:r>
            <a:endParaRPr sz="2400"/>
          </a:p>
        </p:txBody>
      </p:sp>
      <p:sp>
        <p:nvSpPr>
          <p:cNvPr id="1108" name="Google Shape;1108;p87"/>
          <p:cNvSpPr txBox="1"/>
          <p:nvPr>
            <p:ph idx="1" type="body"/>
          </p:nvPr>
        </p:nvSpPr>
        <p:spPr>
          <a:xfrm>
            <a:off x="3159702" y="1891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(1.5,0.8)</a:t>
            </a:r>
            <a:endParaRPr sz="2400"/>
          </a:p>
        </p:txBody>
      </p:sp>
      <p:cxnSp>
        <p:nvCxnSpPr>
          <p:cNvPr id="1109" name="Google Shape;1109;p87"/>
          <p:cNvCxnSpPr/>
          <p:nvPr/>
        </p:nvCxnSpPr>
        <p:spPr>
          <a:xfrm rot="10800000">
            <a:off x="2438375" y="2434700"/>
            <a:ext cx="4800" cy="51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0" name="Google Shape;1110;p87"/>
          <p:cNvSpPr txBox="1"/>
          <p:nvPr>
            <p:ph idx="1" type="body"/>
          </p:nvPr>
        </p:nvSpPr>
        <p:spPr>
          <a:xfrm>
            <a:off x="4824000" y="4044718"/>
            <a:ext cx="3737700" cy="4020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0.8 in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direction.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8"/>
          <p:cNvSpPr txBox="1"/>
          <p:nvPr>
            <p:ph idx="1" type="body"/>
          </p:nvPr>
        </p:nvSpPr>
        <p:spPr>
          <a:xfrm>
            <a:off x="5025350" y="968204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we already know about this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1116" name="Google Shape;1116;p8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95375"/>
            <a:ext cx="4267200" cy="37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118" name="Google Shape;1118;p88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1605" y="2989198"/>
            <a:ext cx="156897" cy="141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19" name="Google Shape;1119;p88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614" y="982603"/>
            <a:ext cx="156897" cy="20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88"/>
          <p:cNvSpPr txBox="1"/>
          <p:nvPr>
            <p:ph idx="1" type="body"/>
          </p:nvPr>
        </p:nvSpPr>
        <p:spPr>
          <a:xfrm>
            <a:off x="1474500" y="22183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21" name="Google Shape;1121;p88"/>
          <p:cNvSpPr txBox="1"/>
          <p:nvPr>
            <p:ph idx="1" type="body"/>
          </p:nvPr>
        </p:nvSpPr>
        <p:spPr>
          <a:xfrm>
            <a:off x="1454452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22" name="Google Shape;1122;p88"/>
          <p:cNvSpPr txBox="1"/>
          <p:nvPr>
            <p:ph idx="1" type="body"/>
          </p:nvPr>
        </p:nvSpPr>
        <p:spPr>
          <a:xfrm>
            <a:off x="3486978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23" name="Google Shape;1123;p88"/>
          <p:cNvSpPr txBox="1"/>
          <p:nvPr>
            <p:ph idx="1" type="body"/>
          </p:nvPr>
        </p:nvSpPr>
        <p:spPr>
          <a:xfrm>
            <a:off x="3486978" y="221832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24" name="Google Shape;1124;p88"/>
          <p:cNvSpPr/>
          <p:nvPr/>
        </p:nvSpPr>
        <p:spPr>
          <a:xfrm>
            <a:off x="1580150" y="2403800"/>
            <a:ext cx="2004600" cy="1160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8"/>
          <p:cNvSpPr txBox="1"/>
          <p:nvPr>
            <p:ph idx="1" type="body"/>
          </p:nvPr>
        </p:nvSpPr>
        <p:spPr>
          <a:xfrm>
            <a:off x="568902" y="1891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(-1.1,0.8)</a:t>
            </a:r>
            <a:endParaRPr sz="2400"/>
          </a:p>
        </p:txBody>
      </p:sp>
      <p:sp>
        <p:nvSpPr>
          <p:cNvPr id="1126" name="Google Shape;1126;p88"/>
          <p:cNvSpPr txBox="1"/>
          <p:nvPr>
            <p:ph idx="1" type="body"/>
          </p:nvPr>
        </p:nvSpPr>
        <p:spPr>
          <a:xfrm>
            <a:off x="3159702" y="1891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(1.5,0.8)</a:t>
            </a:r>
            <a:endParaRPr sz="2400"/>
          </a:p>
        </p:txBody>
      </p:sp>
      <p:sp>
        <p:nvSpPr>
          <p:cNvPr id="1127" name="Google Shape;1127;p88"/>
          <p:cNvSpPr txBox="1"/>
          <p:nvPr>
            <p:ph idx="1" type="body"/>
          </p:nvPr>
        </p:nvSpPr>
        <p:spPr>
          <a:xfrm>
            <a:off x="568900" y="3697750"/>
            <a:ext cx="17697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      , -0.9)</a:t>
            </a:r>
            <a:endParaRPr sz="2400"/>
          </a:p>
        </p:txBody>
      </p:sp>
      <p:sp>
        <p:nvSpPr>
          <p:cNvPr id="1128" name="Google Shape;1128;p88"/>
          <p:cNvSpPr txBox="1"/>
          <p:nvPr>
            <p:ph idx="1" type="body"/>
          </p:nvPr>
        </p:nvSpPr>
        <p:spPr>
          <a:xfrm>
            <a:off x="5070675" y="1974530"/>
            <a:ext cx="3737700" cy="4020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-1.1 in the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direction.</a:t>
            </a:r>
            <a:endParaRPr/>
          </a:p>
        </p:txBody>
      </p:sp>
      <p:cxnSp>
        <p:nvCxnSpPr>
          <p:cNvPr id="1129" name="Google Shape;1129;p88"/>
          <p:cNvCxnSpPr/>
          <p:nvPr/>
        </p:nvCxnSpPr>
        <p:spPr>
          <a:xfrm rot="10800000">
            <a:off x="1586800" y="2959425"/>
            <a:ext cx="847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0" name="Google Shape;1130;p88"/>
          <p:cNvSpPr txBox="1"/>
          <p:nvPr/>
        </p:nvSpPr>
        <p:spPr>
          <a:xfrm>
            <a:off x="5030775" y="3846788"/>
            <a:ext cx="4267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-0.9 in the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direction.</a:t>
            </a:r>
            <a:endParaRPr/>
          </a:p>
        </p:txBody>
      </p:sp>
      <p:sp>
        <p:nvSpPr>
          <p:cNvPr id="1131" name="Google Shape;1131;p88"/>
          <p:cNvSpPr txBox="1"/>
          <p:nvPr>
            <p:ph idx="1" type="body"/>
          </p:nvPr>
        </p:nvSpPr>
        <p:spPr>
          <a:xfrm>
            <a:off x="3486978" y="34038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32" name="Google Shape;1132;p88"/>
          <p:cNvSpPr txBox="1"/>
          <p:nvPr>
            <p:ph idx="1" type="body"/>
          </p:nvPr>
        </p:nvSpPr>
        <p:spPr>
          <a:xfrm>
            <a:off x="3159702" y="3688580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(1.5,-0.9)</a:t>
            </a:r>
            <a:endParaRPr sz="2400"/>
          </a:p>
        </p:txBody>
      </p:sp>
      <p:cxnSp>
        <p:nvCxnSpPr>
          <p:cNvPr id="1133" name="Google Shape;1133;p88"/>
          <p:cNvCxnSpPr/>
          <p:nvPr/>
        </p:nvCxnSpPr>
        <p:spPr>
          <a:xfrm flipH="1" rot="10800000">
            <a:off x="2452688" y="2965000"/>
            <a:ext cx="1127400" cy="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88"/>
          <p:cNvCxnSpPr/>
          <p:nvPr/>
        </p:nvCxnSpPr>
        <p:spPr>
          <a:xfrm flipH="1">
            <a:off x="2438425" y="2968025"/>
            <a:ext cx="5700" cy="58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5" name="Google Shape;1135;p88"/>
          <p:cNvSpPr txBox="1"/>
          <p:nvPr/>
        </p:nvSpPr>
        <p:spPr>
          <a:xfrm>
            <a:off x="617250" y="3601275"/>
            <a:ext cx="7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-1.1 </a:t>
            </a:r>
            <a:endParaRPr/>
          </a:p>
        </p:txBody>
      </p:sp>
      <p:sp>
        <p:nvSpPr>
          <p:cNvPr id="1136" name="Google Shape;1136;p88"/>
          <p:cNvSpPr txBox="1"/>
          <p:nvPr/>
        </p:nvSpPr>
        <p:spPr>
          <a:xfrm>
            <a:off x="5030775" y="2701063"/>
            <a:ext cx="3817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we know about the final coordinate?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9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(-1.5,-0.5)</a:t>
            </a:r>
            <a:endParaRPr/>
          </a:p>
        </p:txBody>
      </p:sp>
      <p:sp>
        <p:nvSpPr>
          <p:cNvPr id="1142" name="Google Shape;1142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143" name="Google Shape;1143;p8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fourth coordinate of this square?</a:t>
            </a:r>
            <a:endParaRPr/>
          </a:p>
        </p:txBody>
      </p:sp>
      <p:sp>
        <p:nvSpPr>
          <p:cNvPr id="1144" name="Google Shape;1144;p89"/>
          <p:cNvSpPr txBox="1"/>
          <p:nvPr>
            <p:ph idx="3" type="subTitle"/>
          </p:nvPr>
        </p:nvSpPr>
        <p:spPr>
          <a:xfrm>
            <a:off x="1034425" y="2794252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(-0.5,-1.5)</a:t>
            </a:r>
            <a:endParaRPr/>
          </a:p>
        </p:txBody>
      </p:sp>
      <p:sp>
        <p:nvSpPr>
          <p:cNvPr id="1145" name="Google Shape;1145;p89"/>
          <p:cNvSpPr txBox="1"/>
          <p:nvPr>
            <p:ph idx="4" type="subTitle"/>
          </p:nvPr>
        </p:nvSpPr>
        <p:spPr>
          <a:xfrm>
            <a:off x="1034425" y="3766975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(-1.5,-1)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386a46b0-180d-44b5-8fc0-462b54fc7ac3&quot; data-equatio-type=&quot;desmos&quot;&gt;&lt;mglyph src=&quot;https://equatio-api.texthelp.com/desmos/get/10-10-2023/386a46b0-180d-44b5-8fc0-462b54fc7ac3&quot; alt=&quot;Equatio Desmos Graph&quot;/&gt;&lt;/math&gt;" id="1146" name="Google Shape;1146;p8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86" y="1290550"/>
            <a:ext cx="4031132" cy="35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89"/>
          <p:cNvSpPr txBox="1"/>
          <p:nvPr>
            <p:ph idx="4294967295" type="body"/>
          </p:nvPr>
        </p:nvSpPr>
        <p:spPr>
          <a:xfrm>
            <a:off x="5044675" y="2573226"/>
            <a:ext cx="2097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48" name="Google Shape;1148;p89"/>
          <p:cNvSpPr txBox="1"/>
          <p:nvPr>
            <p:ph idx="4294967295" type="body"/>
          </p:nvPr>
        </p:nvSpPr>
        <p:spPr>
          <a:xfrm>
            <a:off x="5044675" y="3514932"/>
            <a:ext cx="2097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49" name="Google Shape;1149;p89"/>
          <p:cNvSpPr txBox="1"/>
          <p:nvPr>
            <p:ph idx="4294967295" type="body"/>
          </p:nvPr>
        </p:nvSpPr>
        <p:spPr>
          <a:xfrm>
            <a:off x="6156074" y="3514925"/>
            <a:ext cx="1551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50" name="Google Shape;1150;p89"/>
          <p:cNvSpPr txBox="1"/>
          <p:nvPr>
            <p:ph idx="4294967295" type="body"/>
          </p:nvPr>
        </p:nvSpPr>
        <p:spPr>
          <a:xfrm>
            <a:off x="6156074" y="2573225"/>
            <a:ext cx="155100" cy="2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51" name="Google Shape;1151;p89"/>
          <p:cNvSpPr/>
          <p:nvPr/>
        </p:nvSpPr>
        <p:spPr>
          <a:xfrm>
            <a:off x="5125350" y="2759150"/>
            <a:ext cx="1131600" cy="9252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152" name="Google Shape;1152;p89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0558" y="3142550"/>
            <a:ext cx="148692" cy="13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53" name="Google Shape;1153;p8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377" y="1172445"/>
            <a:ext cx="148692" cy="19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89"/>
          <p:cNvSpPr txBox="1"/>
          <p:nvPr>
            <p:ph idx="4294967295" type="body"/>
          </p:nvPr>
        </p:nvSpPr>
        <p:spPr>
          <a:xfrm>
            <a:off x="6283902" y="2272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(0,0.5)</a:t>
            </a:r>
            <a:endParaRPr sz="2400"/>
          </a:p>
        </p:txBody>
      </p:sp>
      <p:sp>
        <p:nvSpPr>
          <p:cNvPr id="1155" name="Google Shape;1155;p89"/>
          <p:cNvSpPr txBox="1"/>
          <p:nvPr>
            <p:ph idx="4294967295" type="body"/>
          </p:nvPr>
        </p:nvSpPr>
        <p:spPr>
          <a:xfrm>
            <a:off x="6283902" y="370862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(0,-1)</a:t>
            </a:r>
            <a:endParaRPr sz="2400"/>
          </a:p>
        </p:txBody>
      </p:sp>
      <p:sp>
        <p:nvSpPr>
          <p:cNvPr id="1156" name="Google Shape;1156;p89"/>
          <p:cNvSpPr txBox="1"/>
          <p:nvPr>
            <p:ph idx="4294967295" type="body"/>
          </p:nvPr>
        </p:nvSpPr>
        <p:spPr>
          <a:xfrm>
            <a:off x="4531302" y="2272059"/>
            <a:ext cx="14319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(-1.5,0.5)</a:t>
            </a:r>
            <a:endParaRPr sz="2400"/>
          </a:p>
        </p:txBody>
      </p:sp>
      <p:pic>
        <p:nvPicPr>
          <p:cNvPr id="1157" name="Google Shape;1157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79292" y="37781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0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(0.95,-0.2)</a:t>
            </a:r>
            <a:endParaRPr/>
          </a:p>
        </p:txBody>
      </p:sp>
      <p:sp>
        <p:nvSpPr>
          <p:cNvPr id="1163" name="Google Shape;1163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164" name="Google Shape;1164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fourth coordinate of this rectangle?</a:t>
            </a:r>
            <a:endParaRPr/>
          </a:p>
        </p:txBody>
      </p:sp>
      <p:sp>
        <p:nvSpPr>
          <p:cNvPr id="1165" name="Google Shape;1165;p90"/>
          <p:cNvSpPr txBox="1"/>
          <p:nvPr>
            <p:ph idx="3" type="subTitle"/>
          </p:nvPr>
        </p:nvSpPr>
        <p:spPr>
          <a:xfrm>
            <a:off x="1034425" y="2794252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(0.95,-1.3)</a:t>
            </a:r>
            <a:endParaRPr/>
          </a:p>
        </p:txBody>
      </p:sp>
      <p:sp>
        <p:nvSpPr>
          <p:cNvPr id="1166" name="Google Shape;1166;p90"/>
          <p:cNvSpPr txBox="1"/>
          <p:nvPr>
            <p:ph idx="4" type="subTitle"/>
          </p:nvPr>
        </p:nvSpPr>
        <p:spPr>
          <a:xfrm>
            <a:off x="1034425" y="3766975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(-0.95,1.3)</a:t>
            </a:r>
            <a:endParaRPr/>
          </a:p>
        </p:txBody>
      </p:sp>
      <p:pic>
        <p:nvPicPr>
          <p:cNvPr id="1167" name="Google Shape;116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692" y="187319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1168" name="Google Shape;1168;p90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284" y="1243095"/>
            <a:ext cx="4090206" cy="3577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69" name="Google Shape;1169;p9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1660" y="3127597"/>
            <a:ext cx="150390" cy="135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70" name="Google Shape;1170;p90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6251" y="1135000"/>
            <a:ext cx="150390" cy="199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90"/>
          <p:cNvSpPr txBox="1"/>
          <p:nvPr>
            <p:ph idx="4294967295" type="body"/>
          </p:nvPr>
        </p:nvSpPr>
        <p:spPr>
          <a:xfrm>
            <a:off x="4731267" y="1938463"/>
            <a:ext cx="263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72" name="Google Shape;1172;p90"/>
          <p:cNvSpPr txBox="1"/>
          <p:nvPr>
            <p:ph idx="4294967295" type="body"/>
          </p:nvPr>
        </p:nvSpPr>
        <p:spPr>
          <a:xfrm>
            <a:off x="4712050" y="3074801"/>
            <a:ext cx="263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73" name="Google Shape;1173;p90"/>
          <p:cNvSpPr txBox="1"/>
          <p:nvPr>
            <p:ph idx="4294967295" type="body"/>
          </p:nvPr>
        </p:nvSpPr>
        <p:spPr>
          <a:xfrm>
            <a:off x="6660272" y="3074801"/>
            <a:ext cx="263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74" name="Google Shape;1174;p90"/>
          <p:cNvSpPr txBox="1"/>
          <p:nvPr>
            <p:ph idx="4294967295" type="body"/>
          </p:nvPr>
        </p:nvSpPr>
        <p:spPr>
          <a:xfrm>
            <a:off x="6660272" y="1938463"/>
            <a:ext cx="2631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75" name="Google Shape;1175;p90"/>
          <p:cNvSpPr/>
          <p:nvPr/>
        </p:nvSpPr>
        <p:spPr>
          <a:xfrm>
            <a:off x="4832535" y="2116251"/>
            <a:ext cx="1921500" cy="1112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0"/>
          <p:cNvSpPr txBox="1"/>
          <p:nvPr>
            <p:ph idx="4294967295" type="body"/>
          </p:nvPr>
        </p:nvSpPr>
        <p:spPr>
          <a:xfrm>
            <a:off x="3863231" y="1624776"/>
            <a:ext cx="13725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(-1.8,1.3)</a:t>
            </a:r>
            <a:endParaRPr sz="2400"/>
          </a:p>
        </p:txBody>
      </p:sp>
      <p:sp>
        <p:nvSpPr>
          <p:cNvPr id="1177" name="Google Shape;1177;p90"/>
          <p:cNvSpPr txBox="1"/>
          <p:nvPr>
            <p:ph idx="4294967295" type="body"/>
          </p:nvPr>
        </p:nvSpPr>
        <p:spPr>
          <a:xfrm>
            <a:off x="6346570" y="1624776"/>
            <a:ext cx="13725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(0.95,1.3)</a:t>
            </a:r>
            <a:endParaRPr sz="2400"/>
          </a:p>
        </p:txBody>
      </p:sp>
      <p:sp>
        <p:nvSpPr>
          <p:cNvPr id="1178" name="Google Shape;1178;p90"/>
          <p:cNvSpPr txBox="1"/>
          <p:nvPr>
            <p:ph idx="4294967295" type="body"/>
          </p:nvPr>
        </p:nvSpPr>
        <p:spPr>
          <a:xfrm>
            <a:off x="3863231" y="3347743"/>
            <a:ext cx="13725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(-1.8,-0.2)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1"/>
          <p:cNvSpPr txBox="1"/>
          <p:nvPr>
            <p:ph idx="1" type="body"/>
          </p:nvPr>
        </p:nvSpPr>
        <p:spPr>
          <a:xfrm>
            <a:off x="4824000" y="1095369"/>
            <a:ext cx="37377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four squares sit between the origin and coordinate (1.5,1.5).</a:t>
            </a:r>
            <a:endParaRPr/>
          </a:p>
        </p:txBody>
      </p:sp>
      <p:sp>
        <p:nvSpPr>
          <p:cNvPr id="1184" name="Google Shape;118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sp>
        <p:nvSpPr>
          <p:cNvPr id="1185" name="Google Shape;1185;p91"/>
          <p:cNvSpPr txBox="1"/>
          <p:nvPr>
            <p:ph idx="1" type="body"/>
          </p:nvPr>
        </p:nvSpPr>
        <p:spPr>
          <a:xfrm>
            <a:off x="4824000" y="243541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this coordinate</a:t>
            </a:r>
            <a:r>
              <a:rPr lang="en-GB"/>
              <a:t>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aa97344-b4d9-4e83-bfe2-d363dc0dd092&quot; data-equatio-type=&quot;desmos&quot;&gt;&lt;mglyph src=&quot;https://equatio-api.texthelp.com/desmos/get/10-10-2023/caa97344-b4d9-4e83-bfe2-d363dc0dd092&quot; alt=&quot;Equatio Desmos Graph&quot;/&gt;&lt;/math&gt;" id="1186" name="Google Shape;1186;p9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105530"/>
            <a:ext cx="4243800" cy="373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87" name="Google Shape;1187;p9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188" name="Google Shape;1188;p9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3883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91"/>
          <p:cNvSpPr txBox="1"/>
          <p:nvPr>
            <p:ph idx="1" type="body"/>
          </p:nvPr>
        </p:nvSpPr>
        <p:spPr>
          <a:xfrm>
            <a:off x="2688875" y="25006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90" name="Google Shape;1190;p91"/>
          <p:cNvSpPr txBox="1"/>
          <p:nvPr>
            <p:ph idx="1" type="body"/>
          </p:nvPr>
        </p:nvSpPr>
        <p:spPr>
          <a:xfrm>
            <a:off x="2897426" y="269798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(1.5,1.5)</a:t>
            </a:r>
            <a:endParaRPr/>
          </a:p>
        </p:txBody>
      </p:sp>
      <p:grpSp>
        <p:nvGrpSpPr>
          <p:cNvPr id="1191" name="Google Shape;1191;p91"/>
          <p:cNvGrpSpPr/>
          <p:nvPr/>
        </p:nvGrpSpPr>
        <p:grpSpPr>
          <a:xfrm>
            <a:off x="680700" y="2667350"/>
            <a:ext cx="2101950" cy="1866450"/>
            <a:chOff x="668000" y="2673700"/>
            <a:chExt cx="2101950" cy="1866450"/>
          </a:xfrm>
        </p:grpSpPr>
        <p:sp>
          <p:nvSpPr>
            <p:cNvPr id="1192" name="Google Shape;1192;p91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91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91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91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6" name="Google Shape;1196;p91"/>
          <p:cNvSpPr txBox="1"/>
          <p:nvPr>
            <p:ph idx="1" type="body"/>
          </p:nvPr>
        </p:nvSpPr>
        <p:spPr>
          <a:xfrm>
            <a:off x="1622075" y="343538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197" name="Google Shape;1197;p91"/>
          <p:cNvSpPr txBox="1"/>
          <p:nvPr>
            <p:ph idx="1" type="body"/>
          </p:nvPr>
        </p:nvSpPr>
        <p:spPr>
          <a:xfrm>
            <a:off x="4824000" y="373081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1.5 ÷ 2 = 0.75</a:t>
            </a:r>
            <a:endParaRPr/>
          </a:p>
        </p:txBody>
      </p:sp>
      <p:sp>
        <p:nvSpPr>
          <p:cNvPr id="1198" name="Google Shape;1198;p91"/>
          <p:cNvSpPr txBox="1"/>
          <p:nvPr>
            <p:ph idx="1" type="body"/>
          </p:nvPr>
        </p:nvSpPr>
        <p:spPr>
          <a:xfrm>
            <a:off x="4950550" y="4222950"/>
            <a:ext cx="1861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(0.75, 0.75)</a:t>
            </a:r>
            <a:endParaRPr/>
          </a:p>
        </p:txBody>
      </p:sp>
      <p:sp>
        <p:nvSpPr>
          <p:cNvPr id="1199" name="Google Shape;1199;p91"/>
          <p:cNvSpPr txBox="1"/>
          <p:nvPr>
            <p:ph idx="1" type="body"/>
          </p:nvPr>
        </p:nvSpPr>
        <p:spPr>
          <a:xfrm>
            <a:off x="4824000" y="2892625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It’s half the journey in both directions.</a:t>
            </a:r>
            <a:endParaRPr/>
          </a:p>
        </p:txBody>
      </p:sp>
      <p:sp>
        <p:nvSpPr>
          <p:cNvPr id="1200" name="Google Shape;1200;p91"/>
          <p:cNvSpPr txBox="1"/>
          <p:nvPr/>
        </p:nvSpPr>
        <p:spPr>
          <a:xfrm>
            <a:off x="1747800" y="31684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(0.75,0.75)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91"/>
          <p:cNvSpPr txBox="1"/>
          <p:nvPr/>
        </p:nvSpPr>
        <p:spPr>
          <a:xfrm>
            <a:off x="1236600" y="3168400"/>
            <a:ext cx="2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2"/>
          <p:cNvSpPr txBox="1"/>
          <p:nvPr>
            <p:ph idx="1" type="body"/>
          </p:nvPr>
        </p:nvSpPr>
        <p:spPr>
          <a:xfrm>
            <a:off x="4824100" y="810000"/>
            <a:ext cx="39960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nine squares sit between the origin and coordinate (2,2).</a:t>
            </a:r>
            <a:endParaRPr/>
          </a:p>
        </p:txBody>
      </p:sp>
      <p:sp>
        <p:nvSpPr>
          <p:cNvPr id="1207" name="Google Shape;120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sp>
        <p:nvSpPr>
          <p:cNvPr id="1208" name="Google Shape;1208;p92"/>
          <p:cNvSpPr txBox="1"/>
          <p:nvPr>
            <p:ph idx="1" type="body"/>
          </p:nvPr>
        </p:nvSpPr>
        <p:spPr>
          <a:xfrm>
            <a:off x="4813915" y="2268190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do you find </a:t>
            </a:r>
            <a:r>
              <a:rPr lang="en-GB"/>
              <a:t>the coordinate for A?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aa97344-b4d9-4e83-bfe2-d363dc0dd092&quot; data-equatio-type=&quot;desmos&quot;&gt;&lt;mglyph src=&quot;https://equatio-api.texthelp.com/desmos/get/10-10-2023/caa97344-b4d9-4e83-bfe2-d363dc0dd092&quot; alt=&quot;Equatio Desmos Graph&quot;/&gt;&lt;/math&gt;" id="1209" name="Google Shape;1209;p9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105530"/>
            <a:ext cx="4243800" cy="373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10" name="Google Shape;1210;p9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211" name="Google Shape;1211;p9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3883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92"/>
          <p:cNvSpPr txBox="1"/>
          <p:nvPr>
            <p:ph idx="1" type="body"/>
          </p:nvPr>
        </p:nvSpPr>
        <p:spPr>
          <a:xfrm>
            <a:off x="3395005" y="189105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213" name="Google Shape;1213;p92"/>
          <p:cNvSpPr txBox="1"/>
          <p:nvPr>
            <p:ph idx="1" type="body"/>
          </p:nvPr>
        </p:nvSpPr>
        <p:spPr>
          <a:xfrm>
            <a:off x="3603557" y="208838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(2,2)</a:t>
            </a:r>
            <a:endParaRPr/>
          </a:p>
        </p:txBody>
      </p:sp>
      <p:sp>
        <p:nvSpPr>
          <p:cNvPr id="1214" name="Google Shape;1214;p92"/>
          <p:cNvSpPr/>
          <p:nvPr/>
        </p:nvSpPr>
        <p:spPr>
          <a:xfrm>
            <a:off x="690890" y="2880487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2"/>
          <p:cNvSpPr/>
          <p:nvPr/>
        </p:nvSpPr>
        <p:spPr>
          <a:xfrm>
            <a:off x="1614425" y="2880487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2"/>
          <p:cNvSpPr/>
          <p:nvPr/>
        </p:nvSpPr>
        <p:spPr>
          <a:xfrm>
            <a:off x="690890" y="3703791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2"/>
          <p:cNvSpPr/>
          <p:nvPr/>
        </p:nvSpPr>
        <p:spPr>
          <a:xfrm>
            <a:off x="1614425" y="3703791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/>
          <p:nvPr/>
        </p:nvSpPr>
        <p:spPr>
          <a:xfrm>
            <a:off x="2544667" y="2880487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2"/>
          <p:cNvSpPr/>
          <p:nvPr/>
        </p:nvSpPr>
        <p:spPr>
          <a:xfrm>
            <a:off x="2544667" y="3703791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2"/>
          <p:cNvSpPr/>
          <p:nvPr/>
        </p:nvSpPr>
        <p:spPr>
          <a:xfrm>
            <a:off x="690890" y="2057755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92"/>
          <p:cNvSpPr/>
          <p:nvPr/>
        </p:nvSpPr>
        <p:spPr>
          <a:xfrm>
            <a:off x="1614425" y="2057755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2"/>
          <p:cNvSpPr/>
          <p:nvPr/>
        </p:nvSpPr>
        <p:spPr>
          <a:xfrm>
            <a:off x="2544667" y="2057755"/>
            <a:ext cx="929100" cy="82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2"/>
          <p:cNvSpPr txBox="1"/>
          <p:nvPr>
            <p:ph idx="1" type="body"/>
          </p:nvPr>
        </p:nvSpPr>
        <p:spPr>
          <a:xfrm>
            <a:off x="1515380" y="35471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224" name="Google Shape;1224;p92"/>
          <p:cNvSpPr txBox="1"/>
          <p:nvPr>
            <p:ph idx="1" type="body"/>
          </p:nvPr>
        </p:nvSpPr>
        <p:spPr>
          <a:xfrm>
            <a:off x="1259876" y="3335135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225" name="Google Shape;1225;p9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2"/>
          <p:cNvSpPr txBox="1"/>
          <p:nvPr>
            <p:ph idx="1" type="body"/>
          </p:nvPr>
        </p:nvSpPr>
        <p:spPr>
          <a:xfrm>
            <a:off x="4884225" y="3323875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one third of the journey to two in both directions!</a:t>
            </a:r>
            <a:endParaRPr/>
          </a:p>
        </p:txBody>
      </p:sp>
      <p:sp>
        <p:nvSpPr>
          <p:cNvPr id="1227" name="Google Shape;1227;p92"/>
          <p:cNvSpPr txBox="1"/>
          <p:nvPr>
            <p:ph idx="1" type="body"/>
          </p:nvPr>
        </p:nvSpPr>
        <p:spPr>
          <a:xfrm>
            <a:off x="4884225" y="4238275"/>
            <a:ext cx="19275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÷ 3 =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228" name="Google Shape;1228;p92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3030" y="4046508"/>
            <a:ext cx="222922" cy="73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9" name="Google Shape;1229;p92"/>
          <p:cNvCxnSpPr/>
          <p:nvPr/>
        </p:nvCxnSpPr>
        <p:spPr>
          <a:xfrm>
            <a:off x="787644" y="4437286"/>
            <a:ext cx="815400" cy="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92"/>
          <p:cNvCxnSpPr/>
          <p:nvPr/>
        </p:nvCxnSpPr>
        <p:spPr>
          <a:xfrm flipH="1" rot="10800000">
            <a:off x="797886" y="3737865"/>
            <a:ext cx="4500" cy="688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left(\frac{2}{3},\frac{2}{3}\right)&quot;&gt;&lt;mrow data-mjx-texclass=&quot;INNER&quot;&gt;&lt;mo data-mjx-texclass=&quot;OPEN&quot;&gt;(&lt;/mo&gt;&lt;mfrac&gt;&lt;mn&gt;2&lt;/mn&gt;&lt;mn&gt;3&lt;/mn&gt;&lt;/mfrac&gt;&lt;mo&gt;,&lt;/mo&gt;&lt;mfrac&gt;&lt;mn&gt;2&lt;/mn&gt;&lt;mn&gt;3&lt;/mn&gt;&lt;/mfrac&gt;&lt;mo data-mjx-texclass=&quot;CLOSE&quot;&gt;)&lt;/mo&gt;&lt;/mrow&gt;&lt;/math&gt;" id="1231" name="Google Shape;1231;p92" title="open paren two thirds comma two thirds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4638" y="3110564"/>
            <a:ext cx="815400" cy="61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c4220ab7-dca9-4faf-856c-d5e117777885&quot; data-equatio-type=&quot;desmos&quot;&gt;&lt;mglyph src=&quot;https://equatio-api.texthelp.com/desmos/get/11-10-2023/c4220ab7-dca9-4faf-856c-d5e117777885&quot; alt=&quot;Equatio Desmos Graph&quot;/&gt;&lt;/math&gt;" id="1236" name="Google Shape;1236;p9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145" y="1467600"/>
            <a:ext cx="3820926" cy="335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coordinate of point A?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Leave your answer in decimal form.</a:t>
            </a:r>
            <a:endParaRPr/>
          </a:p>
        </p:txBody>
      </p:sp>
      <p:sp>
        <p:nvSpPr>
          <p:cNvPr id="1238" name="Google Shape;1238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239" name="Google Shape;1239;p93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(0.1,0.1)</a:t>
            </a:r>
            <a:endParaRPr/>
          </a:p>
        </p:txBody>
      </p:sp>
      <p:sp>
        <p:nvSpPr>
          <p:cNvPr id="1240" name="Google Shape;1240;p93"/>
          <p:cNvSpPr txBox="1"/>
          <p:nvPr>
            <p:ph idx="3" type="subTitle"/>
          </p:nvPr>
        </p:nvSpPr>
        <p:spPr>
          <a:xfrm>
            <a:off x="1034425" y="2794251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(0.25,0.25)</a:t>
            </a:r>
            <a:endParaRPr/>
          </a:p>
        </p:txBody>
      </p:sp>
      <p:sp>
        <p:nvSpPr>
          <p:cNvPr id="1241" name="Google Shape;1241;p93"/>
          <p:cNvSpPr txBox="1"/>
          <p:nvPr>
            <p:ph idx="4" type="subTitle"/>
          </p:nvPr>
        </p:nvSpPr>
        <p:spPr>
          <a:xfrm>
            <a:off x="1034425" y="3766974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242" name="Google Shape;1242;p9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336" y="45262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243" name="Google Shape;1243;p9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4315" y="1497605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3"/>
          <p:cNvSpPr txBox="1"/>
          <p:nvPr>
            <p:ph idx="4294967295" type="body"/>
          </p:nvPr>
        </p:nvSpPr>
        <p:spPr>
          <a:xfrm>
            <a:off x="7830096" y="1981685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grpSp>
        <p:nvGrpSpPr>
          <p:cNvPr id="1245" name="Google Shape;1245;p93"/>
          <p:cNvGrpSpPr/>
          <p:nvPr/>
        </p:nvGrpSpPr>
        <p:grpSpPr>
          <a:xfrm>
            <a:off x="5024151" y="3193889"/>
            <a:ext cx="1353235" cy="1216925"/>
            <a:chOff x="668000" y="2673700"/>
            <a:chExt cx="2101950" cy="1866450"/>
          </a:xfrm>
        </p:grpSpPr>
        <p:sp>
          <p:nvSpPr>
            <p:cNvPr id="1246" name="Google Shape;1246;p93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93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93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93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0" name="Google Shape;1250;p93"/>
          <p:cNvGrpSpPr/>
          <p:nvPr/>
        </p:nvGrpSpPr>
        <p:grpSpPr>
          <a:xfrm>
            <a:off x="5024151" y="1981757"/>
            <a:ext cx="1353235" cy="1216925"/>
            <a:chOff x="668000" y="2673700"/>
            <a:chExt cx="2101950" cy="1866450"/>
          </a:xfrm>
        </p:grpSpPr>
        <p:sp>
          <p:nvSpPr>
            <p:cNvPr id="1251" name="Google Shape;1251;p93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93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93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93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5" name="Google Shape;1255;p93"/>
          <p:cNvGrpSpPr/>
          <p:nvPr/>
        </p:nvGrpSpPr>
        <p:grpSpPr>
          <a:xfrm>
            <a:off x="6384496" y="3193889"/>
            <a:ext cx="1353235" cy="1216925"/>
            <a:chOff x="668000" y="2673700"/>
            <a:chExt cx="2101950" cy="1866450"/>
          </a:xfrm>
        </p:grpSpPr>
        <p:sp>
          <p:nvSpPr>
            <p:cNvPr id="1256" name="Google Shape;1256;p93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93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93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93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93"/>
          <p:cNvGrpSpPr/>
          <p:nvPr/>
        </p:nvGrpSpPr>
        <p:grpSpPr>
          <a:xfrm>
            <a:off x="6384496" y="1981757"/>
            <a:ext cx="1353235" cy="1216925"/>
            <a:chOff x="668000" y="2673700"/>
            <a:chExt cx="2101950" cy="1866450"/>
          </a:xfrm>
        </p:grpSpPr>
        <p:sp>
          <p:nvSpPr>
            <p:cNvPr id="1261" name="Google Shape;1261;p93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2" name="Google Shape;1262;p93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93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93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5" name="Google Shape;1265;p93"/>
          <p:cNvSpPr txBox="1"/>
          <p:nvPr>
            <p:ph idx="4294967295" type="body"/>
          </p:nvPr>
        </p:nvSpPr>
        <p:spPr>
          <a:xfrm>
            <a:off x="7621545" y="1784364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266" name="Google Shape;1266;p93"/>
          <p:cNvSpPr txBox="1"/>
          <p:nvPr>
            <p:ph idx="4294967295" type="body"/>
          </p:nvPr>
        </p:nvSpPr>
        <p:spPr>
          <a:xfrm>
            <a:off x="5589520" y="363853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267" name="Google Shape;1267;p93"/>
          <p:cNvSpPr txBox="1"/>
          <p:nvPr>
            <p:ph idx="4294967295" type="body"/>
          </p:nvPr>
        </p:nvSpPr>
        <p:spPr>
          <a:xfrm>
            <a:off x="5772699" y="379016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pic>
        <p:nvPicPr>
          <p:cNvPr id="1268" name="Google Shape;1268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0292" y="27875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c4220ab7-dca9-4faf-856c-d5e117777885&quot; data-equatio-type=&quot;desmos&quot;&gt;&lt;mglyph src=&quot;https://equatio-api.texthelp.com/desmos/get/11-10-2023/c4220ab7-dca9-4faf-856c-d5e117777885&quot; alt=&quot;Equatio Desmos Graph&quot;/&gt;&lt;/math&gt;" id="1273" name="Google Shape;1273;p9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145" y="1467600"/>
            <a:ext cx="3820926" cy="335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</a:t>
            </a:r>
            <a:r>
              <a:rPr lang="en-GB"/>
              <a:t> coordinate of B?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Leave your answer in decimal form.</a:t>
            </a:r>
            <a:endParaRPr/>
          </a:p>
        </p:txBody>
      </p:sp>
      <p:sp>
        <p:nvSpPr>
          <p:cNvPr id="1275" name="Google Shape;1275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276" name="Google Shape;1276;p94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(1,3)</a:t>
            </a:r>
            <a:endParaRPr/>
          </a:p>
        </p:txBody>
      </p:sp>
      <p:sp>
        <p:nvSpPr>
          <p:cNvPr id="1277" name="Google Shape;1277;p94"/>
          <p:cNvSpPr txBox="1"/>
          <p:nvPr>
            <p:ph idx="3" type="subTitle"/>
          </p:nvPr>
        </p:nvSpPr>
        <p:spPr>
          <a:xfrm>
            <a:off x="1034425" y="2794251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(0.25,0.75)</a:t>
            </a:r>
            <a:endParaRPr/>
          </a:p>
        </p:txBody>
      </p:sp>
      <p:sp>
        <p:nvSpPr>
          <p:cNvPr id="1278" name="Google Shape;1278;p94"/>
          <p:cNvSpPr txBox="1"/>
          <p:nvPr>
            <p:ph idx="4" type="subTitle"/>
          </p:nvPr>
        </p:nvSpPr>
        <p:spPr>
          <a:xfrm>
            <a:off x="1034425" y="3766974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(0.75,0.75)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279" name="Google Shape;1279;p94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336" y="45262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280" name="Google Shape;1280;p9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4315" y="1507770"/>
            <a:ext cx="170064" cy="22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94"/>
          <p:cNvSpPr txBox="1"/>
          <p:nvPr>
            <p:ph idx="4294967295" type="body"/>
          </p:nvPr>
        </p:nvSpPr>
        <p:spPr>
          <a:xfrm>
            <a:off x="7830096" y="1981685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grpSp>
        <p:nvGrpSpPr>
          <p:cNvPr id="1282" name="Google Shape;1282;p94"/>
          <p:cNvGrpSpPr/>
          <p:nvPr/>
        </p:nvGrpSpPr>
        <p:grpSpPr>
          <a:xfrm>
            <a:off x="5024151" y="3193889"/>
            <a:ext cx="1353235" cy="1216925"/>
            <a:chOff x="668000" y="2673700"/>
            <a:chExt cx="2101950" cy="1866450"/>
          </a:xfrm>
        </p:grpSpPr>
        <p:sp>
          <p:nvSpPr>
            <p:cNvPr id="1283" name="Google Shape;1283;p94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94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94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94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94"/>
          <p:cNvGrpSpPr/>
          <p:nvPr/>
        </p:nvGrpSpPr>
        <p:grpSpPr>
          <a:xfrm>
            <a:off x="5024151" y="1981757"/>
            <a:ext cx="1353235" cy="1216925"/>
            <a:chOff x="668000" y="2673700"/>
            <a:chExt cx="2101950" cy="1866450"/>
          </a:xfrm>
        </p:grpSpPr>
        <p:sp>
          <p:nvSpPr>
            <p:cNvPr id="1288" name="Google Shape;1288;p94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94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94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94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2" name="Google Shape;1292;p94"/>
          <p:cNvGrpSpPr/>
          <p:nvPr/>
        </p:nvGrpSpPr>
        <p:grpSpPr>
          <a:xfrm>
            <a:off x="6384496" y="3193889"/>
            <a:ext cx="1353235" cy="1216925"/>
            <a:chOff x="668000" y="2673700"/>
            <a:chExt cx="2101950" cy="1866450"/>
          </a:xfrm>
        </p:grpSpPr>
        <p:sp>
          <p:nvSpPr>
            <p:cNvPr id="1293" name="Google Shape;1293;p94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94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94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94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94"/>
          <p:cNvGrpSpPr/>
          <p:nvPr/>
        </p:nvGrpSpPr>
        <p:grpSpPr>
          <a:xfrm>
            <a:off x="6384496" y="1981757"/>
            <a:ext cx="1353235" cy="1216925"/>
            <a:chOff x="668000" y="2673700"/>
            <a:chExt cx="2101950" cy="1866450"/>
          </a:xfrm>
        </p:grpSpPr>
        <p:sp>
          <p:nvSpPr>
            <p:cNvPr id="1298" name="Google Shape;1298;p94"/>
            <p:cNvSpPr/>
            <p:nvPr/>
          </p:nvSpPr>
          <p:spPr>
            <a:xfrm>
              <a:off x="66800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94"/>
            <p:cNvSpPr/>
            <p:nvPr/>
          </p:nvSpPr>
          <p:spPr>
            <a:xfrm>
              <a:off x="1715750" y="267370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94"/>
            <p:cNvSpPr/>
            <p:nvPr/>
          </p:nvSpPr>
          <p:spPr>
            <a:xfrm>
              <a:off x="66800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94"/>
            <p:cNvSpPr/>
            <p:nvPr/>
          </p:nvSpPr>
          <p:spPr>
            <a:xfrm>
              <a:off x="1715750" y="3607150"/>
              <a:ext cx="1054200" cy="9330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2" name="Google Shape;1302;p94"/>
          <p:cNvSpPr txBox="1"/>
          <p:nvPr>
            <p:ph idx="4294967295" type="body"/>
          </p:nvPr>
        </p:nvSpPr>
        <p:spPr>
          <a:xfrm>
            <a:off x="7621545" y="1784364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03" name="Google Shape;1303;p94"/>
          <p:cNvSpPr txBox="1"/>
          <p:nvPr>
            <p:ph idx="4294967295" type="body"/>
          </p:nvPr>
        </p:nvSpPr>
        <p:spPr>
          <a:xfrm>
            <a:off x="5589520" y="241933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04" name="Google Shape;1304;p94"/>
          <p:cNvSpPr txBox="1"/>
          <p:nvPr>
            <p:ph idx="4294967295" type="body"/>
          </p:nvPr>
        </p:nvSpPr>
        <p:spPr>
          <a:xfrm>
            <a:off x="5772699" y="257096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305" name="Google Shape;1305;p94"/>
          <p:cNvSpPr txBox="1"/>
          <p:nvPr>
            <p:ph idx="4294967295" type="body"/>
          </p:nvPr>
        </p:nvSpPr>
        <p:spPr>
          <a:xfrm>
            <a:off x="5716825" y="3851145"/>
            <a:ext cx="13533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(0.25,0.25)</a:t>
            </a:r>
            <a:endParaRPr sz="1800"/>
          </a:p>
        </p:txBody>
      </p:sp>
      <p:sp>
        <p:nvSpPr>
          <p:cNvPr id="1306" name="Google Shape;1306;p94"/>
          <p:cNvSpPr txBox="1"/>
          <p:nvPr>
            <p:ph idx="4294967295" type="body"/>
          </p:nvPr>
        </p:nvSpPr>
        <p:spPr>
          <a:xfrm>
            <a:off x="5584475" y="36233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pic>
        <p:nvPicPr>
          <p:cNvPr id="1307" name="Google Shape;1307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0292" y="278759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33a09816-cc59-4a35-9b71-31c57e38e12a&quot; data-equatio-type=&quot;desmos&quot;&gt;&lt;mglyph src=&quot;https://equatio-api.texthelp.com/desmos/get/11-10-2023/33a09816-cc59-4a35-9b71-31c57e38e12a&quot; alt=&quot;Equatio Desmos Graph&quot;/&gt;&lt;/math&gt;" id="1313" name="Google Shape;1313;p9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00" y="1080875"/>
            <a:ext cx="4243800" cy="3739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4" name="Google Shape;1314;p95"/>
          <p:cNvCxnSpPr/>
          <p:nvPr/>
        </p:nvCxnSpPr>
        <p:spPr>
          <a:xfrm flipH="1" rot="10800000">
            <a:off x="1252325" y="1965900"/>
            <a:ext cx="1189200" cy="262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5" name="Google Shape;1315;p95"/>
          <p:cNvCxnSpPr/>
          <p:nvPr/>
        </p:nvCxnSpPr>
        <p:spPr>
          <a:xfrm rot="10800000">
            <a:off x="2471525" y="1965900"/>
            <a:ext cx="1189200" cy="262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95"/>
          <p:cNvCxnSpPr/>
          <p:nvPr/>
        </p:nvCxnSpPr>
        <p:spPr>
          <a:xfrm flipH="1">
            <a:off x="1252325" y="4588500"/>
            <a:ext cx="2408400" cy="1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95"/>
          <p:cNvCxnSpPr/>
          <p:nvPr/>
        </p:nvCxnSpPr>
        <p:spPr>
          <a:xfrm flipH="1">
            <a:off x="2918485" y="3211100"/>
            <a:ext cx="341400" cy="16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8" name="Google Shape;1318;p95"/>
          <p:cNvCxnSpPr/>
          <p:nvPr/>
        </p:nvCxnSpPr>
        <p:spPr>
          <a:xfrm>
            <a:off x="1668790" y="3211100"/>
            <a:ext cx="341400" cy="16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9" name="Google Shape;1319;p95"/>
          <p:cNvSpPr txBox="1"/>
          <p:nvPr>
            <p:ph idx="1" type="body"/>
          </p:nvPr>
        </p:nvSpPr>
        <p:spPr>
          <a:xfrm>
            <a:off x="4824000" y="1095375"/>
            <a:ext cx="39960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three coordinates form an isosceles triangle.</a:t>
            </a:r>
            <a:endParaRPr/>
          </a:p>
        </p:txBody>
      </p:sp>
      <p:sp>
        <p:nvSpPr>
          <p:cNvPr id="1320" name="Google Shape;1320;p95"/>
          <p:cNvSpPr txBox="1"/>
          <p:nvPr>
            <p:ph idx="1" type="body"/>
          </p:nvPr>
        </p:nvSpPr>
        <p:spPr>
          <a:xfrm>
            <a:off x="4824000" y="2130625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 coordinate.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321" name="Google Shape;1321;p95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22" name="Google Shape;1322;p9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38830"/>
            <a:ext cx="170064" cy="225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95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>
            <a:off x="1079855" y="3941150"/>
            <a:ext cx="1662544" cy="63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95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>
            <a:off x="2283510" y="3941150"/>
            <a:ext cx="1662544" cy="632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5" name="Google Shape;1325;p95"/>
          <p:cNvGrpSpPr/>
          <p:nvPr/>
        </p:nvGrpSpPr>
        <p:grpSpPr>
          <a:xfrm>
            <a:off x="1814302" y="1510688"/>
            <a:ext cx="200733" cy="315000"/>
            <a:chOff x="1771375" y="1472588"/>
            <a:chExt cx="229200" cy="315000"/>
          </a:xfrm>
        </p:grpSpPr>
        <p:sp>
          <p:nvSpPr>
            <p:cNvPr id="1326" name="Google Shape;1326;p95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7" name="Google Shape;1327;p95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28" name="Google Shape;1328;p95"/>
          <p:cNvSpPr txBox="1"/>
          <p:nvPr>
            <p:ph idx="1" type="body"/>
          </p:nvPr>
        </p:nvSpPr>
        <p:spPr>
          <a:xfrm>
            <a:off x="4824000" y="3197425"/>
            <a:ext cx="38793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think of it as half the leap from 1 to 5 therefore 3.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33a09816-cc59-4a35-9b71-31c57e38e12a&quot; data-equatio-type=&quot;desmos&quot;&gt;&lt;mglyph src=&quot;https://equatio-api.texthelp.com/desmos/get/11-10-2023/33a09816-cc59-4a35-9b71-31c57e38e12a&quot; alt=&quot;Equatio Desmos Graph&quot;/&gt;&lt;/math&gt;" id="1333" name="Google Shape;1333;p9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00" y="1080875"/>
            <a:ext cx="4243800" cy="373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hapes with non-integer value coordinates</a:t>
            </a:r>
            <a:endParaRPr/>
          </a:p>
        </p:txBody>
      </p:sp>
      <p:grpSp>
        <p:nvGrpSpPr>
          <p:cNvPr id="1335" name="Google Shape;1335;p96"/>
          <p:cNvGrpSpPr/>
          <p:nvPr/>
        </p:nvGrpSpPr>
        <p:grpSpPr>
          <a:xfrm>
            <a:off x="1252325" y="1965900"/>
            <a:ext cx="2408400" cy="2632800"/>
            <a:chOff x="1252325" y="1965900"/>
            <a:chExt cx="2408400" cy="2632800"/>
          </a:xfrm>
        </p:grpSpPr>
        <p:cxnSp>
          <p:nvCxnSpPr>
            <p:cNvPr id="1336" name="Google Shape;1336;p96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7" name="Google Shape;1337;p96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8" name="Google Shape;1338;p96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9" name="Google Shape;1339;p96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0" name="Google Shape;1340;p96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41" name="Google Shape;1341;p96"/>
          <p:cNvSpPr txBox="1"/>
          <p:nvPr>
            <p:ph idx="1" type="body"/>
          </p:nvPr>
        </p:nvSpPr>
        <p:spPr>
          <a:xfrm>
            <a:off x="4824000" y="1095375"/>
            <a:ext cx="39960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three coordinates form an isosceles triangle.</a:t>
            </a:r>
            <a:endParaRPr/>
          </a:p>
        </p:txBody>
      </p:sp>
      <p:sp>
        <p:nvSpPr>
          <p:cNvPr id="1342" name="Google Shape;1342;p96"/>
          <p:cNvSpPr txBox="1"/>
          <p:nvPr>
            <p:ph idx="1" type="body"/>
          </p:nvPr>
        </p:nvSpPr>
        <p:spPr>
          <a:xfrm>
            <a:off x="4824000" y="2130625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  coordinate.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343" name="Google Shape;1343;p96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44" name="Google Shape;1344;p9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75" y="93883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6"/>
          <p:cNvSpPr txBox="1"/>
          <p:nvPr>
            <p:ph idx="1" type="body"/>
          </p:nvPr>
        </p:nvSpPr>
        <p:spPr>
          <a:xfrm>
            <a:off x="4824000" y="3197425"/>
            <a:ext cx="38793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might think of it as the midpoint of 1 and 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+5}{2}=3&quot;&gt;&lt;mfrac&gt;&lt;mrow&gt;&lt;mn&gt;1&lt;/mn&gt;&lt;mo&gt;+&lt;/mo&gt;&lt;mn&gt;5&lt;/mn&gt;&lt;/mrow&gt;&lt;mn&gt;2&lt;/mn&gt;&lt;/mfrac&gt;&lt;mo&gt;=&lt;/mo&gt;&lt;mn&gt;3&lt;/mn&gt;&lt;/math&gt;" id="1346" name="Google Shape;1346;p96" title="the fraction with numerator 1 plus 5 and denominator 2 equals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9320" y="4193165"/>
            <a:ext cx="1475300" cy="7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2-10-2023/2705d47f-0808-45f1-8765-03e4e483780a&quot; data-equatio-type=&quot;desmos&quot;&gt;&lt;mglyph src=&quot;https://equatio-api.texthelp.com/desmos/get/12-10-2023/2705d47f-0808-45f1-8765-03e4e483780a&quot; alt=&quot;Equatio Desmos Graph&quot;/&gt;&lt;/math&gt;" id="1351" name="Google Shape;1351;p9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75" y="1095375"/>
            <a:ext cx="4243800" cy="37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353" name="Google Shape;1353;p97"/>
          <p:cNvSpPr txBox="1"/>
          <p:nvPr>
            <p:ph idx="1" type="body"/>
          </p:nvPr>
        </p:nvSpPr>
        <p:spPr>
          <a:xfrm>
            <a:off x="4824000" y="1095375"/>
            <a:ext cx="39960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three coordinates form an isosceles triangle.</a:t>
            </a:r>
            <a:endParaRPr/>
          </a:p>
        </p:txBody>
      </p:sp>
      <p:sp>
        <p:nvSpPr>
          <p:cNvPr id="1354" name="Google Shape;1354;p97"/>
          <p:cNvSpPr txBox="1"/>
          <p:nvPr>
            <p:ph idx="1" type="body"/>
          </p:nvPr>
        </p:nvSpPr>
        <p:spPr>
          <a:xfrm>
            <a:off x="4824000" y="2130625"/>
            <a:ext cx="39960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   coordinate.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355" name="Google Shape;1355;p97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736" y="460243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56" name="Google Shape;1356;p9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975" y="1015030"/>
            <a:ext cx="170064" cy="2255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7" name="Google Shape;1357;p97"/>
          <p:cNvGrpSpPr/>
          <p:nvPr/>
        </p:nvGrpSpPr>
        <p:grpSpPr>
          <a:xfrm>
            <a:off x="1563332" y="1510700"/>
            <a:ext cx="480632" cy="315000"/>
            <a:chOff x="1771375" y="1472588"/>
            <a:chExt cx="229200" cy="315000"/>
          </a:xfrm>
        </p:grpSpPr>
        <p:sp>
          <p:nvSpPr>
            <p:cNvPr id="1358" name="Google Shape;1358;p97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9" name="Google Shape;1359;p97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0" name="Google Shape;1360;p97"/>
          <p:cNvGrpSpPr/>
          <p:nvPr/>
        </p:nvGrpSpPr>
        <p:grpSpPr>
          <a:xfrm>
            <a:off x="1529601" y="1965900"/>
            <a:ext cx="2011014" cy="2632800"/>
            <a:chOff x="1252325" y="1965900"/>
            <a:chExt cx="2408400" cy="2632800"/>
          </a:xfrm>
        </p:grpSpPr>
        <p:cxnSp>
          <p:nvCxnSpPr>
            <p:cNvPr id="1361" name="Google Shape;1361;p97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2" name="Google Shape;1362;p97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3" name="Google Shape;1363;p97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4" name="Google Shape;1364;p97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5" name="Google Shape;1365;p97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11+30}{2}=\frac{41}{2}=20.5&quot;&gt;&lt;mfrac&gt;&lt;mrow&gt;&lt;mn&gt;11&lt;/mn&gt;&lt;mo&gt;+&lt;/mo&gt;&lt;mn&gt;30&lt;/mn&gt;&lt;/mrow&gt;&lt;mn&gt;2&lt;/mn&gt;&lt;/mfrac&gt;&lt;mo&gt;=&lt;/mo&gt;&lt;mfrac&gt;&lt;mn&gt;41&lt;/mn&gt;&lt;mn&gt;2&lt;/mn&gt;&lt;/mfrac&gt;&lt;mo&gt;=&lt;/mo&gt;&lt;mn&gt;20.5&lt;/mn&gt;&lt;/math&gt;" id="1366" name="Google Shape;1366;p97" title="the fraction with numerator 11 plus 30 and denominator 2 equals 41 over 2 equals 20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1953" y="3103325"/>
            <a:ext cx="3164771" cy="7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5739c7c6-5c3d-45d5-81f7-f448b41d75b5&quot; data-equatio-type=&quot;desmos&quot;&gt;&lt;mglyph src=&quot;https://equatio-api.texthelp.com/desmos/get/11-10-2023/5739c7c6-5c3d-45d5-81f7-f448b41d75b5&quot; alt=&quot;Equatio Desmos Graph&quot;/&gt;&lt;/math&gt;" id="1371" name="Google Shape;1371;p9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625" y="1091225"/>
            <a:ext cx="3691200" cy="33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8"/>
          <p:cNvSpPr/>
          <p:nvPr/>
        </p:nvSpPr>
        <p:spPr>
          <a:xfrm>
            <a:off x="5774829" y="2255140"/>
            <a:ext cx="1808100" cy="1047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1373" name="Google Shape;1373;p98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85" y="1062608"/>
            <a:ext cx="3849144" cy="33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98"/>
          <p:cNvSpPr/>
          <p:nvPr/>
        </p:nvSpPr>
        <p:spPr>
          <a:xfrm>
            <a:off x="1588075" y="2250249"/>
            <a:ext cx="981300" cy="1935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98"/>
          <p:cNvSpPr txBox="1"/>
          <p:nvPr>
            <p:ph idx="1" type="body"/>
          </p:nvPr>
        </p:nvSpPr>
        <p:spPr>
          <a:xfrm>
            <a:off x="324000" y="759300"/>
            <a:ext cx="82377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 of these rectangles.</a:t>
            </a:r>
            <a:endParaRPr/>
          </a:p>
        </p:txBody>
      </p:sp>
      <p:sp>
        <p:nvSpPr>
          <p:cNvPr id="1376" name="Google Shape;1376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377" name="Google Shape;1377;p9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7421" y="2836047"/>
            <a:ext cx="141526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78" name="Google Shape;1378;p98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3759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98"/>
          <p:cNvSpPr txBox="1"/>
          <p:nvPr>
            <p:ph idx="4294967295" type="body"/>
          </p:nvPr>
        </p:nvSpPr>
        <p:spPr>
          <a:xfrm>
            <a:off x="1478812" y="207262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80" name="Google Shape;1380;p98"/>
          <p:cNvSpPr txBox="1"/>
          <p:nvPr>
            <p:ph idx="4294967295" type="body"/>
          </p:nvPr>
        </p:nvSpPr>
        <p:spPr>
          <a:xfrm>
            <a:off x="1465773" y="4010683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81" name="Google Shape;1381;p98"/>
          <p:cNvSpPr txBox="1"/>
          <p:nvPr>
            <p:ph idx="4294967295" type="body"/>
          </p:nvPr>
        </p:nvSpPr>
        <p:spPr>
          <a:xfrm>
            <a:off x="2460898" y="4020999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82" name="Google Shape;1382;p98"/>
          <p:cNvSpPr txBox="1"/>
          <p:nvPr>
            <p:ph idx="4294967295" type="body"/>
          </p:nvPr>
        </p:nvSpPr>
        <p:spPr>
          <a:xfrm>
            <a:off x="2481228" y="2082936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83" name="Google Shape;1383;p98"/>
          <p:cNvSpPr txBox="1"/>
          <p:nvPr>
            <p:ph idx="4294967295" type="body"/>
          </p:nvPr>
        </p:nvSpPr>
        <p:spPr>
          <a:xfrm>
            <a:off x="479040" y="1787586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(-1.1,0.9)</a:t>
            </a:r>
            <a:endParaRPr/>
          </a:p>
        </p:txBody>
      </p:sp>
      <p:sp>
        <p:nvSpPr>
          <p:cNvPr id="1384" name="Google Shape;1384;p98"/>
          <p:cNvSpPr txBox="1"/>
          <p:nvPr>
            <p:ph idx="4294967295" type="body"/>
          </p:nvPr>
        </p:nvSpPr>
        <p:spPr>
          <a:xfrm>
            <a:off x="2628005" y="1797901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(0.4,0.9)</a:t>
            </a:r>
            <a:endParaRPr/>
          </a:p>
        </p:txBody>
      </p:sp>
      <p:sp>
        <p:nvSpPr>
          <p:cNvPr id="1385" name="Google Shape;1385;p98"/>
          <p:cNvSpPr txBox="1"/>
          <p:nvPr>
            <p:ph idx="4294967295" type="body"/>
          </p:nvPr>
        </p:nvSpPr>
        <p:spPr>
          <a:xfrm>
            <a:off x="346895" y="3698511"/>
            <a:ext cx="1395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(-1.1,-2.3)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386" name="Google Shape;1386;p9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0869" y="2836047"/>
            <a:ext cx="141526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387" name="Google Shape;1387;p98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8362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98"/>
          <p:cNvSpPr txBox="1"/>
          <p:nvPr>
            <p:ph idx="4294967295" type="body"/>
          </p:nvPr>
        </p:nvSpPr>
        <p:spPr>
          <a:xfrm>
            <a:off x="5679530" y="208783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89" name="Google Shape;1389;p98"/>
          <p:cNvSpPr txBox="1"/>
          <p:nvPr>
            <p:ph idx="4294967295" type="body"/>
          </p:nvPr>
        </p:nvSpPr>
        <p:spPr>
          <a:xfrm>
            <a:off x="5661446" y="3157198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90" name="Google Shape;1390;p98"/>
          <p:cNvSpPr txBox="1"/>
          <p:nvPr>
            <p:ph idx="4294967295" type="body"/>
          </p:nvPr>
        </p:nvSpPr>
        <p:spPr>
          <a:xfrm>
            <a:off x="7494846" y="3157198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91" name="Google Shape;1391;p98"/>
          <p:cNvSpPr txBox="1"/>
          <p:nvPr>
            <p:ph idx="4294967295" type="body"/>
          </p:nvPr>
        </p:nvSpPr>
        <p:spPr>
          <a:xfrm>
            <a:off x="7494846" y="208783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392" name="Google Shape;1392;p98"/>
          <p:cNvSpPr txBox="1"/>
          <p:nvPr>
            <p:ph idx="4294967295" type="body"/>
          </p:nvPr>
        </p:nvSpPr>
        <p:spPr>
          <a:xfrm>
            <a:off x="2628005" y="3702901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(0.4,-2.3)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frac{-20}{3},\frac{-9}{4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row&gt;&lt;mo&gt;−&lt;/mo&gt;&lt;mn&gt;9&lt;/mn&gt;&lt;/mrow&gt;&lt;mn&gt;4&lt;/mn&gt;&lt;/mfrac&gt;&lt;mo data-mjx-texclass=&quot;CLOSE&quot;&gt;)&lt;/mo&gt;&lt;/mrow&gt;&lt;/math&gt;" id="1393" name="Google Shape;1393;p98" title="open paren negative 20 over 3 comma negative 9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6775" y="3458589"/>
            <a:ext cx="1301149" cy="619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20}{3},\frac{11}{5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n&gt;11&lt;/mn&gt;&lt;mn&gt;5&lt;/mn&gt;&lt;/mfrac&gt;&lt;mo data-mjx-texclass=&quot;CLOSE&quot;&gt;)&lt;/mo&gt;&lt;/mrow&gt;&lt;/math&gt;" id="1394" name="Google Shape;1394;p98" title="open paren negative 20 over 3 comma eleven fifths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7671" y="1550887"/>
            <a:ext cx="1255236" cy="61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11}{5}\right)&quot;&gt;&lt;mrow data-mjx-texclass=&quot;INNER&quot;&gt;&lt;mo data-mjx-texclass=&quot;OPEN&quot;&gt;(&lt;/mo&gt;&lt;mfrac&gt;&lt;mn&gt;7&lt;/mn&gt;&lt;mn&gt;3&lt;/mn&gt;&lt;/mfrac&gt;&lt;mo&gt;,&lt;/mo&gt;&lt;mfrac&gt;&lt;mn&gt;11&lt;/mn&gt;&lt;mn&gt;5&lt;/mn&gt;&lt;/mfrac&gt;&lt;mo data-mjx-texclass=&quot;CLOSE&quot;&gt;)&lt;/mo&gt;&lt;/mrow&gt;&lt;/math&gt;" id="1395" name="Google Shape;1395;p98" title="open paren seven thirds comma eleven fifths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65026" y="1519250"/>
            <a:ext cx="996472" cy="644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-9}{4}\right)&quot;&gt;&lt;mrow data-mjx-texclass=&quot;INNER&quot;&gt;&lt;mo data-mjx-texclass=&quot;OPEN&quot;&gt;(&lt;/mo&gt;&lt;mfrac&gt;&lt;mn&gt;7&lt;/mn&gt;&lt;mn&gt;3&lt;/mn&gt;&lt;/mfrac&gt;&lt;mo&gt;,&lt;/mo&gt;&lt;mfrac&gt;&lt;mrow&gt;&lt;mo&gt;−&lt;/mo&gt;&lt;mn&gt;9&lt;/mn&gt;&lt;/mrow&gt;&lt;mn&gt;4&lt;/mn&gt;&lt;/mfrac&gt;&lt;mo data-mjx-texclass=&quot;CLOSE&quot;&gt;)&lt;/mo&gt;&lt;/mrow&gt;&lt;/math&gt;" id="1396" name="Google Shape;1396;p98" title="open paren seven thirds comma negative 9 over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58498" y="3465182"/>
            <a:ext cx="1044303" cy="644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7" name="Google Shape;1397;p98"/>
          <p:cNvGrpSpPr/>
          <p:nvPr/>
        </p:nvGrpSpPr>
        <p:grpSpPr>
          <a:xfrm>
            <a:off x="601611" y="1815500"/>
            <a:ext cx="421040" cy="315000"/>
            <a:chOff x="1771375" y="1472588"/>
            <a:chExt cx="229200" cy="315000"/>
          </a:xfrm>
        </p:grpSpPr>
        <p:sp>
          <p:nvSpPr>
            <p:cNvPr id="1398" name="Google Shape;1398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9" name="Google Shape;1399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0" name="Google Shape;1400;p98"/>
          <p:cNvGrpSpPr/>
          <p:nvPr/>
        </p:nvGrpSpPr>
        <p:grpSpPr>
          <a:xfrm>
            <a:off x="3202652" y="1815500"/>
            <a:ext cx="421040" cy="315000"/>
            <a:chOff x="1771375" y="1472588"/>
            <a:chExt cx="229200" cy="315000"/>
          </a:xfrm>
        </p:grpSpPr>
        <p:sp>
          <p:nvSpPr>
            <p:cNvPr id="1401" name="Google Shape;1401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2" name="Google Shape;1402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3" name="Google Shape;1403;p98"/>
          <p:cNvGrpSpPr/>
          <p:nvPr/>
        </p:nvGrpSpPr>
        <p:grpSpPr>
          <a:xfrm>
            <a:off x="963568" y="3720500"/>
            <a:ext cx="501123" cy="315000"/>
            <a:chOff x="1771375" y="1472588"/>
            <a:chExt cx="229200" cy="315000"/>
          </a:xfrm>
        </p:grpSpPr>
        <p:sp>
          <p:nvSpPr>
            <p:cNvPr id="1404" name="Google Shape;1404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5" name="Google Shape;1405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6" name="Google Shape;1406;p98"/>
          <p:cNvGrpSpPr/>
          <p:nvPr/>
        </p:nvGrpSpPr>
        <p:grpSpPr>
          <a:xfrm>
            <a:off x="5488501" y="1550846"/>
            <a:ext cx="421040" cy="579569"/>
            <a:chOff x="1771375" y="1472588"/>
            <a:chExt cx="229200" cy="315000"/>
          </a:xfrm>
        </p:grpSpPr>
        <p:sp>
          <p:nvSpPr>
            <p:cNvPr id="1407" name="Google Shape;1407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08" name="Google Shape;1408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9" name="Google Shape;1409;p98"/>
          <p:cNvGrpSpPr/>
          <p:nvPr/>
        </p:nvGrpSpPr>
        <p:grpSpPr>
          <a:xfrm>
            <a:off x="7662761" y="3486341"/>
            <a:ext cx="421040" cy="579569"/>
            <a:chOff x="1771375" y="1472588"/>
            <a:chExt cx="229200" cy="315000"/>
          </a:xfrm>
        </p:grpSpPr>
        <p:sp>
          <p:nvSpPr>
            <p:cNvPr id="1410" name="Google Shape;1410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1" name="Google Shape;1411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2" name="Google Shape;1412;p98"/>
          <p:cNvGrpSpPr/>
          <p:nvPr/>
        </p:nvGrpSpPr>
        <p:grpSpPr>
          <a:xfrm>
            <a:off x="7251197" y="3486289"/>
            <a:ext cx="304790" cy="579537"/>
            <a:chOff x="1771375" y="1472588"/>
            <a:chExt cx="229200" cy="315000"/>
          </a:xfrm>
        </p:grpSpPr>
        <p:sp>
          <p:nvSpPr>
            <p:cNvPr id="1413" name="Google Shape;1413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4" name="Google Shape;1414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15" name="Google Shape;1415;p98"/>
          <p:cNvGrpSpPr/>
          <p:nvPr/>
        </p:nvGrpSpPr>
        <p:grpSpPr>
          <a:xfrm>
            <a:off x="4843355" y="3486356"/>
            <a:ext cx="501123" cy="579537"/>
            <a:chOff x="1771375" y="1472588"/>
            <a:chExt cx="229200" cy="315000"/>
          </a:xfrm>
        </p:grpSpPr>
        <p:sp>
          <p:nvSpPr>
            <p:cNvPr id="1416" name="Google Shape;1416;p98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7" name="Google Shape;1417;p98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99"/>
          <p:cNvSpPr txBox="1"/>
          <p:nvPr>
            <p:ph idx="1" type="body"/>
          </p:nvPr>
        </p:nvSpPr>
        <p:spPr>
          <a:xfrm>
            <a:off x="4824000" y="1018395"/>
            <a:ext cx="39960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coordinate values in these isosceles triangles.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2cff5d5-5faf-4243-8333-10c59a580564&quot; data-equatio-type=&quot;desmos&quot;&gt;&lt;mglyph src=&quot;https://equatio-api.texthelp.com/desmos/get/11-10-2023/42cff5d5-5faf-4243-8333-10c59a580564&quot; alt=&quot;Equatio Desmos Graph&quot;/&gt;&lt;/math&gt;" id="1423" name="Google Shape;1423;p9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0000"/>
            <a:ext cx="4498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425" name="Google Shape;1425;p99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816" y="3029108"/>
            <a:ext cx="127525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426" name="Google Shape;1426;p9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3867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7" name="Google Shape;1427;p99"/>
          <p:cNvGrpSpPr/>
          <p:nvPr/>
        </p:nvGrpSpPr>
        <p:grpSpPr>
          <a:xfrm>
            <a:off x="2136727" y="1488399"/>
            <a:ext cx="1514643" cy="1463574"/>
            <a:chOff x="1252325" y="1965900"/>
            <a:chExt cx="2408400" cy="2632800"/>
          </a:xfrm>
        </p:grpSpPr>
        <p:cxnSp>
          <p:nvCxnSpPr>
            <p:cNvPr id="1428" name="Google Shape;1428;p99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99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99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99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2" name="Google Shape;1432;p99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3" name="Google Shape;1433;p99"/>
          <p:cNvGrpSpPr/>
          <p:nvPr/>
        </p:nvGrpSpPr>
        <p:grpSpPr>
          <a:xfrm flipH="1" rot="10800000">
            <a:off x="1384419" y="2936203"/>
            <a:ext cx="2266786" cy="1463574"/>
            <a:chOff x="1252325" y="1965900"/>
            <a:chExt cx="2408400" cy="2632800"/>
          </a:xfrm>
        </p:grpSpPr>
        <p:cxnSp>
          <p:nvCxnSpPr>
            <p:cNvPr id="1434" name="Google Shape;1434;p99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5" name="Google Shape;1435;p99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6" name="Google Shape;1436;p99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7" name="Google Shape;1437;p99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8" name="Google Shape;1438;p99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9" name="Google Shape;1439;p99"/>
          <p:cNvGrpSpPr/>
          <p:nvPr/>
        </p:nvGrpSpPr>
        <p:grpSpPr>
          <a:xfrm>
            <a:off x="2755494" y="4289517"/>
            <a:ext cx="438322" cy="375826"/>
            <a:chOff x="1771375" y="1472588"/>
            <a:chExt cx="229200" cy="315000"/>
          </a:xfrm>
        </p:grpSpPr>
        <p:sp>
          <p:nvSpPr>
            <p:cNvPr id="1440" name="Google Shape;1440;p99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1" name="Google Shape;1441;p99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2" name="Google Shape;1442;p99"/>
          <p:cNvGrpSpPr/>
          <p:nvPr/>
        </p:nvGrpSpPr>
        <p:grpSpPr>
          <a:xfrm>
            <a:off x="3136547" y="1251757"/>
            <a:ext cx="301306" cy="375827"/>
            <a:chOff x="1771375" y="1472588"/>
            <a:chExt cx="229200" cy="315000"/>
          </a:xfrm>
        </p:grpSpPr>
        <p:sp>
          <p:nvSpPr>
            <p:cNvPr id="1443" name="Google Shape;1443;p99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4" name="Google Shape;1444;p99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f33fa0cc-10e8-4773-aaa6-2ba4d99771e2&quot; data-equatio-type=&quot;desmos&quot;&gt;&lt;mglyph src=&quot;https://equatio-api.texthelp.com/desmos/get/11-10-2023/f33fa0cc-10e8-4773-aaa6-2ba4d99771e2&quot; alt=&quot;Equatio Desmos Graph&quot;/&gt;&lt;/math&gt;" id="1449" name="Google Shape;1449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00" y="1085275"/>
            <a:ext cx="424380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451" name="Google Shape;1451;p100"/>
          <p:cNvSpPr txBox="1"/>
          <p:nvPr>
            <p:ph idx="4294967295" type="body"/>
          </p:nvPr>
        </p:nvSpPr>
        <p:spPr>
          <a:xfrm>
            <a:off x="4834165" y="978509"/>
            <a:ext cx="37377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3) These four equally sized squares sit between the origin and coordinate (1,1).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452" name="Google Shape;1452;p10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901" y="448557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453" name="Google Shape;1453;p10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40" y="89817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00"/>
          <p:cNvSpPr txBox="1"/>
          <p:nvPr>
            <p:ph idx="4294967295" type="body"/>
          </p:nvPr>
        </p:nvSpPr>
        <p:spPr>
          <a:xfrm>
            <a:off x="3384840" y="185039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55" name="Google Shape;1455;p100"/>
          <p:cNvSpPr txBox="1"/>
          <p:nvPr>
            <p:ph idx="4294967295" type="body"/>
          </p:nvPr>
        </p:nvSpPr>
        <p:spPr>
          <a:xfrm>
            <a:off x="3593392" y="204772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sp>
        <p:nvSpPr>
          <p:cNvPr id="1456" name="Google Shape;1456;p100"/>
          <p:cNvSpPr/>
          <p:nvPr/>
        </p:nvSpPr>
        <p:spPr>
          <a:xfrm>
            <a:off x="1396428" y="3246676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00"/>
          <p:cNvSpPr/>
          <p:nvPr/>
        </p:nvSpPr>
        <p:spPr>
          <a:xfrm>
            <a:off x="690873" y="3870034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00"/>
          <p:cNvSpPr/>
          <p:nvPr/>
        </p:nvSpPr>
        <p:spPr>
          <a:xfrm>
            <a:off x="2823898" y="2017311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00"/>
          <p:cNvSpPr/>
          <p:nvPr/>
        </p:nvSpPr>
        <p:spPr>
          <a:xfrm>
            <a:off x="2118343" y="2640669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100"/>
          <p:cNvSpPr txBox="1"/>
          <p:nvPr>
            <p:ph idx="4294967295" type="body"/>
          </p:nvPr>
        </p:nvSpPr>
        <p:spPr>
          <a:xfrm>
            <a:off x="2699040" y="24803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61" name="Google Shape;1461;p100"/>
          <p:cNvSpPr txBox="1"/>
          <p:nvPr>
            <p:ph idx="4294967295" type="body"/>
          </p:nvPr>
        </p:nvSpPr>
        <p:spPr>
          <a:xfrm>
            <a:off x="2907594" y="2657325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1462" name="Google Shape;1462;p100"/>
          <p:cNvSpPr txBox="1"/>
          <p:nvPr>
            <p:ph idx="4294967295" type="body"/>
          </p:nvPr>
        </p:nvSpPr>
        <p:spPr>
          <a:xfrm>
            <a:off x="1276615" y="30899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63" name="Google Shape;1463;p100"/>
          <p:cNvSpPr txBox="1"/>
          <p:nvPr>
            <p:ph idx="4294967295" type="body"/>
          </p:nvPr>
        </p:nvSpPr>
        <p:spPr>
          <a:xfrm>
            <a:off x="1068629" y="289609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464" name="Google Shape;1464;p100"/>
          <p:cNvSpPr txBox="1"/>
          <p:nvPr>
            <p:ph idx="4294967295" type="body"/>
          </p:nvPr>
        </p:nvSpPr>
        <p:spPr>
          <a:xfrm>
            <a:off x="4834165" y="23185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coordinates A and B.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5739c7c6-5c3d-45d5-81f7-f448b41d75b5&quot; data-equatio-type=&quot;desmos&quot;&gt;&lt;mglyph src=&quot;https://equatio-api.texthelp.com/desmos/get/11-10-2023/5739c7c6-5c3d-45d5-81f7-f448b41d75b5&quot; alt=&quot;Equatio Desmos Graph&quot;/&gt;&lt;/math&gt;" id="1469" name="Google Shape;1469;p10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625" y="1091225"/>
            <a:ext cx="3691200" cy="33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01"/>
          <p:cNvSpPr/>
          <p:nvPr/>
        </p:nvSpPr>
        <p:spPr>
          <a:xfrm>
            <a:off x="5774829" y="2255140"/>
            <a:ext cx="1808100" cy="1047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1471" name="Google Shape;1471;p10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85" y="1062608"/>
            <a:ext cx="3849144" cy="33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01"/>
          <p:cNvSpPr/>
          <p:nvPr/>
        </p:nvSpPr>
        <p:spPr>
          <a:xfrm>
            <a:off x="1588075" y="2250249"/>
            <a:ext cx="981300" cy="1935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 of these rectangles.</a:t>
            </a:r>
            <a:endParaRPr/>
          </a:p>
        </p:txBody>
      </p:sp>
      <p:sp>
        <p:nvSpPr>
          <p:cNvPr id="1474" name="Google Shape;147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475" name="Google Shape;1475;p10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7421" y="2836047"/>
            <a:ext cx="141526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476" name="Google Shape;1476;p10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3759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01"/>
          <p:cNvSpPr txBox="1"/>
          <p:nvPr>
            <p:ph idx="4294967295" type="body"/>
          </p:nvPr>
        </p:nvSpPr>
        <p:spPr>
          <a:xfrm>
            <a:off x="1478812" y="207262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78" name="Google Shape;1478;p101"/>
          <p:cNvSpPr txBox="1"/>
          <p:nvPr>
            <p:ph idx="4294967295" type="body"/>
          </p:nvPr>
        </p:nvSpPr>
        <p:spPr>
          <a:xfrm>
            <a:off x="1465773" y="4010683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79" name="Google Shape;1479;p101"/>
          <p:cNvSpPr txBox="1"/>
          <p:nvPr>
            <p:ph idx="4294967295" type="body"/>
          </p:nvPr>
        </p:nvSpPr>
        <p:spPr>
          <a:xfrm>
            <a:off x="2460898" y="4020999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80" name="Google Shape;1480;p101"/>
          <p:cNvSpPr txBox="1"/>
          <p:nvPr>
            <p:ph idx="4294967295" type="body"/>
          </p:nvPr>
        </p:nvSpPr>
        <p:spPr>
          <a:xfrm>
            <a:off x="2481228" y="2082936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81" name="Google Shape;1481;p101"/>
          <p:cNvSpPr txBox="1"/>
          <p:nvPr>
            <p:ph idx="4294967295" type="body"/>
          </p:nvPr>
        </p:nvSpPr>
        <p:spPr>
          <a:xfrm>
            <a:off x="479040" y="1787586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(-1.1,0.9)</a:t>
            </a:r>
            <a:endParaRPr/>
          </a:p>
        </p:txBody>
      </p:sp>
      <p:sp>
        <p:nvSpPr>
          <p:cNvPr id="1482" name="Google Shape;1482;p101"/>
          <p:cNvSpPr txBox="1"/>
          <p:nvPr>
            <p:ph idx="4294967295" type="body"/>
          </p:nvPr>
        </p:nvSpPr>
        <p:spPr>
          <a:xfrm>
            <a:off x="2628005" y="1797901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(0.4,0.9)</a:t>
            </a:r>
            <a:endParaRPr/>
          </a:p>
        </p:txBody>
      </p:sp>
      <p:sp>
        <p:nvSpPr>
          <p:cNvPr id="1483" name="Google Shape;1483;p101"/>
          <p:cNvSpPr txBox="1"/>
          <p:nvPr>
            <p:ph idx="4294967295" type="body"/>
          </p:nvPr>
        </p:nvSpPr>
        <p:spPr>
          <a:xfrm>
            <a:off x="346895" y="3698511"/>
            <a:ext cx="13956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(-1.1,-2.3)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484" name="Google Shape;1484;p10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0869" y="2836047"/>
            <a:ext cx="141526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485" name="Google Shape;1485;p10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8362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01"/>
          <p:cNvSpPr txBox="1"/>
          <p:nvPr>
            <p:ph idx="4294967295" type="body"/>
          </p:nvPr>
        </p:nvSpPr>
        <p:spPr>
          <a:xfrm>
            <a:off x="5679530" y="208783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87" name="Google Shape;1487;p101"/>
          <p:cNvSpPr txBox="1"/>
          <p:nvPr>
            <p:ph idx="4294967295" type="body"/>
          </p:nvPr>
        </p:nvSpPr>
        <p:spPr>
          <a:xfrm>
            <a:off x="5661446" y="3157198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88" name="Google Shape;1488;p101"/>
          <p:cNvSpPr txBox="1"/>
          <p:nvPr>
            <p:ph idx="4294967295" type="body"/>
          </p:nvPr>
        </p:nvSpPr>
        <p:spPr>
          <a:xfrm>
            <a:off x="7494846" y="3157198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89" name="Google Shape;1489;p101"/>
          <p:cNvSpPr txBox="1"/>
          <p:nvPr>
            <p:ph idx="4294967295" type="body"/>
          </p:nvPr>
        </p:nvSpPr>
        <p:spPr>
          <a:xfrm>
            <a:off x="7494846" y="2087830"/>
            <a:ext cx="247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490" name="Google Shape;1490;p101"/>
          <p:cNvSpPr txBox="1"/>
          <p:nvPr>
            <p:ph idx="4294967295" type="body"/>
          </p:nvPr>
        </p:nvSpPr>
        <p:spPr>
          <a:xfrm>
            <a:off x="2628005" y="3702901"/>
            <a:ext cx="1291500" cy="3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(0.4,-2.3)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\frac{-20}{3},\frac{-9}{4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row&gt;&lt;mo&gt;−&lt;/mo&gt;&lt;mn&gt;9&lt;/mn&gt;&lt;/mrow&gt;&lt;mn&gt;4&lt;/mn&gt;&lt;/mfrac&gt;&lt;mo data-mjx-texclass=&quot;CLOSE&quot;&gt;)&lt;/mo&gt;&lt;/mrow&gt;&lt;/math&gt;" id="1491" name="Google Shape;1491;p101" title="open paren negative 20 over 3 comma negative 9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6775" y="3458589"/>
            <a:ext cx="1301149" cy="6190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20}{3},\frac{11}{5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n&gt;11&lt;/mn&gt;&lt;mn&gt;5&lt;/mn&gt;&lt;/mfrac&gt;&lt;mo data-mjx-texclass=&quot;CLOSE&quot;&gt;)&lt;/mo&gt;&lt;/mrow&gt;&lt;/math&gt;" id="1492" name="Google Shape;1492;p101" title="open paren negative 20 over 3 comma eleven fifths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7671" y="1550887"/>
            <a:ext cx="1255236" cy="61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11}{5}\right)&quot;&gt;&lt;mrow data-mjx-texclass=&quot;INNER&quot;&gt;&lt;mo data-mjx-texclass=&quot;OPEN&quot;&gt;(&lt;/mo&gt;&lt;mfrac&gt;&lt;mn&gt;7&lt;/mn&gt;&lt;mn&gt;3&lt;/mn&gt;&lt;/mfrac&gt;&lt;mo&gt;,&lt;/mo&gt;&lt;mfrac&gt;&lt;mn&gt;11&lt;/mn&gt;&lt;mn&gt;5&lt;/mn&gt;&lt;/mfrac&gt;&lt;mo data-mjx-texclass=&quot;CLOSE&quot;&gt;)&lt;/mo&gt;&lt;/mrow&gt;&lt;/math&gt;" id="1493" name="Google Shape;1493;p101" title="open paren seven thirds comma eleven fifths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65026" y="1519250"/>
            <a:ext cx="996472" cy="644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-9}{4}\right)&quot;&gt;&lt;mrow data-mjx-texclass=&quot;INNER&quot;&gt;&lt;mo data-mjx-texclass=&quot;OPEN&quot;&gt;(&lt;/mo&gt;&lt;mfrac&gt;&lt;mn&gt;7&lt;/mn&gt;&lt;mn&gt;3&lt;/mn&gt;&lt;/mfrac&gt;&lt;mo&gt;,&lt;/mo&gt;&lt;mfrac&gt;&lt;mrow&gt;&lt;mo&gt;−&lt;/mo&gt;&lt;mn&gt;9&lt;/mn&gt;&lt;/mrow&gt;&lt;mn&gt;4&lt;/mn&gt;&lt;/mfrac&gt;&lt;mo data-mjx-texclass=&quot;CLOSE&quot;&gt;)&lt;/mo&gt;&lt;/mrow&gt;&lt;/math&gt;" id="1494" name="Google Shape;1494;p101" title="open paren seven thirds comma negative 9 over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58498" y="3465182"/>
            <a:ext cx="1044303" cy="644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5" name="Google Shape;1495;p101"/>
          <p:cNvGrpSpPr/>
          <p:nvPr/>
        </p:nvGrpSpPr>
        <p:grpSpPr>
          <a:xfrm>
            <a:off x="601611" y="1815500"/>
            <a:ext cx="421040" cy="315000"/>
            <a:chOff x="1771375" y="1472588"/>
            <a:chExt cx="229200" cy="315000"/>
          </a:xfrm>
        </p:grpSpPr>
        <p:sp>
          <p:nvSpPr>
            <p:cNvPr id="1496" name="Google Shape;1496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7" name="Google Shape;1497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98" name="Google Shape;1498;p101"/>
          <p:cNvGrpSpPr/>
          <p:nvPr/>
        </p:nvGrpSpPr>
        <p:grpSpPr>
          <a:xfrm>
            <a:off x="3202652" y="1815500"/>
            <a:ext cx="421040" cy="315000"/>
            <a:chOff x="1771375" y="1472588"/>
            <a:chExt cx="229200" cy="315000"/>
          </a:xfrm>
        </p:grpSpPr>
        <p:sp>
          <p:nvSpPr>
            <p:cNvPr id="1499" name="Google Shape;1499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0" name="Google Shape;1500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1" name="Google Shape;1501;p101"/>
          <p:cNvGrpSpPr/>
          <p:nvPr/>
        </p:nvGrpSpPr>
        <p:grpSpPr>
          <a:xfrm>
            <a:off x="963568" y="3720500"/>
            <a:ext cx="501123" cy="315000"/>
            <a:chOff x="1771375" y="1472588"/>
            <a:chExt cx="229200" cy="315000"/>
          </a:xfrm>
        </p:grpSpPr>
        <p:sp>
          <p:nvSpPr>
            <p:cNvPr id="1502" name="Google Shape;1502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3" name="Google Shape;1503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4" name="Google Shape;1504;p101"/>
          <p:cNvGrpSpPr/>
          <p:nvPr/>
        </p:nvGrpSpPr>
        <p:grpSpPr>
          <a:xfrm>
            <a:off x="5488501" y="1550846"/>
            <a:ext cx="421040" cy="579569"/>
            <a:chOff x="1771375" y="1472588"/>
            <a:chExt cx="229200" cy="315000"/>
          </a:xfrm>
        </p:grpSpPr>
        <p:sp>
          <p:nvSpPr>
            <p:cNvPr id="1505" name="Google Shape;1505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6" name="Google Shape;1506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7" name="Google Shape;1507;p101"/>
          <p:cNvGrpSpPr/>
          <p:nvPr/>
        </p:nvGrpSpPr>
        <p:grpSpPr>
          <a:xfrm>
            <a:off x="7662761" y="3486341"/>
            <a:ext cx="421040" cy="579569"/>
            <a:chOff x="1771375" y="1472588"/>
            <a:chExt cx="229200" cy="315000"/>
          </a:xfrm>
        </p:grpSpPr>
        <p:sp>
          <p:nvSpPr>
            <p:cNvPr id="1508" name="Google Shape;1508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9" name="Google Shape;1509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0" name="Google Shape;1510;p101"/>
          <p:cNvGrpSpPr/>
          <p:nvPr/>
        </p:nvGrpSpPr>
        <p:grpSpPr>
          <a:xfrm>
            <a:off x="7251197" y="3486289"/>
            <a:ext cx="304790" cy="579537"/>
            <a:chOff x="1771375" y="1472588"/>
            <a:chExt cx="229200" cy="315000"/>
          </a:xfrm>
        </p:grpSpPr>
        <p:sp>
          <p:nvSpPr>
            <p:cNvPr id="1511" name="Google Shape;1511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12" name="Google Shape;1512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3" name="Google Shape;1513;p101"/>
          <p:cNvGrpSpPr/>
          <p:nvPr/>
        </p:nvGrpSpPr>
        <p:grpSpPr>
          <a:xfrm>
            <a:off x="4843355" y="3486356"/>
            <a:ext cx="501123" cy="579537"/>
            <a:chOff x="1771375" y="1472588"/>
            <a:chExt cx="229200" cy="315000"/>
          </a:xfrm>
        </p:grpSpPr>
        <p:sp>
          <p:nvSpPr>
            <p:cNvPr id="1514" name="Google Shape;1514;p101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15" name="Google Shape;1515;p101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42cff5d5-5faf-4243-8333-10c59a580564&quot; data-equatio-type=&quot;desmos&quot;&gt;&lt;mglyph src=&quot;https://equatio-api.texthelp.com/desmos/get/11-10-2023/42cff5d5-5faf-4243-8333-10c59a580564&quot; alt=&quot;Equatio Desmos Graph&quot;/&gt;&lt;/math&gt;" id="1520" name="Google Shape;1520;p10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0000"/>
            <a:ext cx="4498876" cy="3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522" name="Google Shape;1522;p10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816" y="3029108"/>
            <a:ext cx="127525" cy="127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23" name="Google Shape;1523;p10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1467" y="1103119"/>
            <a:ext cx="141526" cy="1877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4" name="Google Shape;1524;p102"/>
          <p:cNvGrpSpPr/>
          <p:nvPr/>
        </p:nvGrpSpPr>
        <p:grpSpPr>
          <a:xfrm>
            <a:off x="2136727" y="1488399"/>
            <a:ext cx="1514643" cy="1463574"/>
            <a:chOff x="1252325" y="1965900"/>
            <a:chExt cx="2408400" cy="2632800"/>
          </a:xfrm>
        </p:grpSpPr>
        <p:cxnSp>
          <p:nvCxnSpPr>
            <p:cNvPr id="1525" name="Google Shape;1525;p102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6" name="Google Shape;1526;p102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7" name="Google Shape;1527;p102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8" name="Google Shape;1528;p102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102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0" name="Google Shape;1530;p102"/>
          <p:cNvGrpSpPr/>
          <p:nvPr/>
        </p:nvGrpSpPr>
        <p:grpSpPr>
          <a:xfrm flipH="1" rot="10800000">
            <a:off x="1384419" y="2936203"/>
            <a:ext cx="2266786" cy="1463574"/>
            <a:chOff x="1252325" y="1965900"/>
            <a:chExt cx="2408400" cy="2632800"/>
          </a:xfrm>
        </p:grpSpPr>
        <p:cxnSp>
          <p:nvCxnSpPr>
            <p:cNvPr id="1531" name="Google Shape;1531;p102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2" name="Google Shape;1532;p102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3" name="Google Shape;1533;p102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4" name="Google Shape;1534;p102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5" name="Google Shape;1535;p102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6" name="Google Shape;1536;p102"/>
          <p:cNvGrpSpPr/>
          <p:nvPr/>
        </p:nvGrpSpPr>
        <p:grpSpPr>
          <a:xfrm>
            <a:off x="2755494" y="4289517"/>
            <a:ext cx="438322" cy="375826"/>
            <a:chOff x="1771375" y="1472588"/>
            <a:chExt cx="229200" cy="315000"/>
          </a:xfrm>
        </p:grpSpPr>
        <p:sp>
          <p:nvSpPr>
            <p:cNvPr id="1537" name="Google Shape;1537;p102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8" name="Google Shape;1538;p102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39" name="Google Shape;1539;p102"/>
          <p:cNvGrpSpPr/>
          <p:nvPr/>
        </p:nvGrpSpPr>
        <p:grpSpPr>
          <a:xfrm>
            <a:off x="3136547" y="1251757"/>
            <a:ext cx="301306" cy="375827"/>
            <a:chOff x="1771375" y="1472588"/>
            <a:chExt cx="229200" cy="315000"/>
          </a:xfrm>
        </p:grpSpPr>
        <p:sp>
          <p:nvSpPr>
            <p:cNvPr id="1540" name="Google Shape;1540;p102"/>
            <p:cNvSpPr/>
            <p:nvPr/>
          </p:nvSpPr>
          <p:spPr>
            <a:xfrm>
              <a:off x="1771375" y="1472588"/>
              <a:ext cx="229200" cy="31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1" name="Google Shape;1541;p102"/>
            <p:cNvCxnSpPr/>
            <p:nvPr/>
          </p:nvCxnSpPr>
          <p:spPr>
            <a:xfrm rot="10800000">
              <a:off x="1785863" y="1753563"/>
              <a:ext cx="2001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42" name="Google Shape;1542;p102"/>
          <p:cNvSpPr txBox="1"/>
          <p:nvPr>
            <p:ph idx="1" type="body"/>
          </p:nvPr>
        </p:nvSpPr>
        <p:spPr>
          <a:xfrm>
            <a:off x="4824000" y="1018395"/>
            <a:ext cx="39960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/>
              <a:t>coordinate values in these isosceles triangles.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+8}{2}=\frac{11}{2}=5.5&quot;&gt;&lt;mfrac&gt;&lt;mrow&gt;&lt;mn&gt;3&lt;/mn&gt;&lt;mo&gt;+&lt;/mo&gt;&lt;mn&gt;8&lt;/mn&gt;&lt;/mrow&gt;&lt;mn&gt;2&lt;/mn&gt;&lt;/mfrac&gt;&lt;mo&gt;=&lt;/mo&gt;&lt;mfrac&gt;&lt;mn&gt;11&lt;/mn&gt;&lt;mn&gt;2&lt;/mn&gt;&lt;/mfrac&gt;&lt;mo&gt;=&lt;/mo&gt;&lt;mn&gt;5.5&lt;/mn&gt;&lt;/math&gt;" id="1543" name="Google Shape;1543;p102" title="the fraction with numerator 3 plus 8 and denominator 2 equals eleven halves equals 5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3800" y="2408200"/>
            <a:ext cx="2633575" cy="712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0.5+8}{2}=4.25&quot;&gt;&lt;mfrac&gt;&lt;mrow&gt;&lt;mn&gt;0.5&lt;/mn&gt;&lt;mo&gt;+&lt;/mo&gt;&lt;mn&gt;8&lt;/mn&gt;&lt;/mrow&gt;&lt;mn&gt;2&lt;/mn&gt;&lt;/mfrac&gt;&lt;mo&gt;=&lt;/mo&gt;&lt;mn&gt;4.25&lt;/mn&gt;&lt;/math&gt;" id="1544" name="Google Shape;1544;p102" title="the fraction with numerator 0.5 plus 8 and denominator 2 equals 4.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7845" y="3497577"/>
            <a:ext cx="2195152" cy="729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f33fa0cc-10e8-4773-aaa6-2ba4d99771e2&quot; data-equatio-type=&quot;desmos&quot;&gt;&lt;mglyph src=&quot;https://equatio-api.texthelp.com/desmos/get/11-10-2023/f33fa0cc-10e8-4773-aaa6-2ba4d99771e2&quot; alt=&quot;Equatio Desmos Graph&quot;/&gt;&lt;/math&gt;" id="1549" name="Google Shape;1549;p10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00" y="1085275"/>
            <a:ext cx="424380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551" name="Google Shape;1551;p103"/>
          <p:cNvSpPr txBox="1"/>
          <p:nvPr>
            <p:ph idx="4294967295" type="body"/>
          </p:nvPr>
        </p:nvSpPr>
        <p:spPr>
          <a:xfrm>
            <a:off x="4834165" y="978509"/>
            <a:ext cx="37377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These four equally sized squares sit between the origin and coordinate (1,1).</a:t>
            </a:r>
            <a:endParaRPr/>
          </a:p>
        </p:txBody>
      </p:sp>
      <p:sp>
        <p:nvSpPr>
          <p:cNvPr id="1552" name="Google Shape;1552;p103"/>
          <p:cNvSpPr txBox="1"/>
          <p:nvPr>
            <p:ph idx="4294967295" type="body"/>
          </p:nvPr>
        </p:nvSpPr>
        <p:spPr>
          <a:xfrm>
            <a:off x="4834165" y="23185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coordinates A and B.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553" name="Google Shape;1553;p10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901" y="448557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54" name="Google Shape;1554;p10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40" y="89817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103"/>
          <p:cNvSpPr txBox="1"/>
          <p:nvPr>
            <p:ph idx="4294967295" type="body"/>
          </p:nvPr>
        </p:nvSpPr>
        <p:spPr>
          <a:xfrm>
            <a:off x="3384840" y="185039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56" name="Google Shape;1556;p103"/>
          <p:cNvSpPr txBox="1"/>
          <p:nvPr>
            <p:ph idx="4294967295" type="body"/>
          </p:nvPr>
        </p:nvSpPr>
        <p:spPr>
          <a:xfrm>
            <a:off x="3593392" y="204772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sp>
        <p:nvSpPr>
          <p:cNvPr id="1557" name="Google Shape;1557;p103"/>
          <p:cNvSpPr/>
          <p:nvPr/>
        </p:nvSpPr>
        <p:spPr>
          <a:xfrm>
            <a:off x="1396428" y="3246676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103"/>
          <p:cNvSpPr/>
          <p:nvPr/>
        </p:nvSpPr>
        <p:spPr>
          <a:xfrm>
            <a:off x="690873" y="3870034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03"/>
          <p:cNvSpPr/>
          <p:nvPr/>
        </p:nvSpPr>
        <p:spPr>
          <a:xfrm>
            <a:off x="2823898" y="2017311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03"/>
          <p:cNvSpPr/>
          <p:nvPr/>
        </p:nvSpPr>
        <p:spPr>
          <a:xfrm>
            <a:off x="2118343" y="2640669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03"/>
          <p:cNvSpPr txBox="1"/>
          <p:nvPr>
            <p:ph idx="4294967295" type="body"/>
          </p:nvPr>
        </p:nvSpPr>
        <p:spPr>
          <a:xfrm>
            <a:off x="2699040" y="24803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62" name="Google Shape;1562;p103"/>
          <p:cNvSpPr txBox="1"/>
          <p:nvPr>
            <p:ph idx="4294967295" type="body"/>
          </p:nvPr>
        </p:nvSpPr>
        <p:spPr>
          <a:xfrm>
            <a:off x="2907594" y="2657325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endParaRPr sz="2400"/>
          </a:p>
        </p:txBody>
      </p:sp>
      <p:sp>
        <p:nvSpPr>
          <p:cNvPr id="1563" name="Google Shape;1563;p103"/>
          <p:cNvSpPr txBox="1"/>
          <p:nvPr>
            <p:ph idx="4294967295" type="body"/>
          </p:nvPr>
        </p:nvSpPr>
        <p:spPr>
          <a:xfrm>
            <a:off x="1276615" y="30899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64" name="Google Shape;1564;p103"/>
          <p:cNvSpPr txBox="1"/>
          <p:nvPr>
            <p:ph idx="4294967295" type="body"/>
          </p:nvPr>
        </p:nvSpPr>
        <p:spPr>
          <a:xfrm>
            <a:off x="1068629" y="281989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1\div4=0.25&quot;&gt;&lt;mn&gt;1&lt;/mn&gt;&lt;mo&gt;÷&lt;/mo&gt;&lt;mn&gt;4&lt;/mn&gt;&lt;mo&gt;=&lt;/mo&gt;&lt;mn&gt;0.25&lt;/mn&gt;&lt;/math&gt;" id="1565" name="Google Shape;1565;p103" title="1 divided by 4 equals 0.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4515" y="2889200"/>
            <a:ext cx="2028718" cy="3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103"/>
          <p:cNvSpPr txBox="1"/>
          <p:nvPr>
            <p:ph idx="4294967295" type="body"/>
          </p:nvPr>
        </p:nvSpPr>
        <p:spPr>
          <a:xfrm>
            <a:off x="1490320" y="3876525"/>
            <a:ext cx="15261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(0.25,0.25)</a:t>
            </a:r>
            <a:endParaRPr sz="2400"/>
          </a:p>
        </p:txBody>
      </p:sp>
      <p:sp>
        <p:nvSpPr>
          <p:cNvPr id="1567" name="Google Shape;1567;p103"/>
          <p:cNvSpPr txBox="1"/>
          <p:nvPr>
            <p:ph idx="4294967295" type="body"/>
          </p:nvPr>
        </p:nvSpPr>
        <p:spPr>
          <a:xfrm>
            <a:off x="1286780" y="371473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68" name="Google Shape;1568;p103"/>
          <p:cNvSpPr txBox="1"/>
          <p:nvPr>
            <p:ph idx="4294967295" type="body"/>
          </p:nvPr>
        </p:nvSpPr>
        <p:spPr>
          <a:xfrm>
            <a:off x="4834165" y="33853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oordinate A (0.25,0.5)</a:t>
            </a:r>
            <a:endParaRPr/>
          </a:p>
        </p:txBody>
      </p:sp>
      <p:cxnSp>
        <p:nvCxnSpPr>
          <p:cNvPr id="1569" name="Google Shape;1569;p103"/>
          <p:cNvCxnSpPr/>
          <p:nvPr/>
        </p:nvCxnSpPr>
        <p:spPr>
          <a:xfrm>
            <a:off x="700100" y="4379131"/>
            <a:ext cx="6429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0" name="Google Shape;1570;p103"/>
          <p:cNvCxnSpPr/>
          <p:nvPr/>
        </p:nvCxnSpPr>
        <p:spPr>
          <a:xfrm flipH="1" rot="10800000">
            <a:off x="731040" y="3307775"/>
            <a:ext cx="3300" cy="1198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f33fa0cc-10e8-4773-aaa6-2ba4d99771e2&quot; data-equatio-type=&quot;desmos&quot;&gt;&lt;mglyph src=&quot;https://equatio-api.texthelp.com/desmos/get/11-10-2023/f33fa0cc-10e8-4773-aaa6-2ba4d99771e2&quot; alt=&quot;Equatio Desmos Graph&quot;/&gt;&lt;/math&gt;" id="1575" name="Google Shape;1575;p10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00" y="1085275"/>
            <a:ext cx="4243800" cy="373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Shapes with non-integer value coordinates</a:t>
            </a:r>
            <a:endParaRPr/>
          </a:p>
        </p:txBody>
      </p:sp>
      <p:sp>
        <p:nvSpPr>
          <p:cNvPr id="1577" name="Google Shape;1577;p104"/>
          <p:cNvSpPr txBox="1"/>
          <p:nvPr>
            <p:ph idx="4294967295" type="body"/>
          </p:nvPr>
        </p:nvSpPr>
        <p:spPr>
          <a:xfrm>
            <a:off x="4834165" y="978509"/>
            <a:ext cx="3737700" cy="10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These four equally sized squares sit between the origin and coordinate (1,1).</a:t>
            </a:r>
            <a:endParaRPr/>
          </a:p>
        </p:txBody>
      </p:sp>
      <p:sp>
        <p:nvSpPr>
          <p:cNvPr id="1578" name="Google Shape;1578;p104"/>
          <p:cNvSpPr txBox="1"/>
          <p:nvPr>
            <p:ph idx="4294967295" type="body"/>
          </p:nvPr>
        </p:nvSpPr>
        <p:spPr>
          <a:xfrm>
            <a:off x="4834165" y="23185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coordinates A and B.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579" name="Google Shape;1579;p104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901" y="4485579"/>
            <a:ext cx="170064" cy="152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80" name="Google Shape;1580;p10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40" y="898170"/>
            <a:ext cx="170064" cy="225572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104"/>
          <p:cNvSpPr txBox="1"/>
          <p:nvPr>
            <p:ph idx="4294967295" type="body"/>
          </p:nvPr>
        </p:nvSpPr>
        <p:spPr>
          <a:xfrm>
            <a:off x="3384840" y="185039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82" name="Google Shape;1582;p104"/>
          <p:cNvSpPr txBox="1"/>
          <p:nvPr>
            <p:ph idx="4294967295" type="body"/>
          </p:nvPr>
        </p:nvSpPr>
        <p:spPr>
          <a:xfrm>
            <a:off x="3593392" y="2047720"/>
            <a:ext cx="10806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(1,1)</a:t>
            </a:r>
            <a:endParaRPr/>
          </a:p>
        </p:txBody>
      </p:sp>
      <p:sp>
        <p:nvSpPr>
          <p:cNvPr id="1583" name="Google Shape;1583;p104"/>
          <p:cNvSpPr/>
          <p:nvPr/>
        </p:nvSpPr>
        <p:spPr>
          <a:xfrm>
            <a:off x="1396428" y="3246676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04"/>
          <p:cNvSpPr/>
          <p:nvPr/>
        </p:nvSpPr>
        <p:spPr>
          <a:xfrm>
            <a:off x="690873" y="3870034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104"/>
          <p:cNvSpPr/>
          <p:nvPr/>
        </p:nvSpPr>
        <p:spPr>
          <a:xfrm>
            <a:off x="2823898" y="2017311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04"/>
          <p:cNvSpPr/>
          <p:nvPr/>
        </p:nvSpPr>
        <p:spPr>
          <a:xfrm>
            <a:off x="2118343" y="2640669"/>
            <a:ext cx="709800" cy="623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104"/>
          <p:cNvSpPr txBox="1"/>
          <p:nvPr>
            <p:ph idx="4294967295" type="body"/>
          </p:nvPr>
        </p:nvSpPr>
        <p:spPr>
          <a:xfrm>
            <a:off x="2699040" y="24803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88" name="Google Shape;1588;p104"/>
          <p:cNvSpPr txBox="1"/>
          <p:nvPr>
            <p:ph idx="4294967295" type="body"/>
          </p:nvPr>
        </p:nvSpPr>
        <p:spPr>
          <a:xfrm>
            <a:off x="2907594" y="2657325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B</a:t>
            </a:r>
            <a:endParaRPr sz="2400"/>
          </a:p>
        </p:txBody>
      </p:sp>
      <p:sp>
        <p:nvSpPr>
          <p:cNvPr id="1589" name="Google Shape;1589;p104"/>
          <p:cNvSpPr txBox="1"/>
          <p:nvPr>
            <p:ph idx="4294967295" type="body"/>
          </p:nvPr>
        </p:nvSpPr>
        <p:spPr>
          <a:xfrm>
            <a:off x="1276615" y="308992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90" name="Google Shape;1590;p104"/>
          <p:cNvSpPr txBox="1"/>
          <p:nvPr>
            <p:ph idx="4294967295" type="body"/>
          </p:nvPr>
        </p:nvSpPr>
        <p:spPr>
          <a:xfrm>
            <a:off x="1068629" y="2819890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A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1\div4=0.25&quot;&gt;&lt;mn&gt;1&lt;/mn&gt;&lt;mo&gt;÷&lt;/mo&gt;&lt;mn&gt;4&lt;/mn&gt;&lt;mo&gt;=&lt;/mo&gt;&lt;mn&gt;0.25&lt;/mn&gt;&lt;/math&gt;" id="1591" name="Google Shape;1591;p104" title="1 divided by 4 equals 0.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4515" y="2889200"/>
            <a:ext cx="2028718" cy="3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04"/>
          <p:cNvSpPr txBox="1"/>
          <p:nvPr>
            <p:ph idx="4294967295" type="body"/>
          </p:nvPr>
        </p:nvSpPr>
        <p:spPr>
          <a:xfrm>
            <a:off x="1490320" y="3876525"/>
            <a:ext cx="15261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(0.25,0.25)</a:t>
            </a:r>
            <a:endParaRPr sz="2400"/>
          </a:p>
        </p:txBody>
      </p:sp>
      <p:sp>
        <p:nvSpPr>
          <p:cNvPr id="1593" name="Google Shape;1593;p104"/>
          <p:cNvSpPr txBox="1"/>
          <p:nvPr>
            <p:ph idx="4294967295" type="body"/>
          </p:nvPr>
        </p:nvSpPr>
        <p:spPr>
          <a:xfrm>
            <a:off x="1286780" y="3714739"/>
            <a:ext cx="274500" cy="3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✖</a:t>
            </a:r>
            <a:endParaRPr b="1"/>
          </a:p>
        </p:txBody>
      </p:sp>
      <p:sp>
        <p:nvSpPr>
          <p:cNvPr id="1594" name="Google Shape;1594;p104"/>
          <p:cNvSpPr txBox="1"/>
          <p:nvPr>
            <p:ph idx="4294967295" type="body"/>
          </p:nvPr>
        </p:nvSpPr>
        <p:spPr>
          <a:xfrm>
            <a:off x="4834165" y="33853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A (0.25,0.5)</a:t>
            </a:r>
            <a:endParaRPr/>
          </a:p>
        </p:txBody>
      </p:sp>
      <p:sp>
        <p:nvSpPr>
          <p:cNvPr id="1595" name="Google Shape;1595;p104"/>
          <p:cNvSpPr txBox="1"/>
          <p:nvPr>
            <p:ph idx="4294967295" type="body"/>
          </p:nvPr>
        </p:nvSpPr>
        <p:spPr>
          <a:xfrm>
            <a:off x="4834165" y="3842558"/>
            <a:ext cx="37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B (0.75,0.75)</a:t>
            </a:r>
            <a:endParaRPr/>
          </a:p>
        </p:txBody>
      </p:sp>
      <p:cxnSp>
        <p:nvCxnSpPr>
          <p:cNvPr id="1596" name="Google Shape;1596;p104"/>
          <p:cNvCxnSpPr/>
          <p:nvPr/>
        </p:nvCxnSpPr>
        <p:spPr>
          <a:xfrm flipH="1" rot="10800000">
            <a:off x="700100" y="4401444"/>
            <a:ext cx="667800" cy="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104"/>
          <p:cNvCxnSpPr/>
          <p:nvPr/>
        </p:nvCxnSpPr>
        <p:spPr>
          <a:xfrm flipH="1" rot="10800000">
            <a:off x="1414475" y="4401444"/>
            <a:ext cx="667800" cy="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104"/>
          <p:cNvCxnSpPr/>
          <p:nvPr/>
        </p:nvCxnSpPr>
        <p:spPr>
          <a:xfrm flipH="1" rot="10800000">
            <a:off x="2114563" y="4401444"/>
            <a:ext cx="667800" cy="1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599" name="Google Shape;1599;p104"/>
          <p:cNvGrpSpPr/>
          <p:nvPr/>
        </p:nvGrpSpPr>
        <p:grpSpPr>
          <a:xfrm>
            <a:off x="776300" y="2663319"/>
            <a:ext cx="5700" cy="1815825"/>
            <a:chOff x="776300" y="2663319"/>
            <a:chExt cx="5700" cy="1815825"/>
          </a:xfrm>
        </p:grpSpPr>
        <p:cxnSp>
          <p:nvCxnSpPr>
            <p:cNvPr id="1600" name="Google Shape;1600;p104"/>
            <p:cNvCxnSpPr/>
            <p:nvPr/>
          </p:nvCxnSpPr>
          <p:spPr>
            <a:xfrm flipH="1" rot="10800000">
              <a:off x="776300" y="3892044"/>
              <a:ext cx="5700" cy="587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1" name="Google Shape;1601;p104"/>
            <p:cNvCxnSpPr/>
            <p:nvPr/>
          </p:nvCxnSpPr>
          <p:spPr>
            <a:xfrm flipH="1" rot="10800000">
              <a:off x="776300" y="3282444"/>
              <a:ext cx="5700" cy="587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2" name="Google Shape;1602;p104"/>
            <p:cNvCxnSpPr/>
            <p:nvPr/>
          </p:nvCxnSpPr>
          <p:spPr>
            <a:xfrm flipH="1" rot="10800000">
              <a:off x="776300" y="2663319"/>
              <a:ext cx="5700" cy="587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can be read and plotted using integers, fractions or decimals.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Reading the scales on the axes is especially important when dealing with non-integer coordinates.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This is especially useful for solving geometry problems on coordinate grids.</a:t>
            </a:r>
            <a:endParaRPr/>
          </a:p>
        </p:txBody>
      </p:sp>
      <p:sp>
        <p:nvSpPr>
          <p:cNvPr id="1608" name="Google Shape;1608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non-integer coordinates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14" name="Google Shape;1614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