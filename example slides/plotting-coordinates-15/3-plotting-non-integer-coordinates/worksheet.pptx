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5" r:id="rId3"/>
    <p:sldMasterId id="2147483666" r:id="rId4"/>
  </p:sldMasterIdLst>
  <p:notesMasterIdLst>
    <p:notesMasterId r:id="rId5"/>
  </p:notesMasterIdLst>
  <p:sldIdLst>
    <p:sldId id="256" r:id="rId6"/>
    <p:sldId id="257" r:id="rId7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3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slideMaster" Target="slideMasters/slideMaster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1" name="Google Shape;191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1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hyperlink" Target="https://www.nationalarchives.gov.uk/doc/open-government-licence/version/3/" TargetMode="External"/><Relationship Id="rId6" Type="http://schemas.openxmlformats.org/officeDocument/2006/relationships/hyperlink" Target="https://www.thenational.academy/legal/terms-and-conditions" TargetMode="Externa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">
  <p:cSld name="SECTION_HEADER_1_1_1_1_1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12" name="Google Shape;12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13" name="Google Shape;13;p2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" name="Google Shape;14;p2"/>
          <p:cNvGrpSpPr/>
          <p:nvPr/>
        </p:nvGrpSpPr>
        <p:grpSpPr>
          <a:xfrm>
            <a:off x="466900" y="962525"/>
            <a:ext cx="2953057" cy="162000"/>
            <a:chOff x="466900" y="962525"/>
            <a:chExt cx="2953057" cy="162000"/>
          </a:xfrm>
        </p:grpSpPr>
        <p:sp>
          <p:nvSpPr>
            <p:cNvPr id="15" name="Google Shape;15;p2"/>
            <p:cNvSpPr txBox="1"/>
            <p:nvPr/>
          </p:nvSpPr>
          <p:spPr>
            <a:xfrm>
              <a:off x="466900" y="962525"/>
              <a:ext cx="2953057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6" name="Google Shape;16;p2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 FRONT COL 1 1">
  <p:cSld name="SECTION_HEADER_1_1_1_1_1_1_1_1_1_3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468000" y="266700"/>
            <a:ext cx="6624000" cy="4320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Font typeface="Lexend"/>
              <a:buNone/>
              <a:defRPr b="1" sz="18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466825" y="17801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2" type="subTitle"/>
          </p:nvPr>
        </p:nvSpPr>
        <p:spPr>
          <a:xfrm>
            <a:off x="2807400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3" type="subTitle"/>
          </p:nvPr>
        </p:nvSpPr>
        <p:spPr>
          <a:xfrm>
            <a:off x="468000" y="9981175"/>
            <a:ext cx="58989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4" type="subTitle"/>
          </p:nvPr>
        </p:nvSpPr>
        <p:spPr>
          <a:xfrm>
            <a:off x="4127250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5" type="subTitle"/>
          </p:nvPr>
        </p:nvSpPr>
        <p:spPr>
          <a:xfrm>
            <a:off x="468000" y="5866375"/>
            <a:ext cx="65817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6" type="subTitle"/>
          </p:nvPr>
        </p:nvSpPr>
        <p:spPr>
          <a:xfrm>
            <a:off x="466825" y="30420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3"/>
          <p:cNvSpPr txBox="1"/>
          <p:nvPr>
            <p:ph idx="7" type="subTitle"/>
          </p:nvPr>
        </p:nvSpPr>
        <p:spPr>
          <a:xfrm>
            <a:off x="46682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3"/>
          <p:cNvSpPr txBox="1"/>
          <p:nvPr>
            <p:ph idx="8" type="subTitle"/>
          </p:nvPr>
        </p:nvSpPr>
        <p:spPr>
          <a:xfrm>
            <a:off x="5147975" y="47595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7" name="Google Shape;27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pic>
        <p:nvPicPr>
          <p:cNvPr id="28" name="Google Shape;28;p3"/>
          <p:cNvPicPr preferRelativeResize="0"/>
          <p:nvPr/>
        </p:nvPicPr>
        <p:blipFill rotWithShape="1">
          <a:blip r:embed="rId3">
            <a:alphaModFix/>
          </a:blip>
          <a:srcRect b="0" l="4603" r="4603" t="0"/>
          <a:stretch/>
        </p:blipFill>
        <p:spPr>
          <a:xfrm>
            <a:off x="466825" y="698750"/>
            <a:ext cx="6623999" cy="756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9" name="Google Shape;29;p3"/>
          <p:cNvGrpSpPr/>
          <p:nvPr/>
        </p:nvGrpSpPr>
        <p:grpSpPr>
          <a:xfrm>
            <a:off x="466900" y="962525"/>
            <a:ext cx="2953200" cy="162000"/>
            <a:chOff x="466900" y="962525"/>
            <a:chExt cx="2953200" cy="162000"/>
          </a:xfrm>
        </p:grpSpPr>
        <p:sp>
          <p:nvSpPr>
            <p:cNvPr id="30" name="Google Shape;30;p3"/>
            <p:cNvSpPr txBox="1"/>
            <p:nvPr/>
          </p:nvSpPr>
          <p:spPr>
            <a:xfrm>
              <a:off x="466900" y="962525"/>
              <a:ext cx="2953200" cy="153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Name</a:t>
              </a:r>
              <a:r>
                <a:rPr b="1" lang="en-GB" sz="1000">
                  <a:solidFill>
                    <a:schemeClr val="dk2"/>
                  </a:solidFill>
                  <a:latin typeface="Lexend"/>
                  <a:ea typeface="Lexend"/>
                  <a:cs typeface="Lexend"/>
                  <a:sym typeface="Lexend"/>
                </a:rPr>
                <a:t>: </a:t>
              </a:r>
              <a:endParaRPr b="1" sz="1000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31" name="Google Shape;31;p3"/>
            <p:cNvCxnSpPr/>
            <p:nvPr/>
          </p:nvCxnSpPr>
          <p:spPr>
            <a:xfrm flipH="1" rot="10800000">
              <a:off x="943904" y="1116425"/>
              <a:ext cx="1998900" cy="81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" name="Google Shape;32;p3"/>
          <p:cNvSpPr txBox="1"/>
          <p:nvPr>
            <p:ph idx="9" type="subTitle"/>
          </p:nvPr>
        </p:nvSpPr>
        <p:spPr>
          <a:xfrm>
            <a:off x="466825" y="13698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88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pos="295">
          <p15:clr>
            <a:srgbClr val="FF0000"/>
          </p15:clr>
        </p15:guide>
        <p15:guide id="7" pos="4467">
          <p15:clr>
            <a:srgbClr val="FF0000"/>
          </p15:clr>
        </p15:guide>
        <p15:guide id="8" pos="1519">
          <p15:clr>
            <a:srgbClr val="D9D9D9"/>
          </p15:clr>
        </p15:guide>
        <p15:guide id="9" pos="1764">
          <p15:clr>
            <a:srgbClr val="D9D9D9"/>
          </p15:clr>
        </p15:guide>
        <p15:guide id="10" pos="3243">
          <p15:clr>
            <a:srgbClr val="D9D9D9"/>
          </p15:clr>
        </p15:guide>
        <p15:guide id="11" pos="2998">
          <p15:clr>
            <a:srgbClr val="D9D9D9"/>
          </p15:clr>
        </p15:guide>
        <p15:guide id="12" pos="3120">
          <p15:clr>
            <a:srgbClr val="D9D9D9"/>
          </p15:clr>
        </p15:guide>
        <p15:guide id="13" pos="1642">
          <p15:clr>
            <a:srgbClr val="D9D9D9"/>
          </p15:clr>
        </p15:guide>
        <p15:guide id="14" pos="2381">
          <p15:clr>
            <a:srgbClr val="D9D9D9"/>
          </p15:clr>
        </p15:guide>
        <p15:guide id="15" pos="2154">
          <p15:clr>
            <a:srgbClr val="FF0000"/>
          </p15:clr>
        </p15:guide>
        <p15:guide id="16" pos="2608">
          <p15:clr>
            <a:srgbClr val="FF0000"/>
          </p15:clr>
        </p15:guide>
        <p15:guide id="17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1">
  <p:cSld name="SECTION_HEADER_1_1_1_1_1_1_1_1_1_1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"/>
          <p:cNvSpPr txBox="1"/>
          <p:nvPr>
            <p:ph idx="1" type="subTitle"/>
          </p:nvPr>
        </p:nvSpPr>
        <p:spPr>
          <a:xfrm>
            <a:off x="466825" y="162775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"/>
          <p:cNvSpPr txBox="1"/>
          <p:nvPr>
            <p:ph idx="2" type="subTitle"/>
          </p:nvPr>
        </p:nvSpPr>
        <p:spPr>
          <a:xfrm>
            <a:off x="4127250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4"/>
          <p:cNvSpPr txBox="1"/>
          <p:nvPr>
            <p:ph idx="3" type="subTitle"/>
          </p:nvPr>
        </p:nvSpPr>
        <p:spPr>
          <a:xfrm>
            <a:off x="466825" y="288960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37" name="Google Shape;3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4"/>
          <p:cNvSpPr txBox="1"/>
          <p:nvPr>
            <p:ph idx="4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2">
  <p:cSld name="SECTION_HEADER_1_1_1_1_1_1_1_1_1_1_1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5"/>
          <p:cNvSpPr txBox="1"/>
          <p:nvPr>
            <p:ph idx="1" type="subTitle"/>
          </p:nvPr>
        </p:nvSpPr>
        <p:spPr>
          <a:xfrm>
            <a:off x="2807400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5"/>
          <p:cNvSpPr txBox="1"/>
          <p:nvPr>
            <p:ph idx="2" type="subTitle"/>
          </p:nvPr>
        </p:nvSpPr>
        <p:spPr>
          <a:xfrm>
            <a:off x="467950" y="2493013"/>
            <a:ext cx="6624000" cy="41058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5"/>
          <p:cNvSpPr txBox="1"/>
          <p:nvPr>
            <p:ph idx="3" type="subTitle"/>
          </p:nvPr>
        </p:nvSpPr>
        <p:spPr>
          <a:xfrm>
            <a:off x="46682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5"/>
          <p:cNvSpPr txBox="1"/>
          <p:nvPr>
            <p:ph idx="4" type="subTitle"/>
          </p:nvPr>
        </p:nvSpPr>
        <p:spPr>
          <a:xfrm>
            <a:off x="5147975" y="1386138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44" name="Google Shape;44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5"/>
          <p:cNvSpPr txBox="1"/>
          <p:nvPr>
            <p:ph idx="5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3">
  <p:cSld name="SECTION_HEADER_1_1_1_1_1_1_1_1_1_1_1_2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6"/>
          <p:cNvSpPr txBox="1"/>
          <p:nvPr>
            <p:ph idx="1" type="subTitle"/>
          </p:nvPr>
        </p:nvSpPr>
        <p:spPr>
          <a:xfrm>
            <a:off x="46682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6"/>
          <p:cNvSpPr txBox="1"/>
          <p:nvPr>
            <p:ph idx="2" type="subTitle"/>
          </p:nvPr>
        </p:nvSpPr>
        <p:spPr>
          <a:xfrm>
            <a:off x="2807400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6"/>
          <p:cNvSpPr txBox="1"/>
          <p:nvPr>
            <p:ph idx="3" type="subTitle"/>
          </p:nvPr>
        </p:nvSpPr>
        <p:spPr>
          <a:xfrm>
            <a:off x="5147975" y="3880200"/>
            <a:ext cx="1945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6"/>
          <p:cNvSpPr txBox="1"/>
          <p:nvPr>
            <p:ph idx="4" type="subTitle"/>
          </p:nvPr>
        </p:nvSpPr>
        <p:spPr>
          <a:xfrm>
            <a:off x="466825" y="1702200"/>
            <a:ext cx="66240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6"/>
          <p:cNvSpPr txBox="1"/>
          <p:nvPr>
            <p:ph idx="5" type="subTitle"/>
          </p:nvPr>
        </p:nvSpPr>
        <p:spPr>
          <a:xfrm>
            <a:off x="466825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6"/>
          <p:cNvSpPr txBox="1"/>
          <p:nvPr>
            <p:ph idx="6" type="subTitle"/>
          </p:nvPr>
        </p:nvSpPr>
        <p:spPr>
          <a:xfrm>
            <a:off x="4127250" y="2964050"/>
            <a:ext cx="2953200" cy="3600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3" name="Google Shape;53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6"/>
          <p:cNvSpPr txBox="1"/>
          <p:nvPr>
            <p:ph idx="7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sk 4">
  <p:cSld name="SECTION_HEADER_1_1_1_1_1_1_1_1_1_1_1_2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7"/>
          <p:cNvSpPr txBox="1"/>
          <p:nvPr>
            <p:ph idx="1" type="subTitle"/>
          </p:nvPr>
        </p:nvSpPr>
        <p:spPr>
          <a:xfrm>
            <a:off x="468000" y="1327649"/>
            <a:ext cx="6624000" cy="3843600"/>
          </a:xfrm>
          <a:prstGeom prst="rect">
            <a:avLst/>
          </a:prstGeom>
          <a:ln cap="flat" cmpd="sng" w="9525">
            <a:solidFill>
              <a:srgbClr val="B7B7B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"/>
              <a:buFont typeface="Lexend"/>
              <a:buNone/>
              <a:defRPr sz="1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57" name="Google Shape;57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7"/>
          <p:cNvSpPr txBox="1"/>
          <p:nvPr>
            <p:ph idx="2" type="subTitle"/>
          </p:nvPr>
        </p:nvSpPr>
        <p:spPr>
          <a:xfrm>
            <a:off x="466825" y="531600"/>
            <a:ext cx="6624000" cy="36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1" sz="1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lements to copy and paste">
  <p:cSld name="SECTION_HEADER_1_1_1_1_1_1_1_1_1_1_1_2_1_1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8"/>
          <p:cNvSpPr txBox="1"/>
          <p:nvPr/>
        </p:nvSpPr>
        <p:spPr>
          <a:xfrm>
            <a:off x="493450" y="416654"/>
            <a:ext cx="662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Lexend"/>
                <a:ea typeface="Lexend"/>
                <a:cs typeface="Lexend"/>
                <a:sym typeface="Lexend"/>
              </a:rPr>
              <a:t>Elements to copy and paste</a:t>
            </a:r>
            <a:endParaRPr sz="11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1" name="Google Shape;61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886512" y="10041210"/>
            <a:ext cx="181075" cy="24628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9" name="Google Shape;69;p10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0" name="Google Shape;70;p10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1" name="Google Shape;71;p10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72" name="Google Shape;72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74" name="Google Shape;74;p10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76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1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8" name="Google Shape;78;p11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79" name="Google Shape;79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1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81" name="Google Shape;81;p11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82" name="Google Shape;82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83" name="Google Shape;83;p11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" name="Google Shape;85;p1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7" name="Google Shape;87;p12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8" name="Google Shape;88;p12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1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3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94" name="Google Shape;94;p13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3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96" name="Google Shape;96;p13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0" name="Google Shape;100;p14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01" name="Google Shape;10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14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3" name="Google Shape;103;p14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04" name="Google Shape;104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4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4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07" name="Google Shape;107;p14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Google Shape;110;p1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12" name="Google Shape;112;p15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13" name="Google Shape;11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15" name="Google Shape;115;p15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16" name="Google Shape;116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9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8" name="Google Shape;118;p15"/>
          <p:cNvSpPr txBox="1"/>
          <p:nvPr>
            <p:ph idx="1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19" name="Google Shape;119;p15"/>
          <p:cNvSpPr txBox="1"/>
          <p:nvPr/>
        </p:nvSpPr>
        <p:spPr>
          <a:xfrm>
            <a:off x="468000" y="10152000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20" name="Google Shape;120;p15"/>
          <p:cNvSpPr txBox="1"/>
          <p:nvPr/>
        </p:nvSpPr>
        <p:spPr>
          <a:xfrm>
            <a:off x="470550" y="9972000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1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4" name="Google Shape;124;p16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25" name="Google Shape;12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6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27" name="Google Shape;127;p16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28" name="Google Shape;128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6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31;p1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7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3" name="Google Shape;133;p17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4" name="Google Shape;134;p17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6" name="Google Shape;136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37" name="Google Shape;137;p1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38" name="Google Shape;138;p18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9" name="Google Shape;139;p18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0" name="Google Shape;140;p18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1" name="Google Shape;141;p18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42" name="Google Shape;142;p18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143" name="Google Shape;143;p18"/>
          <p:cNvSpPr txBox="1"/>
          <p:nvPr>
            <p:ph idx="2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p1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47" name="Google Shape;147;p19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48" name="Google Shape;14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9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0" name="Google Shape;150;p19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1" name="Google Shape;151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63" y="1225736"/>
            <a:ext cx="504000" cy="504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9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53" name="Google Shape;153;p19"/>
          <p:cNvSpPr txBox="1"/>
          <p:nvPr/>
        </p:nvSpPr>
        <p:spPr>
          <a:xfrm rot="-5400000">
            <a:off x="3997613" y="7219188"/>
            <a:ext cx="6064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Licensed on the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, except where otherwise stated. See </a:t>
            </a:r>
            <a:r>
              <a:rPr lang="en-GB" sz="900" u="sng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4" name="Google Shape;154;p19"/>
          <p:cNvSpPr txBox="1"/>
          <p:nvPr/>
        </p:nvSpPr>
        <p:spPr>
          <a:xfrm rot="-5400000">
            <a:off x="5092013" y="8491038"/>
            <a:ext cx="35157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b="1" lang="en-GB" sz="900">
                <a:solidFill>
                  <a:srgbClr val="575756"/>
                </a:solidFill>
                <a:latin typeface="Lexend"/>
                <a:ea typeface="Lexend"/>
                <a:cs typeface="Lexend"/>
                <a:sym typeface="Lexend"/>
              </a:rPr>
              <a:t>© Oak National Academy 2023</a:t>
            </a:r>
            <a:r>
              <a:rPr lang="en-GB"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rPr>
              <a:t>. Produced in partnership with</a:t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5" name="Google Shape;155;p19"/>
          <p:cNvSpPr txBox="1"/>
          <p:nvPr/>
        </p:nvSpPr>
        <p:spPr>
          <a:xfrm rot="-5400000">
            <a:off x="5488463" y="5454663"/>
            <a:ext cx="2722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rgbClr val="575756"/>
              </a:solidFill>
              <a:latin typeface="Lexend Light"/>
              <a:ea typeface="Lexend Light"/>
              <a:cs typeface="Lexend Light"/>
              <a:sym typeface="Lexend Light"/>
            </a:endParaRPr>
          </a:p>
        </p:txBody>
      </p:sp>
      <p:sp>
        <p:nvSpPr>
          <p:cNvPr id="156" name="Google Shape;156;p19"/>
          <p:cNvSpPr txBox="1"/>
          <p:nvPr>
            <p:ph idx="1" type="subTitle"/>
          </p:nvPr>
        </p:nvSpPr>
        <p:spPr>
          <a:xfrm rot="-5400000">
            <a:off x="5488463" y="5454663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75756"/>
              </a:buClr>
              <a:buSzPts val="900"/>
              <a:buFont typeface="Lexend Light"/>
              <a:buNone/>
              <a:defRPr sz="900">
                <a:solidFill>
                  <a:srgbClr val="575756"/>
                </a:solidFill>
                <a:latin typeface="Lexend Light"/>
                <a:ea typeface="Lexend Light"/>
                <a:cs typeface="Lexend Light"/>
                <a:sym typeface="Lexend Light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3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slideLayout" Target="../slideLayouts/slideLayout9.xml"/><Relationship Id="rId3" Type="http://schemas.openxmlformats.org/officeDocument/2006/relationships/slideLayout" Target="../slideLayouts/slideLayout10.xml"/><Relationship Id="rId4" Type="http://schemas.openxmlformats.org/officeDocument/2006/relationships/slideLayout" Target="../slideLayouts/slideLayout11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7.xml"/><Relationship Id="rId9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9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4" name="Google Shape;64;p9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2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65" name="Google Shape;65;p9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2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5" r:id="rId1"/>
    <p:sldLayoutId id="2147483656" r:id="rId2"/>
    <p:sldLayoutId id="2147483657" r:id="rId3"/>
    <p:sldLayoutId id="2147483658" r:id="rId4"/>
    <p:sldLayoutId id="2147483659" r:id="rId5"/>
    <p:sldLayoutId id="2147483660" r:id="rId6"/>
    <p:sldLayoutId id="2147483661" r:id="rId7"/>
    <p:sldLayoutId id="2147483662" r:id="rId8"/>
    <p:sldLayoutId id="2147483663" r:id="rId9"/>
    <p:sldLayoutId id="2147483664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Relationship Id="rId11" Type="http://schemas.openxmlformats.org/officeDocument/2006/relationships/image" Target="../media/image17.png"/><Relationship Id="rId10" Type="http://schemas.openxmlformats.org/officeDocument/2006/relationships/image" Target="../media/image8.png"/><Relationship Id="rId9" Type="http://schemas.openxmlformats.org/officeDocument/2006/relationships/image" Target="../media/image13.png"/><Relationship Id="rId5" Type="http://schemas.openxmlformats.org/officeDocument/2006/relationships/image" Target="../media/image9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11" Type="http://schemas.openxmlformats.org/officeDocument/2006/relationships/image" Target="../media/image22.png"/><Relationship Id="rId10" Type="http://schemas.openxmlformats.org/officeDocument/2006/relationships/image" Target="../media/image19.png"/><Relationship Id="rId12" Type="http://schemas.openxmlformats.org/officeDocument/2006/relationships/image" Target="../media/image21.png"/><Relationship Id="rId9" Type="http://schemas.openxmlformats.org/officeDocument/2006/relationships/image" Target="../media/image18.png"/><Relationship Id="rId5" Type="http://schemas.openxmlformats.org/officeDocument/2006/relationships/image" Target="../media/image10.png"/><Relationship Id="rId6" Type="http://schemas.openxmlformats.org/officeDocument/2006/relationships/image" Target="../media/image9.png"/><Relationship Id="rId7" Type="http://schemas.openxmlformats.org/officeDocument/2006/relationships/image" Target="../media/image11.png"/><Relationship Id="rId8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0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Plotting non-integer coordinates</a:t>
            </a:r>
            <a:endParaRPr/>
          </a:p>
        </p:txBody>
      </p:sp>
      <p:sp>
        <p:nvSpPr>
          <p:cNvPr id="162" name="Google Shape;162;p20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1b081117-600c-48cf-88eb-b974c38ffa4d&quot; data-equatio-type=&quot;desmos&quot;&gt;&lt;mglyph src=&quot;https://equatio-api.texthelp.com/desmos/get/10-10-2023/1b081117-600c-48cf-88eb-b974c38ffa4d&quot; alt=&quot;Equatio Desmos Graph&quot;/&gt;&lt;/math&gt;" id="163" name="Google Shape;163;p20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21900" y="1766201"/>
            <a:ext cx="2830846" cy="2494154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20"/>
          <p:cNvSpPr txBox="1"/>
          <p:nvPr/>
        </p:nvSpPr>
        <p:spPr>
          <a:xfrm>
            <a:off x="468000" y="1345575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A: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Coordinates with non-integer values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5" name="Google Shape;165;p20"/>
          <p:cNvSpPr txBox="1"/>
          <p:nvPr/>
        </p:nvSpPr>
        <p:spPr>
          <a:xfrm>
            <a:off x="474750" y="1693488"/>
            <a:ext cx="25836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Plot the following coordinates: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(0.5,-2.5)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(-0.5,2.5)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(-2.25,    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166" name="Google Shape;166;p2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7342" y="3076499"/>
            <a:ext cx="104584" cy="9408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67" name="Google Shape;167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02800" y="1690823"/>
            <a:ext cx="104584" cy="13871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frac{1}{2}&quot;&gt;&lt;mfrac&gt;&lt;mn&gt;1&lt;/mn&gt;&lt;mn&gt;2&lt;/mn&gt;&lt;/mfrac&gt;&lt;/math&gt;" id="168" name="Google Shape;168;p20" title="one half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02705" y="2770761"/>
            <a:ext cx="84581" cy="26950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3}{2},\frac{-7}{4}\right)&quot;&gt;&lt;mrow data-mjx-texclass=&quot;INNER&quot;&gt;&lt;mo data-mjx-texclass=&quot;OPEN&quot;&gt;(&lt;/mo&gt;&lt;mfrac&gt;&lt;mrow&gt;&lt;mo&gt;−&lt;/mo&gt;&lt;mn&gt;3&lt;/mn&gt;&lt;/mrow&gt;&lt;mn&gt;2&lt;/mn&gt;&lt;/mfrac&gt;&lt;mo&gt;,&lt;/mo&gt;&lt;mfrac&gt;&lt;mrow&gt;&lt;mo&gt;−&lt;/mo&gt;&lt;mn&gt;7&lt;/mn&gt;&lt;/mrow&gt;&lt;mn&gt;4&lt;/mn&gt;&lt;/mfrac&gt;&lt;mo data-mjx-texclass=&quot;CLOSE&quot;&gt;)&lt;/mo&gt;&lt;/mrow&gt;&lt;/math&gt;" id="169" name="Google Shape;169;p20" title="open paren negative 3 over 2 comma negative 7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50250" y="3169897"/>
            <a:ext cx="570350" cy="30382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ata-is-equatio=&quot;1&quot; data-equatio-url=&quot;https://equatio-api.texthelp.com/desmos/get/10-10-2023/6e82b3a6-22c1-4435-896b-a16ccf8c53f4&quot; data-equatio-type=&quot;desmos&quot;&gt;&lt;mglyph src=&quot;https://equatio-api.texthelp.com/desmos/get/10-10-2023/6e82b3a6-22c1-4435-896b-a16ccf8c53f4&quot; alt=&quot;Equatio Desmos Graph&quot;/&gt;&lt;/math&gt;" id="170" name="Google Shape;170;p20" title="Equatio Desmos Graph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68000" y="4571666"/>
            <a:ext cx="2755858" cy="242808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71" name="Google Shape;171;p2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15212" y="5856762"/>
            <a:ext cx="101813" cy="91592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72" name="Google Shape;172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701852" y="4507790"/>
            <a:ext cx="101813" cy="135044"/>
          </a:xfrm>
          <a:prstGeom prst="rect">
            <a:avLst/>
          </a:prstGeom>
          <a:noFill/>
          <a:ln>
            <a:noFill/>
          </a:ln>
        </p:spPr>
      </p:pic>
      <p:sp>
        <p:nvSpPr>
          <p:cNvPr id="173" name="Google Shape;173;p20"/>
          <p:cNvSpPr txBox="1"/>
          <p:nvPr/>
        </p:nvSpPr>
        <p:spPr>
          <a:xfrm>
            <a:off x="2477612" y="4901076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4" name="Google Shape;174;p20"/>
          <p:cNvSpPr txBox="1"/>
          <p:nvPr/>
        </p:nvSpPr>
        <p:spPr>
          <a:xfrm>
            <a:off x="2611379" y="5098864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5" name="Google Shape;175;p20"/>
          <p:cNvSpPr txBox="1"/>
          <p:nvPr/>
        </p:nvSpPr>
        <p:spPr>
          <a:xfrm>
            <a:off x="937459" y="5126449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6" name="Google Shape;176;p20"/>
          <p:cNvSpPr txBox="1"/>
          <p:nvPr/>
        </p:nvSpPr>
        <p:spPr>
          <a:xfrm>
            <a:off x="1135248" y="5126449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7" name="Google Shape;177;p20"/>
          <p:cNvSpPr txBox="1"/>
          <p:nvPr/>
        </p:nvSpPr>
        <p:spPr>
          <a:xfrm>
            <a:off x="2413590" y="6258011"/>
            <a:ext cx="1782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3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3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8" name="Google Shape;178;p20"/>
          <p:cNvSpPr txBox="1"/>
          <p:nvPr/>
        </p:nvSpPr>
        <p:spPr>
          <a:xfrm>
            <a:off x="3423825" y="4519100"/>
            <a:ext cx="36690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Match the coordinates to the points on the graph: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79" name="Google Shape;179;p20"/>
          <p:cNvSpPr txBox="1"/>
          <p:nvPr/>
        </p:nvSpPr>
        <p:spPr>
          <a:xfrm>
            <a:off x="3423825" y="5131575"/>
            <a:ext cx="835800" cy="536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 (1.8,2.2)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 (2.1,1.7)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C (-2.1,1.6)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D (-1.6,1.6)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E (1.6,-1.6)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80" name="Google Shape;180;p20"/>
          <p:cNvCxnSpPr/>
          <p:nvPr/>
        </p:nvCxnSpPr>
        <p:spPr>
          <a:xfrm>
            <a:off x="474750" y="9943425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81" name="Google Shape;181;p20"/>
          <p:cNvSpPr txBox="1"/>
          <p:nvPr/>
        </p:nvSpPr>
        <p:spPr>
          <a:xfrm>
            <a:off x="476400" y="7165225"/>
            <a:ext cx="1580400" cy="24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3)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Jun says this.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82" name="Google Shape;182;p20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14200" y="7465467"/>
            <a:ext cx="731100" cy="9142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20"/>
          <p:cNvPicPr preferRelativeResize="0"/>
          <p:nvPr/>
        </p:nvPicPr>
        <p:blipFill rotWithShape="1">
          <a:blip r:embed="rId10">
            <a:alphaModFix/>
          </a:blip>
          <a:srcRect b="0" l="0" r="69082" t="56280"/>
          <a:stretch/>
        </p:blipFill>
        <p:spPr>
          <a:xfrm flipH="1">
            <a:off x="1555525" y="7272350"/>
            <a:ext cx="2310200" cy="636624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1771172" y="7363325"/>
            <a:ext cx="1997100" cy="38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The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point is just pas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 -3 so this is probably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-3.1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,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4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0-10-2023/d82ecee0-9871-4110-a710-50df93325a7d&quot; data-equatio-type=&quot;desmos&quot;&gt;&lt;mglyph src=&quot;https://equatio-api.texthelp.com/desmos/get/10-10-2023/d82ecee0-9871-4110-a710-50df93325a7d&quot; alt=&quot;Equatio Desmos Graph&quot;/&gt;&lt;/math&gt;" id="185" name="Google Shape;185;p20" title="Equatio Desmos Grap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124600" y="7248977"/>
            <a:ext cx="2766484" cy="24429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186" name="Google Shape;186;p20" title="x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53085" y="8519749"/>
            <a:ext cx="102365" cy="9208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187" name="Google Shape;187;p20" title="y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331515" y="7163450"/>
            <a:ext cx="102365" cy="135777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0"/>
          <p:cNvSpPr txBox="1"/>
          <p:nvPr/>
        </p:nvSpPr>
        <p:spPr>
          <a:xfrm>
            <a:off x="476400" y="8420600"/>
            <a:ext cx="3499200" cy="2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Write a sentence justifying why Jun is wrong.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94" name="Google Shape;194;p21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Plotting non-integer coordinates</a:t>
            </a:r>
            <a:endParaRPr/>
          </a:p>
        </p:txBody>
      </p:sp>
      <p:sp>
        <p:nvSpPr>
          <p:cNvPr id="195" name="Google Shape;195;p21"/>
          <p:cNvSpPr txBox="1"/>
          <p:nvPr>
            <p:ph idx="2" type="subTitle"/>
          </p:nvPr>
        </p:nvSpPr>
        <p:spPr>
          <a:xfrm>
            <a:off x="39033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/>
              <a:t>Mathematics in Education and Industry.</a:t>
            </a:r>
            <a:endParaRPr/>
          </a:p>
        </p:txBody>
      </p:sp>
      <p:sp>
        <p:nvSpPr>
          <p:cNvPr id="196" name="Google Shape;196;p21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v2.1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7" name="Google Shape;197;p21"/>
          <p:cNvSpPr txBox="1"/>
          <p:nvPr/>
        </p:nvSpPr>
        <p:spPr>
          <a:xfrm>
            <a:off x="3756975" y="4370321"/>
            <a:ext cx="3115800" cy="444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Find the missing    coordinate values in these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i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sosceles 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t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riangles.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98" name="Google Shape;198;p21"/>
          <p:cNvSpPr txBox="1"/>
          <p:nvPr/>
        </p:nvSpPr>
        <p:spPr>
          <a:xfrm>
            <a:off x="468000" y="859800"/>
            <a:ext cx="6624000" cy="3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Task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B</a:t>
            </a: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: </a:t>
            </a:r>
            <a:r>
              <a:rPr b="1" lang="en-GB">
                <a:latin typeface="Lexend"/>
                <a:ea typeface="Lexend"/>
                <a:cs typeface="Lexend"/>
                <a:sym typeface="Lexend"/>
              </a:rPr>
              <a:t>Shapes with non-integer value coordinates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5739c7c6-5c3d-45d5-81f7-f448b41d75b5&quot; data-equatio-type=&quot;desmos&quot;&gt;&lt;mglyph src=&quot;https://equatio-api.texthelp.com/desmos/get/11-10-2023/5739c7c6-5c3d-45d5-81f7-f448b41d75b5&quot; alt=&quot;Equatio Desmos Graph&quot;/&gt;&lt;/math&gt;" id="199" name="Google Shape;199;p21" title="Equatio Desmos Graph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3815" y="1475371"/>
            <a:ext cx="2935800" cy="2677529"/>
          </a:xfrm>
          <a:prstGeom prst="rect">
            <a:avLst/>
          </a:prstGeom>
          <a:noFill/>
          <a:ln>
            <a:noFill/>
          </a:ln>
        </p:spPr>
      </p:pic>
      <p:sp>
        <p:nvSpPr>
          <p:cNvPr id="200" name="Google Shape;200;p21"/>
          <p:cNvSpPr/>
          <p:nvPr/>
        </p:nvSpPr>
        <p:spPr>
          <a:xfrm>
            <a:off x="4816487" y="2396329"/>
            <a:ext cx="1438200" cy="8328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ata-is-equatio=&quot;1&quot; data-equatio-url=&quot;https://equatio-api.texthelp.com/desmos/get/11-10-2023/4025b02a-5fce-4ddf-b157-785957b57526&quot; data-equatio-type=&quot;desmos&quot;&gt;&lt;mglyph src=&quot;https://equatio-api.texthelp.com/desmos/get/11-10-2023/4025b02a-5fce-4ddf-b157-785957b57526&quot; alt=&quot;Equatio Desmos Graph&quot;/&gt;&lt;/math&gt;" id="201" name="Google Shape;201;p21" title="Equatio Desmos Graph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9771" y="1452611"/>
            <a:ext cx="3061422" cy="2677528"/>
          </a:xfrm>
          <a:prstGeom prst="rect">
            <a:avLst/>
          </a:prstGeom>
          <a:noFill/>
          <a:ln>
            <a:noFill/>
          </a:ln>
        </p:spPr>
      </p:pic>
      <p:sp>
        <p:nvSpPr>
          <p:cNvPr id="202" name="Google Shape;202;p21"/>
          <p:cNvSpPr/>
          <p:nvPr/>
        </p:nvSpPr>
        <p:spPr>
          <a:xfrm>
            <a:off x="1481784" y="2397202"/>
            <a:ext cx="780600" cy="15396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3" name="Google Shape;203;p21"/>
          <p:cNvSpPr txBox="1"/>
          <p:nvPr/>
        </p:nvSpPr>
        <p:spPr>
          <a:xfrm>
            <a:off x="476400" y="1135175"/>
            <a:ext cx="39930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Find the missing coordinates of these rectangles.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204" name="Google Shape;204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509410" y="2863117"/>
            <a:ext cx="112563" cy="101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05" name="Google Shape;205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836259" y="1484832"/>
            <a:ext cx="112563" cy="149303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1399644" y="2274975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/>
        </p:nvSpPr>
        <p:spPr>
          <a:xfrm>
            <a:off x="1389273" y="3816414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8" name="Google Shape;208;p21"/>
          <p:cNvSpPr txBox="1"/>
          <p:nvPr/>
        </p:nvSpPr>
        <p:spPr>
          <a:xfrm>
            <a:off x="2180747" y="3824619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9" name="Google Shape;209;p21"/>
          <p:cNvSpPr txBox="1"/>
          <p:nvPr/>
        </p:nvSpPr>
        <p:spPr>
          <a:xfrm>
            <a:off x="2196917" y="2283179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0" name="Google Shape;210;p21"/>
          <p:cNvSpPr txBox="1"/>
          <p:nvPr/>
        </p:nvSpPr>
        <p:spPr>
          <a:xfrm>
            <a:off x="599712" y="2029222"/>
            <a:ext cx="1027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(-1.1,0.9)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1" name="Google Shape;211;p21"/>
          <p:cNvSpPr txBox="1"/>
          <p:nvPr/>
        </p:nvSpPr>
        <p:spPr>
          <a:xfrm>
            <a:off x="2308893" y="2037427"/>
            <a:ext cx="1027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(0.4,0.9)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2" name="Google Shape;212;p21"/>
          <p:cNvSpPr txBox="1"/>
          <p:nvPr/>
        </p:nvSpPr>
        <p:spPr>
          <a:xfrm>
            <a:off x="494610" y="3549078"/>
            <a:ext cx="11100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(-1.1,-2.3)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x&quot;&gt;&lt;mi&gt;x&lt;/mi&gt;&lt;/math&gt;" id="213" name="Google Shape;213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987837" y="2863117"/>
            <a:ext cx="112563" cy="101263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14" name="Google Shape;214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371280" y="1484832"/>
            <a:ext cx="112563" cy="149303"/>
          </a:xfrm>
          <a:prstGeom prst="rect">
            <a:avLst/>
          </a:prstGeom>
          <a:noFill/>
          <a:ln>
            <a:noFill/>
          </a:ln>
        </p:spPr>
      </p:pic>
      <p:sp>
        <p:nvSpPr>
          <p:cNvPr id="215" name="Google Shape;215;p21"/>
          <p:cNvSpPr txBox="1"/>
          <p:nvPr/>
        </p:nvSpPr>
        <p:spPr>
          <a:xfrm>
            <a:off x="4735928" y="2268022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6" name="Google Shape;216;p21"/>
          <p:cNvSpPr txBox="1"/>
          <p:nvPr/>
        </p:nvSpPr>
        <p:spPr>
          <a:xfrm>
            <a:off x="4721545" y="3118544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7" name="Google Shape;217;p21"/>
          <p:cNvSpPr txBox="1"/>
          <p:nvPr/>
        </p:nvSpPr>
        <p:spPr>
          <a:xfrm>
            <a:off x="6179742" y="3118544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8" name="Google Shape;218;p21"/>
          <p:cNvSpPr txBox="1"/>
          <p:nvPr/>
        </p:nvSpPr>
        <p:spPr>
          <a:xfrm>
            <a:off x="6179742" y="2268022"/>
            <a:ext cx="1968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9" name="Google Shape;219;p21"/>
          <p:cNvSpPr txBox="1"/>
          <p:nvPr/>
        </p:nvSpPr>
        <p:spPr>
          <a:xfrm>
            <a:off x="2308893" y="3552570"/>
            <a:ext cx="1027200" cy="272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(0.4,-2.3)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descr="&lt;math xmlns=&quot;http://www.w3.org/1998/Math/MathML&quot; display=&quot;block&quot; data-is-equatio=&quot;1&quot; data-latex=&quot;\left(\frac{-20}{3},\frac{-9}{4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row&gt;&lt;mo&gt;−&lt;/mo&gt;&lt;mn&gt;9&lt;/mn&gt;&lt;/mrow&gt;&lt;mn&gt;4&lt;/mn&gt;&lt;/mfrac&gt;&lt;mo data-mjx-texclass=&quot;CLOSE&quot;&gt;)&lt;/mo&gt;&lt;/mrow&gt;&lt;/math&gt;" id="220" name="Google Shape;220;p21" title="open paren negative 20 over 3 comma negative 9 over 4 close paren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978153" y="3358256"/>
            <a:ext cx="1034870" cy="492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-20}{3},\frac{11}{5}\right)&quot;&gt;&lt;mrow data-mjx-texclass=&quot;INNER&quot;&gt;&lt;mo data-mjx-texclass=&quot;OPEN&quot;&gt;(&lt;/mo&gt;&lt;mfrac&gt;&lt;mrow&gt;&lt;mo&gt;−&lt;/mo&gt;&lt;mn&gt;20&lt;/mn&gt;&lt;/mrow&gt;&lt;mn&gt;3&lt;/mn&gt;&lt;/mfrac&gt;&lt;mo&gt;,&lt;/mo&gt;&lt;mfrac&gt;&lt;mn&gt;11&lt;/mn&gt;&lt;mn&gt;5&lt;/mn&gt;&lt;/mfrac&gt;&lt;mo data-mjx-texclass=&quot;CLOSE&quot;&gt;)&lt;/mo&gt;&lt;/mrow&gt;&lt;/math&gt;" id="221" name="Google Shape;221;p21" title="open paren negative 20 over 3 comma eleven fifths close paren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002726" y="1840964"/>
            <a:ext cx="998354" cy="49232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11}{5}\right)&quot;&gt;&lt;mrow data-mjx-texclass=&quot;INNER&quot;&gt;&lt;mo data-mjx-texclass=&quot;OPEN&quot;&gt;(&lt;/mo&gt;&lt;mfrac&gt;&lt;mn&gt;7&lt;/mn&gt;&lt;mn&gt;3&lt;/mn&gt;&lt;/mfrac&gt;&lt;mo&gt;,&lt;/mo&gt;&lt;mfrac&gt;&lt;mn&gt;11&lt;/mn&gt;&lt;mn&gt;5&lt;/mn&gt;&lt;/mfrac&gt;&lt;mo data-mjx-texclass=&quot;CLOSE&quot;&gt;)&lt;/mo&gt;&lt;/mrow&gt;&lt;/math&gt;" id="222" name="Google Shape;222;p21" title="open paren seven thirds comma eleven fifths close paren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5917419" y="1815801"/>
            <a:ext cx="792545" cy="51277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\left(\frac{7}{3},\frac{-9}{4}\right)&quot;&gt;&lt;mrow data-mjx-texclass=&quot;INNER&quot;&gt;&lt;mo data-mjx-texclass=&quot;OPEN&quot;&gt;(&lt;/mo&gt;&lt;mfrac&gt;&lt;mn&gt;7&lt;/mn&gt;&lt;mn&gt;3&lt;/mn&gt;&lt;/mfrac&gt;&lt;mo&gt;,&lt;/mo&gt;&lt;mfrac&gt;&lt;mrow&gt;&lt;mo&gt;−&lt;/mo&gt;&lt;mn&gt;9&lt;/mn&gt;&lt;/mrow&gt;&lt;mn&gt;4&lt;/mn&gt;&lt;/mfrac&gt;&lt;mo data-mjx-texclass=&quot;CLOSE&quot;&gt;)&lt;/mo&gt;&lt;/mrow&gt;&lt;/math&gt;" id="223" name="Google Shape;223;p21" title="open paren seven thirds comma negative 9 over 4 close paren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5912227" y="3363499"/>
            <a:ext cx="830587" cy="5127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24" name="Google Shape;224;p21"/>
          <p:cNvGrpSpPr/>
          <p:nvPr/>
        </p:nvGrpSpPr>
        <p:grpSpPr>
          <a:xfrm>
            <a:off x="832688" y="3509564"/>
            <a:ext cx="263700" cy="250500"/>
            <a:chOff x="985159" y="3566640"/>
            <a:chExt cx="398700" cy="250500"/>
          </a:xfrm>
        </p:grpSpPr>
        <p:sp>
          <p:nvSpPr>
            <p:cNvPr id="225" name="Google Shape;225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6" name="Google Shape;226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27" name="Google Shape;227;p21"/>
          <p:cNvGrpSpPr/>
          <p:nvPr/>
        </p:nvGrpSpPr>
        <p:grpSpPr>
          <a:xfrm>
            <a:off x="637425" y="1995089"/>
            <a:ext cx="263700" cy="250500"/>
            <a:chOff x="985159" y="3566640"/>
            <a:chExt cx="398700" cy="250500"/>
          </a:xfrm>
        </p:grpSpPr>
        <p:sp>
          <p:nvSpPr>
            <p:cNvPr id="228" name="Google Shape;228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29" name="Google Shape;229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0" name="Google Shape;230;p21"/>
          <p:cNvGrpSpPr/>
          <p:nvPr/>
        </p:nvGrpSpPr>
        <p:grpSpPr>
          <a:xfrm>
            <a:off x="2613920" y="1995100"/>
            <a:ext cx="227219" cy="250500"/>
            <a:chOff x="985159" y="3566640"/>
            <a:chExt cx="398700" cy="250500"/>
          </a:xfrm>
        </p:grpSpPr>
        <p:sp>
          <p:nvSpPr>
            <p:cNvPr id="231" name="Google Shape;231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2" name="Google Shape;232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3" name="Google Shape;233;p21"/>
          <p:cNvGrpSpPr/>
          <p:nvPr/>
        </p:nvGrpSpPr>
        <p:grpSpPr>
          <a:xfrm>
            <a:off x="4580800" y="1829810"/>
            <a:ext cx="291769" cy="492358"/>
            <a:chOff x="985159" y="3566640"/>
            <a:chExt cx="398700" cy="250500"/>
          </a:xfrm>
        </p:grpSpPr>
        <p:sp>
          <p:nvSpPr>
            <p:cNvPr id="234" name="Google Shape;234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5" name="Google Shape;235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6" name="Google Shape;236;p21"/>
          <p:cNvGrpSpPr/>
          <p:nvPr/>
        </p:nvGrpSpPr>
        <p:grpSpPr>
          <a:xfrm>
            <a:off x="4113843" y="3363436"/>
            <a:ext cx="382473" cy="492383"/>
            <a:chOff x="985159" y="3566640"/>
            <a:chExt cx="398700" cy="250500"/>
          </a:xfrm>
        </p:grpSpPr>
        <p:sp>
          <p:nvSpPr>
            <p:cNvPr id="237" name="Google Shape;237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38" name="Google Shape;238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39" name="Google Shape;239;p21"/>
          <p:cNvGrpSpPr/>
          <p:nvPr/>
        </p:nvGrpSpPr>
        <p:grpSpPr>
          <a:xfrm>
            <a:off x="6033165" y="3363537"/>
            <a:ext cx="596814" cy="492408"/>
            <a:chOff x="985159" y="3566640"/>
            <a:chExt cx="398700" cy="250500"/>
          </a:xfrm>
        </p:grpSpPr>
        <p:sp>
          <p:nvSpPr>
            <p:cNvPr id="240" name="Google Shape;240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41" name="Google Shape;241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ata-is-equatio=&quot;1&quot; data-equatio-url=&quot;https://equatio-api.texthelp.com/desmos/get/11-10-2023/42cff5d5-5faf-4243-8333-10c59a580564&quot; data-equatio-type=&quot;desmos&quot;&gt;&lt;mglyph src=&quot;https://equatio-api.texthelp.com/desmos/get/11-10-2023/42cff5d5-5faf-4243-8333-10c59a580564&quot; alt=&quot;Equatio Desmos Graph&quot;/&gt;&lt;/math&gt;" id="242" name="Google Shape;242;p21" title="Equatio Desmos Graph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477525" y="4418375"/>
            <a:ext cx="3061426" cy="254529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43" name="Google Shape;243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16337" y="5744719"/>
            <a:ext cx="86779" cy="8663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44" name="Google Shape;244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910547" y="4434107"/>
            <a:ext cx="96307" cy="127741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5" name="Google Shape;245;p21"/>
          <p:cNvGrpSpPr/>
          <p:nvPr/>
        </p:nvGrpSpPr>
        <p:grpSpPr>
          <a:xfrm>
            <a:off x="1710348" y="4696318"/>
            <a:ext cx="1030795" cy="995988"/>
            <a:chOff x="1252325" y="1965900"/>
            <a:chExt cx="2408400" cy="2632800"/>
          </a:xfrm>
        </p:grpSpPr>
        <p:cxnSp>
          <p:nvCxnSpPr>
            <p:cNvPr id="246" name="Google Shape;246;p21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7" name="Google Shape;247;p21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8" name="Google Shape;248;p21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49" name="Google Shape;249;p21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0" name="Google Shape;250;p21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51" name="Google Shape;251;p21"/>
          <p:cNvGrpSpPr/>
          <p:nvPr/>
        </p:nvGrpSpPr>
        <p:grpSpPr>
          <a:xfrm flipH="1" rot="10800000">
            <a:off x="1198393" y="5681420"/>
            <a:ext cx="1542580" cy="995988"/>
            <a:chOff x="1252325" y="1965900"/>
            <a:chExt cx="2408400" cy="2632800"/>
          </a:xfrm>
        </p:grpSpPr>
        <p:cxnSp>
          <p:nvCxnSpPr>
            <p:cNvPr id="252" name="Google Shape;252;p21"/>
            <p:cNvCxnSpPr/>
            <p:nvPr/>
          </p:nvCxnSpPr>
          <p:spPr>
            <a:xfrm flipH="1" rot="10800000">
              <a:off x="12523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3" name="Google Shape;253;p21"/>
            <p:cNvCxnSpPr/>
            <p:nvPr/>
          </p:nvCxnSpPr>
          <p:spPr>
            <a:xfrm rot="10800000">
              <a:off x="2471525" y="1965900"/>
              <a:ext cx="1189200" cy="26226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4" name="Google Shape;254;p21"/>
            <p:cNvCxnSpPr/>
            <p:nvPr/>
          </p:nvCxnSpPr>
          <p:spPr>
            <a:xfrm flipH="1">
              <a:off x="1252325" y="4588500"/>
              <a:ext cx="2408400" cy="102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5" name="Google Shape;255;p21"/>
            <p:cNvCxnSpPr/>
            <p:nvPr/>
          </p:nvCxnSpPr>
          <p:spPr>
            <a:xfrm flipH="1">
              <a:off x="2918485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21"/>
            <p:cNvCxnSpPr/>
            <p:nvPr/>
          </p:nvCxnSpPr>
          <p:spPr>
            <a:xfrm>
              <a:off x="1668790" y="3211100"/>
              <a:ext cx="341400" cy="168300"/>
            </a:xfrm>
            <a:prstGeom prst="straightConnector1">
              <a:avLst/>
            </a:prstGeom>
            <a:noFill/>
            <a:ln cap="flat" cmpd="sng" w="3810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isplay=&quot;block&quot; data-is-equatio=&quot;1&quot; data-latex=&quot;x&quot;&gt;&lt;mi&gt;x&lt;/mi&gt;&lt;/math&gt;" id="257" name="Google Shape;257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189150" y="4433482"/>
            <a:ext cx="99450" cy="9927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58" name="Google Shape;258;p21"/>
          <p:cNvGrpSpPr/>
          <p:nvPr/>
        </p:nvGrpSpPr>
        <p:grpSpPr>
          <a:xfrm>
            <a:off x="2374839" y="4505607"/>
            <a:ext cx="230010" cy="327804"/>
            <a:chOff x="985159" y="3566640"/>
            <a:chExt cx="398700" cy="250500"/>
          </a:xfrm>
        </p:grpSpPr>
        <p:sp>
          <p:nvSpPr>
            <p:cNvPr id="259" name="Google Shape;259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0" name="Google Shape;260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261" name="Google Shape;261;p21"/>
          <p:cNvGrpSpPr/>
          <p:nvPr/>
        </p:nvGrpSpPr>
        <p:grpSpPr>
          <a:xfrm>
            <a:off x="2126013" y="6546621"/>
            <a:ext cx="308833" cy="327804"/>
            <a:chOff x="985159" y="3566640"/>
            <a:chExt cx="398700" cy="250500"/>
          </a:xfrm>
        </p:grpSpPr>
        <p:sp>
          <p:nvSpPr>
            <p:cNvPr id="262" name="Google Shape;262;p21"/>
            <p:cNvSpPr/>
            <p:nvPr/>
          </p:nvSpPr>
          <p:spPr>
            <a:xfrm>
              <a:off x="985159" y="3566640"/>
              <a:ext cx="398700" cy="2505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263" name="Google Shape;263;p21"/>
            <p:cNvCxnSpPr/>
            <p:nvPr/>
          </p:nvCxnSpPr>
          <p:spPr>
            <a:xfrm rot="10800000">
              <a:off x="1010326" y="3790127"/>
              <a:ext cx="348000" cy="0"/>
            </a:xfrm>
            <a:prstGeom prst="straightConnector1">
              <a:avLst/>
            </a:prstGeom>
            <a:noFill/>
            <a:ln cap="flat" cmpd="sng" w="19050">
              <a:solidFill>
                <a:srgbClr val="000000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pic>
        <p:nvPicPr>
          <p:cNvPr descr="&lt;math xmlns=&quot;http://www.w3.org/1998/Math/MathML&quot; data-is-equatio=&quot;1&quot; data-equatio-url=&quot;https://equatio-api.texthelp.com/desmos/get/11-10-2023/f33fa0cc-10e8-4773-aaa6-2ba4d99771e2&quot; data-equatio-type=&quot;desmos&quot;&gt;&lt;mglyph src=&quot;https://equatio-api.texthelp.com/desmos/get/11-10-2023/f33fa0cc-10e8-4773-aaa6-2ba4d99771e2&quot; alt=&quot;Equatio Desmos Graph&quot;/&gt;&lt;/math&gt;" id="264" name="Google Shape;264;p21" title="Equatio Desmos Graph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3779850" y="7323886"/>
            <a:ext cx="2814840" cy="2476138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x&quot;&gt;&lt;mi&gt;x&lt;/mi&gt;&lt;/math&gt;" id="265" name="Google Shape;265;p21" title="x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02849" y="9579238"/>
            <a:ext cx="112801" cy="101476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&lt;math xmlns=&quot;http://www.w3.org/1998/Math/MathML&quot; display=&quot;block&quot; data-is-equatio=&quot;1&quot; data-latex=&quot;y&quot;&gt;&lt;mi&gt;y&lt;/mi&gt;&lt;/math&gt;" id="266" name="Google Shape;266;p21" title="y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843618" y="7199783"/>
            <a:ext cx="112801" cy="149617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p21"/>
          <p:cNvSpPr txBox="1"/>
          <p:nvPr/>
        </p:nvSpPr>
        <p:spPr>
          <a:xfrm>
            <a:off x="5943208" y="7962256"/>
            <a:ext cx="7170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(1,1)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8" name="Google Shape;268;p21"/>
          <p:cNvSpPr/>
          <p:nvPr/>
        </p:nvSpPr>
        <p:spPr>
          <a:xfrm>
            <a:off x="4485999" y="8757499"/>
            <a:ext cx="471000" cy="4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69" name="Google Shape;269;p21"/>
          <p:cNvSpPr/>
          <p:nvPr/>
        </p:nvSpPr>
        <p:spPr>
          <a:xfrm>
            <a:off x="4018017" y="9170960"/>
            <a:ext cx="471000" cy="4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0" name="Google Shape;270;p21"/>
          <p:cNvSpPr/>
          <p:nvPr/>
        </p:nvSpPr>
        <p:spPr>
          <a:xfrm>
            <a:off x="5432816" y="7942086"/>
            <a:ext cx="471000" cy="4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1" name="Google Shape;271;p21"/>
          <p:cNvSpPr/>
          <p:nvPr/>
        </p:nvSpPr>
        <p:spPr>
          <a:xfrm>
            <a:off x="4964833" y="8355547"/>
            <a:ext cx="471000" cy="413400"/>
          </a:xfrm>
          <a:prstGeom prst="rect">
            <a:avLst/>
          </a:prstGeom>
          <a:noFill/>
          <a:ln cap="flat" cmpd="sng" w="1905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2" name="Google Shape;272;p21"/>
          <p:cNvSpPr txBox="1"/>
          <p:nvPr/>
        </p:nvSpPr>
        <p:spPr>
          <a:xfrm>
            <a:off x="5512143" y="8366595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B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3" name="Google Shape;273;p21"/>
          <p:cNvSpPr txBox="1"/>
          <p:nvPr/>
        </p:nvSpPr>
        <p:spPr>
          <a:xfrm>
            <a:off x="4297151" y="8550621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4" name="Google Shape;274;p21"/>
          <p:cNvSpPr txBox="1"/>
          <p:nvPr/>
        </p:nvSpPr>
        <p:spPr>
          <a:xfrm>
            <a:off x="5804879" y="7826615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5" name="Google Shape;275;p21"/>
          <p:cNvSpPr txBox="1"/>
          <p:nvPr/>
        </p:nvSpPr>
        <p:spPr>
          <a:xfrm>
            <a:off x="5350000" y="8244434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6" name="Google Shape;276;p21"/>
          <p:cNvSpPr txBox="1"/>
          <p:nvPr/>
        </p:nvSpPr>
        <p:spPr>
          <a:xfrm>
            <a:off x="4406530" y="8648770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7" name="Google Shape;277;p21"/>
          <p:cNvSpPr txBox="1"/>
          <p:nvPr/>
        </p:nvSpPr>
        <p:spPr>
          <a:xfrm>
            <a:off x="4413272" y="9063193"/>
            <a:ext cx="182100" cy="25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None/>
            </a:pPr>
            <a:r>
              <a:rPr b="1" lang="en-GB" sz="16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✖</a:t>
            </a:r>
            <a:endParaRPr b="1" sz="16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78" name="Google Shape;278;p21"/>
          <p:cNvSpPr txBox="1"/>
          <p:nvPr/>
        </p:nvSpPr>
        <p:spPr>
          <a:xfrm>
            <a:off x="471724" y="7398350"/>
            <a:ext cx="32853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These four equally sized squares sit between the origin and coordinate (1,1)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Find coordinates A and B.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tember 2023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LD THEME">
  <a:themeElements>
    <a:clrScheme name="Simple Light">
      <a:dk1>
        <a:srgbClr val="000000"/>
      </a:dk1>
      <a:lt1>
        <a:srgbClr val="FFFFFF"/>
      </a:lt1>
      <a:dk2>
        <a:srgbClr val="000000"/>
      </a:dk2>
      <a:lt2>
        <a:srgbClr val="F0F0F0"/>
      </a:lt2>
      <a:accent1>
        <a:srgbClr val="25AB38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E51D4D"/>
      </a:accent6>
      <a:hlink>
        <a:srgbClr val="25AB38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